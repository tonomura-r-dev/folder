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3"/>
  </p:notesMasterIdLst>
  <p:handoutMasterIdLst>
    <p:handoutMasterId r:id="rId54"/>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2983" r:id="rId24"/>
    <p:sldId id="2996" r:id="rId25"/>
    <p:sldId id="3143" r:id="rId26"/>
    <p:sldId id="3153" r:id="rId27"/>
    <p:sldId id="3144" r:id="rId28"/>
    <p:sldId id="3149" r:id="rId29"/>
    <p:sldId id="3145" r:id="rId30"/>
    <p:sldId id="3150" r:id="rId31"/>
    <p:sldId id="2984" r:id="rId32"/>
    <p:sldId id="2985" r:id="rId33"/>
    <p:sldId id="2962" r:id="rId34"/>
    <p:sldId id="2942" r:id="rId35"/>
    <p:sldId id="2941" r:id="rId36"/>
    <p:sldId id="2943" r:id="rId37"/>
    <p:sldId id="2944" r:id="rId38"/>
    <p:sldId id="3146" r:id="rId39"/>
    <p:sldId id="3154" r:id="rId40"/>
    <p:sldId id="3155" r:id="rId41"/>
    <p:sldId id="3156" r:id="rId42"/>
    <p:sldId id="3157" r:id="rId43"/>
    <p:sldId id="2990" r:id="rId44"/>
    <p:sldId id="2991" r:id="rId45"/>
    <p:sldId id="2967" r:id="rId46"/>
    <p:sldId id="3152" r:id="rId47"/>
    <p:sldId id="2946" r:id="rId48"/>
    <p:sldId id="2947" r:id="rId49"/>
    <p:sldId id="2948" r:id="rId50"/>
    <p:sldId id="2958" r:id="rId51"/>
    <p:sldId id="1169" r:id="rId5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424" autoAdjust="0"/>
  </p:normalViewPr>
  <p:slideViewPr>
    <p:cSldViewPr snapToGrid="0">
      <p:cViewPr varScale="1">
        <p:scale>
          <a:sx n="110" d="100"/>
          <a:sy n="110" d="100"/>
        </p:scale>
        <p:origin x="15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notesMaster" Target="notesMasters/notesMaster1.xml"/><Relationship Id="rId54" Type="http://schemas.openxmlformats.org/officeDocument/2006/relationships/handoutMaster" Target="handoutMasters/handout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2026/9/25</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50</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emf"/><Relationship Id="rId4" Type="http://schemas.openxmlformats.org/officeDocument/2006/relationships/image" Target="../media/image19.jpeg"/><Relationship Id="rId5" Type="http://schemas.openxmlformats.org/officeDocument/2006/relationships/image" Target="../media/image20.jpeg"/><Relationship Id="rId6" Type="http://schemas.openxmlformats.org/officeDocument/2006/relationships/image" Target="../media/image21.jpeg"/><Relationship Id="rId7" Type="http://schemas.openxmlformats.org/officeDocument/2006/relationships/image" Target="../media/image22.jpeg"/><Relationship Id="rId8"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業界：学校法人（大学・専門学校）</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mj-ea"/>
                <a:ea typeface="+mj-ea"/>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t>1. LINE公式アカウントを検討する背景</a:t>
            </a:r>
          </a:p>
          <a:p>
            <a:r>
              <a:rPr lang="en-US" altLang="ja-JP" sz="2400" dirty="0"/>
              <a:t>2. 配信の考え方 ── 市場・需要の実態</a:t>
            </a:r>
          </a:p>
          <a:p>
            <a:r>
              <a:rPr lang="en-US" altLang="ja-JP" sz="2400" dirty="0"/>
              <a:t>3. 施策の詳細（配信の効率化）── 設計と改善モデル</a:t>
            </a:r>
          </a:p>
          <a:p>
            <a:r>
              <a:rPr lang="en-US" altLang="ja-JP" sz="2400" dirty="0"/>
              <a:t>4. 具体プラン提示</a:t>
            </a:r>
          </a:p>
          <a:p>
            <a:r>
              <a:rPr lang="en-US" altLang="ja-JP" sz="2400" dirty="0"/>
              <a:t>5. ご提案にあたり（施策紹介・企画案）</a:t>
            </a:r>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資料請求・オープンキャンパス予約に対して、”ハードルが高く感じる”高校生が増えている状況。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LINEで学部学科診断・OC予約 &gt;&gt; 出願 の導線設計でハードルを抑える。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定着・ファン化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「LINE学部診断・OC予約」にてLINEリードを獲得</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入学後の定着・中退防止</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在学生／保護者／卒業生へ</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志望領域・通学圏</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
        <p:nvSpPr>
          <p:cNvPr id="59" name="TextBox 58"/>
          <p:cNvSpPr txBox="1"/>
          <p:nvPr/>
        </p:nvSpPr>
        <p:spPr>
          <a:xfrm>
            <a:off x="360000" y="6426000"/>
            <a:ext cx="7128000" cy="180000"/>
          </a:xfrm>
          <a:prstGeom prst="rect">
            <a:avLst/>
          </a:prstGeom>
          <a:noFill/>
        </p:spPr>
        <p:txBody>
          <a:bodyPr wrap="square" lIns="18000" tIns="0" rIns="18000" bIns="0">
            <a:spAutoFit/>
          </a:bodyPr>
          <a:lstStyle/>
          <a:p>
            <a:r>
              <a:rPr sz="800">
                <a:solidFill>
                  <a:srgbClr val="646C82"/>
                </a:solidFill>
                <a:latin typeface="メイリオ"/>
                <a:ea typeface="メイリオ"/>
              </a:rPr>
              <a:t>※ 高校生の進路検討は約18ヶ月（高2春〜高3秋）。募集のチャンスは年1回で、取りこぼした1人は翌年戻らない（1名の入学＝4年間で約470万円）</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貴学の募集課題に合わせて、LINE公式アカウントの構築モデルを活用しながら集客効率を改善。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 </a:t>
            </a: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自動送付</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/30秒学部学科診断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ステップ配信（7〜14通）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オープンキャンパス予約への誘導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BF4E0E"/>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BF4E0E"/>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BF4E0E"/>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（4問）→ 学年・志望度で分類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サンクス自動MSG＋</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OC当日の流れ・持ち物案内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前日リマインド配信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出願スケジュール案内</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スクリーニング（4問）</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志望度・通学圏の把握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OC参加・出願への誘導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アンケートで学年・志望把握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入試方式別・時期別の企画配信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LINE移行キャンペーン</a:t>
            </a:r>
          </a:p>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資料請求者・OC参加者を友だち化</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入学後もLINEで接点維持</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中退防止・在学生・卒業生へ</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(出願・リードデータ)</a:t>
            </a:r>
            <a:r>
              <a:rPr lang="ja-JP" altLang="en-US" sz="1050" dirty="0">
                <a:solidFill>
                  <a:schemeClr val="tx1"/>
                </a:solidFill>
                <a:latin typeface="メイリオ" panose="020B0604030504040204" pitchFamily="50" charset="-128"/>
                <a:ea typeface="メイリオ" panose="020B0604030504040204" pitchFamily="50" charset="-128"/>
              </a:rPr>
              <a:t/>
            </a:r>
            <a:r>
              <a:rPr lang="en-US" altLang="ja-JP" sz="1050" dirty="0">
                <a:solidFill>
                  <a:schemeClr val="tx1"/>
                </a:solidFill>
                <a:latin typeface="メイリオ" panose="020B0604030504040204" pitchFamily="50" charset="-128"/>
                <a:ea typeface="メイリオ" panose="020B0604030504040204" pitchFamily="50" charset="-128"/>
              </a:rPr>
              <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6" y="3086837"/>
            <a:ext cx="1730575"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283553"/>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232491" y="3086838"/>
            <a:ext cx="250497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744510"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232491" y="5838471"/>
            <a:ext cx="250497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◯LINE友だち追加によるメリット提示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✓デジタルパンフ　✓OC優先予約</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✓LINEで学部診断　✓LINEでOC予約</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◯再来校・関連学部案内</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✓長期未反応層に対して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貴学対応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現状分析｜大学・専門学校のLINE公式アカウント実態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友だち数は page.line.me（LINEヤフー社公式ページ）で実測済み（2026-09-20取得）。</a:t>
            </a:r>
          </a:p>
        </p:txBody>
      </p:sp>
      <p:graphicFrame>
        <p:nvGraphicFramePr>
          <p:cNvPr id="4" name="Table 3"/>
          <p:cNvGraphicFramePr>
            <a:graphicFrameLocks noGrp="1"/>
          </p:cNvGraphicFramePr>
          <p:nvPr/>
        </p:nvGraphicFramePr>
        <p:xfrm>
          <a:off x="396000" y="1224000"/>
          <a:ext cx="9143998" cy="2721600"/>
        </p:xfrm>
        <a:graphic>
          <a:graphicData uri="http://schemas.openxmlformats.org/drawingml/2006/table">
            <a:tbl>
              <a:tblPr firstRow="1" bandRow="1">
                <a:tableStyleId>{5C22544A-7EE6-4342-B048-85BDC9FD1C3A}</a:tableStyleId>
              </a:tblPr>
              <a:tblGrid>
                <a:gridCol w="2304000">
                  <a:extLst>
                    <a:ext uri="{9D8B030D-6E8A-4147-A177-3AD203B41FA5}">
                      <a16:colId xmlns:a16="http://schemas.microsoft.com/office/drawing/2014/main" val="20000"/>
                    </a:ext>
                  </a:extLst>
                </a:gridCol>
                <a:gridCol w="792000">
                  <a:extLst>
                    <a:ext uri="{9D8B030D-6E8A-4147-A177-3AD203B41FA5}">
                      <a16:colId xmlns:a16="http://schemas.microsoft.com/office/drawing/2014/main" val="20001"/>
                    </a:ext>
                  </a:extLst>
                </a:gridCol>
                <a:gridCol w="1296000">
                  <a:extLst>
                    <a:ext uri="{9D8B030D-6E8A-4147-A177-3AD203B41FA5}">
                      <a16:colId xmlns:a16="http://schemas.microsoft.com/office/drawing/2014/main" val="20002"/>
                    </a:ext>
                  </a:extLst>
                </a:gridCol>
                <a:gridCol w="1655999">
                  <a:extLst>
                    <a:ext uri="{9D8B030D-6E8A-4147-A177-3AD203B41FA5}">
                      <a16:colId xmlns:a16="http://schemas.microsoft.com/office/drawing/2014/main" val="20003"/>
                    </a:ext>
                  </a:extLst>
                </a:gridCol>
                <a:gridCol w="1655999">
                  <a:extLst>
                    <a:ext uri="{9D8B030D-6E8A-4147-A177-3AD203B41FA5}">
                      <a16:colId xmlns:a16="http://schemas.microsoft.com/office/drawing/2014/main" val="20004"/>
                    </a:ext>
                  </a:extLst>
                </a:gridCol>
                <a:gridCol w="1440000">
                  <a:extLst>
                    <a:ext uri="{9D8B030D-6E8A-4147-A177-3AD203B41FA5}">
                      <a16:colId xmlns:a16="http://schemas.microsoft.com/office/drawing/2014/main" val="20005"/>
                    </a:ext>
                  </a:extLst>
                </a:gridCol>
              </a:tblGrid>
              <a:tr h="302400">
                <a:tc>
                  <a:txBody>
                    <a:bodyPr/>
                    <a:lstStyle/>
                    <a:p>
                      <a:pPr algn="l"/>
                      <a:r>
                        <a:rPr sz="1200" b="1">
                          <a:solidFill>
                            <a:srgbClr val="FFFFFF"/>
                          </a:solidFill>
                          <a:latin typeface="メイリオ"/>
                          <a:ea typeface="メイリオ"/>
                          <a:cs typeface="メイリオ"/>
                        </a:rPr>
                        <a:t>調査対象</a:t>
                      </a:r>
                    </a:p>
                  </a:txBody>
                  <a:tcPr anchor="ctr">
                    <a:solidFill>
                      <a:srgbClr val="1F285A"/>
                    </a:solidFill>
                  </a:tcPr>
                </a:tc>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ctr"/>
                      <a:r>
                        <a:rPr sz="1200" b="1">
                          <a:solidFill>
                            <a:srgbClr val="FFFFFF"/>
                          </a:solidFill>
                          <a:latin typeface="メイリオ"/>
                          <a:ea typeface="メイリオ"/>
                          <a:cs typeface="メイリオ"/>
                        </a:rPr>
                        <a:t>受験生向けか</a:t>
                      </a:r>
                    </a:p>
                  </a:txBody>
                  <a:tcPr anchor="ctr">
                    <a:solidFill>
                      <a:srgbClr val="1F285A"/>
                    </a:solidFill>
                  </a:tcPr>
                </a:tc>
                <a:tc>
                  <a:txBody>
                    <a:bodyPr/>
                    <a:lstStyle/>
                    <a:p>
                      <a:pPr algn="r"/>
                      <a:r>
                        <a:rPr sz="1200" b="1">
                          <a:solidFill>
                            <a:srgbClr val="FFFFFF"/>
                          </a:solidFill>
                          <a:latin typeface="メイリオ"/>
                          <a:ea typeface="メイリオ"/>
                          <a:cs typeface="メイリオ"/>
                        </a:rPr>
                        <a:t>友だち数 実測</a:t>
                      </a:r>
                    </a:p>
                  </a:txBody>
                  <a:tcPr anchor="ctr">
                    <a:solidFill>
                      <a:srgbClr val="1F285A"/>
                    </a:solidFill>
                  </a:tcPr>
                </a:tc>
                <a:tc>
                  <a:txBody>
                    <a:bodyPr/>
                    <a:lstStyle/>
                    <a:p>
                      <a:pPr algn="ctr"/>
                      <a:r>
                        <a:rPr sz="1200" b="1">
                          <a:solidFill>
                            <a:srgbClr val="FFFFFF"/>
                          </a:solidFill>
                          <a:latin typeface="メイリオ"/>
                          <a:ea typeface="メイリオ"/>
                          <a:cs typeface="メイリオ"/>
                        </a:rPr>
                        <a:t>リッチメニュー</a:t>
                      </a:r>
                    </a:p>
                  </a:txBody>
                  <a:tcPr anchor="ctr">
                    <a:solidFill>
                      <a:srgbClr val="1F285A"/>
                    </a:solidFill>
                  </a:tcPr>
                </a:tc>
                <a:tc>
                  <a:txBody>
                    <a:bodyPr/>
                    <a:lstStyle/>
                    <a:p>
                      <a:pPr algn="ctr"/>
                      <a:r>
                        <a:rPr sz="1200" b="1">
                          <a:solidFill>
                            <a:srgbClr val="FFFFFF"/>
                          </a:solidFill>
                          <a:latin typeface="メイリオ"/>
                          <a:ea typeface="メイリオ"/>
                          <a:cs typeface="メイリオ"/>
                        </a:rPr>
                        <a:t>診断の有無</a:t>
                      </a:r>
                    </a:p>
                  </a:txBody>
                  <a:tcPr anchor="ctr">
                    <a:solidFill>
                      <a:srgbClr val="1F285A"/>
                    </a:solidFill>
                  </a:tcPr>
                </a:tc>
                <a:extLst>
                  <a:ext uri="{0D108BD9-81ED-4DB2-BD59-A6C34878D82A}">
                    <a16:rowId xmlns:a16="http://schemas.microsoft.com/office/drawing/2014/main" val="10000"/>
                  </a:ext>
                </a:extLst>
              </a:tr>
              <a:tr h="302400">
                <a:tc>
                  <a:txBody>
                    <a:bodyPr/>
                    <a:lstStyle/>
                    <a:p>
                      <a:pPr algn="l"/>
                      <a:r>
                        <a:rPr sz="1100">
                          <a:solidFill>
                            <a:srgbClr val="1C2233"/>
                          </a:solidFill>
                          <a:latin typeface="メイリオ"/>
                          <a:ea typeface="メイリオ"/>
                          <a:cs typeface="メイリオ"/>
                        </a:rPr>
                        <a:t>立命館大学 入学センター</a:t>
                      </a:r>
                    </a:p>
                  </a:txBody>
                  <a:tcPr anchor="ctr">
                    <a:solidFill>
                      <a:srgbClr val="FFFFFF"/>
                    </a:solidFill>
                  </a:tcPr>
                </a:tc>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139,406</a:t>
                      </a:r>
                    </a:p>
                  </a:txBody>
                  <a:tcPr anchor="ctr">
                    <a:solidFill>
                      <a:srgbClr val="FFFFFF"/>
                    </a:solidFill>
                  </a:tcPr>
                </a:tc>
                <a:tc>
                  <a:txBody>
                    <a:bodyPr/>
                    <a:lstStyle/>
                    <a:p>
                      <a:pPr algn="ctr"/>
                      <a:r>
                        <a:rPr sz="1100">
                          <a:solidFill>
                            <a:srgbClr val="1C2233"/>
                          </a:solidFill>
                          <a:latin typeface="メイリオ"/>
                          <a:ea typeface="メイリオ"/>
                          <a:cs typeface="メイリオ"/>
                        </a:rPr>
                        <a:t>資料請求・OC申込</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1"/>
                  </a:ext>
                </a:extLst>
              </a:tr>
              <a:tr h="302400">
                <a:tc>
                  <a:txBody>
                    <a:bodyPr/>
                    <a:lstStyle/>
                    <a:p>
                      <a:pPr algn="l"/>
                      <a:r>
                        <a:rPr sz="1100">
                          <a:solidFill>
                            <a:srgbClr val="1C2233"/>
                          </a:solidFill>
                          <a:latin typeface="メイリオ"/>
                          <a:ea typeface="メイリオ"/>
                          <a:cs typeface="メイリオ"/>
                        </a:rPr>
                        <a:t>近畿大学</a:t>
                      </a:r>
                    </a:p>
                  </a:txBody>
                  <a:tcPr anchor="ctr">
                    <a:solidFill>
                      <a:srgbClr val="F4F7FF"/>
                    </a:solidFill>
                  </a:tcPr>
                </a:tc>
                <a:tc>
                  <a:txBody>
                    <a:bodyPr/>
                    <a:lstStyle/>
                    <a:p>
                      <a:pPr algn="ctr"/>
                      <a:r>
                        <a:rPr sz="1100">
                          <a:solidFill>
                            <a:srgbClr val="1C2233"/>
                          </a:solidFill>
                          <a:latin typeface="メイリオ"/>
                          <a:ea typeface="メイリオ"/>
                          <a:cs typeface="メイリオ"/>
                        </a:rPr>
                        <a:t>大学</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137,996</a:t>
                      </a:r>
                    </a:p>
                  </a:txBody>
                  <a:tcPr anchor="ctr">
                    <a:solidFill>
                      <a:srgbClr val="F4F7FF"/>
                    </a:solidFill>
                  </a:tcPr>
                </a:tc>
                <a:tc>
                  <a:txBody>
                    <a:bodyPr/>
                    <a:lstStyle/>
                    <a:p>
                      <a:pPr algn="ctr"/>
                      <a:r>
                        <a:rPr sz="1100">
                          <a:solidFill>
                            <a:srgbClr val="1C2233"/>
                          </a:solidFill>
                          <a:latin typeface="メイリオ"/>
                          <a:ea typeface="メイリオ"/>
                          <a:cs typeface="メイリオ"/>
                        </a:rPr>
                        <a:t>イベント・クーポン</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2"/>
                  </a:ext>
                </a:extLst>
              </a:tr>
              <a:tr h="302400">
                <a:tc>
                  <a:txBody>
                    <a:bodyPr/>
                    <a:lstStyle/>
                    <a:p>
                      <a:pPr algn="l"/>
                      <a:r>
                        <a:rPr sz="1100">
                          <a:solidFill>
                            <a:srgbClr val="1C2233"/>
                          </a:solidFill>
                          <a:latin typeface="メイリオ"/>
                          <a:ea typeface="メイリオ"/>
                          <a:cs typeface="メイリオ"/>
                        </a:rPr>
                        <a:t>龍谷大学 入試部</a:t>
                      </a:r>
                    </a:p>
                  </a:txBody>
                  <a:tcPr anchor="ctr">
                    <a:solidFill>
                      <a:srgbClr val="FFFFFF"/>
                    </a:solidFill>
                  </a:tcPr>
                </a:tc>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95,199</a:t>
                      </a:r>
                    </a:p>
                  </a:txBody>
                  <a:tcPr anchor="ctr">
                    <a:solidFill>
                      <a:srgbClr val="FFFFFF"/>
                    </a:solidFill>
                  </a:tcPr>
                </a:tc>
                <a:tc>
                  <a:txBody>
                    <a:bodyPr/>
                    <a:lstStyle/>
                    <a:p>
                      <a:pPr algn="ctr"/>
                      <a:r>
                        <a:rPr sz="1100">
                          <a:solidFill>
                            <a:srgbClr val="1C2233"/>
                          </a:solidFill>
                          <a:latin typeface="メイリオ"/>
                          <a:ea typeface="メイリオ"/>
                          <a:cs typeface="メイリオ"/>
                        </a:rPr>
                        <a:t>OC予約・入試対策講座</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3"/>
                  </a:ext>
                </a:extLst>
              </a:tr>
              <a:tr h="302400">
                <a:tc>
                  <a:txBody>
                    <a:bodyPr/>
                    <a:lstStyle/>
                    <a:p>
                      <a:pPr algn="l"/>
                      <a:r>
                        <a:rPr sz="1100">
                          <a:solidFill>
                            <a:srgbClr val="1C2233"/>
                          </a:solidFill>
                          <a:latin typeface="メイリオ"/>
                          <a:ea typeface="メイリオ"/>
                          <a:cs typeface="メイリオ"/>
                        </a:rPr>
                        <a:t>日本工学院</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42,075</a:t>
                      </a:r>
                    </a:p>
                  </a:txBody>
                  <a:tcPr anchor="ctr">
                    <a:solidFill>
                      <a:srgbClr val="F4F7FF"/>
                    </a:solidFill>
                  </a:tcPr>
                </a:tc>
                <a:tc>
                  <a:txBody>
                    <a:bodyPr/>
                    <a:lstStyle/>
                    <a:p>
                      <a:pPr algn="ctr"/>
                      <a:r>
                        <a:rPr sz="1100">
                          <a:solidFill>
                            <a:srgbClr val="1C2233"/>
                          </a:solidFill>
                          <a:latin typeface="メイリオ"/>
                          <a:ea typeface="メイリオ"/>
                          <a:cs typeface="メイリオ"/>
                        </a:rPr>
                        <a:t>OC・体験入学</a:t>
                      </a:r>
                    </a:p>
                  </a:txBody>
                  <a:tcPr anchor="ctr">
                    <a:solidFill>
                      <a:srgbClr val="F4F7FF"/>
                    </a:solidFill>
                  </a:tcPr>
                </a:tc>
                <a:tc>
                  <a:txBody>
                    <a:bodyPr/>
                    <a:lstStyle/>
                    <a:p>
                      <a:pPr algn="ctr"/>
                      <a:r>
                        <a:rPr sz="1100">
                          <a:solidFill>
                            <a:srgbClr val="1C2233"/>
                          </a:solidFill>
                          <a:latin typeface="メイリオ"/>
                          <a:ea typeface="メイリオ"/>
                          <a:cs typeface="メイリオ"/>
                        </a:rPr>
                        <a:t>未確認</a:t>
                      </a:r>
                    </a:p>
                  </a:txBody>
                  <a:tcPr anchor="ctr">
                    <a:solidFill>
                      <a:srgbClr val="F4F7FF"/>
                    </a:solidFill>
                  </a:tcPr>
                </a:tc>
                <a:extLst>
                  <a:ext uri="{0D108BD9-81ED-4DB2-BD59-A6C34878D82A}">
                    <a16:rowId xmlns:a16="http://schemas.microsoft.com/office/drawing/2014/main" val="10004"/>
                  </a:ext>
                </a:extLst>
              </a:tr>
              <a:tr h="302400">
                <a:tc>
                  <a:txBody>
                    <a:bodyPr/>
                    <a:lstStyle/>
                    <a:p>
                      <a:pPr algn="l"/>
                      <a:r>
                        <a:rPr sz="1100">
                          <a:solidFill>
                            <a:srgbClr val="1C2233"/>
                          </a:solidFill>
                          <a:latin typeface="メイリオ"/>
                          <a:ea typeface="メイリオ"/>
                          <a:cs typeface="メイリオ"/>
                        </a:rPr>
                        <a:t>NSGカレッジリーグ</a:t>
                      </a:r>
                    </a:p>
                  </a:txBody>
                  <a:tcPr anchor="ctr">
                    <a:solidFill>
                      <a:srgbClr val="FFFFFF"/>
                    </a:solidFill>
                  </a:tcPr>
                </a:tc>
                <a:tc>
                  <a:txBody>
                    <a:bodyPr/>
                    <a:lstStyle/>
                    <a:p>
                      <a:pPr algn="ctr"/>
                      <a:r>
                        <a:rPr sz="1100">
                          <a:solidFill>
                            <a:srgbClr val="1C2233"/>
                          </a:solidFill>
                          <a:latin typeface="メイリオ"/>
                          <a:ea typeface="メイリオ"/>
                          <a:cs typeface="メイリオ"/>
                        </a:rPr>
                        <a:t>専門</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34,659</a:t>
                      </a:r>
                    </a:p>
                  </a:txBody>
                  <a:tcPr anchor="ctr">
                    <a:solidFill>
                      <a:srgbClr val="FFFFFF"/>
                    </a:solidFill>
                  </a:tcPr>
                </a:tc>
                <a:tc>
                  <a:txBody>
                    <a:bodyPr/>
                    <a:lstStyle/>
                    <a:p>
                      <a:pPr algn="ctr"/>
                      <a:r>
                        <a:rPr sz="1100">
                          <a:solidFill>
                            <a:srgbClr val="1C2233"/>
                          </a:solidFill>
                          <a:latin typeface="メイリオ"/>
                          <a:ea typeface="メイリオ"/>
                          <a:cs typeface="メイリオ"/>
                        </a:rPr>
                        <a:t>診断・資料請求</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5"/>
                  </a:ext>
                </a:extLst>
              </a:tr>
              <a:tr h="302400">
                <a:tc>
                  <a:txBody>
                    <a:bodyPr/>
                    <a:lstStyle/>
                    <a:p>
                      <a:pPr algn="l"/>
                      <a:r>
                        <a:rPr sz="1100">
                          <a:solidFill>
                            <a:srgbClr val="1C2233"/>
                          </a:solidFill>
                          <a:latin typeface="メイリオ"/>
                          <a:ea typeface="メイリオ"/>
                          <a:cs typeface="メイリオ"/>
                        </a:rPr>
                        <a:t>大原学園</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24,428</a:t>
                      </a:r>
                    </a:p>
                  </a:txBody>
                  <a:tcPr anchor="ctr">
                    <a:solidFill>
                      <a:srgbClr val="F4F7FF"/>
                    </a:solidFill>
                  </a:tcPr>
                </a:tc>
                <a:tc>
                  <a:txBody>
                    <a:bodyPr/>
                    <a:lstStyle/>
                    <a:p>
                      <a:pPr algn="ctr"/>
                      <a:r>
                        <a:rPr sz="1100">
                          <a:solidFill>
                            <a:srgbClr val="1C2233"/>
                          </a:solidFill>
                          <a:latin typeface="メイリオ"/>
                          <a:ea typeface="メイリオ"/>
                          <a:cs typeface="メイリオ"/>
                        </a:rPr>
                        <a:t>個別相談・AO連絡</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6"/>
                  </a:ext>
                </a:extLst>
              </a:tr>
              <a:tr h="302400">
                <a:tc>
                  <a:txBody>
                    <a:bodyPr/>
                    <a:lstStyle/>
                    <a:p>
                      <a:pPr algn="l"/>
                      <a:r>
                        <a:rPr sz="1100">
                          <a:solidFill>
                            <a:srgbClr val="1C2233"/>
                          </a:solidFill>
                          <a:latin typeface="メイリオ"/>
                          <a:ea typeface="メイリオ"/>
                          <a:cs typeface="メイリオ"/>
                        </a:rPr>
                        <a:t>HAL東京</a:t>
                      </a:r>
                    </a:p>
                  </a:txBody>
                  <a:tcPr anchor="ctr">
                    <a:solidFill>
                      <a:srgbClr val="FFFFFF"/>
                    </a:solidFill>
                  </a:tcPr>
                </a:tc>
                <a:tc>
                  <a:txBody>
                    <a:bodyPr/>
                    <a:lstStyle/>
                    <a:p>
                      <a:pPr algn="ctr"/>
                      <a:r>
                        <a:rPr sz="1100">
                          <a:solidFill>
                            <a:srgbClr val="1C2233"/>
                          </a:solidFill>
                          <a:latin typeface="メイリオ"/>
                          <a:ea typeface="メイリオ"/>
                          <a:cs typeface="メイリオ"/>
                        </a:rPr>
                        <a:t>専門</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14,661</a:t>
                      </a:r>
                    </a:p>
                  </a:txBody>
                  <a:tcPr anchor="ctr">
                    <a:solidFill>
                      <a:srgbClr val="FFFFFF"/>
                    </a:solidFill>
                  </a:tcPr>
                </a:tc>
                <a:tc>
                  <a:txBody>
                    <a:bodyPr/>
                    <a:lstStyle/>
                    <a:p>
                      <a:pPr algn="ctr"/>
                      <a:r>
                        <a:rPr sz="1100">
                          <a:solidFill>
                            <a:srgbClr val="1C2233"/>
                          </a:solidFill>
                          <a:latin typeface="メイリオ"/>
                          <a:ea typeface="メイリオ"/>
                          <a:cs typeface="メイリオ"/>
                        </a:rPr>
                        <a:t>OC情報・チャット</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7"/>
                  </a:ext>
                </a:extLst>
              </a:tr>
              <a:tr h="302400">
                <a:tc>
                  <a:txBody>
                    <a:bodyPr/>
                    <a:lstStyle/>
                    <a:p>
                      <a:pPr algn="l"/>
                      <a:r>
                        <a:rPr sz="1100">
                          <a:solidFill>
                            <a:srgbClr val="1C2233"/>
                          </a:solidFill>
                          <a:latin typeface="メイリオ"/>
                          <a:ea typeface="メイリオ"/>
                          <a:cs typeface="メイリオ"/>
                        </a:rPr>
                        <a:t>大阪モード学園</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3,206</a:t>
                      </a:r>
                    </a:p>
                  </a:txBody>
                  <a:tcPr anchor="ctr">
                    <a:solidFill>
                      <a:srgbClr val="F4F7FF"/>
                    </a:solidFill>
                  </a:tcPr>
                </a:tc>
                <a:tc>
                  <a:txBody>
                    <a:bodyPr/>
                    <a:lstStyle/>
                    <a:p>
                      <a:pPr algn="ctr"/>
                      <a:r>
                        <a:rPr sz="1100">
                          <a:solidFill>
                            <a:srgbClr val="1C2233"/>
                          </a:solidFill>
                          <a:latin typeface="メイリオ"/>
                          <a:ea typeface="メイリオ"/>
                          <a:cs typeface="メイリオ"/>
                        </a:rPr>
                        <a:t>OC情報</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396000" y="4068000"/>
            <a:ext cx="2951999" cy="13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大学は「在学生向け」が多い</a:t>
            </a:r>
          </a:p>
          <a:p>
            <a:pPr algn="l">
              <a:lnSpc>
                <a:spcPct val="120000"/>
              </a:lnSpc>
              <a:spcAft>
                <a:spcPts val="200"/>
              </a:spcAft>
            </a:pPr>
            <a:r>
              <a:rPr sz="1100">
                <a:solidFill>
                  <a:srgbClr val="1C2233"/>
                </a:solidFill>
                <a:latin typeface="メイリオ"/>
                <a:ea typeface="メイリオ"/>
                <a:cs typeface="メイリオ"/>
              </a:rPr>
              <a:t>受験生向けと在学生向けを分けているか、</a:t>
            </a:r>
          </a:p>
          <a:p>
            <a:pPr algn="l">
              <a:lnSpc>
                <a:spcPct val="120000"/>
              </a:lnSpc>
              <a:spcAft>
                <a:spcPts val="200"/>
              </a:spcAft>
            </a:pPr>
            <a:r>
              <a:rPr sz="1100">
                <a:solidFill>
                  <a:srgbClr val="1C2233"/>
                </a:solidFill>
                <a:latin typeface="メイリオ"/>
                <a:ea typeface="メイリオ"/>
                <a:cs typeface="メイリオ"/>
              </a:rPr>
              <a:t>タグで出し分けているかを必ず確認する。</a:t>
            </a:r>
          </a:p>
          <a:p>
            <a:pPr algn="l">
              <a:lnSpc>
                <a:spcPct val="120000"/>
              </a:lnSpc>
              <a:spcAft>
                <a:spcPts val="200"/>
              </a:spcAft>
            </a:pPr>
            <a:r>
              <a:rPr sz="1100">
                <a:solidFill>
                  <a:srgbClr val="1C2233"/>
                </a:solidFill>
                <a:latin typeface="メイリオ"/>
                <a:ea typeface="メイリオ"/>
                <a:cs typeface="メイリオ"/>
              </a:rPr>
              <a:t>混在していると配信精度が落ちる。</a:t>
            </a:r>
          </a:p>
        </p:txBody>
      </p:sp>
      <p:sp>
        <p:nvSpPr>
          <p:cNvPr id="6" name="Rounded Rectangle 5"/>
          <p:cNvSpPr/>
          <p:nvPr/>
        </p:nvSpPr>
        <p:spPr>
          <a:xfrm>
            <a:off x="3347997" y="4068000"/>
            <a:ext cx="3096001" cy="13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② </a:t>
            </a:r>
            <a:r>
              <a:rPr sz="1200" b="1" dirty="0" err="1">
                <a:solidFill>
                  <a:srgbClr val="1F285A"/>
                </a:solidFill>
                <a:latin typeface="メイリオ"/>
                <a:ea typeface="メイリオ"/>
                <a:cs typeface="メイリオ"/>
              </a:rPr>
              <a:t>見るのは友だち数ではない</a:t>
            </a:r>
            <a:endParaRPr sz="1200" b="1" dirty="0">
              <a:solidFill>
                <a:srgbClr val="1F285A"/>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学部数が多いほど「出し分け」の必要</a:t>
            </a:r>
            <a:r>
              <a:rPr lang="ja-JP" altLang="en-US" sz="1100" dirty="0">
                <a:solidFill>
                  <a:srgbClr val="1C2233"/>
                </a:solidFill>
                <a:latin typeface="メイリオ"/>
                <a:ea typeface="メイリオ"/>
                <a:cs typeface="メイリオ"/>
              </a:rPr>
              <a:t>度</a:t>
            </a:r>
            <a:r>
              <a:rPr sz="1100" dirty="0" err="1">
                <a:solidFill>
                  <a:srgbClr val="1C2233"/>
                </a:solidFill>
                <a:latin typeface="メイリオ"/>
                <a:ea typeface="メイリオ"/>
                <a:cs typeface="メイリオ"/>
              </a:rPr>
              <a:t>が高い</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リッチメニューが学部別か機能別かで</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その学校の設計思想が分かる</a:t>
            </a:r>
            <a:r>
              <a:rPr sz="1100" dirty="0">
                <a:solidFill>
                  <a:srgbClr val="1C2233"/>
                </a:solidFill>
                <a:latin typeface="メイリオ"/>
                <a:ea typeface="メイリオ"/>
                <a:cs typeface="メイリオ"/>
              </a:rPr>
              <a:t>。</a:t>
            </a:r>
          </a:p>
        </p:txBody>
      </p:sp>
      <p:sp>
        <p:nvSpPr>
          <p:cNvPr id="7" name="Rounded Rectangle 6"/>
          <p:cNvSpPr/>
          <p:nvPr/>
        </p:nvSpPr>
        <p:spPr>
          <a:xfrm>
            <a:off x="6443998" y="4068000"/>
            <a:ext cx="3096001" cy="133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③ </a:t>
            </a:r>
            <a:r>
              <a:rPr sz="1200" b="1" dirty="0" err="1">
                <a:solidFill>
                  <a:srgbClr val="ED7D31"/>
                </a:solidFill>
                <a:latin typeface="メイリオ"/>
                <a:ea typeface="メイリオ"/>
                <a:cs typeface="メイリオ"/>
              </a:rPr>
              <a:t>空白は「診断</a:t>
            </a:r>
            <a:r>
              <a:rPr sz="1200" b="1" dirty="0">
                <a:solidFill>
                  <a:srgbClr val="ED7D31"/>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塾業界の実測では、大手8社すべてが</a:t>
            </a:r>
          </a:p>
          <a:p>
            <a:pPr algn="l">
              <a:lnSpc>
                <a:spcPct val="120000"/>
              </a:lnSpc>
              <a:spcAft>
                <a:spcPts val="200"/>
              </a:spcAft>
            </a:pPr>
            <a:r>
              <a:rPr sz="1100" dirty="0" err="1">
                <a:solidFill>
                  <a:srgbClr val="1C2233"/>
                </a:solidFill>
                <a:latin typeface="メイリオ"/>
                <a:ea typeface="メイリオ"/>
                <a:cs typeface="メイリオ"/>
              </a:rPr>
              <a:t>LINEを新規集客に使っていた</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差がつくのは</a:t>
            </a:r>
            <a:endParaRPr sz="1100" dirty="0">
              <a:solidFill>
                <a:srgbClr val="1C2233"/>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診断で適合を見せているか」だけだった</a:t>
            </a:r>
            <a:r>
              <a:rPr sz="1100" dirty="0">
                <a:solidFill>
                  <a:srgbClr val="1C2233"/>
                </a:solidFill>
                <a:latin typeface="メイリオ"/>
                <a:ea typeface="メイリオ"/>
                <a:cs typeface="メイリオ"/>
              </a:rPr>
              <a:t>。</a:t>
            </a:r>
          </a:p>
        </p:txBody>
      </p:sp>
      <p:sp>
        <p:nvSpPr>
          <p:cNvPr id="8" name="Rectangle 7"/>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00" y="5655667"/>
            <a:ext cx="8820000" cy="259065"/>
          </a:xfrm>
          <a:prstGeom prst="rect">
            <a:avLst/>
          </a:prstGeom>
          <a:noFill/>
        </p:spPr>
        <p:txBody>
          <a:bodyPr wrap="square" lIns="0" tIns="21600" rIns="0" bIns="21600" anchor="ctr">
            <a:spAutoFit/>
          </a:bodyPr>
          <a:lstStyle/>
          <a:p>
            <a:pPr algn="l"/>
            <a:r>
              <a:rPr lang="ja-JP" altLang="en-US" sz="1400" b="1" dirty="0">
                <a:solidFill>
                  <a:srgbClr val="1C2233"/>
                </a:solidFill>
                <a:latin typeface="メイリオ"/>
                <a:ea typeface="メイリオ"/>
                <a:cs typeface="メイリオ"/>
              </a:rPr>
              <a:t>「</a:t>
            </a:r>
            <a:r>
              <a:rPr sz="1400" b="1" dirty="0" err="1">
                <a:solidFill>
                  <a:srgbClr val="1C2233"/>
                </a:solidFill>
                <a:latin typeface="メイリオ"/>
                <a:ea typeface="メイリオ"/>
                <a:cs typeface="メイリオ"/>
              </a:rPr>
              <a:t>友だち</a:t>
            </a:r>
            <a:r>
              <a:rPr lang="ja-JP" altLang="en-US" sz="1400" b="1" dirty="0">
                <a:solidFill>
                  <a:srgbClr val="1C2233"/>
                </a:solidFill>
                <a:latin typeface="メイリオ"/>
                <a:ea typeface="メイリオ"/>
                <a:cs typeface="メイリオ"/>
              </a:rPr>
              <a:t>」</a:t>
            </a:r>
            <a:r>
              <a:rPr sz="1400" b="1" dirty="0" err="1">
                <a:solidFill>
                  <a:srgbClr val="1C2233"/>
                </a:solidFill>
                <a:latin typeface="メイリオ"/>
                <a:ea typeface="メイリオ"/>
                <a:cs typeface="メイリオ"/>
              </a:rPr>
              <a:t>は広告で買える。でも運用設計がなければ、リストは資産にならない</a:t>
            </a:r>
            <a:r>
              <a:rPr sz="1400" b="1" dirty="0">
                <a:solidFill>
                  <a:srgbClr val="1C2233"/>
                </a:solidFill>
                <a:latin typeface="メイリオ"/>
                <a:ea typeface="メイリオ"/>
                <a:cs typeface="メイリオ"/>
              </a:rPr>
              <a:t>。</a:t>
            </a:r>
          </a:p>
        </p:txBody>
      </p:sp>
      <p:sp>
        <p:nvSpPr>
          <p:cNvPr id="11" name="TextBox 10"/>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友だち数は 2026-09-20 に page.line.me（公式）で実測。機能はWeb公開情報から（リッチメニュー内部は外部から未確認のため断定しない）。</a:t>
            </a:r>
          </a:p>
          <a:p>
            <a:pPr algn="l">
              <a:lnSpc>
                <a:spcPct val="120000"/>
              </a:lnSpc>
            </a:pPr>
            <a:r>
              <a:rPr sz="900">
                <a:solidFill>
                  <a:srgbClr val="646C82"/>
                </a:solidFill>
                <a:latin typeface="メイリオ"/>
                <a:ea typeface="メイリオ"/>
                <a:cs typeface="メイリオ"/>
              </a:rPr>
              <a:t>※ 第三者サイト（lineoa.jp）の数値は当たり付け専用。本資料には載せない。実名掲載の最終可否は学内確認事項。</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現状分析｜LINE運用は4つの型に分類できる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「集めている学校」と「育てている学校」に、はっきり分かれる。</a:t>
            </a:r>
          </a:p>
        </p:txBody>
      </p:sp>
      <p:graphicFrame>
        <p:nvGraphicFramePr>
          <p:cNvPr id="4" name="Table 3"/>
          <p:cNvGraphicFramePr>
            <a:graphicFrameLocks noGrp="1"/>
          </p:cNvGraphicFramePr>
          <p:nvPr>
            <p:extLst>
              <p:ext uri="{D42A27DB-BD31-4B8C-83A1-F6EECF244321}">
                <p14:modId xmlns:p14="http://schemas.microsoft.com/office/powerpoint/2010/main" val="3092588922"/>
              </p:ext>
            </p:extLst>
          </p:nvPr>
        </p:nvGraphicFramePr>
        <p:xfrm>
          <a:off x="396000" y="1224000"/>
          <a:ext cx="9143999" cy="3960000"/>
        </p:xfrm>
        <a:graphic>
          <a:graphicData uri="http://schemas.openxmlformats.org/drawingml/2006/table">
            <a:tbl>
              <a:tblPr firstRow="1" bandRow="1">
                <a:tableStyleId>{5C22544A-7EE6-4342-B048-85BDC9FD1C3A}</a:tableStyleId>
              </a:tblPr>
              <a:tblGrid>
                <a:gridCol w="1872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2951999">
                  <a:extLst>
                    <a:ext uri="{9D8B030D-6E8A-4147-A177-3AD203B41FA5}">
                      <a16:colId xmlns:a16="http://schemas.microsoft.com/office/drawing/2014/main" val="20002"/>
                    </a:ext>
                  </a:extLst>
                </a:gridCol>
              </a:tblGrid>
              <a:tr h="792000">
                <a:tc>
                  <a:txBody>
                    <a:bodyPr/>
                    <a:lstStyle/>
                    <a:p>
                      <a:pPr algn="l"/>
                      <a:r>
                        <a:rPr sz="1200" b="1">
                          <a:solidFill>
                            <a:srgbClr val="FFFFFF"/>
                          </a:solidFill>
                          <a:latin typeface="メイリオ"/>
                          <a:ea typeface="メイリオ"/>
                          <a:cs typeface="メイリオ"/>
                        </a:rPr>
                        <a:t>型</a:t>
                      </a:r>
                    </a:p>
                  </a:txBody>
                  <a:tcPr anchor="ctr">
                    <a:solidFill>
                      <a:srgbClr val="1F285A"/>
                    </a:solidFill>
                  </a:tcPr>
                </a:tc>
                <a:tc>
                  <a:txBody>
                    <a:bodyPr/>
                    <a:lstStyle/>
                    <a:p>
                      <a:pPr algn="l"/>
                      <a:r>
                        <a:rPr sz="1200" b="1">
                          <a:solidFill>
                            <a:srgbClr val="FFFFFF"/>
                          </a:solidFill>
                          <a:latin typeface="メイリオ"/>
                          <a:ea typeface="メイリオ"/>
                          <a:cs typeface="メイリオ"/>
                        </a:rPr>
                        <a:t>運用の中身</a:t>
                      </a:r>
                    </a:p>
                  </a:txBody>
                  <a:tcPr anchor="ctr">
                    <a:solidFill>
                      <a:srgbClr val="1F285A"/>
                    </a:solidFill>
                  </a:tcPr>
                </a:tc>
                <a:tc>
                  <a:txBody>
                    <a:bodyPr/>
                    <a:lstStyle/>
                    <a:p>
                      <a:pPr algn="l"/>
                      <a:r>
                        <a:rPr sz="1200" b="1">
                          <a:solidFill>
                            <a:srgbClr val="FFFFFF"/>
                          </a:solidFill>
                          <a:latin typeface="メイリオ"/>
                          <a:ea typeface="メイリオ"/>
                          <a:cs typeface="メイリオ"/>
                        </a:rPr>
                        <a:t>強み／弱み</a:t>
                      </a:r>
                    </a:p>
                  </a:txBody>
                  <a:tcPr anchor="ctr">
                    <a:solidFill>
                      <a:srgbClr val="1F285A"/>
                    </a:solidFill>
                  </a:tcPr>
                </a:tc>
                <a:extLst>
                  <a:ext uri="{0D108BD9-81ED-4DB2-BD59-A6C34878D82A}">
                    <a16:rowId xmlns:a16="http://schemas.microsoft.com/office/drawing/2014/main" val="10000"/>
                  </a:ext>
                </a:extLst>
              </a:tr>
              <a:tr h="792000">
                <a:tc>
                  <a:txBody>
                    <a:bodyPr/>
                    <a:lstStyle/>
                    <a:p>
                      <a:pPr algn="l"/>
                      <a:r>
                        <a:rPr sz="1100">
                          <a:solidFill>
                            <a:srgbClr val="1C2233"/>
                          </a:solidFill>
                          <a:latin typeface="メイリオ"/>
                          <a:ea typeface="メイリオ"/>
                          <a:cs typeface="メイリオ"/>
                        </a:rPr>
                        <a:t>① 診断ドリブン型</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学部学科診断・適性診断で属性を取得し、学年・志望度別に配信を出し分ける</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本提案の型</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実装している学校が少なく、空白地帯</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1"/>
                  </a:ext>
                </a:extLst>
              </a:tr>
              <a:tr h="792000">
                <a:tc>
                  <a:txBody>
                    <a:bodyPr/>
                    <a:lstStyle/>
                    <a:p>
                      <a:pPr algn="l"/>
                      <a:r>
                        <a:rPr sz="1100">
                          <a:solidFill>
                            <a:srgbClr val="1C2233"/>
                          </a:solidFill>
                          <a:latin typeface="メイリオ"/>
                          <a:ea typeface="メイリオ"/>
                          <a:cs typeface="メイリオ"/>
                        </a:rPr>
                        <a:t>② 相談カウンター型</a:t>
                      </a:r>
                    </a:p>
                  </a:txBody>
                  <a:tcPr anchor="ctr">
                    <a:solidFill>
                      <a:srgbClr val="F4F7FF"/>
                    </a:solidFill>
                  </a:tcPr>
                </a:tc>
                <a:tc>
                  <a:txBody>
                    <a:bodyPr/>
                    <a:lstStyle/>
                    <a:p>
                      <a:pPr algn="l"/>
                      <a:r>
                        <a:rPr sz="1100">
                          <a:solidFill>
                            <a:srgbClr val="1C2233"/>
                          </a:solidFill>
                          <a:latin typeface="メイリオ"/>
                          <a:ea typeface="メイリオ"/>
                          <a:cs typeface="メイリオ"/>
                        </a:rPr>
                        <a:t>有人チャットでの個別相談が中心。配信はほとんどしない</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相談に来た子には強い</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来ない子は拾えない</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2"/>
                  </a:ext>
                </a:extLst>
              </a:tr>
              <a:tr h="792000">
                <a:tc>
                  <a:txBody>
                    <a:bodyPr/>
                    <a:lstStyle/>
                    <a:p>
                      <a:pPr algn="l"/>
                      <a:r>
                        <a:rPr sz="1100">
                          <a:solidFill>
                            <a:srgbClr val="1C2233"/>
                          </a:solidFill>
                          <a:latin typeface="メイリオ"/>
                          <a:ea typeface="メイリオ"/>
                          <a:cs typeface="メイリオ"/>
                        </a:rPr>
                        <a:t>③ カタログ型</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学部一覧・OC日程・資料請求のリンクを並べただけ</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押すとWebへ飛ぶ</a:t>
                      </a:r>
                      <a:endParaRPr sz="1100" dirty="0">
                        <a:solidFill>
                          <a:srgbClr val="1C2233"/>
                        </a:solidFill>
                        <a:latin typeface="メイリオ"/>
                        <a:ea typeface="メイリオ"/>
                        <a:cs typeface="メイリオ"/>
                      </a:endParaRPr>
                    </a:p>
                  </a:txBody>
                  <a:tcPr anchor="ctr">
                    <a:solidFill>
                      <a:srgbClr val="FFFFFF"/>
                    </a:solidFill>
                  </a:tcPr>
                </a:tc>
                <a:tc>
                  <a:txBody>
                    <a:bodyPr/>
                    <a:lstStyle/>
                    <a:p>
                      <a:pPr algn="l"/>
                      <a:r>
                        <a:rPr sz="1100" dirty="0" err="1">
                          <a:solidFill>
                            <a:srgbClr val="1C2233"/>
                          </a:solidFill>
                          <a:latin typeface="メイリオ"/>
                          <a:ea typeface="メイリオ"/>
                          <a:cs typeface="メイリオ"/>
                        </a:rPr>
                        <a:t>最も多い。LINEを使っているのではなく</a:t>
                      </a:r>
                      <a:r>
                        <a:rPr lang="ja-JP" altLang="en-US"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リンク集にしている</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3"/>
                  </a:ext>
                </a:extLst>
              </a:tr>
              <a:tr h="792000">
                <a:tc>
                  <a:txBody>
                    <a:bodyPr/>
                    <a:lstStyle/>
                    <a:p>
                      <a:pPr algn="l"/>
                      <a:r>
                        <a:rPr sz="1100">
                          <a:solidFill>
                            <a:srgbClr val="1C2233"/>
                          </a:solidFill>
                          <a:latin typeface="メイリオ"/>
                          <a:ea typeface="メイリオ"/>
                          <a:cs typeface="メイリオ"/>
                        </a:rPr>
                        <a:t>④ 連絡網型</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在学生への休講連絡・事務連絡が中心</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受験生向けには使っていない</a:t>
                      </a:r>
                      <a:endParaRPr sz="1100" dirty="0">
                        <a:solidFill>
                          <a:srgbClr val="1C2233"/>
                        </a:solidFill>
                        <a:latin typeface="メイリオ"/>
                        <a:ea typeface="メイリオ"/>
                        <a:cs typeface="メイリオ"/>
                      </a:endParaRPr>
                    </a:p>
                  </a:txBody>
                  <a:tcPr anchor="ctr">
                    <a:solidFill>
                      <a:srgbClr val="F4F7FF"/>
                    </a:solidFill>
                  </a:tcPr>
                </a:tc>
                <a:tc>
                  <a:txBody>
                    <a:bodyPr/>
                    <a:lstStyle/>
                    <a:p>
                      <a:pPr algn="l"/>
                      <a:r>
                        <a:rPr sz="1100" dirty="0" err="1">
                          <a:solidFill>
                            <a:srgbClr val="1C2233"/>
                          </a:solidFill>
                          <a:latin typeface="メイリオ"/>
                          <a:ea typeface="メイリオ"/>
                          <a:cs typeface="メイリオ"/>
                        </a:rPr>
                        <a:t>友だち数は多いが、募集には一切効いていない</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目指すのは ①診断 × 出し分け × 入学後まで の三点セット。どれか1つだけでは必ず頭打ちになる。</a:t>
            </a:r>
          </a:p>
        </p:txBody>
      </p:sp>
      <p:sp>
        <p:nvSpPr>
          <p:cNvPr id="8" name="TextBox 7"/>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型分類は塾業界（2026-09-15実測）で検証したフレーム。学校法人での各校の当てはめは実機調査（page.line.me・PC実査）で確定する。</a:t>
            </a:r>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現状分析｜各校のリッチメニュー・あいさつメッセージ</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実機の画面を並べると、型の違いが一目で伝わる。</a:t>
            </a:r>
          </a:p>
        </p:txBody>
      </p:sp>
      <p:sp>
        <p:nvSpPr>
          <p:cNvPr id="4" name="Rounded Rectangle 3"/>
          <p:cNvSpPr/>
          <p:nvPr/>
        </p:nvSpPr>
        <p:spPr>
          <a:xfrm>
            <a:off x="396000"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立命館大学 入学センター</a:t>
            </a:r>
          </a:p>
        </p:txBody>
      </p:sp>
      <p:sp>
        <p:nvSpPr>
          <p:cNvPr id="6" name="Rounded Rectangle 5"/>
          <p:cNvSpPr/>
          <p:nvPr/>
        </p:nvSpPr>
        <p:spPr>
          <a:xfrm>
            <a:off x="396000"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王道の3導線型</a:t>
            </a:r>
          </a:p>
          <a:p>
            <a:pPr algn="ctr"/>
            <a:r>
              <a:rPr sz="800" b="0">
                <a:solidFill>
                  <a:srgbClr val="646C82"/>
                </a:solidFill>
                <a:ea typeface="メイリオ"/>
                <a:cs typeface="メイリオ"/>
              </a:rPr>
              <a:t>情報サイト・入試イベント・資料請求</a:t>
            </a:r>
          </a:p>
        </p:txBody>
      </p:sp>
      <p:sp>
        <p:nvSpPr>
          <p:cNvPr id="7" name="Rounded Rectangle 6"/>
          <p:cNvSpPr/>
          <p:nvPr/>
        </p:nvSpPr>
        <p:spPr>
          <a:xfrm>
            <a:off x="2231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近畿大学</a:t>
            </a:r>
          </a:p>
        </p:txBody>
      </p:sp>
      <p:sp>
        <p:nvSpPr>
          <p:cNvPr id="9" name="Rounded Rectangle 8"/>
          <p:cNvSpPr/>
          <p:nvPr/>
        </p:nvSpPr>
        <p:spPr>
          <a:xfrm>
            <a:off x="2231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個別問合せは受けない</a:t>
            </a:r>
          </a:p>
          <a:p>
            <a:pPr algn="ctr"/>
            <a:r>
              <a:rPr sz="800" b="0">
                <a:solidFill>
                  <a:srgbClr val="646C82"/>
                </a:solidFill>
                <a:ea typeface="メイリオ"/>
                <a:cs typeface="メイリオ"/>
              </a:rPr>
              <a:t>自動応答でメール・電話へ誘導</a:t>
            </a:r>
          </a:p>
        </p:txBody>
      </p:sp>
      <p:sp>
        <p:nvSpPr>
          <p:cNvPr id="10" name="Rounded Rectangle 9"/>
          <p:cNvSpPr/>
          <p:nvPr/>
        </p:nvSpPr>
        <p:spPr>
          <a:xfrm>
            <a:off x="4067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龍谷大学 入試部</a:t>
            </a:r>
          </a:p>
        </p:txBody>
      </p:sp>
      <p:sp>
        <p:nvSpPr>
          <p:cNvPr id="12" name="Rounded Rectangle 11"/>
          <p:cNvSpPr/>
          <p:nvPr/>
        </p:nvSpPr>
        <p:spPr>
          <a:xfrm>
            <a:off x="4067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dirty="0" err="1">
                <a:solidFill>
                  <a:srgbClr val="1C2233"/>
                </a:solidFill>
                <a:latin typeface="メイリオ"/>
                <a:ea typeface="メイリオ"/>
                <a:cs typeface="メイリオ"/>
              </a:rPr>
              <a:t>友だち限定の特典型</a:t>
            </a:r>
            <a:endParaRPr sz="950" b="1" dirty="0">
              <a:solidFill>
                <a:srgbClr val="1C2233"/>
              </a:solidFill>
              <a:latin typeface="メイリオ"/>
              <a:ea typeface="メイリオ"/>
              <a:cs typeface="メイリオ"/>
            </a:endParaRPr>
          </a:p>
          <a:p>
            <a:pPr algn="ctr"/>
            <a:r>
              <a:rPr sz="800" b="0" dirty="0" err="1">
                <a:solidFill>
                  <a:srgbClr val="646C82"/>
                </a:solidFill>
                <a:ea typeface="メイリオ"/>
                <a:cs typeface="メイリオ"/>
              </a:rPr>
              <a:t>入試対策講座を</a:t>
            </a:r>
            <a:endParaRPr lang="en-US" sz="800" b="0" dirty="0">
              <a:solidFill>
                <a:srgbClr val="646C82"/>
              </a:solidFill>
              <a:ea typeface="メイリオ"/>
              <a:cs typeface="メイリオ"/>
            </a:endParaRPr>
          </a:p>
          <a:p>
            <a:pPr algn="ctr"/>
            <a:r>
              <a:rPr sz="800" b="0" dirty="0" err="1">
                <a:solidFill>
                  <a:srgbClr val="646C82"/>
                </a:solidFill>
                <a:ea typeface="メイリオ"/>
                <a:cs typeface="メイリオ"/>
              </a:rPr>
              <a:t>LINE登録者だけに配布</a:t>
            </a:r>
            <a:endParaRPr sz="800" b="0" dirty="0">
              <a:solidFill>
                <a:srgbClr val="646C82"/>
              </a:solidFill>
              <a:ea typeface="メイリオ"/>
              <a:cs typeface="メイリオ"/>
            </a:endParaRPr>
          </a:p>
        </p:txBody>
      </p:sp>
      <p:sp>
        <p:nvSpPr>
          <p:cNvPr id="13" name="Rounded Rectangle 12"/>
          <p:cNvSpPr/>
          <p:nvPr/>
        </p:nvSpPr>
        <p:spPr>
          <a:xfrm>
            <a:off x="5903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日本工学院</a:t>
            </a:r>
          </a:p>
        </p:txBody>
      </p:sp>
      <p:sp>
        <p:nvSpPr>
          <p:cNvPr id="15" name="Rounded Rectangle 14"/>
          <p:cNvSpPr/>
          <p:nvPr/>
        </p:nvSpPr>
        <p:spPr>
          <a:xfrm>
            <a:off x="5903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OC日程の直載せ型</a:t>
            </a:r>
          </a:p>
          <a:p>
            <a:pPr algn="ctr"/>
            <a:r>
              <a:rPr sz="800" b="0">
                <a:solidFill>
                  <a:srgbClr val="646C82"/>
                </a:solidFill>
                <a:ea typeface="メイリオ"/>
                <a:cs typeface="メイリオ"/>
              </a:rPr>
              <a:t>次回日程＋チャット質問窓口</a:t>
            </a:r>
          </a:p>
        </p:txBody>
      </p:sp>
      <p:sp>
        <p:nvSpPr>
          <p:cNvPr id="16" name="Rounded Rectangle 15"/>
          <p:cNvSpPr/>
          <p:nvPr/>
        </p:nvSpPr>
        <p:spPr>
          <a:xfrm>
            <a:off x="7740000"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HAL東京</a:t>
            </a:r>
          </a:p>
        </p:txBody>
      </p:sp>
      <p:sp>
        <p:nvSpPr>
          <p:cNvPr id="18" name="Rounded Rectangle 17"/>
          <p:cNvSpPr/>
          <p:nvPr/>
        </p:nvSpPr>
        <p:spPr>
          <a:xfrm>
            <a:off x="7740000"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チャット相談型</a:t>
            </a:r>
          </a:p>
          <a:p>
            <a:pPr algn="ctr"/>
            <a:r>
              <a:rPr sz="800" b="0">
                <a:solidFill>
                  <a:srgbClr val="646C82"/>
                </a:solidFill>
                <a:ea typeface="メイリオ"/>
                <a:cs typeface="メイリオ"/>
              </a:rPr>
              <a:t>入学担当が質問に回答</a:t>
            </a:r>
          </a:p>
        </p:txBody>
      </p:sp>
      <p:sp>
        <p:nvSpPr>
          <p:cNvPr id="19" name="Rectangle 18"/>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8校とも導線は「OC・資料請求」まで。保護者に向けた発信はゼロ＝ここが空白地帯。</a:t>
            </a:r>
          </a:p>
        </p:txBody>
      </p:sp>
      <p:sp>
        <p:nvSpPr>
          <p:cNvPr id="22" name="TextBox 21"/>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b="0">
                <a:solidFill>
                  <a:srgbClr val="646C82"/>
                </a:solidFill>
                <a:latin typeface="メイリオ"/>
                <a:ea typeface="メイリオ"/>
                <a:cs typeface="メイリオ"/>
              </a:rPr>
              <a:t>※ 2026-09-23 実機取得（友だち追加直後のあいさつメッセージ＋リッチメニュー）。友だち数は page.line.me 実測（2026-09-20）。</a:t>
            </a:r>
          </a:p>
          <a:p>
            <a:pPr algn="l"/>
            <a:r>
              <a:rPr sz="900" b="0">
                <a:solidFill>
                  <a:srgbClr val="646C82"/>
                </a:solidFill>
                <a:ea typeface="メイリオ"/>
                <a:cs typeface="メイリオ"/>
              </a:rPr>
              <a:t>※ 他3校：大原学園＝先生と個別トーク型／NSGカレッジリーグ＝登録直後の配信なし／大阪モード学園＝OC・資料請求・Instagram導線。</a:t>
            </a:r>
          </a:p>
        </p:txBody>
      </p:sp>
      <p:pic>
        <p:nvPicPr>
          <p:cNvPr id="23" name="Picture 22" descr="立命館大学入学センター_あいさつ_リッチメニュー.png"/>
          <p:cNvPicPr>
            <a:picLocks noChangeAspect="1"/>
          </p:cNvPicPr>
          <p:nvPr/>
        </p:nvPicPr>
        <p:blipFill>
          <a:blip r:embed="rId2"/>
          <a:stretch>
            <a:fillRect/>
          </a:stretch>
        </p:blipFill>
        <p:spPr>
          <a:xfrm>
            <a:off x="543327" y="1691998"/>
            <a:ext cx="1397346" cy="3024000"/>
          </a:xfrm>
          <a:prstGeom prst="rect">
            <a:avLst/>
          </a:prstGeom>
          <a:ln w="9525">
            <a:solidFill>
              <a:srgbClr val="D9D9D9"/>
            </a:solidFill>
          </a:ln>
        </p:spPr>
      </p:pic>
      <p:pic>
        <p:nvPicPr>
          <p:cNvPr id="24" name="Picture 23" descr="近畿大学_自動応答_リッチメニュー.png"/>
          <p:cNvPicPr>
            <a:picLocks noChangeAspect="1"/>
          </p:cNvPicPr>
          <p:nvPr/>
        </p:nvPicPr>
        <p:blipFill>
          <a:blip r:embed="rId3"/>
          <a:stretch>
            <a:fillRect/>
          </a:stretch>
        </p:blipFill>
        <p:spPr>
          <a:xfrm>
            <a:off x="2379326" y="1691998"/>
            <a:ext cx="1397346" cy="3024000"/>
          </a:xfrm>
          <a:prstGeom prst="rect">
            <a:avLst/>
          </a:prstGeom>
          <a:ln w="9525">
            <a:solidFill>
              <a:srgbClr val="D9D9D9"/>
            </a:solidFill>
          </a:ln>
        </p:spPr>
      </p:pic>
      <p:pic>
        <p:nvPicPr>
          <p:cNvPr id="25" name="Picture 24" descr="龍谷大学入試部_あいさつ2_リッチメニュー.png"/>
          <p:cNvPicPr>
            <a:picLocks noChangeAspect="1"/>
          </p:cNvPicPr>
          <p:nvPr/>
        </p:nvPicPr>
        <p:blipFill>
          <a:blip r:embed="rId4"/>
          <a:stretch>
            <a:fillRect/>
          </a:stretch>
        </p:blipFill>
        <p:spPr>
          <a:xfrm>
            <a:off x="4215326" y="1691998"/>
            <a:ext cx="1397346" cy="3024000"/>
          </a:xfrm>
          <a:prstGeom prst="rect">
            <a:avLst/>
          </a:prstGeom>
          <a:ln w="9525">
            <a:solidFill>
              <a:srgbClr val="D9D9D9"/>
            </a:solidFill>
          </a:ln>
        </p:spPr>
      </p:pic>
      <p:pic>
        <p:nvPicPr>
          <p:cNvPr id="26" name="Picture 25" descr="日本工学院_リッチメニュー.png"/>
          <p:cNvPicPr>
            <a:picLocks noChangeAspect="1"/>
          </p:cNvPicPr>
          <p:nvPr/>
        </p:nvPicPr>
        <p:blipFill>
          <a:blip r:embed="rId5"/>
          <a:stretch>
            <a:fillRect/>
          </a:stretch>
        </p:blipFill>
        <p:spPr>
          <a:xfrm>
            <a:off x="6051326" y="1691998"/>
            <a:ext cx="1397346" cy="3024000"/>
          </a:xfrm>
          <a:prstGeom prst="rect">
            <a:avLst/>
          </a:prstGeom>
          <a:ln w="9525">
            <a:solidFill>
              <a:srgbClr val="D9D9D9"/>
            </a:solidFill>
          </a:ln>
        </p:spPr>
      </p:pic>
      <p:pic>
        <p:nvPicPr>
          <p:cNvPr id="27" name="Picture 26" descr="HAL東京_リッチメニュー.png"/>
          <p:cNvPicPr>
            <a:picLocks noChangeAspect="1"/>
          </p:cNvPicPr>
          <p:nvPr/>
        </p:nvPicPr>
        <p:blipFill>
          <a:blip r:embed="rId6"/>
          <a:stretch>
            <a:fillRect/>
          </a:stretch>
        </p:blipFill>
        <p:spPr>
          <a:xfrm>
            <a:off x="7887327" y="1691998"/>
            <a:ext cx="1397346" cy="3024000"/>
          </a:xfrm>
          <a:prstGeom prst="rect">
            <a:avLst/>
          </a:prstGeom>
          <a:ln w="9525">
            <a:solidFill>
              <a:srgbClr val="D9D9D9"/>
            </a:solidFill>
          </a:ln>
        </p:spPr>
      </p:pic>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カスタマージャーニーマップにあわせてLINE投稿を配置。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※一般的な8フェーズを、学校法人（大学・専門学校）に置き換えます。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④資料請求・友だち追加(web/LINE)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学校法人（大学・専門学校）の場合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1160936" y="5946129"/>
            <a:ext cx="7584127" cy="461665"/>
          </a:xfrm>
          <a:prstGeom prst="rect">
            <a:avLst/>
          </a:prstGeom>
          <a:noFill/>
        </p:spPr>
        <p:txBody>
          <a:bodyPr wrap="none" rtlCol="0">
            <a:spAutoFit/>
          </a:bodyPr>
          <a:lstStyle/>
          <a:p>
            <a:pPr algn="ctr"/>
            <a:r>
              <a:rPr lang="ja-JP" altLang="en-US" sz="1200" dirty="0">
                <a:latin typeface="+mn-ea"/>
              </a:rPr>
              <a:t>一般的な8フェーズを、学校法人（大学・専門学校）に置き換えるとこうなります。</a:t>
            </a:r>
          </a:p>
          <a:p>
            <a:pPr algn="ctr"/>
            <a:r>
              <a:rPr lang="ja-JP" altLang="en-US" sz="1200" dirty="0">
                <a:latin typeface="+mn-ea"/>
              </a:rPr>
              <a:t>④資料請求・友だち追加 → ⑤オープンキャンパス参加 → ⑦出願・入学手続 が、この業界のCV地点です。</a:t>
            </a: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市場の構造｜18歳人口は30年で半減。私立大の約半数が定員割れ</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母数が減っても学校は減らない。＝1人を取り合う競争だけが激化する構造。</a:t>
            </a:r>
          </a:p>
          <a:p>
            <a:pPr algn="l">
              <a:lnSpc>
                <a:spcPct val="122000"/>
              </a:lnSpc>
            </a:pPr>
            <a:r>
              <a:rPr sz="1500">
                <a:solidFill>
                  <a:srgbClr val="646C82"/>
                </a:solidFill>
                <a:latin typeface="メイリオ"/>
                <a:ea typeface="メイリオ"/>
                <a:cs typeface="メイリオ"/>
              </a:rPr>
              <a:t>だから入札で勝つ設計ではなく、取りこぼしを拾う設計に寄せる。</a:t>
            </a:r>
          </a:p>
        </p:txBody>
      </p:sp>
      <p:sp>
        <p:nvSpPr>
          <p:cNvPr id="4" name="Rounded Rectangle 3"/>
          <p:cNvSpPr/>
          <p:nvPr/>
        </p:nvSpPr>
        <p:spPr>
          <a:xfrm>
            <a:off x="396000" y="1332000"/>
            <a:ext cx="2160000" cy="2304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a:solidFill>
                  <a:srgbClr val="C00000"/>
                </a:solidFill>
                <a:latin typeface="メイリオ"/>
                <a:ea typeface="メイリオ"/>
                <a:cs typeface="メイリオ"/>
              </a:rPr>
              <a:t>【18歳人口】</a:t>
            </a:r>
          </a:p>
          <a:p>
            <a:pPr algn="ctr">
              <a:lnSpc>
                <a:spcPct val="130000"/>
              </a:lnSpc>
            </a:pPr>
            <a:r>
              <a:rPr sz="1250" b="1">
                <a:solidFill>
                  <a:srgbClr val="C00000"/>
                </a:solidFill>
                <a:latin typeface="メイリオ"/>
                <a:ea typeface="メイリオ"/>
                <a:cs typeface="メイリオ"/>
              </a:rPr>
              <a:t>205万人 → 106万人</a:t>
            </a:r>
          </a:p>
          <a:p>
            <a:pPr algn="ctr">
              <a:lnSpc>
                <a:spcPct val="130000"/>
              </a:lnSpc>
            </a:pPr>
            <a:r>
              <a:rPr sz="1250" b="1">
                <a:solidFill>
                  <a:srgbClr val="C00000"/>
                </a:solidFill>
                <a:latin typeface="メイリオ"/>
                <a:ea typeface="メイリオ"/>
                <a:cs typeface="メイリオ"/>
              </a:rPr>
              <a:t>（1992年 → 2024年）</a:t>
            </a:r>
          </a:p>
          <a:p>
            <a:pPr algn="ctr">
              <a:lnSpc>
                <a:spcPct val="130000"/>
              </a:lnSpc>
            </a:pPr>
            <a:r>
              <a:rPr sz="1250" b="1">
                <a:solidFill>
                  <a:srgbClr val="C00000"/>
                </a:solidFill>
                <a:latin typeface="メイリオ"/>
                <a:ea typeface="メイリオ"/>
                <a:cs typeface="メイリオ"/>
              </a:rPr>
              <a:t>⇊</a:t>
            </a:r>
          </a:p>
          <a:p>
            <a:pPr algn="ctr">
              <a:lnSpc>
                <a:spcPct val="130000"/>
              </a:lnSpc>
            </a:pPr>
            <a:r>
              <a:rPr sz="1250" b="1">
                <a:solidFill>
                  <a:srgbClr val="C00000"/>
                </a:solidFill>
                <a:latin typeface="メイリオ"/>
                <a:ea typeface="メイリオ"/>
                <a:cs typeface="メイリオ"/>
              </a:rPr>
              <a:t>30年で ▲48%</a:t>
            </a:r>
          </a:p>
        </p:txBody>
      </p:sp>
      <p:sp>
        <p:nvSpPr>
          <p:cNvPr id="5" name="Rounded Rectangle 4"/>
          <p:cNvSpPr/>
          <p:nvPr/>
        </p:nvSpPr>
        <p:spPr>
          <a:xfrm>
            <a:off x="2707200" y="1332000"/>
            <a:ext cx="2160000" cy="2304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dirty="0">
                <a:solidFill>
                  <a:srgbClr val="C00000"/>
                </a:solidFill>
                <a:latin typeface="メイリオ"/>
                <a:ea typeface="メイリオ"/>
                <a:cs typeface="メイリオ"/>
              </a:rPr>
              <a:t>【</a:t>
            </a:r>
            <a:r>
              <a:rPr sz="1250" b="1" dirty="0" err="1">
                <a:solidFill>
                  <a:srgbClr val="C00000"/>
                </a:solidFill>
                <a:latin typeface="メイリオ"/>
                <a:ea typeface="メイリオ"/>
                <a:cs typeface="メイリオ"/>
              </a:rPr>
              <a:t>私立大の定員割れ</a:t>
            </a:r>
            <a:r>
              <a:rPr sz="1250" b="1" dirty="0">
                <a:solidFill>
                  <a:srgbClr val="C00000"/>
                </a:solidFill>
                <a:latin typeface="メイリオ"/>
                <a:ea typeface="メイリオ"/>
                <a:cs typeface="メイリオ"/>
              </a:rPr>
              <a:t>】</a:t>
            </a:r>
          </a:p>
          <a:p>
            <a:pPr algn="ctr">
              <a:lnSpc>
                <a:spcPct val="130000"/>
              </a:lnSpc>
            </a:pPr>
            <a:r>
              <a:rPr sz="1250" b="1" dirty="0">
                <a:solidFill>
                  <a:srgbClr val="C00000"/>
                </a:solidFill>
                <a:latin typeface="メイリオ"/>
                <a:ea typeface="メイリオ"/>
                <a:cs typeface="メイリオ"/>
              </a:rPr>
              <a:t>46.2%</a:t>
            </a:r>
            <a:r>
              <a:rPr lang="en-US" sz="1250" b="1" dirty="0">
                <a:solidFill>
                  <a:srgbClr val="C00000"/>
                </a:solidFill>
                <a:latin typeface="メイリオ"/>
                <a:ea typeface="メイリオ"/>
                <a:cs typeface="メイリオ"/>
              </a:rPr>
              <a:t>(</a:t>
            </a:r>
            <a:r>
              <a:rPr sz="1250" b="1" dirty="0">
                <a:solidFill>
                  <a:srgbClr val="C00000"/>
                </a:solidFill>
                <a:latin typeface="メイリオ"/>
                <a:ea typeface="メイリオ"/>
                <a:cs typeface="メイリオ"/>
              </a:rPr>
              <a:t>275校／595校</a:t>
            </a:r>
            <a:r>
              <a:rPr lang="en-US" sz="1250" b="1" dirty="0">
                <a:solidFill>
                  <a:srgbClr val="C00000"/>
                </a:solidFill>
                <a:latin typeface="メイリオ"/>
                <a:ea typeface="メイリオ"/>
                <a:cs typeface="メイリオ"/>
              </a:rPr>
              <a:t>)</a:t>
            </a:r>
            <a:endParaRPr sz="1250" b="1" dirty="0">
              <a:solidFill>
                <a:srgbClr val="C00000"/>
              </a:solidFill>
              <a:latin typeface="メイリオ"/>
              <a:ea typeface="メイリオ"/>
              <a:cs typeface="メイリオ"/>
            </a:endParaRPr>
          </a:p>
          <a:p>
            <a:pPr algn="ctr">
              <a:lnSpc>
                <a:spcPct val="130000"/>
              </a:lnSpc>
            </a:pPr>
            <a:r>
              <a:rPr sz="1250" b="1" dirty="0">
                <a:solidFill>
                  <a:srgbClr val="C00000"/>
                </a:solidFill>
                <a:latin typeface="メイリオ"/>
                <a:ea typeface="メイリオ"/>
                <a:cs typeface="メイリオ"/>
              </a:rPr>
              <a:t>（令和8年度・速報値）</a:t>
            </a:r>
          </a:p>
          <a:p>
            <a:pPr algn="ctr">
              <a:lnSpc>
                <a:spcPct val="130000"/>
              </a:lnSpc>
            </a:pPr>
            <a:r>
              <a:rPr sz="1250" b="1" dirty="0">
                <a:solidFill>
                  <a:srgbClr val="C00000"/>
                </a:solidFill>
                <a:latin typeface="メイリオ"/>
                <a:ea typeface="メイリオ"/>
                <a:cs typeface="メイリオ"/>
              </a:rPr>
              <a:t>⇊</a:t>
            </a:r>
          </a:p>
          <a:p>
            <a:pPr algn="ctr">
              <a:lnSpc>
                <a:spcPct val="130000"/>
              </a:lnSpc>
            </a:pPr>
            <a:r>
              <a:rPr sz="1250" b="1" dirty="0" err="1">
                <a:solidFill>
                  <a:srgbClr val="C00000"/>
                </a:solidFill>
                <a:latin typeface="メイリオ"/>
                <a:ea typeface="メイリオ"/>
                <a:cs typeface="メイリオ"/>
              </a:rPr>
              <a:t>約半数が定員を</a:t>
            </a:r>
            <a:endParaRPr lang="en-US" sz="1250" b="1" dirty="0">
              <a:solidFill>
                <a:srgbClr val="C00000"/>
              </a:solidFill>
              <a:latin typeface="メイリオ"/>
              <a:ea typeface="メイリオ"/>
              <a:cs typeface="メイリオ"/>
            </a:endParaRPr>
          </a:p>
          <a:p>
            <a:pPr algn="ctr">
              <a:lnSpc>
                <a:spcPct val="130000"/>
              </a:lnSpc>
            </a:pPr>
            <a:r>
              <a:rPr sz="1250" b="1" dirty="0" err="1">
                <a:solidFill>
                  <a:srgbClr val="C00000"/>
                </a:solidFill>
                <a:latin typeface="メイリオ"/>
                <a:ea typeface="メイリオ"/>
                <a:cs typeface="メイリオ"/>
              </a:rPr>
              <a:t>埋められない</a:t>
            </a:r>
            <a:endParaRPr sz="1250" b="1" dirty="0">
              <a:solidFill>
                <a:srgbClr val="C00000"/>
              </a:solidFill>
              <a:latin typeface="メイリオ"/>
              <a:ea typeface="メイリオ"/>
              <a:cs typeface="メイリオ"/>
            </a:endParaRPr>
          </a:p>
        </p:txBody>
      </p:sp>
      <p:sp>
        <p:nvSpPr>
          <p:cNvPr id="6" name="Rounded Rectangle 5"/>
          <p:cNvSpPr/>
          <p:nvPr/>
        </p:nvSpPr>
        <p:spPr>
          <a:xfrm>
            <a:off x="5018400" y="1332000"/>
            <a:ext cx="2160000" cy="2304000"/>
          </a:xfrm>
          <a:prstGeom prst="roundRect">
            <a:avLst>
              <a:gd name="adj" fmla="val 6000"/>
            </a:avLst>
          </a:prstGeom>
          <a:solidFill>
            <a:srgbClr val="F2F2F2"/>
          </a:solidFill>
          <a:ln w="15875">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a:solidFill>
                  <a:srgbClr val="1C2233"/>
                </a:solidFill>
                <a:latin typeface="メイリオ"/>
                <a:ea typeface="メイリオ"/>
                <a:cs typeface="メイリオ"/>
              </a:rPr>
              <a:t>【大学進学率】</a:t>
            </a:r>
          </a:p>
          <a:p>
            <a:pPr algn="ctr">
              <a:lnSpc>
                <a:spcPct val="130000"/>
              </a:lnSpc>
            </a:pPr>
            <a:r>
              <a:rPr sz="1250" b="1">
                <a:solidFill>
                  <a:srgbClr val="1C2233"/>
                </a:solidFill>
                <a:latin typeface="メイリオ"/>
                <a:ea typeface="メイリオ"/>
                <a:cs typeface="メイリオ"/>
              </a:rPr>
              <a:t>約59%（過去最高圏）</a:t>
            </a:r>
          </a:p>
          <a:p>
            <a:pPr algn="ctr">
              <a:lnSpc>
                <a:spcPct val="130000"/>
              </a:lnSpc>
            </a:pPr>
            <a:r>
              <a:rPr sz="1250" b="1">
                <a:solidFill>
                  <a:srgbClr val="1C2233"/>
                </a:solidFill>
                <a:latin typeface="メイリオ"/>
                <a:ea typeface="メイリオ"/>
                <a:cs typeface="メイリオ"/>
              </a:rPr>
              <a:t>⇊</a:t>
            </a:r>
          </a:p>
          <a:p>
            <a:pPr algn="ctr">
              <a:lnSpc>
                <a:spcPct val="130000"/>
              </a:lnSpc>
            </a:pPr>
            <a:r>
              <a:rPr sz="1250" b="1">
                <a:solidFill>
                  <a:srgbClr val="1C2233"/>
                </a:solidFill>
                <a:latin typeface="メイリオ"/>
                <a:ea typeface="メイリオ"/>
                <a:cs typeface="メイリオ"/>
              </a:rPr>
              <a:t>進学率の伸びで</a:t>
            </a:r>
          </a:p>
          <a:p>
            <a:pPr algn="ctr">
              <a:lnSpc>
                <a:spcPct val="130000"/>
              </a:lnSpc>
            </a:pPr>
            <a:r>
              <a:rPr sz="1250" b="1">
                <a:solidFill>
                  <a:srgbClr val="1C2233"/>
                </a:solidFill>
                <a:latin typeface="メイリオ"/>
                <a:ea typeface="メイリオ"/>
                <a:cs typeface="メイリオ"/>
              </a:rPr>
              <a:t>母数減を吸収する余地はない</a:t>
            </a:r>
          </a:p>
        </p:txBody>
      </p:sp>
      <p:sp>
        <p:nvSpPr>
          <p:cNvPr id="7" name="Rounded Rectangle 6"/>
          <p:cNvSpPr/>
          <p:nvPr/>
        </p:nvSpPr>
        <p:spPr>
          <a:xfrm>
            <a:off x="7329600" y="1332000"/>
            <a:ext cx="2160000" cy="2304000"/>
          </a:xfrm>
          <a:prstGeom prst="roundRect">
            <a:avLst>
              <a:gd name="adj" fmla="val 6000"/>
            </a:avLst>
          </a:prstGeom>
          <a:solidFill>
            <a:srgbClr val="FCE4D6"/>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dirty="0">
                <a:solidFill>
                  <a:srgbClr val="ED7D31"/>
                </a:solidFill>
                <a:latin typeface="メイリオ"/>
                <a:ea typeface="メイリオ"/>
                <a:cs typeface="メイリオ"/>
              </a:rPr>
              <a:t>【1名の入学の重さ】</a:t>
            </a:r>
          </a:p>
          <a:p>
            <a:pPr algn="ctr">
              <a:lnSpc>
                <a:spcPct val="130000"/>
              </a:lnSpc>
            </a:pPr>
            <a:r>
              <a:rPr sz="1250" b="1" dirty="0">
                <a:solidFill>
                  <a:srgbClr val="ED7D31"/>
                </a:solidFill>
                <a:latin typeface="メイリオ"/>
                <a:ea typeface="メイリオ"/>
                <a:cs typeface="メイリオ"/>
              </a:rPr>
              <a:t>初年度納付金約150.8万円</a:t>
            </a:r>
          </a:p>
          <a:p>
            <a:pPr algn="ctr">
              <a:lnSpc>
                <a:spcPct val="130000"/>
              </a:lnSpc>
            </a:pPr>
            <a:r>
              <a:rPr sz="1250" b="1" dirty="0">
                <a:solidFill>
                  <a:srgbClr val="ED7D31"/>
                </a:solidFill>
                <a:latin typeface="メイリオ"/>
                <a:ea typeface="メイリオ"/>
                <a:cs typeface="メイリオ"/>
              </a:rPr>
              <a:t>4年間で 約470万円</a:t>
            </a:r>
          </a:p>
          <a:p>
            <a:pPr algn="ctr">
              <a:lnSpc>
                <a:spcPct val="130000"/>
              </a:lnSpc>
            </a:pPr>
            <a:r>
              <a:rPr sz="1250" b="1" dirty="0">
                <a:solidFill>
                  <a:srgbClr val="ED7D31"/>
                </a:solidFill>
                <a:latin typeface="メイリオ"/>
                <a:ea typeface="メイリオ"/>
                <a:cs typeface="メイリオ"/>
              </a:rPr>
              <a:t>⇊</a:t>
            </a:r>
          </a:p>
          <a:p>
            <a:pPr algn="ctr">
              <a:lnSpc>
                <a:spcPct val="130000"/>
              </a:lnSpc>
            </a:pPr>
            <a:r>
              <a:rPr sz="1250" b="1" dirty="0" err="1">
                <a:solidFill>
                  <a:srgbClr val="ED7D31"/>
                </a:solidFill>
                <a:latin typeface="メイリオ"/>
                <a:ea typeface="メイリオ"/>
                <a:cs typeface="メイリオ"/>
              </a:rPr>
              <a:t>取りこぼしの単価が桁違い</a:t>
            </a:r>
            <a:endParaRPr sz="1250" b="1" dirty="0">
              <a:solidFill>
                <a:srgbClr val="ED7D31"/>
              </a:solidFill>
              <a:latin typeface="メイリオ"/>
              <a:ea typeface="メイリオ"/>
              <a:cs typeface="メイリオ"/>
            </a:endParaRPr>
          </a:p>
        </p:txBody>
      </p:sp>
      <p:sp>
        <p:nvSpPr>
          <p:cNvPr id="8" name="Rounded Rectangle 7"/>
          <p:cNvSpPr/>
          <p:nvPr/>
        </p:nvSpPr>
        <p:spPr>
          <a:xfrm>
            <a:off x="396000" y="3816000"/>
            <a:ext cx="4464000" cy="154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母数の減り方は、これから加速する</a:t>
            </a:r>
          </a:p>
          <a:p>
            <a:pPr algn="l">
              <a:lnSpc>
                <a:spcPct val="120000"/>
              </a:lnSpc>
              <a:spcAft>
                <a:spcPts val="200"/>
              </a:spcAft>
            </a:pPr>
            <a:r>
              <a:rPr sz="1100">
                <a:solidFill>
                  <a:srgbClr val="1C2233"/>
                </a:solidFill>
                <a:latin typeface="メイリオ"/>
                <a:ea typeface="メイリオ"/>
                <a:cs typeface="メイリオ"/>
              </a:rPr>
              <a:t>2040年の18歳人口は約80万人まで減る見通し（国推計）。2026年の約111万人は一時的な踊り場で、以降は本格減少。</a:t>
            </a:r>
          </a:p>
          <a:p>
            <a:pPr algn="l">
              <a:lnSpc>
                <a:spcPct val="120000"/>
              </a:lnSpc>
              <a:spcAft>
                <a:spcPts val="200"/>
              </a:spcAft>
            </a:pPr>
            <a:r>
              <a:rPr sz="1100">
                <a:solidFill>
                  <a:srgbClr val="1C2233"/>
                </a:solidFill>
                <a:latin typeface="メイリオ"/>
                <a:ea typeface="メイリオ"/>
                <a:cs typeface="メイリオ"/>
              </a:rPr>
              <a:t>いま在籍している小中高生の数がそのまま波及するため、</a:t>
            </a:r>
          </a:p>
          <a:p>
            <a:pPr algn="l">
              <a:lnSpc>
                <a:spcPct val="120000"/>
              </a:lnSpc>
              <a:spcAft>
                <a:spcPts val="200"/>
              </a:spcAft>
            </a:pPr>
            <a:r>
              <a:rPr sz="1100">
                <a:solidFill>
                  <a:srgbClr val="1C2233"/>
                </a:solidFill>
                <a:latin typeface="メイリオ"/>
                <a:ea typeface="メイリオ"/>
                <a:cs typeface="メイリオ"/>
              </a:rPr>
              <a:t>競争密度は今がピークではない。</a:t>
            </a:r>
          </a:p>
        </p:txBody>
      </p:sp>
      <p:sp>
        <p:nvSpPr>
          <p:cNvPr id="9" name="Rounded Rectangle 8"/>
          <p:cNvSpPr/>
          <p:nvPr/>
        </p:nvSpPr>
        <p:spPr>
          <a:xfrm>
            <a:off x="5076000" y="3816000"/>
            <a:ext cx="4464000" cy="154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だから「取りこぼしを拾う」が最も効く</a:t>
            </a:r>
          </a:p>
          <a:p>
            <a:pPr algn="l">
              <a:lnSpc>
                <a:spcPct val="120000"/>
              </a:lnSpc>
              <a:spcAft>
                <a:spcPts val="200"/>
              </a:spcAft>
            </a:pPr>
            <a:r>
              <a:rPr sz="1100">
                <a:solidFill>
                  <a:srgbClr val="1C2233"/>
                </a:solidFill>
                <a:latin typeface="メイリオ"/>
                <a:ea typeface="メイリオ"/>
                <a:cs typeface="メイリオ"/>
              </a:rPr>
              <a:t>広告の入札を強めても、母数が半分の市場では単価が上がるだけ。</a:t>
            </a:r>
          </a:p>
          <a:p>
            <a:pPr algn="l">
              <a:lnSpc>
                <a:spcPct val="120000"/>
              </a:lnSpc>
              <a:spcAft>
                <a:spcPts val="200"/>
              </a:spcAft>
            </a:pPr>
            <a:r>
              <a:rPr sz="1100">
                <a:solidFill>
                  <a:srgbClr val="1C2233"/>
                </a:solidFill>
                <a:latin typeface="メイリオ"/>
                <a:ea typeface="メイリオ"/>
                <a:cs typeface="メイリオ"/>
              </a:rPr>
              <a:t>一度でも手を挙げた高校生（資料請求者・OC参加者）を</a:t>
            </a:r>
          </a:p>
          <a:p>
            <a:pPr algn="l">
              <a:lnSpc>
                <a:spcPct val="120000"/>
              </a:lnSpc>
              <a:spcAft>
                <a:spcPts val="200"/>
              </a:spcAft>
            </a:pPr>
            <a:r>
              <a:rPr sz="1100">
                <a:solidFill>
                  <a:srgbClr val="1C2233"/>
                </a:solidFill>
                <a:latin typeface="メイリオ"/>
                <a:ea typeface="メイリオ"/>
                <a:cs typeface="メイリオ"/>
              </a:rPr>
              <a:t>出願まで落とさない仕組みのほうが、費用対効果が高い。</a:t>
            </a:r>
          </a:p>
        </p:txBody>
      </p:sp>
      <p:sp>
        <p:nvSpPr>
          <p:cNvPr id="10" name="Rectangle 9"/>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入札で勝つ設計ではなく、取りこぼしを拾う設計へ。</a:t>
            </a:r>
          </a:p>
        </p:txBody>
      </p:sp>
      <p:sp>
        <p:nvSpPr>
          <p:cNvPr id="13" name="TextBox 12"/>
          <p:cNvSpPr txBox="1"/>
          <p:nvPr/>
        </p:nvSpPr>
        <p:spPr>
          <a:xfrm>
            <a:off x="396000" y="6053304"/>
            <a:ext cx="9322767" cy="369096"/>
          </a:xfrm>
          <a:prstGeom prst="rect">
            <a:avLst/>
          </a:prstGeom>
          <a:noFill/>
        </p:spPr>
        <p:txBody>
          <a:bodyPr wrap="square" lIns="0" tIns="21600" rIns="0" bIns="21600" anchor="t">
            <a:spAutoFit/>
          </a:bodyPr>
          <a:lstStyle/>
          <a:p>
            <a:pPr algn="l">
              <a:lnSpc>
                <a:spcPct val="120000"/>
              </a:lnSpc>
            </a:pPr>
            <a:r>
              <a:rPr sz="900" dirty="0">
                <a:solidFill>
                  <a:srgbClr val="646C82"/>
                </a:solidFill>
                <a:latin typeface="メイリオ"/>
                <a:ea typeface="メイリオ"/>
                <a:cs typeface="メイリオ"/>
              </a:rPr>
              <a:t>※ </a:t>
            </a:r>
            <a:r>
              <a:rPr sz="900" dirty="0" err="1">
                <a:solidFill>
                  <a:srgbClr val="646C82"/>
                </a:solidFill>
                <a:latin typeface="メイリオ"/>
                <a:ea typeface="メイリオ"/>
                <a:cs typeface="メイリオ"/>
              </a:rPr>
              <a:t>出典：文部科学省「学校基本調査</a:t>
            </a:r>
            <a:r>
              <a:rPr sz="900" dirty="0">
                <a:solidFill>
                  <a:srgbClr val="646C82"/>
                </a:solidFill>
                <a:latin typeface="メイリオ"/>
                <a:ea typeface="メイリオ"/>
                <a:cs typeface="メイリオ"/>
              </a:rPr>
              <a:t>」／</a:t>
            </a:r>
            <a:r>
              <a:rPr sz="900" dirty="0" err="1">
                <a:solidFill>
                  <a:srgbClr val="646C82"/>
                </a:solidFill>
                <a:latin typeface="メイリオ"/>
                <a:ea typeface="メイリオ"/>
                <a:cs typeface="メイリオ"/>
              </a:rPr>
              <a:t>日本私立学校振興・共済事業団「私立大学・短期大学等入学志願動向</a:t>
            </a:r>
            <a:r>
              <a:rPr sz="900" dirty="0">
                <a:solidFill>
                  <a:srgbClr val="646C82"/>
                </a:solidFill>
                <a:latin typeface="メイリオ"/>
                <a:ea typeface="メイリオ"/>
                <a:cs typeface="メイリオ"/>
              </a:rPr>
              <a:t>」／</a:t>
            </a:r>
            <a:r>
              <a:rPr sz="900" dirty="0" err="1">
                <a:solidFill>
                  <a:srgbClr val="646C82"/>
                </a:solidFill>
                <a:latin typeface="メイリオ"/>
                <a:ea typeface="メイリオ"/>
                <a:cs typeface="メイリオ"/>
              </a:rPr>
              <a:t>文部科学省「私立大学等入学者に係る初年度学生納付金等調査</a:t>
            </a:r>
            <a:r>
              <a:rPr sz="900" dirty="0">
                <a:solidFill>
                  <a:srgbClr val="646C82"/>
                </a:solidFill>
                <a:latin typeface="メイリオ"/>
                <a:ea typeface="メイリオ"/>
                <a:cs typeface="メイリオ"/>
              </a:rPr>
              <a:t>」。【</a:t>
            </a:r>
            <a:r>
              <a:rPr sz="900" dirty="0" err="1">
                <a:solidFill>
                  <a:srgbClr val="646C82"/>
                </a:solidFill>
                <a:latin typeface="メイリオ"/>
                <a:ea typeface="メイリオ"/>
                <a:cs typeface="メイリオ"/>
              </a:rPr>
              <a:t>提出前に最新年度で原典照合すること</a:t>
            </a:r>
            <a:r>
              <a:rPr sz="900" dirty="0">
                <a:solidFill>
                  <a:srgbClr val="646C82"/>
                </a:solidFill>
                <a:latin typeface="メイリオ"/>
                <a:ea typeface="メイリオ"/>
                <a:cs typeface="メイリオ"/>
              </a:rPr>
              <a:t>】※定員割れ46.2%は令和8年度速報（前年53.2%・</a:t>
            </a:r>
            <a:r>
              <a:rPr sz="900" dirty="0" err="1">
                <a:solidFill>
                  <a:srgbClr val="646C82"/>
                </a:solidFill>
                <a:latin typeface="メイリオ"/>
                <a:ea typeface="メイリオ"/>
                <a:cs typeface="メイリオ"/>
              </a:rPr>
              <a:t>定員削減等の影響含む</a:t>
            </a:r>
            <a:r>
              <a:rPr sz="900" dirty="0">
                <a:solidFill>
                  <a:srgbClr val="646C82"/>
                </a:solidFill>
                <a:latin typeface="メイリオ"/>
                <a:ea typeface="メイリオ"/>
                <a:cs typeface="メイリオ"/>
              </a:rPr>
              <a:t>）</a:t>
            </a:r>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ニーズ調査（シーズナリティ）｜OCは7月末、総合型選抜は8月末</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オープンキャンパスのピークと、総合型選抜の出願準備のピークは1ヶ月しか離れていない。</a:t>
            </a:r>
          </a:p>
          <a:p>
            <a:pPr algn="l">
              <a:lnSpc>
                <a:spcPct val="122000"/>
              </a:lnSpc>
            </a:pPr>
            <a:r>
              <a:rPr sz="1500">
                <a:solidFill>
                  <a:srgbClr val="646C82"/>
                </a:solidFill>
                <a:latin typeface="メイリオ"/>
                <a:ea typeface="メイリオ"/>
                <a:cs typeface="メイリオ"/>
              </a:rPr>
              <a:t>＝ 夏のOCで接点を持てなかった学校は、8月末には候補から消えている。</a:t>
            </a:r>
          </a:p>
        </p:txBody>
      </p:sp>
      <p:pic>
        <p:nvPicPr>
          <p:cNvPr id="4" name="Picture 3" descr="gakkou_trend_oc_weekly.png"/>
          <p:cNvPicPr>
            <a:picLocks noChangeAspect="1"/>
          </p:cNvPicPr>
          <p:nvPr/>
        </p:nvPicPr>
        <p:blipFill>
          <a:blip r:embed="rId2"/>
          <a:stretch>
            <a:fillRect/>
          </a:stretch>
        </p:blipFill>
        <p:spPr>
          <a:xfrm>
            <a:off x="396000" y="1224000"/>
            <a:ext cx="4464000" cy="1595293"/>
          </a:xfrm>
          <a:prstGeom prst="rect">
            <a:avLst/>
          </a:prstGeom>
        </p:spPr>
      </p:pic>
      <p:pic>
        <p:nvPicPr>
          <p:cNvPr id="5" name="Picture 4" descr="gakkou_trend_nyushi_weekly.png"/>
          <p:cNvPicPr>
            <a:picLocks noChangeAspect="1"/>
          </p:cNvPicPr>
          <p:nvPr/>
        </p:nvPicPr>
        <p:blipFill>
          <a:blip r:embed="rId3"/>
          <a:stretch>
            <a:fillRect/>
          </a:stretch>
        </p:blipFill>
        <p:spPr>
          <a:xfrm>
            <a:off x="5040000" y="1224000"/>
            <a:ext cx="4464000" cy="1595293"/>
          </a:xfrm>
          <a:prstGeom prst="rect">
            <a:avLst/>
          </a:prstGeom>
        </p:spPr>
      </p:pic>
      <p:sp>
        <p:nvSpPr>
          <p:cNvPr id="6" name="Rounded Rectangle 5"/>
          <p:cNvSpPr/>
          <p:nvPr/>
        </p:nvSpPr>
        <p:spPr>
          <a:xfrm>
            <a:off x="1292948" y="3168000"/>
            <a:ext cx="3009051" cy="134304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① 動き出しは5月下旬</a:t>
            </a:r>
          </a:p>
          <a:p>
            <a:pPr algn="l">
              <a:lnSpc>
                <a:spcPct val="120000"/>
              </a:lnSpc>
              <a:spcAft>
                <a:spcPts val="200"/>
              </a:spcAft>
            </a:pPr>
            <a:r>
              <a:rPr sz="1100" dirty="0">
                <a:solidFill>
                  <a:srgbClr val="1C2233"/>
                </a:solidFill>
                <a:latin typeface="メイリオ"/>
                <a:ea typeface="メイリオ"/>
                <a:cs typeface="メイリオ"/>
              </a:rPr>
              <a:t>「オープンキャンパス」の検索が20を超えるのが5/25週。</a:t>
            </a:r>
          </a:p>
          <a:p>
            <a:pPr algn="l">
              <a:lnSpc>
                <a:spcPct val="120000"/>
              </a:lnSpc>
              <a:spcAft>
                <a:spcPts val="200"/>
              </a:spcAft>
            </a:pPr>
            <a:r>
              <a:rPr sz="1100" dirty="0">
                <a:solidFill>
                  <a:srgbClr val="1C2233"/>
                </a:solidFill>
                <a:latin typeface="メイリオ"/>
                <a:ea typeface="メイリオ"/>
                <a:cs typeface="メイリオ"/>
              </a:rPr>
              <a:t>6/29週にはもう年間ピークの半分（51）。</a:t>
            </a:r>
          </a:p>
          <a:p>
            <a:pPr algn="l">
              <a:lnSpc>
                <a:spcPct val="120000"/>
              </a:lnSpc>
              <a:spcAft>
                <a:spcPts val="200"/>
              </a:spcAft>
            </a:pPr>
            <a:r>
              <a:rPr sz="1100" dirty="0">
                <a:solidFill>
                  <a:srgbClr val="1C2233"/>
                </a:solidFill>
                <a:latin typeface="メイリオ"/>
                <a:ea typeface="メイリオ"/>
                <a:cs typeface="メイリオ"/>
              </a:rPr>
              <a:t>6月に広報を始めたら、もう遅い。</a:t>
            </a:r>
          </a:p>
        </p:txBody>
      </p:sp>
      <p:sp>
        <p:nvSpPr>
          <p:cNvPr id="7" name="Rounded Rectangle 6"/>
          <p:cNvSpPr/>
          <p:nvPr/>
        </p:nvSpPr>
        <p:spPr>
          <a:xfrm>
            <a:off x="5329645" y="3168000"/>
            <a:ext cx="3095900" cy="134304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② 総合型のピークは8/31週</a:t>
            </a:r>
          </a:p>
          <a:p>
            <a:pPr algn="l">
              <a:lnSpc>
                <a:spcPct val="120000"/>
              </a:lnSpc>
              <a:spcAft>
                <a:spcPts val="200"/>
              </a:spcAft>
            </a:pPr>
            <a:r>
              <a:rPr sz="1100" dirty="0">
                <a:solidFill>
                  <a:srgbClr val="1C2233"/>
                </a:solidFill>
                <a:latin typeface="メイリオ"/>
                <a:ea typeface="メイリオ"/>
                <a:cs typeface="メイリオ"/>
              </a:rPr>
              <a:t>9/1の出願解禁を含む週が年間最大</a:t>
            </a:r>
            <a:r>
              <a:rPr lang="en-US" sz="1100" dirty="0">
                <a:solidFill>
                  <a:srgbClr val="1C2233"/>
                </a:solidFill>
                <a:latin typeface="メイリオ"/>
                <a:ea typeface="メイリオ"/>
                <a:cs typeface="メイリオ"/>
              </a:rPr>
              <a:t>(</a:t>
            </a:r>
            <a:r>
              <a:rPr sz="1100" dirty="0">
                <a:solidFill>
                  <a:srgbClr val="1C2233"/>
                </a:solidFill>
                <a:latin typeface="メイリオ"/>
                <a:ea typeface="メイリオ"/>
                <a:cs typeface="メイリオ"/>
              </a:rPr>
              <a:t>100</a:t>
            </a:r>
            <a:r>
              <a:rPr lang="en-US" sz="1100" dirty="0">
                <a:solidFill>
                  <a:srgbClr val="1C2233"/>
                </a:solidFill>
                <a:latin typeface="メイリオ"/>
                <a:ea typeface="メイリオ"/>
                <a:cs typeface="メイリオ"/>
              </a:rPr>
              <a:t>)</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指定校推薦は8月末と11月中旬の二山、</a:t>
            </a:r>
          </a:p>
          <a:p>
            <a:pPr algn="l">
              <a:lnSpc>
                <a:spcPct val="120000"/>
              </a:lnSpc>
              <a:spcAft>
                <a:spcPts val="200"/>
              </a:spcAft>
            </a:pPr>
            <a:r>
              <a:rPr sz="1100" dirty="0">
                <a:solidFill>
                  <a:srgbClr val="1C2233"/>
                </a:solidFill>
                <a:latin typeface="メイリオ"/>
                <a:ea typeface="メイリオ"/>
                <a:cs typeface="メイリオ"/>
              </a:rPr>
              <a:t>学校推薦型は11月の単峰。</a:t>
            </a:r>
            <a:endParaRPr lang="en-US" sz="1100" dirty="0">
              <a:solidFill>
                <a:srgbClr val="1C2233"/>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3方式で時期が違う。</a:t>
            </a:r>
          </a:p>
        </p:txBody>
      </p:sp>
      <p:sp>
        <p:nvSpPr>
          <p:cNvPr id="8" name="Rounded Rectangle 7"/>
          <p:cNvSpPr/>
          <p:nvPr/>
        </p:nvSpPr>
        <p:spPr>
          <a:xfrm>
            <a:off x="3405050" y="4654740"/>
            <a:ext cx="3095900" cy="133956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③ 仕込みの窓は5週間</a:t>
            </a:r>
          </a:p>
          <a:p>
            <a:pPr algn="l">
              <a:lnSpc>
                <a:spcPct val="120000"/>
              </a:lnSpc>
              <a:spcAft>
                <a:spcPts val="200"/>
              </a:spcAft>
            </a:pPr>
            <a:r>
              <a:rPr sz="1100" dirty="0">
                <a:solidFill>
                  <a:srgbClr val="1C2233"/>
                </a:solidFill>
                <a:latin typeface="メイリオ"/>
                <a:ea typeface="メイリオ"/>
                <a:cs typeface="メイリオ"/>
              </a:rPr>
              <a:t>5/25週〜6/29週の5週間が、友だち化の窓。</a:t>
            </a:r>
          </a:p>
          <a:p>
            <a:pPr algn="l">
              <a:lnSpc>
                <a:spcPct val="120000"/>
              </a:lnSpc>
              <a:spcAft>
                <a:spcPts val="200"/>
              </a:spcAft>
            </a:pPr>
            <a:r>
              <a:rPr sz="1100" dirty="0" err="1">
                <a:solidFill>
                  <a:srgbClr val="1C2233"/>
                </a:solidFill>
                <a:latin typeface="メイリオ"/>
                <a:ea typeface="メイリオ"/>
                <a:cs typeface="メイリオ"/>
              </a:rPr>
              <a:t>ここまでに友だちになっていない高校生は</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夏のOCの候補リストに入らない</a:t>
            </a:r>
            <a:r>
              <a:rPr sz="1100" dirty="0">
                <a:solidFill>
                  <a:srgbClr val="1C2233"/>
                </a:solidFill>
                <a:latin typeface="メイリオ"/>
                <a:ea typeface="メイリオ"/>
                <a:cs typeface="メイリオ"/>
              </a:rPr>
              <a:t>。</a:t>
            </a:r>
          </a:p>
        </p:txBody>
      </p:sp>
      <p:sp>
        <p:nvSpPr>
          <p:cNvPr id="9" name="TextBox 8"/>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出典：Googleトレンド（日本・ウェブ検索・2026-09-15取得）。週次データは2025年（2024-12-29〜2025-12-28）の実測。</a:t>
            </a:r>
          </a:p>
          <a:p>
            <a:pPr algn="l">
              <a:lnSpc>
                <a:spcPct val="120000"/>
              </a:lnSpc>
            </a:pPr>
            <a:r>
              <a:rPr sz="900">
                <a:solidFill>
                  <a:srgbClr val="646C82"/>
                </a:solidFill>
                <a:latin typeface="メイリオ"/>
                <a:ea typeface="メイリオ"/>
                <a:cs typeface="メイリオ"/>
              </a:rPr>
              <a:t>※ 入試日程は文部科学省「大学入学者選抜実施要項」（総合型＝9/1出願・11/1発表／学校推薦型＝11/1出願・12/1発表／一般＝2/1〜）。</a:t>
            </a:r>
          </a:p>
        </p:txBody>
      </p:sp>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ニーズ調査（5年トレンド）｜総合型選抜は5年で3.3倍</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オープンキャンパスの形は5年間まったく変わらない＝予定を立てられる需要。</a:t>
            </a:r>
          </a:p>
          <a:p>
            <a:pPr algn="l">
              <a:lnSpc>
                <a:spcPct val="122000"/>
              </a:lnSpc>
            </a:pPr>
            <a:r>
              <a:rPr sz="1500">
                <a:solidFill>
                  <a:srgbClr val="646C82"/>
                </a:solidFill>
                <a:latin typeface="メイリオ"/>
                <a:ea typeface="メイリオ"/>
                <a:cs typeface="メイリオ"/>
              </a:rPr>
              <a:t>一方で入試方式の主役は入れ替わっており、2023年9月に総合型が指定校推薦を抜いた。</a:t>
            </a:r>
          </a:p>
        </p:txBody>
      </p:sp>
      <p:pic>
        <p:nvPicPr>
          <p:cNvPr id="4" name="Picture 3" descr="gakkou_trend_oc_5y.png"/>
          <p:cNvPicPr>
            <a:picLocks noChangeAspect="1"/>
          </p:cNvPicPr>
          <p:nvPr/>
        </p:nvPicPr>
        <p:blipFill>
          <a:blip r:embed="rId2"/>
          <a:stretch>
            <a:fillRect/>
          </a:stretch>
        </p:blipFill>
        <p:spPr>
          <a:xfrm>
            <a:off x="396000" y="1224000"/>
            <a:ext cx="4464000" cy="1545954"/>
          </a:xfrm>
          <a:prstGeom prst="rect">
            <a:avLst/>
          </a:prstGeom>
        </p:spPr>
      </p:pic>
      <p:pic>
        <p:nvPicPr>
          <p:cNvPr id="5" name="Picture 4" descr="gakkou_trend_nyushi_5y.png"/>
          <p:cNvPicPr>
            <a:picLocks noChangeAspect="1"/>
          </p:cNvPicPr>
          <p:nvPr/>
        </p:nvPicPr>
        <p:blipFill>
          <a:blip r:embed="rId3"/>
          <a:stretch>
            <a:fillRect/>
          </a:stretch>
        </p:blipFill>
        <p:spPr>
          <a:xfrm>
            <a:off x="5040000" y="1224000"/>
            <a:ext cx="4464000" cy="1595293"/>
          </a:xfrm>
          <a:prstGeom prst="rect">
            <a:avLst/>
          </a:prstGeom>
        </p:spPr>
      </p:pic>
      <p:sp>
        <p:nvSpPr>
          <p:cNvPr id="6" name="Rounded Rectangle 5"/>
          <p:cNvSpPr/>
          <p:nvPr/>
        </p:nvSpPr>
        <p:spPr>
          <a:xfrm>
            <a:off x="396000"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00" b="1" dirty="0">
                <a:solidFill>
                  <a:srgbClr val="1F285A"/>
                </a:solidFill>
                <a:latin typeface="メイリオ"/>
                <a:ea typeface="メイリオ"/>
                <a:cs typeface="メイリオ"/>
              </a:rPr>
              <a:t>① OCは5年連続で7月ピーク</a:t>
            </a:r>
          </a:p>
          <a:p>
            <a:pPr algn="l">
              <a:lnSpc>
                <a:spcPct val="120000"/>
              </a:lnSpc>
              <a:spcAft>
                <a:spcPts val="200"/>
              </a:spcAft>
            </a:pPr>
            <a:r>
              <a:rPr sz="1050" dirty="0">
                <a:solidFill>
                  <a:srgbClr val="1C2233"/>
                </a:solidFill>
                <a:latin typeface="メイリオ"/>
                <a:ea typeface="メイリオ"/>
                <a:cs typeface="メイリオ"/>
              </a:rPr>
              <a:t>2022→2026年の7月値は 100 / 94 / 80 / 85 / 90。</a:t>
            </a:r>
          </a:p>
          <a:p>
            <a:pPr algn="l">
              <a:lnSpc>
                <a:spcPct val="120000"/>
              </a:lnSpc>
              <a:spcAft>
                <a:spcPts val="200"/>
              </a:spcAft>
            </a:pPr>
            <a:r>
              <a:rPr sz="1050" dirty="0">
                <a:solidFill>
                  <a:srgbClr val="1C2233"/>
                </a:solidFill>
                <a:latin typeface="メイリオ"/>
                <a:ea typeface="メイリオ"/>
                <a:cs typeface="メイリオ"/>
              </a:rPr>
              <a:t>谷は12〜1月（3〜5）でピークの約1/20。</a:t>
            </a:r>
          </a:p>
          <a:p>
            <a:pPr algn="l">
              <a:lnSpc>
                <a:spcPct val="120000"/>
              </a:lnSpc>
              <a:spcAft>
                <a:spcPts val="200"/>
              </a:spcAft>
            </a:pPr>
            <a:r>
              <a:rPr sz="1050" dirty="0" err="1">
                <a:solidFill>
                  <a:srgbClr val="1C2233"/>
                </a:solidFill>
                <a:latin typeface="メイリオ"/>
                <a:ea typeface="メイリオ"/>
                <a:cs typeface="メイリオ"/>
              </a:rPr>
              <a:t>形が変わらない＝毎年同じ日程で仕込める</a:t>
            </a:r>
            <a:r>
              <a:rPr sz="1050" dirty="0">
                <a:solidFill>
                  <a:srgbClr val="1C2233"/>
                </a:solidFill>
                <a:latin typeface="メイリオ"/>
                <a:ea typeface="メイリオ"/>
                <a:cs typeface="メイリオ"/>
              </a:rPr>
              <a:t>。</a:t>
            </a:r>
          </a:p>
        </p:txBody>
      </p:sp>
      <p:sp>
        <p:nvSpPr>
          <p:cNvPr id="7" name="Rounded Rectangle 6"/>
          <p:cNvSpPr/>
          <p:nvPr/>
        </p:nvSpPr>
        <p:spPr>
          <a:xfrm>
            <a:off x="3419999" y="3157646"/>
            <a:ext cx="3096001"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00" b="1" dirty="0">
                <a:solidFill>
                  <a:srgbClr val="ED7D31"/>
                </a:solidFill>
                <a:latin typeface="メイリオ"/>
                <a:ea typeface="メイリオ"/>
                <a:cs typeface="メイリオ"/>
              </a:rPr>
              <a:t>② </a:t>
            </a:r>
            <a:r>
              <a:rPr sz="1100" b="1" dirty="0" err="1">
                <a:solidFill>
                  <a:srgbClr val="ED7D31"/>
                </a:solidFill>
                <a:latin typeface="メイリオ"/>
                <a:ea typeface="メイリオ"/>
                <a:cs typeface="メイリオ"/>
              </a:rPr>
              <a:t>総合型選抜</a:t>
            </a:r>
            <a:r>
              <a:rPr sz="1100" b="1" dirty="0">
                <a:solidFill>
                  <a:srgbClr val="ED7D31"/>
                </a:solidFill>
                <a:latin typeface="メイリオ"/>
                <a:ea typeface="メイリオ"/>
                <a:cs typeface="メイリオ"/>
              </a:rPr>
              <a:t> 5年で3.3倍</a:t>
            </a:r>
          </a:p>
          <a:p>
            <a:pPr algn="l">
              <a:lnSpc>
                <a:spcPct val="120000"/>
              </a:lnSpc>
              <a:spcAft>
                <a:spcPts val="200"/>
              </a:spcAft>
            </a:pPr>
            <a:r>
              <a:rPr sz="1050" dirty="0">
                <a:solidFill>
                  <a:srgbClr val="1C2233"/>
                </a:solidFill>
                <a:latin typeface="メイリオ"/>
                <a:ea typeface="メイリオ"/>
                <a:cs typeface="メイリオ"/>
              </a:rPr>
              <a:t>9月値の比較：総合型 30 → 100（3.3倍・5年連続増）。</a:t>
            </a:r>
          </a:p>
          <a:p>
            <a:pPr algn="l">
              <a:lnSpc>
                <a:spcPct val="120000"/>
              </a:lnSpc>
              <a:spcAft>
                <a:spcPts val="200"/>
              </a:spcAft>
            </a:pPr>
            <a:r>
              <a:rPr sz="1050" dirty="0" err="1">
                <a:solidFill>
                  <a:srgbClr val="1C2233"/>
                </a:solidFill>
                <a:latin typeface="メイリオ"/>
                <a:ea typeface="メイリオ"/>
                <a:cs typeface="メイリオ"/>
              </a:rPr>
              <a:t>指定校推薦は</a:t>
            </a:r>
            <a:r>
              <a:rPr sz="1050" dirty="0">
                <a:solidFill>
                  <a:srgbClr val="1C2233"/>
                </a:solidFill>
                <a:latin typeface="メイリオ"/>
                <a:ea typeface="メイリオ"/>
                <a:cs typeface="メイリオ"/>
              </a:rPr>
              <a:t> 64 → 57</a:t>
            </a:r>
            <a:r>
              <a:rPr lang="en-US" sz="1050" dirty="0">
                <a:solidFill>
                  <a:srgbClr val="1C2233"/>
                </a:solidFill>
                <a:latin typeface="メイリオ"/>
                <a:ea typeface="メイリオ"/>
                <a:cs typeface="メイリオ"/>
              </a:rPr>
              <a:t>(</a:t>
            </a:r>
            <a:r>
              <a:rPr sz="1050" dirty="0">
                <a:solidFill>
                  <a:srgbClr val="1C2233"/>
                </a:solidFill>
                <a:latin typeface="メイリオ"/>
                <a:ea typeface="メイリオ"/>
                <a:cs typeface="メイリオ"/>
              </a:rPr>
              <a:t>▲11%</a:t>
            </a:r>
            <a:r>
              <a:rPr lang="en-US" sz="1050" dirty="0">
                <a:solidFill>
                  <a:srgbClr val="1C2233"/>
                </a:solidFill>
                <a:latin typeface="メイリオ"/>
                <a:ea typeface="メイリオ"/>
                <a:cs typeface="メイリオ"/>
              </a:rPr>
              <a:t>)</a:t>
            </a:r>
            <a:r>
              <a:rPr sz="1050" dirty="0" err="1">
                <a:solidFill>
                  <a:srgbClr val="1C2233"/>
                </a:solidFill>
                <a:latin typeface="メイリオ"/>
                <a:ea typeface="メイリオ"/>
                <a:cs typeface="メイリオ"/>
              </a:rPr>
              <a:t>で横ばい</a:t>
            </a:r>
            <a:r>
              <a:rPr sz="1050" dirty="0">
                <a:solidFill>
                  <a:srgbClr val="1C2233"/>
                </a:solidFill>
                <a:latin typeface="メイリオ"/>
                <a:ea typeface="メイリオ"/>
                <a:cs typeface="メイリオ"/>
              </a:rPr>
              <a:t>。</a:t>
            </a:r>
          </a:p>
          <a:p>
            <a:pPr algn="l">
              <a:lnSpc>
                <a:spcPct val="120000"/>
              </a:lnSpc>
              <a:spcAft>
                <a:spcPts val="200"/>
              </a:spcAft>
            </a:pPr>
            <a:r>
              <a:rPr sz="1050" dirty="0">
                <a:solidFill>
                  <a:srgbClr val="1C2233"/>
                </a:solidFill>
                <a:latin typeface="メイリオ"/>
                <a:ea typeface="メイリオ"/>
                <a:cs typeface="メイリオ"/>
              </a:rPr>
              <a:t>2023年9月に逆転し、いまは総合型が1.75倍。</a:t>
            </a:r>
          </a:p>
        </p:txBody>
      </p:sp>
      <p:sp>
        <p:nvSpPr>
          <p:cNvPr id="8" name="Rounded Rectangle 7"/>
          <p:cNvSpPr/>
          <p:nvPr/>
        </p:nvSpPr>
        <p:spPr>
          <a:xfrm>
            <a:off x="6588000" y="3168000"/>
            <a:ext cx="3096001"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00" b="1" dirty="0">
                <a:solidFill>
                  <a:srgbClr val="1F285A"/>
                </a:solidFill>
                <a:latin typeface="メイリオ"/>
                <a:ea typeface="メイリオ"/>
                <a:cs typeface="メイリオ"/>
              </a:rPr>
              <a:t>③ </a:t>
            </a:r>
            <a:r>
              <a:rPr sz="1100" b="1" dirty="0" err="1">
                <a:solidFill>
                  <a:srgbClr val="1F285A"/>
                </a:solidFill>
                <a:latin typeface="メイリオ"/>
                <a:ea typeface="メイリオ"/>
                <a:cs typeface="メイリオ"/>
              </a:rPr>
              <a:t>専門学校は年中フラット</a:t>
            </a:r>
            <a:endParaRPr sz="1100" b="1" dirty="0">
              <a:solidFill>
                <a:srgbClr val="1F285A"/>
              </a:solidFill>
              <a:latin typeface="メイリオ"/>
              <a:ea typeface="メイリオ"/>
              <a:cs typeface="メイリオ"/>
            </a:endParaRPr>
          </a:p>
          <a:p>
            <a:pPr algn="l">
              <a:lnSpc>
                <a:spcPct val="120000"/>
              </a:lnSpc>
              <a:spcAft>
                <a:spcPts val="200"/>
              </a:spcAft>
            </a:pPr>
            <a:r>
              <a:rPr sz="1050" dirty="0">
                <a:solidFill>
                  <a:srgbClr val="1C2233"/>
                </a:solidFill>
                <a:latin typeface="メイリオ"/>
                <a:ea typeface="メイリオ"/>
                <a:cs typeface="メイリオ"/>
              </a:rPr>
              <a:t>「専門学校」は5年間ずっと22〜40のレンジ。</a:t>
            </a:r>
          </a:p>
          <a:p>
            <a:pPr algn="l">
              <a:lnSpc>
                <a:spcPct val="120000"/>
              </a:lnSpc>
              <a:spcAft>
                <a:spcPts val="200"/>
              </a:spcAft>
            </a:pPr>
            <a:r>
              <a:rPr sz="1050" dirty="0" err="1">
                <a:solidFill>
                  <a:srgbClr val="1C2233"/>
                </a:solidFill>
                <a:latin typeface="メイリオ"/>
                <a:ea typeface="メイリオ"/>
                <a:cs typeface="メイリオ"/>
              </a:rPr>
              <a:t>大学</a:t>
            </a:r>
            <a:r>
              <a:rPr lang="en-US" sz="1050" dirty="0">
                <a:solidFill>
                  <a:srgbClr val="1C2233"/>
                </a:solidFill>
                <a:latin typeface="メイリオ"/>
                <a:ea typeface="メイリオ"/>
                <a:cs typeface="メイリオ"/>
              </a:rPr>
              <a:t>(</a:t>
            </a:r>
            <a:r>
              <a:rPr sz="1050" dirty="0" err="1">
                <a:solidFill>
                  <a:srgbClr val="1C2233"/>
                </a:solidFill>
                <a:latin typeface="メイリオ"/>
                <a:ea typeface="メイリオ"/>
                <a:cs typeface="メイリオ"/>
              </a:rPr>
              <a:t>夏に集中</a:t>
            </a:r>
            <a:r>
              <a:rPr lang="en-US" sz="1050" dirty="0">
                <a:solidFill>
                  <a:srgbClr val="1C2233"/>
                </a:solidFill>
                <a:latin typeface="メイリオ"/>
                <a:ea typeface="メイリオ"/>
                <a:cs typeface="メイリオ"/>
              </a:rPr>
              <a:t>)</a:t>
            </a:r>
            <a:r>
              <a:rPr sz="1050" dirty="0" err="1">
                <a:solidFill>
                  <a:srgbClr val="1C2233"/>
                </a:solidFill>
                <a:latin typeface="メイリオ"/>
                <a:ea typeface="メイリオ"/>
                <a:cs typeface="メイリオ"/>
              </a:rPr>
              <a:t>とは需要曲線がまったく違う</a:t>
            </a:r>
            <a:r>
              <a:rPr sz="1050" dirty="0">
                <a:solidFill>
                  <a:srgbClr val="1C2233"/>
                </a:solidFill>
                <a:latin typeface="メイリオ"/>
                <a:ea typeface="メイリオ"/>
                <a:cs typeface="メイリオ"/>
              </a:rPr>
              <a:t>。</a:t>
            </a:r>
          </a:p>
          <a:p>
            <a:pPr algn="l">
              <a:lnSpc>
                <a:spcPct val="120000"/>
              </a:lnSpc>
              <a:spcAft>
                <a:spcPts val="200"/>
              </a:spcAft>
            </a:pPr>
            <a:r>
              <a:rPr sz="1050" dirty="0">
                <a:solidFill>
                  <a:srgbClr val="1C2233"/>
                </a:solidFill>
                <a:latin typeface="メイリオ"/>
                <a:ea typeface="メイリオ"/>
                <a:cs typeface="メイリオ"/>
              </a:rPr>
              <a:t>→ </a:t>
            </a:r>
            <a:r>
              <a:rPr sz="1050" dirty="0" err="1">
                <a:solidFill>
                  <a:srgbClr val="1C2233"/>
                </a:solidFill>
                <a:latin typeface="メイリオ"/>
                <a:ea typeface="メイリオ"/>
                <a:cs typeface="メイリオ"/>
              </a:rPr>
              <a:t>大学と専門学校は別の配信設計が要る</a:t>
            </a:r>
            <a:r>
              <a:rPr sz="1050" dirty="0">
                <a:solidFill>
                  <a:srgbClr val="1C2233"/>
                </a:solidFill>
                <a:latin typeface="メイリオ"/>
                <a:ea typeface="メイリオ"/>
                <a:cs typeface="メイリオ"/>
              </a:rPr>
              <a:t>。</a:t>
            </a:r>
          </a:p>
        </p:txBody>
      </p:sp>
      <p:sp>
        <p:nvSpPr>
          <p:cNvPr id="9" name="TextBox 8"/>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出典：Googleトレンド（日本・ウェブ検索・2021/9〜2026/9・2026-09-15取得）。2026年9月は月途中（9/15まで）の参考値。</a:t>
            </a:r>
          </a:p>
          <a:p>
            <a:pPr algn="l">
              <a:lnSpc>
                <a:spcPct val="120000"/>
              </a:lnSpc>
            </a:pPr>
            <a:r>
              <a:rPr sz="900">
                <a:solidFill>
                  <a:srgbClr val="646C82"/>
                </a:solidFill>
                <a:latin typeface="メイリオ"/>
                <a:ea typeface="メイリオ"/>
                <a:cs typeface="メイリオ"/>
              </a:rPr>
              <a:t>※ 「共通テスト」は1月に100・他月は10以下と桁が違うため、同一グラフに混ぜていない（混ぜると小さい方が潰れる）。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年間の配信設計マトリクス（時期 × 対象 × 訴求 × CV）</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需要の波と入試日程が動かせない業界。時期ごとに「誰に・何を言い・どこへ着地させるか」を先に決める。</a:t>
            </a:r>
          </a:p>
        </p:txBody>
      </p:sp>
      <p:graphicFrame>
        <p:nvGraphicFramePr>
          <p:cNvPr id="4" name="Table 3"/>
          <p:cNvGraphicFramePr>
            <a:graphicFrameLocks noGrp="1"/>
          </p:cNvGraphicFramePr>
          <p:nvPr>
            <p:extLst>
              <p:ext uri="{D42A27DB-BD31-4B8C-83A1-F6EECF244321}">
                <p14:modId xmlns:p14="http://schemas.microsoft.com/office/powerpoint/2010/main" val="3319664693"/>
              </p:ext>
            </p:extLst>
          </p:nvPr>
        </p:nvGraphicFramePr>
        <p:xfrm>
          <a:off x="396000" y="1224000"/>
          <a:ext cx="9143999" cy="3780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2664000">
                  <a:extLst>
                    <a:ext uri="{9D8B030D-6E8A-4147-A177-3AD203B41FA5}">
                      <a16:colId xmlns:a16="http://schemas.microsoft.com/office/drawing/2014/main" val="20001"/>
                    </a:ext>
                  </a:extLst>
                </a:gridCol>
                <a:gridCol w="3384000">
                  <a:extLst>
                    <a:ext uri="{9D8B030D-6E8A-4147-A177-3AD203B41FA5}">
                      <a16:colId xmlns:a16="http://schemas.microsoft.com/office/drawing/2014/main" val="20002"/>
                    </a:ext>
                  </a:extLst>
                </a:gridCol>
                <a:gridCol w="2015999">
                  <a:extLst>
                    <a:ext uri="{9D8B030D-6E8A-4147-A177-3AD203B41FA5}">
                      <a16:colId xmlns:a16="http://schemas.microsoft.com/office/drawing/2014/main" val="20003"/>
                    </a:ext>
                  </a:extLst>
                </a:gridCol>
              </a:tblGrid>
              <a:tr h="540000">
                <a:tc>
                  <a:txBody>
                    <a:bodyPr/>
                    <a:lstStyle/>
                    <a:p>
                      <a:pPr algn="ctr"/>
                      <a:r>
                        <a:rPr sz="1200" b="1">
                          <a:solidFill>
                            <a:srgbClr val="FFFFFF"/>
                          </a:solidFill>
                          <a:latin typeface="メイリオ"/>
                          <a:ea typeface="メイリオ"/>
                          <a:cs typeface="メイリオ"/>
                        </a:rPr>
                        <a:t>時期</a:t>
                      </a:r>
                    </a:p>
                  </a:txBody>
                  <a:tcPr anchor="ctr">
                    <a:solidFill>
                      <a:srgbClr val="1F285A"/>
                    </a:solidFill>
                  </a:tcPr>
                </a:tc>
                <a:tc>
                  <a:txBody>
                    <a:bodyPr/>
                    <a:lstStyle/>
                    <a:p>
                      <a:pPr algn="l"/>
                      <a:r>
                        <a:rPr sz="1200" b="1">
                          <a:solidFill>
                            <a:srgbClr val="FFFFFF"/>
                          </a:solidFill>
                          <a:latin typeface="メイリオ"/>
                          <a:ea typeface="メイリオ"/>
                          <a:cs typeface="メイリオ"/>
                        </a:rPr>
                        <a:t>対象（学年・状態）</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l"/>
                      <a:r>
                        <a:rPr sz="1200" b="1">
                          <a:solidFill>
                            <a:srgbClr val="FFFFFF"/>
                          </a:solidFill>
                          <a:latin typeface="メイリオ"/>
                          <a:ea typeface="メイリオ"/>
                          <a:cs typeface="メイリオ"/>
                        </a:rPr>
                        <a:t>着地させるCV</a:t>
                      </a:r>
                    </a:p>
                  </a:txBody>
                  <a:tcPr anchor="ctr">
                    <a:solidFill>
                      <a:srgbClr val="1F285A"/>
                    </a:solidFill>
                  </a:tcPr>
                </a:tc>
                <a:extLst>
                  <a:ext uri="{0D108BD9-81ED-4DB2-BD59-A6C34878D82A}">
                    <a16:rowId xmlns:a16="http://schemas.microsoft.com/office/drawing/2014/main" val="10000"/>
                  </a:ext>
                </a:extLst>
              </a:tr>
              <a:tr h="540000">
                <a:tc>
                  <a:txBody>
                    <a:bodyPr/>
                    <a:lstStyle/>
                    <a:p>
                      <a:pPr algn="ctr"/>
                      <a:r>
                        <a:rPr sz="1100">
                          <a:solidFill>
                            <a:srgbClr val="1C2233"/>
                          </a:solidFill>
                          <a:latin typeface="メイリオ"/>
                          <a:ea typeface="メイリオ"/>
                          <a:cs typeface="メイリオ"/>
                        </a:rPr>
                        <a:t>3〜4月</a:t>
                      </a:r>
                    </a:p>
                  </a:txBody>
                  <a:tcPr anchor="ctr">
                    <a:solidFill>
                      <a:srgbClr val="FFFFFF"/>
                    </a:solidFill>
                  </a:tcPr>
                </a:tc>
                <a:tc>
                  <a:txBody>
                    <a:bodyPr/>
                    <a:lstStyle/>
                    <a:p>
                      <a:pPr algn="l"/>
                      <a:r>
                        <a:rPr sz="1100">
                          <a:solidFill>
                            <a:srgbClr val="1C2233"/>
                          </a:solidFill>
                          <a:latin typeface="メイリオ"/>
                          <a:ea typeface="メイリオ"/>
                          <a:cs typeface="メイリオ"/>
                        </a:rPr>
                        <a:t>新高2・新高3／進路意識が立ち上がる層</a:t>
                      </a:r>
                    </a:p>
                  </a:txBody>
                  <a:tcPr anchor="ctr">
                    <a:solidFill>
                      <a:srgbClr val="FFFFFF"/>
                    </a:solidFill>
                  </a:tcPr>
                </a:tc>
                <a:tc>
                  <a:txBody>
                    <a:bodyPr/>
                    <a:lstStyle/>
                    <a:p>
                      <a:pPr algn="l"/>
                      <a:r>
                        <a:rPr sz="1100">
                          <a:solidFill>
                            <a:srgbClr val="1C2233"/>
                          </a:solidFill>
                          <a:latin typeface="メイリオ"/>
                          <a:ea typeface="メイリオ"/>
                          <a:cs typeface="メイリオ"/>
                        </a:rPr>
                        <a:t>「まだ決まっていなくていい」30秒 学部学科診断</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友だち追加・診断完了</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【CV①】</a:t>
                      </a:r>
                    </a:p>
                  </a:txBody>
                  <a:tcPr anchor="ctr">
                    <a:solidFill>
                      <a:srgbClr val="FFFFFF"/>
                    </a:solidFill>
                  </a:tcPr>
                </a:tc>
                <a:extLst>
                  <a:ext uri="{0D108BD9-81ED-4DB2-BD59-A6C34878D82A}">
                    <a16:rowId xmlns:a16="http://schemas.microsoft.com/office/drawing/2014/main" val="10001"/>
                  </a:ext>
                </a:extLst>
              </a:tr>
              <a:tr h="540000">
                <a:tc>
                  <a:txBody>
                    <a:bodyPr/>
                    <a:lstStyle/>
                    <a:p>
                      <a:pPr algn="ctr"/>
                      <a:r>
                        <a:rPr sz="1100">
                          <a:solidFill>
                            <a:srgbClr val="1C2233"/>
                          </a:solidFill>
                          <a:latin typeface="メイリオ"/>
                          <a:ea typeface="メイリオ"/>
                          <a:cs typeface="メイリオ"/>
                        </a:rPr>
                        <a:t>5月下旬〜6月</a:t>
                      </a:r>
                    </a:p>
                  </a:txBody>
                  <a:tcPr anchor="ctr">
                    <a:solidFill>
                      <a:srgbClr val="F4F7FF"/>
                    </a:solidFill>
                  </a:tcPr>
                </a:tc>
                <a:tc>
                  <a:txBody>
                    <a:bodyPr/>
                    <a:lstStyle/>
                    <a:p>
                      <a:pPr algn="l"/>
                      <a:r>
                        <a:rPr sz="1100" dirty="0">
                          <a:solidFill>
                            <a:srgbClr val="1C2233"/>
                          </a:solidFill>
                          <a:latin typeface="メイリオ"/>
                          <a:ea typeface="メイリオ"/>
                          <a:cs typeface="メイリオ"/>
                        </a:rPr>
                        <a:t>高3／OC検索が動き出す層　</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※検索実測：5/25週</a:t>
                      </a:r>
                    </a:p>
                  </a:txBody>
                  <a:tcPr anchor="ctr">
                    <a:solidFill>
                      <a:srgbClr val="F4F7FF"/>
                    </a:solidFill>
                  </a:tcPr>
                </a:tc>
                <a:tc>
                  <a:txBody>
                    <a:bodyPr/>
                    <a:lstStyle/>
                    <a:p>
                      <a:pPr algn="l"/>
                      <a:r>
                        <a:rPr sz="1100">
                          <a:solidFill>
                            <a:srgbClr val="1C2233"/>
                          </a:solidFill>
                          <a:latin typeface="メイリオ"/>
                          <a:ea typeface="メイリオ"/>
                          <a:cs typeface="メイリオ"/>
                        </a:rPr>
                        <a:t>OC日程の先行案内・1人参加OK・当日の流れ</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オープンキャンパス予約</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【CV②】</a:t>
                      </a:r>
                    </a:p>
                  </a:txBody>
                  <a:tcPr anchor="ctr">
                    <a:solidFill>
                      <a:srgbClr val="F4F7FF"/>
                    </a:solidFill>
                  </a:tcPr>
                </a:tc>
                <a:extLst>
                  <a:ext uri="{0D108BD9-81ED-4DB2-BD59-A6C34878D82A}">
                    <a16:rowId xmlns:a16="http://schemas.microsoft.com/office/drawing/2014/main" val="10002"/>
                  </a:ext>
                </a:extLst>
              </a:tr>
              <a:tr h="540000">
                <a:tc>
                  <a:txBody>
                    <a:bodyPr/>
                    <a:lstStyle/>
                    <a:p>
                      <a:pPr algn="ctr"/>
                      <a:r>
                        <a:rPr sz="1100">
                          <a:solidFill>
                            <a:srgbClr val="1C2233"/>
                          </a:solidFill>
                          <a:latin typeface="メイリオ"/>
                          <a:ea typeface="メイリオ"/>
                          <a:cs typeface="メイリオ"/>
                        </a:rPr>
                        <a:t>7〜8月</a:t>
                      </a:r>
                    </a:p>
                  </a:txBody>
                  <a:tcPr anchor="ctr">
                    <a:solidFill>
                      <a:srgbClr val="FFFFFF"/>
                    </a:solidFill>
                  </a:tcPr>
                </a:tc>
                <a:tc>
                  <a:txBody>
                    <a:bodyPr/>
                    <a:lstStyle/>
                    <a:p>
                      <a:pPr algn="l"/>
                      <a:r>
                        <a:rPr sz="1100">
                          <a:solidFill>
                            <a:srgbClr val="1C2233"/>
                          </a:solidFill>
                          <a:latin typeface="メイリオ"/>
                          <a:ea typeface="メイリオ"/>
                          <a:cs typeface="メイリオ"/>
                        </a:rPr>
                        <a:t>OC予約者・参加者</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前日リマインド／参加後アンケート</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学部の深掘り</a:t>
                      </a:r>
                      <a:endParaRPr sz="1100" dirty="0">
                        <a:solidFill>
                          <a:srgbClr val="1C2233"/>
                        </a:solidFill>
                        <a:latin typeface="メイリオ"/>
                        <a:ea typeface="メイリオ"/>
                        <a:cs typeface="メイリオ"/>
                      </a:endParaRPr>
                    </a:p>
                  </a:txBody>
                  <a:tcPr anchor="ctr">
                    <a:solidFill>
                      <a:srgbClr val="FFFFFF"/>
                    </a:solidFill>
                  </a:tcPr>
                </a:tc>
                <a:tc>
                  <a:txBody>
                    <a:bodyPr/>
                    <a:lstStyle/>
                    <a:p>
                      <a:pPr algn="l"/>
                      <a:r>
                        <a:rPr sz="1100">
                          <a:solidFill>
                            <a:srgbClr val="1C2233"/>
                          </a:solidFill>
                          <a:latin typeface="メイリオ"/>
                          <a:ea typeface="メイリオ"/>
                          <a:cs typeface="メイリオ"/>
                        </a:rPr>
                        <a:t>OC参加・再訪【CV②】</a:t>
                      </a:r>
                    </a:p>
                  </a:txBody>
                  <a:tcPr anchor="ctr">
                    <a:solidFill>
                      <a:srgbClr val="FFFFFF"/>
                    </a:solidFill>
                  </a:tcPr>
                </a:tc>
                <a:extLst>
                  <a:ext uri="{0D108BD9-81ED-4DB2-BD59-A6C34878D82A}">
                    <a16:rowId xmlns:a16="http://schemas.microsoft.com/office/drawing/2014/main" val="10003"/>
                  </a:ext>
                </a:extLst>
              </a:tr>
              <a:tr h="540000">
                <a:tc>
                  <a:txBody>
                    <a:bodyPr/>
                    <a:lstStyle/>
                    <a:p>
                      <a:pPr algn="ctr"/>
                      <a:r>
                        <a:rPr sz="1100">
                          <a:solidFill>
                            <a:srgbClr val="1C2233"/>
                          </a:solidFill>
                          <a:latin typeface="メイリオ"/>
                          <a:ea typeface="メイリオ"/>
                          <a:cs typeface="メイリオ"/>
                        </a:rPr>
                        <a:t>9〜11月</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OC参加者・年内入試層</a:t>
                      </a:r>
                      <a:r>
                        <a:rPr sz="1100" dirty="0">
                          <a:solidFill>
                            <a:srgbClr val="1C2233"/>
                          </a:solidFill>
                          <a:latin typeface="メイリオ"/>
                          <a:ea typeface="メイリオ"/>
                          <a:cs typeface="メイリオ"/>
                        </a:rPr>
                        <a:t>　</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※総合型9/1・学校推薦型11/1</a:t>
                      </a:r>
                    </a:p>
                  </a:txBody>
                  <a:tcPr anchor="ctr">
                    <a:solidFill>
                      <a:srgbClr val="F4F7FF"/>
                    </a:solidFill>
                  </a:tcPr>
                </a:tc>
                <a:tc>
                  <a:txBody>
                    <a:bodyPr/>
                    <a:lstStyle/>
                    <a:p>
                      <a:pPr algn="l"/>
                      <a:r>
                        <a:rPr sz="1100">
                          <a:solidFill>
                            <a:srgbClr val="1C2233"/>
                          </a:solidFill>
                          <a:latin typeface="メイリオ"/>
                          <a:ea typeface="メイリオ"/>
                          <a:cs typeface="メイリオ"/>
                        </a:rPr>
                        <a:t>志望理由書の書き方・面接10問・締切カウントダウン</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出願</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4"/>
                  </a:ext>
                </a:extLst>
              </a:tr>
              <a:tr h="540000">
                <a:tc>
                  <a:txBody>
                    <a:bodyPr/>
                    <a:lstStyle/>
                    <a:p>
                      <a:pPr algn="ctr"/>
                      <a:r>
                        <a:rPr sz="1100">
                          <a:solidFill>
                            <a:srgbClr val="1C2233"/>
                          </a:solidFill>
                          <a:latin typeface="メイリオ"/>
                          <a:ea typeface="メイリオ"/>
                          <a:cs typeface="メイリオ"/>
                        </a:rPr>
                        <a:t>12〜2月</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一般選抜層・併願検討層</a:t>
                      </a:r>
                      <a:r>
                        <a:rPr sz="1100" dirty="0">
                          <a:solidFill>
                            <a:srgbClr val="1C2233"/>
                          </a:solidFill>
                          <a:latin typeface="メイリオ"/>
                          <a:ea typeface="メイリオ"/>
                          <a:cs typeface="メイリオ"/>
                        </a:rPr>
                        <a:t>　</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※共通テスト1月中旬</a:t>
                      </a:r>
                    </a:p>
                  </a:txBody>
                  <a:tcPr anchor="ctr">
                    <a:solidFill>
                      <a:srgbClr val="FFFFFF"/>
                    </a:solidFill>
                  </a:tcPr>
                </a:tc>
                <a:tc>
                  <a:txBody>
                    <a:bodyPr/>
                    <a:lstStyle/>
                    <a:p>
                      <a:pPr algn="l"/>
                      <a:r>
                        <a:rPr sz="1100">
                          <a:solidFill>
                            <a:srgbClr val="1C2233"/>
                          </a:solidFill>
                          <a:latin typeface="メイリオ"/>
                          <a:ea typeface="メイリオ"/>
                          <a:cs typeface="メイリオ"/>
                        </a:rPr>
                        <a:t>入試方式の違い・過去問・入試説明会</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出願</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5"/>
                  </a:ext>
                </a:extLst>
              </a:tr>
              <a:tr h="540000">
                <a:tc>
                  <a:txBody>
                    <a:bodyPr/>
                    <a:lstStyle/>
                    <a:p>
                      <a:pPr algn="ctr"/>
                      <a:r>
                        <a:rPr sz="1100">
                          <a:solidFill>
                            <a:srgbClr val="1C2233"/>
                          </a:solidFill>
                          <a:latin typeface="メイリオ"/>
                          <a:ea typeface="メイリオ"/>
                          <a:cs typeface="メイリオ"/>
                        </a:rPr>
                        <a:t>2〜3月</a:t>
                      </a:r>
                    </a:p>
                  </a:txBody>
                  <a:tcPr anchor="ctr">
                    <a:solidFill>
                      <a:srgbClr val="F4F7FF"/>
                    </a:solidFill>
                  </a:tcPr>
                </a:tc>
                <a:tc>
                  <a:txBody>
                    <a:bodyPr/>
                    <a:lstStyle/>
                    <a:p>
                      <a:pPr algn="l"/>
                      <a:r>
                        <a:rPr sz="1100">
                          <a:solidFill>
                            <a:srgbClr val="1C2233"/>
                          </a:solidFill>
                          <a:latin typeface="メイリオ"/>
                          <a:ea typeface="メイリオ"/>
                          <a:cs typeface="メイリオ"/>
                        </a:rPr>
                        <a:t>合格者・入学手続前</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入学前オリエンテーション・先輩との交流</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一人暮らし準備</a:t>
                      </a:r>
                      <a:endParaRPr sz="1100" dirty="0">
                        <a:solidFill>
                          <a:srgbClr val="1C2233"/>
                        </a:solidFill>
                        <a:latin typeface="メイリオ"/>
                        <a:ea typeface="メイリオ"/>
                        <a:cs typeface="メイリオ"/>
                      </a:endParaRPr>
                    </a:p>
                  </a:txBody>
                  <a:tcPr anchor="ctr">
                    <a:solidFill>
                      <a:srgbClr val="F4F7FF"/>
                    </a:solidFill>
                  </a:tcPr>
                </a:tc>
                <a:tc>
                  <a:txBody>
                    <a:bodyPr/>
                    <a:lstStyle/>
                    <a:p>
                      <a:pPr algn="l"/>
                      <a:r>
                        <a:rPr sz="1100" dirty="0" err="1">
                          <a:solidFill>
                            <a:srgbClr val="1C2233"/>
                          </a:solidFill>
                          <a:latin typeface="メイリオ"/>
                          <a:ea typeface="メイリオ"/>
                          <a:cs typeface="メイリオ"/>
                        </a:rPr>
                        <a:t>入学手続【CV</a:t>
                      </a:r>
                      <a:r>
                        <a:rPr sz="1100" dirty="0">
                          <a:solidFill>
                            <a:srgbClr val="1C2233"/>
                          </a:solidFill>
                          <a:latin typeface="メイリオ"/>
                          <a:ea typeface="メイリオ"/>
                          <a:cs typeface="メイリオ"/>
                        </a:rPr>
                        <a:t>③】・</a:t>
                      </a:r>
                      <a:r>
                        <a:rPr sz="1100" dirty="0" err="1">
                          <a:solidFill>
                            <a:srgbClr val="1C2233"/>
                          </a:solidFill>
                          <a:latin typeface="メイリオ"/>
                          <a:ea typeface="メイリオ"/>
                          <a:cs typeface="メイリオ"/>
                        </a:rPr>
                        <a:t>定着</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396000" y="5950800"/>
            <a:ext cx="9144000" cy="7056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時期の根拠：Googleトレンド実測（2026-09-15取得）＋文部科学省「大学入学者選抜実施要項」。</a:t>
            </a:r>
          </a:p>
          <a:p>
            <a:pPr algn="l">
              <a:lnSpc>
                <a:spcPct val="120000"/>
              </a:lnSpc>
            </a:pPr>
            <a:r>
              <a:rPr sz="900">
                <a:solidFill>
                  <a:srgbClr val="646C82"/>
                </a:solidFill>
                <a:latin typeface="メイリオ"/>
                <a:ea typeface="メイリオ"/>
                <a:cs typeface="メイリオ"/>
              </a:rPr>
              <a:t>※ 専門学校はAOエントリー6/1・出願10/1解禁（全国専修学校各種学校総連合会の申し合わせ・要確認）のため、上記より前倒しになる。</a:t>
            </a:r>
          </a:p>
          <a:p>
            <a:pPr algn="l">
              <a:lnSpc>
                <a:spcPct val="120000"/>
              </a:lnSpc>
            </a:pPr>
            <a:r>
              <a:rPr sz="900">
                <a:solidFill>
                  <a:srgbClr val="646C82"/>
                </a:solidFill>
                <a:latin typeface="メイリオ"/>
                <a:ea typeface="メイリオ"/>
                <a:cs typeface="メイリオ"/>
              </a:rPr>
              <a:t>※ 各時期の広告単価・CVRは貴学の実績値で埋める（進学領域の公開統計は存在しない）。</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前後検索｜検討は「偏差値」で動く。オープンキャンパスは「後」に来る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LINEヤフー media Journey の実データ。0日前後の密集帯は、ほぼ全部「大学名＋偏差値」だった。</a:t>
            </a:r>
          </a:p>
          <a:p>
            <a:pPr algn="l">
              <a:lnSpc>
                <a:spcPct val="122000"/>
              </a:lnSpc>
            </a:pPr>
            <a:r>
              <a:rPr sz="1500">
                <a:solidFill>
                  <a:srgbClr val="646C82"/>
                </a:solidFill>
                <a:latin typeface="メイリオ"/>
                <a:ea typeface="メイリオ"/>
                <a:cs typeface="メイリオ"/>
              </a:rPr>
              <a:t>学部でも、やりたいことでもない。</a:t>
            </a:r>
          </a:p>
        </p:txBody>
      </p:sp>
      <p:sp>
        <p:nvSpPr>
          <p:cNvPr id="4" name="Rounded Rectangle 3"/>
          <p:cNvSpPr/>
          <p:nvPr/>
        </p:nvSpPr>
        <p:spPr>
          <a:xfrm>
            <a:off x="396000" y="1224000"/>
            <a:ext cx="2951999" cy="2736000"/>
          </a:xfrm>
          <a:prstGeom prst="roundRect">
            <a:avLst>
              <a:gd name="adj" fmla="val 6000"/>
            </a:avLst>
          </a:prstGeom>
          <a:solidFill>
            <a:srgbClr val="F2F2F2"/>
          </a:solidFill>
          <a:ln w="15875">
            <a:solidFill>
              <a:srgbClr val="1C2233"/>
            </a:solidFill>
            <a:prstDash val="dash"/>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1C2233"/>
                </a:solidFill>
                <a:latin typeface="メイリオ"/>
                <a:ea typeface="メイリオ"/>
                <a:cs typeface="メイリオ"/>
              </a:rPr>
              <a:t>検索前（−15〜−4日）</a:t>
            </a:r>
          </a:p>
          <a:p>
            <a:pPr algn="ctr">
              <a:spcAft>
                <a:spcPts val="700"/>
              </a:spcAft>
            </a:pPr>
            <a:r>
              <a:rPr sz="1100" b="1">
                <a:solidFill>
                  <a:srgbClr val="1C2233"/>
                </a:solidFill>
                <a:latin typeface="メイリオ"/>
                <a:ea typeface="メイリオ"/>
                <a:cs typeface="メイリオ"/>
              </a:rPr>
              <a:t>上位〜中位の大学名</a:t>
            </a:r>
          </a:p>
          <a:p>
            <a:pPr algn="l">
              <a:lnSpc>
                <a:spcPct val="130000"/>
              </a:lnSpc>
              <a:spcAft>
                <a:spcPts val="200"/>
              </a:spcAft>
            </a:pPr>
            <a:r>
              <a:rPr sz="1050">
                <a:solidFill>
                  <a:srgbClr val="1C2233"/>
                </a:solidFill>
                <a:latin typeface="メイリオ"/>
                <a:ea typeface="メイリオ"/>
                <a:cs typeface="メイリオ"/>
              </a:rPr>
              <a:t>・東洋大学／立教大学／中央大学／明治大学</a:t>
            </a:r>
          </a:p>
          <a:p>
            <a:pPr algn="l">
              <a:lnSpc>
                <a:spcPct val="130000"/>
              </a:lnSpc>
              <a:spcAft>
                <a:spcPts val="200"/>
              </a:spcAft>
            </a:pPr>
            <a:r>
              <a:rPr sz="1050">
                <a:solidFill>
                  <a:srgbClr val="1C2233"/>
                </a:solidFill>
                <a:latin typeface="メイリオ"/>
                <a:ea typeface="メイリオ"/>
                <a:cs typeface="メイリオ"/>
              </a:rPr>
              <a:t>・明治学院大学／學習院大學／成蹊大学</a:t>
            </a:r>
          </a:p>
          <a:p>
            <a:pPr algn="l">
              <a:lnSpc>
                <a:spcPct val="130000"/>
              </a:lnSpc>
              <a:spcAft>
                <a:spcPts val="200"/>
              </a:spcAft>
            </a:pPr>
            <a:r>
              <a:rPr sz="1050">
                <a:solidFill>
                  <a:srgbClr val="1C2233"/>
                </a:solidFill>
                <a:latin typeface="メイリオ"/>
                <a:ea typeface="メイリオ"/>
                <a:cs typeface="メイリオ"/>
              </a:rPr>
              <a:t>・日東駒専／法政大学 偏差値／駒澤大学 偏差値</a:t>
            </a:r>
          </a:p>
          <a:p>
            <a:pPr algn="l">
              <a:lnSpc>
                <a:spcPct val="130000"/>
              </a:lnSpc>
              <a:spcAft>
                <a:spcPts val="200"/>
              </a:spcAft>
            </a:pPr>
            <a:r>
              <a:rPr sz="1050">
                <a:solidFill>
                  <a:srgbClr val="1C2233"/>
                </a:solidFill>
                <a:latin typeface="メイリオ"/>
                <a:ea typeface="メイリオ"/>
                <a:cs typeface="メイリオ"/>
              </a:rPr>
              <a:t>・成成明学 序列／オープンキャンパス 東京</a:t>
            </a:r>
          </a:p>
        </p:txBody>
      </p:sp>
      <p:sp>
        <p:nvSpPr>
          <p:cNvPr id="5" name="Rounded Rectangle 4"/>
          <p:cNvSpPr/>
          <p:nvPr/>
        </p:nvSpPr>
        <p:spPr>
          <a:xfrm>
            <a:off x="3491999" y="1224000"/>
            <a:ext cx="2951999" cy="2736000"/>
          </a:xfrm>
          <a:prstGeom prst="roundRect">
            <a:avLst>
              <a:gd name="adj" fmla="val 6000"/>
            </a:avLst>
          </a:prstGeom>
          <a:solidFill>
            <a:srgbClr val="FCE4D6"/>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ED7D31"/>
                </a:solidFill>
                <a:latin typeface="メイリオ"/>
                <a:ea typeface="メイリオ"/>
                <a:cs typeface="メイリオ"/>
              </a:rPr>
              <a:t>0日（起点付近）</a:t>
            </a:r>
          </a:p>
          <a:p>
            <a:pPr algn="ctr">
              <a:spcAft>
                <a:spcPts val="700"/>
              </a:spcAft>
            </a:pPr>
            <a:r>
              <a:rPr sz="1100" b="1">
                <a:solidFill>
                  <a:srgbClr val="1C2233"/>
                </a:solidFill>
                <a:latin typeface="メイリオ"/>
                <a:ea typeface="メイリオ"/>
                <a:cs typeface="メイリオ"/>
              </a:rPr>
              <a:t>中堅〜下位の大学名＋偏差値</a:t>
            </a:r>
          </a:p>
          <a:p>
            <a:pPr algn="l">
              <a:lnSpc>
                <a:spcPct val="130000"/>
              </a:lnSpc>
              <a:spcAft>
                <a:spcPts val="200"/>
              </a:spcAft>
            </a:pPr>
            <a:r>
              <a:rPr sz="1050">
                <a:solidFill>
                  <a:srgbClr val="1C2233"/>
                </a:solidFill>
                <a:latin typeface="メイリオ"/>
                <a:ea typeface="メイリオ"/>
                <a:cs typeface="メイリオ"/>
              </a:rPr>
              <a:t>・東京国際大学 偏差値／亜細亜大学</a:t>
            </a:r>
          </a:p>
          <a:p>
            <a:pPr algn="l">
              <a:lnSpc>
                <a:spcPct val="130000"/>
              </a:lnSpc>
              <a:spcAft>
                <a:spcPts val="200"/>
              </a:spcAft>
            </a:pPr>
            <a:r>
              <a:rPr sz="1050">
                <a:solidFill>
                  <a:srgbClr val="1C2233"/>
                </a:solidFill>
                <a:latin typeface="メイリオ"/>
                <a:ea typeface="メイリオ"/>
                <a:cs typeface="メイリオ"/>
              </a:rPr>
              <a:t>・帝京平成大学／東京経済大学／駿河台大学</a:t>
            </a:r>
          </a:p>
          <a:p>
            <a:pPr algn="l">
              <a:lnSpc>
                <a:spcPct val="130000"/>
              </a:lnSpc>
              <a:spcAft>
                <a:spcPts val="200"/>
              </a:spcAft>
            </a:pPr>
            <a:r>
              <a:rPr sz="1050">
                <a:solidFill>
                  <a:srgbClr val="1C2233"/>
                </a:solidFill>
                <a:latin typeface="メイリオ"/>
                <a:ea typeface="メイリオ"/>
                <a:cs typeface="メイリオ"/>
              </a:rPr>
              <a:t>・大東亜帝国／共栄大学／聖学院大学</a:t>
            </a:r>
          </a:p>
          <a:p>
            <a:pPr algn="l">
              <a:lnSpc>
                <a:spcPct val="130000"/>
              </a:lnSpc>
              <a:spcAft>
                <a:spcPts val="200"/>
              </a:spcAft>
            </a:pPr>
            <a:r>
              <a:rPr sz="1050">
                <a:solidFill>
                  <a:srgbClr val="1C2233"/>
                </a:solidFill>
                <a:latin typeface="メイリオ"/>
                <a:ea typeface="メイリオ"/>
                <a:cs typeface="メイリオ"/>
              </a:rPr>
              <a:t>・定員割れの大学一覧（−2日）</a:t>
            </a:r>
          </a:p>
        </p:txBody>
      </p:sp>
      <p:sp>
        <p:nvSpPr>
          <p:cNvPr id="6" name="Rounded Rectangle 5"/>
          <p:cNvSpPr/>
          <p:nvPr/>
        </p:nvSpPr>
        <p:spPr>
          <a:xfrm>
            <a:off x="6588000" y="1224000"/>
            <a:ext cx="2951999" cy="2736000"/>
          </a:xfrm>
          <a:prstGeom prst="roundRect">
            <a:avLst>
              <a:gd name="adj" fmla="val 6000"/>
            </a:avLst>
          </a:prstGeom>
          <a:solidFill>
            <a:srgbClr val="F4F7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1F285A"/>
                </a:solidFill>
                <a:latin typeface="メイリオ"/>
                <a:ea typeface="メイリオ"/>
                <a:cs typeface="メイリオ"/>
              </a:rPr>
              <a:t>検索後（+1〜+15日）</a:t>
            </a:r>
          </a:p>
          <a:p>
            <a:pPr algn="ctr">
              <a:spcAft>
                <a:spcPts val="700"/>
              </a:spcAft>
            </a:pPr>
            <a:r>
              <a:rPr sz="1100" b="1">
                <a:solidFill>
                  <a:srgbClr val="1C2233"/>
                </a:solidFill>
                <a:latin typeface="メイリオ"/>
                <a:ea typeface="メイリオ"/>
                <a:cs typeface="メイリオ"/>
              </a:rPr>
              <a:t>オープンキャンパス・学部・キャンパス</a:t>
            </a:r>
          </a:p>
          <a:p>
            <a:pPr algn="l">
              <a:lnSpc>
                <a:spcPct val="130000"/>
              </a:lnSpc>
              <a:spcAft>
                <a:spcPts val="200"/>
              </a:spcAft>
            </a:pPr>
            <a:r>
              <a:rPr sz="1050">
                <a:solidFill>
                  <a:srgbClr val="1C2233"/>
                </a:solidFill>
                <a:latin typeface="メイリオ"/>
                <a:ea typeface="メイリオ"/>
                <a:cs typeface="メイリオ"/>
              </a:rPr>
              <a:t>・東洋大学 オープンキャンパス2025</a:t>
            </a:r>
          </a:p>
          <a:p>
            <a:pPr algn="l">
              <a:lnSpc>
                <a:spcPct val="130000"/>
              </a:lnSpc>
              <a:spcAft>
                <a:spcPts val="200"/>
              </a:spcAft>
            </a:pPr>
            <a:r>
              <a:rPr sz="1050">
                <a:solidFill>
                  <a:srgbClr val="1C2233"/>
                </a:solidFill>
                <a:latin typeface="メイリオ"/>
                <a:ea typeface="メイリオ"/>
                <a:cs typeface="メイリオ"/>
              </a:rPr>
              <a:t>・成蹊大学・日本大学 オープンキャンパス</a:t>
            </a:r>
          </a:p>
          <a:p>
            <a:pPr algn="l">
              <a:lnSpc>
                <a:spcPct val="130000"/>
              </a:lnSpc>
              <a:spcAft>
                <a:spcPts val="200"/>
              </a:spcAft>
            </a:pPr>
            <a:r>
              <a:rPr sz="1050">
                <a:solidFill>
                  <a:srgbClr val="1C2233"/>
                </a:solidFill>
                <a:latin typeface="メイリオ"/>
                <a:ea typeface="メイリオ"/>
                <a:cs typeface="メイリオ"/>
              </a:rPr>
              <a:t>・東洋大学 学部／専修大学 生田キャンパス</a:t>
            </a:r>
          </a:p>
          <a:p>
            <a:pPr algn="l">
              <a:lnSpc>
                <a:spcPct val="130000"/>
              </a:lnSpc>
              <a:spcAft>
                <a:spcPts val="200"/>
              </a:spcAft>
            </a:pPr>
            <a:r>
              <a:rPr sz="1050">
                <a:solidFill>
                  <a:srgbClr val="1C2233"/>
                </a:solidFill>
                <a:latin typeface="メイリオ"/>
                <a:ea typeface="メイリオ"/>
                <a:cs typeface="メイリオ"/>
              </a:rPr>
              <a:t>・城西大学駅伝部／国士舘大学 野球部（スポーツ推薦の導線）</a:t>
            </a:r>
          </a:p>
        </p:txBody>
      </p:sp>
      <p:sp>
        <p:nvSpPr>
          <p:cNvPr id="7" name="Rounded Rectangle 6"/>
          <p:cNvSpPr/>
          <p:nvPr/>
        </p:nvSpPr>
        <p:spPr>
          <a:xfrm>
            <a:off x="522000" y="3491999"/>
            <a:ext cx="2700000" cy="36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2000" y="3491999"/>
            <a:ext cx="2700000" cy="360000"/>
          </a:xfrm>
          <a:prstGeom prst="rect">
            <a:avLst/>
          </a:prstGeom>
          <a:noFill/>
        </p:spPr>
        <p:txBody>
          <a:bodyPr wrap="square" lIns="0" tIns="21600" rIns="0" bIns="21600" anchor="ctr">
            <a:spAutoFit/>
          </a:bodyPr>
          <a:lstStyle/>
          <a:p>
            <a:pPr algn="ctr"/>
            <a:r>
              <a:rPr sz="1200" b="1">
                <a:solidFill>
                  <a:srgbClr val="FFFFFF"/>
                </a:solidFill>
                <a:latin typeface="メイリオ"/>
                <a:ea typeface="メイリオ"/>
                <a:cs typeface="メイリオ"/>
              </a:rPr>
              <a:t>▶ 仕掛けるのはここ（友だち化）</a:t>
            </a:r>
          </a:p>
        </p:txBody>
      </p:sp>
      <p:sp>
        <p:nvSpPr>
          <p:cNvPr id="9" name="Rounded Rectangle 8"/>
          <p:cNvSpPr/>
          <p:nvPr/>
        </p:nvSpPr>
        <p:spPr>
          <a:xfrm>
            <a:off x="396000" y="4104000"/>
            <a:ext cx="4464000" cy="129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① </a:t>
            </a:r>
            <a:r>
              <a:rPr sz="1200" b="1" dirty="0" err="1">
                <a:solidFill>
                  <a:srgbClr val="1F285A"/>
                </a:solidFill>
                <a:latin typeface="メイリオ"/>
                <a:ea typeface="メイリオ"/>
                <a:cs typeface="メイリオ"/>
              </a:rPr>
              <a:t>志望校は「下方修正の過程」で決まる</a:t>
            </a:r>
            <a:endParaRPr sz="1200" b="1" dirty="0">
              <a:solidFill>
                <a:srgbClr val="1F285A"/>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−7日＝MARCH・成成明学 → 0日＝大東亜帝国・地方中小私大。</a:t>
            </a:r>
          </a:p>
          <a:p>
            <a:pPr algn="l">
              <a:lnSpc>
                <a:spcPct val="120000"/>
              </a:lnSpc>
              <a:spcAft>
                <a:spcPts val="200"/>
              </a:spcAft>
            </a:pPr>
            <a:r>
              <a:rPr sz="1100" dirty="0" err="1">
                <a:solidFill>
                  <a:srgbClr val="1C2233"/>
                </a:solidFill>
                <a:latin typeface="メイリオ"/>
                <a:ea typeface="メイリオ"/>
                <a:cs typeface="メイリオ"/>
              </a:rPr>
              <a:t>時間が経つほど偏差値帯が下がっていく</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上から順に降りてきている</a:t>
            </a:r>
            <a:r>
              <a:rPr sz="1100" dirty="0">
                <a:solidFill>
                  <a:srgbClr val="1C2233"/>
                </a:solidFill>
                <a:latin typeface="メイリオ"/>
                <a:ea typeface="メイリオ"/>
                <a:cs typeface="メイリオ"/>
              </a:rPr>
              <a:t>。</a:t>
            </a:r>
          </a:p>
        </p:txBody>
      </p:sp>
      <p:sp>
        <p:nvSpPr>
          <p:cNvPr id="10" name="Rounded Rectangle 9"/>
          <p:cNvSpPr/>
          <p:nvPr/>
        </p:nvSpPr>
        <p:spPr>
          <a:xfrm>
            <a:off x="5076000" y="4104000"/>
            <a:ext cx="4464000" cy="129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② OCは入口ではなく「絞り込み後の確認」</a:t>
            </a:r>
          </a:p>
          <a:p>
            <a:pPr algn="l">
              <a:lnSpc>
                <a:spcPct val="120000"/>
              </a:lnSpc>
              <a:spcAft>
                <a:spcPts val="200"/>
              </a:spcAft>
            </a:pPr>
            <a:r>
              <a:rPr sz="1100">
                <a:solidFill>
                  <a:srgbClr val="1C2233"/>
                </a:solidFill>
                <a:latin typeface="メイリオ"/>
                <a:ea typeface="メイリオ"/>
                <a:cs typeface="メイリオ"/>
              </a:rPr>
              <a:t>大学名のOC検索が立つのは +1〜+7日。</a:t>
            </a:r>
          </a:p>
          <a:p>
            <a:pPr algn="l">
              <a:lnSpc>
                <a:spcPct val="120000"/>
              </a:lnSpc>
              <a:spcAft>
                <a:spcPts val="200"/>
              </a:spcAft>
            </a:pPr>
            <a:r>
              <a:rPr sz="1100">
                <a:solidFill>
                  <a:srgbClr val="1C2233"/>
                </a:solidFill>
                <a:latin typeface="メイリオ"/>
                <a:ea typeface="メイリオ"/>
                <a:cs typeface="メイリオ"/>
              </a:rPr>
              <a:t>＝ OC予約を取る勝負は、偏差値で群に仕分けられる「前」に始まっている。</a:t>
            </a:r>
          </a:p>
        </p:txBody>
      </p:sp>
      <p:sp>
        <p:nvSpPr>
          <p:cNvPr id="11" name="TextBox 10"/>
          <p:cNvSpPr txBox="1"/>
          <p:nvPr/>
        </p:nvSpPr>
        <p:spPr>
          <a:xfrm>
            <a:off x="396000" y="5950800"/>
            <a:ext cx="9144000" cy="7056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Journey（2026-09-15取得）。【起点KWが未確認。確定後に本ページを更新する】</a:t>
            </a:r>
          </a:p>
          <a:p>
            <a:pPr algn="l">
              <a:lnSpc>
                <a:spcPct val="120000"/>
              </a:lnSpc>
            </a:pPr>
            <a:r>
              <a:rPr sz="900">
                <a:solidFill>
                  <a:srgbClr val="646C82"/>
                </a:solidFill>
                <a:latin typeface="メイリオ"/>
                <a:ea typeface="メイリオ"/>
                <a:cs typeface="メイリオ"/>
              </a:rPr>
              <a:t>※ 地域は埼玉西部〜北部の高校生が中心（川越・所沢・大宮・春日部・熊谷・坂戸・東松山）＝通学圏が検討の主軸であることの裏付け。</a:t>
            </a:r>
          </a:p>
          <a:p>
            <a:pPr algn="l">
              <a:lnSpc>
                <a:spcPct val="120000"/>
              </a:lnSpc>
            </a:pPr>
            <a:r>
              <a:rPr sz="900">
                <a:solidFill>
                  <a:srgbClr val="646C82"/>
                </a:solidFill>
                <a:latin typeface="メイリオ"/>
                <a:ea typeface="メイリオ"/>
                <a:cs typeface="メイリオ"/>
              </a:rPr>
              <a:t>※ 競合実名を含むため、社外提示は学内確認のうえ。</a:t>
            </a: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前後検索（補足）｜学費の検索は「後」に来る。ただし専門学校は「前」にも来る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教育4業界（塾・通信制高校・大学・専門学校）の前後検索で確認。ただし専門学校は例外がある。</a:t>
            </a:r>
          </a:p>
          <a:p>
            <a:pPr algn="l">
              <a:lnSpc>
                <a:spcPct val="122000"/>
              </a:lnSpc>
            </a:pPr>
            <a:r>
              <a:rPr sz="1500">
                <a:solidFill>
                  <a:srgbClr val="646C82"/>
                </a:solidFill>
                <a:latin typeface="メイリオ"/>
                <a:ea typeface="メイリオ"/>
                <a:cs typeface="メイリオ"/>
              </a:rPr>
              <a:t>＝ 専門学校は「奨学金」が起点の7日前にも最大級で立つ。お金の不安が検討を前後から挟む。</a:t>
            </a:r>
          </a:p>
        </p:txBody>
      </p:sp>
      <p:graphicFrame>
        <p:nvGraphicFramePr>
          <p:cNvPr id="4" name="Table 3"/>
          <p:cNvGraphicFramePr>
            <a:graphicFrameLocks noGrp="1"/>
          </p:cNvGraphicFramePr>
          <p:nvPr>
            <p:extLst>
              <p:ext uri="{D42A27DB-BD31-4B8C-83A1-F6EECF244321}">
                <p14:modId xmlns:p14="http://schemas.microsoft.com/office/powerpoint/2010/main" val="3362959568"/>
              </p:ext>
            </p:extLst>
          </p:nvPr>
        </p:nvGraphicFramePr>
        <p:xfrm>
          <a:off x="396000" y="1224000"/>
          <a:ext cx="9144000" cy="244800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20000"/>
                    </a:ext>
                  </a:extLst>
                </a:gridCol>
                <a:gridCol w="1584000">
                  <a:extLst>
                    <a:ext uri="{9D8B030D-6E8A-4147-A177-3AD203B41FA5}">
                      <a16:colId xmlns:a16="http://schemas.microsoft.com/office/drawing/2014/main" val="20001"/>
                    </a:ext>
                  </a:extLst>
                </a:gridCol>
                <a:gridCol w="1944000">
                  <a:extLst>
                    <a:ext uri="{9D8B030D-6E8A-4147-A177-3AD203B41FA5}">
                      <a16:colId xmlns:a16="http://schemas.microsoft.com/office/drawing/2014/main" val="20002"/>
                    </a:ext>
                  </a:extLst>
                </a:gridCol>
                <a:gridCol w="4320000">
                  <a:extLst>
                    <a:ext uri="{9D8B030D-6E8A-4147-A177-3AD203B41FA5}">
                      <a16:colId xmlns:a16="http://schemas.microsoft.com/office/drawing/2014/main" val="20003"/>
                    </a:ext>
                  </a:extLst>
                </a:gridCol>
              </a:tblGrid>
              <a:tr h="612000">
                <a:tc>
                  <a:txBody>
                    <a:bodyPr/>
                    <a:lstStyle/>
                    <a:p>
                      <a:pPr algn="ctr"/>
                      <a:r>
                        <a:rPr sz="1200" b="1">
                          <a:solidFill>
                            <a:srgbClr val="FFFFFF"/>
                          </a:solidFill>
                          <a:latin typeface="メイリオ"/>
                          <a:ea typeface="メイリオ"/>
                          <a:cs typeface="メイリオ"/>
                        </a:rPr>
                        <a:t>業界</a:t>
                      </a:r>
                    </a:p>
                  </a:txBody>
                  <a:tcPr anchor="ctr">
                    <a:solidFill>
                      <a:srgbClr val="1F285A"/>
                    </a:solidFill>
                  </a:tcPr>
                </a:tc>
                <a:tc>
                  <a:txBody>
                    <a:bodyPr/>
                    <a:lstStyle/>
                    <a:p>
                      <a:pPr algn="ctr"/>
                      <a:r>
                        <a:rPr sz="1200" b="1">
                          <a:solidFill>
                            <a:srgbClr val="FFFFFF"/>
                          </a:solidFill>
                          <a:latin typeface="メイリオ"/>
                          <a:ea typeface="メイリオ"/>
                          <a:cs typeface="メイリオ"/>
                        </a:rPr>
                        <a:t>起点KW</a:t>
                      </a:r>
                    </a:p>
                  </a:txBody>
                  <a:tcPr anchor="ctr">
                    <a:solidFill>
                      <a:srgbClr val="1F285A"/>
                    </a:solidFill>
                  </a:tcPr>
                </a:tc>
                <a:tc>
                  <a:txBody>
                    <a:bodyPr/>
                    <a:lstStyle/>
                    <a:p>
                      <a:pPr algn="ctr"/>
                      <a:r>
                        <a:rPr sz="1200" b="1">
                          <a:solidFill>
                            <a:srgbClr val="FFFFFF"/>
                          </a:solidFill>
                          <a:latin typeface="メイリオ"/>
                          <a:ea typeface="メイリオ"/>
                          <a:cs typeface="メイリオ"/>
                        </a:rPr>
                        <a:t>お金の検索が立つ位置</a:t>
                      </a:r>
                    </a:p>
                  </a:txBody>
                  <a:tcPr anchor="ctr">
                    <a:solidFill>
                      <a:srgbClr val="1F285A"/>
                    </a:solidFill>
                  </a:tcPr>
                </a:tc>
                <a:tc>
                  <a:txBody>
                    <a:bodyPr/>
                    <a:lstStyle/>
                    <a:p>
                      <a:pPr algn="l"/>
                      <a:r>
                        <a:rPr sz="1200" b="1">
                          <a:solidFill>
                            <a:srgbClr val="FFFFFF"/>
                          </a:solidFill>
                          <a:latin typeface="メイリオ"/>
                          <a:ea typeface="メイリオ"/>
                          <a:cs typeface="メイリオ"/>
                        </a:rPr>
                        <a:t>示唆</a:t>
                      </a:r>
                    </a:p>
                  </a:txBody>
                  <a:tcPr anchor="ctr">
                    <a:solidFill>
                      <a:srgbClr val="1F285A"/>
                    </a:solidFill>
                  </a:tcPr>
                </a:tc>
                <a:extLst>
                  <a:ext uri="{0D108BD9-81ED-4DB2-BD59-A6C34878D82A}">
                    <a16:rowId xmlns:a16="http://schemas.microsoft.com/office/drawing/2014/main" val="10000"/>
                  </a:ext>
                </a:extLst>
              </a:tr>
              <a:tr h="612000">
                <a:tc>
                  <a:txBody>
                    <a:bodyPr/>
                    <a:lstStyle/>
                    <a:p>
                      <a:pPr algn="ctr"/>
                      <a:r>
                        <a:rPr sz="1100">
                          <a:solidFill>
                            <a:srgbClr val="1C2233"/>
                          </a:solidFill>
                          <a:latin typeface="メイリオ"/>
                          <a:ea typeface="メイリオ"/>
                          <a:cs typeface="メイリオ"/>
                        </a:rPr>
                        <a:t>教育（塾）</a:t>
                      </a:r>
                    </a:p>
                  </a:txBody>
                  <a:tcPr anchor="ctr">
                    <a:solidFill>
                      <a:srgbClr val="FFFFFF"/>
                    </a:solidFill>
                  </a:tcPr>
                </a:tc>
                <a:tc>
                  <a:txBody>
                    <a:bodyPr/>
                    <a:lstStyle/>
                    <a:p>
                      <a:pPr algn="ctr"/>
                      <a:r>
                        <a:rPr sz="1100">
                          <a:solidFill>
                            <a:srgbClr val="1C2233"/>
                          </a:solidFill>
                          <a:latin typeface="メイリオ"/>
                          <a:ea typeface="メイリオ"/>
                          <a:cs typeface="メイリオ"/>
                        </a:rPr>
                        <a:t>塾 費用</a:t>
                      </a:r>
                    </a:p>
                  </a:txBody>
                  <a:tcPr anchor="ctr">
                    <a:solidFill>
                      <a:srgbClr val="FFFFFF"/>
                    </a:solidFill>
                  </a:tcPr>
                </a:tc>
                <a:tc>
                  <a:txBody>
                    <a:bodyPr/>
                    <a:lstStyle/>
                    <a:p>
                      <a:pPr algn="ctr"/>
                      <a:r>
                        <a:rPr sz="1100">
                          <a:solidFill>
                            <a:srgbClr val="1C2233"/>
                          </a:solidFill>
                          <a:latin typeface="メイリオ"/>
                          <a:ea typeface="メイリオ"/>
                          <a:cs typeface="メイリオ"/>
                        </a:rPr>
                        <a:t>+1.6日（決断の後）</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最初の問いは「いくら」ではなく「いつから</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関連度1位は「塾 いつから通わせる」4.98</a:t>
                      </a:r>
                    </a:p>
                  </a:txBody>
                  <a:tcPr anchor="ctr">
                    <a:solidFill>
                      <a:srgbClr val="FFFFFF"/>
                    </a:solidFill>
                  </a:tcPr>
                </a:tc>
                <a:extLst>
                  <a:ext uri="{0D108BD9-81ED-4DB2-BD59-A6C34878D82A}">
                    <a16:rowId xmlns:a16="http://schemas.microsoft.com/office/drawing/2014/main" val="10001"/>
                  </a:ext>
                </a:extLst>
              </a:tr>
              <a:tr h="612000">
                <a:tc>
                  <a:txBody>
                    <a:bodyPr/>
                    <a:lstStyle/>
                    <a:p>
                      <a:pPr algn="ctr"/>
                      <a:r>
                        <a:rPr sz="1100">
                          <a:solidFill>
                            <a:srgbClr val="1C2233"/>
                          </a:solidFill>
                          <a:latin typeface="メイリオ"/>
                          <a:ea typeface="メイリオ"/>
                          <a:cs typeface="メイリオ"/>
                        </a:rPr>
                        <a:t>通信制高校</a:t>
                      </a:r>
                    </a:p>
                  </a:txBody>
                  <a:tcPr anchor="ctr">
                    <a:solidFill>
                      <a:srgbClr val="F4F7FF"/>
                    </a:solidFill>
                  </a:tcPr>
                </a:tc>
                <a:tc>
                  <a:txBody>
                    <a:bodyPr/>
                    <a:lstStyle/>
                    <a:p>
                      <a:pPr algn="ctr"/>
                      <a:r>
                        <a:rPr sz="1100">
                          <a:solidFill>
                            <a:srgbClr val="1C2233"/>
                          </a:solidFill>
                          <a:latin typeface="メイリオ"/>
                          <a:ea typeface="メイリオ"/>
                          <a:cs typeface="メイリオ"/>
                        </a:rPr>
                        <a:t>通信制高校</a:t>
                      </a:r>
                    </a:p>
                  </a:txBody>
                  <a:tcPr anchor="ctr">
                    <a:solidFill>
                      <a:srgbClr val="F4F7FF"/>
                    </a:solidFill>
                  </a:tcPr>
                </a:tc>
                <a:tc>
                  <a:txBody>
                    <a:bodyPr/>
                    <a:lstStyle/>
                    <a:p>
                      <a:pPr algn="ctr"/>
                      <a:r>
                        <a:rPr sz="1100">
                          <a:solidFill>
                            <a:srgbClr val="1C2233"/>
                          </a:solidFill>
                          <a:latin typeface="メイリオ"/>
                          <a:ea typeface="メイリオ"/>
                          <a:cs typeface="メイリオ"/>
                        </a:rPr>
                        <a:t>学校名の直後（+1日以降）</a:t>
                      </a:r>
                    </a:p>
                  </a:txBody>
                  <a:tcPr anchor="ctr">
                    <a:solidFill>
                      <a:srgbClr val="F4F7FF"/>
                    </a:solidFill>
                  </a:tcPr>
                </a:tc>
                <a:tc>
                  <a:txBody>
                    <a:bodyPr/>
                    <a:lstStyle/>
                    <a:p>
                      <a:pPr algn="l"/>
                      <a:r>
                        <a:rPr sz="1100">
                          <a:solidFill>
                            <a:srgbClr val="1C2233"/>
                          </a:solidFill>
                          <a:latin typeface="メイリオ"/>
                          <a:ea typeface="メイリオ"/>
                          <a:cs typeface="メイリオ"/>
                        </a:rPr>
                        <a:t>前半15日は学校選びですらない（不登校・起立性調節障害＝医療と心理の悩み）</a:t>
                      </a:r>
                    </a:p>
                  </a:txBody>
                  <a:tcPr anchor="ctr">
                    <a:solidFill>
                      <a:srgbClr val="F4F7FF"/>
                    </a:solidFill>
                  </a:tcPr>
                </a:tc>
                <a:extLst>
                  <a:ext uri="{0D108BD9-81ED-4DB2-BD59-A6C34878D82A}">
                    <a16:rowId xmlns:a16="http://schemas.microsoft.com/office/drawing/2014/main" val="10002"/>
                  </a:ext>
                </a:extLst>
              </a:tr>
              <a:tr h="612000">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大学名・偏差値系</a:t>
                      </a:r>
                    </a:p>
                  </a:txBody>
                  <a:tcPr anchor="ctr">
                    <a:solidFill>
                      <a:srgbClr val="FFFFFF"/>
                    </a:solidFill>
                  </a:tcPr>
                </a:tc>
                <a:tc>
                  <a:txBody>
                    <a:bodyPr/>
                    <a:lstStyle/>
                    <a:p>
                      <a:pPr algn="ctr"/>
                      <a:r>
                        <a:rPr sz="1100">
                          <a:solidFill>
                            <a:srgbClr val="1C2233"/>
                          </a:solidFill>
                          <a:latin typeface="メイリオ"/>
                          <a:ea typeface="メイリオ"/>
                          <a:cs typeface="メイリオ"/>
                        </a:rPr>
                        <a:t>学校名を調べた後</a:t>
                      </a:r>
                    </a:p>
                  </a:txBody>
                  <a:tcPr anchor="ctr">
                    <a:solidFill>
                      <a:srgbClr val="FFFFFF"/>
                    </a:solidFill>
                  </a:tcPr>
                </a:tc>
                <a:tc>
                  <a:txBody>
                    <a:bodyPr/>
                    <a:lstStyle/>
                    <a:p>
                      <a:pPr algn="l"/>
                      <a:r>
                        <a:rPr sz="1100" dirty="0">
                          <a:solidFill>
                            <a:srgbClr val="1C2233"/>
                          </a:solidFill>
                          <a:latin typeface="メイリオ"/>
                          <a:ea typeface="メイリオ"/>
                          <a:cs typeface="メイリオ"/>
                        </a:rPr>
                        <a:t>0日前後は「大学名＋偏差値」。</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学費は絞り込みの後に確認される</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396000" y="3618000"/>
            <a:ext cx="4464000" cy="180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打ち手：入口は「いつ・自分に合うか」で開く</a:t>
            </a:r>
          </a:p>
          <a:p>
            <a:pPr algn="l">
              <a:lnSpc>
                <a:spcPct val="120000"/>
              </a:lnSpc>
              <a:spcAft>
                <a:spcPts val="200"/>
              </a:spcAft>
            </a:pPr>
            <a:r>
              <a:rPr sz="1100">
                <a:solidFill>
                  <a:srgbClr val="1C2233"/>
                </a:solidFill>
                <a:latin typeface="メイリオ"/>
                <a:ea typeface="メイリオ"/>
                <a:cs typeface="メイリオ"/>
              </a:rPr>
              <a:t>入口＝30秒の学部学科診断（名前も電話番号も入力しない）。</a:t>
            </a:r>
          </a:p>
          <a:p>
            <a:pPr algn="l">
              <a:lnSpc>
                <a:spcPct val="120000"/>
              </a:lnSpc>
              <a:spcAft>
                <a:spcPts val="200"/>
              </a:spcAft>
            </a:pPr>
            <a:r>
              <a:rPr sz="1100">
                <a:solidFill>
                  <a:srgbClr val="1C2233"/>
                </a:solidFill>
                <a:latin typeface="メイリオ"/>
                <a:ea typeface="メイリオ"/>
                <a:cs typeface="メイリオ"/>
              </a:rPr>
              <a:t>学費・奨学金は、診断結果の「後半」に置く。</a:t>
            </a:r>
          </a:p>
          <a:p>
            <a:pPr algn="l">
              <a:lnSpc>
                <a:spcPct val="120000"/>
              </a:lnSpc>
              <a:spcAft>
                <a:spcPts val="200"/>
              </a:spcAft>
            </a:pPr>
            <a:r>
              <a:rPr sz="1100">
                <a:solidFill>
                  <a:srgbClr val="1C2233"/>
                </a:solidFill>
                <a:latin typeface="メイリオ"/>
                <a:ea typeface="メイリオ"/>
                <a:cs typeface="メイリオ"/>
              </a:rPr>
              <a:t>先に費用を出すと、比較の土俵に乗る前に離脱する。</a:t>
            </a:r>
          </a:p>
        </p:txBody>
      </p:sp>
      <p:sp>
        <p:nvSpPr>
          <p:cNvPr id="6" name="Rounded Rectangle 5"/>
          <p:cNvSpPr/>
          <p:nvPr/>
        </p:nvSpPr>
        <p:spPr>
          <a:xfrm>
            <a:off x="5076000" y="3618000"/>
            <a:ext cx="4464000" cy="18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ただし保護者には「先に」出す</a:t>
            </a:r>
          </a:p>
          <a:p>
            <a:pPr algn="l">
              <a:lnSpc>
                <a:spcPct val="120000"/>
              </a:lnSpc>
              <a:spcAft>
                <a:spcPts val="200"/>
              </a:spcAft>
            </a:pPr>
            <a:r>
              <a:rPr sz="1100">
                <a:solidFill>
                  <a:srgbClr val="1C2233"/>
                </a:solidFill>
                <a:latin typeface="メイリオ"/>
                <a:ea typeface="メイリオ"/>
                <a:cs typeface="メイリオ"/>
              </a:rPr>
              <a:t>この業界は決める人（高校生）と払う人（保護者）が違う。</a:t>
            </a:r>
          </a:p>
          <a:p>
            <a:pPr algn="l">
              <a:lnSpc>
                <a:spcPct val="120000"/>
              </a:lnSpc>
              <a:spcAft>
                <a:spcPts val="200"/>
              </a:spcAft>
            </a:pPr>
            <a:r>
              <a:rPr sz="1100">
                <a:solidFill>
                  <a:srgbClr val="1C2233"/>
                </a:solidFill>
                <a:latin typeface="メイリオ"/>
                <a:ea typeface="メイリオ"/>
                <a:cs typeface="メイリオ"/>
              </a:rPr>
              <a:t>リッチメニューの保護者タブは、左上に</a:t>
            </a:r>
          </a:p>
          <a:p>
            <a:pPr algn="l">
              <a:lnSpc>
                <a:spcPct val="120000"/>
              </a:lnSpc>
              <a:spcAft>
                <a:spcPts val="200"/>
              </a:spcAft>
            </a:pPr>
            <a:r>
              <a:rPr sz="1100">
                <a:solidFill>
                  <a:srgbClr val="1C2233"/>
                </a:solidFill>
                <a:latin typeface="メイリオ"/>
                <a:ea typeface="メイリオ"/>
                <a:cs typeface="メイリオ"/>
              </a:rPr>
              <a:t>「4年間の学費シミュレーション」を置く。順番が逆になる。</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本人には「合うか」を、保護者には「総額」を。同じアカウントで、出し分ける。</a:t>
            </a:r>
          </a:p>
        </p:txBody>
      </p:sp>
      <p:sp>
        <p:nvSpPr>
          <p:cNvPr id="10" name="TextBox 9"/>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Journey（塾＝2026-09-15取得・起点「塾 費用」／通信制高校・大学＝2026-09-15取得）。</a:t>
            </a:r>
          </a:p>
          <a:p>
            <a:pPr algn="l">
              <a:lnSpc>
                <a:spcPct val="120000"/>
              </a:lnSpc>
            </a:pPr>
            <a:r>
              <a:rPr sz="900">
                <a:solidFill>
                  <a:srgbClr val="646C82"/>
                </a:solidFill>
                <a:latin typeface="メイリオ"/>
                <a:ea typeface="メイリオ"/>
                <a:cs typeface="メイリオ"/>
              </a:rPr>
              <a:t>※ 専門学校・柔道整復師ほか8KWを2026-09-23に追加取得。専門学校は奨学金・教育ローンが起点前にも立つ（詳細は分析メモ）。</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一般的な8フェーズを、学校法人（大学・専門学校）に当てはめるとこうなる。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④資料請求と⑤オープンキャンパス参加の間が最も落ちる。ここに「匿名で聞ける」入口を置く。</a:t>
            </a: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a:t>
            </a:r>
            <a:r>
              <a:rPr lang="ja-JP" altLang="en-US" sz="1100" b="1" dirty="0">
                <a:solidFill/>
                <a:latin typeface="メイリオ" panose="020B0604030504040204" pitchFamily="50" charset="-128"/>
                <a:ea typeface="メイリオ" panose="020B0604030504040204" pitchFamily="50" charset="-128"/>
              </a:rPr>
              <a:t>広告</a:t>
            </a:r>
            <a:r>
              <a:rPr lang="ja-JP" altLang="ja-JP" sz="1100" b="1" dirty="0">
                <a:solidFill/>
                <a:latin typeface="メイリオ" panose="020B0604030504040204" pitchFamily="50" charset="-128"/>
                <a:ea typeface="メイリオ" panose="020B0604030504040204" pitchFamily="50" charset="-128"/>
              </a:rPr>
              <a:t>接触</a:t>
            </a:r>
            <a:r>
              <a:rPr lang="ja-JP" altLang="ja-JP" sz="1050" b="1" dirty="0">
                <a:solidFill/>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050" b="1" dirty="0">
                <a:solidFill/>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a:t>
            </a:r>
            <a:r>
              <a:rPr lang="ja-JP" altLang="ja-JP" sz="1050" b="1" dirty="0">
                <a:solidFill/>
                <a:latin typeface="メイリオ" panose="020B0604030504040204" pitchFamily="50" charset="-128"/>
                <a:ea typeface="メイリオ" panose="020B0604030504040204" pitchFamily="50" charset="-128"/>
              </a:rPr>
              <a:t>（興味</a:t>
            </a:r>
            <a:r>
              <a:rPr lang="ja-JP" altLang="en-US" sz="1050" b="1" dirty="0">
                <a:solidFill/>
                <a:latin typeface="メイリオ" panose="020B0604030504040204" pitchFamily="50" charset="-128"/>
                <a:ea typeface="メイリオ" panose="020B0604030504040204" pitchFamily="50" charset="-128"/>
              </a:rPr>
              <a:t>喚起</a:t>
            </a:r>
            <a:r>
              <a:rPr lang="ja-JP" altLang="ja-JP" sz="1050" b="1" dirty="0">
                <a:solidFill/>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④資料請求・友だち追加(web/LINE)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学校法人（大学・専門学校）の場合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どの学校が自分に合うか分からない</a:t>
            </a:r>
          </a:p>
          <a:p>
            <a:r>
              <a:rPr sz="1200">
                <a:solidFill>
                  <a:srgbClr val="1C2233"/>
                </a:solidFill>
                <a:latin typeface="メイリオ"/>
                <a:ea typeface="メイリオ"/>
              </a:rPr>
              <a:t>まだ漠然。偏差値で調べている</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電話がかかってこないか不安</a:t>
            </a:r>
          </a:p>
          <a:p>
            <a:r>
              <a:rPr sz="1200">
                <a:solidFill>
                  <a:srgbClr val="1C2233"/>
                </a:solidFill>
                <a:latin typeface="メイリオ"/>
                <a:ea typeface="メイリオ"/>
              </a:rPr>
              <a:t>1人で行って大丈夫か知りたい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続かなかった過去がある</a:t>
            </a:r>
          </a:p>
          <a:p>
            <a:r>
              <a:rPr sz="1200">
                <a:solidFill>
                  <a:srgbClr val="BF4E0E"/>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匿名で聞けるなら動ける</a:t>
            </a:r>
          </a:p>
          <a:p>
            <a:r>
              <a:rPr sz="1200">
                <a:solidFill>
                  <a:srgbClr val="BF4E0E"/>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「迫りません」の一言で</a:t>
            </a:r>
          </a:p>
          <a:p>
            <a:r>
              <a:rPr sz="1200">
                <a:solidFill>
                  <a:srgbClr val="BF4E0E"/>
                </a:solidFill>
                <a:latin typeface="メイリオ"/>
                <a:ea typeface="メイリオ"/>
              </a:rPr>
              <a:t>来校ハードルが下がる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「見てもらえている感」が</a:t>
            </a:r>
          </a:p>
          <a:p>
            <a:r>
              <a:rPr sz="1200">
                <a:solidFill>
                  <a:srgbClr val="BF4E0E"/>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前後検索から導いた仕掛けどころ｜名前を調べられる前に友だちになる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高校生が学校名を検索し始めた時点で、もう比較の土俵。そこで広告に出ても1校にしかなれない。</a:t>
            </a:r>
          </a:p>
          <a:p>
            <a:pPr algn="l">
              <a:lnSpc>
                <a:spcPct val="122000"/>
              </a:lnSpc>
            </a:pPr>
            <a:r>
              <a:rPr sz="1500">
                <a:solidFill>
                  <a:srgbClr val="646C82"/>
                </a:solidFill>
                <a:latin typeface="メイリオ"/>
                <a:ea typeface="メイリオ"/>
                <a:cs typeface="メイリオ"/>
              </a:rPr>
              <a:t>仕掛けるのは、偏差値で群に仕分けられる手前。</a:t>
            </a:r>
          </a:p>
        </p:txBody>
      </p:sp>
      <p:sp>
        <p:nvSpPr>
          <p:cNvPr id="4" name="Rectangle 3"/>
          <p:cNvSpPr/>
          <p:nvPr/>
        </p:nvSpPr>
        <p:spPr>
          <a:xfrm>
            <a:off x="612000" y="1908000"/>
            <a:ext cx="8712000" cy="39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12000" y="1908000"/>
            <a:ext cx="4007520" cy="396000"/>
          </a:xfrm>
          <a:prstGeom prst="rect">
            <a:avLst/>
          </a:prstGeom>
          <a:solidFill>
            <a:srgbClr val="F4F7FF"/>
          </a:solidFill>
          <a:ln w="15875">
            <a:solidFill>
              <a:srgbClr val="1F28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13440" y="1908000"/>
            <a:ext cx="3310560" cy="396000"/>
          </a:xfrm>
          <a:prstGeom prst="rect">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000" y="1972799"/>
            <a:ext cx="4007520" cy="288000"/>
          </a:xfrm>
          <a:prstGeom prst="rect">
            <a:avLst/>
          </a:prstGeom>
          <a:noFill/>
        </p:spPr>
        <p:txBody>
          <a:bodyPr wrap="square" lIns="0" tIns="21600" rIns="0" bIns="21600" anchor="ctr">
            <a:spAutoFit/>
          </a:bodyPr>
          <a:lstStyle/>
          <a:p>
            <a:pPr algn="ctr"/>
            <a:r>
              <a:rPr sz="1150" b="1">
                <a:solidFill>
                  <a:srgbClr val="1F285A"/>
                </a:solidFill>
                <a:latin typeface="メイリオ"/>
                <a:ea typeface="メイリオ"/>
                <a:cs typeface="メイリオ"/>
              </a:rPr>
              <a:t>学校名がまだ出てこない期間（＝ここが空白）</a:t>
            </a:r>
          </a:p>
        </p:txBody>
      </p:sp>
      <p:sp>
        <p:nvSpPr>
          <p:cNvPr id="8" name="TextBox 7"/>
          <p:cNvSpPr txBox="1"/>
          <p:nvPr/>
        </p:nvSpPr>
        <p:spPr>
          <a:xfrm>
            <a:off x="6013440" y="1972799"/>
            <a:ext cx="3310560" cy="288000"/>
          </a:xfrm>
          <a:prstGeom prst="rect">
            <a:avLst/>
          </a:prstGeom>
          <a:noFill/>
        </p:spPr>
        <p:txBody>
          <a:bodyPr wrap="square" lIns="0" tIns="21600" rIns="0" bIns="21600" anchor="ctr">
            <a:spAutoFit/>
          </a:bodyPr>
          <a:lstStyle/>
          <a:p>
            <a:pPr algn="ctr"/>
            <a:r>
              <a:rPr sz="1150" b="1">
                <a:solidFill>
                  <a:srgbClr val="ED7D31"/>
                </a:solidFill>
                <a:latin typeface="メイリオ"/>
                <a:ea typeface="メイリオ"/>
                <a:cs typeface="メイリオ"/>
              </a:rPr>
              <a:t>比較の土俵（もう1校にしかなれない）</a:t>
            </a:r>
          </a:p>
        </p:txBody>
      </p:sp>
      <p:sp>
        <p:nvSpPr>
          <p:cNvPr id="9" name="TextBox 8"/>
          <p:cNvSpPr txBox="1"/>
          <p:nvPr/>
        </p:nvSpPr>
        <p:spPr>
          <a:xfrm>
            <a:off x="21600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−15日</a:t>
            </a:r>
          </a:p>
        </p:txBody>
      </p:sp>
      <p:sp>
        <p:nvSpPr>
          <p:cNvPr id="10" name="TextBox 9"/>
          <p:cNvSpPr txBox="1"/>
          <p:nvPr/>
        </p:nvSpPr>
        <p:spPr>
          <a:xfrm>
            <a:off x="422352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0日</a:t>
            </a:r>
          </a:p>
        </p:txBody>
      </p:sp>
      <p:sp>
        <p:nvSpPr>
          <p:cNvPr id="11" name="TextBox 10"/>
          <p:cNvSpPr txBox="1"/>
          <p:nvPr/>
        </p:nvSpPr>
        <p:spPr>
          <a:xfrm>
            <a:off x="561744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+2日</a:t>
            </a:r>
          </a:p>
        </p:txBody>
      </p:sp>
      <p:sp>
        <p:nvSpPr>
          <p:cNvPr id="12" name="TextBox 11"/>
          <p:cNvSpPr txBox="1"/>
          <p:nvPr/>
        </p:nvSpPr>
        <p:spPr>
          <a:xfrm>
            <a:off x="8927999"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+15日</a:t>
            </a:r>
          </a:p>
        </p:txBody>
      </p:sp>
      <p:sp>
        <p:nvSpPr>
          <p:cNvPr id="13" name="Rounded Rectangle 12"/>
          <p:cNvSpPr/>
          <p:nvPr/>
        </p:nvSpPr>
        <p:spPr>
          <a:xfrm>
            <a:off x="3574080" y="1404000"/>
            <a:ext cx="1800000" cy="413999"/>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74080" y="1404000"/>
            <a:ext cx="1800000" cy="413999"/>
          </a:xfrm>
          <a:prstGeom prst="rect">
            <a:avLst/>
          </a:prstGeom>
          <a:noFill/>
        </p:spPr>
        <p:txBody>
          <a:bodyPr wrap="square" lIns="0" tIns="21600" rIns="0" bIns="21600" anchor="ctr">
            <a:spAutoFit/>
          </a:bodyPr>
          <a:lstStyle/>
          <a:p>
            <a:pPr algn="ctr"/>
            <a:r>
              <a:rPr sz="1200" b="1">
                <a:solidFill>
                  <a:srgbClr val="FFFFFF"/>
                </a:solidFill>
                <a:latin typeface="メイリオ"/>
                <a:ea typeface="メイリオ"/>
                <a:cs typeface="メイリオ"/>
              </a:rPr>
              <a:t>▶ ここで友だち化</a:t>
            </a:r>
          </a:p>
        </p:txBody>
      </p:sp>
      <p:sp>
        <p:nvSpPr>
          <p:cNvPr id="15" name="Rounded Rectangle 14"/>
          <p:cNvSpPr/>
          <p:nvPr/>
        </p:nvSpPr>
        <p:spPr>
          <a:xfrm>
            <a:off x="396000" y="3456000"/>
            <a:ext cx="2951999"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離脱防止ポップアップの文言</a:t>
            </a:r>
          </a:p>
          <a:p>
            <a:pPr algn="l">
              <a:lnSpc>
                <a:spcPct val="120000"/>
              </a:lnSpc>
              <a:spcAft>
                <a:spcPts val="200"/>
              </a:spcAft>
            </a:pPr>
            <a:r>
              <a:rPr sz="1100">
                <a:solidFill>
                  <a:srgbClr val="1C2233"/>
                </a:solidFill>
                <a:latin typeface="メイリオ"/>
                <a:ea typeface="メイリオ"/>
                <a:cs typeface="メイリオ"/>
              </a:rPr>
              <a:t>まだ、学部で迷っていませんか？</a:t>
            </a:r>
          </a:p>
          <a:p>
            <a:pPr algn="l">
              <a:lnSpc>
                <a:spcPct val="120000"/>
              </a:lnSpc>
              <a:spcAft>
                <a:spcPts val="200"/>
              </a:spcAft>
            </a:pPr>
            <a:r>
              <a:rPr sz="1100">
                <a:solidFill>
                  <a:srgbClr val="1C2233"/>
                </a:solidFill>
                <a:latin typeface="メイリオ"/>
                <a:ea typeface="メイリオ"/>
                <a:cs typeface="メイリオ"/>
              </a:rPr>
              <a:t>30秒の質問に答えるだけで、あなたに向いている</a:t>
            </a:r>
          </a:p>
          <a:p>
            <a:pPr algn="l">
              <a:lnSpc>
                <a:spcPct val="120000"/>
              </a:lnSpc>
              <a:spcAft>
                <a:spcPts val="200"/>
              </a:spcAft>
            </a:pPr>
            <a:r>
              <a:rPr sz="1100">
                <a:solidFill>
                  <a:srgbClr val="1C2233"/>
                </a:solidFill>
                <a:latin typeface="メイリオ"/>
                <a:ea typeface="メイリオ"/>
                <a:cs typeface="メイリオ"/>
              </a:rPr>
              <a:t>学部と、その学部の1日が分かります。</a:t>
            </a:r>
          </a:p>
          <a:p>
            <a:pPr algn="l">
              <a:lnSpc>
                <a:spcPct val="120000"/>
              </a:lnSpc>
              <a:spcAft>
                <a:spcPts val="200"/>
              </a:spcAft>
            </a:pPr>
            <a:r>
              <a:rPr sz="1100">
                <a:solidFill>
                  <a:srgbClr val="1C2233"/>
                </a:solidFill>
                <a:latin typeface="メイリオ"/>
                <a:ea typeface="メイリオ"/>
                <a:cs typeface="メイリオ"/>
              </a:rPr>
              <a:t>＃名前も電話番号も入力しません</a:t>
            </a:r>
          </a:p>
        </p:txBody>
      </p:sp>
      <p:sp>
        <p:nvSpPr>
          <p:cNvPr id="16" name="Rounded Rectangle 15"/>
          <p:cNvSpPr/>
          <p:nvPr/>
        </p:nvSpPr>
        <p:spPr>
          <a:xfrm>
            <a:off x="3491999" y="3456000"/>
            <a:ext cx="2951999"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② </a:t>
            </a:r>
            <a:r>
              <a:rPr sz="1200" b="1" dirty="0" err="1">
                <a:solidFill>
                  <a:srgbClr val="1F285A"/>
                </a:solidFill>
                <a:latin typeface="メイリオ"/>
                <a:ea typeface="メイリオ"/>
                <a:cs typeface="メイリオ"/>
              </a:rPr>
              <a:t>LINE広告（CPF）の文言</a:t>
            </a:r>
            <a:endParaRPr sz="1200" b="1" dirty="0">
              <a:solidFill>
                <a:srgbClr val="1F285A"/>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やりたいこと、まだ決まってなくていい</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文系・理系すら迷っている人向けの</a:t>
            </a:r>
            <a:endParaRPr lang="en-US" sz="1100" dirty="0">
              <a:solidFill>
                <a:srgbClr val="1C2233"/>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30秒診断。</a:t>
            </a:r>
          </a:p>
          <a:p>
            <a:pPr algn="l">
              <a:lnSpc>
                <a:spcPct val="120000"/>
              </a:lnSpc>
              <a:spcAft>
                <a:spcPts val="200"/>
              </a:spcAft>
            </a:pPr>
            <a:r>
              <a:rPr sz="1100" dirty="0" err="1">
                <a:solidFill>
                  <a:srgbClr val="1C2233"/>
                </a:solidFill>
                <a:latin typeface="メイリオ"/>
                <a:ea typeface="メイリオ"/>
                <a:cs typeface="メイリオ"/>
              </a:rPr>
              <a:t>あなたの「向いてる学び方」から学部を提案します</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 タップ1回で友だち追加（入力ゼロ）</a:t>
            </a:r>
          </a:p>
        </p:txBody>
      </p:sp>
      <p:sp>
        <p:nvSpPr>
          <p:cNvPr id="17" name="Rounded Rectangle 16"/>
          <p:cNvSpPr/>
          <p:nvPr/>
        </p:nvSpPr>
        <p:spPr>
          <a:xfrm>
            <a:off x="6588000" y="3456000"/>
            <a:ext cx="2951999" cy="187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③ </a:t>
            </a:r>
            <a:r>
              <a:rPr sz="1200" b="1" dirty="0" err="1">
                <a:solidFill>
                  <a:srgbClr val="ED7D31"/>
                </a:solidFill>
                <a:latin typeface="メイリオ"/>
                <a:ea typeface="メイリオ"/>
                <a:cs typeface="メイリオ"/>
              </a:rPr>
              <a:t>コストゼロで一番効く導線</a:t>
            </a:r>
            <a:endParaRPr sz="1200" b="1" dirty="0">
              <a:solidFill>
                <a:srgbClr val="ED7D31"/>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オープンキャンパス当日の受付にQRコードを1枚。</a:t>
            </a:r>
          </a:p>
          <a:p>
            <a:pPr algn="l">
              <a:lnSpc>
                <a:spcPct val="120000"/>
              </a:lnSpc>
              <a:spcAft>
                <a:spcPts val="200"/>
              </a:spcAft>
            </a:pPr>
            <a:r>
              <a:rPr sz="1100" dirty="0" err="1">
                <a:solidFill>
                  <a:srgbClr val="1C2233"/>
                </a:solidFill>
                <a:latin typeface="メイリオ"/>
                <a:ea typeface="メイリオ"/>
                <a:cs typeface="メイリオ"/>
              </a:rPr>
              <a:t>最も志望度が高い層が、その場で友だちになる</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資料請求の完了画面・パンフ裏表紙・高校での説明会資料も同じ</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来週から実施できる</a:t>
            </a:r>
            <a:endParaRPr sz="1100" dirty="0">
              <a:solidFill>
                <a:srgbClr val="1C2233"/>
              </a:solidFill>
              <a:latin typeface="メイリオ"/>
              <a:ea typeface="メイリオ"/>
              <a:cs typeface="メイリオ"/>
            </a:endParaRPr>
          </a:p>
        </p:txBody>
      </p:sp>
      <p:sp>
        <p:nvSpPr>
          <p:cNvPr id="18" name="TextBox 17"/>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Journey（2026-09-15取得）。起点KWの確定後に日数の目盛りを更新する。</a:t>
            </a:r>
          </a:p>
        </p:txBody>
      </p:sp>
    </p:spTree>
    <p:extLst>
      <p:ext uri="{BB962C8B-B14F-4D97-AF65-F5344CB8AC3E}">
        <p14:creationId xmlns:p14="http://schemas.microsoft.com/office/powerpoint/2010/main" val="373746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ステップ配信｜追加から14日でオープンキャンパス予約を取り切る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友だち追加から15日でアクティブ率が急落する。起点KW検索の後15日で他校の指名検索が立つ。</a:t>
            </a:r>
          </a:p>
          <a:p>
            <a:pPr algn="l">
              <a:lnSpc>
                <a:spcPct val="122000"/>
              </a:lnSpc>
            </a:pPr>
            <a:r>
              <a:rPr sz="1500">
                <a:solidFill>
                  <a:srgbClr val="646C82"/>
                </a:solidFill>
                <a:latin typeface="メイリオ"/>
                <a:ea typeface="メイリオ"/>
                <a:cs typeface="メイリオ"/>
              </a:rPr>
              <a:t>読まれる15日と、候補が決まる15日が重なるのが最初の14日。</a:t>
            </a:r>
          </a:p>
        </p:txBody>
      </p:sp>
      <p:graphicFrame>
        <p:nvGraphicFramePr>
          <p:cNvPr id="4" name="Table 3"/>
          <p:cNvGraphicFramePr>
            <a:graphicFrameLocks noGrp="1"/>
          </p:cNvGraphicFramePr>
          <p:nvPr>
            <p:extLst>
              <p:ext uri="{D42A27DB-BD31-4B8C-83A1-F6EECF244321}">
                <p14:modId xmlns:p14="http://schemas.microsoft.com/office/powerpoint/2010/main" val="2529650058"/>
              </p:ext>
            </p:extLst>
          </p:nvPr>
        </p:nvGraphicFramePr>
        <p:xfrm>
          <a:off x="396000" y="1224000"/>
          <a:ext cx="9144000" cy="3600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000"/>
                    </a:ext>
                  </a:extLst>
                </a:gridCol>
                <a:gridCol w="1944000">
                  <a:extLst>
                    <a:ext uri="{9D8B030D-6E8A-4147-A177-3AD203B41FA5}">
                      <a16:colId xmlns:a16="http://schemas.microsoft.com/office/drawing/2014/main" val="20001"/>
                    </a:ext>
                  </a:extLst>
                </a:gridCol>
                <a:gridCol w="3384000">
                  <a:extLst>
                    <a:ext uri="{9D8B030D-6E8A-4147-A177-3AD203B41FA5}">
                      <a16:colId xmlns:a16="http://schemas.microsoft.com/office/drawing/2014/main" val="20002"/>
                    </a:ext>
                  </a:extLst>
                </a:gridCol>
                <a:gridCol w="1944000">
                  <a:extLst>
                    <a:ext uri="{9D8B030D-6E8A-4147-A177-3AD203B41FA5}">
                      <a16:colId xmlns:a16="http://schemas.microsoft.com/office/drawing/2014/main" val="20003"/>
                    </a:ext>
                  </a:extLst>
                </a:gridCol>
                <a:gridCol w="1296000">
                  <a:extLst>
                    <a:ext uri="{9D8B030D-6E8A-4147-A177-3AD203B41FA5}">
                      <a16:colId xmlns:a16="http://schemas.microsoft.com/office/drawing/2014/main" val="20004"/>
                    </a:ext>
                  </a:extLst>
                </a:gridCol>
              </a:tblGrid>
              <a:tr h="450000">
                <a:tc>
                  <a:txBody>
                    <a:bodyPr/>
                    <a:lstStyle/>
                    <a:p>
                      <a:pPr algn="ctr"/>
                      <a:r>
                        <a:rPr sz="1200" b="1">
                          <a:solidFill>
                            <a:srgbClr val="FFFFFF"/>
                          </a:solidFill>
                          <a:latin typeface="メイリオ"/>
                          <a:ea typeface="メイリオ"/>
                          <a:cs typeface="メイリオ"/>
                        </a:rPr>
                        <a:t>Day</a:t>
                      </a:r>
                    </a:p>
                  </a:txBody>
                  <a:tcPr anchor="ctr">
                    <a:solidFill>
                      <a:srgbClr val="1F285A"/>
                    </a:solidFill>
                  </a:tcPr>
                </a:tc>
                <a:tc>
                  <a:txBody>
                    <a:bodyPr/>
                    <a:lstStyle/>
                    <a:p>
                      <a:pPr algn="l"/>
                      <a:r>
                        <a:rPr sz="1200" b="1">
                          <a:solidFill>
                            <a:srgbClr val="FFFFFF"/>
                          </a:solidFill>
                          <a:latin typeface="メイリオ"/>
                          <a:ea typeface="メイリオ"/>
                          <a:cs typeface="メイリオ"/>
                        </a:rPr>
                        <a:t>対象</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tc>
                  <a:txBody>
                    <a:bodyPr/>
                    <a:lstStyle/>
                    <a:p>
                      <a:pPr algn="l"/>
                      <a:r>
                        <a:rPr sz="1200" b="1">
                          <a:solidFill>
                            <a:srgbClr val="FFFFFF"/>
                          </a:solidFill>
                          <a:latin typeface="メイリオ"/>
                          <a:ea typeface="メイリオ"/>
                          <a:cs typeface="メイリオ"/>
                        </a:rPr>
                        <a:t>通知プレビュー（15字）</a:t>
                      </a:r>
                    </a:p>
                  </a:txBody>
                  <a:tcPr anchor="ctr">
                    <a:solidFill>
                      <a:srgbClr val="1F285A"/>
                    </a:solidFill>
                  </a:tcPr>
                </a:tc>
                <a:tc>
                  <a:txBody>
                    <a:bodyPr/>
                    <a:lstStyle/>
                    <a:p>
                      <a:pPr algn="ctr"/>
                      <a:r>
                        <a:rPr sz="1200" b="1">
                          <a:solidFill>
                            <a:srgbClr val="FFFFFF"/>
                          </a:solidFill>
                          <a:latin typeface="メイリオ"/>
                          <a:ea typeface="メイリオ"/>
                          <a:cs typeface="メイリオ"/>
                        </a:rPr>
                        <a:t>CV</a:t>
                      </a:r>
                    </a:p>
                  </a:txBody>
                  <a:tcPr anchor="ctr">
                    <a:solidFill>
                      <a:srgbClr val="1F285A"/>
                    </a:solidFill>
                  </a:tcPr>
                </a:tc>
                <a:extLst>
                  <a:ext uri="{0D108BD9-81ED-4DB2-BD59-A6C34878D82A}">
                    <a16:rowId xmlns:a16="http://schemas.microsoft.com/office/drawing/2014/main" val="10000"/>
                  </a:ext>
                </a:extLst>
              </a:tr>
              <a:tr h="450000">
                <a:tc>
                  <a:txBody>
                    <a:bodyPr/>
                    <a:lstStyle/>
                    <a:p>
                      <a:pPr algn="ctr"/>
                      <a:r>
                        <a:rPr sz="1100">
                          <a:solidFill>
                            <a:srgbClr val="1C2233"/>
                          </a:solidFill>
                          <a:latin typeface="メイリオ"/>
                          <a:ea typeface="メイリオ"/>
                          <a:cs typeface="メイリオ"/>
                        </a:rPr>
                        <a:t>0</a:t>
                      </a:r>
                    </a:p>
                  </a:txBody>
                  <a:tcPr anchor="ctr">
                    <a:solidFill>
                      <a:srgbClr val="FFFFFF"/>
                    </a:solidFill>
                  </a:tcPr>
                </a:tc>
                <a:tc>
                  <a:txBody>
                    <a:bodyPr/>
                    <a:lstStyle/>
                    <a:p>
                      <a:pPr algn="l"/>
                      <a:r>
                        <a:rPr sz="1100">
                          <a:solidFill>
                            <a:srgbClr val="1C2233"/>
                          </a:solidFill>
                          <a:latin typeface="メイリオ"/>
                          <a:ea typeface="メイリオ"/>
                          <a:cs typeface="メイリオ"/>
                        </a:rPr>
                        <a:t>診断回答直後の全員</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診断結果＋在学生の1日（動画3分）。売らない</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診断結果が出ました📋あな</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1"/>
                  </a:ext>
                </a:extLst>
              </a:tr>
              <a:tr h="450000">
                <a:tc>
                  <a:txBody>
                    <a:bodyPr/>
                    <a:lstStyle/>
                    <a:p>
                      <a:pPr algn="ctr"/>
                      <a:r>
                        <a:rPr sz="1100">
                          <a:solidFill>
                            <a:srgbClr val="1C2233"/>
                          </a:solidFill>
                          <a:latin typeface="メイリオ"/>
                          <a:ea typeface="メイリオ"/>
                          <a:cs typeface="メイリオ"/>
                        </a:rPr>
                        <a:t>2</a:t>
                      </a:r>
                    </a:p>
                  </a:txBody>
                  <a:tcPr anchor="ctr">
                    <a:solidFill>
                      <a:srgbClr val="F4F7FF"/>
                    </a:solidFill>
                  </a:tcPr>
                </a:tc>
                <a:tc>
                  <a:txBody>
                    <a:bodyPr/>
                    <a:lstStyle/>
                    <a:p>
                      <a:pPr algn="l"/>
                      <a:r>
                        <a:rPr sz="1100">
                          <a:solidFill>
                            <a:srgbClr val="1C2233"/>
                          </a:solidFill>
                          <a:latin typeface="メイリオ"/>
                          <a:ea typeface="メイリオ"/>
                          <a:cs typeface="メイリオ"/>
                        </a:rPr>
                        <a:t>Q2「全然決まっていない」層</a:t>
                      </a:r>
                    </a:p>
                  </a:txBody>
                  <a:tcPr anchor="ctr">
                    <a:solidFill>
                      <a:srgbClr val="F4F7FF"/>
                    </a:solidFill>
                  </a:tcPr>
                </a:tc>
                <a:tc>
                  <a:txBody>
                    <a:bodyPr/>
                    <a:lstStyle/>
                    <a:p>
                      <a:pPr algn="l"/>
                      <a:r>
                        <a:rPr sz="1100">
                          <a:solidFill>
                            <a:srgbClr val="1C2233"/>
                          </a:solidFill>
                          <a:latin typeface="メイリオ"/>
                          <a:ea typeface="メイリオ"/>
                          <a:cs typeface="メイリオ"/>
                        </a:rPr>
                        <a:t>やりたいことが決まっていない人の進路の決め方</a:t>
                      </a:r>
                    </a:p>
                  </a:txBody>
                  <a:tcPr anchor="ctr">
                    <a:solidFill>
                      <a:srgbClr val="F4F7FF"/>
                    </a:solidFill>
                  </a:tcPr>
                </a:tc>
                <a:tc>
                  <a:txBody>
                    <a:bodyPr/>
                    <a:lstStyle/>
                    <a:p>
                      <a:pPr algn="l"/>
                      <a:r>
                        <a:rPr sz="1100">
                          <a:solidFill>
                            <a:srgbClr val="1C2233"/>
                          </a:solidFill>
                          <a:latin typeface="メイリオ"/>
                          <a:ea typeface="メイリオ"/>
                          <a:cs typeface="メイリオ"/>
                        </a:rPr>
                        <a:t>やりたいこと、まだ決ま</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2"/>
                  </a:ext>
                </a:extLst>
              </a:tr>
              <a:tr h="450000">
                <a:tc>
                  <a:txBody>
                    <a:bodyPr/>
                    <a:lstStyle/>
                    <a:p>
                      <a:pPr algn="ctr"/>
                      <a:r>
                        <a:rPr sz="1100">
                          <a:solidFill>
                            <a:srgbClr val="1C2233"/>
                          </a:solidFill>
                          <a:latin typeface="メイリオ"/>
                          <a:ea typeface="メイリオ"/>
                          <a:cs typeface="メイリオ"/>
                        </a:rPr>
                        <a:t>3</a:t>
                      </a:r>
                    </a:p>
                  </a:txBody>
                  <a:tcPr anchor="ctr">
                    <a:solidFill>
                      <a:srgbClr val="FFFFFF"/>
                    </a:solidFill>
                  </a:tcPr>
                </a:tc>
                <a:tc>
                  <a:txBody>
                    <a:bodyPr/>
                    <a:lstStyle/>
                    <a:p>
                      <a:pPr algn="l"/>
                      <a:r>
                        <a:rPr sz="1100">
                          <a:solidFill>
                            <a:srgbClr val="1C2233"/>
                          </a:solidFill>
                          <a:latin typeface="メイリオ"/>
                          <a:ea typeface="メイリオ"/>
                          <a:cs typeface="メイリオ"/>
                        </a:rPr>
                        <a:t>全員</a:t>
                      </a:r>
                    </a:p>
                  </a:txBody>
                  <a:tcPr anchor="ctr">
                    <a:solidFill>
                      <a:srgbClr val="FFFFFF"/>
                    </a:solidFill>
                  </a:tcPr>
                </a:tc>
                <a:tc>
                  <a:txBody>
                    <a:bodyPr/>
                    <a:lstStyle/>
                    <a:p>
                      <a:pPr algn="l"/>
                      <a:r>
                        <a:rPr sz="1100">
                          <a:solidFill>
                            <a:srgbClr val="1C2233"/>
                          </a:solidFill>
                          <a:latin typeface="メイリオ"/>
                          <a:ea typeface="メイリオ"/>
                          <a:cs typeface="メイリオ"/>
                        </a:rPr>
                        <a:t>在学生インタビュー（高校時代の成績・迷い・いま）</a:t>
                      </a:r>
                    </a:p>
                  </a:txBody>
                  <a:tcPr anchor="ctr">
                    <a:solidFill>
                      <a:srgbClr val="FFFFFF"/>
                    </a:solidFill>
                  </a:tcPr>
                </a:tc>
                <a:tc>
                  <a:txBody>
                    <a:bodyPr/>
                    <a:lstStyle/>
                    <a:p>
                      <a:pPr algn="l"/>
                      <a:r>
                        <a:rPr sz="1100">
                          <a:solidFill>
                            <a:srgbClr val="1C2233"/>
                          </a:solidFill>
                          <a:latin typeface="メイリオ"/>
                          <a:ea typeface="メイリオ"/>
                          <a:cs typeface="メイリオ"/>
                        </a:rPr>
                        <a:t>高2の冬、模試D判定だ</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3"/>
                  </a:ext>
                </a:extLst>
              </a:tr>
              <a:tr h="450000">
                <a:tc>
                  <a:txBody>
                    <a:bodyPr/>
                    <a:lstStyle/>
                    <a:p>
                      <a:pPr algn="ctr"/>
                      <a:r>
                        <a:rPr sz="1100">
                          <a:solidFill>
                            <a:srgbClr val="1C2233"/>
                          </a:solidFill>
                          <a:latin typeface="メイリオ"/>
                          <a:ea typeface="メイリオ"/>
                          <a:cs typeface="メイリオ"/>
                        </a:rPr>
                        <a:t>6</a:t>
                      </a:r>
                    </a:p>
                  </a:txBody>
                  <a:tcPr anchor="ctr">
                    <a:solidFill>
                      <a:srgbClr val="F4F7FF"/>
                    </a:solidFill>
                  </a:tcPr>
                </a:tc>
                <a:tc>
                  <a:txBody>
                    <a:bodyPr/>
                    <a:lstStyle/>
                    <a:p>
                      <a:pPr algn="l"/>
                      <a:r>
                        <a:rPr sz="1100">
                          <a:solidFill>
                            <a:srgbClr val="1C2233"/>
                          </a:solidFill>
                          <a:latin typeface="メイリオ"/>
                          <a:ea typeface="メイリオ"/>
                          <a:cs typeface="メイリオ"/>
                        </a:rPr>
                        <a:t>全員</a:t>
                      </a:r>
                    </a:p>
                  </a:txBody>
                  <a:tcPr anchor="ctr">
                    <a:solidFill>
                      <a:srgbClr val="F4F7FF"/>
                    </a:solidFill>
                  </a:tcPr>
                </a:tc>
                <a:tc>
                  <a:txBody>
                    <a:bodyPr/>
                    <a:lstStyle/>
                    <a:p>
                      <a:pPr algn="l"/>
                      <a:r>
                        <a:rPr sz="1100">
                          <a:solidFill>
                            <a:srgbClr val="1C2233"/>
                          </a:solidFill>
                          <a:latin typeface="メイリオ"/>
                          <a:ea typeface="メイリオ"/>
                          <a:cs typeface="メイリオ"/>
                        </a:rPr>
                        <a:t>OCの日程と当日の流れ。1人参加OKを明記</a:t>
                      </a:r>
                    </a:p>
                  </a:txBody>
                  <a:tcPr anchor="ctr">
                    <a:solidFill>
                      <a:srgbClr val="F4F7FF"/>
                    </a:solidFill>
                  </a:tcPr>
                </a:tc>
                <a:tc>
                  <a:txBody>
                    <a:bodyPr/>
                    <a:lstStyle/>
                    <a:p>
                      <a:pPr algn="l"/>
                      <a:r>
                        <a:rPr sz="1100">
                          <a:solidFill>
                            <a:srgbClr val="1C2233"/>
                          </a:solidFill>
                          <a:latin typeface="メイリオ"/>
                          <a:ea typeface="メイリオ"/>
                          <a:cs typeface="メイリオ"/>
                        </a:rPr>
                        <a:t>オープンキャンパスの日程</a:t>
                      </a:r>
                    </a:p>
                  </a:txBody>
                  <a:tcPr anchor="ctr">
                    <a:solidFill>
                      <a:srgbClr val="F4F7FF"/>
                    </a:solidFill>
                  </a:tcPr>
                </a:tc>
                <a:tc>
                  <a:txBody>
                    <a:bodyPr/>
                    <a:lstStyle/>
                    <a:p>
                      <a:pPr algn="ctr"/>
                      <a:r>
                        <a:rPr sz="1100" b="1">
                          <a:solidFill>
                            <a:srgbClr val="ED7D31"/>
                          </a:solidFill>
                          <a:latin typeface="メイリオ"/>
                          <a:ea typeface="メイリオ"/>
                          <a:cs typeface="メイリオ"/>
                        </a:rPr>
                        <a:t>OC予約【CV②】</a:t>
                      </a:r>
                    </a:p>
                  </a:txBody>
                  <a:tcPr anchor="ctr">
                    <a:solidFill>
                      <a:srgbClr val="F4F7FF"/>
                    </a:solidFill>
                  </a:tcPr>
                </a:tc>
                <a:extLst>
                  <a:ext uri="{0D108BD9-81ED-4DB2-BD59-A6C34878D82A}">
                    <a16:rowId xmlns:a16="http://schemas.microsoft.com/office/drawing/2014/main" val="10004"/>
                  </a:ext>
                </a:extLst>
              </a:tr>
              <a:tr h="450000">
                <a:tc>
                  <a:txBody>
                    <a:bodyPr/>
                    <a:lstStyle/>
                    <a:p>
                      <a:pPr algn="ctr"/>
                      <a:r>
                        <a:rPr sz="1100">
                          <a:solidFill>
                            <a:srgbClr val="1C2233"/>
                          </a:solidFill>
                          <a:latin typeface="メイリオ"/>
                          <a:ea typeface="メイリオ"/>
                          <a:cs typeface="メイリオ"/>
                        </a:rPr>
                        <a:t>9</a:t>
                      </a:r>
                    </a:p>
                  </a:txBody>
                  <a:tcPr anchor="ctr">
                    <a:solidFill>
                      <a:srgbClr val="FFFFFF"/>
                    </a:solidFill>
                  </a:tcPr>
                </a:tc>
                <a:tc>
                  <a:txBody>
                    <a:bodyPr/>
                    <a:lstStyle/>
                    <a:p>
                      <a:pPr algn="l"/>
                      <a:r>
                        <a:rPr sz="1100">
                          <a:solidFill>
                            <a:srgbClr val="1C2233"/>
                          </a:solidFill>
                          <a:latin typeface="メイリオ"/>
                          <a:ea typeface="メイリオ"/>
                          <a:cs typeface="メイリオ"/>
                        </a:rPr>
                        <a:t>全員（保護者にも転送を明記）</a:t>
                      </a:r>
                    </a:p>
                  </a:txBody>
                  <a:tcPr anchor="ctr">
                    <a:solidFill>
                      <a:srgbClr val="FFFFFF"/>
                    </a:solidFill>
                  </a:tcPr>
                </a:tc>
                <a:tc>
                  <a:txBody>
                    <a:bodyPr/>
                    <a:lstStyle/>
                    <a:p>
                      <a:pPr algn="l"/>
                      <a:r>
                        <a:rPr sz="1100">
                          <a:solidFill>
                            <a:srgbClr val="1C2233"/>
                          </a:solidFill>
                          <a:latin typeface="メイリオ"/>
                          <a:ea typeface="メイリオ"/>
                          <a:cs typeface="メイリオ"/>
                        </a:rPr>
                        <a:t>4年間の学費と奨学金</a:t>
                      </a:r>
                    </a:p>
                  </a:txBody>
                  <a:tcPr anchor="ctr">
                    <a:solidFill>
                      <a:srgbClr val="FFFFFF"/>
                    </a:solidFill>
                  </a:tcPr>
                </a:tc>
                <a:tc>
                  <a:txBody>
                    <a:bodyPr/>
                    <a:lstStyle/>
                    <a:p>
                      <a:pPr algn="l"/>
                      <a:r>
                        <a:rPr sz="1100">
                          <a:solidFill>
                            <a:srgbClr val="1C2233"/>
                          </a:solidFill>
                          <a:latin typeface="メイリオ"/>
                          <a:ea typeface="メイリオ"/>
                          <a:cs typeface="メイリオ"/>
                        </a:rPr>
                        <a:t>4年間でいくらかかるの</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5"/>
                  </a:ext>
                </a:extLst>
              </a:tr>
              <a:tr h="450000">
                <a:tc>
                  <a:txBody>
                    <a:bodyPr/>
                    <a:lstStyle/>
                    <a:p>
                      <a:pPr algn="ctr"/>
                      <a:r>
                        <a:rPr sz="1100">
                          <a:solidFill>
                            <a:srgbClr val="1C2233"/>
                          </a:solidFill>
                          <a:latin typeface="メイリオ"/>
                          <a:ea typeface="メイリオ"/>
                          <a:cs typeface="メイリオ"/>
                        </a:rPr>
                        <a:t>11</a:t>
                      </a:r>
                    </a:p>
                  </a:txBody>
                  <a:tcPr anchor="ctr">
                    <a:solidFill>
                      <a:srgbClr val="F4F7FF"/>
                    </a:solidFill>
                  </a:tcPr>
                </a:tc>
                <a:tc>
                  <a:txBody>
                    <a:bodyPr/>
                    <a:lstStyle/>
                    <a:p>
                      <a:pPr algn="l"/>
                      <a:r>
                        <a:rPr sz="1100">
                          <a:solidFill>
                            <a:srgbClr val="1C2233"/>
                          </a:solidFill>
                          <a:latin typeface="メイリオ"/>
                          <a:ea typeface="メイリオ"/>
                          <a:cs typeface="メイリオ"/>
                        </a:rPr>
                        <a:t>全員</a:t>
                      </a:r>
                    </a:p>
                  </a:txBody>
                  <a:tcPr anchor="ctr">
                    <a:solidFill>
                      <a:srgbClr val="F4F7FF"/>
                    </a:solidFill>
                  </a:tcPr>
                </a:tc>
                <a:tc>
                  <a:txBody>
                    <a:bodyPr/>
                    <a:lstStyle/>
                    <a:p>
                      <a:pPr algn="l"/>
                      <a:r>
                        <a:rPr sz="1100">
                          <a:solidFill>
                            <a:srgbClr val="1C2233"/>
                          </a:solidFill>
                          <a:latin typeface="メイリオ"/>
                          <a:ea typeface="メイリオ"/>
                          <a:cs typeface="メイリオ"/>
                        </a:rPr>
                        <a:t>就職・進路データ（学部別の実績）</a:t>
                      </a:r>
                    </a:p>
                  </a:txBody>
                  <a:tcPr anchor="ctr">
                    <a:solidFill>
                      <a:srgbClr val="F4F7FF"/>
                    </a:solidFill>
                  </a:tcPr>
                </a:tc>
                <a:tc>
                  <a:txBody>
                    <a:bodyPr/>
                    <a:lstStyle/>
                    <a:p>
                      <a:pPr algn="l"/>
                      <a:r>
                        <a:rPr sz="1100">
                          <a:solidFill>
                            <a:srgbClr val="1C2233"/>
                          </a:solidFill>
                          <a:latin typeface="メイリオ"/>
                          <a:ea typeface="メイリオ"/>
                          <a:cs typeface="メイリオ"/>
                        </a:rPr>
                        <a:t>卒業生はどこに行ったの</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6"/>
                  </a:ext>
                </a:extLst>
              </a:tr>
              <a:tr h="450000">
                <a:tc>
                  <a:txBody>
                    <a:bodyPr/>
                    <a:lstStyle/>
                    <a:p>
                      <a:pPr algn="ctr"/>
                      <a:r>
                        <a:rPr sz="1100">
                          <a:solidFill>
                            <a:srgbClr val="1C2233"/>
                          </a:solidFill>
                          <a:latin typeface="メイリオ"/>
                          <a:ea typeface="メイリオ"/>
                          <a:cs typeface="メイリオ"/>
                        </a:rPr>
                        <a:t>14</a:t>
                      </a:r>
                    </a:p>
                  </a:txBody>
                  <a:tcPr anchor="ctr">
                    <a:solidFill>
                      <a:srgbClr val="FFFFFF"/>
                    </a:solidFill>
                  </a:tcPr>
                </a:tc>
                <a:tc>
                  <a:txBody>
                    <a:bodyPr/>
                    <a:lstStyle/>
                    <a:p>
                      <a:pPr algn="l"/>
                      <a:r>
                        <a:rPr sz="1100">
                          <a:solidFill>
                            <a:srgbClr val="1C2233"/>
                          </a:solidFill>
                          <a:latin typeface="メイリオ"/>
                          <a:ea typeface="メイリオ"/>
                          <a:cs typeface="メイリオ"/>
                        </a:rPr>
                        <a:t>未CV者</a:t>
                      </a:r>
                    </a:p>
                  </a:txBody>
                  <a:tcPr anchor="ctr">
                    <a:solidFill>
                      <a:srgbClr val="FFFFFF"/>
                    </a:solidFill>
                  </a:tcPr>
                </a:tc>
                <a:tc>
                  <a:txBody>
                    <a:bodyPr/>
                    <a:lstStyle/>
                    <a:p>
                      <a:pPr algn="l"/>
                      <a:r>
                        <a:rPr sz="1100">
                          <a:solidFill>
                            <a:srgbClr val="1C2233"/>
                          </a:solidFill>
                          <a:latin typeface="メイリオ"/>
                          <a:ea typeface="メイリオ"/>
                          <a:cs typeface="メイリオ"/>
                        </a:rPr>
                        <a:t>残席状況＋オンライン相談も選べる（出口を3つ）</a:t>
                      </a:r>
                    </a:p>
                  </a:txBody>
                  <a:tcPr anchor="ctr">
                    <a:solidFill>
                      <a:srgbClr val="FFFFFF"/>
                    </a:solidFill>
                  </a:tcPr>
                </a:tc>
                <a:tc>
                  <a:txBody>
                    <a:bodyPr/>
                    <a:lstStyle/>
                    <a:p>
                      <a:pPr algn="l"/>
                      <a:r>
                        <a:rPr sz="1100">
                          <a:solidFill>
                            <a:srgbClr val="1C2233"/>
                          </a:solidFill>
                          <a:latin typeface="メイリオ"/>
                          <a:ea typeface="メイリオ"/>
                          <a:cs typeface="メイリオ"/>
                        </a:rPr>
                        <a:t>8/3の残席が少なくなっ</a:t>
                      </a:r>
                    </a:p>
                  </a:txBody>
                  <a:tcPr anchor="ctr">
                    <a:solidFill>
                      <a:srgbClr val="FFFFFF"/>
                    </a:solidFill>
                  </a:tcPr>
                </a:tc>
                <a:tc>
                  <a:txBody>
                    <a:bodyPr/>
                    <a:lstStyle/>
                    <a:p>
                      <a:pPr algn="ctr"/>
                      <a:r>
                        <a:rPr sz="1100" b="1" dirty="0" err="1">
                          <a:solidFill>
                            <a:srgbClr val="ED7D31"/>
                          </a:solidFill>
                          <a:latin typeface="メイリオ"/>
                          <a:ea typeface="メイリオ"/>
                          <a:cs typeface="メイリオ"/>
                        </a:rPr>
                        <a:t>OC予約【CV</a:t>
                      </a:r>
                      <a:r>
                        <a:rPr sz="1100" b="1" dirty="0">
                          <a:solidFill>
                            <a:srgbClr val="ED7D31"/>
                          </a:solidFill>
                          <a:latin typeface="メイリオ"/>
                          <a:ea typeface="メイリオ"/>
                          <a:cs typeface="メイリオ"/>
                        </a:rPr>
                        <a:t>②】</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Rectangle 4"/>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CVオファーは2回置く（Day6・Day14）。1回で終わらせない。出口は3つ用意する。</a:t>
            </a:r>
          </a:p>
        </p:txBody>
      </p:sp>
      <p:sp>
        <p:nvSpPr>
          <p:cNvPr id="8" name="TextBox 7"/>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14日の根拠：①友だち追加から15日前後でアクティブ率が急落する　②起点KW検索の後15日で他校の指名検索が立つ（前後検索）。</a:t>
            </a:r>
          </a:p>
          <a:p>
            <a:pPr algn="l">
              <a:lnSpc>
                <a:spcPct val="120000"/>
              </a:lnSpc>
            </a:pPr>
            <a:r>
              <a:rPr sz="900">
                <a:solidFill>
                  <a:srgbClr val="646C82"/>
                </a:solidFill>
                <a:latin typeface="メイリオ"/>
                <a:ea typeface="メイリオ"/>
                <a:cs typeface="メイリオ"/>
              </a:rPr>
              <a:t>※ Day14の出口3つ＝①OCに行く　②オンラインで在学生に聞く（20分）　③学部診断をもう一度やる。行けない子を落とさないため。</a:t>
            </a:r>
          </a:p>
        </p:txBody>
      </p:sp>
    </p:spTree>
    <p:extLst>
      <p:ext uri="{BB962C8B-B14F-4D97-AF65-F5344CB8AC3E}">
        <p14:creationId xmlns:p14="http://schemas.microsoft.com/office/powerpoint/2010/main" val="1098718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ステップ配信｜入学後14日で「辞めない形」を作る（第2の提案軸）</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中退の予兆は行動に出る。履修登録の遅れ・ガイダンス欠席・配信への無反応。</a:t>
            </a:r>
          </a:p>
          <a:p>
            <a:pPr algn="l">
              <a:lnSpc>
                <a:spcPct val="122000"/>
              </a:lnSpc>
            </a:pPr>
            <a:r>
              <a:rPr sz="1500">
                <a:solidFill>
                  <a:srgbClr val="646C82"/>
                </a:solidFill>
                <a:latin typeface="メイリオ"/>
                <a:ea typeface="メイリオ"/>
                <a:cs typeface="メイリオ"/>
              </a:rPr>
              <a:t>募集で1人増やすのと、中退を1人止めるのは、経営上まったく同じ価値。</a:t>
            </a:r>
          </a:p>
        </p:txBody>
      </p:sp>
      <p:graphicFrame>
        <p:nvGraphicFramePr>
          <p:cNvPr id="4" name="Table 3"/>
          <p:cNvGraphicFramePr>
            <a:graphicFrameLocks noGrp="1"/>
          </p:cNvGraphicFramePr>
          <p:nvPr>
            <p:extLst>
              <p:ext uri="{D42A27DB-BD31-4B8C-83A1-F6EECF244321}">
                <p14:modId xmlns:p14="http://schemas.microsoft.com/office/powerpoint/2010/main" val="164876073"/>
              </p:ext>
            </p:extLst>
          </p:nvPr>
        </p:nvGraphicFramePr>
        <p:xfrm>
          <a:off x="396000" y="1224000"/>
          <a:ext cx="9144000" cy="270000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20000"/>
                    </a:ext>
                  </a:extLst>
                </a:gridCol>
                <a:gridCol w="1944000">
                  <a:extLst>
                    <a:ext uri="{9D8B030D-6E8A-4147-A177-3AD203B41FA5}">
                      <a16:colId xmlns:a16="http://schemas.microsoft.com/office/drawing/2014/main" val="20001"/>
                    </a:ext>
                  </a:extLst>
                </a:gridCol>
                <a:gridCol w="3456000">
                  <a:extLst>
                    <a:ext uri="{9D8B030D-6E8A-4147-A177-3AD203B41FA5}">
                      <a16:colId xmlns:a16="http://schemas.microsoft.com/office/drawing/2014/main" val="20002"/>
                    </a:ext>
                  </a:extLst>
                </a:gridCol>
                <a:gridCol w="2448000">
                  <a:extLst>
                    <a:ext uri="{9D8B030D-6E8A-4147-A177-3AD203B41FA5}">
                      <a16:colId xmlns:a16="http://schemas.microsoft.com/office/drawing/2014/main" val="20003"/>
                    </a:ext>
                  </a:extLst>
                </a:gridCol>
              </a:tblGrid>
              <a:tr h="540000">
                <a:tc>
                  <a:txBody>
                    <a:bodyPr/>
                    <a:lstStyle/>
                    <a:p>
                      <a:pPr algn="ctr"/>
                      <a:r>
                        <a:rPr sz="1200" b="1">
                          <a:solidFill>
                            <a:srgbClr val="FFFFFF"/>
                          </a:solidFill>
                          <a:latin typeface="メイリオ"/>
                          <a:ea typeface="メイリオ"/>
                          <a:cs typeface="メイリオ"/>
                        </a:rPr>
                        <a:t>Day</a:t>
                      </a:r>
                    </a:p>
                  </a:txBody>
                  <a:tcPr anchor="ctr">
                    <a:solidFill>
                      <a:srgbClr val="1F285A"/>
                    </a:solidFill>
                  </a:tcPr>
                </a:tc>
                <a:tc>
                  <a:txBody>
                    <a:bodyPr/>
                    <a:lstStyle/>
                    <a:p>
                      <a:pPr algn="l"/>
                      <a:r>
                        <a:rPr sz="1200" b="1">
                          <a:solidFill>
                            <a:srgbClr val="FFFFFF"/>
                          </a:solidFill>
                          <a:latin typeface="メイリオ"/>
                          <a:ea typeface="メイリオ"/>
                          <a:cs typeface="メイリオ"/>
                        </a:rPr>
                        <a:t>対象</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tc>
                  <a:txBody>
                    <a:bodyPr/>
                    <a:lstStyle/>
                    <a:p>
                      <a:pPr algn="l"/>
                      <a:r>
                        <a:rPr sz="1200" b="1">
                          <a:solidFill>
                            <a:srgbClr val="FFFFFF"/>
                          </a:solidFill>
                          <a:latin typeface="メイリオ"/>
                          <a:ea typeface="メイリオ"/>
                          <a:cs typeface="メイリオ"/>
                        </a:rPr>
                        <a:t>狙い</a:t>
                      </a:r>
                    </a:p>
                  </a:txBody>
                  <a:tcPr anchor="ctr">
                    <a:solidFill>
                      <a:srgbClr val="1F285A"/>
                    </a:solidFill>
                  </a:tcPr>
                </a:tc>
                <a:extLst>
                  <a:ext uri="{0D108BD9-81ED-4DB2-BD59-A6C34878D82A}">
                    <a16:rowId xmlns:a16="http://schemas.microsoft.com/office/drawing/2014/main" val="10000"/>
                  </a:ext>
                </a:extLst>
              </a:tr>
              <a:tr h="540000">
                <a:tc>
                  <a:txBody>
                    <a:bodyPr/>
                    <a:lstStyle/>
                    <a:p>
                      <a:pPr algn="ctr"/>
                      <a:r>
                        <a:rPr sz="1100">
                          <a:solidFill>
                            <a:srgbClr val="1C2233"/>
                          </a:solidFill>
                          <a:latin typeface="メイリオ"/>
                          <a:ea typeface="メイリオ"/>
                          <a:cs typeface="メイリオ"/>
                        </a:rPr>
                        <a:t>0（入学手続後）</a:t>
                      </a:r>
                    </a:p>
                  </a:txBody>
                  <a:tcPr anchor="ctr">
                    <a:solidFill>
                      <a:srgbClr val="FFFFFF"/>
                    </a:solidFill>
                  </a:tcPr>
                </a:tc>
                <a:tc>
                  <a:txBody>
                    <a:bodyPr/>
                    <a:lstStyle/>
                    <a:p>
                      <a:pPr algn="l"/>
                      <a:r>
                        <a:rPr sz="1100">
                          <a:solidFill>
                            <a:srgbClr val="1C2233"/>
                          </a:solidFill>
                          <a:latin typeface="メイリオ"/>
                          <a:ea typeface="メイリオ"/>
                          <a:cs typeface="メイリオ"/>
                        </a:rPr>
                        <a:t>入学予定者</a:t>
                      </a:r>
                    </a:p>
                  </a:txBody>
                  <a:tcPr anchor="ctr">
                    <a:solidFill>
                      <a:srgbClr val="FFFFFF"/>
                    </a:solidFill>
                  </a:tcPr>
                </a:tc>
                <a:tc>
                  <a:txBody>
                    <a:bodyPr/>
                    <a:lstStyle/>
                    <a:p>
                      <a:pPr algn="l"/>
                      <a:r>
                        <a:rPr sz="1100">
                          <a:solidFill>
                            <a:srgbClr val="1C2233"/>
                          </a:solidFill>
                          <a:latin typeface="メイリオ"/>
                          <a:ea typeface="メイリオ"/>
                          <a:cs typeface="メイリオ"/>
                        </a:rPr>
                        <a:t>入学前オリエンテーション案内／同じ学部の先輩の1日</a:t>
                      </a:r>
                    </a:p>
                  </a:txBody>
                  <a:tcPr anchor="ctr">
                    <a:solidFill>
                      <a:srgbClr val="FFFFFF"/>
                    </a:solidFill>
                  </a:tcPr>
                </a:tc>
                <a:tc>
                  <a:txBody>
                    <a:bodyPr/>
                    <a:lstStyle/>
                    <a:p>
                      <a:pPr algn="l"/>
                      <a:r>
                        <a:rPr sz="1100">
                          <a:solidFill>
                            <a:srgbClr val="1C2233"/>
                          </a:solidFill>
                          <a:latin typeface="メイリオ"/>
                          <a:ea typeface="メイリオ"/>
                          <a:cs typeface="メイリオ"/>
                        </a:rPr>
                        <a:t>「ついていけるか」の不安を先に潰す</a:t>
                      </a:r>
                    </a:p>
                  </a:txBody>
                  <a:tcPr anchor="ctr">
                    <a:solidFill>
                      <a:srgbClr val="FFFFFF"/>
                    </a:solidFill>
                  </a:tcPr>
                </a:tc>
                <a:extLst>
                  <a:ext uri="{0D108BD9-81ED-4DB2-BD59-A6C34878D82A}">
                    <a16:rowId xmlns:a16="http://schemas.microsoft.com/office/drawing/2014/main" val="10001"/>
                  </a:ext>
                </a:extLst>
              </a:tr>
              <a:tr h="540000">
                <a:tc>
                  <a:txBody>
                    <a:bodyPr/>
                    <a:lstStyle/>
                    <a:p>
                      <a:pPr algn="ctr"/>
                      <a:r>
                        <a:rPr sz="1100">
                          <a:solidFill>
                            <a:srgbClr val="1C2233"/>
                          </a:solidFill>
                          <a:latin typeface="メイリオ"/>
                          <a:ea typeface="メイリオ"/>
                          <a:cs typeface="メイリオ"/>
                        </a:rPr>
                        <a:t>7</a:t>
                      </a:r>
                    </a:p>
                  </a:txBody>
                  <a:tcPr anchor="ctr">
                    <a:solidFill>
                      <a:srgbClr val="F4F7FF"/>
                    </a:solidFill>
                  </a:tcPr>
                </a:tc>
                <a:tc>
                  <a:txBody>
                    <a:bodyPr/>
                    <a:lstStyle/>
                    <a:p>
                      <a:pPr algn="l"/>
                      <a:r>
                        <a:rPr sz="1100">
                          <a:solidFill>
                            <a:srgbClr val="1C2233"/>
                          </a:solidFill>
                          <a:latin typeface="メイリオ"/>
                          <a:ea typeface="メイリオ"/>
                          <a:cs typeface="メイリオ"/>
                        </a:rPr>
                        <a:t>入学予定者</a:t>
                      </a:r>
                    </a:p>
                  </a:txBody>
                  <a:tcPr anchor="ctr">
                    <a:solidFill>
                      <a:srgbClr val="F4F7FF"/>
                    </a:solidFill>
                  </a:tcPr>
                </a:tc>
                <a:tc>
                  <a:txBody>
                    <a:bodyPr/>
                    <a:lstStyle/>
                    <a:p>
                      <a:pPr algn="l"/>
                      <a:r>
                        <a:rPr sz="1100">
                          <a:solidFill>
                            <a:srgbClr val="1C2233"/>
                          </a:solidFill>
                          <a:latin typeface="メイリオ"/>
                          <a:ea typeface="メイリオ"/>
                          <a:cs typeface="メイリオ"/>
                        </a:rPr>
                        <a:t>履修登録の仕方（3ステップ・つまずきやすい点つき）</a:t>
                      </a:r>
                    </a:p>
                  </a:txBody>
                  <a:tcPr anchor="ctr">
                    <a:solidFill>
                      <a:srgbClr val="F4F7FF"/>
                    </a:solidFill>
                  </a:tcPr>
                </a:tc>
                <a:tc>
                  <a:txBody>
                    <a:bodyPr/>
                    <a:lstStyle/>
                    <a:p>
                      <a:pPr algn="l"/>
                      <a:r>
                        <a:rPr sz="1100">
                          <a:solidFill>
                            <a:srgbClr val="1C2233"/>
                          </a:solidFill>
                          <a:latin typeface="メイリオ"/>
                          <a:ea typeface="メイリオ"/>
                          <a:cs typeface="メイリオ"/>
                        </a:rPr>
                        <a:t>履修登録の遅れ＝中退の第1予兆を防ぐ</a:t>
                      </a:r>
                    </a:p>
                  </a:txBody>
                  <a:tcPr anchor="ctr">
                    <a:solidFill>
                      <a:srgbClr val="F4F7FF"/>
                    </a:solidFill>
                  </a:tcPr>
                </a:tc>
                <a:extLst>
                  <a:ext uri="{0D108BD9-81ED-4DB2-BD59-A6C34878D82A}">
                    <a16:rowId xmlns:a16="http://schemas.microsoft.com/office/drawing/2014/main" val="10002"/>
                  </a:ext>
                </a:extLst>
              </a:tr>
              <a:tr h="540000">
                <a:tc>
                  <a:txBody>
                    <a:bodyPr/>
                    <a:lstStyle/>
                    <a:p>
                      <a:pPr algn="ctr"/>
                      <a:r>
                        <a:rPr sz="1100">
                          <a:solidFill>
                            <a:srgbClr val="1C2233"/>
                          </a:solidFill>
                          <a:latin typeface="メイリオ"/>
                          <a:ea typeface="メイリオ"/>
                          <a:cs typeface="メイリオ"/>
                        </a:rPr>
                        <a:t>14</a:t>
                      </a:r>
                    </a:p>
                  </a:txBody>
                  <a:tcPr anchor="ctr">
                    <a:solidFill>
                      <a:srgbClr val="FFFFFF"/>
                    </a:solidFill>
                  </a:tcPr>
                </a:tc>
                <a:tc>
                  <a:txBody>
                    <a:bodyPr/>
                    <a:lstStyle/>
                    <a:p>
                      <a:pPr algn="l"/>
                      <a:r>
                        <a:rPr sz="1100">
                          <a:solidFill>
                            <a:srgbClr val="1C2233"/>
                          </a:solidFill>
                          <a:latin typeface="メイリオ"/>
                          <a:ea typeface="メイリオ"/>
                          <a:cs typeface="メイリオ"/>
                        </a:rPr>
                        <a:t>入学予定者・保護者</a:t>
                      </a:r>
                    </a:p>
                  </a:txBody>
                  <a:tcPr anchor="ctr">
                    <a:solidFill>
                      <a:srgbClr val="FFFFFF"/>
                    </a:solidFill>
                  </a:tcPr>
                </a:tc>
                <a:tc>
                  <a:txBody>
                    <a:bodyPr/>
                    <a:lstStyle/>
                    <a:p>
                      <a:pPr algn="l"/>
                      <a:r>
                        <a:rPr sz="1100">
                          <a:solidFill>
                            <a:srgbClr val="1C2233"/>
                          </a:solidFill>
                          <a:latin typeface="メイリオ"/>
                          <a:ea typeface="メイリオ"/>
                          <a:cs typeface="メイリオ"/>
                        </a:rPr>
                        <a:t>一人暮らし準備／奨学金の手続き期限／学生相談窓口の案内</a:t>
                      </a:r>
                    </a:p>
                  </a:txBody>
                  <a:tcPr anchor="ctr">
                    <a:solidFill>
                      <a:srgbClr val="FFFFFF"/>
                    </a:solidFill>
                  </a:tcPr>
                </a:tc>
                <a:tc>
                  <a:txBody>
                    <a:bodyPr/>
                    <a:lstStyle/>
                    <a:p>
                      <a:pPr algn="l"/>
                      <a:r>
                        <a:rPr sz="1100">
                          <a:solidFill>
                            <a:srgbClr val="1C2233"/>
                          </a:solidFill>
                          <a:latin typeface="メイリオ"/>
                          <a:ea typeface="メイリオ"/>
                          <a:cs typeface="メイリオ"/>
                        </a:rPr>
                        <a:t>保護者の不安も同時に外す</a:t>
                      </a:r>
                    </a:p>
                  </a:txBody>
                  <a:tcPr anchor="ctr">
                    <a:solidFill>
                      <a:srgbClr val="FFFFFF"/>
                    </a:solidFill>
                  </a:tcPr>
                </a:tc>
                <a:extLst>
                  <a:ext uri="{0D108BD9-81ED-4DB2-BD59-A6C34878D82A}">
                    <a16:rowId xmlns:a16="http://schemas.microsoft.com/office/drawing/2014/main" val="10003"/>
                  </a:ext>
                </a:extLst>
              </a:tr>
              <a:tr h="540000">
                <a:tc>
                  <a:txBody>
                    <a:bodyPr/>
                    <a:lstStyle/>
                    <a:p>
                      <a:pPr algn="ctr"/>
                      <a:r>
                        <a:rPr sz="1100">
                          <a:solidFill>
                            <a:srgbClr val="1C2233"/>
                          </a:solidFill>
                          <a:latin typeface="メイリオ"/>
                          <a:ea typeface="メイリオ"/>
                          <a:cs typeface="メイリオ"/>
                        </a:rPr>
                        <a:t>以降・常時</a:t>
                      </a:r>
                    </a:p>
                  </a:txBody>
                  <a:tcPr anchor="ctr">
                    <a:solidFill>
                      <a:srgbClr val="F4F7FF"/>
                    </a:solidFill>
                  </a:tcPr>
                </a:tc>
                <a:tc>
                  <a:txBody>
                    <a:bodyPr/>
                    <a:lstStyle/>
                    <a:p>
                      <a:pPr algn="l"/>
                      <a:r>
                        <a:rPr sz="1100">
                          <a:solidFill>
                            <a:srgbClr val="1C2233"/>
                          </a:solidFill>
                          <a:latin typeface="メイリオ"/>
                          <a:ea typeface="メイリオ"/>
                          <a:cs typeface="メイリオ"/>
                        </a:rPr>
                        <a:t>在学生（無反応が続く層）</a:t>
                      </a:r>
                    </a:p>
                  </a:txBody>
                  <a:tcPr anchor="ctr">
                    <a:solidFill>
                      <a:srgbClr val="F4F7FF"/>
                    </a:solidFill>
                  </a:tcPr>
                </a:tc>
                <a:tc>
                  <a:txBody>
                    <a:bodyPr/>
                    <a:lstStyle/>
                    <a:p>
                      <a:pPr algn="l"/>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最近どう</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の自動声かけ</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学生相談へトスアップ</a:t>
                      </a:r>
                      <a:endParaRPr sz="1100" dirty="0">
                        <a:solidFill>
                          <a:srgbClr val="1C2233"/>
                        </a:solidFill>
                        <a:latin typeface="メイリオ"/>
                        <a:ea typeface="メイリオ"/>
                        <a:cs typeface="メイリオ"/>
                      </a:endParaRPr>
                    </a:p>
                  </a:txBody>
                  <a:tcPr anchor="ctr">
                    <a:solidFill>
                      <a:srgbClr val="F4F7FF"/>
                    </a:solidFill>
                  </a:tcPr>
                </a:tc>
                <a:tc>
                  <a:txBody>
                    <a:bodyPr/>
                    <a:lstStyle/>
                    <a:p>
                      <a:pPr algn="l"/>
                      <a:r>
                        <a:rPr sz="1100" dirty="0" err="1">
                          <a:solidFill>
                            <a:srgbClr val="1C2233"/>
                          </a:solidFill>
                          <a:latin typeface="メイリオ"/>
                          <a:ea typeface="メイリオ"/>
                          <a:cs typeface="メイリオ"/>
                        </a:rPr>
                        <a:t>離脱予兆検知</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幽霊化する前に止める</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489000" y="3935208"/>
            <a:ext cx="4587000" cy="15840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C00000"/>
                </a:solidFill>
                <a:latin typeface="メイリオ"/>
                <a:ea typeface="メイリオ"/>
                <a:cs typeface="メイリオ"/>
              </a:rPr>
              <a:t>中退1人の損失＝残存年数分の学費</a:t>
            </a:r>
          </a:p>
          <a:p>
            <a:pPr algn="l">
              <a:lnSpc>
                <a:spcPct val="120000"/>
              </a:lnSpc>
              <a:spcAft>
                <a:spcPts val="200"/>
              </a:spcAft>
            </a:pPr>
            <a:r>
              <a:rPr sz="1100" dirty="0">
                <a:solidFill>
                  <a:srgbClr val="1C2233"/>
                </a:solidFill>
                <a:latin typeface="メイリオ"/>
                <a:ea typeface="メイリオ"/>
                <a:cs typeface="メイリオ"/>
              </a:rPr>
              <a:t>大学の年間中退率は約2%。4年間では入学者の約8%</a:t>
            </a:r>
            <a:r>
              <a:rPr lang="en-US" sz="1100" dirty="0">
                <a:solidFill>
                  <a:srgbClr val="1C2233"/>
                </a:solidFill>
                <a:latin typeface="メイリオ"/>
                <a:ea typeface="メイリオ"/>
                <a:cs typeface="メイリオ"/>
              </a:rPr>
              <a:t>(</a:t>
            </a:r>
            <a:r>
              <a:rPr sz="1100" dirty="0">
                <a:solidFill>
                  <a:srgbClr val="1C2233"/>
                </a:solidFill>
                <a:latin typeface="メイリオ"/>
                <a:ea typeface="メイリオ"/>
                <a:cs typeface="メイリオ"/>
              </a:rPr>
              <a:t>12人に1人</a:t>
            </a:r>
            <a:r>
              <a:rPr lang="en-US" sz="1100" dirty="0">
                <a:solidFill>
                  <a:srgbClr val="1C2233"/>
                </a:solidFill>
                <a:latin typeface="メイリオ"/>
                <a:ea typeface="メイリオ"/>
                <a:cs typeface="メイリオ"/>
              </a:rPr>
              <a:t>)</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2年次で中退なら、残り2年分＝約200〜300万円が消える。</a:t>
            </a:r>
          </a:p>
          <a:p>
            <a:pPr algn="l">
              <a:lnSpc>
                <a:spcPct val="120000"/>
              </a:lnSpc>
              <a:spcAft>
                <a:spcPts val="200"/>
              </a:spcAft>
            </a:pPr>
            <a:r>
              <a:rPr sz="1100" dirty="0">
                <a:solidFill>
                  <a:srgbClr val="1C2233"/>
                </a:solidFill>
                <a:latin typeface="メイリオ"/>
                <a:ea typeface="メイリオ"/>
                <a:cs typeface="メイリオ"/>
              </a:rPr>
              <a:t>＝ 中退を1人止めることは、入学者を1人増やすのと同じ。</a:t>
            </a:r>
          </a:p>
        </p:txBody>
      </p:sp>
      <p:sp>
        <p:nvSpPr>
          <p:cNvPr id="6" name="Rounded Rectangle 5"/>
          <p:cNvSpPr/>
          <p:nvPr/>
        </p:nvSpPr>
        <p:spPr>
          <a:xfrm>
            <a:off x="5076000" y="3935208"/>
            <a:ext cx="44640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同じアカウントで、入学後もそのまま使える</a:t>
            </a:r>
          </a:p>
          <a:p>
            <a:pPr algn="l">
              <a:lnSpc>
                <a:spcPct val="120000"/>
              </a:lnSpc>
              <a:spcAft>
                <a:spcPts val="200"/>
              </a:spcAft>
            </a:pPr>
            <a:r>
              <a:rPr sz="1100">
                <a:solidFill>
                  <a:srgbClr val="1C2233"/>
                </a:solidFill>
                <a:latin typeface="メイリオ"/>
                <a:ea typeface="メイリオ"/>
                <a:cs typeface="メイリオ"/>
              </a:rPr>
              <a:t>入学前教育／休講・災害時の一斉連絡／保護者向け通知／</a:t>
            </a:r>
          </a:p>
          <a:p>
            <a:pPr algn="l">
              <a:lnSpc>
                <a:spcPct val="120000"/>
              </a:lnSpc>
              <a:spcAft>
                <a:spcPts val="200"/>
              </a:spcAft>
            </a:pPr>
            <a:r>
              <a:rPr sz="1100">
                <a:solidFill>
                  <a:srgbClr val="1C2233"/>
                </a:solidFill>
                <a:latin typeface="メイリオ"/>
                <a:ea typeface="メイリオ"/>
                <a:cs typeface="メイリオ"/>
              </a:rPr>
              <a:t>就職支援／卒業生・寄付の案内まで1本で回せる。</a:t>
            </a:r>
          </a:p>
          <a:p>
            <a:pPr algn="l">
              <a:lnSpc>
                <a:spcPct val="120000"/>
              </a:lnSpc>
              <a:spcAft>
                <a:spcPts val="200"/>
              </a:spcAft>
            </a:pPr>
            <a:r>
              <a:rPr sz="1100">
                <a:solidFill>
                  <a:srgbClr val="1C2233"/>
                </a:solidFill>
                <a:latin typeface="メイリオ"/>
                <a:ea typeface="メイリオ"/>
                <a:cs typeface="メイリオ"/>
              </a:rPr>
              <a:t>※受験生向けと在学生向けは、タグで分離する設計にする。</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入学前の14日でOC予約を取り、入学後の14日で「辞めない形」を作る。この2本で1セット。</a:t>
            </a:r>
          </a:p>
        </p:txBody>
      </p:sp>
      <p:sp>
        <p:nvSpPr>
          <p:cNvPr id="10" name="TextBox 9"/>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中退率は文部科学省の調査に基づく概数。【提出前に最新調査で原典照合すること】</a:t>
            </a:r>
          </a:p>
          <a:p>
            <a:pPr algn="l">
              <a:lnSpc>
                <a:spcPct val="120000"/>
              </a:lnSpc>
            </a:pPr>
            <a:r>
              <a:rPr sz="900">
                <a:solidFill>
                  <a:srgbClr val="646C82"/>
                </a:solidFill>
                <a:latin typeface="メイリオ"/>
                <a:ea typeface="メイリオ"/>
                <a:cs typeface="メイリオ"/>
              </a:rPr>
              <a:t>※ 中退率・在籍年数はLINE側では計測できない。貴学の学務システムの数値と突き合わせて効果を見る。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リッチメニュー設計案｜3タブ × 6枠（18ボタン）</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「受験生」「OC・入試」「保護者」で、見せる画面を変える。</a:t>
            </a:r>
          </a:p>
          <a:p>
            <a:pPr algn="l">
              <a:lnSpc>
                <a:spcPct val="122000"/>
              </a:lnSpc>
            </a:pPr>
            <a:r>
              <a:rPr sz="1500">
                <a:solidFill>
                  <a:srgbClr val="646C82"/>
                </a:solidFill>
                <a:latin typeface="メイリオ"/>
                <a:ea typeface="メイリオ"/>
                <a:cs typeface="メイリオ"/>
              </a:rPr>
              <a:t>左上に置くのは資料請求ではない。まだ決めていない人が押せる場所。</a:t>
            </a:r>
          </a:p>
        </p:txBody>
      </p:sp>
      <p:graphicFrame>
        <p:nvGraphicFramePr>
          <p:cNvPr id="4" name="Table 3"/>
          <p:cNvGraphicFramePr>
            <a:graphicFrameLocks noGrp="1"/>
          </p:cNvGraphicFramePr>
          <p:nvPr/>
        </p:nvGraphicFramePr>
        <p:xfrm>
          <a:off x="396000" y="1224000"/>
          <a:ext cx="9144000" cy="365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2592000">
                  <a:extLst>
                    <a:ext uri="{9D8B030D-6E8A-4147-A177-3AD203B41FA5}">
                      <a16:colId xmlns:a16="http://schemas.microsoft.com/office/drawing/2014/main" val="20001"/>
                    </a:ext>
                  </a:extLst>
                </a:gridCol>
                <a:gridCol w="2592000">
                  <a:extLst>
                    <a:ext uri="{9D8B030D-6E8A-4147-A177-3AD203B41FA5}">
                      <a16:colId xmlns:a16="http://schemas.microsoft.com/office/drawing/2014/main" val="20002"/>
                    </a:ext>
                  </a:extLst>
                </a:gridCol>
                <a:gridCol w="2520000">
                  <a:extLst>
                    <a:ext uri="{9D8B030D-6E8A-4147-A177-3AD203B41FA5}">
                      <a16:colId xmlns:a16="http://schemas.microsoft.com/office/drawing/2014/main" val="20003"/>
                    </a:ext>
                  </a:extLst>
                </a:gridCol>
              </a:tblGrid>
              <a:tr h="522000">
                <a:tc>
                  <a:txBody>
                    <a:bodyPr/>
                    <a:lstStyle/>
                    <a:p>
                      <a:pPr algn="ctr"/>
                      <a:r>
                        <a:rPr sz="1200" b="1">
                          <a:solidFill>
                            <a:srgbClr val="FFFFFF"/>
                          </a:solidFill>
                          <a:latin typeface="メイリオ"/>
                          <a:ea typeface="メイリオ"/>
                          <a:cs typeface="メイリオ"/>
                        </a:rPr>
                        <a:t>位置</a:t>
                      </a:r>
                    </a:p>
                  </a:txBody>
                  <a:tcPr anchor="ctr">
                    <a:solidFill>
                      <a:srgbClr val="1F285A"/>
                    </a:solidFill>
                  </a:tcPr>
                </a:tc>
                <a:tc>
                  <a:txBody>
                    <a:bodyPr/>
                    <a:lstStyle/>
                    <a:p>
                      <a:pPr algn="l"/>
                      <a:r>
                        <a:rPr sz="1200" b="1">
                          <a:solidFill>
                            <a:srgbClr val="FFFFFF"/>
                          </a:solidFill>
                          <a:latin typeface="メイリオ"/>
                          <a:ea typeface="メイリオ"/>
                          <a:cs typeface="メイリオ"/>
                        </a:rPr>
                        <a:t>① 受験生・はじめての方</a:t>
                      </a:r>
                    </a:p>
                  </a:txBody>
                  <a:tcPr anchor="ctr">
                    <a:solidFill>
                      <a:srgbClr val="1F285A"/>
                    </a:solidFill>
                  </a:tcPr>
                </a:tc>
                <a:tc>
                  <a:txBody>
                    <a:bodyPr/>
                    <a:lstStyle/>
                    <a:p>
                      <a:pPr algn="l"/>
                      <a:r>
                        <a:rPr sz="1200" b="1">
                          <a:solidFill>
                            <a:srgbClr val="FFFFFF"/>
                          </a:solidFill>
                          <a:latin typeface="メイリオ"/>
                          <a:ea typeface="メイリオ"/>
                          <a:cs typeface="メイリオ"/>
                        </a:rPr>
                        <a:t>② オープンキャンパス・入試</a:t>
                      </a:r>
                    </a:p>
                  </a:txBody>
                  <a:tcPr anchor="ctr">
                    <a:solidFill>
                      <a:srgbClr val="1F285A"/>
                    </a:solidFill>
                  </a:tcPr>
                </a:tc>
                <a:tc>
                  <a:txBody>
                    <a:bodyPr/>
                    <a:lstStyle/>
                    <a:p>
                      <a:pPr algn="l"/>
                      <a:r>
                        <a:rPr sz="1200" b="1">
                          <a:solidFill>
                            <a:srgbClr val="FFFFFF"/>
                          </a:solidFill>
                          <a:latin typeface="メイリオ"/>
                          <a:ea typeface="メイリオ"/>
                          <a:cs typeface="メイリオ"/>
                        </a:rPr>
                        <a:t>③ 保護者の方へ</a:t>
                      </a:r>
                    </a:p>
                  </a:txBody>
                  <a:tcPr anchor="ctr">
                    <a:solidFill>
                      <a:srgbClr val="1F285A"/>
                    </a:solidFill>
                  </a:tcPr>
                </a:tc>
                <a:extLst>
                  <a:ext uri="{0D108BD9-81ED-4DB2-BD59-A6C34878D82A}">
                    <a16:rowId xmlns:a16="http://schemas.microsoft.com/office/drawing/2014/main" val="10000"/>
                  </a:ext>
                </a:extLst>
              </a:tr>
              <a:tr h="522000">
                <a:tc>
                  <a:txBody>
                    <a:bodyPr/>
                    <a:lstStyle/>
                    <a:p>
                      <a:pPr algn="ctr"/>
                      <a:r>
                        <a:rPr sz="1100">
                          <a:solidFill>
                            <a:srgbClr val="1C2233"/>
                          </a:solidFill>
                          <a:latin typeface="メイリオ"/>
                          <a:ea typeface="メイリオ"/>
                          <a:cs typeface="メイリオ"/>
                        </a:rPr>
                        <a:t>左上（最重要）</a:t>
                      </a:r>
                    </a:p>
                  </a:txBody>
                  <a:tcPr anchor="ctr">
                    <a:solidFill>
                      <a:srgbClr val="FFFFFF"/>
                    </a:solidFill>
                  </a:tcPr>
                </a:tc>
                <a:tc>
                  <a:txBody>
                    <a:bodyPr/>
                    <a:lstStyle/>
                    <a:p>
                      <a:pPr algn="l"/>
                      <a:r>
                        <a:rPr sz="1100" b="1">
                          <a:solidFill>
                            <a:srgbClr val="ED7D31"/>
                          </a:solidFill>
                          <a:latin typeface="メイリオ"/>
                          <a:ea typeface="メイリオ"/>
                          <a:cs typeface="メイリオ"/>
                        </a:rPr>
                        <a:t>30秒 学部学科診断</a:t>
                      </a:r>
                    </a:p>
                  </a:txBody>
                  <a:tcPr anchor="ctr">
                    <a:solidFill>
                      <a:srgbClr val="FFFFFF"/>
                    </a:solidFill>
                  </a:tcPr>
                </a:tc>
                <a:tc>
                  <a:txBody>
                    <a:bodyPr/>
                    <a:lstStyle/>
                    <a:p>
                      <a:pPr algn="l"/>
                      <a:r>
                        <a:rPr sz="1100" b="1">
                          <a:solidFill>
                            <a:srgbClr val="ED7D31"/>
                          </a:solidFill>
                          <a:latin typeface="メイリオ"/>
                          <a:ea typeface="メイリオ"/>
                          <a:cs typeface="メイリオ"/>
                        </a:rPr>
                        <a:t>次回OCの日程・予約</a:t>
                      </a:r>
                    </a:p>
                  </a:txBody>
                  <a:tcPr anchor="ctr">
                    <a:solidFill>
                      <a:srgbClr val="FFFFFF"/>
                    </a:solidFill>
                  </a:tcPr>
                </a:tc>
                <a:tc>
                  <a:txBody>
                    <a:bodyPr/>
                    <a:lstStyle/>
                    <a:p>
                      <a:pPr algn="l"/>
                      <a:r>
                        <a:rPr sz="1100" b="1">
                          <a:solidFill>
                            <a:srgbClr val="ED7D31"/>
                          </a:solidFill>
                          <a:latin typeface="メイリオ"/>
                          <a:ea typeface="メイリオ"/>
                          <a:cs typeface="メイリオ"/>
                        </a:rPr>
                        <a:t>4年間の学費シミュレーション</a:t>
                      </a:r>
                    </a:p>
                  </a:txBody>
                  <a:tcPr anchor="ctr">
                    <a:solidFill>
                      <a:srgbClr val="FFFFFF"/>
                    </a:solidFill>
                  </a:tcPr>
                </a:tc>
                <a:extLst>
                  <a:ext uri="{0D108BD9-81ED-4DB2-BD59-A6C34878D82A}">
                    <a16:rowId xmlns:a16="http://schemas.microsoft.com/office/drawing/2014/main" val="10001"/>
                  </a:ext>
                </a:extLst>
              </a:tr>
              <a:tr h="522000">
                <a:tc>
                  <a:txBody>
                    <a:bodyPr/>
                    <a:lstStyle/>
                    <a:p>
                      <a:pPr algn="ctr"/>
                      <a:r>
                        <a:rPr sz="1100">
                          <a:solidFill>
                            <a:srgbClr val="1C2233"/>
                          </a:solidFill>
                          <a:latin typeface="メイリオ"/>
                          <a:ea typeface="メイリオ"/>
                          <a:cs typeface="メイリオ"/>
                        </a:rPr>
                        <a:t>右上</a:t>
                      </a:r>
                    </a:p>
                  </a:txBody>
                  <a:tcPr anchor="ctr">
                    <a:solidFill>
                      <a:srgbClr val="F4F7FF"/>
                    </a:solidFill>
                  </a:tcPr>
                </a:tc>
                <a:tc>
                  <a:txBody>
                    <a:bodyPr/>
                    <a:lstStyle/>
                    <a:p>
                      <a:pPr algn="l"/>
                      <a:r>
                        <a:rPr sz="1100">
                          <a:solidFill>
                            <a:srgbClr val="1C2233"/>
                          </a:solidFill>
                          <a:latin typeface="メイリオ"/>
                          <a:ea typeface="メイリオ"/>
                          <a:cs typeface="メイリオ"/>
                        </a:rPr>
                        <a:t>オープンキャンパス予約</a:t>
                      </a:r>
                    </a:p>
                  </a:txBody>
                  <a:tcPr anchor="ctr">
                    <a:solidFill>
                      <a:srgbClr val="F4F7FF"/>
                    </a:solidFill>
                  </a:tcPr>
                </a:tc>
                <a:tc>
                  <a:txBody>
                    <a:bodyPr/>
                    <a:lstStyle/>
                    <a:p>
                      <a:pPr algn="l"/>
                      <a:r>
                        <a:rPr sz="1100">
                          <a:solidFill>
                            <a:srgbClr val="1C2233"/>
                          </a:solidFill>
                          <a:latin typeface="メイリオ"/>
                          <a:ea typeface="メイリオ"/>
                          <a:cs typeface="メイリオ"/>
                        </a:rPr>
                        <a:t>当日の流れ・持ち物</a:t>
                      </a:r>
                    </a:p>
                  </a:txBody>
                  <a:tcPr anchor="ctr">
                    <a:solidFill>
                      <a:srgbClr val="F4F7FF"/>
                    </a:solidFill>
                  </a:tcPr>
                </a:tc>
                <a:tc>
                  <a:txBody>
                    <a:bodyPr/>
                    <a:lstStyle/>
                    <a:p>
                      <a:pPr algn="l"/>
                      <a:r>
                        <a:rPr sz="1100">
                          <a:solidFill>
                            <a:srgbClr val="1C2233"/>
                          </a:solidFill>
                          <a:latin typeface="メイリオ"/>
                          <a:ea typeface="メイリオ"/>
                          <a:cs typeface="メイリオ"/>
                        </a:rPr>
                        <a:t>奨学金・学費支援制度</a:t>
                      </a:r>
                    </a:p>
                  </a:txBody>
                  <a:tcPr anchor="ctr">
                    <a:solidFill>
                      <a:srgbClr val="F4F7FF"/>
                    </a:solidFill>
                  </a:tcPr>
                </a:tc>
                <a:extLst>
                  <a:ext uri="{0D108BD9-81ED-4DB2-BD59-A6C34878D82A}">
                    <a16:rowId xmlns:a16="http://schemas.microsoft.com/office/drawing/2014/main" val="10002"/>
                  </a:ext>
                </a:extLst>
              </a:tr>
              <a:tr h="522000">
                <a:tc>
                  <a:txBody>
                    <a:bodyPr/>
                    <a:lstStyle/>
                    <a:p>
                      <a:pPr algn="ctr"/>
                      <a:r>
                        <a:rPr sz="1100">
                          <a:solidFill>
                            <a:srgbClr val="1C2233"/>
                          </a:solidFill>
                          <a:latin typeface="メイリオ"/>
                          <a:ea typeface="メイリオ"/>
                          <a:cs typeface="メイリオ"/>
                        </a:rPr>
                        <a:t>左中</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学部・学科を見る</a:t>
                      </a:r>
                    </a:p>
                  </a:txBody>
                  <a:tcPr anchor="ctr">
                    <a:solidFill>
                      <a:srgbClr val="FFFFFF"/>
                    </a:solidFill>
                  </a:tcPr>
                </a:tc>
                <a:tc>
                  <a:txBody>
                    <a:bodyPr/>
                    <a:lstStyle/>
                    <a:p>
                      <a:pPr algn="l"/>
                      <a:r>
                        <a:rPr sz="1100">
                          <a:solidFill>
                            <a:srgbClr val="1C2233"/>
                          </a:solidFill>
                          <a:latin typeface="メイリオ"/>
                          <a:ea typeface="メイリオ"/>
                          <a:cs typeface="メイリオ"/>
                        </a:rPr>
                        <a:t>アクセス・キャンパスマップ</a:t>
                      </a:r>
                    </a:p>
                  </a:txBody>
                  <a:tcPr anchor="ctr">
                    <a:solidFill>
                      <a:srgbClr val="FFFFFF"/>
                    </a:solidFill>
                  </a:tcPr>
                </a:tc>
                <a:tc>
                  <a:txBody>
                    <a:bodyPr/>
                    <a:lstStyle/>
                    <a:p>
                      <a:pPr algn="l"/>
                      <a:r>
                        <a:rPr sz="1100">
                          <a:solidFill>
                            <a:srgbClr val="1C2233"/>
                          </a:solidFill>
                          <a:latin typeface="メイリオ"/>
                          <a:ea typeface="メイリオ"/>
                          <a:cs typeface="メイリオ"/>
                        </a:rPr>
                        <a:t>就職実績・進路データ</a:t>
                      </a:r>
                    </a:p>
                  </a:txBody>
                  <a:tcPr anchor="ctr">
                    <a:solidFill>
                      <a:srgbClr val="FFFFFF"/>
                    </a:solidFill>
                  </a:tcPr>
                </a:tc>
                <a:extLst>
                  <a:ext uri="{0D108BD9-81ED-4DB2-BD59-A6C34878D82A}">
                    <a16:rowId xmlns:a16="http://schemas.microsoft.com/office/drawing/2014/main" val="10003"/>
                  </a:ext>
                </a:extLst>
              </a:tr>
              <a:tr h="522000">
                <a:tc>
                  <a:txBody>
                    <a:bodyPr/>
                    <a:lstStyle/>
                    <a:p>
                      <a:pPr algn="ctr"/>
                      <a:r>
                        <a:rPr sz="1100">
                          <a:solidFill>
                            <a:srgbClr val="1C2233"/>
                          </a:solidFill>
                          <a:latin typeface="メイリオ"/>
                          <a:ea typeface="メイリオ"/>
                          <a:cs typeface="メイリオ"/>
                        </a:rPr>
                        <a:t>右中</a:t>
                      </a:r>
                    </a:p>
                  </a:txBody>
                  <a:tcPr anchor="ctr">
                    <a:solidFill>
                      <a:srgbClr val="F4F7FF"/>
                    </a:solidFill>
                  </a:tcPr>
                </a:tc>
                <a:tc>
                  <a:txBody>
                    <a:bodyPr/>
                    <a:lstStyle/>
                    <a:p>
                      <a:pPr algn="l"/>
                      <a:r>
                        <a:rPr sz="1100">
                          <a:solidFill>
                            <a:srgbClr val="1C2233"/>
                          </a:solidFill>
                          <a:latin typeface="メイリオ"/>
                          <a:ea typeface="メイリオ"/>
                          <a:cs typeface="メイリオ"/>
                        </a:rPr>
                        <a:t>資料（デジタルパンフ）をもらう</a:t>
                      </a:r>
                    </a:p>
                  </a:txBody>
                  <a:tcPr anchor="ctr">
                    <a:solidFill>
                      <a:srgbClr val="F4F7FF"/>
                    </a:solidFill>
                  </a:tcPr>
                </a:tc>
                <a:tc>
                  <a:txBody>
                    <a:bodyPr/>
                    <a:lstStyle/>
                    <a:p>
                      <a:pPr algn="l"/>
                      <a:r>
                        <a:rPr sz="1100">
                          <a:solidFill>
                            <a:srgbClr val="1C2233"/>
                          </a:solidFill>
                          <a:latin typeface="メイリオ"/>
                          <a:ea typeface="メイリオ"/>
                          <a:cs typeface="メイリオ"/>
                        </a:rPr>
                        <a:t>入試方式を調べる</a:t>
                      </a:r>
                    </a:p>
                  </a:txBody>
                  <a:tcPr anchor="ctr">
                    <a:solidFill>
                      <a:srgbClr val="F4F7FF"/>
                    </a:solidFill>
                  </a:tcPr>
                </a:tc>
                <a:tc>
                  <a:txBody>
                    <a:bodyPr/>
                    <a:lstStyle/>
                    <a:p>
                      <a:pPr algn="l"/>
                      <a:r>
                        <a:rPr sz="1100">
                          <a:solidFill>
                            <a:srgbClr val="1C2233"/>
                          </a:solidFill>
                          <a:latin typeface="メイリオ"/>
                          <a:ea typeface="メイリオ"/>
                          <a:cs typeface="メイリオ"/>
                        </a:rPr>
                        <a:t>保護者向け説明会</a:t>
                      </a:r>
                    </a:p>
                  </a:txBody>
                  <a:tcPr anchor="ctr">
                    <a:solidFill>
                      <a:srgbClr val="F4F7FF"/>
                    </a:solidFill>
                  </a:tcPr>
                </a:tc>
                <a:extLst>
                  <a:ext uri="{0D108BD9-81ED-4DB2-BD59-A6C34878D82A}">
                    <a16:rowId xmlns:a16="http://schemas.microsoft.com/office/drawing/2014/main" val="10004"/>
                  </a:ext>
                </a:extLst>
              </a:tr>
              <a:tr h="522000">
                <a:tc>
                  <a:txBody>
                    <a:bodyPr/>
                    <a:lstStyle/>
                    <a:p>
                      <a:pPr algn="ctr"/>
                      <a:r>
                        <a:rPr sz="1100">
                          <a:solidFill>
                            <a:srgbClr val="1C2233"/>
                          </a:solidFill>
                          <a:latin typeface="メイリオ"/>
                          <a:ea typeface="メイリオ"/>
                          <a:cs typeface="メイリオ"/>
                        </a:rPr>
                        <a:t>左下</a:t>
                      </a:r>
                    </a:p>
                  </a:txBody>
                  <a:tcPr anchor="ctr">
                    <a:solidFill>
                      <a:srgbClr val="FFFFFF"/>
                    </a:solidFill>
                  </a:tcPr>
                </a:tc>
                <a:tc>
                  <a:txBody>
                    <a:bodyPr/>
                    <a:lstStyle/>
                    <a:p>
                      <a:pPr algn="l"/>
                      <a:r>
                        <a:rPr sz="1100">
                          <a:solidFill>
                            <a:srgbClr val="1C2233"/>
                          </a:solidFill>
                          <a:latin typeface="メイリオ"/>
                          <a:ea typeface="メイリオ"/>
                          <a:cs typeface="メイリオ"/>
                        </a:rPr>
                        <a:t>まだ決まっていない人へ</a:t>
                      </a:r>
                    </a:p>
                  </a:txBody>
                  <a:tcPr anchor="ctr">
                    <a:solidFill>
                      <a:srgbClr val="FFFFFF"/>
                    </a:solidFill>
                  </a:tcPr>
                </a:tc>
                <a:tc>
                  <a:txBody>
                    <a:bodyPr/>
                    <a:lstStyle/>
                    <a:p>
                      <a:pPr algn="l"/>
                      <a:r>
                        <a:rPr sz="1100">
                          <a:solidFill>
                            <a:srgbClr val="1C2233"/>
                          </a:solidFill>
                          <a:latin typeface="メイリオ"/>
                          <a:ea typeface="メイリオ"/>
                          <a:cs typeface="メイリオ"/>
                        </a:rPr>
                        <a:t>出願スケジュール</a:t>
                      </a:r>
                    </a:p>
                  </a:txBody>
                  <a:tcPr anchor="ctr">
                    <a:solidFill>
                      <a:srgbClr val="FFFFFF"/>
                    </a:solidFill>
                  </a:tcPr>
                </a:tc>
                <a:tc>
                  <a:txBody>
                    <a:bodyPr/>
                    <a:lstStyle/>
                    <a:p>
                      <a:pPr algn="l"/>
                      <a:r>
                        <a:rPr sz="1100">
                          <a:solidFill>
                            <a:srgbClr val="1C2233"/>
                          </a:solidFill>
                          <a:latin typeface="メイリオ"/>
                          <a:ea typeface="メイリオ"/>
                          <a:cs typeface="メイリオ"/>
                        </a:rPr>
                        <a:t>一人暮らしの費用の目安</a:t>
                      </a:r>
                    </a:p>
                  </a:txBody>
                  <a:tcPr anchor="ctr">
                    <a:solidFill>
                      <a:srgbClr val="FFFFFF"/>
                    </a:solidFill>
                  </a:tcPr>
                </a:tc>
                <a:extLst>
                  <a:ext uri="{0D108BD9-81ED-4DB2-BD59-A6C34878D82A}">
                    <a16:rowId xmlns:a16="http://schemas.microsoft.com/office/drawing/2014/main" val="10005"/>
                  </a:ext>
                </a:extLst>
              </a:tr>
              <a:tr h="522000">
                <a:tc>
                  <a:txBody>
                    <a:bodyPr/>
                    <a:lstStyle/>
                    <a:p>
                      <a:pPr algn="ctr"/>
                      <a:r>
                        <a:rPr sz="1100">
                          <a:solidFill>
                            <a:srgbClr val="1C2233"/>
                          </a:solidFill>
                          <a:latin typeface="メイリオ"/>
                          <a:ea typeface="メイリオ"/>
                          <a:cs typeface="メイリオ"/>
                        </a:rPr>
                        <a:t>右下</a:t>
                      </a:r>
                    </a:p>
                  </a:txBody>
                  <a:tcPr anchor="ctr">
                    <a:solidFill>
                      <a:srgbClr val="F4F7FF"/>
                    </a:solidFill>
                  </a:tcPr>
                </a:tc>
                <a:tc>
                  <a:txBody>
                    <a:bodyPr/>
                    <a:lstStyle/>
                    <a:p>
                      <a:pPr algn="l"/>
                      <a:r>
                        <a:rPr sz="1100">
                          <a:solidFill>
                            <a:srgbClr val="1C2233"/>
                          </a:solidFill>
                          <a:latin typeface="メイリオ"/>
                          <a:ea typeface="メイリオ"/>
                          <a:cs typeface="メイリオ"/>
                        </a:rPr>
                        <a:t>在学生に質問する</a:t>
                      </a:r>
                    </a:p>
                  </a:txBody>
                  <a:tcPr anchor="ctr">
                    <a:solidFill>
                      <a:srgbClr val="F4F7FF"/>
                    </a:solidFill>
                  </a:tcPr>
                </a:tc>
                <a:tc>
                  <a:txBody>
                    <a:bodyPr/>
                    <a:lstStyle/>
                    <a:p>
                      <a:pPr algn="l"/>
                      <a:r>
                        <a:rPr sz="1100">
                          <a:solidFill>
                            <a:srgbClr val="1C2233"/>
                          </a:solidFill>
                          <a:latin typeface="メイリオ"/>
                          <a:ea typeface="メイリオ"/>
                          <a:cs typeface="メイリオ"/>
                        </a:rPr>
                        <a:t>過去問・入試説明会</a:t>
                      </a:r>
                    </a:p>
                  </a:txBody>
                  <a:tcPr anchor="ctr">
                    <a:solidFill>
                      <a:srgbClr val="F4F7FF"/>
                    </a:solidFill>
                  </a:tcPr>
                </a:tc>
                <a:tc>
                  <a:txBody>
                    <a:bodyPr/>
                    <a:lstStyle/>
                    <a:p>
                      <a:pPr algn="l"/>
                      <a:r>
                        <a:rPr sz="1100">
                          <a:solidFill>
                            <a:srgbClr val="1C2233"/>
                          </a:solidFill>
                          <a:latin typeface="メイリオ"/>
                          <a:ea typeface="メイリオ"/>
                          <a:cs typeface="メイリオ"/>
                        </a:rPr>
                        <a:t>個別相談を申し込む</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396000" y="4824000"/>
            <a:ext cx="2951999" cy="118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決めていない子の逃げ道を2つ</a:t>
            </a:r>
          </a:p>
          <a:p>
            <a:pPr algn="l">
              <a:lnSpc>
                <a:spcPct val="120000"/>
              </a:lnSpc>
              <a:spcAft>
                <a:spcPts val="200"/>
              </a:spcAft>
            </a:pPr>
            <a:r>
              <a:rPr sz="1100">
                <a:solidFill>
                  <a:srgbClr val="1C2233"/>
                </a:solidFill>
                <a:latin typeface="メイリオ"/>
                <a:ea typeface="メイリオ"/>
                <a:cs typeface="メイリオ"/>
              </a:rPr>
              <a:t>「30秒 学部学科診断」と「まだ決まっていない人へ」。</a:t>
            </a:r>
          </a:p>
          <a:p>
            <a:pPr algn="l">
              <a:lnSpc>
                <a:spcPct val="120000"/>
              </a:lnSpc>
              <a:spcAft>
                <a:spcPts val="200"/>
              </a:spcAft>
            </a:pPr>
            <a:r>
              <a:rPr sz="1100">
                <a:solidFill>
                  <a:srgbClr val="1C2233"/>
                </a:solidFill>
                <a:latin typeface="メイリオ"/>
                <a:ea typeface="メイリオ"/>
                <a:cs typeface="メイリオ"/>
              </a:rPr>
              <a:t>学部が決まっていない子は資料請求を押せない。</a:t>
            </a:r>
          </a:p>
        </p:txBody>
      </p:sp>
      <p:sp>
        <p:nvSpPr>
          <p:cNvPr id="6" name="Rounded Rectangle 5"/>
          <p:cNvSpPr/>
          <p:nvPr/>
        </p:nvSpPr>
        <p:spPr>
          <a:xfrm>
            <a:off x="3491999" y="4824000"/>
            <a:ext cx="2951999" cy="118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タブ③は「払う人」専用</a:t>
            </a:r>
          </a:p>
          <a:p>
            <a:pPr algn="l">
              <a:lnSpc>
                <a:spcPct val="120000"/>
              </a:lnSpc>
              <a:spcAft>
                <a:spcPts val="200"/>
              </a:spcAft>
            </a:pPr>
            <a:r>
              <a:rPr sz="1100">
                <a:solidFill>
                  <a:srgbClr val="1C2233"/>
                </a:solidFill>
                <a:latin typeface="メイリオ"/>
                <a:ea typeface="メイリオ"/>
                <a:cs typeface="メイリオ"/>
              </a:rPr>
              <a:t>決める人（高校生）と払う人（保護者）が違う業界。</a:t>
            </a:r>
          </a:p>
          <a:p>
            <a:pPr algn="l">
              <a:lnSpc>
                <a:spcPct val="120000"/>
              </a:lnSpc>
              <a:spcAft>
                <a:spcPts val="200"/>
              </a:spcAft>
            </a:pPr>
            <a:r>
              <a:rPr sz="1100">
                <a:solidFill>
                  <a:srgbClr val="1C2233"/>
                </a:solidFill>
                <a:latin typeface="メイリオ"/>
                <a:ea typeface="メイリオ"/>
                <a:cs typeface="メイリオ"/>
              </a:rPr>
              <a:t>保護者が一番知りたい総額を、左上に置く。</a:t>
            </a:r>
          </a:p>
        </p:txBody>
      </p:sp>
      <p:sp>
        <p:nvSpPr>
          <p:cNvPr id="7" name="Rounded Rectangle 6"/>
          <p:cNvSpPr/>
          <p:nvPr/>
        </p:nvSpPr>
        <p:spPr>
          <a:xfrm>
            <a:off x="6588000" y="4824000"/>
            <a:ext cx="2951999" cy="118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年3回、差し替える前提</a:t>
            </a:r>
          </a:p>
          <a:p>
            <a:pPr algn="l">
              <a:lnSpc>
                <a:spcPct val="120000"/>
              </a:lnSpc>
              <a:spcAft>
                <a:spcPts val="200"/>
              </a:spcAft>
            </a:pPr>
            <a:r>
              <a:rPr sz="1100">
                <a:solidFill>
                  <a:srgbClr val="1C2233"/>
                </a:solidFill>
                <a:latin typeface="メイリオ"/>
                <a:ea typeface="メイリオ"/>
                <a:cs typeface="メイリオ"/>
              </a:rPr>
              <a:t>OC期（6〜8月）はタブ②を、出願期（9〜11月）は</a:t>
            </a:r>
          </a:p>
          <a:p>
            <a:pPr algn="l">
              <a:lnSpc>
                <a:spcPct val="120000"/>
              </a:lnSpc>
              <a:spcAft>
                <a:spcPts val="200"/>
              </a:spcAft>
            </a:pPr>
            <a:r>
              <a:rPr sz="1100">
                <a:solidFill>
                  <a:srgbClr val="1C2233"/>
                </a:solidFill>
                <a:latin typeface="メイリオ"/>
                <a:ea typeface="メイリオ"/>
                <a:cs typeface="メイリオ"/>
              </a:rPr>
              <a:t>出願スケジュールをデフォルト表示に切り替える。</a:t>
            </a:r>
          </a:p>
        </p:txBody>
      </p:sp>
    </p:spTree>
    <p:extLst>
      <p:ext uri="{BB962C8B-B14F-4D97-AF65-F5344CB8AC3E}">
        <p14:creationId xmlns:p14="http://schemas.microsoft.com/office/powerpoint/2010/main" val="82790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リッチメニュー実装イメージ｜3タブの実物</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同じLINEでも、受験生・入試期・保護者で見える画面が切り替わる。</a:t>
            </a:r>
          </a:p>
        </p:txBody>
      </p:sp>
      <p:sp>
        <p:nvSpPr>
          <p:cNvPr id="4" name="Rounded Rectangle 3"/>
          <p:cNvSpPr/>
          <p:nvPr/>
        </p:nvSpPr>
        <p:spPr>
          <a:xfrm>
            <a:off x="396000"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① 受験生</a:t>
            </a:r>
          </a:p>
        </p:txBody>
      </p:sp>
      <p:sp>
        <p:nvSpPr>
          <p:cNvPr id="5" name="Rounded Rectangle 4"/>
          <p:cNvSpPr/>
          <p:nvPr/>
        </p:nvSpPr>
        <p:spPr>
          <a:xfrm>
            <a:off x="396000"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1200"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7" name="Rectangle 6"/>
          <p:cNvSpPr/>
          <p:nvPr/>
        </p:nvSpPr>
        <p:spPr>
          <a:xfrm>
            <a:off x="13884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8" name="Rectangle 7"/>
          <p:cNvSpPr/>
          <p:nvPr/>
        </p:nvSpPr>
        <p:spPr>
          <a:xfrm>
            <a:off x="2355599"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9" name="Rounded Rectangle 8"/>
          <p:cNvSpPr/>
          <p:nvPr/>
        </p:nvSpPr>
        <p:spPr>
          <a:xfrm>
            <a:off x="421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30秒</a:t>
            </a:r>
          </a:p>
          <a:p>
            <a:pPr algn="ctr">
              <a:lnSpc>
                <a:spcPct val="110000"/>
              </a:lnSpc>
            </a:pPr>
            <a:r>
              <a:rPr sz="850" b="1">
                <a:solidFill>
                  <a:srgbClr val="ED7D31"/>
                </a:solidFill>
                <a:latin typeface="メイリオ"/>
                <a:ea typeface="メイリオ"/>
                <a:cs typeface="メイリオ"/>
              </a:rPr>
              <a:t>学部学科診断</a:t>
            </a:r>
          </a:p>
        </p:txBody>
      </p:sp>
      <p:sp>
        <p:nvSpPr>
          <p:cNvPr id="10" name="Rounded Rectangle 9"/>
          <p:cNvSpPr/>
          <p:nvPr/>
        </p:nvSpPr>
        <p:spPr>
          <a:xfrm>
            <a:off x="13968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オープン</a:t>
            </a:r>
          </a:p>
          <a:p>
            <a:pPr algn="ctr">
              <a:lnSpc>
                <a:spcPct val="110000"/>
              </a:lnSpc>
            </a:pPr>
            <a:r>
              <a:rPr sz="850" b="1">
                <a:solidFill>
                  <a:srgbClr val="1F285A"/>
                </a:solidFill>
                <a:latin typeface="メイリオ"/>
                <a:ea typeface="メイリオ"/>
                <a:cs typeface="メイリオ"/>
              </a:rPr>
              <a:t>キャンパス予約</a:t>
            </a:r>
          </a:p>
        </p:txBody>
      </p:sp>
      <p:sp>
        <p:nvSpPr>
          <p:cNvPr id="11" name="Rounded Rectangle 10"/>
          <p:cNvSpPr/>
          <p:nvPr/>
        </p:nvSpPr>
        <p:spPr>
          <a:xfrm>
            <a:off x="23723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学部・学科を見る</a:t>
            </a:r>
          </a:p>
        </p:txBody>
      </p:sp>
      <p:sp>
        <p:nvSpPr>
          <p:cNvPr id="12" name="Rounded Rectangle 11"/>
          <p:cNvSpPr/>
          <p:nvPr/>
        </p:nvSpPr>
        <p:spPr>
          <a:xfrm>
            <a:off x="421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資料（デジタル</a:t>
            </a:r>
          </a:p>
          <a:p>
            <a:pPr algn="ctr">
              <a:lnSpc>
                <a:spcPct val="110000"/>
              </a:lnSpc>
            </a:pPr>
            <a:r>
              <a:rPr sz="850" b="1">
                <a:solidFill>
                  <a:srgbClr val="1F285A"/>
                </a:solidFill>
                <a:latin typeface="メイリオ"/>
                <a:ea typeface="メイリオ"/>
                <a:cs typeface="メイリオ"/>
              </a:rPr>
              <a:t>パンフ）をもらう</a:t>
            </a:r>
          </a:p>
        </p:txBody>
      </p:sp>
      <p:sp>
        <p:nvSpPr>
          <p:cNvPr id="13" name="Rounded Rectangle 12"/>
          <p:cNvSpPr/>
          <p:nvPr/>
        </p:nvSpPr>
        <p:spPr>
          <a:xfrm>
            <a:off x="13968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まだ決まって</a:t>
            </a:r>
          </a:p>
          <a:p>
            <a:pPr algn="ctr">
              <a:lnSpc>
                <a:spcPct val="110000"/>
              </a:lnSpc>
            </a:pPr>
            <a:r>
              <a:rPr sz="850" b="1">
                <a:solidFill>
                  <a:srgbClr val="1F285A"/>
                </a:solidFill>
                <a:latin typeface="メイリオ"/>
                <a:ea typeface="メイリオ"/>
                <a:cs typeface="メイリオ"/>
              </a:rPr>
              <a:t>いない人へ</a:t>
            </a:r>
          </a:p>
        </p:txBody>
      </p:sp>
      <p:sp>
        <p:nvSpPr>
          <p:cNvPr id="14" name="Rounded Rectangle 13"/>
          <p:cNvSpPr/>
          <p:nvPr/>
        </p:nvSpPr>
        <p:spPr>
          <a:xfrm>
            <a:off x="23723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在学生に質問する</a:t>
            </a:r>
          </a:p>
        </p:txBody>
      </p:sp>
      <p:sp>
        <p:nvSpPr>
          <p:cNvPr id="15" name="Rounded Rectangle 14"/>
          <p:cNvSpPr/>
          <p:nvPr/>
        </p:nvSpPr>
        <p:spPr>
          <a:xfrm>
            <a:off x="396000"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受験生のデフォルト表示</a:t>
            </a:r>
          </a:p>
        </p:txBody>
      </p:sp>
      <p:sp>
        <p:nvSpPr>
          <p:cNvPr id="16" name="Rounded Rectangle 15"/>
          <p:cNvSpPr/>
          <p:nvPr/>
        </p:nvSpPr>
        <p:spPr>
          <a:xfrm>
            <a:off x="3491999"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② OC・入試</a:t>
            </a:r>
          </a:p>
        </p:txBody>
      </p:sp>
      <p:sp>
        <p:nvSpPr>
          <p:cNvPr id="17" name="Rounded Rectangle 16"/>
          <p:cNvSpPr/>
          <p:nvPr/>
        </p:nvSpPr>
        <p:spPr>
          <a:xfrm>
            <a:off x="3491999"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5172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19" name="Rectangle 18"/>
          <p:cNvSpPr/>
          <p:nvPr/>
        </p:nvSpPr>
        <p:spPr>
          <a:xfrm>
            <a:off x="4484399"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20" name="Rectangle 19"/>
          <p:cNvSpPr/>
          <p:nvPr/>
        </p:nvSpPr>
        <p:spPr>
          <a:xfrm>
            <a:off x="5451599"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21" name="Rounded Rectangle 20"/>
          <p:cNvSpPr/>
          <p:nvPr/>
        </p:nvSpPr>
        <p:spPr>
          <a:xfrm>
            <a:off x="3517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次回OCの</a:t>
            </a:r>
          </a:p>
          <a:p>
            <a:pPr algn="ctr">
              <a:lnSpc>
                <a:spcPct val="110000"/>
              </a:lnSpc>
            </a:pPr>
            <a:r>
              <a:rPr sz="850" b="1">
                <a:solidFill>
                  <a:srgbClr val="ED7D31"/>
                </a:solidFill>
                <a:latin typeface="メイリオ"/>
                <a:ea typeface="メイリオ"/>
                <a:cs typeface="メイリオ"/>
              </a:rPr>
              <a:t>日程・予約</a:t>
            </a:r>
          </a:p>
        </p:txBody>
      </p:sp>
      <p:sp>
        <p:nvSpPr>
          <p:cNvPr id="22" name="Rounded Rectangle 21"/>
          <p:cNvSpPr/>
          <p:nvPr/>
        </p:nvSpPr>
        <p:spPr>
          <a:xfrm>
            <a:off x="44927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当日の流れ・</a:t>
            </a:r>
          </a:p>
          <a:p>
            <a:pPr algn="ctr">
              <a:lnSpc>
                <a:spcPct val="110000"/>
              </a:lnSpc>
            </a:pPr>
            <a:r>
              <a:rPr sz="850" b="1">
                <a:solidFill>
                  <a:srgbClr val="1F285A"/>
                </a:solidFill>
                <a:latin typeface="メイリオ"/>
                <a:ea typeface="メイリオ"/>
                <a:cs typeface="メイリオ"/>
              </a:rPr>
              <a:t>持ち物</a:t>
            </a:r>
          </a:p>
        </p:txBody>
      </p:sp>
      <p:sp>
        <p:nvSpPr>
          <p:cNvPr id="23" name="Rounded Rectangle 22"/>
          <p:cNvSpPr/>
          <p:nvPr/>
        </p:nvSpPr>
        <p:spPr>
          <a:xfrm>
            <a:off x="54683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アクセス・</a:t>
            </a:r>
          </a:p>
          <a:p>
            <a:pPr algn="ctr">
              <a:lnSpc>
                <a:spcPct val="110000"/>
              </a:lnSpc>
            </a:pPr>
            <a:r>
              <a:rPr sz="850" b="1">
                <a:solidFill>
                  <a:srgbClr val="1F285A"/>
                </a:solidFill>
                <a:latin typeface="メイリオ"/>
                <a:ea typeface="メイリオ"/>
                <a:cs typeface="メイリオ"/>
              </a:rPr>
              <a:t>キャンパスマップ</a:t>
            </a:r>
          </a:p>
        </p:txBody>
      </p:sp>
      <p:sp>
        <p:nvSpPr>
          <p:cNvPr id="24" name="Rounded Rectangle 23"/>
          <p:cNvSpPr/>
          <p:nvPr/>
        </p:nvSpPr>
        <p:spPr>
          <a:xfrm>
            <a:off x="3517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入試方式を調べる</a:t>
            </a:r>
          </a:p>
        </p:txBody>
      </p:sp>
      <p:sp>
        <p:nvSpPr>
          <p:cNvPr id="25" name="Rounded Rectangle 24"/>
          <p:cNvSpPr/>
          <p:nvPr/>
        </p:nvSpPr>
        <p:spPr>
          <a:xfrm>
            <a:off x="44927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出願スケジュール</a:t>
            </a:r>
          </a:p>
        </p:txBody>
      </p:sp>
      <p:sp>
        <p:nvSpPr>
          <p:cNvPr id="26" name="Rounded Rectangle 25"/>
          <p:cNvSpPr/>
          <p:nvPr/>
        </p:nvSpPr>
        <p:spPr>
          <a:xfrm>
            <a:off x="54683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過去問・</a:t>
            </a:r>
          </a:p>
          <a:p>
            <a:pPr algn="ctr">
              <a:lnSpc>
                <a:spcPct val="110000"/>
              </a:lnSpc>
            </a:pPr>
            <a:r>
              <a:rPr sz="850" b="1">
                <a:solidFill>
                  <a:srgbClr val="1F285A"/>
                </a:solidFill>
                <a:latin typeface="メイリオ"/>
                <a:ea typeface="メイリオ"/>
                <a:cs typeface="メイリオ"/>
              </a:rPr>
              <a:t>入試説明会</a:t>
            </a:r>
          </a:p>
        </p:txBody>
      </p:sp>
      <p:sp>
        <p:nvSpPr>
          <p:cNvPr id="27" name="Rounded Rectangle 26"/>
          <p:cNvSpPr/>
          <p:nvPr/>
        </p:nvSpPr>
        <p:spPr>
          <a:xfrm>
            <a:off x="3491999"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OC期（6〜8月）に切替</a:t>
            </a:r>
          </a:p>
        </p:txBody>
      </p:sp>
      <p:sp>
        <p:nvSpPr>
          <p:cNvPr id="28" name="Rounded Rectangle 27"/>
          <p:cNvSpPr/>
          <p:nvPr/>
        </p:nvSpPr>
        <p:spPr>
          <a:xfrm>
            <a:off x="6588000"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③ 保護者の方へ</a:t>
            </a:r>
          </a:p>
        </p:txBody>
      </p:sp>
      <p:sp>
        <p:nvSpPr>
          <p:cNvPr id="29" name="Rounded Rectangle 28"/>
          <p:cNvSpPr/>
          <p:nvPr/>
        </p:nvSpPr>
        <p:spPr>
          <a:xfrm>
            <a:off x="6588000"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6132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31" name="Rectangle 30"/>
          <p:cNvSpPr/>
          <p:nvPr/>
        </p:nvSpPr>
        <p:spPr>
          <a:xfrm>
            <a:off x="75804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32" name="Rectangle 31"/>
          <p:cNvSpPr/>
          <p:nvPr/>
        </p:nvSpPr>
        <p:spPr>
          <a:xfrm>
            <a:off x="8547600"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33" name="Rounded Rectangle 32"/>
          <p:cNvSpPr/>
          <p:nvPr/>
        </p:nvSpPr>
        <p:spPr>
          <a:xfrm>
            <a:off x="6613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4年間の学費</a:t>
            </a:r>
          </a:p>
          <a:p>
            <a:pPr algn="ctr">
              <a:lnSpc>
                <a:spcPct val="110000"/>
              </a:lnSpc>
            </a:pPr>
            <a:r>
              <a:rPr sz="850" b="1">
                <a:solidFill>
                  <a:srgbClr val="ED7D31"/>
                </a:solidFill>
                <a:latin typeface="メイリオ"/>
                <a:ea typeface="メイリオ"/>
                <a:cs typeface="メイリオ"/>
              </a:rPr>
              <a:t>シミュレーション</a:t>
            </a:r>
          </a:p>
        </p:txBody>
      </p:sp>
      <p:sp>
        <p:nvSpPr>
          <p:cNvPr id="34" name="Rounded Rectangle 33"/>
          <p:cNvSpPr/>
          <p:nvPr/>
        </p:nvSpPr>
        <p:spPr>
          <a:xfrm>
            <a:off x="75888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奨学金・</a:t>
            </a:r>
          </a:p>
          <a:p>
            <a:pPr algn="ctr">
              <a:lnSpc>
                <a:spcPct val="110000"/>
              </a:lnSpc>
            </a:pPr>
            <a:r>
              <a:rPr sz="850" b="1">
                <a:solidFill>
                  <a:srgbClr val="1F285A"/>
                </a:solidFill>
                <a:latin typeface="メイリオ"/>
                <a:ea typeface="メイリオ"/>
                <a:cs typeface="メイリオ"/>
              </a:rPr>
              <a:t>学費支援制度</a:t>
            </a:r>
          </a:p>
        </p:txBody>
      </p:sp>
      <p:sp>
        <p:nvSpPr>
          <p:cNvPr id="35" name="Rounded Rectangle 34"/>
          <p:cNvSpPr/>
          <p:nvPr/>
        </p:nvSpPr>
        <p:spPr>
          <a:xfrm>
            <a:off x="85644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就職実績・</a:t>
            </a:r>
          </a:p>
          <a:p>
            <a:pPr algn="ctr">
              <a:lnSpc>
                <a:spcPct val="110000"/>
              </a:lnSpc>
            </a:pPr>
            <a:r>
              <a:rPr sz="850" b="1">
                <a:solidFill>
                  <a:srgbClr val="1F285A"/>
                </a:solidFill>
                <a:latin typeface="メイリオ"/>
                <a:ea typeface="メイリオ"/>
                <a:cs typeface="メイリオ"/>
              </a:rPr>
              <a:t>進路データ</a:t>
            </a:r>
          </a:p>
        </p:txBody>
      </p:sp>
      <p:sp>
        <p:nvSpPr>
          <p:cNvPr id="36" name="Rounded Rectangle 35"/>
          <p:cNvSpPr/>
          <p:nvPr/>
        </p:nvSpPr>
        <p:spPr>
          <a:xfrm>
            <a:off x="6613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保護者向け説明会</a:t>
            </a:r>
          </a:p>
        </p:txBody>
      </p:sp>
      <p:sp>
        <p:nvSpPr>
          <p:cNvPr id="37" name="Rounded Rectangle 36"/>
          <p:cNvSpPr/>
          <p:nvPr/>
        </p:nvSpPr>
        <p:spPr>
          <a:xfrm>
            <a:off x="75888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一人暮らしの</a:t>
            </a:r>
          </a:p>
          <a:p>
            <a:pPr algn="ctr">
              <a:lnSpc>
                <a:spcPct val="110000"/>
              </a:lnSpc>
            </a:pPr>
            <a:r>
              <a:rPr sz="850" b="1">
                <a:solidFill>
                  <a:srgbClr val="1F285A"/>
                </a:solidFill>
                <a:latin typeface="メイリオ"/>
                <a:ea typeface="メイリオ"/>
                <a:cs typeface="メイリオ"/>
              </a:rPr>
              <a:t>費用の目安</a:t>
            </a:r>
          </a:p>
        </p:txBody>
      </p:sp>
      <p:sp>
        <p:nvSpPr>
          <p:cNvPr id="38" name="Rounded Rectangle 37"/>
          <p:cNvSpPr/>
          <p:nvPr/>
        </p:nvSpPr>
        <p:spPr>
          <a:xfrm>
            <a:off x="85644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個別相談を</a:t>
            </a:r>
          </a:p>
          <a:p>
            <a:pPr algn="ctr">
              <a:lnSpc>
                <a:spcPct val="110000"/>
              </a:lnSpc>
            </a:pPr>
            <a:r>
              <a:rPr sz="850" b="1">
                <a:solidFill>
                  <a:srgbClr val="1F285A"/>
                </a:solidFill>
                <a:latin typeface="メイリオ"/>
                <a:ea typeface="メイリオ"/>
                <a:cs typeface="メイリオ"/>
              </a:rPr>
              <a:t>申し込む</a:t>
            </a:r>
          </a:p>
        </p:txBody>
      </p:sp>
      <p:sp>
        <p:nvSpPr>
          <p:cNvPr id="39" name="Rounded Rectangle 38"/>
          <p:cNvSpPr/>
          <p:nvPr/>
        </p:nvSpPr>
        <p:spPr>
          <a:xfrm>
            <a:off x="6588000"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保護者タブ（常設）</a:t>
            </a:r>
          </a:p>
        </p:txBody>
      </p:sp>
      <p:sp>
        <p:nvSpPr>
          <p:cNvPr id="40" name="Rectangle 39"/>
          <p:cNvSpPr/>
          <p:nvPr/>
        </p:nvSpPr>
        <p:spPr>
          <a:xfrm>
            <a:off x="396000" y="4680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32000" y="4680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76000" y="4759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大サイズ 2500×1686px／3列×2行（1マス 833×843px）。学年・志望度タグで自動切替。</a:t>
            </a:r>
          </a:p>
        </p:txBody>
      </p:sp>
      <p:sp>
        <p:nvSpPr>
          <p:cNvPr id="43" name="TextBox 42"/>
          <p:cNvSpPr txBox="1"/>
          <p:nvPr/>
        </p:nvSpPr>
        <p:spPr>
          <a:xfrm>
            <a:off x="396000" y="5292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画像はイメージです。実装時はキャンパス写真・スクールカラー・アイコンを貴学仕様に差し替えます。</a:t>
            </a:r>
          </a:p>
          <a:p>
            <a:pPr algn="l">
              <a:lnSpc>
                <a:spcPct val="120000"/>
              </a:lnSpc>
            </a:pPr>
            <a:r>
              <a:rPr sz="900">
                <a:solidFill>
                  <a:srgbClr val="646C82"/>
                </a:solidFill>
                <a:latin typeface="メイリオ"/>
                <a:ea typeface="メイリオ"/>
                <a:cs typeface="メイリオ"/>
              </a:rPr>
              <a:t>※ 左上（オレンジ）が最重要CTA。親指が最初に届く位置に「まだ決めていない人が押せるもの」を置く。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トーク画面設計案｜あいさつメッセージと30秒 学部学科診断</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1通目で資料請求は求めない。求めるのは診断への回答だけ。</a:t>
            </a:r>
          </a:p>
          <a:p>
            <a:pPr algn="l">
              <a:lnSpc>
                <a:spcPct val="122000"/>
              </a:lnSpc>
            </a:pPr>
            <a:r>
              <a:rPr sz="1500">
                <a:solidFill>
                  <a:srgbClr val="646C82"/>
                </a:solidFill>
                <a:latin typeface="メイリオ"/>
                <a:ea typeface="メイリオ"/>
                <a:cs typeface="メイリオ"/>
              </a:rPr>
              <a:t>設問は、そのまま配信セグメントになるものだけにする。</a:t>
            </a:r>
          </a:p>
        </p:txBody>
      </p:sp>
      <p:sp>
        <p:nvSpPr>
          <p:cNvPr id="4" name="Rounded Rectangle 3"/>
          <p:cNvSpPr/>
          <p:nvPr/>
        </p:nvSpPr>
        <p:spPr>
          <a:xfrm>
            <a:off x="396000" y="1223999"/>
            <a:ext cx="4464000" cy="3562217"/>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08000" tIns="86400" rIns="86400" bIns="57600" rtlCol="0" anchor="t"/>
          <a:lstStyle/>
          <a:p>
            <a:pPr algn="l">
              <a:spcAft>
                <a:spcPts val="600"/>
              </a:spcAft>
            </a:pPr>
            <a:r>
              <a:rPr sz="1200" b="1" dirty="0">
                <a:solidFill>
                  <a:srgbClr val="1F285A"/>
                </a:solidFill>
                <a:latin typeface="メイリオ"/>
                <a:ea typeface="メイリオ"/>
                <a:cs typeface="メイリオ"/>
              </a:rPr>
              <a:t>■ </a:t>
            </a:r>
            <a:r>
              <a:rPr sz="1200" b="1" dirty="0" err="1">
                <a:solidFill>
                  <a:srgbClr val="1F285A"/>
                </a:solidFill>
                <a:latin typeface="メイリオ"/>
                <a:ea typeface="メイリオ"/>
                <a:cs typeface="メイリオ"/>
              </a:rPr>
              <a:t>友だち追加直後のあいさつメッセージ（自動</a:t>
            </a:r>
            <a:r>
              <a:rPr sz="1200" b="1" dirty="0">
                <a:solidFill>
                  <a:srgbClr val="1F285A"/>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大学</a:t>
            </a: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受験生応援アカウントへ</a:t>
            </a:r>
            <a:endParaRPr sz="1100" dirty="0">
              <a:solidFill>
                <a:srgbClr val="1C2233"/>
              </a:solidFill>
              <a:latin typeface="メイリオ"/>
              <a:ea typeface="メイリオ"/>
              <a:cs typeface="メイリオ"/>
            </a:endParaRPr>
          </a:p>
          <a:p>
            <a:pPr algn="l">
              <a:lnSpc>
                <a:spcPct val="134000"/>
              </a:lnSpc>
              <a:spcAft>
                <a:spcPts val="100"/>
              </a:spcAft>
            </a:pPr>
            <a:r>
              <a:rPr sz="1100" dirty="0" err="1">
                <a:solidFill>
                  <a:srgbClr val="1C2233"/>
                </a:solidFill>
                <a:latin typeface="メイリオ"/>
                <a:ea typeface="メイリオ"/>
                <a:cs typeface="メイリオ"/>
              </a:rPr>
              <a:t>友だち追加ありがとうございます</a:t>
            </a:r>
            <a:r>
              <a:rPr sz="1100" dirty="0">
                <a:solidFill>
                  <a:srgbClr val="1C2233"/>
                </a:solidFill>
                <a:latin typeface="メイリオ"/>
                <a:ea typeface="メイリオ"/>
                <a:cs typeface="メイリオ"/>
              </a:rPr>
              <a:t>🌸</a:t>
            </a: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err="1">
                <a:solidFill>
                  <a:srgbClr val="1C2233"/>
                </a:solidFill>
                <a:latin typeface="メイリオ"/>
                <a:ea typeface="メイリオ"/>
                <a:cs typeface="メイリオ"/>
              </a:rPr>
              <a:t>入試広報課の</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担当者名</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です</a:t>
            </a:r>
            <a:r>
              <a:rPr sz="1100" dirty="0">
                <a:solidFill>
                  <a:srgbClr val="1C2233"/>
                </a:solidFill>
                <a:latin typeface="メイリオ"/>
                <a:ea typeface="メイリオ"/>
                <a:cs typeface="メイリオ"/>
              </a:rPr>
              <a:t>。</a:t>
            </a:r>
          </a:p>
          <a:p>
            <a:pPr algn="l">
              <a:lnSpc>
                <a:spcPct val="134000"/>
              </a:lnSpc>
              <a:spcAft>
                <a:spcPts val="100"/>
              </a:spcAft>
            </a:pPr>
            <a:r>
              <a:rPr sz="1100" dirty="0" err="1">
                <a:solidFill>
                  <a:srgbClr val="1C2233"/>
                </a:solidFill>
                <a:latin typeface="メイリオ"/>
                <a:ea typeface="メイリオ"/>
                <a:cs typeface="メイリオ"/>
              </a:rPr>
              <a:t>進路のこと、気軽に相談してください</a:t>
            </a:r>
            <a:r>
              <a:rPr sz="1100" dirty="0">
                <a:solidFill>
                  <a:srgbClr val="1C2233"/>
                </a:solidFill>
                <a:latin typeface="メイリオ"/>
                <a:ea typeface="メイリオ"/>
                <a:cs typeface="メイリオ"/>
              </a:rPr>
              <a:t>。</a:t>
            </a: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このアカウントについて</a:t>
            </a: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こちらから確認のお電話をすることはありません</a:t>
            </a: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有人でのご返信：平日</a:t>
            </a:r>
            <a:r>
              <a:rPr sz="1100" dirty="0">
                <a:solidFill>
                  <a:srgbClr val="1C2233"/>
                </a:solidFill>
                <a:latin typeface="メイリオ"/>
                <a:ea typeface="メイリオ"/>
                <a:cs typeface="メイリオ"/>
              </a:rPr>
              <a:t> 9:00-17:00</a:t>
            </a:r>
          </a:p>
          <a:p>
            <a:pPr algn="l">
              <a:lnSpc>
                <a:spcPct val="134000"/>
              </a:lnSpc>
              <a:spcAft>
                <a:spcPts val="1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保護者の方も、このままご覧いただけます</a:t>
            </a:r>
            <a:endParaRPr lang="en-US" sz="1100" dirty="0">
              <a:solidFill>
                <a:srgbClr val="1C2233"/>
              </a:solidFill>
              <a:latin typeface="メイリオ"/>
              <a:ea typeface="メイリオ"/>
              <a:cs typeface="メイリオ"/>
            </a:endParaRPr>
          </a:p>
          <a:p>
            <a:pPr algn="l">
              <a:lnSpc>
                <a:spcPct val="134000"/>
              </a:lnSpc>
              <a:spcAft>
                <a:spcPts val="100"/>
              </a:spcAft>
            </a:pPr>
            <a:endParaRPr sz="400" dirty="0">
              <a:solidFill>
                <a:srgbClr val="1C2233"/>
              </a:solidFill>
              <a:latin typeface="メイリオ"/>
              <a:ea typeface="メイリオ"/>
              <a:cs typeface="メイリオ"/>
            </a:endParaRPr>
          </a:p>
          <a:p>
            <a:pPr algn="l">
              <a:lnSpc>
                <a:spcPct val="134000"/>
              </a:lnSpc>
              <a:spcAft>
                <a:spcPts val="100"/>
              </a:spcAft>
            </a:pPr>
            <a:r>
              <a:rPr sz="1100" dirty="0" err="1">
                <a:solidFill>
                  <a:srgbClr val="1C2233"/>
                </a:solidFill>
                <a:latin typeface="メイリオ"/>
                <a:ea typeface="メイリオ"/>
                <a:cs typeface="メイリオ"/>
              </a:rPr>
              <a:t>まずはこちらから</a:t>
            </a:r>
            <a:r>
              <a:rPr sz="1100" dirty="0">
                <a:solidFill>
                  <a:srgbClr val="1C2233"/>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あなたに向いている学部が30秒で分かります。</a:t>
            </a:r>
          </a:p>
        </p:txBody>
      </p:sp>
      <p:sp>
        <p:nvSpPr>
          <p:cNvPr id="5" name="Rounded Rectangle 4"/>
          <p:cNvSpPr/>
          <p:nvPr/>
        </p:nvSpPr>
        <p:spPr>
          <a:xfrm>
            <a:off x="540000" y="4624216"/>
            <a:ext cx="4176000" cy="324000"/>
          </a:xfrm>
          <a:prstGeom prst="roundRect">
            <a:avLst>
              <a:gd name="adj" fmla="val 6000"/>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150" b="1">
                <a:solidFill>
                  <a:srgbClr val="06C755"/>
                </a:solidFill>
                <a:latin typeface="メイリオ"/>
                <a:ea typeface="メイリオ"/>
                <a:cs typeface="メイリオ"/>
              </a:rPr>
              <a:t>▶ 30秒 学部学科診断をはじめる</a:t>
            </a:r>
          </a:p>
        </p:txBody>
      </p:sp>
      <p:sp>
        <p:nvSpPr>
          <p:cNvPr id="6" name="TextBox 5"/>
          <p:cNvSpPr txBox="1"/>
          <p:nvPr/>
        </p:nvSpPr>
        <p:spPr>
          <a:xfrm>
            <a:off x="540000" y="4624216"/>
            <a:ext cx="4176000" cy="324000"/>
          </a:xfrm>
          <a:prstGeom prst="rect">
            <a:avLst/>
          </a:prstGeom>
          <a:noFill/>
        </p:spPr>
        <p:txBody>
          <a:bodyPr wrap="square" lIns="0" tIns="21600" rIns="0" bIns="21600" anchor="ctr">
            <a:spAutoFit/>
          </a:bodyPr>
          <a:lstStyle/>
          <a:p>
            <a:pPr algn="ctr"/>
            <a:r>
              <a:rPr sz="1150" b="1" dirty="0">
                <a:solidFill>
                  <a:srgbClr val="FFFFFF"/>
                </a:solidFill>
                <a:latin typeface="メイリオ"/>
                <a:ea typeface="メイリオ"/>
                <a:cs typeface="メイリオ"/>
              </a:rPr>
              <a:t>▶ 30秒 </a:t>
            </a:r>
            <a:r>
              <a:rPr sz="1150" b="1" dirty="0" err="1">
                <a:solidFill>
                  <a:srgbClr val="FFFFFF"/>
                </a:solidFill>
                <a:latin typeface="メイリオ"/>
                <a:ea typeface="メイリオ"/>
                <a:cs typeface="メイリオ"/>
              </a:rPr>
              <a:t>学部学科診断をはじめる</a:t>
            </a:r>
            <a:endParaRPr sz="1150" b="1" dirty="0">
              <a:solidFill>
                <a:srgbClr val="FFFFFF"/>
              </a:solidFill>
              <a:latin typeface="メイリオ"/>
              <a:ea typeface="メイリオ"/>
              <a:cs typeface="メイリオ"/>
            </a:endParaRPr>
          </a:p>
        </p:txBody>
      </p:sp>
      <p:sp>
        <p:nvSpPr>
          <p:cNvPr id="7" name="Rounded Rectangle 6"/>
          <p:cNvSpPr/>
          <p:nvPr/>
        </p:nvSpPr>
        <p:spPr>
          <a:xfrm>
            <a:off x="5076000" y="1224000"/>
            <a:ext cx="4464000" cy="3435086"/>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08000" tIns="86400" rIns="86400" bIns="57600" rtlCol="0" anchor="t"/>
          <a:lstStyle/>
          <a:p>
            <a:pPr algn="l">
              <a:spcAft>
                <a:spcPts val="600"/>
              </a:spcAft>
            </a:pPr>
            <a:r>
              <a:rPr sz="1200" b="1" dirty="0">
                <a:solidFill>
                  <a:srgbClr val="1F285A"/>
                </a:solidFill>
                <a:latin typeface="メイリオ"/>
                <a:ea typeface="メイリオ"/>
                <a:cs typeface="メイリオ"/>
              </a:rPr>
              <a:t>■ 30秒 学部学科診断（4問すべて選択式・自由入力ゼロ）</a:t>
            </a:r>
          </a:p>
          <a:p>
            <a:pPr algn="l">
              <a:lnSpc>
                <a:spcPct val="134000"/>
              </a:lnSpc>
              <a:spcAft>
                <a:spcPts val="100"/>
              </a:spcAft>
            </a:pPr>
            <a:r>
              <a:rPr sz="1100" dirty="0">
                <a:solidFill>
                  <a:srgbClr val="1C2233"/>
                </a:solidFill>
                <a:latin typeface="メイリオ"/>
                <a:ea typeface="メイリオ"/>
                <a:cs typeface="メイリオ"/>
              </a:rPr>
              <a:t>Q1 </a:t>
            </a:r>
            <a:r>
              <a:rPr sz="1100" dirty="0" err="1">
                <a:solidFill>
                  <a:srgbClr val="1C2233"/>
                </a:solidFill>
                <a:latin typeface="メイリオ"/>
                <a:ea typeface="メイリオ"/>
                <a:cs typeface="メイリオ"/>
              </a:rPr>
              <a:t>いまの学年</a:t>
            </a:r>
            <a:r>
              <a:rPr sz="1100" dirty="0">
                <a:solidFill>
                  <a:srgbClr val="1C2233"/>
                </a:solidFill>
                <a:latin typeface="メイリオ"/>
                <a:ea typeface="メイリオ"/>
                <a:cs typeface="メイリオ"/>
              </a:rPr>
              <a:t>　→ タグ：高1／高2／高3／既卒</a:t>
            </a:r>
          </a:p>
          <a:p>
            <a:pPr algn="l">
              <a:lnSpc>
                <a:spcPct val="134000"/>
              </a:lnSpc>
              <a:spcAft>
                <a:spcPts val="1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配信の内容と頻度を学年で変える</a:t>
            </a:r>
            <a:endParaRPr sz="1100" dirty="0">
              <a:solidFill>
                <a:srgbClr val="1C2233"/>
              </a:solidFill>
              <a:latin typeface="メイリオ"/>
              <a:ea typeface="メイリオ"/>
              <a:cs typeface="メイリオ"/>
            </a:endParaRP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Q2 </a:t>
            </a:r>
            <a:r>
              <a:rPr sz="1100" dirty="0" err="1">
                <a:solidFill>
                  <a:srgbClr val="1C2233"/>
                </a:solidFill>
                <a:latin typeface="メイリオ"/>
                <a:ea typeface="メイリオ"/>
                <a:cs typeface="メイリオ"/>
              </a:rPr>
              <a:t>学部は決まっていますか</a:t>
            </a:r>
            <a:r>
              <a:rPr sz="1100" dirty="0">
                <a:solidFill>
                  <a:srgbClr val="1C2233"/>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　　① </a:t>
            </a:r>
            <a:r>
              <a:rPr sz="1100" dirty="0" err="1">
                <a:solidFill>
                  <a:srgbClr val="1C2233"/>
                </a:solidFill>
                <a:latin typeface="メイリオ"/>
                <a:ea typeface="メイリオ"/>
                <a:cs typeface="メイリオ"/>
              </a:rPr>
              <a:t>だいたい決まっている</a:t>
            </a:r>
            <a:r>
              <a:rPr sz="1100" dirty="0">
                <a:solidFill>
                  <a:srgbClr val="1C2233"/>
                </a:solidFill>
                <a:latin typeface="メイリオ"/>
                <a:ea typeface="メイリオ"/>
                <a:cs typeface="メイリオ"/>
              </a:rPr>
              <a:t>　② 2〜3個に絞れた</a:t>
            </a:r>
          </a:p>
          <a:p>
            <a:pPr algn="l">
              <a:lnSpc>
                <a:spcPct val="134000"/>
              </a:lnSpc>
              <a:spcAft>
                <a:spcPts val="100"/>
              </a:spcAft>
            </a:pPr>
            <a:r>
              <a:rPr sz="1100" dirty="0">
                <a:solidFill>
                  <a:srgbClr val="1C2233"/>
                </a:solidFill>
                <a:latin typeface="メイリオ"/>
                <a:ea typeface="メイリオ"/>
                <a:cs typeface="メイリオ"/>
              </a:rPr>
              <a:t>　　③ </a:t>
            </a:r>
            <a:r>
              <a:rPr sz="1100" dirty="0" err="1">
                <a:solidFill>
                  <a:srgbClr val="1C2233"/>
                </a:solidFill>
                <a:latin typeface="メイリオ"/>
                <a:ea typeface="メイリオ"/>
                <a:cs typeface="メイリオ"/>
              </a:rPr>
              <a:t>全然決まっていない</a:t>
            </a: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ここが一番多くて大丈夫です</a:t>
            </a:r>
            <a:endParaRPr sz="1100" dirty="0">
              <a:solidFill>
                <a:srgbClr val="1C2233"/>
              </a:solidFill>
              <a:latin typeface="メイリオ"/>
              <a:ea typeface="メイリオ"/>
              <a:cs typeface="メイリオ"/>
            </a:endParaRP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Q3 </a:t>
            </a:r>
            <a:r>
              <a:rPr sz="1100" dirty="0" err="1">
                <a:solidFill>
                  <a:srgbClr val="1C2233"/>
                </a:solidFill>
                <a:latin typeface="メイリオ"/>
                <a:ea typeface="メイリオ"/>
                <a:cs typeface="メイリオ"/>
              </a:rPr>
              <a:t>学校を選ぶとき、いちばん大事にしたいことは</a:t>
            </a:r>
            <a:r>
              <a:rPr sz="1100" dirty="0">
                <a:solidFill>
                  <a:srgbClr val="1C2233"/>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学びたいこと／就職・資格／通いやすさ／学費・奨学金</a:t>
            </a:r>
            <a:endParaRPr sz="1100" dirty="0">
              <a:solidFill>
                <a:srgbClr val="1C2233"/>
              </a:solidFill>
              <a:latin typeface="メイリオ"/>
              <a:ea typeface="メイリオ"/>
              <a:cs typeface="メイリオ"/>
            </a:endParaRP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Q4 </a:t>
            </a:r>
            <a:r>
              <a:rPr sz="1100" dirty="0" err="1">
                <a:solidFill>
                  <a:srgbClr val="1C2233"/>
                </a:solidFill>
                <a:latin typeface="メイリオ"/>
                <a:ea typeface="メイリオ"/>
                <a:cs typeface="メイリオ"/>
              </a:rPr>
              <a:t>通学はどうなりそうですか</a:t>
            </a:r>
            <a:r>
              <a:rPr sz="1100" dirty="0">
                <a:solidFill>
                  <a:srgbClr val="1C2233"/>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自宅から通う／一人暮らしもできる／まだ分からない</a:t>
            </a:r>
            <a:endParaRPr sz="1100" dirty="0">
              <a:solidFill>
                <a:srgbClr val="1C2233"/>
              </a:solidFill>
              <a:latin typeface="メイリオ"/>
              <a:ea typeface="メイリオ"/>
              <a:cs typeface="メイリオ"/>
            </a:endParaRPr>
          </a:p>
        </p:txBody>
      </p:sp>
      <p:sp>
        <p:nvSpPr>
          <p:cNvPr id="8" name="Rounded Rectangle 7"/>
          <p:cNvSpPr/>
          <p:nvPr/>
        </p:nvSpPr>
        <p:spPr>
          <a:xfrm>
            <a:off x="396000" y="5182217"/>
            <a:ext cx="4464000" cy="1135612"/>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この1行に一番時間をかけた</a:t>
            </a:r>
          </a:p>
          <a:p>
            <a:pPr algn="l">
              <a:lnSpc>
                <a:spcPct val="120000"/>
              </a:lnSpc>
              <a:spcAft>
                <a:spcPts val="200"/>
              </a:spcAft>
            </a:pPr>
            <a:r>
              <a:rPr sz="1100" dirty="0">
                <a:solidFill>
                  <a:srgbClr val="1C2233"/>
                </a:solidFill>
                <a:latin typeface="メイリオ"/>
                <a:ea typeface="メイリオ"/>
                <a:cs typeface="メイリオ"/>
              </a:rPr>
              <a:t>Q2の③に「←</a:t>
            </a:r>
            <a:r>
              <a:rPr sz="1100" dirty="0" err="1">
                <a:solidFill>
                  <a:srgbClr val="1C2233"/>
                </a:solidFill>
                <a:latin typeface="メイリオ"/>
                <a:ea typeface="メイリオ"/>
                <a:cs typeface="メイリオ"/>
              </a:rPr>
              <a:t>ここが一番多くて大丈夫です」と書いてある</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これがあるだけで、迷っている子が正直に答える</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正直に答えてくれれば、その子に必要なものを送れる</a:t>
            </a:r>
            <a:r>
              <a:rPr sz="1100" dirty="0">
                <a:solidFill>
                  <a:srgbClr val="1C2233"/>
                </a:solidFill>
                <a:latin typeface="メイリオ"/>
                <a:ea typeface="メイリオ"/>
                <a:cs typeface="メイリオ"/>
              </a:rPr>
              <a:t>。</a:t>
            </a:r>
          </a:p>
        </p:txBody>
      </p:sp>
      <p:sp>
        <p:nvSpPr>
          <p:cNvPr id="9" name="Rounded Rectangle 8"/>
          <p:cNvSpPr/>
          <p:nvPr/>
        </p:nvSpPr>
        <p:spPr>
          <a:xfrm>
            <a:off x="5076000" y="5182217"/>
            <a:ext cx="4464000" cy="1135612"/>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err="1">
                <a:solidFill>
                  <a:srgbClr val="1F285A"/>
                </a:solidFill>
                <a:latin typeface="メイリオ"/>
                <a:ea typeface="メイリオ"/>
                <a:cs typeface="メイリオ"/>
              </a:rPr>
              <a:t>取れるセグメントが、そのまま配信設計になる</a:t>
            </a:r>
            <a:endParaRPr sz="1200" b="1" dirty="0">
              <a:solidFill>
                <a:srgbClr val="1F285A"/>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学年</a:t>
            </a:r>
            <a:r>
              <a:rPr sz="1100" dirty="0">
                <a:solidFill>
                  <a:srgbClr val="1C2233"/>
                </a:solidFill>
                <a:latin typeface="メイリオ"/>
                <a:ea typeface="メイリオ"/>
                <a:cs typeface="メイリオ"/>
              </a:rPr>
              <a:t> × </a:t>
            </a:r>
            <a:r>
              <a:rPr sz="1100" dirty="0" err="1">
                <a:solidFill>
                  <a:srgbClr val="1C2233"/>
                </a:solidFill>
                <a:latin typeface="メイリオ"/>
                <a:ea typeface="メイリオ"/>
                <a:cs typeface="メイリオ"/>
              </a:rPr>
              <a:t>決まり具合</a:t>
            </a:r>
            <a:r>
              <a:rPr sz="1100" dirty="0">
                <a:solidFill>
                  <a:srgbClr val="1C2233"/>
                </a:solidFill>
                <a:latin typeface="メイリオ"/>
                <a:ea typeface="メイリオ"/>
                <a:cs typeface="メイリオ"/>
              </a:rPr>
              <a:t> × </a:t>
            </a:r>
            <a:r>
              <a:rPr sz="1100" dirty="0" err="1">
                <a:solidFill>
                  <a:srgbClr val="1C2233"/>
                </a:solidFill>
                <a:latin typeface="メイリオ"/>
                <a:ea typeface="メイリオ"/>
                <a:cs typeface="メイリオ"/>
              </a:rPr>
              <a:t>重視する軸</a:t>
            </a:r>
            <a:r>
              <a:rPr sz="1100" dirty="0">
                <a:solidFill>
                  <a:srgbClr val="1C2233"/>
                </a:solidFill>
                <a:latin typeface="メイリオ"/>
                <a:ea typeface="メイリオ"/>
                <a:cs typeface="メイリオ"/>
              </a:rPr>
              <a:t> × </a:t>
            </a:r>
            <a:r>
              <a:rPr sz="1100" dirty="0" err="1">
                <a:solidFill>
                  <a:srgbClr val="1C2233"/>
                </a:solidFill>
                <a:latin typeface="メイリオ"/>
                <a:ea typeface="メイリオ"/>
                <a:cs typeface="メイリオ"/>
              </a:rPr>
              <a:t>通学圏</a:t>
            </a:r>
            <a:r>
              <a:rPr sz="1100" dirty="0">
                <a:solidFill>
                  <a:srgbClr val="1C2233"/>
                </a:solidFill>
                <a:latin typeface="メイリオ"/>
                <a:ea typeface="メイリオ"/>
                <a:cs typeface="メイリオ"/>
              </a:rPr>
              <a:t> の4象限。</a:t>
            </a: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学費」を選んだ子には、保護者向けコンテンツも同時に送る</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一人暮らし可」なら遠方＝オンライン相談を案内する</a:t>
            </a:r>
            <a:r>
              <a:rPr sz="1100" dirty="0">
                <a:solidFill>
                  <a:srgbClr val="1C2233"/>
                </a:solidFill>
                <a:latin typeface="メイリオ"/>
                <a:ea typeface="メイリオ"/>
                <a:cs typeface="メイリオ"/>
              </a:rPr>
              <a:t>。</a:t>
            </a:r>
          </a:p>
        </p:txBody>
      </p:sp>
    </p:spTree>
    <p:extLst>
      <p:ext uri="{BB962C8B-B14F-4D97-AF65-F5344CB8AC3E}">
        <p14:creationId xmlns:p14="http://schemas.microsoft.com/office/powerpoint/2010/main" val="188939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トーク画面イメージ｜友だち追加の直後に届く1通目</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この1通で「誰か」「何をくれるか」「売り込まないか」の3つに答える。</a:t>
            </a:r>
          </a:p>
          <a:p>
            <a:pPr algn="l">
              <a:lnSpc>
                <a:spcPct val="122000"/>
              </a:lnSpc>
            </a:pPr>
            <a:r>
              <a:rPr sz="1500">
                <a:solidFill>
                  <a:srgbClr val="646C82"/>
                </a:solidFill>
                <a:latin typeface="メイリオ"/>
                <a:ea typeface="メイリオ"/>
                <a:cs typeface="メイリオ"/>
              </a:rPr>
              <a:t>ここで離脱すると、以降の配信はすべて届かない。</a:t>
            </a:r>
          </a:p>
        </p:txBody>
      </p:sp>
      <p:sp>
        <p:nvSpPr>
          <p:cNvPr id="4" name="Rounded Rectangle 3"/>
          <p:cNvSpPr/>
          <p:nvPr/>
        </p:nvSpPr>
        <p:spPr>
          <a:xfrm>
            <a:off x="612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69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69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7" name="Rounded Rectangle 6"/>
          <p:cNvSpPr/>
          <p:nvPr/>
        </p:nvSpPr>
        <p:spPr>
          <a:xfrm>
            <a:off x="738000" y="1641599"/>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友だち追加ありがとうございます🌸</a:t>
            </a:r>
          </a:p>
          <a:p>
            <a:pPr algn="l">
              <a:lnSpc>
                <a:spcPct val="116000"/>
              </a:lnSpc>
            </a:pPr>
            <a:r>
              <a:rPr sz="800">
                <a:solidFill>
                  <a:srgbClr val="1C2233"/>
                </a:solidFill>
                <a:latin typeface="メイリオ"/>
                <a:ea typeface="メイリオ"/>
                <a:cs typeface="メイリオ"/>
              </a:rPr>
              <a:t>入試広報課の[担当者名]です。</a:t>
            </a:r>
          </a:p>
        </p:txBody>
      </p:sp>
      <p:sp>
        <p:nvSpPr>
          <p:cNvPr id="8" name="Rounded Rectangle 7"/>
          <p:cNvSpPr/>
          <p:nvPr/>
        </p:nvSpPr>
        <p:spPr>
          <a:xfrm>
            <a:off x="738000" y="2026800"/>
            <a:ext cx="2412000" cy="4608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こちらから確認のお電話を</a:t>
            </a:r>
          </a:p>
          <a:p>
            <a:pPr algn="l">
              <a:lnSpc>
                <a:spcPct val="116000"/>
              </a:lnSpc>
            </a:pPr>
            <a:r>
              <a:rPr sz="800">
                <a:solidFill>
                  <a:srgbClr val="1C2233"/>
                </a:solidFill>
                <a:latin typeface="メイリオ"/>
                <a:ea typeface="メイリオ"/>
                <a:cs typeface="メイリオ"/>
              </a:rPr>
              <a:t>することはありません。</a:t>
            </a:r>
          </a:p>
          <a:p>
            <a:pPr algn="l">
              <a:lnSpc>
                <a:spcPct val="116000"/>
              </a:lnSpc>
            </a:pPr>
            <a:r>
              <a:rPr sz="800">
                <a:solidFill>
                  <a:srgbClr val="1C2233"/>
                </a:solidFill>
                <a:latin typeface="メイリオ"/>
                <a:ea typeface="メイリオ"/>
                <a:cs typeface="メイリオ"/>
              </a:rPr>
              <a:t>保護者の方もご覧いただけます。</a:t>
            </a:r>
          </a:p>
        </p:txBody>
      </p:sp>
      <p:sp>
        <p:nvSpPr>
          <p:cNvPr id="9" name="Rounded Rectangle 8"/>
          <p:cNvSpPr/>
          <p:nvPr/>
        </p:nvSpPr>
        <p:spPr>
          <a:xfrm>
            <a:off x="738000" y="2534400"/>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まずは、あなたに向いている</a:t>
            </a:r>
          </a:p>
          <a:p>
            <a:pPr algn="l">
              <a:lnSpc>
                <a:spcPct val="116000"/>
              </a:lnSpc>
            </a:pPr>
            <a:r>
              <a:rPr sz="800">
                <a:solidFill>
                  <a:srgbClr val="1C2233"/>
                </a:solidFill>
                <a:latin typeface="メイリオ"/>
                <a:ea typeface="メイリオ"/>
                <a:cs typeface="メイリオ"/>
              </a:rPr>
              <a:t>学部を30秒で診断しませんか？</a:t>
            </a:r>
          </a:p>
        </p:txBody>
      </p:sp>
      <p:sp>
        <p:nvSpPr>
          <p:cNvPr id="10" name="Rounded Rectangle 9"/>
          <p:cNvSpPr/>
          <p:nvPr/>
        </p:nvSpPr>
        <p:spPr>
          <a:xfrm>
            <a:off x="738000" y="2919600"/>
            <a:ext cx="24120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50" b="1">
                <a:solidFill>
                  <a:srgbClr val="FFFFFF"/>
                </a:solidFill>
                <a:latin typeface="メイリオ"/>
                <a:ea typeface="メイリオ"/>
                <a:cs typeface="メイリオ"/>
              </a:rPr>
              <a:t>▶ 30秒 学部学科診断をはじめる</a:t>
            </a:r>
          </a:p>
        </p:txBody>
      </p:sp>
      <p:sp>
        <p:nvSpPr>
          <p:cNvPr id="11" name="TextBox 10"/>
          <p:cNvSpPr txBox="1"/>
          <p:nvPr/>
        </p:nvSpPr>
        <p:spPr>
          <a:xfrm>
            <a:off x="738000" y="31824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既読 9:02</a:t>
            </a:r>
          </a:p>
        </p:txBody>
      </p:sp>
      <p:sp>
        <p:nvSpPr>
          <p:cNvPr id="12" name="Rounded Rectangle 11"/>
          <p:cNvSpPr/>
          <p:nvPr/>
        </p:nvSpPr>
        <p:spPr>
          <a:xfrm>
            <a:off x="3780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837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37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15" name="Rounded Rectangle 14"/>
          <p:cNvSpPr/>
          <p:nvPr/>
        </p:nvSpPr>
        <p:spPr>
          <a:xfrm>
            <a:off x="3906000" y="1641599"/>
            <a:ext cx="2412000" cy="216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Q2 学部は決まっていますか？</a:t>
            </a:r>
          </a:p>
        </p:txBody>
      </p:sp>
      <p:sp>
        <p:nvSpPr>
          <p:cNvPr id="16" name="Rounded Rectangle 15"/>
          <p:cNvSpPr/>
          <p:nvPr/>
        </p:nvSpPr>
        <p:spPr>
          <a:xfrm>
            <a:off x="3906000" y="1904400"/>
            <a:ext cx="24120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だいたい決まっている</a:t>
            </a:r>
          </a:p>
        </p:txBody>
      </p:sp>
      <p:sp>
        <p:nvSpPr>
          <p:cNvPr id="17" name="Rounded Rectangle 16"/>
          <p:cNvSpPr/>
          <p:nvPr/>
        </p:nvSpPr>
        <p:spPr>
          <a:xfrm>
            <a:off x="3906000" y="2167200"/>
            <a:ext cx="24120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2〜3個に絞れた</a:t>
            </a:r>
          </a:p>
        </p:txBody>
      </p:sp>
      <p:sp>
        <p:nvSpPr>
          <p:cNvPr id="18" name="Rounded Rectangle 17"/>
          <p:cNvSpPr/>
          <p:nvPr/>
        </p:nvSpPr>
        <p:spPr>
          <a:xfrm>
            <a:off x="3906000" y="2430000"/>
            <a:ext cx="2412000" cy="3384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全然決まっていない</a:t>
            </a:r>
          </a:p>
          <a:p>
            <a:pPr algn="ctr">
              <a:lnSpc>
                <a:spcPct val="114000"/>
              </a:lnSpc>
            </a:pPr>
            <a:r>
              <a:rPr sz="800">
                <a:solidFill>
                  <a:srgbClr val="0B7A3B"/>
                </a:solidFill>
                <a:latin typeface="メイリオ"/>
                <a:ea typeface="メイリオ"/>
                <a:cs typeface="メイリオ"/>
              </a:rPr>
              <a:t>←ここが一番多くて大丈夫です</a:t>
            </a:r>
          </a:p>
        </p:txBody>
      </p:sp>
      <p:sp>
        <p:nvSpPr>
          <p:cNvPr id="19" name="TextBox 18"/>
          <p:cNvSpPr txBox="1"/>
          <p:nvPr/>
        </p:nvSpPr>
        <p:spPr>
          <a:xfrm>
            <a:off x="3906000" y="28152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 4問すべて選択式。入力はゼロ</a:t>
            </a:r>
          </a:p>
        </p:txBody>
      </p:sp>
      <p:sp>
        <p:nvSpPr>
          <p:cNvPr id="20" name="Rounded Rectangle 19"/>
          <p:cNvSpPr/>
          <p:nvPr/>
        </p:nvSpPr>
        <p:spPr>
          <a:xfrm>
            <a:off x="6948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005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005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23" name="Rounded Rectangle 22"/>
          <p:cNvSpPr/>
          <p:nvPr/>
        </p:nvSpPr>
        <p:spPr>
          <a:xfrm>
            <a:off x="7074000" y="1641599"/>
            <a:ext cx="2412000" cy="216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診断結果が出ました📋</a:t>
            </a:r>
          </a:p>
        </p:txBody>
      </p:sp>
      <p:sp>
        <p:nvSpPr>
          <p:cNvPr id="24" name="Rounded Rectangle 23"/>
          <p:cNvSpPr/>
          <p:nvPr/>
        </p:nvSpPr>
        <p:spPr>
          <a:xfrm>
            <a:off x="7074000" y="1904400"/>
            <a:ext cx="2412000" cy="4608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「やりたいことが決まっていない」</a:t>
            </a:r>
          </a:p>
          <a:p>
            <a:pPr algn="l">
              <a:lnSpc>
                <a:spcPct val="116000"/>
              </a:lnSpc>
            </a:pPr>
            <a:r>
              <a:rPr sz="800">
                <a:solidFill>
                  <a:srgbClr val="1C2233"/>
                </a:solidFill>
                <a:latin typeface="メイリオ"/>
                <a:ea typeface="メイリオ"/>
                <a:cs typeface="メイリオ"/>
              </a:rPr>
              <a:t>——実は、いま在学している学生の</a:t>
            </a:r>
          </a:p>
          <a:p>
            <a:pPr algn="l">
              <a:lnSpc>
                <a:spcPct val="116000"/>
              </a:lnSpc>
            </a:pPr>
            <a:r>
              <a:rPr sz="800">
                <a:solidFill>
                  <a:srgbClr val="1C2233"/>
                </a:solidFill>
                <a:latin typeface="メイリオ"/>
                <a:ea typeface="メイリオ"/>
                <a:cs typeface="メイリオ"/>
              </a:rPr>
              <a:t>多くが高2のこの時期は同じでした。</a:t>
            </a:r>
          </a:p>
        </p:txBody>
      </p:sp>
      <p:sp>
        <p:nvSpPr>
          <p:cNvPr id="25" name="Rounded Rectangle 24"/>
          <p:cNvSpPr/>
          <p:nvPr/>
        </p:nvSpPr>
        <p:spPr>
          <a:xfrm>
            <a:off x="7074000" y="2412000"/>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あなたに向いていそうなのは</a:t>
            </a:r>
          </a:p>
          <a:p>
            <a:pPr algn="l">
              <a:lnSpc>
                <a:spcPct val="116000"/>
              </a:lnSpc>
            </a:pPr>
            <a:r>
              <a:rPr sz="800">
                <a:solidFill>
                  <a:srgbClr val="1C2233"/>
                </a:solidFill>
                <a:latin typeface="メイリオ"/>
                <a:ea typeface="メイリオ"/>
                <a:cs typeface="メイリオ"/>
              </a:rPr>
              <a:t>“入ってから選べる”学び方です。</a:t>
            </a:r>
          </a:p>
        </p:txBody>
      </p:sp>
      <p:sp>
        <p:nvSpPr>
          <p:cNvPr id="26" name="Rounded Rectangle 25"/>
          <p:cNvSpPr/>
          <p:nvPr/>
        </p:nvSpPr>
        <p:spPr>
          <a:xfrm>
            <a:off x="7074000" y="2797200"/>
            <a:ext cx="24120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50" b="1">
                <a:solidFill>
                  <a:srgbClr val="FFFFFF"/>
                </a:solidFill>
                <a:latin typeface="メイリオ"/>
                <a:ea typeface="メイリオ"/>
                <a:cs typeface="メイリオ"/>
              </a:rPr>
              <a:t>▶ 在学生Aさんの1日を見る（3分）</a:t>
            </a:r>
          </a:p>
        </p:txBody>
      </p:sp>
      <p:sp>
        <p:nvSpPr>
          <p:cNvPr id="27" name="TextBox 26"/>
          <p:cNvSpPr txBox="1"/>
          <p:nvPr/>
        </p:nvSpPr>
        <p:spPr>
          <a:xfrm>
            <a:off x="7074000" y="30600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費用の話は、この後に出す</a:t>
            </a:r>
          </a:p>
        </p:txBody>
      </p:sp>
      <p:sp>
        <p:nvSpPr>
          <p:cNvPr id="28" name="Rounded Rectangle 27"/>
          <p:cNvSpPr/>
          <p:nvPr/>
        </p:nvSpPr>
        <p:spPr>
          <a:xfrm>
            <a:off x="612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① 追加直後：売らない。電話しないと明記する</a:t>
            </a:r>
          </a:p>
        </p:txBody>
      </p:sp>
      <p:sp>
        <p:nvSpPr>
          <p:cNvPr id="29" name="Rounded Rectangle 28"/>
          <p:cNvSpPr/>
          <p:nvPr/>
        </p:nvSpPr>
        <p:spPr>
          <a:xfrm>
            <a:off x="3780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② 診断：4問すべて選択式・入力はゼロ</a:t>
            </a:r>
          </a:p>
        </p:txBody>
      </p:sp>
      <p:sp>
        <p:nvSpPr>
          <p:cNvPr id="30" name="Rounded Rectangle 29"/>
          <p:cNvSpPr/>
          <p:nvPr/>
        </p:nvSpPr>
        <p:spPr>
          <a:xfrm>
            <a:off x="6948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③ 結果：共感 → 実例 → 費用 → CTA の順</a:t>
            </a:r>
          </a:p>
        </p:txBody>
      </p:sp>
      <p:sp>
        <p:nvSpPr>
          <p:cNvPr id="31" name="Rectangle 30"/>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1通目で予約は求めない。求めるのは診断への回答だけ。</a:t>
            </a:r>
          </a:p>
        </p:txBody>
      </p:sp>
      <p:sp>
        <p:nvSpPr>
          <p:cNvPr id="34" name="TextBox 33"/>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診断結果は「共感 → 実例 → 学べること → 費用 → CTA」の順。費用を先に出すと逃げられる（前後検索で検証済み）。</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企画配信カレンダー｜入試日程は動かせない。だから逆算で組む</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検索の山（実測）と入試日程（文科省）を重ねて、配信する月を先に決めてしまう。</a:t>
            </a:r>
          </a:p>
        </p:txBody>
      </p:sp>
      <p:graphicFrame>
        <p:nvGraphicFramePr>
          <p:cNvPr id="4" name="Table 3"/>
          <p:cNvGraphicFramePr>
            <a:graphicFrameLocks noGrp="1"/>
          </p:cNvGraphicFramePr>
          <p:nvPr>
            <p:extLst>
              <p:ext uri="{D42A27DB-BD31-4B8C-83A1-F6EECF244321}">
                <p14:modId xmlns:p14="http://schemas.microsoft.com/office/powerpoint/2010/main" val="3272579774"/>
              </p:ext>
            </p:extLst>
          </p:nvPr>
        </p:nvGraphicFramePr>
        <p:xfrm>
          <a:off x="396000" y="1224000"/>
          <a:ext cx="9144000" cy="44640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gridCol w="3240000">
                  <a:extLst>
                    <a:ext uri="{9D8B030D-6E8A-4147-A177-3AD203B41FA5}">
                      <a16:colId xmlns:a16="http://schemas.microsoft.com/office/drawing/2014/main" val="20002"/>
                    </a:ext>
                  </a:extLst>
                </a:gridCol>
              </a:tblGrid>
              <a:tr h="558000">
                <a:tc>
                  <a:txBody>
                    <a:bodyPr/>
                    <a:lstStyle/>
                    <a:p>
                      <a:pPr algn="ctr"/>
                      <a:r>
                        <a:rPr sz="1200" b="1">
                          <a:solidFill>
                            <a:srgbClr val="FFFFFF"/>
                          </a:solidFill>
                          <a:latin typeface="メイリオ"/>
                          <a:ea typeface="メイリオ"/>
                          <a:cs typeface="メイリオ"/>
                        </a:rPr>
                        <a:t>時期</a:t>
                      </a:r>
                    </a:p>
                  </a:txBody>
                  <a:tcPr anchor="ctr">
                    <a:solidFill>
                      <a:srgbClr val="1F285A"/>
                    </a:solidFill>
                  </a:tcPr>
                </a:tc>
                <a:tc>
                  <a:txBody>
                    <a:bodyPr/>
                    <a:lstStyle/>
                    <a:p>
                      <a:pPr algn="l"/>
                      <a:r>
                        <a:rPr sz="1200" b="1">
                          <a:solidFill>
                            <a:srgbClr val="FFFFFF"/>
                          </a:solidFill>
                          <a:latin typeface="メイリオ"/>
                          <a:ea typeface="メイリオ"/>
                          <a:cs typeface="メイリオ"/>
                        </a:rPr>
                        <a:t>企画</a:t>
                      </a:r>
                    </a:p>
                  </a:txBody>
                  <a:tcPr anchor="ctr">
                    <a:solidFill>
                      <a:srgbClr val="1F285A"/>
                    </a:solidFill>
                  </a:tcPr>
                </a:tc>
                <a:tc>
                  <a:txBody>
                    <a:bodyPr/>
                    <a:lstStyle/>
                    <a:p>
                      <a:pPr algn="l"/>
                      <a:r>
                        <a:rPr sz="1200" b="1">
                          <a:solidFill>
                            <a:srgbClr val="FFFFFF"/>
                          </a:solidFill>
                          <a:latin typeface="メイリオ"/>
                          <a:ea typeface="メイリオ"/>
                          <a:cs typeface="メイリオ"/>
                        </a:rPr>
                        <a:t>参照データ</a:t>
                      </a:r>
                    </a:p>
                  </a:txBody>
                  <a:tcPr anchor="ctr">
                    <a:solidFill>
                      <a:srgbClr val="1F285A"/>
                    </a:solidFill>
                  </a:tcPr>
                </a:tc>
                <a:extLst>
                  <a:ext uri="{0D108BD9-81ED-4DB2-BD59-A6C34878D82A}">
                    <a16:rowId xmlns:a16="http://schemas.microsoft.com/office/drawing/2014/main" val="10000"/>
                  </a:ext>
                </a:extLst>
              </a:tr>
              <a:tr h="558000">
                <a:tc>
                  <a:txBody>
                    <a:bodyPr/>
                    <a:lstStyle/>
                    <a:p>
                      <a:pPr algn="ctr"/>
                      <a:r>
                        <a:rPr sz="1100">
                          <a:solidFill>
                            <a:srgbClr val="1C2233"/>
                          </a:solidFill>
                          <a:latin typeface="メイリオ"/>
                          <a:ea typeface="メイリオ"/>
                          <a:cs typeface="メイリオ"/>
                        </a:rPr>
                        <a:t>3〜4月</a:t>
                      </a:r>
                    </a:p>
                  </a:txBody>
                  <a:tcPr anchor="ctr">
                    <a:solidFill>
                      <a:srgbClr val="FFFFFF"/>
                    </a:solidFill>
                  </a:tcPr>
                </a:tc>
                <a:tc>
                  <a:txBody>
                    <a:bodyPr/>
                    <a:lstStyle/>
                    <a:p>
                      <a:pPr algn="l"/>
                      <a:r>
                        <a:rPr sz="1100">
                          <a:solidFill>
                            <a:srgbClr val="1C2233"/>
                          </a:solidFill>
                          <a:latin typeface="メイリオ"/>
                          <a:ea typeface="メイリオ"/>
                          <a:cs typeface="メイリオ"/>
                        </a:rPr>
                        <a:t>新学年スタート企画：「まだ決まっていなくていい」学部学科診断キャンペーン</a:t>
                      </a:r>
                    </a:p>
                  </a:txBody>
                  <a:tcPr anchor="ctr">
                    <a:solidFill>
                      <a:srgbClr val="FFFFFF"/>
                    </a:solidFill>
                  </a:tcPr>
                </a:tc>
                <a:tc>
                  <a:txBody>
                    <a:bodyPr/>
                    <a:lstStyle/>
                    <a:p>
                      <a:pPr algn="l"/>
                      <a:r>
                        <a:rPr sz="1100">
                          <a:solidFill>
                            <a:srgbClr val="1C2233"/>
                          </a:solidFill>
                          <a:latin typeface="メイリオ"/>
                          <a:ea typeface="メイリオ"/>
                          <a:cs typeface="メイリオ"/>
                        </a:rPr>
                        <a:t>入塾・進路検討の立ち上がり（高2春〜）</a:t>
                      </a:r>
                    </a:p>
                  </a:txBody>
                  <a:tcPr anchor="ctr">
                    <a:solidFill>
                      <a:srgbClr val="FFFFFF"/>
                    </a:solidFill>
                  </a:tcPr>
                </a:tc>
                <a:extLst>
                  <a:ext uri="{0D108BD9-81ED-4DB2-BD59-A6C34878D82A}">
                    <a16:rowId xmlns:a16="http://schemas.microsoft.com/office/drawing/2014/main" val="10001"/>
                  </a:ext>
                </a:extLst>
              </a:tr>
              <a:tr h="558000">
                <a:tc>
                  <a:txBody>
                    <a:bodyPr/>
                    <a:lstStyle/>
                    <a:p>
                      <a:pPr algn="ctr"/>
                      <a:r>
                        <a:rPr sz="1100">
                          <a:solidFill>
                            <a:srgbClr val="1C2233"/>
                          </a:solidFill>
                          <a:latin typeface="メイリオ"/>
                          <a:ea typeface="メイリオ"/>
                          <a:cs typeface="メイリオ"/>
                        </a:rPr>
                        <a:t>5月下旬〜6月</a:t>
                      </a:r>
                    </a:p>
                  </a:txBody>
                  <a:tcPr anchor="ctr">
                    <a:solidFill>
                      <a:srgbClr val="F4F7FF"/>
                    </a:solidFill>
                  </a:tcPr>
                </a:tc>
                <a:tc>
                  <a:txBody>
                    <a:bodyPr/>
                    <a:lstStyle/>
                    <a:p>
                      <a:pPr algn="l"/>
                      <a:r>
                        <a:rPr sz="1100">
                          <a:solidFill>
                            <a:srgbClr val="1C2233"/>
                          </a:solidFill>
                          <a:latin typeface="メイリオ"/>
                          <a:ea typeface="メイリオ"/>
                          <a:cs typeface="メイリオ"/>
                        </a:rPr>
                        <a:t>OC先行案内：日程公開＋1人参加OK＋当日の流れを先に送る　★仕込みの本番</a:t>
                      </a:r>
                    </a:p>
                  </a:txBody>
                  <a:tcPr anchor="ctr">
                    <a:solidFill>
                      <a:srgbClr val="F4F7FF"/>
                    </a:solidFill>
                  </a:tcPr>
                </a:tc>
                <a:tc>
                  <a:txBody>
                    <a:bodyPr/>
                    <a:lstStyle/>
                    <a:p>
                      <a:pPr algn="l"/>
                      <a:r>
                        <a:rPr sz="1100">
                          <a:solidFill>
                            <a:srgbClr val="1C2233"/>
                          </a:solidFill>
                          <a:latin typeface="メイリオ"/>
                          <a:ea typeface="メイリオ"/>
                          <a:cs typeface="メイリオ"/>
                        </a:rPr>
                        <a:t>検索が動き出すのは5/25週。6/29週で既に年間ピークの半分（トレンド実測）</a:t>
                      </a:r>
                    </a:p>
                  </a:txBody>
                  <a:tcPr anchor="ctr">
                    <a:solidFill>
                      <a:srgbClr val="F4F7FF"/>
                    </a:solidFill>
                  </a:tcPr>
                </a:tc>
                <a:extLst>
                  <a:ext uri="{0D108BD9-81ED-4DB2-BD59-A6C34878D82A}">
                    <a16:rowId xmlns:a16="http://schemas.microsoft.com/office/drawing/2014/main" val="10002"/>
                  </a:ext>
                </a:extLst>
              </a:tr>
              <a:tr h="558000">
                <a:tc>
                  <a:txBody>
                    <a:bodyPr/>
                    <a:lstStyle/>
                    <a:p>
                      <a:pPr algn="ctr"/>
                      <a:r>
                        <a:rPr sz="1100">
                          <a:solidFill>
                            <a:srgbClr val="1C2233"/>
                          </a:solidFill>
                          <a:latin typeface="メイリオ"/>
                          <a:ea typeface="メイリオ"/>
                          <a:cs typeface="メイリオ"/>
                        </a:rPr>
                        <a:t>7〜8月</a:t>
                      </a:r>
                    </a:p>
                  </a:txBody>
                  <a:tcPr anchor="ctr">
                    <a:solidFill>
                      <a:srgbClr val="FFFFFF"/>
                    </a:solidFill>
                  </a:tcPr>
                </a:tc>
                <a:tc>
                  <a:txBody>
                    <a:bodyPr/>
                    <a:lstStyle/>
                    <a:p>
                      <a:pPr algn="l"/>
                      <a:r>
                        <a:rPr sz="1100">
                          <a:solidFill>
                            <a:srgbClr val="1C2233"/>
                          </a:solidFill>
                          <a:latin typeface="メイリオ"/>
                          <a:ea typeface="メイリオ"/>
                          <a:cs typeface="メイリオ"/>
                        </a:rPr>
                        <a:t>OC直前・当日・参加後の3点セット：前日リマインド／受付QR／参加後アンケート</a:t>
                      </a:r>
                    </a:p>
                  </a:txBody>
                  <a:tcPr anchor="ctr">
                    <a:solidFill>
                      <a:srgbClr val="FFFFFF"/>
                    </a:solidFill>
                  </a:tcPr>
                </a:tc>
                <a:tc>
                  <a:txBody>
                    <a:bodyPr/>
                    <a:lstStyle/>
                    <a:p>
                      <a:pPr algn="l"/>
                      <a:r>
                        <a:rPr sz="1100">
                          <a:solidFill>
                            <a:srgbClr val="1C2233"/>
                          </a:solidFill>
                          <a:latin typeface="メイリオ"/>
                          <a:ea typeface="メイリオ"/>
                          <a:cs typeface="メイリオ"/>
                        </a:rPr>
                        <a:t>「オープンキャンパス」ピーク＝7/27週（5年連続で7月ピーク）</a:t>
                      </a:r>
                    </a:p>
                  </a:txBody>
                  <a:tcPr anchor="ctr">
                    <a:solidFill>
                      <a:srgbClr val="FFFFFF"/>
                    </a:solidFill>
                  </a:tcPr>
                </a:tc>
                <a:extLst>
                  <a:ext uri="{0D108BD9-81ED-4DB2-BD59-A6C34878D82A}">
                    <a16:rowId xmlns:a16="http://schemas.microsoft.com/office/drawing/2014/main" val="10003"/>
                  </a:ext>
                </a:extLst>
              </a:tr>
              <a:tr h="558000">
                <a:tc>
                  <a:txBody>
                    <a:bodyPr/>
                    <a:lstStyle/>
                    <a:p>
                      <a:pPr algn="ctr"/>
                      <a:r>
                        <a:rPr sz="1100">
                          <a:solidFill>
                            <a:srgbClr val="1C2233"/>
                          </a:solidFill>
                          <a:latin typeface="メイリオ"/>
                          <a:ea typeface="メイリオ"/>
                          <a:cs typeface="メイリオ"/>
                        </a:rPr>
                        <a:t>9月</a:t>
                      </a:r>
                    </a:p>
                  </a:txBody>
                  <a:tcPr anchor="ctr">
                    <a:solidFill>
                      <a:srgbClr val="F4F7FF"/>
                    </a:solidFill>
                  </a:tcPr>
                </a:tc>
                <a:tc>
                  <a:txBody>
                    <a:bodyPr/>
                    <a:lstStyle/>
                    <a:p>
                      <a:pPr algn="l"/>
                      <a:r>
                        <a:rPr sz="1100">
                          <a:solidFill>
                            <a:srgbClr val="1C2233"/>
                          </a:solidFill>
                          <a:latin typeface="メイリオ"/>
                          <a:ea typeface="メイリオ"/>
                          <a:cs typeface="メイリオ"/>
                        </a:rPr>
                        <a:t>総合型選抜の出願支援：志望理由書の書き方・面接10問・締切カウントダウン</a:t>
                      </a:r>
                    </a:p>
                  </a:txBody>
                  <a:tcPr anchor="ctr">
                    <a:solidFill>
                      <a:srgbClr val="F4F7FF"/>
                    </a:solidFill>
                  </a:tcPr>
                </a:tc>
                <a:tc>
                  <a:txBody>
                    <a:bodyPr/>
                    <a:lstStyle/>
                    <a:p>
                      <a:pPr algn="l"/>
                      <a:r>
                        <a:rPr sz="1100">
                          <a:solidFill>
                            <a:srgbClr val="1C2233"/>
                          </a:solidFill>
                          <a:latin typeface="メイリオ"/>
                          <a:ea typeface="メイリオ"/>
                          <a:cs typeface="メイリオ"/>
                        </a:rPr>
                        <a:t>「総合型選抜」ピーク＝8/31週（9/1出願解禁を含む週）。5年で3.3倍</a:t>
                      </a:r>
                    </a:p>
                  </a:txBody>
                  <a:tcPr anchor="ctr">
                    <a:solidFill>
                      <a:srgbClr val="F4F7FF"/>
                    </a:solidFill>
                  </a:tcPr>
                </a:tc>
                <a:extLst>
                  <a:ext uri="{0D108BD9-81ED-4DB2-BD59-A6C34878D82A}">
                    <a16:rowId xmlns:a16="http://schemas.microsoft.com/office/drawing/2014/main" val="10004"/>
                  </a:ext>
                </a:extLst>
              </a:tr>
              <a:tr h="558000">
                <a:tc>
                  <a:txBody>
                    <a:bodyPr/>
                    <a:lstStyle/>
                    <a:p>
                      <a:pPr algn="ctr"/>
                      <a:r>
                        <a:rPr sz="1100">
                          <a:solidFill>
                            <a:srgbClr val="1C2233"/>
                          </a:solidFill>
                          <a:latin typeface="メイリオ"/>
                          <a:ea typeface="メイリオ"/>
                          <a:cs typeface="メイリオ"/>
                        </a:rPr>
                        <a:t>10〜11月</a:t>
                      </a:r>
                    </a:p>
                  </a:txBody>
                  <a:tcPr anchor="ctr">
                    <a:solidFill>
                      <a:srgbClr val="FFFFFF"/>
                    </a:solidFill>
                  </a:tcPr>
                </a:tc>
                <a:tc>
                  <a:txBody>
                    <a:bodyPr/>
                    <a:lstStyle/>
                    <a:p>
                      <a:pPr algn="l"/>
                      <a:r>
                        <a:rPr sz="1100">
                          <a:solidFill>
                            <a:srgbClr val="1C2233"/>
                          </a:solidFill>
                          <a:latin typeface="メイリオ"/>
                          <a:ea typeface="メイリオ"/>
                          <a:cs typeface="メイリオ"/>
                        </a:rPr>
                        <a:t>学校推薦型・指定校推薦の出願支援／保護者向け説明会の案内</a:t>
                      </a:r>
                    </a:p>
                  </a:txBody>
                  <a:tcPr anchor="ctr">
                    <a:solidFill>
                      <a:srgbClr val="FFFFFF"/>
                    </a:solidFill>
                  </a:tcPr>
                </a:tc>
                <a:tc>
                  <a:txBody>
                    <a:bodyPr/>
                    <a:lstStyle/>
                    <a:p>
                      <a:pPr algn="l"/>
                      <a:r>
                        <a:rPr sz="1100" dirty="0">
                          <a:solidFill>
                            <a:srgbClr val="1C2233"/>
                          </a:solidFill>
                          <a:latin typeface="メイリオ"/>
                          <a:ea typeface="メイリオ"/>
                          <a:cs typeface="メイリオ"/>
                        </a:rPr>
                        <a:t>「学校推薦型選抜」は11月単峰。「指定校推薦」は11月中旬に第2の山</a:t>
                      </a:r>
                    </a:p>
                  </a:txBody>
                  <a:tcPr anchor="ctr">
                    <a:solidFill>
                      <a:srgbClr val="FFFFFF"/>
                    </a:solidFill>
                  </a:tcPr>
                </a:tc>
                <a:extLst>
                  <a:ext uri="{0D108BD9-81ED-4DB2-BD59-A6C34878D82A}">
                    <a16:rowId xmlns:a16="http://schemas.microsoft.com/office/drawing/2014/main" val="10005"/>
                  </a:ext>
                </a:extLst>
              </a:tr>
              <a:tr h="558000">
                <a:tc>
                  <a:txBody>
                    <a:bodyPr/>
                    <a:lstStyle/>
                    <a:p>
                      <a:pPr algn="ctr"/>
                      <a:r>
                        <a:rPr sz="1100">
                          <a:solidFill>
                            <a:srgbClr val="1C2233"/>
                          </a:solidFill>
                          <a:latin typeface="メイリオ"/>
                          <a:ea typeface="メイリオ"/>
                          <a:cs typeface="メイリオ"/>
                        </a:rPr>
                        <a:t>12〜1月</a:t>
                      </a:r>
                    </a:p>
                  </a:txBody>
                  <a:tcPr anchor="ctr">
                    <a:solidFill>
                      <a:srgbClr val="F4F7FF"/>
                    </a:solidFill>
                  </a:tcPr>
                </a:tc>
                <a:tc>
                  <a:txBody>
                    <a:bodyPr/>
                    <a:lstStyle/>
                    <a:p>
                      <a:pPr algn="l"/>
                      <a:r>
                        <a:rPr sz="1100">
                          <a:solidFill>
                            <a:srgbClr val="1C2233"/>
                          </a:solidFill>
                          <a:latin typeface="メイリオ"/>
                          <a:ea typeface="メイリオ"/>
                          <a:cs typeface="メイリオ"/>
                        </a:rPr>
                        <a:t>一般選抜層の受け皿：入試方式の違い・過去問・入試説明会</a:t>
                      </a:r>
                    </a:p>
                  </a:txBody>
                  <a:tcPr anchor="ctr">
                    <a:solidFill>
                      <a:srgbClr val="F4F7FF"/>
                    </a:solidFill>
                  </a:tcPr>
                </a:tc>
                <a:tc>
                  <a:txBody>
                    <a:bodyPr/>
                    <a:lstStyle/>
                    <a:p>
                      <a:pPr algn="l"/>
                      <a:r>
                        <a:rPr sz="1100" dirty="0">
                          <a:solidFill>
                            <a:srgbClr val="1C2233"/>
                          </a:solidFill>
                          <a:latin typeface="メイリオ"/>
                          <a:ea typeface="メイリオ"/>
                          <a:cs typeface="メイリオ"/>
                        </a:rPr>
                        <a:t>「共通テスト」は1月中旬の2週間だけ動く</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（他月は10以下）</a:t>
                      </a:r>
                    </a:p>
                  </a:txBody>
                  <a:tcPr anchor="ctr">
                    <a:solidFill>
                      <a:srgbClr val="F4F7FF"/>
                    </a:solidFill>
                  </a:tcPr>
                </a:tc>
                <a:extLst>
                  <a:ext uri="{0D108BD9-81ED-4DB2-BD59-A6C34878D82A}">
                    <a16:rowId xmlns:a16="http://schemas.microsoft.com/office/drawing/2014/main" val="10006"/>
                  </a:ext>
                </a:extLst>
              </a:tr>
              <a:tr h="558000">
                <a:tc>
                  <a:txBody>
                    <a:bodyPr/>
                    <a:lstStyle/>
                    <a:p>
                      <a:pPr algn="ctr"/>
                      <a:r>
                        <a:rPr sz="1100">
                          <a:solidFill>
                            <a:srgbClr val="1C2233"/>
                          </a:solidFill>
                          <a:latin typeface="メイリオ"/>
                          <a:ea typeface="メイリオ"/>
                          <a:cs typeface="メイリオ"/>
                        </a:rPr>
                        <a:t>2〜3月</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入学手続期の離脱防止：入学前オリエン・先輩との交流</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一人暮らし準備</a:t>
                      </a:r>
                      <a:endParaRPr sz="1100" dirty="0">
                        <a:solidFill>
                          <a:srgbClr val="1C2233"/>
                        </a:solidFill>
                        <a:latin typeface="メイリオ"/>
                        <a:ea typeface="メイリオ"/>
                        <a:cs typeface="メイリオ"/>
                      </a:endParaRPr>
                    </a:p>
                  </a:txBody>
                  <a:tcPr anchor="ctr">
                    <a:solidFill>
                      <a:srgbClr val="FFFFFF"/>
                    </a:solidFill>
                  </a:tcPr>
                </a:tc>
                <a:tc>
                  <a:txBody>
                    <a:bodyPr/>
                    <a:lstStyle/>
                    <a:p>
                      <a:pPr algn="l"/>
                      <a:r>
                        <a:rPr sz="1100" dirty="0" err="1">
                          <a:solidFill>
                            <a:srgbClr val="1C2233"/>
                          </a:solidFill>
                          <a:latin typeface="メイリオ"/>
                          <a:ea typeface="メイリオ"/>
                          <a:cs typeface="メイリオ"/>
                        </a:rPr>
                        <a:t>一般選抜</a:t>
                      </a:r>
                      <a:r>
                        <a:rPr sz="1100" dirty="0">
                          <a:solidFill>
                            <a:srgbClr val="1C2233"/>
                          </a:solidFill>
                          <a:latin typeface="メイリオ"/>
                          <a:ea typeface="メイリオ"/>
                          <a:cs typeface="メイリオ"/>
                        </a:rPr>
                        <a:t> 2/1〜。</a:t>
                      </a:r>
                      <a:r>
                        <a:rPr sz="1100" dirty="0" err="1">
                          <a:solidFill>
                            <a:srgbClr val="1C2233"/>
                          </a:solidFill>
                          <a:latin typeface="メイリオ"/>
                          <a:ea typeface="メイリオ"/>
                          <a:cs typeface="メイリオ"/>
                        </a:rPr>
                        <a:t>併願による流出が起きる区間</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参照データ：Googleトレンド（2026-09-15取得・日本・ウェブ検索）／文部科学省「大学入学者選抜実施要項」。</a:t>
            </a:r>
          </a:p>
          <a:p>
            <a:pPr algn="l">
              <a:lnSpc>
                <a:spcPct val="120000"/>
              </a:lnSpc>
            </a:pPr>
            <a:r>
              <a:rPr sz="900">
                <a:solidFill>
                  <a:srgbClr val="646C82"/>
                </a:solidFill>
                <a:latin typeface="メイリオ"/>
                <a:ea typeface="メイリオ"/>
                <a:cs typeface="メイリオ"/>
              </a:rPr>
              <a:t>※ 専門学校はAOエントリー6/1・出願10/1解禁（全国専修学校各種学校総連合会の申し合わせ・要確認）のため、全体が前倒しになる。</a:t>
            </a:r>
          </a:p>
        </p:txBody>
      </p:sp>
    </p:spTree>
    <p:extLst>
      <p:ext uri="{BB962C8B-B14F-4D97-AF65-F5344CB8AC3E}">
        <p14:creationId xmlns:p14="http://schemas.microsoft.com/office/powerpoint/2010/main" val="3225074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通知メッセージ・飛び道具｜友だちでない高校生にも届かせる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電話番号があれば、友だちでなくてもLINEに届く。資料請求者・OC予約者の取りこぼしを拾う。</a:t>
            </a:r>
          </a:p>
        </p:txBody>
      </p:sp>
      <p:sp>
        <p:nvSpPr>
          <p:cNvPr id="4" name="TextBox 3"/>
          <p:cNvSpPr txBox="1"/>
          <p:nvPr/>
        </p:nvSpPr>
        <p:spPr>
          <a:xfrm>
            <a:off x="396000" y="1224000"/>
            <a:ext cx="4464000" cy="324000"/>
          </a:xfrm>
          <a:prstGeom prst="rect">
            <a:avLst/>
          </a:prstGeom>
          <a:noFill/>
        </p:spPr>
        <p:txBody>
          <a:bodyPr wrap="square" lIns="0" tIns="21600" rIns="0" bIns="21600" anchor="t">
            <a:spAutoFit/>
          </a:bodyPr>
          <a:lstStyle/>
          <a:p>
            <a:pPr algn="l"/>
            <a:r>
              <a:rPr sz="1250" b="1">
                <a:solidFill>
                  <a:srgbClr val="1F285A"/>
                </a:solidFill>
                <a:latin typeface="メイリオ"/>
                <a:ea typeface="メイリオ"/>
                <a:cs typeface="メイリオ"/>
              </a:rPr>
              <a:t>■ 通知メッセージ 利用シーン</a:t>
            </a:r>
          </a:p>
        </p:txBody>
      </p:sp>
      <p:sp>
        <p:nvSpPr>
          <p:cNvPr id="5" name="Rounded Rectangle 4"/>
          <p:cNvSpPr/>
          <p:nvPr/>
        </p:nvSpPr>
        <p:spPr>
          <a:xfrm>
            <a:off x="396000" y="1620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OC予約確定のお知らせ</a:t>
            </a:r>
          </a:p>
          <a:p>
            <a:pPr algn="l">
              <a:lnSpc>
                <a:spcPct val="120000"/>
              </a:lnSpc>
              <a:spcAft>
                <a:spcPts val="200"/>
              </a:spcAft>
            </a:pPr>
            <a:r>
              <a:rPr sz="1050">
                <a:solidFill>
                  <a:srgbClr val="1C2233"/>
                </a:solidFill>
                <a:latin typeface="メイリオ"/>
                <a:ea typeface="メイリオ"/>
                <a:cs typeface="メイリオ"/>
              </a:rPr>
              <a:t>持ち物・アクセス・当日の流れ → 参加（CV②）へ</a:t>
            </a:r>
          </a:p>
        </p:txBody>
      </p:sp>
      <p:sp>
        <p:nvSpPr>
          <p:cNvPr id="6" name="Rounded Rectangle 5"/>
          <p:cNvSpPr/>
          <p:nvPr/>
        </p:nvSpPr>
        <p:spPr>
          <a:xfrm>
            <a:off x="396000" y="2538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OC前日リマインド</a:t>
            </a:r>
          </a:p>
          <a:p>
            <a:pPr algn="l">
              <a:lnSpc>
                <a:spcPct val="120000"/>
              </a:lnSpc>
              <a:spcAft>
                <a:spcPts val="200"/>
              </a:spcAft>
            </a:pPr>
            <a:r>
              <a:rPr sz="1050">
                <a:solidFill>
                  <a:srgbClr val="1C2233"/>
                </a:solidFill>
                <a:latin typeface="メイリオ"/>
                <a:ea typeface="メイリオ"/>
                <a:cs typeface="メイリオ"/>
              </a:rPr>
              <a:t>「来られなくなっても大丈夫」を先に書く → 無断キャンセルを連絡ありに変える</a:t>
            </a:r>
          </a:p>
        </p:txBody>
      </p:sp>
      <p:sp>
        <p:nvSpPr>
          <p:cNvPr id="7" name="Rounded Rectangle 6"/>
          <p:cNvSpPr/>
          <p:nvPr/>
        </p:nvSpPr>
        <p:spPr>
          <a:xfrm>
            <a:off x="396000" y="3456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出願受付・書類到着のお知らせ</a:t>
            </a:r>
          </a:p>
          <a:p>
            <a:pPr algn="l">
              <a:lnSpc>
                <a:spcPct val="120000"/>
              </a:lnSpc>
              <a:spcAft>
                <a:spcPts val="200"/>
              </a:spcAft>
            </a:pPr>
            <a:r>
              <a:rPr sz="1050">
                <a:solidFill>
                  <a:srgbClr val="1C2233"/>
                </a:solidFill>
                <a:latin typeface="メイリオ"/>
                <a:ea typeface="メイリオ"/>
                <a:cs typeface="メイリオ"/>
              </a:rPr>
              <a:t>次の手続きの期限を同時に案内 → 出願完了（CV③）へ</a:t>
            </a:r>
          </a:p>
        </p:txBody>
      </p:sp>
      <p:sp>
        <p:nvSpPr>
          <p:cNvPr id="8" name="Rounded Rectangle 7"/>
          <p:cNvSpPr/>
          <p:nvPr/>
        </p:nvSpPr>
        <p:spPr>
          <a:xfrm>
            <a:off x="396000" y="4373999"/>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入学手続の期限リマインド</a:t>
            </a:r>
          </a:p>
          <a:p>
            <a:pPr algn="l">
              <a:lnSpc>
                <a:spcPct val="120000"/>
              </a:lnSpc>
              <a:spcAft>
                <a:spcPts val="200"/>
              </a:spcAft>
            </a:pPr>
            <a:r>
              <a:rPr sz="1050">
                <a:solidFill>
                  <a:srgbClr val="1C2233"/>
                </a:solidFill>
                <a:latin typeface="メイリオ"/>
                <a:ea typeface="メイリオ"/>
                <a:cs typeface="メイリオ"/>
              </a:rPr>
              <a:t>併願による流出が起きる区間を守る</a:t>
            </a:r>
          </a:p>
        </p:txBody>
      </p:sp>
      <p:sp>
        <p:nvSpPr>
          <p:cNvPr id="9" name="TextBox 8"/>
          <p:cNvSpPr txBox="1"/>
          <p:nvPr/>
        </p:nvSpPr>
        <p:spPr>
          <a:xfrm>
            <a:off x="5076000" y="1224000"/>
            <a:ext cx="4464000" cy="324000"/>
          </a:xfrm>
          <a:prstGeom prst="rect">
            <a:avLst/>
          </a:prstGeom>
          <a:noFill/>
        </p:spPr>
        <p:txBody>
          <a:bodyPr wrap="square" lIns="0" tIns="21600" rIns="0" bIns="21600" anchor="t">
            <a:spAutoFit/>
          </a:bodyPr>
          <a:lstStyle/>
          <a:p>
            <a:pPr algn="l"/>
            <a:r>
              <a:rPr sz="1250" b="1">
                <a:solidFill>
                  <a:srgbClr val="ED7D31"/>
                </a:solidFill>
                <a:latin typeface="メイリオ"/>
                <a:ea typeface="メイリオ"/>
                <a:cs typeface="メイリオ"/>
              </a:rPr>
              <a:t>■ 飛び道具（この業界ならではの企画軸）</a:t>
            </a:r>
          </a:p>
        </p:txBody>
      </p:sp>
      <p:sp>
        <p:nvSpPr>
          <p:cNvPr id="10" name="Rounded Rectangle 9"/>
          <p:cNvSpPr/>
          <p:nvPr/>
        </p:nvSpPr>
        <p:spPr>
          <a:xfrm>
            <a:off x="5076000" y="1620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① 30秒 学部学科診断</a:t>
            </a:r>
          </a:p>
          <a:p>
            <a:pPr algn="l">
              <a:lnSpc>
                <a:spcPct val="120000"/>
              </a:lnSpc>
              <a:spcAft>
                <a:spcPts val="200"/>
              </a:spcAft>
            </a:pPr>
            <a:r>
              <a:rPr sz="1050">
                <a:solidFill>
                  <a:srgbClr val="1C2233"/>
                </a:solidFill>
                <a:latin typeface="メイリオ"/>
                <a:ea typeface="メイリオ"/>
                <a:cs typeface="メイリオ"/>
              </a:rPr>
              <a:t>匿名・入力ゼロ。決まっていない子が押せる唯一の入口</a:t>
            </a:r>
          </a:p>
        </p:txBody>
      </p:sp>
      <p:sp>
        <p:nvSpPr>
          <p:cNvPr id="11" name="Rounded Rectangle 10"/>
          <p:cNvSpPr/>
          <p:nvPr/>
        </p:nvSpPr>
        <p:spPr>
          <a:xfrm>
            <a:off x="5076000" y="2538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② 4年間の学費シミュレーター</a:t>
            </a:r>
          </a:p>
          <a:p>
            <a:pPr algn="l">
              <a:lnSpc>
                <a:spcPct val="120000"/>
              </a:lnSpc>
              <a:spcAft>
                <a:spcPts val="200"/>
              </a:spcAft>
            </a:pPr>
            <a:r>
              <a:rPr sz="1050">
                <a:solidFill>
                  <a:srgbClr val="1C2233"/>
                </a:solidFill>
                <a:latin typeface="メイリオ"/>
                <a:ea typeface="メイリオ"/>
                <a:cs typeface="メイリオ"/>
              </a:rPr>
              <a:t>入力3項目・1分。保護者の最大の不安に、先に答える</a:t>
            </a:r>
          </a:p>
        </p:txBody>
      </p:sp>
      <p:sp>
        <p:nvSpPr>
          <p:cNvPr id="12" name="Rounded Rectangle 11"/>
          <p:cNvSpPr/>
          <p:nvPr/>
        </p:nvSpPr>
        <p:spPr>
          <a:xfrm>
            <a:off x="5076000" y="3456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③ 志望理由書の下書き支援</a:t>
            </a:r>
          </a:p>
          <a:p>
            <a:pPr algn="l">
              <a:lnSpc>
                <a:spcPct val="120000"/>
              </a:lnSpc>
              <a:spcAft>
                <a:spcPts val="200"/>
              </a:spcAft>
            </a:pPr>
            <a:r>
              <a:rPr sz="1050">
                <a:solidFill>
                  <a:srgbClr val="1C2233"/>
                </a:solidFill>
                <a:latin typeface="メイリオ"/>
                <a:ea typeface="メイリオ"/>
                <a:cs typeface="メイリオ"/>
              </a:rPr>
              <a:t>出願直前に立つのは「書き方」検索。情報ではなく手伝いを渡す</a:t>
            </a:r>
          </a:p>
        </p:txBody>
      </p:sp>
      <p:sp>
        <p:nvSpPr>
          <p:cNvPr id="13" name="Rounded Rectangle 12"/>
          <p:cNvSpPr/>
          <p:nvPr/>
        </p:nvSpPr>
        <p:spPr>
          <a:xfrm>
            <a:off x="5076000" y="4373999"/>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④ 中退予兆検知（入学後）</a:t>
            </a:r>
          </a:p>
          <a:p>
            <a:pPr algn="l">
              <a:lnSpc>
                <a:spcPct val="120000"/>
              </a:lnSpc>
              <a:spcAft>
                <a:spcPts val="200"/>
              </a:spcAft>
            </a:pPr>
            <a:r>
              <a:rPr sz="1050">
                <a:solidFill>
                  <a:srgbClr val="1C2233"/>
                </a:solidFill>
                <a:latin typeface="メイリオ"/>
                <a:ea typeface="メイリオ"/>
                <a:cs typeface="メイリオ"/>
              </a:rPr>
              <a:t>一定期間アクションのない在学生に自動で声かけ</a:t>
            </a:r>
          </a:p>
        </p:txBody>
      </p:sp>
      <p:sp>
        <p:nvSpPr>
          <p:cNvPr id="14" name="TextBox 13"/>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通知メッセージは Sales Partner／Tech Partner 限定公開のAPIを使用する機能（初期10万円／月額8万円〜＋通数単価7円）。</a:t>
            </a:r>
          </a:p>
          <a:p>
            <a:pPr algn="l">
              <a:lnSpc>
                <a:spcPct val="120000"/>
              </a:lnSpc>
            </a:pPr>
            <a:r>
              <a:rPr sz="900">
                <a:solidFill>
                  <a:srgbClr val="646C82"/>
                </a:solidFill>
                <a:latin typeface="メイリオ"/>
                <a:ea typeface="メイリオ"/>
                <a:cs typeface="メイリオ"/>
              </a:rPr>
              <a:t>※ 送信対象は貴学が保有する電話番号リスト。利用にあたっては個人情報の取得同意の範囲を確認する。</a:t>
            </a:r>
          </a:p>
        </p:txBody>
      </p:sp>
    </p:spTree>
    <p:extLst>
      <p:ext uri="{BB962C8B-B14F-4D97-AF65-F5344CB8AC3E}">
        <p14:creationId xmlns:p14="http://schemas.microsoft.com/office/powerpoint/2010/main" val="4224870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④資料請求・友だち追加(LINE)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[LINEで学部学科診断]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資料請求／OC予約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こんな学校・状況に向く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rPr>
              <a:t>✓ 資料請求・OC予約の完了率が低い</a:t>
            </a:r>
            <a:r>
              <a:rPr sz="1200" b="0" dirty="0" err="1">
                <a:solidFill>
                  <a:srgbClr val="1C2233"/>
                </a:solidFill>
                <a:latin typeface="メイリオ"/>
              </a:rPr>
              <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検討初期の迷い層を逃す</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電話折返しの工数が重い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こんな学校・状況に向く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rPr>
              <a:t>✓ 資料請求・OC予約は既に回っている</a:t>
            </a:r>
            <a:r>
              <a:rPr sz="1200" b="0" dirty="0" err="1">
                <a:solidFill>
                  <a:srgbClr val="1C2233"/>
                </a:solidFill>
                <a:latin typeface="メイリオ"/>
              </a:rPr>
              <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無断キャンセルが課題</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通知メッセを使いたい</a:t>
            </a:r>
            <a:endParaRPr sz="1200" b="0" dirty="0">
              <a:solidFill>
                <a:srgbClr val="1C2233"/>
              </a:solidFill>
              <a:latin typeface="メイリオ"/>
            </a:endParaRPr>
          </a:p>
          <a:p>
            <a:r>
              <a:rPr sz="1200" b="0" dirty="0">
                <a:solidFill>
                  <a:srgbClr val="1C2233"/>
                </a:solidFill>
                <a:latin typeface="メイリオ"/>
              </a:rPr>
              <a:t>✓ 入学後もLINEを活用したい</a:t>
            </a:r>
            <a:r>
              <a:rPr sz="1200" b="0" dirty="0" err="1">
                <a:solidFill>
                  <a:srgbClr val="1C2233"/>
                </a:solidFill>
                <a:latin typeface="メイリオ"/>
              </a:rPr>
              <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施策を通じて貴学に送ることが出来る個人情報を最大化する。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⑦出願・入学手続</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⑧入学後の定着・中退防止・紹介</a:t>
            </a:r>
            <a:r>
              <a:rPr lang="en-US" altLang="ja-JP" sz="1100" b="1" dirty="0">
                <a:latin typeface="メイリオ" panose="020B0604030504040204" pitchFamily="50" charset="-128"/>
                <a:ea typeface="メイリオ" panose="020B0604030504040204" pitchFamily="50" charset="-128"/>
              </a:rPr>
              <a:t/>
            </a:r>
            <a:r>
              <a:rPr lang="ja-JP" altLang="en-US" sz="1100" b="1" dirty="0">
                <a:latin typeface="メイリオ" panose="020B0604030504040204" pitchFamily="50" charset="-128"/>
                <a:ea typeface="メイリオ" panose="020B0604030504040204" pitchFamily="50" charset="-128"/>
              </a:rPr>
              <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LINE広告のCPFを利用して、興味関心×エリアでのリード保有数を最大化。</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をそのままOC予約フォームへ転換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OC予約フォームCV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⑦出願・入学手続</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⑧入学後の定着・中退防止・紹介</a:t>
            </a:r>
            <a:r>
              <a:rPr lang="en-US" altLang="ja-JP" sz="1100" b="1" dirty="0">
                <a:latin typeface="メイリオ" panose="020B0604030504040204" pitchFamily="50" charset="-128"/>
                <a:ea typeface="メイリオ" panose="020B0604030504040204" pitchFamily="50" charset="-128"/>
              </a:rPr>
              <a:t/>
            </a:r>
            <a:r>
              <a:rPr lang="ja-JP" altLang="en-US" sz="1100" b="1" dirty="0">
                <a:latin typeface="メイリオ" panose="020B0604030504040204" pitchFamily="50" charset="-128"/>
                <a:ea typeface="メイリオ" panose="020B0604030504040204" pitchFamily="50" charset="-128"/>
              </a:rPr>
              <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獲得されたリードを[接触][個別相談・OC予約]などの直リーチができる状態に引き上げる。</a:t>
            </a:r>
            <a:r>
              <a:rPr lang="en-US" altLang="ja-JP" sz="1600" b="1" dirty="0">
                <a:latin typeface="メイリオ" panose="020B0604030504040204" pitchFamily="50" charset="-128"/>
                <a:ea typeface="メイリオ" panose="020B0604030504040204" pitchFamily="50" charset="-128"/>
                <a:cs typeface="Meiryo"/>
                <a:sym typeface="Meiryo"/>
              </a:rPr>
              <a:t/>
            </a:r>
            <a:r>
              <a:rPr lang="ja-JP" altLang="en-US" sz="1600" b="1" dirty="0">
                <a:latin typeface="メイリオ" panose="020B0604030504040204" pitchFamily="50" charset="-128"/>
                <a:ea typeface="メイリオ" panose="020B0604030504040204" pitchFamily="50" charset="-128"/>
                <a:cs typeface="Meiryo"/>
                <a:sym typeface="Meiryo"/>
              </a:rPr>
              <a:t/>
            </a:r>
            <a:r>
              <a:rPr lang="en-US" altLang="ja-JP" sz="1600" b="1" dirty="0">
                <a:latin typeface="メイリオ" panose="020B0604030504040204" pitchFamily="50" charset="-128"/>
                <a:ea typeface="メイリオ" panose="020B0604030504040204" pitchFamily="50" charset="-128"/>
                <a:cs typeface="Meiryo"/>
                <a:sym typeface="Meiryo"/>
              </a:rPr>
              <a:t/>
            </a:r>
            <a:r>
              <a:rPr lang="ja-JP" altLang="en-US" sz="1600" b="1" dirty="0">
                <a:latin typeface="メイリオ" panose="020B0604030504040204" pitchFamily="50" charset="-128"/>
                <a:ea typeface="メイリオ" panose="020B0604030504040204" pitchFamily="50" charset="-128"/>
                <a:cs typeface="Meiryo"/>
                <a:sym typeface="Meiryo"/>
              </a:rPr>
              <a:t/>
            </a:r>
            <a:r>
              <a:rPr lang="en-US" altLang="ja-JP" sz="1600" b="1" dirty="0">
                <a:latin typeface="メイリオ" panose="020B0604030504040204" pitchFamily="50" charset="-128"/>
                <a:ea typeface="メイリオ" panose="020B0604030504040204" pitchFamily="50" charset="-128"/>
                <a:cs typeface="Meiryo"/>
                <a:sym typeface="Meiryo"/>
              </a:rPr>
              <a:t/>
            </a:r>
            <a:r>
              <a:rPr lang="ja-JP" altLang="en-US" sz="1600" b="1" dirty="0">
                <a:latin typeface="メイリオ" panose="020B0604030504040204" pitchFamily="50" charset="-128"/>
                <a:ea typeface="メイリオ" panose="020B0604030504040204" pitchFamily="50" charset="-128"/>
                <a:cs typeface="Meiryo"/>
                <a:sym typeface="Meiryo"/>
              </a:rPr>
              <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ナーチャリングにより、情報収集→OC参加・個別相談へ</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長期：長期間反応のない検討者、すぐすぐ以外の層に再度接点を</a:t>
            </a:r>
            <a:r>
              <a:rPr lang="ja-JP" altLang="en-US" sz="1050" b="1" dirty="0">
                <a:latin typeface="メイリオ" panose="020B0604030504040204" pitchFamily="50" charset="-128"/>
                <a:ea typeface="メイリオ" panose="020B0604030504040204" pitchFamily="50" charset="-128"/>
              </a:rPr>
              <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 限定相談オファーで予約獲得</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Day0資料→Day3よくある質問→Day7在学生の声→Day10「今月限定・無料個別相談を○名様に」。「今すぐ出願」ではなく「まず話を聞くだけ」という低ハードルの相談設定が鍵。限定性・数量制限で動機付け。</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在学生の声</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 × スコアリングで志望度を振り分け</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出願を検討中」「他校と比較中」の回答者を志望度の高い受験生として自動抽出し、入試広報担当者が即日連絡。全リードに担当者が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志望度の高い層を特定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担当者へ連携</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個別相談化70%改善事例も</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入試イベント連動配信で未反応リストを起こす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「夏のオープンキャンパスに向けて、今から準備を始める高校生が増えています」という学校固有のモーメントに乗せた再接触配信。検討のピーク2〜3週前に配信することがCVR最大化のコツ。「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未反応リスト再CV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「その後いかが？」配信で未出願・辞退者を再活性化</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未出願・辞退から3〜6ヶ月後に「ご状況が変わっていれば改めてご案内できます」と自然なトーンで再接触。辞退理由別でシナリオを分岐：「学費NG」層→「奨学金・学費の制度をご案内」/「タイミングNG」層→「次回の出願時期に改めて」</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辞退後3〜6ヶ月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辞退理由別分岐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コストゼロで出願獲得</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⑧入学後の定着・中退防止・紹介</a:t>
            </a:r>
            <a:r>
              <a:rPr lang="en-US" altLang="ja-JP" sz="1100" b="1" dirty="0">
                <a:latin typeface="メイリオ" panose="020B0604030504040204" pitchFamily="50" charset="-128"/>
                <a:ea typeface="メイリオ" panose="020B0604030504040204" pitchFamily="50" charset="-128"/>
              </a:rPr>
              <a:t/>
            </a:r>
            <a:r>
              <a:rPr lang="ja-JP" altLang="en-US" sz="1100" b="1" dirty="0">
                <a:latin typeface="メイリオ" panose="020B0604030504040204" pitchFamily="50" charset="-128"/>
                <a:ea typeface="メイリオ" panose="020B0604030504040204" pitchFamily="50" charset="-128"/>
              </a:rPr>
              <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出願・入学手続につなげる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r>
              <a:rPr lang="en-US" altLang="ja-JP" sz="1000" b="1" dirty="0">
                <a:solidFill>
                  <a:schemeClr val="bg1"/>
                </a:solidFill>
                <a:latin typeface="メイリオ" panose="020B0604030504040204" pitchFamily="50" charset="-128"/>
                <a:ea typeface="メイリオ" panose="020B0604030504040204" pitchFamily="50" charset="-128"/>
              </a:rPr>
              <a:t/>
            </a:r>
            <a:r>
              <a:rPr lang="ja-JP" altLang="en-US" sz="1000" b="1" dirty="0">
                <a:solidFill>
                  <a:schemeClr val="bg1"/>
                </a:solidFill>
                <a:latin typeface="メイリオ" panose="020B0604030504040204" pitchFamily="50" charset="-128"/>
                <a:ea typeface="メイリオ" panose="020B0604030504040204" pitchFamily="50" charset="-128"/>
              </a:rPr>
              <a:t/>
            </a:r>
            <a:r>
              <a:rPr lang="en-US" altLang="ja-JP" sz="1000" b="1" dirty="0">
                <a:solidFill>
                  <a:schemeClr val="bg1"/>
                </a:solidFill>
                <a:latin typeface="メイリオ" panose="020B0604030504040204" pitchFamily="50" charset="-128"/>
                <a:ea typeface="メイリオ" panose="020B0604030504040204" pitchFamily="50" charset="-128"/>
              </a:rPr>
              <a:t/>
            </a:r>
            <a:r>
              <a:rPr lang="ja-JP" altLang="en-US" sz="1000" b="1" dirty="0">
                <a:solidFill>
                  <a:schemeClr val="bg1"/>
                </a:solidFill>
                <a:latin typeface="メイリオ" panose="020B0604030504040204" pitchFamily="50" charset="-128"/>
                <a:ea typeface="メイリオ" panose="020B0604030504040204" pitchFamily="50" charset="-128"/>
              </a:rPr>
              <a:t/>
            </a:r>
            <a:r>
              <a:rPr lang="en-US" altLang="ja-JP" sz="1000" b="1" dirty="0">
                <a:solidFill>
                  <a:schemeClr val="bg1"/>
                </a:solidFill>
                <a:latin typeface="メイリオ" panose="020B0604030504040204" pitchFamily="50" charset="-128"/>
                <a:ea typeface="メイリオ" panose="020B0604030504040204" pitchFamily="50" charset="-128"/>
              </a:rPr>
              <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出願・入学手続に関わるハードルを下げる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入学後のイメージ・フォローを見える化する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 × 出願前の不安をリアルタイム解消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出願ページを複数回閲覧しているが踏み切れない層に「ご不明な点はありますか？」とLINEからプッシュ。「学費はいくら？」「併願できる？」「寮・一人暮らしは？」など頻出の不安をKW自動応答で即解消し出願ページ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日程調整自動化で、迷う前に相談日程を確定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個別相談を希望します」と入力した瞬間にカレンダー連携で候補日程を自動提示→タップで選択→確定通知＋リマインドを自動送付。「後で連絡します」のやり取りで冷めるのを防ぎ、温度感が高いまま個別相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「相談希望」入力</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在学生の声配信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「学生生活イメージ」コンテンツで入学後を想起</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出願を迷っている受験生に「入学して3ヶ月の先輩の今」「在学生の1週間スケジュール」などリアルな在学生の声をLINEで定期配信。「入学した後どうなるか」の不安を、実際の在学生・卒業生の声で解消する。</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在学生・卒業生の声</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入学後イメージ醸成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出願検討層のCV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「安心して出願できた」</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OC予約完了後すぐにLINEで「当日の流れをお伝えします」を送付。所要時間・持ち物・集合場所・終了後の個別相談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OC予約完了直後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参加率が上がる</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入学後の定着率を高め、中退を防ぎ、紹介につなげる。</a:t>
            </a:r>
            <a:r>
              <a:rPr lang="en-US" altLang="ja-JP" sz="1600" b="1" dirty="0">
                <a:latin typeface="メイリオ" panose="020B0604030504040204" pitchFamily="50" charset="-128"/>
                <a:ea typeface="メイリオ" panose="020B0604030504040204" pitchFamily="50" charset="-128"/>
                <a:cs typeface="Meiryo"/>
                <a:sym typeface="Meiryo"/>
              </a:rPr>
              <a:t/>
            </a:r>
            <a:r>
              <a:rPr lang="ja-JP" altLang="en-US" sz="1600" b="1" dirty="0">
                <a:latin typeface="メイリオ" panose="020B0604030504040204" pitchFamily="50" charset="-128"/>
                <a:ea typeface="メイリオ" panose="020B0604030504040204" pitchFamily="50" charset="-128"/>
                <a:cs typeface="Meiryo"/>
                <a:sym typeface="Meiryo"/>
              </a:rPr>
              <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⑦出願・入学手続</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⑧入学後の定着・中退防止・紹介</a:t>
            </a:r>
            <a:r>
              <a:rPr lang="en-US" altLang="ja-JP" sz="1100" b="1" dirty="0">
                <a:solidFill>
                  <a:schemeClr val="bg1"/>
                </a:solidFill>
                <a:latin typeface="メイリオ" panose="020B0604030504040204" pitchFamily="50" charset="-128"/>
                <a:ea typeface="メイリオ" panose="020B0604030504040204" pitchFamily="50" charset="-128"/>
              </a:rPr>
              <a:t/>
            </a:r>
            <a:r>
              <a:rPr lang="ja-JP" altLang="en-US" sz="1100" b="1" dirty="0">
                <a:solidFill>
                  <a:schemeClr val="bg1"/>
                </a:solidFill>
                <a:latin typeface="メイリオ" panose="020B0604030504040204" pitchFamily="50" charset="-128"/>
                <a:ea typeface="メイリオ" panose="020B0604030504040204" pitchFamily="50" charset="-128"/>
              </a:rPr>
              <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属性把握により最適なタイミングで関連学部・イベントを提示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入学後のイメージ・フォローを見える化する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関連案内</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行動履歴タグ × 関連イベント案内で次の行動へ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参加履歴・閲覧タグを活用して「反応の多い層」に関連学部・学科や次のイベントを自動配信。「あなたが見た学科なら、この説明会も」という具体的な案内がCVRを高める。満足度が高いOC参加後・入学後3ヶ月が最適タイミング。</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行動履歴タグ付与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反応の多い層を特定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関連イベント案内</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具体的な次の一歩</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イベント参加CV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参加率 -- %向上</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お友達をオープンキャンパスにご紹介いただいた方に○○プレゼント」をLINEで配信。満足度が最も高いOC参加直後・入学3ヶ月後が最適タイミング。紹介経由の友だちは通常の1.5〜2倍定着しやすく、広告比CPA1/5〜1/10。</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のない検討者に「ご無沙汰しています。最近こんな情報があります」という入試情報・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再CV率10%前後</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記念日配信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記念日タグ × パーソナライズ配信で定着を高める</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誕生日・入学記念日を記念日タグとして登録し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様、今日はご誕生日おめでとうございます。お祝いの特典をお贈りします」を自動配信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。「自分のことを覚えてくれている」体験がロイヤリティを高め在学中の接点が途切れにくくなる。</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誕生日・入学日等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お祝い配信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導入成果シミュレーション（Before / After）</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デジタル募集広報費 年1,000万円は据え置き。追加するのはLINE運用費 年360万円のみ。</a:t>
            </a:r>
          </a:p>
          <a:p>
            <a:pPr algn="l">
              <a:lnSpc>
                <a:spcPct val="122000"/>
              </a:lnSpc>
            </a:pPr>
            <a:r>
              <a:rPr sz="1500">
                <a:solidFill>
                  <a:srgbClr val="646C82"/>
                </a:solidFill>
                <a:latin typeface="メイリオ"/>
                <a:ea typeface="メイリオ"/>
                <a:cs typeface="メイリオ"/>
              </a:rPr>
              <a:t>モデル校＝私立大学・入学定員600名・現在の入学者480名（充足率80%）。</a:t>
            </a:r>
          </a:p>
        </p:txBody>
      </p:sp>
      <p:graphicFrame>
        <p:nvGraphicFramePr>
          <p:cNvPr id="4" name="Table 3"/>
          <p:cNvGraphicFramePr>
            <a:graphicFrameLocks noGrp="1"/>
          </p:cNvGraphicFramePr>
          <p:nvPr/>
        </p:nvGraphicFramePr>
        <p:xfrm>
          <a:off x="396000" y="1224000"/>
          <a:ext cx="9144000" cy="3831120"/>
        </p:xfrm>
        <a:graphic>
          <a:graphicData uri="http://schemas.openxmlformats.org/drawingml/2006/table">
            <a:tbl>
              <a:tblPr firstRow="1" bandRow="1">
                <a:tableStyleId>{5C22544A-7EE6-4342-B048-85BDC9FD1C3A}</a:tableStyleId>
              </a:tblPr>
              <a:tblGrid>
                <a:gridCol w="3024000">
                  <a:extLst>
                    <a:ext uri="{9D8B030D-6E8A-4147-A177-3AD203B41FA5}">
                      <a16:colId xmlns:a16="http://schemas.microsoft.com/office/drawing/2014/main" val="20000"/>
                    </a:ext>
                  </a:extLst>
                </a:gridCol>
                <a:gridCol w="2880000">
                  <a:extLst>
                    <a:ext uri="{9D8B030D-6E8A-4147-A177-3AD203B41FA5}">
                      <a16:colId xmlns:a16="http://schemas.microsoft.com/office/drawing/2014/main" val="20001"/>
                    </a:ext>
                  </a:extLst>
                </a:gridCol>
                <a:gridCol w="3240000">
                  <a:extLst>
                    <a:ext uri="{9D8B030D-6E8A-4147-A177-3AD203B41FA5}">
                      <a16:colId xmlns:a16="http://schemas.microsoft.com/office/drawing/2014/main" val="20002"/>
                    </a:ext>
                  </a:extLst>
                </a:gridCol>
              </a:tblGrid>
              <a:tr h="273600">
                <a:tc>
                  <a:txBody>
                    <a:bodyPr/>
                    <a:lstStyle/>
                    <a:p>
                      <a:pPr algn="l"/>
                      <a:r>
                        <a:rPr sz="1200" b="1">
                          <a:solidFill>
                            <a:srgbClr val="FFFFFF"/>
                          </a:solidFill>
                          <a:latin typeface="メイリオ"/>
                          <a:ea typeface="メイリオ"/>
                          <a:cs typeface="メイリオ"/>
                        </a:rPr>
                        <a:t>指標</a:t>
                      </a:r>
                    </a:p>
                  </a:txBody>
                  <a:tcPr anchor="ctr">
                    <a:solidFill>
                      <a:srgbClr val="1F285A"/>
                    </a:solidFill>
                  </a:tcPr>
                </a:tc>
                <a:tc>
                  <a:txBody>
                    <a:bodyPr/>
                    <a:lstStyle/>
                    <a:p>
                      <a:pPr algn="r"/>
                      <a:r>
                        <a:rPr sz="1200" b="1">
                          <a:solidFill>
                            <a:srgbClr val="FFFFFF"/>
                          </a:solidFill>
                          <a:latin typeface="メイリオ"/>
                          <a:ea typeface="メイリオ"/>
                          <a:cs typeface="メイリオ"/>
                        </a:rPr>
                        <a:t>Before（Web広告のみ）</a:t>
                      </a:r>
                    </a:p>
                  </a:txBody>
                  <a:tcPr anchor="ctr">
                    <a:solidFill>
                      <a:srgbClr val="1F285A"/>
                    </a:solidFill>
                  </a:tcPr>
                </a:tc>
                <a:tc>
                  <a:txBody>
                    <a:bodyPr/>
                    <a:lstStyle/>
                    <a:p>
                      <a:pPr algn="r"/>
                      <a:r>
                        <a:rPr sz="1200" b="1">
                          <a:solidFill>
                            <a:srgbClr val="FFFFFF"/>
                          </a:solidFill>
                          <a:latin typeface="メイリオ"/>
                          <a:ea typeface="メイリオ"/>
                          <a:cs typeface="メイリオ"/>
                        </a:rPr>
                        <a:t>After（Web広告 × LINE OA）</a:t>
                      </a:r>
                    </a:p>
                  </a:txBody>
                  <a:tcPr anchor="ctr">
                    <a:solidFill>
                      <a:srgbClr val="1F285A"/>
                    </a:solidFill>
                  </a:tcPr>
                </a:tc>
                <a:extLst>
                  <a:ext uri="{0D108BD9-81ED-4DB2-BD59-A6C34878D82A}">
                    <a16:rowId xmlns:a16="http://schemas.microsoft.com/office/drawing/2014/main" val="10000"/>
                  </a:ext>
                </a:extLst>
              </a:tr>
              <a:tr h="273600">
                <a:tc>
                  <a:txBody>
                    <a:bodyPr/>
                    <a:lstStyle/>
                    <a:p>
                      <a:pPr algn="l"/>
                      <a:r>
                        <a:rPr sz="1100">
                          <a:solidFill>
                            <a:srgbClr val="1C2233"/>
                          </a:solidFill>
                          <a:latin typeface="メイリオ"/>
                          <a:ea typeface="メイリオ"/>
                          <a:cs typeface="メイリオ"/>
                        </a:rPr>
                        <a:t>投下計（広告費＋LINE運用費）</a:t>
                      </a:r>
                    </a:p>
                  </a:txBody>
                  <a:tcPr anchor="ctr">
                    <a:solidFill>
                      <a:srgbClr val="FFFFFF"/>
                    </a:solidFill>
                  </a:tcPr>
                </a:tc>
                <a:tc>
                  <a:txBody>
                    <a:bodyPr/>
                    <a:lstStyle/>
                    <a:p>
                      <a:pPr algn="r"/>
                      <a:r>
                        <a:rPr sz="1100">
                          <a:solidFill>
                            <a:srgbClr val="1C2233"/>
                          </a:solidFill>
                          <a:latin typeface="メイリオ"/>
                          <a:ea typeface="メイリオ"/>
                          <a:cs typeface="メイリオ"/>
                        </a:rPr>
                        <a:t>1,000万円</a:t>
                      </a:r>
                    </a:p>
                  </a:txBody>
                  <a:tcPr anchor="ctr">
                    <a:solidFill>
                      <a:srgbClr val="FFFFFF"/>
                    </a:solidFill>
                  </a:tcPr>
                </a:tc>
                <a:tc>
                  <a:txBody>
                    <a:bodyPr/>
                    <a:lstStyle/>
                    <a:p>
                      <a:pPr algn="r"/>
                      <a:r>
                        <a:rPr sz="1100">
                          <a:solidFill>
                            <a:srgbClr val="1C2233"/>
                          </a:solidFill>
                          <a:latin typeface="メイリオ"/>
                          <a:ea typeface="メイリオ"/>
                          <a:cs typeface="メイリオ"/>
                        </a:rPr>
                        <a:t>1,360万円（＋LINE運用費360万円）</a:t>
                      </a:r>
                    </a:p>
                  </a:txBody>
                  <a:tcPr anchor="ctr">
                    <a:solidFill>
                      <a:srgbClr val="FFFFFF"/>
                    </a:solidFill>
                  </a:tcPr>
                </a:tc>
                <a:extLst>
                  <a:ext uri="{0D108BD9-81ED-4DB2-BD59-A6C34878D82A}">
                    <a16:rowId xmlns:a16="http://schemas.microsoft.com/office/drawing/2014/main" val="10001"/>
                  </a:ext>
                </a:extLst>
              </a:tr>
              <a:tr h="273600">
                <a:tc>
                  <a:txBody>
                    <a:bodyPr/>
                    <a:lstStyle/>
                    <a:p>
                      <a:pPr algn="l"/>
                      <a:r>
                        <a:rPr sz="1100">
                          <a:solidFill>
                            <a:srgbClr val="1C2233"/>
                          </a:solidFill>
                          <a:latin typeface="メイリオ"/>
                          <a:ea typeface="メイリオ"/>
                          <a:cs typeface="メイリオ"/>
                        </a:rPr>
                        <a:t>LP流入</a:t>
                      </a:r>
                    </a:p>
                  </a:txBody>
                  <a:tcPr anchor="ctr">
                    <a:solidFill>
                      <a:srgbClr val="F4F7FF"/>
                    </a:solidFill>
                  </a:tcPr>
                </a:tc>
                <a:tc>
                  <a:txBody>
                    <a:bodyPr/>
                    <a:lstStyle/>
                    <a:p>
                      <a:pPr algn="r"/>
                      <a:r>
                        <a:rPr sz="1100">
                          <a:solidFill>
                            <a:srgbClr val="1C2233"/>
                          </a:solidFill>
                          <a:latin typeface="メイリオ"/>
                          <a:ea typeface="メイリオ"/>
                          <a:cs typeface="メイリオ"/>
                        </a:rPr>
                        <a:t>100,000セッション</a:t>
                      </a:r>
                    </a:p>
                  </a:txBody>
                  <a:tcPr anchor="ctr">
                    <a:solidFill>
                      <a:srgbClr val="F4F7FF"/>
                    </a:solidFill>
                  </a:tcPr>
                </a:tc>
                <a:tc>
                  <a:txBody>
                    <a:bodyPr/>
                    <a:lstStyle/>
                    <a:p>
                      <a:pPr algn="r"/>
                      <a:r>
                        <a:rPr sz="1100">
                          <a:solidFill>
                            <a:srgbClr val="1C2233"/>
                          </a:solidFill>
                          <a:latin typeface="メイリオ"/>
                          <a:ea typeface="メイリオ"/>
                          <a:cs typeface="メイリオ"/>
                        </a:rPr>
                        <a:t>100,000セッション（変えない）</a:t>
                      </a:r>
                    </a:p>
                  </a:txBody>
                  <a:tcPr anchor="ctr">
                    <a:solidFill>
                      <a:srgbClr val="F4F7FF"/>
                    </a:solidFill>
                  </a:tcPr>
                </a:tc>
                <a:extLst>
                  <a:ext uri="{0D108BD9-81ED-4DB2-BD59-A6C34878D82A}">
                    <a16:rowId xmlns:a16="http://schemas.microsoft.com/office/drawing/2014/main" val="10002"/>
                  </a:ext>
                </a:extLst>
              </a:tr>
              <a:tr h="273600">
                <a:tc>
                  <a:txBody>
                    <a:bodyPr/>
                    <a:lstStyle/>
                    <a:p>
                      <a:pPr algn="l"/>
                      <a:r>
                        <a:rPr sz="1100">
                          <a:solidFill>
                            <a:srgbClr val="1C2233"/>
                          </a:solidFill>
                          <a:latin typeface="メイリオ"/>
                          <a:ea typeface="メイリオ"/>
                          <a:cs typeface="メイリオ"/>
                        </a:rPr>
                        <a:t>LP CVR（資料請求）</a:t>
                      </a:r>
                    </a:p>
                  </a:txBody>
                  <a:tcPr anchor="ctr">
                    <a:solidFill>
                      <a:srgbClr val="FFFFFF"/>
                    </a:solidFill>
                  </a:tcPr>
                </a:tc>
                <a:tc>
                  <a:txBody>
                    <a:bodyPr/>
                    <a:lstStyle/>
                    <a:p>
                      <a:pPr algn="r"/>
                      <a:r>
                        <a:rPr sz="1100">
                          <a:solidFill>
                            <a:srgbClr val="1C2233"/>
                          </a:solidFill>
                          <a:latin typeface="メイリオ"/>
                          <a:ea typeface="メイリオ"/>
                          <a:cs typeface="メイリオ"/>
                        </a:rPr>
                        <a:t>2.5%</a:t>
                      </a:r>
                    </a:p>
                  </a:txBody>
                  <a:tcPr anchor="ctr">
                    <a:solidFill>
                      <a:srgbClr val="FFFFFF"/>
                    </a:solidFill>
                  </a:tcPr>
                </a:tc>
                <a:tc>
                  <a:txBody>
                    <a:bodyPr/>
                    <a:lstStyle/>
                    <a:p>
                      <a:pPr algn="r"/>
                      <a:r>
                        <a:rPr sz="1100">
                          <a:solidFill>
                            <a:srgbClr val="1C2233"/>
                          </a:solidFill>
                          <a:latin typeface="メイリオ"/>
                          <a:ea typeface="メイリオ"/>
                          <a:cs typeface="メイリオ"/>
                        </a:rPr>
                        <a:t>2.5%（変えない）</a:t>
                      </a:r>
                    </a:p>
                  </a:txBody>
                  <a:tcPr anchor="ctr">
                    <a:solidFill>
                      <a:srgbClr val="FFFFFF"/>
                    </a:solidFill>
                  </a:tcPr>
                </a:tc>
                <a:extLst>
                  <a:ext uri="{0D108BD9-81ED-4DB2-BD59-A6C34878D82A}">
                    <a16:rowId xmlns:a16="http://schemas.microsoft.com/office/drawing/2014/main" val="10003"/>
                  </a:ext>
                </a:extLst>
              </a:tr>
              <a:tr h="273600">
                <a:tc>
                  <a:txBody>
                    <a:bodyPr/>
                    <a:lstStyle/>
                    <a:p>
                      <a:pPr algn="l"/>
                      <a:r>
                        <a:rPr sz="1100">
                          <a:solidFill>
                            <a:srgbClr val="1C2233"/>
                          </a:solidFill>
                          <a:latin typeface="メイリオ"/>
                          <a:ea typeface="メイリオ"/>
                          <a:cs typeface="メイリオ"/>
                        </a:rPr>
                        <a:t>広告経由のCV①（資料請求）</a:t>
                      </a:r>
                    </a:p>
                  </a:txBody>
                  <a:tcPr anchor="ctr">
                    <a:solidFill>
                      <a:srgbClr val="F4F7FF"/>
                    </a:solidFill>
                  </a:tcPr>
                </a:tc>
                <a:tc>
                  <a:txBody>
                    <a:bodyPr/>
                    <a:lstStyle/>
                    <a:p>
                      <a:pPr algn="r"/>
                      <a:r>
                        <a:rPr sz="1100">
                          <a:solidFill>
                            <a:srgbClr val="1C2233"/>
                          </a:solidFill>
                          <a:latin typeface="メイリオ"/>
                          <a:ea typeface="メイリオ"/>
                          <a:cs typeface="メイリオ"/>
                        </a:rPr>
                        <a:t>2,500件</a:t>
                      </a:r>
                    </a:p>
                  </a:txBody>
                  <a:tcPr anchor="ctr">
                    <a:solidFill>
                      <a:srgbClr val="F4F7FF"/>
                    </a:solidFill>
                  </a:tcPr>
                </a:tc>
                <a:tc>
                  <a:txBody>
                    <a:bodyPr/>
                    <a:lstStyle/>
                    <a:p>
                      <a:pPr algn="r"/>
                      <a:r>
                        <a:rPr sz="1100">
                          <a:solidFill>
                            <a:srgbClr val="1C2233"/>
                          </a:solidFill>
                          <a:latin typeface="メイリオ"/>
                          <a:ea typeface="メイリオ"/>
                          <a:cs typeface="メイリオ"/>
                        </a:rPr>
                        <a:t>2,500件</a:t>
                      </a:r>
                    </a:p>
                  </a:txBody>
                  <a:tcPr anchor="ctr">
                    <a:solidFill>
                      <a:srgbClr val="F4F7FF"/>
                    </a:solidFill>
                  </a:tcPr>
                </a:tc>
                <a:extLst>
                  <a:ext uri="{0D108BD9-81ED-4DB2-BD59-A6C34878D82A}">
                    <a16:rowId xmlns:a16="http://schemas.microsoft.com/office/drawing/2014/main" val="10004"/>
                  </a:ext>
                </a:extLst>
              </a:tr>
              <a:tr h="273600">
                <a:tc>
                  <a:txBody>
                    <a:bodyPr/>
                    <a:lstStyle/>
                    <a:p>
                      <a:pPr algn="l"/>
                      <a:r>
                        <a:rPr sz="1100">
                          <a:solidFill>
                            <a:srgbClr val="1C2233"/>
                          </a:solidFill>
                          <a:latin typeface="メイリオ"/>
                          <a:ea typeface="メイリオ"/>
                          <a:cs typeface="メイリオ"/>
                        </a:rPr>
                        <a:t>LINE友だち化（離脱防止）</a:t>
                      </a:r>
                    </a:p>
                  </a:txBody>
                  <a:tcPr anchor="ctr">
                    <a:solidFill>
                      <a:srgbClr val="FFFFFF"/>
                    </a:solidFill>
                  </a:tcPr>
                </a:tc>
                <a:tc>
                  <a:txBody>
                    <a:bodyPr/>
                    <a:lstStyle/>
                    <a:p>
                      <a:pPr algn="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2,925人（離脱97,500 ×★3%）</a:t>
                      </a:r>
                    </a:p>
                  </a:txBody>
                  <a:tcPr anchor="ctr">
                    <a:solidFill>
                      <a:srgbClr val="FFFFFF"/>
                    </a:solidFill>
                  </a:tcPr>
                </a:tc>
                <a:extLst>
                  <a:ext uri="{0D108BD9-81ED-4DB2-BD59-A6C34878D82A}">
                    <a16:rowId xmlns:a16="http://schemas.microsoft.com/office/drawing/2014/main" val="10005"/>
                  </a:ext>
                </a:extLst>
              </a:tr>
              <a:tr h="273600">
                <a:tc>
                  <a:txBody>
                    <a:bodyPr/>
                    <a:lstStyle/>
                    <a:p>
                      <a:pPr algn="l"/>
                      <a:r>
                        <a:rPr sz="1100">
                          <a:solidFill>
                            <a:srgbClr val="1C2233"/>
                          </a:solidFill>
                          <a:latin typeface="メイリオ"/>
                          <a:ea typeface="メイリオ"/>
                          <a:cs typeface="メイリオ"/>
                        </a:rPr>
                        <a:t>LINE経由のCV①</a:t>
                      </a:r>
                    </a:p>
                  </a:txBody>
                  <a:tcPr anchor="ctr">
                    <a:solidFill>
                      <a:srgbClr val="F4F7FF"/>
                    </a:solidFill>
                  </a:tcPr>
                </a:tc>
                <a:tc>
                  <a:txBody>
                    <a:bodyPr/>
                    <a:lstStyle/>
                    <a:p>
                      <a:pPr algn="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585件（友だち ×★20%）</a:t>
                      </a:r>
                    </a:p>
                  </a:txBody>
                  <a:tcPr anchor="ctr">
                    <a:solidFill>
                      <a:srgbClr val="F4F7FF"/>
                    </a:solidFill>
                  </a:tcPr>
                </a:tc>
                <a:extLst>
                  <a:ext uri="{0D108BD9-81ED-4DB2-BD59-A6C34878D82A}">
                    <a16:rowId xmlns:a16="http://schemas.microsoft.com/office/drawing/2014/main" val="10006"/>
                  </a:ext>
                </a:extLst>
              </a:tr>
              <a:tr h="273600">
                <a:tc>
                  <a:txBody>
                    <a:bodyPr/>
                    <a:lstStyle/>
                    <a:p>
                      <a:pPr algn="l"/>
                      <a:r>
                        <a:rPr sz="1100">
                          <a:solidFill>
                            <a:srgbClr val="1C2233"/>
                          </a:solidFill>
                          <a:latin typeface="メイリオ"/>
                          <a:ea typeface="メイリオ"/>
                          <a:cs typeface="メイリオ"/>
                        </a:rPr>
                        <a:t>CV①合計 ／ CPA</a:t>
                      </a:r>
                    </a:p>
                  </a:txBody>
                  <a:tcPr anchor="ctr">
                    <a:solidFill>
                      <a:srgbClr val="FFFFFF"/>
                    </a:solidFill>
                  </a:tcPr>
                </a:tc>
                <a:tc>
                  <a:txBody>
                    <a:bodyPr/>
                    <a:lstStyle/>
                    <a:p>
                      <a:pPr algn="r"/>
                      <a:r>
                        <a:rPr sz="1100">
                          <a:solidFill>
                            <a:srgbClr val="1C2233"/>
                          </a:solidFill>
                          <a:latin typeface="メイリオ"/>
                          <a:ea typeface="メイリオ"/>
                          <a:cs typeface="メイリオ"/>
                        </a:rPr>
                        <a:t>2,500件 ／ 4,000円</a:t>
                      </a:r>
                    </a:p>
                  </a:txBody>
                  <a:tcPr anchor="ctr">
                    <a:solidFill>
                      <a:srgbClr val="FFFFFF"/>
                    </a:solidFill>
                  </a:tcPr>
                </a:tc>
                <a:tc>
                  <a:txBody>
                    <a:bodyPr/>
                    <a:lstStyle/>
                    <a:p>
                      <a:pPr algn="r"/>
                      <a:r>
                        <a:rPr sz="1100">
                          <a:solidFill>
                            <a:srgbClr val="1C2233"/>
                          </a:solidFill>
                          <a:latin typeface="メイリオ"/>
                          <a:ea typeface="メイリオ"/>
                          <a:cs typeface="メイリオ"/>
                        </a:rPr>
                        <a:t>3,085件 ／ 4,408円</a:t>
                      </a:r>
                    </a:p>
                  </a:txBody>
                  <a:tcPr anchor="ctr">
                    <a:solidFill>
                      <a:srgbClr val="FFFFFF"/>
                    </a:solidFill>
                  </a:tcPr>
                </a:tc>
                <a:extLst>
                  <a:ext uri="{0D108BD9-81ED-4DB2-BD59-A6C34878D82A}">
                    <a16:rowId xmlns:a16="http://schemas.microsoft.com/office/drawing/2014/main" val="10007"/>
                  </a:ext>
                </a:extLst>
              </a:tr>
              <a:tr h="273600">
                <a:tc>
                  <a:txBody>
                    <a:bodyPr/>
                    <a:lstStyle/>
                    <a:p>
                      <a:pPr algn="l"/>
                      <a:r>
                        <a:rPr sz="1100">
                          <a:solidFill>
                            <a:srgbClr val="1C2233"/>
                          </a:solidFill>
                          <a:latin typeface="メイリオ"/>
                          <a:ea typeface="メイリオ"/>
                          <a:cs typeface="メイリオ"/>
                        </a:rPr>
                        <a:t>→ OC予約率</a:t>
                      </a:r>
                    </a:p>
                  </a:txBody>
                  <a:tcPr anchor="ctr">
                    <a:solidFill>
                      <a:srgbClr val="F4F7FF"/>
                    </a:solidFill>
                  </a:tcPr>
                </a:tc>
                <a:tc>
                  <a:txBody>
                    <a:bodyPr/>
                    <a:lstStyle/>
                    <a:p>
                      <a:pPr algn="r"/>
                      <a:r>
                        <a:rPr sz="1100">
                          <a:solidFill>
                            <a:srgbClr val="1C2233"/>
                          </a:solidFill>
                          <a:latin typeface="メイリオ"/>
                          <a:ea typeface="メイリオ"/>
                          <a:cs typeface="メイリオ"/>
                        </a:rPr>
                        <a:t>30%（750件）</a:t>
                      </a:r>
                    </a:p>
                  </a:txBody>
                  <a:tcPr anchor="ctr">
                    <a:solidFill>
                      <a:srgbClr val="F4F7FF"/>
                    </a:solidFill>
                  </a:tcPr>
                </a:tc>
                <a:tc>
                  <a:txBody>
                    <a:bodyPr/>
                    <a:lstStyle/>
                    <a:p>
                      <a:pPr algn="r"/>
                      <a:r>
                        <a:rPr sz="1100">
                          <a:solidFill>
                            <a:srgbClr val="1C2233"/>
                          </a:solidFill>
                          <a:latin typeface="メイリオ"/>
                          <a:ea typeface="メイリオ"/>
                          <a:cs typeface="メイリオ"/>
                        </a:rPr>
                        <a:t>30%（926件）※率は変えない</a:t>
                      </a:r>
                    </a:p>
                  </a:txBody>
                  <a:tcPr anchor="ctr">
                    <a:solidFill>
                      <a:srgbClr val="F4F7FF"/>
                    </a:solidFill>
                  </a:tcPr>
                </a:tc>
                <a:extLst>
                  <a:ext uri="{0D108BD9-81ED-4DB2-BD59-A6C34878D82A}">
                    <a16:rowId xmlns:a16="http://schemas.microsoft.com/office/drawing/2014/main" val="10008"/>
                  </a:ext>
                </a:extLst>
              </a:tr>
              <a:tr h="273600">
                <a:tc>
                  <a:txBody>
                    <a:bodyPr/>
                    <a:lstStyle/>
                    <a:p>
                      <a:pPr algn="l"/>
                      <a:r>
                        <a:rPr sz="1100">
                          <a:solidFill>
                            <a:srgbClr val="1C2233"/>
                          </a:solidFill>
                          <a:latin typeface="メイリオ"/>
                          <a:ea typeface="メイリオ"/>
                          <a:cs typeface="メイリオ"/>
                        </a:rPr>
                        <a:t>→ OC参加率</a:t>
                      </a:r>
                    </a:p>
                  </a:txBody>
                  <a:tcPr anchor="ctr">
                    <a:solidFill>
                      <a:srgbClr val="FFFFFF"/>
                    </a:solidFill>
                  </a:tcPr>
                </a:tc>
                <a:tc>
                  <a:txBody>
                    <a:bodyPr/>
                    <a:lstStyle/>
                    <a:p>
                      <a:pPr algn="r"/>
                      <a:r>
                        <a:rPr sz="1100" b="1">
                          <a:solidFill>
                            <a:srgbClr val="ED7D31"/>
                          </a:solidFill>
                          <a:latin typeface="メイリオ"/>
                          <a:ea typeface="メイリオ"/>
                          <a:cs typeface="メイリオ"/>
                        </a:rPr>
                        <a:t>70%（525名）</a:t>
                      </a:r>
                    </a:p>
                  </a:txBody>
                  <a:tcPr anchor="ctr">
                    <a:solidFill>
                      <a:srgbClr val="FFFFFF"/>
                    </a:solidFill>
                  </a:tcPr>
                </a:tc>
                <a:tc>
                  <a:txBody>
                    <a:bodyPr/>
                    <a:lstStyle/>
                    <a:p>
                      <a:pPr algn="r"/>
                      <a:r>
                        <a:rPr sz="1100" b="1">
                          <a:solidFill>
                            <a:srgbClr val="ED7D31"/>
                          </a:solidFill>
                          <a:latin typeface="メイリオ"/>
                          <a:ea typeface="メイリオ"/>
                          <a:cs typeface="メイリオ"/>
                        </a:rPr>
                        <a:t>80%（741名）※前日リマインド</a:t>
                      </a:r>
                    </a:p>
                  </a:txBody>
                  <a:tcPr anchor="ctr">
                    <a:solidFill>
                      <a:srgbClr val="FFFFFF"/>
                    </a:solidFill>
                  </a:tcPr>
                </a:tc>
                <a:extLst>
                  <a:ext uri="{0D108BD9-81ED-4DB2-BD59-A6C34878D82A}">
                    <a16:rowId xmlns:a16="http://schemas.microsoft.com/office/drawing/2014/main" val="10009"/>
                  </a:ext>
                </a:extLst>
              </a:tr>
              <a:tr h="273600">
                <a:tc>
                  <a:txBody>
                    <a:bodyPr/>
                    <a:lstStyle/>
                    <a:p>
                      <a:pPr algn="l"/>
                      <a:r>
                        <a:rPr sz="1100">
                          <a:solidFill>
                            <a:srgbClr val="1C2233"/>
                          </a:solidFill>
                          <a:latin typeface="メイリオ"/>
                          <a:ea typeface="メイリオ"/>
                          <a:cs typeface="メイリオ"/>
                        </a:rPr>
                        <a:t>→ 出願率</a:t>
                      </a:r>
                    </a:p>
                  </a:txBody>
                  <a:tcPr anchor="ctr">
                    <a:solidFill>
                      <a:srgbClr val="F4F7FF"/>
                    </a:solidFill>
                  </a:tcPr>
                </a:tc>
                <a:tc>
                  <a:txBody>
                    <a:bodyPr/>
                    <a:lstStyle/>
                    <a:p>
                      <a:pPr algn="r"/>
                      <a:r>
                        <a:rPr sz="1100" b="1">
                          <a:solidFill>
                            <a:srgbClr val="ED7D31"/>
                          </a:solidFill>
                          <a:latin typeface="メイリオ"/>
                          <a:ea typeface="メイリオ"/>
                          <a:cs typeface="メイリオ"/>
                        </a:rPr>
                        <a:t>40%（210名）</a:t>
                      </a:r>
                    </a:p>
                  </a:txBody>
                  <a:tcPr anchor="ctr">
                    <a:solidFill>
                      <a:srgbClr val="F4F7FF"/>
                    </a:solidFill>
                  </a:tcPr>
                </a:tc>
                <a:tc>
                  <a:txBody>
                    <a:bodyPr/>
                    <a:lstStyle/>
                    <a:p>
                      <a:pPr algn="r"/>
                      <a:r>
                        <a:rPr sz="1100" b="1">
                          <a:solidFill>
                            <a:srgbClr val="ED7D31"/>
                          </a:solidFill>
                          <a:latin typeface="メイリオ"/>
                          <a:ea typeface="メイリオ"/>
                          <a:cs typeface="メイリオ"/>
                        </a:rPr>
                        <a:t>43%（319名）★</a:t>
                      </a:r>
                    </a:p>
                  </a:txBody>
                  <a:tcPr anchor="ctr">
                    <a:solidFill>
                      <a:srgbClr val="F4F7FF"/>
                    </a:solidFill>
                  </a:tcPr>
                </a:tc>
                <a:extLst>
                  <a:ext uri="{0D108BD9-81ED-4DB2-BD59-A6C34878D82A}">
                    <a16:rowId xmlns:a16="http://schemas.microsoft.com/office/drawing/2014/main" val="10010"/>
                  </a:ext>
                </a:extLst>
              </a:tr>
              <a:tr h="273600">
                <a:tc>
                  <a:txBody>
                    <a:bodyPr/>
                    <a:lstStyle/>
                    <a:p>
                      <a:pPr algn="l"/>
                      <a:r>
                        <a:rPr sz="1100">
                          <a:solidFill>
                            <a:srgbClr val="1C2233"/>
                          </a:solidFill>
                          <a:latin typeface="メイリオ"/>
                          <a:ea typeface="メイリオ"/>
                          <a:cs typeface="メイリオ"/>
                        </a:rPr>
                        <a:t>→ 入学手続率</a:t>
                      </a:r>
                    </a:p>
                  </a:txBody>
                  <a:tcPr anchor="ctr">
                    <a:solidFill>
                      <a:srgbClr val="FFFFFF"/>
                    </a:solidFill>
                  </a:tcPr>
                </a:tc>
                <a:tc>
                  <a:txBody>
                    <a:bodyPr/>
                    <a:lstStyle/>
                    <a:p>
                      <a:pPr algn="r"/>
                      <a:r>
                        <a:rPr sz="1100">
                          <a:solidFill>
                            <a:srgbClr val="1C2233"/>
                          </a:solidFill>
                          <a:latin typeface="メイリオ"/>
                          <a:ea typeface="メイリオ"/>
                          <a:cs typeface="メイリオ"/>
                        </a:rPr>
                        <a:t>57%（120名）</a:t>
                      </a:r>
                    </a:p>
                  </a:txBody>
                  <a:tcPr anchor="ctr">
                    <a:solidFill>
                      <a:srgbClr val="FFFFFF"/>
                    </a:solidFill>
                  </a:tcPr>
                </a:tc>
                <a:tc>
                  <a:txBody>
                    <a:bodyPr/>
                    <a:lstStyle/>
                    <a:p>
                      <a:pPr algn="r"/>
                      <a:r>
                        <a:rPr sz="1100">
                          <a:solidFill>
                            <a:srgbClr val="1C2233"/>
                          </a:solidFill>
                          <a:latin typeface="メイリオ"/>
                          <a:ea typeface="メイリオ"/>
                          <a:cs typeface="メイリオ"/>
                        </a:rPr>
                        <a:t>57%（182名）</a:t>
                      </a:r>
                    </a:p>
                  </a:txBody>
                  <a:tcPr anchor="ctr">
                    <a:solidFill>
                      <a:srgbClr val="FFFFFF"/>
                    </a:solidFill>
                  </a:tcPr>
                </a:tc>
                <a:extLst>
                  <a:ext uri="{0D108BD9-81ED-4DB2-BD59-A6C34878D82A}">
                    <a16:rowId xmlns:a16="http://schemas.microsoft.com/office/drawing/2014/main" val="10011"/>
                  </a:ext>
                </a:extLst>
              </a:tr>
              <a:tr h="273600">
                <a:tc>
                  <a:txBody>
                    <a:bodyPr/>
                    <a:lstStyle/>
                    <a:p>
                      <a:pPr algn="l"/>
                      <a:r>
                        <a:rPr sz="1100">
                          <a:solidFill>
                            <a:srgbClr val="1C2233"/>
                          </a:solidFill>
                          <a:latin typeface="メイリオ"/>
                          <a:ea typeface="メイリオ"/>
                          <a:cs typeface="メイリオ"/>
                        </a:rPr>
                        <a:t>入学者（Web経由）</a:t>
                      </a:r>
                    </a:p>
                  </a:txBody>
                  <a:tcPr anchor="ctr">
                    <a:solidFill>
                      <a:srgbClr val="F4F7FF"/>
                    </a:solidFill>
                  </a:tcPr>
                </a:tc>
                <a:tc>
                  <a:txBody>
                    <a:bodyPr/>
                    <a:lstStyle/>
                    <a:p>
                      <a:pPr algn="r"/>
                      <a:r>
                        <a:rPr sz="1100" b="1">
                          <a:solidFill>
                            <a:srgbClr val="C00000"/>
                          </a:solidFill>
                          <a:latin typeface="メイリオ"/>
                          <a:ea typeface="メイリオ"/>
                          <a:cs typeface="メイリオ"/>
                        </a:rPr>
                        <a:t>120名</a:t>
                      </a:r>
                    </a:p>
                  </a:txBody>
                  <a:tcPr anchor="ctr">
                    <a:solidFill>
                      <a:srgbClr val="F4F7FF"/>
                    </a:solidFill>
                  </a:tcPr>
                </a:tc>
                <a:tc>
                  <a:txBody>
                    <a:bodyPr/>
                    <a:lstStyle/>
                    <a:p>
                      <a:pPr algn="r"/>
                      <a:r>
                        <a:rPr sz="1100" b="1">
                          <a:solidFill>
                            <a:srgbClr val="C00000"/>
                          </a:solidFill>
                          <a:latin typeface="メイリオ"/>
                          <a:ea typeface="メイリオ"/>
                          <a:cs typeface="メイリオ"/>
                        </a:rPr>
                        <a:t>182名（＋62名）</a:t>
                      </a:r>
                    </a:p>
                  </a:txBody>
                  <a:tcPr anchor="ctr">
                    <a:solidFill>
                      <a:srgbClr val="F4F7FF"/>
                    </a:solidFill>
                  </a:tcPr>
                </a:tc>
                <a:extLst>
                  <a:ext uri="{0D108BD9-81ED-4DB2-BD59-A6C34878D82A}">
                    <a16:rowId xmlns:a16="http://schemas.microsoft.com/office/drawing/2014/main" val="10012"/>
                  </a:ext>
                </a:extLst>
              </a:tr>
              <a:tr h="273600">
                <a:tc>
                  <a:txBody>
                    <a:bodyPr/>
                    <a:lstStyle/>
                    <a:p>
                      <a:pPr algn="l"/>
                      <a:r>
                        <a:rPr sz="1100">
                          <a:solidFill>
                            <a:srgbClr val="1C2233"/>
                          </a:solidFill>
                          <a:latin typeface="メイリオ"/>
                          <a:ea typeface="メイリオ"/>
                          <a:cs typeface="メイリオ"/>
                        </a:rPr>
                        <a:t>入学1名あたりの獲得コスト</a:t>
                      </a:r>
                    </a:p>
                  </a:txBody>
                  <a:tcPr anchor="ctr">
                    <a:solidFill>
                      <a:srgbClr val="FFFFFF"/>
                    </a:solidFill>
                  </a:tcPr>
                </a:tc>
                <a:tc>
                  <a:txBody>
                    <a:bodyPr/>
                    <a:lstStyle/>
                    <a:p>
                      <a:pPr algn="r"/>
                      <a:r>
                        <a:rPr sz="1100" b="1">
                          <a:solidFill>
                            <a:srgbClr val="1F285A"/>
                          </a:solidFill>
                          <a:latin typeface="メイリオ"/>
                          <a:ea typeface="メイリオ"/>
                          <a:cs typeface="メイリオ"/>
                        </a:rPr>
                        <a:t>83,333円</a:t>
                      </a:r>
                    </a:p>
                  </a:txBody>
                  <a:tcPr anchor="ctr">
                    <a:solidFill>
                      <a:srgbClr val="FFFFFF"/>
                    </a:solidFill>
                  </a:tcPr>
                </a:tc>
                <a:tc>
                  <a:txBody>
                    <a:bodyPr/>
                    <a:lstStyle/>
                    <a:p>
                      <a:pPr algn="r"/>
                      <a:r>
                        <a:rPr sz="1100" b="1">
                          <a:solidFill>
                            <a:srgbClr val="1F285A"/>
                          </a:solidFill>
                          <a:latin typeface="メイリオ"/>
                          <a:ea typeface="メイリオ"/>
                          <a:cs typeface="メイリオ"/>
                        </a:rPr>
                        <a:t>74,725円（▲10.3%）</a:t>
                      </a:r>
                    </a:p>
                  </a:txBody>
                  <a:tcPr anchor="ct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96000" y="5166000"/>
            <a:ext cx="2951999"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LP CVRは動かしていない</a:t>
            </a:r>
          </a:p>
          <a:p>
            <a:pPr algn="l">
              <a:lnSpc>
                <a:spcPct val="120000"/>
              </a:lnSpc>
              <a:spcAft>
                <a:spcPts val="200"/>
              </a:spcAft>
            </a:pPr>
            <a:r>
              <a:rPr sz="1050">
                <a:solidFill>
                  <a:srgbClr val="1C2233"/>
                </a:solidFill>
                <a:latin typeface="メイリオ"/>
                <a:ea typeface="メイリオ"/>
                <a:cs typeface="メイリオ"/>
              </a:rPr>
              <a:t>触るのは「LPから落ちた後」と「予約が入った後」の2箇所だけ。</a:t>
            </a:r>
          </a:p>
        </p:txBody>
      </p:sp>
      <p:sp>
        <p:nvSpPr>
          <p:cNvPr id="6" name="Rounded Rectangle 5"/>
          <p:cNvSpPr/>
          <p:nvPr/>
        </p:nvSpPr>
        <p:spPr>
          <a:xfrm>
            <a:off x="3491999" y="5166000"/>
            <a:ext cx="2951999"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② 効くのは母数ではなく率</a:t>
            </a:r>
          </a:p>
          <a:p>
            <a:pPr algn="l">
              <a:lnSpc>
                <a:spcPct val="120000"/>
              </a:lnSpc>
              <a:spcAft>
                <a:spcPts val="200"/>
              </a:spcAft>
            </a:pPr>
            <a:r>
              <a:rPr sz="1050">
                <a:solidFill>
                  <a:srgbClr val="1C2233"/>
                </a:solidFill>
                <a:latin typeface="メイリオ"/>
                <a:ea typeface="メイリオ"/>
                <a:cs typeface="メイリオ"/>
              </a:rPr>
              <a:t>CV①は＋23%。でも入学者は＋52%。歩留まりが掛け算で効く。</a:t>
            </a:r>
          </a:p>
        </p:txBody>
      </p:sp>
      <p:sp>
        <p:nvSpPr>
          <p:cNvPr id="7" name="Rounded Rectangle 6"/>
          <p:cNvSpPr/>
          <p:nvPr/>
        </p:nvSpPr>
        <p:spPr>
          <a:xfrm>
            <a:off x="6588000" y="5166000"/>
            <a:ext cx="2951999"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③ CPA単体は悪化して見える</a:t>
            </a:r>
          </a:p>
          <a:p>
            <a:pPr algn="l">
              <a:lnSpc>
                <a:spcPct val="120000"/>
              </a:lnSpc>
              <a:spcAft>
                <a:spcPts val="200"/>
              </a:spcAft>
            </a:pPr>
            <a:r>
              <a:rPr sz="1050">
                <a:solidFill>
                  <a:srgbClr val="1C2233"/>
                </a:solidFill>
                <a:latin typeface="メイリオ"/>
                <a:ea typeface="メイリオ"/>
                <a:cs typeface="メイリオ"/>
              </a:rPr>
              <a:t>見るのは入学1名あたり。83,333円→74,725円（▲10.3%）。</a:t>
            </a:r>
          </a:p>
        </p:txBody>
      </p:sp>
      <p:sp>
        <p:nvSpPr>
          <p:cNvPr id="8" name="TextBox 7"/>
          <p:cNvSpPr txBox="1"/>
          <p:nvPr/>
        </p:nvSpPr>
        <p:spPr>
          <a:xfrm>
            <a:off x="396000" y="6083999"/>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★＝仮置き（①友だち化率3%　②友だち→CV①転換率20%　③出願率40→43%）。貴学の実績値で置き換える。</a:t>
            </a:r>
          </a:p>
          <a:p>
            <a:pPr algn="l">
              <a:lnSpc>
                <a:spcPct val="120000"/>
              </a:lnSpc>
            </a:pPr>
            <a:r>
              <a:rPr sz="900">
                <a:solidFill>
                  <a:srgbClr val="646C82"/>
                </a:solidFill>
                <a:latin typeface="メイリオ"/>
                <a:ea typeface="メイリオ"/>
                <a:cs typeface="メイリオ"/>
              </a:rPr>
              <a:t>※ 本試算はWeb経由の募集だけを切り出したもの。他経路と重複するため純増は試算より小さくなる。定員充足済みの学校では「歩留まり改善によるコスト削減」として読む。</a:t>
            </a:r>
          </a:p>
        </p:txBody>
      </p:sp>
    </p:spTree>
    <p:extLst>
      <p:ext uri="{BB962C8B-B14F-4D97-AF65-F5344CB8AC3E}">
        <p14:creationId xmlns:p14="http://schemas.microsoft.com/office/powerpoint/2010/main" val="4112226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施策設計①｜友だち追加の動線</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新しく集めるのではなく、いま取れている資料請求者・OC参加者をLINEに載せ替える。</a:t>
            </a:r>
          </a:p>
        </p:txBody>
      </p:sp>
      <p:graphicFrame>
        <p:nvGraphicFramePr>
          <p:cNvPr id="4" name="Table 3"/>
          <p:cNvGraphicFramePr>
            <a:graphicFrameLocks noGrp="1"/>
          </p:cNvGraphicFramePr>
          <p:nvPr/>
        </p:nvGraphicFramePr>
        <p:xfrm>
          <a:off x="396000" y="1224000"/>
          <a:ext cx="9144000" cy="3225600"/>
        </p:xfrm>
        <a:graphic>
          <a:graphicData uri="http://schemas.openxmlformats.org/drawingml/2006/table">
            <a:tbl>
              <a:tblPr firstRow="1" bandRow="1">
                <a:tableStyleId>{5C22544A-7EE6-4342-B048-85BDC9FD1C3A}</a:tableStyleId>
              </a:tblPr>
              <a:tblGrid>
                <a:gridCol w="2376000">
                  <a:extLst>
                    <a:ext uri="{9D8B030D-6E8A-4147-A177-3AD203B41FA5}">
                      <a16:colId xmlns:a16="http://schemas.microsoft.com/office/drawing/2014/main" val="20000"/>
                    </a:ext>
                  </a:extLst>
                </a:gridCol>
                <a:gridCol w="3744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944000">
                  <a:extLst>
                    <a:ext uri="{9D8B030D-6E8A-4147-A177-3AD203B41FA5}">
                      <a16:colId xmlns:a16="http://schemas.microsoft.com/office/drawing/2014/main" val="20003"/>
                    </a:ext>
                  </a:extLst>
                </a:gridCol>
              </a:tblGrid>
              <a:tr h="460800">
                <a:tc>
                  <a:txBody>
                    <a:bodyPr/>
                    <a:lstStyle/>
                    <a:p>
                      <a:pPr algn="l"/>
                      <a:r>
                        <a:rPr sz="1200" b="1">
                          <a:solidFill>
                            <a:srgbClr val="FFFFFF"/>
                          </a:solidFill>
                          <a:latin typeface="メイリオ"/>
                          <a:ea typeface="メイリオ"/>
                          <a:cs typeface="メイリオ"/>
                        </a:rPr>
                        <a:t>箇所</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ctr"/>
                      <a:r>
                        <a:rPr sz="1200" b="1">
                          <a:solidFill>
                            <a:srgbClr val="FFFFFF"/>
                          </a:solidFill>
                          <a:latin typeface="メイリオ"/>
                          <a:ea typeface="メイリオ"/>
                          <a:cs typeface="メイリオ"/>
                        </a:rPr>
                        <a:t>到達点</a:t>
                      </a:r>
                    </a:p>
                  </a:txBody>
                  <a:tcPr anchor="ctr">
                    <a:solidFill>
                      <a:srgbClr val="1F285A"/>
                    </a:solidFill>
                  </a:tcPr>
                </a:tc>
                <a:tc>
                  <a:txBody>
                    <a:bodyPr/>
                    <a:lstStyle/>
                    <a:p>
                      <a:pPr algn="l"/>
                      <a:r>
                        <a:rPr sz="1200" b="1">
                          <a:solidFill>
                            <a:srgbClr val="FFFFFF"/>
                          </a:solidFill>
                          <a:latin typeface="メイリオ"/>
                          <a:ea typeface="メイリオ"/>
                          <a:cs typeface="メイリオ"/>
                        </a:rPr>
                        <a:t>費用（税抜）</a:t>
                      </a:r>
                    </a:p>
                  </a:txBody>
                  <a:tcPr anchor="ctr">
                    <a:solidFill>
                      <a:srgbClr val="1F285A"/>
                    </a:solidFill>
                  </a:tcPr>
                </a:tc>
                <a:extLst>
                  <a:ext uri="{0D108BD9-81ED-4DB2-BD59-A6C34878D82A}">
                    <a16:rowId xmlns:a16="http://schemas.microsoft.com/office/drawing/2014/main" val="10000"/>
                  </a:ext>
                </a:extLst>
              </a:tr>
              <a:tr h="460800">
                <a:tc>
                  <a:txBody>
                    <a:bodyPr/>
                    <a:lstStyle/>
                    <a:p>
                      <a:pPr algn="l"/>
                      <a:r>
                        <a:rPr sz="1100">
                          <a:solidFill>
                            <a:srgbClr val="1C2233"/>
                          </a:solidFill>
                          <a:latin typeface="メイリオ"/>
                          <a:ea typeface="メイリオ"/>
                          <a:cs typeface="メイリオ"/>
                        </a:rPr>
                        <a:t>資料請求の完了画面</a:t>
                      </a:r>
                    </a:p>
                    <a:p>
                      <a:pPr algn="l"/>
                      <a:r>
                        <a:rPr sz="1100">
                          <a:solidFill>
                            <a:srgbClr val="1C2233"/>
                          </a:solidFill>
                          <a:latin typeface="メイリオ"/>
                          <a:ea typeface="メイリオ"/>
                          <a:cs typeface="メイリオ"/>
                        </a:rPr>
                        <a:t>（サンクスLINE誘導）</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学部学科診断で、自分に合う学部が30秒でわかる</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b="1">
                          <a:solidFill>
                            <a:srgbClr val="1F285A"/>
                          </a:solidFill>
                          <a:latin typeface="メイリオ"/>
                          <a:ea typeface="メイリオ"/>
                          <a:cs typeface="メイリオ"/>
                        </a:rPr>
                        <a:t>コンサル発注なら無償</a:t>
                      </a:r>
                    </a:p>
                  </a:txBody>
                  <a:tcPr anchor="ctr">
                    <a:solidFill>
                      <a:srgbClr val="FFFFFF"/>
                    </a:solidFill>
                  </a:tcPr>
                </a:tc>
                <a:extLst>
                  <a:ext uri="{0D108BD9-81ED-4DB2-BD59-A6C34878D82A}">
                    <a16:rowId xmlns:a16="http://schemas.microsoft.com/office/drawing/2014/main" val="10001"/>
                  </a:ext>
                </a:extLst>
              </a:tr>
              <a:tr h="460800">
                <a:tc>
                  <a:txBody>
                    <a:bodyPr/>
                    <a:lstStyle/>
                    <a:p>
                      <a:pPr algn="l"/>
                      <a:r>
                        <a:rPr sz="1100">
                          <a:solidFill>
                            <a:srgbClr val="1C2233"/>
                          </a:solidFill>
                          <a:latin typeface="メイリオ"/>
                          <a:ea typeface="メイリオ"/>
                          <a:cs typeface="メイリオ"/>
                        </a:rPr>
                        <a:t>オープンキャンパス受付のQR</a:t>
                      </a:r>
                    </a:p>
                  </a:txBody>
                  <a:tcPr anchor="ctr">
                    <a:solidFill>
                      <a:srgbClr val="F4F7FF"/>
                    </a:solidFill>
                  </a:tcPr>
                </a:tc>
                <a:tc>
                  <a:txBody>
                    <a:bodyPr/>
                    <a:lstStyle/>
                    <a:p>
                      <a:pPr algn="l"/>
                      <a:r>
                        <a:rPr sz="1100">
                          <a:solidFill>
                            <a:srgbClr val="1C2233"/>
                          </a:solidFill>
                          <a:latin typeface="メイリオ"/>
                          <a:ea typeface="メイリオ"/>
                          <a:cs typeface="メイリオ"/>
                        </a:rPr>
                        <a:t>当日の流れ・持ち物を先に送る／受付はLINE画面を見せるだけ</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b="1">
                          <a:solidFill>
                            <a:srgbClr val="1F285A"/>
                          </a:solidFill>
                          <a:latin typeface="メイリオ"/>
                          <a:ea typeface="メイリオ"/>
                          <a:cs typeface="メイリオ"/>
                        </a:rPr>
                        <a:t>無償</a:t>
                      </a:r>
                    </a:p>
                  </a:txBody>
                  <a:tcPr anchor="ctr">
                    <a:solidFill>
                      <a:srgbClr val="F4F7FF"/>
                    </a:solidFill>
                  </a:tcPr>
                </a:tc>
                <a:extLst>
                  <a:ext uri="{0D108BD9-81ED-4DB2-BD59-A6C34878D82A}">
                    <a16:rowId xmlns:a16="http://schemas.microsoft.com/office/drawing/2014/main" val="10002"/>
                  </a:ext>
                </a:extLst>
              </a:tr>
              <a:tr h="460800">
                <a:tc>
                  <a:txBody>
                    <a:bodyPr/>
                    <a:lstStyle/>
                    <a:p>
                      <a:pPr algn="l"/>
                      <a:r>
                        <a:rPr sz="1100">
                          <a:solidFill>
                            <a:srgbClr val="1C2233"/>
                          </a:solidFill>
                          <a:latin typeface="メイリオ"/>
                          <a:ea typeface="メイリオ"/>
                          <a:cs typeface="メイリオ"/>
                        </a:rPr>
                        <a:t>LP離脱防止ポップアップ</a:t>
                      </a:r>
                    </a:p>
                  </a:txBody>
                  <a:tcPr anchor="ctr">
                    <a:solidFill>
                      <a:srgbClr val="FFFFFF"/>
                    </a:solidFill>
                  </a:tcPr>
                </a:tc>
                <a:tc>
                  <a:txBody>
                    <a:bodyPr/>
                    <a:lstStyle/>
                    <a:p>
                      <a:pPr algn="l"/>
                      <a:r>
                        <a:rPr sz="1100">
                          <a:solidFill>
                            <a:srgbClr val="1C2233"/>
                          </a:solidFill>
                          <a:latin typeface="メイリオ"/>
                          <a:ea typeface="メイリオ"/>
                          <a:cs typeface="メイリオ"/>
                        </a:rPr>
                        <a:t>30秒の学部診断／名前も電話番号も入力しません</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a:solidFill>
                            <a:srgbClr val="1C2233"/>
                          </a:solidFill>
                          <a:latin typeface="メイリオ"/>
                          <a:ea typeface="メイリオ"/>
                          <a:cs typeface="メイリオ"/>
                        </a:rPr>
                        <a:t>初期 1.5万円 ／ 月 3万円</a:t>
                      </a:r>
                    </a:p>
                  </a:txBody>
                  <a:tcPr anchor="ctr">
                    <a:solidFill>
                      <a:srgbClr val="FFFFFF"/>
                    </a:solidFill>
                  </a:tcPr>
                </a:tc>
                <a:extLst>
                  <a:ext uri="{0D108BD9-81ED-4DB2-BD59-A6C34878D82A}">
                    <a16:rowId xmlns:a16="http://schemas.microsoft.com/office/drawing/2014/main" val="10003"/>
                  </a:ext>
                </a:extLst>
              </a:tr>
              <a:tr h="460800">
                <a:tc>
                  <a:txBody>
                    <a:bodyPr/>
                    <a:lstStyle/>
                    <a:p>
                      <a:pPr algn="l"/>
                      <a:r>
                        <a:rPr sz="1100">
                          <a:solidFill>
                            <a:srgbClr val="1C2233"/>
                          </a:solidFill>
                          <a:latin typeface="メイリオ"/>
                          <a:ea typeface="メイリオ"/>
                          <a:cs typeface="メイリオ"/>
                        </a:rPr>
                        <a:t>LINE広告（CPF）</a:t>
                      </a:r>
                    </a:p>
                  </a:txBody>
                  <a:tcPr anchor="ctr">
                    <a:solidFill>
                      <a:srgbClr val="F4F7FF"/>
                    </a:solidFill>
                  </a:tcPr>
                </a:tc>
                <a:tc>
                  <a:txBody>
                    <a:bodyPr/>
                    <a:lstStyle/>
                    <a:p>
                      <a:pPr algn="l"/>
                      <a:r>
                        <a:rPr sz="1100">
                          <a:solidFill>
                            <a:srgbClr val="1C2233"/>
                          </a:solidFill>
                          <a:latin typeface="メイリオ"/>
                          <a:ea typeface="メイリオ"/>
                          <a:cs typeface="メイリオ"/>
                        </a:rPr>
                        <a:t>タップ1回で友だち追加・フォーム入力ゼロ</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a:solidFill>
                            <a:srgbClr val="1C2233"/>
                          </a:solidFill>
                          <a:latin typeface="メイリオ"/>
                          <a:ea typeface="メイリオ"/>
                          <a:cs typeface="メイリオ"/>
                        </a:rPr>
                        <a:t>20万円〜（1ヶ月〜）</a:t>
                      </a:r>
                    </a:p>
                  </a:txBody>
                  <a:tcPr anchor="ctr">
                    <a:solidFill>
                      <a:srgbClr val="F4F7FF"/>
                    </a:solidFill>
                  </a:tcPr>
                </a:tc>
                <a:extLst>
                  <a:ext uri="{0D108BD9-81ED-4DB2-BD59-A6C34878D82A}">
                    <a16:rowId xmlns:a16="http://schemas.microsoft.com/office/drawing/2014/main" val="10004"/>
                  </a:ext>
                </a:extLst>
              </a:tr>
              <a:tr h="460800">
                <a:tc>
                  <a:txBody>
                    <a:bodyPr/>
                    <a:lstStyle/>
                    <a:p>
                      <a:pPr algn="l"/>
                      <a:r>
                        <a:rPr sz="1100">
                          <a:solidFill>
                            <a:srgbClr val="1C2233"/>
                          </a:solidFill>
                          <a:latin typeface="メイリオ"/>
                          <a:ea typeface="メイリオ"/>
                          <a:cs typeface="メイリオ"/>
                        </a:rPr>
                        <a:t>通知メッセージ（保有リスト）</a:t>
                      </a:r>
                    </a:p>
                  </a:txBody>
                  <a:tcPr anchor="ctr">
                    <a:solidFill>
                      <a:srgbClr val="FFFFFF"/>
                    </a:solidFill>
                  </a:tcPr>
                </a:tc>
                <a:tc>
                  <a:txBody>
                    <a:bodyPr/>
                    <a:lstStyle/>
                    <a:p>
                      <a:pPr algn="l"/>
                      <a:r>
                        <a:rPr sz="1100">
                          <a:solidFill>
                            <a:srgbClr val="1C2233"/>
                          </a:solidFill>
                          <a:latin typeface="メイリオ"/>
                          <a:ea typeface="メイリオ"/>
                          <a:cs typeface="メイリオ"/>
                        </a:rPr>
                        <a:t>資料請求者・OC予約者へ、友だちでなくても直接届く</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a:solidFill>
                            <a:srgbClr val="1C2233"/>
                          </a:solidFill>
                          <a:latin typeface="メイリオ"/>
                          <a:ea typeface="メイリオ"/>
                          <a:cs typeface="メイリオ"/>
                        </a:rPr>
                        <a:t>初期 10万円 ／ 月 8万円〜＋通数 7円</a:t>
                      </a:r>
                    </a:p>
                  </a:txBody>
                  <a:tcPr anchor="ctr">
                    <a:solidFill>
                      <a:srgbClr val="FFFFFF"/>
                    </a:solidFill>
                  </a:tcPr>
                </a:tc>
                <a:extLst>
                  <a:ext uri="{0D108BD9-81ED-4DB2-BD59-A6C34878D82A}">
                    <a16:rowId xmlns:a16="http://schemas.microsoft.com/office/drawing/2014/main" val="10005"/>
                  </a:ext>
                </a:extLst>
              </a:tr>
              <a:tr h="460800">
                <a:tc>
                  <a:txBody>
                    <a:bodyPr/>
                    <a:lstStyle/>
                    <a:p>
                      <a:pPr algn="l"/>
                      <a:r>
                        <a:rPr sz="1100">
                          <a:solidFill>
                            <a:srgbClr val="1C2233"/>
                          </a:solidFill>
                          <a:latin typeface="メイリオ"/>
                          <a:ea typeface="メイリオ"/>
                          <a:cs typeface="メイリオ"/>
                        </a:rPr>
                        <a:t>パンフ裏表紙・高校での説明会資料</a:t>
                      </a:r>
                    </a:p>
                  </a:txBody>
                  <a:tcPr anchor="ctr">
                    <a:solidFill>
                      <a:srgbClr val="F4F7FF"/>
                    </a:solidFill>
                  </a:tcPr>
                </a:tc>
                <a:tc>
                  <a:txBody>
                    <a:bodyPr/>
                    <a:lstStyle/>
                    <a:p>
                      <a:pPr algn="l"/>
                      <a:r>
                        <a:rPr sz="1100">
                          <a:solidFill>
                            <a:srgbClr val="1C2233"/>
                          </a:solidFill>
                          <a:latin typeface="メイリオ"/>
                          <a:ea typeface="メイリオ"/>
                          <a:cs typeface="メイリオ"/>
                        </a:rPr>
                        <a:t>デジタルパンフをLINEで受け取れる</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b="1">
                          <a:solidFill>
                            <a:srgbClr val="1F285A"/>
                          </a:solidFill>
                          <a:latin typeface="メイリオ"/>
                          <a:ea typeface="メイリオ"/>
                          <a:cs typeface="メイリオ"/>
                        </a:rPr>
                        <a:t>無償</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396000" y="4716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4716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4795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最も志望度が高いのは「OCに来てくれた高校生」。受付のQR1枚が、コストゼロで一番効く。</a:t>
            </a:r>
          </a:p>
        </p:txBody>
      </p:sp>
      <p:sp>
        <p:nvSpPr>
          <p:cNvPr id="8" name="TextBox 7"/>
          <p:cNvSpPr txBox="1"/>
          <p:nvPr/>
        </p:nvSpPr>
        <p:spPr>
          <a:xfrm>
            <a:off x="396000" y="5292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費用は DYM 標準（税抜・6ヶ月〜）。オフライン動線・WEBサイト動線整備はコンサル発注時は無償で付帯。</a:t>
            </a:r>
          </a:p>
          <a:p>
            <a:pPr algn="l">
              <a:lnSpc>
                <a:spcPct val="120000"/>
              </a:lnSpc>
            </a:pPr>
            <a:r>
              <a:rPr sz="900">
                <a:solidFill>
                  <a:srgbClr val="646C82"/>
                </a:solidFill>
                <a:latin typeface="メイリオ"/>
                <a:ea typeface="メイリオ"/>
                <a:cs typeface="メイリオ"/>
              </a:rPr>
              <a:t>※ 通知メッセージは Sales Partner／Tech Partner 限定公開のAPIを使用する機能。料金プランにより通数単価・利用可能機能が異なる。</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施策設計②｜効率改善（配信の効果算出）</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配信ごとに「対象 → 訴求 → 開封率×クリック率×CVR → 件数」を一本の式で示す。</a:t>
            </a:r>
          </a:p>
          <a:p>
            <a:pPr algn="l">
              <a:lnSpc>
                <a:spcPct val="122000"/>
              </a:lnSpc>
            </a:pPr>
            <a:r>
              <a:rPr sz="1500">
                <a:solidFill>
                  <a:srgbClr val="646C82"/>
                </a:solidFill>
                <a:latin typeface="メイリオ"/>
                <a:ea typeface="メイリオ"/>
                <a:cs typeface="メイリオ"/>
              </a:rPr>
              <a:t>率は貴学の実績値を入れて確定する（進学領域の公開統計は存在しない）。</a:t>
            </a:r>
          </a:p>
        </p:txBody>
      </p:sp>
      <p:graphicFrame>
        <p:nvGraphicFramePr>
          <p:cNvPr id="4" name="Table 3"/>
          <p:cNvGraphicFramePr>
            <a:graphicFrameLocks noGrp="1"/>
          </p:cNvGraphicFramePr>
          <p:nvPr/>
        </p:nvGraphicFramePr>
        <p:xfrm>
          <a:off x="396000" y="1224000"/>
          <a:ext cx="9143999" cy="44640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2304000">
                  <a:extLst>
                    <a:ext uri="{9D8B030D-6E8A-4147-A177-3AD203B41FA5}">
                      <a16:colId xmlns:a16="http://schemas.microsoft.com/office/drawing/2014/main" val="20001"/>
                    </a:ext>
                  </a:extLst>
                </a:gridCol>
                <a:gridCol w="2951999">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864000">
                  <a:extLst>
                    <a:ext uri="{9D8B030D-6E8A-4147-A177-3AD203B41FA5}">
                      <a16:colId xmlns:a16="http://schemas.microsoft.com/office/drawing/2014/main" val="20004"/>
                    </a:ext>
                  </a:extLst>
                </a:gridCol>
              </a:tblGrid>
              <a:tr h="558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対象（想定数）</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ctr"/>
                      <a:r>
                        <a:rPr sz="1200" b="1">
                          <a:solidFill>
                            <a:srgbClr val="FFFFFF"/>
                          </a:solidFill>
                          <a:latin typeface="メイリオ"/>
                          <a:ea typeface="メイリオ"/>
                          <a:cs typeface="メイリオ"/>
                        </a:rPr>
                        <a:t>計算式</a:t>
                      </a:r>
                    </a:p>
                  </a:txBody>
                  <a:tcPr anchor="ctr">
                    <a:solidFill>
                      <a:srgbClr val="1F285A"/>
                    </a:solidFill>
                  </a:tcPr>
                </a:tc>
                <a:tc>
                  <a:txBody>
                    <a:bodyPr/>
                    <a:lstStyle/>
                    <a:p>
                      <a:pPr algn="ctr"/>
                      <a:r>
                        <a:rPr sz="1200" b="1">
                          <a:solidFill>
                            <a:srgbClr val="FFFFFF"/>
                          </a:solidFill>
                          <a:latin typeface="メイリオ"/>
                          <a:ea typeface="メイリオ"/>
                          <a:cs typeface="メイリオ"/>
                        </a:rPr>
                        <a:t>件数</a:t>
                      </a:r>
                    </a:p>
                  </a:txBody>
                  <a:tcPr anchor="ctr">
                    <a:solidFill>
                      <a:srgbClr val="1F285A"/>
                    </a:solidFill>
                  </a:tcPr>
                </a:tc>
                <a:extLst>
                  <a:ext uri="{0D108BD9-81ED-4DB2-BD59-A6C34878D82A}">
                    <a16:rowId xmlns:a16="http://schemas.microsoft.com/office/drawing/2014/main" val="10000"/>
                  </a:ext>
                </a:extLst>
              </a:tr>
              <a:tr h="558000">
                <a:tc>
                  <a:txBody>
                    <a:bodyPr/>
                    <a:lstStyle/>
                    <a:p>
                      <a:pPr algn="ctr"/>
                      <a:r>
                        <a:rPr sz="1100">
                          <a:solidFill>
                            <a:srgbClr val="1C2233"/>
                          </a:solidFill>
                          <a:latin typeface="メイリオ"/>
                          <a:ea typeface="メイリオ"/>
                          <a:cs typeface="メイリオ"/>
                        </a:rPr>
                        <a:t>ステップ配信</a:t>
                      </a:r>
                    </a:p>
                  </a:txBody>
                  <a:tcPr anchor="ctr">
                    <a:solidFill>
                      <a:srgbClr val="FFFFFF"/>
                    </a:solidFill>
                  </a:tcPr>
                </a:tc>
                <a:tc>
                  <a:txBody>
                    <a:bodyPr/>
                    <a:lstStyle/>
                    <a:p>
                      <a:pPr algn="l"/>
                      <a:r>
                        <a:rPr sz="1100">
                          <a:solidFill>
                            <a:srgbClr val="1C2233"/>
                          </a:solidFill>
                          <a:latin typeface="メイリオ"/>
                          <a:ea typeface="メイリオ"/>
                          <a:cs typeface="メイリオ"/>
                        </a:rPr>
                        <a:t>Day0｜診断に回答した全員（○人）</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診断結果＋在学生の1日（動画3分）</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1"/>
                  </a:ext>
                </a:extLst>
              </a:tr>
              <a:tr h="558000">
                <a:tc>
                  <a:txBody>
                    <a:bodyPr/>
                    <a:lstStyle/>
                    <a:p>
                      <a:pPr algn="ctr"/>
                      <a:endParaRPr/>
                    </a:p>
                  </a:txBody>
                  <a:tcPr anchor="ctr">
                    <a:solidFill>
                      <a:srgbClr val="F4F7FF"/>
                    </a:solidFill>
                  </a:tcPr>
                </a:tc>
                <a:tc>
                  <a:txBody>
                    <a:bodyPr/>
                    <a:lstStyle/>
                    <a:p>
                      <a:pPr algn="l"/>
                      <a:r>
                        <a:rPr sz="1100">
                          <a:solidFill>
                            <a:srgbClr val="1C2233"/>
                          </a:solidFill>
                          <a:latin typeface="メイリオ"/>
                          <a:ea typeface="メイリオ"/>
                          <a:cs typeface="メイリオ"/>
                        </a:rPr>
                        <a:t>Day6｜Day0未反応者（○人）</a:t>
                      </a:r>
                    </a:p>
                  </a:txBody>
                  <a:tcPr anchor="ctr">
                    <a:solidFill>
                      <a:srgbClr val="F4F7FF"/>
                    </a:solidFill>
                  </a:tcPr>
                </a:tc>
                <a:tc>
                  <a:txBody>
                    <a:bodyPr/>
                    <a:lstStyle/>
                    <a:p>
                      <a:pPr algn="l"/>
                      <a:r>
                        <a:rPr sz="1100">
                          <a:solidFill>
                            <a:srgbClr val="1C2233"/>
                          </a:solidFill>
                          <a:latin typeface="メイリオ"/>
                          <a:ea typeface="メイリオ"/>
                          <a:cs typeface="メイリオ"/>
                        </a:rPr>
                        <a:t>OC日程＋当日の流れ＋1人参加OK</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2"/>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Day14｜未CV者（○人）</a:t>
                      </a:r>
                    </a:p>
                  </a:txBody>
                  <a:tcPr anchor="ctr">
                    <a:solidFill>
                      <a:srgbClr val="FFFFFF"/>
                    </a:solidFill>
                  </a:tcPr>
                </a:tc>
                <a:tc>
                  <a:txBody>
                    <a:bodyPr/>
                    <a:lstStyle/>
                    <a:p>
                      <a:pPr algn="l"/>
                      <a:r>
                        <a:rPr sz="1100">
                          <a:solidFill>
                            <a:srgbClr val="1C2233"/>
                          </a:solidFill>
                          <a:latin typeface="メイリオ"/>
                          <a:ea typeface="メイリオ"/>
                          <a:cs typeface="メイリオ"/>
                        </a:rPr>
                        <a:t>残席状況＋オンライン相談も選べる</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3"/>
                  </a:ext>
                </a:extLst>
              </a:tr>
              <a:tr h="558000">
                <a:tc>
                  <a:txBody>
                    <a:bodyPr/>
                    <a:lstStyle/>
                    <a:p>
                      <a:pPr algn="ctr"/>
                      <a:r>
                        <a:rPr sz="1100">
                          <a:solidFill>
                            <a:srgbClr val="1C2233"/>
                          </a:solidFill>
                          <a:latin typeface="メイリオ"/>
                          <a:ea typeface="メイリオ"/>
                          <a:cs typeface="メイリオ"/>
                        </a:rPr>
                        <a:t>企画配信</a:t>
                      </a:r>
                    </a:p>
                  </a:txBody>
                  <a:tcPr anchor="ctr">
                    <a:solidFill>
                      <a:srgbClr val="F4F7FF"/>
                    </a:solidFill>
                  </a:tcPr>
                </a:tc>
                <a:tc>
                  <a:txBody>
                    <a:bodyPr/>
                    <a:lstStyle/>
                    <a:p>
                      <a:pPr algn="l"/>
                      <a:r>
                        <a:rPr sz="1100">
                          <a:solidFill>
                            <a:srgbClr val="1C2233"/>
                          </a:solidFill>
                          <a:latin typeface="メイリオ"/>
                          <a:ea typeface="メイリオ"/>
                          <a:cs typeface="メイリオ"/>
                        </a:rPr>
                        <a:t>高2の友だち（○人）</a:t>
                      </a:r>
                    </a:p>
                  </a:txBody>
                  <a:tcPr anchor="ctr">
                    <a:solidFill>
                      <a:srgbClr val="F4F7FF"/>
                    </a:solidFill>
                  </a:tcPr>
                </a:tc>
                <a:tc>
                  <a:txBody>
                    <a:bodyPr/>
                    <a:lstStyle/>
                    <a:p>
                      <a:pPr algn="l"/>
                      <a:r>
                        <a:rPr sz="1100">
                          <a:solidFill>
                            <a:srgbClr val="1C2233"/>
                          </a:solidFill>
                          <a:latin typeface="メイリオ"/>
                          <a:ea typeface="メイリオ"/>
                          <a:cs typeface="メイリオ"/>
                        </a:rPr>
                        <a:t>学部の選び方／文系理系の決め方</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4"/>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9月｜OC参加者（○人）</a:t>
                      </a:r>
                    </a:p>
                  </a:txBody>
                  <a:tcPr anchor="ctr">
                    <a:solidFill>
                      <a:srgbClr val="FFFFFF"/>
                    </a:solidFill>
                  </a:tcPr>
                </a:tc>
                <a:tc>
                  <a:txBody>
                    <a:bodyPr/>
                    <a:lstStyle/>
                    <a:p>
                      <a:pPr algn="l"/>
                      <a:r>
                        <a:rPr sz="1100">
                          <a:solidFill>
                            <a:srgbClr val="1C2233"/>
                          </a:solidFill>
                          <a:latin typeface="メイリオ"/>
                          <a:ea typeface="メイリオ"/>
                          <a:cs typeface="メイリオ"/>
                        </a:rPr>
                        <a:t>志望理由書の書き方（3ステップ・記入例つき）</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5"/>
                  </a:ext>
                </a:extLst>
              </a:tr>
              <a:tr h="558000">
                <a:tc>
                  <a:txBody>
                    <a:bodyPr/>
                    <a:lstStyle/>
                    <a:p>
                      <a:pPr algn="ctr"/>
                      <a:endParaRPr/>
                    </a:p>
                  </a:txBody>
                  <a:tcPr anchor="ctr">
                    <a:solidFill>
                      <a:srgbClr val="F4F7FF"/>
                    </a:solidFill>
                  </a:tcPr>
                </a:tc>
                <a:tc>
                  <a:txBody>
                    <a:bodyPr/>
                    <a:lstStyle/>
                    <a:p>
                      <a:pPr algn="l"/>
                      <a:r>
                        <a:rPr sz="1100">
                          <a:solidFill>
                            <a:srgbClr val="1C2233"/>
                          </a:solidFill>
                          <a:latin typeface="メイリオ"/>
                          <a:ea typeface="メイリオ"/>
                          <a:cs typeface="メイリオ"/>
                        </a:rPr>
                        <a:t>11月｜出願検討層（○人）</a:t>
                      </a:r>
                    </a:p>
                  </a:txBody>
                  <a:tcPr anchor="ctr">
                    <a:solidFill>
                      <a:srgbClr val="F4F7FF"/>
                    </a:solidFill>
                  </a:tcPr>
                </a:tc>
                <a:tc>
                  <a:txBody>
                    <a:bodyPr/>
                    <a:lstStyle/>
                    <a:p>
                      <a:pPr algn="l"/>
                      <a:r>
                        <a:rPr sz="1100">
                          <a:solidFill>
                            <a:srgbClr val="1C2233"/>
                          </a:solidFill>
                          <a:latin typeface="メイリオ"/>
                          <a:ea typeface="メイリオ"/>
                          <a:cs typeface="メイリオ"/>
                        </a:rPr>
                        <a:t>学校推薦型の締切カウントダウン</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6"/>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2月｜合格者（○人）</a:t>
                      </a:r>
                    </a:p>
                  </a:txBody>
                  <a:tcPr anchor="ctr">
                    <a:solidFill>
                      <a:srgbClr val="FFFFFF"/>
                    </a:solidFill>
                  </a:tcPr>
                </a:tc>
                <a:tc>
                  <a:txBody>
                    <a:bodyPr/>
                    <a:lstStyle/>
                    <a:p>
                      <a:pPr algn="l"/>
                      <a:r>
                        <a:rPr sz="1100">
                          <a:solidFill>
                            <a:srgbClr val="1C2233"/>
                          </a:solidFill>
                          <a:latin typeface="メイリオ"/>
                          <a:ea typeface="メイリオ"/>
                          <a:cs typeface="メイリオ"/>
                        </a:rPr>
                        <a:t>入学前オリエン・先輩との交流・一人暮らし準備</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配信の時期は Googleトレンド実測（2026-09-15取得）と文部科学省「大学入学者選抜実施要項」から逆算。</a:t>
            </a:r>
          </a:p>
          <a:p>
            <a:pPr algn="l">
              <a:lnSpc>
                <a:spcPct val="120000"/>
              </a:lnSpc>
            </a:pPr>
            <a:r>
              <a:rPr sz="900">
                <a:solidFill>
                  <a:srgbClr val="646C82"/>
                </a:solidFill>
                <a:latin typeface="メイリオ"/>
                <a:ea typeface="メイリオ"/>
                <a:cs typeface="メイリオ"/>
              </a:rPr>
              <a:t>※ 開封率・クリック率・CVR は貴学の実績で埋める。運用費は「施策設計①」の表を参照。</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施策設計③｜満足度改善（ユーザー）</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情報を届けるだけでなく、困ったときに自分で解決できる導線も用意する。</a:t>
            </a:r>
          </a:p>
        </p:txBody>
      </p:sp>
      <p:graphicFrame>
        <p:nvGraphicFramePr>
          <p:cNvPr id="4" name="Table 3"/>
          <p:cNvGraphicFramePr>
            <a:graphicFrameLocks noGrp="1"/>
          </p:cNvGraphicFramePr>
          <p:nvPr/>
        </p:nvGraphicFramePr>
        <p:xfrm>
          <a:off x="396000" y="1224000"/>
          <a:ext cx="9144000" cy="3024000"/>
        </p:xfrm>
        <a:graphic>
          <a:graphicData uri="http://schemas.openxmlformats.org/drawingml/2006/table">
            <a:tbl>
              <a:tblPr firstRow="1" bandRow="1">
                <a:tableStyleId>{5C22544A-7EE6-4342-B048-85BDC9FD1C3A}</a:tableStyleId>
              </a:tblPr>
              <a:tblGrid>
                <a:gridCol w="1944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tblGrid>
              <a:tr h="756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extLst>
                  <a:ext uri="{0D108BD9-81ED-4DB2-BD59-A6C34878D82A}">
                    <a16:rowId xmlns:a16="http://schemas.microsoft.com/office/drawing/2014/main" val="10000"/>
                  </a:ext>
                </a:extLst>
              </a:tr>
              <a:tr h="756000">
                <a:tc>
                  <a:txBody>
                    <a:bodyPr/>
                    <a:lstStyle/>
                    <a:p>
                      <a:pPr algn="ctr"/>
                      <a:r>
                        <a:rPr sz="1100">
                          <a:solidFill>
                            <a:srgbClr val="1C2233"/>
                          </a:solidFill>
                          <a:latin typeface="メイリオ"/>
                          <a:ea typeface="メイリオ"/>
                          <a:cs typeface="メイリオ"/>
                        </a:rPr>
                        <a:t>QA自動化</a:t>
                      </a:r>
                    </a:p>
                  </a:txBody>
                  <a:tcPr anchor="ctr">
                    <a:solidFill>
                      <a:srgbClr val="FFFFFF"/>
                    </a:solidFill>
                  </a:tcPr>
                </a:tc>
                <a:tc>
                  <a:txBody>
                    <a:bodyPr/>
                    <a:lstStyle/>
                    <a:p>
                      <a:pPr algn="l"/>
                      <a:r>
                        <a:rPr sz="1100">
                          <a:solidFill>
                            <a:srgbClr val="1C2233"/>
                          </a:solidFill>
                          <a:latin typeface="メイリオ"/>
                          <a:ea typeface="メイリオ"/>
                          <a:cs typeface="メイリオ"/>
                        </a:rPr>
                        <a:t>リッチメニュー「よくある質問」＋KW自動応答（学費／奨学金／アクセス／OC／出願締切）。24時間、待たせない</a:t>
                      </a:r>
                    </a:p>
                  </a:txBody>
                  <a:tcPr anchor="ctr">
                    <a:solidFill>
                      <a:srgbClr val="FFFFFF"/>
                    </a:solidFill>
                  </a:tcPr>
                </a:tc>
                <a:extLst>
                  <a:ext uri="{0D108BD9-81ED-4DB2-BD59-A6C34878D82A}">
                    <a16:rowId xmlns:a16="http://schemas.microsoft.com/office/drawing/2014/main" val="10001"/>
                  </a:ext>
                </a:extLst>
              </a:tr>
              <a:tr h="756000">
                <a:tc>
                  <a:txBody>
                    <a:bodyPr/>
                    <a:lstStyle/>
                    <a:p>
                      <a:pPr algn="ctr"/>
                      <a:r>
                        <a:rPr sz="1100">
                          <a:solidFill>
                            <a:srgbClr val="1C2233"/>
                          </a:solidFill>
                          <a:latin typeface="メイリオ"/>
                          <a:ea typeface="メイリオ"/>
                          <a:cs typeface="メイリオ"/>
                        </a:rPr>
                        <a:t>個別チャット</a:t>
                      </a:r>
                    </a:p>
                  </a:txBody>
                  <a:tcPr anchor="ctr">
                    <a:solidFill>
                      <a:srgbClr val="F4F7FF"/>
                    </a:solidFill>
                  </a:tcPr>
                </a:tc>
                <a:tc>
                  <a:txBody>
                    <a:bodyPr/>
                    <a:lstStyle/>
                    <a:p>
                      <a:pPr algn="l"/>
                      <a:r>
                        <a:rPr sz="1100">
                          <a:solidFill>
                            <a:srgbClr val="1C2233"/>
                          </a:solidFill>
                          <a:latin typeface="メイリオ"/>
                          <a:ea typeface="メイリオ"/>
                          <a:cs typeface="メイリオ"/>
                        </a:rPr>
                        <a:t>自動応答で解決しない相談は有人対応（Chat Plus／Call Plus・別途費用）。対応時間を必ず画面に明記する</a:t>
                      </a:r>
                    </a:p>
                  </a:txBody>
                  <a:tcPr anchor="ctr">
                    <a:solidFill>
                      <a:srgbClr val="F4F7FF"/>
                    </a:solidFill>
                  </a:tcPr>
                </a:tc>
                <a:extLst>
                  <a:ext uri="{0D108BD9-81ED-4DB2-BD59-A6C34878D82A}">
                    <a16:rowId xmlns:a16="http://schemas.microsoft.com/office/drawing/2014/main" val="10002"/>
                  </a:ext>
                </a:extLst>
              </a:tr>
              <a:tr h="756000">
                <a:tc>
                  <a:txBody>
                    <a:bodyPr/>
                    <a:lstStyle/>
                    <a:p>
                      <a:pPr algn="ctr"/>
                      <a:r>
                        <a:rPr sz="1100">
                          <a:solidFill>
                            <a:srgbClr val="1C2233"/>
                          </a:solidFill>
                          <a:latin typeface="メイリオ"/>
                          <a:ea typeface="メイリオ"/>
                          <a:cs typeface="メイリオ"/>
                        </a:rPr>
                        <a:t>その他</a:t>
                      </a:r>
                    </a:p>
                  </a:txBody>
                  <a:tcPr anchor="ctr">
                    <a:solidFill>
                      <a:srgbClr val="FFFFFF"/>
                    </a:solidFill>
                  </a:tcPr>
                </a:tc>
                <a:tc>
                  <a:txBody>
                    <a:bodyPr/>
                    <a:lstStyle/>
                    <a:p>
                      <a:pPr algn="l"/>
                      <a:r>
                        <a:rPr sz="1100">
                          <a:solidFill>
                            <a:srgbClr val="1C2233"/>
                          </a:solidFill>
                          <a:latin typeface="メイリオ"/>
                          <a:ea typeface="メイリオ"/>
                          <a:cs typeface="メイリオ"/>
                        </a:rPr>
                        <a:t>「診断をやり直す」「配信を止める」で自己解決。ブロックさせないための出口を、隠さず置く</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396000" y="4136400"/>
            <a:ext cx="4464000" cy="151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err="1">
                <a:solidFill>
                  <a:srgbClr val="ED7D31"/>
                </a:solidFill>
                <a:latin typeface="メイリオ"/>
                <a:ea typeface="メイリオ"/>
                <a:cs typeface="メイリオ"/>
              </a:rPr>
              <a:t>この業界で最大の恐怖に、先回りする</a:t>
            </a:r>
            <a:endParaRPr sz="1200" b="1" dirty="0">
              <a:solidFill>
                <a:srgbClr val="ED7D31"/>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高校生が資料請求をためらう最大の理由は「そのあと電話がかかってくること</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あいさつメッセージの1行目に</a:t>
            </a: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こちらから確認のお電話をすることはありません」と書く。コストはゼロ</a:t>
            </a:r>
            <a:r>
              <a:rPr sz="1100" dirty="0">
                <a:solidFill>
                  <a:srgbClr val="1C2233"/>
                </a:solidFill>
                <a:latin typeface="メイリオ"/>
                <a:ea typeface="メイリオ"/>
                <a:cs typeface="メイリオ"/>
              </a:rPr>
              <a:t>。</a:t>
            </a:r>
          </a:p>
        </p:txBody>
      </p:sp>
      <p:sp>
        <p:nvSpPr>
          <p:cNvPr id="6" name="Rounded Rectangle 5"/>
          <p:cNvSpPr/>
          <p:nvPr/>
        </p:nvSpPr>
        <p:spPr>
          <a:xfrm>
            <a:off x="5040000" y="4136400"/>
            <a:ext cx="44640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保護者も同じアカウントで受け止める</a:t>
            </a:r>
          </a:p>
          <a:p>
            <a:pPr algn="l">
              <a:lnSpc>
                <a:spcPct val="120000"/>
              </a:lnSpc>
              <a:spcAft>
                <a:spcPts val="200"/>
              </a:spcAft>
            </a:pPr>
            <a:r>
              <a:rPr sz="1100">
                <a:solidFill>
                  <a:srgbClr val="1C2233"/>
                </a:solidFill>
                <a:latin typeface="メイリオ"/>
                <a:ea typeface="メイリオ"/>
                <a:cs typeface="メイリオ"/>
              </a:rPr>
              <a:t>決める人（高校生）と払う人（保護者）が違う業界。</a:t>
            </a:r>
          </a:p>
          <a:p>
            <a:pPr algn="l">
              <a:lnSpc>
                <a:spcPct val="120000"/>
              </a:lnSpc>
              <a:spcAft>
                <a:spcPts val="200"/>
              </a:spcAft>
            </a:pPr>
            <a:r>
              <a:rPr sz="1100">
                <a:solidFill>
                  <a:srgbClr val="1C2233"/>
                </a:solidFill>
                <a:latin typeface="メイリオ"/>
                <a:ea typeface="メイリオ"/>
                <a:cs typeface="メイリオ"/>
              </a:rPr>
              <a:t>「保護者の方も、このままご覧いただけます」を明記し、</a:t>
            </a:r>
          </a:p>
          <a:p>
            <a:pPr algn="l">
              <a:lnSpc>
                <a:spcPct val="120000"/>
              </a:lnSpc>
              <a:spcAft>
                <a:spcPts val="200"/>
              </a:spcAft>
            </a:pPr>
            <a:r>
              <a:rPr sz="1100">
                <a:solidFill>
                  <a:srgbClr val="1C2233"/>
                </a:solidFill>
                <a:latin typeface="メイリオ"/>
                <a:ea typeface="メイリオ"/>
                <a:cs typeface="メイリオ"/>
              </a:rPr>
              <a:t>リッチメニュー③に学費・奨学金・就職実績をまとめて置く。</a:t>
            </a:r>
          </a:p>
        </p:txBody>
      </p:sp>
      <p:sp>
        <p:nvSpPr>
          <p:cNvPr id="7" name="Rectangle 6"/>
          <p:cNvSpPr/>
          <p:nvPr/>
        </p:nvSpPr>
        <p:spPr>
          <a:xfrm>
            <a:off x="396000" y="590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90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983200"/>
            <a:ext cx="8820000" cy="324000"/>
          </a:xfrm>
          <a:prstGeom prst="rect">
            <a:avLst/>
          </a:prstGeom>
          <a:noFill/>
        </p:spPr>
        <p:txBody>
          <a:bodyPr wrap="square" lIns="0" tIns="21600" rIns="0" bIns="21600" anchor="ctr">
            <a:spAutoFit/>
          </a:bodyPr>
          <a:lstStyle/>
          <a:p>
            <a:pPr algn="l"/>
            <a:r>
              <a:rPr sz="1400" b="1" dirty="0" err="1">
                <a:solidFill>
                  <a:srgbClr val="1C2233"/>
                </a:solidFill>
                <a:latin typeface="メイリオ"/>
                <a:ea typeface="メイリオ"/>
                <a:cs typeface="メイリオ"/>
              </a:rPr>
              <a:t>困ったときに自分で解決できるほど、ブロックされずに残る</a:t>
            </a:r>
            <a:r>
              <a:rPr sz="1400" b="1" dirty="0">
                <a:solidFill>
                  <a:srgbClr val="1C2233"/>
                </a:solidFill>
                <a:latin typeface="メイリオ"/>
                <a:ea typeface="メイリオ"/>
                <a:cs typeface="メイリオ"/>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施策設計④｜効率改善（管理側）</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人手を増やさずに、資料請求直後の初動と、募集ピーク期の問い合わせ対応を回す。</a:t>
            </a:r>
          </a:p>
        </p:txBody>
      </p:sp>
      <p:graphicFrame>
        <p:nvGraphicFramePr>
          <p:cNvPr id="4" name="Table 3"/>
          <p:cNvGraphicFramePr>
            <a:graphicFrameLocks noGrp="1"/>
          </p:cNvGraphicFramePr>
          <p:nvPr/>
        </p:nvGraphicFramePr>
        <p:xfrm>
          <a:off x="396000" y="1224000"/>
          <a:ext cx="9144000" cy="2268000"/>
        </p:xfrm>
        <a:graphic>
          <a:graphicData uri="http://schemas.openxmlformats.org/drawingml/2006/table">
            <a:tbl>
              <a:tblPr firstRow="1" bandRow="1">
                <a:tableStyleId>{5C22544A-7EE6-4342-B048-85BDC9FD1C3A}</a:tableStyleId>
              </a:tblPr>
              <a:tblGrid>
                <a:gridCol w="1944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tblGrid>
              <a:tr h="756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extLst>
                  <a:ext uri="{0D108BD9-81ED-4DB2-BD59-A6C34878D82A}">
                    <a16:rowId xmlns:a16="http://schemas.microsoft.com/office/drawing/2014/main" val="10000"/>
                  </a:ext>
                </a:extLst>
              </a:tr>
              <a:tr h="756000">
                <a:tc>
                  <a:txBody>
                    <a:bodyPr/>
                    <a:lstStyle/>
                    <a:p>
                      <a:pPr algn="ctr"/>
                      <a:r>
                        <a:rPr sz="1100">
                          <a:solidFill>
                            <a:srgbClr val="1C2233"/>
                          </a:solidFill>
                          <a:latin typeface="メイリオ"/>
                          <a:ea typeface="メイリオ"/>
                          <a:cs typeface="メイリオ"/>
                        </a:rPr>
                        <a:t>自動応答</a:t>
                      </a:r>
                    </a:p>
                  </a:txBody>
                  <a:tcPr anchor="ctr">
                    <a:solidFill>
                      <a:srgbClr val="FFFFFF"/>
                    </a:solidFill>
                  </a:tcPr>
                </a:tc>
                <a:tc>
                  <a:txBody>
                    <a:bodyPr/>
                    <a:lstStyle/>
                    <a:p>
                      <a:pPr algn="l"/>
                      <a:r>
                        <a:rPr sz="1100">
                          <a:solidFill>
                            <a:srgbClr val="1C2233"/>
                          </a:solidFill>
                          <a:latin typeface="メイリオ"/>
                          <a:ea typeface="メイリオ"/>
                          <a:cs typeface="メイリオ"/>
                        </a:rPr>
                        <a:t>資料請求の直後にあいさつ＋診断4問を自動送信。夜間でも初動の速度が落ちない</a:t>
                      </a:r>
                    </a:p>
                  </a:txBody>
                  <a:tcPr anchor="ctr">
                    <a:solidFill>
                      <a:srgbClr val="FFFFFF"/>
                    </a:solidFill>
                  </a:tcPr>
                </a:tc>
                <a:extLst>
                  <a:ext uri="{0D108BD9-81ED-4DB2-BD59-A6C34878D82A}">
                    <a16:rowId xmlns:a16="http://schemas.microsoft.com/office/drawing/2014/main" val="10001"/>
                  </a:ext>
                </a:extLst>
              </a:tr>
              <a:tr h="756000">
                <a:tc>
                  <a:txBody>
                    <a:bodyPr/>
                    <a:lstStyle/>
                    <a:p>
                      <a:pPr algn="ctr"/>
                      <a:r>
                        <a:rPr sz="1100">
                          <a:solidFill>
                            <a:srgbClr val="1C2233"/>
                          </a:solidFill>
                          <a:latin typeface="メイリオ"/>
                          <a:ea typeface="メイリオ"/>
                          <a:cs typeface="メイリオ"/>
                        </a:rPr>
                        <a:t>その他</a:t>
                      </a:r>
                    </a:p>
                  </a:txBody>
                  <a:tcPr anchor="ctr">
                    <a:solidFill>
                      <a:srgbClr val="F4F7FF"/>
                    </a:solidFill>
                  </a:tcPr>
                </a:tc>
                <a:tc>
                  <a:txBody>
                    <a:bodyPr/>
                    <a:lstStyle/>
                    <a:p>
                      <a:pPr algn="l"/>
                      <a:r>
                        <a:rPr sz="1100">
                          <a:solidFill>
                            <a:srgbClr val="1C2233"/>
                          </a:solidFill>
                          <a:latin typeface="メイリオ"/>
                          <a:ea typeface="メイリオ"/>
                          <a:cs typeface="メイリオ"/>
                        </a:rPr>
                        <a:t>GAレポート連携で、友だち数・OC予約率・OC参加率・出願率を毎月数値で振り返る</a:t>
                      </a:r>
                    </a:p>
                  </a:txBody>
                  <a:tcPr anchor="ctr">
                    <a:solidFill>
                      <a:srgbClr val="F4F7FF"/>
                    </a:solidFill>
                  </a:tcPr>
                </a:tc>
                <a:extLst>
                  <a:ext uri="{0D108BD9-81ED-4DB2-BD59-A6C34878D82A}">
                    <a16:rowId xmlns:a16="http://schemas.microsoft.com/office/drawing/2014/main" val="10002"/>
                  </a:ext>
                </a:extLst>
              </a:tr>
            </a:tbl>
          </a:graphicData>
        </a:graphic>
      </p:graphicFrame>
      <p:sp>
        <p:nvSpPr>
          <p:cNvPr id="5" name="Rounded Rectangle 4"/>
          <p:cNvSpPr/>
          <p:nvPr/>
        </p:nvSpPr>
        <p:spPr>
          <a:xfrm>
            <a:off x="396000" y="3492000"/>
            <a:ext cx="4464000"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電話が鳴り続けるのは7〜8月と1〜2月</a:t>
            </a: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学費は</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アクセスは</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締切は</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入試広報課の電話が集中する時期は</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そのまま募集のピークと重なる</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この問い合わせをKW自動応答に逃がすと</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その時間が募集活動そのものに戻る</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工数削減は時給換算で語らない</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ピーク期に募集の手が止まる」で語る</a:t>
            </a:r>
            <a:r>
              <a:rPr sz="1100" dirty="0">
                <a:solidFill>
                  <a:srgbClr val="1C2233"/>
                </a:solidFill>
                <a:latin typeface="メイリオ"/>
                <a:ea typeface="メイリオ"/>
                <a:cs typeface="メイリオ"/>
              </a:rPr>
              <a:t>。</a:t>
            </a:r>
          </a:p>
        </p:txBody>
      </p:sp>
      <p:sp>
        <p:nvSpPr>
          <p:cNvPr id="6" name="Rounded Rectangle 5"/>
          <p:cNvSpPr/>
          <p:nvPr/>
        </p:nvSpPr>
        <p:spPr>
          <a:xfrm>
            <a:off x="5046002" y="3492000"/>
            <a:ext cx="4464000"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紙とメールのコストも落ちる</a:t>
            </a:r>
          </a:p>
          <a:p>
            <a:pPr algn="l">
              <a:lnSpc>
                <a:spcPct val="120000"/>
              </a:lnSpc>
              <a:spcAft>
                <a:spcPts val="200"/>
              </a:spcAft>
            </a:pPr>
            <a:r>
              <a:rPr sz="1100">
                <a:solidFill>
                  <a:srgbClr val="1C2233"/>
                </a:solidFill>
                <a:latin typeface="メイリオ"/>
                <a:ea typeface="メイリオ"/>
                <a:cs typeface="メイリオ"/>
              </a:rPr>
              <a:t>デジタルパンフをLINEで配信すれば、</a:t>
            </a:r>
          </a:p>
          <a:p>
            <a:pPr algn="l">
              <a:lnSpc>
                <a:spcPct val="120000"/>
              </a:lnSpc>
              <a:spcAft>
                <a:spcPts val="200"/>
              </a:spcAft>
            </a:pPr>
            <a:r>
              <a:rPr sz="1100">
                <a:solidFill>
                  <a:srgbClr val="1C2233"/>
                </a:solidFill>
                <a:latin typeface="メイリオ"/>
                <a:ea typeface="メイリオ"/>
                <a:cs typeface="メイリオ"/>
              </a:rPr>
              <a:t>印刷費・郵送費・封入作業がゼロになる。</a:t>
            </a:r>
          </a:p>
          <a:p>
            <a:pPr algn="l">
              <a:lnSpc>
                <a:spcPct val="120000"/>
              </a:lnSpc>
              <a:spcAft>
                <a:spcPts val="200"/>
              </a:spcAft>
            </a:pPr>
            <a:r>
              <a:rPr sz="1100">
                <a:solidFill>
                  <a:srgbClr val="1C2233"/>
                </a:solidFill>
                <a:latin typeface="メイリオ"/>
                <a:ea typeface="メイリオ"/>
                <a:cs typeface="メイリオ"/>
              </a:rPr>
              <a:t>しかも資料請求で取ったメールアドレスは、</a:t>
            </a:r>
          </a:p>
          <a:p>
            <a:pPr algn="l">
              <a:lnSpc>
                <a:spcPct val="120000"/>
              </a:lnSpc>
              <a:spcAft>
                <a:spcPts val="200"/>
              </a:spcAft>
            </a:pPr>
            <a:r>
              <a:rPr sz="1100">
                <a:solidFill>
                  <a:srgbClr val="1C2233"/>
                </a:solidFill>
                <a:latin typeface="メイリオ"/>
                <a:ea typeface="メイリオ"/>
                <a:cs typeface="メイリオ"/>
              </a:rPr>
              <a:t>高校生が最も見ない経路。</a:t>
            </a:r>
          </a:p>
          <a:p>
            <a:pPr algn="l">
              <a:lnSpc>
                <a:spcPct val="120000"/>
              </a:lnSpc>
              <a:spcAft>
                <a:spcPts val="200"/>
              </a:spcAft>
            </a:pPr>
            <a:r>
              <a:rPr sz="1100">
                <a:solidFill>
                  <a:srgbClr val="1C2233"/>
                </a:solidFill>
                <a:latin typeface="メイリオ"/>
                <a:ea typeface="メイリオ"/>
                <a:cs typeface="メイリオ"/>
              </a:rPr>
              <a:t>LINEなら当日中に約8割が開封される（LINEヤフー社公開値）。</a:t>
            </a:r>
          </a:p>
        </p:txBody>
      </p:sp>
      <p:sp>
        <p:nvSpPr>
          <p:cNvPr id="7" name="Rectangle 6"/>
          <p:cNvSpPr/>
          <p:nvPr/>
        </p:nvSpPr>
        <p:spPr>
          <a:xfrm>
            <a:off x="396000" y="5776913"/>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776913"/>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856113"/>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増員ではなく自動化で、募集ピーク期の初動速度を守る。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◯の数は貴学の学部・学科数・リスト規模に合わせて確定します。</a:t>
            </a:r>
            <a:r>
              <a:rPr sz="1600" b="0" dirty="0" err="1">
                <a:solidFill>
                  <a:srgbClr val="333333"/>
                </a:solidFill>
                <a:latin typeface="メイリオ"/>
                <a:ea typeface="メイリオ"/>
              </a:rPr>
              <a:t/>
            </a:r>
            <a:r>
              <a:rPr sz="1600" b="0" dirty="0">
                <a:solidFill>
                  <a:srgbClr val="333333"/>
                </a:solidFill>
                <a:latin typeface="メイリオ"/>
                <a:ea typeface="メイリオ"/>
              </a:rPr>
              <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運用構成（貴学に合わせて確定）</a:t>
            </a:r>
            <a:r>
              <a:rPr sz="1400" b="1" dirty="0">
                <a:solidFill>
                  <a:srgbClr val="1F3A5F"/>
                </a:solidFill>
                <a:latin typeface="メイリオ"/>
                <a:ea typeface="メイリオ"/>
              </a:rPr>
              <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二軸アンケート（配信頻度×志望学部）で分類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よくある質問＝KW自動応答／受付時間内は有人対応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OC・個別相談の希望はチャット受付 → 入試広報担当者へ連携</a:t>
            </a:r>
            <a:r>
              <a:rPr sz="1200" b="0" dirty="0">
                <a:solidFill>
                  <a:srgbClr val="333333"/>
                </a:solidFill>
                <a:latin typeface="メイリオ"/>
                <a:ea typeface="メイリオ"/>
              </a:rPr>
              <a:t/>
            </a:r>
            <a:r>
              <a:rPr sz="1200" b="0" dirty="0" err="1">
                <a:solidFill>
                  <a:srgbClr val="333333"/>
                </a:solidFill>
                <a:latin typeface="メイリオ"/>
                <a:ea typeface="メイリオ"/>
              </a:rPr>
              <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⑦出願・入学手続</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⑧入学後の定着・中退防止・紹介</a:t>
            </a:r>
            <a:r>
              <a:rPr lang="en-US" altLang="ja-JP" sz="1100" b="1" dirty="0">
                <a:latin typeface="メイリオ" panose="020B0604030504040204" pitchFamily="50" charset="-128"/>
                <a:ea typeface="メイリオ" panose="020B0604030504040204" pitchFamily="50" charset="-128"/>
              </a:rPr>
              <a:t/>
            </a:r>
            <a:r>
              <a:rPr lang="ja-JP" altLang="en-US" sz="1100" b="1" dirty="0">
                <a:latin typeface="メイリオ" panose="020B0604030504040204" pitchFamily="50" charset="-128"/>
                <a:ea typeface="メイリオ" panose="020B0604030504040204" pitchFamily="50" charset="-128"/>
              </a:rPr>
              <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30秒 学部学科診断</a:t>
            </a:r>
            <a:r>
              <a:rPr sz="1100" b="1">
                <a:solidFill>
                  <a:srgbClr val="1A1A2E"/>
                </a:solidFill>
                <a:latin typeface="メイリオ"/>
                <a:ea typeface="メイリオ"/>
                <a:cs typeface="メイリオ"/>
              </a:rPr>
              <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未出願・辞退者へ再接触</a:t>
            </a:r>
            <a:r>
              <a:rPr sz="1100" b="1">
                <a:solidFill>
                  <a:srgbClr val="1A1A2E"/>
                </a:solidFill>
                <a:latin typeface="メイリオ"/>
                <a:ea typeface="メイリオ"/>
                <a:cs typeface="メイリオ"/>
              </a:rPr>
              <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資料請求のみ層へリマインド</a:t>
            </a:r>
            <a:r>
              <a:rPr sz="1100" b="1">
                <a:solidFill>
                  <a:srgbClr val="1A1A2E"/>
                </a:solidFill>
                <a:latin typeface="メイリオ"/>
                <a:ea typeface="メイリオ"/>
                <a:cs typeface="メイリオ"/>
              </a:rPr>
              <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参加状況に応じた案内</a:t>
            </a:r>
            <a:r>
              <a:rPr sz="1100" b="1">
                <a:solidFill>
                  <a:srgbClr val="1A1A2E"/>
                </a:solidFill>
                <a:latin typeface="メイリオ"/>
                <a:ea typeface="メイリオ"/>
                <a:cs typeface="メイリオ"/>
              </a:rPr>
              <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関連学部・イベント案内</a:t>
            </a:r>
            <a:r>
              <a:rPr sz="1100" b="1">
                <a:solidFill>
                  <a:srgbClr val="1A1A2E"/>
                </a:solidFill>
                <a:latin typeface="メイリオ"/>
                <a:ea typeface="メイリオ"/>
                <a:cs typeface="メイリオ"/>
              </a:rPr>
              <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受験生向けの無料チェックリスト・資料を配布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「登録するだけでもらえる」特典を用意することで登録動機を明確化。受験生の悩みに答えるコンテンツ（入試チェックシート・学費ガイド等）が最もCV率が高い。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「学部学科診断」でゲーム感覚の登録動線を設計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「あなたに合う学部学科診断」など自分に関係する情報を得られる診断コンテンツをLINE登録の特典に設定。結果表示→そのまま育成配信へ移行。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資料請求やOC予約のサンクスページ上にLINE追加QRコードを設置。「OCの日程・入試情報をLINEでお知らせします」という理由付けで登録率を高める。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panose="020B0604030504040204" pitchFamily="50" charset="-128"/>
              </a:rPr>
              <a:t>流入</a:t>
            </a:r>
            <a:r>
              <a:rPr lang="en-US" altLang="ja-JP" sz="900" b="1" dirty="0">
                <a:solidFill>
                  <a:srgbClr val="FDFDFD"/>
                </a:solidFill>
                <a:latin typeface="メイリオ" panose="020B0604030504040204" pitchFamily="50" charset="-128"/>
              </a:rPr>
              <a:t>/</a:t>
            </a:r>
            <a:r>
              <a:rPr lang="ja-JP" altLang="en-US" sz="900" b="1" dirty="0">
                <a:solidFill>
                  <a:srgbClr val="FDFDFD"/>
                </a:solidFill>
                <a:latin typeface="メイリオ" panose="020B0604030504040204" pitchFamily="50" charset="-128"/>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panose="020B0604030504040204" pitchFamily="50" charset="-128"/>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長期間反応のない検討者を起こす動線</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メール・郵送DMの既存資料請求者リストにLINE移行キャンペーンを配信。「LINE登録で入試ガイドをプレゼント」などの特典で現役のLINEリストに転換し、再ナーチャリングを開始する。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「夏のオープンキャンパス」「出願受付開始前のご案内」など、受験生が動きやすいタイミングに合わせて配信。「今だから」という理由付けが未アクション層の行動を促す。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「現在の状況を教えてください（3問）」を配信。「検討中」「他校と比較中」「まだ先」に応じてシナリオを分岐させ、各層に最適なコンテンツを配信する。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未出願・辞退者</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未出願・辞退者へ「その後どうですか？」配信</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過去に資料請求したが未出願の層に、3〜6ヶ月後を目安に再接触。「新しい入試方式が加わりました」「奨学金制度のご案内」という切り口が再CVに有効。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辞退後3〜6ヶ月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資料請求のみ層へのリマインド配信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資料請求のみでOC予約・出願に至っていない層に特化したステップ配信を設計。「個別相談受付中」「出願は今月末まで」等のCTAで背中を押す。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「ご無沙汰の検討者」へ限定特典で関係再構築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6ヶ月以上アクションがない検討者に「久しぶりにご連絡します」という自然なトーンで接触。入試情報・役立つコンテンツから入り、関係を再構築してからCVを狙う。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出願検討層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想定：入学後の定着・紹介、関連学部・イベント案内を計画的に実施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定着・紹介施策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入学後も接点を保ち、紹介につなげる設計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関連案内施策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関連学部・学科／説明会・イベントへの誘導設計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入学後の自動フォローアップ配信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入学後30日・3ヶ月・6ヶ月のタイミングで自動配信。「その後いかがですか？」「履修・学生生活のご案内」など適切なタイミングで相談窓口を自然に案内する。</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入学手続完了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誕生日・入学記念日にお祝いを自動配信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誕生日や入学日を記念日として登録し、該当日にお祝いメッセージ・特典を自動配信。「自分のことを覚えてくれている」体験が在学中の接点を保つ。</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お祝い配信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接点の継続</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「友人をオープンキャンパスに紹介してくれたら特典をプレゼント」をLINEで告知・管理。満足度が高い時期（OC参加直後・入学後）に訴求することで紹介件数が最大化する。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入学後3ヶ月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参加状況連動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参加状況に応じた次のイベント案内</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参加状況タグを活用して「反応の多い層」に次の説明会・イベントの案内を自動配信。「OCに参加した方には、入試対策セミナーのご案内」という具体的な次の一歩がCVRを高める。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参加状況タグ付与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次のイベント案内</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イベント参加CV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関連学部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志望学部に紐づく関連学部・学科の案内</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「A学科を志望の方向け：近い分野のB学科もご検討ください」という形で関連学部・学科を案内。タグセグメントで対象を絞ることで過剰アプローチを防ぐ。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志望学部を特定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関連学科案内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関連学科CV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入試日程に合わせた説明会・イベント案内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受験生が次の行動を迷う前に、関連する説明会・イベントを先出しする。「夏のオープンキャンパスに向けて、ご準備はお済みですか？」という形で2〜3週前に配信するとCVRが高い。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イベント先出し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想定：チャットやり取りを簡略化・自動化する事で、利便性を下げず入試広報担当者への連携、CVに繋げる</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担当者連携施策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温度感が高まった受験生を入試広報担当者に自動連携する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「学費は？」「OCを予約したい」などの頻出キーワードをLINEに登録し自動返答。スタッフ対応ゼロで24時間365日対応が可能になり、問い合わせコストを大幅削減できる。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個別相談・OC予約の日程調整をLINEで完結させる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「個別相談を希望する」と入力した受験生に日程候補を自動提示→選択→確定までLINE内で完結。電話折り返し・メール往復ゼロで相談設定の工数を大幅削減できる。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リッチメニューに「よくある質問」「学費を知りたい」「学生生活を見たい」等のボタンを設置し、タップするだけで回答が届く設計にする。スタッフが答える前に自己解決を促す。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アンケート回答・特定コンテンツのクリック・複数回のサイト訪問など、CVに近いアクションを検知した際に入試広報担当者へ自動アラート。相談・OC案内のタイミングを逃さない。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出願・OC予約前の受験生へ自動フォロー</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特定の学科ページを複数回閲覧・出願ページを開いたまま未出願等をトリガーに「ご不明な点はありますか？」とLINEから自動チャット誘導し、最後の一押しをする。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貴学の明るい未来に必ず貢献致します。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146316</TotalTime>
  <Words>8419</Words>
  <Application>Microsoft Office PowerPoint</Application>
  <PresentationFormat>A4 210 x 297 mm</PresentationFormat>
  <Paragraphs>1836</Paragraphs>
  <Slides>50</Slides>
  <Notes>9</Notes>
  <HiddenSlides>4</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50</vt:i4>
      </vt:variant>
    </vt:vector>
  </HeadingPairs>
  <TitlesOfParts>
    <vt:vector size="55"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1965</cp:revision>
  <cp:lastPrinted>2022-11-01T11:38:14Z</cp:lastPrinted>
  <dcterms:created xsi:type="dcterms:W3CDTF">2015-09-04T09:21:15Z</dcterms:created>
  <dcterms:modified xsi:type="dcterms:W3CDTF">2026-09-25T07:53:28Z</dcterms:modified>
</cp:coreProperties>
</file>