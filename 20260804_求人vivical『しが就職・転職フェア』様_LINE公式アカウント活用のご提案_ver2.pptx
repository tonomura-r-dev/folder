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363" r:id="rId3"/>
    <p:sldId id="2935" r:id="rId4"/>
    <p:sldId id="2956" r:id="rId5"/>
    <p:sldId id="2988" r:id="rId6"/>
    <p:sldId id="2972" r:id="rId7"/>
    <p:sldId id="2977" r:id="rId8"/>
    <p:sldId id="2974" r:id="rId9"/>
    <p:sldId id="2975" r:id="rId10"/>
    <p:sldId id="2979" r:id="rId11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0A72-79AB-D734-F919-6B5353A0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43DCC9-013F-5916-497A-3173AB3E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E4841C-3C6F-F028-ED9E-D25D3936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06F5D-B3E8-8EF8-D9FF-5F440AE72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63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C596-88E7-2BC9-7631-7B2FF864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78EA305-DD4B-4755-1A79-3ECAA1BFA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530CFC-96E0-CB7F-D9F4-B974123A5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657086-8B2C-117D-A7A7-81B2D3075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02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8803-9F0E-9C31-9560-20947185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9DBAC0-C8E1-8C5B-7FC3-E2F967DE3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9E6ECD-81E8-9621-C097-7F38D3F57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567096-EE1C-9444-DCCA-A268D8AAC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08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1486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LINE公式アカウント活用のご提案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求人vivical『しが就職・転職フェア』様向け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978408" y="3910946"/>
            <a:ext cx="7955279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〜「直前辞退の防止」と「次回イベントへの継続囲い込み」による採用成果の最大化〜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401568" y="4341752"/>
            <a:ext cx="3108960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2026年8月｜株式会社DYM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ご提案の背景と目的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転職フェアの成果最大化には「予約後の引き上げ率（来場率）向上」が不可欠である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91440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72768"/>
            <a:ext cx="7936992" cy="457200"/>
          </a:xfrm>
          <a:prstGeom prst="rect">
            <a:avLst/>
          </a:prstGeom>
          <a:noFill/>
        </p:spPr>
        <p:txBody>
          <a:bodyPr wrap="square" lIns="0" rIns="54864" tIns="27432" bIns="27432" anchor="ctr">
            <a:spAutoFit/>
          </a:bodyPr>
          <a:lstStyle/>
          <a:p>
            <a:pPr algn="l"/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月額広告費80万円で目標予約数は達成（予約単価10,000円）。一方で予約者の3〜4割が直前辞退し、来場引き上げ率は60〜70%にとどまる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66543"/>
            <a:ext cx="914400" cy="34747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11679"/>
            <a:ext cx="7936992" cy="457200"/>
          </a:xfrm>
          <a:prstGeom prst="rect">
            <a:avLst/>
          </a:prstGeom>
          <a:noFill/>
        </p:spPr>
        <p:txBody>
          <a:bodyPr wrap="square" lIns="0" rIns="54864" tIns="27432" bIns="27432" anchor="ctr">
            <a:spAutoFit/>
          </a:bodyPr>
          <a:lstStyle/>
          <a:p>
            <a:pPr algn="l"/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その結果、実質的な「来場獲得単価」は16,000〜18,000円まで高騰している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5486400" cy="310896"/>
          </a:xfrm>
          <a:prstGeom prst="rect">
            <a:avLst/>
          </a:prstGeom>
          <a:noFill/>
        </p:spPr>
        <p:txBody>
          <a:bodyPr wrap="square" lIns="0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本施策で目指す3つのゴール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2843784" cy="299923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07792"/>
            <a:ext cx="2843784" cy="43891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GOAL 1｜来場率の向上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2569464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予約後の直前辞退を防ぎ、実来場数を底上げする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52544"/>
            <a:ext cx="2569464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予約→来場の引き上げ率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6864"/>
            <a:ext cx="2569464" cy="54864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60〜70%→80%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03520"/>
            <a:ext cx="2569464" cy="56692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LINEリマインド＋Meta連携による改善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9584" y="2907792"/>
            <a:ext cx="2843784" cy="299923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9584" y="2907792"/>
            <a:ext cx="2843784" cy="43891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GOAL 2｜来場単価の削減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3474720"/>
            <a:ext cx="2569464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ドタキャン層への無駄な広告費を排除する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4352544"/>
            <a:ext cx="2569464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実質来場単価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4626864"/>
            <a:ext cx="2569464" cy="54864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16,667円→10,000円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5303520"/>
            <a:ext cx="2569464" cy="56692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予算据え置きのまま実来場数を拡大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1968" y="2907792"/>
            <a:ext cx="2843784" cy="299923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01968" y="2907792"/>
            <a:ext cx="2843784" cy="43891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GOAL 3｜LTVの最大化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3474720"/>
            <a:ext cx="2569464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今回未応募の求職者をストックし、継続的に接点を持つ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352544"/>
            <a:ext cx="2569464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20代後半〜30代前半を中心に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8" y="4626864"/>
            <a:ext cx="2569464" cy="54864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26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再案内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5303520"/>
            <a:ext cx="2569464" cy="566928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次回フェア・個別求人へセグメント配信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98464"/>
            <a:ext cx="8988552" cy="27432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参照元：貴社ご提供の実績数値（現状）／提案後は本施策の実行を前提とした目標値です（成果を保証するものではありません）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課題の整理｜求職者の3つの離脱ポイント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「予約後のフォロー不足」により、広告予算の約30〜40%が来場に繋がらず流出している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2843784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イベント前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28416" y="1719072"/>
            <a:ext cx="173736" cy="237744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843784" cy="118872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27432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  <a:p>
            <a:pPr algn="l">
              <a:lnSpc>
                <a:spcPct val="112000"/>
              </a:lnSpc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引き上げ率60〜70%（3〜4割が直前辞退）。実質来場単価は16,000〜18,000円に高騰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64792" y="3493008"/>
            <a:ext cx="228600" cy="256032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2843784" cy="1645920"/>
          </a:xfrm>
          <a:prstGeom prst="rect">
            <a:avLst/>
          </a:prstGeom>
          <a:solidFill>
            <a:srgbClr val="F4F7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27432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LINEでの打ち手</a:t>
            </a:r>
          </a:p>
          <a:p>
            <a:pPr algn="l">
              <a:lnSpc>
                <a:spcPct val="112000"/>
              </a:lnSpc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前日・当日朝のLINEリマインド配信と安心Q&amp;A（服装自由・履歴書不要）の送付により、引き上げ率80%へ引き上げ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9584" y="1627632"/>
            <a:ext cx="2843784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イベント当日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00800" y="1719072"/>
            <a:ext cx="173736" cy="237744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9584" y="2194560"/>
            <a:ext cx="2843784" cy="118872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27432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  <a:p>
            <a:pPr algn="l">
              <a:lnSpc>
                <a:spcPct val="112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会場内の回遊不足により、企業ブース訪問が伸びない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837176" y="3493008"/>
            <a:ext cx="228600" cy="256032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9584" y="3840480"/>
            <a:ext cx="2843784" cy="1645920"/>
          </a:xfrm>
          <a:prstGeom prst="rect">
            <a:avLst/>
          </a:prstGeom>
          <a:solidFill>
            <a:srgbClr val="F4F7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27432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LINEでの打ち手</a:t>
            </a:r>
          </a:p>
          <a:p>
            <a:pPr algn="l">
              <a:lnSpc>
                <a:spcPct val="112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リッチメニューで会場MAP・出展企業一覧を即時提供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1627632"/>
            <a:ext cx="2843784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イベント後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1968" y="2194560"/>
            <a:ext cx="2843784" cy="118872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27432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  <a:p>
            <a:pPr algn="l">
              <a:lnSpc>
                <a:spcPct val="112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未応募層が離脱し、フェアの記憶が風化する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909560" y="3493008"/>
            <a:ext cx="228600" cy="256032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3840480"/>
            <a:ext cx="2843784" cy="1645920"/>
          </a:xfrm>
          <a:prstGeom prst="rect">
            <a:avLst/>
          </a:prstGeom>
          <a:solidFill>
            <a:srgbClr val="F4F7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27432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LINEでの打ち手</a:t>
            </a:r>
          </a:p>
          <a:p>
            <a:pPr algn="l">
              <a:lnSpc>
                <a:spcPct val="112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アンケート属性に基づくセグメント配信で次回フェア・個別求人を案内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06440"/>
            <a:ext cx="8988552" cy="4023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3つの離脱ポイントをLINE公式アカウントで一気通貫にカバーする</a:t>
            </a: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施策①｜ステップ配信・リマインド設計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属性取得アンケートと適切なタイミングのリマインドにより、来場率を大幅に改善する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9344"/>
            <a:ext cx="2084831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友だち追加直後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1709928"/>
            <a:ext cx="173736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57984"/>
            <a:ext cx="2084831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91440" bIns="27432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・サンクスメッセージ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・フェアの回り方ガイド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・簡単アンケート（希望職種などの属性取得）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52544"/>
            <a:ext cx="2084831" cy="60350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狙い</a:t>
            </a:r>
          </a:p>
          <a:p>
            <a:pPr algn="ctr"/>
            <a:r>
              <a:rPr sz="12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属性取得・不安解消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56916" y="1609344"/>
            <a:ext cx="2084831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開催3日前〜前日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60036" y="1709928"/>
            <a:ext cx="173736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56916" y="2157984"/>
            <a:ext cx="2084831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91440" bIns="27432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・会場アクセス案内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・「服装自由・履歴書不要」などの安心Q&amp;A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6916" y="4352544"/>
            <a:ext cx="2084831" cy="60350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狙い</a:t>
            </a:r>
          </a:p>
          <a:p>
            <a:pPr algn="ctr"/>
            <a:r>
              <a:rPr sz="12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来場準備・安心醸成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6632" y="1609344"/>
            <a:ext cx="2084831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開催当日 朝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59752" y="1709928"/>
            <a:ext cx="173736" cy="219456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56632" y="2157984"/>
            <a:ext cx="2084831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91440" bIns="27432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・開催リマインド通知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・会場MAPリンク付きで当日の迷いを解消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352544"/>
            <a:ext cx="2084831" cy="60350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狙い</a:t>
            </a:r>
          </a:p>
          <a:p>
            <a:pPr algn="ctr"/>
            <a:r>
              <a:rPr sz="12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来場の最終後押し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6348" y="1609344"/>
            <a:ext cx="2084831" cy="4206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イベント終了翌日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56348" y="2157984"/>
            <a:ext cx="2084831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91440" bIns="27432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・ご来場お礼メッセージ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・無料個別キャリア相談へ誘導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6348" y="4352544"/>
            <a:ext cx="2084831" cy="60350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狙い</a:t>
            </a:r>
          </a:p>
          <a:p>
            <a:pPr algn="ctr"/>
            <a:r>
              <a:rPr sz="12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関係継続・再接点化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40680"/>
            <a:ext cx="8988552" cy="64008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5596128"/>
            <a:ext cx="1051560" cy="32918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ポイント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440680"/>
            <a:ext cx="7662672" cy="640080"/>
          </a:xfrm>
          <a:prstGeom prst="rect">
            <a:avLst/>
          </a:prstGeom>
          <a:noFill/>
        </p:spPr>
        <p:txBody>
          <a:bodyPr wrap="square" lIns="0" rIns="54864" tIns="27432" bIns="27432" anchor="ctr">
            <a:spAutoFit/>
          </a:bodyPr>
          <a:lstStyle/>
          <a:p>
            <a:pPr algn="l"/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取得した属性（希望職種・年代など）は、イベント後のセグメント配信（次回フェア・個別求人のご案内）に活用します</a:t>
            </a:r>
          </a:p>
        </p:txBody>
      </p:sp>
    </p:spTree>
    <p:extLst>
      <p:ext uri="{BB962C8B-B14F-4D97-AF65-F5344CB8AC3E}">
        <p14:creationId xmlns:p14="http://schemas.microsoft.com/office/powerpoint/2010/main" val="350948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8B38-C7A2-1CE4-FDFD-8D6A744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施策②｜リッチメニュー設計（6エリア構成）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求める情報へ1タップで遷移できる6エリア構成により、利用頻度と来場意欲を高める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4315968" cy="3840480"/>
          </a:xfrm>
          <a:prstGeom prst="rect">
            <a:avLst/>
          </a:prstGeom>
          <a:solidFill>
            <a:srgbClr val="FFFFFF"/>
          </a:solidFill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377696" cy="185166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次回フェア日程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会場案内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6335" y="1828800"/>
            <a:ext cx="1377696" cy="185166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出展企業一覧を見る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9752" y="1828800"/>
            <a:ext cx="1377696" cy="185166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会場MAP・アクセス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26179"/>
            <a:ext cx="1377696" cy="18516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事前参加予約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特典受取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6335" y="3726179"/>
            <a:ext cx="1377696" cy="18516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無料キャリア相談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（1on1）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9752" y="3726179"/>
            <a:ext cx="1377696" cy="18516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4315968" cy="2743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ctr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リッチメニュー構成イメージ（トーク画面下部に常時表示）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1783080"/>
            <a:ext cx="4489704" cy="178308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892807"/>
            <a:ext cx="4160520" cy="329184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上段：情報提供エリア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95144"/>
            <a:ext cx="4160520" cy="114300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イベント概要や出展企業を常時可視化し、当日の会場回遊率を高めます（フェア日程／出展企業一覧／会場MAP）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3840480"/>
            <a:ext cx="4489704" cy="178308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950208"/>
            <a:ext cx="4160520" cy="329184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下段：アクション誘導エリア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352544"/>
            <a:ext cx="4160520" cy="114300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事前予約・個別相談・疑問解消へ1タップで誘導し、予約・相談のCVRを改善します（参加予約／相談／FAQ）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5715000"/>
            <a:ext cx="4489704" cy="27432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※メニュー項目・文言は貴社と協議のうえ確定します</a:t>
            </a:r>
          </a:p>
        </p:txBody>
      </p:sp>
    </p:spTree>
    <p:extLst>
      <p:ext uri="{BB962C8B-B14F-4D97-AF65-F5344CB8AC3E}">
        <p14:creationId xmlns:p14="http://schemas.microsoft.com/office/powerpoint/2010/main" val="118759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587B-DB18-248C-DB39-A170420D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施策③｜友だち追加導線の改善（LP）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LP上のLINE導線に「求職者限定特典」を紐付けることで、友だち追加率を底上げする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4041648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4041648" cy="4572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Before｜現状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43584" y="2523744"/>
            <a:ext cx="2468880" cy="502920"/>
          </a:xfrm>
          <a:prstGeom prst="roundRect">
            <a:avLst/>
          </a:prstGeom>
          <a:solidFill>
            <a:srgbClr val="ECEDF3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LINE友だち追加はこちら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18688"/>
            <a:ext cx="3712463" cy="118872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・登録メリットの提示がない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・「追加する理由」が弱く、登録前に離脱が発生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81144" y="2834640"/>
            <a:ext cx="740664" cy="502920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4104" y="1645920"/>
            <a:ext cx="4041648" cy="2880360"/>
          </a:xfrm>
          <a:prstGeom prst="rect">
            <a:avLst/>
          </a:prstGeom>
          <a:solidFill>
            <a:srgbClr val="F4F7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4104" y="1645920"/>
            <a:ext cx="4041648" cy="457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After｜ご提案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523744"/>
            <a:ext cx="2468880" cy="5029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限定特典を受け取って友だち追加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696" y="3218688"/>
            <a:ext cx="3712463" cy="118872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・登録者限定！『滋賀県内 業界別平均年収＆面接対策チェックシート』をプレゼント</a:t>
            </a:r>
          </a:p>
          <a:p>
            <a:pPr algn="l">
              <a:lnSpc>
                <a:spcPct val="115000"/>
              </a:lnSpc>
            </a:pPr>
            <a:r>
              <a:rPr sz="11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・登録メリットを明確化し、友だち追加率を底上げ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5486400" cy="29260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ご提供特典（案）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47488"/>
            <a:ext cx="44165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① 滋賀県転職市場レポート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5047488"/>
            <a:ext cx="44165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② 面接・自己PR対策チェックシート（PDF）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07024"/>
            <a:ext cx="8988552" cy="27432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※特典の内容・名称は貴社と協議のうえ確定します</a:t>
            </a:r>
          </a:p>
        </p:txBody>
      </p:sp>
    </p:spTree>
    <p:extLst>
      <p:ext uri="{BB962C8B-B14F-4D97-AF65-F5344CB8AC3E}">
        <p14:creationId xmlns:p14="http://schemas.microsoft.com/office/powerpoint/2010/main" val="46647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施策④｜Meta広告×LINE連携（オフラインCV最適化）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「未来場者データの自動除外」により、予約からの来場引き上げ率を8割まで改善する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97510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975104" cy="384048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Meta広告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1792224" cy="9601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予約・来場につながりやすいユーザーを獲得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87168" y="2359152"/>
            <a:ext cx="256032" cy="219456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8064" y="1691640"/>
            <a:ext cx="197510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1691640"/>
            <a:ext cx="1975104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176272"/>
            <a:ext cx="1792224" cy="9601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友だち追加＆離脱防止リマインドを配信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28032" y="2359152"/>
            <a:ext cx="256032" cy="219456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8928" y="1691640"/>
            <a:ext cx="197510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8928" y="1691640"/>
            <a:ext cx="1975104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176272"/>
            <a:ext cx="1792224" cy="9601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当日の来場判定をデータ化（オフラインCV）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68896" y="2359152"/>
            <a:ext cx="256032" cy="219456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79792" y="1691640"/>
            <a:ext cx="197510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1691640"/>
            <a:ext cx="1975104" cy="384048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Meta広告へ連携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176272"/>
            <a:ext cx="1792224" cy="960120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非来場ユーザーを除外し、配信精度がさらに向上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822960" y="3474720"/>
            <a:ext cx="8165592" cy="384048"/>
          </a:xfrm>
          <a:prstGeom prst="leftArrow">
            <a:avLst/>
          </a:prstGeom>
          <a:solidFill>
            <a:srgbClr val="F4F7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0" bIns="0"/>
          <a:lstStyle/>
          <a:p>
            <a:pPr algn="ctr"/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来場・非来場データをMeta広告へ連携 → 「来場する人」へ配信を最適化（ドタキャン層を除外）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5394960" cy="1234440"/>
          </a:xfrm>
          <a:prstGeom prst="rect">
            <a:avLst/>
          </a:prstGeom>
          <a:solidFill>
            <a:srgbClr val="F4F7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期待効果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予約→来場の引き上げ率　</a:t>
            </a:r>
            <a:r>
              <a:rPr sz="130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60〜70%</a:t>
            </a:r>
            <a:r>
              <a:rPr sz="11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9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80%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実質来場コスト　</a:t>
            </a:r>
            <a:r>
              <a:rPr sz="13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最大30〜40%削減</a:t>
            </a:r>
          </a:p>
          <a:p>
            <a:pPr algn="l"/>
            <a:r>
              <a:rPr sz="90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他クライアントの実績値ベース（参照元：社内配信実績）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114800"/>
            <a:ext cx="341071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54864" bIns="54864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「知らぬ間の登録」へのご配慮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申込フォーム送信後、予約完了通知・会場案内をLINEでお届けする自然な遷移導線のため、ユーザーの違和感が生じにくい設計です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23560"/>
            <a:ext cx="8988552" cy="43891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この導線の中核はLINE公式アカウント ─ LINE運用の質が、広告配信の精度まで左右する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4664-0791-AB23-9ACF-A79FA4D2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効果シミュレーション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広告予算（80万円）は据え置きのまま、実来場者数を「月48名 → 80名（1.66倍）」へ拡大する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27632"/>
          <a:ext cx="8988552" cy="3346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417320"/>
                <a:gridCol w="457200"/>
                <a:gridCol w="1645920"/>
                <a:gridCol w="3182112"/>
              </a:tblGrid>
              <a:tr h="384048"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指標</a:t>
                      </a:r>
                    </a:p>
                  </a:txBody>
                  <a:tcPr anchor="ctr" marL="54864" marR="36576" marT="9144" marB="9144">
                    <a:solidFill>
                      <a:srgbClr val="002060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現状の実績</a:t>
                      </a:r>
                    </a:p>
                  </a:txBody>
                  <a:tcPr anchor="ctr" marL="54864" marR="36576" marT="9144" marB="9144">
                    <a:solidFill>
                      <a:srgbClr val="002060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 marL="54864" marR="36576" marT="9144" marB="9144">
                    <a:solidFill>
                      <a:srgbClr val="002060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提案後（目標）</a:t>
                      </a:r>
                    </a:p>
                  </a:txBody>
                  <a:tcPr anchor="ctr" marL="54864" marR="36576" marT="9144" marB="9144">
                    <a:solidFill>
                      <a:srgbClr val="002060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改善インパクト・ドライバー</a:t>
                      </a:r>
                    </a:p>
                  </a:txBody>
                  <a:tcPr anchor="ctr" marL="54864" marR="36576" marT="9144" marB="9144">
                    <a:solidFill>
                      <a:srgbClr val="002060"/>
                    </a:solidFill>
                  </a:tcPr>
                </a:tc>
              </a:tr>
              <a:tr h="493776"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10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月額広告予算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80万円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80万円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0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±0円（予算据え置き）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10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事前予約単価（CPA）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10,000円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8,000円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0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20%削減：LINE内予約導線・CVR改善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</a:tr>
              <a:tr h="493776"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10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月間事前予約数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80名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100名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0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+20名（+25%）：予約単価改善に伴う獲得数増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10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予約からの来場引き上げ率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60%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80%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0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+20pt：LINEリマインド＋Meta除外最適化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</a:tr>
              <a:tr h="493776"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10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月間イベント実来場者数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48名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500" b="1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80名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0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+32名（+66%）：予約数増×来場率80%の相乗効果</a:t>
                      </a:r>
                    </a:p>
                  </a:txBody>
                  <a:tcPr anchor="ctr" marL="73152" marR="36576" marT="9144" marB="9144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100" b="1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実質来場単価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16,667円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150">
                          <a:solidFill>
                            <a:srgbClr val="80808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→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ctr"/>
                      <a:r>
                        <a:rPr sz="1500" b="1">
                          <a:solidFill>
                            <a:srgbClr val="1565C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10,000円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  <a:tc>
                  <a:txBody>
                    <a:bodyPr wrap="square" lIns="18288" rIns="18288" tIns="0" bIns="0" anchor="ctr"/>
                    <a:lstStyle/>
                    <a:p>
                      <a:pPr algn="l"/>
                      <a:r>
                        <a:rPr sz="100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40%削減：ドタキャン層への広告費を排除</a:t>
                      </a:r>
                    </a:p>
                  </a:txBody>
                  <a:tcPr anchor="ctr" marL="73152" marR="36576" marT="9144" marB="9144"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138928"/>
            <a:ext cx="8988552" cy="47548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広告費を1円も増やさずに、実来場者数 月48名 → 80名（1.66倍）・来場単価40%削減を実現する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24144"/>
            <a:ext cx="8988552" cy="640080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※現状値は貴社ヒアリングに基づく実情数値、提案後はLINE×Meta連携運用に基づく試算目標値です。</a:t>
            </a:r>
          </a:p>
          <a:p>
            <a:pPr algn="l"/>
            <a:r>
              <a:rPr sz="95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※複数プランにおける詳細な収支シミュレーションは、別添のExcel資料（SIM）をご参照ください。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43812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導入までの進め方（3フェーズ）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"/>
            <a:ext cx="9162288" cy="7315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4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9〜11月開催（4会場分）の3ヶ月運用からスタートし、成果検証を踏まえて継続判断が可能</a:t>
            </a:r>
          </a:p>
        </p:txBody>
      </p:sp>
      <p:sp>
        <p:nvSpPr>
          <p:cNvPr id="8" name="Chevron 7"/>
          <p:cNvSpPr/>
          <p:nvPr/>
        </p:nvSpPr>
        <p:spPr>
          <a:xfrm>
            <a:off x="457200" y="1627632"/>
            <a:ext cx="2916936" cy="65836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09728" tIns="0" bIns="0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1｜設計・構築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（8月）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32304"/>
            <a:ext cx="291693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bIns="27432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・要件定義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・配信シナリオ作成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・リッチメニューデザイン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・アンケート設計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3493008" y="1627632"/>
            <a:ext cx="2916936" cy="65836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09728" tIns="0" bIns="0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2｜テスト・実装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（8月下旬〜9月）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008" y="2432304"/>
            <a:ext cx="291693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bIns="27432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・アカウント設定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・LP導線改修（特典訴求の実装）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・Meta広告とのデータ連携設定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・縦型動画クリエイティブ制作</a:t>
            </a:r>
          </a:p>
        </p:txBody>
      </p:sp>
      <p:sp>
        <p:nvSpPr>
          <p:cNvPr id="12" name="Chevron 11"/>
          <p:cNvSpPr/>
          <p:nvPr/>
        </p:nvSpPr>
        <p:spPr>
          <a:xfrm>
            <a:off x="6528816" y="1627632"/>
            <a:ext cx="2916936" cy="65836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09728" tIns="0" bIns="0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3｜実運用・改善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（9月末〜11月）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8816" y="2432304"/>
            <a:ext cx="2916936" cy="1783080"/>
          </a:xfrm>
          <a:prstGeom prst="rect">
            <a:avLst/>
          </a:prstGeom>
          <a:solidFill>
            <a:srgbClr val="F4F7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bIns="27432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・4会場での実運用（9/26・10月2会場・11月）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・アナリティクス分析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・成果検証と改善施策の実行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70832"/>
            <a:ext cx="5486400" cy="292608"/>
          </a:xfrm>
          <a:prstGeom prst="rect">
            <a:avLst/>
          </a:prstGeom>
          <a:noFill/>
        </p:spPr>
        <p:txBody>
          <a:bodyPr wrap="square" lIns="0" rIns="54864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運用のポイント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0016"/>
            <a:ext cx="2916936" cy="9144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契約形態</a:t>
            </a:r>
          </a:p>
          <a:p>
            <a:pPr algn="l">
              <a:lnSpc>
                <a:spcPct val="115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9月末〜11月頭開催の4会場分に向けた3ヶ月契約を想定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4700016"/>
            <a:ext cx="2916936" cy="9144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クリエイティブ</a:t>
            </a:r>
          </a:p>
          <a:p>
            <a:pPr algn="l">
              <a:lnSpc>
                <a:spcPct val="115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秋開催に向け、Meta広告用の縦型動画クリエイティブを導入・運用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28816" y="4700016"/>
            <a:ext cx="2916936" cy="9144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54864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チーム体制</a:t>
            </a:r>
          </a:p>
          <a:p>
            <a:pPr algn="l">
              <a:lnSpc>
                <a:spcPct val="115000"/>
              </a:lnSpc>
            </a:pPr>
            <a:r>
              <a:rPr sz="105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営業担当2名＋運用担当＋運用統括の4名体制で手厚くフォロー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8988552" cy="438912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秋開催4会場で実運用 → 成果検証 → 次回（冬）開催へ改善を反映</a:t>
            </a:r>
          </a:p>
        </p:txBody>
      </p:sp>
    </p:spTree>
    <p:extLst>
      <p:ext uri="{BB962C8B-B14F-4D97-AF65-F5344CB8AC3E}">
        <p14:creationId xmlns:p14="http://schemas.microsoft.com/office/powerpoint/2010/main" val="2687779138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5264</Words>
  <Application>Microsoft Office PowerPoint</Application>
  <PresentationFormat>A4 210 x 297 mm</PresentationFormat>
  <Paragraphs>1342</Paragraphs>
  <Slides>36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