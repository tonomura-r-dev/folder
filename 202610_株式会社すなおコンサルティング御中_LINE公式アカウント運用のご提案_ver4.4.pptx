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7"/>
  </p:notesMasterIdLst>
  <p:handoutMasterIdLst>
    <p:handoutMasterId r:id="rId68"/>
  </p:handoutMasterIdLst>
  <p:sldIdLst>
    <p:sldId id="2363" r:id="rId3"/>
    <p:sldId id="2988" r:id="rId4"/>
    <p:sldId id="2972" r:id="rId5"/>
    <p:sldId id="2989" r:id="rId6"/>
    <p:sldId id="2971" r:id="rId7"/>
    <p:sldId id="2974" r:id="rId8"/>
    <p:sldId id="2975" r:id="rId9"/>
    <p:sldId id="2985" r:id="rId10"/>
    <p:sldId id="3004" r:id="rId11"/>
    <p:sldId id="2976" r:id="rId12"/>
    <p:sldId id="2986" r:id="rId13"/>
    <p:sldId id="2736" r:id="rId14"/>
    <p:sldId id="2979" r:id="rId15"/>
    <p:sldId id="3006" r:id="rId16"/>
    <p:sldId id="3022" r:id="rId17"/>
    <p:sldId id="2908" r:id="rId18"/>
    <p:sldId id="2966" r:id="rId19"/>
    <p:sldId id="3015" r:id="rId20"/>
    <p:sldId id="3013" r:id="rId21"/>
    <p:sldId id="3009" r:id="rId22"/>
    <p:sldId id="3018" r:id="rId23"/>
    <p:sldId id="3010" r:id="rId24"/>
    <p:sldId id="3014" r:id="rId25"/>
    <p:sldId id="3012" r:id="rId26"/>
    <p:sldId id="3017" r:id="rId27"/>
    <p:sldId id="3011" r:id="rId28"/>
    <p:sldId id="2737" r:id="rId29"/>
    <p:sldId id="2563" r:id="rId30"/>
    <p:sldId id="2970" r:id="rId31"/>
    <p:sldId id="2959" r:id="rId32"/>
    <p:sldId id="2639" r:id="rId33"/>
    <p:sldId id="3016" r:id="rId34"/>
    <p:sldId id="2968" r:id="rId35"/>
    <p:sldId id="2969" r:id="rId36"/>
    <p:sldId id="2957" r:id="rId37"/>
    <p:sldId id="3019" r:id="rId38"/>
    <p:sldId id="2951" r:id="rId39"/>
    <p:sldId id="3023" r:id="rId40"/>
    <p:sldId id="3024" r:id="rId41"/>
    <p:sldId id="2841" r:id="rId42"/>
    <p:sldId id="2734" r:id="rId43"/>
    <p:sldId id="2595" r:id="rId44"/>
    <p:sldId id="2566" r:id="rId45"/>
    <p:sldId id="2915" r:id="rId46"/>
    <p:sldId id="2619" r:id="rId47"/>
    <p:sldId id="2761" r:id="rId48"/>
    <p:sldId id="3021" r:id="rId49"/>
    <p:sldId id="2935" r:id="rId50"/>
    <p:sldId id="2919" r:id="rId51"/>
    <p:sldId id="2519" r:id="rId52"/>
    <p:sldId id="2931" r:id="rId53"/>
    <p:sldId id="2749" r:id="rId54"/>
    <p:sldId id="2950" r:id="rId55"/>
    <p:sldId id="2961" r:id="rId56"/>
    <p:sldId id="2849" r:id="rId57"/>
    <p:sldId id="2904" r:id="rId58"/>
    <p:sldId id="2905" r:id="rId59"/>
    <p:sldId id="2906" r:id="rId60"/>
    <p:sldId id="2907" r:id="rId61"/>
    <p:sldId id="2575" r:id="rId62"/>
    <p:sldId id="2910" r:id="rId63"/>
    <p:sldId id="3007" r:id="rId64"/>
    <p:sldId id="3008" r:id="rId65"/>
    <p:sldId id="1169" r:id="rId66"/>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handoutMaster" Target="handoutMasters/handoutMaster1.xml"/><Relationship Id="rId7" Type="http://schemas.openxmlformats.org/officeDocument/2006/relationships/slide" Target="slides/slide5.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2026/10/20</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B3E24-A18E-3FB1-1BEB-F78B7876B6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BD67E3-1B96-BBBF-6E58-9F584C1E42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15CA0F-593B-424A-AB1E-372C80A5306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C1FAE7-9B14-4C23-B5D8-2C06D3E82C52}"/>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4053493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8803-9F0E-9C31-9560-2094718579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9DBAC0-C8E1-8C5B-7FC3-E2F967DE37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9E6ECD-81E8-9621-C097-7F38D3F575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0567096-EE1C-9444-DCCA-A268D8AAC4E0}"/>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1686084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B93DA-F068-C7F5-5FEB-7A94DD8867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B680EF-CF86-D787-518D-CA5960A5648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DA54E59-6FD5-42C5-308A-B0701935BFB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4931D7D-5F42-F5B5-3683-5A2F0031C5B6}"/>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2180266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F8966-D000-6EA3-BAC7-8246A8124F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3751AD-7833-5352-F3CD-93BF48718D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3713479-1F1B-7F88-B85D-7A35CA42650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D17977F-8BEB-2B1C-1C7A-1D7AA1F05039}"/>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4278962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92C0-1B1B-AD3F-B0C2-F33DAD8A2D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33AE9E-C7C9-D146-DD36-5849B111FD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8A3C9A-42D2-B5D7-5F81-0F1CAB8FD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1D8EFF-3CFC-7207-CD2B-A2DC20DEDF1D}"/>
              </a:ext>
            </a:extLst>
          </p:cNvPr>
          <p:cNvSpPr>
            <a:spLocks noGrp="1"/>
          </p:cNvSpPr>
          <p:nvPr>
            <p:ph type="sldNum" sz="quarter" idx="10"/>
          </p:nvPr>
        </p:nvSpPr>
        <p:spPr/>
        <p:txBody>
          <a:bodyPr/>
          <a:lstStyle/>
          <a:p>
            <a:fld id="{022E43C0-6795-4B13-B37C-259C826D4B6A}" type="slidenum">
              <a:rPr kumimoji="1" lang="ja-JP" altLang="en-US" smtClean="0"/>
              <a:t>19</a:t>
            </a:fld>
            <a:endParaRPr kumimoji="1" lang="ja-JP" altLang="en-US"/>
          </a:p>
        </p:txBody>
      </p:sp>
    </p:spTree>
    <p:extLst>
      <p:ext uri="{BB962C8B-B14F-4D97-AF65-F5344CB8AC3E}">
        <p14:creationId xmlns:p14="http://schemas.microsoft.com/office/powerpoint/2010/main" val="33123719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E0D83-D1C7-371D-612C-5E2B8A2DC5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24F9AF6-8FF2-E4BE-9495-E434005E973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C3C1C0-5C88-C938-5991-AFEF7FA0B54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6B98213-D486-73D4-8B33-4E68F0DB5A42}"/>
              </a:ext>
            </a:extLst>
          </p:cNvPr>
          <p:cNvSpPr>
            <a:spLocks noGrp="1"/>
          </p:cNvSpPr>
          <p:nvPr>
            <p:ph type="sldNum" sz="quarter" idx="10"/>
          </p:nvPr>
        </p:nvSpPr>
        <p:spPr/>
        <p:txBody>
          <a:bodyPr/>
          <a:lstStyle/>
          <a:p>
            <a:fld id="{022E43C0-6795-4B13-B37C-259C826D4B6A}" type="slidenum">
              <a:rPr kumimoji="1" lang="ja-JP" altLang="en-US" smtClean="0"/>
              <a:t>20</a:t>
            </a:fld>
            <a:endParaRPr kumimoji="1" lang="ja-JP" altLang="en-US"/>
          </a:p>
        </p:txBody>
      </p:sp>
    </p:spTree>
    <p:extLst>
      <p:ext uri="{BB962C8B-B14F-4D97-AF65-F5344CB8AC3E}">
        <p14:creationId xmlns:p14="http://schemas.microsoft.com/office/powerpoint/2010/main" val="8092732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D4971-08F2-4B39-6251-91FF17C71A5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A3A369-82C3-3BA3-1453-124787BB830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D260C15-0FB7-94D9-5A66-FACADA45FA2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F967B2E-769F-AAB3-0187-A5DBA3C1F9EE}"/>
              </a:ext>
            </a:extLst>
          </p:cNvPr>
          <p:cNvSpPr>
            <a:spLocks noGrp="1"/>
          </p:cNvSpPr>
          <p:nvPr>
            <p:ph type="sldNum" sz="quarter" idx="10"/>
          </p:nvPr>
        </p:nvSpPr>
        <p:spPr/>
        <p:txBody>
          <a:bodyPr/>
          <a:lstStyle/>
          <a:p>
            <a:fld id="{022E43C0-6795-4B13-B37C-259C826D4B6A}" type="slidenum">
              <a:rPr kumimoji="1" lang="ja-JP" altLang="en-US" smtClean="0"/>
              <a:t>21</a:t>
            </a:fld>
            <a:endParaRPr kumimoji="1" lang="ja-JP" altLang="en-US"/>
          </a:p>
        </p:txBody>
      </p:sp>
    </p:spTree>
    <p:extLst>
      <p:ext uri="{BB962C8B-B14F-4D97-AF65-F5344CB8AC3E}">
        <p14:creationId xmlns:p14="http://schemas.microsoft.com/office/powerpoint/2010/main" val="6557338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8EC97-39D9-E5D0-9E35-FF17E8EF288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F0D4AD-6A7D-C0A6-AF78-D64A5A03BC0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89205B9-3B2F-6D1D-76E7-8AEC50707A8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A59932D-C299-8379-9E3A-2A2E77C4AB13}"/>
              </a:ext>
            </a:extLst>
          </p:cNvPr>
          <p:cNvSpPr>
            <a:spLocks noGrp="1"/>
          </p:cNvSpPr>
          <p:nvPr>
            <p:ph type="sldNum" sz="quarter" idx="10"/>
          </p:nvPr>
        </p:nvSpPr>
        <p:spPr/>
        <p:txBody>
          <a:bodyPr/>
          <a:lstStyle/>
          <a:p>
            <a:fld id="{022E43C0-6795-4B13-B37C-259C826D4B6A}" type="slidenum">
              <a:rPr kumimoji="1" lang="ja-JP" altLang="en-US" smtClean="0"/>
              <a:t>22</a:t>
            </a:fld>
            <a:endParaRPr kumimoji="1" lang="ja-JP" altLang="en-US"/>
          </a:p>
        </p:txBody>
      </p:sp>
    </p:spTree>
    <p:extLst>
      <p:ext uri="{BB962C8B-B14F-4D97-AF65-F5344CB8AC3E}">
        <p14:creationId xmlns:p14="http://schemas.microsoft.com/office/powerpoint/2010/main" val="26422842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0DA80-4FFC-BE6A-0F8C-9D3C51A14AD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3592DA-D539-E02E-8A31-2B4B05FAC6D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BA2163B-5447-527F-4607-2F8C469E7B2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0AEB180-59BA-CD0E-B3CD-681F6E4331A8}"/>
              </a:ext>
            </a:extLst>
          </p:cNvPr>
          <p:cNvSpPr>
            <a:spLocks noGrp="1"/>
          </p:cNvSpPr>
          <p:nvPr>
            <p:ph type="sldNum" sz="quarter" idx="10"/>
          </p:nvPr>
        </p:nvSpPr>
        <p:spPr/>
        <p:txBody>
          <a:bodyPr/>
          <a:lstStyle/>
          <a:p>
            <a:fld id="{022E43C0-6795-4B13-B37C-259C826D4B6A}" type="slidenum">
              <a:rPr kumimoji="1" lang="ja-JP" altLang="en-US" smtClean="0"/>
              <a:t>23</a:t>
            </a:fld>
            <a:endParaRPr kumimoji="1" lang="ja-JP" altLang="en-US"/>
          </a:p>
        </p:txBody>
      </p:sp>
    </p:spTree>
    <p:extLst>
      <p:ext uri="{BB962C8B-B14F-4D97-AF65-F5344CB8AC3E}">
        <p14:creationId xmlns:p14="http://schemas.microsoft.com/office/powerpoint/2010/main" val="2626540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D34F8-D5DE-5179-FB63-ACF6B24F946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8ED13EE-96CF-E04C-89AF-5315DD6E5C8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9A78F30-2C87-75E8-2A08-D40FBB1058E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0E083C2-6F16-0966-8829-EE2A75C429A5}"/>
              </a:ext>
            </a:extLst>
          </p:cNvPr>
          <p:cNvSpPr>
            <a:spLocks noGrp="1"/>
          </p:cNvSpPr>
          <p:nvPr>
            <p:ph type="sldNum" sz="quarter" idx="10"/>
          </p:nvPr>
        </p:nvSpPr>
        <p:spPr/>
        <p:txBody>
          <a:bodyPr/>
          <a:lstStyle/>
          <a:p>
            <a:fld id="{022E43C0-6795-4B13-B37C-259C826D4B6A}" type="slidenum">
              <a:rPr kumimoji="1" lang="ja-JP" altLang="en-US" smtClean="0"/>
              <a:t>24</a:t>
            </a:fld>
            <a:endParaRPr kumimoji="1" lang="ja-JP" altLang="en-US"/>
          </a:p>
        </p:txBody>
      </p:sp>
    </p:spTree>
    <p:extLst>
      <p:ext uri="{BB962C8B-B14F-4D97-AF65-F5344CB8AC3E}">
        <p14:creationId xmlns:p14="http://schemas.microsoft.com/office/powerpoint/2010/main" val="37225346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6C9A2-E4AC-C61B-66CE-46E597D4701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1A5492-F3BD-D4EC-3E43-F8324C031E8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425DF75-FC25-81EF-5110-9702A79930C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D426DDF-F568-D18F-F35E-DAF91882FDC6}"/>
              </a:ext>
            </a:extLst>
          </p:cNvPr>
          <p:cNvSpPr>
            <a:spLocks noGrp="1"/>
          </p:cNvSpPr>
          <p:nvPr>
            <p:ph type="sldNum" sz="quarter" idx="10"/>
          </p:nvPr>
        </p:nvSpPr>
        <p:spPr/>
        <p:txBody>
          <a:bodyPr/>
          <a:lstStyle/>
          <a:p>
            <a:fld id="{022E43C0-6795-4B13-B37C-259C826D4B6A}" type="slidenum">
              <a:rPr kumimoji="1" lang="ja-JP" altLang="en-US" smtClean="0"/>
              <a:t>25</a:t>
            </a:fld>
            <a:endParaRPr kumimoji="1" lang="ja-JP" altLang="en-US"/>
          </a:p>
        </p:txBody>
      </p:sp>
    </p:spTree>
    <p:extLst>
      <p:ext uri="{BB962C8B-B14F-4D97-AF65-F5344CB8AC3E}">
        <p14:creationId xmlns:p14="http://schemas.microsoft.com/office/powerpoint/2010/main" val="16523354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26</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42</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48</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49</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50</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51</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53</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64</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jpeg"/><Relationship Id="rId7" Type="http://schemas.openxmlformats.org/officeDocument/2006/relationships/image" Target="../media/image24.png"/><Relationship Id="rId2" Type="http://schemas.openxmlformats.org/officeDocument/2006/relationships/image" Target="../media/image19.jpeg"/><Relationship Id="rId1" Type="http://schemas.openxmlformats.org/officeDocument/2006/relationships/slideLayout" Target="../slideLayouts/slideLayout2.xml"/><Relationship Id="rId6" Type="http://schemas.openxmlformats.org/officeDocument/2006/relationships/image" Target="../media/image23.jpeg"/><Relationship Id="rId5" Type="http://schemas.openxmlformats.org/officeDocument/2006/relationships/image" Target="../media/image22.png"/><Relationship Id="rId10" Type="http://schemas.openxmlformats.org/officeDocument/2006/relationships/image" Target="../media/image27.jpeg"/><Relationship Id="rId4" Type="http://schemas.openxmlformats.org/officeDocument/2006/relationships/image" Target="../media/image21.png"/><Relationship Id="rId9" Type="http://schemas.openxmlformats.org/officeDocument/2006/relationships/image" Target="../media/image26.png"/></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44.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sv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53.svg"/><Relationship Id="rId5" Type="http://schemas.openxmlformats.org/officeDocument/2006/relationships/image" Target="../media/image52.svg"/><Relationship Id="rId4" Type="http://schemas.openxmlformats.org/officeDocument/2006/relationships/image" Target="../media/image51.sv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5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5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8" Type="http://schemas.openxmlformats.org/officeDocument/2006/relationships/image" Target="../media/image73.jpeg"/><Relationship Id="rId3" Type="http://schemas.openxmlformats.org/officeDocument/2006/relationships/image" Target="../media/image3.emf"/><Relationship Id="rId7" Type="http://schemas.openxmlformats.org/officeDocument/2006/relationships/image" Target="../media/image72.jpeg"/><Relationship Id="rId2" Type="http://schemas.openxmlformats.org/officeDocument/2006/relationships/notesSlide" Target="../notesSlides/notesSlide29.xml"/><Relationship Id="rId1" Type="http://schemas.openxmlformats.org/officeDocument/2006/relationships/slideLayout" Target="../slideLayouts/slideLayout3.xml"/><Relationship Id="rId6" Type="http://schemas.openxmlformats.org/officeDocument/2006/relationships/image" Target="../media/image71.jpeg"/><Relationship Id="rId5" Type="http://schemas.openxmlformats.org/officeDocument/2006/relationships/image" Target="../media/image70.jpeg"/><Relationship Id="rId4" Type="http://schemas.openxmlformats.org/officeDocument/2006/relationships/image" Target="../media/image6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331720"/>
            <a:ext cx="6626632" cy="658368"/>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広告で集めた方をLINEでナーチャリングをし、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セミナー参加・入会へ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株式会社すなおコンサルティング 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2808841"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現状ステータスの整理</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94157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メイリオ"/>
              </a:rPr>
              <a:t>&lt;</a:t>
            </a:r>
            <a:r>
              <a:rPr lang="ja-JP" altLang="en-US" sz="1050" b="1" dirty="0">
                <a:latin typeface="メイリオ" panose="020B0604030504040204" pitchFamily="50" charset="-128"/>
                <a:ea typeface="メイリオ" panose="020B0604030504040204" pitchFamily="50" charset="-128"/>
                <a:cs typeface="メイリオ"/>
              </a:rPr>
              <a:t>貴社のユーザー動線イメージ</a:t>
            </a:r>
            <a:r>
              <a:rPr lang="en-US" altLang="ja-JP" sz="1050" b="1" dirty="0">
                <a:latin typeface="メイリオ" panose="020B0604030504040204" pitchFamily="50" charset="-128"/>
                <a:ea typeface="メイリオ" panose="020B0604030504040204" pitchFamily="50" charset="-128"/>
                <a:cs typeface="メイリオ"/>
              </a:rPr>
              <a:t>&gt;</a:t>
            </a:r>
            <a:endParaRPr lang="ja-JP" altLang="en-US" sz="1050" b="1" dirty="0">
              <a:latin typeface="メイリオ" panose="020B0604030504040204" pitchFamily="50" charset="-128"/>
              <a:ea typeface="メイリオ" panose="020B0604030504040204" pitchFamily="50" charset="-128"/>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33400"/>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広告からサロン入会まで8フェーズの動線を可視化し、各フェーズで発生する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離脱要因とLINE施策の打ち手を整理する。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06549"/>
            <a:ext cx="9425943" cy="1842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cs typeface="メイリオ"/>
              </a:rPr>
              <a:t>・またサービス特性として、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kumimoji="1"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【対象は保険営業の方】</a:t>
            </a:r>
            <a:r>
              <a:rPr lang="ja-JP" altLang="en-US" sz="1200" dirty="0">
                <a:solidFill>
                  <a:schemeClr val="tx1"/>
                </a:solidFill>
                <a:latin typeface="メイリオ" panose="020B0604030504040204" pitchFamily="50" charset="-128"/>
                <a:ea typeface="メイリオ" panose="020B0604030504040204" pitchFamily="50" charset="-128"/>
                <a:cs typeface="メイリオ"/>
              </a:rPr>
              <a:t>： 一般の方向けではなく、保険営業の方の営業力向上を目的としたセミナー・サロン</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【セミナーは無料・オンライン】</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セミナー参加の段階では費用の不安は小さく、金額の判断はサロン入会の段階</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【イベントは年4回】</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イベントとイベントの間の時期は、集めた方との接点が切れやすい</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・貴社サービスとして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【広告で、1回のイベントで81件のセミナー予約を集めている】</a:t>
            </a: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【セミナーの参加後に、サロンの入会を案内できる】</a:t>
            </a: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という強みを持っており、</a:t>
            </a:r>
            <a:r>
              <a:rPr lang="ja-JP" altLang="en-US" sz="1200" b="1" dirty="0">
                <a:solidFill>
                  <a:srgbClr val="1F2A5C"/>
                </a:solidFill>
                <a:latin typeface="メイリオ" panose="020B0604030504040204" pitchFamily="50" charset="-128"/>
                <a:ea typeface="メイリオ" panose="020B0604030504040204" pitchFamily="50" charset="-128"/>
                <a:cs typeface="メイリオ"/>
              </a:rPr>
              <a:t>集めた方と、次のイベント・入会まで接点を持ち続けること</a:t>
            </a:r>
            <a:r>
              <a:rPr lang="ja-JP" altLang="en-US" sz="1200" dirty="0">
                <a:solidFill>
                  <a:schemeClr val="tx1"/>
                </a:solidFill>
                <a:latin typeface="メイリオ" panose="020B0604030504040204" pitchFamily="50" charset="-128"/>
                <a:ea typeface="メイリオ" panose="020B0604030504040204" pitchFamily="50" charset="-128"/>
                <a:cs typeface="メイリオ"/>
              </a:rPr>
              <a:t>はメリットにつながる想定。</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graphicFrame>
        <p:nvGraphicFramePr>
          <p:cNvPr id="18" name="Table 2">
            <a:extLst>
              <a:ext uri="{FF2B5EF4-FFF2-40B4-BE49-F238E27FC236}">
                <a16:creationId xmlns:a16="http://schemas.microsoft.com/office/drawing/2014/main" id="{89845608-F0C2-67EC-D03E-3B68C6BD5068}"/>
              </a:ext>
            </a:extLst>
          </p:cNvPr>
          <p:cNvGraphicFramePr>
            <a:graphicFrameLocks noGrp="1"/>
          </p:cNvGraphicFramePr>
          <p:nvPr>
            <p:extLst>
              <p:ext uri="{D42A27DB-BD31-4B8C-83A1-F6EECF244321}">
                <p14:modId xmlns:p14="http://schemas.microsoft.com/office/powerpoint/2010/main" val="3163375250"/>
              </p:ext>
            </p:extLst>
          </p:nvPr>
        </p:nvGraphicFramePr>
        <p:xfrm>
          <a:off x="384048" y="3200400"/>
          <a:ext cx="9381744" cy="2962656"/>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2532888">
                  <a:extLst>
                    <a:ext uri="{9D8B030D-6E8A-4147-A177-3AD203B41FA5}">
                      <a16:colId xmlns:a16="http://schemas.microsoft.com/office/drawing/2014/main" val="20003"/>
                    </a:ext>
                  </a:extLst>
                </a:gridCol>
              </a:tblGrid>
              <a:tr h="329184">
                <a:tc>
                  <a:txBody>
                    <a:bodyPr/>
                    <a:lstStyle/>
                    <a:p>
                      <a:pPr algn="ctr"/>
                      <a:r>
                        <a:rPr lang="ja-JP" sz="1200" b="1">
                          <a:solidFill>
                            <a:srgbClr val="FFFFFF"/>
                          </a:solidFill>
                          <a:latin typeface="メイリオ"/>
                          <a:ea typeface="メイリオ"/>
                          <a:cs typeface="メイリオ"/>
                        </a:rPr>
                        <a:t>フェーズ</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ユーザー状態・心理</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離脱・停滞の課題</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LINE OAの役割・施策</a:t>
                      </a:r>
                    </a:p>
                  </a:txBody>
                  <a:tcPr marR="73152" anchor="ctr">
                    <a:solidFill>
                      <a:srgbClr val="1F2A5C"/>
                    </a:solidFill>
                  </a:tcPr>
                </a:tc>
                <a:extLst>
                  <a:ext uri="{0D108BD9-81ED-4DB2-BD59-A6C34878D82A}">
                    <a16:rowId xmlns:a16="http://schemas.microsoft.com/office/drawing/2014/main" val="10000"/>
                  </a:ext>
                </a:extLst>
              </a:tr>
              <a:tr h="329184">
                <a:tc>
                  <a:txBody>
                    <a:bodyPr/>
                    <a:lstStyle/>
                    <a:p>
                      <a:pPr algn="l"/>
                      <a:r>
                        <a:rPr lang="ja-JP" sz="1200" b="1">
                          <a:solidFill>
                            <a:srgbClr val="1F2A5C"/>
                          </a:solidFill>
                          <a:latin typeface="メイリオ"/>
                          <a:ea typeface="メイリオ"/>
                          <a:cs typeface="メイリオ"/>
                        </a:rPr>
                        <a:t>① 接触</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営業力を上げたい・情報収集中</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日程が合わず、申し込まない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離脱防止ポップアップを表示</a:t>
                      </a:r>
                    </a:p>
                  </a:txBody>
                  <a:tcPr marR="73152" anchor="ctr">
                    <a:solidFill>
                      <a:srgbClr val="FFFFFF"/>
                    </a:solidFill>
                  </a:tcPr>
                </a:tc>
                <a:extLst>
                  <a:ext uri="{0D108BD9-81ED-4DB2-BD59-A6C34878D82A}">
                    <a16:rowId xmlns:a16="http://schemas.microsoft.com/office/drawing/2014/main" val="10001"/>
                  </a:ext>
                </a:extLst>
              </a:tr>
              <a:tr h="329184">
                <a:tc>
                  <a:txBody>
                    <a:bodyPr/>
                    <a:lstStyle/>
                    <a:p>
                      <a:pPr algn="l"/>
                      <a:r>
                        <a:rPr lang="ja-JP" sz="1200" b="1">
                          <a:solidFill>
                            <a:srgbClr val="1F2A5C"/>
                          </a:solidFill>
                          <a:latin typeface="メイリオ"/>
                          <a:ea typeface="メイリオ"/>
                          <a:cs typeface="メイリオ"/>
                        </a:rPr>
                        <a:t>② サイト離脱</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今回は申し込まない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次の案内を届ける手段が無い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ポップアップからLINE友だち化</a:t>
                      </a:r>
                    </a:p>
                  </a:txBody>
                  <a:tcPr marR="73152" anchor="ctr">
                    <a:solidFill>
                      <a:srgbClr val="F5F7FA"/>
                    </a:solidFill>
                  </a:tcPr>
                </a:tc>
                <a:extLst>
                  <a:ext uri="{0D108BD9-81ED-4DB2-BD59-A6C34878D82A}">
                    <a16:rowId xmlns:a16="http://schemas.microsoft.com/office/drawing/2014/main" val="10002"/>
                  </a:ext>
                </a:extLst>
              </a:tr>
              <a:tr h="329184">
                <a:tc>
                  <a:txBody>
                    <a:bodyPr/>
                    <a:lstStyle/>
                    <a:p>
                      <a:pPr algn="l"/>
                      <a:r>
                        <a:rPr lang="ja-JP" sz="1200" b="1">
                          <a:solidFill>
                            <a:srgbClr val="1F2A5C"/>
                          </a:solidFill>
                          <a:latin typeface="メイリオ"/>
                          <a:ea typeface="メイリオ"/>
                          <a:cs typeface="メイリオ"/>
                        </a:rPr>
                        <a:t>③ 育成（追加直後）</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どんなセミナーか分からない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中身が見えず、予約に進まない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見どころ・特典をステップ配信</a:t>
                      </a:r>
                    </a:p>
                  </a:txBody>
                  <a:tcPr marR="73152" anchor="ctr">
                    <a:solidFill>
                      <a:srgbClr val="FFFFFF"/>
                    </a:solidFill>
                  </a:tcPr>
                </a:tc>
                <a:extLst>
                  <a:ext uri="{0D108BD9-81ED-4DB2-BD59-A6C34878D82A}">
                    <a16:rowId xmlns:a16="http://schemas.microsoft.com/office/drawing/2014/main" val="10003"/>
                  </a:ext>
                </a:extLst>
              </a:tr>
              <a:tr h="329184">
                <a:tc>
                  <a:txBody>
                    <a:bodyPr/>
                    <a:lstStyle/>
                    <a:p>
                      <a:pPr algn="l"/>
                      <a:r>
                        <a:rPr lang="ja-JP" sz="1200" b="1">
                          <a:solidFill>
                            <a:srgbClr val="1F2A5C"/>
                          </a:solidFill>
                          <a:latin typeface="メイリオ"/>
                          <a:ea typeface="メイリオ"/>
                          <a:cs typeface="メイリオ"/>
                        </a:rPr>
                        <a:t>④ リード獲得</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セミナーを予約した</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日が空き、参加を忘れる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サンクスLINE誘導・前日の案内</a:t>
                      </a:r>
                    </a:p>
                  </a:txBody>
                  <a:tcPr marR="73152" anchor="ctr">
                    <a:solidFill>
                      <a:srgbClr val="F5F7FA"/>
                    </a:solidFill>
                  </a:tcPr>
                </a:tc>
                <a:extLst>
                  <a:ext uri="{0D108BD9-81ED-4DB2-BD59-A6C34878D82A}">
                    <a16:rowId xmlns:a16="http://schemas.microsoft.com/office/drawing/2014/main" val="10004"/>
                  </a:ext>
                </a:extLst>
              </a:tr>
              <a:tr h="329184">
                <a:tc>
                  <a:txBody>
                    <a:bodyPr/>
                    <a:lstStyle/>
                    <a:p>
                      <a:pPr algn="l"/>
                      <a:r>
                        <a:rPr lang="ja-JP" sz="1200" b="1">
                          <a:solidFill>
                            <a:srgbClr val="1F2A5C"/>
                          </a:solidFill>
                          <a:latin typeface="メイリオ"/>
                          <a:ea typeface="メイリオ"/>
                          <a:cs typeface="メイリオ"/>
                        </a:rPr>
                        <a:t>⑤ リード有効化</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参加して関心が高まっている</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入会を迷ったまま時間が経つ</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参加直後にサロンを案内</a:t>
                      </a:r>
                    </a:p>
                  </a:txBody>
                  <a:tcPr marR="73152" anchor="ctr">
                    <a:solidFill>
                      <a:srgbClr val="FFFFFF"/>
                    </a:solidFill>
                  </a:tcPr>
                </a:tc>
                <a:extLst>
                  <a:ext uri="{0D108BD9-81ED-4DB2-BD59-A6C34878D82A}">
                    <a16:rowId xmlns:a16="http://schemas.microsoft.com/office/drawing/2014/main" val="10005"/>
                  </a:ext>
                </a:extLst>
              </a:tr>
              <a:tr h="329184">
                <a:tc>
                  <a:txBody>
                    <a:bodyPr/>
                    <a:lstStyle/>
                    <a:p>
                      <a:pPr algn="l"/>
                      <a:r>
                        <a:rPr lang="ja-JP" sz="1200" b="1">
                          <a:solidFill>
                            <a:srgbClr val="1F2A5C"/>
                          </a:solidFill>
                          <a:latin typeface="メイリオ"/>
                          <a:ea typeface="メイリオ"/>
                          <a:cs typeface="メイリオ"/>
                        </a:rPr>
                        <a:t>⑥ 再育成</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未入会／予約したが不参加</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次のイベントまで接点が無い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月2回の配信で次のイベントへ</a:t>
                      </a:r>
                    </a:p>
                  </a:txBody>
                  <a:tcPr marR="73152" anchor="ctr">
                    <a:solidFill>
                      <a:srgbClr val="F5F7FA"/>
                    </a:solidFill>
                  </a:tcPr>
                </a:tc>
                <a:extLst>
                  <a:ext uri="{0D108BD9-81ED-4DB2-BD59-A6C34878D82A}">
                    <a16:rowId xmlns:a16="http://schemas.microsoft.com/office/drawing/2014/main" val="10006"/>
                  </a:ext>
                </a:extLst>
              </a:tr>
              <a:tr h="329184">
                <a:tc>
                  <a:txBody>
                    <a:bodyPr/>
                    <a:lstStyle/>
                    <a:p>
                      <a:pPr algn="l"/>
                      <a:r>
                        <a:rPr lang="ja-JP" sz="1200" b="1">
                          <a:solidFill>
                            <a:srgbClr val="1F2A5C"/>
                          </a:solidFill>
                          <a:latin typeface="メイリオ"/>
                          <a:ea typeface="メイリオ"/>
                          <a:cs typeface="メイリオ"/>
                        </a:rPr>
                        <a:t>⑦ マネタイズ</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サロンの入会を検討</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入会後の中身・成果が見えない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入会した方の声を配信</a:t>
                      </a:r>
                    </a:p>
                  </a:txBody>
                  <a:tcPr marR="73152" anchor="ctr">
                    <a:solidFill>
                      <a:srgbClr val="FFFFFF"/>
                    </a:solidFill>
                  </a:tcPr>
                </a:tc>
                <a:extLst>
                  <a:ext uri="{0D108BD9-81ED-4DB2-BD59-A6C34878D82A}">
                    <a16:rowId xmlns:a16="http://schemas.microsoft.com/office/drawing/2014/main" val="10007"/>
                  </a:ext>
                </a:extLst>
              </a:tr>
              <a:tr h="329184">
                <a:tc>
                  <a:txBody>
                    <a:bodyPr/>
                    <a:lstStyle/>
                    <a:p>
                      <a:pPr algn="l"/>
                      <a:r>
                        <a:rPr lang="ja-JP" sz="1200" b="1">
                          <a:solidFill>
                            <a:srgbClr val="1F2A5C"/>
                          </a:solidFill>
                          <a:latin typeface="メイリオ"/>
                          <a:ea typeface="メイリオ"/>
                          <a:cs typeface="メイリオ"/>
                        </a:rPr>
                        <a:t>⑧ ファン化・紹介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サロンに入会</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次のイベントの案内・紹介</a:t>
                      </a:r>
                    </a:p>
                  </a:txBody>
                  <a:tcPr marR="73152" anchor="ctr">
                    <a:solidFill>
                      <a:srgbClr val="F5F7FA"/>
                    </a:solidFill>
                  </a:tcPr>
                </a:tc>
                <a:extLst>
                  <a:ext uri="{0D108BD9-81ED-4DB2-BD59-A6C34878D82A}">
                    <a16:rowId xmlns:a16="http://schemas.microsoft.com/office/drawing/2014/main" val="10008"/>
                  </a:ext>
                </a:extLst>
              </a:tr>
            </a:tbl>
          </a:graphicData>
        </a:graphic>
      </p:graphicFrame>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8</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フェーズごとのユーザー心理・離脱課題・</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LINE OA</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の役割を一覧化し、以降の施策設計の土台とする。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3571272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1200" b="1" dirty="0">
                <a:solidFill>
                  <a:schemeClr val="bg1"/>
                </a:solidFill>
                <a:latin typeface="メイリオ" panose="020B0604030504040204" pitchFamily="50" charset="-128"/>
                <a:ea typeface="メイリオ" panose="020B0604030504040204" pitchFamily="50" charset="-128"/>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LP（セミナー申込みページ）ステータス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広告でセミナー予約を獲得（1回 81件・CPA 26,043円）。</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申し込まずに離れた方を、次のイベントまで案内する手段が無い。</a:t>
            </a:r>
            <a:endParaRPr lang="en-US" altLang="ja-JP" sz="105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参加して入会していない方へ、</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latin typeface="メイリオ" panose="020B0604030504040204" pitchFamily="50" charset="-128"/>
                <a:ea typeface="メイリオ" panose="020B0604030504040204" pitchFamily="50" charset="-128"/>
                <a:cs typeface="メイリオ"/>
              </a:rPr>
              <a:t>入会まで案内を続ける手段が無い状況。</a:t>
            </a:r>
            <a:endParaRPr lang="en-US" altLang="ja-JP" sz="1050" dirty="0">
              <a:latin typeface="メイリオ" panose="020B0604030504040204" pitchFamily="50" charset="-128"/>
              <a:ea typeface="メイリオ" panose="020B0604030504040204" pitchFamily="50" charset="-128"/>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LP 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※1回のイベントの数値。LP UUは</a:t>
            </a:r>
          </a:p>
          <a:p>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　広告のクリック数からの想定数値。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うち広告</a:t>
            </a:r>
            <a:r>
              <a:rPr lang="en-US" altLang="ja-JP" sz="1000" dirty="0">
                <a:solidFill>
                  <a:schemeClr val="bg1"/>
                </a:solidFill>
                <a:latin typeface="メイリオ" panose="020B0604030504040204" pitchFamily="50" charset="-128"/>
                <a:ea typeface="メイリオ" panose="020B0604030504040204" pitchFamily="50" charset="-128"/>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広告費用</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メイン流入元</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他</a:t>
            </a:r>
            <a:r>
              <a:rPr lang="en-US" altLang="ja-JP" sz="1000" dirty="0">
                <a:solidFill>
                  <a:schemeClr val="bg1"/>
                </a:solidFill>
                <a:latin typeface="メイリオ" panose="020B0604030504040204" pitchFamily="50" charset="-128"/>
                <a:ea typeface="メイリオ" panose="020B0604030504040204" pitchFamily="50" charset="-128"/>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リード保有数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CV数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CV</a:t>
            </a:r>
            <a:r>
              <a:rPr lang="ja-JP" altLang="en-US" sz="1000" dirty="0">
                <a:solidFill>
                  <a:schemeClr val="bg1"/>
                </a:solidFill>
                <a:latin typeface="メイリオ" panose="020B0604030504040204" pitchFamily="50" charset="-128"/>
                <a:ea typeface="メイリオ" panose="020B0604030504040204" pitchFamily="50" charset="-128"/>
                <a:cs typeface="メイリオ"/>
              </a:rPr>
              <a:t>地点</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LINE</a:t>
            </a:r>
            <a:r>
              <a:rPr lang="ja-JP" altLang="en-US" sz="1000" dirty="0">
                <a:solidFill>
                  <a:schemeClr val="bg1"/>
                </a:solidFill>
                <a:latin typeface="メイリオ" panose="020B0604030504040204" pitchFamily="50" charset="-128"/>
                <a:ea typeface="メイリオ" panose="020B0604030504040204" pitchFamily="50" charset="-128"/>
                <a:cs typeface="メイリオ"/>
              </a:rPr>
              <a:t>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友だち数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アクティブ数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ブロック率</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2" name="テキスト ボックス 91">
            <a:extLst>
              <a:ext uri="{FF2B5EF4-FFF2-40B4-BE49-F238E27FC236}">
                <a16:creationId xmlns:a16="http://schemas.microsoft.com/office/drawing/2014/main" id="{88937895-903D-2714-B911-64B989A6665C}"/>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ツール</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想定コスト</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月間投稿数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ステップ実施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プロフ動線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3,000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約2,760</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約211万円</a:t>
            </a: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広告</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a:t>
            </a: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81件</a:t>
            </a: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セミナー予約</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なし</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69" name="テキスト ボックス 168">
            <a:extLst>
              <a:ext uri="{FF2B5EF4-FFF2-40B4-BE49-F238E27FC236}">
                <a16:creationId xmlns:a16="http://schemas.microsoft.com/office/drawing/2014/main" id="{7D910DD2-60FF-DE1D-244F-84DABD92D62C}"/>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a:t>
            </a: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77" name="テキスト ボックス 176">
            <a:extLst>
              <a:ext uri="{FF2B5EF4-FFF2-40B4-BE49-F238E27FC236}">
                <a16:creationId xmlns:a16="http://schemas.microsoft.com/office/drawing/2014/main" id="{14E58E5E-2D77-90E6-91E8-9955CA80F448}"/>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cs typeface="メイリオ"/>
              </a:rPr>
              <a:t>※</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91" name="テキスト ボックス 190">
            <a:extLst>
              <a:ext uri="{FF2B5EF4-FFF2-40B4-BE49-F238E27FC236}">
                <a16:creationId xmlns:a16="http://schemas.microsoft.com/office/drawing/2014/main" id="{18879675-133C-898A-AB5B-286927352D72}"/>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cs typeface="メイリオ"/>
              </a:rPr>
              <a:t>※</a:t>
            </a:r>
          </a:p>
        </p:txBody>
      </p:sp>
      <p:sp>
        <p:nvSpPr>
          <p:cNvPr id="192" name="差し込み LPの画面"/>
          <p:cNvSpPr/>
          <p:nvPr/>
        </p:nvSpPr>
        <p:spPr>
          <a:xfrm>
            <a:off x="507335" y="2008789"/>
            <a:ext cx="1557206" cy="3162823"/>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LPの画面</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378484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2D860-D20C-DFFA-89EA-A46B82A5DB1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30ACD85-15EC-FC5A-B63C-42D277C5A6A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1DC17654-F65C-A9D9-21EB-8D05BBE86AC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04DC6DE6-9A8D-0047-2FAE-67250D9E5F4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ニーズ調査（シーズナリティ）</a:t>
            </a:r>
            <a:endParaRPr sz="1600" b="1" dirty="0">
              <a:solidFill>
                <a:srgbClr val="002060"/>
              </a:solidFill>
              <a:latin typeface="メイリオ"/>
              <a:ea typeface="メイリオ"/>
              <a:cs typeface="メイリオ"/>
              <a:sym typeface="Meiryo"/>
            </a:endParaRPr>
          </a:p>
        </p:txBody>
      </p:sp>
      <p:sp>
        <p:nvSpPr>
          <p:cNvPr id="8" name="テキスト ボックス 7">
            <a:extLst>
              <a:ext uri="{FF2B5EF4-FFF2-40B4-BE49-F238E27FC236}">
                <a16:creationId xmlns:a16="http://schemas.microsoft.com/office/drawing/2014/main" id="{AB3D5176-7A86-8B1D-B537-7482C61F2830}"/>
              </a:ext>
            </a:extLst>
          </p:cNvPr>
          <p:cNvSpPr txBox="1"/>
          <p:nvPr/>
        </p:nvSpPr>
        <p:spPr>
          <a:xfrm>
            <a:off x="8133806" y="5351907"/>
            <a:ext cx="1458360" cy="2308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※Google</a:t>
            </a:r>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トレンドより</a:t>
            </a:r>
            <a:endParaRPr lang="ja-JP" altLang="en-US" sz="1400" dirty="0">
              <a:solidFill>
                <a:schemeClr val="bg1">
                  <a:lumMod val="65000"/>
                </a:schemeClr>
              </a:solidFill>
              <a:latin typeface="メイリオ"/>
              <a:ea typeface="メイリオ"/>
              <a:cs typeface="メイリオ"/>
            </a:endParaRPr>
          </a:p>
        </p:txBody>
      </p:sp>
      <p:sp>
        <p:nvSpPr>
          <p:cNvPr id="5" name="テキスト ボックス 4">
            <a:extLst>
              <a:ext uri="{FF2B5EF4-FFF2-40B4-BE49-F238E27FC236}">
                <a16:creationId xmlns:a16="http://schemas.microsoft.com/office/drawing/2014/main" id="{922D6823-FF2A-C1F7-974B-0F8BF7DDC41B}"/>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検索ボリュームの季節変動を把握し、繁忙期に先行した配信設計の根拠に。</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46" name="差し込み Googleトレンドの画像（保険営業の方の検索の季節変動）"/>
          <p:cNvSpPr/>
          <p:nvPr/>
        </p:nvSpPr>
        <p:spPr>
          <a:xfrm>
            <a:off x="220588" y="1688676"/>
            <a:ext cx="9464824" cy="3461599"/>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Googleトレンドの画像（保険営業の方の検索の季節変動）</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42908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E4664-0791-AB23-9ACF-A79FA4D2CD1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98A5F44-4DAD-79B8-2CEA-267E86DC860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198BB5E6-49E8-E304-2236-96ED9AF800A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88303E2C-F4EF-F0AA-1EF9-E0A01EDFC0E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513D5E39-C6C9-D6C0-5819-C587AA1C50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160D2D1C-9CD0-28D0-3138-8C01E5B887B5}"/>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13B630D1-4FF6-F9C6-E36E-F82FF8BB2858}"/>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1" name="正方形/長方形 10">
            <a:extLst>
              <a:ext uri="{FF2B5EF4-FFF2-40B4-BE49-F238E27FC236}">
                <a16:creationId xmlns:a16="http://schemas.microsoft.com/office/drawing/2014/main" id="{3A99C536-4301-F569-61F1-54067CA4AE75}"/>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3" name="正方形/長方形 12">
            <a:extLst>
              <a:ext uri="{FF2B5EF4-FFF2-40B4-BE49-F238E27FC236}">
                <a16:creationId xmlns:a16="http://schemas.microsoft.com/office/drawing/2014/main" id="{5B08C2C6-BF88-EDFE-9307-526D7AB38942}"/>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cxnSp>
        <p:nvCxnSpPr>
          <p:cNvPr id="15" name="直線矢印コネクタ 14">
            <a:extLst>
              <a:ext uri="{FF2B5EF4-FFF2-40B4-BE49-F238E27FC236}">
                <a16:creationId xmlns:a16="http://schemas.microsoft.com/office/drawing/2014/main" id="{56C657A1-149E-41EE-730E-3EAE4C3BA201}"/>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E4FE3AE9-35AF-85CD-C2CC-E0CD16851957}"/>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7F3169DD-B4D2-C3B3-E898-796DA8E0ABBE}"/>
              </a:ext>
            </a:extLst>
          </p:cNvPr>
          <p:cNvSpPr/>
          <p:nvPr/>
        </p:nvSpPr>
        <p:spPr>
          <a:xfrm>
            <a:off x="5182016"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9" name="図 8" descr="LINE公式アカウントのロゴを活用しよう！注意点やNG例も合わせて解説 - LINEマーケティングツールFANVO">
            <a:extLst>
              <a:ext uri="{FF2B5EF4-FFF2-40B4-BE49-F238E27FC236}">
                <a16:creationId xmlns:a16="http://schemas.microsoft.com/office/drawing/2014/main" id="{7499D9A1-145E-E266-83BC-3570D5C46C13}"/>
              </a:ext>
            </a:extLst>
          </p:cNvPr>
          <p:cNvPicPr>
            <a:picLocks noChangeAspect="1"/>
          </p:cNvPicPr>
          <p:nvPr/>
        </p:nvPicPr>
        <p:blipFill>
          <a:blip r:embed="rId3"/>
          <a:stretch>
            <a:fillRect/>
          </a:stretch>
        </p:blipFill>
        <p:spPr>
          <a:xfrm>
            <a:off x="4972346" y="1415224"/>
            <a:ext cx="419340" cy="418460"/>
          </a:xfrm>
          <a:prstGeom prst="rect">
            <a:avLst/>
          </a:prstGeom>
        </p:spPr>
      </p:pic>
      <p:sp>
        <p:nvSpPr>
          <p:cNvPr id="12" name="テキスト ボックス 11">
            <a:extLst>
              <a:ext uri="{FF2B5EF4-FFF2-40B4-BE49-F238E27FC236}">
                <a16:creationId xmlns:a16="http://schemas.microsoft.com/office/drawing/2014/main" id="{D510765C-D91E-3EF4-4A1A-9BF832DC8A4C}"/>
              </a:ext>
            </a:extLst>
          </p:cNvPr>
          <p:cNvSpPr txBox="1"/>
          <p:nvPr/>
        </p:nvSpPr>
        <p:spPr>
          <a:xfrm>
            <a:off x="5301604"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8" name="テキスト ボックス 7">
            <a:extLst>
              <a:ext uri="{FF2B5EF4-FFF2-40B4-BE49-F238E27FC236}">
                <a16:creationId xmlns:a16="http://schemas.microsoft.com/office/drawing/2014/main" id="{2D224931-6ECA-9763-63E9-7DD9B080E440}"/>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四角形: 角を丸くする 9">
            <a:extLst>
              <a:ext uri="{FF2B5EF4-FFF2-40B4-BE49-F238E27FC236}">
                <a16:creationId xmlns:a16="http://schemas.microsoft.com/office/drawing/2014/main" id="{F6D71787-DACF-D927-0AC0-7D5E99A64F29}"/>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9" name="四角形: 角を丸くする 18">
            <a:extLst>
              <a:ext uri="{FF2B5EF4-FFF2-40B4-BE49-F238E27FC236}">
                <a16:creationId xmlns:a16="http://schemas.microsoft.com/office/drawing/2014/main" id="{FCA279C4-C296-61EC-C9D3-DAE41B033D78}"/>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panose="020B0604030504040204" pitchFamily="50" charset="-128"/>
                <a:ea typeface="メイリオ" panose="020B0604030504040204" pitchFamily="50" charset="-128"/>
                <a:cs typeface="メイリオ"/>
              </a:rPr>
              <a:t>お金周り</a:t>
            </a:r>
          </a:p>
        </p:txBody>
      </p:sp>
      <p:sp>
        <p:nvSpPr>
          <p:cNvPr id="25" name="四角形: 角を丸くする 24">
            <a:extLst>
              <a:ext uri="{FF2B5EF4-FFF2-40B4-BE49-F238E27FC236}">
                <a16:creationId xmlns:a16="http://schemas.microsoft.com/office/drawing/2014/main" id="{F1163350-C485-703A-6504-08D7D75EE71A}"/>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7" name="四角形: 角を丸くする 26">
            <a:extLst>
              <a:ext uri="{FF2B5EF4-FFF2-40B4-BE49-F238E27FC236}">
                <a16:creationId xmlns:a16="http://schemas.microsoft.com/office/drawing/2014/main" id="{575B5195-33B9-6FF0-63AF-D3B0017CCCC2}"/>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6" name="差し込み 前後検索の画像"/>
          <p:cNvSpPr/>
          <p:nvPr/>
        </p:nvSpPr>
        <p:spPr>
          <a:xfrm>
            <a:off x="1312605" y="1893604"/>
            <a:ext cx="7223640" cy="4213792"/>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438123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33BA2-CF45-0DF9-CBDD-A5830E2CF0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F42532B-D77B-6AC3-A328-689E2FC45F9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5D33EAB5-3104-05B5-E501-BBD7DE6AC9F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6F2AE0B-CB02-A8CD-4FB4-B3F45A0A747C}"/>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BA92233F-6BFD-0359-EEDA-BE51C1C483C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直線矢印コネクタ 13">
            <a:extLst>
              <a:ext uri="{FF2B5EF4-FFF2-40B4-BE49-F238E27FC236}">
                <a16:creationId xmlns:a16="http://schemas.microsoft.com/office/drawing/2014/main" id="{8F8E1B34-1AC7-E92D-4681-D5F6A71CFBF4}"/>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79E5C2B4-5B91-6669-DA9D-9C6100822D80}"/>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F784DCA2-0206-476A-CC2D-15EA1A5F9515}"/>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3" name="正方形/長方形 12">
            <a:extLst>
              <a:ext uri="{FF2B5EF4-FFF2-40B4-BE49-F238E27FC236}">
                <a16:creationId xmlns:a16="http://schemas.microsoft.com/office/drawing/2014/main" id="{61C146B2-09C1-EAF2-AA90-D6921017547B}"/>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6" name="正方形/長方形 15">
            <a:extLst>
              <a:ext uri="{FF2B5EF4-FFF2-40B4-BE49-F238E27FC236}">
                <a16:creationId xmlns:a16="http://schemas.microsoft.com/office/drawing/2014/main" id="{59D3B460-577D-4DA5-3627-A3FE3F8ED9DC}"/>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8" name="テキスト ボックス 17">
            <a:extLst>
              <a:ext uri="{FF2B5EF4-FFF2-40B4-BE49-F238E27FC236}">
                <a16:creationId xmlns:a16="http://schemas.microsoft.com/office/drawing/2014/main" id="{D8D61203-B4E8-EA26-11E7-042F4CC7854D}"/>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63FD9650-CF2E-C04B-71DA-C5C32192D256}"/>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1" name="四角形: 角を丸くする 10">
            <a:extLst>
              <a:ext uri="{FF2B5EF4-FFF2-40B4-BE49-F238E27FC236}">
                <a16:creationId xmlns:a16="http://schemas.microsoft.com/office/drawing/2014/main" id="{9698CAAA-C7D0-DE8C-1937-135259153DF5}"/>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5" name="四角形: 角を丸くする 14">
            <a:extLst>
              <a:ext uri="{FF2B5EF4-FFF2-40B4-BE49-F238E27FC236}">
                <a16:creationId xmlns:a16="http://schemas.microsoft.com/office/drawing/2014/main" id="{D484CC40-8F93-841D-9C65-D77C9FDB28E9}"/>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お金周り</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四角形: 角を丸くする 18">
            <a:extLst>
              <a:ext uri="{FF2B5EF4-FFF2-40B4-BE49-F238E27FC236}">
                <a16:creationId xmlns:a16="http://schemas.microsoft.com/office/drawing/2014/main" id="{14477AFE-E2AB-A03A-8102-B7565C7E8967}"/>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3" name="四角形: 角を丸くする 22">
            <a:extLst>
              <a:ext uri="{FF2B5EF4-FFF2-40B4-BE49-F238E27FC236}">
                <a16:creationId xmlns:a16="http://schemas.microsoft.com/office/drawing/2014/main" id="{9E775032-FD1B-EA57-EF1F-2E939977DBF0}"/>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34" name="正方形/長方形 133">
            <a:extLst>
              <a:ext uri="{FF2B5EF4-FFF2-40B4-BE49-F238E27FC236}">
                <a16:creationId xmlns:a16="http://schemas.microsoft.com/office/drawing/2014/main" id="{E1DBE2B9-1B8A-7D74-6827-B277538B2E74}"/>
              </a:ext>
            </a:extLst>
          </p:cNvPr>
          <p:cNvSpPr/>
          <p:nvPr/>
        </p:nvSpPr>
        <p:spPr>
          <a:xfrm>
            <a:off x="5173309"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36" name="図 135" descr="LINE公式アカウントのロゴを活用しよう！注意点やNG例も合わせて解説 - LINEマーケティングツールFANVO">
            <a:extLst>
              <a:ext uri="{FF2B5EF4-FFF2-40B4-BE49-F238E27FC236}">
                <a16:creationId xmlns:a16="http://schemas.microsoft.com/office/drawing/2014/main" id="{7292D2B2-006C-20F1-069A-EA07DB9040FF}"/>
              </a:ext>
            </a:extLst>
          </p:cNvPr>
          <p:cNvPicPr>
            <a:picLocks noChangeAspect="1"/>
          </p:cNvPicPr>
          <p:nvPr/>
        </p:nvPicPr>
        <p:blipFill>
          <a:blip r:embed="rId3"/>
          <a:stretch>
            <a:fillRect/>
          </a:stretch>
        </p:blipFill>
        <p:spPr>
          <a:xfrm>
            <a:off x="4963639" y="1415224"/>
            <a:ext cx="419340" cy="418460"/>
          </a:xfrm>
          <a:prstGeom prst="rect">
            <a:avLst/>
          </a:prstGeom>
        </p:spPr>
      </p:pic>
      <p:sp>
        <p:nvSpPr>
          <p:cNvPr id="138" name="テキスト ボックス 137">
            <a:extLst>
              <a:ext uri="{FF2B5EF4-FFF2-40B4-BE49-F238E27FC236}">
                <a16:creationId xmlns:a16="http://schemas.microsoft.com/office/drawing/2014/main" id="{3825EFF3-DD91-80CA-5C34-6956639E0AF6}"/>
              </a:ext>
            </a:extLst>
          </p:cNvPr>
          <p:cNvSpPr txBox="1"/>
          <p:nvPr/>
        </p:nvSpPr>
        <p:spPr>
          <a:xfrm>
            <a:off x="5319022"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9" name="差し込み 前後検索の画像"/>
          <p:cNvSpPr/>
          <p:nvPr/>
        </p:nvSpPr>
        <p:spPr>
          <a:xfrm>
            <a:off x="1386465" y="1895415"/>
            <a:ext cx="7152121" cy="4172069"/>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267346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45661-D170-7F4D-B8A8-8C3B4D5EF47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0F2A605-8BE9-543D-C379-8ADC172A2B5B}"/>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87FB6EC3-4D6F-6C45-86B8-DAD6CBB0E53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72B83C2C-8DD1-B131-625E-DC1B80BAE95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F9E4E4A3-0061-C7DF-4A07-669885EC9040}"/>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 name="Card1_Title">
            <a:extLst>
              <a:ext uri="{FF2B5EF4-FFF2-40B4-BE49-F238E27FC236}">
                <a16:creationId xmlns:a16="http://schemas.microsoft.com/office/drawing/2014/main" id="{8E31DAD6-1621-DBDA-E670-9EC6437B61A2}"/>
              </a:ext>
            </a:extLst>
          </p:cNvPr>
          <p:cNvSpPr txBox="1"/>
          <p:nvPr/>
        </p:nvSpPr>
        <p:spPr>
          <a:xfrm>
            <a:off x="441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検索「前」クエリ（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7" name="Card1_Body">
            <a:extLst>
              <a:ext uri="{FF2B5EF4-FFF2-40B4-BE49-F238E27FC236}">
                <a16:creationId xmlns:a16="http://schemas.microsoft.com/office/drawing/2014/main" id="{D3A10FAB-A215-96CD-4586-4D95A31E157D}"/>
              </a:ext>
            </a:extLst>
          </p:cNvPr>
          <p:cNvSpPr txBox="1"/>
          <p:nvPr/>
        </p:nvSpPr>
        <p:spPr>
          <a:xfrm>
            <a:off x="441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Card2_Title">
            <a:extLst>
              <a:ext uri="{FF2B5EF4-FFF2-40B4-BE49-F238E27FC236}">
                <a16:creationId xmlns:a16="http://schemas.microsoft.com/office/drawing/2014/main" id="{AF3F627C-CA5A-EA6E-EB31-14D66576A08E}"/>
              </a:ext>
            </a:extLst>
          </p:cNvPr>
          <p:cNvSpPr txBox="1"/>
          <p:nvPr/>
        </p:nvSpPr>
        <p:spPr>
          <a:xfrm>
            <a:off x="3553460" y="1709511"/>
            <a:ext cx="2921000" cy="457200"/>
          </a:xfrm>
          <a:prstGeom prst="rect">
            <a:avLst/>
          </a:prstGeom>
          <a:solidFill>
            <a:srgbClr val="FFFFFF"/>
          </a:solidFill>
          <a:ln w="6350">
            <a:solidFill>
              <a:srgbClr val="4A6FA5"/>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検索「起点」（</a:t>
            </a:r>
            <a:r>
              <a:rPr kumimoji="0" lang="en-US" altLang="ja-JP"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0</a:t>
            </a: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11" name="Card2_Body">
            <a:extLst>
              <a:ext uri="{FF2B5EF4-FFF2-40B4-BE49-F238E27FC236}">
                <a16:creationId xmlns:a16="http://schemas.microsoft.com/office/drawing/2014/main" id="{071EA822-5DE7-F7FC-CE53-C2441B6BA07A}"/>
              </a:ext>
            </a:extLst>
          </p:cNvPr>
          <p:cNvSpPr txBox="1"/>
          <p:nvPr/>
        </p:nvSpPr>
        <p:spPr>
          <a:xfrm>
            <a:off x="35534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4A6FA5"/>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5" name="Card3_Title">
            <a:extLst>
              <a:ext uri="{FF2B5EF4-FFF2-40B4-BE49-F238E27FC236}">
                <a16:creationId xmlns:a16="http://schemas.microsoft.com/office/drawing/2014/main" id="{8D47B4FA-63E9-2461-A89D-BE48099D1CEF}"/>
              </a:ext>
            </a:extLst>
          </p:cNvPr>
          <p:cNvSpPr txBox="1"/>
          <p:nvPr/>
        </p:nvSpPr>
        <p:spPr>
          <a:xfrm>
            <a:off x="6664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検索「後」クエリ（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1〜15</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7" name="Card3_Body">
            <a:extLst>
              <a:ext uri="{FF2B5EF4-FFF2-40B4-BE49-F238E27FC236}">
                <a16:creationId xmlns:a16="http://schemas.microsoft.com/office/drawing/2014/main" id="{0F35057D-2CE3-9DDA-8E94-282A37275B5F}"/>
              </a:ext>
            </a:extLst>
          </p:cNvPr>
          <p:cNvSpPr txBox="1"/>
          <p:nvPr/>
        </p:nvSpPr>
        <p:spPr>
          <a:xfrm>
            <a:off x="6664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2" name="テキスト ボックス 11">
            <a:extLst>
              <a:ext uri="{FF2B5EF4-FFF2-40B4-BE49-F238E27FC236}">
                <a16:creationId xmlns:a16="http://schemas.microsoft.com/office/drawing/2014/main" id="{DCF84225-84DA-E8B0-FCCE-46A1376BC209}"/>
              </a:ext>
            </a:extLst>
          </p:cNvPr>
          <p:cNvSpPr txBox="1"/>
          <p:nvPr/>
        </p:nvSpPr>
        <p:spPr>
          <a:xfrm>
            <a:off x="5286079" y="4595204"/>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 name="矢印: 下 12">
            <a:extLst>
              <a:ext uri="{FF2B5EF4-FFF2-40B4-BE49-F238E27FC236}">
                <a16:creationId xmlns:a16="http://schemas.microsoft.com/office/drawing/2014/main" id="{D61D535A-38C6-7BB0-0D6E-34AB306808A8}"/>
              </a:ext>
            </a:extLst>
          </p:cNvPr>
          <p:cNvSpPr/>
          <p:nvPr/>
        </p:nvSpPr>
        <p:spPr>
          <a:xfrm>
            <a:off x="5036442" y="3737247"/>
            <a:ext cx="1097280" cy="2090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6" name="Card1_Title">
            <a:extLst>
              <a:ext uri="{FF2B5EF4-FFF2-40B4-BE49-F238E27FC236}">
                <a16:creationId xmlns:a16="http://schemas.microsoft.com/office/drawing/2014/main" id="{EA1CCC1E-91FF-5127-259C-24170B827EFB}"/>
              </a:ext>
            </a:extLst>
          </p:cNvPr>
          <p:cNvSpPr txBox="1"/>
          <p:nvPr/>
        </p:nvSpPr>
        <p:spPr>
          <a:xfrm>
            <a:off x="4470369" y="3994007"/>
            <a:ext cx="2194591"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離脱防止</a:t>
            </a:r>
          </a:p>
        </p:txBody>
      </p:sp>
      <p:cxnSp>
        <p:nvCxnSpPr>
          <p:cNvPr id="20" name="直線コネクタ 19">
            <a:extLst>
              <a:ext uri="{FF2B5EF4-FFF2-40B4-BE49-F238E27FC236}">
                <a16:creationId xmlns:a16="http://schemas.microsoft.com/office/drawing/2014/main" id="{5BE55DA4-D366-93E9-818A-C5CB316D61F6}"/>
              </a:ext>
            </a:extLst>
          </p:cNvPr>
          <p:cNvCxnSpPr/>
          <p:nvPr/>
        </p:nvCxnSpPr>
        <p:spPr>
          <a:xfrm>
            <a:off x="5094517" y="4709762"/>
            <a:ext cx="0" cy="1292023"/>
          </a:xfrm>
          <a:prstGeom prst="line">
            <a:avLst/>
          </a:prstGeom>
          <a:ln>
            <a:solidFill>
              <a:srgbClr val="04FA0A"/>
            </a:solidFill>
          </a:ln>
        </p:spPr>
        <p:style>
          <a:lnRef idx="1">
            <a:schemeClr val="accent1"/>
          </a:lnRef>
          <a:fillRef idx="0">
            <a:schemeClr val="accent1"/>
          </a:fillRef>
          <a:effectRef idx="0">
            <a:schemeClr val="accent1"/>
          </a:effectRef>
          <a:fontRef idx="minor">
            <a:schemeClr val="tx1"/>
          </a:fontRef>
        </p:style>
      </p:cxnSp>
      <p:pic>
        <p:nvPicPr>
          <p:cNvPr id="22" name="図 21" descr="LINE公式アカウントのロゴを活用しよう！注意点やNG例も合わせて解説 - LINEマーケティングツールFANVO">
            <a:extLst>
              <a:ext uri="{FF2B5EF4-FFF2-40B4-BE49-F238E27FC236}">
                <a16:creationId xmlns:a16="http://schemas.microsoft.com/office/drawing/2014/main" id="{4DC60E86-0524-E40F-7236-4D8A38BD333B}"/>
              </a:ext>
            </a:extLst>
          </p:cNvPr>
          <p:cNvPicPr>
            <a:picLocks noChangeAspect="1"/>
          </p:cNvPicPr>
          <p:nvPr/>
        </p:nvPicPr>
        <p:blipFill>
          <a:blip r:embed="rId3"/>
          <a:stretch>
            <a:fillRect/>
          </a:stretch>
        </p:blipFill>
        <p:spPr>
          <a:xfrm>
            <a:off x="4866739" y="4519050"/>
            <a:ext cx="419340" cy="418460"/>
          </a:xfrm>
          <a:prstGeom prst="rect">
            <a:avLst/>
          </a:prstGeom>
        </p:spPr>
      </p:pic>
      <p:sp>
        <p:nvSpPr>
          <p:cNvPr id="24" name="テキスト ボックス 23">
            <a:extLst>
              <a:ext uri="{FF2B5EF4-FFF2-40B4-BE49-F238E27FC236}">
                <a16:creationId xmlns:a16="http://schemas.microsoft.com/office/drawing/2014/main" id="{8F0B071A-7C5B-F060-B690-5A7A3AFEC0DD}"/>
              </a:ext>
            </a:extLst>
          </p:cNvPr>
          <p:cNvSpPr txBox="1"/>
          <p:nvPr/>
        </p:nvSpPr>
        <p:spPr>
          <a:xfrm>
            <a:off x="5268638" y="5094163"/>
            <a:ext cx="3857945" cy="261610"/>
          </a:xfrm>
          <a:prstGeom prst="rect">
            <a:avLst/>
          </a:prstGeom>
          <a:noFill/>
        </p:spPr>
        <p:txBody>
          <a:bodyPr wrap="square">
            <a:spAutoFit/>
          </a:bodyPr>
          <a:lstStyle/>
          <a:p>
            <a:r>
              <a:rPr lang="ja-JP" altLang="en-US" sz="1100" b="1" dirty="0">
                <a:latin typeface="メイリオ"/>
                <a:ea typeface="メイリオ"/>
                <a:cs typeface="メイリオ"/>
                <a:sym typeface="Meiryo"/>
              </a:rPr>
              <a:t>⇨ステップ配信がスタート。</a:t>
            </a:r>
            <a:endParaRPr lang="ja-JP" altLang="en-US" sz="1200" dirty="0">
              <a:latin typeface="メイリオ"/>
              <a:ea typeface="メイリオ"/>
              <a:cs typeface="メイリオ"/>
            </a:endParaRPr>
          </a:p>
        </p:txBody>
      </p:sp>
      <p:sp>
        <p:nvSpPr>
          <p:cNvPr id="26" name="テキスト ボックス 25">
            <a:extLst>
              <a:ext uri="{FF2B5EF4-FFF2-40B4-BE49-F238E27FC236}">
                <a16:creationId xmlns:a16="http://schemas.microsoft.com/office/drawing/2014/main" id="{70592E01-ABF8-E8A1-7E8A-7A1556DFA756}"/>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前後検索を各カテゴリ別</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ニーズ大小別で棲み分け、最適なタイミングで</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ステップ配信のコンテンツ出し分けに活用。</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535646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88D946F-DA36-B087-C6F8-FF4EC57BC7C4}"/>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8" name="テキスト ボックス 7">
            <a:extLst>
              <a:ext uri="{FF2B5EF4-FFF2-40B4-BE49-F238E27FC236}">
                <a16:creationId xmlns:a16="http://schemas.microsoft.com/office/drawing/2014/main" id="{8AC0F8FD-EDCC-5FCF-2FF3-71604C94B29B}"/>
              </a:ext>
            </a:extLst>
          </p:cNvPr>
          <p:cNvSpPr txBox="1"/>
          <p:nvPr/>
        </p:nvSpPr>
        <p:spPr>
          <a:xfrm>
            <a:off x="384048" y="5943600"/>
            <a:ext cx="9098280" cy="384048"/>
          </a:xfrm>
          <a:prstGeom prst="rect">
            <a:avLst/>
          </a:prstGeom>
          <a:noFill/>
        </p:spPr>
        <p:txBody>
          <a:bodyPr wrap="square">
            <a:spAutoFit/>
          </a:bodyPr>
          <a:lstStyle/>
          <a:p>
            <a:pPr algn="r"/>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※営業職員数：生命保険協会「2025年版 生命保険の動向」／加入経路：生命保険文化センター「2024（令和6）年度 生命保険に関する全国実態調査」</a:t>
            </a:r>
            <a:endParaRPr lang="ja-JP" altLang="en-US" sz="1400" dirty="0">
              <a:solidFill>
                <a:schemeClr val="bg1">
                  <a:lumMod val="65000"/>
                </a:schemeClr>
              </a:solidFill>
              <a:latin typeface="メイリオ"/>
              <a:ea typeface="メイリオ"/>
              <a:cs typeface="メイリオ"/>
            </a:endParaRPr>
          </a:p>
          <a:p>
            <a:pPr algn="r"/>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※接触回数：矢野経済研究所「生命保険の営業職員アンケート調査」（2023年4〜6月、生命保険の営業職員400名）</a:t>
            </a:r>
            <a:endParaRPr lang="ja-JP" altLang="en-US" sz="1400" dirty="0">
              <a:solidFill>
                <a:schemeClr val="bg1">
                  <a:lumMod val="65000"/>
                </a:schemeClr>
              </a:solidFill>
              <a:latin typeface="メイリオ"/>
              <a:ea typeface="メイリオ"/>
              <a:cs typeface="メイリオ"/>
            </a:endParaRPr>
          </a:p>
        </p:txBody>
      </p:sp>
      <p:sp>
        <p:nvSpPr>
          <p:cNvPr id="22" name="Card1_Title">
            <a:extLst>
              <a:ext uri="{FF2B5EF4-FFF2-40B4-BE49-F238E27FC236}">
                <a16:creationId xmlns:a16="http://schemas.microsoft.com/office/drawing/2014/main" id="{F09D273B-3EB8-1C59-CFC4-7013E4A1F363}"/>
              </a:ext>
            </a:extLst>
          </p:cNvPr>
          <p:cNvSpPr txBox="1"/>
          <p:nvPr/>
        </p:nvSpPr>
        <p:spPr>
          <a:xfrm>
            <a:off x="381000" y="755465"/>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営業職員数</a:t>
            </a:r>
          </a:p>
        </p:txBody>
      </p:sp>
      <p:sp>
        <p:nvSpPr>
          <p:cNvPr id="24" name="Card1_Body">
            <a:extLst>
              <a:ext uri="{FF2B5EF4-FFF2-40B4-BE49-F238E27FC236}">
                <a16:creationId xmlns:a16="http://schemas.microsoft.com/office/drawing/2014/main" id="{C4D4BD62-2E83-C234-FD58-451256FC8C12}"/>
              </a:ext>
            </a:extLst>
          </p:cNvPr>
          <p:cNvSpPr txBox="1"/>
          <p:nvPr/>
        </p:nvSpPr>
        <p:spPr>
          <a:xfrm>
            <a:off x="3810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約24万人で横ばい（2020〜2024年度）</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生命保険の営業職員（各年度末）</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6" name="Card2_Title">
            <a:extLst>
              <a:ext uri="{FF2B5EF4-FFF2-40B4-BE49-F238E27FC236}">
                <a16:creationId xmlns:a16="http://schemas.microsoft.com/office/drawing/2014/main" id="{A353F2E6-73D0-7C02-26E1-1B6C2DBCE0B3}"/>
              </a:ext>
            </a:extLst>
          </p:cNvPr>
          <p:cNvSpPr txBox="1"/>
          <p:nvPr/>
        </p:nvSpPr>
        <p:spPr>
          <a:xfrm>
            <a:off x="3492500" y="755465"/>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保険の加入経路</a:t>
            </a:r>
          </a:p>
        </p:txBody>
      </p:sp>
      <p:sp>
        <p:nvSpPr>
          <p:cNvPr id="28" name="Card2_Body">
            <a:extLst>
              <a:ext uri="{FF2B5EF4-FFF2-40B4-BE49-F238E27FC236}">
                <a16:creationId xmlns:a16="http://schemas.microsoft.com/office/drawing/2014/main" id="{E6278C61-2C8E-CFD2-1633-C4571ED6A510}"/>
              </a:ext>
            </a:extLst>
          </p:cNvPr>
          <p:cNvSpPr txBox="1"/>
          <p:nvPr/>
        </p:nvSpPr>
        <p:spPr>
          <a:xfrm>
            <a:off x="34925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加入経路のうち「生命保険会社の営業職員」が56.7%（2024年調査）</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0" name="Card3_Title">
            <a:extLst>
              <a:ext uri="{FF2B5EF4-FFF2-40B4-BE49-F238E27FC236}">
                <a16:creationId xmlns:a16="http://schemas.microsoft.com/office/drawing/2014/main" id="{0B941908-3223-5564-217F-FA5805E7C3CC}"/>
              </a:ext>
            </a:extLst>
          </p:cNvPr>
          <p:cNvSpPr txBox="1"/>
          <p:nvPr/>
        </p:nvSpPr>
        <p:spPr>
          <a:xfrm>
            <a:off x="6604000" y="755465"/>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お客様との接触回数</a:t>
            </a:r>
          </a:p>
        </p:txBody>
      </p:sp>
      <p:sp>
        <p:nvSpPr>
          <p:cNvPr id="32" name="Card3_Body">
            <a:extLst>
              <a:ext uri="{FF2B5EF4-FFF2-40B4-BE49-F238E27FC236}">
                <a16:creationId xmlns:a16="http://schemas.microsoft.com/office/drawing/2014/main" id="{3A759964-4FD9-35ED-7557-01B7E8C5068B}"/>
              </a:ext>
            </a:extLst>
          </p:cNvPr>
          <p:cNvSpPr txBox="1"/>
          <p:nvPr/>
        </p:nvSpPr>
        <p:spPr>
          <a:xfrm>
            <a:off x="66040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コロナ前と比べ、接触回数が「減少した」営業職員が55.5%（2023年調査）</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4" name="Card1_Body">
            <a:extLst>
              <a:ext uri="{FF2B5EF4-FFF2-40B4-BE49-F238E27FC236}">
                <a16:creationId xmlns:a16="http://schemas.microsoft.com/office/drawing/2014/main" id="{4D793872-6303-5CAB-0032-0CF8F2E827B9}"/>
              </a:ext>
            </a:extLst>
          </p:cNvPr>
          <p:cNvSpPr txBox="1"/>
          <p:nvPr/>
        </p:nvSpPr>
        <p:spPr>
          <a:xfrm>
            <a:off x="3810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毎年ほぼ同じ規模の方が、営業を続けている</a:t>
            </a:r>
          </a:p>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一度つながった方に、次のイベントも届けられる</a:t>
            </a:r>
          </a:p>
          <a:p>
            <a:pPr marL="171450" indent="-171450">
              <a:spcBef>
                <a:spcPts val="200"/>
              </a:spcBef>
              <a:buClr>
                <a:srgbClr val="1F2A5C"/>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6" name="Card2_Body">
            <a:extLst>
              <a:ext uri="{FF2B5EF4-FFF2-40B4-BE49-F238E27FC236}">
                <a16:creationId xmlns:a16="http://schemas.microsoft.com/office/drawing/2014/main" id="{FBD69C87-50C1-1FB7-B8EB-D2F245D2012C}"/>
              </a:ext>
            </a:extLst>
          </p:cNvPr>
          <p:cNvSpPr txBox="1"/>
          <p:nvPr/>
        </p:nvSpPr>
        <p:spPr>
          <a:xfrm>
            <a:off x="34925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保険の加入は、今も営業職員が中心</a:t>
            </a:r>
          </a:p>
          <a:p>
            <a:pPr marL="171450" indent="-171450">
              <a:spcBef>
                <a:spcPts val="200"/>
              </a:spcBef>
              <a:buClr>
                <a:srgbClr val="4A6FA5"/>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営業力を上げたいニーズは続く</a:t>
            </a:r>
          </a:p>
          <a:p>
            <a:pPr marL="171450" indent="-171450">
              <a:spcBef>
                <a:spcPts val="200"/>
              </a:spcBef>
              <a:buClr>
                <a:srgbClr val="4A6FA5"/>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8" name="Card3_Body">
            <a:extLst>
              <a:ext uri="{FF2B5EF4-FFF2-40B4-BE49-F238E27FC236}">
                <a16:creationId xmlns:a16="http://schemas.microsoft.com/office/drawing/2014/main" id="{A5C634F4-8754-3DE6-64E2-704CF74E07EF}"/>
              </a:ext>
            </a:extLst>
          </p:cNvPr>
          <p:cNvSpPr txBox="1"/>
          <p:nvPr/>
        </p:nvSpPr>
        <p:spPr>
          <a:xfrm>
            <a:off x="66040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お客様と会える回数が減っている</a:t>
            </a:r>
          </a:p>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成果を出す営業のやり方が求められている</a:t>
            </a:r>
          </a:p>
          <a:p>
            <a:pPr marL="171450" indent="-171450">
              <a:spcBef>
                <a:spcPts val="200"/>
              </a:spcBef>
              <a:buClr>
                <a:srgbClr val="1F2A5C"/>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9" name="矢印: 下 38">
            <a:extLst>
              <a:ext uri="{FF2B5EF4-FFF2-40B4-BE49-F238E27FC236}">
                <a16:creationId xmlns:a16="http://schemas.microsoft.com/office/drawing/2014/main" id="{BA24D6FA-F12D-EEEA-58E0-4E8D7E5B054F}"/>
              </a:ext>
            </a:extLst>
          </p:cNvPr>
          <p:cNvSpPr/>
          <p:nvPr/>
        </p:nvSpPr>
        <p:spPr>
          <a:xfrm>
            <a:off x="1297577"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1" name="矢印: 下 40">
            <a:extLst>
              <a:ext uri="{FF2B5EF4-FFF2-40B4-BE49-F238E27FC236}">
                <a16:creationId xmlns:a16="http://schemas.microsoft.com/office/drawing/2014/main" id="{142BC3DE-B10E-3A60-51E8-71FB62C8E8FE}"/>
              </a:ext>
            </a:extLst>
          </p:cNvPr>
          <p:cNvSpPr/>
          <p:nvPr/>
        </p:nvSpPr>
        <p:spPr>
          <a:xfrm>
            <a:off x="4404360"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3" name="矢印: 下 42">
            <a:extLst>
              <a:ext uri="{FF2B5EF4-FFF2-40B4-BE49-F238E27FC236}">
                <a16:creationId xmlns:a16="http://schemas.microsoft.com/office/drawing/2014/main" id="{E8BF74FD-3839-8A1C-870B-B0506D93B9EE}"/>
              </a:ext>
            </a:extLst>
          </p:cNvPr>
          <p:cNvSpPr/>
          <p:nvPr/>
        </p:nvSpPr>
        <p:spPr>
          <a:xfrm>
            <a:off x="7515860"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6" name="グラフの見出し"/>
          <p:cNvSpPr/>
          <p:nvPr/>
        </p:nvSpPr>
        <p:spPr>
          <a:xfrm>
            <a:off x="640080" y="3566160"/>
            <a:ext cx="8595360" cy="274320"/>
          </a:xfrm>
          <a:prstGeom prst="rect">
            <a:avLst/>
          </a:prstGeom>
          <a:noFill/>
          <a:ln>
            <a:noFill/>
          </a:ln>
        </p:spPr>
        <p:txBody>
          <a:bodyPr wrap="square" lIns="0" tIns="0" rIns="0" bIns="0" rtlCol="0" anchor="ctr">
            <a:noAutofit/>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生命保険の営業職員数（各年度末・名）</a:t>
            </a:r>
            <a:endParaRPr lang="ja-JP" altLang="en-US" sz="1200" dirty="0">
              <a:latin typeface="メイリオ"/>
              <a:ea typeface="メイリオ"/>
              <a:cs typeface="メイリオ"/>
            </a:endParaRPr>
          </a:p>
        </p:txBody>
      </p:sp>
      <p:sp>
        <p:nvSpPr>
          <p:cNvPr id="47" name="棒 2020年度"/>
          <p:cNvSpPr/>
          <p:nvPr/>
        </p:nvSpPr>
        <p:spPr>
          <a:xfrm>
            <a:off x="1051560" y="4168707"/>
            <a:ext cx="1005840" cy="1454852"/>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48" name="値 2020年度"/>
          <p:cNvSpPr/>
          <p:nvPr/>
        </p:nvSpPr>
        <p:spPr>
          <a:xfrm>
            <a:off x="868680" y="3894387"/>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248,601</a:t>
            </a:r>
            <a:endParaRPr lang="ja-JP" altLang="en-US" sz="1200" dirty="0">
              <a:latin typeface="メイリオ"/>
              <a:ea typeface="メイリオ"/>
              <a:cs typeface="メイリオ"/>
            </a:endParaRPr>
          </a:p>
        </p:txBody>
      </p:sp>
      <p:sp>
        <p:nvSpPr>
          <p:cNvPr id="49" name="年度 2020年度"/>
          <p:cNvSpPr/>
          <p:nvPr/>
        </p:nvSpPr>
        <p:spPr>
          <a:xfrm>
            <a:off x="86868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2020年度</a:t>
            </a:r>
            <a:endParaRPr lang="ja-JP" altLang="en-US" sz="1200" dirty="0">
              <a:latin typeface="メイリオ"/>
              <a:ea typeface="メイリオ"/>
              <a:cs typeface="メイリオ"/>
            </a:endParaRPr>
          </a:p>
        </p:txBody>
      </p:sp>
      <p:sp>
        <p:nvSpPr>
          <p:cNvPr id="50" name="棒 2021年度"/>
          <p:cNvSpPr/>
          <p:nvPr/>
        </p:nvSpPr>
        <p:spPr>
          <a:xfrm>
            <a:off x="2743200" y="4201795"/>
            <a:ext cx="1005840" cy="1421764"/>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1" name="値 2021年度"/>
          <p:cNvSpPr/>
          <p:nvPr/>
        </p:nvSpPr>
        <p:spPr>
          <a:xfrm>
            <a:off x="2560320" y="3927475"/>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242,947</a:t>
            </a:r>
            <a:endParaRPr lang="ja-JP" altLang="en-US" sz="1200" dirty="0">
              <a:latin typeface="メイリオ"/>
              <a:ea typeface="メイリオ"/>
              <a:cs typeface="メイリオ"/>
            </a:endParaRPr>
          </a:p>
        </p:txBody>
      </p:sp>
      <p:sp>
        <p:nvSpPr>
          <p:cNvPr id="52" name="年度 2021年度"/>
          <p:cNvSpPr/>
          <p:nvPr/>
        </p:nvSpPr>
        <p:spPr>
          <a:xfrm>
            <a:off x="256032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2021年度</a:t>
            </a:r>
            <a:endParaRPr lang="ja-JP" altLang="en-US" sz="1200" dirty="0">
              <a:latin typeface="メイリオ"/>
              <a:ea typeface="メイリオ"/>
              <a:cs typeface="メイリオ"/>
            </a:endParaRPr>
          </a:p>
        </p:txBody>
      </p:sp>
      <p:sp>
        <p:nvSpPr>
          <p:cNvPr id="53" name="棒 2022年度"/>
          <p:cNvSpPr/>
          <p:nvPr/>
        </p:nvSpPr>
        <p:spPr>
          <a:xfrm>
            <a:off x="4434840" y="4177602"/>
            <a:ext cx="1005840" cy="1445957"/>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4" name="値 2022年度"/>
          <p:cNvSpPr/>
          <p:nvPr/>
        </p:nvSpPr>
        <p:spPr>
          <a:xfrm>
            <a:off x="4251960" y="3903282"/>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247,081</a:t>
            </a:r>
            <a:endParaRPr lang="ja-JP" altLang="en-US" sz="1200" dirty="0">
              <a:latin typeface="メイリオ"/>
              <a:ea typeface="メイリオ"/>
              <a:cs typeface="メイリオ"/>
            </a:endParaRPr>
          </a:p>
        </p:txBody>
      </p:sp>
      <p:sp>
        <p:nvSpPr>
          <p:cNvPr id="55" name="年度 2022年度"/>
          <p:cNvSpPr/>
          <p:nvPr/>
        </p:nvSpPr>
        <p:spPr>
          <a:xfrm>
            <a:off x="425196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2022年度</a:t>
            </a:r>
            <a:endParaRPr lang="ja-JP" altLang="en-US" sz="1200" dirty="0">
              <a:latin typeface="メイリオ"/>
              <a:ea typeface="メイリオ"/>
              <a:cs typeface="メイリオ"/>
            </a:endParaRPr>
          </a:p>
        </p:txBody>
      </p:sp>
      <p:sp>
        <p:nvSpPr>
          <p:cNvPr id="56" name="棒 2023年度"/>
          <p:cNvSpPr/>
          <p:nvPr/>
        </p:nvSpPr>
        <p:spPr>
          <a:xfrm>
            <a:off x="6126480" y="4213757"/>
            <a:ext cx="1005840" cy="1409802"/>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7" name="値 2023年度"/>
          <p:cNvSpPr/>
          <p:nvPr/>
        </p:nvSpPr>
        <p:spPr>
          <a:xfrm>
            <a:off x="5943600" y="3939437"/>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240,903</a:t>
            </a:r>
            <a:endParaRPr lang="ja-JP" altLang="en-US" sz="1200" dirty="0">
              <a:latin typeface="メイリオ"/>
              <a:ea typeface="メイリオ"/>
              <a:cs typeface="メイリオ"/>
            </a:endParaRPr>
          </a:p>
        </p:txBody>
      </p:sp>
      <p:sp>
        <p:nvSpPr>
          <p:cNvPr id="58" name="年度 2023年度"/>
          <p:cNvSpPr/>
          <p:nvPr/>
        </p:nvSpPr>
        <p:spPr>
          <a:xfrm>
            <a:off x="594360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2023年度</a:t>
            </a:r>
            <a:endParaRPr lang="ja-JP" altLang="en-US" sz="1200" dirty="0">
              <a:latin typeface="メイリオ"/>
              <a:ea typeface="メイリオ"/>
              <a:cs typeface="メイリオ"/>
            </a:endParaRPr>
          </a:p>
        </p:txBody>
      </p:sp>
      <p:sp>
        <p:nvSpPr>
          <p:cNvPr id="59" name="棒 2024年度"/>
          <p:cNvSpPr/>
          <p:nvPr/>
        </p:nvSpPr>
        <p:spPr>
          <a:xfrm>
            <a:off x="7818120" y="4210222"/>
            <a:ext cx="1005840" cy="1413337"/>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60" name="値 2024年度"/>
          <p:cNvSpPr/>
          <p:nvPr/>
        </p:nvSpPr>
        <p:spPr>
          <a:xfrm>
            <a:off x="7635240" y="3935902"/>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241,507</a:t>
            </a:r>
            <a:endParaRPr lang="ja-JP" altLang="en-US" sz="1200" dirty="0">
              <a:latin typeface="メイリオ"/>
              <a:ea typeface="メイリオ"/>
              <a:cs typeface="メイリオ"/>
            </a:endParaRPr>
          </a:p>
        </p:txBody>
      </p:sp>
      <p:sp>
        <p:nvSpPr>
          <p:cNvPr id="61" name="年度 2024年度"/>
          <p:cNvSpPr/>
          <p:nvPr/>
        </p:nvSpPr>
        <p:spPr>
          <a:xfrm>
            <a:off x="763524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2024年度</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544728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　＞　貴社施策内で検討の訴求軸</a:t>
            </a:r>
            <a:endParaRPr sz="1600" b="1" dirty="0">
              <a:solidFill>
                <a:srgbClr val="002060"/>
              </a:solidFill>
              <a:latin typeface="メイリオ"/>
              <a:ea typeface="メイリオ"/>
              <a:cs typeface="メイリオ"/>
              <a:sym typeface="Meiryo"/>
            </a:endParaRPr>
          </a:p>
        </p:txBody>
      </p:sp>
      <p:sp>
        <p:nvSpPr>
          <p:cNvPr id="7" name="Card1_Title">
            <a:extLst>
              <a:ext uri="{FF2B5EF4-FFF2-40B4-BE49-F238E27FC236}">
                <a16:creationId xmlns:a16="http://schemas.microsoft.com/office/drawing/2014/main" id="{1BFDD1F8-BBF3-4DF7-5884-297BE569EC3E}"/>
              </a:ext>
            </a:extLst>
          </p:cNvPr>
          <p:cNvSpPr txBox="1"/>
          <p:nvPr/>
        </p:nvSpPr>
        <p:spPr>
          <a:xfrm>
            <a:off x="381000" y="677092"/>
            <a:ext cx="2921000"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野沢塾</a:t>
            </a:r>
          </a:p>
        </p:txBody>
      </p:sp>
      <p:sp>
        <p:nvSpPr>
          <p:cNvPr id="12" name="Card1_Body">
            <a:extLst>
              <a:ext uri="{FF2B5EF4-FFF2-40B4-BE49-F238E27FC236}">
                <a16:creationId xmlns:a16="http://schemas.microsoft.com/office/drawing/2014/main" id="{5B59792A-DE46-0634-56D9-2B8FBF96C379}"/>
              </a:ext>
            </a:extLst>
          </p:cNvPr>
          <p:cNvSpPr txBox="1"/>
          <p:nvPr/>
        </p:nvSpPr>
        <p:spPr>
          <a:xfrm>
            <a:off x="3810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保険営業の方向けの講座（月2回）</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サイトのボタンから友だち追加</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あいさつで特典の動画を届ける</a:t>
            </a:r>
          </a:p>
        </p:txBody>
      </p:sp>
      <p:sp>
        <p:nvSpPr>
          <p:cNvPr id="14" name="Card2_Title">
            <a:extLst>
              <a:ext uri="{FF2B5EF4-FFF2-40B4-BE49-F238E27FC236}">
                <a16:creationId xmlns:a16="http://schemas.microsoft.com/office/drawing/2014/main" id="{B77B5039-F6BC-E3F9-574B-5813CDB633F9}"/>
              </a:ext>
            </a:extLst>
          </p:cNvPr>
          <p:cNvSpPr txBox="1"/>
          <p:nvPr/>
        </p:nvSpPr>
        <p:spPr>
          <a:xfrm>
            <a:off x="3492500" y="677092"/>
            <a:ext cx="2921000" cy="457200"/>
          </a:xfrm>
          <a:prstGeom prst="rect">
            <a:avLst/>
          </a:prstGeom>
          <a:solidFill>
            <a:schemeClr val="accent1">
              <a:lumMod val="20000"/>
              <a:lumOff val="80000"/>
            </a:schemeClr>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R&amp;C保険営業ラボ</a:t>
            </a:r>
          </a:p>
        </p:txBody>
      </p:sp>
      <p:sp>
        <p:nvSpPr>
          <p:cNvPr id="16" name="Card2_Body">
            <a:extLst>
              <a:ext uri="{FF2B5EF4-FFF2-40B4-BE49-F238E27FC236}">
                <a16:creationId xmlns:a16="http://schemas.microsoft.com/office/drawing/2014/main" id="{31AB5D72-3A3C-E445-05CF-4BE9AAB4B3C3}"/>
              </a:ext>
            </a:extLst>
          </p:cNvPr>
          <p:cNvSpPr txBox="1"/>
          <p:nvPr/>
        </p:nvSpPr>
        <p:spPr>
          <a:xfrm>
            <a:off x="34925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保険営業の方向けの無料の学習サービス（2026年9月開始）</a:t>
            </a:r>
          </a:p>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登録時の5問のアンケートに合わせて、資料・動画を段階的に配信</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18" name="Card3_Title">
            <a:extLst>
              <a:ext uri="{FF2B5EF4-FFF2-40B4-BE49-F238E27FC236}">
                <a16:creationId xmlns:a16="http://schemas.microsoft.com/office/drawing/2014/main" id="{8EC5AF78-5D13-EC67-F0AD-F54E096AA397}"/>
              </a:ext>
            </a:extLst>
          </p:cNvPr>
          <p:cNvSpPr txBox="1"/>
          <p:nvPr/>
        </p:nvSpPr>
        <p:spPr>
          <a:xfrm>
            <a:off x="6604000" y="677092"/>
            <a:ext cx="2921000"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貴社の訴求軸</a:t>
            </a:r>
          </a:p>
        </p:txBody>
      </p:sp>
      <p:sp>
        <p:nvSpPr>
          <p:cNvPr id="20" name="Card3_Body">
            <a:extLst>
              <a:ext uri="{FF2B5EF4-FFF2-40B4-BE49-F238E27FC236}">
                <a16:creationId xmlns:a16="http://schemas.microsoft.com/office/drawing/2014/main" id="{72AF2293-D8B8-25E7-3F3D-40F12C1E03B3}"/>
              </a:ext>
            </a:extLst>
          </p:cNvPr>
          <p:cNvSpPr txBox="1"/>
          <p:nvPr/>
        </p:nvSpPr>
        <p:spPr>
          <a:xfrm>
            <a:off x="66040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イベントの予約・参加に合わせた案内</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参加後、サロンの入会へつなげる</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2" name="テキスト ボックス 21">
            <a:extLst>
              <a:ext uri="{FF2B5EF4-FFF2-40B4-BE49-F238E27FC236}">
                <a16:creationId xmlns:a16="http://schemas.microsoft.com/office/drawing/2014/main" id="{4CCBCA82-D6DB-24F4-C957-F66DF547D94E}"/>
              </a:ext>
            </a:extLst>
          </p:cNvPr>
          <p:cNvSpPr txBox="1"/>
          <p:nvPr/>
        </p:nvSpPr>
        <p:spPr>
          <a:xfrm>
            <a:off x="384048" y="5943600"/>
            <a:ext cx="9098280" cy="219456"/>
          </a:xfrm>
          <a:prstGeom prst="rect">
            <a:avLst/>
          </a:prstGeom>
          <a:noFill/>
        </p:spPr>
        <p:txBody>
          <a:bodyPr wrap="square">
            <a:spAutoFit/>
          </a:bodyPr>
          <a:lstStyle/>
          <a:p>
            <a:pPr algn="r"/>
            <a:r>
              <a:rPr lang="en-US" altLang="ja-JP" sz="900" b="1" dirty="0">
                <a:solidFill>
                  <a:schemeClr val="bg1">
                    <a:lumMod val="65000"/>
                  </a:schemeClr>
                </a:solidFill>
                <a:latin typeface="メイリオ" panose="020B0604030504040204" pitchFamily="50" charset="-128"/>
                <a:ea typeface="メイリオ" panose="020B0604030504040204" pitchFamily="50" charset="-128"/>
                <a:cs typeface="メイリオ"/>
              </a:rPr>
              <a:t>※野沢塾：LINE公式アカウント（2026年10月19日確認）・公式サイト（2026年10月18日確認）より。画面の名前とパスワードは伏せている</a:t>
            </a:r>
            <a:endParaRPr lang="ja-JP" altLang="en-US" sz="1400" b="1" dirty="0">
              <a:solidFill>
                <a:schemeClr val="bg1">
                  <a:lumMod val="65000"/>
                </a:schemeClr>
              </a:solidFill>
              <a:latin typeface="メイリオ"/>
              <a:ea typeface="メイリオ"/>
              <a:cs typeface="メイリオ"/>
            </a:endParaRPr>
          </a:p>
        </p:txBody>
      </p:sp>
      <p:sp>
        <p:nvSpPr>
          <p:cNvPr id="24" name="テキスト ボックス 23">
            <a:extLst>
              <a:ext uri="{FF2B5EF4-FFF2-40B4-BE49-F238E27FC236}">
                <a16:creationId xmlns:a16="http://schemas.microsoft.com/office/drawing/2014/main" id="{CC601D0D-5305-FCEB-BD05-F88C9C00ADE3}"/>
              </a:ext>
            </a:extLst>
          </p:cNvPr>
          <p:cNvSpPr txBox="1"/>
          <p:nvPr/>
        </p:nvSpPr>
        <p:spPr>
          <a:xfrm>
            <a:off x="384048" y="6163056"/>
            <a:ext cx="9098280" cy="219456"/>
          </a:xfrm>
          <a:prstGeom prst="rect">
            <a:avLst/>
          </a:prstGeom>
          <a:noFill/>
        </p:spPr>
        <p:txBody>
          <a:bodyPr wrap="square">
            <a:spAutoFit/>
          </a:bodyPr>
          <a:lstStyle/>
          <a:p>
            <a:pPr algn="r"/>
            <a:r>
              <a:rPr lang="en-US" altLang="ja-JP" sz="900" b="1" dirty="0">
                <a:solidFill>
                  <a:schemeClr val="bg1">
                    <a:lumMod val="65000"/>
                  </a:schemeClr>
                </a:solidFill>
                <a:latin typeface="メイリオ" panose="020B0604030504040204" pitchFamily="50" charset="-128"/>
                <a:ea typeface="メイリオ" panose="020B0604030504040204" pitchFamily="50" charset="-128"/>
                <a:cs typeface="メイリオ"/>
              </a:rPr>
              <a:t>※R&amp;C保険営業ラボ：R&amp;C株式会社のプレスリリースより。招待制のため、画面は未掲載</a:t>
            </a:r>
            <a:endParaRPr lang="ja-JP" altLang="en-US" sz="1400" b="1" dirty="0">
              <a:solidFill>
                <a:schemeClr val="bg1">
                  <a:lumMod val="65000"/>
                </a:schemeClr>
              </a:solidFill>
              <a:latin typeface="メイリオ"/>
              <a:ea typeface="メイリオ"/>
              <a:cs typeface="メイリオ"/>
            </a:endParaRPr>
          </a:p>
        </p:txBody>
      </p:sp>
      <p:pic>
        <p:nvPicPr>
          <p:cNvPr id="46" name="Picture 45" descr="image.png"/>
          <p:cNvPicPr>
            <a:picLocks noChangeAspect="1"/>
          </p:cNvPicPr>
          <p:nvPr/>
        </p:nvPicPr>
        <p:blipFill>
          <a:blip r:embed="rId3"/>
          <a:stretch>
            <a:fillRect/>
          </a:stretch>
        </p:blipFill>
        <p:spPr>
          <a:xfrm>
            <a:off x="1920845" y="2265155"/>
            <a:ext cx="1449467" cy="3139641"/>
          </a:xfrm>
          <a:prstGeom prst="rect">
            <a:avLst/>
          </a:prstGeom>
        </p:spPr>
      </p:pic>
      <p:sp>
        <p:nvSpPr>
          <p:cNvPr id="47" name="画像の説明"/>
          <p:cNvSpPr/>
          <p:nvPr/>
        </p:nvSpPr>
        <p:spPr>
          <a:xfrm>
            <a:off x="780858" y="5450516"/>
            <a:ext cx="3729441" cy="256032"/>
          </a:xfrm>
          <a:prstGeom prst="rect">
            <a:avLst/>
          </a:prstGeom>
          <a:noFill/>
          <a:ln>
            <a:noFill/>
          </a:ln>
        </p:spPr>
        <p:txBody>
          <a:bodyPr wrap="square" lIns="0" tIns="0" rIns="0" bIns="0" rtlCol="0" anchor="t">
            <a:noAutofit/>
          </a:bodyPr>
          <a:lstStyle/>
          <a:p>
            <a:pPr algn="ctr">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野沢塾のあいさつ（LINE公式アカウント）</a:t>
            </a:r>
            <a:endParaRPr lang="ja-JP" altLang="en-US" sz="1200" dirty="0">
              <a:latin typeface="メイリオ"/>
              <a:ea typeface="メイリオ"/>
              <a:cs typeface="メイリオ"/>
            </a:endParaRPr>
          </a:p>
        </p:txBody>
      </p:sp>
      <p:sp>
        <p:nvSpPr>
          <p:cNvPr id="48" name="他社のまとめ"/>
          <p:cNvSpPr/>
          <p:nvPr/>
        </p:nvSpPr>
        <p:spPr>
          <a:xfrm>
            <a:off x="4800600" y="2377440"/>
            <a:ext cx="4480560" cy="1188720"/>
          </a:xfrm>
          <a:prstGeom prst="rect">
            <a:avLst/>
          </a:prstGeom>
          <a:solidFill>
            <a:srgbClr val="E5E8EE"/>
          </a:solidFill>
          <a:ln>
            <a:noFill/>
          </a:ln>
        </p:spPr>
        <p:txBody>
          <a:bodyPr wrap="square" lIns="73152" tIns="36576" rIns="73152" bIns="36576" rtlCol="0" anchor="ctr">
            <a:noAutofit/>
          </a:bodyPr>
          <a:lstStyle/>
          <a:p>
            <a:pPr algn="ctr">
              <a:lnSpc>
                <a:spcPct val="12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保険営業の方向けの他社も、LINEで特典を渡し、</a:t>
            </a:r>
            <a:endParaRPr lang="ja-JP" altLang="en-US" sz="1200" dirty="0">
              <a:latin typeface="メイリオ"/>
              <a:ea typeface="メイリオ"/>
              <a:cs typeface="メイリオ"/>
            </a:endParaRPr>
          </a:p>
          <a:p>
            <a:pPr algn="ctr">
              <a:lnSpc>
                <a:spcPct val="12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友だちに学びを届けている</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861406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52E0E886-3FF7-1177-80B0-EC2CDD9EFAA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sp>
        <p:nvSpPr>
          <p:cNvPr id="26" name="正方形/長方形 25">
            <a:extLst>
              <a:ext uri="{FF2B5EF4-FFF2-40B4-BE49-F238E27FC236}">
                <a16:creationId xmlns:a16="http://schemas.microsoft.com/office/drawing/2014/main" id="{C4E20CB5-EE4A-545E-031C-B0FF76AEE517}"/>
              </a:ext>
            </a:extLst>
          </p:cNvPr>
          <p:cNvSpPr/>
          <p:nvPr/>
        </p:nvSpPr>
        <p:spPr>
          <a:xfrm>
            <a:off x="503966" y="775227"/>
            <a:ext cx="8898070" cy="297590"/>
          </a:xfrm>
          <a:prstGeom prst="rect">
            <a:avLst/>
          </a:prstGeom>
          <a:solidFill>
            <a:schemeClr val="tx2">
              <a:lumMod val="75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プロモーション目的</a:t>
            </a:r>
          </a:p>
        </p:txBody>
      </p:sp>
      <p:sp>
        <p:nvSpPr>
          <p:cNvPr id="27" name="正方形/長方形 26">
            <a:extLst>
              <a:ext uri="{FF2B5EF4-FFF2-40B4-BE49-F238E27FC236}">
                <a16:creationId xmlns:a16="http://schemas.microsoft.com/office/drawing/2014/main" id="{A773DE68-F51A-B2B7-A85F-DDEF158DE1E8}"/>
              </a:ext>
            </a:extLst>
          </p:cNvPr>
          <p:cNvSpPr/>
          <p:nvPr/>
        </p:nvSpPr>
        <p:spPr>
          <a:xfrm>
            <a:off x="503967" y="1090870"/>
            <a:ext cx="8898070" cy="525365"/>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600" b="1" dirty="0">
                <a:solidFill>
                  <a:srgbClr val="333333"/>
                </a:solidFill>
                <a:latin typeface="メイリオ"/>
                <a:ea typeface="メイリオ"/>
                <a:cs typeface="メイリオ"/>
              </a:rPr>
              <a:t>広告で集めた方をLINEにため、次のイベント参加数・入会数を伸ばし、LTVを最大化する</a:t>
            </a:r>
            <a:endParaRPr lang="en-US" altLang="ja-JP"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0" name="正方形/長方形 29">
            <a:extLst>
              <a:ext uri="{FF2B5EF4-FFF2-40B4-BE49-F238E27FC236}">
                <a16:creationId xmlns:a16="http://schemas.microsoft.com/office/drawing/2014/main" id="{FAB8E792-C2AE-2097-2C3E-326F4730D6FF}"/>
              </a:ext>
            </a:extLst>
          </p:cNvPr>
          <p:cNvSpPr/>
          <p:nvPr/>
        </p:nvSpPr>
        <p:spPr>
          <a:xfrm>
            <a:off x="503965" y="3316813"/>
            <a:ext cx="8898070" cy="366112"/>
          </a:xfrm>
          <a:prstGeom prst="rect">
            <a:avLst/>
          </a:prstGeom>
          <a:solidFill>
            <a:schemeClr val="accent1">
              <a:lumMod val="20000"/>
              <a:lumOff val="80000"/>
            </a:scheme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solidFill>
                  <a:schemeClr val="accent1">
                    <a:lumMod val="75000"/>
                  </a:schemeClr>
                </a:solidFill>
                <a:effectLst/>
                <a:latin typeface="メイリオ" panose="020B0604030504040204" pitchFamily="50" charset="-128"/>
                <a:ea typeface="メイリオ" panose="020B0604030504040204" pitchFamily="50" charset="-128"/>
                <a:cs typeface="メイリオ" panose="020B0604030504040204" pitchFamily="50" charset="-128"/>
              </a:rPr>
              <a:t>手法</a:t>
            </a:r>
          </a:p>
        </p:txBody>
      </p:sp>
      <p:sp>
        <p:nvSpPr>
          <p:cNvPr id="32" name="正方形/長方形 31">
            <a:extLst>
              <a:ext uri="{FF2B5EF4-FFF2-40B4-BE49-F238E27FC236}">
                <a16:creationId xmlns:a16="http://schemas.microsoft.com/office/drawing/2014/main" id="{6CB99AAC-0BEA-E7FB-6909-1C7C68EDF323}"/>
              </a:ext>
            </a:extLst>
          </p:cNvPr>
          <p:cNvSpPr/>
          <p:nvPr/>
        </p:nvSpPr>
        <p:spPr>
          <a:xfrm>
            <a:off x="503965" y="3761653"/>
            <a:ext cx="8898070" cy="2704296"/>
          </a:xfrm>
          <a:prstGeom prst="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・ポップアップツールとサンクスLINE誘導で、友だちを集める</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LPを離れる方と、セミナーを予約した方を、次のイベントまで追える友だちに。</a:t>
            </a:r>
            <a:endParaRPr lang="en-US" altLang="ja-JP"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・興味あり・予約・参加の段階ごとに、案内を変える</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見どころ動画・参加特典 → 前日・当日のお知らせ → サロンの申込みフォーム。</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・平常期の配信で、次のイベントまでつながりを保つ</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イベントの無い時期は月2回に絞り、ブロックを抑えながら追える人数を積み上げる。</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＋α施策として…。</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・過去のセミナー予約者・参加者へのご案内</a:t>
            </a:r>
            <a:r>
              <a:rPr lang="ja-JP" altLang="en-US" sz="1200"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rPr>
              <a:t>　※通知メッセージ</a:t>
            </a:r>
            <a:endParaRPr lang="ja-JP" altLang="en-US" sz="12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過去の予約者の情報（電話番号）を保有している場合、リストを活用した配信が可能。</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・サロンの申込み完了ページからのLINE誘導</a:t>
            </a:r>
            <a:r>
              <a:rPr lang="ja-JP" altLang="en-US" sz="1200"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rPr>
              <a:t>　※サンクスLINE誘導</a:t>
            </a:r>
          </a:p>
        </p:txBody>
      </p:sp>
      <p:sp>
        <p:nvSpPr>
          <p:cNvPr id="33" name="正方形/長方形 32">
            <a:extLst>
              <a:ext uri="{FF2B5EF4-FFF2-40B4-BE49-F238E27FC236}">
                <a16:creationId xmlns:a16="http://schemas.microsoft.com/office/drawing/2014/main" id="{ADCEEB55-8D79-5D37-18D6-691241A3FC15}"/>
              </a:ext>
            </a:extLst>
          </p:cNvPr>
          <p:cNvSpPr/>
          <p:nvPr/>
        </p:nvSpPr>
        <p:spPr>
          <a:xfrm>
            <a:off x="503965" y="1675570"/>
            <a:ext cx="8898070" cy="38600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配信目標</a:t>
            </a:r>
          </a:p>
        </p:txBody>
      </p:sp>
      <p:sp>
        <p:nvSpPr>
          <p:cNvPr id="46" name="MainMessage">
            <a:extLst>
              <a:ext uri="{FF2B5EF4-FFF2-40B4-BE49-F238E27FC236}">
                <a16:creationId xmlns:a16="http://schemas.microsoft.com/office/drawing/2014/main" id="{B60D9D01-8FD5-9835-8DEB-82316620ED03}"/>
              </a:ext>
            </a:extLst>
          </p:cNvPr>
          <p:cNvSpPr txBox="1"/>
          <p:nvPr/>
        </p:nvSpPr>
        <p:spPr>
          <a:xfrm>
            <a:off x="503965" y="2120908"/>
            <a:ext cx="8898070" cy="750567"/>
          </a:xfrm>
          <a:prstGeom prst="rect">
            <a:avLst/>
          </a:prstGeom>
          <a:solidFill>
            <a:srgbClr val="F0F2F7"/>
          </a:solidFill>
          <a:ln w="9525">
            <a:solidFill>
              <a:srgbClr val="1F2A5C"/>
            </a:solidFill>
          </a:ln>
        </p:spPr>
        <p:txBody>
          <a:bodyPr wrap="square" lIns="91440" tIns="45720" rIns="91440" bIns="45720" anchor="t"/>
          <a:lstStyle/>
          <a:p>
            <a:pPr algn="ctr">
              <a:lnSpc>
                <a:spcPct val="140000"/>
              </a:lnSpc>
            </a:pPr>
            <a:r>
              <a:rPr lang="ja-JP" sz="1400" b="1" dirty="0">
                <a:solidFill>
                  <a:srgbClr val="1F2A5C"/>
                </a:solidFill>
                <a:latin typeface="メイリオ" panose="020B0604030504040204" pitchFamily="50" charset="-128"/>
                <a:ea typeface="メイリオ" panose="020B0604030504040204" pitchFamily="50" charset="-128"/>
                <a:cs typeface="メイリオ"/>
              </a:rPr>
              <a:t>6か月目に追える人数90人（ブロックされずに届く友だち）を目指す。</a:t>
            </a:r>
            <a:endParaRPr lang="en-US" altLang="ja-JP" sz="1400" b="1" dirty="0">
              <a:solidFill>
                <a:srgbClr val="1F2A5C"/>
              </a:solidFill>
              <a:latin typeface="メイリオ" panose="020B0604030504040204" pitchFamily="50" charset="-128"/>
              <a:ea typeface="メイリオ" panose="020B0604030504040204" pitchFamily="50" charset="-128"/>
              <a:cs typeface="メイリオ"/>
            </a:endParaRPr>
          </a:p>
          <a:p>
            <a:pPr algn="ctr">
              <a:lnSpc>
                <a:spcPct val="140000"/>
              </a:lnSpc>
            </a:pPr>
            <a:r>
              <a:rPr lang="ja-JP" sz="1400" b="1">
                <a:solidFill>
                  <a:srgbClr val="1F2A5C"/>
                </a:solidFill>
                <a:latin typeface="メイリオ" panose="020B0604030504040204" pitchFamily="50" charset="-128"/>
                <a:ea typeface="メイリオ" panose="020B0604030504040204" pitchFamily="50" charset="-128"/>
                <a:cs typeface="メイリオ"/>
              </a:rPr>
              <a:t>イベント期はセミナー予約・参加、イベントの後はサロン入会へつなげる。</a:t>
            </a:r>
          </a:p>
        </p:txBody>
      </p:sp>
      <p:sp>
        <p:nvSpPr>
          <p:cNvPr id="62" name="二等辺三角形 61">
            <a:extLst>
              <a:ext uri="{FF2B5EF4-FFF2-40B4-BE49-F238E27FC236}">
                <a16:creationId xmlns:a16="http://schemas.microsoft.com/office/drawing/2014/main" id="{BDCBA122-1D1B-AA97-B52C-2A548E75BE5F}"/>
              </a:ext>
            </a:extLst>
          </p:cNvPr>
          <p:cNvSpPr/>
          <p:nvPr/>
        </p:nvSpPr>
        <p:spPr>
          <a:xfrm rot="10800000">
            <a:off x="1013700" y="2923543"/>
            <a:ext cx="7965031" cy="486852"/>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dirty="0">
              <a:latin typeface="メイリオ" panose="020B0604030504040204" pitchFamily="50" charset="-128"/>
              <a:ea typeface="メイリオ" panose="020B0604030504040204" pitchFamily="50" charset="-128"/>
              <a:cs typeface="メイリオ"/>
            </a:endParaRPr>
          </a:p>
        </p:txBody>
      </p:sp>
      <p:sp>
        <p:nvSpPr>
          <p:cNvPr id="64" name="テキスト ボックス 4">
            <a:extLst>
              <a:ext uri="{FF2B5EF4-FFF2-40B4-BE49-F238E27FC236}">
                <a16:creationId xmlns:a16="http://schemas.microsoft.com/office/drawing/2014/main" id="{BF9B56DF-9875-62DA-48F0-98868F99F5FE}"/>
              </a:ext>
            </a:extLst>
          </p:cNvPr>
          <p:cNvSpPr txBox="1"/>
          <p:nvPr/>
        </p:nvSpPr>
        <p:spPr>
          <a:xfrm>
            <a:off x="3893204" y="2960246"/>
            <a:ext cx="2236946" cy="369332"/>
          </a:xfrm>
          <a:prstGeom prst="rect">
            <a:avLst/>
          </a:prstGeom>
          <a:noFill/>
        </p:spPr>
        <p:txBody>
          <a:bodyPr wrap="square" rtlCol="0">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弊社からのご提案</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36620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1E1262C-B08E-666E-F81E-61EAC1407B87}"/>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sp>
        <p:nvSpPr>
          <p:cNvPr id="8" name="PointsHeader">
            <a:extLst>
              <a:ext uri="{FF2B5EF4-FFF2-40B4-BE49-F238E27FC236}">
                <a16:creationId xmlns:a16="http://schemas.microsoft.com/office/drawing/2014/main" id="{615C4560-11D3-77B5-6718-3703C15CA5D8}"/>
              </a:ext>
            </a:extLst>
          </p:cNvPr>
          <p:cNvSpPr txBox="1"/>
          <p:nvPr/>
        </p:nvSpPr>
        <p:spPr>
          <a:xfrm>
            <a:off x="522756" y="1009344"/>
            <a:ext cx="9144000" cy="279400"/>
          </a:xfrm>
          <a:prstGeom prst="rect">
            <a:avLst/>
          </a:prstGeom>
          <a:noFill/>
          <a:ln>
            <a:noFill/>
          </a:ln>
        </p:spPr>
        <p:txBody>
          <a:bodyPr wrap="square" lIns="91440" tIns="45720" rIns="91440" bIns="45720" anchor="t"/>
          <a:lstStyle/>
          <a:p>
            <a:r>
              <a:rPr lang="ja-JP" sz="1400" b="1" dirty="0">
                <a:solidFill>
                  <a:srgbClr val="1F2A5C"/>
                </a:solidFill>
                <a:latin typeface="メイリオ" panose="020B0604030504040204" pitchFamily="50" charset="-128"/>
                <a:ea typeface="メイリオ" panose="020B0604030504040204" pitchFamily="50" charset="-128"/>
                <a:cs typeface="メイリオ"/>
              </a:rPr>
              <a:t>本質課題：イベントが終わると、集めた方との接点が切れる</a:t>
            </a:r>
          </a:p>
        </p:txBody>
      </p:sp>
      <p:sp>
        <p:nvSpPr>
          <p:cNvPr id="10" name="PointBar1">
            <a:extLst>
              <a:ext uri="{FF2B5EF4-FFF2-40B4-BE49-F238E27FC236}">
                <a16:creationId xmlns:a16="http://schemas.microsoft.com/office/drawing/2014/main" id="{C7DEC4BE-D769-656F-80D1-A073D7D39B14}"/>
              </a:ext>
            </a:extLst>
          </p:cNvPr>
          <p:cNvSpPr txBox="1"/>
          <p:nvPr/>
        </p:nvSpPr>
        <p:spPr>
          <a:xfrm>
            <a:off x="522756" y="1364944"/>
            <a:ext cx="457200" cy="50800"/>
          </a:xfrm>
          <a:prstGeom prst="rect">
            <a:avLst/>
          </a:prstGeom>
          <a:solidFill>
            <a:srgbClr val="1F2A5C"/>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12" name="PointText1">
            <a:extLst>
              <a:ext uri="{FF2B5EF4-FFF2-40B4-BE49-F238E27FC236}">
                <a16:creationId xmlns:a16="http://schemas.microsoft.com/office/drawing/2014/main" id="{2033FE09-931A-0BF7-9C77-FCBD753258FB}"/>
              </a:ext>
            </a:extLst>
          </p:cNvPr>
          <p:cNvSpPr txBox="1"/>
          <p:nvPr/>
        </p:nvSpPr>
        <p:spPr>
          <a:xfrm>
            <a:off x="5227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1F2A5C"/>
                </a:solidFill>
                <a:latin typeface="メイリオ" panose="020B0604030504040204" pitchFamily="50" charset="-128"/>
                <a:ea typeface="メイリオ" panose="020B0604030504040204" pitchFamily="50" charset="-128"/>
                <a:cs typeface="メイリオ"/>
              </a:rPr>
              <a:t>01 集める</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離れる方・予約した方を、友だちにする手段が無い。</a:t>
            </a:r>
          </a:p>
        </p:txBody>
      </p:sp>
      <p:sp>
        <p:nvSpPr>
          <p:cNvPr id="14" name="PointBar2">
            <a:extLst>
              <a:ext uri="{FF2B5EF4-FFF2-40B4-BE49-F238E27FC236}">
                <a16:creationId xmlns:a16="http://schemas.microsoft.com/office/drawing/2014/main" id="{DB62AD08-1E7E-F83F-C786-B77729A3E5C3}"/>
              </a:ext>
            </a:extLst>
          </p:cNvPr>
          <p:cNvSpPr txBox="1"/>
          <p:nvPr/>
        </p:nvSpPr>
        <p:spPr>
          <a:xfrm>
            <a:off x="3634256" y="1364944"/>
            <a:ext cx="457200" cy="50800"/>
          </a:xfrm>
          <a:prstGeom prst="rect">
            <a:avLst/>
          </a:prstGeom>
          <a:solidFill>
            <a:srgbClr val="4A6FA5"/>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16" name="PointText2">
            <a:extLst>
              <a:ext uri="{FF2B5EF4-FFF2-40B4-BE49-F238E27FC236}">
                <a16:creationId xmlns:a16="http://schemas.microsoft.com/office/drawing/2014/main" id="{42A785C2-DABF-0508-2085-C2DDBECB7EFE}"/>
              </a:ext>
            </a:extLst>
          </p:cNvPr>
          <p:cNvSpPr txBox="1"/>
          <p:nvPr/>
        </p:nvSpPr>
        <p:spPr>
          <a:xfrm>
            <a:off x="36342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4A6FA5"/>
                </a:solidFill>
                <a:latin typeface="メイリオ" panose="020B0604030504040204" pitchFamily="50" charset="-128"/>
                <a:ea typeface="メイリオ" panose="020B0604030504040204" pitchFamily="50" charset="-128"/>
                <a:cs typeface="メイリオ"/>
              </a:rPr>
              <a:t>02 追う</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次のイベントまで、情報を届ける手段が無い。</a:t>
            </a:r>
          </a:p>
        </p:txBody>
      </p:sp>
      <p:sp>
        <p:nvSpPr>
          <p:cNvPr id="18" name="PointBar3">
            <a:extLst>
              <a:ext uri="{FF2B5EF4-FFF2-40B4-BE49-F238E27FC236}">
                <a16:creationId xmlns:a16="http://schemas.microsoft.com/office/drawing/2014/main" id="{1118F87F-BACD-735A-EBEC-11186FDE8BB4}"/>
              </a:ext>
            </a:extLst>
          </p:cNvPr>
          <p:cNvSpPr txBox="1"/>
          <p:nvPr/>
        </p:nvSpPr>
        <p:spPr>
          <a:xfrm>
            <a:off x="6745756" y="1364944"/>
            <a:ext cx="457200" cy="50800"/>
          </a:xfrm>
          <a:prstGeom prst="rect">
            <a:avLst/>
          </a:prstGeom>
          <a:solidFill>
            <a:srgbClr val="F2F2F2"/>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20" name="PointText3">
            <a:extLst>
              <a:ext uri="{FF2B5EF4-FFF2-40B4-BE49-F238E27FC236}">
                <a16:creationId xmlns:a16="http://schemas.microsoft.com/office/drawing/2014/main" id="{BCC9596F-D039-3698-8BF4-96F93A100013}"/>
              </a:ext>
            </a:extLst>
          </p:cNvPr>
          <p:cNvSpPr txBox="1"/>
          <p:nvPr/>
        </p:nvSpPr>
        <p:spPr>
          <a:xfrm>
            <a:off x="67457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1F2A5C"/>
                </a:solidFill>
                <a:latin typeface="メイリオ" panose="020B0604030504040204" pitchFamily="50" charset="-128"/>
                <a:ea typeface="メイリオ" panose="020B0604030504040204" pitchFamily="50" charset="-128"/>
                <a:cs typeface="メイリオ"/>
              </a:rPr>
              <a:t>03 つなげる</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参加した方に、入会を案内する手段が無い。</a:t>
            </a:r>
          </a:p>
        </p:txBody>
      </p:sp>
      <p:sp>
        <p:nvSpPr>
          <p:cNvPr id="22" name="Card1_Title">
            <a:extLst>
              <a:ext uri="{FF2B5EF4-FFF2-40B4-BE49-F238E27FC236}">
                <a16:creationId xmlns:a16="http://schemas.microsoft.com/office/drawing/2014/main" id="{158619A4-8A31-BE94-703F-4958B5725C84}"/>
              </a:ext>
            </a:extLst>
          </p:cNvPr>
          <p:cNvSpPr txBox="1"/>
          <p:nvPr/>
        </p:nvSpPr>
        <p:spPr>
          <a:xfrm>
            <a:off x="522756" y="3130857"/>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レバー①友だち獲得</a:t>
            </a:r>
          </a:p>
        </p:txBody>
      </p:sp>
      <p:sp>
        <p:nvSpPr>
          <p:cNvPr id="24" name="Card1_Body">
            <a:extLst>
              <a:ext uri="{FF2B5EF4-FFF2-40B4-BE49-F238E27FC236}">
                <a16:creationId xmlns:a16="http://schemas.microsoft.com/office/drawing/2014/main" id="{0591B75C-4032-FF85-1619-85480346C68B}"/>
              </a:ext>
            </a:extLst>
          </p:cNvPr>
          <p:cNvSpPr txBox="1"/>
          <p:nvPr/>
        </p:nvSpPr>
        <p:spPr>
          <a:xfrm>
            <a:off x="5227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ポップアップツールで、LPを離れる方を友だちに</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サンクスLINE誘導で、予約した方を友だちに</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8" name="Card2_Title">
            <a:extLst>
              <a:ext uri="{FF2B5EF4-FFF2-40B4-BE49-F238E27FC236}">
                <a16:creationId xmlns:a16="http://schemas.microsoft.com/office/drawing/2014/main" id="{FBA18ADF-68C9-3C6A-AF9F-C0983A9FA610}"/>
              </a:ext>
            </a:extLst>
          </p:cNvPr>
          <p:cNvSpPr txBox="1"/>
          <p:nvPr/>
        </p:nvSpPr>
        <p:spPr>
          <a:xfrm>
            <a:off x="3634256" y="3130857"/>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レバー②予約・参加の向上</a:t>
            </a:r>
          </a:p>
        </p:txBody>
      </p:sp>
      <p:sp>
        <p:nvSpPr>
          <p:cNvPr id="31" name="Card2_Body">
            <a:extLst>
              <a:ext uri="{FF2B5EF4-FFF2-40B4-BE49-F238E27FC236}">
                <a16:creationId xmlns:a16="http://schemas.microsoft.com/office/drawing/2014/main" id="{C6C8B9B3-D69C-0AD1-CB41-2692B3F564E3}"/>
              </a:ext>
            </a:extLst>
          </p:cNvPr>
          <p:cNvSpPr txBox="1"/>
          <p:nvPr/>
        </p:nvSpPr>
        <p:spPr>
          <a:xfrm>
            <a:off x="36342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見どころ動画・参加特典で、予約へ</a:t>
            </a:r>
          </a:p>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前日・当日のお知らせで、当日の参加へ</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5" name="Card3_Title">
            <a:extLst>
              <a:ext uri="{FF2B5EF4-FFF2-40B4-BE49-F238E27FC236}">
                <a16:creationId xmlns:a16="http://schemas.microsoft.com/office/drawing/2014/main" id="{08BFDF2D-75D7-62F5-F661-0B055C86365E}"/>
              </a:ext>
            </a:extLst>
          </p:cNvPr>
          <p:cNvSpPr txBox="1"/>
          <p:nvPr/>
        </p:nvSpPr>
        <p:spPr>
          <a:xfrm>
            <a:off x="6745756" y="3130857"/>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レバー③入会の向上</a:t>
            </a:r>
          </a:p>
        </p:txBody>
      </p:sp>
      <p:sp>
        <p:nvSpPr>
          <p:cNvPr id="37" name="Card3_Body">
            <a:extLst>
              <a:ext uri="{FF2B5EF4-FFF2-40B4-BE49-F238E27FC236}">
                <a16:creationId xmlns:a16="http://schemas.microsoft.com/office/drawing/2014/main" id="{6FB492E1-4B54-CC21-DF0B-BC7C63ED2C23}"/>
              </a:ext>
            </a:extLst>
          </p:cNvPr>
          <p:cNvSpPr txBox="1"/>
          <p:nvPr/>
        </p:nvSpPr>
        <p:spPr>
          <a:xfrm>
            <a:off x="67457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イベント直後に、サロンの申込みフォームを案内</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平常期の配信で、次のイベントまでつながる</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572955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cs typeface="メイリオ"/>
              </a:rPr>
              <a:t>概算お見積り：6か月で、追える人数90人・セミナー予約11件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初期</a:t>
            </a:r>
            <a:endParaRPr lang="en-US" sz="1400" b="0" u="none" strike="noStrike">
              <a:solidFill>
                <a:srgbClr val="FFFFFF"/>
              </a:solidFill>
              <a:effectLst/>
              <a:uFillTx/>
              <a:latin typeface="メイリオ"/>
              <a:ea typeface="メイリオ"/>
              <a:cs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月次</a:t>
            </a:r>
            <a:endParaRPr lang="en-US" sz="1400" b="0" u="none" strike="noStrike">
              <a:solidFill>
                <a:srgbClr val="FFFFFF"/>
              </a:solidFill>
              <a:effectLst/>
              <a:uFillTx/>
              <a:latin typeface="メイリオ"/>
              <a:ea typeface="メイリオ"/>
              <a:cs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¥295,000〜</a:t>
            </a:r>
            <a:endParaRPr lang="en-US" sz="1600" b="0" u="none" strike="noStrike">
              <a:solidFill>
                <a:srgbClr val="000000"/>
              </a:solidFill>
              <a:effectLst/>
              <a:uFillTx/>
              <a:latin typeface="メイリオ"/>
              <a:ea typeface="メイリオ"/>
              <a:cs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開催月 ¥365,000</a:t>
            </a:r>
            <a:endParaRPr lang="en-US" sz="1600" b="0" u="none" strike="noStrike">
              <a:solidFill>
                <a:srgbClr val="000000"/>
              </a:solidFill>
              <a:effectLst/>
              <a:uFillTx/>
              <a:latin typeface="メイリオ"/>
              <a:ea typeface="メイリオ"/>
              <a:cs typeface="メイリオ"/>
            </a:endParaRPr>
          </a:p>
          <a:p>
            <a:pPr algn="ctr" defTabSz="914400">
              <a:lnSpc>
                <a:spcPct val="100000"/>
              </a:lnSpc>
            </a:pPr>
            <a:r>
              <a:rPr lang="en-US" sz="1600" b="1" u="none" strike="noStrike">
                <a:solidFill>
                  <a:schemeClr val="dk1"/>
                </a:solidFill>
                <a:effectLst/>
                <a:uFillTx/>
                <a:latin typeface="メイリオ"/>
                <a:ea typeface="メイリオ"/>
                <a:cs typeface="メイリオ"/>
              </a:rPr>
              <a:t>平常期 ¥165,000</a:t>
            </a:r>
            <a:endParaRPr lang="en-US" sz="1600" b="0" u="none" strike="noStrike">
              <a:solidFill>
                <a:srgbClr val="000000"/>
              </a:solidFill>
              <a:effectLst/>
              <a:uFillTx/>
              <a:latin typeface="メイリオ"/>
              <a:ea typeface="メイリオ"/>
              <a:cs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cs typeface="メイリオ"/>
              </a:rPr>
              <a:t>6</a:t>
            </a:r>
            <a:r>
              <a:rPr lang="ja-JP" sz="1400" b="0" u="none" strike="noStrike">
                <a:solidFill>
                  <a:schemeClr val="lt1"/>
                </a:solidFill>
                <a:effectLst/>
                <a:uFillTx/>
                <a:latin typeface="メイリオ"/>
                <a:ea typeface="メイリオ"/>
                <a:cs typeface="メイリオ"/>
              </a:rPr>
              <a:t>か月後</a:t>
            </a:r>
            <a:endParaRPr lang="en-US" sz="1400" b="0" u="none" strike="noStrike">
              <a:solidFill>
                <a:srgbClr val="FFFFFF"/>
              </a:solidFill>
              <a:effectLst/>
              <a:uFillTx/>
              <a:latin typeface="メイリオ"/>
              <a:ea typeface="メイリオ"/>
              <a:cs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企画配信</a:t>
            </a:r>
            <a:endParaRPr lang="en-US" sz="1300" b="0" u="none" strike="noStrike">
              <a:solidFill>
                <a:srgbClr val="FFFFFF"/>
              </a:solidFill>
              <a:effectLst/>
              <a:uFillTx/>
              <a:latin typeface="メイリオ"/>
              <a:ea typeface="メイリオ"/>
              <a:cs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200" b="0" u="none" strike="noStrike">
                <a:solidFill>
                  <a:schemeClr val="dk1"/>
                </a:solidFill>
                <a:effectLst/>
                <a:uFillTx/>
                <a:latin typeface="メイリオ"/>
                <a:ea typeface="メイリオ"/>
                <a:cs typeface="メイリオ"/>
              </a:rPr>
              <a:t>開催月 4〜5回</a:t>
            </a:r>
            <a:endParaRPr lang="en-US" sz="1300" b="0" u="none" strike="noStrike">
              <a:solidFill>
                <a:srgbClr val="000000"/>
              </a:solidFill>
              <a:effectLst/>
              <a:uFillTx/>
              <a:latin typeface="メイリオ"/>
              <a:ea typeface="メイリオ"/>
              <a:cs typeface="メイリオ"/>
            </a:endParaRPr>
          </a:p>
          <a:p>
            <a:pPr algn="ctr" defTabSz="914400">
              <a:lnSpc>
                <a:spcPct val="100000"/>
              </a:lnSpc>
            </a:pPr>
            <a:r>
              <a:rPr lang="zh-CN" sz="1200" b="0" u="none" strike="noStrike">
                <a:solidFill>
                  <a:schemeClr val="dk1"/>
                </a:solidFill>
                <a:effectLst/>
                <a:uFillTx/>
                <a:latin typeface="メイリオ"/>
                <a:ea typeface="メイリオ"/>
                <a:cs typeface="メイリオ"/>
              </a:rPr>
              <a:t>平常期 2回</a:t>
            </a:r>
            <a:endParaRPr lang="en-US" sz="1300" b="0" u="none" strike="noStrike">
              <a:solidFill>
                <a:srgbClr val="000000"/>
              </a:solidFill>
              <a:effectLst/>
              <a:uFillTx/>
              <a:latin typeface="メイリオ"/>
              <a:ea typeface="メイリオ"/>
              <a:cs typeface="メイリオ"/>
            </a:endParaRPr>
          </a:p>
        </p:txBody>
      </p:sp>
      <p:sp>
        <p:nvSpPr>
          <p:cNvPr id="351" name="正方形/長方形 32"/>
          <p:cNvSpPr/>
          <p:nvPr/>
        </p:nvSpPr>
        <p:spPr>
          <a:xfrm>
            <a:off x="33832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dirty="0">
                <a:solidFill>
                  <a:schemeClr val="lt1"/>
                </a:solidFill>
                <a:effectLst/>
                <a:uFillTx/>
                <a:latin typeface="メイリオ"/>
                <a:ea typeface="メイリオ"/>
                <a:cs typeface="メイリオ"/>
              </a:rPr>
              <a:t>セミナー前日の</a:t>
            </a:r>
            <a:endParaRPr lang="en-US" sz="1200" b="0" u="none" strike="noStrike" dirty="0">
              <a:solidFill>
                <a:srgbClr val="FFFFFF"/>
              </a:solidFill>
              <a:effectLst/>
              <a:uFillTx/>
              <a:latin typeface="メイリオ"/>
              <a:ea typeface="メイリオ"/>
              <a:cs typeface="メイリオ"/>
            </a:endParaRPr>
          </a:p>
          <a:p>
            <a:pPr algn="ctr" defTabSz="914400">
              <a:lnSpc>
                <a:spcPct val="90000"/>
              </a:lnSpc>
            </a:pPr>
            <a:r>
              <a:rPr lang="ja-JP" sz="1200" b="0" u="none" strike="noStrike" dirty="0">
                <a:solidFill>
                  <a:schemeClr val="lt1"/>
                </a:solidFill>
                <a:effectLst/>
                <a:uFillTx/>
                <a:latin typeface="メイリオ"/>
                <a:ea typeface="メイリオ"/>
                <a:cs typeface="メイリオ"/>
              </a:rPr>
              <a:t>お知らせ</a:t>
            </a:r>
            <a:endParaRPr lang="en-US" sz="1200" b="0" u="none" strike="noStrike" dirty="0">
              <a:solidFill>
                <a:srgbClr val="FFFFFF"/>
              </a:solidFill>
              <a:effectLst/>
              <a:uFillTx/>
              <a:latin typeface="メイリオ"/>
              <a:ea typeface="メイリオ"/>
              <a:cs typeface="メイリオ"/>
            </a:endParaRPr>
          </a:p>
        </p:txBody>
      </p:sp>
      <p:sp>
        <p:nvSpPr>
          <p:cNvPr id="352" name="正方形/長方形 36"/>
          <p:cNvSpPr/>
          <p:nvPr/>
        </p:nvSpPr>
        <p:spPr>
          <a:xfrm>
            <a:off x="48463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予約ごとに配信</a:t>
            </a:r>
            <a:endParaRPr lang="en-US" sz="1200" b="0" u="none" strike="noStrike">
              <a:solidFill>
                <a:srgbClr val="000000"/>
              </a:solidFill>
              <a:effectLst/>
              <a:uFillTx/>
              <a:latin typeface="メイリオ"/>
              <a:ea typeface="メイリオ"/>
              <a:cs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ステップ配信</a:t>
            </a:r>
            <a:endParaRPr lang="en-US" sz="1300" b="0" u="none" strike="noStrike" dirty="0">
              <a:solidFill>
                <a:srgbClr val="FFFFFF"/>
              </a:solidFill>
              <a:effectLst/>
              <a:uFillTx/>
              <a:latin typeface="メイリオ"/>
              <a:ea typeface="メイリオ"/>
              <a:cs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5通の改善</a:t>
            </a:r>
            <a:endParaRPr lang="en-US" sz="1300" b="0" u="none" strike="noStrike">
              <a:solidFill>
                <a:srgbClr val="000000"/>
              </a:solidFill>
              <a:effectLst/>
              <a:uFillTx/>
              <a:latin typeface="メイリオ"/>
              <a:ea typeface="メイリオ"/>
              <a:cs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友だちの入口</a:t>
            </a:r>
            <a:endParaRPr lang="en-US" sz="1300" b="0" u="none" strike="noStrike">
              <a:solidFill>
                <a:srgbClr val="FFFFFF"/>
              </a:solidFill>
              <a:effectLst/>
              <a:uFillTx/>
              <a:latin typeface="メイリオ"/>
              <a:ea typeface="メイリオ"/>
              <a:cs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運用</a:t>
            </a:r>
            <a:endParaRPr lang="en-US" sz="1300" b="0" u="none" strike="noStrike">
              <a:solidFill>
                <a:srgbClr val="000000"/>
              </a:solidFill>
              <a:effectLst/>
              <a:uFillTx/>
              <a:latin typeface="メイリオ"/>
              <a:ea typeface="メイリオ"/>
              <a:cs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個別チャット</a:t>
            </a:r>
            <a:endParaRPr lang="en-US" sz="1300" b="0" u="none" strike="noStrike" dirty="0">
              <a:solidFill>
                <a:srgbClr val="FFFFFF"/>
              </a:solidFill>
              <a:effectLst/>
              <a:uFillTx/>
              <a:latin typeface="メイリオ"/>
              <a:ea typeface="メイリオ"/>
              <a:cs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貴社で対応</a:t>
            </a:r>
            <a:endParaRPr lang="en-US" sz="1300" b="0" u="none" strike="noStrike">
              <a:solidFill>
                <a:srgbClr val="000000"/>
              </a:solidFill>
              <a:effectLst/>
              <a:uFillTx/>
              <a:latin typeface="メイリオ"/>
              <a:ea typeface="メイリオ"/>
              <a:cs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友だち数</a:t>
            </a:r>
            <a:endParaRPr lang="en-US" sz="1400" b="0" u="none" strike="noStrike">
              <a:solidFill>
                <a:srgbClr val="000000"/>
              </a:solidFill>
              <a:effectLst/>
              <a:uFillTx/>
              <a:latin typeface="メイリオ"/>
              <a:ea typeface="メイリオ"/>
              <a:cs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追える人数</a:t>
            </a:r>
            <a:endParaRPr lang="en-US" sz="1400" b="0" u="none" strike="noStrike">
              <a:solidFill>
                <a:srgbClr val="000000"/>
              </a:solidFill>
              <a:effectLst/>
              <a:uFillTx/>
              <a:latin typeface="メイリオ"/>
              <a:ea typeface="メイリオ"/>
              <a:cs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セミナー予約</a:t>
            </a:r>
            <a:endParaRPr lang="en-US" sz="1400" b="0" u="none" strike="noStrike">
              <a:solidFill>
                <a:srgbClr val="000000"/>
              </a:solidFill>
              <a:effectLst/>
              <a:uFillTx/>
              <a:latin typeface="メイリオ"/>
              <a:ea typeface="メイリオ"/>
              <a:cs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ポップアップ</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ツール</a:t>
            </a:r>
            <a:endParaRPr lang="en-US" sz="1300" b="0" u="none" strike="noStrike">
              <a:solidFill>
                <a:srgbClr val="FFFFFF"/>
              </a:solidFill>
              <a:effectLst/>
              <a:uFillTx/>
              <a:latin typeface="メイリオ"/>
              <a:ea typeface="メイリオ"/>
              <a:cs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cs typeface="メイリオ"/>
              </a:rPr>
              <a:t>導入</a:t>
            </a:r>
            <a:endParaRPr lang="en-US" sz="1300" b="0" u="none" strike="noStrike">
              <a:solidFill>
                <a:srgbClr val="000000"/>
              </a:solidFill>
              <a:effectLst/>
              <a:uFillTx/>
              <a:latin typeface="メイリオ"/>
              <a:ea typeface="メイリオ"/>
              <a:cs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サンクス</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LINE誘導</a:t>
            </a:r>
            <a:endParaRPr lang="en-US" sz="1300" b="0" u="none" strike="noStrike">
              <a:solidFill>
                <a:srgbClr val="FFFFFF"/>
              </a:solidFill>
              <a:effectLst/>
              <a:uFillTx/>
              <a:latin typeface="メイリオ"/>
              <a:ea typeface="メイリオ"/>
              <a:cs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導入</a:t>
            </a:r>
            <a:endParaRPr lang="en-US" sz="1300" b="0" u="none" strike="noStrike">
              <a:solidFill>
                <a:srgbClr val="000000"/>
              </a:solidFill>
              <a:effectLst/>
              <a:uFillTx/>
              <a:latin typeface="メイリオ"/>
              <a:ea typeface="メイリオ"/>
              <a:cs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LINE公式</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アカウント開設</a:t>
            </a:r>
            <a:endParaRPr lang="en-US" sz="1300" b="0" u="none" strike="noStrike">
              <a:solidFill>
                <a:srgbClr val="FFFFFF"/>
              </a:solidFill>
              <a:effectLst/>
              <a:uFillTx/>
              <a:latin typeface="メイリオ"/>
              <a:ea typeface="メイリオ"/>
              <a:cs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対応</a:t>
            </a:r>
            <a:endParaRPr lang="en-US" sz="1300" b="0" u="none" strike="noStrike">
              <a:solidFill>
                <a:srgbClr val="000000"/>
              </a:solidFill>
              <a:effectLst/>
              <a:uFillTx/>
              <a:latin typeface="メイリオ"/>
              <a:ea typeface="メイリオ"/>
              <a:cs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5通を構築</a:t>
            </a:r>
            <a:endParaRPr lang="en-US" sz="1300" b="0" u="none" strike="noStrike">
              <a:solidFill>
                <a:srgbClr val="000000"/>
              </a:solidFill>
              <a:effectLst/>
              <a:uFillTx/>
              <a:latin typeface="メイリオ"/>
              <a:ea typeface="メイリオ"/>
              <a:cs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配信の設計</a:t>
            </a:r>
            <a:endParaRPr lang="en-US" sz="1300" b="0" u="none" strike="noStrike">
              <a:solidFill>
                <a:srgbClr val="FFFFFF"/>
              </a:solidFill>
              <a:effectLst/>
              <a:uFillTx/>
              <a:latin typeface="メイリオ"/>
              <a:ea typeface="メイリオ"/>
              <a:cs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8フェーズで設計</a:t>
            </a:r>
            <a:endParaRPr lang="en-US" sz="1300" b="0" u="none" strike="noStrike">
              <a:solidFill>
                <a:srgbClr val="000000"/>
              </a:solidFill>
              <a:effectLst/>
              <a:uFillTx/>
              <a:latin typeface="メイリオ"/>
              <a:ea typeface="メイリオ"/>
              <a:cs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cs typeface="メイリオ"/>
              </a:rPr>
              <a:t>131人</a:t>
            </a:r>
            <a:endParaRPr lang="en-US" sz="1400" b="0" u="none" strike="noStrike">
              <a:solidFill>
                <a:srgbClr val="000000"/>
              </a:solidFill>
              <a:effectLst/>
              <a:uFillTx/>
              <a:latin typeface="メイリオ"/>
              <a:ea typeface="メイリオ"/>
              <a:cs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90人</a:t>
            </a:r>
            <a:endParaRPr lang="en-US" sz="1400" b="0" u="none" strike="noStrike">
              <a:solidFill>
                <a:srgbClr val="000000"/>
              </a:solidFill>
              <a:effectLst/>
              <a:uFillTx/>
              <a:latin typeface="メイリオ"/>
              <a:ea typeface="メイリオ"/>
              <a:cs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11件/6か月</a:t>
            </a:r>
            <a:endParaRPr lang="en-US" sz="1400" b="0" u="none" strike="noStrike">
              <a:solidFill>
                <a:srgbClr val="000000"/>
              </a:solidFill>
              <a:effectLst/>
              <a:uFillTx/>
              <a:latin typeface="メイリオ"/>
              <a:ea typeface="メイリオ"/>
              <a:cs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cs typeface="メイリオ"/>
              </a:rPr>
              <a:t>プラン②｜イベントに合わせた運用で、集めた方を友だちにし、次のセミナー予約・入会へつなげる</a:t>
            </a:r>
            <a:endParaRPr lang="en-US" sz="1400" b="0" u="none" strike="noStrike">
              <a:solidFill>
                <a:srgbClr val="000000"/>
              </a:solidFill>
              <a:effectLst/>
              <a:uFillTx/>
              <a:latin typeface="メイリオ"/>
              <a:ea typeface="メイリオ"/>
              <a:cs typeface="メイリオ"/>
            </a:endParaRPr>
          </a:p>
        </p:txBody>
      </p:sp>
      <p:sp>
        <p:nvSpPr>
          <p:cNvPr id="382" name="正方形/長方形 85"/>
          <p:cNvSpPr/>
          <p:nvPr/>
        </p:nvSpPr>
        <p:spPr>
          <a:xfrm>
            <a:off x="6812280" y="3383424"/>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サロン入会</a:t>
            </a:r>
            <a:endParaRPr lang="en-US" sz="1400" b="0" u="none" strike="noStrike">
              <a:solidFill>
                <a:srgbClr val="000000"/>
              </a:solidFill>
              <a:effectLst/>
              <a:uFillTx/>
              <a:latin typeface="メイリオ"/>
              <a:ea typeface="メイリオ"/>
              <a:cs typeface="メイリオ"/>
            </a:endParaRPr>
          </a:p>
        </p:txBody>
      </p:sp>
      <p:sp>
        <p:nvSpPr>
          <p:cNvPr id="383" name="テキスト ボックス 26"/>
          <p:cNvSpPr/>
          <p:nvPr/>
        </p:nvSpPr>
        <p:spPr>
          <a:xfrm>
            <a:off x="8256960" y="3383424"/>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4件/6か月</a:t>
            </a:r>
            <a:endParaRPr lang="en-US" sz="1400" b="0" u="none" strike="noStrike">
              <a:solidFill>
                <a:srgbClr val="000000"/>
              </a:solidFill>
              <a:effectLst/>
              <a:uFillTx/>
              <a:latin typeface="メイリオ"/>
              <a:ea typeface="メイリオ"/>
              <a:cs typeface="メイリオ"/>
            </a:endParaRPr>
          </a:p>
        </p:txBody>
      </p:sp>
      <p:sp>
        <p:nvSpPr>
          <p:cNvPr id="3" name="正方形/長方形 57">
            <a:extLst>
              <a:ext uri="{FF2B5EF4-FFF2-40B4-BE49-F238E27FC236}">
                <a16:creationId xmlns:a16="http://schemas.microsoft.com/office/drawing/2014/main" id="{F866D691-36CB-2858-C7C4-274E9BD31295}"/>
              </a:ext>
            </a:extLst>
          </p:cNvPr>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b="0" u="none" strike="noStrike" dirty="0">
                <a:solidFill>
                  <a:schemeClr val="lt1"/>
                </a:solidFill>
                <a:effectLst/>
                <a:uFillTx/>
                <a:latin typeface="メイリオ"/>
                <a:ea typeface="メイリオ"/>
                <a:cs typeface="メイリオ"/>
              </a:rPr>
              <a:t>月次レポート</a:t>
            </a:r>
            <a:r>
              <a:rPr lang="ja-JP" altLang="en-US" sz="1300" dirty="0">
                <a:solidFill>
                  <a:srgbClr val="FFFFFF"/>
                </a:solidFill>
                <a:latin typeface="メイリオ"/>
                <a:ea typeface="メイリオ"/>
                <a:cs typeface="メイリオ"/>
              </a:rPr>
              <a:t>・</a:t>
            </a:r>
            <a:endParaRPr lang="en-US" altLang="ja-JP" sz="1300" dirty="0">
              <a:solidFill>
                <a:srgbClr val="FFFFFF"/>
              </a:solidFill>
              <a:latin typeface="メイリオ"/>
              <a:ea typeface="メイリオ"/>
              <a:cs typeface="メイリオ"/>
            </a:endParaRPr>
          </a:p>
          <a:p>
            <a:pPr algn="ctr" defTabSz="914400">
              <a:lnSpc>
                <a:spcPct val="100000"/>
              </a:lnSpc>
            </a:pPr>
            <a:r>
              <a:rPr lang="ja-JP" altLang="en-US" sz="1300" b="0" u="none" strike="noStrike" dirty="0">
                <a:solidFill>
                  <a:srgbClr val="FFFFFF"/>
                </a:solidFill>
                <a:effectLst/>
                <a:uFillTx/>
                <a:latin typeface="メイリオ"/>
                <a:ea typeface="メイリオ"/>
                <a:cs typeface="メイリオ"/>
              </a:rPr>
              <a:t>定例会</a:t>
            </a:r>
            <a:endParaRPr lang="en-US" altLang="ja-JP" sz="1300" b="0" u="none" strike="noStrike" dirty="0">
              <a:solidFill>
                <a:schemeClr val="lt1"/>
              </a:solidFill>
              <a:effectLst/>
              <a:uFillTx/>
              <a:latin typeface="メイリオ"/>
              <a:ea typeface="メイリオ"/>
              <a:cs typeface="メイリオ"/>
            </a:endParaRPr>
          </a:p>
        </p:txBody>
      </p:sp>
      <p:sp>
        <p:nvSpPr>
          <p:cNvPr id="5" name="正方形/長方形 61">
            <a:extLst>
              <a:ext uri="{FF2B5EF4-FFF2-40B4-BE49-F238E27FC236}">
                <a16:creationId xmlns:a16="http://schemas.microsoft.com/office/drawing/2014/main" id="{916B9146-7BB6-4276-D5B6-30DF19D48AA1}"/>
              </a:ext>
            </a:extLst>
          </p:cNvPr>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dirty="0">
                <a:solidFill>
                  <a:schemeClr val="dk1"/>
                </a:solidFill>
                <a:latin typeface="メイリオ"/>
                <a:ea typeface="メイリオ"/>
                <a:cs typeface="メイリオ"/>
              </a:rPr>
              <a:t>月１回</a:t>
            </a:r>
            <a:endParaRPr lang="en-US" sz="1300" b="0" u="none" strike="noStrike" dirty="0">
              <a:solidFill>
                <a:srgbClr val="000000"/>
              </a:solidFill>
              <a:effectLst/>
              <a:uFillTx/>
              <a:latin typeface="メイリオ"/>
              <a:ea typeface="メイリオ"/>
              <a:cs typeface="メイリオ"/>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アカウント効果を</a:t>
            </a:r>
            <a:r>
              <a:rPr lang="ja-JP" altLang="en-US" sz="2400" b="1" dirty="0">
                <a:latin typeface="メイリオ" panose="020B0604030504040204" pitchFamily="50" charset="-128"/>
                <a:ea typeface="メイリオ" panose="020B0604030504040204" pitchFamily="50" charset="-128"/>
                <a:cs typeface="メイリオ"/>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LINEOA</a:t>
            </a:r>
            <a:r>
              <a:rPr kumimoji="1" lang="ja-JP" altLang="en-US" sz="1400" dirty="0">
                <a:latin typeface="メイリオ" panose="020B0604030504040204" pitchFamily="50" charset="-128"/>
                <a:ea typeface="メイリオ" panose="020B0604030504040204" pitchFamily="50" charset="-128"/>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LINE友だち追加～15日を境に大きくアクティブ率が下がる（ブロック率が上がる）</a:t>
            </a:r>
          </a:p>
          <a:p>
            <a:r>
              <a:rPr lang="ja-JP" altLang="en-US" sz="1600" b="1" dirty="0">
                <a:latin typeface="メイリオ" panose="020B0604030504040204" pitchFamily="50" charset="-128"/>
                <a:ea typeface="メイリオ" panose="020B0604030504040204" pitchFamily="50" charset="-128"/>
                <a:cs typeface="メイリオ"/>
                <a:sym typeface="Meiryo"/>
              </a:rPr>
              <a:t>為、段階に合わせて配信を変え、イベントの無い時期は回数を絞る。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1F2A5C"/>
                </a:solidFill>
                <a:latin typeface="メイリオ" panose="020B0604030504040204" pitchFamily="50" charset="-128"/>
                <a:ea typeface="メイリオ" panose="020B0604030504040204" pitchFamily="50" charset="-128"/>
                <a:cs typeface="メイリオ"/>
                <a:sym typeface="Meiryo"/>
              </a:rPr>
              <a:t>15</a:t>
            </a:r>
            <a:r>
              <a:rPr lang="ja-JP" altLang="en-US" sz="1200" b="1" dirty="0">
                <a:solidFill>
                  <a:srgbClr val="1F2A5C"/>
                </a:solidFill>
                <a:latin typeface="メイリオ" panose="020B0604030504040204" pitchFamily="50" charset="-128"/>
                <a:ea typeface="メイリオ" panose="020B0604030504040204" pitchFamily="50" charset="-128"/>
                <a:cs typeface="メイリオ"/>
                <a:sym typeface="Meiryo"/>
              </a:rPr>
              <a:t>日後</a:t>
            </a:r>
            <a:endParaRPr lang="ja-JP" altLang="en-US" sz="12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メイリオ"/>
                <a:sym typeface="Meiryo"/>
              </a:rPr>
              <a:t>30</a:t>
            </a:r>
            <a:r>
              <a:rPr lang="ja-JP" altLang="en-US" sz="1200" b="1" dirty="0">
                <a:latin typeface="メイリオ" panose="020B0604030504040204" pitchFamily="50" charset="-128"/>
                <a:ea typeface="メイリオ" panose="020B0604030504040204" pitchFamily="50" charset="-128"/>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  </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 リード</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 紹介</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a:t>
            </a:r>
            <a:r>
              <a:rPr lang="ja-JP" altLang="en-US" sz="1100" dirty="0">
                <a:latin typeface="メイリオ" panose="020B0604030504040204" pitchFamily="50" charset="-128"/>
                <a:ea typeface="メイリオ" panose="020B0604030504040204" pitchFamily="50" charset="-128"/>
                <a:cs typeface="メイリオ"/>
              </a:rPr>
              <a:t>離脱</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離</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脱</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防</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止</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サンクス</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000" b="1" dirty="0">
                <a:solidFill>
                  <a:schemeClr val="tx1"/>
                </a:solidFill>
                <a:latin typeface="メイリオ" panose="020B0604030504040204" pitchFamily="50" charset="-128"/>
                <a:ea typeface="メイリオ" panose="020B0604030504040204" pitchFamily="50" charset="-128"/>
                <a:cs typeface="メイリオ"/>
              </a:rPr>
              <a:t>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追加誘導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・見どころ動画</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・参加特典</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307291" cy="246221"/>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・前日のお知らせ</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参加</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1F2A5C"/>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cs typeface="メイリオ"/>
              </a:rPr>
              <a:t>平常期の配信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●イベント直後に、サロンの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申込みフォームを案内</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（申込みはいつでも可能）</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※個別チャット対応は効率化のみで基本貴社対応</a:t>
            </a:r>
          </a:p>
        </p:txBody>
      </p:sp>
    </p:spTree>
    <p:extLst>
      <p:ext uri="{BB962C8B-B14F-4D97-AF65-F5344CB8AC3E}">
        <p14:creationId xmlns:p14="http://schemas.microsoft.com/office/powerpoint/2010/main" val="3947487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337D-17CA-E6E5-D505-2573F42DF1A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64D8A5C-7B4A-390C-FB5B-FB3131C930A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EEFB8B0A-6EC5-1DE8-1B6D-A4065AE6AEA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14EC833-F0FA-AEDA-4F48-B979DDE0410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7E6A42B-1136-E29F-50E6-B072A610CB01}"/>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8B8ADE6-2320-90DE-4B5D-0E825050A440}"/>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04B17781-2CE9-1794-B996-D203F2127177}"/>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83D7B48F-F108-1D28-80D9-9B07405A3AF3}"/>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854968D2-9B97-28FB-49F7-CCBD26E2F10D}"/>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C13E0556-1137-A003-99B5-1CC8EE085C44}"/>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p>
        </p:txBody>
      </p:sp>
    </p:spTree>
    <p:extLst>
      <p:ext uri="{BB962C8B-B14F-4D97-AF65-F5344CB8AC3E}">
        <p14:creationId xmlns:p14="http://schemas.microsoft.com/office/powerpoint/2010/main" val="3203648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14F9B-288C-F1D2-7B0B-67E191377D0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F87629C-3642-C49D-F0B1-C713D8B98B2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F1FF577-F7FC-8D65-AD79-624C8A98E39D}"/>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E6E21DDA-5638-FE3D-5AC9-43FF46984EB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C2D2B1E-CBEB-3614-77A0-5702C0FFED68}"/>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B06F5F7-D7C2-4206-459C-6FDD885B9F2C}"/>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F773B430-56E4-0521-D716-A07C918C24AE}"/>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A47125D1-5D5B-577F-CCF0-A99B2F298330}"/>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ECF77B04-EFBD-D6B8-E01D-1461AF2766FF}"/>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A7CDFABA-1683-4E04-F3EC-BFB5175BB3D7}"/>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p>
        </p:txBody>
      </p:sp>
      <p:sp>
        <p:nvSpPr>
          <p:cNvPr id="2" name="正方形/長方形 1">
            <a:extLst>
              <a:ext uri="{FF2B5EF4-FFF2-40B4-BE49-F238E27FC236}">
                <a16:creationId xmlns:a16="http://schemas.microsoft.com/office/drawing/2014/main" id="{2BCDAE55-2DB6-D959-BB7A-FFA05547CCF8}"/>
              </a:ext>
            </a:extLst>
          </p:cNvPr>
          <p:cNvSpPr/>
          <p:nvPr/>
        </p:nvSpPr>
        <p:spPr>
          <a:xfrm>
            <a:off x="4953000" y="1397561"/>
            <a:ext cx="4757057" cy="3149513"/>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正方形/長方形 9">
            <a:extLst>
              <a:ext uri="{FF2B5EF4-FFF2-40B4-BE49-F238E27FC236}">
                <a16:creationId xmlns:a16="http://schemas.microsoft.com/office/drawing/2014/main" id="{62794B8A-D6DE-D702-A17A-E1DE9074FE08}"/>
              </a:ext>
            </a:extLst>
          </p:cNvPr>
          <p:cNvSpPr/>
          <p:nvPr/>
        </p:nvSpPr>
        <p:spPr>
          <a:xfrm>
            <a:off x="379975" y="4547075"/>
            <a:ext cx="9143999" cy="841795"/>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25156139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605D1-944D-0389-D7CD-C5AB8DD983F5}"/>
            </a:ext>
          </a:extLst>
        </p:cNvPr>
        <p:cNvGrpSpPr/>
        <p:nvPr/>
      </p:nvGrpSpPr>
      <p:grpSpPr>
        <a:xfrm>
          <a:off x="0" y="0"/>
          <a:ext cx="0" cy="0"/>
          <a:chOff x="0" y="0"/>
          <a:chExt cx="0" cy="0"/>
        </a:xfrm>
      </p:grpSpPr>
      <p:sp>
        <p:nvSpPr>
          <p:cNvPr id="8" name="テキスト ボックス 47">
            <a:extLst>
              <a:ext uri="{FF2B5EF4-FFF2-40B4-BE49-F238E27FC236}">
                <a16:creationId xmlns:a16="http://schemas.microsoft.com/office/drawing/2014/main" id="{83BB2C20-D0AA-36FF-470A-E7F0DAEAB26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短期ニーズトラック：Day0〜</a:t>
            </a:r>
            <a:r>
              <a:rPr lang="en-US" altLang="ja-JP" sz="1600" b="1" dirty="0">
                <a:solidFill>
                  <a:srgbClr val="1F2A5C"/>
                </a:solidFill>
                <a:latin typeface="メイリオ" panose="020B0604030504040204" pitchFamily="50" charset="-128"/>
                <a:ea typeface="メイリオ" panose="020B0604030504040204" pitchFamily="50" charset="-128"/>
                <a:cs typeface="メイリオ"/>
              </a:rPr>
              <a:t>15</a:t>
            </a:r>
            <a:r>
              <a:rPr lang="ja-JP" altLang="en-US" sz="1600" b="1" dirty="0">
                <a:solidFill>
                  <a:srgbClr val="1F2A5C"/>
                </a:solidFill>
                <a:latin typeface="メイリオ" panose="020B0604030504040204" pitchFamily="50" charset="-128"/>
                <a:ea typeface="メイリオ" panose="020B0604030504040204" pitchFamily="50" charset="-128"/>
                <a:cs typeface="メイリオ"/>
              </a:rPr>
              <a:t>の圧縮設計</a:t>
            </a:r>
          </a:p>
        </p:txBody>
      </p:sp>
      <p:sp>
        <p:nvSpPr>
          <p:cNvPr id="12" name="Lead">
            <a:extLst>
              <a:ext uri="{FF2B5EF4-FFF2-40B4-BE49-F238E27FC236}">
                <a16:creationId xmlns:a16="http://schemas.microsoft.com/office/drawing/2014/main" id="{95FE0356-B15A-D93F-BA83-FD0B43311C26}"/>
              </a:ext>
            </a:extLst>
          </p:cNvPr>
          <p:cNvSpPr txBox="1"/>
          <p:nvPr/>
        </p:nvSpPr>
        <p:spPr>
          <a:xfrm>
            <a:off x="274320" y="847623"/>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検索直後の疑問に即応し、15日以内でセミナー予約へ誘導する</a:t>
            </a:r>
          </a:p>
        </p:txBody>
      </p:sp>
      <p:sp>
        <p:nvSpPr>
          <p:cNvPr id="2" name="Rounded Rectangle 2">
            <a:extLst>
              <a:ext uri="{FF2B5EF4-FFF2-40B4-BE49-F238E27FC236}">
                <a16:creationId xmlns:a16="http://schemas.microsoft.com/office/drawing/2014/main" id="{32D5DB1A-2D31-4285-1013-68B5CBC6F7AA}"/>
              </a:ext>
            </a:extLst>
          </p:cNvPr>
          <p:cNvSpPr/>
          <p:nvPr/>
        </p:nvSpPr>
        <p:spPr>
          <a:xfrm>
            <a:off x="27432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 name="Rounded Rectangle 3">
            <a:extLst>
              <a:ext uri="{FF2B5EF4-FFF2-40B4-BE49-F238E27FC236}">
                <a16:creationId xmlns:a16="http://schemas.microsoft.com/office/drawing/2014/main" id="{4905A8F7-DA37-EDDB-D4A0-A8C338EA048F}"/>
              </a:ext>
            </a:extLst>
          </p:cNvPr>
          <p:cNvSpPr/>
          <p:nvPr/>
        </p:nvSpPr>
        <p:spPr>
          <a:xfrm>
            <a:off x="27432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Day0</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追加直後：診断</a:t>
            </a:r>
          </a:p>
        </p:txBody>
      </p:sp>
      <p:sp>
        <p:nvSpPr>
          <p:cNvPr id="4" name="TextBox 4">
            <a:extLst>
              <a:ext uri="{FF2B5EF4-FFF2-40B4-BE49-F238E27FC236}">
                <a16:creationId xmlns:a16="http://schemas.microsoft.com/office/drawing/2014/main" id="{AF54DDF1-0A58-67B0-D606-FE72C8B6BAD4}"/>
              </a:ext>
            </a:extLst>
          </p:cNvPr>
          <p:cNvSpPr txBox="1"/>
          <p:nvPr/>
        </p:nvSpPr>
        <p:spPr>
          <a:xfrm>
            <a:off x="38404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ご追加ありがとう</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ございます！</a:t>
            </a:r>
          </a:p>
        </p:txBody>
      </p:sp>
      <p:sp>
        <p:nvSpPr>
          <p:cNvPr id="5" name="TextBox 5">
            <a:extLst>
              <a:ext uri="{FF2B5EF4-FFF2-40B4-BE49-F238E27FC236}">
                <a16:creationId xmlns:a16="http://schemas.microsoft.com/office/drawing/2014/main" id="{942DBFF1-8E8E-E0F6-C4D8-936FB7D63294}"/>
              </a:ext>
            </a:extLst>
          </p:cNvPr>
          <p:cNvSpPr txBox="1"/>
          <p:nvPr/>
        </p:nvSpPr>
        <p:spPr>
          <a:xfrm>
            <a:off x="38404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3問タップで検討段階を分岐・タグ付け</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6" name="Rounded Rectangle 6">
            <a:extLst>
              <a:ext uri="{FF2B5EF4-FFF2-40B4-BE49-F238E27FC236}">
                <a16:creationId xmlns:a16="http://schemas.microsoft.com/office/drawing/2014/main" id="{7FF56F22-467D-9E6B-D894-69A2DC8FAD69}"/>
              </a:ext>
            </a:extLst>
          </p:cNvPr>
          <p:cNvSpPr/>
          <p:nvPr/>
        </p:nvSpPr>
        <p:spPr>
          <a:xfrm>
            <a:off x="38404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 3択タップで診断</a:t>
            </a:r>
          </a:p>
        </p:txBody>
      </p:sp>
      <p:sp>
        <p:nvSpPr>
          <p:cNvPr id="7" name="Rounded Rectangle 7">
            <a:extLst>
              <a:ext uri="{FF2B5EF4-FFF2-40B4-BE49-F238E27FC236}">
                <a16:creationId xmlns:a16="http://schemas.microsoft.com/office/drawing/2014/main" id="{8D18F66D-12A2-B97F-13EE-FA13362C28BE}"/>
              </a:ext>
            </a:extLst>
          </p:cNvPr>
          <p:cNvSpPr/>
          <p:nvPr/>
        </p:nvSpPr>
        <p:spPr>
          <a:xfrm>
            <a:off x="217078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9" name="Rounded Rectangle 8">
            <a:extLst>
              <a:ext uri="{FF2B5EF4-FFF2-40B4-BE49-F238E27FC236}">
                <a16:creationId xmlns:a16="http://schemas.microsoft.com/office/drawing/2014/main" id="{FA0D0844-6CF2-A00A-7B79-F4A826D90EEE}"/>
              </a:ext>
            </a:extLst>
          </p:cNvPr>
          <p:cNvSpPr/>
          <p:nvPr/>
        </p:nvSpPr>
        <p:spPr>
          <a:xfrm>
            <a:off x="2170785"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TextBox 9">
            <a:extLst>
              <a:ext uri="{FF2B5EF4-FFF2-40B4-BE49-F238E27FC236}">
                <a16:creationId xmlns:a16="http://schemas.microsoft.com/office/drawing/2014/main" id="{9361AE1C-AC5D-8B9C-86D1-EC657FC3A8B7}"/>
              </a:ext>
            </a:extLst>
          </p:cNvPr>
          <p:cNvSpPr txBox="1"/>
          <p:nvPr/>
        </p:nvSpPr>
        <p:spPr>
          <a:xfrm>
            <a:off x="228051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11" name="TextBox 10">
            <a:extLst>
              <a:ext uri="{FF2B5EF4-FFF2-40B4-BE49-F238E27FC236}">
                <a16:creationId xmlns:a16="http://schemas.microsoft.com/office/drawing/2014/main" id="{2C26C064-3099-1C6E-BD1F-7E4B6508C6C0}"/>
              </a:ext>
            </a:extLst>
          </p:cNvPr>
          <p:cNvSpPr txBox="1"/>
          <p:nvPr/>
        </p:nvSpPr>
        <p:spPr>
          <a:xfrm>
            <a:off x="2280513"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13" name="Rounded Rectangle 11">
            <a:extLst>
              <a:ext uri="{FF2B5EF4-FFF2-40B4-BE49-F238E27FC236}">
                <a16:creationId xmlns:a16="http://schemas.microsoft.com/office/drawing/2014/main" id="{4B3A754B-1435-5A8E-96AE-4037A27AF116}"/>
              </a:ext>
            </a:extLst>
          </p:cNvPr>
          <p:cNvSpPr/>
          <p:nvPr/>
        </p:nvSpPr>
        <p:spPr>
          <a:xfrm>
            <a:off x="2280513"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4" name="Rounded Rectangle 12">
            <a:extLst>
              <a:ext uri="{FF2B5EF4-FFF2-40B4-BE49-F238E27FC236}">
                <a16:creationId xmlns:a16="http://schemas.microsoft.com/office/drawing/2014/main" id="{36C2CEAA-8727-1541-A261-38D2B8EE8479}"/>
              </a:ext>
            </a:extLst>
          </p:cNvPr>
          <p:cNvSpPr/>
          <p:nvPr/>
        </p:nvSpPr>
        <p:spPr>
          <a:xfrm>
            <a:off x="406725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6" name="Rounded Rectangle 13">
            <a:extLst>
              <a:ext uri="{FF2B5EF4-FFF2-40B4-BE49-F238E27FC236}">
                <a16:creationId xmlns:a16="http://schemas.microsoft.com/office/drawing/2014/main" id="{93204242-A97B-3F81-AC83-1DDA22FFC0D0}"/>
              </a:ext>
            </a:extLst>
          </p:cNvPr>
          <p:cNvSpPr/>
          <p:nvPr/>
        </p:nvSpPr>
        <p:spPr>
          <a:xfrm>
            <a:off x="4067250"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Day4〜5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8" name="TextBox 14">
            <a:extLst>
              <a:ext uri="{FF2B5EF4-FFF2-40B4-BE49-F238E27FC236}">
                <a16:creationId xmlns:a16="http://schemas.microsoft.com/office/drawing/2014/main" id="{6AD6AF8B-2C4A-933F-0193-F19C291F13B1}"/>
              </a:ext>
            </a:extLst>
          </p:cNvPr>
          <p:cNvSpPr txBox="1"/>
          <p:nvPr/>
        </p:nvSpPr>
        <p:spPr>
          <a:xfrm>
            <a:off x="417697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20" name="TextBox 15">
            <a:extLst>
              <a:ext uri="{FF2B5EF4-FFF2-40B4-BE49-F238E27FC236}">
                <a16:creationId xmlns:a16="http://schemas.microsoft.com/office/drawing/2014/main" id="{31A7EE41-522A-6587-5E29-2C573127F3C3}"/>
              </a:ext>
            </a:extLst>
          </p:cNvPr>
          <p:cNvSpPr txBox="1"/>
          <p:nvPr/>
        </p:nvSpPr>
        <p:spPr>
          <a:xfrm>
            <a:off x="417697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22" name="Rounded Rectangle 16">
            <a:extLst>
              <a:ext uri="{FF2B5EF4-FFF2-40B4-BE49-F238E27FC236}">
                <a16:creationId xmlns:a16="http://schemas.microsoft.com/office/drawing/2014/main" id="{C7E8BDA3-8CEC-774B-B965-F3AF39B914E4}"/>
              </a:ext>
            </a:extLst>
          </p:cNvPr>
          <p:cNvSpPr/>
          <p:nvPr/>
        </p:nvSpPr>
        <p:spPr>
          <a:xfrm>
            <a:off x="4176978"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4" name="Rounded Rectangle 17">
            <a:extLst>
              <a:ext uri="{FF2B5EF4-FFF2-40B4-BE49-F238E27FC236}">
                <a16:creationId xmlns:a16="http://schemas.microsoft.com/office/drawing/2014/main" id="{E541336C-EC2C-FA47-DF86-0449EEE6EC01}"/>
              </a:ext>
            </a:extLst>
          </p:cNvPr>
          <p:cNvSpPr/>
          <p:nvPr/>
        </p:nvSpPr>
        <p:spPr>
          <a:xfrm>
            <a:off x="596371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26" name="Rounded Rectangle 18">
            <a:extLst>
              <a:ext uri="{FF2B5EF4-FFF2-40B4-BE49-F238E27FC236}">
                <a16:creationId xmlns:a16="http://schemas.microsoft.com/office/drawing/2014/main" id="{BC2869C0-256F-8186-2F32-62ABEBFDB974}"/>
              </a:ext>
            </a:extLst>
          </p:cNvPr>
          <p:cNvSpPr/>
          <p:nvPr/>
        </p:nvSpPr>
        <p:spPr>
          <a:xfrm>
            <a:off x="5963715" y="1560362"/>
            <a:ext cx="1786737" cy="566928"/>
          </a:xfrm>
          <a:prstGeom prst="roundRect">
            <a:avLst>
              <a:gd name="adj" fmla="val 12000"/>
            </a:avLst>
          </a:prstGeom>
          <a:solidFill>
            <a:srgbClr val="5A6378"/>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Day8〜9</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8" name="TextBox 19">
            <a:extLst>
              <a:ext uri="{FF2B5EF4-FFF2-40B4-BE49-F238E27FC236}">
                <a16:creationId xmlns:a16="http://schemas.microsoft.com/office/drawing/2014/main" id="{A3128BAC-3AA2-D6CD-E5B1-139EF73DE7E5}"/>
              </a:ext>
            </a:extLst>
          </p:cNvPr>
          <p:cNvSpPr txBox="1"/>
          <p:nvPr/>
        </p:nvSpPr>
        <p:spPr>
          <a:xfrm>
            <a:off x="607344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0" name="TextBox 20">
            <a:extLst>
              <a:ext uri="{FF2B5EF4-FFF2-40B4-BE49-F238E27FC236}">
                <a16:creationId xmlns:a16="http://schemas.microsoft.com/office/drawing/2014/main" id="{69E0D836-774F-8844-0B7E-FEC8CAEAA930}"/>
              </a:ext>
            </a:extLst>
          </p:cNvPr>
          <p:cNvSpPr txBox="1"/>
          <p:nvPr/>
        </p:nvSpPr>
        <p:spPr>
          <a:xfrm>
            <a:off x="6073443"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32" name="Rounded Rectangle 21">
            <a:extLst>
              <a:ext uri="{FF2B5EF4-FFF2-40B4-BE49-F238E27FC236}">
                <a16:creationId xmlns:a16="http://schemas.microsoft.com/office/drawing/2014/main" id="{3CD9E7C8-AEDB-1B24-169E-B4E2FCC3BF0B}"/>
              </a:ext>
            </a:extLst>
          </p:cNvPr>
          <p:cNvSpPr/>
          <p:nvPr/>
        </p:nvSpPr>
        <p:spPr>
          <a:xfrm>
            <a:off x="6073443" y="5217962"/>
            <a:ext cx="1567281" cy="384048"/>
          </a:xfrm>
          <a:prstGeom prst="roundRect">
            <a:avLst>
              <a:gd name="adj" fmla="val 50000"/>
            </a:avLst>
          </a:prstGeom>
          <a:solidFill>
            <a:srgbClr val="5A6378"/>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34" name="Rounded Rectangle 22">
            <a:extLst>
              <a:ext uri="{FF2B5EF4-FFF2-40B4-BE49-F238E27FC236}">
                <a16:creationId xmlns:a16="http://schemas.microsoft.com/office/drawing/2014/main" id="{F9794684-1FF1-3263-6A5B-55F2FABDADE2}"/>
              </a:ext>
            </a:extLst>
          </p:cNvPr>
          <p:cNvSpPr/>
          <p:nvPr/>
        </p:nvSpPr>
        <p:spPr>
          <a:xfrm>
            <a:off x="786018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6" name="Rounded Rectangle 23">
            <a:extLst>
              <a:ext uri="{FF2B5EF4-FFF2-40B4-BE49-F238E27FC236}">
                <a16:creationId xmlns:a16="http://schemas.microsoft.com/office/drawing/2014/main" id="{5270596D-D709-5039-F2B0-A37C3BC91FB1}"/>
              </a:ext>
            </a:extLst>
          </p:cNvPr>
          <p:cNvSpPr/>
          <p:nvPr/>
        </p:nvSpPr>
        <p:spPr>
          <a:xfrm>
            <a:off x="786018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Day12〜15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オファー</a:t>
            </a:r>
          </a:p>
        </p:txBody>
      </p:sp>
      <p:sp>
        <p:nvSpPr>
          <p:cNvPr id="38" name="TextBox 24">
            <a:extLst>
              <a:ext uri="{FF2B5EF4-FFF2-40B4-BE49-F238E27FC236}">
                <a16:creationId xmlns:a16="http://schemas.microsoft.com/office/drawing/2014/main" id="{BDC9515A-B6AE-4419-9471-C1CACD5E3EC1}"/>
              </a:ext>
            </a:extLst>
          </p:cNvPr>
          <p:cNvSpPr txBox="1"/>
          <p:nvPr/>
        </p:nvSpPr>
        <p:spPr>
          <a:xfrm>
            <a:off x="796990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9" name="TextBox 25">
            <a:extLst>
              <a:ext uri="{FF2B5EF4-FFF2-40B4-BE49-F238E27FC236}">
                <a16:creationId xmlns:a16="http://schemas.microsoft.com/office/drawing/2014/main" id="{77631336-7324-364D-DAFA-3CED8F639C61}"/>
              </a:ext>
            </a:extLst>
          </p:cNvPr>
          <p:cNvSpPr txBox="1"/>
          <p:nvPr/>
        </p:nvSpPr>
        <p:spPr>
          <a:xfrm>
            <a:off x="7969908"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40" name="Rounded Rectangle 26">
            <a:extLst>
              <a:ext uri="{FF2B5EF4-FFF2-40B4-BE49-F238E27FC236}">
                <a16:creationId xmlns:a16="http://schemas.microsoft.com/office/drawing/2014/main" id="{84EB3BAF-CB06-3354-471B-18BB2B84211F}"/>
              </a:ext>
            </a:extLst>
          </p:cNvPr>
          <p:cNvSpPr/>
          <p:nvPr/>
        </p:nvSpPr>
        <p:spPr>
          <a:xfrm>
            <a:off x="796990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41" name="TextBox 27">
            <a:extLst>
              <a:ext uri="{FF2B5EF4-FFF2-40B4-BE49-F238E27FC236}">
                <a16:creationId xmlns:a16="http://schemas.microsoft.com/office/drawing/2014/main" id="{4801341B-D8FB-80D0-9999-2FE19D3EE1E8}"/>
              </a:ext>
            </a:extLst>
          </p:cNvPr>
          <p:cNvSpPr txBox="1"/>
          <p:nvPr/>
        </p:nvSpPr>
        <p:spPr>
          <a:xfrm>
            <a:off x="274320" y="5858042"/>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メイリオ"/>
                <a:sym typeface="Arial"/>
              </a:rPr>
              <a:t>--</a:t>
            </a:r>
            <a:endParaRPr kumimoji="0" lang="en-US" sz="1150" kern="0" dirty="0">
              <a:solidFill>
                <a:srgbClr val="5A6378"/>
              </a:solidFill>
              <a:latin typeface="メイリオ" panose="020B0604030504040204" pitchFamily="50" charset="-128"/>
              <a:ea typeface="メイリオ" panose="020B0604030504040204" pitchFamily="50" charset="-128"/>
              <a:cs typeface="メイリオ"/>
              <a:sym typeface="Arial"/>
            </a:endParaRPr>
          </a:p>
        </p:txBody>
      </p:sp>
      <p:sp>
        <p:nvSpPr>
          <p:cNvPr id="43" name="TextBox 5">
            <a:extLst>
              <a:ext uri="{FF2B5EF4-FFF2-40B4-BE49-F238E27FC236}">
                <a16:creationId xmlns:a16="http://schemas.microsoft.com/office/drawing/2014/main" id="{EA39FE5A-F88E-6BA9-436B-1C7ACA9EFDF7}"/>
              </a:ext>
            </a:extLst>
          </p:cNvPr>
          <p:cNvSpPr txBox="1"/>
          <p:nvPr/>
        </p:nvSpPr>
        <p:spPr>
          <a:xfrm>
            <a:off x="384048" y="3898197"/>
            <a:ext cx="1567281" cy="428579"/>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endParaRPr kumimoji="0"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p:txBody>
      </p:sp>
      <p:sp>
        <p:nvSpPr>
          <p:cNvPr id="45" name="TextBox 10">
            <a:extLst>
              <a:ext uri="{FF2B5EF4-FFF2-40B4-BE49-F238E27FC236}">
                <a16:creationId xmlns:a16="http://schemas.microsoft.com/office/drawing/2014/main" id="{20FC8A71-901A-1650-523A-DB40DB5BE8B2}"/>
              </a:ext>
            </a:extLst>
          </p:cNvPr>
          <p:cNvSpPr txBox="1"/>
          <p:nvPr/>
        </p:nvSpPr>
        <p:spPr>
          <a:xfrm>
            <a:off x="2280513"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endPar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7" name="TextBox 15">
            <a:extLst>
              <a:ext uri="{FF2B5EF4-FFF2-40B4-BE49-F238E27FC236}">
                <a16:creationId xmlns:a16="http://schemas.microsoft.com/office/drawing/2014/main" id="{760B245B-F336-095B-944B-703D8196FB74}"/>
              </a:ext>
            </a:extLst>
          </p:cNvPr>
          <p:cNvSpPr txBox="1"/>
          <p:nvPr/>
        </p:nvSpPr>
        <p:spPr>
          <a:xfrm>
            <a:off x="417697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9" name="TextBox 20">
            <a:extLst>
              <a:ext uri="{FF2B5EF4-FFF2-40B4-BE49-F238E27FC236}">
                <a16:creationId xmlns:a16="http://schemas.microsoft.com/office/drawing/2014/main" id="{DE95B638-E657-FEBB-0117-64BD0F935CE8}"/>
              </a:ext>
            </a:extLst>
          </p:cNvPr>
          <p:cNvSpPr txBox="1"/>
          <p:nvPr/>
        </p:nvSpPr>
        <p:spPr>
          <a:xfrm>
            <a:off x="6073443" y="3898197"/>
            <a:ext cx="1567281" cy="1101071"/>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51" name="TextBox 25">
            <a:extLst>
              <a:ext uri="{FF2B5EF4-FFF2-40B4-BE49-F238E27FC236}">
                <a16:creationId xmlns:a16="http://schemas.microsoft.com/office/drawing/2014/main" id="{9EEAEFD9-8EF2-001C-D44A-2B0332CF7F41}"/>
              </a:ext>
            </a:extLst>
          </p:cNvPr>
          <p:cNvSpPr txBox="1"/>
          <p:nvPr/>
        </p:nvSpPr>
        <p:spPr>
          <a:xfrm>
            <a:off x="796990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15" name="正方形/長方形 14">
            <a:extLst>
              <a:ext uri="{FF2B5EF4-FFF2-40B4-BE49-F238E27FC236}">
                <a16:creationId xmlns:a16="http://schemas.microsoft.com/office/drawing/2014/main" id="{555B77A1-60D1-23C1-F985-F9E05AB9B915}"/>
              </a:ext>
            </a:extLst>
          </p:cNvPr>
          <p:cNvSpPr/>
          <p:nvPr/>
        </p:nvSpPr>
        <p:spPr>
          <a:xfrm>
            <a:off x="2134573" y="1466661"/>
            <a:ext cx="7585863" cy="4327557"/>
          </a:xfrm>
          <a:prstGeom prst="rect">
            <a:avLst/>
          </a:prstGeom>
          <a:solidFill>
            <a:schemeClr val="bg1">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lvl="1">
              <a:lnSpc>
                <a:spcPts val="2000"/>
              </a:lnSpc>
              <a:spcAft>
                <a:spcPts val="200"/>
              </a:spcAft>
              <a:buClr>
                <a:srgbClr val="1F2A5C"/>
              </a:buClr>
            </a:pPr>
            <a:endParaRPr lang="ja-JP" altLang="en-US" sz="1400" dirty="0">
              <a:solidFill>
                <a:srgbClr val="333333"/>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B2C5803B-DB2E-0AE1-BE31-89D5755B4FE1}"/>
              </a:ext>
            </a:extLst>
          </p:cNvPr>
          <p:cNvSpPr txBox="1"/>
          <p:nvPr/>
        </p:nvSpPr>
        <p:spPr>
          <a:xfrm>
            <a:off x="2234941" y="1921426"/>
            <a:ext cx="4965824" cy="954107"/>
          </a:xfrm>
          <a:prstGeom prst="rect">
            <a:avLst/>
          </a:prstGeom>
          <a:noFill/>
        </p:spPr>
        <p:txBody>
          <a:bodyPr wrap="square">
            <a:spAutoFit/>
          </a:bodyPr>
          <a:lstStyle/>
          <a:p>
            <a:r>
              <a:rPr lang="ja-JP" altLang="en-US" sz="1400" b="1" u="sng" dirty="0">
                <a:solidFill>
                  <a:schemeClr val="tx2"/>
                </a:solidFill>
                <a:latin typeface="メイリオ"/>
                <a:ea typeface="メイリオ"/>
                <a:cs typeface="メイリオ"/>
              </a:rPr>
              <a:t>アンケート回答から「すぐすぐニーズがあるか」を判断</a:t>
            </a:r>
            <a:endParaRPr lang="en-US" altLang="ja-JP" sz="1400" b="1" u="sng" dirty="0">
              <a:solidFill>
                <a:schemeClr val="tx2"/>
              </a:solidFill>
              <a:latin typeface="メイリオ"/>
              <a:ea typeface="メイリオ"/>
              <a:cs typeface="メイリオ"/>
            </a:endParaRPr>
          </a:p>
          <a:p>
            <a:r>
              <a:rPr lang="ja-JP" altLang="en-US" sz="1400" dirty="0">
                <a:solidFill>
                  <a:schemeClr val="tx2"/>
                </a:solidFill>
                <a:latin typeface="メイリオ"/>
                <a:ea typeface="メイリオ"/>
                <a:cs typeface="メイリオ"/>
              </a:rPr>
              <a:t>↓</a:t>
            </a:r>
            <a:endParaRPr lang="en-US" altLang="ja-JP" sz="1400" dirty="0">
              <a:solidFill>
                <a:schemeClr val="tx2"/>
              </a:solidFill>
              <a:latin typeface="メイリオ"/>
              <a:ea typeface="メイリオ"/>
              <a:cs typeface="メイリオ"/>
            </a:endParaRPr>
          </a:p>
          <a:p>
            <a:r>
              <a:rPr lang="ja-JP" altLang="en-US" sz="1400" b="1" dirty="0">
                <a:solidFill>
                  <a:schemeClr val="tx2"/>
                </a:solidFill>
                <a:latin typeface="メイリオ"/>
                <a:ea typeface="メイリオ"/>
                <a:cs typeface="メイリオ"/>
              </a:rPr>
              <a:t>①</a:t>
            </a:r>
            <a:r>
              <a:rPr lang="ja-JP" altLang="en-US" sz="1400" dirty="0">
                <a:solidFill>
                  <a:schemeClr val="tx2"/>
                </a:solidFill>
                <a:latin typeface="メイリオ"/>
                <a:ea typeface="メイリオ"/>
                <a:cs typeface="メイリオ"/>
              </a:rPr>
              <a:t>ニーズあり</a:t>
            </a:r>
            <a:r>
              <a:rPr lang="ja-JP" altLang="en-US" sz="1400" b="1" dirty="0">
                <a:solidFill>
                  <a:schemeClr val="tx2"/>
                </a:solidFill>
                <a:latin typeface="メイリオ"/>
                <a:ea typeface="メイリオ"/>
                <a:cs typeface="メイリオ"/>
              </a:rPr>
              <a:t>（次ページに以降）</a:t>
            </a:r>
            <a:endParaRPr lang="en-US" altLang="ja-JP" sz="1400" b="1" dirty="0">
              <a:solidFill>
                <a:schemeClr val="tx2"/>
              </a:solidFill>
              <a:latin typeface="メイリオ"/>
              <a:ea typeface="メイリオ"/>
              <a:cs typeface="メイリオ"/>
            </a:endParaRPr>
          </a:p>
          <a:p>
            <a:r>
              <a:rPr lang="ja-JP" altLang="en-US" sz="1400" b="1" dirty="0">
                <a:solidFill>
                  <a:schemeClr val="tx2"/>
                </a:solidFill>
                <a:latin typeface="メイリオ"/>
                <a:ea typeface="メイリオ"/>
                <a:cs typeface="メイリオ"/>
              </a:rPr>
              <a:t>②</a:t>
            </a:r>
            <a:r>
              <a:rPr lang="ja-JP" altLang="en-US" sz="1400" dirty="0">
                <a:solidFill>
                  <a:schemeClr val="tx2"/>
                </a:solidFill>
                <a:latin typeface="メイリオ"/>
                <a:ea typeface="メイリオ"/>
                <a:cs typeface="メイリオ"/>
              </a:rPr>
              <a:t>ニーズなし</a:t>
            </a:r>
            <a:r>
              <a:rPr lang="ja-JP" altLang="en-US" sz="1400" b="1" dirty="0">
                <a:solidFill>
                  <a:schemeClr val="tx2"/>
                </a:solidFill>
                <a:latin typeface="メイリオ"/>
                <a:ea typeface="メイリオ"/>
                <a:cs typeface="メイリオ"/>
              </a:rPr>
              <a:t>（長期追客施策に移行）</a:t>
            </a:r>
            <a:endParaRPr lang="ja-JP" altLang="en-US" b="1" dirty="0">
              <a:solidFill>
                <a:schemeClr val="tx2"/>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0FFF471B-76C5-A9EE-BF1F-9F210906F1DA}"/>
              </a:ext>
            </a:extLst>
          </p:cNvPr>
          <p:cNvSpPr txBox="1"/>
          <p:nvPr/>
        </p:nvSpPr>
        <p:spPr>
          <a:xfrm>
            <a:off x="1951329" y="2985261"/>
            <a:ext cx="7570623" cy="891270"/>
          </a:xfrm>
          <a:prstGeom prst="rect">
            <a:avLst/>
          </a:prstGeom>
          <a:noFill/>
        </p:spPr>
        <p:txBody>
          <a:bodyPr wrap="square">
            <a:spAutoFit/>
          </a:bodyPr>
          <a:lstStyle/>
          <a:p>
            <a:pPr marL="228600" lvl="1">
              <a:lnSpc>
                <a:spcPts val="2000"/>
              </a:lnSpc>
              <a:spcAft>
                <a:spcPts val="200"/>
              </a:spcAft>
              <a:buClr>
                <a:srgbClr val="1F2A5C"/>
              </a:buClr>
            </a:pPr>
            <a:r>
              <a:rPr lang="en-US" altLang="ja-JP" sz="1100" b="1" dirty="0">
                <a:solidFill>
                  <a:srgbClr val="333333"/>
                </a:solidFill>
                <a:latin typeface="メイリオ"/>
                <a:ea typeface="メイリオ"/>
                <a:cs typeface="メイリオ"/>
              </a:rPr>
              <a:t>【その他セグメント配信の活用に関して】</a:t>
            </a:r>
          </a:p>
          <a:p>
            <a:pPr marL="228600" lvl="1">
              <a:lnSpc>
                <a:spcPts val="2000"/>
              </a:lnSpc>
              <a:spcAft>
                <a:spcPts val="200"/>
              </a:spcAft>
              <a:buClr>
                <a:srgbClr val="1F2A5C"/>
              </a:buClr>
            </a:pPr>
            <a:r>
              <a:rPr lang="ja-JP" altLang="en-US" sz="1100" dirty="0">
                <a:solidFill>
                  <a:srgbClr val="333333"/>
                </a:solidFill>
                <a:latin typeface="メイリオ"/>
                <a:ea typeface="メイリオ"/>
                <a:cs typeface="メイリオ"/>
              </a:rPr>
              <a:t>Day0のアンケートの回答に合わせて、配信の中身を出し分ける。</a:t>
            </a:r>
          </a:p>
        </p:txBody>
      </p:sp>
    </p:spTree>
    <p:extLst>
      <p:ext uri="{BB962C8B-B14F-4D97-AF65-F5344CB8AC3E}">
        <p14:creationId xmlns:p14="http://schemas.microsoft.com/office/powerpoint/2010/main" val="42945684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93614-B1C8-8488-6AA6-9C0120B0F016}"/>
            </a:ext>
          </a:extLst>
        </p:cNvPr>
        <p:cNvGrpSpPr/>
        <p:nvPr/>
      </p:nvGrpSpPr>
      <p:grpSpPr>
        <a:xfrm>
          <a:off x="0" y="0"/>
          <a:ext cx="0" cy="0"/>
          <a:chOff x="0" y="0"/>
          <a:chExt cx="0" cy="0"/>
        </a:xfrm>
      </p:grpSpPr>
      <p:sp>
        <p:nvSpPr>
          <p:cNvPr id="8" name="テキスト ボックス 47">
            <a:extLst>
              <a:ext uri="{FF2B5EF4-FFF2-40B4-BE49-F238E27FC236}">
                <a16:creationId xmlns:a16="http://schemas.microsoft.com/office/drawing/2014/main" id="{C1A46CA4-B62C-129C-2265-6EC1BE8C6EFA}"/>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短期ニーズトラック：Day0〜</a:t>
            </a:r>
            <a:r>
              <a:rPr lang="en-US" altLang="ja-JP" sz="1600" b="1" dirty="0">
                <a:solidFill>
                  <a:srgbClr val="1F2A5C"/>
                </a:solidFill>
                <a:latin typeface="メイリオ" panose="020B0604030504040204" pitchFamily="50" charset="-128"/>
                <a:ea typeface="メイリオ" panose="020B0604030504040204" pitchFamily="50" charset="-128"/>
                <a:cs typeface="メイリオ"/>
              </a:rPr>
              <a:t>15</a:t>
            </a:r>
            <a:r>
              <a:rPr lang="ja-JP" altLang="en-US" sz="1600" b="1" dirty="0">
                <a:solidFill>
                  <a:srgbClr val="1F2A5C"/>
                </a:solidFill>
                <a:latin typeface="メイリオ" panose="020B0604030504040204" pitchFamily="50" charset="-128"/>
                <a:ea typeface="メイリオ" panose="020B0604030504040204" pitchFamily="50" charset="-128"/>
                <a:cs typeface="メイリオ"/>
              </a:rPr>
              <a:t>の圧縮設計</a:t>
            </a:r>
          </a:p>
        </p:txBody>
      </p:sp>
      <p:sp>
        <p:nvSpPr>
          <p:cNvPr id="12" name="Lead">
            <a:extLst>
              <a:ext uri="{FF2B5EF4-FFF2-40B4-BE49-F238E27FC236}">
                <a16:creationId xmlns:a16="http://schemas.microsoft.com/office/drawing/2014/main" id="{E15018B3-87F2-6365-2D71-C92B5436710C}"/>
              </a:ext>
            </a:extLst>
          </p:cNvPr>
          <p:cNvSpPr txBox="1"/>
          <p:nvPr/>
        </p:nvSpPr>
        <p:spPr>
          <a:xfrm>
            <a:off x="274320" y="847623"/>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検索直後の疑問に即応し、15日以内でセミナー予約へ誘導する</a:t>
            </a:r>
          </a:p>
        </p:txBody>
      </p:sp>
      <p:sp>
        <p:nvSpPr>
          <p:cNvPr id="2" name="Rounded Rectangle 2">
            <a:extLst>
              <a:ext uri="{FF2B5EF4-FFF2-40B4-BE49-F238E27FC236}">
                <a16:creationId xmlns:a16="http://schemas.microsoft.com/office/drawing/2014/main" id="{325EC11C-A4CA-5313-D5BA-D47635B1A838}"/>
              </a:ext>
            </a:extLst>
          </p:cNvPr>
          <p:cNvSpPr/>
          <p:nvPr/>
        </p:nvSpPr>
        <p:spPr>
          <a:xfrm>
            <a:off x="27432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 name="Rounded Rectangle 3">
            <a:extLst>
              <a:ext uri="{FF2B5EF4-FFF2-40B4-BE49-F238E27FC236}">
                <a16:creationId xmlns:a16="http://schemas.microsoft.com/office/drawing/2014/main" id="{9A057208-E511-9F3B-B133-9BDFEC60A969}"/>
              </a:ext>
            </a:extLst>
          </p:cNvPr>
          <p:cNvSpPr/>
          <p:nvPr/>
        </p:nvSpPr>
        <p:spPr>
          <a:xfrm>
            <a:off x="27432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Day0</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追加直後：診断</a:t>
            </a:r>
          </a:p>
        </p:txBody>
      </p:sp>
      <p:sp>
        <p:nvSpPr>
          <p:cNvPr id="4" name="TextBox 4">
            <a:extLst>
              <a:ext uri="{FF2B5EF4-FFF2-40B4-BE49-F238E27FC236}">
                <a16:creationId xmlns:a16="http://schemas.microsoft.com/office/drawing/2014/main" id="{88CC95EE-B0F1-3644-6F82-76DE8FCEACEC}"/>
              </a:ext>
            </a:extLst>
          </p:cNvPr>
          <p:cNvSpPr txBox="1"/>
          <p:nvPr/>
        </p:nvSpPr>
        <p:spPr>
          <a:xfrm>
            <a:off x="38404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ご追加ありがとう</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ございます！</a:t>
            </a:r>
          </a:p>
        </p:txBody>
      </p:sp>
      <p:sp>
        <p:nvSpPr>
          <p:cNvPr id="5" name="TextBox 5">
            <a:extLst>
              <a:ext uri="{FF2B5EF4-FFF2-40B4-BE49-F238E27FC236}">
                <a16:creationId xmlns:a16="http://schemas.microsoft.com/office/drawing/2014/main" id="{73C4E07D-0DF4-42A9-7298-CE1B2CB8E02C}"/>
              </a:ext>
            </a:extLst>
          </p:cNvPr>
          <p:cNvSpPr txBox="1"/>
          <p:nvPr/>
        </p:nvSpPr>
        <p:spPr>
          <a:xfrm>
            <a:off x="38404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3問タップで検討段階を分岐・タグ付け</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6" name="Rounded Rectangle 6">
            <a:extLst>
              <a:ext uri="{FF2B5EF4-FFF2-40B4-BE49-F238E27FC236}">
                <a16:creationId xmlns:a16="http://schemas.microsoft.com/office/drawing/2014/main" id="{7A93EFB6-EBEF-0F4B-3781-F0E86D241E63}"/>
              </a:ext>
            </a:extLst>
          </p:cNvPr>
          <p:cNvSpPr/>
          <p:nvPr/>
        </p:nvSpPr>
        <p:spPr>
          <a:xfrm>
            <a:off x="38404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 3択タップで診断</a:t>
            </a:r>
          </a:p>
        </p:txBody>
      </p:sp>
      <p:sp>
        <p:nvSpPr>
          <p:cNvPr id="7" name="Rounded Rectangle 7">
            <a:extLst>
              <a:ext uri="{FF2B5EF4-FFF2-40B4-BE49-F238E27FC236}">
                <a16:creationId xmlns:a16="http://schemas.microsoft.com/office/drawing/2014/main" id="{32B3653D-6D1F-20F4-8671-385FAFF851FD}"/>
              </a:ext>
            </a:extLst>
          </p:cNvPr>
          <p:cNvSpPr/>
          <p:nvPr/>
        </p:nvSpPr>
        <p:spPr>
          <a:xfrm>
            <a:off x="217078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9" name="Rounded Rectangle 8">
            <a:extLst>
              <a:ext uri="{FF2B5EF4-FFF2-40B4-BE49-F238E27FC236}">
                <a16:creationId xmlns:a16="http://schemas.microsoft.com/office/drawing/2014/main" id="{8D16CA1B-AEBC-A5FA-8024-3F23496134C9}"/>
              </a:ext>
            </a:extLst>
          </p:cNvPr>
          <p:cNvSpPr/>
          <p:nvPr/>
        </p:nvSpPr>
        <p:spPr>
          <a:xfrm>
            <a:off x="2170785"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TextBox 9">
            <a:extLst>
              <a:ext uri="{FF2B5EF4-FFF2-40B4-BE49-F238E27FC236}">
                <a16:creationId xmlns:a16="http://schemas.microsoft.com/office/drawing/2014/main" id="{ED3C0554-9244-5E70-C3F2-82AD432D9891}"/>
              </a:ext>
            </a:extLst>
          </p:cNvPr>
          <p:cNvSpPr txBox="1"/>
          <p:nvPr/>
        </p:nvSpPr>
        <p:spPr>
          <a:xfrm>
            <a:off x="228051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11" name="TextBox 10">
            <a:extLst>
              <a:ext uri="{FF2B5EF4-FFF2-40B4-BE49-F238E27FC236}">
                <a16:creationId xmlns:a16="http://schemas.microsoft.com/office/drawing/2014/main" id="{731AE54A-29F4-E5A3-1183-48ED689B8ACC}"/>
              </a:ext>
            </a:extLst>
          </p:cNvPr>
          <p:cNvSpPr txBox="1"/>
          <p:nvPr/>
        </p:nvSpPr>
        <p:spPr>
          <a:xfrm>
            <a:off x="2280513"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13" name="Rounded Rectangle 11">
            <a:extLst>
              <a:ext uri="{FF2B5EF4-FFF2-40B4-BE49-F238E27FC236}">
                <a16:creationId xmlns:a16="http://schemas.microsoft.com/office/drawing/2014/main" id="{C26D2D8C-ABF2-0F03-0567-F772D753D0E8}"/>
              </a:ext>
            </a:extLst>
          </p:cNvPr>
          <p:cNvSpPr/>
          <p:nvPr/>
        </p:nvSpPr>
        <p:spPr>
          <a:xfrm>
            <a:off x="2280513"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endParaRPr kumimoji="0" lang="en-US"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4" name="Rounded Rectangle 12">
            <a:extLst>
              <a:ext uri="{FF2B5EF4-FFF2-40B4-BE49-F238E27FC236}">
                <a16:creationId xmlns:a16="http://schemas.microsoft.com/office/drawing/2014/main" id="{4A1B016C-3BCC-82D6-634C-F49AAE31CA00}"/>
              </a:ext>
            </a:extLst>
          </p:cNvPr>
          <p:cNvSpPr/>
          <p:nvPr/>
        </p:nvSpPr>
        <p:spPr>
          <a:xfrm>
            <a:off x="406725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6" name="Rounded Rectangle 13">
            <a:extLst>
              <a:ext uri="{FF2B5EF4-FFF2-40B4-BE49-F238E27FC236}">
                <a16:creationId xmlns:a16="http://schemas.microsoft.com/office/drawing/2014/main" id="{FEA91215-4671-8F7B-948E-885B87ADC67B}"/>
              </a:ext>
            </a:extLst>
          </p:cNvPr>
          <p:cNvSpPr/>
          <p:nvPr/>
        </p:nvSpPr>
        <p:spPr>
          <a:xfrm>
            <a:off x="4067250"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Day4〜5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8" name="TextBox 14">
            <a:extLst>
              <a:ext uri="{FF2B5EF4-FFF2-40B4-BE49-F238E27FC236}">
                <a16:creationId xmlns:a16="http://schemas.microsoft.com/office/drawing/2014/main" id="{8D211078-EBAD-209F-4F3F-0C349BF4FD82}"/>
              </a:ext>
            </a:extLst>
          </p:cNvPr>
          <p:cNvSpPr txBox="1"/>
          <p:nvPr/>
        </p:nvSpPr>
        <p:spPr>
          <a:xfrm>
            <a:off x="417697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20" name="TextBox 15">
            <a:extLst>
              <a:ext uri="{FF2B5EF4-FFF2-40B4-BE49-F238E27FC236}">
                <a16:creationId xmlns:a16="http://schemas.microsoft.com/office/drawing/2014/main" id="{365832DB-68FC-D672-D52E-8442D3CB553A}"/>
              </a:ext>
            </a:extLst>
          </p:cNvPr>
          <p:cNvSpPr txBox="1"/>
          <p:nvPr/>
        </p:nvSpPr>
        <p:spPr>
          <a:xfrm>
            <a:off x="417697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22" name="Rounded Rectangle 16">
            <a:extLst>
              <a:ext uri="{FF2B5EF4-FFF2-40B4-BE49-F238E27FC236}">
                <a16:creationId xmlns:a16="http://schemas.microsoft.com/office/drawing/2014/main" id="{06C50741-6FE4-CFDC-C843-4251AC11BC48}"/>
              </a:ext>
            </a:extLst>
          </p:cNvPr>
          <p:cNvSpPr/>
          <p:nvPr/>
        </p:nvSpPr>
        <p:spPr>
          <a:xfrm>
            <a:off x="4176978"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4" name="Rounded Rectangle 17">
            <a:extLst>
              <a:ext uri="{FF2B5EF4-FFF2-40B4-BE49-F238E27FC236}">
                <a16:creationId xmlns:a16="http://schemas.microsoft.com/office/drawing/2014/main" id="{5E61CC1A-5313-8BA8-A36D-461E68D47515}"/>
              </a:ext>
            </a:extLst>
          </p:cNvPr>
          <p:cNvSpPr/>
          <p:nvPr/>
        </p:nvSpPr>
        <p:spPr>
          <a:xfrm>
            <a:off x="596371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26" name="Rounded Rectangle 18">
            <a:extLst>
              <a:ext uri="{FF2B5EF4-FFF2-40B4-BE49-F238E27FC236}">
                <a16:creationId xmlns:a16="http://schemas.microsoft.com/office/drawing/2014/main" id="{CF0F0823-8E61-35DF-0019-982187079423}"/>
              </a:ext>
            </a:extLst>
          </p:cNvPr>
          <p:cNvSpPr/>
          <p:nvPr/>
        </p:nvSpPr>
        <p:spPr>
          <a:xfrm>
            <a:off x="5963715" y="1560362"/>
            <a:ext cx="1786737" cy="566928"/>
          </a:xfrm>
          <a:prstGeom prst="roundRect">
            <a:avLst>
              <a:gd name="adj" fmla="val 12000"/>
            </a:avLst>
          </a:prstGeom>
          <a:solidFill>
            <a:srgbClr val="5A6378"/>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Day8〜9</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8" name="TextBox 19">
            <a:extLst>
              <a:ext uri="{FF2B5EF4-FFF2-40B4-BE49-F238E27FC236}">
                <a16:creationId xmlns:a16="http://schemas.microsoft.com/office/drawing/2014/main" id="{1E77E8ED-9C7B-F76F-EC10-4B949FB21FD1}"/>
              </a:ext>
            </a:extLst>
          </p:cNvPr>
          <p:cNvSpPr txBox="1"/>
          <p:nvPr/>
        </p:nvSpPr>
        <p:spPr>
          <a:xfrm>
            <a:off x="607344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0" name="TextBox 20">
            <a:extLst>
              <a:ext uri="{FF2B5EF4-FFF2-40B4-BE49-F238E27FC236}">
                <a16:creationId xmlns:a16="http://schemas.microsoft.com/office/drawing/2014/main" id="{1BD34B43-6F7A-FF6A-770E-72D31542F706}"/>
              </a:ext>
            </a:extLst>
          </p:cNvPr>
          <p:cNvSpPr txBox="1"/>
          <p:nvPr/>
        </p:nvSpPr>
        <p:spPr>
          <a:xfrm>
            <a:off x="6073443"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32" name="Rounded Rectangle 21">
            <a:extLst>
              <a:ext uri="{FF2B5EF4-FFF2-40B4-BE49-F238E27FC236}">
                <a16:creationId xmlns:a16="http://schemas.microsoft.com/office/drawing/2014/main" id="{AF1930A0-66AA-5FA0-A37F-0CABADFA0C3B}"/>
              </a:ext>
            </a:extLst>
          </p:cNvPr>
          <p:cNvSpPr/>
          <p:nvPr/>
        </p:nvSpPr>
        <p:spPr>
          <a:xfrm>
            <a:off x="6073443" y="5217962"/>
            <a:ext cx="1567281" cy="384048"/>
          </a:xfrm>
          <a:prstGeom prst="roundRect">
            <a:avLst>
              <a:gd name="adj" fmla="val 50000"/>
            </a:avLst>
          </a:prstGeom>
          <a:solidFill>
            <a:srgbClr val="5A6378"/>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34" name="Rounded Rectangle 22">
            <a:extLst>
              <a:ext uri="{FF2B5EF4-FFF2-40B4-BE49-F238E27FC236}">
                <a16:creationId xmlns:a16="http://schemas.microsoft.com/office/drawing/2014/main" id="{F2C88914-14C1-0891-4CF0-9944C3A3D969}"/>
              </a:ext>
            </a:extLst>
          </p:cNvPr>
          <p:cNvSpPr/>
          <p:nvPr/>
        </p:nvSpPr>
        <p:spPr>
          <a:xfrm>
            <a:off x="786018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6" name="Rounded Rectangle 23">
            <a:extLst>
              <a:ext uri="{FF2B5EF4-FFF2-40B4-BE49-F238E27FC236}">
                <a16:creationId xmlns:a16="http://schemas.microsoft.com/office/drawing/2014/main" id="{550A2935-2D5F-71AA-03EA-89DCD709158A}"/>
              </a:ext>
            </a:extLst>
          </p:cNvPr>
          <p:cNvSpPr/>
          <p:nvPr/>
        </p:nvSpPr>
        <p:spPr>
          <a:xfrm>
            <a:off x="786018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a:t>
            </a:r>
            <a:r>
              <a:rPr kumimoji="0" lang="en-US" altLang="ja-JP"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0</a:t>
            </a:r>
            <a:r>
              <a:rPr kumimoji="0"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〜15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dirty="0" err="1">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オファ</a:t>
            </a:r>
            <a:r>
              <a:rPr kumimoji="0" sz="900" b="0"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ー</a:t>
            </a:r>
          </a:p>
        </p:txBody>
      </p:sp>
      <p:sp>
        <p:nvSpPr>
          <p:cNvPr id="38" name="TextBox 24">
            <a:extLst>
              <a:ext uri="{FF2B5EF4-FFF2-40B4-BE49-F238E27FC236}">
                <a16:creationId xmlns:a16="http://schemas.microsoft.com/office/drawing/2014/main" id="{C6884821-BFCB-BFA3-A7F3-7B83095EE162}"/>
              </a:ext>
            </a:extLst>
          </p:cNvPr>
          <p:cNvSpPr txBox="1"/>
          <p:nvPr/>
        </p:nvSpPr>
        <p:spPr>
          <a:xfrm>
            <a:off x="796990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9" name="TextBox 25">
            <a:extLst>
              <a:ext uri="{FF2B5EF4-FFF2-40B4-BE49-F238E27FC236}">
                <a16:creationId xmlns:a16="http://schemas.microsoft.com/office/drawing/2014/main" id="{C5D41C5B-DA02-D594-6EF3-1CB8B850F14A}"/>
              </a:ext>
            </a:extLst>
          </p:cNvPr>
          <p:cNvSpPr txBox="1"/>
          <p:nvPr/>
        </p:nvSpPr>
        <p:spPr>
          <a:xfrm>
            <a:off x="7969908"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40" name="Rounded Rectangle 26">
            <a:extLst>
              <a:ext uri="{FF2B5EF4-FFF2-40B4-BE49-F238E27FC236}">
                <a16:creationId xmlns:a16="http://schemas.microsoft.com/office/drawing/2014/main" id="{A067CDE1-ED9A-E718-EE0A-DA2AEB873FF1}"/>
              </a:ext>
            </a:extLst>
          </p:cNvPr>
          <p:cNvSpPr/>
          <p:nvPr/>
        </p:nvSpPr>
        <p:spPr>
          <a:xfrm>
            <a:off x="796990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41" name="TextBox 27">
            <a:extLst>
              <a:ext uri="{FF2B5EF4-FFF2-40B4-BE49-F238E27FC236}">
                <a16:creationId xmlns:a16="http://schemas.microsoft.com/office/drawing/2014/main" id="{BFE4A287-10A0-75D3-A1CE-D799E1EFC13D}"/>
              </a:ext>
            </a:extLst>
          </p:cNvPr>
          <p:cNvSpPr txBox="1"/>
          <p:nvPr/>
        </p:nvSpPr>
        <p:spPr>
          <a:xfrm>
            <a:off x="274320" y="5858042"/>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メイリオ"/>
                <a:sym typeface="Arial"/>
              </a:rPr>
              <a:t>--</a:t>
            </a:r>
            <a:endParaRPr kumimoji="0" lang="en-US" sz="1150" kern="0" dirty="0">
              <a:solidFill>
                <a:srgbClr val="5A6378"/>
              </a:solidFill>
              <a:latin typeface="メイリオ" panose="020B0604030504040204" pitchFamily="50" charset="-128"/>
              <a:ea typeface="メイリオ" panose="020B0604030504040204" pitchFamily="50" charset="-128"/>
              <a:cs typeface="メイリオ"/>
              <a:sym typeface="Arial"/>
            </a:endParaRPr>
          </a:p>
        </p:txBody>
      </p:sp>
      <p:sp>
        <p:nvSpPr>
          <p:cNvPr id="43" name="TextBox 5">
            <a:extLst>
              <a:ext uri="{FF2B5EF4-FFF2-40B4-BE49-F238E27FC236}">
                <a16:creationId xmlns:a16="http://schemas.microsoft.com/office/drawing/2014/main" id="{5186B2E3-B6EE-E2B1-37D8-54314195DE6A}"/>
              </a:ext>
            </a:extLst>
          </p:cNvPr>
          <p:cNvSpPr txBox="1"/>
          <p:nvPr/>
        </p:nvSpPr>
        <p:spPr>
          <a:xfrm>
            <a:off x="384048" y="3898197"/>
            <a:ext cx="1567281" cy="428579"/>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endParaRPr kumimoji="0"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p:txBody>
      </p:sp>
      <p:sp>
        <p:nvSpPr>
          <p:cNvPr id="45" name="TextBox 10">
            <a:extLst>
              <a:ext uri="{FF2B5EF4-FFF2-40B4-BE49-F238E27FC236}">
                <a16:creationId xmlns:a16="http://schemas.microsoft.com/office/drawing/2014/main" id="{21407363-BE74-F527-3AD4-32DCABC777CE}"/>
              </a:ext>
            </a:extLst>
          </p:cNvPr>
          <p:cNvSpPr txBox="1"/>
          <p:nvPr/>
        </p:nvSpPr>
        <p:spPr>
          <a:xfrm>
            <a:off x="2280513"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endPar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7" name="TextBox 15">
            <a:extLst>
              <a:ext uri="{FF2B5EF4-FFF2-40B4-BE49-F238E27FC236}">
                <a16:creationId xmlns:a16="http://schemas.microsoft.com/office/drawing/2014/main" id="{C78B27A0-4402-41C9-F91E-C34A734A9324}"/>
              </a:ext>
            </a:extLst>
          </p:cNvPr>
          <p:cNvSpPr txBox="1"/>
          <p:nvPr/>
        </p:nvSpPr>
        <p:spPr>
          <a:xfrm>
            <a:off x="417697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9" name="TextBox 20">
            <a:extLst>
              <a:ext uri="{FF2B5EF4-FFF2-40B4-BE49-F238E27FC236}">
                <a16:creationId xmlns:a16="http://schemas.microsoft.com/office/drawing/2014/main" id="{ED838C3F-CC60-6AF7-B602-BDF9E60442DC}"/>
              </a:ext>
            </a:extLst>
          </p:cNvPr>
          <p:cNvSpPr txBox="1"/>
          <p:nvPr/>
        </p:nvSpPr>
        <p:spPr>
          <a:xfrm>
            <a:off x="6073443" y="3898197"/>
            <a:ext cx="1567281" cy="1101071"/>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51" name="TextBox 25">
            <a:extLst>
              <a:ext uri="{FF2B5EF4-FFF2-40B4-BE49-F238E27FC236}">
                <a16:creationId xmlns:a16="http://schemas.microsoft.com/office/drawing/2014/main" id="{0457EFFA-CEE7-8B18-D5C7-92FBBA486972}"/>
              </a:ext>
            </a:extLst>
          </p:cNvPr>
          <p:cNvSpPr txBox="1"/>
          <p:nvPr/>
        </p:nvSpPr>
        <p:spPr>
          <a:xfrm>
            <a:off x="796990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Tree>
    <p:extLst>
      <p:ext uri="{BB962C8B-B14F-4D97-AF65-F5344CB8AC3E}">
        <p14:creationId xmlns:p14="http://schemas.microsoft.com/office/powerpoint/2010/main" val="1050774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A247A-425B-CA18-88F5-CBC38492F70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905C2E3-B47A-8C1A-D463-CDA5864BF5B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12B93E0B-3589-44A0-B6C1-7C389DC3B2F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B867582A-814C-8A7B-A5C3-39ECB2F2476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6E3DABA0-77D6-C7E1-6372-98872981A825}"/>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A6C62775-6562-D5CC-92F7-DD62EEBC744F}"/>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DD6A368E-576C-29EC-7AEC-6F417FD64F2E}"/>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285534EC-0A05-D7BE-EBC2-EA588B18E931}"/>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27AAF778-ED13-4BF7-35CB-BDA3D2A9FF91}"/>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6D432096-7298-F609-05CC-7A87E38C98F4}"/>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p>
        </p:txBody>
      </p:sp>
      <p:sp>
        <p:nvSpPr>
          <p:cNvPr id="8" name="正方形/長方形 7">
            <a:extLst>
              <a:ext uri="{FF2B5EF4-FFF2-40B4-BE49-F238E27FC236}">
                <a16:creationId xmlns:a16="http://schemas.microsoft.com/office/drawing/2014/main" id="{2B282CB3-BF1E-586C-2C28-1C71F5FCA804}"/>
              </a:ext>
            </a:extLst>
          </p:cNvPr>
          <p:cNvSpPr/>
          <p:nvPr/>
        </p:nvSpPr>
        <p:spPr>
          <a:xfrm>
            <a:off x="224971" y="1549970"/>
            <a:ext cx="4757057" cy="2851149"/>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1FECCBA2-AC74-A2AF-3521-2B2FF4D4D290}"/>
              </a:ext>
            </a:extLst>
          </p:cNvPr>
          <p:cNvSpPr/>
          <p:nvPr/>
        </p:nvSpPr>
        <p:spPr>
          <a:xfrm>
            <a:off x="379975" y="4547075"/>
            <a:ext cx="9143999" cy="841795"/>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15169176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74F9F-F8CE-54D5-B025-489FE860A6A8}"/>
            </a:ext>
          </a:extLst>
        </p:cNvPr>
        <p:cNvGrpSpPr/>
        <p:nvPr/>
      </p:nvGrpSpPr>
      <p:grpSpPr>
        <a:xfrm>
          <a:off x="0" y="0"/>
          <a:ext cx="0" cy="0"/>
          <a:chOff x="0" y="0"/>
          <a:chExt cx="0" cy="0"/>
        </a:xfrm>
      </p:grpSpPr>
      <p:sp>
        <p:nvSpPr>
          <p:cNvPr id="4" name="テキスト ボックス 47">
            <a:extLst>
              <a:ext uri="{FF2B5EF4-FFF2-40B4-BE49-F238E27FC236}">
                <a16:creationId xmlns:a16="http://schemas.microsoft.com/office/drawing/2014/main" id="{EE4D7325-B8B2-BB52-63C7-88C454517059}"/>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休眠リード開拓と参加後フォローアップ</a:t>
            </a:r>
          </a:p>
        </p:txBody>
      </p:sp>
      <p:sp>
        <p:nvSpPr>
          <p:cNvPr id="8" name="Lead">
            <a:extLst>
              <a:ext uri="{FF2B5EF4-FFF2-40B4-BE49-F238E27FC236}">
                <a16:creationId xmlns:a16="http://schemas.microsoft.com/office/drawing/2014/main" id="{D9FCD3C6-ACF7-5D09-5F1C-DE149D83848E}"/>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検索起点シナリオに乗らない既存リストへの並走施策</a:t>
            </a:r>
          </a:p>
        </p:txBody>
      </p:sp>
      <p:sp>
        <p:nvSpPr>
          <p:cNvPr id="14" name="TextBox 2001">
            <a:extLst>
              <a:ext uri="{FF2B5EF4-FFF2-40B4-BE49-F238E27FC236}">
                <a16:creationId xmlns:a16="http://schemas.microsoft.com/office/drawing/2014/main" id="{1456DACD-3900-B1CF-8DDF-966688299A92}"/>
              </a:ext>
            </a:extLst>
          </p:cNvPr>
          <p:cNvSpPr txBox="1"/>
          <p:nvPr/>
        </p:nvSpPr>
        <p:spPr>
          <a:xfrm>
            <a:off x="456501" y="3879413"/>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C. 休眠リード開拓施策</a:t>
            </a:r>
          </a:p>
        </p:txBody>
      </p:sp>
      <p:sp>
        <p:nvSpPr>
          <p:cNvPr id="17" name="Chevron 2002">
            <a:extLst>
              <a:ext uri="{FF2B5EF4-FFF2-40B4-BE49-F238E27FC236}">
                <a16:creationId xmlns:a16="http://schemas.microsoft.com/office/drawing/2014/main" id="{D8C58E61-1ED0-F016-1DBE-2E247D5EC8B6}"/>
              </a:ext>
            </a:extLst>
          </p:cNvPr>
          <p:cNvSpPr/>
          <p:nvPr/>
        </p:nvSpPr>
        <p:spPr>
          <a:xfrm>
            <a:off x="456501" y="4245173"/>
            <a:ext cx="2180844"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--件</a:t>
            </a:r>
          </a:p>
          <a:p>
            <a:pPr algn="ctr"/>
            <a:r>
              <a:rPr sz="950">
                <a:solidFill>
                  <a:srgbClr val="FFFFFF"/>
                </a:solidFill>
                <a:latin typeface="メイリオ"/>
                <a:ea typeface="メイリオ"/>
                <a:cs typeface="メイリオ"/>
              </a:rPr>
              <a:t>保有リスト</a:t>
            </a:r>
          </a:p>
        </p:txBody>
      </p:sp>
      <p:sp>
        <p:nvSpPr>
          <p:cNvPr id="19" name="Chevron 2003">
            <a:extLst>
              <a:ext uri="{FF2B5EF4-FFF2-40B4-BE49-F238E27FC236}">
                <a16:creationId xmlns:a16="http://schemas.microsoft.com/office/drawing/2014/main" id="{C25E4C3B-7F41-E2E9-8338-BEA9E51E3B73}"/>
              </a:ext>
            </a:extLst>
          </p:cNvPr>
          <p:cNvSpPr/>
          <p:nvPr/>
        </p:nvSpPr>
        <p:spPr>
          <a:xfrm>
            <a:off x="2747073" y="4245173"/>
            <a:ext cx="2180844" cy="68580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ハッシュ化</a:t>
            </a:r>
          </a:p>
          <a:p>
            <a:pPr algn="ctr"/>
            <a:r>
              <a:rPr sz="950">
                <a:solidFill>
                  <a:srgbClr val="FFFFFF"/>
                </a:solidFill>
                <a:latin typeface="メイリオ"/>
                <a:ea typeface="メイリオ"/>
                <a:cs typeface="メイリオ"/>
              </a:rPr>
              <a:t>LINEヤフーAPI照合</a:t>
            </a:r>
          </a:p>
        </p:txBody>
      </p:sp>
      <p:sp>
        <p:nvSpPr>
          <p:cNvPr id="22" name="Chevron 2004">
            <a:extLst>
              <a:ext uri="{FF2B5EF4-FFF2-40B4-BE49-F238E27FC236}">
                <a16:creationId xmlns:a16="http://schemas.microsoft.com/office/drawing/2014/main" id="{9840FDFC-40F8-2732-4B52-3774EEECF41F}"/>
              </a:ext>
            </a:extLst>
          </p:cNvPr>
          <p:cNvSpPr/>
          <p:nvPr/>
        </p:nvSpPr>
        <p:spPr>
          <a:xfrm>
            <a:off x="5037645" y="4245173"/>
            <a:ext cx="2180844" cy="68580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友だち化</a:t>
            </a:r>
          </a:p>
          <a:p>
            <a:pPr algn="ctr"/>
            <a:r>
              <a:rPr sz="950">
                <a:solidFill>
                  <a:srgbClr val="FFFFFF"/>
                </a:solidFill>
                <a:latin typeface="メイリオ"/>
                <a:ea typeface="メイリオ"/>
                <a:cs typeface="メイリオ"/>
              </a:rPr>
              <a:t>休眠リードをLINE化</a:t>
            </a:r>
          </a:p>
        </p:txBody>
      </p:sp>
      <p:sp>
        <p:nvSpPr>
          <p:cNvPr id="25" name="Chevron 2005">
            <a:extLst>
              <a:ext uri="{FF2B5EF4-FFF2-40B4-BE49-F238E27FC236}">
                <a16:creationId xmlns:a16="http://schemas.microsoft.com/office/drawing/2014/main" id="{E4A2AA24-7F5A-B469-896A-08719D7E75D1}"/>
              </a:ext>
            </a:extLst>
          </p:cNvPr>
          <p:cNvSpPr/>
          <p:nvPr/>
        </p:nvSpPr>
        <p:spPr>
          <a:xfrm>
            <a:off x="7328217" y="4245173"/>
            <a:ext cx="2180844" cy="685800"/>
          </a:xfrm>
          <a:prstGeom prst="chevron">
            <a:avLst/>
          </a:prstGeom>
          <a:solidFill>
            <a:srgbClr val="5A6378"/>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Day0合流</a:t>
            </a:r>
          </a:p>
          <a:p>
            <a:pPr algn="ctr"/>
            <a:r>
              <a:rPr sz="950">
                <a:solidFill>
                  <a:srgbClr val="FFFFFF"/>
                </a:solidFill>
                <a:latin typeface="メイリオ"/>
                <a:ea typeface="メイリオ"/>
                <a:cs typeface="メイリオ"/>
              </a:rPr>
              <a:t>短期／長期へ通常分岐</a:t>
            </a:r>
          </a:p>
        </p:txBody>
      </p:sp>
      <p:sp>
        <p:nvSpPr>
          <p:cNvPr id="24" name="Chevron 2001">
            <a:extLst>
              <a:ext uri="{FF2B5EF4-FFF2-40B4-BE49-F238E27FC236}">
                <a16:creationId xmlns:a16="http://schemas.microsoft.com/office/drawing/2014/main" id="{91FF439D-D4E2-C04E-9A1B-1318FF9A16D9}"/>
              </a:ext>
            </a:extLst>
          </p:cNvPr>
          <p:cNvSpPr/>
          <p:nvPr/>
        </p:nvSpPr>
        <p:spPr>
          <a:xfrm>
            <a:off x="456501" y="1839817"/>
            <a:ext cx="2926080" cy="54864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Day0</a:t>
            </a:r>
          </a:p>
        </p:txBody>
      </p:sp>
      <p:sp>
        <p:nvSpPr>
          <p:cNvPr id="28" name="TextBox 2002">
            <a:extLst>
              <a:ext uri="{FF2B5EF4-FFF2-40B4-BE49-F238E27FC236}">
                <a16:creationId xmlns:a16="http://schemas.microsoft.com/office/drawing/2014/main" id="{855ED89F-D224-EAF6-03A3-EC8F0E9111F8}"/>
              </a:ext>
            </a:extLst>
          </p:cNvPr>
          <p:cNvSpPr txBox="1"/>
          <p:nvPr/>
        </p:nvSpPr>
        <p:spPr>
          <a:xfrm>
            <a:off x="45650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アンケートで長期
ニーズ層と判定</a:t>
            </a:r>
          </a:p>
        </p:txBody>
      </p:sp>
      <p:sp>
        <p:nvSpPr>
          <p:cNvPr id="31" name="Chevron 2003">
            <a:extLst>
              <a:ext uri="{FF2B5EF4-FFF2-40B4-BE49-F238E27FC236}">
                <a16:creationId xmlns:a16="http://schemas.microsoft.com/office/drawing/2014/main" id="{EF9C8636-6B09-9263-5A67-DB781AB0B8A7}"/>
              </a:ext>
            </a:extLst>
          </p:cNvPr>
          <p:cNvSpPr/>
          <p:nvPr/>
        </p:nvSpPr>
        <p:spPr>
          <a:xfrm>
            <a:off x="3519741" y="1839817"/>
            <a:ext cx="2926080" cy="54864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Day1〜15</a:t>
            </a:r>
          </a:p>
        </p:txBody>
      </p:sp>
      <p:sp>
        <p:nvSpPr>
          <p:cNvPr id="34" name="TextBox 2004">
            <a:extLst>
              <a:ext uri="{FF2B5EF4-FFF2-40B4-BE49-F238E27FC236}">
                <a16:creationId xmlns:a16="http://schemas.microsoft.com/office/drawing/2014/main" id="{7B195B2D-D5DD-A6AF-1787-BE50FD77FA3F}"/>
              </a:ext>
            </a:extLst>
          </p:cNvPr>
          <p:cNvSpPr txBox="1"/>
          <p:nvPr/>
        </p:nvSpPr>
        <p:spPr>
          <a:xfrm>
            <a:off x="351974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隔週ペースで
基礎知識を教育配信</a:t>
            </a:r>
          </a:p>
        </p:txBody>
      </p:sp>
      <p:sp>
        <p:nvSpPr>
          <p:cNvPr id="36" name="Chevron 2005">
            <a:extLst>
              <a:ext uri="{FF2B5EF4-FFF2-40B4-BE49-F238E27FC236}">
                <a16:creationId xmlns:a16="http://schemas.microsoft.com/office/drawing/2014/main" id="{72262D61-75E5-1BAE-CB4A-36BFCB69D825}"/>
              </a:ext>
            </a:extLst>
          </p:cNvPr>
          <p:cNvSpPr/>
          <p:nvPr/>
        </p:nvSpPr>
        <p:spPr>
          <a:xfrm>
            <a:off x="6582981" y="1839817"/>
            <a:ext cx="2926080" cy="548640"/>
          </a:xfrm>
          <a:prstGeom prst="chevron">
            <a:avLst/>
          </a:prstGeom>
          <a:solidFill>
            <a:srgbClr val="5A6378"/>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反応時</a:t>
            </a:r>
          </a:p>
        </p:txBody>
      </p:sp>
      <p:sp>
        <p:nvSpPr>
          <p:cNvPr id="38" name="TextBox 2006">
            <a:extLst>
              <a:ext uri="{FF2B5EF4-FFF2-40B4-BE49-F238E27FC236}">
                <a16:creationId xmlns:a16="http://schemas.microsoft.com/office/drawing/2014/main" id="{C1A521F2-6CE9-E966-9A4F-48DD8B913AF9}"/>
              </a:ext>
            </a:extLst>
          </p:cNvPr>
          <p:cNvSpPr txBox="1"/>
          <p:nvPr/>
        </p:nvSpPr>
        <p:spPr>
          <a:xfrm>
            <a:off x="658298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短期トラックへ
自動フォールバック</a:t>
            </a:r>
          </a:p>
        </p:txBody>
      </p:sp>
      <p:sp>
        <p:nvSpPr>
          <p:cNvPr id="40" name="TextBox 2001">
            <a:extLst>
              <a:ext uri="{FF2B5EF4-FFF2-40B4-BE49-F238E27FC236}">
                <a16:creationId xmlns:a16="http://schemas.microsoft.com/office/drawing/2014/main" id="{04DDCAB8-88EA-D3FB-5D2A-9C531B903959}"/>
              </a:ext>
            </a:extLst>
          </p:cNvPr>
          <p:cNvSpPr txBox="1"/>
          <p:nvPr/>
        </p:nvSpPr>
        <p:spPr>
          <a:xfrm>
            <a:off x="456501" y="1474057"/>
            <a:ext cx="9052560" cy="320040"/>
          </a:xfrm>
          <a:prstGeom prst="rect">
            <a:avLst/>
          </a:prstGeom>
          <a:noFill/>
        </p:spPr>
        <p:txBody>
          <a:bodyPr wrap="square">
            <a:spAutoFit/>
          </a:bodyPr>
          <a:lstStyle/>
          <a:p>
            <a:pPr algn="l"/>
            <a:r>
              <a:rPr lang="en-US" sz="1400" b="1" dirty="0">
                <a:solidFill>
                  <a:srgbClr val="1F2A5C"/>
                </a:solidFill>
                <a:latin typeface="メイリオ" panose="020B0604030504040204" pitchFamily="50" charset="-128"/>
                <a:ea typeface="メイリオ" panose="020B0604030504040204" pitchFamily="50" charset="-128"/>
                <a:cs typeface="メイリオ"/>
              </a:rPr>
              <a:t>B</a:t>
            </a:r>
            <a:r>
              <a:rPr sz="1400" b="1" dirty="0">
                <a:solidFill>
                  <a:srgbClr val="1F2A5C"/>
                </a:solidFill>
                <a:latin typeface="メイリオ" panose="020B0604030504040204" pitchFamily="50" charset="-128"/>
                <a:ea typeface="メイリオ" panose="020B0604030504040204" pitchFamily="50" charset="-128"/>
                <a:cs typeface="メイリオ"/>
              </a:rPr>
              <a:t>. </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アンケート回答結果に基づく</a:t>
            </a:r>
            <a:endParaRPr sz="1400" b="1" dirty="0">
              <a:solidFill>
                <a:srgbClr val="1F2A5C"/>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4796137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DB548-D486-3EA8-8B0A-6AB1F4024AFD}"/>
            </a:ext>
          </a:extLst>
        </p:cNvPr>
        <p:cNvGrpSpPr/>
        <p:nvPr/>
      </p:nvGrpSpPr>
      <p:grpSpPr>
        <a:xfrm>
          <a:off x="0" y="0"/>
          <a:ext cx="0" cy="0"/>
          <a:chOff x="0" y="0"/>
          <a:chExt cx="0" cy="0"/>
        </a:xfrm>
      </p:grpSpPr>
      <p:sp>
        <p:nvSpPr>
          <p:cNvPr id="4" name="テキスト ボックス 47">
            <a:extLst>
              <a:ext uri="{FF2B5EF4-FFF2-40B4-BE49-F238E27FC236}">
                <a16:creationId xmlns:a16="http://schemas.microsoft.com/office/drawing/2014/main" id="{B5E1738D-F77B-5CA6-8CD0-9A9EC26F9BDC}"/>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休眠リード開拓と参加後フォローアップ</a:t>
            </a:r>
          </a:p>
        </p:txBody>
      </p:sp>
      <p:sp>
        <p:nvSpPr>
          <p:cNvPr id="8" name="Lead">
            <a:extLst>
              <a:ext uri="{FF2B5EF4-FFF2-40B4-BE49-F238E27FC236}">
                <a16:creationId xmlns:a16="http://schemas.microsoft.com/office/drawing/2014/main" id="{AE20F162-D6DD-162B-1177-CA089E539DF1}"/>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検索起点シナリオに乗らない既存リストへの並走施策</a:t>
            </a:r>
          </a:p>
        </p:txBody>
      </p:sp>
      <p:sp>
        <p:nvSpPr>
          <p:cNvPr id="3" name="TextBox 2007">
            <a:extLst>
              <a:ext uri="{FF2B5EF4-FFF2-40B4-BE49-F238E27FC236}">
                <a16:creationId xmlns:a16="http://schemas.microsoft.com/office/drawing/2014/main" id="{E78531AA-9C5C-93A7-DEAB-957B5A74E584}"/>
              </a:ext>
            </a:extLst>
          </p:cNvPr>
          <p:cNvSpPr txBox="1"/>
          <p:nvPr/>
        </p:nvSpPr>
        <p:spPr>
          <a:xfrm>
            <a:off x="365760" y="1226239"/>
            <a:ext cx="9052560" cy="320040"/>
          </a:xfrm>
          <a:prstGeom prst="rect">
            <a:avLst/>
          </a:prstGeom>
          <a:noFill/>
        </p:spPr>
        <p:txBody>
          <a:bodyPr wrap="square">
            <a:spAutoFit/>
          </a:bodyPr>
          <a:lstStyle/>
          <a:p>
            <a:pPr algn="l"/>
            <a:r>
              <a:rPr sz="1300" b="1">
                <a:solidFill>
                  <a:srgbClr val="1F2A5C"/>
                </a:solidFill>
                <a:latin typeface="メイリオ"/>
                <a:ea typeface="メイリオ"/>
                <a:cs typeface="メイリオ"/>
              </a:rPr>
              <a:t>シーズナリティ連動トリガー（検索Volの季節性に合わせて再アプローチ）</a:t>
            </a:r>
          </a:p>
        </p:txBody>
      </p:sp>
      <p:sp>
        <p:nvSpPr>
          <p:cNvPr id="6" name="Rectangle 2008">
            <a:extLst>
              <a:ext uri="{FF2B5EF4-FFF2-40B4-BE49-F238E27FC236}">
                <a16:creationId xmlns:a16="http://schemas.microsoft.com/office/drawing/2014/main" id="{945E129C-F21B-0AE2-657B-28AE81F17F18}"/>
              </a:ext>
            </a:extLst>
          </p:cNvPr>
          <p:cNvSpPr/>
          <p:nvPr/>
        </p:nvSpPr>
        <p:spPr>
          <a:xfrm>
            <a:off x="36576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1月</a:t>
            </a:r>
          </a:p>
        </p:txBody>
      </p:sp>
      <p:sp>
        <p:nvSpPr>
          <p:cNvPr id="9" name="Rectangle 2009">
            <a:extLst>
              <a:ext uri="{FF2B5EF4-FFF2-40B4-BE49-F238E27FC236}">
                <a16:creationId xmlns:a16="http://schemas.microsoft.com/office/drawing/2014/main" id="{C7632AEE-6947-EFAB-5C48-764A058D5F0C}"/>
              </a:ext>
            </a:extLst>
          </p:cNvPr>
          <p:cNvSpPr/>
          <p:nvPr/>
        </p:nvSpPr>
        <p:spPr>
          <a:xfrm>
            <a:off x="112225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2月</a:t>
            </a:r>
          </a:p>
        </p:txBody>
      </p:sp>
      <p:sp>
        <p:nvSpPr>
          <p:cNvPr id="11" name="Rectangle 2010">
            <a:extLst>
              <a:ext uri="{FF2B5EF4-FFF2-40B4-BE49-F238E27FC236}">
                <a16:creationId xmlns:a16="http://schemas.microsoft.com/office/drawing/2014/main" id="{F1F7980F-B34E-8E0A-A779-DEC816D8E76C}"/>
              </a:ext>
            </a:extLst>
          </p:cNvPr>
          <p:cNvSpPr/>
          <p:nvPr/>
        </p:nvSpPr>
        <p:spPr>
          <a:xfrm>
            <a:off x="1878752"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3月</a:t>
            </a:r>
          </a:p>
        </p:txBody>
      </p:sp>
      <p:sp>
        <p:nvSpPr>
          <p:cNvPr id="13" name="Rectangle 2011">
            <a:extLst>
              <a:ext uri="{FF2B5EF4-FFF2-40B4-BE49-F238E27FC236}">
                <a16:creationId xmlns:a16="http://schemas.microsoft.com/office/drawing/2014/main" id="{E063EBB9-78F7-A4D4-F999-4C5AC7691AEC}"/>
              </a:ext>
            </a:extLst>
          </p:cNvPr>
          <p:cNvSpPr/>
          <p:nvPr/>
        </p:nvSpPr>
        <p:spPr>
          <a:xfrm>
            <a:off x="2635248"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4月</a:t>
            </a:r>
          </a:p>
        </p:txBody>
      </p:sp>
      <p:sp>
        <p:nvSpPr>
          <p:cNvPr id="16" name="Rectangle 2012">
            <a:extLst>
              <a:ext uri="{FF2B5EF4-FFF2-40B4-BE49-F238E27FC236}">
                <a16:creationId xmlns:a16="http://schemas.microsoft.com/office/drawing/2014/main" id="{9D5C35C5-AFBD-1E16-34BD-FEA820687F12}"/>
              </a:ext>
            </a:extLst>
          </p:cNvPr>
          <p:cNvSpPr/>
          <p:nvPr/>
        </p:nvSpPr>
        <p:spPr>
          <a:xfrm>
            <a:off x="3391744"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5月</a:t>
            </a:r>
          </a:p>
        </p:txBody>
      </p:sp>
      <p:sp>
        <p:nvSpPr>
          <p:cNvPr id="20" name="Rectangle 2013">
            <a:extLst>
              <a:ext uri="{FF2B5EF4-FFF2-40B4-BE49-F238E27FC236}">
                <a16:creationId xmlns:a16="http://schemas.microsoft.com/office/drawing/2014/main" id="{AF46E364-2991-EF4B-B9B4-F07ED66BFC8E}"/>
              </a:ext>
            </a:extLst>
          </p:cNvPr>
          <p:cNvSpPr/>
          <p:nvPr/>
        </p:nvSpPr>
        <p:spPr>
          <a:xfrm>
            <a:off x="414824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6月</a:t>
            </a:r>
          </a:p>
        </p:txBody>
      </p:sp>
      <p:sp>
        <p:nvSpPr>
          <p:cNvPr id="23" name="Rectangle 2014">
            <a:extLst>
              <a:ext uri="{FF2B5EF4-FFF2-40B4-BE49-F238E27FC236}">
                <a16:creationId xmlns:a16="http://schemas.microsoft.com/office/drawing/2014/main" id="{3505044C-9CC2-BDB7-A9BA-96EE69E34EAB}"/>
              </a:ext>
            </a:extLst>
          </p:cNvPr>
          <p:cNvSpPr/>
          <p:nvPr/>
        </p:nvSpPr>
        <p:spPr>
          <a:xfrm>
            <a:off x="490473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7月</a:t>
            </a:r>
          </a:p>
        </p:txBody>
      </p:sp>
      <p:sp>
        <p:nvSpPr>
          <p:cNvPr id="27" name="Rectangle 2015">
            <a:extLst>
              <a:ext uri="{FF2B5EF4-FFF2-40B4-BE49-F238E27FC236}">
                <a16:creationId xmlns:a16="http://schemas.microsoft.com/office/drawing/2014/main" id="{8AF5E7F4-5D53-86FD-2BD6-C7542F8A83FD}"/>
              </a:ext>
            </a:extLst>
          </p:cNvPr>
          <p:cNvSpPr/>
          <p:nvPr/>
        </p:nvSpPr>
        <p:spPr>
          <a:xfrm>
            <a:off x="5661232"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8月</a:t>
            </a:r>
          </a:p>
        </p:txBody>
      </p:sp>
      <p:sp>
        <p:nvSpPr>
          <p:cNvPr id="30" name="Rectangle 2016">
            <a:extLst>
              <a:ext uri="{FF2B5EF4-FFF2-40B4-BE49-F238E27FC236}">
                <a16:creationId xmlns:a16="http://schemas.microsoft.com/office/drawing/2014/main" id="{FD72C16D-C4A9-9A7A-6196-9E875CF443CD}"/>
              </a:ext>
            </a:extLst>
          </p:cNvPr>
          <p:cNvSpPr/>
          <p:nvPr/>
        </p:nvSpPr>
        <p:spPr>
          <a:xfrm>
            <a:off x="6417728"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9月</a:t>
            </a:r>
          </a:p>
        </p:txBody>
      </p:sp>
      <p:sp>
        <p:nvSpPr>
          <p:cNvPr id="33" name="Rectangle 2017">
            <a:extLst>
              <a:ext uri="{FF2B5EF4-FFF2-40B4-BE49-F238E27FC236}">
                <a16:creationId xmlns:a16="http://schemas.microsoft.com/office/drawing/2014/main" id="{00C86569-3F53-5888-AFF4-E0BFECCAE588}"/>
              </a:ext>
            </a:extLst>
          </p:cNvPr>
          <p:cNvSpPr/>
          <p:nvPr/>
        </p:nvSpPr>
        <p:spPr>
          <a:xfrm>
            <a:off x="7174224"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10月</a:t>
            </a:r>
          </a:p>
        </p:txBody>
      </p:sp>
      <p:sp>
        <p:nvSpPr>
          <p:cNvPr id="37" name="Rectangle 2018">
            <a:extLst>
              <a:ext uri="{FF2B5EF4-FFF2-40B4-BE49-F238E27FC236}">
                <a16:creationId xmlns:a16="http://schemas.microsoft.com/office/drawing/2014/main" id="{B4B7698F-F5C5-2766-1198-1F1B10650721}"/>
              </a:ext>
            </a:extLst>
          </p:cNvPr>
          <p:cNvSpPr/>
          <p:nvPr/>
        </p:nvSpPr>
        <p:spPr>
          <a:xfrm>
            <a:off x="793072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11月</a:t>
            </a:r>
          </a:p>
        </p:txBody>
      </p:sp>
      <p:sp>
        <p:nvSpPr>
          <p:cNvPr id="41" name="Rectangle 2019">
            <a:extLst>
              <a:ext uri="{FF2B5EF4-FFF2-40B4-BE49-F238E27FC236}">
                <a16:creationId xmlns:a16="http://schemas.microsoft.com/office/drawing/2014/main" id="{B9122433-2609-1807-931B-6CFB1FC1612C}"/>
              </a:ext>
            </a:extLst>
          </p:cNvPr>
          <p:cNvSpPr/>
          <p:nvPr/>
        </p:nvSpPr>
        <p:spPr>
          <a:xfrm>
            <a:off x="868721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12月</a:t>
            </a:r>
          </a:p>
        </p:txBody>
      </p:sp>
      <p:sp>
        <p:nvSpPr>
          <p:cNvPr id="43" name="TextBox 2020">
            <a:extLst>
              <a:ext uri="{FF2B5EF4-FFF2-40B4-BE49-F238E27FC236}">
                <a16:creationId xmlns:a16="http://schemas.microsoft.com/office/drawing/2014/main" id="{BB0A7A81-025F-493D-383E-8F7CCCFDA607}"/>
              </a:ext>
            </a:extLst>
          </p:cNvPr>
          <p:cNvSpPr txBox="1"/>
          <p:nvPr/>
        </p:nvSpPr>
        <p:spPr>
          <a:xfrm>
            <a:off x="365760" y="2186359"/>
            <a:ext cx="9052560" cy="446276"/>
          </a:xfrm>
          <a:prstGeom prst="rect">
            <a:avLst/>
          </a:prstGeom>
          <a:noFill/>
        </p:spPr>
        <p:txBody>
          <a:bodyPr wrap="square">
            <a:spAutoFit/>
          </a:bodyPr>
          <a:lstStyle/>
          <a:p>
            <a:pPr algn="l"/>
            <a:r>
              <a:rPr lang="ja-JP" altLang="en-US" sz="1150" b="0" dirty="0">
                <a:solidFill>
                  <a:srgbClr val="5A6378"/>
                </a:solidFill>
                <a:latin typeface="メイリオ" panose="020B0604030504040204" pitchFamily="50" charset="-128"/>
                <a:ea typeface="メイリオ" panose="020B0604030504040204" pitchFamily="50" charset="-128"/>
                <a:cs typeface="メイリオ"/>
              </a:rPr>
              <a:t>--</a:t>
            </a:r>
            <a:endParaRPr lang="en-US" altLang="ja-JP" sz="1150" b="0" dirty="0">
              <a:solidFill>
                <a:srgbClr val="5A637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291321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長期ニーズトラック：シーズナリティ連動の中長期設計</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検索Volの季節性に合わせて再アプローチのタイミングを最適化する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latin typeface="メイリオ"/>
              <a:ea typeface="メイリオ"/>
              <a:cs typeface="メイリオ"/>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403736"/>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D. 参加後フォローアップ</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769496"/>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参加直後</a:t>
            </a:r>
          </a:p>
          <a:p>
            <a:pPr algn="ctr"/>
            <a:r>
              <a:rPr sz="1000">
                <a:solidFill>
                  <a:srgbClr val="FFFFFF"/>
                </a:solidFill>
                <a:latin typeface="メイリオ"/>
                <a:ea typeface="メイリオ"/>
                <a:cs typeface="メイリオ"/>
              </a:rPr>
              <a:t>--</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769496"/>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参加後30〜60日</a:t>
            </a:r>
          </a:p>
          <a:p>
            <a:pPr algn="ctr"/>
            <a:r>
              <a:rPr sz="1000">
                <a:solidFill>
                  <a:srgbClr val="FFFFFF"/>
                </a:solidFill>
                <a:latin typeface="メイリオ"/>
                <a:ea typeface="メイリオ"/>
                <a:cs typeface="メイリオ"/>
              </a:rPr>
              <a:t>--</a:t>
            </a:r>
          </a:p>
        </p:txBody>
      </p:sp>
    </p:spTree>
    <p:extLst>
      <p:ext uri="{BB962C8B-B14F-4D97-AF65-F5344CB8AC3E}">
        <p14:creationId xmlns:p14="http://schemas.microsoft.com/office/powerpoint/2010/main" val="4396800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1F2A5C"/>
                </a:solidFill>
                <a:latin typeface="メイリオ"/>
                <a:ea typeface="メイリオ"/>
                <a:cs typeface="メイリオ"/>
                <a:sym typeface="Meiryo"/>
              </a:rPr>
              <a:t>※</a:t>
            </a:r>
            <a:r>
              <a:rPr lang="ja-JP" altLang="en-US" sz="1100" dirty="0">
                <a:solidFill>
                  <a:srgbClr val="1F2A5C"/>
                </a:solidFill>
                <a:latin typeface="メイリオ"/>
                <a:ea typeface="メイリオ"/>
                <a:cs typeface="メイリオ"/>
                <a:sym typeface="Meiryo"/>
              </a:rPr>
              <a:t>実施想定の友だち追加動線について、★を記載しております。</a:t>
            </a:r>
            <a:endParaRPr lang="en-US" altLang="ja-JP" sz="1600" dirty="0">
              <a:solidFill>
                <a:srgbClr val="1F2A5C"/>
              </a:solidFill>
              <a:latin typeface="メイリオ"/>
              <a:ea typeface="メイリオ"/>
              <a:cs typeface="メイリオ"/>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ja-JP" altLang="en-US" sz="1000" b="1" dirty="0">
                <a:solidFill>
                  <a:schemeClr val="bg1"/>
                </a:solidFill>
                <a:latin typeface="メイリオ"/>
                <a:ea typeface="メイリオ"/>
                <a:cs typeface="メイリオ"/>
                <a:sym typeface="Meiryo"/>
              </a:rPr>
              <a:t>簡易</a:t>
            </a:r>
            <a:r>
              <a:rPr lang="en-US" altLang="ja-JP" sz="1000" b="1" dirty="0">
                <a:solidFill>
                  <a:schemeClr val="bg1"/>
                </a:solidFill>
                <a:latin typeface="メイリオ"/>
                <a:ea typeface="メイリオ"/>
                <a:cs typeface="メイリオ"/>
                <a:sym typeface="Meiryo"/>
              </a:rPr>
              <a:t>SIM</a:t>
            </a:r>
            <a:r>
              <a:rPr lang="ja-JP" altLang="en-US" sz="1000" b="1" dirty="0">
                <a:solidFill>
                  <a:schemeClr val="bg1"/>
                </a:solidFill>
                <a:latin typeface="メイリオ"/>
                <a:ea typeface="メイリオ"/>
                <a:cs typeface="メイリオ"/>
                <a:sym typeface="Meiryo"/>
              </a:rPr>
              <a:t>へ</a:t>
            </a:r>
            <a:endParaRPr lang="ja-JP" altLang="en-US" sz="1050" b="1" dirty="0">
              <a:solidFill>
                <a:schemeClr val="bg1"/>
              </a:solidFill>
              <a:latin typeface="メイリオ"/>
              <a:ea typeface="メイリオ"/>
              <a:cs typeface="メイリオ"/>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en-US" altLang="ja-JP" sz="1000" b="1" dirty="0">
                <a:solidFill>
                  <a:schemeClr val="bg1"/>
                </a:solidFill>
                <a:latin typeface="メイリオ"/>
                <a:ea typeface="メイリオ"/>
                <a:cs typeface="メイリオ"/>
                <a:sym typeface="Meiryo"/>
              </a:rPr>
              <a:t>LINE</a:t>
            </a:r>
            <a:r>
              <a:rPr lang="ja-JP" altLang="en-US" sz="1000" b="1" dirty="0">
                <a:solidFill>
                  <a:schemeClr val="bg1"/>
                </a:solidFill>
                <a:latin typeface="メイリオ"/>
                <a:ea typeface="メイリオ"/>
                <a:cs typeface="メイリオ"/>
                <a:sym typeface="Meiryo"/>
              </a:rPr>
              <a:t>追加へ</a:t>
            </a:r>
            <a:endParaRPr lang="ja-JP" altLang="en-US" sz="1050" b="1" dirty="0">
              <a:solidFill>
                <a:schemeClr val="bg1"/>
              </a:solidFill>
              <a:latin typeface="メイリオ"/>
              <a:ea typeface="メイリオ"/>
              <a:cs typeface="メイリオ"/>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非</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既存の</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Y</a:t>
            </a:r>
          </a:p>
          <a:p>
            <a:pPr algn="ctr"/>
            <a:r>
              <a:rPr lang="en-US" altLang="ja-JP" sz="1100" b="1" dirty="0">
                <a:solidFill>
                  <a:schemeClr val="tx1"/>
                </a:solidFill>
                <a:latin typeface="メイリオ" panose="020B0604030504040204" pitchFamily="50" charset="-128"/>
                <a:ea typeface="メイリオ" panose="020B0604030504040204" pitchFamily="50" charset="-128"/>
                <a:cs typeface="メイリオ"/>
              </a:rPr>
              <a:t>M</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ツ</a:t>
            </a:r>
            <a:endParaRPr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｜ルで</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L</a:t>
            </a:r>
            <a:b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b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I</a:t>
            </a:r>
          </a:p>
          <a:p>
            <a:pPr algn="ctr"/>
            <a:r>
              <a:rPr lang="en-US" altLang="ja-JP" sz="1100" b="1" dirty="0">
                <a:solidFill>
                  <a:schemeClr val="tx1"/>
                </a:solidFill>
                <a:latin typeface="メイリオ" panose="020B0604030504040204" pitchFamily="50" charset="-128"/>
                <a:ea typeface="メイリオ" panose="020B0604030504040204" pitchFamily="50" charset="-128"/>
                <a:cs typeface="メイリオ"/>
              </a:rPr>
              <a:t>N</a:t>
            </a:r>
            <a:br>
              <a:rPr lang="en-US" altLang="ja-JP" sz="1100" b="1" dirty="0">
                <a:solidFill>
                  <a:schemeClr val="tx1"/>
                </a:solidFill>
                <a:latin typeface="メイリオ" panose="020B0604030504040204" pitchFamily="50" charset="-128"/>
                <a:ea typeface="メイリオ" panose="020B0604030504040204" pitchFamily="50" charset="-128"/>
                <a:cs typeface="メイリオ"/>
              </a:rPr>
            </a:br>
            <a:r>
              <a:rPr lang="en-US" altLang="ja-JP" sz="1100" b="1" dirty="0">
                <a:solidFill>
                  <a:schemeClr val="tx1"/>
                </a:solidFill>
                <a:latin typeface="メイリオ" panose="020B0604030504040204" pitchFamily="50" charset="-128"/>
                <a:ea typeface="メイリオ" panose="020B0604030504040204" pitchFamily="50" charset="-128"/>
                <a:cs typeface="メイリオ"/>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動線</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に</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cs typeface="メイリオ"/>
              </a:rPr>
              <a:t>公式アカウントの</a:t>
            </a:r>
            <a:r>
              <a:rPr lang="ja-JP" altLang="en-US" sz="1100" b="1" dirty="0">
                <a:latin typeface="メイリオ" panose="020B0604030504040204" pitchFamily="50" charset="-128"/>
                <a:ea typeface="メイリオ" panose="020B0604030504040204" pitchFamily="50" charset="-128"/>
                <a:cs typeface="メイリオ"/>
              </a:rPr>
              <a:t>友だち</a:t>
            </a:r>
            <a:endParaRPr lang="en-US" altLang="ja-JP" sz="1100" b="1" dirty="0">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登録ページ</a:t>
            </a:r>
            <a:r>
              <a:rPr lang="ja-JP" altLang="en-US" sz="1100" dirty="0">
                <a:latin typeface="メイリオ" panose="020B0604030504040204" pitchFamily="50" charset="-128"/>
                <a:ea typeface="メイリオ" panose="020B0604030504040204" pitchFamily="50" charset="-128"/>
                <a:cs typeface="メイリオ"/>
              </a:rPr>
              <a:t>へ遷移する。</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cs typeface="メイリオ"/>
              </a:rPr>
              <a:t>公式アカウントの</a:t>
            </a:r>
            <a:r>
              <a:rPr lang="ja-JP" altLang="en-US" sz="1100" b="1" dirty="0">
                <a:latin typeface="メイリオ" panose="020B0604030504040204" pitchFamily="50" charset="-128"/>
                <a:ea typeface="メイリオ" panose="020B0604030504040204" pitchFamily="50" charset="-128"/>
                <a:cs typeface="メイリオ"/>
              </a:rPr>
              <a:t>トーク</a:t>
            </a:r>
            <a:endParaRPr lang="en-US" altLang="ja-JP" sz="1100" b="1" dirty="0">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画面</a:t>
            </a:r>
            <a:r>
              <a:rPr lang="ja-JP" altLang="en-US" sz="1100" dirty="0">
                <a:latin typeface="メイリオ" panose="020B0604030504040204" pitchFamily="50" charset="-128"/>
                <a:ea typeface="メイリオ" panose="020B0604030504040204" pitchFamily="50" charset="-128"/>
                <a:cs typeface="メイリオ"/>
              </a:rPr>
              <a:t>へ遷移する。</a:t>
            </a:r>
            <a:endParaRPr lang="en-US" altLang="ja-JP" sz="1100" dirty="0">
              <a:latin typeface="メイリオ" panose="020B0604030504040204" pitchFamily="50" charset="-128"/>
              <a:ea typeface="メイリオ" panose="020B0604030504040204" pitchFamily="50" charset="-128"/>
              <a:cs typeface="メイリオ"/>
            </a:endParaRPr>
          </a:p>
          <a:p>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設定によりフォーム入力</a:t>
            </a:r>
            <a:endParaRPr kumimoji="1"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lang="ja-JP" altLang="en-US" sz="1000" dirty="0">
                <a:solidFill>
                  <a:srgbClr val="1F2A5C"/>
                </a:solidFill>
                <a:latin typeface="メイリオ" panose="020B0604030504040204" pitchFamily="50" charset="-128"/>
                <a:ea typeface="メイリオ" panose="020B0604030504040204" pitchFamily="50" charset="-128"/>
                <a:cs typeface="メイリオ"/>
              </a:rPr>
              <a:t>　内容を踏襲した入力画面</a:t>
            </a:r>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　を表示させることが可能。</a:t>
            </a:r>
            <a:endParaRPr kumimoji="1" lang="en-US" altLang="ja-JP" sz="1000" dirty="0">
              <a:solidFill>
                <a:srgbClr val="1F2A5C"/>
              </a:solidFill>
              <a:latin typeface="メイリオ" panose="020B0604030504040204" pitchFamily="50" charset="-128"/>
              <a:ea typeface="メイリオ" panose="020B0604030504040204" pitchFamily="50" charset="-128"/>
              <a:cs typeface="メイリオ"/>
            </a:endParaRPr>
          </a:p>
          <a:p>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a:t>
            </a:r>
            <a:endParaRPr lang="en-US" altLang="ja-JP" sz="1100" b="1" dirty="0">
              <a:latin typeface="メイリオ" panose="020B0604030504040204" pitchFamily="50" charset="-128"/>
              <a:ea typeface="メイリオ" panose="020B0604030504040204" pitchFamily="50" charset="-128"/>
              <a:cs typeface="メイリオ"/>
            </a:endParaRPr>
          </a:p>
          <a:p>
            <a:r>
              <a:rPr kumimoji="1" lang="ja-JP" altLang="en-US" sz="1100" b="1" dirty="0">
                <a:latin typeface="メイリオ" panose="020B0604030504040204" pitchFamily="50" charset="-128"/>
                <a:ea typeface="メイリオ" panose="020B0604030504040204" pitchFamily="50" charset="-128"/>
                <a:cs typeface="メイリオ"/>
              </a:rPr>
              <a:t>配信セグメントに利用可</a:t>
            </a:r>
            <a:endParaRPr kumimoji="1" lang="ja-JP" altLang="en-US" sz="11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cs typeface="メイリオ"/>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b="1" dirty="0">
                <a:solidFill>
                  <a:srgbClr val="1F2A5C"/>
                </a:solidFill>
                <a:latin typeface="メイリオ" panose="020B0604030504040204" pitchFamily="50" charset="-128"/>
                <a:ea typeface="メイリオ" panose="020B0604030504040204" pitchFamily="50" charset="-128"/>
                <a:cs typeface="メイリオ"/>
              </a:rPr>
              <a:t>入力した内容を</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トークに反映が可能。</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cs typeface="メイリオ"/>
              </a:rPr>
              <a:t>CV</a:t>
            </a:r>
            <a:endParaRPr kumimoji="1" lang="ja-JP" altLang="en-US" sz="1100" b="1" dirty="0">
              <a:latin typeface="メイリオ" panose="020B0604030504040204" pitchFamily="50" charset="-128"/>
              <a:ea typeface="メイリオ" panose="020B0604030504040204" pitchFamily="50" charset="-128"/>
              <a:cs typeface="メイリオ"/>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cs typeface="メイリオ"/>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cs typeface="メイリオ"/>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cs typeface="メイリオ"/>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cs typeface="メイリオ"/>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cs typeface="メイリオ"/>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サンクス</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LINE</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誘導</a:t>
              </a:r>
            </a:p>
          </p:txBody>
        </p:sp>
      </p:gr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1F2A5C"/>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cs typeface="メイリオ"/>
              </a:rPr>
              <a:t>友だち追加後</a:t>
            </a:r>
            <a:endParaRPr lang="ja-JP" altLang="en-US" sz="1100" dirty="0">
              <a:solidFill>
                <a:srgbClr val="00C057"/>
              </a:solidFill>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メイリオ"/>
                <a:ea typeface="メイリオ"/>
                <a:cs typeface="メイリオ"/>
                <a:sym typeface="Meiryo"/>
              </a:rPr>
              <a:t>サンクス到達時の</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動線が弊社開発により可能に。</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費用を抑えての導入が可能で、新規反響の質改善に寄与。</a:t>
            </a: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既存</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ツールとの併用についても、問題なく稼働が可能。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初期：15万円</a:t>
            </a:r>
            <a:endParaRPr sz="1400" b="1" i="0" u="none" strike="noStrike" cap="none" dirty="0">
              <a:solidFill>
                <a:schemeClr val="lt1"/>
              </a:solidFill>
              <a:latin typeface="メイリオ"/>
              <a:ea typeface="メイリオ"/>
              <a:cs typeface="メイリオ"/>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1F2A5C"/>
                </a:solidFill>
                <a:latin typeface="メイリオ"/>
                <a:ea typeface="メイリオ"/>
                <a:cs typeface="メイリオ"/>
                <a:sym typeface="Meiryo"/>
              </a:rPr>
              <a:t>+</a:t>
            </a:r>
            <a:r>
              <a:rPr lang="ja-JP" altLang="en-US" sz="1050" b="1" dirty="0">
                <a:solidFill>
                  <a:srgbClr val="1F2A5C"/>
                </a:solidFill>
                <a:latin typeface="メイリオ"/>
                <a:ea typeface="メイリオ"/>
                <a:cs typeface="メイリオ"/>
                <a:sym typeface="Meiryo"/>
              </a:rPr>
              <a:t>設定地点追加</a:t>
            </a:r>
            <a:endParaRPr sz="1050" b="1" i="0" u="none" strike="noStrike" cap="none" dirty="0">
              <a:solidFill>
                <a:srgbClr val="1F2A5C"/>
              </a:solidFill>
              <a:latin typeface="メイリオ"/>
              <a:ea typeface="メイリオ"/>
              <a:cs typeface="メイリオ"/>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1F2A5C"/>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cs typeface="メイリオ"/>
              </a:rPr>
              <a:t>高開封率のLINEに誘導</a:t>
            </a:r>
            <a:r>
              <a:rPr lang="ja-JP" altLang="en-US" sz="1200" dirty="0">
                <a:latin typeface="メイリオ" panose="020B0604030504040204" pitchFamily="50" charset="-128"/>
                <a:ea typeface="メイリオ" panose="020B0604030504040204" pitchFamily="50" charset="-128"/>
                <a:cs typeface="メイリオ"/>
              </a:rPr>
              <a:t>して</a:t>
            </a:r>
            <a:r>
              <a:rPr lang="ja-JP" altLang="ja-JP" sz="1200" dirty="0">
                <a:latin typeface="メイリオ" panose="020B0604030504040204" pitchFamily="50" charset="-128"/>
                <a:ea typeface="メイリオ" panose="020B0604030504040204" pitchFamily="50" charset="-128"/>
                <a:cs typeface="メイリオ"/>
              </a:rPr>
              <a:t>反響→実売上への引上げ率、リピート率改善。</a:t>
            </a:r>
            <a:endParaRPr lang="en-US" altLang="ja-JP" sz="1200" dirty="0">
              <a:latin typeface="メイリオ" panose="020B0604030504040204" pitchFamily="50" charset="-128"/>
              <a:ea typeface="メイリオ" panose="020B0604030504040204" pitchFamily="50" charset="-128"/>
              <a:cs typeface="メイリオ"/>
            </a:endParaRPr>
          </a:p>
          <a:p>
            <a:pPr algn="ctr"/>
            <a:r>
              <a:rPr lang="ja-JP" altLang="ja-JP" sz="1200" dirty="0">
                <a:latin typeface="メイリオ" panose="020B0604030504040204" pitchFamily="50" charset="-128"/>
                <a:ea typeface="メイリオ" panose="020B0604030504040204" pitchFamily="50" charset="-128"/>
                <a:cs typeface="メイリオ"/>
              </a:rPr>
              <a:t> </a:t>
            </a:r>
            <a:r>
              <a:rPr lang="ja-JP" altLang="ja-JP" sz="1200" b="1" dirty="0">
                <a:solidFill>
                  <a:srgbClr val="1F2A5C"/>
                </a:solidFill>
                <a:latin typeface="メイリオ" panose="020B0604030504040204" pitchFamily="50" charset="-128"/>
                <a:ea typeface="メイリオ" panose="020B0604030504040204" pitchFamily="50" charset="-128"/>
                <a:cs typeface="メイリオ"/>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cs typeface="メイリオ"/>
              </a:rPr>
              <a:t>。</a:t>
            </a:r>
            <a:endParaRPr lang="ja-JP" altLang="en-US"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4252182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C6895-896B-9E00-CCE0-8FD2C532CBF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57325C46-C913-158A-F4D5-062E1EE9DA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誘導）</a:t>
            </a:r>
          </a:p>
        </p:txBody>
      </p:sp>
      <p:sp>
        <p:nvSpPr>
          <p:cNvPr id="11" name="正方形/長方形 10">
            <a:extLst>
              <a:ext uri="{FF2B5EF4-FFF2-40B4-BE49-F238E27FC236}">
                <a16:creationId xmlns:a16="http://schemas.microsoft.com/office/drawing/2014/main" id="{3E47B791-F689-043A-D742-58F518AFE49A}"/>
              </a:ext>
            </a:extLst>
          </p:cNvPr>
          <p:cNvSpPr/>
          <p:nvPr/>
        </p:nvSpPr>
        <p:spPr>
          <a:xfrm>
            <a:off x="543399" y="1938056"/>
            <a:ext cx="4649626"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WEB</a:t>
            </a: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サイト</a:t>
            </a:r>
          </a:p>
        </p:txBody>
      </p:sp>
      <p:sp>
        <p:nvSpPr>
          <p:cNvPr id="1026" name="テキスト ボックス 1025">
            <a:extLst>
              <a:ext uri="{FF2B5EF4-FFF2-40B4-BE49-F238E27FC236}">
                <a16:creationId xmlns:a16="http://schemas.microsoft.com/office/drawing/2014/main" id="{CC180508-A6F5-4077-668A-348F7DF4F354}"/>
              </a:ext>
            </a:extLst>
          </p:cNvPr>
          <p:cNvSpPr txBox="1"/>
          <p:nvPr/>
        </p:nvSpPr>
        <p:spPr>
          <a:xfrm>
            <a:off x="4893555" y="3926711"/>
            <a:ext cx="3405553" cy="400110"/>
          </a:xfrm>
          <a:prstGeom prst="rect">
            <a:avLst/>
          </a:prstGeom>
          <a:noFill/>
        </p:spPr>
        <p:txBody>
          <a:bodyPr wrap="square">
            <a:spAutoFit/>
          </a:bodyPr>
          <a:lstStyle/>
          <a:p>
            <a:pPr algn="ctr"/>
            <a:r>
              <a:rPr lang="en-US" altLang="ja-JP" sz="10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b="1" dirty="0">
                <a:solidFill>
                  <a:srgbClr val="1F2A5C"/>
                </a:solidFill>
                <a:latin typeface="メイリオ" panose="020B0604030504040204" pitchFamily="50" charset="-128"/>
                <a:ea typeface="メイリオ" panose="020B0604030504040204" pitchFamily="50" charset="-128"/>
                <a:cs typeface="メイリオ"/>
              </a:rPr>
              <a:t>入力した内容を</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トークに反映が可能。</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grpSp>
        <p:nvGrpSpPr>
          <p:cNvPr id="3" name="グループ化 2">
            <a:extLst>
              <a:ext uri="{FF2B5EF4-FFF2-40B4-BE49-F238E27FC236}">
                <a16:creationId xmlns:a16="http://schemas.microsoft.com/office/drawing/2014/main" id="{99AB0048-465B-06EC-2698-828FB68C7B90}"/>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93586BF1-F8BC-5452-51F7-4513DF4B3FE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F3E849F1-4DB7-C5D3-786D-0D1AECEAE009}"/>
                </a:ext>
              </a:extLst>
            </p:cNvPr>
            <p:cNvSpPr txBox="1"/>
            <p:nvPr/>
          </p:nvSpPr>
          <p:spPr>
            <a:xfrm>
              <a:off x="1140096" y="988192"/>
              <a:ext cx="1832553"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サンクス</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LINE</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9" name="正方形/長方形 8">
            <a:extLst>
              <a:ext uri="{FF2B5EF4-FFF2-40B4-BE49-F238E27FC236}">
                <a16:creationId xmlns:a16="http://schemas.microsoft.com/office/drawing/2014/main" id="{59EFBEFD-6BC5-E2FD-1966-9BF5B3ACA1E2}"/>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メイリオ"/>
                <a:ea typeface="メイリオ"/>
                <a:cs typeface="メイリオ"/>
                <a:sym typeface="Meiryo"/>
              </a:rPr>
              <a:t>サンクス到達時の</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動線が弊社開発により可能に。</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費用を抑えての導入が可能で、新規反響の質改善に寄与。</a:t>
            </a:r>
          </a:p>
        </p:txBody>
      </p:sp>
      <p:sp>
        <p:nvSpPr>
          <p:cNvPr id="14" name="テキスト ボックス 13">
            <a:extLst>
              <a:ext uri="{FF2B5EF4-FFF2-40B4-BE49-F238E27FC236}">
                <a16:creationId xmlns:a16="http://schemas.microsoft.com/office/drawing/2014/main" id="{56453884-60B1-5704-5C42-5665A429B1D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既存</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ツールとの併用についても、問題なく稼働が可能。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5F399775-D053-4999-7BF8-10B94CF4C6FE}"/>
              </a:ext>
            </a:extLst>
          </p:cNvPr>
          <p:cNvSpPr/>
          <p:nvPr/>
        </p:nvSpPr>
        <p:spPr>
          <a:xfrm>
            <a:off x="5341545" y="1938056"/>
            <a:ext cx="4216009"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6" name="Google Shape;51;p19">
            <a:extLst>
              <a:ext uri="{FF2B5EF4-FFF2-40B4-BE49-F238E27FC236}">
                <a16:creationId xmlns:a16="http://schemas.microsoft.com/office/drawing/2014/main" id="{A8144D94-F2AB-9C06-BFEE-A0ACB1715302}"/>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初期：15万円</a:t>
            </a:r>
            <a:endParaRPr sz="1400" b="1" i="0" u="none" strike="noStrike" cap="none" dirty="0">
              <a:solidFill>
                <a:schemeClr val="lt1"/>
              </a:solidFill>
              <a:latin typeface="メイリオ"/>
              <a:ea typeface="メイリオ"/>
              <a:cs typeface="メイリオ"/>
              <a:sym typeface="Meiryo"/>
            </a:endParaRPr>
          </a:p>
        </p:txBody>
      </p:sp>
      <p:sp>
        <p:nvSpPr>
          <p:cNvPr id="28" name="Google Shape;51;p19">
            <a:extLst>
              <a:ext uri="{FF2B5EF4-FFF2-40B4-BE49-F238E27FC236}">
                <a16:creationId xmlns:a16="http://schemas.microsoft.com/office/drawing/2014/main" id="{DEF16EFC-3EF0-A11F-C5A2-CCD96FC766C5}"/>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1F2A5C"/>
                </a:solidFill>
                <a:latin typeface="メイリオ"/>
                <a:ea typeface="メイリオ"/>
                <a:cs typeface="メイリオ"/>
                <a:sym typeface="Meiryo"/>
              </a:rPr>
              <a:t>+</a:t>
            </a:r>
            <a:r>
              <a:rPr lang="ja-JP" altLang="en-US" sz="1050" b="1" dirty="0">
                <a:solidFill>
                  <a:srgbClr val="1F2A5C"/>
                </a:solidFill>
                <a:latin typeface="メイリオ"/>
                <a:ea typeface="メイリオ"/>
                <a:cs typeface="メイリオ"/>
                <a:sym typeface="Meiryo"/>
              </a:rPr>
              <a:t>設定地点追加</a:t>
            </a:r>
            <a:endParaRPr sz="1050" b="1" i="0" u="none" strike="noStrike" cap="none" dirty="0">
              <a:solidFill>
                <a:srgbClr val="1F2A5C"/>
              </a:solidFill>
              <a:latin typeface="メイリオ"/>
              <a:ea typeface="メイリオ"/>
              <a:cs typeface="メイリオ"/>
              <a:sym typeface="Meiryo"/>
            </a:endParaRPr>
          </a:p>
        </p:txBody>
      </p:sp>
      <p:sp>
        <p:nvSpPr>
          <p:cNvPr id="31" name="正方形/長方形 30">
            <a:extLst>
              <a:ext uri="{FF2B5EF4-FFF2-40B4-BE49-F238E27FC236}">
                <a16:creationId xmlns:a16="http://schemas.microsoft.com/office/drawing/2014/main" id="{10BD4226-0F03-4184-B60F-A4B0D5C2A14C}"/>
              </a:ext>
            </a:extLst>
          </p:cNvPr>
          <p:cNvSpPr/>
          <p:nvPr/>
        </p:nvSpPr>
        <p:spPr>
          <a:xfrm>
            <a:off x="5500863" y="2551780"/>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正方形/長方形 31">
            <a:extLst>
              <a:ext uri="{FF2B5EF4-FFF2-40B4-BE49-F238E27FC236}">
                <a16:creationId xmlns:a16="http://schemas.microsoft.com/office/drawing/2014/main" id="{18EBDCF6-438E-D689-6C13-7FD918CCDF3C}"/>
              </a:ext>
            </a:extLst>
          </p:cNvPr>
          <p:cNvSpPr/>
          <p:nvPr/>
        </p:nvSpPr>
        <p:spPr>
          <a:xfrm>
            <a:off x="5666814" y="2429705"/>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既存の</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友だちの場合</a:t>
            </a:r>
          </a:p>
        </p:txBody>
      </p:sp>
      <p:pic>
        <p:nvPicPr>
          <p:cNvPr id="33" name="図 32" descr="電卓の写真のスマートフォンのスクリーンショット&#10;&#10;AI 生成コンテンツは誤りを含む可能性があります。">
            <a:extLst>
              <a:ext uri="{FF2B5EF4-FFF2-40B4-BE49-F238E27FC236}">
                <a16:creationId xmlns:a16="http://schemas.microsoft.com/office/drawing/2014/main" id="{252A850A-DE67-1AAB-8E3B-575386215750}"/>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691800" y="2287863"/>
            <a:ext cx="1231081" cy="2085098"/>
          </a:xfrm>
          <a:prstGeom prst="rect">
            <a:avLst/>
          </a:prstGeom>
        </p:spPr>
      </p:pic>
      <p:sp>
        <p:nvSpPr>
          <p:cNvPr id="39" name="テキスト ボックス 38">
            <a:extLst>
              <a:ext uri="{FF2B5EF4-FFF2-40B4-BE49-F238E27FC236}">
                <a16:creationId xmlns:a16="http://schemas.microsoft.com/office/drawing/2014/main" id="{11A21BC1-BB4B-B5CB-0B1B-B0AEC0F6766A}"/>
              </a:ext>
            </a:extLst>
          </p:cNvPr>
          <p:cNvSpPr txBox="1"/>
          <p:nvPr/>
        </p:nvSpPr>
        <p:spPr>
          <a:xfrm>
            <a:off x="5664087" y="2877091"/>
            <a:ext cx="1859035" cy="1046440"/>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cs typeface="メイリオ"/>
              </a:rPr>
              <a:t>公式アカウントの</a:t>
            </a:r>
            <a:r>
              <a:rPr lang="ja-JP" altLang="en-US" sz="1100" b="1" dirty="0">
                <a:latin typeface="メイリオ" panose="020B0604030504040204" pitchFamily="50" charset="-128"/>
                <a:ea typeface="メイリオ" panose="020B0604030504040204" pitchFamily="50" charset="-128"/>
                <a:cs typeface="メイリオ"/>
              </a:rPr>
              <a:t>トーク</a:t>
            </a:r>
            <a:endParaRPr lang="en-US" altLang="ja-JP" sz="1100" b="1" dirty="0">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画面</a:t>
            </a:r>
            <a:r>
              <a:rPr lang="ja-JP" altLang="en-US" sz="1100" dirty="0">
                <a:latin typeface="メイリオ" panose="020B0604030504040204" pitchFamily="50" charset="-128"/>
                <a:ea typeface="メイリオ" panose="020B0604030504040204" pitchFamily="50" charset="-128"/>
                <a:cs typeface="メイリオ"/>
              </a:rPr>
              <a:t>へ遷移する。</a:t>
            </a:r>
            <a:endParaRPr lang="en-US" altLang="ja-JP" sz="1100" dirty="0">
              <a:latin typeface="メイリオ" panose="020B0604030504040204" pitchFamily="50" charset="-128"/>
              <a:ea typeface="メイリオ" panose="020B0604030504040204" pitchFamily="50" charset="-128"/>
              <a:cs typeface="メイリオ"/>
            </a:endParaRPr>
          </a:p>
          <a:p>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設定によりフォーム入力</a:t>
            </a:r>
            <a:endParaRPr kumimoji="1"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lang="ja-JP" altLang="en-US" sz="1000" dirty="0">
                <a:solidFill>
                  <a:srgbClr val="1F2A5C"/>
                </a:solidFill>
                <a:latin typeface="メイリオ" panose="020B0604030504040204" pitchFamily="50" charset="-128"/>
                <a:ea typeface="メイリオ" panose="020B0604030504040204" pitchFamily="50" charset="-128"/>
                <a:cs typeface="メイリオ"/>
              </a:rPr>
              <a:t>　内容を踏襲した入力画面</a:t>
            </a:r>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　を表示させることが可能。</a:t>
            </a:r>
            <a:endParaRPr kumimoji="1" lang="en-US" altLang="ja-JP" sz="1000" dirty="0">
              <a:solidFill>
                <a:srgbClr val="1F2A5C"/>
              </a:solidFill>
              <a:latin typeface="メイリオ" panose="020B0604030504040204" pitchFamily="50" charset="-128"/>
              <a:ea typeface="メイリオ" panose="020B0604030504040204" pitchFamily="50" charset="-128"/>
              <a:cs typeface="メイリオ"/>
            </a:endParaRPr>
          </a:p>
          <a:p>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p:txBody>
      </p:sp>
      <p:pic>
        <p:nvPicPr>
          <p:cNvPr id="43" name="図 42">
            <a:extLst>
              <a:ext uri="{FF2B5EF4-FFF2-40B4-BE49-F238E27FC236}">
                <a16:creationId xmlns:a16="http://schemas.microsoft.com/office/drawing/2014/main" id="{5042697E-BCAB-283D-289B-8059CFFDE88F}"/>
              </a:ext>
            </a:extLst>
          </p:cNvPr>
          <p:cNvPicPr>
            <a:picLocks noChangeAspect="1"/>
          </p:cNvPicPr>
          <p:nvPr/>
        </p:nvPicPr>
        <p:blipFill>
          <a:blip r:embed="rId3"/>
          <a:stretch>
            <a:fillRect/>
          </a:stretch>
        </p:blipFill>
        <p:spPr>
          <a:xfrm>
            <a:off x="8088101" y="2284958"/>
            <a:ext cx="334412" cy="74315"/>
          </a:xfrm>
          <a:prstGeom prst="rect">
            <a:avLst/>
          </a:prstGeom>
        </p:spPr>
      </p:pic>
      <p:pic>
        <p:nvPicPr>
          <p:cNvPr id="44" name="図 43">
            <a:extLst>
              <a:ext uri="{FF2B5EF4-FFF2-40B4-BE49-F238E27FC236}">
                <a16:creationId xmlns:a16="http://schemas.microsoft.com/office/drawing/2014/main" id="{592C073E-FA0A-DF63-E2EF-2D654055CD06}"/>
              </a:ext>
            </a:extLst>
          </p:cNvPr>
          <p:cNvPicPr>
            <a:picLocks noChangeAspect="1"/>
          </p:cNvPicPr>
          <p:nvPr/>
        </p:nvPicPr>
        <p:blipFill>
          <a:blip r:embed="rId3"/>
          <a:stretch>
            <a:fillRect/>
          </a:stretch>
        </p:blipFill>
        <p:spPr>
          <a:xfrm>
            <a:off x="8240501" y="2437358"/>
            <a:ext cx="334412" cy="74315"/>
          </a:xfrm>
          <a:prstGeom prst="rect">
            <a:avLst/>
          </a:prstGeom>
        </p:spPr>
      </p:pic>
      <p:cxnSp>
        <p:nvCxnSpPr>
          <p:cNvPr id="52" name="コネクタ: カギ線 51">
            <a:extLst>
              <a:ext uri="{FF2B5EF4-FFF2-40B4-BE49-F238E27FC236}">
                <a16:creationId xmlns:a16="http://schemas.microsoft.com/office/drawing/2014/main" id="{8357B78E-00F3-6A09-133E-FA44D96E056A}"/>
              </a:ext>
            </a:extLst>
          </p:cNvPr>
          <p:cNvCxnSpPr>
            <a:cxnSpLocks/>
          </p:cNvCxnSpPr>
          <p:nvPr/>
        </p:nvCxnSpPr>
        <p:spPr>
          <a:xfrm flipV="1">
            <a:off x="7364945" y="3065322"/>
            <a:ext cx="574585" cy="332494"/>
          </a:xfrm>
          <a:prstGeom prst="bentConnector3">
            <a:avLst>
              <a:gd name="adj1" fmla="val 50000"/>
            </a:avLst>
          </a:prstGeom>
          <a:ln w="15875">
            <a:solidFill>
              <a:srgbClr val="1F2A5C"/>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0" name="テキスト ボックス 59">
            <a:extLst>
              <a:ext uri="{FF2B5EF4-FFF2-40B4-BE49-F238E27FC236}">
                <a16:creationId xmlns:a16="http://schemas.microsoft.com/office/drawing/2014/main" id="{B3F147E1-85AD-880C-67E9-D8D7B09A8DA1}"/>
              </a:ext>
            </a:extLst>
          </p:cNvPr>
          <p:cNvSpPr txBox="1"/>
          <p:nvPr/>
        </p:nvSpPr>
        <p:spPr>
          <a:xfrm>
            <a:off x="5530932" y="4525127"/>
            <a:ext cx="3730896" cy="1269917"/>
          </a:xfrm>
          <a:prstGeom prst="rect">
            <a:avLst/>
          </a:prstGeom>
          <a:solidFill>
            <a:srgbClr val="F2F2F2"/>
          </a:solidFill>
        </p:spPr>
        <p:txBody>
          <a:bodyPr wrap="square" anchor="ctr">
            <a:spAutoFit/>
          </a:bodyPr>
          <a:lstStyle/>
          <a:p>
            <a:pPr algn="ctr"/>
            <a:r>
              <a:rPr lang="ja-JP" altLang="en-US" sz="1400" b="1" dirty="0">
                <a:latin typeface="メイリオ" panose="020B0604030504040204" pitchFamily="50" charset="-128"/>
                <a:ea typeface="メイリオ" panose="020B0604030504040204" pitchFamily="50" charset="-128"/>
                <a:cs typeface="メイリオ"/>
              </a:rPr>
              <a:t>非友だち　：　友だち追加</a:t>
            </a:r>
            <a:r>
              <a:rPr lang="en-US" altLang="ja-JP" sz="1400" b="1" dirty="0">
                <a:latin typeface="メイリオ" panose="020B0604030504040204" pitchFamily="50" charset="-128"/>
                <a:ea typeface="メイリオ" panose="020B0604030504040204" pitchFamily="50" charset="-128"/>
                <a:cs typeface="メイリオ"/>
              </a:rPr>
              <a:t>CTA</a:t>
            </a:r>
          </a:p>
          <a:p>
            <a:pPr algn="ctr"/>
            <a:r>
              <a:rPr lang="ja-JP" altLang="en-US" sz="1400" b="1" dirty="0">
                <a:latin typeface="メイリオ" panose="020B0604030504040204" pitchFamily="50" charset="-128"/>
                <a:ea typeface="メイリオ" panose="020B0604030504040204" pitchFamily="50" charset="-128"/>
                <a:cs typeface="メイリオ"/>
              </a:rPr>
              <a:t>友だち　：　入力項目</a:t>
            </a:r>
            <a:endParaRPr lang="en-US" altLang="ja-JP" sz="1400" b="1" dirty="0">
              <a:latin typeface="メイリオ" panose="020B0604030504040204" pitchFamily="50" charset="-128"/>
              <a:ea typeface="メイリオ" panose="020B0604030504040204" pitchFamily="50" charset="-128"/>
              <a:cs typeface="メイリオ"/>
            </a:endParaRPr>
          </a:p>
          <a:p>
            <a:pPr algn="ctr"/>
            <a:r>
              <a:rPr lang="ja-JP" altLang="en-US" sz="1400" b="1" dirty="0">
                <a:latin typeface="メイリオ" panose="020B0604030504040204" pitchFamily="50" charset="-128"/>
                <a:ea typeface="メイリオ" panose="020B0604030504040204" pitchFamily="50" charset="-128"/>
                <a:cs typeface="メイリオ"/>
              </a:rPr>
              <a:t>↓</a:t>
            </a:r>
            <a:endParaRPr lang="en-US" altLang="ja-JP" sz="1400" b="1" dirty="0">
              <a:latin typeface="メイリオ" panose="020B0604030504040204" pitchFamily="50" charset="-128"/>
              <a:ea typeface="メイリオ" panose="020B0604030504040204" pitchFamily="50" charset="-128"/>
              <a:cs typeface="メイリオ"/>
            </a:endParaRPr>
          </a:p>
          <a:p>
            <a:pPr algn="ctr"/>
            <a:r>
              <a:rPr kumimoji="1" lang="ja-JP" altLang="en-US" sz="1400" b="1" dirty="0">
                <a:solidFill>
                  <a:srgbClr val="1F2A5C"/>
                </a:solidFill>
                <a:latin typeface="メイリオ" panose="020B0604030504040204" pitchFamily="50" charset="-128"/>
                <a:ea typeface="メイリオ" panose="020B0604030504040204" pitchFamily="50" charset="-128"/>
                <a:cs typeface="メイリオ"/>
              </a:rPr>
              <a:t>配信セグメントとして活用</a:t>
            </a:r>
            <a:endParaRPr kumimoji="1" lang="en-US" altLang="ja-JP"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62" name="正方形/長方形 61">
            <a:extLst>
              <a:ext uri="{FF2B5EF4-FFF2-40B4-BE49-F238E27FC236}">
                <a16:creationId xmlns:a16="http://schemas.microsoft.com/office/drawing/2014/main" id="{C34094D4-4FAE-D245-6147-C35E71DD4CC8}"/>
              </a:ext>
            </a:extLst>
          </p:cNvPr>
          <p:cNvSpPr/>
          <p:nvPr/>
        </p:nvSpPr>
        <p:spPr>
          <a:xfrm>
            <a:off x="443011" y="2307629"/>
            <a:ext cx="2399777"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セミナー予約</a:t>
            </a:r>
          </a:p>
        </p:txBody>
      </p:sp>
      <p:sp>
        <p:nvSpPr>
          <p:cNvPr id="1025" name="正方形/長方形 1024">
            <a:extLst>
              <a:ext uri="{FF2B5EF4-FFF2-40B4-BE49-F238E27FC236}">
                <a16:creationId xmlns:a16="http://schemas.microsoft.com/office/drawing/2014/main" id="{5BF4A25A-82A2-0487-DB4D-8B89F895CBB0}"/>
              </a:ext>
            </a:extLst>
          </p:cNvPr>
          <p:cNvSpPr/>
          <p:nvPr/>
        </p:nvSpPr>
        <p:spPr>
          <a:xfrm>
            <a:off x="2891617" y="2307628"/>
            <a:ext cx="2399777"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サロン申込み</a:t>
            </a:r>
          </a:p>
        </p:txBody>
      </p:sp>
      <p:sp>
        <p:nvSpPr>
          <p:cNvPr id="1033" name="矢印: 下 1032">
            <a:extLst>
              <a:ext uri="{FF2B5EF4-FFF2-40B4-BE49-F238E27FC236}">
                <a16:creationId xmlns:a16="http://schemas.microsoft.com/office/drawing/2014/main" id="{3277AE2F-ADD2-3317-20C0-EEAE2FCBE973}"/>
              </a:ext>
            </a:extLst>
          </p:cNvPr>
          <p:cNvSpPr/>
          <p:nvPr/>
        </p:nvSpPr>
        <p:spPr>
          <a:xfrm>
            <a:off x="1144266" y="5160085"/>
            <a:ext cx="1075862" cy="244151"/>
          </a:xfrm>
          <a:prstGeom prst="down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37" name="矢印: 下 1036">
            <a:extLst>
              <a:ext uri="{FF2B5EF4-FFF2-40B4-BE49-F238E27FC236}">
                <a16:creationId xmlns:a16="http://schemas.microsoft.com/office/drawing/2014/main" id="{0C880EC7-0A21-CB31-B621-DEC827B415EF}"/>
              </a:ext>
            </a:extLst>
          </p:cNvPr>
          <p:cNvSpPr/>
          <p:nvPr/>
        </p:nvSpPr>
        <p:spPr>
          <a:xfrm>
            <a:off x="3553574" y="5160084"/>
            <a:ext cx="1075862" cy="244151"/>
          </a:xfrm>
          <a:prstGeom prst="down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45" name="正方形/長方形 1044">
            <a:extLst>
              <a:ext uri="{FF2B5EF4-FFF2-40B4-BE49-F238E27FC236}">
                <a16:creationId xmlns:a16="http://schemas.microsoft.com/office/drawing/2014/main" id="{FB7AE13E-85F8-C517-848B-5313A3CFA572}"/>
              </a:ext>
            </a:extLst>
          </p:cNvPr>
          <p:cNvSpPr/>
          <p:nvPr/>
        </p:nvSpPr>
        <p:spPr>
          <a:xfrm>
            <a:off x="443011" y="5505059"/>
            <a:ext cx="2399777" cy="922901"/>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kumimoji="1"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予約内容の登録</a:t>
            </a:r>
            <a:endParaRPr kumimoji="1"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LINEに遷移</a:t>
            </a: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前日・当日のお知らせが開始</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047" name="正方形/長方形 1046">
            <a:extLst>
              <a:ext uri="{FF2B5EF4-FFF2-40B4-BE49-F238E27FC236}">
                <a16:creationId xmlns:a16="http://schemas.microsoft.com/office/drawing/2014/main" id="{F033AA41-B418-A490-2721-21F61A63D10C}"/>
              </a:ext>
            </a:extLst>
          </p:cNvPr>
          <p:cNvSpPr/>
          <p:nvPr/>
        </p:nvSpPr>
        <p:spPr>
          <a:xfrm>
            <a:off x="2891617" y="5505058"/>
            <a:ext cx="2399777" cy="922901"/>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申込み内容の登録</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LINEに遷移</a:t>
            </a: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入会後のご案内が開始</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050" name="差し込み LPの予約フォーム"/>
          <p:cNvSpPr/>
          <p:nvPr/>
        </p:nvSpPr>
        <p:spPr>
          <a:xfrm>
            <a:off x="598364" y="2610452"/>
            <a:ext cx="2159695" cy="2425925"/>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LPの予約フォーム</a:t>
            </a:r>
            <a:endParaRPr lang="ja-JP" altLang="en-US" sz="1200" dirty="0">
              <a:latin typeface="メイリオ"/>
              <a:ea typeface="メイリオ"/>
              <a:cs typeface="メイリオ"/>
            </a:endParaRPr>
          </a:p>
        </p:txBody>
      </p:sp>
      <p:sp>
        <p:nvSpPr>
          <p:cNvPr id="1051" name="差し込み サロンの申込みページ"/>
          <p:cNvSpPr/>
          <p:nvPr/>
        </p:nvSpPr>
        <p:spPr>
          <a:xfrm>
            <a:off x="2891617" y="2590927"/>
            <a:ext cx="2399777" cy="2544560"/>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サロンの申込みページ</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42476006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やまや（</a:t>
            </a:r>
            <a:r>
              <a:rPr kumimoji="1" lang="en-US" altLang="ja-JP" sz="1100" dirty="0">
                <a:solidFill>
                  <a:schemeClr val="tx1"/>
                </a:solidFill>
                <a:latin typeface="メイリオ" panose="020B0604030504040204" pitchFamily="50" charset="-128"/>
                <a:ea typeface="メイリオ" panose="020B0604030504040204" pitchFamily="50" charset="-128"/>
                <a:cs typeface="メイリオ"/>
              </a:rPr>
              <a:t>EC</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FF"/>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費用感</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成果報酬型プラン</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286000" y="859443"/>
            <a:ext cx="7406640"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cs typeface="メイリオ"/>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cs typeface="メイリオ"/>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成果件数 </a:t>
            </a:r>
            <a:r>
              <a:rPr lang="en-US" altLang="ja-JP" sz="14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アカウント費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ツール費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cs typeface="メイリオ"/>
              </a:rPr>
              <a:t>＋</a:t>
            </a:r>
            <a:endParaRPr lang="en-US" altLang="ja-JP" sz="28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複数の</a:t>
            </a: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流入経路からステップ配信を構築し、</a:t>
            </a:r>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数を増加。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1783080"/>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導入ツールに応じて費用発生</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上限通数を設定して運営可能</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成果件数は</a:t>
            </a:r>
            <a:r>
              <a:rPr lang="en-US" altLang="ja-JP" sz="800" dirty="0">
                <a:solidFill>
                  <a:srgbClr val="1F2A5C"/>
                </a:solidFill>
                <a:latin typeface="メイリオ" panose="020B0604030504040204" pitchFamily="50" charset="-128"/>
                <a:ea typeface="メイリオ" panose="020B0604030504040204" pitchFamily="50" charset="-128"/>
                <a:cs typeface="メイリオ"/>
              </a:rPr>
              <a:t>GA</a:t>
            </a:r>
            <a:r>
              <a:rPr lang="ja-JP" altLang="en-US" sz="800" dirty="0">
                <a:solidFill>
                  <a:srgbClr val="1F2A5C"/>
                </a:solidFill>
                <a:latin typeface="メイリオ" panose="020B0604030504040204" pitchFamily="50" charset="-128"/>
                <a:ea typeface="メイリオ" panose="020B0604030504040204" pitchFamily="50" charset="-128"/>
                <a:cs typeface="メイリオ"/>
              </a:rPr>
              <a:t>、他ツールでの計測</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成果報酬単価は広告</a:t>
            </a:r>
            <a:r>
              <a:rPr lang="en-US" altLang="ja-JP" sz="800" dirty="0">
                <a:solidFill>
                  <a:srgbClr val="1F2A5C"/>
                </a:solidFill>
                <a:latin typeface="メイリオ" panose="020B0604030504040204" pitchFamily="50" charset="-128"/>
                <a:ea typeface="メイリオ" panose="020B0604030504040204" pitchFamily="50" charset="-128"/>
                <a:cs typeface="メイリオ"/>
              </a:rPr>
              <a:t>CPA</a:t>
            </a:r>
            <a:r>
              <a:rPr lang="ja-JP" altLang="en-US" sz="800" dirty="0">
                <a:solidFill>
                  <a:srgbClr val="1F2A5C"/>
                </a:solidFill>
                <a:latin typeface="メイリオ" panose="020B0604030504040204" pitchFamily="50" charset="-128"/>
                <a:ea typeface="メイリオ" panose="020B0604030504040204" pitchFamily="50" charset="-128"/>
                <a:cs typeface="メイリオ"/>
              </a:rPr>
              <a:t>に基づき設定</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2103120"/>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に基づいて、契約における条件の調整が可能です。</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0" name="小見出し"/>
          <p:cNvSpPr/>
          <p:nvPr/>
        </p:nvSpPr>
        <p:spPr>
          <a:xfrm>
            <a:off x="548640" y="3749039"/>
            <a:ext cx="8860536"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今回の成果単価の費用感</a:t>
            </a:r>
            <a:endParaRPr lang="ja-JP" altLang="en-US" sz="1200" dirty="0">
              <a:latin typeface="メイリオ"/>
              <a:ea typeface="メイリオ"/>
              <a:cs typeface="メイリオ"/>
            </a:endParaRPr>
          </a:p>
        </p:txBody>
      </p:sp>
      <p:graphicFrame>
        <p:nvGraphicFramePr>
          <p:cNvPr id="31" name="成果報酬単価 30"/>
          <p:cNvGraphicFramePr>
            <a:graphicFrameLocks noGrp="1"/>
          </p:cNvGraphicFramePr>
          <p:nvPr/>
        </p:nvGraphicFramePr>
        <p:xfrm>
          <a:off x="548640" y="4114800"/>
          <a:ext cx="8860536" cy="13258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05656">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成果の地点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成果報酬単価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成果件数の数え方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リピート予約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LINEのリンクからの2回目以降の予約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サービス内容</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カスタマージャーニー（8フェーズ）</a:t>
            </a:r>
            <a:endParaRPr lang="en-US" sz="1300" dirty="0">
              <a:latin typeface="メイリオ" panose="020B0604030504040204" pitchFamily="50" charset="-128"/>
              <a:ea typeface="メイリオ" panose="020B0604030504040204" pitchFamily="50" charset="-128"/>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接触〜リピートまでの動線設計</a:t>
            </a:r>
            <a:endParaRPr lang="en-US" sz="10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02</a:t>
            </a:r>
            <a:endParaRPr lang="en-US" sz="1300" dirty="0">
              <a:latin typeface="メイリオ" panose="020B0604030504040204" pitchFamily="50" charset="-128"/>
              <a:ea typeface="メイリオ" panose="020B0604030504040204" pitchFamily="50" charset="-128"/>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sz="1300" dirty="0">
              <a:latin typeface="メイリオ" panose="020B0604030504040204" pitchFamily="50" charset="-128"/>
              <a:ea typeface="メイリオ" panose="020B0604030504040204" pitchFamily="50" charset="-128"/>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友だち追加直後〜成約誘導まで</a:t>
            </a:r>
            <a:endParaRPr lang="en-US" sz="1000" dirty="0">
              <a:latin typeface="メイリオ" panose="020B0604030504040204" pitchFamily="50" charset="-128"/>
              <a:ea typeface="メイリオ" panose="020B0604030504040204" pitchFamily="50" charset="-128"/>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03</a:t>
            </a:r>
            <a:endParaRPr lang="en-US" sz="1300" dirty="0">
              <a:latin typeface="メイリオ" panose="020B0604030504040204" pitchFamily="50" charset="-128"/>
              <a:ea typeface="メイリオ" panose="020B0604030504040204" pitchFamily="50" charset="-128"/>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04</a:t>
            </a:r>
            <a:endParaRPr lang="en-US" sz="1300" dirty="0">
              <a:latin typeface="メイリオ" panose="020B0604030504040204" pitchFamily="50" charset="-128"/>
              <a:ea typeface="メイリオ" panose="020B0604030504040204" pitchFamily="50" charset="-128"/>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セグメント設定</a:t>
            </a:r>
            <a:endParaRPr lang="en-US" sz="1300" dirty="0">
              <a:latin typeface="メイリオ" panose="020B0604030504040204" pitchFamily="50" charset="-128"/>
              <a:ea typeface="メイリオ" panose="020B0604030504040204" pitchFamily="50" charset="-128"/>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panose="020B0604030504040204" pitchFamily="50" charset="-128"/>
              <a:ea typeface="メイリオ" panose="020B0604030504040204" pitchFamily="50" charset="-128"/>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panose="020B0604030504040204" pitchFamily="50" charset="-128"/>
                <a:ea typeface="メイリオ" panose="020B0604030504040204" pitchFamily="50" charset="-128"/>
                <a:cs typeface="メイリオ"/>
              </a:rPr>
              <a:t>WEB</a:t>
            </a:r>
            <a:r>
              <a:rPr lang="ja-JP" altLang="en-US" sz="1000" dirty="0">
                <a:latin typeface="メイリオ" panose="020B0604030504040204" pitchFamily="50" charset="-128"/>
                <a:ea typeface="メイリオ" panose="020B0604030504040204" pitchFamily="50" charset="-128"/>
                <a:cs typeface="メイリオ"/>
              </a:rPr>
              <a:t>サイトアクション、</a:t>
            </a:r>
            <a:r>
              <a:rPr lang="en-US" altLang="ja-JP" sz="1000" dirty="0">
                <a:latin typeface="メイリオ" panose="020B0604030504040204" pitchFamily="50" charset="-128"/>
                <a:ea typeface="メイリオ" panose="020B0604030504040204" pitchFamily="50" charset="-128"/>
                <a:cs typeface="メイリオ"/>
              </a:rPr>
              <a:t>LINE</a:t>
            </a:r>
            <a:r>
              <a:rPr lang="ja-JP" altLang="en-US" sz="1000" dirty="0">
                <a:latin typeface="メイリオ" panose="020B0604030504040204" pitchFamily="50" charset="-128"/>
                <a:ea typeface="メイリオ" panose="020B0604030504040204" pitchFamily="50" charset="-128"/>
                <a:cs typeface="メイリオ"/>
              </a:rPr>
              <a:t>上アクションのスコアリング 等を活用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sz="1300" dirty="0">
              <a:latin typeface="メイリオ" panose="020B0604030504040204" pitchFamily="50" charset="-128"/>
              <a:ea typeface="メイリオ" panose="020B0604030504040204" pitchFamily="50" charset="-128"/>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06</a:t>
            </a:r>
            <a:endParaRPr lang="en-US" sz="1300" dirty="0">
              <a:latin typeface="メイリオ" panose="020B0604030504040204" pitchFamily="50" charset="-128"/>
              <a:ea typeface="メイリオ" panose="020B0604030504040204" pitchFamily="50" charset="-128"/>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季節・時期ごとの企画配信</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メイリオ"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したキャンペーン案</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07</a:t>
            </a:r>
            <a:endParaRPr lang="en-US" sz="1300" dirty="0">
              <a:latin typeface="メイリオ" panose="020B0604030504040204" pitchFamily="50" charset="-128"/>
              <a:ea typeface="メイリオ" panose="020B0604030504040204" pitchFamily="50" charset="-128"/>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各種設定の更新・改善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panose="020B0604030504040204" pitchFamily="50" charset="-128"/>
                <a:ea typeface="メイリオ" panose="020B0604030504040204" pitchFamily="50" charset="-128"/>
                <a:cs typeface="メイリオ"/>
              </a:rPr>
              <a:t>あいさつメッセージ、リッチメニュー、</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の改修（</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は別途費用）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初期費用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月額費用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2F2F2"/>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cs typeface="メイリオ"/>
              </a:rPr>
              <a:t>～　　　 の修正・調整も</a:t>
            </a:r>
            <a:endParaRPr lang="en-US" altLang="ja-JP" sz="1400" b="1" dirty="0">
              <a:latin typeface="メイリオ" panose="020B0604030504040204" pitchFamily="50" charset="-128"/>
              <a:ea typeface="メイリオ" panose="020B0604030504040204" pitchFamily="50" charset="-128"/>
              <a:cs typeface="メイリオ"/>
            </a:endParaRPr>
          </a:p>
          <a:p>
            <a:endParaRPr kumimoji="1" lang="en-US" altLang="ja-JP" sz="1400" b="1" dirty="0">
              <a:latin typeface="メイリオ" panose="020B0604030504040204" pitchFamily="50" charset="-128"/>
              <a:ea typeface="メイリオ" panose="020B0604030504040204" pitchFamily="50" charset="-128"/>
              <a:cs typeface="メイリオ"/>
            </a:endParaRPr>
          </a:p>
          <a:p>
            <a:r>
              <a:rPr lang="ja-JP" altLang="en-US" sz="1400" b="1" dirty="0">
                <a:latin typeface="メイリオ" panose="020B0604030504040204" pitchFamily="50" charset="-128"/>
                <a:ea typeface="メイリオ" panose="020B0604030504040204" pitchFamily="50" charset="-128"/>
                <a:cs typeface="メイリオ"/>
              </a:rPr>
              <a:t>月次対応内に含んでおります。</a:t>
            </a:r>
            <a:endParaRPr kumimoji="1" lang="en-US" altLang="ja-JP" sz="140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料金プラン：3つのプランの費用</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料金プランの比較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ご予算と運用の体制に合わせて、3つのプランをご用意</a:t>
            </a:r>
            <a:endParaRPr lang="en-US" sz="1600" b="0" u="none" strike="noStrike" dirty="0">
              <a:solidFill>
                <a:srgbClr val="000000"/>
              </a:solidFill>
              <a:effectLst/>
              <a:uFillTx/>
              <a:latin typeface="メイリオ"/>
              <a:ea typeface="メイリオ"/>
              <a:cs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84048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400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通年の運用・改善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初期費用</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50,000〜100,000円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300,000円程度</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月額ツール・LINE関連費</a:t>
                      </a:r>
                      <a:endParaRPr lang="ja-JP" altLang="en-US" sz="1400" dirty="0">
                        <a:latin typeface="メイリオ"/>
                        <a:ea typeface="メイリオ"/>
                        <a:cs typeface="メイリオ"/>
                      </a:endParaRPr>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115,000〜165,000円</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265,000円〜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5"/>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365,000円程度</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6"/>
                  </a:ext>
                </a:extLst>
              </a:tr>
            </a:tbl>
          </a:graphicData>
        </a:graphic>
      </p:graphicFrame>
      <p:sp>
        <p:nvSpPr>
          <p:cNvPr id="640" name="注記"/>
          <p:cNvSpPr/>
          <p:nvPr/>
        </p:nvSpPr>
        <p:spPr>
          <a:xfrm>
            <a:off x="384048" y="53035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※初期費用＝運用設計・構築 100,000円〜＋ポップアップツール 15,000円＋サンクスLINE誘導 150,000円＋LINE公式アカウント開設 30,000円</a:t>
            </a:r>
            <a:endParaRPr lang="ja-JP" altLang="en-US" sz="1200" dirty="0">
              <a:latin typeface="メイリオ"/>
              <a:ea typeface="メイリオ"/>
              <a:cs typeface="メイリオ"/>
            </a:endParaRPr>
          </a:p>
        </p:txBody>
      </p:sp>
      <p:sp>
        <p:nvSpPr>
          <p:cNvPr id="641" name="注記"/>
          <p:cNvSpPr/>
          <p:nvPr/>
        </p:nvSpPr>
        <p:spPr>
          <a:xfrm>
            <a:off x="384048" y="55321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※月額ツール・LINE関連費＝ポップアップツール 30,000円＋サンクスLINE誘導 30,000円〜＋LINE公式アカウント利用料 5,000円〜</a:t>
            </a:r>
            <a:endParaRPr lang="ja-JP" altLang="en-US" sz="1200" dirty="0">
              <a:latin typeface="メイリオ"/>
              <a:ea typeface="メイリオ"/>
              <a:cs typeface="メイリオ"/>
            </a:endParaRPr>
          </a:p>
        </p:txBody>
      </p:sp>
      <p:sp>
        <p:nvSpPr>
          <p:cNvPr id="642" name="注記"/>
          <p:cNvSpPr/>
          <p:nvPr/>
        </p:nvSpPr>
        <p:spPr>
          <a:xfrm>
            <a:off x="384048" y="57607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※成果報酬型プラン：初期 295,000円〜／月額 65,000円＋成果報酬（セミナー予約 12,000円／件）</a:t>
            </a:r>
            <a:endParaRPr lang="ja-JP" altLang="en-US" sz="1200" dirty="0">
              <a:latin typeface="メイリオ"/>
              <a:ea typeface="メイリオ"/>
              <a:cs typeface="メイリオ"/>
            </a:endParaRPr>
          </a:p>
        </p:txBody>
      </p:sp>
      <p:sp>
        <p:nvSpPr>
          <p:cNvPr id="643" name="注記"/>
          <p:cNvSpPr/>
          <p:nvPr/>
        </p:nvSpPr>
        <p:spPr>
          <a:xfrm>
            <a:off x="384048" y="59893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※契約期間は6か月〜。広告費は含まない。概算お見積りのページはプラン②の場合（平常期の月額コンサルティング費は100,000円で計算）</a:t>
            </a:r>
            <a:endParaRPr lang="ja-JP" altLang="en-US" sz="1200" dirty="0">
              <a:latin typeface="メイリオ"/>
              <a:ea typeface="メイリオ"/>
              <a:cs typeface="メイリオ"/>
            </a:endParaRPr>
          </a:p>
        </p:txBody>
      </p:sp>
      <p:sp>
        <p:nvSpPr>
          <p:cNvPr id="644" name="注記"/>
          <p:cNvSpPr/>
          <p:nvPr/>
        </p:nvSpPr>
        <p:spPr>
          <a:xfrm>
            <a:off x="384048" y="62179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運用内容：プランごとの対応範囲</a:t>
            </a:r>
            <a:endParaRPr lang="en-US" sz="1600" b="0" u="none" strike="noStrike">
              <a:solidFill>
                <a:srgbClr val="000000"/>
              </a:solidFill>
              <a:effectLst/>
              <a:uFillTx/>
              <a:latin typeface="メイリオ"/>
              <a:ea typeface="メイリオ"/>
              <a:cs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運用内容の比較</a:t>
            </a:r>
            <a:endParaRPr lang="en-US" sz="1400" b="0" u="none" strike="noStrike">
              <a:solidFill>
                <a:srgbClr val="FFFFFF"/>
              </a:solidFill>
              <a:effectLst/>
              <a:uFillTx/>
              <a:latin typeface="メイリオ"/>
              <a:ea typeface="メイリオ"/>
              <a:cs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3つのプランの運用内容の比較</a:t>
            </a:r>
            <a:endParaRPr lang="en-US" sz="1600" b="0" u="none" strike="noStrike" dirty="0">
              <a:solidFill>
                <a:srgbClr val="000000"/>
              </a:solidFill>
              <a:effectLst/>
              <a:uFillTx/>
              <a:latin typeface="メイリオ"/>
              <a:ea typeface="メイリオ"/>
              <a:cs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2955272464"/>
              </p:ext>
            </p:extLst>
          </p:nvPr>
        </p:nvGraphicFramePr>
        <p:xfrm>
          <a:off x="384048" y="1353312"/>
          <a:ext cx="9144000" cy="3642969"/>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通年の運用・改善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ポップアップツール・</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サンクスLINE誘導</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ステップ配信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企画配信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なし（貴社で運用）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月4〜5回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月2回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月3回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セミナー前日のお知らせ</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結果の分析・改善</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（月次レポート・定例会）</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dirty="0">
                          <a:latin typeface="メイリオ"/>
                          <a:ea typeface="メイリオ"/>
                          <a:cs typeface="メイリオ"/>
                        </a:rPr>
                        <a:t>対応</a:t>
                      </a:r>
                      <a:endParaRPr lang="en-US" altLang="ja-JP"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個別チャット</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LINEOA</a:t>
            </a:r>
            <a:r>
              <a:rPr lang="ja-JP" altLang="en-US" sz="1600" b="1" dirty="0">
                <a:latin typeface="メイリオ" panose="020B0604030504040204" pitchFamily="50" charset="-128"/>
                <a:ea typeface="メイリオ" panose="020B0604030504040204" pitchFamily="50" charset="-128"/>
                <a:cs typeface="メイリオ"/>
                <a:sym typeface="Meiryo"/>
              </a:rPr>
              <a:t>の運用業務・</a:t>
            </a:r>
            <a:r>
              <a:rPr lang="en-US" altLang="ja-JP" sz="1600" b="1" dirty="0">
                <a:latin typeface="メイリオ" panose="020B0604030504040204" pitchFamily="50" charset="-128"/>
                <a:ea typeface="メイリオ" panose="020B0604030504040204" pitchFamily="50" charset="-128"/>
                <a:cs typeface="メイリオ"/>
                <a:sym typeface="Meiryo"/>
              </a:rPr>
              <a:t>CR</a:t>
            </a:r>
            <a:r>
              <a:rPr lang="ja-JP" altLang="en-US" sz="1600" b="1" dirty="0">
                <a:latin typeface="メイリオ" panose="020B0604030504040204" pitchFamily="50" charset="-128"/>
                <a:ea typeface="メイリオ" panose="020B0604030504040204" pitchFamily="50" charset="-128"/>
                <a:cs typeface="メイリオ"/>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追加作業における費用感　</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¥200,000~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チャット対応</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r>
                        <a:rPr lang="en-US" altLang="ja-JP"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サポートは可能</a:t>
                      </a:r>
                      <a:endParaRPr lang="ja-JP" altLang="en-US" sz="11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1F2A5C"/>
                </a:solidFill>
                <a:latin typeface="メイリオ" panose="020B0604030504040204" pitchFamily="50" charset="-128"/>
                <a:ea typeface="メイリオ" panose="020B0604030504040204" pitchFamily="50" charset="-128"/>
                <a:cs typeface="メイリオ"/>
                <a:sym typeface="Meiryo"/>
              </a:rPr>
              <a:t>貴社リソースの状況に応じて都度発注でのご依頼も各単価で受けさせていただきます。</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cs typeface="メイリオ"/>
              </a:rPr>
              <a:t>WEB</a:t>
            </a:r>
            <a:r>
              <a:rPr lang="ja-JP" altLang="en-US" sz="2400" dirty="0">
                <a:solidFill>
                  <a:schemeClr val="bg1"/>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cs typeface="メイリオ"/>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1400" dirty="0">
                <a:solidFill>
                  <a:schemeClr val="bg1"/>
                </a:solidFill>
                <a:latin typeface="メイリオ" panose="020B0604030504040204" pitchFamily="50" charset="-128"/>
                <a:ea typeface="メイリオ" panose="020B0604030504040204" pitchFamily="50" charset="-128"/>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a:rPr>
              <a:t>効果計測</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ツールなし</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kumimoji="1" lang="ja-JP" altLang="en-US" sz="1200" b="1" dirty="0">
                <a:latin typeface="メイリオ" panose="020B0604030504040204" pitchFamily="50" charset="-128"/>
                <a:ea typeface="メイリオ" panose="020B0604030504040204" pitchFamily="50" charset="-128"/>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ツール有無</a:t>
            </a:r>
            <a:endParaRPr lang="en-US" altLang="ja-JP" sz="1200" b="1" dirty="0">
              <a:latin typeface="メイリオ" panose="020B0604030504040204" pitchFamily="50" charset="-128"/>
              <a:ea typeface="メイリオ" panose="020B0604030504040204" pitchFamily="50" charset="-128"/>
              <a:cs typeface="メイリオ"/>
            </a:endParaRPr>
          </a:p>
          <a:p>
            <a:pPr algn="ctr"/>
            <a:r>
              <a:rPr kumimoji="1" lang="ja-JP" altLang="en-US" sz="1200" b="1" dirty="0">
                <a:latin typeface="メイリオ" panose="020B0604030504040204" pitchFamily="50" charset="-128"/>
                <a:ea typeface="メイリオ" panose="020B0604030504040204" pitchFamily="50" charset="-128"/>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cs typeface="メイリオ"/>
              </a:rPr>
              <a:t>定期投稿、シナリオ、リッチメニュー等に設定の</a:t>
            </a:r>
            <a:endParaRPr lang="en-US" altLang="ja-JP" sz="1400" dirty="0">
              <a:latin typeface="メイリオ" panose="020B0604030504040204" pitchFamily="50" charset="-128"/>
              <a:ea typeface="メイリオ" panose="020B0604030504040204" pitchFamily="50" charset="-128"/>
              <a:cs typeface="メイリオ"/>
            </a:endParaRPr>
          </a:p>
          <a:p>
            <a:r>
              <a:rPr lang="ja-JP" altLang="en-US" sz="1400" dirty="0">
                <a:latin typeface="メイリオ" panose="020B0604030504040204" pitchFamily="50" charset="-128"/>
                <a:ea typeface="メイリオ" panose="020B0604030504040204" pitchFamily="50" charset="-128"/>
                <a:cs typeface="メイリオ"/>
              </a:rPr>
              <a:t>リンクについて、</a:t>
            </a:r>
            <a:r>
              <a:rPr lang="en-US" altLang="ja-JP" sz="1400" dirty="0">
                <a:solidFill>
                  <a:srgbClr val="1F2A5C"/>
                </a:solidFill>
                <a:latin typeface="メイリオ" panose="020B0604030504040204" pitchFamily="50" charset="-128"/>
                <a:ea typeface="メイリオ" panose="020B0604030504040204" pitchFamily="50" charset="-128"/>
                <a:cs typeface="メイリオ"/>
              </a:rPr>
              <a:t>GA</a:t>
            </a:r>
            <a:r>
              <a:rPr lang="ja-JP" altLang="en-US" sz="1400" dirty="0" err="1">
                <a:solidFill>
                  <a:srgbClr val="1F2A5C"/>
                </a:solidFill>
                <a:latin typeface="メイリオ" panose="020B0604030504040204" pitchFamily="50" charset="-128"/>
                <a:ea typeface="メイリオ" panose="020B0604030504040204" pitchFamily="50" charset="-128"/>
                <a:cs typeface="メイリオ"/>
              </a:rPr>
              <a:t>、</a:t>
            </a:r>
            <a:r>
              <a:rPr lang="en-US" altLang="ja-JP" sz="1400" dirty="0">
                <a:solidFill>
                  <a:srgbClr val="1F2A5C"/>
                </a:solidFill>
                <a:latin typeface="メイリオ" panose="020B0604030504040204" pitchFamily="50" charset="-128"/>
                <a:ea typeface="メイリオ" panose="020B0604030504040204" pitchFamily="50" charset="-128"/>
                <a:cs typeface="メイリオ"/>
              </a:rPr>
              <a:t>MA</a:t>
            </a:r>
            <a:r>
              <a:rPr lang="ja-JP" altLang="en-US" sz="1400" dirty="0">
                <a:solidFill>
                  <a:srgbClr val="1F2A5C"/>
                </a:solidFill>
                <a:latin typeface="メイリオ" panose="020B0604030504040204" pitchFamily="50" charset="-128"/>
                <a:ea typeface="メイリオ" panose="020B0604030504040204" pitchFamily="50" charset="-128"/>
                <a:cs typeface="メイリオ"/>
              </a:rPr>
              <a:t>ツールでの計測可能</a:t>
            </a:r>
            <a:r>
              <a:rPr lang="ja-JP" altLang="en-US" sz="1400" dirty="0">
                <a:latin typeface="メイリオ" panose="020B0604030504040204" pitchFamily="50" charset="-128"/>
                <a:ea typeface="メイリオ" panose="020B0604030504040204" pitchFamily="50" charset="-128"/>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cs typeface="メイリオ"/>
              </a:rPr>
              <a:t>DYM</a:t>
            </a:r>
            <a:endParaRPr lang="ja-JP" altLang="en-US" dirty="0">
              <a:latin typeface="メイリオ" panose="020B0604030504040204" pitchFamily="50" charset="-128"/>
              <a:ea typeface="メイリオ" panose="020B0604030504040204" pitchFamily="50" charset="-128"/>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レポート（日次）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kumimoji="1"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レポート（月次）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cs typeface="メイリオ"/>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cs typeface="メイリオ"/>
            </a:endParaRPr>
          </a:p>
          <a:p>
            <a:pPr algn="ctr"/>
            <a:r>
              <a:rPr lang="ja-JP" altLang="en-US" sz="1400" dirty="0">
                <a:latin typeface="メイリオ" panose="020B0604030504040204" pitchFamily="50" charset="-128"/>
                <a:ea typeface="メイリオ" panose="020B0604030504040204" pitchFamily="50" charset="-128"/>
                <a:cs typeface="メイリオ"/>
              </a:rPr>
              <a:t>投稿別</a:t>
            </a:r>
            <a:r>
              <a:rPr lang="en-US" altLang="ja-JP" sz="1400" dirty="0">
                <a:latin typeface="メイリオ" panose="020B0604030504040204" pitchFamily="50" charset="-128"/>
                <a:ea typeface="メイリオ" panose="020B0604030504040204" pitchFamily="50" charset="-128"/>
                <a:cs typeface="メイリオ"/>
              </a:rPr>
              <a:t>×</a:t>
            </a:r>
            <a:r>
              <a:rPr lang="ja-JP" altLang="en-US" sz="1400" dirty="0">
                <a:latin typeface="メイリオ" panose="020B0604030504040204" pitchFamily="50" charset="-128"/>
                <a:ea typeface="メイリオ" panose="020B0604030504040204" pitchFamily="50" charset="-128"/>
                <a:cs typeface="メイリオ"/>
              </a:rPr>
              <a:t>セグメント別でデータ化でき、</a:t>
            </a:r>
            <a:r>
              <a:rPr lang="en-US" altLang="ja-JP" sz="1400" dirty="0">
                <a:latin typeface="メイリオ" panose="020B0604030504040204" pitchFamily="50" charset="-128"/>
                <a:ea typeface="メイリオ" panose="020B0604030504040204" pitchFamily="50" charset="-128"/>
                <a:cs typeface="メイリオ"/>
              </a:rPr>
              <a:t>AB</a:t>
            </a:r>
            <a:r>
              <a:rPr lang="ja-JP" altLang="en-US" sz="1400" dirty="0">
                <a:latin typeface="メイリオ" panose="020B0604030504040204" pitchFamily="50" charset="-128"/>
                <a:ea typeface="メイリオ" panose="020B0604030504040204" pitchFamily="50" charset="-128"/>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弊社体制図</a:t>
            </a:r>
            <a:endParaRPr kumimoji="1" lang="ja-JP" altLang="en-US" sz="1600" b="1" dirty="0">
              <a:latin typeface="メイリオ" panose="020B0604030504040204" pitchFamily="50" charset="-128"/>
              <a:ea typeface="メイリオ" panose="020B0604030504040204" pitchFamily="50" charset="-128"/>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SNS運用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入稿作業</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運用サポート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制作</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1F2A5C"/>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LINEOA運用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広告運用統括・コンサル</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　</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貴社作業・確認にかかる時間により前後する可能性がございます。</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Tree>
    <p:extLst>
      <p:ext uri="{BB962C8B-B14F-4D97-AF65-F5344CB8AC3E}">
        <p14:creationId xmlns:p14="http://schemas.microsoft.com/office/powerpoint/2010/main" val="21214348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LINEは積み上がる</a:t>
            </a:r>
            <a:r>
              <a:rPr lang="ja-JP" altLang="en-US" sz="1600" b="1" dirty="0">
                <a:latin typeface="メイリオ" panose="020B0604030504040204" pitchFamily="50" charset="-128"/>
                <a:ea typeface="メイリオ" panose="020B0604030504040204" pitchFamily="50" charset="-128"/>
                <a:cs typeface="メイリオ"/>
                <a:sym typeface="Meiryo"/>
              </a:rPr>
              <a:t>・追い続けられる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graphicFrame>
        <p:nvGraphicFramePr>
          <p:cNvPr id="5" name="広告とLINE 4"/>
          <p:cNvGraphicFramePr>
            <a:graphicFrameLocks noGrp="1"/>
          </p:cNvGraphicFramePr>
          <p:nvPr/>
        </p:nvGraphicFramePr>
        <p:xfrm>
          <a:off x="502920" y="2110892"/>
          <a:ext cx="8897112" cy="2057400"/>
        </p:xfrm>
        <a:graphic>
          <a:graphicData uri="http://schemas.openxmlformats.org/drawingml/2006/table">
            <a:tbl>
              <a:tblPr/>
              <a:tblGrid>
                <a:gridCol w="18288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959352">
                  <a:extLst>
                    <a:ext uri="{9D8B030D-6E8A-4147-A177-3AD203B41FA5}">
                      <a16:colId xmlns:a16="http://schemas.microsoft.com/office/drawing/2014/main" val="20002"/>
                    </a:ext>
                  </a:extLst>
                </a:gridCol>
              </a:tblGrid>
              <a:tr h="411480">
                <a:tc>
                  <a:txBody>
                    <a:bodyPr/>
                    <a:lstStyle/>
                    <a:p>
                      <a:pPr algn="ctr">
                        <a:buNone/>
                      </a:pP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LINE公式アカウント</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届く相手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毎回、新しく集める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一度友だちになった方に、何度でも届く</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届き方</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広告を見たときだけ</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通知で届き、見てもらいやすい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イベントの後</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つながりが切れる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友だちとして、毎月積み上がる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示唆"/>
          <p:cNvSpPr/>
          <p:nvPr/>
        </p:nvSpPr>
        <p:spPr>
          <a:xfrm>
            <a:off x="502920" y="4396892"/>
            <a:ext cx="8897112" cy="548640"/>
          </a:xfrm>
          <a:prstGeom prst="rect">
            <a:avLst/>
          </a:prstGeom>
          <a:solidFill>
            <a:srgbClr val="F2F2F2"/>
          </a:solidFill>
          <a:ln>
            <a:noFill/>
          </a:ln>
        </p:spPr>
        <p:txBody>
          <a:bodyPr wrap="square" lIns="73152" tIns="36576" rIns="73152" bIns="36576" rtlCol="0" anchor="ctr">
            <a:noAutofit/>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この仕組みが回れば、今後の広告費を抑えられる可能性もある</a:t>
            </a:r>
            <a:endParaRPr lang="ja-JP" altLang="en-US" sz="1200" dirty="0">
              <a:latin typeface="メイリオ"/>
              <a:ea typeface="メイリオ"/>
              <a:cs typeface="メイリオ"/>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離脱防止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友だち追加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で学習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の動線での</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DYM</a:t>
            </a:r>
            <a:r>
              <a:rPr lang="ja-JP" altLang="en-US" sz="1200" dirty="0">
                <a:solidFill>
                  <a:schemeClr val="bg1"/>
                </a:solidFill>
                <a:latin typeface="メイリオ" panose="020B0604030504040204" pitchFamily="50" charset="-128"/>
                <a:ea typeface="メイリオ" panose="020B0604030504040204" pitchFamily="50" charset="-128"/>
                <a:cs typeface="メイリオ"/>
              </a:rPr>
              <a:t>施策</a:t>
            </a:r>
            <a:endParaRPr lang="ja-JP" altLang="en-US" sz="1200" dirty="0">
              <a:solidFill>
                <a:schemeClr val="bg1"/>
              </a:solidFill>
              <a:latin typeface="メイリオ"/>
              <a:ea typeface="メイリオ"/>
              <a:cs typeface="メイリオ"/>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現状施策</a:t>
            </a:r>
            <a:endParaRPr lang="ja-JP" altLang="en-US" sz="1200" dirty="0">
              <a:solidFill>
                <a:schemeClr val="bg1"/>
              </a:solidFill>
              <a:latin typeface="メイリオ"/>
              <a:ea typeface="メイリオ"/>
              <a:cs typeface="メイリオ"/>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※ID</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ミニアプリ・診断 →</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 </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特典</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1000" dirty="0">
                <a:solidFill>
                  <a:schemeClr val="bg1"/>
                </a:solidFill>
                <a:latin typeface="メイリオ" panose="020B0604030504040204" pitchFamily="50" charset="-128"/>
                <a:ea typeface="メイリオ" panose="020B0604030504040204" pitchFamily="50" charset="-128"/>
                <a:cs typeface="メイリオ"/>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 </a:t>
            </a:r>
            <a:r>
              <a:rPr kumimoji="1" lang="ja-JP" altLang="en-US" sz="1200" b="1" dirty="0">
                <a:latin typeface="メイリオ" panose="020B0604030504040204" pitchFamily="50" charset="-128"/>
                <a:ea typeface="メイリオ" panose="020B0604030504040204" pitchFamily="50" charset="-128"/>
                <a:cs typeface="メイリオ"/>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自社</a:t>
            </a:r>
            <a:r>
              <a:rPr kumimoji="1" lang="en-US" altLang="ja-JP" sz="1200" b="1" dirty="0">
                <a:latin typeface="メイリオ" panose="020B0604030504040204" pitchFamily="50" charset="-128"/>
                <a:ea typeface="メイリオ" panose="020B0604030504040204" pitchFamily="50" charset="-128"/>
                <a:cs typeface="メイリオ"/>
              </a:rPr>
              <a:t>App/</a:t>
            </a:r>
            <a:r>
              <a:rPr kumimoji="1" lang="ja-JP" altLang="en-US" sz="1200" b="1" dirty="0">
                <a:latin typeface="メイリオ" panose="020B0604030504040204" pitchFamily="50" charset="-128"/>
                <a:ea typeface="メイリオ" panose="020B0604030504040204" pitchFamily="50" charset="-128"/>
                <a:cs typeface="メイリオ"/>
              </a:rPr>
              <a:t>ネットワーク</a:t>
            </a:r>
            <a:endParaRPr kumimoji="1" lang="en-US" altLang="ja-JP" sz="1200" b="1" dirty="0">
              <a:latin typeface="メイリオ" panose="020B0604030504040204" pitchFamily="50" charset="-128"/>
              <a:ea typeface="メイリオ" panose="020B0604030504040204" pitchFamily="50" charset="-128"/>
              <a:cs typeface="メイリオ"/>
            </a:endParaRPr>
          </a:p>
          <a:p>
            <a:pPr algn="ctr"/>
            <a:r>
              <a:rPr lang="ja-JP" altLang="en-US" sz="1200" b="1" dirty="0">
                <a:latin typeface="メイリオ" panose="020B0604030504040204" pitchFamily="50" charset="-128"/>
                <a:ea typeface="メイリオ" panose="020B0604030504040204" pitchFamily="50" charset="-128"/>
                <a:cs typeface="メイリオ"/>
              </a:rPr>
              <a:t>（</a:t>
            </a:r>
            <a:r>
              <a:rPr lang="en-US" altLang="ja-JP" sz="1200" b="1" dirty="0">
                <a:latin typeface="メイリオ" panose="020B0604030504040204" pitchFamily="50" charset="-128"/>
                <a:ea typeface="メイリオ" panose="020B0604030504040204" pitchFamily="50" charset="-128"/>
                <a:cs typeface="メイリオ"/>
              </a:rPr>
              <a:t>ID</a:t>
            </a:r>
            <a:r>
              <a:rPr lang="ja-JP" altLang="en-US" sz="1200" b="1" dirty="0">
                <a:latin typeface="メイリオ" panose="020B0604030504040204" pitchFamily="50" charset="-128"/>
                <a:ea typeface="メイリオ" panose="020B0604030504040204" pitchFamily="50" charset="-128"/>
                <a:cs typeface="メイリオ"/>
              </a:rPr>
              <a:t>連携等の開発）</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cs typeface="メイリオ"/>
              </a:rPr>
              <a:t>LINE</a:t>
            </a:r>
            <a:r>
              <a:rPr lang="ja-JP" altLang="en-US" sz="1200" b="1" dirty="0">
                <a:latin typeface="メイリオ" panose="020B0604030504040204" pitchFamily="50" charset="-128"/>
                <a:ea typeface="メイリオ" panose="020B0604030504040204" pitchFamily="50" charset="-128"/>
                <a:cs typeface="メイリオ"/>
              </a:rPr>
              <a:t>でログイン</a:t>
            </a:r>
          </a:p>
        </p:txBody>
      </p:sp>
    </p:spTree>
    <p:extLst>
      <p:ext uri="{BB962C8B-B14F-4D97-AF65-F5344CB8AC3E}">
        <p14:creationId xmlns:p14="http://schemas.microsoft.com/office/powerpoint/2010/main" val="42651367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法人</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が</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増加傾向</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cs typeface="メイリオ"/>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cs typeface="メイリオ"/>
                </a:rPr>
                <a:t>　　　　</a:t>
              </a:r>
              <a:r>
                <a:rPr lang="en-US" sz="1400" dirty="0" err="1">
                  <a:solidFill>
                    <a:srgbClr val="040606"/>
                  </a:solidFill>
                  <a:latin typeface="メイリオ" panose="020B0604030504040204" pitchFamily="50" charset="-128"/>
                  <a:ea typeface="メイリオ" panose="020B0604030504040204" pitchFamily="50" charset="-128"/>
                  <a:cs typeface="メイリオ"/>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cs typeface="メイリオ"/>
                </a:rPr>
                <a:t>、</a:t>
              </a:r>
              <a:r>
                <a:rPr lang="ja-JP" altLang="en-US" sz="1400" dirty="0">
                  <a:solidFill>
                    <a:srgbClr val="040606"/>
                  </a:solidFill>
                  <a:latin typeface="メイリオ" panose="020B0604030504040204" pitchFamily="50" charset="-128"/>
                  <a:ea typeface="メイリオ" panose="020B0604030504040204" pitchFamily="50" charset="-128"/>
                  <a:cs typeface="メイリオ"/>
                </a:rPr>
                <a:t>テレマーケティング </a:t>
              </a:r>
              <a:r>
                <a:rPr lang="en-US" sz="1400" dirty="0" err="1">
                  <a:solidFill>
                    <a:srgbClr val="040606"/>
                  </a:solidFill>
                  <a:latin typeface="メイリオ" panose="020B0604030504040204" pitchFamily="50" charset="-128"/>
                  <a:ea typeface="メイリオ" panose="020B0604030504040204" pitchFamily="50" charset="-128"/>
                  <a:cs typeface="メイリオ"/>
                </a:rPr>
                <a:t>が主流</a:t>
              </a:r>
              <a:endParaRPr lang="en-US" sz="1400" dirty="0">
                <a:solidFill>
                  <a:srgbClr val="040606"/>
                </a:solidFill>
                <a:latin typeface="メイリオ" panose="020B0604030504040204" pitchFamily="50" charset="-128"/>
                <a:ea typeface="メイリオ" panose="020B0604030504040204" pitchFamily="50" charset="-128"/>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b="1" dirty="0">
                  <a:solidFill>
                    <a:srgbClr val="00B900"/>
                  </a:solidFill>
                  <a:latin typeface="メイリオ" panose="020B0604030504040204" pitchFamily="50" charset="-128"/>
                  <a:ea typeface="メイリオ" panose="020B0604030504040204" pitchFamily="50" charset="-128"/>
                  <a:cs typeface="メイリオ"/>
                </a:rPr>
                <a:t>LINE</a:t>
              </a:r>
              <a:r>
                <a:rPr lang="ja-JP" altLang="en-US" sz="1400" b="1" dirty="0">
                  <a:solidFill>
                    <a:srgbClr val="00B900"/>
                  </a:solidFill>
                  <a:latin typeface="メイリオ" panose="020B0604030504040204" pitchFamily="50" charset="-128"/>
                  <a:ea typeface="メイリオ" panose="020B0604030504040204" pitchFamily="50" charset="-128"/>
                  <a:cs typeface="メイリオ"/>
                </a:rPr>
                <a:t>公式アカウント</a:t>
              </a:r>
              <a:r>
                <a:rPr 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dirty="0" err="1">
                  <a:solidFill>
                    <a:srgbClr val="00B900"/>
                  </a:solidFill>
                  <a:latin typeface="メイリオ" panose="020B0604030504040204" pitchFamily="50" charset="-128"/>
                  <a:ea typeface="メイリオ" panose="020B0604030504040204" pitchFamily="50" charset="-128"/>
                  <a:cs typeface="メイリオ"/>
                </a:rPr>
                <a:t>が主流</a:t>
              </a:r>
              <a:endParaRPr lang="en-US" sz="1400" dirty="0">
                <a:solidFill>
                  <a:srgbClr val="00B900"/>
                </a:solidFill>
                <a:latin typeface="メイリオ" panose="020B0604030504040204" pitchFamily="50" charset="-128"/>
                <a:ea typeface="メイリオ" panose="020B0604030504040204" pitchFamily="50" charset="-128"/>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今すぐ客」以外の</a:t>
            </a:r>
            <a:r>
              <a:rPr lang="ja-JP" altLang="en-US" sz="1400" dirty="0">
                <a:solidFill>
                  <a:srgbClr val="343434"/>
                </a:solidFill>
                <a:latin typeface="メイリオ" panose="020B0604030504040204" pitchFamily="50" charset="-128"/>
                <a:ea typeface="メイリオ" panose="020B0604030504040204" pitchFamily="50" charset="-128"/>
                <a:cs typeface="メイリオ"/>
              </a:rPr>
              <a:t>約</a:t>
            </a:r>
            <a:r>
              <a:rPr lang="en-US" altLang="ja-JP" sz="1400" dirty="0">
                <a:solidFill>
                  <a:srgbClr val="343434"/>
                </a:solidFill>
                <a:latin typeface="メイリオ" panose="020B0604030504040204" pitchFamily="50" charset="-128"/>
                <a:ea typeface="メイリオ" panose="020B0604030504040204" pitchFamily="50" charset="-128"/>
                <a:cs typeface="メイリオ"/>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結果として</a:t>
            </a:r>
            <a:r>
              <a:rPr lang="ja-JP" altLang="en-US" sz="1400" dirty="0" err="1">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げ</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cs typeface="メイリオ"/>
              </a:rPr>
              <a:t>9-</a:t>
            </a:r>
            <a:r>
              <a:rPr lang="en-US" sz="1554" dirty="0">
                <a:solidFill>
                  <a:srgbClr val="494848"/>
                </a:solidFill>
                <a:latin typeface="メイリオ" panose="020B0604030504040204" pitchFamily="50" charset="-128"/>
                <a:ea typeface="メイリオ" panose="020B0604030504040204" pitchFamily="50" charset="-128"/>
                <a:cs typeface="メイリオ"/>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cs typeface="メイリオ"/>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en-US" sz="1200" b="1" dirty="0" err="1">
                <a:solidFill>
                  <a:srgbClr val="494848"/>
                </a:solidFill>
                <a:latin typeface="メイリオ" panose="020B0604030504040204" pitchFamily="50" charset="-128"/>
                <a:ea typeface="メイリオ" panose="020B0604030504040204" pitchFamily="50" charset="-128"/>
                <a:cs typeface="メイリオ"/>
              </a:rPr>
              <a:t>今すぐ</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cs typeface="メイリオ"/>
              </a:rPr>
              <a:t>のは</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リスクが大きい。</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cs typeface="メイリオ"/>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将来的な顧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客」教育をLINE</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上で構築し</a:t>
            </a:r>
            <a:r>
              <a:rPr lang="en-US" sz="1200" b="1" dirty="0">
                <a:solidFill>
                  <a:srgbClr val="494848"/>
                </a:solidFill>
                <a:latin typeface="メイリオ" panose="020B0604030504040204" pitchFamily="50" charset="-128"/>
                <a:ea typeface="メイリオ" panose="020B0604030504040204" pitchFamily="50" charset="-128"/>
                <a:cs typeface="メイリオ"/>
              </a:rPr>
              <a:t>行</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う。</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1F2A5C"/>
                </a:solidFill>
                <a:latin typeface="メイリオ"/>
                <a:ea typeface="メイリオ"/>
                <a:cs typeface="メイリオ"/>
                <a:sym typeface="Meiryo"/>
              </a:rPr>
              <a:t>単価指標（</a:t>
            </a:r>
            <a:r>
              <a:rPr lang="en-US" altLang="ja-JP" sz="1400" b="1" dirty="0">
                <a:solidFill>
                  <a:srgbClr val="1F2A5C"/>
                </a:solidFill>
                <a:latin typeface="メイリオ"/>
                <a:ea typeface="メイリオ"/>
                <a:cs typeface="メイリオ"/>
                <a:sym typeface="Meiryo"/>
              </a:rPr>
              <a:t>CPC</a:t>
            </a:r>
            <a:r>
              <a:rPr lang="ja-JP" altLang="en-US" sz="1400" b="1" dirty="0">
                <a:solidFill>
                  <a:srgbClr val="1F2A5C"/>
                </a:solidFill>
                <a:latin typeface="メイリオ"/>
                <a:ea typeface="メイリオ"/>
                <a:cs typeface="メイリオ"/>
                <a:sym typeface="Meiryo"/>
              </a:rPr>
              <a:t>及び</a:t>
            </a:r>
            <a:r>
              <a:rPr lang="en-US" altLang="ja-JP" sz="1400" b="1" dirty="0">
                <a:solidFill>
                  <a:srgbClr val="1F2A5C"/>
                </a:solidFill>
                <a:latin typeface="メイリオ"/>
                <a:ea typeface="メイリオ"/>
                <a:cs typeface="メイリオ"/>
                <a:sym typeface="Meiryo"/>
              </a:rPr>
              <a:t>CPA</a:t>
            </a:r>
            <a:r>
              <a:rPr lang="ja-JP" altLang="en-US" sz="1400" b="1" dirty="0">
                <a:solidFill>
                  <a:srgbClr val="1F2A5C"/>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集客施策における</a:t>
            </a:r>
            <a:r>
              <a:rPr lang="en-US" altLang="ja-JP" sz="1400" b="1" dirty="0">
                <a:latin typeface="メイリオ"/>
                <a:ea typeface="メイリオ"/>
                <a:cs typeface="メイリオ"/>
                <a:sym typeface="Meiryo"/>
              </a:rPr>
              <a:t>CVR</a:t>
            </a:r>
            <a:r>
              <a:rPr lang="ja-JP" altLang="en-US" sz="1400" b="1" dirty="0">
                <a:latin typeface="メイリオ"/>
                <a:ea typeface="メイリオ"/>
                <a:cs typeface="メイリオ"/>
                <a:sym typeface="Meiryo"/>
              </a:rPr>
              <a:t>は高くても</a:t>
            </a:r>
            <a:r>
              <a:rPr lang="en-US" altLang="ja-JP" sz="1400" b="1" dirty="0">
                <a:latin typeface="メイリオ"/>
                <a:ea typeface="メイリオ"/>
                <a:cs typeface="メイリオ"/>
                <a:sym typeface="Meiryo"/>
              </a:rPr>
              <a:t>2%</a:t>
            </a:r>
            <a:r>
              <a:rPr lang="ja-JP" altLang="en-US" sz="1400" b="1" dirty="0">
                <a:latin typeface="メイリオ"/>
                <a:ea typeface="メイリオ"/>
                <a:cs typeface="メイリオ"/>
                <a:sym typeface="Meiryo"/>
              </a:rPr>
              <a:t>程度</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a:p>
            <a:pPr algn="ctr"/>
            <a:r>
              <a:rPr lang="en-US" altLang="ja-JP" sz="1400" dirty="0">
                <a:solidFill>
                  <a:srgbClr val="1F2A5C"/>
                </a:solidFill>
                <a:latin typeface="メイリオ"/>
                <a:ea typeface="メイリオ"/>
                <a:cs typeface="メイリオ"/>
                <a:sym typeface="Meiryo"/>
              </a:rPr>
              <a:t>CV</a:t>
            </a:r>
            <a:r>
              <a:rPr lang="ja-JP" altLang="en-US" sz="1400" dirty="0">
                <a:solidFill>
                  <a:srgbClr val="1F2A5C"/>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CVR</a:t>
            </a:r>
            <a:endParaRPr lang="ja-JP" altLang="en-US" b="1" dirty="0">
              <a:latin typeface="メイリオ" panose="020B0604030504040204" pitchFamily="50" charset="-128"/>
              <a:ea typeface="メイリオ" panose="020B0604030504040204" pitchFamily="50" charset="-128"/>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CPC</a:t>
            </a:r>
            <a:endParaRPr lang="ja-JP" altLang="en-US"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5621484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cs typeface="メイリオ"/>
              </a:rPr>
              <a:t>10-40</a:t>
            </a:r>
            <a:r>
              <a:rPr lang="ja-JP" altLang="en-US" sz="1400" dirty="0">
                <a:solidFill>
                  <a:srgbClr val="343434"/>
                </a:solidFill>
                <a:latin typeface="メイリオ" panose="020B0604030504040204" pitchFamily="50" charset="-128"/>
                <a:ea typeface="メイリオ" panose="020B0604030504040204" pitchFamily="50" charset="-128"/>
                <a:cs typeface="メイリオ"/>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cs typeface="メイリオ"/>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cs typeface="メイリオ"/>
              </a:rPr>
              <a:t>LINEOA</a:t>
            </a:r>
            <a:r>
              <a:rPr lang="ja-JP" altLang="en-US" sz="1400" b="1" dirty="0">
                <a:solidFill>
                  <a:srgbClr val="343434"/>
                </a:solidFill>
                <a:latin typeface="メイリオ" panose="020B0604030504040204" pitchFamily="50" charset="-128"/>
                <a:ea typeface="メイリオ" panose="020B0604030504040204" pitchFamily="50" charset="-128"/>
                <a:cs typeface="メイリオ"/>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される。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cs typeface="メイリオ"/>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cs typeface="メイリオ"/>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LINE</a:t>
            </a:r>
            <a:r>
              <a:rPr lang="ja-JP" altLang="en-US" sz="1400" dirty="0">
                <a:latin typeface="メイリオ" panose="020B0604030504040204" pitchFamily="50" charset="-128"/>
                <a:ea typeface="メイリオ" panose="020B0604030504040204" pitchFamily="50" charset="-128"/>
                <a:cs typeface="メイリオ"/>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メイリオ"/>
                <a:sym typeface="Meiryo"/>
              </a:rPr>
              <a:t>CV</a:t>
            </a:r>
            <a:r>
              <a:rPr lang="ja-JP" altLang="en-US" sz="1400" dirty="0">
                <a:latin typeface="メイリオ" panose="020B0604030504040204" pitchFamily="50" charset="-128"/>
                <a:ea typeface="メイリオ" panose="020B0604030504040204" pitchFamily="50" charset="-128"/>
                <a:cs typeface="メイリオ"/>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1F2A5C"/>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endParaRPr kumimoji="1" lang="ja-JP" altLang="en-US" sz="105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1F2A5C"/>
                </a:solidFill>
                <a:latin typeface="メイリオ" panose="020B0604030504040204" pitchFamily="50" charset="-128"/>
                <a:ea typeface="メイリオ" panose="020B0604030504040204" pitchFamily="50" charset="-128"/>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r>
              <a:rPr kumimoji="1" lang="en-US" altLang="ja-JP" sz="1100" dirty="0">
                <a:solidFill>
                  <a:schemeClr val="tx2"/>
                </a:solidFill>
                <a:latin typeface="メイリオ" panose="020B0604030504040204" pitchFamily="50" charset="-128"/>
                <a:ea typeface="メイリオ" panose="020B0604030504040204" pitchFamily="50" charset="-128"/>
                <a:cs typeface="メイリオ"/>
              </a:rPr>
              <a:t>LINE</a:t>
            </a:r>
            <a:r>
              <a:rPr kumimoji="1" lang="ja-JP" altLang="en-US" sz="1100" dirty="0">
                <a:solidFill>
                  <a:schemeClr val="tx2"/>
                </a:solidFill>
                <a:latin typeface="メイリオ" panose="020B0604030504040204" pitchFamily="50" charset="-128"/>
                <a:ea typeface="メイリオ" panose="020B0604030504040204" pitchFamily="50" charset="-128"/>
                <a:cs typeface="メイリオ"/>
              </a:rPr>
              <a:t>施策内</a:t>
            </a: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endParaRPr kumimoji="1" lang="ja-JP" altLang="en-US" sz="1100" dirty="0">
              <a:solidFill>
                <a:schemeClr val="tx2"/>
              </a:solidFill>
              <a:latin typeface="メイリオ" panose="020B0604030504040204" pitchFamily="50" charset="-128"/>
              <a:ea typeface="メイリオ" panose="020B0604030504040204" pitchFamily="50" charset="-128"/>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アクティブ数</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kumimoji="1" lang="ja-JP" altLang="en-US" sz="800" dirty="0">
                <a:latin typeface="メイリオ" panose="020B0604030504040204" pitchFamily="50" charset="-128"/>
                <a:ea typeface="メイリオ" panose="020B0604030504040204" pitchFamily="50" charset="-128"/>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セグメント率</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lang="en-US" altLang="ja-JP" sz="1000" dirty="0">
                <a:latin typeface="メイリオ" panose="020B0604030504040204" pitchFamily="50" charset="-128"/>
                <a:ea typeface="メイリオ" panose="020B0604030504040204" pitchFamily="50" charset="-128"/>
                <a:cs typeface="メイリオ"/>
              </a:rPr>
              <a:t>or</a:t>
            </a:r>
          </a:p>
          <a:p>
            <a:pPr algn="ctr"/>
            <a:r>
              <a:rPr kumimoji="1" lang="ja-JP" altLang="en-US" sz="1000" b="1" dirty="0">
                <a:latin typeface="メイリオ" panose="020B0604030504040204" pitchFamily="50" charset="-128"/>
                <a:ea typeface="メイリオ" panose="020B0604030504040204" pitchFamily="50" charset="-128"/>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cs typeface="メイリオ"/>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1F2A5C"/>
                </a:solidFill>
                <a:latin typeface="メイリオ" panose="020B0604030504040204" pitchFamily="50" charset="-128"/>
                <a:ea typeface="メイリオ" panose="020B0604030504040204" pitchFamily="50" charset="-128"/>
                <a:cs typeface="メイリオ"/>
              </a:rPr>
              <a:t>85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1F2A5C"/>
                </a:solidFill>
                <a:latin typeface="メイリオ" panose="020B0604030504040204" pitchFamily="50" charset="-128"/>
                <a:ea typeface="メイリオ" panose="020B0604030504040204" pitchFamily="50" charset="-128"/>
                <a:cs typeface="メイリオ"/>
              </a:rPr>
              <a:t>12.5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1F2A5C"/>
                </a:solidFill>
                <a:latin typeface="メイリオ" panose="020B0604030504040204" pitchFamily="50" charset="-128"/>
                <a:ea typeface="メイリオ" panose="020B0604030504040204" pitchFamily="50" charset="-128"/>
                <a:cs typeface="メイリオ"/>
              </a:rPr>
              <a:t>0.5</a:t>
            </a:r>
            <a:r>
              <a:rPr kumimoji="1" lang="en-US" altLang="ja-JP" sz="1400" b="1" dirty="0">
                <a:solidFill>
                  <a:srgbClr val="1F2A5C"/>
                </a:solidFill>
                <a:latin typeface="メイリオ" panose="020B0604030504040204" pitchFamily="50" charset="-128"/>
                <a:ea typeface="メイリオ" panose="020B0604030504040204" pitchFamily="50" charset="-128"/>
                <a:cs typeface="メイリオ"/>
              </a:rPr>
              <a:t> %</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70 %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8.25 %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cs typeface="メイリオ"/>
              </a:rPr>
              <a:t>0.3 %</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cs typeface="メイリオ"/>
              </a:rPr>
              <a:t>DYM</a:t>
            </a:r>
            <a:r>
              <a:rPr kumimoji="1" lang="ja-JP" altLang="en-US" sz="1200" b="1" dirty="0">
                <a:solidFill>
                  <a:srgbClr val="FFFFFF"/>
                </a:solidFill>
                <a:latin typeface="メイリオ" panose="020B0604030504040204" pitchFamily="50" charset="-128"/>
                <a:ea typeface="メイリオ" panose="020B0604030504040204" pitchFamily="50" charset="-128"/>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業界平均</a:t>
            </a:r>
            <a:endParaRPr lang="en-US" altLang="ja-JP" sz="1200" b="1" dirty="0">
              <a:solidFill>
                <a:schemeClr val="bg1"/>
              </a:solidFill>
              <a:latin typeface="メイリオ" panose="020B0604030504040204" pitchFamily="50" charset="-128"/>
              <a:ea typeface="メイリオ" panose="020B0604030504040204" pitchFamily="50" charset="-128"/>
              <a:cs typeface="メイリオ"/>
            </a:endParaRPr>
          </a:p>
          <a:p>
            <a:pPr algn="ctr"/>
            <a:r>
              <a:rPr lang="en-US" altLang="ja-JP" sz="8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800" b="1" dirty="0">
                <a:solidFill>
                  <a:schemeClr val="bg1"/>
                </a:solidFill>
                <a:latin typeface="メイリオ" panose="020B0604030504040204" pitchFamily="50" charset="-128"/>
                <a:ea typeface="メイリオ" panose="020B0604030504040204" pitchFamily="50" charset="-128"/>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FFFF"/>
                </a:solidFill>
                <a:latin typeface="メイリオ" panose="020B0604030504040204" pitchFamily="50" charset="-128"/>
                <a:ea typeface="メイリオ" panose="020B0604030504040204" pitchFamily="50" charset="-128"/>
                <a:cs typeface="メイリオ"/>
              </a:rPr>
              <a:t>施策の流れ</a:t>
            </a:r>
          </a:p>
        </p:txBody>
      </p:sp>
    </p:spTree>
    <p:extLst>
      <p:ext uri="{BB962C8B-B14F-4D97-AF65-F5344CB8AC3E}">
        <p14:creationId xmlns:p14="http://schemas.microsoft.com/office/powerpoint/2010/main" val="24218423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業態平均で</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最大３</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のユーザーは有効化</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マネタイズ可能</a:t>
            </a:r>
            <a:r>
              <a:rPr lang="ja-JP" altLang="en-US" sz="1400" dirty="0">
                <a:solidFill>
                  <a:srgbClr val="343434"/>
                </a:solidFill>
                <a:latin typeface="メイリオ" panose="020B0604030504040204" pitchFamily="50" charset="-128"/>
                <a:ea typeface="メイリオ" panose="020B0604030504040204" pitchFamily="50" charset="-128"/>
                <a:cs typeface="メイリオ"/>
              </a:rPr>
              <a:t> とされている。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cs typeface="メイリオ"/>
              </a:rPr>
              <a:t>CV</a:t>
            </a: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するユーザー割合</a:t>
            </a:r>
            <a:endParaRPr kumimoji="1" lang="en-US" altLang="ja-JP" sz="1100" b="1"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dirty="0">
                <a:solidFill>
                  <a:srgbClr val="1F2A5C"/>
                </a:solidFill>
                <a:latin typeface="メイリオ" panose="020B0604030504040204" pitchFamily="50" charset="-128"/>
                <a:ea typeface="メイリオ" panose="020B0604030504040204" pitchFamily="50" charset="-128"/>
                <a:cs typeface="メイリオ"/>
              </a:rPr>
              <a:t>平均値</a:t>
            </a:r>
            <a:endParaRPr kumimoji="1" lang="ja-JP" altLang="en-US" sz="10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cs typeface="メイリオ"/>
              </a:rPr>
              <a:t>３</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1.5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2808838"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a:t>
            </a: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　</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[CRM</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及び</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ツールとの連携</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t>
            </a:r>
            <a:endParaRPr lang="ja-JP" altLang="en-US" sz="1600" b="1" dirty="0">
              <a:solidFill>
                <a:srgbClr val="1F2A5C"/>
              </a:solidFill>
              <a:latin typeface="メイリオ" panose="020B0604030504040204" pitchFamily="50" charset="-128"/>
              <a:ea typeface="メイリオ" panose="020B0604030504040204" pitchFamily="50" charset="-128"/>
              <a:cs typeface="メイリオ"/>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cs typeface="メイリオ"/>
              </a:rPr>
              <a:t>「</a:t>
            </a:r>
            <a:r>
              <a:rPr kumimoji="1" lang="en-US" altLang="ja-JP" sz="1400" dirty="0">
                <a:solidFill>
                  <a:srgbClr val="073763"/>
                </a:solidFill>
                <a:latin typeface="メイリオ" panose="020B0604030504040204" pitchFamily="50" charset="-128"/>
                <a:ea typeface="メイリオ" panose="020B0604030504040204" pitchFamily="50" charset="-128"/>
                <a:cs typeface="メイリオ"/>
              </a:rPr>
              <a:t>CRM</a:t>
            </a:r>
            <a:r>
              <a:rPr kumimoji="1" lang="ja-JP" altLang="en-US" sz="1400" dirty="0">
                <a:solidFill>
                  <a:srgbClr val="073763"/>
                </a:solidFill>
                <a:latin typeface="メイリオ" panose="020B0604030504040204" pitchFamily="50" charset="-128"/>
                <a:ea typeface="メイリオ" panose="020B0604030504040204" pitchFamily="50" charset="-128"/>
                <a:cs typeface="メイリオ"/>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が重要</a:t>
            </a:r>
            <a:br>
              <a:rPr lang="en-US" altLang="ja-JP" sz="1400" dirty="0">
                <a:solidFill>
                  <a:srgbClr val="073763"/>
                </a:solidFill>
                <a:latin typeface="メイリオ" panose="020B0604030504040204" pitchFamily="50" charset="-128"/>
                <a:ea typeface="メイリオ" panose="020B0604030504040204" pitchFamily="50" charset="-128"/>
                <a:cs typeface="メイリオ"/>
              </a:rPr>
            </a:br>
            <a:r>
              <a:rPr lang="ja-JP" altLang="en-US" sz="1400" b="1" dirty="0">
                <a:solidFill>
                  <a:srgbClr val="073763"/>
                </a:solidFill>
                <a:latin typeface="メイリオ" panose="020B0604030504040204" pitchFamily="50" charset="-128"/>
                <a:ea typeface="メイリオ" panose="020B0604030504040204" pitchFamily="50" charset="-128"/>
                <a:cs typeface="メイリオ"/>
              </a:rPr>
              <a:t>要件定義</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cs typeface="メイリオ"/>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a:t>
            </a:r>
            <a:r>
              <a:rPr lang="en-US" altLang="ja-JP" sz="1400" dirty="0">
                <a:latin typeface="メイリオ" panose="020B0604030504040204" pitchFamily="50" charset="-128"/>
                <a:ea typeface="メイリオ" panose="020B0604030504040204" pitchFamily="50" charset="-128"/>
                <a:cs typeface="メイリオ"/>
                <a:sym typeface="Meiryo"/>
              </a:rPr>
              <a:t>API</a:t>
            </a:r>
            <a:r>
              <a:rPr lang="ja-JP" altLang="en-US" sz="1400" dirty="0">
                <a:latin typeface="メイリオ" panose="020B0604030504040204" pitchFamily="50" charset="-128"/>
                <a:ea typeface="メイリオ" panose="020B0604030504040204" pitchFamily="50" charset="-128"/>
                <a:cs typeface="メイリオ"/>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貴社内の顧客管理（</a:t>
            </a: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）ツールとの連携の実施も可能です。</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 </a:t>
            </a:r>
            <a:r>
              <a:rPr lang="en-US" altLang="ja-JP" sz="11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開発は別途費用</a:t>
            </a:r>
            <a:endParaRPr lang="en-US" altLang="ja-JP" sz="1400" dirty="0">
              <a:solidFill>
                <a:srgbClr val="1F2A5C"/>
              </a:solidFill>
              <a:latin typeface="メイリオ" panose="020B0604030504040204" pitchFamily="50" charset="-128"/>
              <a:ea typeface="メイリオ" panose="020B0604030504040204" pitchFamily="50" charset="-128"/>
              <a:cs typeface="メイリオ"/>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メッセ送信</a:t>
            </a:r>
          </a:p>
        </p:txBody>
      </p:sp>
    </p:spTree>
    <p:extLst>
      <p:ext uri="{BB962C8B-B14F-4D97-AF65-F5344CB8AC3E}">
        <p14:creationId xmlns:p14="http://schemas.microsoft.com/office/powerpoint/2010/main" val="9826497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その他 代表的な活用機能</a:t>
            </a:r>
            <a:endParaRPr sz="1600" b="1" dirty="0">
              <a:solidFill>
                <a:srgbClr val="002060"/>
              </a:solidFill>
              <a:latin typeface="メイリオ"/>
              <a:ea typeface="メイリオ"/>
              <a:cs typeface="メイリオ"/>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ミニアプリ</a:t>
            </a:r>
            <a:endParaRPr lang="en-US" altLang="ja-JP" sz="1600" b="1" dirty="0">
              <a:latin typeface="メイリオ" panose="020B0604030504040204" pitchFamily="50" charset="-128"/>
              <a:ea typeface="メイリオ" panose="020B0604030504040204" pitchFamily="50" charset="-128"/>
              <a:cs typeface="メイリオ"/>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内で活用できるミニアプリでは、ゲームや抽選といった機能を</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アプリ開発よりも大幅に格安な価格帯で利用できるサービス。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チャット</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FAQ</a:t>
            </a:r>
            <a:r>
              <a:rPr lang="ja-JP" altLang="en-US" sz="1600" b="1" dirty="0">
                <a:solidFill>
                  <a:schemeClr val="tx1">
                    <a:lumMod val="65000"/>
                    <a:lumOff val="35000"/>
                  </a:schemeClr>
                </a:solidFill>
                <a:latin typeface="メイリオ"/>
                <a:ea typeface="メイリオ"/>
                <a:cs typeface="メイリオ"/>
                <a:sym typeface="Meiryo"/>
              </a:rPr>
              <a:t>をもとにした</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による自動応答や、</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LINE】Chat</a:t>
            </a:r>
            <a:r>
              <a:rPr lang="en-US" altLang="ja-JP" sz="1600" b="1" dirty="0">
                <a:latin typeface="メイリオ" panose="020B0604030504040204" pitchFamily="50" charset="-128"/>
                <a:ea typeface="メイリオ" panose="020B0604030504040204" pitchFamily="50" charset="-128"/>
                <a:cs typeface="メイリオ"/>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ホームページから気軽にチャットで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問い合わせができるようになり</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資料請求や商品の購入に繋がる。</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公式</a:t>
            </a: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6927665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コール</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公式アカウントの有料オプション機能で、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LINE】Call</a:t>
            </a:r>
            <a:r>
              <a:rPr lang="en-US" altLang="ja-JP" sz="1600" b="1" dirty="0">
                <a:latin typeface="メイリオ" panose="020B0604030504040204" pitchFamily="50" charset="-128"/>
                <a:ea typeface="メイリオ" panose="020B0604030504040204" pitchFamily="50" charset="-128"/>
                <a:cs typeface="メイリオ"/>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さらに「</a:t>
            </a:r>
            <a:r>
              <a:rPr lang="en-US" altLang="ja-JP" sz="1600" b="1" dirty="0">
                <a:solidFill>
                  <a:schemeClr val="tx1">
                    <a:lumMod val="65000"/>
                    <a:lumOff val="35000"/>
                  </a:schemeClr>
                </a:solidFill>
                <a:latin typeface="メイリオ"/>
                <a:ea typeface="メイリオ"/>
                <a:cs typeface="メイリオ"/>
                <a:sym typeface="Meiryo"/>
              </a:rPr>
              <a:t>LINE Ai Call</a:t>
            </a:r>
            <a:r>
              <a:rPr lang="ja-JP" altLang="en-US" sz="1600" b="1" dirty="0">
                <a:solidFill>
                  <a:schemeClr val="tx1">
                    <a:lumMod val="65000"/>
                    <a:lumOff val="35000"/>
                  </a:schemeClr>
                </a:solidFill>
                <a:latin typeface="メイリオ"/>
                <a:ea typeface="メイリオ"/>
                <a:cs typeface="メイリオ"/>
                <a:sym typeface="Meiryo"/>
              </a:rPr>
              <a:t>」を活用するとユーザーの要望に対して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による自然な</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対話応答が可能に。要件に応じて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と有人オペレータの振り分け業務効率化を支援。</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でログイン</a:t>
            </a:r>
            <a:endParaRPr lang="en-US" altLang="ja-JP" sz="1600" b="1" dirty="0">
              <a:latin typeface="メイリオ" panose="020B0604030504040204" pitchFamily="50" charset="-128"/>
              <a:ea typeface="メイリオ" panose="020B0604030504040204" pitchFamily="50" charset="-128"/>
              <a:cs typeface="メイリオ"/>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でログイン」は、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上のユーザー情報を活用して</a:t>
            </a:r>
            <a:r>
              <a:rPr lang="en-US" altLang="ja-JP" sz="1600" b="1" dirty="0">
                <a:solidFill>
                  <a:schemeClr val="tx1">
                    <a:lumMod val="65000"/>
                    <a:lumOff val="35000"/>
                  </a:schemeClr>
                </a:solidFill>
                <a:latin typeface="メイリオ"/>
                <a:ea typeface="メイリオ"/>
                <a:cs typeface="メイリオ"/>
                <a:sym typeface="Meiryo"/>
              </a:rPr>
              <a:t>WEB</a:t>
            </a:r>
            <a:r>
              <a:rPr lang="ja-JP" altLang="en-US" sz="1600" b="1" dirty="0">
                <a:solidFill>
                  <a:schemeClr val="tx1">
                    <a:lumMod val="65000"/>
                    <a:lumOff val="35000"/>
                  </a:schemeClr>
                </a:solidFill>
                <a:latin typeface="メイリオ"/>
                <a:ea typeface="メイリオ"/>
                <a:cs typeface="メイリオ"/>
                <a:sym typeface="Meiryo"/>
              </a:rPr>
              <a:t>サイト登録が出来る仕組み。</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ID</a:t>
            </a:r>
            <a:r>
              <a:rPr lang="ja-JP" altLang="en-US" sz="1600" b="1" dirty="0">
                <a:solidFill>
                  <a:schemeClr val="tx1">
                    <a:lumMod val="65000"/>
                    <a:lumOff val="35000"/>
                  </a:schemeClr>
                </a:solidFill>
                <a:latin typeface="メイリオ"/>
                <a:ea typeface="メイリオ"/>
                <a:cs typeface="メイリオ"/>
                <a:sym typeface="Meiryo"/>
              </a:rPr>
              <a:t>連携を完了することにより、サービス</a:t>
            </a:r>
            <a:r>
              <a:rPr lang="en-US" altLang="ja-JP" sz="1600" b="1" dirty="0">
                <a:solidFill>
                  <a:schemeClr val="tx1">
                    <a:lumMod val="65000"/>
                    <a:lumOff val="35000"/>
                  </a:schemeClr>
                </a:solidFill>
                <a:latin typeface="メイリオ"/>
                <a:ea typeface="メイリオ"/>
                <a:cs typeface="メイリオ"/>
                <a:sym typeface="Meiryo"/>
              </a:rPr>
              <a:t>(WEB) </a:t>
            </a:r>
            <a:r>
              <a:rPr lang="ja-JP" altLang="en-US" sz="1600" b="1" dirty="0">
                <a:solidFill>
                  <a:schemeClr val="tx1">
                    <a:lumMod val="65000"/>
                    <a:lumOff val="35000"/>
                  </a:schemeClr>
                </a:solidFill>
                <a:latin typeface="メイリオ"/>
                <a:ea typeface="メイリオ"/>
                <a:cs typeface="メイリオ"/>
                <a:sym typeface="Meiryo"/>
              </a:rPr>
              <a:t>⇔ </a:t>
            </a:r>
            <a:r>
              <a:rPr lang="en-US" altLang="ja-JP" sz="1600" b="1" dirty="0">
                <a:solidFill>
                  <a:schemeClr val="tx1">
                    <a:lumMod val="65000"/>
                    <a:lumOff val="35000"/>
                  </a:schemeClr>
                </a:solidFill>
                <a:latin typeface="メイリオ"/>
                <a:ea typeface="メイリオ"/>
                <a:cs typeface="メイリオ"/>
                <a:sym typeface="Meiryo"/>
              </a:rPr>
              <a:t>LINE </a:t>
            </a:r>
            <a:r>
              <a:rPr lang="ja-JP" altLang="en-US" sz="1600" b="1" dirty="0">
                <a:solidFill>
                  <a:schemeClr val="tx1">
                    <a:lumMod val="65000"/>
                    <a:lumOff val="35000"/>
                  </a:schemeClr>
                </a:solidFill>
                <a:latin typeface="メイリオ"/>
                <a:ea typeface="メイリオ"/>
                <a:cs typeface="メイリオ"/>
                <a:sym typeface="Meiryo"/>
              </a:rPr>
              <a:t>での効果的なメッセージが可能に。</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オフライン動線</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400" b="1" dirty="0">
                <a:solidFill>
                  <a:srgbClr val="002060"/>
                </a:solidFill>
                <a:latin typeface="メイリオ"/>
                <a:ea typeface="メイリオ"/>
                <a:cs typeface="メイリオ"/>
                <a:sym typeface="Meiryo"/>
              </a:rPr>
              <a:t>ニュースリリース等</a:t>
            </a:r>
            <a:endParaRPr lang="en-US" altLang="ja-JP" sz="1400" b="1" dirty="0">
              <a:solidFill>
                <a:srgbClr val="002060"/>
              </a:solidFill>
              <a:latin typeface="メイリオ"/>
              <a:ea typeface="メイリオ"/>
              <a:cs typeface="メイリオ"/>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WEB</a:t>
            </a:r>
            <a:r>
              <a:rPr lang="ja-JP" altLang="en-US" sz="2000" b="1" dirty="0">
                <a:solidFill>
                  <a:srgbClr val="002060"/>
                </a:solidFill>
                <a:latin typeface="メイリオ"/>
                <a:ea typeface="メイリオ"/>
                <a:cs typeface="メイリオ"/>
                <a:sym typeface="Meiryo"/>
              </a:rPr>
              <a:t>サイト動線整備</a:t>
            </a:r>
            <a:endParaRPr lang="en-US" altLang="ja-JP" sz="2000" b="1" dirty="0">
              <a:solidFill>
                <a:srgbClr val="002060"/>
              </a:solidFill>
              <a:latin typeface="メイリオ"/>
              <a:ea typeface="メイリオ"/>
              <a:cs typeface="メイリオ"/>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友だち紹介</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200" b="1" dirty="0">
                <a:solidFill>
                  <a:srgbClr val="002060"/>
                </a:solidFill>
                <a:latin typeface="メイリオ"/>
                <a:ea typeface="メイリオ"/>
                <a:cs typeface="メイリオ"/>
                <a:sym typeface="Meiryo"/>
              </a:rPr>
              <a:t>（</a:t>
            </a:r>
            <a:r>
              <a:rPr lang="en-US" altLang="ja-JP" sz="1200" b="1" dirty="0">
                <a:solidFill>
                  <a:srgbClr val="002060"/>
                </a:solidFill>
                <a:latin typeface="メイリオ"/>
                <a:ea typeface="メイリオ"/>
                <a:cs typeface="メイリオ"/>
                <a:sym typeface="Meiryo"/>
              </a:rPr>
              <a:t>LINE</a:t>
            </a:r>
            <a:r>
              <a:rPr lang="ja-JP" altLang="en-US" sz="1200" b="1" dirty="0">
                <a:solidFill>
                  <a:srgbClr val="002060"/>
                </a:solidFill>
                <a:latin typeface="メイリオ"/>
                <a:ea typeface="メイリオ"/>
                <a:cs typeface="メイリオ"/>
                <a:sym typeface="Meiryo"/>
              </a:rPr>
              <a:t>ポイントコネクト）</a:t>
            </a:r>
            <a:endParaRPr lang="en-US" altLang="ja-JP" sz="1200" b="1" dirty="0">
              <a:solidFill>
                <a:srgbClr val="002060"/>
              </a:solidFill>
              <a:latin typeface="メイリオ"/>
              <a:ea typeface="メイリオ"/>
              <a:cs typeface="メイリオ"/>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ポイント</a:t>
            </a:r>
            <a:r>
              <a:rPr lang="en-US" altLang="ja-JP" sz="2000" b="1" dirty="0">
                <a:solidFill>
                  <a:srgbClr val="002060"/>
                </a:solidFill>
                <a:latin typeface="メイリオ"/>
                <a:ea typeface="メイリオ"/>
                <a:cs typeface="メイリオ"/>
                <a:sym typeface="Meiryo"/>
              </a:rPr>
              <a:t>Ads</a:t>
            </a:r>
            <a:endParaRPr lang="en-US" altLang="ja-JP" sz="1400" b="1" dirty="0">
              <a:solidFill>
                <a:srgbClr val="002060"/>
              </a:solidFill>
              <a:latin typeface="メイリオ"/>
              <a:ea typeface="メイリオ"/>
              <a:cs typeface="メイリオ"/>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スタンプ施策</a:t>
            </a:r>
            <a:endParaRPr lang="en-US" altLang="ja-JP" sz="2000" b="1" dirty="0">
              <a:solidFill>
                <a:srgbClr val="002060"/>
              </a:solidFill>
              <a:latin typeface="メイリオ"/>
              <a:ea typeface="メイリオ"/>
              <a:cs typeface="メイリオ"/>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1200" b="1" dirty="0">
              <a:solidFill>
                <a:srgbClr val="002060"/>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メイリオ"/>
                <a:ea typeface="メイリオ"/>
                <a:cs typeface="メイリオ"/>
                <a:sym typeface="Meiryo"/>
              </a:rPr>
              <a:t>サービス停止中</a:t>
            </a:r>
            <a:endParaRPr lang="ja-JP" altLang="en-US" b="1" dirty="0">
              <a:solidFill>
                <a:schemeClr val="tx1">
                  <a:lumMod val="50000"/>
                  <a:lumOff val="50000"/>
                </a:schemeClr>
              </a:solidFill>
              <a:latin typeface="メイリオ"/>
              <a:ea typeface="メイリオ"/>
              <a:cs typeface="メイリオ"/>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a:t>
            </a:r>
            <a:r>
              <a:rPr lang="en-US" altLang="ja-JP" sz="1200" dirty="0">
                <a:latin typeface="メイリオ"/>
                <a:ea typeface="メイリオ"/>
                <a:cs typeface="メイリオ"/>
                <a:sym typeface="Meiryo"/>
              </a:rPr>
              <a:t>1</a:t>
            </a:r>
            <a:r>
              <a:rPr lang="ja-JP" altLang="en-US" sz="1200" dirty="0">
                <a:latin typeface="メイリオ"/>
                <a:ea typeface="メイリオ"/>
                <a:cs typeface="メイリオ"/>
                <a:sym typeface="Meiryo"/>
              </a:rPr>
              <a:t>ヶ月</a:t>
            </a:r>
            <a:r>
              <a:rPr lang="en-US" altLang="ja-JP" sz="1200" dirty="0">
                <a:latin typeface="メイリオ"/>
                <a:ea typeface="メイリオ"/>
                <a:cs typeface="メイリオ"/>
                <a:sym typeface="Meiryo"/>
              </a:rPr>
              <a:t>~</a:t>
            </a:r>
            <a:r>
              <a:rPr lang="ja-JP" altLang="en-US" sz="1200" dirty="0">
                <a:latin typeface="メイリオ"/>
                <a:ea typeface="メイリオ"/>
                <a:cs typeface="メイリオ"/>
                <a:sym typeface="Meiryo"/>
              </a:rPr>
              <a:t>）</a:t>
            </a:r>
            <a:endParaRPr lang="ja-JP" altLang="en-US" sz="2000" dirty="0">
              <a:solidFill>
                <a:srgbClr val="1F2A5C"/>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各拡張施策についても</a:t>
            </a:r>
            <a:r>
              <a:rPr lang="en-US" altLang="ja-JP" sz="1600" b="1" dirty="0">
                <a:solidFill>
                  <a:schemeClr val="tx1">
                    <a:lumMod val="65000"/>
                    <a:lumOff val="35000"/>
                  </a:schemeClr>
                </a:solidFill>
                <a:latin typeface="メイリオ"/>
                <a:ea typeface="メイリオ"/>
                <a:cs typeface="メイリオ"/>
                <a:sym typeface="Meiryo"/>
              </a:rPr>
              <a:t>MIN</a:t>
            </a:r>
            <a:r>
              <a:rPr lang="ja-JP" altLang="en-US" sz="1600" b="1" dirty="0">
                <a:solidFill>
                  <a:schemeClr val="tx1">
                    <a:lumMod val="65000"/>
                    <a:lumOff val="35000"/>
                  </a:schemeClr>
                </a:solidFill>
                <a:latin typeface="メイリオ"/>
                <a:ea typeface="メイリオ"/>
                <a:cs typeface="メイリオ"/>
                <a:sym typeface="Meiryo"/>
              </a:rPr>
              <a:t>金額からの発注、動線設計が可能です。</a:t>
            </a:r>
            <a:endParaRPr lang="en-US" altLang="ja-JP" sz="1600" b="1" dirty="0">
              <a:solidFill>
                <a:schemeClr val="tx1">
                  <a:lumMod val="65000"/>
                  <a:lumOff val="35000"/>
                </a:schemeClr>
              </a:solidFill>
              <a:latin typeface="メイリオ"/>
              <a:ea typeface="メイリオ"/>
              <a:cs typeface="メイリオ"/>
              <a:sym typeface="Meiryo"/>
            </a:endParaRPr>
          </a:p>
          <a:p>
            <a:pPr lvl="0" algn="ctr">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広告</a:t>
            </a:r>
            <a:r>
              <a:rPr lang="ja-JP" altLang="en-US" sz="1200" b="1" dirty="0">
                <a:latin typeface="メイリオ" panose="020B0604030504040204" pitchFamily="50" charset="-128"/>
                <a:ea typeface="メイリオ" panose="020B0604030504040204" pitchFamily="50" charset="-128"/>
                <a:cs typeface="メイリオ"/>
              </a:rPr>
              <a:t>（友だち追加）</a:t>
            </a:r>
            <a:endParaRPr lang="en-US" altLang="ja-JP" sz="1200" b="1" dirty="0">
              <a:latin typeface="メイリオ" panose="020B0604030504040204" pitchFamily="50" charset="-128"/>
              <a:ea typeface="メイリオ" panose="020B0604030504040204" pitchFamily="50" charset="-128"/>
              <a:cs typeface="メイリオ"/>
            </a:endParaRPr>
          </a:p>
          <a:p>
            <a:pPr algn="ctr"/>
            <a:r>
              <a:rPr lang="en-US" altLang="ja-JP" sz="1200" b="1" dirty="0">
                <a:solidFill>
                  <a:srgbClr val="FFFFFF"/>
                </a:solidFill>
                <a:latin typeface="メイリオ" panose="020B0604030504040204" pitchFamily="50" charset="-128"/>
                <a:ea typeface="メイリオ" panose="020B0604030504040204" pitchFamily="50" charset="-128"/>
                <a:cs typeface="メイリオ"/>
              </a:rPr>
              <a:t>※CPF</a:t>
            </a:r>
            <a:r>
              <a:rPr lang="ja-JP" altLang="en-US" sz="1200" b="1" dirty="0">
                <a:solidFill>
                  <a:srgbClr val="FFFFFF"/>
                </a:solidFill>
                <a:latin typeface="メイリオ" panose="020B0604030504040204" pitchFamily="50" charset="-128"/>
                <a:ea typeface="メイリオ" panose="020B0604030504040204" pitchFamily="50" charset="-128"/>
                <a:cs typeface="メイリオ"/>
              </a:rPr>
              <a:t>広告</a:t>
            </a:r>
            <a:r>
              <a:rPr lang="en-US" altLang="ja-JP" sz="12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公式アカウントの友だちを増やすための広告を、</a:t>
            </a:r>
            <a:br>
              <a:rPr lang="en-US" altLang="ja-JP" sz="1600" b="1" dirty="0">
                <a:solidFill>
                  <a:schemeClr val="tx1">
                    <a:lumMod val="65000"/>
                    <a:lumOff val="35000"/>
                  </a:schemeClr>
                </a:solidFill>
                <a:latin typeface="メイリオ"/>
                <a:ea typeface="メイリオ"/>
                <a:cs typeface="メイリオ"/>
                <a:sym typeface="Meiryo"/>
              </a:rPr>
            </a:b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広告の管理画面より</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アプリ内で掲載できる機能。</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en-US" altLang="ja-JP" sz="1200" b="1" dirty="0">
                  <a:solidFill>
                    <a:srgbClr val="0070C0"/>
                  </a:solidFill>
                  <a:latin typeface="メイリオ"/>
                  <a:ea typeface="メイリオ"/>
                  <a:cs typeface="メイリオ"/>
                  <a:sym typeface="Meiryo"/>
                </a:rPr>
                <a:t>LINE</a:t>
              </a:r>
              <a:r>
                <a:rPr lang="ja-JP" altLang="en-US" sz="1200" b="1" dirty="0">
                  <a:solidFill>
                    <a:srgbClr val="0070C0"/>
                  </a:solidFill>
                  <a:latin typeface="メイリオ"/>
                  <a:ea typeface="メイリオ"/>
                  <a:cs typeface="メイリオ"/>
                  <a:sym typeface="Meiryo"/>
                </a:rPr>
                <a:t>公式アカウントまでの導線</a:t>
              </a:r>
              <a:endParaRPr lang="en-US" altLang="ja-JP" sz="1200" b="1" dirty="0">
                <a:solidFill>
                  <a:srgbClr val="0070C0"/>
                </a:solidFill>
                <a:latin typeface="メイリオ"/>
                <a:ea typeface="メイリオ"/>
                <a:cs typeface="メイリオ"/>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200" b="1" dirty="0">
                  <a:solidFill>
                    <a:srgbClr val="0070C0"/>
                  </a:solidFill>
                  <a:latin typeface="メイリオ"/>
                  <a:ea typeface="メイリオ"/>
                  <a:cs typeface="メイリオ"/>
                  <a:sym typeface="Meiryo"/>
                </a:rPr>
                <a:t>「友だち追加広告」との違い</a:t>
              </a:r>
              <a:endParaRPr lang="en-US" altLang="ja-JP" sz="1200" b="1" dirty="0">
                <a:solidFill>
                  <a:srgbClr val="0070C0"/>
                </a:solidFill>
                <a:latin typeface="メイリオ"/>
                <a:ea typeface="メイリオ"/>
                <a:cs typeface="メイリオ"/>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gn="ctr"/>
            <a:r>
              <a:rPr kumimoji="1" lang="en-US" altLang="ja-JP" sz="1200" dirty="0">
                <a:latin typeface="メイリオ" panose="020B0604030504040204" pitchFamily="50" charset="-128"/>
                <a:ea typeface="メイリオ" panose="020B0604030504040204" pitchFamily="50" charset="-128"/>
                <a:cs typeface="メイリオ"/>
              </a:rPr>
              <a:t>LINE</a:t>
            </a:r>
            <a:r>
              <a:rPr kumimoji="1" lang="ja-JP" altLang="en-US" sz="1200" dirty="0">
                <a:latin typeface="メイリオ" panose="020B0604030504040204" pitchFamily="50" charset="-128"/>
                <a:ea typeface="メイリオ" panose="020B0604030504040204" pitchFamily="50" charset="-128"/>
                <a:cs typeface="メイリオ"/>
              </a:rPr>
              <a:t>アプリ内から</a:t>
            </a:r>
            <a:br>
              <a:rPr kumimoji="1" lang="en-US" altLang="ja-JP" sz="1200" dirty="0">
                <a:latin typeface="メイリオ" panose="020B0604030504040204" pitchFamily="50" charset="-128"/>
                <a:ea typeface="メイリオ" panose="020B0604030504040204" pitchFamily="50" charset="-128"/>
                <a:cs typeface="メイリオ"/>
              </a:rPr>
            </a:br>
            <a:r>
              <a:rPr kumimoji="1" lang="ja-JP" altLang="en-US" sz="1200" dirty="0">
                <a:latin typeface="メイリオ" panose="020B0604030504040204" pitchFamily="50" charset="-128"/>
                <a:ea typeface="メイリオ" panose="020B0604030504040204" pitchFamily="50" charset="-128"/>
                <a:cs typeface="メイリオ"/>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600" b="1" dirty="0">
                <a:solidFill>
                  <a:srgbClr val="33CC33"/>
                </a:solidFill>
                <a:latin typeface="メイリオ" panose="020B0604030504040204" pitchFamily="50" charset="-128"/>
                <a:ea typeface="メイリオ" panose="020B0604030504040204" pitchFamily="50" charset="-128"/>
                <a:cs typeface="メイリオ"/>
              </a:rPr>
              <a:t>直接</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200" dirty="0">
                <a:latin typeface="メイリオ" panose="020B0604030504040204" pitchFamily="50" charset="-128"/>
                <a:ea typeface="メイリオ" panose="020B0604030504040204" pitchFamily="50" charset="-128"/>
                <a:cs typeface="メイリオ"/>
              </a:rPr>
              <a:t>誘導</a:t>
            </a:r>
            <a:endParaRPr kumimoji="1" lang="en-US" altLang="ja-JP"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7060081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49320-CC43-CC0E-CB2A-2A81BA8880F1}"/>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D032B5A-3DAD-BB45-FCD6-9BD41BA62AE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a:t>
            </a:r>
          </a:p>
        </p:txBody>
      </p:sp>
    </p:spTree>
    <p:extLst>
      <p:ext uri="{BB962C8B-B14F-4D97-AF65-F5344CB8AC3E}">
        <p14:creationId xmlns:p14="http://schemas.microsoft.com/office/powerpoint/2010/main" val="11662282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a:t>
            </a:r>
          </a:p>
        </p:txBody>
      </p:sp>
      <p:sp>
        <p:nvSpPr>
          <p:cNvPr id="3" name="Lead">
            <a:extLst>
              <a:ext uri="{FF2B5EF4-FFF2-40B4-BE49-F238E27FC236}">
                <a16:creationId xmlns:a16="http://schemas.microsoft.com/office/drawing/2014/main" id="{F08FF241-FA02-3DB4-F5A0-2846B825B044}"/>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panose="020B0604030504040204" pitchFamily="50" charset="-128"/>
                <a:ea typeface="メイリオ" panose="020B0604030504040204" pitchFamily="50" charset="-128"/>
                <a:cs typeface="メイリオ"/>
              </a:rPr>
              <a:t>--</a:t>
            </a:r>
          </a:p>
        </p:txBody>
      </p:sp>
      <p:sp>
        <p:nvSpPr>
          <p:cNvPr id="6" name="Body">
            <a:extLst>
              <a:ext uri="{FF2B5EF4-FFF2-40B4-BE49-F238E27FC236}">
                <a16:creationId xmlns:a16="http://schemas.microsoft.com/office/drawing/2014/main" id="{82F47B3D-36AC-458C-435D-AA635278C458}"/>
              </a:ext>
            </a:extLst>
          </p:cNvPr>
          <p:cNvSpPr txBox="1"/>
          <p:nvPr/>
        </p:nvSpPr>
        <p:spPr>
          <a:xfrm>
            <a:off x="342900" y="1270000"/>
            <a:ext cx="6743700" cy="3810000"/>
          </a:xfrm>
          <a:prstGeom prst="rect">
            <a:avLst/>
          </a:prstGeom>
          <a:noFill/>
        </p:spPr>
        <p:txBody>
          <a:bodyPr wrap="square" lIns="0" tIns="0" rIns="0" bIns="0" anchor="t"/>
          <a:lstStyle/>
          <a:p>
            <a:endParaRPr>
              <a:latin typeface="メイリオ" panose="020B0604030504040204" pitchFamily="50" charset="-128"/>
              <a:ea typeface="メイリオ" panose="020B0604030504040204" pitchFamily="50" charset="-128"/>
              <a:cs typeface="メイリオ"/>
            </a:endParaRPr>
          </a:p>
        </p:txBody>
      </p:sp>
      <p:sp>
        <p:nvSpPr>
          <p:cNvPr id="8" name="TextBox 2001">
            <a:extLst>
              <a:ext uri="{FF2B5EF4-FFF2-40B4-BE49-F238E27FC236}">
                <a16:creationId xmlns:a16="http://schemas.microsoft.com/office/drawing/2014/main" id="{1266011E-8375-ED18-07F7-0E1E547F7E33}"/>
              </a:ext>
            </a:extLst>
          </p:cNvPr>
          <p:cNvSpPr txBox="1"/>
          <p:nvPr/>
        </p:nvSpPr>
        <p:spPr>
          <a:xfrm>
            <a:off x="365760" y="1371600"/>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a:t>
            </a:r>
          </a:p>
        </p:txBody>
      </p:sp>
      <p:sp>
        <p:nvSpPr>
          <p:cNvPr id="10" name="Oval 2002">
            <a:extLst>
              <a:ext uri="{FF2B5EF4-FFF2-40B4-BE49-F238E27FC236}">
                <a16:creationId xmlns:a16="http://schemas.microsoft.com/office/drawing/2014/main" id="{77E596DF-1EAC-1237-A0BF-A8592C3A90C8}"/>
              </a:ext>
            </a:extLst>
          </p:cNvPr>
          <p:cNvSpPr/>
          <p:nvPr/>
        </p:nvSpPr>
        <p:spPr>
          <a:xfrm>
            <a:off x="914400" y="1783080"/>
            <a:ext cx="1466850" cy="1188720"/>
          </a:xfrm>
          <a:prstGeom prst="ellipse">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cs typeface="メイリオ"/>
              </a:rPr>
              <a:t>--</a:t>
            </a:r>
          </a:p>
        </p:txBody>
      </p:sp>
      <p:sp>
        <p:nvSpPr>
          <p:cNvPr id="12" name="Oval 2003">
            <a:extLst>
              <a:ext uri="{FF2B5EF4-FFF2-40B4-BE49-F238E27FC236}">
                <a16:creationId xmlns:a16="http://schemas.microsoft.com/office/drawing/2014/main" id="{7F917EDB-4DA5-2D51-DEF9-F1D7DC62A3D0}"/>
              </a:ext>
            </a:extLst>
          </p:cNvPr>
          <p:cNvSpPr/>
          <p:nvPr/>
        </p:nvSpPr>
        <p:spPr>
          <a:xfrm>
            <a:off x="2743200" y="1783080"/>
            <a:ext cx="1466850" cy="1188720"/>
          </a:xfrm>
          <a:prstGeom prst="ellipse">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cs typeface="メイリオ"/>
              </a:rPr>
              <a:t>--</a:t>
            </a:r>
          </a:p>
        </p:txBody>
      </p:sp>
      <p:sp>
        <p:nvSpPr>
          <p:cNvPr id="14" name="TextBox 2004">
            <a:extLst>
              <a:ext uri="{FF2B5EF4-FFF2-40B4-BE49-F238E27FC236}">
                <a16:creationId xmlns:a16="http://schemas.microsoft.com/office/drawing/2014/main" id="{2705E967-51E9-64AC-1273-825ACF9CF11D}"/>
              </a:ext>
            </a:extLst>
          </p:cNvPr>
          <p:cNvSpPr txBox="1"/>
          <p:nvPr/>
        </p:nvSpPr>
        <p:spPr>
          <a:xfrm>
            <a:off x="365760" y="3427095"/>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a:t>
            </a:r>
          </a:p>
        </p:txBody>
      </p:sp>
      <p:sp>
        <p:nvSpPr>
          <p:cNvPr id="16" name="Rounded Rectangle 2005">
            <a:extLst>
              <a:ext uri="{FF2B5EF4-FFF2-40B4-BE49-F238E27FC236}">
                <a16:creationId xmlns:a16="http://schemas.microsoft.com/office/drawing/2014/main" id="{ABF72EB3-0E58-C4B4-86D5-6D34D9F75C0B}"/>
              </a:ext>
            </a:extLst>
          </p:cNvPr>
          <p:cNvSpPr/>
          <p:nvPr/>
        </p:nvSpPr>
        <p:spPr>
          <a:xfrm>
            <a:off x="822960" y="3838575"/>
            <a:ext cx="2194560" cy="1188720"/>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4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18" name="Oval 2006">
            <a:extLst>
              <a:ext uri="{FF2B5EF4-FFF2-40B4-BE49-F238E27FC236}">
                <a16:creationId xmlns:a16="http://schemas.microsoft.com/office/drawing/2014/main" id="{B480E83F-D844-D99F-CC4C-FF3DC5EC475C}"/>
              </a:ext>
            </a:extLst>
          </p:cNvPr>
          <p:cNvSpPr/>
          <p:nvPr/>
        </p:nvSpPr>
        <p:spPr>
          <a:xfrm>
            <a:off x="3383280" y="3838575"/>
            <a:ext cx="1436370" cy="1188720"/>
          </a:xfrm>
          <a:prstGeom prst="ellipse">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cs typeface="メイリオ"/>
              </a:rPr>
              <a:t>--</a:t>
            </a:r>
          </a:p>
        </p:txBody>
      </p:sp>
      <p:sp>
        <p:nvSpPr>
          <p:cNvPr id="20" name="Oval 2007">
            <a:extLst>
              <a:ext uri="{FF2B5EF4-FFF2-40B4-BE49-F238E27FC236}">
                <a16:creationId xmlns:a16="http://schemas.microsoft.com/office/drawing/2014/main" id="{97D834F7-04F0-3D93-E254-183AAEE62BD8}"/>
              </a:ext>
            </a:extLst>
          </p:cNvPr>
          <p:cNvSpPr/>
          <p:nvPr/>
        </p:nvSpPr>
        <p:spPr>
          <a:xfrm>
            <a:off x="5577840" y="3838575"/>
            <a:ext cx="1436370" cy="1188720"/>
          </a:xfrm>
          <a:prstGeom prst="ellipse">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dirty="0">
                <a:solidFill>
                  <a:srgbClr val="FFFFFF"/>
                </a:solidFill>
                <a:latin typeface="メイリオ" panose="020B0604030504040204" pitchFamily="50" charset="-128"/>
                <a:ea typeface="メイリオ" panose="020B0604030504040204" pitchFamily="50" charset="-128"/>
                <a:cs typeface="メイリオ"/>
              </a:rPr>
              <a:t>--</a:t>
            </a:r>
          </a:p>
        </p:txBody>
      </p:sp>
    </p:spTree>
    <p:extLst>
      <p:ext uri="{BB962C8B-B14F-4D97-AF65-F5344CB8AC3E}">
        <p14:creationId xmlns:p14="http://schemas.microsoft.com/office/powerpoint/2010/main" val="215579828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pitchFamily="34" charset="0"/>
              <a:ea typeface="メイリオ" pitchFamily="50" charset="-128"/>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142217</TotalTime>
  <Words>6659</Words>
  <Application>Microsoft Office PowerPoint</Application>
  <PresentationFormat>A4 210 x 297 mm</PresentationFormat>
  <Paragraphs>1393</Paragraphs>
  <Slides>64</Slides>
  <Notes>29</Notes>
  <HiddenSlides>0</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64</vt:i4>
      </vt:variant>
    </vt:vector>
  </HeadingPairs>
  <TitlesOfParts>
    <vt:vector size="70" baseType="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1950</cp:revision>
  <cp:lastPrinted>2022-11-01T11:38:14Z</cp:lastPrinted>
  <dcterms:created xsi:type="dcterms:W3CDTF">2015-09-04T09:21:15Z</dcterms:created>
  <dcterms:modified xsi:type="dcterms:W3CDTF">2026-10-20T06:21:57Z</dcterms:modified>
</cp:coreProperties>
</file>