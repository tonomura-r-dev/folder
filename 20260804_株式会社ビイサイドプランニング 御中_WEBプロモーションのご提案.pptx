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3"/>
  </p:notesMasterIdLst>
  <p:sldIdLst>
    <p:sldId id="1528" r:id="rId2"/>
    <p:sldId id="257" r:id="rId3"/>
    <p:sldId id="2917" r:id="rId4"/>
    <p:sldId id="3201" r:id="rId5"/>
    <p:sldId id="3202" r:id="rId6"/>
    <p:sldId id="3203" r:id="rId7"/>
    <p:sldId id="3204" r:id="rId8"/>
    <p:sldId id="2947" r:id="rId9"/>
    <p:sldId id="2948" r:id="rId10"/>
    <p:sldId id="3205" r:id="rId11"/>
    <p:sldId id="2949" r:id="rId12"/>
    <p:sldId id="3207" r:id="rId13"/>
    <p:sldId id="273" r:id="rId14"/>
    <p:sldId id="274" r:id="rId15"/>
    <p:sldId id="275" r:id="rId16"/>
    <p:sldId id="2890" r:id="rId17"/>
    <p:sldId id="3135" r:id="rId18"/>
    <p:sldId id="3229" r:id="rId48"/>
    <p:sldId id="3230" r:id="rId49"/>
    <p:sldId id="3231" r:id="rId50"/>
    <p:sldId id="3232" r:id="rId51"/>
    <p:sldId id="3233" r:id="rId52"/>
    <p:sldId id="3234" r:id="rId53"/>
    <p:sldId id="3235" r:id="rId54"/>
    <p:sldId id="3213" r:id="rId24"/>
    <p:sldId id="3236" r:id="rId55"/>
    <p:sldId id="356" r:id="rId37"/>
    <p:sldId id="2866" r:id="rId38"/>
    <p:sldId id="282" r:id="rId39"/>
    <p:sldId id="1865" r:id="rId40"/>
    <p:sldId id="1866" r:id="rId41"/>
    <p:sldId id="1672" r:id="rId42"/>
  </p:sldIdLst>
  <p:sldSz cx="9906000" cy="6858000" type="A4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822A"/>
    <a:srgbClr val="254061"/>
    <a:srgbClr val="00A896"/>
    <a:srgbClr val="191F54"/>
    <a:srgbClr val="DEDEDE"/>
    <a:srgbClr val="296FD6"/>
    <a:srgbClr val="EAEDEF"/>
    <a:srgbClr val="073763"/>
    <a:srgbClr val="0032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184" autoAdjust="0"/>
    <p:restoredTop sz="94660"/>
  </p:normalViewPr>
  <p:slideViewPr>
    <p:cSldViewPr snapToGrid="0" showGuides="1">
      <p:cViewPr varScale="1">
        <p:scale>
          <a:sx n="74" d="100"/>
          <a:sy n="74" d="100"/>
        </p:scale>
        <p:origin x="976" y="36"/>
      </p:cViewPr>
      <p:guideLst>
        <p:guide orient="horz" pos="2183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24" Type="http://schemas.openxmlformats.org/officeDocument/2006/relationships/slide" Target="slides/slide25.xml"/><Relationship Id="rId37" Type="http://schemas.openxmlformats.org/officeDocument/2006/relationships/slide" Target="slides/slide27.xml"/><Relationship Id="rId38" Type="http://schemas.openxmlformats.org/officeDocument/2006/relationships/slide" Target="slides/slide28.xml"/><Relationship Id="rId39" Type="http://schemas.openxmlformats.org/officeDocument/2006/relationships/slide" Target="slides/slide29.xml"/><Relationship Id="rId40" Type="http://schemas.openxmlformats.org/officeDocument/2006/relationships/slide" Target="slides/slide30.xml"/><Relationship Id="rId41" Type="http://schemas.openxmlformats.org/officeDocument/2006/relationships/slide" Target="slides/slide31.xml"/><Relationship Id="rId42" Type="http://schemas.openxmlformats.org/officeDocument/2006/relationships/slide" Target="slides/slide32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Relationship Id="rId48" Type="http://schemas.openxmlformats.org/officeDocument/2006/relationships/slide" Target="slides/slide18.xml"/><Relationship Id="rId49" Type="http://schemas.openxmlformats.org/officeDocument/2006/relationships/slide" Target="slides/slide19.xml"/><Relationship Id="rId50" Type="http://schemas.openxmlformats.org/officeDocument/2006/relationships/slide" Target="slides/slide20.xml"/><Relationship Id="rId51" Type="http://schemas.openxmlformats.org/officeDocument/2006/relationships/slide" Target="slides/slide21.xml"/><Relationship Id="rId52" Type="http://schemas.openxmlformats.org/officeDocument/2006/relationships/slide" Target="slides/slide22.xml"/><Relationship Id="rId53" Type="http://schemas.openxmlformats.org/officeDocument/2006/relationships/slide" Target="slides/slide23.xml"/><Relationship Id="rId54" Type="http://schemas.openxmlformats.org/officeDocument/2006/relationships/slide" Target="slides/slide24.xml"/><Relationship Id="rId55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A03556-6033-4E9C-8AB2-DAEBDF7D0545}" type="datetimeFigureOut">
              <a:rPr kumimoji="1" lang="ja-JP" altLang="en-US" smtClean="0"/>
              <a:t>2026/7/9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0A7E7C-2592-421B-8120-0CB7E8FF1C5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066609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714375" y="744538"/>
            <a:ext cx="5375275" cy="3722687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1266" name="ノート プレースホルダー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ja-JP" altLang="en-US" dirty="0">
              <a:latin typeface="Calibri" charset="0"/>
              <a:ea typeface="ＭＳ Ｐゴシック" charset="0"/>
            </a:endParaRPr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ja-JP" altLang="en-US" dirty="0"/>
          </a:p>
        </p:txBody>
      </p:sp>
      <p:sp>
        <p:nvSpPr>
          <p:cNvPr id="11268" name="スライド番号プレースホルダー 4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3025" indent="-285778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115" indent="-228623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360" indent="-228623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605" indent="-228623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851" indent="-22862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2096" indent="-22862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343" indent="-22862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588" indent="-22862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8FB3F40B-8A17-7147-97C6-D00DC1719EA3}" type="slidenum">
              <a:rPr lang="ja-JP" altLang="en-US" sz="1300">
                <a:latin typeface="Calibri" charset="0"/>
              </a:rPr>
              <a:pPr/>
              <a:t>1</a:t>
            </a:fld>
            <a:endParaRPr lang="ja-JP" altLang="en-US" sz="1300" dirty="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68927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5" name="Google Shape;5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29202D6-C1F5-472A-A72F-285F233F82C2}" type="slidenum">
              <a:rPr lang="ja-JP" altLang="en-US" smtClean="0"/>
              <a:pPr>
                <a:defRPr/>
              </a:pPr>
              <a:t>41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67187227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 userDrawn="1"/>
        </p:nvSpPr>
        <p:spPr>
          <a:xfrm>
            <a:off x="9398000" y="6591300"/>
            <a:ext cx="419100" cy="266700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</p:spTree>
    <p:extLst>
      <p:ext uri="{BB962C8B-B14F-4D97-AF65-F5344CB8AC3E}">
        <p14:creationId xmlns:p14="http://schemas.microsoft.com/office/powerpoint/2010/main" val="635862720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191F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正方形/長方形 6"/>
          <p:cNvSpPr/>
          <p:nvPr/>
        </p:nvSpPr>
        <p:spPr>
          <a:xfrm>
            <a:off x="0" y="0"/>
            <a:ext cx="451204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463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6465472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8743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タイトルとコンテンツ" preserve="1">
  <p:cSld name="5_タイトルとコンテンツ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5"/>
          <p:cNvSpPr/>
          <p:nvPr/>
        </p:nvSpPr>
        <p:spPr>
          <a:xfrm>
            <a:off x="0" y="0"/>
            <a:ext cx="451204" cy="548680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txBody>
          <a:bodyPr spcFirstLastPara="1" wrap="square" lIns="74283" tIns="37131" rIns="74283" bIns="37131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63" b="0" i="0" u="none" strike="noStrike" cap="none" dirty="0">
              <a:solidFill>
                <a:srgbClr val="FFFFFF"/>
              </a:solidFill>
              <a:latin typeface="Meiryo UI" panose="020B0604030504040204" pitchFamily="50" charset="-128"/>
              <a:ea typeface="Meiryo UI" panose="020B0604030504040204" pitchFamily="50" charset="-128"/>
              <a:cs typeface="Calibri"/>
              <a:sym typeface="Calibri"/>
            </a:endParaRPr>
          </a:p>
        </p:txBody>
      </p:sp>
      <p:cxnSp>
        <p:nvCxnSpPr>
          <p:cNvPr id="17" name="Google Shape;17;p75"/>
          <p:cNvCxnSpPr/>
          <p:nvPr/>
        </p:nvCxnSpPr>
        <p:spPr>
          <a:xfrm>
            <a:off x="0" y="548680"/>
            <a:ext cx="9906000" cy="0"/>
          </a:xfrm>
          <a:prstGeom prst="straightConnector1">
            <a:avLst/>
          </a:prstGeom>
          <a:noFill/>
          <a:ln w="25400" cap="flat" cmpd="sng">
            <a:solidFill>
              <a:srgbClr val="191F54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8580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69666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534D6-5E1A-4239-A455-4125CCFD9645}" type="datetimeFigureOut">
              <a:rPr kumimoji="1" lang="ja-JP" altLang="en-US" smtClean="0"/>
              <a:t>2026/7/9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D388E-87E0-4CDF-9AC5-13B331764B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15246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タイトル スライド" preserve="1">
  <p:cSld name="3_タイトル スライド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4"/>
          <p:cNvSpPr txBox="1">
            <a:spLocks noGrp="1"/>
          </p:cNvSpPr>
          <p:nvPr>
            <p:ph type="dt" idx="10"/>
          </p:nvPr>
        </p:nvSpPr>
        <p:spPr>
          <a:xfrm>
            <a:off x="495300" y="6356363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iryo"/>
              <a:buNone/>
              <a:defRPr sz="1463" b="0" i="0" u="none" strike="noStrike" cap="non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6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6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6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6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6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6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6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6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20" name="Google Shape;20;p54"/>
          <p:cNvSpPr txBox="1">
            <a:spLocks noGrp="1"/>
          </p:cNvSpPr>
          <p:nvPr>
            <p:ph type="ftr" idx="11"/>
          </p:nvPr>
        </p:nvSpPr>
        <p:spPr>
          <a:xfrm>
            <a:off x="3384550" y="6356363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iryo"/>
              <a:buNone/>
              <a:defRPr sz="1463" b="0" i="0" u="none" strike="noStrike" cap="non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6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6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6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6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6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6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6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6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21" name="Google Shape;21;p54"/>
          <p:cNvSpPr txBox="1">
            <a:spLocks noGrp="1"/>
          </p:cNvSpPr>
          <p:nvPr>
            <p:ph type="sldNum" idx="12"/>
          </p:nvPr>
        </p:nvSpPr>
        <p:spPr>
          <a:xfrm>
            <a:off x="9345488" y="6550756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92"/>
              <a:buFont typeface="Meiryo"/>
              <a:buNone/>
              <a:defRPr sz="1050" b="0" i="0" u="none" strike="noStrike" cap="non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92"/>
              <a:buFont typeface="Meiryo"/>
              <a:buNone/>
              <a:defRPr sz="1050" b="0" i="0" u="none" strike="noStrike" cap="non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92"/>
              <a:buFont typeface="Meiryo"/>
              <a:buNone/>
              <a:defRPr sz="1050" b="0" i="0" u="none" strike="noStrike" cap="non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92"/>
              <a:buFont typeface="Meiryo"/>
              <a:buNone/>
              <a:defRPr sz="1050" b="0" i="0" u="none" strike="noStrike" cap="non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92"/>
              <a:buFont typeface="Meiryo"/>
              <a:buNone/>
              <a:defRPr sz="1050" b="0" i="0" u="none" strike="noStrike" cap="non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92"/>
              <a:buFont typeface="Meiryo"/>
              <a:buNone/>
              <a:defRPr sz="1050" b="0" i="0" u="none" strike="noStrike" cap="non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92"/>
              <a:buFont typeface="Meiryo"/>
              <a:buNone/>
              <a:defRPr sz="1050" b="0" i="0" u="none" strike="noStrike" cap="non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92"/>
              <a:buFont typeface="Meiryo"/>
              <a:buNone/>
              <a:defRPr sz="1050" b="0" i="0" u="none" strike="noStrike" cap="non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92"/>
              <a:buFont typeface="Meiryo"/>
              <a:buNone/>
              <a:defRPr sz="1050" b="0" i="0" u="none" strike="noStrike" cap="non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fld id="{00000000-1234-1234-1234-123412341234}" type="slidenum">
              <a:rPr lang="en-US" altLang="ja-JP" smtClean="0"/>
              <a:pPr/>
              <a:t>‹#›</a:t>
            </a:fld>
            <a:endParaRPr lang="ja-JP" altLang="en-US"/>
          </a:p>
        </p:txBody>
      </p:sp>
      <p:sp>
        <p:nvSpPr>
          <p:cNvPr id="22" name="Google Shape;22;p54"/>
          <p:cNvSpPr/>
          <p:nvPr/>
        </p:nvSpPr>
        <p:spPr>
          <a:xfrm>
            <a:off x="0" y="0"/>
            <a:ext cx="451204" cy="548680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txBody>
          <a:bodyPr spcFirstLastPara="1" wrap="square" lIns="74283" tIns="37131" rIns="74283" bIns="37131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463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" name="Google Shape;23;p54"/>
          <p:cNvCxnSpPr/>
          <p:nvPr/>
        </p:nvCxnSpPr>
        <p:spPr>
          <a:xfrm>
            <a:off x="0" y="548680"/>
            <a:ext cx="9906000" cy="0"/>
          </a:xfrm>
          <a:prstGeom prst="straightConnector1">
            <a:avLst/>
          </a:prstGeom>
          <a:noFill/>
          <a:ln w="25400" cap="flat" cmpd="sng">
            <a:solidFill>
              <a:srgbClr val="191F54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197714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16755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線コネクタ 2"/>
          <p:cNvCxnSpPr/>
          <p:nvPr userDrawn="1"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191F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正方形/長方形 3"/>
          <p:cNvSpPr/>
          <p:nvPr userDrawn="1"/>
        </p:nvSpPr>
        <p:spPr>
          <a:xfrm>
            <a:off x="0" y="0"/>
            <a:ext cx="451204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463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0473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タイトルとコンテンツ" preserve="1" userDrawn="1">
  <p:cSld name="5_タイトルとコンテンツ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48884" y="143911"/>
            <a:ext cx="7754858" cy="338555"/>
          </a:xfrm>
          <a:prstGeom prst="rect">
            <a:avLst/>
          </a:prstGeom>
        </p:spPr>
        <p:txBody>
          <a:bodyPr/>
          <a:lstStyle>
            <a:lvl1pPr marR="0" algn="l" rtl="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0000"/>
              </a:buClr>
              <a:buFont typeface="Arial" charset="0"/>
              <a:buNone/>
              <a:defRPr kumimoji="1" lang="ja-JP" altLang="en-US" sz="1300" b="0" i="0" u="none" strike="noStrike" cap="none" spc="244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charset="0"/>
                <a:sym typeface="Arial"/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cxnSp>
        <p:nvCxnSpPr>
          <p:cNvPr id="18" name="Google Shape;18;p3"/>
          <p:cNvCxnSpPr/>
          <p:nvPr/>
        </p:nvCxnSpPr>
        <p:spPr>
          <a:xfrm>
            <a:off x="0" y="548680"/>
            <a:ext cx="9906000" cy="0"/>
          </a:xfrm>
          <a:prstGeom prst="straightConnector1">
            <a:avLst/>
          </a:prstGeom>
          <a:noFill/>
          <a:ln w="25400" cap="flat" cmpd="sng">
            <a:solidFill>
              <a:srgbClr val="191F5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" name="Google Shape;19;p3"/>
          <p:cNvSpPr/>
          <p:nvPr/>
        </p:nvSpPr>
        <p:spPr>
          <a:xfrm>
            <a:off x="0" y="0"/>
            <a:ext cx="451204" cy="548680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txBody>
          <a:bodyPr spcFirstLastPara="1" wrap="square" lIns="74283" tIns="37131" rIns="74283" bIns="37131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63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443E867C-938A-4B55-9BC9-A14A9DB0274B}"/>
              </a:ext>
            </a:extLst>
          </p:cNvPr>
          <p:cNvSpPr/>
          <p:nvPr userDrawn="1"/>
        </p:nvSpPr>
        <p:spPr>
          <a:xfrm>
            <a:off x="0" y="609600"/>
            <a:ext cx="9906000" cy="3817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3125" anchor="ctr"/>
          <a:lstStyle/>
          <a:p>
            <a:pPr algn="ctr">
              <a:defRPr/>
            </a:pPr>
            <a:endParaRPr lang="ja-JP" altLang="en-US" sz="1625" spc="488" dirty="0">
              <a:solidFill>
                <a:schemeClr val="tx1">
                  <a:lumMod val="85000"/>
                  <a:lumOff val="1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F4CB9164-B3F8-4467-A9B9-02B828EFAA2F}"/>
              </a:ext>
            </a:extLst>
          </p:cNvPr>
          <p:cNvCxnSpPr>
            <a:cxnSpLocks/>
          </p:cNvCxnSpPr>
          <p:nvPr userDrawn="1"/>
        </p:nvCxnSpPr>
        <p:spPr>
          <a:xfrm>
            <a:off x="0" y="1390675"/>
            <a:ext cx="9906000" cy="0"/>
          </a:xfrm>
          <a:prstGeom prst="line">
            <a:avLst/>
          </a:prstGeom>
          <a:ln w="19050">
            <a:solidFill>
              <a:schemeClr val="bg1">
                <a:lumMod val="85000"/>
                <a:alpha val="6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D9970966-7ADA-4DAA-8EE5-666B7BC84C85}"/>
              </a:ext>
            </a:extLst>
          </p:cNvPr>
          <p:cNvSpPr/>
          <p:nvPr userDrawn="1"/>
        </p:nvSpPr>
        <p:spPr>
          <a:xfrm>
            <a:off x="0" y="971550"/>
            <a:ext cx="9906000" cy="4037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 sz="73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0" name="コンテンツ プレースホルダー 9"/>
          <p:cNvSpPr>
            <a:spLocks noGrp="1"/>
          </p:cNvSpPr>
          <p:nvPr>
            <p:ph sz="quarter" idx="10"/>
          </p:nvPr>
        </p:nvSpPr>
        <p:spPr>
          <a:xfrm>
            <a:off x="0" y="608400"/>
            <a:ext cx="9906000" cy="381600"/>
          </a:xfrm>
          <a:prstGeom prst="rect">
            <a:avLst/>
          </a:prstGeom>
        </p:spPr>
        <p:txBody>
          <a:bodyPr/>
          <a:lstStyle>
            <a:lvl1pPr marR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ja-JP" altLang="en-US" sz="1625" b="0" i="0" u="none" strike="noStrike" cap="none" spc="488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  <a:sym typeface="Arial"/>
              </a:defRPr>
            </a:lvl1pPr>
            <a:lvl2pPr algn="ctr">
              <a:defRPr lang="ja-JP" altLang="en-US" sz="731" b="0" i="0" u="none" strike="noStrike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  <a:sym typeface="Arial"/>
              </a:defRPr>
            </a:lvl2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21" name="テキスト プレースホルダー 20"/>
          <p:cNvSpPr>
            <a:spLocks noGrp="1"/>
          </p:cNvSpPr>
          <p:nvPr>
            <p:ph type="body" sz="quarter" idx="11"/>
          </p:nvPr>
        </p:nvSpPr>
        <p:spPr>
          <a:xfrm>
            <a:off x="0" y="972000"/>
            <a:ext cx="9906000" cy="403200"/>
          </a:xfrm>
          <a:prstGeom prst="rect">
            <a:avLst/>
          </a:prstGeom>
        </p:spPr>
        <p:txBody>
          <a:bodyPr/>
          <a:lstStyle>
            <a:lvl1pPr marR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ja-JP" altLang="en-US" sz="731" b="0" i="0" u="none" strike="noStrike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  <a:sym typeface="Arial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30477464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タイトルとコンテンツ" preserve="1" userDrawn="1">
  <p:cSld name="5_タイトルとコンテンツ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48884" y="143911"/>
            <a:ext cx="7754858" cy="338555"/>
          </a:xfrm>
          <a:prstGeom prst="rect">
            <a:avLst/>
          </a:prstGeom>
        </p:spPr>
        <p:txBody>
          <a:bodyPr/>
          <a:lstStyle>
            <a:lvl1pPr marR="0" algn="l" rtl="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0000"/>
              </a:buClr>
              <a:buFont typeface="Arial" charset="0"/>
              <a:buNone/>
              <a:defRPr kumimoji="1" lang="ja-JP" altLang="en-US" sz="1300" b="0" i="0" u="none" strike="noStrike" cap="none" spc="244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charset="0"/>
                <a:sym typeface="Arial"/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cxnSp>
        <p:nvCxnSpPr>
          <p:cNvPr id="18" name="Google Shape;18;p3"/>
          <p:cNvCxnSpPr/>
          <p:nvPr/>
        </p:nvCxnSpPr>
        <p:spPr>
          <a:xfrm>
            <a:off x="0" y="548680"/>
            <a:ext cx="9906000" cy="0"/>
          </a:xfrm>
          <a:prstGeom prst="straightConnector1">
            <a:avLst/>
          </a:prstGeom>
          <a:noFill/>
          <a:ln w="25400" cap="flat" cmpd="sng">
            <a:solidFill>
              <a:srgbClr val="191F5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" name="Google Shape;19;p3"/>
          <p:cNvSpPr/>
          <p:nvPr/>
        </p:nvSpPr>
        <p:spPr>
          <a:xfrm>
            <a:off x="0" y="0"/>
            <a:ext cx="451204" cy="548680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txBody>
          <a:bodyPr spcFirstLastPara="1" wrap="square" lIns="74283" tIns="37131" rIns="74283" bIns="37131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63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443E867C-938A-4B55-9BC9-A14A9DB0274B}"/>
              </a:ext>
            </a:extLst>
          </p:cNvPr>
          <p:cNvSpPr/>
          <p:nvPr userDrawn="1"/>
        </p:nvSpPr>
        <p:spPr>
          <a:xfrm>
            <a:off x="0" y="609600"/>
            <a:ext cx="9906000" cy="3817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3125" anchor="ctr"/>
          <a:lstStyle/>
          <a:p>
            <a:pPr algn="ctr">
              <a:defRPr/>
            </a:pPr>
            <a:endParaRPr lang="ja-JP" altLang="en-US" sz="1625" spc="488" dirty="0">
              <a:solidFill>
                <a:schemeClr val="tx1">
                  <a:lumMod val="85000"/>
                  <a:lumOff val="1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204510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191F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正方形/長方形 6"/>
          <p:cNvSpPr/>
          <p:nvPr/>
        </p:nvSpPr>
        <p:spPr>
          <a:xfrm>
            <a:off x="0" y="0"/>
            <a:ext cx="451204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DF5F8949-241D-EB50-98A8-24BF64D80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155" y="182288"/>
            <a:ext cx="8543925" cy="366392"/>
          </a:xfrm>
          <a:prstGeom prst="rect">
            <a:avLst/>
          </a:prstGeom>
        </p:spPr>
        <p:txBody>
          <a:bodyPr/>
          <a:lstStyle>
            <a:lvl1pPr algn="l">
              <a:defRPr sz="1800" b="1"/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135771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26" b="1" i="0">
                <a:solidFill>
                  <a:schemeClr val="bg1"/>
                </a:solidFill>
                <a:latin typeface="Hiragino Sans GB W6"/>
                <a:cs typeface="Hiragino Sans GB W6"/>
              </a:defRPr>
            </a:lvl1pPr>
          </a:lstStyle>
          <a:p>
            <a:pPr marL="11527">
              <a:lnSpc>
                <a:spcPts val="808"/>
              </a:lnSpc>
            </a:pPr>
            <a:r>
              <a:rPr lang="en-US" dirty="0"/>
              <a:t>Copyright(c)</a:t>
            </a:r>
            <a:r>
              <a:rPr lang="en-US" spc="68" dirty="0"/>
              <a:t> </a:t>
            </a:r>
            <a:r>
              <a:rPr lang="en-US" dirty="0"/>
              <a:t>DYM</a:t>
            </a:r>
            <a:r>
              <a:rPr lang="en-US" spc="82" dirty="0"/>
              <a:t> </a:t>
            </a:r>
            <a:r>
              <a:rPr lang="en-US" dirty="0"/>
              <a:t>Co.,</a:t>
            </a:r>
            <a:r>
              <a:rPr lang="en-US" spc="54" dirty="0"/>
              <a:t> </a:t>
            </a:r>
            <a:r>
              <a:rPr lang="en-US" dirty="0"/>
              <a:t>Ltd．</a:t>
            </a:r>
            <a:r>
              <a:rPr lang="en-US" spc="86" dirty="0"/>
              <a:t> </a:t>
            </a:r>
            <a:r>
              <a:rPr lang="en-US" dirty="0"/>
              <a:t>All</a:t>
            </a:r>
            <a:r>
              <a:rPr lang="en-US" spc="59" dirty="0"/>
              <a:t> </a:t>
            </a:r>
            <a:r>
              <a:rPr lang="en-US" dirty="0"/>
              <a:t>Rights</a:t>
            </a:r>
            <a:r>
              <a:rPr lang="en-US" spc="59" dirty="0"/>
              <a:t> </a:t>
            </a:r>
            <a:r>
              <a:rPr lang="en-US" spc="-9" dirty="0"/>
              <a:t>Reserved.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7/9/2026</a:t>
            </a:fld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61" b="1" i="0">
                <a:solidFill>
                  <a:schemeClr val="bg1"/>
                </a:solidFill>
                <a:latin typeface="Hiragino Sans GB W6"/>
                <a:cs typeface="Hiragino Sans GB W6"/>
              </a:defRPr>
            </a:lvl1pPr>
          </a:lstStyle>
          <a:p>
            <a:pPr marL="11527">
              <a:lnSpc>
                <a:spcPts val="1556"/>
              </a:lnSpc>
            </a:pPr>
            <a:fld id="{81D60167-4931-47E6-BA6A-407CBD079E47}" type="slidenum">
              <a:rPr lang="en-US" altLang="ja-JP" spc="-23" smtClean="0"/>
              <a:pPr marL="11527">
                <a:lnSpc>
                  <a:spcPts val="1556"/>
                </a:lnSpc>
              </a:pPr>
              <a:t>‹#›</a:t>
            </a:fld>
            <a:endParaRPr lang="en-US" altLang="ja-JP" spc="-23" dirty="0"/>
          </a:p>
        </p:txBody>
      </p:sp>
    </p:spTree>
    <p:extLst>
      <p:ext uri="{BB962C8B-B14F-4D97-AF65-F5344CB8AC3E}">
        <p14:creationId xmlns:p14="http://schemas.microsoft.com/office/powerpoint/2010/main" val="18567124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906" b="1" i="0">
                <a:solidFill>
                  <a:schemeClr val="tx1"/>
                </a:solidFill>
                <a:latin typeface="Hiragino Sans GB W6"/>
                <a:cs typeface="Hiragino Sans GB W6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26" b="1" i="0">
                <a:solidFill>
                  <a:schemeClr val="bg1"/>
                </a:solidFill>
                <a:latin typeface="Hiragino Sans GB W6"/>
                <a:cs typeface="Hiragino Sans GB W6"/>
              </a:defRPr>
            </a:lvl1pPr>
          </a:lstStyle>
          <a:p>
            <a:pPr marL="11527">
              <a:lnSpc>
                <a:spcPts val="808"/>
              </a:lnSpc>
            </a:pPr>
            <a:r>
              <a:rPr lang="en-US" dirty="0"/>
              <a:t>Copyright(c)</a:t>
            </a:r>
            <a:r>
              <a:rPr lang="en-US" spc="68" dirty="0"/>
              <a:t> </a:t>
            </a:r>
            <a:r>
              <a:rPr lang="en-US" dirty="0"/>
              <a:t>DYM</a:t>
            </a:r>
            <a:r>
              <a:rPr lang="en-US" spc="82" dirty="0"/>
              <a:t> </a:t>
            </a:r>
            <a:r>
              <a:rPr lang="en-US" dirty="0"/>
              <a:t>Co.,</a:t>
            </a:r>
            <a:r>
              <a:rPr lang="en-US" spc="54" dirty="0"/>
              <a:t> </a:t>
            </a:r>
            <a:r>
              <a:rPr lang="en-US" dirty="0"/>
              <a:t>Ltd．</a:t>
            </a:r>
            <a:r>
              <a:rPr lang="en-US" spc="86" dirty="0"/>
              <a:t> </a:t>
            </a:r>
            <a:r>
              <a:rPr lang="en-US" dirty="0"/>
              <a:t>All</a:t>
            </a:r>
            <a:r>
              <a:rPr lang="en-US" spc="59" dirty="0"/>
              <a:t> </a:t>
            </a:r>
            <a:r>
              <a:rPr lang="en-US" dirty="0"/>
              <a:t>Rights</a:t>
            </a:r>
            <a:r>
              <a:rPr lang="en-US" spc="59" dirty="0"/>
              <a:t> </a:t>
            </a:r>
            <a:r>
              <a:rPr lang="en-US" spc="-9" dirty="0"/>
              <a:t>Reserved.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7/9/2026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61" b="1" i="0">
                <a:solidFill>
                  <a:schemeClr val="bg1"/>
                </a:solidFill>
                <a:latin typeface="Hiragino Sans GB W6"/>
                <a:cs typeface="Hiragino Sans GB W6"/>
              </a:defRPr>
            </a:lvl1pPr>
          </a:lstStyle>
          <a:p>
            <a:pPr marL="11527">
              <a:lnSpc>
                <a:spcPts val="1556"/>
              </a:lnSpc>
            </a:pPr>
            <a:fld id="{81D60167-4931-47E6-BA6A-407CBD079E47}" type="slidenum">
              <a:rPr lang="en-US" altLang="ja-JP" spc="-23" smtClean="0"/>
              <a:pPr marL="11527">
                <a:lnSpc>
                  <a:spcPts val="1556"/>
                </a:lnSpc>
              </a:pPr>
              <a:t>‹#›</a:t>
            </a:fld>
            <a:endParaRPr lang="en-US" altLang="ja-JP" spc="-23" dirty="0"/>
          </a:p>
        </p:txBody>
      </p:sp>
    </p:spTree>
    <p:extLst>
      <p:ext uri="{BB962C8B-B14F-4D97-AF65-F5344CB8AC3E}">
        <p14:creationId xmlns:p14="http://schemas.microsoft.com/office/powerpoint/2010/main" val="7375602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906" b="1" i="0">
                <a:solidFill>
                  <a:schemeClr val="tx1"/>
                </a:solidFill>
                <a:latin typeface="Hiragino Sans GB W6"/>
                <a:cs typeface="Hiragino Sans GB W6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26" b="1" i="0">
                <a:solidFill>
                  <a:schemeClr val="bg1"/>
                </a:solidFill>
                <a:latin typeface="Hiragino Sans GB W6"/>
                <a:cs typeface="Hiragino Sans GB W6"/>
              </a:defRPr>
            </a:lvl1pPr>
          </a:lstStyle>
          <a:p>
            <a:pPr marL="11527">
              <a:lnSpc>
                <a:spcPts val="808"/>
              </a:lnSpc>
            </a:pPr>
            <a:r>
              <a:rPr lang="en-US" dirty="0"/>
              <a:t>Copyright(c)</a:t>
            </a:r>
            <a:r>
              <a:rPr lang="en-US" spc="68" dirty="0"/>
              <a:t> </a:t>
            </a:r>
            <a:r>
              <a:rPr lang="en-US" dirty="0"/>
              <a:t>DYM</a:t>
            </a:r>
            <a:r>
              <a:rPr lang="en-US" spc="82" dirty="0"/>
              <a:t> </a:t>
            </a:r>
            <a:r>
              <a:rPr lang="en-US" dirty="0"/>
              <a:t>Co.,</a:t>
            </a:r>
            <a:r>
              <a:rPr lang="en-US" spc="54" dirty="0"/>
              <a:t> </a:t>
            </a:r>
            <a:r>
              <a:rPr lang="en-US" dirty="0"/>
              <a:t>Ltd．</a:t>
            </a:r>
            <a:r>
              <a:rPr lang="en-US" spc="86" dirty="0"/>
              <a:t> </a:t>
            </a:r>
            <a:r>
              <a:rPr lang="en-US" dirty="0"/>
              <a:t>All</a:t>
            </a:r>
            <a:r>
              <a:rPr lang="en-US" spc="59" dirty="0"/>
              <a:t> </a:t>
            </a:r>
            <a:r>
              <a:rPr lang="en-US" dirty="0"/>
              <a:t>Rights</a:t>
            </a:r>
            <a:r>
              <a:rPr lang="en-US" spc="59" dirty="0"/>
              <a:t> </a:t>
            </a:r>
            <a:r>
              <a:rPr lang="en-US" spc="-9" dirty="0"/>
              <a:t>Reserved.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7/9/2026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61" b="1" i="0">
                <a:solidFill>
                  <a:schemeClr val="bg1"/>
                </a:solidFill>
                <a:latin typeface="Hiragino Sans GB W6"/>
                <a:cs typeface="Hiragino Sans GB W6"/>
              </a:defRPr>
            </a:lvl1pPr>
          </a:lstStyle>
          <a:p>
            <a:pPr marL="11527">
              <a:lnSpc>
                <a:spcPts val="1556"/>
              </a:lnSpc>
            </a:pPr>
            <a:fld id="{81D60167-4931-47E6-BA6A-407CBD079E47}" type="slidenum">
              <a:rPr lang="en-US" altLang="ja-JP" spc="-23" smtClean="0"/>
              <a:pPr marL="11527">
                <a:lnSpc>
                  <a:spcPts val="1556"/>
                </a:lnSpc>
              </a:pPr>
              <a:t>‹#›</a:t>
            </a:fld>
            <a:endParaRPr lang="en-US" altLang="ja-JP" spc="-23" dirty="0"/>
          </a:p>
        </p:txBody>
      </p:sp>
    </p:spTree>
    <p:extLst>
      <p:ext uri="{BB962C8B-B14F-4D97-AF65-F5344CB8AC3E}">
        <p14:creationId xmlns:p14="http://schemas.microsoft.com/office/powerpoint/2010/main" val="151695076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Relationship Id="rId17" Type="http://schemas.openxmlformats.org/officeDocument/2006/relationships/image" Target="../media/image1.png"/><Relationship Id="rId18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1365" y="72271"/>
            <a:ext cx="1598627" cy="424153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151357" y="32333"/>
            <a:ext cx="1653069" cy="635796"/>
          </a:xfrm>
          <a:prstGeom prst="rect">
            <a:avLst/>
          </a:prstGeom>
        </p:spPr>
      </p:pic>
      <p:sp>
        <p:nvSpPr>
          <p:cNvPr id="6" name="正方形/長方形 5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463">
              <a:solidFill>
                <a:prstClr val="white"/>
              </a:solidFill>
            </a:endParaRPr>
          </a:p>
        </p:txBody>
      </p:sp>
      <p:sp>
        <p:nvSpPr>
          <p:cNvPr id="8" name="スライド番号プレースホルダ 1"/>
          <p:cNvSpPr txBox="1">
            <a:spLocks/>
          </p:cNvSpPr>
          <p:nvPr/>
        </p:nvSpPr>
        <p:spPr>
          <a:xfrm>
            <a:off x="7594600" y="6552745"/>
            <a:ext cx="2311400" cy="365125"/>
          </a:xfrm>
          <a:prstGeom prst="rect">
            <a:avLst/>
          </a:prstGeom>
        </p:spPr>
        <p:txBody>
          <a:bodyPr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138" b="1" smtClean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pPr algn="r"/>
              <a:t>‹#›</a:t>
            </a:fld>
            <a:endParaRPr lang="ja-JP" altLang="en-US" sz="1138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9" name="テキスト ボックス 8"/>
          <p:cNvSpPr txBox="1">
            <a:spLocks noChangeArrowheads="1"/>
          </p:cNvSpPr>
          <p:nvPr userDrawn="1"/>
        </p:nvSpPr>
        <p:spPr bwMode="auto">
          <a:xfrm>
            <a:off x="116569" y="6597932"/>
            <a:ext cx="3666301" cy="192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65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Copyright(c) DYM Co., Ltd</a:t>
            </a:r>
            <a:r>
              <a:rPr lang="ja-JP" altLang="en-US" sz="650" b="1" dirty="0" err="1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．</a:t>
            </a:r>
            <a:r>
              <a:rPr lang="en-US" altLang="ja-JP" sz="65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812813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3" r:id="rId12"/>
    <p:sldLayoutId id="2147483675" r:id="rId13"/>
    <p:sldLayoutId id="2147483676" r:id="rId14"/>
    <p:sldLayoutId id="2147483677" r:id="rId15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357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3575">
          <a:solidFill>
            <a:schemeClr val="tx1"/>
          </a:solidFill>
          <a:latin typeface="Calibri" pitchFamily="34" charset="0"/>
          <a:ea typeface="ＭＳ Ｐゴシック" pitchFamily="50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3575">
          <a:solidFill>
            <a:schemeClr val="tx1"/>
          </a:solidFill>
          <a:latin typeface="Calibri" pitchFamily="34" charset="0"/>
          <a:ea typeface="ＭＳ Ｐゴシック" pitchFamily="50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3575">
          <a:solidFill>
            <a:schemeClr val="tx1"/>
          </a:solidFill>
          <a:latin typeface="Calibri" pitchFamily="34" charset="0"/>
          <a:ea typeface="ＭＳ Ｐゴシック" pitchFamily="50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3575">
          <a:solidFill>
            <a:schemeClr val="tx1"/>
          </a:solidFill>
          <a:latin typeface="Calibri" pitchFamily="34" charset="0"/>
          <a:ea typeface="ＭＳ Ｐゴシック" pitchFamily="50" charset="-128"/>
        </a:defRPr>
      </a:lvl5pPr>
      <a:lvl6pPr marL="371475" algn="ctr" rtl="0" eaLnBrk="1" fontAlgn="base" hangingPunct="1">
        <a:spcBef>
          <a:spcPct val="0"/>
        </a:spcBef>
        <a:spcAft>
          <a:spcPct val="0"/>
        </a:spcAft>
        <a:defRPr kumimoji="1" sz="3575">
          <a:solidFill>
            <a:schemeClr val="tx1"/>
          </a:solidFill>
          <a:latin typeface="Calibri" pitchFamily="34" charset="0"/>
          <a:ea typeface="ＭＳ Ｐゴシック" pitchFamily="50" charset="-128"/>
        </a:defRPr>
      </a:lvl6pPr>
      <a:lvl7pPr marL="742950" algn="ctr" rtl="0" eaLnBrk="1" fontAlgn="base" hangingPunct="1">
        <a:spcBef>
          <a:spcPct val="0"/>
        </a:spcBef>
        <a:spcAft>
          <a:spcPct val="0"/>
        </a:spcAft>
        <a:defRPr kumimoji="1" sz="3575">
          <a:solidFill>
            <a:schemeClr val="tx1"/>
          </a:solidFill>
          <a:latin typeface="Calibri" pitchFamily="34" charset="0"/>
          <a:ea typeface="ＭＳ Ｐゴシック" pitchFamily="50" charset="-128"/>
        </a:defRPr>
      </a:lvl7pPr>
      <a:lvl8pPr marL="1114425" algn="ctr" rtl="0" eaLnBrk="1" fontAlgn="base" hangingPunct="1">
        <a:spcBef>
          <a:spcPct val="0"/>
        </a:spcBef>
        <a:spcAft>
          <a:spcPct val="0"/>
        </a:spcAft>
        <a:defRPr kumimoji="1" sz="3575">
          <a:solidFill>
            <a:schemeClr val="tx1"/>
          </a:solidFill>
          <a:latin typeface="Calibri" pitchFamily="34" charset="0"/>
          <a:ea typeface="ＭＳ Ｐゴシック" pitchFamily="50" charset="-128"/>
        </a:defRPr>
      </a:lvl8pPr>
      <a:lvl9pPr marL="1485900" algn="ctr" rtl="0" eaLnBrk="1" fontAlgn="base" hangingPunct="1">
        <a:spcBef>
          <a:spcPct val="0"/>
        </a:spcBef>
        <a:spcAft>
          <a:spcPct val="0"/>
        </a:spcAft>
        <a:defRPr kumimoji="1" sz="3575">
          <a:solidFill>
            <a:schemeClr val="tx1"/>
          </a:solidFill>
          <a:latin typeface="Calibri" pitchFamily="34" charset="0"/>
          <a:ea typeface="ＭＳ Ｐゴシック" pitchFamily="50" charset="-128"/>
        </a:defRPr>
      </a:lvl9pPr>
    </p:titleStyle>
    <p:bodyStyle>
      <a:lvl1pPr marL="278606" indent="-27860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03647" indent="-232172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275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1625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1625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spcBef>
          <a:spcPct val="20000"/>
        </a:spcBef>
        <a:buFont typeface="Arial" pitchFamily="34" charset="0"/>
        <a:buChar char="•"/>
        <a:defRPr kumimoji="1" sz="1625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spcBef>
          <a:spcPct val="20000"/>
        </a:spcBef>
        <a:buFont typeface="Arial" pitchFamily="34" charset="0"/>
        <a:buChar char="•"/>
        <a:defRPr kumimoji="1" sz="1625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spcBef>
          <a:spcPct val="20000"/>
        </a:spcBef>
        <a:buFont typeface="Arial" pitchFamily="34" charset="0"/>
        <a:buChar char="•"/>
        <a:defRPr kumimoji="1" sz="1625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spcBef>
          <a:spcPct val="20000"/>
        </a:spcBef>
        <a:buFont typeface="Arial" pitchFamily="34" charset="0"/>
        <a:buChar char="•"/>
        <a:defRPr kumimoji="1" sz="16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742950" rtl="0" eaLnBrk="1" latinLnBrk="0" hangingPunct="1">
        <a:defRPr kumimoji="1"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kumimoji="1"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kumimoji="1"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kumimoji="1"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kumimoji="1"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kumimoji="1"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kumimoji="1"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kumimoji="1"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kumimoji="1"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3.png"/><Relationship Id="rId3" Type="http://schemas.openxmlformats.org/officeDocument/2006/relationships/image" Target="../media/image44.png"/><Relationship Id="rId4" Type="http://schemas.openxmlformats.org/officeDocument/2006/relationships/image" Target="../media/image45.png"/><Relationship Id="rId5" Type="http://schemas.openxmlformats.org/officeDocument/2006/relationships/image" Target="../media/image46.png"/><Relationship Id="rId6" Type="http://schemas.openxmlformats.org/officeDocument/2006/relationships/image" Target="../media/image47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8.png"/><Relationship Id="rId3" Type="http://schemas.openxmlformats.org/officeDocument/2006/relationships/image" Target="../media/image49.png"/><Relationship Id="rId4" Type="http://schemas.openxmlformats.org/officeDocument/2006/relationships/image" Target="../media/image50.png"/><Relationship Id="rId5" Type="http://schemas.openxmlformats.org/officeDocument/2006/relationships/image" Target="../media/image51.png"/><Relationship Id="rId6" Type="http://schemas.microsoft.com/office/2007/relationships/hdphoto" Target="../media/hdphoto1.wdp"/><Relationship Id="rId7" Type="http://schemas.openxmlformats.org/officeDocument/2006/relationships/image" Target="../media/image5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3.png"/><Relationship Id="rId3" Type="http://schemas.openxmlformats.org/officeDocument/2006/relationships/image" Target="../media/image54.png"/><Relationship Id="rId4" Type="http://schemas.openxmlformats.org/officeDocument/2006/relationships/image" Target="../media/image55.png"/><Relationship Id="rId5" Type="http://schemas.openxmlformats.org/officeDocument/2006/relationships/image" Target="../media/image56.png"/><Relationship Id="rId6" Type="http://schemas.openxmlformats.org/officeDocument/2006/relationships/image" Target="../media/image57.png"/><Relationship Id="rId7" Type="http://schemas.openxmlformats.org/officeDocument/2006/relationships/image" Target="../media/image48.png"/><Relationship Id="rId8" Type="http://schemas.openxmlformats.org/officeDocument/2006/relationships/image" Target="../media/image49.png"/><Relationship Id="rId9" Type="http://schemas.openxmlformats.org/officeDocument/2006/relationships/image" Target="../media/image51.png"/><Relationship Id="rId10" Type="http://schemas.microsoft.com/office/2007/relationships/hdphoto" Target="../media/hdphoto1.wdp"/><Relationship Id="rId11" Type="http://schemas.openxmlformats.org/officeDocument/2006/relationships/image" Target="../media/image58.png"/><Relationship Id="rId12" Type="http://schemas.openxmlformats.org/officeDocument/2006/relationships/image" Target="../media/image59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0.emf"/><Relationship Id="rId4" Type="http://schemas.openxmlformats.org/officeDocument/2006/relationships/image" Target="../media/image61.jpeg"/><Relationship Id="rId5" Type="http://schemas.openxmlformats.org/officeDocument/2006/relationships/image" Target="../media/image62.jpeg"/><Relationship Id="rId6" Type="http://schemas.openxmlformats.org/officeDocument/2006/relationships/image" Target="../media/image63.jpeg"/><Relationship Id="rId7" Type="http://schemas.openxmlformats.org/officeDocument/2006/relationships/image" Target="../media/image64.jpeg"/><Relationship Id="rId8" Type="http://schemas.openxmlformats.org/officeDocument/2006/relationships/image" Target="../media/image65.jpeg"/><Relationship Id="rId9" Type="http://schemas.openxmlformats.org/officeDocument/2006/relationships/image" Target="../media/image6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正方形/長方形 9"/>
          <p:cNvSpPr/>
          <p:nvPr/>
        </p:nvSpPr>
        <p:spPr>
          <a:xfrm>
            <a:off x="9541755" y="6597352"/>
            <a:ext cx="272352" cy="266131"/>
          </a:xfrm>
          <a:prstGeom prst="rect">
            <a:avLst/>
          </a:prstGeom>
          <a:solidFill>
            <a:srgbClr val="191F54"/>
          </a:solidFill>
          <a:ln>
            <a:solidFill>
              <a:srgbClr val="191F54"/>
            </a:solidFill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1" name="正方形/長方形 10"/>
          <p:cNvSpPr/>
          <p:nvPr/>
        </p:nvSpPr>
        <p:spPr>
          <a:xfrm>
            <a:off x="0" y="2650248"/>
            <a:ext cx="99060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ja-JP" sz="4400" b="1" spc="-200" dirty="0">
                <a:solidFill>
                  <a:schemeClr val="tx1">
                    <a:lumMod val="95000"/>
                    <a:lumOff val="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WEB</a:t>
            </a:r>
            <a:r>
              <a:rPr lang="ja-JP" altLang="en-US" sz="4400" b="1" spc="-200" dirty="0">
                <a:solidFill>
                  <a:schemeClr val="tx1">
                    <a:lumMod val="95000"/>
                    <a:lumOff val="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プロモーションのご提案</a:t>
            </a:r>
            <a:endParaRPr lang="en-US" altLang="ja-JP" sz="4400" b="1" spc="-200" dirty="0">
              <a:solidFill>
                <a:schemeClr val="tx1">
                  <a:lumMod val="95000"/>
                  <a:lumOff val="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2FD77CEE-5E42-4BAB-83E5-A9C2DE05C891}"/>
              </a:ext>
            </a:extLst>
          </p:cNvPr>
          <p:cNvSpPr/>
          <p:nvPr/>
        </p:nvSpPr>
        <p:spPr>
          <a:xfrm>
            <a:off x="187885" y="186161"/>
            <a:ext cx="752381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b="1" dirty="0"/>
              <a:t>株式会社ビイサイドプランニング 御中</a:t>
            </a:r>
            <a:endParaRPr lang="en-US" altLang="ja-JP" b="1" cap="all" dirty="0">
              <a:ln w="9000" cmpd="sng">
                <a:noFill/>
                <a:prstDash val="solid"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5A3D0E9-B8A2-4AFC-ACA7-821EE615DBC3}"/>
              </a:ext>
            </a:extLst>
          </p:cNvPr>
          <p:cNvSpPr/>
          <p:nvPr/>
        </p:nvSpPr>
        <p:spPr>
          <a:xfrm>
            <a:off x="645972" y="3399029"/>
            <a:ext cx="8614056" cy="45719"/>
          </a:xfrm>
          <a:prstGeom prst="rect">
            <a:avLst/>
          </a:prstGeom>
          <a:solidFill>
            <a:srgbClr val="151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22288A21-60C7-C139-A247-DC9BC3FD3E52}"/>
              </a:ext>
            </a:extLst>
          </p:cNvPr>
          <p:cNvGrpSpPr/>
          <p:nvPr/>
        </p:nvGrpSpPr>
        <p:grpSpPr>
          <a:xfrm>
            <a:off x="5286064" y="3772997"/>
            <a:ext cx="1934257" cy="662664"/>
            <a:chOff x="5185984" y="3712612"/>
            <a:chExt cx="1934257" cy="662664"/>
          </a:xfrm>
        </p:grpSpPr>
        <p:sp>
          <p:nvSpPr>
            <p:cNvPr id="9" name="正方形/長方形 8"/>
            <p:cNvSpPr/>
            <p:nvPr/>
          </p:nvSpPr>
          <p:spPr>
            <a:xfrm>
              <a:off x="5185984" y="3859278"/>
              <a:ext cx="37702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ja-JP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×</a:t>
              </a:r>
              <a:endParaRPr lang="ja-JP" altLang="en-US" dirty="0"/>
            </a:p>
          </p:txBody>
        </p:sp>
        <p:pic>
          <p:nvPicPr>
            <p:cNvPr id="12" name="Picture 4" descr="株式会社DYM — 世界で一番社会を変える会社を創る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58024" y="3712612"/>
              <a:ext cx="1262217" cy="6626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3" name="TextBox 12"/>
          <p:cNvSpPr txBox="1"/>
          <p:nvPr/>
        </p:nvSpPr>
        <p:spPr>
          <a:xfrm>
            <a:off x="1828800" y="3776472"/>
            <a:ext cx="324612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500" b="1">
                <a:solidFill>
                  <a:srgbClr val="1A2A5E"/>
                </a:solidFill>
                <a:latin typeface="Meiryo"/>
                <a:ea typeface="Meiryo"/>
              </a:rPr>
              <a:t>株式会社ビイサイドプランニング</a:t>
            </a:r>
          </a:p>
        </p:txBody>
      </p:sp>
    </p:spTree>
    <p:extLst>
      <p:ext uri="{BB962C8B-B14F-4D97-AF65-F5344CB8AC3E}">
        <p14:creationId xmlns:p14="http://schemas.microsoft.com/office/powerpoint/2010/main" val="19308605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57;p2">
            <a:extLst>
              <a:ext uri="{FF2B5EF4-FFF2-40B4-BE49-F238E27FC236}">
                <a16:creationId xmlns:a16="http://schemas.microsoft.com/office/drawing/2014/main" id="{352DFCD7-1D17-ECBA-6B6B-640BED3836CD}"/>
              </a:ext>
            </a:extLst>
          </p:cNvPr>
          <p:cNvSpPr txBox="1"/>
          <p:nvPr/>
        </p:nvSpPr>
        <p:spPr>
          <a:xfrm>
            <a:off x="1170567" y="3136631"/>
            <a:ext cx="2566932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eiryo"/>
                <a:ea typeface="Meiryo"/>
                <a:cs typeface="Meiryo"/>
                <a:sym typeface="Meiryo"/>
              </a:rPr>
              <a:t>目次</a:t>
            </a:r>
            <a:endParaRPr sz="3200" b="1" dirty="0">
              <a:solidFill>
                <a:schemeClr val="tx1">
                  <a:lumMod val="75000"/>
                  <a:lumOff val="25000"/>
                </a:schemeClr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53A2F6FA-77D0-A271-D854-6929ADBED07E}"/>
              </a:ext>
            </a:extLst>
          </p:cNvPr>
          <p:cNvSpPr/>
          <p:nvPr/>
        </p:nvSpPr>
        <p:spPr>
          <a:xfrm>
            <a:off x="4926594" y="1210900"/>
            <a:ext cx="62651" cy="4436198"/>
          </a:xfrm>
          <a:prstGeom prst="rect">
            <a:avLst/>
          </a:prstGeom>
          <a:solidFill>
            <a:srgbClr val="24336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92E8983-8218-01B9-9CD5-932DF916F290}"/>
              </a:ext>
            </a:extLst>
          </p:cNvPr>
          <p:cNvSpPr txBox="1"/>
          <p:nvPr/>
        </p:nvSpPr>
        <p:spPr>
          <a:xfrm>
            <a:off x="5559552" y="1371600"/>
            <a:ext cx="4754880" cy="4572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algn="l" rtl="0">
              <a:spcBef>
                <a:spcPts val="1200"/>
              </a:spcBef>
              <a:spcAft>
                <a:spcPts val="0"/>
              </a:spcAft>
              <a:buClr>
                <a:schemeClr val="tx1">
                  <a:lumMod val="75000"/>
                  <a:lumOff val="25000"/>
                </a:schemeClr>
              </a:buClr>
              <a:buSzPct val="150000"/>
            </a:pPr>
            <a:r>
              <a:rPr sz="2400" b="1">
                <a:latin typeface="Meiryo"/>
              </a:rPr>
              <a:t>弊社のご紹介</a:t>
            </a:r>
            <a:endParaRPr kumimoji="1" lang="en-US" altLang="ja-JP" sz="2400" b="1" dirty="0">
              <a:solidFill>
                <a:schemeClr val="tx1">
                  <a:lumMod val="75000"/>
                  <a:lumOff val="25000"/>
                </a:schemeClr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C8BFE4A0-282F-6F07-2D19-C145541699B5}"/>
              </a:ext>
            </a:extLst>
          </p:cNvPr>
          <p:cNvSpPr txBox="1"/>
          <p:nvPr/>
        </p:nvSpPr>
        <p:spPr>
          <a:xfrm>
            <a:off x="5559552" y="2148840"/>
            <a:ext cx="4754880" cy="4572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algn="l" rtl="0">
              <a:spcBef>
                <a:spcPts val="1200"/>
              </a:spcBef>
              <a:spcAft>
                <a:spcPts val="0"/>
              </a:spcAft>
              <a:buClr>
                <a:schemeClr val="tx1">
                  <a:lumMod val="75000"/>
                  <a:lumOff val="25000"/>
                </a:schemeClr>
              </a:buClr>
              <a:buSzPct val="150000"/>
            </a:pPr>
            <a:r>
              <a:rPr sz="2400" b="1">
                <a:latin typeface="Meiryo"/>
              </a:rPr>
              <a:t>ご与件の整理と課題</a:t>
            </a:r>
            <a:endParaRPr kumimoji="1" lang="en-US" altLang="ja-JP" sz="2400" b="1" dirty="0">
              <a:solidFill>
                <a:schemeClr val="tx1">
                  <a:lumMod val="75000"/>
                  <a:lumOff val="25000"/>
                </a:schemeClr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F19B48A4-8E57-5462-3F3F-2424A5BB1AAE}"/>
              </a:ext>
            </a:extLst>
          </p:cNvPr>
          <p:cNvSpPr txBox="1"/>
          <p:nvPr/>
        </p:nvSpPr>
        <p:spPr>
          <a:xfrm>
            <a:off x="5559552" y="4480560"/>
            <a:ext cx="4754880" cy="4572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algn="l" rtl="0">
              <a:spcBef>
                <a:spcPts val="1200"/>
              </a:spcBef>
              <a:spcAft>
                <a:spcPts val="0"/>
              </a:spcAft>
              <a:buClr>
                <a:schemeClr val="tx1">
                  <a:lumMod val="75000"/>
                  <a:lumOff val="25000"/>
                </a:schemeClr>
              </a:buClr>
              <a:buSzPct val="150000"/>
            </a:pPr>
            <a:r>
              <a:rPr sz="2400" b="1">
                <a:latin typeface="Meiryo"/>
              </a:rPr>
              <a:t>配信シミュレーション</a:t>
            </a:r>
            <a:endParaRPr kumimoji="1" lang="en-US" altLang="ja-JP" sz="2400" b="1" dirty="0">
              <a:solidFill>
                <a:schemeClr val="tx1">
                  <a:lumMod val="75000"/>
                  <a:lumOff val="25000"/>
                </a:schemeClr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8E6476A8-E44B-56D8-EA86-DB542A52992E}"/>
              </a:ext>
            </a:extLst>
          </p:cNvPr>
          <p:cNvSpPr txBox="1"/>
          <p:nvPr/>
        </p:nvSpPr>
        <p:spPr>
          <a:xfrm>
            <a:off x="5559552" y="5257800"/>
            <a:ext cx="4754880" cy="4572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algn="l" rtl="0">
              <a:spcBef>
                <a:spcPts val="1200"/>
              </a:spcBef>
              <a:spcAft>
                <a:spcPts val="0"/>
              </a:spcAft>
              <a:buClr>
                <a:schemeClr val="tx1">
                  <a:lumMod val="75000"/>
                  <a:lumOff val="25000"/>
                </a:schemeClr>
              </a:buClr>
              <a:buSzPct val="150000"/>
            </a:pPr>
            <a:r>
              <a:rPr sz="2400" b="1">
                <a:latin typeface="Meiryo"/>
              </a:rPr>
              <a:t>メディア運営強化・体制</a:t>
            </a:r>
            <a:endParaRPr kumimoji="1" lang="en-US" altLang="ja-JP" sz="2400" b="1" dirty="0">
              <a:solidFill>
                <a:schemeClr val="tx1">
                  <a:lumMod val="75000"/>
                  <a:lumOff val="25000"/>
                </a:schemeClr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33996C6-7085-76B9-1EFA-44D61B2A8E73}"/>
              </a:ext>
            </a:extLst>
          </p:cNvPr>
          <p:cNvSpPr txBox="1"/>
          <p:nvPr/>
        </p:nvSpPr>
        <p:spPr>
          <a:xfrm>
            <a:off x="5559552" y="3703320"/>
            <a:ext cx="4754880" cy="4572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algn="l" rtl="0">
              <a:spcBef>
                <a:spcPts val="1200"/>
              </a:spcBef>
              <a:spcAft>
                <a:spcPts val="0"/>
              </a:spcAft>
              <a:buClr>
                <a:schemeClr val="tx1">
                  <a:lumMod val="75000"/>
                  <a:lumOff val="25000"/>
                </a:schemeClr>
              </a:buClr>
              <a:buSzPct val="150000"/>
            </a:pPr>
            <a:r>
              <a:rPr sz="2400" b="1">
                <a:latin typeface="Meiryo"/>
              </a:rPr>
              <a:t>LINE公式アカウント活用</a:t>
            </a:r>
            <a:endParaRPr kumimoji="1" lang="en-US" altLang="ja-JP" sz="2400" b="1" dirty="0">
              <a:solidFill>
                <a:schemeClr val="tx1">
                  <a:lumMod val="75000"/>
                  <a:lumOff val="25000"/>
                </a:schemeClr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A698A79-6E89-D3F1-868B-AB1D7060F6A4}"/>
              </a:ext>
            </a:extLst>
          </p:cNvPr>
          <p:cNvSpPr txBox="1"/>
          <p:nvPr/>
        </p:nvSpPr>
        <p:spPr>
          <a:xfrm>
            <a:off x="5559552" y="2926080"/>
            <a:ext cx="4754880" cy="4572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algn="l" rtl="0">
              <a:spcBef>
                <a:spcPts val="1200"/>
              </a:spcBef>
              <a:spcAft>
                <a:spcPts val="0"/>
              </a:spcAft>
              <a:buClr>
                <a:schemeClr val="tx1">
                  <a:lumMod val="75000"/>
                  <a:lumOff val="25000"/>
                </a:schemeClr>
              </a:buClr>
              <a:buSzPct val="150000"/>
            </a:pPr>
            <a:r>
              <a:rPr sz="2400" b="1">
                <a:latin typeface="Meiryo"/>
              </a:rPr>
              <a:t>SNS広告のご提案</a:t>
            </a:r>
            <a:endParaRPr kumimoji="1" lang="en-US" altLang="ja-JP" sz="2400" b="1" dirty="0">
              <a:solidFill>
                <a:schemeClr val="tx1">
                  <a:lumMod val="75000"/>
                  <a:lumOff val="25000"/>
                </a:schemeClr>
              </a:solidFill>
              <a:latin typeface="Meiryo"/>
              <a:ea typeface="Meiryo"/>
              <a:cs typeface="Meiryo"/>
              <a:sym typeface="Meiry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ADEC9-3AA0-CE9B-729E-2A37D8DCC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53F0AFF7-8167-4CD6-88CB-40687DA87964}"/>
              </a:ext>
            </a:extLst>
          </p:cNvPr>
          <p:cNvSpPr txBox="1"/>
          <p:nvPr/>
        </p:nvSpPr>
        <p:spPr>
          <a:xfrm>
            <a:off x="0" y="3092281"/>
            <a:ext cx="9906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b="1" spc="740" dirty="0">
                <a:solidFill>
                  <a:schemeClr val="tx2">
                    <a:lumMod val="7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 UI" panose="020B0604030504040204" pitchFamily="50" charset="-128"/>
              </a:rPr>
              <a:t>弊社のご紹介</a:t>
            </a:r>
            <a:endParaRPr kumimoji="1" lang="en-US" altLang="ja-JP" sz="3200" b="1" spc="740" dirty="0">
              <a:solidFill>
                <a:schemeClr val="tx2">
                  <a:lumMod val="7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DCEBB660-6A2B-C567-82B4-AE6D46ABEEA4}"/>
              </a:ext>
            </a:extLst>
          </p:cNvPr>
          <p:cNvSpPr/>
          <p:nvPr/>
        </p:nvSpPr>
        <p:spPr>
          <a:xfrm>
            <a:off x="0" y="1134209"/>
            <a:ext cx="3807069" cy="580292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" name="二等辺三角形 2">
            <a:extLst>
              <a:ext uri="{FF2B5EF4-FFF2-40B4-BE49-F238E27FC236}">
                <a16:creationId xmlns:a16="http://schemas.microsoft.com/office/drawing/2014/main" id="{917393C5-431A-CBC0-8A2C-4ED8B735066D}"/>
              </a:ext>
            </a:extLst>
          </p:cNvPr>
          <p:cNvSpPr/>
          <p:nvPr/>
        </p:nvSpPr>
        <p:spPr>
          <a:xfrm>
            <a:off x="3437792" y="1134209"/>
            <a:ext cx="738553" cy="580292"/>
          </a:xfrm>
          <a:prstGeom prst="triangl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1FB12405-9CA7-2DED-AD1F-9A1AAAD18FEC}"/>
              </a:ext>
            </a:extLst>
          </p:cNvPr>
          <p:cNvSpPr txBox="1"/>
          <p:nvPr/>
        </p:nvSpPr>
        <p:spPr>
          <a:xfrm>
            <a:off x="287216" y="1266065"/>
            <a:ext cx="31154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4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 UI" panose="020B0604030504040204" pitchFamily="50" charset="-128"/>
              </a:rPr>
              <a:t>Chapter.1</a:t>
            </a:r>
            <a:endParaRPr kumimoji="1" lang="ja-JP" altLang="en-US" sz="14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D8E59366-8380-4F50-2B77-2DBF8810BCB2}"/>
              </a:ext>
            </a:extLst>
          </p:cNvPr>
          <p:cNvSpPr/>
          <p:nvPr/>
        </p:nvSpPr>
        <p:spPr>
          <a:xfrm>
            <a:off x="0" y="0"/>
            <a:ext cx="9906000" cy="6926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2217354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1"/>
          <p:cNvSpPr txBox="1"/>
          <p:nvPr/>
        </p:nvSpPr>
        <p:spPr>
          <a:xfrm>
            <a:off x="6169424" y="2959994"/>
            <a:ext cx="3094400" cy="3408703"/>
          </a:xfrm>
          <a:prstGeom prst="rect">
            <a:avLst/>
          </a:prstGeom>
        </p:spPr>
        <p:txBody>
          <a:bodyPr vert="horz" wrap="square" lIns="0" tIns="29922" rIns="0" bIns="0" rtlCol="0">
            <a:spAutoFit/>
          </a:bodyPr>
          <a:lstStyle/>
          <a:p>
            <a:pPr marL="86826" indent="-80323">
              <a:spcBef>
                <a:spcPts val="235"/>
              </a:spcBef>
              <a:buSzPct val="91666"/>
              <a:buChar char="■"/>
              <a:tabLst>
                <a:tab pos="86826" algn="l"/>
              </a:tabLst>
            </a:pP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DYMメディカルセンターベトナム（ベトナム・ホーチミン1区院</a:t>
            </a:r>
            <a:r>
              <a:rPr sz="614" spc="-26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）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  <a:p>
            <a:pPr marL="6503" marR="377549">
              <a:lnSpc>
                <a:spcPct val="125000"/>
              </a:lnSpc>
            </a:pP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Unit</a:t>
            </a:r>
            <a:r>
              <a:rPr sz="614" spc="8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B103,</a:t>
            </a:r>
            <a:r>
              <a:rPr sz="614" spc="87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m</a:t>
            </a:r>
            <a:r>
              <a:rPr sz="614" spc="87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plaza,39</a:t>
            </a:r>
            <a:r>
              <a:rPr sz="614" spc="87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Le</a:t>
            </a:r>
            <a:r>
              <a:rPr sz="614" spc="87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Duan</a:t>
            </a:r>
            <a:r>
              <a:rPr sz="614" spc="87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Street,</a:t>
            </a:r>
            <a:r>
              <a:rPr sz="614" spc="87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Ben</a:t>
            </a:r>
            <a:r>
              <a:rPr sz="614" spc="87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Nghe</a:t>
            </a:r>
            <a:r>
              <a:rPr sz="614" spc="87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Ward,</a:t>
            </a:r>
            <a:r>
              <a:rPr sz="614" spc="7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District</a:t>
            </a:r>
            <a:r>
              <a:rPr sz="614" spc="89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spc="-13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1,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Ho</a:t>
            </a:r>
            <a:r>
              <a:rPr sz="614" spc="59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Chi</a:t>
            </a:r>
            <a:r>
              <a:rPr sz="614" spc="62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Minh</a:t>
            </a:r>
            <a:r>
              <a:rPr sz="614" spc="62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City,</a:t>
            </a:r>
            <a:r>
              <a:rPr sz="614" spc="62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spc="-5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Vietnam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  <a:p>
            <a:pPr marL="6503">
              <a:spcBef>
                <a:spcPts val="184"/>
              </a:spcBef>
            </a:pP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TEL︓+84</a:t>
            </a:r>
            <a:r>
              <a:rPr sz="614" spc="100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(0)28</a:t>
            </a:r>
            <a:r>
              <a:rPr sz="614" spc="103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3521</a:t>
            </a:r>
            <a:r>
              <a:rPr sz="614" spc="103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spc="-10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0172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  <a:p>
            <a:pPr marL="86826" indent="-80323">
              <a:spcBef>
                <a:spcPts val="646"/>
              </a:spcBef>
              <a:buSzPct val="91666"/>
              <a:buChar char="■"/>
              <a:tabLst>
                <a:tab pos="86826" algn="l"/>
              </a:tabLst>
            </a:pP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DYMベトナム（ベトナム・ホーチミン</a:t>
            </a:r>
            <a:r>
              <a:rPr sz="614" spc="-26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）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  <a:p>
            <a:pPr marL="6503" marR="2601">
              <a:lnSpc>
                <a:spcPct val="125000"/>
              </a:lnSpc>
            </a:pP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Đ.</a:t>
            </a:r>
            <a:r>
              <a:rPr sz="614" spc="79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Võ</a:t>
            </a:r>
            <a:r>
              <a:rPr sz="614" spc="79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Văn</a:t>
            </a:r>
            <a:r>
              <a:rPr sz="614" spc="79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Ki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Arial"/>
              </a:rPr>
              <a:t>ệ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t,</a:t>
            </a:r>
            <a:r>
              <a:rPr sz="614" spc="79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Ph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Arial"/>
              </a:rPr>
              <a:t>ườ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ng</a:t>
            </a:r>
            <a:r>
              <a:rPr sz="614" spc="79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Cô</a:t>
            </a:r>
            <a:r>
              <a:rPr sz="614" spc="82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Giang,</a:t>
            </a:r>
            <a:r>
              <a:rPr sz="614" spc="79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Qu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Arial"/>
              </a:rPr>
              <a:t>ậ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n</a:t>
            </a:r>
            <a:r>
              <a:rPr sz="614" spc="79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1,</a:t>
            </a:r>
            <a:r>
              <a:rPr sz="614" spc="79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Thành</a:t>
            </a:r>
            <a:r>
              <a:rPr sz="614" spc="79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ph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Arial"/>
              </a:rPr>
              <a:t>ố</a:t>
            </a:r>
            <a:r>
              <a:rPr sz="614" spc="118" dirty="0">
                <a:latin typeface="Meiryo" panose="020B0604030504040204" pitchFamily="34" charset="-128"/>
                <a:ea typeface="Meiryo" panose="020B0604030504040204" pitchFamily="34" charset="-128"/>
                <a:cs typeface="Arial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H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Arial"/>
              </a:rPr>
              <a:t>ồ</a:t>
            </a:r>
            <a:r>
              <a:rPr sz="614" spc="121" dirty="0">
                <a:latin typeface="Meiryo" panose="020B0604030504040204" pitchFamily="34" charset="-128"/>
                <a:ea typeface="Meiryo" panose="020B0604030504040204" pitchFamily="34" charset="-128"/>
                <a:cs typeface="Arial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Chí</a:t>
            </a:r>
            <a:r>
              <a:rPr sz="614" spc="79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Minh,</a:t>
            </a:r>
            <a:r>
              <a:rPr sz="614" spc="79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spc="-5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Vietnam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Samco</a:t>
            </a:r>
            <a:r>
              <a:rPr sz="614" spc="95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spc="-5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Building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  <a:p>
            <a:pPr marL="6503">
              <a:spcBef>
                <a:spcPts val="184"/>
              </a:spcBef>
            </a:pP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TEL︓+84</a:t>
            </a:r>
            <a:r>
              <a:rPr sz="614" spc="100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(0)28</a:t>
            </a:r>
            <a:r>
              <a:rPr sz="614" spc="103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3838</a:t>
            </a:r>
            <a:r>
              <a:rPr sz="614" spc="103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spc="-10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6675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  <a:p>
            <a:pPr marL="86826" indent="-80323">
              <a:spcBef>
                <a:spcPts val="646"/>
              </a:spcBef>
              <a:buSzPct val="91666"/>
              <a:buChar char="■"/>
              <a:tabLst>
                <a:tab pos="86826" algn="l"/>
              </a:tabLst>
            </a:pP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DYMアメリカ（アメリカ・ニューヨーク</a:t>
            </a:r>
            <a:r>
              <a:rPr sz="614" spc="-26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）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  <a:p>
            <a:pPr marL="6503" marR="973302">
              <a:lnSpc>
                <a:spcPct val="125000"/>
              </a:lnSpc>
            </a:pP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315</a:t>
            </a:r>
            <a:r>
              <a:rPr sz="614" spc="95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Madison</a:t>
            </a:r>
            <a:r>
              <a:rPr sz="614" spc="97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Avenue,Floor</a:t>
            </a:r>
            <a:r>
              <a:rPr sz="614" spc="95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17th</a:t>
            </a:r>
            <a:r>
              <a:rPr sz="614" spc="97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New</a:t>
            </a:r>
            <a:r>
              <a:rPr sz="614" spc="97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York</a:t>
            </a:r>
            <a:r>
              <a:rPr sz="614" spc="95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NY</a:t>
            </a:r>
            <a:r>
              <a:rPr sz="614" spc="97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spc="-5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10017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TEL︓+84</a:t>
            </a:r>
            <a:r>
              <a:rPr sz="614" spc="100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(0)28</a:t>
            </a:r>
            <a:r>
              <a:rPr sz="614" spc="103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3838</a:t>
            </a:r>
            <a:r>
              <a:rPr sz="614" spc="103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spc="-10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6675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  <a:p>
            <a:pPr marL="86826" indent="-80323">
              <a:spcBef>
                <a:spcPts val="646"/>
              </a:spcBef>
              <a:buSzPct val="91666"/>
              <a:buChar char="■"/>
              <a:tabLst>
                <a:tab pos="86826" algn="l"/>
              </a:tabLst>
            </a:pP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DYM⾹港（太古</a:t>
            </a:r>
            <a:r>
              <a:rPr sz="614" spc="-26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）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  <a:p>
            <a:pPr marL="6503" marR="247471">
              <a:lnSpc>
                <a:spcPct val="125000"/>
              </a:lnSpc>
            </a:pP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Room</a:t>
            </a:r>
            <a:r>
              <a:rPr sz="614" spc="110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1302,13/F,Kornhill</a:t>
            </a:r>
            <a:r>
              <a:rPr sz="614" spc="110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PlazaOffice</a:t>
            </a:r>
            <a:r>
              <a:rPr sz="614" spc="113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Tower</a:t>
            </a:r>
            <a:r>
              <a:rPr sz="614" spc="110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1</a:t>
            </a:r>
            <a:r>
              <a:rPr sz="614" spc="110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Kornhill</a:t>
            </a:r>
            <a:r>
              <a:rPr sz="614" spc="113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road</a:t>
            </a:r>
            <a:r>
              <a:rPr sz="614" spc="110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Quarry</a:t>
            </a:r>
            <a:r>
              <a:rPr sz="614" spc="110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spc="-13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Bay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TEL︓+852-2651-</a:t>
            </a:r>
            <a:r>
              <a:rPr sz="614" spc="-10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2121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  <a:p>
            <a:pPr marL="86826" indent="-80323">
              <a:spcBef>
                <a:spcPts val="646"/>
              </a:spcBef>
              <a:buSzPct val="91666"/>
              <a:buChar char="■"/>
              <a:tabLst>
                <a:tab pos="86826" algn="l"/>
              </a:tabLst>
            </a:pP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DYMタイ（タイ・バンコク</a:t>
            </a:r>
            <a:r>
              <a:rPr sz="614" spc="-26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）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  <a:p>
            <a:pPr marL="6503" marR="20162">
              <a:lnSpc>
                <a:spcPct val="125000"/>
              </a:lnSpc>
            </a:pP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No.139,</a:t>
            </a:r>
            <a:r>
              <a:rPr sz="614" spc="8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RQ49</a:t>
            </a:r>
            <a:r>
              <a:rPr sz="614" spc="8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building</a:t>
            </a:r>
            <a:r>
              <a:rPr sz="614" spc="8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4</a:t>
            </a:r>
            <a:r>
              <a:rPr sz="614" spc="8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Floor,</a:t>
            </a:r>
            <a:r>
              <a:rPr sz="614" spc="8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Room</a:t>
            </a:r>
            <a:r>
              <a:rPr sz="614" spc="8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No.</a:t>
            </a:r>
            <a:r>
              <a:rPr sz="614" spc="8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541,</a:t>
            </a:r>
            <a:r>
              <a:rPr sz="614" spc="8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Soi</a:t>
            </a:r>
            <a:r>
              <a:rPr sz="614" spc="8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Sukhumvit</a:t>
            </a:r>
            <a:r>
              <a:rPr sz="614" spc="8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49,</a:t>
            </a:r>
            <a:r>
              <a:rPr sz="614" spc="8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spc="-5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Klongton-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Nua,</a:t>
            </a:r>
            <a:r>
              <a:rPr sz="614" spc="15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Wattana,Bangkok</a:t>
            </a:r>
            <a:r>
              <a:rPr sz="614" spc="15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spc="-5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10110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  <a:p>
            <a:pPr marL="6503">
              <a:spcBef>
                <a:spcPts val="184"/>
              </a:spcBef>
            </a:pP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TEL︓+66</a:t>
            </a:r>
            <a:r>
              <a:rPr sz="614" spc="38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(0)94-725-</a:t>
            </a:r>
            <a:r>
              <a:rPr sz="614" spc="-10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2301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  <a:p>
            <a:pPr marL="86826" indent="-80323">
              <a:spcBef>
                <a:spcPts val="646"/>
              </a:spcBef>
              <a:buSzPct val="91666"/>
              <a:buChar char="■"/>
              <a:tabLst>
                <a:tab pos="86826" algn="l"/>
              </a:tabLst>
            </a:pP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DYMインターナショナルクリニック（タイ・バンコク</a:t>
            </a:r>
            <a:r>
              <a:rPr sz="614" spc="-26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）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  <a:p>
            <a:pPr marL="6503" marR="52356">
              <a:lnSpc>
                <a:spcPct val="125000"/>
              </a:lnSpc>
            </a:pP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593/29-41Soi</a:t>
            </a:r>
            <a:r>
              <a:rPr sz="614" spc="108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Sukhumvit</a:t>
            </a:r>
            <a:r>
              <a:rPr sz="614" spc="110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33/1,</a:t>
            </a:r>
            <a:r>
              <a:rPr sz="614" spc="110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Sukhumvit</a:t>
            </a:r>
            <a:r>
              <a:rPr sz="614" spc="108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Rd.,</a:t>
            </a:r>
            <a:r>
              <a:rPr sz="614" spc="110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Khlong</a:t>
            </a:r>
            <a:r>
              <a:rPr sz="614" spc="110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Tan</a:t>
            </a:r>
            <a:r>
              <a:rPr sz="614" spc="110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Nua,</a:t>
            </a:r>
            <a:r>
              <a:rPr sz="614" spc="108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spc="-5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Watthana,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Bangkok</a:t>
            </a:r>
            <a:r>
              <a:rPr sz="614" spc="122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spc="-5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10110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  <a:p>
            <a:pPr marL="6503">
              <a:spcBef>
                <a:spcPts val="184"/>
              </a:spcBef>
            </a:pP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TEL︓+66(0)2-107-</a:t>
            </a:r>
            <a:r>
              <a:rPr sz="614" spc="-10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1039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  <a:p>
            <a:pPr marL="86826" indent="-80323">
              <a:spcBef>
                <a:spcPts val="646"/>
              </a:spcBef>
              <a:buSzPct val="91666"/>
              <a:buChar char="■"/>
              <a:tabLst>
                <a:tab pos="86826" algn="l"/>
              </a:tabLst>
            </a:pP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DYMメディカルクリニックインドネシア（インドネシア・ジャカルタ</a:t>
            </a:r>
            <a:r>
              <a:rPr sz="614" spc="-26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）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  <a:p>
            <a:pPr marL="6503" marR="70892">
              <a:lnSpc>
                <a:spcPct val="125000"/>
              </a:lnSpc>
            </a:pP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Menara</a:t>
            </a:r>
            <a:r>
              <a:rPr sz="614" spc="89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Astra</a:t>
            </a:r>
            <a:r>
              <a:rPr sz="614" spc="92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Lantai</a:t>
            </a:r>
            <a:r>
              <a:rPr sz="614" spc="92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3,</a:t>
            </a:r>
            <a:r>
              <a:rPr sz="614" spc="92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Jl.</a:t>
            </a:r>
            <a:r>
              <a:rPr sz="614" spc="92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Jenderal</a:t>
            </a:r>
            <a:r>
              <a:rPr sz="614" spc="92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Sudirman</a:t>
            </a:r>
            <a:r>
              <a:rPr sz="614" spc="92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KAV</a:t>
            </a:r>
            <a:r>
              <a:rPr sz="614" spc="92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5-6</a:t>
            </a:r>
            <a:r>
              <a:rPr sz="614" spc="92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Karet</a:t>
            </a:r>
            <a:r>
              <a:rPr sz="614" spc="92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spc="-5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Tengsin,Tanah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Abang,</a:t>
            </a:r>
            <a:r>
              <a:rPr sz="614" spc="118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Jakarta</a:t>
            </a:r>
            <a:r>
              <a:rPr sz="614" spc="118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Pusat</a:t>
            </a:r>
            <a:r>
              <a:rPr sz="614" spc="118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spc="-10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1022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  <a:p>
            <a:pPr marL="6503">
              <a:spcBef>
                <a:spcPts val="184"/>
              </a:spcBef>
            </a:pP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TEL︓62-(0)21-8665-</a:t>
            </a:r>
            <a:r>
              <a:rPr sz="614" spc="-10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6830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540111" y="913464"/>
            <a:ext cx="1419378" cy="101082"/>
          </a:xfrm>
          <a:prstGeom prst="rect">
            <a:avLst/>
          </a:prstGeom>
        </p:spPr>
        <p:txBody>
          <a:bodyPr vert="horz" wrap="square" lIns="0" tIns="6505" rIns="0" bIns="0" rtlCol="0">
            <a:spAutoFit/>
          </a:bodyPr>
          <a:lstStyle/>
          <a:p>
            <a:pPr marL="6503">
              <a:spcBef>
                <a:spcPts val="51"/>
              </a:spcBef>
            </a:pP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株式会社DYM</a:t>
            </a:r>
            <a:r>
              <a:rPr sz="614" spc="2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(英語表記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DYM</a:t>
            </a:r>
            <a:r>
              <a:rPr sz="614" spc="95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spc="-5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co.,ltd)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40003" y="906958"/>
            <a:ext cx="486570" cy="812110"/>
          </a:xfrm>
          <a:prstGeom prst="rect">
            <a:avLst/>
          </a:prstGeom>
        </p:spPr>
        <p:txBody>
          <a:bodyPr vert="horz" wrap="square" lIns="0" tIns="6505" rIns="0" bIns="0" rtlCol="0">
            <a:spAutoFit/>
          </a:bodyPr>
          <a:lstStyle/>
          <a:p>
            <a:pPr marL="6503" algn="just">
              <a:spcBef>
                <a:spcPts val="51"/>
              </a:spcBef>
            </a:pPr>
            <a:r>
              <a:rPr sz="717" b="1" spc="138" dirty="0">
                <a:solidFill>
                  <a:srgbClr val="1F2B5C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名     称</a:t>
            </a:r>
            <a:endParaRPr sz="717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  <a:p>
            <a:pPr marL="6503" marR="2601" algn="just">
              <a:lnSpc>
                <a:spcPct val="220200"/>
              </a:lnSpc>
            </a:pPr>
            <a:r>
              <a:rPr sz="717" b="1" spc="24" dirty="0">
                <a:solidFill>
                  <a:srgbClr val="1F2B5C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代表取締役</a:t>
            </a:r>
            <a:r>
              <a:rPr sz="717" b="1" spc="-5" dirty="0">
                <a:solidFill>
                  <a:srgbClr val="1F2B5C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従 業 員 数</a:t>
            </a:r>
            <a:r>
              <a:rPr sz="717" b="1" spc="16" dirty="0">
                <a:solidFill>
                  <a:srgbClr val="1F2B5C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会 社 設 ⽴</a:t>
            </a:r>
            <a:endParaRPr sz="717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540110" y="1160653"/>
            <a:ext cx="332403" cy="101082"/>
          </a:xfrm>
          <a:prstGeom prst="rect">
            <a:avLst/>
          </a:prstGeom>
        </p:spPr>
        <p:txBody>
          <a:bodyPr vert="horz" wrap="square" lIns="0" tIns="6505" rIns="0" bIns="0" rtlCol="0">
            <a:spAutoFit/>
          </a:bodyPr>
          <a:lstStyle/>
          <a:p>
            <a:pPr marL="6503">
              <a:spcBef>
                <a:spcPts val="51"/>
              </a:spcBef>
            </a:pPr>
            <a:r>
              <a:rPr sz="614" spc="-8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⽔⾕佑毅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540110" y="1401334"/>
            <a:ext cx="1826588" cy="101082"/>
          </a:xfrm>
          <a:prstGeom prst="rect">
            <a:avLst/>
          </a:prstGeom>
        </p:spPr>
        <p:txBody>
          <a:bodyPr vert="horz" wrap="square" lIns="0" tIns="6505" rIns="0" bIns="0" rtlCol="0">
            <a:spAutoFit/>
          </a:bodyPr>
          <a:lstStyle/>
          <a:p>
            <a:pPr marL="6503">
              <a:spcBef>
                <a:spcPts val="51"/>
              </a:spcBef>
            </a:pP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連結2,744名、単体682名（2025年4⽉1⽇現在</a:t>
            </a:r>
            <a:r>
              <a:rPr sz="614" spc="-26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）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40110" y="1642018"/>
            <a:ext cx="607887" cy="101082"/>
          </a:xfrm>
          <a:prstGeom prst="rect">
            <a:avLst/>
          </a:prstGeom>
        </p:spPr>
        <p:txBody>
          <a:bodyPr vert="horz" wrap="square" lIns="0" tIns="6505" rIns="0" bIns="0" rtlCol="0">
            <a:spAutoFit/>
          </a:bodyPr>
          <a:lstStyle/>
          <a:p>
            <a:pPr marL="6503">
              <a:spcBef>
                <a:spcPts val="51"/>
              </a:spcBef>
            </a:pP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2003年8⽉22</a:t>
            </a:r>
            <a:r>
              <a:rPr sz="614" spc="-26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⽇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540110" y="1882700"/>
            <a:ext cx="404608" cy="101082"/>
          </a:xfrm>
          <a:prstGeom prst="rect">
            <a:avLst/>
          </a:prstGeom>
        </p:spPr>
        <p:txBody>
          <a:bodyPr vert="horz" wrap="square" lIns="0" tIns="6505" rIns="0" bIns="0" rtlCol="0">
            <a:spAutoFit/>
          </a:bodyPr>
          <a:lstStyle/>
          <a:p>
            <a:pPr marL="6503">
              <a:spcBef>
                <a:spcPts val="51"/>
              </a:spcBef>
            </a:pP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5,000</a:t>
            </a:r>
            <a:r>
              <a:rPr sz="614" spc="-13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万円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40003" y="1869690"/>
            <a:ext cx="477462" cy="355510"/>
          </a:xfrm>
          <a:prstGeom prst="rect">
            <a:avLst/>
          </a:prstGeom>
        </p:spPr>
        <p:txBody>
          <a:bodyPr vert="horz" wrap="square" lIns="0" tIns="6505" rIns="0" bIns="0" rtlCol="0">
            <a:spAutoFit/>
          </a:bodyPr>
          <a:lstStyle/>
          <a:p>
            <a:pPr marL="6503">
              <a:spcBef>
                <a:spcPts val="51"/>
              </a:spcBef>
              <a:tabLst>
                <a:tab pos="192839" algn="l"/>
                <a:tab pos="379500" algn="l"/>
              </a:tabLst>
            </a:pPr>
            <a:r>
              <a:rPr sz="717" b="1" spc="-26" dirty="0">
                <a:solidFill>
                  <a:srgbClr val="1F2B5C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資</a:t>
            </a:r>
            <a:r>
              <a:rPr sz="717" b="1" dirty="0">
                <a:solidFill>
                  <a:srgbClr val="1F2B5C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	</a:t>
            </a:r>
            <a:r>
              <a:rPr sz="717" b="1" spc="-26" dirty="0">
                <a:solidFill>
                  <a:srgbClr val="1F2B5C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本</a:t>
            </a:r>
            <a:r>
              <a:rPr sz="717" b="1" dirty="0">
                <a:solidFill>
                  <a:srgbClr val="1F2B5C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	</a:t>
            </a:r>
            <a:r>
              <a:rPr sz="717" b="1" spc="-26" dirty="0">
                <a:solidFill>
                  <a:srgbClr val="1F2B5C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⾦</a:t>
            </a:r>
            <a:endParaRPr sz="717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  <a:p>
            <a:pPr marL="6503">
              <a:spcBef>
                <a:spcPts val="1034"/>
              </a:spcBef>
              <a:tabLst>
                <a:tab pos="375598" algn="l"/>
              </a:tabLst>
            </a:pPr>
            <a:r>
              <a:rPr sz="717" b="1" spc="-26" dirty="0">
                <a:solidFill>
                  <a:srgbClr val="1F2B5C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売</a:t>
            </a:r>
            <a:r>
              <a:rPr sz="717" b="1" dirty="0">
                <a:solidFill>
                  <a:srgbClr val="1F2B5C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	</a:t>
            </a:r>
            <a:r>
              <a:rPr sz="717" b="1" spc="-26" dirty="0">
                <a:solidFill>
                  <a:srgbClr val="1F2B5C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上</a:t>
            </a:r>
            <a:endParaRPr sz="717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540110" y="2067440"/>
            <a:ext cx="1403766" cy="441559"/>
          </a:xfrm>
          <a:prstGeom prst="rect">
            <a:avLst/>
          </a:prstGeom>
        </p:spPr>
        <p:txBody>
          <a:bodyPr vert="horz" wrap="square" lIns="0" tIns="6505" rIns="0" bIns="0" rtlCol="0">
            <a:spAutoFit/>
          </a:bodyPr>
          <a:lstStyle/>
          <a:p>
            <a:pPr marL="6503" marR="74144">
              <a:lnSpc>
                <a:spcPct val="152800"/>
              </a:lnSpc>
              <a:spcBef>
                <a:spcPts val="51"/>
              </a:spcBef>
            </a:pP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第23期売上⾼ 462.4</a:t>
            </a:r>
            <a:r>
              <a:rPr sz="614" spc="-5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億円(連結⽬標)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第21</a:t>
            </a:r>
            <a:r>
              <a:rPr sz="614" spc="43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期売上⾼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258.0</a:t>
            </a:r>
            <a:r>
              <a:rPr sz="614" spc="-13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億円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  <a:p>
            <a:pPr marL="6503">
              <a:spcBef>
                <a:spcPts val="389"/>
              </a:spcBef>
            </a:pP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第19</a:t>
            </a:r>
            <a:r>
              <a:rPr sz="614" spc="43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期売上⾼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161.1</a:t>
            </a:r>
            <a:r>
              <a:rPr sz="614" spc="-13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億円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006472" y="2067440"/>
            <a:ext cx="1459384" cy="455538"/>
          </a:xfrm>
          <a:prstGeom prst="rect">
            <a:avLst/>
          </a:prstGeom>
        </p:spPr>
        <p:txBody>
          <a:bodyPr vert="horz" wrap="square" lIns="0" tIns="6505" rIns="0" bIns="0" rtlCol="0">
            <a:spAutoFit/>
          </a:bodyPr>
          <a:lstStyle/>
          <a:p>
            <a:pPr marL="6503" marR="194791" indent="15284">
              <a:lnSpc>
                <a:spcPct val="152800"/>
              </a:lnSpc>
              <a:spcBef>
                <a:spcPts val="51"/>
              </a:spcBef>
            </a:pPr>
            <a:r>
              <a:rPr lang="ja-JP" altLang="en-US" sz="617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第</a:t>
            </a:r>
            <a:r>
              <a:rPr lang="en-US" altLang="ja-JP" sz="617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22</a:t>
            </a:r>
            <a:r>
              <a:rPr lang="ja-JP" altLang="en-US" sz="617" spc="43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期売上⾼ </a:t>
            </a:r>
            <a:r>
              <a:rPr lang="en-US" sz="617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324.6</a:t>
            </a:r>
            <a:r>
              <a:rPr sz="617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億円</a:t>
            </a:r>
            <a:endParaRPr lang="en-US" sz="617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  <a:p>
            <a:pPr marL="6503" marR="194791" indent="15284">
              <a:lnSpc>
                <a:spcPct val="152800"/>
              </a:lnSpc>
              <a:spcBef>
                <a:spcPts val="51"/>
              </a:spcBef>
            </a:pPr>
            <a:r>
              <a:rPr sz="617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第20</a:t>
            </a:r>
            <a:r>
              <a:rPr sz="617" spc="43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期売上⾼</a:t>
            </a:r>
            <a:r>
              <a:rPr lang="ja-JP" altLang="en-US" sz="617" spc="43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7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212.6</a:t>
            </a:r>
            <a:r>
              <a:rPr sz="617" spc="-13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億円</a:t>
            </a:r>
            <a:endParaRPr lang="en-US" sz="617" spc="-13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  <a:p>
            <a:pPr marL="6503" marR="194791" indent="15284">
              <a:lnSpc>
                <a:spcPct val="152800"/>
              </a:lnSpc>
              <a:spcBef>
                <a:spcPts val="51"/>
              </a:spcBef>
            </a:pPr>
            <a:r>
              <a:rPr lang="ja-JP" altLang="en-US" sz="617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第</a:t>
            </a:r>
            <a:r>
              <a:rPr lang="en-US" altLang="ja-JP" sz="617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18</a:t>
            </a:r>
            <a:r>
              <a:rPr lang="ja-JP" altLang="en-US" sz="617" spc="43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期売上⾼ </a:t>
            </a:r>
            <a:r>
              <a:rPr lang="en-US" altLang="ja-JP" sz="617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134.2</a:t>
            </a:r>
            <a:r>
              <a:rPr lang="ja-JP" altLang="en-US" sz="617" spc="-13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億円</a:t>
            </a:r>
            <a:endParaRPr lang="ja-JP" altLang="en-US" sz="617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349802" y="2963897"/>
            <a:ext cx="486570" cy="116920"/>
          </a:xfrm>
          <a:prstGeom prst="rect">
            <a:avLst/>
          </a:prstGeom>
        </p:spPr>
        <p:txBody>
          <a:bodyPr vert="horz" wrap="square" lIns="0" tIns="6505" rIns="0" bIns="0" rtlCol="0">
            <a:spAutoFit/>
          </a:bodyPr>
          <a:lstStyle/>
          <a:p>
            <a:pPr marL="6503">
              <a:spcBef>
                <a:spcPts val="51"/>
              </a:spcBef>
            </a:pPr>
            <a:r>
              <a:rPr sz="717" b="1" spc="16" dirty="0">
                <a:solidFill>
                  <a:srgbClr val="1F2B5C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関 連 会 社</a:t>
            </a:r>
            <a:endParaRPr sz="717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40003" y="3144658"/>
            <a:ext cx="477462" cy="116920"/>
          </a:xfrm>
          <a:prstGeom prst="rect">
            <a:avLst/>
          </a:prstGeom>
        </p:spPr>
        <p:txBody>
          <a:bodyPr vert="horz" wrap="square" lIns="0" tIns="6505" rIns="0" bIns="0" rtlCol="0">
            <a:spAutoFit/>
          </a:bodyPr>
          <a:lstStyle/>
          <a:p>
            <a:pPr marL="6503">
              <a:spcBef>
                <a:spcPts val="51"/>
              </a:spcBef>
              <a:tabLst>
                <a:tab pos="192839" algn="l"/>
                <a:tab pos="379500" algn="l"/>
              </a:tabLst>
            </a:pPr>
            <a:r>
              <a:rPr sz="717" b="1" spc="-26" dirty="0">
                <a:solidFill>
                  <a:srgbClr val="1F2B5C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所</a:t>
            </a:r>
            <a:r>
              <a:rPr sz="717" b="1" dirty="0">
                <a:solidFill>
                  <a:srgbClr val="1F2B5C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	</a:t>
            </a:r>
            <a:r>
              <a:rPr sz="717" b="1" spc="-26" dirty="0">
                <a:solidFill>
                  <a:srgbClr val="1F2B5C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在</a:t>
            </a:r>
            <a:r>
              <a:rPr sz="717" b="1" dirty="0">
                <a:solidFill>
                  <a:srgbClr val="1F2B5C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	</a:t>
            </a:r>
            <a:r>
              <a:rPr sz="717" b="1" spc="-26" dirty="0">
                <a:solidFill>
                  <a:srgbClr val="1F2B5C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地</a:t>
            </a:r>
            <a:endParaRPr sz="717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40003" y="2624263"/>
            <a:ext cx="486570" cy="116920"/>
          </a:xfrm>
          <a:prstGeom prst="rect">
            <a:avLst/>
          </a:prstGeom>
        </p:spPr>
        <p:txBody>
          <a:bodyPr vert="horz" wrap="square" lIns="0" tIns="6505" rIns="0" bIns="0" rtlCol="0">
            <a:spAutoFit/>
          </a:bodyPr>
          <a:lstStyle/>
          <a:p>
            <a:pPr marL="6503">
              <a:spcBef>
                <a:spcPts val="51"/>
              </a:spcBef>
            </a:pPr>
            <a:r>
              <a:rPr sz="717" b="1" spc="16" dirty="0">
                <a:solidFill>
                  <a:srgbClr val="1F2B5C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事 業 内 容</a:t>
            </a:r>
            <a:endParaRPr sz="717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546615" y="2773878"/>
            <a:ext cx="2942835" cy="101082"/>
          </a:xfrm>
          <a:prstGeom prst="rect">
            <a:avLst/>
          </a:prstGeom>
        </p:spPr>
        <p:txBody>
          <a:bodyPr vert="horz" wrap="square" lIns="0" tIns="6505" rIns="0" bIns="0" rtlCol="0">
            <a:spAutoFit/>
          </a:bodyPr>
          <a:lstStyle/>
          <a:p>
            <a:pPr marL="6503">
              <a:spcBef>
                <a:spcPts val="51"/>
              </a:spcBef>
              <a:tabLst>
                <a:tab pos="1211993" algn="l"/>
                <a:tab pos="1330038" algn="l"/>
              </a:tabLst>
            </a:pP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ウェルフェアステーション事</a:t>
            </a:r>
            <a:r>
              <a:rPr sz="614" spc="-26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業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	</a:t>
            </a:r>
            <a:r>
              <a:rPr sz="614" spc="-26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/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	不動産仲介・オフィスコンサルティング事</a:t>
            </a:r>
            <a:r>
              <a:rPr sz="614" spc="-26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業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546615" y="2916985"/>
            <a:ext cx="2478383" cy="3060161"/>
          </a:xfrm>
          <a:prstGeom prst="rect">
            <a:avLst/>
          </a:prstGeom>
        </p:spPr>
        <p:txBody>
          <a:bodyPr vert="horz" wrap="square" lIns="0" tIns="6505" rIns="0" bIns="0" rtlCol="0">
            <a:spAutoFit/>
          </a:bodyPr>
          <a:lstStyle/>
          <a:p>
            <a:pPr marL="6503">
              <a:spcBef>
                <a:spcPts val="51"/>
              </a:spcBef>
              <a:tabLst>
                <a:tab pos="431856" algn="l"/>
                <a:tab pos="549901" algn="l"/>
                <a:tab pos="951840" algn="l"/>
                <a:tab pos="1069559" algn="l"/>
                <a:tab pos="1632143" algn="l"/>
                <a:tab pos="1749863" algn="l"/>
              </a:tabLst>
            </a:pP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M&amp;A事</a:t>
            </a:r>
            <a:r>
              <a:rPr sz="614" spc="-26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業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	</a:t>
            </a:r>
            <a:r>
              <a:rPr sz="614" spc="-26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/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	医療事</a:t>
            </a:r>
            <a:r>
              <a:rPr sz="614" spc="-26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業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	</a:t>
            </a:r>
            <a:r>
              <a:rPr sz="614" spc="-26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/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	スポーツ事</a:t>
            </a:r>
            <a:r>
              <a:rPr sz="614" spc="-26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業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	</a:t>
            </a:r>
            <a:r>
              <a:rPr sz="614" spc="-26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/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	コールセンター事</a:t>
            </a:r>
            <a:r>
              <a:rPr sz="614" spc="-26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業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  <a:p>
            <a:pPr marL="115769" indent="-109265">
              <a:spcBef>
                <a:spcPts val="1106"/>
              </a:spcBef>
              <a:buChar char="■"/>
              <a:tabLst>
                <a:tab pos="115769" algn="l"/>
              </a:tabLst>
            </a:pPr>
            <a:r>
              <a:rPr sz="614" spc="-13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本社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  <a:p>
            <a:pPr marL="6503" marR="104387">
              <a:lnSpc>
                <a:spcPct val="125000"/>
              </a:lnSpc>
            </a:pP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東京都品川区⼤崎1-11-2</a:t>
            </a:r>
            <a:r>
              <a:rPr sz="614" spc="3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 ゲートシティ⼤崎イーストタワー 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10</a:t>
            </a:r>
            <a:r>
              <a:rPr sz="614" spc="-26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階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TEL︓03-5745-</a:t>
            </a:r>
            <a:r>
              <a:rPr sz="614" spc="-10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0200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  <a:p>
            <a:pPr marL="115769" indent="-109265">
              <a:spcBef>
                <a:spcPts val="646"/>
              </a:spcBef>
              <a:buChar char="■"/>
              <a:tabLst>
                <a:tab pos="115769" algn="l"/>
              </a:tabLst>
            </a:pPr>
            <a:r>
              <a:rPr sz="614" spc="-5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札幌事業所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  <a:p>
            <a:pPr marL="6503" marR="696563">
              <a:lnSpc>
                <a:spcPct val="125000"/>
              </a:lnSpc>
            </a:pP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北海道札幌市北区北6条⻄1-3-8</a:t>
            </a:r>
            <a:r>
              <a:rPr sz="614" spc="217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38</a:t>
            </a:r>
            <a:r>
              <a:rPr sz="614" spc="43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⼭京ビル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7</a:t>
            </a:r>
            <a:r>
              <a:rPr sz="614" spc="-26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階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TEL︓011-374-</a:t>
            </a:r>
            <a:r>
              <a:rPr sz="614" spc="-10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6112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  <a:p>
            <a:pPr marL="115769" indent="-109265">
              <a:spcBef>
                <a:spcPts val="646"/>
              </a:spcBef>
              <a:buChar char="■"/>
              <a:tabLst>
                <a:tab pos="115769" algn="l"/>
              </a:tabLst>
            </a:pPr>
            <a:r>
              <a:rPr sz="614" spc="-5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仙台事業所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  <a:p>
            <a:pPr marL="6503" marR="476733">
              <a:lnSpc>
                <a:spcPct val="125000"/>
              </a:lnSpc>
            </a:pP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宮城県仙台市⻘葉区花京院1-1-20</a:t>
            </a:r>
            <a:r>
              <a:rPr sz="614" spc="49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花京院スクエア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9</a:t>
            </a:r>
            <a:r>
              <a:rPr sz="614" spc="-26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階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TEL︓022-797-</a:t>
            </a:r>
            <a:r>
              <a:rPr sz="614" spc="-10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5205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  <a:p>
            <a:pPr marL="115769" indent="-109265">
              <a:spcBef>
                <a:spcPts val="646"/>
              </a:spcBef>
              <a:buChar char="■"/>
              <a:tabLst>
                <a:tab pos="115769" algn="l"/>
              </a:tabLst>
            </a:pPr>
            <a:r>
              <a:rPr sz="614" spc="-5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名古屋事業所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  <a:p>
            <a:pPr marL="6503" marR="193489">
              <a:lnSpc>
                <a:spcPct val="125000"/>
              </a:lnSpc>
            </a:pP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愛知県名古屋市中村区名駅⼀丁⽬1番1</a:t>
            </a:r>
            <a:r>
              <a:rPr sz="614" spc="18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号 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JP</a:t>
            </a:r>
            <a:r>
              <a:rPr sz="614" spc="5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タワー名古屋 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12</a:t>
            </a:r>
            <a:r>
              <a:rPr sz="614" spc="-26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階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TEL︓052-485-</a:t>
            </a:r>
            <a:r>
              <a:rPr sz="614" spc="-10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7676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  <a:p>
            <a:pPr marL="115769" indent="-109265">
              <a:spcBef>
                <a:spcPts val="646"/>
              </a:spcBef>
              <a:buChar char="■"/>
              <a:tabLst>
                <a:tab pos="115769" algn="l"/>
              </a:tabLst>
            </a:pPr>
            <a:r>
              <a:rPr sz="614" spc="-5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⼤阪事業所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  <a:p>
            <a:pPr marL="6503" marR="565510">
              <a:lnSpc>
                <a:spcPct val="125000"/>
              </a:lnSpc>
            </a:pP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⼤阪府⼤阪市北区堂島2丁⽬2­2</a:t>
            </a:r>
            <a:r>
              <a:rPr sz="614" spc="51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近鉄堂島ビル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19</a:t>
            </a:r>
            <a:r>
              <a:rPr sz="614" spc="-26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階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TEL︓06-6131-</a:t>
            </a:r>
            <a:r>
              <a:rPr sz="614" spc="-10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6292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  <a:p>
            <a:pPr marL="115769" indent="-109265">
              <a:spcBef>
                <a:spcPts val="646"/>
              </a:spcBef>
              <a:buChar char="■"/>
              <a:tabLst>
                <a:tab pos="115769" algn="l"/>
              </a:tabLst>
            </a:pPr>
            <a:r>
              <a:rPr sz="614" spc="-5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広島事業所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  <a:p>
            <a:pPr marL="6503" marR="483887">
              <a:lnSpc>
                <a:spcPct val="125000"/>
              </a:lnSpc>
            </a:pP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広島県広島市中区基町13-9</a:t>
            </a:r>
            <a:r>
              <a:rPr sz="614" spc="33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東洋証券広島スクエア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8</a:t>
            </a:r>
            <a:r>
              <a:rPr sz="614" spc="-26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階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TEL︓082-846-</a:t>
            </a:r>
            <a:r>
              <a:rPr sz="614" spc="-10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6873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  <a:p>
            <a:pPr marL="115769" indent="-109265">
              <a:spcBef>
                <a:spcPts val="646"/>
              </a:spcBef>
              <a:buChar char="■"/>
              <a:tabLst>
                <a:tab pos="115769" algn="l"/>
              </a:tabLst>
            </a:pPr>
            <a:r>
              <a:rPr sz="614" spc="-5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福岡事業所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  <a:p>
            <a:pPr marL="6503" marR="586648">
              <a:lnSpc>
                <a:spcPct val="152800"/>
              </a:lnSpc>
            </a:pP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福岡県福岡市中央区天神2-14-13</a:t>
            </a:r>
            <a:r>
              <a:rPr sz="614" spc="51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天神三井ビル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6</a:t>
            </a:r>
            <a:r>
              <a:rPr sz="614" spc="-26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階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TEL︓092-751-</a:t>
            </a:r>
            <a:r>
              <a:rPr sz="614" spc="-10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6602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094594" y="2916986"/>
            <a:ext cx="369805" cy="101082"/>
          </a:xfrm>
          <a:prstGeom prst="rect">
            <a:avLst/>
          </a:prstGeom>
        </p:spPr>
        <p:txBody>
          <a:bodyPr vert="horz" wrap="square" lIns="0" tIns="6505" rIns="0" bIns="0" rtlCol="0">
            <a:spAutoFit/>
          </a:bodyPr>
          <a:lstStyle/>
          <a:p>
            <a:pPr marL="6503">
              <a:spcBef>
                <a:spcPts val="51"/>
              </a:spcBef>
              <a:tabLst>
                <a:tab pos="124223" algn="l"/>
              </a:tabLst>
            </a:pPr>
            <a:r>
              <a:rPr sz="614" spc="-26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/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	</a:t>
            </a:r>
            <a:r>
              <a:rPr sz="614" spc="-10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飲⾷業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</p:txBody>
      </p:sp>
      <p:pic>
        <p:nvPicPr>
          <p:cNvPr id="28" name="図 27" descr="講堂にいる人たち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165D9970-FA05-EC8A-5338-E713B104C15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24" t="27697" r="1459" b="1448"/>
          <a:stretch>
            <a:fillRect/>
          </a:stretch>
        </p:blipFill>
        <p:spPr>
          <a:xfrm>
            <a:off x="5349802" y="788749"/>
            <a:ext cx="4053408" cy="2000356"/>
          </a:xfrm>
          <a:prstGeom prst="rect">
            <a:avLst/>
          </a:prstGeom>
        </p:spPr>
      </p:pic>
      <p:sp>
        <p:nvSpPr>
          <p:cNvPr id="3" name="object 24">
            <a:extLst>
              <a:ext uri="{FF2B5EF4-FFF2-40B4-BE49-F238E27FC236}">
                <a16:creationId xmlns:a16="http://schemas.microsoft.com/office/drawing/2014/main" id="{F8531498-3EF8-652D-B021-8284A8139542}"/>
              </a:ext>
            </a:extLst>
          </p:cNvPr>
          <p:cNvSpPr txBox="1"/>
          <p:nvPr/>
        </p:nvSpPr>
        <p:spPr>
          <a:xfrm>
            <a:off x="1540110" y="2628313"/>
            <a:ext cx="2942835" cy="101082"/>
          </a:xfrm>
          <a:prstGeom prst="rect">
            <a:avLst/>
          </a:prstGeom>
        </p:spPr>
        <p:txBody>
          <a:bodyPr vert="horz" wrap="square" lIns="0" tIns="6505" rIns="0" bIns="0" rtlCol="0">
            <a:spAutoFit/>
          </a:bodyPr>
          <a:lstStyle/>
          <a:p>
            <a:pPr marL="13008">
              <a:spcBef>
                <a:spcPts val="1055"/>
              </a:spcBef>
              <a:tabLst>
                <a:tab pos="439986" algn="l"/>
                <a:tab pos="557705" algn="l"/>
                <a:tab pos="959644" algn="l"/>
                <a:tab pos="1077364" algn="l"/>
              </a:tabLst>
            </a:pPr>
            <a:r>
              <a:rPr lang="en" altLang="ja-JP"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WEB</a:t>
            </a:r>
            <a:r>
              <a:rPr lang="ja-JP" altLang="en-US" sz="614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事</a:t>
            </a:r>
            <a:r>
              <a:rPr lang="ja-JP" altLang="en-US" sz="614" spc="-26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業</a:t>
            </a:r>
            <a:r>
              <a:rPr lang="ja-JP" altLang="en-US" sz="614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	</a:t>
            </a:r>
            <a:r>
              <a:rPr lang="en-US" altLang="ja-JP" sz="614" spc="-26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/</a:t>
            </a:r>
            <a:r>
              <a:rPr lang="ja-JP" altLang="en-US" sz="614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	⼈材事</a:t>
            </a:r>
            <a:r>
              <a:rPr lang="ja-JP" altLang="en-US" sz="614" spc="-26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業</a:t>
            </a:r>
            <a:r>
              <a:rPr lang="ja-JP" altLang="en-US" sz="614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	</a:t>
            </a:r>
            <a:r>
              <a:rPr lang="en-US" altLang="ja-JP" sz="614" spc="-26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/</a:t>
            </a:r>
            <a:r>
              <a:rPr lang="ja-JP" altLang="en-US" sz="614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	研修事</a:t>
            </a:r>
            <a:r>
              <a:rPr lang="ja-JP" altLang="en-US" sz="614" spc="-26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業　</a:t>
            </a:r>
            <a:r>
              <a:rPr lang="en-US" altLang="ja-JP" sz="614" spc="-26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/</a:t>
            </a:r>
            <a:r>
              <a:rPr lang="ja-JP" altLang="en-US" sz="614" spc="-26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　</a:t>
            </a:r>
            <a:r>
              <a:rPr lang="ja-JP" altLang="en-US" sz="614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エグゼパート事</a:t>
            </a:r>
            <a:r>
              <a:rPr lang="ja-JP" altLang="en-US" sz="614" spc="-26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業　</a:t>
            </a:r>
            <a:r>
              <a:rPr lang="en-US" altLang="ja-JP" sz="614" spc="-26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/</a:t>
            </a:r>
            <a:r>
              <a:rPr lang="ja-JP" altLang="en-US" sz="614" spc="-26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　</a:t>
            </a:r>
            <a:r>
              <a:rPr lang="ja-JP" altLang="en-US" sz="614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投資育成事</a:t>
            </a:r>
            <a:r>
              <a:rPr lang="ja-JP" altLang="en-US" sz="614" spc="-26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業</a:t>
            </a:r>
            <a:endParaRPr lang="ja-JP" altLang="en-US" sz="614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FB5DA068-01CB-743E-56E0-1783126A615C}"/>
              </a:ext>
            </a:extLst>
          </p:cNvPr>
          <p:cNvSpPr/>
          <p:nvPr/>
        </p:nvSpPr>
        <p:spPr>
          <a:xfrm>
            <a:off x="521735" y="144518"/>
            <a:ext cx="524746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1600" b="1" dirty="0">
                <a:solidFill>
                  <a:srgbClr val="191F54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会社概要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1271975-C491-492F-BE75-53251FDF4499}"/>
              </a:ext>
            </a:extLst>
          </p:cNvPr>
          <p:cNvSpPr/>
          <p:nvPr/>
        </p:nvSpPr>
        <p:spPr>
          <a:xfrm>
            <a:off x="521735" y="144518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en-US" sz="1600" b="1" dirty="0">
                <a:solidFill>
                  <a:srgbClr val="191F54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業務範囲</a:t>
            </a:r>
          </a:p>
        </p:txBody>
      </p:sp>
      <p:pic>
        <p:nvPicPr>
          <p:cNvPr id="5" name="図 4" descr="グラフィカル ユーザー インターフェイス, アプリケーション&#10;&#10;自動的に生成された説明">
            <a:extLst>
              <a:ext uri="{FF2B5EF4-FFF2-40B4-BE49-F238E27FC236}">
                <a16:creationId xmlns:a16="http://schemas.microsoft.com/office/drawing/2014/main" id="{3EC2E04F-6D64-47B8-91F6-F5449BBED7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039" y="1117819"/>
            <a:ext cx="9336947" cy="4923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068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2664B00C-F14D-91EE-EE2B-CE390B9250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82788"/>
            <a:ext cx="5281651" cy="745320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6557F50E-C22C-4446-CC4B-12375AD62D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897" y="1250766"/>
            <a:ext cx="9568206" cy="5245924"/>
          </a:xfrm>
          <a:prstGeom prst="rect">
            <a:avLst/>
          </a:prstGeom>
        </p:spPr>
      </p:pic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08F4B95F-4E95-6689-E1EF-E9C4C4B8D8FE}"/>
              </a:ext>
            </a:extLst>
          </p:cNvPr>
          <p:cNvSpPr/>
          <p:nvPr/>
        </p:nvSpPr>
        <p:spPr>
          <a:xfrm>
            <a:off x="521735" y="144518"/>
            <a:ext cx="59503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en-US" sz="1600" b="1" dirty="0">
                <a:solidFill>
                  <a:srgbClr val="191F54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実績</a:t>
            </a:r>
          </a:p>
        </p:txBody>
      </p:sp>
    </p:spTree>
    <p:extLst>
      <p:ext uri="{BB962C8B-B14F-4D97-AF65-F5344CB8AC3E}">
        <p14:creationId xmlns:p14="http://schemas.microsoft.com/office/powerpoint/2010/main" val="12179852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2C3D15C8-D3B0-6220-377A-AEDB99F2BA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66"/>
          <a:stretch>
            <a:fillRect/>
          </a:stretch>
        </p:blipFill>
        <p:spPr>
          <a:xfrm>
            <a:off x="0" y="1013975"/>
            <a:ext cx="9881597" cy="5485691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E5CE1334-1393-1D43-894E-F405E5C0ED2E}"/>
              </a:ext>
            </a:extLst>
          </p:cNvPr>
          <p:cNvSpPr/>
          <p:nvPr/>
        </p:nvSpPr>
        <p:spPr>
          <a:xfrm>
            <a:off x="0" y="666650"/>
            <a:ext cx="4458878" cy="5561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7D524B95-ACC7-282E-9EA4-FFFCEE14C4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8854" y="596438"/>
            <a:ext cx="4746193" cy="696604"/>
          </a:xfrm>
          <a:prstGeom prst="rect">
            <a:avLst/>
          </a:prstGeom>
        </p:spPr>
      </p:pic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3337628B-B04D-7C3B-0E95-D96EA8971096}"/>
              </a:ext>
            </a:extLst>
          </p:cNvPr>
          <p:cNvSpPr/>
          <p:nvPr/>
        </p:nvSpPr>
        <p:spPr>
          <a:xfrm>
            <a:off x="521735" y="144518"/>
            <a:ext cx="59503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en-US" sz="1600" b="1" dirty="0">
                <a:solidFill>
                  <a:srgbClr val="191F54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実績</a:t>
            </a:r>
          </a:p>
        </p:txBody>
      </p:sp>
    </p:spTree>
    <p:extLst>
      <p:ext uri="{BB962C8B-B14F-4D97-AF65-F5344CB8AC3E}">
        <p14:creationId xmlns:p14="http://schemas.microsoft.com/office/powerpoint/2010/main" val="35173556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500AD337-A79C-3467-1945-9DC164C6E4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177" y="1289048"/>
            <a:ext cx="9459645" cy="5220429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F5420B2F-C285-DD0C-B4C2-7EA6B3490DA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45" r="1"/>
          <a:stretch>
            <a:fillRect/>
          </a:stretch>
        </p:blipFill>
        <p:spPr>
          <a:xfrm>
            <a:off x="0" y="562202"/>
            <a:ext cx="4835573" cy="647790"/>
          </a:xfrm>
          <a:prstGeom prst="rect">
            <a:avLst/>
          </a:prstGeom>
        </p:spPr>
      </p:pic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3E6A4B6-FFC1-8CD5-98BE-73C3E0908F31}"/>
              </a:ext>
            </a:extLst>
          </p:cNvPr>
          <p:cNvSpPr/>
          <p:nvPr/>
        </p:nvSpPr>
        <p:spPr>
          <a:xfrm>
            <a:off x="521735" y="144518"/>
            <a:ext cx="59503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en-US" sz="1600" b="1" dirty="0">
                <a:solidFill>
                  <a:srgbClr val="191F54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実績</a:t>
            </a:r>
          </a:p>
        </p:txBody>
      </p:sp>
    </p:spTree>
    <p:extLst>
      <p:ext uri="{BB962C8B-B14F-4D97-AF65-F5344CB8AC3E}">
        <p14:creationId xmlns:p14="http://schemas.microsoft.com/office/powerpoint/2010/main" val="29227793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09C82CDF-ED3A-E422-C71E-89F82AC008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1502"/>
            <a:ext cx="9678751" cy="5849166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0BA0897A-1863-1E08-A408-A16034FF4DAC}"/>
              </a:ext>
            </a:extLst>
          </p:cNvPr>
          <p:cNvSpPr/>
          <p:nvPr/>
        </p:nvSpPr>
        <p:spPr>
          <a:xfrm>
            <a:off x="8090262" y="609600"/>
            <a:ext cx="1558835" cy="4876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2B2FF0C-52D5-7024-1D1C-5EF784C48933}"/>
              </a:ext>
            </a:extLst>
          </p:cNvPr>
          <p:cNvSpPr/>
          <p:nvPr/>
        </p:nvSpPr>
        <p:spPr>
          <a:xfrm>
            <a:off x="521735" y="144518"/>
            <a:ext cx="59503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en-US" sz="1600" b="1" dirty="0">
                <a:solidFill>
                  <a:srgbClr val="191F54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実績</a:t>
            </a:r>
          </a:p>
        </p:txBody>
      </p:sp>
    </p:spTree>
    <p:extLst>
      <p:ext uri="{BB962C8B-B14F-4D97-AF65-F5344CB8AC3E}">
        <p14:creationId xmlns:p14="http://schemas.microsoft.com/office/powerpoint/2010/main" val="11414776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550BC315-954B-5CC3-F006-5FE3052246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1" y="609533"/>
            <a:ext cx="8817334" cy="638475"/>
          </a:xfrm>
          <a:prstGeom prst="rect">
            <a:avLst/>
          </a:prstGeom>
        </p:spPr>
      </p:pic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75B6BDCB-A11D-98A7-C719-4AC2D5B22EAC}"/>
              </a:ext>
            </a:extLst>
          </p:cNvPr>
          <p:cNvSpPr/>
          <p:nvPr/>
        </p:nvSpPr>
        <p:spPr>
          <a:xfrm>
            <a:off x="521735" y="144518"/>
            <a:ext cx="59503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en-US" sz="1600" b="1" dirty="0">
                <a:solidFill>
                  <a:srgbClr val="191F54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実績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D917D346-9399-7927-F888-031D294C5F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177" y="1293137"/>
            <a:ext cx="9459645" cy="5125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9916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71795F1D-64A8-82FD-FC35-08568E7642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4701"/>
            <a:ext cx="9678751" cy="5887272"/>
          </a:xfrm>
          <a:prstGeom prst="rect">
            <a:avLst/>
          </a:prstGeom>
        </p:spPr>
      </p:pic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379BFFE1-CF3E-F9E1-9CB4-A9D34A271A02}"/>
              </a:ext>
            </a:extLst>
          </p:cNvPr>
          <p:cNvSpPr/>
          <p:nvPr/>
        </p:nvSpPr>
        <p:spPr>
          <a:xfrm>
            <a:off x="521735" y="144518"/>
            <a:ext cx="458597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1600" b="1" dirty="0">
                <a:solidFill>
                  <a:srgbClr val="191F54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運用体制</a:t>
            </a:r>
          </a:p>
        </p:txBody>
      </p:sp>
    </p:spTree>
    <p:extLst>
      <p:ext uri="{BB962C8B-B14F-4D97-AF65-F5344CB8AC3E}">
        <p14:creationId xmlns:p14="http://schemas.microsoft.com/office/powerpoint/2010/main" val="7832558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1149C2BD-FABA-8776-A6BE-48E3BC3B50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464" y="1266934"/>
            <a:ext cx="9521072" cy="5215216"/>
          </a:xfrm>
          <a:prstGeom prst="rect">
            <a:avLst/>
          </a:prstGeom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0794034D-E76C-7C17-7D28-6FE1339CCB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52408"/>
            <a:ext cx="7248525" cy="689940"/>
          </a:xfrm>
          <a:prstGeom prst="rect">
            <a:avLst/>
          </a:prstGeom>
        </p:spPr>
      </p:pic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D429ADB0-723A-E76E-020B-9881A571E75D}"/>
              </a:ext>
            </a:extLst>
          </p:cNvPr>
          <p:cNvSpPr/>
          <p:nvPr/>
        </p:nvSpPr>
        <p:spPr>
          <a:xfrm>
            <a:off x="521735" y="144518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en-US" sz="1600" b="1" dirty="0">
                <a:solidFill>
                  <a:srgbClr val="191F54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運用体制</a:t>
            </a:r>
          </a:p>
        </p:txBody>
      </p:sp>
    </p:spTree>
    <p:extLst>
      <p:ext uri="{BB962C8B-B14F-4D97-AF65-F5344CB8AC3E}">
        <p14:creationId xmlns:p14="http://schemas.microsoft.com/office/powerpoint/2010/main" val="6760749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116;p16"/>
          <p:cNvPicPr preferRelativeResize="0"/>
          <p:nvPr/>
        </p:nvPicPr>
        <p:blipFill rotWithShape="1">
          <a:blip r:embed="rId2">
            <a:alphaModFix/>
          </a:blip>
          <a:srcRect t="14658" b="1438"/>
          <a:stretch/>
        </p:blipFill>
        <p:spPr>
          <a:xfrm>
            <a:off x="144754" y="1318051"/>
            <a:ext cx="9689518" cy="5063023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8C2362E9-833A-4634-899A-C983988D2325}"/>
              </a:ext>
            </a:extLst>
          </p:cNvPr>
          <p:cNvSpPr/>
          <p:nvPr/>
        </p:nvSpPr>
        <p:spPr>
          <a:xfrm>
            <a:off x="521734" y="144518"/>
            <a:ext cx="714225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1600" b="1" dirty="0">
                <a:solidFill>
                  <a:srgbClr val="191F54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サービス品質</a:t>
            </a:r>
          </a:p>
        </p:txBody>
      </p:sp>
      <p:pic>
        <p:nvPicPr>
          <p:cNvPr id="2" name="図 1"/>
          <p:cNvPicPr>
            <a:picLocks noChangeAspect="1"/>
          </p:cNvPicPr>
          <p:nvPr/>
        </p:nvPicPr>
        <p:blipFill rotWithShape="1">
          <a:blip r:embed="rId3"/>
          <a:srcRect l="1012" b="-969"/>
          <a:stretch/>
        </p:blipFill>
        <p:spPr>
          <a:xfrm>
            <a:off x="0" y="619066"/>
            <a:ext cx="4571999" cy="719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0586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1271975-C491-492F-BE75-53251FDF4499}"/>
              </a:ext>
            </a:extLst>
          </p:cNvPr>
          <p:cNvSpPr/>
          <p:nvPr/>
        </p:nvSpPr>
        <p:spPr>
          <a:xfrm>
            <a:off x="521734" y="144518"/>
            <a:ext cx="769335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1600" b="1" dirty="0">
                <a:solidFill>
                  <a:srgbClr val="191F54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サービス品質</a:t>
            </a:r>
          </a:p>
        </p:txBody>
      </p:sp>
      <p:pic>
        <p:nvPicPr>
          <p:cNvPr id="2" name="図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155" y="1356536"/>
            <a:ext cx="8925041" cy="4960444"/>
          </a:xfrm>
          <a:prstGeom prst="rect">
            <a:avLst/>
          </a:prstGeom>
        </p:spPr>
      </p:pic>
      <p:pic>
        <p:nvPicPr>
          <p:cNvPr id="3" name="図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56491"/>
            <a:ext cx="5486400" cy="700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8895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8C2362E9-833A-4634-899A-C983988D2325}"/>
              </a:ext>
            </a:extLst>
          </p:cNvPr>
          <p:cNvSpPr/>
          <p:nvPr/>
        </p:nvSpPr>
        <p:spPr>
          <a:xfrm>
            <a:off x="521735" y="144518"/>
            <a:ext cx="432240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1600" b="1" dirty="0">
                <a:solidFill>
                  <a:srgbClr val="191F54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弊社の強み</a:t>
            </a:r>
          </a:p>
        </p:txBody>
      </p:sp>
      <p:pic>
        <p:nvPicPr>
          <p:cNvPr id="2" name="図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6218"/>
            <a:ext cx="4622645" cy="733482"/>
          </a:xfrm>
          <a:prstGeom prst="rect">
            <a:avLst/>
          </a:prstGeom>
        </p:spPr>
      </p:pic>
      <p:pic>
        <p:nvPicPr>
          <p:cNvPr id="4" name="図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50" y="1409700"/>
            <a:ext cx="9130465" cy="509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5030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66DCD6-5DC2-5860-ECFE-34F71C04B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9EAC3157-6E31-F16D-0835-82A7D28FE481}"/>
              </a:ext>
            </a:extLst>
          </p:cNvPr>
          <p:cNvSpPr txBox="1"/>
          <p:nvPr/>
        </p:nvSpPr>
        <p:spPr>
          <a:xfrm>
            <a:off x="0" y="3092281"/>
            <a:ext cx="9906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b="1" spc="740" dirty="0">
                <a:solidFill>
                  <a:schemeClr val="tx2">
                    <a:lumMod val="7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 UI" panose="020B0604030504040204" pitchFamily="50" charset="-128"/>
              </a:rPr>
              <a:t>ご提案の全体像</a:t>
            </a:r>
            <a:endParaRPr kumimoji="1" lang="en-US" altLang="ja-JP" sz="3200" b="1" spc="740" dirty="0">
              <a:solidFill>
                <a:schemeClr val="tx2">
                  <a:lumMod val="7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259193CD-99FF-8381-458D-0EFDC97B37C6}"/>
              </a:ext>
            </a:extLst>
          </p:cNvPr>
          <p:cNvSpPr/>
          <p:nvPr/>
        </p:nvSpPr>
        <p:spPr>
          <a:xfrm>
            <a:off x="0" y="1134209"/>
            <a:ext cx="3807069" cy="580292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" name="二等辺三角形 2">
            <a:extLst>
              <a:ext uri="{FF2B5EF4-FFF2-40B4-BE49-F238E27FC236}">
                <a16:creationId xmlns:a16="http://schemas.microsoft.com/office/drawing/2014/main" id="{C13FF028-C3B5-57E7-B29E-FEF1932CE993}"/>
              </a:ext>
            </a:extLst>
          </p:cNvPr>
          <p:cNvSpPr/>
          <p:nvPr/>
        </p:nvSpPr>
        <p:spPr>
          <a:xfrm>
            <a:off x="3437792" y="1134209"/>
            <a:ext cx="738553" cy="580292"/>
          </a:xfrm>
          <a:prstGeom prst="triangl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CE8E24A9-B5FD-23BC-D7EE-F04C90522F0D}"/>
              </a:ext>
            </a:extLst>
          </p:cNvPr>
          <p:cNvSpPr txBox="1"/>
          <p:nvPr/>
        </p:nvSpPr>
        <p:spPr>
          <a:xfrm>
            <a:off x="287216" y="1266065"/>
            <a:ext cx="31154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4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 UI" panose="020B0604030504040204" pitchFamily="50" charset="-128"/>
              </a:rPr>
              <a:t>Chapter.2</a:t>
            </a:r>
            <a:endParaRPr kumimoji="1" lang="ja-JP" altLang="en-US" sz="14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B5386284-F5CB-0810-AE43-79DE1445F801}"/>
              </a:ext>
            </a:extLst>
          </p:cNvPr>
          <p:cNvSpPr/>
          <p:nvPr/>
        </p:nvSpPr>
        <p:spPr>
          <a:xfrm>
            <a:off x="0" y="0"/>
            <a:ext cx="9906000" cy="6926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2082137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4D44D-7235-166F-331C-FA7B72D05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タイトル 10">
            <a:extLst>
              <a:ext uri="{FF2B5EF4-FFF2-40B4-BE49-F238E27FC236}">
                <a16:creationId xmlns:a16="http://schemas.microsoft.com/office/drawing/2014/main" id="{FB7444B7-D5DF-A980-082D-209BFEDFDB6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r>
              <a:rPr lang="ja-JP" altLang="en-US" dirty="0"/>
              <a:t> 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8D1D6B46-91B1-C0DE-6F1B-A72F4BE85B1B}"/>
              </a:ext>
            </a:extLst>
          </p:cNvPr>
          <p:cNvSpPr/>
          <p:nvPr/>
        </p:nvSpPr>
        <p:spPr>
          <a:xfrm>
            <a:off x="-1712" y="766081"/>
            <a:ext cx="9906000" cy="550218"/>
          </a:xfrm>
          <a:prstGeom prst="rect">
            <a:avLst/>
          </a:prstGeom>
          <a:solidFill>
            <a:srgbClr val="191F5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600" b="1" spc="3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ご与件の整理</a:t>
            </a:r>
          </a:p>
        </p:txBody>
      </p:sp>
      <p:sp>
        <p:nvSpPr>
          <p:cNvPr id="5" name="Google Shape;64;p3">
            <a:extLst>
              <a:ext uri="{FF2B5EF4-FFF2-40B4-BE49-F238E27FC236}">
                <a16:creationId xmlns:a16="http://schemas.microsoft.com/office/drawing/2014/main" id="{A7DF77A5-29E1-283A-D67C-CF9611890CA3}"/>
              </a:ext>
            </a:extLst>
          </p:cNvPr>
          <p:cNvSpPr txBox="1"/>
          <p:nvPr/>
        </p:nvSpPr>
        <p:spPr>
          <a:xfrm>
            <a:off x="501705" y="85085"/>
            <a:ext cx="3859901" cy="387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spcBef>
                <a:spcPct val="20000"/>
              </a:spcBef>
              <a:buFont typeface="Arial"/>
              <a:buNone/>
            </a:pPr>
            <a:r>
              <a:rPr kumimoji="1" lang="ja-JP" altLang="en-US" sz="1600" spc="3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提案概要</a:t>
            </a:r>
            <a:endParaRPr kumimoji="1" sz="1600" spc="3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</p:txBody>
      </p:sp>
      <p:graphicFrame>
        <p:nvGraphicFramePr>
          <p:cNvPr id="4" name="Table 0">
            <a:extLst>
              <a:ext uri="{FF2B5EF4-FFF2-40B4-BE49-F238E27FC236}">
                <a16:creationId xmlns:a16="http://schemas.microsoft.com/office/drawing/2014/main" id="{9C336C0E-A98D-5B65-4E2F-8CAB665A92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3532733"/>
              </p:ext>
            </p:extLst>
          </p:nvPr>
        </p:nvGraphicFramePr>
        <p:xfrm>
          <a:off x="532486" y="1605590"/>
          <a:ext cx="8837604" cy="4174112"/>
        </p:xfrm>
        <a:graphic>
          <a:graphicData uri="http://schemas.openxmlformats.org/drawingml/2006/table">
            <a:tbl>
              <a:tblPr firstCol="1"/>
              <a:tblGrid>
                <a:gridCol w="21603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773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17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Calibri" pitchFamily="34" charset="-120"/>
                        </a:rPr>
                        <a:t>項目</a:t>
                      </a:r>
                      <a:endParaRPr lang="en-US" sz="1100" dirty="0"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Calibri" pitchFamily="34" charset="-120"/>
                        </a:rPr>
                        <a:t>内容</a:t>
                      </a:r>
                      <a:endParaRPr lang="en-US" sz="1100" dirty="0"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17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00" dirty="0" err="1">
                          <a:latin typeface="メイリオ"/>
                        </a:rPr>
                        <a:t>業界</a:t>
                      </a:r>
                      <a:endParaRPr 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00">
                          <a:latin typeface="メイリオ"/>
                        </a:rPr>
                        <a:t>人材・求人（合同企業面談会「しが就職・転職フェア」／求人メディア「vivical」運営）</a:t>
                      </a:r>
                      <a:endParaRPr 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17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00" b="1" dirty="0" err="1">
                          <a:latin typeface="メイリオ"/>
                        </a:rPr>
                        <a:t>事業概要</a:t>
                      </a:r>
                      <a:endParaRPr 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00" dirty="0">
                          <a:latin typeface="メイリオ"/>
                        </a:rPr>
                        <a:t>滋賀県特化の就職・転職支援。年9会場規模の合同面談会で、出展企業と20〜30代求職者をマッチング</a:t>
                      </a:r>
                      <a:endParaRPr 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17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00">
                          <a:latin typeface="メイリオ"/>
                        </a:rPr>
                        <a:t>現状</a:t>
                      </a:r>
                      <a:endParaRPr 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00">
                          <a:latin typeface="メイリオ"/>
                        </a:rPr>
                        <a:t>Meta広告中心で申込単価 約10,000円・申込約80件。ただし来場率が6〜7割に留まり、来場ベースの単価が悪化</a:t>
                      </a:r>
                      <a:endParaRPr 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6474430"/>
                  </a:ext>
                </a:extLst>
              </a:tr>
              <a:tr h="5217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00" b="1">
                          <a:latin typeface="メイリオ"/>
                        </a:rPr>
                        <a:t>目標KPI</a:t>
                      </a:r>
                      <a:endParaRPr lang="en-US" sz="11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00" b="1">
                          <a:latin typeface="メイリオ"/>
                        </a:rPr>
                        <a:t>申込単価10,000円を維持したまま、来場数・来場単価を改善する</a:t>
                      </a:r>
                      <a:endParaRPr lang="en-US" sz="11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17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00" b="1">
                          <a:latin typeface="メイリオ"/>
                        </a:rPr>
                        <a:t>想定月額予算</a:t>
                      </a:r>
                      <a:endParaRPr 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00" dirty="0">
                          <a:latin typeface="メイリオ"/>
                        </a:rPr>
                        <a:t>月額100万円（現状の広告予算と同規模）</a:t>
                      </a:r>
                      <a:endParaRPr 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17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00" b="1">
                          <a:latin typeface="メイリオ"/>
                        </a:rPr>
                        <a:t>配信エリア</a:t>
                      </a:r>
                      <a:endParaRPr 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00">
                          <a:latin typeface="メイリオ"/>
                        </a:rPr>
                        <a:t>滋賀県全域（東近江・草津・甲賀・彦根の4会場圏を軸に設定）</a:t>
                      </a:r>
                      <a:endParaRPr 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217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00" b="1">
                          <a:latin typeface="メイリオ"/>
                        </a:rPr>
                        <a:t>直近日程</a:t>
                      </a:r>
                      <a:endParaRPr 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00" dirty="0">
                          <a:latin typeface="メイリオ"/>
                        </a:rPr>
                        <a:t>8/28(金)エントリー受付開始 → 9/26 東近江・10/3 草津・10/31 水口・11/8 彦根</a:t>
                      </a:r>
                      <a:endParaRPr 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8174762"/>
      </p:ext>
    </p:extLst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92608"/>
            <a:ext cx="82296" cy="402336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56032"/>
            <a:ext cx="6949440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Meiryo"/>
              </a:rPr>
              <a:t>現状分析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86384"/>
            <a:ext cx="9171432" cy="18288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932688"/>
            <a:ext cx="9902952" cy="512064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932688"/>
            <a:ext cx="9171432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"/>
              </a:rPr>
              <a:t>申込単価は目標水準を達成済み。課題は申込→来場で約3割を取りこぼす構造にある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9902952" cy="347472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510528"/>
            <a:ext cx="6858000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  <a:latin typeface="Meiryo"/>
              </a:rPr>
              <a:t>Copyright(c) DYM Co., Ltd. 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199632"/>
            <a:ext cx="9171432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Meiryo"/>
              </a:rPr>
              <a:t>参照元：貴社ヒアリング（2026年7月／申込単価 約1万円・申込約80件・来場率6〜7割）に基づく概算モデル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510528"/>
            <a:ext cx="502920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/>
            <a:fld id="{B3A051D1-8EB2-484F-9390-44EA58B1BA21}" type="slidenum">
              <a:rPr lang="en-US" altLang="ja-JP" sz="900" b="1">
                <a:solidFill>
                  <a:srgbClr val="FFFFFF"/>
                </a:solidFill>
                <a:latin typeface="Meiryo"/>
              </a:rPr>
              <a:t>21</a:t>
            </a:fld>
            <a:endParaRPr lang="ja-JP" sz="900" b="1">
              <a:solidFill>
                <a:srgbClr val="FFFFFF"/>
              </a:solidFill>
              <a:latin typeface="Meiryo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02920" y="2148840"/>
            <a:ext cx="2679192" cy="1874519"/>
          </a:xfrm>
          <a:prstGeom prst="roundRect">
            <a:avLst/>
          </a:prstGeom>
          <a:solidFill>
            <a:srgbClr val="F1F3F8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286000"/>
            <a:ext cx="2496312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1A2A5E"/>
                </a:solidFill>
                <a:latin typeface="Meiryo"/>
                <a:ea typeface="Meiryo"/>
              </a:rPr>
              <a:t>SNS広告 → 申込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697480"/>
            <a:ext cx="2496312" cy="6858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1A2A5E"/>
                </a:solidFill>
                <a:latin typeface="Meiryo"/>
                <a:ea typeface="Meiryo"/>
              </a:rPr>
              <a:t>80件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474720"/>
            <a:ext cx="2496312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222222"/>
                </a:solidFill>
                <a:latin typeface="Meiryo"/>
                <a:ea typeface="Meiryo"/>
              </a:rPr>
              <a:t>申込単価 10,000円（目標達成）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11880" y="2148840"/>
            <a:ext cx="2679192" cy="1874519"/>
          </a:xfrm>
          <a:prstGeom prst="roundRect">
            <a:avLst/>
          </a:prstGeom>
          <a:solidFill>
            <a:srgbClr val="FCEAC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03320" y="2286000"/>
            <a:ext cx="2496312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1A2A5E"/>
                </a:solidFill>
                <a:latin typeface="Meiryo"/>
                <a:ea typeface="Meiryo"/>
              </a:rPr>
              <a:t>申込 → 来場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2697480"/>
            <a:ext cx="2496312" cy="6858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39800"/>
                </a:solidFill>
                <a:latin typeface="Meiryo"/>
                <a:ea typeface="Meiryo"/>
              </a:rPr>
              <a:t>52名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3320" y="3474720"/>
            <a:ext cx="2496312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222222"/>
                </a:solidFill>
                <a:latin typeface="Meiryo"/>
                <a:ea typeface="Meiryo"/>
              </a:rPr>
              <a:t>来場率 65%｜28件を取りこぼし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20840" y="2148840"/>
            <a:ext cx="2679192" cy="1874519"/>
          </a:xfrm>
          <a:prstGeom prst="roundRect">
            <a:avLst/>
          </a:prstGeom>
          <a:solidFill>
            <a:srgbClr val="FCEAC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79" y="2286000"/>
            <a:ext cx="2496312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1A2A5E"/>
                </a:solidFill>
                <a:latin typeface="Meiryo"/>
                <a:ea typeface="Meiryo"/>
              </a:rPr>
              <a:t>実質の来場単価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79" y="2697480"/>
            <a:ext cx="2496312" cy="6858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39800"/>
                </a:solidFill>
                <a:latin typeface="Meiryo"/>
                <a:ea typeface="Meiryo"/>
              </a:rPr>
              <a:t>約15,400円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79" y="3474720"/>
            <a:ext cx="2496312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222222"/>
                </a:solidFill>
                <a:latin typeface="Meiryo"/>
                <a:ea typeface="Meiryo"/>
              </a:rPr>
              <a:t>申込単価の約1.5倍に悪化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3236976" y="2944368"/>
            <a:ext cx="292608" cy="329184"/>
          </a:xfrm>
          <a:prstGeom prst="rightArrow">
            <a:avLst/>
          </a:prstGeom>
          <a:solidFill>
            <a:srgbClr val="1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ight Arrow 24"/>
          <p:cNvSpPr/>
          <p:nvPr/>
        </p:nvSpPr>
        <p:spPr>
          <a:xfrm>
            <a:off x="6345936" y="2944368"/>
            <a:ext cx="292608" cy="329184"/>
          </a:xfrm>
          <a:prstGeom prst="rightArrow">
            <a:avLst/>
          </a:prstGeom>
          <a:solidFill>
            <a:srgbClr val="1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4434840"/>
            <a:ext cx="8897112" cy="96012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4434840"/>
            <a:ext cx="8531352" cy="9601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Meiryo"/>
                <a:ea typeface="Meiryo"/>
              </a:rPr>
              <a:t>勝ち筋 ＝ ①申込母数の拡大（媒体最適化） × ②来場率の改善（LINE）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  <a:latin typeface="Meiryo"/>
                <a:ea typeface="Meiryo"/>
              </a:rPr>
              <a:t>広告の勝ちパターンは維持し、「取りこぼしの3割」を仕組みで回収して来場単価を下げる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92608"/>
            <a:ext cx="82296" cy="402336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56032"/>
            <a:ext cx="6949440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Meiryo"/>
              </a:rPr>
              <a:t>ご提案の全体像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86384"/>
            <a:ext cx="9171432" cy="18288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932688"/>
            <a:ext cx="9902952" cy="512064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932688"/>
            <a:ext cx="9171432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"/>
              </a:rPr>
              <a:t>広告で集め、LINEで確実に来場へつなげ、メディアで資産化する3本柱で設計する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9902952" cy="347472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510528"/>
            <a:ext cx="6858000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  <a:latin typeface="Meiryo"/>
              </a:rPr>
              <a:t>Copyright(c) DYM Co., Ltd. 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199632"/>
            <a:ext cx="9171432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Meiryo"/>
              </a:rPr>
              <a:t>※来場率の改善幅は仮説値です。会場ごとの実測値で見直します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510528"/>
            <a:ext cx="502920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/>
            <a:fld id="{B3A051D1-8EB2-484F-9390-44EA58B1BA21}" type="slidenum">
              <a:rPr lang="en-US" altLang="ja-JP" sz="900" b="1">
                <a:solidFill>
                  <a:srgbClr val="FFFFFF"/>
                </a:solidFill>
                <a:latin typeface="Meiryo"/>
              </a:rPr>
              <a:t>21</a:t>
            </a:fld>
            <a:endParaRPr lang="ja-JP" sz="900" b="1">
              <a:solidFill>
                <a:srgbClr val="FFFFFF"/>
              </a:solidFill>
              <a:latin typeface="Meiryo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02920" y="2103120"/>
            <a:ext cx="2862072" cy="2880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2920" y="2103120"/>
            <a:ext cx="2862072" cy="566928"/>
          </a:xfrm>
          <a:prstGeom prst="roundRect">
            <a:avLst/>
          </a:prstGeom>
          <a:solidFill>
            <a:srgbClr val="1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" y="2103120"/>
            <a:ext cx="2715768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Meiryo"/>
                <a:ea typeface="Meiryo"/>
              </a:rPr>
              <a:t>① SNS広告の最適化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2834640"/>
            <a:ext cx="2496312" cy="1417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222222"/>
                </a:solidFill>
                <a:latin typeface="Meiryo"/>
                <a:ea typeface="Meiryo"/>
              </a:rPr>
              <a:t>・Meta×TikTokで20〜30代の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222222"/>
                </a:solidFill>
                <a:latin typeface="Meiryo"/>
                <a:ea typeface="Meiryo"/>
              </a:rPr>
              <a:t>　申込母数を拡大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222222"/>
                </a:solidFill>
                <a:latin typeface="Meiryo"/>
                <a:ea typeface="Meiryo"/>
              </a:rPr>
              <a:t>・申込単価10,000円は維持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4343400"/>
            <a:ext cx="2642616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39800"/>
                </a:solidFill>
                <a:latin typeface="Meiryo"/>
                <a:ea typeface="Meiryo"/>
              </a:rPr>
              <a:t>KPI：申込 80件 → 100件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11880" y="2103120"/>
            <a:ext cx="2862072" cy="2880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611880" y="2103120"/>
            <a:ext cx="2862072" cy="566928"/>
          </a:xfrm>
          <a:prstGeom prst="roundRect">
            <a:avLst/>
          </a:prstGeom>
          <a:solidFill>
            <a:srgbClr val="1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85032" y="2103120"/>
            <a:ext cx="2715768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Meiryo"/>
                <a:ea typeface="Meiryo"/>
              </a:rPr>
              <a:t>② LINEで来場率改善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13048" y="2834640"/>
            <a:ext cx="2496312" cy="1417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222222"/>
                </a:solidFill>
                <a:latin typeface="Meiryo"/>
                <a:ea typeface="Meiryo"/>
              </a:rPr>
              <a:t>・前日リマインド・振替配信で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222222"/>
                </a:solidFill>
                <a:latin typeface="Meiryo"/>
                <a:ea typeface="Meiryo"/>
              </a:rPr>
              <a:t>　不来場を削減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222222"/>
                </a:solidFill>
                <a:latin typeface="Meiryo"/>
                <a:ea typeface="Meiryo"/>
              </a:rPr>
              <a:t>・既存の公式LINEを活用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21608" y="4343400"/>
            <a:ext cx="2642616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39800"/>
                </a:solidFill>
                <a:latin typeface="Meiryo"/>
                <a:ea typeface="Meiryo"/>
              </a:rPr>
              <a:t>KPI：来場率 65% → 80%台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20840" y="2103120"/>
            <a:ext cx="2862072" cy="2880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720840" y="2103120"/>
            <a:ext cx="2862072" cy="566928"/>
          </a:xfrm>
          <a:prstGeom prst="roundRect">
            <a:avLst/>
          </a:prstGeom>
          <a:solidFill>
            <a:srgbClr val="1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93992" y="2103120"/>
            <a:ext cx="2715768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Meiryo"/>
                <a:ea typeface="Meiryo"/>
              </a:rPr>
              <a:t>③ メディア運営強化(＋α)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22007" y="2834640"/>
            <a:ext cx="2496312" cy="1417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222222"/>
                </a:solidFill>
                <a:latin typeface="Meiryo"/>
                <a:ea typeface="Meiryo"/>
              </a:rPr>
              <a:t>・求人vivicalのSEO・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222222"/>
                </a:solidFill>
                <a:latin typeface="Meiryo"/>
                <a:ea typeface="Meiryo"/>
              </a:rPr>
              <a:t>　応募導線を改善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222222"/>
                </a:solidFill>
                <a:latin typeface="Meiryo"/>
                <a:ea typeface="Meiryo"/>
              </a:rPr>
              <a:t>・広告に依存しない応募基盤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30568" y="4343400"/>
            <a:ext cx="2642616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39800"/>
                </a:solidFill>
                <a:latin typeface="Meiryo"/>
                <a:ea typeface="Meiryo"/>
              </a:rPr>
              <a:t>KPI：自然流入・通年応募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257800"/>
            <a:ext cx="8897112" cy="566928"/>
          </a:xfrm>
          <a:prstGeom prst="rect">
            <a:avLst/>
          </a:prstGeom>
          <a:solidFill>
            <a:srgbClr val="F1F3F8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5257800"/>
            <a:ext cx="8531352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A2A5E"/>
                </a:solidFill>
                <a:latin typeface="Meiryo"/>
                <a:ea typeface="Meiryo"/>
              </a:rPr>
              <a:t>①②は 8/28(金)エントリー受付開始 に合わせて同時稼働／③は9月以降の中期テーマとして並走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92608"/>
            <a:ext cx="82296" cy="402336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56032"/>
            <a:ext cx="6949440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Meiryo"/>
              </a:rPr>
              <a:t>SNS広告のご提案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86384"/>
            <a:ext cx="9171432" cy="18288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932688"/>
            <a:ext cx="9902952" cy="512064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932688"/>
            <a:ext cx="9171432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"/>
              </a:rPr>
              <a:t>実績のあるMetaを主力に、TikTokは検証枠として20代前半へリーチを広げる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9902952" cy="347472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510528"/>
            <a:ext cx="6858000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  <a:latin typeface="Meiryo"/>
              </a:rPr>
              <a:t>Copyright(c) DYM Co., Ltd.  All Rights Reserved.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737360"/>
          <a:ext cx="9171432" cy="306323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1691640"/>
                <a:gridCol w="1691640"/>
                <a:gridCol w="3959352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</a:rPr>
                        <a:t>媒体</a:t>
                      </a:r>
                    </a:p>
                  </a:txBody>
                  <a:tcPr marL="54864" marR="54864" marT="18288" marB="18288" anchor="ctr">
                    <a:solidFill>
                      <a:srgbClr val="1A2A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</a:rPr>
                        <a:t>役割</a:t>
                      </a:r>
                    </a:p>
                  </a:txBody>
                  <a:tcPr marL="54864" marR="54864" marT="18288" marB="18288" anchor="ctr">
                    <a:solidFill>
                      <a:srgbClr val="1A2A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</a:rPr>
                        <a:t>予算配分（目安）</a:t>
                      </a:r>
                    </a:p>
                  </a:txBody>
                  <a:tcPr marL="54864" marR="54864" marT="18288" marB="18288" anchor="ctr">
                    <a:solidFill>
                      <a:srgbClr val="1A2A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</a:rPr>
                        <a:t>ターゲット・クリエイティブ方針</a:t>
                      </a:r>
                    </a:p>
                  </a:txBody>
                  <a:tcPr marL="54864" marR="54864" marT="18288" marB="18288" anchor="ctr">
                    <a:solidFill>
                      <a:srgbClr val="1A2A5E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22222"/>
                          </a:solidFill>
                          <a:latin typeface="Meiryo"/>
                        </a:rPr>
                        <a:t>Meta</a:t>
                      </a:r>
                    </a:p>
                    <a:p>
                      <a:pPr algn="ctr"/>
                      <a:r>
                        <a:rPr sz="1000" b="1">
                          <a:solidFill>
                            <a:srgbClr val="222222"/>
                          </a:solidFill>
                          <a:latin typeface="Meiryo"/>
                        </a:rPr>
                        <a:t>(Instagram・Facebook)</a:t>
                      </a:r>
                    </a:p>
                  </a:txBody>
                  <a:tcPr marL="54864" marR="54864" marT="18288" marB="18288" anchor="ctr"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主力媒体</a:t>
                      </a:r>
                    </a:p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（現行実績あり）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70〜80%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滋賀＋近隣の20〜30代。「服装自由・履歴書不要・参加無料」で参加ハードルを下げる訴求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22222"/>
                          </a:solidFill>
                          <a:latin typeface="Meiryo"/>
                        </a:rPr>
                        <a:t>TikTok</a:t>
                      </a:r>
                    </a:p>
                  </a:txBody>
                  <a:tcPr marL="54864" marR="54864" marT="18288" marB="18288" anchor="ctr"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若年層への拡張</a:t>
                      </a:r>
                    </a:p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（検証枠）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20〜30%から開始し</a:t>
                      </a:r>
                    </a:p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効果を見て増減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18〜24歳（学生・第二新卒）。会場の雰囲気が伝わる参加者目線のショート動画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22222"/>
                          </a:solidFill>
                          <a:latin typeface="Meiryo"/>
                        </a:rPr>
                        <a:t>共通（計測）</a:t>
                      </a:r>
                    </a:p>
                  </a:txBody>
                  <a:tcPr marL="54864" marR="54864" marT="18288" marB="18288" anchor="ctr"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来場最適化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ー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来場データをオフラインCVとして媒体へ連携し、「来場につながる申込」に配信を寄せる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5760" y="6199632"/>
            <a:ext cx="9171432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Meiryo"/>
              </a:rPr>
              <a:t>※予算配分は開始時の目安です。実配信データに基づき月次で最適化します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510528"/>
            <a:ext cx="502920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/>
            <a:fld id="{B3A051D1-8EB2-484F-9390-44EA58B1BA21}" type="slidenum">
              <a:rPr lang="en-US" altLang="ja-JP" sz="900" b="1">
                <a:solidFill>
                  <a:srgbClr val="FFFFFF"/>
                </a:solidFill>
                <a:latin typeface="Meiryo"/>
              </a:rPr>
              <a:t>21</a:t>
            </a:fld>
            <a:endParaRPr lang="ja-JP" sz="900" b="1">
              <a:solidFill>
                <a:srgbClr val="FFFFFF"/>
              </a:solidFill>
              <a:latin typeface="Meiryo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02920" y="5166360"/>
            <a:ext cx="2862072" cy="731520"/>
          </a:xfrm>
          <a:prstGeom prst="rect">
            <a:avLst/>
          </a:prstGeom>
          <a:solidFill>
            <a:srgbClr val="F1F3F8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5212080"/>
            <a:ext cx="2862072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222222"/>
                </a:solidFill>
                <a:latin typeface="Meiryo"/>
                <a:ea typeface="Meiryo"/>
              </a:rPr>
              <a:t>申込単価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486400"/>
            <a:ext cx="2862072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A2A5E"/>
                </a:solidFill>
                <a:latin typeface="Meiryo"/>
                <a:ea typeface="Meiryo"/>
              </a:rPr>
              <a:t>10,000円 維持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11880" y="5166360"/>
            <a:ext cx="2862072" cy="731520"/>
          </a:xfrm>
          <a:prstGeom prst="rect">
            <a:avLst/>
          </a:prstGeom>
          <a:solidFill>
            <a:srgbClr val="F1F3F8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11880" y="5212080"/>
            <a:ext cx="2862072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222222"/>
                </a:solidFill>
                <a:latin typeface="Meiryo"/>
                <a:ea typeface="Meiryo"/>
              </a:rPr>
              <a:t>申込数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5486400"/>
            <a:ext cx="2862072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A2A5E"/>
                </a:solidFill>
                <a:latin typeface="Meiryo"/>
                <a:ea typeface="Meiryo"/>
              </a:rPr>
              <a:t>100件／回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20840" y="5166360"/>
            <a:ext cx="2862072" cy="731520"/>
          </a:xfrm>
          <a:prstGeom prst="rect">
            <a:avLst/>
          </a:prstGeom>
          <a:solidFill>
            <a:srgbClr val="F1F3F8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20840" y="5212080"/>
            <a:ext cx="2862072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222222"/>
                </a:solidFill>
                <a:latin typeface="Meiryo"/>
                <a:ea typeface="Meiryo"/>
              </a:rPr>
              <a:t>月額予算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5486400"/>
            <a:ext cx="2862072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A2A5E"/>
                </a:solidFill>
                <a:latin typeface="Meiryo"/>
                <a:ea typeface="Meiryo"/>
              </a:rPr>
              <a:t>100万円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92608"/>
            <a:ext cx="82296" cy="402336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56032"/>
            <a:ext cx="6949440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Meiryo"/>
              </a:rPr>
              <a:t>LINE公式アカウント活用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86384"/>
            <a:ext cx="9171432" cy="18288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932688"/>
            <a:ext cx="9902952" cy="512064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932688"/>
            <a:ext cx="9171432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"/>
              </a:rPr>
              <a:t>申込完了からLINEへ自動接続し、1回の申込を4会場すべての来場チャンスに変える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9902952" cy="347472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510528"/>
            <a:ext cx="6858000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  <a:latin typeface="Meiryo"/>
              </a:rPr>
              <a:t>Copyright(c) DYM Co., Ltd. 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199632"/>
            <a:ext cx="9171432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Meiryo"/>
              </a:rPr>
              <a:t>参照元：しが就職・転職フェア公式LP（開催日程・来場特典・公式LINE）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510528"/>
            <a:ext cx="502920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/>
            <a:fld id="{B3A051D1-8EB2-484F-9390-44EA58B1BA21}" type="slidenum">
              <a:rPr lang="en-US" altLang="ja-JP" sz="900" b="1">
                <a:solidFill>
                  <a:srgbClr val="FFFFFF"/>
                </a:solidFill>
                <a:latin typeface="Meiryo"/>
              </a:rPr>
              <a:t>21</a:t>
            </a:fld>
            <a:endParaRPr lang="ja-JP" sz="900" b="1">
              <a:solidFill>
                <a:srgbClr val="FFFFFF"/>
              </a:solidFill>
              <a:latin typeface="Meiryo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02920" y="2103120"/>
            <a:ext cx="2039112" cy="1188720"/>
          </a:xfrm>
          <a:prstGeom prst="roundRect">
            <a:avLst/>
          </a:prstGeom>
          <a:solidFill>
            <a:srgbClr val="F1F3F8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212848"/>
            <a:ext cx="1947672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222222"/>
                </a:solidFill>
                <a:latin typeface="Meiryo"/>
                <a:ea typeface="Meiryo"/>
              </a:rPr>
              <a:t>フォーム申込完了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615184"/>
            <a:ext cx="1947672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>
                <a:solidFill>
                  <a:srgbClr val="222222"/>
                </a:solidFill>
                <a:latin typeface="Meiryo"/>
                <a:ea typeface="Meiryo"/>
              </a:rPr>
              <a:t>現状のCV地点は変えない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569463" y="2532888"/>
            <a:ext cx="237744" cy="310896"/>
          </a:xfrm>
          <a:prstGeom prst="rightArrow">
            <a:avLst/>
          </a:prstGeom>
          <a:solidFill>
            <a:srgbClr val="1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834639" y="2103120"/>
            <a:ext cx="2039112" cy="1188720"/>
          </a:xfrm>
          <a:prstGeom prst="roundRect">
            <a:avLst/>
          </a:prstGeom>
          <a:solidFill>
            <a:srgbClr val="1A2A5E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80359" y="2212848"/>
            <a:ext cx="1947672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Meiryo"/>
                <a:ea typeface="Meiryo"/>
              </a:rPr>
              <a:t>LINE友だち追加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359" y="2615184"/>
            <a:ext cx="1947672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>
                <a:solidFill>
                  <a:srgbClr val="FFFFFF"/>
                </a:solidFill>
                <a:latin typeface="Meiryo"/>
                <a:ea typeface="Meiryo"/>
              </a:rPr>
              <a:t>完了ページで案内。特典・</a:t>
            </a:r>
          </a:p>
          <a:p>
            <a:pPr algn="ctr">
              <a:spcAft>
                <a:spcPts val="200"/>
              </a:spcAft>
            </a:pPr>
            <a:r>
              <a:rPr sz="900" b="0">
                <a:solidFill>
                  <a:srgbClr val="FFFFFF"/>
                </a:solidFill>
                <a:latin typeface="Meiryo"/>
                <a:ea typeface="Meiryo"/>
              </a:rPr>
              <a:t>自己紹介シートの受取窓口に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901183" y="2532888"/>
            <a:ext cx="237744" cy="310896"/>
          </a:xfrm>
          <a:prstGeom prst="rightArrow">
            <a:avLst/>
          </a:prstGeom>
          <a:solidFill>
            <a:srgbClr val="1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166359" y="2103120"/>
            <a:ext cx="2039112" cy="1188720"/>
          </a:xfrm>
          <a:prstGeom prst="roundRect">
            <a:avLst/>
          </a:prstGeom>
          <a:solidFill>
            <a:srgbClr val="1A2A5E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12079" y="2212848"/>
            <a:ext cx="1947672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Meiryo"/>
                <a:ea typeface="Meiryo"/>
              </a:rPr>
              <a:t>リマインド配信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79" y="2615184"/>
            <a:ext cx="1947672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>
                <a:solidFill>
                  <a:srgbClr val="FFFFFF"/>
                </a:solidFill>
                <a:latin typeface="Meiryo"/>
                <a:ea typeface="Meiryo"/>
              </a:rPr>
              <a:t>1週間前・前日・当日朝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232903" y="2532888"/>
            <a:ext cx="237744" cy="310896"/>
          </a:xfrm>
          <a:prstGeom prst="rightArrow">
            <a:avLst/>
          </a:prstGeom>
          <a:solidFill>
            <a:srgbClr val="1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498079" y="2103120"/>
            <a:ext cx="2039112" cy="1188720"/>
          </a:xfrm>
          <a:prstGeom prst="roundRect">
            <a:avLst/>
          </a:prstGeom>
          <a:solidFill>
            <a:srgbClr val="1A2A5E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43800" y="2212848"/>
            <a:ext cx="1947672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Meiryo"/>
                <a:ea typeface="Meiryo"/>
              </a:rPr>
              <a:t>来場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43800" y="2615184"/>
            <a:ext cx="1947672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>
                <a:solidFill>
                  <a:srgbClr val="FFFFFF"/>
                </a:solidFill>
                <a:latin typeface="Meiryo"/>
                <a:ea typeface="Meiryo"/>
              </a:rPr>
              <a:t>受付で予約確認</a:t>
            </a:r>
          </a:p>
          <a:p>
            <a:pPr algn="ctr">
              <a:spcAft>
                <a:spcPts val="200"/>
              </a:spcAft>
            </a:pPr>
            <a:r>
              <a:rPr sz="900" b="0">
                <a:solidFill>
                  <a:srgbClr val="FFFFFF"/>
                </a:solidFill>
                <a:latin typeface="Meiryo"/>
                <a:ea typeface="Meiryo"/>
              </a:rPr>
              <a:t>→お礼・次回案内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8275320" y="3364992"/>
            <a:ext cx="310896" cy="274320"/>
          </a:xfrm>
          <a:prstGeom prst="downArrow">
            <a:avLst/>
          </a:prstGeom>
          <a:solidFill>
            <a:srgbClr val="F3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02920" y="3703320"/>
            <a:ext cx="8897112" cy="868680"/>
          </a:xfrm>
          <a:prstGeom prst="roundRect">
            <a:avLst/>
          </a:prstGeom>
          <a:solidFill>
            <a:srgbClr val="FCEACF"/>
          </a:solidFill>
          <a:ln w="9525">
            <a:solidFill>
              <a:srgbClr val="F39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3703320"/>
            <a:ext cx="8439912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222222"/>
                </a:solidFill>
                <a:latin typeface="Meiryo"/>
                <a:ea typeface="Meiryo"/>
              </a:rPr>
              <a:t>不来場でも終わらせない：翌日に「次回は10/3草津で開催」と振替をご案内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222222"/>
                </a:solidFill>
                <a:latin typeface="Meiryo"/>
                <a:ea typeface="Meiryo"/>
              </a:rPr>
              <a:t>9/26 東近江 → 10/3 草津 → 10/31 水口 → 11/8 彦根 の4会場リレーで、1件の申込を使い切る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4846320"/>
            <a:ext cx="8897112" cy="1097280"/>
          </a:xfrm>
          <a:prstGeom prst="rect">
            <a:avLst/>
          </a:prstGeom>
          <a:solidFill>
            <a:srgbClr val="F1F3F8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4919472"/>
            <a:ext cx="8439912" cy="95097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A2A5E"/>
                </a:solidFill>
                <a:latin typeface="Meiryo"/>
                <a:ea typeface="Meiryo"/>
              </a:rPr>
              <a:t>実装ポイント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222222"/>
                </a:solidFill>
                <a:latin typeface="Meiryo"/>
                <a:ea typeface="Meiryo"/>
              </a:rPr>
              <a:t>・既存の「vivical正社員」公式LINEをそのまま活用（新規開設は不要）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222222"/>
                </a:solidFill>
                <a:latin typeface="Meiryo"/>
                <a:ea typeface="Meiryo"/>
              </a:rPr>
              <a:t>・来場データはオフラインCVとしてMeta・TikTokへ連携し、広告配信の最適化にも還元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92608"/>
            <a:ext cx="82296" cy="402336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56032"/>
            <a:ext cx="6949440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Meiryo"/>
              </a:rPr>
              <a:t>LINE公式アカウント活用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86384"/>
            <a:ext cx="9171432" cy="18288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932688"/>
            <a:ext cx="9902952" cy="512064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932688"/>
            <a:ext cx="9171432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"/>
              </a:rPr>
              <a:t>登録直後から不来場フォローまで自動配信し、「忘れによる不来場」を仕組みで防ぐ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9902952" cy="347472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510528"/>
            <a:ext cx="6858000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  <a:latin typeface="Meiryo"/>
              </a:rPr>
              <a:t>Copyright(c) DYM Co., Ltd.  All Rights Reserved.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691640"/>
          <a:ext cx="9171432" cy="40416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54480"/>
                <a:gridCol w="4846320"/>
                <a:gridCol w="2770632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</a:rPr>
                        <a:t>タイミング</a:t>
                      </a:r>
                    </a:p>
                  </a:txBody>
                  <a:tcPr marL="54864" marR="54864" marT="18288" marB="18288" anchor="ctr">
                    <a:solidFill>
                      <a:srgbClr val="1A2A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</a:rPr>
                        <a:t>配信内容</a:t>
                      </a:r>
                    </a:p>
                  </a:txBody>
                  <a:tcPr marL="54864" marR="54864" marT="18288" marB="18288" anchor="ctr">
                    <a:solidFill>
                      <a:srgbClr val="1A2A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</a:rPr>
                        <a:t>狙い</a:t>
                      </a:r>
                    </a:p>
                  </a:txBody>
                  <a:tcPr marL="54864" marR="54864" marT="18288" marB="18288" anchor="ctr">
                    <a:solidFill>
                      <a:srgbClr val="1A2A5E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22222"/>
                          </a:solidFill>
                          <a:latin typeface="Meiryo"/>
                        </a:rPr>
                        <a:t>申込直後</a:t>
                      </a:r>
                    </a:p>
                  </a:txBody>
                  <a:tcPr marL="54864" marR="54864" marT="18288" marB="18288" anchor="ctr"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受付完了メッセージ＋開催概要・よくある質問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友だち化・不安解消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22222"/>
                          </a:solidFill>
                          <a:latin typeface="Meiryo"/>
                        </a:rPr>
                        <a:t>1週間前</a:t>
                      </a:r>
                    </a:p>
                  </a:txBody>
                  <a:tcPr marL="54864" marR="54864" marT="18288" marB="18288" anchor="ctr"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自己紹介シートの配布・記入のご案内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当日スムーズ入場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22222"/>
                          </a:solidFill>
                          <a:latin typeface="Meiryo"/>
                        </a:rPr>
                        <a:t>前日</a:t>
                      </a:r>
                    </a:p>
                  </a:txBody>
                  <a:tcPr marL="54864" marR="54864" marT="18288" marB="18288" anchor="ctr"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会場アクセス・受付時間(12:30〜)・服装自由のリマインド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不来場の防止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22222"/>
                          </a:solidFill>
                          <a:latin typeface="Meiryo"/>
                        </a:rPr>
                        <a:t>当日朝</a:t>
                      </a:r>
                    </a:p>
                  </a:txBody>
                  <a:tcPr marL="54864" marR="54864" marT="18288" marB="18288" anchor="ctr"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「本日13時開催」＋会場マップ＋500円ギフトのご案内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最後のひと押し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22222"/>
                          </a:solidFill>
                          <a:latin typeface="Meiryo"/>
                        </a:rPr>
                        <a:t>来場翌日</a:t>
                      </a:r>
                    </a:p>
                  </a:txBody>
                  <a:tcPr marL="54864" marR="54864" marT="18288" marB="18288" anchor="ctr"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お礼＋簡易アンケート＋次回会場のご案内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満足度把握・再来場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22222"/>
                          </a:solidFill>
                          <a:latin typeface="Meiryo"/>
                        </a:rPr>
                        <a:t>不来場翌日</a:t>
                      </a:r>
                    </a:p>
                  </a:txBody>
                  <a:tcPr marL="54864" marR="54864" marT="18288" marB="18288" anchor="ctr"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39800"/>
                          </a:solidFill>
                          <a:latin typeface="Meiryo"/>
                        </a:rPr>
                        <a:t>「次回は10/3草津」など次会場への振替のご案内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申込の再活用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22222"/>
                          </a:solidFill>
                          <a:latin typeface="Meiryo"/>
                        </a:rPr>
                        <a:t>以降 週1回</a:t>
                      </a:r>
                    </a:p>
                  </a:txBody>
                  <a:tcPr marL="54864" marR="54864" marT="18288" marB="18288" anchor="ctr"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vivicalの新着求人・特集の定期配信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通年ナーチャリング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5760" y="6199632"/>
            <a:ext cx="9171432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Meiryo"/>
              </a:rPr>
              <a:t>※配信文面・頻度は貴社と協議の上で確定し、ブロック率を確認しながら調整します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510528"/>
            <a:ext cx="502920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/>
            <a:fld id="{B3A051D1-8EB2-484F-9390-44EA58B1BA21}" type="slidenum">
              <a:rPr lang="en-US" altLang="ja-JP" sz="900" b="1">
                <a:solidFill>
                  <a:srgbClr val="FFFFFF"/>
                </a:solidFill>
                <a:latin typeface="Meiryo"/>
              </a:rPr>
              <a:t>21</a:t>
            </a:fld>
            <a:endParaRPr lang="ja-JP" sz="900" b="1">
              <a:solidFill>
                <a:srgbClr val="FFFFFF"/>
              </a:solidFill>
              <a:latin typeface="Meiry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92608"/>
            <a:ext cx="82296" cy="402336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56032"/>
            <a:ext cx="6949440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Meiryo"/>
              </a:rPr>
              <a:t>配信シミュレーション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86384"/>
            <a:ext cx="9171432" cy="18288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932688"/>
            <a:ext cx="9902952" cy="512064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932688"/>
            <a:ext cx="9171432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"/>
              </a:rPr>
              <a:t>来場率を65%→85%へ改善できれば、同じ申込単価のまま来場単価は約24%下がる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9902952" cy="347472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510528"/>
            <a:ext cx="6858000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  <a:latin typeface="Meiryo"/>
              </a:rPr>
              <a:t>Copyright(c) DYM Co., Ltd.  All Rights Reserved.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691640"/>
          <a:ext cx="9171432" cy="40416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39112"/>
                <a:gridCol w="2377440"/>
                <a:gridCol w="2377440"/>
                <a:gridCol w="237744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</a:rPr>
                        <a:t>項目</a:t>
                      </a:r>
                    </a:p>
                  </a:txBody>
                  <a:tcPr marL="54864" marR="54864" marT="18288" marB="18288" anchor="ctr">
                    <a:solidFill>
                      <a:srgbClr val="1A2A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</a:rPr>
                        <a:t>現状（参考値）</a:t>
                      </a:r>
                    </a:p>
                  </a:txBody>
                  <a:tcPr marL="54864" marR="54864" marT="18288" marB="18288" anchor="ctr">
                    <a:solidFill>
                      <a:srgbClr val="1A2A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</a:rPr>
                        <a:t>ご提案①（保守）</a:t>
                      </a:r>
                    </a:p>
                  </a:txBody>
                  <a:tcPr marL="54864" marR="54864" marT="18288" marB="18288" anchor="ctr">
                    <a:solidFill>
                      <a:srgbClr val="1A2A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</a:rPr>
                        <a:t>ご提案②（標準）</a:t>
                      </a:r>
                    </a:p>
                  </a:txBody>
                  <a:tcPr marL="54864" marR="54864" marT="18288" marB="18288" anchor="ctr">
                    <a:solidFill>
                      <a:srgbClr val="1A2A5E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22222"/>
                          </a:solidFill>
                          <a:latin typeface="Meiryo"/>
                        </a:rPr>
                        <a:t>広告費</a:t>
                      </a:r>
                    </a:p>
                  </a:txBody>
                  <a:tcPr marL="54864" marR="54864" marT="18288" marB="18288" anchor="ctr"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80万円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100万円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100万円</a:t>
                      </a:r>
                    </a:p>
                  </a:txBody>
                  <a:tcPr marL="54864" marR="54864" marT="18288" marB="18288" anchor="ctr">
                    <a:solidFill>
                      <a:srgbClr val="FCEAC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22222"/>
                          </a:solidFill>
                          <a:latin typeface="Meiryo"/>
                        </a:rPr>
                        <a:t>申込単価</a:t>
                      </a:r>
                    </a:p>
                  </a:txBody>
                  <a:tcPr marL="54864" marR="54864" marT="18288" marB="18288" anchor="ctr"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10,000円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10,000円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10,000円</a:t>
                      </a:r>
                    </a:p>
                  </a:txBody>
                  <a:tcPr marL="54864" marR="54864" marT="18288" marB="18288" anchor="ctr">
                    <a:solidFill>
                      <a:srgbClr val="FCEAC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22222"/>
                          </a:solidFill>
                          <a:latin typeface="Meiryo"/>
                        </a:rPr>
                        <a:t>申込数</a:t>
                      </a:r>
                    </a:p>
                  </a:txBody>
                  <a:tcPr marL="54864" marR="54864" marT="18288" marB="18288" anchor="ctr"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80件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100件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100件</a:t>
                      </a:r>
                    </a:p>
                  </a:txBody>
                  <a:tcPr marL="54864" marR="54864" marT="18288" marB="18288" anchor="ctr">
                    <a:solidFill>
                      <a:srgbClr val="FCEAC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22222"/>
                          </a:solidFill>
                          <a:latin typeface="Meiryo"/>
                        </a:rPr>
                        <a:t>来場率</a:t>
                      </a:r>
                    </a:p>
                  </a:txBody>
                  <a:tcPr marL="54864" marR="54864" marT="18288" marB="18288" anchor="ctr"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65%（6〜7割）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75%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Meiryo"/>
                        </a:rPr>
                        <a:t>85%</a:t>
                      </a:r>
                    </a:p>
                  </a:txBody>
                  <a:tcPr marL="54864" marR="54864" marT="18288" marB="18288" anchor="ctr">
                    <a:solidFill>
                      <a:srgbClr val="FCEAC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22222"/>
                          </a:solidFill>
                          <a:latin typeface="Meiryo"/>
                        </a:rPr>
                        <a:t>来場数</a:t>
                      </a:r>
                    </a:p>
                  </a:txBody>
                  <a:tcPr marL="54864" marR="54864" marT="18288" marB="18288" anchor="ctr"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52名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75名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Meiryo"/>
                        </a:rPr>
                        <a:t>85名</a:t>
                      </a:r>
                    </a:p>
                  </a:txBody>
                  <a:tcPr marL="54864" marR="54864" marT="18288" marB="18288" anchor="ctr">
                    <a:solidFill>
                      <a:srgbClr val="FCEAC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22222"/>
                          </a:solidFill>
                          <a:latin typeface="Meiryo"/>
                        </a:rPr>
                        <a:t>来場単価</a:t>
                      </a:r>
                    </a:p>
                  </a:txBody>
                  <a:tcPr marL="54864" marR="54864" marT="18288" marB="18288" anchor="ctr"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約15,400円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約13,300円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39800"/>
                          </a:solidFill>
                          <a:latin typeface="Meiryo"/>
                        </a:rPr>
                        <a:t>約11,800円</a:t>
                      </a:r>
                    </a:p>
                  </a:txBody>
                  <a:tcPr marL="54864" marR="54864" marT="18288" marB="18288" anchor="ctr">
                    <a:solidFill>
                      <a:srgbClr val="FCEAC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22222"/>
                          </a:solidFill>
                          <a:latin typeface="Meiryo"/>
                        </a:rPr>
                        <a:t>来場単価の改善率</a:t>
                      </a:r>
                    </a:p>
                  </a:txBody>
                  <a:tcPr marL="54864" marR="54864" marT="18288" marB="18288" anchor="ctr"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ー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▲14%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39800"/>
                          </a:solidFill>
                          <a:latin typeface="Meiryo"/>
                        </a:rPr>
                        <a:t>▲24%</a:t>
                      </a:r>
                    </a:p>
                  </a:txBody>
                  <a:tcPr marL="54864" marR="54864" marT="18288" marB="18288" anchor="ctr">
                    <a:solidFill>
                      <a:srgbClr val="FCEAC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5760" y="6199632"/>
            <a:ext cx="9171432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Meiryo"/>
              </a:rPr>
              <a:t>参照元：現状値は貴社ヒアリング（2026年7月）。来場率75%/85%はLINE施策導入時の仮説値（試算参考値）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510528"/>
            <a:ext cx="502920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/>
            <a:fld id="{B3A051D1-8EB2-484F-9390-44EA58B1BA21}" type="slidenum">
              <a:rPr lang="en-US" altLang="ja-JP" sz="900" b="1">
                <a:solidFill>
                  <a:srgbClr val="FFFFFF"/>
                </a:solidFill>
                <a:latin typeface="Meiryo"/>
              </a:rPr>
              <a:t>21</a:t>
            </a:fld>
            <a:endParaRPr lang="ja-JP" sz="900" b="1">
              <a:solidFill>
                <a:srgbClr val="FFFFFF"/>
              </a:solidFill>
              <a:latin typeface="Meiry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92608"/>
            <a:ext cx="82296" cy="402336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56032"/>
            <a:ext cx="6949440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Meiryo"/>
              </a:rPr>
              <a:t>進行スケジュール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86384"/>
            <a:ext cx="9171432" cy="18288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932688"/>
            <a:ext cx="9902952" cy="512064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932688"/>
            <a:ext cx="9171432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"/>
              </a:rPr>
              <a:t>8/28の受付開始までに動線を構築し、今期4会場すべてで効果検証する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9902952" cy="347472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510528"/>
            <a:ext cx="6858000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  <a:latin typeface="Meiryo"/>
              </a:rPr>
              <a:t>Copyright(c) DYM Co., Ltd.  All Rights Reserved.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737360"/>
          <a:ext cx="9171432" cy="4114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63040"/>
                <a:gridCol w="4846320"/>
                <a:gridCol w="2862072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</a:rPr>
                        <a:t>時期</a:t>
                      </a:r>
                    </a:p>
                  </a:txBody>
                  <a:tcPr marL="54864" marR="54864" marT="18288" marB="18288" anchor="ctr">
                    <a:solidFill>
                      <a:srgbClr val="1A2A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</a:rPr>
                        <a:t>進行内容</a:t>
                      </a:r>
                    </a:p>
                  </a:txBody>
                  <a:tcPr marL="54864" marR="54864" marT="18288" marB="18288" anchor="ctr">
                    <a:solidFill>
                      <a:srgbClr val="1A2A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</a:rPr>
                        <a:t>ご協力いただきたい事項</a:t>
                      </a:r>
                    </a:p>
                  </a:txBody>
                  <a:tcPr marL="54864" marR="54864" marT="18288" marB="18288" anchor="ctr">
                    <a:solidFill>
                      <a:srgbClr val="1A2A5E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22222"/>
                          </a:solidFill>
                          <a:latin typeface="Meiryo"/>
                        </a:rPr>
                        <a:t>8月中旬</a:t>
                      </a:r>
                    </a:p>
                  </a:txBody>
                  <a:tcPr marL="54864" marR="54864" marT="18288" marB="18288" anchor="ctr"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ご発注・キックオフ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ご発注のご判断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22222"/>
                          </a:solidFill>
                          <a:latin typeface="Meiryo"/>
                        </a:rPr>
                        <a:t>8月中〜下旬</a:t>
                      </a:r>
                    </a:p>
                  </a:txBody>
                  <a:tcPr marL="54864" marR="54864" marT="18288" marB="18288" anchor="ctr"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媒体アカウント・計測設計（Meta/TikTok・オフラインCV）</a:t>
                      </a:r>
                    </a:p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LINE動線構築（完了ページ遷移・ステップ配信設定）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公式LINEの管理権限共有</a:t>
                      </a:r>
                    </a:p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申込完了ページへのタグ設置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39800"/>
                          </a:solidFill>
                          <a:latin typeface="Meiryo"/>
                        </a:rPr>
                        <a:t>8/28(金)</a:t>
                      </a:r>
                    </a:p>
                  </a:txBody>
                  <a:tcPr marL="54864" marR="54864" marT="18288" marB="18288" anchor="ctr"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Meiryo"/>
                        </a:rPr>
                        <a:t>エントリー受付開始 ＝ 広告配信・LINE動線 同時稼働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ー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22222"/>
                          </a:solidFill>
                          <a:latin typeface="Meiryo"/>
                        </a:rPr>
                        <a:t>9/26〜11/8</a:t>
                      </a:r>
                    </a:p>
                  </a:txBody>
                  <a:tcPr marL="54864" marR="54864" marT="18288" marB="18288" anchor="ctr"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4会場で運用（東近江→草津→水口→彦根）</a:t>
                      </a:r>
                    </a:p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会場ごとに来場実測値でPDCA・SIM更新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会場での来場実績の共有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22222"/>
                          </a:solidFill>
                          <a:latin typeface="Meiryo"/>
                        </a:rPr>
                        <a:t>12月〜</a:t>
                      </a:r>
                    </a:p>
                  </a:txBody>
                  <a:tcPr marL="54864" marR="54864" marT="18288" marB="18288" anchor="ctr"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通年ナーチャリング・メディア運営強化フェーズへ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次期開催計画のご共有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5760" y="6199632"/>
            <a:ext cx="9171432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Meiryo"/>
              </a:rPr>
              <a:t>※スケジュールはご発注時期により前後します。8/28受付開始への間に合わせを最優先します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510528"/>
            <a:ext cx="502920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/>
            <a:fld id="{B3A051D1-8EB2-484F-9390-44EA58B1BA21}" type="slidenum">
              <a:rPr lang="en-US" altLang="ja-JP" sz="900" b="1">
                <a:solidFill>
                  <a:srgbClr val="FFFFFF"/>
                </a:solidFill>
                <a:latin typeface="Meiryo"/>
              </a:rPr>
              <a:t>21</a:t>
            </a:fld>
            <a:endParaRPr lang="ja-JP" sz="900" b="1">
              <a:solidFill>
                <a:srgbClr val="FFFFFF"/>
              </a:solidFill>
              <a:latin typeface="Meiry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86504C-5147-787D-2380-F39B7143B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9A588532-12F9-06DF-F5FA-4B4D2B87DF7D}"/>
              </a:ext>
            </a:extLst>
          </p:cNvPr>
          <p:cNvSpPr txBox="1"/>
          <p:nvPr/>
        </p:nvSpPr>
        <p:spPr>
          <a:xfrm>
            <a:off x="0" y="3092281"/>
            <a:ext cx="9906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b="1" spc="740" dirty="0">
                <a:solidFill>
                  <a:schemeClr val="tx2">
                    <a:lumMod val="7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 UI" panose="020B0604030504040204" pitchFamily="50" charset="-128"/>
              </a:rPr>
              <a:t>メディア運営強化（＋α）</a:t>
            </a:r>
            <a:endParaRPr kumimoji="1" lang="en-US" altLang="ja-JP" sz="3200" b="1" spc="740" dirty="0">
              <a:solidFill>
                <a:schemeClr val="tx2">
                  <a:lumMod val="7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FAD927B4-5023-01A9-4B5D-7E6FF0874F88}"/>
              </a:ext>
            </a:extLst>
          </p:cNvPr>
          <p:cNvSpPr/>
          <p:nvPr/>
        </p:nvSpPr>
        <p:spPr>
          <a:xfrm>
            <a:off x="0" y="1134209"/>
            <a:ext cx="3807069" cy="580292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" name="二等辺三角形 2">
            <a:extLst>
              <a:ext uri="{FF2B5EF4-FFF2-40B4-BE49-F238E27FC236}">
                <a16:creationId xmlns:a16="http://schemas.microsoft.com/office/drawing/2014/main" id="{73217C47-97C7-0499-D2AF-59EC1F23E8E6}"/>
              </a:ext>
            </a:extLst>
          </p:cNvPr>
          <p:cNvSpPr/>
          <p:nvPr/>
        </p:nvSpPr>
        <p:spPr>
          <a:xfrm>
            <a:off x="3437792" y="1134209"/>
            <a:ext cx="738553" cy="580292"/>
          </a:xfrm>
          <a:prstGeom prst="triangl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870566C-24C0-AE77-16D9-C3D165ABABEB}"/>
              </a:ext>
            </a:extLst>
          </p:cNvPr>
          <p:cNvSpPr txBox="1"/>
          <p:nvPr/>
        </p:nvSpPr>
        <p:spPr>
          <a:xfrm>
            <a:off x="287216" y="1266065"/>
            <a:ext cx="31154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4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 UI" panose="020B0604030504040204" pitchFamily="50" charset="-128"/>
              </a:rPr>
              <a:t>Chapter.3</a:t>
            </a:r>
            <a:endParaRPr kumimoji="1" lang="ja-JP" altLang="en-US" sz="14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A21CA16B-DE31-E5A6-189A-38352C2E583D}"/>
              </a:ext>
            </a:extLst>
          </p:cNvPr>
          <p:cNvSpPr/>
          <p:nvPr/>
        </p:nvSpPr>
        <p:spPr>
          <a:xfrm>
            <a:off x="0" y="0"/>
            <a:ext cx="9906000" cy="6926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687349624"/>
      </p:ext>
    </p:extLst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92608"/>
            <a:ext cx="82296" cy="402336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56032"/>
            <a:ext cx="6949440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Meiryo"/>
              </a:rPr>
              <a:t>メディア運営強化（＋α）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86384"/>
            <a:ext cx="9171432" cy="18288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932688"/>
            <a:ext cx="9902952" cy="512064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932688"/>
            <a:ext cx="9171432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"/>
              </a:rPr>
              <a:t>掲載607件の自社メディアを、広告に依存しない通年の応募基盤へ育てる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9902952" cy="347472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510528"/>
            <a:ext cx="6858000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  <a:latin typeface="Meiryo"/>
              </a:rPr>
              <a:t>Copyright(c) DYM Co., Ltd.  All Rights Reserved.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2514600"/>
          <a:ext cx="9171432" cy="25968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3120"/>
                <a:gridCol w="4206240"/>
                <a:gridCol w="2862072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</a:rPr>
                        <a:t>打ち手</a:t>
                      </a:r>
                    </a:p>
                  </a:txBody>
                  <a:tcPr marL="54864" marR="54864" marT="18288" marB="18288" anchor="ctr">
                    <a:solidFill>
                      <a:srgbClr val="1A2A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</a:rPr>
                        <a:t>内容</a:t>
                      </a:r>
                    </a:p>
                  </a:txBody>
                  <a:tcPr marL="54864" marR="54864" marT="18288" marB="18288" anchor="ctr">
                    <a:solidFill>
                      <a:srgbClr val="1A2A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</a:rPr>
                        <a:t>期待効果</a:t>
                      </a:r>
                    </a:p>
                  </a:txBody>
                  <a:tcPr marL="54864" marR="54864" marT="18288" marB="18288" anchor="ctr">
                    <a:solidFill>
                      <a:srgbClr val="1A2A5E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22222"/>
                          </a:solidFill>
                          <a:latin typeface="Meiryo"/>
                        </a:rPr>
                        <a:t>検索流入の拡大（SEO）</a:t>
                      </a:r>
                    </a:p>
                  </a:txBody>
                  <a:tcPr marL="54864" marR="54864" marT="18288" marB="18288" anchor="ctr"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「職種×市区町村」ページの拡充・サイト内部構造の最適化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地域求人キーワードの受け皿を最大化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22222"/>
                          </a:solidFill>
                          <a:latin typeface="Meiryo"/>
                        </a:rPr>
                        <a:t>コンテンツ強化</a:t>
                      </a:r>
                    </a:p>
                  </a:txBody>
                  <a:tcPr marL="54864" marR="54864" marT="18288" marB="18288" anchor="ctr"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面接対策などの記事から、フェア申込・LINE登録へ回遊する導線設計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記事読者を応募・友だちへ転換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22222"/>
                          </a:solidFill>
                          <a:latin typeface="Meiryo"/>
                        </a:rPr>
                        <a:t>応募CVR改善</a:t>
                      </a:r>
                    </a:p>
                  </a:txBody>
                  <a:tcPr marL="54864" marR="54864" marT="18288" marB="18288" anchor="ctr"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応募フォームの改善・LINE応募導線の追加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サイト訪問者もLINEで資産化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5760" y="6199632"/>
            <a:ext cx="9171432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Meiryo"/>
              </a:rPr>
              <a:t>参照元：求人vivical滋賀 公式サイト（2026年8月時点・掲載607件）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510528"/>
            <a:ext cx="502920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/>
            <a:fld id="{B3A051D1-8EB2-484F-9390-44EA58B1BA21}" type="slidenum">
              <a:rPr lang="en-US" altLang="ja-JP" sz="900" b="1">
                <a:solidFill>
                  <a:srgbClr val="FFFFFF"/>
                </a:solidFill>
                <a:latin typeface="Meiryo"/>
              </a:rPr>
              <a:t>21</a:t>
            </a:fld>
            <a:endParaRPr lang="ja-JP" sz="900" b="1">
              <a:solidFill>
                <a:srgbClr val="FFFFFF"/>
              </a:solidFill>
              <a:latin typeface="Meiryo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65760" y="1691640"/>
            <a:ext cx="9171432" cy="640080"/>
          </a:xfrm>
          <a:prstGeom prst="rect">
            <a:avLst/>
          </a:prstGeom>
          <a:solidFill>
            <a:srgbClr val="F1F3F8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691640"/>
            <a:ext cx="8805672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2A5E"/>
                </a:solidFill>
                <a:latin typeface="Meiryo"/>
                <a:ea typeface="Meiryo"/>
              </a:rPr>
              <a:t>現状：求人vivical滋賀 ＝ 掲載607件・15職種・滋賀全域＋近隣県。会員登録・応募導線、ノウハウ記事を保有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5349240"/>
            <a:ext cx="9171432" cy="566928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5349240"/>
            <a:ext cx="8805672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Meiryo"/>
                <a:ea typeface="Meiryo"/>
              </a:rPr>
              <a:t>まずは無料のサイト診断（アクセス・流入構成の拝見）から、具体的な運用プランをご提示します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101;p37"/>
          <p:cNvSpPr/>
          <p:nvPr/>
        </p:nvSpPr>
        <p:spPr>
          <a:xfrm>
            <a:off x="300536" y="841196"/>
            <a:ext cx="5377057" cy="447277"/>
          </a:xfrm>
          <a:prstGeom prst="roundRect">
            <a:avLst>
              <a:gd name="adj" fmla="val 8900"/>
            </a:avLst>
          </a:prstGeom>
          <a:solidFill>
            <a:schemeClr val="dk2"/>
          </a:solidFill>
          <a:ln w="254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ja-JP" sz="1400" b="1" i="0" u="none" strike="noStrike" cap="non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【無償対応】制作可能なデザイン数の目安（3か月単位）</a:t>
            </a:r>
            <a:endParaRPr sz="1400" b="1" i="0" u="none" strike="noStrike" cap="none" dirty="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" name="Google Shape;1102;p37"/>
          <p:cNvSpPr/>
          <p:nvPr/>
        </p:nvSpPr>
        <p:spPr>
          <a:xfrm>
            <a:off x="5698853" y="874212"/>
            <a:ext cx="4284731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ja-JP" sz="1100" b="1" i="0" u="none" strike="noStrike" cap="none">
                <a:solidFill>
                  <a:schemeClr val="dk2"/>
                </a:solidFill>
                <a:latin typeface="Meiryo"/>
                <a:ea typeface="Meiryo"/>
                <a:cs typeface="Meiryo"/>
                <a:sym typeface="Meiryo"/>
              </a:rPr>
              <a:t>月額広告費用に対して手数料率20％をベースとして算出しております。</a:t>
            </a:r>
            <a:endParaRPr sz="1100" b="1" i="0" u="none" strike="noStrike" cap="none" dirty="0">
              <a:solidFill>
                <a:schemeClr val="dk2"/>
              </a:solidFill>
              <a:latin typeface="Meiryo"/>
              <a:ea typeface="Meiryo"/>
              <a:cs typeface="Meiryo"/>
              <a:sym typeface="Meiry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ja-JP" sz="1100" b="1" i="0" u="none" strike="noStrike" cap="none">
                <a:solidFill>
                  <a:srgbClr val="FF0000"/>
                </a:solidFill>
                <a:latin typeface="Meiryo"/>
                <a:ea typeface="Meiryo"/>
                <a:cs typeface="Meiryo"/>
                <a:sym typeface="Meiryo"/>
              </a:rPr>
              <a:t>下記対応本数はあくまで</a:t>
            </a:r>
            <a:r>
              <a:rPr lang="ja-JP" sz="1100" b="1" i="0" u="sng" strike="noStrike" cap="none">
                <a:solidFill>
                  <a:srgbClr val="FF0000"/>
                </a:solidFill>
                <a:latin typeface="Meiryo"/>
                <a:ea typeface="Meiryo"/>
                <a:cs typeface="Meiryo"/>
                <a:sym typeface="Meiryo"/>
              </a:rPr>
              <a:t>上限参考</a:t>
            </a:r>
            <a:r>
              <a:rPr lang="ja-JP" sz="1100" b="1" i="0" u="none" strike="noStrike" cap="none">
                <a:solidFill>
                  <a:schemeClr val="dk2"/>
                </a:solidFill>
                <a:latin typeface="Meiryo"/>
                <a:ea typeface="Meiryo"/>
                <a:cs typeface="Meiryo"/>
                <a:sym typeface="Meiryo"/>
              </a:rPr>
              <a:t>となり、効果により上下します。</a:t>
            </a:r>
            <a:endParaRPr sz="1100" b="1" i="0" u="none" strike="noStrike" cap="none" dirty="0">
              <a:solidFill>
                <a:schemeClr val="dk2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graphicFrame>
        <p:nvGraphicFramePr>
          <p:cNvPr id="4" name="Google Shape;1103;p37"/>
          <p:cNvGraphicFramePr/>
          <p:nvPr/>
        </p:nvGraphicFramePr>
        <p:xfrm>
          <a:off x="562955" y="1496289"/>
          <a:ext cx="3327400" cy="143787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663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3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7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ja-JP" sz="1100" b="1" i="0" u="none" strike="noStrike" cap="non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運用金額/月</a:t>
                      </a:r>
                      <a:endParaRPr sz="1100" b="1" i="0" u="none" strike="noStrike" cap="none" dirty="0">
                        <a:solidFill>
                          <a:srgbClr val="FFFFFF"/>
                        </a:solidFill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ja-JP" sz="1100" b="1" i="0" u="none" strike="noStrike" cap="non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付与Pt/期間</a:t>
                      </a:r>
                      <a:endParaRPr sz="1100" b="1" i="0" u="none" strike="noStrike" cap="none" dirty="0">
                        <a:solidFill>
                          <a:srgbClr val="FFFFFF"/>
                        </a:solidFill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ja-JP" sz="11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¥1,000,000</a:t>
                      </a:r>
                      <a:endParaRPr sz="1400" u="none" strike="noStrike" cap="none" dirty="0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ja-JP" sz="11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15</a:t>
                      </a:r>
                      <a:endParaRPr sz="1400" u="none" strike="noStrike" cap="none" dirty="0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7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ja-JP" sz="11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¥3,000,000</a:t>
                      </a:r>
                      <a:endParaRPr sz="1400" u="none" strike="noStrike" cap="none" dirty="0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ja-JP" sz="11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45</a:t>
                      </a:r>
                      <a:endParaRPr sz="1400" u="none" strike="noStrike" cap="none" dirty="0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7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ja-JP" sz="11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¥5,000,000</a:t>
                      </a:r>
                      <a:endParaRPr sz="1400" u="none" strike="noStrike" cap="none" dirty="0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ja-JP" sz="11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75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7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ja-JP" sz="11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¥10,000,000</a:t>
                      </a:r>
                      <a:endParaRPr sz="1400" u="none" strike="noStrike" cap="none" dirty="0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ja-JP" sz="11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150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Google Shape;1104;p37"/>
          <p:cNvSpPr txBox="1"/>
          <p:nvPr/>
        </p:nvSpPr>
        <p:spPr>
          <a:xfrm>
            <a:off x="210938" y="3186537"/>
            <a:ext cx="513414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ja-JP" sz="1200" b="1" i="0" u="none" strike="noStrike" cap="non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▽ご利用イメージ </a:t>
            </a:r>
            <a:r>
              <a:rPr lang="ja-JP" sz="1200" b="1" i="0" u="none" strike="noStrike" cap="none">
                <a:solidFill>
                  <a:srgbClr val="FF0000"/>
                </a:solidFill>
                <a:latin typeface="Meiryo"/>
                <a:ea typeface="Meiryo"/>
                <a:cs typeface="Meiryo"/>
                <a:sym typeface="Meiryo"/>
              </a:rPr>
              <a:t>（※最低３ヶ月~ の契約とさせていただきます）</a:t>
            </a:r>
            <a:endParaRPr sz="1200" b="1" i="0" u="none" strike="noStrike" cap="none" dirty="0">
              <a:solidFill>
                <a:srgbClr val="FF0000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graphicFrame>
        <p:nvGraphicFramePr>
          <p:cNvPr id="6" name="Google Shape;1105;p37"/>
          <p:cNvGraphicFramePr/>
          <p:nvPr/>
        </p:nvGraphicFramePr>
        <p:xfrm>
          <a:off x="562957" y="3516283"/>
          <a:ext cx="8543900" cy="243562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09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8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13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13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67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84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b="1" i="0" u="none" strike="noStrike" cap="non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運用金額/月</a:t>
                      </a:r>
                      <a:endParaRPr sz="1400" u="none" strike="noStrike" cap="none" dirty="0"/>
                    </a:p>
                  </a:txBody>
                  <a:tcPr marL="7475" marR="7475" marT="74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b="1" i="0" u="none" strike="noStrike" cap="non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付与Pt/月別</a:t>
                      </a:r>
                      <a:endParaRPr sz="900" b="1" i="0" u="none" strike="noStrike" cap="none" dirty="0">
                        <a:solidFill>
                          <a:srgbClr val="FFFFFF"/>
                        </a:solidFill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L="7475" marR="7475" marT="74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b="1" i="0" u="none" strike="noStrike" cap="non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1ヶ月目</a:t>
                      </a:r>
                      <a:endParaRPr sz="1400" u="none" strike="noStrike" cap="none" dirty="0"/>
                    </a:p>
                  </a:txBody>
                  <a:tcPr marL="7475" marR="7475" marT="74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b="1" i="0" u="none" strike="noStrike" cap="non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2ヶ月目</a:t>
                      </a:r>
                      <a:endParaRPr sz="1400" u="none" strike="noStrike" cap="none" dirty="0"/>
                    </a:p>
                  </a:txBody>
                  <a:tcPr marL="7475" marR="7475" marT="74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b="1" i="0" u="none" strike="noStrike" cap="non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3ヶ月目</a:t>
                      </a:r>
                      <a:endParaRPr sz="1400" u="none" strike="noStrike" cap="none" dirty="0"/>
                    </a:p>
                  </a:txBody>
                  <a:tcPr marL="7475" marR="7475" marT="74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b="1" i="0" u="none" strike="noStrike" cap="non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使用Pt/期間</a:t>
                      </a:r>
                      <a:endParaRPr sz="1400" u="none" strike="noStrike" cap="none" dirty="0"/>
                    </a:p>
                  </a:txBody>
                  <a:tcPr marL="7475" marR="7475" marT="74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6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¥1,000,000</a:t>
                      </a:r>
                      <a:endParaRPr sz="1400" u="none" strike="noStrike" cap="none" dirty="0"/>
                    </a:p>
                  </a:txBody>
                  <a:tcPr marL="7475" marR="7475" marT="74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5</a:t>
                      </a:r>
                      <a:endParaRPr sz="900" b="0" i="0" u="none" strike="noStrike" cap="none" dirty="0">
                        <a:solidFill>
                          <a:srgbClr val="000000"/>
                        </a:solidFill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L="7475" marR="7475" marT="74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バナー5パターン(5pt)</a:t>
                      </a:r>
                      <a:endParaRPr sz="1400" u="none" strike="noStrike" cap="none" dirty="0"/>
                    </a:p>
                  </a:txBody>
                  <a:tcPr marL="7475" marR="7475" marT="74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動画フルスクラッチ(10pt)</a:t>
                      </a:r>
                      <a:endParaRPr sz="1400" u="none" strike="noStrike" cap="none" dirty="0"/>
                    </a:p>
                  </a:txBody>
                  <a:tcPr marL="7475" marR="7475" marT="74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なし</a:t>
                      </a:r>
                      <a:endParaRPr sz="1400" u="none" strike="noStrike" cap="none" dirty="0"/>
                    </a:p>
                  </a:txBody>
                  <a:tcPr marL="7475" marR="7475" marT="74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b="0" i="0" u="none" strike="noStrike" cap="none">
                          <a:solidFill>
                            <a:srgbClr val="FF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15</a:t>
                      </a:r>
                      <a:endParaRPr sz="1400" u="none" strike="noStrike" cap="none" dirty="0"/>
                    </a:p>
                  </a:txBody>
                  <a:tcPr marL="7475" marR="7475" marT="74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6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¥1,000,000</a:t>
                      </a:r>
                      <a:endParaRPr sz="1400" u="none" strike="noStrike" cap="none" dirty="0"/>
                    </a:p>
                  </a:txBody>
                  <a:tcPr marL="7475" marR="7475" marT="74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5</a:t>
                      </a:r>
                      <a:endParaRPr sz="900" b="0" i="0" u="none" strike="noStrike" cap="none" dirty="0">
                        <a:solidFill>
                          <a:srgbClr val="000000"/>
                        </a:solidFill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L="7475" marR="7475" marT="74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バナー7パターン(7pt)</a:t>
                      </a:r>
                      <a:endParaRPr sz="1400" u="none" strike="noStrike" cap="none" dirty="0"/>
                    </a:p>
                  </a:txBody>
                  <a:tcPr marL="7475" marR="7475" marT="74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バナー5パターン(5pt)</a:t>
                      </a:r>
                      <a:endParaRPr sz="1400" u="none" strike="noStrike" cap="none" dirty="0"/>
                    </a:p>
                  </a:txBody>
                  <a:tcPr marL="7475" marR="7475" marT="74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バナー3パターン(3pt)</a:t>
                      </a:r>
                      <a:endParaRPr sz="1400" u="none" strike="noStrike" cap="none" dirty="0"/>
                    </a:p>
                  </a:txBody>
                  <a:tcPr marL="7475" marR="7475" marT="74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b="0" i="0" u="none" strike="noStrike" cap="none">
                          <a:solidFill>
                            <a:srgbClr val="FF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15</a:t>
                      </a:r>
                      <a:endParaRPr sz="1400" u="none" strike="noStrike" cap="none" dirty="0"/>
                    </a:p>
                  </a:txBody>
                  <a:tcPr marL="7475" marR="7475" marT="74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6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¥3,000,000</a:t>
                      </a:r>
                      <a:endParaRPr sz="1400" u="none" strike="noStrike" cap="none" dirty="0"/>
                    </a:p>
                  </a:txBody>
                  <a:tcPr marL="7475" marR="7475" marT="74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15</a:t>
                      </a:r>
                      <a:endParaRPr sz="900" b="0" i="0" u="none" strike="noStrike" cap="none" dirty="0">
                        <a:solidFill>
                          <a:srgbClr val="000000"/>
                        </a:solidFill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L="7475" marR="7475" marT="74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バナー5パターン(5pt)</a:t>
                      </a:r>
                      <a:br>
                        <a:rPr lang="ja-JP" sz="9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</a:br>
                      <a:r>
                        <a:rPr lang="ja-JP" sz="9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記事LPフルスクラッチ(15pt)</a:t>
                      </a:r>
                      <a:endParaRPr sz="1400" u="none" strike="noStrike" cap="none" dirty="0"/>
                    </a:p>
                  </a:txBody>
                  <a:tcPr marL="7475" marR="7475" marT="74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動画フルスクラッチ(10pt)</a:t>
                      </a:r>
                      <a:br>
                        <a:rPr lang="ja-JP" sz="9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</a:br>
                      <a:r>
                        <a:rPr lang="ja-JP" sz="9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記事LP修正(5pt)</a:t>
                      </a:r>
                      <a:endParaRPr sz="1400" u="none" strike="noStrike" cap="none" dirty="0"/>
                    </a:p>
                  </a:txBody>
                  <a:tcPr marL="7475" marR="7475" marT="74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バナー5パターン(5pt)</a:t>
                      </a:r>
                      <a:br>
                        <a:rPr lang="ja-JP" sz="9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</a:br>
                      <a:r>
                        <a:rPr lang="ja-JP" sz="9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動画修正(5pt)</a:t>
                      </a:r>
                      <a:endParaRPr sz="1400" u="none" strike="noStrike" cap="none" dirty="0"/>
                    </a:p>
                  </a:txBody>
                  <a:tcPr marL="7475" marR="7475" marT="74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b="0" i="0" u="none" strike="noStrike" cap="none">
                          <a:solidFill>
                            <a:srgbClr val="FF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45</a:t>
                      </a:r>
                      <a:endParaRPr sz="1400" u="none" strike="noStrike" cap="none" dirty="0"/>
                    </a:p>
                  </a:txBody>
                  <a:tcPr marL="7475" marR="7475" marT="74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6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¥5,000,000</a:t>
                      </a:r>
                      <a:endParaRPr sz="1400" u="none" strike="noStrike" cap="none" dirty="0"/>
                    </a:p>
                  </a:txBody>
                  <a:tcPr marL="7475" marR="7475" marT="74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25</a:t>
                      </a:r>
                      <a:endParaRPr sz="900" b="0" i="0" u="none" strike="noStrike" cap="none" dirty="0">
                        <a:solidFill>
                          <a:srgbClr val="000000"/>
                        </a:solidFill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L="7475" marR="7475" marT="74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バナー10パターン(10pt)</a:t>
                      </a:r>
                      <a:br>
                        <a:rPr lang="ja-JP" sz="9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</a:br>
                      <a:r>
                        <a:rPr lang="ja-JP" sz="9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記事LPフルスクラッチ(15pt)</a:t>
                      </a:r>
                      <a:endParaRPr sz="1400" u="none" strike="noStrike" cap="none" dirty="0"/>
                    </a:p>
                  </a:txBody>
                  <a:tcPr marL="7475" marR="7475" marT="74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バナー10パターン(10pt)</a:t>
                      </a:r>
                      <a:br>
                        <a:rPr lang="ja-JP" sz="9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</a:br>
                      <a:r>
                        <a:rPr lang="ja-JP" sz="9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動画フルスクラッチ(10pt)</a:t>
                      </a:r>
                      <a:br>
                        <a:rPr lang="ja-JP" sz="9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</a:br>
                      <a:r>
                        <a:rPr lang="ja-JP" sz="9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記事LP修正(5pt)</a:t>
                      </a:r>
                      <a:endParaRPr sz="1400" u="none" strike="noStrike" cap="none" dirty="0"/>
                    </a:p>
                  </a:txBody>
                  <a:tcPr marL="7475" marR="7475" marT="74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バナー5パターン(5pt)</a:t>
                      </a:r>
                      <a:br>
                        <a:rPr lang="ja-JP" sz="9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</a:br>
                      <a:r>
                        <a:rPr lang="ja-JP" sz="9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記事LPフルスクラッチ(15pt)</a:t>
                      </a:r>
                      <a:br>
                        <a:rPr lang="ja-JP" sz="9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</a:br>
                      <a:r>
                        <a:rPr lang="ja-JP" sz="9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動画修正(5pt)</a:t>
                      </a:r>
                      <a:endParaRPr sz="1400" u="none" strike="noStrike" cap="none" dirty="0"/>
                    </a:p>
                  </a:txBody>
                  <a:tcPr marL="7475" marR="7475" marT="74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b="0" i="0" u="none" strike="noStrike" cap="none">
                          <a:solidFill>
                            <a:srgbClr val="FF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75</a:t>
                      </a:r>
                      <a:endParaRPr sz="900" b="0" i="0" u="none" strike="noStrike" cap="none" dirty="0">
                        <a:solidFill>
                          <a:srgbClr val="FF0000"/>
                        </a:solidFill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L="7475" marR="7475" marT="74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" name="Google Shape;1106;p37"/>
          <p:cNvGraphicFramePr/>
          <p:nvPr/>
        </p:nvGraphicFramePr>
        <p:xfrm>
          <a:off x="4277185" y="1505389"/>
          <a:ext cx="4829700" cy="14287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812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2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5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8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ja-JP" sz="1100" b="1" i="0" u="none" strike="noStrike" cap="non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制作メニュー</a:t>
                      </a:r>
                      <a:endParaRPr sz="1100" b="1" i="0" u="none" strike="noStrike" cap="none" dirty="0">
                        <a:solidFill>
                          <a:srgbClr val="FFFFFF"/>
                        </a:solidFill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ja-JP" sz="1100" b="1" i="0" u="none" strike="noStrike" cap="non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備考</a:t>
                      </a:r>
                      <a:endParaRPr sz="1400" u="none" strike="noStrike" cap="none" dirty="0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ja-JP" sz="1100" b="1" i="0" u="none" strike="noStrike" cap="non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必要Pt</a:t>
                      </a:r>
                      <a:endParaRPr sz="1400" u="none" strike="noStrike" cap="none" dirty="0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ja-JP" sz="11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バナー制作</a:t>
                      </a:r>
                      <a:endParaRPr sz="1400" u="none" strike="noStrike" cap="none" dirty="0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ja-JP" sz="11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（リサイズ込）</a:t>
                      </a:r>
                      <a:endParaRPr sz="1400" u="none" strike="noStrike" cap="none" dirty="0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ja-JP" sz="11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1</a:t>
                      </a:r>
                      <a:endParaRPr sz="1400" u="none" strike="noStrike" cap="none" dirty="0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ja-JP" sz="11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記事LP制作</a:t>
                      </a:r>
                      <a:endParaRPr sz="1400" u="none" strike="noStrike" cap="none" dirty="0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ja-JP" sz="11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（フルスクラッチ）</a:t>
                      </a:r>
                      <a:endParaRPr sz="1400" u="none" strike="noStrike" cap="none" dirty="0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ja-JP" sz="11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15</a:t>
                      </a:r>
                      <a:endParaRPr sz="1400" u="none" strike="noStrike" cap="none" dirty="0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ja-JP" sz="11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記事LP修正</a:t>
                      </a:r>
                      <a:endParaRPr sz="1400" u="none" strike="noStrike" cap="none" dirty="0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ja-JP" sz="11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（パターン複製）</a:t>
                      </a:r>
                      <a:endParaRPr sz="1400" u="none" strike="noStrike" cap="none" dirty="0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ja-JP" sz="11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5</a:t>
                      </a:r>
                      <a:endParaRPr sz="1400" u="none" strike="noStrike" cap="none" dirty="0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ja-JP" sz="11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動画制作</a:t>
                      </a:r>
                      <a:endParaRPr sz="1400" u="none" strike="noStrike" cap="none" dirty="0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ja-JP" sz="11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（フルスクラッチ）</a:t>
                      </a:r>
                      <a:endParaRPr sz="1400" u="none" strike="noStrike" cap="none" dirty="0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ja-JP" sz="11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10</a:t>
                      </a:r>
                      <a:endParaRPr sz="1400" u="none" strike="noStrike" cap="none" dirty="0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ja-JP" sz="11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動画修正</a:t>
                      </a:r>
                      <a:endParaRPr sz="1400" u="none" strike="noStrike" cap="none" dirty="0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ja-JP" sz="11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（リサイズなど）</a:t>
                      </a:r>
                      <a:endParaRPr sz="1400" u="none" strike="noStrike" cap="none" dirty="0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ja-JP" sz="11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5</a:t>
                      </a:r>
                      <a:endParaRPr sz="1400" u="none" strike="noStrike" cap="none" dirty="0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Google Shape;1107;p37"/>
          <p:cNvSpPr/>
          <p:nvPr/>
        </p:nvSpPr>
        <p:spPr>
          <a:xfrm>
            <a:off x="568265" y="6004659"/>
            <a:ext cx="664418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ja-JP" sz="1100" b="1" i="0" u="none" strike="noStrike" cap="non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※ 3ヶ月を1契約期間とし、Pt持ち越しは原則行いません。</a:t>
            </a:r>
            <a:endParaRPr sz="1100" b="1" i="0" u="none" strike="noStrike" cap="none" dirty="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ja-JP" sz="1100" b="1" i="0" u="none" strike="noStrike" cap="non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※ 4ヶ月目以降に関しては、再度ご相談の上で無償対策量を決定いたします。</a:t>
            </a:r>
            <a:endParaRPr sz="1100" b="1" i="0" u="none" strike="noStrike" cap="none" dirty="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1" name="テキスト ボックス 47">
            <a:extLst>
              <a:ext uri="{FF2B5EF4-FFF2-40B4-BE49-F238E27FC236}">
                <a16:creationId xmlns:a16="http://schemas.microsoft.com/office/drawing/2014/main" id="{EEA0A5E5-1C00-480C-A6B5-B757AC55500B}"/>
              </a:ext>
            </a:extLst>
          </p:cNvPr>
          <p:cNvSpPr txBox="1">
            <a:spLocks noChangeArrowheads="1"/>
          </p:cNvSpPr>
          <p:nvPr/>
        </p:nvSpPr>
        <p:spPr>
          <a:xfrm>
            <a:off x="538802" y="131742"/>
            <a:ext cx="707849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ctr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>
              <a:defRPr kumimoji="1" sz="28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>
              <a:defRPr kumimoji="1"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>
              <a:defRPr kumimoji="1"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>
              <a:defRPr kumimoji="1"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fontAlgn="auto">
              <a:spcBef>
                <a:spcPct val="20000"/>
              </a:spcBef>
              <a:spcAft>
                <a:spcPts val="0"/>
              </a:spcAft>
            </a:pPr>
            <a:r>
              <a:rPr lang="ja-JP" altLang="en-US" sz="1600" b="1" spc="277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charset="0"/>
              </a:rPr>
              <a:t>クリエイティブに関して</a:t>
            </a:r>
          </a:p>
        </p:txBody>
      </p:sp>
    </p:spTree>
    <p:extLst>
      <p:ext uri="{BB962C8B-B14F-4D97-AF65-F5344CB8AC3E}">
        <p14:creationId xmlns:p14="http://schemas.microsoft.com/office/powerpoint/2010/main" val="25390152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A9D71-896C-7AE2-51E3-267E422B7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CF62979-289B-7D31-00DC-E435CBDAA4E1}"/>
              </a:ext>
            </a:extLst>
          </p:cNvPr>
          <p:cNvSpPr txBox="1"/>
          <p:nvPr/>
        </p:nvSpPr>
        <p:spPr>
          <a:xfrm>
            <a:off x="2302379" y="251652"/>
            <a:ext cx="5153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2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A84F379E-92FC-0EFC-0648-4BDEB53E703A}"/>
              </a:ext>
            </a:extLst>
          </p:cNvPr>
          <p:cNvSpPr/>
          <p:nvPr/>
        </p:nvSpPr>
        <p:spPr>
          <a:xfrm>
            <a:off x="0" y="3013501"/>
            <a:ext cx="99567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4000" b="1" spc="300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体制について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82D251B4-EB82-B5D7-B578-6818DEE80171}"/>
              </a:ext>
            </a:extLst>
          </p:cNvPr>
          <p:cNvSpPr/>
          <p:nvPr/>
        </p:nvSpPr>
        <p:spPr>
          <a:xfrm>
            <a:off x="0" y="1134209"/>
            <a:ext cx="3807069" cy="580292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" name="二等辺三角形 4">
            <a:extLst>
              <a:ext uri="{FF2B5EF4-FFF2-40B4-BE49-F238E27FC236}">
                <a16:creationId xmlns:a16="http://schemas.microsoft.com/office/drawing/2014/main" id="{B045B048-0F03-F943-2959-BB4FD6029862}"/>
              </a:ext>
            </a:extLst>
          </p:cNvPr>
          <p:cNvSpPr/>
          <p:nvPr/>
        </p:nvSpPr>
        <p:spPr>
          <a:xfrm>
            <a:off x="3437792" y="1134209"/>
            <a:ext cx="738553" cy="580292"/>
          </a:xfrm>
          <a:prstGeom prst="triangl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0CB75F47-2EAD-DED4-5DB6-862B994DCBF5}"/>
              </a:ext>
            </a:extLst>
          </p:cNvPr>
          <p:cNvSpPr txBox="1"/>
          <p:nvPr/>
        </p:nvSpPr>
        <p:spPr>
          <a:xfrm>
            <a:off x="287216" y="1266065"/>
            <a:ext cx="31154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4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 UI" panose="020B0604030504040204" pitchFamily="50" charset="-128"/>
              </a:rPr>
              <a:t>Chapter.4</a:t>
            </a:r>
            <a:endParaRPr kumimoji="1" lang="ja-JP" altLang="en-US" sz="14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356909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0E416A61-B302-4BF8-8730-14A0C8808ABA}"/>
              </a:ext>
            </a:extLst>
          </p:cNvPr>
          <p:cNvSpPr/>
          <p:nvPr/>
        </p:nvSpPr>
        <p:spPr>
          <a:xfrm>
            <a:off x="0" y="577940"/>
            <a:ext cx="9906000" cy="7935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000" b="1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6E7EFC7D-B7AF-4F5F-A5EE-DC1CF6812281}"/>
              </a:ext>
            </a:extLst>
          </p:cNvPr>
          <p:cNvSpPr/>
          <p:nvPr/>
        </p:nvSpPr>
        <p:spPr>
          <a:xfrm>
            <a:off x="6775971" y="2491815"/>
            <a:ext cx="771526" cy="19244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5" name="正方形/長方形 74">
            <a:extLst>
              <a:ext uri="{FF2B5EF4-FFF2-40B4-BE49-F238E27FC236}">
                <a16:creationId xmlns:a16="http://schemas.microsoft.com/office/drawing/2014/main" id="{DCF9FEBC-45F2-4FAC-85EA-6585A7BD003A}"/>
              </a:ext>
            </a:extLst>
          </p:cNvPr>
          <p:cNvSpPr/>
          <p:nvPr/>
        </p:nvSpPr>
        <p:spPr>
          <a:xfrm>
            <a:off x="2183068" y="2490480"/>
            <a:ext cx="771526" cy="19244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35" name="正方形/長方形 134">
            <a:extLst>
              <a:ext uri="{FF2B5EF4-FFF2-40B4-BE49-F238E27FC236}">
                <a16:creationId xmlns:a16="http://schemas.microsoft.com/office/drawing/2014/main" id="{EBAA8CBA-DA12-4557-BF83-1BC8182E34D6}"/>
              </a:ext>
            </a:extLst>
          </p:cNvPr>
          <p:cNvSpPr/>
          <p:nvPr/>
        </p:nvSpPr>
        <p:spPr>
          <a:xfrm>
            <a:off x="4568622" y="5565259"/>
            <a:ext cx="2593112" cy="560932"/>
          </a:xfrm>
          <a:prstGeom prst="rect">
            <a:avLst/>
          </a:prstGeom>
          <a:noFill/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・バナー制作</a:t>
            </a:r>
            <a:endParaRPr kumimoji="1" lang="en-US" altLang="ja-JP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・</a:t>
            </a:r>
            <a:r>
              <a:rPr kumimoji="1" lang="en-US" altLang="ja-JP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LP</a:t>
            </a:r>
            <a:r>
              <a:rPr kumimoji="1" lang="ja-JP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制作</a:t>
            </a:r>
            <a:endParaRPr kumimoji="1" lang="en-US" altLang="ja-JP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・動画制作</a:t>
            </a:r>
            <a:endParaRPr kumimoji="1" lang="en-US" altLang="ja-JP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34" name="正方形/長方形 133">
            <a:extLst>
              <a:ext uri="{FF2B5EF4-FFF2-40B4-BE49-F238E27FC236}">
                <a16:creationId xmlns:a16="http://schemas.microsoft.com/office/drawing/2014/main" id="{0909655E-EBEC-46F0-AA81-70B478469DD0}"/>
              </a:ext>
            </a:extLst>
          </p:cNvPr>
          <p:cNvSpPr/>
          <p:nvPr/>
        </p:nvSpPr>
        <p:spPr>
          <a:xfrm>
            <a:off x="384687" y="5571105"/>
            <a:ext cx="4020630" cy="560932"/>
          </a:xfrm>
          <a:prstGeom prst="rect">
            <a:avLst/>
          </a:prstGeom>
          <a:noFill/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・運用調整</a:t>
            </a:r>
            <a:endParaRPr kumimoji="1" lang="en-US" altLang="ja-JP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・入稿作業</a:t>
            </a:r>
            <a:endParaRPr kumimoji="1" lang="en-US" altLang="ja-JP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1" name="正方形/長方形 90">
            <a:extLst>
              <a:ext uri="{FF2B5EF4-FFF2-40B4-BE49-F238E27FC236}">
                <a16:creationId xmlns:a16="http://schemas.microsoft.com/office/drawing/2014/main" id="{10A909E8-C5F8-496D-85DA-20041A2AA73B}"/>
              </a:ext>
            </a:extLst>
          </p:cNvPr>
          <p:cNvSpPr/>
          <p:nvPr/>
        </p:nvSpPr>
        <p:spPr>
          <a:xfrm>
            <a:off x="2656404" y="4171951"/>
            <a:ext cx="2091813" cy="560933"/>
          </a:xfrm>
          <a:prstGeom prst="rect">
            <a:avLst/>
          </a:prstGeom>
          <a:noFill/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・アカウント設計</a:t>
            </a:r>
            <a:endParaRPr kumimoji="1" lang="en-US" altLang="ja-JP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・運用調整</a:t>
            </a:r>
            <a:endParaRPr kumimoji="1" lang="en-US" altLang="ja-JP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・クリエイティブディレクション</a:t>
            </a:r>
            <a:endParaRPr kumimoji="1" lang="en-US" altLang="ja-JP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4" name="正方形/長方形 73">
            <a:extLst>
              <a:ext uri="{FF2B5EF4-FFF2-40B4-BE49-F238E27FC236}">
                <a16:creationId xmlns:a16="http://schemas.microsoft.com/office/drawing/2014/main" id="{35F2DCF1-E97E-4FE4-B996-90411A667116}"/>
              </a:ext>
            </a:extLst>
          </p:cNvPr>
          <p:cNvSpPr/>
          <p:nvPr/>
        </p:nvSpPr>
        <p:spPr>
          <a:xfrm>
            <a:off x="384687" y="3041049"/>
            <a:ext cx="4377813" cy="371471"/>
          </a:xfrm>
          <a:prstGeom prst="rect">
            <a:avLst/>
          </a:prstGeom>
          <a:noFill/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・本プロモーションの戦略立案 </a:t>
            </a:r>
            <a:r>
              <a:rPr kumimoji="1" lang="en-US" altLang="ja-JP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/ </a:t>
            </a:r>
            <a:r>
              <a:rPr kumimoji="1" lang="ja-JP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方針決定</a:t>
            </a:r>
            <a:endParaRPr kumimoji="1" lang="en-US" altLang="ja-JP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5" name="AutoShape 2" descr="「カレンダー アイコン」の画像検索結果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2" name="正方形/長方形 61">
            <a:extLst>
              <a:ext uri="{FF2B5EF4-FFF2-40B4-BE49-F238E27FC236}">
                <a16:creationId xmlns:a16="http://schemas.microsoft.com/office/drawing/2014/main" id="{8ACA091F-F68E-4D01-A5DA-0BECF54D06E7}"/>
              </a:ext>
            </a:extLst>
          </p:cNvPr>
          <p:cNvSpPr/>
          <p:nvPr/>
        </p:nvSpPr>
        <p:spPr>
          <a:xfrm>
            <a:off x="0" y="609600"/>
            <a:ext cx="9906000" cy="3817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0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000" b="1" i="0" u="none" strike="noStrike" kern="1200" cap="none" spc="6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取り組み体制</a:t>
            </a:r>
          </a:p>
        </p:txBody>
      </p:sp>
      <p:cxnSp>
        <p:nvCxnSpPr>
          <p:cNvPr id="67" name="直線コネクタ 66">
            <a:extLst>
              <a:ext uri="{FF2B5EF4-FFF2-40B4-BE49-F238E27FC236}">
                <a16:creationId xmlns:a16="http://schemas.microsoft.com/office/drawing/2014/main" id="{DF6C7946-652E-4D43-BA1B-BC1C8228D2D8}"/>
              </a:ext>
            </a:extLst>
          </p:cNvPr>
          <p:cNvCxnSpPr>
            <a:cxnSpLocks/>
          </p:cNvCxnSpPr>
          <p:nvPr/>
        </p:nvCxnSpPr>
        <p:spPr>
          <a:xfrm>
            <a:off x="0" y="1390675"/>
            <a:ext cx="9906000" cy="0"/>
          </a:xfrm>
          <a:prstGeom prst="line">
            <a:avLst/>
          </a:prstGeom>
          <a:ln w="19050">
            <a:solidFill>
              <a:schemeClr val="bg1">
                <a:lumMod val="85000"/>
                <a:alpha val="6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正方形/長方形 56">
            <a:extLst>
              <a:ext uri="{FF2B5EF4-FFF2-40B4-BE49-F238E27FC236}">
                <a16:creationId xmlns:a16="http://schemas.microsoft.com/office/drawing/2014/main" id="{9AEF6E63-47A4-4978-9853-A9B3DA58DBC0}"/>
              </a:ext>
            </a:extLst>
          </p:cNvPr>
          <p:cNvSpPr/>
          <p:nvPr/>
        </p:nvSpPr>
        <p:spPr>
          <a:xfrm>
            <a:off x="384687" y="2685704"/>
            <a:ext cx="4377813" cy="352773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広告運用統括</a:t>
            </a:r>
            <a:r>
              <a:rPr kumimoji="1" lang="en-US" altLang="ja-JP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/</a:t>
            </a:r>
            <a:r>
              <a:rPr kumimoji="1" lang="ja-JP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戦略コンサル</a:t>
            </a:r>
          </a:p>
        </p:txBody>
      </p:sp>
      <p:sp>
        <p:nvSpPr>
          <p:cNvPr id="60" name="正方形/長方形 59">
            <a:extLst>
              <a:ext uri="{FF2B5EF4-FFF2-40B4-BE49-F238E27FC236}">
                <a16:creationId xmlns:a16="http://schemas.microsoft.com/office/drawing/2014/main" id="{DA77D064-C94F-4890-A80B-4336A4D8D89D}"/>
              </a:ext>
            </a:extLst>
          </p:cNvPr>
          <p:cNvSpPr/>
          <p:nvPr/>
        </p:nvSpPr>
        <p:spPr>
          <a:xfrm>
            <a:off x="384687" y="5321352"/>
            <a:ext cx="4020630" cy="26029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運用サポート</a:t>
            </a:r>
          </a:p>
        </p:txBody>
      </p:sp>
      <p:sp>
        <p:nvSpPr>
          <p:cNvPr id="64" name="正方形/長方形 63">
            <a:extLst>
              <a:ext uri="{FF2B5EF4-FFF2-40B4-BE49-F238E27FC236}">
                <a16:creationId xmlns:a16="http://schemas.microsoft.com/office/drawing/2014/main" id="{9552973B-DC8F-48E2-BA86-2FB98F76EB81}"/>
              </a:ext>
            </a:extLst>
          </p:cNvPr>
          <p:cNvSpPr/>
          <p:nvPr/>
        </p:nvSpPr>
        <p:spPr>
          <a:xfrm>
            <a:off x="4568622" y="5315506"/>
            <a:ext cx="2593112" cy="26029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制作</a:t>
            </a:r>
          </a:p>
        </p:txBody>
      </p:sp>
      <p:sp>
        <p:nvSpPr>
          <p:cNvPr id="68" name="正方形/長方形 67">
            <a:extLst>
              <a:ext uri="{FF2B5EF4-FFF2-40B4-BE49-F238E27FC236}">
                <a16:creationId xmlns:a16="http://schemas.microsoft.com/office/drawing/2014/main" id="{20EFCAE9-2B25-4FEF-BBD9-5EA944752B1D}"/>
              </a:ext>
            </a:extLst>
          </p:cNvPr>
          <p:cNvSpPr/>
          <p:nvPr/>
        </p:nvSpPr>
        <p:spPr>
          <a:xfrm>
            <a:off x="2656404" y="3800529"/>
            <a:ext cx="2091813" cy="37147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SNS</a:t>
            </a:r>
            <a:r>
              <a:rPr kumimoji="1" lang="ja-JP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運用</a:t>
            </a:r>
          </a:p>
        </p:txBody>
      </p:sp>
      <p:sp>
        <p:nvSpPr>
          <p:cNvPr id="70" name="正方形/長方形 69">
            <a:extLst>
              <a:ext uri="{FF2B5EF4-FFF2-40B4-BE49-F238E27FC236}">
                <a16:creationId xmlns:a16="http://schemas.microsoft.com/office/drawing/2014/main" id="{F9310468-21A6-4B66-BC56-CCC5F6874444}"/>
              </a:ext>
            </a:extLst>
          </p:cNvPr>
          <p:cNvSpPr/>
          <p:nvPr/>
        </p:nvSpPr>
        <p:spPr>
          <a:xfrm>
            <a:off x="3606606" y="4813810"/>
            <a:ext cx="2435284" cy="19953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2" name="正方形/長方形 71">
            <a:extLst>
              <a:ext uri="{FF2B5EF4-FFF2-40B4-BE49-F238E27FC236}">
                <a16:creationId xmlns:a16="http://schemas.microsoft.com/office/drawing/2014/main" id="{DF922913-1B91-431A-8799-C026700970ED}"/>
              </a:ext>
            </a:extLst>
          </p:cNvPr>
          <p:cNvSpPr/>
          <p:nvPr/>
        </p:nvSpPr>
        <p:spPr>
          <a:xfrm>
            <a:off x="384687" y="1962153"/>
            <a:ext cx="9064113" cy="528326"/>
          </a:xfrm>
          <a:prstGeom prst="rect">
            <a:avLst/>
          </a:prstGeom>
          <a:noFill/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・貴社担当との連絡やり取り全般</a:t>
            </a:r>
            <a:endParaRPr kumimoji="1" lang="en-US" altLang="ja-JP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・お申込書やご請求書等、契約周りのやり取り</a:t>
            </a:r>
            <a:endParaRPr kumimoji="1" lang="en-US" altLang="ja-JP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・本プロモーションの戦略立案 </a:t>
            </a:r>
            <a:r>
              <a:rPr kumimoji="1" lang="en-US" altLang="ja-JP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/ </a:t>
            </a:r>
            <a:r>
              <a:rPr kumimoji="1" lang="ja-JP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方針決定</a:t>
            </a:r>
            <a:endParaRPr kumimoji="1" lang="en-US" altLang="ja-JP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3" name="正方形/長方形 72">
            <a:extLst>
              <a:ext uri="{FF2B5EF4-FFF2-40B4-BE49-F238E27FC236}">
                <a16:creationId xmlns:a16="http://schemas.microsoft.com/office/drawing/2014/main" id="{36643843-3FE5-430B-B120-9C828A9A4E4D}"/>
              </a:ext>
            </a:extLst>
          </p:cNvPr>
          <p:cNvSpPr/>
          <p:nvPr/>
        </p:nvSpPr>
        <p:spPr>
          <a:xfrm>
            <a:off x="5080512" y="3038476"/>
            <a:ext cx="4368289" cy="374045"/>
          </a:xfrm>
          <a:prstGeom prst="rect">
            <a:avLst/>
          </a:prstGeom>
          <a:noFill/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・貴社担当との連絡やり取り全般</a:t>
            </a:r>
            <a:endParaRPr kumimoji="1" lang="en-US" altLang="ja-JP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・お申込書やご請求書の作成等、事務面までサポート</a:t>
            </a:r>
            <a:endParaRPr kumimoji="1" lang="en-US" altLang="ja-JP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9FE89FBD-BF37-47F6-A485-903D88526BC1}"/>
              </a:ext>
            </a:extLst>
          </p:cNvPr>
          <p:cNvSpPr/>
          <p:nvPr/>
        </p:nvSpPr>
        <p:spPr>
          <a:xfrm>
            <a:off x="384687" y="1611919"/>
            <a:ext cx="9073638" cy="352773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営業 </a:t>
            </a:r>
            <a:r>
              <a:rPr kumimoji="1" lang="en-US" altLang="ja-JP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/ </a:t>
            </a:r>
            <a:r>
              <a:rPr kumimoji="1" lang="ja-JP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フロント対応（全体統括）</a:t>
            </a:r>
          </a:p>
        </p:txBody>
      </p:sp>
      <p:sp>
        <p:nvSpPr>
          <p:cNvPr id="80" name="矢印: 下 79">
            <a:extLst>
              <a:ext uri="{FF2B5EF4-FFF2-40B4-BE49-F238E27FC236}">
                <a16:creationId xmlns:a16="http://schemas.microsoft.com/office/drawing/2014/main" id="{93414EB5-833E-4B6F-9C05-5A82DBFCD8B3}"/>
              </a:ext>
            </a:extLst>
          </p:cNvPr>
          <p:cNvSpPr/>
          <p:nvPr/>
        </p:nvSpPr>
        <p:spPr>
          <a:xfrm>
            <a:off x="1011614" y="3412520"/>
            <a:ext cx="837957" cy="388008"/>
          </a:xfrm>
          <a:prstGeom prst="downArrow">
            <a:avLst>
              <a:gd name="adj1" fmla="val 50000"/>
              <a:gd name="adj2" fmla="val 39105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1" name="矢印: 下 80">
            <a:extLst>
              <a:ext uri="{FF2B5EF4-FFF2-40B4-BE49-F238E27FC236}">
                <a16:creationId xmlns:a16="http://schemas.microsoft.com/office/drawing/2014/main" id="{C5898C2B-9033-461D-8A0A-625951E6ECE6}"/>
              </a:ext>
            </a:extLst>
          </p:cNvPr>
          <p:cNvSpPr/>
          <p:nvPr/>
        </p:nvSpPr>
        <p:spPr>
          <a:xfrm>
            <a:off x="3187627" y="3412520"/>
            <a:ext cx="837957" cy="388008"/>
          </a:xfrm>
          <a:prstGeom prst="downArrow">
            <a:avLst>
              <a:gd name="adj1" fmla="val 50000"/>
              <a:gd name="adj2" fmla="val 39105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5" name="正方形/長方形 84">
            <a:extLst>
              <a:ext uri="{FF2B5EF4-FFF2-40B4-BE49-F238E27FC236}">
                <a16:creationId xmlns:a16="http://schemas.microsoft.com/office/drawing/2014/main" id="{1469D74A-A48B-4EE7-A468-771807FC99AF}"/>
              </a:ext>
            </a:extLst>
          </p:cNvPr>
          <p:cNvSpPr/>
          <p:nvPr/>
        </p:nvSpPr>
        <p:spPr>
          <a:xfrm>
            <a:off x="384687" y="4171951"/>
            <a:ext cx="2091813" cy="560932"/>
          </a:xfrm>
          <a:prstGeom prst="rect">
            <a:avLst/>
          </a:prstGeom>
          <a:noFill/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・アカウント設計</a:t>
            </a:r>
            <a:endParaRPr kumimoji="1" lang="en-US" altLang="ja-JP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・運用調整</a:t>
            </a:r>
            <a:endParaRPr kumimoji="1" lang="en-US" altLang="ja-JP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8" name="正方形/長方形 57">
            <a:extLst>
              <a:ext uri="{FF2B5EF4-FFF2-40B4-BE49-F238E27FC236}">
                <a16:creationId xmlns:a16="http://schemas.microsoft.com/office/drawing/2014/main" id="{14AE3D69-ECE1-425C-821D-9514146C16D0}"/>
              </a:ext>
            </a:extLst>
          </p:cNvPr>
          <p:cNvSpPr/>
          <p:nvPr/>
        </p:nvSpPr>
        <p:spPr>
          <a:xfrm>
            <a:off x="384687" y="3800529"/>
            <a:ext cx="2091813" cy="37147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SNS広告運用</a:t>
            </a:r>
          </a:p>
        </p:txBody>
      </p:sp>
      <p:sp>
        <p:nvSpPr>
          <p:cNvPr id="93" name="矢印: 下 92">
            <a:extLst>
              <a:ext uri="{FF2B5EF4-FFF2-40B4-BE49-F238E27FC236}">
                <a16:creationId xmlns:a16="http://schemas.microsoft.com/office/drawing/2014/main" id="{10539C9A-84F2-493E-87A3-603687A7289E}"/>
              </a:ext>
            </a:extLst>
          </p:cNvPr>
          <p:cNvSpPr/>
          <p:nvPr/>
        </p:nvSpPr>
        <p:spPr>
          <a:xfrm>
            <a:off x="1011613" y="4732883"/>
            <a:ext cx="837957" cy="560932"/>
          </a:xfrm>
          <a:prstGeom prst="downArrow">
            <a:avLst>
              <a:gd name="adj1" fmla="val 50000"/>
              <a:gd name="adj2" fmla="val 29623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4" name="矢印: 下 93">
            <a:extLst>
              <a:ext uri="{FF2B5EF4-FFF2-40B4-BE49-F238E27FC236}">
                <a16:creationId xmlns:a16="http://schemas.microsoft.com/office/drawing/2014/main" id="{DB5EB9E2-E7A1-47CB-BBAF-E3BF8FD997CA}"/>
              </a:ext>
            </a:extLst>
          </p:cNvPr>
          <p:cNvSpPr/>
          <p:nvPr/>
        </p:nvSpPr>
        <p:spPr>
          <a:xfrm>
            <a:off x="3187627" y="4746652"/>
            <a:ext cx="837957" cy="560932"/>
          </a:xfrm>
          <a:prstGeom prst="downArrow">
            <a:avLst>
              <a:gd name="adj1" fmla="val 50000"/>
              <a:gd name="adj2" fmla="val 30982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33" name="矢印: 下 132">
            <a:extLst>
              <a:ext uri="{FF2B5EF4-FFF2-40B4-BE49-F238E27FC236}">
                <a16:creationId xmlns:a16="http://schemas.microsoft.com/office/drawing/2014/main" id="{B849FD0E-FC23-4EDF-A0D3-44E316662AFF}"/>
              </a:ext>
            </a:extLst>
          </p:cNvPr>
          <p:cNvSpPr/>
          <p:nvPr/>
        </p:nvSpPr>
        <p:spPr>
          <a:xfrm>
            <a:off x="5439645" y="4813809"/>
            <a:ext cx="837957" cy="480005"/>
          </a:xfrm>
          <a:prstGeom prst="downArrow">
            <a:avLst>
              <a:gd name="adj1" fmla="val 50000"/>
              <a:gd name="adj2" fmla="val 30982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9" name="正方形/長方形 58">
            <a:extLst>
              <a:ext uri="{FF2B5EF4-FFF2-40B4-BE49-F238E27FC236}">
                <a16:creationId xmlns:a16="http://schemas.microsoft.com/office/drawing/2014/main" id="{35181B3B-7215-486E-A45F-1A27D9A313A0}"/>
              </a:ext>
            </a:extLst>
          </p:cNvPr>
          <p:cNvSpPr/>
          <p:nvPr/>
        </p:nvSpPr>
        <p:spPr>
          <a:xfrm>
            <a:off x="5080512" y="2685703"/>
            <a:ext cx="4377813" cy="352773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営業 </a:t>
            </a:r>
            <a:r>
              <a:rPr kumimoji="1" lang="en-US" altLang="ja-JP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/ </a:t>
            </a:r>
            <a:r>
              <a:rPr kumimoji="1" lang="ja-JP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フロント対応（サブ）</a:t>
            </a:r>
          </a:p>
        </p:txBody>
      </p:sp>
      <p:sp>
        <p:nvSpPr>
          <p:cNvPr id="137" name="正方形/長方形 136">
            <a:extLst>
              <a:ext uri="{FF2B5EF4-FFF2-40B4-BE49-F238E27FC236}">
                <a16:creationId xmlns:a16="http://schemas.microsoft.com/office/drawing/2014/main" id="{5FA12942-71A1-48A4-BC87-97757C5B3EB2}"/>
              </a:ext>
            </a:extLst>
          </p:cNvPr>
          <p:cNvSpPr/>
          <p:nvPr/>
        </p:nvSpPr>
        <p:spPr>
          <a:xfrm>
            <a:off x="7245607" y="4472585"/>
            <a:ext cx="2206784" cy="26029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媒体担当</a:t>
            </a:r>
          </a:p>
        </p:txBody>
      </p:sp>
      <p:sp>
        <p:nvSpPr>
          <p:cNvPr id="138" name="正方形/長方形 137">
            <a:extLst>
              <a:ext uri="{FF2B5EF4-FFF2-40B4-BE49-F238E27FC236}">
                <a16:creationId xmlns:a16="http://schemas.microsoft.com/office/drawing/2014/main" id="{55087800-6208-4E3C-91FB-0077440A00B8}"/>
              </a:ext>
            </a:extLst>
          </p:cNvPr>
          <p:cNvSpPr/>
          <p:nvPr/>
        </p:nvSpPr>
        <p:spPr>
          <a:xfrm>
            <a:off x="7245607" y="4732883"/>
            <a:ext cx="2203194" cy="1393308"/>
          </a:xfrm>
          <a:prstGeom prst="rect">
            <a:avLst/>
          </a:prstGeom>
          <a:noFill/>
          <a:ln w="19050" cap="flat" cmpd="sng" algn="ctr">
            <a:solidFill>
              <a:schemeClr val="bg1">
                <a:lumMod val="85000"/>
              </a:schemeClr>
            </a:solidFill>
            <a:prstDash val="solid"/>
          </a:ln>
          <a:effectLst/>
        </p:spPr>
        <p:txBody>
          <a:bodyPr rtlCol="0" anchor="b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メイリオ" pitchFamily="50" charset="-128"/>
              </a:rPr>
              <a:t>各媒体</a:t>
            </a:r>
            <a:r>
              <a:rPr kumimoji="1" lang="en-US" altLang="ja-JP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メイリオ" pitchFamily="50" charset="-128"/>
              </a:rPr>
              <a:t>1~2</a:t>
            </a:r>
            <a:r>
              <a:rPr kumimoji="1" lang="ja-JP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メイリオ" pitchFamily="50" charset="-128"/>
              </a:rPr>
              <a:t>名ほど</a:t>
            </a:r>
            <a:endParaRPr kumimoji="1" lang="en-US" altLang="ja-JP" sz="11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  <a:cs typeface="メイリオ" pitchFamily="50" charset="-128"/>
            </a:endParaRPr>
          </a:p>
        </p:txBody>
      </p:sp>
      <p:pic>
        <p:nvPicPr>
          <p:cNvPr id="3" name="図 2" descr="ロゴ, アイコン&#10;&#10;自動的に生成された説明">
            <a:extLst>
              <a:ext uri="{FF2B5EF4-FFF2-40B4-BE49-F238E27FC236}">
                <a16:creationId xmlns:a16="http://schemas.microsoft.com/office/drawing/2014/main" id="{E3044091-F452-42DD-A626-70D355490F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8687" y="5323520"/>
            <a:ext cx="378896" cy="375287"/>
          </a:xfrm>
          <a:prstGeom prst="rect">
            <a:avLst/>
          </a:prstGeom>
        </p:spPr>
      </p:pic>
      <p:pic>
        <p:nvPicPr>
          <p:cNvPr id="5" name="図 4" descr="アイコン&#10;&#10;自動的に生成された説明">
            <a:extLst>
              <a:ext uri="{FF2B5EF4-FFF2-40B4-BE49-F238E27FC236}">
                <a16:creationId xmlns:a16="http://schemas.microsoft.com/office/drawing/2014/main" id="{FA55F388-9490-48F8-963F-3B8368DBDE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1922" y="5314642"/>
            <a:ext cx="422159" cy="384165"/>
          </a:xfrm>
          <a:prstGeom prst="rect">
            <a:avLst/>
          </a:prstGeom>
        </p:spPr>
      </p:pic>
      <p:pic>
        <p:nvPicPr>
          <p:cNvPr id="7" name="図 6" descr="文字が書かれている&#10;&#10;中程度の精度で自動的に生成された説明">
            <a:extLst>
              <a:ext uri="{FF2B5EF4-FFF2-40B4-BE49-F238E27FC236}">
                <a16:creationId xmlns:a16="http://schemas.microsoft.com/office/drawing/2014/main" id="{1B9257ED-EB52-403B-B632-9738545D55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7577" y="5338818"/>
            <a:ext cx="930088" cy="289842"/>
          </a:xfrm>
          <a:prstGeom prst="rect">
            <a:avLst/>
          </a:prstGeom>
        </p:spPr>
      </p:pic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CB5A1E54-894E-4608-9E6A-105530FEAA49}"/>
              </a:ext>
            </a:extLst>
          </p:cNvPr>
          <p:cNvSpPr/>
          <p:nvPr/>
        </p:nvSpPr>
        <p:spPr>
          <a:xfrm>
            <a:off x="0" y="971550"/>
            <a:ext cx="9906000" cy="4037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各ポジションの役割を明確にし、業務をスムーズに遂行できる体制を組みます。</a:t>
            </a:r>
            <a:endParaRPr kumimoji="1" lang="en-US" altLang="ja-JP" sz="1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必要に応じて、連絡窓口の変更も柔軟に対応いたします。</a:t>
            </a:r>
            <a:endParaRPr kumimoji="1" lang="en-US" altLang="ja-JP" sz="1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pic>
        <p:nvPicPr>
          <p:cNvPr id="4" name="図 3" descr="ロゴ&#10;&#10;自動的に生成された説明">
            <a:extLst>
              <a:ext uri="{FF2B5EF4-FFF2-40B4-BE49-F238E27FC236}">
                <a16:creationId xmlns:a16="http://schemas.microsoft.com/office/drawing/2014/main" id="{DAC8D2DA-EFB0-4614-B57E-C7F0D81D4C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2196" y="4858002"/>
            <a:ext cx="804162" cy="291736"/>
          </a:xfrm>
          <a:prstGeom prst="rect">
            <a:avLst/>
          </a:prstGeom>
        </p:spPr>
      </p:pic>
      <p:pic>
        <p:nvPicPr>
          <p:cNvPr id="8" name="図 7" descr="テキスト, ロゴ&#10;&#10;自動的に生成された説明">
            <a:extLst>
              <a:ext uri="{FF2B5EF4-FFF2-40B4-BE49-F238E27FC236}">
                <a16:creationId xmlns:a16="http://schemas.microsoft.com/office/drawing/2014/main" id="{CC86DD24-6CC0-4170-A4BD-0B8D6715CF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7358" y="4858002"/>
            <a:ext cx="920225" cy="309959"/>
          </a:xfrm>
          <a:prstGeom prst="rect">
            <a:avLst/>
          </a:prstGeom>
        </p:spPr>
      </p:pic>
      <p:sp>
        <p:nvSpPr>
          <p:cNvPr id="2" name="テキスト ボックス 47">
            <a:extLst>
              <a:ext uri="{FF2B5EF4-FFF2-40B4-BE49-F238E27FC236}">
                <a16:creationId xmlns:a16="http://schemas.microsoft.com/office/drawing/2014/main" id="{C9BB91C8-F7FC-83DF-347B-747FF60D460C}"/>
              </a:ext>
            </a:extLst>
          </p:cNvPr>
          <p:cNvSpPr txBox="1">
            <a:spLocks noChangeArrowheads="1"/>
          </p:cNvSpPr>
          <p:nvPr/>
        </p:nvSpPr>
        <p:spPr>
          <a:xfrm>
            <a:off x="548883" y="138118"/>
            <a:ext cx="627632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ctr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>
              <a:defRPr kumimoji="1" sz="28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>
              <a:defRPr kumimoji="1"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>
              <a:defRPr kumimoji="1"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>
              <a:defRPr kumimoji="1"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ja-JP" altLang="en-US" sz="1600" spc="3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charset="0"/>
              </a:rPr>
              <a:t>体制</a:t>
            </a:r>
            <a:endParaRPr lang="ja-JP" altLang="ja-JP" sz="1600" spc="300" dirty="0">
              <a:latin typeface="メイリオ" panose="020B0604030504040204" pitchFamily="50" charset="-128"/>
              <a:ea typeface="メイリオ" panose="020B0604030504040204" pitchFamily="50" charset="-128"/>
              <a:cs typeface="メイリオ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07232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2E07D128-6039-B9DA-B552-F1282481065F}"/>
              </a:ext>
            </a:extLst>
          </p:cNvPr>
          <p:cNvSpPr/>
          <p:nvPr/>
        </p:nvSpPr>
        <p:spPr>
          <a:xfrm>
            <a:off x="0" y="576595"/>
            <a:ext cx="9906000" cy="7935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000" b="1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pic>
        <p:nvPicPr>
          <p:cNvPr id="9" name="図 8" descr="グラフィカル ユーザー インターフェイス&#10;&#10;自動的に生成された説明">
            <a:extLst>
              <a:ext uri="{FF2B5EF4-FFF2-40B4-BE49-F238E27FC236}">
                <a16:creationId xmlns:a16="http://schemas.microsoft.com/office/drawing/2014/main" id="{4164AA97-F92C-42EA-8031-010DB3C481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1096" y="3297731"/>
            <a:ext cx="3067760" cy="213522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図 6" descr="テーブル&#10;&#10;自動的に生成された説明">
            <a:extLst>
              <a:ext uri="{FF2B5EF4-FFF2-40B4-BE49-F238E27FC236}">
                <a16:creationId xmlns:a16="http://schemas.microsoft.com/office/drawing/2014/main" id="{1312C4D6-E6D9-4C11-A6EA-A0B3042C53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4973" y="3038428"/>
            <a:ext cx="3067761" cy="212069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5" name="AutoShape 2" descr="「カレンダー アイコン」の画像検索結果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2" name="正方形/長方形 61">
            <a:extLst>
              <a:ext uri="{FF2B5EF4-FFF2-40B4-BE49-F238E27FC236}">
                <a16:creationId xmlns:a16="http://schemas.microsoft.com/office/drawing/2014/main" id="{8ACA091F-F68E-4D01-A5DA-0BECF54D06E7}"/>
              </a:ext>
            </a:extLst>
          </p:cNvPr>
          <p:cNvSpPr/>
          <p:nvPr/>
        </p:nvSpPr>
        <p:spPr>
          <a:xfrm>
            <a:off x="0" y="609600"/>
            <a:ext cx="9906000" cy="3817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0000" anchor="ctr"/>
          <a:lstStyle/>
          <a:p>
            <a:pPr algn="ctr">
              <a:defRPr/>
            </a:pPr>
            <a:r>
              <a:rPr lang="ja-JP" altLang="en-US" sz="2000" b="1" spc="600" dirty="0">
                <a:solidFill>
                  <a:schemeClr val="tx1">
                    <a:lumMod val="85000"/>
                    <a:lumOff val="1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報告体制</a:t>
            </a:r>
          </a:p>
        </p:txBody>
      </p:sp>
      <p:cxnSp>
        <p:nvCxnSpPr>
          <p:cNvPr id="67" name="直線コネクタ 66">
            <a:extLst>
              <a:ext uri="{FF2B5EF4-FFF2-40B4-BE49-F238E27FC236}">
                <a16:creationId xmlns:a16="http://schemas.microsoft.com/office/drawing/2014/main" id="{DF6C7946-652E-4D43-BA1B-BC1C8228D2D8}"/>
              </a:ext>
            </a:extLst>
          </p:cNvPr>
          <p:cNvCxnSpPr>
            <a:cxnSpLocks/>
          </p:cNvCxnSpPr>
          <p:nvPr/>
        </p:nvCxnSpPr>
        <p:spPr>
          <a:xfrm>
            <a:off x="0" y="1390675"/>
            <a:ext cx="9906000" cy="0"/>
          </a:xfrm>
          <a:prstGeom prst="line">
            <a:avLst/>
          </a:prstGeom>
          <a:ln w="19050">
            <a:solidFill>
              <a:schemeClr val="bg1">
                <a:lumMod val="85000"/>
                <a:alpha val="6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ED0ED65A-1EF2-4F1B-9818-14975383DBC8}"/>
              </a:ext>
            </a:extLst>
          </p:cNvPr>
          <p:cNvSpPr txBox="1"/>
          <p:nvPr/>
        </p:nvSpPr>
        <p:spPr>
          <a:xfrm>
            <a:off x="5085723" y="5442150"/>
            <a:ext cx="4466264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1400" b="1" dirty="0">
                <a:solidFill>
                  <a:schemeClr val="tx2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貴社側でも、進捗確認を週単位で行えるような</a:t>
            </a:r>
            <a:endParaRPr lang="en-US" altLang="ja-JP" sz="1400" b="1" dirty="0">
              <a:solidFill>
                <a:schemeClr val="tx2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1400" b="1" dirty="0">
                <a:solidFill>
                  <a:schemeClr val="tx2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報告体制を敷くことも可能です。</a:t>
            </a:r>
          </a:p>
        </p:txBody>
      </p:sp>
      <p:sp>
        <p:nvSpPr>
          <p:cNvPr id="57" name="テキスト ボックス 56">
            <a:extLst>
              <a:ext uri="{FF2B5EF4-FFF2-40B4-BE49-F238E27FC236}">
                <a16:creationId xmlns:a16="http://schemas.microsoft.com/office/drawing/2014/main" id="{4ED94B01-385E-4CE9-9789-BD679FED8A66}"/>
              </a:ext>
            </a:extLst>
          </p:cNvPr>
          <p:cNvSpPr txBox="1"/>
          <p:nvPr/>
        </p:nvSpPr>
        <p:spPr>
          <a:xfrm>
            <a:off x="350340" y="5442150"/>
            <a:ext cx="4466264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1400" b="1" dirty="0">
                <a:solidFill>
                  <a:schemeClr val="tx2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貴社のご要望に応じた形でカスタマイズし、</a:t>
            </a:r>
            <a:endParaRPr lang="en-US" altLang="ja-JP" sz="1400" b="1" dirty="0">
              <a:solidFill>
                <a:schemeClr val="tx2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1400" b="1" dirty="0">
                <a:solidFill>
                  <a:schemeClr val="tx2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両社間でスムーズに実績共有できるよう設計</a:t>
            </a:r>
          </a:p>
        </p:txBody>
      </p:sp>
      <p:sp>
        <p:nvSpPr>
          <p:cNvPr id="58" name="正方形/長方形 57">
            <a:extLst>
              <a:ext uri="{FF2B5EF4-FFF2-40B4-BE49-F238E27FC236}">
                <a16:creationId xmlns:a16="http://schemas.microsoft.com/office/drawing/2014/main" id="{8FD33E24-4558-4037-81B4-D25B84C8DC5D}"/>
              </a:ext>
            </a:extLst>
          </p:cNvPr>
          <p:cNvSpPr/>
          <p:nvPr/>
        </p:nvSpPr>
        <p:spPr>
          <a:xfrm>
            <a:off x="350340" y="1661141"/>
            <a:ext cx="4466264" cy="39751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b="1">
                <a:latin typeface="メイリオ" panose="020B0604030504040204" pitchFamily="50" charset="-128"/>
                <a:ea typeface="メイリオ" panose="020B0604030504040204" pitchFamily="50" charset="-128"/>
              </a:rPr>
              <a:t>日次報告レポート</a:t>
            </a:r>
            <a:endParaRPr kumimoji="1" lang="ja-JP" altLang="en-US" sz="1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9" name="正方形/長方形 58">
            <a:extLst>
              <a:ext uri="{FF2B5EF4-FFF2-40B4-BE49-F238E27FC236}">
                <a16:creationId xmlns:a16="http://schemas.microsoft.com/office/drawing/2014/main" id="{F2ABE8BE-5908-4DFB-9527-4D12BCD148B0}"/>
              </a:ext>
            </a:extLst>
          </p:cNvPr>
          <p:cNvSpPr/>
          <p:nvPr/>
        </p:nvSpPr>
        <p:spPr>
          <a:xfrm>
            <a:off x="5089396" y="1661141"/>
            <a:ext cx="4466264" cy="39751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週次報告レポート</a:t>
            </a:r>
          </a:p>
        </p:txBody>
      </p:sp>
      <p:sp>
        <p:nvSpPr>
          <p:cNvPr id="60" name="テキスト ボックス 59">
            <a:extLst>
              <a:ext uri="{FF2B5EF4-FFF2-40B4-BE49-F238E27FC236}">
                <a16:creationId xmlns:a16="http://schemas.microsoft.com/office/drawing/2014/main" id="{B2E5BEB0-D1DA-4B88-9430-83449DE8705C}"/>
              </a:ext>
            </a:extLst>
          </p:cNvPr>
          <p:cNvSpPr txBox="1"/>
          <p:nvPr/>
        </p:nvSpPr>
        <p:spPr>
          <a:xfrm>
            <a:off x="1072072" y="2206524"/>
            <a:ext cx="30101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11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スプレッドシート等を用いて、</a:t>
            </a:r>
            <a:endParaRPr lang="en-US" altLang="ja-JP" sz="11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14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デイリーの実績</a:t>
            </a: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を貴社へ共有。</a:t>
            </a:r>
            <a:endParaRPr lang="en-US" altLang="ja-JP" sz="11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4" name="正方形/長方形 63">
            <a:extLst>
              <a:ext uri="{FF2B5EF4-FFF2-40B4-BE49-F238E27FC236}">
                <a16:creationId xmlns:a16="http://schemas.microsoft.com/office/drawing/2014/main" id="{CA462314-2DFD-4030-B021-C4DE72BA3717}"/>
              </a:ext>
            </a:extLst>
          </p:cNvPr>
          <p:cNvSpPr/>
          <p:nvPr/>
        </p:nvSpPr>
        <p:spPr>
          <a:xfrm>
            <a:off x="350340" y="1661497"/>
            <a:ext cx="4466264" cy="4586903"/>
          </a:xfrm>
          <a:prstGeom prst="rect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ja-JP" sz="1100" dirty="0">
              <a:solidFill>
                <a:schemeClr val="tx1">
                  <a:lumMod val="85000"/>
                  <a:lumOff val="1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8" name="テキスト ボックス 67">
            <a:extLst>
              <a:ext uri="{FF2B5EF4-FFF2-40B4-BE49-F238E27FC236}">
                <a16:creationId xmlns:a16="http://schemas.microsoft.com/office/drawing/2014/main" id="{BB5FCD52-F1AF-4164-8B9B-B1BB5791D3C4}"/>
              </a:ext>
            </a:extLst>
          </p:cNvPr>
          <p:cNvSpPr txBox="1"/>
          <p:nvPr/>
        </p:nvSpPr>
        <p:spPr>
          <a:xfrm>
            <a:off x="5258853" y="2196999"/>
            <a:ext cx="412000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月次レポートのフォーマットを</a:t>
            </a:r>
            <a:endParaRPr lang="en-US" altLang="ja-JP" sz="1400" b="1" dirty="0">
              <a:solidFill>
                <a:schemeClr val="tx1">
                  <a:lumMod val="95000"/>
                  <a:lumOff val="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14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週次でも提出</a:t>
            </a:r>
            <a:r>
              <a:rPr lang="ja-JP" altLang="en-US" sz="11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・送付可能です。</a:t>
            </a:r>
            <a:endParaRPr lang="ja-JP" altLang="en-US" sz="1400" b="1" u="sng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9" name="正方形/長方形 68">
            <a:extLst>
              <a:ext uri="{FF2B5EF4-FFF2-40B4-BE49-F238E27FC236}">
                <a16:creationId xmlns:a16="http://schemas.microsoft.com/office/drawing/2014/main" id="{B779051D-6F11-45C8-9AF1-A8B63090D1AB}"/>
              </a:ext>
            </a:extLst>
          </p:cNvPr>
          <p:cNvSpPr/>
          <p:nvPr/>
        </p:nvSpPr>
        <p:spPr>
          <a:xfrm>
            <a:off x="5089396" y="1661497"/>
            <a:ext cx="4466264" cy="4586903"/>
          </a:xfrm>
          <a:prstGeom prst="rect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ja-JP" sz="1100" dirty="0">
              <a:solidFill>
                <a:schemeClr val="tx1">
                  <a:lumMod val="85000"/>
                  <a:lumOff val="1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pic>
        <p:nvPicPr>
          <p:cNvPr id="3" name="図 2" descr="窓, 建物, 座る, ウォーキング が含まれている画像&#10;&#10;自動的に生成された説明">
            <a:extLst>
              <a:ext uri="{FF2B5EF4-FFF2-40B4-BE49-F238E27FC236}">
                <a16:creationId xmlns:a16="http://schemas.microsoft.com/office/drawing/2014/main" id="{8CBD4755-1975-4922-A903-FF2FD458B8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375" y="2674052"/>
            <a:ext cx="4194176" cy="2719877"/>
          </a:xfrm>
          <a:prstGeom prst="rect">
            <a:avLst/>
          </a:prstGeom>
        </p:spPr>
      </p:pic>
      <p:pic>
        <p:nvPicPr>
          <p:cNvPr id="20" name="図 19" descr="窓, 建物, 座る, ウォーキング が含まれている画像&#10;&#10;自動的に生成された説明">
            <a:extLst>
              <a:ext uri="{FF2B5EF4-FFF2-40B4-BE49-F238E27FC236}">
                <a16:creationId xmlns:a16="http://schemas.microsoft.com/office/drawing/2014/main" id="{D1BA4D14-5891-4119-8F11-6B716CFF3DA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Blur/>
                    </a14:imgEffect>
                  </a14:imgLayer>
                </a14:imgProps>
              </a:ext>
            </a:extLst>
          </a:blip>
          <a:srcRect r="76609" b="97224"/>
          <a:stretch/>
        </p:blipFill>
        <p:spPr>
          <a:xfrm>
            <a:off x="460375" y="2674051"/>
            <a:ext cx="981075" cy="75498"/>
          </a:xfrm>
          <a:prstGeom prst="rect">
            <a:avLst/>
          </a:prstGeom>
        </p:spPr>
      </p:pic>
      <p:pic>
        <p:nvPicPr>
          <p:cNvPr id="21" name="図 20" descr="窓, 建物, 座る, ウォーキング が含まれている画像&#10;&#10;自動的に生成された説明">
            <a:extLst>
              <a:ext uri="{FF2B5EF4-FFF2-40B4-BE49-F238E27FC236}">
                <a16:creationId xmlns:a16="http://schemas.microsoft.com/office/drawing/2014/main" id="{217A6E27-41DC-4C59-909D-0038FE64207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Blur/>
                    </a14:imgEffect>
                  </a14:imgLayer>
                </a14:imgProps>
              </a:ext>
            </a:extLst>
          </a:blip>
          <a:srcRect l="31567" t="1375" r="54807" b="94005"/>
          <a:stretch/>
        </p:blipFill>
        <p:spPr>
          <a:xfrm>
            <a:off x="1809749" y="2683285"/>
            <a:ext cx="571501" cy="125653"/>
          </a:xfrm>
          <a:prstGeom prst="rect">
            <a:avLst/>
          </a:prstGeom>
        </p:spPr>
      </p:pic>
      <p:pic>
        <p:nvPicPr>
          <p:cNvPr id="5" name="図 4" descr="カレンダー&#10;&#10;自動的に生成された説明">
            <a:extLst>
              <a:ext uri="{FF2B5EF4-FFF2-40B4-BE49-F238E27FC236}">
                <a16:creationId xmlns:a16="http://schemas.microsoft.com/office/drawing/2014/main" id="{BA69C1FC-1C73-470F-9BA4-8AFBFADC518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58853" y="2700345"/>
            <a:ext cx="3067760" cy="211812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C3FB7097-3916-4469-B7A5-9B0760A444A7}"/>
              </a:ext>
            </a:extLst>
          </p:cNvPr>
          <p:cNvSpPr/>
          <p:nvPr/>
        </p:nvSpPr>
        <p:spPr>
          <a:xfrm>
            <a:off x="0" y="971550"/>
            <a:ext cx="9906000" cy="4037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ご要望に応じた報告体制を敷きます。</a:t>
            </a:r>
            <a:endParaRPr lang="en-US" altLang="ja-JP" sz="10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また必要に応じて、貴社との反響管理環境を設けることも可能です。</a:t>
            </a:r>
            <a:endParaRPr lang="en-US" altLang="ja-JP" sz="10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" name="テキスト ボックス 47">
            <a:extLst>
              <a:ext uri="{FF2B5EF4-FFF2-40B4-BE49-F238E27FC236}">
                <a16:creationId xmlns:a16="http://schemas.microsoft.com/office/drawing/2014/main" id="{F9147576-E12D-B7F2-B336-4EDA87A5A8A0}"/>
              </a:ext>
            </a:extLst>
          </p:cNvPr>
          <p:cNvSpPr txBox="1">
            <a:spLocks noChangeArrowheads="1"/>
          </p:cNvSpPr>
          <p:nvPr/>
        </p:nvSpPr>
        <p:spPr>
          <a:xfrm>
            <a:off x="548883" y="138118"/>
            <a:ext cx="627632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ctr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>
              <a:defRPr kumimoji="1" sz="28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>
              <a:defRPr kumimoji="1"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>
              <a:defRPr kumimoji="1"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>
              <a:defRPr kumimoji="1"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ja-JP" altLang="en-US" sz="1600" spc="3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charset="0"/>
              </a:rPr>
              <a:t>レポート体制</a:t>
            </a:r>
            <a:endParaRPr lang="ja-JP" altLang="ja-JP" sz="1600" spc="300" dirty="0">
              <a:latin typeface="メイリオ" panose="020B0604030504040204" pitchFamily="50" charset="-128"/>
              <a:ea typeface="メイリオ" panose="020B0604030504040204" pitchFamily="50" charset="-128"/>
              <a:cs typeface="メイリオ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853894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図 18" descr="グラフィカル ユーザー インターフェイス, テキスト, アプリケーション&#10;&#10;自動的に生成された説明">
            <a:extLst>
              <a:ext uri="{FF2B5EF4-FFF2-40B4-BE49-F238E27FC236}">
                <a16:creationId xmlns:a16="http://schemas.microsoft.com/office/drawing/2014/main" id="{AD3297D4-4A28-4297-B737-8B914A9E16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1618" y="4093743"/>
            <a:ext cx="1809750" cy="125773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5" name="図 14" descr="テーブル&#10;&#10;自動的に生成された説明">
            <a:extLst>
              <a:ext uri="{FF2B5EF4-FFF2-40B4-BE49-F238E27FC236}">
                <a16:creationId xmlns:a16="http://schemas.microsoft.com/office/drawing/2014/main" id="{DF4E4E7B-69D2-4E09-9B7D-B9B229B7E9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4172" y="3918635"/>
            <a:ext cx="1809750" cy="124770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7" name="図 16" descr="グラフィカル ユーザー インターフェイス, テキスト, アプリケーション, メール&#10;&#10;自動的に生成された説明">
            <a:extLst>
              <a:ext uri="{FF2B5EF4-FFF2-40B4-BE49-F238E27FC236}">
                <a16:creationId xmlns:a16="http://schemas.microsoft.com/office/drawing/2014/main" id="{EC9E2081-84E9-4FB1-8674-38E9842185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9175" y="3663438"/>
            <a:ext cx="1809751" cy="125429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3" name="図 12" descr="グラフィカル ユーザー インターフェイス, アプリケーション, テーブル&#10;&#10;自動的に生成された説明">
            <a:extLst>
              <a:ext uri="{FF2B5EF4-FFF2-40B4-BE49-F238E27FC236}">
                <a16:creationId xmlns:a16="http://schemas.microsoft.com/office/drawing/2014/main" id="{CF3CDF81-18CF-4EAB-96B3-801EE98C71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7944" y="3145495"/>
            <a:ext cx="1812916" cy="125547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1" name="図 10" descr="テーブル&#10;&#10;自動的に生成された説明">
            <a:extLst>
              <a:ext uri="{FF2B5EF4-FFF2-40B4-BE49-F238E27FC236}">
                <a16:creationId xmlns:a16="http://schemas.microsoft.com/office/drawing/2014/main" id="{0856CA05-6001-4F5F-A139-8A674E7401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5221" y="2897629"/>
            <a:ext cx="1812916" cy="126309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図 8" descr="グラフィカル ユーザー インターフェイス&#10;&#10;自動的に生成された説明">
            <a:extLst>
              <a:ext uri="{FF2B5EF4-FFF2-40B4-BE49-F238E27FC236}">
                <a16:creationId xmlns:a16="http://schemas.microsoft.com/office/drawing/2014/main" id="{4164AA97-F92C-42EA-8031-010DB3C4813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12618" y="3280671"/>
            <a:ext cx="3067760" cy="213522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図 6" descr="テーブル&#10;&#10;自動的に生成された説明">
            <a:extLst>
              <a:ext uri="{FF2B5EF4-FFF2-40B4-BE49-F238E27FC236}">
                <a16:creationId xmlns:a16="http://schemas.microsoft.com/office/drawing/2014/main" id="{1312C4D6-E6D9-4C11-A6EA-A0B3042C53F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6495" y="3021368"/>
            <a:ext cx="3067761" cy="212069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5" name="AutoShape 2" descr="「カレンダー アイコン」の画像検索結果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ED0ED65A-1EF2-4F1B-9818-14975383DBC8}"/>
              </a:ext>
            </a:extLst>
          </p:cNvPr>
          <p:cNvSpPr txBox="1"/>
          <p:nvPr/>
        </p:nvSpPr>
        <p:spPr>
          <a:xfrm>
            <a:off x="5085723" y="5442150"/>
            <a:ext cx="4466264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1400" b="1" dirty="0">
                <a:solidFill>
                  <a:schemeClr val="tx2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レポート以外にも必要なデータを報告書にまとめて</a:t>
            </a:r>
            <a:endParaRPr lang="en-US" altLang="ja-JP" sz="1400" b="1" dirty="0">
              <a:solidFill>
                <a:schemeClr val="tx2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1400" b="1" dirty="0">
                <a:solidFill>
                  <a:schemeClr val="tx2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整理し、報告</a:t>
            </a:r>
          </a:p>
        </p:txBody>
      </p:sp>
      <p:sp>
        <p:nvSpPr>
          <p:cNvPr id="57" name="テキスト ボックス 56">
            <a:extLst>
              <a:ext uri="{FF2B5EF4-FFF2-40B4-BE49-F238E27FC236}">
                <a16:creationId xmlns:a16="http://schemas.microsoft.com/office/drawing/2014/main" id="{4ED94B01-385E-4CE9-9789-BD679FED8A66}"/>
              </a:ext>
            </a:extLst>
          </p:cNvPr>
          <p:cNvSpPr txBox="1"/>
          <p:nvPr/>
        </p:nvSpPr>
        <p:spPr>
          <a:xfrm>
            <a:off x="350340" y="5442150"/>
            <a:ext cx="4466264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1400" b="1" dirty="0">
                <a:solidFill>
                  <a:schemeClr val="tx2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月間の実績を細かく確認できるレポートを毎月作成、また定例会にて担当が詳細を報告</a:t>
            </a:r>
          </a:p>
        </p:txBody>
      </p:sp>
      <p:sp>
        <p:nvSpPr>
          <p:cNvPr id="58" name="正方形/長方形 57">
            <a:extLst>
              <a:ext uri="{FF2B5EF4-FFF2-40B4-BE49-F238E27FC236}">
                <a16:creationId xmlns:a16="http://schemas.microsoft.com/office/drawing/2014/main" id="{8FD33E24-4558-4037-81B4-D25B84C8DC5D}"/>
              </a:ext>
            </a:extLst>
          </p:cNvPr>
          <p:cNvSpPr/>
          <p:nvPr/>
        </p:nvSpPr>
        <p:spPr>
          <a:xfrm>
            <a:off x="350340" y="1661141"/>
            <a:ext cx="4466264" cy="39751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月次報告</a:t>
            </a: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・定例会</a:t>
            </a:r>
            <a:r>
              <a:rPr kumimoji="1" lang="en-US" altLang="ja-JP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kumimoji="1"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月</a:t>
            </a:r>
            <a:r>
              <a:rPr kumimoji="1" lang="en-US" altLang="ja-JP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1</a:t>
            </a:r>
            <a:r>
              <a:rPr kumimoji="1"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回実施予定</a:t>
            </a:r>
            <a:r>
              <a:rPr kumimoji="1" lang="en-US" altLang="ja-JP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  <a:endParaRPr kumimoji="1" lang="ja-JP" altLang="en-US" sz="1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9" name="正方形/長方形 58">
            <a:extLst>
              <a:ext uri="{FF2B5EF4-FFF2-40B4-BE49-F238E27FC236}">
                <a16:creationId xmlns:a16="http://schemas.microsoft.com/office/drawing/2014/main" id="{F2ABE8BE-5908-4DFB-9527-4D12BCD148B0}"/>
              </a:ext>
            </a:extLst>
          </p:cNvPr>
          <p:cNvSpPr/>
          <p:nvPr/>
        </p:nvSpPr>
        <p:spPr>
          <a:xfrm>
            <a:off x="5089396" y="1661141"/>
            <a:ext cx="4466264" cy="39751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特殊レポート（定例会にて共有）</a:t>
            </a:r>
          </a:p>
        </p:txBody>
      </p:sp>
      <p:sp>
        <p:nvSpPr>
          <p:cNvPr id="64" name="正方形/長方形 63">
            <a:extLst>
              <a:ext uri="{FF2B5EF4-FFF2-40B4-BE49-F238E27FC236}">
                <a16:creationId xmlns:a16="http://schemas.microsoft.com/office/drawing/2014/main" id="{CA462314-2DFD-4030-B021-C4DE72BA3717}"/>
              </a:ext>
            </a:extLst>
          </p:cNvPr>
          <p:cNvSpPr/>
          <p:nvPr/>
        </p:nvSpPr>
        <p:spPr>
          <a:xfrm>
            <a:off x="350340" y="1661497"/>
            <a:ext cx="4466264" cy="4586903"/>
          </a:xfrm>
          <a:prstGeom prst="rect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ja-JP" sz="1100" dirty="0">
              <a:solidFill>
                <a:schemeClr val="tx1">
                  <a:lumMod val="85000"/>
                  <a:lumOff val="1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8" name="テキスト ボックス 67">
            <a:extLst>
              <a:ext uri="{FF2B5EF4-FFF2-40B4-BE49-F238E27FC236}">
                <a16:creationId xmlns:a16="http://schemas.microsoft.com/office/drawing/2014/main" id="{BB5FCD52-F1AF-4164-8B9B-B1BB5791D3C4}"/>
              </a:ext>
            </a:extLst>
          </p:cNvPr>
          <p:cNvSpPr txBox="1"/>
          <p:nvPr/>
        </p:nvSpPr>
        <p:spPr>
          <a:xfrm>
            <a:off x="5085723" y="2196999"/>
            <a:ext cx="4466264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11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月次レポートのフォーマットでは不足するデータや</a:t>
            </a:r>
            <a:endParaRPr lang="en-US" altLang="ja-JP" sz="11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14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実績の振り返り・方針資料を必要に応じて作成</a:t>
            </a:r>
            <a:r>
              <a:rPr lang="ja-JP" altLang="en-US" sz="11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し報告。</a:t>
            </a:r>
            <a:endParaRPr lang="ja-JP" altLang="en-US" sz="1400" b="1" u="sng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9" name="正方形/長方形 68">
            <a:extLst>
              <a:ext uri="{FF2B5EF4-FFF2-40B4-BE49-F238E27FC236}">
                <a16:creationId xmlns:a16="http://schemas.microsoft.com/office/drawing/2014/main" id="{B779051D-6F11-45C8-9AF1-A8B63090D1AB}"/>
              </a:ext>
            </a:extLst>
          </p:cNvPr>
          <p:cNvSpPr/>
          <p:nvPr/>
        </p:nvSpPr>
        <p:spPr>
          <a:xfrm>
            <a:off x="5089396" y="1661497"/>
            <a:ext cx="4466264" cy="4586903"/>
          </a:xfrm>
          <a:prstGeom prst="rect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ja-JP" sz="1100" dirty="0">
              <a:solidFill>
                <a:schemeClr val="tx1">
                  <a:lumMod val="85000"/>
                  <a:lumOff val="1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pic>
        <p:nvPicPr>
          <p:cNvPr id="21" name="図 20" descr="窓, 建物, 座る, ウォーキング が含まれている画像&#10;&#10;自動的に生成された説明">
            <a:extLst>
              <a:ext uri="{FF2B5EF4-FFF2-40B4-BE49-F238E27FC236}">
                <a16:creationId xmlns:a16="http://schemas.microsoft.com/office/drawing/2014/main" id="{217A6E27-41DC-4C59-909D-0038FE642078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artisticBlur/>
                    </a14:imgEffect>
                  </a14:imgLayer>
                </a14:imgProps>
              </a:ext>
            </a:extLst>
          </a:blip>
          <a:srcRect l="31567" t="1375" r="54807" b="94005"/>
          <a:stretch/>
        </p:blipFill>
        <p:spPr>
          <a:xfrm>
            <a:off x="1809749" y="2683285"/>
            <a:ext cx="571501" cy="125653"/>
          </a:xfrm>
          <a:prstGeom prst="rect">
            <a:avLst/>
          </a:prstGeom>
        </p:spPr>
      </p:pic>
      <p:pic>
        <p:nvPicPr>
          <p:cNvPr id="4" name="図 3" descr="グラフィカル ユーザー インターフェイス, アプリケーション, テーブル, Excel&#10;&#10;自動的に生成された説明">
            <a:extLst>
              <a:ext uri="{FF2B5EF4-FFF2-40B4-BE49-F238E27FC236}">
                <a16:creationId xmlns:a16="http://schemas.microsoft.com/office/drawing/2014/main" id="{7DD310ED-03FE-4A7F-B3BD-6FB12FC14C0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0373" y="2787768"/>
            <a:ext cx="3067760" cy="209667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図 7" descr="グラフィカル ユーザー インターフェイス, アプリケーション&#10;&#10;自動的に生成された説明">
            <a:extLst>
              <a:ext uri="{FF2B5EF4-FFF2-40B4-BE49-F238E27FC236}">
                <a16:creationId xmlns:a16="http://schemas.microsoft.com/office/drawing/2014/main" id="{4157D867-9EC6-408E-BE66-2BBEBEF1FE7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577308" y="2707990"/>
            <a:ext cx="1812916" cy="125306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8A475715-D691-41ED-ACD2-FD3B8E891B30}"/>
              </a:ext>
            </a:extLst>
          </p:cNvPr>
          <p:cNvSpPr txBox="1"/>
          <p:nvPr/>
        </p:nvSpPr>
        <p:spPr>
          <a:xfrm>
            <a:off x="548883" y="2206524"/>
            <a:ext cx="4060511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11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各媒体・広告メニュー単位の細かな</a:t>
            </a:r>
            <a:endParaRPr lang="en-US" altLang="ja-JP" sz="11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14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数値報告書を月次で提出＋定例会の実施。</a:t>
            </a:r>
            <a:endParaRPr lang="en-US" altLang="ja-JP" sz="1100" b="1" dirty="0">
              <a:solidFill>
                <a:srgbClr val="C0000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3CD69AB4-8BC3-EDE4-06EC-1B3D84290867}"/>
              </a:ext>
            </a:extLst>
          </p:cNvPr>
          <p:cNvSpPr/>
          <p:nvPr/>
        </p:nvSpPr>
        <p:spPr>
          <a:xfrm>
            <a:off x="0" y="576595"/>
            <a:ext cx="9906000" cy="7935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000" b="1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E7B168CD-C1AE-8A1E-CFDC-3106A017BCC2}"/>
              </a:ext>
            </a:extLst>
          </p:cNvPr>
          <p:cNvSpPr/>
          <p:nvPr/>
        </p:nvSpPr>
        <p:spPr>
          <a:xfrm>
            <a:off x="0" y="609600"/>
            <a:ext cx="9906000" cy="3817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0000" anchor="ctr"/>
          <a:lstStyle/>
          <a:p>
            <a:pPr algn="ctr">
              <a:defRPr/>
            </a:pPr>
            <a:r>
              <a:rPr lang="ja-JP" altLang="en-US" sz="2000" b="1" spc="600" dirty="0">
                <a:solidFill>
                  <a:schemeClr val="tx1">
                    <a:lumMod val="85000"/>
                    <a:lumOff val="1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報告体制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757D429C-5068-F322-BB19-EE0F784F798A}"/>
              </a:ext>
            </a:extLst>
          </p:cNvPr>
          <p:cNvCxnSpPr>
            <a:cxnSpLocks/>
          </p:cNvCxnSpPr>
          <p:nvPr/>
        </p:nvCxnSpPr>
        <p:spPr>
          <a:xfrm>
            <a:off x="0" y="1390675"/>
            <a:ext cx="9906000" cy="0"/>
          </a:xfrm>
          <a:prstGeom prst="line">
            <a:avLst/>
          </a:prstGeom>
          <a:ln w="19050">
            <a:solidFill>
              <a:schemeClr val="bg1">
                <a:lumMod val="85000"/>
                <a:alpha val="6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968B819F-9CDE-60A7-3FF6-62A6934B006A}"/>
              </a:ext>
            </a:extLst>
          </p:cNvPr>
          <p:cNvSpPr/>
          <p:nvPr/>
        </p:nvSpPr>
        <p:spPr>
          <a:xfrm>
            <a:off x="0" y="971550"/>
            <a:ext cx="9906000" cy="4037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ご要望に応じた報告体制を敷きます。</a:t>
            </a:r>
            <a:endParaRPr lang="en-US" altLang="ja-JP" sz="10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また必要に応じて、貴社との反響管理環境を設けることも可能です。</a:t>
            </a:r>
            <a:endParaRPr lang="en-US" altLang="ja-JP" sz="10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2" name="テキスト ボックス 47">
            <a:extLst>
              <a:ext uri="{FF2B5EF4-FFF2-40B4-BE49-F238E27FC236}">
                <a16:creationId xmlns:a16="http://schemas.microsoft.com/office/drawing/2014/main" id="{4657A025-2E82-3724-90EE-CC48DE4ABC62}"/>
              </a:ext>
            </a:extLst>
          </p:cNvPr>
          <p:cNvSpPr txBox="1">
            <a:spLocks noChangeArrowheads="1"/>
          </p:cNvSpPr>
          <p:nvPr/>
        </p:nvSpPr>
        <p:spPr>
          <a:xfrm>
            <a:off x="548883" y="138118"/>
            <a:ext cx="627632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ctr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>
              <a:defRPr kumimoji="1" sz="28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>
              <a:defRPr kumimoji="1"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>
              <a:defRPr kumimoji="1"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>
              <a:defRPr kumimoji="1"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ja-JP" altLang="en-US" sz="1600" spc="3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charset="0"/>
              </a:rPr>
              <a:t>レポート体制</a:t>
            </a:r>
            <a:endParaRPr lang="ja-JP" altLang="ja-JP" sz="1600" spc="300" dirty="0">
              <a:latin typeface="メイリオ" panose="020B0604030504040204" pitchFamily="50" charset="-128"/>
              <a:ea typeface="メイリオ" panose="020B0604030504040204" pitchFamily="50" charset="-128"/>
              <a:cs typeface="メイリオ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67725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18"/>
          <p:cNvSpPr>
            <a:spLocks noChangeArrowheads="1"/>
          </p:cNvSpPr>
          <p:nvPr/>
        </p:nvSpPr>
        <p:spPr bwMode="auto">
          <a:xfrm>
            <a:off x="1715705" y="5772714"/>
            <a:ext cx="6067864" cy="3679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lvl="1">
              <a:spcBef>
                <a:spcPct val="20000"/>
              </a:spcBef>
            </a:pPr>
            <a:r>
              <a:rPr lang="ja-JP" altLang="en-US" sz="814" b="1" dirty="0">
                <a:latin typeface="メイリオ"/>
                <a:ea typeface="メイリオ"/>
                <a:cs typeface="メイリオ"/>
              </a:rPr>
              <a:t>株式会社</a:t>
            </a:r>
            <a:r>
              <a:rPr lang="en-US" altLang="ja-JP" sz="814" b="1" dirty="0">
                <a:latin typeface="メイリオ"/>
                <a:ea typeface="メイリオ"/>
                <a:cs typeface="メイリオ"/>
              </a:rPr>
              <a:t>DYM</a:t>
            </a:r>
            <a:r>
              <a:rPr lang="ja-JP" altLang="en-US" sz="814" b="1" dirty="0">
                <a:latin typeface="メイリオ"/>
                <a:ea typeface="メイリオ"/>
                <a:cs typeface="メイリオ"/>
              </a:rPr>
              <a:t>　〒</a:t>
            </a:r>
            <a:r>
              <a:rPr lang="en-US" altLang="ja-JP" sz="814" b="1" dirty="0">
                <a:latin typeface="メイリオ"/>
                <a:ea typeface="メイリオ"/>
                <a:cs typeface="メイリオ"/>
              </a:rPr>
              <a:t>141-0032</a:t>
            </a:r>
            <a:r>
              <a:rPr lang="ja-JP" altLang="en-US" sz="814" b="1" dirty="0">
                <a:latin typeface="メイリオ"/>
                <a:ea typeface="メイリオ"/>
                <a:cs typeface="メイリオ"/>
              </a:rPr>
              <a:t>　東京都品川区大崎</a:t>
            </a:r>
            <a:r>
              <a:rPr lang="en-US" altLang="ja-JP" sz="814" b="1" dirty="0">
                <a:latin typeface="メイリオ"/>
                <a:ea typeface="メイリオ"/>
                <a:cs typeface="メイリオ"/>
              </a:rPr>
              <a:t>1-11-2</a:t>
            </a:r>
            <a:r>
              <a:rPr lang="ja-JP" altLang="en-US" sz="814" b="1" dirty="0">
                <a:latin typeface="メイリオ"/>
                <a:ea typeface="メイリオ"/>
                <a:cs typeface="メイリオ"/>
              </a:rPr>
              <a:t>　ゲートシティ大崎イーストタワー</a:t>
            </a:r>
            <a:r>
              <a:rPr lang="en-US" altLang="ja-JP" sz="814" b="1" dirty="0">
                <a:latin typeface="メイリオ"/>
                <a:ea typeface="メイリオ"/>
                <a:cs typeface="メイリオ"/>
              </a:rPr>
              <a:t>10</a:t>
            </a:r>
            <a:r>
              <a:rPr lang="ja-JP" altLang="en-US" sz="814" b="1" dirty="0">
                <a:latin typeface="メイリオ"/>
                <a:ea typeface="メイリオ"/>
                <a:cs typeface="メイリオ"/>
              </a:rPr>
              <a:t>階</a:t>
            </a:r>
            <a:endParaRPr lang="en-US" altLang="ja-JP" sz="814" b="1" dirty="0">
              <a:latin typeface="メイリオ"/>
              <a:ea typeface="メイリオ"/>
              <a:cs typeface="メイリオ"/>
            </a:endParaRPr>
          </a:p>
          <a:p>
            <a:pPr lvl="1">
              <a:spcBef>
                <a:spcPct val="20000"/>
              </a:spcBef>
            </a:pPr>
            <a:r>
              <a:rPr lang="en-US" altLang="ja-JP" sz="814" b="1" dirty="0">
                <a:latin typeface="メイリオ"/>
                <a:ea typeface="メイリオ"/>
                <a:cs typeface="メイリオ"/>
              </a:rPr>
              <a:t>TEL: 03-5745-0200</a:t>
            </a:r>
            <a:r>
              <a:rPr lang="ja-JP" altLang="en-US" sz="814" b="1" dirty="0">
                <a:latin typeface="メイリオ"/>
                <a:ea typeface="メイリオ"/>
                <a:cs typeface="メイリオ"/>
              </a:rPr>
              <a:t>　</a:t>
            </a:r>
            <a:r>
              <a:rPr lang="en-US" altLang="ja-JP" sz="814" b="1" dirty="0">
                <a:latin typeface="メイリオ"/>
                <a:ea typeface="メイリオ"/>
                <a:cs typeface="メイリオ"/>
              </a:rPr>
              <a:t>FAX: 03-3779-8720 </a:t>
            </a:r>
            <a:r>
              <a:rPr lang="ja-JP" altLang="en-US" sz="814" b="1" dirty="0">
                <a:latin typeface="メイリオ"/>
                <a:ea typeface="メイリオ"/>
                <a:cs typeface="メイリオ"/>
              </a:rPr>
              <a:t>　</a:t>
            </a:r>
            <a:r>
              <a:rPr lang="en-US" altLang="ja-JP" sz="814" b="1" dirty="0">
                <a:latin typeface="メイリオ"/>
                <a:ea typeface="メイリオ"/>
                <a:cs typeface="メイリオ"/>
              </a:rPr>
              <a:t>http://dym.asia   </a:t>
            </a:r>
            <a:r>
              <a:rPr lang="ja-JP" altLang="en-US" sz="814" b="1" dirty="0">
                <a:latin typeface="メイリオ"/>
                <a:ea typeface="メイリオ"/>
                <a:cs typeface="メイリオ"/>
              </a:rPr>
              <a:t>代表取締役　水谷佑毅</a:t>
            </a:r>
          </a:p>
        </p:txBody>
      </p:sp>
      <p:pic>
        <p:nvPicPr>
          <p:cNvPr id="24" name="図 1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647" r="-11171"/>
          <a:stretch/>
        </p:blipFill>
        <p:spPr bwMode="auto">
          <a:xfrm>
            <a:off x="632874" y="5838721"/>
            <a:ext cx="1078763" cy="220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テキスト ボックス 2"/>
          <p:cNvSpPr txBox="1"/>
          <p:nvPr/>
        </p:nvSpPr>
        <p:spPr>
          <a:xfrm>
            <a:off x="5067867" y="5554003"/>
            <a:ext cx="184731" cy="2371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ja-JP" altLang="en-US" sz="941"/>
          </a:p>
        </p:txBody>
      </p:sp>
      <p:sp>
        <p:nvSpPr>
          <p:cNvPr id="18" name="正方形/長方形 17"/>
          <p:cNvSpPr/>
          <p:nvPr/>
        </p:nvSpPr>
        <p:spPr>
          <a:xfrm>
            <a:off x="2226199" y="1038910"/>
            <a:ext cx="5453603" cy="3939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ja-JP" altLang="en-US" sz="1960" b="1" dirty="0">
                <a:latin typeface="メイリオ" charset="0"/>
                <a:ea typeface="メイリオ" charset="0"/>
                <a:cs typeface="メイリオ" charset="0"/>
              </a:rPr>
              <a:t>貴社の明るい未来に必ず貢献いたします。</a:t>
            </a:r>
          </a:p>
        </p:txBody>
      </p:sp>
      <p:pic>
        <p:nvPicPr>
          <p:cNvPr id="8" name="図 7" descr="講堂にいる人たち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5B96EA89-222D-7EE1-4654-F560D9B96A9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24" t="12017" r="1459" b="1448"/>
          <a:stretch/>
        </p:blipFill>
        <p:spPr>
          <a:xfrm>
            <a:off x="473264" y="2017903"/>
            <a:ext cx="4214295" cy="2539973"/>
          </a:xfrm>
          <a:prstGeom prst="rect">
            <a:avLst/>
          </a:prstGeom>
        </p:spPr>
      </p:pic>
      <p:pic>
        <p:nvPicPr>
          <p:cNvPr id="14" name="図 13" descr="ポーズをとる男性グループ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D48298A5-1C37-819D-EC16-7AFB32FEC88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22" t="20620" r="13252" b="5453"/>
          <a:stretch/>
        </p:blipFill>
        <p:spPr>
          <a:xfrm>
            <a:off x="4661055" y="3366451"/>
            <a:ext cx="1775014" cy="1191427"/>
          </a:xfrm>
          <a:prstGeom prst="rect">
            <a:avLst/>
          </a:prstGeom>
        </p:spPr>
      </p:pic>
      <p:pic>
        <p:nvPicPr>
          <p:cNvPr id="20" name="図 19" descr="人, 屋内, 女性, ボックス が含まれている画像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7C8EB868-EEC1-599C-50C4-34233465F84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34" t="3253" r="23882" b="24218"/>
          <a:stretch/>
        </p:blipFill>
        <p:spPr>
          <a:xfrm>
            <a:off x="8076765" y="3352909"/>
            <a:ext cx="1372706" cy="1204968"/>
          </a:xfrm>
          <a:prstGeom prst="rect">
            <a:avLst/>
          </a:prstGeom>
        </p:spPr>
      </p:pic>
      <p:pic>
        <p:nvPicPr>
          <p:cNvPr id="6" name="図 5" descr="スーツを着た男性と文字&#10;&#10;低い精度で自動的に生成された説明">
            <a:extLst>
              <a:ext uri="{FF2B5EF4-FFF2-40B4-BE49-F238E27FC236}">
                <a16:creationId xmlns:a16="http://schemas.microsoft.com/office/drawing/2014/main" id="{DCA0A1E3-BE99-513C-E589-1E8C035070E8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12" r="10622" b="20845"/>
          <a:stretch/>
        </p:blipFill>
        <p:spPr>
          <a:xfrm>
            <a:off x="6410361" y="3333753"/>
            <a:ext cx="1666406" cy="1224125"/>
          </a:xfrm>
          <a:prstGeom prst="rect">
            <a:avLst/>
          </a:prstGeom>
        </p:spPr>
      </p:pic>
      <p:pic>
        <p:nvPicPr>
          <p:cNvPr id="12" name="図 11" descr="並んで立っている数人の人たち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7AA5C9AE-0C20-1FF0-8570-964DF9391EBB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4147" y="2017497"/>
            <a:ext cx="2408590" cy="1352022"/>
          </a:xfrm>
          <a:prstGeom prst="rect">
            <a:avLst/>
          </a:prstGeom>
        </p:spPr>
      </p:pic>
      <p:pic>
        <p:nvPicPr>
          <p:cNvPr id="17" name="図 16" descr="白い壁の前に立っている子供たち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3F5A2749-D4AC-2F37-FC68-2734BC439C61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1055" y="2017903"/>
            <a:ext cx="2408591" cy="1355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124959"/>
      </p:ext>
    </p:extLst>
  </p:cSld>
  <p:clrMapOvr>
    <a:masterClrMapping/>
  </p:clrMapOvr>
  <p:transition spd="slow"/>
</p:sld>
</file>

<file path=ppt/theme/theme1.xml><?xml version="1.0" encoding="utf-8"?>
<a:theme xmlns:a="http://schemas.openxmlformats.org/drawingml/2006/main" name="テーマ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メイリオ">
      <a:majorFont>
        <a:latin typeface="メイリオ"/>
        <a:ea typeface="メイリオ"/>
        <a:cs typeface=""/>
      </a:majorFont>
      <a:minorFont>
        <a:latin typeface="メイリオ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EBプロモーションのご提案.potx.pptx" id="{3FC551FC-C7A7-4268-A07A-7C6543520743}" vid="{DD85DC60-A8C2-4D3B-8834-8CE9D53FF6D0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WEBプロモーションのご提案</Template>
  <TotalTime>22430</TotalTime>
  <Words>3263</Words>
  <Application>Microsoft Office PowerPoint</Application>
  <PresentationFormat>A4 210 x 297 mm</PresentationFormat>
  <Paragraphs>620</Paragraphs>
  <Slides>41</Slides>
  <Notes>10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41</vt:i4>
      </vt:variant>
    </vt:vector>
  </HeadingPairs>
  <TitlesOfParts>
    <vt:vector size="49" baseType="lpstr">
      <vt:lpstr>Hiragino Sans GB W6</vt:lpstr>
      <vt:lpstr>Meiryo UI</vt:lpstr>
      <vt:lpstr>Meiryo</vt:lpstr>
      <vt:lpstr>Meiryo</vt:lpstr>
      <vt:lpstr>游ゴシック</vt:lpstr>
      <vt:lpstr>Arial</vt:lpstr>
      <vt:lpstr>Calibri</vt:lpstr>
      <vt:lpstr>テーマ1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 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星澤 一磨</dc:creator>
  <cp:lastModifiedBy>殿村 亮太</cp:lastModifiedBy>
  <cp:revision>87</cp:revision>
  <dcterms:created xsi:type="dcterms:W3CDTF">2024-09-04T02:13:33Z</dcterms:created>
  <dcterms:modified xsi:type="dcterms:W3CDTF">2026-07-08T21:59:18Z</dcterms:modified>
</cp:coreProperties>
</file>