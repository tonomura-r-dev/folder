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3"/>
  </p:notesMasterIdLst>
  <p:handoutMasterIdLst>
    <p:handoutMasterId r:id="rId54"/>
  </p:handoutMasterIdLst>
  <p:sldIdLst>
    <p:sldId id="2363" r:id="rId3"/>
    <p:sldId id="3151" r:id="rId4"/>
    <p:sldId id="2935" r:id="rId5"/>
    <p:sldId id="2908" r:id="rId6"/>
    <p:sldId id="2950" r:id="rId7"/>
    <p:sldId id="2937" r:id="rId8"/>
    <p:sldId id="2966" r:id="rId9"/>
    <p:sldId id="2939" r:id="rId10"/>
    <p:sldId id="3140" r:id="rId11"/>
    <p:sldId id="3141" r:id="rId12"/>
    <p:sldId id="3142" r:id="rId13"/>
    <p:sldId id="2997" r:id="rId14"/>
    <p:sldId id="2956" r:id="rId15"/>
    <p:sldId id="2988" r:id="rId16"/>
    <p:sldId id="2972" r:id="rId17"/>
    <p:sldId id="3139" r:id="rId18"/>
    <p:sldId id="3147" r:id="rId19"/>
    <p:sldId id="3138" r:id="rId20"/>
    <p:sldId id="267" r:id="rId21"/>
    <p:sldId id="3148" r:id="rId22"/>
    <p:sldId id="2736" r:id="rId23"/>
    <p:sldId id="2983" r:id="rId24"/>
    <p:sldId id="2996" r:id="rId25"/>
    <p:sldId id="3143" r:id="rId26"/>
    <p:sldId id="3153" r:id="rId27"/>
    <p:sldId id="3144" r:id="rId28"/>
    <p:sldId id="3149" r:id="rId29"/>
    <p:sldId id="3145" r:id="rId30"/>
    <p:sldId id="3150" r:id="rId31"/>
    <p:sldId id="2984" r:id="rId32"/>
    <p:sldId id="2985" r:id="rId33"/>
    <p:sldId id="2962" r:id="rId34"/>
    <p:sldId id="2942" r:id="rId35"/>
    <p:sldId id="2941" r:id="rId36"/>
    <p:sldId id="2943" r:id="rId37"/>
    <p:sldId id="2944" r:id="rId38"/>
    <p:sldId id="3146" r:id="rId39"/>
    <p:sldId id="3154" r:id="rId40"/>
    <p:sldId id="3155" r:id="rId41"/>
    <p:sldId id="3156" r:id="rId42"/>
    <p:sldId id="3157" r:id="rId43"/>
    <p:sldId id="2990" r:id="rId44"/>
    <p:sldId id="2991" r:id="rId45"/>
    <p:sldId id="2967" r:id="rId46"/>
    <p:sldId id="3152" r:id="rId47"/>
    <p:sldId id="2946" r:id="rId48"/>
    <p:sldId id="2947" r:id="rId49"/>
    <p:sldId id="2948" r:id="rId50"/>
    <p:sldId id="2958" r:id="rId51"/>
    <p:sldId id="1169" r:id="rId5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FDFD"/>
    <a:srgbClr val="2D6CB9"/>
    <a:srgbClr val="173559"/>
    <a:srgbClr val="04FA0A"/>
    <a:srgbClr val="2080FF"/>
    <a:srgbClr val="1D8DFF"/>
    <a:srgbClr val="515457"/>
    <a:srgbClr val="F6A454"/>
    <a:srgbClr val="EAEEF4"/>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905" autoAdjust="0"/>
    <p:restoredTop sz="94424" autoAdjust="0"/>
  </p:normalViewPr>
  <p:slideViewPr>
    <p:cSldViewPr snapToGrid="0">
      <p:cViewPr varScale="1">
        <p:scale>
          <a:sx n="110" d="100"/>
          <a:sy n="110" d="100"/>
        </p:scale>
        <p:origin x="15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notesMaster" Target="notesMasters/notesMaster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2026/9/25</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メイリオ"/>
        <a:ea typeface="メイリオ"/>
        <a:cs typeface="+mn-cs"/>
      </a:defRPr>
    </a:lvl1pPr>
    <a:lvl2pPr marL="457200" algn="l" defTabSz="914400" rtl="0" eaLnBrk="1" latinLnBrk="0" hangingPunct="1">
      <a:defRPr kumimoji="1" sz="1200" kern="1200">
        <a:solidFill>
          <a:schemeClr val="tx1"/>
        </a:solidFill>
        <a:latin typeface="メイリオ"/>
        <a:ea typeface="メイリオ"/>
        <a:cs typeface="+mn-cs"/>
      </a:defRPr>
    </a:lvl2pPr>
    <a:lvl3pPr marL="914400" algn="l" defTabSz="914400" rtl="0" eaLnBrk="1" latinLnBrk="0" hangingPunct="1">
      <a:defRPr kumimoji="1" sz="1200" kern="1200">
        <a:solidFill>
          <a:schemeClr val="tx1"/>
        </a:solidFill>
        <a:latin typeface="メイリオ"/>
        <a:ea typeface="メイリオ"/>
        <a:cs typeface="+mn-cs"/>
      </a:defRPr>
    </a:lvl3pPr>
    <a:lvl4pPr marL="1371600" algn="l" defTabSz="914400" rtl="0" eaLnBrk="1" latinLnBrk="0" hangingPunct="1">
      <a:defRPr kumimoji="1" sz="1200" kern="1200">
        <a:solidFill>
          <a:schemeClr val="tx1"/>
        </a:solidFill>
        <a:latin typeface="メイリオ"/>
        <a:ea typeface="メイリオ"/>
        <a:cs typeface="+mn-cs"/>
      </a:defRPr>
    </a:lvl4pPr>
    <a:lvl5pPr marL="1828800" algn="l" defTabSz="914400" rtl="0" eaLnBrk="1" latinLnBrk="0" hangingPunct="1">
      <a:defRPr kumimoji="1" sz="1200" kern="1200">
        <a:solidFill>
          <a:schemeClr val="tx1"/>
        </a:solidFill>
        <a:latin typeface="メイリオ"/>
        <a:ea typeface="メイリオ"/>
        <a:cs typeface="+mn-cs"/>
      </a:defRPr>
    </a:lvl5pPr>
    <a:lvl6pPr marL="2286000" algn="l" defTabSz="914400" rtl="0" eaLnBrk="1" latinLnBrk="0" hangingPunct="1">
      <a:defRPr kumimoji="1" sz="1200" kern="1200">
        <a:solidFill>
          <a:schemeClr val="tx1"/>
        </a:solidFill>
        <a:latin typeface="メイリオ"/>
        <a:ea typeface="メイリオ"/>
        <a:cs typeface="+mn-cs"/>
      </a:defRPr>
    </a:lvl6pPr>
    <a:lvl7pPr marL="2743200" algn="l" defTabSz="914400" rtl="0" eaLnBrk="1" latinLnBrk="0" hangingPunct="1">
      <a:defRPr kumimoji="1" sz="1200" kern="1200">
        <a:solidFill>
          <a:schemeClr val="tx1"/>
        </a:solidFill>
        <a:latin typeface="メイリオ"/>
        <a:ea typeface="メイリオ"/>
        <a:cs typeface="+mn-cs"/>
      </a:defRPr>
    </a:lvl7pPr>
    <a:lvl8pPr marL="3200400" algn="l" defTabSz="914400" rtl="0" eaLnBrk="1" latinLnBrk="0" hangingPunct="1">
      <a:defRPr kumimoji="1" sz="1200" kern="1200">
        <a:solidFill>
          <a:schemeClr val="tx1"/>
        </a:solidFill>
        <a:latin typeface="メイリオ"/>
        <a:ea typeface="メイリオ"/>
        <a:cs typeface="+mn-cs"/>
      </a:defRPr>
    </a:lvl8pPr>
    <a:lvl9pPr marL="3657600" algn="l" defTabSz="914400" rtl="0" eaLnBrk="1" latinLnBrk="0" hangingPunct="1">
      <a:defRPr kumimoji="1" sz="1200" kern="1200">
        <a:solidFill>
          <a:schemeClr val="tx1"/>
        </a:solidFill>
        <a:latin typeface="メイリオ"/>
        <a:ea typeface="メイリオ"/>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E855B-5535-79F7-D3A0-C0A506787C8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6FB8FB-0888-2275-ABE8-A13FDAA10E3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D71EA6C-9577-A559-064D-4DE5700FB2FB}"/>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1C4F904-4503-6BD1-FC32-6AA038134FF0}"/>
              </a:ext>
            </a:extLst>
          </p:cNvPr>
          <p:cNvSpPr>
            <a:spLocks noGrp="1"/>
          </p:cNvSpPr>
          <p:nvPr>
            <p:ph type="sldNum" sz="quarter" idx="10"/>
          </p:nvPr>
        </p:nvSpPr>
        <p:spPr/>
        <p:txBody>
          <a:bodyPr/>
          <a:lstStyle/>
          <a:p>
            <a:fld id="{022E43C0-6795-4B13-B37C-259C826D4B6A}" type="slidenum">
              <a:rPr kumimoji="1" lang="ja-JP" altLang="en-US" smtClean="0"/>
              <a:t>3</a:t>
            </a:fld>
            <a:endParaRPr kumimoji="1" lang="ja-JP" altLang="en-US"/>
          </a:p>
        </p:txBody>
      </p:sp>
    </p:spTree>
    <p:extLst>
      <p:ext uri="{BB962C8B-B14F-4D97-AF65-F5344CB8AC3E}">
        <p14:creationId xmlns:p14="http://schemas.microsoft.com/office/powerpoint/2010/main" val="11254210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7E86F-A6D1-E87A-0CDF-967B15A6E0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EB2A411-33D2-6528-1C93-D186B198494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6218984-9375-B358-47D3-58B36CCF8DAE}"/>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51F039DC-7BEC-8764-B0DE-E4A154E5A1A8}"/>
              </a:ext>
            </a:extLst>
          </p:cNvPr>
          <p:cNvSpPr>
            <a:spLocks noGrp="1"/>
          </p:cNvSpPr>
          <p:nvPr>
            <p:ph type="sldNum" sz="quarter" idx="10"/>
          </p:nvPr>
        </p:nvSpPr>
        <p:spPr/>
        <p:txBody>
          <a:bodyPr/>
          <a:lstStyle/>
          <a:p>
            <a:fld id="{022E43C0-6795-4B13-B37C-259C826D4B6A}" type="slidenum">
              <a:rPr kumimoji="1" lang="ja-JP" altLang="en-US" smtClean="0"/>
              <a:t>5</a:t>
            </a:fld>
            <a:endParaRPr kumimoji="1" lang="ja-JP" altLang="en-US"/>
          </a:p>
        </p:txBody>
      </p:sp>
    </p:spTree>
    <p:extLst>
      <p:ext uri="{BB962C8B-B14F-4D97-AF65-F5344CB8AC3E}">
        <p14:creationId xmlns:p14="http://schemas.microsoft.com/office/powerpoint/2010/main" val="6156830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440A72-79AB-D734-F919-6B5353A0768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43DCC9-013F-5916-497A-3173AB3EE69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E4841C-3C6F-F028-ED9E-D25D3936D70F}"/>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8A806F5D-B3E8-8EF8-D9FF-5F440AE7245B}"/>
              </a:ext>
            </a:extLst>
          </p:cNvPr>
          <p:cNvSpPr>
            <a:spLocks noGrp="1"/>
          </p:cNvSpPr>
          <p:nvPr>
            <p:ph type="sldNum" sz="quarter" idx="10"/>
          </p:nvPr>
        </p:nvSpPr>
        <p:spPr/>
        <p:txBody>
          <a:bodyPr/>
          <a:lstStyle/>
          <a:p>
            <a:fld id="{022E43C0-6795-4B13-B37C-259C826D4B6A}" type="slidenum">
              <a:rPr kumimoji="1" lang="ja-JP" altLang="en-US" smtClean="0"/>
              <a:t>15</a:t>
            </a:fld>
            <a:endParaRPr kumimoji="1" lang="ja-JP" altLang="en-US"/>
          </a:p>
        </p:txBody>
      </p:sp>
    </p:spTree>
    <p:extLst>
      <p:ext uri="{BB962C8B-B14F-4D97-AF65-F5344CB8AC3E}">
        <p14:creationId xmlns:p14="http://schemas.microsoft.com/office/powerpoint/2010/main" val="42606325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12:notes"/>
          <p:cNvSpPr txBox="1">
            <a:spLocks noGrp="1"/>
          </p:cNvSpPr>
          <p:nvPr>
            <p:ph type="body" idx="1"/>
          </p:nvPr>
        </p:nvSpPr>
        <p:spPr>
          <a:xfrm>
            <a:off x="992030" y="3229651"/>
            <a:ext cx="7945755" cy="3059669"/>
          </a:xfrm>
          <a:prstGeom prst="rect">
            <a:avLst/>
          </a:prstGeom>
        </p:spPr>
        <p:txBody>
          <a:bodyPr spcFirstLastPara="1" wrap="square" lIns="95525" tIns="47750" rIns="95525" bIns="47750" anchor="t" anchorCtr="0">
            <a:noAutofit/>
          </a:bodyPr>
          <a:lstStyle/>
          <a:p>
            <a:pPr marL="0" lvl="0" indent="0" algn="l" rtl="0">
              <a:spcBef>
                <a:spcPts val="360"/>
              </a:spcBef>
              <a:spcAft>
                <a:spcPts val="0"/>
              </a:spcAft>
              <a:buNone/>
            </a:pPr>
            <a:endParaRPr/>
          </a:p>
        </p:txBody>
      </p:sp>
      <p:sp>
        <p:nvSpPr>
          <p:cNvPr id="468" name="Google Shape;468;p12:notes"/>
          <p:cNvSpPr>
            <a:spLocks noGrp="1" noRot="1" noChangeAspect="1"/>
          </p:cNvSpPr>
          <p:nvPr>
            <p:ph type="sldImg" idx="2"/>
          </p:nvPr>
        </p:nvSpPr>
        <p:spPr>
          <a:xfrm>
            <a:off x="3124200" y="509588"/>
            <a:ext cx="3681413" cy="2549525"/>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17225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9B1800-D47D-9623-88C4-F3F1B11ED7C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4ED9-0313-110E-A57A-A9A15550FCA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01CA249-8084-E89C-5484-AD2CD6CA53A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BCB72AE6-8350-35EF-B366-1B6DD9FAA1BC}"/>
              </a:ext>
            </a:extLst>
          </p:cNvPr>
          <p:cNvSpPr>
            <a:spLocks noGrp="1"/>
          </p:cNvSpPr>
          <p:nvPr>
            <p:ph type="sldNum" sz="quarter" idx="10"/>
          </p:nvPr>
        </p:nvSpPr>
        <p:spPr/>
        <p:txBody>
          <a:bodyPr/>
          <a:lstStyle/>
          <a:p>
            <a:fld id="{022E43C0-6795-4B13-B37C-259C826D4B6A}" type="slidenum">
              <a:rPr kumimoji="1" lang="ja-JP" altLang="en-US" smtClean="0"/>
              <a:t>22</a:t>
            </a:fld>
            <a:endParaRPr kumimoji="1" lang="ja-JP" altLang="en-US"/>
          </a:p>
        </p:txBody>
      </p:sp>
    </p:spTree>
    <p:extLst>
      <p:ext uri="{BB962C8B-B14F-4D97-AF65-F5344CB8AC3E}">
        <p14:creationId xmlns:p14="http://schemas.microsoft.com/office/powerpoint/2010/main" val="837630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1A0FCE-2B60-6073-0196-9BECEBB48CB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7CFE8D6-363C-C197-3C60-88A1849108C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2E45DC0-523A-3D00-326B-F7335CED0B2C}"/>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F781AB6B-D743-8208-3F8A-0CEEC635A50D}"/>
              </a:ext>
            </a:extLst>
          </p:cNvPr>
          <p:cNvSpPr>
            <a:spLocks noGrp="1"/>
          </p:cNvSpPr>
          <p:nvPr>
            <p:ph type="sldNum" sz="quarter" idx="10"/>
          </p:nvPr>
        </p:nvSpPr>
        <p:spPr/>
        <p:txBody>
          <a:bodyPr/>
          <a:lstStyle/>
          <a:p>
            <a:fld id="{022E43C0-6795-4B13-B37C-259C826D4B6A}" type="slidenum">
              <a:rPr kumimoji="1" lang="ja-JP" altLang="en-US" smtClean="0"/>
              <a:t>23</a:t>
            </a:fld>
            <a:endParaRPr kumimoji="1" lang="ja-JP" altLang="en-US"/>
          </a:p>
        </p:txBody>
      </p:sp>
    </p:spTree>
    <p:extLst>
      <p:ext uri="{BB962C8B-B14F-4D97-AF65-F5344CB8AC3E}">
        <p14:creationId xmlns:p14="http://schemas.microsoft.com/office/powerpoint/2010/main" val="12930765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7D297-594A-D322-AC6D-28FDD0CCC6A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AD47DAF-3395-7EB8-B917-99947107C4E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D9425B-51D3-BDCB-545C-23641969BEA2}"/>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A3D62E5C-A1FD-A187-2F31-A827800A2799}"/>
              </a:ext>
            </a:extLst>
          </p:cNvPr>
          <p:cNvSpPr>
            <a:spLocks noGrp="1"/>
          </p:cNvSpPr>
          <p:nvPr>
            <p:ph type="sldNum" sz="quarter" idx="10"/>
          </p:nvPr>
        </p:nvSpPr>
        <p:spPr/>
        <p:txBody>
          <a:bodyPr/>
          <a:lstStyle/>
          <a:p>
            <a:fld id="{022E43C0-6795-4B13-B37C-259C826D4B6A}" type="slidenum">
              <a:rPr kumimoji="1" lang="ja-JP" altLang="en-US" smtClean="0"/>
              <a:t>30</a:t>
            </a:fld>
            <a:endParaRPr kumimoji="1" lang="ja-JP" altLang="en-US"/>
          </a:p>
        </p:txBody>
      </p:sp>
    </p:spTree>
    <p:extLst>
      <p:ext uri="{BB962C8B-B14F-4D97-AF65-F5344CB8AC3E}">
        <p14:creationId xmlns:p14="http://schemas.microsoft.com/office/powerpoint/2010/main" val="3521900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4CC1BB-A366-B481-D59D-4EB5532777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890F8B-EEFF-D02B-04F0-B8C096E43F4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1D321AA-CFFF-72F6-A10A-CE135C21D901}"/>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28A77C-D838-F107-1299-1CFE8BFB2F29}"/>
              </a:ext>
            </a:extLst>
          </p:cNvPr>
          <p:cNvSpPr>
            <a:spLocks noGrp="1"/>
          </p:cNvSpPr>
          <p:nvPr>
            <p:ph type="sldNum" sz="quarter" idx="10"/>
          </p:nvPr>
        </p:nvSpPr>
        <p:spPr/>
        <p:txBody>
          <a:bodyPr/>
          <a:lstStyle/>
          <a:p>
            <a:fld id="{022E43C0-6795-4B13-B37C-259C826D4B6A}" type="slidenum">
              <a:rPr kumimoji="1" lang="ja-JP" altLang="en-US" smtClean="0"/>
              <a:t>31</a:t>
            </a:fld>
            <a:endParaRPr kumimoji="1" lang="ja-JP" altLang="en-US"/>
          </a:p>
        </p:txBody>
      </p:sp>
    </p:spTree>
    <p:extLst>
      <p:ext uri="{BB962C8B-B14F-4D97-AF65-F5344CB8AC3E}">
        <p14:creationId xmlns:p14="http://schemas.microsoft.com/office/powerpoint/2010/main" val="30923610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メイリオ"/>
              <a:ea typeface="メイリオ"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メイリオ"/>
                <a:ea typeface="メイリオ" panose="020B0600070205080204" pitchFamily="50" charset="-128"/>
              </a:rPr>
              <a:pPr defTabSz="956886">
                <a:defRPr/>
              </a:pPr>
              <a:t>50</a:t>
            </a:fld>
            <a:endParaRPr lang="ja-JP" altLang="en-US">
              <a:solidFill>
                <a:prstClr val="black"/>
              </a:solidFill>
              <a:latin typeface="メイリオ"/>
              <a:ea typeface="メイリオ"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メイリオ"/>
          <a:ea typeface="メイリオ"/>
          <a:cs typeface="+mj-cs"/>
        </a:defRPr>
      </a:lvl1pPr>
      <a:lvl2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メイリオ"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メイリオ"/>
          <a:ea typeface="メイリオ"/>
          <a:cs typeface="+mn-cs"/>
        </a:defRPr>
      </a:lvl9pPr>
    </p:bodyStyle>
    <p:other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メイリオ" charset="0"/>
                <a:ea typeface="メイリオ" charset="0"/>
                <a:cs typeface="ＭＳ Ｐゴシック" charset="0"/>
              </a:defRPr>
            </a:lvl1pPr>
            <a:lvl2pPr marL="742950" indent="-285750">
              <a:defRPr kumimoji="1" sz="2400">
                <a:solidFill>
                  <a:schemeClr val="tx1"/>
                </a:solidFill>
                <a:latin typeface="メイリオ" charset="0"/>
                <a:ea typeface="メイリオ" charset="0"/>
              </a:defRPr>
            </a:lvl2pPr>
            <a:lvl3pPr marL="1143000" indent="-228600">
              <a:defRPr kumimoji="1" sz="2400">
                <a:solidFill>
                  <a:schemeClr val="tx1"/>
                </a:solidFill>
                <a:latin typeface="メイリオ" charset="0"/>
                <a:ea typeface="メイリオ" charset="0"/>
              </a:defRPr>
            </a:lvl3pPr>
            <a:lvl4pPr marL="1600200" indent="-228600">
              <a:defRPr kumimoji="1" sz="2400">
                <a:solidFill>
                  <a:schemeClr val="tx1"/>
                </a:solidFill>
                <a:latin typeface="メイリオ" charset="0"/>
                <a:ea typeface="メイリオ" charset="0"/>
              </a:defRPr>
            </a:lvl4pPr>
            <a:lvl5pPr marL="2057400" indent="-228600">
              <a:defRPr kumimoji="1" sz="2400">
                <a:solidFill>
                  <a:schemeClr val="tx1"/>
                </a:solidFill>
                <a:latin typeface="メイリオ" charset="0"/>
                <a:ea typeface="メイリオ" charset="0"/>
              </a:defRPr>
            </a:lvl5pPr>
            <a:lvl6pPr marL="2514600" indent="-228600" fontAlgn="base">
              <a:spcBef>
                <a:spcPct val="0"/>
              </a:spcBef>
              <a:spcAft>
                <a:spcPct val="0"/>
              </a:spcAft>
              <a:defRPr kumimoji="1" sz="2400">
                <a:solidFill>
                  <a:schemeClr val="tx1"/>
                </a:solidFill>
                <a:latin typeface="メイリオ" charset="0"/>
                <a:ea typeface="メイリオ" charset="0"/>
              </a:defRPr>
            </a:lvl6pPr>
            <a:lvl7pPr marL="2971800" indent="-228600" fontAlgn="base">
              <a:spcBef>
                <a:spcPct val="0"/>
              </a:spcBef>
              <a:spcAft>
                <a:spcPct val="0"/>
              </a:spcAft>
              <a:defRPr kumimoji="1" sz="2400">
                <a:solidFill>
                  <a:schemeClr val="tx1"/>
                </a:solidFill>
                <a:latin typeface="メイリオ" charset="0"/>
                <a:ea typeface="メイリオ" charset="0"/>
              </a:defRPr>
            </a:lvl7pPr>
            <a:lvl8pPr marL="3429000" indent="-228600" fontAlgn="base">
              <a:spcBef>
                <a:spcPct val="0"/>
              </a:spcBef>
              <a:spcAft>
                <a:spcPct val="0"/>
              </a:spcAft>
              <a:defRPr kumimoji="1" sz="2400">
                <a:solidFill>
                  <a:schemeClr val="tx1"/>
                </a:solidFill>
                <a:latin typeface="メイリオ" charset="0"/>
                <a:ea typeface="メイリオ" charset="0"/>
              </a:defRPr>
            </a:lvl8pPr>
            <a:lvl9pPr marL="3886200" indent="-228600" fontAlgn="base">
              <a:spcBef>
                <a:spcPct val="0"/>
              </a:spcBef>
              <a:spcAft>
                <a:spcPct val="0"/>
              </a:spcAft>
              <a:defRPr kumimoji="1" sz="2400">
                <a:solidFill>
                  <a:schemeClr val="tx1"/>
                </a:solidFill>
                <a:latin typeface="メイリオ" charset="0"/>
                <a:ea typeface="メイリオ"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r"/>
            <a:fld id="{9FC100E3-15F5-4145-A942-47DB1D8B776D}" type="slidenum">
              <a:rPr lang="ja-JP" altLang="en-US" sz="1400" i="1" smtClean="0">
                <a:solidFill>
                  <a:prstClr val="white"/>
                </a:solidFill>
                <a:latin typeface="メイリオ" panose="020B0502020202020204" pitchFamily="34" charset="0"/>
                <a:ea typeface="メイリオ"/>
              </a:rPr>
              <a:pPr algn="r"/>
              <a:t>‹#›</a:t>
            </a:fld>
            <a:endParaRPr lang="ja-JP" altLang="en-US" sz="1400" i="1" dirty="0">
              <a:solidFill>
                <a:prstClr val="white"/>
              </a:solidFill>
              <a:latin typeface="メイリオ" panose="020B0502020202020204" pitchFamily="34" charset="0"/>
              <a:ea typeface="メイリオ"/>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メイリオ"/>
          <a:ea typeface="メイリオ"/>
          <a:cs typeface="ＭＳ Ｐゴシック" charset="0"/>
        </a:defRPr>
      </a:lvl1pPr>
      <a:lvl2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メイリオ" charset="0"/>
          <a:ea typeface="メイリオ"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メイリオ"/>
          <a:ea typeface="メイリオ"/>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メイリオ"/>
          <a:ea typeface="メイリオ"/>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メイリオ"/>
          <a:ea typeface="メイリオ"/>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メイリオ"/>
          <a:ea typeface="メイリオ"/>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メイリオ"/>
          <a:ea typeface="メイリオ"/>
          <a:cs typeface="+mn-cs"/>
        </a:defRPr>
      </a:lvl9pPr>
    </p:bodyStyle>
    <p:otherStyle>
      <a:defPPr>
        <a:defRPr lang="ja-JP"/>
      </a:defPPr>
      <a:lvl1pPr marL="0" algn="l" defTabSz="457200" rtl="0" eaLnBrk="1" latinLnBrk="0" hangingPunct="1">
        <a:defRPr kumimoji="1" sz="1800" kern="1200">
          <a:solidFill>
            <a:schemeClr val="tx1"/>
          </a:solidFill>
          <a:latin typeface="メイリオ"/>
          <a:ea typeface="メイリオ"/>
          <a:cs typeface="+mn-cs"/>
        </a:defRPr>
      </a:lvl1pPr>
      <a:lvl2pPr marL="457200" algn="l" defTabSz="457200" rtl="0" eaLnBrk="1" latinLnBrk="0" hangingPunct="1">
        <a:defRPr kumimoji="1" sz="1800" kern="1200">
          <a:solidFill>
            <a:schemeClr val="tx1"/>
          </a:solidFill>
          <a:latin typeface="メイリオ"/>
          <a:ea typeface="メイリオ"/>
          <a:cs typeface="+mn-cs"/>
        </a:defRPr>
      </a:lvl2pPr>
      <a:lvl3pPr marL="914400" algn="l" defTabSz="457200" rtl="0" eaLnBrk="1" latinLnBrk="0" hangingPunct="1">
        <a:defRPr kumimoji="1" sz="1800" kern="1200">
          <a:solidFill>
            <a:schemeClr val="tx1"/>
          </a:solidFill>
          <a:latin typeface="メイリオ"/>
          <a:ea typeface="メイリオ"/>
          <a:cs typeface="+mn-cs"/>
        </a:defRPr>
      </a:lvl3pPr>
      <a:lvl4pPr marL="1371600" algn="l" defTabSz="457200" rtl="0" eaLnBrk="1" latinLnBrk="0" hangingPunct="1">
        <a:defRPr kumimoji="1" sz="1800" kern="1200">
          <a:solidFill>
            <a:schemeClr val="tx1"/>
          </a:solidFill>
          <a:latin typeface="メイリオ"/>
          <a:ea typeface="メイリオ"/>
          <a:cs typeface="+mn-cs"/>
        </a:defRPr>
      </a:lvl4pPr>
      <a:lvl5pPr marL="1828800" algn="l" defTabSz="457200" rtl="0" eaLnBrk="1" latinLnBrk="0" hangingPunct="1">
        <a:defRPr kumimoji="1" sz="1800" kern="1200">
          <a:solidFill>
            <a:schemeClr val="tx1"/>
          </a:solidFill>
          <a:latin typeface="メイリオ"/>
          <a:ea typeface="メイリオ"/>
          <a:cs typeface="+mn-cs"/>
        </a:defRPr>
      </a:lvl5pPr>
      <a:lvl6pPr marL="2286000" algn="l" defTabSz="457200" rtl="0" eaLnBrk="1" latinLnBrk="0" hangingPunct="1">
        <a:defRPr kumimoji="1" sz="1800" kern="1200">
          <a:solidFill>
            <a:schemeClr val="tx1"/>
          </a:solidFill>
          <a:latin typeface="メイリオ"/>
          <a:ea typeface="メイリオ"/>
          <a:cs typeface="+mn-cs"/>
        </a:defRPr>
      </a:lvl6pPr>
      <a:lvl7pPr marL="2743200" algn="l" defTabSz="457200" rtl="0" eaLnBrk="1" latinLnBrk="0" hangingPunct="1">
        <a:defRPr kumimoji="1" sz="1800" kern="1200">
          <a:solidFill>
            <a:schemeClr val="tx1"/>
          </a:solidFill>
          <a:latin typeface="メイリオ"/>
          <a:ea typeface="メイリオ"/>
          <a:cs typeface="+mn-cs"/>
        </a:defRPr>
      </a:lvl7pPr>
      <a:lvl8pPr marL="3200400" algn="l" defTabSz="457200" rtl="0" eaLnBrk="1" latinLnBrk="0" hangingPunct="1">
        <a:defRPr kumimoji="1" sz="1800" kern="1200">
          <a:solidFill>
            <a:schemeClr val="tx1"/>
          </a:solidFill>
          <a:latin typeface="メイリオ"/>
          <a:ea typeface="メイリオ"/>
          <a:cs typeface="+mn-cs"/>
        </a:defRPr>
      </a:lvl8pPr>
      <a:lvl9pPr marL="3657600" algn="l" defTabSz="457200" rtl="0" eaLnBrk="1" latinLnBrk="0" hangingPunct="1">
        <a:defRPr kumimoji="1" sz="1800" kern="1200">
          <a:solidFill>
            <a:schemeClr val="tx1"/>
          </a:solidFill>
          <a:latin typeface="メイリオ"/>
          <a:ea typeface="メイリオ"/>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23.jpeg"/><Relationship Id="rId3" Type="http://schemas.openxmlformats.org/officeDocument/2006/relationships/image" Target="../media/image3.emf"/><Relationship Id="rId7" Type="http://schemas.openxmlformats.org/officeDocument/2006/relationships/image" Target="../media/image22.jpe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21.jpeg"/><Relationship Id="rId5" Type="http://schemas.openxmlformats.org/officeDocument/2006/relationships/image" Target="../media/image20.jpeg"/><Relationship Id="rId4" Type="http://schemas.openxmlformats.org/officeDocument/2006/relationships/image" Target="../media/image1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3038203"/>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613481" y="2729823"/>
            <a:ext cx="6626632" cy="338554"/>
          </a:xfrm>
          <a:prstGeom prst="rect">
            <a:avLst/>
          </a:prstGeom>
        </p:spPr>
        <p:txBody>
          <a:bodyPr wrap="square">
            <a:spAutoFit/>
          </a:bodyPr>
          <a:lstStyle/>
          <a:p>
            <a:pPr algn="ctr"/>
            <a:r>
              <a:rPr lang="ja-JP" altLang="en-US" sz="1600" dirty="0">
                <a:solidFill>
                  <a:schemeClr val="tx1">
                    <a:lumMod val="50000"/>
                    <a:lumOff val="50000"/>
                  </a:schemeClr>
                </a:solidFill>
                <a:latin typeface="メイリオ" panose="020B0604030504040204" pitchFamily="34" charset="-128"/>
                <a:ea typeface="メイリオ" panose="020B0604030504040204" pitchFamily="34" charset="-128"/>
              </a:rPr>
              <a:t>最上位パートナーの知見を活用し、獲得に強い動線を構築する</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705064"/>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3" name="正方形/長方形 2">
            <a:extLst>
              <a:ext uri="{FF2B5EF4-FFF2-40B4-BE49-F238E27FC236}">
                <a16:creationId xmlns:a16="http://schemas.microsoft.com/office/drawing/2014/main" id="{8EDEE7F4-9CB5-D481-E92E-3941E7AB9B1C}"/>
              </a:ext>
            </a:extLst>
          </p:cNvPr>
          <p:cNvSpPr/>
          <p:nvPr/>
        </p:nvSpPr>
        <p:spPr>
          <a:xfrm>
            <a:off x="3524717" y="3910946"/>
            <a:ext cx="2804160" cy="40554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- 2026</a:t>
            </a:r>
            <a:r>
              <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rPr>
              <a:t>最新版 </a:t>
            </a:r>
            <a:r>
              <a:rPr kumimoji="1" lang="en-US" altLang="ja-JP" sz="1400" dirty="0">
                <a:solidFill>
                  <a:schemeClr val="tx1">
                    <a:lumMod val="50000"/>
                    <a:lumOff val="50000"/>
                  </a:schemeClr>
                </a:solidFill>
                <a:latin typeface="メイリオ" panose="020B0604030504040204" pitchFamily="50" charset="-128"/>
                <a:ea typeface="メイリオ" panose="020B0604030504040204" pitchFamily="50" charset="-128"/>
              </a:rPr>
              <a:t>-</a:t>
            </a:r>
            <a:endParaRPr kumimoji="1" lang="ja-JP" altLang="en-US" sz="14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26E1B5EC-868B-5787-A5AF-C20671BB3688}"/>
              </a:ext>
            </a:extLst>
          </p:cNvPr>
          <p:cNvSpPr/>
          <p:nvPr/>
        </p:nvSpPr>
        <p:spPr>
          <a:xfrm>
            <a:off x="3524717" y="4341752"/>
            <a:ext cx="2804160" cy="405546"/>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業界：学校法人（大学・専門学校）</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1ED39001-ACC7-138F-6DD5-C2073D5DE829}"/>
              </a:ext>
            </a:extLst>
          </p:cNvPr>
          <p:cNvSpPr txBox="1"/>
          <p:nvPr/>
        </p:nvSpPr>
        <p:spPr>
          <a:xfrm>
            <a:off x="595223" y="129396"/>
            <a:ext cx="1620957" cy="338554"/>
          </a:xfrm>
          <a:prstGeom prst="rect">
            <a:avLst/>
          </a:prstGeom>
          <a:noFill/>
        </p:spPr>
        <p:txBody>
          <a:bodyPr wrap="none" rtlCol="0">
            <a:spAutoFit/>
          </a:bodyPr>
          <a:lstStyle/>
          <a:p>
            <a:r>
              <a:rPr kumimoji="1" lang="ja-JP" altLang="en-US" sz="1600" b="1" dirty="0">
                <a:solidFill>
                  <a:srgbClr val="002060"/>
                </a:solidFill>
                <a:latin typeface="+mj-ea"/>
                <a:ea typeface="+mj-ea"/>
              </a:rPr>
              <a:t>アジェンダ構成</a:t>
            </a:r>
            <a:endParaRPr kumimoji="1" lang="en-US" altLang="ja-JP" sz="1600" b="1" dirty="0">
              <a:solidFill>
                <a:srgbClr val="002060"/>
              </a:solidFill>
              <a:latin typeface="+mj-ea"/>
              <a:ea typeface="+mj-ea"/>
            </a:endParaRPr>
          </a:p>
        </p:txBody>
      </p:sp>
      <p:sp>
        <p:nvSpPr>
          <p:cNvPr id="7" name="テキスト ボックス 6">
            <a:extLst>
              <a:ext uri="{FF2B5EF4-FFF2-40B4-BE49-F238E27FC236}">
                <a16:creationId xmlns:a16="http://schemas.microsoft.com/office/drawing/2014/main" id="{AFD80AAF-7C29-1B7B-BAD5-38BB2C055EA4}"/>
              </a:ext>
            </a:extLst>
          </p:cNvPr>
          <p:cNvSpPr txBox="1"/>
          <p:nvPr/>
        </p:nvSpPr>
        <p:spPr>
          <a:xfrm>
            <a:off x="664235" y="2406770"/>
            <a:ext cx="8143335" cy="1938992"/>
          </a:xfrm>
          <a:prstGeom prst="rect">
            <a:avLst/>
          </a:prstGeom>
          <a:noFill/>
        </p:spPr>
        <p:txBody>
          <a:bodyPr wrap="square" rtlCol="0">
            <a:spAutoFit/>
          </a:bodyPr>
          <a:lstStyle/>
          <a:p>
            <a:r>
              <a:rPr lang="en-US" altLang="ja-JP" sz="2400" dirty="0"/>
              <a:t>1. LINE公式アカウントを検討する背景</a:t>
            </a:r>
          </a:p>
          <a:p>
            <a:r>
              <a:rPr lang="en-US" altLang="ja-JP" sz="2400" dirty="0"/>
              <a:t>2. 配信の考え方 ── 市場・需要の実態</a:t>
            </a:r>
          </a:p>
          <a:p>
            <a:r>
              <a:rPr lang="en-US" altLang="ja-JP" sz="2400" dirty="0"/>
              <a:t>3. 施策の詳細（配信の効率化）── 設計と改善モデル</a:t>
            </a:r>
          </a:p>
          <a:p>
            <a:r>
              <a:rPr lang="en-US" altLang="ja-JP" sz="2400" dirty="0"/>
              <a:t>4. 具体プラン提示</a:t>
            </a:r>
          </a:p>
          <a:p>
            <a:r>
              <a:rPr lang="en-US" altLang="ja-JP" sz="2400" dirty="0"/>
              <a:t>5. ご提案にあたり（施策紹介・企画案）</a:t>
            </a:r>
          </a:p>
        </p:txBody>
      </p:sp>
    </p:spTree>
    <p:extLst>
      <p:ext uri="{BB962C8B-B14F-4D97-AF65-F5344CB8AC3E}">
        <p14:creationId xmlns:p14="http://schemas.microsoft.com/office/powerpoint/2010/main" val="328362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B579F4-FB71-CB84-349D-670C2D29F6A3}"/>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4B1E45AF-D1E3-4DBA-4BB7-0857F699B7A8}"/>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6D5128D-AC86-A618-019E-D9FA2B942550}"/>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資料請求・オープンキャンパス予約に対して、”ハードルが高く感じる”高校生が増えている状況。</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離脱防止 &gt;&gt; 友だち追加 &gt;&gt; LINEで学部学科診断・OC予約 &gt;&gt; 出願 の導線設計でハードルを抑える。</a:t>
            </a:r>
            <a:endParaRPr lang="en-US" altLang="ja-JP" sz="1400"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5C1533E1-7172-D6F9-4659-AAF59CE221F1}"/>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303208C-F2F3-3716-B706-B8EDA63E9750}"/>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台形 1">
            <a:extLst>
              <a:ext uri="{FF2B5EF4-FFF2-40B4-BE49-F238E27FC236}">
                <a16:creationId xmlns:a16="http://schemas.microsoft.com/office/drawing/2014/main" id="{6CEEA445-8026-0C8A-48B1-72329CC0C762}"/>
              </a:ext>
            </a:extLst>
          </p:cNvPr>
          <p:cNvSpPr/>
          <p:nvPr/>
        </p:nvSpPr>
        <p:spPr>
          <a:xfrm rot="10800000">
            <a:off x="548883" y="1844173"/>
            <a:ext cx="3274466" cy="604240"/>
          </a:xfrm>
          <a:prstGeom prst="trapezoid">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台形 5">
            <a:extLst>
              <a:ext uri="{FF2B5EF4-FFF2-40B4-BE49-F238E27FC236}">
                <a16:creationId xmlns:a16="http://schemas.microsoft.com/office/drawing/2014/main" id="{9F2F9E67-FA62-E2F6-550C-31986420B41E}"/>
              </a:ext>
            </a:extLst>
          </p:cNvPr>
          <p:cNvSpPr/>
          <p:nvPr/>
        </p:nvSpPr>
        <p:spPr>
          <a:xfrm rot="10800000">
            <a:off x="752147" y="2517920"/>
            <a:ext cx="2877705" cy="604240"/>
          </a:xfrm>
          <a:prstGeom prst="trapezoid">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台形 6">
            <a:extLst>
              <a:ext uri="{FF2B5EF4-FFF2-40B4-BE49-F238E27FC236}">
                <a16:creationId xmlns:a16="http://schemas.microsoft.com/office/drawing/2014/main" id="{B6E67C0E-450F-9501-7066-6FB44B603ACE}"/>
              </a:ext>
            </a:extLst>
          </p:cNvPr>
          <p:cNvSpPr/>
          <p:nvPr/>
        </p:nvSpPr>
        <p:spPr>
          <a:xfrm rot="10800000">
            <a:off x="963025" y="3191667"/>
            <a:ext cx="2430931" cy="604240"/>
          </a:xfrm>
          <a:prstGeom prst="trapezoid">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台形 7">
            <a:extLst>
              <a:ext uri="{FF2B5EF4-FFF2-40B4-BE49-F238E27FC236}">
                <a16:creationId xmlns:a16="http://schemas.microsoft.com/office/drawing/2014/main" id="{EC332CC3-1BFE-4336-94C4-337A6F76E30F}"/>
              </a:ext>
            </a:extLst>
          </p:cNvPr>
          <p:cNvSpPr/>
          <p:nvPr/>
        </p:nvSpPr>
        <p:spPr>
          <a:xfrm rot="10800000">
            <a:off x="1195275" y="3865414"/>
            <a:ext cx="1981682" cy="604240"/>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台形 8">
            <a:extLst>
              <a:ext uri="{FF2B5EF4-FFF2-40B4-BE49-F238E27FC236}">
                <a16:creationId xmlns:a16="http://schemas.microsoft.com/office/drawing/2014/main" id="{9FA0DA39-CA3D-4A32-A88D-5F42671F47B8}"/>
              </a:ext>
            </a:extLst>
          </p:cNvPr>
          <p:cNvSpPr/>
          <p:nvPr/>
        </p:nvSpPr>
        <p:spPr>
          <a:xfrm rot="10800000">
            <a:off x="1422661" y="4539161"/>
            <a:ext cx="1536677" cy="604240"/>
          </a:xfrm>
          <a:prstGeom prst="trapezoid">
            <a:avLst/>
          </a:prstGeom>
          <a:solidFill>
            <a:schemeClr val="tx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台形 9">
            <a:extLst>
              <a:ext uri="{FF2B5EF4-FFF2-40B4-BE49-F238E27FC236}">
                <a16:creationId xmlns:a16="http://schemas.microsoft.com/office/drawing/2014/main" id="{1DAAE755-E19F-83A4-49AB-80FD2B8C6117}"/>
              </a:ext>
            </a:extLst>
          </p:cNvPr>
          <p:cNvSpPr/>
          <p:nvPr/>
        </p:nvSpPr>
        <p:spPr>
          <a:xfrm rot="10800000">
            <a:off x="1611466" y="5212908"/>
            <a:ext cx="1134047" cy="470263"/>
          </a:xfrm>
          <a:prstGeom prst="trapezoid">
            <a:avLst>
              <a:gd name="adj" fmla="val 0"/>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1" name="台形 10">
            <a:extLst>
              <a:ext uri="{FF2B5EF4-FFF2-40B4-BE49-F238E27FC236}">
                <a16:creationId xmlns:a16="http://schemas.microsoft.com/office/drawing/2014/main" id="{CE13A148-43A9-FACC-AA40-5B3C6364394E}"/>
              </a:ext>
            </a:extLst>
          </p:cNvPr>
          <p:cNvSpPr/>
          <p:nvPr/>
        </p:nvSpPr>
        <p:spPr>
          <a:xfrm rot="10800000">
            <a:off x="1611465" y="5752675"/>
            <a:ext cx="1134047" cy="470263"/>
          </a:xfrm>
          <a:prstGeom prst="trapezoid">
            <a:avLst>
              <a:gd name="adj" fmla="val 0"/>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3" name="テキスト ボックス 12">
            <a:extLst>
              <a:ext uri="{FF2B5EF4-FFF2-40B4-BE49-F238E27FC236}">
                <a16:creationId xmlns:a16="http://schemas.microsoft.com/office/drawing/2014/main" id="{927CB514-4619-59D1-450A-DDF1B29355E0}"/>
              </a:ext>
            </a:extLst>
          </p:cNvPr>
          <p:cNvSpPr txBox="1"/>
          <p:nvPr/>
        </p:nvSpPr>
        <p:spPr>
          <a:xfrm>
            <a:off x="1459558" y="5315094"/>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既存ユーザー</a:t>
            </a:r>
          </a:p>
        </p:txBody>
      </p:sp>
      <p:sp>
        <p:nvSpPr>
          <p:cNvPr id="14" name="テキスト ボックス 13">
            <a:extLst>
              <a:ext uri="{FF2B5EF4-FFF2-40B4-BE49-F238E27FC236}">
                <a16:creationId xmlns:a16="http://schemas.microsoft.com/office/drawing/2014/main" id="{CB3559A7-D98B-633E-360D-B9755713CB4A}"/>
              </a:ext>
            </a:extLst>
          </p:cNvPr>
          <p:cNvSpPr txBox="1"/>
          <p:nvPr/>
        </p:nvSpPr>
        <p:spPr>
          <a:xfrm>
            <a:off x="1458475" y="5884142"/>
            <a:ext cx="1437861" cy="230832"/>
          </a:xfrm>
          <a:prstGeom prst="rect">
            <a:avLst/>
          </a:prstGeom>
          <a:noFill/>
        </p:spPr>
        <p:txBody>
          <a:bodyPr wrap="square">
            <a:spAutoFit/>
          </a:bodyPr>
          <a:lstStyle/>
          <a:p>
            <a:pPr algn="ctr"/>
            <a:r>
              <a:rPr kumimoji="1" lang="ja-JP" altLang="en-US" sz="900" b="1" dirty="0">
                <a:solidFill>
                  <a:schemeClr val="bg1"/>
                </a:solidFill>
                <a:latin typeface="メイリオ" panose="020B0604030504040204" pitchFamily="50" charset="-128"/>
                <a:ea typeface="メイリオ" panose="020B0604030504040204" pitchFamily="50" charset="-128"/>
              </a:rPr>
              <a:t>リピート・ファン化</a:t>
            </a:r>
          </a:p>
        </p:txBody>
      </p:sp>
      <p:sp>
        <p:nvSpPr>
          <p:cNvPr id="15" name="テキスト ボックス 14">
            <a:extLst>
              <a:ext uri="{FF2B5EF4-FFF2-40B4-BE49-F238E27FC236}">
                <a16:creationId xmlns:a16="http://schemas.microsoft.com/office/drawing/2014/main" id="{6BF621D8-B54B-3C3E-20B9-51565ADCB9C9}"/>
              </a:ext>
            </a:extLst>
          </p:cNvPr>
          <p:cNvSpPr txBox="1"/>
          <p:nvPr/>
        </p:nvSpPr>
        <p:spPr>
          <a:xfrm>
            <a:off x="1467184" y="468410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リード獲得層</a:t>
            </a:r>
          </a:p>
        </p:txBody>
      </p:sp>
      <p:sp>
        <p:nvSpPr>
          <p:cNvPr id="16" name="テキスト ボックス 15">
            <a:extLst>
              <a:ext uri="{FF2B5EF4-FFF2-40B4-BE49-F238E27FC236}">
                <a16:creationId xmlns:a16="http://schemas.microsoft.com/office/drawing/2014/main" id="{AE6EDBBE-DC2E-D1B4-D90F-A1213B9D8FB2}"/>
              </a:ext>
            </a:extLst>
          </p:cNvPr>
          <p:cNvSpPr txBox="1"/>
          <p:nvPr/>
        </p:nvSpPr>
        <p:spPr>
          <a:xfrm>
            <a:off x="1467184" y="405415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顕在層</a:t>
            </a:r>
          </a:p>
        </p:txBody>
      </p:sp>
      <p:sp>
        <p:nvSpPr>
          <p:cNvPr id="17" name="テキスト ボックス 16">
            <a:extLst>
              <a:ext uri="{FF2B5EF4-FFF2-40B4-BE49-F238E27FC236}">
                <a16:creationId xmlns:a16="http://schemas.microsoft.com/office/drawing/2014/main" id="{742EB2DA-CD05-53A4-819B-B3E66F91159A}"/>
              </a:ext>
            </a:extLst>
          </p:cNvPr>
          <p:cNvSpPr txBox="1"/>
          <p:nvPr/>
        </p:nvSpPr>
        <p:spPr>
          <a:xfrm>
            <a:off x="1459558" y="3372927"/>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準顕在層</a:t>
            </a:r>
          </a:p>
        </p:txBody>
      </p:sp>
      <p:sp>
        <p:nvSpPr>
          <p:cNvPr id="18" name="テキスト ボックス 17">
            <a:extLst>
              <a:ext uri="{FF2B5EF4-FFF2-40B4-BE49-F238E27FC236}">
                <a16:creationId xmlns:a16="http://schemas.microsoft.com/office/drawing/2014/main" id="{EFAB44CD-3FC2-FB15-3D61-30AD87D19366}"/>
              </a:ext>
            </a:extLst>
          </p:cNvPr>
          <p:cNvSpPr txBox="1"/>
          <p:nvPr/>
        </p:nvSpPr>
        <p:spPr>
          <a:xfrm>
            <a:off x="1467184" y="2700215"/>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潜在層</a:t>
            </a:r>
          </a:p>
        </p:txBody>
      </p:sp>
      <p:sp>
        <p:nvSpPr>
          <p:cNvPr id="19" name="テキスト ボックス 18">
            <a:extLst>
              <a:ext uri="{FF2B5EF4-FFF2-40B4-BE49-F238E27FC236}">
                <a16:creationId xmlns:a16="http://schemas.microsoft.com/office/drawing/2014/main" id="{1514C466-C0C4-5FB6-74AF-13B6F4947391}"/>
              </a:ext>
            </a:extLst>
          </p:cNvPr>
          <p:cNvSpPr txBox="1"/>
          <p:nvPr/>
        </p:nvSpPr>
        <p:spPr>
          <a:xfrm>
            <a:off x="1478205" y="2007789"/>
            <a:ext cx="1437861" cy="276999"/>
          </a:xfrm>
          <a:prstGeom prst="rect">
            <a:avLst/>
          </a:prstGeom>
          <a:noFill/>
        </p:spPr>
        <p:txBody>
          <a:bodyPr wrap="square">
            <a:spAutoFit/>
          </a:bodyP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興味関心なし 層</a:t>
            </a:r>
          </a:p>
        </p:txBody>
      </p:sp>
      <p:sp>
        <p:nvSpPr>
          <p:cNvPr id="22" name="台形 21">
            <a:extLst>
              <a:ext uri="{FF2B5EF4-FFF2-40B4-BE49-F238E27FC236}">
                <a16:creationId xmlns:a16="http://schemas.microsoft.com/office/drawing/2014/main" id="{9BACDF3F-A4E5-35A7-B870-B83B08A9B3FF}"/>
              </a:ext>
            </a:extLst>
          </p:cNvPr>
          <p:cNvSpPr/>
          <p:nvPr/>
        </p:nvSpPr>
        <p:spPr>
          <a:xfrm rot="10800000">
            <a:off x="7611914" y="4188220"/>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3" name="テキスト ボックス 22">
            <a:extLst>
              <a:ext uri="{FF2B5EF4-FFF2-40B4-BE49-F238E27FC236}">
                <a16:creationId xmlns:a16="http://schemas.microsoft.com/office/drawing/2014/main" id="{35A77394-5E5F-8C4D-28B8-74F4583DF5D0}"/>
              </a:ext>
            </a:extLst>
          </p:cNvPr>
          <p:cNvSpPr txBox="1"/>
          <p:nvPr/>
        </p:nvSpPr>
        <p:spPr>
          <a:xfrm>
            <a:off x="7550332" y="4198522"/>
            <a:ext cx="1887978"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「LINE学部診断・OC予約」にてLINEリードを獲得</a:t>
            </a:r>
          </a:p>
        </p:txBody>
      </p:sp>
      <p:sp>
        <p:nvSpPr>
          <p:cNvPr id="24" name="台形 23">
            <a:extLst>
              <a:ext uri="{FF2B5EF4-FFF2-40B4-BE49-F238E27FC236}">
                <a16:creationId xmlns:a16="http://schemas.microsoft.com/office/drawing/2014/main" id="{3B9CC8D9-DD20-6C2F-3BDD-BE9F5B8FFC38}"/>
              </a:ext>
            </a:extLst>
          </p:cNvPr>
          <p:cNvSpPr/>
          <p:nvPr/>
        </p:nvSpPr>
        <p:spPr>
          <a:xfrm rot="10800000">
            <a:off x="7611914" y="3120018"/>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25" name="テキスト ボックス 24">
            <a:extLst>
              <a:ext uri="{FF2B5EF4-FFF2-40B4-BE49-F238E27FC236}">
                <a16:creationId xmlns:a16="http://schemas.microsoft.com/office/drawing/2014/main" id="{342DD099-7AA1-F285-5FF9-42B4945A3099}"/>
              </a:ext>
            </a:extLst>
          </p:cNvPr>
          <p:cNvSpPr txBox="1"/>
          <p:nvPr/>
        </p:nvSpPr>
        <p:spPr>
          <a:xfrm>
            <a:off x="7611914" y="3118189"/>
            <a:ext cx="1826395" cy="553998"/>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離脱防止バナーにて</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検討段階ユーザーを</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27" name="台形 26">
            <a:extLst>
              <a:ext uri="{FF2B5EF4-FFF2-40B4-BE49-F238E27FC236}">
                <a16:creationId xmlns:a16="http://schemas.microsoft.com/office/drawing/2014/main" id="{D95457DF-AF4B-4B8E-D6F2-2A10C8E1A4A2}"/>
              </a:ext>
            </a:extLst>
          </p:cNvPr>
          <p:cNvSpPr/>
          <p:nvPr/>
        </p:nvSpPr>
        <p:spPr>
          <a:xfrm rot="10800000">
            <a:off x="7611914" y="225703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2" name="テキスト ボックス 31">
            <a:extLst>
              <a:ext uri="{FF2B5EF4-FFF2-40B4-BE49-F238E27FC236}">
                <a16:creationId xmlns:a16="http://schemas.microsoft.com/office/drawing/2014/main" id="{D94F1D70-CF6B-885E-B41C-C70125B75219}"/>
              </a:ext>
            </a:extLst>
          </p:cNvPr>
          <p:cNvSpPr txBox="1"/>
          <p:nvPr/>
        </p:nvSpPr>
        <p:spPr>
          <a:xfrm>
            <a:off x="7611914" y="2313761"/>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接触、詳細ページ閲覧</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lang="ja-JP" altLang="en-US" sz="1000" b="1" dirty="0">
                <a:solidFill>
                  <a:schemeClr val="bg1"/>
                </a:solidFill>
                <a:latin typeface="メイリオ" panose="020B0604030504040204" pitchFamily="50" charset="-128"/>
                <a:ea typeface="メイリオ" panose="020B0604030504040204" pitchFamily="50" charset="-128"/>
              </a:rPr>
              <a:t>の動線での</a:t>
            </a:r>
            <a:r>
              <a:rPr lang="en-US" altLang="ja-JP" sz="1000" b="1" dirty="0">
                <a:solidFill>
                  <a:schemeClr val="bg1"/>
                </a:solidFill>
                <a:latin typeface="メイリオ" panose="020B0604030504040204" pitchFamily="50" charset="-128"/>
                <a:ea typeface="メイリオ" panose="020B0604030504040204" pitchFamily="50" charset="-128"/>
              </a:rPr>
              <a:t>LINE</a:t>
            </a:r>
            <a:r>
              <a:rPr lang="ja-JP" altLang="en-US" sz="1000" b="1" dirty="0">
                <a:solidFill>
                  <a:schemeClr val="bg1"/>
                </a:solidFill>
                <a:latin typeface="メイリオ" panose="020B0604030504040204" pitchFamily="50" charset="-128"/>
                <a:ea typeface="メイリオ" panose="020B0604030504040204" pitchFamily="50" charset="-128"/>
              </a:rPr>
              <a:t>誘導を整備</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E163946-1549-509D-4F46-C667EBDCE5EE}"/>
              </a:ext>
            </a:extLst>
          </p:cNvPr>
          <p:cNvSpPr txBox="1"/>
          <p:nvPr/>
        </p:nvSpPr>
        <p:spPr>
          <a:xfrm>
            <a:off x="7462272" y="1725706"/>
            <a:ext cx="2125679" cy="276999"/>
          </a:xfrm>
          <a:prstGeom prst="rect">
            <a:avLst/>
          </a:prstGeom>
          <a:solidFill>
            <a:schemeClr val="tx2"/>
          </a:solidFill>
        </p:spPr>
        <p:txBody>
          <a:bodyPr wrap="square">
            <a:spAutoFit/>
          </a:bodyPr>
          <a:lstStyle/>
          <a:p>
            <a:pPr algn="ctr"/>
            <a:r>
              <a:rPr lang="en-US" altLang="ja-JP" sz="1200" dirty="0">
                <a:solidFill>
                  <a:schemeClr val="bg1"/>
                </a:solidFill>
                <a:latin typeface="メイリオ" panose="020B0604030504040204" pitchFamily="50" charset="-128"/>
                <a:ea typeface="メイリオ" panose="020B0604030504040204" pitchFamily="50" charset="-128"/>
              </a:rPr>
              <a:t>DYM</a:t>
            </a:r>
            <a:r>
              <a:rPr lang="ja-JP" altLang="en-US" sz="1200" dirty="0">
                <a:solidFill>
                  <a:schemeClr val="bg1"/>
                </a:solidFill>
                <a:latin typeface="メイリオ" panose="020B0604030504040204" pitchFamily="50" charset="-128"/>
                <a:ea typeface="メイリオ" panose="020B0604030504040204" pitchFamily="50" charset="-128"/>
              </a:rPr>
              <a:t>施策</a:t>
            </a:r>
            <a:endParaRPr lang="ja-JP" altLang="en-US" sz="1200" dirty="0">
              <a:solidFill>
                <a:schemeClr val="bg1"/>
              </a:solidFill>
            </a:endParaRPr>
          </a:p>
        </p:txBody>
      </p:sp>
      <p:sp>
        <p:nvSpPr>
          <p:cNvPr id="44" name="テキスト ボックス 43">
            <a:extLst>
              <a:ext uri="{FF2B5EF4-FFF2-40B4-BE49-F238E27FC236}">
                <a16:creationId xmlns:a16="http://schemas.microsoft.com/office/drawing/2014/main" id="{CCE5C835-66DF-7ACC-2268-769AE89BC22D}"/>
              </a:ext>
            </a:extLst>
          </p:cNvPr>
          <p:cNvSpPr txBox="1"/>
          <p:nvPr/>
        </p:nvSpPr>
        <p:spPr>
          <a:xfrm>
            <a:off x="5273193" y="1735237"/>
            <a:ext cx="2125679" cy="276999"/>
          </a:xfrm>
          <a:prstGeom prst="rect">
            <a:avLst/>
          </a:prstGeom>
          <a:solidFill>
            <a:schemeClr val="tx1"/>
          </a:solidFill>
        </p:spPr>
        <p:txBody>
          <a:bodyPr wrap="square">
            <a:spAutoFit/>
          </a:bodyPr>
          <a:lstStyle/>
          <a:p>
            <a:pPr algn="ctr"/>
            <a:r>
              <a:rPr lang="ja-JP" altLang="en-US" sz="1200" dirty="0">
                <a:solidFill>
                  <a:schemeClr val="bg1"/>
                </a:solidFill>
                <a:latin typeface="メイリオ" panose="020B0604030504040204" pitchFamily="50" charset="-128"/>
                <a:ea typeface="メイリオ" panose="020B0604030504040204" pitchFamily="50" charset="-128"/>
              </a:rPr>
              <a:t>現状施策</a:t>
            </a:r>
            <a:endParaRPr lang="ja-JP" altLang="en-US" sz="1200" dirty="0">
              <a:solidFill>
                <a:schemeClr val="bg1"/>
              </a:solidFill>
            </a:endParaRPr>
          </a:p>
        </p:txBody>
      </p:sp>
      <p:sp>
        <p:nvSpPr>
          <p:cNvPr id="46" name="台形 45">
            <a:extLst>
              <a:ext uri="{FF2B5EF4-FFF2-40B4-BE49-F238E27FC236}">
                <a16:creationId xmlns:a16="http://schemas.microsoft.com/office/drawing/2014/main" id="{770C8367-24F5-979C-4481-908DE742DF1B}"/>
              </a:ext>
            </a:extLst>
          </p:cNvPr>
          <p:cNvSpPr/>
          <p:nvPr/>
        </p:nvSpPr>
        <p:spPr>
          <a:xfrm rot="10800000">
            <a:off x="7611914" y="5725077"/>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7" name="テキスト ボックス 46">
            <a:extLst>
              <a:ext uri="{FF2B5EF4-FFF2-40B4-BE49-F238E27FC236}">
                <a16:creationId xmlns:a16="http://schemas.microsoft.com/office/drawing/2014/main" id="{1353124E-927F-8496-8FC6-E6DD494A8DEA}"/>
              </a:ext>
            </a:extLst>
          </p:cNvPr>
          <p:cNvSpPr txBox="1"/>
          <p:nvPr/>
        </p:nvSpPr>
        <p:spPr>
          <a:xfrm>
            <a:off x="7611914" y="5785358"/>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入学後の定着・中退防止</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在学生／保護者／卒業生へ</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48" name="台形 47">
            <a:extLst>
              <a:ext uri="{FF2B5EF4-FFF2-40B4-BE49-F238E27FC236}">
                <a16:creationId xmlns:a16="http://schemas.microsoft.com/office/drawing/2014/main" id="{BAFBCC32-B244-9AC5-0A18-C121D3B9BCDA}"/>
              </a:ext>
            </a:extLst>
          </p:cNvPr>
          <p:cNvSpPr/>
          <p:nvPr/>
        </p:nvSpPr>
        <p:spPr>
          <a:xfrm rot="10800000">
            <a:off x="7611914" y="5183481"/>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49" name="テキスト ボックス 48">
            <a:extLst>
              <a:ext uri="{FF2B5EF4-FFF2-40B4-BE49-F238E27FC236}">
                <a16:creationId xmlns:a16="http://schemas.microsoft.com/office/drawing/2014/main" id="{19BD53B7-C509-F64E-CB4B-C6D3341F3AD5}"/>
              </a:ext>
            </a:extLst>
          </p:cNvPr>
          <p:cNvSpPr txBox="1"/>
          <p:nvPr/>
        </p:nvSpPr>
        <p:spPr>
          <a:xfrm>
            <a:off x="7611914" y="5315094"/>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※ID</a:t>
            </a:r>
            <a:r>
              <a:rPr kumimoji="1" lang="ja-JP" altLang="en-US" sz="1000" b="1" dirty="0">
                <a:solidFill>
                  <a:schemeClr val="bg1"/>
                </a:solidFill>
                <a:latin typeface="メイリオ" panose="020B0604030504040204" pitchFamily="50" charset="-128"/>
                <a:ea typeface="メイリオ" panose="020B0604030504040204" pitchFamily="50" charset="-128"/>
              </a:rPr>
              <a:t>連携特典等を表示</a:t>
            </a:r>
          </a:p>
        </p:txBody>
      </p:sp>
      <p:sp>
        <p:nvSpPr>
          <p:cNvPr id="50" name="台形 49">
            <a:extLst>
              <a:ext uri="{FF2B5EF4-FFF2-40B4-BE49-F238E27FC236}">
                <a16:creationId xmlns:a16="http://schemas.microsoft.com/office/drawing/2014/main" id="{3941D3AF-378C-FC85-0F44-DC7CE1041E69}"/>
              </a:ext>
            </a:extLst>
          </p:cNvPr>
          <p:cNvSpPr/>
          <p:nvPr/>
        </p:nvSpPr>
        <p:spPr>
          <a:xfrm rot="10800000">
            <a:off x="7611914" y="4683087"/>
            <a:ext cx="1826395" cy="470263"/>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1" name="テキスト ボックス 50">
            <a:extLst>
              <a:ext uri="{FF2B5EF4-FFF2-40B4-BE49-F238E27FC236}">
                <a16:creationId xmlns:a16="http://schemas.microsoft.com/office/drawing/2014/main" id="{04C3D2CB-85C1-FE9F-4777-E7D3AB629F25}"/>
              </a:ext>
            </a:extLst>
          </p:cNvPr>
          <p:cNvSpPr txBox="1"/>
          <p:nvPr/>
        </p:nvSpPr>
        <p:spPr>
          <a:xfrm>
            <a:off x="7611914" y="4814700"/>
            <a:ext cx="1826395" cy="246221"/>
          </a:xfrm>
          <a:prstGeom prst="rect">
            <a:avLst/>
          </a:prstGeom>
          <a:noFill/>
        </p:spPr>
        <p:txBody>
          <a:bodyPr wrap="square">
            <a:spAutoFit/>
          </a:bodyPr>
          <a:lstStyle/>
          <a:p>
            <a:pPr algn="ctr"/>
            <a:r>
              <a:rPr kumimoji="1" lang="en-US" altLang="ja-JP" sz="1000" b="1" dirty="0">
                <a:solidFill>
                  <a:schemeClr val="bg1"/>
                </a:solidFill>
                <a:latin typeface="メイリオ" panose="020B0604030504040204" pitchFamily="50" charset="-128"/>
                <a:ea typeface="メイリオ" panose="020B0604030504040204" pitchFamily="50" charset="-128"/>
              </a:rPr>
              <a:t>※</a:t>
            </a:r>
            <a:r>
              <a:rPr kumimoji="1" lang="ja-JP" altLang="en-US" sz="1000" b="1" dirty="0">
                <a:solidFill>
                  <a:schemeClr val="bg1"/>
                </a:solidFill>
                <a:latin typeface="メイリオ" panose="020B0604030504040204" pitchFamily="50" charset="-128"/>
                <a:ea typeface="メイリオ" panose="020B0604030504040204" pitchFamily="50" charset="-128"/>
              </a:rPr>
              <a:t>ミニアプリ・診断 →</a:t>
            </a:r>
            <a:r>
              <a:rPr lang="en-US" altLang="ja-JP" sz="1000" b="1" dirty="0">
                <a:solidFill>
                  <a:schemeClr val="bg1"/>
                </a:solidFill>
                <a:latin typeface="メイリオ" panose="020B0604030504040204" pitchFamily="50" charset="-128"/>
                <a:ea typeface="メイリオ" panose="020B0604030504040204" pitchFamily="50" charset="-128"/>
              </a:rPr>
              <a:t> </a:t>
            </a:r>
            <a:r>
              <a:rPr lang="ja-JP" altLang="en-US" sz="1000" b="1" dirty="0">
                <a:solidFill>
                  <a:schemeClr val="bg1"/>
                </a:solidFill>
                <a:latin typeface="メイリオ" panose="020B0604030504040204" pitchFamily="50" charset="-128"/>
                <a:ea typeface="メイリオ" panose="020B0604030504040204" pitchFamily="50" charset="-128"/>
              </a:rPr>
              <a:t>特典</a:t>
            </a:r>
            <a:endParaRPr kumimoji="1" lang="ja-JP" altLang="en-US" sz="1000" b="1" dirty="0">
              <a:solidFill>
                <a:schemeClr val="bg1"/>
              </a:solidFill>
              <a:latin typeface="メイリオ" panose="020B0604030504040204" pitchFamily="50" charset="-128"/>
              <a:ea typeface="メイリオ" panose="020B0604030504040204" pitchFamily="50" charset="-128"/>
            </a:endParaRPr>
          </a:p>
        </p:txBody>
      </p:sp>
      <p:sp>
        <p:nvSpPr>
          <p:cNvPr id="57" name="台形 56">
            <a:extLst>
              <a:ext uri="{FF2B5EF4-FFF2-40B4-BE49-F238E27FC236}">
                <a16:creationId xmlns:a16="http://schemas.microsoft.com/office/drawing/2014/main" id="{B65081E4-37AB-CFC9-6ADB-B4EEA7844473}"/>
              </a:ext>
            </a:extLst>
          </p:cNvPr>
          <p:cNvSpPr/>
          <p:nvPr/>
        </p:nvSpPr>
        <p:spPr>
          <a:xfrm rot="10800000">
            <a:off x="8075757" y="6244548"/>
            <a:ext cx="1826395" cy="265450"/>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58" name="テキスト ボックス 57">
            <a:extLst>
              <a:ext uri="{FF2B5EF4-FFF2-40B4-BE49-F238E27FC236}">
                <a16:creationId xmlns:a16="http://schemas.microsoft.com/office/drawing/2014/main" id="{84FBB3DE-B0A1-98BB-3108-365CAA2451B5}"/>
              </a:ext>
            </a:extLst>
          </p:cNvPr>
          <p:cNvSpPr txBox="1"/>
          <p:nvPr/>
        </p:nvSpPr>
        <p:spPr>
          <a:xfrm>
            <a:off x="8198333" y="6267085"/>
            <a:ext cx="1581242" cy="253916"/>
          </a:xfrm>
          <a:prstGeom prst="rect">
            <a:avLst/>
          </a:prstGeom>
          <a:noFill/>
        </p:spPr>
        <p:txBody>
          <a:bodyPr wrap="square">
            <a:spAutoFit/>
          </a:bodyPr>
          <a:lstStyle/>
          <a:p>
            <a:pPr algn="ctr"/>
            <a:r>
              <a:rPr kumimoji="1" lang="en-US" altLang="ja-JP" sz="1050" dirty="0">
                <a:solidFill>
                  <a:schemeClr val="bg1"/>
                </a:solidFill>
                <a:latin typeface="メイリオ" panose="020B0604030504040204" pitchFamily="50" charset="-128"/>
                <a:ea typeface="メイリオ" panose="020B0604030504040204" pitchFamily="50" charset="-128"/>
              </a:rPr>
              <a:t>※</a:t>
            </a:r>
            <a:r>
              <a:rPr kumimoji="1" lang="ja-JP" altLang="en-US" sz="1050" dirty="0">
                <a:solidFill>
                  <a:schemeClr val="bg1"/>
                </a:solidFill>
                <a:latin typeface="メイリオ" panose="020B0604030504040204" pitchFamily="50" charset="-128"/>
                <a:ea typeface="メイリオ" panose="020B0604030504040204" pitchFamily="50" charset="-128"/>
              </a:rPr>
              <a:t>長期施策として想定</a:t>
            </a:r>
          </a:p>
        </p:txBody>
      </p:sp>
      <p:sp>
        <p:nvSpPr>
          <p:cNvPr id="12" name="矢印: 下 11">
            <a:extLst>
              <a:ext uri="{FF2B5EF4-FFF2-40B4-BE49-F238E27FC236}">
                <a16:creationId xmlns:a16="http://schemas.microsoft.com/office/drawing/2014/main" id="{06D6460A-91B3-70D3-5D14-11DFAD84B566}"/>
              </a:ext>
            </a:extLst>
          </p:cNvPr>
          <p:cNvSpPr/>
          <p:nvPr/>
        </p:nvSpPr>
        <p:spPr>
          <a:xfrm>
            <a:off x="4075746" y="1862186"/>
            <a:ext cx="1134047" cy="4292485"/>
          </a:xfrm>
          <a:prstGeom prst="downArrow">
            <a:avLst/>
          </a:prstGeom>
          <a:gradFill>
            <a:gsLst>
              <a:gs pos="0">
                <a:srgbClr val="FDFDFD"/>
              </a:gs>
              <a:gs pos="100000">
                <a:schemeClr val="accent3">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テキスト ボックス 19">
            <a:extLst>
              <a:ext uri="{FF2B5EF4-FFF2-40B4-BE49-F238E27FC236}">
                <a16:creationId xmlns:a16="http://schemas.microsoft.com/office/drawing/2014/main" id="{ED28F54A-7862-D06F-CFB5-B49F4F603D20}"/>
              </a:ext>
            </a:extLst>
          </p:cNvPr>
          <p:cNvSpPr txBox="1"/>
          <p:nvPr/>
        </p:nvSpPr>
        <p:spPr>
          <a:xfrm>
            <a:off x="3578823" y="5448078"/>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 </a:t>
            </a:r>
            <a:r>
              <a:rPr kumimoji="1" lang="ja-JP" altLang="en-US" sz="1200" b="1" dirty="0">
                <a:latin typeface="メイリオ" panose="020B0604030504040204" pitchFamily="50" charset="-128"/>
                <a:ea typeface="メイリオ" panose="020B0604030504040204" pitchFamily="50" charset="-128"/>
              </a:rPr>
              <a:t>ミニアプリ</a:t>
            </a:r>
          </a:p>
        </p:txBody>
      </p:sp>
      <p:sp>
        <p:nvSpPr>
          <p:cNvPr id="21" name="テキスト ボックス 20">
            <a:extLst>
              <a:ext uri="{FF2B5EF4-FFF2-40B4-BE49-F238E27FC236}">
                <a16:creationId xmlns:a16="http://schemas.microsoft.com/office/drawing/2014/main" id="{56067991-5512-33D9-BAFF-EBE3BE4E55D1}"/>
              </a:ext>
            </a:extLst>
          </p:cNvPr>
          <p:cNvSpPr txBox="1"/>
          <p:nvPr/>
        </p:nvSpPr>
        <p:spPr>
          <a:xfrm>
            <a:off x="3578823" y="3803604"/>
            <a:ext cx="2127892" cy="276999"/>
          </a:xfrm>
          <a:prstGeom prst="rect">
            <a:avLst/>
          </a:prstGeom>
          <a:noFill/>
        </p:spPr>
        <p:txBody>
          <a:bodyPr wrap="square">
            <a:spAutoFit/>
          </a:bodyPr>
          <a:lstStyle/>
          <a:p>
            <a:pPr algn="ctr"/>
            <a:r>
              <a:rPr kumimoji="1" lang="en-US" altLang="ja-JP" sz="1200" b="1" dirty="0">
                <a:latin typeface="メイリオ" panose="020B0604030504040204" pitchFamily="50" charset="-128"/>
                <a:ea typeface="メイリオ" panose="020B0604030504040204" pitchFamily="50" charset="-128"/>
              </a:rPr>
              <a:t>LINE</a:t>
            </a:r>
            <a:r>
              <a:rPr kumimoji="1" lang="ja-JP" altLang="en-US" sz="1200" b="1" dirty="0">
                <a:latin typeface="メイリオ" panose="020B0604030504040204" pitchFamily="50" charset="-128"/>
                <a:ea typeface="メイリオ" panose="020B0604030504040204" pitchFamily="50" charset="-128"/>
              </a:rPr>
              <a:t>友だち</a:t>
            </a:r>
          </a:p>
        </p:txBody>
      </p:sp>
      <p:sp>
        <p:nvSpPr>
          <p:cNvPr id="26" name="テキスト ボックス 25">
            <a:extLst>
              <a:ext uri="{FF2B5EF4-FFF2-40B4-BE49-F238E27FC236}">
                <a16:creationId xmlns:a16="http://schemas.microsoft.com/office/drawing/2014/main" id="{6182F190-E0A8-5EE1-D9A3-5B13AA74C67A}"/>
              </a:ext>
            </a:extLst>
          </p:cNvPr>
          <p:cNvSpPr txBox="1"/>
          <p:nvPr/>
        </p:nvSpPr>
        <p:spPr>
          <a:xfrm>
            <a:off x="3578823" y="3347800"/>
            <a:ext cx="2127892" cy="276999"/>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離脱防止バナー</a:t>
            </a:r>
          </a:p>
        </p:txBody>
      </p:sp>
      <p:sp>
        <p:nvSpPr>
          <p:cNvPr id="36" name="テキスト ボックス 35">
            <a:extLst>
              <a:ext uri="{FF2B5EF4-FFF2-40B4-BE49-F238E27FC236}">
                <a16:creationId xmlns:a16="http://schemas.microsoft.com/office/drawing/2014/main" id="{D60AE015-CFAC-BAED-064E-14583E6CD31A}"/>
              </a:ext>
            </a:extLst>
          </p:cNvPr>
          <p:cNvSpPr txBox="1"/>
          <p:nvPr/>
        </p:nvSpPr>
        <p:spPr>
          <a:xfrm>
            <a:off x="3578823" y="1982662"/>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接触</a:t>
            </a:r>
          </a:p>
        </p:txBody>
      </p:sp>
      <p:sp>
        <p:nvSpPr>
          <p:cNvPr id="39" name="テキスト ボックス 38">
            <a:extLst>
              <a:ext uri="{FF2B5EF4-FFF2-40B4-BE49-F238E27FC236}">
                <a16:creationId xmlns:a16="http://schemas.microsoft.com/office/drawing/2014/main" id="{BDD6B11B-082B-2EC1-7CA1-262D7193544D}"/>
              </a:ext>
            </a:extLst>
          </p:cNvPr>
          <p:cNvSpPr txBox="1"/>
          <p:nvPr/>
        </p:nvSpPr>
        <p:spPr>
          <a:xfrm>
            <a:off x="3629852" y="5901217"/>
            <a:ext cx="1913793" cy="461665"/>
          </a:xfrm>
          <a:prstGeom prst="rect">
            <a:avLst/>
          </a:prstGeom>
          <a:noFill/>
        </p:spPr>
        <p:txBody>
          <a:bodyPr wrap="square">
            <a:spAutoFit/>
          </a:bodyPr>
          <a:lstStyle/>
          <a:p>
            <a:pPr algn="ctr"/>
            <a:r>
              <a:rPr kumimoji="1" lang="ja-JP" altLang="en-US" sz="1200" b="1" dirty="0">
                <a:latin typeface="メイリオ" panose="020B0604030504040204" pitchFamily="50" charset="-128"/>
                <a:ea typeface="メイリオ" panose="020B0604030504040204" pitchFamily="50" charset="-128"/>
              </a:rPr>
              <a:t>自社</a:t>
            </a:r>
            <a:r>
              <a:rPr kumimoji="1" lang="en-US" altLang="ja-JP" sz="1200" b="1" dirty="0">
                <a:latin typeface="メイリオ" panose="020B0604030504040204" pitchFamily="50" charset="-128"/>
                <a:ea typeface="メイリオ" panose="020B0604030504040204" pitchFamily="50" charset="-128"/>
              </a:rPr>
              <a:t>App/</a:t>
            </a:r>
            <a:r>
              <a:rPr kumimoji="1" lang="ja-JP" altLang="en-US" sz="1200" b="1" dirty="0">
                <a:latin typeface="メイリオ" panose="020B0604030504040204" pitchFamily="50" charset="-128"/>
                <a:ea typeface="メイリオ" panose="020B0604030504040204" pitchFamily="50" charset="-128"/>
              </a:rPr>
              <a:t>ネットワーク</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a:t>
            </a:r>
            <a:r>
              <a:rPr lang="en-US" altLang="ja-JP" sz="1200" b="1" dirty="0">
                <a:latin typeface="メイリオ" panose="020B0604030504040204" pitchFamily="50" charset="-128"/>
                <a:ea typeface="メイリオ" panose="020B0604030504040204" pitchFamily="50" charset="-128"/>
              </a:rPr>
              <a:t>ID</a:t>
            </a:r>
            <a:r>
              <a:rPr lang="ja-JP" altLang="en-US" sz="1200" b="1" dirty="0">
                <a:latin typeface="メイリオ" panose="020B0604030504040204" pitchFamily="50" charset="-128"/>
                <a:ea typeface="メイリオ" panose="020B0604030504040204" pitchFamily="50" charset="-128"/>
              </a:rPr>
              <a:t>連携等の開発）</a:t>
            </a:r>
            <a:endParaRPr kumimoji="1" lang="ja-JP" altLang="en-US" sz="1200" b="1" dirty="0">
              <a:latin typeface="メイリオ" panose="020B0604030504040204" pitchFamily="50" charset="-128"/>
              <a:ea typeface="メイリオ" panose="020B0604030504040204" pitchFamily="50" charset="-128"/>
            </a:endParaRPr>
          </a:p>
        </p:txBody>
      </p:sp>
      <p:sp>
        <p:nvSpPr>
          <p:cNvPr id="40" name="テキスト ボックス 39">
            <a:extLst>
              <a:ext uri="{FF2B5EF4-FFF2-40B4-BE49-F238E27FC236}">
                <a16:creationId xmlns:a16="http://schemas.microsoft.com/office/drawing/2014/main" id="{5842F9D0-B398-BB40-E6E0-1806610B3ABF}"/>
              </a:ext>
            </a:extLst>
          </p:cNvPr>
          <p:cNvSpPr txBox="1"/>
          <p:nvPr/>
        </p:nvSpPr>
        <p:spPr>
          <a:xfrm>
            <a:off x="3578823" y="2650866"/>
            <a:ext cx="2127892" cy="276999"/>
          </a:xfrm>
          <a:prstGeom prst="rect">
            <a:avLst/>
          </a:prstGeom>
          <a:noFill/>
        </p:spPr>
        <p:txBody>
          <a:bodyPr wrap="square">
            <a:spAutoFit/>
          </a:bodyPr>
          <a:lstStyle/>
          <a:p>
            <a:pPr algn="ctr"/>
            <a:r>
              <a:rPr kumimoji="1" lang="ja-JP" altLang="en-US" sz="1200" b="1" dirty="0">
                <a:solidFill>
                  <a:schemeClr val="bg1">
                    <a:lumMod val="65000"/>
                  </a:schemeClr>
                </a:solidFill>
                <a:latin typeface="メイリオ" panose="020B0604030504040204" pitchFamily="50" charset="-128"/>
                <a:ea typeface="メイリオ" panose="020B0604030504040204" pitchFamily="50" charset="-128"/>
              </a:rPr>
              <a:t>離脱</a:t>
            </a:r>
          </a:p>
        </p:txBody>
      </p:sp>
      <p:sp>
        <p:nvSpPr>
          <p:cNvPr id="42" name="テキスト ボックス 41">
            <a:extLst>
              <a:ext uri="{FF2B5EF4-FFF2-40B4-BE49-F238E27FC236}">
                <a16:creationId xmlns:a16="http://schemas.microsoft.com/office/drawing/2014/main" id="{65925534-D40D-9B46-2A4B-52FA9BA609A2}"/>
              </a:ext>
            </a:extLst>
          </p:cNvPr>
          <p:cNvSpPr txBox="1"/>
          <p:nvPr/>
        </p:nvSpPr>
        <p:spPr>
          <a:xfrm>
            <a:off x="3578823" y="4271087"/>
            <a:ext cx="2127892" cy="276999"/>
          </a:xfrm>
          <a:prstGeom prst="rect">
            <a:avLst/>
          </a:prstGeom>
          <a:noFill/>
        </p:spPr>
        <p:txBody>
          <a:bodyPr wrap="square">
            <a:spAutoFit/>
          </a:bodyPr>
          <a:lstStyle/>
          <a:p>
            <a:pPr algn="ctr"/>
            <a:r>
              <a:rPr lang="en-US" altLang="ja-JP" sz="1200" b="1" dirty="0">
                <a:latin typeface="メイリオ" panose="020B0604030504040204" pitchFamily="50" charset="-128"/>
                <a:ea typeface="メイリオ" panose="020B0604030504040204" pitchFamily="50" charset="-128"/>
              </a:rPr>
              <a:t>LINE</a:t>
            </a:r>
            <a:r>
              <a:rPr lang="ja-JP" altLang="en-US" sz="1200" b="1" dirty="0">
                <a:latin typeface="メイリオ" panose="020B0604030504040204" pitchFamily="50" charset="-128"/>
                <a:ea typeface="メイリオ" panose="020B0604030504040204" pitchFamily="50" charset="-128"/>
              </a:rPr>
              <a:t>でログイン</a:t>
            </a:r>
          </a:p>
        </p:txBody>
      </p:sp>
      <p:sp>
        <p:nvSpPr>
          <p:cNvPr id="29" name="台形 28">
            <a:extLst>
              <a:ext uri="{FF2B5EF4-FFF2-40B4-BE49-F238E27FC236}">
                <a16:creationId xmlns:a16="http://schemas.microsoft.com/office/drawing/2014/main" id="{631B5A0E-480A-21DA-478B-1C86D29B43FC}"/>
              </a:ext>
            </a:extLst>
          </p:cNvPr>
          <p:cNvSpPr/>
          <p:nvPr/>
        </p:nvSpPr>
        <p:spPr>
          <a:xfrm rot="10800000">
            <a:off x="7611914" y="3620411"/>
            <a:ext cx="1826395" cy="470263"/>
          </a:xfrm>
          <a:prstGeom prst="trapezoid">
            <a:avLst>
              <a:gd name="adj" fmla="val 0"/>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000" dirty="0"/>
          </a:p>
        </p:txBody>
      </p:sp>
      <p:sp>
        <p:nvSpPr>
          <p:cNvPr id="31" name="テキスト ボックス 30">
            <a:extLst>
              <a:ext uri="{FF2B5EF4-FFF2-40B4-BE49-F238E27FC236}">
                <a16:creationId xmlns:a16="http://schemas.microsoft.com/office/drawing/2014/main" id="{2B674F16-FAA2-578A-0AB9-863BDC58B75D}"/>
              </a:ext>
            </a:extLst>
          </p:cNvPr>
          <p:cNvSpPr txBox="1"/>
          <p:nvPr/>
        </p:nvSpPr>
        <p:spPr>
          <a:xfrm>
            <a:off x="7611914" y="3677135"/>
            <a:ext cx="1826395" cy="400110"/>
          </a:xfrm>
          <a:prstGeom prst="rect">
            <a:avLst/>
          </a:prstGeom>
          <a:noFill/>
        </p:spPr>
        <p:txBody>
          <a:bodyPr wrap="square">
            <a:spAutoFit/>
          </a:bodyPr>
          <a:lstStyle/>
          <a:p>
            <a:pPr algn="ctr"/>
            <a:r>
              <a:rPr kumimoji="1" lang="ja-JP" altLang="en-US" sz="1000" b="1" dirty="0">
                <a:solidFill>
                  <a:schemeClr val="bg1"/>
                </a:solidFill>
                <a:latin typeface="メイリオ" panose="020B0604030504040204" pitchFamily="50" charset="-128"/>
                <a:ea typeface="メイリオ" panose="020B0604030504040204" pitchFamily="50" charset="-128"/>
              </a:rPr>
              <a:t>志望領域・通学圏</a:t>
            </a:r>
            <a:endParaRPr kumimoji="1"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を確認</a:t>
            </a:r>
            <a:endParaRPr kumimoji="1" lang="en-US" altLang="ja-JP" sz="1000" b="1" dirty="0">
              <a:solidFill>
                <a:schemeClr val="bg1"/>
              </a:solidFill>
              <a:latin typeface="メイリオ" panose="020B0604030504040204" pitchFamily="50" charset="-128"/>
              <a:ea typeface="メイリオ" panose="020B0604030504040204" pitchFamily="50" charset="-128"/>
            </a:endParaRPr>
          </a:p>
        </p:txBody>
      </p:sp>
      <p:sp>
        <p:nvSpPr>
          <p:cNvPr id="34" name="台形 33">
            <a:extLst>
              <a:ext uri="{FF2B5EF4-FFF2-40B4-BE49-F238E27FC236}">
                <a16:creationId xmlns:a16="http://schemas.microsoft.com/office/drawing/2014/main" id="{BF27E5AF-6A9E-D2DF-F51B-E8DA545CA345}"/>
              </a:ext>
            </a:extLst>
          </p:cNvPr>
          <p:cNvSpPr/>
          <p:nvPr/>
        </p:nvSpPr>
        <p:spPr>
          <a:xfrm rot="10800000">
            <a:off x="5422833" y="2137335"/>
            <a:ext cx="1826395" cy="4058005"/>
          </a:xfrm>
          <a:prstGeom prst="trapezoid">
            <a:avLst>
              <a:gd name="adj" fmla="val 0"/>
            </a:avLst>
          </a:prstGeom>
          <a:solidFill>
            <a:schemeClr val="tx1">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7" name="テキスト ボックス 36">
            <a:extLst>
              <a:ext uri="{FF2B5EF4-FFF2-40B4-BE49-F238E27FC236}">
                <a16:creationId xmlns:a16="http://schemas.microsoft.com/office/drawing/2014/main" id="{21C26183-5619-0076-CEE1-600FD18943B4}"/>
              </a:ext>
            </a:extLst>
          </p:cNvPr>
          <p:cNvSpPr txBox="1"/>
          <p:nvPr/>
        </p:nvSpPr>
        <p:spPr>
          <a:xfrm>
            <a:off x="5379134" y="3311809"/>
            <a:ext cx="1913793" cy="738664"/>
          </a:xfrm>
          <a:prstGeom prst="rect">
            <a:avLst/>
          </a:prstGeom>
          <a:noFill/>
        </p:spPr>
        <p:txBody>
          <a:bodyPr wrap="square">
            <a:spAutoFit/>
          </a:bodyPr>
          <a:lstStyle/>
          <a:p>
            <a:pPr algn="ctr"/>
            <a:r>
              <a:rPr kumimoji="1" lang="ja-JP" altLang="en-US" sz="1200" dirty="0">
                <a:solidFill>
                  <a:schemeClr val="bg1"/>
                </a:solidFill>
                <a:latin typeface="メイリオ" panose="020B0604030504040204" pitchFamily="50" charset="-128"/>
                <a:ea typeface="メイリオ" panose="020B0604030504040204" pitchFamily="50" charset="-128"/>
              </a:rPr>
              <a:t>不明</a:t>
            </a:r>
            <a:endParaRPr kumimoji="1" lang="en-US" altLang="ja-JP" sz="1200" dirty="0">
              <a:solidFill>
                <a:schemeClr val="bg1"/>
              </a:solidFill>
              <a:latin typeface="メイリオ" panose="020B0604030504040204" pitchFamily="50" charset="-128"/>
              <a:ea typeface="メイリオ" panose="020B0604030504040204" pitchFamily="50" charset="-128"/>
            </a:endParaRPr>
          </a:p>
          <a:p>
            <a:pPr algn="ct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ヒアリングの上、</a:t>
            </a:r>
            <a:endParaRPr lang="en-US" altLang="ja-JP" sz="1000" b="1" dirty="0">
              <a:solidFill>
                <a:schemeClr val="bg1"/>
              </a:solidFill>
              <a:latin typeface="メイリオ" panose="020B0604030504040204" pitchFamily="50" charset="-128"/>
              <a:ea typeface="メイリオ" panose="020B0604030504040204" pitchFamily="50" charset="-128"/>
            </a:endParaRPr>
          </a:p>
          <a:p>
            <a:pPr algn="ctr"/>
            <a:r>
              <a:rPr kumimoji="1" lang="ja-JP" altLang="en-US" sz="1000" b="1" dirty="0">
                <a:solidFill>
                  <a:schemeClr val="bg1"/>
                </a:solidFill>
                <a:latin typeface="メイリオ" panose="020B0604030504040204" pitchFamily="50" charset="-128"/>
                <a:ea typeface="メイリオ" panose="020B0604030504040204" pitchFamily="50" charset="-128"/>
              </a:rPr>
              <a:t>不足施策を明示</a:t>
            </a:r>
          </a:p>
        </p:txBody>
      </p:sp>
      <p:sp>
        <p:nvSpPr>
          <p:cNvPr id="59" name="TextBox 58"/>
          <p:cNvSpPr txBox="1"/>
          <p:nvPr/>
        </p:nvSpPr>
        <p:spPr>
          <a:xfrm>
            <a:off x="360000" y="6426000"/>
            <a:ext cx="7128000" cy="180000"/>
          </a:xfrm>
          <a:prstGeom prst="rect">
            <a:avLst/>
          </a:prstGeom>
          <a:noFill/>
        </p:spPr>
        <p:txBody>
          <a:bodyPr wrap="square" lIns="18000" tIns="0" rIns="18000" bIns="0">
            <a:spAutoFit/>
          </a:bodyPr>
          <a:lstStyle/>
          <a:p>
            <a:r>
              <a:rPr sz="800">
                <a:solidFill>
                  <a:srgbClr val="646C82"/>
                </a:solidFill>
                <a:latin typeface="メイリオ"/>
                <a:ea typeface="メイリオ"/>
              </a:rPr>
              <a:t>※ 高校生の進路検討は約18ヶ月（高2春〜高3秋）。募集のチャンスは年1回で、取りこぼした1人は翌年戻らない（1名の入学＝4年間で約470万円）</a:t>
            </a:r>
          </a:p>
        </p:txBody>
      </p:sp>
    </p:spTree>
    <p:extLst>
      <p:ext uri="{BB962C8B-B14F-4D97-AF65-F5344CB8AC3E}">
        <p14:creationId xmlns:p14="http://schemas.microsoft.com/office/powerpoint/2010/main" val="993846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5A5A4-75AD-516A-9D25-18F8EF002C9C}"/>
            </a:ext>
          </a:extLst>
        </p:cNvPr>
        <p:cNvGrpSpPr/>
        <p:nvPr/>
      </p:nvGrpSpPr>
      <p:grpSpPr>
        <a:xfrm>
          <a:off x="0" y="0"/>
          <a:ext cx="0" cy="0"/>
          <a:chOff x="0" y="0"/>
          <a:chExt cx="0" cy="0"/>
        </a:xfrm>
      </p:grpSpPr>
      <p:sp>
        <p:nvSpPr>
          <p:cNvPr id="6" name="Google Shape;752;p28">
            <a:extLst>
              <a:ext uri="{FF2B5EF4-FFF2-40B4-BE49-F238E27FC236}">
                <a16:creationId xmlns:a16="http://schemas.microsoft.com/office/drawing/2014/main" id="{0308A94D-067F-5D10-BF02-6777DD32E821}"/>
              </a:ext>
            </a:extLst>
          </p:cNvPr>
          <p:cNvSpPr txBox="1"/>
          <p:nvPr/>
        </p:nvSpPr>
        <p:spPr>
          <a:xfrm>
            <a:off x="548883" y="138137"/>
            <a:ext cx="7027574" cy="338514"/>
          </a:xfrm>
          <a:prstGeom prst="rect">
            <a:avLst/>
          </a:prstGeom>
          <a:noFill/>
          <a:ln>
            <a:noFill/>
          </a:ln>
        </p:spPr>
        <p:txBody>
          <a:bodyPr spcFirstLastPara="1" wrap="square" lIns="91425" tIns="45700" rIns="91425" bIns="45700" anchor="ctr" anchorCtr="0">
            <a:spAutoFit/>
          </a:bodyPr>
          <a:lstStyle/>
          <a:p>
            <a:pPr lvl="0"/>
            <a:r>
              <a:rPr lang="en-US" altLang="ja-JP" sz="1600" b="1" dirty="0">
                <a:solidFill>
                  <a:schemeClr val="tx1">
                    <a:lumMod val="50000"/>
                    <a:lumOff val="50000"/>
                  </a:schemeClr>
                </a:solidFill>
                <a:latin typeface="メイリオ"/>
                <a:ea typeface="メイリオ"/>
                <a:cs typeface="Meiryo"/>
                <a:sym typeface="Meiryo"/>
              </a:rPr>
              <a:t>LINE</a:t>
            </a:r>
            <a:r>
              <a:rPr lang="ja-JP" altLang="en-US" sz="1600" b="1" dirty="0">
                <a:solidFill>
                  <a:schemeClr val="tx1">
                    <a:lumMod val="50000"/>
                    <a:lumOff val="50000"/>
                  </a:schemeClr>
                </a:solidFill>
                <a:latin typeface="メイリオ"/>
                <a:ea typeface="メイリオ"/>
                <a:cs typeface="Meiryo"/>
                <a:sym typeface="Meiryo"/>
              </a:rPr>
              <a:t>施策における重要な考え方</a:t>
            </a:r>
            <a:endParaRPr lang="en-US" altLang="ja-JP" sz="1600" b="1" dirty="0">
              <a:solidFill>
                <a:schemeClr val="tx1">
                  <a:lumMod val="50000"/>
                  <a:lumOff val="50000"/>
                </a:schemeClr>
              </a:solidFill>
              <a:latin typeface="メイリオ"/>
              <a:ea typeface="メイリオ"/>
              <a:cs typeface="Meiryo"/>
              <a:sym typeface="Meiryo"/>
            </a:endParaRPr>
          </a:p>
        </p:txBody>
      </p:sp>
      <p:sp>
        <p:nvSpPr>
          <p:cNvPr id="7" name="正方形/長方形 6">
            <a:extLst>
              <a:ext uri="{FF2B5EF4-FFF2-40B4-BE49-F238E27FC236}">
                <a16:creationId xmlns:a16="http://schemas.microsoft.com/office/drawing/2014/main" id="{31489518-639C-6F8B-3CC2-E3A3D82066B2}"/>
              </a:ext>
            </a:extLst>
          </p:cNvPr>
          <p:cNvSpPr/>
          <p:nvPr/>
        </p:nvSpPr>
        <p:spPr>
          <a:xfrm>
            <a:off x="275003" y="1728082"/>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既存友だち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のメッセージ配信を拡大＆検証し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課金対効果を向上する</a:t>
            </a:r>
          </a:p>
        </p:txBody>
      </p:sp>
      <p:sp>
        <p:nvSpPr>
          <p:cNvPr id="9" name="正方形/長方形 8">
            <a:extLst>
              <a:ext uri="{FF2B5EF4-FFF2-40B4-BE49-F238E27FC236}">
                <a16:creationId xmlns:a16="http://schemas.microsoft.com/office/drawing/2014/main" id="{DD339252-F691-EA9D-983C-6241C7AABA77}"/>
              </a:ext>
            </a:extLst>
          </p:cNvPr>
          <p:cNvSpPr/>
          <p:nvPr/>
        </p:nvSpPr>
        <p:spPr>
          <a:xfrm>
            <a:off x="275003" y="3221875"/>
            <a:ext cx="9355994" cy="1391288"/>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新規友だち</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の追加動線を拡大</a:t>
            </a: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&amp;</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整備し</a:t>
            </a:r>
            <a:endPar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見込みの高いユーザーのリードを獲得する</a:t>
            </a:r>
          </a:p>
        </p:txBody>
      </p:sp>
      <p:cxnSp>
        <p:nvCxnSpPr>
          <p:cNvPr id="10" name="直線コネクタ 9">
            <a:extLst>
              <a:ext uri="{FF2B5EF4-FFF2-40B4-BE49-F238E27FC236}">
                <a16:creationId xmlns:a16="http://schemas.microsoft.com/office/drawing/2014/main" id="{71A329C6-D6CA-D19E-C8A2-D6D234F2FA53}"/>
              </a:ext>
            </a:extLst>
          </p:cNvPr>
          <p:cNvCxnSpPr/>
          <p:nvPr/>
        </p:nvCxnSpPr>
        <p:spPr>
          <a:xfrm>
            <a:off x="1519747" y="1452035"/>
            <a:ext cx="6578990" cy="0"/>
          </a:xfrm>
          <a:prstGeom prst="line">
            <a:avLst/>
          </a:prstGeom>
          <a:ln w="12700"/>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718487F9-9129-0E91-A220-B2EF077840F3}"/>
              </a:ext>
            </a:extLst>
          </p:cNvPr>
          <p:cNvSpPr/>
          <p:nvPr/>
        </p:nvSpPr>
        <p:spPr>
          <a:xfrm>
            <a:off x="3756183" y="751045"/>
            <a:ext cx="2022158" cy="589765"/>
          </a:xfrm>
          <a:prstGeom prst="ellipse">
            <a:avLst/>
          </a:prstGeom>
          <a:solidFill>
            <a:schemeClr val="accent1">
              <a:lumMod val="40000"/>
              <a:lumOff val="60000"/>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4" name="正方形/長方形 13">
            <a:extLst>
              <a:ext uri="{FF2B5EF4-FFF2-40B4-BE49-F238E27FC236}">
                <a16:creationId xmlns:a16="http://schemas.microsoft.com/office/drawing/2014/main" id="{D2F1E1CA-9D65-A02D-917C-CB72A01459A6}"/>
              </a:ext>
            </a:extLst>
          </p:cNvPr>
          <p:cNvSpPr/>
          <p:nvPr/>
        </p:nvSpPr>
        <p:spPr>
          <a:xfrm>
            <a:off x="1502508" y="842812"/>
            <a:ext cx="6647975" cy="461665"/>
          </a:xfrm>
          <a:prstGeom prst="rect">
            <a:avLst/>
          </a:prstGeom>
        </p:spPr>
        <p:txBody>
          <a:bodyPr wrap="none">
            <a:spAutoFit/>
          </a:bodyPr>
          <a:lstStyle>
            <a:defPPr>
              <a:defRPr lang="ja-JP"/>
            </a:defPPr>
            <a:lvl1pPr marL="0" algn="l" defTabSz="914400" rtl="0" eaLnBrk="1" latinLnBrk="0" hangingPunct="1">
              <a:defRPr kumimoji="1" sz="1800" kern="1200">
                <a:solidFill>
                  <a:schemeClr val="tx1"/>
                </a:solidFill>
                <a:latin typeface="メイリオ"/>
                <a:ea typeface="メイリオ"/>
                <a:cs typeface="+mn-cs"/>
              </a:defRPr>
            </a:lvl1pPr>
            <a:lvl2pPr marL="457200" algn="l" defTabSz="914400" rtl="0" eaLnBrk="1" latinLnBrk="0" hangingPunct="1">
              <a:defRPr kumimoji="1" sz="1800" kern="1200">
                <a:solidFill>
                  <a:schemeClr val="tx1"/>
                </a:solidFill>
                <a:latin typeface="メイリオ"/>
                <a:ea typeface="メイリオ"/>
                <a:cs typeface="+mn-cs"/>
              </a:defRPr>
            </a:lvl2pPr>
            <a:lvl3pPr marL="914400" algn="l" defTabSz="914400" rtl="0" eaLnBrk="1" latinLnBrk="0" hangingPunct="1">
              <a:defRPr kumimoji="1" sz="1800" kern="1200">
                <a:solidFill>
                  <a:schemeClr val="tx1"/>
                </a:solidFill>
                <a:latin typeface="メイリオ"/>
                <a:ea typeface="メイリオ"/>
                <a:cs typeface="+mn-cs"/>
              </a:defRPr>
            </a:lvl3pPr>
            <a:lvl4pPr marL="1371600" algn="l" defTabSz="914400" rtl="0" eaLnBrk="1" latinLnBrk="0" hangingPunct="1">
              <a:defRPr kumimoji="1" sz="1800" kern="1200">
                <a:solidFill>
                  <a:schemeClr val="tx1"/>
                </a:solidFill>
                <a:latin typeface="メイリオ"/>
                <a:ea typeface="メイリオ"/>
                <a:cs typeface="+mn-cs"/>
              </a:defRPr>
            </a:lvl4pPr>
            <a:lvl5pPr marL="1828800" algn="l" defTabSz="914400" rtl="0" eaLnBrk="1" latinLnBrk="0" hangingPunct="1">
              <a:defRPr kumimoji="1" sz="1800" kern="1200">
                <a:solidFill>
                  <a:schemeClr val="tx1"/>
                </a:solidFill>
                <a:latin typeface="メイリオ"/>
                <a:ea typeface="メイリオ"/>
                <a:cs typeface="+mn-cs"/>
              </a:defRPr>
            </a:lvl5pPr>
            <a:lvl6pPr marL="2286000" algn="l" defTabSz="914400" rtl="0" eaLnBrk="1" latinLnBrk="0" hangingPunct="1">
              <a:defRPr kumimoji="1" sz="1800" kern="1200">
                <a:solidFill>
                  <a:schemeClr val="tx1"/>
                </a:solidFill>
                <a:latin typeface="メイリオ"/>
                <a:ea typeface="メイリオ"/>
                <a:cs typeface="+mn-cs"/>
              </a:defRPr>
            </a:lvl6pPr>
            <a:lvl7pPr marL="2743200" algn="l" defTabSz="914400" rtl="0" eaLnBrk="1" latinLnBrk="0" hangingPunct="1">
              <a:defRPr kumimoji="1" sz="1800" kern="1200">
                <a:solidFill>
                  <a:schemeClr val="tx1"/>
                </a:solidFill>
                <a:latin typeface="メイリオ"/>
                <a:ea typeface="メイリオ"/>
                <a:cs typeface="+mn-cs"/>
              </a:defRPr>
            </a:lvl7pPr>
            <a:lvl8pPr marL="3200400" algn="l" defTabSz="914400" rtl="0" eaLnBrk="1" latinLnBrk="0" hangingPunct="1">
              <a:defRPr kumimoji="1" sz="1800" kern="1200">
                <a:solidFill>
                  <a:schemeClr val="tx1"/>
                </a:solidFill>
                <a:latin typeface="メイリオ"/>
                <a:ea typeface="メイリオ"/>
                <a:cs typeface="+mn-cs"/>
              </a:defRPr>
            </a:lvl8pPr>
            <a:lvl9pPr marL="3657600" algn="l" defTabSz="914400" rtl="0" eaLnBrk="1" latinLnBrk="0" hangingPunct="1">
              <a:defRPr kumimoji="1" sz="1800" kern="1200">
                <a:solidFill>
                  <a:schemeClr val="tx1"/>
                </a:solidFill>
                <a:latin typeface="メイリオ"/>
                <a:ea typeface="メイリオ"/>
                <a:cs typeface="+mn-cs"/>
              </a:defRPr>
            </a:lvl9pPr>
          </a:lstStyle>
          <a:p>
            <a:pPr algn="ctr"/>
            <a:r>
              <a:rPr lang="ja-JP" altLang="en-US" sz="2400" b="1" dirty="0">
                <a:solidFill>
                  <a:schemeClr val="tx1">
                    <a:lumMod val="50000"/>
                    <a:lumOff val="50000"/>
                  </a:schemeClr>
                </a:solidFill>
                <a:latin typeface="メイリオ" panose="020B0604030504040204" pitchFamily="50" charset="-128"/>
                <a:ea typeface="メイリオ" panose="020B0604030504040204" pitchFamily="50" charset="-128"/>
              </a:rPr>
              <a:t>アカウント効果を</a:t>
            </a:r>
            <a:r>
              <a:rPr lang="ja-JP" altLang="en-US" sz="2400" b="1" dirty="0">
                <a:latin typeface="メイリオ" panose="020B0604030504040204" pitchFamily="50" charset="-128"/>
                <a:ea typeface="メイリオ" panose="020B0604030504040204" pitchFamily="50" charset="-128"/>
              </a:rPr>
              <a:t>最大化する</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ためには・・・？</a:t>
            </a:r>
          </a:p>
        </p:txBody>
      </p:sp>
      <p:sp>
        <p:nvSpPr>
          <p:cNvPr id="15" name="下矢印 1">
            <a:extLst>
              <a:ext uri="{FF2B5EF4-FFF2-40B4-BE49-F238E27FC236}">
                <a16:creationId xmlns:a16="http://schemas.microsoft.com/office/drawing/2014/main" id="{453026E5-FC32-AC14-0437-B9F8A5DB717B}"/>
              </a:ext>
            </a:extLst>
          </p:cNvPr>
          <p:cNvSpPr/>
          <p:nvPr/>
        </p:nvSpPr>
        <p:spPr>
          <a:xfrm>
            <a:off x="3379742" y="4715668"/>
            <a:ext cx="3196046" cy="421640"/>
          </a:xfrm>
          <a:prstGeom prst="downArrow">
            <a:avLst>
              <a:gd name="adj1" fmla="val 50000"/>
              <a:gd name="adj2" fmla="val 52758"/>
            </a:avLst>
          </a:prstGeom>
          <a:solidFill>
            <a:schemeClr val="bg1">
              <a:lumMod val="9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endParaRPr kumimoji="1" lang="ja-JP" altLang="en-US">
              <a:solidFill>
                <a:schemeClr val="tx1">
                  <a:lumMod val="50000"/>
                  <a:lumOff val="50000"/>
                </a:schemeClr>
              </a:solidFill>
            </a:endParaRPr>
          </a:p>
        </p:txBody>
      </p:sp>
      <p:sp>
        <p:nvSpPr>
          <p:cNvPr id="19" name="正方形/長方形 18">
            <a:extLst>
              <a:ext uri="{FF2B5EF4-FFF2-40B4-BE49-F238E27FC236}">
                <a16:creationId xmlns:a16="http://schemas.microsoft.com/office/drawing/2014/main" id="{ED0D0284-90AC-92C0-335B-D83B919080B0}"/>
              </a:ext>
            </a:extLst>
          </p:cNvPr>
          <p:cNvSpPr/>
          <p:nvPr/>
        </p:nvSpPr>
        <p:spPr>
          <a:xfrm>
            <a:off x="275003" y="5239812"/>
            <a:ext cx="9355994" cy="867143"/>
          </a:xfrm>
          <a:prstGeom prst="rect">
            <a:avLst/>
          </a:prstGeom>
          <a:solidFill>
            <a:schemeClr val="accent1">
              <a:lumMod val="20000"/>
              <a:lumOff val="80000"/>
            </a:schemeClr>
          </a:solidFill>
          <a:ln w="2222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marL="0" algn="l" defTabSz="914400" rtl="0" eaLnBrk="1" latinLnBrk="0" hangingPunct="1">
              <a:defRPr kumimoji="1" sz="1800" kern="1200">
                <a:solidFill>
                  <a:schemeClr val="lt1"/>
                </a:solidFill>
                <a:latin typeface="メイリオ"/>
                <a:ea typeface="メイリオ"/>
                <a:cs typeface="+mn-cs"/>
              </a:defRPr>
            </a:lvl1pPr>
            <a:lvl2pPr marL="457200" algn="l" defTabSz="914400" rtl="0" eaLnBrk="1" latinLnBrk="0" hangingPunct="1">
              <a:defRPr kumimoji="1" sz="1800" kern="1200">
                <a:solidFill>
                  <a:schemeClr val="lt1"/>
                </a:solidFill>
                <a:latin typeface="メイリオ"/>
                <a:ea typeface="メイリオ"/>
                <a:cs typeface="+mn-cs"/>
              </a:defRPr>
            </a:lvl2pPr>
            <a:lvl3pPr marL="914400" algn="l" defTabSz="914400" rtl="0" eaLnBrk="1" latinLnBrk="0" hangingPunct="1">
              <a:defRPr kumimoji="1" sz="1800" kern="1200">
                <a:solidFill>
                  <a:schemeClr val="lt1"/>
                </a:solidFill>
                <a:latin typeface="メイリオ"/>
                <a:ea typeface="メイリオ"/>
                <a:cs typeface="+mn-cs"/>
              </a:defRPr>
            </a:lvl3pPr>
            <a:lvl4pPr marL="1371600" algn="l" defTabSz="914400" rtl="0" eaLnBrk="1" latinLnBrk="0" hangingPunct="1">
              <a:defRPr kumimoji="1" sz="1800" kern="1200">
                <a:solidFill>
                  <a:schemeClr val="lt1"/>
                </a:solidFill>
                <a:latin typeface="メイリオ"/>
                <a:ea typeface="メイリオ"/>
                <a:cs typeface="+mn-cs"/>
              </a:defRPr>
            </a:lvl4pPr>
            <a:lvl5pPr marL="1828800" algn="l" defTabSz="914400" rtl="0" eaLnBrk="1" latinLnBrk="0" hangingPunct="1">
              <a:defRPr kumimoji="1" sz="1800" kern="1200">
                <a:solidFill>
                  <a:schemeClr val="lt1"/>
                </a:solidFill>
                <a:latin typeface="メイリオ"/>
                <a:ea typeface="メイリオ"/>
                <a:cs typeface="+mn-cs"/>
              </a:defRPr>
            </a:lvl5pPr>
            <a:lvl6pPr marL="2286000" algn="l" defTabSz="914400" rtl="0" eaLnBrk="1" latinLnBrk="0" hangingPunct="1">
              <a:defRPr kumimoji="1" sz="1800" kern="1200">
                <a:solidFill>
                  <a:schemeClr val="lt1"/>
                </a:solidFill>
                <a:latin typeface="メイリオ"/>
                <a:ea typeface="メイリオ"/>
                <a:cs typeface="+mn-cs"/>
              </a:defRPr>
            </a:lvl6pPr>
            <a:lvl7pPr marL="2743200" algn="l" defTabSz="914400" rtl="0" eaLnBrk="1" latinLnBrk="0" hangingPunct="1">
              <a:defRPr kumimoji="1" sz="1800" kern="1200">
                <a:solidFill>
                  <a:schemeClr val="lt1"/>
                </a:solidFill>
                <a:latin typeface="メイリオ"/>
                <a:ea typeface="メイリオ"/>
                <a:cs typeface="+mn-cs"/>
              </a:defRPr>
            </a:lvl7pPr>
            <a:lvl8pPr marL="3200400" algn="l" defTabSz="914400" rtl="0" eaLnBrk="1" latinLnBrk="0" hangingPunct="1">
              <a:defRPr kumimoji="1" sz="1800" kern="1200">
                <a:solidFill>
                  <a:schemeClr val="lt1"/>
                </a:solidFill>
                <a:latin typeface="メイリオ"/>
                <a:ea typeface="メイリオ"/>
                <a:cs typeface="+mn-cs"/>
              </a:defRPr>
            </a:lvl8pPr>
            <a:lvl9pPr marL="3657600" algn="l" defTabSz="914400" rtl="0" eaLnBrk="1" latinLnBrk="0" hangingPunct="1">
              <a:defRPr kumimoji="1" sz="1800" kern="1200">
                <a:solidFill>
                  <a:schemeClr val="lt1"/>
                </a:solidFill>
                <a:latin typeface="メイリオ"/>
                <a:ea typeface="メイリオ"/>
                <a:cs typeface="+mn-cs"/>
              </a:defRPr>
            </a:lvl9pPr>
          </a:lstStyle>
          <a:p>
            <a:pPr algn="ctr"/>
            <a:r>
              <a:rPr lang="en-US" altLang="ja-JP" sz="2400" dirty="0">
                <a:solidFill>
                  <a:schemeClr val="tx1">
                    <a:lumMod val="50000"/>
                    <a:lumOff val="50000"/>
                  </a:schemeClr>
                </a:solidFill>
                <a:latin typeface="メイリオ" panose="020B0604030504040204" pitchFamily="50" charset="-128"/>
                <a:ea typeface="メイリオ" panose="020B0604030504040204" pitchFamily="50" charset="-128"/>
              </a:rPr>
              <a:t>WEB</a:t>
            </a:r>
            <a:r>
              <a:rPr lang="ja-JP" altLang="en-US" sz="2400" dirty="0">
                <a:solidFill>
                  <a:schemeClr val="tx1">
                    <a:lumMod val="50000"/>
                    <a:lumOff val="50000"/>
                  </a:schemeClr>
                </a:solidFill>
                <a:latin typeface="メイリオ" panose="020B0604030504040204" pitchFamily="50" charset="-128"/>
                <a:ea typeface="メイリオ" panose="020B0604030504040204" pitchFamily="50" charset="-128"/>
              </a:rPr>
              <a:t>サイト上情報と連携させ、配信効果を数値化する</a:t>
            </a:r>
          </a:p>
        </p:txBody>
      </p:sp>
    </p:spTree>
    <p:extLst>
      <p:ext uri="{BB962C8B-B14F-4D97-AF65-F5344CB8AC3E}">
        <p14:creationId xmlns:p14="http://schemas.microsoft.com/office/powerpoint/2010/main" val="264650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EBFBA-F50F-49FF-6262-A65BC71D24BA}"/>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54A58725-F6F0-8B49-3CD7-5CBEAA430892}"/>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C83D44E2-DD1A-B705-6239-227268DFCE80}"/>
              </a:ext>
            </a:extLst>
          </p:cNvPr>
          <p:cNvSpPr/>
          <p:nvPr/>
        </p:nvSpPr>
        <p:spPr>
          <a:xfrm>
            <a:off x="788963" y="793451"/>
            <a:ext cx="8328074" cy="381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LINE誘導から1.5〜3%程度のユーザーが有効化/マネタイズ可能（社内想定の目安）。</a:t>
            </a:r>
            <a:endParaRPr lang="en-US" altLang="ja-JP" sz="1400" dirty="0">
              <a:solidFill>
                <a:srgbClr val="343434"/>
              </a:solidFill>
              <a:latin typeface="メイリオ" panose="020B0604030504040204" pitchFamily="50" charset="-128"/>
              <a:ea typeface="メイリオ" panose="020B0604030504040204" pitchFamily="50" charset="-128"/>
            </a:endParaRPr>
          </a:p>
          <a:p>
            <a:pPr algn="ctr">
              <a:lnSpc>
                <a:spcPts val="2455"/>
              </a:lnSpc>
            </a:pPr>
            <a:r>
              <a:rPr lang="ja-JP" altLang="en-US" sz="1400" dirty="0">
                <a:solidFill>
                  <a:srgbClr val="343434"/>
                </a:solidFill>
                <a:latin typeface="メイリオ" panose="020B0604030504040204" pitchFamily="50" charset="-128"/>
                <a:ea typeface="メイリオ" panose="020B0604030504040204" pitchFamily="50" charset="-128"/>
              </a:rPr>
              <a:t>貴社集客課題に合わせて、LINE公式アカウントの構築モデルを活用しながら集客効率を改善。</a:t>
            </a:r>
          </a:p>
        </p:txBody>
      </p:sp>
      <p:cxnSp>
        <p:nvCxnSpPr>
          <p:cNvPr id="5" name="直線コネクタ 4">
            <a:extLst>
              <a:ext uri="{FF2B5EF4-FFF2-40B4-BE49-F238E27FC236}">
                <a16:creationId xmlns:a16="http://schemas.microsoft.com/office/drawing/2014/main" id="{73533EC4-DA04-2252-5E95-8206105B300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DEFE914D-32AD-C9E0-A47B-60FB84F79955}"/>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en-US" altLang="ja-JP" sz="1600" b="1" dirty="0">
                <a:solidFill>
                  <a:srgbClr val="002060"/>
                </a:solidFill>
                <a:latin typeface="メイリオ"/>
                <a:ea typeface="メイリオ"/>
                <a:cs typeface="Meiryo"/>
                <a:sym typeface="Meiryo"/>
              </a:rPr>
              <a:t>LINE</a:t>
            </a:r>
            <a:r>
              <a:rPr lang="ja-JP" altLang="en-US" sz="1600" b="1" dirty="0">
                <a:solidFill>
                  <a:srgbClr val="002060"/>
                </a:solidFill>
                <a:latin typeface="メイリオ"/>
                <a:ea typeface="メイリオ"/>
                <a:cs typeface="Meiryo"/>
                <a:sym typeface="Meiryo"/>
              </a:rPr>
              <a:t>公式アカウントを検討する背景</a:t>
            </a:r>
            <a:endParaRPr sz="1600" b="1" dirty="0">
              <a:solidFill>
                <a:srgbClr val="002060"/>
              </a:solidFill>
              <a:latin typeface="メイリオ"/>
              <a:ea typeface="メイリオ"/>
              <a:cs typeface="Meiryo"/>
              <a:sym typeface="Meiryo"/>
            </a:endParaRPr>
          </a:p>
        </p:txBody>
      </p:sp>
      <p:sp>
        <p:nvSpPr>
          <p:cNvPr id="2" name="正方形/長方形 1">
            <a:extLst>
              <a:ext uri="{FF2B5EF4-FFF2-40B4-BE49-F238E27FC236}">
                <a16:creationId xmlns:a16="http://schemas.microsoft.com/office/drawing/2014/main" id="{EEF4BB1D-1E6E-955A-85D2-2DAF3FCF967B}"/>
              </a:ext>
            </a:extLst>
          </p:cNvPr>
          <p:cNvSpPr/>
          <p:nvPr/>
        </p:nvSpPr>
        <p:spPr>
          <a:xfrm>
            <a:off x="368444" y="1582429"/>
            <a:ext cx="1425879"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流入元</a:t>
            </a:r>
          </a:p>
        </p:txBody>
      </p:sp>
      <p:sp>
        <p:nvSpPr>
          <p:cNvPr id="8" name="正方形/長方形 7">
            <a:extLst>
              <a:ext uri="{FF2B5EF4-FFF2-40B4-BE49-F238E27FC236}">
                <a16:creationId xmlns:a16="http://schemas.microsoft.com/office/drawing/2014/main" id="{531C33D5-FD17-057E-9ABE-377B289F9790}"/>
              </a:ext>
            </a:extLst>
          </p:cNvPr>
          <p:cNvSpPr/>
          <p:nvPr/>
        </p:nvSpPr>
        <p:spPr>
          <a:xfrm>
            <a:off x="1870673" y="1582428"/>
            <a:ext cx="1425879" cy="314059"/>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latin typeface="メイリオ" panose="020B0604030504040204" pitchFamily="50" charset="-128"/>
                <a:ea typeface="メイリオ" panose="020B0604030504040204" pitchFamily="50" charset="-128"/>
              </a:rPr>
              <a:t>LINE</a:t>
            </a:r>
            <a:r>
              <a:rPr kumimoji="1" lang="ja-JP" altLang="en-US" sz="1400" b="1" dirty="0">
                <a:latin typeface="メイリオ" panose="020B0604030504040204" pitchFamily="50" charset="-128"/>
                <a:ea typeface="メイリオ" panose="020B0604030504040204" pitchFamily="50" charset="-128"/>
              </a:rPr>
              <a:t>誘導</a:t>
            </a:r>
          </a:p>
        </p:txBody>
      </p:sp>
      <p:sp>
        <p:nvSpPr>
          <p:cNvPr id="10" name="正方形/長方形 9">
            <a:extLst>
              <a:ext uri="{FF2B5EF4-FFF2-40B4-BE49-F238E27FC236}">
                <a16:creationId xmlns:a16="http://schemas.microsoft.com/office/drawing/2014/main" id="{AFB52975-24F0-82CC-8A36-A65D2F539FA3}"/>
              </a:ext>
            </a:extLst>
          </p:cNvPr>
          <p:cNvSpPr/>
          <p:nvPr/>
        </p:nvSpPr>
        <p:spPr>
          <a:xfrm>
            <a:off x="3372902" y="1582428"/>
            <a:ext cx="4320230" cy="314059"/>
          </a:xfrm>
          <a:prstGeom prst="rect">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具体の施策方針</a:t>
            </a:r>
          </a:p>
        </p:txBody>
      </p:sp>
      <p:sp>
        <p:nvSpPr>
          <p:cNvPr id="34" name="矢印: 右 33">
            <a:extLst>
              <a:ext uri="{FF2B5EF4-FFF2-40B4-BE49-F238E27FC236}">
                <a16:creationId xmlns:a16="http://schemas.microsoft.com/office/drawing/2014/main" id="{173A008B-7B40-3834-688E-168FABDF16B8}"/>
              </a:ext>
            </a:extLst>
          </p:cNvPr>
          <p:cNvSpPr/>
          <p:nvPr/>
        </p:nvSpPr>
        <p:spPr>
          <a:xfrm>
            <a:off x="1080889" y="228037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正方形/長方形 36">
            <a:extLst>
              <a:ext uri="{FF2B5EF4-FFF2-40B4-BE49-F238E27FC236}">
                <a16:creationId xmlns:a16="http://schemas.microsoft.com/office/drawing/2014/main" id="{FD70E0F9-3A37-9791-A2F1-DB53DFA521CA}"/>
              </a:ext>
            </a:extLst>
          </p:cNvPr>
          <p:cNvSpPr/>
          <p:nvPr/>
        </p:nvSpPr>
        <p:spPr>
          <a:xfrm>
            <a:off x="1870673" y="19908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39" name="正方形/長方形 38">
            <a:extLst>
              <a:ext uri="{FF2B5EF4-FFF2-40B4-BE49-F238E27FC236}">
                <a16:creationId xmlns:a16="http://schemas.microsoft.com/office/drawing/2014/main" id="{BC93A6AA-67BF-84C0-0945-45084140FCCE}"/>
              </a:ext>
            </a:extLst>
          </p:cNvPr>
          <p:cNvSpPr/>
          <p:nvPr/>
        </p:nvSpPr>
        <p:spPr>
          <a:xfrm>
            <a:off x="1870673" y="260400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離脱防止</a:t>
            </a:r>
            <a:endParaRPr lang="en-US" altLang="ja-JP" sz="1000"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rPr>
              <a:t>サイト上ポップアップ</a:t>
            </a:r>
          </a:p>
        </p:txBody>
      </p:sp>
      <p:sp>
        <p:nvSpPr>
          <p:cNvPr id="41" name="正方形/長方形 40">
            <a:extLst>
              <a:ext uri="{FF2B5EF4-FFF2-40B4-BE49-F238E27FC236}">
                <a16:creationId xmlns:a16="http://schemas.microsoft.com/office/drawing/2014/main" id="{1B7DB214-408D-A44C-E3F0-2C35AF01311F}"/>
              </a:ext>
            </a:extLst>
          </p:cNvPr>
          <p:cNvSpPr/>
          <p:nvPr/>
        </p:nvSpPr>
        <p:spPr>
          <a:xfrm>
            <a:off x="368444" y="19908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a:solidFill>
                  <a:schemeClr val="tx1">
                    <a:lumMod val="75000"/>
                    <a:lumOff val="25000"/>
                  </a:schemeClr>
                </a:solidFill>
                <a:latin typeface="メイリオ" panose="020B0604030504040204" pitchFamily="50" charset="-128"/>
                <a:ea typeface="メイリオ" panose="020B0604030504040204" pitchFamily="50" charset="-128"/>
              </a:rPr>
              <a:t>SEO</a:t>
            </a:r>
            <a:r>
              <a:rPr lang="ja-JP" altLang="en-US" sz="1050">
                <a:solidFill>
                  <a:schemeClr val="tx1">
                    <a:lumMod val="75000"/>
                    <a:lumOff val="25000"/>
                  </a:schemeClr>
                </a:solidFill>
                <a:latin typeface="メイリオ" panose="020B0604030504040204" pitchFamily="50" charset="-128"/>
                <a:ea typeface="メイリオ" panose="020B0604030504040204" pitchFamily="50" charset="-128"/>
              </a:rPr>
              <a:t>・</a:t>
            </a:r>
            <a:r>
              <a:rPr lang="en-US" altLang="ja-JP" sz="1050" dirty="0">
                <a:solidFill>
                  <a:schemeClr val="tx1">
                    <a:lumMod val="75000"/>
                    <a:lumOff val="25000"/>
                  </a:schemeClr>
                </a:solidFill>
                <a:latin typeface="メイリオ" panose="020B0604030504040204" pitchFamily="50" charset="-128"/>
                <a:ea typeface="メイリオ" panose="020B0604030504040204" pitchFamily="50" charset="-128"/>
              </a:rPr>
              <a:t>AIO</a:t>
            </a:r>
            <a:endPar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3" name="正方形/長方形 42">
            <a:extLst>
              <a:ext uri="{FF2B5EF4-FFF2-40B4-BE49-F238E27FC236}">
                <a16:creationId xmlns:a16="http://schemas.microsoft.com/office/drawing/2014/main" id="{4FF021F0-AD46-9EC1-0810-C474BA8335D8}"/>
              </a:ext>
            </a:extLst>
          </p:cNvPr>
          <p:cNvSpPr/>
          <p:nvPr/>
        </p:nvSpPr>
        <p:spPr>
          <a:xfrm>
            <a:off x="368444" y="260400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solidFill>
                  <a:schemeClr val="tx1">
                    <a:lumMod val="75000"/>
                    <a:lumOff val="25000"/>
                  </a:schemeClr>
                </a:solidFill>
                <a:latin typeface="メイリオ" panose="020B0604030504040204" pitchFamily="50" charset="-128"/>
                <a:ea typeface="メイリオ" panose="020B0604030504040204" pitchFamily="50" charset="-128"/>
              </a:rPr>
              <a:t>広告</a:t>
            </a:r>
          </a:p>
        </p:txBody>
      </p:sp>
      <p:sp>
        <p:nvSpPr>
          <p:cNvPr id="46" name="正方形/長方形 45">
            <a:extLst>
              <a:ext uri="{FF2B5EF4-FFF2-40B4-BE49-F238E27FC236}">
                <a16:creationId xmlns:a16="http://schemas.microsoft.com/office/drawing/2014/main" id="{8A474FF7-4108-C39F-A5EC-7D5691573134}"/>
              </a:ext>
            </a:extLst>
          </p:cNvPr>
          <p:cNvSpPr/>
          <p:nvPr/>
        </p:nvSpPr>
        <p:spPr>
          <a:xfrm>
            <a:off x="3372902" y="1985363"/>
            <a:ext cx="4320230" cy="1177176"/>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sz="1000"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48" name="矢印: 右 47">
            <a:extLst>
              <a:ext uri="{FF2B5EF4-FFF2-40B4-BE49-F238E27FC236}">
                <a16:creationId xmlns:a16="http://schemas.microsoft.com/office/drawing/2014/main" id="{7386A58D-9B89-4DB0-7216-4E1CB6B454A9}"/>
              </a:ext>
            </a:extLst>
          </p:cNvPr>
          <p:cNvSpPr/>
          <p:nvPr/>
        </p:nvSpPr>
        <p:spPr>
          <a:xfrm>
            <a:off x="1080891" y="3232219"/>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矢印: 右 49">
            <a:extLst>
              <a:ext uri="{FF2B5EF4-FFF2-40B4-BE49-F238E27FC236}">
                <a16:creationId xmlns:a16="http://schemas.microsoft.com/office/drawing/2014/main" id="{D3CE675D-8A5C-D632-6FDA-1C8A7E291893}"/>
              </a:ext>
            </a:extLst>
          </p:cNvPr>
          <p:cNvSpPr/>
          <p:nvPr/>
        </p:nvSpPr>
        <p:spPr>
          <a:xfrm>
            <a:off x="1080890" y="3933285"/>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直線コネクタ 50">
            <a:extLst>
              <a:ext uri="{FF2B5EF4-FFF2-40B4-BE49-F238E27FC236}">
                <a16:creationId xmlns:a16="http://schemas.microsoft.com/office/drawing/2014/main" id="{8397AEEA-4837-54CF-13BA-F31B80D1393F}"/>
              </a:ext>
            </a:extLst>
          </p:cNvPr>
          <p:cNvCxnSpPr>
            <a:cxnSpLocks/>
          </p:cNvCxnSpPr>
          <p:nvPr/>
        </p:nvCxnSpPr>
        <p:spPr>
          <a:xfrm flipV="1">
            <a:off x="368444" y="3864601"/>
            <a:ext cx="7324688" cy="1"/>
          </a:xfrm>
          <a:prstGeom prst="line">
            <a:avLst/>
          </a:prstGeom>
          <a:ln>
            <a:prstDash val="sysDash"/>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24D1C472-525A-CFB1-3C6E-3053F2619881}"/>
              </a:ext>
            </a:extLst>
          </p:cNvPr>
          <p:cNvSpPr/>
          <p:nvPr/>
        </p:nvSpPr>
        <p:spPr>
          <a:xfrm>
            <a:off x="368444" y="3217195"/>
            <a:ext cx="2928107"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広告（</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CPF</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配信）</a:t>
            </a:r>
            <a:endPar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サイト上ポップアップ</a:t>
            </a:r>
            <a:endPar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3" name="正方形/長方形 52">
            <a:extLst>
              <a:ext uri="{FF2B5EF4-FFF2-40B4-BE49-F238E27FC236}">
                <a16:creationId xmlns:a16="http://schemas.microsoft.com/office/drawing/2014/main" id="{CBD188BB-0EA8-4510-DCA0-2AEE1B7CD5EB}"/>
              </a:ext>
            </a:extLst>
          </p:cNvPr>
          <p:cNvSpPr/>
          <p:nvPr/>
        </p:nvSpPr>
        <p:spPr>
          <a:xfrm>
            <a:off x="1870673" y="3953477"/>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54" name="正方形/長方形 53">
            <a:extLst>
              <a:ext uri="{FF2B5EF4-FFF2-40B4-BE49-F238E27FC236}">
                <a16:creationId xmlns:a16="http://schemas.microsoft.com/office/drawing/2014/main" id="{29E6B5C9-2FD2-FC57-1789-05FA5F38E1F7}"/>
              </a:ext>
            </a:extLst>
          </p:cNvPr>
          <p:cNvSpPr/>
          <p:nvPr/>
        </p:nvSpPr>
        <p:spPr>
          <a:xfrm>
            <a:off x="368444" y="3953477"/>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55" name="正方形/長方形 54">
            <a:extLst>
              <a:ext uri="{FF2B5EF4-FFF2-40B4-BE49-F238E27FC236}">
                <a16:creationId xmlns:a16="http://schemas.microsoft.com/office/drawing/2014/main" id="{533AD0C0-7276-FA17-9FD7-734635201CB2}"/>
              </a:ext>
            </a:extLst>
          </p:cNvPr>
          <p:cNvSpPr/>
          <p:nvPr/>
        </p:nvSpPr>
        <p:spPr>
          <a:xfrm>
            <a:off x="3372901" y="321719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6" name="正方形/長方形 55">
            <a:extLst>
              <a:ext uri="{FF2B5EF4-FFF2-40B4-BE49-F238E27FC236}">
                <a16:creationId xmlns:a16="http://schemas.microsoft.com/office/drawing/2014/main" id="{415D5861-B108-7E0A-3377-5601EF82149A}"/>
              </a:ext>
            </a:extLst>
          </p:cNvPr>
          <p:cNvSpPr/>
          <p:nvPr/>
        </p:nvSpPr>
        <p:spPr>
          <a:xfrm>
            <a:off x="3372901" y="395347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58" name="矢印: 右 57">
            <a:extLst>
              <a:ext uri="{FF2B5EF4-FFF2-40B4-BE49-F238E27FC236}">
                <a16:creationId xmlns:a16="http://schemas.microsoft.com/office/drawing/2014/main" id="{94AAFD78-CFCD-8AAC-C5DE-8F785D90C401}"/>
              </a:ext>
            </a:extLst>
          </p:cNvPr>
          <p:cNvSpPr/>
          <p:nvPr/>
        </p:nvSpPr>
        <p:spPr>
          <a:xfrm>
            <a:off x="1080889" y="458031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矢印: 右 59">
            <a:extLst>
              <a:ext uri="{FF2B5EF4-FFF2-40B4-BE49-F238E27FC236}">
                <a16:creationId xmlns:a16="http://schemas.microsoft.com/office/drawing/2014/main" id="{4D8298BD-6809-4C50-E889-0C5F779DE209}"/>
              </a:ext>
            </a:extLst>
          </p:cNvPr>
          <p:cNvSpPr/>
          <p:nvPr/>
        </p:nvSpPr>
        <p:spPr>
          <a:xfrm>
            <a:off x="1080889" y="5811958"/>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矢印: 右 61">
            <a:extLst>
              <a:ext uri="{FF2B5EF4-FFF2-40B4-BE49-F238E27FC236}">
                <a16:creationId xmlns:a16="http://schemas.microsoft.com/office/drawing/2014/main" id="{01F0D3B8-3119-304D-228E-ED46B6CAB67D}"/>
              </a:ext>
            </a:extLst>
          </p:cNvPr>
          <p:cNvSpPr/>
          <p:nvPr/>
        </p:nvSpPr>
        <p:spPr>
          <a:xfrm>
            <a:off x="1080889" y="5201704"/>
            <a:ext cx="7744217" cy="586917"/>
          </a:xfrm>
          <a:prstGeom prst="rightArrow">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4" name="正方形/長方形 63">
            <a:extLst>
              <a:ext uri="{FF2B5EF4-FFF2-40B4-BE49-F238E27FC236}">
                <a16:creationId xmlns:a16="http://schemas.microsoft.com/office/drawing/2014/main" id="{9751A61D-8342-2E71-49E2-6F2A585210CF}"/>
              </a:ext>
            </a:extLst>
          </p:cNvPr>
          <p:cNvSpPr/>
          <p:nvPr/>
        </p:nvSpPr>
        <p:spPr>
          <a:xfrm>
            <a:off x="1870673" y="4572123"/>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サンクス</a:t>
            </a:r>
            <a:r>
              <a:rPr kumimoji="1" lang="en-US" altLang="ja-JP" sz="1000" dirty="0">
                <a:solidFill>
                  <a:schemeClr val="tx1">
                    <a:lumMod val="65000"/>
                    <a:lumOff val="35000"/>
                  </a:schemeClr>
                </a:solidFill>
                <a:latin typeface="メイリオ" panose="020B0604030504040204" pitchFamily="50" charset="-128"/>
                <a:ea typeface="メイリオ" panose="020B0604030504040204" pitchFamily="50" charset="-128"/>
              </a:rPr>
              <a:t>LINE</a:t>
            </a: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誘導</a:t>
            </a:r>
          </a:p>
        </p:txBody>
      </p:sp>
      <p:sp>
        <p:nvSpPr>
          <p:cNvPr id="66" name="正方形/長方形 65">
            <a:extLst>
              <a:ext uri="{FF2B5EF4-FFF2-40B4-BE49-F238E27FC236}">
                <a16:creationId xmlns:a16="http://schemas.microsoft.com/office/drawing/2014/main" id="{069B86FC-7AC9-2579-6747-94409852E6A9}"/>
              </a:ext>
            </a:extLst>
          </p:cNvPr>
          <p:cNvSpPr/>
          <p:nvPr/>
        </p:nvSpPr>
        <p:spPr>
          <a:xfrm>
            <a:off x="368444" y="4572123"/>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dirty="0">
                <a:solidFill>
                  <a:schemeClr val="tx1">
                    <a:lumMod val="65000"/>
                    <a:lumOff val="35000"/>
                  </a:schemeClr>
                </a:solidFill>
                <a:latin typeface="メイリオ" panose="020B0604030504040204" pitchFamily="50" charset="-128"/>
                <a:ea typeface="メイリオ" panose="020B0604030504040204" pitchFamily="50" charset="-128"/>
              </a:rPr>
              <a:t>mcv</a:t>
            </a: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済</a:t>
            </a:r>
          </a:p>
        </p:txBody>
      </p:sp>
      <p:sp>
        <p:nvSpPr>
          <p:cNvPr id="68" name="正方形/長方形 67">
            <a:extLst>
              <a:ext uri="{FF2B5EF4-FFF2-40B4-BE49-F238E27FC236}">
                <a16:creationId xmlns:a16="http://schemas.microsoft.com/office/drawing/2014/main" id="{259BCB38-DAF2-BC8F-7410-9383C33A3F86}"/>
              </a:ext>
            </a:extLst>
          </p:cNvPr>
          <p:cNvSpPr/>
          <p:nvPr/>
        </p:nvSpPr>
        <p:spPr>
          <a:xfrm>
            <a:off x="368444" y="5190769"/>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0" name="正方形/長方形 69">
            <a:extLst>
              <a:ext uri="{FF2B5EF4-FFF2-40B4-BE49-F238E27FC236}">
                <a16:creationId xmlns:a16="http://schemas.microsoft.com/office/drawing/2014/main" id="{1F924E3D-9CB9-CA80-4FF6-D62C50842AEB}"/>
              </a:ext>
            </a:extLst>
          </p:cNvPr>
          <p:cNvSpPr/>
          <p:nvPr/>
        </p:nvSpPr>
        <p:spPr>
          <a:xfrm>
            <a:off x="368444" y="5809415"/>
            <a:ext cx="1425879" cy="558530"/>
          </a:xfrm>
          <a:prstGeom prst="rect">
            <a:avLst/>
          </a:prstGeom>
          <a:solidFill>
            <a:schemeClr val="bg1">
              <a:lumMod val="95000"/>
            </a:schemeClr>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保有リスト</a:t>
            </a:r>
          </a:p>
        </p:txBody>
      </p:sp>
      <p:sp>
        <p:nvSpPr>
          <p:cNvPr id="72" name="正方形/長方形 71">
            <a:extLst>
              <a:ext uri="{FF2B5EF4-FFF2-40B4-BE49-F238E27FC236}">
                <a16:creationId xmlns:a16="http://schemas.microsoft.com/office/drawing/2014/main" id="{048444BF-0B54-4CE2-78C3-B78C7FCD001B}"/>
              </a:ext>
            </a:extLst>
          </p:cNvPr>
          <p:cNvSpPr/>
          <p:nvPr/>
        </p:nvSpPr>
        <p:spPr>
          <a:xfrm>
            <a:off x="1870672" y="5190769"/>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通知メッセ</a:t>
            </a:r>
          </a:p>
        </p:txBody>
      </p:sp>
      <p:sp>
        <p:nvSpPr>
          <p:cNvPr id="74" name="正方形/長方形 73">
            <a:extLst>
              <a:ext uri="{FF2B5EF4-FFF2-40B4-BE49-F238E27FC236}">
                <a16:creationId xmlns:a16="http://schemas.microsoft.com/office/drawing/2014/main" id="{AD971EAE-829E-07E1-B15C-D7B9C5538B0F}"/>
              </a:ext>
            </a:extLst>
          </p:cNvPr>
          <p:cNvSpPr/>
          <p:nvPr/>
        </p:nvSpPr>
        <p:spPr>
          <a:xfrm>
            <a:off x="1870672" y="5809415"/>
            <a:ext cx="1425879" cy="558530"/>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メルマガ・テレマ</a:t>
            </a:r>
            <a:endParaRPr kumimoji="1"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a:p>
            <a:pPr algn="ct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SNS</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告知</a:t>
            </a: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6" name="正方形/長方形 75">
            <a:extLst>
              <a:ext uri="{FF2B5EF4-FFF2-40B4-BE49-F238E27FC236}">
                <a16:creationId xmlns:a16="http://schemas.microsoft.com/office/drawing/2014/main" id="{1D0E3A14-A5E0-6277-4C0A-37271CE6D04A}"/>
              </a:ext>
            </a:extLst>
          </p:cNvPr>
          <p:cNvSpPr/>
          <p:nvPr/>
        </p:nvSpPr>
        <p:spPr>
          <a:xfrm>
            <a:off x="3372901" y="4572125"/>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78" name="正方形/長方形 77">
            <a:extLst>
              <a:ext uri="{FF2B5EF4-FFF2-40B4-BE49-F238E27FC236}">
                <a16:creationId xmlns:a16="http://schemas.microsoft.com/office/drawing/2014/main" id="{0F8EFC74-4358-EB59-16A6-D864C62AC931}"/>
              </a:ext>
            </a:extLst>
          </p:cNvPr>
          <p:cNvSpPr/>
          <p:nvPr/>
        </p:nvSpPr>
        <p:spPr>
          <a:xfrm>
            <a:off x="3372901" y="5190770"/>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0" name="正方形/長方形 79">
            <a:extLst>
              <a:ext uri="{FF2B5EF4-FFF2-40B4-BE49-F238E27FC236}">
                <a16:creationId xmlns:a16="http://schemas.microsoft.com/office/drawing/2014/main" id="{36006927-A8A5-7A4B-A04C-F5D0808A5304}"/>
              </a:ext>
            </a:extLst>
          </p:cNvPr>
          <p:cNvSpPr/>
          <p:nvPr/>
        </p:nvSpPr>
        <p:spPr>
          <a:xfrm>
            <a:off x="3372901" y="5798489"/>
            <a:ext cx="4320230" cy="558528"/>
          </a:xfrm>
          <a:prstGeom prst="rect">
            <a:avLst/>
          </a:prstGeom>
          <a:solidFill>
            <a:schemeClr val="bg1"/>
          </a:solid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86" name="Shape 17">
            <a:extLst>
              <a:ext uri="{FF2B5EF4-FFF2-40B4-BE49-F238E27FC236}">
                <a16:creationId xmlns:a16="http://schemas.microsoft.com/office/drawing/2014/main" id="{B77E1FF1-F589-36AA-D779-FABB807F9501}"/>
              </a:ext>
            </a:extLst>
          </p:cNvPr>
          <p:cNvSpPr/>
          <p:nvPr/>
        </p:nvSpPr>
        <p:spPr>
          <a:xfrm>
            <a:off x="3566951" y="2020993"/>
            <a:ext cx="1763487" cy="492752"/>
          </a:xfrm>
          <a:prstGeom prst="rect">
            <a:avLst/>
          </a:prstGeom>
          <a:solidFill>
            <a:srgbClr val="F2F2F2"/>
          </a:solidFill>
          <a:ln w="12700">
            <a:solidFill>
              <a:srgbClr val="CCCCCC"/>
            </a:solidFill>
            <a:prstDash val="solid"/>
          </a:ln>
        </p:spPr>
        <p:txBody>
          <a:bodyPr/>
          <a:lstStyle/>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あいさつMSG＋</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特典</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診断</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 </a:t>
            </a: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自動送付</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/30秒学部学科診断</a:t>
            </a:r>
            <a:endParaRPr lang="en-US" altLang="ja-JP" sz="8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88" name="Shape 18">
            <a:extLst>
              <a:ext uri="{FF2B5EF4-FFF2-40B4-BE49-F238E27FC236}">
                <a16:creationId xmlns:a16="http://schemas.microsoft.com/office/drawing/2014/main" id="{CA0F439F-8568-5F59-980B-81BDBE16E656}"/>
              </a:ext>
            </a:extLst>
          </p:cNvPr>
          <p:cNvSpPr/>
          <p:nvPr/>
        </p:nvSpPr>
        <p:spPr>
          <a:xfrm>
            <a:off x="5616079" y="2056240"/>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教育コンテンツ配信</a:t>
            </a:r>
            <a:endParaRPr lang="en-US" altLang="ja-JP" sz="900">
              <a:solidFill>
                <a:schemeClr val="bg1">
                  <a:lumMod val="65000"/>
                </a:schemeClr>
              </a:solidFill>
              <a:latin typeface="メイリオ" panose="020B0604030504040204" pitchFamily="50" charset="-128"/>
              <a:ea typeface="メイリオ" panose="020B0604030504040204" pitchFamily="50" charset="-128"/>
            </a:endParaRPr>
          </a:p>
          <a:p>
            <a:pPr>
              <a:lnSpc>
                <a:spcPct val="135000"/>
              </a:lnSpc>
            </a:pPr>
            <a:r>
              <a:rPr lang="en-US" altLang="ja-JP" sz="900">
                <a:solidFill>
                  <a:srgbClr val="1C2233"/>
                </a:solidFill>
                <a:latin typeface="メイリオ" panose="020B0604030504040204" pitchFamily="50" charset="-128"/>
                <a:ea typeface="メイリオ" panose="020B0604030504040204" pitchFamily="50" charset="-128"/>
                <a:cs typeface="Calibri" pitchFamily="34" charset="-120"/>
              </a:rPr>
              <a:t>（週1）→ CV誘導オファー</a:t>
            </a:r>
            <a:endParaRPr lang="en-US" altLang="ja-JP" sz="9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90" name="Text 22">
            <a:extLst>
              <a:ext uri="{FF2B5EF4-FFF2-40B4-BE49-F238E27FC236}">
                <a16:creationId xmlns:a16="http://schemas.microsoft.com/office/drawing/2014/main" id="{A38D1B69-A9BE-A8D7-FA06-008BBED1A542}"/>
              </a:ext>
            </a:extLst>
          </p:cNvPr>
          <p:cNvSpPr/>
          <p:nvPr/>
        </p:nvSpPr>
        <p:spPr>
          <a:xfrm>
            <a:off x="-1097280" y="1156254"/>
            <a:ext cx="2359152" cy="585216"/>
          </a:xfrm>
          <a:prstGeom prst="rect">
            <a:avLst/>
          </a:prstGeom>
          <a:noFill/>
          <a:ln/>
        </p:spPr>
        <p:txBody>
          <a:bodyPr wrap="square" lIns="0" tIns="0" rIns="0" bIns="0" rtlCol="0" anchor="ctr"/>
          <a:lstStyle/>
          <a:p>
            <a:pPr marL="0" indent="0">
              <a:lnSpc>
                <a:spcPct val="135000"/>
              </a:lnSpc>
              <a:buNone/>
            </a:pPr>
            <a:endParaRPr lang="en-US" sz="900" dirty="0"/>
          </a:p>
        </p:txBody>
      </p:sp>
      <p:sp>
        <p:nvSpPr>
          <p:cNvPr id="92" name="Text 24">
            <a:extLst>
              <a:ext uri="{FF2B5EF4-FFF2-40B4-BE49-F238E27FC236}">
                <a16:creationId xmlns:a16="http://schemas.microsoft.com/office/drawing/2014/main" id="{56CF8B32-B6D6-0DD2-541C-145309CBBBE1}"/>
              </a:ext>
            </a:extLst>
          </p:cNvPr>
          <p:cNvSpPr/>
          <p:nvPr/>
        </p:nvSpPr>
        <p:spPr>
          <a:xfrm>
            <a:off x="1591056" y="1156254"/>
            <a:ext cx="2944368" cy="585216"/>
          </a:xfrm>
          <a:prstGeom prst="rect">
            <a:avLst/>
          </a:prstGeom>
          <a:noFill/>
          <a:ln/>
        </p:spPr>
        <p:txBody>
          <a:bodyPr wrap="square" lIns="0" tIns="0" rIns="0" bIns="0" rtlCol="0" anchor="ctr"/>
          <a:lstStyle/>
          <a:p>
            <a:pPr marL="0" indent="0">
              <a:lnSpc>
                <a:spcPct val="135000"/>
              </a:lnSpc>
              <a:buNone/>
            </a:pPr>
            <a:endParaRPr lang="en-US" sz="900" dirty="0"/>
          </a:p>
        </p:txBody>
      </p:sp>
      <p:cxnSp>
        <p:nvCxnSpPr>
          <p:cNvPr id="94" name="直線矢印コネクタ 93">
            <a:extLst>
              <a:ext uri="{FF2B5EF4-FFF2-40B4-BE49-F238E27FC236}">
                <a16:creationId xmlns:a16="http://schemas.microsoft.com/office/drawing/2014/main" id="{F1667E92-F492-3E12-307D-7E98E48B45D9}"/>
              </a:ext>
            </a:extLst>
          </p:cNvPr>
          <p:cNvCxnSpPr>
            <a:endCxn id="88" idx="1"/>
          </p:cNvCxnSpPr>
          <p:nvPr/>
        </p:nvCxnSpPr>
        <p:spPr>
          <a:xfrm>
            <a:off x="5347420" y="2280490"/>
            <a:ext cx="261258"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96" name="Shape 17">
            <a:extLst>
              <a:ext uri="{FF2B5EF4-FFF2-40B4-BE49-F238E27FC236}">
                <a16:creationId xmlns:a16="http://schemas.microsoft.com/office/drawing/2014/main" id="{9BCE046A-F0B6-BBFD-BFCA-03015B84F033}"/>
              </a:ext>
            </a:extLst>
          </p:cNvPr>
          <p:cNvSpPr/>
          <p:nvPr/>
        </p:nvSpPr>
        <p:spPr>
          <a:xfrm>
            <a:off x="3566951" y="2590426"/>
            <a:ext cx="1763487" cy="524369"/>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KW</a:t>
            </a: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自動応答設定</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 ユーザー意図別に即返信</a:t>
            </a:r>
          </a:p>
        </p:txBody>
      </p:sp>
      <p:sp>
        <p:nvSpPr>
          <p:cNvPr id="98" name="Shape 18">
            <a:extLst>
              <a:ext uri="{FF2B5EF4-FFF2-40B4-BE49-F238E27FC236}">
                <a16:creationId xmlns:a16="http://schemas.microsoft.com/office/drawing/2014/main" id="{14F2BF34-2AB8-9060-75EF-F5ADF9F01344}"/>
              </a:ext>
            </a:extLst>
          </p:cNvPr>
          <p:cNvSpPr/>
          <p:nvPr/>
        </p:nvSpPr>
        <p:spPr>
          <a:xfrm>
            <a:off x="5616079" y="2590427"/>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ステップ配信（7〜14通）</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オープンキャンパス予約への誘導</a:t>
            </a:r>
          </a:p>
        </p:txBody>
      </p:sp>
      <p:cxnSp>
        <p:nvCxnSpPr>
          <p:cNvPr id="99" name="直線矢印コネクタ 98">
            <a:extLst>
              <a:ext uri="{FF2B5EF4-FFF2-40B4-BE49-F238E27FC236}">
                <a16:creationId xmlns:a16="http://schemas.microsoft.com/office/drawing/2014/main" id="{B31F7370-9528-F602-262C-2CE6C0CA7D95}"/>
              </a:ext>
            </a:extLst>
          </p:cNvPr>
          <p:cNvCxnSpPr>
            <a:cxnSpLocks/>
            <a:stCxn id="96" idx="3"/>
            <a:endCxn id="98" idx="1"/>
          </p:cNvCxnSpPr>
          <p:nvPr/>
        </p:nvCxnSpPr>
        <p:spPr>
          <a:xfrm flipV="1">
            <a:off x="5330438" y="2823673"/>
            <a:ext cx="285641" cy="28938"/>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03" name="テキスト ボックス 102">
            <a:extLst>
              <a:ext uri="{FF2B5EF4-FFF2-40B4-BE49-F238E27FC236}">
                <a16:creationId xmlns:a16="http://schemas.microsoft.com/office/drawing/2014/main" id="{CB5BD751-9EE2-F77E-B237-6EBEA67F4576}"/>
              </a:ext>
            </a:extLst>
          </p:cNvPr>
          <p:cNvSpPr txBox="1"/>
          <p:nvPr/>
        </p:nvSpPr>
        <p:spPr>
          <a:xfrm>
            <a:off x="7693132" y="1562739"/>
            <a:ext cx="1874173" cy="430887"/>
          </a:xfrm>
          <a:prstGeom prst="rect">
            <a:avLst/>
          </a:prstGeom>
          <a:noFill/>
        </p:spPr>
        <p:txBody>
          <a:bodyPr wrap="square">
            <a:spAutoFit/>
          </a:bodyPr>
          <a:lstStyle/>
          <a:p>
            <a:pPr algn="ctr"/>
            <a:r>
              <a:rPr kumimoji="1" lang="en-US" altLang="ja-JP" sz="1100" b="1" dirty="0">
                <a:solidFill>
                  <a:srgbClr val="BF4E0E"/>
                </a:solidFill>
                <a:latin typeface="メイリオ" panose="020B0604030504040204" pitchFamily="50" charset="-128"/>
                <a:ea typeface="メイリオ" panose="020B0604030504040204" pitchFamily="50" charset="-128"/>
              </a:rPr>
              <a:t>CVするユーザー割合</a:t>
            </a:r>
            <a:endParaRPr kumimoji="1" lang="en-US" altLang="ja-JP" sz="1100" b="1" dirty="0">
              <a:solidFill>
                <a:srgbClr val="FF0000"/>
              </a:solidFill>
              <a:latin typeface="メイリオ" panose="020B0604030504040204" pitchFamily="50" charset="-128"/>
              <a:ea typeface="メイリオ" panose="020B0604030504040204" pitchFamily="50" charset="-128"/>
            </a:endParaRPr>
          </a:p>
          <a:p>
            <a:pPr algn="ctr"/>
            <a:r>
              <a:rPr lang="en-US" altLang="ja-JP" sz="1000" dirty="0">
                <a:solidFill>
                  <a:srgbClr val="BF4E0E"/>
                </a:solidFill>
                <a:latin typeface="メイリオ" panose="020B0604030504040204" pitchFamily="50" charset="-128"/>
                <a:ea typeface="メイリオ" panose="020B0604030504040204" pitchFamily="50" charset="-128"/>
              </a:rPr>
              <a:t>※社内想定の上限目安</a:t>
            </a:r>
            <a:endParaRPr kumimoji="1" lang="ja-JP" altLang="en-US" sz="1000" dirty="0">
              <a:solidFill>
                <a:srgbClr val="FF0000"/>
              </a:solidFill>
              <a:latin typeface="メイリオ" panose="020B0604030504040204" pitchFamily="50" charset="-128"/>
              <a:ea typeface="メイリオ" panose="020B0604030504040204" pitchFamily="50" charset="-128"/>
            </a:endParaRPr>
          </a:p>
        </p:txBody>
      </p:sp>
      <p:sp>
        <p:nvSpPr>
          <p:cNvPr id="105" name="テキスト ボックス 104">
            <a:extLst>
              <a:ext uri="{FF2B5EF4-FFF2-40B4-BE49-F238E27FC236}">
                <a16:creationId xmlns:a16="http://schemas.microsoft.com/office/drawing/2014/main" id="{55562E1F-54CF-8256-1530-F264D924D0C4}"/>
              </a:ext>
            </a:extLst>
          </p:cNvPr>
          <p:cNvSpPr txBox="1"/>
          <p:nvPr/>
        </p:nvSpPr>
        <p:spPr>
          <a:xfrm>
            <a:off x="7844989" y="2313983"/>
            <a:ext cx="1361106" cy="523220"/>
          </a:xfrm>
          <a:prstGeom prst="rect">
            <a:avLst/>
          </a:prstGeom>
          <a:noFill/>
        </p:spPr>
        <p:txBody>
          <a:bodyPr wrap="square">
            <a:spAutoFit/>
          </a:bodyPr>
          <a:lstStyle/>
          <a:p>
            <a:pPr algn="r"/>
            <a:r>
              <a:rPr kumimoji="1" lang="ja-JP" altLang="en-US" sz="2800" b="1" dirty="0">
                <a:solidFill>
                  <a:srgbClr val="BF4E0E"/>
                </a:solidFill>
                <a:latin typeface="メイリオ" panose="020B0604030504040204" pitchFamily="50" charset="-128"/>
                <a:ea typeface="メイリオ" panose="020B0604030504040204" pitchFamily="50" charset="-128"/>
              </a:rPr>
              <a:t>３％</a:t>
            </a:r>
            <a:endParaRPr lang="ja-JP" altLang="en-US" sz="2400" dirty="0">
              <a:solidFill>
                <a:srgbClr val="FF0000"/>
              </a:solidFill>
            </a:endParaRPr>
          </a:p>
        </p:txBody>
      </p:sp>
      <p:sp>
        <p:nvSpPr>
          <p:cNvPr id="107" name="テキスト ボックス 106">
            <a:extLst>
              <a:ext uri="{FF2B5EF4-FFF2-40B4-BE49-F238E27FC236}">
                <a16:creationId xmlns:a16="http://schemas.microsoft.com/office/drawing/2014/main" id="{0D6F6472-C1C9-8DD7-5969-2F70988996B7}"/>
              </a:ext>
            </a:extLst>
          </p:cNvPr>
          <p:cNvSpPr txBox="1"/>
          <p:nvPr/>
        </p:nvSpPr>
        <p:spPr>
          <a:xfrm>
            <a:off x="7830986" y="3258904"/>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1.5％</a:t>
            </a:r>
            <a:endParaRPr lang="ja-JP" altLang="en-US" sz="2400" dirty="0">
              <a:solidFill>
                <a:srgbClr val="FF0000"/>
              </a:solidFill>
            </a:endParaRPr>
          </a:p>
        </p:txBody>
      </p:sp>
      <p:sp>
        <p:nvSpPr>
          <p:cNvPr id="109" name="テキスト ボックス 108">
            <a:extLst>
              <a:ext uri="{FF2B5EF4-FFF2-40B4-BE49-F238E27FC236}">
                <a16:creationId xmlns:a16="http://schemas.microsoft.com/office/drawing/2014/main" id="{3EBEB224-105E-FCC6-752F-0DC0ACDDFEFC}"/>
              </a:ext>
            </a:extLst>
          </p:cNvPr>
          <p:cNvSpPr txBox="1"/>
          <p:nvPr/>
        </p:nvSpPr>
        <p:spPr>
          <a:xfrm>
            <a:off x="7844989" y="3964707"/>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1" name="テキスト ボックス 110">
            <a:extLst>
              <a:ext uri="{FF2B5EF4-FFF2-40B4-BE49-F238E27FC236}">
                <a16:creationId xmlns:a16="http://schemas.microsoft.com/office/drawing/2014/main" id="{F26B0A2E-9DBA-FEE5-637F-02A225C02C23}"/>
              </a:ext>
            </a:extLst>
          </p:cNvPr>
          <p:cNvSpPr txBox="1"/>
          <p:nvPr/>
        </p:nvSpPr>
        <p:spPr>
          <a:xfrm>
            <a:off x="7830985" y="4604843"/>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3" name="テキスト ボックス 112">
            <a:extLst>
              <a:ext uri="{FF2B5EF4-FFF2-40B4-BE49-F238E27FC236}">
                <a16:creationId xmlns:a16="http://schemas.microsoft.com/office/drawing/2014/main" id="{0C0FA132-24D2-97C7-D00F-5A970556EB00}"/>
              </a:ext>
            </a:extLst>
          </p:cNvPr>
          <p:cNvSpPr txBox="1"/>
          <p:nvPr/>
        </p:nvSpPr>
        <p:spPr>
          <a:xfrm>
            <a:off x="7830985" y="5229016"/>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2.5％</a:t>
            </a:r>
            <a:endParaRPr lang="ja-JP" altLang="en-US" sz="2400" dirty="0">
              <a:solidFill>
                <a:srgbClr val="FF0000"/>
              </a:solidFill>
            </a:endParaRPr>
          </a:p>
        </p:txBody>
      </p:sp>
      <p:sp>
        <p:nvSpPr>
          <p:cNvPr id="115" name="テキスト ボックス 114">
            <a:extLst>
              <a:ext uri="{FF2B5EF4-FFF2-40B4-BE49-F238E27FC236}">
                <a16:creationId xmlns:a16="http://schemas.microsoft.com/office/drawing/2014/main" id="{FD400E85-93A8-6ADB-337D-4AC8973CAF45}"/>
              </a:ext>
            </a:extLst>
          </p:cNvPr>
          <p:cNvSpPr txBox="1"/>
          <p:nvPr/>
        </p:nvSpPr>
        <p:spPr>
          <a:xfrm>
            <a:off x="7830985" y="5834851"/>
            <a:ext cx="1361106" cy="523220"/>
          </a:xfrm>
          <a:prstGeom prst="rect">
            <a:avLst/>
          </a:prstGeom>
          <a:noFill/>
        </p:spPr>
        <p:txBody>
          <a:bodyPr wrap="square">
            <a:spAutoFit/>
          </a:bodyPr>
          <a:lstStyle/>
          <a:p>
            <a:pPr algn="r"/>
            <a:r>
              <a:rPr kumimoji="1" lang="en-US" altLang="ja-JP" sz="2800" b="1" dirty="0">
                <a:solidFill>
                  <a:srgbClr val="BF4E0E"/>
                </a:solidFill>
                <a:latin typeface="メイリオ" panose="020B0604030504040204" pitchFamily="50" charset="-128"/>
                <a:ea typeface="メイリオ" panose="020B0604030504040204" pitchFamily="50" charset="-128"/>
              </a:rPr>
              <a:t>2％</a:t>
            </a:r>
            <a:endParaRPr lang="ja-JP" altLang="en-US" sz="2400" dirty="0">
              <a:solidFill>
                <a:srgbClr val="FF0000"/>
              </a:solidFill>
            </a:endParaRPr>
          </a:p>
        </p:txBody>
      </p:sp>
      <p:sp>
        <p:nvSpPr>
          <p:cNvPr id="116" name="Shape 17">
            <a:extLst>
              <a:ext uri="{FF2B5EF4-FFF2-40B4-BE49-F238E27FC236}">
                <a16:creationId xmlns:a16="http://schemas.microsoft.com/office/drawing/2014/main" id="{1CA555AB-71AF-EB14-1D64-C35A07A084CC}"/>
              </a:ext>
            </a:extLst>
          </p:cNvPr>
          <p:cNvSpPr/>
          <p:nvPr/>
        </p:nvSpPr>
        <p:spPr>
          <a:xfrm>
            <a:off x="3566951" y="3268111"/>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スクリーニングアンケート</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（4問）→ 学年・志望度で分類</a:t>
            </a:r>
          </a:p>
        </p:txBody>
      </p:sp>
      <p:sp>
        <p:nvSpPr>
          <p:cNvPr id="117" name="Shape 18">
            <a:extLst>
              <a:ext uri="{FF2B5EF4-FFF2-40B4-BE49-F238E27FC236}">
                <a16:creationId xmlns:a16="http://schemas.microsoft.com/office/drawing/2014/main" id="{019053B5-0AD3-160E-B42A-8528F025A84E}"/>
              </a:ext>
            </a:extLst>
          </p:cNvPr>
          <p:cNvSpPr/>
          <p:nvPr/>
        </p:nvSpPr>
        <p:spPr>
          <a:xfrm>
            <a:off x="5616079" y="3268111"/>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セグメント別シナリオ配信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ホットリード</a:t>
            </a: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a:t>
            </a: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即スタッフ対応</a:t>
            </a:r>
          </a:p>
        </p:txBody>
      </p:sp>
      <p:cxnSp>
        <p:nvCxnSpPr>
          <p:cNvPr id="118" name="直線矢印コネクタ 117">
            <a:extLst>
              <a:ext uri="{FF2B5EF4-FFF2-40B4-BE49-F238E27FC236}">
                <a16:creationId xmlns:a16="http://schemas.microsoft.com/office/drawing/2014/main" id="{48AC5144-1E7E-4082-003A-97A6D96D2994}"/>
              </a:ext>
            </a:extLst>
          </p:cNvPr>
          <p:cNvCxnSpPr>
            <a:cxnSpLocks/>
            <a:stCxn id="116" idx="3"/>
            <a:endCxn id="117" idx="1"/>
          </p:cNvCxnSpPr>
          <p:nvPr/>
        </p:nvCxnSpPr>
        <p:spPr>
          <a:xfrm>
            <a:off x="5330438" y="3501357"/>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19" name="Shape 17">
            <a:extLst>
              <a:ext uri="{FF2B5EF4-FFF2-40B4-BE49-F238E27FC236}">
                <a16:creationId xmlns:a16="http://schemas.microsoft.com/office/drawing/2014/main" id="{03AA9053-24E8-182C-23AA-4BEA28F1863B}"/>
              </a:ext>
            </a:extLst>
          </p:cNvPr>
          <p:cNvSpPr/>
          <p:nvPr/>
        </p:nvSpPr>
        <p:spPr>
          <a:xfrm>
            <a:off x="3566951" y="4008969"/>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サンクス自動MSG＋</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OC当日の流れ・持ち物案内</a:t>
            </a:r>
          </a:p>
        </p:txBody>
      </p:sp>
      <p:sp>
        <p:nvSpPr>
          <p:cNvPr id="120" name="Shape 18">
            <a:extLst>
              <a:ext uri="{FF2B5EF4-FFF2-40B4-BE49-F238E27FC236}">
                <a16:creationId xmlns:a16="http://schemas.microsoft.com/office/drawing/2014/main" id="{760C890D-1868-9325-4069-2354337B0399}"/>
              </a:ext>
            </a:extLst>
          </p:cNvPr>
          <p:cNvSpPr/>
          <p:nvPr/>
        </p:nvSpPr>
        <p:spPr>
          <a:xfrm>
            <a:off x="5616079" y="4008969"/>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前日リマインド配信</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出願スケジュール案内</a:t>
            </a:r>
          </a:p>
        </p:txBody>
      </p:sp>
      <p:cxnSp>
        <p:nvCxnSpPr>
          <p:cNvPr id="121" name="直線矢印コネクタ 120">
            <a:extLst>
              <a:ext uri="{FF2B5EF4-FFF2-40B4-BE49-F238E27FC236}">
                <a16:creationId xmlns:a16="http://schemas.microsoft.com/office/drawing/2014/main" id="{CE344BB3-FFA2-50D7-ADEA-7AA9C56BA1E2}"/>
              </a:ext>
            </a:extLst>
          </p:cNvPr>
          <p:cNvCxnSpPr>
            <a:cxnSpLocks/>
            <a:stCxn id="119" idx="3"/>
            <a:endCxn id="120" idx="1"/>
          </p:cNvCxnSpPr>
          <p:nvPr/>
        </p:nvCxnSpPr>
        <p:spPr>
          <a:xfrm>
            <a:off x="5330438" y="4242215"/>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2" name="Shape 17">
            <a:extLst>
              <a:ext uri="{FF2B5EF4-FFF2-40B4-BE49-F238E27FC236}">
                <a16:creationId xmlns:a16="http://schemas.microsoft.com/office/drawing/2014/main" id="{9439D4FC-6ABA-77F9-BCBC-39518FFF0A4B}"/>
              </a:ext>
            </a:extLst>
          </p:cNvPr>
          <p:cNvSpPr/>
          <p:nvPr/>
        </p:nvSpPr>
        <p:spPr>
          <a:xfrm>
            <a:off x="3566951" y="4615355"/>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スクリーニング（4問）</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志望度・通学圏の把握</a:t>
            </a:r>
          </a:p>
        </p:txBody>
      </p:sp>
      <p:sp>
        <p:nvSpPr>
          <p:cNvPr id="123" name="Shape 18">
            <a:extLst>
              <a:ext uri="{FF2B5EF4-FFF2-40B4-BE49-F238E27FC236}">
                <a16:creationId xmlns:a16="http://schemas.microsoft.com/office/drawing/2014/main" id="{E23B94EA-C025-B46E-3CFE-6F951848C924}"/>
              </a:ext>
            </a:extLst>
          </p:cNvPr>
          <p:cNvSpPr/>
          <p:nvPr/>
        </p:nvSpPr>
        <p:spPr>
          <a:xfrm>
            <a:off x="5616079" y="4615355"/>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有効リード育成シナリオ</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 OC参加・出願への誘導</a:t>
            </a:r>
          </a:p>
        </p:txBody>
      </p:sp>
      <p:cxnSp>
        <p:nvCxnSpPr>
          <p:cNvPr id="124" name="直線矢印コネクタ 123">
            <a:extLst>
              <a:ext uri="{FF2B5EF4-FFF2-40B4-BE49-F238E27FC236}">
                <a16:creationId xmlns:a16="http://schemas.microsoft.com/office/drawing/2014/main" id="{83F28A8E-5BD4-6CFE-A1AB-95F3F23ADFC2}"/>
              </a:ext>
            </a:extLst>
          </p:cNvPr>
          <p:cNvCxnSpPr>
            <a:cxnSpLocks/>
            <a:stCxn id="122" idx="3"/>
            <a:endCxn id="123" idx="1"/>
          </p:cNvCxnSpPr>
          <p:nvPr/>
        </p:nvCxnSpPr>
        <p:spPr>
          <a:xfrm>
            <a:off x="5330438" y="484860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5" name="Shape 17">
            <a:extLst>
              <a:ext uri="{FF2B5EF4-FFF2-40B4-BE49-F238E27FC236}">
                <a16:creationId xmlns:a16="http://schemas.microsoft.com/office/drawing/2014/main" id="{6D4CD712-1339-1DEA-1A5F-9F51874CCCB1}"/>
              </a:ext>
            </a:extLst>
          </p:cNvPr>
          <p:cNvSpPr/>
          <p:nvPr/>
        </p:nvSpPr>
        <p:spPr>
          <a:xfrm>
            <a:off x="3566951" y="5239126"/>
            <a:ext cx="1763487" cy="466492"/>
          </a:xfrm>
          <a:prstGeom prst="rect">
            <a:avLst/>
          </a:prstGeom>
          <a:solidFill>
            <a:srgbClr val="F2F2F2"/>
          </a:solidFill>
          <a:ln w="12700">
            <a:solidFill>
              <a:srgbClr val="CCCCCC"/>
            </a:solidFill>
            <a:prstDash val="solid"/>
          </a:ln>
        </p:spPr>
        <p:txBody>
          <a:bodyPr/>
          <a:lstStyle/>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一斉配信でリスト活性化</a:t>
            </a:r>
          </a:p>
          <a:p>
            <a:pPr>
              <a:lnSpc>
                <a:spcPct val="135000"/>
              </a:lnSpc>
            </a:pPr>
            <a:r>
              <a:rPr lang="ja-JP" altLang="en-US" sz="800" dirty="0">
                <a:solidFill>
                  <a:srgbClr val="1C2233"/>
                </a:solidFill>
                <a:latin typeface="メイリオ" panose="020B0604030504040204" pitchFamily="50" charset="-128"/>
                <a:ea typeface="メイリオ" panose="020B0604030504040204" pitchFamily="50" charset="-128"/>
                <a:cs typeface="Calibri" pitchFamily="34" charset="-120"/>
              </a:rPr>
              <a:t>アンケートで学年・志望把握</a:t>
            </a:r>
          </a:p>
        </p:txBody>
      </p:sp>
      <p:sp>
        <p:nvSpPr>
          <p:cNvPr id="126" name="Shape 18">
            <a:extLst>
              <a:ext uri="{FF2B5EF4-FFF2-40B4-BE49-F238E27FC236}">
                <a16:creationId xmlns:a16="http://schemas.microsoft.com/office/drawing/2014/main" id="{5F976E27-1C09-25DE-2664-7D927081F231}"/>
              </a:ext>
            </a:extLst>
          </p:cNvPr>
          <p:cNvSpPr/>
          <p:nvPr/>
        </p:nvSpPr>
        <p:spPr>
          <a:xfrm>
            <a:off x="5616079" y="5239126"/>
            <a:ext cx="1763486" cy="466492"/>
          </a:xfrm>
          <a:prstGeom prst="rect">
            <a:avLst/>
          </a:prstGeom>
          <a:solidFill>
            <a:srgbClr val="F2F2F2"/>
          </a:solidFill>
          <a:ln w="12700">
            <a:solidFill>
              <a:srgbClr val="CCCCCC"/>
            </a:solidFill>
            <a:prstDash val="solid"/>
          </a:ln>
        </p:spPr>
        <p:txBody>
          <a:bodyPr/>
          <a:lstStyle/>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セグメント別ナーチャリング</a:t>
            </a:r>
          </a:p>
          <a:p>
            <a:pPr>
              <a:lnSpc>
                <a:spcPct val="135000"/>
              </a:lnSpc>
            </a:pPr>
            <a:r>
              <a:rPr lang="ja-JP" altLang="en-US" sz="900" dirty="0">
                <a:solidFill>
                  <a:srgbClr val="1C2233"/>
                </a:solidFill>
                <a:latin typeface="メイリオ" panose="020B0604030504040204" pitchFamily="50" charset="-128"/>
                <a:ea typeface="メイリオ" panose="020B0604030504040204" pitchFamily="50" charset="-128"/>
                <a:cs typeface="Calibri" pitchFamily="34" charset="-120"/>
              </a:rPr>
              <a:t>入試方式別・時期別の企画配信</a:t>
            </a:r>
          </a:p>
        </p:txBody>
      </p:sp>
      <p:cxnSp>
        <p:nvCxnSpPr>
          <p:cNvPr id="127" name="直線矢印コネクタ 126">
            <a:extLst>
              <a:ext uri="{FF2B5EF4-FFF2-40B4-BE49-F238E27FC236}">
                <a16:creationId xmlns:a16="http://schemas.microsoft.com/office/drawing/2014/main" id="{82C1A774-7713-D5A5-03F8-DCE7AD58DB1B}"/>
              </a:ext>
            </a:extLst>
          </p:cNvPr>
          <p:cNvCxnSpPr>
            <a:cxnSpLocks/>
            <a:stCxn id="125" idx="3"/>
            <a:endCxn id="126" idx="1"/>
          </p:cNvCxnSpPr>
          <p:nvPr/>
        </p:nvCxnSpPr>
        <p:spPr>
          <a:xfrm>
            <a:off x="5330438" y="5472372"/>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28" name="Shape 17">
            <a:extLst>
              <a:ext uri="{FF2B5EF4-FFF2-40B4-BE49-F238E27FC236}">
                <a16:creationId xmlns:a16="http://schemas.microsoft.com/office/drawing/2014/main" id="{CC857E24-C3F9-53FF-5D44-B2CE0DE30602}"/>
              </a:ext>
            </a:extLst>
          </p:cNvPr>
          <p:cNvSpPr/>
          <p:nvPr/>
        </p:nvSpPr>
        <p:spPr>
          <a:xfrm>
            <a:off x="3566951" y="5847515"/>
            <a:ext cx="1763487" cy="466492"/>
          </a:xfrm>
          <a:prstGeom prst="rect">
            <a:avLst/>
          </a:prstGeom>
          <a:solidFill>
            <a:srgbClr val="F2F2F2"/>
          </a:solidFill>
          <a:ln w="12700">
            <a:solidFill>
              <a:srgbClr val="CCCCCC"/>
            </a:solidFill>
            <a:prstDash val="solid"/>
          </a:ln>
        </p:spPr>
        <p:txBody>
          <a:bodyPr/>
          <a:lstStyle/>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LINE移行キャンペーン</a:t>
            </a:r>
          </a:p>
          <a:p>
            <a:pPr>
              <a:lnSpc>
                <a:spcPct val="135000"/>
              </a:lnSpc>
            </a:pP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r>
              <a:rPr lang="en-US" altLang="ja-JP" sz="800" dirty="0" err="1">
                <a:solidFill>
                  <a:srgbClr val="1C2233"/>
                </a:solidFill>
                <a:latin typeface="メイリオ" panose="020B0604030504040204" pitchFamily="50" charset="-128"/>
                <a:ea typeface="メイリオ" panose="020B0604030504040204" pitchFamily="50" charset="-128"/>
                <a:cs typeface="Calibri" pitchFamily="34" charset="-120"/>
              </a:rPr>
              <a:t>資料請求者・OC参加者を友だち化</a:t>
            </a:r>
            <a:r>
              <a:rPr lang="en-US" altLang="ja-JP" sz="800" dirty="0">
                <a:solidFill>
                  <a:srgbClr val="1C2233"/>
                </a:solidFill>
                <a:latin typeface="メイリオ" panose="020B0604030504040204" pitchFamily="50" charset="-128"/>
                <a:ea typeface="メイリオ" panose="020B0604030504040204" pitchFamily="50" charset="-128"/>
                <a:cs typeface="Calibri" pitchFamily="34" charset="-120"/>
              </a:rPr>
              <a:t>)</a:t>
            </a:r>
          </a:p>
        </p:txBody>
      </p:sp>
      <p:sp>
        <p:nvSpPr>
          <p:cNvPr id="129" name="Shape 18">
            <a:extLst>
              <a:ext uri="{FF2B5EF4-FFF2-40B4-BE49-F238E27FC236}">
                <a16:creationId xmlns:a16="http://schemas.microsoft.com/office/drawing/2014/main" id="{496CBE75-90FF-44E1-05AA-F85C409960A4}"/>
              </a:ext>
            </a:extLst>
          </p:cNvPr>
          <p:cNvSpPr/>
          <p:nvPr/>
        </p:nvSpPr>
        <p:spPr>
          <a:xfrm>
            <a:off x="5616079" y="5847515"/>
            <a:ext cx="1763486" cy="466492"/>
          </a:xfrm>
          <a:prstGeom prst="rect">
            <a:avLst/>
          </a:prstGeom>
          <a:solidFill>
            <a:srgbClr val="F2F2F2"/>
          </a:solidFill>
          <a:ln w="12700">
            <a:solidFill>
              <a:srgbClr val="CCCCCC"/>
            </a:solidFill>
            <a:prstDash val="solid"/>
          </a:ln>
        </p:spPr>
        <p:txBody>
          <a:bodyPr/>
          <a:lstStyle/>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入学後もLINEで接点維持</a:t>
            </a:r>
          </a:p>
          <a:p>
            <a:pPr>
              <a:lnSpc>
                <a:spcPct val="135000"/>
              </a:lnSpc>
            </a:pPr>
            <a:r>
              <a:rPr lang="en-US" altLang="ja-JP" sz="900" dirty="0">
                <a:solidFill>
                  <a:srgbClr val="1C2233"/>
                </a:solidFill>
                <a:latin typeface="メイリオ" panose="020B0604030504040204" pitchFamily="50" charset="-128"/>
                <a:ea typeface="メイリオ" panose="020B0604030504040204" pitchFamily="50" charset="-128"/>
                <a:cs typeface="Calibri" pitchFamily="34" charset="-120"/>
              </a:rPr>
              <a:t>中退防止・在学生・卒業生へ</a:t>
            </a:r>
          </a:p>
        </p:txBody>
      </p:sp>
      <p:cxnSp>
        <p:nvCxnSpPr>
          <p:cNvPr id="130" name="直線矢印コネクタ 129">
            <a:extLst>
              <a:ext uri="{FF2B5EF4-FFF2-40B4-BE49-F238E27FC236}">
                <a16:creationId xmlns:a16="http://schemas.microsoft.com/office/drawing/2014/main" id="{D05BCA3B-7E23-AB71-18F0-5A49C04E309D}"/>
              </a:ext>
            </a:extLst>
          </p:cNvPr>
          <p:cNvCxnSpPr>
            <a:cxnSpLocks/>
            <a:stCxn id="128" idx="3"/>
            <a:endCxn id="129" idx="1"/>
          </p:cNvCxnSpPr>
          <p:nvPr/>
        </p:nvCxnSpPr>
        <p:spPr>
          <a:xfrm>
            <a:off x="5330438" y="6080761"/>
            <a:ext cx="285641" cy="0"/>
          </a:xfrm>
          <a:prstGeom prst="straightConnector1">
            <a:avLst/>
          </a:prstGeom>
          <a:ln>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31" name="TextBox 130"/>
          <p:cNvSpPr txBox="1"/>
          <p:nvPr/>
        </p:nvSpPr>
        <p:spPr>
          <a:xfrm>
            <a:off x="350000" y="6379200"/>
            <a:ext cx="9200000" cy="180000"/>
          </a:xfrm>
          <a:prstGeom prst="rect">
            <a:avLst/>
          </a:prstGeom>
          <a:noFill/>
        </p:spPr>
        <p:txBody>
          <a:bodyPr wrap="square">
            <a:spAutoFit/>
          </a:bodyPr>
          <a:lstStyle/>
          <a:p>
            <a:r>
              <a:rPr sz="900">
                <a:solidFill>
                  <a:srgbClr val="555555"/>
                </a:solidFill>
                <a:latin typeface="メイリオ"/>
                <a:ea typeface="メイリオ"/>
              </a:rPr>
              <a:t>※ 各割合は社内想定の上限目安であり、保証値ではありません。参考：LINEヤフー社公開値では、メッセージは受信当日中に約8割が開封されます。</a:t>
            </a:r>
          </a:p>
        </p:txBody>
      </p:sp>
    </p:spTree>
    <p:extLst>
      <p:ext uri="{BB962C8B-B14F-4D97-AF65-F5344CB8AC3E}">
        <p14:creationId xmlns:p14="http://schemas.microsoft.com/office/powerpoint/2010/main" val="207000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6EC7-8BED-7DDA-23DD-316D74FFBA1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25B1FD88-3B25-D76E-99D7-CDD7E800E78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709B81B2-1251-DE55-B4B3-220553E132F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1E8D898A-0AF4-2505-8EE3-9F12824F6A59}"/>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施策においては、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動線</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が重要。</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 name="正方形/長方形 1">
            <a:extLst>
              <a:ext uri="{FF2B5EF4-FFF2-40B4-BE49-F238E27FC236}">
                <a16:creationId xmlns:a16="http://schemas.microsoft.com/office/drawing/2014/main" id="{011C5FFF-B61A-EB8E-326E-072A0E269233}"/>
              </a:ext>
            </a:extLst>
          </p:cNvPr>
          <p:cNvSpPr/>
          <p:nvPr/>
        </p:nvSpPr>
        <p:spPr>
          <a:xfrm>
            <a:off x="3587358" y="1747110"/>
            <a:ext cx="860817" cy="143296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初期</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（初動）</a:t>
            </a:r>
            <a:endParaRPr kumimoji="1" lang="ja-JP" altLang="en-US" sz="12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1F32D58-29FF-60A6-17B5-A41ACCBE9449}"/>
              </a:ext>
            </a:extLst>
          </p:cNvPr>
          <p:cNvSpPr/>
          <p:nvPr/>
        </p:nvSpPr>
        <p:spPr>
          <a:xfrm>
            <a:off x="3587358" y="3321847"/>
            <a:ext cx="860817" cy="292127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メイリオ" panose="020B0604030504040204" pitchFamily="50" charset="-128"/>
                <a:ea typeface="メイリオ" panose="020B0604030504040204" pitchFamily="50" charset="-128"/>
              </a:rPr>
              <a:t>月次</a:t>
            </a:r>
            <a:endParaRPr kumimoji="1" lang="en-US" altLang="ja-JP" sz="1200" b="1" dirty="0">
              <a:latin typeface="メイリオ" panose="020B0604030504040204" pitchFamily="50" charset="-128"/>
              <a:ea typeface="メイリオ" panose="020B0604030504040204" pitchFamily="50" charset="-128"/>
            </a:endParaRPr>
          </a:p>
          <a:p>
            <a:pPr algn="ctr"/>
            <a:r>
              <a:rPr lang="ja-JP" altLang="en-US" sz="1200" b="1" dirty="0">
                <a:latin typeface="メイリオ" panose="020B0604030504040204" pitchFamily="50" charset="-128"/>
                <a:ea typeface="メイリオ" panose="020B0604030504040204" pitchFamily="50" charset="-128"/>
              </a:rPr>
              <a:t>（定例）</a:t>
            </a:r>
            <a:endParaRPr kumimoji="1" lang="ja-JP" altLang="en-US" sz="1200" b="1" dirty="0">
              <a:latin typeface="メイリオ" panose="020B0604030504040204" pitchFamily="50" charset="-128"/>
              <a:ea typeface="メイリオ" panose="020B0604030504040204" pitchFamily="50" charset="-128"/>
            </a:endParaRPr>
          </a:p>
        </p:txBody>
      </p:sp>
      <p:sp>
        <p:nvSpPr>
          <p:cNvPr id="8" name="四角形: 角を丸くする 7">
            <a:extLst>
              <a:ext uri="{FF2B5EF4-FFF2-40B4-BE49-F238E27FC236}">
                <a16:creationId xmlns:a16="http://schemas.microsoft.com/office/drawing/2014/main" id="{22EC6943-AA14-49EA-30CF-5D813BA45BFD}"/>
              </a:ext>
            </a:extLst>
          </p:cNvPr>
          <p:cNvSpPr/>
          <p:nvPr/>
        </p:nvSpPr>
        <p:spPr>
          <a:xfrm>
            <a:off x="336942" y="172938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離脱防止・ポップアップ</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HP/LP</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滞在時に、条件を満たすと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ポップアップバナーを表示する</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0" name="四角形: 角を丸くする 9">
            <a:extLst>
              <a:ext uri="{FF2B5EF4-FFF2-40B4-BE49-F238E27FC236}">
                <a16:creationId xmlns:a16="http://schemas.microsoft.com/office/drawing/2014/main" id="{3436AF3F-C2E7-3494-0B01-4BC00578C5FF}"/>
              </a:ext>
            </a:extLst>
          </p:cNvPr>
          <p:cNvSpPr/>
          <p:nvPr/>
        </p:nvSpPr>
        <p:spPr>
          <a:xfrm>
            <a:off x="336942" y="2642195"/>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通知メッセージ</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ユーザーアクション時に</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API</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連携で</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にメッセ送付</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1" name="四角形: 角を丸くする 10">
            <a:extLst>
              <a:ext uri="{FF2B5EF4-FFF2-40B4-BE49-F238E27FC236}">
                <a16:creationId xmlns:a16="http://schemas.microsoft.com/office/drawing/2014/main" id="{6B8D9E5A-638C-EACC-4E99-235D769FBAB5}"/>
              </a:ext>
            </a:extLst>
          </p:cNvPr>
          <p:cNvSpPr/>
          <p:nvPr/>
        </p:nvSpPr>
        <p:spPr>
          <a:xfrm>
            <a:off x="336942" y="3555007"/>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サンクス</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誘導ツール</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en-US" altLang="ja-JP" sz="1050" dirty="0">
                <a:solidFill>
                  <a:schemeClr val="bg1">
                    <a:lumMod val="65000"/>
                  </a:schemeClr>
                </a:solidFill>
                <a:latin typeface="メイリオ" panose="020B0604030504040204" pitchFamily="50" charset="-128"/>
                <a:ea typeface="メイリオ" panose="020B0604030504040204" pitchFamily="50" charset="-128"/>
              </a:rPr>
              <a:t>WEB</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サイトの</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CV</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ページから</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入力情報を引き継ぎ</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へ自動遷移</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340447B4-FBD9-E81D-7902-7B3BF84ED83A}"/>
              </a:ext>
            </a:extLst>
          </p:cNvPr>
          <p:cNvSpPr/>
          <p:nvPr/>
        </p:nvSpPr>
        <p:spPr>
          <a:xfrm>
            <a:off x="336942" y="4458293"/>
            <a:ext cx="2444358" cy="860956"/>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ログイン・</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ID</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連携等</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ログインに</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 </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を使用</a:t>
            </a:r>
            <a:endParaRPr lang="en-US" altLang="ja-JP" sz="1050" dirty="0">
              <a:solidFill>
                <a:schemeClr val="bg1">
                  <a:lumMod val="65000"/>
                </a:schemeClr>
              </a:solidFill>
              <a:latin typeface="メイリオ" panose="020B0604030504040204" pitchFamily="50" charset="-128"/>
              <a:ea typeface="メイリオ" panose="020B0604030504040204" pitchFamily="50" charset="-128"/>
            </a:endParaRPr>
          </a:p>
          <a:p>
            <a:pPr algn="ctr"/>
            <a:r>
              <a:rPr lang="ja-JP" altLang="en-US" sz="1050" dirty="0">
                <a:solidFill>
                  <a:schemeClr val="bg1">
                    <a:lumMod val="65000"/>
                  </a:schemeClr>
                </a:solidFill>
                <a:latin typeface="メイリオ" panose="020B0604030504040204" pitchFamily="50" charset="-128"/>
                <a:ea typeface="メイリオ" panose="020B0604030504040204" pitchFamily="50" charset="-128"/>
              </a:rPr>
              <a:t>サイトユーザー</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と</a:t>
            </a:r>
            <a:r>
              <a:rPr lang="en-US" altLang="ja-JP" sz="1050" dirty="0">
                <a:solidFill>
                  <a:schemeClr val="bg1">
                    <a:lumMod val="65000"/>
                  </a:schemeClr>
                </a:solidFill>
                <a:latin typeface="メイリオ" panose="020B0604030504040204" pitchFamily="50" charset="-128"/>
                <a:ea typeface="メイリオ" panose="020B0604030504040204" pitchFamily="50" charset="-128"/>
              </a:rPr>
              <a:t>LINEID</a:t>
            </a:r>
            <a:r>
              <a:rPr lang="ja-JP" altLang="en-US" sz="1050" dirty="0">
                <a:solidFill>
                  <a:schemeClr val="bg1">
                    <a:lumMod val="65000"/>
                  </a:schemeClr>
                </a:solidFill>
                <a:latin typeface="メイリオ" panose="020B0604030504040204" pitchFamily="50" charset="-128"/>
                <a:ea typeface="メイリオ" panose="020B0604030504040204" pitchFamily="50" charset="-128"/>
              </a:rPr>
              <a:t>を連携</a:t>
            </a:r>
            <a:endParaRPr kumimoji="1" lang="ja-JP" altLang="en-US" sz="105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4" name="四角形: 角を丸くする 13">
            <a:extLst>
              <a:ext uri="{FF2B5EF4-FFF2-40B4-BE49-F238E27FC236}">
                <a16:creationId xmlns:a16="http://schemas.microsoft.com/office/drawing/2014/main" id="{BD6C1FC9-285C-AE02-A175-C7061E1A753F}"/>
              </a:ext>
            </a:extLst>
          </p:cNvPr>
          <p:cNvSpPr/>
          <p:nvPr/>
        </p:nvSpPr>
        <p:spPr>
          <a:xfrm>
            <a:off x="336942" y="5361315"/>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LINE</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CPF</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広告</a:t>
            </a:r>
            <a:endPar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endParaRPr>
          </a:p>
        </p:txBody>
      </p:sp>
      <p:sp>
        <p:nvSpPr>
          <p:cNvPr id="15" name="四角形: 角を丸くする 14">
            <a:extLst>
              <a:ext uri="{FF2B5EF4-FFF2-40B4-BE49-F238E27FC236}">
                <a16:creationId xmlns:a16="http://schemas.microsoft.com/office/drawing/2014/main" id="{74F6F515-C9A5-F22C-3E1C-CF4380DB9991}"/>
              </a:ext>
            </a:extLst>
          </p:cNvPr>
          <p:cNvSpPr/>
          <p:nvPr/>
        </p:nvSpPr>
        <p:spPr>
          <a:xfrm>
            <a:off x="336942" y="5829843"/>
            <a:ext cx="2444358" cy="432333"/>
          </a:xfrm>
          <a:prstGeom prst="roundRect">
            <a:avLst>
              <a:gd name="adj" fmla="val 5478"/>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スタンプ・</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Pt</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施策</a:t>
            </a:r>
          </a:p>
        </p:txBody>
      </p:sp>
      <p:sp>
        <p:nvSpPr>
          <p:cNvPr id="16" name="正方形/長方形 15">
            <a:extLst>
              <a:ext uri="{FF2B5EF4-FFF2-40B4-BE49-F238E27FC236}">
                <a16:creationId xmlns:a16="http://schemas.microsoft.com/office/drawing/2014/main" id="{0156D598-0831-CD8B-6A89-EE3DAF51A5E9}"/>
              </a:ext>
            </a:extLst>
          </p:cNvPr>
          <p:cNvSpPr/>
          <p:nvPr/>
        </p:nvSpPr>
        <p:spPr>
          <a:xfrm>
            <a:off x="4482711" y="1756635"/>
            <a:ext cx="3233084" cy="14329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・リッチメニュー</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・プロフ動線</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・あいさつ</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MSG</a:t>
            </a: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KW</a:t>
            </a:r>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自動応答設定</a:t>
            </a:r>
            <a:endParaRPr kumimoji="1"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・友だち登録直後アンケート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kumimoji="1"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・再引上げ</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アンケート</a:t>
            </a:r>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・ステップ配信</a:t>
            </a:r>
            <a:r>
              <a:rPr lang="ja-JP" altLang="en-US" sz="900" dirty="0">
                <a:solidFill>
                  <a:schemeClr val="bg1">
                    <a:lumMod val="65000"/>
                  </a:schemeClr>
                </a:solidFill>
                <a:latin typeface="メイリオ" panose="020B0604030504040204" pitchFamily="50" charset="-128"/>
                <a:ea typeface="メイリオ" panose="020B0604030504040204" pitchFamily="50" charset="-128"/>
              </a:rPr>
              <a:t>：特定アクション後◯日での自動配信</a:t>
            </a:r>
            <a:endParaRPr kumimoji="1" lang="ja-JP" altLang="en-US" sz="1200" dirty="0">
              <a:solidFill>
                <a:schemeClr val="bg1">
                  <a:lumMod val="65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24F01906-5193-F098-3B58-BDCC26D568EA}"/>
              </a:ext>
            </a:extLst>
          </p:cNvPr>
          <p:cNvSpPr/>
          <p:nvPr/>
        </p:nvSpPr>
        <p:spPr>
          <a:xfrm>
            <a:off x="4482711" y="3331372"/>
            <a:ext cx="3233084" cy="292127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新規</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 </a:t>
            </a:r>
            <a:r>
              <a:rPr lang="ja-JP" altLang="en-US" sz="1200" b="1" dirty="0">
                <a:solidFill>
                  <a:srgbClr val="FF0000"/>
                </a:solidFill>
                <a:latin typeface="メイリオ" panose="020B0604030504040204" pitchFamily="50" charset="-128"/>
                <a:ea typeface="メイリオ" panose="020B0604030504040204" pitchFamily="50" charset="-128"/>
              </a:rPr>
              <a:t>→ 月間投稿数</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・イベント配信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・クーポン配信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・企画配信（特定ターゲット）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・診断型配信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・お役立ちコラム・コンテンツ配信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・季節／時事ネタ配信</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a:t>
            </a:r>
          </a:p>
          <a:p>
            <a:endPar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endParaRPr>
          </a:p>
          <a:p>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r>
              <a:rPr lang="ja-JP" altLang="en-US" sz="1200" b="1" dirty="0">
                <a:solidFill>
                  <a:schemeClr val="tx1">
                    <a:lumMod val="75000"/>
                    <a:lumOff val="25000"/>
                  </a:schemeClr>
                </a:solidFill>
                <a:latin typeface="メイリオ" panose="020B0604030504040204" pitchFamily="50" charset="-128"/>
                <a:ea typeface="メイリオ" panose="020B0604030504040204" pitchFamily="50" charset="-128"/>
              </a:rPr>
              <a:t>調整</a:t>
            </a:r>
            <a:r>
              <a:rPr lang="en-US" altLang="ja-JP" sz="1200" b="1" dirty="0">
                <a:solidFill>
                  <a:schemeClr val="tx1">
                    <a:lumMod val="75000"/>
                    <a:lumOff val="25000"/>
                  </a:schemeClr>
                </a:solidFill>
                <a:latin typeface="メイリオ" panose="020B0604030504040204" pitchFamily="50" charset="-128"/>
                <a:ea typeface="メイリオ" panose="020B0604030504040204" pitchFamily="50" charset="-128"/>
              </a:rPr>
              <a:t>]</a:t>
            </a: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・アンケート</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・自動応答</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a:t>
            </a:r>
            <a:r>
              <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rPr>
              <a:t>QA</a:t>
            </a:r>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集</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・リッチメニュー</a:t>
            </a:r>
            <a:endParaRPr lang="en-US" altLang="ja-JP" sz="12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200" dirty="0">
                <a:solidFill>
                  <a:schemeClr val="tx1">
                    <a:lumMod val="65000"/>
                    <a:lumOff val="35000"/>
                  </a:schemeClr>
                </a:solidFill>
                <a:latin typeface="メイリオ" panose="020B0604030504040204" pitchFamily="50" charset="-128"/>
                <a:ea typeface="メイリオ" panose="020B0604030504040204" pitchFamily="50" charset="-128"/>
              </a:rPr>
              <a:t>・ステップ配信</a:t>
            </a:r>
          </a:p>
        </p:txBody>
      </p:sp>
      <p:sp>
        <p:nvSpPr>
          <p:cNvPr id="19" name="左大かっこ 18">
            <a:extLst>
              <a:ext uri="{FF2B5EF4-FFF2-40B4-BE49-F238E27FC236}">
                <a16:creationId xmlns:a16="http://schemas.microsoft.com/office/drawing/2014/main" id="{B9FF3DCE-9B05-09FE-7C2F-B104CD0105BE}"/>
              </a:ext>
            </a:extLst>
          </p:cNvPr>
          <p:cNvSpPr/>
          <p:nvPr/>
        </p:nvSpPr>
        <p:spPr>
          <a:xfrm>
            <a:off x="3210542" y="1800836"/>
            <a:ext cx="215932" cy="4398089"/>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24" name="左大かっこ 23">
            <a:extLst>
              <a:ext uri="{FF2B5EF4-FFF2-40B4-BE49-F238E27FC236}">
                <a16:creationId xmlns:a16="http://schemas.microsoft.com/office/drawing/2014/main" id="{61357E78-5BD2-BBD8-1F18-B1985600E22B}"/>
              </a:ext>
            </a:extLst>
          </p:cNvPr>
          <p:cNvSpPr/>
          <p:nvPr/>
        </p:nvSpPr>
        <p:spPr>
          <a:xfrm flipH="1">
            <a:off x="2892035" y="1756635"/>
            <a:ext cx="215932" cy="4486491"/>
          </a:xfrm>
          <a:prstGeom prst="leftBracket">
            <a:avLst/>
          </a:prstGeom>
          <a:ln>
            <a:solidFill>
              <a:srgbClr val="04FA0A"/>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pic>
        <p:nvPicPr>
          <p:cNvPr id="26" name="図 25">
            <a:extLst>
              <a:ext uri="{FF2B5EF4-FFF2-40B4-BE49-F238E27FC236}">
                <a16:creationId xmlns:a16="http://schemas.microsoft.com/office/drawing/2014/main" id="{56E6CFC0-FB45-E508-C7ED-E0F29C95F377}"/>
              </a:ext>
            </a:extLst>
          </p:cNvPr>
          <p:cNvPicPr>
            <a:picLocks noChangeAspect="1"/>
          </p:cNvPicPr>
          <p:nvPr/>
        </p:nvPicPr>
        <p:blipFill>
          <a:blip r:embed="rId2"/>
          <a:stretch>
            <a:fillRect/>
          </a:stretch>
        </p:blipFill>
        <p:spPr>
          <a:xfrm>
            <a:off x="2862090" y="2173993"/>
            <a:ext cx="582602" cy="543237"/>
          </a:xfrm>
          <a:prstGeom prst="rect">
            <a:avLst/>
          </a:prstGeom>
        </p:spPr>
      </p:pic>
      <p:cxnSp>
        <p:nvCxnSpPr>
          <p:cNvPr id="27" name="直線矢印コネクタ 26">
            <a:extLst>
              <a:ext uri="{FF2B5EF4-FFF2-40B4-BE49-F238E27FC236}">
                <a16:creationId xmlns:a16="http://schemas.microsoft.com/office/drawing/2014/main" id="{38D782E3-91EF-D26A-1906-21A51865A939}"/>
              </a:ext>
            </a:extLst>
          </p:cNvPr>
          <p:cNvCxnSpPr>
            <a:cxnSpLocks/>
          </p:cNvCxnSpPr>
          <p:nvPr/>
        </p:nvCxnSpPr>
        <p:spPr>
          <a:xfrm>
            <a:off x="231756" y="1521490"/>
            <a:ext cx="2654192" cy="0"/>
          </a:xfrm>
          <a:prstGeom prst="straightConnector1">
            <a:avLst/>
          </a:prstGeom>
          <a:ln w="28575">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39D8C8E0-0854-5217-A7F3-DBD2104BDFAF}"/>
              </a:ext>
            </a:extLst>
          </p:cNvPr>
          <p:cNvSpPr txBox="1"/>
          <p:nvPr/>
        </p:nvSpPr>
        <p:spPr>
          <a:xfrm>
            <a:off x="857833" y="1390138"/>
            <a:ext cx="1306788" cy="261610"/>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友だちの新規追加</a:t>
            </a:r>
            <a:endParaRPr lang="ja-JP" altLang="en-US" sz="1050" dirty="0"/>
          </a:p>
        </p:txBody>
      </p:sp>
      <p:cxnSp>
        <p:nvCxnSpPr>
          <p:cNvPr id="29" name="直線矢印コネクタ 28">
            <a:extLst>
              <a:ext uri="{FF2B5EF4-FFF2-40B4-BE49-F238E27FC236}">
                <a16:creationId xmlns:a16="http://schemas.microsoft.com/office/drawing/2014/main" id="{745F1B07-4D2C-4794-DAEA-D76D3E0CA8CF}"/>
              </a:ext>
            </a:extLst>
          </p:cNvPr>
          <p:cNvCxnSpPr>
            <a:cxnSpLocks/>
          </p:cNvCxnSpPr>
          <p:nvPr/>
        </p:nvCxnSpPr>
        <p:spPr>
          <a:xfrm>
            <a:off x="3248447" y="1521490"/>
            <a:ext cx="6173147" cy="0"/>
          </a:xfrm>
          <a:prstGeom prst="straightConnector1">
            <a:avLst/>
          </a:prstGeom>
          <a:ln w="28575">
            <a:solidFill>
              <a:schemeClr val="accent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a:extLst>
              <a:ext uri="{FF2B5EF4-FFF2-40B4-BE49-F238E27FC236}">
                <a16:creationId xmlns:a16="http://schemas.microsoft.com/office/drawing/2014/main" id="{D5E48196-7DAD-4F3E-ADDE-E36FAC475508}"/>
              </a:ext>
            </a:extLst>
          </p:cNvPr>
          <p:cNvSpPr txBox="1"/>
          <p:nvPr/>
        </p:nvSpPr>
        <p:spPr>
          <a:xfrm>
            <a:off x="5411256" y="1390138"/>
            <a:ext cx="1913269" cy="253916"/>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a:t>
            </a:r>
            <a:r>
              <a:rPr lang="ja-JP" altLang="en-US" sz="1050" b="1" dirty="0">
                <a:latin typeface="メイリオ" panose="020B0604030504040204" pitchFamily="50" charset="-128"/>
                <a:ea typeface="メイリオ" panose="020B0604030504040204" pitchFamily="50" charset="-128"/>
                <a:cs typeface="Meiryo"/>
                <a:sym typeface="Meiryo"/>
              </a:rPr>
              <a:t>友だちの育成・</a:t>
            </a:r>
            <a:r>
              <a:rPr lang="en-US" altLang="ja-JP" sz="1050" b="1" dirty="0">
                <a:latin typeface="メイリオ" panose="020B0604030504040204" pitchFamily="50" charset="-128"/>
                <a:ea typeface="メイリオ" panose="020B0604030504040204" pitchFamily="50" charset="-128"/>
                <a:cs typeface="Meiryo"/>
                <a:sym typeface="Meiryo"/>
              </a:rPr>
              <a:t>CV</a:t>
            </a:r>
            <a:r>
              <a:rPr lang="ja-JP" altLang="en-US" sz="1050" b="1" dirty="0">
                <a:latin typeface="メイリオ" panose="020B0604030504040204" pitchFamily="50" charset="-128"/>
                <a:ea typeface="メイリオ" panose="020B0604030504040204" pitchFamily="50" charset="-128"/>
                <a:cs typeface="Meiryo"/>
                <a:sym typeface="Meiryo"/>
              </a:rPr>
              <a:t>化</a:t>
            </a:r>
            <a:endParaRPr lang="en-US" altLang="ja-JP" sz="1050" b="1" dirty="0">
              <a:latin typeface="メイリオ" panose="020B0604030504040204" pitchFamily="50" charset="-128"/>
              <a:ea typeface="メイリオ" panose="020B0604030504040204" pitchFamily="50" charset="-128"/>
              <a:cs typeface="Meiryo"/>
              <a:sym typeface="Meiryo"/>
            </a:endParaRPr>
          </a:p>
        </p:txBody>
      </p:sp>
      <p:sp>
        <p:nvSpPr>
          <p:cNvPr id="32" name="正方形/長方形 31">
            <a:extLst>
              <a:ext uri="{FF2B5EF4-FFF2-40B4-BE49-F238E27FC236}">
                <a16:creationId xmlns:a16="http://schemas.microsoft.com/office/drawing/2014/main" id="{4EA6E8F1-E33D-1FB9-E4AA-6AD1A2F6B651}"/>
              </a:ext>
            </a:extLst>
          </p:cNvPr>
          <p:cNvSpPr/>
          <p:nvPr/>
        </p:nvSpPr>
        <p:spPr>
          <a:xfrm>
            <a:off x="7750331" y="1748432"/>
            <a:ext cx="1818728" cy="4494694"/>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200" b="1" dirty="0">
                <a:solidFill>
                  <a:schemeClr val="tx1"/>
                </a:solidFill>
                <a:latin typeface="メイリオ" panose="020B0604030504040204" pitchFamily="50" charset="-128"/>
                <a:ea typeface="メイリオ" panose="020B0604030504040204" pitchFamily="50" charset="-128"/>
              </a:rPr>
              <a:t>[</a:t>
            </a:r>
            <a:r>
              <a:rPr kumimoji="1" lang="ja-JP" altLang="en-US" sz="1200" b="1" dirty="0">
                <a:solidFill>
                  <a:schemeClr val="tx1"/>
                </a:solidFill>
                <a:latin typeface="メイリオ" panose="020B0604030504040204" pitchFamily="50" charset="-128"/>
                <a:ea typeface="メイリオ" panose="020B0604030504040204" pitchFamily="50" charset="-128"/>
              </a:rPr>
              <a:t>ターゲット設定</a:t>
            </a:r>
            <a:r>
              <a:rPr lang="en-US" altLang="ja-JP" sz="1200" b="1" dirty="0">
                <a:solidFill>
                  <a:schemeClr val="tx1"/>
                </a:solidFill>
                <a:latin typeface="メイリオ" panose="020B0604030504040204" pitchFamily="50" charset="-128"/>
                <a:ea typeface="メイリオ" panose="020B0604030504040204" pitchFamily="50" charset="-128"/>
              </a:rPr>
              <a:t>]</a:t>
            </a: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endParaRPr kumimoji="1" lang="en-US" altLang="ja-JP" sz="700" dirty="0">
              <a:solidFill>
                <a:schemeClr val="tx1"/>
              </a:solidFill>
              <a:latin typeface="メイリオ" panose="020B0604030504040204" pitchFamily="50" charset="-128"/>
              <a:ea typeface="メイリオ" panose="020B0604030504040204" pitchFamily="50" charset="-128"/>
            </a:endParaRPr>
          </a:p>
          <a:p>
            <a:r>
              <a:rPr kumimoji="1" lang="en-US" altLang="ja-JP" sz="1200" b="1" dirty="0">
                <a:solidFill>
                  <a:schemeClr val="tx1"/>
                </a:solidFill>
                <a:latin typeface="メイリオ" panose="020B0604030504040204" pitchFamily="50" charset="-128"/>
                <a:ea typeface="メイリオ" panose="020B0604030504040204" pitchFamily="50" charset="-128"/>
              </a:rPr>
              <a:t>LINEOA</a:t>
            </a:r>
            <a:r>
              <a:rPr kumimoji="1" lang="ja-JP" altLang="en-US" sz="1200" b="1" dirty="0">
                <a:solidFill>
                  <a:schemeClr val="tx1"/>
                </a:solidFill>
                <a:latin typeface="メイリオ" panose="020B0604030504040204" pitchFamily="50" charset="-128"/>
                <a:ea typeface="メイリオ" panose="020B0604030504040204" pitchFamily="50" charset="-128"/>
              </a:rPr>
              <a:t>オーガニック</a:t>
            </a:r>
            <a:endParaRPr kumimoji="1" lang="en-US" altLang="ja-JP" sz="120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年齢</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性別</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地域</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(MSG</a:t>
            </a:r>
            <a:r>
              <a:rPr lang="ja-JP" altLang="en-US" sz="1050" dirty="0">
                <a:solidFill>
                  <a:schemeClr val="tx1"/>
                </a:solidFill>
                <a:latin typeface="メイリオ" panose="020B0604030504040204" pitchFamily="50" charset="-128"/>
                <a:ea typeface="メイリオ" panose="020B0604030504040204" pitchFamily="50" charset="-128"/>
              </a:rPr>
              <a:t>の</a:t>
            </a:r>
            <a:r>
              <a:rPr lang="en-US" altLang="ja-JP" sz="1050" dirty="0" err="1">
                <a:solidFill>
                  <a:schemeClr val="tx1"/>
                </a:solidFill>
                <a:latin typeface="メイリオ" panose="020B0604030504040204" pitchFamily="50" charset="-128"/>
                <a:ea typeface="メイリオ" panose="020B0604030504040204" pitchFamily="50" charset="-128"/>
              </a:rPr>
              <a:t>Imp,Click</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700" dirty="0">
              <a:solidFill>
                <a:schemeClr val="tx1"/>
              </a:solidFill>
              <a:latin typeface="メイリオ" panose="020B0604030504040204" pitchFamily="50" charset="-128"/>
              <a:ea typeface="メイリオ" panose="020B0604030504040204" pitchFamily="50" charset="-128"/>
            </a:endParaRPr>
          </a:p>
          <a:p>
            <a:r>
              <a:rPr lang="en-US" altLang="ja-JP" sz="1200" b="1" dirty="0">
                <a:solidFill>
                  <a:schemeClr val="tx1"/>
                </a:solidFill>
                <a:latin typeface="メイリオ" panose="020B0604030504040204" pitchFamily="50" charset="-128"/>
                <a:ea typeface="メイリオ" panose="020B0604030504040204" pitchFamily="50" charset="-128"/>
              </a:rPr>
              <a:t>LINE_API</a:t>
            </a:r>
            <a:r>
              <a:rPr lang="ja-JP" altLang="en-US" sz="1200" b="1" dirty="0">
                <a:solidFill>
                  <a:schemeClr val="tx1"/>
                </a:solidFill>
                <a:latin typeface="メイリオ" panose="020B0604030504040204" pitchFamily="50" charset="-128"/>
                <a:ea typeface="メイリオ" panose="020B0604030504040204" pitchFamily="50" charset="-128"/>
              </a:rPr>
              <a:t>ツール</a:t>
            </a:r>
            <a:r>
              <a:rPr lang="ja-JP" altLang="en-US" sz="900" b="1" dirty="0">
                <a:solidFill>
                  <a:schemeClr val="tx1"/>
                </a:solidFill>
                <a:latin typeface="メイリオ" panose="020B0604030504040204" pitchFamily="50" charset="-128"/>
                <a:ea typeface="メイリオ" panose="020B0604030504040204" pitchFamily="50" charset="-128"/>
              </a:rPr>
              <a:t> </a:t>
            </a:r>
            <a:r>
              <a:rPr lang="en-US" altLang="ja-JP" sz="900" b="1" dirty="0">
                <a:solidFill>
                  <a:srgbClr val="FF0000"/>
                </a:solidFill>
                <a:latin typeface="メイリオ" panose="020B0604030504040204" pitchFamily="50" charset="-128"/>
                <a:ea typeface="メイリオ" panose="020B0604030504040204" pitchFamily="50" charset="-128"/>
              </a:rPr>
              <a:t>※</a:t>
            </a:r>
            <a:r>
              <a:rPr lang="ja-JP" altLang="en-US" sz="900" b="1" dirty="0">
                <a:solidFill>
                  <a:srgbClr val="FF0000"/>
                </a:solidFill>
                <a:latin typeface="メイリオ" panose="020B0604030504040204" pitchFamily="50" charset="-128"/>
                <a:ea typeface="メイリオ" panose="020B0604030504040204" pitchFamily="50" charset="-128"/>
              </a:rPr>
              <a:t>有料</a:t>
            </a:r>
            <a:endParaRPr lang="en-US" altLang="ja-JP" sz="1200" b="1" dirty="0">
              <a:solidFill>
                <a:srgbClr val="FF0000"/>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アンケート結果）</a:t>
            </a:r>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(WEB</a:t>
            </a:r>
            <a:r>
              <a:rPr lang="ja-JP" altLang="en-US" sz="1050" dirty="0">
                <a:solidFill>
                  <a:schemeClr val="tx1"/>
                </a:solidFill>
                <a:latin typeface="メイリオ" panose="020B0604030504040204" pitchFamily="50" charset="-128"/>
                <a:ea typeface="メイリオ" panose="020B0604030504040204" pitchFamily="50" charset="-128"/>
              </a:rPr>
              <a:t>サイトアクション</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リマインド</a:t>
            </a:r>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再通知</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連携した情報ベース</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ユーザー一覧を取得</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a:t>
            </a:r>
            <a:r>
              <a:rPr lang="en-US" altLang="ja-JP" sz="1050" dirty="0">
                <a:solidFill>
                  <a:schemeClr val="tx1"/>
                </a:solidFill>
                <a:latin typeface="メイリオ" panose="020B0604030504040204" pitchFamily="50" charset="-128"/>
                <a:ea typeface="メイリオ" panose="020B0604030504040204" pitchFamily="50" charset="-128"/>
              </a:rPr>
              <a:t>ID</a:t>
            </a:r>
            <a:r>
              <a:rPr lang="ja-JP" altLang="en-US" sz="1050" dirty="0">
                <a:solidFill>
                  <a:schemeClr val="tx1"/>
                </a:solidFill>
                <a:latin typeface="メイリオ" panose="020B0604030504040204" pitchFamily="50" charset="-128"/>
                <a:ea typeface="メイリオ" panose="020B0604030504040204" pitchFamily="50" charset="-128"/>
              </a:rPr>
              <a:t>アップロード</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地点別スコアリング</a:t>
            </a:r>
            <a:r>
              <a:rPr lang="en-US" altLang="ja-JP" sz="1050" dirty="0">
                <a:solidFill>
                  <a:schemeClr val="tx1"/>
                </a:solidFill>
                <a:latin typeface="メイリオ" panose="020B0604030504040204" pitchFamily="50" charset="-128"/>
                <a:ea typeface="メイリオ" panose="020B0604030504040204" pitchFamily="50" charset="-128"/>
              </a:rPr>
              <a:t>)</a:t>
            </a: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endParaRPr lang="en-US" altLang="ja-JP" sz="1050" dirty="0">
              <a:solidFill>
                <a:schemeClr val="tx1"/>
              </a:solidFill>
              <a:latin typeface="メイリオ" panose="020B0604030504040204" pitchFamily="50" charset="-128"/>
              <a:ea typeface="メイリオ" panose="020B0604030504040204" pitchFamily="50" charset="-128"/>
            </a:endParaRPr>
          </a:p>
          <a:p>
            <a:r>
              <a:rPr lang="en-US" altLang="ja-JP" sz="1050" b="1" dirty="0">
                <a:solidFill>
                  <a:schemeClr val="tx1"/>
                </a:solidFill>
                <a:latin typeface="メイリオ" panose="020B0604030504040204" pitchFamily="50" charset="-128"/>
                <a:ea typeface="メイリオ" panose="020B0604030504040204" pitchFamily="50" charset="-128"/>
              </a:rPr>
              <a:t>※MA</a:t>
            </a:r>
            <a:r>
              <a:rPr lang="ja-JP" altLang="en-US" sz="1050" b="1" dirty="0">
                <a:solidFill>
                  <a:schemeClr val="tx1"/>
                </a:solidFill>
                <a:latin typeface="メイリオ" panose="020B0604030504040204" pitchFamily="50" charset="-128"/>
                <a:ea typeface="メイリオ" panose="020B0604030504040204" pitchFamily="50" charset="-128"/>
              </a:rPr>
              <a:t>、</a:t>
            </a:r>
            <a:r>
              <a:rPr lang="en-US" altLang="ja-JP" sz="1050" b="1" dirty="0">
                <a:solidFill>
                  <a:schemeClr val="tx1"/>
                </a:solidFill>
                <a:latin typeface="メイリオ" panose="020B0604030504040204" pitchFamily="50" charset="-128"/>
                <a:ea typeface="メイリオ" panose="020B0604030504040204" pitchFamily="50" charset="-128"/>
              </a:rPr>
              <a:t>CRM</a:t>
            </a:r>
            <a:r>
              <a:rPr lang="ja-JP" altLang="en-US" sz="1050" b="1" dirty="0">
                <a:solidFill>
                  <a:schemeClr val="tx1"/>
                </a:solidFill>
                <a:latin typeface="メイリオ" panose="020B0604030504040204" pitchFamily="50" charset="-128"/>
                <a:ea typeface="メイリオ" panose="020B0604030504040204" pitchFamily="50" charset="-128"/>
              </a:rPr>
              <a:t>との連携</a:t>
            </a:r>
            <a:endParaRPr lang="en-US" altLang="ja-JP" sz="1050" b="1" dirty="0">
              <a:solidFill>
                <a:schemeClr val="tx1"/>
              </a:solidFill>
              <a:latin typeface="メイリオ" panose="020B0604030504040204" pitchFamily="50" charset="-128"/>
              <a:ea typeface="メイリオ" panose="020B0604030504040204" pitchFamily="50" charset="-128"/>
            </a:endParaRP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購入・リードデータ</a:t>
            </a:r>
            <a:r>
              <a:rPr lang="en-US" altLang="ja-JP" sz="1050" dirty="0">
                <a:solidFill>
                  <a:schemeClr val="tx1"/>
                </a:solidFill>
                <a:latin typeface="メイリオ" panose="020B0604030504040204" pitchFamily="50" charset="-128"/>
                <a:ea typeface="メイリオ" panose="020B0604030504040204" pitchFamily="50" charset="-128"/>
              </a:rPr>
              <a:t>)</a:t>
            </a:r>
          </a:p>
          <a:p>
            <a:r>
              <a:rPr lang="en-US" altLang="ja-JP" sz="1050" dirty="0">
                <a:solidFill>
                  <a:schemeClr val="tx1"/>
                </a:solidFill>
                <a:latin typeface="メイリオ" panose="020B0604030504040204" pitchFamily="50" charset="-128"/>
                <a:ea typeface="メイリオ" panose="020B0604030504040204" pitchFamily="50" charset="-128"/>
              </a:rPr>
              <a:t>(</a:t>
            </a:r>
            <a:r>
              <a:rPr lang="ja-JP" altLang="en-US" sz="1050" dirty="0">
                <a:solidFill>
                  <a:schemeClr val="tx1"/>
                </a:solidFill>
                <a:latin typeface="メイリオ" panose="020B0604030504040204" pitchFamily="50" charset="-128"/>
                <a:ea typeface="メイリオ" panose="020B0604030504040204" pitchFamily="50" charset="-128"/>
              </a:rPr>
              <a:t>ユーザー情報</a:t>
            </a:r>
            <a:r>
              <a:rPr lang="ja-JP" altLang="en-US" sz="900" dirty="0">
                <a:solidFill>
                  <a:schemeClr val="tx1"/>
                </a:solidFill>
                <a:latin typeface="メイリオ" panose="020B0604030504040204" pitchFamily="50" charset="-128"/>
                <a:ea typeface="メイリオ" panose="020B0604030504040204" pitchFamily="50" charset="-128"/>
              </a:rPr>
              <a:t> </a:t>
            </a:r>
            <a:r>
              <a:rPr lang="en-US" altLang="ja-JP" sz="900" dirty="0">
                <a:solidFill>
                  <a:schemeClr val="tx1"/>
                </a:solidFill>
                <a:latin typeface="メイリオ" panose="020B0604030504040204" pitchFamily="50" charset="-128"/>
                <a:ea typeface="メイリオ" panose="020B0604030504040204" pitchFamily="50" charset="-128"/>
              </a:rPr>
              <a:t>※</a:t>
            </a:r>
            <a:r>
              <a:rPr lang="ja-JP" altLang="en-US" sz="900" dirty="0">
                <a:solidFill>
                  <a:schemeClr val="tx1"/>
                </a:solidFill>
                <a:latin typeface="メイリオ" panose="020B0604030504040204" pitchFamily="50" charset="-128"/>
                <a:ea typeface="メイリオ" panose="020B0604030504040204" pitchFamily="50" charset="-128"/>
              </a:rPr>
              <a:t>詳細</a:t>
            </a:r>
            <a:r>
              <a:rPr lang="en-US" altLang="ja-JP" sz="1050" dirty="0">
                <a:solidFill>
                  <a:schemeClr val="tx1"/>
                </a:solidFill>
                <a:latin typeface="メイリオ" panose="020B0604030504040204" pitchFamily="50" charset="-128"/>
                <a:ea typeface="メイリオ" panose="020B0604030504040204" pitchFamily="50" charset="-128"/>
              </a:rPr>
              <a:t>)</a:t>
            </a:r>
          </a:p>
        </p:txBody>
      </p:sp>
      <p:sp>
        <p:nvSpPr>
          <p:cNvPr id="36" name="テキスト ボックス 35">
            <a:extLst>
              <a:ext uri="{FF2B5EF4-FFF2-40B4-BE49-F238E27FC236}">
                <a16:creationId xmlns:a16="http://schemas.microsoft.com/office/drawing/2014/main" id="{F47CAADD-ECBD-1DCC-19D6-6433C921622E}"/>
              </a:ext>
            </a:extLst>
          </p:cNvPr>
          <p:cNvSpPr txBox="1"/>
          <p:nvPr/>
        </p:nvSpPr>
        <p:spPr>
          <a:xfrm>
            <a:off x="2178040" y="2694449"/>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7" name="テキスト ボックス 46">
            <a:extLst>
              <a:ext uri="{FF2B5EF4-FFF2-40B4-BE49-F238E27FC236}">
                <a16:creationId xmlns:a16="http://schemas.microsoft.com/office/drawing/2014/main" id="{00802062-F552-1DFA-430A-41800E76A220}"/>
              </a:ext>
            </a:extLst>
          </p:cNvPr>
          <p:cNvSpPr txBox="1"/>
          <p:nvPr/>
        </p:nvSpPr>
        <p:spPr>
          <a:xfrm>
            <a:off x="2370382" y="177323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49" name="テキスト ボックス 48">
            <a:extLst>
              <a:ext uri="{FF2B5EF4-FFF2-40B4-BE49-F238E27FC236}">
                <a16:creationId xmlns:a16="http://schemas.microsoft.com/office/drawing/2014/main" id="{CDCAB868-C79D-2212-70C3-9EF559F32C21}"/>
              </a:ext>
            </a:extLst>
          </p:cNvPr>
          <p:cNvSpPr txBox="1"/>
          <p:nvPr/>
        </p:nvSpPr>
        <p:spPr>
          <a:xfrm>
            <a:off x="2456844" y="3619396"/>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1" name="テキスト ボックス 50">
            <a:extLst>
              <a:ext uri="{FF2B5EF4-FFF2-40B4-BE49-F238E27FC236}">
                <a16:creationId xmlns:a16="http://schemas.microsoft.com/office/drawing/2014/main" id="{E2ECFC3F-A285-F105-30CE-9144EBB24A11}"/>
              </a:ext>
            </a:extLst>
          </p:cNvPr>
          <p:cNvSpPr txBox="1"/>
          <p:nvPr/>
        </p:nvSpPr>
        <p:spPr>
          <a:xfrm>
            <a:off x="2518621" y="4576567"/>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3" name="テキスト ボックス 52">
            <a:extLst>
              <a:ext uri="{FF2B5EF4-FFF2-40B4-BE49-F238E27FC236}">
                <a16:creationId xmlns:a16="http://schemas.microsoft.com/office/drawing/2014/main" id="{39AB193A-8274-ABE1-CD3D-54790C3264F6}"/>
              </a:ext>
            </a:extLst>
          </p:cNvPr>
          <p:cNvSpPr txBox="1"/>
          <p:nvPr/>
        </p:nvSpPr>
        <p:spPr>
          <a:xfrm>
            <a:off x="2210158" y="5478733"/>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6" name="テキスト ボックス 55">
            <a:extLst>
              <a:ext uri="{FF2B5EF4-FFF2-40B4-BE49-F238E27FC236}">
                <a16:creationId xmlns:a16="http://schemas.microsoft.com/office/drawing/2014/main" id="{096A37B9-CA3D-92C9-1405-86C6FFCD8C5A}"/>
              </a:ext>
            </a:extLst>
          </p:cNvPr>
          <p:cNvSpPr txBox="1"/>
          <p:nvPr/>
        </p:nvSpPr>
        <p:spPr>
          <a:xfrm>
            <a:off x="2214724" y="5963211"/>
            <a:ext cx="626024"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有料</a:t>
            </a:r>
            <a:endParaRPr lang="ja-JP" altLang="en-US" sz="800" dirty="0"/>
          </a:p>
        </p:txBody>
      </p:sp>
      <p:sp>
        <p:nvSpPr>
          <p:cNvPr id="58" name="テキスト ボックス 57">
            <a:extLst>
              <a:ext uri="{FF2B5EF4-FFF2-40B4-BE49-F238E27FC236}">
                <a16:creationId xmlns:a16="http://schemas.microsoft.com/office/drawing/2014/main" id="{AA71FB07-E583-8196-5077-2EAA10A61A0F}"/>
              </a:ext>
            </a:extLst>
          </p:cNvPr>
          <p:cNvSpPr txBox="1"/>
          <p:nvPr/>
        </p:nvSpPr>
        <p:spPr>
          <a:xfrm>
            <a:off x="285223" y="6291679"/>
            <a:ext cx="2547258" cy="215444"/>
          </a:xfrm>
          <a:prstGeom prst="rect">
            <a:avLst/>
          </a:prstGeom>
          <a:noFill/>
        </p:spPr>
        <p:txBody>
          <a:bodyPr wrap="square">
            <a:spAutoFit/>
          </a:bodyPr>
          <a:lstStyle/>
          <a:p>
            <a:pPr algn="ct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その他</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WEB</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サイト動線整備、プレスリリース等</a:t>
            </a:r>
            <a:endParaRPr lang="ja-JP" altLang="en-US" sz="800" dirty="0">
              <a:solidFill>
                <a:schemeClr val="bg1">
                  <a:lumMod val="50000"/>
                </a:schemeClr>
              </a:solidFill>
            </a:endParaRPr>
          </a:p>
        </p:txBody>
      </p:sp>
      <p:sp>
        <p:nvSpPr>
          <p:cNvPr id="6" name="テキスト ボックス 5">
            <a:extLst>
              <a:ext uri="{FF2B5EF4-FFF2-40B4-BE49-F238E27FC236}">
                <a16:creationId xmlns:a16="http://schemas.microsoft.com/office/drawing/2014/main" id="{F3BE3835-FB68-0C7D-7CED-C40A02A19AB2}"/>
              </a:ext>
            </a:extLst>
          </p:cNvPr>
          <p:cNvSpPr txBox="1"/>
          <p:nvPr/>
        </p:nvSpPr>
        <p:spPr>
          <a:xfrm>
            <a:off x="6149585" y="3424747"/>
            <a:ext cx="1174939" cy="215444"/>
          </a:xfrm>
          <a:prstGeom prst="rect">
            <a:avLst/>
          </a:prstGeom>
          <a:noFill/>
        </p:spPr>
        <p:txBody>
          <a:bodyPr wrap="square">
            <a:spAutoFit/>
          </a:bodyPr>
          <a:lstStyle/>
          <a:p>
            <a:r>
              <a:rPr lang="en-US" altLang="ja-JP" sz="800" dirty="0">
                <a:solidFill>
                  <a:srgbClr val="FF0000"/>
                </a:solidFill>
                <a:latin typeface="メイリオ" panose="020B0604030504040204" pitchFamily="50" charset="-128"/>
                <a:ea typeface="メイリオ" panose="020B0604030504040204" pitchFamily="50" charset="-128"/>
              </a:rPr>
              <a:t>※</a:t>
            </a:r>
            <a:r>
              <a:rPr lang="ja-JP" altLang="en-US" sz="800" dirty="0">
                <a:solidFill>
                  <a:srgbClr val="FF0000"/>
                </a:solidFill>
                <a:latin typeface="メイリオ" panose="020B0604030504040204" pitchFamily="50" charset="-128"/>
                <a:ea typeface="メイリオ" panose="020B0604030504040204" pitchFamily="50" charset="-128"/>
              </a:rPr>
              <a:t>数量により変動</a:t>
            </a:r>
            <a:endParaRPr lang="ja-JP" altLang="en-US" sz="800" dirty="0"/>
          </a:p>
        </p:txBody>
      </p:sp>
      <p:sp>
        <p:nvSpPr>
          <p:cNvPr id="7" name="テキスト ボックス 6">
            <a:extLst>
              <a:ext uri="{FF2B5EF4-FFF2-40B4-BE49-F238E27FC236}">
                <a16:creationId xmlns:a16="http://schemas.microsoft.com/office/drawing/2014/main" id="{F47E1216-C9D3-60D3-B3E8-43E38B5791F4}"/>
              </a:ext>
            </a:extLst>
          </p:cNvPr>
          <p:cNvSpPr txBox="1"/>
          <p:nvPr/>
        </p:nvSpPr>
        <p:spPr>
          <a:xfrm>
            <a:off x="3587357" y="6286698"/>
            <a:ext cx="4128437" cy="215444"/>
          </a:xfrm>
          <a:prstGeom prst="rect">
            <a:avLst/>
          </a:prstGeom>
          <a:noFill/>
        </p:spPr>
        <p:txBody>
          <a:bodyPr wrap="square">
            <a:spAutoFit/>
          </a:bodyPr>
          <a:lstStyle/>
          <a:p>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　</a:t>
            </a:r>
            <a:r>
              <a:rPr kumimoji="1" lang="en-US" altLang="ja-JP" sz="800" dirty="0">
                <a:solidFill>
                  <a:schemeClr val="bg1">
                    <a:lumMod val="50000"/>
                  </a:schemeClr>
                </a:solidFill>
                <a:latin typeface="メイリオ" panose="020B0604030504040204" pitchFamily="50" charset="-128"/>
                <a:ea typeface="メイリオ" panose="020B0604030504040204" pitchFamily="50" charset="-128"/>
              </a:rPr>
              <a:t>※</a:t>
            </a:r>
            <a:r>
              <a:rPr kumimoji="1" lang="ja-JP" altLang="en-US" sz="800" dirty="0">
                <a:solidFill>
                  <a:schemeClr val="bg1">
                    <a:lumMod val="50000"/>
                  </a:schemeClr>
                </a:solidFill>
                <a:latin typeface="メイリオ" panose="020B0604030504040204" pitchFamily="50" charset="-128"/>
                <a:ea typeface="メイリオ" panose="020B0604030504040204" pitchFamily="50" charset="-128"/>
              </a:rPr>
              <a:t>クリエイティブ費用は基本的に内包、開発費用は別途見積もりとなります。</a:t>
            </a:r>
            <a:endParaRPr lang="ja-JP" altLang="en-US" sz="800" dirty="0">
              <a:solidFill>
                <a:schemeClr val="bg1">
                  <a:lumMod val="50000"/>
                </a:schemeClr>
              </a:solidFill>
            </a:endParaRPr>
          </a:p>
        </p:txBody>
      </p:sp>
      <p:sp>
        <p:nvSpPr>
          <p:cNvPr id="13" name="正方形/長方形 12">
            <a:extLst>
              <a:ext uri="{FF2B5EF4-FFF2-40B4-BE49-F238E27FC236}">
                <a16:creationId xmlns:a16="http://schemas.microsoft.com/office/drawing/2014/main" id="{9256C170-205B-2224-D69D-D964BF991C26}"/>
              </a:ext>
            </a:extLst>
          </p:cNvPr>
          <p:cNvSpPr/>
          <p:nvPr/>
        </p:nvSpPr>
        <p:spPr>
          <a:xfrm>
            <a:off x="7664076" y="1733928"/>
            <a:ext cx="1904982" cy="4562295"/>
          </a:xfrm>
          <a:prstGeom prst="rect">
            <a:avLst/>
          </a:prstGeom>
          <a:solidFill>
            <a:schemeClr val="bg1">
              <a:alpha val="59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bg1"/>
              </a:solidFill>
            </a:endParaRPr>
          </a:p>
        </p:txBody>
      </p:sp>
    </p:spTree>
    <p:extLst>
      <p:ext uri="{BB962C8B-B14F-4D97-AF65-F5344CB8AC3E}">
        <p14:creationId xmlns:p14="http://schemas.microsoft.com/office/powerpoint/2010/main" val="905006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67DEB-0D7B-8670-6390-E396B1D536B5}"/>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55786A2-F100-6AA6-4BA2-C612ABD2107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E9062440-B6A0-85EE-461D-E9A5F53310B0}"/>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CCEADF0C-2806-160C-2545-0CBF2DE16851}"/>
              </a:ext>
            </a:extLst>
          </p:cNvPr>
          <p:cNvSpPr txBox="1"/>
          <p:nvPr/>
        </p:nvSpPr>
        <p:spPr>
          <a:xfrm>
            <a:off x="1988819" y="736332"/>
            <a:ext cx="7917181"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友だち追加～</a:t>
            </a:r>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日を境に大きくアクティブ率が下がる（ブロック率が上がる）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為、追加から</a:t>
            </a:r>
            <a:r>
              <a:rPr lang="en-US" altLang="ja-JP" sz="1600" b="1" dirty="0">
                <a:latin typeface="メイリオ" panose="020B0604030504040204" pitchFamily="50" charset="-128"/>
                <a:ea typeface="メイリオ" panose="020B0604030504040204" pitchFamily="50" charset="-128"/>
                <a:cs typeface="Meiryo"/>
                <a:sym typeface="Meiryo"/>
              </a:rPr>
              <a:t>20‐30</a:t>
            </a:r>
            <a:r>
              <a:rPr lang="ja-JP" altLang="en-US" sz="1600" b="1" dirty="0">
                <a:latin typeface="メイリオ" panose="020B0604030504040204" pitchFamily="50" charset="-128"/>
                <a:ea typeface="メイリオ" panose="020B0604030504040204" pitchFamily="50" charset="-128"/>
                <a:cs typeface="Meiryo"/>
                <a:sym typeface="Meiryo"/>
              </a:rPr>
              <a:t>日間のステップ配信構築とユーザビリティの改善が必要に。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図 4">
            <a:extLst>
              <a:ext uri="{FF2B5EF4-FFF2-40B4-BE49-F238E27FC236}">
                <a16:creationId xmlns:a16="http://schemas.microsoft.com/office/drawing/2014/main" id="{599FD372-1931-8AF9-6FBE-007F188CE892}"/>
              </a:ext>
            </a:extLst>
          </p:cNvPr>
          <p:cNvPicPr>
            <a:picLocks noChangeAspect="1"/>
          </p:cNvPicPr>
          <p:nvPr/>
        </p:nvPicPr>
        <p:blipFill>
          <a:blip r:embed="rId2"/>
          <a:stretch>
            <a:fillRect/>
          </a:stretch>
        </p:blipFill>
        <p:spPr>
          <a:xfrm>
            <a:off x="1394710" y="1746287"/>
            <a:ext cx="582602" cy="543237"/>
          </a:xfrm>
          <a:prstGeom prst="rect">
            <a:avLst/>
          </a:prstGeom>
        </p:spPr>
      </p:pic>
      <p:sp>
        <p:nvSpPr>
          <p:cNvPr id="6" name="正方形/長方形 5">
            <a:extLst>
              <a:ext uri="{FF2B5EF4-FFF2-40B4-BE49-F238E27FC236}">
                <a16:creationId xmlns:a16="http://schemas.microsoft.com/office/drawing/2014/main" id="{70DDBD12-962F-75E1-F777-2A8CB1A1A43C}"/>
              </a:ext>
            </a:extLst>
          </p:cNvPr>
          <p:cNvSpPr/>
          <p:nvPr/>
        </p:nvSpPr>
        <p:spPr>
          <a:xfrm>
            <a:off x="2232491" y="1817608"/>
            <a:ext cx="5694068" cy="400594"/>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bg1"/>
                </a:solidFill>
                <a:latin typeface="メイリオ" panose="020B0604030504040204" pitchFamily="50" charset="-128"/>
                <a:ea typeface="メイリオ" panose="020B0604030504040204" pitchFamily="50" charset="-128"/>
              </a:rPr>
              <a:t>公式アカウントを友だち追加！</a:t>
            </a:r>
          </a:p>
        </p:txBody>
      </p:sp>
      <p:sp>
        <p:nvSpPr>
          <p:cNvPr id="16" name="矢印: 下 15">
            <a:extLst>
              <a:ext uri="{FF2B5EF4-FFF2-40B4-BE49-F238E27FC236}">
                <a16:creationId xmlns:a16="http://schemas.microsoft.com/office/drawing/2014/main" id="{96A68A56-39E1-8BAC-2C49-CC19FBEC68F7}"/>
              </a:ext>
            </a:extLst>
          </p:cNvPr>
          <p:cNvSpPr/>
          <p:nvPr/>
        </p:nvSpPr>
        <p:spPr>
          <a:xfrm>
            <a:off x="6666282" y="2317059"/>
            <a:ext cx="470263" cy="1837509"/>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9" name="直線コネクタ 18">
            <a:extLst>
              <a:ext uri="{FF2B5EF4-FFF2-40B4-BE49-F238E27FC236}">
                <a16:creationId xmlns:a16="http://schemas.microsoft.com/office/drawing/2014/main" id="{499B7760-FDC6-B260-9507-F94BFB256854}"/>
              </a:ext>
            </a:extLst>
          </p:cNvPr>
          <p:cNvCxnSpPr>
            <a:cxnSpLocks/>
          </p:cNvCxnSpPr>
          <p:nvPr/>
        </p:nvCxnSpPr>
        <p:spPr>
          <a:xfrm>
            <a:off x="1603884" y="4293068"/>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2" name="矢印: 下 21">
            <a:extLst>
              <a:ext uri="{FF2B5EF4-FFF2-40B4-BE49-F238E27FC236}">
                <a16:creationId xmlns:a16="http://schemas.microsoft.com/office/drawing/2014/main" id="{57EAA642-99EB-D59A-CA2D-CF128F520650}"/>
              </a:ext>
            </a:extLst>
          </p:cNvPr>
          <p:cNvSpPr/>
          <p:nvPr/>
        </p:nvSpPr>
        <p:spPr>
          <a:xfrm>
            <a:off x="6666281" y="4376126"/>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3" name="直線コネクタ 22">
            <a:extLst>
              <a:ext uri="{FF2B5EF4-FFF2-40B4-BE49-F238E27FC236}">
                <a16:creationId xmlns:a16="http://schemas.microsoft.com/office/drawing/2014/main" id="{FC84D888-2F3B-56B2-6D8B-43495766B724}"/>
              </a:ext>
            </a:extLst>
          </p:cNvPr>
          <p:cNvCxnSpPr>
            <a:cxnSpLocks/>
          </p:cNvCxnSpPr>
          <p:nvPr/>
        </p:nvCxnSpPr>
        <p:spPr>
          <a:xfrm>
            <a:off x="1603884" y="5394656"/>
            <a:ext cx="6889823" cy="0"/>
          </a:xfrm>
          <a:prstGeom prst="line">
            <a:avLst/>
          </a:prstGeom>
          <a:ln w="6350">
            <a:solidFill>
              <a:schemeClr val="tx1"/>
            </a:solidFill>
            <a:prstDash val="sysDash"/>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2DDEE958-B9A4-B3B7-0AB5-40E083E922F6}"/>
              </a:ext>
            </a:extLst>
          </p:cNvPr>
          <p:cNvSpPr txBox="1"/>
          <p:nvPr/>
        </p:nvSpPr>
        <p:spPr>
          <a:xfrm>
            <a:off x="887729" y="4154568"/>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15</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29" name="テキスト ボックス 28">
            <a:extLst>
              <a:ext uri="{FF2B5EF4-FFF2-40B4-BE49-F238E27FC236}">
                <a16:creationId xmlns:a16="http://schemas.microsoft.com/office/drawing/2014/main" id="{99B2BE93-6AC1-B592-319F-2D44EB64DCDF}"/>
              </a:ext>
            </a:extLst>
          </p:cNvPr>
          <p:cNvSpPr txBox="1"/>
          <p:nvPr/>
        </p:nvSpPr>
        <p:spPr>
          <a:xfrm>
            <a:off x="887729" y="5258075"/>
            <a:ext cx="4963884" cy="276999"/>
          </a:xfrm>
          <a:prstGeom prst="rect">
            <a:avLst/>
          </a:prstGeom>
          <a:noFill/>
        </p:spPr>
        <p:txBody>
          <a:bodyPr wrap="square">
            <a:spAutoFit/>
          </a:bodyPr>
          <a:lstStyle/>
          <a:p>
            <a:r>
              <a:rPr lang="en-US" altLang="ja-JP" sz="1200" b="1" dirty="0">
                <a:latin typeface="メイリオ" panose="020B0604030504040204" pitchFamily="50" charset="-128"/>
                <a:ea typeface="メイリオ" panose="020B0604030504040204" pitchFamily="50" charset="-128"/>
                <a:cs typeface="Meiryo"/>
                <a:sym typeface="Meiryo"/>
              </a:rPr>
              <a:t>30</a:t>
            </a:r>
            <a:r>
              <a:rPr lang="ja-JP" altLang="en-US" sz="1200" b="1" dirty="0">
                <a:latin typeface="メイリオ" panose="020B0604030504040204" pitchFamily="50" charset="-128"/>
                <a:ea typeface="メイリオ" panose="020B0604030504040204" pitchFamily="50" charset="-128"/>
                <a:cs typeface="Meiryo"/>
                <a:sym typeface="Meiryo"/>
              </a:rPr>
              <a:t>日後</a:t>
            </a:r>
            <a:endParaRPr lang="ja-JP" altLang="en-US" sz="1200" dirty="0"/>
          </a:p>
        </p:txBody>
      </p:sp>
      <p:sp>
        <p:nvSpPr>
          <p:cNvPr id="32" name="矢印: 下 31">
            <a:extLst>
              <a:ext uri="{FF2B5EF4-FFF2-40B4-BE49-F238E27FC236}">
                <a16:creationId xmlns:a16="http://schemas.microsoft.com/office/drawing/2014/main" id="{F0BAD90B-19DF-C716-880C-57948735A10E}"/>
              </a:ext>
            </a:extLst>
          </p:cNvPr>
          <p:cNvSpPr/>
          <p:nvPr/>
        </p:nvSpPr>
        <p:spPr>
          <a:xfrm>
            <a:off x="6666281" y="5477713"/>
            <a:ext cx="470263" cy="880030"/>
          </a:xfrm>
          <a:prstGeom prst="downArrow">
            <a:avLst>
              <a:gd name="adj1" fmla="val 50000"/>
              <a:gd name="adj2" fmla="val 110764"/>
            </a:avLst>
          </a:prstGeom>
          <a:gradFill>
            <a:gsLst>
              <a:gs pos="0">
                <a:srgbClr val="04FA0A"/>
              </a:gs>
              <a:gs pos="100000">
                <a:schemeClr val="bg1"/>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直角三角形 32">
            <a:extLst>
              <a:ext uri="{FF2B5EF4-FFF2-40B4-BE49-F238E27FC236}">
                <a16:creationId xmlns:a16="http://schemas.microsoft.com/office/drawing/2014/main" id="{21D9755D-523C-2A6A-B045-29C102846ABF}"/>
              </a:ext>
            </a:extLst>
          </p:cNvPr>
          <p:cNvSpPr/>
          <p:nvPr/>
        </p:nvSpPr>
        <p:spPr>
          <a:xfrm flipV="1">
            <a:off x="7837714" y="2289524"/>
            <a:ext cx="1244098" cy="3105132"/>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38" name="テキスト ボックス 37">
            <a:extLst>
              <a:ext uri="{FF2B5EF4-FFF2-40B4-BE49-F238E27FC236}">
                <a16:creationId xmlns:a16="http://schemas.microsoft.com/office/drawing/2014/main" id="{D6796F30-9C92-1751-9461-7D96ED3FD472}"/>
              </a:ext>
            </a:extLst>
          </p:cNvPr>
          <p:cNvSpPr txBox="1"/>
          <p:nvPr/>
        </p:nvSpPr>
        <p:spPr>
          <a:xfrm>
            <a:off x="7376370" y="2507385"/>
            <a:ext cx="2104595"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rPr>
              <a:t>アクティブ率：高</a:t>
            </a:r>
          </a:p>
        </p:txBody>
      </p:sp>
      <p:sp>
        <p:nvSpPr>
          <p:cNvPr id="45" name="直角三角形 44">
            <a:extLst>
              <a:ext uri="{FF2B5EF4-FFF2-40B4-BE49-F238E27FC236}">
                <a16:creationId xmlns:a16="http://schemas.microsoft.com/office/drawing/2014/main" id="{70153691-BF19-7E23-69C7-A1735ED95D0B}"/>
              </a:ext>
            </a:extLst>
          </p:cNvPr>
          <p:cNvSpPr/>
          <p:nvPr/>
        </p:nvSpPr>
        <p:spPr>
          <a:xfrm flipV="1">
            <a:off x="7837713" y="5403361"/>
            <a:ext cx="399367" cy="946289"/>
          </a:xfrm>
          <a:prstGeom prst="rtTriangle">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ja-JP" altLang="en-US" dirty="0">
              <a:solidFill>
                <a:srgbClr val="FF0000"/>
              </a:solidFill>
            </a:endParaRPr>
          </a:p>
        </p:txBody>
      </p:sp>
      <p:sp>
        <p:nvSpPr>
          <p:cNvPr id="49" name="テキスト ボックス 48">
            <a:extLst>
              <a:ext uri="{FF2B5EF4-FFF2-40B4-BE49-F238E27FC236}">
                <a16:creationId xmlns:a16="http://schemas.microsoft.com/office/drawing/2014/main" id="{39E95A0F-F089-7BBE-05C6-60749997D8B5}"/>
              </a:ext>
            </a:extLst>
          </p:cNvPr>
          <p:cNvSpPr txBox="1"/>
          <p:nvPr/>
        </p:nvSpPr>
        <p:spPr>
          <a:xfrm>
            <a:off x="7376370" y="4777647"/>
            <a:ext cx="2104595" cy="261610"/>
          </a:xfrm>
          <a:prstGeom prst="rect">
            <a:avLst/>
          </a:prstGeom>
          <a:noFill/>
        </p:spPr>
        <p:txBody>
          <a:bodyPr wrap="square">
            <a:spAutoFit/>
          </a:bodyPr>
          <a:lstStyle/>
          <a:p>
            <a:pPr algn="ctr"/>
            <a:r>
              <a:rPr lang="ja-JP" altLang="en-US" sz="1050" dirty="0">
                <a:solidFill>
                  <a:srgbClr val="FF0000"/>
                </a:solidFill>
                <a:latin typeface="メイリオ" panose="020B0604030504040204" pitchFamily="50" charset="-128"/>
                <a:ea typeface="メイリオ" panose="020B0604030504040204" pitchFamily="50" charset="-128"/>
              </a:rPr>
              <a:t>アクティブ率：低</a:t>
            </a:r>
          </a:p>
        </p:txBody>
      </p:sp>
      <p:sp>
        <p:nvSpPr>
          <p:cNvPr id="51" name="正方形/長方形 50">
            <a:extLst>
              <a:ext uri="{FF2B5EF4-FFF2-40B4-BE49-F238E27FC236}">
                <a16:creationId xmlns:a16="http://schemas.microsoft.com/office/drawing/2014/main" id="{6E8EECEE-A26C-FE65-851C-D89DA2943DDA}"/>
              </a:ext>
            </a:extLst>
          </p:cNvPr>
          <p:cNvSpPr/>
          <p:nvPr/>
        </p:nvSpPr>
        <p:spPr>
          <a:xfrm>
            <a:off x="4822206" y="3086837"/>
            <a:ext cx="1730575"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ステップ配信</a:t>
            </a:r>
          </a:p>
        </p:txBody>
      </p:sp>
      <p:sp>
        <p:nvSpPr>
          <p:cNvPr id="53" name="正方形/長方形 52">
            <a:extLst>
              <a:ext uri="{FF2B5EF4-FFF2-40B4-BE49-F238E27FC236}">
                <a16:creationId xmlns:a16="http://schemas.microsoft.com/office/drawing/2014/main" id="{81454DD3-4503-BFE5-0C14-038581D067FE}"/>
              </a:ext>
            </a:extLst>
          </p:cNvPr>
          <p:cNvSpPr/>
          <p:nvPr/>
        </p:nvSpPr>
        <p:spPr>
          <a:xfrm>
            <a:off x="2232491" y="2685169"/>
            <a:ext cx="4334226" cy="283553"/>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アンケート</a:t>
            </a:r>
          </a:p>
        </p:txBody>
      </p:sp>
      <p:sp>
        <p:nvSpPr>
          <p:cNvPr id="55" name="正方形/長方形 54">
            <a:extLst>
              <a:ext uri="{FF2B5EF4-FFF2-40B4-BE49-F238E27FC236}">
                <a16:creationId xmlns:a16="http://schemas.microsoft.com/office/drawing/2014/main" id="{50620861-661B-61FD-CF03-A1B419A375AE}"/>
              </a:ext>
            </a:extLst>
          </p:cNvPr>
          <p:cNvSpPr/>
          <p:nvPr/>
        </p:nvSpPr>
        <p:spPr>
          <a:xfrm>
            <a:off x="2232491" y="3086838"/>
            <a:ext cx="2504972" cy="2173142"/>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メイリオ" panose="020B0604030504040204" pitchFamily="50" charset="-128"/>
                <a:ea typeface="メイリオ" panose="020B0604030504040204" pitchFamily="50" charset="-128"/>
              </a:rPr>
              <a:t>企画配信</a:t>
            </a:r>
          </a:p>
        </p:txBody>
      </p:sp>
      <p:sp>
        <p:nvSpPr>
          <p:cNvPr id="57" name="正方形/長方形 56">
            <a:extLst>
              <a:ext uri="{FF2B5EF4-FFF2-40B4-BE49-F238E27FC236}">
                <a16:creationId xmlns:a16="http://schemas.microsoft.com/office/drawing/2014/main" id="{4459A76C-C890-8CC0-17D9-2EF08525C001}"/>
              </a:ext>
            </a:extLst>
          </p:cNvPr>
          <p:cNvSpPr/>
          <p:nvPr/>
        </p:nvSpPr>
        <p:spPr>
          <a:xfrm>
            <a:off x="2232491" y="5442735"/>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solidFill>
                <a:latin typeface="メイリオ" panose="020B0604030504040204" pitchFamily="50" charset="-128"/>
                <a:ea typeface="メイリオ" panose="020B0604030504040204" pitchFamily="50" charset="-128"/>
              </a:rPr>
              <a:t>モーメント配信</a:t>
            </a:r>
          </a:p>
        </p:txBody>
      </p:sp>
      <p:sp>
        <p:nvSpPr>
          <p:cNvPr id="65" name="正方形/長方形 64">
            <a:extLst>
              <a:ext uri="{FF2B5EF4-FFF2-40B4-BE49-F238E27FC236}">
                <a16:creationId xmlns:a16="http://schemas.microsoft.com/office/drawing/2014/main" id="{A8F1D398-BD32-DDD8-1642-E52C2B235BA4}"/>
              </a:ext>
            </a:extLst>
          </p:cNvPr>
          <p:cNvSpPr/>
          <p:nvPr/>
        </p:nvSpPr>
        <p:spPr>
          <a:xfrm>
            <a:off x="2232491" y="2302562"/>
            <a:ext cx="4334226" cy="334529"/>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FF0000"/>
                </a:solidFill>
                <a:latin typeface="メイリオ" panose="020B0604030504040204" pitchFamily="50" charset="-128"/>
                <a:ea typeface="メイリオ" panose="020B0604030504040204" pitchFamily="50" charset="-128"/>
              </a:rPr>
              <a:t>挨拶メッセージ・リッチメニュー</a:t>
            </a:r>
          </a:p>
        </p:txBody>
      </p:sp>
      <p:sp>
        <p:nvSpPr>
          <p:cNvPr id="67" name="正方形/長方形 66">
            <a:extLst>
              <a:ext uri="{FF2B5EF4-FFF2-40B4-BE49-F238E27FC236}">
                <a16:creationId xmlns:a16="http://schemas.microsoft.com/office/drawing/2014/main" id="{F991B595-167D-EE44-3530-4DCE8C7B208F}"/>
              </a:ext>
            </a:extLst>
          </p:cNvPr>
          <p:cNvSpPr/>
          <p:nvPr/>
        </p:nvSpPr>
        <p:spPr>
          <a:xfrm>
            <a:off x="4822207" y="5838470"/>
            <a:ext cx="1744510"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75" name="正方形/長方形 74">
            <a:extLst>
              <a:ext uri="{FF2B5EF4-FFF2-40B4-BE49-F238E27FC236}">
                <a16:creationId xmlns:a16="http://schemas.microsoft.com/office/drawing/2014/main" id="{16B28472-CB01-9D89-509B-26D59B4BA089}"/>
              </a:ext>
            </a:extLst>
          </p:cNvPr>
          <p:cNvSpPr/>
          <p:nvPr/>
        </p:nvSpPr>
        <p:spPr>
          <a:xfrm>
            <a:off x="2232491" y="5838471"/>
            <a:ext cx="2504972" cy="489785"/>
          </a:xfrm>
          <a:prstGeom prst="rect">
            <a:avLst/>
          </a:prstGeom>
          <a:solidFill>
            <a:schemeClr val="bg1">
              <a:lumMod val="95000"/>
            </a:schemeClr>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81" name="正方形/長方形 80">
            <a:extLst>
              <a:ext uri="{FF2B5EF4-FFF2-40B4-BE49-F238E27FC236}">
                <a16:creationId xmlns:a16="http://schemas.microsoft.com/office/drawing/2014/main" id="{A5ED7B27-E5A3-1AD6-2F12-1265E4591B60}"/>
              </a:ext>
            </a:extLst>
          </p:cNvPr>
          <p:cNvSpPr/>
          <p:nvPr/>
        </p:nvSpPr>
        <p:spPr>
          <a:xfrm>
            <a:off x="115726" y="6285606"/>
            <a:ext cx="7578805" cy="99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2484261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C836A-F13C-1973-53EF-92ADF9F85FF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A8856EBE-32D8-42F5-9D61-C53BF60EF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施策展開図</a:t>
            </a:r>
          </a:p>
        </p:txBody>
      </p:sp>
      <p:sp>
        <p:nvSpPr>
          <p:cNvPr id="9" name="正方形/長方形 8">
            <a:extLst>
              <a:ext uri="{FF2B5EF4-FFF2-40B4-BE49-F238E27FC236}">
                <a16:creationId xmlns:a16="http://schemas.microsoft.com/office/drawing/2014/main" id="{A6340BD7-9269-59A1-EA69-7426F07778B6}"/>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7C701305-F75E-4087-21C2-FA3CCCA8FB67}"/>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LINEOA</a:t>
            </a:r>
            <a:r>
              <a:rPr lang="ja-JP" altLang="en-US" sz="1600" b="1" dirty="0">
                <a:latin typeface="メイリオ" panose="020B0604030504040204" pitchFamily="50" charset="-128"/>
                <a:ea typeface="メイリオ" panose="020B0604030504040204" pitchFamily="50" charset="-128"/>
                <a:cs typeface="Meiryo"/>
                <a:sym typeface="Meiryo"/>
              </a:rPr>
              <a:t>施策は、</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友だちの新規追加</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と</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友だちの育成・</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着地</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の動線が重要。</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企画投稿（毎月）とステップ配信（定常的に運営）を組み合わせて最適動線に。</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5" name="正方形/長方形 24">
            <a:extLst>
              <a:ext uri="{FF2B5EF4-FFF2-40B4-BE49-F238E27FC236}">
                <a16:creationId xmlns:a16="http://schemas.microsoft.com/office/drawing/2014/main" id="{1A40E6EC-1B5E-5E46-EF89-1167C08649BA}"/>
              </a:ext>
            </a:extLst>
          </p:cNvPr>
          <p:cNvSpPr/>
          <p:nvPr/>
        </p:nvSpPr>
        <p:spPr>
          <a:xfrm>
            <a:off x="963202" y="3662763"/>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友だち追加後</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1" name="図 30">
            <a:extLst>
              <a:ext uri="{FF2B5EF4-FFF2-40B4-BE49-F238E27FC236}">
                <a16:creationId xmlns:a16="http://schemas.microsoft.com/office/drawing/2014/main" id="{2FE26F6B-D35B-6A6B-42D2-794437452752}"/>
              </a:ext>
            </a:extLst>
          </p:cNvPr>
          <p:cNvPicPr>
            <a:picLocks noChangeAspect="1"/>
          </p:cNvPicPr>
          <p:nvPr/>
        </p:nvPicPr>
        <p:blipFill>
          <a:blip r:embed="rId2"/>
          <a:stretch>
            <a:fillRect/>
          </a:stretch>
        </p:blipFill>
        <p:spPr>
          <a:xfrm>
            <a:off x="776401" y="3566663"/>
            <a:ext cx="582602" cy="543237"/>
          </a:xfrm>
          <a:prstGeom prst="rect">
            <a:avLst/>
          </a:prstGeom>
        </p:spPr>
      </p:pic>
      <p:sp>
        <p:nvSpPr>
          <p:cNvPr id="34" name="正方形/長方形 33">
            <a:extLst>
              <a:ext uri="{FF2B5EF4-FFF2-40B4-BE49-F238E27FC236}">
                <a16:creationId xmlns:a16="http://schemas.microsoft.com/office/drawing/2014/main" id="{39403F1B-B20A-C75C-8FCB-74AAD1581A2F}"/>
              </a:ext>
            </a:extLst>
          </p:cNvPr>
          <p:cNvSpPr/>
          <p:nvPr/>
        </p:nvSpPr>
        <p:spPr>
          <a:xfrm>
            <a:off x="686977" y="2019915"/>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LP</a:t>
            </a:r>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a:t>
            </a:r>
            <a:r>
              <a:rPr kumimoji="1" lang="en-US" altLang="ja-JP" sz="1050" b="1" dirty="0">
                <a:solidFill>
                  <a:schemeClr val="tx1">
                    <a:lumMod val="65000"/>
                    <a:lumOff val="35000"/>
                  </a:schemeClr>
                </a:solidFill>
                <a:latin typeface="メイリオ" panose="020B0604030504040204" pitchFamily="50" charset="-128"/>
                <a:ea typeface="メイリオ" panose="020B0604030504040204" pitchFamily="50" charset="-128"/>
              </a:rPr>
              <a:t>HP</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35" name="図 34" descr="lpデザインイラスト｜無料イラスト・フリー素材なら「イラストAC」">
            <a:extLst>
              <a:ext uri="{FF2B5EF4-FFF2-40B4-BE49-F238E27FC236}">
                <a16:creationId xmlns:a16="http://schemas.microsoft.com/office/drawing/2014/main" id="{EA2CF7EC-851A-10FF-17B6-E422C43BD10B}"/>
              </a:ext>
            </a:extLst>
          </p:cNvPr>
          <p:cNvPicPr>
            <a:picLocks noChangeAspect="1"/>
          </p:cNvPicPr>
          <p:nvPr/>
        </p:nvPicPr>
        <p:blipFill>
          <a:blip r:embed="rId3"/>
          <a:stretch>
            <a:fillRect/>
          </a:stretch>
        </p:blipFill>
        <p:spPr>
          <a:xfrm>
            <a:off x="272658" y="1875286"/>
            <a:ext cx="853665" cy="640720"/>
          </a:xfrm>
          <a:prstGeom prst="rect">
            <a:avLst/>
          </a:prstGeom>
        </p:spPr>
      </p:pic>
      <p:sp>
        <p:nvSpPr>
          <p:cNvPr id="40" name="矢印: 下 39">
            <a:extLst>
              <a:ext uri="{FF2B5EF4-FFF2-40B4-BE49-F238E27FC236}">
                <a16:creationId xmlns:a16="http://schemas.microsoft.com/office/drawing/2014/main" id="{0D54B1A9-3944-66DE-F219-BB4192EDE144}"/>
              </a:ext>
            </a:extLst>
          </p:cNvPr>
          <p:cNvSpPr/>
          <p:nvPr/>
        </p:nvSpPr>
        <p:spPr>
          <a:xfrm>
            <a:off x="3290805"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矢印: 下 40">
            <a:extLst>
              <a:ext uri="{FF2B5EF4-FFF2-40B4-BE49-F238E27FC236}">
                <a16:creationId xmlns:a16="http://schemas.microsoft.com/office/drawing/2014/main" id="{781A5984-3599-DC05-2E88-6BB61F188EB3}"/>
              </a:ext>
            </a:extLst>
          </p:cNvPr>
          <p:cNvSpPr/>
          <p:nvPr/>
        </p:nvSpPr>
        <p:spPr>
          <a:xfrm>
            <a:off x="5657443" y="3630924"/>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2" name="矢印: 下 41">
            <a:extLst>
              <a:ext uri="{FF2B5EF4-FFF2-40B4-BE49-F238E27FC236}">
                <a16:creationId xmlns:a16="http://schemas.microsoft.com/office/drawing/2014/main" id="{1C76D7C3-BFEE-8DA3-57FA-033BD7E35285}"/>
              </a:ext>
            </a:extLst>
          </p:cNvPr>
          <p:cNvSpPr/>
          <p:nvPr/>
        </p:nvSpPr>
        <p:spPr>
          <a:xfrm>
            <a:off x="5657443" y="201991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矢印: 下 42">
            <a:extLst>
              <a:ext uri="{FF2B5EF4-FFF2-40B4-BE49-F238E27FC236}">
                <a16:creationId xmlns:a16="http://schemas.microsoft.com/office/drawing/2014/main" id="{4E9F9DC2-BA49-A440-DA89-D45BC9E52C3A}"/>
              </a:ext>
            </a:extLst>
          </p:cNvPr>
          <p:cNvSpPr/>
          <p:nvPr/>
        </p:nvSpPr>
        <p:spPr>
          <a:xfrm>
            <a:off x="3290805" y="5241933"/>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4" name="矢印: 下 43">
            <a:extLst>
              <a:ext uri="{FF2B5EF4-FFF2-40B4-BE49-F238E27FC236}">
                <a16:creationId xmlns:a16="http://schemas.microsoft.com/office/drawing/2014/main" id="{6915D3B6-2B4C-5707-CB40-2696B722BA40}"/>
              </a:ext>
            </a:extLst>
          </p:cNvPr>
          <p:cNvSpPr/>
          <p:nvPr/>
        </p:nvSpPr>
        <p:spPr>
          <a:xfrm>
            <a:off x="5657443" y="5241933"/>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正方形/長方形 45">
            <a:extLst>
              <a:ext uri="{FF2B5EF4-FFF2-40B4-BE49-F238E27FC236}">
                <a16:creationId xmlns:a16="http://schemas.microsoft.com/office/drawing/2014/main" id="{D988BB36-5119-99B1-DF59-D4B80D30745C}"/>
              </a:ext>
            </a:extLst>
          </p:cNvPr>
          <p:cNvSpPr/>
          <p:nvPr/>
        </p:nvSpPr>
        <p:spPr>
          <a:xfrm>
            <a:off x="963202" y="5305611"/>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　具体アクション</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pic>
        <p:nvPicPr>
          <p:cNvPr id="48" name="図 47">
            <a:extLst>
              <a:ext uri="{FF2B5EF4-FFF2-40B4-BE49-F238E27FC236}">
                <a16:creationId xmlns:a16="http://schemas.microsoft.com/office/drawing/2014/main" id="{FE05BA15-FE69-7259-F5B1-7935A92DDFC1}"/>
              </a:ext>
            </a:extLst>
          </p:cNvPr>
          <p:cNvPicPr>
            <a:picLocks noChangeAspect="1"/>
          </p:cNvPicPr>
          <p:nvPr/>
        </p:nvPicPr>
        <p:blipFill>
          <a:blip r:embed="rId2"/>
          <a:stretch>
            <a:fillRect/>
          </a:stretch>
        </p:blipFill>
        <p:spPr>
          <a:xfrm>
            <a:off x="776401" y="5203250"/>
            <a:ext cx="582602" cy="543237"/>
          </a:xfrm>
          <a:prstGeom prst="rect">
            <a:avLst/>
          </a:prstGeom>
        </p:spPr>
      </p:pic>
      <p:sp>
        <p:nvSpPr>
          <p:cNvPr id="68" name="矢印: 下 67">
            <a:extLst>
              <a:ext uri="{FF2B5EF4-FFF2-40B4-BE49-F238E27FC236}">
                <a16:creationId xmlns:a16="http://schemas.microsoft.com/office/drawing/2014/main" id="{552BBE13-4EF3-7D14-9401-EE47B669E0A1}"/>
              </a:ext>
            </a:extLst>
          </p:cNvPr>
          <p:cNvSpPr/>
          <p:nvPr/>
        </p:nvSpPr>
        <p:spPr>
          <a:xfrm>
            <a:off x="8023941" y="3630924"/>
            <a:ext cx="792480" cy="1246418"/>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矢印: 下 68">
            <a:extLst>
              <a:ext uri="{FF2B5EF4-FFF2-40B4-BE49-F238E27FC236}">
                <a16:creationId xmlns:a16="http://schemas.microsoft.com/office/drawing/2014/main" id="{1CE2AD45-B81D-8C9E-9BEA-EE8F41408D09}"/>
              </a:ext>
            </a:extLst>
          </p:cNvPr>
          <p:cNvSpPr/>
          <p:nvPr/>
        </p:nvSpPr>
        <p:spPr>
          <a:xfrm>
            <a:off x="8023941" y="5241933"/>
            <a:ext cx="792480" cy="1246418"/>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0" name="矢印: 下 69">
            <a:extLst>
              <a:ext uri="{FF2B5EF4-FFF2-40B4-BE49-F238E27FC236}">
                <a16:creationId xmlns:a16="http://schemas.microsoft.com/office/drawing/2014/main" id="{841F38E6-682B-0593-E7F1-B970924D2312}"/>
              </a:ext>
            </a:extLst>
          </p:cNvPr>
          <p:cNvSpPr/>
          <p:nvPr/>
        </p:nvSpPr>
        <p:spPr>
          <a:xfrm>
            <a:off x="8007886" y="2028495"/>
            <a:ext cx="792480" cy="1246418"/>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正方形/長方形 71">
            <a:extLst>
              <a:ext uri="{FF2B5EF4-FFF2-40B4-BE49-F238E27FC236}">
                <a16:creationId xmlns:a16="http://schemas.microsoft.com/office/drawing/2014/main" id="{EB9A5047-E824-A278-1DE7-38BCB5F653E4}"/>
              </a:ext>
            </a:extLst>
          </p:cNvPr>
          <p:cNvSpPr/>
          <p:nvPr/>
        </p:nvSpPr>
        <p:spPr>
          <a:xfrm>
            <a:off x="2835604" y="2013850"/>
            <a:ext cx="1706880" cy="338514"/>
          </a:xfrm>
          <a:prstGeom prst="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その他動線</a:t>
            </a:r>
            <a:endPar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endParaRPr>
          </a:p>
        </p:txBody>
      </p:sp>
      <p:grpSp>
        <p:nvGrpSpPr>
          <p:cNvPr id="18" name="グループ化 17">
            <a:extLst>
              <a:ext uri="{FF2B5EF4-FFF2-40B4-BE49-F238E27FC236}">
                <a16:creationId xmlns:a16="http://schemas.microsoft.com/office/drawing/2014/main" id="{D0BB931D-9C48-0F74-78B7-B39FB7567FB3}"/>
              </a:ext>
            </a:extLst>
          </p:cNvPr>
          <p:cNvGrpSpPr/>
          <p:nvPr/>
        </p:nvGrpSpPr>
        <p:grpSpPr>
          <a:xfrm>
            <a:off x="2497445" y="1791214"/>
            <a:ext cx="885030" cy="827297"/>
            <a:chOff x="2497445" y="1791214"/>
            <a:chExt cx="885030" cy="827297"/>
          </a:xfrm>
        </p:grpSpPr>
        <p:pic>
          <p:nvPicPr>
            <p:cNvPr id="73" name="図 72">
              <a:extLst>
                <a:ext uri="{FF2B5EF4-FFF2-40B4-BE49-F238E27FC236}">
                  <a16:creationId xmlns:a16="http://schemas.microsoft.com/office/drawing/2014/main" id="{95316F7A-1FC1-3A66-5456-79F5F636388C}"/>
                </a:ext>
              </a:extLst>
            </p:cNvPr>
            <p:cNvPicPr>
              <a:picLocks noChangeAspect="1"/>
            </p:cNvPicPr>
            <p:nvPr/>
          </p:nvPicPr>
          <p:blipFill>
            <a:blip r:embed="rId4"/>
            <a:stretch>
              <a:fillRect/>
            </a:stretch>
          </p:blipFill>
          <p:spPr>
            <a:xfrm>
              <a:off x="2497445" y="1791214"/>
              <a:ext cx="420559" cy="556499"/>
            </a:xfrm>
            <a:prstGeom prst="rect">
              <a:avLst/>
            </a:prstGeom>
          </p:spPr>
        </p:pic>
        <p:pic>
          <p:nvPicPr>
            <p:cNvPr id="74" name="図 73" descr="生活・その他】SNSとスマホのかわいいフリーイラスト | フタバのフリーイラスト">
              <a:extLst>
                <a:ext uri="{FF2B5EF4-FFF2-40B4-BE49-F238E27FC236}">
                  <a16:creationId xmlns:a16="http://schemas.microsoft.com/office/drawing/2014/main" id="{425A3C52-3D63-0CC5-2649-471F74876F03}"/>
                </a:ext>
              </a:extLst>
            </p:cNvPr>
            <p:cNvPicPr>
              <a:picLocks noChangeAspect="1"/>
            </p:cNvPicPr>
            <p:nvPr/>
          </p:nvPicPr>
          <p:blipFill>
            <a:blip r:embed="rId5"/>
            <a:stretch>
              <a:fillRect/>
            </a:stretch>
          </p:blipFill>
          <p:spPr>
            <a:xfrm>
              <a:off x="2610493" y="1846529"/>
              <a:ext cx="771982" cy="771982"/>
            </a:xfrm>
            <a:prstGeom prst="rect">
              <a:avLst/>
            </a:prstGeom>
          </p:spPr>
        </p:pic>
      </p:grpSp>
      <p:sp>
        <p:nvSpPr>
          <p:cNvPr id="76" name="テキスト ボックス 75">
            <a:extLst>
              <a:ext uri="{FF2B5EF4-FFF2-40B4-BE49-F238E27FC236}">
                <a16:creationId xmlns:a16="http://schemas.microsoft.com/office/drawing/2014/main" id="{A26D9D0D-8E50-52D9-7E65-8B19393671D2}"/>
              </a:ext>
            </a:extLst>
          </p:cNvPr>
          <p:cNvSpPr txBox="1"/>
          <p:nvPr/>
        </p:nvSpPr>
        <p:spPr>
          <a:xfrm>
            <a:off x="4820619" y="2013850"/>
            <a:ext cx="2466126"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◯LINE友だち追加によるメリット提示</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✓デジタルパンフ　✓OC優先予約</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◯LINE上でのコミュニケーション誘導</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✓LINEで学部診断　✓LINEでOC予約</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77" name="テキスト ボックス 76">
            <a:extLst>
              <a:ext uri="{FF2B5EF4-FFF2-40B4-BE49-F238E27FC236}">
                <a16:creationId xmlns:a16="http://schemas.microsoft.com/office/drawing/2014/main" id="{CFFD44FF-E632-A42A-AFD2-C978D5EB4382}"/>
              </a:ext>
            </a:extLst>
          </p:cNvPr>
          <p:cNvSpPr txBox="1"/>
          <p:nvPr/>
        </p:nvSpPr>
        <p:spPr>
          <a:xfrm>
            <a:off x="7498219" y="2013850"/>
            <a:ext cx="1852837"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でのナーチャリング</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✓アンケート回答</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で診断</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✓おすすめプランの提示</a:t>
            </a:r>
            <a:endParaRPr lang="ja-JP" altLang="en-US" sz="1000" dirty="0">
              <a:solidFill>
                <a:schemeClr val="bg1">
                  <a:lumMod val="50000"/>
                </a:schemeClr>
              </a:solidFill>
            </a:endParaRPr>
          </a:p>
        </p:txBody>
      </p:sp>
      <p:sp>
        <p:nvSpPr>
          <p:cNvPr id="78" name="テキスト ボックス 77">
            <a:extLst>
              <a:ext uri="{FF2B5EF4-FFF2-40B4-BE49-F238E27FC236}">
                <a16:creationId xmlns:a16="http://schemas.microsoft.com/office/drawing/2014/main" id="{2A92B9D2-AE81-B8F1-2775-9BABDBB2FB72}"/>
              </a:ext>
            </a:extLst>
          </p:cNvPr>
          <p:cNvSpPr txBox="1"/>
          <p:nvPr/>
        </p:nvSpPr>
        <p:spPr>
          <a:xfrm>
            <a:off x="4820619" y="3575596"/>
            <a:ext cx="2466126"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◯企画投稿</a:t>
            </a: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（月間投稿数）</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✓〇〇の季節、〇〇の日にちなんだ</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年齢→目的・悩み、よくある不安</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アンケ回答例→学習コンテンツ</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79" name="テキスト ボックス 78">
            <a:extLst>
              <a:ext uri="{FF2B5EF4-FFF2-40B4-BE49-F238E27FC236}">
                <a16:creationId xmlns:a16="http://schemas.microsoft.com/office/drawing/2014/main" id="{3F5D2439-D550-34BB-53D6-091E9B32BF3C}"/>
              </a:ext>
            </a:extLst>
          </p:cNvPr>
          <p:cNvSpPr txBox="1"/>
          <p:nvPr/>
        </p:nvSpPr>
        <p:spPr>
          <a:xfrm>
            <a:off x="7303671" y="3575596"/>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✓友だち追加後◯日で</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（前後検索ニーズを調査）</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✓学習が進行する導線設計</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特典等</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興味</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共感</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信頼</a:t>
            </a:r>
            <a:r>
              <a:rPr lang="en-US" altLang="ja-JP" sz="900" dirty="0">
                <a:solidFill>
                  <a:schemeClr val="bg1">
                    <a:lumMod val="50000"/>
                  </a:schemeClr>
                </a:solidFill>
                <a:latin typeface="メイリオ" panose="020B0604030504040204" pitchFamily="50" charset="-128"/>
                <a:ea typeface="メイリオ" panose="020B0604030504040204" pitchFamily="50" charset="-128"/>
                <a:sym typeface="Meiryo"/>
              </a:rPr>
              <a:t>&gt;</a:t>
            </a:r>
            <a:r>
              <a:rPr lang="ja-JP" altLang="en-US" sz="900" dirty="0">
                <a:solidFill>
                  <a:schemeClr val="bg1">
                    <a:lumMod val="50000"/>
                  </a:schemeClr>
                </a:solidFill>
                <a:latin typeface="メイリオ" panose="020B0604030504040204" pitchFamily="50" charset="-128"/>
                <a:ea typeface="メイリオ" panose="020B0604030504040204" pitchFamily="50" charset="-128"/>
                <a:sym typeface="Meiryo"/>
              </a:rPr>
              <a:t>オファー</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a:t>
            </a:r>
          </a:p>
        </p:txBody>
      </p:sp>
      <p:sp>
        <p:nvSpPr>
          <p:cNvPr id="82" name="テキスト ボックス 81">
            <a:extLst>
              <a:ext uri="{FF2B5EF4-FFF2-40B4-BE49-F238E27FC236}">
                <a16:creationId xmlns:a16="http://schemas.microsoft.com/office/drawing/2014/main" id="{F966D387-7E84-4F68-9C81-89F870210C79}"/>
              </a:ext>
            </a:extLst>
          </p:cNvPr>
          <p:cNvSpPr txBox="1"/>
          <p:nvPr/>
        </p:nvSpPr>
        <p:spPr>
          <a:xfrm>
            <a:off x="2772451" y="3575596"/>
            <a:ext cx="1852837" cy="1015663"/>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◯あいさつメッセージ</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情報収集</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solidFill>
                  <a:srgbClr val="FF0000"/>
                </a:solidFill>
                <a:latin typeface="メイリオ" panose="020B0604030504040204" pitchFamily="50" charset="-128"/>
                <a:ea typeface="メイリオ" panose="020B0604030504040204" pitchFamily="50" charset="-128"/>
                <a:cs typeface="Meiryo"/>
                <a:sym typeface="Meiryo"/>
              </a:rPr>
              <a:t>配信セグメントに活用</a:t>
            </a:r>
            <a:endParaRPr lang="en-US" altLang="ja-JP" sz="1000" b="1" dirty="0">
              <a:solidFill>
                <a:srgbClr val="FF0000"/>
              </a:solidFill>
              <a:latin typeface="メイリオ" panose="020B0604030504040204" pitchFamily="50" charset="-128"/>
              <a:ea typeface="メイリオ" panose="020B0604030504040204" pitchFamily="50" charset="-128"/>
              <a:cs typeface="Meiryo"/>
              <a:sym typeface="Meiryo"/>
            </a:endParaRPr>
          </a:p>
          <a:p>
            <a:pPr algn="ct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◯プロフ・リッチメニュー</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sp>
        <p:nvSpPr>
          <p:cNvPr id="83" name="テキスト ボックス 82">
            <a:extLst>
              <a:ext uri="{FF2B5EF4-FFF2-40B4-BE49-F238E27FC236}">
                <a16:creationId xmlns:a16="http://schemas.microsoft.com/office/drawing/2014/main" id="{DCCA9A41-7AF8-A7E5-C05D-3CCE4D53D056}"/>
              </a:ext>
            </a:extLst>
          </p:cNvPr>
          <p:cNvSpPr txBox="1"/>
          <p:nvPr/>
        </p:nvSpPr>
        <p:spPr>
          <a:xfrm>
            <a:off x="7493762" y="5192489"/>
            <a:ext cx="1852837" cy="969496"/>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アフター</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フォロー</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✓よくある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QA</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集の自動化</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✓チャット定型文の作成</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7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◯友だち紹介斡旋</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✓紹介</a:t>
            </a:r>
            <a:r>
              <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rPr>
              <a:t>CP</a:t>
            </a: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などに誘導</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4" name="テキスト ボックス 83">
            <a:extLst>
              <a:ext uri="{FF2B5EF4-FFF2-40B4-BE49-F238E27FC236}">
                <a16:creationId xmlns:a16="http://schemas.microsoft.com/office/drawing/2014/main" id="{51666C25-34AB-775A-D360-970178A01029}"/>
              </a:ext>
            </a:extLst>
          </p:cNvPr>
          <p:cNvSpPr txBox="1"/>
          <p:nvPr/>
        </p:nvSpPr>
        <p:spPr>
          <a:xfrm>
            <a:off x="5015076" y="5197869"/>
            <a:ext cx="2038121" cy="861774"/>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◯アクション済</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✓応答メッセージ等で満足度↑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sym typeface="Meiryo"/>
              </a:rPr>
              <a:t>◯再購入・クロスセル</a:t>
            </a:r>
            <a:endParaRPr lang="en-US" altLang="ja-JP" sz="1000" b="1" dirty="0">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65000"/>
                  </a:schemeClr>
                </a:solidFill>
                <a:latin typeface="メイリオ" panose="020B0604030504040204" pitchFamily="50" charset="-128"/>
                <a:ea typeface="メイリオ" panose="020B0604030504040204" pitchFamily="50" charset="-128"/>
                <a:sym typeface="Meiryo"/>
              </a:rPr>
              <a:t>✓PT・物販・継続の提案時期を設定</a:t>
            </a:r>
            <a:endParaRPr lang="en-US" altLang="ja-JP" sz="1000" dirty="0">
              <a:solidFill>
                <a:schemeClr val="bg1">
                  <a:lumMod val="65000"/>
                </a:schemeClr>
              </a:solidFill>
              <a:latin typeface="メイリオ" panose="020B0604030504040204" pitchFamily="50" charset="-128"/>
              <a:ea typeface="メイリオ" panose="020B0604030504040204" pitchFamily="50" charset="-128"/>
              <a:sym typeface="Meiryo"/>
            </a:endParaRPr>
          </a:p>
        </p:txBody>
      </p:sp>
      <p:sp>
        <p:nvSpPr>
          <p:cNvPr id="85" name="テキスト ボックス 84">
            <a:extLst>
              <a:ext uri="{FF2B5EF4-FFF2-40B4-BE49-F238E27FC236}">
                <a16:creationId xmlns:a16="http://schemas.microsoft.com/office/drawing/2014/main" id="{E36E01A8-5E8D-6868-5242-258854A6C11E}"/>
              </a:ext>
            </a:extLst>
          </p:cNvPr>
          <p:cNvSpPr txBox="1"/>
          <p:nvPr/>
        </p:nvSpPr>
        <p:spPr>
          <a:xfrm>
            <a:off x="2577903" y="5197869"/>
            <a:ext cx="2241933" cy="954107"/>
          </a:xfrm>
          <a:prstGeom prst="rect">
            <a:avLst/>
          </a:prstGeom>
          <a:solidFill>
            <a:schemeClr val="bg1">
              <a:alpha val="20000"/>
            </a:schemeClr>
          </a:solid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◯再・簡易アンケート</a:t>
            </a:r>
            <a:r>
              <a:rPr lang="en-US" altLang="ja-JP" sz="1000" b="1" dirty="0">
                <a:latin typeface="メイリオ" panose="020B0604030504040204" pitchFamily="50" charset="-128"/>
                <a:ea typeface="メイリオ" panose="020B0604030504040204" pitchFamily="50" charset="-128"/>
                <a:cs typeface="Meiryo"/>
                <a:sym typeface="Meiryo"/>
              </a:rPr>
              <a:t>(</a:t>
            </a:r>
            <a:r>
              <a:rPr lang="ja-JP" altLang="en-US" sz="1000" b="1" dirty="0">
                <a:latin typeface="メイリオ" panose="020B0604030504040204" pitchFamily="50" charset="-128"/>
                <a:ea typeface="メイリオ" panose="020B0604030504040204" pitchFamily="50" charset="-128"/>
                <a:cs typeface="Meiryo"/>
                <a:sym typeface="Meiryo"/>
              </a:rPr>
              <a:t>診断</a:t>
            </a:r>
            <a:r>
              <a:rPr lang="en-US" altLang="ja-JP" sz="1000" b="1" dirty="0">
                <a:latin typeface="メイリオ" panose="020B0604030504040204" pitchFamily="50" charset="-128"/>
                <a:ea typeface="メイリオ" panose="020B0604030504040204" pitchFamily="50" charset="-128"/>
                <a:cs typeface="Meiryo"/>
                <a:sym typeface="Meiryo"/>
              </a:rPr>
              <a:t>)</a:t>
            </a: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✓休眠層に対して</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サービス軸と異なる診断軸を用意</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endParaRPr lang="en-US" altLang="ja-JP" sz="600" dirty="0">
              <a:solidFill>
                <a:schemeClr val="bg1">
                  <a:lumMod val="50000"/>
                </a:schemeClr>
              </a:solidFill>
              <a:latin typeface="メイリオ" panose="020B0604030504040204" pitchFamily="50" charset="-128"/>
              <a:ea typeface="メイリオ" panose="020B0604030504040204" pitchFamily="50" charset="-128"/>
              <a:sym typeface="Meiryo"/>
            </a:endParaRPr>
          </a:p>
          <a:p>
            <a:pPr algn="ctr"/>
            <a:r>
              <a:rPr lang="ja-JP" altLang="en-US" sz="1000" b="1" dirty="0">
                <a:latin typeface="メイリオ" panose="020B0604030504040204" pitchFamily="50" charset="-128"/>
                <a:ea typeface="メイリオ" panose="020B0604030504040204" pitchFamily="50" charset="-128"/>
                <a:cs typeface="Meiryo"/>
                <a:sym typeface="Meiryo"/>
              </a:rPr>
              <a:t>◯商品訴求を再押し</a:t>
            </a:r>
            <a:endParaRPr lang="en-US" altLang="ja-JP" sz="1000" b="1" dirty="0">
              <a:latin typeface="メイリオ" panose="020B0604030504040204" pitchFamily="50" charset="-128"/>
              <a:ea typeface="メイリオ" panose="020B0604030504040204" pitchFamily="50" charset="-128"/>
              <a:cs typeface="Meiryo"/>
              <a:sym typeface="Meiryo"/>
            </a:endParaRPr>
          </a:p>
          <a:p>
            <a:pPr algn="ctr"/>
            <a:r>
              <a:rPr lang="ja-JP" altLang="en-US" sz="1000" dirty="0">
                <a:solidFill>
                  <a:schemeClr val="bg1">
                    <a:lumMod val="50000"/>
                  </a:schemeClr>
                </a:solidFill>
                <a:latin typeface="メイリオ" panose="020B0604030504040204" pitchFamily="50" charset="-128"/>
                <a:ea typeface="メイリオ" panose="020B0604030504040204" pitchFamily="50" charset="-128"/>
                <a:sym typeface="Meiryo"/>
              </a:rPr>
              <a:t>✓再度サービス訴求を実施</a:t>
            </a:r>
            <a:endParaRPr lang="en-US" altLang="ja-JP" sz="1000" dirty="0">
              <a:solidFill>
                <a:schemeClr val="bg1">
                  <a:lumMod val="50000"/>
                </a:schemeClr>
              </a:solidFill>
              <a:latin typeface="メイリオ" panose="020B0604030504040204" pitchFamily="50" charset="-128"/>
              <a:ea typeface="メイリオ" panose="020B0604030504040204" pitchFamily="50" charset="-128"/>
              <a:sym typeface="Meiryo"/>
            </a:endParaRPr>
          </a:p>
        </p:txBody>
      </p:sp>
      <p:sp>
        <p:nvSpPr>
          <p:cNvPr id="8" name="矢印: 下 7">
            <a:extLst>
              <a:ext uri="{FF2B5EF4-FFF2-40B4-BE49-F238E27FC236}">
                <a16:creationId xmlns:a16="http://schemas.microsoft.com/office/drawing/2014/main" id="{BE6FB710-6D0D-A062-5DC4-E7437CE5BDE1}"/>
              </a:ext>
            </a:extLst>
          </p:cNvPr>
          <p:cNvSpPr/>
          <p:nvPr/>
        </p:nvSpPr>
        <p:spPr>
          <a:xfrm>
            <a:off x="8045609" y="1409403"/>
            <a:ext cx="871728" cy="395993"/>
          </a:xfrm>
          <a:prstGeom prst="downArrow">
            <a:avLst/>
          </a:prstGeom>
          <a:gradFill>
            <a:gsLst>
              <a:gs pos="4000">
                <a:schemeClr val="bg1"/>
              </a:gs>
              <a:gs pos="100000">
                <a:schemeClr val="accent6">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下 9">
            <a:extLst>
              <a:ext uri="{FF2B5EF4-FFF2-40B4-BE49-F238E27FC236}">
                <a16:creationId xmlns:a16="http://schemas.microsoft.com/office/drawing/2014/main" id="{92FDFDEB-CB5F-8A45-29AB-C10FC6580A7C}"/>
              </a:ext>
            </a:extLst>
          </p:cNvPr>
          <p:cNvSpPr/>
          <p:nvPr/>
        </p:nvSpPr>
        <p:spPr>
          <a:xfrm>
            <a:off x="8919666" y="1412851"/>
            <a:ext cx="871728" cy="395993"/>
          </a:xfrm>
          <a:prstGeom prst="downArrow">
            <a:avLst/>
          </a:prstGeom>
          <a:gradFill>
            <a:gsLst>
              <a:gs pos="4000">
                <a:schemeClr val="bg1"/>
              </a:gs>
              <a:gs pos="100000">
                <a:schemeClr val="bg1">
                  <a:lumMod val="75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下 10">
            <a:extLst>
              <a:ext uri="{FF2B5EF4-FFF2-40B4-BE49-F238E27FC236}">
                <a16:creationId xmlns:a16="http://schemas.microsoft.com/office/drawing/2014/main" id="{218212FE-3645-DB9F-3397-0748130F1AF8}"/>
              </a:ext>
            </a:extLst>
          </p:cNvPr>
          <p:cNvSpPr/>
          <p:nvPr/>
        </p:nvSpPr>
        <p:spPr>
          <a:xfrm>
            <a:off x="7180483" y="1412851"/>
            <a:ext cx="871728" cy="395993"/>
          </a:xfrm>
          <a:prstGeom prst="downArrow">
            <a:avLst/>
          </a:prstGeom>
          <a:gradFill>
            <a:gsLst>
              <a:gs pos="4000">
                <a:schemeClr val="bg1"/>
              </a:gs>
              <a:gs pos="100000">
                <a:schemeClr val="accent1">
                  <a:lumMod val="40000"/>
                  <a:lumOff val="60000"/>
                  <a:alpha val="16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2D2D0860-25E1-93CE-4600-A1274BD77509}"/>
              </a:ext>
            </a:extLst>
          </p:cNvPr>
          <p:cNvSpPr txBox="1"/>
          <p:nvPr/>
        </p:nvSpPr>
        <p:spPr>
          <a:xfrm>
            <a:off x="7180483" y="1445284"/>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cs typeface="Meiryo"/>
                <a:sym typeface="Meiryo"/>
              </a:rPr>
              <a:t>企画</a:t>
            </a:r>
            <a:endParaRPr lang="en-US" altLang="ja-JP" sz="800" dirty="0">
              <a:latin typeface="メイリオ" panose="020B0604030504040204" pitchFamily="50" charset="-128"/>
              <a:ea typeface="メイリオ" panose="020B0604030504040204" pitchFamily="50" charset="-128"/>
              <a:cs typeface="Meiryo"/>
              <a:sym typeface="Meiryo"/>
            </a:endParaRPr>
          </a:p>
          <a:p>
            <a:pPr algn="ctr"/>
            <a:r>
              <a:rPr lang="ja-JP" altLang="en-US" sz="800" dirty="0">
                <a:latin typeface="メイリオ" panose="020B0604030504040204" pitchFamily="50" charset="-128"/>
                <a:ea typeface="メイリオ" panose="020B0604030504040204" pitchFamily="50" charset="-128"/>
                <a:sym typeface="Meiryo"/>
              </a:rPr>
              <a:t>投稿</a:t>
            </a:r>
            <a:endParaRPr lang="ja-JP" altLang="en-US" sz="800" dirty="0"/>
          </a:p>
        </p:txBody>
      </p:sp>
      <p:sp>
        <p:nvSpPr>
          <p:cNvPr id="13" name="テキスト ボックス 12">
            <a:extLst>
              <a:ext uri="{FF2B5EF4-FFF2-40B4-BE49-F238E27FC236}">
                <a16:creationId xmlns:a16="http://schemas.microsoft.com/office/drawing/2014/main" id="{A87B802C-245D-9C6E-1C33-7190F3073124}"/>
              </a:ext>
            </a:extLst>
          </p:cNvPr>
          <p:cNvSpPr txBox="1"/>
          <p:nvPr/>
        </p:nvSpPr>
        <p:spPr>
          <a:xfrm>
            <a:off x="8050075" y="1452197"/>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ステップ</a:t>
            </a:r>
            <a:endParaRPr lang="en-US" altLang="ja-JP" sz="800" dirty="0">
              <a:latin typeface="メイリオ" panose="020B0604030504040204" pitchFamily="50" charset="-128"/>
              <a:ea typeface="メイリオ" panose="020B0604030504040204" pitchFamily="50" charset="-128"/>
            </a:endParaRPr>
          </a:p>
          <a:p>
            <a:pPr algn="ctr"/>
            <a:r>
              <a:rPr lang="ja-JP" altLang="en-US" sz="800" dirty="0">
                <a:latin typeface="メイリオ" panose="020B0604030504040204" pitchFamily="50" charset="-128"/>
                <a:ea typeface="メイリオ" panose="020B0604030504040204" pitchFamily="50" charset="-128"/>
              </a:rPr>
              <a:t>配信</a:t>
            </a:r>
          </a:p>
        </p:txBody>
      </p:sp>
      <p:sp>
        <p:nvSpPr>
          <p:cNvPr id="14" name="テキスト ボックス 13">
            <a:extLst>
              <a:ext uri="{FF2B5EF4-FFF2-40B4-BE49-F238E27FC236}">
                <a16:creationId xmlns:a16="http://schemas.microsoft.com/office/drawing/2014/main" id="{D775BACA-B985-5029-1E70-8D28879E88EC}"/>
              </a:ext>
            </a:extLst>
          </p:cNvPr>
          <p:cNvSpPr txBox="1"/>
          <p:nvPr/>
        </p:nvSpPr>
        <p:spPr>
          <a:xfrm>
            <a:off x="8910735" y="1438122"/>
            <a:ext cx="871728" cy="338554"/>
          </a:xfrm>
          <a:prstGeom prst="rect">
            <a:avLst/>
          </a:prstGeom>
          <a:noFill/>
        </p:spPr>
        <p:txBody>
          <a:bodyPr wrap="square">
            <a:spAutoFit/>
          </a:bodyPr>
          <a:lstStyle/>
          <a:p>
            <a:pPr algn="ctr"/>
            <a:r>
              <a:rPr lang="ja-JP" altLang="en-US" sz="800" dirty="0">
                <a:latin typeface="メイリオ" panose="020B0604030504040204" pitchFamily="50" charset="-128"/>
                <a:ea typeface="メイリオ" panose="020B0604030504040204" pitchFamily="50" charset="-128"/>
              </a:rPr>
              <a:t>貴社対応</a:t>
            </a:r>
            <a:endParaRPr lang="en-US" altLang="ja-JP" sz="800" dirty="0">
              <a:latin typeface="メイリオ" panose="020B0604030504040204" pitchFamily="50" charset="-128"/>
              <a:ea typeface="メイリオ" panose="020B0604030504040204" pitchFamily="50" charset="-128"/>
            </a:endParaRPr>
          </a:p>
          <a:p>
            <a:pPr algn="ctr"/>
            <a:r>
              <a:rPr lang="en-US" altLang="ja-JP" sz="800" dirty="0">
                <a:latin typeface="メイリオ" panose="020B0604030504040204" pitchFamily="50" charset="-128"/>
                <a:ea typeface="メイリオ" panose="020B0604030504040204" pitchFamily="50" charset="-128"/>
              </a:rPr>
              <a:t>※</a:t>
            </a:r>
            <a:r>
              <a:rPr lang="ja-JP" altLang="en-US" sz="800" dirty="0">
                <a:latin typeface="メイリオ" panose="020B0604030504040204" pitchFamily="50" charset="-128"/>
                <a:ea typeface="メイリオ" panose="020B0604030504040204" pitchFamily="50" charset="-128"/>
              </a:rPr>
              <a:t>軽減</a:t>
            </a:r>
          </a:p>
        </p:txBody>
      </p:sp>
      <p:sp>
        <p:nvSpPr>
          <p:cNvPr id="15" name="正方形/長方形 14">
            <a:extLst>
              <a:ext uri="{FF2B5EF4-FFF2-40B4-BE49-F238E27FC236}">
                <a16:creationId xmlns:a16="http://schemas.microsoft.com/office/drawing/2014/main" id="{B0439D32-FABC-CA34-F07C-587F509AEF1D}"/>
              </a:ext>
            </a:extLst>
          </p:cNvPr>
          <p:cNvSpPr/>
          <p:nvPr/>
        </p:nvSpPr>
        <p:spPr>
          <a:xfrm>
            <a:off x="7116723" y="1367434"/>
            <a:ext cx="2725750" cy="483252"/>
          </a:xfrm>
          <a:prstGeom prst="rect">
            <a:avLst/>
          </a:prstGeom>
          <a:noFill/>
          <a:ln w="9525">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0" name="コネクタ: カギ線 19">
            <a:extLst>
              <a:ext uri="{FF2B5EF4-FFF2-40B4-BE49-F238E27FC236}">
                <a16:creationId xmlns:a16="http://schemas.microsoft.com/office/drawing/2014/main" id="{B6880BFB-9CE8-682D-5E73-400E7A9D4984}"/>
              </a:ext>
            </a:extLst>
          </p:cNvPr>
          <p:cNvCxnSpPr>
            <a:cxnSpLocks/>
            <a:stCxn id="74" idx="2"/>
            <a:endCxn id="25" idx="0"/>
          </p:cNvCxnSpPr>
          <p:nvPr/>
        </p:nvCxnSpPr>
        <p:spPr>
          <a:xfrm rot="5400000">
            <a:off x="1884437" y="2550716"/>
            <a:ext cx="1044252" cy="1179842"/>
          </a:xfrm>
          <a:prstGeom prst="bentConnector3">
            <a:avLst>
              <a:gd name="adj1" fmla="val 50000"/>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コネクタ: カギ線 26">
            <a:extLst>
              <a:ext uri="{FF2B5EF4-FFF2-40B4-BE49-F238E27FC236}">
                <a16:creationId xmlns:a16="http://schemas.microsoft.com/office/drawing/2014/main" id="{EF07FDA7-6FC7-C204-99A4-DB47A6724969}"/>
              </a:ext>
            </a:extLst>
          </p:cNvPr>
          <p:cNvCxnSpPr>
            <a:cxnSpLocks/>
            <a:endCxn id="25" idx="0"/>
          </p:cNvCxnSpPr>
          <p:nvPr/>
        </p:nvCxnSpPr>
        <p:spPr>
          <a:xfrm rot="16200000" flipH="1">
            <a:off x="693395" y="2539516"/>
            <a:ext cx="1138050" cy="1108444"/>
          </a:xfrm>
          <a:prstGeom prst="bentConnector3">
            <a:avLst>
              <a:gd name="adj1" fmla="val 54185"/>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線矢印コネクタ 36">
            <a:extLst>
              <a:ext uri="{FF2B5EF4-FFF2-40B4-BE49-F238E27FC236}">
                <a16:creationId xmlns:a16="http://schemas.microsoft.com/office/drawing/2014/main" id="{B79B5748-0A9B-B2A8-36EE-9B6743393A50}"/>
              </a:ext>
            </a:extLst>
          </p:cNvPr>
          <p:cNvCxnSpPr>
            <a:stCxn id="25" idx="2"/>
            <a:endCxn id="46" idx="0"/>
          </p:cNvCxnSpPr>
          <p:nvPr/>
        </p:nvCxnSpPr>
        <p:spPr>
          <a:xfrm>
            <a:off x="1816642" y="4001277"/>
            <a:ext cx="0" cy="1304334"/>
          </a:xfrm>
          <a:prstGeom prst="straightConnector1">
            <a:avLst/>
          </a:prstGeom>
          <a:ln>
            <a:solidFill>
              <a:schemeClr val="bg1">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58905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現状分析｜大学・専門学校のLINE公式アカウント実態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友だち数は page.line.me（LINEヤフー社公式ページ）で実測済み（2026-09-20取得）。</a:t>
            </a:r>
          </a:p>
        </p:txBody>
      </p:sp>
      <p:graphicFrame>
        <p:nvGraphicFramePr>
          <p:cNvPr id="4" name="Table 3"/>
          <p:cNvGraphicFramePr>
            <a:graphicFrameLocks noGrp="1"/>
          </p:cNvGraphicFramePr>
          <p:nvPr/>
        </p:nvGraphicFramePr>
        <p:xfrm>
          <a:off x="396000" y="1224000"/>
          <a:ext cx="9143998" cy="2721600"/>
        </p:xfrm>
        <a:graphic>
          <a:graphicData uri="http://schemas.openxmlformats.org/drawingml/2006/table">
            <a:tbl>
              <a:tblPr firstRow="1" bandRow="1">
                <a:tableStyleId>{5C22544A-7EE6-4342-B048-85BDC9FD1C3A}</a:tableStyleId>
              </a:tblPr>
              <a:tblGrid>
                <a:gridCol w="2304000">
                  <a:extLst>
                    <a:ext uri="{9D8B030D-6E8A-4147-A177-3AD203B41FA5}">
                      <a16:colId xmlns:a16="http://schemas.microsoft.com/office/drawing/2014/main" val="20000"/>
                    </a:ext>
                  </a:extLst>
                </a:gridCol>
                <a:gridCol w="792000">
                  <a:extLst>
                    <a:ext uri="{9D8B030D-6E8A-4147-A177-3AD203B41FA5}">
                      <a16:colId xmlns:a16="http://schemas.microsoft.com/office/drawing/2014/main" val="20001"/>
                    </a:ext>
                  </a:extLst>
                </a:gridCol>
                <a:gridCol w="1296000">
                  <a:extLst>
                    <a:ext uri="{9D8B030D-6E8A-4147-A177-3AD203B41FA5}">
                      <a16:colId xmlns:a16="http://schemas.microsoft.com/office/drawing/2014/main" val="20002"/>
                    </a:ext>
                  </a:extLst>
                </a:gridCol>
                <a:gridCol w="1655999">
                  <a:extLst>
                    <a:ext uri="{9D8B030D-6E8A-4147-A177-3AD203B41FA5}">
                      <a16:colId xmlns:a16="http://schemas.microsoft.com/office/drawing/2014/main" val="20003"/>
                    </a:ext>
                  </a:extLst>
                </a:gridCol>
                <a:gridCol w="1655999">
                  <a:extLst>
                    <a:ext uri="{9D8B030D-6E8A-4147-A177-3AD203B41FA5}">
                      <a16:colId xmlns:a16="http://schemas.microsoft.com/office/drawing/2014/main" val="20004"/>
                    </a:ext>
                  </a:extLst>
                </a:gridCol>
                <a:gridCol w="1440000">
                  <a:extLst>
                    <a:ext uri="{9D8B030D-6E8A-4147-A177-3AD203B41FA5}">
                      <a16:colId xmlns:a16="http://schemas.microsoft.com/office/drawing/2014/main" val="20005"/>
                    </a:ext>
                  </a:extLst>
                </a:gridCol>
              </a:tblGrid>
              <a:tr h="302400">
                <a:tc>
                  <a:txBody>
                    <a:bodyPr/>
                    <a:lstStyle/>
                    <a:p>
                      <a:pPr algn="l"/>
                      <a:r>
                        <a:rPr sz="1200" b="1">
                          <a:solidFill>
                            <a:srgbClr val="FFFFFF"/>
                          </a:solidFill>
                          <a:latin typeface="メイリオ"/>
                          <a:ea typeface="メイリオ"/>
                          <a:cs typeface="メイリオ"/>
                        </a:rPr>
                        <a:t>調査対象</a:t>
                      </a:r>
                    </a:p>
                  </a:txBody>
                  <a:tcPr anchor="ctr">
                    <a:solidFill>
                      <a:srgbClr val="1F285A"/>
                    </a:solidFill>
                  </a:tcPr>
                </a:tc>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ctr"/>
                      <a:r>
                        <a:rPr sz="1200" b="1">
                          <a:solidFill>
                            <a:srgbClr val="FFFFFF"/>
                          </a:solidFill>
                          <a:latin typeface="メイリオ"/>
                          <a:ea typeface="メイリオ"/>
                          <a:cs typeface="メイリオ"/>
                        </a:rPr>
                        <a:t>受験生向けか</a:t>
                      </a:r>
                    </a:p>
                  </a:txBody>
                  <a:tcPr anchor="ctr">
                    <a:solidFill>
                      <a:srgbClr val="1F285A"/>
                    </a:solidFill>
                  </a:tcPr>
                </a:tc>
                <a:tc>
                  <a:txBody>
                    <a:bodyPr/>
                    <a:lstStyle/>
                    <a:p>
                      <a:pPr algn="r"/>
                      <a:r>
                        <a:rPr sz="1200" b="1">
                          <a:solidFill>
                            <a:srgbClr val="FFFFFF"/>
                          </a:solidFill>
                          <a:latin typeface="メイリオ"/>
                          <a:ea typeface="メイリオ"/>
                          <a:cs typeface="メイリオ"/>
                        </a:rPr>
                        <a:t>友だち数 実測</a:t>
                      </a:r>
                    </a:p>
                  </a:txBody>
                  <a:tcPr anchor="ctr">
                    <a:solidFill>
                      <a:srgbClr val="1F285A"/>
                    </a:solidFill>
                  </a:tcPr>
                </a:tc>
                <a:tc>
                  <a:txBody>
                    <a:bodyPr/>
                    <a:lstStyle/>
                    <a:p>
                      <a:pPr algn="ctr"/>
                      <a:r>
                        <a:rPr sz="1200" b="1">
                          <a:solidFill>
                            <a:srgbClr val="FFFFFF"/>
                          </a:solidFill>
                          <a:latin typeface="メイリオ"/>
                          <a:ea typeface="メイリオ"/>
                          <a:cs typeface="メイリオ"/>
                        </a:rPr>
                        <a:t>リッチメニュー</a:t>
                      </a:r>
                    </a:p>
                  </a:txBody>
                  <a:tcPr anchor="ctr">
                    <a:solidFill>
                      <a:srgbClr val="1F285A"/>
                    </a:solidFill>
                  </a:tcPr>
                </a:tc>
                <a:tc>
                  <a:txBody>
                    <a:bodyPr/>
                    <a:lstStyle/>
                    <a:p>
                      <a:pPr algn="ctr"/>
                      <a:r>
                        <a:rPr sz="1200" b="1">
                          <a:solidFill>
                            <a:srgbClr val="FFFFFF"/>
                          </a:solidFill>
                          <a:latin typeface="メイリオ"/>
                          <a:ea typeface="メイリオ"/>
                          <a:cs typeface="メイリオ"/>
                        </a:rPr>
                        <a:t>診断の有無</a:t>
                      </a:r>
                    </a:p>
                  </a:txBody>
                  <a:tcPr anchor="ctr">
                    <a:solidFill>
                      <a:srgbClr val="1F285A"/>
                    </a:solidFill>
                  </a:tcPr>
                </a:tc>
                <a:extLst>
                  <a:ext uri="{0D108BD9-81ED-4DB2-BD59-A6C34878D82A}">
                    <a16:rowId xmlns:a16="http://schemas.microsoft.com/office/drawing/2014/main" val="10000"/>
                  </a:ext>
                </a:extLst>
              </a:tr>
              <a:tr h="302400">
                <a:tc>
                  <a:txBody>
                    <a:bodyPr/>
                    <a:lstStyle/>
                    <a:p>
                      <a:pPr algn="l"/>
                      <a:r>
                        <a:rPr sz="1100">
                          <a:solidFill>
                            <a:srgbClr val="1C2233"/>
                          </a:solidFill>
                          <a:latin typeface="メイリオ"/>
                          <a:ea typeface="メイリオ"/>
                          <a:cs typeface="メイリオ"/>
                        </a:rPr>
                        <a:t>立命館大学 入学センター</a:t>
                      </a:r>
                    </a:p>
                  </a:txBody>
                  <a:tcPr anchor="ctr">
                    <a:solidFill>
                      <a:srgbClr val="FFFFFF"/>
                    </a:solidFill>
                  </a:tcPr>
                </a:tc>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139,406</a:t>
                      </a:r>
                    </a:p>
                  </a:txBody>
                  <a:tcPr anchor="ctr">
                    <a:solidFill>
                      <a:srgbClr val="FFFFFF"/>
                    </a:solidFill>
                  </a:tcPr>
                </a:tc>
                <a:tc>
                  <a:txBody>
                    <a:bodyPr/>
                    <a:lstStyle/>
                    <a:p>
                      <a:pPr algn="ctr"/>
                      <a:r>
                        <a:rPr sz="1100">
                          <a:solidFill>
                            <a:srgbClr val="1C2233"/>
                          </a:solidFill>
                          <a:latin typeface="メイリオ"/>
                          <a:ea typeface="メイリオ"/>
                          <a:cs typeface="メイリオ"/>
                        </a:rPr>
                        <a:t>資料請求・OC申込</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1"/>
                  </a:ext>
                </a:extLst>
              </a:tr>
              <a:tr h="302400">
                <a:tc>
                  <a:txBody>
                    <a:bodyPr/>
                    <a:lstStyle/>
                    <a:p>
                      <a:pPr algn="l"/>
                      <a:r>
                        <a:rPr sz="1100">
                          <a:solidFill>
                            <a:srgbClr val="1C2233"/>
                          </a:solidFill>
                          <a:latin typeface="メイリオ"/>
                          <a:ea typeface="メイリオ"/>
                          <a:cs typeface="メイリオ"/>
                        </a:rPr>
                        <a:t>近畿大学</a:t>
                      </a:r>
                    </a:p>
                  </a:txBody>
                  <a:tcPr anchor="ctr">
                    <a:solidFill>
                      <a:srgbClr val="F4F7FF"/>
                    </a:solidFill>
                  </a:tcPr>
                </a:tc>
                <a:tc>
                  <a:txBody>
                    <a:bodyPr/>
                    <a:lstStyle/>
                    <a:p>
                      <a:pPr algn="ctr"/>
                      <a:r>
                        <a:rPr sz="1100">
                          <a:solidFill>
                            <a:srgbClr val="1C2233"/>
                          </a:solidFill>
                          <a:latin typeface="メイリオ"/>
                          <a:ea typeface="メイリオ"/>
                          <a:cs typeface="メイリオ"/>
                        </a:rPr>
                        <a:t>大学</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137,996</a:t>
                      </a:r>
                    </a:p>
                  </a:txBody>
                  <a:tcPr anchor="ctr">
                    <a:solidFill>
                      <a:srgbClr val="F4F7FF"/>
                    </a:solidFill>
                  </a:tcPr>
                </a:tc>
                <a:tc>
                  <a:txBody>
                    <a:bodyPr/>
                    <a:lstStyle/>
                    <a:p>
                      <a:pPr algn="ctr"/>
                      <a:r>
                        <a:rPr sz="1100">
                          <a:solidFill>
                            <a:srgbClr val="1C2233"/>
                          </a:solidFill>
                          <a:latin typeface="メイリオ"/>
                          <a:ea typeface="メイリオ"/>
                          <a:cs typeface="メイリオ"/>
                        </a:rPr>
                        <a:t>イベント・クーポン</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2"/>
                  </a:ext>
                </a:extLst>
              </a:tr>
              <a:tr h="302400">
                <a:tc>
                  <a:txBody>
                    <a:bodyPr/>
                    <a:lstStyle/>
                    <a:p>
                      <a:pPr algn="l"/>
                      <a:r>
                        <a:rPr sz="1100">
                          <a:solidFill>
                            <a:srgbClr val="1C2233"/>
                          </a:solidFill>
                          <a:latin typeface="メイリオ"/>
                          <a:ea typeface="メイリオ"/>
                          <a:cs typeface="メイリオ"/>
                        </a:rPr>
                        <a:t>龍谷大学 入試部</a:t>
                      </a:r>
                    </a:p>
                  </a:txBody>
                  <a:tcPr anchor="ctr">
                    <a:solidFill>
                      <a:srgbClr val="FFFFFF"/>
                    </a:solidFill>
                  </a:tcPr>
                </a:tc>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95,199</a:t>
                      </a:r>
                    </a:p>
                  </a:txBody>
                  <a:tcPr anchor="ctr">
                    <a:solidFill>
                      <a:srgbClr val="FFFFFF"/>
                    </a:solidFill>
                  </a:tcPr>
                </a:tc>
                <a:tc>
                  <a:txBody>
                    <a:bodyPr/>
                    <a:lstStyle/>
                    <a:p>
                      <a:pPr algn="ctr"/>
                      <a:r>
                        <a:rPr sz="1100">
                          <a:solidFill>
                            <a:srgbClr val="1C2233"/>
                          </a:solidFill>
                          <a:latin typeface="メイリオ"/>
                          <a:ea typeface="メイリオ"/>
                          <a:cs typeface="メイリオ"/>
                        </a:rPr>
                        <a:t>OC予約・入試対策講座</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3"/>
                  </a:ext>
                </a:extLst>
              </a:tr>
              <a:tr h="302400">
                <a:tc>
                  <a:txBody>
                    <a:bodyPr/>
                    <a:lstStyle/>
                    <a:p>
                      <a:pPr algn="l"/>
                      <a:r>
                        <a:rPr sz="1100">
                          <a:solidFill>
                            <a:srgbClr val="1C2233"/>
                          </a:solidFill>
                          <a:latin typeface="メイリオ"/>
                          <a:ea typeface="メイリオ"/>
                          <a:cs typeface="メイリオ"/>
                        </a:rPr>
                        <a:t>日本工学院</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42,075</a:t>
                      </a:r>
                    </a:p>
                  </a:txBody>
                  <a:tcPr anchor="ctr">
                    <a:solidFill>
                      <a:srgbClr val="F4F7FF"/>
                    </a:solidFill>
                  </a:tcPr>
                </a:tc>
                <a:tc>
                  <a:txBody>
                    <a:bodyPr/>
                    <a:lstStyle/>
                    <a:p>
                      <a:pPr algn="ctr"/>
                      <a:r>
                        <a:rPr sz="1100">
                          <a:solidFill>
                            <a:srgbClr val="1C2233"/>
                          </a:solidFill>
                          <a:latin typeface="メイリオ"/>
                          <a:ea typeface="メイリオ"/>
                          <a:cs typeface="メイリオ"/>
                        </a:rPr>
                        <a:t>OC・体験入学</a:t>
                      </a:r>
                    </a:p>
                  </a:txBody>
                  <a:tcPr anchor="ctr">
                    <a:solidFill>
                      <a:srgbClr val="F4F7FF"/>
                    </a:solidFill>
                  </a:tcPr>
                </a:tc>
                <a:tc>
                  <a:txBody>
                    <a:bodyPr/>
                    <a:lstStyle/>
                    <a:p>
                      <a:pPr algn="ctr"/>
                      <a:r>
                        <a:rPr sz="1100">
                          <a:solidFill>
                            <a:srgbClr val="1C2233"/>
                          </a:solidFill>
                          <a:latin typeface="メイリオ"/>
                          <a:ea typeface="メイリオ"/>
                          <a:cs typeface="メイリオ"/>
                        </a:rPr>
                        <a:t>未確認</a:t>
                      </a:r>
                    </a:p>
                  </a:txBody>
                  <a:tcPr anchor="ctr">
                    <a:solidFill>
                      <a:srgbClr val="F4F7FF"/>
                    </a:solidFill>
                  </a:tcPr>
                </a:tc>
                <a:extLst>
                  <a:ext uri="{0D108BD9-81ED-4DB2-BD59-A6C34878D82A}">
                    <a16:rowId xmlns:a16="http://schemas.microsoft.com/office/drawing/2014/main" val="10004"/>
                  </a:ext>
                </a:extLst>
              </a:tr>
              <a:tr h="302400">
                <a:tc>
                  <a:txBody>
                    <a:bodyPr/>
                    <a:lstStyle/>
                    <a:p>
                      <a:pPr algn="l"/>
                      <a:r>
                        <a:rPr sz="1100">
                          <a:solidFill>
                            <a:srgbClr val="1C2233"/>
                          </a:solidFill>
                          <a:latin typeface="メイリオ"/>
                          <a:ea typeface="メイリオ"/>
                          <a:cs typeface="メイリオ"/>
                        </a:rPr>
                        <a:t>NSGカレッジリーグ</a:t>
                      </a:r>
                    </a:p>
                  </a:txBody>
                  <a:tcPr anchor="ctr">
                    <a:solidFill>
                      <a:srgbClr val="FFFFFF"/>
                    </a:solidFill>
                  </a:tcPr>
                </a:tc>
                <a:tc>
                  <a:txBody>
                    <a:bodyPr/>
                    <a:lstStyle/>
                    <a:p>
                      <a:pPr algn="ctr"/>
                      <a:r>
                        <a:rPr sz="1100">
                          <a:solidFill>
                            <a:srgbClr val="1C2233"/>
                          </a:solidFill>
                          <a:latin typeface="メイリオ"/>
                          <a:ea typeface="メイリオ"/>
                          <a:cs typeface="メイリオ"/>
                        </a:rPr>
                        <a:t>専門</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34,659</a:t>
                      </a:r>
                    </a:p>
                  </a:txBody>
                  <a:tcPr anchor="ctr">
                    <a:solidFill>
                      <a:srgbClr val="FFFFFF"/>
                    </a:solidFill>
                  </a:tcPr>
                </a:tc>
                <a:tc>
                  <a:txBody>
                    <a:bodyPr/>
                    <a:lstStyle/>
                    <a:p>
                      <a:pPr algn="ctr"/>
                      <a:r>
                        <a:rPr sz="1100">
                          <a:solidFill>
                            <a:srgbClr val="1C2233"/>
                          </a:solidFill>
                          <a:latin typeface="メイリオ"/>
                          <a:ea typeface="メイリオ"/>
                          <a:cs typeface="メイリオ"/>
                        </a:rPr>
                        <a:t>診断・資料請求</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5"/>
                  </a:ext>
                </a:extLst>
              </a:tr>
              <a:tr h="302400">
                <a:tc>
                  <a:txBody>
                    <a:bodyPr/>
                    <a:lstStyle/>
                    <a:p>
                      <a:pPr algn="l"/>
                      <a:r>
                        <a:rPr sz="1100">
                          <a:solidFill>
                            <a:srgbClr val="1C2233"/>
                          </a:solidFill>
                          <a:latin typeface="メイリオ"/>
                          <a:ea typeface="メイリオ"/>
                          <a:cs typeface="メイリオ"/>
                        </a:rPr>
                        <a:t>大原学園</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24,428</a:t>
                      </a:r>
                    </a:p>
                  </a:txBody>
                  <a:tcPr anchor="ctr">
                    <a:solidFill>
                      <a:srgbClr val="F4F7FF"/>
                    </a:solidFill>
                  </a:tcPr>
                </a:tc>
                <a:tc>
                  <a:txBody>
                    <a:bodyPr/>
                    <a:lstStyle/>
                    <a:p>
                      <a:pPr algn="ctr"/>
                      <a:r>
                        <a:rPr sz="1100">
                          <a:solidFill>
                            <a:srgbClr val="1C2233"/>
                          </a:solidFill>
                          <a:latin typeface="メイリオ"/>
                          <a:ea typeface="メイリオ"/>
                          <a:cs typeface="メイリオ"/>
                        </a:rPr>
                        <a:t>個別相談・AO連絡</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6"/>
                  </a:ext>
                </a:extLst>
              </a:tr>
              <a:tr h="302400">
                <a:tc>
                  <a:txBody>
                    <a:bodyPr/>
                    <a:lstStyle/>
                    <a:p>
                      <a:pPr algn="l"/>
                      <a:r>
                        <a:rPr sz="1100">
                          <a:solidFill>
                            <a:srgbClr val="1C2233"/>
                          </a:solidFill>
                          <a:latin typeface="メイリオ"/>
                          <a:ea typeface="メイリオ"/>
                          <a:cs typeface="メイリオ"/>
                        </a:rPr>
                        <a:t>HAL東京</a:t>
                      </a:r>
                    </a:p>
                  </a:txBody>
                  <a:tcPr anchor="ctr">
                    <a:solidFill>
                      <a:srgbClr val="FFFFFF"/>
                    </a:solidFill>
                  </a:tcPr>
                </a:tc>
                <a:tc>
                  <a:txBody>
                    <a:bodyPr/>
                    <a:lstStyle/>
                    <a:p>
                      <a:pPr algn="ctr"/>
                      <a:r>
                        <a:rPr sz="1100">
                          <a:solidFill>
                            <a:srgbClr val="1C2233"/>
                          </a:solidFill>
                          <a:latin typeface="メイリオ"/>
                          <a:ea typeface="メイリオ"/>
                          <a:cs typeface="メイリオ"/>
                        </a:rPr>
                        <a:t>専門</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14,661</a:t>
                      </a:r>
                    </a:p>
                  </a:txBody>
                  <a:tcPr anchor="ctr">
                    <a:solidFill>
                      <a:srgbClr val="FFFFFF"/>
                    </a:solidFill>
                  </a:tcPr>
                </a:tc>
                <a:tc>
                  <a:txBody>
                    <a:bodyPr/>
                    <a:lstStyle/>
                    <a:p>
                      <a:pPr algn="ctr"/>
                      <a:r>
                        <a:rPr sz="1100">
                          <a:solidFill>
                            <a:srgbClr val="1C2233"/>
                          </a:solidFill>
                          <a:latin typeface="メイリオ"/>
                          <a:ea typeface="メイリオ"/>
                          <a:cs typeface="メイリオ"/>
                        </a:rPr>
                        <a:t>OC情報・チャット</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7"/>
                  </a:ext>
                </a:extLst>
              </a:tr>
              <a:tr h="302400">
                <a:tc>
                  <a:txBody>
                    <a:bodyPr/>
                    <a:lstStyle/>
                    <a:p>
                      <a:pPr algn="l"/>
                      <a:r>
                        <a:rPr sz="1100">
                          <a:solidFill>
                            <a:srgbClr val="1C2233"/>
                          </a:solidFill>
                          <a:latin typeface="メイリオ"/>
                          <a:ea typeface="メイリオ"/>
                          <a:cs typeface="メイリオ"/>
                        </a:rPr>
                        <a:t>大阪モード学園</a:t>
                      </a:r>
                    </a:p>
                  </a:txBody>
                  <a:tcPr anchor="ctr">
                    <a:solidFill>
                      <a:srgbClr val="F4F7FF"/>
                    </a:solidFill>
                  </a:tcPr>
                </a:tc>
                <a:tc>
                  <a:txBody>
                    <a:bodyPr/>
                    <a:lstStyle/>
                    <a:p>
                      <a:pPr algn="ctr"/>
                      <a:r>
                        <a:rPr sz="1100">
                          <a:solidFill>
                            <a:srgbClr val="1C2233"/>
                          </a:solidFill>
                          <a:latin typeface="メイリオ"/>
                          <a:ea typeface="メイリオ"/>
                          <a:cs typeface="メイリオ"/>
                        </a:rPr>
                        <a:t>専門</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3,206</a:t>
                      </a:r>
                    </a:p>
                  </a:txBody>
                  <a:tcPr anchor="ctr">
                    <a:solidFill>
                      <a:srgbClr val="F4F7FF"/>
                    </a:solidFill>
                  </a:tcPr>
                </a:tc>
                <a:tc>
                  <a:txBody>
                    <a:bodyPr/>
                    <a:lstStyle/>
                    <a:p>
                      <a:pPr algn="ctr"/>
                      <a:r>
                        <a:rPr sz="1100">
                          <a:solidFill>
                            <a:srgbClr val="1C2233"/>
                          </a:solidFill>
                          <a:latin typeface="メイリオ"/>
                          <a:ea typeface="メイリオ"/>
                          <a:cs typeface="メイリオ"/>
                        </a:rPr>
                        <a:t>OC情報</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396000" y="4068000"/>
            <a:ext cx="2951999" cy="13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大学は「在学生向け」が多い</a:t>
            </a:r>
          </a:p>
          <a:p>
            <a:pPr algn="l">
              <a:lnSpc>
                <a:spcPct val="120000"/>
              </a:lnSpc>
              <a:spcAft>
                <a:spcPts val="200"/>
              </a:spcAft>
            </a:pPr>
            <a:r>
              <a:rPr sz="1100">
                <a:solidFill>
                  <a:srgbClr val="1C2233"/>
                </a:solidFill>
                <a:latin typeface="メイリオ"/>
                <a:ea typeface="メイリオ"/>
                <a:cs typeface="メイリオ"/>
              </a:rPr>
              <a:t>受験生向けと在学生向けを分けているか、</a:t>
            </a:r>
          </a:p>
          <a:p>
            <a:pPr algn="l">
              <a:lnSpc>
                <a:spcPct val="120000"/>
              </a:lnSpc>
              <a:spcAft>
                <a:spcPts val="200"/>
              </a:spcAft>
            </a:pPr>
            <a:r>
              <a:rPr sz="1100">
                <a:solidFill>
                  <a:srgbClr val="1C2233"/>
                </a:solidFill>
                <a:latin typeface="メイリオ"/>
                <a:ea typeface="メイリオ"/>
                <a:cs typeface="メイリオ"/>
              </a:rPr>
              <a:t>タグで出し分けているかを必ず確認する。</a:t>
            </a:r>
          </a:p>
          <a:p>
            <a:pPr algn="l">
              <a:lnSpc>
                <a:spcPct val="120000"/>
              </a:lnSpc>
              <a:spcAft>
                <a:spcPts val="200"/>
              </a:spcAft>
            </a:pPr>
            <a:r>
              <a:rPr sz="1100">
                <a:solidFill>
                  <a:srgbClr val="1C2233"/>
                </a:solidFill>
                <a:latin typeface="メイリオ"/>
                <a:ea typeface="メイリオ"/>
                <a:cs typeface="メイリオ"/>
              </a:rPr>
              <a:t>混在していると配信精度が落ちる。</a:t>
            </a:r>
          </a:p>
        </p:txBody>
      </p:sp>
      <p:sp>
        <p:nvSpPr>
          <p:cNvPr id="6" name="Rounded Rectangle 5"/>
          <p:cNvSpPr/>
          <p:nvPr/>
        </p:nvSpPr>
        <p:spPr>
          <a:xfrm>
            <a:off x="3347997" y="4068000"/>
            <a:ext cx="3096001" cy="133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② </a:t>
            </a:r>
            <a:r>
              <a:rPr sz="1200" b="1" dirty="0" err="1">
                <a:solidFill>
                  <a:srgbClr val="1F285A"/>
                </a:solidFill>
                <a:latin typeface="メイリオ"/>
                <a:ea typeface="メイリオ"/>
                <a:cs typeface="メイリオ"/>
              </a:rPr>
              <a:t>見るのは友だち数ではない</a:t>
            </a:r>
            <a:endParaRPr sz="1200" b="1" dirty="0">
              <a:solidFill>
                <a:srgbClr val="1F285A"/>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学部数が多いほど「出し分け」の必要</a:t>
            </a:r>
            <a:r>
              <a:rPr lang="ja-JP" altLang="en-US" sz="1100" dirty="0">
                <a:solidFill>
                  <a:srgbClr val="1C2233"/>
                </a:solidFill>
                <a:latin typeface="メイリオ"/>
                <a:ea typeface="メイリオ"/>
                <a:cs typeface="メイリオ"/>
              </a:rPr>
              <a:t>度</a:t>
            </a:r>
            <a:r>
              <a:rPr sz="1100" dirty="0" err="1">
                <a:solidFill>
                  <a:srgbClr val="1C2233"/>
                </a:solidFill>
                <a:latin typeface="メイリオ"/>
                <a:ea typeface="メイリオ"/>
                <a:cs typeface="メイリオ"/>
              </a:rPr>
              <a:t>が高い</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リッチメニューが学部別か機能別かで</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その学校の設計思想が分かる</a:t>
            </a:r>
            <a:r>
              <a:rPr sz="1100" dirty="0">
                <a:solidFill>
                  <a:srgbClr val="1C2233"/>
                </a:solidFill>
                <a:latin typeface="メイリオ"/>
                <a:ea typeface="メイリオ"/>
                <a:cs typeface="メイリオ"/>
              </a:rPr>
              <a:t>。</a:t>
            </a:r>
          </a:p>
        </p:txBody>
      </p:sp>
      <p:sp>
        <p:nvSpPr>
          <p:cNvPr id="7" name="Rounded Rectangle 6"/>
          <p:cNvSpPr/>
          <p:nvPr/>
        </p:nvSpPr>
        <p:spPr>
          <a:xfrm>
            <a:off x="6443998" y="4068000"/>
            <a:ext cx="3096001" cy="133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③ </a:t>
            </a:r>
            <a:r>
              <a:rPr sz="1200" b="1" dirty="0" err="1">
                <a:solidFill>
                  <a:srgbClr val="ED7D31"/>
                </a:solidFill>
                <a:latin typeface="メイリオ"/>
                <a:ea typeface="メイリオ"/>
                <a:cs typeface="メイリオ"/>
              </a:rPr>
              <a:t>空白は「診断</a:t>
            </a:r>
            <a:r>
              <a:rPr sz="1200" b="1" dirty="0">
                <a:solidFill>
                  <a:srgbClr val="ED7D31"/>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塾業界の実測では、大手8社すべてが</a:t>
            </a:r>
          </a:p>
          <a:p>
            <a:pPr algn="l">
              <a:lnSpc>
                <a:spcPct val="120000"/>
              </a:lnSpc>
              <a:spcAft>
                <a:spcPts val="200"/>
              </a:spcAft>
            </a:pPr>
            <a:r>
              <a:rPr sz="1100" dirty="0" err="1">
                <a:solidFill>
                  <a:srgbClr val="1C2233"/>
                </a:solidFill>
                <a:latin typeface="メイリオ"/>
                <a:ea typeface="メイリオ"/>
                <a:cs typeface="メイリオ"/>
              </a:rPr>
              <a:t>LINEを新規集客に使っていた</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差がつくのは</a:t>
            </a:r>
            <a:endParaRPr sz="1100" dirty="0">
              <a:solidFill>
                <a:srgbClr val="1C2233"/>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診断で適合を見せているか」だけだった</a:t>
            </a:r>
            <a:r>
              <a:rPr sz="1100" dirty="0">
                <a:solidFill>
                  <a:srgbClr val="1C2233"/>
                </a:solidFill>
                <a:latin typeface="メイリオ"/>
                <a:ea typeface="メイリオ"/>
                <a:cs typeface="メイリオ"/>
              </a:rPr>
              <a:t>。</a:t>
            </a:r>
          </a:p>
        </p:txBody>
      </p:sp>
      <p:sp>
        <p:nvSpPr>
          <p:cNvPr id="8" name="Rectangle 7"/>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76000" y="5655667"/>
            <a:ext cx="8820000" cy="259065"/>
          </a:xfrm>
          <a:prstGeom prst="rect">
            <a:avLst/>
          </a:prstGeom>
          <a:noFill/>
        </p:spPr>
        <p:txBody>
          <a:bodyPr wrap="square" lIns="0" tIns="21600" rIns="0" bIns="21600" anchor="ctr">
            <a:spAutoFit/>
          </a:bodyPr>
          <a:lstStyle/>
          <a:p>
            <a:pPr algn="l"/>
            <a:r>
              <a:rPr lang="ja-JP" altLang="en-US" sz="1400" b="1" dirty="0">
                <a:solidFill>
                  <a:srgbClr val="1C2233"/>
                </a:solidFill>
                <a:latin typeface="メイリオ"/>
                <a:ea typeface="メイリオ"/>
                <a:cs typeface="メイリオ"/>
              </a:rPr>
              <a:t>「</a:t>
            </a:r>
            <a:r>
              <a:rPr sz="1400" b="1" dirty="0" err="1">
                <a:solidFill>
                  <a:srgbClr val="1C2233"/>
                </a:solidFill>
                <a:latin typeface="メイリオ"/>
                <a:ea typeface="メイリオ"/>
                <a:cs typeface="メイリオ"/>
              </a:rPr>
              <a:t>友だち</a:t>
            </a:r>
            <a:r>
              <a:rPr lang="ja-JP" altLang="en-US" sz="1400" b="1" dirty="0">
                <a:solidFill>
                  <a:srgbClr val="1C2233"/>
                </a:solidFill>
                <a:latin typeface="メイリオ"/>
                <a:ea typeface="メイリオ"/>
                <a:cs typeface="メイリオ"/>
              </a:rPr>
              <a:t>」</a:t>
            </a:r>
            <a:r>
              <a:rPr sz="1400" b="1" dirty="0" err="1">
                <a:solidFill>
                  <a:srgbClr val="1C2233"/>
                </a:solidFill>
                <a:latin typeface="メイリオ"/>
                <a:ea typeface="メイリオ"/>
                <a:cs typeface="メイリオ"/>
              </a:rPr>
              <a:t>は広告で買える。でも運用設計がなければ、リストは資産にならない</a:t>
            </a:r>
            <a:r>
              <a:rPr sz="1400" b="1" dirty="0">
                <a:solidFill>
                  <a:srgbClr val="1C2233"/>
                </a:solidFill>
                <a:latin typeface="メイリオ"/>
                <a:ea typeface="メイリオ"/>
                <a:cs typeface="メイリオ"/>
              </a:rPr>
              <a:t>。</a:t>
            </a:r>
          </a:p>
        </p:txBody>
      </p:sp>
      <p:sp>
        <p:nvSpPr>
          <p:cNvPr id="11" name="TextBox 10"/>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友だち数は 2026-09-20 に page.line.me（公式）で実測。機能はWeb公開情報から（リッチメニュー内部は外部から未確認のため断定しない）。</a:t>
            </a:r>
          </a:p>
          <a:p>
            <a:pPr algn="l">
              <a:lnSpc>
                <a:spcPct val="120000"/>
              </a:lnSpc>
            </a:pPr>
            <a:r>
              <a:rPr sz="900">
                <a:solidFill>
                  <a:srgbClr val="646C82"/>
                </a:solidFill>
                <a:latin typeface="メイリオ"/>
                <a:ea typeface="メイリオ"/>
                <a:cs typeface="メイリオ"/>
              </a:rPr>
              <a:t>※ 第三者サイト（lineoa.jp）の数値は当たり付け専用。本資料には載せない。実名掲載の最終可否は学内確認事項。</a:t>
            </a:r>
          </a:p>
        </p:txBody>
      </p:sp>
    </p:spTree>
    <p:extLst>
      <p:ext uri="{BB962C8B-B14F-4D97-AF65-F5344CB8AC3E}">
        <p14:creationId xmlns:p14="http://schemas.microsoft.com/office/powerpoint/2010/main" val="2250220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現状分析｜LINE運用は4つの型に分類できる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「集めている学校」と「育てている学校」に、はっきり分かれる。</a:t>
            </a:r>
          </a:p>
        </p:txBody>
      </p:sp>
      <p:graphicFrame>
        <p:nvGraphicFramePr>
          <p:cNvPr id="4" name="Table 3"/>
          <p:cNvGraphicFramePr>
            <a:graphicFrameLocks noGrp="1"/>
          </p:cNvGraphicFramePr>
          <p:nvPr>
            <p:extLst>
              <p:ext uri="{D42A27DB-BD31-4B8C-83A1-F6EECF244321}">
                <p14:modId xmlns:p14="http://schemas.microsoft.com/office/powerpoint/2010/main" val="3092588922"/>
              </p:ext>
            </p:extLst>
          </p:nvPr>
        </p:nvGraphicFramePr>
        <p:xfrm>
          <a:off x="396000" y="1224000"/>
          <a:ext cx="9143999" cy="3960000"/>
        </p:xfrm>
        <a:graphic>
          <a:graphicData uri="http://schemas.openxmlformats.org/drawingml/2006/table">
            <a:tbl>
              <a:tblPr firstRow="1" bandRow="1">
                <a:tableStyleId>{5C22544A-7EE6-4342-B048-85BDC9FD1C3A}</a:tableStyleId>
              </a:tblPr>
              <a:tblGrid>
                <a:gridCol w="1872000">
                  <a:extLst>
                    <a:ext uri="{9D8B030D-6E8A-4147-A177-3AD203B41FA5}">
                      <a16:colId xmlns:a16="http://schemas.microsoft.com/office/drawing/2014/main" val="20000"/>
                    </a:ext>
                  </a:extLst>
                </a:gridCol>
                <a:gridCol w="4320000">
                  <a:extLst>
                    <a:ext uri="{9D8B030D-6E8A-4147-A177-3AD203B41FA5}">
                      <a16:colId xmlns:a16="http://schemas.microsoft.com/office/drawing/2014/main" val="20001"/>
                    </a:ext>
                  </a:extLst>
                </a:gridCol>
                <a:gridCol w="2951999">
                  <a:extLst>
                    <a:ext uri="{9D8B030D-6E8A-4147-A177-3AD203B41FA5}">
                      <a16:colId xmlns:a16="http://schemas.microsoft.com/office/drawing/2014/main" val="20002"/>
                    </a:ext>
                  </a:extLst>
                </a:gridCol>
              </a:tblGrid>
              <a:tr h="792000">
                <a:tc>
                  <a:txBody>
                    <a:bodyPr/>
                    <a:lstStyle/>
                    <a:p>
                      <a:pPr algn="l"/>
                      <a:r>
                        <a:rPr sz="1200" b="1">
                          <a:solidFill>
                            <a:srgbClr val="FFFFFF"/>
                          </a:solidFill>
                          <a:latin typeface="メイリオ"/>
                          <a:ea typeface="メイリオ"/>
                          <a:cs typeface="メイリオ"/>
                        </a:rPr>
                        <a:t>型</a:t>
                      </a:r>
                    </a:p>
                  </a:txBody>
                  <a:tcPr anchor="ctr">
                    <a:solidFill>
                      <a:srgbClr val="1F285A"/>
                    </a:solidFill>
                  </a:tcPr>
                </a:tc>
                <a:tc>
                  <a:txBody>
                    <a:bodyPr/>
                    <a:lstStyle/>
                    <a:p>
                      <a:pPr algn="l"/>
                      <a:r>
                        <a:rPr sz="1200" b="1">
                          <a:solidFill>
                            <a:srgbClr val="FFFFFF"/>
                          </a:solidFill>
                          <a:latin typeface="メイリオ"/>
                          <a:ea typeface="メイリオ"/>
                          <a:cs typeface="メイリオ"/>
                        </a:rPr>
                        <a:t>運用の中身</a:t>
                      </a:r>
                    </a:p>
                  </a:txBody>
                  <a:tcPr anchor="ctr">
                    <a:solidFill>
                      <a:srgbClr val="1F285A"/>
                    </a:solidFill>
                  </a:tcPr>
                </a:tc>
                <a:tc>
                  <a:txBody>
                    <a:bodyPr/>
                    <a:lstStyle/>
                    <a:p>
                      <a:pPr algn="l"/>
                      <a:r>
                        <a:rPr sz="1200" b="1">
                          <a:solidFill>
                            <a:srgbClr val="FFFFFF"/>
                          </a:solidFill>
                          <a:latin typeface="メイリオ"/>
                          <a:ea typeface="メイリオ"/>
                          <a:cs typeface="メイリオ"/>
                        </a:rPr>
                        <a:t>強み／弱み</a:t>
                      </a:r>
                    </a:p>
                  </a:txBody>
                  <a:tcPr anchor="ctr">
                    <a:solidFill>
                      <a:srgbClr val="1F285A"/>
                    </a:solidFill>
                  </a:tcPr>
                </a:tc>
                <a:extLst>
                  <a:ext uri="{0D108BD9-81ED-4DB2-BD59-A6C34878D82A}">
                    <a16:rowId xmlns:a16="http://schemas.microsoft.com/office/drawing/2014/main" val="10000"/>
                  </a:ext>
                </a:extLst>
              </a:tr>
              <a:tr h="792000">
                <a:tc>
                  <a:txBody>
                    <a:bodyPr/>
                    <a:lstStyle/>
                    <a:p>
                      <a:pPr algn="l"/>
                      <a:r>
                        <a:rPr sz="1100">
                          <a:solidFill>
                            <a:srgbClr val="1C2233"/>
                          </a:solidFill>
                          <a:latin typeface="メイリオ"/>
                          <a:ea typeface="メイリオ"/>
                          <a:cs typeface="メイリオ"/>
                        </a:rPr>
                        <a:t>① 診断ドリブン型</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学部学科診断・適性診断で属性を取得し、学年・志望度別に配信を出し分ける</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本提案の型</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実装している学校が少なく、空白地帯</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1"/>
                  </a:ext>
                </a:extLst>
              </a:tr>
              <a:tr h="792000">
                <a:tc>
                  <a:txBody>
                    <a:bodyPr/>
                    <a:lstStyle/>
                    <a:p>
                      <a:pPr algn="l"/>
                      <a:r>
                        <a:rPr sz="1100">
                          <a:solidFill>
                            <a:srgbClr val="1C2233"/>
                          </a:solidFill>
                          <a:latin typeface="メイリオ"/>
                          <a:ea typeface="メイリオ"/>
                          <a:cs typeface="メイリオ"/>
                        </a:rPr>
                        <a:t>② 相談カウンター型</a:t>
                      </a:r>
                    </a:p>
                  </a:txBody>
                  <a:tcPr anchor="ctr">
                    <a:solidFill>
                      <a:srgbClr val="F4F7FF"/>
                    </a:solidFill>
                  </a:tcPr>
                </a:tc>
                <a:tc>
                  <a:txBody>
                    <a:bodyPr/>
                    <a:lstStyle/>
                    <a:p>
                      <a:pPr algn="l"/>
                      <a:r>
                        <a:rPr sz="1100">
                          <a:solidFill>
                            <a:srgbClr val="1C2233"/>
                          </a:solidFill>
                          <a:latin typeface="メイリオ"/>
                          <a:ea typeface="メイリオ"/>
                          <a:cs typeface="メイリオ"/>
                        </a:rPr>
                        <a:t>有人チャットでの個別相談が中心。配信はほとんどしない</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相談に来た子には強い</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来ない子は拾えない</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2"/>
                  </a:ext>
                </a:extLst>
              </a:tr>
              <a:tr h="792000">
                <a:tc>
                  <a:txBody>
                    <a:bodyPr/>
                    <a:lstStyle/>
                    <a:p>
                      <a:pPr algn="l"/>
                      <a:r>
                        <a:rPr sz="1100">
                          <a:solidFill>
                            <a:srgbClr val="1C2233"/>
                          </a:solidFill>
                          <a:latin typeface="メイリオ"/>
                          <a:ea typeface="メイリオ"/>
                          <a:cs typeface="メイリオ"/>
                        </a:rPr>
                        <a:t>③ カタログ型</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学部一覧・OC日程・資料請求のリンクを並べただけ</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押すとWebへ飛ぶ</a:t>
                      </a:r>
                      <a:endParaRPr sz="1100" dirty="0">
                        <a:solidFill>
                          <a:srgbClr val="1C2233"/>
                        </a:solidFill>
                        <a:latin typeface="メイリオ"/>
                        <a:ea typeface="メイリオ"/>
                        <a:cs typeface="メイリオ"/>
                      </a:endParaRPr>
                    </a:p>
                  </a:txBody>
                  <a:tcPr anchor="ctr">
                    <a:solidFill>
                      <a:srgbClr val="FFFFFF"/>
                    </a:solidFill>
                  </a:tcPr>
                </a:tc>
                <a:tc>
                  <a:txBody>
                    <a:bodyPr/>
                    <a:lstStyle/>
                    <a:p>
                      <a:pPr algn="l"/>
                      <a:r>
                        <a:rPr sz="1100" dirty="0" err="1">
                          <a:solidFill>
                            <a:srgbClr val="1C2233"/>
                          </a:solidFill>
                          <a:latin typeface="メイリオ"/>
                          <a:ea typeface="メイリオ"/>
                          <a:cs typeface="メイリオ"/>
                        </a:rPr>
                        <a:t>最も多い。LINEを使っているのではなく</a:t>
                      </a:r>
                      <a:r>
                        <a:rPr lang="ja-JP" altLang="en-US"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リンク集にしている</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3"/>
                  </a:ext>
                </a:extLst>
              </a:tr>
              <a:tr h="792000">
                <a:tc>
                  <a:txBody>
                    <a:bodyPr/>
                    <a:lstStyle/>
                    <a:p>
                      <a:pPr algn="l"/>
                      <a:r>
                        <a:rPr sz="1100">
                          <a:solidFill>
                            <a:srgbClr val="1C2233"/>
                          </a:solidFill>
                          <a:latin typeface="メイリオ"/>
                          <a:ea typeface="メイリオ"/>
                          <a:cs typeface="メイリオ"/>
                        </a:rPr>
                        <a:t>④ 連絡網型</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在学生への休講連絡・事務連絡が中心</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受験生向けには使っていない</a:t>
                      </a:r>
                      <a:endParaRPr sz="1100" dirty="0">
                        <a:solidFill>
                          <a:srgbClr val="1C2233"/>
                        </a:solidFill>
                        <a:latin typeface="メイリオ"/>
                        <a:ea typeface="メイリオ"/>
                        <a:cs typeface="メイリオ"/>
                      </a:endParaRPr>
                    </a:p>
                  </a:txBody>
                  <a:tcPr anchor="ctr">
                    <a:solidFill>
                      <a:srgbClr val="F4F7FF"/>
                    </a:solidFill>
                  </a:tcPr>
                </a:tc>
                <a:tc>
                  <a:txBody>
                    <a:bodyPr/>
                    <a:lstStyle/>
                    <a:p>
                      <a:pPr algn="l"/>
                      <a:r>
                        <a:rPr sz="1100" dirty="0" err="1">
                          <a:solidFill>
                            <a:srgbClr val="1C2233"/>
                          </a:solidFill>
                          <a:latin typeface="メイリオ"/>
                          <a:ea typeface="メイリオ"/>
                          <a:cs typeface="メイリオ"/>
                        </a:rPr>
                        <a:t>友だち数は多いが、募集には一切効いていない</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目指すのは ①診断 × 出し分け × 入学後まで の三点セット。どれか1つだけでは必ず頭打ちになる。</a:t>
            </a:r>
          </a:p>
        </p:txBody>
      </p:sp>
      <p:sp>
        <p:nvSpPr>
          <p:cNvPr id="8" name="TextBox 7"/>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型分類は塾業界（2026-09-15実測）で検証したフレーム。学校法人での各校の当てはめは実機調査（page.line.me・PC実査）で確定する。</a:t>
            </a:r>
          </a:p>
        </p:txBody>
      </p:sp>
    </p:spTree>
    <p:extLst>
      <p:ext uri="{BB962C8B-B14F-4D97-AF65-F5344CB8AC3E}">
        <p14:creationId xmlns:p14="http://schemas.microsoft.com/office/powerpoint/2010/main" val="43543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現状分析｜各校のリッチメニュー・あいさつメッセージ</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実機の画面を並べると、型の違いが一目で伝わる。</a:t>
            </a:r>
          </a:p>
        </p:txBody>
      </p:sp>
      <p:sp>
        <p:nvSpPr>
          <p:cNvPr id="4" name="Rounded Rectangle 3"/>
          <p:cNvSpPr/>
          <p:nvPr/>
        </p:nvSpPr>
        <p:spPr>
          <a:xfrm>
            <a:off x="396000"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立命館大学 入学センター</a:t>
            </a:r>
          </a:p>
        </p:txBody>
      </p:sp>
      <p:sp>
        <p:nvSpPr>
          <p:cNvPr id="6" name="Rounded Rectangle 5"/>
          <p:cNvSpPr/>
          <p:nvPr/>
        </p:nvSpPr>
        <p:spPr>
          <a:xfrm>
            <a:off x="396000"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王道の3導線型</a:t>
            </a:r>
          </a:p>
          <a:p>
            <a:pPr algn="ctr"/>
            <a:r>
              <a:rPr sz="800" b="0">
                <a:solidFill>
                  <a:srgbClr val="646C82"/>
                </a:solidFill>
                <a:ea typeface="メイリオ"/>
                <a:cs typeface="メイリオ"/>
              </a:rPr>
              <a:t>情報サイト・入試イベント・資料請求</a:t>
            </a:r>
          </a:p>
        </p:txBody>
      </p:sp>
      <p:sp>
        <p:nvSpPr>
          <p:cNvPr id="7" name="Rounded Rectangle 6"/>
          <p:cNvSpPr/>
          <p:nvPr/>
        </p:nvSpPr>
        <p:spPr>
          <a:xfrm>
            <a:off x="2231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近畿大学</a:t>
            </a:r>
          </a:p>
        </p:txBody>
      </p:sp>
      <p:sp>
        <p:nvSpPr>
          <p:cNvPr id="9" name="Rounded Rectangle 8"/>
          <p:cNvSpPr/>
          <p:nvPr/>
        </p:nvSpPr>
        <p:spPr>
          <a:xfrm>
            <a:off x="2231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個別問合せは受けない</a:t>
            </a:r>
          </a:p>
          <a:p>
            <a:pPr algn="ctr"/>
            <a:r>
              <a:rPr sz="800" b="0">
                <a:solidFill>
                  <a:srgbClr val="646C82"/>
                </a:solidFill>
                <a:ea typeface="メイリオ"/>
                <a:cs typeface="メイリオ"/>
              </a:rPr>
              <a:t>自動応答でメール・電話へ誘導</a:t>
            </a:r>
          </a:p>
        </p:txBody>
      </p:sp>
      <p:sp>
        <p:nvSpPr>
          <p:cNvPr id="10" name="Rounded Rectangle 9"/>
          <p:cNvSpPr/>
          <p:nvPr/>
        </p:nvSpPr>
        <p:spPr>
          <a:xfrm>
            <a:off x="4067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龍谷大学 入試部</a:t>
            </a:r>
          </a:p>
        </p:txBody>
      </p:sp>
      <p:sp>
        <p:nvSpPr>
          <p:cNvPr id="12" name="Rounded Rectangle 11"/>
          <p:cNvSpPr/>
          <p:nvPr/>
        </p:nvSpPr>
        <p:spPr>
          <a:xfrm>
            <a:off x="4067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dirty="0" err="1">
                <a:solidFill>
                  <a:srgbClr val="1C2233"/>
                </a:solidFill>
                <a:latin typeface="メイリオ"/>
                <a:ea typeface="メイリオ"/>
                <a:cs typeface="メイリオ"/>
              </a:rPr>
              <a:t>友だち限定の特典型</a:t>
            </a:r>
            <a:endParaRPr sz="950" b="1" dirty="0">
              <a:solidFill>
                <a:srgbClr val="1C2233"/>
              </a:solidFill>
              <a:latin typeface="メイリオ"/>
              <a:ea typeface="メイリオ"/>
              <a:cs typeface="メイリオ"/>
            </a:endParaRPr>
          </a:p>
          <a:p>
            <a:pPr algn="ctr"/>
            <a:r>
              <a:rPr sz="800" b="0" dirty="0" err="1">
                <a:solidFill>
                  <a:srgbClr val="646C82"/>
                </a:solidFill>
                <a:ea typeface="メイリオ"/>
                <a:cs typeface="メイリオ"/>
              </a:rPr>
              <a:t>入試対策講座を</a:t>
            </a:r>
            <a:endParaRPr lang="en-US" sz="800" b="0" dirty="0">
              <a:solidFill>
                <a:srgbClr val="646C82"/>
              </a:solidFill>
              <a:ea typeface="メイリオ"/>
              <a:cs typeface="メイリオ"/>
            </a:endParaRPr>
          </a:p>
          <a:p>
            <a:pPr algn="ctr"/>
            <a:r>
              <a:rPr sz="800" b="0" dirty="0" err="1">
                <a:solidFill>
                  <a:srgbClr val="646C82"/>
                </a:solidFill>
                <a:ea typeface="メイリオ"/>
                <a:cs typeface="メイリオ"/>
              </a:rPr>
              <a:t>LINE登録者だけに配布</a:t>
            </a:r>
            <a:endParaRPr sz="800" b="0" dirty="0">
              <a:solidFill>
                <a:srgbClr val="646C82"/>
              </a:solidFill>
              <a:ea typeface="メイリオ"/>
              <a:cs typeface="メイリオ"/>
            </a:endParaRPr>
          </a:p>
        </p:txBody>
      </p:sp>
      <p:sp>
        <p:nvSpPr>
          <p:cNvPr id="13" name="Rounded Rectangle 12"/>
          <p:cNvSpPr/>
          <p:nvPr/>
        </p:nvSpPr>
        <p:spPr>
          <a:xfrm>
            <a:off x="5903999"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日本工学院</a:t>
            </a:r>
          </a:p>
        </p:txBody>
      </p:sp>
      <p:sp>
        <p:nvSpPr>
          <p:cNvPr id="15" name="Rounded Rectangle 14"/>
          <p:cNvSpPr/>
          <p:nvPr/>
        </p:nvSpPr>
        <p:spPr>
          <a:xfrm>
            <a:off x="5903999"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OC日程の直載せ型</a:t>
            </a:r>
          </a:p>
          <a:p>
            <a:pPr algn="ctr"/>
            <a:r>
              <a:rPr sz="800" b="0">
                <a:solidFill>
                  <a:srgbClr val="646C82"/>
                </a:solidFill>
                <a:ea typeface="メイリオ"/>
                <a:cs typeface="メイリオ"/>
              </a:rPr>
              <a:t>次回日程＋チャット質問窓口</a:t>
            </a:r>
          </a:p>
        </p:txBody>
      </p:sp>
      <p:sp>
        <p:nvSpPr>
          <p:cNvPr id="16" name="Rounded Rectangle 15"/>
          <p:cNvSpPr/>
          <p:nvPr/>
        </p:nvSpPr>
        <p:spPr>
          <a:xfrm>
            <a:off x="7740000" y="1224000"/>
            <a:ext cx="1692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00" b="1">
                <a:solidFill>
                  <a:srgbClr val="1F285A"/>
                </a:solidFill>
                <a:latin typeface="メイリオ"/>
                <a:ea typeface="メイリオ"/>
                <a:cs typeface="メイリオ"/>
              </a:rPr>
              <a:t>HAL東京</a:t>
            </a:r>
          </a:p>
        </p:txBody>
      </p:sp>
      <p:sp>
        <p:nvSpPr>
          <p:cNvPr id="18" name="Rounded Rectangle 17"/>
          <p:cNvSpPr/>
          <p:nvPr/>
        </p:nvSpPr>
        <p:spPr>
          <a:xfrm>
            <a:off x="7740000" y="4824000"/>
            <a:ext cx="1692000" cy="503999"/>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950" b="1">
                <a:solidFill>
                  <a:srgbClr val="1C2233"/>
                </a:solidFill>
                <a:latin typeface="メイリオ"/>
                <a:ea typeface="メイリオ"/>
                <a:cs typeface="メイリオ"/>
              </a:rPr>
              <a:t>チャット相談型</a:t>
            </a:r>
          </a:p>
          <a:p>
            <a:pPr algn="ctr"/>
            <a:r>
              <a:rPr sz="800" b="0">
                <a:solidFill>
                  <a:srgbClr val="646C82"/>
                </a:solidFill>
                <a:ea typeface="メイリオ"/>
                <a:cs typeface="メイリオ"/>
              </a:rPr>
              <a:t>入学担当が質問に回答</a:t>
            </a:r>
          </a:p>
        </p:txBody>
      </p:sp>
      <p:sp>
        <p:nvSpPr>
          <p:cNvPr id="19" name="Rectangle 18"/>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8校とも導線は「OC・資料請求」まで。保護者に向けた発信はゼロ＝ここが空白地帯。</a:t>
            </a:r>
          </a:p>
        </p:txBody>
      </p:sp>
      <p:sp>
        <p:nvSpPr>
          <p:cNvPr id="22" name="TextBox 21"/>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b="0">
                <a:solidFill>
                  <a:srgbClr val="646C82"/>
                </a:solidFill>
                <a:latin typeface="メイリオ"/>
                <a:ea typeface="メイリオ"/>
                <a:cs typeface="メイリオ"/>
              </a:rPr>
              <a:t>※ 2026-09-23 実機取得（友だち追加直後のあいさつメッセージ＋リッチメニュー）。友だち数は page.line.me 実測（2026-09-20）。</a:t>
            </a:r>
          </a:p>
          <a:p>
            <a:pPr algn="l"/>
            <a:r>
              <a:rPr sz="900" b="0">
                <a:solidFill>
                  <a:srgbClr val="646C82"/>
                </a:solidFill>
                <a:ea typeface="メイリオ"/>
                <a:cs typeface="メイリオ"/>
              </a:rPr>
              <a:t>※ 他3校：大原学園＝先生と個別トーク型／NSGカレッジリーグ＝登録直後の配信なし／大阪モード学園＝OC・資料請求・Instagram導線。</a:t>
            </a:r>
          </a:p>
        </p:txBody>
      </p:sp>
      <p:pic>
        <p:nvPicPr>
          <p:cNvPr id="23" name="Picture 22" descr="立命館大学入学センター_あいさつ_リッチメニュー.png"/>
          <p:cNvPicPr>
            <a:picLocks noChangeAspect="1"/>
          </p:cNvPicPr>
          <p:nvPr/>
        </p:nvPicPr>
        <p:blipFill>
          <a:blip r:embed="rId2"/>
          <a:stretch>
            <a:fillRect/>
          </a:stretch>
        </p:blipFill>
        <p:spPr>
          <a:xfrm>
            <a:off x="543327" y="1691998"/>
            <a:ext cx="1397346" cy="3024000"/>
          </a:xfrm>
          <a:prstGeom prst="rect">
            <a:avLst/>
          </a:prstGeom>
          <a:ln w="9525">
            <a:solidFill>
              <a:srgbClr val="D9D9D9"/>
            </a:solidFill>
          </a:ln>
        </p:spPr>
      </p:pic>
      <p:pic>
        <p:nvPicPr>
          <p:cNvPr id="24" name="Picture 23" descr="近畿大学_自動応答_リッチメニュー.png"/>
          <p:cNvPicPr>
            <a:picLocks noChangeAspect="1"/>
          </p:cNvPicPr>
          <p:nvPr/>
        </p:nvPicPr>
        <p:blipFill>
          <a:blip r:embed="rId3"/>
          <a:stretch>
            <a:fillRect/>
          </a:stretch>
        </p:blipFill>
        <p:spPr>
          <a:xfrm>
            <a:off x="2379326" y="1691998"/>
            <a:ext cx="1397346" cy="3024000"/>
          </a:xfrm>
          <a:prstGeom prst="rect">
            <a:avLst/>
          </a:prstGeom>
          <a:ln w="9525">
            <a:solidFill>
              <a:srgbClr val="D9D9D9"/>
            </a:solidFill>
          </a:ln>
        </p:spPr>
      </p:pic>
      <p:pic>
        <p:nvPicPr>
          <p:cNvPr id="25" name="Picture 24" descr="龍谷大学入試部_あいさつ2_リッチメニュー.png"/>
          <p:cNvPicPr>
            <a:picLocks noChangeAspect="1"/>
          </p:cNvPicPr>
          <p:nvPr/>
        </p:nvPicPr>
        <p:blipFill>
          <a:blip r:embed="rId4"/>
          <a:stretch>
            <a:fillRect/>
          </a:stretch>
        </p:blipFill>
        <p:spPr>
          <a:xfrm>
            <a:off x="4215326" y="1691998"/>
            <a:ext cx="1397346" cy="3024000"/>
          </a:xfrm>
          <a:prstGeom prst="rect">
            <a:avLst/>
          </a:prstGeom>
          <a:ln w="9525">
            <a:solidFill>
              <a:srgbClr val="D9D9D9"/>
            </a:solidFill>
          </a:ln>
        </p:spPr>
      </p:pic>
      <p:pic>
        <p:nvPicPr>
          <p:cNvPr id="26" name="Picture 25" descr="日本工学院_リッチメニュー.png"/>
          <p:cNvPicPr>
            <a:picLocks noChangeAspect="1"/>
          </p:cNvPicPr>
          <p:nvPr/>
        </p:nvPicPr>
        <p:blipFill>
          <a:blip r:embed="rId5"/>
          <a:stretch>
            <a:fillRect/>
          </a:stretch>
        </p:blipFill>
        <p:spPr>
          <a:xfrm>
            <a:off x="6051326" y="1691998"/>
            <a:ext cx="1397346" cy="3024000"/>
          </a:xfrm>
          <a:prstGeom prst="rect">
            <a:avLst/>
          </a:prstGeom>
          <a:ln w="9525">
            <a:solidFill>
              <a:srgbClr val="D9D9D9"/>
            </a:solidFill>
          </a:ln>
        </p:spPr>
      </p:pic>
      <p:pic>
        <p:nvPicPr>
          <p:cNvPr id="27" name="Picture 26" descr="HAL東京_リッチメニュー.png"/>
          <p:cNvPicPr>
            <a:picLocks noChangeAspect="1"/>
          </p:cNvPicPr>
          <p:nvPr/>
        </p:nvPicPr>
        <p:blipFill>
          <a:blip r:embed="rId6"/>
          <a:stretch>
            <a:fillRect/>
          </a:stretch>
        </p:blipFill>
        <p:spPr>
          <a:xfrm>
            <a:off x="7887327" y="1691998"/>
            <a:ext cx="1397346" cy="3024000"/>
          </a:xfrm>
          <a:prstGeom prst="rect">
            <a:avLst/>
          </a:prstGeom>
          <a:ln w="9525">
            <a:solidFill>
              <a:srgbClr val="D9D9D9"/>
            </a:solidFill>
          </a:ln>
        </p:spPr>
      </p:pic>
    </p:spTree>
    <p:extLst>
      <p:ext uri="{BB962C8B-B14F-4D97-AF65-F5344CB8AC3E}">
        <p14:creationId xmlns:p14="http://schemas.microsoft.com/office/powerpoint/2010/main" val="1532125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A4235-DDB6-F649-58D2-961B2D0F3A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D2809366-14CD-B7C0-993B-02E7731659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14AF9D62-76E2-92FA-477E-9FC9FEFA77D6}"/>
              </a:ext>
            </a:extLst>
          </p:cNvPr>
          <p:cNvSpPr/>
          <p:nvPr/>
        </p:nvSpPr>
        <p:spPr>
          <a:xfrm>
            <a:off x="3629577" y="3038203"/>
            <a:ext cx="2646878"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配信の考え方</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364786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92180-D336-F255-C39D-17584774E38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a:t>
            </a:r>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具体的な業界におけるリード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有効リード</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マネタイズ については下記にて仮定</a:t>
            </a:r>
            <a:r>
              <a:rPr lang="ja-JP" altLang="en-US" sz="1600" b="1" dirty="0">
                <a:latin typeface="メイリオ" panose="020B0604030504040204" pitchFamily="50" charset="-128"/>
                <a:ea typeface="メイリオ" panose="020B0604030504040204" pitchFamily="50" charset="-128"/>
                <a:cs typeface="Meiryo"/>
                <a:sym typeface="Meiryo"/>
              </a:rPr>
              <a:t>。</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F2ACC73-0643-27D8-F1B3-1B871FCEF141}"/>
              </a:ext>
            </a:extLst>
          </p:cNvPr>
          <p:cNvCxnSpPr>
            <a:cxnSpLocks/>
          </p:cNvCxnSpPr>
          <p:nvPr/>
        </p:nvCxnSpPr>
        <p:spPr>
          <a:xfrm>
            <a:off x="334303" y="3515795"/>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69C05BA8-18F6-F344-3C54-A5E03AFE2368}"/>
              </a:ext>
            </a:extLst>
          </p:cNvPr>
          <p:cNvCxnSpPr>
            <a:cxnSpLocks/>
          </p:cNvCxnSpPr>
          <p:nvPr/>
        </p:nvCxnSpPr>
        <p:spPr>
          <a:xfrm>
            <a:off x="3122098" y="4928015"/>
            <a:ext cx="6619128"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テキスト ボックス 24">
            <a:extLst>
              <a:ext uri="{FF2B5EF4-FFF2-40B4-BE49-F238E27FC236}">
                <a16:creationId xmlns:a16="http://schemas.microsoft.com/office/drawing/2014/main" id="{E77786FC-857A-BA29-36E6-9A41C2E99F31}"/>
              </a:ext>
            </a:extLst>
          </p:cNvPr>
          <p:cNvSpPr txBox="1"/>
          <p:nvPr/>
        </p:nvSpPr>
        <p:spPr>
          <a:xfrm>
            <a:off x="1268358" y="3383509"/>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6" name="テキスト ボックス 25">
            <a:extLst>
              <a:ext uri="{FF2B5EF4-FFF2-40B4-BE49-F238E27FC236}">
                <a16:creationId xmlns:a16="http://schemas.microsoft.com/office/drawing/2014/main" id="{5B6D9466-EC9E-4057-AB18-8974D147F3E8}"/>
              </a:ext>
            </a:extLst>
          </p:cNvPr>
          <p:cNvSpPr txBox="1"/>
          <p:nvPr/>
        </p:nvSpPr>
        <p:spPr>
          <a:xfrm>
            <a:off x="5558554" y="4804166"/>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27" name="直線矢印コネクタ 26">
            <a:extLst>
              <a:ext uri="{FF2B5EF4-FFF2-40B4-BE49-F238E27FC236}">
                <a16:creationId xmlns:a16="http://schemas.microsoft.com/office/drawing/2014/main" id="{C2DCC080-98CE-945F-96A2-C42DE7E0C936}"/>
              </a:ext>
            </a:extLst>
          </p:cNvPr>
          <p:cNvCxnSpPr>
            <a:cxnSpLocks/>
          </p:cNvCxnSpPr>
          <p:nvPr/>
        </p:nvCxnSpPr>
        <p:spPr>
          <a:xfrm>
            <a:off x="3609975" y="3504789"/>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EA293A6D-CB27-A495-B2B6-10D3182B0B70}"/>
              </a:ext>
            </a:extLst>
          </p:cNvPr>
          <p:cNvSpPr txBox="1"/>
          <p:nvPr/>
        </p:nvSpPr>
        <p:spPr>
          <a:xfrm>
            <a:off x="3908480" y="3397243"/>
            <a:ext cx="1913269" cy="234537"/>
          </a:xfrm>
          <a:prstGeom prst="rect">
            <a:avLst/>
          </a:prstGeom>
          <a:solidFill>
            <a:schemeClr val="bg1"/>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オフライン→</a:t>
            </a: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3" name="正方形/長方形 32">
            <a:extLst>
              <a:ext uri="{FF2B5EF4-FFF2-40B4-BE49-F238E27FC236}">
                <a16:creationId xmlns:a16="http://schemas.microsoft.com/office/drawing/2014/main" id="{BF6CFDE9-CDE8-1133-47F9-90F22773AF32}"/>
              </a:ext>
            </a:extLst>
          </p:cNvPr>
          <p:cNvSpPr/>
          <p:nvPr/>
        </p:nvSpPr>
        <p:spPr>
          <a:xfrm>
            <a:off x="315939" y="3613966"/>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WEB</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a:t>
            </a:r>
          </a:p>
        </p:txBody>
      </p:sp>
      <p:sp>
        <p:nvSpPr>
          <p:cNvPr id="34" name="正方形/長方形 33">
            <a:extLst>
              <a:ext uri="{FF2B5EF4-FFF2-40B4-BE49-F238E27FC236}">
                <a16:creationId xmlns:a16="http://schemas.microsoft.com/office/drawing/2014/main" id="{39DCB4B6-9411-CC10-0D34-9F40EC11AD82}"/>
              </a:ext>
            </a:extLst>
          </p:cNvPr>
          <p:cNvSpPr/>
          <p:nvPr/>
        </p:nvSpPr>
        <p:spPr>
          <a:xfrm>
            <a:off x="3122098" y="505122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00"/>
                </a:solidFill>
                <a:latin typeface="メイリオ" panose="020B0604030504040204" pitchFamily="50" charset="-128"/>
                <a:ea typeface="メイリオ" panose="020B0604030504040204" pitchFamily="50" charset="-128"/>
              </a:rPr>
              <a:t>（</a:t>
            </a:r>
            <a:r>
              <a:rPr kumimoji="1" lang="en-US" altLang="ja-JP" sz="1000" dirty="0">
                <a:solidFill>
                  <a:srgbClr val="FFFF00"/>
                </a:solidFill>
                <a:latin typeface="メイリオ" panose="020B0604030504040204" pitchFamily="50" charset="-128"/>
                <a:ea typeface="メイリオ" panose="020B0604030504040204" pitchFamily="50" charset="-128"/>
              </a:rPr>
              <a:t>LINE</a:t>
            </a:r>
            <a:r>
              <a:rPr kumimoji="1" lang="ja-JP" altLang="en-US" sz="1000" dirty="0">
                <a:solidFill>
                  <a:srgbClr val="FFFF00"/>
                </a:solidFill>
                <a:latin typeface="メイリオ" panose="020B0604030504040204" pitchFamily="50" charset="-128"/>
                <a:ea typeface="メイリオ" panose="020B0604030504040204" pitchFamily="50" charset="-128"/>
              </a:rPr>
              <a:t>→反響）</a:t>
            </a:r>
          </a:p>
        </p:txBody>
      </p:sp>
      <p:cxnSp>
        <p:nvCxnSpPr>
          <p:cNvPr id="35" name="直線矢印コネクタ 34">
            <a:extLst>
              <a:ext uri="{FF2B5EF4-FFF2-40B4-BE49-F238E27FC236}">
                <a16:creationId xmlns:a16="http://schemas.microsoft.com/office/drawing/2014/main" id="{B94F8848-87A6-4A24-C2DE-D4A5BD2787D7}"/>
              </a:ext>
            </a:extLst>
          </p:cNvPr>
          <p:cNvCxnSpPr>
            <a:cxnSpLocks/>
          </p:cNvCxnSpPr>
          <p:nvPr/>
        </p:nvCxnSpPr>
        <p:spPr>
          <a:xfrm>
            <a:off x="484665" y="396479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13A35DD7-3CE1-ABA2-45A4-29A5F6D013E2}"/>
              </a:ext>
            </a:extLst>
          </p:cNvPr>
          <p:cNvSpPr txBox="1"/>
          <p:nvPr/>
        </p:nvSpPr>
        <p:spPr>
          <a:xfrm>
            <a:off x="853704" y="3860734"/>
            <a:ext cx="822746"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cs typeface="Meiryo"/>
                <a:sym typeface="Meiryo"/>
              </a:rPr>
              <a:t>CPF</a:t>
            </a:r>
            <a:r>
              <a:rPr lang="ja-JP" altLang="en-US" sz="1000" b="1" dirty="0">
                <a:latin typeface="メイリオ" panose="020B0604030504040204" pitchFamily="50" charset="-128"/>
                <a:ea typeface="メイリオ" panose="020B0604030504040204" pitchFamily="50" charset="-128"/>
                <a:cs typeface="Meiryo"/>
                <a:sym typeface="Meiryo"/>
              </a:rPr>
              <a:t>広告</a:t>
            </a:r>
            <a:endParaRPr lang="ja-JP" altLang="en-US" sz="1000" b="1" dirty="0"/>
          </a:p>
        </p:txBody>
      </p:sp>
      <p:cxnSp>
        <p:nvCxnSpPr>
          <p:cNvPr id="37" name="直線矢印コネクタ 36">
            <a:extLst>
              <a:ext uri="{FF2B5EF4-FFF2-40B4-BE49-F238E27FC236}">
                <a16:creationId xmlns:a16="http://schemas.microsoft.com/office/drawing/2014/main" id="{4DD36FC2-6468-F5B5-EFB8-BBFB2CF7F452}"/>
              </a:ext>
            </a:extLst>
          </p:cNvPr>
          <p:cNvCxnSpPr>
            <a:cxnSpLocks/>
          </p:cNvCxnSpPr>
          <p:nvPr/>
        </p:nvCxnSpPr>
        <p:spPr>
          <a:xfrm>
            <a:off x="3442595" y="43324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52205788-B1CC-5FF9-ED78-B6DD32267E17}"/>
              </a:ext>
            </a:extLst>
          </p:cNvPr>
          <p:cNvSpPr txBox="1"/>
          <p:nvPr/>
        </p:nvSpPr>
        <p:spPr>
          <a:xfrm>
            <a:off x="3811634" y="41986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39" name="直線矢印コネクタ 38">
            <a:extLst>
              <a:ext uri="{FF2B5EF4-FFF2-40B4-BE49-F238E27FC236}">
                <a16:creationId xmlns:a16="http://schemas.microsoft.com/office/drawing/2014/main" id="{923E43E2-8157-8C38-4A7C-C186793E6650}"/>
              </a:ext>
            </a:extLst>
          </p:cNvPr>
          <p:cNvCxnSpPr>
            <a:cxnSpLocks/>
          </p:cNvCxnSpPr>
          <p:nvPr/>
        </p:nvCxnSpPr>
        <p:spPr>
          <a:xfrm>
            <a:off x="3442595" y="458569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9B46B511-7630-9D21-552D-BAD1DCEC8387}"/>
              </a:ext>
            </a:extLst>
          </p:cNvPr>
          <p:cNvSpPr txBox="1"/>
          <p:nvPr/>
        </p:nvSpPr>
        <p:spPr>
          <a:xfrm>
            <a:off x="3811634" y="4451915"/>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41" name="直線矢印コネクタ 40">
            <a:extLst>
              <a:ext uri="{FF2B5EF4-FFF2-40B4-BE49-F238E27FC236}">
                <a16:creationId xmlns:a16="http://schemas.microsoft.com/office/drawing/2014/main" id="{64D8562C-014D-DFB4-2D01-7479448659D1}"/>
              </a:ext>
            </a:extLst>
          </p:cNvPr>
          <p:cNvCxnSpPr>
            <a:cxnSpLocks/>
          </p:cNvCxnSpPr>
          <p:nvPr/>
        </p:nvCxnSpPr>
        <p:spPr>
          <a:xfrm>
            <a:off x="1351697" y="415316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テキスト ボックス 41">
            <a:extLst>
              <a:ext uri="{FF2B5EF4-FFF2-40B4-BE49-F238E27FC236}">
                <a16:creationId xmlns:a16="http://schemas.microsoft.com/office/drawing/2014/main" id="{540E1D19-5457-9319-2789-430F63EC5A42}"/>
              </a:ext>
            </a:extLst>
          </p:cNvPr>
          <p:cNvSpPr txBox="1"/>
          <p:nvPr/>
        </p:nvSpPr>
        <p:spPr>
          <a:xfrm>
            <a:off x="1720736" y="4019384"/>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3" name="直線矢印コネクタ 42">
            <a:extLst>
              <a:ext uri="{FF2B5EF4-FFF2-40B4-BE49-F238E27FC236}">
                <a16:creationId xmlns:a16="http://schemas.microsoft.com/office/drawing/2014/main" id="{490155E9-25FB-3090-382A-CA0B7F87F965}"/>
              </a:ext>
            </a:extLst>
          </p:cNvPr>
          <p:cNvCxnSpPr>
            <a:cxnSpLocks/>
          </p:cNvCxnSpPr>
          <p:nvPr/>
        </p:nvCxnSpPr>
        <p:spPr>
          <a:xfrm>
            <a:off x="1351697" y="438431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 name="テキスト ボックス 43">
            <a:extLst>
              <a:ext uri="{FF2B5EF4-FFF2-40B4-BE49-F238E27FC236}">
                <a16:creationId xmlns:a16="http://schemas.microsoft.com/office/drawing/2014/main" id="{08D35021-E114-E4DF-FF22-BF7BE0CDF4D8}"/>
              </a:ext>
            </a:extLst>
          </p:cNvPr>
          <p:cNvSpPr txBox="1"/>
          <p:nvPr/>
        </p:nvSpPr>
        <p:spPr>
          <a:xfrm>
            <a:off x="1720736" y="4250529"/>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サイト動線の整備</a:t>
            </a:r>
          </a:p>
        </p:txBody>
      </p:sp>
      <p:cxnSp>
        <p:nvCxnSpPr>
          <p:cNvPr id="45" name="直線矢印コネクタ 44">
            <a:extLst>
              <a:ext uri="{FF2B5EF4-FFF2-40B4-BE49-F238E27FC236}">
                <a16:creationId xmlns:a16="http://schemas.microsoft.com/office/drawing/2014/main" id="{6840C346-E790-A413-26C5-79129D6F5FB7}"/>
              </a:ext>
            </a:extLst>
          </p:cNvPr>
          <p:cNvCxnSpPr>
            <a:cxnSpLocks/>
          </p:cNvCxnSpPr>
          <p:nvPr/>
        </p:nvCxnSpPr>
        <p:spPr>
          <a:xfrm>
            <a:off x="3900757" y="402215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 name="テキスト ボックス 45">
            <a:extLst>
              <a:ext uri="{FF2B5EF4-FFF2-40B4-BE49-F238E27FC236}">
                <a16:creationId xmlns:a16="http://schemas.microsoft.com/office/drawing/2014/main" id="{715CC99E-9A08-159E-0120-31020FC33D0F}"/>
              </a:ext>
            </a:extLst>
          </p:cNvPr>
          <p:cNvSpPr txBox="1"/>
          <p:nvPr/>
        </p:nvSpPr>
        <p:spPr>
          <a:xfrm>
            <a:off x="4269796" y="388836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1000" b="1" dirty="0">
              <a:latin typeface="メイリオ" panose="020B0604030504040204" pitchFamily="50" charset="-128"/>
              <a:ea typeface="メイリオ" panose="020B0604030504040204" pitchFamily="50" charset="-128"/>
              <a:cs typeface="Meiryo"/>
              <a:sym typeface="Meiryo"/>
            </a:endParaRPr>
          </a:p>
        </p:txBody>
      </p:sp>
      <p:cxnSp>
        <p:nvCxnSpPr>
          <p:cNvPr id="47" name="直線矢印コネクタ 46">
            <a:extLst>
              <a:ext uri="{FF2B5EF4-FFF2-40B4-BE49-F238E27FC236}">
                <a16:creationId xmlns:a16="http://schemas.microsoft.com/office/drawing/2014/main" id="{C26FDFF8-ECDB-0D20-5A53-4F74EF6D93F8}"/>
              </a:ext>
            </a:extLst>
          </p:cNvPr>
          <p:cNvCxnSpPr>
            <a:cxnSpLocks/>
          </p:cNvCxnSpPr>
          <p:nvPr/>
        </p:nvCxnSpPr>
        <p:spPr>
          <a:xfrm>
            <a:off x="5494489" y="4328530"/>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03517788-8A00-3CE9-B8A0-DC9904CB9E29}"/>
              </a:ext>
            </a:extLst>
          </p:cNvPr>
          <p:cNvSpPr txBox="1"/>
          <p:nvPr/>
        </p:nvSpPr>
        <p:spPr>
          <a:xfrm>
            <a:off x="5863528" y="4194746"/>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通知メッセージ</a:t>
            </a:r>
            <a:endParaRPr lang="ja-JP" altLang="en-US" sz="1000" b="1" dirty="0"/>
          </a:p>
        </p:txBody>
      </p:sp>
      <p:cxnSp>
        <p:nvCxnSpPr>
          <p:cNvPr id="49" name="直線矢印コネクタ 48">
            <a:extLst>
              <a:ext uri="{FF2B5EF4-FFF2-40B4-BE49-F238E27FC236}">
                <a16:creationId xmlns:a16="http://schemas.microsoft.com/office/drawing/2014/main" id="{8A08B47D-236B-D58F-E880-0E520352BC81}"/>
              </a:ext>
            </a:extLst>
          </p:cNvPr>
          <p:cNvCxnSpPr>
            <a:cxnSpLocks/>
          </p:cNvCxnSpPr>
          <p:nvPr/>
        </p:nvCxnSpPr>
        <p:spPr>
          <a:xfrm>
            <a:off x="5494489" y="459136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8376E216-AB77-BC34-74BE-9C14746155C3}"/>
              </a:ext>
            </a:extLst>
          </p:cNvPr>
          <p:cNvSpPr txBox="1"/>
          <p:nvPr/>
        </p:nvSpPr>
        <p:spPr>
          <a:xfrm>
            <a:off x="5863528" y="445758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サンクス</a:t>
            </a:r>
            <a:r>
              <a:rPr lang="en-US" altLang="ja-JP" sz="1000" b="1" dirty="0">
                <a:latin typeface="メイリオ" panose="020B0604030504040204" pitchFamily="50" charset="-128"/>
                <a:ea typeface="メイリオ" panose="020B0604030504040204" pitchFamily="50" charset="-128"/>
                <a:cs typeface="Meiryo"/>
                <a:sym typeface="Meiryo"/>
              </a:rPr>
              <a:t>LINE</a:t>
            </a:r>
            <a:r>
              <a:rPr lang="ja-JP" altLang="en-US" sz="1000" b="1" dirty="0">
                <a:latin typeface="メイリオ" panose="020B0604030504040204" pitchFamily="50" charset="-128"/>
                <a:ea typeface="メイリオ" panose="020B0604030504040204" pitchFamily="50" charset="-128"/>
                <a:cs typeface="Meiryo"/>
                <a:sym typeface="Meiryo"/>
              </a:rPr>
              <a:t>誘導</a:t>
            </a:r>
            <a:endParaRPr lang="ja-JP" altLang="en-US" sz="1000" b="1" dirty="0"/>
          </a:p>
        </p:txBody>
      </p:sp>
      <p:cxnSp>
        <p:nvCxnSpPr>
          <p:cNvPr id="51" name="直線矢印コネクタ 50">
            <a:extLst>
              <a:ext uri="{FF2B5EF4-FFF2-40B4-BE49-F238E27FC236}">
                <a16:creationId xmlns:a16="http://schemas.microsoft.com/office/drawing/2014/main" id="{D6F7AD1E-A403-6C2E-4207-BA25C2D7BCC6}"/>
              </a:ext>
            </a:extLst>
          </p:cNvPr>
          <p:cNvCxnSpPr>
            <a:cxnSpLocks/>
          </p:cNvCxnSpPr>
          <p:nvPr/>
        </p:nvCxnSpPr>
        <p:spPr>
          <a:xfrm>
            <a:off x="751071" y="4630661"/>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D798DBD-5393-6131-8034-EC789105D05B}"/>
              </a:ext>
            </a:extLst>
          </p:cNvPr>
          <p:cNvSpPr txBox="1"/>
          <p:nvPr/>
        </p:nvSpPr>
        <p:spPr>
          <a:xfrm>
            <a:off x="983946" y="4526600"/>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53" name="直線矢印コネクタ 52">
            <a:extLst>
              <a:ext uri="{FF2B5EF4-FFF2-40B4-BE49-F238E27FC236}">
                <a16:creationId xmlns:a16="http://schemas.microsoft.com/office/drawing/2014/main" id="{527AED14-C910-4D3E-987F-EA62ABD18D90}"/>
              </a:ext>
            </a:extLst>
          </p:cNvPr>
          <p:cNvCxnSpPr>
            <a:cxnSpLocks/>
          </p:cNvCxnSpPr>
          <p:nvPr/>
        </p:nvCxnSpPr>
        <p:spPr>
          <a:xfrm>
            <a:off x="747965" y="4897406"/>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9644DD32-D05B-DE83-7791-37895274BDE9}"/>
              </a:ext>
            </a:extLst>
          </p:cNvPr>
          <p:cNvSpPr txBox="1"/>
          <p:nvPr/>
        </p:nvSpPr>
        <p:spPr>
          <a:xfrm>
            <a:off x="969834" y="4806108"/>
            <a:ext cx="1117086" cy="191105"/>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55" name="直線矢印コネクタ 54">
            <a:extLst>
              <a:ext uri="{FF2B5EF4-FFF2-40B4-BE49-F238E27FC236}">
                <a16:creationId xmlns:a16="http://schemas.microsoft.com/office/drawing/2014/main" id="{D3D532EE-6712-DE63-E452-E8BEAA167260}"/>
              </a:ext>
            </a:extLst>
          </p:cNvPr>
          <p:cNvCxnSpPr>
            <a:cxnSpLocks/>
          </p:cNvCxnSpPr>
          <p:nvPr/>
        </p:nvCxnSpPr>
        <p:spPr>
          <a:xfrm>
            <a:off x="7259810" y="444458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6" name="テキスト ボックス 55">
            <a:extLst>
              <a:ext uri="{FF2B5EF4-FFF2-40B4-BE49-F238E27FC236}">
                <a16:creationId xmlns:a16="http://schemas.microsoft.com/office/drawing/2014/main" id="{DCDD6E46-B8C3-8536-41F9-F39EB73CBD24}"/>
              </a:ext>
            </a:extLst>
          </p:cNvPr>
          <p:cNvSpPr txBox="1"/>
          <p:nvPr/>
        </p:nvSpPr>
        <p:spPr>
          <a:xfrm>
            <a:off x="7740673" y="4310804"/>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1000" b="1" dirty="0">
              <a:solidFill>
                <a:schemeClr val="tx1">
                  <a:lumMod val="50000"/>
                  <a:lumOff val="50000"/>
                </a:schemeClr>
              </a:solidFill>
            </a:endParaRPr>
          </a:p>
        </p:txBody>
      </p:sp>
      <p:cxnSp>
        <p:nvCxnSpPr>
          <p:cNvPr id="57" name="直線矢印コネクタ 56">
            <a:extLst>
              <a:ext uri="{FF2B5EF4-FFF2-40B4-BE49-F238E27FC236}">
                <a16:creationId xmlns:a16="http://schemas.microsoft.com/office/drawing/2014/main" id="{B9C84515-E6C9-A256-421E-9C3EFEBBFF17}"/>
              </a:ext>
            </a:extLst>
          </p:cNvPr>
          <p:cNvCxnSpPr>
            <a:cxnSpLocks/>
          </p:cNvCxnSpPr>
          <p:nvPr/>
        </p:nvCxnSpPr>
        <p:spPr>
          <a:xfrm>
            <a:off x="7697737" y="549519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58" name="テキスト ボックス 57">
            <a:extLst>
              <a:ext uri="{FF2B5EF4-FFF2-40B4-BE49-F238E27FC236}">
                <a16:creationId xmlns:a16="http://schemas.microsoft.com/office/drawing/2014/main" id="{7E002B77-EFC0-55F3-D3E6-100837F9B195}"/>
              </a:ext>
            </a:extLst>
          </p:cNvPr>
          <p:cNvSpPr txBox="1"/>
          <p:nvPr/>
        </p:nvSpPr>
        <p:spPr>
          <a:xfrm>
            <a:off x="8178600" y="536140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1000" b="1" dirty="0">
              <a:solidFill>
                <a:schemeClr val="tx1">
                  <a:lumMod val="50000"/>
                  <a:lumOff val="50000"/>
                </a:schemeClr>
              </a:solidFill>
            </a:endParaRPr>
          </a:p>
        </p:txBody>
      </p:sp>
      <p:cxnSp>
        <p:nvCxnSpPr>
          <p:cNvPr id="67" name="直線矢印コネクタ 66">
            <a:extLst>
              <a:ext uri="{FF2B5EF4-FFF2-40B4-BE49-F238E27FC236}">
                <a16:creationId xmlns:a16="http://schemas.microsoft.com/office/drawing/2014/main" id="{03BD82C1-8BEC-3E49-C1DA-A1C214DB1C8C}"/>
              </a:ext>
            </a:extLst>
          </p:cNvPr>
          <p:cNvCxnSpPr>
            <a:cxnSpLocks/>
          </p:cNvCxnSpPr>
          <p:nvPr/>
        </p:nvCxnSpPr>
        <p:spPr>
          <a:xfrm>
            <a:off x="4519454" y="549372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81" name="テキスト ボックス 80">
            <a:extLst>
              <a:ext uri="{FF2B5EF4-FFF2-40B4-BE49-F238E27FC236}">
                <a16:creationId xmlns:a16="http://schemas.microsoft.com/office/drawing/2014/main" id="{919F797F-1B6A-876C-B468-E147B3D97E8A}"/>
              </a:ext>
            </a:extLst>
          </p:cNvPr>
          <p:cNvSpPr txBox="1"/>
          <p:nvPr/>
        </p:nvSpPr>
        <p:spPr>
          <a:xfrm>
            <a:off x="5267281" y="5359939"/>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ステップ配信</a:t>
            </a:r>
            <a:endParaRPr lang="ja-JP" altLang="en-US" sz="1000" b="1" dirty="0"/>
          </a:p>
        </p:txBody>
      </p:sp>
      <p:cxnSp>
        <p:nvCxnSpPr>
          <p:cNvPr id="86" name="直線矢印コネクタ 85">
            <a:extLst>
              <a:ext uri="{FF2B5EF4-FFF2-40B4-BE49-F238E27FC236}">
                <a16:creationId xmlns:a16="http://schemas.microsoft.com/office/drawing/2014/main" id="{C96E67E6-B364-7DED-CDB8-DDCEEFB96AD2}"/>
              </a:ext>
            </a:extLst>
          </p:cNvPr>
          <p:cNvCxnSpPr>
            <a:cxnSpLocks/>
          </p:cNvCxnSpPr>
          <p:nvPr/>
        </p:nvCxnSpPr>
        <p:spPr>
          <a:xfrm>
            <a:off x="4519295" y="576683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91" name="テキスト ボックス 90">
            <a:extLst>
              <a:ext uri="{FF2B5EF4-FFF2-40B4-BE49-F238E27FC236}">
                <a16:creationId xmlns:a16="http://schemas.microsoft.com/office/drawing/2014/main" id="{335DB4AB-DEFA-E356-751F-7106100F929E}"/>
              </a:ext>
            </a:extLst>
          </p:cNvPr>
          <p:cNvSpPr txBox="1"/>
          <p:nvPr/>
        </p:nvSpPr>
        <p:spPr>
          <a:xfrm>
            <a:off x="5267122" y="5633055"/>
            <a:ext cx="1064989"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企画配信</a:t>
            </a:r>
            <a:endParaRPr lang="ja-JP" altLang="en-US" sz="1000" b="1" dirty="0"/>
          </a:p>
        </p:txBody>
      </p:sp>
      <p:cxnSp>
        <p:nvCxnSpPr>
          <p:cNvPr id="100" name="直線矢印コネクタ 99">
            <a:extLst>
              <a:ext uri="{FF2B5EF4-FFF2-40B4-BE49-F238E27FC236}">
                <a16:creationId xmlns:a16="http://schemas.microsoft.com/office/drawing/2014/main" id="{7884810E-3E89-4CCB-C00C-B386A34717E4}"/>
              </a:ext>
            </a:extLst>
          </p:cNvPr>
          <p:cNvCxnSpPr>
            <a:cxnSpLocks/>
          </p:cNvCxnSpPr>
          <p:nvPr/>
        </p:nvCxnSpPr>
        <p:spPr>
          <a:xfrm>
            <a:off x="3798688" y="5981626"/>
            <a:ext cx="2464861"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テキスト ボックス 100">
            <a:extLst>
              <a:ext uri="{FF2B5EF4-FFF2-40B4-BE49-F238E27FC236}">
                <a16:creationId xmlns:a16="http://schemas.microsoft.com/office/drawing/2014/main" id="{6FD45AC0-2372-776F-6D16-846C0FB7AC64}"/>
              </a:ext>
            </a:extLst>
          </p:cNvPr>
          <p:cNvSpPr txBox="1"/>
          <p:nvPr/>
        </p:nvSpPr>
        <p:spPr>
          <a:xfrm>
            <a:off x="4258152" y="5863519"/>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アンケート回収</a:t>
            </a:r>
            <a:endParaRPr lang="ja-JP" altLang="en-US" sz="1000" b="1" dirty="0"/>
          </a:p>
        </p:txBody>
      </p:sp>
      <p:cxnSp>
        <p:nvCxnSpPr>
          <p:cNvPr id="102" name="直線矢印コネクタ 101">
            <a:extLst>
              <a:ext uri="{FF2B5EF4-FFF2-40B4-BE49-F238E27FC236}">
                <a16:creationId xmlns:a16="http://schemas.microsoft.com/office/drawing/2014/main" id="{5BF3558A-EBED-81EE-B158-28A7CA5D6693}"/>
              </a:ext>
            </a:extLst>
          </p:cNvPr>
          <p:cNvCxnSpPr>
            <a:cxnSpLocks/>
          </p:cNvCxnSpPr>
          <p:nvPr/>
        </p:nvCxnSpPr>
        <p:spPr>
          <a:xfrm>
            <a:off x="3797428" y="6223951"/>
            <a:ext cx="2452867"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0" name="テキスト ボックス 109">
            <a:extLst>
              <a:ext uri="{FF2B5EF4-FFF2-40B4-BE49-F238E27FC236}">
                <a16:creationId xmlns:a16="http://schemas.microsoft.com/office/drawing/2014/main" id="{001266CB-AC56-8914-0ACE-8B554DB19B76}"/>
              </a:ext>
            </a:extLst>
          </p:cNvPr>
          <p:cNvSpPr txBox="1"/>
          <p:nvPr/>
        </p:nvSpPr>
        <p:spPr>
          <a:xfrm>
            <a:off x="4273398" y="6133562"/>
            <a:ext cx="1288637" cy="246221"/>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cs typeface="Meiryo"/>
                <a:sym typeface="Meiryo"/>
              </a:rPr>
              <a:t>スコアリング等</a:t>
            </a:r>
            <a:endParaRPr lang="ja-JP" altLang="en-US" sz="1000" b="1" dirty="0"/>
          </a:p>
        </p:txBody>
      </p:sp>
      <p:cxnSp>
        <p:nvCxnSpPr>
          <p:cNvPr id="111" name="直線矢印コネクタ 110">
            <a:extLst>
              <a:ext uri="{FF2B5EF4-FFF2-40B4-BE49-F238E27FC236}">
                <a16:creationId xmlns:a16="http://schemas.microsoft.com/office/drawing/2014/main" id="{1B403718-ABF2-11BC-1A05-A9E208B7C0F7}"/>
              </a:ext>
            </a:extLst>
          </p:cNvPr>
          <p:cNvCxnSpPr>
            <a:cxnSpLocks/>
          </p:cNvCxnSpPr>
          <p:nvPr/>
        </p:nvCxnSpPr>
        <p:spPr>
          <a:xfrm>
            <a:off x="7118366" y="598554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6" name="テキスト ボックス 115">
            <a:extLst>
              <a:ext uri="{FF2B5EF4-FFF2-40B4-BE49-F238E27FC236}">
                <a16:creationId xmlns:a16="http://schemas.microsoft.com/office/drawing/2014/main" id="{B9061E8E-8F76-24D8-6F4C-BBBCDEB37FE0}"/>
              </a:ext>
            </a:extLst>
          </p:cNvPr>
          <p:cNvSpPr txBox="1"/>
          <p:nvPr/>
        </p:nvSpPr>
        <p:spPr>
          <a:xfrm>
            <a:off x="7397140" y="5871116"/>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1000" b="1" dirty="0">
              <a:solidFill>
                <a:schemeClr val="tx1">
                  <a:lumMod val="50000"/>
                  <a:lumOff val="50000"/>
                </a:schemeClr>
              </a:solidFill>
            </a:endParaRPr>
          </a:p>
        </p:txBody>
      </p:sp>
      <p:cxnSp>
        <p:nvCxnSpPr>
          <p:cNvPr id="117" name="直線矢印コネクタ 116">
            <a:extLst>
              <a:ext uri="{FF2B5EF4-FFF2-40B4-BE49-F238E27FC236}">
                <a16:creationId xmlns:a16="http://schemas.microsoft.com/office/drawing/2014/main" id="{B31EBA12-BB45-627B-A1FD-F44E077537B1}"/>
              </a:ext>
            </a:extLst>
          </p:cNvPr>
          <p:cNvCxnSpPr>
            <a:cxnSpLocks/>
          </p:cNvCxnSpPr>
          <p:nvPr/>
        </p:nvCxnSpPr>
        <p:spPr>
          <a:xfrm>
            <a:off x="7048606" y="62430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18" name="テキスト ボックス 117">
            <a:extLst>
              <a:ext uri="{FF2B5EF4-FFF2-40B4-BE49-F238E27FC236}">
                <a16:creationId xmlns:a16="http://schemas.microsoft.com/office/drawing/2014/main" id="{B0C05E5D-44B4-DA5D-7C04-0BDC8A4602CE}"/>
              </a:ext>
            </a:extLst>
          </p:cNvPr>
          <p:cNvSpPr txBox="1"/>
          <p:nvPr/>
        </p:nvSpPr>
        <p:spPr>
          <a:xfrm>
            <a:off x="7336089" y="6137342"/>
            <a:ext cx="1288637" cy="248436"/>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10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1000" b="1" dirty="0">
              <a:solidFill>
                <a:schemeClr val="tx1">
                  <a:lumMod val="50000"/>
                  <a:lumOff val="50000"/>
                </a:schemeClr>
              </a:solidFill>
            </a:endParaRPr>
          </a:p>
        </p:txBody>
      </p:sp>
      <p:pic>
        <p:nvPicPr>
          <p:cNvPr id="119" name="図 118">
            <a:extLst>
              <a:ext uri="{FF2B5EF4-FFF2-40B4-BE49-F238E27FC236}">
                <a16:creationId xmlns:a16="http://schemas.microsoft.com/office/drawing/2014/main" id="{2F4B65BB-B8AA-5045-2074-C574F9423E61}"/>
              </a:ext>
            </a:extLst>
          </p:cNvPr>
          <p:cNvPicPr>
            <a:picLocks noChangeAspect="1"/>
          </p:cNvPicPr>
          <p:nvPr/>
        </p:nvPicPr>
        <p:blipFill>
          <a:blip r:embed="rId2" cstate="print">
            <a:extLst>
              <a:ext uri="{28A0092B-C50C-407E-A947-70E740481C1C}">
                <a14:useLocalDpi xmlns:a14="http://schemas.microsoft.com/office/drawing/2010/main" val="0"/>
              </a:ext>
            </a:extLst>
          </a:blip>
          <a:srcRect t="4981" b="4075"/>
          <a:stretch>
            <a:fillRect/>
          </a:stretch>
        </p:blipFill>
        <p:spPr>
          <a:xfrm>
            <a:off x="3005614" y="5048188"/>
            <a:ext cx="703970" cy="1385346"/>
          </a:xfrm>
          <a:prstGeom prst="rect">
            <a:avLst/>
          </a:prstGeom>
        </p:spPr>
      </p:pic>
      <p:sp>
        <p:nvSpPr>
          <p:cNvPr id="66" name="正方形/長方形 65">
            <a:extLst>
              <a:ext uri="{FF2B5EF4-FFF2-40B4-BE49-F238E27FC236}">
                <a16:creationId xmlns:a16="http://schemas.microsoft.com/office/drawing/2014/main" id="{D22C9FBF-7B93-079A-E87E-A4C967CD0194}"/>
              </a:ext>
            </a:extLst>
          </p:cNvPr>
          <p:cNvSpPr/>
          <p:nvPr/>
        </p:nvSpPr>
        <p:spPr>
          <a:xfrm>
            <a:off x="3908480" y="533637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テキスト ボックス 31">
            <a:extLst>
              <a:ext uri="{FF2B5EF4-FFF2-40B4-BE49-F238E27FC236}">
                <a16:creationId xmlns:a16="http://schemas.microsoft.com/office/drawing/2014/main" id="{89B35388-9C44-6C01-ACAA-2E691617E119}"/>
              </a:ext>
            </a:extLst>
          </p:cNvPr>
          <p:cNvSpPr txBox="1"/>
          <p:nvPr/>
        </p:nvSpPr>
        <p:spPr>
          <a:xfrm>
            <a:off x="5723341" y="630303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676230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6673A-9013-9BC2-61FD-9A9839050AB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71EE9A-D0AE-5095-DE93-A92C03C21A49}"/>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全体設計想定</a:t>
            </a:r>
          </a:p>
        </p:txBody>
      </p:sp>
      <p:sp>
        <p:nvSpPr>
          <p:cNvPr id="9" name="正方形/長方形 8">
            <a:extLst>
              <a:ext uri="{FF2B5EF4-FFF2-40B4-BE49-F238E27FC236}">
                <a16:creationId xmlns:a16="http://schemas.microsoft.com/office/drawing/2014/main" id="{B8DDD632-F5E1-35AD-0F8F-0079C4BE2BD8}"/>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904F8023-0A36-6BE3-62EE-D51070498B24}"/>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カスタマージャーニーマップにあわせてLINE投稿を配置。</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※一般的な8フェーズを、学校法人（大学・専門学校）に置き換えます。</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5" name="正方形/長方形 34">
            <a:extLst>
              <a:ext uri="{FF2B5EF4-FFF2-40B4-BE49-F238E27FC236}">
                <a16:creationId xmlns:a16="http://schemas.microsoft.com/office/drawing/2014/main" id="{39216026-B745-2CB7-2300-596DBF29255E}"/>
              </a:ext>
            </a:extLst>
          </p:cNvPr>
          <p:cNvSpPr/>
          <p:nvPr/>
        </p:nvSpPr>
        <p:spPr>
          <a:xfrm>
            <a:off x="334302" y="3490277"/>
            <a:ext cx="9425943" cy="196342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5" name="直線コネクタ 44">
            <a:extLst>
              <a:ext uri="{FF2B5EF4-FFF2-40B4-BE49-F238E27FC236}">
                <a16:creationId xmlns:a16="http://schemas.microsoft.com/office/drawing/2014/main" id="{C4F647CC-1C37-666A-4F18-40C733C21920}"/>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1EB69D6F-91F5-BD58-0BEA-AAD8176883F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BE98E184-2577-3AAE-D2B8-72B4FDAC37BE}"/>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3FF32B18-EF78-43E6-F85B-06022F6E0B76}"/>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972D4A84-F812-745D-8012-250B4552B997}"/>
              </a:ext>
            </a:extLst>
          </p:cNvPr>
          <p:cNvCxnSpPr>
            <a:cxnSpLocks/>
          </p:cNvCxnSpPr>
          <p:nvPr/>
        </p:nvCxnSpPr>
        <p:spPr>
          <a:xfrm>
            <a:off x="3541980" y="2217939"/>
            <a:ext cx="0" cy="3657614"/>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844AC577-5EFA-CB60-B4CF-22AC71B2AE31}"/>
              </a:ext>
            </a:extLst>
          </p:cNvPr>
          <p:cNvCxnSpPr>
            <a:cxnSpLocks/>
          </p:cNvCxnSpPr>
          <p:nvPr/>
        </p:nvCxnSpPr>
        <p:spPr>
          <a:xfrm flipH="1">
            <a:off x="4830459" y="2229802"/>
            <a:ext cx="3322" cy="364575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2F10844F-FFBB-F47D-A888-4E74272E000D}"/>
              </a:ext>
            </a:extLst>
          </p:cNvPr>
          <p:cNvCxnSpPr>
            <a:cxnSpLocks/>
          </p:cNvCxnSpPr>
          <p:nvPr/>
        </p:nvCxnSpPr>
        <p:spPr>
          <a:xfrm>
            <a:off x="6125582" y="2227160"/>
            <a:ext cx="0" cy="3648393"/>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7A83D6DE-2FDB-43D7-254C-963478133303}"/>
              </a:ext>
            </a:extLst>
          </p:cNvPr>
          <p:cNvCxnSpPr>
            <a:cxnSpLocks/>
          </p:cNvCxnSpPr>
          <p:nvPr/>
        </p:nvCxnSpPr>
        <p:spPr>
          <a:xfrm>
            <a:off x="7417384" y="2217938"/>
            <a:ext cx="0" cy="3657615"/>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53" name="テキスト ボックス 52">
            <a:extLst>
              <a:ext uri="{FF2B5EF4-FFF2-40B4-BE49-F238E27FC236}">
                <a16:creationId xmlns:a16="http://schemas.microsoft.com/office/drawing/2014/main" id="{51F88B17-D24B-2FBF-DD4F-ACEDA2F1108B}"/>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13CCD889-9CB5-A25E-FF4C-285CF082C6EB}"/>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752D241B-7DDC-C05A-C891-858C99F0C81E}"/>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093F3B9E-1884-4283-7D47-92DF224DA02A}"/>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4B719D4F-60B6-01FD-6088-ACFD3B9EC8DD}"/>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58" name="テキスト ボックス 57">
            <a:extLst>
              <a:ext uri="{FF2B5EF4-FFF2-40B4-BE49-F238E27FC236}">
                <a16:creationId xmlns:a16="http://schemas.microsoft.com/office/drawing/2014/main" id="{71407A20-3836-331E-F2F0-E75DDCF73BA0}"/>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60" name="テキスト ボックス 59">
            <a:extLst>
              <a:ext uri="{FF2B5EF4-FFF2-40B4-BE49-F238E27FC236}">
                <a16:creationId xmlns:a16="http://schemas.microsoft.com/office/drawing/2014/main" id="{F491CCB4-D02F-C3F5-CFB9-18B13F066C52}"/>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62" name="テキスト ボックス 61">
            <a:extLst>
              <a:ext uri="{FF2B5EF4-FFF2-40B4-BE49-F238E27FC236}">
                <a16:creationId xmlns:a16="http://schemas.microsoft.com/office/drawing/2014/main" id="{B68B9CA1-0E61-C60C-128F-E80096EDD924}"/>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64" name="コネクタ: カギ線 63">
            <a:extLst>
              <a:ext uri="{FF2B5EF4-FFF2-40B4-BE49-F238E27FC236}">
                <a16:creationId xmlns:a16="http://schemas.microsoft.com/office/drawing/2014/main" id="{56D3FA3C-F4ED-9DF1-7620-D677AB1A2177}"/>
              </a:ext>
            </a:extLst>
          </p:cNvPr>
          <p:cNvCxnSpPr>
            <a:cxnSpLocks/>
            <a:stCxn id="62" idx="0"/>
            <a:endCxn id="53"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6" name="正方形/長方形 65">
            <a:extLst>
              <a:ext uri="{FF2B5EF4-FFF2-40B4-BE49-F238E27FC236}">
                <a16:creationId xmlns:a16="http://schemas.microsoft.com/office/drawing/2014/main" id="{44C83840-BFD9-E321-B4A5-19CD2533BF03}"/>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7" name="直線矢印コネクタ 66">
            <a:extLst>
              <a:ext uri="{FF2B5EF4-FFF2-40B4-BE49-F238E27FC236}">
                <a16:creationId xmlns:a16="http://schemas.microsoft.com/office/drawing/2014/main" id="{A1D5B73B-C438-03CD-3074-9F6465469319}"/>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221EB000-BCEE-D984-49E6-5421F03CC7D6}"/>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70" name="テキスト ボックス 69">
            <a:extLst>
              <a:ext uri="{FF2B5EF4-FFF2-40B4-BE49-F238E27FC236}">
                <a16:creationId xmlns:a16="http://schemas.microsoft.com/office/drawing/2014/main" id="{BF3977E5-B33C-C6FC-10BA-8F52ECFB03CA}"/>
              </a:ext>
            </a:extLst>
          </p:cNvPr>
          <p:cNvSpPr txBox="1"/>
          <p:nvPr/>
        </p:nvSpPr>
        <p:spPr>
          <a:xfrm>
            <a:off x="3541822" y="4078050"/>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2" name="テキスト ボックス 71">
            <a:extLst>
              <a:ext uri="{FF2B5EF4-FFF2-40B4-BE49-F238E27FC236}">
                <a16:creationId xmlns:a16="http://schemas.microsoft.com/office/drawing/2014/main" id="{D6206F79-4BB4-7551-FF37-4057DB323042}"/>
              </a:ext>
            </a:extLst>
          </p:cNvPr>
          <p:cNvSpPr txBox="1"/>
          <p:nvPr/>
        </p:nvSpPr>
        <p:spPr>
          <a:xfrm>
            <a:off x="6119096" y="4771047"/>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4" name="テキスト ボックス 73">
            <a:extLst>
              <a:ext uri="{FF2B5EF4-FFF2-40B4-BE49-F238E27FC236}">
                <a16:creationId xmlns:a16="http://schemas.microsoft.com/office/drawing/2014/main" id="{2D803312-8977-E9CF-359E-78896D5177A7}"/>
              </a:ext>
            </a:extLst>
          </p:cNvPr>
          <p:cNvSpPr txBox="1"/>
          <p:nvPr/>
        </p:nvSpPr>
        <p:spPr>
          <a:xfrm>
            <a:off x="4830459" y="4424547"/>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76" name="テキスト ボックス 75">
            <a:extLst>
              <a:ext uri="{FF2B5EF4-FFF2-40B4-BE49-F238E27FC236}">
                <a16:creationId xmlns:a16="http://schemas.microsoft.com/office/drawing/2014/main" id="{EC4FAF12-FDAC-B48D-B571-CC028A01229C}"/>
              </a:ext>
            </a:extLst>
          </p:cNvPr>
          <p:cNvSpPr txBox="1"/>
          <p:nvPr/>
        </p:nvSpPr>
        <p:spPr>
          <a:xfrm>
            <a:off x="7408050" y="5126260"/>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77" name="テキスト ボックス 76">
            <a:extLst>
              <a:ext uri="{FF2B5EF4-FFF2-40B4-BE49-F238E27FC236}">
                <a16:creationId xmlns:a16="http://schemas.microsoft.com/office/drawing/2014/main" id="{78DCEB5B-FCE6-A4B7-134E-DC51AE101C96}"/>
              </a:ext>
            </a:extLst>
          </p:cNvPr>
          <p:cNvSpPr txBox="1"/>
          <p:nvPr/>
        </p:nvSpPr>
        <p:spPr>
          <a:xfrm>
            <a:off x="334303" y="372812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78" name="テキスト ボックス 77">
            <a:extLst>
              <a:ext uri="{FF2B5EF4-FFF2-40B4-BE49-F238E27FC236}">
                <a16:creationId xmlns:a16="http://schemas.microsoft.com/office/drawing/2014/main" id="{7489B5AC-E8EC-12A6-77B1-767D57C6C111}"/>
              </a:ext>
            </a:extLst>
          </p:cNvPr>
          <p:cNvSpPr txBox="1"/>
          <p:nvPr/>
        </p:nvSpPr>
        <p:spPr>
          <a:xfrm>
            <a:off x="1268358" y="4078050"/>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79" name="テキスト ボックス 78">
            <a:extLst>
              <a:ext uri="{FF2B5EF4-FFF2-40B4-BE49-F238E27FC236}">
                <a16:creationId xmlns:a16="http://schemas.microsoft.com/office/drawing/2014/main" id="{3C51428D-94BF-DEDC-89ED-6FC6DD5D8DDB}"/>
              </a:ext>
            </a:extLst>
          </p:cNvPr>
          <p:cNvSpPr txBox="1"/>
          <p:nvPr/>
        </p:nvSpPr>
        <p:spPr>
          <a:xfrm>
            <a:off x="2202413" y="44192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80" name="テキスト ボックス 79">
            <a:extLst>
              <a:ext uri="{FF2B5EF4-FFF2-40B4-BE49-F238E27FC236}">
                <a16:creationId xmlns:a16="http://schemas.microsoft.com/office/drawing/2014/main" id="{70A8450A-EBDB-52BF-A9C2-03CB7CC3C8E9}"/>
              </a:ext>
            </a:extLst>
          </p:cNvPr>
          <p:cNvSpPr txBox="1"/>
          <p:nvPr/>
        </p:nvSpPr>
        <p:spPr>
          <a:xfrm>
            <a:off x="3132447" y="4760482"/>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④資料請求・友だち追加(web/LINE)</a:t>
            </a:r>
          </a:p>
        </p:txBody>
      </p:sp>
      <p:cxnSp>
        <p:nvCxnSpPr>
          <p:cNvPr id="81" name="コネクタ: カギ線 80">
            <a:extLst>
              <a:ext uri="{FF2B5EF4-FFF2-40B4-BE49-F238E27FC236}">
                <a16:creationId xmlns:a16="http://schemas.microsoft.com/office/drawing/2014/main" id="{769329CD-26D3-6976-EDB8-825AA2A0377F}"/>
              </a:ext>
            </a:extLst>
          </p:cNvPr>
          <p:cNvCxnSpPr>
            <a:cxnSpLocks/>
            <a:stCxn id="80" idx="0"/>
            <a:endCxn id="70" idx="2"/>
          </p:cNvCxnSpPr>
          <p:nvPr/>
        </p:nvCxnSpPr>
        <p:spPr>
          <a:xfrm rot="5400000" flipH="1" flipV="1">
            <a:off x="4181800" y="4411939"/>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83" name="正方形/長方形 82">
            <a:extLst>
              <a:ext uri="{FF2B5EF4-FFF2-40B4-BE49-F238E27FC236}">
                <a16:creationId xmlns:a16="http://schemas.microsoft.com/office/drawing/2014/main" id="{E8127D07-4E85-C0E9-8B4C-7D62F671E28E}"/>
              </a:ext>
            </a:extLst>
          </p:cNvPr>
          <p:cNvSpPr/>
          <p:nvPr/>
        </p:nvSpPr>
        <p:spPr>
          <a:xfrm>
            <a:off x="315939" y="5602451"/>
            <a:ext cx="9444306" cy="27310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 --- 学校法人（大学・専門学校）の場合 --- →</a:t>
            </a:r>
          </a:p>
        </p:txBody>
      </p:sp>
      <p:sp>
        <p:nvSpPr>
          <p:cNvPr id="85" name="正方形/長方形 84">
            <a:extLst>
              <a:ext uri="{FF2B5EF4-FFF2-40B4-BE49-F238E27FC236}">
                <a16:creationId xmlns:a16="http://schemas.microsoft.com/office/drawing/2014/main" id="{66C41415-042E-E9AD-6C7B-92F406CC1EBB}"/>
              </a:ext>
            </a:extLst>
          </p:cNvPr>
          <p:cNvSpPr/>
          <p:nvPr/>
        </p:nvSpPr>
        <p:spPr>
          <a:xfrm>
            <a:off x="315939" y="3491120"/>
            <a:ext cx="9444306" cy="6537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1C950DF6-576B-3B15-68F7-F01A709B2429}"/>
              </a:ext>
            </a:extLst>
          </p:cNvPr>
          <p:cNvSpPr txBox="1"/>
          <p:nvPr/>
        </p:nvSpPr>
        <p:spPr>
          <a:xfrm>
            <a:off x="1160936" y="5946129"/>
            <a:ext cx="7584127" cy="461665"/>
          </a:xfrm>
          <a:prstGeom prst="rect">
            <a:avLst/>
          </a:prstGeom>
          <a:noFill/>
        </p:spPr>
        <p:txBody>
          <a:bodyPr wrap="none" rtlCol="0">
            <a:spAutoFit/>
          </a:bodyPr>
          <a:lstStyle/>
          <a:p>
            <a:pPr algn="ctr"/>
            <a:r>
              <a:rPr lang="ja-JP" altLang="en-US" sz="1200" dirty="0">
                <a:latin typeface="+mn-ea"/>
              </a:rPr>
              <a:t>一般的な8フェーズを、学校法人（大学・専門学校）に置き換えるとこうなります。</a:t>
            </a:r>
          </a:p>
          <a:p>
            <a:pPr algn="ctr"/>
            <a:r>
              <a:rPr lang="ja-JP" altLang="en-US" sz="1200" dirty="0">
                <a:latin typeface="+mn-ea"/>
              </a:rPr>
              <a:t>④資料請求・友だち追加 → ⑤オープンキャンパス参加 → ⑦出願・入学手続 が、この業界のCV地点です。</a:t>
            </a:r>
          </a:p>
        </p:txBody>
      </p:sp>
    </p:spTree>
    <p:extLst>
      <p:ext uri="{BB962C8B-B14F-4D97-AF65-F5344CB8AC3E}">
        <p14:creationId xmlns:p14="http://schemas.microsoft.com/office/powerpoint/2010/main" val="35094802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58B38-C7A2-1CE4-FDFD-8D6A744BB635}"/>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市場の構造｜18歳人口は30年で半減。私立大の約半数が定員割れ</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母数が減っても学校は減らない。＝1人を取り合う競争だけが激化する構造。</a:t>
            </a:r>
          </a:p>
          <a:p>
            <a:pPr algn="l">
              <a:lnSpc>
                <a:spcPct val="122000"/>
              </a:lnSpc>
            </a:pPr>
            <a:r>
              <a:rPr sz="1500">
                <a:solidFill>
                  <a:srgbClr val="646C82"/>
                </a:solidFill>
                <a:latin typeface="メイリオ"/>
                <a:ea typeface="メイリオ"/>
                <a:cs typeface="メイリオ"/>
              </a:rPr>
              <a:t>だから入札で勝つ設計ではなく、取りこぼしを拾う設計に寄せる。</a:t>
            </a:r>
          </a:p>
        </p:txBody>
      </p:sp>
      <p:sp>
        <p:nvSpPr>
          <p:cNvPr id="4" name="Rounded Rectangle 3"/>
          <p:cNvSpPr/>
          <p:nvPr/>
        </p:nvSpPr>
        <p:spPr>
          <a:xfrm>
            <a:off x="396000" y="1332000"/>
            <a:ext cx="2160000" cy="2304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a:solidFill>
                  <a:srgbClr val="C00000"/>
                </a:solidFill>
                <a:latin typeface="メイリオ"/>
                <a:ea typeface="メイリオ"/>
                <a:cs typeface="メイリオ"/>
              </a:rPr>
              <a:t>【18歳人口】</a:t>
            </a:r>
          </a:p>
          <a:p>
            <a:pPr algn="ctr">
              <a:lnSpc>
                <a:spcPct val="130000"/>
              </a:lnSpc>
            </a:pPr>
            <a:r>
              <a:rPr sz="1250" b="1">
                <a:solidFill>
                  <a:srgbClr val="C00000"/>
                </a:solidFill>
                <a:latin typeface="メイリオ"/>
                <a:ea typeface="メイリオ"/>
                <a:cs typeface="メイリオ"/>
              </a:rPr>
              <a:t>205万人 → 106万人</a:t>
            </a:r>
          </a:p>
          <a:p>
            <a:pPr algn="ctr">
              <a:lnSpc>
                <a:spcPct val="130000"/>
              </a:lnSpc>
            </a:pPr>
            <a:r>
              <a:rPr sz="1250" b="1">
                <a:solidFill>
                  <a:srgbClr val="C00000"/>
                </a:solidFill>
                <a:latin typeface="メイリオ"/>
                <a:ea typeface="メイリオ"/>
                <a:cs typeface="メイリオ"/>
              </a:rPr>
              <a:t>（1992年 → 2024年）</a:t>
            </a:r>
          </a:p>
          <a:p>
            <a:pPr algn="ctr">
              <a:lnSpc>
                <a:spcPct val="130000"/>
              </a:lnSpc>
            </a:pPr>
            <a:r>
              <a:rPr sz="1250" b="1">
                <a:solidFill>
                  <a:srgbClr val="C00000"/>
                </a:solidFill>
                <a:latin typeface="メイリオ"/>
                <a:ea typeface="メイリオ"/>
                <a:cs typeface="メイリオ"/>
              </a:rPr>
              <a:t>⇊</a:t>
            </a:r>
          </a:p>
          <a:p>
            <a:pPr algn="ctr">
              <a:lnSpc>
                <a:spcPct val="130000"/>
              </a:lnSpc>
            </a:pPr>
            <a:r>
              <a:rPr sz="1250" b="1">
                <a:solidFill>
                  <a:srgbClr val="C00000"/>
                </a:solidFill>
                <a:latin typeface="メイリオ"/>
                <a:ea typeface="メイリオ"/>
                <a:cs typeface="メイリオ"/>
              </a:rPr>
              <a:t>30年で ▲48%</a:t>
            </a:r>
          </a:p>
        </p:txBody>
      </p:sp>
      <p:sp>
        <p:nvSpPr>
          <p:cNvPr id="5" name="Rounded Rectangle 4"/>
          <p:cNvSpPr/>
          <p:nvPr/>
        </p:nvSpPr>
        <p:spPr>
          <a:xfrm>
            <a:off x="2707200" y="1332000"/>
            <a:ext cx="2160000" cy="2304000"/>
          </a:xfrm>
          <a:prstGeom prst="roundRect">
            <a:avLst>
              <a:gd name="adj" fmla="val 6000"/>
            </a:avLst>
          </a:prstGeom>
          <a:solidFill>
            <a:srgbClr val="FDF2F2"/>
          </a:solidFill>
          <a:ln w="15875">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dirty="0">
                <a:solidFill>
                  <a:srgbClr val="C00000"/>
                </a:solidFill>
                <a:latin typeface="メイリオ"/>
                <a:ea typeface="メイリオ"/>
                <a:cs typeface="メイリオ"/>
              </a:rPr>
              <a:t>【</a:t>
            </a:r>
            <a:r>
              <a:rPr sz="1250" b="1" dirty="0" err="1">
                <a:solidFill>
                  <a:srgbClr val="C00000"/>
                </a:solidFill>
                <a:latin typeface="メイリオ"/>
                <a:ea typeface="メイリオ"/>
                <a:cs typeface="メイリオ"/>
              </a:rPr>
              <a:t>私立大の定員割れ</a:t>
            </a:r>
            <a:r>
              <a:rPr sz="1250" b="1" dirty="0">
                <a:solidFill>
                  <a:srgbClr val="C00000"/>
                </a:solidFill>
                <a:latin typeface="メイリオ"/>
                <a:ea typeface="メイリオ"/>
                <a:cs typeface="メイリオ"/>
              </a:rPr>
              <a:t>】</a:t>
            </a:r>
          </a:p>
          <a:p>
            <a:pPr algn="ctr">
              <a:lnSpc>
                <a:spcPct val="130000"/>
              </a:lnSpc>
            </a:pPr>
            <a:r>
              <a:rPr sz="1250" b="1" dirty="0">
                <a:solidFill>
                  <a:srgbClr val="C00000"/>
                </a:solidFill>
                <a:latin typeface="メイリオ"/>
                <a:ea typeface="メイリオ"/>
                <a:cs typeface="メイリオ"/>
              </a:rPr>
              <a:t>46.2%</a:t>
            </a:r>
            <a:r>
              <a:rPr lang="en-US" sz="1250" b="1" dirty="0">
                <a:solidFill>
                  <a:srgbClr val="C00000"/>
                </a:solidFill>
                <a:latin typeface="メイリオ"/>
                <a:ea typeface="メイリオ"/>
                <a:cs typeface="メイリオ"/>
              </a:rPr>
              <a:t>(</a:t>
            </a:r>
            <a:r>
              <a:rPr sz="1250" b="1" dirty="0">
                <a:solidFill>
                  <a:srgbClr val="C00000"/>
                </a:solidFill>
                <a:latin typeface="メイリオ"/>
                <a:ea typeface="メイリオ"/>
                <a:cs typeface="メイリオ"/>
              </a:rPr>
              <a:t>275校／595校</a:t>
            </a:r>
            <a:r>
              <a:rPr lang="en-US" sz="1250" b="1" dirty="0">
                <a:solidFill>
                  <a:srgbClr val="C00000"/>
                </a:solidFill>
                <a:latin typeface="メイリオ"/>
                <a:ea typeface="メイリオ"/>
                <a:cs typeface="メイリオ"/>
              </a:rPr>
              <a:t>)</a:t>
            </a:r>
            <a:endParaRPr sz="1250" b="1" dirty="0">
              <a:solidFill>
                <a:srgbClr val="C00000"/>
              </a:solidFill>
              <a:latin typeface="メイリオ"/>
              <a:ea typeface="メイリオ"/>
              <a:cs typeface="メイリオ"/>
            </a:endParaRPr>
          </a:p>
          <a:p>
            <a:pPr algn="ctr">
              <a:lnSpc>
                <a:spcPct val="130000"/>
              </a:lnSpc>
            </a:pPr>
            <a:r>
              <a:rPr sz="1250" b="1" dirty="0">
                <a:solidFill>
                  <a:srgbClr val="C00000"/>
                </a:solidFill>
                <a:latin typeface="メイリオ"/>
                <a:ea typeface="メイリオ"/>
                <a:cs typeface="メイリオ"/>
              </a:rPr>
              <a:t>（令和8年度・速報値）</a:t>
            </a:r>
          </a:p>
          <a:p>
            <a:pPr algn="ctr">
              <a:lnSpc>
                <a:spcPct val="130000"/>
              </a:lnSpc>
            </a:pPr>
            <a:r>
              <a:rPr sz="1250" b="1" dirty="0">
                <a:solidFill>
                  <a:srgbClr val="C00000"/>
                </a:solidFill>
                <a:latin typeface="メイリオ"/>
                <a:ea typeface="メイリオ"/>
                <a:cs typeface="メイリオ"/>
              </a:rPr>
              <a:t>⇊</a:t>
            </a:r>
          </a:p>
          <a:p>
            <a:pPr algn="ctr">
              <a:lnSpc>
                <a:spcPct val="130000"/>
              </a:lnSpc>
            </a:pPr>
            <a:r>
              <a:rPr sz="1250" b="1" dirty="0" err="1">
                <a:solidFill>
                  <a:srgbClr val="C00000"/>
                </a:solidFill>
                <a:latin typeface="メイリオ"/>
                <a:ea typeface="メイリオ"/>
                <a:cs typeface="メイリオ"/>
              </a:rPr>
              <a:t>約半数が定員を</a:t>
            </a:r>
            <a:endParaRPr lang="en-US" sz="1250" b="1" dirty="0">
              <a:solidFill>
                <a:srgbClr val="C00000"/>
              </a:solidFill>
              <a:latin typeface="メイリオ"/>
              <a:ea typeface="メイリオ"/>
              <a:cs typeface="メイリオ"/>
            </a:endParaRPr>
          </a:p>
          <a:p>
            <a:pPr algn="ctr">
              <a:lnSpc>
                <a:spcPct val="130000"/>
              </a:lnSpc>
            </a:pPr>
            <a:r>
              <a:rPr sz="1250" b="1" dirty="0" err="1">
                <a:solidFill>
                  <a:srgbClr val="C00000"/>
                </a:solidFill>
                <a:latin typeface="メイリオ"/>
                <a:ea typeface="メイリオ"/>
                <a:cs typeface="メイリオ"/>
              </a:rPr>
              <a:t>埋められない</a:t>
            </a:r>
            <a:endParaRPr sz="1250" b="1" dirty="0">
              <a:solidFill>
                <a:srgbClr val="C00000"/>
              </a:solidFill>
              <a:latin typeface="メイリオ"/>
              <a:ea typeface="メイリオ"/>
              <a:cs typeface="メイリオ"/>
            </a:endParaRPr>
          </a:p>
        </p:txBody>
      </p:sp>
      <p:sp>
        <p:nvSpPr>
          <p:cNvPr id="6" name="Rounded Rectangle 5"/>
          <p:cNvSpPr/>
          <p:nvPr/>
        </p:nvSpPr>
        <p:spPr>
          <a:xfrm>
            <a:off x="5018400" y="1332000"/>
            <a:ext cx="2160000" cy="2304000"/>
          </a:xfrm>
          <a:prstGeom prst="roundRect">
            <a:avLst>
              <a:gd name="adj" fmla="val 6000"/>
            </a:avLst>
          </a:prstGeom>
          <a:solidFill>
            <a:srgbClr val="F2F2F2"/>
          </a:solidFill>
          <a:ln w="15875">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a:solidFill>
                  <a:srgbClr val="1C2233"/>
                </a:solidFill>
                <a:latin typeface="メイリオ"/>
                <a:ea typeface="メイリオ"/>
                <a:cs typeface="メイリオ"/>
              </a:rPr>
              <a:t>【大学進学率】</a:t>
            </a:r>
          </a:p>
          <a:p>
            <a:pPr algn="ctr">
              <a:lnSpc>
                <a:spcPct val="130000"/>
              </a:lnSpc>
            </a:pPr>
            <a:r>
              <a:rPr sz="1250" b="1">
                <a:solidFill>
                  <a:srgbClr val="1C2233"/>
                </a:solidFill>
                <a:latin typeface="メイリオ"/>
                <a:ea typeface="メイリオ"/>
                <a:cs typeface="メイリオ"/>
              </a:rPr>
              <a:t>約59%（過去最高圏）</a:t>
            </a:r>
          </a:p>
          <a:p>
            <a:pPr algn="ctr">
              <a:lnSpc>
                <a:spcPct val="130000"/>
              </a:lnSpc>
            </a:pPr>
            <a:r>
              <a:rPr sz="1250" b="1">
                <a:solidFill>
                  <a:srgbClr val="1C2233"/>
                </a:solidFill>
                <a:latin typeface="メイリオ"/>
                <a:ea typeface="メイリオ"/>
                <a:cs typeface="メイリオ"/>
              </a:rPr>
              <a:t>⇊</a:t>
            </a:r>
          </a:p>
          <a:p>
            <a:pPr algn="ctr">
              <a:lnSpc>
                <a:spcPct val="130000"/>
              </a:lnSpc>
            </a:pPr>
            <a:r>
              <a:rPr sz="1250" b="1">
                <a:solidFill>
                  <a:srgbClr val="1C2233"/>
                </a:solidFill>
                <a:latin typeface="メイリオ"/>
                <a:ea typeface="メイリオ"/>
                <a:cs typeface="メイリオ"/>
              </a:rPr>
              <a:t>進学率の伸びで</a:t>
            </a:r>
          </a:p>
          <a:p>
            <a:pPr algn="ctr">
              <a:lnSpc>
                <a:spcPct val="130000"/>
              </a:lnSpc>
            </a:pPr>
            <a:r>
              <a:rPr sz="1250" b="1">
                <a:solidFill>
                  <a:srgbClr val="1C2233"/>
                </a:solidFill>
                <a:latin typeface="メイリオ"/>
                <a:ea typeface="メイリオ"/>
                <a:cs typeface="メイリオ"/>
              </a:rPr>
              <a:t>母数減を吸収する余地はない</a:t>
            </a:r>
          </a:p>
        </p:txBody>
      </p:sp>
      <p:sp>
        <p:nvSpPr>
          <p:cNvPr id="7" name="Rounded Rectangle 6"/>
          <p:cNvSpPr/>
          <p:nvPr/>
        </p:nvSpPr>
        <p:spPr>
          <a:xfrm>
            <a:off x="7329600" y="1332000"/>
            <a:ext cx="2160000" cy="2304000"/>
          </a:xfrm>
          <a:prstGeom prst="roundRect">
            <a:avLst>
              <a:gd name="adj" fmla="val 6000"/>
            </a:avLst>
          </a:prstGeom>
          <a:solidFill>
            <a:srgbClr val="FCE4D6"/>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64800" tIns="43200" rIns="64800" bIns="43200" rtlCol="0" anchor="ctr"/>
          <a:lstStyle/>
          <a:p>
            <a:pPr algn="ctr">
              <a:lnSpc>
                <a:spcPct val="130000"/>
              </a:lnSpc>
            </a:pPr>
            <a:r>
              <a:rPr sz="1250" b="1" dirty="0">
                <a:solidFill>
                  <a:srgbClr val="ED7D31"/>
                </a:solidFill>
                <a:latin typeface="メイリオ"/>
                <a:ea typeface="メイリオ"/>
                <a:cs typeface="メイリオ"/>
              </a:rPr>
              <a:t>【1名の入学の重さ】</a:t>
            </a:r>
          </a:p>
          <a:p>
            <a:pPr algn="ctr">
              <a:lnSpc>
                <a:spcPct val="130000"/>
              </a:lnSpc>
            </a:pPr>
            <a:r>
              <a:rPr sz="1250" b="1" dirty="0">
                <a:solidFill>
                  <a:srgbClr val="ED7D31"/>
                </a:solidFill>
                <a:latin typeface="メイリオ"/>
                <a:ea typeface="メイリオ"/>
                <a:cs typeface="メイリオ"/>
              </a:rPr>
              <a:t>初年度納付金約150.8万円</a:t>
            </a:r>
          </a:p>
          <a:p>
            <a:pPr algn="ctr">
              <a:lnSpc>
                <a:spcPct val="130000"/>
              </a:lnSpc>
            </a:pPr>
            <a:r>
              <a:rPr sz="1250" b="1" dirty="0">
                <a:solidFill>
                  <a:srgbClr val="ED7D31"/>
                </a:solidFill>
                <a:latin typeface="メイリオ"/>
                <a:ea typeface="メイリオ"/>
                <a:cs typeface="メイリオ"/>
              </a:rPr>
              <a:t>4年間で 約470万円</a:t>
            </a:r>
          </a:p>
          <a:p>
            <a:pPr algn="ctr">
              <a:lnSpc>
                <a:spcPct val="130000"/>
              </a:lnSpc>
            </a:pPr>
            <a:r>
              <a:rPr sz="1250" b="1" dirty="0">
                <a:solidFill>
                  <a:srgbClr val="ED7D31"/>
                </a:solidFill>
                <a:latin typeface="メイリオ"/>
                <a:ea typeface="メイリオ"/>
                <a:cs typeface="メイリオ"/>
              </a:rPr>
              <a:t>⇊</a:t>
            </a:r>
          </a:p>
          <a:p>
            <a:pPr algn="ctr">
              <a:lnSpc>
                <a:spcPct val="130000"/>
              </a:lnSpc>
            </a:pPr>
            <a:r>
              <a:rPr sz="1250" b="1" dirty="0" err="1">
                <a:solidFill>
                  <a:srgbClr val="ED7D31"/>
                </a:solidFill>
                <a:latin typeface="メイリオ"/>
                <a:ea typeface="メイリオ"/>
                <a:cs typeface="メイリオ"/>
              </a:rPr>
              <a:t>取りこぼしの単価が桁違い</a:t>
            </a:r>
            <a:endParaRPr sz="1250" b="1" dirty="0">
              <a:solidFill>
                <a:srgbClr val="ED7D31"/>
              </a:solidFill>
              <a:latin typeface="メイリオ"/>
              <a:ea typeface="メイリオ"/>
              <a:cs typeface="メイリオ"/>
            </a:endParaRPr>
          </a:p>
        </p:txBody>
      </p:sp>
      <p:sp>
        <p:nvSpPr>
          <p:cNvPr id="8" name="Rounded Rectangle 7"/>
          <p:cNvSpPr/>
          <p:nvPr/>
        </p:nvSpPr>
        <p:spPr>
          <a:xfrm>
            <a:off x="396000" y="3816000"/>
            <a:ext cx="4464000" cy="154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母数の減り方は、これから加速する</a:t>
            </a:r>
          </a:p>
          <a:p>
            <a:pPr algn="l">
              <a:lnSpc>
                <a:spcPct val="120000"/>
              </a:lnSpc>
              <a:spcAft>
                <a:spcPts val="200"/>
              </a:spcAft>
            </a:pPr>
            <a:r>
              <a:rPr sz="1100">
                <a:solidFill>
                  <a:srgbClr val="1C2233"/>
                </a:solidFill>
                <a:latin typeface="メイリオ"/>
                <a:ea typeface="メイリオ"/>
                <a:cs typeface="メイリオ"/>
              </a:rPr>
              <a:t>2040年の18歳人口は約80万人まで減る見通し（国推計）。2026年の約111万人は一時的な踊り場で、以降は本格減少。</a:t>
            </a:r>
          </a:p>
          <a:p>
            <a:pPr algn="l">
              <a:lnSpc>
                <a:spcPct val="120000"/>
              </a:lnSpc>
              <a:spcAft>
                <a:spcPts val="200"/>
              </a:spcAft>
            </a:pPr>
            <a:r>
              <a:rPr sz="1100">
                <a:solidFill>
                  <a:srgbClr val="1C2233"/>
                </a:solidFill>
                <a:latin typeface="メイリオ"/>
                <a:ea typeface="メイリオ"/>
                <a:cs typeface="メイリオ"/>
              </a:rPr>
              <a:t>いま在籍している小中高生の数がそのまま波及するため、</a:t>
            </a:r>
          </a:p>
          <a:p>
            <a:pPr algn="l">
              <a:lnSpc>
                <a:spcPct val="120000"/>
              </a:lnSpc>
              <a:spcAft>
                <a:spcPts val="200"/>
              </a:spcAft>
            </a:pPr>
            <a:r>
              <a:rPr sz="1100">
                <a:solidFill>
                  <a:srgbClr val="1C2233"/>
                </a:solidFill>
                <a:latin typeface="メイリオ"/>
                <a:ea typeface="メイリオ"/>
                <a:cs typeface="メイリオ"/>
              </a:rPr>
              <a:t>競争密度は今がピークではない。</a:t>
            </a:r>
          </a:p>
        </p:txBody>
      </p:sp>
      <p:sp>
        <p:nvSpPr>
          <p:cNvPr id="9" name="Rounded Rectangle 8"/>
          <p:cNvSpPr/>
          <p:nvPr/>
        </p:nvSpPr>
        <p:spPr>
          <a:xfrm>
            <a:off x="5076000" y="3816000"/>
            <a:ext cx="4464000" cy="154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だから「取りこぼしを拾う」が最も効く</a:t>
            </a:r>
          </a:p>
          <a:p>
            <a:pPr algn="l">
              <a:lnSpc>
                <a:spcPct val="120000"/>
              </a:lnSpc>
              <a:spcAft>
                <a:spcPts val="200"/>
              </a:spcAft>
            </a:pPr>
            <a:r>
              <a:rPr sz="1100">
                <a:solidFill>
                  <a:srgbClr val="1C2233"/>
                </a:solidFill>
                <a:latin typeface="メイリオ"/>
                <a:ea typeface="メイリオ"/>
                <a:cs typeface="メイリオ"/>
              </a:rPr>
              <a:t>広告の入札を強めても、母数が半分の市場では単価が上がるだけ。</a:t>
            </a:r>
          </a:p>
          <a:p>
            <a:pPr algn="l">
              <a:lnSpc>
                <a:spcPct val="120000"/>
              </a:lnSpc>
              <a:spcAft>
                <a:spcPts val="200"/>
              </a:spcAft>
            </a:pPr>
            <a:r>
              <a:rPr sz="1100">
                <a:solidFill>
                  <a:srgbClr val="1C2233"/>
                </a:solidFill>
                <a:latin typeface="メイリオ"/>
                <a:ea typeface="メイリオ"/>
                <a:cs typeface="メイリオ"/>
              </a:rPr>
              <a:t>一度でも手を挙げた高校生（資料請求者・OC参加者）を</a:t>
            </a:r>
          </a:p>
          <a:p>
            <a:pPr algn="l">
              <a:lnSpc>
                <a:spcPct val="120000"/>
              </a:lnSpc>
              <a:spcAft>
                <a:spcPts val="200"/>
              </a:spcAft>
            </a:pPr>
            <a:r>
              <a:rPr sz="1100">
                <a:solidFill>
                  <a:srgbClr val="1C2233"/>
                </a:solidFill>
                <a:latin typeface="メイリオ"/>
                <a:ea typeface="メイリオ"/>
                <a:cs typeface="メイリオ"/>
              </a:rPr>
              <a:t>出願まで落とさない仕組みのほうが、費用対効果が高い。</a:t>
            </a:r>
          </a:p>
        </p:txBody>
      </p:sp>
      <p:sp>
        <p:nvSpPr>
          <p:cNvPr id="10" name="Rectangle 9"/>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入札で勝つ設計ではなく、取りこぼしを拾う設計へ。</a:t>
            </a:r>
          </a:p>
        </p:txBody>
      </p:sp>
      <p:sp>
        <p:nvSpPr>
          <p:cNvPr id="13" name="TextBox 12"/>
          <p:cNvSpPr txBox="1"/>
          <p:nvPr/>
        </p:nvSpPr>
        <p:spPr>
          <a:xfrm>
            <a:off x="396000" y="6053304"/>
            <a:ext cx="9322767" cy="369096"/>
          </a:xfrm>
          <a:prstGeom prst="rect">
            <a:avLst/>
          </a:prstGeom>
          <a:noFill/>
        </p:spPr>
        <p:txBody>
          <a:bodyPr wrap="square" lIns="0" tIns="21600" rIns="0" bIns="21600" anchor="t">
            <a:spAutoFit/>
          </a:bodyPr>
          <a:lstStyle/>
          <a:p>
            <a:pPr algn="l">
              <a:lnSpc>
                <a:spcPct val="120000"/>
              </a:lnSpc>
            </a:pPr>
            <a:r>
              <a:rPr sz="900" dirty="0">
                <a:solidFill>
                  <a:srgbClr val="646C82"/>
                </a:solidFill>
                <a:latin typeface="メイリオ"/>
                <a:ea typeface="メイリオ"/>
                <a:cs typeface="メイリオ"/>
              </a:rPr>
              <a:t>※ </a:t>
            </a:r>
            <a:r>
              <a:rPr sz="900" dirty="0" err="1">
                <a:solidFill>
                  <a:srgbClr val="646C82"/>
                </a:solidFill>
                <a:latin typeface="メイリオ"/>
                <a:ea typeface="メイリオ"/>
                <a:cs typeface="メイリオ"/>
              </a:rPr>
              <a:t>出典：文部科学省「学校基本調査</a:t>
            </a:r>
            <a:r>
              <a:rPr sz="900" dirty="0">
                <a:solidFill>
                  <a:srgbClr val="646C82"/>
                </a:solidFill>
                <a:latin typeface="メイリオ"/>
                <a:ea typeface="メイリオ"/>
                <a:cs typeface="メイリオ"/>
              </a:rPr>
              <a:t>」／</a:t>
            </a:r>
            <a:r>
              <a:rPr sz="900" dirty="0" err="1">
                <a:solidFill>
                  <a:srgbClr val="646C82"/>
                </a:solidFill>
                <a:latin typeface="メイリオ"/>
                <a:ea typeface="メイリオ"/>
                <a:cs typeface="メイリオ"/>
              </a:rPr>
              <a:t>日本私立学校振興・共済事業団「私立大学・短期大学等入学志願動向</a:t>
            </a:r>
            <a:r>
              <a:rPr sz="900" dirty="0">
                <a:solidFill>
                  <a:srgbClr val="646C82"/>
                </a:solidFill>
                <a:latin typeface="メイリオ"/>
                <a:ea typeface="メイリオ"/>
                <a:cs typeface="メイリオ"/>
              </a:rPr>
              <a:t>」／</a:t>
            </a:r>
            <a:r>
              <a:rPr sz="900" dirty="0" err="1">
                <a:solidFill>
                  <a:srgbClr val="646C82"/>
                </a:solidFill>
                <a:latin typeface="メイリオ"/>
                <a:ea typeface="メイリオ"/>
                <a:cs typeface="メイリオ"/>
              </a:rPr>
              <a:t>文部科学省「私立大学等入学者に係る初年度学生納付金等調査</a:t>
            </a:r>
            <a:r>
              <a:rPr sz="900" dirty="0">
                <a:solidFill>
                  <a:srgbClr val="646C82"/>
                </a:solidFill>
                <a:latin typeface="メイリオ"/>
                <a:ea typeface="メイリオ"/>
                <a:cs typeface="メイリオ"/>
              </a:rPr>
              <a:t>」。【</a:t>
            </a:r>
            <a:r>
              <a:rPr sz="900" dirty="0" err="1">
                <a:solidFill>
                  <a:srgbClr val="646C82"/>
                </a:solidFill>
                <a:latin typeface="メイリオ"/>
                <a:ea typeface="メイリオ"/>
                <a:cs typeface="メイリオ"/>
              </a:rPr>
              <a:t>提出前に最新年度で原典照合すること</a:t>
            </a:r>
            <a:r>
              <a:rPr sz="900" dirty="0">
                <a:solidFill>
                  <a:srgbClr val="646C82"/>
                </a:solidFill>
                <a:latin typeface="メイリオ"/>
                <a:ea typeface="メイリオ"/>
                <a:cs typeface="メイリオ"/>
              </a:rPr>
              <a:t>】※定員割れ46.2%は令和8年度速報（前年53.2%・</a:t>
            </a:r>
            <a:r>
              <a:rPr sz="900" dirty="0" err="1">
                <a:solidFill>
                  <a:srgbClr val="646C82"/>
                </a:solidFill>
                <a:latin typeface="メイリオ"/>
                <a:ea typeface="メイリオ"/>
                <a:cs typeface="メイリオ"/>
              </a:rPr>
              <a:t>定員削減等の影響含む</a:t>
            </a:r>
            <a:r>
              <a:rPr sz="900" dirty="0">
                <a:solidFill>
                  <a:srgbClr val="646C82"/>
                </a:solidFill>
                <a:latin typeface="メイリオ"/>
                <a:ea typeface="メイリオ"/>
                <a:cs typeface="メイリオ"/>
              </a:rPr>
              <a:t>）</a:t>
            </a:r>
          </a:p>
        </p:txBody>
      </p:sp>
    </p:spTree>
    <p:extLst>
      <p:ext uri="{BB962C8B-B14F-4D97-AF65-F5344CB8AC3E}">
        <p14:creationId xmlns:p14="http://schemas.microsoft.com/office/powerpoint/2010/main" val="11875947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ニーズ調査（シーズナリティ）｜OCは7月末、総合型選抜は8月末</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オープンキャンパスのピークと、総合型選抜の出願準備のピークは1ヶ月しか離れていない。</a:t>
            </a:r>
          </a:p>
          <a:p>
            <a:pPr algn="l">
              <a:lnSpc>
                <a:spcPct val="122000"/>
              </a:lnSpc>
            </a:pPr>
            <a:r>
              <a:rPr sz="1500">
                <a:solidFill>
                  <a:srgbClr val="646C82"/>
                </a:solidFill>
                <a:latin typeface="メイリオ"/>
                <a:ea typeface="メイリオ"/>
                <a:cs typeface="メイリオ"/>
              </a:rPr>
              <a:t>＝ 夏のOCで接点を持てなかった学校は、8月末には候補から消えている。</a:t>
            </a:r>
          </a:p>
        </p:txBody>
      </p:sp>
      <p:pic>
        <p:nvPicPr>
          <p:cNvPr id="4" name="Picture 3" descr="gakkou_trend_oc_weekly.png"/>
          <p:cNvPicPr>
            <a:picLocks noChangeAspect="1"/>
          </p:cNvPicPr>
          <p:nvPr/>
        </p:nvPicPr>
        <p:blipFill>
          <a:blip r:embed="rId2"/>
          <a:stretch>
            <a:fillRect/>
          </a:stretch>
        </p:blipFill>
        <p:spPr>
          <a:xfrm>
            <a:off x="396000" y="1224000"/>
            <a:ext cx="4464000" cy="1595293"/>
          </a:xfrm>
          <a:prstGeom prst="rect">
            <a:avLst/>
          </a:prstGeom>
        </p:spPr>
      </p:pic>
      <p:pic>
        <p:nvPicPr>
          <p:cNvPr id="5" name="Picture 4" descr="gakkou_trend_nyushi_weekly.png"/>
          <p:cNvPicPr>
            <a:picLocks noChangeAspect="1"/>
          </p:cNvPicPr>
          <p:nvPr/>
        </p:nvPicPr>
        <p:blipFill>
          <a:blip r:embed="rId3"/>
          <a:stretch>
            <a:fillRect/>
          </a:stretch>
        </p:blipFill>
        <p:spPr>
          <a:xfrm>
            <a:off x="5040000" y="1224000"/>
            <a:ext cx="4464000" cy="1595293"/>
          </a:xfrm>
          <a:prstGeom prst="rect">
            <a:avLst/>
          </a:prstGeom>
        </p:spPr>
      </p:pic>
      <p:sp>
        <p:nvSpPr>
          <p:cNvPr id="6" name="Rounded Rectangle 5"/>
          <p:cNvSpPr/>
          <p:nvPr/>
        </p:nvSpPr>
        <p:spPr>
          <a:xfrm>
            <a:off x="1292948" y="3168000"/>
            <a:ext cx="3009051" cy="134304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① 動き出しは5月下旬</a:t>
            </a:r>
          </a:p>
          <a:p>
            <a:pPr algn="l">
              <a:lnSpc>
                <a:spcPct val="120000"/>
              </a:lnSpc>
              <a:spcAft>
                <a:spcPts val="200"/>
              </a:spcAft>
            </a:pPr>
            <a:r>
              <a:rPr sz="1100" dirty="0">
                <a:solidFill>
                  <a:srgbClr val="1C2233"/>
                </a:solidFill>
                <a:latin typeface="メイリオ"/>
                <a:ea typeface="メイリオ"/>
                <a:cs typeface="メイリオ"/>
              </a:rPr>
              <a:t>「オープンキャンパス」の検索が20を超えるのが5/25週。</a:t>
            </a:r>
          </a:p>
          <a:p>
            <a:pPr algn="l">
              <a:lnSpc>
                <a:spcPct val="120000"/>
              </a:lnSpc>
              <a:spcAft>
                <a:spcPts val="200"/>
              </a:spcAft>
            </a:pPr>
            <a:r>
              <a:rPr sz="1100" dirty="0">
                <a:solidFill>
                  <a:srgbClr val="1C2233"/>
                </a:solidFill>
                <a:latin typeface="メイリオ"/>
                <a:ea typeface="メイリオ"/>
                <a:cs typeface="メイリオ"/>
              </a:rPr>
              <a:t>6/29週にはもう年間ピークの半分（51）。</a:t>
            </a:r>
          </a:p>
          <a:p>
            <a:pPr algn="l">
              <a:lnSpc>
                <a:spcPct val="120000"/>
              </a:lnSpc>
              <a:spcAft>
                <a:spcPts val="200"/>
              </a:spcAft>
            </a:pPr>
            <a:r>
              <a:rPr sz="1100" dirty="0">
                <a:solidFill>
                  <a:srgbClr val="1C2233"/>
                </a:solidFill>
                <a:latin typeface="メイリオ"/>
                <a:ea typeface="メイリオ"/>
                <a:cs typeface="メイリオ"/>
              </a:rPr>
              <a:t>6月に広報を始めたら、もう遅い。</a:t>
            </a:r>
          </a:p>
        </p:txBody>
      </p:sp>
      <p:sp>
        <p:nvSpPr>
          <p:cNvPr id="7" name="Rounded Rectangle 6"/>
          <p:cNvSpPr/>
          <p:nvPr/>
        </p:nvSpPr>
        <p:spPr>
          <a:xfrm>
            <a:off x="5329645" y="3168000"/>
            <a:ext cx="3095900" cy="134304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② 総合型のピークは8/31週</a:t>
            </a:r>
          </a:p>
          <a:p>
            <a:pPr algn="l">
              <a:lnSpc>
                <a:spcPct val="120000"/>
              </a:lnSpc>
              <a:spcAft>
                <a:spcPts val="200"/>
              </a:spcAft>
            </a:pPr>
            <a:r>
              <a:rPr sz="1100" dirty="0">
                <a:solidFill>
                  <a:srgbClr val="1C2233"/>
                </a:solidFill>
                <a:latin typeface="メイリオ"/>
                <a:ea typeface="メイリオ"/>
                <a:cs typeface="メイリオ"/>
              </a:rPr>
              <a:t>9/1の出願解禁を含む週が年間最大</a:t>
            </a:r>
            <a:r>
              <a:rPr lang="en-US" sz="1100" dirty="0">
                <a:solidFill>
                  <a:srgbClr val="1C2233"/>
                </a:solidFill>
                <a:latin typeface="メイリオ"/>
                <a:ea typeface="メイリオ"/>
                <a:cs typeface="メイリオ"/>
              </a:rPr>
              <a:t>(</a:t>
            </a:r>
            <a:r>
              <a:rPr sz="1100" dirty="0">
                <a:solidFill>
                  <a:srgbClr val="1C2233"/>
                </a:solidFill>
                <a:latin typeface="メイリオ"/>
                <a:ea typeface="メイリオ"/>
                <a:cs typeface="メイリオ"/>
              </a:rPr>
              <a:t>100</a:t>
            </a:r>
            <a:r>
              <a:rPr lang="en-US" sz="1100" dirty="0">
                <a:solidFill>
                  <a:srgbClr val="1C2233"/>
                </a:solidFill>
                <a:latin typeface="メイリオ"/>
                <a:ea typeface="メイリオ"/>
                <a:cs typeface="メイリオ"/>
              </a:rPr>
              <a:t>)</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指定校推薦は8月末と11月中旬の二山、</a:t>
            </a:r>
          </a:p>
          <a:p>
            <a:pPr algn="l">
              <a:lnSpc>
                <a:spcPct val="120000"/>
              </a:lnSpc>
              <a:spcAft>
                <a:spcPts val="200"/>
              </a:spcAft>
            </a:pPr>
            <a:r>
              <a:rPr sz="1100" dirty="0">
                <a:solidFill>
                  <a:srgbClr val="1C2233"/>
                </a:solidFill>
                <a:latin typeface="メイリオ"/>
                <a:ea typeface="メイリオ"/>
                <a:cs typeface="メイリオ"/>
              </a:rPr>
              <a:t>学校推薦型は11月の単峰。</a:t>
            </a:r>
            <a:endParaRPr lang="en-US" sz="1100" dirty="0">
              <a:solidFill>
                <a:srgbClr val="1C2233"/>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3方式で時期が違う。</a:t>
            </a:r>
          </a:p>
        </p:txBody>
      </p:sp>
      <p:sp>
        <p:nvSpPr>
          <p:cNvPr id="8" name="Rounded Rectangle 7"/>
          <p:cNvSpPr/>
          <p:nvPr/>
        </p:nvSpPr>
        <p:spPr>
          <a:xfrm>
            <a:off x="3405050" y="4654740"/>
            <a:ext cx="3095900" cy="133956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③ 仕込みの窓は5週間</a:t>
            </a:r>
          </a:p>
          <a:p>
            <a:pPr algn="l">
              <a:lnSpc>
                <a:spcPct val="120000"/>
              </a:lnSpc>
              <a:spcAft>
                <a:spcPts val="200"/>
              </a:spcAft>
            </a:pPr>
            <a:r>
              <a:rPr sz="1100" dirty="0">
                <a:solidFill>
                  <a:srgbClr val="1C2233"/>
                </a:solidFill>
                <a:latin typeface="メイリオ"/>
                <a:ea typeface="メイリオ"/>
                <a:cs typeface="メイリオ"/>
              </a:rPr>
              <a:t>5/25週〜6/29週の5週間が、友だち化の窓。</a:t>
            </a:r>
          </a:p>
          <a:p>
            <a:pPr algn="l">
              <a:lnSpc>
                <a:spcPct val="120000"/>
              </a:lnSpc>
              <a:spcAft>
                <a:spcPts val="200"/>
              </a:spcAft>
            </a:pPr>
            <a:r>
              <a:rPr sz="1100" dirty="0" err="1">
                <a:solidFill>
                  <a:srgbClr val="1C2233"/>
                </a:solidFill>
                <a:latin typeface="メイリオ"/>
                <a:ea typeface="メイリオ"/>
                <a:cs typeface="メイリオ"/>
              </a:rPr>
              <a:t>ここまでに友だちになっていない高校生は</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夏のOCの候補リストに入らない</a:t>
            </a:r>
            <a:r>
              <a:rPr sz="1100" dirty="0">
                <a:solidFill>
                  <a:srgbClr val="1C2233"/>
                </a:solidFill>
                <a:latin typeface="メイリオ"/>
                <a:ea typeface="メイリオ"/>
                <a:cs typeface="メイリオ"/>
              </a:rPr>
              <a:t>。</a:t>
            </a:r>
          </a:p>
        </p:txBody>
      </p:sp>
      <p:sp>
        <p:nvSpPr>
          <p:cNvPr id="9" name="TextBox 8"/>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出典：Googleトレンド（日本・ウェブ検索・2026-09-15取得）。週次データは2025年（2024-12-29〜2025-12-28）の実測。</a:t>
            </a:r>
          </a:p>
          <a:p>
            <a:pPr algn="l">
              <a:lnSpc>
                <a:spcPct val="120000"/>
              </a:lnSpc>
            </a:pPr>
            <a:r>
              <a:rPr sz="900">
                <a:solidFill>
                  <a:srgbClr val="646C82"/>
                </a:solidFill>
                <a:latin typeface="メイリオ"/>
                <a:ea typeface="メイリオ"/>
                <a:cs typeface="メイリオ"/>
              </a:rPr>
              <a:t>※ 入試日程は文部科学省「大学入学者選抜実施要項」（総合型＝9/1出願・11/1発表／学校推薦型＝11/1出願・12/1発表／一般＝2/1〜）。</a:t>
            </a:r>
          </a:p>
        </p:txBody>
      </p:sp>
    </p:spTree>
    <p:extLst>
      <p:ext uri="{BB962C8B-B14F-4D97-AF65-F5344CB8AC3E}">
        <p14:creationId xmlns:p14="http://schemas.microsoft.com/office/powerpoint/2010/main" val="11339163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ニーズ調査（5年トレンド）｜総合型選抜は5年で3.3倍</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オープンキャンパスの形は5年間まったく変わらない＝予定を立てられる需要。</a:t>
            </a:r>
          </a:p>
          <a:p>
            <a:pPr algn="l">
              <a:lnSpc>
                <a:spcPct val="122000"/>
              </a:lnSpc>
            </a:pPr>
            <a:r>
              <a:rPr sz="1500">
                <a:solidFill>
                  <a:srgbClr val="646C82"/>
                </a:solidFill>
                <a:latin typeface="メイリオ"/>
                <a:ea typeface="メイリオ"/>
                <a:cs typeface="メイリオ"/>
              </a:rPr>
              <a:t>一方で入試方式の主役は入れ替わっており、2023年9月に総合型が指定校推薦を抜いた。</a:t>
            </a:r>
          </a:p>
        </p:txBody>
      </p:sp>
      <p:pic>
        <p:nvPicPr>
          <p:cNvPr id="4" name="Picture 3" descr="gakkou_trend_oc_5y.png"/>
          <p:cNvPicPr>
            <a:picLocks noChangeAspect="1"/>
          </p:cNvPicPr>
          <p:nvPr/>
        </p:nvPicPr>
        <p:blipFill>
          <a:blip r:embed="rId2"/>
          <a:stretch>
            <a:fillRect/>
          </a:stretch>
        </p:blipFill>
        <p:spPr>
          <a:xfrm>
            <a:off x="396000" y="1224000"/>
            <a:ext cx="4464000" cy="1545954"/>
          </a:xfrm>
          <a:prstGeom prst="rect">
            <a:avLst/>
          </a:prstGeom>
        </p:spPr>
      </p:pic>
      <p:pic>
        <p:nvPicPr>
          <p:cNvPr id="5" name="Picture 4" descr="gakkou_trend_nyushi_5y.png"/>
          <p:cNvPicPr>
            <a:picLocks noChangeAspect="1"/>
          </p:cNvPicPr>
          <p:nvPr/>
        </p:nvPicPr>
        <p:blipFill>
          <a:blip r:embed="rId3"/>
          <a:stretch>
            <a:fillRect/>
          </a:stretch>
        </p:blipFill>
        <p:spPr>
          <a:xfrm>
            <a:off x="5040000" y="1224000"/>
            <a:ext cx="4464000" cy="1595293"/>
          </a:xfrm>
          <a:prstGeom prst="rect">
            <a:avLst/>
          </a:prstGeom>
        </p:spPr>
      </p:pic>
      <p:sp>
        <p:nvSpPr>
          <p:cNvPr id="6" name="Rounded Rectangle 5"/>
          <p:cNvSpPr/>
          <p:nvPr/>
        </p:nvSpPr>
        <p:spPr>
          <a:xfrm>
            <a:off x="396000" y="3168000"/>
            <a:ext cx="2951999"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00" b="1" dirty="0">
                <a:solidFill>
                  <a:srgbClr val="1F285A"/>
                </a:solidFill>
                <a:latin typeface="メイリオ"/>
                <a:ea typeface="メイリオ"/>
                <a:cs typeface="メイリオ"/>
              </a:rPr>
              <a:t>① OCは5年連続で7月ピーク</a:t>
            </a:r>
          </a:p>
          <a:p>
            <a:pPr algn="l">
              <a:lnSpc>
                <a:spcPct val="120000"/>
              </a:lnSpc>
              <a:spcAft>
                <a:spcPts val="200"/>
              </a:spcAft>
            </a:pPr>
            <a:r>
              <a:rPr sz="1050" dirty="0">
                <a:solidFill>
                  <a:srgbClr val="1C2233"/>
                </a:solidFill>
                <a:latin typeface="メイリオ"/>
                <a:ea typeface="メイリオ"/>
                <a:cs typeface="メイリオ"/>
              </a:rPr>
              <a:t>2022→2026年の7月値は 100 / 94 / 80 / 85 / 90。</a:t>
            </a:r>
          </a:p>
          <a:p>
            <a:pPr algn="l">
              <a:lnSpc>
                <a:spcPct val="120000"/>
              </a:lnSpc>
              <a:spcAft>
                <a:spcPts val="200"/>
              </a:spcAft>
            </a:pPr>
            <a:r>
              <a:rPr sz="1050" dirty="0">
                <a:solidFill>
                  <a:srgbClr val="1C2233"/>
                </a:solidFill>
                <a:latin typeface="メイリオ"/>
                <a:ea typeface="メイリオ"/>
                <a:cs typeface="メイリオ"/>
              </a:rPr>
              <a:t>谷は12〜1月（3〜5）でピークの約1/20。</a:t>
            </a:r>
          </a:p>
          <a:p>
            <a:pPr algn="l">
              <a:lnSpc>
                <a:spcPct val="120000"/>
              </a:lnSpc>
              <a:spcAft>
                <a:spcPts val="200"/>
              </a:spcAft>
            </a:pPr>
            <a:r>
              <a:rPr sz="1050" dirty="0" err="1">
                <a:solidFill>
                  <a:srgbClr val="1C2233"/>
                </a:solidFill>
                <a:latin typeface="メイリオ"/>
                <a:ea typeface="メイリオ"/>
                <a:cs typeface="メイリオ"/>
              </a:rPr>
              <a:t>形が変わらない＝毎年同じ日程で仕込める</a:t>
            </a:r>
            <a:r>
              <a:rPr sz="1050" dirty="0">
                <a:solidFill>
                  <a:srgbClr val="1C2233"/>
                </a:solidFill>
                <a:latin typeface="メイリオ"/>
                <a:ea typeface="メイリオ"/>
                <a:cs typeface="メイリオ"/>
              </a:rPr>
              <a:t>。</a:t>
            </a:r>
          </a:p>
        </p:txBody>
      </p:sp>
      <p:sp>
        <p:nvSpPr>
          <p:cNvPr id="7" name="Rounded Rectangle 6"/>
          <p:cNvSpPr/>
          <p:nvPr/>
        </p:nvSpPr>
        <p:spPr>
          <a:xfrm>
            <a:off x="3419999" y="3157646"/>
            <a:ext cx="3096001"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00" b="1" dirty="0">
                <a:solidFill>
                  <a:srgbClr val="ED7D31"/>
                </a:solidFill>
                <a:latin typeface="メイリオ"/>
                <a:ea typeface="メイリオ"/>
                <a:cs typeface="メイリオ"/>
              </a:rPr>
              <a:t>② </a:t>
            </a:r>
            <a:r>
              <a:rPr sz="1100" b="1" dirty="0" err="1">
                <a:solidFill>
                  <a:srgbClr val="ED7D31"/>
                </a:solidFill>
                <a:latin typeface="メイリオ"/>
                <a:ea typeface="メイリオ"/>
                <a:cs typeface="メイリオ"/>
              </a:rPr>
              <a:t>総合型選抜</a:t>
            </a:r>
            <a:r>
              <a:rPr sz="1100" b="1" dirty="0">
                <a:solidFill>
                  <a:srgbClr val="ED7D31"/>
                </a:solidFill>
                <a:latin typeface="メイリオ"/>
                <a:ea typeface="メイリオ"/>
                <a:cs typeface="メイリオ"/>
              </a:rPr>
              <a:t> 5年で3.3倍</a:t>
            </a:r>
          </a:p>
          <a:p>
            <a:pPr algn="l">
              <a:lnSpc>
                <a:spcPct val="120000"/>
              </a:lnSpc>
              <a:spcAft>
                <a:spcPts val="200"/>
              </a:spcAft>
            </a:pPr>
            <a:r>
              <a:rPr sz="1050" dirty="0">
                <a:solidFill>
                  <a:srgbClr val="1C2233"/>
                </a:solidFill>
                <a:latin typeface="メイリオ"/>
                <a:ea typeface="メイリオ"/>
                <a:cs typeface="メイリオ"/>
              </a:rPr>
              <a:t>9月値の比較：総合型 30 → 100（3.3倍・5年連続増）。</a:t>
            </a:r>
          </a:p>
          <a:p>
            <a:pPr algn="l">
              <a:lnSpc>
                <a:spcPct val="120000"/>
              </a:lnSpc>
              <a:spcAft>
                <a:spcPts val="200"/>
              </a:spcAft>
            </a:pPr>
            <a:r>
              <a:rPr sz="1050" dirty="0" err="1">
                <a:solidFill>
                  <a:srgbClr val="1C2233"/>
                </a:solidFill>
                <a:latin typeface="メイリオ"/>
                <a:ea typeface="メイリオ"/>
                <a:cs typeface="メイリオ"/>
              </a:rPr>
              <a:t>指定校推薦は</a:t>
            </a:r>
            <a:r>
              <a:rPr sz="1050" dirty="0">
                <a:solidFill>
                  <a:srgbClr val="1C2233"/>
                </a:solidFill>
                <a:latin typeface="メイリオ"/>
                <a:ea typeface="メイリオ"/>
                <a:cs typeface="メイリオ"/>
              </a:rPr>
              <a:t> 64 → 57</a:t>
            </a:r>
            <a:r>
              <a:rPr lang="en-US" sz="1050" dirty="0">
                <a:solidFill>
                  <a:srgbClr val="1C2233"/>
                </a:solidFill>
                <a:latin typeface="メイリオ"/>
                <a:ea typeface="メイリオ"/>
                <a:cs typeface="メイリオ"/>
              </a:rPr>
              <a:t>(</a:t>
            </a:r>
            <a:r>
              <a:rPr sz="1050" dirty="0">
                <a:solidFill>
                  <a:srgbClr val="1C2233"/>
                </a:solidFill>
                <a:latin typeface="メイリオ"/>
                <a:ea typeface="メイリオ"/>
                <a:cs typeface="メイリオ"/>
              </a:rPr>
              <a:t>▲11%</a:t>
            </a:r>
            <a:r>
              <a:rPr lang="en-US" sz="1050" dirty="0">
                <a:solidFill>
                  <a:srgbClr val="1C2233"/>
                </a:solidFill>
                <a:latin typeface="メイリオ"/>
                <a:ea typeface="メイリオ"/>
                <a:cs typeface="メイリオ"/>
              </a:rPr>
              <a:t>)</a:t>
            </a:r>
            <a:r>
              <a:rPr sz="1050" dirty="0" err="1">
                <a:solidFill>
                  <a:srgbClr val="1C2233"/>
                </a:solidFill>
                <a:latin typeface="メイリオ"/>
                <a:ea typeface="メイリオ"/>
                <a:cs typeface="メイリオ"/>
              </a:rPr>
              <a:t>で横ばい</a:t>
            </a:r>
            <a:r>
              <a:rPr sz="1050" dirty="0">
                <a:solidFill>
                  <a:srgbClr val="1C2233"/>
                </a:solidFill>
                <a:latin typeface="メイリオ"/>
                <a:ea typeface="メイリオ"/>
                <a:cs typeface="メイリオ"/>
              </a:rPr>
              <a:t>。</a:t>
            </a:r>
          </a:p>
          <a:p>
            <a:pPr algn="l">
              <a:lnSpc>
                <a:spcPct val="120000"/>
              </a:lnSpc>
              <a:spcAft>
                <a:spcPts val="200"/>
              </a:spcAft>
            </a:pPr>
            <a:r>
              <a:rPr sz="1050" dirty="0">
                <a:solidFill>
                  <a:srgbClr val="1C2233"/>
                </a:solidFill>
                <a:latin typeface="メイリオ"/>
                <a:ea typeface="メイリオ"/>
                <a:cs typeface="メイリオ"/>
              </a:rPr>
              <a:t>2023年9月に逆転し、いまは総合型が1.75倍。</a:t>
            </a:r>
          </a:p>
        </p:txBody>
      </p:sp>
      <p:sp>
        <p:nvSpPr>
          <p:cNvPr id="8" name="Rounded Rectangle 7"/>
          <p:cNvSpPr/>
          <p:nvPr/>
        </p:nvSpPr>
        <p:spPr>
          <a:xfrm>
            <a:off x="6588000" y="3168000"/>
            <a:ext cx="3096001"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00" b="1" dirty="0">
                <a:solidFill>
                  <a:srgbClr val="1F285A"/>
                </a:solidFill>
                <a:latin typeface="メイリオ"/>
                <a:ea typeface="メイリオ"/>
                <a:cs typeface="メイリオ"/>
              </a:rPr>
              <a:t>③ </a:t>
            </a:r>
            <a:r>
              <a:rPr sz="1100" b="1" dirty="0" err="1">
                <a:solidFill>
                  <a:srgbClr val="1F285A"/>
                </a:solidFill>
                <a:latin typeface="メイリオ"/>
                <a:ea typeface="メイリオ"/>
                <a:cs typeface="メイリオ"/>
              </a:rPr>
              <a:t>専門学校は年中フラット</a:t>
            </a:r>
            <a:endParaRPr sz="1100" b="1" dirty="0">
              <a:solidFill>
                <a:srgbClr val="1F285A"/>
              </a:solidFill>
              <a:latin typeface="メイリオ"/>
              <a:ea typeface="メイリオ"/>
              <a:cs typeface="メイリオ"/>
            </a:endParaRPr>
          </a:p>
          <a:p>
            <a:pPr algn="l">
              <a:lnSpc>
                <a:spcPct val="120000"/>
              </a:lnSpc>
              <a:spcAft>
                <a:spcPts val="200"/>
              </a:spcAft>
            </a:pPr>
            <a:r>
              <a:rPr sz="1050" dirty="0">
                <a:solidFill>
                  <a:srgbClr val="1C2233"/>
                </a:solidFill>
                <a:latin typeface="メイリオ"/>
                <a:ea typeface="メイリオ"/>
                <a:cs typeface="メイリオ"/>
              </a:rPr>
              <a:t>「専門学校」は5年間ずっと22〜40のレンジ。</a:t>
            </a:r>
          </a:p>
          <a:p>
            <a:pPr algn="l">
              <a:lnSpc>
                <a:spcPct val="120000"/>
              </a:lnSpc>
              <a:spcAft>
                <a:spcPts val="200"/>
              </a:spcAft>
            </a:pPr>
            <a:r>
              <a:rPr sz="1050" dirty="0" err="1">
                <a:solidFill>
                  <a:srgbClr val="1C2233"/>
                </a:solidFill>
                <a:latin typeface="メイリオ"/>
                <a:ea typeface="メイリオ"/>
                <a:cs typeface="メイリオ"/>
              </a:rPr>
              <a:t>大学</a:t>
            </a:r>
            <a:r>
              <a:rPr lang="en-US" sz="1050" dirty="0">
                <a:solidFill>
                  <a:srgbClr val="1C2233"/>
                </a:solidFill>
                <a:latin typeface="メイリオ"/>
                <a:ea typeface="メイリオ"/>
                <a:cs typeface="メイリオ"/>
              </a:rPr>
              <a:t>(</a:t>
            </a:r>
            <a:r>
              <a:rPr sz="1050" dirty="0" err="1">
                <a:solidFill>
                  <a:srgbClr val="1C2233"/>
                </a:solidFill>
                <a:latin typeface="メイリオ"/>
                <a:ea typeface="メイリオ"/>
                <a:cs typeface="メイリオ"/>
              </a:rPr>
              <a:t>夏に集中</a:t>
            </a:r>
            <a:r>
              <a:rPr lang="en-US" sz="1050" dirty="0">
                <a:solidFill>
                  <a:srgbClr val="1C2233"/>
                </a:solidFill>
                <a:latin typeface="メイリオ"/>
                <a:ea typeface="メイリオ"/>
                <a:cs typeface="メイリオ"/>
              </a:rPr>
              <a:t>)</a:t>
            </a:r>
            <a:r>
              <a:rPr sz="1050" dirty="0" err="1">
                <a:solidFill>
                  <a:srgbClr val="1C2233"/>
                </a:solidFill>
                <a:latin typeface="メイリオ"/>
                <a:ea typeface="メイリオ"/>
                <a:cs typeface="メイリオ"/>
              </a:rPr>
              <a:t>とは需要曲線がまったく違う</a:t>
            </a:r>
            <a:r>
              <a:rPr sz="1050" dirty="0">
                <a:solidFill>
                  <a:srgbClr val="1C2233"/>
                </a:solidFill>
                <a:latin typeface="メイリオ"/>
                <a:ea typeface="メイリオ"/>
                <a:cs typeface="メイリオ"/>
              </a:rPr>
              <a:t>。</a:t>
            </a:r>
          </a:p>
          <a:p>
            <a:pPr algn="l">
              <a:lnSpc>
                <a:spcPct val="120000"/>
              </a:lnSpc>
              <a:spcAft>
                <a:spcPts val="200"/>
              </a:spcAft>
            </a:pPr>
            <a:r>
              <a:rPr sz="1050" dirty="0">
                <a:solidFill>
                  <a:srgbClr val="1C2233"/>
                </a:solidFill>
                <a:latin typeface="メイリオ"/>
                <a:ea typeface="メイリオ"/>
                <a:cs typeface="メイリオ"/>
              </a:rPr>
              <a:t>→ </a:t>
            </a:r>
            <a:r>
              <a:rPr sz="1050" dirty="0" err="1">
                <a:solidFill>
                  <a:srgbClr val="1C2233"/>
                </a:solidFill>
                <a:latin typeface="メイリオ"/>
                <a:ea typeface="メイリオ"/>
                <a:cs typeface="メイリオ"/>
              </a:rPr>
              <a:t>大学と専門学校は別の配信設計が要る</a:t>
            </a:r>
            <a:r>
              <a:rPr sz="1050" dirty="0">
                <a:solidFill>
                  <a:srgbClr val="1C2233"/>
                </a:solidFill>
                <a:latin typeface="メイリオ"/>
                <a:ea typeface="メイリオ"/>
                <a:cs typeface="メイリオ"/>
              </a:rPr>
              <a:t>。</a:t>
            </a:r>
          </a:p>
        </p:txBody>
      </p:sp>
      <p:sp>
        <p:nvSpPr>
          <p:cNvPr id="9" name="TextBox 8"/>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出典：Googleトレンド（日本・ウェブ検索・2021/9〜2026/9・2026-09-15取得）。2026年9月は月途中（9/15まで）の参考値。</a:t>
            </a:r>
          </a:p>
          <a:p>
            <a:pPr algn="l">
              <a:lnSpc>
                <a:spcPct val="120000"/>
              </a:lnSpc>
            </a:pPr>
            <a:r>
              <a:rPr sz="900">
                <a:solidFill>
                  <a:srgbClr val="646C82"/>
                </a:solidFill>
                <a:latin typeface="メイリオ"/>
                <a:ea typeface="メイリオ"/>
                <a:cs typeface="メイリオ"/>
              </a:rPr>
              <a:t>※ 「共通テスト」は1月に100・他月は10以下と桁が違うため、同一グラフに混ぜていない（混ぜると小さい方が潰れる）。</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年間の配信設計マトリクス（時期 × 対象 × 訴求 × CV）</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需要の波と入試日程が動かせない業界。時期ごとに「誰に・何を言い・どこへ着地させるか」を先に決める。</a:t>
            </a:r>
          </a:p>
        </p:txBody>
      </p:sp>
      <p:graphicFrame>
        <p:nvGraphicFramePr>
          <p:cNvPr id="4" name="Table 3"/>
          <p:cNvGraphicFramePr>
            <a:graphicFrameLocks noGrp="1"/>
          </p:cNvGraphicFramePr>
          <p:nvPr>
            <p:extLst>
              <p:ext uri="{D42A27DB-BD31-4B8C-83A1-F6EECF244321}">
                <p14:modId xmlns:p14="http://schemas.microsoft.com/office/powerpoint/2010/main" val="3319664693"/>
              </p:ext>
            </p:extLst>
          </p:nvPr>
        </p:nvGraphicFramePr>
        <p:xfrm>
          <a:off x="396000" y="1224000"/>
          <a:ext cx="9143999" cy="3780000"/>
        </p:xfrm>
        <a:graphic>
          <a:graphicData uri="http://schemas.openxmlformats.org/drawingml/2006/table">
            <a:tbl>
              <a:tblPr firstRow="1" bandRow="1">
                <a:tableStyleId>{5C22544A-7EE6-4342-B048-85BDC9FD1C3A}</a:tableStyleId>
              </a:tblPr>
              <a:tblGrid>
                <a:gridCol w="1080000">
                  <a:extLst>
                    <a:ext uri="{9D8B030D-6E8A-4147-A177-3AD203B41FA5}">
                      <a16:colId xmlns:a16="http://schemas.microsoft.com/office/drawing/2014/main" val="20000"/>
                    </a:ext>
                  </a:extLst>
                </a:gridCol>
                <a:gridCol w="2664000">
                  <a:extLst>
                    <a:ext uri="{9D8B030D-6E8A-4147-A177-3AD203B41FA5}">
                      <a16:colId xmlns:a16="http://schemas.microsoft.com/office/drawing/2014/main" val="20001"/>
                    </a:ext>
                  </a:extLst>
                </a:gridCol>
                <a:gridCol w="3384000">
                  <a:extLst>
                    <a:ext uri="{9D8B030D-6E8A-4147-A177-3AD203B41FA5}">
                      <a16:colId xmlns:a16="http://schemas.microsoft.com/office/drawing/2014/main" val="20002"/>
                    </a:ext>
                  </a:extLst>
                </a:gridCol>
                <a:gridCol w="2015999">
                  <a:extLst>
                    <a:ext uri="{9D8B030D-6E8A-4147-A177-3AD203B41FA5}">
                      <a16:colId xmlns:a16="http://schemas.microsoft.com/office/drawing/2014/main" val="20003"/>
                    </a:ext>
                  </a:extLst>
                </a:gridCol>
              </a:tblGrid>
              <a:tr h="540000">
                <a:tc>
                  <a:txBody>
                    <a:bodyPr/>
                    <a:lstStyle/>
                    <a:p>
                      <a:pPr algn="ctr"/>
                      <a:r>
                        <a:rPr sz="1200" b="1">
                          <a:solidFill>
                            <a:srgbClr val="FFFFFF"/>
                          </a:solidFill>
                          <a:latin typeface="メイリオ"/>
                          <a:ea typeface="メイリオ"/>
                          <a:cs typeface="メイリオ"/>
                        </a:rPr>
                        <a:t>時期</a:t>
                      </a:r>
                    </a:p>
                  </a:txBody>
                  <a:tcPr anchor="ctr">
                    <a:solidFill>
                      <a:srgbClr val="1F285A"/>
                    </a:solidFill>
                  </a:tcPr>
                </a:tc>
                <a:tc>
                  <a:txBody>
                    <a:bodyPr/>
                    <a:lstStyle/>
                    <a:p>
                      <a:pPr algn="l"/>
                      <a:r>
                        <a:rPr sz="1200" b="1">
                          <a:solidFill>
                            <a:srgbClr val="FFFFFF"/>
                          </a:solidFill>
                          <a:latin typeface="メイリオ"/>
                          <a:ea typeface="メイリオ"/>
                          <a:cs typeface="メイリオ"/>
                        </a:rPr>
                        <a:t>対象（学年・状態）</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l"/>
                      <a:r>
                        <a:rPr sz="1200" b="1">
                          <a:solidFill>
                            <a:srgbClr val="FFFFFF"/>
                          </a:solidFill>
                          <a:latin typeface="メイリオ"/>
                          <a:ea typeface="メイリオ"/>
                          <a:cs typeface="メイリオ"/>
                        </a:rPr>
                        <a:t>着地させるCV</a:t>
                      </a:r>
                    </a:p>
                  </a:txBody>
                  <a:tcPr anchor="ctr">
                    <a:solidFill>
                      <a:srgbClr val="1F285A"/>
                    </a:solidFill>
                  </a:tcPr>
                </a:tc>
                <a:extLst>
                  <a:ext uri="{0D108BD9-81ED-4DB2-BD59-A6C34878D82A}">
                    <a16:rowId xmlns:a16="http://schemas.microsoft.com/office/drawing/2014/main" val="10000"/>
                  </a:ext>
                </a:extLst>
              </a:tr>
              <a:tr h="540000">
                <a:tc>
                  <a:txBody>
                    <a:bodyPr/>
                    <a:lstStyle/>
                    <a:p>
                      <a:pPr algn="ctr"/>
                      <a:r>
                        <a:rPr sz="1100">
                          <a:solidFill>
                            <a:srgbClr val="1C2233"/>
                          </a:solidFill>
                          <a:latin typeface="メイリオ"/>
                          <a:ea typeface="メイリオ"/>
                          <a:cs typeface="メイリオ"/>
                        </a:rPr>
                        <a:t>3〜4月</a:t>
                      </a:r>
                    </a:p>
                  </a:txBody>
                  <a:tcPr anchor="ctr">
                    <a:solidFill>
                      <a:srgbClr val="FFFFFF"/>
                    </a:solidFill>
                  </a:tcPr>
                </a:tc>
                <a:tc>
                  <a:txBody>
                    <a:bodyPr/>
                    <a:lstStyle/>
                    <a:p>
                      <a:pPr algn="l"/>
                      <a:r>
                        <a:rPr sz="1100">
                          <a:solidFill>
                            <a:srgbClr val="1C2233"/>
                          </a:solidFill>
                          <a:latin typeface="メイリオ"/>
                          <a:ea typeface="メイリオ"/>
                          <a:cs typeface="メイリオ"/>
                        </a:rPr>
                        <a:t>新高2・新高3／進路意識が立ち上がる層</a:t>
                      </a:r>
                    </a:p>
                  </a:txBody>
                  <a:tcPr anchor="ctr">
                    <a:solidFill>
                      <a:srgbClr val="FFFFFF"/>
                    </a:solidFill>
                  </a:tcPr>
                </a:tc>
                <a:tc>
                  <a:txBody>
                    <a:bodyPr/>
                    <a:lstStyle/>
                    <a:p>
                      <a:pPr algn="l"/>
                      <a:r>
                        <a:rPr sz="1100">
                          <a:solidFill>
                            <a:srgbClr val="1C2233"/>
                          </a:solidFill>
                          <a:latin typeface="メイリオ"/>
                          <a:ea typeface="メイリオ"/>
                          <a:cs typeface="メイリオ"/>
                        </a:rPr>
                        <a:t>「まだ決まっていなくていい」30秒 学部学科診断</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友だち追加・診断完了</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【CV①】</a:t>
                      </a:r>
                    </a:p>
                  </a:txBody>
                  <a:tcPr anchor="ctr">
                    <a:solidFill>
                      <a:srgbClr val="FFFFFF"/>
                    </a:solidFill>
                  </a:tcPr>
                </a:tc>
                <a:extLst>
                  <a:ext uri="{0D108BD9-81ED-4DB2-BD59-A6C34878D82A}">
                    <a16:rowId xmlns:a16="http://schemas.microsoft.com/office/drawing/2014/main" val="10001"/>
                  </a:ext>
                </a:extLst>
              </a:tr>
              <a:tr h="540000">
                <a:tc>
                  <a:txBody>
                    <a:bodyPr/>
                    <a:lstStyle/>
                    <a:p>
                      <a:pPr algn="ctr"/>
                      <a:r>
                        <a:rPr sz="1100">
                          <a:solidFill>
                            <a:srgbClr val="1C2233"/>
                          </a:solidFill>
                          <a:latin typeface="メイリオ"/>
                          <a:ea typeface="メイリオ"/>
                          <a:cs typeface="メイリオ"/>
                        </a:rPr>
                        <a:t>5月下旬〜6月</a:t>
                      </a:r>
                    </a:p>
                  </a:txBody>
                  <a:tcPr anchor="ctr">
                    <a:solidFill>
                      <a:srgbClr val="F4F7FF"/>
                    </a:solidFill>
                  </a:tcPr>
                </a:tc>
                <a:tc>
                  <a:txBody>
                    <a:bodyPr/>
                    <a:lstStyle/>
                    <a:p>
                      <a:pPr algn="l"/>
                      <a:r>
                        <a:rPr sz="1100" dirty="0">
                          <a:solidFill>
                            <a:srgbClr val="1C2233"/>
                          </a:solidFill>
                          <a:latin typeface="メイリオ"/>
                          <a:ea typeface="メイリオ"/>
                          <a:cs typeface="メイリオ"/>
                        </a:rPr>
                        <a:t>高3／OC検索が動き出す層　</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※検索実測：5/25週</a:t>
                      </a:r>
                    </a:p>
                  </a:txBody>
                  <a:tcPr anchor="ctr">
                    <a:solidFill>
                      <a:srgbClr val="F4F7FF"/>
                    </a:solidFill>
                  </a:tcPr>
                </a:tc>
                <a:tc>
                  <a:txBody>
                    <a:bodyPr/>
                    <a:lstStyle/>
                    <a:p>
                      <a:pPr algn="l"/>
                      <a:r>
                        <a:rPr sz="1100">
                          <a:solidFill>
                            <a:srgbClr val="1C2233"/>
                          </a:solidFill>
                          <a:latin typeface="メイリオ"/>
                          <a:ea typeface="メイリオ"/>
                          <a:cs typeface="メイリオ"/>
                        </a:rPr>
                        <a:t>OC日程の先行案内・1人参加OK・当日の流れ</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オープンキャンパス予約</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【CV②】</a:t>
                      </a:r>
                    </a:p>
                  </a:txBody>
                  <a:tcPr anchor="ctr">
                    <a:solidFill>
                      <a:srgbClr val="F4F7FF"/>
                    </a:solidFill>
                  </a:tcPr>
                </a:tc>
                <a:extLst>
                  <a:ext uri="{0D108BD9-81ED-4DB2-BD59-A6C34878D82A}">
                    <a16:rowId xmlns:a16="http://schemas.microsoft.com/office/drawing/2014/main" val="10002"/>
                  </a:ext>
                </a:extLst>
              </a:tr>
              <a:tr h="540000">
                <a:tc>
                  <a:txBody>
                    <a:bodyPr/>
                    <a:lstStyle/>
                    <a:p>
                      <a:pPr algn="ctr"/>
                      <a:r>
                        <a:rPr sz="1100">
                          <a:solidFill>
                            <a:srgbClr val="1C2233"/>
                          </a:solidFill>
                          <a:latin typeface="メイリオ"/>
                          <a:ea typeface="メイリオ"/>
                          <a:cs typeface="メイリオ"/>
                        </a:rPr>
                        <a:t>7〜8月</a:t>
                      </a:r>
                    </a:p>
                  </a:txBody>
                  <a:tcPr anchor="ctr">
                    <a:solidFill>
                      <a:srgbClr val="FFFFFF"/>
                    </a:solidFill>
                  </a:tcPr>
                </a:tc>
                <a:tc>
                  <a:txBody>
                    <a:bodyPr/>
                    <a:lstStyle/>
                    <a:p>
                      <a:pPr algn="l"/>
                      <a:r>
                        <a:rPr sz="1100">
                          <a:solidFill>
                            <a:srgbClr val="1C2233"/>
                          </a:solidFill>
                          <a:latin typeface="メイリオ"/>
                          <a:ea typeface="メイリオ"/>
                          <a:cs typeface="メイリオ"/>
                        </a:rPr>
                        <a:t>OC予約者・参加者</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前日リマインド／参加後アンケート</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学部の深掘り</a:t>
                      </a:r>
                      <a:endParaRPr sz="1100" dirty="0">
                        <a:solidFill>
                          <a:srgbClr val="1C2233"/>
                        </a:solidFill>
                        <a:latin typeface="メイリオ"/>
                        <a:ea typeface="メイリオ"/>
                        <a:cs typeface="メイリオ"/>
                      </a:endParaRPr>
                    </a:p>
                  </a:txBody>
                  <a:tcPr anchor="ctr">
                    <a:solidFill>
                      <a:srgbClr val="FFFFFF"/>
                    </a:solidFill>
                  </a:tcPr>
                </a:tc>
                <a:tc>
                  <a:txBody>
                    <a:bodyPr/>
                    <a:lstStyle/>
                    <a:p>
                      <a:pPr algn="l"/>
                      <a:r>
                        <a:rPr sz="1100">
                          <a:solidFill>
                            <a:srgbClr val="1C2233"/>
                          </a:solidFill>
                          <a:latin typeface="メイリオ"/>
                          <a:ea typeface="メイリオ"/>
                          <a:cs typeface="メイリオ"/>
                        </a:rPr>
                        <a:t>OC参加・再訪【CV②】</a:t>
                      </a:r>
                    </a:p>
                  </a:txBody>
                  <a:tcPr anchor="ctr">
                    <a:solidFill>
                      <a:srgbClr val="FFFFFF"/>
                    </a:solidFill>
                  </a:tcPr>
                </a:tc>
                <a:extLst>
                  <a:ext uri="{0D108BD9-81ED-4DB2-BD59-A6C34878D82A}">
                    <a16:rowId xmlns:a16="http://schemas.microsoft.com/office/drawing/2014/main" val="10003"/>
                  </a:ext>
                </a:extLst>
              </a:tr>
              <a:tr h="540000">
                <a:tc>
                  <a:txBody>
                    <a:bodyPr/>
                    <a:lstStyle/>
                    <a:p>
                      <a:pPr algn="ctr"/>
                      <a:r>
                        <a:rPr sz="1100">
                          <a:solidFill>
                            <a:srgbClr val="1C2233"/>
                          </a:solidFill>
                          <a:latin typeface="メイリオ"/>
                          <a:ea typeface="メイリオ"/>
                          <a:cs typeface="メイリオ"/>
                        </a:rPr>
                        <a:t>9〜11月</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OC参加者・年内入試層</a:t>
                      </a:r>
                      <a:r>
                        <a:rPr sz="1100" dirty="0">
                          <a:solidFill>
                            <a:srgbClr val="1C2233"/>
                          </a:solidFill>
                          <a:latin typeface="メイリオ"/>
                          <a:ea typeface="メイリオ"/>
                          <a:cs typeface="メイリオ"/>
                        </a:rPr>
                        <a:t>　</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※総合型9/1・学校推薦型11/1</a:t>
                      </a:r>
                    </a:p>
                  </a:txBody>
                  <a:tcPr anchor="ctr">
                    <a:solidFill>
                      <a:srgbClr val="F4F7FF"/>
                    </a:solidFill>
                  </a:tcPr>
                </a:tc>
                <a:tc>
                  <a:txBody>
                    <a:bodyPr/>
                    <a:lstStyle/>
                    <a:p>
                      <a:pPr algn="l"/>
                      <a:r>
                        <a:rPr sz="1100">
                          <a:solidFill>
                            <a:srgbClr val="1C2233"/>
                          </a:solidFill>
                          <a:latin typeface="メイリオ"/>
                          <a:ea typeface="メイリオ"/>
                          <a:cs typeface="メイリオ"/>
                        </a:rPr>
                        <a:t>志望理由書の書き方・面接10問・締切カウントダウン</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出願</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4"/>
                  </a:ext>
                </a:extLst>
              </a:tr>
              <a:tr h="540000">
                <a:tc>
                  <a:txBody>
                    <a:bodyPr/>
                    <a:lstStyle/>
                    <a:p>
                      <a:pPr algn="ctr"/>
                      <a:r>
                        <a:rPr sz="1100">
                          <a:solidFill>
                            <a:srgbClr val="1C2233"/>
                          </a:solidFill>
                          <a:latin typeface="メイリオ"/>
                          <a:ea typeface="メイリオ"/>
                          <a:cs typeface="メイリオ"/>
                        </a:rPr>
                        <a:t>12〜2月</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一般選抜層・併願検討層</a:t>
                      </a:r>
                      <a:r>
                        <a:rPr sz="1100" dirty="0">
                          <a:solidFill>
                            <a:srgbClr val="1C2233"/>
                          </a:solidFill>
                          <a:latin typeface="メイリオ"/>
                          <a:ea typeface="メイリオ"/>
                          <a:cs typeface="メイリオ"/>
                        </a:rPr>
                        <a:t>　</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※共通テスト1月中旬</a:t>
                      </a:r>
                    </a:p>
                  </a:txBody>
                  <a:tcPr anchor="ctr">
                    <a:solidFill>
                      <a:srgbClr val="FFFFFF"/>
                    </a:solidFill>
                  </a:tcPr>
                </a:tc>
                <a:tc>
                  <a:txBody>
                    <a:bodyPr/>
                    <a:lstStyle/>
                    <a:p>
                      <a:pPr algn="l"/>
                      <a:r>
                        <a:rPr sz="1100">
                          <a:solidFill>
                            <a:srgbClr val="1C2233"/>
                          </a:solidFill>
                          <a:latin typeface="メイリオ"/>
                          <a:ea typeface="メイリオ"/>
                          <a:cs typeface="メイリオ"/>
                        </a:rPr>
                        <a:t>入試方式の違い・過去問・入試説明会</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出願</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5"/>
                  </a:ext>
                </a:extLst>
              </a:tr>
              <a:tr h="540000">
                <a:tc>
                  <a:txBody>
                    <a:bodyPr/>
                    <a:lstStyle/>
                    <a:p>
                      <a:pPr algn="ctr"/>
                      <a:r>
                        <a:rPr sz="1100">
                          <a:solidFill>
                            <a:srgbClr val="1C2233"/>
                          </a:solidFill>
                          <a:latin typeface="メイリオ"/>
                          <a:ea typeface="メイリオ"/>
                          <a:cs typeface="メイリオ"/>
                        </a:rPr>
                        <a:t>2〜3月</a:t>
                      </a:r>
                    </a:p>
                  </a:txBody>
                  <a:tcPr anchor="ctr">
                    <a:solidFill>
                      <a:srgbClr val="F4F7FF"/>
                    </a:solidFill>
                  </a:tcPr>
                </a:tc>
                <a:tc>
                  <a:txBody>
                    <a:bodyPr/>
                    <a:lstStyle/>
                    <a:p>
                      <a:pPr algn="l"/>
                      <a:r>
                        <a:rPr sz="1100">
                          <a:solidFill>
                            <a:srgbClr val="1C2233"/>
                          </a:solidFill>
                          <a:latin typeface="メイリオ"/>
                          <a:ea typeface="メイリオ"/>
                          <a:cs typeface="メイリオ"/>
                        </a:rPr>
                        <a:t>合格者・入学手続前</a:t>
                      </a:r>
                    </a:p>
                  </a:txBody>
                  <a:tcPr anchor="ctr">
                    <a:solidFill>
                      <a:srgbClr val="F4F7FF"/>
                    </a:solidFill>
                  </a:tcPr>
                </a:tc>
                <a:tc>
                  <a:txBody>
                    <a:bodyPr/>
                    <a:lstStyle/>
                    <a:p>
                      <a:pPr algn="l"/>
                      <a:r>
                        <a:rPr sz="1100" dirty="0" err="1">
                          <a:solidFill>
                            <a:srgbClr val="1C2233"/>
                          </a:solidFill>
                          <a:latin typeface="メイリオ"/>
                          <a:ea typeface="メイリオ"/>
                          <a:cs typeface="メイリオ"/>
                        </a:rPr>
                        <a:t>入学前オリエンテーション・先輩との交流</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一人暮らし準備</a:t>
                      </a:r>
                      <a:endParaRPr sz="1100" dirty="0">
                        <a:solidFill>
                          <a:srgbClr val="1C2233"/>
                        </a:solidFill>
                        <a:latin typeface="メイリオ"/>
                        <a:ea typeface="メイリオ"/>
                        <a:cs typeface="メイリオ"/>
                      </a:endParaRPr>
                    </a:p>
                  </a:txBody>
                  <a:tcPr anchor="ctr">
                    <a:solidFill>
                      <a:srgbClr val="F4F7FF"/>
                    </a:solidFill>
                  </a:tcPr>
                </a:tc>
                <a:tc>
                  <a:txBody>
                    <a:bodyPr/>
                    <a:lstStyle/>
                    <a:p>
                      <a:pPr algn="l"/>
                      <a:r>
                        <a:rPr sz="1100" dirty="0" err="1">
                          <a:solidFill>
                            <a:srgbClr val="1C2233"/>
                          </a:solidFill>
                          <a:latin typeface="メイリオ"/>
                          <a:ea typeface="メイリオ"/>
                          <a:cs typeface="メイリオ"/>
                        </a:rPr>
                        <a:t>入学手続【CV</a:t>
                      </a:r>
                      <a:r>
                        <a:rPr sz="1100" dirty="0">
                          <a:solidFill>
                            <a:srgbClr val="1C2233"/>
                          </a:solidFill>
                          <a:latin typeface="メイリオ"/>
                          <a:ea typeface="メイリオ"/>
                          <a:cs typeface="メイリオ"/>
                        </a:rPr>
                        <a:t>③】・</a:t>
                      </a:r>
                      <a:r>
                        <a:rPr sz="1100" dirty="0" err="1">
                          <a:solidFill>
                            <a:srgbClr val="1C2233"/>
                          </a:solidFill>
                          <a:latin typeface="メイリオ"/>
                          <a:ea typeface="メイリオ"/>
                          <a:cs typeface="メイリオ"/>
                        </a:rPr>
                        <a:t>定着</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396000" y="5950800"/>
            <a:ext cx="9144000" cy="7056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時期の根拠：Googleトレンド実測（2026-09-15取得）＋文部科学省「大学入学者選抜実施要項」。</a:t>
            </a:r>
          </a:p>
          <a:p>
            <a:pPr algn="l">
              <a:lnSpc>
                <a:spcPct val="120000"/>
              </a:lnSpc>
            </a:pPr>
            <a:r>
              <a:rPr sz="900">
                <a:solidFill>
                  <a:srgbClr val="646C82"/>
                </a:solidFill>
                <a:latin typeface="メイリオ"/>
                <a:ea typeface="メイリオ"/>
                <a:cs typeface="メイリオ"/>
              </a:rPr>
              <a:t>※ 専門学校はAOエントリー6/1・出願10/1解禁（全国専修学校各種学校総連合会の申し合わせ・要確認）のため、上記より前倒しになる。</a:t>
            </a:r>
          </a:p>
          <a:p>
            <a:pPr algn="l">
              <a:lnSpc>
                <a:spcPct val="120000"/>
              </a:lnSpc>
            </a:pPr>
            <a:r>
              <a:rPr sz="900">
                <a:solidFill>
                  <a:srgbClr val="646C82"/>
                </a:solidFill>
                <a:latin typeface="メイリオ"/>
                <a:ea typeface="メイリオ"/>
                <a:cs typeface="メイリオ"/>
              </a:rPr>
              <a:t>※ 各時期の広告単価・CVRは貴学の実績値で埋める（進学領域の公開統計は存在しない）。</a:t>
            </a:r>
          </a:p>
        </p:txBody>
      </p:sp>
    </p:spTree>
    <p:extLst>
      <p:ext uri="{BB962C8B-B14F-4D97-AF65-F5344CB8AC3E}">
        <p14:creationId xmlns:p14="http://schemas.microsoft.com/office/powerpoint/2010/main" val="7965261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前後検索｜検討は「偏差値」で動く。オープンキャンパスは「後」に来る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LINEヤフー media Journey の実データ。0日前後の密集帯は、ほぼ全部「大学名＋偏差値」だった。</a:t>
            </a:r>
          </a:p>
          <a:p>
            <a:pPr algn="l">
              <a:lnSpc>
                <a:spcPct val="122000"/>
              </a:lnSpc>
            </a:pPr>
            <a:r>
              <a:rPr sz="1500">
                <a:solidFill>
                  <a:srgbClr val="646C82"/>
                </a:solidFill>
                <a:latin typeface="メイリオ"/>
                <a:ea typeface="メイリオ"/>
                <a:cs typeface="メイリオ"/>
              </a:rPr>
              <a:t>学部でも、やりたいことでもない。</a:t>
            </a:r>
          </a:p>
        </p:txBody>
      </p:sp>
      <p:sp>
        <p:nvSpPr>
          <p:cNvPr id="4" name="Rounded Rectangle 3"/>
          <p:cNvSpPr/>
          <p:nvPr/>
        </p:nvSpPr>
        <p:spPr>
          <a:xfrm>
            <a:off x="396000" y="1224000"/>
            <a:ext cx="2951999" cy="2736000"/>
          </a:xfrm>
          <a:prstGeom prst="roundRect">
            <a:avLst>
              <a:gd name="adj" fmla="val 6000"/>
            </a:avLst>
          </a:prstGeom>
          <a:solidFill>
            <a:srgbClr val="F2F2F2"/>
          </a:solidFill>
          <a:ln w="15875">
            <a:solidFill>
              <a:srgbClr val="1C2233"/>
            </a:solidFill>
            <a:prstDash val="dash"/>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1C2233"/>
                </a:solidFill>
                <a:latin typeface="メイリオ"/>
                <a:ea typeface="メイリオ"/>
                <a:cs typeface="メイリオ"/>
              </a:rPr>
              <a:t>検索前（−15〜−4日）</a:t>
            </a:r>
          </a:p>
          <a:p>
            <a:pPr algn="ctr">
              <a:spcAft>
                <a:spcPts val="700"/>
              </a:spcAft>
            </a:pPr>
            <a:r>
              <a:rPr sz="1100" b="1">
                <a:solidFill>
                  <a:srgbClr val="1C2233"/>
                </a:solidFill>
                <a:latin typeface="メイリオ"/>
                <a:ea typeface="メイリオ"/>
                <a:cs typeface="メイリオ"/>
              </a:rPr>
              <a:t>上位〜中位の大学名</a:t>
            </a:r>
          </a:p>
          <a:p>
            <a:pPr algn="l">
              <a:lnSpc>
                <a:spcPct val="130000"/>
              </a:lnSpc>
              <a:spcAft>
                <a:spcPts val="200"/>
              </a:spcAft>
            </a:pPr>
            <a:r>
              <a:rPr sz="1050">
                <a:solidFill>
                  <a:srgbClr val="1C2233"/>
                </a:solidFill>
                <a:latin typeface="メイリオ"/>
                <a:ea typeface="メイリオ"/>
                <a:cs typeface="メイリオ"/>
              </a:rPr>
              <a:t>・東洋大学／立教大学／中央大学／明治大学</a:t>
            </a:r>
          </a:p>
          <a:p>
            <a:pPr algn="l">
              <a:lnSpc>
                <a:spcPct val="130000"/>
              </a:lnSpc>
              <a:spcAft>
                <a:spcPts val="200"/>
              </a:spcAft>
            </a:pPr>
            <a:r>
              <a:rPr sz="1050">
                <a:solidFill>
                  <a:srgbClr val="1C2233"/>
                </a:solidFill>
                <a:latin typeface="メイリオ"/>
                <a:ea typeface="メイリオ"/>
                <a:cs typeface="メイリオ"/>
              </a:rPr>
              <a:t>・明治学院大学／學習院大學／成蹊大学</a:t>
            </a:r>
          </a:p>
          <a:p>
            <a:pPr algn="l">
              <a:lnSpc>
                <a:spcPct val="130000"/>
              </a:lnSpc>
              <a:spcAft>
                <a:spcPts val="200"/>
              </a:spcAft>
            </a:pPr>
            <a:r>
              <a:rPr sz="1050">
                <a:solidFill>
                  <a:srgbClr val="1C2233"/>
                </a:solidFill>
                <a:latin typeface="メイリオ"/>
                <a:ea typeface="メイリオ"/>
                <a:cs typeface="メイリオ"/>
              </a:rPr>
              <a:t>・日東駒専／法政大学 偏差値／駒澤大学 偏差値</a:t>
            </a:r>
          </a:p>
          <a:p>
            <a:pPr algn="l">
              <a:lnSpc>
                <a:spcPct val="130000"/>
              </a:lnSpc>
              <a:spcAft>
                <a:spcPts val="200"/>
              </a:spcAft>
            </a:pPr>
            <a:r>
              <a:rPr sz="1050">
                <a:solidFill>
                  <a:srgbClr val="1C2233"/>
                </a:solidFill>
                <a:latin typeface="メイリオ"/>
                <a:ea typeface="メイリオ"/>
                <a:cs typeface="メイリオ"/>
              </a:rPr>
              <a:t>・成成明学 序列／オープンキャンパス 東京</a:t>
            </a:r>
          </a:p>
        </p:txBody>
      </p:sp>
      <p:sp>
        <p:nvSpPr>
          <p:cNvPr id="5" name="Rounded Rectangle 4"/>
          <p:cNvSpPr/>
          <p:nvPr/>
        </p:nvSpPr>
        <p:spPr>
          <a:xfrm>
            <a:off x="3491999" y="1224000"/>
            <a:ext cx="2951999" cy="2736000"/>
          </a:xfrm>
          <a:prstGeom prst="roundRect">
            <a:avLst>
              <a:gd name="adj" fmla="val 6000"/>
            </a:avLst>
          </a:prstGeom>
          <a:solidFill>
            <a:srgbClr val="FCE4D6"/>
          </a:solidFill>
          <a:ln w="15875">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ED7D31"/>
                </a:solidFill>
                <a:latin typeface="メイリオ"/>
                <a:ea typeface="メイリオ"/>
                <a:cs typeface="メイリオ"/>
              </a:rPr>
              <a:t>0日（起点付近）</a:t>
            </a:r>
          </a:p>
          <a:p>
            <a:pPr algn="ctr">
              <a:spcAft>
                <a:spcPts val="700"/>
              </a:spcAft>
            </a:pPr>
            <a:r>
              <a:rPr sz="1100" b="1">
                <a:solidFill>
                  <a:srgbClr val="1C2233"/>
                </a:solidFill>
                <a:latin typeface="メイリオ"/>
                <a:ea typeface="メイリオ"/>
                <a:cs typeface="メイリオ"/>
              </a:rPr>
              <a:t>中堅〜下位の大学名＋偏差値</a:t>
            </a:r>
          </a:p>
          <a:p>
            <a:pPr algn="l">
              <a:lnSpc>
                <a:spcPct val="130000"/>
              </a:lnSpc>
              <a:spcAft>
                <a:spcPts val="200"/>
              </a:spcAft>
            </a:pPr>
            <a:r>
              <a:rPr sz="1050">
                <a:solidFill>
                  <a:srgbClr val="1C2233"/>
                </a:solidFill>
                <a:latin typeface="メイリオ"/>
                <a:ea typeface="メイリオ"/>
                <a:cs typeface="メイリオ"/>
              </a:rPr>
              <a:t>・東京国際大学 偏差値／亜細亜大学</a:t>
            </a:r>
          </a:p>
          <a:p>
            <a:pPr algn="l">
              <a:lnSpc>
                <a:spcPct val="130000"/>
              </a:lnSpc>
              <a:spcAft>
                <a:spcPts val="200"/>
              </a:spcAft>
            </a:pPr>
            <a:r>
              <a:rPr sz="1050">
                <a:solidFill>
                  <a:srgbClr val="1C2233"/>
                </a:solidFill>
                <a:latin typeface="メイリオ"/>
                <a:ea typeface="メイリオ"/>
                <a:cs typeface="メイリオ"/>
              </a:rPr>
              <a:t>・帝京平成大学／東京経済大学／駿河台大学</a:t>
            </a:r>
          </a:p>
          <a:p>
            <a:pPr algn="l">
              <a:lnSpc>
                <a:spcPct val="130000"/>
              </a:lnSpc>
              <a:spcAft>
                <a:spcPts val="200"/>
              </a:spcAft>
            </a:pPr>
            <a:r>
              <a:rPr sz="1050">
                <a:solidFill>
                  <a:srgbClr val="1C2233"/>
                </a:solidFill>
                <a:latin typeface="メイリオ"/>
                <a:ea typeface="メイリオ"/>
                <a:cs typeface="メイリオ"/>
              </a:rPr>
              <a:t>・大東亜帝国／共栄大学／聖学院大学</a:t>
            </a:r>
          </a:p>
          <a:p>
            <a:pPr algn="l">
              <a:lnSpc>
                <a:spcPct val="130000"/>
              </a:lnSpc>
              <a:spcAft>
                <a:spcPts val="200"/>
              </a:spcAft>
            </a:pPr>
            <a:r>
              <a:rPr sz="1050">
                <a:solidFill>
                  <a:srgbClr val="1C2233"/>
                </a:solidFill>
                <a:latin typeface="メイリオ"/>
                <a:ea typeface="メイリオ"/>
                <a:cs typeface="メイリオ"/>
              </a:rPr>
              <a:t>・定員割れの大学一覧（−2日）</a:t>
            </a:r>
          </a:p>
        </p:txBody>
      </p:sp>
      <p:sp>
        <p:nvSpPr>
          <p:cNvPr id="6" name="Rounded Rectangle 5"/>
          <p:cNvSpPr/>
          <p:nvPr/>
        </p:nvSpPr>
        <p:spPr>
          <a:xfrm>
            <a:off x="6588000" y="1224000"/>
            <a:ext cx="2951999" cy="2736000"/>
          </a:xfrm>
          <a:prstGeom prst="roundRect">
            <a:avLst>
              <a:gd name="adj" fmla="val 6000"/>
            </a:avLst>
          </a:prstGeom>
          <a:solidFill>
            <a:srgbClr val="F4F7FF"/>
          </a:solidFill>
          <a:ln w="15875">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86400" tIns="72000" rIns="72000" bIns="43200" rtlCol="0" anchor="t"/>
          <a:lstStyle/>
          <a:p>
            <a:pPr algn="ctr">
              <a:spcAft>
                <a:spcPts val="300"/>
              </a:spcAft>
            </a:pPr>
            <a:r>
              <a:rPr sz="1200" b="1">
                <a:solidFill>
                  <a:srgbClr val="1F285A"/>
                </a:solidFill>
                <a:latin typeface="メイリオ"/>
                <a:ea typeface="メイリオ"/>
                <a:cs typeface="メイリオ"/>
              </a:rPr>
              <a:t>検索後（+1〜+15日）</a:t>
            </a:r>
          </a:p>
          <a:p>
            <a:pPr algn="ctr">
              <a:spcAft>
                <a:spcPts val="700"/>
              </a:spcAft>
            </a:pPr>
            <a:r>
              <a:rPr sz="1100" b="1">
                <a:solidFill>
                  <a:srgbClr val="1C2233"/>
                </a:solidFill>
                <a:latin typeface="メイリオ"/>
                <a:ea typeface="メイリオ"/>
                <a:cs typeface="メイリオ"/>
              </a:rPr>
              <a:t>オープンキャンパス・学部・キャンパス</a:t>
            </a:r>
          </a:p>
          <a:p>
            <a:pPr algn="l">
              <a:lnSpc>
                <a:spcPct val="130000"/>
              </a:lnSpc>
              <a:spcAft>
                <a:spcPts val="200"/>
              </a:spcAft>
            </a:pPr>
            <a:r>
              <a:rPr sz="1050">
                <a:solidFill>
                  <a:srgbClr val="1C2233"/>
                </a:solidFill>
                <a:latin typeface="メイリオ"/>
                <a:ea typeface="メイリオ"/>
                <a:cs typeface="メイリオ"/>
              </a:rPr>
              <a:t>・東洋大学 オープンキャンパス2025</a:t>
            </a:r>
          </a:p>
          <a:p>
            <a:pPr algn="l">
              <a:lnSpc>
                <a:spcPct val="130000"/>
              </a:lnSpc>
              <a:spcAft>
                <a:spcPts val="200"/>
              </a:spcAft>
            </a:pPr>
            <a:r>
              <a:rPr sz="1050">
                <a:solidFill>
                  <a:srgbClr val="1C2233"/>
                </a:solidFill>
                <a:latin typeface="メイリオ"/>
                <a:ea typeface="メイリオ"/>
                <a:cs typeface="メイリオ"/>
              </a:rPr>
              <a:t>・成蹊大学・日本大学 オープンキャンパス</a:t>
            </a:r>
          </a:p>
          <a:p>
            <a:pPr algn="l">
              <a:lnSpc>
                <a:spcPct val="130000"/>
              </a:lnSpc>
              <a:spcAft>
                <a:spcPts val="200"/>
              </a:spcAft>
            </a:pPr>
            <a:r>
              <a:rPr sz="1050">
                <a:solidFill>
                  <a:srgbClr val="1C2233"/>
                </a:solidFill>
                <a:latin typeface="メイリオ"/>
                <a:ea typeface="メイリオ"/>
                <a:cs typeface="メイリオ"/>
              </a:rPr>
              <a:t>・東洋大学 学部／専修大学 生田キャンパス</a:t>
            </a:r>
          </a:p>
          <a:p>
            <a:pPr algn="l">
              <a:lnSpc>
                <a:spcPct val="130000"/>
              </a:lnSpc>
              <a:spcAft>
                <a:spcPts val="200"/>
              </a:spcAft>
            </a:pPr>
            <a:r>
              <a:rPr sz="1050">
                <a:solidFill>
                  <a:srgbClr val="1C2233"/>
                </a:solidFill>
                <a:latin typeface="メイリオ"/>
                <a:ea typeface="メイリオ"/>
                <a:cs typeface="メイリオ"/>
              </a:rPr>
              <a:t>・城西大学駅伝部／国士舘大学 野球部（スポーツ推薦の導線）</a:t>
            </a:r>
          </a:p>
        </p:txBody>
      </p:sp>
      <p:sp>
        <p:nvSpPr>
          <p:cNvPr id="7" name="Rounded Rectangle 6"/>
          <p:cNvSpPr/>
          <p:nvPr/>
        </p:nvSpPr>
        <p:spPr>
          <a:xfrm>
            <a:off x="522000" y="3491999"/>
            <a:ext cx="2700000" cy="360000"/>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22000" y="3491999"/>
            <a:ext cx="2700000" cy="360000"/>
          </a:xfrm>
          <a:prstGeom prst="rect">
            <a:avLst/>
          </a:prstGeom>
          <a:noFill/>
        </p:spPr>
        <p:txBody>
          <a:bodyPr wrap="square" lIns="0" tIns="21600" rIns="0" bIns="21600" anchor="ctr">
            <a:spAutoFit/>
          </a:bodyPr>
          <a:lstStyle/>
          <a:p>
            <a:pPr algn="ctr"/>
            <a:r>
              <a:rPr sz="1200" b="1">
                <a:solidFill>
                  <a:srgbClr val="FFFFFF"/>
                </a:solidFill>
                <a:latin typeface="メイリオ"/>
                <a:ea typeface="メイリオ"/>
                <a:cs typeface="メイリオ"/>
              </a:rPr>
              <a:t>▶ 仕掛けるのはここ（友だち化）</a:t>
            </a:r>
          </a:p>
        </p:txBody>
      </p:sp>
      <p:sp>
        <p:nvSpPr>
          <p:cNvPr id="9" name="Rounded Rectangle 8"/>
          <p:cNvSpPr/>
          <p:nvPr/>
        </p:nvSpPr>
        <p:spPr>
          <a:xfrm>
            <a:off x="396000" y="4104000"/>
            <a:ext cx="4464000" cy="1296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① </a:t>
            </a:r>
            <a:r>
              <a:rPr sz="1200" b="1" dirty="0" err="1">
                <a:solidFill>
                  <a:srgbClr val="1F285A"/>
                </a:solidFill>
                <a:latin typeface="メイリオ"/>
                <a:ea typeface="メイリオ"/>
                <a:cs typeface="メイリオ"/>
              </a:rPr>
              <a:t>志望校は「下方修正の過程」で決まる</a:t>
            </a:r>
            <a:endParaRPr sz="1200" b="1" dirty="0">
              <a:solidFill>
                <a:srgbClr val="1F285A"/>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−7日＝MARCH・成成明学 → 0日＝大東亜帝国・地方中小私大。</a:t>
            </a:r>
          </a:p>
          <a:p>
            <a:pPr algn="l">
              <a:lnSpc>
                <a:spcPct val="120000"/>
              </a:lnSpc>
              <a:spcAft>
                <a:spcPts val="200"/>
              </a:spcAft>
            </a:pPr>
            <a:r>
              <a:rPr sz="1100" dirty="0" err="1">
                <a:solidFill>
                  <a:srgbClr val="1C2233"/>
                </a:solidFill>
                <a:latin typeface="メイリオ"/>
                <a:ea typeface="メイリオ"/>
                <a:cs typeface="メイリオ"/>
              </a:rPr>
              <a:t>時間が経つほど偏差値帯が下がっていく</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上から順に降りてきている</a:t>
            </a:r>
            <a:r>
              <a:rPr sz="1100" dirty="0">
                <a:solidFill>
                  <a:srgbClr val="1C2233"/>
                </a:solidFill>
                <a:latin typeface="メイリオ"/>
                <a:ea typeface="メイリオ"/>
                <a:cs typeface="メイリオ"/>
              </a:rPr>
              <a:t>。</a:t>
            </a:r>
          </a:p>
        </p:txBody>
      </p:sp>
      <p:sp>
        <p:nvSpPr>
          <p:cNvPr id="10" name="Rounded Rectangle 9"/>
          <p:cNvSpPr/>
          <p:nvPr/>
        </p:nvSpPr>
        <p:spPr>
          <a:xfrm>
            <a:off x="5076000" y="4104000"/>
            <a:ext cx="4464000" cy="1296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② OCは入口ではなく「絞り込み後の確認」</a:t>
            </a:r>
          </a:p>
          <a:p>
            <a:pPr algn="l">
              <a:lnSpc>
                <a:spcPct val="120000"/>
              </a:lnSpc>
              <a:spcAft>
                <a:spcPts val="200"/>
              </a:spcAft>
            </a:pPr>
            <a:r>
              <a:rPr sz="1100">
                <a:solidFill>
                  <a:srgbClr val="1C2233"/>
                </a:solidFill>
                <a:latin typeface="メイリオ"/>
                <a:ea typeface="メイリオ"/>
                <a:cs typeface="メイリオ"/>
              </a:rPr>
              <a:t>大学名のOC検索が立つのは +1〜+7日。</a:t>
            </a:r>
          </a:p>
          <a:p>
            <a:pPr algn="l">
              <a:lnSpc>
                <a:spcPct val="120000"/>
              </a:lnSpc>
              <a:spcAft>
                <a:spcPts val="200"/>
              </a:spcAft>
            </a:pPr>
            <a:r>
              <a:rPr sz="1100">
                <a:solidFill>
                  <a:srgbClr val="1C2233"/>
                </a:solidFill>
                <a:latin typeface="メイリオ"/>
                <a:ea typeface="メイリオ"/>
                <a:cs typeface="メイリオ"/>
              </a:rPr>
              <a:t>＝ OC予約を取る勝負は、偏差値で群に仕分けられる「前」に始まっている。</a:t>
            </a:r>
          </a:p>
        </p:txBody>
      </p:sp>
      <p:sp>
        <p:nvSpPr>
          <p:cNvPr id="11" name="TextBox 10"/>
          <p:cNvSpPr txBox="1"/>
          <p:nvPr/>
        </p:nvSpPr>
        <p:spPr>
          <a:xfrm>
            <a:off x="396000" y="5950800"/>
            <a:ext cx="9144000" cy="7056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Journey（2026-09-15取得）。【起点KWが未確認。確定後に本ページを更新する】</a:t>
            </a:r>
          </a:p>
          <a:p>
            <a:pPr algn="l">
              <a:lnSpc>
                <a:spcPct val="120000"/>
              </a:lnSpc>
            </a:pPr>
            <a:r>
              <a:rPr sz="900">
                <a:solidFill>
                  <a:srgbClr val="646C82"/>
                </a:solidFill>
                <a:latin typeface="メイリオ"/>
                <a:ea typeface="メイリオ"/>
                <a:cs typeface="メイリオ"/>
              </a:rPr>
              <a:t>※ 地域は埼玉西部〜北部の高校生が中心（川越・所沢・大宮・春日部・熊谷・坂戸・東松山）＝通学圏が検討の主軸であることの裏付け。</a:t>
            </a:r>
          </a:p>
          <a:p>
            <a:pPr algn="l">
              <a:lnSpc>
                <a:spcPct val="120000"/>
              </a:lnSpc>
            </a:pPr>
            <a:r>
              <a:rPr sz="900">
                <a:solidFill>
                  <a:srgbClr val="646C82"/>
                </a:solidFill>
                <a:latin typeface="メイリオ"/>
                <a:ea typeface="メイリオ"/>
                <a:cs typeface="メイリオ"/>
              </a:rPr>
              <a:t>※ 競合実名を含むため、社外提示は学内確認のうえ。</a:t>
            </a:r>
          </a:p>
        </p:txBody>
      </p:sp>
    </p:spTree>
    <p:extLst>
      <p:ext uri="{BB962C8B-B14F-4D97-AF65-F5344CB8AC3E}">
        <p14:creationId xmlns:p14="http://schemas.microsoft.com/office/powerpoint/2010/main" val="3691007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前後検索（補足）｜学費の検索は「後」に来る。ただし専門学校は「前」にも来る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教育4業界（塾・通信制高校・大学・専門学校）の前後検索で確認。ただし専門学校は例外がある。</a:t>
            </a:r>
          </a:p>
          <a:p>
            <a:pPr algn="l">
              <a:lnSpc>
                <a:spcPct val="122000"/>
              </a:lnSpc>
            </a:pPr>
            <a:r>
              <a:rPr sz="1500">
                <a:solidFill>
                  <a:srgbClr val="646C82"/>
                </a:solidFill>
                <a:latin typeface="メイリオ"/>
                <a:ea typeface="メイリオ"/>
                <a:cs typeface="メイリオ"/>
              </a:rPr>
              <a:t>＝ 専門学校は「奨学金」が起点の7日前にも最大級で立つ。お金の不安が検討を前後から挟む。</a:t>
            </a:r>
          </a:p>
        </p:txBody>
      </p:sp>
      <p:graphicFrame>
        <p:nvGraphicFramePr>
          <p:cNvPr id="4" name="Table 3"/>
          <p:cNvGraphicFramePr>
            <a:graphicFrameLocks noGrp="1"/>
          </p:cNvGraphicFramePr>
          <p:nvPr>
            <p:extLst>
              <p:ext uri="{D42A27DB-BD31-4B8C-83A1-F6EECF244321}">
                <p14:modId xmlns:p14="http://schemas.microsoft.com/office/powerpoint/2010/main" val="3362959568"/>
              </p:ext>
            </p:extLst>
          </p:nvPr>
        </p:nvGraphicFramePr>
        <p:xfrm>
          <a:off x="396000" y="1224000"/>
          <a:ext cx="9144000" cy="244800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20000"/>
                    </a:ext>
                  </a:extLst>
                </a:gridCol>
                <a:gridCol w="1584000">
                  <a:extLst>
                    <a:ext uri="{9D8B030D-6E8A-4147-A177-3AD203B41FA5}">
                      <a16:colId xmlns:a16="http://schemas.microsoft.com/office/drawing/2014/main" val="20001"/>
                    </a:ext>
                  </a:extLst>
                </a:gridCol>
                <a:gridCol w="1944000">
                  <a:extLst>
                    <a:ext uri="{9D8B030D-6E8A-4147-A177-3AD203B41FA5}">
                      <a16:colId xmlns:a16="http://schemas.microsoft.com/office/drawing/2014/main" val="20002"/>
                    </a:ext>
                  </a:extLst>
                </a:gridCol>
                <a:gridCol w="4320000">
                  <a:extLst>
                    <a:ext uri="{9D8B030D-6E8A-4147-A177-3AD203B41FA5}">
                      <a16:colId xmlns:a16="http://schemas.microsoft.com/office/drawing/2014/main" val="20003"/>
                    </a:ext>
                  </a:extLst>
                </a:gridCol>
              </a:tblGrid>
              <a:tr h="612000">
                <a:tc>
                  <a:txBody>
                    <a:bodyPr/>
                    <a:lstStyle/>
                    <a:p>
                      <a:pPr algn="ctr"/>
                      <a:r>
                        <a:rPr sz="1200" b="1">
                          <a:solidFill>
                            <a:srgbClr val="FFFFFF"/>
                          </a:solidFill>
                          <a:latin typeface="メイリオ"/>
                          <a:ea typeface="メイリオ"/>
                          <a:cs typeface="メイリオ"/>
                        </a:rPr>
                        <a:t>業界</a:t>
                      </a:r>
                    </a:p>
                  </a:txBody>
                  <a:tcPr anchor="ctr">
                    <a:solidFill>
                      <a:srgbClr val="1F285A"/>
                    </a:solidFill>
                  </a:tcPr>
                </a:tc>
                <a:tc>
                  <a:txBody>
                    <a:bodyPr/>
                    <a:lstStyle/>
                    <a:p>
                      <a:pPr algn="ctr"/>
                      <a:r>
                        <a:rPr sz="1200" b="1">
                          <a:solidFill>
                            <a:srgbClr val="FFFFFF"/>
                          </a:solidFill>
                          <a:latin typeface="メイリオ"/>
                          <a:ea typeface="メイリオ"/>
                          <a:cs typeface="メイリオ"/>
                        </a:rPr>
                        <a:t>起点KW</a:t>
                      </a:r>
                    </a:p>
                  </a:txBody>
                  <a:tcPr anchor="ctr">
                    <a:solidFill>
                      <a:srgbClr val="1F285A"/>
                    </a:solidFill>
                  </a:tcPr>
                </a:tc>
                <a:tc>
                  <a:txBody>
                    <a:bodyPr/>
                    <a:lstStyle/>
                    <a:p>
                      <a:pPr algn="ctr"/>
                      <a:r>
                        <a:rPr sz="1200" b="1">
                          <a:solidFill>
                            <a:srgbClr val="FFFFFF"/>
                          </a:solidFill>
                          <a:latin typeface="メイリオ"/>
                          <a:ea typeface="メイリオ"/>
                          <a:cs typeface="メイリオ"/>
                        </a:rPr>
                        <a:t>お金の検索が立つ位置</a:t>
                      </a:r>
                    </a:p>
                  </a:txBody>
                  <a:tcPr anchor="ctr">
                    <a:solidFill>
                      <a:srgbClr val="1F285A"/>
                    </a:solidFill>
                  </a:tcPr>
                </a:tc>
                <a:tc>
                  <a:txBody>
                    <a:bodyPr/>
                    <a:lstStyle/>
                    <a:p>
                      <a:pPr algn="l"/>
                      <a:r>
                        <a:rPr sz="1200" b="1">
                          <a:solidFill>
                            <a:srgbClr val="FFFFFF"/>
                          </a:solidFill>
                          <a:latin typeface="メイリオ"/>
                          <a:ea typeface="メイリオ"/>
                          <a:cs typeface="メイリオ"/>
                        </a:rPr>
                        <a:t>示唆</a:t>
                      </a:r>
                    </a:p>
                  </a:txBody>
                  <a:tcPr anchor="ctr">
                    <a:solidFill>
                      <a:srgbClr val="1F285A"/>
                    </a:solidFill>
                  </a:tcPr>
                </a:tc>
                <a:extLst>
                  <a:ext uri="{0D108BD9-81ED-4DB2-BD59-A6C34878D82A}">
                    <a16:rowId xmlns:a16="http://schemas.microsoft.com/office/drawing/2014/main" val="10000"/>
                  </a:ext>
                </a:extLst>
              </a:tr>
              <a:tr h="612000">
                <a:tc>
                  <a:txBody>
                    <a:bodyPr/>
                    <a:lstStyle/>
                    <a:p>
                      <a:pPr algn="ctr"/>
                      <a:r>
                        <a:rPr sz="1100">
                          <a:solidFill>
                            <a:srgbClr val="1C2233"/>
                          </a:solidFill>
                          <a:latin typeface="メイリオ"/>
                          <a:ea typeface="メイリオ"/>
                          <a:cs typeface="メイリオ"/>
                        </a:rPr>
                        <a:t>教育（塾）</a:t>
                      </a:r>
                    </a:p>
                  </a:txBody>
                  <a:tcPr anchor="ctr">
                    <a:solidFill>
                      <a:srgbClr val="FFFFFF"/>
                    </a:solidFill>
                  </a:tcPr>
                </a:tc>
                <a:tc>
                  <a:txBody>
                    <a:bodyPr/>
                    <a:lstStyle/>
                    <a:p>
                      <a:pPr algn="ctr"/>
                      <a:r>
                        <a:rPr sz="1100">
                          <a:solidFill>
                            <a:srgbClr val="1C2233"/>
                          </a:solidFill>
                          <a:latin typeface="メイリオ"/>
                          <a:ea typeface="メイリオ"/>
                          <a:cs typeface="メイリオ"/>
                        </a:rPr>
                        <a:t>塾 費用</a:t>
                      </a:r>
                    </a:p>
                  </a:txBody>
                  <a:tcPr anchor="ctr">
                    <a:solidFill>
                      <a:srgbClr val="FFFFFF"/>
                    </a:solidFill>
                  </a:tcPr>
                </a:tc>
                <a:tc>
                  <a:txBody>
                    <a:bodyPr/>
                    <a:lstStyle/>
                    <a:p>
                      <a:pPr algn="ctr"/>
                      <a:r>
                        <a:rPr sz="1100">
                          <a:solidFill>
                            <a:srgbClr val="1C2233"/>
                          </a:solidFill>
                          <a:latin typeface="メイリオ"/>
                          <a:ea typeface="メイリオ"/>
                          <a:cs typeface="メイリオ"/>
                        </a:rPr>
                        <a:t>+1.6日（決断の後）</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最初の問いは「いくら」ではなく「いつから</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関連度1位は「塾 いつから通わせる」4.98</a:t>
                      </a:r>
                    </a:p>
                  </a:txBody>
                  <a:tcPr anchor="ctr">
                    <a:solidFill>
                      <a:srgbClr val="FFFFFF"/>
                    </a:solidFill>
                  </a:tcPr>
                </a:tc>
                <a:extLst>
                  <a:ext uri="{0D108BD9-81ED-4DB2-BD59-A6C34878D82A}">
                    <a16:rowId xmlns:a16="http://schemas.microsoft.com/office/drawing/2014/main" val="10001"/>
                  </a:ext>
                </a:extLst>
              </a:tr>
              <a:tr h="612000">
                <a:tc>
                  <a:txBody>
                    <a:bodyPr/>
                    <a:lstStyle/>
                    <a:p>
                      <a:pPr algn="ctr"/>
                      <a:r>
                        <a:rPr sz="1100">
                          <a:solidFill>
                            <a:srgbClr val="1C2233"/>
                          </a:solidFill>
                          <a:latin typeface="メイリオ"/>
                          <a:ea typeface="メイリオ"/>
                          <a:cs typeface="メイリオ"/>
                        </a:rPr>
                        <a:t>通信制高校</a:t>
                      </a:r>
                    </a:p>
                  </a:txBody>
                  <a:tcPr anchor="ctr">
                    <a:solidFill>
                      <a:srgbClr val="F4F7FF"/>
                    </a:solidFill>
                  </a:tcPr>
                </a:tc>
                <a:tc>
                  <a:txBody>
                    <a:bodyPr/>
                    <a:lstStyle/>
                    <a:p>
                      <a:pPr algn="ctr"/>
                      <a:r>
                        <a:rPr sz="1100">
                          <a:solidFill>
                            <a:srgbClr val="1C2233"/>
                          </a:solidFill>
                          <a:latin typeface="メイリオ"/>
                          <a:ea typeface="メイリオ"/>
                          <a:cs typeface="メイリオ"/>
                        </a:rPr>
                        <a:t>通信制高校</a:t>
                      </a:r>
                    </a:p>
                  </a:txBody>
                  <a:tcPr anchor="ctr">
                    <a:solidFill>
                      <a:srgbClr val="F4F7FF"/>
                    </a:solidFill>
                  </a:tcPr>
                </a:tc>
                <a:tc>
                  <a:txBody>
                    <a:bodyPr/>
                    <a:lstStyle/>
                    <a:p>
                      <a:pPr algn="ctr"/>
                      <a:r>
                        <a:rPr sz="1100">
                          <a:solidFill>
                            <a:srgbClr val="1C2233"/>
                          </a:solidFill>
                          <a:latin typeface="メイリオ"/>
                          <a:ea typeface="メイリオ"/>
                          <a:cs typeface="メイリオ"/>
                        </a:rPr>
                        <a:t>学校名の直後（+1日以降）</a:t>
                      </a:r>
                    </a:p>
                  </a:txBody>
                  <a:tcPr anchor="ctr">
                    <a:solidFill>
                      <a:srgbClr val="F4F7FF"/>
                    </a:solidFill>
                  </a:tcPr>
                </a:tc>
                <a:tc>
                  <a:txBody>
                    <a:bodyPr/>
                    <a:lstStyle/>
                    <a:p>
                      <a:pPr algn="l"/>
                      <a:r>
                        <a:rPr sz="1100">
                          <a:solidFill>
                            <a:srgbClr val="1C2233"/>
                          </a:solidFill>
                          <a:latin typeface="メイリオ"/>
                          <a:ea typeface="メイリオ"/>
                          <a:cs typeface="メイリオ"/>
                        </a:rPr>
                        <a:t>前半15日は学校選びですらない（不登校・起立性調節障害＝医療と心理の悩み）</a:t>
                      </a:r>
                    </a:p>
                  </a:txBody>
                  <a:tcPr anchor="ctr">
                    <a:solidFill>
                      <a:srgbClr val="F4F7FF"/>
                    </a:solidFill>
                  </a:tcPr>
                </a:tc>
                <a:extLst>
                  <a:ext uri="{0D108BD9-81ED-4DB2-BD59-A6C34878D82A}">
                    <a16:rowId xmlns:a16="http://schemas.microsoft.com/office/drawing/2014/main" val="10002"/>
                  </a:ext>
                </a:extLst>
              </a:tr>
              <a:tr h="612000">
                <a:tc>
                  <a:txBody>
                    <a:bodyPr/>
                    <a:lstStyle/>
                    <a:p>
                      <a:pPr algn="ctr"/>
                      <a:r>
                        <a:rPr sz="1100">
                          <a:solidFill>
                            <a:srgbClr val="1C2233"/>
                          </a:solidFill>
                          <a:latin typeface="メイリオ"/>
                          <a:ea typeface="メイリオ"/>
                          <a:cs typeface="メイリオ"/>
                        </a:rPr>
                        <a:t>大学</a:t>
                      </a:r>
                    </a:p>
                  </a:txBody>
                  <a:tcPr anchor="ctr">
                    <a:solidFill>
                      <a:srgbClr val="FFFFFF"/>
                    </a:solidFill>
                  </a:tcPr>
                </a:tc>
                <a:tc>
                  <a:txBody>
                    <a:bodyPr/>
                    <a:lstStyle/>
                    <a:p>
                      <a:pPr algn="ctr"/>
                      <a:r>
                        <a:rPr sz="1100">
                          <a:solidFill>
                            <a:srgbClr val="1C2233"/>
                          </a:solidFill>
                          <a:latin typeface="メイリオ"/>
                          <a:ea typeface="メイリオ"/>
                          <a:cs typeface="メイリオ"/>
                        </a:rPr>
                        <a:t>大学名・偏差値系</a:t>
                      </a:r>
                    </a:p>
                  </a:txBody>
                  <a:tcPr anchor="ctr">
                    <a:solidFill>
                      <a:srgbClr val="FFFFFF"/>
                    </a:solidFill>
                  </a:tcPr>
                </a:tc>
                <a:tc>
                  <a:txBody>
                    <a:bodyPr/>
                    <a:lstStyle/>
                    <a:p>
                      <a:pPr algn="ctr"/>
                      <a:r>
                        <a:rPr sz="1100">
                          <a:solidFill>
                            <a:srgbClr val="1C2233"/>
                          </a:solidFill>
                          <a:latin typeface="メイリオ"/>
                          <a:ea typeface="メイリオ"/>
                          <a:cs typeface="メイリオ"/>
                        </a:rPr>
                        <a:t>学校名を調べた後</a:t>
                      </a:r>
                    </a:p>
                  </a:txBody>
                  <a:tcPr anchor="ctr">
                    <a:solidFill>
                      <a:srgbClr val="FFFFFF"/>
                    </a:solidFill>
                  </a:tcPr>
                </a:tc>
                <a:tc>
                  <a:txBody>
                    <a:bodyPr/>
                    <a:lstStyle/>
                    <a:p>
                      <a:pPr algn="l"/>
                      <a:r>
                        <a:rPr sz="1100" dirty="0">
                          <a:solidFill>
                            <a:srgbClr val="1C2233"/>
                          </a:solidFill>
                          <a:latin typeface="メイリオ"/>
                          <a:ea typeface="メイリオ"/>
                          <a:cs typeface="メイリオ"/>
                        </a:rPr>
                        <a:t>0日前後は「大学名＋偏差値」。</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学費は絞り込みの後に確認される</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396000" y="3618000"/>
            <a:ext cx="4464000" cy="180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打ち手：入口は「いつ・自分に合うか」で開く</a:t>
            </a:r>
          </a:p>
          <a:p>
            <a:pPr algn="l">
              <a:lnSpc>
                <a:spcPct val="120000"/>
              </a:lnSpc>
              <a:spcAft>
                <a:spcPts val="200"/>
              </a:spcAft>
            </a:pPr>
            <a:r>
              <a:rPr sz="1100">
                <a:solidFill>
                  <a:srgbClr val="1C2233"/>
                </a:solidFill>
                <a:latin typeface="メイリオ"/>
                <a:ea typeface="メイリオ"/>
                <a:cs typeface="メイリオ"/>
              </a:rPr>
              <a:t>入口＝30秒の学部学科診断（名前も電話番号も入力しない）。</a:t>
            </a:r>
          </a:p>
          <a:p>
            <a:pPr algn="l">
              <a:lnSpc>
                <a:spcPct val="120000"/>
              </a:lnSpc>
              <a:spcAft>
                <a:spcPts val="200"/>
              </a:spcAft>
            </a:pPr>
            <a:r>
              <a:rPr sz="1100">
                <a:solidFill>
                  <a:srgbClr val="1C2233"/>
                </a:solidFill>
                <a:latin typeface="メイリオ"/>
                <a:ea typeface="メイリオ"/>
                <a:cs typeface="メイリオ"/>
              </a:rPr>
              <a:t>学費・奨学金は、診断結果の「後半」に置く。</a:t>
            </a:r>
          </a:p>
          <a:p>
            <a:pPr algn="l">
              <a:lnSpc>
                <a:spcPct val="120000"/>
              </a:lnSpc>
              <a:spcAft>
                <a:spcPts val="200"/>
              </a:spcAft>
            </a:pPr>
            <a:r>
              <a:rPr sz="1100">
                <a:solidFill>
                  <a:srgbClr val="1C2233"/>
                </a:solidFill>
                <a:latin typeface="メイリオ"/>
                <a:ea typeface="メイリオ"/>
                <a:cs typeface="メイリオ"/>
              </a:rPr>
              <a:t>先に費用を出すと、比較の土俵に乗る前に離脱する。</a:t>
            </a:r>
          </a:p>
        </p:txBody>
      </p:sp>
      <p:sp>
        <p:nvSpPr>
          <p:cNvPr id="6" name="Rounded Rectangle 5"/>
          <p:cNvSpPr/>
          <p:nvPr/>
        </p:nvSpPr>
        <p:spPr>
          <a:xfrm>
            <a:off x="5076000" y="3618000"/>
            <a:ext cx="4464000" cy="180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ただし保護者には「先に」出す</a:t>
            </a:r>
          </a:p>
          <a:p>
            <a:pPr algn="l">
              <a:lnSpc>
                <a:spcPct val="120000"/>
              </a:lnSpc>
              <a:spcAft>
                <a:spcPts val="200"/>
              </a:spcAft>
            </a:pPr>
            <a:r>
              <a:rPr sz="1100">
                <a:solidFill>
                  <a:srgbClr val="1C2233"/>
                </a:solidFill>
                <a:latin typeface="メイリオ"/>
                <a:ea typeface="メイリオ"/>
                <a:cs typeface="メイリオ"/>
              </a:rPr>
              <a:t>この業界は決める人（高校生）と払う人（保護者）が違う。</a:t>
            </a:r>
          </a:p>
          <a:p>
            <a:pPr algn="l">
              <a:lnSpc>
                <a:spcPct val="120000"/>
              </a:lnSpc>
              <a:spcAft>
                <a:spcPts val="200"/>
              </a:spcAft>
            </a:pPr>
            <a:r>
              <a:rPr sz="1100">
                <a:solidFill>
                  <a:srgbClr val="1C2233"/>
                </a:solidFill>
                <a:latin typeface="メイリオ"/>
                <a:ea typeface="メイリオ"/>
                <a:cs typeface="メイリオ"/>
              </a:rPr>
              <a:t>リッチメニューの保護者タブは、左上に</a:t>
            </a:r>
          </a:p>
          <a:p>
            <a:pPr algn="l">
              <a:lnSpc>
                <a:spcPct val="120000"/>
              </a:lnSpc>
              <a:spcAft>
                <a:spcPts val="200"/>
              </a:spcAft>
            </a:pPr>
            <a:r>
              <a:rPr sz="1100">
                <a:solidFill>
                  <a:srgbClr val="1C2233"/>
                </a:solidFill>
                <a:latin typeface="メイリオ"/>
                <a:ea typeface="メイリオ"/>
                <a:cs typeface="メイリオ"/>
              </a:rPr>
              <a:t>「4年間の学費シミュレーション」を置く。順番が逆になる。</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本人には「合うか」を、保護者には「総額」を。同じアカウントで、出し分ける。</a:t>
            </a:r>
          </a:p>
        </p:txBody>
      </p:sp>
      <p:sp>
        <p:nvSpPr>
          <p:cNvPr id="10" name="TextBox 9"/>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Journey（塾＝2026-09-15取得・起点「塾 費用」／通信制高校・大学＝2026-09-15取得）。</a:t>
            </a:r>
          </a:p>
          <a:p>
            <a:pPr algn="l">
              <a:lnSpc>
                <a:spcPct val="120000"/>
              </a:lnSpc>
            </a:pPr>
            <a:r>
              <a:rPr sz="900">
                <a:solidFill>
                  <a:srgbClr val="646C82"/>
                </a:solidFill>
                <a:latin typeface="メイリオ"/>
                <a:ea typeface="メイリオ"/>
                <a:cs typeface="メイリオ"/>
              </a:rPr>
              <a:t>※ 専門学校・柔道整復師ほか8KWを2026-09-23に追加取得。専門学校は奨学金・教育ローンが起点前にも立つ（詳細は分析メモ）。</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AD501E-4538-865B-06FF-B4530B24F063}"/>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3D3533E4-0377-76E5-495C-9BA89161C5A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602C552F-05B3-B0A8-5D9C-EEE4787A9537}"/>
              </a:ext>
            </a:extLst>
          </p:cNvPr>
          <p:cNvSpPr/>
          <p:nvPr/>
        </p:nvSpPr>
        <p:spPr>
          <a:xfrm>
            <a:off x="2193285" y="3038203"/>
            <a:ext cx="5519460"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施策の詳細（配信の効率化）</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1128037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3B14C-0AEA-B93E-0808-EE37D50F60C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2A5BF9CF-DABE-18D1-6B28-2A955BBABF7C}"/>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8521066C-FFDA-B384-2E51-56A4C461EF38}"/>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一般的な8フェーズを、学校法人（大学・専門学校）に当てはめるとこうなる。</a:t>
            </a:r>
          </a:p>
          <a:p>
            <a:pPr algn="ctr">
              <a:lnSpc>
                <a:spcPts val="2455"/>
              </a:lnSpc>
            </a:pPr>
            <a:r>
              <a:rPr lang="ja-JP" altLang="en-US" sz="1600" dirty="0">
                <a:solidFill>
                  <a:srgbClr val="343434"/>
                </a:solidFill>
                <a:latin typeface="メイリオ" panose="020B0604030504040204" pitchFamily="50" charset="-128"/>
                <a:ea typeface="メイリオ" panose="020B0604030504040204" pitchFamily="50" charset="-128"/>
              </a:rPr>
              <a:t>④資料請求と⑤オープンキャンパス参加の間が最も落ちる。ここに「匿名で聞ける」入口を置く。</a:t>
            </a:r>
          </a:p>
        </p:txBody>
      </p:sp>
      <p:cxnSp>
        <p:nvCxnSpPr>
          <p:cNvPr id="5" name="直線コネクタ 4">
            <a:extLst>
              <a:ext uri="{FF2B5EF4-FFF2-40B4-BE49-F238E27FC236}">
                <a16:creationId xmlns:a16="http://schemas.microsoft.com/office/drawing/2014/main" id="{B43B9AF0-6B1E-A342-438B-2E30C285E29D}"/>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F4F417D4-4BDF-E609-F703-DA8A26BF0E5F}"/>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想定のユーザーニーズ・インサイトの変化と施策方針</a:t>
            </a:r>
            <a:endParaRPr sz="1600" b="1" dirty="0">
              <a:solidFill>
                <a:srgbClr val="002060"/>
              </a:solidFill>
              <a:latin typeface="メイリオ"/>
              <a:ea typeface="メイリオ"/>
              <a:cs typeface="Meiryo"/>
              <a:sym typeface="Meiryo"/>
            </a:endParaRPr>
          </a:p>
        </p:txBody>
      </p:sp>
      <p:sp>
        <p:nvSpPr>
          <p:cNvPr id="31" name="正方形/長方形 30">
            <a:extLst>
              <a:ext uri="{FF2B5EF4-FFF2-40B4-BE49-F238E27FC236}">
                <a16:creationId xmlns:a16="http://schemas.microsoft.com/office/drawing/2014/main" id="{028C25A8-9FA6-9871-A97E-771FBA04FEF8}"/>
              </a:ext>
            </a:extLst>
          </p:cNvPr>
          <p:cNvSpPr/>
          <p:nvPr/>
        </p:nvSpPr>
        <p:spPr>
          <a:xfrm>
            <a:off x="334302" y="2523617"/>
            <a:ext cx="9425943" cy="231294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2" name="直線コネクタ 31">
            <a:extLst>
              <a:ext uri="{FF2B5EF4-FFF2-40B4-BE49-F238E27FC236}">
                <a16:creationId xmlns:a16="http://schemas.microsoft.com/office/drawing/2014/main" id="{3488C4F8-93FE-6F57-E3A9-E7EB0E334B73}"/>
              </a:ext>
            </a:extLst>
          </p:cNvPr>
          <p:cNvCxnSpPr>
            <a:cxnSpLocks/>
          </p:cNvCxnSpPr>
          <p:nvPr/>
        </p:nvCxnSpPr>
        <p:spPr>
          <a:xfrm>
            <a:off x="315939" y="155179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3" name="直線コネクタ 32">
            <a:extLst>
              <a:ext uri="{FF2B5EF4-FFF2-40B4-BE49-F238E27FC236}">
                <a16:creationId xmlns:a16="http://schemas.microsoft.com/office/drawing/2014/main" id="{C419B618-60A9-3C77-5074-3E01A065FABD}"/>
              </a:ext>
            </a:extLst>
          </p:cNvPr>
          <p:cNvCxnSpPr>
            <a:cxnSpLocks/>
          </p:cNvCxnSpPr>
          <p:nvPr/>
        </p:nvCxnSpPr>
        <p:spPr>
          <a:xfrm>
            <a:off x="1265077" y="156366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65065F05-BC5D-01D1-5CD8-171A7D29CE07}"/>
              </a:ext>
            </a:extLst>
          </p:cNvPr>
          <p:cNvCxnSpPr>
            <a:cxnSpLocks/>
          </p:cNvCxnSpPr>
          <p:nvPr/>
        </p:nvCxnSpPr>
        <p:spPr>
          <a:xfrm>
            <a:off x="2202413" y="156101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C3335872-8B1B-0399-4819-4550CFCC7F3A}"/>
              </a:ext>
            </a:extLst>
          </p:cNvPr>
          <p:cNvCxnSpPr>
            <a:cxnSpLocks/>
          </p:cNvCxnSpPr>
          <p:nvPr/>
        </p:nvCxnSpPr>
        <p:spPr>
          <a:xfrm>
            <a:off x="3136468" y="158033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3385A133-7C08-9BB7-4412-7F7648A79076}"/>
              </a:ext>
            </a:extLst>
          </p:cNvPr>
          <p:cNvCxnSpPr>
            <a:cxnSpLocks/>
          </p:cNvCxnSpPr>
          <p:nvPr/>
        </p:nvCxnSpPr>
        <p:spPr>
          <a:xfrm>
            <a:off x="3541980" y="159091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712B341B-CA1A-5342-6C1D-E3CA48B9C87C}"/>
              </a:ext>
            </a:extLst>
          </p:cNvPr>
          <p:cNvCxnSpPr>
            <a:cxnSpLocks/>
          </p:cNvCxnSpPr>
          <p:nvPr/>
        </p:nvCxnSpPr>
        <p:spPr>
          <a:xfrm>
            <a:off x="4833781" y="160278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線コネクタ 37">
            <a:extLst>
              <a:ext uri="{FF2B5EF4-FFF2-40B4-BE49-F238E27FC236}">
                <a16:creationId xmlns:a16="http://schemas.microsoft.com/office/drawing/2014/main" id="{7A4BA556-4AA0-E77F-1F32-D7CAE4E43670}"/>
              </a:ext>
            </a:extLst>
          </p:cNvPr>
          <p:cNvCxnSpPr>
            <a:cxnSpLocks/>
          </p:cNvCxnSpPr>
          <p:nvPr/>
        </p:nvCxnSpPr>
        <p:spPr>
          <a:xfrm>
            <a:off x="6125582" y="160014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線コネクタ 38">
            <a:extLst>
              <a:ext uri="{FF2B5EF4-FFF2-40B4-BE49-F238E27FC236}">
                <a16:creationId xmlns:a16="http://schemas.microsoft.com/office/drawing/2014/main" id="{13E90D95-9004-7E47-BB2D-FC12AD86943C}"/>
              </a:ext>
            </a:extLst>
          </p:cNvPr>
          <p:cNvCxnSpPr>
            <a:cxnSpLocks/>
          </p:cNvCxnSpPr>
          <p:nvPr/>
        </p:nvCxnSpPr>
        <p:spPr>
          <a:xfrm>
            <a:off x="7417384" y="159091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40" name="テキスト ボックス 39">
            <a:extLst>
              <a:ext uri="{FF2B5EF4-FFF2-40B4-BE49-F238E27FC236}">
                <a16:creationId xmlns:a16="http://schemas.microsoft.com/office/drawing/2014/main" id="{DB945B56-A37B-98FE-70DB-6E3D5E2DF966}"/>
              </a:ext>
            </a:extLst>
          </p:cNvPr>
          <p:cNvSpPr txBox="1"/>
          <p:nvPr/>
        </p:nvSpPr>
        <p:spPr>
          <a:xfrm>
            <a:off x="3542139" y="149714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41" name="テキスト ボックス 40">
            <a:extLst>
              <a:ext uri="{FF2B5EF4-FFF2-40B4-BE49-F238E27FC236}">
                <a16:creationId xmlns:a16="http://schemas.microsoft.com/office/drawing/2014/main" id="{4B3932B8-37B9-C510-A29E-82B1B3579B1F}"/>
              </a:ext>
            </a:extLst>
          </p:cNvPr>
          <p:cNvSpPr txBox="1"/>
          <p:nvPr/>
        </p:nvSpPr>
        <p:spPr>
          <a:xfrm>
            <a:off x="6119413" y="190630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⑦マネタイズ</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成約</a:t>
            </a:r>
            <a:r>
              <a:rPr lang="en-US" altLang="ja-JP" sz="1000" b="1" dirty="0">
                <a:solidFill/>
                <a:latin typeface="メイリオ" panose="020B0604030504040204" pitchFamily="50" charset="-128"/>
                <a:ea typeface="メイリオ" panose="020B0604030504040204" pitchFamily="50" charset="-128"/>
              </a:rPr>
              <a:t>/</a:t>
            </a:r>
            <a:r>
              <a:rPr lang="ja-JP" altLang="en-US" sz="1000" b="1" dirty="0">
                <a:solidFill/>
                <a:latin typeface="メイリオ" panose="020B0604030504040204" pitchFamily="50" charset="-128"/>
                <a:ea typeface="メイリオ" panose="020B0604030504040204" pitchFamily="50" charset="-128"/>
              </a:rPr>
              <a:t>購入</a:t>
            </a:r>
            <a:r>
              <a:rPr lang="en-US" altLang="ja-JP" sz="1000" b="1" dirty="0">
                <a:solidFill/>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42" name="テキスト ボックス 41">
            <a:extLst>
              <a:ext uri="{FF2B5EF4-FFF2-40B4-BE49-F238E27FC236}">
                <a16:creationId xmlns:a16="http://schemas.microsoft.com/office/drawing/2014/main" id="{086E832F-3BBB-2CF0-1185-3504E5F70EA5}"/>
              </a:ext>
            </a:extLst>
          </p:cNvPr>
          <p:cNvSpPr txBox="1"/>
          <p:nvPr/>
        </p:nvSpPr>
        <p:spPr>
          <a:xfrm>
            <a:off x="4830776" y="170172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B0222B3E-A030-A236-36E8-0ECC1151DC85}"/>
              </a:ext>
            </a:extLst>
          </p:cNvPr>
          <p:cNvSpPr txBox="1"/>
          <p:nvPr/>
        </p:nvSpPr>
        <p:spPr>
          <a:xfrm>
            <a:off x="7408050" y="211088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⑧</a:t>
            </a:r>
            <a:r>
              <a:rPr lang="en-US" altLang="ja-JP" sz="1100" b="1" dirty="0">
                <a:solidFill/>
                <a:latin typeface="メイリオ" panose="020B0604030504040204" pitchFamily="50" charset="-128"/>
                <a:ea typeface="メイリオ" panose="020B0604030504040204" pitchFamily="50" charset="-128"/>
              </a:rPr>
              <a:t>LTV</a:t>
            </a:r>
            <a:r>
              <a:rPr lang="ja-JP" altLang="en-US" sz="1100" b="1" dirty="0">
                <a:solidFill/>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44" name="テキスト ボックス 43">
            <a:extLst>
              <a:ext uri="{FF2B5EF4-FFF2-40B4-BE49-F238E27FC236}">
                <a16:creationId xmlns:a16="http://schemas.microsoft.com/office/drawing/2014/main" id="{4F86D14D-93C8-99A3-B6C5-21288DA1D94A}"/>
              </a:ext>
            </a:extLst>
          </p:cNvPr>
          <p:cNvSpPr txBox="1"/>
          <p:nvPr/>
        </p:nvSpPr>
        <p:spPr>
          <a:xfrm>
            <a:off x="334303" y="150323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接触（認知・流入）</a:t>
            </a:r>
          </a:p>
        </p:txBody>
      </p:sp>
      <p:sp>
        <p:nvSpPr>
          <p:cNvPr id="46" name="テキスト ボックス 45">
            <a:extLst>
              <a:ext uri="{FF2B5EF4-FFF2-40B4-BE49-F238E27FC236}">
                <a16:creationId xmlns:a16="http://schemas.microsoft.com/office/drawing/2014/main" id="{BA84F83D-F1A1-6470-779C-27806FDFF300}"/>
              </a:ext>
            </a:extLst>
          </p:cNvPr>
          <p:cNvSpPr txBox="1"/>
          <p:nvPr/>
        </p:nvSpPr>
        <p:spPr>
          <a:xfrm>
            <a:off x="1268358" y="171389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100" b="1" dirty="0">
                <a:solidFill/>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47" name="テキスト ボックス 46">
            <a:extLst>
              <a:ext uri="{FF2B5EF4-FFF2-40B4-BE49-F238E27FC236}">
                <a16:creationId xmlns:a16="http://schemas.microsoft.com/office/drawing/2014/main" id="{80A2BF3B-2FDE-B47D-649A-453EE42A9D9C}"/>
              </a:ext>
            </a:extLst>
          </p:cNvPr>
          <p:cNvSpPr txBox="1"/>
          <p:nvPr/>
        </p:nvSpPr>
        <p:spPr>
          <a:xfrm>
            <a:off x="2202413" y="190800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育成（興味</a:t>
            </a:r>
            <a:r>
              <a:rPr lang="ja-JP" altLang="en-US" sz="1100" b="1" dirty="0">
                <a:solidFill/>
                <a:latin typeface="メイリオ" panose="020B0604030504040204" pitchFamily="50" charset="-128"/>
                <a:ea typeface="メイリオ" panose="020B0604030504040204" pitchFamily="50" charset="-128"/>
              </a:rPr>
              <a:t>喚起</a:t>
            </a:r>
            <a:r>
              <a:rPr lang="ja-JP" altLang="ja-JP" sz="1100" b="1" dirty="0">
                <a:solidFill/>
                <a:latin typeface="メイリオ" panose="020B0604030504040204" pitchFamily="50" charset="-128"/>
                <a:ea typeface="メイリオ" panose="020B0604030504040204" pitchFamily="50" charset="-128"/>
              </a:rPr>
              <a:t>）</a:t>
            </a:r>
          </a:p>
        </p:txBody>
      </p:sp>
      <p:sp>
        <p:nvSpPr>
          <p:cNvPr id="48" name="テキスト ボックス 47">
            <a:extLst>
              <a:ext uri="{FF2B5EF4-FFF2-40B4-BE49-F238E27FC236}">
                <a16:creationId xmlns:a16="http://schemas.microsoft.com/office/drawing/2014/main" id="{B01E2583-B2F6-85CA-2360-912ACCEBF216}"/>
              </a:ext>
            </a:extLst>
          </p:cNvPr>
          <p:cNvSpPr txBox="1"/>
          <p:nvPr/>
        </p:nvSpPr>
        <p:spPr>
          <a:xfrm>
            <a:off x="3136468" y="210435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④リード獲得 </a:t>
            </a:r>
            <a:r>
              <a:rPr lang="en-US" altLang="ja-JP" sz="900" b="1" dirty="0">
                <a:solidFill/>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49" name="コネクタ: カギ線 48">
            <a:extLst>
              <a:ext uri="{FF2B5EF4-FFF2-40B4-BE49-F238E27FC236}">
                <a16:creationId xmlns:a16="http://schemas.microsoft.com/office/drawing/2014/main" id="{71187418-C8FB-7199-9042-5CCD9D9C501B}"/>
              </a:ext>
            </a:extLst>
          </p:cNvPr>
          <p:cNvCxnSpPr>
            <a:cxnSpLocks/>
            <a:stCxn id="48" idx="0"/>
            <a:endCxn id="40" idx="2"/>
          </p:cNvCxnSpPr>
          <p:nvPr/>
        </p:nvCxnSpPr>
        <p:spPr>
          <a:xfrm rot="5400000" flipH="1" flipV="1">
            <a:off x="4282287" y="186740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EFAD0D5D-8F39-2C2D-8164-9F443F6130D5}"/>
              </a:ext>
            </a:extLst>
          </p:cNvPr>
          <p:cNvSpPr txBox="1"/>
          <p:nvPr/>
        </p:nvSpPr>
        <p:spPr>
          <a:xfrm>
            <a:off x="3541822" y="298946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64894078-BE3D-9354-2498-B57C29F97778}"/>
              </a:ext>
            </a:extLst>
          </p:cNvPr>
          <p:cNvSpPr txBox="1"/>
          <p:nvPr/>
        </p:nvSpPr>
        <p:spPr>
          <a:xfrm>
            <a:off x="6119096" y="3682465"/>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CECA121C-4B75-60CF-8CEF-29B9ADAFA7F9}"/>
              </a:ext>
            </a:extLst>
          </p:cNvPr>
          <p:cNvSpPr txBox="1"/>
          <p:nvPr/>
        </p:nvSpPr>
        <p:spPr>
          <a:xfrm>
            <a:off x="4830459" y="3335965"/>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3" name="テキスト ボックス 52">
            <a:extLst>
              <a:ext uri="{FF2B5EF4-FFF2-40B4-BE49-F238E27FC236}">
                <a16:creationId xmlns:a16="http://schemas.microsoft.com/office/drawing/2014/main" id="{B8720EB6-81E9-1161-4F3E-6F303807D2EF}"/>
              </a:ext>
            </a:extLst>
          </p:cNvPr>
          <p:cNvSpPr txBox="1"/>
          <p:nvPr/>
        </p:nvSpPr>
        <p:spPr>
          <a:xfrm>
            <a:off x="7408050" y="4037678"/>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A604636C-372E-EDB9-A524-8AA68EA7677B}"/>
              </a:ext>
            </a:extLst>
          </p:cNvPr>
          <p:cNvSpPr txBox="1"/>
          <p:nvPr/>
        </p:nvSpPr>
        <p:spPr>
          <a:xfrm>
            <a:off x="334303" y="2639541"/>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① </a:t>
            </a:r>
            <a:r>
              <a:rPr lang="ja-JP" altLang="en-US" sz="1100" b="1" dirty="0">
                <a:solidFill/>
                <a:latin typeface="メイリオ" panose="020B0604030504040204" pitchFamily="50" charset="-128"/>
                <a:ea typeface="メイリオ" panose="020B0604030504040204" pitchFamily="50" charset="-128"/>
              </a:rPr>
              <a:t>広告</a:t>
            </a:r>
            <a:r>
              <a:rPr lang="ja-JP" altLang="ja-JP" sz="1100" b="1" dirty="0">
                <a:solidFill/>
                <a:latin typeface="メイリオ" panose="020B0604030504040204" pitchFamily="50" charset="-128"/>
                <a:ea typeface="メイリオ" panose="020B0604030504040204" pitchFamily="50" charset="-128"/>
              </a:rPr>
              <a:t>接触</a:t>
            </a:r>
            <a:r>
              <a:rPr lang="ja-JP" altLang="ja-JP" sz="1050" b="1" dirty="0">
                <a:solidFill/>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55" name="テキスト ボックス 54">
            <a:extLst>
              <a:ext uri="{FF2B5EF4-FFF2-40B4-BE49-F238E27FC236}">
                <a16:creationId xmlns:a16="http://schemas.microsoft.com/office/drawing/2014/main" id="{E9843A80-62F9-BE8D-3B74-6147295AB946}"/>
              </a:ext>
            </a:extLst>
          </p:cNvPr>
          <p:cNvSpPr txBox="1"/>
          <p:nvPr/>
        </p:nvSpPr>
        <p:spPr>
          <a:xfrm>
            <a:off x="1268358" y="2989468"/>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② サイト離脱</a:t>
            </a:r>
            <a:r>
              <a:rPr lang="ja-JP" altLang="en-US" sz="1050" b="1" dirty="0">
                <a:solidFill/>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56" name="テキスト ボックス 55">
            <a:extLst>
              <a:ext uri="{FF2B5EF4-FFF2-40B4-BE49-F238E27FC236}">
                <a16:creationId xmlns:a16="http://schemas.microsoft.com/office/drawing/2014/main" id="{562C0E19-F3C8-BFEB-41BA-01C231F6AB68}"/>
              </a:ext>
            </a:extLst>
          </p:cNvPr>
          <p:cNvSpPr txBox="1"/>
          <p:nvPr/>
        </p:nvSpPr>
        <p:spPr>
          <a:xfrm>
            <a:off x="2202413" y="3330682"/>
            <a:ext cx="1868111" cy="261610"/>
          </a:xfrm>
          <a:prstGeom prst="rect">
            <a:avLst/>
          </a:prstGeom>
          <a:solidFill>
            <a:srgbClr val="FFC000"/>
          </a:solidFill>
          <a:ln>
            <a:noFill/>
          </a:ln>
        </p:spPr>
        <p:txBody>
          <a:bodyPr wrap="square">
            <a:spAutoFit/>
          </a:bodyPr>
          <a:lstStyle/>
          <a:p>
            <a:pPr>
              <a:buNone/>
            </a:pPr>
            <a:r>
              <a:rPr lang="ja-JP" altLang="ja-JP" sz="1100" b="1" dirty="0">
                <a:solidFill/>
                <a:latin typeface="メイリオ" panose="020B0604030504040204" pitchFamily="50" charset="-128"/>
                <a:ea typeface="メイリオ" panose="020B0604030504040204" pitchFamily="50" charset="-128"/>
              </a:rPr>
              <a:t>③ 育成</a:t>
            </a:r>
            <a:r>
              <a:rPr lang="ja-JP" altLang="ja-JP" sz="1050" b="1" dirty="0">
                <a:solidFill/>
                <a:latin typeface="メイリオ" panose="020B0604030504040204" pitchFamily="50" charset="-128"/>
                <a:ea typeface="メイリオ" panose="020B0604030504040204" pitchFamily="50" charset="-128"/>
              </a:rPr>
              <a:t>（興味</a:t>
            </a:r>
            <a:r>
              <a:rPr lang="ja-JP" altLang="en-US" sz="1050" b="1" dirty="0">
                <a:solidFill/>
                <a:latin typeface="メイリオ" panose="020B0604030504040204" pitchFamily="50" charset="-128"/>
                <a:ea typeface="メイリオ" panose="020B0604030504040204" pitchFamily="50" charset="-128"/>
              </a:rPr>
              <a:t>喚起</a:t>
            </a:r>
            <a:r>
              <a:rPr lang="ja-JP" altLang="ja-JP" sz="1050" b="1" dirty="0">
                <a:solidFill/>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57" name="テキスト ボックス 56">
            <a:extLst>
              <a:ext uri="{FF2B5EF4-FFF2-40B4-BE49-F238E27FC236}">
                <a16:creationId xmlns:a16="http://schemas.microsoft.com/office/drawing/2014/main" id="{61BD8381-B930-1D8E-9096-0F86535FE580}"/>
              </a:ext>
            </a:extLst>
          </p:cNvPr>
          <p:cNvSpPr txBox="1"/>
          <p:nvPr/>
        </p:nvSpPr>
        <p:spPr>
          <a:xfrm>
            <a:off x="3132447" y="3671900"/>
            <a:ext cx="1868111" cy="261610"/>
          </a:xfrm>
          <a:prstGeom prst="rect">
            <a:avLst/>
          </a:prstGeom>
          <a:solidFill>
            <a:srgbClr val="FFC000"/>
          </a:solidFill>
          <a:ln>
            <a:noFill/>
          </a:ln>
        </p:spPr>
        <p:txBody>
          <a:bodyPr wrap="square">
            <a:spAutoFit/>
          </a:bodyPr>
          <a:lstStyle/>
          <a:p>
            <a:pPr>
              <a:buNone/>
            </a:pPr>
            <a:r>
              <a:rPr lang="ja-JP" altLang="en-US" sz="1100" b="1" dirty="0">
                <a:solidFill/>
                <a:latin typeface="メイリオ" panose="020B0604030504040204" pitchFamily="50" charset="-128"/>
                <a:ea typeface="メイリオ" panose="020B0604030504040204" pitchFamily="50" charset="-128"/>
              </a:rPr>
              <a:t>④資料請求・友だち追加(web/LINE)</a:t>
            </a:r>
          </a:p>
        </p:txBody>
      </p:sp>
      <p:cxnSp>
        <p:nvCxnSpPr>
          <p:cNvPr id="58" name="コネクタ: カギ線 57">
            <a:extLst>
              <a:ext uri="{FF2B5EF4-FFF2-40B4-BE49-F238E27FC236}">
                <a16:creationId xmlns:a16="http://schemas.microsoft.com/office/drawing/2014/main" id="{6AB3A35A-B8AD-A5D7-2BCC-1432533F7764}"/>
              </a:ext>
            </a:extLst>
          </p:cNvPr>
          <p:cNvCxnSpPr>
            <a:cxnSpLocks/>
            <a:stCxn id="57" idx="0"/>
            <a:endCxn id="50" idx="2"/>
          </p:cNvCxnSpPr>
          <p:nvPr/>
        </p:nvCxnSpPr>
        <p:spPr>
          <a:xfrm rot="5400000" flipH="1" flipV="1">
            <a:off x="4181800" y="3323357"/>
            <a:ext cx="420822" cy="276264"/>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9" name="正方形/長方形 58">
            <a:extLst>
              <a:ext uri="{FF2B5EF4-FFF2-40B4-BE49-F238E27FC236}">
                <a16:creationId xmlns:a16="http://schemas.microsoft.com/office/drawing/2014/main" id="{03772BBA-2A8E-B8A9-3F32-9241614071ED}"/>
              </a:ext>
            </a:extLst>
          </p:cNvPr>
          <p:cNvSpPr/>
          <p:nvPr/>
        </p:nvSpPr>
        <p:spPr>
          <a:xfrm>
            <a:off x="315939" y="4519036"/>
            <a:ext cx="9444306" cy="241712"/>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solidFill/>
                <a:latin typeface="メイリオ" panose="020B0604030504040204" pitchFamily="50" charset="-128"/>
                <a:ea typeface="メイリオ" panose="020B0604030504040204" pitchFamily="50" charset="-128"/>
              </a:rPr>
              <a:t>← --- 学校法人（大学・専門学校）の場合 --- →</a:t>
            </a:r>
          </a:p>
        </p:txBody>
      </p:sp>
      <p:sp>
        <p:nvSpPr>
          <p:cNvPr id="60" name="正方形/長方形 59">
            <a:extLst>
              <a:ext uri="{FF2B5EF4-FFF2-40B4-BE49-F238E27FC236}">
                <a16:creationId xmlns:a16="http://schemas.microsoft.com/office/drawing/2014/main" id="{90F34AC0-04C2-BAE1-6A8D-54D45A4A3391}"/>
              </a:ext>
            </a:extLst>
          </p:cNvPr>
          <p:cNvSpPr/>
          <p:nvPr/>
        </p:nvSpPr>
        <p:spPr>
          <a:xfrm>
            <a:off x="315939" y="2524461"/>
            <a:ext cx="9444306" cy="77017"/>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latin typeface="メイリオ" panose="020B0604030504040204" pitchFamily="50" charset="-128"/>
              <a:ea typeface="メイリオ" panose="020B0604030504040204" pitchFamily="50" charset="-128"/>
            </a:endParaRPr>
          </a:p>
        </p:txBody>
      </p:sp>
      <p:sp>
        <p:nvSpPr>
          <p:cNvPr id="67" name="正方形/長方形 66">
            <a:extLst>
              <a:ext uri="{FF2B5EF4-FFF2-40B4-BE49-F238E27FC236}">
                <a16:creationId xmlns:a16="http://schemas.microsoft.com/office/drawing/2014/main" id="{34501BD4-D0A1-1204-F1B6-3FF9DB9008B8}"/>
              </a:ext>
            </a:extLst>
          </p:cNvPr>
          <p:cNvSpPr/>
          <p:nvPr/>
        </p:nvSpPr>
        <p:spPr>
          <a:xfrm>
            <a:off x="307230" y="4760748"/>
            <a:ext cx="9444306" cy="15120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四角形: 角を丸くする 68">
            <a:extLst>
              <a:ext uri="{FF2B5EF4-FFF2-40B4-BE49-F238E27FC236}">
                <a16:creationId xmlns:a16="http://schemas.microsoft.com/office/drawing/2014/main" id="{E33006BF-A7D4-677C-BC5C-604742DCB0AC}"/>
              </a:ext>
            </a:extLst>
          </p:cNvPr>
          <p:cNvSpPr/>
          <p:nvPr/>
        </p:nvSpPr>
        <p:spPr>
          <a:xfrm>
            <a:off x="307072" y="4846499"/>
            <a:ext cx="1185818" cy="253916"/>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ニーズ</a:t>
            </a:r>
          </a:p>
        </p:txBody>
      </p:sp>
      <p:sp>
        <p:nvSpPr>
          <p:cNvPr id="71" name="四角形: 角を丸くする 70">
            <a:extLst>
              <a:ext uri="{FF2B5EF4-FFF2-40B4-BE49-F238E27FC236}">
                <a16:creationId xmlns:a16="http://schemas.microsoft.com/office/drawing/2014/main" id="{CB83D143-466E-0FF2-D6C5-E5909077F6A0}"/>
              </a:ext>
            </a:extLst>
          </p:cNvPr>
          <p:cNvSpPr/>
          <p:nvPr/>
        </p:nvSpPr>
        <p:spPr>
          <a:xfrm>
            <a:off x="315939" y="5584525"/>
            <a:ext cx="1185818" cy="253916"/>
          </a:xfrm>
          <a:prstGeom prst="roundRect">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latin typeface="メイリオ" panose="020B0604030504040204" pitchFamily="50" charset="-128"/>
                <a:ea typeface="メイリオ" panose="020B0604030504040204" pitchFamily="50" charset="-128"/>
              </a:rPr>
              <a:t>インサイト</a:t>
            </a:r>
          </a:p>
        </p:txBody>
      </p:sp>
      <p:sp>
        <p:nvSpPr>
          <p:cNvPr id="73" name="TextBox 72"/>
          <p:cNvSpPr txBox="1"/>
          <p:nvPr/>
        </p:nvSpPr>
        <p:spPr>
          <a:xfrm>
            <a:off x="158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どの学校が自分に合うか分からない</a:t>
            </a:r>
          </a:p>
          <a:p>
            <a:r>
              <a:rPr sz="1200">
                <a:solidFill>
                  <a:srgbClr val="1C2233"/>
                </a:solidFill>
                <a:latin typeface="メイリオ"/>
                <a:ea typeface="メイリオ"/>
              </a:rPr>
              <a:t>まだ漠然。偏差値で調べている</a:t>
            </a:r>
          </a:p>
        </p:txBody>
      </p:sp>
      <p:sp>
        <p:nvSpPr>
          <p:cNvPr id="74" name="TextBox 73"/>
          <p:cNvSpPr txBox="1"/>
          <p:nvPr/>
        </p:nvSpPr>
        <p:spPr>
          <a:xfrm>
            <a:off x="365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比較して失敗したくない</a:t>
            </a:r>
          </a:p>
          <a:p>
            <a:r>
              <a:rPr sz="1200">
                <a:solidFill>
                  <a:srgbClr val="1C2233"/>
                </a:solidFill>
                <a:latin typeface="メイリオ"/>
                <a:ea typeface="メイリオ"/>
              </a:rPr>
              <a:t>フォーム入力・電話は重い</a:t>
            </a:r>
          </a:p>
        </p:txBody>
      </p:sp>
      <p:sp>
        <p:nvSpPr>
          <p:cNvPr id="75" name="TextBox 74"/>
          <p:cNvSpPr txBox="1"/>
          <p:nvPr/>
        </p:nvSpPr>
        <p:spPr>
          <a:xfrm>
            <a:off x="5724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電話がかかってこないか不安</a:t>
            </a:r>
          </a:p>
          <a:p>
            <a:r>
              <a:rPr sz="1200">
                <a:solidFill>
                  <a:srgbClr val="1C2233"/>
                </a:solidFill>
                <a:latin typeface="メイリオ"/>
                <a:ea typeface="メイリオ"/>
              </a:rPr>
              <a:t>1人で行って大丈夫か知りたい</a:t>
            </a:r>
          </a:p>
        </p:txBody>
      </p:sp>
      <p:sp>
        <p:nvSpPr>
          <p:cNvPr id="76" name="TextBox 75"/>
          <p:cNvSpPr txBox="1"/>
          <p:nvPr/>
        </p:nvSpPr>
        <p:spPr>
          <a:xfrm>
            <a:off x="7776000" y="4824000"/>
            <a:ext cx="1980000" cy="684000"/>
          </a:xfrm>
          <a:prstGeom prst="rect">
            <a:avLst/>
          </a:prstGeom>
          <a:noFill/>
        </p:spPr>
        <p:txBody>
          <a:bodyPr wrap="square" lIns="36000" tIns="18000" rIns="36000" bIns="18000">
            <a:spAutoFit/>
          </a:bodyPr>
          <a:lstStyle/>
          <a:p>
            <a:r>
              <a:rPr sz="1200">
                <a:solidFill>
                  <a:srgbClr val="1C2233"/>
                </a:solidFill>
                <a:latin typeface="メイリオ"/>
                <a:ea typeface="メイリオ"/>
              </a:rPr>
              <a:t>成果を実感したい</a:t>
            </a:r>
          </a:p>
          <a:p>
            <a:r>
              <a:rPr sz="1200">
                <a:solidFill>
                  <a:srgbClr val="1C2233"/>
                </a:solidFill>
                <a:latin typeface="メイリオ"/>
                <a:ea typeface="メイリオ"/>
              </a:rPr>
              <a:t>飽きと中だるみで離脱</a:t>
            </a:r>
          </a:p>
        </p:txBody>
      </p:sp>
      <p:sp>
        <p:nvSpPr>
          <p:cNvPr id="77" name="TextBox 76"/>
          <p:cNvSpPr txBox="1"/>
          <p:nvPr/>
        </p:nvSpPr>
        <p:spPr>
          <a:xfrm>
            <a:off x="158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続かなかった過去がある</a:t>
            </a:r>
          </a:p>
          <a:p>
            <a:r>
              <a:rPr sz="1200">
                <a:solidFill>
                  <a:srgbClr val="BF4E0E"/>
                </a:solidFill>
                <a:latin typeface="メイリオ"/>
                <a:ea typeface="メイリオ"/>
              </a:rPr>
              <a:t>＝失敗の再体験が怖い</a:t>
            </a:r>
          </a:p>
        </p:txBody>
      </p:sp>
      <p:sp>
        <p:nvSpPr>
          <p:cNvPr id="78" name="TextBox 77"/>
          <p:cNvSpPr txBox="1"/>
          <p:nvPr/>
        </p:nvSpPr>
        <p:spPr>
          <a:xfrm>
            <a:off x="365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匿名で聞けるなら動ける</a:t>
            </a:r>
          </a:p>
          <a:p>
            <a:r>
              <a:rPr sz="1200">
                <a:solidFill>
                  <a:srgbClr val="BF4E0E"/>
                </a:solidFill>
                <a:latin typeface="メイリオ"/>
                <a:ea typeface="メイリオ"/>
              </a:rPr>
              <a:t>→LINE診断が受け皿</a:t>
            </a:r>
          </a:p>
        </p:txBody>
      </p:sp>
      <p:sp>
        <p:nvSpPr>
          <p:cNvPr id="79" name="TextBox 78"/>
          <p:cNvSpPr txBox="1"/>
          <p:nvPr/>
        </p:nvSpPr>
        <p:spPr>
          <a:xfrm>
            <a:off x="5724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「迫りません」の一言で</a:t>
            </a:r>
          </a:p>
          <a:p>
            <a:r>
              <a:rPr sz="1200">
                <a:solidFill>
                  <a:srgbClr val="BF4E0E"/>
                </a:solidFill>
                <a:latin typeface="メイリオ"/>
                <a:ea typeface="メイリオ"/>
              </a:rPr>
              <a:t>来店ハードルが下がる</a:t>
            </a:r>
          </a:p>
        </p:txBody>
      </p:sp>
      <p:sp>
        <p:nvSpPr>
          <p:cNvPr id="80" name="TextBox 79"/>
          <p:cNvSpPr txBox="1"/>
          <p:nvPr/>
        </p:nvSpPr>
        <p:spPr>
          <a:xfrm>
            <a:off x="7776000" y="5580000"/>
            <a:ext cx="1980000" cy="684000"/>
          </a:xfrm>
          <a:prstGeom prst="rect">
            <a:avLst/>
          </a:prstGeom>
          <a:noFill/>
        </p:spPr>
        <p:txBody>
          <a:bodyPr wrap="square" lIns="36000" tIns="18000" rIns="36000" bIns="18000">
            <a:spAutoFit/>
          </a:bodyPr>
          <a:lstStyle/>
          <a:p>
            <a:r>
              <a:rPr sz="1200">
                <a:solidFill>
                  <a:srgbClr val="BF4E0E"/>
                </a:solidFill>
                <a:latin typeface="メイリオ"/>
                <a:ea typeface="メイリオ"/>
              </a:rPr>
              <a:t>「見てもらえている感」が</a:t>
            </a:r>
          </a:p>
          <a:p>
            <a:r>
              <a:rPr sz="1200">
                <a:solidFill>
                  <a:srgbClr val="BF4E0E"/>
                </a:solidFill>
                <a:latin typeface="メイリオ"/>
                <a:ea typeface="メイリオ"/>
              </a:rPr>
              <a:t>継続と紹介の鍵になる</a:t>
            </a:r>
          </a:p>
        </p:txBody>
      </p:sp>
      <p:sp>
        <p:nvSpPr>
          <p:cNvPr id="2" name="テキスト ボックス 1">
            <a:extLst>
              <a:ext uri="{FF2B5EF4-FFF2-40B4-BE49-F238E27FC236}">
                <a16:creationId xmlns:a16="http://schemas.microsoft.com/office/drawing/2014/main" id="{451FFC26-7816-250A-591E-C953B9FABA67}"/>
              </a:ext>
            </a:extLst>
          </p:cNvPr>
          <p:cNvSpPr txBox="1"/>
          <p:nvPr/>
        </p:nvSpPr>
        <p:spPr>
          <a:xfrm>
            <a:off x="2363638" y="1147313"/>
            <a:ext cx="184731" cy="369332"/>
          </a:xfrm>
          <a:prstGeom prst="rect">
            <a:avLst/>
          </a:prstGeom>
          <a:noFill/>
        </p:spPr>
        <p:txBody>
          <a:bodyPr wrap="none" rtlCol="0">
            <a:spAutoFit/>
          </a:bodyPr>
          <a:lstStyle/>
          <a:p>
            <a:endParaRPr kumimoji="1" lang="ja-JP" altLang="en-US" dirty="0">
              <a:latin typeface="+mj-lt"/>
            </a:endParaRPr>
          </a:p>
        </p:txBody>
      </p:sp>
    </p:spTree>
    <p:extLst>
      <p:ext uri="{BB962C8B-B14F-4D97-AF65-F5344CB8AC3E}">
        <p14:creationId xmlns:p14="http://schemas.microsoft.com/office/powerpoint/2010/main" val="4069324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ED90-F5DA-CFD4-A3DA-114442B93132}"/>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前後検索から導いた仕掛けどころ｜名前を調べられる前に友だちになる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高校生が学校名を検索し始めた時点で、もう比較の土俵。そこで広告に出ても1校にしかなれない。</a:t>
            </a:r>
          </a:p>
          <a:p>
            <a:pPr algn="l">
              <a:lnSpc>
                <a:spcPct val="122000"/>
              </a:lnSpc>
            </a:pPr>
            <a:r>
              <a:rPr sz="1500">
                <a:solidFill>
                  <a:srgbClr val="646C82"/>
                </a:solidFill>
                <a:latin typeface="メイリオ"/>
                <a:ea typeface="メイリオ"/>
                <a:cs typeface="メイリオ"/>
              </a:rPr>
              <a:t>仕掛けるのは、偏差値で群に仕分けられる手前。</a:t>
            </a:r>
          </a:p>
        </p:txBody>
      </p:sp>
      <p:sp>
        <p:nvSpPr>
          <p:cNvPr id="4" name="Rectangle 3"/>
          <p:cNvSpPr/>
          <p:nvPr/>
        </p:nvSpPr>
        <p:spPr>
          <a:xfrm>
            <a:off x="612000" y="1908000"/>
            <a:ext cx="8712000" cy="396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12000" y="1908000"/>
            <a:ext cx="4007520" cy="396000"/>
          </a:xfrm>
          <a:prstGeom prst="rect">
            <a:avLst/>
          </a:prstGeom>
          <a:solidFill>
            <a:srgbClr val="F4F7FF"/>
          </a:solidFill>
          <a:ln w="15875">
            <a:solidFill>
              <a:srgbClr val="1F285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013440" y="1908000"/>
            <a:ext cx="3310560" cy="396000"/>
          </a:xfrm>
          <a:prstGeom prst="rect">
            <a:avLst/>
          </a:prstGeom>
          <a:solidFill>
            <a:srgbClr val="FCE4D6"/>
          </a:solidFill>
          <a:ln w="19050">
            <a:solidFill>
              <a:srgbClr val="ED7D3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12000" y="1972799"/>
            <a:ext cx="4007520" cy="288000"/>
          </a:xfrm>
          <a:prstGeom prst="rect">
            <a:avLst/>
          </a:prstGeom>
          <a:noFill/>
        </p:spPr>
        <p:txBody>
          <a:bodyPr wrap="square" lIns="0" tIns="21600" rIns="0" bIns="21600" anchor="ctr">
            <a:spAutoFit/>
          </a:bodyPr>
          <a:lstStyle/>
          <a:p>
            <a:pPr algn="ctr"/>
            <a:r>
              <a:rPr sz="1150" b="1">
                <a:solidFill>
                  <a:srgbClr val="1F285A"/>
                </a:solidFill>
                <a:latin typeface="メイリオ"/>
                <a:ea typeface="メイリオ"/>
                <a:cs typeface="メイリオ"/>
              </a:rPr>
              <a:t>学校名がまだ出てこない期間（＝ここが空白）</a:t>
            </a:r>
          </a:p>
        </p:txBody>
      </p:sp>
      <p:sp>
        <p:nvSpPr>
          <p:cNvPr id="8" name="TextBox 7"/>
          <p:cNvSpPr txBox="1"/>
          <p:nvPr/>
        </p:nvSpPr>
        <p:spPr>
          <a:xfrm>
            <a:off x="6013440" y="1972799"/>
            <a:ext cx="3310560" cy="288000"/>
          </a:xfrm>
          <a:prstGeom prst="rect">
            <a:avLst/>
          </a:prstGeom>
          <a:noFill/>
        </p:spPr>
        <p:txBody>
          <a:bodyPr wrap="square" lIns="0" tIns="21600" rIns="0" bIns="21600" anchor="ctr">
            <a:spAutoFit/>
          </a:bodyPr>
          <a:lstStyle/>
          <a:p>
            <a:pPr algn="ctr"/>
            <a:r>
              <a:rPr sz="1150" b="1">
                <a:solidFill>
                  <a:srgbClr val="ED7D31"/>
                </a:solidFill>
                <a:latin typeface="メイリオ"/>
                <a:ea typeface="メイリオ"/>
                <a:cs typeface="メイリオ"/>
              </a:rPr>
              <a:t>比較の土俵（もう1校にしかなれない）</a:t>
            </a:r>
          </a:p>
        </p:txBody>
      </p:sp>
      <p:sp>
        <p:nvSpPr>
          <p:cNvPr id="9" name="TextBox 8"/>
          <p:cNvSpPr txBox="1"/>
          <p:nvPr/>
        </p:nvSpPr>
        <p:spPr>
          <a:xfrm>
            <a:off x="21600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−15日</a:t>
            </a:r>
          </a:p>
        </p:txBody>
      </p:sp>
      <p:sp>
        <p:nvSpPr>
          <p:cNvPr id="10" name="TextBox 9"/>
          <p:cNvSpPr txBox="1"/>
          <p:nvPr/>
        </p:nvSpPr>
        <p:spPr>
          <a:xfrm>
            <a:off x="422352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0日</a:t>
            </a:r>
          </a:p>
        </p:txBody>
      </p:sp>
      <p:sp>
        <p:nvSpPr>
          <p:cNvPr id="11" name="TextBox 10"/>
          <p:cNvSpPr txBox="1"/>
          <p:nvPr/>
        </p:nvSpPr>
        <p:spPr>
          <a:xfrm>
            <a:off x="5617440"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+2日</a:t>
            </a:r>
          </a:p>
        </p:txBody>
      </p:sp>
      <p:sp>
        <p:nvSpPr>
          <p:cNvPr id="12" name="TextBox 11"/>
          <p:cNvSpPr txBox="1"/>
          <p:nvPr/>
        </p:nvSpPr>
        <p:spPr>
          <a:xfrm>
            <a:off x="8927999" y="2347200"/>
            <a:ext cx="792000" cy="216000"/>
          </a:xfrm>
          <a:prstGeom prst="rect">
            <a:avLst/>
          </a:prstGeom>
          <a:noFill/>
        </p:spPr>
        <p:txBody>
          <a:bodyPr wrap="square" lIns="0" tIns="21600" rIns="0" bIns="21600" anchor="ctr">
            <a:spAutoFit/>
          </a:bodyPr>
          <a:lstStyle/>
          <a:p>
            <a:pPr algn="ctr"/>
            <a:r>
              <a:rPr sz="1050" b="1">
                <a:solidFill>
                  <a:srgbClr val="7F7F7F"/>
                </a:solidFill>
                <a:latin typeface="メイリオ"/>
                <a:ea typeface="メイリオ"/>
                <a:cs typeface="メイリオ"/>
              </a:rPr>
              <a:t>+15日</a:t>
            </a:r>
          </a:p>
        </p:txBody>
      </p:sp>
      <p:sp>
        <p:nvSpPr>
          <p:cNvPr id="13" name="Rounded Rectangle 12"/>
          <p:cNvSpPr/>
          <p:nvPr/>
        </p:nvSpPr>
        <p:spPr>
          <a:xfrm>
            <a:off x="3574080" y="1404000"/>
            <a:ext cx="1800000" cy="413999"/>
          </a:xfrm>
          <a:prstGeom prst="roundRect">
            <a:avLst>
              <a:gd name="adj" fmla="val 10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74080" y="1404000"/>
            <a:ext cx="1800000" cy="413999"/>
          </a:xfrm>
          <a:prstGeom prst="rect">
            <a:avLst/>
          </a:prstGeom>
          <a:noFill/>
        </p:spPr>
        <p:txBody>
          <a:bodyPr wrap="square" lIns="0" tIns="21600" rIns="0" bIns="21600" anchor="ctr">
            <a:spAutoFit/>
          </a:bodyPr>
          <a:lstStyle/>
          <a:p>
            <a:pPr algn="ctr"/>
            <a:r>
              <a:rPr sz="1200" b="1">
                <a:solidFill>
                  <a:srgbClr val="FFFFFF"/>
                </a:solidFill>
                <a:latin typeface="メイリオ"/>
                <a:ea typeface="メイリオ"/>
                <a:cs typeface="メイリオ"/>
              </a:rPr>
              <a:t>▶ ここで友だち化</a:t>
            </a:r>
          </a:p>
        </p:txBody>
      </p:sp>
      <p:sp>
        <p:nvSpPr>
          <p:cNvPr id="15" name="Rounded Rectangle 14"/>
          <p:cNvSpPr/>
          <p:nvPr/>
        </p:nvSpPr>
        <p:spPr>
          <a:xfrm>
            <a:off x="396000" y="3456000"/>
            <a:ext cx="2951999"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離脱防止ポップアップの文言</a:t>
            </a:r>
          </a:p>
          <a:p>
            <a:pPr algn="l">
              <a:lnSpc>
                <a:spcPct val="120000"/>
              </a:lnSpc>
              <a:spcAft>
                <a:spcPts val="200"/>
              </a:spcAft>
            </a:pPr>
            <a:r>
              <a:rPr sz="1100">
                <a:solidFill>
                  <a:srgbClr val="1C2233"/>
                </a:solidFill>
                <a:latin typeface="メイリオ"/>
                <a:ea typeface="メイリオ"/>
                <a:cs typeface="メイリオ"/>
              </a:rPr>
              <a:t>まだ、学部で迷っていませんか？</a:t>
            </a:r>
          </a:p>
          <a:p>
            <a:pPr algn="l">
              <a:lnSpc>
                <a:spcPct val="120000"/>
              </a:lnSpc>
              <a:spcAft>
                <a:spcPts val="200"/>
              </a:spcAft>
            </a:pPr>
            <a:r>
              <a:rPr sz="1100">
                <a:solidFill>
                  <a:srgbClr val="1C2233"/>
                </a:solidFill>
                <a:latin typeface="メイリオ"/>
                <a:ea typeface="メイリオ"/>
                <a:cs typeface="メイリオ"/>
              </a:rPr>
              <a:t>30秒の質問に答えるだけで、あなたに向いている</a:t>
            </a:r>
          </a:p>
          <a:p>
            <a:pPr algn="l">
              <a:lnSpc>
                <a:spcPct val="120000"/>
              </a:lnSpc>
              <a:spcAft>
                <a:spcPts val="200"/>
              </a:spcAft>
            </a:pPr>
            <a:r>
              <a:rPr sz="1100">
                <a:solidFill>
                  <a:srgbClr val="1C2233"/>
                </a:solidFill>
                <a:latin typeface="メイリオ"/>
                <a:ea typeface="メイリオ"/>
                <a:cs typeface="メイリオ"/>
              </a:rPr>
              <a:t>学部と、その学部の1日が分かります。</a:t>
            </a:r>
          </a:p>
          <a:p>
            <a:pPr algn="l">
              <a:lnSpc>
                <a:spcPct val="120000"/>
              </a:lnSpc>
              <a:spcAft>
                <a:spcPts val="200"/>
              </a:spcAft>
            </a:pPr>
            <a:r>
              <a:rPr sz="1100">
                <a:solidFill>
                  <a:srgbClr val="1C2233"/>
                </a:solidFill>
                <a:latin typeface="メイリオ"/>
                <a:ea typeface="メイリオ"/>
                <a:cs typeface="メイリオ"/>
              </a:rPr>
              <a:t>＃名前も電話番号も入力しません</a:t>
            </a:r>
          </a:p>
        </p:txBody>
      </p:sp>
      <p:sp>
        <p:nvSpPr>
          <p:cNvPr id="16" name="Rounded Rectangle 15"/>
          <p:cNvSpPr/>
          <p:nvPr/>
        </p:nvSpPr>
        <p:spPr>
          <a:xfrm>
            <a:off x="3491999" y="3456000"/>
            <a:ext cx="2951999" cy="187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② </a:t>
            </a:r>
            <a:r>
              <a:rPr sz="1200" b="1" dirty="0" err="1">
                <a:solidFill>
                  <a:srgbClr val="1F285A"/>
                </a:solidFill>
                <a:latin typeface="メイリオ"/>
                <a:ea typeface="メイリオ"/>
                <a:cs typeface="メイリオ"/>
              </a:rPr>
              <a:t>LINE広告（CPF）の文言</a:t>
            </a:r>
            <a:endParaRPr sz="1200" b="1" dirty="0">
              <a:solidFill>
                <a:srgbClr val="1F285A"/>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やりたいこと、まだ決まってなくていい</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文系・理系すら迷っている人向けの</a:t>
            </a:r>
            <a:endParaRPr lang="en-US" sz="1100" dirty="0">
              <a:solidFill>
                <a:srgbClr val="1C2233"/>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30秒診断。</a:t>
            </a:r>
          </a:p>
          <a:p>
            <a:pPr algn="l">
              <a:lnSpc>
                <a:spcPct val="120000"/>
              </a:lnSpc>
              <a:spcAft>
                <a:spcPts val="200"/>
              </a:spcAft>
            </a:pPr>
            <a:r>
              <a:rPr sz="1100" dirty="0" err="1">
                <a:solidFill>
                  <a:srgbClr val="1C2233"/>
                </a:solidFill>
                <a:latin typeface="メイリオ"/>
                <a:ea typeface="メイリオ"/>
                <a:cs typeface="メイリオ"/>
              </a:rPr>
              <a:t>あなたの「向いてる学び方」から学部を提案します</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 タップ1回で友だち追加（入力ゼロ）</a:t>
            </a:r>
          </a:p>
        </p:txBody>
      </p:sp>
      <p:sp>
        <p:nvSpPr>
          <p:cNvPr id="17" name="Rounded Rectangle 16"/>
          <p:cNvSpPr/>
          <p:nvPr/>
        </p:nvSpPr>
        <p:spPr>
          <a:xfrm>
            <a:off x="6588000" y="3456000"/>
            <a:ext cx="2951999" cy="187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③ </a:t>
            </a:r>
            <a:r>
              <a:rPr sz="1200" b="1" dirty="0" err="1">
                <a:solidFill>
                  <a:srgbClr val="ED7D31"/>
                </a:solidFill>
                <a:latin typeface="メイリオ"/>
                <a:ea typeface="メイリオ"/>
                <a:cs typeface="メイリオ"/>
              </a:rPr>
              <a:t>コストゼロで一番効く導線</a:t>
            </a:r>
            <a:endParaRPr sz="1200" b="1" dirty="0">
              <a:solidFill>
                <a:srgbClr val="ED7D31"/>
              </a:solidFill>
              <a:latin typeface="メイリオ"/>
              <a:ea typeface="メイリオ"/>
              <a:cs typeface="メイリオ"/>
            </a:endParaRPr>
          </a:p>
          <a:p>
            <a:pPr algn="l">
              <a:lnSpc>
                <a:spcPct val="120000"/>
              </a:lnSpc>
              <a:spcAft>
                <a:spcPts val="200"/>
              </a:spcAft>
            </a:pPr>
            <a:r>
              <a:rPr sz="1100" dirty="0">
                <a:solidFill>
                  <a:srgbClr val="1C2233"/>
                </a:solidFill>
                <a:latin typeface="メイリオ"/>
                <a:ea typeface="メイリオ"/>
                <a:cs typeface="メイリオ"/>
              </a:rPr>
              <a:t>オープンキャンパス当日の受付にQRコードを1枚。</a:t>
            </a:r>
          </a:p>
          <a:p>
            <a:pPr algn="l">
              <a:lnSpc>
                <a:spcPct val="120000"/>
              </a:lnSpc>
              <a:spcAft>
                <a:spcPts val="200"/>
              </a:spcAft>
            </a:pPr>
            <a:r>
              <a:rPr sz="1100" dirty="0" err="1">
                <a:solidFill>
                  <a:srgbClr val="1C2233"/>
                </a:solidFill>
                <a:latin typeface="メイリオ"/>
                <a:ea typeface="メイリオ"/>
                <a:cs typeface="メイリオ"/>
              </a:rPr>
              <a:t>最も志望度が高い層が、その場で友だちになる</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資料請求の完了画面・パンフ裏表紙・高校での説明会資料も同じ</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来週から実施できる</a:t>
            </a:r>
            <a:endParaRPr sz="1100" dirty="0">
              <a:solidFill>
                <a:srgbClr val="1C2233"/>
              </a:solidFill>
              <a:latin typeface="メイリオ"/>
              <a:ea typeface="メイリオ"/>
              <a:cs typeface="メイリオ"/>
            </a:endParaRPr>
          </a:p>
        </p:txBody>
      </p:sp>
      <p:sp>
        <p:nvSpPr>
          <p:cNvPr id="18" name="TextBox 17"/>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出典：LINEヤフー media Journey（2026-09-15取得）。起点KWの確定後に日数の目盛りを更新する。</a:t>
            </a:r>
          </a:p>
        </p:txBody>
      </p:sp>
    </p:spTree>
    <p:extLst>
      <p:ext uri="{BB962C8B-B14F-4D97-AF65-F5344CB8AC3E}">
        <p14:creationId xmlns:p14="http://schemas.microsoft.com/office/powerpoint/2010/main" val="3737463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ステップ配信｜追加から14日でオープンキャンパス予約を取り切る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友だち追加から15日でアクティブ率が急落する。起点KW検索の後15日で他校の指名検索が立つ。</a:t>
            </a:r>
          </a:p>
          <a:p>
            <a:pPr algn="l">
              <a:lnSpc>
                <a:spcPct val="122000"/>
              </a:lnSpc>
            </a:pPr>
            <a:r>
              <a:rPr sz="1500">
                <a:solidFill>
                  <a:srgbClr val="646C82"/>
                </a:solidFill>
                <a:latin typeface="メイリオ"/>
                <a:ea typeface="メイリオ"/>
                <a:cs typeface="メイリオ"/>
              </a:rPr>
              <a:t>読まれる15日と、候補が決まる15日が重なるのが最初の14日。</a:t>
            </a:r>
          </a:p>
        </p:txBody>
      </p:sp>
      <p:graphicFrame>
        <p:nvGraphicFramePr>
          <p:cNvPr id="4" name="Table 3"/>
          <p:cNvGraphicFramePr>
            <a:graphicFrameLocks noGrp="1"/>
          </p:cNvGraphicFramePr>
          <p:nvPr>
            <p:extLst>
              <p:ext uri="{D42A27DB-BD31-4B8C-83A1-F6EECF244321}">
                <p14:modId xmlns:p14="http://schemas.microsoft.com/office/powerpoint/2010/main" val="2529650058"/>
              </p:ext>
            </p:extLst>
          </p:nvPr>
        </p:nvGraphicFramePr>
        <p:xfrm>
          <a:off x="396000" y="1224000"/>
          <a:ext cx="9144000" cy="3600000"/>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20000"/>
                    </a:ext>
                  </a:extLst>
                </a:gridCol>
                <a:gridCol w="1944000">
                  <a:extLst>
                    <a:ext uri="{9D8B030D-6E8A-4147-A177-3AD203B41FA5}">
                      <a16:colId xmlns:a16="http://schemas.microsoft.com/office/drawing/2014/main" val="20001"/>
                    </a:ext>
                  </a:extLst>
                </a:gridCol>
                <a:gridCol w="3384000">
                  <a:extLst>
                    <a:ext uri="{9D8B030D-6E8A-4147-A177-3AD203B41FA5}">
                      <a16:colId xmlns:a16="http://schemas.microsoft.com/office/drawing/2014/main" val="20002"/>
                    </a:ext>
                  </a:extLst>
                </a:gridCol>
                <a:gridCol w="1944000">
                  <a:extLst>
                    <a:ext uri="{9D8B030D-6E8A-4147-A177-3AD203B41FA5}">
                      <a16:colId xmlns:a16="http://schemas.microsoft.com/office/drawing/2014/main" val="20003"/>
                    </a:ext>
                  </a:extLst>
                </a:gridCol>
                <a:gridCol w="1296000">
                  <a:extLst>
                    <a:ext uri="{9D8B030D-6E8A-4147-A177-3AD203B41FA5}">
                      <a16:colId xmlns:a16="http://schemas.microsoft.com/office/drawing/2014/main" val="20004"/>
                    </a:ext>
                  </a:extLst>
                </a:gridCol>
              </a:tblGrid>
              <a:tr h="450000">
                <a:tc>
                  <a:txBody>
                    <a:bodyPr/>
                    <a:lstStyle/>
                    <a:p>
                      <a:pPr algn="ctr"/>
                      <a:r>
                        <a:rPr sz="1200" b="1">
                          <a:solidFill>
                            <a:srgbClr val="FFFFFF"/>
                          </a:solidFill>
                          <a:latin typeface="メイリオ"/>
                          <a:ea typeface="メイリオ"/>
                          <a:cs typeface="メイリオ"/>
                        </a:rPr>
                        <a:t>Day</a:t>
                      </a:r>
                    </a:p>
                  </a:txBody>
                  <a:tcPr anchor="ctr">
                    <a:solidFill>
                      <a:srgbClr val="1F285A"/>
                    </a:solidFill>
                  </a:tcPr>
                </a:tc>
                <a:tc>
                  <a:txBody>
                    <a:bodyPr/>
                    <a:lstStyle/>
                    <a:p>
                      <a:pPr algn="l"/>
                      <a:r>
                        <a:rPr sz="1200" b="1">
                          <a:solidFill>
                            <a:srgbClr val="FFFFFF"/>
                          </a:solidFill>
                          <a:latin typeface="メイリオ"/>
                          <a:ea typeface="メイリオ"/>
                          <a:cs typeface="メイリオ"/>
                        </a:rPr>
                        <a:t>対象</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tc>
                  <a:txBody>
                    <a:bodyPr/>
                    <a:lstStyle/>
                    <a:p>
                      <a:pPr algn="l"/>
                      <a:r>
                        <a:rPr sz="1200" b="1">
                          <a:solidFill>
                            <a:srgbClr val="FFFFFF"/>
                          </a:solidFill>
                          <a:latin typeface="メイリオ"/>
                          <a:ea typeface="メイリオ"/>
                          <a:cs typeface="メイリオ"/>
                        </a:rPr>
                        <a:t>通知プレビュー（15字）</a:t>
                      </a:r>
                    </a:p>
                  </a:txBody>
                  <a:tcPr anchor="ctr">
                    <a:solidFill>
                      <a:srgbClr val="1F285A"/>
                    </a:solidFill>
                  </a:tcPr>
                </a:tc>
                <a:tc>
                  <a:txBody>
                    <a:bodyPr/>
                    <a:lstStyle/>
                    <a:p>
                      <a:pPr algn="ctr"/>
                      <a:r>
                        <a:rPr sz="1200" b="1">
                          <a:solidFill>
                            <a:srgbClr val="FFFFFF"/>
                          </a:solidFill>
                          <a:latin typeface="メイリオ"/>
                          <a:ea typeface="メイリオ"/>
                          <a:cs typeface="メイリオ"/>
                        </a:rPr>
                        <a:t>CV</a:t>
                      </a:r>
                    </a:p>
                  </a:txBody>
                  <a:tcPr anchor="ctr">
                    <a:solidFill>
                      <a:srgbClr val="1F285A"/>
                    </a:solidFill>
                  </a:tcPr>
                </a:tc>
                <a:extLst>
                  <a:ext uri="{0D108BD9-81ED-4DB2-BD59-A6C34878D82A}">
                    <a16:rowId xmlns:a16="http://schemas.microsoft.com/office/drawing/2014/main" val="10000"/>
                  </a:ext>
                </a:extLst>
              </a:tr>
              <a:tr h="450000">
                <a:tc>
                  <a:txBody>
                    <a:bodyPr/>
                    <a:lstStyle/>
                    <a:p>
                      <a:pPr algn="ctr"/>
                      <a:r>
                        <a:rPr sz="1100">
                          <a:solidFill>
                            <a:srgbClr val="1C2233"/>
                          </a:solidFill>
                          <a:latin typeface="メイリオ"/>
                          <a:ea typeface="メイリオ"/>
                          <a:cs typeface="メイリオ"/>
                        </a:rPr>
                        <a:t>0</a:t>
                      </a:r>
                    </a:p>
                  </a:txBody>
                  <a:tcPr anchor="ctr">
                    <a:solidFill>
                      <a:srgbClr val="FFFFFF"/>
                    </a:solidFill>
                  </a:tcPr>
                </a:tc>
                <a:tc>
                  <a:txBody>
                    <a:bodyPr/>
                    <a:lstStyle/>
                    <a:p>
                      <a:pPr algn="l"/>
                      <a:r>
                        <a:rPr sz="1100">
                          <a:solidFill>
                            <a:srgbClr val="1C2233"/>
                          </a:solidFill>
                          <a:latin typeface="メイリオ"/>
                          <a:ea typeface="メイリオ"/>
                          <a:cs typeface="メイリオ"/>
                        </a:rPr>
                        <a:t>診断回答直後の全員</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診断結果＋在学生の1日（動画3分）。売らない</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診断結果が出ました📋あな</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1"/>
                  </a:ext>
                </a:extLst>
              </a:tr>
              <a:tr h="450000">
                <a:tc>
                  <a:txBody>
                    <a:bodyPr/>
                    <a:lstStyle/>
                    <a:p>
                      <a:pPr algn="ctr"/>
                      <a:r>
                        <a:rPr sz="1100">
                          <a:solidFill>
                            <a:srgbClr val="1C2233"/>
                          </a:solidFill>
                          <a:latin typeface="メイリオ"/>
                          <a:ea typeface="メイリオ"/>
                          <a:cs typeface="メイリオ"/>
                        </a:rPr>
                        <a:t>2</a:t>
                      </a:r>
                    </a:p>
                  </a:txBody>
                  <a:tcPr anchor="ctr">
                    <a:solidFill>
                      <a:srgbClr val="F4F7FF"/>
                    </a:solidFill>
                  </a:tcPr>
                </a:tc>
                <a:tc>
                  <a:txBody>
                    <a:bodyPr/>
                    <a:lstStyle/>
                    <a:p>
                      <a:pPr algn="l"/>
                      <a:r>
                        <a:rPr sz="1100">
                          <a:solidFill>
                            <a:srgbClr val="1C2233"/>
                          </a:solidFill>
                          <a:latin typeface="メイリオ"/>
                          <a:ea typeface="メイリオ"/>
                          <a:cs typeface="メイリオ"/>
                        </a:rPr>
                        <a:t>Q2「全然決まっていない」層</a:t>
                      </a:r>
                    </a:p>
                  </a:txBody>
                  <a:tcPr anchor="ctr">
                    <a:solidFill>
                      <a:srgbClr val="F4F7FF"/>
                    </a:solidFill>
                  </a:tcPr>
                </a:tc>
                <a:tc>
                  <a:txBody>
                    <a:bodyPr/>
                    <a:lstStyle/>
                    <a:p>
                      <a:pPr algn="l"/>
                      <a:r>
                        <a:rPr sz="1100">
                          <a:solidFill>
                            <a:srgbClr val="1C2233"/>
                          </a:solidFill>
                          <a:latin typeface="メイリオ"/>
                          <a:ea typeface="メイリオ"/>
                          <a:cs typeface="メイリオ"/>
                        </a:rPr>
                        <a:t>やりたいことが決まっていない人の進路の決め方</a:t>
                      </a:r>
                    </a:p>
                  </a:txBody>
                  <a:tcPr anchor="ctr">
                    <a:solidFill>
                      <a:srgbClr val="F4F7FF"/>
                    </a:solidFill>
                  </a:tcPr>
                </a:tc>
                <a:tc>
                  <a:txBody>
                    <a:bodyPr/>
                    <a:lstStyle/>
                    <a:p>
                      <a:pPr algn="l"/>
                      <a:r>
                        <a:rPr sz="1100">
                          <a:solidFill>
                            <a:srgbClr val="1C2233"/>
                          </a:solidFill>
                          <a:latin typeface="メイリオ"/>
                          <a:ea typeface="メイリオ"/>
                          <a:cs typeface="メイリオ"/>
                        </a:rPr>
                        <a:t>やりたいこと、まだ決ま</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2"/>
                  </a:ext>
                </a:extLst>
              </a:tr>
              <a:tr h="450000">
                <a:tc>
                  <a:txBody>
                    <a:bodyPr/>
                    <a:lstStyle/>
                    <a:p>
                      <a:pPr algn="ctr"/>
                      <a:r>
                        <a:rPr sz="1100">
                          <a:solidFill>
                            <a:srgbClr val="1C2233"/>
                          </a:solidFill>
                          <a:latin typeface="メイリオ"/>
                          <a:ea typeface="メイリオ"/>
                          <a:cs typeface="メイリオ"/>
                        </a:rPr>
                        <a:t>3</a:t>
                      </a:r>
                    </a:p>
                  </a:txBody>
                  <a:tcPr anchor="ctr">
                    <a:solidFill>
                      <a:srgbClr val="FFFFFF"/>
                    </a:solidFill>
                  </a:tcPr>
                </a:tc>
                <a:tc>
                  <a:txBody>
                    <a:bodyPr/>
                    <a:lstStyle/>
                    <a:p>
                      <a:pPr algn="l"/>
                      <a:r>
                        <a:rPr sz="1100">
                          <a:solidFill>
                            <a:srgbClr val="1C2233"/>
                          </a:solidFill>
                          <a:latin typeface="メイリオ"/>
                          <a:ea typeface="メイリオ"/>
                          <a:cs typeface="メイリオ"/>
                        </a:rPr>
                        <a:t>全員</a:t>
                      </a:r>
                    </a:p>
                  </a:txBody>
                  <a:tcPr anchor="ctr">
                    <a:solidFill>
                      <a:srgbClr val="FFFFFF"/>
                    </a:solidFill>
                  </a:tcPr>
                </a:tc>
                <a:tc>
                  <a:txBody>
                    <a:bodyPr/>
                    <a:lstStyle/>
                    <a:p>
                      <a:pPr algn="l"/>
                      <a:r>
                        <a:rPr sz="1100">
                          <a:solidFill>
                            <a:srgbClr val="1C2233"/>
                          </a:solidFill>
                          <a:latin typeface="メイリオ"/>
                          <a:ea typeface="メイリオ"/>
                          <a:cs typeface="メイリオ"/>
                        </a:rPr>
                        <a:t>在学生インタビュー（高校時代の成績・迷い・いま）</a:t>
                      </a:r>
                    </a:p>
                  </a:txBody>
                  <a:tcPr anchor="ctr">
                    <a:solidFill>
                      <a:srgbClr val="FFFFFF"/>
                    </a:solidFill>
                  </a:tcPr>
                </a:tc>
                <a:tc>
                  <a:txBody>
                    <a:bodyPr/>
                    <a:lstStyle/>
                    <a:p>
                      <a:pPr algn="l"/>
                      <a:r>
                        <a:rPr sz="1100">
                          <a:solidFill>
                            <a:srgbClr val="1C2233"/>
                          </a:solidFill>
                          <a:latin typeface="メイリオ"/>
                          <a:ea typeface="メイリオ"/>
                          <a:cs typeface="メイリオ"/>
                        </a:rPr>
                        <a:t>高2の冬、模試D判定だ</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3"/>
                  </a:ext>
                </a:extLst>
              </a:tr>
              <a:tr h="450000">
                <a:tc>
                  <a:txBody>
                    <a:bodyPr/>
                    <a:lstStyle/>
                    <a:p>
                      <a:pPr algn="ctr"/>
                      <a:r>
                        <a:rPr sz="1100">
                          <a:solidFill>
                            <a:srgbClr val="1C2233"/>
                          </a:solidFill>
                          <a:latin typeface="メイリオ"/>
                          <a:ea typeface="メイリオ"/>
                          <a:cs typeface="メイリオ"/>
                        </a:rPr>
                        <a:t>6</a:t>
                      </a:r>
                    </a:p>
                  </a:txBody>
                  <a:tcPr anchor="ctr">
                    <a:solidFill>
                      <a:srgbClr val="F4F7FF"/>
                    </a:solidFill>
                  </a:tcPr>
                </a:tc>
                <a:tc>
                  <a:txBody>
                    <a:bodyPr/>
                    <a:lstStyle/>
                    <a:p>
                      <a:pPr algn="l"/>
                      <a:r>
                        <a:rPr sz="1100">
                          <a:solidFill>
                            <a:srgbClr val="1C2233"/>
                          </a:solidFill>
                          <a:latin typeface="メイリオ"/>
                          <a:ea typeface="メイリオ"/>
                          <a:cs typeface="メイリオ"/>
                        </a:rPr>
                        <a:t>全員</a:t>
                      </a:r>
                    </a:p>
                  </a:txBody>
                  <a:tcPr anchor="ctr">
                    <a:solidFill>
                      <a:srgbClr val="F4F7FF"/>
                    </a:solidFill>
                  </a:tcPr>
                </a:tc>
                <a:tc>
                  <a:txBody>
                    <a:bodyPr/>
                    <a:lstStyle/>
                    <a:p>
                      <a:pPr algn="l"/>
                      <a:r>
                        <a:rPr sz="1100">
                          <a:solidFill>
                            <a:srgbClr val="1C2233"/>
                          </a:solidFill>
                          <a:latin typeface="メイリオ"/>
                          <a:ea typeface="メイリオ"/>
                          <a:cs typeface="メイリオ"/>
                        </a:rPr>
                        <a:t>OCの日程と当日の流れ。1人参加OKを明記</a:t>
                      </a:r>
                    </a:p>
                  </a:txBody>
                  <a:tcPr anchor="ctr">
                    <a:solidFill>
                      <a:srgbClr val="F4F7FF"/>
                    </a:solidFill>
                  </a:tcPr>
                </a:tc>
                <a:tc>
                  <a:txBody>
                    <a:bodyPr/>
                    <a:lstStyle/>
                    <a:p>
                      <a:pPr algn="l"/>
                      <a:r>
                        <a:rPr sz="1100">
                          <a:solidFill>
                            <a:srgbClr val="1C2233"/>
                          </a:solidFill>
                          <a:latin typeface="メイリオ"/>
                          <a:ea typeface="メイリオ"/>
                          <a:cs typeface="メイリオ"/>
                        </a:rPr>
                        <a:t>オープンキャンパスの日程</a:t>
                      </a:r>
                    </a:p>
                  </a:txBody>
                  <a:tcPr anchor="ctr">
                    <a:solidFill>
                      <a:srgbClr val="F4F7FF"/>
                    </a:solidFill>
                  </a:tcPr>
                </a:tc>
                <a:tc>
                  <a:txBody>
                    <a:bodyPr/>
                    <a:lstStyle/>
                    <a:p>
                      <a:pPr algn="ctr"/>
                      <a:r>
                        <a:rPr sz="1100" b="1">
                          <a:solidFill>
                            <a:srgbClr val="ED7D31"/>
                          </a:solidFill>
                          <a:latin typeface="メイリオ"/>
                          <a:ea typeface="メイリオ"/>
                          <a:cs typeface="メイリオ"/>
                        </a:rPr>
                        <a:t>OC予約【CV②】</a:t>
                      </a:r>
                    </a:p>
                  </a:txBody>
                  <a:tcPr anchor="ctr">
                    <a:solidFill>
                      <a:srgbClr val="F4F7FF"/>
                    </a:solidFill>
                  </a:tcPr>
                </a:tc>
                <a:extLst>
                  <a:ext uri="{0D108BD9-81ED-4DB2-BD59-A6C34878D82A}">
                    <a16:rowId xmlns:a16="http://schemas.microsoft.com/office/drawing/2014/main" val="10004"/>
                  </a:ext>
                </a:extLst>
              </a:tr>
              <a:tr h="450000">
                <a:tc>
                  <a:txBody>
                    <a:bodyPr/>
                    <a:lstStyle/>
                    <a:p>
                      <a:pPr algn="ctr"/>
                      <a:r>
                        <a:rPr sz="1100">
                          <a:solidFill>
                            <a:srgbClr val="1C2233"/>
                          </a:solidFill>
                          <a:latin typeface="メイリオ"/>
                          <a:ea typeface="メイリオ"/>
                          <a:cs typeface="メイリオ"/>
                        </a:rPr>
                        <a:t>9</a:t>
                      </a:r>
                    </a:p>
                  </a:txBody>
                  <a:tcPr anchor="ctr">
                    <a:solidFill>
                      <a:srgbClr val="FFFFFF"/>
                    </a:solidFill>
                  </a:tcPr>
                </a:tc>
                <a:tc>
                  <a:txBody>
                    <a:bodyPr/>
                    <a:lstStyle/>
                    <a:p>
                      <a:pPr algn="l"/>
                      <a:r>
                        <a:rPr sz="1100">
                          <a:solidFill>
                            <a:srgbClr val="1C2233"/>
                          </a:solidFill>
                          <a:latin typeface="メイリオ"/>
                          <a:ea typeface="メイリオ"/>
                          <a:cs typeface="メイリオ"/>
                        </a:rPr>
                        <a:t>全員（保護者にも転送を明記）</a:t>
                      </a:r>
                    </a:p>
                  </a:txBody>
                  <a:tcPr anchor="ctr">
                    <a:solidFill>
                      <a:srgbClr val="FFFFFF"/>
                    </a:solidFill>
                  </a:tcPr>
                </a:tc>
                <a:tc>
                  <a:txBody>
                    <a:bodyPr/>
                    <a:lstStyle/>
                    <a:p>
                      <a:pPr algn="l"/>
                      <a:r>
                        <a:rPr sz="1100">
                          <a:solidFill>
                            <a:srgbClr val="1C2233"/>
                          </a:solidFill>
                          <a:latin typeface="メイリオ"/>
                          <a:ea typeface="メイリオ"/>
                          <a:cs typeface="メイリオ"/>
                        </a:rPr>
                        <a:t>4年間の学費と奨学金</a:t>
                      </a:r>
                    </a:p>
                  </a:txBody>
                  <a:tcPr anchor="ctr">
                    <a:solidFill>
                      <a:srgbClr val="FFFFFF"/>
                    </a:solidFill>
                  </a:tcPr>
                </a:tc>
                <a:tc>
                  <a:txBody>
                    <a:bodyPr/>
                    <a:lstStyle/>
                    <a:p>
                      <a:pPr algn="l"/>
                      <a:r>
                        <a:rPr sz="1100">
                          <a:solidFill>
                            <a:srgbClr val="1C2233"/>
                          </a:solidFill>
                          <a:latin typeface="メイリオ"/>
                          <a:ea typeface="メイリオ"/>
                          <a:cs typeface="メイリオ"/>
                        </a:rPr>
                        <a:t>4年間でいくらかかるの</a:t>
                      </a:r>
                    </a:p>
                  </a:txBody>
                  <a:tcPr anchor="ctr">
                    <a:solidFill>
                      <a:srgbClr val="FFFFFF"/>
                    </a:solidFill>
                  </a:tcPr>
                </a:tc>
                <a:tc>
                  <a:txBody>
                    <a:bodyPr/>
                    <a:lstStyle/>
                    <a:p>
                      <a:pPr algn="ctr"/>
                      <a:r>
                        <a:rPr sz="1100">
                          <a:solidFill>
                            <a:srgbClr val="1C2233"/>
                          </a:solidFill>
                          <a:latin typeface="メイリオ"/>
                          <a:ea typeface="メイリオ"/>
                          <a:cs typeface="メイリオ"/>
                        </a:rPr>
                        <a:t>―</a:t>
                      </a:r>
                    </a:p>
                  </a:txBody>
                  <a:tcPr anchor="ctr">
                    <a:solidFill>
                      <a:srgbClr val="FFFFFF"/>
                    </a:solidFill>
                  </a:tcPr>
                </a:tc>
                <a:extLst>
                  <a:ext uri="{0D108BD9-81ED-4DB2-BD59-A6C34878D82A}">
                    <a16:rowId xmlns:a16="http://schemas.microsoft.com/office/drawing/2014/main" val="10005"/>
                  </a:ext>
                </a:extLst>
              </a:tr>
              <a:tr h="450000">
                <a:tc>
                  <a:txBody>
                    <a:bodyPr/>
                    <a:lstStyle/>
                    <a:p>
                      <a:pPr algn="ctr"/>
                      <a:r>
                        <a:rPr sz="1100">
                          <a:solidFill>
                            <a:srgbClr val="1C2233"/>
                          </a:solidFill>
                          <a:latin typeface="メイリオ"/>
                          <a:ea typeface="メイリオ"/>
                          <a:cs typeface="メイリオ"/>
                        </a:rPr>
                        <a:t>11</a:t>
                      </a:r>
                    </a:p>
                  </a:txBody>
                  <a:tcPr anchor="ctr">
                    <a:solidFill>
                      <a:srgbClr val="F4F7FF"/>
                    </a:solidFill>
                  </a:tcPr>
                </a:tc>
                <a:tc>
                  <a:txBody>
                    <a:bodyPr/>
                    <a:lstStyle/>
                    <a:p>
                      <a:pPr algn="l"/>
                      <a:r>
                        <a:rPr sz="1100">
                          <a:solidFill>
                            <a:srgbClr val="1C2233"/>
                          </a:solidFill>
                          <a:latin typeface="メイリオ"/>
                          <a:ea typeface="メイリオ"/>
                          <a:cs typeface="メイリオ"/>
                        </a:rPr>
                        <a:t>全員</a:t>
                      </a:r>
                    </a:p>
                  </a:txBody>
                  <a:tcPr anchor="ctr">
                    <a:solidFill>
                      <a:srgbClr val="F4F7FF"/>
                    </a:solidFill>
                  </a:tcPr>
                </a:tc>
                <a:tc>
                  <a:txBody>
                    <a:bodyPr/>
                    <a:lstStyle/>
                    <a:p>
                      <a:pPr algn="l"/>
                      <a:r>
                        <a:rPr sz="1100">
                          <a:solidFill>
                            <a:srgbClr val="1C2233"/>
                          </a:solidFill>
                          <a:latin typeface="メイリオ"/>
                          <a:ea typeface="メイリオ"/>
                          <a:cs typeface="メイリオ"/>
                        </a:rPr>
                        <a:t>就職・進路データ（学部別の実績）</a:t>
                      </a:r>
                    </a:p>
                  </a:txBody>
                  <a:tcPr anchor="ctr">
                    <a:solidFill>
                      <a:srgbClr val="F4F7FF"/>
                    </a:solidFill>
                  </a:tcPr>
                </a:tc>
                <a:tc>
                  <a:txBody>
                    <a:bodyPr/>
                    <a:lstStyle/>
                    <a:p>
                      <a:pPr algn="l"/>
                      <a:r>
                        <a:rPr sz="1100">
                          <a:solidFill>
                            <a:srgbClr val="1C2233"/>
                          </a:solidFill>
                          <a:latin typeface="メイリオ"/>
                          <a:ea typeface="メイリオ"/>
                          <a:cs typeface="メイリオ"/>
                        </a:rPr>
                        <a:t>卒業生はどこに行ったの</a:t>
                      </a:r>
                    </a:p>
                  </a:txBody>
                  <a:tcPr anchor="ctr">
                    <a:solidFill>
                      <a:srgbClr val="F4F7FF"/>
                    </a:solidFill>
                  </a:tcPr>
                </a:tc>
                <a:tc>
                  <a:txBody>
                    <a:bodyPr/>
                    <a:lstStyle/>
                    <a:p>
                      <a:pPr algn="ctr"/>
                      <a:r>
                        <a:rPr sz="1100">
                          <a:solidFill>
                            <a:srgbClr val="1C2233"/>
                          </a:solidFill>
                          <a:latin typeface="メイリオ"/>
                          <a:ea typeface="メイリオ"/>
                          <a:cs typeface="メイリオ"/>
                        </a:rPr>
                        <a:t>―</a:t>
                      </a:r>
                    </a:p>
                  </a:txBody>
                  <a:tcPr anchor="ctr">
                    <a:solidFill>
                      <a:srgbClr val="F4F7FF"/>
                    </a:solidFill>
                  </a:tcPr>
                </a:tc>
                <a:extLst>
                  <a:ext uri="{0D108BD9-81ED-4DB2-BD59-A6C34878D82A}">
                    <a16:rowId xmlns:a16="http://schemas.microsoft.com/office/drawing/2014/main" val="10006"/>
                  </a:ext>
                </a:extLst>
              </a:tr>
              <a:tr h="450000">
                <a:tc>
                  <a:txBody>
                    <a:bodyPr/>
                    <a:lstStyle/>
                    <a:p>
                      <a:pPr algn="ctr"/>
                      <a:r>
                        <a:rPr sz="1100">
                          <a:solidFill>
                            <a:srgbClr val="1C2233"/>
                          </a:solidFill>
                          <a:latin typeface="メイリオ"/>
                          <a:ea typeface="メイリオ"/>
                          <a:cs typeface="メイリオ"/>
                        </a:rPr>
                        <a:t>14</a:t>
                      </a:r>
                    </a:p>
                  </a:txBody>
                  <a:tcPr anchor="ctr">
                    <a:solidFill>
                      <a:srgbClr val="FFFFFF"/>
                    </a:solidFill>
                  </a:tcPr>
                </a:tc>
                <a:tc>
                  <a:txBody>
                    <a:bodyPr/>
                    <a:lstStyle/>
                    <a:p>
                      <a:pPr algn="l"/>
                      <a:r>
                        <a:rPr sz="1100">
                          <a:solidFill>
                            <a:srgbClr val="1C2233"/>
                          </a:solidFill>
                          <a:latin typeface="メイリオ"/>
                          <a:ea typeface="メイリオ"/>
                          <a:cs typeface="メイリオ"/>
                        </a:rPr>
                        <a:t>未CV者</a:t>
                      </a:r>
                    </a:p>
                  </a:txBody>
                  <a:tcPr anchor="ctr">
                    <a:solidFill>
                      <a:srgbClr val="FFFFFF"/>
                    </a:solidFill>
                  </a:tcPr>
                </a:tc>
                <a:tc>
                  <a:txBody>
                    <a:bodyPr/>
                    <a:lstStyle/>
                    <a:p>
                      <a:pPr algn="l"/>
                      <a:r>
                        <a:rPr sz="1100">
                          <a:solidFill>
                            <a:srgbClr val="1C2233"/>
                          </a:solidFill>
                          <a:latin typeface="メイリオ"/>
                          <a:ea typeface="メイリオ"/>
                          <a:cs typeface="メイリオ"/>
                        </a:rPr>
                        <a:t>残席状況＋オンライン相談も選べる（出口を3つ）</a:t>
                      </a:r>
                    </a:p>
                  </a:txBody>
                  <a:tcPr anchor="ctr">
                    <a:solidFill>
                      <a:srgbClr val="FFFFFF"/>
                    </a:solidFill>
                  </a:tcPr>
                </a:tc>
                <a:tc>
                  <a:txBody>
                    <a:bodyPr/>
                    <a:lstStyle/>
                    <a:p>
                      <a:pPr algn="l"/>
                      <a:r>
                        <a:rPr sz="1100">
                          <a:solidFill>
                            <a:srgbClr val="1C2233"/>
                          </a:solidFill>
                          <a:latin typeface="メイリオ"/>
                          <a:ea typeface="メイリオ"/>
                          <a:cs typeface="メイリオ"/>
                        </a:rPr>
                        <a:t>8/3の残席が少なくなっ</a:t>
                      </a:r>
                    </a:p>
                  </a:txBody>
                  <a:tcPr anchor="ctr">
                    <a:solidFill>
                      <a:srgbClr val="FFFFFF"/>
                    </a:solidFill>
                  </a:tcPr>
                </a:tc>
                <a:tc>
                  <a:txBody>
                    <a:bodyPr/>
                    <a:lstStyle/>
                    <a:p>
                      <a:pPr algn="ctr"/>
                      <a:r>
                        <a:rPr sz="1100" b="1" dirty="0" err="1">
                          <a:solidFill>
                            <a:srgbClr val="ED7D31"/>
                          </a:solidFill>
                          <a:latin typeface="メイリオ"/>
                          <a:ea typeface="メイリオ"/>
                          <a:cs typeface="メイリオ"/>
                        </a:rPr>
                        <a:t>OC予約【CV</a:t>
                      </a:r>
                      <a:r>
                        <a:rPr sz="1100" b="1" dirty="0">
                          <a:solidFill>
                            <a:srgbClr val="ED7D31"/>
                          </a:solidFill>
                          <a:latin typeface="メイリオ"/>
                          <a:ea typeface="メイリオ"/>
                          <a:cs typeface="メイリオ"/>
                        </a:rPr>
                        <a:t>②】</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Rectangle 4"/>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CVオファーは2回置く（Day6・Day14）。1回で終わらせない。出口は3つ用意する。</a:t>
            </a:r>
          </a:p>
        </p:txBody>
      </p:sp>
      <p:sp>
        <p:nvSpPr>
          <p:cNvPr id="8" name="TextBox 7"/>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14日の根拠：①友だち追加から15日前後でアクティブ率が急落する　②起点KW検索の後15日で他校の指名検索が立つ（前後検索）。</a:t>
            </a:r>
          </a:p>
          <a:p>
            <a:pPr algn="l">
              <a:lnSpc>
                <a:spcPct val="120000"/>
              </a:lnSpc>
            </a:pPr>
            <a:r>
              <a:rPr sz="900">
                <a:solidFill>
                  <a:srgbClr val="646C82"/>
                </a:solidFill>
                <a:latin typeface="メイリオ"/>
                <a:ea typeface="メイリオ"/>
                <a:cs typeface="メイリオ"/>
              </a:rPr>
              <a:t>※ Day14の出口3つ＝①OCに行く　②オンラインで在学生に聞く（20分）　③学部診断をもう一度やる。行けない子を落とさないため。</a:t>
            </a:r>
          </a:p>
        </p:txBody>
      </p:sp>
    </p:spTree>
    <p:extLst>
      <p:ext uri="{BB962C8B-B14F-4D97-AF65-F5344CB8AC3E}">
        <p14:creationId xmlns:p14="http://schemas.microsoft.com/office/powerpoint/2010/main" val="1098718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ステップ配信｜入学後14日で「辞めない形」を作る（第2の提案軸）</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中退の予兆は行動に出る。履修登録の遅れ・ガイダンス欠席・配信への無反応。</a:t>
            </a:r>
          </a:p>
          <a:p>
            <a:pPr algn="l">
              <a:lnSpc>
                <a:spcPct val="122000"/>
              </a:lnSpc>
            </a:pPr>
            <a:r>
              <a:rPr sz="1500">
                <a:solidFill>
                  <a:srgbClr val="646C82"/>
                </a:solidFill>
                <a:latin typeface="メイリオ"/>
                <a:ea typeface="メイリオ"/>
                <a:cs typeface="メイリオ"/>
              </a:rPr>
              <a:t>募集で1人増やすのと、中退を1人止めるのは、経営上まったく同じ価値。</a:t>
            </a:r>
          </a:p>
        </p:txBody>
      </p:sp>
      <p:graphicFrame>
        <p:nvGraphicFramePr>
          <p:cNvPr id="4" name="Table 3"/>
          <p:cNvGraphicFramePr>
            <a:graphicFrameLocks noGrp="1"/>
          </p:cNvGraphicFramePr>
          <p:nvPr>
            <p:extLst>
              <p:ext uri="{D42A27DB-BD31-4B8C-83A1-F6EECF244321}">
                <p14:modId xmlns:p14="http://schemas.microsoft.com/office/powerpoint/2010/main" val="164876073"/>
              </p:ext>
            </p:extLst>
          </p:nvPr>
        </p:nvGraphicFramePr>
        <p:xfrm>
          <a:off x="396000" y="1224000"/>
          <a:ext cx="9144000" cy="2700000"/>
        </p:xfrm>
        <a:graphic>
          <a:graphicData uri="http://schemas.openxmlformats.org/drawingml/2006/table">
            <a:tbl>
              <a:tblPr firstRow="1" bandRow="1">
                <a:tableStyleId>{5C22544A-7EE6-4342-B048-85BDC9FD1C3A}</a:tableStyleId>
              </a:tblPr>
              <a:tblGrid>
                <a:gridCol w="1296000">
                  <a:extLst>
                    <a:ext uri="{9D8B030D-6E8A-4147-A177-3AD203B41FA5}">
                      <a16:colId xmlns:a16="http://schemas.microsoft.com/office/drawing/2014/main" val="20000"/>
                    </a:ext>
                  </a:extLst>
                </a:gridCol>
                <a:gridCol w="1944000">
                  <a:extLst>
                    <a:ext uri="{9D8B030D-6E8A-4147-A177-3AD203B41FA5}">
                      <a16:colId xmlns:a16="http://schemas.microsoft.com/office/drawing/2014/main" val="20001"/>
                    </a:ext>
                  </a:extLst>
                </a:gridCol>
                <a:gridCol w="3456000">
                  <a:extLst>
                    <a:ext uri="{9D8B030D-6E8A-4147-A177-3AD203B41FA5}">
                      <a16:colId xmlns:a16="http://schemas.microsoft.com/office/drawing/2014/main" val="20002"/>
                    </a:ext>
                  </a:extLst>
                </a:gridCol>
                <a:gridCol w="2448000">
                  <a:extLst>
                    <a:ext uri="{9D8B030D-6E8A-4147-A177-3AD203B41FA5}">
                      <a16:colId xmlns:a16="http://schemas.microsoft.com/office/drawing/2014/main" val="20003"/>
                    </a:ext>
                  </a:extLst>
                </a:gridCol>
              </a:tblGrid>
              <a:tr h="540000">
                <a:tc>
                  <a:txBody>
                    <a:bodyPr/>
                    <a:lstStyle/>
                    <a:p>
                      <a:pPr algn="ctr"/>
                      <a:r>
                        <a:rPr sz="1200" b="1">
                          <a:solidFill>
                            <a:srgbClr val="FFFFFF"/>
                          </a:solidFill>
                          <a:latin typeface="メイリオ"/>
                          <a:ea typeface="メイリオ"/>
                          <a:cs typeface="メイリオ"/>
                        </a:rPr>
                        <a:t>Day</a:t>
                      </a:r>
                    </a:p>
                  </a:txBody>
                  <a:tcPr anchor="ctr">
                    <a:solidFill>
                      <a:srgbClr val="1F285A"/>
                    </a:solidFill>
                  </a:tcPr>
                </a:tc>
                <a:tc>
                  <a:txBody>
                    <a:bodyPr/>
                    <a:lstStyle/>
                    <a:p>
                      <a:pPr algn="l"/>
                      <a:r>
                        <a:rPr sz="1200" b="1">
                          <a:solidFill>
                            <a:srgbClr val="FFFFFF"/>
                          </a:solidFill>
                          <a:latin typeface="メイリオ"/>
                          <a:ea typeface="メイリオ"/>
                          <a:cs typeface="メイリオ"/>
                        </a:rPr>
                        <a:t>対象</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tc>
                  <a:txBody>
                    <a:bodyPr/>
                    <a:lstStyle/>
                    <a:p>
                      <a:pPr algn="l"/>
                      <a:r>
                        <a:rPr sz="1200" b="1">
                          <a:solidFill>
                            <a:srgbClr val="FFFFFF"/>
                          </a:solidFill>
                          <a:latin typeface="メイリオ"/>
                          <a:ea typeface="メイリオ"/>
                          <a:cs typeface="メイリオ"/>
                        </a:rPr>
                        <a:t>狙い</a:t>
                      </a:r>
                    </a:p>
                  </a:txBody>
                  <a:tcPr anchor="ctr">
                    <a:solidFill>
                      <a:srgbClr val="1F285A"/>
                    </a:solidFill>
                  </a:tcPr>
                </a:tc>
                <a:extLst>
                  <a:ext uri="{0D108BD9-81ED-4DB2-BD59-A6C34878D82A}">
                    <a16:rowId xmlns:a16="http://schemas.microsoft.com/office/drawing/2014/main" val="10000"/>
                  </a:ext>
                </a:extLst>
              </a:tr>
              <a:tr h="540000">
                <a:tc>
                  <a:txBody>
                    <a:bodyPr/>
                    <a:lstStyle/>
                    <a:p>
                      <a:pPr algn="ctr"/>
                      <a:r>
                        <a:rPr sz="1100">
                          <a:solidFill>
                            <a:srgbClr val="1C2233"/>
                          </a:solidFill>
                          <a:latin typeface="メイリオ"/>
                          <a:ea typeface="メイリオ"/>
                          <a:cs typeface="メイリオ"/>
                        </a:rPr>
                        <a:t>0（入学手続後）</a:t>
                      </a:r>
                    </a:p>
                  </a:txBody>
                  <a:tcPr anchor="ctr">
                    <a:solidFill>
                      <a:srgbClr val="FFFFFF"/>
                    </a:solidFill>
                  </a:tcPr>
                </a:tc>
                <a:tc>
                  <a:txBody>
                    <a:bodyPr/>
                    <a:lstStyle/>
                    <a:p>
                      <a:pPr algn="l"/>
                      <a:r>
                        <a:rPr sz="1100">
                          <a:solidFill>
                            <a:srgbClr val="1C2233"/>
                          </a:solidFill>
                          <a:latin typeface="メイリオ"/>
                          <a:ea typeface="メイリオ"/>
                          <a:cs typeface="メイリオ"/>
                        </a:rPr>
                        <a:t>入学予定者</a:t>
                      </a:r>
                    </a:p>
                  </a:txBody>
                  <a:tcPr anchor="ctr">
                    <a:solidFill>
                      <a:srgbClr val="FFFFFF"/>
                    </a:solidFill>
                  </a:tcPr>
                </a:tc>
                <a:tc>
                  <a:txBody>
                    <a:bodyPr/>
                    <a:lstStyle/>
                    <a:p>
                      <a:pPr algn="l"/>
                      <a:r>
                        <a:rPr sz="1100">
                          <a:solidFill>
                            <a:srgbClr val="1C2233"/>
                          </a:solidFill>
                          <a:latin typeface="メイリオ"/>
                          <a:ea typeface="メイリオ"/>
                          <a:cs typeface="メイリオ"/>
                        </a:rPr>
                        <a:t>入学前オリエンテーション案内／同じ学部の先輩の1日</a:t>
                      </a:r>
                    </a:p>
                  </a:txBody>
                  <a:tcPr anchor="ctr">
                    <a:solidFill>
                      <a:srgbClr val="FFFFFF"/>
                    </a:solidFill>
                  </a:tcPr>
                </a:tc>
                <a:tc>
                  <a:txBody>
                    <a:bodyPr/>
                    <a:lstStyle/>
                    <a:p>
                      <a:pPr algn="l"/>
                      <a:r>
                        <a:rPr sz="1100">
                          <a:solidFill>
                            <a:srgbClr val="1C2233"/>
                          </a:solidFill>
                          <a:latin typeface="メイリオ"/>
                          <a:ea typeface="メイリオ"/>
                          <a:cs typeface="メイリオ"/>
                        </a:rPr>
                        <a:t>「ついていけるか」の不安を先に潰す</a:t>
                      </a:r>
                    </a:p>
                  </a:txBody>
                  <a:tcPr anchor="ctr">
                    <a:solidFill>
                      <a:srgbClr val="FFFFFF"/>
                    </a:solidFill>
                  </a:tcPr>
                </a:tc>
                <a:extLst>
                  <a:ext uri="{0D108BD9-81ED-4DB2-BD59-A6C34878D82A}">
                    <a16:rowId xmlns:a16="http://schemas.microsoft.com/office/drawing/2014/main" val="10001"/>
                  </a:ext>
                </a:extLst>
              </a:tr>
              <a:tr h="540000">
                <a:tc>
                  <a:txBody>
                    <a:bodyPr/>
                    <a:lstStyle/>
                    <a:p>
                      <a:pPr algn="ctr"/>
                      <a:r>
                        <a:rPr sz="1100">
                          <a:solidFill>
                            <a:srgbClr val="1C2233"/>
                          </a:solidFill>
                          <a:latin typeface="メイリオ"/>
                          <a:ea typeface="メイリオ"/>
                          <a:cs typeface="メイリオ"/>
                        </a:rPr>
                        <a:t>7</a:t>
                      </a:r>
                    </a:p>
                  </a:txBody>
                  <a:tcPr anchor="ctr">
                    <a:solidFill>
                      <a:srgbClr val="F4F7FF"/>
                    </a:solidFill>
                  </a:tcPr>
                </a:tc>
                <a:tc>
                  <a:txBody>
                    <a:bodyPr/>
                    <a:lstStyle/>
                    <a:p>
                      <a:pPr algn="l"/>
                      <a:r>
                        <a:rPr sz="1100">
                          <a:solidFill>
                            <a:srgbClr val="1C2233"/>
                          </a:solidFill>
                          <a:latin typeface="メイリオ"/>
                          <a:ea typeface="メイリオ"/>
                          <a:cs typeface="メイリオ"/>
                        </a:rPr>
                        <a:t>入学予定者</a:t>
                      </a:r>
                    </a:p>
                  </a:txBody>
                  <a:tcPr anchor="ctr">
                    <a:solidFill>
                      <a:srgbClr val="F4F7FF"/>
                    </a:solidFill>
                  </a:tcPr>
                </a:tc>
                <a:tc>
                  <a:txBody>
                    <a:bodyPr/>
                    <a:lstStyle/>
                    <a:p>
                      <a:pPr algn="l"/>
                      <a:r>
                        <a:rPr sz="1100">
                          <a:solidFill>
                            <a:srgbClr val="1C2233"/>
                          </a:solidFill>
                          <a:latin typeface="メイリオ"/>
                          <a:ea typeface="メイリオ"/>
                          <a:cs typeface="メイリオ"/>
                        </a:rPr>
                        <a:t>履修登録の仕方（3ステップ・つまずきやすい点つき）</a:t>
                      </a:r>
                    </a:p>
                  </a:txBody>
                  <a:tcPr anchor="ctr">
                    <a:solidFill>
                      <a:srgbClr val="F4F7FF"/>
                    </a:solidFill>
                  </a:tcPr>
                </a:tc>
                <a:tc>
                  <a:txBody>
                    <a:bodyPr/>
                    <a:lstStyle/>
                    <a:p>
                      <a:pPr algn="l"/>
                      <a:r>
                        <a:rPr sz="1100">
                          <a:solidFill>
                            <a:srgbClr val="1C2233"/>
                          </a:solidFill>
                          <a:latin typeface="メイリオ"/>
                          <a:ea typeface="メイリオ"/>
                          <a:cs typeface="メイリオ"/>
                        </a:rPr>
                        <a:t>履修登録の遅れ＝中退の第1予兆を防ぐ</a:t>
                      </a:r>
                    </a:p>
                  </a:txBody>
                  <a:tcPr anchor="ctr">
                    <a:solidFill>
                      <a:srgbClr val="F4F7FF"/>
                    </a:solidFill>
                  </a:tcPr>
                </a:tc>
                <a:extLst>
                  <a:ext uri="{0D108BD9-81ED-4DB2-BD59-A6C34878D82A}">
                    <a16:rowId xmlns:a16="http://schemas.microsoft.com/office/drawing/2014/main" val="10002"/>
                  </a:ext>
                </a:extLst>
              </a:tr>
              <a:tr h="540000">
                <a:tc>
                  <a:txBody>
                    <a:bodyPr/>
                    <a:lstStyle/>
                    <a:p>
                      <a:pPr algn="ctr"/>
                      <a:r>
                        <a:rPr sz="1100">
                          <a:solidFill>
                            <a:srgbClr val="1C2233"/>
                          </a:solidFill>
                          <a:latin typeface="メイリオ"/>
                          <a:ea typeface="メイリオ"/>
                          <a:cs typeface="メイリオ"/>
                        </a:rPr>
                        <a:t>14</a:t>
                      </a:r>
                    </a:p>
                  </a:txBody>
                  <a:tcPr anchor="ctr">
                    <a:solidFill>
                      <a:srgbClr val="FFFFFF"/>
                    </a:solidFill>
                  </a:tcPr>
                </a:tc>
                <a:tc>
                  <a:txBody>
                    <a:bodyPr/>
                    <a:lstStyle/>
                    <a:p>
                      <a:pPr algn="l"/>
                      <a:r>
                        <a:rPr sz="1100">
                          <a:solidFill>
                            <a:srgbClr val="1C2233"/>
                          </a:solidFill>
                          <a:latin typeface="メイリオ"/>
                          <a:ea typeface="メイリオ"/>
                          <a:cs typeface="メイリオ"/>
                        </a:rPr>
                        <a:t>入学予定者・保護者</a:t>
                      </a:r>
                    </a:p>
                  </a:txBody>
                  <a:tcPr anchor="ctr">
                    <a:solidFill>
                      <a:srgbClr val="FFFFFF"/>
                    </a:solidFill>
                  </a:tcPr>
                </a:tc>
                <a:tc>
                  <a:txBody>
                    <a:bodyPr/>
                    <a:lstStyle/>
                    <a:p>
                      <a:pPr algn="l"/>
                      <a:r>
                        <a:rPr sz="1100">
                          <a:solidFill>
                            <a:srgbClr val="1C2233"/>
                          </a:solidFill>
                          <a:latin typeface="メイリオ"/>
                          <a:ea typeface="メイリオ"/>
                          <a:cs typeface="メイリオ"/>
                        </a:rPr>
                        <a:t>一人暮らし準備／奨学金の手続き期限／学生相談窓口の案内</a:t>
                      </a:r>
                    </a:p>
                  </a:txBody>
                  <a:tcPr anchor="ctr">
                    <a:solidFill>
                      <a:srgbClr val="FFFFFF"/>
                    </a:solidFill>
                  </a:tcPr>
                </a:tc>
                <a:tc>
                  <a:txBody>
                    <a:bodyPr/>
                    <a:lstStyle/>
                    <a:p>
                      <a:pPr algn="l"/>
                      <a:r>
                        <a:rPr sz="1100">
                          <a:solidFill>
                            <a:srgbClr val="1C2233"/>
                          </a:solidFill>
                          <a:latin typeface="メイリオ"/>
                          <a:ea typeface="メイリオ"/>
                          <a:cs typeface="メイリオ"/>
                        </a:rPr>
                        <a:t>保護者の不安も同時に外す</a:t>
                      </a:r>
                    </a:p>
                  </a:txBody>
                  <a:tcPr anchor="ctr">
                    <a:solidFill>
                      <a:srgbClr val="FFFFFF"/>
                    </a:solidFill>
                  </a:tcPr>
                </a:tc>
                <a:extLst>
                  <a:ext uri="{0D108BD9-81ED-4DB2-BD59-A6C34878D82A}">
                    <a16:rowId xmlns:a16="http://schemas.microsoft.com/office/drawing/2014/main" val="10003"/>
                  </a:ext>
                </a:extLst>
              </a:tr>
              <a:tr h="540000">
                <a:tc>
                  <a:txBody>
                    <a:bodyPr/>
                    <a:lstStyle/>
                    <a:p>
                      <a:pPr algn="ctr"/>
                      <a:r>
                        <a:rPr sz="1100">
                          <a:solidFill>
                            <a:srgbClr val="1C2233"/>
                          </a:solidFill>
                          <a:latin typeface="メイリオ"/>
                          <a:ea typeface="メイリオ"/>
                          <a:cs typeface="メイリオ"/>
                        </a:rPr>
                        <a:t>以降・常時</a:t>
                      </a:r>
                    </a:p>
                  </a:txBody>
                  <a:tcPr anchor="ctr">
                    <a:solidFill>
                      <a:srgbClr val="F4F7FF"/>
                    </a:solidFill>
                  </a:tcPr>
                </a:tc>
                <a:tc>
                  <a:txBody>
                    <a:bodyPr/>
                    <a:lstStyle/>
                    <a:p>
                      <a:pPr algn="l"/>
                      <a:r>
                        <a:rPr sz="1100">
                          <a:solidFill>
                            <a:srgbClr val="1C2233"/>
                          </a:solidFill>
                          <a:latin typeface="メイリオ"/>
                          <a:ea typeface="メイリオ"/>
                          <a:cs typeface="メイリオ"/>
                        </a:rPr>
                        <a:t>在学生（無反応が続く層）</a:t>
                      </a:r>
                    </a:p>
                  </a:txBody>
                  <a:tcPr anchor="ctr">
                    <a:solidFill>
                      <a:srgbClr val="F4F7FF"/>
                    </a:solidFill>
                  </a:tcPr>
                </a:tc>
                <a:tc>
                  <a:txBody>
                    <a:bodyPr/>
                    <a:lstStyle/>
                    <a:p>
                      <a:pPr algn="l"/>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最近どう</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の自動声かけ</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学生相談へトスアップ</a:t>
                      </a:r>
                      <a:endParaRPr sz="1100" dirty="0">
                        <a:solidFill>
                          <a:srgbClr val="1C2233"/>
                        </a:solidFill>
                        <a:latin typeface="メイリオ"/>
                        <a:ea typeface="メイリオ"/>
                        <a:cs typeface="メイリオ"/>
                      </a:endParaRPr>
                    </a:p>
                  </a:txBody>
                  <a:tcPr anchor="ctr">
                    <a:solidFill>
                      <a:srgbClr val="F4F7FF"/>
                    </a:solidFill>
                  </a:tcPr>
                </a:tc>
                <a:tc>
                  <a:txBody>
                    <a:bodyPr/>
                    <a:lstStyle/>
                    <a:p>
                      <a:pPr algn="l"/>
                      <a:r>
                        <a:rPr sz="1100" dirty="0" err="1">
                          <a:solidFill>
                            <a:srgbClr val="1C2233"/>
                          </a:solidFill>
                          <a:latin typeface="メイリオ"/>
                          <a:ea typeface="メイリオ"/>
                          <a:cs typeface="メイリオ"/>
                        </a:rPr>
                        <a:t>離脱予兆検知</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幽霊化する前に止める</a:t>
                      </a:r>
                      <a:endParaRPr sz="1100" dirty="0">
                        <a:solidFill>
                          <a:srgbClr val="1C2233"/>
                        </a:solidFill>
                        <a:latin typeface="メイリオ"/>
                        <a:ea typeface="メイリオ"/>
                        <a:cs typeface="メイリオ"/>
                      </a:endParaRPr>
                    </a:p>
                  </a:txBody>
                  <a:tcPr anchor="ctr">
                    <a:solidFill>
                      <a:srgbClr val="F4F7FF"/>
                    </a:solidFill>
                  </a:tcPr>
                </a:tc>
                <a:extLst>
                  <a:ext uri="{0D108BD9-81ED-4DB2-BD59-A6C34878D82A}">
                    <a16:rowId xmlns:a16="http://schemas.microsoft.com/office/drawing/2014/main" val="10004"/>
                  </a:ext>
                </a:extLst>
              </a:tr>
            </a:tbl>
          </a:graphicData>
        </a:graphic>
      </p:graphicFrame>
      <p:sp>
        <p:nvSpPr>
          <p:cNvPr id="5" name="Rounded Rectangle 4"/>
          <p:cNvSpPr/>
          <p:nvPr/>
        </p:nvSpPr>
        <p:spPr>
          <a:xfrm>
            <a:off x="489000" y="3935208"/>
            <a:ext cx="4587000" cy="1584000"/>
          </a:xfrm>
          <a:prstGeom prst="roundRect">
            <a:avLst>
              <a:gd name="adj" fmla="val 6000"/>
            </a:avLst>
          </a:prstGeom>
          <a:solidFill>
            <a:srgbClr val="FDF2F2"/>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C00000"/>
                </a:solidFill>
                <a:latin typeface="メイリオ"/>
                <a:ea typeface="メイリオ"/>
                <a:cs typeface="メイリオ"/>
              </a:rPr>
              <a:t>中退1人の損失＝残存年数分の学費</a:t>
            </a:r>
          </a:p>
          <a:p>
            <a:pPr algn="l">
              <a:lnSpc>
                <a:spcPct val="120000"/>
              </a:lnSpc>
              <a:spcAft>
                <a:spcPts val="200"/>
              </a:spcAft>
            </a:pPr>
            <a:r>
              <a:rPr sz="1100" dirty="0">
                <a:solidFill>
                  <a:srgbClr val="1C2233"/>
                </a:solidFill>
                <a:latin typeface="メイリオ"/>
                <a:ea typeface="メイリオ"/>
                <a:cs typeface="メイリオ"/>
              </a:rPr>
              <a:t>大学の年間中退率は約2%。4年間では入学者の約8%</a:t>
            </a:r>
            <a:r>
              <a:rPr lang="en-US" sz="1100" dirty="0">
                <a:solidFill>
                  <a:srgbClr val="1C2233"/>
                </a:solidFill>
                <a:latin typeface="メイリオ"/>
                <a:ea typeface="メイリオ"/>
                <a:cs typeface="メイリオ"/>
              </a:rPr>
              <a:t>(</a:t>
            </a:r>
            <a:r>
              <a:rPr sz="1100" dirty="0">
                <a:solidFill>
                  <a:srgbClr val="1C2233"/>
                </a:solidFill>
                <a:latin typeface="メイリオ"/>
                <a:ea typeface="メイリオ"/>
                <a:cs typeface="メイリオ"/>
              </a:rPr>
              <a:t>12人に1人</a:t>
            </a:r>
            <a:r>
              <a:rPr lang="en-US" sz="1100" dirty="0">
                <a:solidFill>
                  <a:srgbClr val="1C2233"/>
                </a:solidFill>
                <a:latin typeface="メイリオ"/>
                <a:ea typeface="メイリオ"/>
                <a:cs typeface="メイリオ"/>
              </a:rPr>
              <a:t>)</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2年次で中退なら、残り2年分＝約200〜300万円が消える。</a:t>
            </a:r>
          </a:p>
          <a:p>
            <a:pPr algn="l">
              <a:lnSpc>
                <a:spcPct val="120000"/>
              </a:lnSpc>
              <a:spcAft>
                <a:spcPts val="200"/>
              </a:spcAft>
            </a:pPr>
            <a:r>
              <a:rPr sz="1100" dirty="0">
                <a:solidFill>
                  <a:srgbClr val="1C2233"/>
                </a:solidFill>
                <a:latin typeface="メイリオ"/>
                <a:ea typeface="メイリオ"/>
                <a:cs typeface="メイリオ"/>
              </a:rPr>
              <a:t>＝ 中退を1人止めることは、入学者を1人増やすのと同じ。</a:t>
            </a:r>
          </a:p>
        </p:txBody>
      </p:sp>
      <p:sp>
        <p:nvSpPr>
          <p:cNvPr id="6" name="Rounded Rectangle 5"/>
          <p:cNvSpPr/>
          <p:nvPr/>
        </p:nvSpPr>
        <p:spPr>
          <a:xfrm>
            <a:off x="5076000" y="3935208"/>
            <a:ext cx="4464000" cy="1584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同じアカウントで、入学後もそのまま使える</a:t>
            </a:r>
          </a:p>
          <a:p>
            <a:pPr algn="l">
              <a:lnSpc>
                <a:spcPct val="120000"/>
              </a:lnSpc>
              <a:spcAft>
                <a:spcPts val="200"/>
              </a:spcAft>
            </a:pPr>
            <a:r>
              <a:rPr sz="1100">
                <a:solidFill>
                  <a:srgbClr val="1C2233"/>
                </a:solidFill>
                <a:latin typeface="メイリオ"/>
                <a:ea typeface="メイリオ"/>
                <a:cs typeface="メイリオ"/>
              </a:rPr>
              <a:t>入学前教育／休講・災害時の一斉連絡／保護者向け通知／</a:t>
            </a:r>
          </a:p>
          <a:p>
            <a:pPr algn="l">
              <a:lnSpc>
                <a:spcPct val="120000"/>
              </a:lnSpc>
              <a:spcAft>
                <a:spcPts val="200"/>
              </a:spcAft>
            </a:pPr>
            <a:r>
              <a:rPr sz="1100">
                <a:solidFill>
                  <a:srgbClr val="1C2233"/>
                </a:solidFill>
                <a:latin typeface="メイリオ"/>
                <a:ea typeface="メイリオ"/>
                <a:cs typeface="メイリオ"/>
              </a:rPr>
              <a:t>就職支援／卒業生・寄付の案内まで1本で回せる。</a:t>
            </a:r>
          </a:p>
          <a:p>
            <a:pPr algn="l">
              <a:lnSpc>
                <a:spcPct val="120000"/>
              </a:lnSpc>
              <a:spcAft>
                <a:spcPts val="200"/>
              </a:spcAft>
            </a:pPr>
            <a:r>
              <a:rPr sz="1100">
                <a:solidFill>
                  <a:srgbClr val="1C2233"/>
                </a:solidFill>
                <a:latin typeface="メイリオ"/>
                <a:ea typeface="メイリオ"/>
                <a:cs typeface="メイリオ"/>
              </a:rPr>
              <a:t>※受験生向けと在学生向けは、タグで分離する設計にする。</a:t>
            </a:r>
          </a:p>
        </p:txBody>
      </p:sp>
      <p:sp>
        <p:nvSpPr>
          <p:cNvPr id="7" name="Rectangle 6"/>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入学前の14日でOC予約を取り、入学後の14日で「辞めない形」を作る。この2本で1セット。</a:t>
            </a:r>
          </a:p>
        </p:txBody>
      </p:sp>
      <p:sp>
        <p:nvSpPr>
          <p:cNvPr id="10" name="TextBox 9"/>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中退率は文部科学省の調査に基づく概数。【提出前に最新調査で原典照合すること】</a:t>
            </a:r>
          </a:p>
          <a:p>
            <a:pPr algn="l">
              <a:lnSpc>
                <a:spcPct val="120000"/>
              </a:lnSpc>
            </a:pPr>
            <a:r>
              <a:rPr sz="900">
                <a:solidFill>
                  <a:srgbClr val="646C82"/>
                </a:solidFill>
                <a:latin typeface="メイリオ"/>
                <a:ea typeface="メイリオ"/>
                <a:cs typeface="メイリオ"/>
              </a:rPr>
              <a:t>※ 中退率・在籍年数はLINE側では計測できない。貴学の学務システムの数値と突き合わせて効果を見る。</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リッチメニュー設計案｜3タブ × 6枠（18ボタン）</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「受験生」「OC・入試」「保護者」で、見せる画面を変える。</a:t>
            </a:r>
          </a:p>
          <a:p>
            <a:pPr algn="l">
              <a:lnSpc>
                <a:spcPct val="122000"/>
              </a:lnSpc>
            </a:pPr>
            <a:r>
              <a:rPr sz="1500">
                <a:solidFill>
                  <a:srgbClr val="646C82"/>
                </a:solidFill>
                <a:latin typeface="メイリオ"/>
                <a:ea typeface="メイリオ"/>
                <a:cs typeface="メイリオ"/>
              </a:rPr>
              <a:t>左上に置くのは資料請求ではない。まだ決めていない人が押せる場所。</a:t>
            </a:r>
          </a:p>
        </p:txBody>
      </p:sp>
      <p:graphicFrame>
        <p:nvGraphicFramePr>
          <p:cNvPr id="4" name="Table 3"/>
          <p:cNvGraphicFramePr>
            <a:graphicFrameLocks noGrp="1"/>
          </p:cNvGraphicFramePr>
          <p:nvPr/>
        </p:nvGraphicFramePr>
        <p:xfrm>
          <a:off x="396000" y="1224000"/>
          <a:ext cx="9144000" cy="3654000"/>
        </p:xfrm>
        <a:graphic>
          <a:graphicData uri="http://schemas.openxmlformats.org/drawingml/2006/table">
            <a:tbl>
              <a:tblPr firstRow="1" bandRow="1">
                <a:tableStyleId>{5C22544A-7EE6-4342-B048-85BDC9FD1C3A}</a:tableStyleId>
              </a:tblPr>
              <a:tblGrid>
                <a:gridCol w="1440000">
                  <a:extLst>
                    <a:ext uri="{9D8B030D-6E8A-4147-A177-3AD203B41FA5}">
                      <a16:colId xmlns:a16="http://schemas.microsoft.com/office/drawing/2014/main" val="20000"/>
                    </a:ext>
                  </a:extLst>
                </a:gridCol>
                <a:gridCol w="2592000">
                  <a:extLst>
                    <a:ext uri="{9D8B030D-6E8A-4147-A177-3AD203B41FA5}">
                      <a16:colId xmlns:a16="http://schemas.microsoft.com/office/drawing/2014/main" val="20001"/>
                    </a:ext>
                  </a:extLst>
                </a:gridCol>
                <a:gridCol w="2592000">
                  <a:extLst>
                    <a:ext uri="{9D8B030D-6E8A-4147-A177-3AD203B41FA5}">
                      <a16:colId xmlns:a16="http://schemas.microsoft.com/office/drawing/2014/main" val="20002"/>
                    </a:ext>
                  </a:extLst>
                </a:gridCol>
                <a:gridCol w="2520000">
                  <a:extLst>
                    <a:ext uri="{9D8B030D-6E8A-4147-A177-3AD203B41FA5}">
                      <a16:colId xmlns:a16="http://schemas.microsoft.com/office/drawing/2014/main" val="20003"/>
                    </a:ext>
                  </a:extLst>
                </a:gridCol>
              </a:tblGrid>
              <a:tr h="522000">
                <a:tc>
                  <a:txBody>
                    <a:bodyPr/>
                    <a:lstStyle/>
                    <a:p>
                      <a:pPr algn="ctr"/>
                      <a:r>
                        <a:rPr sz="1200" b="1">
                          <a:solidFill>
                            <a:srgbClr val="FFFFFF"/>
                          </a:solidFill>
                          <a:latin typeface="メイリオ"/>
                          <a:ea typeface="メイリオ"/>
                          <a:cs typeface="メイリオ"/>
                        </a:rPr>
                        <a:t>位置</a:t>
                      </a:r>
                    </a:p>
                  </a:txBody>
                  <a:tcPr anchor="ctr">
                    <a:solidFill>
                      <a:srgbClr val="1F285A"/>
                    </a:solidFill>
                  </a:tcPr>
                </a:tc>
                <a:tc>
                  <a:txBody>
                    <a:bodyPr/>
                    <a:lstStyle/>
                    <a:p>
                      <a:pPr algn="l"/>
                      <a:r>
                        <a:rPr sz="1200" b="1">
                          <a:solidFill>
                            <a:srgbClr val="FFFFFF"/>
                          </a:solidFill>
                          <a:latin typeface="メイリオ"/>
                          <a:ea typeface="メイリオ"/>
                          <a:cs typeface="メイリオ"/>
                        </a:rPr>
                        <a:t>① 受験生・はじめての方</a:t>
                      </a:r>
                    </a:p>
                  </a:txBody>
                  <a:tcPr anchor="ctr">
                    <a:solidFill>
                      <a:srgbClr val="1F285A"/>
                    </a:solidFill>
                  </a:tcPr>
                </a:tc>
                <a:tc>
                  <a:txBody>
                    <a:bodyPr/>
                    <a:lstStyle/>
                    <a:p>
                      <a:pPr algn="l"/>
                      <a:r>
                        <a:rPr sz="1200" b="1">
                          <a:solidFill>
                            <a:srgbClr val="FFFFFF"/>
                          </a:solidFill>
                          <a:latin typeface="メイリオ"/>
                          <a:ea typeface="メイリオ"/>
                          <a:cs typeface="メイリオ"/>
                        </a:rPr>
                        <a:t>② オープンキャンパス・入試</a:t>
                      </a:r>
                    </a:p>
                  </a:txBody>
                  <a:tcPr anchor="ctr">
                    <a:solidFill>
                      <a:srgbClr val="1F285A"/>
                    </a:solidFill>
                  </a:tcPr>
                </a:tc>
                <a:tc>
                  <a:txBody>
                    <a:bodyPr/>
                    <a:lstStyle/>
                    <a:p>
                      <a:pPr algn="l"/>
                      <a:r>
                        <a:rPr sz="1200" b="1">
                          <a:solidFill>
                            <a:srgbClr val="FFFFFF"/>
                          </a:solidFill>
                          <a:latin typeface="メイリオ"/>
                          <a:ea typeface="メイリオ"/>
                          <a:cs typeface="メイリオ"/>
                        </a:rPr>
                        <a:t>③ 保護者の方へ</a:t>
                      </a:r>
                    </a:p>
                  </a:txBody>
                  <a:tcPr anchor="ctr">
                    <a:solidFill>
                      <a:srgbClr val="1F285A"/>
                    </a:solidFill>
                  </a:tcPr>
                </a:tc>
                <a:extLst>
                  <a:ext uri="{0D108BD9-81ED-4DB2-BD59-A6C34878D82A}">
                    <a16:rowId xmlns:a16="http://schemas.microsoft.com/office/drawing/2014/main" val="10000"/>
                  </a:ext>
                </a:extLst>
              </a:tr>
              <a:tr h="522000">
                <a:tc>
                  <a:txBody>
                    <a:bodyPr/>
                    <a:lstStyle/>
                    <a:p>
                      <a:pPr algn="ctr"/>
                      <a:r>
                        <a:rPr sz="1100">
                          <a:solidFill>
                            <a:srgbClr val="1C2233"/>
                          </a:solidFill>
                          <a:latin typeface="メイリオ"/>
                          <a:ea typeface="メイリオ"/>
                          <a:cs typeface="メイリオ"/>
                        </a:rPr>
                        <a:t>左上（最重要）</a:t>
                      </a:r>
                    </a:p>
                  </a:txBody>
                  <a:tcPr anchor="ctr">
                    <a:solidFill>
                      <a:srgbClr val="FFFFFF"/>
                    </a:solidFill>
                  </a:tcPr>
                </a:tc>
                <a:tc>
                  <a:txBody>
                    <a:bodyPr/>
                    <a:lstStyle/>
                    <a:p>
                      <a:pPr algn="l"/>
                      <a:r>
                        <a:rPr sz="1100" b="1">
                          <a:solidFill>
                            <a:srgbClr val="ED7D31"/>
                          </a:solidFill>
                          <a:latin typeface="メイリオ"/>
                          <a:ea typeface="メイリオ"/>
                          <a:cs typeface="メイリオ"/>
                        </a:rPr>
                        <a:t>30秒 学部学科診断</a:t>
                      </a:r>
                    </a:p>
                  </a:txBody>
                  <a:tcPr anchor="ctr">
                    <a:solidFill>
                      <a:srgbClr val="FFFFFF"/>
                    </a:solidFill>
                  </a:tcPr>
                </a:tc>
                <a:tc>
                  <a:txBody>
                    <a:bodyPr/>
                    <a:lstStyle/>
                    <a:p>
                      <a:pPr algn="l"/>
                      <a:r>
                        <a:rPr sz="1100" b="1">
                          <a:solidFill>
                            <a:srgbClr val="ED7D31"/>
                          </a:solidFill>
                          <a:latin typeface="メイリオ"/>
                          <a:ea typeface="メイリオ"/>
                          <a:cs typeface="メイリオ"/>
                        </a:rPr>
                        <a:t>次回OCの日程・予約</a:t>
                      </a:r>
                    </a:p>
                  </a:txBody>
                  <a:tcPr anchor="ctr">
                    <a:solidFill>
                      <a:srgbClr val="FFFFFF"/>
                    </a:solidFill>
                  </a:tcPr>
                </a:tc>
                <a:tc>
                  <a:txBody>
                    <a:bodyPr/>
                    <a:lstStyle/>
                    <a:p>
                      <a:pPr algn="l"/>
                      <a:r>
                        <a:rPr sz="1100" b="1">
                          <a:solidFill>
                            <a:srgbClr val="ED7D31"/>
                          </a:solidFill>
                          <a:latin typeface="メイリオ"/>
                          <a:ea typeface="メイリオ"/>
                          <a:cs typeface="メイリオ"/>
                        </a:rPr>
                        <a:t>4年間の学費シミュレーション</a:t>
                      </a:r>
                    </a:p>
                  </a:txBody>
                  <a:tcPr anchor="ctr">
                    <a:solidFill>
                      <a:srgbClr val="FFFFFF"/>
                    </a:solidFill>
                  </a:tcPr>
                </a:tc>
                <a:extLst>
                  <a:ext uri="{0D108BD9-81ED-4DB2-BD59-A6C34878D82A}">
                    <a16:rowId xmlns:a16="http://schemas.microsoft.com/office/drawing/2014/main" val="10001"/>
                  </a:ext>
                </a:extLst>
              </a:tr>
              <a:tr h="522000">
                <a:tc>
                  <a:txBody>
                    <a:bodyPr/>
                    <a:lstStyle/>
                    <a:p>
                      <a:pPr algn="ctr"/>
                      <a:r>
                        <a:rPr sz="1100">
                          <a:solidFill>
                            <a:srgbClr val="1C2233"/>
                          </a:solidFill>
                          <a:latin typeface="メイリオ"/>
                          <a:ea typeface="メイリオ"/>
                          <a:cs typeface="メイリオ"/>
                        </a:rPr>
                        <a:t>右上</a:t>
                      </a:r>
                    </a:p>
                  </a:txBody>
                  <a:tcPr anchor="ctr">
                    <a:solidFill>
                      <a:srgbClr val="F4F7FF"/>
                    </a:solidFill>
                  </a:tcPr>
                </a:tc>
                <a:tc>
                  <a:txBody>
                    <a:bodyPr/>
                    <a:lstStyle/>
                    <a:p>
                      <a:pPr algn="l"/>
                      <a:r>
                        <a:rPr sz="1100">
                          <a:solidFill>
                            <a:srgbClr val="1C2233"/>
                          </a:solidFill>
                          <a:latin typeface="メイリオ"/>
                          <a:ea typeface="メイリオ"/>
                          <a:cs typeface="メイリオ"/>
                        </a:rPr>
                        <a:t>オープンキャンパス予約</a:t>
                      </a:r>
                    </a:p>
                  </a:txBody>
                  <a:tcPr anchor="ctr">
                    <a:solidFill>
                      <a:srgbClr val="F4F7FF"/>
                    </a:solidFill>
                  </a:tcPr>
                </a:tc>
                <a:tc>
                  <a:txBody>
                    <a:bodyPr/>
                    <a:lstStyle/>
                    <a:p>
                      <a:pPr algn="l"/>
                      <a:r>
                        <a:rPr sz="1100">
                          <a:solidFill>
                            <a:srgbClr val="1C2233"/>
                          </a:solidFill>
                          <a:latin typeface="メイリオ"/>
                          <a:ea typeface="メイリオ"/>
                          <a:cs typeface="メイリオ"/>
                        </a:rPr>
                        <a:t>当日の流れ・持ち物</a:t>
                      </a:r>
                    </a:p>
                  </a:txBody>
                  <a:tcPr anchor="ctr">
                    <a:solidFill>
                      <a:srgbClr val="F4F7FF"/>
                    </a:solidFill>
                  </a:tcPr>
                </a:tc>
                <a:tc>
                  <a:txBody>
                    <a:bodyPr/>
                    <a:lstStyle/>
                    <a:p>
                      <a:pPr algn="l"/>
                      <a:r>
                        <a:rPr sz="1100">
                          <a:solidFill>
                            <a:srgbClr val="1C2233"/>
                          </a:solidFill>
                          <a:latin typeface="メイリオ"/>
                          <a:ea typeface="メイリオ"/>
                          <a:cs typeface="メイリオ"/>
                        </a:rPr>
                        <a:t>奨学金・学費支援制度</a:t>
                      </a:r>
                    </a:p>
                  </a:txBody>
                  <a:tcPr anchor="ctr">
                    <a:solidFill>
                      <a:srgbClr val="F4F7FF"/>
                    </a:solidFill>
                  </a:tcPr>
                </a:tc>
                <a:extLst>
                  <a:ext uri="{0D108BD9-81ED-4DB2-BD59-A6C34878D82A}">
                    <a16:rowId xmlns:a16="http://schemas.microsoft.com/office/drawing/2014/main" val="10002"/>
                  </a:ext>
                </a:extLst>
              </a:tr>
              <a:tr h="522000">
                <a:tc>
                  <a:txBody>
                    <a:bodyPr/>
                    <a:lstStyle/>
                    <a:p>
                      <a:pPr algn="ctr"/>
                      <a:r>
                        <a:rPr sz="1100">
                          <a:solidFill>
                            <a:srgbClr val="1C2233"/>
                          </a:solidFill>
                          <a:latin typeface="メイリオ"/>
                          <a:ea typeface="メイリオ"/>
                          <a:cs typeface="メイリオ"/>
                        </a:rPr>
                        <a:t>左中</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学部・学科を見る</a:t>
                      </a:r>
                    </a:p>
                  </a:txBody>
                  <a:tcPr anchor="ctr">
                    <a:solidFill>
                      <a:srgbClr val="FFFFFF"/>
                    </a:solidFill>
                  </a:tcPr>
                </a:tc>
                <a:tc>
                  <a:txBody>
                    <a:bodyPr/>
                    <a:lstStyle/>
                    <a:p>
                      <a:pPr algn="l"/>
                      <a:r>
                        <a:rPr sz="1100">
                          <a:solidFill>
                            <a:srgbClr val="1C2233"/>
                          </a:solidFill>
                          <a:latin typeface="メイリオ"/>
                          <a:ea typeface="メイリオ"/>
                          <a:cs typeface="メイリオ"/>
                        </a:rPr>
                        <a:t>アクセス・キャンパスマップ</a:t>
                      </a:r>
                    </a:p>
                  </a:txBody>
                  <a:tcPr anchor="ctr">
                    <a:solidFill>
                      <a:srgbClr val="FFFFFF"/>
                    </a:solidFill>
                  </a:tcPr>
                </a:tc>
                <a:tc>
                  <a:txBody>
                    <a:bodyPr/>
                    <a:lstStyle/>
                    <a:p>
                      <a:pPr algn="l"/>
                      <a:r>
                        <a:rPr sz="1100">
                          <a:solidFill>
                            <a:srgbClr val="1C2233"/>
                          </a:solidFill>
                          <a:latin typeface="メイリオ"/>
                          <a:ea typeface="メイリオ"/>
                          <a:cs typeface="メイリオ"/>
                        </a:rPr>
                        <a:t>就職実績・進路データ</a:t>
                      </a:r>
                    </a:p>
                  </a:txBody>
                  <a:tcPr anchor="ctr">
                    <a:solidFill>
                      <a:srgbClr val="FFFFFF"/>
                    </a:solidFill>
                  </a:tcPr>
                </a:tc>
                <a:extLst>
                  <a:ext uri="{0D108BD9-81ED-4DB2-BD59-A6C34878D82A}">
                    <a16:rowId xmlns:a16="http://schemas.microsoft.com/office/drawing/2014/main" val="10003"/>
                  </a:ext>
                </a:extLst>
              </a:tr>
              <a:tr h="522000">
                <a:tc>
                  <a:txBody>
                    <a:bodyPr/>
                    <a:lstStyle/>
                    <a:p>
                      <a:pPr algn="ctr"/>
                      <a:r>
                        <a:rPr sz="1100">
                          <a:solidFill>
                            <a:srgbClr val="1C2233"/>
                          </a:solidFill>
                          <a:latin typeface="メイリオ"/>
                          <a:ea typeface="メイリオ"/>
                          <a:cs typeface="メイリオ"/>
                        </a:rPr>
                        <a:t>右中</a:t>
                      </a:r>
                    </a:p>
                  </a:txBody>
                  <a:tcPr anchor="ctr">
                    <a:solidFill>
                      <a:srgbClr val="F4F7FF"/>
                    </a:solidFill>
                  </a:tcPr>
                </a:tc>
                <a:tc>
                  <a:txBody>
                    <a:bodyPr/>
                    <a:lstStyle/>
                    <a:p>
                      <a:pPr algn="l"/>
                      <a:r>
                        <a:rPr sz="1100">
                          <a:solidFill>
                            <a:srgbClr val="1C2233"/>
                          </a:solidFill>
                          <a:latin typeface="メイリオ"/>
                          <a:ea typeface="メイリオ"/>
                          <a:cs typeface="メイリオ"/>
                        </a:rPr>
                        <a:t>資料（デジタルパンフ）をもらう</a:t>
                      </a:r>
                    </a:p>
                  </a:txBody>
                  <a:tcPr anchor="ctr">
                    <a:solidFill>
                      <a:srgbClr val="F4F7FF"/>
                    </a:solidFill>
                  </a:tcPr>
                </a:tc>
                <a:tc>
                  <a:txBody>
                    <a:bodyPr/>
                    <a:lstStyle/>
                    <a:p>
                      <a:pPr algn="l"/>
                      <a:r>
                        <a:rPr sz="1100">
                          <a:solidFill>
                            <a:srgbClr val="1C2233"/>
                          </a:solidFill>
                          <a:latin typeface="メイリオ"/>
                          <a:ea typeface="メイリオ"/>
                          <a:cs typeface="メイリオ"/>
                        </a:rPr>
                        <a:t>入試方式を調べる</a:t>
                      </a:r>
                    </a:p>
                  </a:txBody>
                  <a:tcPr anchor="ctr">
                    <a:solidFill>
                      <a:srgbClr val="F4F7FF"/>
                    </a:solidFill>
                  </a:tcPr>
                </a:tc>
                <a:tc>
                  <a:txBody>
                    <a:bodyPr/>
                    <a:lstStyle/>
                    <a:p>
                      <a:pPr algn="l"/>
                      <a:r>
                        <a:rPr sz="1100">
                          <a:solidFill>
                            <a:srgbClr val="1C2233"/>
                          </a:solidFill>
                          <a:latin typeface="メイリオ"/>
                          <a:ea typeface="メイリオ"/>
                          <a:cs typeface="メイリオ"/>
                        </a:rPr>
                        <a:t>保護者向け説明会</a:t>
                      </a:r>
                    </a:p>
                  </a:txBody>
                  <a:tcPr anchor="ctr">
                    <a:solidFill>
                      <a:srgbClr val="F4F7FF"/>
                    </a:solidFill>
                  </a:tcPr>
                </a:tc>
                <a:extLst>
                  <a:ext uri="{0D108BD9-81ED-4DB2-BD59-A6C34878D82A}">
                    <a16:rowId xmlns:a16="http://schemas.microsoft.com/office/drawing/2014/main" val="10004"/>
                  </a:ext>
                </a:extLst>
              </a:tr>
              <a:tr h="522000">
                <a:tc>
                  <a:txBody>
                    <a:bodyPr/>
                    <a:lstStyle/>
                    <a:p>
                      <a:pPr algn="ctr"/>
                      <a:r>
                        <a:rPr sz="1100">
                          <a:solidFill>
                            <a:srgbClr val="1C2233"/>
                          </a:solidFill>
                          <a:latin typeface="メイリオ"/>
                          <a:ea typeface="メイリオ"/>
                          <a:cs typeface="メイリオ"/>
                        </a:rPr>
                        <a:t>左下</a:t>
                      </a:r>
                    </a:p>
                  </a:txBody>
                  <a:tcPr anchor="ctr">
                    <a:solidFill>
                      <a:srgbClr val="FFFFFF"/>
                    </a:solidFill>
                  </a:tcPr>
                </a:tc>
                <a:tc>
                  <a:txBody>
                    <a:bodyPr/>
                    <a:lstStyle/>
                    <a:p>
                      <a:pPr algn="l"/>
                      <a:r>
                        <a:rPr sz="1100">
                          <a:solidFill>
                            <a:srgbClr val="1C2233"/>
                          </a:solidFill>
                          <a:latin typeface="メイリオ"/>
                          <a:ea typeface="メイリオ"/>
                          <a:cs typeface="メイリオ"/>
                        </a:rPr>
                        <a:t>まだ決まっていない人へ</a:t>
                      </a:r>
                    </a:p>
                  </a:txBody>
                  <a:tcPr anchor="ctr">
                    <a:solidFill>
                      <a:srgbClr val="FFFFFF"/>
                    </a:solidFill>
                  </a:tcPr>
                </a:tc>
                <a:tc>
                  <a:txBody>
                    <a:bodyPr/>
                    <a:lstStyle/>
                    <a:p>
                      <a:pPr algn="l"/>
                      <a:r>
                        <a:rPr sz="1100">
                          <a:solidFill>
                            <a:srgbClr val="1C2233"/>
                          </a:solidFill>
                          <a:latin typeface="メイリオ"/>
                          <a:ea typeface="メイリオ"/>
                          <a:cs typeface="メイリオ"/>
                        </a:rPr>
                        <a:t>出願スケジュール</a:t>
                      </a:r>
                    </a:p>
                  </a:txBody>
                  <a:tcPr anchor="ctr">
                    <a:solidFill>
                      <a:srgbClr val="FFFFFF"/>
                    </a:solidFill>
                  </a:tcPr>
                </a:tc>
                <a:tc>
                  <a:txBody>
                    <a:bodyPr/>
                    <a:lstStyle/>
                    <a:p>
                      <a:pPr algn="l"/>
                      <a:r>
                        <a:rPr sz="1100">
                          <a:solidFill>
                            <a:srgbClr val="1C2233"/>
                          </a:solidFill>
                          <a:latin typeface="メイリオ"/>
                          <a:ea typeface="メイリオ"/>
                          <a:cs typeface="メイリオ"/>
                        </a:rPr>
                        <a:t>一人暮らしの費用の目安</a:t>
                      </a:r>
                    </a:p>
                  </a:txBody>
                  <a:tcPr anchor="ctr">
                    <a:solidFill>
                      <a:srgbClr val="FFFFFF"/>
                    </a:solidFill>
                  </a:tcPr>
                </a:tc>
                <a:extLst>
                  <a:ext uri="{0D108BD9-81ED-4DB2-BD59-A6C34878D82A}">
                    <a16:rowId xmlns:a16="http://schemas.microsoft.com/office/drawing/2014/main" val="10005"/>
                  </a:ext>
                </a:extLst>
              </a:tr>
              <a:tr h="522000">
                <a:tc>
                  <a:txBody>
                    <a:bodyPr/>
                    <a:lstStyle/>
                    <a:p>
                      <a:pPr algn="ctr"/>
                      <a:r>
                        <a:rPr sz="1100">
                          <a:solidFill>
                            <a:srgbClr val="1C2233"/>
                          </a:solidFill>
                          <a:latin typeface="メイリオ"/>
                          <a:ea typeface="メイリオ"/>
                          <a:cs typeface="メイリオ"/>
                        </a:rPr>
                        <a:t>右下</a:t>
                      </a:r>
                    </a:p>
                  </a:txBody>
                  <a:tcPr anchor="ctr">
                    <a:solidFill>
                      <a:srgbClr val="F4F7FF"/>
                    </a:solidFill>
                  </a:tcPr>
                </a:tc>
                <a:tc>
                  <a:txBody>
                    <a:bodyPr/>
                    <a:lstStyle/>
                    <a:p>
                      <a:pPr algn="l"/>
                      <a:r>
                        <a:rPr sz="1100">
                          <a:solidFill>
                            <a:srgbClr val="1C2233"/>
                          </a:solidFill>
                          <a:latin typeface="メイリオ"/>
                          <a:ea typeface="メイリオ"/>
                          <a:cs typeface="メイリオ"/>
                        </a:rPr>
                        <a:t>在学生に質問する</a:t>
                      </a:r>
                    </a:p>
                  </a:txBody>
                  <a:tcPr anchor="ctr">
                    <a:solidFill>
                      <a:srgbClr val="F4F7FF"/>
                    </a:solidFill>
                  </a:tcPr>
                </a:tc>
                <a:tc>
                  <a:txBody>
                    <a:bodyPr/>
                    <a:lstStyle/>
                    <a:p>
                      <a:pPr algn="l"/>
                      <a:r>
                        <a:rPr sz="1100">
                          <a:solidFill>
                            <a:srgbClr val="1C2233"/>
                          </a:solidFill>
                          <a:latin typeface="メイリオ"/>
                          <a:ea typeface="メイリオ"/>
                          <a:cs typeface="メイリオ"/>
                        </a:rPr>
                        <a:t>過去問・入試説明会</a:t>
                      </a:r>
                    </a:p>
                  </a:txBody>
                  <a:tcPr anchor="ctr">
                    <a:solidFill>
                      <a:srgbClr val="F4F7FF"/>
                    </a:solidFill>
                  </a:tcPr>
                </a:tc>
                <a:tc>
                  <a:txBody>
                    <a:bodyPr/>
                    <a:lstStyle/>
                    <a:p>
                      <a:pPr algn="l"/>
                      <a:r>
                        <a:rPr sz="1100">
                          <a:solidFill>
                            <a:srgbClr val="1C2233"/>
                          </a:solidFill>
                          <a:latin typeface="メイリオ"/>
                          <a:ea typeface="メイリオ"/>
                          <a:cs typeface="メイリオ"/>
                        </a:rPr>
                        <a:t>個別相談を申し込む</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Rounded Rectangle 4"/>
          <p:cNvSpPr/>
          <p:nvPr/>
        </p:nvSpPr>
        <p:spPr>
          <a:xfrm>
            <a:off x="396000" y="4824000"/>
            <a:ext cx="2951999" cy="118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決めていない子の逃げ道を2つ</a:t>
            </a:r>
          </a:p>
          <a:p>
            <a:pPr algn="l">
              <a:lnSpc>
                <a:spcPct val="120000"/>
              </a:lnSpc>
              <a:spcAft>
                <a:spcPts val="200"/>
              </a:spcAft>
            </a:pPr>
            <a:r>
              <a:rPr sz="1100">
                <a:solidFill>
                  <a:srgbClr val="1C2233"/>
                </a:solidFill>
                <a:latin typeface="メイリオ"/>
                <a:ea typeface="メイリオ"/>
                <a:cs typeface="メイリオ"/>
              </a:rPr>
              <a:t>「30秒 学部学科診断」と「まだ決まっていない人へ」。</a:t>
            </a:r>
          </a:p>
          <a:p>
            <a:pPr algn="l">
              <a:lnSpc>
                <a:spcPct val="120000"/>
              </a:lnSpc>
              <a:spcAft>
                <a:spcPts val="200"/>
              </a:spcAft>
            </a:pPr>
            <a:r>
              <a:rPr sz="1100">
                <a:solidFill>
                  <a:srgbClr val="1C2233"/>
                </a:solidFill>
                <a:latin typeface="メイリオ"/>
                <a:ea typeface="メイリオ"/>
                <a:cs typeface="メイリオ"/>
              </a:rPr>
              <a:t>学部が決まっていない子は資料請求を押せない。</a:t>
            </a:r>
          </a:p>
        </p:txBody>
      </p:sp>
      <p:sp>
        <p:nvSpPr>
          <p:cNvPr id="6" name="Rounded Rectangle 5"/>
          <p:cNvSpPr/>
          <p:nvPr/>
        </p:nvSpPr>
        <p:spPr>
          <a:xfrm>
            <a:off x="3491999" y="4824000"/>
            <a:ext cx="2951999" cy="1188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タブ③は「払う人」専用</a:t>
            </a:r>
          </a:p>
          <a:p>
            <a:pPr algn="l">
              <a:lnSpc>
                <a:spcPct val="120000"/>
              </a:lnSpc>
              <a:spcAft>
                <a:spcPts val="200"/>
              </a:spcAft>
            </a:pPr>
            <a:r>
              <a:rPr sz="1100">
                <a:solidFill>
                  <a:srgbClr val="1C2233"/>
                </a:solidFill>
                <a:latin typeface="メイリオ"/>
                <a:ea typeface="メイリオ"/>
                <a:cs typeface="メイリオ"/>
              </a:rPr>
              <a:t>決める人（高校生）と払う人（保護者）が違う業界。</a:t>
            </a:r>
          </a:p>
          <a:p>
            <a:pPr algn="l">
              <a:lnSpc>
                <a:spcPct val="120000"/>
              </a:lnSpc>
              <a:spcAft>
                <a:spcPts val="200"/>
              </a:spcAft>
            </a:pPr>
            <a:r>
              <a:rPr sz="1100">
                <a:solidFill>
                  <a:srgbClr val="1C2233"/>
                </a:solidFill>
                <a:latin typeface="メイリオ"/>
                <a:ea typeface="メイリオ"/>
                <a:cs typeface="メイリオ"/>
              </a:rPr>
              <a:t>保護者が一番知りたい総額を、左上に置く。</a:t>
            </a:r>
          </a:p>
        </p:txBody>
      </p:sp>
      <p:sp>
        <p:nvSpPr>
          <p:cNvPr id="7" name="Rounded Rectangle 6"/>
          <p:cNvSpPr/>
          <p:nvPr/>
        </p:nvSpPr>
        <p:spPr>
          <a:xfrm>
            <a:off x="6588000" y="4824000"/>
            <a:ext cx="2951999" cy="1188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年3回、差し替える前提</a:t>
            </a:r>
          </a:p>
          <a:p>
            <a:pPr algn="l">
              <a:lnSpc>
                <a:spcPct val="120000"/>
              </a:lnSpc>
              <a:spcAft>
                <a:spcPts val="200"/>
              </a:spcAft>
            </a:pPr>
            <a:r>
              <a:rPr sz="1100">
                <a:solidFill>
                  <a:srgbClr val="1C2233"/>
                </a:solidFill>
                <a:latin typeface="メイリオ"/>
                <a:ea typeface="メイリオ"/>
                <a:cs typeface="メイリオ"/>
              </a:rPr>
              <a:t>OC期（6〜8月）はタブ②を、出願期（9〜11月）は</a:t>
            </a:r>
          </a:p>
          <a:p>
            <a:pPr algn="l">
              <a:lnSpc>
                <a:spcPct val="120000"/>
              </a:lnSpc>
              <a:spcAft>
                <a:spcPts val="200"/>
              </a:spcAft>
            </a:pPr>
            <a:r>
              <a:rPr sz="1100">
                <a:solidFill>
                  <a:srgbClr val="1C2233"/>
                </a:solidFill>
                <a:latin typeface="メイリオ"/>
                <a:ea typeface="メイリオ"/>
                <a:cs typeface="メイリオ"/>
              </a:rPr>
              <a:t>出願スケジュールをデフォルト表示に切り替える。</a:t>
            </a:r>
          </a:p>
        </p:txBody>
      </p:sp>
    </p:spTree>
    <p:extLst>
      <p:ext uri="{BB962C8B-B14F-4D97-AF65-F5344CB8AC3E}">
        <p14:creationId xmlns:p14="http://schemas.microsoft.com/office/powerpoint/2010/main" val="82790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リッチメニュー実装イメージ｜3タブの実物</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同じLINEでも、受験生・入試期・保護者で見える画面が切り替わる。</a:t>
            </a:r>
          </a:p>
        </p:txBody>
      </p:sp>
      <p:sp>
        <p:nvSpPr>
          <p:cNvPr id="4" name="Rounded Rectangle 3"/>
          <p:cNvSpPr/>
          <p:nvPr/>
        </p:nvSpPr>
        <p:spPr>
          <a:xfrm>
            <a:off x="396000"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① 受験生</a:t>
            </a:r>
          </a:p>
        </p:txBody>
      </p:sp>
      <p:sp>
        <p:nvSpPr>
          <p:cNvPr id="5" name="Rounded Rectangle 4"/>
          <p:cNvSpPr/>
          <p:nvPr/>
        </p:nvSpPr>
        <p:spPr>
          <a:xfrm>
            <a:off x="396000"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21200"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7" name="Rectangle 6"/>
          <p:cNvSpPr/>
          <p:nvPr/>
        </p:nvSpPr>
        <p:spPr>
          <a:xfrm>
            <a:off x="13884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8" name="Rectangle 7"/>
          <p:cNvSpPr/>
          <p:nvPr/>
        </p:nvSpPr>
        <p:spPr>
          <a:xfrm>
            <a:off x="2355599"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9" name="Rounded Rectangle 8"/>
          <p:cNvSpPr/>
          <p:nvPr/>
        </p:nvSpPr>
        <p:spPr>
          <a:xfrm>
            <a:off x="421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30秒</a:t>
            </a:r>
          </a:p>
          <a:p>
            <a:pPr algn="ctr">
              <a:lnSpc>
                <a:spcPct val="110000"/>
              </a:lnSpc>
            </a:pPr>
            <a:r>
              <a:rPr sz="850" b="1">
                <a:solidFill>
                  <a:srgbClr val="ED7D31"/>
                </a:solidFill>
                <a:latin typeface="メイリオ"/>
                <a:ea typeface="メイリオ"/>
                <a:cs typeface="メイリオ"/>
              </a:rPr>
              <a:t>学部学科診断</a:t>
            </a:r>
          </a:p>
        </p:txBody>
      </p:sp>
      <p:sp>
        <p:nvSpPr>
          <p:cNvPr id="10" name="Rounded Rectangle 9"/>
          <p:cNvSpPr/>
          <p:nvPr/>
        </p:nvSpPr>
        <p:spPr>
          <a:xfrm>
            <a:off x="13968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オープン</a:t>
            </a:r>
          </a:p>
          <a:p>
            <a:pPr algn="ctr">
              <a:lnSpc>
                <a:spcPct val="110000"/>
              </a:lnSpc>
            </a:pPr>
            <a:r>
              <a:rPr sz="850" b="1">
                <a:solidFill>
                  <a:srgbClr val="1F285A"/>
                </a:solidFill>
                <a:latin typeface="メイリオ"/>
                <a:ea typeface="メイリオ"/>
                <a:cs typeface="メイリオ"/>
              </a:rPr>
              <a:t>キャンパス予約</a:t>
            </a:r>
          </a:p>
        </p:txBody>
      </p:sp>
      <p:sp>
        <p:nvSpPr>
          <p:cNvPr id="11" name="Rounded Rectangle 10"/>
          <p:cNvSpPr/>
          <p:nvPr/>
        </p:nvSpPr>
        <p:spPr>
          <a:xfrm>
            <a:off x="23723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学部・学科を見る</a:t>
            </a:r>
          </a:p>
        </p:txBody>
      </p:sp>
      <p:sp>
        <p:nvSpPr>
          <p:cNvPr id="12" name="Rounded Rectangle 11"/>
          <p:cNvSpPr/>
          <p:nvPr/>
        </p:nvSpPr>
        <p:spPr>
          <a:xfrm>
            <a:off x="421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資料（デジタル</a:t>
            </a:r>
          </a:p>
          <a:p>
            <a:pPr algn="ctr">
              <a:lnSpc>
                <a:spcPct val="110000"/>
              </a:lnSpc>
            </a:pPr>
            <a:r>
              <a:rPr sz="850" b="1">
                <a:solidFill>
                  <a:srgbClr val="1F285A"/>
                </a:solidFill>
                <a:latin typeface="メイリオ"/>
                <a:ea typeface="メイリオ"/>
                <a:cs typeface="メイリオ"/>
              </a:rPr>
              <a:t>パンフ）をもらう</a:t>
            </a:r>
          </a:p>
        </p:txBody>
      </p:sp>
      <p:sp>
        <p:nvSpPr>
          <p:cNvPr id="13" name="Rounded Rectangle 12"/>
          <p:cNvSpPr/>
          <p:nvPr/>
        </p:nvSpPr>
        <p:spPr>
          <a:xfrm>
            <a:off x="13968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まだ決まって</a:t>
            </a:r>
          </a:p>
          <a:p>
            <a:pPr algn="ctr">
              <a:lnSpc>
                <a:spcPct val="110000"/>
              </a:lnSpc>
            </a:pPr>
            <a:r>
              <a:rPr sz="850" b="1">
                <a:solidFill>
                  <a:srgbClr val="1F285A"/>
                </a:solidFill>
                <a:latin typeface="メイリオ"/>
                <a:ea typeface="メイリオ"/>
                <a:cs typeface="メイリオ"/>
              </a:rPr>
              <a:t>いない人へ</a:t>
            </a:r>
          </a:p>
        </p:txBody>
      </p:sp>
      <p:sp>
        <p:nvSpPr>
          <p:cNvPr id="14" name="Rounded Rectangle 13"/>
          <p:cNvSpPr/>
          <p:nvPr/>
        </p:nvSpPr>
        <p:spPr>
          <a:xfrm>
            <a:off x="23723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在学生に質問する</a:t>
            </a:r>
          </a:p>
        </p:txBody>
      </p:sp>
      <p:sp>
        <p:nvSpPr>
          <p:cNvPr id="15" name="Rounded Rectangle 14"/>
          <p:cNvSpPr/>
          <p:nvPr/>
        </p:nvSpPr>
        <p:spPr>
          <a:xfrm>
            <a:off x="396000"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受験生のデフォルト表示</a:t>
            </a:r>
          </a:p>
        </p:txBody>
      </p:sp>
      <p:sp>
        <p:nvSpPr>
          <p:cNvPr id="16" name="Rounded Rectangle 15"/>
          <p:cNvSpPr/>
          <p:nvPr/>
        </p:nvSpPr>
        <p:spPr>
          <a:xfrm>
            <a:off x="3491999"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② OC・入試</a:t>
            </a:r>
          </a:p>
        </p:txBody>
      </p:sp>
      <p:sp>
        <p:nvSpPr>
          <p:cNvPr id="17" name="Rounded Rectangle 16"/>
          <p:cNvSpPr/>
          <p:nvPr/>
        </p:nvSpPr>
        <p:spPr>
          <a:xfrm>
            <a:off x="3491999"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35172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19" name="Rectangle 18"/>
          <p:cNvSpPr/>
          <p:nvPr/>
        </p:nvSpPr>
        <p:spPr>
          <a:xfrm>
            <a:off x="4484399"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20" name="Rectangle 19"/>
          <p:cNvSpPr/>
          <p:nvPr/>
        </p:nvSpPr>
        <p:spPr>
          <a:xfrm>
            <a:off x="5451599"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21" name="Rounded Rectangle 20"/>
          <p:cNvSpPr/>
          <p:nvPr/>
        </p:nvSpPr>
        <p:spPr>
          <a:xfrm>
            <a:off x="3517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次回OCの</a:t>
            </a:r>
          </a:p>
          <a:p>
            <a:pPr algn="ctr">
              <a:lnSpc>
                <a:spcPct val="110000"/>
              </a:lnSpc>
            </a:pPr>
            <a:r>
              <a:rPr sz="850" b="1">
                <a:solidFill>
                  <a:srgbClr val="ED7D31"/>
                </a:solidFill>
                <a:latin typeface="メイリオ"/>
                <a:ea typeface="メイリオ"/>
                <a:cs typeface="メイリオ"/>
              </a:rPr>
              <a:t>日程・予約</a:t>
            </a:r>
          </a:p>
        </p:txBody>
      </p:sp>
      <p:sp>
        <p:nvSpPr>
          <p:cNvPr id="22" name="Rounded Rectangle 21"/>
          <p:cNvSpPr/>
          <p:nvPr/>
        </p:nvSpPr>
        <p:spPr>
          <a:xfrm>
            <a:off x="44927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当日の流れ・</a:t>
            </a:r>
          </a:p>
          <a:p>
            <a:pPr algn="ctr">
              <a:lnSpc>
                <a:spcPct val="110000"/>
              </a:lnSpc>
            </a:pPr>
            <a:r>
              <a:rPr sz="850" b="1">
                <a:solidFill>
                  <a:srgbClr val="1F285A"/>
                </a:solidFill>
                <a:latin typeface="メイリオ"/>
                <a:ea typeface="メイリオ"/>
                <a:cs typeface="メイリオ"/>
              </a:rPr>
              <a:t>持ち物</a:t>
            </a:r>
          </a:p>
        </p:txBody>
      </p:sp>
      <p:sp>
        <p:nvSpPr>
          <p:cNvPr id="23" name="Rounded Rectangle 22"/>
          <p:cNvSpPr/>
          <p:nvPr/>
        </p:nvSpPr>
        <p:spPr>
          <a:xfrm>
            <a:off x="5468399"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アクセス・</a:t>
            </a:r>
          </a:p>
          <a:p>
            <a:pPr algn="ctr">
              <a:lnSpc>
                <a:spcPct val="110000"/>
              </a:lnSpc>
            </a:pPr>
            <a:r>
              <a:rPr sz="850" b="1">
                <a:solidFill>
                  <a:srgbClr val="1F285A"/>
                </a:solidFill>
                <a:latin typeface="メイリオ"/>
                <a:ea typeface="メイリオ"/>
                <a:cs typeface="メイリオ"/>
              </a:rPr>
              <a:t>キャンパスマップ</a:t>
            </a:r>
          </a:p>
        </p:txBody>
      </p:sp>
      <p:sp>
        <p:nvSpPr>
          <p:cNvPr id="24" name="Rounded Rectangle 23"/>
          <p:cNvSpPr/>
          <p:nvPr/>
        </p:nvSpPr>
        <p:spPr>
          <a:xfrm>
            <a:off x="3517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入試方式を調べる</a:t>
            </a:r>
          </a:p>
        </p:txBody>
      </p:sp>
      <p:sp>
        <p:nvSpPr>
          <p:cNvPr id="25" name="Rounded Rectangle 24"/>
          <p:cNvSpPr/>
          <p:nvPr/>
        </p:nvSpPr>
        <p:spPr>
          <a:xfrm>
            <a:off x="44927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出願スケジュール</a:t>
            </a:r>
          </a:p>
        </p:txBody>
      </p:sp>
      <p:sp>
        <p:nvSpPr>
          <p:cNvPr id="26" name="Rounded Rectangle 25"/>
          <p:cNvSpPr/>
          <p:nvPr/>
        </p:nvSpPr>
        <p:spPr>
          <a:xfrm>
            <a:off x="5468399"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過去問・</a:t>
            </a:r>
          </a:p>
          <a:p>
            <a:pPr algn="ctr">
              <a:lnSpc>
                <a:spcPct val="110000"/>
              </a:lnSpc>
            </a:pPr>
            <a:r>
              <a:rPr sz="850" b="1">
                <a:solidFill>
                  <a:srgbClr val="1F285A"/>
                </a:solidFill>
                <a:latin typeface="メイリオ"/>
                <a:ea typeface="メイリオ"/>
                <a:cs typeface="メイリオ"/>
              </a:rPr>
              <a:t>入試説明会</a:t>
            </a:r>
          </a:p>
        </p:txBody>
      </p:sp>
      <p:sp>
        <p:nvSpPr>
          <p:cNvPr id="27" name="Rounded Rectangle 26"/>
          <p:cNvSpPr/>
          <p:nvPr/>
        </p:nvSpPr>
        <p:spPr>
          <a:xfrm>
            <a:off x="3491999"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OC期（6〜8月）に切替</a:t>
            </a:r>
          </a:p>
        </p:txBody>
      </p:sp>
      <p:sp>
        <p:nvSpPr>
          <p:cNvPr id="28" name="Rounded Rectangle 27"/>
          <p:cNvSpPr/>
          <p:nvPr/>
        </p:nvSpPr>
        <p:spPr>
          <a:xfrm>
            <a:off x="6588000" y="1224000"/>
            <a:ext cx="2951999" cy="360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200" b="1">
                <a:solidFill>
                  <a:srgbClr val="1F285A"/>
                </a:solidFill>
                <a:latin typeface="メイリオ"/>
                <a:ea typeface="メイリオ"/>
                <a:cs typeface="メイリオ"/>
              </a:rPr>
              <a:t>③ 保護者の方へ</a:t>
            </a:r>
          </a:p>
        </p:txBody>
      </p:sp>
      <p:sp>
        <p:nvSpPr>
          <p:cNvPr id="29" name="Rounded Rectangle 28"/>
          <p:cNvSpPr/>
          <p:nvPr/>
        </p:nvSpPr>
        <p:spPr>
          <a:xfrm>
            <a:off x="6588000" y="1638000"/>
            <a:ext cx="2951999" cy="2160000"/>
          </a:xfrm>
          <a:prstGeom prst="roundRect">
            <a:avLst>
              <a:gd name="adj" fmla="val 6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6132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受験生</a:t>
            </a:r>
          </a:p>
        </p:txBody>
      </p:sp>
      <p:sp>
        <p:nvSpPr>
          <p:cNvPr id="31" name="Rectangle 30"/>
          <p:cNvSpPr/>
          <p:nvPr/>
        </p:nvSpPr>
        <p:spPr>
          <a:xfrm>
            <a:off x="7580400" y="1663200"/>
            <a:ext cx="952799" cy="223200"/>
          </a:xfrm>
          <a:prstGeom prst="rect">
            <a:avLst/>
          </a:prstGeom>
          <a:solidFill>
            <a:srgbClr val="3F3F3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OC・入試</a:t>
            </a:r>
          </a:p>
        </p:txBody>
      </p:sp>
      <p:sp>
        <p:nvSpPr>
          <p:cNvPr id="32" name="Rectangle 31"/>
          <p:cNvSpPr/>
          <p:nvPr/>
        </p:nvSpPr>
        <p:spPr>
          <a:xfrm>
            <a:off x="8547600" y="1663200"/>
            <a:ext cx="952799" cy="2232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r>
              <a:rPr sz="850" b="1">
                <a:solidFill>
                  <a:srgbClr val="FFFFFF"/>
                </a:solidFill>
                <a:latin typeface="メイリオ"/>
                <a:ea typeface="メイリオ"/>
                <a:cs typeface="メイリオ"/>
              </a:rPr>
              <a:t>保護者の方へ</a:t>
            </a:r>
          </a:p>
        </p:txBody>
      </p:sp>
      <p:sp>
        <p:nvSpPr>
          <p:cNvPr id="33" name="Rounded Rectangle 32"/>
          <p:cNvSpPr/>
          <p:nvPr/>
        </p:nvSpPr>
        <p:spPr>
          <a:xfrm>
            <a:off x="6613200" y="1911600"/>
            <a:ext cx="950399" cy="917999"/>
          </a:xfrm>
          <a:prstGeom prst="roundRect">
            <a:avLst>
              <a:gd name="adj" fmla="val 4000"/>
            </a:avLst>
          </a:prstGeom>
          <a:solidFill>
            <a:srgbClr val="FCE4D6"/>
          </a:solidFill>
          <a:ln w="12700">
            <a:solidFill>
              <a:srgbClr val="ED7D31"/>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ED7D31"/>
                </a:solidFill>
                <a:latin typeface="メイリオ"/>
                <a:ea typeface="メイリオ"/>
                <a:cs typeface="メイリオ"/>
              </a:rPr>
              <a:t>4年間の学費</a:t>
            </a:r>
          </a:p>
          <a:p>
            <a:pPr algn="ctr">
              <a:lnSpc>
                <a:spcPct val="110000"/>
              </a:lnSpc>
            </a:pPr>
            <a:r>
              <a:rPr sz="850" b="1">
                <a:solidFill>
                  <a:srgbClr val="ED7D31"/>
                </a:solidFill>
                <a:latin typeface="メイリオ"/>
                <a:ea typeface="メイリオ"/>
                <a:cs typeface="メイリオ"/>
              </a:rPr>
              <a:t>シミュレーション</a:t>
            </a:r>
          </a:p>
        </p:txBody>
      </p:sp>
      <p:sp>
        <p:nvSpPr>
          <p:cNvPr id="34" name="Rounded Rectangle 33"/>
          <p:cNvSpPr/>
          <p:nvPr/>
        </p:nvSpPr>
        <p:spPr>
          <a:xfrm>
            <a:off x="75888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奨学金・</a:t>
            </a:r>
          </a:p>
          <a:p>
            <a:pPr algn="ctr">
              <a:lnSpc>
                <a:spcPct val="110000"/>
              </a:lnSpc>
            </a:pPr>
            <a:r>
              <a:rPr sz="850" b="1">
                <a:solidFill>
                  <a:srgbClr val="1F285A"/>
                </a:solidFill>
                <a:latin typeface="メイリオ"/>
                <a:ea typeface="メイリオ"/>
                <a:cs typeface="メイリオ"/>
              </a:rPr>
              <a:t>学費支援制度</a:t>
            </a:r>
          </a:p>
        </p:txBody>
      </p:sp>
      <p:sp>
        <p:nvSpPr>
          <p:cNvPr id="35" name="Rounded Rectangle 34"/>
          <p:cNvSpPr/>
          <p:nvPr/>
        </p:nvSpPr>
        <p:spPr>
          <a:xfrm>
            <a:off x="8564400" y="19116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就職実績・</a:t>
            </a:r>
          </a:p>
          <a:p>
            <a:pPr algn="ctr">
              <a:lnSpc>
                <a:spcPct val="110000"/>
              </a:lnSpc>
            </a:pPr>
            <a:r>
              <a:rPr sz="850" b="1">
                <a:solidFill>
                  <a:srgbClr val="1F285A"/>
                </a:solidFill>
                <a:latin typeface="メイリオ"/>
                <a:ea typeface="メイリオ"/>
                <a:cs typeface="メイリオ"/>
              </a:rPr>
              <a:t>進路データ</a:t>
            </a:r>
          </a:p>
        </p:txBody>
      </p:sp>
      <p:sp>
        <p:nvSpPr>
          <p:cNvPr id="36" name="Rounded Rectangle 35"/>
          <p:cNvSpPr/>
          <p:nvPr/>
        </p:nvSpPr>
        <p:spPr>
          <a:xfrm>
            <a:off x="66132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保護者向け説明会</a:t>
            </a:r>
          </a:p>
        </p:txBody>
      </p:sp>
      <p:sp>
        <p:nvSpPr>
          <p:cNvPr id="37" name="Rounded Rectangle 36"/>
          <p:cNvSpPr/>
          <p:nvPr/>
        </p:nvSpPr>
        <p:spPr>
          <a:xfrm>
            <a:off x="75888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一人暮らしの</a:t>
            </a:r>
          </a:p>
          <a:p>
            <a:pPr algn="ctr">
              <a:lnSpc>
                <a:spcPct val="110000"/>
              </a:lnSpc>
            </a:pPr>
            <a:r>
              <a:rPr sz="850" b="1">
                <a:solidFill>
                  <a:srgbClr val="1F285A"/>
                </a:solidFill>
                <a:latin typeface="メイリオ"/>
                <a:ea typeface="メイリオ"/>
                <a:cs typeface="メイリオ"/>
              </a:rPr>
              <a:t>費用の目安</a:t>
            </a:r>
          </a:p>
        </p:txBody>
      </p:sp>
      <p:sp>
        <p:nvSpPr>
          <p:cNvPr id="38" name="Rounded Rectangle 37"/>
          <p:cNvSpPr/>
          <p:nvPr/>
        </p:nvSpPr>
        <p:spPr>
          <a:xfrm>
            <a:off x="8564400" y="2854800"/>
            <a:ext cx="950399" cy="917999"/>
          </a:xfrm>
          <a:prstGeom prst="roundRect">
            <a:avLst>
              <a:gd name="adj" fmla="val 4000"/>
            </a:avLst>
          </a:prstGeom>
          <a:solidFill>
            <a:srgbClr val="EFF2F7"/>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lnSpc>
                <a:spcPct val="110000"/>
              </a:lnSpc>
            </a:pPr>
            <a:r>
              <a:rPr sz="850" b="1">
                <a:solidFill>
                  <a:srgbClr val="1F285A"/>
                </a:solidFill>
                <a:latin typeface="メイリオ"/>
                <a:ea typeface="メイリオ"/>
                <a:cs typeface="メイリオ"/>
              </a:rPr>
              <a:t>個別相談を</a:t>
            </a:r>
          </a:p>
          <a:p>
            <a:pPr algn="ctr">
              <a:lnSpc>
                <a:spcPct val="110000"/>
              </a:lnSpc>
            </a:pPr>
            <a:r>
              <a:rPr sz="850" b="1">
                <a:solidFill>
                  <a:srgbClr val="1F285A"/>
                </a:solidFill>
                <a:latin typeface="メイリオ"/>
                <a:ea typeface="メイリオ"/>
                <a:cs typeface="メイリオ"/>
              </a:rPr>
              <a:t>申し込む</a:t>
            </a:r>
          </a:p>
        </p:txBody>
      </p:sp>
      <p:sp>
        <p:nvSpPr>
          <p:cNvPr id="39" name="Rounded Rectangle 38"/>
          <p:cNvSpPr/>
          <p:nvPr/>
        </p:nvSpPr>
        <p:spPr>
          <a:xfrm>
            <a:off x="6588000" y="3888000"/>
            <a:ext cx="2951999" cy="396000"/>
          </a:xfrm>
          <a:prstGeom prst="roundRect">
            <a:avLst>
              <a:gd name="adj" fmla="val 6000"/>
            </a:avLst>
          </a:prstGeom>
          <a:solidFill>
            <a:srgbClr val="F2F2F2"/>
          </a:solidFill>
          <a:ln w="12700">
            <a:solidFill>
              <a:srgbClr val="1C2233"/>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C2233"/>
                </a:solidFill>
                <a:latin typeface="メイリオ"/>
                <a:ea typeface="メイリオ"/>
                <a:cs typeface="メイリオ"/>
              </a:rPr>
              <a:t>保護者タブ（常設）</a:t>
            </a:r>
          </a:p>
        </p:txBody>
      </p:sp>
      <p:sp>
        <p:nvSpPr>
          <p:cNvPr id="40" name="Rectangle 39"/>
          <p:cNvSpPr/>
          <p:nvPr/>
        </p:nvSpPr>
        <p:spPr>
          <a:xfrm>
            <a:off x="396000" y="4680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432000" y="4680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576000" y="4759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大サイズ 2500×1686px／3列×2行（1マス 833×843px）。学年・志望度タグで自動切替。</a:t>
            </a:r>
          </a:p>
        </p:txBody>
      </p:sp>
      <p:sp>
        <p:nvSpPr>
          <p:cNvPr id="43" name="TextBox 42"/>
          <p:cNvSpPr txBox="1"/>
          <p:nvPr/>
        </p:nvSpPr>
        <p:spPr>
          <a:xfrm>
            <a:off x="396000" y="5292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画像はイメージです。実装時はキャンパス写真・スクールカラー・アイコンを貴学仕様に差し替えます。</a:t>
            </a:r>
          </a:p>
          <a:p>
            <a:pPr algn="l">
              <a:lnSpc>
                <a:spcPct val="120000"/>
              </a:lnSpc>
            </a:pPr>
            <a:r>
              <a:rPr sz="900">
                <a:solidFill>
                  <a:srgbClr val="646C82"/>
                </a:solidFill>
                <a:latin typeface="メイリオ"/>
                <a:ea typeface="メイリオ"/>
                <a:cs typeface="メイリオ"/>
              </a:rPr>
              <a:t>※ 左上（オレンジ）が最重要CTA。親指が最初に届く位置に「まだ決めていない人が押せるもの」を置く。</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トーク画面設計案｜あいさつメッセージと30秒 学部学科診断</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1通目で資料請求は求めない。求めるのは診断への回答だけ。</a:t>
            </a:r>
          </a:p>
          <a:p>
            <a:pPr algn="l">
              <a:lnSpc>
                <a:spcPct val="122000"/>
              </a:lnSpc>
            </a:pPr>
            <a:r>
              <a:rPr sz="1500">
                <a:solidFill>
                  <a:srgbClr val="646C82"/>
                </a:solidFill>
                <a:latin typeface="メイリオ"/>
                <a:ea typeface="メイリオ"/>
                <a:cs typeface="メイリオ"/>
              </a:rPr>
              <a:t>設問は、そのまま配信セグメントになるものだけにする。</a:t>
            </a:r>
          </a:p>
        </p:txBody>
      </p:sp>
      <p:sp>
        <p:nvSpPr>
          <p:cNvPr id="4" name="Rounded Rectangle 3"/>
          <p:cNvSpPr/>
          <p:nvPr/>
        </p:nvSpPr>
        <p:spPr>
          <a:xfrm>
            <a:off x="396000" y="1223999"/>
            <a:ext cx="4464000" cy="3562217"/>
          </a:xfrm>
          <a:prstGeom prst="roundRect">
            <a:avLst>
              <a:gd name="adj" fmla="val 6000"/>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08000" tIns="86400" rIns="86400" bIns="57600" rtlCol="0" anchor="t"/>
          <a:lstStyle/>
          <a:p>
            <a:pPr algn="l">
              <a:spcAft>
                <a:spcPts val="600"/>
              </a:spcAft>
            </a:pPr>
            <a:r>
              <a:rPr sz="1200" b="1" dirty="0">
                <a:solidFill>
                  <a:srgbClr val="1F285A"/>
                </a:solidFill>
                <a:latin typeface="メイリオ"/>
                <a:ea typeface="メイリオ"/>
                <a:cs typeface="メイリオ"/>
              </a:rPr>
              <a:t>■ </a:t>
            </a:r>
            <a:r>
              <a:rPr sz="1200" b="1" dirty="0" err="1">
                <a:solidFill>
                  <a:srgbClr val="1F285A"/>
                </a:solidFill>
                <a:latin typeface="メイリオ"/>
                <a:ea typeface="メイリオ"/>
                <a:cs typeface="メイリオ"/>
              </a:rPr>
              <a:t>友だち追加直後のあいさつメッセージ（自動</a:t>
            </a:r>
            <a:r>
              <a:rPr sz="1200" b="1" dirty="0">
                <a:solidFill>
                  <a:srgbClr val="1F285A"/>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大学</a:t>
            </a: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受験生応援アカウントへ</a:t>
            </a:r>
            <a:endParaRPr sz="1100" dirty="0">
              <a:solidFill>
                <a:srgbClr val="1C2233"/>
              </a:solidFill>
              <a:latin typeface="メイリオ"/>
              <a:ea typeface="メイリオ"/>
              <a:cs typeface="メイリオ"/>
            </a:endParaRPr>
          </a:p>
          <a:p>
            <a:pPr algn="l">
              <a:lnSpc>
                <a:spcPct val="134000"/>
              </a:lnSpc>
              <a:spcAft>
                <a:spcPts val="100"/>
              </a:spcAft>
            </a:pPr>
            <a:r>
              <a:rPr sz="1100" dirty="0" err="1">
                <a:solidFill>
                  <a:srgbClr val="1C2233"/>
                </a:solidFill>
                <a:latin typeface="メイリオ"/>
                <a:ea typeface="メイリオ"/>
                <a:cs typeface="メイリオ"/>
              </a:rPr>
              <a:t>友だち追加ありがとうございます</a:t>
            </a:r>
            <a:r>
              <a:rPr sz="1100" dirty="0">
                <a:solidFill>
                  <a:srgbClr val="1C2233"/>
                </a:solidFill>
                <a:latin typeface="メイリオ"/>
                <a:ea typeface="メイリオ"/>
                <a:cs typeface="メイリオ"/>
              </a:rPr>
              <a:t>🌸</a:t>
            </a: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err="1">
                <a:solidFill>
                  <a:srgbClr val="1C2233"/>
                </a:solidFill>
                <a:latin typeface="メイリオ"/>
                <a:ea typeface="メイリオ"/>
                <a:cs typeface="メイリオ"/>
              </a:rPr>
              <a:t>入試広報課の</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担当者名</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です</a:t>
            </a:r>
            <a:r>
              <a:rPr sz="1100" dirty="0">
                <a:solidFill>
                  <a:srgbClr val="1C2233"/>
                </a:solidFill>
                <a:latin typeface="メイリオ"/>
                <a:ea typeface="メイリオ"/>
                <a:cs typeface="メイリオ"/>
              </a:rPr>
              <a:t>。</a:t>
            </a:r>
          </a:p>
          <a:p>
            <a:pPr algn="l">
              <a:lnSpc>
                <a:spcPct val="134000"/>
              </a:lnSpc>
              <a:spcAft>
                <a:spcPts val="100"/>
              </a:spcAft>
            </a:pPr>
            <a:r>
              <a:rPr sz="1100" dirty="0" err="1">
                <a:solidFill>
                  <a:srgbClr val="1C2233"/>
                </a:solidFill>
                <a:latin typeface="メイリオ"/>
                <a:ea typeface="メイリオ"/>
                <a:cs typeface="メイリオ"/>
              </a:rPr>
              <a:t>進路のこと、気軽に相談してください</a:t>
            </a:r>
            <a:r>
              <a:rPr sz="1100" dirty="0">
                <a:solidFill>
                  <a:srgbClr val="1C2233"/>
                </a:solidFill>
                <a:latin typeface="メイリオ"/>
                <a:ea typeface="メイリオ"/>
                <a:cs typeface="メイリオ"/>
              </a:rPr>
              <a:t>。</a:t>
            </a: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このアカウントについて</a:t>
            </a: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こちらから確認のお電話をすることはありません</a:t>
            </a: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有人でのご返信：平日</a:t>
            </a:r>
            <a:r>
              <a:rPr sz="1100" dirty="0">
                <a:solidFill>
                  <a:srgbClr val="1C2233"/>
                </a:solidFill>
                <a:latin typeface="メイリオ"/>
                <a:ea typeface="メイリオ"/>
                <a:cs typeface="メイリオ"/>
              </a:rPr>
              <a:t> 9:00-17:00</a:t>
            </a:r>
          </a:p>
          <a:p>
            <a:pPr algn="l">
              <a:lnSpc>
                <a:spcPct val="134000"/>
              </a:lnSpc>
              <a:spcAft>
                <a:spcPts val="1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保護者の方も、このままご覧いただけます</a:t>
            </a:r>
            <a:endParaRPr lang="en-US" sz="1100" dirty="0">
              <a:solidFill>
                <a:srgbClr val="1C2233"/>
              </a:solidFill>
              <a:latin typeface="メイリオ"/>
              <a:ea typeface="メイリオ"/>
              <a:cs typeface="メイリオ"/>
            </a:endParaRPr>
          </a:p>
          <a:p>
            <a:pPr algn="l">
              <a:lnSpc>
                <a:spcPct val="134000"/>
              </a:lnSpc>
              <a:spcAft>
                <a:spcPts val="100"/>
              </a:spcAft>
            </a:pPr>
            <a:endParaRPr sz="400" dirty="0">
              <a:solidFill>
                <a:srgbClr val="1C2233"/>
              </a:solidFill>
              <a:latin typeface="メイリオ"/>
              <a:ea typeface="メイリオ"/>
              <a:cs typeface="メイリオ"/>
            </a:endParaRPr>
          </a:p>
          <a:p>
            <a:pPr algn="l">
              <a:lnSpc>
                <a:spcPct val="134000"/>
              </a:lnSpc>
              <a:spcAft>
                <a:spcPts val="100"/>
              </a:spcAft>
            </a:pPr>
            <a:r>
              <a:rPr sz="1100" dirty="0" err="1">
                <a:solidFill>
                  <a:srgbClr val="1C2233"/>
                </a:solidFill>
                <a:latin typeface="メイリオ"/>
                <a:ea typeface="メイリオ"/>
                <a:cs typeface="メイリオ"/>
              </a:rPr>
              <a:t>まずはこちらから</a:t>
            </a:r>
            <a:r>
              <a:rPr sz="1100" dirty="0">
                <a:solidFill>
                  <a:srgbClr val="1C2233"/>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あなたに向いている学部が30秒で分かります。</a:t>
            </a:r>
          </a:p>
        </p:txBody>
      </p:sp>
      <p:sp>
        <p:nvSpPr>
          <p:cNvPr id="5" name="Rounded Rectangle 4"/>
          <p:cNvSpPr/>
          <p:nvPr/>
        </p:nvSpPr>
        <p:spPr>
          <a:xfrm>
            <a:off x="540000" y="4624216"/>
            <a:ext cx="4176000" cy="324000"/>
          </a:xfrm>
          <a:prstGeom prst="roundRect">
            <a:avLst>
              <a:gd name="adj" fmla="val 6000"/>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150" b="1">
                <a:solidFill>
                  <a:srgbClr val="06C755"/>
                </a:solidFill>
                <a:latin typeface="メイリオ"/>
                <a:ea typeface="メイリオ"/>
                <a:cs typeface="メイリオ"/>
              </a:rPr>
              <a:t>▶ 30秒 学部学科診断をはじめる</a:t>
            </a:r>
          </a:p>
        </p:txBody>
      </p:sp>
      <p:sp>
        <p:nvSpPr>
          <p:cNvPr id="6" name="TextBox 5"/>
          <p:cNvSpPr txBox="1"/>
          <p:nvPr/>
        </p:nvSpPr>
        <p:spPr>
          <a:xfrm>
            <a:off x="540000" y="4624216"/>
            <a:ext cx="4176000" cy="324000"/>
          </a:xfrm>
          <a:prstGeom prst="rect">
            <a:avLst/>
          </a:prstGeom>
          <a:noFill/>
        </p:spPr>
        <p:txBody>
          <a:bodyPr wrap="square" lIns="0" tIns="21600" rIns="0" bIns="21600" anchor="ctr">
            <a:spAutoFit/>
          </a:bodyPr>
          <a:lstStyle/>
          <a:p>
            <a:pPr algn="ctr"/>
            <a:r>
              <a:rPr sz="1150" b="1" dirty="0">
                <a:solidFill>
                  <a:srgbClr val="FFFFFF"/>
                </a:solidFill>
                <a:latin typeface="メイリオ"/>
                <a:ea typeface="メイリオ"/>
                <a:cs typeface="メイリオ"/>
              </a:rPr>
              <a:t>▶ 30秒 </a:t>
            </a:r>
            <a:r>
              <a:rPr sz="1150" b="1" dirty="0" err="1">
                <a:solidFill>
                  <a:srgbClr val="FFFFFF"/>
                </a:solidFill>
                <a:latin typeface="メイリオ"/>
                <a:ea typeface="メイリオ"/>
                <a:cs typeface="メイリオ"/>
              </a:rPr>
              <a:t>学部学科診断をはじめる</a:t>
            </a:r>
            <a:endParaRPr sz="1150" b="1" dirty="0">
              <a:solidFill>
                <a:srgbClr val="FFFFFF"/>
              </a:solidFill>
              <a:latin typeface="メイリオ"/>
              <a:ea typeface="メイリオ"/>
              <a:cs typeface="メイリオ"/>
            </a:endParaRPr>
          </a:p>
        </p:txBody>
      </p:sp>
      <p:sp>
        <p:nvSpPr>
          <p:cNvPr id="7" name="Rounded Rectangle 6"/>
          <p:cNvSpPr/>
          <p:nvPr/>
        </p:nvSpPr>
        <p:spPr>
          <a:xfrm>
            <a:off x="5076000" y="1224000"/>
            <a:ext cx="4464000" cy="3435086"/>
          </a:xfrm>
          <a:prstGeom prst="roundRect">
            <a:avLst>
              <a:gd name="adj" fmla="val 6000"/>
            </a:avLst>
          </a:prstGeom>
          <a:solidFill>
            <a:srgbClr val="F4F7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108000" tIns="86400" rIns="86400" bIns="57600" rtlCol="0" anchor="t"/>
          <a:lstStyle/>
          <a:p>
            <a:pPr algn="l">
              <a:spcAft>
                <a:spcPts val="600"/>
              </a:spcAft>
            </a:pPr>
            <a:r>
              <a:rPr sz="1200" b="1" dirty="0">
                <a:solidFill>
                  <a:srgbClr val="1F285A"/>
                </a:solidFill>
                <a:latin typeface="メイリオ"/>
                <a:ea typeface="メイリオ"/>
                <a:cs typeface="メイリオ"/>
              </a:rPr>
              <a:t>■ 30秒 学部学科診断（4問すべて選択式・自由入力ゼロ）</a:t>
            </a:r>
          </a:p>
          <a:p>
            <a:pPr algn="l">
              <a:lnSpc>
                <a:spcPct val="134000"/>
              </a:lnSpc>
              <a:spcAft>
                <a:spcPts val="100"/>
              </a:spcAft>
            </a:pPr>
            <a:r>
              <a:rPr sz="1100" dirty="0">
                <a:solidFill>
                  <a:srgbClr val="1C2233"/>
                </a:solidFill>
                <a:latin typeface="メイリオ"/>
                <a:ea typeface="メイリオ"/>
                <a:cs typeface="メイリオ"/>
              </a:rPr>
              <a:t>Q1 </a:t>
            </a:r>
            <a:r>
              <a:rPr sz="1100" dirty="0" err="1">
                <a:solidFill>
                  <a:srgbClr val="1C2233"/>
                </a:solidFill>
                <a:latin typeface="メイリオ"/>
                <a:ea typeface="メイリオ"/>
                <a:cs typeface="メイリオ"/>
              </a:rPr>
              <a:t>いまの学年</a:t>
            </a:r>
            <a:r>
              <a:rPr sz="1100" dirty="0">
                <a:solidFill>
                  <a:srgbClr val="1C2233"/>
                </a:solidFill>
                <a:latin typeface="メイリオ"/>
                <a:ea typeface="メイリオ"/>
                <a:cs typeface="メイリオ"/>
              </a:rPr>
              <a:t>　→ タグ：高1／高2／高3／既卒</a:t>
            </a:r>
          </a:p>
          <a:p>
            <a:pPr algn="l">
              <a:lnSpc>
                <a:spcPct val="134000"/>
              </a:lnSpc>
              <a:spcAft>
                <a:spcPts val="1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配信の内容と頻度を学年で変える</a:t>
            </a:r>
            <a:endParaRPr sz="1100" dirty="0">
              <a:solidFill>
                <a:srgbClr val="1C2233"/>
              </a:solidFill>
              <a:latin typeface="メイリオ"/>
              <a:ea typeface="メイリオ"/>
              <a:cs typeface="メイリオ"/>
            </a:endParaRP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Q2 </a:t>
            </a:r>
            <a:r>
              <a:rPr sz="1100" dirty="0" err="1">
                <a:solidFill>
                  <a:srgbClr val="1C2233"/>
                </a:solidFill>
                <a:latin typeface="メイリオ"/>
                <a:ea typeface="メイリオ"/>
                <a:cs typeface="メイリオ"/>
              </a:rPr>
              <a:t>学部は決まっていますか</a:t>
            </a:r>
            <a:r>
              <a:rPr sz="1100" dirty="0">
                <a:solidFill>
                  <a:srgbClr val="1C2233"/>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　　① </a:t>
            </a:r>
            <a:r>
              <a:rPr sz="1100" dirty="0" err="1">
                <a:solidFill>
                  <a:srgbClr val="1C2233"/>
                </a:solidFill>
                <a:latin typeface="メイリオ"/>
                <a:ea typeface="メイリオ"/>
                <a:cs typeface="メイリオ"/>
              </a:rPr>
              <a:t>だいたい決まっている</a:t>
            </a:r>
            <a:r>
              <a:rPr sz="1100" dirty="0">
                <a:solidFill>
                  <a:srgbClr val="1C2233"/>
                </a:solidFill>
                <a:latin typeface="メイリオ"/>
                <a:ea typeface="メイリオ"/>
                <a:cs typeface="メイリオ"/>
              </a:rPr>
              <a:t>　② 2〜3個に絞れた</a:t>
            </a:r>
          </a:p>
          <a:p>
            <a:pPr algn="l">
              <a:lnSpc>
                <a:spcPct val="134000"/>
              </a:lnSpc>
              <a:spcAft>
                <a:spcPts val="100"/>
              </a:spcAft>
            </a:pPr>
            <a:r>
              <a:rPr sz="1100" dirty="0">
                <a:solidFill>
                  <a:srgbClr val="1C2233"/>
                </a:solidFill>
                <a:latin typeface="メイリオ"/>
                <a:ea typeface="メイリオ"/>
                <a:cs typeface="メイリオ"/>
              </a:rPr>
              <a:t>　　③ </a:t>
            </a:r>
            <a:r>
              <a:rPr sz="1100" dirty="0" err="1">
                <a:solidFill>
                  <a:srgbClr val="1C2233"/>
                </a:solidFill>
                <a:latin typeface="メイリオ"/>
                <a:ea typeface="メイリオ"/>
                <a:cs typeface="メイリオ"/>
              </a:rPr>
              <a:t>全然決まっていない</a:t>
            </a: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ここが一番多くて大丈夫です</a:t>
            </a:r>
            <a:endParaRPr sz="1100" dirty="0">
              <a:solidFill>
                <a:srgbClr val="1C2233"/>
              </a:solidFill>
              <a:latin typeface="メイリオ"/>
              <a:ea typeface="メイリオ"/>
              <a:cs typeface="メイリオ"/>
            </a:endParaRP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Q3 </a:t>
            </a:r>
            <a:r>
              <a:rPr sz="1100" dirty="0" err="1">
                <a:solidFill>
                  <a:srgbClr val="1C2233"/>
                </a:solidFill>
                <a:latin typeface="メイリオ"/>
                <a:ea typeface="メイリオ"/>
                <a:cs typeface="メイリオ"/>
              </a:rPr>
              <a:t>学校を選ぶとき、いちばん大事にしたいことは</a:t>
            </a:r>
            <a:r>
              <a:rPr sz="1100" dirty="0">
                <a:solidFill>
                  <a:srgbClr val="1C2233"/>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学びたいこと／就職・資格／通いやすさ／学費・奨学金</a:t>
            </a:r>
            <a:endParaRPr sz="1100" dirty="0">
              <a:solidFill>
                <a:srgbClr val="1C2233"/>
              </a:solidFill>
              <a:latin typeface="メイリオ"/>
              <a:ea typeface="メイリオ"/>
              <a:cs typeface="メイリオ"/>
            </a:endParaRPr>
          </a:p>
          <a:p>
            <a:pPr algn="l">
              <a:lnSpc>
                <a:spcPct val="134000"/>
              </a:lnSpc>
              <a:spcAft>
                <a:spcPts val="100"/>
              </a:spcAft>
            </a:pPr>
            <a:endParaRPr sz="1100" dirty="0">
              <a:solidFill>
                <a:srgbClr val="1C2233"/>
              </a:solidFill>
              <a:latin typeface="メイリオ"/>
              <a:ea typeface="メイリオ"/>
              <a:cs typeface="メイリオ"/>
            </a:endParaRPr>
          </a:p>
          <a:p>
            <a:pPr algn="l">
              <a:lnSpc>
                <a:spcPct val="134000"/>
              </a:lnSpc>
              <a:spcAft>
                <a:spcPts val="100"/>
              </a:spcAft>
            </a:pPr>
            <a:r>
              <a:rPr sz="1100" dirty="0">
                <a:solidFill>
                  <a:srgbClr val="1C2233"/>
                </a:solidFill>
                <a:latin typeface="メイリオ"/>
                <a:ea typeface="メイリオ"/>
                <a:cs typeface="メイリオ"/>
              </a:rPr>
              <a:t>Q4 </a:t>
            </a:r>
            <a:r>
              <a:rPr sz="1100" dirty="0" err="1">
                <a:solidFill>
                  <a:srgbClr val="1C2233"/>
                </a:solidFill>
                <a:latin typeface="メイリオ"/>
                <a:ea typeface="メイリオ"/>
                <a:cs typeface="メイリオ"/>
              </a:rPr>
              <a:t>通学はどうなりそうですか</a:t>
            </a:r>
            <a:r>
              <a:rPr sz="1100" dirty="0">
                <a:solidFill>
                  <a:srgbClr val="1C2233"/>
                </a:solidFill>
                <a:latin typeface="メイリオ"/>
                <a:ea typeface="メイリオ"/>
                <a:cs typeface="メイリオ"/>
              </a:rPr>
              <a:t>？</a:t>
            </a:r>
          </a:p>
          <a:p>
            <a:pPr algn="l">
              <a:lnSpc>
                <a:spcPct val="134000"/>
              </a:lnSpc>
              <a:spcAft>
                <a:spcPts val="1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自宅から通う／一人暮らしもできる／まだ分からない</a:t>
            </a:r>
            <a:endParaRPr sz="1100" dirty="0">
              <a:solidFill>
                <a:srgbClr val="1C2233"/>
              </a:solidFill>
              <a:latin typeface="メイリオ"/>
              <a:ea typeface="メイリオ"/>
              <a:cs typeface="メイリオ"/>
            </a:endParaRPr>
          </a:p>
        </p:txBody>
      </p:sp>
      <p:sp>
        <p:nvSpPr>
          <p:cNvPr id="8" name="Rounded Rectangle 7"/>
          <p:cNvSpPr/>
          <p:nvPr/>
        </p:nvSpPr>
        <p:spPr>
          <a:xfrm>
            <a:off x="396000" y="5182217"/>
            <a:ext cx="4464000" cy="1135612"/>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ED7D31"/>
                </a:solidFill>
                <a:latin typeface="メイリオ"/>
                <a:ea typeface="メイリオ"/>
                <a:cs typeface="メイリオ"/>
              </a:rPr>
              <a:t>この1行に一番時間をかけた</a:t>
            </a:r>
          </a:p>
          <a:p>
            <a:pPr algn="l">
              <a:lnSpc>
                <a:spcPct val="120000"/>
              </a:lnSpc>
              <a:spcAft>
                <a:spcPts val="200"/>
              </a:spcAft>
            </a:pPr>
            <a:r>
              <a:rPr sz="1100" dirty="0">
                <a:solidFill>
                  <a:srgbClr val="1C2233"/>
                </a:solidFill>
                <a:latin typeface="メイリオ"/>
                <a:ea typeface="メイリオ"/>
                <a:cs typeface="メイリオ"/>
              </a:rPr>
              <a:t>Q2の③に「←</a:t>
            </a:r>
            <a:r>
              <a:rPr sz="1100" dirty="0" err="1">
                <a:solidFill>
                  <a:srgbClr val="1C2233"/>
                </a:solidFill>
                <a:latin typeface="メイリオ"/>
                <a:ea typeface="メイリオ"/>
                <a:cs typeface="メイリオ"/>
              </a:rPr>
              <a:t>ここが一番多くて大丈夫です」と書いてある</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これがあるだけで、迷っている子が正直に答える</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正直に答えてくれれば、その子に必要なものを送れる</a:t>
            </a:r>
            <a:r>
              <a:rPr sz="1100" dirty="0">
                <a:solidFill>
                  <a:srgbClr val="1C2233"/>
                </a:solidFill>
                <a:latin typeface="メイリオ"/>
                <a:ea typeface="メイリオ"/>
                <a:cs typeface="メイリオ"/>
              </a:rPr>
              <a:t>。</a:t>
            </a:r>
          </a:p>
        </p:txBody>
      </p:sp>
      <p:sp>
        <p:nvSpPr>
          <p:cNvPr id="9" name="Rounded Rectangle 8"/>
          <p:cNvSpPr/>
          <p:nvPr/>
        </p:nvSpPr>
        <p:spPr>
          <a:xfrm>
            <a:off x="5076000" y="5182217"/>
            <a:ext cx="4464000" cy="1135612"/>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err="1">
                <a:solidFill>
                  <a:srgbClr val="1F285A"/>
                </a:solidFill>
                <a:latin typeface="メイリオ"/>
                <a:ea typeface="メイリオ"/>
                <a:cs typeface="メイリオ"/>
              </a:rPr>
              <a:t>取れるセグメントが、そのまま配信設計になる</a:t>
            </a:r>
            <a:endParaRPr sz="1200" b="1" dirty="0">
              <a:solidFill>
                <a:srgbClr val="1F285A"/>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学年</a:t>
            </a:r>
            <a:r>
              <a:rPr sz="1100" dirty="0">
                <a:solidFill>
                  <a:srgbClr val="1C2233"/>
                </a:solidFill>
                <a:latin typeface="メイリオ"/>
                <a:ea typeface="メイリオ"/>
                <a:cs typeface="メイリオ"/>
              </a:rPr>
              <a:t> × </a:t>
            </a:r>
            <a:r>
              <a:rPr sz="1100" dirty="0" err="1">
                <a:solidFill>
                  <a:srgbClr val="1C2233"/>
                </a:solidFill>
                <a:latin typeface="メイリオ"/>
                <a:ea typeface="メイリオ"/>
                <a:cs typeface="メイリオ"/>
              </a:rPr>
              <a:t>決まり具合</a:t>
            </a:r>
            <a:r>
              <a:rPr sz="1100" dirty="0">
                <a:solidFill>
                  <a:srgbClr val="1C2233"/>
                </a:solidFill>
                <a:latin typeface="メイリオ"/>
                <a:ea typeface="メイリオ"/>
                <a:cs typeface="メイリオ"/>
              </a:rPr>
              <a:t> × </a:t>
            </a:r>
            <a:r>
              <a:rPr sz="1100" dirty="0" err="1">
                <a:solidFill>
                  <a:srgbClr val="1C2233"/>
                </a:solidFill>
                <a:latin typeface="メイリオ"/>
                <a:ea typeface="メイリオ"/>
                <a:cs typeface="メイリオ"/>
              </a:rPr>
              <a:t>重視する軸</a:t>
            </a:r>
            <a:r>
              <a:rPr sz="1100" dirty="0">
                <a:solidFill>
                  <a:srgbClr val="1C2233"/>
                </a:solidFill>
                <a:latin typeface="メイリオ"/>
                <a:ea typeface="メイリオ"/>
                <a:cs typeface="メイリオ"/>
              </a:rPr>
              <a:t> × </a:t>
            </a:r>
            <a:r>
              <a:rPr sz="1100" dirty="0" err="1">
                <a:solidFill>
                  <a:srgbClr val="1C2233"/>
                </a:solidFill>
                <a:latin typeface="メイリオ"/>
                <a:ea typeface="メイリオ"/>
                <a:cs typeface="メイリオ"/>
              </a:rPr>
              <a:t>通学圏</a:t>
            </a:r>
            <a:r>
              <a:rPr sz="1100" dirty="0">
                <a:solidFill>
                  <a:srgbClr val="1C2233"/>
                </a:solidFill>
                <a:latin typeface="メイリオ"/>
                <a:ea typeface="メイリオ"/>
                <a:cs typeface="メイリオ"/>
              </a:rPr>
              <a:t> の4象限。</a:t>
            </a: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学費」を選んだ子には、保護者向けコンテンツも同時に送る</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一人暮らし可」なら遠方＝オンライン相談を案内する</a:t>
            </a:r>
            <a:r>
              <a:rPr sz="1100" dirty="0">
                <a:solidFill>
                  <a:srgbClr val="1C2233"/>
                </a:solidFill>
                <a:latin typeface="メイリオ"/>
                <a:ea typeface="メイリオ"/>
                <a:cs typeface="メイリオ"/>
              </a:rPr>
              <a:t>。</a:t>
            </a:r>
          </a:p>
        </p:txBody>
      </p:sp>
    </p:spTree>
    <p:extLst>
      <p:ext uri="{BB962C8B-B14F-4D97-AF65-F5344CB8AC3E}">
        <p14:creationId xmlns:p14="http://schemas.microsoft.com/office/powerpoint/2010/main" val="188939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トーク画面イメージ｜友だち追加の直後に届く1通目</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この1通で「誰か」「何をくれるか」「売り込まないか」の3つに答える。</a:t>
            </a:r>
          </a:p>
          <a:p>
            <a:pPr algn="l">
              <a:lnSpc>
                <a:spcPct val="122000"/>
              </a:lnSpc>
            </a:pPr>
            <a:r>
              <a:rPr sz="1500">
                <a:solidFill>
                  <a:srgbClr val="646C82"/>
                </a:solidFill>
                <a:latin typeface="メイリオ"/>
                <a:ea typeface="メイリオ"/>
                <a:cs typeface="メイリオ"/>
              </a:rPr>
              <a:t>ここで離脱すると、以降の配信はすべて届かない。</a:t>
            </a:r>
          </a:p>
        </p:txBody>
      </p:sp>
      <p:sp>
        <p:nvSpPr>
          <p:cNvPr id="4" name="Rounded Rectangle 3"/>
          <p:cNvSpPr/>
          <p:nvPr/>
        </p:nvSpPr>
        <p:spPr>
          <a:xfrm>
            <a:off x="612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669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69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7" name="Rounded Rectangle 6"/>
          <p:cNvSpPr/>
          <p:nvPr/>
        </p:nvSpPr>
        <p:spPr>
          <a:xfrm>
            <a:off x="738000" y="1641599"/>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友だち追加ありがとうございます🌸</a:t>
            </a:r>
          </a:p>
          <a:p>
            <a:pPr algn="l">
              <a:lnSpc>
                <a:spcPct val="116000"/>
              </a:lnSpc>
            </a:pPr>
            <a:r>
              <a:rPr sz="800">
                <a:solidFill>
                  <a:srgbClr val="1C2233"/>
                </a:solidFill>
                <a:latin typeface="メイリオ"/>
                <a:ea typeface="メイリオ"/>
                <a:cs typeface="メイリオ"/>
              </a:rPr>
              <a:t>入試広報課の[担当者名]です。</a:t>
            </a:r>
          </a:p>
        </p:txBody>
      </p:sp>
      <p:sp>
        <p:nvSpPr>
          <p:cNvPr id="8" name="Rounded Rectangle 7"/>
          <p:cNvSpPr/>
          <p:nvPr/>
        </p:nvSpPr>
        <p:spPr>
          <a:xfrm>
            <a:off x="738000" y="2026800"/>
            <a:ext cx="2412000" cy="4608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こちらから確認のお電話を</a:t>
            </a:r>
          </a:p>
          <a:p>
            <a:pPr algn="l">
              <a:lnSpc>
                <a:spcPct val="116000"/>
              </a:lnSpc>
            </a:pPr>
            <a:r>
              <a:rPr sz="800">
                <a:solidFill>
                  <a:srgbClr val="1C2233"/>
                </a:solidFill>
                <a:latin typeface="メイリオ"/>
                <a:ea typeface="メイリオ"/>
                <a:cs typeface="メイリオ"/>
              </a:rPr>
              <a:t>することはありません。</a:t>
            </a:r>
          </a:p>
          <a:p>
            <a:pPr algn="l">
              <a:lnSpc>
                <a:spcPct val="116000"/>
              </a:lnSpc>
            </a:pPr>
            <a:r>
              <a:rPr sz="800">
                <a:solidFill>
                  <a:srgbClr val="1C2233"/>
                </a:solidFill>
                <a:latin typeface="メイリオ"/>
                <a:ea typeface="メイリオ"/>
                <a:cs typeface="メイリオ"/>
              </a:rPr>
              <a:t>保護者の方もご覧いただけます。</a:t>
            </a:r>
          </a:p>
        </p:txBody>
      </p:sp>
      <p:sp>
        <p:nvSpPr>
          <p:cNvPr id="9" name="Rounded Rectangle 8"/>
          <p:cNvSpPr/>
          <p:nvPr/>
        </p:nvSpPr>
        <p:spPr>
          <a:xfrm>
            <a:off x="738000" y="2534400"/>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まずは、あなたに向いている</a:t>
            </a:r>
          </a:p>
          <a:p>
            <a:pPr algn="l">
              <a:lnSpc>
                <a:spcPct val="116000"/>
              </a:lnSpc>
            </a:pPr>
            <a:r>
              <a:rPr sz="800">
                <a:solidFill>
                  <a:srgbClr val="1C2233"/>
                </a:solidFill>
                <a:latin typeface="メイリオ"/>
                <a:ea typeface="メイリオ"/>
                <a:cs typeface="メイリオ"/>
              </a:rPr>
              <a:t>学部を30秒で診断しませんか？</a:t>
            </a:r>
          </a:p>
        </p:txBody>
      </p:sp>
      <p:sp>
        <p:nvSpPr>
          <p:cNvPr id="10" name="Rounded Rectangle 9"/>
          <p:cNvSpPr/>
          <p:nvPr/>
        </p:nvSpPr>
        <p:spPr>
          <a:xfrm>
            <a:off x="738000" y="2919600"/>
            <a:ext cx="24120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50" b="1">
                <a:solidFill>
                  <a:srgbClr val="FFFFFF"/>
                </a:solidFill>
                <a:latin typeface="メイリオ"/>
                <a:ea typeface="メイリオ"/>
                <a:cs typeface="メイリオ"/>
              </a:rPr>
              <a:t>▶ 30秒 学部学科診断をはじめる</a:t>
            </a:r>
          </a:p>
        </p:txBody>
      </p:sp>
      <p:sp>
        <p:nvSpPr>
          <p:cNvPr id="11" name="TextBox 10"/>
          <p:cNvSpPr txBox="1"/>
          <p:nvPr/>
        </p:nvSpPr>
        <p:spPr>
          <a:xfrm>
            <a:off x="738000" y="31824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既読 9:02</a:t>
            </a:r>
          </a:p>
        </p:txBody>
      </p:sp>
      <p:sp>
        <p:nvSpPr>
          <p:cNvPr id="12" name="Rounded Rectangle 11"/>
          <p:cNvSpPr/>
          <p:nvPr/>
        </p:nvSpPr>
        <p:spPr>
          <a:xfrm>
            <a:off x="3780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837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837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15" name="Rounded Rectangle 14"/>
          <p:cNvSpPr/>
          <p:nvPr/>
        </p:nvSpPr>
        <p:spPr>
          <a:xfrm>
            <a:off x="3906000" y="1641599"/>
            <a:ext cx="2412000" cy="216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Q2 学部は決まっていますか？</a:t>
            </a:r>
          </a:p>
        </p:txBody>
      </p:sp>
      <p:sp>
        <p:nvSpPr>
          <p:cNvPr id="16" name="Rounded Rectangle 15"/>
          <p:cNvSpPr/>
          <p:nvPr/>
        </p:nvSpPr>
        <p:spPr>
          <a:xfrm>
            <a:off x="3906000" y="1904400"/>
            <a:ext cx="24120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だいたい決まっている</a:t>
            </a:r>
          </a:p>
        </p:txBody>
      </p:sp>
      <p:sp>
        <p:nvSpPr>
          <p:cNvPr id="17" name="Rounded Rectangle 16"/>
          <p:cNvSpPr/>
          <p:nvPr/>
        </p:nvSpPr>
        <p:spPr>
          <a:xfrm>
            <a:off x="3906000" y="2167200"/>
            <a:ext cx="2412000" cy="2160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2〜3個に絞れた</a:t>
            </a:r>
          </a:p>
        </p:txBody>
      </p:sp>
      <p:sp>
        <p:nvSpPr>
          <p:cNvPr id="18" name="Rounded Rectangle 17"/>
          <p:cNvSpPr/>
          <p:nvPr/>
        </p:nvSpPr>
        <p:spPr>
          <a:xfrm>
            <a:off x="3906000" y="2430000"/>
            <a:ext cx="2412000" cy="338400"/>
          </a:xfrm>
          <a:prstGeom prst="roundRect">
            <a:avLst>
              <a:gd name="adj" fmla="val 6000"/>
            </a:avLst>
          </a:prstGeom>
          <a:solidFill>
            <a:srgbClr val="FFFFFF"/>
          </a:solidFill>
          <a:ln w="1143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00">
                <a:solidFill>
                  <a:srgbClr val="0B7A3B"/>
                </a:solidFill>
                <a:latin typeface="メイリオ"/>
                <a:ea typeface="メイリオ"/>
                <a:cs typeface="メイリオ"/>
              </a:rPr>
              <a:t>全然決まっていない</a:t>
            </a:r>
          </a:p>
          <a:p>
            <a:pPr algn="ctr">
              <a:lnSpc>
                <a:spcPct val="114000"/>
              </a:lnSpc>
            </a:pPr>
            <a:r>
              <a:rPr sz="800">
                <a:solidFill>
                  <a:srgbClr val="0B7A3B"/>
                </a:solidFill>
                <a:latin typeface="メイリオ"/>
                <a:ea typeface="メイリオ"/>
                <a:cs typeface="メイリオ"/>
              </a:rPr>
              <a:t>←ここが一番多くて大丈夫です</a:t>
            </a:r>
          </a:p>
        </p:txBody>
      </p:sp>
      <p:sp>
        <p:nvSpPr>
          <p:cNvPr id="19" name="TextBox 18"/>
          <p:cNvSpPr txBox="1"/>
          <p:nvPr/>
        </p:nvSpPr>
        <p:spPr>
          <a:xfrm>
            <a:off x="3906000" y="28152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 4問すべて選択式。入力はゼロ</a:t>
            </a:r>
          </a:p>
        </p:txBody>
      </p:sp>
      <p:sp>
        <p:nvSpPr>
          <p:cNvPr id="20" name="Rounded Rectangle 19"/>
          <p:cNvSpPr/>
          <p:nvPr/>
        </p:nvSpPr>
        <p:spPr>
          <a:xfrm>
            <a:off x="6948000" y="1224000"/>
            <a:ext cx="2664000" cy="3816000"/>
          </a:xfrm>
          <a:prstGeom prst="roundRect">
            <a:avLst>
              <a:gd name="adj" fmla="val 10000"/>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005600" y="1389600"/>
            <a:ext cx="2548800" cy="3592800"/>
          </a:xfrm>
          <a:prstGeom prst="rect">
            <a:avLst/>
          </a:prstGeom>
          <a:solidFill>
            <a:srgbClr val="EFF2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005600" y="1389600"/>
            <a:ext cx="2548800" cy="208800"/>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18000" tIns="0" rIns="18000" bIns="0" rtlCol="0" anchor="ctr"/>
          <a:lstStyle/>
          <a:p>
            <a:pPr algn="ctr"/>
            <a:r>
              <a:rPr sz="800" b="1">
                <a:solidFill>
                  <a:srgbClr val="FFFFFF"/>
                </a:solidFill>
                <a:latin typeface="メイリオ"/>
                <a:ea typeface="メイリオ"/>
                <a:cs typeface="メイリオ"/>
              </a:rPr>
              <a:t>◯◯大学 受験生応援</a:t>
            </a:r>
          </a:p>
        </p:txBody>
      </p:sp>
      <p:sp>
        <p:nvSpPr>
          <p:cNvPr id="23" name="Rounded Rectangle 22"/>
          <p:cNvSpPr/>
          <p:nvPr/>
        </p:nvSpPr>
        <p:spPr>
          <a:xfrm>
            <a:off x="7074000" y="1641599"/>
            <a:ext cx="2412000" cy="2160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診断結果が出ました📋</a:t>
            </a:r>
          </a:p>
        </p:txBody>
      </p:sp>
      <p:sp>
        <p:nvSpPr>
          <p:cNvPr id="24" name="Rounded Rectangle 23"/>
          <p:cNvSpPr/>
          <p:nvPr/>
        </p:nvSpPr>
        <p:spPr>
          <a:xfrm>
            <a:off x="7074000" y="1904400"/>
            <a:ext cx="2412000" cy="4608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「やりたいことが決まっていない」</a:t>
            </a:r>
          </a:p>
          <a:p>
            <a:pPr algn="l">
              <a:lnSpc>
                <a:spcPct val="116000"/>
              </a:lnSpc>
            </a:pPr>
            <a:r>
              <a:rPr sz="800">
                <a:solidFill>
                  <a:srgbClr val="1C2233"/>
                </a:solidFill>
                <a:latin typeface="メイリオ"/>
                <a:ea typeface="メイリオ"/>
                <a:cs typeface="メイリオ"/>
              </a:rPr>
              <a:t>——実は、いま在学している学生の</a:t>
            </a:r>
          </a:p>
          <a:p>
            <a:pPr algn="l">
              <a:lnSpc>
                <a:spcPct val="116000"/>
              </a:lnSpc>
            </a:pPr>
            <a:r>
              <a:rPr sz="800">
                <a:solidFill>
                  <a:srgbClr val="1C2233"/>
                </a:solidFill>
                <a:latin typeface="メイリオ"/>
                <a:ea typeface="メイリオ"/>
                <a:cs typeface="メイリオ"/>
              </a:rPr>
              <a:t>多くが高2のこの時期は同じでした。</a:t>
            </a:r>
          </a:p>
        </p:txBody>
      </p:sp>
      <p:sp>
        <p:nvSpPr>
          <p:cNvPr id="25" name="Rounded Rectangle 24"/>
          <p:cNvSpPr/>
          <p:nvPr/>
        </p:nvSpPr>
        <p:spPr>
          <a:xfrm>
            <a:off x="7074000" y="2412000"/>
            <a:ext cx="2412000" cy="338400"/>
          </a:xfrm>
          <a:prstGeom prst="roundRect">
            <a:avLst>
              <a:gd name="adj" fmla="val 6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wrap="square" lIns="57600" tIns="18000" rIns="43200" bIns="18000" rtlCol="0" anchor="ctr"/>
          <a:lstStyle/>
          <a:p>
            <a:pPr algn="l">
              <a:lnSpc>
                <a:spcPct val="116000"/>
              </a:lnSpc>
            </a:pPr>
            <a:r>
              <a:rPr sz="800">
                <a:solidFill>
                  <a:srgbClr val="1C2233"/>
                </a:solidFill>
                <a:latin typeface="メイリオ"/>
                <a:ea typeface="メイリオ"/>
                <a:cs typeface="メイリオ"/>
              </a:rPr>
              <a:t>あなたに向いていそうなのは</a:t>
            </a:r>
          </a:p>
          <a:p>
            <a:pPr algn="l">
              <a:lnSpc>
                <a:spcPct val="116000"/>
              </a:lnSpc>
            </a:pPr>
            <a:r>
              <a:rPr sz="800">
                <a:solidFill>
                  <a:srgbClr val="1C2233"/>
                </a:solidFill>
                <a:latin typeface="メイリオ"/>
                <a:ea typeface="メイリオ"/>
                <a:cs typeface="メイリオ"/>
              </a:rPr>
              <a:t>“入ってから選べる”学び方です。</a:t>
            </a:r>
          </a:p>
        </p:txBody>
      </p:sp>
      <p:sp>
        <p:nvSpPr>
          <p:cNvPr id="26" name="Rounded Rectangle 25"/>
          <p:cNvSpPr/>
          <p:nvPr/>
        </p:nvSpPr>
        <p:spPr>
          <a:xfrm>
            <a:off x="7074000" y="2797200"/>
            <a:ext cx="2412000" cy="216000"/>
          </a:xfrm>
          <a:prstGeom prst="roundRect">
            <a:avLst>
              <a:gd name="adj" fmla="val 6000"/>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28800" tIns="10800" rIns="28800" bIns="10800" rtlCol="0" anchor="ctr"/>
          <a:lstStyle/>
          <a:p>
            <a:pPr algn="ctr">
              <a:lnSpc>
                <a:spcPct val="114000"/>
              </a:lnSpc>
            </a:pPr>
            <a:r>
              <a:rPr sz="850" b="1">
                <a:solidFill>
                  <a:srgbClr val="FFFFFF"/>
                </a:solidFill>
                <a:latin typeface="メイリオ"/>
                <a:ea typeface="メイリオ"/>
                <a:cs typeface="メイリオ"/>
              </a:rPr>
              <a:t>▶ 在学生Aさんの1日を見る（3分）</a:t>
            </a:r>
          </a:p>
        </p:txBody>
      </p:sp>
      <p:sp>
        <p:nvSpPr>
          <p:cNvPr id="27" name="TextBox 26"/>
          <p:cNvSpPr txBox="1"/>
          <p:nvPr/>
        </p:nvSpPr>
        <p:spPr>
          <a:xfrm>
            <a:off x="7074000" y="3060000"/>
            <a:ext cx="2412000" cy="216000"/>
          </a:xfrm>
          <a:prstGeom prst="rect">
            <a:avLst/>
          </a:prstGeom>
          <a:noFill/>
        </p:spPr>
        <p:txBody>
          <a:bodyPr wrap="square" lIns="18000" tIns="0" rIns="18000" bIns="0" anchor="ctr">
            <a:spAutoFit/>
          </a:bodyPr>
          <a:lstStyle/>
          <a:p>
            <a:pPr algn="l">
              <a:lnSpc>
                <a:spcPct val="114000"/>
              </a:lnSpc>
            </a:pPr>
            <a:r>
              <a:rPr sz="750">
                <a:solidFill>
                  <a:srgbClr val="7F7F7F"/>
                </a:solidFill>
                <a:latin typeface="メイリオ"/>
                <a:ea typeface="メイリオ"/>
                <a:cs typeface="メイリオ"/>
              </a:rPr>
              <a:t>費用の話は、この後に出す</a:t>
            </a:r>
          </a:p>
        </p:txBody>
      </p:sp>
      <p:sp>
        <p:nvSpPr>
          <p:cNvPr id="28" name="Rounded Rectangle 27"/>
          <p:cNvSpPr/>
          <p:nvPr/>
        </p:nvSpPr>
        <p:spPr>
          <a:xfrm>
            <a:off x="612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① 追加直後：売らない。電話しないと明記する</a:t>
            </a:r>
          </a:p>
        </p:txBody>
      </p:sp>
      <p:sp>
        <p:nvSpPr>
          <p:cNvPr id="29" name="Rounded Rectangle 28"/>
          <p:cNvSpPr/>
          <p:nvPr/>
        </p:nvSpPr>
        <p:spPr>
          <a:xfrm>
            <a:off x="3780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② 診断：4問すべて選択式・入力はゼロ</a:t>
            </a:r>
          </a:p>
        </p:txBody>
      </p:sp>
      <p:sp>
        <p:nvSpPr>
          <p:cNvPr id="30" name="Rounded Rectangle 29"/>
          <p:cNvSpPr/>
          <p:nvPr/>
        </p:nvSpPr>
        <p:spPr>
          <a:xfrm>
            <a:off x="6948000" y="5094000"/>
            <a:ext cx="2664000" cy="396000"/>
          </a:xfrm>
          <a:prstGeom prst="roundRect">
            <a:avLst>
              <a:gd name="adj" fmla="val 6000"/>
            </a:avLst>
          </a:prstGeom>
          <a:solidFill>
            <a:srgbClr val="F4F7FF"/>
          </a:solidFill>
          <a:ln w="12700">
            <a:solidFill>
              <a:srgbClr val="1F285A"/>
            </a:solidFill>
          </a:ln>
          <a:effectLst/>
        </p:spPr>
        <p:style>
          <a:lnRef idx="1">
            <a:schemeClr val="accent1"/>
          </a:lnRef>
          <a:fillRef idx="3">
            <a:schemeClr val="accent1"/>
          </a:fillRef>
          <a:effectRef idx="2">
            <a:schemeClr val="accent1"/>
          </a:effectRef>
          <a:fontRef idx="minor">
            <a:schemeClr val="lt1"/>
          </a:fontRef>
        </p:style>
        <p:txBody>
          <a:bodyPr wrap="square" lIns="21600" tIns="0" rIns="21600" bIns="0" rtlCol="0" anchor="ctr"/>
          <a:lstStyle/>
          <a:p>
            <a:pPr algn="ctr"/>
            <a:r>
              <a:rPr sz="1050" b="1">
                <a:solidFill>
                  <a:srgbClr val="1F285A"/>
                </a:solidFill>
                <a:latin typeface="メイリオ"/>
                <a:ea typeface="メイリオ"/>
                <a:cs typeface="メイリオ"/>
              </a:rPr>
              <a:t>③ 結果：共感 → 実例 → 費用 → CTA の順</a:t>
            </a:r>
          </a:p>
        </p:txBody>
      </p:sp>
      <p:sp>
        <p:nvSpPr>
          <p:cNvPr id="31" name="Rectangle 30"/>
          <p:cNvSpPr/>
          <p:nvPr/>
        </p:nvSpPr>
        <p:spPr>
          <a:xfrm>
            <a:off x="396000" y="554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32000" y="554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76000" y="5623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1通目で予約は求めない。求めるのは診断への回答だけ。</a:t>
            </a:r>
          </a:p>
        </p:txBody>
      </p:sp>
      <p:sp>
        <p:nvSpPr>
          <p:cNvPr id="34" name="TextBox 33"/>
          <p:cNvSpPr txBox="1"/>
          <p:nvPr/>
        </p:nvSpPr>
        <p:spPr>
          <a:xfrm>
            <a:off x="396000" y="6138000"/>
            <a:ext cx="9144000" cy="3312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診断結果は「共感 → 実例 → 学べること → 費用 → CTA」の順。費用を先に出すと逃げられる（前後検索で検証済み）。</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DB2C5-43E4-382E-3F0A-0B0F5E9FBB44}"/>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企画配信カレンダー｜入試日程は動かせない。だから逆算で組む</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検索の山（実測）と入試日程（文科省）を重ねて、配信する月を先に決めてしまう。</a:t>
            </a:r>
          </a:p>
        </p:txBody>
      </p:sp>
      <p:graphicFrame>
        <p:nvGraphicFramePr>
          <p:cNvPr id="4" name="Table 3"/>
          <p:cNvGraphicFramePr>
            <a:graphicFrameLocks noGrp="1"/>
          </p:cNvGraphicFramePr>
          <p:nvPr>
            <p:extLst>
              <p:ext uri="{D42A27DB-BD31-4B8C-83A1-F6EECF244321}">
                <p14:modId xmlns:p14="http://schemas.microsoft.com/office/powerpoint/2010/main" val="3272579774"/>
              </p:ext>
            </p:extLst>
          </p:nvPr>
        </p:nvGraphicFramePr>
        <p:xfrm>
          <a:off x="396000" y="1224000"/>
          <a:ext cx="9144000" cy="44640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gridCol w="3240000">
                  <a:extLst>
                    <a:ext uri="{9D8B030D-6E8A-4147-A177-3AD203B41FA5}">
                      <a16:colId xmlns:a16="http://schemas.microsoft.com/office/drawing/2014/main" val="20002"/>
                    </a:ext>
                  </a:extLst>
                </a:gridCol>
              </a:tblGrid>
              <a:tr h="558000">
                <a:tc>
                  <a:txBody>
                    <a:bodyPr/>
                    <a:lstStyle/>
                    <a:p>
                      <a:pPr algn="ctr"/>
                      <a:r>
                        <a:rPr sz="1200" b="1">
                          <a:solidFill>
                            <a:srgbClr val="FFFFFF"/>
                          </a:solidFill>
                          <a:latin typeface="メイリオ"/>
                          <a:ea typeface="メイリオ"/>
                          <a:cs typeface="メイリオ"/>
                        </a:rPr>
                        <a:t>時期</a:t>
                      </a:r>
                    </a:p>
                  </a:txBody>
                  <a:tcPr anchor="ctr">
                    <a:solidFill>
                      <a:srgbClr val="1F285A"/>
                    </a:solidFill>
                  </a:tcPr>
                </a:tc>
                <a:tc>
                  <a:txBody>
                    <a:bodyPr/>
                    <a:lstStyle/>
                    <a:p>
                      <a:pPr algn="l"/>
                      <a:r>
                        <a:rPr sz="1200" b="1">
                          <a:solidFill>
                            <a:srgbClr val="FFFFFF"/>
                          </a:solidFill>
                          <a:latin typeface="メイリオ"/>
                          <a:ea typeface="メイリオ"/>
                          <a:cs typeface="メイリオ"/>
                        </a:rPr>
                        <a:t>企画</a:t>
                      </a:r>
                    </a:p>
                  </a:txBody>
                  <a:tcPr anchor="ctr">
                    <a:solidFill>
                      <a:srgbClr val="1F285A"/>
                    </a:solidFill>
                  </a:tcPr>
                </a:tc>
                <a:tc>
                  <a:txBody>
                    <a:bodyPr/>
                    <a:lstStyle/>
                    <a:p>
                      <a:pPr algn="l"/>
                      <a:r>
                        <a:rPr sz="1200" b="1">
                          <a:solidFill>
                            <a:srgbClr val="FFFFFF"/>
                          </a:solidFill>
                          <a:latin typeface="メイリオ"/>
                          <a:ea typeface="メイリオ"/>
                          <a:cs typeface="メイリオ"/>
                        </a:rPr>
                        <a:t>参照データ</a:t>
                      </a:r>
                    </a:p>
                  </a:txBody>
                  <a:tcPr anchor="ctr">
                    <a:solidFill>
                      <a:srgbClr val="1F285A"/>
                    </a:solidFill>
                  </a:tcPr>
                </a:tc>
                <a:extLst>
                  <a:ext uri="{0D108BD9-81ED-4DB2-BD59-A6C34878D82A}">
                    <a16:rowId xmlns:a16="http://schemas.microsoft.com/office/drawing/2014/main" val="10000"/>
                  </a:ext>
                </a:extLst>
              </a:tr>
              <a:tr h="558000">
                <a:tc>
                  <a:txBody>
                    <a:bodyPr/>
                    <a:lstStyle/>
                    <a:p>
                      <a:pPr algn="ctr"/>
                      <a:r>
                        <a:rPr sz="1100">
                          <a:solidFill>
                            <a:srgbClr val="1C2233"/>
                          </a:solidFill>
                          <a:latin typeface="メイリオ"/>
                          <a:ea typeface="メイリオ"/>
                          <a:cs typeface="メイリオ"/>
                        </a:rPr>
                        <a:t>3〜4月</a:t>
                      </a:r>
                    </a:p>
                  </a:txBody>
                  <a:tcPr anchor="ctr">
                    <a:solidFill>
                      <a:srgbClr val="FFFFFF"/>
                    </a:solidFill>
                  </a:tcPr>
                </a:tc>
                <a:tc>
                  <a:txBody>
                    <a:bodyPr/>
                    <a:lstStyle/>
                    <a:p>
                      <a:pPr algn="l"/>
                      <a:r>
                        <a:rPr sz="1100">
                          <a:solidFill>
                            <a:srgbClr val="1C2233"/>
                          </a:solidFill>
                          <a:latin typeface="メイリオ"/>
                          <a:ea typeface="メイリオ"/>
                          <a:cs typeface="メイリオ"/>
                        </a:rPr>
                        <a:t>新学年スタート企画：「まだ決まっていなくていい」学部学科診断キャンペーン</a:t>
                      </a:r>
                    </a:p>
                  </a:txBody>
                  <a:tcPr anchor="ctr">
                    <a:solidFill>
                      <a:srgbClr val="FFFFFF"/>
                    </a:solidFill>
                  </a:tcPr>
                </a:tc>
                <a:tc>
                  <a:txBody>
                    <a:bodyPr/>
                    <a:lstStyle/>
                    <a:p>
                      <a:pPr algn="l"/>
                      <a:r>
                        <a:rPr sz="1100">
                          <a:solidFill>
                            <a:srgbClr val="1C2233"/>
                          </a:solidFill>
                          <a:latin typeface="メイリオ"/>
                          <a:ea typeface="メイリオ"/>
                          <a:cs typeface="メイリオ"/>
                        </a:rPr>
                        <a:t>入塾・進路検討の立ち上がり（高2春〜）</a:t>
                      </a:r>
                    </a:p>
                  </a:txBody>
                  <a:tcPr anchor="ctr">
                    <a:solidFill>
                      <a:srgbClr val="FFFFFF"/>
                    </a:solidFill>
                  </a:tcPr>
                </a:tc>
                <a:extLst>
                  <a:ext uri="{0D108BD9-81ED-4DB2-BD59-A6C34878D82A}">
                    <a16:rowId xmlns:a16="http://schemas.microsoft.com/office/drawing/2014/main" val="10001"/>
                  </a:ext>
                </a:extLst>
              </a:tr>
              <a:tr h="558000">
                <a:tc>
                  <a:txBody>
                    <a:bodyPr/>
                    <a:lstStyle/>
                    <a:p>
                      <a:pPr algn="ctr"/>
                      <a:r>
                        <a:rPr sz="1100">
                          <a:solidFill>
                            <a:srgbClr val="1C2233"/>
                          </a:solidFill>
                          <a:latin typeface="メイリオ"/>
                          <a:ea typeface="メイリオ"/>
                          <a:cs typeface="メイリオ"/>
                        </a:rPr>
                        <a:t>5月下旬〜6月</a:t>
                      </a:r>
                    </a:p>
                  </a:txBody>
                  <a:tcPr anchor="ctr">
                    <a:solidFill>
                      <a:srgbClr val="F4F7FF"/>
                    </a:solidFill>
                  </a:tcPr>
                </a:tc>
                <a:tc>
                  <a:txBody>
                    <a:bodyPr/>
                    <a:lstStyle/>
                    <a:p>
                      <a:pPr algn="l"/>
                      <a:r>
                        <a:rPr sz="1100">
                          <a:solidFill>
                            <a:srgbClr val="1C2233"/>
                          </a:solidFill>
                          <a:latin typeface="メイリオ"/>
                          <a:ea typeface="メイリオ"/>
                          <a:cs typeface="メイリオ"/>
                        </a:rPr>
                        <a:t>OC先行案内：日程公開＋1人参加OK＋当日の流れを先に送る　★仕込みの本番</a:t>
                      </a:r>
                    </a:p>
                  </a:txBody>
                  <a:tcPr anchor="ctr">
                    <a:solidFill>
                      <a:srgbClr val="F4F7FF"/>
                    </a:solidFill>
                  </a:tcPr>
                </a:tc>
                <a:tc>
                  <a:txBody>
                    <a:bodyPr/>
                    <a:lstStyle/>
                    <a:p>
                      <a:pPr algn="l"/>
                      <a:r>
                        <a:rPr sz="1100">
                          <a:solidFill>
                            <a:srgbClr val="1C2233"/>
                          </a:solidFill>
                          <a:latin typeface="メイリオ"/>
                          <a:ea typeface="メイリオ"/>
                          <a:cs typeface="メイリオ"/>
                        </a:rPr>
                        <a:t>検索が動き出すのは5/25週。6/29週で既に年間ピークの半分（トレンド実測）</a:t>
                      </a:r>
                    </a:p>
                  </a:txBody>
                  <a:tcPr anchor="ctr">
                    <a:solidFill>
                      <a:srgbClr val="F4F7FF"/>
                    </a:solidFill>
                  </a:tcPr>
                </a:tc>
                <a:extLst>
                  <a:ext uri="{0D108BD9-81ED-4DB2-BD59-A6C34878D82A}">
                    <a16:rowId xmlns:a16="http://schemas.microsoft.com/office/drawing/2014/main" val="10002"/>
                  </a:ext>
                </a:extLst>
              </a:tr>
              <a:tr h="558000">
                <a:tc>
                  <a:txBody>
                    <a:bodyPr/>
                    <a:lstStyle/>
                    <a:p>
                      <a:pPr algn="ctr"/>
                      <a:r>
                        <a:rPr sz="1100">
                          <a:solidFill>
                            <a:srgbClr val="1C2233"/>
                          </a:solidFill>
                          <a:latin typeface="メイリオ"/>
                          <a:ea typeface="メイリオ"/>
                          <a:cs typeface="メイリオ"/>
                        </a:rPr>
                        <a:t>7〜8月</a:t>
                      </a:r>
                    </a:p>
                  </a:txBody>
                  <a:tcPr anchor="ctr">
                    <a:solidFill>
                      <a:srgbClr val="FFFFFF"/>
                    </a:solidFill>
                  </a:tcPr>
                </a:tc>
                <a:tc>
                  <a:txBody>
                    <a:bodyPr/>
                    <a:lstStyle/>
                    <a:p>
                      <a:pPr algn="l"/>
                      <a:r>
                        <a:rPr sz="1100">
                          <a:solidFill>
                            <a:srgbClr val="1C2233"/>
                          </a:solidFill>
                          <a:latin typeface="メイリオ"/>
                          <a:ea typeface="メイリオ"/>
                          <a:cs typeface="メイリオ"/>
                        </a:rPr>
                        <a:t>OC直前・当日・参加後の3点セット：前日リマインド／受付QR／参加後アンケート</a:t>
                      </a:r>
                    </a:p>
                  </a:txBody>
                  <a:tcPr anchor="ctr">
                    <a:solidFill>
                      <a:srgbClr val="FFFFFF"/>
                    </a:solidFill>
                  </a:tcPr>
                </a:tc>
                <a:tc>
                  <a:txBody>
                    <a:bodyPr/>
                    <a:lstStyle/>
                    <a:p>
                      <a:pPr algn="l"/>
                      <a:r>
                        <a:rPr sz="1100">
                          <a:solidFill>
                            <a:srgbClr val="1C2233"/>
                          </a:solidFill>
                          <a:latin typeface="メイリオ"/>
                          <a:ea typeface="メイリオ"/>
                          <a:cs typeface="メイリオ"/>
                        </a:rPr>
                        <a:t>「オープンキャンパス」ピーク＝7/27週（5年連続で7月ピーク）</a:t>
                      </a:r>
                    </a:p>
                  </a:txBody>
                  <a:tcPr anchor="ctr">
                    <a:solidFill>
                      <a:srgbClr val="FFFFFF"/>
                    </a:solidFill>
                  </a:tcPr>
                </a:tc>
                <a:extLst>
                  <a:ext uri="{0D108BD9-81ED-4DB2-BD59-A6C34878D82A}">
                    <a16:rowId xmlns:a16="http://schemas.microsoft.com/office/drawing/2014/main" val="10003"/>
                  </a:ext>
                </a:extLst>
              </a:tr>
              <a:tr h="558000">
                <a:tc>
                  <a:txBody>
                    <a:bodyPr/>
                    <a:lstStyle/>
                    <a:p>
                      <a:pPr algn="ctr"/>
                      <a:r>
                        <a:rPr sz="1100">
                          <a:solidFill>
                            <a:srgbClr val="1C2233"/>
                          </a:solidFill>
                          <a:latin typeface="メイリオ"/>
                          <a:ea typeface="メイリオ"/>
                          <a:cs typeface="メイリオ"/>
                        </a:rPr>
                        <a:t>9月</a:t>
                      </a:r>
                    </a:p>
                  </a:txBody>
                  <a:tcPr anchor="ctr">
                    <a:solidFill>
                      <a:srgbClr val="F4F7FF"/>
                    </a:solidFill>
                  </a:tcPr>
                </a:tc>
                <a:tc>
                  <a:txBody>
                    <a:bodyPr/>
                    <a:lstStyle/>
                    <a:p>
                      <a:pPr algn="l"/>
                      <a:r>
                        <a:rPr sz="1100">
                          <a:solidFill>
                            <a:srgbClr val="1C2233"/>
                          </a:solidFill>
                          <a:latin typeface="メイリオ"/>
                          <a:ea typeface="メイリオ"/>
                          <a:cs typeface="メイリオ"/>
                        </a:rPr>
                        <a:t>総合型選抜の出願支援：志望理由書の書き方・面接10問・締切カウントダウン</a:t>
                      </a:r>
                    </a:p>
                  </a:txBody>
                  <a:tcPr anchor="ctr">
                    <a:solidFill>
                      <a:srgbClr val="F4F7FF"/>
                    </a:solidFill>
                  </a:tcPr>
                </a:tc>
                <a:tc>
                  <a:txBody>
                    <a:bodyPr/>
                    <a:lstStyle/>
                    <a:p>
                      <a:pPr algn="l"/>
                      <a:r>
                        <a:rPr sz="1100">
                          <a:solidFill>
                            <a:srgbClr val="1C2233"/>
                          </a:solidFill>
                          <a:latin typeface="メイリオ"/>
                          <a:ea typeface="メイリオ"/>
                          <a:cs typeface="メイリオ"/>
                        </a:rPr>
                        <a:t>「総合型選抜」ピーク＝8/31週（9/1出願解禁を含む週）。5年で3.3倍</a:t>
                      </a:r>
                    </a:p>
                  </a:txBody>
                  <a:tcPr anchor="ctr">
                    <a:solidFill>
                      <a:srgbClr val="F4F7FF"/>
                    </a:solidFill>
                  </a:tcPr>
                </a:tc>
                <a:extLst>
                  <a:ext uri="{0D108BD9-81ED-4DB2-BD59-A6C34878D82A}">
                    <a16:rowId xmlns:a16="http://schemas.microsoft.com/office/drawing/2014/main" val="10004"/>
                  </a:ext>
                </a:extLst>
              </a:tr>
              <a:tr h="558000">
                <a:tc>
                  <a:txBody>
                    <a:bodyPr/>
                    <a:lstStyle/>
                    <a:p>
                      <a:pPr algn="ctr"/>
                      <a:r>
                        <a:rPr sz="1100">
                          <a:solidFill>
                            <a:srgbClr val="1C2233"/>
                          </a:solidFill>
                          <a:latin typeface="メイリオ"/>
                          <a:ea typeface="メイリオ"/>
                          <a:cs typeface="メイリオ"/>
                        </a:rPr>
                        <a:t>10〜11月</a:t>
                      </a:r>
                    </a:p>
                  </a:txBody>
                  <a:tcPr anchor="ctr">
                    <a:solidFill>
                      <a:srgbClr val="FFFFFF"/>
                    </a:solidFill>
                  </a:tcPr>
                </a:tc>
                <a:tc>
                  <a:txBody>
                    <a:bodyPr/>
                    <a:lstStyle/>
                    <a:p>
                      <a:pPr algn="l"/>
                      <a:r>
                        <a:rPr sz="1100">
                          <a:solidFill>
                            <a:srgbClr val="1C2233"/>
                          </a:solidFill>
                          <a:latin typeface="メイリオ"/>
                          <a:ea typeface="メイリオ"/>
                          <a:cs typeface="メイリオ"/>
                        </a:rPr>
                        <a:t>学校推薦型・指定校推薦の出願支援／保護者向け説明会の案内</a:t>
                      </a:r>
                    </a:p>
                  </a:txBody>
                  <a:tcPr anchor="ctr">
                    <a:solidFill>
                      <a:srgbClr val="FFFFFF"/>
                    </a:solidFill>
                  </a:tcPr>
                </a:tc>
                <a:tc>
                  <a:txBody>
                    <a:bodyPr/>
                    <a:lstStyle/>
                    <a:p>
                      <a:pPr algn="l"/>
                      <a:r>
                        <a:rPr sz="1100" dirty="0">
                          <a:solidFill>
                            <a:srgbClr val="1C2233"/>
                          </a:solidFill>
                          <a:latin typeface="メイリオ"/>
                          <a:ea typeface="メイリオ"/>
                          <a:cs typeface="メイリオ"/>
                        </a:rPr>
                        <a:t>「学校推薦型選抜」は11月単峰。「指定校推薦」は11月中旬に第2の山</a:t>
                      </a:r>
                    </a:p>
                  </a:txBody>
                  <a:tcPr anchor="ctr">
                    <a:solidFill>
                      <a:srgbClr val="FFFFFF"/>
                    </a:solidFill>
                  </a:tcPr>
                </a:tc>
                <a:extLst>
                  <a:ext uri="{0D108BD9-81ED-4DB2-BD59-A6C34878D82A}">
                    <a16:rowId xmlns:a16="http://schemas.microsoft.com/office/drawing/2014/main" val="10005"/>
                  </a:ext>
                </a:extLst>
              </a:tr>
              <a:tr h="558000">
                <a:tc>
                  <a:txBody>
                    <a:bodyPr/>
                    <a:lstStyle/>
                    <a:p>
                      <a:pPr algn="ctr"/>
                      <a:r>
                        <a:rPr sz="1100">
                          <a:solidFill>
                            <a:srgbClr val="1C2233"/>
                          </a:solidFill>
                          <a:latin typeface="メイリオ"/>
                          <a:ea typeface="メイリオ"/>
                          <a:cs typeface="メイリオ"/>
                        </a:rPr>
                        <a:t>12〜1月</a:t>
                      </a:r>
                    </a:p>
                  </a:txBody>
                  <a:tcPr anchor="ctr">
                    <a:solidFill>
                      <a:srgbClr val="F4F7FF"/>
                    </a:solidFill>
                  </a:tcPr>
                </a:tc>
                <a:tc>
                  <a:txBody>
                    <a:bodyPr/>
                    <a:lstStyle/>
                    <a:p>
                      <a:pPr algn="l"/>
                      <a:r>
                        <a:rPr sz="1100">
                          <a:solidFill>
                            <a:srgbClr val="1C2233"/>
                          </a:solidFill>
                          <a:latin typeface="メイリオ"/>
                          <a:ea typeface="メイリオ"/>
                          <a:cs typeface="メイリオ"/>
                        </a:rPr>
                        <a:t>一般選抜層の受け皿：入試方式の違い・過去問・入試説明会</a:t>
                      </a:r>
                    </a:p>
                  </a:txBody>
                  <a:tcPr anchor="ctr">
                    <a:solidFill>
                      <a:srgbClr val="F4F7FF"/>
                    </a:solidFill>
                  </a:tcPr>
                </a:tc>
                <a:tc>
                  <a:txBody>
                    <a:bodyPr/>
                    <a:lstStyle/>
                    <a:p>
                      <a:pPr algn="l"/>
                      <a:r>
                        <a:rPr sz="1100" dirty="0">
                          <a:solidFill>
                            <a:srgbClr val="1C2233"/>
                          </a:solidFill>
                          <a:latin typeface="メイリオ"/>
                          <a:ea typeface="メイリオ"/>
                          <a:cs typeface="メイリオ"/>
                        </a:rPr>
                        <a:t>「共通テスト」は1月中旬の2週間だけ動く</a:t>
                      </a:r>
                      <a:endParaRPr lang="en-US" sz="1100" dirty="0">
                        <a:solidFill>
                          <a:srgbClr val="1C2233"/>
                        </a:solidFill>
                        <a:latin typeface="メイリオ"/>
                        <a:ea typeface="メイリオ"/>
                        <a:cs typeface="メイリオ"/>
                      </a:endParaRPr>
                    </a:p>
                    <a:p>
                      <a:pPr algn="l"/>
                      <a:r>
                        <a:rPr sz="1100" dirty="0">
                          <a:solidFill>
                            <a:srgbClr val="1C2233"/>
                          </a:solidFill>
                          <a:latin typeface="メイリオ"/>
                          <a:ea typeface="メイリオ"/>
                          <a:cs typeface="メイリオ"/>
                        </a:rPr>
                        <a:t>（他月は10以下）</a:t>
                      </a:r>
                    </a:p>
                  </a:txBody>
                  <a:tcPr anchor="ctr">
                    <a:solidFill>
                      <a:srgbClr val="F4F7FF"/>
                    </a:solidFill>
                  </a:tcPr>
                </a:tc>
                <a:extLst>
                  <a:ext uri="{0D108BD9-81ED-4DB2-BD59-A6C34878D82A}">
                    <a16:rowId xmlns:a16="http://schemas.microsoft.com/office/drawing/2014/main" val="10006"/>
                  </a:ext>
                </a:extLst>
              </a:tr>
              <a:tr h="558000">
                <a:tc>
                  <a:txBody>
                    <a:bodyPr/>
                    <a:lstStyle/>
                    <a:p>
                      <a:pPr algn="ctr"/>
                      <a:r>
                        <a:rPr sz="1100">
                          <a:solidFill>
                            <a:srgbClr val="1C2233"/>
                          </a:solidFill>
                          <a:latin typeface="メイリオ"/>
                          <a:ea typeface="メイリオ"/>
                          <a:cs typeface="メイリオ"/>
                        </a:rPr>
                        <a:t>2〜3月</a:t>
                      </a:r>
                    </a:p>
                  </a:txBody>
                  <a:tcPr anchor="ctr">
                    <a:solidFill>
                      <a:srgbClr val="FFFFFF"/>
                    </a:solidFill>
                  </a:tcPr>
                </a:tc>
                <a:tc>
                  <a:txBody>
                    <a:bodyPr/>
                    <a:lstStyle/>
                    <a:p>
                      <a:pPr algn="l"/>
                      <a:r>
                        <a:rPr sz="1100" dirty="0" err="1">
                          <a:solidFill>
                            <a:srgbClr val="1C2233"/>
                          </a:solidFill>
                          <a:latin typeface="メイリオ"/>
                          <a:ea typeface="メイリオ"/>
                          <a:cs typeface="メイリオ"/>
                        </a:rPr>
                        <a:t>入学手続期の離脱防止：入学前オリエン・先輩との交流</a:t>
                      </a:r>
                      <a:r>
                        <a:rPr sz="1100" dirty="0">
                          <a:solidFill>
                            <a:srgbClr val="1C2233"/>
                          </a:solidFill>
                          <a:latin typeface="メイリオ"/>
                          <a:ea typeface="メイリオ"/>
                          <a:cs typeface="メイリオ"/>
                        </a:rPr>
                        <a:t>・</a:t>
                      </a:r>
                      <a:endParaRPr lang="en-US" sz="1100" dirty="0">
                        <a:solidFill>
                          <a:srgbClr val="1C2233"/>
                        </a:solidFill>
                        <a:latin typeface="メイリオ"/>
                        <a:ea typeface="メイリオ"/>
                        <a:cs typeface="メイリオ"/>
                      </a:endParaRPr>
                    </a:p>
                    <a:p>
                      <a:pPr algn="l"/>
                      <a:r>
                        <a:rPr sz="1100" dirty="0" err="1">
                          <a:solidFill>
                            <a:srgbClr val="1C2233"/>
                          </a:solidFill>
                          <a:latin typeface="メイリオ"/>
                          <a:ea typeface="メイリオ"/>
                          <a:cs typeface="メイリオ"/>
                        </a:rPr>
                        <a:t>一人暮らし準備</a:t>
                      </a:r>
                      <a:endParaRPr sz="1100" dirty="0">
                        <a:solidFill>
                          <a:srgbClr val="1C2233"/>
                        </a:solidFill>
                        <a:latin typeface="メイリオ"/>
                        <a:ea typeface="メイリオ"/>
                        <a:cs typeface="メイリオ"/>
                      </a:endParaRPr>
                    </a:p>
                  </a:txBody>
                  <a:tcPr anchor="ctr">
                    <a:solidFill>
                      <a:srgbClr val="FFFFFF"/>
                    </a:solidFill>
                  </a:tcPr>
                </a:tc>
                <a:tc>
                  <a:txBody>
                    <a:bodyPr/>
                    <a:lstStyle/>
                    <a:p>
                      <a:pPr algn="l"/>
                      <a:r>
                        <a:rPr sz="1100" dirty="0" err="1">
                          <a:solidFill>
                            <a:srgbClr val="1C2233"/>
                          </a:solidFill>
                          <a:latin typeface="メイリオ"/>
                          <a:ea typeface="メイリオ"/>
                          <a:cs typeface="メイリオ"/>
                        </a:rPr>
                        <a:t>一般選抜</a:t>
                      </a:r>
                      <a:r>
                        <a:rPr sz="1100" dirty="0">
                          <a:solidFill>
                            <a:srgbClr val="1C2233"/>
                          </a:solidFill>
                          <a:latin typeface="メイリオ"/>
                          <a:ea typeface="メイリオ"/>
                          <a:cs typeface="メイリオ"/>
                        </a:rPr>
                        <a:t> 2/1〜。</a:t>
                      </a:r>
                      <a:r>
                        <a:rPr sz="1100" dirty="0" err="1">
                          <a:solidFill>
                            <a:srgbClr val="1C2233"/>
                          </a:solidFill>
                          <a:latin typeface="メイリオ"/>
                          <a:ea typeface="メイリオ"/>
                          <a:cs typeface="メイリオ"/>
                        </a:rPr>
                        <a:t>併願による流出が起きる区間</a:t>
                      </a:r>
                      <a:endParaRPr sz="1100" dirty="0">
                        <a:solidFill>
                          <a:srgbClr val="1C2233"/>
                        </a:solidFill>
                        <a:latin typeface="メイリオ"/>
                        <a:ea typeface="メイリオ"/>
                        <a:cs typeface="メイリオ"/>
                      </a:endParaRP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参照データ：Googleトレンド（2026-09-15取得・日本・ウェブ検索）／文部科学省「大学入学者選抜実施要項」。</a:t>
            </a:r>
          </a:p>
          <a:p>
            <a:pPr algn="l">
              <a:lnSpc>
                <a:spcPct val="120000"/>
              </a:lnSpc>
            </a:pPr>
            <a:r>
              <a:rPr sz="900">
                <a:solidFill>
                  <a:srgbClr val="646C82"/>
                </a:solidFill>
                <a:latin typeface="メイリオ"/>
                <a:ea typeface="メイリオ"/>
                <a:cs typeface="メイリオ"/>
              </a:rPr>
              <a:t>※ 専門学校はAOエントリー6/1・出願10/1解禁（全国専修学校各種学校総連合会の申し合わせ・要確認）のため、全体が前倒しになる。</a:t>
            </a:r>
          </a:p>
        </p:txBody>
      </p:sp>
    </p:spTree>
    <p:extLst>
      <p:ext uri="{BB962C8B-B14F-4D97-AF65-F5344CB8AC3E}">
        <p14:creationId xmlns:p14="http://schemas.microsoft.com/office/powerpoint/2010/main" val="3225074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6AB4E-6E86-5642-81B1-3703D9B31A83}"/>
            </a:ext>
          </a:extLst>
        </p:cNvPr>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通知メッセージ・飛び道具｜友だちでない高校生にも届かせる</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電話番号があれば、友だちでなくてもLINEに届く。資料請求者・OC予約者の取りこぼしを拾う。</a:t>
            </a:r>
          </a:p>
        </p:txBody>
      </p:sp>
      <p:sp>
        <p:nvSpPr>
          <p:cNvPr id="4" name="TextBox 3"/>
          <p:cNvSpPr txBox="1"/>
          <p:nvPr/>
        </p:nvSpPr>
        <p:spPr>
          <a:xfrm>
            <a:off x="396000" y="1224000"/>
            <a:ext cx="4464000" cy="324000"/>
          </a:xfrm>
          <a:prstGeom prst="rect">
            <a:avLst/>
          </a:prstGeom>
          <a:noFill/>
        </p:spPr>
        <p:txBody>
          <a:bodyPr wrap="square" lIns="0" tIns="21600" rIns="0" bIns="21600" anchor="t">
            <a:spAutoFit/>
          </a:bodyPr>
          <a:lstStyle/>
          <a:p>
            <a:pPr algn="l"/>
            <a:r>
              <a:rPr sz="1250" b="1">
                <a:solidFill>
                  <a:srgbClr val="1F285A"/>
                </a:solidFill>
                <a:latin typeface="メイリオ"/>
                <a:ea typeface="メイリオ"/>
                <a:cs typeface="メイリオ"/>
              </a:rPr>
              <a:t>■ 通知メッセージ 利用シーン</a:t>
            </a:r>
          </a:p>
        </p:txBody>
      </p:sp>
      <p:sp>
        <p:nvSpPr>
          <p:cNvPr id="5" name="Rounded Rectangle 4"/>
          <p:cNvSpPr/>
          <p:nvPr/>
        </p:nvSpPr>
        <p:spPr>
          <a:xfrm>
            <a:off x="396000" y="1620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OC予約確定のお知らせ</a:t>
            </a:r>
          </a:p>
          <a:p>
            <a:pPr algn="l">
              <a:lnSpc>
                <a:spcPct val="120000"/>
              </a:lnSpc>
              <a:spcAft>
                <a:spcPts val="200"/>
              </a:spcAft>
            </a:pPr>
            <a:r>
              <a:rPr sz="1050">
                <a:solidFill>
                  <a:srgbClr val="1C2233"/>
                </a:solidFill>
                <a:latin typeface="メイリオ"/>
                <a:ea typeface="メイリオ"/>
                <a:cs typeface="メイリオ"/>
              </a:rPr>
              <a:t>持ち物・アクセス・当日の流れ → 参加（CV②）へ</a:t>
            </a:r>
          </a:p>
        </p:txBody>
      </p:sp>
      <p:sp>
        <p:nvSpPr>
          <p:cNvPr id="6" name="Rounded Rectangle 5"/>
          <p:cNvSpPr/>
          <p:nvPr/>
        </p:nvSpPr>
        <p:spPr>
          <a:xfrm>
            <a:off x="396000" y="2538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OC前日リマインド</a:t>
            </a:r>
          </a:p>
          <a:p>
            <a:pPr algn="l">
              <a:lnSpc>
                <a:spcPct val="120000"/>
              </a:lnSpc>
              <a:spcAft>
                <a:spcPts val="200"/>
              </a:spcAft>
            </a:pPr>
            <a:r>
              <a:rPr sz="1050">
                <a:solidFill>
                  <a:srgbClr val="1C2233"/>
                </a:solidFill>
                <a:latin typeface="メイリオ"/>
                <a:ea typeface="メイリオ"/>
                <a:cs typeface="メイリオ"/>
              </a:rPr>
              <a:t>「来られなくなっても大丈夫」を先に書く → 無断キャンセルを連絡ありに変える</a:t>
            </a:r>
          </a:p>
        </p:txBody>
      </p:sp>
      <p:sp>
        <p:nvSpPr>
          <p:cNvPr id="7" name="Rounded Rectangle 6"/>
          <p:cNvSpPr/>
          <p:nvPr/>
        </p:nvSpPr>
        <p:spPr>
          <a:xfrm>
            <a:off x="396000" y="3456000"/>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出願受付・書類到着のお知らせ</a:t>
            </a:r>
          </a:p>
          <a:p>
            <a:pPr algn="l">
              <a:lnSpc>
                <a:spcPct val="120000"/>
              </a:lnSpc>
              <a:spcAft>
                <a:spcPts val="200"/>
              </a:spcAft>
            </a:pPr>
            <a:r>
              <a:rPr sz="1050">
                <a:solidFill>
                  <a:srgbClr val="1C2233"/>
                </a:solidFill>
                <a:latin typeface="メイリオ"/>
                <a:ea typeface="メイリオ"/>
                <a:cs typeface="メイリオ"/>
              </a:rPr>
              <a:t>次の手続きの期限を同時に案内 → 出願完了（CV③）へ</a:t>
            </a:r>
          </a:p>
        </p:txBody>
      </p:sp>
      <p:sp>
        <p:nvSpPr>
          <p:cNvPr id="8" name="Rounded Rectangle 7"/>
          <p:cNvSpPr/>
          <p:nvPr/>
        </p:nvSpPr>
        <p:spPr>
          <a:xfrm>
            <a:off x="396000" y="4373999"/>
            <a:ext cx="4464000"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1F285A"/>
                </a:solidFill>
                <a:latin typeface="メイリオ"/>
                <a:ea typeface="メイリオ"/>
                <a:cs typeface="メイリオ"/>
              </a:rPr>
              <a:t>入学手続の期限リマインド</a:t>
            </a:r>
          </a:p>
          <a:p>
            <a:pPr algn="l">
              <a:lnSpc>
                <a:spcPct val="120000"/>
              </a:lnSpc>
              <a:spcAft>
                <a:spcPts val="200"/>
              </a:spcAft>
            </a:pPr>
            <a:r>
              <a:rPr sz="1050">
                <a:solidFill>
                  <a:srgbClr val="1C2233"/>
                </a:solidFill>
                <a:latin typeface="メイリオ"/>
                <a:ea typeface="メイリオ"/>
                <a:cs typeface="メイリオ"/>
              </a:rPr>
              <a:t>併願による流出が起きる区間を守る</a:t>
            </a:r>
          </a:p>
        </p:txBody>
      </p:sp>
      <p:sp>
        <p:nvSpPr>
          <p:cNvPr id="9" name="TextBox 8"/>
          <p:cNvSpPr txBox="1"/>
          <p:nvPr/>
        </p:nvSpPr>
        <p:spPr>
          <a:xfrm>
            <a:off x="5076000" y="1224000"/>
            <a:ext cx="4464000" cy="324000"/>
          </a:xfrm>
          <a:prstGeom prst="rect">
            <a:avLst/>
          </a:prstGeom>
          <a:noFill/>
        </p:spPr>
        <p:txBody>
          <a:bodyPr wrap="square" lIns="0" tIns="21600" rIns="0" bIns="21600" anchor="t">
            <a:spAutoFit/>
          </a:bodyPr>
          <a:lstStyle/>
          <a:p>
            <a:pPr algn="l"/>
            <a:r>
              <a:rPr sz="1250" b="1">
                <a:solidFill>
                  <a:srgbClr val="ED7D31"/>
                </a:solidFill>
                <a:latin typeface="メイリオ"/>
                <a:ea typeface="メイリオ"/>
                <a:cs typeface="メイリオ"/>
              </a:rPr>
              <a:t>■ 飛び道具（この業界ならではの企画軸）</a:t>
            </a:r>
          </a:p>
        </p:txBody>
      </p:sp>
      <p:sp>
        <p:nvSpPr>
          <p:cNvPr id="10" name="Rounded Rectangle 9"/>
          <p:cNvSpPr/>
          <p:nvPr/>
        </p:nvSpPr>
        <p:spPr>
          <a:xfrm>
            <a:off x="5076000" y="1620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① 30秒 学部学科診断</a:t>
            </a:r>
          </a:p>
          <a:p>
            <a:pPr algn="l">
              <a:lnSpc>
                <a:spcPct val="120000"/>
              </a:lnSpc>
              <a:spcAft>
                <a:spcPts val="200"/>
              </a:spcAft>
            </a:pPr>
            <a:r>
              <a:rPr sz="1050">
                <a:solidFill>
                  <a:srgbClr val="1C2233"/>
                </a:solidFill>
                <a:latin typeface="メイリオ"/>
                <a:ea typeface="メイリオ"/>
                <a:cs typeface="メイリオ"/>
              </a:rPr>
              <a:t>匿名・入力ゼロ。決まっていない子が押せる唯一の入口</a:t>
            </a:r>
          </a:p>
        </p:txBody>
      </p:sp>
      <p:sp>
        <p:nvSpPr>
          <p:cNvPr id="11" name="Rounded Rectangle 10"/>
          <p:cNvSpPr/>
          <p:nvPr/>
        </p:nvSpPr>
        <p:spPr>
          <a:xfrm>
            <a:off x="5076000" y="2538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② 4年間の学費シミュレーター</a:t>
            </a:r>
          </a:p>
          <a:p>
            <a:pPr algn="l">
              <a:lnSpc>
                <a:spcPct val="120000"/>
              </a:lnSpc>
              <a:spcAft>
                <a:spcPts val="200"/>
              </a:spcAft>
            </a:pPr>
            <a:r>
              <a:rPr sz="1050">
                <a:solidFill>
                  <a:srgbClr val="1C2233"/>
                </a:solidFill>
                <a:latin typeface="メイリオ"/>
                <a:ea typeface="メイリオ"/>
                <a:cs typeface="メイリオ"/>
              </a:rPr>
              <a:t>入力3項目・1分。保護者の最大の不安に、先に答える</a:t>
            </a:r>
          </a:p>
        </p:txBody>
      </p:sp>
      <p:sp>
        <p:nvSpPr>
          <p:cNvPr id="12" name="Rounded Rectangle 11"/>
          <p:cNvSpPr/>
          <p:nvPr/>
        </p:nvSpPr>
        <p:spPr>
          <a:xfrm>
            <a:off x="5076000" y="3456000"/>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③ 志望理由書の下書き支援</a:t>
            </a:r>
          </a:p>
          <a:p>
            <a:pPr algn="l">
              <a:lnSpc>
                <a:spcPct val="120000"/>
              </a:lnSpc>
              <a:spcAft>
                <a:spcPts val="200"/>
              </a:spcAft>
            </a:pPr>
            <a:r>
              <a:rPr sz="1050">
                <a:solidFill>
                  <a:srgbClr val="1C2233"/>
                </a:solidFill>
                <a:latin typeface="メイリオ"/>
                <a:ea typeface="メイリオ"/>
                <a:cs typeface="メイリオ"/>
              </a:rPr>
              <a:t>出願直前に立つのは「書き方」検索。情報ではなく手伝いを渡す</a:t>
            </a:r>
          </a:p>
        </p:txBody>
      </p:sp>
      <p:sp>
        <p:nvSpPr>
          <p:cNvPr id="13" name="Rounded Rectangle 12"/>
          <p:cNvSpPr/>
          <p:nvPr/>
        </p:nvSpPr>
        <p:spPr>
          <a:xfrm>
            <a:off x="5076000" y="4373999"/>
            <a:ext cx="4464000"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150" b="1">
                <a:solidFill>
                  <a:srgbClr val="ED7D31"/>
                </a:solidFill>
                <a:latin typeface="メイリオ"/>
                <a:ea typeface="メイリオ"/>
                <a:cs typeface="メイリオ"/>
              </a:rPr>
              <a:t>④ 中退予兆検知（入学後）</a:t>
            </a:r>
          </a:p>
          <a:p>
            <a:pPr algn="l">
              <a:lnSpc>
                <a:spcPct val="120000"/>
              </a:lnSpc>
              <a:spcAft>
                <a:spcPts val="200"/>
              </a:spcAft>
            </a:pPr>
            <a:r>
              <a:rPr sz="1050">
                <a:solidFill>
                  <a:srgbClr val="1C2233"/>
                </a:solidFill>
                <a:latin typeface="メイリオ"/>
                <a:ea typeface="メイリオ"/>
                <a:cs typeface="メイリオ"/>
              </a:rPr>
              <a:t>一定期間アクションのない在学生に自動で声かけ</a:t>
            </a:r>
          </a:p>
        </p:txBody>
      </p:sp>
      <p:sp>
        <p:nvSpPr>
          <p:cNvPr id="14" name="TextBox 13"/>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通知メッセージは Sales Partner／Tech Partner 限定公開のAPIを使用する機能（初期10万円／月額8万円〜＋通数単価7円）。</a:t>
            </a:r>
          </a:p>
          <a:p>
            <a:pPr algn="l">
              <a:lnSpc>
                <a:spcPct val="120000"/>
              </a:lnSpc>
            </a:pPr>
            <a:r>
              <a:rPr sz="900">
                <a:solidFill>
                  <a:srgbClr val="646C82"/>
                </a:solidFill>
                <a:latin typeface="メイリオ"/>
                <a:ea typeface="メイリオ"/>
                <a:cs typeface="メイリオ"/>
              </a:rPr>
              <a:t>※ 送信対象は貴学が保有する電話番号リスト。利用にあたっては個人情報の取得同意の範囲を確認する。</a:t>
            </a:r>
          </a:p>
        </p:txBody>
      </p:sp>
    </p:spTree>
    <p:extLst>
      <p:ext uri="{BB962C8B-B14F-4D97-AF65-F5344CB8AC3E}">
        <p14:creationId xmlns:p14="http://schemas.microsoft.com/office/powerpoint/2010/main" val="42248704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63900D-063E-F973-5EF2-005AE1CA2159}"/>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758DBC2-018A-378B-99F0-43DAFE20DF5C}"/>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施策の考え方</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94458F3-B182-EFAE-9BE8-8E76712736E7}"/>
              </a:ext>
            </a:extLst>
          </p:cNvPr>
          <p:cNvSpPr/>
          <p:nvPr/>
        </p:nvSpPr>
        <p:spPr>
          <a:xfrm>
            <a:off x="175475" y="1823735"/>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EDB57FCC-E034-81EB-B2ED-2EB62032A504}"/>
              </a:ext>
            </a:extLst>
          </p:cNvPr>
          <p:cNvSpPr/>
          <p:nvPr/>
        </p:nvSpPr>
        <p:spPr>
          <a:xfrm>
            <a:off x="4994298" y="1823734"/>
            <a:ext cx="4721072" cy="469533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3C363108-225C-23EE-472E-1E1A14DA49E4}"/>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10" name="Google Shape;752;p28">
            <a:extLst>
              <a:ext uri="{FF2B5EF4-FFF2-40B4-BE49-F238E27FC236}">
                <a16:creationId xmlns:a16="http://schemas.microsoft.com/office/drawing/2014/main" id="{9A39965E-24C8-AD90-0D9E-A9BC47D02016}"/>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WEB</a:t>
            </a:r>
            <a:r>
              <a:rPr lang="ja-JP" altLang="en-US" sz="1600" b="1" dirty="0">
                <a:latin typeface="メイリオ" panose="020B0604030504040204" pitchFamily="50" charset="-128"/>
                <a:ea typeface="メイリオ" panose="020B0604030504040204" pitchFamily="50" charset="-128"/>
                <a:cs typeface="Meiryo"/>
                <a:sym typeface="Meiryo"/>
              </a:rPr>
              <a:t>上で何らかの成果地点（</a:t>
            </a:r>
            <a:r>
              <a:rPr lang="en-US" altLang="ja-JP" sz="1600" b="1" dirty="0">
                <a:latin typeface="メイリオ" panose="020B0604030504040204" pitchFamily="50" charset="-128"/>
                <a:ea typeface="メイリオ" panose="020B0604030504040204" pitchFamily="50" charset="-128"/>
                <a:cs typeface="Meiryo"/>
                <a:sym typeface="Meiryo"/>
              </a:rPr>
              <a:t>mcv</a:t>
            </a:r>
            <a:r>
              <a:rPr lang="ja-JP" altLang="en-US" sz="1600" b="1" dirty="0">
                <a:latin typeface="メイリオ" panose="020B0604030504040204" pitchFamily="50" charset="-128"/>
                <a:ea typeface="メイリオ" panose="020B0604030504040204" pitchFamily="50" charset="-128"/>
                <a:cs typeface="Meiryo"/>
                <a:sym typeface="Meiryo"/>
              </a:rPr>
              <a:t>、</a:t>
            </a:r>
            <a:r>
              <a:rPr lang="en-US" altLang="ja-JP" sz="1600" b="1" dirty="0">
                <a:latin typeface="メイリオ" panose="020B0604030504040204" pitchFamily="50" charset="-128"/>
                <a:ea typeface="メイリオ" panose="020B0604030504040204" pitchFamily="50" charset="-128"/>
                <a:cs typeface="Meiryo"/>
                <a:sym typeface="Meiryo"/>
              </a:rPr>
              <a:t>CV</a:t>
            </a:r>
            <a:r>
              <a:rPr lang="ja-JP" altLang="en-US" sz="1600" b="1" dirty="0">
                <a:latin typeface="メイリオ" panose="020B0604030504040204" pitchFamily="50" charset="-128"/>
                <a:ea typeface="メイリオ" panose="020B0604030504040204" pitchFamily="50" charset="-128"/>
                <a:cs typeface="Meiryo"/>
                <a:sym typeface="Meiryo"/>
              </a:rPr>
              <a:t>）に到達しリード獲得できているか、</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を軸に配信戦略を組み立てることで、ユーザーアクティブ率を保った状態で運用。</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2" name="正方形/長方形 61">
            <a:extLst>
              <a:ext uri="{FF2B5EF4-FFF2-40B4-BE49-F238E27FC236}">
                <a16:creationId xmlns:a16="http://schemas.microsoft.com/office/drawing/2014/main" id="{EDC00F02-3FEF-F2A7-D36C-00239CB92DE5}"/>
              </a:ext>
            </a:extLst>
          </p:cNvPr>
          <p:cNvSpPr/>
          <p:nvPr/>
        </p:nvSpPr>
        <p:spPr>
          <a:xfrm>
            <a:off x="175475" y="1503248"/>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dirty="0">
                <a:latin typeface="メイリオ" panose="020B0604030504040204" pitchFamily="50" charset="-128"/>
                <a:ea typeface="メイリオ" panose="020B0604030504040204" pitchFamily="50" charset="-128"/>
              </a:rPr>
              <a:t>施策パターン①</a:t>
            </a:r>
          </a:p>
        </p:txBody>
      </p:sp>
      <p:sp>
        <p:nvSpPr>
          <p:cNvPr id="66" name="正方形/長方形 65">
            <a:extLst>
              <a:ext uri="{FF2B5EF4-FFF2-40B4-BE49-F238E27FC236}">
                <a16:creationId xmlns:a16="http://schemas.microsoft.com/office/drawing/2014/main" id="{3B6038D6-0E00-CDB9-8318-C7D05A37E8F2}"/>
              </a:ext>
            </a:extLst>
          </p:cNvPr>
          <p:cNvSpPr/>
          <p:nvPr/>
        </p:nvSpPr>
        <p:spPr>
          <a:xfrm>
            <a:off x="4994298" y="1503247"/>
            <a:ext cx="4721072" cy="297266"/>
          </a:xfrm>
          <a:prstGeom prst="rect">
            <a:avLst/>
          </a:prstGeom>
          <a:solidFill>
            <a:schemeClr val="tx1">
              <a:lumMod val="50000"/>
              <a:lumOff val="50000"/>
              <a:alpha val="8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dirty="0">
                <a:latin typeface="メイリオ" panose="020B0604030504040204" pitchFamily="50" charset="-128"/>
                <a:ea typeface="メイリオ" panose="020B0604030504040204" pitchFamily="50" charset="-128"/>
              </a:rPr>
              <a:t>施策パターン②</a:t>
            </a:r>
          </a:p>
        </p:txBody>
      </p:sp>
      <p:sp>
        <p:nvSpPr>
          <p:cNvPr id="29" name="テキスト ボックス 28">
            <a:extLst>
              <a:ext uri="{FF2B5EF4-FFF2-40B4-BE49-F238E27FC236}">
                <a16:creationId xmlns:a16="http://schemas.microsoft.com/office/drawing/2014/main" id="{95738B1D-B1C9-DA32-166A-EEB5583118B2}"/>
              </a:ext>
            </a:extLst>
          </p:cNvPr>
          <p:cNvSpPr txBox="1"/>
          <p:nvPr/>
        </p:nvSpPr>
        <p:spPr>
          <a:xfrm>
            <a:off x="422129" y="198460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F7EABE5F-0E64-28C9-8263-322940EADD4B}"/>
              </a:ext>
            </a:extLst>
          </p:cNvPr>
          <p:cNvSpPr txBox="1"/>
          <p:nvPr/>
        </p:nvSpPr>
        <p:spPr>
          <a:xfrm>
            <a:off x="422129" y="250707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31" name="テキスト ボックス 30">
            <a:extLst>
              <a:ext uri="{FF2B5EF4-FFF2-40B4-BE49-F238E27FC236}">
                <a16:creationId xmlns:a16="http://schemas.microsoft.com/office/drawing/2014/main" id="{A12C45A1-12E4-9259-6A85-AEA2AB71D7BB}"/>
              </a:ext>
            </a:extLst>
          </p:cNvPr>
          <p:cNvSpPr txBox="1"/>
          <p:nvPr/>
        </p:nvSpPr>
        <p:spPr>
          <a:xfrm>
            <a:off x="422129" y="3029546"/>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33" name="テキスト ボックス 32">
            <a:extLst>
              <a:ext uri="{FF2B5EF4-FFF2-40B4-BE49-F238E27FC236}">
                <a16:creationId xmlns:a16="http://schemas.microsoft.com/office/drawing/2014/main" id="{128706D3-5B0C-1F73-557E-CB982B55D10F}"/>
              </a:ext>
            </a:extLst>
          </p:cNvPr>
          <p:cNvSpPr txBox="1"/>
          <p:nvPr/>
        </p:nvSpPr>
        <p:spPr>
          <a:xfrm>
            <a:off x="422129" y="3552018"/>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④資料請求・友だち追加(LINE)</a:t>
            </a:r>
          </a:p>
        </p:txBody>
      </p:sp>
      <p:pic>
        <p:nvPicPr>
          <p:cNvPr id="53" name="図 52">
            <a:extLst>
              <a:ext uri="{FF2B5EF4-FFF2-40B4-BE49-F238E27FC236}">
                <a16:creationId xmlns:a16="http://schemas.microsoft.com/office/drawing/2014/main" id="{EA1649D4-69AF-0DA4-C778-D98D940AEC00}"/>
              </a:ext>
            </a:extLst>
          </p:cNvPr>
          <p:cNvPicPr>
            <a:picLocks noChangeAspect="1"/>
          </p:cNvPicPr>
          <p:nvPr/>
        </p:nvPicPr>
        <p:blipFill>
          <a:blip r:embed="rId2"/>
          <a:stretch>
            <a:fillRect/>
          </a:stretch>
        </p:blipFill>
        <p:spPr>
          <a:xfrm>
            <a:off x="1802674" y="3028773"/>
            <a:ext cx="481489" cy="448956"/>
          </a:xfrm>
          <a:prstGeom prst="rect">
            <a:avLst/>
          </a:prstGeom>
        </p:spPr>
      </p:pic>
      <p:sp>
        <p:nvSpPr>
          <p:cNvPr id="85" name="テキスト ボックス 84">
            <a:extLst>
              <a:ext uri="{FF2B5EF4-FFF2-40B4-BE49-F238E27FC236}">
                <a16:creationId xmlns:a16="http://schemas.microsoft.com/office/drawing/2014/main" id="{5E6F539F-D2FB-C3FF-CADC-41A4B9393233}"/>
              </a:ext>
            </a:extLst>
          </p:cNvPr>
          <p:cNvSpPr txBox="1"/>
          <p:nvPr/>
        </p:nvSpPr>
        <p:spPr>
          <a:xfrm>
            <a:off x="5143201" y="1982693"/>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a:t>
            </a:r>
            <a:r>
              <a:rPr lang="ja-JP" altLang="en-US" sz="1100" b="1" dirty="0">
                <a:latin typeface="メイリオ" panose="020B0604030504040204" pitchFamily="50" charset="-128"/>
                <a:ea typeface="メイリオ" panose="020B0604030504040204" pitchFamily="50" charset="-128"/>
              </a:rPr>
              <a:t>広告</a:t>
            </a:r>
            <a:r>
              <a:rPr lang="ja-JP" altLang="ja-JP" sz="1100" b="1" dirty="0">
                <a:latin typeface="メイリオ" panose="020B0604030504040204" pitchFamily="50" charset="-128"/>
                <a:ea typeface="メイリオ" panose="020B0604030504040204" pitchFamily="50" charset="-128"/>
              </a:rPr>
              <a:t>接触</a:t>
            </a:r>
            <a:r>
              <a:rPr lang="ja-JP" altLang="ja-JP" sz="1050" b="1" dirty="0">
                <a:latin typeface="メイリオ" panose="020B0604030504040204" pitchFamily="50" charset="-128"/>
                <a:ea typeface="メイリオ" panose="020B0604030504040204" pitchFamily="50" charset="-128"/>
              </a:rPr>
              <a:t>（認知・流入）</a:t>
            </a:r>
            <a:endParaRPr lang="en-US" altLang="ja-JP" sz="1100" b="1" dirty="0">
              <a:latin typeface="メイリオ" panose="020B0604030504040204" pitchFamily="50" charset="-128"/>
              <a:ea typeface="メイリオ" panose="020B0604030504040204" pitchFamily="50" charset="-128"/>
            </a:endParaRPr>
          </a:p>
        </p:txBody>
      </p:sp>
      <p:sp>
        <p:nvSpPr>
          <p:cNvPr id="87" name="テキスト ボックス 86">
            <a:extLst>
              <a:ext uri="{FF2B5EF4-FFF2-40B4-BE49-F238E27FC236}">
                <a16:creationId xmlns:a16="http://schemas.microsoft.com/office/drawing/2014/main" id="{6B5C1DBC-53A4-6C17-453F-7392109F4349}"/>
              </a:ext>
            </a:extLst>
          </p:cNvPr>
          <p:cNvSpPr txBox="1"/>
          <p:nvPr/>
        </p:nvSpPr>
        <p:spPr>
          <a:xfrm>
            <a:off x="5143201" y="2505164"/>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050" b="1" dirty="0">
                <a:latin typeface="メイリオ" panose="020B0604030504040204" pitchFamily="50" charset="-128"/>
                <a:ea typeface="メイリオ" panose="020B0604030504040204" pitchFamily="50" charset="-128"/>
              </a:rPr>
              <a:t>（対策）</a:t>
            </a:r>
            <a:endParaRPr lang="en-US" altLang="ja-JP" sz="1100" b="1" dirty="0">
              <a:latin typeface="メイリオ" panose="020B0604030504040204" pitchFamily="50" charset="-128"/>
              <a:ea typeface="メイリオ" panose="020B0604030504040204" pitchFamily="50" charset="-128"/>
            </a:endParaRPr>
          </a:p>
        </p:txBody>
      </p:sp>
      <p:sp>
        <p:nvSpPr>
          <p:cNvPr id="89" name="テキスト ボックス 88">
            <a:extLst>
              <a:ext uri="{FF2B5EF4-FFF2-40B4-BE49-F238E27FC236}">
                <a16:creationId xmlns:a16="http://schemas.microsoft.com/office/drawing/2014/main" id="{DCFBD929-A905-61D5-CE80-44ED20F86966}"/>
              </a:ext>
            </a:extLst>
          </p:cNvPr>
          <p:cNvSpPr txBox="1"/>
          <p:nvPr/>
        </p:nvSpPr>
        <p:spPr>
          <a:xfrm>
            <a:off x="5143201" y="3027635"/>
            <a:ext cx="1868111" cy="261610"/>
          </a:xfrm>
          <a:prstGeom prst="rect">
            <a:avLst/>
          </a:prstGeom>
          <a:solidFill>
            <a:srgbClr val="FFC000"/>
          </a:solidFill>
          <a:ln>
            <a:noFill/>
          </a:ln>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a:t>
            </a:r>
            <a:r>
              <a:rPr lang="ja-JP" altLang="ja-JP" sz="1050" b="1" dirty="0">
                <a:latin typeface="メイリオ" panose="020B0604030504040204" pitchFamily="50" charset="-128"/>
                <a:ea typeface="メイリオ" panose="020B0604030504040204" pitchFamily="50" charset="-128"/>
              </a:rPr>
              <a:t>（興味</a:t>
            </a:r>
            <a:r>
              <a:rPr lang="ja-JP" altLang="en-US" sz="1050" b="1" dirty="0">
                <a:latin typeface="メイリオ" panose="020B0604030504040204" pitchFamily="50" charset="-128"/>
                <a:ea typeface="メイリオ" panose="020B0604030504040204" pitchFamily="50" charset="-128"/>
              </a:rPr>
              <a:t>喚起</a:t>
            </a:r>
            <a:r>
              <a:rPr lang="ja-JP" altLang="ja-JP" sz="1050" b="1" dirty="0">
                <a:latin typeface="メイリオ" panose="020B0604030504040204" pitchFamily="50" charset="-128"/>
                <a:ea typeface="メイリオ" panose="020B0604030504040204" pitchFamily="50" charset="-128"/>
              </a:rPr>
              <a:t>）</a:t>
            </a:r>
            <a:endParaRPr lang="en-US" altLang="ja-JP" sz="1100" b="1" dirty="0">
              <a:latin typeface="メイリオ" panose="020B0604030504040204" pitchFamily="50" charset="-128"/>
              <a:ea typeface="メイリオ" panose="020B0604030504040204" pitchFamily="50" charset="-128"/>
            </a:endParaRPr>
          </a:p>
        </p:txBody>
      </p:sp>
      <p:sp>
        <p:nvSpPr>
          <p:cNvPr id="91" name="テキスト ボックス 90">
            <a:extLst>
              <a:ext uri="{FF2B5EF4-FFF2-40B4-BE49-F238E27FC236}">
                <a16:creationId xmlns:a16="http://schemas.microsoft.com/office/drawing/2014/main" id="{4888F6B2-E8F3-6E3F-0048-663B63086746}"/>
              </a:ext>
            </a:extLst>
          </p:cNvPr>
          <p:cNvSpPr txBox="1"/>
          <p:nvPr/>
        </p:nvSpPr>
        <p:spPr>
          <a:xfrm>
            <a:off x="5143201" y="3550107"/>
            <a:ext cx="1868111" cy="261610"/>
          </a:xfrm>
          <a:prstGeom prst="rect">
            <a:avLst/>
          </a:prstGeom>
          <a:solidFill>
            <a:srgbClr val="FFC000"/>
          </a:solidFill>
          <a:ln>
            <a:noFill/>
          </a:ln>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④資料請求(WEB)</a:t>
            </a:r>
          </a:p>
        </p:txBody>
      </p:sp>
      <p:sp>
        <p:nvSpPr>
          <p:cNvPr id="102" name="正方形/長方形 101">
            <a:extLst>
              <a:ext uri="{FF2B5EF4-FFF2-40B4-BE49-F238E27FC236}">
                <a16:creationId xmlns:a16="http://schemas.microsoft.com/office/drawing/2014/main" id="{9EE14D7E-45A2-36AE-530E-59E20992B5AF}"/>
              </a:ext>
            </a:extLst>
          </p:cNvPr>
          <p:cNvSpPr/>
          <p:nvPr/>
        </p:nvSpPr>
        <p:spPr>
          <a:xfrm>
            <a:off x="2263414" y="302763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1" name="図 100">
            <a:extLst>
              <a:ext uri="{FF2B5EF4-FFF2-40B4-BE49-F238E27FC236}">
                <a16:creationId xmlns:a16="http://schemas.microsoft.com/office/drawing/2014/main" id="{DA7B3CB5-C4B3-1D97-3F10-262CAC6E015A}"/>
              </a:ext>
            </a:extLst>
          </p:cNvPr>
          <p:cNvPicPr>
            <a:picLocks noChangeAspect="1"/>
          </p:cNvPicPr>
          <p:nvPr/>
        </p:nvPicPr>
        <p:blipFill>
          <a:blip r:embed="rId2"/>
          <a:stretch>
            <a:fillRect/>
          </a:stretch>
        </p:blipFill>
        <p:spPr>
          <a:xfrm>
            <a:off x="6529823" y="3550106"/>
            <a:ext cx="481489" cy="448956"/>
          </a:xfrm>
          <a:prstGeom prst="rect">
            <a:avLst/>
          </a:prstGeom>
        </p:spPr>
      </p:pic>
      <p:sp>
        <p:nvSpPr>
          <p:cNvPr id="104" name="正方形/長方形 103">
            <a:extLst>
              <a:ext uri="{FF2B5EF4-FFF2-40B4-BE49-F238E27FC236}">
                <a16:creationId xmlns:a16="http://schemas.microsoft.com/office/drawing/2014/main" id="{FEDCBEDF-3AA0-5304-246A-9DE0FEF053CC}"/>
              </a:ext>
            </a:extLst>
          </p:cNvPr>
          <p:cNvSpPr/>
          <p:nvPr/>
        </p:nvSpPr>
        <p:spPr>
          <a:xfrm>
            <a:off x="7408576" y="3814955"/>
            <a:ext cx="2439215" cy="2666753"/>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テキスト ボックス 109">
            <a:extLst>
              <a:ext uri="{FF2B5EF4-FFF2-40B4-BE49-F238E27FC236}">
                <a16:creationId xmlns:a16="http://schemas.microsoft.com/office/drawing/2014/main" id="{07D590B7-DD52-A9BA-474C-C49C3CD21DB2}"/>
              </a:ext>
            </a:extLst>
          </p:cNvPr>
          <p:cNvSpPr txBox="1"/>
          <p:nvPr/>
        </p:nvSpPr>
        <p:spPr>
          <a:xfrm>
            <a:off x="2354400" y="2848236"/>
            <a:ext cx="2348229" cy="261610"/>
          </a:xfrm>
          <a:prstGeom prst="rect">
            <a:avLst/>
          </a:prstGeom>
          <a:noFill/>
        </p:spPr>
        <p:txBody>
          <a:bodyPr wrap="square">
            <a:spAutoFit/>
          </a:bodyPr>
          <a:lstStyle/>
          <a:p>
            <a:pPr algn="ctr"/>
            <a:r>
              <a:rPr lang="en-US" altLang="ja-JP" sz="1050" b="1" dirty="0">
                <a:solidFill>
                  <a:srgbClr val="FF0000"/>
                </a:solidFill>
                <a:latin typeface="メイリオ" panose="020B0604030504040204" pitchFamily="50" charset="-128"/>
                <a:ea typeface="メイリオ" panose="020B0604030504040204" pitchFamily="50" charset="-128"/>
                <a:sym typeface="Meiryo"/>
              </a:rPr>
              <a:t>[LINEで学部学科診断] から</a:t>
            </a:r>
            <a:endParaRPr lang="ja-JP" altLang="en-US" sz="1100" dirty="0">
              <a:solidFill>
                <a:srgbClr val="FF0000"/>
              </a:solidFill>
            </a:endParaRPr>
          </a:p>
        </p:txBody>
      </p:sp>
      <p:sp>
        <p:nvSpPr>
          <p:cNvPr id="112" name="テキスト ボックス 111">
            <a:extLst>
              <a:ext uri="{FF2B5EF4-FFF2-40B4-BE49-F238E27FC236}">
                <a16:creationId xmlns:a16="http://schemas.microsoft.com/office/drawing/2014/main" id="{F0F00B34-5F05-6BF2-F97F-09EC9D503507}"/>
              </a:ext>
            </a:extLst>
          </p:cNvPr>
          <p:cNvSpPr txBox="1"/>
          <p:nvPr/>
        </p:nvSpPr>
        <p:spPr>
          <a:xfrm>
            <a:off x="7586643" y="3643779"/>
            <a:ext cx="2234109" cy="261610"/>
          </a:xfrm>
          <a:prstGeom prst="rect">
            <a:avLst/>
          </a:prstGeom>
          <a:noFill/>
        </p:spPr>
        <p:txBody>
          <a:bodyPr wrap="square">
            <a:spAutoFit/>
          </a:bodyPr>
          <a:lstStyle/>
          <a:p>
            <a:pPr algn="ctr"/>
            <a:r>
              <a:rPr lang="ja-JP" altLang="en-US" sz="1050" b="1" dirty="0">
                <a:solidFill>
                  <a:srgbClr val="FF0000"/>
                </a:solidFill>
                <a:latin typeface="メイリオ" panose="020B0604030504040204" pitchFamily="50" charset="-128"/>
                <a:ea typeface="メイリオ" panose="020B0604030504040204" pitchFamily="50" charset="-128"/>
                <a:sym typeface="Meiryo"/>
              </a:rPr>
              <a:t>資料請求／OC予約 から</a:t>
            </a:r>
            <a:endParaRPr lang="ja-JP" altLang="en-US" sz="1100" dirty="0">
              <a:solidFill>
                <a:srgbClr val="FF0000"/>
              </a:solidFill>
            </a:endParaRPr>
          </a:p>
        </p:txBody>
      </p:sp>
      <p:sp>
        <p:nvSpPr>
          <p:cNvPr id="113" name="TextBox 112"/>
          <p:cNvSpPr txBox="1"/>
          <p:nvPr/>
        </p:nvSpPr>
        <p:spPr>
          <a:xfrm>
            <a:off x="2354400" y="3117600"/>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4" name="TextBox 113"/>
          <p:cNvSpPr txBox="1"/>
          <p:nvPr/>
        </p:nvSpPr>
        <p:spPr>
          <a:xfrm>
            <a:off x="2354400" y="3405600"/>
            <a:ext cx="2260800" cy="760475"/>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Web予約の完了率が低い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検討初期の迷い層を逃す</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電話折返しの工数が重い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予約までLINEで完結したい</a:t>
            </a:r>
            <a:endParaRPr sz="1200" b="0" dirty="0">
              <a:solidFill>
                <a:srgbClr val="1C2233"/>
              </a:solidFill>
              <a:latin typeface="メイリオ"/>
            </a:endParaRPr>
          </a:p>
        </p:txBody>
      </p:sp>
      <p:sp>
        <p:nvSpPr>
          <p:cNvPr id="115" name="TextBox 114"/>
          <p:cNvSpPr txBox="1"/>
          <p:nvPr/>
        </p:nvSpPr>
        <p:spPr>
          <a:xfrm>
            <a:off x="7463604" y="3898024"/>
            <a:ext cx="2260800" cy="251999"/>
          </a:xfrm>
          <a:prstGeom prst="rect">
            <a:avLst/>
          </a:prstGeom>
          <a:noFill/>
        </p:spPr>
        <p:txBody>
          <a:bodyPr wrap="square" lIns="28800" tIns="10800" rIns="28800" bIns="10800">
            <a:spAutoFit/>
          </a:bodyPr>
          <a:lstStyle/>
          <a:p>
            <a:r>
              <a:rPr sz="1200" b="1">
                <a:solidFill>
                  <a:srgbClr val="1F2A5C"/>
                </a:solidFill>
                <a:latin typeface="メイリオ"/>
              </a:rPr>
              <a:t>こんな企業・状況に向く</a:t>
            </a:r>
          </a:p>
        </p:txBody>
      </p:sp>
      <p:sp>
        <p:nvSpPr>
          <p:cNvPr id="116" name="TextBox 115"/>
          <p:cNvSpPr txBox="1"/>
          <p:nvPr/>
        </p:nvSpPr>
        <p:spPr>
          <a:xfrm>
            <a:off x="7497067" y="4193638"/>
            <a:ext cx="2260800" cy="2160000"/>
          </a:xfrm>
          <a:prstGeom prst="rect">
            <a:avLst/>
          </a:prstGeom>
          <a:noFill/>
        </p:spPr>
        <p:txBody>
          <a:bodyPr wrap="square" lIns="28800" tIns="10800" rIns="28800" bIns="10800">
            <a:spAutoFit/>
          </a:bodyPr>
          <a:lstStyle/>
          <a:p>
            <a:r>
              <a:rPr sz="1200" b="0" dirty="0">
                <a:solidFill>
                  <a:srgbClr val="1C2233"/>
                </a:solidFill>
                <a:latin typeface="メイリオ"/>
              </a:rPr>
              <a:t>✓ </a:t>
            </a:r>
            <a:r>
              <a:rPr sz="1200" b="0" dirty="0" err="1">
                <a:solidFill>
                  <a:srgbClr val="1C2233"/>
                </a:solidFill>
                <a:latin typeface="メイリオ"/>
              </a:rPr>
              <a:t>Web予約は既に回っている</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無断キャンセルが課題</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通知メッセを使いたい</a:t>
            </a:r>
            <a:endParaRPr sz="1200" b="0" dirty="0">
              <a:solidFill>
                <a:srgbClr val="1C2233"/>
              </a:solidFill>
              <a:latin typeface="メイリオ"/>
            </a:endParaRPr>
          </a:p>
          <a:p>
            <a:r>
              <a:rPr sz="1200" b="0" dirty="0">
                <a:solidFill>
                  <a:srgbClr val="1C2233"/>
                </a:solidFill>
                <a:latin typeface="メイリオ"/>
              </a:rPr>
              <a:t>✓ </a:t>
            </a:r>
            <a:r>
              <a:rPr sz="1200" b="0" dirty="0" err="1">
                <a:solidFill>
                  <a:srgbClr val="1C2233"/>
                </a:solidFill>
                <a:latin typeface="メイリオ"/>
              </a:rPr>
              <a:t>入会後もLINEを活用したい</a:t>
            </a:r>
            <a:endParaRPr sz="1200" b="0" dirty="0">
              <a:solidFill>
                <a:srgbClr val="1C2233"/>
              </a:solidFill>
              <a:latin typeface="メイリオ"/>
            </a:endParaRPr>
          </a:p>
        </p:txBody>
      </p:sp>
      <p:sp>
        <p:nvSpPr>
          <p:cNvPr id="41" name="テキスト ボックス 40">
            <a:extLst>
              <a:ext uri="{FF2B5EF4-FFF2-40B4-BE49-F238E27FC236}">
                <a16:creationId xmlns:a16="http://schemas.microsoft.com/office/drawing/2014/main" id="{A23A1E86-15BD-39B1-3D44-14FF135EC4BD}"/>
              </a:ext>
            </a:extLst>
          </p:cNvPr>
          <p:cNvSpPr txBox="1"/>
          <p:nvPr/>
        </p:nvSpPr>
        <p:spPr>
          <a:xfrm>
            <a:off x="422129" y="4306903"/>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5" name="テキスト ボックス 44">
            <a:extLst>
              <a:ext uri="{FF2B5EF4-FFF2-40B4-BE49-F238E27FC236}">
                <a16:creationId xmlns:a16="http://schemas.microsoft.com/office/drawing/2014/main" id="{AE507E2D-17AC-0380-DFCC-8C7DCC0E7673}"/>
              </a:ext>
            </a:extLst>
          </p:cNvPr>
          <p:cNvSpPr txBox="1"/>
          <p:nvPr/>
        </p:nvSpPr>
        <p:spPr>
          <a:xfrm>
            <a:off x="422129" y="5363159"/>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48" name="テキスト ボックス 47">
            <a:extLst>
              <a:ext uri="{FF2B5EF4-FFF2-40B4-BE49-F238E27FC236}">
                <a16:creationId xmlns:a16="http://schemas.microsoft.com/office/drawing/2014/main" id="{7DDCEAFE-B7CC-0549-5F5E-BBC095E50653}"/>
              </a:ext>
            </a:extLst>
          </p:cNvPr>
          <p:cNvSpPr txBox="1"/>
          <p:nvPr/>
        </p:nvSpPr>
        <p:spPr>
          <a:xfrm>
            <a:off x="422129" y="4835031"/>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51" name="テキスト ボックス 50">
            <a:extLst>
              <a:ext uri="{FF2B5EF4-FFF2-40B4-BE49-F238E27FC236}">
                <a16:creationId xmlns:a16="http://schemas.microsoft.com/office/drawing/2014/main" id="{EE21130C-0D35-6976-246C-68BD7C0F13D8}"/>
              </a:ext>
            </a:extLst>
          </p:cNvPr>
          <p:cNvSpPr txBox="1"/>
          <p:nvPr/>
        </p:nvSpPr>
        <p:spPr>
          <a:xfrm>
            <a:off x="422129" y="5891287"/>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
        <p:nvSpPr>
          <p:cNvPr id="93" name="テキスト ボックス 92">
            <a:extLst>
              <a:ext uri="{FF2B5EF4-FFF2-40B4-BE49-F238E27FC236}">
                <a16:creationId xmlns:a16="http://schemas.microsoft.com/office/drawing/2014/main" id="{DCD3DD5B-BCF3-9B15-3A1E-D1002CBD5B53}"/>
              </a:ext>
            </a:extLst>
          </p:cNvPr>
          <p:cNvSpPr txBox="1"/>
          <p:nvPr/>
        </p:nvSpPr>
        <p:spPr>
          <a:xfrm>
            <a:off x="5143201" y="4304992"/>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オープンキャンパス参加</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5" name="テキスト ボックス 94">
            <a:extLst>
              <a:ext uri="{FF2B5EF4-FFF2-40B4-BE49-F238E27FC236}">
                <a16:creationId xmlns:a16="http://schemas.microsoft.com/office/drawing/2014/main" id="{6C217945-7DF3-ECB7-9797-4D70FDBD7415}"/>
              </a:ext>
            </a:extLst>
          </p:cNvPr>
          <p:cNvSpPr txBox="1"/>
          <p:nvPr/>
        </p:nvSpPr>
        <p:spPr>
          <a:xfrm>
            <a:off x="5143201" y="5361248"/>
            <a:ext cx="2352196" cy="261610"/>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⑦出願・入学手続</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7" name="テキスト ボックス 96">
            <a:extLst>
              <a:ext uri="{FF2B5EF4-FFF2-40B4-BE49-F238E27FC236}">
                <a16:creationId xmlns:a16="http://schemas.microsoft.com/office/drawing/2014/main" id="{E6682A8D-8C54-2B25-5F3D-FC5AB6C50174}"/>
              </a:ext>
            </a:extLst>
          </p:cNvPr>
          <p:cNvSpPr txBox="1"/>
          <p:nvPr/>
        </p:nvSpPr>
        <p:spPr>
          <a:xfrm>
            <a:off x="5143201" y="4833120"/>
            <a:ext cx="2352196" cy="261610"/>
          </a:xfrm>
          <a:prstGeom prst="rect">
            <a:avLst/>
          </a:prstGeom>
          <a:solidFill>
            <a:schemeClr val="accent1"/>
          </a:solidFill>
        </p:spPr>
        <p:txBody>
          <a:bodyPr wrap="square">
            <a:spAutoFit/>
          </a:bodyPr>
          <a:lstStyle/>
          <a:p>
            <a:r>
              <a:rPr lang="ja-JP" altLang="en-US" sz="1100" b="1" dirty="0">
                <a:solidFill>
                  <a:schemeClr val="bg1"/>
                </a:solidFill>
                <a:latin typeface="メイリオ" panose="020B0604030504040204" pitchFamily="50" charset="-128"/>
                <a:ea typeface="メイリオ" panose="020B0604030504040204" pitchFamily="50" charset="-128"/>
              </a:rPr>
              <a:t>⑥ </a:t>
            </a:r>
            <a:r>
              <a:rPr lang="ja-JP" altLang="en-US" sz="1100" b="1" dirty="0">
                <a:solidFill>
                  <a:schemeClr val="bg1"/>
                </a:solidFill>
                <a:latin typeface="メイリオ" panose="020B0604030504040204" pitchFamily="50" charset="-128"/>
              </a:rPr>
              <a:t>比較・検討</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9" name="テキスト ボックス 98">
            <a:extLst>
              <a:ext uri="{FF2B5EF4-FFF2-40B4-BE49-F238E27FC236}">
                <a16:creationId xmlns:a16="http://schemas.microsoft.com/office/drawing/2014/main" id="{152C39F9-321A-C345-6065-160FF4B875C5}"/>
              </a:ext>
            </a:extLst>
          </p:cNvPr>
          <p:cNvSpPr txBox="1"/>
          <p:nvPr/>
        </p:nvSpPr>
        <p:spPr>
          <a:xfrm>
            <a:off x="5143201" y="5889376"/>
            <a:ext cx="2352196" cy="430887"/>
          </a:xfrm>
          <a:prstGeom prst="rect">
            <a:avLst/>
          </a:prstGeom>
          <a:solidFill>
            <a:schemeClr val="accent1"/>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⑧入学後の定着・中退防止</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r>
              <a:rPr lang="ja-JP" altLang="en-US" sz="1100" b="1" dirty="0">
                <a:solidFill>
                  <a:schemeClr val="bg1"/>
                </a:solidFill>
                <a:latin typeface="メイリオ" panose="020B0604030504040204" pitchFamily="50" charset="-128"/>
                <a:ea typeface="メイリオ" panose="020B0604030504040204" pitchFamily="50" charset="-128"/>
              </a:rPr>
              <a:t>　在学生／保護者／卒業生 等</a:t>
            </a:r>
            <a:endParaRPr lang="en-US" altLang="ja-JP" sz="1100" b="1" dirty="0">
              <a:solidFill>
                <a:schemeClr val="bg1"/>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993589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1AF94-39A6-ED70-5918-C4DFB0937C84}"/>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FAA7E1F7-0824-AE94-5B85-AB7CDE6A394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改善モデル①</a:t>
            </a:r>
          </a:p>
        </p:txBody>
      </p:sp>
      <p:sp>
        <p:nvSpPr>
          <p:cNvPr id="9" name="正方形/長方形 8">
            <a:extLst>
              <a:ext uri="{FF2B5EF4-FFF2-40B4-BE49-F238E27FC236}">
                <a16:creationId xmlns:a16="http://schemas.microsoft.com/office/drawing/2014/main" id="{C0FCF3C4-80C9-827F-1385-EBD6AE02077C}"/>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3" name="Google Shape;752;p28">
            <a:extLst>
              <a:ext uri="{FF2B5EF4-FFF2-40B4-BE49-F238E27FC236}">
                <a16:creationId xmlns:a16="http://schemas.microsoft.com/office/drawing/2014/main" id="{C5064B01-7057-EF97-C2C2-7EA1400AE06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en-US" altLang="ja-JP" sz="1600" b="1" dirty="0">
                <a:latin typeface="メイリオ" panose="020B0604030504040204" pitchFamily="50" charset="-128"/>
                <a:ea typeface="メイリオ" panose="020B0604030504040204" pitchFamily="50" charset="-128"/>
                <a:cs typeface="Meiryo"/>
                <a:sym typeface="Meiryo"/>
              </a:rPr>
              <a:t>LINE</a:t>
            </a:r>
            <a:r>
              <a:rPr lang="ja-JP" altLang="en-US" sz="1600" b="1" dirty="0">
                <a:latin typeface="メイリオ" panose="020B0604030504040204" pitchFamily="50" charset="-128"/>
                <a:ea typeface="メイリオ" panose="020B0604030504040204" pitchFamily="50" charset="-128"/>
                <a:cs typeface="Meiryo"/>
                <a:sym typeface="Meiryo"/>
              </a:rPr>
              <a:t>施策を通じて貴社に送ることが出来る個人情報を最大化する。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7" name="テキスト ボックス 26">
            <a:extLst>
              <a:ext uri="{FF2B5EF4-FFF2-40B4-BE49-F238E27FC236}">
                <a16:creationId xmlns:a16="http://schemas.microsoft.com/office/drawing/2014/main" id="{6AB9A59D-5D83-F4A0-8E07-0F2D6665420A}"/>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77440BBB-52A3-1900-D18A-8AF25E970934}"/>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5A50DC53-429F-39BB-C171-6F57EE64F0C2}"/>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cxnSp>
        <p:nvCxnSpPr>
          <p:cNvPr id="32" name="コネクタ: カギ線 31">
            <a:extLst>
              <a:ext uri="{FF2B5EF4-FFF2-40B4-BE49-F238E27FC236}">
                <a16:creationId xmlns:a16="http://schemas.microsoft.com/office/drawing/2014/main" id="{A2FE37DB-7FF9-8AA6-3138-A9AA0818706B}"/>
              </a:ext>
            </a:extLst>
          </p:cNvPr>
          <p:cNvCxnSpPr>
            <a:cxnSpLocks/>
            <a:endCxn id="6" idx="2"/>
          </p:cNvCxnSpPr>
          <p:nvPr/>
        </p:nvCxnSpPr>
        <p:spPr>
          <a:xfrm rot="5400000" flipH="1" flipV="1">
            <a:off x="4284885" y="1729027"/>
            <a:ext cx="218990"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60AD3EC5-397C-F2E1-06DA-B35AA3F6DA3B}"/>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A916BF7B-2A5E-9585-D6BF-4545B58F8CDA}"/>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8" name="テキスト ボックス 7">
            <a:extLst>
              <a:ext uri="{FF2B5EF4-FFF2-40B4-BE49-F238E27FC236}">
                <a16:creationId xmlns:a16="http://schemas.microsoft.com/office/drawing/2014/main" id="{0CF33E8B-8A1D-B1FB-4244-9F0AFB92429B}"/>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916C11C4-F5B8-BBD3-EE11-4BBAC85EFEF6}"/>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4900F58B-9BD8-36E8-2837-7D435FEE306F}"/>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1" name="正方形/長方形 10">
            <a:extLst>
              <a:ext uri="{FF2B5EF4-FFF2-40B4-BE49-F238E27FC236}">
                <a16:creationId xmlns:a16="http://schemas.microsoft.com/office/drawing/2014/main" id="{94AA99B3-016F-5352-F0F9-97BF2EF9495B}"/>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正方形/長方形 11">
            <a:extLst>
              <a:ext uri="{FF2B5EF4-FFF2-40B4-BE49-F238E27FC236}">
                <a16:creationId xmlns:a16="http://schemas.microsoft.com/office/drawing/2014/main" id="{A045185E-6C2C-A6FD-00A8-0A9C05295D96}"/>
              </a:ext>
            </a:extLst>
          </p:cNvPr>
          <p:cNvSpPr/>
          <p:nvPr/>
        </p:nvSpPr>
        <p:spPr>
          <a:xfrm>
            <a:off x="8382000" y="898654"/>
            <a:ext cx="1223554" cy="260090"/>
          </a:xfrm>
          <a:prstGeom prst="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成果報酬：可</a:t>
            </a:r>
          </a:p>
        </p:txBody>
      </p:sp>
      <p:sp>
        <p:nvSpPr>
          <p:cNvPr id="15" name="正方形/長方形 14">
            <a:extLst>
              <a:ext uri="{FF2B5EF4-FFF2-40B4-BE49-F238E27FC236}">
                <a16:creationId xmlns:a16="http://schemas.microsoft.com/office/drawing/2014/main" id="{EDFACFC7-1B18-419B-64DD-5EB407E04E3D}"/>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7" name="テキスト ボックス 16">
            <a:extLst>
              <a:ext uri="{FF2B5EF4-FFF2-40B4-BE49-F238E27FC236}">
                <a16:creationId xmlns:a16="http://schemas.microsoft.com/office/drawing/2014/main" id="{F808170B-2E7D-DA91-C855-5B0F96687E57}"/>
              </a:ext>
            </a:extLst>
          </p:cNvPr>
          <p:cNvSpPr txBox="1"/>
          <p:nvPr/>
        </p:nvSpPr>
        <p:spPr>
          <a:xfrm>
            <a:off x="3136468" y="2021330"/>
            <a:ext cx="1868111" cy="348203"/>
          </a:xfrm>
          <a:prstGeom prst="rect">
            <a:avLst/>
          </a:prstGeom>
          <a:solidFill>
            <a:srgbClr val="2080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④リード獲得 </a:t>
            </a:r>
            <a:r>
              <a:rPr lang="en-US" altLang="ja-JP" sz="900" b="1" dirty="0">
                <a:solidFill>
                  <a:schemeClr val="bg1"/>
                </a:solidFill>
                <a:latin typeface="メイリオ" panose="020B0604030504040204" pitchFamily="50" charset="-128"/>
                <a:ea typeface="メイリオ" panose="020B0604030504040204" pitchFamily="50" charset="-128"/>
              </a:rPr>
              <a:t>(web/LINE)</a:t>
            </a:r>
            <a:endParaRPr lang="ja-JP" altLang="ja-JP" sz="1050" b="1" dirty="0">
              <a:solidFill>
                <a:schemeClr val="bg1"/>
              </a:solidFill>
              <a:latin typeface="メイリオ" panose="020B0604030504040204" pitchFamily="50" charset="-128"/>
              <a:ea typeface="メイリオ" panose="020B0604030504040204" pitchFamily="50" charset="-128"/>
            </a:endParaRPr>
          </a:p>
        </p:txBody>
      </p:sp>
      <p:sp>
        <p:nvSpPr>
          <p:cNvPr id="215" name="正方形/長方形 214">
            <a:extLst>
              <a:ext uri="{FF2B5EF4-FFF2-40B4-BE49-F238E27FC236}">
                <a16:creationId xmlns:a16="http://schemas.microsoft.com/office/drawing/2014/main" id="{0D93F268-2976-E24C-FFDF-A52C518BD95E}"/>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広告・集客の成果地点として</a:t>
            </a:r>
            <a:r>
              <a:rPr kumimoji="1" lang="en-US" altLang="ja-JP" sz="1050" b="1" dirty="0">
                <a:latin typeface="メイリオ" panose="020B0604030504040204" pitchFamily="50" charset="-128"/>
                <a:ea typeface="メイリオ" panose="020B0604030504040204" pitchFamily="50" charset="-128"/>
              </a:rPr>
              <a:t>LINE</a:t>
            </a:r>
            <a:r>
              <a:rPr kumimoji="1" lang="ja-JP" altLang="en-US" sz="1050" b="1" dirty="0">
                <a:latin typeface="メイリオ" panose="020B0604030504040204" pitchFamily="50" charset="-128"/>
                <a:ea typeface="メイリオ" panose="020B0604030504040204" pitchFamily="50" charset="-128"/>
              </a:rPr>
              <a:t>を追加する</a:t>
            </a:r>
          </a:p>
        </p:txBody>
      </p:sp>
      <p:sp>
        <p:nvSpPr>
          <p:cNvPr id="217" name="正方形/長方形 216">
            <a:extLst>
              <a:ext uri="{FF2B5EF4-FFF2-40B4-BE49-F238E27FC236}">
                <a16:creationId xmlns:a16="http://schemas.microsoft.com/office/drawing/2014/main" id="{EFE9DDC0-6FAF-EE1E-D2F6-1599D9760DFE}"/>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a:latin typeface="メイリオ" panose="020B0604030504040204" pitchFamily="50" charset="-128"/>
                <a:ea typeface="メイリオ" panose="020B0604030504040204" pitchFamily="50" charset="-128"/>
              </a:rPr>
              <a:t>LINE</a:t>
            </a:r>
            <a:r>
              <a:rPr lang="ja-JP" altLang="en-US" sz="1050" b="1" dirty="0">
                <a:latin typeface="メイリオ" panose="020B0604030504040204" pitchFamily="50" charset="-128"/>
                <a:ea typeface="メイリオ" panose="020B0604030504040204" pitchFamily="50" charset="-128"/>
              </a:rPr>
              <a:t>の特典・メリットを適切なタイミングで提示し</a:t>
            </a:r>
            <a:r>
              <a:rPr lang="en-US" altLang="ja-JP" sz="1050" b="1" dirty="0">
                <a:latin typeface="メイリオ" panose="020B0604030504040204" pitchFamily="50" charset="-128"/>
                <a:ea typeface="メイリオ" panose="020B0604030504040204" pitchFamily="50" charset="-128"/>
              </a:rPr>
              <a:t>CV</a:t>
            </a:r>
            <a:r>
              <a:rPr lang="ja-JP" altLang="en-US" sz="1050" b="1" dirty="0">
                <a:latin typeface="メイリオ" panose="020B0604030504040204" pitchFamily="50" charset="-128"/>
                <a:ea typeface="メイリオ" panose="020B0604030504040204" pitchFamily="50" charset="-128"/>
              </a:rPr>
              <a:t>へ</a:t>
            </a:r>
          </a:p>
        </p:txBody>
      </p:sp>
      <p:sp>
        <p:nvSpPr>
          <p:cNvPr id="265" name="Shape 59">
            <a:extLst>
              <a:ext uri="{FF2B5EF4-FFF2-40B4-BE49-F238E27FC236}">
                <a16:creationId xmlns:a16="http://schemas.microsoft.com/office/drawing/2014/main" id="{2B92E1A5-40B4-D866-C1EB-8ACEB8EE470D}"/>
              </a:ext>
            </a:extLst>
          </p:cNvPr>
          <p:cNvSpPr/>
          <p:nvPr/>
        </p:nvSpPr>
        <p:spPr>
          <a:xfrm>
            <a:off x="265419" y="4842285"/>
            <a:ext cx="4541216" cy="1600804"/>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7" name="Shape 63">
            <a:extLst>
              <a:ext uri="{FF2B5EF4-FFF2-40B4-BE49-F238E27FC236}">
                <a16:creationId xmlns:a16="http://schemas.microsoft.com/office/drawing/2014/main" id="{986279D3-31B7-AFE5-0997-A2CDC716E6CD}"/>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9" name="Text 64">
            <a:extLst>
              <a:ext uri="{FF2B5EF4-FFF2-40B4-BE49-F238E27FC236}">
                <a16:creationId xmlns:a16="http://schemas.microsoft.com/office/drawing/2014/main" id="{314E4055-2D3D-DC19-BD60-79D095DBA6D9}"/>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1" name="Text 65">
            <a:extLst>
              <a:ext uri="{FF2B5EF4-FFF2-40B4-BE49-F238E27FC236}">
                <a16:creationId xmlns:a16="http://schemas.microsoft.com/office/drawing/2014/main" id="{2259F17B-A9B0-7F43-8907-87383FCBF6CE}"/>
              </a:ext>
            </a:extLst>
          </p:cNvPr>
          <p:cNvSpPr/>
          <p:nvPr/>
        </p:nvSpPr>
        <p:spPr>
          <a:xfrm>
            <a:off x="1545579"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LINE広告（CPF）完結型 × LINE内チャットボット</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3" name="Text 66">
            <a:extLst>
              <a:ext uri="{FF2B5EF4-FFF2-40B4-BE49-F238E27FC236}">
                <a16:creationId xmlns:a16="http://schemas.microsoft.com/office/drawing/2014/main" id="{98D6C858-0A51-D469-C857-32114CFA96FE}"/>
              </a:ext>
            </a:extLst>
          </p:cNvPr>
          <p:cNvSpPr/>
          <p:nvPr/>
        </p:nvSpPr>
        <p:spPr>
          <a:xfrm>
            <a:off x="356859" y="5226333"/>
            <a:ext cx="4449774" cy="457200"/>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広告の</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CPF</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を利用して、興味関心</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商圏でのリード保有数を最大化。</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LINE完結で</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WEBに遷移させないため離脱ゼロ</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でのステップ配信・有効リードの育成へ。</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5" name="Shape 68">
            <a:extLst>
              <a:ext uri="{FF2B5EF4-FFF2-40B4-BE49-F238E27FC236}">
                <a16:creationId xmlns:a16="http://schemas.microsoft.com/office/drawing/2014/main" id="{CFA7D9BB-A1E1-31FD-946A-B75B944AADA7}"/>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7" name="Text 69">
            <a:extLst>
              <a:ext uri="{FF2B5EF4-FFF2-40B4-BE49-F238E27FC236}">
                <a16:creationId xmlns:a16="http://schemas.microsoft.com/office/drawing/2014/main" id="{94B27B5E-13D7-A4CA-7352-4BBEA8C99224}"/>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9" name="Text 70">
            <a:extLst>
              <a:ext uri="{FF2B5EF4-FFF2-40B4-BE49-F238E27FC236}">
                <a16:creationId xmlns:a16="http://schemas.microsoft.com/office/drawing/2014/main" id="{02B4B046-1456-2549-8D2A-03FE8B9434D4}"/>
              </a:ext>
            </a:extLst>
          </p:cNvPr>
          <p:cNvSpPr/>
          <p:nvPr/>
        </p:nvSpPr>
        <p:spPr>
          <a:xfrm>
            <a:off x="363197" y="5687343"/>
            <a:ext cx="4053598" cy="146304"/>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8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8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1" name="Shape 71">
            <a:extLst>
              <a:ext uri="{FF2B5EF4-FFF2-40B4-BE49-F238E27FC236}">
                <a16:creationId xmlns:a16="http://schemas.microsoft.com/office/drawing/2014/main" id="{69A5DB50-D061-75F2-9683-580DA89DA5BD}"/>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3" name="Shape 72">
            <a:extLst>
              <a:ext uri="{FF2B5EF4-FFF2-40B4-BE49-F238E27FC236}">
                <a16:creationId xmlns:a16="http://schemas.microsoft.com/office/drawing/2014/main" id="{1E18DB25-A307-005D-2220-B5D1CB74EDBF}"/>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5" name="Text 73">
            <a:extLst>
              <a:ext uri="{FF2B5EF4-FFF2-40B4-BE49-F238E27FC236}">
                <a16:creationId xmlns:a16="http://schemas.microsoft.com/office/drawing/2014/main" id="{453E45E2-53B3-3123-A567-3CDA891BBEEF}"/>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7" name="Text 74">
            <a:extLst>
              <a:ext uri="{FF2B5EF4-FFF2-40B4-BE49-F238E27FC236}">
                <a16:creationId xmlns:a16="http://schemas.microsoft.com/office/drawing/2014/main" id="{35068314-9221-6665-F236-3F5B1A8773D8}"/>
              </a:ext>
            </a:extLst>
          </p:cNvPr>
          <p:cNvSpPr/>
          <p:nvPr/>
        </p:nvSpPr>
        <p:spPr>
          <a:xfrm>
            <a:off x="6311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CPF広告タップ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9" name="Text 75">
            <a:extLst>
              <a:ext uri="{FF2B5EF4-FFF2-40B4-BE49-F238E27FC236}">
                <a16:creationId xmlns:a16="http://schemas.microsoft.com/office/drawing/2014/main" id="{9E831384-FBA1-9ABC-D5C4-E9D07BF92DC1}"/>
              </a:ext>
            </a:extLst>
          </p:cNvPr>
          <p:cNvSpPr/>
          <p:nvPr/>
        </p:nvSpPr>
        <p:spPr>
          <a:xfrm>
            <a:off x="4117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即・友だち追加</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1" name="Text 76">
            <a:extLst>
              <a:ext uri="{FF2B5EF4-FFF2-40B4-BE49-F238E27FC236}">
                <a16:creationId xmlns:a16="http://schemas.microsoft.com/office/drawing/2014/main" id="{B609F64E-3A86-7ABF-C056-68CBD7347946}"/>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3" name="Shape 77">
            <a:extLst>
              <a:ext uri="{FF2B5EF4-FFF2-40B4-BE49-F238E27FC236}">
                <a16:creationId xmlns:a16="http://schemas.microsoft.com/office/drawing/2014/main" id="{A42E7FC8-693A-903C-101F-881077D3912E}"/>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5" name="Shape 78">
            <a:extLst>
              <a:ext uri="{FF2B5EF4-FFF2-40B4-BE49-F238E27FC236}">
                <a16:creationId xmlns:a16="http://schemas.microsoft.com/office/drawing/2014/main" id="{5D77DB8F-3255-B8FA-09A1-BA76AB1E30EC}"/>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7" name="Text 79">
            <a:extLst>
              <a:ext uri="{FF2B5EF4-FFF2-40B4-BE49-F238E27FC236}">
                <a16:creationId xmlns:a16="http://schemas.microsoft.com/office/drawing/2014/main" id="{AE657B72-3339-BAE3-9DA8-C9C378371C9D}"/>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9" name="Text 80">
            <a:extLst>
              <a:ext uri="{FF2B5EF4-FFF2-40B4-BE49-F238E27FC236}">
                <a16:creationId xmlns:a16="http://schemas.microsoft.com/office/drawing/2014/main" id="{582D1F5A-1093-8B0B-EC93-6F3E17DF1674}"/>
              </a:ext>
            </a:extLst>
          </p:cNvPr>
          <p:cNvSpPr/>
          <p:nvPr/>
        </p:nvSpPr>
        <p:spPr>
          <a:xfrm>
            <a:off x="2041211" y="5957091"/>
            <a:ext cx="98036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応答、ステップ起動</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1" name="Text 81">
            <a:extLst>
              <a:ext uri="{FF2B5EF4-FFF2-40B4-BE49-F238E27FC236}">
                <a16:creationId xmlns:a16="http://schemas.microsoft.com/office/drawing/2014/main" id="{267A8E72-34E2-AC1E-E783-02748F2A3058}"/>
              </a:ext>
            </a:extLst>
          </p:cNvPr>
          <p:cNvSpPr/>
          <p:nvPr/>
        </p:nvSpPr>
        <p:spPr>
          <a:xfrm>
            <a:off x="1819899"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ステップ配信が</a:t>
            </a:r>
            <a:r>
              <a:rPr kumimoji="0" lang="en-US" sz="7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起動</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3" name="Text 82">
            <a:extLst>
              <a:ext uri="{FF2B5EF4-FFF2-40B4-BE49-F238E27FC236}">
                <a16:creationId xmlns:a16="http://schemas.microsoft.com/office/drawing/2014/main" id="{9B65E420-0374-979E-BAA2-48722980545C}"/>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5" name="Shape 83">
            <a:extLst>
              <a:ext uri="{FF2B5EF4-FFF2-40B4-BE49-F238E27FC236}">
                <a16:creationId xmlns:a16="http://schemas.microsoft.com/office/drawing/2014/main" id="{7C0C6D93-01E9-C895-1E2E-400951DA4B8E}"/>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7" name="Shape 84">
            <a:extLst>
              <a:ext uri="{FF2B5EF4-FFF2-40B4-BE49-F238E27FC236}">
                <a16:creationId xmlns:a16="http://schemas.microsoft.com/office/drawing/2014/main" id="{6B131D82-5FD9-9308-3AF2-032B378170E3}"/>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9" name="Text 85">
            <a:extLst>
              <a:ext uri="{FF2B5EF4-FFF2-40B4-BE49-F238E27FC236}">
                <a16:creationId xmlns:a16="http://schemas.microsoft.com/office/drawing/2014/main" id="{A04EEFDD-332F-12BD-7677-D9DE3938B356}"/>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1" name="Text 86">
            <a:extLst>
              <a:ext uri="{FF2B5EF4-FFF2-40B4-BE49-F238E27FC236}">
                <a16:creationId xmlns:a16="http://schemas.microsoft.com/office/drawing/2014/main" id="{32928D0D-3150-AD73-9242-387FEEFEB4E7}"/>
              </a:ext>
            </a:extLst>
          </p:cNvPr>
          <p:cNvSpPr/>
          <p:nvPr/>
        </p:nvSpPr>
        <p:spPr>
          <a:xfrm>
            <a:off x="3447531"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リードデータ取得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3" name="Text 87">
            <a:extLst>
              <a:ext uri="{FF2B5EF4-FFF2-40B4-BE49-F238E27FC236}">
                <a16:creationId xmlns:a16="http://schemas.microsoft.com/office/drawing/2014/main" id="{155A8DAC-6178-45E5-B78E-ED5968433C87}"/>
              </a:ext>
            </a:extLst>
          </p:cNvPr>
          <p:cNvSpPr/>
          <p:nvPr/>
        </p:nvSpPr>
        <p:spPr>
          <a:xfrm>
            <a:off x="3228075"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LINE内で完結</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5" name="Shape 88">
            <a:extLst>
              <a:ext uri="{FF2B5EF4-FFF2-40B4-BE49-F238E27FC236}">
                <a16:creationId xmlns:a16="http://schemas.microsoft.com/office/drawing/2014/main" id="{65FD4E02-C70C-2DC3-6107-3854D0C99B17}"/>
              </a:ext>
            </a:extLst>
          </p:cNvPr>
          <p:cNvSpPr/>
          <p:nvPr/>
        </p:nvSpPr>
        <p:spPr>
          <a:xfrm>
            <a:off x="5099366" y="2999769"/>
            <a:ext cx="4526075" cy="1600806"/>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9" name="Shape 113">
            <a:extLst>
              <a:ext uri="{FF2B5EF4-FFF2-40B4-BE49-F238E27FC236}">
                <a16:creationId xmlns:a16="http://schemas.microsoft.com/office/drawing/2014/main" id="{11234610-A1AC-AA19-B005-775FD3F8A3B3}"/>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1" name="Shape 117">
            <a:extLst>
              <a:ext uri="{FF2B5EF4-FFF2-40B4-BE49-F238E27FC236}">
                <a16:creationId xmlns:a16="http://schemas.microsoft.com/office/drawing/2014/main" id="{53B1A122-71EF-1F9B-0702-A1A1393823D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3" name="Text 118">
            <a:extLst>
              <a:ext uri="{FF2B5EF4-FFF2-40B4-BE49-F238E27FC236}">
                <a16:creationId xmlns:a16="http://schemas.microsoft.com/office/drawing/2014/main" id="{841897D7-C412-EE47-0B0D-746DD32E330E}"/>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KW自動応答</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5" name="Text 119">
            <a:extLst>
              <a:ext uri="{FF2B5EF4-FFF2-40B4-BE49-F238E27FC236}">
                <a16:creationId xmlns:a16="http://schemas.microsoft.com/office/drawing/2014/main" id="{EBE6ADAD-9C3A-4E30-E6A7-BF0CDE4B5719}"/>
              </a:ext>
            </a:extLst>
          </p:cNvPr>
          <p:cNvSpPr/>
          <p:nvPr/>
        </p:nvSpPr>
        <p:spPr>
          <a:xfrm>
            <a:off x="6379527" y="4924581"/>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短期</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KW自動応答でFAQ即解消→</a:t>
            </a:r>
            <a:r>
              <a:rPr kumimoji="0" lang="en-US" altLang="ja-JP"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CV</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へ誘導</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7" name="Text 120">
            <a:extLst>
              <a:ext uri="{FF2B5EF4-FFF2-40B4-BE49-F238E27FC236}">
                <a16:creationId xmlns:a16="http://schemas.microsoft.com/office/drawing/2014/main" id="{9BC9F586-F4C8-69D1-0AB3-84BC5D46528A}"/>
              </a:ext>
            </a:extLst>
          </p:cNvPr>
          <p:cNvSpPr/>
          <p:nvPr/>
        </p:nvSpPr>
        <p:spPr>
          <a:xfrm>
            <a:off x="5190807" y="5226333"/>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ステップ配信と並行して、</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にて代表的な</a:t>
            </a:r>
            <a:r>
              <a:rPr kumimoji="0" lang="en-US" altLang="ja-JP"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Q</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に自動返答＋CV</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動線へ誘導</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p>
          <a:p>
            <a:pPr marL="0" marR="0" lvl="0" indent="0" defTabSz="914400" eaLnBrk="1" fontAlgn="auto" latinLnBrk="0" hangingPunct="1">
              <a:lnSpc>
                <a:spcPct val="135000"/>
              </a:lnSpc>
              <a:spcBef>
                <a:spcPts val="0"/>
              </a:spcBef>
              <a:spcAft>
                <a:spcPts val="0"/>
              </a:spcAft>
              <a:buClrTx/>
              <a:buSzTx/>
              <a:buFontTx/>
              <a:buNone/>
              <a:tabLst/>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24時間対応で「試しに聞いてみた」</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層</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をそのまま申込フォームへ転換</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9" name="Shape 121">
            <a:extLst>
              <a:ext uri="{FF2B5EF4-FFF2-40B4-BE49-F238E27FC236}">
                <a16:creationId xmlns:a16="http://schemas.microsoft.com/office/drawing/2014/main" id="{879C697E-7DA8-CA7E-D00D-C9CADF55302E}"/>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1" name="Shape 122">
            <a:extLst>
              <a:ext uri="{FF2B5EF4-FFF2-40B4-BE49-F238E27FC236}">
                <a16:creationId xmlns:a16="http://schemas.microsoft.com/office/drawing/2014/main" id="{E0FE3AAB-EEAF-8F74-4288-38540089361D}"/>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3" name="Text 123">
            <a:extLst>
              <a:ext uri="{FF2B5EF4-FFF2-40B4-BE49-F238E27FC236}">
                <a16:creationId xmlns:a16="http://schemas.microsoft.com/office/drawing/2014/main" id="{31A73E53-E872-D735-0EE5-02CFC5ED076F}"/>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5" name="Text 124">
            <a:extLst>
              <a:ext uri="{FF2B5EF4-FFF2-40B4-BE49-F238E27FC236}">
                <a16:creationId xmlns:a16="http://schemas.microsoft.com/office/drawing/2014/main" id="{014A61FB-ACC2-FA78-238A-10F112F08313}"/>
              </a:ext>
            </a:extLst>
          </p:cNvPr>
          <p:cNvSpPr/>
          <p:nvPr/>
        </p:nvSpPr>
        <p:spPr>
          <a:xfrm>
            <a:off x="5447079" y="5957091"/>
            <a:ext cx="1020168"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ステップ配信・</a:t>
            </a:r>
            <a:r>
              <a:rPr kumimoji="0" lang="en-US" altLang="ja-JP"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QA</a:t>
            </a:r>
            <a:r>
              <a:rPr kumimoji="0" lang="ja-JP" alt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7" name="Text 125">
            <a:extLst>
              <a:ext uri="{FF2B5EF4-FFF2-40B4-BE49-F238E27FC236}">
                <a16:creationId xmlns:a16="http://schemas.microsoft.com/office/drawing/2014/main" id="{61B557F9-9683-D913-1D65-DD25D26B2695}"/>
              </a:ext>
            </a:extLst>
          </p:cNvPr>
          <p:cNvSpPr/>
          <p:nvPr/>
        </p:nvSpPr>
        <p:spPr>
          <a:xfrm>
            <a:off x="5245671"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追加～</a:t>
            </a:r>
            <a:r>
              <a:rPr kumimoji="0" lang="en-US" altLang="ja-JP"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15</a:t>
            </a:r>
            <a:r>
              <a:rPr kumimoji="0" lang="ja-JP" alt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rPr>
              <a:t>日で</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9" name="Text 126">
            <a:extLst>
              <a:ext uri="{FF2B5EF4-FFF2-40B4-BE49-F238E27FC236}">
                <a16:creationId xmlns:a16="http://schemas.microsoft.com/office/drawing/2014/main" id="{F117171D-C47B-261C-85AC-F680EF28CB19}"/>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1" name="Shape 127">
            <a:extLst>
              <a:ext uri="{FF2B5EF4-FFF2-40B4-BE49-F238E27FC236}">
                <a16:creationId xmlns:a16="http://schemas.microsoft.com/office/drawing/2014/main" id="{4BEE9167-F8E5-7442-64A8-E9F7D39F09D7}"/>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3" name="Shape 128">
            <a:extLst>
              <a:ext uri="{FF2B5EF4-FFF2-40B4-BE49-F238E27FC236}">
                <a16:creationId xmlns:a16="http://schemas.microsoft.com/office/drawing/2014/main" id="{9C2642A1-2BDB-C49F-7691-85BD71CF126B}"/>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5" name="Text 129">
            <a:extLst>
              <a:ext uri="{FF2B5EF4-FFF2-40B4-BE49-F238E27FC236}">
                <a16:creationId xmlns:a16="http://schemas.microsoft.com/office/drawing/2014/main" id="{B9E7F4F1-E140-0A15-9900-349580A383C4}"/>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7" name="Text 130">
            <a:extLst>
              <a:ext uri="{FF2B5EF4-FFF2-40B4-BE49-F238E27FC236}">
                <a16:creationId xmlns:a16="http://schemas.microsoft.com/office/drawing/2014/main" id="{538141D0-5353-E1AE-4CCC-4B7FBADE0E74}"/>
              </a:ext>
            </a:extLst>
          </p:cNvPr>
          <p:cNvSpPr/>
          <p:nvPr/>
        </p:nvSpPr>
        <p:spPr>
          <a:xfrm>
            <a:off x="6873303"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自動即返答</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9" name="Text 131">
            <a:extLst>
              <a:ext uri="{FF2B5EF4-FFF2-40B4-BE49-F238E27FC236}">
                <a16:creationId xmlns:a16="http://schemas.microsoft.com/office/drawing/2014/main" id="{507C3FBA-63F5-86D8-66C6-6318F2F8EDA2}"/>
              </a:ext>
            </a:extLst>
          </p:cNvPr>
          <p:cNvSpPr/>
          <p:nvPr/>
        </p:nvSpPr>
        <p:spPr>
          <a:xfrm>
            <a:off x="6653847"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FAQ解消＋LP URL送付</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1" name="Text 132">
            <a:extLst>
              <a:ext uri="{FF2B5EF4-FFF2-40B4-BE49-F238E27FC236}">
                <a16:creationId xmlns:a16="http://schemas.microsoft.com/office/drawing/2014/main" id="{6C6ED810-1D06-F9BD-D3C9-03D6BF6C14DA}"/>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3" name="Shape 133">
            <a:extLst>
              <a:ext uri="{FF2B5EF4-FFF2-40B4-BE49-F238E27FC236}">
                <a16:creationId xmlns:a16="http://schemas.microsoft.com/office/drawing/2014/main" id="{032FF15A-215D-CE84-EF89-D93E09191819}"/>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5" name="Shape 134">
            <a:extLst>
              <a:ext uri="{FF2B5EF4-FFF2-40B4-BE49-F238E27FC236}">
                <a16:creationId xmlns:a16="http://schemas.microsoft.com/office/drawing/2014/main" id="{4111E6D0-ABE0-6AC4-2D12-6FEF3F3EFA73}"/>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7" name="Text 135">
            <a:extLst>
              <a:ext uri="{FF2B5EF4-FFF2-40B4-BE49-F238E27FC236}">
                <a16:creationId xmlns:a16="http://schemas.microsoft.com/office/drawing/2014/main" id="{CF3AE303-2971-F53C-A610-F98F99E3189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9" name="Text 136">
            <a:extLst>
              <a:ext uri="{FF2B5EF4-FFF2-40B4-BE49-F238E27FC236}">
                <a16:creationId xmlns:a16="http://schemas.microsoft.com/office/drawing/2014/main" id="{F73C430F-E961-93C3-213B-0963BAC20CD3}"/>
              </a:ext>
            </a:extLst>
          </p:cNvPr>
          <p:cNvSpPr/>
          <p:nvPr/>
        </p:nvSpPr>
        <p:spPr>
          <a:xfrm>
            <a:off x="8281479" y="5957091"/>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申込フォームCV</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1" name="Text 137">
            <a:extLst>
              <a:ext uri="{FF2B5EF4-FFF2-40B4-BE49-F238E27FC236}">
                <a16:creationId xmlns:a16="http://schemas.microsoft.com/office/drawing/2014/main" id="{88FD7181-FD44-C0BF-B9A5-5C5C104EC047}"/>
              </a:ext>
            </a:extLst>
          </p:cNvPr>
          <p:cNvSpPr/>
          <p:nvPr/>
        </p:nvSpPr>
        <p:spPr>
          <a:xfrm>
            <a:off x="8062023" y="6167403"/>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24時間・スタッフ不要</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03" name="Shape 36">
            <a:extLst>
              <a:ext uri="{FF2B5EF4-FFF2-40B4-BE49-F238E27FC236}">
                <a16:creationId xmlns:a16="http://schemas.microsoft.com/office/drawing/2014/main" id="{D62EC5F5-FA90-2741-4644-800F1639B9D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7" name="Shape 36">
            <a:extLst>
              <a:ext uri="{FF2B5EF4-FFF2-40B4-BE49-F238E27FC236}">
                <a16:creationId xmlns:a16="http://schemas.microsoft.com/office/drawing/2014/main" id="{3ABA6325-0C4D-ADBB-5C93-9AB0A04C8F15}"/>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3" name="Shape 36">
            <a:extLst>
              <a:ext uri="{FF2B5EF4-FFF2-40B4-BE49-F238E27FC236}">
                <a16:creationId xmlns:a16="http://schemas.microsoft.com/office/drawing/2014/main" id="{0BB2AEB8-7FA8-EBC7-04FD-AD5A5B8538F8}"/>
              </a:ext>
            </a:extLst>
          </p:cNvPr>
          <p:cNvSpPr/>
          <p:nvPr/>
        </p:nvSpPr>
        <p:spPr>
          <a:xfrm>
            <a:off x="5207551" y="3082504"/>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55" name="Shape 38">
            <a:extLst>
              <a:ext uri="{FF2B5EF4-FFF2-40B4-BE49-F238E27FC236}">
                <a16:creationId xmlns:a16="http://schemas.microsoft.com/office/drawing/2014/main" id="{3976CA87-D608-B478-0B7F-76C239579767}"/>
              </a:ext>
            </a:extLst>
          </p:cNvPr>
          <p:cNvSpPr/>
          <p:nvPr/>
        </p:nvSpPr>
        <p:spPr>
          <a:xfrm>
            <a:off x="5536735" y="3100792"/>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57" name="Text 39">
            <a:extLst>
              <a:ext uri="{FF2B5EF4-FFF2-40B4-BE49-F238E27FC236}">
                <a16:creationId xmlns:a16="http://schemas.microsoft.com/office/drawing/2014/main" id="{00B73596-25FE-7BEA-B356-6BA40FA3B1A1}"/>
              </a:ext>
            </a:extLst>
          </p:cNvPr>
          <p:cNvSpPr/>
          <p:nvPr/>
        </p:nvSpPr>
        <p:spPr>
          <a:xfrm>
            <a:off x="5536735" y="3100792"/>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kern="0" dirty="0">
                <a:solidFill>
                  <a:srgbClr val="1565C0"/>
                </a:solidFill>
                <a:latin typeface="メイリオ" panose="020B0604030504040204" pitchFamily="50" charset="-128"/>
                <a:ea typeface="メイリオ" panose="020B0604030504040204" pitchFamily="50" charset="-128"/>
                <a:cs typeface="Calibri" pitchFamily="34" charset="-120"/>
              </a:rPr>
              <a:t>低ハードル</a:t>
            </a:r>
            <a:r>
              <a:rPr kumimoji="0" lang="en-US" altLang="ja-JP" sz="750" b="1" kern="0" dirty="0">
                <a:solidFill>
                  <a:srgbClr val="1565C0"/>
                </a:solidFill>
                <a:latin typeface="メイリオ" panose="020B0604030504040204" pitchFamily="50" charset="-128"/>
                <a:ea typeface="メイリオ" panose="020B0604030504040204" pitchFamily="50" charset="-128"/>
                <a:cs typeface="Calibri" pitchFamily="34" charset="-120"/>
              </a:rPr>
              <a:t>CV</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59" name="Text 40">
            <a:extLst>
              <a:ext uri="{FF2B5EF4-FFF2-40B4-BE49-F238E27FC236}">
                <a16:creationId xmlns:a16="http://schemas.microsoft.com/office/drawing/2014/main" id="{8E8E8572-E4BF-C131-AD4E-7DE59476C19F}"/>
              </a:ext>
            </a:extLst>
          </p:cNvPr>
          <p:cNvSpPr/>
          <p:nvPr/>
        </p:nvSpPr>
        <p:spPr>
          <a:xfrm>
            <a:off x="6396271" y="3073360"/>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簡易</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1100" b="1" i="0" u="none" strike="noStrike" kern="0" cap="none" spc="0" normalizeH="0" baseline="0" noProof="0" dirty="0" err="1">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LINE登録</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1" name="Text 41">
            <a:extLst>
              <a:ext uri="{FF2B5EF4-FFF2-40B4-BE49-F238E27FC236}">
                <a16:creationId xmlns:a16="http://schemas.microsoft.com/office/drawing/2014/main" id="{A02D25CE-9C9B-6858-9645-3D054403B80F}"/>
              </a:ext>
            </a:extLst>
          </p:cNvPr>
          <p:cNvSpPr/>
          <p:nvPr/>
        </p:nvSpPr>
        <p:spPr>
          <a:xfrm>
            <a:off x="5207551" y="3375112"/>
            <a:ext cx="4449774" cy="493776"/>
          </a:xfrm>
          <a:prstGeom prst="rect">
            <a:avLst/>
          </a:prstGeom>
          <a:noFill/>
          <a:ln/>
        </p:spPr>
        <p:txBody>
          <a:bodyPr wrap="square" lIns="0" tIns="0" rIns="0" bIns="0" rtlCol="0" anchor="ctr"/>
          <a:lstStyle/>
          <a:p>
            <a:pPr lvl="0">
              <a:lnSpc>
                <a:spcPct val="135000"/>
              </a:lnSpc>
              <a:defRPr/>
            </a:pP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シミュレーター、簡易診断を</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受け取る</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簡易的な</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を作成し</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a:t>
            </a:r>
            <a:r>
              <a:rPr kumimoji="0" lang="en-US" sz="850" b="0" i="0" u="none" strike="noStrike" kern="0" cap="none" spc="0" normalizeH="0" baseline="0" noProof="0" dirty="0" err="1">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友だち追加そのままステップ配信へ移行</a:t>
            </a:r>
            <a:r>
              <a:rPr kumimoji="0" 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CVR</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2</a:t>
            </a:r>
            <a:r>
              <a:rPr kumimoji="0" lang="ja-JP" altLang="en-US" sz="850" b="1"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％前後</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」を「</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5</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a:t>
            </a:r>
            <a:r>
              <a:rPr kumimoji="0" lang="en-US" altLang="ja-JP" sz="850" b="1" kern="0" dirty="0">
                <a:solidFill>
                  <a:srgbClr val="4A4A6A"/>
                </a:solidFill>
                <a:latin typeface="メイリオ" panose="020B0604030504040204" pitchFamily="50" charset="-128"/>
                <a:ea typeface="メイリオ" panose="020B0604030504040204" pitchFamily="50" charset="-128"/>
                <a:cs typeface="Calibri" pitchFamily="34" charset="-120"/>
              </a:rPr>
              <a:t>10</a:t>
            </a:r>
            <a:r>
              <a:rPr kumimoji="0" lang="ja-JP" altLang="en-US" sz="850" b="1" kern="0" dirty="0">
                <a:solidFill>
                  <a:srgbClr val="4A4A6A"/>
                </a:solidFill>
                <a:latin typeface="メイリオ" panose="020B0604030504040204" pitchFamily="50" charset="-128"/>
                <a:ea typeface="メイリオ" panose="020B0604030504040204" pitchFamily="50" charset="-128"/>
                <a:cs typeface="Calibri" pitchFamily="34" charset="-120"/>
              </a:rPr>
              <a:t>％」に引上げてリード最大化。</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3" name="Shape 42">
            <a:extLst>
              <a:ext uri="{FF2B5EF4-FFF2-40B4-BE49-F238E27FC236}">
                <a16:creationId xmlns:a16="http://schemas.microsoft.com/office/drawing/2014/main" id="{A9C5DE92-D696-84FB-0338-A45B2163E84E}"/>
              </a:ext>
            </a:extLst>
          </p:cNvPr>
          <p:cNvSpPr/>
          <p:nvPr/>
        </p:nvSpPr>
        <p:spPr>
          <a:xfrm>
            <a:off x="5207551"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5" name="Shape 43">
            <a:extLst>
              <a:ext uri="{FF2B5EF4-FFF2-40B4-BE49-F238E27FC236}">
                <a16:creationId xmlns:a16="http://schemas.microsoft.com/office/drawing/2014/main" id="{7A414BE8-8C56-464D-5646-C8428426E154}"/>
              </a:ext>
            </a:extLst>
          </p:cNvPr>
          <p:cNvSpPr/>
          <p:nvPr/>
        </p:nvSpPr>
        <p:spPr>
          <a:xfrm>
            <a:off x="5262415"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67" name="Text 44">
            <a:extLst>
              <a:ext uri="{FF2B5EF4-FFF2-40B4-BE49-F238E27FC236}">
                <a16:creationId xmlns:a16="http://schemas.microsoft.com/office/drawing/2014/main" id="{71F14BEE-D634-88A2-56B2-296177E648B8}"/>
              </a:ext>
            </a:extLst>
          </p:cNvPr>
          <p:cNvSpPr/>
          <p:nvPr/>
        </p:nvSpPr>
        <p:spPr>
          <a:xfrm>
            <a:off x="5262415"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69" name="Text 45">
            <a:extLst>
              <a:ext uri="{FF2B5EF4-FFF2-40B4-BE49-F238E27FC236}">
                <a16:creationId xmlns:a16="http://schemas.microsoft.com/office/drawing/2014/main" id="{38EAA9FF-3D6F-9893-A6AC-492E1F8D9ED2}"/>
              </a:ext>
            </a:extLst>
          </p:cNvPr>
          <p:cNvSpPr/>
          <p:nvPr/>
        </p:nvSpPr>
        <p:spPr>
          <a:xfrm>
            <a:off x="5481871"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超簡易</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1" name="Text 46">
            <a:extLst>
              <a:ext uri="{FF2B5EF4-FFF2-40B4-BE49-F238E27FC236}">
                <a16:creationId xmlns:a16="http://schemas.microsoft.com/office/drawing/2014/main" id="{76F9D806-0316-8040-BBC1-059EC4037026}"/>
              </a:ext>
            </a:extLst>
          </p:cNvPr>
          <p:cNvSpPr/>
          <p:nvPr/>
        </p:nvSpPr>
        <p:spPr>
          <a:xfrm>
            <a:off x="5262415"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WEB</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リード獲得</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3" name="Text 47">
            <a:extLst>
              <a:ext uri="{FF2B5EF4-FFF2-40B4-BE49-F238E27FC236}">
                <a16:creationId xmlns:a16="http://schemas.microsoft.com/office/drawing/2014/main" id="{A91D1983-BD63-6B03-7992-4EBA1D20A7ED}"/>
              </a:ext>
            </a:extLst>
          </p:cNvPr>
          <p:cNvSpPr/>
          <p:nvPr/>
        </p:nvSpPr>
        <p:spPr>
          <a:xfrm>
            <a:off x="6487711"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75" name="Shape 48">
            <a:extLst>
              <a:ext uri="{FF2B5EF4-FFF2-40B4-BE49-F238E27FC236}">
                <a16:creationId xmlns:a16="http://schemas.microsoft.com/office/drawing/2014/main" id="{1B608CB6-10B1-7849-F676-C778EAF32793}"/>
              </a:ext>
            </a:extLst>
          </p:cNvPr>
          <p:cNvSpPr/>
          <p:nvPr/>
        </p:nvSpPr>
        <p:spPr>
          <a:xfrm>
            <a:off x="6615727" y="4069294"/>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7" name="Shape 49">
            <a:extLst>
              <a:ext uri="{FF2B5EF4-FFF2-40B4-BE49-F238E27FC236}">
                <a16:creationId xmlns:a16="http://schemas.microsoft.com/office/drawing/2014/main" id="{C6FD4C21-79ED-9901-73BB-36FADC629074}"/>
              </a:ext>
            </a:extLst>
          </p:cNvPr>
          <p:cNvSpPr/>
          <p:nvPr/>
        </p:nvSpPr>
        <p:spPr>
          <a:xfrm>
            <a:off x="6670591" y="4124158"/>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79" name="Text 50">
            <a:extLst>
              <a:ext uri="{FF2B5EF4-FFF2-40B4-BE49-F238E27FC236}">
                <a16:creationId xmlns:a16="http://schemas.microsoft.com/office/drawing/2014/main" id="{3AF7109C-EDE8-F8BE-01DA-9C306F9D4491}"/>
              </a:ext>
            </a:extLst>
          </p:cNvPr>
          <p:cNvSpPr/>
          <p:nvPr/>
        </p:nvSpPr>
        <p:spPr>
          <a:xfrm>
            <a:off x="6670591"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1" name="Text 51">
            <a:extLst>
              <a:ext uri="{FF2B5EF4-FFF2-40B4-BE49-F238E27FC236}">
                <a16:creationId xmlns:a16="http://schemas.microsoft.com/office/drawing/2014/main" id="{6A7C6314-C31C-2B4B-7A8D-E8DECD286DE8}"/>
              </a:ext>
            </a:extLst>
          </p:cNvPr>
          <p:cNvSpPr/>
          <p:nvPr/>
        </p:nvSpPr>
        <p:spPr>
          <a:xfrm>
            <a:off x="6887872" y="4105870"/>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サンクス</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誘導</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3" name="Text 52">
            <a:extLst>
              <a:ext uri="{FF2B5EF4-FFF2-40B4-BE49-F238E27FC236}">
                <a16:creationId xmlns:a16="http://schemas.microsoft.com/office/drawing/2014/main" id="{0C3AD28D-E803-BC04-74B7-651CDCD70000}"/>
              </a:ext>
            </a:extLst>
          </p:cNvPr>
          <p:cNvSpPr/>
          <p:nvPr/>
        </p:nvSpPr>
        <p:spPr>
          <a:xfrm>
            <a:off x="6621208" y="4316182"/>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上で受取</a:t>
            </a:r>
            <a:r>
              <a:rPr kumimoji="0" lang="ja-JP" altLang="en-US" sz="750" kern="0" dirty="0">
                <a:solidFill>
                  <a:srgbClr val="4A4A6A"/>
                </a:solidFill>
                <a:latin typeface="メイリオ" panose="020B0604030504040204" pitchFamily="50" charset="-128"/>
                <a:ea typeface="メイリオ" panose="020B0604030504040204" pitchFamily="50" charset="-128"/>
                <a:cs typeface="Calibri" pitchFamily="34" charset="-120"/>
              </a:rPr>
              <a:t>として友だちに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5" name="Text 53">
            <a:extLst>
              <a:ext uri="{FF2B5EF4-FFF2-40B4-BE49-F238E27FC236}">
                <a16:creationId xmlns:a16="http://schemas.microsoft.com/office/drawing/2014/main" id="{2FB8B884-DB13-49DB-D682-50EB7789C9A4}"/>
              </a:ext>
            </a:extLst>
          </p:cNvPr>
          <p:cNvSpPr/>
          <p:nvPr/>
        </p:nvSpPr>
        <p:spPr>
          <a:xfrm>
            <a:off x="7895887" y="4224742"/>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7" name="Shape 54">
            <a:extLst>
              <a:ext uri="{FF2B5EF4-FFF2-40B4-BE49-F238E27FC236}">
                <a16:creationId xmlns:a16="http://schemas.microsoft.com/office/drawing/2014/main" id="{710A2000-BA3B-1AFB-FCE0-644E6898DD03}"/>
              </a:ext>
            </a:extLst>
          </p:cNvPr>
          <p:cNvSpPr/>
          <p:nvPr/>
        </p:nvSpPr>
        <p:spPr>
          <a:xfrm>
            <a:off x="8023903" y="4069294"/>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89" name="Shape 55">
            <a:extLst>
              <a:ext uri="{FF2B5EF4-FFF2-40B4-BE49-F238E27FC236}">
                <a16:creationId xmlns:a16="http://schemas.microsoft.com/office/drawing/2014/main" id="{1037F87F-5E4D-E3F5-E197-701DC444F492}"/>
              </a:ext>
            </a:extLst>
          </p:cNvPr>
          <p:cNvSpPr/>
          <p:nvPr/>
        </p:nvSpPr>
        <p:spPr>
          <a:xfrm>
            <a:off x="8078767" y="4124158"/>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91" name="Text 56">
            <a:extLst>
              <a:ext uri="{FF2B5EF4-FFF2-40B4-BE49-F238E27FC236}">
                <a16:creationId xmlns:a16="http://schemas.microsoft.com/office/drawing/2014/main" id="{B168640B-7EB6-045C-32D4-9F60E9C4069A}"/>
              </a:ext>
            </a:extLst>
          </p:cNvPr>
          <p:cNvSpPr/>
          <p:nvPr/>
        </p:nvSpPr>
        <p:spPr>
          <a:xfrm>
            <a:off x="8078767" y="4124158"/>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3" name="Text 57">
            <a:extLst>
              <a:ext uri="{FF2B5EF4-FFF2-40B4-BE49-F238E27FC236}">
                <a16:creationId xmlns:a16="http://schemas.microsoft.com/office/drawing/2014/main" id="{E14BC7E9-3708-9505-AC4A-060665171BCD}"/>
              </a:ext>
            </a:extLst>
          </p:cNvPr>
          <p:cNvSpPr/>
          <p:nvPr/>
        </p:nvSpPr>
        <p:spPr>
          <a:xfrm>
            <a:off x="8298223" y="4105870"/>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95" name="Text 58">
            <a:extLst>
              <a:ext uri="{FF2B5EF4-FFF2-40B4-BE49-F238E27FC236}">
                <a16:creationId xmlns:a16="http://schemas.microsoft.com/office/drawing/2014/main" id="{5677227D-7522-18E3-CFF0-A01DE3054B96}"/>
              </a:ext>
            </a:extLst>
          </p:cNvPr>
          <p:cNvSpPr/>
          <p:nvPr/>
        </p:nvSpPr>
        <p:spPr>
          <a:xfrm>
            <a:off x="8078767" y="4316182"/>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err="1">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ステップ配信</a:t>
            </a:r>
            <a:r>
              <a:rPr kumimoji="0" lang="ja-JP" altLang="en-US" sz="750" kern="0" dirty="0">
                <a:solidFill>
                  <a:srgbClr val="D0E8FF"/>
                </a:solidFill>
                <a:latin typeface="メイリオ" panose="020B0604030504040204" pitchFamily="50" charset="-128"/>
                <a:ea typeface="メイリオ" panose="020B0604030504040204" pitchFamily="50" charset="-128"/>
                <a:cs typeface="Calibri" pitchFamily="34" charset="-120"/>
              </a:rPr>
              <a:t>対象に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3" name="Shape 88">
            <a:extLst>
              <a:ext uri="{FF2B5EF4-FFF2-40B4-BE49-F238E27FC236}">
                <a16:creationId xmlns:a16="http://schemas.microsoft.com/office/drawing/2014/main" id="{E0F73C02-327E-D244-0ABD-F19F91EB24DD}"/>
              </a:ext>
            </a:extLst>
          </p:cNvPr>
          <p:cNvSpPr/>
          <p:nvPr/>
        </p:nvSpPr>
        <p:spPr>
          <a:xfrm>
            <a:off x="261702" y="2995754"/>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5" name="Shape 36">
            <a:extLst>
              <a:ext uri="{FF2B5EF4-FFF2-40B4-BE49-F238E27FC236}">
                <a16:creationId xmlns:a16="http://schemas.microsoft.com/office/drawing/2014/main" id="{845DFC42-70E6-B496-30C2-C44315D85C79}"/>
              </a:ext>
            </a:extLst>
          </p:cNvPr>
          <p:cNvSpPr/>
          <p:nvPr/>
        </p:nvSpPr>
        <p:spPr>
          <a:xfrm>
            <a:off x="369887" y="307848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547" name="Shape 38">
            <a:extLst>
              <a:ext uri="{FF2B5EF4-FFF2-40B4-BE49-F238E27FC236}">
                <a16:creationId xmlns:a16="http://schemas.microsoft.com/office/drawing/2014/main" id="{2DBF8816-E4F7-4E6B-6AB6-19DEA2101114}"/>
              </a:ext>
            </a:extLst>
          </p:cNvPr>
          <p:cNvSpPr/>
          <p:nvPr/>
        </p:nvSpPr>
        <p:spPr>
          <a:xfrm>
            <a:off x="699071" y="309677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49" name="Text 39">
            <a:extLst>
              <a:ext uri="{FF2B5EF4-FFF2-40B4-BE49-F238E27FC236}">
                <a16:creationId xmlns:a16="http://schemas.microsoft.com/office/drawing/2014/main" id="{27DB11BF-957B-1CEF-3AC8-18BF5DCF40D9}"/>
              </a:ext>
            </a:extLst>
          </p:cNvPr>
          <p:cNvSpPr/>
          <p:nvPr/>
        </p:nvSpPr>
        <p:spPr>
          <a:xfrm>
            <a:off x="699071" y="309677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CV</a:t>
            </a:r>
            <a:r>
              <a:rPr kumimoji="0" lang="ja-JP" alt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rPr>
              <a:t>地点追加</a:t>
            </a:r>
            <a:endParaRPr kumimoji="0" lang="en-US" sz="750" b="1" i="0" u="none" strike="noStrike" kern="0" cap="none" spc="0" normalizeH="0" baseline="0" noProof="0" dirty="0">
              <a:ln>
                <a:noFill/>
              </a:ln>
              <a:solidFill>
                <a:schemeClr val="accent1"/>
              </a:solidFill>
              <a:effectLst/>
              <a:uLnTx/>
              <a:uFillTx/>
              <a:latin typeface="メイリオ" panose="020B0604030504040204" pitchFamily="50" charset="-128"/>
              <a:ea typeface="メイリオ" panose="020B0604030504040204" pitchFamily="50" charset="-128"/>
            </a:endParaRPr>
          </a:p>
        </p:txBody>
      </p:sp>
      <p:sp>
        <p:nvSpPr>
          <p:cNvPr id="551" name="Text 40">
            <a:extLst>
              <a:ext uri="{FF2B5EF4-FFF2-40B4-BE49-F238E27FC236}">
                <a16:creationId xmlns:a16="http://schemas.microsoft.com/office/drawing/2014/main" id="{C23E771B-F34E-1D51-1F7F-E37507CCE586}"/>
              </a:ext>
            </a:extLst>
          </p:cNvPr>
          <p:cNvSpPr/>
          <p:nvPr/>
        </p:nvSpPr>
        <p:spPr>
          <a:xfrm>
            <a:off x="1558607" y="306934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LINE</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追加をそもそも集客成果の</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1</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地点に追加</a:t>
            </a:r>
            <a:endParaRPr kumimoji="0" lang="en-US" sz="11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3" name="Text 41">
            <a:extLst>
              <a:ext uri="{FF2B5EF4-FFF2-40B4-BE49-F238E27FC236}">
                <a16:creationId xmlns:a16="http://schemas.microsoft.com/office/drawing/2014/main" id="{2C88C715-1A68-D7F9-6C3C-2E4E657F87BC}"/>
              </a:ext>
            </a:extLst>
          </p:cNvPr>
          <p:cNvSpPr/>
          <p:nvPr/>
        </p:nvSpPr>
        <p:spPr>
          <a:xfrm>
            <a:off x="369887" y="3371097"/>
            <a:ext cx="4449774" cy="493776"/>
          </a:xfrm>
          <a:prstGeom prst="rect">
            <a:avLst/>
          </a:prstGeom>
          <a:noFill/>
          <a:ln/>
        </p:spPr>
        <p:txBody>
          <a:bodyPr wrap="square" lIns="0" tIns="0" rIns="0" bIns="0" rtlCol="0" anchor="ctr"/>
          <a:lstStyle/>
          <a:p>
            <a:pPr lvl="0">
              <a:lnSpc>
                <a:spcPct val="135000"/>
              </a:lnSpc>
              <a:defRPr/>
            </a:pP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メール、電話を中心とした集客動線では、個人情報としてのハードルが高いため、</a:t>
            </a:r>
            <a:endPar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endParaRPr>
          </a:p>
          <a:p>
            <a:pPr lvl="0">
              <a:lnSpc>
                <a:spcPct val="135000"/>
              </a:lnSpc>
              <a:defRPr/>
            </a:pP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集客実施内でのリード獲得単価を抑制できる上、反応率が高い</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LINE</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を動線の</a:t>
            </a:r>
            <a:r>
              <a:rPr kumimoji="0" lang="en-US" altLang="ja-JP" sz="850" kern="0" dirty="0">
                <a:solidFill>
                  <a:srgbClr val="4A4A6A"/>
                </a:solidFill>
                <a:latin typeface="メイリオ" panose="020B0604030504040204" pitchFamily="50" charset="-128"/>
                <a:ea typeface="メイリオ" panose="020B0604030504040204" pitchFamily="50" charset="-128"/>
                <a:cs typeface="Calibri" pitchFamily="34" charset="-120"/>
              </a:rPr>
              <a:t>1</a:t>
            </a:r>
            <a:r>
              <a:rPr kumimoji="0" lang="ja-JP" altLang="en-US" sz="850" kern="0" dirty="0">
                <a:solidFill>
                  <a:srgbClr val="4A4A6A"/>
                </a:solidFill>
                <a:latin typeface="メイリオ" panose="020B0604030504040204" pitchFamily="50" charset="-128"/>
                <a:ea typeface="メイリオ" panose="020B0604030504040204" pitchFamily="50" charset="-128"/>
                <a:cs typeface="Calibri" pitchFamily="34" charset="-120"/>
              </a:rPr>
              <a:t>つに。</a:t>
            </a:r>
            <a:endParaRPr kumimoji="0" lang="en-US" sz="850" b="1"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55" name="Shape 42">
            <a:extLst>
              <a:ext uri="{FF2B5EF4-FFF2-40B4-BE49-F238E27FC236}">
                <a16:creationId xmlns:a16="http://schemas.microsoft.com/office/drawing/2014/main" id="{113510A9-9BDD-9FAD-90F6-0D1EC0BCB699}"/>
              </a:ext>
            </a:extLst>
          </p:cNvPr>
          <p:cNvSpPr/>
          <p:nvPr/>
        </p:nvSpPr>
        <p:spPr>
          <a:xfrm>
            <a:off x="369887"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7" name="Shape 43">
            <a:extLst>
              <a:ext uri="{FF2B5EF4-FFF2-40B4-BE49-F238E27FC236}">
                <a16:creationId xmlns:a16="http://schemas.microsoft.com/office/drawing/2014/main" id="{4E4A9CB8-BC81-64F6-260F-5F493122A66C}"/>
              </a:ext>
            </a:extLst>
          </p:cNvPr>
          <p:cNvSpPr/>
          <p:nvPr/>
        </p:nvSpPr>
        <p:spPr>
          <a:xfrm>
            <a:off x="424751"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59" name="Text 44">
            <a:extLst>
              <a:ext uri="{FF2B5EF4-FFF2-40B4-BE49-F238E27FC236}">
                <a16:creationId xmlns:a16="http://schemas.microsoft.com/office/drawing/2014/main" id="{1140FDA8-6C5C-AE0C-F98C-11C8C0A073FE}"/>
              </a:ext>
            </a:extLst>
          </p:cNvPr>
          <p:cNvSpPr/>
          <p:nvPr/>
        </p:nvSpPr>
        <p:spPr>
          <a:xfrm>
            <a:off x="424751"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1" name="Text 45">
            <a:extLst>
              <a:ext uri="{FF2B5EF4-FFF2-40B4-BE49-F238E27FC236}">
                <a16:creationId xmlns:a16="http://schemas.microsoft.com/office/drawing/2014/main" id="{A22E630F-5396-9B90-711A-C5DCE95E1469}"/>
              </a:ext>
            </a:extLst>
          </p:cNvPr>
          <p:cNvSpPr/>
          <p:nvPr/>
        </p:nvSpPr>
        <p:spPr>
          <a:xfrm>
            <a:off x="644207"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広告・</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SEO</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a:t>
            </a: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SNS</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3" name="Text 46">
            <a:extLst>
              <a:ext uri="{FF2B5EF4-FFF2-40B4-BE49-F238E27FC236}">
                <a16:creationId xmlns:a16="http://schemas.microsoft.com/office/drawing/2014/main" id="{963027FB-D92E-2D7B-6655-63BA79599E4C}"/>
              </a:ext>
            </a:extLst>
          </p:cNvPr>
          <p:cNvSpPr/>
          <p:nvPr/>
        </p:nvSpPr>
        <p:spPr>
          <a:xfrm>
            <a:off x="424751"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流入チャネル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5" name="Text 47">
            <a:extLst>
              <a:ext uri="{FF2B5EF4-FFF2-40B4-BE49-F238E27FC236}">
                <a16:creationId xmlns:a16="http://schemas.microsoft.com/office/drawing/2014/main" id="{74B99422-CBF5-9B4D-0494-5C4443B23CDC}"/>
              </a:ext>
            </a:extLst>
          </p:cNvPr>
          <p:cNvSpPr/>
          <p:nvPr/>
        </p:nvSpPr>
        <p:spPr>
          <a:xfrm>
            <a:off x="1650047"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67" name="Shape 48">
            <a:extLst>
              <a:ext uri="{FF2B5EF4-FFF2-40B4-BE49-F238E27FC236}">
                <a16:creationId xmlns:a16="http://schemas.microsoft.com/office/drawing/2014/main" id="{8B8CFEAA-9314-449D-1074-EF75AFDAC19A}"/>
              </a:ext>
            </a:extLst>
          </p:cNvPr>
          <p:cNvSpPr/>
          <p:nvPr/>
        </p:nvSpPr>
        <p:spPr>
          <a:xfrm>
            <a:off x="1778063" y="406527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69" name="Shape 49">
            <a:extLst>
              <a:ext uri="{FF2B5EF4-FFF2-40B4-BE49-F238E27FC236}">
                <a16:creationId xmlns:a16="http://schemas.microsoft.com/office/drawing/2014/main" id="{C950146B-431E-366D-1457-E0150725DAB8}"/>
              </a:ext>
            </a:extLst>
          </p:cNvPr>
          <p:cNvSpPr/>
          <p:nvPr/>
        </p:nvSpPr>
        <p:spPr>
          <a:xfrm>
            <a:off x="1832927" y="412014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71" name="Text 50">
            <a:extLst>
              <a:ext uri="{FF2B5EF4-FFF2-40B4-BE49-F238E27FC236}">
                <a16:creationId xmlns:a16="http://schemas.microsoft.com/office/drawing/2014/main" id="{2812D2BF-5313-2DA8-B2ED-115987FDA314}"/>
              </a:ext>
            </a:extLst>
          </p:cNvPr>
          <p:cNvSpPr/>
          <p:nvPr/>
        </p:nvSpPr>
        <p:spPr>
          <a:xfrm>
            <a:off x="1832927"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3" name="Text 51">
            <a:extLst>
              <a:ext uri="{FF2B5EF4-FFF2-40B4-BE49-F238E27FC236}">
                <a16:creationId xmlns:a16="http://schemas.microsoft.com/office/drawing/2014/main" id="{61B9DBCC-02E6-6237-0DAD-ED9142171120}"/>
              </a:ext>
            </a:extLst>
          </p:cNvPr>
          <p:cNvSpPr/>
          <p:nvPr/>
        </p:nvSpPr>
        <p:spPr>
          <a:xfrm>
            <a:off x="2050208" y="4101855"/>
            <a:ext cx="100584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85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・ポップアップ</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5" name="Text 52">
            <a:extLst>
              <a:ext uri="{FF2B5EF4-FFF2-40B4-BE49-F238E27FC236}">
                <a16:creationId xmlns:a16="http://schemas.microsoft.com/office/drawing/2014/main" id="{1CF9536A-5A56-D77B-3F08-8BACCB3B4827}"/>
              </a:ext>
            </a:extLst>
          </p:cNvPr>
          <p:cNvSpPr/>
          <p:nvPr/>
        </p:nvSpPr>
        <p:spPr>
          <a:xfrm>
            <a:off x="1783544" y="4312167"/>
            <a:ext cx="137196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altLang="ja-JP"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LP</a:t>
            </a:r>
            <a:r>
              <a:rPr kumimoji="0" lang="ja-JP" altLang="en-US" sz="7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やポップアップでの動線に</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7" name="Text 53">
            <a:extLst>
              <a:ext uri="{FF2B5EF4-FFF2-40B4-BE49-F238E27FC236}">
                <a16:creationId xmlns:a16="http://schemas.microsoft.com/office/drawing/2014/main" id="{6C4945AC-3CDA-2080-CEF1-36A24E6529F2}"/>
              </a:ext>
            </a:extLst>
          </p:cNvPr>
          <p:cNvSpPr/>
          <p:nvPr/>
        </p:nvSpPr>
        <p:spPr>
          <a:xfrm>
            <a:off x="3058223" y="422072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79" name="Shape 54">
            <a:extLst>
              <a:ext uri="{FF2B5EF4-FFF2-40B4-BE49-F238E27FC236}">
                <a16:creationId xmlns:a16="http://schemas.microsoft.com/office/drawing/2014/main" id="{FB4A19A3-2EF9-47D2-F075-70F2D5D6B076}"/>
              </a:ext>
            </a:extLst>
          </p:cNvPr>
          <p:cNvSpPr/>
          <p:nvPr/>
        </p:nvSpPr>
        <p:spPr>
          <a:xfrm>
            <a:off x="3186239" y="406527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1" name="Shape 55">
            <a:extLst>
              <a:ext uri="{FF2B5EF4-FFF2-40B4-BE49-F238E27FC236}">
                <a16:creationId xmlns:a16="http://schemas.microsoft.com/office/drawing/2014/main" id="{6B43E1E4-2A7D-AD40-67F5-6B516A71860E}"/>
              </a:ext>
            </a:extLst>
          </p:cNvPr>
          <p:cNvSpPr/>
          <p:nvPr/>
        </p:nvSpPr>
        <p:spPr>
          <a:xfrm>
            <a:off x="3241103" y="412014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83" name="Text 56">
            <a:extLst>
              <a:ext uri="{FF2B5EF4-FFF2-40B4-BE49-F238E27FC236}">
                <a16:creationId xmlns:a16="http://schemas.microsoft.com/office/drawing/2014/main" id="{2E67F49B-16BE-07E6-9262-E50D4D3A8F60}"/>
              </a:ext>
            </a:extLst>
          </p:cNvPr>
          <p:cNvSpPr/>
          <p:nvPr/>
        </p:nvSpPr>
        <p:spPr>
          <a:xfrm>
            <a:off x="3241103" y="412014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5" name="Text 57">
            <a:extLst>
              <a:ext uri="{FF2B5EF4-FFF2-40B4-BE49-F238E27FC236}">
                <a16:creationId xmlns:a16="http://schemas.microsoft.com/office/drawing/2014/main" id="{AA931AD0-7A16-05D2-D8C7-AB50301B6C53}"/>
              </a:ext>
            </a:extLst>
          </p:cNvPr>
          <p:cNvSpPr/>
          <p:nvPr/>
        </p:nvSpPr>
        <p:spPr>
          <a:xfrm>
            <a:off x="3460559" y="4101855"/>
            <a:ext cx="914400" cy="182880"/>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5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友だち追加完了</a:t>
            </a:r>
            <a:endParaRPr kumimoji="0" lang="en-US" sz="8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87" name="Text 58">
            <a:extLst>
              <a:ext uri="{FF2B5EF4-FFF2-40B4-BE49-F238E27FC236}">
                <a16:creationId xmlns:a16="http://schemas.microsoft.com/office/drawing/2014/main" id="{54B49D2D-4FC3-300F-AAB4-B1D6ACEDA33A}"/>
              </a:ext>
            </a:extLst>
          </p:cNvPr>
          <p:cNvSpPr/>
          <p:nvPr/>
        </p:nvSpPr>
        <p:spPr>
          <a:xfrm>
            <a:off x="3241103" y="4312167"/>
            <a:ext cx="1133856" cy="201168"/>
          </a:xfrm>
          <a:prstGeom prst="rect">
            <a:avLst/>
          </a:prstGeom>
          <a:noFill/>
          <a:ln/>
        </p:spPr>
        <p:txBody>
          <a:bodyPr wrap="square" lIns="0" tIns="0" rIns="0" bIns="0" rtlCol="0" anchor="ctr"/>
          <a:lstStyle/>
          <a:p>
            <a:pPr marL="0" marR="0" lvl="0" indent="0" defTabSz="914400" eaLnBrk="1" fontAlgn="auto" latinLnBrk="0" hangingPunct="1">
              <a:lnSpc>
                <a:spcPct val="115000"/>
              </a:lnSpc>
              <a:spcBef>
                <a:spcPts val="0"/>
              </a:spcBef>
              <a:spcAft>
                <a:spcPts val="0"/>
              </a:spcAft>
              <a:buClrTx/>
              <a:buSzTx/>
              <a:buFontTx/>
              <a:buNone/>
              <a:tabLst/>
              <a:defRPr/>
            </a:pPr>
            <a:r>
              <a:rPr kumimoji="0" lang="en-US" sz="750" b="0" i="0" u="none" strike="noStrike" kern="0" cap="none" spc="0" normalizeH="0" baseline="0" noProof="0" dirty="0">
                <a:ln>
                  <a:noFill/>
                </a:ln>
                <a:solidFill>
                  <a:srgbClr val="D0E8FF"/>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AD750B5D-07B2-F81B-8894-97831AB44188}"/>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6" name="Shape 88">
            <a:extLst>
              <a:ext uri="{FF2B5EF4-FFF2-40B4-BE49-F238E27FC236}">
                <a16:creationId xmlns:a16="http://schemas.microsoft.com/office/drawing/2014/main" id="{D0EC0F33-09F6-41B1-2488-C9F12FCE2CDD}"/>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9571587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E7E9-7412-46E6-C9BD-3E3A30E4E19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8CB184C-78E9-D432-060D-EA3167991AB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改善モデル②</a:t>
            </a:r>
          </a:p>
        </p:txBody>
      </p:sp>
      <p:sp>
        <p:nvSpPr>
          <p:cNvPr id="27" name="テキスト ボックス 26">
            <a:extLst>
              <a:ext uri="{FF2B5EF4-FFF2-40B4-BE49-F238E27FC236}">
                <a16:creationId xmlns:a16="http://schemas.microsoft.com/office/drawing/2014/main" id="{CD5B9619-DF62-5A09-8786-F83CA0529EF7}"/>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4FBA5686-1B33-AF5C-E6BC-2E0C88B24352}"/>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D27D1FC0-FB35-21DC-CE25-F2D2125F242E}"/>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212DB55-F234-8FD7-C030-3F285C1EC16D}"/>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72B04E50-7661-9621-AE78-3522F8E664CF}"/>
              </a:ext>
            </a:extLst>
          </p:cNvPr>
          <p:cNvCxnSpPr>
            <a:cxnSpLocks/>
            <a:stCxn id="30" idx="0"/>
          </p:cNvCxnSpPr>
          <p:nvPr/>
        </p:nvCxnSpPr>
        <p:spPr>
          <a:xfrm rot="5400000" flipH="1" flipV="1">
            <a:off x="4270984" y="1681932"/>
            <a:ext cx="246792" cy="44239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323ECFC3-BA42-FBB4-E25E-F72CFED142D3}"/>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E9E0720-3E3A-6F6F-EF58-0D05A19D436C}"/>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08A18FCF-114F-90AD-1C87-48385A2F1077}"/>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正方形/長方形 7">
            <a:extLst>
              <a:ext uri="{FF2B5EF4-FFF2-40B4-BE49-F238E27FC236}">
                <a16:creationId xmlns:a16="http://schemas.microsoft.com/office/drawing/2014/main" id="{6534C85A-CAF2-CB68-930A-76AF50820018}"/>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正方形/長方形 9">
            <a:extLst>
              <a:ext uri="{FF2B5EF4-FFF2-40B4-BE49-F238E27FC236}">
                <a16:creationId xmlns:a16="http://schemas.microsoft.com/office/drawing/2014/main" id="{3DC92EFA-89CD-05D2-4375-F2DE5BE5DDE6}"/>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1" name="Google Shape;752;p28">
            <a:extLst>
              <a:ext uri="{FF2B5EF4-FFF2-40B4-BE49-F238E27FC236}">
                <a16:creationId xmlns:a16="http://schemas.microsoft.com/office/drawing/2014/main" id="{9920090D-60BB-935F-AD0B-B7717467EA77}"/>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獲得されたリードを</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接触</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商談</a:t>
            </a:r>
            <a:r>
              <a:rPr lang="en-US" altLang="ja-JP" sz="1600" b="1" dirty="0">
                <a:latin typeface="メイリオ" panose="020B0604030504040204" pitchFamily="50" charset="-128"/>
                <a:ea typeface="メイリオ" panose="020B0604030504040204" pitchFamily="50" charset="-128"/>
                <a:cs typeface="Meiryo"/>
                <a:sym typeface="Meiryo"/>
              </a:rPr>
              <a:t>]</a:t>
            </a:r>
            <a:r>
              <a:rPr lang="ja-JP" altLang="en-US" sz="1600" b="1" dirty="0">
                <a:latin typeface="メイリオ" panose="020B0604030504040204" pitchFamily="50" charset="-128"/>
                <a:ea typeface="メイリオ" panose="020B0604030504040204" pitchFamily="50" charset="-128"/>
                <a:cs typeface="Meiryo"/>
                <a:sym typeface="Meiryo"/>
              </a:rPr>
              <a:t>などの直リーチができる状態に引き上げる。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6" name="正方形/長方形 5">
            <a:extLst>
              <a:ext uri="{FF2B5EF4-FFF2-40B4-BE49-F238E27FC236}">
                <a16:creationId xmlns:a16="http://schemas.microsoft.com/office/drawing/2014/main" id="{E9F5C7F3-E9F1-D740-6953-AD8AB98C4502}"/>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AD26C97A-E96F-4F7B-9B0B-D735414D6034}"/>
              </a:ext>
            </a:extLst>
          </p:cNvPr>
          <p:cNvSpPr txBox="1"/>
          <p:nvPr/>
        </p:nvSpPr>
        <p:spPr>
          <a:xfrm>
            <a:off x="3542139" y="1396711"/>
            <a:ext cx="2352196" cy="38302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⑤ リード有効化</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14" name="テキスト ボックス 13">
            <a:extLst>
              <a:ext uri="{FF2B5EF4-FFF2-40B4-BE49-F238E27FC236}">
                <a16:creationId xmlns:a16="http://schemas.microsoft.com/office/drawing/2014/main" id="{796E80A6-B5BB-3A8B-412E-06EE28AF0C99}"/>
              </a:ext>
            </a:extLst>
          </p:cNvPr>
          <p:cNvSpPr txBox="1"/>
          <p:nvPr/>
        </p:nvSpPr>
        <p:spPr>
          <a:xfrm>
            <a:off x="4830776" y="1593660"/>
            <a:ext cx="2352196" cy="379232"/>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⑥ 有効リードの再育成</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9" name="正方形/長方形 8">
            <a:extLst>
              <a:ext uri="{FF2B5EF4-FFF2-40B4-BE49-F238E27FC236}">
                <a16:creationId xmlns:a16="http://schemas.microsoft.com/office/drawing/2014/main" id="{7CC6A546-6A9E-3367-D71C-1DB3BEF66AA8}"/>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rgbClr val="FFC000"/>
                </a:solidFill>
                <a:latin typeface="メイリオ" panose="020B0604030504040204" pitchFamily="50" charset="-128"/>
                <a:ea typeface="メイリオ" panose="020B0604030504040204" pitchFamily="50" charset="-128"/>
              </a:rPr>
              <a:t>短期：</a:t>
            </a:r>
            <a:r>
              <a:rPr kumimoji="1" lang="ja-JP" altLang="en-US" sz="1050" b="1" dirty="0">
                <a:latin typeface="メイリオ" panose="020B0604030504040204" pitchFamily="50" charset="-128"/>
                <a:ea typeface="メイリオ" panose="020B0604030504040204" pitchFamily="50" charset="-128"/>
              </a:rPr>
              <a:t>ナーチャリングにより、情報収集→実来店・直面談の機会設定</a:t>
            </a:r>
          </a:p>
        </p:txBody>
      </p:sp>
      <p:sp>
        <p:nvSpPr>
          <p:cNvPr id="15" name="正方形/長方形 14">
            <a:extLst>
              <a:ext uri="{FF2B5EF4-FFF2-40B4-BE49-F238E27FC236}">
                <a16:creationId xmlns:a16="http://schemas.microsoft.com/office/drawing/2014/main" id="{400321D5-E759-A2AB-D632-D8852C5C2531}"/>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rgbClr val="FFC000"/>
                </a:solidFill>
                <a:latin typeface="メイリオ" panose="020B0604030504040204" pitchFamily="50" charset="-128"/>
                <a:ea typeface="メイリオ" panose="020B0604030504040204" pitchFamily="50" charset="-128"/>
              </a:rPr>
              <a:t>長期：</a:t>
            </a:r>
            <a:r>
              <a:rPr lang="ja-JP" altLang="en-US" sz="1050" b="1" dirty="0">
                <a:latin typeface="メイリオ" panose="020B0604030504040204" pitchFamily="50" charset="-128"/>
                <a:ea typeface="メイリオ" panose="020B0604030504040204" pitchFamily="50" charset="-128"/>
              </a:rPr>
              <a:t>休眠顧客リスト、すぐすぐ以外の層に再度接点を</a:t>
            </a:r>
          </a:p>
        </p:txBody>
      </p:sp>
      <p:sp>
        <p:nvSpPr>
          <p:cNvPr id="19" name="Shape 34">
            <a:extLst>
              <a:ext uri="{FF2B5EF4-FFF2-40B4-BE49-F238E27FC236}">
                <a16:creationId xmlns:a16="http://schemas.microsoft.com/office/drawing/2014/main" id="{E40C1293-6205-BD09-C870-AB694054FE21}"/>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 name="Shape 36">
            <a:extLst>
              <a:ext uri="{FF2B5EF4-FFF2-40B4-BE49-F238E27FC236}">
                <a16:creationId xmlns:a16="http://schemas.microsoft.com/office/drawing/2014/main" id="{016D3DBA-827E-69AE-84A8-B5FA4B627604}"/>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3" name="Shape 38">
            <a:extLst>
              <a:ext uri="{FF2B5EF4-FFF2-40B4-BE49-F238E27FC236}">
                <a16:creationId xmlns:a16="http://schemas.microsoft.com/office/drawing/2014/main" id="{890CC249-519E-F80A-D737-4911D36F86B6}"/>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 name="Text 39">
            <a:extLst>
              <a:ext uri="{FF2B5EF4-FFF2-40B4-BE49-F238E27FC236}">
                <a16:creationId xmlns:a16="http://schemas.microsoft.com/office/drawing/2014/main" id="{006785A7-ADAB-E382-C3A3-3F5FA13C51E7}"/>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ステップ配信</a:t>
            </a:r>
          </a:p>
        </p:txBody>
      </p:sp>
      <p:sp>
        <p:nvSpPr>
          <p:cNvPr id="31" name="Text 40">
            <a:extLst>
              <a:ext uri="{FF2B5EF4-FFF2-40B4-BE49-F238E27FC236}">
                <a16:creationId xmlns:a16="http://schemas.microsoft.com/office/drawing/2014/main" id="{560BDF4C-A3DE-DDCD-85B8-65A392B6CE01}"/>
              </a:ext>
            </a:extLst>
          </p:cNvPr>
          <p:cNvSpPr/>
          <p:nvPr/>
        </p:nvSpPr>
        <p:spPr>
          <a:xfrm>
            <a:off x="1545579" y="3082065"/>
            <a:ext cx="3319066" cy="256032"/>
          </a:xfrm>
          <a:prstGeom prst="rect">
            <a:avLst/>
          </a:prstGeom>
          <a:noFill/>
          <a:ln/>
        </p:spPr>
        <p:txBody>
          <a:bodyPr wrap="square" lIns="0" tIns="0" rIns="0" bIns="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ステップ配信 </a:t>
            </a:r>
            <a:r>
              <a:rPr kumimoji="0" lang="en-US" altLang="ja-JP"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 </a:t>
            </a:r>
            <a:r>
              <a:rPr kumimoji="0" lang="ja-JP" altLang="en-US" sz="1100" b="1" i="0" u="none" strike="noStrike" kern="0" cap="none" spc="0" normalizeH="0" baseline="0" noProof="0" dirty="0">
                <a:ln>
                  <a:noFill/>
                </a:ln>
                <a:solidFill>
                  <a:srgbClr val="1A1A2E"/>
                </a:solidFill>
                <a:effectLst/>
                <a:uLnTx/>
                <a:uFillTx/>
                <a:latin typeface="メイリオ" panose="020B0604030504040204" pitchFamily="50" charset="-128"/>
                <a:ea typeface="メイリオ" panose="020B0604030504040204" pitchFamily="50" charset="-128"/>
                <a:cs typeface="Calibri" pitchFamily="34" charset="-120"/>
              </a:rPr>
              <a:t>限定面談オファーで商談化</a:t>
            </a:r>
          </a:p>
        </p:txBody>
      </p:sp>
      <p:sp>
        <p:nvSpPr>
          <p:cNvPr id="34" name="Text 41">
            <a:extLst>
              <a:ext uri="{FF2B5EF4-FFF2-40B4-BE49-F238E27FC236}">
                <a16:creationId xmlns:a16="http://schemas.microsoft.com/office/drawing/2014/main" id="{99B219D6-3C6C-5799-528B-587E37059F99}"/>
              </a:ext>
            </a:extLst>
          </p:cNvPr>
          <p:cNvSpPr/>
          <p:nvPr/>
        </p:nvSpPr>
        <p:spPr>
          <a:xfrm>
            <a:off x="356859" y="3383817"/>
            <a:ext cx="4449774" cy="493776"/>
          </a:xfrm>
          <a:prstGeom prst="rect">
            <a:avLst/>
          </a:prstGeom>
          <a:noFill/>
          <a:ln/>
        </p:spPr>
        <p:txBody>
          <a:bodyPr wrap="square" lIns="0" tIns="0" rIns="0" bIns="0" rtlCol="0" anchor="ctr"/>
          <a:lstStyle/>
          <a:p>
            <a:pPr marL="0" marR="0" lvl="0" indent="0" defTabSz="914400" eaLnBrk="1" fontAlgn="auto" latinLnBrk="0" hangingPunct="1">
              <a:lnSpc>
                <a:spcPct val="135000"/>
              </a:lnSpc>
              <a:spcBef>
                <a:spcPts val="0"/>
              </a:spcBef>
              <a:spcAft>
                <a:spcPts val="0"/>
              </a:spcAft>
              <a:buClrTx/>
              <a:buSzTx/>
              <a:buFontTx/>
              <a:buNone/>
              <a:tabLst/>
              <a:defRPr/>
            </a:pP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資料→</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Day3</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よくある質問→</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Day7</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事例紹介→</a:t>
            </a:r>
            <a:r>
              <a:rPr kumimoji="0" lang="en-US" altLang="ja-JP"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Day10</a:t>
            </a:r>
            <a:r>
              <a:rPr kumimoji="0" lang="ja-JP" altLang="en-US" sz="850" b="0" i="0" u="none" strike="noStrike" kern="0" cap="none" spc="0" normalizeH="0" baseline="0" noProof="0" dirty="0">
                <a:ln>
                  <a:noFill/>
                </a:ln>
                <a:solidFill>
                  <a:srgbClr val="4A4A6A"/>
                </a:solidFill>
                <a:effectLst/>
                <a:uLnTx/>
                <a:uFillTx/>
                <a:latin typeface="メイリオ" panose="020B0604030504040204" pitchFamily="50" charset="-128"/>
                <a:ea typeface="メイリオ" panose="020B0604030504040204" pitchFamily="50" charset="-128"/>
                <a:cs typeface="Calibri" pitchFamily="34" charset="-120"/>
              </a:rPr>
              <a:t>「今月限定・無料個別相談を○名様に」。「今すぐ買って」ではなく「まず話を聞くだけ」という低ハードル面談設定が鍵。限定性・数量制限で動機付け。</a:t>
            </a:r>
          </a:p>
        </p:txBody>
      </p:sp>
      <p:sp>
        <p:nvSpPr>
          <p:cNvPr id="36" name="Shape 42">
            <a:extLst>
              <a:ext uri="{FF2B5EF4-FFF2-40B4-BE49-F238E27FC236}">
                <a16:creationId xmlns:a16="http://schemas.microsoft.com/office/drawing/2014/main" id="{B511359D-C466-1D8A-5E4D-5C77E951F93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 name="Shape 43">
            <a:extLst>
              <a:ext uri="{FF2B5EF4-FFF2-40B4-BE49-F238E27FC236}">
                <a16:creationId xmlns:a16="http://schemas.microsoft.com/office/drawing/2014/main" id="{CB296A78-8B99-D908-AF84-F6571FA229F6}"/>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40" name="Text 44">
            <a:extLst>
              <a:ext uri="{FF2B5EF4-FFF2-40B4-BE49-F238E27FC236}">
                <a16:creationId xmlns:a16="http://schemas.microsoft.com/office/drawing/2014/main" id="{AA71EAAC-4F67-049F-5CB3-013124E72A38}"/>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2" name="Text 45">
            <a:extLst>
              <a:ext uri="{FF2B5EF4-FFF2-40B4-BE49-F238E27FC236}">
                <a16:creationId xmlns:a16="http://schemas.microsoft.com/office/drawing/2014/main" id="{42A6B48D-4266-BBC8-D43E-C90410471214}"/>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Day0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資料送付</a:t>
            </a:r>
            <a:endParaRPr lang="en-US" altLang="ja-JP" sz="850" dirty="0">
              <a:latin typeface="メイリオ" panose="020B0604030504040204" pitchFamily="50" charset="-128"/>
              <a:ea typeface="メイリオ" panose="020B0604030504040204" pitchFamily="50" charset="-128"/>
            </a:endParaRPr>
          </a:p>
        </p:txBody>
      </p:sp>
      <p:sp>
        <p:nvSpPr>
          <p:cNvPr id="44" name="Text 46">
            <a:extLst>
              <a:ext uri="{FF2B5EF4-FFF2-40B4-BE49-F238E27FC236}">
                <a16:creationId xmlns:a16="http://schemas.microsoft.com/office/drawing/2014/main" id="{2E529A7C-08F8-B965-8436-D648196C6289}"/>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即時価値提供</a:t>
            </a:r>
            <a:endParaRPr lang="en-US" altLang="ja-JP" sz="750" dirty="0">
              <a:latin typeface="メイリオ" panose="020B0604030504040204" pitchFamily="50" charset="-128"/>
              <a:ea typeface="メイリオ" panose="020B0604030504040204" pitchFamily="50" charset="-128"/>
            </a:endParaRPr>
          </a:p>
        </p:txBody>
      </p:sp>
      <p:sp>
        <p:nvSpPr>
          <p:cNvPr id="46" name="Text 47">
            <a:extLst>
              <a:ext uri="{FF2B5EF4-FFF2-40B4-BE49-F238E27FC236}">
                <a16:creationId xmlns:a16="http://schemas.microsoft.com/office/drawing/2014/main" id="{A451AFAF-0FA1-3FD6-C1D3-3C9BFFAAC97A}"/>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48" name="Shape 48">
            <a:extLst>
              <a:ext uri="{FF2B5EF4-FFF2-40B4-BE49-F238E27FC236}">
                <a16:creationId xmlns:a16="http://schemas.microsoft.com/office/drawing/2014/main" id="{5210973B-C00E-2564-6A70-0A7CEC5FC41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0" name="Shape 49">
            <a:extLst>
              <a:ext uri="{FF2B5EF4-FFF2-40B4-BE49-F238E27FC236}">
                <a16:creationId xmlns:a16="http://schemas.microsoft.com/office/drawing/2014/main" id="{7F26AFE2-607A-7519-13A7-AE894D5EE528}"/>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52" name="Text 50">
            <a:extLst>
              <a:ext uri="{FF2B5EF4-FFF2-40B4-BE49-F238E27FC236}">
                <a16:creationId xmlns:a16="http://schemas.microsoft.com/office/drawing/2014/main" id="{265C8DF0-C86B-C86C-3E73-66465F4B1369}"/>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54" name="Text 51">
            <a:extLst>
              <a:ext uri="{FF2B5EF4-FFF2-40B4-BE49-F238E27FC236}">
                <a16:creationId xmlns:a16="http://schemas.microsoft.com/office/drawing/2014/main" id="{A95F52FD-E9C5-4730-028B-AF50835B0B2E}"/>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Day7 </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事例配信</a:t>
            </a:r>
            <a:endParaRPr lang="en-US" altLang="ja-JP" sz="850" dirty="0">
              <a:latin typeface="メイリオ" panose="020B0604030504040204" pitchFamily="50" charset="-128"/>
              <a:ea typeface="メイリオ" panose="020B0604030504040204" pitchFamily="50" charset="-128"/>
            </a:endParaRPr>
          </a:p>
        </p:txBody>
      </p:sp>
      <p:sp>
        <p:nvSpPr>
          <p:cNvPr id="56" name="Text 52">
            <a:extLst>
              <a:ext uri="{FF2B5EF4-FFF2-40B4-BE49-F238E27FC236}">
                <a16:creationId xmlns:a16="http://schemas.microsoft.com/office/drawing/2014/main" id="{5856973E-600C-9F69-B73B-7CF0931A980E}"/>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信頼醸成</a:t>
            </a:r>
            <a:endParaRPr lang="en-US" altLang="ja-JP" sz="750" dirty="0">
              <a:latin typeface="メイリオ" panose="020B0604030504040204" pitchFamily="50" charset="-128"/>
              <a:ea typeface="メイリオ" panose="020B0604030504040204" pitchFamily="50" charset="-128"/>
            </a:endParaRPr>
          </a:p>
        </p:txBody>
      </p:sp>
      <p:sp>
        <p:nvSpPr>
          <p:cNvPr id="58" name="Text 53">
            <a:extLst>
              <a:ext uri="{FF2B5EF4-FFF2-40B4-BE49-F238E27FC236}">
                <a16:creationId xmlns:a16="http://schemas.microsoft.com/office/drawing/2014/main" id="{758EA0D7-BE56-1F06-1A23-C564494322D2}"/>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0" name="Shape 54">
            <a:extLst>
              <a:ext uri="{FF2B5EF4-FFF2-40B4-BE49-F238E27FC236}">
                <a16:creationId xmlns:a16="http://schemas.microsoft.com/office/drawing/2014/main" id="{464D5640-6F1D-C6E1-393C-A5458B5A22C9}"/>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2" name="Shape 55">
            <a:extLst>
              <a:ext uri="{FF2B5EF4-FFF2-40B4-BE49-F238E27FC236}">
                <a16:creationId xmlns:a16="http://schemas.microsoft.com/office/drawing/2014/main" id="{89FC4EAE-E7E8-DC03-5DFF-37074D8D82B6}"/>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64" name="Text 56">
            <a:extLst>
              <a:ext uri="{FF2B5EF4-FFF2-40B4-BE49-F238E27FC236}">
                <a16:creationId xmlns:a16="http://schemas.microsoft.com/office/drawing/2014/main" id="{B33A9BF0-EC24-F583-5FA0-A5880F0E6A12}"/>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66" name="Text 57">
            <a:extLst>
              <a:ext uri="{FF2B5EF4-FFF2-40B4-BE49-F238E27FC236}">
                <a16:creationId xmlns:a16="http://schemas.microsoft.com/office/drawing/2014/main" id="{38746766-2598-E7FF-013F-7AF41C0BF589}"/>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Day10 </a:t>
            </a:r>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オファ</a:t>
            </a:r>
            <a:r>
              <a:rPr lang="en-US" altLang="ja-JP" sz="850" b="1" dirty="0">
                <a:solidFill>
                  <a:srgbClr val="FFFFFF"/>
                </a:solidFill>
                <a:latin typeface="メイリオ" panose="020B0604030504040204" pitchFamily="50" charset="-128"/>
                <a:ea typeface="メイリオ" panose="020B0604030504040204" pitchFamily="50" charset="-128"/>
                <a:cs typeface="Calibri" pitchFamily="34" charset="-120"/>
              </a:rPr>
              <a:t>ー</a:t>
            </a:r>
            <a:endParaRPr lang="en-US" altLang="ja-JP" sz="850" dirty="0">
              <a:latin typeface="メイリオ" panose="020B0604030504040204" pitchFamily="50" charset="-128"/>
              <a:ea typeface="メイリオ" panose="020B0604030504040204" pitchFamily="50" charset="-128"/>
            </a:endParaRPr>
          </a:p>
        </p:txBody>
      </p:sp>
      <p:sp>
        <p:nvSpPr>
          <p:cNvPr id="68" name="Text 58">
            <a:extLst>
              <a:ext uri="{FF2B5EF4-FFF2-40B4-BE49-F238E27FC236}">
                <a16:creationId xmlns:a16="http://schemas.microsoft.com/office/drawing/2014/main" id="{EE1DF143-F3CF-E063-7DA2-53A3D0BCB28D}"/>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限定・数量制限</a:t>
            </a:r>
            <a:endParaRPr lang="en-US" altLang="ja-JP" sz="750" dirty="0">
              <a:latin typeface="メイリオ" panose="020B0604030504040204" pitchFamily="50" charset="-128"/>
              <a:ea typeface="メイリオ" panose="020B0604030504040204" pitchFamily="50" charset="-128"/>
            </a:endParaRPr>
          </a:p>
        </p:txBody>
      </p:sp>
      <p:sp>
        <p:nvSpPr>
          <p:cNvPr id="70" name="Shape 59">
            <a:extLst>
              <a:ext uri="{FF2B5EF4-FFF2-40B4-BE49-F238E27FC236}">
                <a16:creationId xmlns:a16="http://schemas.microsoft.com/office/drawing/2014/main" id="{ED1F64AB-43E6-3EF4-E22A-1C2B3A1EAFE6}"/>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2" name="Shape 63">
            <a:extLst>
              <a:ext uri="{FF2B5EF4-FFF2-40B4-BE49-F238E27FC236}">
                <a16:creationId xmlns:a16="http://schemas.microsoft.com/office/drawing/2014/main" id="{38B1441B-4C63-5D92-EC3A-90F6C29F7A30}"/>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74" name="Text 64">
            <a:extLst>
              <a:ext uri="{FF2B5EF4-FFF2-40B4-BE49-F238E27FC236}">
                <a16:creationId xmlns:a16="http://schemas.microsoft.com/office/drawing/2014/main" id="{57430ED0-462D-34B1-A475-D78F816729F5}"/>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LINE広告</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76" name="Text 65">
            <a:extLst>
              <a:ext uri="{FF2B5EF4-FFF2-40B4-BE49-F238E27FC236}">
                <a16:creationId xmlns:a16="http://schemas.microsoft.com/office/drawing/2014/main" id="{B7DB943B-00E9-7974-CDB8-CF2D59CC61D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アンケート</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スコアリングで商談自動振り分け</a:t>
            </a:r>
            <a:endParaRPr lang="en-US" altLang="ja-JP" sz="1100" dirty="0">
              <a:latin typeface="メイリオ" panose="020B0604030504040204" pitchFamily="50" charset="-128"/>
              <a:ea typeface="メイリオ" panose="020B0604030504040204" pitchFamily="50" charset="-128"/>
            </a:endParaRPr>
          </a:p>
        </p:txBody>
      </p:sp>
      <p:sp>
        <p:nvSpPr>
          <p:cNvPr id="78" name="Text 66">
            <a:extLst>
              <a:ext uri="{FF2B5EF4-FFF2-40B4-BE49-F238E27FC236}">
                <a16:creationId xmlns:a16="http://schemas.microsoft.com/office/drawing/2014/main" id="{4EFBD6ED-AC70-7247-939C-182C24C7C8EB}"/>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現在の状況を3問で教えてください」をLINEで配信。「3ヶ月以内に検討」「他社比較中」の回答者を自動でホットリードとして抽出しスタッフが即日連絡。全リードにスタッフ対応せず、温度感の高い層だけに集中する。</a:t>
            </a:r>
            <a:endParaRPr lang="en-US" altLang="ja-JP" sz="850" dirty="0">
              <a:latin typeface="メイリオ" panose="020B0604030504040204" pitchFamily="50" charset="-128"/>
              <a:ea typeface="メイリオ" panose="020B0604030504040204" pitchFamily="50" charset="-128"/>
            </a:endParaRPr>
          </a:p>
        </p:txBody>
      </p:sp>
      <p:sp>
        <p:nvSpPr>
          <p:cNvPr id="80" name="Shape 68">
            <a:extLst>
              <a:ext uri="{FF2B5EF4-FFF2-40B4-BE49-F238E27FC236}">
                <a16:creationId xmlns:a16="http://schemas.microsoft.com/office/drawing/2014/main" id="{A878F7AF-2951-6346-AC7C-117CEAD65882}"/>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2" name="Text 69">
            <a:extLst>
              <a:ext uri="{FF2B5EF4-FFF2-40B4-BE49-F238E27FC236}">
                <a16:creationId xmlns:a16="http://schemas.microsoft.com/office/drawing/2014/main" id="{51BC50E4-D2C2-FB3A-BADF-2405ED305FFC}"/>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4" name="Text 70">
            <a:extLst>
              <a:ext uri="{FF2B5EF4-FFF2-40B4-BE49-F238E27FC236}">
                <a16:creationId xmlns:a16="http://schemas.microsoft.com/office/drawing/2014/main" id="{C0DB247B-6B3F-9051-4404-63FBF132961F}"/>
              </a:ext>
            </a:extLst>
          </p:cNvPr>
          <p:cNvSpPr/>
          <p:nvPr/>
        </p:nvSpPr>
        <p:spPr>
          <a:xfrm>
            <a:off x="2671467" y="5559265"/>
            <a:ext cx="2022453" cy="158716"/>
          </a:xfrm>
          <a:prstGeom prst="rect">
            <a:avLst/>
          </a:prstGeom>
          <a:noFill/>
          <a:ln/>
        </p:spPr>
        <p:txBody>
          <a:bodyPr wrap="square" lIns="0" tIns="0" rIns="0" bIns="0" rtlCol="0" anchor="ctr"/>
          <a:lstStyle/>
          <a:p>
            <a:pPr marL="0" marR="0" lvl="0" indent="0" defTabSz="914400" eaLnBrk="1" fontAlgn="auto" latinLnBrk="0" hangingPunct="1">
              <a:lnSpc>
                <a:spcPct val="125000"/>
              </a:lnSpc>
              <a:spcBef>
                <a:spcPts val="0"/>
              </a:spcBef>
              <a:spcAft>
                <a:spcPts val="0"/>
              </a:spcAft>
              <a:buClrTx/>
              <a:buSzTx/>
              <a:buFontTx/>
              <a:buNone/>
              <a:tabLst/>
              <a:defRPr/>
            </a:pPr>
            <a:r>
              <a:rPr kumimoji="0" lang="en-US" sz="700" b="0" i="0" u="none" strike="noStrike" kern="0" cap="none" spc="0" normalizeH="0" baseline="0" noProof="0" dirty="0" err="1">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CPFの強みを活かすならLINE内完結設計が正解</a:t>
            </a:r>
            <a:r>
              <a:rPr kumimoji="0" lang="en-US" sz="700" b="0" i="0" u="none" strike="noStrike" kern="0" cap="none" spc="0" normalizeH="0" baseline="0" noProof="0" dirty="0">
                <a:ln>
                  <a:noFill/>
                </a:ln>
                <a:solidFill>
                  <a:srgbClr val="B84B0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86" name="Shape 71">
            <a:extLst>
              <a:ext uri="{FF2B5EF4-FFF2-40B4-BE49-F238E27FC236}">
                <a16:creationId xmlns:a16="http://schemas.microsoft.com/office/drawing/2014/main" id="{E782C278-7AB5-1A6B-D371-D48C786DEC22}"/>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88" name="Shape 72">
            <a:extLst>
              <a:ext uri="{FF2B5EF4-FFF2-40B4-BE49-F238E27FC236}">
                <a16:creationId xmlns:a16="http://schemas.microsoft.com/office/drawing/2014/main" id="{F8BD45B3-63BC-CCCC-A02C-22292B165914}"/>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90" name="Text 73">
            <a:extLst>
              <a:ext uri="{FF2B5EF4-FFF2-40B4-BE49-F238E27FC236}">
                <a16:creationId xmlns:a16="http://schemas.microsoft.com/office/drawing/2014/main" id="{7C72A4DB-C3F4-16C9-6A51-D60CB4DF1517}"/>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2" name="Text 74">
            <a:extLst>
              <a:ext uri="{FF2B5EF4-FFF2-40B4-BE49-F238E27FC236}">
                <a16:creationId xmlns:a16="http://schemas.microsoft.com/office/drawing/2014/main" id="{BE7ADCA5-3612-7BC6-AA8D-040022EE1617}"/>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3問アンケート配信</a:t>
            </a:r>
            <a:endParaRPr lang="en-US" altLang="ja-JP" sz="850" dirty="0">
              <a:latin typeface="メイリオ" panose="020B0604030504040204" pitchFamily="50" charset="-128"/>
              <a:ea typeface="メイリオ" panose="020B0604030504040204" pitchFamily="50" charset="-128"/>
            </a:endParaRPr>
          </a:p>
        </p:txBody>
      </p:sp>
      <p:sp>
        <p:nvSpPr>
          <p:cNvPr id="94" name="Text 75">
            <a:extLst>
              <a:ext uri="{FF2B5EF4-FFF2-40B4-BE49-F238E27FC236}">
                <a16:creationId xmlns:a16="http://schemas.microsoft.com/office/drawing/2014/main" id="{F0DD5913-5DC7-A93B-7D58-6F8AE9356AB0}"/>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タップ式・即回答</a:t>
            </a:r>
            <a:endParaRPr lang="en-US" altLang="ja-JP" sz="750" dirty="0">
              <a:latin typeface="メイリオ" panose="020B0604030504040204" pitchFamily="50" charset="-128"/>
              <a:ea typeface="メイリオ" panose="020B0604030504040204" pitchFamily="50" charset="-128"/>
            </a:endParaRPr>
          </a:p>
        </p:txBody>
      </p:sp>
      <p:sp>
        <p:nvSpPr>
          <p:cNvPr id="96" name="Text 76">
            <a:extLst>
              <a:ext uri="{FF2B5EF4-FFF2-40B4-BE49-F238E27FC236}">
                <a16:creationId xmlns:a16="http://schemas.microsoft.com/office/drawing/2014/main" id="{8841F69C-C2EB-F428-9C29-1835C7671985}"/>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98" name="Shape 77">
            <a:extLst>
              <a:ext uri="{FF2B5EF4-FFF2-40B4-BE49-F238E27FC236}">
                <a16:creationId xmlns:a16="http://schemas.microsoft.com/office/drawing/2014/main" id="{3D4B0674-1BDF-A06F-3031-1D2C3CFCAFCB}"/>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0" name="Shape 78">
            <a:extLst>
              <a:ext uri="{FF2B5EF4-FFF2-40B4-BE49-F238E27FC236}">
                <a16:creationId xmlns:a16="http://schemas.microsoft.com/office/drawing/2014/main" id="{A6BF8401-0185-4740-65BD-3B25BF274C5D}"/>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02" name="Text 79">
            <a:extLst>
              <a:ext uri="{FF2B5EF4-FFF2-40B4-BE49-F238E27FC236}">
                <a16:creationId xmlns:a16="http://schemas.microsoft.com/office/drawing/2014/main" id="{60ECC73C-CE71-5B5F-BE35-36A110A9273A}"/>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04" name="Text 80">
            <a:extLst>
              <a:ext uri="{FF2B5EF4-FFF2-40B4-BE49-F238E27FC236}">
                <a16:creationId xmlns:a16="http://schemas.microsoft.com/office/drawing/2014/main" id="{96428CFC-DE5B-2C59-73AD-050998F19ECE}"/>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自動スコアリング</a:t>
            </a:r>
            <a:endParaRPr lang="en-US" altLang="ja-JP" sz="850" dirty="0">
              <a:latin typeface="メイリオ" panose="020B0604030504040204" pitchFamily="50" charset="-128"/>
              <a:ea typeface="メイリオ" panose="020B0604030504040204" pitchFamily="50" charset="-128"/>
            </a:endParaRPr>
          </a:p>
        </p:txBody>
      </p:sp>
      <p:sp>
        <p:nvSpPr>
          <p:cNvPr id="106" name="Text 81">
            <a:extLst>
              <a:ext uri="{FF2B5EF4-FFF2-40B4-BE49-F238E27FC236}">
                <a16:creationId xmlns:a16="http://schemas.microsoft.com/office/drawing/2014/main" id="{A4C856B7-9917-9F3B-C6EC-F2AB00761D3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ホットリード特定</a:t>
            </a:r>
            <a:endParaRPr lang="en-US" altLang="ja-JP" sz="750" dirty="0">
              <a:latin typeface="メイリオ" panose="020B0604030504040204" pitchFamily="50" charset="-128"/>
              <a:ea typeface="メイリオ" panose="020B0604030504040204" pitchFamily="50" charset="-128"/>
            </a:endParaRPr>
          </a:p>
        </p:txBody>
      </p:sp>
      <p:sp>
        <p:nvSpPr>
          <p:cNvPr id="108" name="Text 82">
            <a:extLst>
              <a:ext uri="{FF2B5EF4-FFF2-40B4-BE49-F238E27FC236}">
                <a16:creationId xmlns:a16="http://schemas.microsoft.com/office/drawing/2014/main" id="{E3396CCE-6D05-BB63-89D2-AFEC3888A603}"/>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0" name="Shape 83">
            <a:extLst>
              <a:ext uri="{FF2B5EF4-FFF2-40B4-BE49-F238E27FC236}">
                <a16:creationId xmlns:a16="http://schemas.microsoft.com/office/drawing/2014/main" id="{E0F59D7C-4363-A525-B16C-695512C79C58}"/>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2" name="Shape 84">
            <a:extLst>
              <a:ext uri="{FF2B5EF4-FFF2-40B4-BE49-F238E27FC236}">
                <a16:creationId xmlns:a16="http://schemas.microsoft.com/office/drawing/2014/main" id="{9E2F0FE0-EA67-CDB7-9CF3-64EDD1E5E81A}"/>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14" name="Text 85">
            <a:extLst>
              <a:ext uri="{FF2B5EF4-FFF2-40B4-BE49-F238E27FC236}">
                <a16:creationId xmlns:a16="http://schemas.microsoft.com/office/drawing/2014/main" id="{E836FDF6-8AA3-5464-F9B5-FFD8960B35B5}"/>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16" name="Text 86">
            <a:extLst>
              <a:ext uri="{FF2B5EF4-FFF2-40B4-BE49-F238E27FC236}">
                <a16:creationId xmlns:a16="http://schemas.microsoft.com/office/drawing/2014/main" id="{FEF48462-734A-1272-13A3-E0A1A2C1A704}"/>
              </a:ext>
            </a:extLst>
          </p:cNvPr>
          <p:cNvSpPr/>
          <p:nvPr/>
        </p:nvSpPr>
        <p:spPr>
          <a:xfrm>
            <a:off x="3447531" y="5957091"/>
            <a:ext cx="914400" cy="182880"/>
          </a:xfrm>
          <a:prstGeom prst="rect">
            <a:avLst/>
          </a:prstGeom>
          <a:noFill/>
          <a:ln/>
        </p:spPr>
        <p:txBody>
          <a:bodyPr wrap="square" lIns="0" tIns="0" rIns="0" bIns="0" rtlCol="0" anchor="ctr"/>
          <a:lstStyle/>
          <a:p>
            <a:r>
              <a:rPr lang="ja-JP" altLang="en-US" sz="850" b="1" dirty="0">
                <a:solidFill>
                  <a:srgbClr val="FFFFFF"/>
                </a:solidFill>
                <a:latin typeface="メイリオ" panose="020B0604030504040204" pitchFamily="50" charset="-128"/>
                <a:ea typeface="メイリオ" panose="020B0604030504040204" pitchFamily="50" charset="-128"/>
                <a:cs typeface="Calibri" pitchFamily="34" charset="-120"/>
              </a:rPr>
              <a:t>トスアップ</a:t>
            </a:r>
            <a:endParaRPr lang="en-US" altLang="ja-JP" sz="850" dirty="0">
              <a:latin typeface="メイリオ" panose="020B0604030504040204" pitchFamily="50" charset="-128"/>
              <a:ea typeface="メイリオ" panose="020B0604030504040204" pitchFamily="50" charset="-128"/>
            </a:endParaRPr>
          </a:p>
        </p:txBody>
      </p:sp>
      <p:sp>
        <p:nvSpPr>
          <p:cNvPr id="118" name="Text 87">
            <a:extLst>
              <a:ext uri="{FF2B5EF4-FFF2-40B4-BE49-F238E27FC236}">
                <a16:creationId xmlns:a16="http://schemas.microsoft.com/office/drawing/2014/main" id="{7A5801BF-BB1C-CA06-2ADD-8917D3F321CF}"/>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商談化70%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改善事例も</a:t>
            </a:r>
            <a:endParaRPr lang="en-US" altLang="ja-JP" sz="750" dirty="0">
              <a:latin typeface="メイリオ" panose="020B0604030504040204" pitchFamily="50" charset="-128"/>
              <a:ea typeface="メイリオ" panose="020B0604030504040204" pitchFamily="50" charset="-128"/>
            </a:endParaRPr>
          </a:p>
        </p:txBody>
      </p:sp>
      <p:sp>
        <p:nvSpPr>
          <p:cNvPr id="120" name="Shape 88">
            <a:extLst>
              <a:ext uri="{FF2B5EF4-FFF2-40B4-BE49-F238E27FC236}">
                <a16:creationId xmlns:a16="http://schemas.microsoft.com/office/drawing/2014/main" id="{1022B804-29BA-C16F-59BF-7116998459A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2" name="Shape 92">
            <a:extLst>
              <a:ext uri="{FF2B5EF4-FFF2-40B4-BE49-F238E27FC236}">
                <a16:creationId xmlns:a16="http://schemas.microsoft.com/office/drawing/2014/main" id="{C083C52C-3E3D-EE4D-FA9C-B0A718669F53}"/>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24" name="Text 93">
            <a:extLst>
              <a:ext uri="{FF2B5EF4-FFF2-40B4-BE49-F238E27FC236}">
                <a16:creationId xmlns:a16="http://schemas.microsoft.com/office/drawing/2014/main" id="{1BBE6434-6048-9866-D279-EBE9D835E91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企画配信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26" name="Text 94">
            <a:extLst>
              <a:ext uri="{FF2B5EF4-FFF2-40B4-BE49-F238E27FC236}">
                <a16:creationId xmlns:a16="http://schemas.microsoft.com/office/drawing/2014/main" id="{F578845C-26D5-3691-D376-1CA844A61B98}"/>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季節・業界イベント連動配信で休眠リストを起こす</a:t>
            </a:r>
            <a:endParaRPr lang="en-US" altLang="ja-JP" sz="1100" dirty="0">
              <a:latin typeface="メイリオ" panose="020B0604030504040204" pitchFamily="50" charset="-128"/>
              <a:ea typeface="メイリオ" panose="020B0604030504040204" pitchFamily="50" charset="-128"/>
            </a:endParaRPr>
          </a:p>
        </p:txBody>
      </p:sp>
      <p:sp>
        <p:nvSpPr>
          <p:cNvPr id="128" name="Text 95">
            <a:extLst>
              <a:ext uri="{FF2B5EF4-FFF2-40B4-BE49-F238E27FC236}">
                <a16:creationId xmlns:a16="http://schemas.microsoft.com/office/drawing/2014/main" id="{06D9F55B-7232-7A4D-8F5C-1AB4E0C70FBD}"/>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「年末の〇〇に向けて、今から準備を始めるお客様が増えています」という業界固有モーメントに乗せた再接触配信。悩みのピーク2〜3週前に配信することがCVR最大化のコツ。「</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売り込み」ではなく「タイミングの案内」として届ける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30" name="Shape 96">
            <a:extLst>
              <a:ext uri="{FF2B5EF4-FFF2-40B4-BE49-F238E27FC236}">
                <a16:creationId xmlns:a16="http://schemas.microsoft.com/office/drawing/2014/main" id="{069D4174-4F64-8276-0A34-474428B42A09}"/>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2" name="Shape 97">
            <a:extLst>
              <a:ext uri="{FF2B5EF4-FFF2-40B4-BE49-F238E27FC236}">
                <a16:creationId xmlns:a16="http://schemas.microsoft.com/office/drawing/2014/main" id="{D9EBB717-A542-13FE-924C-50E4D9047DE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34" name="Text 98">
            <a:extLst>
              <a:ext uri="{FF2B5EF4-FFF2-40B4-BE49-F238E27FC236}">
                <a16:creationId xmlns:a16="http://schemas.microsoft.com/office/drawing/2014/main" id="{5701D322-E6AC-4743-3BF0-3D2C916AA73A}"/>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36" name="Text 99">
            <a:extLst>
              <a:ext uri="{FF2B5EF4-FFF2-40B4-BE49-F238E27FC236}">
                <a16:creationId xmlns:a16="http://schemas.microsoft.com/office/drawing/2014/main" id="{CA2962DC-C768-875A-D569-10ECD1DEB616}"/>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モーメント特定</a:t>
            </a:r>
            <a:endParaRPr lang="en-US" altLang="ja-JP" sz="850" dirty="0">
              <a:latin typeface="メイリオ" panose="020B0604030504040204" pitchFamily="50" charset="-128"/>
              <a:ea typeface="メイリオ" panose="020B0604030504040204" pitchFamily="50" charset="-128"/>
            </a:endParaRPr>
          </a:p>
        </p:txBody>
      </p:sp>
      <p:sp>
        <p:nvSpPr>
          <p:cNvPr id="138" name="Text 100">
            <a:extLst>
              <a:ext uri="{FF2B5EF4-FFF2-40B4-BE49-F238E27FC236}">
                <a16:creationId xmlns:a16="http://schemas.microsoft.com/office/drawing/2014/main" id="{C3D786F9-91FC-82F5-3763-A658668EED4C}"/>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ピーク2〜3週前</a:t>
            </a:r>
            <a:endParaRPr lang="en-US" altLang="ja-JP" sz="750" dirty="0">
              <a:latin typeface="メイリオ" panose="020B0604030504040204" pitchFamily="50" charset="-128"/>
              <a:ea typeface="メイリオ" panose="020B0604030504040204" pitchFamily="50" charset="-128"/>
            </a:endParaRPr>
          </a:p>
        </p:txBody>
      </p:sp>
      <p:sp>
        <p:nvSpPr>
          <p:cNvPr id="140" name="Text 101">
            <a:extLst>
              <a:ext uri="{FF2B5EF4-FFF2-40B4-BE49-F238E27FC236}">
                <a16:creationId xmlns:a16="http://schemas.microsoft.com/office/drawing/2014/main" id="{C1EEB04D-625F-17CE-C89D-4B08395FBAFC}"/>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2" name="Shape 102">
            <a:extLst>
              <a:ext uri="{FF2B5EF4-FFF2-40B4-BE49-F238E27FC236}">
                <a16:creationId xmlns:a16="http://schemas.microsoft.com/office/drawing/2014/main" id="{50E9AED5-D9C7-D6C3-65D6-3119987A999C}"/>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4" name="Shape 103">
            <a:extLst>
              <a:ext uri="{FF2B5EF4-FFF2-40B4-BE49-F238E27FC236}">
                <a16:creationId xmlns:a16="http://schemas.microsoft.com/office/drawing/2014/main" id="{C74365D2-79DD-46D0-F7E6-AB9A53F69C2C}"/>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46" name="Text 104">
            <a:extLst>
              <a:ext uri="{FF2B5EF4-FFF2-40B4-BE49-F238E27FC236}">
                <a16:creationId xmlns:a16="http://schemas.microsoft.com/office/drawing/2014/main" id="{6E4E920B-459D-A400-22E8-BABF2781E2BA}"/>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48" name="Text 105">
            <a:extLst>
              <a:ext uri="{FF2B5EF4-FFF2-40B4-BE49-F238E27FC236}">
                <a16:creationId xmlns:a16="http://schemas.microsoft.com/office/drawing/2014/main" id="{A09DCB92-8255-C6E6-87C7-473321C80234}"/>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コンテンツ配信</a:t>
            </a:r>
            <a:endParaRPr lang="en-US" altLang="ja-JP" sz="850" dirty="0">
              <a:latin typeface="メイリオ" panose="020B0604030504040204" pitchFamily="50" charset="-128"/>
              <a:ea typeface="メイリオ" panose="020B0604030504040204" pitchFamily="50" charset="-128"/>
            </a:endParaRPr>
          </a:p>
        </p:txBody>
      </p:sp>
      <p:sp>
        <p:nvSpPr>
          <p:cNvPr id="150" name="Text 106">
            <a:extLst>
              <a:ext uri="{FF2B5EF4-FFF2-40B4-BE49-F238E27FC236}">
                <a16:creationId xmlns:a16="http://schemas.microsoft.com/office/drawing/2014/main" id="{09AC34DD-AAEC-BF91-CB1D-5545FE79C4D2}"/>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今だから」訴求</a:t>
            </a:r>
            <a:endParaRPr lang="en-US" altLang="ja-JP" sz="750" dirty="0">
              <a:latin typeface="メイリオ" panose="020B0604030504040204" pitchFamily="50" charset="-128"/>
              <a:ea typeface="メイリオ" panose="020B0604030504040204" pitchFamily="50" charset="-128"/>
            </a:endParaRPr>
          </a:p>
        </p:txBody>
      </p:sp>
      <p:sp>
        <p:nvSpPr>
          <p:cNvPr id="152" name="Text 107">
            <a:extLst>
              <a:ext uri="{FF2B5EF4-FFF2-40B4-BE49-F238E27FC236}">
                <a16:creationId xmlns:a16="http://schemas.microsoft.com/office/drawing/2014/main" id="{BF81408E-47F9-9F16-013B-45DCB0A4C212}"/>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54" name="Shape 108">
            <a:extLst>
              <a:ext uri="{FF2B5EF4-FFF2-40B4-BE49-F238E27FC236}">
                <a16:creationId xmlns:a16="http://schemas.microsoft.com/office/drawing/2014/main" id="{503FF76B-C744-3397-71C4-D41BA4685B17}"/>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6" name="Shape 109">
            <a:extLst>
              <a:ext uri="{FF2B5EF4-FFF2-40B4-BE49-F238E27FC236}">
                <a16:creationId xmlns:a16="http://schemas.microsoft.com/office/drawing/2014/main" id="{A6B21F29-F9B0-9369-C7F9-877467F07918}"/>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58" name="Text 110">
            <a:extLst>
              <a:ext uri="{FF2B5EF4-FFF2-40B4-BE49-F238E27FC236}">
                <a16:creationId xmlns:a16="http://schemas.microsoft.com/office/drawing/2014/main" id="{27C2769D-257A-7368-2C8C-D5AC1F474DEE}"/>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60" name="Text 111">
            <a:extLst>
              <a:ext uri="{FF2B5EF4-FFF2-40B4-BE49-F238E27FC236}">
                <a16:creationId xmlns:a16="http://schemas.microsoft.com/office/drawing/2014/main" id="{38FBDAAB-A07A-E8C4-47B0-D464E78D6F27}"/>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休眠リスト再CV</a:t>
            </a:r>
            <a:endParaRPr lang="en-US" altLang="ja-JP" sz="850" dirty="0">
              <a:latin typeface="メイリオ" panose="020B0604030504040204" pitchFamily="50" charset="-128"/>
              <a:ea typeface="メイリオ" panose="020B0604030504040204" pitchFamily="50" charset="-128"/>
            </a:endParaRPr>
          </a:p>
        </p:txBody>
      </p:sp>
      <p:sp>
        <p:nvSpPr>
          <p:cNvPr id="162" name="Text 112">
            <a:extLst>
              <a:ext uri="{FF2B5EF4-FFF2-40B4-BE49-F238E27FC236}">
                <a16:creationId xmlns:a16="http://schemas.microsoft.com/office/drawing/2014/main" id="{D3F04975-0A5A-781C-2B9E-C31F7695748A}"/>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再CV率3〜8%</a:t>
            </a:r>
            <a:endParaRPr lang="en-US" altLang="ja-JP" sz="750" dirty="0">
              <a:latin typeface="メイリオ" panose="020B0604030504040204" pitchFamily="50" charset="-128"/>
              <a:ea typeface="メイリオ" panose="020B0604030504040204" pitchFamily="50" charset="-128"/>
            </a:endParaRPr>
          </a:p>
        </p:txBody>
      </p:sp>
      <p:sp>
        <p:nvSpPr>
          <p:cNvPr id="164" name="Shape 113">
            <a:extLst>
              <a:ext uri="{FF2B5EF4-FFF2-40B4-BE49-F238E27FC236}">
                <a16:creationId xmlns:a16="http://schemas.microsoft.com/office/drawing/2014/main" id="{B8A7F8E0-2D9E-4F58-B45C-445490BAD2A6}"/>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6" name="Shape 117">
            <a:extLst>
              <a:ext uri="{FF2B5EF4-FFF2-40B4-BE49-F238E27FC236}">
                <a16:creationId xmlns:a16="http://schemas.microsoft.com/office/drawing/2014/main" id="{405D8489-0824-1FFD-1B67-B3B0A50D9604}"/>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68" name="Text 118">
            <a:extLst>
              <a:ext uri="{FF2B5EF4-FFF2-40B4-BE49-F238E27FC236}">
                <a16:creationId xmlns:a16="http://schemas.microsoft.com/office/drawing/2014/main" id="{FE9A5096-9CFE-5412-810F-0F2F5A6CF1D7}"/>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再スクリーニング</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70" name="Text 119">
            <a:extLst>
              <a:ext uri="{FF2B5EF4-FFF2-40B4-BE49-F238E27FC236}">
                <a16:creationId xmlns:a16="http://schemas.microsoft.com/office/drawing/2014/main" id="{64A72FA9-D385-9A82-A7FF-CCA964EA228C}"/>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その後いかが</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配信で失注リストを再活性化</a:t>
            </a:r>
            <a:endParaRPr lang="en-US" altLang="ja-JP" sz="1100" dirty="0">
              <a:latin typeface="メイリオ" panose="020B0604030504040204" pitchFamily="50" charset="-128"/>
              <a:ea typeface="メイリオ" panose="020B0604030504040204" pitchFamily="50" charset="-128"/>
            </a:endParaRPr>
          </a:p>
        </p:txBody>
      </p:sp>
      <p:sp>
        <p:nvSpPr>
          <p:cNvPr id="172" name="Text 120">
            <a:extLst>
              <a:ext uri="{FF2B5EF4-FFF2-40B4-BE49-F238E27FC236}">
                <a16:creationId xmlns:a16="http://schemas.microsoft.com/office/drawing/2014/main" id="{CBDC21B9-7A24-59D8-C78B-DA02EFBD1EE5}"/>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失注・辞退から3〜6ヶ月後に「ご状況が変わっていれば改めてご案内できます」と自然なトーンで再接触。失注理由別でシナリオを分岐：「</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予算NG」層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新プランができました</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タイミングNG」層</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またご都合のよい時期に</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174" name="Shape 121">
            <a:extLst>
              <a:ext uri="{FF2B5EF4-FFF2-40B4-BE49-F238E27FC236}">
                <a16:creationId xmlns:a16="http://schemas.microsoft.com/office/drawing/2014/main" id="{8F2AD48D-D152-8DDF-689E-38F793A7A035}"/>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6" name="Shape 122">
            <a:extLst>
              <a:ext uri="{FF2B5EF4-FFF2-40B4-BE49-F238E27FC236}">
                <a16:creationId xmlns:a16="http://schemas.microsoft.com/office/drawing/2014/main" id="{62E05E15-51AF-4DED-F35A-E0341BEEDB6E}"/>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78" name="Text 123">
            <a:extLst>
              <a:ext uri="{FF2B5EF4-FFF2-40B4-BE49-F238E27FC236}">
                <a16:creationId xmlns:a16="http://schemas.microsoft.com/office/drawing/2014/main" id="{E6A90B54-8A00-3600-E1D6-0F35C45F9544}"/>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0" name="Text 124">
            <a:extLst>
              <a:ext uri="{FF2B5EF4-FFF2-40B4-BE49-F238E27FC236}">
                <a16:creationId xmlns:a16="http://schemas.microsoft.com/office/drawing/2014/main" id="{5CE65D75-4BC1-519E-F76F-6A0757C1EC53}"/>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失注後3〜6ヶ月</a:t>
            </a:r>
            <a:endParaRPr lang="en-US" altLang="ja-JP" sz="850" dirty="0">
              <a:latin typeface="メイリオ" panose="020B0604030504040204" pitchFamily="50" charset="-128"/>
              <a:ea typeface="メイリオ" panose="020B0604030504040204" pitchFamily="50" charset="-128"/>
            </a:endParaRPr>
          </a:p>
        </p:txBody>
      </p:sp>
      <p:sp>
        <p:nvSpPr>
          <p:cNvPr id="182" name="Text 125">
            <a:extLst>
              <a:ext uri="{FF2B5EF4-FFF2-40B4-BE49-F238E27FC236}">
                <a16:creationId xmlns:a16="http://schemas.microsoft.com/office/drawing/2014/main" id="{321D2CBF-DB5B-0A56-8946-401A4AD2CC5C}"/>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自動配信</a:t>
            </a: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（ステップ）</a:t>
            </a:r>
            <a:endParaRPr lang="en-US" altLang="ja-JP" sz="750" dirty="0">
              <a:latin typeface="メイリオ" panose="020B0604030504040204" pitchFamily="50" charset="-128"/>
              <a:ea typeface="メイリオ" panose="020B0604030504040204" pitchFamily="50" charset="-128"/>
            </a:endParaRPr>
          </a:p>
        </p:txBody>
      </p:sp>
      <p:sp>
        <p:nvSpPr>
          <p:cNvPr id="184" name="Text 126">
            <a:extLst>
              <a:ext uri="{FF2B5EF4-FFF2-40B4-BE49-F238E27FC236}">
                <a16:creationId xmlns:a16="http://schemas.microsoft.com/office/drawing/2014/main" id="{06401F8E-C60A-CA49-A807-0A6452BDC118}"/>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86" name="Shape 127">
            <a:extLst>
              <a:ext uri="{FF2B5EF4-FFF2-40B4-BE49-F238E27FC236}">
                <a16:creationId xmlns:a16="http://schemas.microsoft.com/office/drawing/2014/main" id="{AE3CA431-0C8F-8EF0-2ED8-A83CCA602B3E}"/>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88" name="Shape 128">
            <a:extLst>
              <a:ext uri="{FF2B5EF4-FFF2-40B4-BE49-F238E27FC236}">
                <a16:creationId xmlns:a16="http://schemas.microsoft.com/office/drawing/2014/main" id="{1AD820F2-8E91-97A5-8E0A-B1C6BFB331A1}"/>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190" name="Text 129">
            <a:extLst>
              <a:ext uri="{FF2B5EF4-FFF2-40B4-BE49-F238E27FC236}">
                <a16:creationId xmlns:a16="http://schemas.microsoft.com/office/drawing/2014/main" id="{8D818818-A3AE-555E-7011-4F3D90379688}"/>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2" name="Text 130">
            <a:extLst>
              <a:ext uri="{FF2B5EF4-FFF2-40B4-BE49-F238E27FC236}">
                <a16:creationId xmlns:a16="http://schemas.microsoft.com/office/drawing/2014/main" id="{4EF9A98F-AC88-0728-EFD8-0C772A79587A}"/>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失注理由別分岐</a:t>
            </a:r>
            <a:endParaRPr lang="en-US" altLang="ja-JP" sz="850" dirty="0">
              <a:latin typeface="メイリオ" panose="020B0604030504040204" pitchFamily="50" charset="-128"/>
              <a:ea typeface="メイリオ" panose="020B0604030504040204" pitchFamily="50" charset="-128"/>
            </a:endParaRPr>
          </a:p>
        </p:txBody>
      </p:sp>
      <p:sp>
        <p:nvSpPr>
          <p:cNvPr id="194" name="Text 131">
            <a:extLst>
              <a:ext uri="{FF2B5EF4-FFF2-40B4-BE49-F238E27FC236}">
                <a16:creationId xmlns:a16="http://schemas.microsoft.com/office/drawing/2014/main" id="{AA3268CA-2C22-0C62-160E-0C0216963E5F}"/>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シナリオカスタマイズ</a:t>
            </a:r>
            <a:endParaRPr lang="en-US" altLang="ja-JP" sz="750" dirty="0">
              <a:latin typeface="メイリオ" panose="020B0604030504040204" pitchFamily="50" charset="-128"/>
              <a:ea typeface="メイリオ" panose="020B0604030504040204" pitchFamily="50" charset="-128"/>
            </a:endParaRPr>
          </a:p>
        </p:txBody>
      </p:sp>
      <p:sp>
        <p:nvSpPr>
          <p:cNvPr id="196" name="Text 132">
            <a:extLst>
              <a:ext uri="{FF2B5EF4-FFF2-40B4-BE49-F238E27FC236}">
                <a16:creationId xmlns:a16="http://schemas.microsoft.com/office/drawing/2014/main" id="{2F00F7D4-1087-A7FE-323B-EE40BA03BBC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198" name="Shape 133">
            <a:extLst>
              <a:ext uri="{FF2B5EF4-FFF2-40B4-BE49-F238E27FC236}">
                <a16:creationId xmlns:a16="http://schemas.microsoft.com/office/drawing/2014/main" id="{48973DFD-52B9-D288-5F88-EBA671150D93}"/>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0" name="Shape 134">
            <a:extLst>
              <a:ext uri="{FF2B5EF4-FFF2-40B4-BE49-F238E27FC236}">
                <a16:creationId xmlns:a16="http://schemas.microsoft.com/office/drawing/2014/main" id="{E611469B-B55C-8664-CADB-DF4675853BF0}"/>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02" name="Text 135">
            <a:extLst>
              <a:ext uri="{FF2B5EF4-FFF2-40B4-BE49-F238E27FC236}">
                <a16:creationId xmlns:a16="http://schemas.microsoft.com/office/drawing/2014/main" id="{F56AD707-B2E2-F152-960D-3E43770D8634}"/>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04" name="Text 136">
            <a:extLst>
              <a:ext uri="{FF2B5EF4-FFF2-40B4-BE49-F238E27FC236}">
                <a16:creationId xmlns:a16="http://schemas.microsoft.com/office/drawing/2014/main" id="{44EA5DE9-1C7B-2119-EC2E-A8BE9873034E}"/>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再CV獲得</a:t>
            </a:r>
            <a:endParaRPr lang="en-US" altLang="ja-JP" sz="850" dirty="0">
              <a:latin typeface="メイリオ" panose="020B0604030504040204" pitchFamily="50" charset="-128"/>
              <a:ea typeface="メイリオ" panose="020B0604030504040204" pitchFamily="50" charset="-128"/>
            </a:endParaRPr>
          </a:p>
        </p:txBody>
      </p:sp>
      <p:sp>
        <p:nvSpPr>
          <p:cNvPr id="206" name="Text 137">
            <a:extLst>
              <a:ext uri="{FF2B5EF4-FFF2-40B4-BE49-F238E27FC236}">
                <a16:creationId xmlns:a16="http://schemas.microsoft.com/office/drawing/2014/main" id="{8096588A-C237-8806-3F2E-41D5083C6A97}"/>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コストゼロ受注</a:t>
            </a:r>
            <a:endParaRPr lang="en-US" altLang="ja-JP" sz="750" dirty="0">
              <a:latin typeface="メイリオ" panose="020B0604030504040204" pitchFamily="50" charset="-128"/>
              <a:ea typeface="メイリオ" panose="020B0604030504040204" pitchFamily="50" charset="-128"/>
            </a:endParaRPr>
          </a:p>
        </p:txBody>
      </p:sp>
      <p:sp>
        <p:nvSpPr>
          <p:cNvPr id="208" name="Shape 36">
            <a:extLst>
              <a:ext uri="{FF2B5EF4-FFF2-40B4-BE49-F238E27FC236}">
                <a16:creationId xmlns:a16="http://schemas.microsoft.com/office/drawing/2014/main" id="{A5FC7E14-B018-D022-4C5B-B6CBBCAE4736}"/>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0" name="Shape 36">
            <a:extLst>
              <a:ext uri="{FF2B5EF4-FFF2-40B4-BE49-F238E27FC236}">
                <a16:creationId xmlns:a16="http://schemas.microsoft.com/office/drawing/2014/main" id="{6310D41F-AA25-B595-2E67-274ED86E8EE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12" name="Shape 36">
            <a:extLst>
              <a:ext uri="{FF2B5EF4-FFF2-40B4-BE49-F238E27FC236}">
                <a16:creationId xmlns:a16="http://schemas.microsoft.com/office/drawing/2014/main" id="{04FC39D4-AF33-9A13-B4BB-7BF38704EB41}"/>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13" name="Shape 59">
            <a:extLst>
              <a:ext uri="{FF2B5EF4-FFF2-40B4-BE49-F238E27FC236}">
                <a16:creationId xmlns:a16="http://schemas.microsoft.com/office/drawing/2014/main" id="{0D838070-28E0-7844-7B87-9CC6E5DC79D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7" name="Shape 88">
            <a:extLst>
              <a:ext uri="{FF2B5EF4-FFF2-40B4-BE49-F238E27FC236}">
                <a16:creationId xmlns:a16="http://schemas.microsoft.com/office/drawing/2014/main" id="{BF047FFF-FD3A-83AB-B6A5-B1D64F67C5FF}"/>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7568268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5F51C-1549-19C8-A509-C77C3C8B926D}"/>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0881644-71DA-0FD5-31A8-50845CB45B3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改善モデル③</a:t>
            </a:r>
          </a:p>
        </p:txBody>
      </p:sp>
      <p:sp>
        <p:nvSpPr>
          <p:cNvPr id="27" name="テキスト ボックス 26">
            <a:extLst>
              <a:ext uri="{FF2B5EF4-FFF2-40B4-BE49-F238E27FC236}">
                <a16:creationId xmlns:a16="http://schemas.microsoft.com/office/drawing/2014/main" id="{3E754129-4E82-ADF0-7762-6DB3D6C37869}"/>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90A62F05-90DB-BEFF-2CA5-AB5CBFB875BB}"/>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FEA37072-D446-4372-FBCF-FF05EAA5FFDB}"/>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768555E4-10E4-ED78-186D-F8BBA4ECA773}"/>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C655AFC2-F818-8CFC-48E3-29591E6CCBA4}"/>
              </a:ext>
            </a:extLst>
          </p:cNvPr>
          <p:cNvCxnSpPr>
            <a:cxnSpLocks/>
            <a:stCxn id="30" idx="0"/>
          </p:cNvCxnSpPr>
          <p:nvPr/>
        </p:nvCxnSpPr>
        <p:spPr>
          <a:xfrm rot="5400000" flipH="1" flipV="1">
            <a:off x="4270984" y="1720322"/>
            <a:ext cx="246792" cy="365616"/>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テキスト ボックス 4">
            <a:extLst>
              <a:ext uri="{FF2B5EF4-FFF2-40B4-BE49-F238E27FC236}">
                <a16:creationId xmlns:a16="http://schemas.microsoft.com/office/drawing/2014/main" id="{AE0E605C-24DB-D0F6-408E-DC91DFF126F2}"/>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024124EA-8A11-9089-D195-BFB58DD5068D}"/>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0" name="テキスト ボックス 9">
            <a:extLst>
              <a:ext uri="{FF2B5EF4-FFF2-40B4-BE49-F238E27FC236}">
                <a16:creationId xmlns:a16="http://schemas.microsoft.com/office/drawing/2014/main" id="{B87E9823-A3D2-CC28-7E59-EE124DBE7CAD}"/>
              </a:ext>
            </a:extLst>
          </p:cNvPr>
          <p:cNvSpPr txBox="1"/>
          <p:nvPr/>
        </p:nvSpPr>
        <p:spPr>
          <a:xfrm>
            <a:off x="7408050" y="203305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0E616C55-41AE-4E89-AA73-D23C6063BAC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F6D876E-0365-432F-46BA-A5401006C46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3EE31941-0F5E-1E7C-269A-8F9D019765CF}"/>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latin typeface="メイリオ" panose="020B0604030504040204" pitchFamily="50" charset="-128"/>
                <a:ea typeface="メイリオ" panose="020B0604030504040204" pitchFamily="50" charset="-128"/>
              </a:rPr>
              <a:t>施策内容</a:t>
            </a:r>
          </a:p>
        </p:txBody>
      </p:sp>
      <p:sp>
        <p:nvSpPr>
          <p:cNvPr id="15" name="Google Shape;752;p28">
            <a:extLst>
              <a:ext uri="{FF2B5EF4-FFF2-40B4-BE49-F238E27FC236}">
                <a16:creationId xmlns:a16="http://schemas.microsoft.com/office/drawing/2014/main" id="{98886420-FB53-2FB8-A09E-EB3FDE7308E8}"/>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成約、購入等、企業としての売上・利益につなげる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3" name="正方形/長方形 2">
            <a:extLst>
              <a:ext uri="{FF2B5EF4-FFF2-40B4-BE49-F238E27FC236}">
                <a16:creationId xmlns:a16="http://schemas.microsoft.com/office/drawing/2014/main" id="{25A50B78-E73B-4B44-EA42-3D987F8E8733}"/>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2" name="テキスト ボックス 11">
            <a:extLst>
              <a:ext uri="{FF2B5EF4-FFF2-40B4-BE49-F238E27FC236}">
                <a16:creationId xmlns:a16="http://schemas.microsoft.com/office/drawing/2014/main" id="{EDBFCB04-05B4-E4AC-12A0-CD0E81A2DC3C}"/>
              </a:ext>
            </a:extLst>
          </p:cNvPr>
          <p:cNvSpPr txBox="1"/>
          <p:nvPr/>
        </p:nvSpPr>
        <p:spPr>
          <a:xfrm>
            <a:off x="6119413" y="1832804"/>
            <a:ext cx="2352196" cy="348203"/>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⑦マネタイズ</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成約</a:t>
            </a:r>
            <a:r>
              <a:rPr lang="en-US" altLang="ja-JP" sz="1000" b="1" dirty="0">
                <a:solidFill>
                  <a:schemeClr val="bg1"/>
                </a:solidFill>
                <a:latin typeface="メイリオ" panose="020B0604030504040204" pitchFamily="50" charset="-128"/>
                <a:ea typeface="メイリオ" panose="020B0604030504040204" pitchFamily="50" charset="-128"/>
              </a:rPr>
              <a:t>/</a:t>
            </a:r>
            <a:r>
              <a:rPr lang="ja-JP" altLang="en-US" sz="1000" b="1" dirty="0">
                <a:solidFill>
                  <a:schemeClr val="bg1"/>
                </a:solidFill>
                <a:latin typeface="メイリオ" panose="020B0604030504040204" pitchFamily="50" charset="-128"/>
                <a:ea typeface="メイリオ" panose="020B0604030504040204" pitchFamily="50" charset="-128"/>
              </a:rPr>
              <a:t>購入</a:t>
            </a:r>
            <a:r>
              <a:rPr lang="en-US" altLang="ja-JP" sz="1000" b="1" dirty="0">
                <a:solidFill>
                  <a:schemeClr val="bg1"/>
                </a:solidFill>
                <a:latin typeface="メイリオ" panose="020B0604030504040204" pitchFamily="50" charset="-128"/>
                <a:ea typeface="メイリオ" panose="020B0604030504040204" pitchFamily="50" charset="-128"/>
              </a:rPr>
              <a:t>)</a:t>
            </a:r>
            <a:endParaRPr lang="ja-JP" altLang="ja-JP" sz="11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7ACD6D34-5B12-71B8-0225-D9C053F55ED2}"/>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latin typeface="メイリオ" panose="020B0604030504040204" pitchFamily="50" charset="-128"/>
                <a:ea typeface="メイリオ" panose="020B0604030504040204" pitchFamily="50" charset="-128"/>
              </a:rPr>
              <a:t>実際の購入・契約に関わるハードルを下げる</a:t>
            </a:r>
          </a:p>
        </p:txBody>
      </p:sp>
      <p:sp>
        <p:nvSpPr>
          <p:cNvPr id="214" name="正方形/長方形 213">
            <a:extLst>
              <a:ext uri="{FF2B5EF4-FFF2-40B4-BE49-F238E27FC236}">
                <a16:creationId xmlns:a16="http://schemas.microsoft.com/office/drawing/2014/main" id="{9B22DD71-4656-D5C5-DBDF-22BB0DC5C6FA}"/>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17BC1EF4-21DA-CE94-283E-846B9F001F36}"/>
              </a:ext>
            </a:extLst>
          </p:cNvPr>
          <p:cNvSpPr/>
          <p:nvPr/>
        </p:nvSpPr>
        <p:spPr>
          <a:xfrm>
            <a:off x="265419" y="2999768"/>
            <a:ext cx="4541216" cy="1600805"/>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B139C33D-7A13-4B90-506A-BD3D89DCB343}"/>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2D290F22-1E3B-8151-C419-A64914BDF65F}"/>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19C3AE76-E5E9-46FF-E31E-15492F60B623}"/>
              </a:ext>
            </a:extLst>
          </p:cNvPr>
          <p:cNvSpPr/>
          <p:nvPr/>
        </p:nvSpPr>
        <p:spPr>
          <a:xfrm>
            <a:off x="686043"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不安解消</a:t>
            </a:r>
            <a:r>
              <a:rPr kumimoji="0" lang="en-US" altLang="ja-JP"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BOT</a:t>
            </a:r>
          </a:p>
        </p:txBody>
      </p:sp>
      <p:sp>
        <p:nvSpPr>
          <p:cNvPr id="224" name="Text 40">
            <a:extLst>
              <a:ext uri="{FF2B5EF4-FFF2-40B4-BE49-F238E27FC236}">
                <a16:creationId xmlns:a16="http://schemas.microsoft.com/office/drawing/2014/main" id="{F72D9597-CBE6-7729-EBB8-42A4EB56D3AC}"/>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チャットBOT</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申込前の不安をリアルタイム解消</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D4867974-A5DB-62BF-B56C-7B48EBD4FCD6}"/>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申込ページを複数回閲覧しているが踏み切れない層に「ご不明な点はありますか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とLINEからプッシュ</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解約できる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返金保証は</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効果はいつ出る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など頻出の不安をKW自動応答で即解消し申込フォームへ誘導</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28" name="Shape 42">
            <a:extLst>
              <a:ext uri="{FF2B5EF4-FFF2-40B4-BE49-F238E27FC236}">
                <a16:creationId xmlns:a16="http://schemas.microsoft.com/office/drawing/2014/main" id="{131B059A-8308-F9A4-4B71-FDED85A0F305}"/>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763DFBBD-2B1A-7385-B3C6-41AF5556E607}"/>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426BE58B-62E2-01C7-74C9-694E2A9CD289}"/>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A698A3A9-032A-DEE2-0FD2-AAF7EC37F195}"/>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複数LP閲覧を検知</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6CD14118-9279-776C-30F3-C63B5F00B503}"/>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確度：高として認定</a:t>
            </a:r>
            <a:endPar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endParaRPr>
          </a:p>
        </p:txBody>
      </p:sp>
      <p:sp>
        <p:nvSpPr>
          <p:cNvPr id="238" name="Text 47">
            <a:extLst>
              <a:ext uri="{FF2B5EF4-FFF2-40B4-BE49-F238E27FC236}">
                <a16:creationId xmlns:a16="http://schemas.microsoft.com/office/drawing/2014/main" id="{E675B87B-4A8E-ADF8-DADF-AA406110BF3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7E2CC952-E8D7-ECD4-395A-BE9452A2A487}"/>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AE59EEF6-CC45-015B-A9E5-8A7A937B56CA}"/>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C754A20D-10B5-62BF-4DDB-DE8127CF6F40}"/>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D244FC3B-C26B-1060-3973-384C3CC08ADD}"/>
              </a:ext>
            </a:extLst>
          </p:cNvPr>
          <p:cNvSpPr/>
          <p:nvPr/>
        </p:nvSpPr>
        <p:spPr>
          <a:xfrm>
            <a:off x="2039355"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不安ありますか</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9C10D7EA-6A29-74A3-5046-A7A5BA81CFEB}"/>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LINEからプッシュ</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9EC056C0-654F-C52F-62E6-8D47A6551C13}"/>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834935BC-F5E7-BAED-6E85-E07CBFE19550}"/>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6327123E-240D-2DFD-89A6-C68864B84618}"/>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0395E968-804F-D503-B217-5E6877EED965}"/>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1F68B74A-B629-3DFC-2CEE-48823841BEF3}"/>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KW自動応答→CV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31AA167F-1838-719F-81AA-E6D277EA6DCC}"/>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段階式自動応答で</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CV</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まで</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58EC588-B65C-48B3-4271-EDA2EA270201}"/>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1DCC50EF-FB92-09C8-A8AA-7A7EDB9B0146}"/>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46B3B6C-4902-BBA2-7F54-3C24433597F1}"/>
              </a:ext>
            </a:extLst>
          </p:cNvPr>
          <p:cNvSpPr/>
          <p:nvPr/>
        </p:nvSpPr>
        <p:spPr>
          <a:xfrm>
            <a:off x="686043"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日程自動化</a:t>
            </a:r>
          </a:p>
        </p:txBody>
      </p:sp>
      <p:sp>
        <p:nvSpPr>
          <p:cNvPr id="268" name="Text 65">
            <a:extLst>
              <a:ext uri="{FF2B5EF4-FFF2-40B4-BE49-F238E27FC236}">
                <a16:creationId xmlns:a16="http://schemas.microsoft.com/office/drawing/2014/main" id="{43250F18-B2EB-58ED-89E5-9D277C0A5794}"/>
              </a:ext>
            </a:extLst>
          </p:cNvPr>
          <p:cNvSpPr/>
          <p:nvPr/>
        </p:nvSpPr>
        <p:spPr>
          <a:xfrm>
            <a:off x="1545579" y="4924581"/>
            <a:ext cx="3319066"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日程調整自動化で、検討前に商談確定</a:t>
            </a:r>
          </a:p>
        </p:txBody>
      </p:sp>
      <p:sp>
        <p:nvSpPr>
          <p:cNvPr id="270" name="Text 66">
            <a:extLst>
              <a:ext uri="{FF2B5EF4-FFF2-40B4-BE49-F238E27FC236}">
                <a16:creationId xmlns:a16="http://schemas.microsoft.com/office/drawing/2014/main" id="{251E5163-4BD4-2320-E1D0-DC825BC643E2}"/>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面談を希望します」と入力した瞬間にカレンダー連携で候補日程を自動提示→タップで選択→確定通知＋リマインドを自動送付。「後で連絡します」のやり取りで冷めるのを防ぎ、温度感が高いまま商談へ。</a:t>
            </a:r>
          </a:p>
        </p:txBody>
      </p:sp>
      <p:sp>
        <p:nvSpPr>
          <p:cNvPr id="272" name="Shape 68">
            <a:extLst>
              <a:ext uri="{FF2B5EF4-FFF2-40B4-BE49-F238E27FC236}">
                <a16:creationId xmlns:a16="http://schemas.microsoft.com/office/drawing/2014/main" id="{971EF85D-2530-7E85-695D-21576E3399C6}"/>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C61543A0-6CA4-B8A9-BABF-E3F296767C9F}"/>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711A428D-8DE9-E0B6-1327-82CC5DEC5364}"/>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A6F2A656-9918-5CCF-081B-90932FB7B31A}"/>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939DCB1A-68BA-D577-ECE4-D4DFF019EA70}"/>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85D30E2A-FEB3-5FD0-BE47-D36B7C7ADC4B}"/>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面談希望」入力</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1D748291-A5CD-A534-775B-B4EBF567F665}"/>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即・日程提示</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6D85AEBA-8759-4590-2BD5-991827894447}"/>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32D27DAD-D2AF-DBAD-F818-E996C478DEC9}"/>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638800F5-D582-38D9-A3E4-C35550FAF43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4FE98861-5470-BC0D-C54A-2F4F47BBE9E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12FEA545-2A73-5AFD-1BD2-9F4325BD29F7}"/>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タップで日程確定</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092A8A0A-B8FB-B1A7-1FCB-9EA219E6BFDE}"/>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メール往復ゼロ</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95A046B-C53A-FDCE-5111-F5834D0CA584}"/>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19A246E9-D30A-1092-6D5A-555407259AB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9CFB5A33-6601-FA88-5E14-AD083E8A974F}"/>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115C0B2B-98C8-8B25-3BBF-1156626D6C87}"/>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A407CA47-3CF8-760D-6BA8-0DF95F970630}"/>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リマインド自動送付</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4168941F-0BBB-6115-B5E7-6928BD42FC99}"/>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ドタキャン率低下</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25BA7DFC-080F-45BC-1CEB-0E2FA1036911}"/>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05737E4A-7E87-3F90-A1F5-285284CA80FB}"/>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29C5B70-F57E-D134-7E8F-7689219DE10A}"/>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体験談配信</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FCC6DF42-A77D-8CE5-0ECF-48B3E50916B0}"/>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利用イメージ</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コンテンツ</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で利用想起</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C1491931-3BA8-2594-BE3C-4EBDCD6864BF}"/>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申込を迷っているユーザーに「〇〇を始めて3ヶ月の方の今」「先輩ユーザーの1週間スケジュール」などリアルな体験談をLINEで定期配信。「</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買った後どうなるか」の不安を、実際のユーザー事例で解消する</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9114BF09-7036-90AC-D9C8-0C172510E7C2}"/>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1382F6BB-3947-2399-C34B-C78B6937D2DA}"/>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7CAD0DE0-345C-F621-25D3-89CEBC9C59EB}"/>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488ED467-36DE-30E3-BF80-C9BE8B1CF783}"/>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体験談コンテンツ</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49A04842-DDE9-37E6-1E8D-79BF82BE9FA9}"/>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写真・動画・レポート</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5E2DEEEF-3ABB-D51C-CB78-AD0E64E26029}"/>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583FCA0F-3FAB-2529-936B-557E5CDD8BFF}"/>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46DA626B-859D-0A40-A6EC-EBD75A52A80D}"/>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751B80C7-91E9-70BD-A17B-7A4E723D4D8C}"/>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A7ABE51D-147A-4B8A-9A19-112FACBFFA1D}"/>
              </a:ext>
            </a:extLst>
          </p:cNvPr>
          <p:cNvSpPr/>
          <p:nvPr/>
        </p:nvSpPr>
        <p:spPr>
          <a:xfrm>
            <a:off x="6873303" y="4114575"/>
            <a:ext cx="914400" cy="182880"/>
          </a:xfrm>
          <a:prstGeom prst="rect">
            <a:avLst/>
          </a:prstGeom>
          <a:noFill/>
          <a:ln/>
        </p:spPr>
        <p:txBody>
          <a:bodyPr wrap="square" lIns="0" tIns="0" rIns="0" bIns="0" rtlCol="0" anchor="ctr"/>
          <a:lstStyle/>
          <a:p>
            <a:r>
              <a:rPr lang="ja-JP" altLang="en-US" sz="850" dirty="0">
                <a:latin typeface="メイリオ" panose="020B0604030504040204" pitchFamily="50" charset="-128"/>
                <a:ea typeface="メイリオ" panose="020B0604030504040204" pitchFamily="50" charset="-128"/>
              </a:rPr>
              <a:t>不安払しょく</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318494AB-2707-1129-BA71-E24AAAEEA5FA}"/>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購入後イメージ醸成</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D2A81EF1-BC58-1253-ECD2-53DF3B40891F}"/>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0417CEED-7C17-F2CD-95E5-6BA2C686EE12}"/>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BE5D8431-CA60-5904-8740-E1668BC7E91C}"/>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DE57ABB2-07C3-A007-67C2-E95C551B1B58}"/>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94D9AB7C-B1F7-BB2D-6801-2EC11474714E}"/>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申込前ユーザーCV</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FD2DA1A7-F345-DFC3-8751-889A3BEA99AB}"/>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安心して申込めた</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A3968D0A-D5A3-B6DF-A4E1-5C8230BDD229}"/>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D69FAC34-5229-FB00-C4A2-B94AD64E02AC}"/>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2DF5057F-5690-994B-B840-B9A70C3615E5}"/>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C6CDBA0C-C4AB-DB49-4D97-5F4E1FADE225}"/>
              </a:ext>
            </a:extLst>
          </p:cNvPr>
          <p:cNvSpPr/>
          <p:nvPr/>
        </p:nvSpPr>
        <p:spPr>
          <a:xfrm>
            <a:off x="6379527"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フロー事前案内でキャンセル率を激減させる</a:t>
            </a:r>
            <a:endParaRPr lang="en-US" altLang="ja-JP" sz="1100" dirty="0">
              <a:latin typeface="メイリオ" panose="020B0604030504040204" pitchFamily="50" charset="-128"/>
              <a:ea typeface="メイリオ" panose="020B0604030504040204" pitchFamily="50" charset="-128"/>
            </a:endParaRPr>
          </a:p>
        </p:txBody>
      </p:sp>
      <p:sp>
        <p:nvSpPr>
          <p:cNvPr id="362" name="Text 120">
            <a:extLst>
              <a:ext uri="{FF2B5EF4-FFF2-40B4-BE49-F238E27FC236}">
                <a16:creationId xmlns:a16="http://schemas.microsoft.com/office/drawing/2014/main" id="{BD5402DC-C1D0-29CE-40A9-BA86E6FF6BAD}"/>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申込完了後すぐにLINEで「当日の流れをお伝えします」を送付。所要時間・準備するもの・スタッフの到着時間・終了後の対応まで全て事前案内する。不安が解消されると「楽しみに待てる」状態になりキャンセル・ドタキャンが激減。</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EC4E379D-5E50-776A-B55F-BD46A9652992}"/>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46F28470-9DDC-A1C0-44ED-C1A38232636F}"/>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6E320849-A3F7-A150-79AA-9261937FECF2}"/>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16CF1DC5-D3CD-E50F-B7D5-B1647AD8426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申込完了直後</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13B785A9-AE07-65EA-5E5C-8F6B908562CF}"/>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当日フロー自動送付</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396E4066-71DA-8649-8C5F-BDFFC56B7F3A}"/>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9B006DA7-6196-F8F6-970F-DC9C2663876A}"/>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6F508C7C-1181-D6F1-04E3-871D86B1A7F3}"/>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50E830AA-3612-B666-F090-99534DF142A9}"/>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CAB1B380-D7B7-197D-641E-1FDD0F2113B6}"/>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不安ゼロで待機</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0ED63B1C-3E6C-4055-2FDE-C901EA2E281E}"/>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ja-JP" altLang="en-US" sz="750" dirty="0">
                <a:solidFill>
                  <a:srgbClr val="4A4A6A"/>
                </a:solidFill>
                <a:latin typeface="メイリオ" panose="020B0604030504040204" pitchFamily="50" charset="-128"/>
                <a:ea typeface="メイリオ" panose="020B0604030504040204" pitchFamily="50" charset="-128"/>
                <a:cs typeface="Calibri" pitchFamily="34" charset="-120"/>
              </a:rPr>
              <a:t>アフターフォロー期待</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A7504597-DAE8-7BD5-E427-59FE3F3330B0}"/>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57656A25-7392-A4F8-42FF-0AAD35DAB96A}"/>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01509C7-F9AC-D612-CC39-58640601C006}"/>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4BF6839F-2873-F373-446B-2181CDBE0B5C}"/>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0E9F188B-90C4-31AB-2701-03D1FF2CC694}"/>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C8404977-9DAC-F0B8-336A-CAD39A2D9574}"/>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E1A706A9-2858-6B94-F554-D7AF99876505}"/>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4310345B-A0A0-5528-0149-1158E742747C}"/>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1F298478-02C0-26AD-DD18-2A5F883779BB}"/>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6" name="Shape 59">
            <a:extLst>
              <a:ext uri="{FF2B5EF4-FFF2-40B4-BE49-F238E27FC236}">
                <a16:creationId xmlns:a16="http://schemas.microsoft.com/office/drawing/2014/main" id="{6B769AD0-A25C-5581-5EDD-43D23F542EE9}"/>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3" name="Shape 88">
            <a:extLst>
              <a:ext uri="{FF2B5EF4-FFF2-40B4-BE49-F238E27FC236}">
                <a16:creationId xmlns:a16="http://schemas.microsoft.com/office/drawing/2014/main" id="{39E53043-2B3B-6947-E0A2-0E82BEC7F188}"/>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7743960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E2D0F-DE07-83AE-E053-ED6184F31BC2}"/>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5D1EA046-6B24-6F8B-072F-C58606586D2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改善モデル④</a:t>
            </a:r>
          </a:p>
        </p:txBody>
      </p:sp>
      <p:sp>
        <p:nvSpPr>
          <p:cNvPr id="9" name="正方形/長方形 8">
            <a:extLst>
              <a:ext uri="{FF2B5EF4-FFF2-40B4-BE49-F238E27FC236}">
                <a16:creationId xmlns:a16="http://schemas.microsoft.com/office/drawing/2014/main" id="{4CC6B560-F63A-0124-FC5F-88DB86F5E043}"/>
              </a:ext>
            </a:extLst>
          </p:cNvPr>
          <p:cNvSpPr/>
          <p:nvPr/>
        </p:nvSpPr>
        <p:spPr>
          <a:xfrm>
            <a:off x="0" y="777240"/>
            <a:ext cx="1802674" cy="502920"/>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latin typeface="メイリオ" panose="020B0604030504040204" pitchFamily="50" charset="-128"/>
                <a:ea typeface="メイリオ" panose="020B0604030504040204" pitchFamily="50" charset="-128"/>
              </a:rPr>
              <a:t>LINEOA</a:t>
            </a:r>
            <a:r>
              <a:rPr kumimoji="1" lang="ja-JP" altLang="en-US" sz="1400" dirty="0">
                <a:latin typeface="メイリオ" panose="020B0604030504040204" pitchFamily="50" charset="-128"/>
                <a:ea typeface="メイリオ" panose="020B0604030504040204" pitchFamily="50" charset="-128"/>
              </a:rPr>
              <a:t>施策</a:t>
            </a:r>
          </a:p>
        </p:txBody>
      </p:sp>
      <p:sp>
        <p:nvSpPr>
          <p:cNvPr id="3" name="Google Shape;752;p28">
            <a:extLst>
              <a:ext uri="{FF2B5EF4-FFF2-40B4-BE49-F238E27FC236}">
                <a16:creationId xmlns:a16="http://schemas.microsoft.com/office/drawing/2014/main" id="{5D31B060-8732-8226-E996-E5CD8768DC86}"/>
              </a:ext>
            </a:extLst>
          </p:cNvPr>
          <p:cNvSpPr txBox="1"/>
          <p:nvPr/>
        </p:nvSpPr>
        <p:spPr>
          <a:xfrm>
            <a:off x="1988819" y="859442"/>
            <a:ext cx="7774305" cy="338514"/>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リピート率、クロスセル率、客単価を改善し、</a:t>
            </a:r>
            <a:r>
              <a:rPr lang="en-US" altLang="ja-JP" sz="1600" b="1" dirty="0">
                <a:latin typeface="メイリオ" panose="020B0604030504040204" pitchFamily="50" charset="-128"/>
                <a:ea typeface="メイリオ" panose="020B0604030504040204" pitchFamily="50" charset="-128"/>
                <a:cs typeface="Meiryo"/>
                <a:sym typeface="Meiryo"/>
              </a:rPr>
              <a:t>LTV</a:t>
            </a:r>
            <a:r>
              <a:rPr lang="ja-JP" altLang="en-US" sz="1600" b="1" dirty="0">
                <a:latin typeface="メイリオ" panose="020B0604030504040204" pitchFamily="50" charset="-128"/>
                <a:ea typeface="メイリオ" panose="020B0604030504040204" pitchFamily="50" charset="-128"/>
                <a:cs typeface="Meiryo"/>
                <a:sym typeface="Meiryo"/>
              </a:rPr>
              <a:t>を最大化する。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1" name="テキスト ボックス 20">
            <a:extLst>
              <a:ext uri="{FF2B5EF4-FFF2-40B4-BE49-F238E27FC236}">
                <a16:creationId xmlns:a16="http://schemas.microsoft.com/office/drawing/2014/main" id="{A963DBCC-3129-4694-2516-D42EB1CB36A7}"/>
              </a:ext>
            </a:extLst>
          </p:cNvPr>
          <p:cNvSpPr txBox="1"/>
          <p:nvPr/>
        </p:nvSpPr>
        <p:spPr>
          <a:xfrm>
            <a:off x="3542139" y="141931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22" name="テキスト ボックス 21">
            <a:extLst>
              <a:ext uri="{FF2B5EF4-FFF2-40B4-BE49-F238E27FC236}">
                <a16:creationId xmlns:a16="http://schemas.microsoft.com/office/drawing/2014/main" id="{640F53FA-21E2-6B03-27CB-8DE09650F7F7}"/>
              </a:ext>
            </a:extLst>
          </p:cNvPr>
          <p:cNvSpPr txBox="1"/>
          <p:nvPr/>
        </p:nvSpPr>
        <p:spPr>
          <a:xfrm>
            <a:off x="6119413" y="182847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24" name="テキスト ボックス 23">
            <a:extLst>
              <a:ext uri="{FF2B5EF4-FFF2-40B4-BE49-F238E27FC236}">
                <a16:creationId xmlns:a16="http://schemas.microsoft.com/office/drawing/2014/main" id="{CD6F3969-7970-ED78-97A1-E18A646DC413}"/>
              </a:ext>
            </a:extLst>
          </p:cNvPr>
          <p:cNvSpPr txBox="1"/>
          <p:nvPr/>
        </p:nvSpPr>
        <p:spPr>
          <a:xfrm>
            <a:off x="4830776" y="162389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27" name="テキスト ボックス 26">
            <a:extLst>
              <a:ext uri="{FF2B5EF4-FFF2-40B4-BE49-F238E27FC236}">
                <a16:creationId xmlns:a16="http://schemas.microsoft.com/office/drawing/2014/main" id="{DE48F05F-518B-8B69-CAE4-9FC447A9510C}"/>
              </a:ext>
            </a:extLst>
          </p:cNvPr>
          <p:cNvSpPr txBox="1"/>
          <p:nvPr/>
        </p:nvSpPr>
        <p:spPr>
          <a:xfrm>
            <a:off x="334303" y="142540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28" name="テキスト ボックス 27">
            <a:extLst>
              <a:ext uri="{FF2B5EF4-FFF2-40B4-BE49-F238E27FC236}">
                <a16:creationId xmlns:a16="http://schemas.microsoft.com/office/drawing/2014/main" id="{D5D38C1D-8C53-09C4-237B-4FFBFD65D619}"/>
              </a:ext>
            </a:extLst>
          </p:cNvPr>
          <p:cNvSpPr txBox="1"/>
          <p:nvPr/>
        </p:nvSpPr>
        <p:spPr>
          <a:xfrm>
            <a:off x="1268358" y="163606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9" name="テキスト ボックス 28">
            <a:extLst>
              <a:ext uri="{FF2B5EF4-FFF2-40B4-BE49-F238E27FC236}">
                <a16:creationId xmlns:a16="http://schemas.microsoft.com/office/drawing/2014/main" id="{13FD3000-99FD-4540-2B87-0D726E46FCA6}"/>
              </a:ext>
            </a:extLst>
          </p:cNvPr>
          <p:cNvSpPr txBox="1"/>
          <p:nvPr/>
        </p:nvSpPr>
        <p:spPr>
          <a:xfrm>
            <a:off x="2202413" y="183017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30" name="テキスト ボックス 29">
            <a:extLst>
              <a:ext uri="{FF2B5EF4-FFF2-40B4-BE49-F238E27FC236}">
                <a16:creationId xmlns:a16="http://schemas.microsoft.com/office/drawing/2014/main" id="{27A03507-5C3E-DF3F-18DA-D429C2C2869A}"/>
              </a:ext>
            </a:extLst>
          </p:cNvPr>
          <p:cNvSpPr txBox="1"/>
          <p:nvPr/>
        </p:nvSpPr>
        <p:spPr>
          <a:xfrm>
            <a:off x="3136468" y="202652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32" name="コネクタ: カギ線 31">
            <a:extLst>
              <a:ext uri="{FF2B5EF4-FFF2-40B4-BE49-F238E27FC236}">
                <a16:creationId xmlns:a16="http://schemas.microsoft.com/office/drawing/2014/main" id="{3A508995-2791-7443-0604-9D0C327CA4C2}"/>
              </a:ext>
            </a:extLst>
          </p:cNvPr>
          <p:cNvCxnSpPr>
            <a:cxnSpLocks/>
            <a:stCxn id="30" idx="0"/>
            <a:endCxn id="21" idx="2"/>
          </p:cNvCxnSpPr>
          <p:nvPr/>
        </p:nvCxnSpPr>
        <p:spPr>
          <a:xfrm rot="5400000" flipH="1" flipV="1">
            <a:off x="4282287" y="178957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5" name="正方形/長方形 4">
            <a:extLst>
              <a:ext uri="{FF2B5EF4-FFF2-40B4-BE49-F238E27FC236}">
                <a16:creationId xmlns:a16="http://schemas.microsoft.com/office/drawing/2014/main" id="{83A147CB-7405-2DCF-1F21-0B8337012B05}"/>
              </a:ext>
            </a:extLst>
          </p:cNvPr>
          <p:cNvSpPr/>
          <p:nvPr/>
        </p:nvSpPr>
        <p:spPr>
          <a:xfrm>
            <a:off x="175475" y="2510144"/>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正方形/長方形 5">
            <a:extLst>
              <a:ext uri="{FF2B5EF4-FFF2-40B4-BE49-F238E27FC236}">
                <a16:creationId xmlns:a16="http://schemas.microsoft.com/office/drawing/2014/main" id="{F635E64C-0D36-F30F-0A02-3BAB66350C25}"/>
              </a:ext>
            </a:extLst>
          </p:cNvPr>
          <p:cNvSpPr/>
          <p:nvPr/>
        </p:nvSpPr>
        <p:spPr>
          <a:xfrm>
            <a:off x="4994298" y="2510143"/>
            <a:ext cx="4721072" cy="3917818"/>
          </a:xfrm>
          <a:prstGeom prst="rect">
            <a:avLst/>
          </a:prstGeom>
          <a:solidFill>
            <a:schemeClr val="bg1">
              <a:lumMod val="95000"/>
              <a:alpha val="3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E52B63D-D41D-D127-AC66-256E2241FC5B}"/>
              </a:ext>
            </a:extLst>
          </p:cNvPr>
          <p:cNvSpPr/>
          <p:nvPr/>
        </p:nvSpPr>
        <p:spPr>
          <a:xfrm>
            <a:off x="196606" y="1304119"/>
            <a:ext cx="9709394" cy="1206024"/>
          </a:xfrm>
          <a:prstGeom prst="rect">
            <a:avLst/>
          </a:prstGeom>
          <a:solidFill>
            <a:schemeClr val="bg1">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ja-JP" altLang="en-US"/>
          </a:p>
        </p:txBody>
      </p:sp>
      <p:sp>
        <p:nvSpPr>
          <p:cNvPr id="10" name="テキスト ボックス 9">
            <a:extLst>
              <a:ext uri="{FF2B5EF4-FFF2-40B4-BE49-F238E27FC236}">
                <a16:creationId xmlns:a16="http://schemas.microsoft.com/office/drawing/2014/main" id="{94C6D99A-720E-C67C-F0D7-BCC4F523B05A}"/>
              </a:ext>
            </a:extLst>
          </p:cNvPr>
          <p:cNvSpPr txBox="1"/>
          <p:nvPr/>
        </p:nvSpPr>
        <p:spPr>
          <a:xfrm>
            <a:off x="7408050" y="2033054"/>
            <a:ext cx="2352196" cy="400110"/>
          </a:xfrm>
          <a:prstGeom prst="rect">
            <a:avLst/>
          </a:prstGeom>
          <a:solidFill>
            <a:srgbClr val="1D8DFF"/>
          </a:solidFill>
        </p:spPr>
        <p:txBody>
          <a:bodyPr wrap="square">
            <a:spAutoFit/>
          </a:bodyPr>
          <a:lstStyle/>
          <a:p>
            <a:pPr>
              <a:buNone/>
            </a:pPr>
            <a:r>
              <a:rPr lang="ja-JP" altLang="en-US" sz="1100" b="1" dirty="0">
                <a:solidFill>
                  <a:schemeClr val="bg1"/>
                </a:solidFill>
                <a:latin typeface="メイリオ" panose="020B0604030504040204" pitchFamily="50" charset="-128"/>
                <a:ea typeface="メイリオ" panose="020B0604030504040204" pitchFamily="50" charset="-128"/>
              </a:rPr>
              <a:t>⑧</a:t>
            </a:r>
            <a:r>
              <a:rPr lang="en-US" altLang="ja-JP" sz="1100" b="1" dirty="0">
                <a:solidFill>
                  <a:schemeClr val="bg1"/>
                </a:solidFill>
                <a:latin typeface="メイリオ" panose="020B0604030504040204" pitchFamily="50" charset="-128"/>
                <a:ea typeface="メイリオ" panose="020B0604030504040204" pitchFamily="50" charset="-128"/>
              </a:rPr>
              <a:t>LTV</a:t>
            </a:r>
            <a:r>
              <a:rPr lang="ja-JP" altLang="en-US" sz="1100" b="1" dirty="0">
                <a:solidFill>
                  <a:schemeClr val="bg1"/>
                </a:solidFill>
                <a:latin typeface="メイリオ" panose="020B0604030504040204" pitchFamily="50" charset="-128"/>
                <a:ea typeface="メイリオ" panose="020B0604030504040204" pitchFamily="50" charset="-128"/>
              </a:rPr>
              <a:t>最大化・紹介</a:t>
            </a:r>
            <a:endParaRPr lang="en-US" altLang="ja-JP" sz="1100" b="1" dirty="0">
              <a:solidFill>
                <a:schemeClr val="bg1"/>
              </a:solidFill>
              <a:latin typeface="メイリオ" panose="020B0604030504040204" pitchFamily="50" charset="-128"/>
              <a:ea typeface="メイリオ" panose="020B0604030504040204" pitchFamily="50" charset="-128"/>
            </a:endParaRPr>
          </a:p>
          <a:p>
            <a:pPr>
              <a:buNone/>
            </a:pPr>
            <a:endParaRPr lang="ja-JP" altLang="ja-JP" sz="900" b="1" dirty="0">
              <a:solidFill>
                <a:schemeClr val="bg1"/>
              </a:solidFill>
              <a:latin typeface="メイリオ" panose="020B0604030504040204" pitchFamily="50" charset="-128"/>
              <a:ea typeface="メイリオ" panose="020B0604030504040204" pitchFamily="50" charset="-128"/>
            </a:endParaRPr>
          </a:p>
        </p:txBody>
      </p:sp>
      <p:sp>
        <p:nvSpPr>
          <p:cNvPr id="212" name="正方形/長方形 211">
            <a:extLst>
              <a:ext uri="{FF2B5EF4-FFF2-40B4-BE49-F238E27FC236}">
                <a16:creationId xmlns:a16="http://schemas.microsoft.com/office/drawing/2014/main" id="{EBFE876B-88B7-8368-241B-4213AC327DEF}"/>
              </a:ext>
            </a:extLst>
          </p:cNvPr>
          <p:cNvSpPr/>
          <p:nvPr/>
        </p:nvSpPr>
        <p:spPr>
          <a:xfrm>
            <a:off x="272142" y="2590761"/>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latin typeface="メイリオ" panose="020B0604030504040204" pitchFamily="50" charset="-128"/>
                <a:ea typeface="メイリオ" panose="020B0604030504040204" pitchFamily="50" charset="-128"/>
              </a:rPr>
              <a:t>属性把握により最適なタイミング・サービスラインを提示</a:t>
            </a:r>
          </a:p>
        </p:txBody>
      </p:sp>
      <p:sp>
        <p:nvSpPr>
          <p:cNvPr id="214" name="正方形/長方形 213">
            <a:extLst>
              <a:ext uri="{FF2B5EF4-FFF2-40B4-BE49-F238E27FC236}">
                <a16:creationId xmlns:a16="http://schemas.microsoft.com/office/drawing/2014/main" id="{BC37FCD9-3298-5435-6B9C-3FDC96F4BED5}"/>
              </a:ext>
            </a:extLst>
          </p:cNvPr>
          <p:cNvSpPr/>
          <p:nvPr/>
        </p:nvSpPr>
        <p:spPr>
          <a:xfrm>
            <a:off x="5084226" y="2584677"/>
            <a:ext cx="4541216" cy="260090"/>
          </a:xfrm>
          <a:prstGeom prst="rect">
            <a:avLst/>
          </a:prstGeom>
          <a:solidFill>
            <a:schemeClr val="tx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成約後のイメージ・アフターフォローを見える化する</a:t>
            </a:r>
            <a:endParaRPr lang="en-US" altLang="ja-JP" sz="1050" dirty="0">
              <a:latin typeface="メイリオ" panose="020B0604030504040204" pitchFamily="50" charset="-128"/>
              <a:ea typeface="メイリオ" panose="020B0604030504040204" pitchFamily="50" charset="-128"/>
            </a:endParaRPr>
          </a:p>
        </p:txBody>
      </p:sp>
      <p:sp>
        <p:nvSpPr>
          <p:cNvPr id="216" name="Shape 34">
            <a:extLst>
              <a:ext uri="{FF2B5EF4-FFF2-40B4-BE49-F238E27FC236}">
                <a16:creationId xmlns:a16="http://schemas.microsoft.com/office/drawing/2014/main" id="{031543C4-0BBC-6209-20D0-2EFA2FCEF86D}"/>
              </a:ext>
            </a:extLst>
          </p:cNvPr>
          <p:cNvSpPr/>
          <p:nvPr/>
        </p:nvSpPr>
        <p:spPr>
          <a:xfrm>
            <a:off x="265419" y="2999768"/>
            <a:ext cx="4541216" cy="1600805"/>
          </a:xfrm>
          <a:prstGeom prst="roundRect">
            <a:avLst>
              <a:gd name="adj" fmla="val 8000"/>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18" name="Shape 36">
            <a:extLst>
              <a:ext uri="{FF2B5EF4-FFF2-40B4-BE49-F238E27FC236}">
                <a16:creationId xmlns:a16="http://schemas.microsoft.com/office/drawing/2014/main" id="{101BD496-9F8B-4FB2-A6BB-61070F561E0B}"/>
              </a:ext>
            </a:extLst>
          </p:cNvPr>
          <p:cNvSpPr/>
          <p:nvPr/>
        </p:nvSpPr>
        <p:spPr>
          <a:xfrm>
            <a:off x="3568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220" name="Shape 38">
            <a:extLst>
              <a:ext uri="{FF2B5EF4-FFF2-40B4-BE49-F238E27FC236}">
                <a16:creationId xmlns:a16="http://schemas.microsoft.com/office/drawing/2014/main" id="{C11A3E69-9E4D-9846-409E-E9A711BD995E}"/>
              </a:ext>
            </a:extLst>
          </p:cNvPr>
          <p:cNvSpPr/>
          <p:nvPr/>
        </p:nvSpPr>
        <p:spPr>
          <a:xfrm>
            <a:off x="686043"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22" name="Text 39">
            <a:extLst>
              <a:ext uri="{FF2B5EF4-FFF2-40B4-BE49-F238E27FC236}">
                <a16:creationId xmlns:a16="http://schemas.microsoft.com/office/drawing/2014/main" id="{9A2D9F28-CC07-BFBF-1F09-849BDDAE374B}"/>
              </a:ext>
            </a:extLst>
          </p:cNvPr>
          <p:cNvSpPr/>
          <p:nvPr/>
        </p:nvSpPr>
        <p:spPr>
          <a:xfrm>
            <a:off x="686043" y="3109497"/>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クロスセル配信</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24" name="Text 40">
            <a:extLst>
              <a:ext uri="{FF2B5EF4-FFF2-40B4-BE49-F238E27FC236}">
                <a16:creationId xmlns:a16="http://schemas.microsoft.com/office/drawing/2014/main" id="{E07A6550-E043-DAC7-D1DE-2F58496625C9}"/>
              </a:ext>
            </a:extLst>
          </p:cNvPr>
          <p:cNvSpPr/>
          <p:nvPr/>
        </p:nvSpPr>
        <p:spPr>
          <a:xfrm>
            <a:off x="1545579"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 </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アップグレード提案で客単価を向上</a:t>
            </a:r>
            <a:endParaRPr lang="en-US" altLang="ja-JP" sz="1100" dirty="0">
              <a:latin typeface="メイリオ" panose="020B0604030504040204" pitchFamily="50" charset="-128"/>
              <a:ea typeface="メイリオ" panose="020B0604030504040204" pitchFamily="50" charset="-128"/>
            </a:endParaRPr>
          </a:p>
        </p:txBody>
      </p:sp>
      <p:sp>
        <p:nvSpPr>
          <p:cNvPr id="226" name="Text 41">
            <a:extLst>
              <a:ext uri="{FF2B5EF4-FFF2-40B4-BE49-F238E27FC236}">
                <a16:creationId xmlns:a16="http://schemas.microsoft.com/office/drawing/2014/main" id="{8B380EA5-B628-C9F7-AB4A-470FADCA002E}"/>
              </a:ext>
            </a:extLst>
          </p:cNvPr>
          <p:cNvSpPr/>
          <p:nvPr/>
        </p:nvSpPr>
        <p:spPr>
          <a:xfrm>
            <a:off x="356859" y="3383817"/>
            <a:ext cx="4449774" cy="493776"/>
          </a:xfrm>
          <a:prstGeom prst="rect">
            <a:avLst/>
          </a:prstGeom>
          <a:noFill/>
          <a:ln/>
        </p:spPr>
        <p:txBody>
          <a:bodyPr wrap="square" lIns="0" tIns="0" rIns="0" bIns="0" rtlCol="0" anchor="ctr"/>
          <a:lstStyle/>
          <a:p>
            <a:pPr>
              <a:lnSpc>
                <a:spcPct val="135000"/>
              </a:lnSpc>
            </a:pP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利用量・頻度タグを活用して「よく使っている層」に上位プラン・関連サービスを自動配信。「今のプランより月〇〇円で〇〇が追加できます」という具体的メリット提示が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CVR</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を高める。満足度が高い購入後</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3</a:t>
            </a:r>
            <a:r>
              <a:rPr lang="ja-JP" altLang="en-US" sz="850" dirty="0">
                <a:solidFill>
                  <a:srgbClr val="4A4A6A"/>
                </a:solidFill>
                <a:latin typeface="メイリオ" panose="020B0604030504040204" pitchFamily="50" charset="-128"/>
                <a:ea typeface="メイリオ" panose="020B0604030504040204" pitchFamily="50" charset="-128"/>
                <a:cs typeface="Calibri" pitchFamily="34" charset="-120"/>
              </a:rPr>
              <a:t>ヶ月が最適タイミング。</a:t>
            </a:r>
          </a:p>
        </p:txBody>
      </p:sp>
      <p:sp>
        <p:nvSpPr>
          <p:cNvPr id="228" name="Shape 42">
            <a:extLst>
              <a:ext uri="{FF2B5EF4-FFF2-40B4-BE49-F238E27FC236}">
                <a16:creationId xmlns:a16="http://schemas.microsoft.com/office/drawing/2014/main" id="{9B4B4FC2-ABA9-EE54-2AE8-6D8B446B20FF}"/>
              </a:ext>
            </a:extLst>
          </p:cNvPr>
          <p:cNvSpPr/>
          <p:nvPr/>
        </p:nvSpPr>
        <p:spPr>
          <a:xfrm>
            <a:off x="356859"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0" name="Shape 43">
            <a:extLst>
              <a:ext uri="{FF2B5EF4-FFF2-40B4-BE49-F238E27FC236}">
                <a16:creationId xmlns:a16="http://schemas.microsoft.com/office/drawing/2014/main" id="{B6DB6636-0D01-AC92-D361-5BB4DD706048}"/>
              </a:ext>
            </a:extLst>
          </p:cNvPr>
          <p:cNvSpPr/>
          <p:nvPr/>
        </p:nvSpPr>
        <p:spPr>
          <a:xfrm>
            <a:off x="411723"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32" name="Text 44">
            <a:extLst>
              <a:ext uri="{FF2B5EF4-FFF2-40B4-BE49-F238E27FC236}">
                <a16:creationId xmlns:a16="http://schemas.microsoft.com/office/drawing/2014/main" id="{AA004DDF-312A-3679-2F4A-C0D702FDE201}"/>
              </a:ext>
            </a:extLst>
          </p:cNvPr>
          <p:cNvSpPr/>
          <p:nvPr/>
        </p:nvSpPr>
        <p:spPr>
          <a:xfrm>
            <a:off x="4117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34" name="Text 45">
            <a:extLst>
              <a:ext uri="{FF2B5EF4-FFF2-40B4-BE49-F238E27FC236}">
                <a16:creationId xmlns:a16="http://schemas.microsoft.com/office/drawing/2014/main" id="{8C971CE9-8DC5-3C5A-C74E-473D1EEF0A37}"/>
              </a:ext>
            </a:extLst>
          </p:cNvPr>
          <p:cNvSpPr/>
          <p:nvPr/>
        </p:nvSpPr>
        <p:spPr>
          <a:xfrm>
            <a:off x="631179"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利用状況タグ付与</a:t>
            </a:r>
            <a:endParaRPr lang="en-US" altLang="ja-JP" sz="850" dirty="0">
              <a:latin typeface="メイリオ" panose="020B0604030504040204" pitchFamily="50" charset="-128"/>
              <a:ea typeface="メイリオ" panose="020B0604030504040204" pitchFamily="50" charset="-128"/>
            </a:endParaRPr>
          </a:p>
        </p:txBody>
      </p:sp>
      <p:sp>
        <p:nvSpPr>
          <p:cNvPr id="236" name="Text 46">
            <a:extLst>
              <a:ext uri="{FF2B5EF4-FFF2-40B4-BE49-F238E27FC236}">
                <a16:creationId xmlns:a16="http://schemas.microsoft.com/office/drawing/2014/main" id="{BDCB6CBA-6BE0-0029-00B8-F3E8C622531C}"/>
              </a:ext>
            </a:extLst>
          </p:cNvPr>
          <p:cNvSpPr/>
          <p:nvPr/>
        </p:nvSpPr>
        <p:spPr>
          <a:xfrm>
            <a:off x="411723"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高頻度ユーザー特定</a:t>
            </a:r>
            <a:endParaRPr lang="en-US" altLang="ja-JP" sz="750" dirty="0">
              <a:latin typeface="メイリオ" panose="020B0604030504040204" pitchFamily="50" charset="-128"/>
              <a:ea typeface="メイリオ" panose="020B0604030504040204" pitchFamily="50" charset="-128"/>
            </a:endParaRPr>
          </a:p>
        </p:txBody>
      </p:sp>
      <p:sp>
        <p:nvSpPr>
          <p:cNvPr id="238" name="Text 47">
            <a:extLst>
              <a:ext uri="{FF2B5EF4-FFF2-40B4-BE49-F238E27FC236}">
                <a16:creationId xmlns:a16="http://schemas.microsoft.com/office/drawing/2014/main" id="{1D84C63C-EF83-B3FE-DA12-C6FED620F69C}"/>
              </a:ext>
            </a:extLst>
          </p:cNvPr>
          <p:cNvSpPr/>
          <p:nvPr/>
        </p:nvSpPr>
        <p:spPr>
          <a:xfrm>
            <a:off x="1637019"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0" name="Shape 48">
            <a:extLst>
              <a:ext uri="{FF2B5EF4-FFF2-40B4-BE49-F238E27FC236}">
                <a16:creationId xmlns:a16="http://schemas.microsoft.com/office/drawing/2014/main" id="{0BE03B95-9AB7-E6ED-2E78-10CF317A8766}"/>
              </a:ext>
            </a:extLst>
          </p:cNvPr>
          <p:cNvSpPr/>
          <p:nvPr/>
        </p:nvSpPr>
        <p:spPr>
          <a:xfrm>
            <a:off x="1765035"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2" name="Shape 49">
            <a:extLst>
              <a:ext uri="{FF2B5EF4-FFF2-40B4-BE49-F238E27FC236}">
                <a16:creationId xmlns:a16="http://schemas.microsoft.com/office/drawing/2014/main" id="{1E6CCFE3-96DE-0131-BB9B-0F2313B82CFB}"/>
              </a:ext>
            </a:extLst>
          </p:cNvPr>
          <p:cNvSpPr/>
          <p:nvPr/>
        </p:nvSpPr>
        <p:spPr>
          <a:xfrm>
            <a:off x="1819899"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44" name="Text 50">
            <a:extLst>
              <a:ext uri="{FF2B5EF4-FFF2-40B4-BE49-F238E27FC236}">
                <a16:creationId xmlns:a16="http://schemas.microsoft.com/office/drawing/2014/main" id="{5E69FB79-6A36-8814-5961-E84046021AAC}"/>
              </a:ext>
            </a:extLst>
          </p:cNvPr>
          <p:cNvSpPr/>
          <p:nvPr/>
        </p:nvSpPr>
        <p:spPr>
          <a:xfrm>
            <a:off x="1819899"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46" name="Text 51">
            <a:extLst>
              <a:ext uri="{FF2B5EF4-FFF2-40B4-BE49-F238E27FC236}">
                <a16:creationId xmlns:a16="http://schemas.microsoft.com/office/drawing/2014/main" id="{4EBEE041-7A21-6197-B2AC-4D081A8E8AD0}"/>
              </a:ext>
            </a:extLst>
          </p:cNvPr>
          <p:cNvSpPr/>
          <p:nvPr/>
        </p:nvSpPr>
        <p:spPr>
          <a:xfrm>
            <a:off x="2039355" y="4114575"/>
            <a:ext cx="914400" cy="182880"/>
          </a:xfrm>
          <a:prstGeom prst="rect">
            <a:avLst/>
          </a:prstGeom>
          <a:noFill/>
          <a:ln/>
        </p:spPr>
        <p:txBody>
          <a:bodyPr wrap="square" lIns="0" tIns="0" rIns="0" bIns="0" rtlCol="0" anchor="ctr"/>
          <a:lstStyle/>
          <a:p>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アップセル</a:t>
            </a:r>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提案</a:t>
            </a:r>
            <a:endParaRPr lang="en-US" altLang="ja-JP" sz="850" dirty="0">
              <a:latin typeface="メイリオ" panose="020B0604030504040204" pitchFamily="50" charset="-128"/>
              <a:ea typeface="メイリオ" panose="020B0604030504040204" pitchFamily="50" charset="-128"/>
            </a:endParaRPr>
          </a:p>
        </p:txBody>
      </p:sp>
      <p:sp>
        <p:nvSpPr>
          <p:cNvPr id="248" name="Text 52">
            <a:extLst>
              <a:ext uri="{FF2B5EF4-FFF2-40B4-BE49-F238E27FC236}">
                <a16:creationId xmlns:a16="http://schemas.microsoft.com/office/drawing/2014/main" id="{07AD15D9-CD6F-2D3C-CC15-71235D18482D}"/>
              </a:ext>
            </a:extLst>
          </p:cNvPr>
          <p:cNvSpPr/>
          <p:nvPr/>
        </p:nvSpPr>
        <p:spPr>
          <a:xfrm>
            <a:off x="1819899"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具体的金額＋メリット</a:t>
            </a:r>
            <a:endParaRPr lang="en-US" altLang="ja-JP" sz="750" dirty="0">
              <a:latin typeface="メイリオ" panose="020B0604030504040204" pitchFamily="50" charset="-128"/>
              <a:ea typeface="メイリオ" panose="020B0604030504040204" pitchFamily="50" charset="-128"/>
            </a:endParaRPr>
          </a:p>
        </p:txBody>
      </p:sp>
      <p:sp>
        <p:nvSpPr>
          <p:cNvPr id="250" name="Text 53">
            <a:extLst>
              <a:ext uri="{FF2B5EF4-FFF2-40B4-BE49-F238E27FC236}">
                <a16:creationId xmlns:a16="http://schemas.microsoft.com/office/drawing/2014/main" id="{8ECA8D7C-C4A5-C970-D4A6-A16EF6F3350C}"/>
              </a:ext>
            </a:extLst>
          </p:cNvPr>
          <p:cNvSpPr/>
          <p:nvPr/>
        </p:nvSpPr>
        <p:spPr>
          <a:xfrm>
            <a:off x="3045195"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2" name="Shape 54">
            <a:extLst>
              <a:ext uri="{FF2B5EF4-FFF2-40B4-BE49-F238E27FC236}">
                <a16:creationId xmlns:a16="http://schemas.microsoft.com/office/drawing/2014/main" id="{B12A5926-50A5-13EB-6415-C90901191CBD}"/>
              </a:ext>
            </a:extLst>
          </p:cNvPr>
          <p:cNvSpPr/>
          <p:nvPr/>
        </p:nvSpPr>
        <p:spPr>
          <a:xfrm>
            <a:off x="3173211"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4" name="Shape 55">
            <a:extLst>
              <a:ext uri="{FF2B5EF4-FFF2-40B4-BE49-F238E27FC236}">
                <a16:creationId xmlns:a16="http://schemas.microsoft.com/office/drawing/2014/main" id="{2700C358-B913-5B66-30B3-A247A5CFA965}"/>
              </a:ext>
            </a:extLst>
          </p:cNvPr>
          <p:cNvSpPr/>
          <p:nvPr/>
        </p:nvSpPr>
        <p:spPr>
          <a:xfrm>
            <a:off x="3228075"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56" name="Text 56">
            <a:extLst>
              <a:ext uri="{FF2B5EF4-FFF2-40B4-BE49-F238E27FC236}">
                <a16:creationId xmlns:a16="http://schemas.microsoft.com/office/drawing/2014/main" id="{25DAB092-6EC6-4374-F29D-D2E43E4B9FEB}"/>
              </a:ext>
            </a:extLst>
          </p:cNvPr>
          <p:cNvSpPr/>
          <p:nvPr/>
        </p:nvSpPr>
        <p:spPr>
          <a:xfrm>
            <a:off x="3228075"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58" name="Text 57">
            <a:extLst>
              <a:ext uri="{FF2B5EF4-FFF2-40B4-BE49-F238E27FC236}">
                <a16:creationId xmlns:a16="http://schemas.microsoft.com/office/drawing/2014/main" id="{9DFA3811-543F-B130-C558-9F98D1BDCE28}"/>
              </a:ext>
            </a:extLst>
          </p:cNvPr>
          <p:cNvSpPr/>
          <p:nvPr/>
        </p:nvSpPr>
        <p:spPr>
          <a:xfrm>
            <a:off x="3447531"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altLang="ja-JP" sz="850" dirty="0">
              <a:latin typeface="メイリオ" panose="020B0604030504040204" pitchFamily="50" charset="-128"/>
              <a:ea typeface="メイリオ" panose="020B0604030504040204" pitchFamily="50" charset="-128"/>
            </a:endParaRPr>
          </a:p>
        </p:txBody>
      </p:sp>
      <p:sp>
        <p:nvSpPr>
          <p:cNvPr id="260" name="Text 58">
            <a:extLst>
              <a:ext uri="{FF2B5EF4-FFF2-40B4-BE49-F238E27FC236}">
                <a16:creationId xmlns:a16="http://schemas.microsoft.com/office/drawing/2014/main" id="{7A46B590-0C64-FEE3-0E7C-7EA298F486A3}"/>
              </a:ext>
            </a:extLst>
          </p:cNvPr>
          <p:cNvSpPr/>
          <p:nvPr/>
        </p:nvSpPr>
        <p:spPr>
          <a:xfrm>
            <a:off x="3228075"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客単価</a:t>
            </a: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 -- %向上</a:t>
            </a:r>
            <a:endParaRPr lang="en-US" altLang="ja-JP" sz="750" dirty="0">
              <a:latin typeface="メイリオ" panose="020B0604030504040204" pitchFamily="50" charset="-128"/>
              <a:ea typeface="メイリオ" panose="020B0604030504040204" pitchFamily="50" charset="-128"/>
            </a:endParaRPr>
          </a:p>
        </p:txBody>
      </p:sp>
      <p:sp>
        <p:nvSpPr>
          <p:cNvPr id="262" name="Shape 59">
            <a:extLst>
              <a:ext uri="{FF2B5EF4-FFF2-40B4-BE49-F238E27FC236}">
                <a16:creationId xmlns:a16="http://schemas.microsoft.com/office/drawing/2014/main" id="{17831C21-2DE0-1603-B120-3BAF591E685E}"/>
              </a:ext>
            </a:extLst>
          </p:cNvPr>
          <p:cNvSpPr/>
          <p:nvPr/>
        </p:nvSpPr>
        <p:spPr>
          <a:xfrm>
            <a:off x="265419" y="4842285"/>
            <a:ext cx="4541216" cy="1600804"/>
          </a:xfrm>
          <a:prstGeom prst="roundRect">
            <a:avLst>
              <a:gd name="adj" fmla="val 5263"/>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4" name="Shape 63">
            <a:extLst>
              <a:ext uri="{FF2B5EF4-FFF2-40B4-BE49-F238E27FC236}">
                <a16:creationId xmlns:a16="http://schemas.microsoft.com/office/drawing/2014/main" id="{E0489255-B5B1-35CB-C8E0-D92F3D34C15B}"/>
              </a:ext>
            </a:extLst>
          </p:cNvPr>
          <p:cNvSpPr/>
          <p:nvPr/>
        </p:nvSpPr>
        <p:spPr>
          <a:xfrm>
            <a:off x="686043"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66" name="Text 64">
            <a:extLst>
              <a:ext uri="{FF2B5EF4-FFF2-40B4-BE49-F238E27FC236}">
                <a16:creationId xmlns:a16="http://schemas.microsoft.com/office/drawing/2014/main" id="{45D18941-826F-30A6-3AA3-251341CB9EB1}"/>
              </a:ext>
            </a:extLst>
          </p:cNvPr>
          <p:cNvSpPr/>
          <p:nvPr/>
        </p:nvSpPr>
        <p:spPr>
          <a:xfrm>
            <a:off x="686043" y="4952013"/>
            <a:ext cx="804672" cy="201168"/>
          </a:xfrm>
          <a:prstGeom prst="rect">
            <a:avLst/>
          </a:prstGeom>
          <a:noFill/>
          <a:ln/>
        </p:spPr>
        <p:txBody>
          <a:bodyPr wrap="square" lIns="0" tIns="0" rIns="0" bIns="0" rtlCol="0" anchor="ctr"/>
          <a:lstStyle/>
          <a:p>
            <a:pPr algn="ctr"/>
            <a:r>
              <a:rPr lang="en-US" altLang="ja-JP" sz="750" b="1" dirty="0" err="1">
                <a:solidFill>
                  <a:schemeClr val="accent1"/>
                </a:solidFill>
                <a:latin typeface="メイリオ" panose="020B0604030504040204" pitchFamily="50" charset="-128"/>
                <a:ea typeface="メイリオ" panose="020B0604030504040204" pitchFamily="50" charset="-128"/>
                <a:cs typeface="Calibri" pitchFamily="34" charset="-120"/>
              </a:rPr>
              <a:t>紹介キャンペーン</a:t>
            </a:r>
            <a:endParaRPr lang="en-US" altLang="ja-JP" sz="750" dirty="0">
              <a:solidFill>
                <a:schemeClr val="accent1"/>
              </a:solidFill>
              <a:latin typeface="メイリオ" panose="020B0604030504040204" pitchFamily="50" charset="-128"/>
              <a:ea typeface="メイリオ" panose="020B0604030504040204" pitchFamily="50" charset="-128"/>
            </a:endParaRPr>
          </a:p>
        </p:txBody>
      </p:sp>
      <p:sp>
        <p:nvSpPr>
          <p:cNvPr id="268" name="Text 65">
            <a:extLst>
              <a:ext uri="{FF2B5EF4-FFF2-40B4-BE49-F238E27FC236}">
                <a16:creationId xmlns:a16="http://schemas.microsoft.com/office/drawing/2014/main" id="{46A7ADAB-7FB3-0E5E-A98A-5FA74D2FF194}"/>
              </a:ext>
            </a:extLst>
          </p:cNvPr>
          <p:cNvSpPr/>
          <p:nvPr/>
        </p:nvSpPr>
        <p:spPr>
          <a:xfrm>
            <a:off x="1545579" y="4924581"/>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紹介キャンペーン</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の誘導</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設計でゼロコスト新規獲得</a:t>
            </a:r>
            <a:endParaRPr lang="en-US" altLang="ja-JP" sz="1100" dirty="0">
              <a:latin typeface="メイリオ" panose="020B0604030504040204" pitchFamily="50" charset="-128"/>
              <a:ea typeface="メイリオ" panose="020B0604030504040204" pitchFamily="50" charset="-128"/>
            </a:endParaRPr>
          </a:p>
        </p:txBody>
      </p:sp>
      <p:sp>
        <p:nvSpPr>
          <p:cNvPr id="270" name="Text 66">
            <a:extLst>
              <a:ext uri="{FF2B5EF4-FFF2-40B4-BE49-F238E27FC236}">
                <a16:creationId xmlns:a16="http://schemas.microsoft.com/office/drawing/2014/main" id="{730ECA19-26DA-232F-404E-DBF02F6BA8B1}"/>
              </a:ext>
            </a:extLst>
          </p:cNvPr>
          <p:cNvSpPr/>
          <p:nvPr/>
        </p:nvSpPr>
        <p:spPr>
          <a:xfrm>
            <a:off x="356859" y="5226333"/>
            <a:ext cx="4449774" cy="457200"/>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お友達をご紹介いただいた方にAmazonギフト</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○○円プレゼント」をLINEで配信。満足度が最も高い利用開始3ヶ月後が最適タイミング。紹介ユーザーのLTVは通常ユーザーの1.5〜2倍で広告比CPA1/5〜1/10。</a:t>
            </a:r>
            <a:endParaRPr lang="en-US" altLang="ja-JP" sz="850" dirty="0">
              <a:latin typeface="メイリオ" panose="020B0604030504040204" pitchFamily="50" charset="-128"/>
              <a:ea typeface="メイリオ" panose="020B0604030504040204" pitchFamily="50" charset="-128"/>
            </a:endParaRPr>
          </a:p>
        </p:txBody>
      </p:sp>
      <p:sp>
        <p:nvSpPr>
          <p:cNvPr id="272" name="Shape 68">
            <a:extLst>
              <a:ext uri="{FF2B5EF4-FFF2-40B4-BE49-F238E27FC236}">
                <a16:creationId xmlns:a16="http://schemas.microsoft.com/office/drawing/2014/main" id="{462FA3CD-674C-EF8C-8AE8-10A144147A63}"/>
              </a:ext>
            </a:extLst>
          </p:cNvPr>
          <p:cNvSpPr/>
          <p:nvPr/>
        </p:nvSpPr>
        <p:spPr>
          <a:xfrm>
            <a:off x="430011" y="6011955"/>
            <a:ext cx="420624" cy="219456"/>
          </a:xfrm>
          <a:prstGeom prst="roundRect">
            <a:avLst>
              <a:gd name="adj" fmla="val 16667"/>
            </a:avLst>
          </a:prstGeom>
          <a:solidFill>
            <a:srgbClr val="E6A020"/>
          </a:solidFill>
          <a:ln w="12700">
            <a:solidFill>
              <a:srgbClr val="E6A02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4" name="Text 69">
            <a:extLst>
              <a:ext uri="{FF2B5EF4-FFF2-40B4-BE49-F238E27FC236}">
                <a16:creationId xmlns:a16="http://schemas.microsoft.com/office/drawing/2014/main" id="{11F7B611-A14B-627C-5FBB-0170B886D5EA}"/>
              </a:ext>
            </a:extLst>
          </p:cNvPr>
          <p:cNvSpPr/>
          <p:nvPr/>
        </p:nvSpPr>
        <p:spPr>
          <a:xfrm>
            <a:off x="430011" y="6011955"/>
            <a:ext cx="420624" cy="219456"/>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7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現場注意</a:t>
            </a:r>
            <a:endParaRPr kumimoji="0" lang="en-US" sz="7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76" name="Shape 71">
            <a:extLst>
              <a:ext uri="{FF2B5EF4-FFF2-40B4-BE49-F238E27FC236}">
                <a16:creationId xmlns:a16="http://schemas.microsoft.com/office/drawing/2014/main" id="{C99449D4-E546-985F-BE72-933F1694A4F7}"/>
              </a:ext>
            </a:extLst>
          </p:cNvPr>
          <p:cNvSpPr/>
          <p:nvPr/>
        </p:nvSpPr>
        <p:spPr>
          <a:xfrm>
            <a:off x="356859"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78" name="Shape 72">
            <a:extLst>
              <a:ext uri="{FF2B5EF4-FFF2-40B4-BE49-F238E27FC236}">
                <a16:creationId xmlns:a16="http://schemas.microsoft.com/office/drawing/2014/main" id="{164235F1-23EF-1248-60B7-999A0B29AA4D}"/>
              </a:ext>
            </a:extLst>
          </p:cNvPr>
          <p:cNvSpPr/>
          <p:nvPr/>
        </p:nvSpPr>
        <p:spPr>
          <a:xfrm>
            <a:off x="411723"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80" name="Text 73">
            <a:extLst>
              <a:ext uri="{FF2B5EF4-FFF2-40B4-BE49-F238E27FC236}">
                <a16:creationId xmlns:a16="http://schemas.microsoft.com/office/drawing/2014/main" id="{12B0160C-FE2A-C7A4-E0AD-74F3D0F9BB4B}"/>
              </a:ext>
            </a:extLst>
          </p:cNvPr>
          <p:cNvSpPr/>
          <p:nvPr/>
        </p:nvSpPr>
        <p:spPr>
          <a:xfrm>
            <a:off x="4117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2" name="Text 74">
            <a:extLst>
              <a:ext uri="{FF2B5EF4-FFF2-40B4-BE49-F238E27FC236}">
                <a16:creationId xmlns:a16="http://schemas.microsoft.com/office/drawing/2014/main" id="{5E79EB16-FC89-25AD-ABF7-33918A2FDFC6}"/>
              </a:ext>
            </a:extLst>
          </p:cNvPr>
          <p:cNvSpPr/>
          <p:nvPr/>
        </p:nvSpPr>
        <p:spPr>
          <a:xfrm>
            <a:off x="631179"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紹介特典を配信</a:t>
            </a:r>
            <a:endParaRPr lang="en-US" altLang="ja-JP" sz="850" dirty="0">
              <a:latin typeface="メイリオ" panose="020B0604030504040204" pitchFamily="50" charset="-128"/>
              <a:ea typeface="メイリオ" panose="020B0604030504040204" pitchFamily="50" charset="-128"/>
            </a:endParaRPr>
          </a:p>
        </p:txBody>
      </p:sp>
      <p:sp>
        <p:nvSpPr>
          <p:cNvPr id="284" name="Text 75">
            <a:extLst>
              <a:ext uri="{FF2B5EF4-FFF2-40B4-BE49-F238E27FC236}">
                <a16:creationId xmlns:a16="http://schemas.microsoft.com/office/drawing/2014/main" id="{64C81502-47D8-FD41-CAA1-246D2A7C55F4}"/>
              </a:ext>
            </a:extLst>
          </p:cNvPr>
          <p:cNvSpPr/>
          <p:nvPr/>
        </p:nvSpPr>
        <p:spPr>
          <a:xfrm>
            <a:off x="411723" y="6167403"/>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満足度高い3ヶ月後</a:t>
            </a:r>
            <a:endParaRPr lang="en-US" altLang="ja-JP" sz="750" dirty="0">
              <a:latin typeface="メイリオ" panose="020B0604030504040204" pitchFamily="50" charset="-128"/>
              <a:ea typeface="メイリオ" panose="020B0604030504040204" pitchFamily="50" charset="-128"/>
            </a:endParaRPr>
          </a:p>
        </p:txBody>
      </p:sp>
      <p:sp>
        <p:nvSpPr>
          <p:cNvPr id="286" name="Text 76">
            <a:extLst>
              <a:ext uri="{FF2B5EF4-FFF2-40B4-BE49-F238E27FC236}">
                <a16:creationId xmlns:a16="http://schemas.microsoft.com/office/drawing/2014/main" id="{DDBCEA73-1ED9-CA4D-8311-CAF89AE71249}"/>
              </a:ext>
            </a:extLst>
          </p:cNvPr>
          <p:cNvSpPr/>
          <p:nvPr/>
        </p:nvSpPr>
        <p:spPr>
          <a:xfrm>
            <a:off x="1637019"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88" name="Shape 77">
            <a:extLst>
              <a:ext uri="{FF2B5EF4-FFF2-40B4-BE49-F238E27FC236}">
                <a16:creationId xmlns:a16="http://schemas.microsoft.com/office/drawing/2014/main" id="{4A9CE2B6-4FF8-B0CB-C568-0E29CCB25364}"/>
              </a:ext>
            </a:extLst>
          </p:cNvPr>
          <p:cNvSpPr/>
          <p:nvPr/>
        </p:nvSpPr>
        <p:spPr>
          <a:xfrm>
            <a:off x="1765035"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0" name="Shape 78">
            <a:extLst>
              <a:ext uri="{FF2B5EF4-FFF2-40B4-BE49-F238E27FC236}">
                <a16:creationId xmlns:a16="http://schemas.microsoft.com/office/drawing/2014/main" id="{FB713A24-D0F7-6DC1-B787-27EFB8E42CD6}"/>
              </a:ext>
            </a:extLst>
          </p:cNvPr>
          <p:cNvSpPr/>
          <p:nvPr/>
        </p:nvSpPr>
        <p:spPr>
          <a:xfrm>
            <a:off x="1819899"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292" name="Text 79">
            <a:extLst>
              <a:ext uri="{FF2B5EF4-FFF2-40B4-BE49-F238E27FC236}">
                <a16:creationId xmlns:a16="http://schemas.microsoft.com/office/drawing/2014/main" id="{37FF5E38-4F70-1C68-3580-FD6C0D20C5DF}"/>
              </a:ext>
            </a:extLst>
          </p:cNvPr>
          <p:cNvSpPr/>
          <p:nvPr/>
        </p:nvSpPr>
        <p:spPr>
          <a:xfrm>
            <a:off x="1819899"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294" name="Text 80">
            <a:extLst>
              <a:ext uri="{FF2B5EF4-FFF2-40B4-BE49-F238E27FC236}">
                <a16:creationId xmlns:a16="http://schemas.microsoft.com/office/drawing/2014/main" id="{5C71A4A8-6960-FBE7-CE24-A77A0C89DFFD}"/>
              </a:ext>
            </a:extLst>
          </p:cNvPr>
          <p:cNvSpPr/>
          <p:nvPr/>
        </p:nvSpPr>
        <p:spPr>
          <a:xfrm>
            <a:off x="2039355"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LINEシェア</a:t>
            </a:r>
            <a:endParaRPr lang="en-US" altLang="ja-JP" sz="850" dirty="0">
              <a:latin typeface="メイリオ" panose="020B0604030504040204" pitchFamily="50" charset="-128"/>
              <a:ea typeface="メイリオ" panose="020B0604030504040204" pitchFamily="50" charset="-128"/>
            </a:endParaRPr>
          </a:p>
        </p:txBody>
      </p:sp>
      <p:sp>
        <p:nvSpPr>
          <p:cNvPr id="296" name="Text 81">
            <a:extLst>
              <a:ext uri="{FF2B5EF4-FFF2-40B4-BE49-F238E27FC236}">
                <a16:creationId xmlns:a16="http://schemas.microsoft.com/office/drawing/2014/main" id="{F823702E-E3FF-CBCE-0A20-E5381533CBF2}"/>
              </a:ext>
            </a:extLst>
          </p:cNvPr>
          <p:cNvSpPr/>
          <p:nvPr/>
        </p:nvSpPr>
        <p:spPr>
          <a:xfrm>
            <a:off x="1819899"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心理ハードル最低</a:t>
            </a:r>
            <a:endParaRPr lang="en-US" altLang="ja-JP" sz="750" dirty="0">
              <a:latin typeface="メイリオ" panose="020B0604030504040204" pitchFamily="50" charset="-128"/>
              <a:ea typeface="メイリオ" panose="020B0604030504040204" pitchFamily="50" charset="-128"/>
            </a:endParaRPr>
          </a:p>
        </p:txBody>
      </p:sp>
      <p:sp>
        <p:nvSpPr>
          <p:cNvPr id="298" name="Text 82">
            <a:extLst>
              <a:ext uri="{FF2B5EF4-FFF2-40B4-BE49-F238E27FC236}">
                <a16:creationId xmlns:a16="http://schemas.microsoft.com/office/drawing/2014/main" id="{A83E74AB-BECE-59CE-D634-A3A5C9A361C9}"/>
              </a:ext>
            </a:extLst>
          </p:cNvPr>
          <p:cNvSpPr/>
          <p:nvPr/>
        </p:nvSpPr>
        <p:spPr>
          <a:xfrm>
            <a:off x="3045195"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0" name="Shape 83">
            <a:extLst>
              <a:ext uri="{FF2B5EF4-FFF2-40B4-BE49-F238E27FC236}">
                <a16:creationId xmlns:a16="http://schemas.microsoft.com/office/drawing/2014/main" id="{B99E233A-6870-51BA-7438-99DBD2BE03C3}"/>
              </a:ext>
            </a:extLst>
          </p:cNvPr>
          <p:cNvSpPr/>
          <p:nvPr/>
        </p:nvSpPr>
        <p:spPr>
          <a:xfrm>
            <a:off x="3173211"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2" name="Shape 84">
            <a:extLst>
              <a:ext uri="{FF2B5EF4-FFF2-40B4-BE49-F238E27FC236}">
                <a16:creationId xmlns:a16="http://schemas.microsoft.com/office/drawing/2014/main" id="{14136A19-FB98-4163-504D-27BC3C347109}"/>
              </a:ext>
            </a:extLst>
          </p:cNvPr>
          <p:cNvSpPr/>
          <p:nvPr/>
        </p:nvSpPr>
        <p:spPr>
          <a:xfrm>
            <a:off x="3228075"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04" name="Text 85">
            <a:extLst>
              <a:ext uri="{FF2B5EF4-FFF2-40B4-BE49-F238E27FC236}">
                <a16:creationId xmlns:a16="http://schemas.microsoft.com/office/drawing/2014/main" id="{B1261818-8213-92C4-5F69-CDB1FEED7D6B}"/>
              </a:ext>
            </a:extLst>
          </p:cNvPr>
          <p:cNvSpPr/>
          <p:nvPr/>
        </p:nvSpPr>
        <p:spPr>
          <a:xfrm>
            <a:off x="3228075"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06" name="Text 86">
            <a:extLst>
              <a:ext uri="{FF2B5EF4-FFF2-40B4-BE49-F238E27FC236}">
                <a16:creationId xmlns:a16="http://schemas.microsoft.com/office/drawing/2014/main" id="{2F5670AB-004B-F8FE-78FA-0194BCE83E05}"/>
              </a:ext>
            </a:extLst>
          </p:cNvPr>
          <p:cNvSpPr/>
          <p:nvPr/>
        </p:nvSpPr>
        <p:spPr>
          <a:xfrm>
            <a:off x="3447530" y="5957091"/>
            <a:ext cx="1060705"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紹介経由＋特典付与</a:t>
            </a:r>
            <a:endParaRPr lang="en-US" altLang="ja-JP" sz="850" dirty="0">
              <a:latin typeface="メイリオ" panose="020B0604030504040204" pitchFamily="50" charset="-128"/>
              <a:ea typeface="メイリオ" panose="020B0604030504040204" pitchFamily="50" charset="-128"/>
            </a:endParaRPr>
          </a:p>
        </p:txBody>
      </p:sp>
      <p:sp>
        <p:nvSpPr>
          <p:cNvPr id="308" name="Text 87">
            <a:extLst>
              <a:ext uri="{FF2B5EF4-FFF2-40B4-BE49-F238E27FC236}">
                <a16:creationId xmlns:a16="http://schemas.microsoft.com/office/drawing/2014/main" id="{DC6BE138-921D-A694-0DAC-F5A995A4F15D}"/>
              </a:ext>
            </a:extLst>
          </p:cNvPr>
          <p:cNvSpPr/>
          <p:nvPr/>
        </p:nvSpPr>
        <p:spPr>
          <a:xfrm>
            <a:off x="3228075"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ツール連携で自動追跡</a:t>
            </a:r>
            <a:endParaRPr lang="en-US" altLang="ja-JP" sz="750" dirty="0">
              <a:latin typeface="メイリオ" panose="020B0604030504040204" pitchFamily="50" charset="-128"/>
              <a:ea typeface="メイリオ" panose="020B0604030504040204" pitchFamily="50" charset="-128"/>
            </a:endParaRPr>
          </a:p>
        </p:txBody>
      </p:sp>
      <p:sp>
        <p:nvSpPr>
          <p:cNvPr id="310" name="Shape 88">
            <a:extLst>
              <a:ext uri="{FF2B5EF4-FFF2-40B4-BE49-F238E27FC236}">
                <a16:creationId xmlns:a16="http://schemas.microsoft.com/office/drawing/2014/main" id="{00EA83A8-D640-D726-5B4E-5B7E5CC8BB06}"/>
              </a:ext>
            </a:extLst>
          </p:cNvPr>
          <p:cNvSpPr/>
          <p:nvPr/>
        </p:nvSpPr>
        <p:spPr>
          <a:xfrm>
            <a:off x="5099366" y="2999769"/>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2" name="Shape 92">
            <a:extLst>
              <a:ext uri="{FF2B5EF4-FFF2-40B4-BE49-F238E27FC236}">
                <a16:creationId xmlns:a16="http://schemas.microsoft.com/office/drawing/2014/main" id="{2ED50188-C3E8-671B-437B-FE9D09CB0C8A}"/>
              </a:ext>
            </a:extLst>
          </p:cNvPr>
          <p:cNvSpPr/>
          <p:nvPr/>
        </p:nvSpPr>
        <p:spPr>
          <a:xfrm>
            <a:off x="5519991" y="3109497"/>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14" name="Text 93">
            <a:extLst>
              <a:ext uri="{FF2B5EF4-FFF2-40B4-BE49-F238E27FC236}">
                <a16:creationId xmlns:a16="http://schemas.microsoft.com/office/drawing/2014/main" id="{F6E39E70-FE8A-DE23-0A39-4AE1241BE1AD}"/>
              </a:ext>
            </a:extLst>
          </p:cNvPr>
          <p:cNvSpPr/>
          <p:nvPr/>
        </p:nvSpPr>
        <p:spPr>
          <a:xfrm>
            <a:off x="5519991" y="3109497"/>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再接触</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16" name="Text 94">
            <a:extLst>
              <a:ext uri="{FF2B5EF4-FFF2-40B4-BE49-F238E27FC236}">
                <a16:creationId xmlns:a16="http://schemas.microsoft.com/office/drawing/2014/main" id="{2B080416-8CAA-F775-2812-CDE294817703}"/>
              </a:ext>
            </a:extLst>
          </p:cNvPr>
          <p:cNvSpPr/>
          <p:nvPr/>
        </p:nvSpPr>
        <p:spPr>
          <a:xfrm>
            <a:off x="6379527" y="3082065"/>
            <a:ext cx="3319066" cy="256032"/>
          </a:xfrm>
          <a:prstGeom prst="rect">
            <a:avLst/>
          </a:prstGeom>
          <a:noFill/>
          <a:ln/>
        </p:spPr>
        <p:txBody>
          <a:bodyPr wrap="square" lIns="0" tIns="0" rIns="0" bIns="0" rtlCol="0" anchor="ctr"/>
          <a:lstStyle/>
          <a:p>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長期離脱</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層</a:t>
            </a:r>
            <a:r>
              <a:rPr lang="en-US" altLang="ja-JP" sz="1100" b="1" dirty="0" err="1">
                <a:solidFill>
                  <a:srgbClr val="1A1A2E"/>
                </a:solidFill>
                <a:latin typeface="メイリオ" panose="020B0604030504040204" pitchFamily="50" charset="-128"/>
                <a:ea typeface="メイリオ" panose="020B0604030504040204" pitchFamily="50" charset="-128"/>
                <a:cs typeface="Calibri" pitchFamily="34" charset="-120"/>
              </a:rPr>
              <a:t>へコンテンツ型ギフトで関係再構築</a:t>
            </a:r>
            <a:endParaRPr lang="en-US" altLang="ja-JP" sz="1100" dirty="0">
              <a:latin typeface="メイリオ" panose="020B0604030504040204" pitchFamily="50" charset="-128"/>
              <a:ea typeface="メイリオ" panose="020B0604030504040204" pitchFamily="50" charset="-128"/>
            </a:endParaRPr>
          </a:p>
        </p:txBody>
      </p:sp>
      <p:sp>
        <p:nvSpPr>
          <p:cNvPr id="318" name="Text 95">
            <a:extLst>
              <a:ext uri="{FF2B5EF4-FFF2-40B4-BE49-F238E27FC236}">
                <a16:creationId xmlns:a16="http://schemas.microsoft.com/office/drawing/2014/main" id="{56FA365B-5BDE-ED2F-4006-8ED9F6DCA2CB}"/>
              </a:ext>
            </a:extLst>
          </p:cNvPr>
          <p:cNvSpPr/>
          <p:nvPr/>
        </p:nvSpPr>
        <p:spPr>
          <a:xfrm>
            <a:off x="5190807" y="3383817"/>
            <a:ext cx="4449774" cy="493776"/>
          </a:xfrm>
          <a:prstGeom prst="rect">
            <a:avLst/>
          </a:prstGeom>
          <a:noFill/>
          <a:ln/>
        </p:spPr>
        <p:txBody>
          <a:bodyPr wrap="square" lIns="0" tIns="0" rIns="0" bIns="0" rtlCol="0" anchor="ctr"/>
          <a:lstStyle/>
          <a:p>
            <a:pPr>
              <a:lnSpc>
                <a:spcPct val="135000"/>
              </a:lnSpc>
            </a:pP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6ヶ月以上アクションなしのユーザーに「ご無沙汰しています。最近こんな情報があります」という業界ニュース・役立つコンテンツ型で再接触。最初の2〜3回は純粋にギフトとして届け、関係を再構築してからCV訴求する。</a:t>
            </a:r>
            <a:endParaRPr lang="en-US" altLang="ja-JP" sz="850" dirty="0">
              <a:latin typeface="メイリオ" panose="020B0604030504040204" pitchFamily="50" charset="-128"/>
              <a:ea typeface="メイリオ" panose="020B0604030504040204" pitchFamily="50" charset="-128"/>
            </a:endParaRPr>
          </a:p>
        </p:txBody>
      </p:sp>
      <p:sp>
        <p:nvSpPr>
          <p:cNvPr id="320" name="Shape 96">
            <a:extLst>
              <a:ext uri="{FF2B5EF4-FFF2-40B4-BE49-F238E27FC236}">
                <a16:creationId xmlns:a16="http://schemas.microsoft.com/office/drawing/2014/main" id="{1E05EEB3-91EB-E94B-2D69-D35527B446BF}"/>
              </a:ext>
            </a:extLst>
          </p:cNvPr>
          <p:cNvSpPr/>
          <p:nvPr/>
        </p:nvSpPr>
        <p:spPr>
          <a:xfrm>
            <a:off x="5190807"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2" name="Shape 97">
            <a:extLst>
              <a:ext uri="{FF2B5EF4-FFF2-40B4-BE49-F238E27FC236}">
                <a16:creationId xmlns:a16="http://schemas.microsoft.com/office/drawing/2014/main" id="{BA904CD8-501F-A1E3-D3ED-D2CCD783E4DC}"/>
              </a:ext>
            </a:extLst>
          </p:cNvPr>
          <p:cNvSpPr/>
          <p:nvPr/>
        </p:nvSpPr>
        <p:spPr>
          <a:xfrm>
            <a:off x="5245671"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24" name="Text 98">
            <a:extLst>
              <a:ext uri="{FF2B5EF4-FFF2-40B4-BE49-F238E27FC236}">
                <a16:creationId xmlns:a16="http://schemas.microsoft.com/office/drawing/2014/main" id="{35DBBF69-D787-B899-0A91-599E4F6F88FD}"/>
              </a:ext>
            </a:extLst>
          </p:cNvPr>
          <p:cNvSpPr/>
          <p:nvPr/>
        </p:nvSpPr>
        <p:spPr>
          <a:xfrm>
            <a:off x="5245671"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26" name="Text 99">
            <a:extLst>
              <a:ext uri="{FF2B5EF4-FFF2-40B4-BE49-F238E27FC236}">
                <a16:creationId xmlns:a16="http://schemas.microsoft.com/office/drawing/2014/main" id="{571F5D58-D9F5-DDDB-BBA8-754874B6BA6A}"/>
              </a:ext>
            </a:extLst>
          </p:cNvPr>
          <p:cNvSpPr/>
          <p:nvPr/>
        </p:nvSpPr>
        <p:spPr>
          <a:xfrm>
            <a:off x="5465127"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役立つ情報のみ</a:t>
            </a:r>
            <a:endParaRPr lang="en-US" altLang="ja-JP" sz="850" dirty="0">
              <a:latin typeface="メイリオ" panose="020B0604030504040204" pitchFamily="50" charset="-128"/>
              <a:ea typeface="メイリオ" panose="020B0604030504040204" pitchFamily="50" charset="-128"/>
            </a:endParaRPr>
          </a:p>
        </p:txBody>
      </p:sp>
      <p:sp>
        <p:nvSpPr>
          <p:cNvPr id="328" name="Text 100">
            <a:extLst>
              <a:ext uri="{FF2B5EF4-FFF2-40B4-BE49-F238E27FC236}">
                <a16:creationId xmlns:a16="http://schemas.microsoft.com/office/drawing/2014/main" id="{ED413E21-4A95-D38C-61A6-621C9118C6E5}"/>
              </a:ext>
            </a:extLst>
          </p:cNvPr>
          <p:cNvSpPr/>
          <p:nvPr/>
        </p:nvSpPr>
        <p:spPr>
          <a:xfrm>
            <a:off x="5245671"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4A4A6A"/>
                </a:solidFill>
                <a:latin typeface="メイリオ" panose="020B0604030504040204" pitchFamily="50" charset="-128"/>
                <a:ea typeface="メイリオ" panose="020B0604030504040204" pitchFamily="50" charset="-128"/>
                <a:cs typeface="Calibri" pitchFamily="34" charset="-120"/>
              </a:rPr>
              <a:t>売り込みゼロ×2〜3回</a:t>
            </a:r>
            <a:endParaRPr lang="en-US" altLang="ja-JP" sz="750" dirty="0">
              <a:latin typeface="メイリオ" panose="020B0604030504040204" pitchFamily="50" charset="-128"/>
              <a:ea typeface="メイリオ" panose="020B0604030504040204" pitchFamily="50" charset="-128"/>
            </a:endParaRPr>
          </a:p>
        </p:txBody>
      </p:sp>
      <p:sp>
        <p:nvSpPr>
          <p:cNvPr id="330" name="Text 101">
            <a:extLst>
              <a:ext uri="{FF2B5EF4-FFF2-40B4-BE49-F238E27FC236}">
                <a16:creationId xmlns:a16="http://schemas.microsoft.com/office/drawing/2014/main" id="{CCFB2388-34C1-5BB1-7989-946A3B745B6A}"/>
              </a:ext>
            </a:extLst>
          </p:cNvPr>
          <p:cNvSpPr/>
          <p:nvPr/>
        </p:nvSpPr>
        <p:spPr>
          <a:xfrm>
            <a:off x="6470967"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2" name="Shape 102">
            <a:extLst>
              <a:ext uri="{FF2B5EF4-FFF2-40B4-BE49-F238E27FC236}">
                <a16:creationId xmlns:a16="http://schemas.microsoft.com/office/drawing/2014/main" id="{F8446415-1501-E693-C4B3-EB8C32C67E45}"/>
              </a:ext>
            </a:extLst>
          </p:cNvPr>
          <p:cNvSpPr/>
          <p:nvPr/>
        </p:nvSpPr>
        <p:spPr>
          <a:xfrm>
            <a:off x="6598983" y="4077999"/>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4" name="Shape 103">
            <a:extLst>
              <a:ext uri="{FF2B5EF4-FFF2-40B4-BE49-F238E27FC236}">
                <a16:creationId xmlns:a16="http://schemas.microsoft.com/office/drawing/2014/main" id="{A98E62F3-DFAB-3380-0063-854CD3B54274}"/>
              </a:ext>
            </a:extLst>
          </p:cNvPr>
          <p:cNvSpPr/>
          <p:nvPr/>
        </p:nvSpPr>
        <p:spPr>
          <a:xfrm>
            <a:off x="6653847" y="4132863"/>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36" name="Text 104">
            <a:extLst>
              <a:ext uri="{FF2B5EF4-FFF2-40B4-BE49-F238E27FC236}">
                <a16:creationId xmlns:a16="http://schemas.microsoft.com/office/drawing/2014/main" id="{415DB8B7-F668-AC7A-CE33-494F03854BD4}"/>
              </a:ext>
            </a:extLst>
          </p:cNvPr>
          <p:cNvSpPr/>
          <p:nvPr/>
        </p:nvSpPr>
        <p:spPr>
          <a:xfrm>
            <a:off x="6653847"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38" name="Text 105">
            <a:extLst>
              <a:ext uri="{FF2B5EF4-FFF2-40B4-BE49-F238E27FC236}">
                <a16:creationId xmlns:a16="http://schemas.microsoft.com/office/drawing/2014/main" id="{FA1DC66E-AF0D-0985-0802-20D85E926CA0}"/>
              </a:ext>
            </a:extLst>
          </p:cNvPr>
          <p:cNvSpPr/>
          <p:nvPr/>
        </p:nvSpPr>
        <p:spPr>
          <a:xfrm>
            <a:off x="6873303" y="4114575"/>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関係再構築完了</a:t>
            </a:r>
            <a:endParaRPr lang="en-US" altLang="ja-JP" sz="850" dirty="0">
              <a:latin typeface="メイリオ" panose="020B0604030504040204" pitchFamily="50" charset="-128"/>
              <a:ea typeface="メイリオ" panose="020B0604030504040204" pitchFamily="50" charset="-128"/>
            </a:endParaRPr>
          </a:p>
        </p:txBody>
      </p:sp>
      <p:sp>
        <p:nvSpPr>
          <p:cNvPr id="340" name="Text 106">
            <a:extLst>
              <a:ext uri="{FF2B5EF4-FFF2-40B4-BE49-F238E27FC236}">
                <a16:creationId xmlns:a16="http://schemas.microsoft.com/office/drawing/2014/main" id="{4D8603BB-BC34-BD19-18F7-38CF49867740}"/>
              </a:ext>
            </a:extLst>
          </p:cNvPr>
          <p:cNvSpPr/>
          <p:nvPr/>
        </p:nvSpPr>
        <p:spPr>
          <a:xfrm>
            <a:off x="6653847" y="4324887"/>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ブロック率を抑制</a:t>
            </a:r>
            <a:endParaRPr lang="en-US" altLang="ja-JP" sz="750" dirty="0">
              <a:latin typeface="メイリオ" panose="020B0604030504040204" pitchFamily="50" charset="-128"/>
              <a:ea typeface="メイリオ" panose="020B0604030504040204" pitchFamily="50" charset="-128"/>
            </a:endParaRPr>
          </a:p>
        </p:txBody>
      </p:sp>
      <p:sp>
        <p:nvSpPr>
          <p:cNvPr id="342" name="Text 107">
            <a:extLst>
              <a:ext uri="{FF2B5EF4-FFF2-40B4-BE49-F238E27FC236}">
                <a16:creationId xmlns:a16="http://schemas.microsoft.com/office/drawing/2014/main" id="{588E7835-072B-748B-58F3-CA6AFC64CEFD}"/>
              </a:ext>
            </a:extLst>
          </p:cNvPr>
          <p:cNvSpPr/>
          <p:nvPr/>
        </p:nvSpPr>
        <p:spPr>
          <a:xfrm>
            <a:off x="7879143" y="4233447"/>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44" name="Shape 108">
            <a:extLst>
              <a:ext uri="{FF2B5EF4-FFF2-40B4-BE49-F238E27FC236}">
                <a16:creationId xmlns:a16="http://schemas.microsoft.com/office/drawing/2014/main" id="{4F170C42-630C-8D4B-FBB8-27015876762A}"/>
              </a:ext>
            </a:extLst>
          </p:cNvPr>
          <p:cNvSpPr/>
          <p:nvPr/>
        </p:nvSpPr>
        <p:spPr>
          <a:xfrm>
            <a:off x="8007159" y="4077999"/>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6" name="Shape 109">
            <a:extLst>
              <a:ext uri="{FF2B5EF4-FFF2-40B4-BE49-F238E27FC236}">
                <a16:creationId xmlns:a16="http://schemas.microsoft.com/office/drawing/2014/main" id="{4949CD92-D7C3-604E-24C2-5DF64D165947}"/>
              </a:ext>
            </a:extLst>
          </p:cNvPr>
          <p:cNvSpPr/>
          <p:nvPr/>
        </p:nvSpPr>
        <p:spPr>
          <a:xfrm>
            <a:off x="8062023" y="4132863"/>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48" name="Text 110">
            <a:extLst>
              <a:ext uri="{FF2B5EF4-FFF2-40B4-BE49-F238E27FC236}">
                <a16:creationId xmlns:a16="http://schemas.microsoft.com/office/drawing/2014/main" id="{89D2F0E4-B8EC-3B98-9281-44E80C6C2F05}"/>
              </a:ext>
            </a:extLst>
          </p:cNvPr>
          <p:cNvSpPr/>
          <p:nvPr/>
        </p:nvSpPr>
        <p:spPr>
          <a:xfrm>
            <a:off x="8062023" y="4132863"/>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50" name="Text 111">
            <a:extLst>
              <a:ext uri="{FF2B5EF4-FFF2-40B4-BE49-F238E27FC236}">
                <a16:creationId xmlns:a16="http://schemas.microsoft.com/office/drawing/2014/main" id="{86FADA7D-7380-B2D4-BB29-67FA3FF02D03}"/>
              </a:ext>
            </a:extLst>
          </p:cNvPr>
          <p:cNvSpPr/>
          <p:nvPr/>
        </p:nvSpPr>
        <p:spPr>
          <a:xfrm>
            <a:off x="8281479" y="4114575"/>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自然な形でCV訴求</a:t>
            </a:r>
            <a:endParaRPr lang="en-US" altLang="ja-JP" sz="850" dirty="0">
              <a:latin typeface="メイリオ" panose="020B0604030504040204" pitchFamily="50" charset="-128"/>
              <a:ea typeface="メイリオ" panose="020B0604030504040204" pitchFamily="50" charset="-128"/>
            </a:endParaRPr>
          </a:p>
        </p:txBody>
      </p:sp>
      <p:sp>
        <p:nvSpPr>
          <p:cNvPr id="352" name="Text 112">
            <a:extLst>
              <a:ext uri="{FF2B5EF4-FFF2-40B4-BE49-F238E27FC236}">
                <a16:creationId xmlns:a16="http://schemas.microsoft.com/office/drawing/2014/main" id="{281ABCCF-C22A-E77A-4B67-210FD1F78104}"/>
              </a:ext>
            </a:extLst>
          </p:cNvPr>
          <p:cNvSpPr/>
          <p:nvPr/>
        </p:nvSpPr>
        <p:spPr>
          <a:xfrm>
            <a:off x="8062023" y="4324887"/>
            <a:ext cx="1133856" cy="201168"/>
          </a:xfrm>
          <a:prstGeom prst="rect">
            <a:avLst/>
          </a:prstGeom>
          <a:noFill/>
          <a:ln/>
        </p:spPr>
        <p:txBody>
          <a:bodyPr wrap="square" lIns="0" tIns="0" rIns="0" bIns="0" rtlCol="0" anchor="ctr"/>
          <a:lstStyle/>
          <a:p>
            <a:pPr>
              <a:lnSpc>
                <a:spcPct val="115000"/>
              </a:lnSpc>
            </a:pPr>
            <a:r>
              <a:rPr lang="en-US" altLang="ja-JP" sz="750" dirty="0">
                <a:solidFill>
                  <a:srgbClr val="D0E8FF"/>
                </a:solidFill>
                <a:latin typeface="メイリオ" panose="020B0604030504040204" pitchFamily="50" charset="-128"/>
                <a:ea typeface="メイリオ" panose="020B0604030504040204" pitchFamily="50" charset="-128"/>
                <a:cs typeface="Calibri" pitchFamily="34" charset="-120"/>
              </a:rPr>
              <a:t>再購入率10%</a:t>
            </a:r>
            <a:r>
              <a:rPr lang="ja-JP" altLang="en-US" sz="750" dirty="0">
                <a:solidFill>
                  <a:srgbClr val="D0E8FF"/>
                </a:solidFill>
                <a:latin typeface="メイリオ" panose="020B0604030504040204" pitchFamily="50" charset="-128"/>
                <a:ea typeface="メイリオ" panose="020B0604030504040204" pitchFamily="50" charset="-128"/>
                <a:cs typeface="Calibri" pitchFamily="34" charset="-120"/>
              </a:rPr>
              <a:t>前後</a:t>
            </a:r>
            <a:endParaRPr lang="en-US" altLang="ja-JP" sz="750" dirty="0">
              <a:latin typeface="メイリオ" panose="020B0604030504040204" pitchFamily="50" charset="-128"/>
              <a:ea typeface="メイリオ" panose="020B0604030504040204" pitchFamily="50" charset="-128"/>
            </a:endParaRPr>
          </a:p>
        </p:txBody>
      </p:sp>
      <p:sp>
        <p:nvSpPr>
          <p:cNvPr id="354" name="Shape 113">
            <a:extLst>
              <a:ext uri="{FF2B5EF4-FFF2-40B4-BE49-F238E27FC236}">
                <a16:creationId xmlns:a16="http://schemas.microsoft.com/office/drawing/2014/main" id="{971278A0-D337-07E8-607D-BF93BE0DD844}"/>
              </a:ext>
            </a:extLst>
          </p:cNvPr>
          <p:cNvSpPr/>
          <p:nvPr/>
        </p:nvSpPr>
        <p:spPr>
          <a:xfrm>
            <a:off x="5099366" y="4842285"/>
            <a:ext cx="4526075" cy="1600806"/>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6" name="Shape 117">
            <a:extLst>
              <a:ext uri="{FF2B5EF4-FFF2-40B4-BE49-F238E27FC236}">
                <a16:creationId xmlns:a16="http://schemas.microsoft.com/office/drawing/2014/main" id="{F47773F9-0CEF-F0E1-89AB-B3B4EFC203DB}"/>
              </a:ext>
            </a:extLst>
          </p:cNvPr>
          <p:cNvSpPr/>
          <p:nvPr/>
        </p:nvSpPr>
        <p:spPr>
          <a:xfrm>
            <a:off x="5519991" y="4952013"/>
            <a:ext cx="804672" cy="201168"/>
          </a:xfrm>
          <a:prstGeom prst="roundRect">
            <a:avLst>
              <a:gd name="adj" fmla="val 18182"/>
            </a:avLst>
          </a:prstGeom>
          <a:solidFill>
            <a:srgbClr val="FFFFFF"/>
          </a:solidFill>
          <a:ln w="12700">
            <a:solidFill>
              <a:srgbClr val="D0D3E4"/>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58" name="Text 118">
            <a:extLst>
              <a:ext uri="{FF2B5EF4-FFF2-40B4-BE49-F238E27FC236}">
                <a16:creationId xmlns:a16="http://schemas.microsoft.com/office/drawing/2014/main" id="{5E262051-72BB-2E2F-38AC-EAC107F4BF2D}"/>
              </a:ext>
            </a:extLst>
          </p:cNvPr>
          <p:cNvSpPr/>
          <p:nvPr/>
        </p:nvSpPr>
        <p:spPr>
          <a:xfrm>
            <a:off x="5519991" y="4952013"/>
            <a:ext cx="804672" cy="201168"/>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ja-JP" altLang="en-US" sz="75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フロー案内</a:t>
            </a:r>
            <a:endParaRPr kumimoji="0" lang="en-US" sz="75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60" name="Text 119">
            <a:extLst>
              <a:ext uri="{FF2B5EF4-FFF2-40B4-BE49-F238E27FC236}">
                <a16:creationId xmlns:a16="http://schemas.microsoft.com/office/drawing/2014/main" id="{E3B15F81-AADD-9921-7172-C1CD99BDF110}"/>
              </a:ext>
            </a:extLst>
          </p:cNvPr>
          <p:cNvSpPr/>
          <p:nvPr/>
        </p:nvSpPr>
        <p:spPr>
          <a:xfrm>
            <a:off x="6379526" y="4924581"/>
            <a:ext cx="3480635" cy="256032"/>
          </a:xfrm>
          <a:prstGeom prst="rect">
            <a:avLst/>
          </a:prstGeom>
          <a:noFill/>
          <a:ln/>
        </p:spPr>
        <p:txBody>
          <a:bodyPr wrap="square" lIns="0" tIns="0" rIns="0" bIns="0" rtlCol="0" anchor="ctr"/>
          <a:lstStyle/>
          <a:p>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誕生日記念日タグ </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パーソナライズ配信で</a:t>
            </a:r>
            <a:r>
              <a:rPr lang="en-US" altLang="ja-JP" sz="1100" b="1" dirty="0">
                <a:solidFill>
                  <a:srgbClr val="1A1A2E"/>
                </a:solidFill>
                <a:latin typeface="メイリオ" panose="020B0604030504040204" pitchFamily="50" charset="-128"/>
                <a:ea typeface="メイリオ" panose="020B0604030504040204" pitchFamily="50" charset="-128"/>
                <a:cs typeface="Calibri" pitchFamily="34" charset="-120"/>
              </a:rPr>
              <a:t>LTV</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向上</a:t>
            </a:r>
          </a:p>
        </p:txBody>
      </p:sp>
      <p:sp>
        <p:nvSpPr>
          <p:cNvPr id="362" name="Text 120">
            <a:extLst>
              <a:ext uri="{FF2B5EF4-FFF2-40B4-BE49-F238E27FC236}">
                <a16:creationId xmlns:a16="http://schemas.microsoft.com/office/drawing/2014/main" id="{5D40B60F-5F09-DB2E-8DFF-C187AC234EEE}"/>
              </a:ext>
            </a:extLst>
          </p:cNvPr>
          <p:cNvSpPr/>
          <p:nvPr/>
        </p:nvSpPr>
        <p:spPr>
          <a:xfrm>
            <a:off x="5190807" y="5226333"/>
            <a:ext cx="4449774" cy="529590"/>
          </a:xfrm>
          <a:prstGeom prst="rect">
            <a:avLst/>
          </a:prstGeom>
          <a:noFill/>
          <a:ln/>
        </p:spPr>
        <p:txBody>
          <a:bodyPr wrap="square" lIns="0" tIns="0" rIns="0" bIns="0" rtlCol="0" anchor="ctr"/>
          <a:lstStyle/>
          <a:p>
            <a:pPr>
              <a:lnSpc>
                <a:spcPct val="135000"/>
              </a:lnSpc>
            </a:pP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誕生日・入学記念日を記念日タグとして登録し</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a:t>
            </a:r>
            <a:r>
              <a:rPr lang="en-US" altLang="ja-JP" sz="850" dirty="0" err="1">
                <a:solidFill>
                  <a:srgbClr val="4A4A6A"/>
                </a:solidFill>
                <a:latin typeface="メイリオ" panose="020B0604030504040204" pitchFamily="50" charset="-128"/>
                <a:ea typeface="メイリオ" panose="020B0604030504040204" pitchFamily="50" charset="-128"/>
                <a:cs typeface="Calibri" pitchFamily="34" charset="-120"/>
              </a:rPr>
              <a:t>様、今日はご誕生日おめでとうございます。特別クーポンをお贈りします」を自動配信</a:t>
            </a:r>
            <a:r>
              <a:rPr lang="en-US" altLang="ja-JP" sz="850" dirty="0">
                <a:solidFill>
                  <a:srgbClr val="4A4A6A"/>
                </a:solidFill>
                <a:latin typeface="メイリオ" panose="020B0604030504040204" pitchFamily="50" charset="-128"/>
                <a:ea typeface="メイリオ" panose="020B0604030504040204" pitchFamily="50" charset="-128"/>
                <a:cs typeface="Calibri" pitchFamily="34" charset="-120"/>
              </a:rPr>
              <a:t>。「自分のことを覚えてくれている」体験がロイヤリティを高め在学中の接点が途切れにくくなる。</a:t>
            </a:r>
            <a:endParaRPr lang="en-US" altLang="ja-JP" sz="850" dirty="0">
              <a:latin typeface="メイリオ" panose="020B0604030504040204" pitchFamily="50" charset="-128"/>
              <a:ea typeface="メイリオ" panose="020B0604030504040204" pitchFamily="50" charset="-128"/>
            </a:endParaRPr>
          </a:p>
        </p:txBody>
      </p:sp>
      <p:sp>
        <p:nvSpPr>
          <p:cNvPr id="364" name="Shape 121">
            <a:extLst>
              <a:ext uri="{FF2B5EF4-FFF2-40B4-BE49-F238E27FC236}">
                <a16:creationId xmlns:a16="http://schemas.microsoft.com/office/drawing/2014/main" id="{6D87E532-2B58-F1E3-5364-68322B8546E8}"/>
              </a:ext>
            </a:extLst>
          </p:cNvPr>
          <p:cNvSpPr/>
          <p:nvPr/>
        </p:nvSpPr>
        <p:spPr>
          <a:xfrm>
            <a:off x="5190807"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6" name="Shape 122">
            <a:extLst>
              <a:ext uri="{FF2B5EF4-FFF2-40B4-BE49-F238E27FC236}">
                <a16:creationId xmlns:a16="http://schemas.microsoft.com/office/drawing/2014/main" id="{D091E1D9-CAC7-E7FA-4AE7-10C04B5FA5B7}"/>
              </a:ext>
            </a:extLst>
          </p:cNvPr>
          <p:cNvSpPr/>
          <p:nvPr/>
        </p:nvSpPr>
        <p:spPr>
          <a:xfrm>
            <a:off x="5245671"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68" name="Text 123">
            <a:extLst>
              <a:ext uri="{FF2B5EF4-FFF2-40B4-BE49-F238E27FC236}">
                <a16:creationId xmlns:a16="http://schemas.microsoft.com/office/drawing/2014/main" id="{91206034-9E2C-FBA8-B2C3-24856EE4B44C}"/>
              </a:ext>
            </a:extLst>
          </p:cNvPr>
          <p:cNvSpPr/>
          <p:nvPr/>
        </p:nvSpPr>
        <p:spPr>
          <a:xfrm>
            <a:off x="5245671"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1</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0" name="Text 124">
            <a:extLst>
              <a:ext uri="{FF2B5EF4-FFF2-40B4-BE49-F238E27FC236}">
                <a16:creationId xmlns:a16="http://schemas.microsoft.com/office/drawing/2014/main" id="{96A70C8C-D3D2-8BAD-7C6C-DDACC0B79B34}"/>
              </a:ext>
            </a:extLst>
          </p:cNvPr>
          <p:cNvSpPr/>
          <p:nvPr/>
        </p:nvSpPr>
        <p:spPr>
          <a:xfrm>
            <a:off x="5465127"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記念日タグを設定</a:t>
            </a:r>
            <a:endParaRPr lang="en-US" altLang="ja-JP" sz="850" dirty="0">
              <a:latin typeface="メイリオ" panose="020B0604030504040204" pitchFamily="50" charset="-128"/>
              <a:ea typeface="メイリオ" panose="020B0604030504040204" pitchFamily="50" charset="-128"/>
            </a:endParaRPr>
          </a:p>
        </p:txBody>
      </p:sp>
      <p:sp>
        <p:nvSpPr>
          <p:cNvPr id="372" name="Text 125">
            <a:extLst>
              <a:ext uri="{FF2B5EF4-FFF2-40B4-BE49-F238E27FC236}">
                <a16:creationId xmlns:a16="http://schemas.microsoft.com/office/drawing/2014/main" id="{C7DCCB91-2446-504F-DB21-38DC9E40A99E}"/>
              </a:ext>
            </a:extLst>
          </p:cNvPr>
          <p:cNvSpPr/>
          <p:nvPr/>
        </p:nvSpPr>
        <p:spPr>
          <a:xfrm>
            <a:off x="5245671"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誕生日・入学日等</a:t>
            </a:r>
            <a:endParaRPr lang="en-US" altLang="ja-JP" sz="750" dirty="0">
              <a:latin typeface="メイリオ" panose="020B0604030504040204" pitchFamily="50" charset="-128"/>
              <a:ea typeface="メイリオ" panose="020B0604030504040204" pitchFamily="50" charset="-128"/>
            </a:endParaRPr>
          </a:p>
        </p:txBody>
      </p:sp>
      <p:sp>
        <p:nvSpPr>
          <p:cNvPr id="374" name="Text 126">
            <a:extLst>
              <a:ext uri="{FF2B5EF4-FFF2-40B4-BE49-F238E27FC236}">
                <a16:creationId xmlns:a16="http://schemas.microsoft.com/office/drawing/2014/main" id="{1F4F8BB1-7C46-CFAC-4A82-3A92CFDC15EE}"/>
              </a:ext>
            </a:extLst>
          </p:cNvPr>
          <p:cNvSpPr/>
          <p:nvPr/>
        </p:nvSpPr>
        <p:spPr>
          <a:xfrm>
            <a:off x="6470967"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76" name="Shape 127">
            <a:extLst>
              <a:ext uri="{FF2B5EF4-FFF2-40B4-BE49-F238E27FC236}">
                <a16:creationId xmlns:a16="http://schemas.microsoft.com/office/drawing/2014/main" id="{2D872CE0-C558-B33C-59A0-3B8B41F4DCBB}"/>
              </a:ext>
            </a:extLst>
          </p:cNvPr>
          <p:cNvSpPr/>
          <p:nvPr/>
        </p:nvSpPr>
        <p:spPr>
          <a:xfrm>
            <a:off x="6598983" y="5920515"/>
            <a:ext cx="1243584" cy="475488"/>
          </a:xfrm>
          <a:prstGeom prst="roundRect">
            <a:avLst>
              <a:gd name="adj" fmla="val 11538"/>
            </a:avLst>
          </a:prstGeom>
          <a:solidFill>
            <a:srgbClr val="ECEDF3"/>
          </a:solidFill>
          <a:ln w="12700">
            <a:solidFill>
              <a:srgbClr val="D0D3E4"/>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78" name="Shape 128">
            <a:extLst>
              <a:ext uri="{FF2B5EF4-FFF2-40B4-BE49-F238E27FC236}">
                <a16:creationId xmlns:a16="http://schemas.microsoft.com/office/drawing/2014/main" id="{356DDE33-7381-CEF0-7015-298C11EB34FA}"/>
              </a:ext>
            </a:extLst>
          </p:cNvPr>
          <p:cNvSpPr/>
          <p:nvPr/>
        </p:nvSpPr>
        <p:spPr>
          <a:xfrm>
            <a:off x="6653847" y="5975379"/>
            <a:ext cx="182880" cy="182880"/>
          </a:xfrm>
          <a:prstGeom prst="ellipse">
            <a:avLst/>
          </a:prstGeom>
          <a:solidFill>
            <a:srgbClr val="1565C0"/>
          </a:solidFill>
          <a:ln w="12700">
            <a:solidFill>
              <a:srgbClr val="1565C0"/>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80" name="Text 129">
            <a:extLst>
              <a:ext uri="{FF2B5EF4-FFF2-40B4-BE49-F238E27FC236}">
                <a16:creationId xmlns:a16="http://schemas.microsoft.com/office/drawing/2014/main" id="{EE6BBEAB-1160-1953-0E09-D30313ED9406}"/>
              </a:ext>
            </a:extLst>
          </p:cNvPr>
          <p:cNvSpPr/>
          <p:nvPr/>
        </p:nvSpPr>
        <p:spPr>
          <a:xfrm>
            <a:off x="6653847"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FFFFFF"/>
                </a:solidFill>
                <a:effectLst/>
                <a:uLnTx/>
                <a:uFillTx/>
                <a:latin typeface="メイリオ" panose="020B0604030504040204" pitchFamily="50" charset="-128"/>
                <a:ea typeface="メイリオ" panose="020B0604030504040204" pitchFamily="50" charset="-128"/>
                <a:cs typeface="Calibri" pitchFamily="34" charset="-120"/>
              </a:rPr>
              <a:t>2</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2" name="Text 130">
            <a:extLst>
              <a:ext uri="{FF2B5EF4-FFF2-40B4-BE49-F238E27FC236}">
                <a16:creationId xmlns:a16="http://schemas.microsoft.com/office/drawing/2014/main" id="{F035AA22-D856-8317-F313-F0B2385E993B}"/>
              </a:ext>
            </a:extLst>
          </p:cNvPr>
          <p:cNvSpPr/>
          <p:nvPr/>
        </p:nvSpPr>
        <p:spPr>
          <a:xfrm>
            <a:off x="6873303" y="5957091"/>
            <a:ext cx="914400" cy="182880"/>
          </a:xfrm>
          <a:prstGeom prst="rect">
            <a:avLst/>
          </a:prstGeom>
          <a:noFill/>
          <a:ln/>
        </p:spPr>
        <p:txBody>
          <a:bodyPr wrap="square" lIns="0" tIns="0" rIns="0" bIns="0" rtlCol="0" anchor="ctr"/>
          <a:lstStyle/>
          <a:p>
            <a:r>
              <a:rPr lang="en-US" altLang="ja-JP" sz="850" b="1" dirty="0" err="1">
                <a:solidFill>
                  <a:srgbClr val="1A1A2E"/>
                </a:solidFill>
                <a:latin typeface="メイリオ" panose="020B0604030504040204" pitchFamily="50" charset="-128"/>
                <a:ea typeface="メイリオ" panose="020B0604030504040204" pitchFamily="50" charset="-128"/>
                <a:cs typeface="Calibri" pitchFamily="34" charset="-120"/>
              </a:rPr>
              <a:t>特別オファ</a:t>
            </a:r>
            <a:r>
              <a:rPr lang="en-US" altLang="ja-JP" sz="850" b="1" dirty="0">
                <a:solidFill>
                  <a:srgbClr val="1A1A2E"/>
                </a:solidFill>
                <a:latin typeface="メイリオ" panose="020B0604030504040204" pitchFamily="50" charset="-128"/>
                <a:ea typeface="メイリオ" panose="020B0604030504040204" pitchFamily="50" charset="-128"/>
                <a:cs typeface="Calibri" pitchFamily="34" charset="-120"/>
              </a:rPr>
              <a:t>ー</a:t>
            </a:r>
            <a:r>
              <a:rPr lang="ja-JP" altLang="en-US" sz="85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altLang="ja-JP" sz="850" dirty="0">
              <a:latin typeface="メイリオ" panose="020B0604030504040204" pitchFamily="50" charset="-128"/>
              <a:ea typeface="メイリオ" panose="020B0604030504040204" pitchFamily="50" charset="-128"/>
            </a:endParaRPr>
          </a:p>
        </p:txBody>
      </p:sp>
      <p:sp>
        <p:nvSpPr>
          <p:cNvPr id="384" name="Text 131">
            <a:extLst>
              <a:ext uri="{FF2B5EF4-FFF2-40B4-BE49-F238E27FC236}">
                <a16:creationId xmlns:a16="http://schemas.microsoft.com/office/drawing/2014/main" id="{5E7101A0-55A9-D99A-CD95-05335CAC2992}"/>
              </a:ext>
            </a:extLst>
          </p:cNvPr>
          <p:cNvSpPr/>
          <p:nvPr/>
        </p:nvSpPr>
        <p:spPr>
          <a:xfrm>
            <a:off x="6653847"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4A4A6A"/>
                </a:solidFill>
                <a:latin typeface="メイリオ" panose="020B0604030504040204" pitchFamily="50" charset="-128"/>
                <a:ea typeface="メイリオ" panose="020B0604030504040204" pitchFamily="50" charset="-128"/>
                <a:cs typeface="Calibri" pitchFamily="34" charset="-120"/>
              </a:rPr>
              <a:t>完全自動・スタッフゼロ</a:t>
            </a:r>
            <a:endParaRPr lang="en-US" altLang="ja-JP" sz="750" dirty="0">
              <a:latin typeface="メイリオ" panose="020B0604030504040204" pitchFamily="50" charset="-128"/>
              <a:ea typeface="メイリオ" panose="020B0604030504040204" pitchFamily="50" charset="-128"/>
            </a:endParaRPr>
          </a:p>
        </p:txBody>
      </p:sp>
      <p:sp>
        <p:nvSpPr>
          <p:cNvPr id="386" name="Text 132">
            <a:extLst>
              <a:ext uri="{FF2B5EF4-FFF2-40B4-BE49-F238E27FC236}">
                <a16:creationId xmlns:a16="http://schemas.microsoft.com/office/drawing/2014/main" id="{EB31AD4D-43BF-8F45-39CD-B0337D31809F}"/>
              </a:ext>
            </a:extLst>
          </p:cNvPr>
          <p:cNvSpPr/>
          <p:nvPr/>
        </p:nvSpPr>
        <p:spPr>
          <a:xfrm>
            <a:off x="7879143" y="6075963"/>
            <a:ext cx="91440" cy="164592"/>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dirty="0">
                <a:ln>
                  <a:noFill/>
                </a:ln>
                <a:solidFill>
                  <a:srgbClr val="8888A0"/>
                </a:solidFill>
                <a:effectLst/>
                <a:uLnTx/>
                <a:uFillTx/>
                <a:latin typeface="メイリオ" panose="020B0604030504040204" pitchFamily="50" charset="-128"/>
                <a:ea typeface="メイリオ" panose="020B0604030504040204" pitchFamily="50" charset="-128"/>
                <a:cs typeface="Calibri" pitchFamily="34" charset="-120"/>
              </a:rPr>
              <a:t>▶</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88" name="Shape 133">
            <a:extLst>
              <a:ext uri="{FF2B5EF4-FFF2-40B4-BE49-F238E27FC236}">
                <a16:creationId xmlns:a16="http://schemas.microsoft.com/office/drawing/2014/main" id="{9D865312-D619-1BB5-483D-A496A7C19C36}"/>
              </a:ext>
            </a:extLst>
          </p:cNvPr>
          <p:cNvSpPr/>
          <p:nvPr/>
        </p:nvSpPr>
        <p:spPr>
          <a:xfrm>
            <a:off x="8007159" y="5920515"/>
            <a:ext cx="1243584" cy="475488"/>
          </a:xfrm>
          <a:prstGeom prst="roundRect">
            <a:avLst>
              <a:gd name="adj" fmla="val 11538"/>
            </a:avLst>
          </a:prstGeom>
          <a:solidFill>
            <a:srgbClr val="1565C0"/>
          </a:solidFill>
          <a:ln w="12700">
            <a:solidFill>
              <a:srgbClr val="1565C0"/>
            </a:solidFill>
            <a:prstDash val="solid"/>
          </a:ln>
          <a:effectLst>
            <a:outerShdw blurRad="50800" dist="12700" dir="8100000" algn="bl" rotWithShape="0">
              <a:srgbClr val="B0B4CC">
                <a:alpha val="10000"/>
              </a:srgbClr>
            </a:outerShdw>
          </a:effectLst>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0" name="Shape 134">
            <a:extLst>
              <a:ext uri="{FF2B5EF4-FFF2-40B4-BE49-F238E27FC236}">
                <a16:creationId xmlns:a16="http://schemas.microsoft.com/office/drawing/2014/main" id="{A6902040-0093-C584-7CD4-3A8474835775}"/>
              </a:ext>
            </a:extLst>
          </p:cNvPr>
          <p:cNvSpPr/>
          <p:nvPr/>
        </p:nvSpPr>
        <p:spPr>
          <a:xfrm>
            <a:off x="8062023" y="5975379"/>
            <a:ext cx="182880" cy="182880"/>
          </a:xfrm>
          <a:prstGeom prst="ellipse">
            <a:avLst/>
          </a:prstGeom>
          <a:solidFill>
            <a:srgbClr val="FFFFFF"/>
          </a:solidFill>
          <a:ln w="12700">
            <a:solidFill>
              <a:srgbClr val="FFFFFF"/>
            </a:solidFill>
            <a:prstDash val="solid"/>
          </a:ln>
        </p:spPr>
        <p:txBody>
          <a:bodyPr/>
          <a:lstStyle/>
          <a:p>
            <a:endParaRPr kumimoji="0" lang="ja-JP" altLang="en-US">
              <a:solidFill>
                <a:prstClr val="black"/>
              </a:solidFill>
              <a:latin typeface="メイリオ" panose="020B0604030504040204" pitchFamily="50" charset="-128"/>
              <a:ea typeface="メイリオ" panose="020B0604030504040204" pitchFamily="50" charset="-128"/>
            </a:endParaRPr>
          </a:p>
        </p:txBody>
      </p:sp>
      <p:sp>
        <p:nvSpPr>
          <p:cNvPr id="392" name="Text 135">
            <a:extLst>
              <a:ext uri="{FF2B5EF4-FFF2-40B4-BE49-F238E27FC236}">
                <a16:creationId xmlns:a16="http://schemas.microsoft.com/office/drawing/2014/main" id="{FB44CA82-5B08-B387-57C3-88F14FCA18B7}"/>
              </a:ext>
            </a:extLst>
          </p:cNvPr>
          <p:cNvSpPr/>
          <p:nvPr/>
        </p:nvSpPr>
        <p:spPr>
          <a:xfrm>
            <a:off x="8062023" y="5975379"/>
            <a:ext cx="182880" cy="182880"/>
          </a:xfrm>
          <a:prstGeom prst="rect">
            <a:avLst/>
          </a:prstGeom>
          <a:noFill/>
          <a:ln/>
        </p:spPr>
        <p:txBody>
          <a:bodyPr wrap="square"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1" i="0" u="none" strike="noStrike" kern="0" cap="none" spc="0" normalizeH="0" baseline="0" noProof="0" dirty="0">
                <a:ln>
                  <a:noFill/>
                </a:ln>
                <a:solidFill>
                  <a:srgbClr val="1565C0"/>
                </a:solidFill>
                <a:effectLst/>
                <a:uLnTx/>
                <a:uFillTx/>
                <a:latin typeface="メイリオ" panose="020B0604030504040204" pitchFamily="50" charset="-128"/>
                <a:ea typeface="メイリオ" panose="020B0604030504040204" pitchFamily="50" charset="-128"/>
                <a:cs typeface="Calibri" pitchFamily="34" charset="-120"/>
              </a:rPr>
              <a:t>3</a:t>
            </a:r>
            <a:endParaRPr kumimoji="0" lang="en-US" sz="800" b="0" i="0" u="none" strike="noStrike" kern="0" cap="none" spc="0" normalizeH="0" baseline="0" noProof="0" dirty="0">
              <a:ln>
                <a:noFill/>
              </a:ln>
              <a:solidFill>
                <a:prstClr val="black"/>
              </a:solidFill>
              <a:effectLst/>
              <a:uLnTx/>
              <a:uFillTx/>
              <a:latin typeface="メイリオ" panose="020B0604030504040204" pitchFamily="50" charset="-128"/>
              <a:ea typeface="メイリオ" panose="020B0604030504040204" pitchFamily="50" charset="-128"/>
            </a:endParaRPr>
          </a:p>
        </p:txBody>
      </p:sp>
      <p:sp>
        <p:nvSpPr>
          <p:cNvPr id="394" name="Text 136">
            <a:extLst>
              <a:ext uri="{FF2B5EF4-FFF2-40B4-BE49-F238E27FC236}">
                <a16:creationId xmlns:a16="http://schemas.microsoft.com/office/drawing/2014/main" id="{85A4EC17-97B2-BCD7-FCE3-303E8114491D}"/>
              </a:ext>
            </a:extLst>
          </p:cNvPr>
          <p:cNvSpPr/>
          <p:nvPr/>
        </p:nvSpPr>
        <p:spPr>
          <a:xfrm>
            <a:off x="8281479" y="5957091"/>
            <a:ext cx="914400" cy="182880"/>
          </a:xfrm>
          <a:prstGeom prst="rect">
            <a:avLst/>
          </a:prstGeom>
          <a:noFill/>
          <a:ln/>
        </p:spPr>
        <p:txBody>
          <a:bodyPr wrap="square" lIns="0" tIns="0" rIns="0" bIns="0" rtlCol="0" anchor="ctr"/>
          <a:lstStyle/>
          <a:p>
            <a:r>
              <a:rPr lang="en-US" altLang="ja-JP" sz="850" b="1" dirty="0" err="1">
                <a:solidFill>
                  <a:srgbClr val="FFFFFF"/>
                </a:solidFill>
                <a:latin typeface="メイリオ" panose="020B0604030504040204" pitchFamily="50" charset="-128"/>
                <a:ea typeface="メイリオ" panose="020B0604030504040204" pitchFamily="50" charset="-128"/>
                <a:cs typeface="Calibri" pitchFamily="34" charset="-120"/>
              </a:rPr>
              <a:t>満足度向上</a:t>
            </a:r>
            <a:endParaRPr lang="en-US" altLang="ja-JP" sz="850" dirty="0">
              <a:latin typeface="メイリオ" panose="020B0604030504040204" pitchFamily="50" charset="-128"/>
              <a:ea typeface="メイリオ" panose="020B0604030504040204" pitchFamily="50" charset="-128"/>
            </a:endParaRPr>
          </a:p>
        </p:txBody>
      </p:sp>
      <p:sp>
        <p:nvSpPr>
          <p:cNvPr id="396" name="Text 137">
            <a:extLst>
              <a:ext uri="{FF2B5EF4-FFF2-40B4-BE49-F238E27FC236}">
                <a16:creationId xmlns:a16="http://schemas.microsoft.com/office/drawing/2014/main" id="{F48F4888-D926-9901-DE92-103FA2FF00EB}"/>
              </a:ext>
            </a:extLst>
          </p:cNvPr>
          <p:cNvSpPr/>
          <p:nvPr/>
        </p:nvSpPr>
        <p:spPr>
          <a:xfrm>
            <a:off x="8062023" y="6167403"/>
            <a:ext cx="1133856" cy="201168"/>
          </a:xfrm>
          <a:prstGeom prst="rect">
            <a:avLst/>
          </a:prstGeom>
          <a:noFill/>
          <a:ln/>
        </p:spPr>
        <p:txBody>
          <a:bodyPr wrap="square" lIns="0" tIns="0" rIns="0" bIns="0" rtlCol="0" anchor="ctr"/>
          <a:lstStyle/>
          <a:p>
            <a:pPr>
              <a:lnSpc>
                <a:spcPct val="115000"/>
              </a:lnSpc>
            </a:pPr>
            <a:r>
              <a:rPr lang="en-US" altLang="ja-JP" sz="750" dirty="0" err="1">
                <a:solidFill>
                  <a:srgbClr val="D0E8FF"/>
                </a:solidFill>
                <a:latin typeface="メイリオ" panose="020B0604030504040204" pitchFamily="50" charset="-128"/>
                <a:ea typeface="メイリオ" panose="020B0604030504040204" pitchFamily="50" charset="-128"/>
                <a:cs typeface="Calibri" pitchFamily="34" charset="-120"/>
              </a:rPr>
              <a:t>紹介・口コミ促進</a:t>
            </a:r>
            <a:endParaRPr lang="en-US" altLang="ja-JP" sz="750" dirty="0">
              <a:latin typeface="メイリオ" panose="020B0604030504040204" pitchFamily="50" charset="-128"/>
              <a:ea typeface="メイリオ" panose="020B0604030504040204" pitchFamily="50" charset="-128"/>
            </a:endParaRPr>
          </a:p>
        </p:txBody>
      </p:sp>
      <p:sp>
        <p:nvSpPr>
          <p:cNvPr id="398" name="Shape 36">
            <a:extLst>
              <a:ext uri="{FF2B5EF4-FFF2-40B4-BE49-F238E27FC236}">
                <a16:creationId xmlns:a16="http://schemas.microsoft.com/office/drawing/2014/main" id="{0734E444-168A-89C6-D964-38759E540BCB}"/>
              </a:ext>
            </a:extLst>
          </p:cNvPr>
          <p:cNvSpPr/>
          <p:nvPr/>
        </p:nvSpPr>
        <p:spPr>
          <a:xfrm>
            <a:off x="3568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0" name="Shape 36">
            <a:extLst>
              <a:ext uri="{FF2B5EF4-FFF2-40B4-BE49-F238E27FC236}">
                <a16:creationId xmlns:a16="http://schemas.microsoft.com/office/drawing/2014/main" id="{B45D359F-4CA9-C051-F58B-E1296B6FBFE4}"/>
              </a:ext>
            </a:extLst>
          </p:cNvPr>
          <p:cNvSpPr/>
          <p:nvPr/>
        </p:nvSpPr>
        <p:spPr>
          <a:xfrm>
            <a:off x="5208259" y="3091209"/>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1</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402" name="Shape 36">
            <a:extLst>
              <a:ext uri="{FF2B5EF4-FFF2-40B4-BE49-F238E27FC236}">
                <a16:creationId xmlns:a16="http://schemas.microsoft.com/office/drawing/2014/main" id="{8EA02CFD-BE47-AC79-7F8B-5F9B8FB2B494}"/>
              </a:ext>
            </a:extLst>
          </p:cNvPr>
          <p:cNvSpPr/>
          <p:nvPr/>
        </p:nvSpPr>
        <p:spPr>
          <a:xfrm>
            <a:off x="5208259" y="4908735"/>
            <a:ext cx="256032" cy="256032"/>
          </a:xfrm>
          <a:prstGeom prst="ellipse">
            <a:avLst/>
          </a:prstGeom>
          <a:solidFill>
            <a:srgbClr val="1565C0"/>
          </a:solidFill>
          <a:ln w="12700">
            <a:solidFill>
              <a:srgbClr val="1565C0"/>
            </a:solidFill>
            <a:prstDash val="solid"/>
          </a:ln>
        </p:spPr>
        <p:txBody>
          <a:bodyPr anchor="ctr"/>
          <a:lstStyle/>
          <a:p>
            <a:pPr algn="ctr"/>
            <a:r>
              <a:rPr kumimoji="0" lang="en-US" altLang="ja-JP" sz="900" dirty="0">
                <a:solidFill>
                  <a:schemeClr val="bg1"/>
                </a:solidFill>
                <a:latin typeface="メイリオ" panose="020B0604030504040204" pitchFamily="50" charset="-128"/>
                <a:ea typeface="メイリオ" panose="020B0604030504040204" pitchFamily="50" charset="-128"/>
              </a:rPr>
              <a:t>2</a:t>
            </a:r>
            <a:endParaRPr kumimoji="0" lang="ja-JP" altLang="en-US" sz="900" dirty="0">
              <a:solidFill>
                <a:schemeClr val="bg1"/>
              </a:solidFill>
              <a:latin typeface="メイリオ" panose="020B0604030504040204" pitchFamily="50" charset="-128"/>
              <a:ea typeface="メイリオ" panose="020B0604030504040204" pitchFamily="50" charset="-128"/>
            </a:endParaRPr>
          </a:p>
        </p:txBody>
      </p:sp>
      <p:sp>
        <p:nvSpPr>
          <p:cNvPr id="8" name="Shape 59">
            <a:extLst>
              <a:ext uri="{FF2B5EF4-FFF2-40B4-BE49-F238E27FC236}">
                <a16:creationId xmlns:a16="http://schemas.microsoft.com/office/drawing/2014/main" id="{906437AE-A1AC-C85D-0C78-A58EF8AC7546}"/>
              </a:ext>
            </a:extLst>
          </p:cNvPr>
          <p:cNvSpPr/>
          <p:nvPr/>
        </p:nvSpPr>
        <p:spPr>
          <a:xfrm>
            <a:off x="6653847" y="110408"/>
            <a:ext cx="1446971" cy="330537"/>
          </a:xfrm>
          <a:prstGeom prst="roundRect">
            <a:avLst>
              <a:gd name="adj" fmla="val 5263"/>
            </a:avLst>
          </a:prstGeom>
          <a:solidFill>
            <a:schemeClr val="bg1">
              <a:lumMod val="85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中長期で導入検討</a:t>
            </a:r>
          </a:p>
        </p:txBody>
      </p:sp>
      <p:sp>
        <p:nvSpPr>
          <p:cNvPr id="12" name="Shape 88">
            <a:extLst>
              <a:ext uri="{FF2B5EF4-FFF2-40B4-BE49-F238E27FC236}">
                <a16:creationId xmlns:a16="http://schemas.microsoft.com/office/drawing/2014/main" id="{BBB2E958-CD66-B60F-6B1C-02CC16969C76}"/>
              </a:ext>
            </a:extLst>
          </p:cNvPr>
          <p:cNvSpPr/>
          <p:nvPr/>
        </p:nvSpPr>
        <p:spPr>
          <a:xfrm>
            <a:off x="5134337" y="111417"/>
            <a:ext cx="1442146" cy="330537"/>
          </a:xfrm>
          <a:prstGeom prst="roundRect">
            <a:avLst>
              <a:gd name="adj" fmla="val 8000"/>
            </a:avLst>
          </a:prstGeom>
          <a:solidFill>
            <a:schemeClr val="accent1">
              <a:lumMod val="20000"/>
              <a:lumOff val="80000"/>
            </a:schemeClr>
          </a:solidFill>
          <a:ln w="12700">
            <a:solidFill>
              <a:srgbClr val="D0D3E4"/>
            </a:solidFill>
            <a:prstDash val="solid"/>
          </a:ln>
          <a:effectLst>
            <a:outerShdw blurRad="50800" dist="12700" dir="8100000" algn="bl" rotWithShape="0">
              <a:srgbClr val="B0B4CC">
                <a:alpha val="10000"/>
              </a:srgbClr>
            </a:outerShdw>
          </a:effectLst>
        </p:spPr>
        <p:txBody>
          <a:bodyPr anchor="ctr"/>
          <a:lstStyle/>
          <a:p>
            <a:pPr algn="ctr"/>
            <a:r>
              <a:rPr kumimoji="0" lang="ja-JP" altLang="en-US" sz="1000" dirty="0">
                <a:solidFill>
                  <a:prstClr val="black"/>
                </a:solidFill>
                <a:latin typeface="メイリオ" panose="020B0604030504040204" pitchFamily="50" charset="-128"/>
                <a:ea typeface="メイリオ" panose="020B0604030504040204" pitchFamily="50" charset="-128"/>
              </a:rPr>
              <a:t>導入推奨</a:t>
            </a:r>
          </a:p>
        </p:txBody>
      </p:sp>
    </p:spTree>
    <p:extLst>
      <p:ext uri="{BB962C8B-B14F-4D97-AF65-F5344CB8AC3E}">
        <p14:creationId xmlns:p14="http://schemas.microsoft.com/office/powerpoint/2010/main" val="22997255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導入成果シミュレーション（Before / After）</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デジタル募集広報費 年1,000万円は据え置き。追加するのはLINE運用費 年360万円のみ。</a:t>
            </a:r>
          </a:p>
          <a:p>
            <a:pPr algn="l">
              <a:lnSpc>
                <a:spcPct val="122000"/>
              </a:lnSpc>
            </a:pPr>
            <a:r>
              <a:rPr sz="1500">
                <a:solidFill>
                  <a:srgbClr val="646C82"/>
                </a:solidFill>
                <a:latin typeface="メイリオ"/>
                <a:ea typeface="メイリオ"/>
                <a:cs typeface="メイリオ"/>
              </a:rPr>
              <a:t>モデル校＝私立大学・入学定員600名・現在の入学者480名（充足率80%）。</a:t>
            </a:r>
          </a:p>
        </p:txBody>
      </p:sp>
      <p:graphicFrame>
        <p:nvGraphicFramePr>
          <p:cNvPr id="4" name="Table 3"/>
          <p:cNvGraphicFramePr>
            <a:graphicFrameLocks noGrp="1"/>
          </p:cNvGraphicFramePr>
          <p:nvPr/>
        </p:nvGraphicFramePr>
        <p:xfrm>
          <a:off x="396000" y="1224000"/>
          <a:ext cx="9144000" cy="3831120"/>
        </p:xfrm>
        <a:graphic>
          <a:graphicData uri="http://schemas.openxmlformats.org/drawingml/2006/table">
            <a:tbl>
              <a:tblPr firstRow="1" bandRow="1">
                <a:tableStyleId>{5C22544A-7EE6-4342-B048-85BDC9FD1C3A}</a:tableStyleId>
              </a:tblPr>
              <a:tblGrid>
                <a:gridCol w="3024000">
                  <a:extLst>
                    <a:ext uri="{9D8B030D-6E8A-4147-A177-3AD203B41FA5}">
                      <a16:colId xmlns:a16="http://schemas.microsoft.com/office/drawing/2014/main" val="20000"/>
                    </a:ext>
                  </a:extLst>
                </a:gridCol>
                <a:gridCol w="2880000">
                  <a:extLst>
                    <a:ext uri="{9D8B030D-6E8A-4147-A177-3AD203B41FA5}">
                      <a16:colId xmlns:a16="http://schemas.microsoft.com/office/drawing/2014/main" val="20001"/>
                    </a:ext>
                  </a:extLst>
                </a:gridCol>
                <a:gridCol w="3240000">
                  <a:extLst>
                    <a:ext uri="{9D8B030D-6E8A-4147-A177-3AD203B41FA5}">
                      <a16:colId xmlns:a16="http://schemas.microsoft.com/office/drawing/2014/main" val="20002"/>
                    </a:ext>
                  </a:extLst>
                </a:gridCol>
              </a:tblGrid>
              <a:tr h="273600">
                <a:tc>
                  <a:txBody>
                    <a:bodyPr/>
                    <a:lstStyle/>
                    <a:p>
                      <a:pPr algn="l"/>
                      <a:r>
                        <a:rPr sz="1200" b="1">
                          <a:solidFill>
                            <a:srgbClr val="FFFFFF"/>
                          </a:solidFill>
                          <a:latin typeface="メイリオ"/>
                          <a:ea typeface="メイリオ"/>
                          <a:cs typeface="メイリオ"/>
                        </a:rPr>
                        <a:t>指標</a:t>
                      </a:r>
                    </a:p>
                  </a:txBody>
                  <a:tcPr anchor="ctr">
                    <a:solidFill>
                      <a:srgbClr val="1F285A"/>
                    </a:solidFill>
                  </a:tcPr>
                </a:tc>
                <a:tc>
                  <a:txBody>
                    <a:bodyPr/>
                    <a:lstStyle/>
                    <a:p>
                      <a:pPr algn="r"/>
                      <a:r>
                        <a:rPr sz="1200" b="1">
                          <a:solidFill>
                            <a:srgbClr val="FFFFFF"/>
                          </a:solidFill>
                          <a:latin typeface="メイリオ"/>
                          <a:ea typeface="メイリオ"/>
                          <a:cs typeface="メイリオ"/>
                        </a:rPr>
                        <a:t>Before（Web広告のみ）</a:t>
                      </a:r>
                    </a:p>
                  </a:txBody>
                  <a:tcPr anchor="ctr">
                    <a:solidFill>
                      <a:srgbClr val="1F285A"/>
                    </a:solidFill>
                  </a:tcPr>
                </a:tc>
                <a:tc>
                  <a:txBody>
                    <a:bodyPr/>
                    <a:lstStyle/>
                    <a:p>
                      <a:pPr algn="r"/>
                      <a:r>
                        <a:rPr sz="1200" b="1">
                          <a:solidFill>
                            <a:srgbClr val="FFFFFF"/>
                          </a:solidFill>
                          <a:latin typeface="メイリオ"/>
                          <a:ea typeface="メイリオ"/>
                          <a:cs typeface="メイリオ"/>
                        </a:rPr>
                        <a:t>After（Web広告 × LINE OA）</a:t>
                      </a:r>
                    </a:p>
                  </a:txBody>
                  <a:tcPr anchor="ctr">
                    <a:solidFill>
                      <a:srgbClr val="1F285A"/>
                    </a:solidFill>
                  </a:tcPr>
                </a:tc>
                <a:extLst>
                  <a:ext uri="{0D108BD9-81ED-4DB2-BD59-A6C34878D82A}">
                    <a16:rowId xmlns:a16="http://schemas.microsoft.com/office/drawing/2014/main" val="10000"/>
                  </a:ext>
                </a:extLst>
              </a:tr>
              <a:tr h="273600">
                <a:tc>
                  <a:txBody>
                    <a:bodyPr/>
                    <a:lstStyle/>
                    <a:p>
                      <a:pPr algn="l"/>
                      <a:r>
                        <a:rPr sz="1100">
                          <a:solidFill>
                            <a:srgbClr val="1C2233"/>
                          </a:solidFill>
                          <a:latin typeface="メイリオ"/>
                          <a:ea typeface="メイリオ"/>
                          <a:cs typeface="メイリオ"/>
                        </a:rPr>
                        <a:t>投下計（広告費＋LINE運用費）</a:t>
                      </a:r>
                    </a:p>
                  </a:txBody>
                  <a:tcPr anchor="ctr">
                    <a:solidFill>
                      <a:srgbClr val="FFFFFF"/>
                    </a:solidFill>
                  </a:tcPr>
                </a:tc>
                <a:tc>
                  <a:txBody>
                    <a:bodyPr/>
                    <a:lstStyle/>
                    <a:p>
                      <a:pPr algn="r"/>
                      <a:r>
                        <a:rPr sz="1100">
                          <a:solidFill>
                            <a:srgbClr val="1C2233"/>
                          </a:solidFill>
                          <a:latin typeface="メイリオ"/>
                          <a:ea typeface="メイリオ"/>
                          <a:cs typeface="メイリオ"/>
                        </a:rPr>
                        <a:t>1,000万円</a:t>
                      </a:r>
                    </a:p>
                  </a:txBody>
                  <a:tcPr anchor="ctr">
                    <a:solidFill>
                      <a:srgbClr val="FFFFFF"/>
                    </a:solidFill>
                  </a:tcPr>
                </a:tc>
                <a:tc>
                  <a:txBody>
                    <a:bodyPr/>
                    <a:lstStyle/>
                    <a:p>
                      <a:pPr algn="r"/>
                      <a:r>
                        <a:rPr sz="1100">
                          <a:solidFill>
                            <a:srgbClr val="1C2233"/>
                          </a:solidFill>
                          <a:latin typeface="メイリオ"/>
                          <a:ea typeface="メイリオ"/>
                          <a:cs typeface="メイリオ"/>
                        </a:rPr>
                        <a:t>1,360万円（＋LINE運用費360万円）</a:t>
                      </a:r>
                    </a:p>
                  </a:txBody>
                  <a:tcPr anchor="ctr">
                    <a:solidFill>
                      <a:srgbClr val="FFFFFF"/>
                    </a:solidFill>
                  </a:tcPr>
                </a:tc>
                <a:extLst>
                  <a:ext uri="{0D108BD9-81ED-4DB2-BD59-A6C34878D82A}">
                    <a16:rowId xmlns:a16="http://schemas.microsoft.com/office/drawing/2014/main" val="10001"/>
                  </a:ext>
                </a:extLst>
              </a:tr>
              <a:tr h="273600">
                <a:tc>
                  <a:txBody>
                    <a:bodyPr/>
                    <a:lstStyle/>
                    <a:p>
                      <a:pPr algn="l"/>
                      <a:r>
                        <a:rPr sz="1100">
                          <a:solidFill>
                            <a:srgbClr val="1C2233"/>
                          </a:solidFill>
                          <a:latin typeface="メイリオ"/>
                          <a:ea typeface="メイリオ"/>
                          <a:cs typeface="メイリオ"/>
                        </a:rPr>
                        <a:t>LP流入</a:t>
                      </a:r>
                    </a:p>
                  </a:txBody>
                  <a:tcPr anchor="ctr">
                    <a:solidFill>
                      <a:srgbClr val="F4F7FF"/>
                    </a:solidFill>
                  </a:tcPr>
                </a:tc>
                <a:tc>
                  <a:txBody>
                    <a:bodyPr/>
                    <a:lstStyle/>
                    <a:p>
                      <a:pPr algn="r"/>
                      <a:r>
                        <a:rPr sz="1100">
                          <a:solidFill>
                            <a:srgbClr val="1C2233"/>
                          </a:solidFill>
                          <a:latin typeface="メイリオ"/>
                          <a:ea typeface="メイリオ"/>
                          <a:cs typeface="メイリオ"/>
                        </a:rPr>
                        <a:t>100,000セッション</a:t>
                      </a:r>
                    </a:p>
                  </a:txBody>
                  <a:tcPr anchor="ctr">
                    <a:solidFill>
                      <a:srgbClr val="F4F7FF"/>
                    </a:solidFill>
                  </a:tcPr>
                </a:tc>
                <a:tc>
                  <a:txBody>
                    <a:bodyPr/>
                    <a:lstStyle/>
                    <a:p>
                      <a:pPr algn="r"/>
                      <a:r>
                        <a:rPr sz="1100">
                          <a:solidFill>
                            <a:srgbClr val="1C2233"/>
                          </a:solidFill>
                          <a:latin typeface="メイリオ"/>
                          <a:ea typeface="メイリオ"/>
                          <a:cs typeface="メイリオ"/>
                        </a:rPr>
                        <a:t>100,000セッション（変えない）</a:t>
                      </a:r>
                    </a:p>
                  </a:txBody>
                  <a:tcPr anchor="ctr">
                    <a:solidFill>
                      <a:srgbClr val="F4F7FF"/>
                    </a:solidFill>
                  </a:tcPr>
                </a:tc>
                <a:extLst>
                  <a:ext uri="{0D108BD9-81ED-4DB2-BD59-A6C34878D82A}">
                    <a16:rowId xmlns:a16="http://schemas.microsoft.com/office/drawing/2014/main" val="10002"/>
                  </a:ext>
                </a:extLst>
              </a:tr>
              <a:tr h="273600">
                <a:tc>
                  <a:txBody>
                    <a:bodyPr/>
                    <a:lstStyle/>
                    <a:p>
                      <a:pPr algn="l"/>
                      <a:r>
                        <a:rPr sz="1100">
                          <a:solidFill>
                            <a:srgbClr val="1C2233"/>
                          </a:solidFill>
                          <a:latin typeface="メイリオ"/>
                          <a:ea typeface="メイリオ"/>
                          <a:cs typeface="メイリオ"/>
                        </a:rPr>
                        <a:t>LP CVR（資料請求）</a:t>
                      </a:r>
                    </a:p>
                  </a:txBody>
                  <a:tcPr anchor="ctr">
                    <a:solidFill>
                      <a:srgbClr val="FFFFFF"/>
                    </a:solidFill>
                  </a:tcPr>
                </a:tc>
                <a:tc>
                  <a:txBody>
                    <a:bodyPr/>
                    <a:lstStyle/>
                    <a:p>
                      <a:pPr algn="r"/>
                      <a:r>
                        <a:rPr sz="1100">
                          <a:solidFill>
                            <a:srgbClr val="1C2233"/>
                          </a:solidFill>
                          <a:latin typeface="メイリオ"/>
                          <a:ea typeface="メイリオ"/>
                          <a:cs typeface="メイリオ"/>
                        </a:rPr>
                        <a:t>2.5%</a:t>
                      </a:r>
                    </a:p>
                  </a:txBody>
                  <a:tcPr anchor="ctr">
                    <a:solidFill>
                      <a:srgbClr val="FFFFFF"/>
                    </a:solidFill>
                  </a:tcPr>
                </a:tc>
                <a:tc>
                  <a:txBody>
                    <a:bodyPr/>
                    <a:lstStyle/>
                    <a:p>
                      <a:pPr algn="r"/>
                      <a:r>
                        <a:rPr sz="1100">
                          <a:solidFill>
                            <a:srgbClr val="1C2233"/>
                          </a:solidFill>
                          <a:latin typeface="メイリオ"/>
                          <a:ea typeface="メイリオ"/>
                          <a:cs typeface="メイリオ"/>
                        </a:rPr>
                        <a:t>2.5%（変えない）</a:t>
                      </a:r>
                    </a:p>
                  </a:txBody>
                  <a:tcPr anchor="ctr">
                    <a:solidFill>
                      <a:srgbClr val="FFFFFF"/>
                    </a:solidFill>
                  </a:tcPr>
                </a:tc>
                <a:extLst>
                  <a:ext uri="{0D108BD9-81ED-4DB2-BD59-A6C34878D82A}">
                    <a16:rowId xmlns:a16="http://schemas.microsoft.com/office/drawing/2014/main" val="10003"/>
                  </a:ext>
                </a:extLst>
              </a:tr>
              <a:tr h="273600">
                <a:tc>
                  <a:txBody>
                    <a:bodyPr/>
                    <a:lstStyle/>
                    <a:p>
                      <a:pPr algn="l"/>
                      <a:r>
                        <a:rPr sz="1100">
                          <a:solidFill>
                            <a:srgbClr val="1C2233"/>
                          </a:solidFill>
                          <a:latin typeface="メイリオ"/>
                          <a:ea typeface="メイリオ"/>
                          <a:cs typeface="メイリオ"/>
                        </a:rPr>
                        <a:t>広告経由のCV①（資料請求）</a:t>
                      </a:r>
                    </a:p>
                  </a:txBody>
                  <a:tcPr anchor="ctr">
                    <a:solidFill>
                      <a:srgbClr val="F4F7FF"/>
                    </a:solidFill>
                  </a:tcPr>
                </a:tc>
                <a:tc>
                  <a:txBody>
                    <a:bodyPr/>
                    <a:lstStyle/>
                    <a:p>
                      <a:pPr algn="r"/>
                      <a:r>
                        <a:rPr sz="1100">
                          <a:solidFill>
                            <a:srgbClr val="1C2233"/>
                          </a:solidFill>
                          <a:latin typeface="メイリオ"/>
                          <a:ea typeface="メイリオ"/>
                          <a:cs typeface="メイリオ"/>
                        </a:rPr>
                        <a:t>2,500件</a:t>
                      </a:r>
                    </a:p>
                  </a:txBody>
                  <a:tcPr anchor="ctr">
                    <a:solidFill>
                      <a:srgbClr val="F4F7FF"/>
                    </a:solidFill>
                  </a:tcPr>
                </a:tc>
                <a:tc>
                  <a:txBody>
                    <a:bodyPr/>
                    <a:lstStyle/>
                    <a:p>
                      <a:pPr algn="r"/>
                      <a:r>
                        <a:rPr sz="1100">
                          <a:solidFill>
                            <a:srgbClr val="1C2233"/>
                          </a:solidFill>
                          <a:latin typeface="メイリオ"/>
                          <a:ea typeface="メイリオ"/>
                          <a:cs typeface="メイリオ"/>
                        </a:rPr>
                        <a:t>2,500件</a:t>
                      </a:r>
                    </a:p>
                  </a:txBody>
                  <a:tcPr anchor="ctr">
                    <a:solidFill>
                      <a:srgbClr val="F4F7FF"/>
                    </a:solidFill>
                  </a:tcPr>
                </a:tc>
                <a:extLst>
                  <a:ext uri="{0D108BD9-81ED-4DB2-BD59-A6C34878D82A}">
                    <a16:rowId xmlns:a16="http://schemas.microsoft.com/office/drawing/2014/main" val="10004"/>
                  </a:ext>
                </a:extLst>
              </a:tr>
              <a:tr h="273600">
                <a:tc>
                  <a:txBody>
                    <a:bodyPr/>
                    <a:lstStyle/>
                    <a:p>
                      <a:pPr algn="l"/>
                      <a:r>
                        <a:rPr sz="1100">
                          <a:solidFill>
                            <a:srgbClr val="1C2233"/>
                          </a:solidFill>
                          <a:latin typeface="メイリオ"/>
                          <a:ea typeface="メイリオ"/>
                          <a:cs typeface="メイリオ"/>
                        </a:rPr>
                        <a:t>LINE友だち化（離脱防止）</a:t>
                      </a:r>
                    </a:p>
                  </a:txBody>
                  <a:tcPr anchor="ctr">
                    <a:solidFill>
                      <a:srgbClr val="FFFFFF"/>
                    </a:solidFill>
                  </a:tcPr>
                </a:tc>
                <a:tc>
                  <a:txBody>
                    <a:bodyPr/>
                    <a:lstStyle/>
                    <a:p>
                      <a:pPr algn="r"/>
                      <a:r>
                        <a:rPr sz="1100">
                          <a:solidFill>
                            <a:srgbClr val="1C2233"/>
                          </a:solidFill>
                          <a:latin typeface="メイリオ"/>
                          <a:ea typeface="メイリオ"/>
                          <a:cs typeface="メイリオ"/>
                        </a:rPr>
                        <a:t>―</a:t>
                      </a:r>
                    </a:p>
                  </a:txBody>
                  <a:tcPr anchor="ctr">
                    <a:solidFill>
                      <a:srgbClr val="FFFFFF"/>
                    </a:solidFill>
                  </a:tcPr>
                </a:tc>
                <a:tc>
                  <a:txBody>
                    <a:bodyPr/>
                    <a:lstStyle/>
                    <a:p>
                      <a:pPr algn="r"/>
                      <a:r>
                        <a:rPr sz="1100">
                          <a:solidFill>
                            <a:srgbClr val="1C2233"/>
                          </a:solidFill>
                          <a:latin typeface="メイリオ"/>
                          <a:ea typeface="メイリオ"/>
                          <a:cs typeface="メイリオ"/>
                        </a:rPr>
                        <a:t>2,925人（離脱97,500 ×★3%）</a:t>
                      </a:r>
                    </a:p>
                  </a:txBody>
                  <a:tcPr anchor="ctr">
                    <a:solidFill>
                      <a:srgbClr val="FFFFFF"/>
                    </a:solidFill>
                  </a:tcPr>
                </a:tc>
                <a:extLst>
                  <a:ext uri="{0D108BD9-81ED-4DB2-BD59-A6C34878D82A}">
                    <a16:rowId xmlns:a16="http://schemas.microsoft.com/office/drawing/2014/main" val="10005"/>
                  </a:ext>
                </a:extLst>
              </a:tr>
              <a:tr h="273600">
                <a:tc>
                  <a:txBody>
                    <a:bodyPr/>
                    <a:lstStyle/>
                    <a:p>
                      <a:pPr algn="l"/>
                      <a:r>
                        <a:rPr sz="1100">
                          <a:solidFill>
                            <a:srgbClr val="1C2233"/>
                          </a:solidFill>
                          <a:latin typeface="メイリオ"/>
                          <a:ea typeface="メイリオ"/>
                          <a:cs typeface="メイリオ"/>
                        </a:rPr>
                        <a:t>LINE経由のCV①</a:t>
                      </a:r>
                    </a:p>
                  </a:txBody>
                  <a:tcPr anchor="ctr">
                    <a:solidFill>
                      <a:srgbClr val="F4F7FF"/>
                    </a:solidFill>
                  </a:tcPr>
                </a:tc>
                <a:tc>
                  <a:txBody>
                    <a:bodyPr/>
                    <a:lstStyle/>
                    <a:p>
                      <a:pPr algn="r"/>
                      <a:r>
                        <a:rPr sz="1100">
                          <a:solidFill>
                            <a:srgbClr val="1C2233"/>
                          </a:solidFill>
                          <a:latin typeface="メイリオ"/>
                          <a:ea typeface="メイリオ"/>
                          <a:cs typeface="メイリオ"/>
                        </a:rPr>
                        <a:t>―</a:t>
                      </a:r>
                    </a:p>
                  </a:txBody>
                  <a:tcPr anchor="ctr">
                    <a:solidFill>
                      <a:srgbClr val="F4F7FF"/>
                    </a:solidFill>
                  </a:tcPr>
                </a:tc>
                <a:tc>
                  <a:txBody>
                    <a:bodyPr/>
                    <a:lstStyle/>
                    <a:p>
                      <a:pPr algn="r"/>
                      <a:r>
                        <a:rPr sz="1100">
                          <a:solidFill>
                            <a:srgbClr val="1C2233"/>
                          </a:solidFill>
                          <a:latin typeface="メイリオ"/>
                          <a:ea typeface="メイリオ"/>
                          <a:cs typeface="メイリオ"/>
                        </a:rPr>
                        <a:t>585件（友だち ×★20%）</a:t>
                      </a:r>
                    </a:p>
                  </a:txBody>
                  <a:tcPr anchor="ctr">
                    <a:solidFill>
                      <a:srgbClr val="F4F7FF"/>
                    </a:solidFill>
                  </a:tcPr>
                </a:tc>
                <a:extLst>
                  <a:ext uri="{0D108BD9-81ED-4DB2-BD59-A6C34878D82A}">
                    <a16:rowId xmlns:a16="http://schemas.microsoft.com/office/drawing/2014/main" val="10006"/>
                  </a:ext>
                </a:extLst>
              </a:tr>
              <a:tr h="273600">
                <a:tc>
                  <a:txBody>
                    <a:bodyPr/>
                    <a:lstStyle/>
                    <a:p>
                      <a:pPr algn="l"/>
                      <a:r>
                        <a:rPr sz="1100">
                          <a:solidFill>
                            <a:srgbClr val="1C2233"/>
                          </a:solidFill>
                          <a:latin typeface="メイリオ"/>
                          <a:ea typeface="メイリオ"/>
                          <a:cs typeface="メイリオ"/>
                        </a:rPr>
                        <a:t>CV①合計 ／ CPA</a:t>
                      </a:r>
                    </a:p>
                  </a:txBody>
                  <a:tcPr anchor="ctr">
                    <a:solidFill>
                      <a:srgbClr val="FFFFFF"/>
                    </a:solidFill>
                  </a:tcPr>
                </a:tc>
                <a:tc>
                  <a:txBody>
                    <a:bodyPr/>
                    <a:lstStyle/>
                    <a:p>
                      <a:pPr algn="r"/>
                      <a:r>
                        <a:rPr sz="1100">
                          <a:solidFill>
                            <a:srgbClr val="1C2233"/>
                          </a:solidFill>
                          <a:latin typeface="メイリオ"/>
                          <a:ea typeface="メイリオ"/>
                          <a:cs typeface="メイリオ"/>
                        </a:rPr>
                        <a:t>2,500件 ／ 4,000円</a:t>
                      </a:r>
                    </a:p>
                  </a:txBody>
                  <a:tcPr anchor="ctr">
                    <a:solidFill>
                      <a:srgbClr val="FFFFFF"/>
                    </a:solidFill>
                  </a:tcPr>
                </a:tc>
                <a:tc>
                  <a:txBody>
                    <a:bodyPr/>
                    <a:lstStyle/>
                    <a:p>
                      <a:pPr algn="r"/>
                      <a:r>
                        <a:rPr sz="1100">
                          <a:solidFill>
                            <a:srgbClr val="1C2233"/>
                          </a:solidFill>
                          <a:latin typeface="メイリオ"/>
                          <a:ea typeface="メイリオ"/>
                          <a:cs typeface="メイリオ"/>
                        </a:rPr>
                        <a:t>3,085件 ／ 4,408円</a:t>
                      </a:r>
                    </a:p>
                  </a:txBody>
                  <a:tcPr anchor="ctr">
                    <a:solidFill>
                      <a:srgbClr val="FFFFFF"/>
                    </a:solidFill>
                  </a:tcPr>
                </a:tc>
                <a:extLst>
                  <a:ext uri="{0D108BD9-81ED-4DB2-BD59-A6C34878D82A}">
                    <a16:rowId xmlns:a16="http://schemas.microsoft.com/office/drawing/2014/main" val="10007"/>
                  </a:ext>
                </a:extLst>
              </a:tr>
              <a:tr h="273600">
                <a:tc>
                  <a:txBody>
                    <a:bodyPr/>
                    <a:lstStyle/>
                    <a:p>
                      <a:pPr algn="l"/>
                      <a:r>
                        <a:rPr sz="1100">
                          <a:solidFill>
                            <a:srgbClr val="1C2233"/>
                          </a:solidFill>
                          <a:latin typeface="メイリオ"/>
                          <a:ea typeface="メイリオ"/>
                          <a:cs typeface="メイリオ"/>
                        </a:rPr>
                        <a:t>→ OC予約率</a:t>
                      </a:r>
                    </a:p>
                  </a:txBody>
                  <a:tcPr anchor="ctr">
                    <a:solidFill>
                      <a:srgbClr val="F4F7FF"/>
                    </a:solidFill>
                  </a:tcPr>
                </a:tc>
                <a:tc>
                  <a:txBody>
                    <a:bodyPr/>
                    <a:lstStyle/>
                    <a:p>
                      <a:pPr algn="r"/>
                      <a:r>
                        <a:rPr sz="1100">
                          <a:solidFill>
                            <a:srgbClr val="1C2233"/>
                          </a:solidFill>
                          <a:latin typeface="メイリオ"/>
                          <a:ea typeface="メイリオ"/>
                          <a:cs typeface="メイリオ"/>
                        </a:rPr>
                        <a:t>30%（750件）</a:t>
                      </a:r>
                    </a:p>
                  </a:txBody>
                  <a:tcPr anchor="ctr">
                    <a:solidFill>
                      <a:srgbClr val="F4F7FF"/>
                    </a:solidFill>
                  </a:tcPr>
                </a:tc>
                <a:tc>
                  <a:txBody>
                    <a:bodyPr/>
                    <a:lstStyle/>
                    <a:p>
                      <a:pPr algn="r"/>
                      <a:r>
                        <a:rPr sz="1100">
                          <a:solidFill>
                            <a:srgbClr val="1C2233"/>
                          </a:solidFill>
                          <a:latin typeface="メイリオ"/>
                          <a:ea typeface="メイリオ"/>
                          <a:cs typeface="メイリオ"/>
                        </a:rPr>
                        <a:t>30%（926件）※率は変えない</a:t>
                      </a:r>
                    </a:p>
                  </a:txBody>
                  <a:tcPr anchor="ctr">
                    <a:solidFill>
                      <a:srgbClr val="F4F7FF"/>
                    </a:solidFill>
                  </a:tcPr>
                </a:tc>
                <a:extLst>
                  <a:ext uri="{0D108BD9-81ED-4DB2-BD59-A6C34878D82A}">
                    <a16:rowId xmlns:a16="http://schemas.microsoft.com/office/drawing/2014/main" val="10008"/>
                  </a:ext>
                </a:extLst>
              </a:tr>
              <a:tr h="273600">
                <a:tc>
                  <a:txBody>
                    <a:bodyPr/>
                    <a:lstStyle/>
                    <a:p>
                      <a:pPr algn="l"/>
                      <a:r>
                        <a:rPr sz="1100">
                          <a:solidFill>
                            <a:srgbClr val="1C2233"/>
                          </a:solidFill>
                          <a:latin typeface="メイリオ"/>
                          <a:ea typeface="メイリオ"/>
                          <a:cs typeface="メイリオ"/>
                        </a:rPr>
                        <a:t>→ OC参加率</a:t>
                      </a:r>
                    </a:p>
                  </a:txBody>
                  <a:tcPr anchor="ctr">
                    <a:solidFill>
                      <a:srgbClr val="FFFFFF"/>
                    </a:solidFill>
                  </a:tcPr>
                </a:tc>
                <a:tc>
                  <a:txBody>
                    <a:bodyPr/>
                    <a:lstStyle/>
                    <a:p>
                      <a:pPr algn="r"/>
                      <a:r>
                        <a:rPr sz="1100" b="1">
                          <a:solidFill>
                            <a:srgbClr val="ED7D31"/>
                          </a:solidFill>
                          <a:latin typeface="メイリオ"/>
                          <a:ea typeface="メイリオ"/>
                          <a:cs typeface="メイリオ"/>
                        </a:rPr>
                        <a:t>70%（525名）</a:t>
                      </a:r>
                    </a:p>
                  </a:txBody>
                  <a:tcPr anchor="ctr">
                    <a:solidFill>
                      <a:srgbClr val="FFFFFF"/>
                    </a:solidFill>
                  </a:tcPr>
                </a:tc>
                <a:tc>
                  <a:txBody>
                    <a:bodyPr/>
                    <a:lstStyle/>
                    <a:p>
                      <a:pPr algn="r"/>
                      <a:r>
                        <a:rPr sz="1100" b="1">
                          <a:solidFill>
                            <a:srgbClr val="ED7D31"/>
                          </a:solidFill>
                          <a:latin typeface="メイリオ"/>
                          <a:ea typeface="メイリオ"/>
                          <a:cs typeface="メイリオ"/>
                        </a:rPr>
                        <a:t>80%（741名）※前日リマインド</a:t>
                      </a:r>
                    </a:p>
                  </a:txBody>
                  <a:tcPr anchor="ctr">
                    <a:solidFill>
                      <a:srgbClr val="FFFFFF"/>
                    </a:solidFill>
                  </a:tcPr>
                </a:tc>
                <a:extLst>
                  <a:ext uri="{0D108BD9-81ED-4DB2-BD59-A6C34878D82A}">
                    <a16:rowId xmlns:a16="http://schemas.microsoft.com/office/drawing/2014/main" val="10009"/>
                  </a:ext>
                </a:extLst>
              </a:tr>
              <a:tr h="273600">
                <a:tc>
                  <a:txBody>
                    <a:bodyPr/>
                    <a:lstStyle/>
                    <a:p>
                      <a:pPr algn="l"/>
                      <a:r>
                        <a:rPr sz="1100">
                          <a:solidFill>
                            <a:srgbClr val="1C2233"/>
                          </a:solidFill>
                          <a:latin typeface="メイリオ"/>
                          <a:ea typeface="メイリオ"/>
                          <a:cs typeface="メイリオ"/>
                        </a:rPr>
                        <a:t>→ 出願率</a:t>
                      </a:r>
                    </a:p>
                  </a:txBody>
                  <a:tcPr anchor="ctr">
                    <a:solidFill>
                      <a:srgbClr val="F4F7FF"/>
                    </a:solidFill>
                  </a:tcPr>
                </a:tc>
                <a:tc>
                  <a:txBody>
                    <a:bodyPr/>
                    <a:lstStyle/>
                    <a:p>
                      <a:pPr algn="r"/>
                      <a:r>
                        <a:rPr sz="1100" b="1">
                          <a:solidFill>
                            <a:srgbClr val="ED7D31"/>
                          </a:solidFill>
                          <a:latin typeface="メイリオ"/>
                          <a:ea typeface="メイリオ"/>
                          <a:cs typeface="メイリオ"/>
                        </a:rPr>
                        <a:t>40%（210名）</a:t>
                      </a:r>
                    </a:p>
                  </a:txBody>
                  <a:tcPr anchor="ctr">
                    <a:solidFill>
                      <a:srgbClr val="F4F7FF"/>
                    </a:solidFill>
                  </a:tcPr>
                </a:tc>
                <a:tc>
                  <a:txBody>
                    <a:bodyPr/>
                    <a:lstStyle/>
                    <a:p>
                      <a:pPr algn="r"/>
                      <a:r>
                        <a:rPr sz="1100" b="1">
                          <a:solidFill>
                            <a:srgbClr val="ED7D31"/>
                          </a:solidFill>
                          <a:latin typeface="メイリオ"/>
                          <a:ea typeface="メイリオ"/>
                          <a:cs typeface="メイリオ"/>
                        </a:rPr>
                        <a:t>43%（319名）★</a:t>
                      </a:r>
                    </a:p>
                  </a:txBody>
                  <a:tcPr anchor="ctr">
                    <a:solidFill>
                      <a:srgbClr val="F4F7FF"/>
                    </a:solidFill>
                  </a:tcPr>
                </a:tc>
                <a:extLst>
                  <a:ext uri="{0D108BD9-81ED-4DB2-BD59-A6C34878D82A}">
                    <a16:rowId xmlns:a16="http://schemas.microsoft.com/office/drawing/2014/main" val="10010"/>
                  </a:ext>
                </a:extLst>
              </a:tr>
              <a:tr h="273600">
                <a:tc>
                  <a:txBody>
                    <a:bodyPr/>
                    <a:lstStyle/>
                    <a:p>
                      <a:pPr algn="l"/>
                      <a:r>
                        <a:rPr sz="1100">
                          <a:solidFill>
                            <a:srgbClr val="1C2233"/>
                          </a:solidFill>
                          <a:latin typeface="メイリオ"/>
                          <a:ea typeface="メイリオ"/>
                          <a:cs typeface="メイリオ"/>
                        </a:rPr>
                        <a:t>→ 入学手続率</a:t>
                      </a:r>
                    </a:p>
                  </a:txBody>
                  <a:tcPr anchor="ctr">
                    <a:solidFill>
                      <a:srgbClr val="FFFFFF"/>
                    </a:solidFill>
                  </a:tcPr>
                </a:tc>
                <a:tc>
                  <a:txBody>
                    <a:bodyPr/>
                    <a:lstStyle/>
                    <a:p>
                      <a:pPr algn="r"/>
                      <a:r>
                        <a:rPr sz="1100">
                          <a:solidFill>
                            <a:srgbClr val="1C2233"/>
                          </a:solidFill>
                          <a:latin typeface="メイリオ"/>
                          <a:ea typeface="メイリオ"/>
                          <a:cs typeface="メイリオ"/>
                        </a:rPr>
                        <a:t>57%（120名）</a:t>
                      </a:r>
                    </a:p>
                  </a:txBody>
                  <a:tcPr anchor="ctr">
                    <a:solidFill>
                      <a:srgbClr val="FFFFFF"/>
                    </a:solidFill>
                  </a:tcPr>
                </a:tc>
                <a:tc>
                  <a:txBody>
                    <a:bodyPr/>
                    <a:lstStyle/>
                    <a:p>
                      <a:pPr algn="r"/>
                      <a:r>
                        <a:rPr sz="1100">
                          <a:solidFill>
                            <a:srgbClr val="1C2233"/>
                          </a:solidFill>
                          <a:latin typeface="メイリオ"/>
                          <a:ea typeface="メイリオ"/>
                          <a:cs typeface="メイリオ"/>
                        </a:rPr>
                        <a:t>57%（182名）</a:t>
                      </a:r>
                    </a:p>
                  </a:txBody>
                  <a:tcPr anchor="ctr">
                    <a:solidFill>
                      <a:srgbClr val="FFFFFF"/>
                    </a:solidFill>
                  </a:tcPr>
                </a:tc>
                <a:extLst>
                  <a:ext uri="{0D108BD9-81ED-4DB2-BD59-A6C34878D82A}">
                    <a16:rowId xmlns:a16="http://schemas.microsoft.com/office/drawing/2014/main" val="10011"/>
                  </a:ext>
                </a:extLst>
              </a:tr>
              <a:tr h="273600">
                <a:tc>
                  <a:txBody>
                    <a:bodyPr/>
                    <a:lstStyle/>
                    <a:p>
                      <a:pPr algn="l"/>
                      <a:r>
                        <a:rPr sz="1100">
                          <a:solidFill>
                            <a:srgbClr val="1C2233"/>
                          </a:solidFill>
                          <a:latin typeface="メイリオ"/>
                          <a:ea typeface="メイリオ"/>
                          <a:cs typeface="メイリオ"/>
                        </a:rPr>
                        <a:t>入学者（Web経由）</a:t>
                      </a:r>
                    </a:p>
                  </a:txBody>
                  <a:tcPr anchor="ctr">
                    <a:solidFill>
                      <a:srgbClr val="F4F7FF"/>
                    </a:solidFill>
                  </a:tcPr>
                </a:tc>
                <a:tc>
                  <a:txBody>
                    <a:bodyPr/>
                    <a:lstStyle/>
                    <a:p>
                      <a:pPr algn="r"/>
                      <a:r>
                        <a:rPr sz="1100" b="1">
                          <a:solidFill>
                            <a:srgbClr val="C00000"/>
                          </a:solidFill>
                          <a:latin typeface="メイリオ"/>
                          <a:ea typeface="メイリオ"/>
                          <a:cs typeface="メイリオ"/>
                        </a:rPr>
                        <a:t>120名</a:t>
                      </a:r>
                    </a:p>
                  </a:txBody>
                  <a:tcPr anchor="ctr">
                    <a:solidFill>
                      <a:srgbClr val="F4F7FF"/>
                    </a:solidFill>
                  </a:tcPr>
                </a:tc>
                <a:tc>
                  <a:txBody>
                    <a:bodyPr/>
                    <a:lstStyle/>
                    <a:p>
                      <a:pPr algn="r"/>
                      <a:r>
                        <a:rPr sz="1100" b="1">
                          <a:solidFill>
                            <a:srgbClr val="C00000"/>
                          </a:solidFill>
                          <a:latin typeface="メイリオ"/>
                          <a:ea typeface="メイリオ"/>
                          <a:cs typeface="メイリオ"/>
                        </a:rPr>
                        <a:t>182名（＋62名）</a:t>
                      </a:r>
                    </a:p>
                  </a:txBody>
                  <a:tcPr anchor="ctr">
                    <a:solidFill>
                      <a:srgbClr val="F4F7FF"/>
                    </a:solidFill>
                  </a:tcPr>
                </a:tc>
                <a:extLst>
                  <a:ext uri="{0D108BD9-81ED-4DB2-BD59-A6C34878D82A}">
                    <a16:rowId xmlns:a16="http://schemas.microsoft.com/office/drawing/2014/main" val="10012"/>
                  </a:ext>
                </a:extLst>
              </a:tr>
              <a:tr h="273600">
                <a:tc>
                  <a:txBody>
                    <a:bodyPr/>
                    <a:lstStyle/>
                    <a:p>
                      <a:pPr algn="l"/>
                      <a:r>
                        <a:rPr sz="1100">
                          <a:solidFill>
                            <a:srgbClr val="1C2233"/>
                          </a:solidFill>
                          <a:latin typeface="メイリオ"/>
                          <a:ea typeface="メイリオ"/>
                          <a:cs typeface="メイリオ"/>
                        </a:rPr>
                        <a:t>入学1名あたりの獲得コスト</a:t>
                      </a:r>
                    </a:p>
                  </a:txBody>
                  <a:tcPr anchor="ctr">
                    <a:solidFill>
                      <a:srgbClr val="FFFFFF"/>
                    </a:solidFill>
                  </a:tcPr>
                </a:tc>
                <a:tc>
                  <a:txBody>
                    <a:bodyPr/>
                    <a:lstStyle/>
                    <a:p>
                      <a:pPr algn="r"/>
                      <a:r>
                        <a:rPr sz="1100" b="1">
                          <a:solidFill>
                            <a:srgbClr val="1F285A"/>
                          </a:solidFill>
                          <a:latin typeface="メイリオ"/>
                          <a:ea typeface="メイリオ"/>
                          <a:cs typeface="メイリオ"/>
                        </a:rPr>
                        <a:t>83,333円</a:t>
                      </a:r>
                    </a:p>
                  </a:txBody>
                  <a:tcPr anchor="ctr">
                    <a:solidFill>
                      <a:srgbClr val="FFFFFF"/>
                    </a:solidFill>
                  </a:tcPr>
                </a:tc>
                <a:tc>
                  <a:txBody>
                    <a:bodyPr/>
                    <a:lstStyle/>
                    <a:p>
                      <a:pPr algn="r"/>
                      <a:r>
                        <a:rPr sz="1100" b="1">
                          <a:solidFill>
                            <a:srgbClr val="1F285A"/>
                          </a:solidFill>
                          <a:latin typeface="メイリオ"/>
                          <a:ea typeface="メイリオ"/>
                          <a:cs typeface="メイリオ"/>
                        </a:rPr>
                        <a:t>74,725円（▲10.3%）</a:t>
                      </a:r>
                    </a:p>
                  </a:txBody>
                  <a:tcPr anchor="ctr">
                    <a:solidFill>
                      <a:srgbClr val="FFFFFF"/>
                    </a:solidFill>
                  </a:tcPr>
                </a:tc>
                <a:extLst>
                  <a:ext uri="{0D108BD9-81ED-4DB2-BD59-A6C34878D82A}">
                    <a16:rowId xmlns:a16="http://schemas.microsoft.com/office/drawing/2014/main" val="10013"/>
                  </a:ext>
                </a:extLst>
              </a:tr>
            </a:tbl>
          </a:graphicData>
        </a:graphic>
      </p:graphicFrame>
      <p:sp>
        <p:nvSpPr>
          <p:cNvPr id="5" name="Rounded Rectangle 4"/>
          <p:cNvSpPr/>
          <p:nvPr/>
        </p:nvSpPr>
        <p:spPr>
          <a:xfrm>
            <a:off x="396000" y="5166000"/>
            <a:ext cx="2951999"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① LP CVRは動かしていない</a:t>
            </a:r>
          </a:p>
          <a:p>
            <a:pPr algn="l">
              <a:lnSpc>
                <a:spcPct val="120000"/>
              </a:lnSpc>
              <a:spcAft>
                <a:spcPts val="200"/>
              </a:spcAft>
            </a:pPr>
            <a:r>
              <a:rPr sz="1050">
                <a:solidFill>
                  <a:srgbClr val="1C2233"/>
                </a:solidFill>
                <a:latin typeface="メイリオ"/>
                <a:ea typeface="メイリオ"/>
                <a:cs typeface="メイリオ"/>
              </a:rPr>
              <a:t>触るのは「LPから落ちた後」と「予約が入った後」の2箇所だけ。</a:t>
            </a:r>
          </a:p>
        </p:txBody>
      </p:sp>
      <p:sp>
        <p:nvSpPr>
          <p:cNvPr id="6" name="Rounded Rectangle 5"/>
          <p:cNvSpPr/>
          <p:nvPr/>
        </p:nvSpPr>
        <p:spPr>
          <a:xfrm>
            <a:off x="3491999" y="5166000"/>
            <a:ext cx="2951999" cy="827999"/>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② 効くのは母数ではなく率</a:t>
            </a:r>
          </a:p>
          <a:p>
            <a:pPr algn="l">
              <a:lnSpc>
                <a:spcPct val="120000"/>
              </a:lnSpc>
              <a:spcAft>
                <a:spcPts val="200"/>
              </a:spcAft>
            </a:pPr>
            <a:r>
              <a:rPr sz="1050">
                <a:solidFill>
                  <a:srgbClr val="1C2233"/>
                </a:solidFill>
                <a:latin typeface="メイリオ"/>
                <a:ea typeface="メイリオ"/>
                <a:cs typeface="メイリオ"/>
              </a:rPr>
              <a:t>CV①は＋23%。でも入学者は＋52%。歩留まりが掛け算で効く。</a:t>
            </a:r>
          </a:p>
        </p:txBody>
      </p:sp>
      <p:sp>
        <p:nvSpPr>
          <p:cNvPr id="7" name="Rounded Rectangle 6"/>
          <p:cNvSpPr/>
          <p:nvPr/>
        </p:nvSpPr>
        <p:spPr>
          <a:xfrm>
            <a:off x="6588000" y="5166000"/>
            <a:ext cx="2951999" cy="827999"/>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③ CPA単体は悪化して見える</a:t>
            </a:r>
          </a:p>
          <a:p>
            <a:pPr algn="l">
              <a:lnSpc>
                <a:spcPct val="120000"/>
              </a:lnSpc>
              <a:spcAft>
                <a:spcPts val="200"/>
              </a:spcAft>
            </a:pPr>
            <a:r>
              <a:rPr sz="1050">
                <a:solidFill>
                  <a:srgbClr val="1C2233"/>
                </a:solidFill>
                <a:latin typeface="メイリオ"/>
                <a:ea typeface="メイリオ"/>
                <a:cs typeface="メイリオ"/>
              </a:rPr>
              <a:t>見るのは入学1名あたり。83,333円→74,725円（▲10.3%）。</a:t>
            </a:r>
          </a:p>
        </p:txBody>
      </p:sp>
      <p:sp>
        <p:nvSpPr>
          <p:cNvPr id="8" name="TextBox 7"/>
          <p:cNvSpPr txBox="1"/>
          <p:nvPr/>
        </p:nvSpPr>
        <p:spPr>
          <a:xfrm>
            <a:off x="396000" y="6083999"/>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★＝仮置き（①友だち化率3%　②友だち→CV①転換率20%　③出願率40→43%）。貴学の実績値で置き換える。</a:t>
            </a:r>
          </a:p>
          <a:p>
            <a:pPr algn="l">
              <a:lnSpc>
                <a:spcPct val="120000"/>
              </a:lnSpc>
            </a:pPr>
            <a:r>
              <a:rPr sz="900">
                <a:solidFill>
                  <a:srgbClr val="646C82"/>
                </a:solidFill>
                <a:latin typeface="メイリオ"/>
                <a:ea typeface="メイリオ"/>
                <a:cs typeface="メイリオ"/>
              </a:rPr>
              <a:t>※ 本試算はWeb経由の募集だけを切り出したもの。他経路と重複するため純増は試算より小さくなる。定員充足済みの学校では「歩留まり改善によるコスト削減」として読む。</a:t>
            </a:r>
          </a:p>
        </p:txBody>
      </p:sp>
    </p:spTree>
    <p:extLst>
      <p:ext uri="{BB962C8B-B14F-4D97-AF65-F5344CB8AC3E}">
        <p14:creationId xmlns:p14="http://schemas.microsoft.com/office/powerpoint/2010/main" val="41122265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施策設計①｜友だち追加の動線</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新しく集めるのではなく、いま取れている資料請求者・OC参加者をLINEに載せ替える。</a:t>
            </a:r>
          </a:p>
        </p:txBody>
      </p:sp>
      <p:graphicFrame>
        <p:nvGraphicFramePr>
          <p:cNvPr id="4" name="Table 3"/>
          <p:cNvGraphicFramePr>
            <a:graphicFrameLocks noGrp="1"/>
          </p:cNvGraphicFramePr>
          <p:nvPr/>
        </p:nvGraphicFramePr>
        <p:xfrm>
          <a:off x="396000" y="1224000"/>
          <a:ext cx="9144000" cy="3225600"/>
        </p:xfrm>
        <a:graphic>
          <a:graphicData uri="http://schemas.openxmlformats.org/drawingml/2006/table">
            <a:tbl>
              <a:tblPr firstRow="1" bandRow="1">
                <a:tableStyleId>{5C22544A-7EE6-4342-B048-85BDC9FD1C3A}</a:tableStyleId>
              </a:tblPr>
              <a:tblGrid>
                <a:gridCol w="2376000">
                  <a:extLst>
                    <a:ext uri="{9D8B030D-6E8A-4147-A177-3AD203B41FA5}">
                      <a16:colId xmlns:a16="http://schemas.microsoft.com/office/drawing/2014/main" val="20000"/>
                    </a:ext>
                  </a:extLst>
                </a:gridCol>
                <a:gridCol w="3744000">
                  <a:extLst>
                    <a:ext uri="{9D8B030D-6E8A-4147-A177-3AD203B41FA5}">
                      <a16:colId xmlns:a16="http://schemas.microsoft.com/office/drawing/2014/main" val="20001"/>
                    </a:ext>
                  </a:extLst>
                </a:gridCol>
                <a:gridCol w="1080000">
                  <a:extLst>
                    <a:ext uri="{9D8B030D-6E8A-4147-A177-3AD203B41FA5}">
                      <a16:colId xmlns:a16="http://schemas.microsoft.com/office/drawing/2014/main" val="20002"/>
                    </a:ext>
                  </a:extLst>
                </a:gridCol>
                <a:gridCol w="1944000">
                  <a:extLst>
                    <a:ext uri="{9D8B030D-6E8A-4147-A177-3AD203B41FA5}">
                      <a16:colId xmlns:a16="http://schemas.microsoft.com/office/drawing/2014/main" val="20003"/>
                    </a:ext>
                  </a:extLst>
                </a:gridCol>
              </a:tblGrid>
              <a:tr h="460800">
                <a:tc>
                  <a:txBody>
                    <a:bodyPr/>
                    <a:lstStyle/>
                    <a:p>
                      <a:pPr algn="l"/>
                      <a:r>
                        <a:rPr sz="1200" b="1">
                          <a:solidFill>
                            <a:srgbClr val="FFFFFF"/>
                          </a:solidFill>
                          <a:latin typeface="メイリオ"/>
                          <a:ea typeface="メイリオ"/>
                          <a:cs typeface="メイリオ"/>
                        </a:rPr>
                        <a:t>箇所</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ctr"/>
                      <a:r>
                        <a:rPr sz="1200" b="1">
                          <a:solidFill>
                            <a:srgbClr val="FFFFFF"/>
                          </a:solidFill>
                          <a:latin typeface="メイリオ"/>
                          <a:ea typeface="メイリオ"/>
                          <a:cs typeface="メイリオ"/>
                        </a:rPr>
                        <a:t>到達点</a:t>
                      </a:r>
                    </a:p>
                  </a:txBody>
                  <a:tcPr anchor="ctr">
                    <a:solidFill>
                      <a:srgbClr val="1F285A"/>
                    </a:solidFill>
                  </a:tcPr>
                </a:tc>
                <a:tc>
                  <a:txBody>
                    <a:bodyPr/>
                    <a:lstStyle/>
                    <a:p>
                      <a:pPr algn="l"/>
                      <a:r>
                        <a:rPr sz="1200" b="1">
                          <a:solidFill>
                            <a:srgbClr val="FFFFFF"/>
                          </a:solidFill>
                          <a:latin typeface="メイリオ"/>
                          <a:ea typeface="メイリオ"/>
                          <a:cs typeface="メイリオ"/>
                        </a:rPr>
                        <a:t>費用（税抜）</a:t>
                      </a:r>
                    </a:p>
                  </a:txBody>
                  <a:tcPr anchor="ctr">
                    <a:solidFill>
                      <a:srgbClr val="1F285A"/>
                    </a:solidFill>
                  </a:tcPr>
                </a:tc>
                <a:extLst>
                  <a:ext uri="{0D108BD9-81ED-4DB2-BD59-A6C34878D82A}">
                    <a16:rowId xmlns:a16="http://schemas.microsoft.com/office/drawing/2014/main" val="10000"/>
                  </a:ext>
                </a:extLst>
              </a:tr>
              <a:tr h="460800">
                <a:tc>
                  <a:txBody>
                    <a:bodyPr/>
                    <a:lstStyle/>
                    <a:p>
                      <a:pPr algn="l"/>
                      <a:r>
                        <a:rPr sz="1100">
                          <a:solidFill>
                            <a:srgbClr val="1C2233"/>
                          </a:solidFill>
                          <a:latin typeface="メイリオ"/>
                          <a:ea typeface="メイリオ"/>
                          <a:cs typeface="メイリオ"/>
                        </a:rPr>
                        <a:t>資料請求の完了画面</a:t>
                      </a:r>
                    </a:p>
                    <a:p>
                      <a:pPr algn="l"/>
                      <a:r>
                        <a:rPr sz="1100">
                          <a:solidFill>
                            <a:srgbClr val="1C2233"/>
                          </a:solidFill>
                          <a:latin typeface="メイリオ"/>
                          <a:ea typeface="メイリオ"/>
                          <a:cs typeface="メイリオ"/>
                        </a:rPr>
                        <a:t>（サンクスLINE誘導）</a:t>
                      </a:r>
                    </a:p>
                  </a:txBody>
                  <a:tcPr anchor="ctr">
                    <a:solidFill>
                      <a:srgbClr val="FFFFFF"/>
                    </a:solidFill>
                  </a:tcPr>
                </a:tc>
                <a:tc>
                  <a:txBody>
                    <a:bodyPr/>
                    <a:lstStyle/>
                    <a:p>
                      <a:pPr algn="l"/>
                      <a:r>
                        <a:rPr sz="1100">
                          <a:solidFill>
                            <a:srgbClr val="1C2233"/>
                          </a:solidFill>
                          <a:latin typeface="メイリオ"/>
                          <a:ea typeface="メイリオ"/>
                          <a:cs typeface="メイリオ"/>
                        </a:rPr>
                        <a:t>学部学科診断で、自分に合う学部が30秒でわかる</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b="1">
                          <a:solidFill>
                            <a:srgbClr val="1F285A"/>
                          </a:solidFill>
                          <a:latin typeface="メイリオ"/>
                          <a:ea typeface="メイリオ"/>
                          <a:cs typeface="メイリオ"/>
                        </a:rPr>
                        <a:t>コンサル発注なら無償</a:t>
                      </a:r>
                    </a:p>
                  </a:txBody>
                  <a:tcPr anchor="ctr">
                    <a:solidFill>
                      <a:srgbClr val="FFFFFF"/>
                    </a:solidFill>
                  </a:tcPr>
                </a:tc>
                <a:extLst>
                  <a:ext uri="{0D108BD9-81ED-4DB2-BD59-A6C34878D82A}">
                    <a16:rowId xmlns:a16="http://schemas.microsoft.com/office/drawing/2014/main" val="10001"/>
                  </a:ext>
                </a:extLst>
              </a:tr>
              <a:tr h="460800">
                <a:tc>
                  <a:txBody>
                    <a:bodyPr/>
                    <a:lstStyle/>
                    <a:p>
                      <a:pPr algn="l"/>
                      <a:r>
                        <a:rPr sz="1100">
                          <a:solidFill>
                            <a:srgbClr val="1C2233"/>
                          </a:solidFill>
                          <a:latin typeface="メイリオ"/>
                          <a:ea typeface="メイリオ"/>
                          <a:cs typeface="メイリオ"/>
                        </a:rPr>
                        <a:t>オープンキャンパス受付のQR</a:t>
                      </a:r>
                    </a:p>
                  </a:txBody>
                  <a:tcPr anchor="ctr">
                    <a:solidFill>
                      <a:srgbClr val="F4F7FF"/>
                    </a:solidFill>
                  </a:tcPr>
                </a:tc>
                <a:tc>
                  <a:txBody>
                    <a:bodyPr/>
                    <a:lstStyle/>
                    <a:p>
                      <a:pPr algn="l"/>
                      <a:r>
                        <a:rPr sz="1100">
                          <a:solidFill>
                            <a:srgbClr val="1C2233"/>
                          </a:solidFill>
                          <a:latin typeface="メイリオ"/>
                          <a:ea typeface="メイリオ"/>
                          <a:cs typeface="メイリオ"/>
                        </a:rPr>
                        <a:t>当日の流れ・持ち物を先に送る／受付はLINE画面を見せるだけ</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b="1">
                          <a:solidFill>
                            <a:srgbClr val="1F285A"/>
                          </a:solidFill>
                          <a:latin typeface="メイリオ"/>
                          <a:ea typeface="メイリオ"/>
                          <a:cs typeface="メイリオ"/>
                        </a:rPr>
                        <a:t>無償</a:t>
                      </a:r>
                    </a:p>
                  </a:txBody>
                  <a:tcPr anchor="ctr">
                    <a:solidFill>
                      <a:srgbClr val="F4F7FF"/>
                    </a:solidFill>
                  </a:tcPr>
                </a:tc>
                <a:extLst>
                  <a:ext uri="{0D108BD9-81ED-4DB2-BD59-A6C34878D82A}">
                    <a16:rowId xmlns:a16="http://schemas.microsoft.com/office/drawing/2014/main" val="10002"/>
                  </a:ext>
                </a:extLst>
              </a:tr>
              <a:tr h="460800">
                <a:tc>
                  <a:txBody>
                    <a:bodyPr/>
                    <a:lstStyle/>
                    <a:p>
                      <a:pPr algn="l"/>
                      <a:r>
                        <a:rPr sz="1100">
                          <a:solidFill>
                            <a:srgbClr val="1C2233"/>
                          </a:solidFill>
                          <a:latin typeface="メイリオ"/>
                          <a:ea typeface="メイリオ"/>
                          <a:cs typeface="メイリオ"/>
                        </a:rPr>
                        <a:t>LP離脱防止ポップアップ</a:t>
                      </a:r>
                    </a:p>
                  </a:txBody>
                  <a:tcPr anchor="ctr">
                    <a:solidFill>
                      <a:srgbClr val="FFFFFF"/>
                    </a:solidFill>
                  </a:tcPr>
                </a:tc>
                <a:tc>
                  <a:txBody>
                    <a:bodyPr/>
                    <a:lstStyle/>
                    <a:p>
                      <a:pPr algn="l"/>
                      <a:r>
                        <a:rPr sz="1100">
                          <a:solidFill>
                            <a:srgbClr val="1C2233"/>
                          </a:solidFill>
                          <a:latin typeface="メイリオ"/>
                          <a:ea typeface="メイリオ"/>
                          <a:cs typeface="メイリオ"/>
                        </a:rPr>
                        <a:t>30秒の学部診断／名前も電話番号も入力しません</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a:solidFill>
                            <a:srgbClr val="1C2233"/>
                          </a:solidFill>
                          <a:latin typeface="メイリオ"/>
                          <a:ea typeface="メイリオ"/>
                          <a:cs typeface="メイリオ"/>
                        </a:rPr>
                        <a:t>初期 1.5万円 ／ 月 3万円</a:t>
                      </a:r>
                    </a:p>
                  </a:txBody>
                  <a:tcPr anchor="ctr">
                    <a:solidFill>
                      <a:srgbClr val="FFFFFF"/>
                    </a:solidFill>
                  </a:tcPr>
                </a:tc>
                <a:extLst>
                  <a:ext uri="{0D108BD9-81ED-4DB2-BD59-A6C34878D82A}">
                    <a16:rowId xmlns:a16="http://schemas.microsoft.com/office/drawing/2014/main" val="10003"/>
                  </a:ext>
                </a:extLst>
              </a:tr>
              <a:tr h="460800">
                <a:tc>
                  <a:txBody>
                    <a:bodyPr/>
                    <a:lstStyle/>
                    <a:p>
                      <a:pPr algn="l"/>
                      <a:r>
                        <a:rPr sz="1100">
                          <a:solidFill>
                            <a:srgbClr val="1C2233"/>
                          </a:solidFill>
                          <a:latin typeface="メイリオ"/>
                          <a:ea typeface="メイリオ"/>
                          <a:cs typeface="メイリオ"/>
                        </a:rPr>
                        <a:t>LINE広告（CPF）</a:t>
                      </a:r>
                    </a:p>
                  </a:txBody>
                  <a:tcPr anchor="ctr">
                    <a:solidFill>
                      <a:srgbClr val="F4F7FF"/>
                    </a:solidFill>
                  </a:tcPr>
                </a:tc>
                <a:tc>
                  <a:txBody>
                    <a:bodyPr/>
                    <a:lstStyle/>
                    <a:p>
                      <a:pPr algn="l"/>
                      <a:r>
                        <a:rPr sz="1100">
                          <a:solidFill>
                            <a:srgbClr val="1C2233"/>
                          </a:solidFill>
                          <a:latin typeface="メイリオ"/>
                          <a:ea typeface="メイリオ"/>
                          <a:cs typeface="メイリオ"/>
                        </a:rPr>
                        <a:t>タップ1回で友だち追加・フォーム入力ゼロ</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a:solidFill>
                            <a:srgbClr val="1C2233"/>
                          </a:solidFill>
                          <a:latin typeface="メイリオ"/>
                          <a:ea typeface="メイリオ"/>
                          <a:cs typeface="メイリオ"/>
                        </a:rPr>
                        <a:t>20万円〜（1ヶ月〜）</a:t>
                      </a:r>
                    </a:p>
                  </a:txBody>
                  <a:tcPr anchor="ctr">
                    <a:solidFill>
                      <a:srgbClr val="F4F7FF"/>
                    </a:solidFill>
                  </a:tcPr>
                </a:tc>
                <a:extLst>
                  <a:ext uri="{0D108BD9-81ED-4DB2-BD59-A6C34878D82A}">
                    <a16:rowId xmlns:a16="http://schemas.microsoft.com/office/drawing/2014/main" val="10004"/>
                  </a:ext>
                </a:extLst>
              </a:tr>
              <a:tr h="460800">
                <a:tc>
                  <a:txBody>
                    <a:bodyPr/>
                    <a:lstStyle/>
                    <a:p>
                      <a:pPr algn="l"/>
                      <a:r>
                        <a:rPr sz="1100">
                          <a:solidFill>
                            <a:srgbClr val="1C2233"/>
                          </a:solidFill>
                          <a:latin typeface="メイリオ"/>
                          <a:ea typeface="メイリオ"/>
                          <a:cs typeface="メイリオ"/>
                        </a:rPr>
                        <a:t>通知メッセージ（保有リスト）</a:t>
                      </a:r>
                    </a:p>
                  </a:txBody>
                  <a:tcPr anchor="ctr">
                    <a:solidFill>
                      <a:srgbClr val="FFFFFF"/>
                    </a:solidFill>
                  </a:tcPr>
                </a:tc>
                <a:tc>
                  <a:txBody>
                    <a:bodyPr/>
                    <a:lstStyle/>
                    <a:p>
                      <a:pPr algn="l"/>
                      <a:r>
                        <a:rPr sz="1100">
                          <a:solidFill>
                            <a:srgbClr val="1C2233"/>
                          </a:solidFill>
                          <a:latin typeface="メイリオ"/>
                          <a:ea typeface="メイリオ"/>
                          <a:cs typeface="メイリオ"/>
                        </a:rPr>
                        <a:t>資料請求者・OC予約者へ、友だちでなくても直接届く</a:t>
                      </a:r>
                    </a:p>
                  </a:txBody>
                  <a:tcPr anchor="ctr">
                    <a:solidFill>
                      <a:srgbClr val="FFFFFF"/>
                    </a:solidFill>
                  </a:tcPr>
                </a:tc>
                <a:tc>
                  <a:txBody>
                    <a:bodyPr/>
                    <a:lstStyle/>
                    <a:p>
                      <a:pPr algn="ctr"/>
                      <a:r>
                        <a:rPr sz="1100">
                          <a:solidFill>
                            <a:srgbClr val="1C2233"/>
                          </a:solidFill>
                          <a:latin typeface="メイリオ"/>
                          <a:ea typeface="メイリオ"/>
                          <a:cs typeface="メイリオ"/>
                        </a:rPr>
                        <a:t>LINE追加</a:t>
                      </a:r>
                    </a:p>
                  </a:txBody>
                  <a:tcPr anchor="ctr">
                    <a:solidFill>
                      <a:srgbClr val="FFFFFF"/>
                    </a:solidFill>
                  </a:tcPr>
                </a:tc>
                <a:tc>
                  <a:txBody>
                    <a:bodyPr/>
                    <a:lstStyle/>
                    <a:p>
                      <a:pPr algn="l"/>
                      <a:r>
                        <a:rPr sz="1100">
                          <a:solidFill>
                            <a:srgbClr val="1C2233"/>
                          </a:solidFill>
                          <a:latin typeface="メイリオ"/>
                          <a:ea typeface="メイリオ"/>
                          <a:cs typeface="メイリオ"/>
                        </a:rPr>
                        <a:t>初期 10万円 ／ 月 8万円〜＋通数 7円</a:t>
                      </a:r>
                    </a:p>
                  </a:txBody>
                  <a:tcPr anchor="ctr">
                    <a:solidFill>
                      <a:srgbClr val="FFFFFF"/>
                    </a:solidFill>
                  </a:tcPr>
                </a:tc>
                <a:extLst>
                  <a:ext uri="{0D108BD9-81ED-4DB2-BD59-A6C34878D82A}">
                    <a16:rowId xmlns:a16="http://schemas.microsoft.com/office/drawing/2014/main" val="10005"/>
                  </a:ext>
                </a:extLst>
              </a:tr>
              <a:tr h="460800">
                <a:tc>
                  <a:txBody>
                    <a:bodyPr/>
                    <a:lstStyle/>
                    <a:p>
                      <a:pPr algn="l"/>
                      <a:r>
                        <a:rPr sz="1100">
                          <a:solidFill>
                            <a:srgbClr val="1C2233"/>
                          </a:solidFill>
                          <a:latin typeface="メイリオ"/>
                          <a:ea typeface="メイリオ"/>
                          <a:cs typeface="メイリオ"/>
                        </a:rPr>
                        <a:t>パンフ裏表紙・高校での説明会資料</a:t>
                      </a:r>
                    </a:p>
                  </a:txBody>
                  <a:tcPr anchor="ctr">
                    <a:solidFill>
                      <a:srgbClr val="F4F7FF"/>
                    </a:solidFill>
                  </a:tcPr>
                </a:tc>
                <a:tc>
                  <a:txBody>
                    <a:bodyPr/>
                    <a:lstStyle/>
                    <a:p>
                      <a:pPr algn="l"/>
                      <a:r>
                        <a:rPr sz="1100">
                          <a:solidFill>
                            <a:srgbClr val="1C2233"/>
                          </a:solidFill>
                          <a:latin typeface="メイリオ"/>
                          <a:ea typeface="メイリオ"/>
                          <a:cs typeface="メイリオ"/>
                        </a:rPr>
                        <a:t>デジタルパンフをLINEで受け取れる</a:t>
                      </a:r>
                    </a:p>
                  </a:txBody>
                  <a:tcPr anchor="ctr">
                    <a:solidFill>
                      <a:srgbClr val="F4F7FF"/>
                    </a:solidFill>
                  </a:tcPr>
                </a:tc>
                <a:tc>
                  <a:txBody>
                    <a:bodyPr/>
                    <a:lstStyle/>
                    <a:p>
                      <a:pPr algn="ctr"/>
                      <a:r>
                        <a:rPr sz="1100">
                          <a:solidFill>
                            <a:srgbClr val="1C2233"/>
                          </a:solidFill>
                          <a:latin typeface="メイリオ"/>
                          <a:ea typeface="メイリオ"/>
                          <a:cs typeface="メイリオ"/>
                        </a:rPr>
                        <a:t>LINE追加</a:t>
                      </a:r>
                    </a:p>
                  </a:txBody>
                  <a:tcPr anchor="ctr">
                    <a:solidFill>
                      <a:srgbClr val="F4F7FF"/>
                    </a:solidFill>
                  </a:tcPr>
                </a:tc>
                <a:tc>
                  <a:txBody>
                    <a:bodyPr/>
                    <a:lstStyle/>
                    <a:p>
                      <a:pPr algn="l"/>
                      <a:r>
                        <a:rPr sz="1100" b="1">
                          <a:solidFill>
                            <a:srgbClr val="1F285A"/>
                          </a:solidFill>
                          <a:latin typeface="メイリオ"/>
                          <a:ea typeface="メイリオ"/>
                          <a:cs typeface="メイリオ"/>
                        </a:rPr>
                        <a:t>無償</a:t>
                      </a:r>
                    </a:p>
                  </a:txBody>
                  <a:tcPr anchor="ctr">
                    <a:solidFill>
                      <a:srgbClr val="F4F7FF"/>
                    </a:solidFill>
                  </a:tcPr>
                </a:tc>
                <a:extLst>
                  <a:ext uri="{0D108BD9-81ED-4DB2-BD59-A6C34878D82A}">
                    <a16:rowId xmlns:a16="http://schemas.microsoft.com/office/drawing/2014/main" val="10006"/>
                  </a:ext>
                </a:extLst>
              </a:tr>
            </a:tbl>
          </a:graphicData>
        </a:graphic>
      </p:graphicFrame>
      <p:sp>
        <p:nvSpPr>
          <p:cNvPr id="5" name="Rectangle 4"/>
          <p:cNvSpPr/>
          <p:nvPr/>
        </p:nvSpPr>
        <p:spPr>
          <a:xfrm>
            <a:off x="396000" y="4716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32000" y="4716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76000" y="4795200"/>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最も志望度が高いのは「OCに来てくれた高校生」。受付のQR1枚が、コストゼロで一番効く。</a:t>
            </a:r>
          </a:p>
        </p:txBody>
      </p:sp>
      <p:sp>
        <p:nvSpPr>
          <p:cNvPr id="8" name="TextBox 7"/>
          <p:cNvSpPr txBox="1"/>
          <p:nvPr/>
        </p:nvSpPr>
        <p:spPr>
          <a:xfrm>
            <a:off x="396000" y="5292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費用は DYM 標準（税抜・6ヶ月〜）。オフライン動線・WEBサイト動線整備はコンサル発注時は無償で付帯。</a:t>
            </a:r>
          </a:p>
          <a:p>
            <a:pPr algn="l">
              <a:lnSpc>
                <a:spcPct val="120000"/>
              </a:lnSpc>
            </a:pPr>
            <a:r>
              <a:rPr sz="900">
                <a:solidFill>
                  <a:srgbClr val="646C82"/>
                </a:solidFill>
                <a:latin typeface="メイリオ"/>
                <a:ea typeface="メイリオ"/>
                <a:cs typeface="メイリオ"/>
              </a:rPr>
              <a:t>※ 通知メッセージは Sales Partner／Tech Partner 限定公開のAPIを使用する機能。料金プランにより通数単価・利用可能機能が異なる。</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施策設計②｜効率改善（配信の効果算出）</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配信ごとに「対象 → 訴求 → 開封率×クリック率×CVR → 件数」を一本の式で示す。</a:t>
            </a:r>
          </a:p>
          <a:p>
            <a:pPr algn="l">
              <a:lnSpc>
                <a:spcPct val="122000"/>
              </a:lnSpc>
            </a:pPr>
            <a:r>
              <a:rPr sz="1500">
                <a:solidFill>
                  <a:srgbClr val="646C82"/>
                </a:solidFill>
                <a:latin typeface="メイリオ"/>
                <a:ea typeface="メイリオ"/>
                <a:cs typeface="メイリオ"/>
              </a:rPr>
              <a:t>率は貴学の実績値を入れて確定する（進学領域の公開統計は存在しない）。</a:t>
            </a:r>
          </a:p>
        </p:txBody>
      </p:sp>
      <p:graphicFrame>
        <p:nvGraphicFramePr>
          <p:cNvPr id="4" name="Table 3"/>
          <p:cNvGraphicFramePr>
            <a:graphicFrameLocks noGrp="1"/>
          </p:cNvGraphicFramePr>
          <p:nvPr/>
        </p:nvGraphicFramePr>
        <p:xfrm>
          <a:off x="396000" y="1224000"/>
          <a:ext cx="9143999" cy="4464000"/>
        </p:xfrm>
        <a:graphic>
          <a:graphicData uri="http://schemas.openxmlformats.org/drawingml/2006/table">
            <a:tbl>
              <a:tblPr firstRow="1" bandRow="1">
                <a:tableStyleId>{5C22544A-7EE6-4342-B048-85BDC9FD1C3A}</a:tableStyleId>
              </a:tblPr>
              <a:tblGrid>
                <a:gridCol w="1224000">
                  <a:extLst>
                    <a:ext uri="{9D8B030D-6E8A-4147-A177-3AD203B41FA5}">
                      <a16:colId xmlns:a16="http://schemas.microsoft.com/office/drawing/2014/main" val="20000"/>
                    </a:ext>
                  </a:extLst>
                </a:gridCol>
                <a:gridCol w="2304000">
                  <a:extLst>
                    <a:ext uri="{9D8B030D-6E8A-4147-A177-3AD203B41FA5}">
                      <a16:colId xmlns:a16="http://schemas.microsoft.com/office/drawing/2014/main" val="20001"/>
                    </a:ext>
                  </a:extLst>
                </a:gridCol>
                <a:gridCol w="2951999">
                  <a:extLst>
                    <a:ext uri="{9D8B030D-6E8A-4147-A177-3AD203B41FA5}">
                      <a16:colId xmlns:a16="http://schemas.microsoft.com/office/drawing/2014/main" val="20002"/>
                    </a:ext>
                  </a:extLst>
                </a:gridCol>
                <a:gridCol w="1800000">
                  <a:extLst>
                    <a:ext uri="{9D8B030D-6E8A-4147-A177-3AD203B41FA5}">
                      <a16:colId xmlns:a16="http://schemas.microsoft.com/office/drawing/2014/main" val="20003"/>
                    </a:ext>
                  </a:extLst>
                </a:gridCol>
                <a:gridCol w="864000">
                  <a:extLst>
                    <a:ext uri="{9D8B030D-6E8A-4147-A177-3AD203B41FA5}">
                      <a16:colId xmlns:a16="http://schemas.microsoft.com/office/drawing/2014/main" val="20004"/>
                    </a:ext>
                  </a:extLst>
                </a:gridCol>
              </a:tblGrid>
              <a:tr h="558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対象（想定数）</a:t>
                      </a:r>
                    </a:p>
                  </a:txBody>
                  <a:tcPr anchor="ctr">
                    <a:solidFill>
                      <a:srgbClr val="1F285A"/>
                    </a:solidFill>
                  </a:tcPr>
                </a:tc>
                <a:tc>
                  <a:txBody>
                    <a:bodyPr/>
                    <a:lstStyle/>
                    <a:p>
                      <a:pPr algn="l"/>
                      <a:r>
                        <a:rPr sz="1200" b="1">
                          <a:solidFill>
                            <a:srgbClr val="FFFFFF"/>
                          </a:solidFill>
                          <a:latin typeface="メイリオ"/>
                          <a:ea typeface="メイリオ"/>
                          <a:cs typeface="メイリオ"/>
                        </a:rPr>
                        <a:t>訴求</a:t>
                      </a:r>
                    </a:p>
                  </a:txBody>
                  <a:tcPr anchor="ctr">
                    <a:solidFill>
                      <a:srgbClr val="1F285A"/>
                    </a:solidFill>
                  </a:tcPr>
                </a:tc>
                <a:tc>
                  <a:txBody>
                    <a:bodyPr/>
                    <a:lstStyle/>
                    <a:p>
                      <a:pPr algn="ctr"/>
                      <a:r>
                        <a:rPr sz="1200" b="1">
                          <a:solidFill>
                            <a:srgbClr val="FFFFFF"/>
                          </a:solidFill>
                          <a:latin typeface="メイリオ"/>
                          <a:ea typeface="メイリオ"/>
                          <a:cs typeface="メイリオ"/>
                        </a:rPr>
                        <a:t>計算式</a:t>
                      </a:r>
                    </a:p>
                  </a:txBody>
                  <a:tcPr anchor="ctr">
                    <a:solidFill>
                      <a:srgbClr val="1F285A"/>
                    </a:solidFill>
                  </a:tcPr>
                </a:tc>
                <a:tc>
                  <a:txBody>
                    <a:bodyPr/>
                    <a:lstStyle/>
                    <a:p>
                      <a:pPr algn="ctr"/>
                      <a:r>
                        <a:rPr sz="1200" b="1">
                          <a:solidFill>
                            <a:srgbClr val="FFFFFF"/>
                          </a:solidFill>
                          <a:latin typeface="メイリオ"/>
                          <a:ea typeface="メイリオ"/>
                          <a:cs typeface="メイリオ"/>
                        </a:rPr>
                        <a:t>件数</a:t>
                      </a:r>
                    </a:p>
                  </a:txBody>
                  <a:tcPr anchor="ctr">
                    <a:solidFill>
                      <a:srgbClr val="1F285A"/>
                    </a:solidFill>
                  </a:tcPr>
                </a:tc>
                <a:extLst>
                  <a:ext uri="{0D108BD9-81ED-4DB2-BD59-A6C34878D82A}">
                    <a16:rowId xmlns:a16="http://schemas.microsoft.com/office/drawing/2014/main" val="10000"/>
                  </a:ext>
                </a:extLst>
              </a:tr>
              <a:tr h="558000">
                <a:tc>
                  <a:txBody>
                    <a:bodyPr/>
                    <a:lstStyle/>
                    <a:p>
                      <a:pPr algn="ctr"/>
                      <a:r>
                        <a:rPr sz="1100">
                          <a:solidFill>
                            <a:srgbClr val="1C2233"/>
                          </a:solidFill>
                          <a:latin typeface="メイリオ"/>
                          <a:ea typeface="メイリオ"/>
                          <a:cs typeface="メイリオ"/>
                        </a:rPr>
                        <a:t>ステップ配信</a:t>
                      </a:r>
                    </a:p>
                  </a:txBody>
                  <a:tcPr anchor="ctr">
                    <a:solidFill>
                      <a:srgbClr val="FFFFFF"/>
                    </a:solidFill>
                  </a:tcPr>
                </a:tc>
                <a:tc>
                  <a:txBody>
                    <a:bodyPr/>
                    <a:lstStyle/>
                    <a:p>
                      <a:pPr algn="l"/>
                      <a:r>
                        <a:rPr sz="1100">
                          <a:solidFill>
                            <a:srgbClr val="1C2233"/>
                          </a:solidFill>
                          <a:latin typeface="メイリオ"/>
                          <a:ea typeface="メイリオ"/>
                          <a:cs typeface="メイリオ"/>
                        </a:rPr>
                        <a:t>Day0｜診断に回答した全員（○人）</a:t>
                      </a:r>
                    </a:p>
                  </a:txBody>
                  <a:tcPr anchor="ctr">
                    <a:solidFill>
                      <a:srgbClr val="FFFFFF"/>
                    </a:solidFill>
                  </a:tcPr>
                </a:tc>
                <a:tc>
                  <a:txBody>
                    <a:bodyPr/>
                    <a:lstStyle/>
                    <a:p>
                      <a:pPr algn="l"/>
                      <a:r>
                        <a:rPr sz="1100">
                          <a:solidFill>
                            <a:srgbClr val="1C2233"/>
                          </a:solidFill>
                          <a:latin typeface="メイリオ"/>
                          <a:ea typeface="メイリオ"/>
                          <a:cs typeface="メイリオ"/>
                        </a:rPr>
                        <a:t>診断結果＋在学生の1日（動画3分）</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1"/>
                  </a:ext>
                </a:extLst>
              </a:tr>
              <a:tr h="558000">
                <a:tc>
                  <a:txBody>
                    <a:bodyPr/>
                    <a:lstStyle/>
                    <a:p>
                      <a:pPr algn="ctr"/>
                      <a:endParaRPr/>
                    </a:p>
                  </a:txBody>
                  <a:tcPr anchor="ctr">
                    <a:solidFill>
                      <a:srgbClr val="F4F7FF"/>
                    </a:solidFill>
                  </a:tcPr>
                </a:tc>
                <a:tc>
                  <a:txBody>
                    <a:bodyPr/>
                    <a:lstStyle/>
                    <a:p>
                      <a:pPr algn="l"/>
                      <a:r>
                        <a:rPr sz="1100">
                          <a:solidFill>
                            <a:srgbClr val="1C2233"/>
                          </a:solidFill>
                          <a:latin typeface="メイリオ"/>
                          <a:ea typeface="メイリオ"/>
                          <a:cs typeface="メイリオ"/>
                        </a:rPr>
                        <a:t>Day6｜Day0未反応者（○人）</a:t>
                      </a:r>
                    </a:p>
                  </a:txBody>
                  <a:tcPr anchor="ctr">
                    <a:solidFill>
                      <a:srgbClr val="F4F7FF"/>
                    </a:solidFill>
                  </a:tcPr>
                </a:tc>
                <a:tc>
                  <a:txBody>
                    <a:bodyPr/>
                    <a:lstStyle/>
                    <a:p>
                      <a:pPr algn="l"/>
                      <a:r>
                        <a:rPr sz="1100">
                          <a:solidFill>
                            <a:srgbClr val="1C2233"/>
                          </a:solidFill>
                          <a:latin typeface="メイリオ"/>
                          <a:ea typeface="メイリオ"/>
                          <a:cs typeface="メイリオ"/>
                        </a:rPr>
                        <a:t>OC日程＋当日の流れ＋1人参加OK</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2"/>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Day14｜未CV者（○人）</a:t>
                      </a:r>
                    </a:p>
                  </a:txBody>
                  <a:tcPr anchor="ctr">
                    <a:solidFill>
                      <a:srgbClr val="FFFFFF"/>
                    </a:solidFill>
                  </a:tcPr>
                </a:tc>
                <a:tc>
                  <a:txBody>
                    <a:bodyPr/>
                    <a:lstStyle/>
                    <a:p>
                      <a:pPr algn="l"/>
                      <a:r>
                        <a:rPr sz="1100">
                          <a:solidFill>
                            <a:srgbClr val="1C2233"/>
                          </a:solidFill>
                          <a:latin typeface="メイリオ"/>
                          <a:ea typeface="メイリオ"/>
                          <a:cs typeface="メイリオ"/>
                        </a:rPr>
                        <a:t>残席状況＋オンライン相談も選べる</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3"/>
                  </a:ext>
                </a:extLst>
              </a:tr>
              <a:tr h="558000">
                <a:tc>
                  <a:txBody>
                    <a:bodyPr/>
                    <a:lstStyle/>
                    <a:p>
                      <a:pPr algn="ctr"/>
                      <a:r>
                        <a:rPr sz="1100">
                          <a:solidFill>
                            <a:srgbClr val="1C2233"/>
                          </a:solidFill>
                          <a:latin typeface="メイリオ"/>
                          <a:ea typeface="メイリオ"/>
                          <a:cs typeface="メイリオ"/>
                        </a:rPr>
                        <a:t>企画配信</a:t>
                      </a:r>
                    </a:p>
                  </a:txBody>
                  <a:tcPr anchor="ctr">
                    <a:solidFill>
                      <a:srgbClr val="F4F7FF"/>
                    </a:solidFill>
                  </a:tcPr>
                </a:tc>
                <a:tc>
                  <a:txBody>
                    <a:bodyPr/>
                    <a:lstStyle/>
                    <a:p>
                      <a:pPr algn="l"/>
                      <a:r>
                        <a:rPr sz="1100">
                          <a:solidFill>
                            <a:srgbClr val="1C2233"/>
                          </a:solidFill>
                          <a:latin typeface="メイリオ"/>
                          <a:ea typeface="メイリオ"/>
                          <a:cs typeface="メイリオ"/>
                        </a:rPr>
                        <a:t>高2の友だち（○人）</a:t>
                      </a:r>
                    </a:p>
                  </a:txBody>
                  <a:tcPr anchor="ctr">
                    <a:solidFill>
                      <a:srgbClr val="F4F7FF"/>
                    </a:solidFill>
                  </a:tcPr>
                </a:tc>
                <a:tc>
                  <a:txBody>
                    <a:bodyPr/>
                    <a:lstStyle/>
                    <a:p>
                      <a:pPr algn="l"/>
                      <a:r>
                        <a:rPr sz="1100">
                          <a:solidFill>
                            <a:srgbClr val="1C2233"/>
                          </a:solidFill>
                          <a:latin typeface="メイリオ"/>
                          <a:ea typeface="メイリオ"/>
                          <a:cs typeface="メイリオ"/>
                        </a:rPr>
                        <a:t>学部の選び方／文系理系の決め方</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4"/>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9月｜OC参加者（○人）</a:t>
                      </a:r>
                    </a:p>
                  </a:txBody>
                  <a:tcPr anchor="ctr">
                    <a:solidFill>
                      <a:srgbClr val="FFFFFF"/>
                    </a:solidFill>
                  </a:tcPr>
                </a:tc>
                <a:tc>
                  <a:txBody>
                    <a:bodyPr/>
                    <a:lstStyle/>
                    <a:p>
                      <a:pPr algn="l"/>
                      <a:r>
                        <a:rPr sz="1100">
                          <a:solidFill>
                            <a:srgbClr val="1C2233"/>
                          </a:solidFill>
                          <a:latin typeface="メイリオ"/>
                          <a:ea typeface="メイリオ"/>
                          <a:cs typeface="メイリオ"/>
                        </a:rPr>
                        <a:t>志望理由書の書き方（3ステップ・記入例つき）</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5"/>
                  </a:ext>
                </a:extLst>
              </a:tr>
              <a:tr h="558000">
                <a:tc>
                  <a:txBody>
                    <a:bodyPr/>
                    <a:lstStyle/>
                    <a:p>
                      <a:pPr algn="ctr"/>
                      <a:endParaRPr/>
                    </a:p>
                  </a:txBody>
                  <a:tcPr anchor="ctr">
                    <a:solidFill>
                      <a:srgbClr val="F4F7FF"/>
                    </a:solidFill>
                  </a:tcPr>
                </a:tc>
                <a:tc>
                  <a:txBody>
                    <a:bodyPr/>
                    <a:lstStyle/>
                    <a:p>
                      <a:pPr algn="l"/>
                      <a:r>
                        <a:rPr sz="1100">
                          <a:solidFill>
                            <a:srgbClr val="1C2233"/>
                          </a:solidFill>
                          <a:latin typeface="メイリオ"/>
                          <a:ea typeface="メイリオ"/>
                          <a:cs typeface="メイリオ"/>
                        </a:rPr>
                        <a:t>11月｜出願検討層（○人）</a:t>
                      </a:r>
                    </a:p>
                  </a:txBody>
                  <a:tcPr anchor="ctr">
                    <a:solidFill>
                      <a:srgbClr val="F4F7FF"/>
                    </a:solidFill>
                  </a:tcPr>
                </a:tc>
                <a:tc>
                  <a:txBody>
                    <a:bodyPr/>
                    <a:lstStyle/>
                    <a:p>
                      <a:pPr algn="l"/>
                      <a:r>
                        <a:rPr sz="1100">
                          <a:solidFill>
                            <a:srgbClr val="1C2233"/>
                          </a:solidFill>
                          <a:latin typeface="メイリオ"/>
                          <a:ea typeface="メイリオ"/>
                          <a:cs typeface="メイリオ"/>
                        </a:rPr>
                        <a:t>学校推薦型の締切カウントダウン</a:t>
                      </a:r>
                    </a:p>
                  </a:txBody>
                  <a:tcPr anchor="ctr">
                    <a:solidFill>
                      <a:srgbClr val="F4F7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4F7FF"/>
                    </a:solidFill>
                  </a:tcPr>
                </a:tc>
                <a:tc>
                  <a:txBody>
                    <a:bodyPr/>
                    <a:lstStyle/>
                    <a:p>
                      <a:pPr algn="ctr"/>
                      <a:r>
                        <a:rPr sz="1100">
                          <a:solidFill>
                            <a:srgbClr val="1C2233"/>
                          </a:solidFill>
                          <a:latin typeface="メイリオ"/>
                          <a:ea typeface="メイリオ"/>
                          <a:cs typeface="メイリオ"/>
                        </a:rPr>
                        <a:t>○件</a:t>
                      </a:r>
                    </a:p>
                  </a:txBody>
                  <a:tcPr anchor="ctr">
                    <a:solidFill>
                      <a:srgbClr val="F4F7FF"/>
                    </a:solidFill>
                  </a:tcPr>
                </a:tc>
                <a:extLst>
                  <a:ext uri="{0D108BD9-81ED-4DB2-BD59-A6C34878D82A}">
                    <a16:rowId xmlns:a16="http://schemas.microsoft.com/office/drawing/2014/main" val="10006"/>
                  </a:ext>
                </a:extLst>
              </a:tr>
              <a:tr h="558000">
                <a:tc>
                  <a:txBody>
                    <a:bodyPr/>
                    <a:lstStyle/>
                    <a:p>
                      <a:pPr algn="ctr"/>
                      <a:endParaRPr/>
                    </a:p>
                  </a:txBody>
                  <a:tcPr anchor="ctr">
                    <a:solidFill>
                      <a:srgbClr val="FFFFFF"/>
                    </a:solidFill>
                  </a:tcPr>
                </a:tc>
                <a:tc>
                  <a:txBody>
                    <a:bodyPr/>
                    <a:lstStyle/>
                    <a:p>
                      <a:pPr algn="l"/>
                      <a:r>
                        <a:rPr sz="1100">
                          <a:solidFill>
                            <a:srgbClr val="1C2233"/>
                          </a:solidFill>
                          <a:latin typeface="メイリオ"/>
                          <a:ea typeface="メイリオ"/>
                          <a:cs typeface="メイリオ"/>
                        </a:rPr>
                        <a:t>2月｜合格者（○人）</a:t>
                      </a:r>
                    </a:p>
                  </a:txBody>
                  <a:tcPr anchor="ctr">
                    <a:solidFill>
                      <a:srgbClr val="FFFFFF"/>
                    </a:solidFill>
                  </a:tcPr>
                </a:tc>
                <a:tc>
                  <a:txBody>
                    <a:bodyPr/>
                    <a:lstStyle/>
                    <a:p>
                      <a:pPr algn="l"/>
                      <a:r>
                        <a:rPr sz="1100">
                          <a:solidFill>
                            <a:srgbClr val="1C2233"/>
                          </a:solidFill>
                          <a:latin typeface="メイリオ"/>
                          <a:ea typeface="メイリオ"/>
                          <a:cs typeface="メイリオ"/>
                        </a:rPr>
                        <a:t>入学前オリエン・先輩との交流・一人暮らし準備</a:t>
                      </a:r>
                    </a:p>
                  </a:txBody>
                  <a:tcPr anchor="ctr">
                    <a:solidFill>
                      <a:srgbClr val="FFFFFF"/>
                    </a:solidFill>
                  </a:tcPr>
                </a:tc>
                <a:tc>
                  <a:txBody>
                    <a:bodyPr/>
                    <a:lstStyle/>
                    <a:p>
                      <a:pPr algn="ctr"/>
                      <a:r>
                        <a:rPr sz="1100">
                          <a:solidFill>
                            <a:srgbClr val="1C2233"/>
                          </a:solidFill>
                          <a:latin typeface="メイリオ"/>
                          <a:ea typeface="メイリオ"/>
                          <a:cs typeface="メイリオ"/>
                        </a:rPr>
                        <a:t>開封率×クリック率×CVR</a:t>
                      </a:r>
                    </a:p>
                  </a:txBody>
                  <a:tcPr anchor="ctr">
                    <a:solidFill>
                      <a:srgbClr val="FFFFFF"/>
                    </a:solidFill>
                  </a:tcPr>
                </a:tc>
                <a:tc>
                  <a:txBody>
                    <a:bodyPr/>
                    <a:lstStyle/>
                    <a:p>
                      <a:pPr algn="ctr"/>
                      <a:r>
                        <a:rPr sz="1100">
                          <a:solidFill>
                            <a:srgbClr val="1C2233"/>
                          </a:solidFill>
                          <a:latin typeface="メイリオ"/>
                          <a:ea typeface="メイリオ"/>
                          <a:cs typeface="メイリオ"/>
                        </a:rPr>
                        <a:t>○件</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5" name="TextBox 4"/>
          <p:cNvSpPr txBox="1"/>
          <p:nvPr/>
        </p:nvSpPr>
        <p:spPr>
          <a:xfrm>
            <a:off x="396000" y="6138000"/>
            <a:ext cx="9144000" cy="518400"/>
          </a:xfrm>
          <a:prstGeom prst="rect">
            <a:avLst/>
          </a:prstGeom>
          <a:noFill/>
        </p:spPr>
        <p:txBody>
          <a:bodyPr wrap="square" lIns="0" tIns="21600" rIns="0" bIns="21600" anchor="t">
            <a:spAutoFit/>
          </a:bodyPr>
          <a:lstStyle/>
          <a:p>
            <a:pPr algn="l">
              <a:lnSpc>
                <a:spcPct val="120000"/>
              </a:lnSpc>
            </a:pPr>
            <a:r>
              <a:rPr sz="900">
                <a:solidFill>
                  <a:srgbClr val="646C82"/>
                </a:solidFill>
                <a:latin typeface="メイリオ"/>
                <a:ea typeface="メイリオ"/>
                <a:cs typeface="メイリオ"/>
              </a:rPr>
              <a:t>※ 配信の時期は Googleトレンド実測（2026-09-15取得）と文部科学省「大学入学者選抜実施要項」から逆算。</a:t>
            </a:r>
          </a:p>
          <a:p>
            <a:pPr algn="l">
              <a:lnSpc>
                <a:spcPct val="120000"/>
              </a:lnSpc>
            </a:pPr>
            <a:r>
              <a:rPr sz="900">
                <a:solidFill>
                  <a:srgbClr val="646C82"/>
                </a:solidFill>
                <a:latin typeface="メイリオ"/>
                <a:ea typeface="メイリオ"/>
                <a:cs typeface="メイリオ"/>
              </a:rPr>
              <a:t>※ 開封率・クリック率・CVR は貴学の実績で埋める。運用費は「施策設計①」の表を参照。</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施策設計③｜満足度改善（ユーザー）</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情報を届けるだけでなく、困ったときに自分で解決できる導線も用意する。</a:t>
            </a:r>
          </a:p>
        </p:txBody>
      </p:sp>
      <p:graphicFrame>
        <p:nvGraphicFramePr>
          <p:cNvPr id="4" name="Table 3"/>
          <p:cNvGraphicFramePr>
            <a:graphicFrameLocks noGrp="1"/>
          </p:cNvGraphicFramePr>
          <p:nvPr/>
        </p:nvGraphicFramePr>
        <p:xfrm>
          <a:off x="396000" y="1224000"/>
          <a:ext cx="9144000" cy="3024000"/>
        </p:xfrm>
        <a:graphic>
          <a:graphicData uri="http://schemas.openxmlformats.org/drawingml/2006/table">
            <a:tbl>
              <a:tblPr firstRow="1" bandRow="1">
                <a:tableStyleId>{5C22544A-7EE6-4342-B048-85BDC9FD1C3A}</a:tableStyleId>
              </a:tblPr>
              <a:tblGrid>
                <a:gridCol w="1944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tblGrid>
              <a:tr h="756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extLst>
                  <a:ext uri="{0D108BD9-81ED-4DB2-BD59-A6C34878D82A}">
                    <a16:rowId xmlns:a16="http://schemas.microsoft.com/office/drawing/2014/main" val="10000"/>
                  </a:ext>
                </a:extLst>
              </a:tr>
              <a:tr h="756000">
                <a:tc>
                  <a:txBody>
                    <a:bodyPr/>
                    <a:lstStyle/>
                    <a:p>
                      <a:pPr algn="ctr"/>
                      <a:r>
                        <a:rPr sz="1100">
                          <a:solidFill>
                            <a:srgbClr val="1C2233"/>
                          </a:solidFill>
                          <a:latin typeface="メイリオ"/>
                          <a:ea typeface="メイリオ"/>
                          <a:cs typeface="メイリオ"/>
                        </a:rPr>
                        <a:t>QA自動化</a:t>
                      </a:r>
                    </a:p>
                  </a:txBody>
                  <a:tcPr anchor="ctr">
                    <a:solidFill>
                      <a:srgbClr val="FFFFFF"/>
                    </a:solidFill>
                  </a:tcPr>
                </a:tc>
                <a:tc>
                  <a:txBody>
                    <a:bodyPr/>
                    <a:lstStyle/>
                    <a:p>
                      <a:pPr algn="l"/>
                      <a:r>
                        <a:rPr sz="1100">
                          <a:solidFill>
                            <a:srgbClr val="1C2233"/>
                          </a:solidFill>
                          <a:latin typeface="メイリオ"/>
                          <a:ea typeface="メイリオ"/>
                          <a:cs typeface="メイリオ"/>
                        </a:rPr>
                        <a:t>リッチメニュー「よくある質問」＋KW自動応答（学費／奨学金／アクセス／OC／出願締切）。24時間、待たせない</a:t>
                      </a:r>
                    </a:p>
                  </a:txBody>
                  <a:tcPr anchor="ctr">
                    <a:solidFill>
                      <a:srgbClr val="FFFFFF"/>
                    </a:solidFill>
                  </a:tcPr>
                </a:tc>
                <a:extLst>
                  <a:ext uri="{0D108BD9-81ED-4DB2-BD59-A6C34878D82A}">
                    <a16:rowId xmlns:a16="http://schemas.microsoft.com/office/drawing/2014/main" val="10001"/>
                  </a:ext>
                </a:extLst>
              </a:tr>
              <a:tr h="756000">
                <a:tc>
                  <a:txBody>
                    <a:bodyPr/>
                    <a:lstStyle/>
                    <a:p>
                      <a:pPr algn="ctr"/>
                      <a:r>
                        <a:rPr sz="1100">
                          <a:solidFill>
                            <a:srgbClr val="1C2233"/>
                          </a:solidFill>
                          <a:latin typeface="メイリオ"/>
                          <a:ea typeface="メイリオ"/>
                          <a:cs typeface="メイリオ"/>
                        </a:rPr>
                        <a:t>個別チャット</a:t>
                      </a:r>
                    </a:p>
                  </a:txBody>
                  <a:tcPr anchor="ctr">
                    <a:solidFill>
                      <a:srgbClr val="F4F7FF"/>
                    </a:solidFill>
                  </a:tcPr>
                </a:tc>
                <a:tc>
                  <a:txBody>
                    <a:bodyPr/>
                    <a:lstStyle/>
                    <a:p>
                      <a:pPr algn="l"/>
                      <a:r>
                        <a:rPr sz="1100">
                          <a:solidFill>
                            <a:srgbClr val="1C2233"/>
                          </a:solidFill>
                          <a:latin typeface="メイリオ"/>
                          <a:ea typeface="メイリオ"/>
                          <a:cs typeface="メイリオ"/>
                        </a:rPr>
                        <a:t>自動応答で解決しない相談は有人対応（Chat Plus／Call Plus・別途費用）。対応時間を必ず画面に明記する</a:t>
                      </a:r>
                    </a:p>
                  </a:txBody>
                  <a:tcPr anchor="ctr">
                    <a:solidFill>
                      <a:srgbClr val="F4F7FF"/>
                    </a:solidFill>
                  </a:tcPr>
                </a:tc>
                <a:extLst>
                  <a:ext uri="{0D108BD9-81ED-4DB2-BD59-A6C34878D82A}">
                    <a16:rowId xmlns:a16="http://schemas.microsoft.com/office/drawing/2014/main" val="10002"/>
                  </a:ext>
                </a:extLst>
              </a:tr>
              <a:tr h="756000">
                <a:tc>
                  <a:txBody>
                    <a:bodyPr/>
                    <a:lstStyle/>
                    <a:p>
                      <a:pPr algn="ctr"/>
                      <a:r>
                        <a:rPr sz="1100">
                          <a:solidFill>
                            <a:srgbClr val="1C2233"/>
                          </a:solidFill>
                          <a:latin typeface="メイリオ"/>
                          <a:ea typeface="メイリオ"/>
                          <a:cs typeface="メイリオ"/>
                        </a:rPr>
                        <a:t>その他</a:t>
                      </a:r>
                    </a:p>
                  </a:txBody>
                  <a:tcPr anchor="ctr">
                    <a:solidFill>
                      <a:srgbClr val="FFFFFF"/>
                    </a:solidFill>
                  </a:tcPr>
                </a:tc>
                <a:tc>
                  <a:txBody>
                    <a:bodyPr/>
                    <a:lstStyle/>
                    <a:p>
                      <a:pPr algn="l"/>
                      <a:r>
                        <a:rPr sz="1100">
                          <a:solidFill>
                            <a:srgbClr val="1C2233"/>
                          </a:solidFill>
                          <a:latin typeface="メイリオ"/>
                          <a:ea typeface="メイリオ"/>
                          <a:cs typeface="メイリオ"/>
                        </a:rPr>
                        <a:t>「診断をやり直す」「配信を止める」で自己解決。ブロックさせないための出口を、隠さず置く</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5" name="Rounded Rectangle 4"/>
          <p:cNvSpPr/>
          <p:nvPr/>
        </p:nvSpPr>
        <p:spPr>
          <a:xfrm>
            <a:off x="396000" y="4136400"/>
            <a:ext cx="4464000" cy="1512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err="1">
                <a:solidFill>
                  <a:srgbClr val="ED7D31"/>
                </a:solidFill>
                <a:latin typeface="メイリオ"/>
                <a:ea typeface="メイリオ"/>
                <a:cs typeface="メイリオ"/>
              </a:rPr>
              <a:t>この業界で最大の恐怖に、先回りする</a:t>
            </a:r>
            <a:endParaRPr sz="1200" b="1" dirty="0">
              <a:solidFill>
                <a:srgbClr val="ED7D31"/>
              </a:solidFill>
              <a:latin typeface="メイリオ"/>
              <a:ea typeface="メイリオ"/>
              <a:cs typeface="メイリオ"/>
            </a:endParaRPr>
          </a:p>
          <a:p>
            <a:pPr algn="l">
              <a:lnSpc>
                <a:spcPct val="120000"/>
              </a:lnSpc>
              <a:spcAft>
                <a:spcPts val="200"/>
              </a:spcAft>
            </a:pPr>
            <a:r>
              <a:rPr sz="1100" dirty="0" err="1">
                <a:solidFill>
                  <a:srgbClr val="1C2233"/>
                </a:solidFill>
                <a:latin typeface="メイリオ"/>
                <a:ea typeface="メイリオ"/>
                <a:cs typeface="メイリオ"/>
              </a:rPr>
              <a:t>高校生が資料請求をためらう最大の理由は「そのあと電話がかかってくること</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あいさつメッセージの1行目に</a:t>
            </a: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こちらから確認のお電話をすることはありません」と書く。コストはゼロ</a:t>
            </a:r>
            <a:r>
              <a:rPr sz="1100" dirty="0">
                <a:solidFill>
                  <a:srgbClr val="1C2233"/>
                </a:solidFill>
                <a:latin typeface="メイリオ"/>
                <a:ea typeface="メイリオ"/>
                <a:cs typeface="メイリオ"/>
              </a:rPr>
              <a:t>。</a:t>
            </a:r>
          </a:p>
        </p:txBody>
      </p:sp>
      <p:sp>
        <p:nvSpPr>
          <p:cNvPr id="6" name="Rounded Rectangle 5"/>
          <p:cNvSpPr/>
          <p:nvPr/>
        </p:nvSpPr>
        <p:spPr>
          <a:xfrm>
            <a:off x="5040000" y="4136400"/>
            <a:ext cx="4464000" cy="1512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1F285A"/>
                </a:solidFill>
                <a:latin typeface="メイリオ"/>
                <a:ea typeface="メイリオ"/>
                <a:cs typeface="メイリオ"/>
              </a:rPr>
              <a:t>保護者も同じアカウントで受け止める</a:t>
            </a:r>
          </a:p>
          <a:p>
            <a:pPr algn="l">
              <a:lnSpc>
                <a:spcPct val="120000"/>
              </a:lnSpc>
              <a:spcAft>
                <a:spcPts val="200"/>
              </a:spcAft>
            </a:pPr>
            <a:r>
              <a:rPr sz="1100">
                <a:solidFill>
                  <a:srgbClr val="1C2233"/>
                </a:solidFill>
                <a:latin typeface="メイリオ"/>
                <a:ea typeface="メイリオ"/>
                <a:cs typeface="メイリオ"/>
              </a:rPr>
              <a:t>決める人（高校生）と払う人（保護者）が違う業界。</a:t>
            </a:r>
          </a:p>
          <a:p>
            <a:pPr algn="l">
              <a:lnSpc>
                <a:spcPct val="120000"/>
              </a:lnSpc>
              <a:spcAft>
                <a:spcPts val="200"/>
              </a:spcAft>
            </a:pPr>
            <a:r>
              <a:rPr sz="1100">
                <a:solidFill>
                  <a:srgbClr val="1C2233"/>
                </a:solidFill>
                <a:latin typeface="メイリオ"/>
                <a:ea typeface="メイリオ"/>
                <a:cs typeface="メイリオ"/>
              </a:rPr>
              <a:t>「保護者の方も、このままご覧いただけます」を明記し、</a:t>
            </a:r>
          </a:p>
          <a:p>
            <a:pPr algn="l">
              <a:lnSpc>
                <a:spcPct val="120000"/>
              </a:lnSpc>
              <a:spcAft>
                <a:spcPts val="200"/>
              </a:spcAft>
            </a:pPr>
            <a:r>
              <a:rPr sz="1100">
                <a:solidFill>
                  <a:srgbClr val="1C2233"/>
                </a:solidFill>
                <a:latin typeface="メイリオ"/>
                <a:ea typeface="メイリオ"/>
                <a:cs typeface="メイリオ"/>
              </a:rPr>
              <a:t>リッチメニュー③に学費・奨学金・就職実績をまとめて置く。</a:t>
            </a:r>
          </a:p>
        </p:txBody>
      </p:sp>
      <p:sp>
        <p:nvSpPr>
          <p:cNvPr id="7" name="Rectangle 6"/>
          <p:cNvSpPr/>
          <p:nvPr/>
        </p:nvSpPr>
        <p:spPr>
          <a:xfrm>
            <a:off x="396000" y="5904000"/>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904000"/>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983200"/>
            <a:ext cx="8820000" cy="324000"/>
          </a:xfrm>
          <a:prstGeom prst="rect">
            <a:avLst/>
          </a:prstGeom>
          <a:noFill/>
        </p:spPr>
        <p:txBody>
          <a:bodyPr wrap="square" lIns="0" tIns="21600" rIns="0" bIns="21600" anchor="ctr">
            <a:spAutoFit/>
          </a:bodyPr>
          <a:lstStyle/>
          <a:p>
            <a:pPr algn="l"/>
            <a:r>
              <a:rPr sz="1400" b="1" dirty="0" err="1">
                <a:solidFill>
                  <a:srgbClr val="1C2233"/>
                </a:solidFill>
                <a:latin typeface="メイリオ"/>
                <a:ea typeface="メイリオ"/>
                <a:cs typeface="メイリオ"/>
              </a:rPr>
              <a:t>困ったときに自分で解決できるほど、ブロックされずに残る</a:t>
            </a:r>
            <a:r>
              <a:rPr sz="1400" b="1" dirty="0">
                <a:solidFill>
                  <a:srgbClr val="1C2233"/>
                </a:solidFill>
                <a:latin typeface="メイリオ"/>
                <a:ea typeface="メイリオ"/>
                <a:cs typeface="メイリオ"/>
              </a:rPr>
              <a: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0000" y="108000"/>
            <a:ext cx="7523999" cy="360000"/>
          </a:xfrm>
          <a:prstGeom prst="rect">
            <a:avLst/>
          </a:prstGeom>
          <a:noFill/>
        </p:spPr>
        <p:txBody>
          <a:bodyPr wrap="square" lIns="0" tIns="21600" rIns="0" bIns="21600" anchor="ctr">
            <a:spAutoFit/>
          </a:bodyPr>
          <a:lstStyle/>
          <a:p>
            <a:pPr algn="l"/>
            <a:r>
              <a:rPr sz="1600" b="1">
                <a:solidFill>
                  <a:srgbClr val="1F2A5C"/>
                </a:solidFill>
                <a:latin typeface="メイリオ"/>
                <a:ea typeface="メイリオ"/>
                <a:cs typeface="メイリオ"/>
              </a:rPr>
              <a:t>施策設計④｜効率改善（管理側）</a:t>
            </a:r>
          </a:p>
        </p:txBody>
      </p:sp>
      <p:sp>
        <p:nvSpPr>
          <p:cNvPr id="3" name="TextBox 2"/>
          <p:cNvSpPr txBox="1"/>
          <p:nvPr/>
        </p:nvSpPr>
        <p:spPr>
          <a:xfrm>
            <a:off x="396000" y="720000"/>
            <a:ext cx="9144000" cy="396000"/>
          </a:xfrm>
          <a:prstGeom prst="rect">
            <a:avLst/>
          </a:prstGeom>
          <a:noFill/>
        </p:spPr>
        <p:txBody>
          <a:bodyPr wrap="square" lIns="0" tIns="21600" rIns="0" bIns="21600" anchor="ctr">
            <a:spAutoFit/>
          </a:bodyPr>
          <a:lstStyle/>
          <a:p>
            <a:pPr algn="l">
              <a:lnSpc>
                <a:spcPct val="122000"/>
              </a:lnSpc>
            </a:pPr>
            <a:r>
              <a:rPr sz="1500">
                <a:solidFill>
                  <a:srgbClr val="646C82"/>
                </a:solidFill>
                <a:latin typeface="メイリオ"/>
                <a:ea typeface="メイリオ"/>
                <a:cs typeface="メイリオ"/>
              </a:rPr>
              <a:t>人手を増やさずに、資料請求直後の初動と、募集ピーク期の問い合わせ対応を回す。</a:t>
            </a:r>
          </a:p>
        </p:txBody>
      </p:sp>
      <p:graphicFrame>
        <p:nvGraphicFramePr>
          <p:cNvPr id="4" name="Table 3"/>
          <p:cNvGraphicFramePr>
            <a:graphicFrameLocks noGrp="1"/>
          </p:cNvGraphicFramePr>
          <p:nvPr/>
        </p:nvGraphicFramePr>
        <p:xfrm>
          <a:off x="396000" y="1224000"/>
          <a:ext cx="9144000" cy="2268000"/>
        </p:xfrm>
        <a:graphic>
          <a:graphicData uri="http://schemas.openxmlformats.org/drawingml/2006/table">
            <a:tbl>
              <a:tblPr firstRow="1" bandRow="1">
                <a:tableStyleId>{5C22544A-7EE6-4342-B048-85BDC9FD1C3A}</a:tableStyleId>
              </a:tblPr>
              <a:tblGrid>
                <a:gridCol w="1944000">
                  <a:extLst>
                    <a:ext uri="{9D8B030D-6E8A-4147-A177-3AD203B41FA5}">
                      <a16:colId xmlns:a16="http://schemas.microsoft.com/office/drawing/2014/main" val="20000"/>
                    </a:ext>
                  </a:extLst>
                </a:gridCol>
                <a:gridCol w="7200000">
                  <a:extLst>
                    <a:ext uri="{9D8B030D-6E8A-4147-A177-3AD203B41FA5}">
                      <a16:colId xmlns:a16="http://schemas.microsoft.com/office/drawing/2014/main" val="20001"/>
                    </a:ext>
                  </a:extLst>
                </a:gridCol>
              </a:tblGrid>
              <a:tr h="756000">
                <a:tc>
                  <a:txBody>
                    <a:bodyPr/>
                    <a:lstStyle/>
                    <a:p>
                      <a:pPr algn="ctr"/>
                      <a:r>
                        <a:rPr sz="1200" b="1">
                          <a:solidFill>
                            <a:srgbClr val="FFFFFF"/>
                          </a:solidFill>
                          <a:latin typeface="メイリオ"/>
                          <a:ea typeface="メイリオ"/>
                          <a:cs typeface="メイリオ"/>
                        </a:rPr>
                        <a:t>区分</a:t>
                      </a:r>
                    </a:p>
                  </a:txBody>
                  <a:tcPr anchor="ctr">
                    <a:solidFill>
                      <a:srgbClr val="1F285A"/>
                    </a:solidFill>
                  </a:tcPr>
                </a:tc>
                <a:tc>
                  <a:txBody>
                    <a:bodyPr/>
                    <a:lstStyle/>
                    <a:p>
                      <a:pPr algn="l"/>
                      <a:r>
                        <a:rPr sz="1200" b="1">
                          <a:solidFill>
                            <a:srgbClr val="FFFFFF"/>
                          </a:solidFill>
                          <a:latin typeface="メイリオ"/>
                          <a:ea typeface="メイリオ"/>
                          <a:cs typeface="メイリオ"/>
                        </a:rPr>
                        <a:t>内容</a:t>
                      </a:r>
                    </a:p>
                  </a:txBody>
                  <a:tcPr anchor="ctr">
                    <a:solidFill>
                      <a:srgbClr val="1F285A"/>
                    </a:solidFill>
                  </a:tcPr>
                </a:tc>
                <a:extLst>
                  <a:ext uri="{0D108BD9-81ED-4DB2-BD59-A6C34878D82A}">
                    <a16:rowId xmlns:a16="http://schemas.microsoft.com/office/drawing/2014/main" val="10000"/>
                  </a:ext>
                </a:extLst>
              </a:tr>
              <a:tr h="756000">
                <a:tc>
                  <a:txBody>
                    <a:bodyPr/>
                    <a:lstStyle/>
                    <a:p>
                      <a:pPr algn="ctr"/>
                      <a:r>
                        <a:rPr sz="1100">
                          <a:solidFill>
                            <a:srgbClr val="1C2233"/>
                          </a:solidFill>
                          <a:latin typeface="メイリオ"/>
                          <a:ea typeface="メイリオ"/>
                          <a:cs typeface="メイリオ"/>
                        </a:rPr>
                        <a:t>自動応答</a:t>
                      </a:r>
                    </a:p>
                  </a:txBody>
                  <a:tcPr anchor="ctr">
                    <a:solidFill>
                      <a:srgbClr val="FFFFFF"/>
                    </a:solidFill>
                  </a:tcPr>
                </a:tc>
                <a:tc>
                  <a:txBody>
                    <a:bodyPr/>
                    <a:lstStyle/>
                    <a:p>
                      <a:pPr algn="l"/>
                      <a:r>
                        <a:rPr sz="1100">
                          <a:solidFill>
                            <a:srgbClr val="1C2233"/>
                          </a:solidFill>
                          <a:latin typeface="メイリオ"/>
                          <a:ea typeface="メイリオ"/>
                          <a:cs typeface="メイリオ"/>
                        </a:rPr>
                        <a:t>資料請求の直後にあいさつ＋診断4問を自動送信。夜間でも初動の速度が落ちない</a:t>
                      </a:r>
                    </a:p>
                  </a:txBody>
                  <a:tcPr anchor="ctr">
                    <a:solidFill>
                      <a:srgbClr val="FFFFFF"/>
                    </a:solidFill>
                  </a:tcPr>
                </a:tc>
                <a:extLst>
                  <a:ext uri="{0D108BD9-81ED-4DB2-BD59-A6C34878D82A}">
                    <a16:rowId xmlns:a16="http://schemas.microsoft.com/office/drawing/2014/main" val="10001"/>
                  </a:ext>
                </a:extLst>
              </a:tr>
              <a:tr h="756000">
                <a:tc>
                  <a:txBody>
                    <a:bodyPr/>
                    <a:lstStyle/>
                    <a:p>
                      <a:pPr algn="ctr"/>
                      <a:r>
                        <a:rPr sz="1100">
                          <a:solidFill>
                            <a:srgbClr val="1C2233"/>
                          </a:solidFill>
                          <a:latin typeface="メイリオ"/>
                          <a:ea typeface="メイリオ"/>
                          <a:cs typeface="メイリオ"/>
                        </a:rPr>
                        <a:t>その他</a:t>
                      </a:r>
                    </a:p>
                  </a:txBody>
                  <a:tcPr anchor="ctr">
                    <a:solidFill>
                      <a:srgbClr val="F4F7FF"/>
                    </a:solidFill>
                  </a:tcPr>
                </a:tc>
                <a:tc>
                  <a:txBody>
                    <a:bodyPr/>
                    <a:lstStyle/>
                    <a:p>
                      <a:pPr algn="l"/>
                      <a:r>
                        <a:rPr sz="1100">
                          <a:solidFill>
                            <a:srgbClr val="1C2233"/>
                          </a:solidFill>
                          <a:latin typeface="メイリオ"/>
                          <a:ea typeface="メイリオ"/>
                          <a:cs typeface="メイリオ"/>
                        </a:rPr>
                        <a:t>GAレポート連携で、友だち数・OC予約率・OC参加率・出願率を毎月数値で振り返る</a:t>
                      </a:r>
                    </a:p>
                  </a:txBody>
                  <a:tcPr anchor="ctr">
                    <a:solidFill>
                      <a:srgbClr val="F4F7FF"/>
                    </a:solidFill>
                  </a:tcPr>
                </a:tc>
                <a:extLst>
                  <a:ext uri="{0D108BD9-81ED-4DB2-BD59-A6C34878D82A}">
                    <a16:rowId xmlns:a16="http://schemas.microsoft.com/office/drawing/2014/main" val="10002"/>
                  </a:ext>
                </a:extLst>
              </a:tr>
            </a:tbl>
          </a:graphicData>
        </a:graphic>
      </p:graphicFrame>
      <p:sp>
        <p:nvSpPr>
          <p:cNvPr id="5" name="Rounded Rectangle 4"/>
          <p:cNvSpPr/>
          <p:nvPr/>
        </p:nvSpPr>
        <p:spPr>
          <a:xfrm>
            <a:off x="396000" y="3492000"/>
            <a:ext cx="4464000" cy="2160000"/>
          </a:xfrm>
          <a:prstGeom prst="roundRect">
            <a:avLst>
              <a:gd name="adj" fmla="val 6000"/>
            </a:avLst>
          </a:prstGeom>
          <a:solidFill>
            <a:srgbClr val="F4F7FF"/>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dirty="0">
                <a:solidFill>
                  <a:srgbClr val="1F285A"/>
                </a:solidFill>
                <a:latin typeface="メイリオ"/>
                <a:ea typeface="メイリオ"/>
                <a:cs typeface="メイリオ"/>
              </a:rPr>
              <a:t>電話が鳴り続けるのは7〜8月と1〜2月</a:t>
            </a:r>
          </a:p>
          <a:p>
            <a:pPr algn="l">
              <a:lnSpc>
                <a:spcPct val="120000"/>
              </a:lnSpc>
              <a:spcAft>
                <a:spcPts val="200"/>
              </a:spcAft>
            </a:pP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学費は</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アクセスは</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締切は</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入試広報課の電話が集中する時期は</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そのまま募集のピークと重なる</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この問い合わせをKW自動応答に逃がすと</a:t>
            </a:r>
            <a:r>
              <a:rPr sz="1100" dirty="0">
                <a:solidFill>
                  <a:srgbClr val="1C2233"/>
                </a:solidFill>
                <a:latin typeface="メイリオ"/>
                <a:ea typeface="メイリオ"/>
                <a:cs typeface="メイリオ"/>
              </a:rPr>
              <a:t>、</a:t>
            </a:r>
          </a:p>
          <a:p>
            <a:pPr algn="l">
              <a:lnSpc>
                <a:spcPct val="120000"/>
              </a:lnSpc>
              <a:spcAft>
                <a:spcPts val="200"/>
              </a:spcAft>
            </a:pPr>
            <a:r>
              <a:rPr sz="1100" dirty="0" err="1">
                <a:solidFill>
                  <a:srgbClr val="1C2233"/>
                </a:solidFill>
                <a:latin typeface="メイリオ"/>
                <a:ea typeface="メイリオ"/>
                <a:cs typeface="メイリオ"/>
              </a:rPr>
              <a:t>その時間が募集活動そのものに戻る</a:t>
            </a:r>
            <a:r>
              <a:rPr sz="1100" dirty="0">
                <a:solidFill>
                  <a:srgbClr val="1C2233"/>
                </a:solidFill>
                <a:latin typeface="メイリオ"/>
                <a:ea typeface="メイリオ"/>
                <a:cs typeface="メイリオ"/>
              </a:rPr>
              <a:t>。</a:t>
            </a:r>
          </a:p>
          <a:p>
            <a:pPr algn="l">
              <a:lnSpc>
                <a:spcPct val="120000"/>
              </a:lnSpc>
              <a:spcAft>
                <a:spcPts val="200"/>
              </a:spcAft>
            </a:pPr>
            <a:r>
              <a:rPr sz="1100" dirty="0">
                <a:solidFill>
                  <a:srgbClr val="1C2233"/>
                </a:solidFill>
                <a:latin typeface="メイリオ"/>
                <a:ea typeface="メイリオ"/>
                <a:cs typeface="メイリオ"/>
              </a:rPr>
              <a:t>※ </a:t>
            </a:r>
            <a:r>
              <a:rPr sz="1100" dirty="0" err="1">
                <a:solidFill>
                  <a:srgbClr val="1C2233"/>
                </a:solidFill>
                <a:latin typeface="メイリオ"/>
                <a:ea typeface="メイリオ"/>
                <a:cs typeface="メイリオ"/>
              </a:rPr>
              <a:t>工数削減は時給換算で語らない</a:t>
            </a:r>
            <a:r>
              <a:rPr sz="1100" dirty="0">
                <a:solidFill>
                  <a:srgbClr val="1C2233"/>
                </a:solidFill>
                <a:latin typeface="メイリオ"/>
                <a:ea typeface="メイリオ"/>
                <a:cs typeface="メイリオ"/>
              </a:rPr>
              <a:t>。「</a:t>
            </a:r>
            <a:r>
              <a:rPr sz="1100" dirty="0" err="1">
                <a:solidFill>
                  <a:srgbClr val="1C2233"/>
                </a:solidFill>
                <a:latin typeface="メイリオ"/>
                <a:ea typeface="メイリオ"/>
                <a:cs typeface="メイリオ"/>
              </a:rPr>
              <a:t>ピーク期に募集の手が止まる」で語る</a:t>
            </a:r>
            <a:r>
              <a:rPr sz="1100" dirty="0">
                <a:solidFill>
                  <a:srgbClr val="1C2233"/>
                </a:solidFill>
                <a:latin typeface="メイリオ"/>
                <a:ea typeface="メイリオ"/>
                <a:cs typeface="メイリオ"/>
              </a:rPr>
              <a:t>。</a:t>
            </a:r>
          </a:p>
        </p:txBody>
      </p:sp>
      <p:sp>
        <p:nvSpPr>
          <p:cNvPr id="6" name="Rounded Rectangle 5"/>
          <p:cNvSpPr/>
          <p:nvPr/>
        </p:nvSpPr>
        <p:spPr>
          <a:xfrm>
            <a:off x="5046002" y="3492000"/>
            <a:ext cx="4464000" cy="2160000"/>
          </a:xfrm>
          <a:prstGeom prst="roundRect">
            <a:avLst>
              <a:gd name="adj" fmla="val 6000"/>
            </a:avLst>
          </a:prstGeom>
          <a:solidFill>
            <a:srgbClr val="FCE4D6"/>
          </a:solidFill>
          <a:ln>
            <a:noFill/>
          </a:ln>
          <a:effectLst/>
        </p:spPr>
        <p:style>
          <a:lnRef idx="1">
            <a:schemeClr val="accent1"/>
          </a:lnRef>
          <a:fillRef idx="3">
            <a:schemeClr val="accent1"/>
          </a:fillRef>
          <a:effectRef idx="2">
            <a:schemeClr val="accent1"/>
          </a:effectRef>
          <a:fontRef idx="minor">
            <a:schemeClr val="lt1"/>
          </a:fontRef>
        </p:style>
        <p:txBody>
          <a:bodyPr wrap="square" lIns="86400" tIns="57600" rIns="72000" bIns="43200" rtlCol="0" anchor="t"/>
          <a:lstStyle/>
          <a:p>
            <a:pPr algn="l">
              <a:spcAft>
                <a:spcPts val="400"/>
              </a:spcAft>
            </a:pPr>
            <a:r>
              <a:rPr sz="1200" b="1">
                <a:solidFill>
                  <a:srgbClr val="ED7D31"/>
                </a:solidFill>
                <a:latin typeface="メイリオ"/>
                <a:ea typeface="メイリオ"/>
                <a:cs typeface="メイリオ"/>
              </a:rPr>
              <a:t>紙とメールのコストも落ちる</a:t>
            </a:r>
          </a:p>
          <a:p>
            <a:pPr algn="l">
              <a:lnSpc>
                <a:spcPct val="120000"/>
              </a:lnSpc>
              <a:spcAft>
                <a:spcPts val="200"/>
              </a:spcAft>
            </a:pPr>
            <a:r>
              <a:rPr sz="1100">
                <a:solidFill>
                  <a:srgbClr val="1C2233"/>
                </a:solidFill>
                <a:latin typeface="メイリオ"/>
                <a:ea typeface="メイリオ"/>
                <a:cs typeface="メイリオ"/>
              </a:rPr>
              <a:t>デジタルパンフをLINEで配信すれば、</a:t>
            </a:r>
          </a:p>
          <a:p>
            <a:pPr algn="l">
              <a:lnSpc>
                <a:spcPct val="120000"/>
              </a:lnSpc>
              <a:spcAft>
                <a:spcPts val="200"/>
              </a:spcAft>
            </a:pPr>
            <a:r>
              <a:rPr sz="1100">
                <a:solidFill>
                  <a:srgbClr val="1C2233"/>
                </a:solidFill>
                <a:latin typeface="メイリオ"/>
                <a:ea typeface="メイリオ"/>
                <a:cs typeface="メイリオ"/>
              </a:rPr>
              <a:t>印刷費・郵送費・封入作業がゼロになる。</a:t>
            </a:r>
          </a:p>
          <a:p>
            <a:pPr algn="l">
              <a:lnSpc>
                <a:spcPct val="120000"/>
              </a:lnSpc>
              <a:spcAft>
                <a:spcPts val="200"/>
              </a:spcAft>
            </a:pPr>
            <a:r>
              <a:rPr sz="1100">
                <a:solidFill>
                  <a:srgbClr val="1C2233"/>
                </a:solidFill>
                <a:latin typeface="メイリオ"/>
                <a:ea typeface="メイリオ"/>
                <a:cs typeface="メイリオ"/>
              </a:rPr>
              <a:t>しかも資料請求で取ったメールアドレスは、</a:t>
            </a:r>
          </a:p>
          <a:p>
            <a:pPr algn="l">
              <a:lnSpc>
                <a:spcPct val="120000"/>
              </a:lnSpc>
              <a:spcAft>
                <a:spcPts val="200"/>
              </a:spcAft>
            </a:pPr>
            <a:r>
              <a:rPr sz="1100">
                <a:solidFill>
                  <a:srgbClr val="1C2233"/>
                </a:solidFill>
                <a:latin typeface="メイリオ"/>
                <a:ea typeface="メイリオ"/>
                <a:cs typeface="メイリオ"/>
              </a:rPr>
              <a:t>高校生が最も見ない経路。</a:t>
            </a:r>
          </a:p>
          <a:p>
            <a:pPr algn="l">
              <a:lnSpc>
                <a:spcPct val="120000"/>
              </a:lnSpc>
              <a:spcAft>
                <a:spcPts val="200"/>
              </a:spcAft>
            </a:pPr>
            <a:r>
              <a:rPr sz="1100">
                <a:solidFill>
                  <a:srgbClr val="1C2233"/>
                </a:solidFill>
                <a:latin typeface="メイリオ"/>
                <a:ea typeface="メイリオ"/>
                <a:cs typeface="メイリオ"/>
              </a:rPr>
              <a:t>LINEなら当日中に約8割が開封される（LINEヤフー社公開値）。</a:t>
            </a:r>
          </a:p>
        </p:txBody>
      </p:sp>
      <p:sp>
        <p:nvSpPr>
          <p:cNvPr id="7" name="Rectangle 6"/>
          <p:cNvSpPr/>
          <p:nvPr/>
        </p:nvSpPr>
        <p:spPr>
          <a:xfrm>
            <a:off x="396000" y="5776913"/>
            <a:ext cx="72000" cy="468000"/>
          </a:xfrm>
          <a:prstGeom prst="rect">
            <a:avLst/>
          </a:prstGeom>
          <a:solidFill>
            <a:srgbClr val="ED7D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32000" y="5776913"/>
            <a:ext cx="9072000" cy="46800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00" y="5856113"/>
            <a:ext cx="8820000" cy="324000"/>
          </a:xfrm>
          <a:prstGeom prst="rect">
            <a:avLst/>
          </a:prstGeom>
          <a:noFill/>
        </p:spPr>
        <p:txBody>
          <a:bodyPr wrap="square" lIns="0" tIns="21600" rIns="0" bIns="21600" anchor="ctr">
            <a:spAutoFit/>
          </a:bodyPr>
          <a:lstStyle/>
          <a:p>
            <a:pPr algn="l"/>
            <a:r>
              <a:rPr sz="1400" b="1">
                <a:solidFill>
                  <a:srgbClr val="1C2233"/>
                </a:solidFill>
                <a:latin typeface="メイリオ"/>
                <a:ea typeface="メイリオ"/>
                <a:cs typeface="メイリオ"/>
              </a:rPr>
              <a:t>増員ではなく自動化で、募集ピーク期の初動速度を守る。</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A257E-053E-E603-90CB-9BDC893E2AF6}"/>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3E008DC-B597-D6BE-17A5-E0E8A30F3CE2}"/>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9C67BF09-6100-F781-92A9-1D3AD767C055}"/>
              </a:ext>
            </a:extLst>
          </p:cNvPr>
          <p:cNvSpPr/>
          <p:nvPr/>
        </p:nvSpPr>
        <p:spPr>
          <a:xfrm>
            <a:off x="3424390" y="3038203"/>
            <a:ext cx="3057247" cy="584775"/>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具体プラン提示</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37633196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AC0CE-FB74-5332-7EA1-C1F4EC9ED094}"/>
            </a:ext>
          </a:extLst>
        </p:cNvPr>
        <p:cNvGrpSpPr/>
        <p:nvPr/>
      </p:nvGrpSpPr>
      <p:grpSpPr>
        <a:xfrm>
          <a:off x="0" y="0"/>
          <a:ext cx="0" cy="0"/>
          <a:chOff x="0" y="0"/>
          <a:chExt cx="0" cy="0"/>
        </a:xfrm>
      </p:grpSpPr>
      <p:sp>
        <p:nvSpPr>
          <p:cNvPr id="3" name="正方形/長方形 2">
            <a:extLst>
              <a:ext uri="{FF2B5EF4-FFF2-40B4-BE49-F238E27FC236}">
                <a16:creationId xmlns:a16="http://schemas.microsoft.com/office/drawing/2014/main" id="{F0674222-23F2-C2FA-1676-03E492633A91}"/>
              </a:ext>
            </a:extLst>
          </p:cNvPr>
          <p:cNvSpPr/>
          <p:nvPr/>
        </p:nvSpPr>
        <p:spPr>
          <a:xfrm>
            <a:off x="0" y="577940"/>
            <a:ext cx="9906000" cy="81273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latin typeface="メイリオ" panose="020B0604030504040204" pitchFamily="50" charset="-128"/>
              <a:ea typeface="メイリオ" panose="020B0604030504040204" pitchFamily="50" charset="-128"/>
            </a:endParaRPr>
          </a:p>
        </p:txBody>
      </p:sp>
      <p:sp>
        <p:nvSpPr>
          <p:cNvPr id="4" name="正方形/長方形 3">
            <a:extLst>
              <a:ext uri="{FF2B5EF4-FFF2-40B4-BE49-F238E27FC236}">
                <a16:creationId xmlns:a16="http://schemas.microsoft.com/office/drawing/2014/main" id="{6D660AB6-8BEB-7060-C6E7-84B830DE3B73}"/>
              </a:ext>
            </a:extLst>
          </p:cNvPr>
          <p:cNvSpPr/>
          <p:nvPr/>
        </p:nvSpPr>
        <p:spPr>
          <a:xfrm>
            <a:off x="379976" y="635062"/>
            <a:ext cx="9160881" cy="6984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p>
            <a:pPr algn="ctr">
              <a:lnSpc>
                <a:spcPts val="2455"/>
              </a:lnSpc>
            </a:pPr>
            <a:r>
              <a:rPr sz="1600" b="1" dirty="0">
                <a:solidFill>
                  <a:srgbClr val="333333"/>
                </a:solidFill>
                <a:latin typeface="メイリオ"/>
                <a:ea typeface="メイリオ"/>
              </a:rPr>
              <a:t>「</a:t>
            </a:r>
            <a:r>
              <a:rPr sz="1600" b="1" dirty="0" err="1">
                <a:solidFill>
                  <a:srgbClr val="333333"/>
                </a:solidFill>
                <a:latin typeface="メイリオ"/>
                <a:ea typeface="メイリオ"/>
              </a:rPr>
              <a:t>ターゲット</a:t>
            </a:r>
            <a:r>
              <a:rPr sz="1600" b="1" dirty="0">
                <a:solidFill>
                  <a:srgbClr val="333333"/>
                </a:solidFill>
                <a:latin typeface="メイリオ"/>
                <a:ea typeface="メイリオ"/>
              </a:rPr>
              <a:t> × </a:t>
            </a:r>
            <a:r>
              <a:rPr sz="1600" b="1" dirty="0" err="1">
                <a:solidFill>
                  <a:srgbClr val="333333"/>
                </a:solidFill>
                <a:latin typeface="メイリオ"/>
                <a:ea typeface="メイリオ"/>
              </a:rPr>
              <a:t>ステップ」</a:t>
            </a:r>
            <a:r>
              <a:rPr sz="1600" b="0" dirty="0" err="1">
                <a:solidFill>
                  <a:srgbClr val="333333"/>
                </a:solidFill>
                <a:latin typeface="メイリオ"/>
                <a:ea typeface="メイリオ"/>
              </a:rPr>
              <a:t>を軸にした構成</a:t>
            </a:r>
            <a:r>
              <a:rPr sz="1600" b="0" dirty="0">
                <a:solidFill>
                  <a:srgbClr val="333333"/>
                </a:solidFill>
                <a:latin typeface="メイリオ"/>
                <a:ea typeface="メイリオ"/>
              </a:rPr>
              <a:t>。</a:t>
            </a:r>
            <a:endParaRPr lang="en-US" sz="1600" b="0" dirty="0">
              <a:solidFill>
                <a:srgbClr val="333333"/>
              </a:solidFill>
              <a:latin typeface="メイリオ"/>
              <a:ea typeface="メイリオ"/>
            </a:endParaRPr>
          </a:p>
          <a:p>
            <a:pPr algn="ctr">
              <a:lnSpc>
                <a:spcPts val="2455"/>
              </a:lnSpc>
            </a:pPr>
            <a:r>
              <a:rPr sz="1600" b="0" dirty="0">
                <a:solidFill>
                  <a:srgbClr val="333333"/>
                </a:solidFill>
                <a:latin typeface="メイリオ"/>
                <a:ea typeface="メイリオ"/>
              </a:rPr>
              <a:t>◯</a:t>
            </a:r>
            <a:r>
              <a:rPr sz="1600" b="0" dirty="0" err="1">
                <a:solidFill>
                  <a:srgbClr val="333333"/>
                </a:solidFill>
                <a:latin typeface="メイリオ"/>
                <a:ea typeface="メイリオ"/>
              </a:rPr>
              <a:t>の数は貴社の商材数・リスト規模に合わせて確定します</a:t>
            </a:r>
            <a:r>
              <a:rPr sz="1600" b="0" dirty="0">
                <a:solidFill>
                  <a:srgbClr val="333333"/>
                </a:solidFill>
                <a:latin typeface="メイリオ"/>
                <a:ea typeface="メイリオ"/>
              </a:rPr>
              <a:t>。</a:t>
            </a:r>
            <a:endParaRPr lang="en-US" altLang="ja-JP" dirty="0">
              <a:solidFill>
                <a:srgbClr val="343434"/>
              </a:solidFill>
              <a:latin typeface="メイリオ" panose="020B0604030504040204" pitchFamily="50" charset="-128"/>
              <a:ea typeface="メイリオ" panose="020B0604030504040204" pitchFamily="50" charset="-128"/>
            </a:endParaRPr>
          </a:p>
        </p:txBody>
      </p:sp>
      <p:cxnSp>
        <p:nvCxnSpPr>
          <p:cNvPr id="5" name="直線コネクタ 4">
            <a:extLst>
              <a:ext uri="{FF2B5EF4-FFF2-40B4-BE49-F238E27FC236}">
                <a16:creationId xmlns:a16="http://schemas.microsoft.com/office/drawing/2014/main" id="{A222F43F-D0AF-9AFC-9F2B-653C85E63E7C}"/>
              </a:ext>
            </a:extLst>
          </p:cNvPr>
          <p:cNvCxnSpPr>
            <a:cxnSpLocks/>
          </p:cNvCxnSpPr>
          <p:nvPr/>
        </p:nvCxnSpPr>
        <p:spPr>
          <a:xfrm>
            <a:off x="0" y="1390675"/>
            <a:ext cx="9906000" cy="0"/>
          </a:xfrm>
          <a:prstGeom prst="line">
            <a:avLst/>
          </a:prstGeom>
          <a:ln w="19050">
            <a:solidFill>
              <a:schemeClr val="bg1">
                <a:lumMod val="85000"/>
                <a:alpha val="60000"/>
              </a:schemeClr>
            </a:solidFill>
          </a:ln>
          <a:effectLst/>
        </p:spPr>
        <p:style>
          <a:lnRef idx="2">
            <a:schemeClr val="accent1"/>
          </a:lnRef>
          <a:fillRef idx="0">
            <a:schemeClr val="accent1"/>
          </a:fillRef>
          <a:effectRef idx="1">
            <a:schemeClr val="accent1"/>
          </a:effectRef>
          <a:fontRef idx="minor">
            <a:schemeClr val="tx1"/>
          </a:fontRef>
        </p:style>
      </p:cxnSp>
      <p:sp>
        <p:nvSpPr>
          <p:cNvPr id="45" name="Google Shape;156;p7">
            <a:extLst>
              <a:ext uri="{FF2B5EF4-FFF2-40B4-BE49-F238E27FC236}">
                <a16:creationId xmlns:a16="http://schemas.microsoft.com/office/drawing/2014/main" id="{5A2BA354-F6A0-F5FB-F7A4-8C5F010328B8}"/>
              </a:ext>
            </a:extLst>
          </p:cNvPr>
          <p:cNvSpPr txBox="1"/>
          <p:nvPr/>
        </p:nvSpPr>
        <p:spPr>
          <a:xfrm>
            <a:off x="548883" y="138118"/>
            <a:ext cx="6514857" cy="338554"/>
          </a:xfrm>
          <a:prstGeom prst="rect">
            <a:avLst/>
          </a:prstGeom>
          <a:noFill/>
          <a:ln w="19050">
            <a:noFill/>
          </a:ln>
        </p:spPr>
        <p:txBody>
          <a:bodyPr spcFirstLastPara="1" wrap="square" lIns="91425" tIns="45700" rIns="91425" bIns="45700" anchor="ctr" anchorCtr="0">
            <a:spAutoFit/>
          </a:bodyPr>
          <a:lstStyle/>
          <a:p>
            <a:pPr marL="0" marR="0" lvl="0" indent="0" algn="l" rtl="0">
              <a:spcBef>
                <a:spcPts val="0"/>
              </a:spcBef>
              <a:spcAft>
                <a:spcPts val="0"/>
              </a:spcAft>
              <a:buClr>
                <a:srgbClr val="002060"/>
              </a:buClr>
              <a:buSzPts val="1600"/>
              <a:buFont typeface="Arial"/>
              <a:buNone/>
            </a:pPr>
            <a:r>
              <a:rPr lang="ja-JP" altLang="en-US" sz="1600" b="1" dirty="0">
                <a:solidFill>
                  <a:srgbClr val="002060"/>
                </a:solidFill>
                <a:latin typeface="メイリオ"/>
                <a:ea typeface="メイリオ"/>
                <a:cs typeface="Meiryo"/>
                <a:sym typeface="Meiryo"/>
              </a:rPr>
              <a:t>ご提供プラン（運用構成）</a:t>
            </a:r>
            <a:endParaRPr sz="1600" b="1" dirty="0">
              <a:solidFill>
                <a:srgbClr val="002060"/>
              </a:solidFill>
              <a:latin typeface="メイリオ"/>
              <a:ea typeface="メイリオ"/>
              <a:cs typeface="Meiryo"/>
              <a:sym typeface="Meiryo"/>
            </a:endParaRPr>
          </a:p>
        </p:txBody>
      </p:sp>
      <p:sp>
        <p:nvSpPr>
          <p:cNvPr id="46" name="Rounded Rectangle 45"/>
          <p:cNvSpPr/>
          <p:nvPr/>
        </p:nvSpPr>
        <p:spPr>
          <a:xfrm>
            <a:off x="350000" y="1560000"/>
            <a:ext cx="43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運用構成（貴社に合わせて確定</a:t>
            </a:r>
            <a:r>
              <a:rPr sz="1400" b="1" dirty="0">
                <a:solidFill>
                  <a:srgbClr val="1F3A5F"/>
                </a:solidFill>
                <a:latin typeface="メイリオ"/>
                <a:ea typeface="メイリオ"/>
              </a:rPr>
              <a:t>）</a:t>
            </a:r>
          </a:p>
        </p:txBody>
      </p:sp>
      <p:sp>
        <p:nvSpPr>
          <p:cNvPr id="47" name="Rounded Rectangle 46"/>
          <p:cNvSpPr/>
          <p:nvPr/>
        </p:nvSpPr>
        <p:spPr>
          <a:xfrm>
            <a:off x="350000" y="1929999"/>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ターゲット</a:t>
            </a:r>
            <a:r>
              <a:rPr sz="1400" b="1" dirty="0">
                <a:solidFill>
                  <a:srgbClr val="1F3A5F"/>
                </a:solidFill>
                <a:latin typeface="メイリオ"/>
                <a:ea typeface="メイリオ"/>
              </a:rPr>
              <a:t>：◯ 個</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二軸アンケート（配信頻度×商材）で分類</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例：3個｜「</a:t>
            </a:r>
            <a:r>
              <a:rPr sz="1200" b="0" dirty="0" err="1">
                <a:solidFill>
                  <a:srgbClr val="555555"/>
                </a:solidFill>
                <a:latin typeface="メイリオ"/>
                <a:ea typeface="メイリオ"/>
              </a:rPr>
              <a:t>今すぐ</a:t>
            </a:r>
            <a:r>
              <a:rPr sz="1200" b="0" dirty="0">
                <a:solidFill>
                  <a:srgbClr val="555555"/>
                </a:solidFill>
                <a:latin typeface="メイリオ"/>
                <a:ea typeface="メイリオ"/>
              </a:rPr>
              <a:t>/1ヶ月以内/2〜3ヶ月先・未定」</a:t>
            </a:r>
          </a:p>
        </p:txBody>
      </p:sp>
      <p:sp>
        <p:nvSpPr>
          <p:cNvPr id="48" name="Rounded Rectangle 47"/>
          <p:cNvSpPr/>
          <p:nvPr/>
        </p:nvSpPr>
        <p:spPr>
          <a:xfrm>
            <a:off x="340857" y="3388642"/>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ステップ配信：各</a:t>
            </a:r>
            <a:r>
              <a:rPr sz="1400" b="1" dirty="0">
                <a:solidFill>
                  <a:srgbClr val="1F3A5F"/>
                </a:solidFill>
                <a:latin typeface="メイリオ"/>
                <a:ea typeface="メイリオ"/>
              </a:rPr>
              <a:t>◯ 通 × ◯ </a:t>
            </a:r>
            <a:r>
              <a:rPr sz="1400" b="1" dirty="0" err="1">
                <a:solidFill>
                  <a:srgbClr val="1F3A5F"/>
                </a:solidFill>
                <a:latin typeface="メイリオ"/>
                <a:ea typeface="メイリオ"/>
              </a:rPr>
              <a:t>セット</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ターゲット別シナリオを全自動で稼働</a:t>
            </a:r>
            <a:endParaRPr sz="1200" b="0" dirty="0">
              <a:solidFill>
                <a:srgbClr val="333333"/>
              </a:solidFill>
              <a:latin typeface="メイリオ"/>
              <a:ea typeface="メイリオ"/>
            </a:endParaRPr>
          </a:p>
          <a:p>
            <a:pPr algn="l"/>
            <a:r>
              <a:rPr sz="1200" b="0" dirty="0">
                <a:solidFill>
                  <a:srgbClr val="555555"/>
                </a:solidFill>
                <a:latin typeface="メイリオ"/>
                <a:ea typeface="メイリオ"/>
              </a:rPr>
              <a:t>例：6通×3セット＝18通</a:t>
            </a:r>
          </a:p>
        </p:txBody>
      </p:sp>
      <p:sp>
        <p:nvSpPr>
          <p:cNvPr id="49" name="Rounded Rectangle 48"/>
          <p:cNvSpPr/>
          <p:nvPr/>
        </p:nvSpPr>
        <p:spPr>
          <a:xfrm>
            <a:off x="350000" y="4847286"/>
            <a:ext cx="43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dirty="0" err="1">
                <a:solidFill>
                  <a:srgbClr val="1F3A5F"/>
                </a:solidFill>
                <a:latin typeface="メイリオ"/>
                <a:ea typeface="メイリオ"/>
              </a:rPr>
              <a:t>企画投稿：月</a:t>
            </a:r>
            <a:r>
              <a:rPr sz="1400" b="1" dirty="0">
                <a:solidFill>
                  <a:srgbClr val="1F3A5F"/>
                </a:solidFill>
                <a:latin typeface="メイリオ"/>
                <a:ea typeface="メイリオ"/>
              </a:rPr>
              <a:t>◯ 本</a:t>
            </a:r>
            <a:endParaRPr lang="en-US" sz="14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a:solidFill>
                  <a:srgbClr val="333333"/>
                </a:solidFill>
                <a:latin typeface="メイリオ"/>
                <a:ea typeface="メイリオ"/>
              </a:rPr>
              <a:t>週1回の定期投稿＋時期・時事の特別配信</a:t>
            </a:r>
          </a:p>
          <a:p>
            <a:pPr algn="l"/>
            <a:r>
              <a:rPr sz="1200" b="0" dirty="0">
                <a:solidFill>
                  <a:srgbClr val="555555"/>
                </a:solidFill>
                <a:latin typeface="メイリオ"/>
                <a:ea typeface="メイリオ"/>
              </a:rPr>
              <a:t>例：月4本（週1回）</a:t>
            </a:r>
          </a:p>
        </p:txBody>
      </p:sp>
      <p:sp>
        <p:nvSpPr>
          <p:cNvPr id="50" name="Rounded Rectangle 49"/>
          <p:cNvSpPr/>
          <p:nvPr/>
        </p:nvSpPr>
        <p:spPr>
          <a:xfrm>
            <a:off x="4850000" y="1560000"/>
            <a:ext cx="4700000" cy="378504"/>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400" b="1">
                <a:solidFill>
                  <a:srgbClr val="1F3A5F"/>
                </a:solidFill>
                <a:latin typeface="メイリオ"/>
                <a:ea typeface="メイリオ"/>
              </a:rPr>
              <a:t>費用・ツール・運営（標準）</a:t>
            </a:r>
          </a:p>
        </p:txBody>
      </p:sp>
      <p:sp>
        <p:nvSpPr>
          <p:cNvPr id="51" name="Rounded Rectangle 50"/>
          <p:cNvSpPr/>
          <p:nvPr/>
        </p:nvSpPr>
        <p:spPr>
          <a:xfrm>
            <a:off x="4850000" y="1929999"/>
            <a:ext cx="4700000" cy="1299529"/>
          </a:xfrm>
          <a:prstGeom prst="roundRect">
            <a:avLst/>
          </a:prstGeom>
          <a:solidFill>
            <a:srgbClr val="24345A"/>
          </a:solidFill>
          <a:ln>
            <a:no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600" b="1" dirty="0" err="1">
                <a:solidFill>
                  <a:srgbClr val="FFFFFF"/>
                </a:solidFill>
                <a:latin typeface="メイリオ"/>
                <a:ea typeface="メイリオ"/>
              </a:rPr>
              <a:t>月額</a:t>
            </a:r>
            <a:r>
              <a:rPr sz="1600" b="1" dirty="0">
                <a:solidFill>
                  <a:srgbClr val="FFFFFF"/>
                </a:solidFill>
                <a:latin typeface="メイリオ"/>
                <a:ea typeface="メイリオ"/>
              </a:rPr>
              <a:t> 20万円〜（3投稿）</a:t>
            </a:r>
            <a:endParaRPr lang="en-US" sz="1600" b="1" dirty="0">
              <a:solidFill>
                <a:srgbClr val="FFFFFF"/>
              </a:solidFill>
              <a:latin typeface="メイリオ"/>
              <a:ea typeface="メイリオ"/>
            </a:endParaRPr>
          </a:p>
          <a:p>
            <a:pPr algn="l"/>
            <a:endParaRPr sz="800" b="1" dirty="0">
              <a:solidFill>
                <a:srgbClr val="FFFFFF"/>
              </a:solidFill>
              <a:latin typeface="メイリオ"/>
              <a:ea typeface="メイリオ"/>
            </a:endParaRPr>
          </a:p>
          <a:p>
            <a:pPr algn="l"/>
            <a:r>
              <a:rPr sz="1400" dirty="0" err="1">
                <a:solidFill>
                  <a:srgbClr val="FFFFFF"/>
                </a:solidFill>
                <a:latin typeface="メイリオ"/>
                <a:ea typeface="メイリオ"/>
              </a:rPr>
              <a:t>初期費用</a:t>
            </a:r>
            <a:r>
              <a:rPr sz="1400" dirty="0">
                <a:solidFill>
                  <a:srgbClr val="FFFFFF"/>
                </a:solidFill>
                <a:latin typeface="メイリオ"/>
                <a:ea typeface="メイリオ"/>
              </a:rPr>
              <a:t> 10万円〜 ／ 6か月〜契約</a:t>
            </a:r>
          </a:p>
          <a:p>
            <a:pPr algn="l"/>
            <a:r>
              <a:rPr sz="1200" dirty="0">
                <a:solidFill>
                  <a:srgbClr val="FFFFFF"/>
                </a:solidFill>
                <a:latin typeface="メイリオ"/>
                <a:ea typeface="メイリオ"/>
              </a:rPr>
              <a:t>※5投稿=30万円／9投稿=50万円（投稿数により変動）</a:t>
            </a:r>
          </a:p>
        </p:txBody>
      </p:sp>
      <p:sp>
        <p:nvSpPr>
          <p:cNvPr id="53" name="Rounded Rectangle 52"/>
          <p:cNvSpPr/>
          <p:nvPr/>
        </p:nvSpPr>
        <p:spPr>
          <a:xfrm>
            <a:off x="4850000" y="4847286"/>
            <a:ext cx="4700000" cy="1347473"/>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50000" rIns="70000" bIns="30000" rtlCol="0" anchor="t"/>
          <a:lstStyle/>
          <a:p>
            <a:pPr algn="l"/>
            <a:r>
              <a:rPr sz="1200" b="1" dirty="0" err="1">
                <a:solidFill>
                  <a:srgbClr val="1F3A5F"/>
                </a:solidFill>
                <a:latin typeface="メイリオ"/>
                <a:ea typeface="メイリオ"/>
              </a:rPr>
              <a:t>個別チャット運営</a:t>
            </a:r>
            <a:endParaRPr lang="en-US" sz="1200" b="1" dirty="0">
              <a:solidFill>
                <a:srgbClr val="1F3A5F"/>
              </a:solidFill>
              <a:latin typeface="メイリオ"/>
              <a:ea typeface="メイリオ"/>
            </a:endParaRPr>
          </a:p>
          <a:p>
            <a:pPr algn="l"/>
            <a:endParaRPr sz="800" b="1" dirty="0">
              <a:solidFill>
                <a:srgbClr val="1F3A5F"/>
              </a:solidFill>
              <a:latin typeface="メイリオ"/>
              <a:ea typeface="メイリオ"/>
            </a:endParaRPr>
          </a:p>
          <a:p>
            <a:pPr algn="l"/>
            <a:r>
              <a:rPr sz="1200" b="0" dirty="0" err="1">
                <a:solidFill>
                  <a:srgbClr val="333333"/>
                </a:solidFill>
                <a:latin typeface="メイリオ"/>
                <a:ea typeface="メイリオ"/>
              </a:rPr>
              <a:t>よくある質問＝KW自動応答／営業時間内は有人対応</a:t>
            </a:r>
            <a:endParaRPr sz="1200" b="0" dirty="0">
              <a:solidFill>
                <a:srgbClr val="333333"/>
              </a:solidFill>
              <a:latin typeface="メイリオ"/>
              <a:ea typeface="メイリオ"/>
            </a:endParaRPr>
          </a:p>
          <a:p>
            <a:pPr algn="l"/>
            <a:r>
              <a:rPr sz="1200" b="0" dirty="0" err="1">
                <a:solidFill>
                  <a:srgbClr val="333333"/>
                </a:solidFill>
                <a:latin typeface="メイリオ"/>
                <a:ea typeface="メイリオ"/>
              </a:rPr>
              <a:t>体験希望はチャット受付</a:t>
            </a:r>
            <a:r>
              <a:rPr sz="1200" b="0" dirty="0">
                <a:solidFill>
                  <a:srgbClr val="333333"/>
                </a:solidFill>
                <a:latin typeface="メイリオ"/>
                <a:ea typeface="メイリオ"/>
              </a:rPr>
              <a:t> → </a:t>
            </a:r>
            <a:r>
              <a:rPr sz="1200" b="0" dirty="0" err="1">
                <a:solidFill>
                  <a:srgbClr val="333333"/>
                </a:solidFill>
                <a:latin typeface="メイリオ"/>
                <a:ea typeface="メイリオ"/>
              </a:rPr>
              <a:t>店舗スタッフへトスアップ</a:t>
            </a:r>
            <a:endParaRPr sz="1200" b="0" dirty="0">
              <a:solidFill>
                <a:srgbClr val="333333"/>
              </a:solidFill>
              <a:latin typeface="メイリオ"/>
              <a:ea typeface="メイリオ"/>
            </a:endParaRPr>
          </a:p>
        </p:txBody>
      </p:sp>
      <p:sp>
        <p:nvSpPr>
          <p:cNvPr id="54" name="Rounded Rectangle 53"/>
          <p:cNvSpPr/>
          <p:nvPr/>
        </p:nvSpPr>
        <p:spPr>
          <a:xfrm>
            <a:off x="4840857" y="3388642"/>
            <a:ext cx="4700000" cy="1299529"/>
          </a:xfrm>
          <a:prstGeom prst="roundRect">
            <a:avLst/>
          </a:prstGeom>
          <a:solidFill>
            <a:srgbClr val="EEF1F5"/>
          </a:solidFill>
          <a:ln w="12700">
            <a:solidFill>
              <a:srgbClr val="7F8896"/>
            </a:solidFill>
          </a:ln>
          <a:effectLst/>
        </p:spPr>
        <p:style>
          <a:lnRef idx="1">
            <a:schemeClr val="accent1"/>
          </a:lnRef>
          <a:fillRef idx="3">
            <a:schemeClr val="accent1"/>
          </a:fillRef>
          <a:effectRef idx="2">
            <a:schemeClr val="accent1"/>
          </a:effectRef>
          <a:fontRef idx="minor">
            <a:schemeClr val="lt1"/>
          </a:fontRef>
        </p:style>
        <p:txBody>
          <a:bodyPr wrap="square" lIns="90000" tIns="40000" rIns="70000" rtlCol="0" anchor="t"/>
          <a:lstStyle/>
          <a:p>
            <a:r>
              <a:rPr sz="1200" b="1" dirty="0" err="1">
                <a:solidFill>
                  <a:srgbClr val="1F3A5F"/>
                </a:solidFill>
                <a:latin typeface="メイリオ"/>
                <a:ea typeface="メイリオ"/>
              </a:rPr>
              <a:t>導入ツール：役割別に選定</a:t>
            </a:r>
            <a:endParaRPr lang="en-US" sz="1200" b="1" dirty="0">
              <a:solidFill>
                <a:srgbClr val="1F3A5F"/>
              </a:solidFill>
              <a:latin typeface="メイリオ"/>
              <a:ea typeface="メイリオ"/>
            </a:endParaRPr>
          </a:p>
          <a:p>
            <a:endParaRPr sz="800" b="1" dirty="0">
              <a:solidFill>
                <a:srgbClr val="1F3A5F"/>
              </a:solidFill>
              <a:latin typeface="メイリオ"/>
              <a:ea typeface="メイリオ"/>
            </a:endParaRPr>
          </a:p>
          <a:p>
            <a:r>
              <a:rPr sz="1200" b="1" dirty="0" err="1">
                <a:solidFill>
                  <a:srgbClr val="333333"/>
                </a:solidFill>
                <a:latin typeface="メイリオ"/>
                <a:ea typeface="メイリオ"/>
              </a:rPr>
              <a:t>入口＝Sitelead（離脱防止ポップアップ</a:t>
            </a:r>
            <a:r>
              <a:rPr sz="1200" b="1" dirty="0">
                <a:solidFill>
                  <a:srgbClr val="333333"/>
                </a:solidFill>
                <a:latin typeface="メイリオ"/>
                <a:ea typeface="メイリオ"/>
              </a:rPr>
              <a:t>）※</a:t>
            </a:r>
            <a:r>
              <a:rPr sz="1200" b="1" dirty="0" err="1">
                <a:solidFill>
                  <a:srgbClr val="333333"/>
                </a:solidFill>
                <a:latin typeface="メイリオ"/>
                <a:ea typeface="メイリオ"/>
              </a:rPr>
              <a:t>別途費用</a:t>
            </a:r>
            <a:endParaRPr sz="1200" b="1" dirty="0">
              <a:solidFill>
                <a:srgbClr val="333333"/>
              </a:solidFill>
              <a:latin typeface="メイリオ"/>
              <a:ea typeface="メイリオ"/>
            </a:endParaRPr>
          </a:p>
          <a:p>
            <a:r>
              <a:rPr sz="1200" b="1" dirty="0" err="1">
                <a:solidFill>
                  <a:srgbClr val="333333"/>
                </a:solidFill>
                <a:latin typeface="メイリオ"/>
                <a:ea typeface="メイリオ"/>
              </a:rPr>
              <a:t>配信＝Lstep</a:t>
            </a:r>
            <a:r>
              <a:rPr sz="1200" b="1" dirty="0">
                <a:solidFill>
                  <a:srgbClr val="333333"/>
                </a:solidFill>
                <a:latin typeface="メイリオ"/>
                <a:ea typeface="メイリオ"/>
              </a:rPr>
              <a:t> </a:t>
            </a:r>
            <a:r>
              <a:rPr sz="1200" b="1" dirty="0" err="1">
                <a:solidFill>
                  <a:srgbClr val="333333"/>
                </a:solidFill>
                <a:latin typeface="メイリオ"/>
                <a:ea typeface="メイリオ"/>
              </a:rPr>
              <a:t>または</a:t>
            </a:r>
            <a:r>
              <a:rPr sz="1200" b="1" dirty="0">
                <a:solidFill>
                  <a:srgbClr val="333333"/>
                </a:solidFill>
                <a:latin typeface="メイリオ"/>
                <a:ea typeface="メイリオ"/>
              </a:rPr>
              <a:t> </a:t>
            </a:r>
            <a:r>
              <a:rPr sz="1200" b="1" dirty="0" err="1">
                <a:solidFill>
                  <a:srgbClr val="333333"/>
                </a:solidFill>
                <a:latin typeface="メイリオ"/>
                <a:ea typeface="メイリオ"/>
              </a:rPr>
              <a:t>Hachidori</a:t>
            </a:r>
            <a:r>
              <a:rPr sz="1200" b="1" dirty="0">
                <a:solidFill>
                  <a:srgbClr val="333333"/>
                </a:solidFill>
                <a:latin typeface="メイリオ"/>
                <a:ea typeface="メイリオ"/>
              </a:rPr>
              <a:t> </a:t>
            </a:r>
            <a:r>
              <a:rPr sz="1200" b="1" dirty="0" err="1">
                <a:solidFill>
                  <a:srgbClr val="333333"/>
                </a:solidFill>
                <a:latin typeface="メイリオ"/>
                <a:ea typeface="メイリオ"/>
              </a:rPr>
              <a:t>のどちらか一方を要件で選定</a:t>
            </a:r>
            <a:endParaRPr sz="1200" b="1" dirty="0">
              <a:solidFill>
                <a:srgbClr val="333333"/>
              </a:solidFill>
              <a:latin typeface="メイリオ"/>
              <a:ea typeface="メイリオ"/>
            </a:endParaRPr>
          </a:p>
          <a:p>
            <a:r>
              <a:rPr sz="1100" b="0" dirty="0" err="1">
                <a:solidFill>
                  <a:srgbClr val="333333"/>
                </a:solidFill>
                <a:latin typeface="メイリオ"/>
                <a:ea typeface="メイリオ"/>
              </a:rPr>
              <a:t>Lstep＝タグ・セグメント・ステップ自動化／Hachidori</a:t>
            </a:r>
            <a:endParaRPr lang="en-US" sz="1100" b="0" dirty="0">
              <a:solidFill>
                <a:srgbClr val="333333"/>
              </a:solidFill>
              <a:latin typeface="メイリオ"/>
              <a:ea typeface="メイリオ"/>
            </a:endParaRPr>
          </a:p>
          <a:p>
            <a:r>
              <a:rPr lang="ja-JP" altLang="en-US" sz="1100" b="0" dirty="0">
                <a:solidFill>
                  <a:srgbClr val="333333"/>
                </a:solidFill>
                <a:latin typeface="メイリオ"/>
                <a:ea typeface="メイリオ"/>
              </a:rPr>
              <a:t>＝</a:t>
            </a:r>
            <a:r>
              <a:rPr sz="1100" b="0" dirty="0" err="1">
                <a:solidFill>
                  <a:srgbClr val="333333"/>
                </a:solidFill>
                <a:latin typeface="メイリオ"/>
                <a:ea typeface="メイリオ"/>
              </a:rPr>
              <a:t>通知メッセ・保有リスト活用</a:t>
            </a:r>
            <a:endParaRPr sz="1100" b="0" dirty="0">
              <a:solidFill>
                <a:srgbClr val="333333"/>
              </a:solidFill>
              <a:latin typeface="メイリオ"/>
              <a:ea typeface="メイリオ"/>
            </a:endParaRPr>
          </a:p>
          <a:p>
            <a:r>
              <a:rPr sz="1100" b="0" dirty="0" err="1">
                <a:solidFill>
                  <a:srgbClr val="555555"/>
                </a:solidFill>
                <a:latin typeface="メイリオ"/>
                <a:ea typeface="メイリオ"/>
              </a:rPr>
              <a:t>既存CRMとのAPI連携も対応（特定ツールに依存しない</a:t>
            </a:r>
            <a:r>
              <a:rPr sz="1100" b="0" dirty="0">
                <a:solidFill>
                  <a:srgbClr val="555555"/>
                </a:solidFill>
                <a:latin typeface="メイリオ"/>
                <a:ea typeface="メイリオ"/>
              </a:rPr>
              <a:t>）</a:t>
            </a:r>
          </a:p>
        </p:txBody>
      </p:sp>
    </p:spTree>
    <p:extLst>
      <p:ext uri="{BB962C8B-B14F-4D97-AF65-F5344CB8AC3E}">
        <p14:creationId xmlns:p14="http://schemas.microsoft.com/office/powerpoint/2010/main" val="394375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F07D-57DB-D005-AEF4-0353E12BFBBB}"/>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9E70BA7A-C846-DB25-5226-608EE498C23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資料アジェンダ</a:t>
            </a:r>
          </a:p>
        </p:txBody>
      </p:sp>
      <p:sp>
        <p:nvSpPr>
          <p:cNvPr id="2" name="正方形/長方形 1">
            <a:extLst>
              <a:ext uri="{FF2B5EF4-FFF2-40B4-BE49-F238E27FC236}">
                <a16:creationId xmlns:a16="http://schemas.microsoft.com/office/drawing/2014/main" id="{C580AE1A-1ED9-8A39-74F0-21E10C52709E}"/>
              </a:ext>
            </a:extLst>
          </p:cNvPr>
          <p:cNvSpPr/>
          <p:nvPr/>
        </p:nvSpPr>
        <p:spPr>
          <a:xfrm>
            <a:off x="3424389" y="3038203"/>
            <a:ext cx="3057247" cy="892552"/>
          </a:xfrm>
          <a:prstGeom prst="rect">
            <a:avLst/>
          </a:prstGeom>
        </p:spPr>
        <p:txBody>
          <a:bodyPr wrap="none">
            <a:spAutoFit/>
          </a:bodyPr>
          <a:lstStyle/>
          <a:p>
            <a:pPr algn="ct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ご提案にあたり</a:t>
            </a:r>
            <a:endParaRPr lang="en-US" altLang="ja-JP"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a:p>
            <a:pPr algn="ct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（施策紹介・企画案）</a:t>
            </a:r>
            <a:endParaRPr lang="en-US" altLang="ja-I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Tree>
    <p:extLst>
      <p:ext uri="{BB962C8B-B14F-4D97-AF65-F5344CB8AC3E}">
        <p14:creationId xmlns:p14="http://schemas.microsoft.com/office/powerpoint/2010/main" val="2638127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C912E4CC-70AD-5529-2A5A-4FA0D1C97A2B}"/>
              </a:ext>
            </a:extLst>
          </p:cNvPr>
          <p:cNvSpPr txBox="1"/>
          <p:nvPr/>
        </p:nvSpPr>
        <p:spPr>
          <a:xfrm>
            <a:off x="548883" y="138137"/>
            <a:ext cx="6276325" cy="338514"/>
          </a:xfrm>
          <a:prstGeom prst="rect">
            <a:avLst/>
          </a:prstGeom>
          <a:noFill/>
          <a:ln>
            <a:noFill/>
          </a:ln>
        </p:spPr>
        <p:txBody>
          <a:bodyPr spcFirstLastPara="1" wrap="square" lIns="36000" tIns="10800" rIns="36000" bIns="10800" anchor="ctr" anchorCtr="0">
            <a:spAutoFit/>
          </a:bodyPr>
          <a:lstStyle/>
          <a:p>
            <a:pPr lvl="0" algn="l">
              <a:lnSpc>
                <a:spcPct val="115000"/>
              </a:lnSpc>
            </a:pPr>
            <a:r>
              <a:rPr sz="1600" b="1">
                <a:solidFill>
                  <a:srgbClr val="323366"/>
                </a:solidFill>
                <a:latin typeface="メイリオ"/>
                <a:ea typeface="メイリオ"/>
                <a:cs typeface="メイリオ"/>
              </a:rPr>
              <a:t>具体施策｜18の施策をジャーニー上に配置</a:t>
            </a:r>
          </a:p>
        </p:txBody>
      </p:sp>
      <p:sp>
        <p:nvSpPr>
          <p:cNvPr id="9" name="正方形/長方形 8">
            <a:extLst>
              <a:ext uri="{FF2B5EF4-FFF2-40B4-BE49-F238E27FC236}">
                <a16:creationId xmlns:a16="http://schemas.microsoft.com/office/drawing/2014/main" id="{BD73628C-261B-9AE4-0B66-12C6BEDE3EDD}"/>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a:latin typeface="メイリオ" panose="020B0604030504040204" pitchFamily="50" charset="-128"/>
                <a:ea typeface="メイリオ" panose="020B0604030504040204" pitchFamily="50" charset="-128"/>
              </a:rPr>
              <a:t>集客動線</a:t>
            </a:r>
            <a:endParaRPr kumimoji="1" lang="ja-JP" altLang="en-US" sz="1400" dirty="0">
              <a:latin typeface="メイリオ" panose="020B0604030504040204" pitchFamily="50" charset="-128"/>
              <a:ea typeface="メイリオ" panose="020B0604030504040204" pitchFamily="50" charset="-128"/>
            </a:endParaRPr>
          </a:p>
        </p:txBody>
      </p:sp>
      <p:sp>
        <p:nvSpPr>
          <p:cNvPr id="3" name="Google Shape;752;p28">
            <a:extLst>
              <a:ext uri="{FF2B5EF4-FFF2-40B4-BE49-F238E27FC236}">
                <a16:creationId xmlns:a16="http://schemas.microsoft.com/office/drawing/2014/main" id="{AF6C2475-3BD5-7DF2-52BD-C0F30E8072CF}"/>
              </a:ext>
            </a:extLst>
          </p:cNvPr>
          <p:cNvSpPr txBox="1"/>
          <p:nvPr/>
        </p:nvSpPr>
        <p:spPr>
          <a:xfrm>
            <a:off x="1988819" y="736332"/>
            <a:ext cx="7774305" cy="584735"/>
          </a:xfrm>
          <a:prstGeom prst="rect">
            <a:avLst/>
          </a:prstGeom>
          <a:noFill/>
          <a:ln>
            <a:noFill/>
          </a:ln>
        </p:spPr>
        <p:txBody>
          <a:bodyPr spcFirstLastPara="1" wrap="square" lIns="0" tIns="10800" rIns="0" bIns="10800" anchor="ctr" anchorCtr="0">
            <a:spAutoFit/>
          </a:bodyPr>
          <a:lstStyle/>
          <a:p>
            <a:pPr algn="l">
              <a:lnSpc>
                <a:spcPct val="115000"/>
              </a:lnSpc>
            </a:pPr>
            <a:r>
              <a:rPr sz="1300" b="1">
                <a:solidFill>
                  <a:srgbClr val="002060"/>
                </a:solidFill>
                <a:latin typeface="メイリオ"/>
                <a:ea typeface="メイリオ"/>
                <a:cs typeface="メイリオ"/>
              </a:rPr>
              <a:t>18の具体施策が、ジャーニーのどのフェーズで効くかを1枚に置きました。</a:t>
            </a:r>
            <a:endParaRPr lang="en-US" altLang="ja-JP" sz="1600" b="1" dirty="0">
              <a:latin typeface="メイリオ" panose="020B0604030504040204" pitchFamily="50" charset="-128"/>
              <a:ea typeface="メイリオ" panose="020B0604030504040204" pitchFamily="50" charset="-128"/>
              <a:cs typeface="Meiryo"/>
              <a:sym typeface="Meiryo"/>
            </a:endParaRPr>
          </a:p>
          <a:p>
            <a:pPr algn="l">
              <a:lnSpc>
                <a:spcPct val="115000"/>
              </a:lnSpc>
            </a:pPr>
            <a:r>
              <a:rPr sz="1300" b="1">
                <a:solidFill>
                  <a:srgbClr val="C00000"/>
                </a:solidFill>
                <a:latin typeface="メイリオ"/>
                <a:ea typeface="メイリオ"/>
                <a:cs typeface="メイリオ"/>
              </a:rPr>
              <a:t>追加までが6施策、追加後が12施策。後半のほうが厚い構成です。</a:t>
            </a:r>
          </a:p>
        </p:txBody>
      </p:sp>
      <p:cxnSp>
        <p:nvCxnSpPr>
          <p:cNvPr id="2" name="直線コネクタ 1">
            <a:extLst>
              <a:ext uri="{FF2B5EF4-FFF2-40B4-BE49-F238E27FC236}">
                <a16:creationId xmlns:a16="http://schemas.microsoft.com/office/drawing/2014/main" id="{8D0721AE-E7E5-698E-E773-F2614C0DBB07}"/>
              </a:ext>
            </a:extLst>
          </p:cNvPr>
          <p:cNvCxnSpPr>
            <a:cxnSpLocks/>
          </p:cNvCxnSpPr>
          <p:nvPr/>
        </p:nvCxnSpPr>
        <p:spPr>
          <a:xfrm>
            <a:off x="315939" y="2178817"/>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 name="直線コネクタ 4">
            <a:extLst>
              <a:ext uri="{FF2B5EF4-FFF2-40B4-BE49-F238E27FC236}">
                <a16:creationId xmlns:a16="http://schemas.microsoft.com/office/drawing/2014/main" id="{3BFFC88E-A589-D631-D366-94F280EFF67D}"/>
              </a:ext>
            </a:extLst>
          </p:cNvPr>
          <p:cNvCxnSpPr>
            <a:cxnSpLocks/>
          </p:cNvCxnSpPr>
          <p:nvPr/>
        </p:nvCxnSpPr>
        <p:spPr>
          <a:xfrm>
            <a:off x="1265077" y="2190680"/>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D90E23BB-3076-5B7D-82F3-8433A2B09D1F}"/>
              </a:ext>
            </a:extLst>
          </p:cNvPr>
          <p:cNvCxnSpPr>
            <a:cxnSpLocks/>
          </p:cNvCxnSpPr>
          <p:nvPr/>
        </p:nvCxnSpPr>
        <p:spPr>
          <a:xfrm>
            <a:off x="2202413" y="2188038"/>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3A68BF14-4E95-B76C-1300-FF13B29BADF0}"/>
              </a:ext>
            </a:extLst>
          </p:cNvPr>
          <p:cNvCxnSpPr>
            <a:cxnSpLocks/>
          </p:cNvCxnSpPr>
          <p:nvPr/>
        </p:nvCxnSpPr>
        <p:spPr>
          <a:xfrm>
            <a:off x="3136468" y="2207356"/>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6558815C-4A36-8DFA-3258-ADAC642B44B6}"/>
              </a:ext>
            </a:extLst>
          </p:cNvPr>
          <p:cNvCxnSpPr>
            <a:cxnSpLocks/>
          </p:cNvCxnSpPr>
          <p:nvPr/>
        </p:nvCxnSpPr>
        <p:spPr>
          <a:xfrm>
            <a:off x="3541980" y="2217939"/>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9B24DBF0-6A3A-0783-C6E3-74B28D837D9E}"/>
              </a:ext>
            </a:extLst>
          </p:cNvPr>
          <p:cNvCxnSpPr>
            <a:cxnSpLocks/>
          </p:cNvCxnSpPr>
          <p:nvPr/>
        </p:nvCxnSpPr>
        <p:spPr>
          <a:xfrm>
            <a:off x="4833781" y="222980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D9F92929-7F37-647E-2D3E-0EB84FFB20D1}"/>
              </a:ext>
            </a:extLst>
          </p:cNvPr>
          <p:cNvCxnSpPr>
            <a:cxnSpLocks/>
          </p:cNvCxnSpPr>
          <p:nvPr/>
        </p:nvCxnSpPr>
        <p:spPr>
          <a:xfrm>
            <a:off x="6125582" y="2227160"/>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A53FD7B1-4120-4E04-0DDF-B4B54EDB9BFD}"/>
              </a:ext>
            </a:extLst>
          </p:cNvPr>
          <p:cNvCxnSpPr>
            <a:cxnSpLocks/>
          </p:cNvCxnSpPr>
          <p:nvPr/>
        </p:nvCxnSpPr>
        <p:spPr>
          <a:xfrm>
            <a:off x="7417384" y="2217938"/>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sp>
        <p:nvSpPr>
          <p:cNvPr id="14" name="テキスト ボックス 13">
            <a:extLst>
              <a:ext uri="{FF2B5EF4-FFF2-40B4-BE49-F238E27FC236}">
                <a16:creationId xmlns:a16="http://schemas.microsoft.com/office/drawing/2014/main" id="{ABDE72C7-C765-8BB2-E494-8277E0D528BC}"/>
              </a:ext>
            </a:extLst>
          </p:cNvPr>
          <p:cNvSpPr txBox="1"/>
          <p:nvPr/>
        </p:nvSpPr>
        <p:spPr>
          <a:xfrm>
            <a:off x="3542139" y="2124167"/>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⑤ リード有効化</a:t>
            </a:r>
            <a:endParaRPr lang="ja-JP" altLang="ja-JP" sz="1100" b="1" dirty="0">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96BDDC66-06A4-F147-F6D6-595BB801B1D3}"/>
              </a:ext>
            </a:extLst>
          </p:cNvPr>
          <p:cNvSpPr txBox="1"/>
          <p:nvPr/>
        </p:nvSpPr>
        <p:spPr>
          <a:xfrm>
            <a:off x="6119413" y="2533325"/>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⑦マネタイズ</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成約</a:t>
            </a:r>
            <a:r>
              <a:rPr lang="en-US" altLang="ja-JP" sz="1000" b="1" dirty="0">
                <a:latin typeface="メイリオ" panose="020B0604030504040204" pitchFamily="50" charset="-128"/>
                <a:ea typeface="メイリオ" panose="020B0604030504040204" pitchFamily="50" charset="-128"/>
              </a:rPr>
              <a:t>/</a:t>
            </a:r>
            <a:r>
              <a:rPr lang="ja-JP" altLang="en-US" sz="1000" b="1" dirty="0">
                <a:latin typeface="メイリオ" panose="020B0604030504040204" pitchFamily="50" charset="-128"/>
                <a:ea typeface="メイリオ" panose="020B0604030504040204" pitchFamily="50" charset="-128"/>
              </a:rPr>
              <a:t>購入</a:t>
            </a:r>
            <a:r>
              <a:rPr lang="en-US" altLang="ja-JP" sz="1000" b="1" dirty="0">
                <a:latin typeface="メイリオ" panose="020B0604030504040204" pitchFamily="50" charset="-128"/>
                <a:ea typeface="メイリオ" panose="020B0604030504040204" pitchFamily="50" charset="-128"/>
              </a:rPr>
              <a:t>)</a:t>
            </a:r>
            <a:endParaRPr lang="ja-JP" altLang="ja-JP" sz="1100" b="1" dirty="0">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375707FE-6207-A0AF-61A0-E9AABECDAC37}"/>
              </a:ext>
            </a:extLst>
          </p:cNvPr>
          <p:cNvSpPr txBox="1"/>
          <p:nvPr/>
        </p:nvSpPr>
        <p:spPr>
          <a:xfrm>
            <a:off x="4830776" y="2328746"/>
            <a:ext cx="2352196" cy="383023"/>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⑥ 有効リードの再育成</a:t>
            </a:r>
            <a:endParaRPr lang="ja-JP" altLang="ja-JP" sz="1100" b="1" dirty="0">
              <a:latin typeface="メイリオ" panose="020B0604030504040204" pitchFamily="50" charset="-128"/>
              <a:ea typeface="メイリオ" panose="020B0604030504040204" pitchFamily="50" charset="-128"/>
            </a:endParaRPr>
          </a:p>
        </p:txBody>
      </p:sp>
      <p:sp>
        <p:nvSpPr>
          <p:cNvPr id="17" name="テキスト ボックス 16">
            <a:extLst>
              <a:ext uri="{FF2B5EF4-FFF2-40B4-BE49-F238E27FC236}">
                <a16:creationId xmlns:a16="http://schemas.microsoft.com/office/drawing/2014/main" id="{49AFAACD-69A5-DAB7-2AB7-5204509E5CCB}"/>
              </a:ext>
            </a:extLst>
          </p:cNvPr>
          <p:cNvSpPr txBox="1"/>
          <p:nvPr/>
        </p:nvSpPr>
        <p:spPr>
          <a:xfrm>
            <a:off x="7408050" y="2737904"/>
            <a:ext cx="2352196" cy="400110"/>
          </a:xfrm>
          <a:prstGeom prst="rect">
            <a:avLst/>
          </a:prstGeom>
          <a:solidFill>
            <a:schemeClr val="tx2">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⑧</a:t>
            </a:r>
            <a:r>
              <a:rPr lang="en-US" altLang="ja-JP" sz="1100" b="1" dirty="0">
                <a:latin typeface="メイリオ" panose="020B0604030504040204" pitchFamily="50" charset="-128"/>
                <a:ea typeface="メイリオ" panose="020B0604030504040204" pitchFamily="50" charset="-128"/>
              </a:rPr>
              <a:t>LTV</a:t>
            </a:r>
            <a:r>
              <a:rPr lang="ja-JP" altLang="en-US" sz="1100" b="1" dirty="0">
                <a:latin typeface="メイリオ" panose="020B0604030504040204" pitchFamily="50" charset="-128"/>
                <a:ea typeface="メイリオ" panose="020B0604030504040204" pitchFamily="50" charset="-128"/>
              </a:rPr>
              <a:t>最大化・紹介</a:t>
            </a:r>
            <a:endParaRPr lang="en-US" altLang="ja-JP" sz="1100" b="1" dirty="0">
              <a:latin typeface="メイリオ" panose="020B0604030504040204" pitchFamily="50" charset="-128"/>
              <a:ea typeface="メイリオ" panose="020B0604030504040204" pitchFamily="50" charset="-128"/>
            </a:endParaRPr>
          </a:p>
          <a:p>
            <a:pPr>
              <a:buNone/>
            </a:pPr>
            <a:endParaRPr lang="ja-JP" altLang="ja-JP" sz="900" b="1" dirty="0">
              <a:latin typeface="メイリオ" panose="020B0604030504040204" pitchFamily="50" charset="-128"/>
              <a:ea typeface="メイリオ" panose="020B0604030504040204" pitchFamily="50" charset="-128"/>
            </a:endParaRPr>
          </a:p>
        </p:txBody>
      </p:sp>
      <p:sp>
        <p:nvSpPr>
          <p:cNvPr id="18" name="テキスト ボックス 17">
            <a:extLst>
              <a:ext uri="{FF2B5EF4-FFF2-40B4-BE49-F238E27FC236}">
                <a16:creationId xmlns:a16="http://schemas.microsoft.com/office/drawing/2014/main" id="{8B260C5F-25D5-8ED9-9E9C-2E4B97F7FE0C}"/>
              </a:ext>
            </a:extLst>
          </p:cNvPr>
          <p:cNvSpPr txBox="1"/>
          <p:nvPr/>
        </p:nvSpPr>
        <p:spPr>
          <a:xfrm>
            <a:off x="334303" y="2130251"/>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① 接触（認知・流入）</a:t>
            </a:r>
          </a:p>
        </p:txBody>
      </p:sp>
      <p:sp>
        <p:nvSpPr>
          <p:cNvPr id="19" name="テキスト ボックス 18">
            <a:extLst>
              <a:ext uri="{FF2B5EF4-FFF2-40B4-BE49-F238E27FC236}">
                <a16:creationId xmlns:a16="http://schemas.microsoft.com/office/drawing/2014/main" id="{D76A6924-9615-4D2D-207A-2C463DAF53AF}"/>
              </a:ext>
            </a:extLst>
          </p:cNvPr>
          <p:cNvSpPr txBox="1"/>
          <p:nvPr/>
        </p:nvSpPr>
        <p:spPr>
          <a:xfrm>
            <a:off x="1268358" y="234091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② サイト離脱</a:t>
            </a:r>
            <a:r>
              <a:rPr lang="ja-JP" altLang="en-US" sz="1100" b="1" dirty="0">
                <a:latin typeface="メイリオ" panose="020B0604030504040204" pitchFamily="50" charset="-128"/>
                <a:ea typeface="メイリオ" panose="020B0604030504040204" pitchFamily="50" charset="-128"/>
              </a:rPr>
              <a:t>（対策）</a:t>
            </a:r>
            <a:endParaRPr lang="ja-JP" altLang="ja-JP" sz="1100" b="1" dirty="0">
              <a:latin typeface="メイリオ" panose="020B0604030504040204" pitchFamily="50" charset="-128"/>
              <a:ea typeface="メイリオ" panose="020B0604030504040204" pitchFamily="50" charset="-128"/>
            </a:endParaRPr>
          </a:p>
        </p:txBody>
      </p:sp>
      <p:sp>
        <p:nvSpPr>
          <p:cNvPr id="20" name="テキスト ボックス 19">
            <a:extLst>
              <a:ext uri="{FF2B5EF4-FFF2-40B4-BE49-F238E27FC236}">
                <a16:creationId xmlns:a16="http://schemas.microsoft.com/office/drawing/2014/main" id="{8C64E429-AF18-081D-2A8E-EDCE056C0C0B}"/>
              </a:ext>
            </a:extLst>
          </p:cNvPr>
          <p:cNvSpPr txBox="1"/>
          <p:nvPr/>
        </p:nvSpPr>
        <p:spPr>
          <a:xfrm>
            <a:off x="2202413" y="2535023"/>
            <a:ext cx="1868111" cy="383023"/>
          </a:xfrm>
          <a:prstGeom prst="rect">
            <a:avLst/>
          </a:prstGeom>
          <a:solidFill>
            <a:schemeClr val="accent6">
              <a:lumMod val="40000"/>
              <a:lumOff val="60000"/>
              <a:alpha val="30000"/>
            </a:schemeClr>
          </a:solidFill>
        </p:spPr>
        <p:txBody>
          <a:bodyPr wrap="square">
            <a:spAutoFit/>
          </a:bodyPr>
          <a:lstStyle/>
          <a:p>
            <a:pPr>
              <a:buNone/>
            </a:pPr>
            <a:r>
              <a:rPr lang="ja-JP" altLang="ja-JP" sz="1100" b="1" dirty="0">
                <a:latin typeface="メイリオ" panose="020B0604030504040204" pitchFamily="50" charset="-128"/>
                <a:ea typeface="メイリオ" panose="020B0604030504040204" pitchFamily="50" charset="-128"/>
              </a:rPr>
              <a:t>③ 育成（興味</a:t>
            </a:r>
            <a:r>
              <a:rPr lang="ja-JP" altLang="en-US" sz="1100" b="1" dirty="0">
                <a:latin typeface="メイリオ" panose="020B0604030504040204" pitchFamily="50" charset="-128"/>
                <a:ea typeface="メイリオ" panose="020B0604030504040204" pitchFamily="50" charset="-128"/>
              </a:rPr>
              <a:t>喚起</a:t>
            </a:r>
            <a:r>
              <a:rPr lang="ja-JP" altLang="ja-JP" sz="1100" b="1" dirty="0">
                <a:latin typeface="メイリオ" panose="020B0604030504040204" pitchFamily="50" charset="-128"/>
                <a:ea typeface="メイリオ" panose="020B0604030504040204" pitchFamily="50" charset="-128"/>
              </a:rPr>
              <a:t>）</a:t>
            </a:r>
          </a:p>
        </p:txBody>
      </p:sp>
      <p:sp>
        <p:nvSpPr>
          <p:cNvPr id="21" name="テキスト ボックス 20">
            <a:extLst>
              <a:ext uri="{FF2B5EF4-FFF2-40B4-BE49-F238E27FC236}">
                <a16:creationId xmlns:a16="http://schemas.microsoft.com/office/drawing/2014/main" id="{7B99F819-3A4C-8D01-87D3-59398A0C3663}"/>
              </a:ext>
            </a:extLst>
          </p:cNvPr>
          <p:cNvSpPr txBox="1"/>
          <p:nvPr/>
        </p:nvSpPr>
        <p:spPr>
          <a:xfrm>
            <a:off x="3136468" y="2731376"/>
            <a:ext cx="1868111" cy="383023"/>
          </a:xfrm>
          <a:prstGeom prst="rect">
            <a:avLst/>
          </a:prstGeom>
          <a:solidFill>
            <a:schemeClr val="accent6">
              <a:lumMod val="40000"/>
              <a:lumOff val="60000"/>
              <a:alpha val="30000"/>
            </a:schemeClr>
          </a:solidFill>
        </p:spPr>
        <p:txBody>
          <a:bodyPr wrap="square">
            <a:spAutoFit/>
          </a:bodyPr>
          <a:lstStyle/>
          <a:p>
            <a:pPr>
              <a:buNone/>
            </a:pPr>
            <a:r>
              <a:rPr lang="ja-JP" altLang="en-US" sz="1100" b="1" dirty="0">
                <a:latin typeface="メイリオ" panose="020B0604030504040204" pitchFamily="50" charset="-128"/>
                <a:ea typeface="メイリオ" panose="020B0604030504040204" pitchFamily="50" charset="-128"/>
              </a:rPr>
              <a:t>④リード獲得 </a:t>
            </a:r>
            <a:r>
              <a:rPr lang="en-US" altLang="ja-JP" sz="900" b="1" dirty="0">
                <a:latin typeface="メイリオ" panose="020B0604030504040204" pitchFamily="50" charset="-128"/>
                <a:ea typeface="メイリオ" panose="020B0604030504040204" pitchFamily="50" charset="-128"/>
              </a:rPr>
              <a:t>(web/LINE)</a:t>
            </a:r>
            <a:endParaRPr lang="ja-JP" altLang="ja-JP" sz="1050" b="1" dirty="0">
              <a:latin typeface="メイリオ" panose="020B0604030504040204" pitchFamily="50" charset="-128"/>
              <a:ea typeface="メイリオ" panose="020B0604030504040204" pitchFamily="50" charset="-128"/>
            </a:endParaRPr>
          </a:p>
        </p:txBody>
      </p:sp>
      <p:cxnSp>
        <p:nvCxnSpPr>
          <p:cNvPr id="22" name="コネクタ: カギ線 21">
            <a:extLst>
              <a:ext uri="{FF2B5EF4-FFF2-40B4-BE49-F238E27FC236}">
                <a16:creationId xmlns:a16="http://schemas.microsoft.com/office/drawing/2014/main" id="{89810CF4-19DD-8F80-464F-FE8E1D250689}"/>
              </a:ext>
            </a:extLst>
          </p:cNvPr>
          <p:cNvCxnSpPr>
            <a:cxnSpLocks/>
            <a:stCxn id="21" idx="0"/>
            <a:endCxn id="14" idx="2"/>
          </p:cNvCxnSpPr>
          <p:nvPr/>
        </p:nvCxnSpPr>
        <p:spPr>
          <a:xfrm rot="5400000" flipH="1" flipV="1">
            <a:off x="4282287" y="2494423"/>
            <a:ext cx="224186" cy="249721"/>
          </a:xfrm>
          <a:prstGeom prst="bentConnector3">
            <a:avLst>
              <a:gd name="adj1" fmla="val 50000"/>
            </a:avLst>
          </a:prstGeom>
          <a:ln w="190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2AFCBDA6-2140-B4C1-A45D-7A34BC218997}"/>
              </a:ext>
            </a:extLst>
          </p:cNvPr>
          <p:cNvSpPr/>
          <p:nvPr/>
        </p:nvSpPr>
        <p:spPr>
          <a:xfrm>
            <a:off x="334303" y="1552575"/>
            <a:ext cx="9425943" cy="44850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0" name="直線矢印コネクタ 29">
            <a:extLst>
              <a:ext uri="{FF2B5EF4-FFF2-40B4-BE49-F238E27FC236}">
                <a16:creationId xmlns:a16="http://schemas.microsoft.com/office/drawing/2014/main" id="{852097C2-692E-64D7-A5ED-5C35A2EFC975}"/>
              </a:ext>
            </a:extLst>
          </p:cNvPr>
          <p:cNvCxnSpPr>
            <a:cxnSpLocks/>
          </p:cNvCxnSpPr>
          <p:nvPr/>
        </p:nvCxnSpPr>
        <p:spPr>
          <a:xfrm>
            <a:off x="417642" y="1782459"/>
            <a:ext cx="9240215"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9F2742C3-41F6-3CC5-6355-EC9495CFE608}"/>
              </a:ext>
            </a:extLst>
          </p:cNvPr>
          <p:cNvSpPr txBox="1"/>
          <p:nvPr/>
        </p:nvSpPr>
        <p:spPr>
          <a:xfrm>
            <a:off x="4066503" y="1654589"/>
            <a:ext cx="2315056" cy="234537"/>
          </a:xfrm>
          <a:prstGeom prst="rect">
            <a:avLst/>
          </a:prstGeom>
          <a:solidFill>
            <a:schemeClr val="bg1">
              <a:lumMod val="95000"/>
            </a:schemeClr>
          </a:solid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cs typeface="Meiryo"/>
                <a:sym typeface="Meiryo"/>
              </a:rPr>
              <a:t>カスタマージャーニーマップ</a:t>
            </a:r>
            <a:endParaRPr lang="ja-JP" altLang="en-US" sz="1050" dirty="0"/>
          </a:p>
        </p:txBody>
      </p:sp>
      <p:sp>
        <p:nvSpPr>
          <p:cNvPr id="32" name="Rectangle 31"/>
          <p:cNvSpPr/>
          <p:nvPr/>
        </p:nvSpPr>
        <p:spPr>
          <a:xfrm>
            <a:off x="316800" y="3463199"/>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16800" y="3463199"/>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どう友だち追加させるか？　（① 〜 ④）</a:t>
            </a:r>
          </a:p>
        </p:txBody>
      </p:sp>
      <p:sp>
        <p:nvSpPr>
          <p:cNvPr id="34" name="Rounded Rectangle 33"/>
          <p:cNvSpPr/>
          <p:nvPr/>
        </p:nvSpPr>
        <p:spPr>
          <a:xfrm>
            <a:off x="3960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464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① </a:t>
            </a:r>
            <a:r>
              <a:rPr sz="1100" b="1">
                <a:solidFill>
                  <a:srgbClr val="1A1A2E"/>
                </a:solidFill>
                <a:latin typeface="メイリオ"/>
                <a:ea typeface="メイリオ"/>
                <a:cs typeface="メイリオ"/>
              </a:rPr>
              <a:t>LINE広告（CPF）</a:t>
            </a:r>
          </a:p>
        </p:txBody>
      </p:sp>
      <p:sp>
        <p:nvSpPr>
          <p:cNvPr id="36" name="Rounded Rectangle 35"/>
          <p:cNvSpPr/>
          <p:nvPr/>
        </p:nvSpPr>
        <p:spPr>
          <a:xfrm>
            <a:off x="2743199"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2793599"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② </a:t>
            </a:r>
            <a:r>
              <a:rPr sz="1100" b="1">
                <a:solidFill>
                  <a:srgbClr val="1A1A2E"/>
                </a:solidFill>
                <a:latin typeface="メイリオ"/>
                <a:ea typeface="メイリオ"/>
                <a:cs typeface="メイリオ"/>
              </a:rPr>
              <a:t>離脱防止ポップアップ</a:t>
            </a:r>
          </a:p>
        </p:txBody>
      </p:sp>
      <p:sp>
        <p:nvSpPr>
          <p:cNvPr id="38" name="Rounded Rectangle 37"/>
          <p:cNvSpPr/>
          <p:nvPr/>
        </p:nvSpPr>
        <p:spPr>
          <a:xfrm>
            <a:off x="5090400" y="37584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140800" y="37584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無料特典の配布</a:t>
            </a:r>
          </a:p>
        </p:txBody>
      </p:sp>
      <p:sp>
        <p:nvSpPr>
          <p:cNvPr id="40" name="Rounded Rectangle 39"/>
          <p:cNvSpPr/>
          <p:nvPr/>
        </p:nvSpPr>
        <p:spPr>
          <a:xfrm>
            <a:off x="3960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464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③ </a:t>
            </a:r>
            <a:r>
              <a:rPr sz="1100" b="1">
                <a:solidFill>
                  <a:srgbClr val="1A1A2E"/>
                </a:solidFill>
                <a:latin typeface="メイリオ"/>
                <a:ea typeface="メイリオ"/>
                <a:cs typeface="メイリオ"/>
              </a:rPr>
              <a:t>〇〇タイプ診断</a:t>
            </a:r>
          </a:p>
        </p:txBody>
      </p:sp>
      <p:sp>
        <p:nvSpPr>
          <p:cNvPr id="42" name="Rounded Rectangle 41"/>
          <p:cNvSpPr/>
          <p:nvPr/>
        </p:nvSpPr>
        <p:spPr>
          <a:xfrm>
            <a:off x="2743199"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793599"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LINE登録をCVゴールに</a:t>
            </a:r>
          </a:p>
        </p:txBody>
      </p:sp>
      <p:sp>
        <p:nvSpPr>
          <p:cNvPr id="44" name="Rounded Rectangle 43"/>
          <p:cNvSpPr/>
          <p:nvPr/>
        </p:nvSpPr>
        <p:spPr>
          <a:xfrm>
            <a:off x="5090400" y="4096799"/>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140800" y="4096799"/>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④ </a:t>
            </a:r>
            <a:r>
              <a:rPr sz="1100" b="1">
                <a:solidFill>
                  <a:srgbClr val="1A1A2E"/>
                </a:solidFill>
                <a:latin typeface="メイリオ"/>
                <a:ea typeface="メイリオ"/>
                <a:cs typeface="メイリオ"/>
              </a:rPr>
              <a:t>サンクスLINE誘導</a:t>
            </a:r>
          </a:p>
        </p:txBody>
      </p:sp>
      <p:sp>
        <p:nvSpPr>
          <p:cNvPr id="46" name="TextBox 45"/>
          <p:cNvSpPr txBox="1"/>
          <p:nvPr/>
        </p:nvSpPr>
        <p:spPr>
          <a:xfrm>
            <a:off x="7462200" y="3758399"/>
            <a:ext cx="2232000" cy="676800"/>
          </a:xfrm>
          <a:prstGeom prst="rect">
            <a:avLst/>
          </a:prstGeom>
          <a:noFill/>
        </p:spPr>
        <p:txBody>
          <a:bodyPr wrap="square" lIns="0" tIns="10800" rIns="0" bIns="10800" anchor="ctr">
            <a:spAutoFit/>
          </a:bodyPr>
          <a:lstStyle/>
          <a:p>
            <a:pPr algn="l">
              <a:lnSpc>
                <a:spcPct val="115000"/>
              </a:lnSpc>
            </a:pPr>
            <a:r>
              <a:rPr sz="1100" b="1" dirty="0">
                <a:solidFill>
                  <a:srgbClr val="002060"/>
                </a:solidFill>
                <a:latin typeface="メイリオ"/>
                <a:ea typeface="メイリオ"/>
                <a:cs typeface="メイリオ"/>
              </a:rPr>
              <a:t>入口は1つに絞らない。</a:t>
            </a:r>
          </a:p>
          <a:p>
            <a:pPr algn="l">
              <a:lnSpc>
                <a:spcPct val="115000"/>
              </a:lnSpc>
            </a:pPr>
            <a:r>
              <a:rPr sz="1100" b="0" dirty="0">
                <a:solidFill>
                  <a:srgbClr val="1A1A2E"/>
                </a:solidFill>
                <a:latin typeface="メイリオ"/>
                <a:ea typeface="メイリオ"/>
                <a:cs typeface="メイリオ"/>
              </a:rPr>
              <a:t>4フェーズすべてに受け皿を</a:t>
            </a:r>
          </a:p>
          <a:p>
            <a:pPr algn="l">
              <a:lnSpc>
                <a:spcPct val="115000"/>
              </a:lnSpc>
            </a:pPr>
            <a:r>
              <a:rPr sz="1100" b="0" dirty="0" err="1">
                <a:solidFill>
                  <a:srgbClr val="1A1A2E"/>
                </a:solidFill>
                <a:latin typeface="メイリオ"/>
                <a:ea typeface="メイリオ"/>
                <a:cs typeface="メイリオ"/>
              </a:rPr>
              <a:t>置くことで取りこぼしが減る</a:t>
            </a:r>
            <a:r>
              <a:rPr sz="1100" b="0" dirty="0">
                <a:solidFill>
                  <a:srgbClr val="1A1A2E"/>
                </a:solidFill>
                <a:latin typeface="メイリオ"/>
                <a:ea typeface="メイリオ"/>
                <a:cs typeface="メイリオ"/>
              </a:rPr>
              <a:t>。</a:t>
            </a:r>
          </a:p>
        </p:txBody>
      </p:sp>
      <p:sp>
        <p:nvSpPr>
          <p:cNvPr id="47" name="Rectangle 46"/>
          <p:cNvSpPr/>
          <p:nvPr/>
        </p:nvSpPr>
        <p:spPr>
          <a:xfrm>
            <a:off x="316800" y="4590000"/>
            <a:ext cx="9273600" cy="24480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00" y="4590000"/>
            <a:ext cx="9273600" cy="244800"/>
          </a:xfrm>
          <a:prstGeom prst="rect">
            <a:avLst/>
          </a:prstGeom>
          <a:noFill/>
        </p:spPr>
        <p:txBody>
          <a:bodyPr wrap="square" lIns="0" tIns="10800" rIns="0" bIns="10800" anchor="ctr">
            <a:spAutoFit/>
          </a:bodyPr>
          <a:lstStyle/>
          <a:p>
            <a:pPr algn="ctr">
              <a:lnSpc>
                <a:spcPct val="115000"/>
              </a:lnSpc>
            </a:pPr>
            <a:r>
              <a:rPr sz="1200" b="1">
                <a:solidFill>
                  <a:srgbClr val="FFFFFF"/>
                </a:solidFill>
                <a:latin typeface="メイリオ"/>
                <a:ea typeface="メイリオ"/>
                <a:cs typeface="メイリオ"/>
              </a:rPr>
              <a:t>どう友だちをアクションに結びつけるか？　（⑤ 〜 ⑧）</a:t>
            </a:r>
          </a:p>
        </p:txBody>
      </p:sp>
      <p:sp>
        <p:nvSpPr>
          <p:cNvPr id="49" name="Rounded Rectangle 48"/>
          <p:cNvSpPr/>
          <p:nvPr/>
        </p:nvSpPr>
        <p:spPr>
          <a:xfrm>
            <a:off x="3960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64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KW自動応答</a:t>
            </a:r>
          </a:p>
        </p:txBody>
      </p:sp>
      <p:sp>
        <p:nvSpPr>
          <p:cNvPr id="51" name="Rounded Rectangle 50"/>
          <p:cNvSpPr/>
          <p:nvPr/>
        </p:nvSpPr>
        <p:spPr>
          <a:xfrm>
            <a:off x="2743199"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793599"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日程調整の自動化</a:t>
            </a:r>
          </a:p>
        </p:txBody>
      </p:sp>
      <p:sp>
        <p:nvSpPr>
          <p:cNvPr id="53" name="Rounded Rectangle 52"/>
          <p:cNvSpPr/>
          <p:nvPr/>
        </p:nvSpPr>
        <p:spPr>
          <a:xfrm>
            <a:off x="50904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51408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⑤ </a:t>
            </a:r>
            <a:r>
              <a:rPr sz="1100" b="1">
                <a:solidFill>
                  <a:srgbClr val="1A1A2E"/>
                </a:solidFill>
                <a:latin typeface="メイリオ"/>
                <a:ea typeface="メイリオ"/>
                <a:cs typeface="メイリオ"/>
              </a:rPr>
              <a:t>ホットリード検知</a:t>
            </a:r>
          </a:p>
        </p:txBody>
      </p:sp>
      <p:sp>
        <p:nvSpPr>
          <p:cNvPr id="55" name="Rounded Rectangle 54"/>
          <p:cNvSpPr/>
          <p:nvPr/>
        </p:nvSpPr>
        <p:spPr>
          <a:xfrm>
            <a:off x="7437600" y="48852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488000" y="48852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失注リストへ再接触</a:t>
            </a:r>
          </a:p>
        </p:txBody>
      </p:sp>
      <p:sp>
        <p:nvSpPr>
          <p:cNvPr id="57" name="Rounded Rectangle 56"/>
          <p:cNvSpPr/>
          <p:nvPr/>
        </p:nvSpPr>
        <p:spPr>
          <a:xfrm>
            <a:off x="3960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464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モーメント配信</a:t>
            </a:r>
          </a:p>
        </p:txBody>
      </p:sp>
      <p:sp>
        <p:nvSpPr>
          <p:cNvPr id="59" name="Rounded Rectangle 58"/>
          <p:cNvSpPr/>
          <p:nvPr/>
        </p:nvSpPr>
        <p:spPr>
          <a:xfrm>
            <a:off x="2743199"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2793599"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通知メッセでリスト活性化</a:t>
            </a:r>
          </a:p>
        </p:txBody>
      </p:sp>
      <p:sp>
        <p:nvSpPr>
          <p:cNvPr id="61" name="Rounded Rectangle 60"/>
          <p:cNvSpPr/>
          <p:nvPr/>
        </p:nvSpPr>
        <p:spPr>
          <a:xfrm>
            <a:off x="50904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51408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⑥ </a:t>
            </a:r>
            <a:r>
              <a:rPr sz="1100" b="1">
                <a:solidFill>
                  <a:srgbClr val="1A1A2E"/>
                </a:solidFill>
                <a:latin typeface="メイリオ"/>
                <a:ea typeface="メイリオ"/>
                <a:cs typeface="メイリオ"/>
              </a:rPr>
              <a:t>カゴ落ちリマインド</a:t>
            </a:r>
          </a:p>
        </p:txBody>
      </p:sp>
      <p:sp>
        <p:nvSpPr>
          <p:cNvPr id="63" name="Rounded Rectangle 62"/>
          <p:cNvSpPr/>
          <p:nvPr/>
        </p:nvSpPr>
        <p:spPr>
          <a:xfrm>
            <a:off x="7437600" y="52236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7488000" y="52236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⑦ </a:t>
            </a:r>
            <a:r>
              <a:rPr sz="1100" b="1">
                <a:solidFill>
                  <a:srgbClr val="1A1A2E"/>
                </a:solidFill>
                <a:latin typeface="メイリオ"/>
                <a:ea typeface="メイリオ"/>
                <a:cs typeface="メイリオ"/>
              </a:rPr>
              <a:t>BOT×有人の切替</a:t>
            </a:r>
          </a:p>
        </p:txBody>
      </p:sp>
      <p:sp>
        <p:nvSpPr>
          <p:cNvPr id="65" name="Rounded Rectangle 64"/>
          <p:cNvSpPr/>
          <p:nvPr/>
        </p:nvSpPr>
        <p:spPr>
          <a:xfrm>
            <a:off x="3960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4464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アフターフォロー</a:t>
            </a:r>
          </a:p>
        </p:txBody>
      </p:sp>
      <p:sp>
        <p:nvSpPr>
          <p:cNvPr id="67" name="Rounded Rectangle 66"/>
          <p:cNvSpPr/>
          <p:nvPr/>
        </p:nvSpPr>
        <p:spPr>
          <a:xfrm>
            <a:off x="2743199"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2793599"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記念日配信</a:t>
            </a:r>
          </a:p>
        </p:txBody>
      </p:sp>
      <p:sp>
        <p:nvSpPr>
          <p:cNvPr id="69" name="Rounded Rectangle 68"/>
          <p:cNvSpPr/>
          <p:nvPr/>
        </p:nvSpPr>
        <p:spPr>
          <a:xfrm>
            <a:off x="50904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408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利用状況連動アップセル</a:t>
            </a:r>
          </a:p>
        </p:txBody>
      </p:sp>
      <p:sp>
        <p:nvSpPr>
          <p:cNvPr id="71" name="Rounded Rectangle 70"/>
          <p:cNvSpPr/>
          <p:nvPr/>
        </p:nvSpPr>
        <p:spPr>
          <a:xfrm>
            <a:off x="7437600" y="5562000"/>
            <a:ext cx="2196000" cy="295200"/>
          </a:xfrm>
          <a:prstGeom prst="roundRect">
            <a:avLst>
              <a:gd name="adj" fmla="val 14000"/>
            </a:avLst>
          </a:prstGeom>
          <a:solidFill>
            <a:srgbClr val="F2F2F2"/>
          </a:solid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7488000" y="5562000"/>
            <a:ext cx="2095199" cy="295200"/>
          </a:xfrm>
          <a:prstGeom prst="rect">
            <a:avLst/>
          </a:prstGeom>
          <a:noFill/>
        </p:spPr>
        <p:txBody>
          <a:bodyPr wrap="square" lIns="0" tIns="10800" rIns="0" bIns="10800" anchor="ctr">
            <a:spAutoFit/>
          </a:bodyPr>
          <a:lstStyle/>
          <a:p>
            <a:pPr algn="l">
              <a:lnSpc>
                <a:spcPct val="115000"/>
              </a:lnSpc>
            </a:pPr>
            <a:r>
              <a:rPr sz="1100" b="1">
                <a:solidFill>
                  <a:srgbClr val="002060"/>
                </a:solidFill>
                <a:latin typeface="メイリオ"/>
                <a:ea typeface="メイリオ"/>
                <a:cs typeface="メイリオ"/>
              </a:rPr>
              <a:t>⑧ </a:t>
            </a:r>
            <a:r>
              <a:rPr sz="1100" b="1">
                <a:solidFill>
                  <a:srgbClr val="1A1A2E"/>
                </a:solidFill>
                <a:latin typeface="メイリオ"/>
                <a:ea typeface="メイリオ"/>
                <a:cs typeface="メイリオ"/>
              </a:rPr>
              <a:t>関連商材クロスセル</a:t>
            </a:r>
          </a:p>
        </p:txBody>
      </p:sp>
      <p:sp>
        <p:nvSpPr>
          <p:cNvPr id="73" name="TextBox 72"/>
          <p:cNvSpPr txBox="1"/>
          <p:nvPr/>
        </p:nvSpPr>
        <p:spPr>
          <a:xfrm>
            <a:off x="316800" y="5983200"/>
            <a:ext cx="9273600" cy="324000"/>
          </a:xfrm>
          <a:prstGeom prst="rect">
            <a:avLst/>
          </a:prstGeom>
          <a:noFill/>
        </p:spPr>
        <p:txBody>
          <a:bodyPr wrap="square" lIns="0" tIns="10800" rIns="0" bIns="10800" anchor="ctr">
            <a:spAutoFit/>
          </a:bodyPr>
          <a:lstStyle/>
          <a:p>
            <a:pPr algn="ctr">
              <a:lnSpc>
                <a:spcPct val="115000"/>
              </a:lnSpc>
            </a:pPr>
            <a:r>
              <a:rPr sz="1400" b="1">
                <a:solidFill>
                  <a:srgbClr val="C00000"/>
                </a:solidFill>
                <a:latin typeface="メイリオ"/>
                <a:ea typeface="メイリオ"/>
                <a:cs typeface="メイリオ"/>
              </a:rPr>
              <a:t>施策は獲得より後ろに多い。増やすことより、増えた友だちをどう扱うかで差がつく。</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53F5926-064C-E9E2-1BF7-7405461E3900}"/>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036CA518-3F59-3390-7B5A-E644AD768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19E80E8E-60A7-3A23-9CC8-7604796F1C0C}"/>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想定：低ハードルの</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地点を設定してリード情報を大量獲得する動線構築</a:t>
            </a:r>
          </a:p>
        </p:txBody>
      </p:sp>
      <p:sp>
        <p:nvSpPr>
          <p:cNvPr id="245" name="Shape 8">
            <a:extLst>
              <a:ext uri="{FF2B5EF4-FFF2-40B4-BE49-F238E27FC236}">
                <a16:creationId xmlns:a16="http://schemas.microsoft.com/office/drawing/2014/main" id="{50B34EBB-32AA-4AD8-2936-6751081DDE7C}"/>
              </a:ext>
            </a:extLst>
          </p:cNvPr>
          <p:cNvSpPr/>
          <p:nvPr/>
        </p:nvSpPr>
        <p:spPr>
          <a:xfrm>
            <a:off x="603747"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7" name="Text 9">
            <a:extLst>
              <a:ext uri="{FF2B5EF4-FFF2-40B4-BE49-F238E27FC236}">
                <a16:creationId xmlns:a16="http://schemas.microsoft.com/office/drawing/2014/main" id="{6B824CCD-B508-0A92-337C-8E55E54ECCC6}"/>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入口設計</a:t>
            </a:r>
            <a:endParaRPr lang="en-US" sz="1000" dirty="0">
              <a:latin typeface="メイリオ" panose="020B0604030504040204" pitchFamily="50" charset="-128"/>
              <a:ea typeface="メイリオ" panose="020B0604030504040204" pitchFamily="50" charset="-128"/>
            </a:endParaRPr>
          </a:p>
        </p:txBody>
      </p:sp>
      <p:sp>
        <p:nvSpPr>
          <p:cNvPr id="249" name="Text 10">
            <a:extLst>
              <a:ext uri="{FF2B5EF4-FFF2-40B4-BE49-F238E27FC236}">
                <a16:creationId xmlns:a16="http://schemas.microsoft.com/office/drawing/2014/main" id="{84F4A405-7F45-B583-37DE-94237EEF3D61}"/>
              </a:ext>
            </a:extLst>
          </p:cNvPr>
          <p:cNvSpPr/>
          <p:nvPr/>
        </p:nvSpPr>
        <p:spPr>
          <a:xfrm>
            <a:off x="2679778"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LINE登録をCVゴールに変える</a:t>
            </a:r>
            <a:endParaRPr lang="en-US" sz="700" dirty="0">
              <a:latin typeface="メイリオ" panose="020B0604030504040204" pitchFamily="50" charset="-128"/>
              <a:ea typeface="メイリオ" panose="020B0604030504040204" pitchFamily="50" charset="-128"/>
            </a:endParaRPr>
          </a:p>
        </p:txBody>
      </p:sp>
      <p:sp>
        <p:nvSpPr>
          <p:cNvPr id="251" name="Shape 11">
            <a:extLst>
              <a:ext uri="{FF2B5EF4-FFF2-40B4-BE49-F238E27FC236}">
                <a16:creationId xmlns:a16="http://schemas.microsoft.com/office/drawing/2014/main" id="{E03D806A-5D1C-D296-4B14-ED4D280CB458}"/>
              </a:ext>
            </a:extLst>
          </p:cNvPr>
          <p:cNvSpPr/>
          <p:nvPr/>
        </p:nvSpPr>
        <p:spPr>
          <a:xfrm>
            <a:off x="5047731" y="1309908"/>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3" name="Text 12">
            <a:extLst>
              <a:ext uri="{FF2B5EF4-FFF2-40B4-BE49-F238E27FC236}">
                <a16:creationId xmlns:a16="http://schemas.microsoft.com/office/drawing/2014/main" id="{4B548AFE-3848-314C-CA69-8B8E255E25A3}"/>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特典訴求</a:t>
            </a:r>
            <a:endParaRPr lang="en-US" sz="1000" dirty="0">
              <a:latin typeface="メイリオ" panose="020B0604030504040204" pitchFamily="50" charset="-128"/>
              <a:ea typeface="メイリオ" panose="020B0604030504040204" pitchFamily="50" charset="-128"/>
            </a:endParaRPr>
          </a:p>
        </p:txBody>
      </p:sp>
      <p:sp>
        <p:nvSpPr>
          <p:cNvPr id="255" name="Text 13">
            <a:extLst>
              <a:ext uri="{FF2B5EF4-FFF2-40B4-BE49-F238E27FC236}">
                <a16:creationId xmlns:a16="http://schemas.microsoft.com/office/drawing/2014/main" id="{F7BBED76-5EF3-CF1C-3E94-BFDDA81FC4CB}"/>
              </a:ext>
            </a:extLst>
          </p:cNvPr>
          <p:cNvSpPr/>
          <p:nvPr/>
        </p:nvSpPr>
        <p:spPr>
          <a:xfrm>
            <a:off x="7123762" y="1294892"/>
            <a:ext cx="2178492"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もらえる理由を先に見せる</a:t>
            </a:r>
            <a:endParaRPr lang="en-US" sz="700" dirty="0">
              <a:latin typeface="メイリオ" panose="020B0604030504040204" pitchFamily="50" charset="-128"/>
              <a:ea typeface="メイリオ" panose="020B0604030504040204" pitchFamily="50" charset="-128"/>
            </a:endParaRPr>
          </a:p>
        </p:txBody>
      </p:sp>
      <p:sp>
        <p:nvSpPr>
          <p:cNvPr id="257" name="Shape 15">
            <a:extLst>
              <a:ext uri="{FF2B5EF4-FFF2-40B4-BE49-F238E27FC236}">
                <a16:creationId xmlns:a16="http://schemas.microsoft.com/office/drawing/2014/main" id="{3C3A65BE-9DC3-733C-E32C-C6463CB1B2D8}"/>
              </a:ext>
            </a:extLst>
          </p:cNvPr>
          <p:cNvSpPr/>
          <p:nvPr/>
        </p:nvSpPr>
        <p:spPr>
          <a:xfrm>
            <a:off x="603747" y="15607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Shape 17">
            <a:extLst>
              <a:ext uri="{FF2B5EF4-FFF2-40B4-BE49-F238E27FC236}">
                <a16:creationId xmlns:a16="http://schemas.microsoft.com/office/drawing/2014/main" id="{3CF94F6C-2ADA-3F87-0FEF-DBA69394A376}"/>
              </a:ext>
            </a:extLst>
          </p:cNvPr>
          <p:cNvSpPr/>
          <p:nvPr/>
        </p:nvSpPr>
        <p:spPr>
          <a:xfrm>
            <a:off x="713475" y="16522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Text 18">
            <a:extLst>
              <a:ext uri="{FF2B5EF4-FFF2-40B4-BE49-F238E27FC236}">
                <a16:creationId xmlns:a16="http://schemas.microsoft.com/office/drawing/2014/main" id="{103195C8-2651-E639-EA61-8D610F734E60}"/>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Text 20">
            <a:extLst>
              <a:ext uri="{FF2B5EF4-FFF2-40B4-BE49-F238E27FC236}">
                <a16:creationId xmlns:a16="http://schemas.microsoft.com/office/drawing/2014/main" id="{5FD52149-2769-6790-5E24-12A543DB12BE}"/>
              </a:ext>
            </a:extLst>
          </p:cNvPr>
          <p:cNvSpPr/>
          <p:nvPr/>
        </p:nvSpPr>
        <p:spPr>
          <a:xfrm>
            <a:off x="1060947" y="1675046"/>
            <a:ext cx="859536" cy="201168"/>
          </a:xfrm>
          <a:prstGeom prst="rect">
            <a:avLst/>
          </a:prstGeom>
          <a:noFill/>
          <a:ln/>
        </p:spPr>
        <p:txBody>
          <a:bodyPr wrap="square" lIns="0" tIns="0" rIns="0" bIns="0" rtlCol="0" anchor="ctr"/>
          <a:lstStyle/>
          <a:p>
            <a:pPr marL="0" indent="0" algn="ctr">
              <a:buNone/>
            </a:pPr>
            <a:r>
              <a:rPr lang="en-US" sz="700" b="1" dirty="0">
                <a:solidFill>
                  <a:srgbClr val="FDFDFD"/>
                </a:solidFill>
                <a:latin typeface="メイリオ" panose="020B0604030504040204" pitchFamily="50" charset="-128"/>
                <a:ea typeface="メイリオ" panose="020B0604030504040204" pitchFamily="50" charset="-128"/>
                <a:cs typeface="Calibri" pitchFamily="34" charset="-120"/>
              </a:rPr>
              <a:t>SEO・広告流入</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269" name="Text 21">
            <a:extLst>
              <a:ext uri="{FF2B5EF4-FFF2-40B4-BE49-F238E27FC236}">
                <a16:creationId xmlns:a16="http://schemas.microsoft.com/office/drawing/2014/main" id="{CD72F40E-8420-7001-60D2-BE4609277B4B}"/>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「資料・診断」をLINE登録特典に設定</a:t>
            </a:r>
            <a:endParaRPr lang="en-US" sz="1000" dirty="0">
              <a:latin typeface="メイリオ" panose="020B0604030504040204" pitchFamily="50" charset="-128"/>
              <a:ea typeface="メイリオ" panose="020B0604030504040204" pitchFamily="50" charset="-128"/>
            </a:endParaRPr>
          </a:p>
        </p:txBody>
      </p:sp>
      <p:sp>
        <p:nvSpPr>
          <p:cNvPr id="271" name="Text 22">
            <a:extLst>
              <a:ext uri="{FF2B5EF4-FFF2-40B4-BE49-F238E27FC236}">
                <a16:creationId xmlns:a16="http://schemas.microsoft.com/office/drawing/2014/main" id="{9E779F3B-EE90-9E2A-0F05-BE0AF6DB44A6}"/>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フォーム入力より低ハードルなLINE登録をCV地点に変更。「まず資料だけ」「30秒診断」など登録理由を明確にし、友だち追加率を0.8〜1.0%前後に改善する。</a:t>
            </a:r>
            <a:endParaRPr lang="en-US" sz="600" dirty="0">
              <a:latin typeface="メイリオ" panose="020B0604030504040204" pitchFamily="50" charset="-128"/>
              <a:ea typeface="メイリオ" panose="020B0604030504040204" pitchFamily="50" charset="-128"/>
            </a:endParaRPr>
          </a:p>
        </p:txBody>
      </p:sp>
      <p:sp>
        <p:nvSpPr>
          <p:cNvPr id="273" name="Shape 23">
            <a:extLst>
              <a:ext uri="{FF2B5EF4-FFF2-40B4-BE49-F238E27FC236}">
                <a16:creationId xmlns:a16="http://schemas.microsoft.com/office/drawing/2014/main" id="{675C0BB0-8300-FD46-0D46-92211B03501E}"/>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75" name="Text 24">
            <a:extLst>
              <a:ext uri="{FF2B5EF4-FFF2-40B4-BE49-F238E27FC236}">
                <a16:creationId xmlns:a16="http://schemas.microsoft.com/office/drawing/2014/main" id="{656BBEFB-D770-4F75-DBE8-633CD2956F1D}"/>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LP閲覧</a:t>
            </a:r>
            <a:endParaRPr lang="en-US" sz="700" dirty="0">
              <a:latin typeface="メイリオ" panose="020B0604030504040204" pitchFamily="50" charset="-128"/>
              <a:ea typeface="メイリオ" panose="020B0604030504040204" pitchFamily="50" charset="-128"/>
            </a:endParaRPr>
          </a:p>
        </p:txBody>
      </p:sp>
      <p:sp>
        <p:nvSpPr>
          <p:cNvPr id="277" name="Shape 25">
            <a:extLst>
              <a:ext uri="{FF2B5EF4-FFF2-40B4-BE49-F238E27FC236}">
                <a16:creationId xmlns:a16="http://schemas.microsoft.com/office/drawing/2014/main" id="{F4B93B37-4B61-4E52-FE2D-5809A86D42AD}"/>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9" name="Text 26">
            <a:extLst>
              <a:ext uri="{FF2B5EF4-FFF2-40B4-BE49-F238E27FC236}">
                <a16:creationId xmlns:a16="http://schemas.microsoft.com/office/drawing/2014/main" id="{61F60C63-C90B-8878-87EB-125EC950C1B5}"/>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1" name="Shape 27">
            <a:extLst>
              <a:ext uri="{FF2B5EF4-FFF2-40B4-BE49-F238E27FC236}">
                <a16:creationId xmlns:a16="http://schemas.microsoft.com/office/drawing/2014/main" id="{C645E261-F348-F246-EC19-FD2061AD3056}"/>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83" name="Text 28">
            <a:extLst>
              <a:ext uri="{FF2B5EF4-FFF2-40B4-BE49-F238E27FC236}">
                <a16:creationId xmlns:a16="http://schemas.microsoft.com/office/drawing/2014/main" id="{2CB542A9-044C-66B0-BB16-9144232C75A6}"/>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登録特典訴求</a:t>
            </a:r>
            <a:endParaRPr lang="en-US" sz="700" dirty="0">
              <a:latin typeface="メイリオ" panose="020B0604030504040204" pitchFamily="50" charset="-128"/>
              <a:ea typeface="メイリオ" panose="020B0604030504040204" pitchFamily="50" charset="-128"/>
            </a:endParaRPr>
          </a:p>
        </p:txBody>
      </p:sp>
      <p:sp>
        <p:nvSpPr>
          <p:cNvPr id="285" name="Shape 29">
            <a:extLst>
              <a:ext uri="{FF2B5EF4-FFF2-40B4-BE49-F238E27FC236}">
                <a16:creationId xmlns:a16="http://schemas.microsoft.com/office/drawing/2014/main" id="{2C761D6B-768E-B3F9-32B2-443E96E0F616}"/>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7" name="Text 30">
            <a:extLst>
              <a:ext uri="{FF2B5EF4-FFF2-40B4-BE49-F238E27FC236}">
                <a16:creationId xmlns:a16="http://schemas.microsoft.com/office/drawing/2014/main" id="{AF64CF89-0BBE-D590-0A33-9D0B3155D051}"/>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9" name="Shape 31">
            <a:extLst>
              <a:ext uri="{FF2B5EF4-FFF2-40B4-BE49-F238E27FC236}">
                <a16:creationId xmlns:a16="http://schemas.microsoft.com/office/drawing/2014/main" id="{A59F8ABE-3E84-32A7-F100-7F2C83484C81}"/>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lstStyle/>
          <a:p>
            <a:endParaRPr lang="ja-JP" altLang="en-US" sz="800">
              <a:latin typeface="メイリオ" panose="020B0604030504040204" pitchFamily="50" charset="-128"/>
              <a:ea typeface="メイリオ" panose="020B0604030504040204" pitchFamily="50" charset="-128"/>
            </a:endParaRPr>
          </a:p>
        </p:txBody>
      </p:sp>
      <p:sp>
        <p:nvSpPr>
          <p:cNvPr id="291" name="Text 32">
            <a:extLst>
              <a:ext uri="{FF2B5EF4-FFF2-40B4-BE49-F238E27FC236}">
                <a16:creationId xmlns:a16="http://schemas.microsoft.com/office/drawing/2014/main" id="{DFCEB467-89AA-CC7A-AE80-E30F3A21DA5C}"/>
              </a:ext>
            </a:extLst>
          </p:cNvPr>
          <p:cNvSpPr/>
          <p:nvPr/>
        </p:nvSpPr>
        <p:spPr>
          <a:xfrm>
            <a:off x="342619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友だち追加</a:t>
            </a:r>
            <a:endParaRPr lang="en-US" sz="700" dirty="0">
              <a:latin typeface="メイリオ" panose="020B0604030504040204" pitchFamily="50" charset="-128"/>
              <a:ea typeface="メイリオ" panose="020B0604030504040204" pitchFamily="50" charset="-128"/>
            </a:endParaRPr>
          </a:p>
        </p:txBody>
      </p:sp>
      <p:sp>
        <p:nvSpPr>
          <p:cNvPr id="293" name="Shape 33">
            <a:extLst>
              <a:ext uri="{FF2B5EF4-FFF2-40B4-BE49-F238E27FC236}">
                <a16:creationId xmlns:a16="http://schemas.microsoft.com/office/drawing/2014/main" id="{1BECB815-6070-49FB-327C-8C81ADE9C9A4}"/>
              </a:ext>
            </a:extLst>
          </p:cNvPr>
          <p:cNvSpPr/>
          <p:nvPr/>
        </p:nvSpPr>
        <p:spPr>
          <a:xfrm>
            <a:off x="578878" y="309606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Shape 35">
            <a:extLst>
              <a:ext uri="{FF2B5EF4-FFF2-40B4-BE49-F238E27FC236}">
                <a16:creationId xmlns:a16="http://schemas.microsoft.com/office/drawing/2014/main" id="{8975206F-9C1B-B632-6774-C18FE5D889D0}"/>
              </a:ext>
            </a:extLst>
          </p:cNvPr>
          <p:cNvSpPr/>
          <p:nvPr/>
        </p:nvSpPr>
        <p:spPr>
          <a:xfrm>
            <a:off x="713475" y="3199663"/>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Text 36">
            <a:extLst>
              <a:ext uri="{FF2B5EF4-FFF2-40B4-BE49-F238E27FC236}">
                <a16:creationId xmlns:a16="http://schemas.microsoft.com/office/drawing/2014/main" id="{8BA14BF1-A613-57E7-03CB-725B3C62074A}"/>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Text 38">
            <a:extLst>
              <a:ext uri="{FF2B5EF4-FFF2-40B4-BE49-F238E27FC236}">
                <a16:creationId xmlns:a16="http://schemas.microsoft.com/office/drawing/2014/main" id="{4C39AC04-3638-D60D-DAEF-A34EE2A29086}"/>
              </a:ext>
            </a:extLst>
          </p:cNvPr>
          <p:cNvSpPr/>
          <p:nvPr/>
        </p:nvSpPr>
        <p:spPr>
          <a:xfrm>
            <a:off x="1060947" y="3217623"/>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離脱防止</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5" name="Text 39">
            <a:extLst>
              <a:ext uri="{FF2B5EF4-FFF2-40B4-BE49-F238E27FC236}">
                <a16:creationId xmlns:a16="http://schemas.microsoft.com/office/drawing/2014/main" id="{65FFEC87-48E1-7E1B-7864-8D4BE90902D9}"/>
              </a:ext>
            </a:extLst>
          </p:cNvPr>
          <p:cNvSpPr/>
          <p:nvPr/>
        </p:nvSpPr>
        <p:spPr>
          <a:xfrm>
            <a:off x="1975347" y="3217623"/>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サイト滞在ユーザーへのポップアップ表示</a:t>
            </a:r>
            <a:endParaRPr lang="en-US" sz="1000" dirty="0">
              <a:latin typeface="メイリオ" panose="020B0604030504040204" pitchFamily="50" charset="-128"/>
              <a:ea typeface="メイリオ" panose="020B0604030504040204" pitchFamily="50" charset="-128"/>
            </a:endParaRPr>
          </a:p>
        </p:txBody>
      </p:sp>
      <p:sp>
        <p:nvSpPr>
          <p:cNvPr id="307" name="Text 40">
            <a:extLst>
              <a:ext uri="{FF2B5EF4-FFF2-40B4-BE49-F238E27FC236}">
                <a16:creationId xmlns:a16="http://schemas.microsoft.com/office/drawing/2014/main" id="{4D4E02D9-8D3A-B52C-98F8-C4162B5CCBF1}"/>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一定時間閲覧・離脱意図を検知した際にLINE追加バナーを表示。「今すぐ問い合わせ」より「無料で資料受け取る」のCTAがCVRを向上させる。</a:t>
            </a:r>
            <a:endParaRPr lang="en-US" sz="600" dirty="0">
              <a:latin typeface="メイリオ" panose="020B0604030504040204" pitchFamily="50" charset="-128"/>
              <a:ea typeface="メイリオ" panose="020B0604030504040204" pitchFamily="50" charset="-128"/>
            </a:endParaRPr>
          </a:p>
        </p:txBody>
      </p:sp>
      <p:sp>
        <p:nvSpPr>
          <p:cNvPr id="309" name="Shape 41">
            <a:extLst>
              <a:ext uri="{FF2B5EF4-FFF2-40B4-BE49-F238E27FC236}">
                <a16:creationId xmlns:a16="http://schemas.microsoft.com/office/drawing/2014/main" id="{4ACBB8E7-2F20-7BE2-4CE1-5E63FB2D2A19}"/>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1" name="Text 42">
            <a:extLst>
              <a:ext uri="{FF2B5EF4-FFF2-40B4-BE49-F238E27FC236}">
                <a16:creationId xmlns:a16="http://schemas.microsoft.com/office/drawing/2014/main" id="{801F8A22-4494-B935-6101-F68A1F96B362}"/>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離脱検知</a:t>
            </a:r>
            <a:endParaRPr lang="en-US" sz="700" dirty="0">
              <a:latin typeface="メイリオ" panose="020B0604030504040204" pitchFamily="50" charset="-128"/>
              <a:ea typeface="メイリオ" panose="020B0604030504040204" pitchFamily="50" charset="-128"/>
            </a:endParaRPr>
          </a:p>
        </p:txBody>
      </p:sp>
      <p:sp>
        <p:nvSpPr>
          <p:cNvPr id="313" name="Shape 43">
            <a:extLst>
              <a:ext uri="{FF2B5EF4-FFF2-40B4-BE49-F238E27FC236}">
                <a16:creationId xmlns:a16="http://schemas.microsoft.com/office/drawing/2014/main" id="{5A6F984C-63AF-ACD2-BF62-D30F1D25838C}"/>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5" name="Text 44">
            <a:extLst>
              <a:ext uri="{FF2B5EF4-FFF2-40B4-BE49-F238E27FC236}">
                <a16:creationId xmlns:a16="http://schemas.microsoft.com/office/drawing/2014/main" id="{898D2A9B-2C91-5C0E-E0D1-08EC04B5B101}"/>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7" name="Shape 45">
            <a:extLst>
              <a:ext uri="{FF2B5EF4-FFF2-40B4-BE49-F238E27FC236}">
                <a16:creationId xmlns:a16="http://schemas.microsoft.com/office/drawing/2014/main" id="{73ECF984-984E-E268-3600-20C40EDFB08B}"/>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9" name="Text 46">
            <a:extLst>
              <a:ext uri="{FF2B5EF4-FFF2-40B4-BE49-F238E27FC236}">
                <a16:creationId xmlns:a16="http://schemas.microsoft.com/office/drawing/2014/main" id="{CF65025C-BF9E-DD3E-F624-8D11792E90C8}"/>
              </a:ext>
            </a:extLst>
          </p:cNvPr>
          <p:cNvSpPr/>
          <p:nvPr/>
        </p:nvSpPr>
        <p:spPr>
          <a:xfrm>
            <a:off x="2060691"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ポップアップ表示</a:t>
            </a:r>
            <a:endParaRPr lang="en-US" sz="700" dirty="0">
              <a:latin typeface="メイリオ" panose="020B0604030504040204" pitchFamily="50" charset="-128"/>
              <a:ea typeface="メイリオ" panose="020B0604030504040204" pitchFamily="50" charset="-128"/>
            </a:endParaRPr>
          </a:p>
        </p:txBody>
      </p:sp>
      <p:sp>
        <p:nvSpPr>
          <p:cNvPr id="321" name="Shape 47">
            <a:extLst>
              <a:ext uri="{FF2B5EF4-FFF2-40B4-BE49-F238E27FC236}">
                <a16:creationId xmlns:a16="http://schemas.microsoft.com/office/drawing/2014/main" id="{D4367962-B456-5285-6F36-9C11FF008F9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3" name="Text 48">
            <a:extLst>
              <a:ext uri="{FF2B5EF4-FFF2-40B4-BE49-F238E27FC236}">
                <a16:creationId xmlns:a16="http://schemas.microsoft.com/office/drawing/2014/main" id="{A419A458-B799-4951-9FF6-942FE396F15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5" name="Shape 49">
            <a:extLst>
              <a:ext uri="{FF2B5EF4-FFF2-40B4-BE49-F238E27FC236}">
                <a16:creationId xmlns:a16="http://schemas.microsoft.com/office/drawing/2014/main" id="{6D1A4CA3-33E1-E41B-7C83-F990FB5BE3FD}"/>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7" name="Text 50">
            <a:extLst>
              <a:ext uri="{FF2B5EF4-FFF2-40B4-BE49-F238E27FC236}">
                <a16:creationId xmlns:a16="http://schemas.microsoft.com/office/drawing/2014/main" id="{C59264FC-5AE8-9BB2-623A-9DEF6D9D796C}"/>
              </a:ext>
            </a:extLst>
          </p:cNvPr>
          <p:cNvSpPr/>
          <p:nvPr/>
        </p:nvSpPr>
        <p:spPr>
          <a:xfrm>
            <a:off x="342619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LINE追加</a:t>
            </a:r>
            <a:endParaRPr lang="en-US" sz="700" dirty="0">
              <a:latin typeface="メイリオ" panose="020B0604030504040204" pitchFamily="50" charset="-128"/>
              <a:ea typeface="メイリオ" panose="020B0604030504040204" pitchFamily="50" charset="-128"/>
            </a:endParaRPr>
          </a:p>
        </p:txBody>
      </p:sp>
      <p:sp>
        <p:nvSpPr>
          <p:cNvPr id="329" name="Shape 51">
            <a:extLst>
              <a:ext uri="{FF2B5EF4-FFF2-40B4-BE49-F238E27FC236}">
                <a16:creationId xmlns:a16="http://schemas.microsoft.com/office/drawing/2014/main" id="{6D963E5B-1138-2B0E-0167-B5B9BF716186}"/>
              </a:ext>
            </a:extLst>
          </p:cNvPr>
          <p:cNvSpPr/>
          <p:nvPr/>
        </p:nvSpPr>
        <p:spPr>
          <a:xfrm>
            <a:off x="603747" y="4656247"/>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Shape 53">
            <a:extLst>
              <a:ext uri="{FF2B5EF4-FFF2-40B4-BE49-F238E27FC236}">
                <a16:creationId xmlns:a16="http://schemas.microsoft.com/office/drawing/2014/main" id="{2F6F51E4-22ED-423C-D348-1FBBE8111C30}"/>
              </a:ext>
            </a:extLst>
          </p:cNvPr>
          <p:cNvSpPr/>
          <p:nvPr/>
        </p:nvSpPr>
        <p:spPr>
          <a:xfrm>
            <a:off x="713475" y="4747687"/>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Text 54">
            <a:extLst>
              <a:ext uri="{FF2B5EF4-FFF2-40B4-BE49-F238E27FC236}">
                <a16:creationId xmlns:a16="http://schemas.microsoft.com/office/drawing/2014/main" id="{89F3FA46-BAFD-DBEA-D8E2-4D32A77DBE4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Text 56">
            <a:extLst>
              <a:ext uri="{FF2B5EF4-FFF2-40B4-BE49-F238E27FC236}">
                <a16:creationId xmlns:a16="http://schemas.microsoft.com/office/drawing/2014/main" id="{18FC6107-EEDB-D5C0-0493-D5024B31930A}"/>
              </a:ext>
            </a:extLst>
          </p:cNvPr>
          <p:cNvSpPr/>
          <p:nvPr/>
        </p:nvSpPr>
        <p:spPr>
          <a:xfrm>
            <a:off x="1060947" y="4765128"/>
            <a:ext cx="859536" cy="201168"/>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LINE広告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41" name="Text 57">
            <a:extLst>
              <a:ext uri="{FF2B5EF4-FFF2-40B4-BE49-F238E27FC236}">
                <a16:creationId xmlns:a16="http://schemas.microsoft.com/office/drawing/2014/main" id="{C7099D20-6647-411E-495C-A262E2099219}"/>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LINE広告（CPF）で友だち追加を直接獲得</a:t>
            </a:r>
            <a:endParaRPr lang="en-US" sz="1000" dirty="0">
              <a:latin typeface="メイリオ" panose="020B0604030504040204" pitchFamily="50" charset="-128"/>
              <a:ea typeface="メイリオ" panose="020B0604030504040204" pitchFamily="50" charset="-128"/>
            </a:endParaRPr>
          </a:p>
        </p:txBody>
      </p:sp>
      <p:sp>
        <p:nvSpPr>
          <p:cNvPr id="343" name="Text 58">
            <a:extLst>
              <a:ext uri="{FF2B5EF4-FFF2-40B4-BE49-F238E27FC236}">
                <a16:creationId xmlns:a16="http://schemas.microsoft.com/office/drawing/2014/main" id="{E2CBABF1-E10B-8655-69E8-9A7C51A6D9E3}"/>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LINEのタイムラインに広告を配信し、タップするだけで友だち追加が完了するCPFを活用。フォーム入力ゼロで大量リストを獲得できる。</a:t>
            </a:r>
            <a:endParaRPr lang="en-US" sz="600" dirty="0">
              <a:latin typeface="メイリオ" panose="020B0604030504040204" pitchFamily="50" charset="-128"/>
              <a:ea typeface="メイリオ" panose="020B0604030504040204" pitchFamily="50" charset="-128"/>
            </a:endParaRPr>
          </a:p>
        </p:txBody>
      </p:sp>
      <p:sp>
        <p:nvSpPr>
          <p:cNvPr id="345" name="Shape 59">
            <a:extLst>
              <a:ext uri="{FF2B5EF4-FFF2-40B4-BE49-F238E27FC236}">
                <a16:creationId xmlns:a16="http://schemas.microsoft.com/office/drawing/2014/main" id="{F7FA16E9-28E9-5FAA-0B5A-2DEB195507E8}"/>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7" name="Text 60">
            <a:extLst>
              <a:ext uri="{FF2B5EF4-FFF2-40B4-BE49-F238E27FC236}">
                <a16:creationId xmlns:a16="http://schemas.microsoft.com/office/drawing/2014/main" id="{E2B42AA0-132E-2BD1-9170-8FB822F9DD8D}"/>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LINE広告配信</a:t>
            </a:r>
            <a:endParaRPr lang="en-US" sz="700" dirty="0">
              <a:latin typeface="メイリオ" panose="020B0604030504040204" pitchFamily="50" charset="-128"/>
              <a:ea typeface="メイリオ" panose="020B0604030504040204" pitchFamily="50" charset="-128"/>
            </a:endParaRPr>
          </a:p>
        </p:txBody>
      </p:sp>
      <p:sp>
        <p:nvSpPr>
          <p:cNvPr id="349" name="Shape 61">
            <a:extLst>
              <a:ext uri="{FF2B5EF4-FFF2-40B4-BE49-F238E27FC236}">
                <a16:creationId xmlns:a16="http://schemas.microsoft.com/office/drawing/2014/main" id="{2D2F38BD-F703-1322-C0EB-FF7E51A439E3}"/>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1" name="Text 62">
            <a:extLst>
              <a:ext uri="{FF2B5EF4-FFF2-40B4-BE49-F238E27FC236}">
                <a16:creationId xmlns:a16="http://schemas.microsoft.com/office/drawing/2014/main" id="{C2B3A8C9-C9C1-FA05-756B-E4822346E20D}"/>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3" name="Shape 63">
            <a:extLst>
              <a:ext uri="{FF2B5EF4-FFF2-40B4-BE49-F238E27FC236}">
                <a16:creationId xmlns:a16="http://schemas.microsoft.com/office/drawing/2014/main" id="{BD3E93B4-E548-6909-FB3B-06C1E8639169}"/>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55" name="Text 64">
            <a:extLst>
              <a:ext uri="{FF2B5EF4-FFF2-40B4-BE49-F238E27FC236}">
                <a16:creationId xmlns:a16="http://schemas.microsoft.com/office/drawing/2014/main" id="{A6256185-6AD4-3A20-1F48-E2EF9D4891CE}"/>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タップ1回</a:t>
            </a:r>
            <a:endParaRPr lang="en-US" sz="700" dirty="0">
              <a:latin typeface="メイリオ" panose="020B0604030504040204" pitchFamily="50" charset="-128"/>
              <a:ea typeface="メイリオ" panose="020B0604030504040204" pitchFamily="50" charset="-128"/>
            </a:endParaRPr>
          </a:p>
        </p:txBody>
      </p:sp>
      <p:sp>
        <p:nvSpPr>
          <p:cNvPr id="357" name="Shape 65">
            <a:extLst>
              <a:ext uri="{FF2B5EF4-FFF2-40B4-BE49-F238E27FC236}">
                <a16:creationId xmlns:a16="http://schemas.microsoft.com/office/drawing/2014/main" id="{3BF64739-BCDC-698F-EF0E-28E1322565B2}"/>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9" name="Text 66">
            <a:extLst>
              <a:ext uri="{FF2B5EF4-FFF2-40B4-BE49-F238E27FC236}">
                <a16:creationId xmlns:a16="http://schemas.microsoft.com/office/drawing/2014/main" id="{DC3E4D69-6A59-7489-79CB-99F94D990D7A}"/>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1" name="Shape 67">
            <a:extLst>
              <a:ext uri="{FF2B5EF4-FFF2-40B4-BE49-F238E27FC236}">
                <a16:creationId xmlns:a16="http://schemas.microsoft.com/office/drawing/2014/main" id="{9ADB30CA-F6EE-C089-A57A-6F22275FEAB4}"/>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63" name="Text 68">
            <a:extLst>
              <a:ext uri="{FF2B5EF4-FFF2-40B4-BE49-F238E27FC236}">
                <a16:creationId xmlns:a16="http://schemas.microsoft.com/office/drawing/2014/main" id="{98B08C9C-D511-6B94-9B7A-44C6A5439875}"/>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友だち追加完了</a:t>
            </a:r>
            <a:endParaRPr lang="en-US" sz="700" dirty="0">
              <a:latin typeface="メイリオ" panose="020B0604030504040204" pitchFamily="50" charset="-128"/>
              <a:ea typeface="メイリオ" panose="020B0604030504040204" pitchFamily="50" charset="-128"/>
            </a:endParaRPr>
          </a:p>
        </p:txBody>
      </p:sp>
      <p:sp>
        <p:nvSpPr>
          <p:cNvPr id="365" name="Shape 69">
            <a:extLst>
              <a:ext uri="{FF2B5EF4-FFF2-40B4-BE49-F238E27FC236}">
                <a16:creationId xmlns:a16="http://schemas.microsoft.com/office/drawing/2014/main" id="{D6B35E10-B1AC-F1BF-E6B4-49DBF665E15B}"/>
              </a:ext>
            </a:extLst>
          </p:cNvPr>
          <p:cNvSpPr/>
          <p:nvPr/>
        </p:nvSpPr>
        <p:spPr>
          <a:xfrm>
            <a:off x="5047731" y="156281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Shape 71">
            <a:extLst>
              <a:ext uri="{FF2B5EF4-FFF2-40B4-BE49-F238E27FC236}">
                <a16:creationId xmlns:a16="http://schemas.microsoft.com/office/drawing/2014/main" id="{68234D9A-1E80-F88C-68E3-9B0BD913573C}"/>
              </a:ext>
            </a:extLst>
          </p:cNvPr>
          <p:cNvSpPr/>
          <p:nvPr/>
        </p:nvSpPr>
        <p:spPr>
          <a:xfrm>
            <a:off x="5157459" y="165425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Text 72">
            <a:extLst>
              <a:ext uri="{FF2B5EF4-FFF2-40B4-BE49-F238E27FC236}">
                <a16:creationId xmlns:a16="http://schemas.microsoft.com/office/drawing/2014/main" id="{552F05CD-97BD-C4BE-A13E-740BB4C11A0B}"/>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Text 74">
            <a:extLst>
              <a:ext uri="{FF2B5EF4-FFF2-40B4-BE49-F238E27FC236}">
                <a16:creationId xmlns:a16="http://schemas.microsoft.com/office/drawing/2014/main" id="{DF4277DC-C449-82E4-95E9-6A760DB1A9BE}"/>
              </a:ext>
            </a:extLst>
          </p:cNvPr>
          <p:cNvSpPr/>
          <p:nvPr/>
        </p:nvSpPr>
        <p:spPr>
          <a:xfrm>
            <a:off x="5514089" y="1672216"/>
            <a:ext cx="899146" cy="214480"/>
          </a:xfrm>
          <a:prstGeom prst="rect">
            <a:avLst/>
          </a:prstGeom>
          <a:noFill/>
          <a:ln/>
        </p:spPr>
        <p:txBody>
          <a:bodyPr wrap="square" lIns="0" tIns="0" rIns="0" bIns="0" rtlCol="0" anchor="ctr"/>
          <a:lstStyle/>
          <a:p>
            <a:pPr marL="0" indent="0" algn="ctr">
              <a:buNone/>
            </a:pPr>
            <a:r>
              <a:rPr lang="en-US" sz="1100" b="1" dirty="0">
                <a:solidFill>
                  <a:srgbClr val="FDFDFD"/>
                </a:solidFill>
                <a:latin typeface="メイリオ" panose="020B0604030504040204" pitchFamily="50" charset="-128"/>
                <a:ea typeface="メイリオ" panose="020B0604030504040204" pitchFamily="50" charset="-128"/>
                <a:cs typeface="Calibri" pitchFamily="34" charset="-120"/>
              </a:rPr>
              <a:t>無料特典</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7" name="Text 75">
            <a:extLst>
              <a:ext uri="{FF2B5EF4-FFF2-40B4-BE49-F238E27FC236}">
                <a16:creationId xmlns:a16="http://schemas.microsoft.com/office/drawing/2014/main" id="{26E53970-4631-F503-9567-2A93A8696D8A}"/>
              </a:ext>
            </a:extLst>
          </p:cNvPr>
          <p:cNvSpPr/>
          <p:nvPr/>
        </p:nvSpPr>
        <p:spPr>
          <a:xfrm>
            <a:off x="6419331" y="167221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業界特化の無料チェックリスト・資料を配布</a:t>
            </a:r>
            <a:endParaRPr lang="en-US" sz="1000" dirty="0">
              <a:latin typeface="メイリオ" panose="020B0604030504040204" pitchFamily="50" charset="-128"/>
              <a:ea typeface="メイリオ" panose="020B0604030504040204" pitchFamily="50" charset="-128"/>
            </a:endParaRPr>
          </a:p>
        </p:txBody>
      </p:sp>
      <p:sp>
        <p:nvSpPr>
          <p:cNvPr id="379" name="Text 76">
            <a:extLst>
              <a:ext uri="{FF2B5EF4-FFF2-40B4-BE49-F238E27FC236}">
                <a16:creationId xmlns:a16="http://schemas.microsoft.com/office/drawing/2014/main" id="{2D8E133D-EC4C-5575-4BD8-86BE9F65DDF1}"/>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「登録するだけでもらえる」特典を用意することで登録動機を明確化。業界固有の課題解決系コンテンツ（チェックシート・業界レポート等）が最もCV率が高い。</a:t>
            </a:r>
            <a:endParaRPr lang="en-US" sz="600" dirty="0">
              <a:latin typeface="メイリオ" panose="020B0604030504040204" pitchFamily="50" charset="-128"/>
              <a:ea typeface="メイリオ" panose="020B0604030504040204" pitchFamily="50" charset="-128"/>
            </a:endParaRPr>
          </a:p>
        </p:txBody>
      </p:sp>
      <p:sp>
        <p:nvSpPr>
          <p:cNvPr id="381" name="Shape 77">
            <a:extLst>
              <a:ext uri="{FF2B5EF4-FFF2-40B4-BE49-F238E27FC236}">
                <a16:creationId xmlns:a16="http://schemas.microsoft.com/office/drawing/2014/main" id="{31E10F06-F863-67FA-6DAC-010C215B84E8}"/>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3" name="Text 78">
            <a:extLst>
              <a:ext uri="{FF2B5EF4-FFF2-40B4-BE49-F238E27FC236}">
                <a16:creationId xmlns:a16="http://schemas.microsoft.com/office/drawing/2014/main" id="{6C9F3ABA-2FF8-FD90-4A48-758E002398FB}"/>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特典を訴求</a:t>
            </a:r>
            <a:endParaRPr lang="en-US" sz="700" dirty="0">
              <a:latin typeface="メイリオ" panose="020B0604030504040204" pitchFamily="50" charset="-128"/>
              <a:ea typeface="メイリオ" panose="020B0604030504040204" pitchFamily="50" charset="-128"/>
            </a:endParaRPr>
          </a:p>
        </p:txBody>
      </p:sp>
      <p:sp>
        <p:nvSpPr>
          <p:cNvPr id="385" name="Shape 79">
            <a:extLst>
              <a:ext uri="{FF2B5EF4-FFF2-40B4-BE49-F238E27FC236}">
                <a16:creationId xmlns:a16="http://schemas.microsoft.com/office/drawing/2014/main" id="{E72C78D1-0BB9-916F-36B5-7479F8CE5D3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7" name="Text 80">
            <a:extLst>
              <a:ext uri="{FF2B5EF4-FFF2-40B4-BE49-F238E27FC236}">
                <a16:creationId xmlns:a16="http://schemas.microsoft.com/office/drawing/2014/main" id="{BC0BBF5B-BAF8-E70E-8B07-996AA9432035}"/>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9" name="Shape 81">
            <a:extLst>
              <a:ext uri="{FF2B5EF4-FFF2-40B4-BE49-F238E27FC236}">
                <a16:creationId xmlns:a16="http://schemas.microsoft.com/office/drawing/2014/main" id="{408D8BF9-9A64-3437-189F-7AB6EF573C7B}"/>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1" name="Text 82">
            <a:extLst>
              <a:ext uri="{FF2B5EF4-FFF2-40B4-BE49-F238E27FC236}">
                <a16:creationId xmlns:a16="http://schemas.microsoft.com/office/drawing/2014/main" id="{143086EA-358A-8358-5A98-D73784BCDE63}"/>
              </a:ext>
            </a:extLst>
          </p:cNvPr>
          <p:cNvSpPr/>
          <p:nvPr/>
        </p:nvSpPr>
        <p:spPr>
          <a:xfrm>
            <a:off x="6504675"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393" name="Shape 83">
            <a:extLst>
              <a:ext uri="{FF2B5EF4-FFF2-40B4-BE49-F238E27FC236}">
                <a16:creationId xmlns:a16="http://schemas.microsoft.com/office/drawing/2014/main" id="{735AC242-9C22-523C-8493-ED1444186A4A}"/>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5" name="Text 84">
            <a:extLst>
              <a:ext uri="{FF2B5EF4-FFF2-40B4-BE49-F238E27FC236}">
                <a16:creationId xmlns:a16="http://schemas.microsoft.com/office/drawing/2014/main" id="{5CA0A665-628D-A550-FA00-F6977D3E7726}"/>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7" name="Shape 85">
            <a:extLst>
              <a:ext uri="{FF2B5EF4-FFF2-40B4-BE49-F238E27FC236}">
                <a16:creationId xmlns:a16="http://schemas.microsoft.com/office/drawing/2014/main" id="{C421B86C-B079-C4D9-00AC-3FDB83FD4088}"/>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99" name="Text 86">
            <a:extLst>
              <a:ext uri="{FF2B5EF4-FFF2-40B4-BE49-F238E27FC236}">
                <a16:creationId xmlns:a16="http://schemas.microsoft.com/office/drawing/2014/main" id="{C9D03C7D-B81E-970A-1517-18C66C14BA76}"/>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即時受け取り</a:t>
            </a:r>
            <a:endParaRPr lang="en-US" sz="700" dirty="0">
              <a:latin typeface="メイリオ" panose="020B0604030504040204" pitchFamily="50" charset="-128"/>
              <a:ea typeface="メイリオ" panose="020B0604030504040204" pitchFamily="50" charset="-128"/>
            </a:endParaRPr>
          </a:p>
        </p:txBody>
      </p:sp>
      <p:sp>
        <p:nvSpPr>
          <p:cNvPr id="401" name="Shape 87">
            <a:extLst>
              <a:ext uri="{FF2B5EF4-FFF2-40B4-BE49-F238E27FC236}">
                <a16:creationId xmlns:a16="http://schemas.microsoft.com/office/drawing/2014/main" id="{5F9AA049-EA0A-0919-98F9-2182FAADD0F3}"/>
              </a:ext>
            </a:extLst>
          </p:cNvPr>
          <p:cNvSpPr/>
          <p:nvPr/>
        </p:nvSpPr>
        <p:spPr>
          <a:xfrm>
            <a:off x="5047731" y="3109414"/>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Shape 89">
            <a:extLst>
              <a:ext uri="{FF2B5EF4-FFF2-40B4-BE49-F238E27FC236}">
                <a16:creationId xmlns:a16="http://schemas.microsoft.com/office/drawing/2014/main" id="{994EA064-C509-0D34-2927-FD8920D66D38}"/>
              </a:ext>
            </a:extLst>
          </p:cNvPr>
          <p:cNvSpPr/>
          <p:nvPr/>
        </p:nvSpPr>
        <p:spPr>
          <a:xfrm>
            <a:off x="5157459" y="320085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Text 90">
            <a:extLst>
              <a:ext uri="{FF2B5EF4-FFF2-40B4-BE49-F238E27FC236}">
                <a16:creationId xmlns:a16="http://schemas.microsoft.com/office/drawing/2014/main" id="{81BA2858-4DF2-33F8-E6B3-E47B08169C58}"/>
              </a:ext>
            </a:extLst>
          </p:cNvPr>
          <p:cNvSpPr/>
          <p:nvPr/>
        </p:nvSpPr>
        <p:spPr>
          <a:xfrm>
            <a:off x="5157459"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3">
            <a:extLst>
              <a:ext uri="{FF2B5EF4-FFF2-40B4-BE49-F238E27FC236}">
                <a16:creationId xmlns:a16="http://schemas.microsoft.com/office/drawing/2014/main" id="{7C039DD3-77AB-DC72-1BF7-6F43484A6F48}"/>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「〇〇診断」でゲーム感覚の登録動線を設計</a:t>
            </a:r>
            <a:endParaRPr lang="en-US" sz="1000" dirty="0">
              <a:latin typeface="メイリオ" panose="020B0604030504040204" pitchFamily="50" charset="-128"/>
              <a:ea typeface="メイリオ" panose="020B0604030504040204" pitchFamily="50" charset="-128"/>
            </a:endParaRPr>
          </a:p>
        </p:txBody>
      </p:sp>
      <p:sp>
        <p:nvSpPr>
          <p:cNvPr id="415" name="Text 94">
            <a:extLst>
              <a:ext uri="{FF2B5EF4-FFF2-40B4-BE49-F238E27FC236}">
                <a16:creationId xmlns:a16="http://schemas.microsoft.com/office/drawing/2014/main" id="{DC0D3973-D909-3E0E-0185-8C5F00160F49}"/>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「あなたの〇〇タイプ診断」など自分に関係する情報を得られる診断コンテンツをLINE登録の特典に設定。結果表示→そのまま育成配信へ移行。</a:t>
            </a:r>
            <a:endParaRPr lang="en-US" sz="600" dirty="0">
              <a:latin typeface="メイリオ" panose="020B0604030504040204" pitchFamily="50" charset="-128"/>
              <a:ea typeface="メイリオ" panose="020B0604030504040204" pitchFamily="50" charset="-128"/>
            </a:endParaRPr>
          </a:p>
        </p:txBody>
      </p:sp>
      <p:sp>
        <p:nvSpPr>
          <p:cNvPr id="417" name="Shape 95">
            <a:extLst>
              <a:ext uri="{FF2B5EF4-FFF2-40B4-BE49-F238E27FC236}">
                <a16:creationId xmlns:a16="http://schemas.microsoft.com/office/drawing/2014/main" id="{A539ABF7-93E6-0B97-E682-67036D8B4469}"/>
              </a:ext>
            </a:extLst>
          </p:cNvPr>
          <p:cNvSpPr/>
          <p:nvPr/>
        </p:nvSpPr>
        <p:spPr>
          <a:xfrm>
            <a:off x="5139171"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19" name="Text 96">
            <a:extLst>
              <a:ext uri="{FF2B5EF4-FFF2-40B4-BE49-F238E27FC236}">
                <a16:creationId xmlns:a16="http://schemas.microsoft.com/office/drawing/2014/main" id="{872D0829-AC14-447F-7459-990C0436BD6F}"/>
              </a:ext>
            </a:extLst>
          </p:cNvPr>
          <p:cNvSpPr/>
          <p:nvPr/>
        </p:nvSpPr>
        <p:spPr>
          <a:xfrm>
            <a:off x="5139171"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診断スタート</a:t>
            </a:r>
            <a:endParaRPr lang="en-US" sz="700" dirty="0">
              <a:latin typeface="メイリオ" panose="020B0604030504040204" pitchFamily="50" charset="-128"/>
              <a:ea typeface="メイリオ" panose="020B0604030504040204" pitchFamily="50" charset="-128"/>
            </a:endParaRPr>
          </a:p>
        </p:txBody>
      </p:sp>
      <p:sp>
        <p:nvSpPr>
          <p:cNvPr id="421" name="Shape 97">
            <a:extLst>
              <a:ext uri="{FF2B5EF4-FFF2-40B4-BE49-F238E27FC236}">
                <a16:creationId xmlns:a16="http://schemas.microsoft.com/office/drawing/2014/main" id="{277FEA39-DF85-2BC7-8790-281873782510}"/>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3" name="Text 98">
            <a:extLst>
              <a:ext uri="{FF2B5EF4-FFF2-40B4-BE49-F238E27FC236}">
                <a16:creationId xmlns:a16="http://schemas.microsoft.com/office/drawing/2014/main" id="{CCEC2CA7-1DA7-3457-DB53-866B5464808A}"/>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5" name="Shape 99">
            <a:extLst>
              <a:ext uri="{FF2B5EF4-FFF2-40B4-BE49-F238E27FC236}">
                <a16:creationId xmlns:a16="http://schemas.microsoft.com/office/drawing/2014/main" id="{BEE40DCA-8F8C-5FB8-E003-26C56815916C}"/>
              </a:ext>
            </a:extLst>
          </p:cNvPr>
          <p:cNvSpPr/>
          <p:nvPr/>
        </p:nvSpPr>
        <p:spPr>
          <a:xfrm>
            <a:off x="6504675" y="4158910"/>
            <a:ext cx="1274064" cy="329184"/>
          </a:xfrm>
          <a:prstGeom prst="roundRect">
            <a:avLst>
              <a:gd name="adj" fmla="val 16667"/>
            </a:avLst>
          </a:prstGeom>
          <a:solidFill>
            <a:srgbClr val="1F5FA6"/>
          </a:solidFill>
          <a:ln w="12700">
            <a:solidFill>
              <a:srgbClr val="1F5FA6"/>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7" name="Text 100">
            <a:extLst>
              <a:ext uri="{FF2B5EF4-FFF2-40B4-BE49-F238E27FC236}">
                <a16:creationId xmlns:a16="http://schemas.microsoft.com/office/drawing/2014/main" id="{00D1855F-45CE-D188-2C64-7750B7F10335}"/>
              </a:ext>
            </a:extLst>
          </p:cNvPr>
          <p:cNvSpPr/>
          <p:nvPr/>
        </p:nvSpPr>
        <p:spPr>
          <a:xfrm>
            <a:off x="6504675" y="4158910"/>
            <a:ext cx="1274064" cy="329184"/>
          </a:xfrm>
          <a:prstGeom prst="rect">
            <a:avLst/>
          </a:prstGeom>
          <a:solidFill>
            <a:schemeClr val="tx1"/>
          </a:solid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LINE登録</a:t>
            </a:r>
            <a:endParaRPr lang="en-US" sz="700" dirty="0">
              <a:latin typeface="メイリオ" panose="020B0604030504040204" pitchFamily="50" charset="-128"/>
              <a:ea typeface="メイリオ" panose="020B0604030504040204" pitchFamily="50" charset="-128"/>
            </a:endParaRPr>
          </a:p>
        </p:txBody>
      </p:sp>
      <p:sp>
        <p:nvSpPr>
          <p:cNvPr id="429" name="Shape 101">
            <a:extLst>
              <a:ext uri="{FF2B5EF4-FFF2-40B4-BE49-F238E27FC236}">
                <a16:creationId xmlns:a16="http://schemas.microsoft.com/office/drawing/2014/main" id="{BC3DBCCE-C415-FFB9-0EF0-ED016BFACE66}"/>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1" name="Text 102">
            <a:extLst>
              <a:ext uri="{FF2B5EF4-FFF2-40B4-BE49-F238E27FC236}">
                <a16:creationId xmlns:a16="http://schemas.microsoft.com/office/drawing/2014/main" id="{87E68EDD-1B05-C39E-A803-3CD6952C46E3}"/>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3" name="Shape 103">
            <a:extLst>
              <a:ext uri="{FF2B5EF4-FFF2-40B4-BE49-F238E27FC236}">
                <a16:creationId xmlns:a16="http://schemas.microsoft.com/office/drawing/2014/main" id="{75540B87-5EA1-8B70-BE9E-D7CD43DE2F0B}"/>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5" name="Text 104">
            <a:extLst>
              <a:ext uri="{FF2B5EF4-FFF2-40B4-BE49-F238E27FC236}">
                <a16:creationId xmlns:a16="http://schemas.microsoft.com/office/drawing/2014/main" id="{D38E76BC-A277-7B9A-A14E-8E7F032F5CF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結果＋ナーチャ</a:t>
            </a:r>
            <a:endParaRPr lang="en-US" sz="700" dirty="0">
              <a:latin typeface="メイリオ" panose="020B0604030504040204" pitchFamily="50" charset="-128"/>
              <a:ea typeface="メイリオ" panose="020B0604030504040204" pitchFamily="50" charset="-128"/>
            </a:endParaRPr>
          </a:p>
        </p:txBody>
      </p:sp>
      <p:sp>
        <p:nvSpPr>
          <p:cNvPr id="437" name="Shape 105">
            <a:extLst>
              <a:ext uri="{FF2B5EF4-FFF2-40B4-BE49-F238E27FC236}">
                <a16:creationId xmlns:a16="http://schemas.microsoft.com/office/drawing/2014/main" id="{7E7D236C-E62B-82AE-1904-7E878C11F436}"/>
              </a:ext>
            </a:extLst>
          </p:cNvPr>
          <p:cNvSpPr/>
          <p:nvPr/>
        </p:nvSpPr>
        <p:spPr>
          <a:xfrm>
            <a:off x="5047731" y="465815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Shape 107">
            <a:extLst>
              <a:ext uri="{FF2B5EF4-FFF2-40B4-BE49-F238E27FC236}">
                <a16:creationId xmlns:a16="http://schemas.microsoft.com/office/drawing/2014/main" id="{11FB9564-FEC8-56EC-F099-43F051A24D1D}"/>
              </a:ext>
            </a:extLst>
          </p:cNvPr>
          <p:cNvSpPr/>
          <p:nvPr/>
        </p:nvSpPr>
        <p:spPr>
          <a:xfrm>
            <a:off x="5157459" y="474959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Text 108">
            <a:extLst>
              <a:ext uri="{FF2B5EF4-FFF2-40B4-BE49-F238E27FC236}">
                <a16:creationId xmlns:a16="http://schemas.microsoft.com/office/drawing/2014/main" id="{F6040C66-355F-8C90-5BE2-53D9C4A42B57}"/>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9" name="Text 111">
            <a:extLst>
              <a:ext uri="{FF2B5EF4-FFF2-40B4-BE49-F238E27FC236}">
                <a16:creationId xmlns:a16="http://schemas.microsoft.com/office/drawing/2014/main" id="{4EB6017D-3A77-E9F5-F635-7B6DB13B4131}"/>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000" b="1" dirty="0" err="1">
                <a:solidFill>
                  <a:srgbClr val="1A1A2E"/>
                </a:solidFill>
                <a:latin typeface="メイリオ" panose="020B0604030504040204" pitchFamily="50" charset="-128"/>
                <a:ea typeface="メイリオ" panose="020B0604030504040204" pitchFamily="50" charset="-128"/>
                <a:cs typeface="Calibri" pitchFamily="34" charset="-120"/>
              </a:rPr>
              <a:t>WEBフォームCV後サンクスページでLINE誘導</a:t>
            </a:r>
            <a:endParaRPr lang="en-US" sz="1000" dirty="0">
              <a:latin typeface="メイリオ" panose="020B0604030504040204" pitchFamily="50" charset="-128"/>
              <a:ea typeface="メイリオ" panose="020B0604030504040204" pitchFamily="50" charset="-128"/>
            </a:endParaRPr>
          </a:p>
        </p:txBody>
      </p:sp>
      <p:sp>
        <p:nvSpPr>
          <p:cNvPr id="451" name="Text 112">
            <a:extLst>
              <a:ext uri="{FF2B5EF4-FFF2-40B4-BE49-F238E27FC236}">
                <a16:creationId xmlns:a16="http://schemas.microsoft.com/office/drawing/2014/main" id="{A63DAD2F-DDAE-6E26-0FE7-A71DCF606881}"/>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問い合わせや申込のサンクスページ上にLINE追加QRコードを設置。「手続き状況・キャンペーン情報をLINEでお知らせします」という理由付けで登録率を高める。</a:t>
            </a:r>
            <a:endParaRPr lang="en-US" sz="600" dirty="0">
              <a:latin typeface="メイリオ" panose="020B0604030504040204" pitchFamily="50" charset="-128"/>
              <a:ea typeface="メイリオ" panose="020B0604030504040204" pitchFamily="50" charset="-128"/>
            </a:endParaRPr>
          </a:p>
        </p:txBody>
      </p:sp>
      <p:sp>
        <p:nvSpPr>
          <p:cNvPr id="453" name="Shape 113">
            <a:extLst>
              <a:ext uri="{FF2B5EF4-FFF2-40B4-BE49-F238E27FC236}">
                <a16:creationId xmlns:a16="http://schemas.microsoft.com/office/drawing/2014/main" id="{1A747923-8770-D6A4-F82F-4A2F7CF2E59A}"/>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55" name="Text 114">
            <a:extLst>
              <a:ext uri="{FF2B5EF4-FFF2-40B4-BE49-F238E27FC236}">
                <a16:creationId xmlns:a16="http://schemas.microsoft.com/office/drawing/2014/main" id="{C1269C45-D060-14BD-4EA5-EEA9971F9196}"/>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WEBフォームCV</a:t>
            </a:r>
            <a:endParaRPr lang="en-US" sz="700" dirty="0">
              <a:latin typeface="メイリオ" panose="020B0604030504040204" pitchFamily="50" charset="-128"/>
              <a:ea typeface="メイリオ" panose="020B0604030504040204" pitchFamily="50" charset="-128"/>
            </a:endParaRPr>
          </a:p>
        </p:txBody>
      </p:sp>
      <p:sp>
        <p:nvSpPr>
          <p:cNvPr id="457" name="Shape 115">
            <a:extLst>
              <a:ext uri="{FF2B5EF4-FFF2-40B4-BE49-F238E27FC236}">
                <a16:creationId xmlns:a16="http://schemas.microsoft.com/office/drawing/2014/main" id="{FCD11C9D-95DC-CE32-D1D6-7DA9E01A8070}"/>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9" name="Text 116">
            <a:extLst>
              <a:ext uri="{FF2B5EF4-FFF2-40B4-BE49-F238E27FC236}">
                <a16:creationId xmlns:a16="http://schemas.microsoft.com/office/drawing/2014/main" id="{0CA15731-A766-6C2F-3E49-8EB2B66C237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1" name="Shape 117">
            <a:extLst>
              <a:ext uri="{FF2B5EF4-FFF2-40B4-BE49-F238E27FC236}">
                <a16:creationId xmlns:a16="http://schemas.microsoft.com/office/drawing/2014/main" id="{06D1EAE5-1FBE-2FD3-053D-8C52C5C51D7E}"/>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3" name="Text 118">
            <a:extLst>
              <a:ext uri="{FF2B5EF4-FFF2-40B4-BE49-F238E27FC236}">
                <a16:creationId xmlns:a16="http://schemas.microsoft.com/office/drawing/2014/main" id="{6E95A348-95C2-C3E1-0F40-D8D0B9C5F18E}"/>
              </a:ext>
            </a:extLst>
          </p:cNvPr>
          <p:cNvSpPr/>
          <p:nvPr/>
        </p:nvSpPr>
        <p:spPr>
          <a:xfrm>
            <a:off x="65046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サンクスページ</a:t>
            </a:r>
            <a:endParaRPr lang="en-US" sz="700" dirty="0">
              <a:latin typeface="メイリオ" panose="020B0604030504040204" pitchFamily="50" charset="-128"/>
              <a:ea typeface="メイリオ" panose="020B0604030504040204" pitchFamily="50" charset="-128"/>
            </a:endParaRPr>
          </a:p>
        </p:txBody>
      </p:sp>
      <p:sp>
        <p:nvSpPr>
          <p:cNvPr id="465" name="Shape 119">
            <a:extLst>
              <a:ext uri="{FF2B5EF4-FFF2-40B4-BE49-F238E27FC236}">
                <a16:creationId xmlns:a16="http://schemas.microsoft.com/office/drawing/2014/main" id="{052DAA84-9922-E532-C742-794FAF42CC11}"/>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7" name="Text 120">
            <a:extLst>
              <a:ext uri="{FF2B5EF4-FFF2-40B4-BE49-F238E27FC236}">
                <a16:creationId xmlns:a16="http://schemas.microsoft.com/office/drawing/2014/main" id="{6BC630B4-8A8E-3272-A831-973D660DF9AA}"/>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9" name="Shape 121">
            <a:extLst>
              <a:ext uri="{FF2B5EF4-FFF2-40B4-BE49-F238E27FC236}">
                <a16:creationId xmlns:a16="http://schemas.microsoft.com/office/drawing/2014/main" id="{255DDAF0-4E72-66D8-778E-24CDC5A34141}"/>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71" name="Text 122">
            <a:extLst>
              <a:ext uri="{FF2B5EF4-FFF2-40B4-BE49-F238E27FC236}">
                <a16:creationId xmlns:a16="http://schemas.microsoft.com/office/drawing/2014/main" id="{BC85E7AC-9264-BDB0-801D-8FD55C9ABAC6}"/>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LINE友だち追加</a:t>
            </a:r>
            <a:endParaRPr lang="en-US" sz="700" dirty="0">
              <a:latin typeface="メイリオ" panose="020B0604030504040204" pitchFamily="50" charset="-128"/>
              <a:ea typeface="メイリオ" panose="020B0604030504040204" pitchFamily="50" charset="-128"/>
            </a:endParaRPr>
          </a:p>
        </p:txBody>
      </p:sp>
      <p:sp>
        <p:nvSpPr>
          <p:cNvPr id="5" name="Shape 19">
            <a:extLst>
              <a:ext uri="{FF2B5EF4-FFF2-40B4-BE49-F238E27FC236}">
                <a16:creationId xmlns:a16="http://schemas.microsoft.com/office/drawing/2014/main" id="{779670CC-3A4B-99AD-47F8-99C1DC7CC783}"/>
              </a:ext>
            </a:extLst>
          </p:cNvPr>
          <p:cNvSpPr/>
          <p:nvPr/>
        </p:nvSpPr>
        <p:spPr>
          <a:xfrm>
            <a:off x="1060947" y="1615636"/>
            <a:ext cx="859536" cy="282151"/>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7" name="Text 20">
            <a:extLst>
              <a:ext uri="{FF2B5EF4-FFF2-40B4-BE49-F238E27FC236}">
                <a16:creationId xmlns:a16="http://schemas.microsoft.com/office/drawing/2014/main" id="{1DB2C24D-FB84-85D3-0975-0F08103A2C4E}"/>
              </a:ext>
            </a:extLst>
          </p:cNvPr>
          <p:cNvSpPr/>
          <p:nvPr/>
        </p:nvSpPr>
        <p:spPr>
          <a:xfrm>
            <a:off x="1060947" y="1637651"/>
            <a:ext cx="859536" cy="281683"/>
          </a:xfrm>
          <a:prstGeom prst="rect">
            <a:avLst/>
          </a:prstGeom>
          <a:noFill/>
          <a:ln/>
        </p:spPr>
        <p:txBody>
          <a:bodyPr wrap="square" lIns="0" tIns="0" rIns="0" bIns="0" rtlCol="0" anchor="ctr"/>
          <a:lstStyle/>
          <a:p>
            <a:pPr algn="ctr"/>
            <a:r>
              <a:rPr lang="ja-JP" altLang="en-US" sz="900" b="1" dirty="0">
                <a:solidFill>
                  <a:srgbClr val="FDFDFD"/>
                </a:solidFill>
                <a:latin typeface="メイリオ" panose="020B0604030504040204" pitchFamily="50" charset="-128"/>
              </a:rPr>
              <a:t>流入</a:t>
            </a:r>
            <a:r>
              <a:rPr lang="en-US" altLang="ja-JP" sz="900" b="1" dirty="0">
                <a:solidFill>
                  <a:srgbClr val="FDFDFD"/>
                </a:solidFill>
                <a:latin typeface="メイリオ" panose="020B0604030504040204" pitchFamily="50" charset="-128"/>
              </a:rPr>
              <a:t>/</a:t>
            </a:r>
            <a:r>
              <a:rPr lang="ja-JP" altLang="en-US" sz="900" b="1" dirty="0">
                <a:solidFill>
                  <a:srgbClr val="FDFDFD"/>
                </a:solidFill>
                <a:latin typeface="メイリオ" panose="020B0604030504040204" pitchFamily="50" charset="-128"/>
              </a:rPr>
              <a:t>集客</a:t>
            </a:r>
            <a:endParaRPr lang="en-US" altLang="ja-JP" sz="900" b="1" dirty="0">
              <a:solidFill>
                <a:srgbClr val="FDFDFD"/>
              </a:solidFill>
              <a:latin typeface="メイリオ" panose="020B0604030504040204" pitchFamily="50" charset="-128"/>
            </a:endParaRPr>
          </a:p>
          <a:p>
            <a:pPr algn="ctr"/>
            <a:r>
              <a:rPr lang="ja-JP" altLang="en-US" sz="900" b="1" dirty="0">
                <a:solidFill>
                  <a:srgbClr val="FDFDFD"/>
                </a:solidFill>
                <a:latin typeface="メイリオ" panose="020B0604030504040204" pitchFamily="50" charset="-128"/>
              </a:rPr>
              <a:t>チャネル</a:t>
            </a:r>
            <a:endParaRPr lang="en-US" altLang="ja-JP" sz="400" b="1" dirty="0">
              <a:solidFill>
                <a:srgbClr val="FDFDFD"/>
              </a:solidFill>
              <a:latin typeface="メイリオ" panose="020B0604030504040204" pitchFamily="50" charset="-128"/>
            </a:endParaRPr>
          </a:p>
        </p:txBody>
      </p:sp>
      <p:sp>
        <p:nvSpPr>
          <p:cNvPr id="9" name="Shape 37">
            <a:extLst>
              <a:ext uri="{FF2B5EF4-FFF2-40B4-BE49-F238E27FC236}">
                <a16:creationId xmlns:a16="http://schemas.microsoft.com/office/drawing/2014/main" id="{5F39079C-5F31-C56D-AD14-1DC3C7AEDE30}"/>
              </a:ext>
            </a:extLst>
          </p:cNvPr>
          <p:cNvSpPr/>
          <p:nvPr/>
        </p:nvSpPr>
        <p:spPr>
          <a:xfrm>
            <a:off x="1060947" y="324407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11" name="Text 38">
            <a:extLst>
              <a:ext uri="{FF2B5EF4-FFF2-40B4-BE49-F238E27FC236}">
                <a16:creationId xmlns:a16="http://schemas.microsoft.com/office/drawing/2014/main" id="{9FE95EAB-22DB-4E55-885E-2DC8280EB9CD}"/>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離脱防止</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3" name="Shape 55">
            <a:extLst>
              <a:ext uri="{FF2B5EF4-FFF2-40B4-BE49-F238E27FC236}">
                <a16:creationId xmlns:a16="http://schemas.microsoft.com/office/drawing/2014/main" id="{356ADFC3-885B-BB77-EA21-6C4F3B80B276}"/>
              </a:ext>
            </a:extLst>
          </p:cNvPr>
          <p:cNvSpPr/>
          <p:nvPr/>
        </p:nvSpPr>
        <p:spPr>
          <a:xfrm>
            <a:off x="1060947" y="479209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19" name="Text 92">
            <a:extLst>
              <a:ext uri="{FF2B5EF4-FFF2-40B4-BE49-F238E27FC236}">
                <a16:creationId xmlns:a16="http://schemas.microsoft.com/office/drawing/2014/main" id="{859EC5EC-52A5-A121-F295-214BCB4D4C62}"/>
              </a:ext>
            </a:extLst>
          </p:cNvPr>
          <p:cNvSpPr/>
          <p:nvPr/>
        </p:nvSpPr>
        <p:spPr>
          <a:xfrm>
            <a:off x="5514089" y="3245261"/>
            <a:ext cx="899146" cy="214480"/>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21" name="Shape 109">
            <a:extLst>
              <a:ext uri="{FF2B5EF4-FFF2-40B4-BE49-F238E27FC236}">
                <a16:creationId xmlns:a16="http://schemas.microsoft.com/office/drawing/2014/main" id="{911D55AD-ECC0-DC10-3F42-35787A02D284}"/>
              </a:ext>
            </a:extLst>
          </p:cNvPr>
          <p:cNvSpPr/>
          <p:nvPr/>
        </p:nvSpPr>
        <p:spPr>
          <a:xfrm>
            <a:off x="5514089" y="4721862"/>
            <a:ext cx="901097" cy="306738"/>
          </a:xfrm>
          <a:prstGeom prst="roundRect">
            <a:avLst>
              <a:gd name="adj" fmla="val 18182"/>
            </a:avLst>
          </a:prstGeom>
          <a:solidFill>
            <a:srgbClr val="173559"/>
          </a:solidFill>
          <a:ln w="12700">
            <a:solidFill>
              <a:srgbClr val="D8D8E2"/>
            </a:solidFill>
            <a:prstDash val="solid"/>
          </a:ln>
        </p:spPr>
        <p:txBody>
          <a:bodyPr/>
          <a:lstStyle/>
          <a:p>
            <a:pPr algn="ctr"/>
            <a:r>
              <a:rPr lang="ja-JP" altLang="en-US" sz="800" b="1" dirty="0">
                <a:solidFill>
                  <a:srgbClr val="FDFDFD"/>
                </a:solidFill>
                <a:latin typeface="メイリオ" panose="020B0604030504040204" pitchFamily="50" charset="-128"/>
                <a:ea typeface="メイリオ" panose="020B0604030504040204" pitchFamily="50" charset="-128"/>
              </a:rPr>
              <a:t>サンクス</a:t>
            </a:r>
            <a:endParaRPr lang="en-US" altLang="ja-JP" sz="800" b="1" dirty="0">
              <a:solidFill>
                <a:srgbClr val="FDFDFD"/>
              </a:solidFill>
              <a:latin typeface="メイリオ" panose="020B0604030504040204" pitchFamily="50" charset="-128"/>
              <a:ea typeface="メイリオ" panose="020B0604030504040204" pitchFamily="50" charset="-128"/>
            </a:endParaRPr>
          </a:p>
          <a:p>
            <a:pPr algn="ctr"/>
            <a:r>
              <a:rPr lang="en-US" altLang="ja-JP" sz="800" b="1" dirty="0">
                <a:solidFill>
                  <a:srgbClr val="FDFDFD"/>
                </a:solidFill>
                <a:latin typeface="メイリオ" panose="020B0604030504040204" pitchFamily="50" charset="-128"/>
                <a:ea typeface="メイリオ" panose="020B0604030504040204" pitchFamily="50" charset="-128"/>
              </a:rPr>
              <a:t>LINE</a:t>
            </a:r>
            <a:r>
              <a:rPr lang="ja-JP" altLang="en-US" sz="800" b="1" dirty="0">
                <a:solidFill>
                  <a:srgbClr val="FDFDFD"/>
                </a:solidFill>
                <a:latin typeface="メイリオ" panose="020B0604030504040204" pitchFamily="50" charset="-128"/>
                <a:ea typeface="メイリオ" panose="020B0604030504040204" pitchFamily="50" charset="-128"/>
              </a:rPr>
              <a:t>誘導</a:t>
            </a:r>
          </a:p>
        </p:txBody>
      </p:sp>
      <p:sp>
        <p:nvSpPr>
          <p:cNvPr id="25" name="Text 110">
            <a:extLst>
              <a:ext uri="{FF2B5EF4-FFF2-40B4-BE49-F238E27FC236}">
                <a16:creationId xmlns:a16="http://schemas.microsoft.com/office/drawing/2014/main" id="{E8EED7F4-BAE1-D41E-67C4-68F570C48388}"/>
              </a:ext>
            </a:extLst>
          </p:cNvPr>
          <p:cNvSpPr/>
          <p:nvPr/>
        </p:nvSpPr>
        <p:spPr>
          <a:xfrm>
            <a:off x="5514089" y="3218704"/>
            <a:ext cx="899146" cy="183942"/>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診断コンテンツ</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27" name="Text 110">
            <a:extLst>
              <a:ext uri="{FF2B5EF4-FFF2-40B4-BE49-F238E27FC236}">
                <a16:creationId xmlns:a16="http://schemas.microsoft.com/office/drawing/2014/main" id="{28C48291-9255-498E-EA09-1FE91DCD196F}"/>
              </a:ext>
            </a:extLst>
          </p:cNvPr>
          <p:cNvSpPr/>
          <p:nvPr/>
        </p:nvSpPr>
        <p:spPr>
          <a:xfrm>
            <a:off x="1060947" y="4765128"/>
            <a:ext cx="859536" cy="164776"/>
          </a:xfrm>
          <a:prstGeom prst="rect">
            <a:avLst/>
          </a:prstGeom>
          <a:solidFill>
            <a:schemeClr val="tx2"/>
          </a:solidFill>
          <a:ln/>
        </p:spPr>
        <p:txBody>
          <a:bodyPr wrap="square" lIns="0" tIns="0" rIns="0" bIns="0" rtlCol="0" anchor="ctr"/>
          <a:lstStyle/>
          <a:p>
            <a:pPr marL="0" indent="0" algn="ctr">
              <a:buNone/>
            </a:pPr>
            <a:r>
              <a:rPr lang="en-US" altLang="ja-JP" sz="1000" b="1" dirty="0">
                <a:solidFill>
                  <a:srgbClr val="FDFDFD"/>
                </a:solidFill>
                <a:latin typeface="メイリオ" panose="020B0604030504040204" pitchFamily="50" charset="-128"/>
                <a:ea typeface="メイリオ" panose="020B0604030504040204" pitchFamily="50" charset="-128"/>
                <a:cs typeface="Calibri" pitchFamily="34" charset="-120"/>
              </a:rPr>
              <a:t>LINE</a:t>
            </a:r>
            <a:r>
              <a:rPr lang="ja-JP" altLang="en-US" sz="1000" b="1" dirty="0">
                <a:solidFill>
                  <a:srgbClr val="FDFDFD"/>
                </a:solidFill>
                <a:latin typeface="メイリオ" panose="020B0604030504040204" pitchFamily="50" charset="-128"/>
                <a:ea typeface="メイリオ" panose="020B0604030504040204" pitchFamily="50" charset="-128"/>
                <a:cs typeface="Calibri" pitchFamily="34" charset="-120"/>
              </a:rPr>
              <a:t>広告</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1" name="Text 74">
            <a:extLst>
              <a:ext uri="{FF2B5EF4-FFF2-40B4-BE49-F238E27FC236}">
                <a16:creationId xmlns:a16="http://schemas.microsoft.com/office/drawing/2014/main" id="{A540ADCF-43EA-1930-0DAD-09ED3B6411D9}"/>
              </a:ext>
            </a:extLst>
          </p:cNvPr>
          <p:cNvSpPr/>
          <p:nvPr/>
        </p:nvSpPr>
        <p:spPr>
          <a:xfrm>
            <a:off x="5514089" y="1672216"/>
            <a:ext cx="899146" cy="214480"/>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無料特典</a:t>
            </a:r>
            <a:endParaRPr lang="en-US" sz="700" b="1"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561967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780F9E9-3239-4F30-04FA-62A41B30208F}"/>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470640CA-DB77-D06C-8E9B-5D428526E6D0}"/>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C5AA372-6333-C3A6-0175-98D1ECE0C2E1}"/>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想定：過去の保有リストに対して、再度</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を促す動線を設計</a:t>
            </a:r>
            <a:r>
              <a:rPr lang="ja-JP" altLang="en-US" sz="1200" b="1" dirty="0">
                <a:solidFill>
                  <a:srgbClr val="FF0000"/>
                </a:solidFill>
                <a:latin typeface="メイリオ" panose="020B0604030504040204" pitchFamily="50" charset="-128"/>
                <a:ea typeface="メイリオ" panose="020B0604030504040204" pitchFamily="50" charset="-128"/>
                <a:cs typeface="Meiryo"/>
                <a:sym typeface="Meiryo"/>
              </a:rPr>
              <a:t>（未アクションユーザーの再アクション）</a:t>
            </a:r>
            <a:endPar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endParaRPr>
          </a:p>
        </p:txBody>
      </p:sp>
      <p:sp>
        <p:nvSpPr>
          <p:cNvPr id="247" name="Shape 8">
            <a:extLst>
              <a:ext uri="{FF2B5EF4-FFF2-40B4-BE49-F238E27FC236}">
                <a16:creationId xmlns:a16="http://schemas.microsoft.com/office/drawing/2014/main" id="{0799E4C9-4772-6D53-7617-85D7F0745D89}"/>
              </a:ext>
            </a:extLst>
          </p:cNvPr>
          <p:cNvSpPr/>
          <p:nvPr/>
        </p:nvSpPr>
        <p:spPr>
          <a:xfrm>
            <a:off x="603747"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9" name="Text 9">
            <a:extLst>
              <a:ext uri="{FF2B5EF4-FFF2-40B4-BE49-F238E27FC236}">
                <a16:creationId xmlns:a16="http://schemas.microsoft.com/office/drawing/2014/main" id="{503999D2-F9B7-AB8E-4554-F51FB54870FC}"/>
              </a:ext>
            </a:extLst>
          </p:cNvPr>
          <p:cNvSpPr/>
          <p:nvPr/>
        </p:nvSpPr>
        <p:spPr>
          <a:xfrm>
            <a:off x="731763"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A　タイミング設計</a:t>
            </a:r>
            <a:endParaRPr lang="en-US" sz="1000" dirty="0">
              <a:latin typeface="メイリオ" panose="020B0604030504040204" pitchFamily="50" charset="-128"/>
              <a:ea typeface="メイリオ" panose="020B0604030504040204" pitchFamily="50" charset="-128"/>
            </a:endParaRPr>
          </a:p>
        </p:txBody>
      </p:sp>
      <p:sp>
        <p:nvSpPr>
          <p:cNvPr id="251" name="Text 10">
            <a:extLst>
              <a:ext uri="{FF2B5EF4-FFF2-40B4-BE49-F238E27FC236}">
                <a16:creationId xmlns:a16="http://schemas.microsoft.com/office/drawing/2014/main" id="{7868CE86-40F0-7280-8274-0AE354E0F621}"/>
              </a:ext>
            </a:extLst>
          </p:cNvPr>
          <p:cNvSpPr/>
          <p:nvPr/>
        </p:nvSpPr>
        <p:spPr>
          <a:xfrm>
            <a:off x="3214016" y="1294892"/>
            <a:ext cx="1669123"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「今動きやすい理由」を作って再接触</a:t>
            </a:r>
            <a:endParaRPr lang="en-US" sz="700" dirty="0">
              <a:latin typeface="メイリオ" panose="020B0604030504040204" pitchFamily="50" charset="-128"/>
              <a:ea typeface="メイリオ" panose="020B0604030504040204" pitchFamily="50" charset="-128"/>
            </a:endParaRPr>
          </a:p>
        </p:txBody>
      </p:sp>
      <p:sp>
        <p:nvSpPr>
          <p:cNvPr id="253" name="Shape 11">
            <a:extLst>
              <a:ext uri="{FF2B5EF4-FFF2-40B4-BE49-F238E27FC236}">
                <a16:creationId xmlns:a16="http://schemas.microsoft.com/office/drawing/2014/main" id="{5A6F33C8-39E2-1FDF-60C3-CAE6BB50B2E0}"/>
              </a:ext>
            </a:extLst>
          </p:cNvPr>
          <p:cNvSpPr/>
          <p:nvPr/>
        </p:nvSpPr>
        <p:spPr>
          <a:xfrm>
            <a:off x="5047731" y="1293577"/>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5" name="Text 12">
            <a:extLst>
              <a:ext uri="{FF2B5EF4-FFF2-40B4-BE49-F238E27FC236}">
                <a16:creationId xmlns:a16="http://schemas.microsoft.com/office/drawing/2014/main" id="{E483BA7C-D180-763E-0C14-8368B0CD432E}"/>
              </a:ext>
            </a:extLst>
          </p:cNvPr>
          <p:cNvSpPr/>
          <p:nvPr/>
        </p:nvSpPr>
        <p:spPr>
          <a:xfrm>
            <a:off x="5175747"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パターン B　再接触設計</a:t>
            </a:r>
            <a:endParaRPr lang="en-US" sz="1000" dirty="0">
              <a:latin typeface="メイリオ" panose="020B0604030504040204" pitchFamily="50" charset="-128"/>
              <a:ea typeface="メイリオ" panose="020B0604030504040204" pitchFamily="50" charset="-128"/>
            </a:endParaRPr>
          </a:p>
        </p:txBody>
      </p:sp>
      <p:sp>
        <p:nvSpPr>
          <p:cNvPr id="257" name="Text 13">
            <a:extLst>
              <a:ext uri="{FF2B5EF4-FFF2-40B4-BE49-F238E27FC236}">
                <a16:creationId xmlns:a16="http://schemas.microsoft.com/office/drawing/2014/main" id="{FDF61AEE-BD8E-57C5-25B1-5985C67AE181}"/>
              </a:ext>
            </a:extLst>
          </p:cNvPr>
          <p:cNvSpPr/>
          <p:nvPr/>
        </p:nvSpPr>
        <p:spPr>
          <a:xfrm>
            <a:off x="7658000" y="1294892"/>
            <a:ext cx="1669123" cy="182880"/>
          </a:xfrm>
          <a:prstGeom prst="rect">
            <a:avLst/>
          </a:prstGeom>
          <a:noFill/>
          <a:ln/>
        </p:spPr>
        <p:txBody>
          <a:bodyPr wrap="square" lIns="0" tIns="0" rIns="0" bIns="0" rtlCol="0" anchor="ctr"/>
          <a:lstStyle/>
          <a:p>
            <a:pPr marL="0" indent="0">
              <a:buNone/>
            </a:pPr>
            <a:r>
              <a:rPr lang="ja-JP" altLang="en-US" sz="900" i="1" dirty="0">
                <a:solidFill>
                  <a:srgbClr val="CADCF2"/>
                </a:solidFill>
                <a:latin typeface="メイリオ" panose="020B0604030504040204" pitchFamily="50" charset="-128"/>
                <a:ea typeface="メイリオ" panose="020B0604030504040204" pitchFamily="50" charset="-128"/>
                <a:cs typeface="Calibri" pitchFamily="34" charset="-120"/>
              </a:rPr>
              <a:t>休眠</a:t>
            </a:r>
            <a:r>
              <a:rPr lang="en-US" sz="900" i="1" dirty="0" err="1">
                <a:solidFill>
                  <a:srgbClr val="CADCF2"/>
                </a:solidFill>
                <a:latin typeface="メイリオ" panose="020B0604030504040204" pitchFamily="50" charset="-128"/>
                <a:ea typeface="メイリオ" panose="020B0604030504040204" pitchFamily="50" charset="-128"/>
                <a:cs typeface="Calibri" pitchFamily="34" charset="-120"/>
              </a:rPr>
              <a:t>ユーザーを起こす動線</a:t>
            </a:r>
            <a:endParaRPr lang="en-US" sz="700" dirty="0">
              <a:latin typeface="メイリオ" panose="020B0604030504040204" pitchFamily="50" charset="-128"/>
              <a:ea typeface="メイリオ" panose="020B0604030504040204" pitchFamily="50" charset="-128"/>
            </a:endParaRPr>
          </a:p>
        </p:txBody>
      </p:sp>
      <p:sp>
        <p:nvSpPr>
          <p:cNvPr id="259" name="Shape 15">
            <a:extLst>
              <a:ext uri="{FF2B5EF4-FFF2-40B4-BE49-F238E27FC236}">
                <a16:creationId xmlns:a16="http://schemas.microsoft.com/office/drawing/2014/main" id="{4CD9286D-9F08-88C6-E014-06303CCE918A}"/>
              </a:ext>
            </a:extLst>
          </p:cNvPr>
          <p:cNvSpPr/>
          <p:nvPr/>
        </p:nvSpPr>
        <p:spPr>
          <a:xfrm>
            <a:off x="603747" y="157040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3" name="Shape 17">
            <a:extLst>
              <a:ext uri="{FF2B5EF4-FFF2-40B4-BE49-F238E27FC236}">
                <a16:creationId xmlns:a16="http://schemas.microsoft.com/office/drawing/2014/main" id="{89F06007-1636-DBF8-2A66-6F5D4D265EED}"/>
              </a:ext>
            </a:extLst>
          </p:cNvPr>
          <p:cNvSpPr/>
          <p:nvPr/>
        </p:nvSpPr>
        <p:spPr>
          <a:xfrm>
            <a:off x="713475" y="166184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5" name="Text 18">
            <a:extLst>
              <a:ext uri="{FF2B5EF4-FFF2-40B4-BE49-F238E27FC236}">
                <a16:creationId xmlns:a16="http://schemas.microsoft.com/office/drawing/2014/main" id="{38635304-800A-B1D2-8097-4F4856E2C577}"/>
              </a:ext>
            </a:extLst>
          </p:cNvPr>
          <p:cNvSpPr/>
          <p:nvPr/>
        </p:nvSpPr>
        <p:spPr>
          <a:xfrm>
            <a:off x="713475" y="167504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7" name="Shape 19">
            <a:extLst>
              <a:ext uri="{FF2B5EF4-FFF2-40B4-BE49-F238E27FC236}">
                <a16:creationId xmlns:a16="http://schemas.microsoft.com/office/drawing/2014/main" id="{4D46F564-C151-62CF-8B30-E68A1621865C}"/>
              </a:ext>
            </a:extLst>
          </p:cNvPr>
          <p:cNvSpPr/>
          <p:nvPr/>
        </p:nvSpPr>
        <p:spPr>
          <a:xfrm>
            <a:off x="1060947" y="1689281"/>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1600">
              <a:solidFill>
                <a:srgbClr val="FDFDFD"/>
              </a:solidFill>
              <a:latin typeface="メイリオ" panose="020B0604030504040204" pitchFamily="50" charset="-128"/>
              <a:ea typeface="メイリオ" panose="020B0604030504040204" pitchFamily="50" charset="-128"/>
            </a:endParaRPr>
          </a:p>
        </p:txBody>
      </p:sp>
      <p:sp>
        <p:nvSpPr>
          <p:cNvPr id="269" name="Text 20">
            <a:extLst>
              <a:ext uri="{FF2B5EF4-FFF2-40B4-BE49-F238E27FC236}">
                <a16:creationId xmlns:a16="http://schemas.microsoft.com/office/drawing/2014/main" id="{D9E0431F-47A8-8AC8-E983-9F1E51409534}"/>
              </a:ext>
            </a:extLst>
          </p:cNvPr>
          <p:cNvSpPr/>
          <p:nvPr/>
        </p:nvSpPr>
        <p:spPr>
          <a:xfrm>
            <a:off x="1060947" y="1675046"/>
            <a:ext cx="859536" cy="201168"/>
          </a:xfrm>
          <a:prstGeom prst="rect">
            <a:avLst/>
          </a:prstGeom>
          <a:noFill/>
          <a:ln/>
        </p:spPr>
        <p:txBody>
          <a:bodyPr wrap="square" lIns="0" tIns="0" rIns="0" bIns="0" rtlCol="0" anchor="ctr"/>
          <a:lstStyle/>
          <a:p>
            <a:pPr algn="ctr"/>
            <a:r>
              <a:rPr lang="en-US" altLang="ja-JP" sz="1100" b="1" dirty="0" err="1">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altLang="ja-JP" sz="700" dirty="0">
              <a:solidFill>
                <a:srgbClr val="FDFDFD"/>
              </a:solidFill>
              <a:latin typeface="メイリオ" panose="020B0604030504040204" pitchFamily="50" charset="-128"/>
              <a:ea typeface="メイリオ" panose="020B0604030504040204" pitchFamily="50" charset="-128"/>
            </a:endParaRPr>
          </a:p>
        </p:txBody>
      </p:sp>
      <p:sp>
        <p:nvSpPr>
          <p:cNvPr id="271" name="Text 21">
            <a:extLst>
              <a:ext uri="{FF2B5EF4-FFF2-40B4-BE49-F238E27FC236}">
                <a16:creationId xmlns:a16="http://schemas.microsoft.com/office/drawing/2014/main" id="{0A469BFD-45E9-8234-0B4E-FCBD032981EA}"/>
              </a:ext>
            </a:extLst>
          </p:cNvPr>
          <p:cNvSpPr/>
          <p:nvPr/>
        </p:nvSpPr>
        <p:spPr>
          <a:xfrm>
            <a:off x="1975347" y="1675046"/>
            <a:ext cx="2798064" cy="256032"/>
          </a:xfrm>
          <a:prstGeom prst="rect">
            <a:avLst/>
          </a:prstGeom>
          <a:noFill/>
          <a:ln/>
        </p:spPr>
        <p:txBody>
          <a:bodyPr wrap="square" lIns="0" tIns="0" rIns="0" bIns="0" rtlCol="0" anchor="ctr"/>
          <a:lstStyle/>
          <a:p>
            <a:pPr marL="0" indent="0">
              <a:buNone/>
            </a:pPr>
            <a:r>
              <a:rPr lang="en-US" sz="1000" b="1" dirty="0">
                <a:solidFill>
                  <a:srgbClr val="1A1A2E"/>
                </a:solidFill>
                <a:latin typeface="メイリオ" panose="020B0604030504040204" pitchFamily="50" charset="-128"/>
                <a:ea typeface="メイリオ" panose="020B0604030504040204" pitchFamily="50" charset="-128"/>
                <a:cs typeface="Calibri" pitchFamily="34" charset="-120"/>
              </a:rPr>
              <a:t>通知メッセで保有リストを一括再接触</a:t>
            </a:r>
            <a:endParaRPr lang="en-US" sz="1000" dirty="0">
              <a:latin typeface="メイリオ" panose="020B0604030504040204" pitchFamily="50" charset="-128"/>
              <a:ea typeface="メイリオ" panose="020B0604030504040204" pitchFamily="50" charset="-128"/>
            </a:endParaRPr>
          </a:p>
        </p:txBody>
      </p:sp>
      <p:sp>
        <p:nvSpPr>
          <p:cNvPr id="273" name="Text 22">
            <a:extLst>
              <a:ext uri="{FF2B5EF4-FFF2-40B4-BE49-F238E27FC236}">
                <a16:creationId xmlns:a16="http://schemas.microsoft.com/office/drawing/2014/main" id="{EFC13B7C-7CC2-B883-A014-EB9039ADFA69}"/>
              </a:ext>
            </a:extLst>
          </p:cNvPr>
          <p:cNvSpPr/>
          <p:nvPr/>
        </p:nvSpPr>
        <p:spPr>
          <a:xfrm>
            <a:off x="713475"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メルマガ・テレマの既存リストにLINE移行キャンペーンを配信。「LINE登録でXXXプレゼント」などの特典で現役のLINEリストに転換し、再ナーチャリングを開始する。</a:t>
            </a:r>
            <a:endParaRPr lang="en-US" sz="600" dirty="0">
              <a:latin typeface="メイリオ" panose="020B0604030504040204" pitchFamily="50" charset="-128"/>
              <a:ea typeface="メイリオ" panose="020B0604030504040204" pitchFamily="50" charset="-128"/>
            </a:endParaRPr>
          </a:p>
        </p:txBody>
      </p:sp>
      <p:sp>
        <p:nvSpPr>
          <p:cNvPr id="275" name="Shape 23">
            <a:extLst>
              <a:ext uri="{FF2B5EF4-FFF2-40B4-BE49-F238E27FC236}">
                <a16:creationId xmlns:a16="http://schemas.microsoft.com/office/drawing/2014/main" id="{08872876-56FF-B053-724C-EA829FBD2859}"/>
              </a:ext>
            </a:extLst>
          </p:cNvPr>
          <p:cNvSpPr/>
          <p:nvPr/>
        </p:nvSpPr>
        <p:spPr>
          <a:xfrm>
            <a:off x="695187"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4">
            <a:extLst>
              <a:ext uri="{FF2B5EF4-FFF2-40B4-BE49-F238E27FC236}">
                <a16:creationId xmlns:a16="http://schemas.microsoft.com/office/drawing/2014/main" id="{AD668F19-8AF9-40E5-B252-5466AAC211D4}"/>
              </a:ext>
            </a:extLst>
          </p:cNvPr>
          <p:cNvSpPr/>
          <p:nvPr/>
        </p:nvSpPr>
        <p:spPr>
          <a:xfrm>
            <a:off x="695187"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既存リスト</a:t>
            </a:r>
            <a:endParaRPr lang="en-US" sz="700" dirty="0">
              <a:latin typeface="メイリオ" panose="020B0604030504040204" pitchFamily="50" charset="-128"/>
              <a:ea typeface="メイリオ" panose="020B0604030504040204" pitchFamily="50" charset="-128"/>
            </a:endParaRPr>
          </a:p>
        </p:txBody>
      </p:sp>
      <p:sp>
        <p:nvSpPr>
          <p:cNvPr id="279" name="Shape 25">
            <a:extLst>
              <a:ext uri="{FF2B5EF4-FFF2-40B4-BE49-F238E27FC236}">
                <a16:creationId xmlns:a16="http://schemas.microsoft.com/office/drawing/2014/main" id="{53FD5EF2-15D7-6676-A293-790E6A49DF58}"/>
              </a:ext>
            </a:extLst>
          </p:cNvPr>
          <p:cNvSpPr/>
          <p:nvPr/>
        </p:nvSpPr>
        <p:spPr>
          <a:xfrm>
            <a:off x="1969251"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1" name="Text 26">
            <a:extLst>
              <a:ext uri="{FF2B5EF4-FFF2-40B4-BE49-F238E27FC236}">
                <a16:creationId xmlns:a16="http://schemas.microsoft.com/office/drawing/2014/main" id="{F355D7F8-8131-3548-836D-B163B9DE9373}"/>
              </a:ext>
            </a:extLst>
          </p:cNvPr>
          <p:cNvSpPr/>
          <p:nvPr/>
        </p:nvSpPr>
        <p:spPr>
          <a:xfrm>
            <a:off x="1969251"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3" name="Shape 27">
            <a:extLst>
              <a:ext uri="{FF2B5EF4-FFF2-40B4-BE49-F238E27FC236}">
                <a16:creationId xmlns:a16="http://schemas.microsoft.com/office/drawing/2014/main" id="{29B4E427-F660-12E7-1167-8F6AE81B2CFA}"/>
              </a:ext>
            </a:extLst>
          </p:cNvPr>
          <p:cNvSpPr/>
          <p:nvPr/>
        </p:nvSpPr>
        <p:spPr>
          <a:xfrm>
            <a:off x="206069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28">
            <a:extLst>
              <a:ext uri="{FF2B5EF4-FFF2-40B4-BE49-F238E27FC236}">
                <a16:creationId xmlns:a16="http://schemas.microsoft.com/office/drawing/2014/main" id="{D066DD46-5262-0D07-EB4C-1D98EB173D07}"/>
              </a:ext>
            </a:extLst>
          </p:cNvPr>
          <p:cNvSpPr/>
          <p:nvPr/>
        </p:nvSpPr>
        <p:spPr>
          <a:xfrm>
            <a:off x="206069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LINE移行配信</a:t>
            </a:r>
            <a:endParaRPr lang="en-US" sz="600" dirty="0">
              <a:latin typeface="メイリオ" panose="020B0604030504040204" pitchFamily="50" charset="-128"/>
              <a:ea typeface="メイリオ" panose="020B0604030504040204" pitchFamily="50" charset="-128"/>
            </a:endParaRPr>
          </a:p>
        </p:txBody>
      </p:sp>
      <p:sp>
        <p:nvSpPr>
          <p:cNvPr id="287" name="Shape 29">
            <a:extLst>
              <a:ext uri="{FF2B5EF4-FFF2-40B4-BE49-F238E27FC236}">
                <a16:creationId xmlns:a16="http://schemas.microsoft.com/office/drawing/2014/main" id="{FD6D25F1-7F51-6F80-08D2-5C57CC0EE5FD}"/>
              </a:ext>
            </a:extLst>
          </p:cNvPr>
          <p:cNvSpPr/>
          <p:nvPr/>
        </p:nvSpPr>
        <p:spPr>
          <a:xfrm>
            <a:off x="333475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9" name="Text 30">
            <a:extLst>
              <a:ext uri="{FF2B5EF4-FFF2-40B4-BE49-F238E27FC236}">
                <a16:creationId xmlns:a16="http://schemas.microsoft.com/office/drawing/2014/main" id="{445D1811-574B-7D5D-C8F7-69A8E5E9C21D}"/>
              </a:ext>
            </a:extLst>
          </p:cNvPr>
          <p:cNvSpPr/>
          <p:nvPr/>
        </p:nvSpPr>
        <p:spPr>
          <a:xfrm>
            <a:off x="333475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91" name="Shape 31">
            <a:extLst>
              <a:ext uri="{FF2B5EF4-FFF2-40B4-BE49-F238E27FC236}">
                <a16:creationId xmlns:a16="http://schemas.microsoft.com/office/drawing/2014/main" id="{3ECC5DD0-1593-14F4-CE83-E996526D1F30}"/>
              </a:ext>
            </a:extLst>
          </p:cNvPr>
          <p:cNvSpPr/>
          <p:nvPr/>
        </p:nvSpPr>
        <p:spPr>
          <a:xfrm>
            <a:off x="342619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再ナーチャ開始</a:t>
            </a:r>
            <a:endParaRPr lang="en-US" altLang="ja-JP" sz="700" dirty="0">
              <a:latin typeface="メイリオ" panose="020B0604030504040204" pitchFamily="50" charset="-128"/>
              <a:ea typeface="メイリオ" panose="020B0604030504040204" pitchFamily="50" charset="-128"/>
            </a:endParaRPr>
          </a:p>
        </p:txBody>
      </p:sp>
      <p:sp>
        <p:nvSpPr>
          <p:cNvPr id="295" name="Shape 33">
            <a:extLst>
              <a:ext uri="{FF2B5EF4-FFF2-40B4-BE49-F238E27FC236}">
                <a16:creationId xmlns:a16="http://schemas.microsoft.com/office/drawing/2014/main" id="{82289F46-2DD5-5C3A-3C48-00C24CA11CB0}"/>
              </a:ext>
            </a:extLst>
          </p:cNvPr>
          <p:cNvSpPr/>
          <p:nvPr/>
        </p:nvSpPr>
        <p:spPr>
          <a:xfrm>
            <a:off x="603747"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9" name="Shape 35">
            <a:extLst>
              <a:ext uri="{FF2B5EF4-FFF2-40B4-BE49-F238E27FC236}">
                <a16:creationId xmlns:a16="http://schemas.microsoft.com/office/drawing/2014/main" id="{24455EB4-1D48-DB00-C3B3-680CAE5E3D80}"/>
              </a:ext>
            </a:extLst>
          </p:cNvPr>
          <p:cNvSpPr/>
          <p:nvPr/>
        </p:nvSpPr>
        <p:spPr>
          <a:xfrm>
            <a:off x="713475"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1" name="Text 36">
            <a:extLst>
              <a:ext uri="{FF2B5EF4-FFF2-40B4-BE49-F238E27FC236}">
                <a16:creationId xmlns:a16="http://schemas.microsoft.com/office/drawing/2014/main" id="{CB2D1291-F43D-C666-8910-F82EACBD2188}"/>
              </a:ext>
            </a:extLst>
          </p:cNvPr>
          <p:cNvSpPr/>
          <p:nvPr/>
        </p:nvSpPr>
        <p:spPr>
          <a:xfrm>
            <a:off x="713475"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3" name="Shape 37">
            <a:extLst>
              <a:ext uri="{FF2B5EF4-FFF2-40B4-BE49-F238E27FC236}">
                <a16:creationId xmlns:a16="http://schemas.microsoft.com/office/drawing/2014/main" id="{1F29E0C9-C40D-4D78-5118-4ECCEB313DBE}"/>
              </a:ext>
            </a:extLst>
          </p:cNvPr>
          <p:cNvSpPr/>
          <p:nvPr/>
        </p:nvSpPr>
        <p:spPr>
          <a:xfrm>
            <a:off x="1060947" y="3235911"/>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05" name="Text 38">
            <a:extLst>
              <a:ext uri="{FF2B5EF4-FFF2-40B4-BE49-F238E27FC236}">
                <a16:creationId xmlns:a16="http://schemas.microsoft.com/office/drawing/2014/main" id="{1FD30953-D12F-98F2-00A8-937392AB3DC2}"/>
              </a:ext>
            </a:extLst>
          </p:cNvPr>
          <p:cNvSpPr/>
          <p:nvPr/>
        </p:nvSpPr>
        <p:spPr>
          <a:xfrm>
            <a:off x="1060947" y="3217623"/>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モーメント活用</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7" name="Text 39">
            <a:extLst>
              <a:ext uri="{FF2B5EF4-FFF2-40B4-BE49-F238E27FC236}">
                <a16:creationId xmlns:a16="http://schemas.microsoft.com/office/drawing/2014/main" id="{6A195358-D025-E7FE-2931-51A26C3E1674}"/>
              </a:ext>
            </a:extLst>
          </p:cNvPr>
          <p:cNvSpPr/>
          <p:nvPr/>
        </p:nvSpPr>
        <p:spPr>
          <a:xfrm>
            <a:off x="1975347" y="3217623"/>
            <a:ext cx="2907792"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季節・業界イベントに合わせた限定配信でCV喚起</a:t>
            </a:r>
            <a:endParaRPr lang="en-US" sz="1000" dirty="0">
              <a:latin typeface="メイリオ" panose="020B0604030504040204" pitchFamily="50" charset="-128"/>
              <a:ea typeface="メイリオ" panose="020B0604030504040204" pitchFamily="50" charset="-128"/>
            </a:endParaRPr>
          </a:p>
        </p:txBody>
      </p:sp>
      <p:sp>
        <p:nvSpPr>
          <p:cNvPr id="309" name="Text 40">
            <a:extLst>
              <a:ext uri="{FF2B5EF4-FFF2-40B4-BE49-F238E27FC236}">
                <a16:creationId xmlns:a16="http://schemas.microsoft.com/office/drawing/2014/main" id="{E5DC2BC8-3C7E-A26E-2F0A-55D95A140AE0}"/>
              </a:ext>
            </a:extLst>
          </p:cNvPr>
          <p:cNvSpPr/>
          <p:nvPr/>
        </p:nvSpPr>
        <p:spPr>
          <a:xfrm>
            <a:off x="713475"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「年末特別キャンペーン」「繁忙期前のご案内」など、ユーザーが動きやすいタイミングに合わせて配信。「今だから」という理由付けが未アクション層の行動を促す。</a:t>
            </a:r>
            <a:endParaRPr lang="en-US" sz="600" dirty="0">
              <a:latin typeface="メイリオ" panose="020B0604030504040204" pitchFamily="50" charset="-128"/>
              <a:ea typeface="メイリオ" panose="020B0604030504040204" pitchFamily="50" charset="-128"/>
            </a:endParaRPr>
          </a:p>
        </p:txBody>
      </p:sp>
      <p:sp>
        <p:nvSpPr>
          <p:cNvPr id="311" name="Shape 41">
            <a:extLst>
              <a:ext uri="{FF2B5EF4-FFF2-40B4-BE49-F238E27FC236}">
                <a16:creationId xmlns:a16="http://schemas.microsoft.com/office/drawing/2014/main" id="{0070C0BA-3D13-97EE-26A8-CE149AA4A04E}"/>
              </a:ext>
            </a:extLst>
          </p:cNvPr>
          <p:cNvSpPr/>
          <p:nvPr/>
        </p:nvSpPr>
        <p:spPr>
          <a:xfrm>
            <a:off x="695187"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2">
            <a:extLst>
              <a:ext uri="{FF2B5EF4-FFF2-40B4-BE49-F238E27FC236}">
                <a16:creationId xmlns:a16="http://schemas.microsoft.com/office/drawing/2014/main" id="{768D77C7-92A2-948E-DE3D-509594621085}"/>
              </a:ext>
            </a:extLst>
          </p:cNvPr>
          <p:cNvSpPr/>
          <p:nvPr/>
        </p:nvSpPr>
        <p:spPr>
          <a:xfrm>
            <a:off x="69518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イベント前3週</a:t>
            </a:r>
            <a:endParaRPr lang="en-US" sz="700" dirty="0">
              <a:latin typeface="メイリオ" panose="020B0604030504040204" pitchFamily="50" charset="-128"/>
              <a:ea typeface="メイリオ" panose="020B0604030504040204" pitchFamily="50" charset="-128"/>
            </a:endParaRPr>
          </a:p>
        </p:txBody>
      </p:sp>
      <p:sp>
        <p:nvSpPr>
          <p:cNvPr id="315" name="Shape 43">
            <a:extLst>
              <a:ext uri="{FF2B5EF4-FFF2-40B4-BE49-F238E27FC236}">
                <a16:creationId xmlns:a16="http://schemas.microsoft.com/office/drawing/2014/main" id="{8F66DE4C-D7A8-1BDB-39CF-66DEBA652EAD}"/>
              </a:ext>
            </a:extLst>
          </p:cNvPr>
          <p:cNvSpPr/>
          <p:nvPr/>
        </p:nvSpPr>
        <p:spPr>
          <a:xfrm>
            <a:off x="1969251"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7" name="Text 44">
            <a:extLst>
              <a:ext uri="{FF2B5EF4-FFF2-40B4-BE49-F238E27FC236}">
                <a16:creationId xmlns:a16="http://schemas.microsoft.com/office/drawing/2014/main" id="{2305B67B-4CE8-2127-6CE4-351EB11A2BDC}"/>
              </a:ext>
            </a:extLst>
          </p:cNvPr>
          <p:cNvSpPr/>
          <p:nvPr/>
        </p:nvSpPr>
        <p:spPr>
          <a:xfrm>
            <a:off x="1969251"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9" name="Shape 45">
            <a:extLst>
              <a:ext uri="{FF2B5EF4-FFF2-40B4-BE49-F238E27FC236}">
                <a16:creationId xmlns:a16="http://schemas.microsoft.com/office/drawing/2014/main" id="{28045CD1-3B2D-EC7B-E972-FDF6398513D4}"/>
              </a:ext>
            </a:extLst>
          </p:cNvPr>
          <p:cNvSpPr/>
          <p:nvPr/>
        </p:nvSpPr>
        <p:spPr>
          <a:xfrm>
            <a:off x="2060691"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100" b="1">
                <a:solidFill>
                  <a:srgbClr val="FFFFFF"/>
                </a:solidFill>
                <a:latin typeface="メイリオ" panose="020B0604030504040204" pitchFamily="50" charset="-128"/>
                <a:ea typeface="メイリオ" panose="020B0604030504040204" pitchFamily="50" charset="-128"/>
                <a:cs typeface="Calibri" pitchFamily="34" charset="-120"/>
              </a:rPr>
              <a:t>限定オファー配信</a:t>
            </a:r>
            <a:endParaRPr lang="en-US" altLang="ja-JP" sz="700" dirty="0">
              <a:latin typeface="メイリオ" panose="020B0604030504040204" pitchFamily="50" charset="-128"/>
              <a:ea typeface="メイリオ" panose="020B0604030504040204" pitchFamily="50" charset="-128"/>
            </a:endParaRPr>
          </a:p>
        </p:txBody>
      </p:sp>
      <p:sp>
        <p:nvSpPr>
          <p:cNvPr id="323" name="Shape 47">
            <a:extLst>
              <a:ext uri="{FF2B5EF4-FFF2-40B4-BE49-F238E27FC236}">
                <a16:creationId xmlns:a16="http://schemas.microsoft.com/office/drawing/2014/main" id="{91BB8E57-FE8E-A082-C6EE-88B56532C6FC}"/>
              </a:ext>
            </a:extLst>
          </p:cNvPr>
          <p:cNvSpPr/>
          <p:nvPr/>
        </p:nvSpPr>
        <p:spPr>
          <a:xfrm>
            <a:off x="333475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5" name="Text 48">
            <a:extLst>
              <a:ext uri="{FF2B5EF4-FFF2-40B4-BE49-F238E27FC236}">
                <a16:creationId xmlns:a16="http://schemas.microsoft.com/office/drawing/2014/main" id="{56A5766B-A3BD-2EE9-DB90-A95ABA8474AA}"/>
              </a:ext>
            </a:extLst>
          </p:cNvPr>
          <p:cNvSpPr/>
          <p:nvPr/>
        </p:nvSpPr>
        <p:spPr>
          <a:xfrm>
            <a:off x="333475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7" name="Shape 49">
            <a:extLst>
              <a:ext uri="{FF2B5EF4-FFF2-40B4-BE49-F238E27FC236}">
                <a16:creationId xmlns:a16="http://schemas.microsoft.com/office/drawing/2014/main" id="{D9B75229-E701-C66D-A2EB-914F33FC7A38}"/>
              </a:ext>
            </a:extLst>
          </p:cNvPr>
          <p:cNvSpPr/>
          <p:nvPr/>
        </p:nvSpPr>
        <p:spPr>
          <a:xfrm>
            <a:off x="3426195"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altLang="ja-JP" sz="700" dirty="0">
              <a:latin typeface="メイリオ" panose="020B0604030504040204" pitchFamily="50" charset="-128"/>
              <a:ea typeface="メイリオ" panose="020B0604030504040204" pitchFamily="50" charset="-128"/>
            </a:endParaRPr>
          </a:p>
        </p:txBody>
      </p:sp>
      <p:sp>
        <p:nvSpPr>
          <p:cNvPr id="331" name="Shape 51">
            <a:extLst>
              <a:ext uri="{FF2B5EF4-FFF2-40B4-BE49-F238E27FC236}">
                <a16:creationId xmlns:a16="http://schemas.microsoft.com/office/drawing/2014/main" id="{22A4D85B-1CBD-0995-DA90-60C14D83ECE6}"/>
              </a:ext>
            </a:extLst>
          </p:cNvPr>
          <p:cNvSpPr/>
          <p:nvPr/>
        </p:nvSpPr>
        <p:spPr>
          <a:xfrm>
            <a:off x="603747" y="4665236"/>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5" name="Shape 53">
            <a:extLst>
              <a:ext uri="{FF2B5EF4-FFF2-40B4-BE49-F238E27FC236}">
                <a16:creationId xmlns:a16="http://schemas.microsoft.com/office/drawing/2014/main" id="{0EFDA52C-6BD8-EC2C-8042-989867BEE007}"/>
              </a:ext>
            </a:extLst>
          </p:cNvPr>
          <p:cNvSpPr/>
          <p:nvPr/>
        </p:nvSpPr>
        <p:spPr>
          <a:xfrm>
            <a:off x="713475" y="4756676"/>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7" name="Text 54">
            <a:extLst>
              <a:ext uri="{FF2B5EF4-FFF2-40B4-BE49-F238E27FC236}">
                <a16:creationId xmlns:a16="http://schemas.microsoft.com/office/drawing/2014/main" id="{1A38F7F4-D85C-3C2E-52E8-1DA18687D157}"/>
              </a:ext>
            </a:extLst>
          </p:cNvPr>
          <p:cNvSpPr/>
          <p:nvPr/>
        </p:nvSpPr>
        <p:spPr>
          <a:xfrm>
            <a:off x="713475" y="4765128"/>
            <a:ext cx="274320" cy="274320"/>
          </a:xfrm>
          <a:prstGeom prst="rect">
            <a:avLst/>
          </a:prstGeom>
          <a:noFill/>
          <a:ln>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9" name="Shape 55">
            <a:extLst>
              <a:ext uri="{FF2B5EF4-FFF2-40B4-BE49-F238E27FC236}">
                <a16:creationId xmlns:a16="http://schemas.microsoft.com/office/drawing/2014/main" id="{67EE7C45-7156-71ED-275F-D3D0B62D6390}"/>
              </a:ext>
            </a:extLst>
          </p:cNvPr>
          <p:cNvSpPr/>
          <p:nvPr/>
        </p:nvSpPr>
        <p:spPr>
          <a:xfrm>
            <a:off x="1060947" y="4729244"/>
            <a:ext cx="859536" cy="256032"/>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再スクリーニング</a:t>
            </a:r>
          </a:p>
        </p:txBody>
      </p:sp>
      <p:sp>
        <p:nvSpPr>
          <p:cNvPr id="343" name="Text 57">
            <a:extLst>
              <a:ext uri="{FF2B5EF4-FFF2-40B4-BE49-F238E27FC236}">
                <a16:creationId xmlns:a16="http://schemas.microsoft.com/office/drawing/2014/main" id="{3D038977-48FB-088C-1A4C-879420FF6CE5}"/>
              </a:ext>
            </a:extLst>
          </p:cNvPr>
          <p:cNvSpPr/>
          <p:nvPr/>
        </p:nvSpPr>
        <p:spPr>
          <a:xfrm>
            <a:off x="1975347"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現在の状況確認アンケートで温度感を再把握</a:t>
            </a:r>
            <a:endParaRPr lang="en-US" sz="1000" dirty="0">
              <a:latin typeface="メイリオ" panose="020B0604030504040204" pitchFamily="50" charset="-128"/>
              <a:ea typeface="メイリオ" panose="020B0604030504040204" pitchFamily="50" charset="-128"/>
            </a:endParaRPr>
          </a:p>
        </p:txBody>
      </p:sp>
      <p:sp>
        <p:nvSpPr>
          <p:cNvPr id="345" name="Text 58">
            <a:extLst>
              <a:ext uri="{FF2B5EF4-FFF2-40B4-BE49-F238E27FC236}">
                <a16:creationId xmlns:a16="http://schemas.microsoft.com/office/drawing/2014/main" id="{1DCE3801-724B-70B8-6043-4AE707933047}"/>
              </a:ext>
            </a:extLst>
          </p:cNvPr>
          <p:cNvSpPr/>
          <p:nvPr/>
        </p:nvSpPr>
        <p:spPr>
          <a:xfrm>
            <a:off x="713475"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「現在の状況を教えてください（3問）」を配信。「検討中」「他社比較中」「まだ先」に応じてシナリオを分岐させ、各層に最適なコンテンツを配信する。</a:t>
            </a:r>
            <a:endParaRPr lang="en-US" sz="600" dirty="0">
              <a:latin typeface="メイリオ" panose="020B0604030504040204" pitchFamily="50" charset="-128"/>
              <a:ea typeface="メイリオ" panose="020B0604030504040204" pitchFamily="50" charset="-128"/>
            </a:endParaRPr>
          </a:p>
        </p:txBody>
      </p:sp>
      <p:sp>
        <p:nvSpPr>
          <p:cNvPr id="347" name="Shape 59">
            <a:extLst>
              <a:ext uri="{FF2B5EF4-FFF2-40B4-BE49-F238E27FC236}">
                <a16:creationId xmlns:a16="http://schemas.microsoft.com/office/drawing/2014/main" id="{153BB988-9655-425D-2D4F-44E89C57F2F5}"/>
              </a:ext>
            </a:extLst>
          </p:cNvPr>
          <p:cNvSpPr/>
          <p:nvPr/>
        </p:nvSpPr>
        <p:spPr>
          <a:xfrm>
            <a:off x="695187"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0">
            <a:extLst>
              <a:ext uri="{FF2B5EF4-FFF2-40B4-BE49-F238E27FC236}">
                <a16:creationId xmlns:a16="http://schemas.microsoft.com/office/drawing/2014/main" id="{CD7CE35E-3AD0-5FAC-435B-4694E9133E17}"/>
              </a:ext>
            </a:extLst>
          </p:cNvPr>
          <p:cNvSpPr/>
          <p:nvPr/>
        </p:nvSpPr>
        <p:spPr>
          <a:xfrm>
            <a:off x="69518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3問配信</a:t>
            </a:r>
            <a:endParaRPr lang="en-US" sz="700" dirty="0">
              <a:latin typeface="メイリオ" panose="020B0604030504040204" pitchFamily="50" charset="-128"/>
              <a:ea typeface="メイリオ" panose="020B0604030504040204" pitchFamily="50" charset="-128"/>
            </a:endParaRPr>
          </a:p>
        </p:txBody>
      </p:sp>
      <p:sp>
        <p:nvSpPr>
          <p:cNvPr id="351" name="Shape 61">
            <a:extLst>
              <a:ext uri="{FF2B5EF4-FFF2-40B4-BE49-F238E27FC236}">
                <a16:creationId xmlns:a16="http://schemas.microsoft.com/office/drawing/2014/main" id="{DFAA349E-29DE-1759-4B7A-492F6D87018D}"/>
              </a:ext>
            </a:extLst>
          </p:cNvPr>
          <p:cNvSpPr/>
          <p:nvPr/>
        </p:nvSpPr>
        <p:spPr>
          <a:xfrm>
            <a:off x="1969251"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2">
            <a:extLst>
              <a:ext uri="{FF2B5EF4-FFF2-40B4-BE49-F238E27FC236}">
                <a16:creationId xmlns:a16="http://schemas.microsoft.com/office/drawing/2014/main" id="{B5184D6B-2A05-C57D-1F26-E41EB297B5B8}"/>
              </a:ext>
            </a:extLst>
          </p:cNvPr>
          <p:cNvSpPr/>
          <p:nvPr/>
        </p:nvSpPr>
        <p:spPr>
          <a:xfrm>
            <a:off x="1969251"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5" name="Shape 63">
            <a:extLst>
              <a:ext uri="{FF2B5EF4-FFF2-40B4-BE49-F238E27FC236}">
                <a16:creationId xmlns:a16="http://schemas.microsoft.com/office/drawing/2014/main" id="{1D19C5F8-3384-B358-0F6D-32AC93A34F7A}"/>
              </a:ext>
            </a:extLst>
          </p:cNvPr>
          <p:cNvSpPr/>
          <p:nvPr/>
        </p:nvSpPr>
        <p:spPr>
          <a:xfrm>
            <a:off x="206069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4">
            <a:extLst>
              <a:ext uri="{FF2B5EF4-FFF2-40B4-BE49-F238E27FC236}">
                <a16:creationId xmlns:a16="http://schemas.microsoft.com/office/drawing/2014/main" id="{AA99E733-4810-E0D8-954C-794B120B1798}"/>
              </a:ext>
            </a:extLst>
          </p:cNvPr>
          <p:cNvSpPr/>
          <p:nvPr/>
        </p:nvSpPr>
        <p:spPr>
          <a:xfrm>
            <a:off x="206069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状況把握</a:t>
            </a:r>
            <a:endParaRPr lang="en-US" sz="700" dirty="0">
              <a:latin typeface="メイリオ" panose="020B0604030504040204" pitchFamily="50" charset="-128"/>
              <a:ea typeface="メイリオ" panose="020B0604030504040204" pitchFamily="50" charset="-128"/>
            </a:endParaRPr>
          </a:p>
        </p:txBody>
      </p:sp>
      <p:sp>
        <p:nvSpPr>
          <p:cNvPr id="359" name="Shape 65">
            <a:extLst>
              <a:ext uri="{FF2B5EF4-FFF2-40B4-BE49-F238E27FC236}">
                <a16:creationId xmlns:a16="http://schemas.microsoft.com/office/drawing/2014/main" id="{E098D67B-D4FA-1F81-743A-A0EF2B8E894C}"/>
              </a:ext>
            </a:extLst>
          </p:cNvPr>
          <p:cNvSpPr/>
          <p:nvPr/>
        </p:nvSpPr>
        <p:spPr>
          <a:xfrm>
            <a:off x="3334755"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1" name="Text 66">
            <a:extLst>
              <a:ext uri="{FF2B5EF4-FFF2-40B4-BE49-F238E27FC236}">
                <a16:creationId xmlns:a16="http://schemas.microsoft.com/office/drawing/2014/main" id="{3A788ABA-1FAA-0E0C-477B-176A52F30D82}"/>
              </a:ext>
            </a:extLst>
          </p:cNvPr>
          <p:cNvSpPr/>
          <p:nvPr/>
        </p:nvSpPr>
        <p:spPr>
          <a:xfrm>
            <a:off x="3334755"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63" name="Shape 67">
            <a:extLst>
              <a:ext uri="{FF2B5EF4-FFF2-40B4-BE49-F238E27FC236}">
                <a16:creationId xmlns:a16="http://schemas.microsoft.com/office/drawing/2014/main" id="{2C82253D-F8B8-D14C-4626-9B78723DE539}"/>
              </a:ext>
            </a:extLst>
          </p:cNvPr>
          <p:cNvSpPr/>
          <p:nvPr/>
        </p:nvSpPr>
        <p:spPr>
          <a:xfrm>
            <a:off x="3426195"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5" name="Text 68">
            <a:extLst>
              <a:ext uri="{FF2B5EF4-FFF2-40B4-BE49-F238E27FC236}">
                <a16:creationId xmlns:a16="http://schemas.microsoft.com/office/drawing/2014/main" id="{5DD03071-2AEB-1384-0051-084B996E481D}"/>
              </a:ext>
            </a:extLst>
          </p:cNvPr>
          <p:cNvSpPr/>
          <p:nvPr/>
        </p:nvSpPr>
        <p:spPr>
          <a:xfrm>
            <a:off x="342619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シナリオ分岐</a:t>
            </a:r>
            <a:endParaRPr lang="en-US" sz="700" dirty="0">
              <a:latin typeface="メイリオ" panose="020B0604030504040204" pitchFamily="50" charset="-128"/>
              <a:ea typeface="メイリオ" panose="020B0604030504040204" pitchFamily="50" charset="-128"/>
            </a:endParaRPr>
          </a:p>
        </p:txBody>
      </p:sp>
      <p:sp>
        <p:nvSpPr>
          <p:cNvPr id="367" name="Shape 69">
            <a:extLst>
              <a:ext uri="{FF2B5EF4-FFF2-40B4-BE49-F238E27FC236}">
                <a16:creationId xmlns:a16="http://schemas.microsoft.com/office/drawing/2014/main" id="{F329F47A-44ED-4B04-F04D-56BC913CF99F}"/>
              </a:ext>
            </a:extLst>
          </p:cNvPr>
          <p:cNvSpPr/>
          <p:nvPr/>
        </p:nvSpPr>
        <p:spPr>
          <a:xfrm>
            <a:off x="5047731"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1" name="Shape 71">
            <a:extLst>
              <a:ext uri="{FF2B5EF4-FFF2-40B4-BE49-F238E27FC236}">
                <a16:creationId xmlns:a16="http://schemas.microsoft.com/office/drawing/2014/main" id="{BA1D3F46-451A-2E85-599A-900433C193B8}"/>
              </a:ext>
            </a:extLst>
          </p:cNvPr>
          <p:cNvSpPr/>
          <p:nvPr/>
        </p:nvSpPr>
        <p:spPr>
          <a:xfrm>
            <a:off x="5157459"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3" name="Text 72">
            <a:extLst>
              <a:ext uri="{FF2B5EF4-FFF2-40B4-BE49-F238E27FC236}">
                <a16:creationId xmlns:a16="http://schemas.microsoft.com/office/drawing/2014/main" id="{8BCF6B4A-374A-B6D9-3EF4-5AE1A778DE73}"/>
              </a:ext>
            </a:extLst>
          </p:cNvPr>
          <p:cNvSpPr/>
          <p:nvPr/>
        </p:nvSpPr>
        <p:spPr>
          <a:xfrm>
            <a:off x="5157459"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5" name="Shape 73">
            <a:extLst>
              <a:ext uri="{FF2B5EF4-FFF2-40B4-BE49-F238E27FC236}">
                <a16:creationId xmlns:a16="http://schemas.microsoft.com/office/drawing/2014/main" id="{9F918316-F2DF-A22A-C6CB-01F22910720D}"/>
              </a:ext>
            </a:extLst>
          </p:cNvPr>
          <p:cNvSpPr/>
          <p:nvPr/>
        </p:nvSpPr>
        <p:spPr>
          <a:xfrm>
            <a:off x="5504931" y="1690504"/>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77" name="Text 74">
            <a:extLst>
              <a:ext uri="{FF2B5EF4-FFF2-40B4-BE49-F238E27FC236}">
                <a16:creationId xmlns:a16="http://schemas.microsoft.com/office/drawing/2014/main" id="{1C57608E-D0D9-DD5B-8ED8-37BB302AB673}"/>
              </a:ext>
            </a:extLst>
          </p:cNvPr>
          <p:cNvSpPr/>
          <p:nvPr/>
        </p:nvSpPr>
        <p:spPr>
          <a:xfrm>
            <a:off x="5504931"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失注リスト</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9" name="Text 75">
            <a:extLst>
              <a:ext uri="{FF2B5EF4-FFF2-40B4-BE49-F238E27FC236}">
                <a16:creationId xmlns:a16="http://schemas.microsoft.com/office/drawing/2014/main" id="{2DAFDF0B-346B-15F4-BEBF-857C67E91ED9}"/>
              </a:ext>
            </a:extLst>
          </p:cNvPr>
          <p:cNvSpPr/>
          <p:nvPr/>
        </p:nvSpPr>
        <p:spPr>
          <a:xfrm>
            <a:off x="6419331" y="1672216"/>
            <a:ext cx="3017520" cy="256032"/>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失注・辞退ユーザーへ「その後</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どう</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ですか</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？」配信</a:t>
            </a:r>
            <a:endParaRPr lang="en-US" sz="1000" dirty="0">
              <a:latin typeface="メイリオ" panose="020B0604030504040204" pitchFamily="50" charset="-128"/>
              <a:ea typeface="メイリオ" panose="020B0604030504040204" pitchFamily="50" charset="-128"/>
            </a:endParaRPr>
          </a:p>
        </p:txBody>
      </p:sp>
      <p:sp>
        <p:nvSpPr>
          <p:cNvPr id="381" name="Text 76">
            <a:extLst>
              <a:ext uri="{FF2B5EF4-FFF2-40B4-BE49-F238E27FC236}">
                <a16:creationId xmlns:a16="http://schemas.microsoft.com/office/drawing/2014/main" id="{0AF5CE2E-2255-A788-F029-07167611F1A8}"/>
              </a:ext>
            </a:extLst>
          </p:cNvPr>
          <p:cNvSpPr/>
          <p:nvPr/>
        </p:nvSpPr>
        <p:spPr>
          <a:xfrm>
            <a:off x="5157459"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過去に問い合わせしたが未申込の層に、3〜6ヶ月後を目安に再接触。「新しいプランができました」「条件が改善されました」という切り口が再CVに有効。</a:t>
            </a:r>
            <a:endParaRPr lang="en-US" sz="600" dirty="0">
              <a:latin typeface="メイリオ" panose="020B0604030504040204" pitchFamily="50" charset="-128"/>
              <a:ea typeface="メイリオ" panose="020B0604030504040204" pitchFamily="50" charset="-128"/>
            </a:endParaRPr>
          </a:p>
        </p:txBody>
      </p:sp>
      <p:sp>
        <p:nvSpPr>
          <p:cNvPr id="383" name="Shape 77">
            <a:extLst>
              <a:ext uri="{FF2B5EF4-FFF2-40B4-BE49-F238E27FC236}">
                <a16:creationId xmlns:a16="http://schemas.microsoft.com/office/drawing/2014/main" id="{4E4B79B4-719F-E82E-34BC-1FDB6969E4DA}"/>
              </a:ext>
            </a:extLst>
          </p:cNvPr>
          <p:cNvSpPr/>
          <p:nvPr/>
        </p:nvSpPr>
        <p:spPr>
          <a:xfrm>
            <a:off x="5139171"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78">
            <a:extLst>
              <a:ext uri="{FF2B5EF4-FFF2-40B4-BE49-F238E27FC236}">
                <a16:creationId xmlns:a16="http://schemas.microsoft.com/office/drawing/2014/main" id="{5AD0E7CC-7987-CDC0-51C0-C45C57A162F8}"/>
              </a:ext>
            </a:extLst>
          </p:cNvPr>
          <p:cNvSpPr/>
          <p:nvPr/>
        </p:nvSpPr>
        <p:spPr>
          <a:xfrm>
            <a:off x="5139171"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失注後3〜6ヶ月</a:t>
            </a:r>
            <a:endParaRPr lang="en-US" sz="700" dirty="0">
              <a:latin typeface="メイリオ" panose="020B0604030504040204" pitchFamily="50" charset="-128"/>
              <a:ea typeface="メイリオ" panose="020B0604030504040204" pitchFamily="50" charset="-128"/>
            </a:endParaRPr>
          </a:p>
        </p:txBody>
      </p:sp>
      <p:sp>
        <p:nvSpPr>
          <p:cNvPr id="387" name="Shape 79">
            <a:extLst>
              <a:ext uri="{FF2B5EF4-FFF2-40B4-BE49-F238E27FC236}">
                <a16:creationId xmlns:a16="http://schemas.microsoft.com/office/drawing/2014/main" id="{F0421E50-A8C1-66B8-6E6F-D74D7601A19C}"/>
              </a:ext>
            </a:extLst>
          </p:cNvPr>
          <p:cNvSpPr/>
          <p:nvPr/>
        </p:nvSpPr>
        <p:spPr>
          <a:xfrm>
            <a:off x="6413235"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9" name="Text 80">
            <a:extLst>
              <a:ext uri="{FF2B5EF4-FFF2-40B4-BE49-F238E27FC236}">
                <a16:creationId xmlns:a16="http://schemas.microsoft.com/office/drawing/2014/main" id="{65A5B5BF-4145-BBC7-EEE4-1712EFD3CF93}"/>
              </a:ext>
            </a:extLst>
          </p:cNvPr>
          <p:cNvSpPr/>
          <p:nvPr/>
        </p:nvSpPr>
        <p:spPr>
          <a:xfrm>
            <a:off x="6413235"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1" name="Shape 81">
            <a:extLst>
              <a:ext uri="{FF2B5EF4-FFF2-40B4-BE49-F238E27FC236}">
                <a16:creationId xmlns:a16="http://schemas.microsoft.com/office/drawing/2014/main" id="{9EA3BBF7-3315-16D0-DC9B-BE1C67242EA7}"/>
              </a:ext>
            </a:extLst>
          </p:cNvPr>
          <p:cNvSpPr/>
          <p:nvPr/>
        </p:nvSpPr>
        <p:spPr>
          <a:xfrm>
            <a:off x="65046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状況再確認配信</a:t>
            </a:r>
            <a:endParaRPr lang="en-US" altLang="ja-JP" sz="700" dirty="0">
              <a:latin typeface="メイリオ" panose="020B0604030504040204" pitchFamily="50" charset="-128"/>
              <a:ea typeface="メイリオ" panose="020B0604030504040204" pitchFamily="50" charset="-128"/>
            </a:endParaRPr>
          </a:p>
        </p:txBody>
      </p:sp>
      <p:sp>
        <p:nvSpPr>
          <p:cNvPr id="395" name="Shape 83">
            <a:extLst>
              <a:ext uri="{FF2B5EF4-FFF2-40B4-BE49-F238E27FC236}">
                <a16:creationId xmlns:a16="http://schemas.microsoft.com/office/drawing/2014/main" id="{DC049964-E96C-C1BF-7C7A-F15300037114}"/>
              </a:ext>
            </a:extLst>
          </p:cNvPr>
          <p:cNvSpPr/>
          <p:nvPr/>
        </p:nvSpPr>
        <p:spPr>
          <a:xfrm>
            <a:off x="77787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7" name="Text 84">
            <a:extLst>
              <a:ext uri="{FF2B5EF4-FFF2-40B4-BE49-F238E27FC236}">
                <a16:creationId xmlns:a16="http://schemas.microsoft.com/office/drawing/2014/main" id="{51EFCC51-0F78-4F8D-C532-B98FB0AF559F}"/>
              </a:ext>
            </a:extLst>
          </p:cNvPr>
          <p:cNvSpPr/>
          <p:nvPr/>
        </p:nvSpPr>
        <p:spPr>
          <a:xfrm>
            <a:off x="77787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9" name="Shape 85">
            <a:extLst>
              <a:ext uri="{FF2B5EF4-FFF2-40B4-BE49-F238E27FC236}">
                <a16:creationId xmlns:a16="http://schemas.microsoft.com/office/drawing/2014/main" id="{58F818F9-0832-56EA-F61B-C4AA37B01F57}"/>
              </a:ext>
            </a:extLst>
          </p:cNvPr>
          <p:cNvSpPr/>
          <p:nvPr/>
        </p:nvSpPr>
        <p:spPr>
          <a:xfrm>
            <a:off x="7870179" y="2621391"/>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1" name="Text 86">
            <a:extLst>
              <a:ext uri="{FF2B5EF4-FFF2-40B4-BE49-F238E27FC236}">
                <a16:creationId xmlns:a16="http://schemas.microsoft.com/office/drawing/2014/main" id="{9B117C4F-B6A8-E365-C69E-36D76F40D869}"/>
              </a:ext>
            </a:extLst>
          </p:cNvPr>
          <p:cNvSpPr/>
          <p:nvPr/>
        </p:nvSpPr>
        <p:spPr>
          <a:xfrm>
            <a:off x="78701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再CV誘導</a:t>
            </a:r>
            <a:endParaRPr lang="en-US" sz="700" dirty="0">
              <a:latin typeface="メイリオ" panose="020B0604030504040204" pitchFamily="50" charset="-128"/>
              <a:ea typeface="メイリオ" panose="020B0604030504040204" pitchFamily="50" charset="-128"/>
            </a:endParaRPr>
          </a:p>
        </p:txBody>
      </p:sp>
      <p:sp>
        <p:nvSpPr>
          <p:cNvPr id="403" name="Shape 87">
            <a:extLst>
              <a:ext uri="{FF2B5EF4-FFF2-40B4-BE49-F238E27FC236}">
                <a16:creationId xmlns:a16="http://schemas.microsoft.com/office/drawing/2014/main" id="{5F6AFF3E-D4D9-71AD-93DC-B81C9B4D82B7}"/>
              </a:ext>
            </a:extLst>
          </p:cNvPr>
          <p:cNvSpPr/>
          <p:nvPr/>
        </p:nvSpPr>
        <p:spPr>
          <a:xfrm>
            <a:off x="5047731" y="311507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7" name="Shape 89">
            <a:extLst>
              <a:ext uri="{FF2B5EF4-FFF2-40B4-BE49-F238E27FC236}">
                <a16:creationId xmlns:a16="http://schemas.microsoft.com/office/drawing/2014/main" id="{D1B45F88-544D-FBED-408C-8209CA691AC8}"/>
              </a:ext>
            </a:extLst>
          </p:cNvPr>
          <p:cNvSpPr/>
          <p:nvPr/>
        </p:nvSpPr>
        <p:spPr>
          <a:xfrm>
            <a:off x="5157459" y="320651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9" name="Text 90">
            <a:extLst>
              <a:ext uri="{FF2B5EF4-FFF2-40B4-BE49-F238E27FC236}">
                <a16:creationId xmlns:a16="http://schemas.microsoft.com/office/drawing/2014/main" id="{592A9BD1-F0B8-60E4-8129-402CDDB4073D}"/>
              </a:ext>
            </a:extLst>
          </p:cNvPr>
          <p:cNvSpPr/>
          <p:nvPr/>
        </p:nvSpPr>
        <p:spPr>
          <a:xfrm>
            <a:off x="5157459" y="3218704"/>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13" name="Text 92">
            <a:extLst>
              <a:ext uri="{FF2B5EF4-FFF2-40B4-BE49-F238E27FC236}">
                <a16:creationId xmlns:a16="http://schemas.microsoft.com/office/drawing/2014/main" id="{1B276E55-4348-C44C-DC53-C0E12FAE38EA}"/>
              </a:ext>
            </a:extLst>
          </p:cNvPr>
          <p:cNvSpPr/>
          <p:nvPr/>
        </p:nvSpPr>
        <p:spPr>
          <a:xfrm>
            <a:off x="5504931" y="3233944"/>
            <a:ext cx="859536" cy="201168"/>
          </a:xfrm>
          <a:prstGeom prst="rect">
            <a:avLst/>
          </a:prstGeom>
          <a:noFill/>
          <a:ln/>
        </p:spPr>
        <p:txBody>
          <a:bodyPr wrap="square" lIns="0" tIns="0" rIns="0" bIns="0" rtlCol="0" anchor="ctr"/>
          <a:lstStyle/>
          <a:p>
            <a:pPr marL="0" indent="0" algn="ctr">
              <a:buNone/>
            </a:pPr>
            <a:endParaRPr lang="en-US" sz="500" dirty="0">
              <a:latin typeface="メイリオ" panose="020B0604030504040204" pitchFamily="50" charset="-128"/>
              <a:ea typeface="メイリオ" panose="020B0604030504040204" pitchFamily="50" charset="-128"/>
            </a:endParaRPr>
          </a:p>
        </p:txBody>
      </p:sp>
      <p:sp>
        <p:nvSpPr>
          <p:cNvPr id="415" name="Text 93">
            <a:extLst>
              <a:ext uri="{FF2B5EF4-FFF2-40B4-BE49-F238E27FC236}">
                <a16:creationId xmlns:a16="http://schemas.microsoft.com/office/drawing/2014/main" id="{80CB45ED-8383-FD42-4282-965B68B36BF6}"/>
              </a:ext>
            </a:extLst>
          </p:cNvPr>
          <p:cNvSpPr/>
          <p:nvPr/>
        </p:nvSpPr>
        <p:spPr>
          <a:xfrm>
            <a:off x="6419331"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カゴ落ち・問い合わせのみ層へのリマインド配信</a:t>
            </a:r>
            <a:endParaRPr lang="en-US" sz="1000" dirty="0">
              <a:latin typeface="メイリオ" panose="020B0604030504040204" pitchFamily="50" charset="-128"/>
              <a:ea typeface="メイリオ" panose="020B0604030504040204" pitchFamily="50" charset="-128"/>
            </a:endParaRPr>
          </a:p>
        </p:txBody>
      </p:sp>
      <p:sp>
        <p:nvSpPr>
          <p:cNvPr id="417" name="Text 94">
            <a:extLst>
              <a:ext uri="{FF2B5EF4-FFF2-40B4-BE49-F238E27FC236}">
                <a16:creationId xmlns:a16="http://schemas.microsoft.com/office/drawing/2014/main" id="{AEF4A7E3-C254-08CE-C1D1-259691AA1AE0}"/>
              </a:ext>
            </a:extLst>
          </p:cNvPr>
          <p:cNvSpPr/>
          <p:nvPr/>
        </p:nvSpPr>
        <p:spPr>
          <a:xfrm>
            <a:off x="5157459"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資料請求・問い合わせのみで申込に至っていない層に特化したステップ配信を設計。「無料相談受付中」「今月末で受付終了」等のCTAで背中を押す。</a:t>
            </a:r>
            <a:endParaRPr lang="en-US" sz="600" dirty="0">
              <a:latin typeface="メイリオ" panose="020B0604030504040204" pitchFamily="50" charset="-128"/>
              <a:ea typeface="メイリオ" panose="020B0604030504040204" pitchFamily="50" charset="-128"/>
            </a:endParaRPr>
          </a:p>
        </p:txBody>
      </p:sp>
      <p:sp>
        <p:nvSpPr>
          <p:cNvPr id="419" name="Shape 95">
            <a:extLst>
              <a:ext uri="{FF2B5EF4-FFF2-40B4-BE49-F238E27FC236}">
                <a16:creationId xmlns:a16="http://schemas.microsoft.com/office/drawing/2014/main" id="{620086D7-B11A-B51E-6EBE-09AABF87761F}"/>
              </a:ext>
            </a:extLst>
          </p:cNvPr>
          <p:cNvSpPr/>
          <p:nvPr/>
        </p:nvSpPr>
        <p:spPr>
          <a:xfrm>
            <a:off x="5139171"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6">
            <a:extLst>
              <a:ext uri="{FF2B5EF4-FFF2-40B4-BE49-F238E27FC236}">
                <a16:creationId xmlns:a16="http://schemas.microsoft.com/office/drawing/2014/main" id="{0A5E544F-BFBF-5FCC-DE72-1F0EA2CD109F}"/>
              </a:ext>
            </a:extLst>
          </p:cNvPr>
          <p:cNvSpPr/>
          <p:nvPr/>
        </p:nvSpPr>
        <p:spPr>
          <a:xfrm>
            <a:off x="5139171"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行動履歴取得</a:t>
            </a:r>
            <a:endParaRPr lang="en-US" sz="700" dirty="0">
              <a:latin typeface="メイリオ" panose="020B0604030504040204" pitchFamily="50" charset="-128"/>
              <a:ea typeface="メイリオ" panose="020B0604030504040204" pitchFamily="50" charset="-128"/>
            </a:endParaRPr>
          </a:p>
        </p:txBody>
      </p:sp>
      <p:sp>
        <p:nvSpPr>
          <p:cNvPr id="423" name="Shape 97">
            <a:extLst>
              <a:ext uri="{FF2B5EF4-FFF2-40B4-BE49-F238E27FC236}">
                <a16:creationId xmlns:a16="http://schemas.microsoft.com/office/drawing/2014/main" id="{437F2371-56CA-9C8D-898A-5718BBBC16BD}"/>
              </a:ext>
            </a:extLst>
          </p:cNvPr>
          <p:cNvSpPr/>
          <p:nvPr/>
        </p:nvSpPr>
        <p:spPr>
          <a:xfrm>
            <a:off x="6413235"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5" name="Text 98">
            <a:extLst>
              <a:ext uri="{FF2B5EF4-FFF2-40B4-BE49-F238E27FC236}">
                <a16:creationId xmlns:a16="http://schemas.microsoft.com/office/drawing/2014/main" id="{F6BB9355-F36A-724C-0AF5-0A7D58041D0E}"/>
              </a:ext>
            </a:extLst>
          </p:cNvPr>
          <p:cNvSpPr/>
          <p:nvPr/>
        </p:nvSpPr>
        <p:spPr>
          <a:xfrm>
            <a:off x="6413235"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7" name="Shape 99">
            <a:extLst>
              <a:ext uri="{FF2B5EF4-FFF2-40B4-BE49-F238E27FC236}">
                <a16:creationId xmlns:a16="http://schemas.microsoft.com/office/drawing/2014/main" id="{A92E3EF4-24A4-2366-71A1-E5DDC1CAC6F2}"/>
              </a:ext>
            </a:extLst>
          </p:cNvPr>
          <p:cNvSpPr/>
          <p:nvPr/>
        </p:nvSpPr>
        <p:spPr>
          <a:xfrm>
            <a:off x="6504675"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0">
            <a:extLst>
              <a:ext uri="{FF2B5EF4-FFF2-40B4-BE49-F238E27FC236}">
                <a16:creationId xmlns:a16="http://schemas.microsoft.com/office/drawing/2014/main" id="{0D73681F-6C0D-7920-A565-AF64BA896102}"/>
              </a:ext>
            </a:extLst>
          </p:cNvPr>
          <p:cNvSpPr/>
          <p:nvPr/>
        </p:nvSpPr>
        <p:spPr>
          <a:xfrm>
            <a:off x="65046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リマインド配信</a:t>
            </a:r>
            <a:endParaRPr lang="en-US" sz="700" dirty="0">
              <a:latin typeface="メイリオ" panose="020B0604030504040204" pitchFamily="50" charset="-128"/>
              <a:ea typeface="メイリオ" panose="020B0604030504040204" pitchFamily="50" charset="-128"/>
            </a:endParaRPr>
          </a:p>
        </p:txBody>
      </p:sp>
      <p:sp>
        <p:nvSpPr>
          <p:cNvPr id="431" name="Shape 101">
            <a:extLst>
              <a:ext uri="{FF2B5EF4-FFF2-40B4-BE49-F238E27FC236}">
                <a16:creationId xmlns:a16="http://schemas.microsoft.com/office/drawing/2014/main" id="{3B3A64CC-6A13-370D-9373-AD0FB06E375E}"/>
              </a:ext>
            </a:extLst>
          </p:cNvPr>
          <p:cNvSpPr/>
          <p:nvPr/>
        </p:nvSpPr>
        <p:spPr>
          <a:xfrm>
            <a:off x="77787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3" name="Text 102">
            <a:extLst>
              <a:ext uri="{FF2B5EF4-FFF2-40B4-BE49-F238E27FC236}">
                <a16:creationId xmlns:a16="http://schemas.microsoft.com/office/drawing/2014/main" id="{4F5D5A55-D409-4FDA-49E0-1758FEAFEE48}"/>
              </a:ext>
            </a:extLst>
          </p:cNvPr>
          <p:cNvSpPr/>
          <p:nvPr/>
        </p:nvSpPr>
        <p:spPr>
          <a:xfrm>
            <a:off x="77787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5" name="Shape 103">
            <a:extLst>
              <a:ext uri="{FF2B5EF4-FFF2-40B4-BE49-F238E27FC236}">
                <a16:creationId xmlns:a16="http://schemas.microsoft.com/office/drawing/2014/main" id="{E0FBF11F-8E0A-C526-CF1A-16BB189BC592}"/>
              </a:ext>
            </a:extLst>
          </p:cNvPr>
          <p:cNvSpPr/>
          <p:nvPr/>
        </p:nvSpPr>
        <p:spPr>
          <a:xfrm>
            <a:off x="7870179" y="4158910"/>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7" name="Text 104">
            <a:extLst>
              <a:ext uri="{FF2B5EF4-FFF2-40B4-BE49-F238E27FC236}">
                <a16:creationId xmlns:a16="http://schemas.microsoft.com/office/drawing/2014/main" id="{35AF2962-900D-E7A7-6796-0642679811B9}"/>
              </a:ext>
            </a:extLst>
          </p:cNvPr>
          <p:cNvSpPr/>
          <p:nvPr/>
        </p:nvSpPr>
        <p:spPr>
          <a:xfrm>
            <a:off x="787017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最終CVオファー</a:t>
            </a:r>
            <a:endParaRPr lang="en-US" sz="700" dirty="0">
              <a:latin typeface="メイリオ" panose="020B0604030504040204" pitchFamily="50" charset="-128"/>
              <a:ea typeface="メイリオ" panose="020B0604030504040204" pitchFamily="50" charset="-128"/>
            </a:endParaRPr>
          </a:p>
        </p:txBody>
      </p:sp>
      <p:sp>
        <p:nvSpPr>
          <p:cNvPr id="439" name="Shape 105">
            <a:extLst>
              <a:ext uri="{FF2B5EF4-FFF2-40B4-BE49-F238E27FC236}">
                <a16:creationId xmlns:a16="http://schemas.microsoft.com/office/drawing/2014/main" id="{991461E6-A613-71C0-FEED-105A9B53A82F}"/>
              </a:ext>
            </a:extLst>
          </p:cNvPr>
          <p:cNvSpPr/>
          <p:nvPr/>
        </p:nvSpPr>
        <p:spPr>
          <a:xfrm>
            <a:off x="5047731"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3" name="Shape 107">
            <a:extLst>
              <a:ext uri="{FF2B5EF4-FFF2-40B4-BE49-F238E27FC236}">
                <a16:creationId xmlns:a16="http://schemas.microsoft.com/office/drawing/2014/main" id="{B151BD68-31EC-2062-2399-27CE0A52BCDA}"/>
              </a:ext>
            </a:extLst>
          </p:cNvPr>
          <p:cNvSpPr/>
          <p:nvPr/>
        </p:nvSpPr>
        <p:spPr>
          <a:xfrm>
            <a:off x="5157459"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5" name="Text 108">
            <a:extLst>
              <a:ext uri="{FF2B5EF4-FFF2-40B4-BE49-F238E27FC236}">
                <a16:creationId xmlns:a16="http://schemas.microsoft.com/office/drawing/2014/main" id="{2838910A-123C-E9FE-5AF1-45001B06EE8A}"/>
              </a:ext>
            </a:extLst>
          </p:cNvPr>
          <p:cNvSpPr/>
          <p:nvPr/>
        </p:nvSpPr>
        <p:spPr>
          <a:xfrm>
            <a:off x="5157459"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7" name="Shape 109">
            <a:extLst>
              <a:ext uri="{FF2B5EF4-FFF2-40B4-BE49-F238E27FC236}">
                <a16:creationId xmlns:a16="http://schemas.microsoft.com/office/drawing/2014/main" id="{7AACC6BD-1A7A-0ECC-2C70-E171A4B73D2E}"/>
              </a:ext>
            </a:extLst>
          </p:cNvPr>
          <p:cNvSpPr/>
          <p:nvPr/>
        </p:nvSpPr>
        <p:spPr>
          <a:xfrm>
            <a:off x="5504931" y="4785840"/>
            <a:ext cx="859536" cy="201168"/>
          </a:xfrm>
          <a:prstGeom prst="roundRect">
            <a:avLst>
              <a:gd name="adj" fmla="val 18182"/>
            </a:avLst>
          </a:prstGeom>
          <a:solidFill>
            <a:srgbClr val="F7F7F9"/>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9" name="Text 110">
            <a:extLst>
              <a:ext uri="{FF2B5EF4-FFF2-40B4-BE49-F238E27FC236}">
                <a16:creationId xmlns:a16="http://schemas.microsoft.com/office/drawing/2014/main" id="{5D30EE12-A5B1-F69B-1B36-9BA013EE1870}"/>
              </a:ext>
            </a:extLst>
          </p:cNvPr>
          <p:cNvSpPr/>
          <p:nvPr/>
        </p:nvSpPr>
        <p:spPr>
          <a:xfrm>
            <a:off x="5504931" y="4767552"/>
            <a:ext cx="859536" cy="2177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長期離脱層</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51" name="Text 111">
            <a:extLst>
              <a:ext uri="{FF2B5EF4-FFF2-40B4-BE49-F238E27FC236}">
                <a16:creationId xmlns:a16="http://schemas.microsoft.com/office/drawing/2014/main" id="{11D406F6-8148-4982-8BAD-ED92DE292139}"/>
              </a:ext>
            </a:extLst>
          </p:cNvPr>
          <p:cNvSpPr/>
          <p:nvPr/>
        </p:nvSpPr>
        <p:spPr>
          <a:xfrm>
            <a:off x="6419331"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「ご無沙汰ユーザー」へ限定特典で関係再構築</a:t>
            </a:r>
            <a:endParaRPr lang="en-US" sz="1000" dirty="0">
              <a:latin typeface="メイリオ" panose="020B0604030504040204" pitchFamily="50" charset="-128"/>
              <a:ea typeface="メイリオ" panose="020B0604030504040204" pitchFamily="50" charset="-128"/>
            </a:endParaRPr>
          </a:p>
        </p:txBody>
      </p:sp>
      <p:sp>
        <p:nvSpPr>
          <p:cNvPr id="453" name="Text 112">
            <a:extLst>
              <a:ext uri="{FF2B5EF4-FFF2-40B4-BE49-F238E27FC236}">
                <a16:creationId xmlns:a16="http://schemas.microsoft.com/office/drawing/2014/main" id="{508C543F-C9AB-A60B-8018-61A15273F0DE}"/>
              </a:ext>
            </a:extLst>
          </p:cNvPr>
          <p:cNvSpPr/>
          <p:nvPr/>
        </p:nvSpPr>
        <p:spPr>
          <a:xfrm>
            <a:off x="5157459"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6ヶ月以上アクションがないユーザーに「久しぶりにご連絡します」という自然なトーンで接触。業界ニュース・役立つコンテンツから入り、関係を再構築してからCVを狙う。</a:t>
            </a:r>
            <a:endParaRPr lang="en-US" sz="600" dirty="0">
              <a:latin typeface="メイリオ" panose="020B0604030504040204" pitchFamily="50" charset="-128"/>
              <a:ea typeface="メイリオ" panose="020B0604030504040204" pitchFamily="50" charset="-128"/>
            </a:endParaRPr>
          </a:p>
        </p:txBody>
      </p:sp>
      <p:sp>
        <p:nvSpPr>
          <p:cNvPr id="455" name="Shape 113">
            <a:extLst>
              <a:ext uri="{FF2B5EF4-FFF2-40B4-BE49-F238E27FC236}">
                <a16:creationId xmlns:a16="http://schemas.microsoft.com/office/drawing/2014/main" id="{0D84DDA0-BF3C-451C-FA1C-5C4E0CC796E5}"/>
              </a:ext>
            </a:extLst>
          </p:cNvPr>
          <p:cNvSpPr/>
          <p:nvPr/>
        </p:nvSpPr>
        <p:spPr>
          <a:xfrm>
            <a:off x="5139171"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4">
            <a:extLst>
              <a:ext uri="{FF2B5EF4-FFF2-40B4-BE49-F238E27FC236}">
                <a16:creationId xmlns:a16="http://schemas.microsoft.com/office/drawing/2014/main" id="{A87F45F7-ABD3-CEBF-4AF2-8CB3A30A3DC0}"/>
              </a:ext>
            </a:extLst>
          </p:cNvPr>
          <p:cNvSpPr/>
          <p:nvPr/>
        </p:nvSpPr>
        <p:spPr>
          <a:xfrm>
            <a:off x="5139171"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コンテンツ接触</a:t>
            </a:r>
            <a:endParaRPr lang="en-US" sz="700" dirty="0">
              <a:latin typeface="メイリオ" panose="020B0604030504040204" pitchFamily="50" charset="-128"/>
              <a:ea typeface="メイリオ" panose="020B0604030504040204" pitchFamily="50" charset="-128"/>
            </a:endParaRPr>
          </a:p>
        </p:txBody>
      </p:sp>
      <p:sp>
        <p:nvSpPr>
          <p:cNvPr id="459" name="Shape 115">
            <a:extLst>
              <a:ext uri="{FF2B5EF4-FFF2-40B4-BE49-F238E27FC236}">
                <a16:creationId xmlns:a16="http://schemas.microsoft.com/office/drawing/2014/main" id="{21CA3B89-DC5E-AD89-5676-C5B918F75004}"/>
              </a:ext>
            </a:extLst>
          </p:cNvPr>
          <p:cNvSpPr/>
          <p:nvPr/>
        </p:nvSpPr>
        <p:spPr>
          <a:xfrm>
            <a:off x="6413235"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1" name="Text 116">
            <a:extLst>
              <a:ext uri="{FF2B5EF4-FFF2-40B4-BE49-F238E27FC236}">
                <a16:creationId xmlns:a16="http://schemas.microsoft.com/office/drawing/2014/main" id="{2B5EBEB8-BD89-88B8-B0AF-DB4EF15161B3}"/>
              </a:ext>
            </a:extLst>
          </p:cNvPr>
          <p:cNvSpPr/>
          <p:nvPr/>
        </p:nvSpPr>
        <p:spPr>
          <a:xfrm>
            <a:off x="6413235"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3" name="Shape 117">
            <a:extLst>
              <a:ext uri="{FF2B5EF4-FFF2-40B4-BE49-F238E27FC236}">
                <a16:creationId xmlns:a16="http://schemas.microsoft.com/office/drawing/2014/main" id="{D5BA2610-8ECE-0E46-5DE9-D84256F4ABB7}"/>
              </a:ext>
            </a:extLst>
          </p:cNvPr>
          <p:cNvSpPr/>
          <p:nvPr/>
        </p:nvSpPr>
        <p:spPr>
          <a:xfrm>
            <a:off x="6504675"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関係再構築</a:t>
            </a:r>
            <a:endParaRPr lang="en-US" altLang="ja-JP" sz="700" dirty="0">
              <a:latin typeface="メイリオ" panose="020B0604030504040204" pitchFamily="50" charset="-128"/>
              <a:ea typeface="メイリオ" panose="020B0604030504040204" pitchFamily="50" charset="-128"/>
            </a:endParaRPr>
          </a:p>
        </p:txBody>
      </p:sp>
      <p:sp>
        <p:nvSpPr>
          <p:cNvPr id="467" name="Shape 119">
            <a:extLst>
              <a:ext uri="{FF2B5EF4-FFF2-40B4-BE49-F238E27FC236}">
                <a16:creationId xmlns:a16="http://schemas.microsoft.com/office/drawing/2014/main" id="{ECDAE41D-74EE-70DA-6BA7-EFBBEFFC654B}"/>
              </a:ext>
            </a:extLst>
          </p:cNvPr>
          <p:cNvSpPr/>
          <p:nvPr/>
        </p:nvSpPr>
        <p:spPr>
          <a:xfrm>
            <a:off x="7778739"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9" name="Text 120">
            <a:extLst>
              <a:ext uri="{FF2B5EF4-FFF2-40B4-BE49-F238E27FC236}">
                <a16:creationId xmlns:a16="http://schemas.microsoft.com/office/drawing/2014/main" id="{CB14E44B-796A-6A2D-D1B3-013FACC24DEC}"/>
              </a:ext>
            </a:extLst>
          </p:cNvPr>
          <p:cNvSpPr/>
          <p:nvPr/>
        </p:nvSpPr>
        <p:spPr>
          <a:xfrm>
            <a:off x="7778739"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71" name="Shape 121">
            <a:extLst>
              <a:ext uri="{FF2B5EF4-FFF2-40B4-BE49-F238E27FC236}">
                <a16:creationId xmlns:a16="http://schemas.microsoft.com/office/drawing/2014/main" id="{75D4D855-A0E2-F793-0792-F5696FFF8659}"/>
              </a:ext>
            </a:extLst>
          </p:cNvPr>
          <p:cNvSpPr/>
          <p:nvPr/>
        </p:nvSpPr>
        <p:spPr>
          <a:xfrm>
            <a:off x="78701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73" name="Text 122">
            <a:extLst>
              <a:ext uri="{FF2B5EF4-FFF2-40B4-BE49-F238E27FC236}">
                <a16:creationId xmlns:a16="http://schemas.microsoft.com/office/drawing/2014/main" id="{B61DFFD1-F302-D0F1-D19E-8923951471AC}"/>
              </a:ext>
            </a:extLst>
          </p:cNvPr>
          <p:cNvSpPr/>
          <p:nvPr/>
        </p:nvSpPr>
        <p:spPr>
          <a:xfrm>
            <a:off x="78701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CV誘導</a:t>
            </a:r>
            <a:endParaRPr lang="en-US" sz="700" dirty="0">
              <a:latin typeface="メイリオ" panose="020B0604030504040204" pitchFamily="50" charset="-128"/>
              <a:ea typeface="メイリオ" panose="020B0604030504040204" pitchFamily="50" charset="-128"/>
            </a:endParaRPr>
          </a:p>
        </p:txBody>
      </p:sp>
      <p:sp>
        <p:nvSpPr>
          <p:cNvPr id="9" name="Text 110">
            <a:extLst>
              <a:ext uri="{FF2B5EF4-FFF2-40B4-BE49-F238E27FC236}">
                <a16:creationId xmlns:a16="http://schemas.microsoft.com/office/drawing/2014/main" id="{D50F457C-0303-AF4A-FC6E-E83638F895A9}"/>
              </a:ext>
            </a:extLst>
          </p:cNvPr>
          <p:cNvSpPr/>
          <p:nvPr/>
        </p:nvSpPr>
        <p:spPr>
          <a:xfrm>
            <a:off x="5504931" y="3218704"/>
            <a:ext cx="859536" cy="201168"/>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rPr>
              <a:t>購入検討層</a:t>
            </a:r>
            <a:endParaRPr lang="en-US" sz="700" b="1" dirty="0">
              <a:solidFill>
                <a:srgbClr val="FDFDFD"/>
              </a:solidFill>
              <a:latin typeface="メイリオ" panose="020B0604030504040204" pitchFamily="50" charset="-128"/>
              <a:ea typeface="メイリオ" panose="020B0604030504040204" pitchFamily="50" charset="-128"/>
            </a:endParaRPr>
          </a:p>
        </p:txBody>
      </p:sp>
      <p:sp>
        <p:nvSpPr>
          <p:cNvPr id="15" name="Text 38">
            <a:extLst>
              <a:ext uri="{FF2B5EF4-FFF2-40B4-BE49-F238E27FC236}">
                <a16:creationId xmlns:a16="http://schemas.microsoft.com/office/drawing/2014/main" id="{3534AFB2-278D-FF29-BCC6-4EA3CABA4614}"/>
              </a:ext>
            </a:extLst>
          </p:cNvPr>
          <p:cNvSpPr/>
          <p:nvPr/>
        </p:nvSpPr>
        <p:spPr>
          <a:xfrm>
            <a:off x="1060947" y="1675046"/>
            <a:ext cx="859536" cy="190604"/>
          </a:xfrm>
          <a:prstGeom prst="rect">
            <a:avLst/>
          </a:prstGeom>
          <a:solidFill>
            <a:schemeClr val="tx2"/>
          </a:solidFill>
          <a:ln/>
        </p:spPr>
        <p:txBody>
          <a:bodyPr wrap="square" lIns="0" tIns="0" rIns="0" bIns="0" rtlCol="0" anchor="ctr"/>
          <a:lstStyle/>
          <a:p>
            <a:pPr marL="0" indent="0" algn="ctr">
              <a:buNone/>
            </a:pPr>
            <a:r>
              <a:rPr lang="ja-JP" altLang="en-US" sz="900" b="1" dirty="0">
                <a:solidFill>
                  <a:srgbClr val="FDFDFD"/>
                </a:solidFill>
                <a:latin typeface="メイリオ" panose="020B0604030504040204" pitchFamily="50" charset="-128"/>
                <a:ea typeface="メイリオ" panose="020B0604030504040204" pitchFamily="50" charset="-128"/>
                <a:cs typeface="Calibri" pitchFamily="34" charset="-120"/>
              </a:rPr>
              <a:t>リスト活性化</a:t>
            </a:r>
            <a:endParaRPr lang="en-US" sz="700" dirty="0">
              <a:solidFill>
                <a:srgbClr val="FDFDFD"/>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012545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8F4B6A2-11F2-64AD-4DDE-1248419C631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811AA335-9B44-6B58-2534-BB048200CAD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72627B2D-8393-455B-0855-0EB48BEF4480}"/>
              </a:ext>
            </a:extLst>
          </p:cNvPr>
          <p:cNvSpPr txBox="1"/>
          <p:nvPr/>
        </p:nvSpPr>
        <p:spPr>
          <a:xfrm>
            <a:off x="309397" y="778217"/>
            <a:ext cx="9330992"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想定：リピート、クロスセルを計画的に実施</a:t>
            </a:r>
          </a:p>
        </p:txBody>
      </p:sp>
      <p:sp>
        <p:nvSpPr>
          <p:cNvPr id="243" name="Shape 8">
            <a:extLst>
              <a:ext uri="{FF2B5EF4-FFF2-40B4-BE49-F238E27FC236}">
                <a16:creationId xmlns:a16="http://schemas.microsoft.com/office/drawing/2014/main" id="{25BEC70F-1CF8-F07A-EA93-FC6E8D940E95}"/>
              </a:ext>
            </a:extLst>
          </p:cNvPr>
          <p:cNvSpPr/>
          <p:nvPr/>
        </p:nvSpPr>
        <p:spPr>
          <a:xfrm>
            <a:off x="622035"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45" name="Text 9">
            <a:extLst>
              <a:ext uri="{FF2B5EF4-FFF2-40B4-BE49-F238E27FC236}">
                <a16:creationId xmlns:a16="http://schemas.microsoft.com/office/drawing/2014/main" id="{15FC7E1F-9877-CB06-F5F1-37331233B89F}"/>
              </a:ext>
            </a:extLst>
          </p:cNvPr>
          <p:cNvSpPr/>
          <p:nvPr/>
        </p:nvSpPr>
        <p:spPr>
          <a:xfrm>
            <a:off x="750051"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リピート施策</a:t>
            </a:r>
            <a:endParaRPr lang="en-US" sz="1000" dirty="0">
              <a:latin typeface="メイリオ" panose="020B0604030504040204" pitchFamily="50" charset="-128"/>
              <a:ea typeface="メイリオ" panose="020B0604030504040204" pitchFamily="50" charset="-128"/>
            </a:endParaRPr>
          </a:p>
        </p:txBody>
      </p:sp>
      <p:sp>
        <p:nvSpPr>
          <p:cNvPr id="247" name="Text 10">
            <a:extLst>
              <a:ext uri="{FF2B5EF4-FFF2-40B4-BE49-F238E27FC236}">
                <a16:creationId xmlns:a16="http://schemas.microsoft.com/office/drawing/2014/main" id="{04713F76-50FA-FA3F-D4BD-08DC408EA176}"/>
              </a:ext>
            </a:extLst>
          </p:cNvPr>
          <p:cNvSpPr/>
          <p:nvPr/>
        </p:nvSpPr>
        <p:spPr>
          <a:xfrm>
            <a:off x="2541313"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既存顧客を繰り返しCVさせる設計</a:t>
            </a:r>
            <a:endParaRPr lang="en-US" sz="700" dirty="0">
              <a:latin typeface="メイリオ" panose="020B0604030504040204" pitchFamily="50" charset="-128"/>
              <a:ea typeface="メイリオ" panose="020B0604030504040204" pitchFamily="50" charset="-128"/>
            </a:endParaRPr>
          </a:p>
        </p:txBody>
      </p:sp>
      <p:sp>
        <p:nvSpPr>
          <p:cNvPr id="249" name="Shape 11">
            <a:extLst>
              <a:ext uri="{FF2B5EF4-FFF2-40B4-BE49-F238E27FC236}">
                <a16:creationId xmlns:a16="http://schemas.microsoft.com/office/drawing/2014/main" id="{8636F3C8-63E7-CBB8-3872-E6B2584513F2}"/>
              </a:ext>
            </a:extLst>
          </p:cNvPr>
          <p:cNvSpPr/>
          <p:nvPr/>
        </p:nvSpPr>
        <p:spPr>
          <a:xfrm>
            <a:off x="5066019" y="130664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1" name="Text 12">
            <a:extLst>
              <a:ext uri="{FF2B5EF4-FFF2-40B4-BE49-F238E27FC236}">
                <a16:creationId xmlns:a16="http://schemas.microsoft.com/office/drawing/2014/main" id="{6615CF57-D24E-7288-7AB0-1DF692D04526}"/>
              </a:ext>
            </a:extLst>
          </p:cNvPr>
          <p:cNvSpPr/>
          <p:nvPr/>
        </p:nvSpPr>
        <p:spPr>
          <a:xfrm>
            <a:off x="5194035" y="1294892"/>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クロスセル施策</a:t>
            </a:r>
            <a:endParaRPr lang="en-US" sz="1000" dirty="0">
              <a:latin typeface="メイリオ" panose="020B0604030504040204" pitchFamily="50" charset="-128"/>
              <a:ea typeface="メイリオ" panose="020B0604030504040204" pitchFamily="50" charset="-128"/>
            </a:endParaRPr>
          </a:p>
        </p:txBody>
      </p:sp>
      <p:sp>
        <p:nvSpPr>
          <p:cNvPr id="253" name="Text 13">
            <a:extLst>
              <a:ext uri="{FF2B5EF4-FFF2-40B4-BE49-F238E27FC236}">
                <a16:creationId xmlns:a16="http://schemas.microsoft.com/office/drawing/2014/main" id="{7C345B51-6053-1E03-9823-0F386006D466}"/>
              </a:ext>
            </a:extLst>
          </p:cNvPr>
          <p:cNvSpPr/>
          <p:nvPr/>
        </p:nvSpPr>
        <p:spPr>
          <a:xfrm>
            <a:off x="6985297" y="1294892"/>
            <a:ext cx="2177234"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関連サービス・上位プランへの誘導設計</a:t>
            </a:r>
            <a:endParaRPr lang="en-US" sz="700" dirty="0">
              <a:latin typeface="メイリオ" panose="020B0604030504040204" pitchFamily="50" charset="-128"/>
              <a:ea typeface="メイリオ" panose="020B0604030504040204" pitchFamily="50" charset="-128"/>
            </a:endParaRPr>
          </a:p>
        </p:txBody>
      </p:sp>
      <p:sp>
        <p:nvSpPr>
          <p:cNvPr id="255" name="Shape 15">
            <a:extLst>
              <a:ext uri="{FF2B5EF4-FFF2-40B4-BE49-F238E27FC236}">
                <a16:creationId xmlns:a16="http://schemas.microsoft.com/office/drawing/2014/main" id="{2BEE7A23-A38F-24B6-8785-FB455AC73808}"/>
              </a:ext>
            </a:extLst>
          </p:cNvPr>
          <p:cNvSpPr/>
          <p:nvPr/>
        </p:nvSpPr>
        <p:spPr>
          <a:xfrm>
            <a:off x="622035" y="157446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59" name="Shape 17">
            <a:extLst>
              <a:ext uri="{FF2B5EF4-FFF2-40B4-BE49-F238E27FC236}">
                <a16:creationId xmlns:a16="http://schemas.microsoft.com/office/drawing/2014/main" id="{6EA2FE60-CA64-D4E8-A942-9C618AC68B86}"/>
              </a:ext>
            </a:extLst>
          </p:cNvPr>
          <p:cNvSpPr/>
          <p:nvPr/>
        </p:nvSpPr>
        <p:spPr>
          <a:xfrm>
            <a:off x="731763" y="166590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61" name="Text 18">
            <a:extLst>
              <a:ext uri="{FF2B5EF4-FFF2-40B4-BE49-F238E27FC236}">
                <a16:creationId xmlns:a16="http://schemas.microsoft.com/office/drawing/2014/main" id="{E856EF37-698D-F191-3067-928FC0AFC456}"/>
              </a:ext>
            </a:extLst>
          </p:cNvPr>
          <p:cNvSpPr/>
          <p:nvPr/>
        </p:nvSpPr>
        <p:spPr>
          <a:xfrm>
            <a:off x="731763" y="1675046"/>
            <a:ext cx="274320" cy="274320"/>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263" name="Shape 19">
            <a:extLst>
              <a:ext uri="{FF2B5EF4-FFF2-40B4-BE49-F238E27FC236}">
                <a16:creationId xmlns:a16="http://schemas.microsoft.com/office/drawing/2014/main" id="{C3D7846E-19C7-41FD-05BA-E1F3CF32FFFD}"/>
              </a:ext>
            </a:extLst>
          </p:cNvPr>
          <p:cNvSpPr/>
          <p:nvPr/>
        </p:nvSpPr>
        <p:spPr>
          <a:xfrm>
            <a:off x="1039813" y="1693334"/>
            <a:ext cx="880670" cy="246248"/>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アフターフォロー</a:t>
            </a:r>
          </a:p>
        </p:txBody>
      </p:sp>
      <p:sp>
        <p:nvSpPr>
          <p:cNvPr id="267" name="Text 21">
            <a:extLst>
              <a:ext uri="{FF2B5EF4-FFF2-40B4-BE49-F238E27FC236}">
                <a16:creationId xmlns:a16="http://schemas.microsoft.com/office/drawing/2014/main" id="{FCE3B029-FE9D-7576-7B05-2585AB5A66B1}"/>
              </a:ext>
            </a:extLst>
          </p:cNvPr>
          <p:cNvSpPr/>
          <p:nvPr/>
        </p:nvSpPr>
        <p:spPr>
          <a:xfrm>
            <a:off x="1993635" y="167504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購入・利用完了後の自動フォローアップ配信</a:t>
            </a:r>
            <a:endParaRPr lang="en-US" sz="1000" dirty="0">
              <a:latin typeface="メイリオ" panose="020B0604030504040204" pitchFamily="50" charset="-128"/>
              <a:ea typeface="メイリオ" panose="020B0604030504040204" pitchFamily="50" charset="-128"/>
            </a:endParaRPr>
          </a:p>
        </p:txBody>
      </p:sp>
      <p:sp>
        <p:nvSpPr>
          <p:cNvPr id="269" name="Text 22">
            <a:extLst>
              <a:ext uri="{FF2B5EF4-FFF2-40B4-BE49-F238E27FC236}">
                <a16:creationId xmlns:a16="http://schemas.microsoft.com/office/drawing/2014/main" id="{C1ECFC15-9129-ED3B-D3EF-84A237B9E067}"/>
              </a:ext>
            </a:extLst>
          </p:cNvPr>
          <p:cNvSpPr/>
          <p:nvPr/>
        </p:nvSpPr>
        <p:spPr>
          <a:xfrm>
            <a:off x="731763"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サービス利用後30日・3ヶ月・6ヶ月のタイミングで自動配信。「その後いかがですか？」「定期メンテナンスのご案内」など適切なタイミングで次回利用を自然に促す。</a:t>
            </a:r>
            <a:endParaRPr lang="en-US" sz="600" dirty="0">
              <a:latin typeface="メイリオ" panose="020B0604030504040204" pitchFamily="50" charset="-128"/>
              <a:ea typeface="メイリオ" panose="020B0604030504040204" pitchFamily="50" charset="-128"/>
            </a:endParaRPr>
          </a:p>
        </p:txBody>
      </p:sp>
      <p:sp>
        <p:nvSpPr>
          <p:cNvPr id="271" name="Shape 23">
            <a:extLst>
              <a:ext uri="{FF2B5EF4-FFF2-40B4-BE49-F238E27FC236}">
                <a16:creationId xmlns:a16="http://schemas.microsoft.com/office/drawing/2014/main" id="{02AAD0EA-81DD-0BAE-0FBC-DF75C0098CFF}"/>
              </a:ext>
            </a:extLst>
          </p:cNvPr>
          <p:cNvSpPr/>
          <p:nvPr/>
        </p:nvSpPr>
        <p:spPr>
          <a:xfrm>
            <a:off x="713475"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購入完了</a:t>
            </a:r>
            <a:endParaRPr lang="en-US" altLang="ja-JP" sz="700" dirty="0">
              <a:latin typeface="メイリオ" panose="020B0604030504040204" pitchFamily="50" charset="-128"/>
              <a:ea typeface="メイリオ" panose="020B0604030504040204" pitchFamily="50" charset="-128"/>
            </a:endParaRPr>
          </a:p>
        </p:txBody>
      </p:sp>
      <p:sp>
        <p:nvSpPr>
          <p:cNvPr id="275" name="Shape 25">
            <a:extLst>
              <a:ext uri="{FF2B5EF4-FFF2-40B4-BE49-F238E27FC236}">
                <a16:creationId xmlns:a16="http://schemas.microsoft.com/office/drawing/2014/main" id="{597E6017-68DF-6125-D04E-EBE42E4AC1C8}"/>
              </a:ext>
            </a:extLst>
          </p:cNvPr>
          <p:cNvSpPr/>
          <p:nvPr/>
        </p:nvSpPr>
        <p:spPr>
          <a:xfrm>
            <a:off x="1987539"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77" name="Text 26">
            <a:extLst>
              <a:ext uri="{FF2B5EF4-FFF2-40B4-BE49-F238E27FC236}">
                <a16:creationId xmlns:a16="http://schemas.microsoft.com/office/drawing/2014/main" id="{A0AA9CE1-6CB6-6DB8-F485-AA5FC31BD9AB}"/>
              </a:ext>
            </a:extLst>
          </p:cNvPr>
          <p:cNvSpPr/>
          <p:nvPr/>
        </p:nvSpPr>
        <p:spPr>
          <a:xfrm>
            <a:off x="1987539"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79" name="Shape 27">
            <a:extLst>
              <a:ext uri="{FF2B5EF4-FFF2-40B4-BE49-F238E27FC236}">
                <a16:creationId xmlns:a16="http://schemas.microsoft.com/office/drawing/2014/main" id="{0033C6EE-6DB2-CF55-B4C7-D25DA14E4D93}"/>
              </a:ext>
            </a:extLst>
          </p:cNvPr>
          <p:cNvSpPr/>
          <p:nvPr/>
        </p:nvSpPr>
        <p:spPr>
          <a:xfrm>
            <a:off x="2078979" y="2621391"/>
            <a:ext cx="1274064" cy="329184"/>
          </a:xfrm>
          <a:prstGeom prst="roundRect">
            <a:avLst>
              <a:gd name="adj" fmla="val 16667"/>
            </a:avLst>
          </a:prstGeom>
          <a:solidFill>
            <a:schemeClr val="tx1"/>
          </a:solidFill>
          <a:ln w="12700">
            <a:noFill/>
            <a:prstDash val="solid"/>
          </a:ln>
        </p:spPr>
        <p:txBody>
          <a:bodyPr/>
          <a:lstStyle/>
          <a:p>
            <a:endParaRPr lang="ja-JP" altLang="en-US" sz="700" dirty="0">
              <a:latin typeface="メイリオ" panose="020B0604030504040204" pitchFamily="50" charset="-128"/>
              <a:ea typeface="メイリオ" panose="020B0604030504040204" pitchFamily="50" charset="-128"/>
            </a:endParaRPr>
          </a:p>
        </p:txBody>
      </p:sp>
      <p:sp>
        <p:nvSpPr>
          <p:cNvPr id="281" name="Text 28">
            <a:extLst>
              <a:ext uri="{FF2B5EF4-FFF2-40B4-BE49-F238E27FC236}">
                <a16:creationId xmlns:a16="http://schemas.microsoft.com/office/drawing/2014/main" id="{7A443300-A185-ED88-10AA-DFD63178035A}"/>
              </a:ext>
            </a:extLst>
          </p:cNvPr>
          <p:cNvSpPr/>
          <p:nvPr/>
        </p:nvSpPr>
        <p:spPr>
          <a:xfrm>
            <a:off x="207897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30日/3ヶ月/6ヶ月</a:t>
            </a:r>
            <a:endParaRPr lang="en-US" sz="700" dirty="0">
              <a:latin typeface="メイリオ" panose="020B0604030504040204" pitchFamily="50" charset="-128"/>
              <a:ea typeface="メイリオ" panose="020B0604030504040204" pitchFamily="50" charset="-128"/>
            </a:endParaRPr>
          </a:p>
        </p:txBody>
      </p:sp>
      <p:sp>
        <p:nvSpPr>
          <p:cNvPr id="283" name="Shape 29">
            <a:extLst>
              <a:ext uri="{FF2B5EF4-FFF2-40B4-BE49-F238E27FC236}">
                <a16:creationId xmlns:a16="http://schemas.microsoft.com/office/drawing/2014/main" id="{A8CDF565-4E56-34DE-F4B7-83C324AB1111}"/>
              </a:ext>
            </a:extLst>
          </p:cNvPr>
          <p:cNvSpPr/>
          <p:nvPr/>
        </p:nvSpPr>
        <p:spPr>
          <a:xfrm>
            <a:off x="335304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85" name="Text 30">
            <a:extLst>
              <a:ext uri="{FF2B5EF4-FFF2-40B4-BE49-F238E27FC236}">
                <a16:creationId xmlns:a16="http://schemas.microsoft.com/office/drawing/2014/main" id="{C7552AF9-D505-7C0D-70BF-ACE641907EEA}"/>
              </a:ext>
            </a:extLst>
          </p:cNvPr>
          <p:cNvSpPr/>
          <p:nvPr/>
        </p:nvSpPr>
        <p:spPr>
          <a:xfrm>
            <a:off x="335304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287" name="Shape 31">
            <a:extLst>
              <a:ext uri="{FF2B5EF4-FFF2-40B4-BE49-F238E27FC236}">
                <a16:creationId xmlns:a16="http://schemas.microsoft.com/office/drawing/2014/main" id="{41993352-6267-4FE7-B0F8-37A18FC55C5D}"/>
              </a:ext>
            </a:extLst>
          </p:cNvPr>
          <p:cNvSpPr/>
          <p:nvPr/>
        </p:nvSpPr>
        <p:spPr>
          <a:xfrm>
            <a:off x="3444483"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289" name="Text 32">
            <a:extLst>
              <a:ext uri="{FF2B5EF4-FFF2-40B4-BE49-F238E27FC236}">
                <a16:creationId xmlns:a16="http://schemas.microsoft.com/office/drawing/2014/main" id="{56896933-7E6D-6A12-EEAF-C1E0A07B9A27}"/>
              </a:ext>
            </a:extLst>
          </p:cNvPr>
          <p:cNvSpPr/>
          <p:nvPr/>
        </p:nvSpPr>
        <p:spPr>
          <a:xfrm>
            <a:off x="3444483"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自動リマインド</a:t>
            </a:r>
            <a:endParaRPr lang="en-US" sz="700" dirty="0">
              <a:latin typeface="メイリオ" panose="020B0604030504040204" pitchFamily="50" charset="-128"/>
              <a:ea typeface="メイリオ" panose="020B0604030504040204" pitchFamily="50" charset="-128"/>
            </a:endParaRPr>
          </a:p>
        </p:txBody>
      </p:sp>
      <p:sp>
        <p:nvSpPr>
          <p:cNvPr id="291" name="Shape 33">
            <a:extLst>
              <a:ext uri="{FF2B5EF4-FFF2-40B4-BE49-F238E27FC236}">
                <a16:creationId xmlns:a16="http://schemas.microsoft.com/office/drawing/2014/main" id="{F55E1F0E-CE1E-4788-56E8-EEC6BC428B40}"/>
              </a:ext>
            </a:extLst>
          </p:cNvPr>
          <p:cNvSpPr/>
          <p:nvPr/>
        </p:nvSpPr>
        <p:spPr>
          <a:xfrm>
            <a:off x="622035" y="3117039"/>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5" name="Shape 35">
            <a:extLst>
              <a:ext uri="{FF2B5EF4-FFF2-40B4-BE49-F238E27FC236}">
                <a16:creationId xmlns:a16="http://schemas.microsoft.com/office/drawing/2014/main" id="{A12EE24B-120D-6CFC-50B3-086F27872223}"/>
              </a:ext>
            </a:extLst>
          </p:cNvPr>
          <p:cNvSpPr/>
          <p:nvPr/>
        </p:nvSpPr>
        <p:spPr>
          <a:xfrm>
            <a:off x="731763" y="3208479"/>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297" name="Text 36">
            <a:extLst>
              <a:ext uri="{FF2B5EF4-FFF2-40B4-BE49-F238E27FC236}">
                <a16:creationId xmlns:a16="http://schemas.microsoft.com/office/drawing/2014/main" id="{751A7A54-3F2B-726E-0209-EC76E1460C60}"/>
              </a:ext>
            </a:extLst>
          </p:cNvPr>
          <p:cNvSpPr/>
          <p:nvPr/>
        </p:nvSpPr>
        <p:spPr>
          <a:xfrm>
            <a:off x="731763" y="3217623"/>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301" name="Text 38">
            <a:extLst>
              <a:ext uri="{FF2B5EF4-FFF2-40B4-BE49-F238E27FC236}">
                <a16:creationId xmlns:a16="http://schemas.microsoft.com/office/drawing/2014/main" id="{38E18943-F8B5-9629-4062-419A919A3557}"/>
              </a:ext>
            </a:extLst>
          </p:cNvPr>
          <p:cNvSpPr/>
          <p:nvPr/>
        </p:nvSpPr>
        <p:spPr>
          <a:xfrm>
            <a:off x="1037770" y="3231978"/>
            <a:ext cx="882713" cy="241677"/>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記念日配信</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03" name="Text 39">
            <a:extLst>
              <a:ext uri="{FF2B5EF4-FFF2-40B4-BE49-F238E27FC236}">
                <a16:creationId xmlns:a16="http://schemas.microsoft.com/office/drawing/2014/main" id="{3E303003-51EC-7FC3-DE76-F0E6D2EAB3EE}"/>
              </a:ext>
            </a:extLst>
          </p:cNvPr>
          <p:cNvSpPr/>
          <p:nvPr/>
        </p:nvSpPr>
        <p:spPr>
          <a:xfrm>
            <a:off x="1993635" y="3217623"/>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誕生日・契約記念日に特別オファーを自動配信</a:t>
            </a:r>
            <a:endParaRPr lang="en-US" sz="1000" dirty="0">
              <a:latin typeface="メイリオ" panose="020B0604030504040204" pitchFamily="50" charset="-128"/>
              <a:ea typeface="メイリオ" panose="020B0604030504040204" pitchFamily="50" charset="-128"/>
            </a:endParaRPr>
          </a:p>
        </p:txBody>
      </p:sp>
      <p:sp>
        <p:nvSpPr>
          <p:cNvPr id="305" name="Text 40">
            <a:extLst>
              <a:ext uri="{FF2B5EF4-FFF2-40B4-BE49-F238E27FC236}">
                <a16:creationId xmlns:a16="http://schemas.microsoft.com/office/drawing/2014/main" id="{30181338-1CDB-632A-4D21-1980958DAE90}"/>
              </a:ext>
            </a:extLst>
          </p:cNvPr>
          <p:cNvSpPr/>
          <p:nvPr/>
        </p:nvSpPr>
        <p:spPr>
          <a:xfrm>
            <a:off x="731763" y="3643349"/>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誕生日や初回購入日を記念日として登録し、該当日に特別クーポン・優待を自動配信。「あなただけへの特別オファー」感が再購入率を高める。</a:t>
            </a:r>
            <a:endParaRPr lang="en-US" sz="600" dirty="0">
              <a:latin typeface="メイリオ" panose="020B0604030504040204" pitchFamily="50" charset="-128"/>
              <a:ea typeface="メイリオ" panose="020B0604030504040204" pitchFamily="50" charset="-128"/>
            </a:endParaRPr>
          </a:p>
        </p:txBody>
      </p:sp>
      <p:sp>
        <p:nvSpPr>
          <p:cNvPr id="307" name="Shape 41">
            <a:extLst>
              <a:ext uri="{FF2B5EF4-FFF2-40B4-BE49-F238E27FC236}">
                <a16:creationId xmlns:a16="http://schemas.microsoft.com/office/drawing/2014/main" id="{9C3ADD4D-62FF-6E75-0C94-EBA797742E61}"/>
              </a:ext>
            </a:extLst>
          </p:cNvPr>
          <p:cNvSpPr/>
          <p:nvPr/>
        </p:nvSpPr>
        <p:spPr>
          <a:xfrm>
            <a:off x="713475"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09" name="Text 42">
            <a:extLst>
              <a:ext uri="{FF2B5EF4-FFF2-40B4-BE49-F238E27FC236}">
                <a16:creationId xmlns:a16="http://schemas.microsoft.com/office/drawing/2014/main" id="{A3F87B85-6E13-9A64-8ED1-AC226457C436}"/>
              </a:ext>
            </a:extLst>
          </p:cNvPr>
          <p:cNvSpPr/>
          <p:nvPr/>
        </p:nvSpPr>
        <p:spPr>
          <a:xfrm>
            <a:off x="713475"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記念日タグ設定</a:t>
            </a:r>
            <a:endParaRPr lang="en-US" sz="700" dirty="0">
              <a:latin typeface="メイリオ" panose="020B0604030504040204" pitchFamily="50" charset="-128"/>
              <a:ea typeface="メイリオ" panose="020B0604030504040204" pitchFamily="50" charset="-128"/>
            </a:endParaRPr>
          </a:p>
        </p:txBody>
      </p:sp>
      <p:sp>
        <p:nvSpPr>
          <p:cNvPr id="311" name="Shape 43">
            <a:extLst>
              <a:ext uri="{FF2B5EF4-FFF2-40B4-BE49-F238E27FC236}">
                <a16:creationId xmlns:a16="http://schemas.microsoft.com/office/drawing/2014/main" id="{0A895F50-3F88-98A2-89D0-3ACC9E308C89}"/>
              </a:ext>
            </a:extLst>
          </p:cNvPr>
          <p:cNvSpPr/>
          <p:nvPr/>
        </p:nvSpPr>
        <p:spPr>
          <a:xfrm>
            <a:off x="1987539"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13" name="Text 44">
            <a:extLst>
              <a:ext uri="{FF2B5EF4-FFF2-40B4-BE49-F238E27FC236}">
                <a16:creationId xmlns:a16="http://schemas.microsoft.com/office/drawing/2014/main" id="{84141BF0-6600-94F4-8298-8914165AE119}"/>
              </a:ext>
            </a:extLst>
          </p:cNvPr>
          <p:cNvSpPr/>
          <p:nvPr/>
        </p:nvSpPr>
        <p:spPr>
          <a:xfrm>
            <a:off x="1987539"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15" name="Shape 45">
            <a:extLst>
              <a:ext uri="{FF2B5EF4-FFF2-40B4-BE49-F238E27FC236}">
                <a16:creationId xmlns:a16="http://schemas.microsoft.com/office/drawing/2014/main" id="{D6D24DD8-6D7D-257C-F532-6ED722A69206}"/>
              </a:ext>
            </a:extLst>
          </p:cNvPr>
          <p:cNvSpPr/>
          <p:nvPr/>
        </p:nvSpPr>
        <p:spPr>
          <a:xfrm>
            <a:off x="207897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17" name="Text 46">
            <a:extLst>
              <a:ext uri="{FF2B5EF4-FFF2-40B4-BE49-F238E27FC236}">
                <a16:creationId xmlns:a16="http://schemas.microsoft.com/office/drawing/2014/main" id="{7BD3B483-4A49-A931-5EB8-12119ED715C2}"/>
              </a:ext>
            </a:extLst>
          </p:cNvPr>
          <p:cNvSpPr/>
          <p:nvPr/>
        </p:nvSpPr>
        <p:spPr>
          <a:xfrm>
            <a:off x="2078979" y="4158910"/>
            <a:ext cx="1274064" cy="329184"/>
          </a:xfrm>
          <a:prstGeom prst="rect">
            <a:avLst/>
          </a:prstGeom>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特別オファー配信</a:t>
            </a:r>
            <a:endParaRPr lang="en-US" sz="700" dirty="0">
              <a:latin typeface="メイリオ" panose="020B0604030504040204" pitchFamily="50" charset="-128"/>
              <a:ea typeface="メイリオ" panose="020B0604030504040204" pitchFamily="50" charset="-128"/>
            </a:endParaRPr>
          </a:p>
        </p:txBody>
      </p:sp>
      <p:sp>
        <p:nvSpPr>
          <p:cNvPr id="319" name="Shape 47">
            <a:extLst>
              <a:ext uri="{FF2B5EF4-FFF2-40B4-BE49-F238E27FC236}">
                <a16:creationId xmlns:a16="http://schemas.microsoft.com/office/drawing/2014/main" id="{1A3ED534-DB25-D7E2-0DDC-342462B34810}"/>
              </a:ext>
            </a:extLst>
          </p:cNvPr>
          <p:cNvSpPr/>
          <p:nvPr/>
        </p:nvSpPr>
        <p:spPr>
          <a:xfrm>
            <a:off x="335304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21" name="Text 48">
            <a:extLst>
              <a:ext uri="{FF2B5EF4-FFF2-40B4-BE49-F238E27FC236}">
                <a16:creationId xmlns:a16="http://schemas.microsoft.com/office/drawing/2014/main" id="{0A78ED48-FFFC-A962-F364-19738CBAA8ED}"/>
              </a:ext>
            </a:extLst>
          </p:cNvPr>
          <p:cNvSpPr/>
          <p:nvPr/>
        </p:nvSpPr>
        <p:spPr>
          <a:xfrm>
            <a:off x="335304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23" name="Shape 49">
            <a:extLst>
              <a:ext uri="{FF2B5EF4-FFF2-40B4-BE49-F238E27FC236}">
                <a16:creationId xmlns:a16="http://schemas.microsoft.com/office/drawing/2014/main" id="{A71799E1-6D37-9019-F683-E28EDFCD59C9}"/>
              </a:ext>
            </a:extLst>
          </p:cNvPr>
          <p:cNvSpPr/>
          <p:nvPr/>
        </p:nvSpPr>
        <p:spPr>
          <a:xfrm>
            <a:off x="3444483"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25" name="Text 50">
            <a:extLst>
              <a:ext uri="{FF2B5EF4-FFF2-40B4-BE49-F238E27FC236}">
                <a16:creationId xmlns:a16="http://schemas.microsoft.com/office/drawing/2014/main" id="{95527DCC-1F43-8A3D-2A58-DC34D3444C39}"/>
              </a:ext>
            </a:extLst>
          </p:cNvPr>
          <p:cNvSpPr/>
          <p:nvPr/>
        </p:nvSpPr>
        <p:spPr>
          <a:xfrm>
            <a:off x="3444483"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再購入CV</a:t>
            </a:r>
            <a:endParaRPr lang="en-US" sz="700" dirty="0">
              <a:latin typeface="メイリオ" panose="020B0604030504040204" pitchFamily="50" charset="-128"/>
              <a:ea typeface="メイリオ" panose="020B0604030504040204" pitchFamily="50" charset="-128"/>
            </a:endParaRPr>
          </a:p>
        </p:txBody>
      </p:sp>
      <p:sp>
        <p:nvSpPr>
          <p:cNvPr id="327" name="Shape 51">
            <a:extLst>
              <a:ext uri="{FF2B5EF4-FFF2-40B4-BE49-F238E27FC236}">
                <a16:creationId xmlns:a16="http://schemas.microsoft.com/office/drawing/2014/main" id="{BB7FE265-C435-3F11-D327-2005EB3B7D4C}"/>
              </a:ext>
            </a:extLst>
          </p:cNvPr>
          <p:cNvSpPr/>
          <p:nvPr/>
        </p:nvSpPr>
        <p:spPr>
          <a:xfrm>
            <a:off x="622035" y="469832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1" name="Shape 53">
            <a:extLst>
              <a:ext uri="{FF2B5EF4-FFF2-40B4-BE49-F238E27FC236}">
                <a16:creationId xmlns:a16="http://schemas.microsoft.com/office/drawing/2014/main" id="{F32B0A21-54EF-8445-6E6B-BBF9705C30E4}"/>
              </a:ext>
            </a:extLst>
          </p:cNvPr>
          <p:cNvSpPr/>
          <p:nvPr/>
        </p:nvSpPr>
        <p:spPr>
          <a:xfrm>
            <a:off x="731763" y="4755984"/>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33" name="Text 54">
            <a:extLst>
              <a:ext uri="{FF2B5EF4-FFF2-40B4-BE49-F238E27FC236}">
                <a16:creationId xmlns:a16="http://schemas.microsoft.com/office/drawing/2014/main" id="{4F222B19-A9AA-8B90-A278-F2067EC7FD8D}"/>
              </a:ext>
            </a:extLst>
          </p:cNvPr>
          <p:cNvSpPr/>
          <p:nvPr/>
        </p:nvSpPr>
        <p:spPr>
          <a:xfrm>
            <a:off x="731763" y="4765128"/>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335" name="Shape 55">
            <a:extLst>
              <a:ext uri="{FF2B5EF4-FFF2-40B4-BE49-F238E27FC236}">
                <a16:creationId xmlns:a16="http://schemas.microsoft.com/office/drawing/2014/main" id="{ABF7DB2E-403A-46F2-A837-399B3FE97C5E}"/>
              </a:ext>
            </a:extLst>
          </p:cNvPr>
          <p:cNvSpPr/>
          <p:nvPr/>
        </p:nvSpPr>
        <p:spPr>
          <a:xfrm>
            <a:off x="1037770" y="4765128"/>
            <a:ext cx="882713" cy="206647"/>
          </a:xfrm>
          <a:prstGeom prst="roundRect">
            <a:avLst>
              <a:gd name="adj" fmla="val 18182"/>
            </a:avLst>
          </a:prstGeom>
          <a:solidFill>
            <a:schemeClr val="tx2"/>
          </a:solidFill>
          <a:ln w="12700">
            <a:solidFill>
              <a:srgbClr val="D8D8E2"/>
            </a:solidFill>
            <a:prstDash val="solid"/>
          </a:ln>
        </p:spPr>
        <p:txBody>
          <a:bodyPr/>
          <a:lstStyle/>
          <a:p>
            <a:r>
              <a:rPr lang="ja-JP" altLang="en-US" sz="700" b="1" dirty="0">
                <a:solidFill>
                  <a:srgbClr val="FDFDFD"/>
                </a:solidFill>
                <a:latin typeface="メイリオ" panose="020B0604030504040204" pitchFamily="50" charset="-128"/>
                <a:ea typeface="メイリオ" panose="020B0604030504040204" pitchFamily="50" charset="-128"/>
              </a:rPr>
              <a:t>紹介キャンペーン</a:t>
            </a:r>
          </a:p>
        </p:txBody>
      </p:sp>
      <p:sp>
        <p:nvSpPr>
          <p:cNvPr id="339" name="Text 57">
            <a:extLst>
              <a:ext uri="{FF2B5EF4-FFF2-40B4-BE49-F238E27FC236}">
                <a16:creationId xmlns:a16="http://schemas.microsoft.com/office/drawing/2014/main" id="{863EF515-E441-C008-46FD-E8772A47BE9A}"/>
              </a:ext>
            </a:extLst>
          </p:cNvPr>
          <p:cNvSpPr/>
          <p:nvPr/>
        </p:nvSpPr>
        <p:spPr>
          <a:xfrm>
            <a:off x="1993635" y="4765128"/>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友人紹介制度をLINEで完結させる仕組みを設計</a:t>
            </a:r>
            <a:endParaRPr lang="en-US" sz="1000" dirty="0">
              <a:latin typeface="メイリオ" panose="020B0604030504040204" pitchFamily="50" charset="-128"/>
              <a:ea typeface="メイリオ" panose="020B0604030504040204" pitchFamily="50" charset="-128"/>
            </a:endParaRPr>
          </a:p>
        </p:txBody>
      </p:sp>
      <p:sp>
        <p:nvSpPr>
          <p:cNvPr id="341" name="Text 58">
            <a:extLst>
              <a:ext uri="{FF2B5EF4-FFF2-40B4-BE49-F238E27FC236}">
                <a16:creationId xmlns:a16="http://schemas.microsoft.com/office/drawing/2014/main" id="{8F06CA0B-814F-E8C0-33FE-0B48BBED0532}"/>
              </a:ext>
            </a:extLst>
          </p:cNvPr>
          <p:cNvSpPr/>
          <p:nvPr/>
        </p:nvSpPr>
        <p:spPr>
          <a:xfrm>
            <a:off x="731763" y="5182003"/>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「友人を紹介してくれたらXXXをプレゼント」をLINEで告知・管理。満足度が高い時期（利用直後・成果確認後）に訴求することで紹介件数が最大化する。</a:t>
            </a:r>
            <a:endParaRPr lang="en-US" sz="600" dirty="0">
              <a:latin typeface="メイリオ" panose="020B0604030504040204" pitchFamily="50" charset="-128"/>
              <a:ea typeface="メイリオ" panose="020B0604030504040204" pitchFamily="50" charset="-128"/>
            </a:endParaRPr>
          </a:p>
        </p:txBody>
      </p:sp>
      <p:sp>
        <p:nvSpPr>
          <p:cNvPr id="343" name="Shape 59">
            <a:extLst>
              <a:ext uri="{FF2B5EF4-FFF2-40B4-BE49-F238E27FC236}">
                <a16:creationId xmlns:a16="http://schemas.microsoft.com/office/drawing/2014/main" id="{F9FC2AD5-120F-E447-D301-5476F135AF0B}"/>
              </a:ext>
            </a:extLst>
          </p:cNvPr>
          <p:cNvSpPr/>
          <p:nvPr/>
        </p:nvSpPr>
        <p:spPr>
          <a:xfrm>
            <a:off x="713475"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45" name="Text 60">
            <a:extLst>
              <a:ext uri="{FF2B5EF4-FFF2-40B4-BE49-F238E27FC236}">
                <a16:creationId xmlns:a16="http://schemas.microsoft.com/office/drawing/2014/main" id="{FB0832F3-E1A0-CA4E-156B-CE6E264BF982}"/>
              </a:ext>
            </a:extLst>
          </p:cNvPr>
          <p:cNvSpPr/>
          <p:nvPr/>
        </p:nvSpPr>
        <p:spPr>
          <a:xfrm>
            <a:off x="713475"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利用後3ヶ月</a:t>
            </a:r>
            <a:endParaRPr lang="en-US" sz="700" dirty="0">
              <a:latin typeface="メイリオ" panose="020B0604030504040204" pitchFamily="50" charset="-128"/>
              <a:ea typeface="メイリオ" panose="020B0604030504040204" pitchFamily="50" charset="-128"/>
            </a:endParaRPr>
          </a:p>
        </p:txBody>
      </p:sp>
      <p:sp>
        <p:nvSpPr>
          <p:cNvPr id="347" name="Shape 61">
            <a:extLst>
              <a:ext uri="{FF2B5EF4-FFF2-40B4-BE49-F238E27FC236}">
                <a16:creationId xmlns:a16="http://schemas.microsoft.com/office/drawing/2014/main" id="{E24615D6-1A79-B0F4-BB14-14E2183880AC}"/>
              </a:ext>
            </a:extLst>
          </p:cNvPr>
          <p:cNvSpPr/>
          <p:nvPr/>
        </p:nvSpPr>
        <p:spPr>
          <a:xfrm>
            <a:off x="1987539"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49" name="Text 62">
            <a:extLst>
              <a:ext uri="{FF2B5EF4-FFF2-40B4-BE49-F238E27FC236}">
                <a16:creationId xmlns:a16="http://schemas.microsoft.com/office/drawing/2014/main" id="{64603FC2-C317-4C97-5288-F270620ED7B9}"/>
              </a:ext>
            </a:extLst>
          </p:cNvPr>
          <p:cNvSpPr/>
          <p:nvPr/>
        </p:nvSpPr>
        <p:spPr>
          <a:xfrm>
            <a:off x="1987539"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1" name="Shape 63">
            <a:extLst>
              <a:ext uri="{FF2B5EF4-FFF2-40B4-BE49-F238E27FC236}">
                <a16:creationId xmlns:a16="http://schemas.microsoft.com/office/drawing/2014/main" id="{C477B16C-33E8-F120-9A1F-AFC395AE6E3D}"/>
              </a:ext>
            </a:extLst>
          </p:cNvPr>
          <p:cNvSpPr/>
          <p:nvPr/>
        </p:nvSpPr>
        <p:spPr>
          <a:xfrm>
            <a:off x="207897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3" name="Text 64">
            <a:extLst>
              <a:ext uri="{FF2B5EF4-FFF2-40B4-BE49-F238E27FC236}">
                <a16:creationId xmlns:a16="http://schemas.microsoft.com/office/drawing/2014/main" id="{2A73DA5C-F06B-A590-9987-5306E6C59DCE}"/>
              </a:ext>
            </a:extLst>
          </p:cNvPr>
          <p:cNvSpPr/>
          <p:nvPr/>
        </p:nvSpPr>
        <p:spPr>
          <a:xfrm>
            <a:off x="207897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紹介特典訴求</a:t>
            </a:r>
            <a:endParaRPr lang="en-US" sz="700" dirty="0">
              <a:latin typeface="メイリオ" panose="020B0604030504040204" pitchFamily="50" charset="-128"/>
              <a:ea typeface="メイリオ" panose="020B0604030504040204" pitchFamily="50" charset="-128"/>
            </a:endParaRPr>
          </a:p>
        </p:txBody>
      </p:sp>
      <p:sp>
        <p:nvSpPr>
          <p:cNvPr id="355" name="Shape 65">
            <a:extLst>
              <a:ext uri="{FF2B5EF4-FFF2-40B4-BE49-F238E27FC236}">
                <a16:creationId xmlns:a16="http://schemas.microsoft.com/office/drawing/2014/main" id="{4B5406BB-D5C2-0D61-B213-493260EC338A}"/>
              </a:ext>
            </a:extLst>
          </p:cNvPr>
          <p:cNvSpPr/>
          <p:nvPr/>
        </p:nvSpPr>
        <p:spPr>
          <a:xfrm>
            <a:off x="3353043" y="583217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57" name="Text 66">
            <a:extLst>
              <a:ext uri="{FF2B5EF4-FFF2-40B4-BE49-F238E27FC236}">
                <a16:creationId xmlns:a16="http://schemas.microsoft.com/office/drawing/2014/main" id="{E443F4FD-BC95-5CA8-315B-21521441E367}"/>
              </a:ext>
            </a:extLst>
          </p:cNvPr>
          <p:cNvSpPr/>
          <p:nvPr/>
        </p:nvSpPr>
        <p:spPr>
          <a:xfrm>
            <a:off x="3353043" y="5832174"/>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59" name="Shape 67">
            <a:extLst>
              <a:ext uri="{FF2B5EF4-FFF2-40B4-BE49-F238E27FC236}">
                <a16:creationId xmlns:a16="http://schemas.microsoft.com/office/drawing/2014/main" id="{DA4B236A-3702-649B-9446-3AB64493F09A}"/>
              </a:ext>
            </a:extLst>
          </p:cNvPr>
          <p:cNvSpPr/>
          <p:nvPr/>
        </p:nvSpPr>
        <p:spPr>
          <a:xfrm>
            <a:off x="3444483" y="5676275"/>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00" b="1" dirty="0" err="1">
                <a:solidFill>
                  <a:srgbClr val="FFFFFF"/>
                </a:solidFill>
                <a:latin typeface="メイリオ" panose="020B0604030504040204" pitchFamily="50" charset="-128"/>
                <a:ea typeface="メイリオ" panose="020B0604030504040204" pitchFamily="50" charset="-128"/>
                <a:cs typeface="Calibri" pitchFamily="34" charset="-120"/>
              </a:rPr>
              <a:t>紹介→新規CV</a:t>
            </a:r>
            <a:endParaRPr lang="en-US" altLang="ja-JP" sz="700" dirty="0">
              <a:latin typeface="メイリオ" panose="020B0604030504040204" pitchFamily="50" charset="-128"/>
              <a:ea typeface="メイリオ" panose="020B0604030504040204" pitchFamily="50" charset="-128"/>
            </a:endParaRPr>
          </a:p>
        </p:txBody>
      </p:sp>
      <p:sp>
        <p:nvSpPr>
          <p:cNvPr id="363" name="Shape 69">
            <a:extLst>
              <a:ext uri="{FF2B5EF4-FFF2-40B4-BE49-F238E27FC236}">
                <a16:creationId xmlns:a16="http://schemas.microsoft.com/office/drawing/2014/main" id="{11D208CF-F0AA-77FB-68F5-7FA3663557BE}"/>
              </a:ext>
            </a:extLst>
          </p:cNvPr>
          <p:cNvSpPr/>
          <p:nvPr/>
        </p:nvSpPr>
        <p:spPr>
          <a:xfrm>
            <a:off x="5066019" y="1571632"/>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7" name="Shape 71">
            <a:extLst>
              <a:ext uri="{FF2B5EF4-FFF2-40B4-BE49-F238E27FC236}">
                <a16:creationId xmlns:a16="http://schemas.microsoft.com/office/drawing/2014/main" id="{BA65DAD3-3E2D-0363-0ABA-819311B17A9B}"/>
              </a:ext>
            </a:extLst>
          </p:cNvPr>
          <p:cNvSpPr/>
          <p:nvPr/>
        </p:nvSpPr>
        <p:spPr>
          <a:xfrm>
            <a:off x="5175747" y="1663072"/>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69" name="Text 72">
            <a:extLst>
              <a:ext uri="{FF2B5EF4-FFF2-40B4-BE49-F238E27FC236}">
                <a16:creationId xmlns:a16="http://schemas.microsoft.com/office/drawing/2014/main" id="{772DDEC2-C488-7293-86EB-F96BAAD7EA90}"/>
              </a:ext>
            </a:extLst>
          </p:cNvPr>
          <p:cNvSpPr/>
          <p:nvPr/>
        </p:nvSpPr>
        <p:spPr>
          <a:xfrm>
            <a:off x="5175747" y="1672216"/>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900" dirty="0">
              <a:latin typeface="メイリオ" panose="020B0604030504040204" pitchFamily="50" charset="-128"/>
              <a:ea typeface="メイリオ" panose="020B0604030504040204" pitchFamily="50" charset="-128"/>
            </a:endParaRPr>
          </a:p>
        </p:txBody>
      </p:sp>
      <p:sp>
        <p:nvSpPr>
          <p:cNvPr id="371" name="Shape 73">
            <a:extLst>
              <a:ext uri="{FF2B5EF4-FFF2-40B4-BE49-F238E27FC236}">
                <a16:creationId xmlns:a16="http://schemas.microsoft.com/office/drawing/2014/main" id="{595BE68E-4F81-E693-447A-8BD486204CD6}"/>
              </a:ext>
            </a:extLst>
          </p:cNvPr>
          <p:cNvSpPr/>
          <p:nvPr/>
        </p:nvSpPr>
        <p:spPr>
          <a:xfrm>
            <a:off x="5523219" y="1690504"/>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373" name="Text 74">
            <a:extLst>
              <a:ext uri="{FF2B5EF4-FFF2-40B4-BE49-F238E27FC236}">
                <a16:creationId xmlns:a16="http://schemas.microsoft.com/office/drawing/2014/main" id="{DE0C1BD7-D498-BF93-A12E-93FC8F3EFEEB}"/>
              </a:ext>
            </a:extLst>
          </p:cNvPr>
          <p:cNvSpPr/>
          <p:nvPr/>
        </p:nvSpPr>
        <p:spPr>
          <a:xfrm>
            <a:off x="5523219" y="1672216"/>
            <a:ext cx="859536" cy="201168"/>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利用状況連動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375" name="Text 75">
            <a:extLst>
              <a:ext uri="{FF2B5EF4-FFF2-40B4-BE49-F238E27FC236}">
                <a16:creationId xmlns:a16="http://schemas.microsoft.com/office/drawing/2014/main" id="{828F19F3-3156-29E9-3072-E1DED5F92BA0}"/>
              </a:ext>
            </a:extLst>
          </p:cNvPr>
          <p:cNvSpPr/>
          <p:nvPr/>
        </p:nvSpPr>
        <p:spPr>
          <a:xfrm>
            <a:off x="6437619" y="1672216"/>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利用量・頻度に応じたアップグレード提案</a:t>
            </a:r>
            <a:endParaRPr lang="en-US" sz="1000" dirty="0">
              <a:latin typeface="メイリオ" panose="020B0604030504040204" pitchFamily="50" charset="-128"/>
              <a:ea typeface="メイリオ" panose="020B0604030504040204" pitchFamily="50" charset="-128"/>
            </a:endParaRPr>
          </a:p>
        </p:txBody>
      </p:sp>
      <p:sp>
        <p:nvSpPr>
          <p:cNvPr id="377" name="Text 76">
            <a:extLst>
              <a:ext uri="{FF2B5EF4-FFF2-40B4-BE49-F238E27FC236}">
                <a16:creationId xmlns:a16="http://schemas.microsoft.com/office/drawing/2014/main" id="{74CEEBF9-FB5E-B42A-5BBB-7613F874DD22}"/>
              </a:ext>
            </a:extLst>
          </p:cNvPr>
          <p:cNvSpPr/>
          <p:nvPr/>
        </p:nvSpPr>
        <p:spPr>
          <a:xfrm>
            <a:off x="5175747" y="2106046"/>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利用状況タグを活用して「よく使っている層」に上位プランの提案を自動配信。「今のプランより月1,000円で〇〇が使い放題に」という具体的メリット提示がCVRを高める。</a:t>
            </a:r>
            <a:endParaRPr lang="en-US" sz="600" dirty="0">
              <a:latin typeface="メイリオ" panose="020B0604030504040204" pitchFamily="50" charset="-128"/>
              <a:ea typeface="メイリオ" panose="020B0604030504040204" pitchFamily="50" charset="-128"/>
            </a:endParaRPr>
          </a:p>
        </p:txBody>
      </p:sp>
      <p:sp>
        <p:nvSpPr>
          <p:cNvPr id="379" name="Shape 77">
            <a:extLst>
              <a:ext uri="{FF2B5EF4-FFF2-40B4-BE49-F238E27FC236}">
                <a16:creationId xmlns:a16="http://schemas.microsoft.com/office/drawing/2014/main" id="{EB3AEAB9-3091-B770-5C73-60F2CC509D9D}"/>
              </a:ext>
            </a:extLst>
          </p:cNvPr>
          <p:cNvSpPr/>
          <p:nvPr/>
        </p:nvSpPr>
        <p:spPr>
          <a:xfrm>
            <a:off x="5157459" y="2621391"/>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381" name="Text 78">
            <a:extLst>
              <a:ext uri="{FF2B5EF4-FFF2-40B4-BE49-F238E27FC236}">
                <a16:creationId xmlns:a16="http://schemas.microsoft.com/office/drawing/2014/main" id="{16B65D6F-FEB1-6B8D-4243-6E6A8950251C}"/>
              </a:ext>
            </a:extLst>
          </p:cNvPr>
          <p:cNvSpPr/>
          <p:nvPr/>
        </p:nvSpPr>
        <p:spPr>
          <a:xfrm>
            <a:off x="5157459" y="2621391"/>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利用量タグ付与</a:t>
            </a:r>
            <a:endParaRPr lang="en-US" sz="700" dirty="0">
              <a:latin typeface="メイリオ" panose="020B0604030504040204" pitchFamily="50" charset="-128"/>
              <a:ea typeface="メイリオ" panose="020B0604030504040204" pitchFamily="50" charset="-128"/>
            </a:endParaRPr>
          </a:p>
        </p:txBody>
      </p:sp>
      <p:sp>
        <p:nvSpPr>
          <p:cNvPr id="383" name="Shape 79">
            <a:extLst>
              <a:ext uri="{FF2B5EF4-FFF2-40B4-BE49-F238E27FC236}">
                <a16:creationId xmlns:a16="http://schemas.microsoft.com/office/drawing/2014/main" id="{ACEF9838-1EE3-1464-24F9-5960C72ACE63}"/>
              </a:ext>
            </a:extLst>
          </p:cNvPr>
          <p:cNvSpPr/>
          <p:nvPr/>
        </p:nvSpPr>
        <p:spPr>
          <a:xfrm>
            <a:off x="6431523"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85" name="Text 80">
            <a:extLst>
              <a:ext uri="{FF2B5EF4-FFF2-40B4-BE49-F238E27FC236}">
                <a16:creationId xmlns:a16="http://schemas.microsoft.com/office/drawing/2014/main" id="{69501D59-8F67-4ADD-2B3A-62D69E08E6AD}"/>
              </a:ext>
            </a:extLst>
          </p:cNvPr>
          <p:cNvSpPr/>
          <p:nvPr/>
        </p:nvSpPr>
        <p:spPr>
          <a:xfrm>
            <a:off x="6431523"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87" name="Shape 81">
            <a:extLst>
              <a:ext uri="{FF2B5EF4-FFF2-40B4-BE49-F238E27FC236}">
                <a16:creationId xmlns:a16="http://schemas.microsoft.com/office/drawing/2014/main" id="{24E5901A-0626-345C-7E4E-690DFA9947EE}"/>
              </a:ext>
            </a:extLst>
          </p:cNvPr>
          <p:cNvSpPr/>
          <p:nvPr/>
        </p:nvSpPr>
        <p:spPr>
          <a:xfrm>
            <a:off x="6522963"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アップグレード提案</a:t>
            </a:r>
            <a:endParaRPr lang="en-US" altLang="ja-JP" sz="700" dirty="0">
              <a:latin typeface="メイリオ" panose="020B0604030504040204" pitchFamily="50" charset="-128"/>
              <a:ea typeface="メイリオ" panose="020B0604030504040204" pitchFamily="50" charset="-128"/>
            </a:endParaRPr>
          </a:p>
        </p:txBody>
      </p:sp>
      <p:sp>
        <p:nvSpPr>
          <p:cNvPr id="391" name="Shape 83">
            <a:extLst>
              <a:ext uri="{FF2B5EF4-FFF2-40B4-BE49-F238E27FC236}">
                <a16:creationId xmlns:a16="http://schemas.microsoft.com/office/drawing/2014/main" id="{DBA87A6B-3A5A-5BB5-800C-AD29E3A38E51}"/>
              </a:ext>
            </a:extLst>
          </p:cNvPr>
          <p:cNvSpPr/>
          <p:nvPr/>
        </p:nvSpPr>
        <p:spPr>
          <a:xfrm>
            <a:off x="7797027" y="2755954"/>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393" name="Text 84">
            <a:extLst>
              <a:ext uri="{FF2B5EF4-FFF2-40B4-BE49-F238E27FC236}">
                <a16:creationId xmlns:a16="http://schemas.microsoft.com/office/drawing/2014/main" id="{5F05F5BA-6ADB-F29A-796A-6AE1FAE69215}"/>
              </a:ext>
            </a:extLst>
          </p:cNvPr>
          <p:cNvSpPr/>
          <p:nvPr/>
        </p:nvSpPr>
        <p:spPr>
          <a:xfrm>
            <a:off x="7797027" y="2755954"/>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395" name="Shape 85">
            <a:extLst>
              <a:ext uri="{FF2B5EF4-FFF2-40B4-BE49-F238E27FC236}">
                <a16:creationId xmlns:a16="http://schemas.microsoft.com/office/drawing/2014/main" id="{B5E69B07-FB02-4F49-A566-CE157E614F49}"/>
              </a:ext>
            </a:extLst>
          </p:cNvPr>
          <p:cNvSpPr/>
          <p:nvPr/>
        </p:nvSpPr>
        <p:spPr>
          <a:xfrm>
            <a:off x="7888467" y="2621391"/>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プラン変更CV</a:t>
            </a:r>
            <a:endParaRPr lang="en-US" altLang="ja-JP" sz="700" dirty="0">
              <a:latin typeface="メイリオ" panose="020B0604030504040204" pitchFamily="50" charset="-128"/>
              <a:ea typeface="メイリオ" panose="020B0604030504040204" pitchFamily="50" charset="-128"/>
            </a:endParaRPr>
          </a:p>
        </p:txBody>
      </p:sp>
      <p:sp>
        <p:nvSpPr>
          <p:cNvPr id="399" name="Shape 87">
            <a:extLst>
              <a:ext uri="{FF2B5EF4-FFF2-40B4-BE49-F238E27FC236}">
                <a16:creationId xmlns:a16="http://schemas.microsoft.com/office/drawing/2014/main" id="{BF4F34D9-E34A-88AA-21A2-8773568F5586}"/>
              </a:ext>
            </a:extLst>
          </p:cNvPr>
          <p:cNvSpPr/>
          <p:nvPr/>
        </p:nvSpPr>
        <p:spPr>
          <a:xfrm>
            <a:off x="5066019" y="3118120"/>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3" name="Shape 89">
            <a:extLst>
              <a:ext uri="{FF2B5EF4-FFF2-40B4-BE49-F238E27FC236}">
                <a16:creationId xmlns:a16="http://schemas.microsoft.com/office/drawing/2014/main" id="{EFE5E9D0-3F2E-411E-681C-D9CBD3BA1795}"/>
              </a:ext>
            </a:extLst>
          </p:cNvPr>
          <p:cNvSpPr/>
          <p:nvPr/>
        </p:nvSpPr>
        <p:spPr>
          <a:xfrm>
            <a:off x="5175747" y="3209560"/>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05" name="Text 90">
            <a:extLst>
              <a:ext uri="{FF2B5EF4-FFF2-40B4-BE49-F238E27FC236}">
                <a16:creationId xmlns:a16="http://schemas.microsoft.com/office/drawing/2014/main" id="{5A2E3029-A975-C95C-7E57-D4269143AA55}"/>
              </a:ext>
            </a:extLst>
          </p:cNvPr>
          <p:cNvSpPr/>
          <p:nvPr/>
        </p:nvSpPr>
        <p:spPr>
          <a:xfrm>
            <a:off x="5175747" y="3218704"/>
            <a:ext cx="274320" cy="274320"/>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900" dirty="0">
              <a:latin typeface="メイリオ" panose="020B0604030504040204" pitchFamily="50" charset="-128"/>
              <a:ea typeface="メイリオ" panose="020B0604030504040204" pitchFamily="50" charset="-128"/>
            </a:endParaRPr>
          </a:p>
        </p:txBody>
      </p:sp>
      <p:sp>
        <p:nvSpPr>
          <p:cNvPr id="407" name="Shape 91">
            <a:extLst>
              <a:ext uri="{FF2B5EF4-FFF2-40B4-BE49-F238E27FC236}">
                <a16:creationId xmlns:a16="http://schemas.microsoft.com/office/drawing/2014/main" id="{0B44982A-093D-F4A4-8627-DD2BEB875FCE}"/>
              </a:ext>
            </a:extLst>
          </p:cNvPr>
          <p:cNvSpPr/>
          <p:nvPr/>
        </p:nvSpPr>
        <p:spPr>
          <a:xfrm>
            <a:off x="5523219" y="3236992"/>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09" name="Text 92">
            <a:extLst>
              <a:ext uri="{FF2B5EF4-FFF2-40B4-BE49-F238E27FC236}">
                <a16:creationId xmlns:a16="http://schemas.microsoft.com/office/drawing/2014/main" id="{8E58A804-D262-6223-9739-795C7490802F}"/>
              </a:ext>
            </a:extLst>
          </p:cNvPr>
          <p:cNvSpPr/>
          <p:nvPr/>
        </p:nvSpPr>
        <p:spPr>
          <a:xfrm>
            <a:off x="5523219" y="3218704"/>
            <a:ext cx="859536" cy="189246"/>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関連商材</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11" name="Text 93">
            <a:extLst>
              <a:ext uri="{FF2B5EF4-FFF2-40B4-BE49-F238E27FC236}">
                <a16:creationId xmlns:a16="http://schemas.microsoft.com/office/drawing/2014/main" id="{2820774A-8461-0C15-3354-D17D2A38ACE9}"/>
              </a:ext>
            </a:extLst>
          </p:cNvPr>
          <p:cNvSpPr/>
          <p:nvPr/>
        </p:nvSpPr>
        <p:spPr>
          <a:xfrm>
            <a:off x="6437619" y="3218704"/>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購入・利用カテゴリに紐づくクロスセル配信</a:t>
            </a:r>
            <a:endParaRPr lang="en-US" sz="1000" dirty="0">
              <a:latin typeface="メイリオ" panose="020B0604030504040204" pitchFamily="50" charset="-128"/>
              <a:ea typeface="メイリオ" panose="020B0604030504040204" pitchFamily="50" charset="-128"/>
            </a:endParaRPr>
          </a:p>
        </p:txBody>
      </p:sp>
      <p:sp>
        <p:nvSpPr>
          <p:cNvPr id="413" name="Text 94">
            <a:extLst>
              <a:ext uri="{FF2B5EF4-FFF2-40B4-BE49-F238E27FC236}">
                <a16:creationId xmlns:a16="http://schemas.microsoft.com/office/drawing/2014/main" id="{66C6D264-EC5E-9BD7-A6C4-38CC9629CE29}"/>
              </a:ext>
            </a:extLst>
          </p:cNvPr>
          <p:cNvSpPr/>
          <p:nvPr/>
        </p:nvSpPr>
        <p:spPr>
          <a:xfrm>
            <a:off x="5175747" y="3609802"/>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「Aサービスをご利用中の方向け：Bサービスとの組み合わせで効果UP」という形で関連商材を案内。タグセグメントで対象を絞ることで過剰アプローチを防ぐ。</a:t>
            </a:r>
            <a:endParaRPr lang="en-US" sz="600" dirty="0">
              <a:latin typeface="メイリオ" panose="020B0604030504040204" pitchFamily="50" charset="-128"/>
              <a:ea typeface="メイリオ" panose="020B0604030504040204" pitchFamily="50" charset="-128"/>
            </a:endParaRPr>
          </a:p>
        </p:txBody>
      </p:sp>
      <p:sp>
        <p:nvSpPr>
          <p:cNvPr id="415" name="Shape 95">
            <a:extLst>
              <a:ext uri="{FF2B5EF4-FFF2-40B4-BE49-F238E27FC236}">
                <a16:creationId xmlns:a16="http://schemas.microsoft.com/office/drawing/2014/main" id="{3620767E-5C81-82F3-ACE8-BEF5B040FA3C}"/>
              </a:ext>
            </a:extLst>
          </p:cNvPr>
          <p:cNvSpPr/>
          <p:nvPr/>
        </p:nvSpPr>
        <p:spPr>
          <a:xfrm>
            <a:off x="5157459"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17" name="Text 96">
            <a:extLst>
              <a:ext uri="{FF2B5EF4-FFF2-40B4-BE49-F238E27FC236}">
                <a16:creationId xmlns:a16="http://schemas.microsoft.com/office/drawing/2014/main" id="{9AA7117C-343C-4068-D766-8BFDA27C8DE4}"/>
              </a:ext>
            </a:extLst>
          </p:cNvPr>
          <p:cNvSpPr/>
          <p:nvPr/>
        </p:nvSpPr>
        <p:spPr>
          <a:xfrm>
            <a:off x="5157459"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購入カテゴリ特定</a:t>
            </a:r>
            <a:endParaRPr lang="en-US" sz="700" dirty="0">
              <a:latin typeface="メイリオ" panose="020B0604030504040204" pitchFamily="50" charset="-128"/>
              <a:ea typeface="メイリオ" panose="020B0604030504040204" pitchFamily="50" charset="-128"/>
            </a:endParaRPr>
          </a:p>
        </p:txBody>
      </p:sp>
      <p:sp>
        <p:nvSpPr>
          <p:cNvPr id="419" name="Shape 97">
            <a:extLst>
              <a:ext uri="{FF2B5EF4-FFF2-40B4-BE49-F238E27FC236}">
                <a16:creationId xmlns:a16="http://schemas.microsoft.com/office/drawing/2014/main" id="{0EBCC7F5-0E29-C4A8-94D8-A7D7ECC5F89A}"/>
              </a:ext>
            </a:extLst>
          </p:cNvPr>
          <p:cNvSpPr/>
          <p:nvPr/>
        </p:nvSpPr>
        <p:spPr>
          <a:xfrm>
            <a:off x="6431523"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1" name="Text 98">
            <a:extLst>
              <a:ext uri="{FF2B5EF4-FFF2-40B4-BE49-F238E27FC236}">
                <a16:creationId xmlns:a16="http://schemas.microsoft.com/office/drawing/2014/main" id="{BD96E4BA-ADE4-8898-880F-1EAA79A8DF2D}"/>
              </a:ext>
            </a:extLst>
          </p:cNvPr>
          <p:cNvSpPr/>
          <p:nvPr/>
        </p:nvSpPr>
        <p:spPr>
          <a:xfrm>
            <a:off x="6431523"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23" name="Shape 99">
            <a:extLst>
              <a:ext uri="{FF2B5EF4-FFF2-40B4-BE49-F238E27FC236}">
                <a16:creationId xmlns:a16="http://schemas.microsoft.com/office/drawing/2014/main" id="{E126C166-BD13-9190-0FE0-63914F4AD447}"/>
              </a:ext>
            </a:extLst>
          </p:cNvPr>
          <p:cNvSpPr/>
          <p:nvPr/>
        </p:nvSpPr>
        <p:spPr>
          <a:xfrm>
            <a:off x="6522963" y="4158910"/>
            <a:ext cx="1274064" cy="329184"/>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関連商材案内</a:t>
            </a:r>
            <a:endParaRPr lang="en-US" altLang="ja-JP" sz="700" dirty="0">
              <a:latin typeface="メイリオ" panose="020B0604030504040204" pitchFamily="50" charset="-128"/>
              <a:ea typeface="メイリオ" panose="020B0604030504040204" pitchFamily="50" charset="-128"/>
            </a:endParaRPr>
          </a:p>
        </p:txBody>
      </p:sp>
      <p:sp>
        <p:nvSpPr>
          <p:cNvPr id="427" name="Shape 101">
            <a:extLst>
              <a:ext uri="{FF2B5EF4-FFF2-40B4-BE49-F238E27FC236}">
                <a16:creationId xmlns:a16="http://schemas.microsoft.com/office/drawing/2014/main" id="{EE014BEF-08EA-D95F-B260-566E9689AFE2}"/>
              </a:ext>
            </a:extLst>
          </p:cNvPr>
          <p:cNvSpPr/>
          <p:nvPr/>
        </p:nvSpPr>
        <p:spPr>
          <a:xfrm>
            <a:off x="7797027" y="4293473"/>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29" name="Text 102">
            <a:extLst>
              <a:ext uri="{FF2B5EF4-FFF2-40B4-BE49-F238E27FC236}">
                <a16:creationId xmlns:a16="http://schemas.microsoft.com/office/drawing/2014/main" id="{6D8C6BF2-428E-B744-84F1-70D22F6EC306}"/>
              </a:ext>
            </a:extLst>
          </p:cNvPr>
          <p:cNvSpPr/>
          <p:nvPr/>
        </p:nvSpPr>
        <p:spPr>
          <a:xfrm>
            <a:off x="7797027" y="4293473"/>
            <a:ext cx="91440" cy="146304"/>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31" name="Shape 103">
            <a:extLst>
              <a:ext uri="{FF2B5EF4-FFF2-40B4-BE49-F238E27FC236}">
                <a16:creationId xmlns:a16="http://schemas.microsoft.com/office/drawing/2014/main" id="{EB1CED23-229B-155C-8DA1-725B58167B0D}"/>
              </a:ext>
            </a:extLst>
          </p:cNvPr>
          <p:cNvSpPr/>
          <p:nvPr/>
        </p:nvSpPr>
        <p:spPr>
          <a:xfrm>
            <a:off x="7888467" y="4158910"/>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33" name="Text 104">
            <a:extLst>
              <a:ext uri="{FF2B5EF4-FFF2-40B4-BE49-F238E27FC236}">
                <a16:creationId xmlns:a16="http://schemas.microsoft.com/office/drawing/2014/main" id="{B0BD8085-260F-767B-600D-29C4EFE91EF6}"/>
              </a:ext>
            </a:extLst>
          </p:cNvPr>
          <p:cNvSpPr/>
          <p:nvPr/>
        </p:nvSpPr>
        <p:spPr>
          <a:xfrm>
            <a:off x="7888467" y="4158910"/>
            <a:ext cx="1274064" cy="329184"/>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クロスセルCV</a:t>
            </a:r>
            <a:endParaRPr lang="en-US" sz="700" dirty="0">
              <a:latin typeface="メイリオ" panose="020B0604030504040204" pitchFamily="50" charset="-128"/>
              <a:ea typeface="メイリオ" panose="020B0604030504040204" pitchFamily="50" charset="-128"/>
            </a:endParaRPr>
          </a:p>
        </p:txBody>
      </p:sp>
      <p:sp>
        <p:nvSpPr>
          <p:cNvPr id="435" name="Shape 105">
            <a:extLst>
              <a:ext uri="{FF2B5EF4-FFF2-40B4-BE49-F238E27FC236}">
                <a16:creationId xmlns:a16="http://schemas.microsoft.com/office/drawing/2014/main" id="{2B58AD02-89B6-782E-1247-733846A3BEB6}"/>
              </a:ext>
            </a:extLst>
          </p:cNvPr>
          <p:cNvSpPr/>
          <p:nvPr/>
        </p:nvSpPr>
        <p:spPr>
          <a:xfrm>
            <a:off x="5066019" y="4666968"/>
            <a:ext cx="4279392" cy="1170432"/>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39" name="Shape 107">
            <a:extLst>
              <a:ext uri="{FF2B5EF4-FFF2-40B4-BE49-F238E27FC236}">
                <a16:creationId xmlns:a16="http://schemas.microsoft.com/office/drawing/2014/main" id="{A1CF4B93-1F7F-95B1-9748-9AE48BB0A67D}"/>
              </a:ext>
            </a:extLst>
          </p:cNvPr>
          <p:cNvSpPr/>
          <p:nvPr/>
        </p:nvSpPr>
        <p:spPr>
          <a:xfrm>
            <a:off x="5175747" y="4758408"/>
            <a:ext cx="274320" cy="274320"/>
          </a:xfrm>
          <a:prstGeom prst="ellipse">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41" name="Text 108">
            <a:extLst>
              <a:ext uri="{FF2B5EF4-FFF2-40B4-BE49-F238E27FC236}">
                <a16:creationId xmlns:a16="http://schemas.microsoft.com/office/drawing/2014/main" id="{699242CC-C724-22FB-181E-24FA20BE103C}"/>
              </a:ext>
            </a:extLst>
          </p:cNvPr>
          <p:cNvSpPr/>
          <p:nvPr/>
        </p:nvSpPr>
        <p:spPr>
          <a:xfrm>
            <a:off x="5175747" y="476755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900" dirty="0">
              <a:latin typeface="メイリオ" panose="020B0604030504040204" pitchFamily="50" charset="-128"/>
              <a:ea typeface="メイリオ" panose="020B0604030504040204" pitchFamily="50" charset="-128"/>
            </a:endParaRPr>
          </a:p>
        </p:txBody>
      </p:sp>
      <p:sp>
        <p:nvSpPr>
          <p:cNvPr id="443" name="Shape 109">
            <a:extLst>
              <a:ext uri="{FF2B5EF4-FFF2-40B4-BE49-F238E27FC236}">
                <a16:creationId xmlns:a16="http://schemas.microsoft.com/office/drawing/2014/main" id="{5C0B9632-0D33-3A4F-852D-28C99ACB77A6}"/>
              </a:ext>
            </a:extLst>
          </p:cNvPr>
          <p:cNvSpPr/>
          <p:nvPr/>
        </p:nvSpPr>
        <p:spPr>
          <a:xfrm>
            <a:off x="5523219" y="4785840"/>
            <a:ext cx="859536" cy="201168"/>
          </a:xfrm>
          <a:prstGeom prst="roundRect">
            <a:avLst>
              <a:gd name="adj" fmla="val 18182"/>
            </a:avLst>
          </a:prstGeom>
          <a:solidFill>
            <a:schemeClr val="tx2"/>
          </a:solidFill>
          <a:ln w="12700">
            <a:solidFill>
              <a:srgbClr val="D8D8E2"/>
            </a:solidFill>
            <a:prstDash val="solid"/>
          </a:ln>
        </p:spPr>
        <p:txBody>
          <a:bodyPr/>
          <a:lstStyle/>
          <a:p>
            <a:endParaRPr lang="ja-JP" altLang="en-US" sz="700">
              <a:solidFill>
                <a:srgbClr val="FDFDFD"/>
              </a:solidFill>
              <a:latin typeface="メイリオ" panose="020B0604030504040204" pitchFamily="50" charset="-128"/>
              <a:ea typeface="メイリオ" panose="020B0604030504040204" pitchFamily="50" charset="-128"/>
            </a:endParaRPr>
          </a:p>
        </p:txBody>
      </p:sp>
      <p:sp>
        <p:nvSpPr>
          <p:cNvPr id="445" name="Text 110">
            <a:extLst>
              <a:ext uri="{FF2B5EF4-FFF2-40B4-BE49-F238E27FC236}">
                <a16:creationId xmlns:a16="http://schemas.microsoft.com/office/drawing/2014/main" id="{B910E2C6-1CCA-1DB7-F916-05CAB4560F12}"/>
              </a:ext>
            </a:extLst>
          </p:cNvPr>
          <p:cNvSpPr/>
          <p:nvPr/>
        </p:nvSpPr>
        <p:spPr>
          <a:xfrm>
            <a:off x="5523219" y="4767551"/>
            <a:ext cx="859536" cy="204224"/>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季節連動</a:t>
            </a:r>
            <a:endParaRPr lang="en-US" sz="700" dirty="0">
              <a:solidFill>
                <a:srgbClr val="FDFDFD"/>
              </a:solidFill>
              <a:latin typeface="メイリオ" panose="020B0604030504040204" pitchFamily="50" charset="-128"/>
              <a:ea typeface="メイリオ" panose="020B0604030504040204" pitchFamily="50" charset="-128"/>
            </a:endParaRPr>
          </a:p>
        </p:txBody>
      </p:sp>
      <p:sp>
        <p:nvSpPr>
          <p:cNvPr id="447" name="Text 111">
            <a:extLst>
              <a:ext uri="{FF2B5EF4-FFF2-40B4-BE49-F238E27FC236}">
                <a16:creationId xmlns:a16="http://schemas.microsoft.com/office/drawing/2014/main" id="{418968BF-D240-4525-61FD-34A2CD92F77A}"/>
              </a:ext>
            </a:extLst>
          </p:cNvPr>
          <p:cNvSpPr/>
          <p:nvPr/>
        </p:nvSpPr>
        <p:spPr>
          <a:xfrm>
            <a:off x="6437619" y="4767552"/>
            <a:ext cx="2798064" cy="256032"/>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季節・繁忙期に合わせた関連サービス案内</a:t>
            </a:r>
            <a:endParaRPr lang="en-US" sz="1000" dirty="0">
              <a:latin typeface="メイリオ" panose="020B0604030504040204" pitchFamily="50" charset="-128"/>
              <a:ea typeface="メイリオ" panose="020B0604030504040204" pitchFamily="50" charset="-128"/>
            </a:endParaRPr>
          </a:p>
        </p:txBody>
      </p:sp>
      <p:sp>
        <p:nvSpPr>
          <p:cNvPr id="449" name="Text 112">
            <a:extLst>
              <a:ext uri="{FF2B5EF4-FFF2-40B4-BE49-F238E27FC236}">
                <a16:creationId xmlns:a16="http://schemas.microsoft.com/office/drawing/2014/main" id="{DB9225A3-0B40-6631-04BA-B036BA78DD18}"/>
              </a:ext>
            </a:extLst>
          </p:cNvPr>
          <p:cNvSpPr/>
          <p:nvPr/>
        </p:nvSpPr>
        <p:spPr>
          <a:xfrm>
            <a:off x="5175747" y="5163094"/>
            <a:ext cx="4059936" cy="310896"/>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ユーザーが次のニーズを感じる前に関連サービスを先出しする。「春のXXXに向けて、ご準備はお済みですか？」という形でシーズン2〜3週前に配信するとCVRが高い。</a:t>
            </a:r>
            <a:endParaRPr lang="en-US" sz="600" dirty="0">
              <a:latin typeface="メイリオ" panose="020B0604030504040204" pitchFamily="50" charset="-128"/>
              <a:ea typeface="メイリオ" panose="020B0604030504040204" pitchFamily="50" charset="-128"/>
            </a:endParaRPr>
          </a:p>
        </p:txBody>
      </p:sp>
      <p:sp>
        <p:nvSpPr>
          <p:cNvPr id="451" name="Shape 113">
            <a:extLst>
              <a:ext uri="{FF2B5EF4-FFF2-40B4-BE49-F238E27FC236}">
                <a16:creationId xmlns:a16="http://schemas.microsoft.com/office/drawing/2014/main" id="{2E10B183-2361-FE23-322F-7D503F80197A}"/>
              </a:ext>
            </a:extLst>
          </p:cNvPr>
          <p:cNvSpPr/>
          <p:nvPr/>
        </p:nvSpPr>
        <p:spPr>
          <a:xfrm>
            <a:off x="5157459" y="5676275"/>
            <a:ext cx="1274064" cy="329184"/>
          </a:xfrm>
          <a:prstGeom prst="roundRect">
            <a:avLst>
              <a:gd name="adj" fmla="val 16667"/>
            </a:avLst>
          </a:prstGeom>
          <a:solidFill>
            <a:schemeClr val="tx1"/>
          </a:solidFill>
          <a:ln w="12700">
            <a:no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3" name="Text 114">
            <a:extLst>
              <a:ext uri="{FF2B5EF4-FFF2-40B4-BE49-F238E27FC236}">
                <a16:creationId xmlns:a16="http://schemas.microsoft.com/office/drawing/2014/main" id="{E3F71D55-3A7F-7216-A68B-E9D41C4251F7}"/>
              </a:ext>
            </a:extLst>
          </p:cNvPr>
          <p:cNvSpPr/>
          <p:nvPr/>
        </p:nvSpPr>
        <p:spPr>
          <a:xfrm>
            <a:off x="5157459"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シーズン2〜3週前</a:t>
            </a:r>
            <a:endParaRPr lang="en-US" sz="700" dirty="0">
              <a:latin typeface="メイリオ" panose="020B0604030504040204" pitchFamily="50" charset="-128"/>
              <a:ea typeface="メイリオ" panose="020B0604030504040204" pitchFamily="50" charset="-128"/>
            </a:endParaRPr>
          </a:p>
        </p:txBody>
      </p:sp>
      <p:sp>
        <p:nvSpPr>
          <p:cNvPr id="455" name="Shape 115">
            <a:extLst>
              <a:ext uri="{FF2B5EF4-FFF2-40B4-BE49-F238E27FC236}">
                <a16:creationId xmlns:a16="http://schemas.microsoft.com/office/drawing/2014/main" id="{4DD46369-30C8-F75A-A124-3FEDB935C4A0}"/>
              </a:ext>
            </a:extLst>
          </p:cNvPr>
          <p:cNvSpPr/>
          <p:nvPr/>
        </p:nvSpPr>
        <p:spPr>
          <a:xfrm>
            <a:off x="6431523"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57" name="Text 116">
            <a:extLst>
              <a:ext uri="{FF2B5EF4-FFF2-40B4-BE49-F238E27FC236}">
                <a16:creationId xmlns:a16="http://schemas.microsoft.com/office/drawing/2014/main" id="{4A907B15-7708-47C9-7642-BA0B05630DEF}"/>
              </a:ext>
            </a:extLst>
          </p:cNvPr>
          <p:cNvSpPr/>
          <p:nvPr/>
        </p:nvSpPr>
        <p:spPr>
          <a:xfrm>
            <a:off x="6431523"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59" name="Shape 117">
            <a:extLst>
              <a:ext uri="{FF2B5EF4-FFF2-40B4-BE49-F238E27FC236}">
                <a16:creationId xmlns:a16="http://schemas.microsoft.com/office/drawing/2014/main" id="{33185618-A887-525D-081A-03DCDB2AC769}"/>
              </a:ext>
            </a:extLst>
          </p:cNvPr>
          <p:cNvSpPr/>
          <p:nvPr/>
        </p:nvSpPr>
        <p:spPr>
          <a:xfrm>
            <a:off x="6522963"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1" name="Text 118">
            <a:extLst>
              <a:ext uri="{FF2B5EF4-FFF2-40B4-BE49-F238E27FC236}">
                <a16:creationId xmlns:a16="http://schemas.microsoft.com/office/drawing/2014/main" id="{A758DBE7-E957-396E-311E-D9582502DB4F}"/>
              </a:ext>
            </a:extLst>
          </p:cNvPr>
          <p:cNvSpPr/>
          <p:nvPr/>
        </p:nvSpPr>
        <p:spPr>
          <a:xfrm>
            <a:off x="6522963"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関連サービス先出し</a:t>
            </a:r>
            <a:endParaRPr lang="en-US" sz="700" dirty="0">
              <a:latin typeface="メイリオ" panose="020B0604030504040204" pitchFamily="50" charset="-128"/>
              <a:ea typeface="メイリオ" panose="020B0604030504040204" pitchFamily="50" charset="-128"/>
            </a:endParaRPr>
          </a:p>
        </p:txBody>
      </p:sp>
      <p:sp>
        <p:nvSpPr>
          <p:cNvPr id="463" name="Shape 119">
            <a:extLst>
              <a:ext uri="{FF2B5EF4-FFF2-40B4-BE49-F238E27FC236}">
                <a16:creationId xmlns:a16="http://schemas.microsoft.com/office/drawing/2014/main" id="{BF462C74-804E-9C1C-C821-FF72072655B2}"/>
              </a:ext>
            </a:extLst>
          </p:cNvPr>
          <p:cNvSpPr/>
          <p:nvPr/>
        </p:nvSpPr>
        <p:spPr>
          <a:xfrm>
            <a:off x="7797027" y="5807651"/>
            <a:ext cx="91440" cy="146304"/>
          </a:xfrm>
          <a:prstGeom prst="roundRect">
            <a:avLst>
              <a:gd name="adj" fmla="val 40000"/>
            </a:avLst>
          </a:prstGeom>
          <a:solidFill>
            <a:srgbClr val="D8D8E2"/>
          </a:solidFill>
          <a:ln w="12700">
            <a:solidFill>
              <a:srgbClr val="D8D8E2"/>
            </a:solidFill>
            <a:prstDash val="solid"/>
          </a:ln>
        </p:spPr>
        <p:txBody>
          <a:bodyPr/>
          <a:lstStyle/>
          <a:p>
            <a:endParaRPr lang="ja-JP" altLang="en-US" sz="1200">
              <a:latin typeface="メイリオ" panose="020B0604030504040204" pitchFamily="50" charset="-128"/>
              <a:ea typeface="メイリオ" panose="020B0604030504040204" pitchFamily="50" charset="-128"/>
            </a:endParaRPr>
          </a:p>
        </p:txBody>
      </p:sp>
      <p:sp>
        <p:nvSpPr>
          <p:cNvPr id="465" name="Text 120">
            <a:extLst>
              <a:ext uri="{FF2B5EF4-FFF2-40B4-BE49-F238E27FC236}">
                <a16:creationId xmlns:a16="http://schemas.microsoft.com/office/drawing/2014/main" id="{BB683829-0CAA-9EF6-F72B-0FA8AE6169AD}"/>
              </a:ext>
            </a:extLst>
          </p:cNvPr>
          <p:cNvSpPr/>
          <p:nvPr/>
        </p:nvSpPr>
        <p:spPr>
          <a:xfrm>
            <a:off x="7797027" y="5807651"/>
            <a:ext cx="91440" cy="146304"/>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400" dirty="0">
              <a:latin typeface="メイリオ" panose="020B0604030504040204" pitchFamily="50" charset="-128"/>
              <a:ea typeface="メイリオ" panose="020B0604030504040204" pitchFamily="50" charset="-128"/>
            </a:endParaRPr>
          </a:p>
        </p:txBody>
      </p:sp>
      <p:sp>
        <p:nvSpPr>
          <p:cNvPr id="467" name="Shape 121">
            <a:extLst>
              <a:ext uri="{FF2B5EF4-FFF2-40B4-BE49-F238E27FC236}">
                <a16:creationId xmlns:a16="http://schemas.microsoft.com/office/drawing/2014/main" id="{EE617E52-3088-925B-672C-E8F15869002F}"/>
              </a:ext>
            </a:extLst>
          </p:cNvPr>
          <p:cNvSpPr/>
          <p:nvPr/>
        </p:nvSpPr>
        <p:spPr>
          <a:xfrm>
            <a:off x="7888467" y="5676275"/>
            <a:ext cx="1274064" cy="329184"/>
          </a:xfrm>
          <a:prstGeom prst="roundRect">
            <a:avLst>
              <a:gd name="adj" fmla="val 16667"/>
            </a:avLst>
          </a:prstGeom>
          <a:solidFill>
            <a:schemeClr val="tx1"/>
          </a:solidFill>
          <a:ln w="12700">
            <a:noFill/>
            <a:prstDash val="solid"/>
          </a:ln>
        </p:spPr>
        <p:txBody>
          <a:bodyPr/>
          <a:lstStyle/>
          <a:p>
            <a:endParaRPr lang="ja-JP" altLang="en-US" sz="700">
              <a:latin typeface="メイリオ" panose="020B0604030504040204" pitchFamily="50" charset="-128"/>
              <a:ea typeface="メイリオ" panose="020B0604030504040204" pitchFamily="50" charset="-128"/>
            </a:endParaRPr>
          </a:p>
        </p:txBody>
      </p:sp>
      <p:sp>
        <p:nvSpPr>
          <p:cNvPr id="469" name="Text 122">
            <a:extLst>
              <a:ext uri="{FF2B5EF4-FFF2-40B4-BE49-F238E27FC236}">
                <a16:creationId xmlns:a16="http://schemas.microsoft.com/office/drawing/2014/main" id="{571C1378-34E0-DF83-9B00-2BE63986DA83}"/>
              </a:ext>
            </a:extLst>
          </p:cNvPr>
          <p:cNvSpPr/>
          <p:nvPr/>
        </p:nvSpPr>
        <p:spPr>
          <a:xfrm>
            <a:off x="7888467" y="5676275"/>
            <a:ext cx="1274064" cy="329184"/>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CV獲得</a:t>
            </a:r>
            <a:endParaRPr lang="en-US" sz="7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8455432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9CBDC7-BB8D-566B-5273-6DCD8BE0326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F5D35F1-C5E4-FAC8-AB97-4C02D6883A9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具体施策</a:t>
            </a:r>
          </a:p>
        </p:txBody>
      </p:sp>
      <p:sp>
        <p:nvSpPr>
          <p:cNvPr id="2" name="Google Shape;752;p28">
            <a:extLst>
              <a:ext uri="{FF2B5EF4-FFF2-40B4-BE49-F238E27FC236}">
                <a16:creationId xmlns:a16="http://schemas.microsoft.com/office/drawing/2014/main" id="{53CF23F6-F858-EAD5-4A2E-672EF61A2882}"/>
              </a:ext>
            </a:extLst>
          </p:cNvPr>
          <p:cNvSpPr txBox="1"/>
          <p:nvPr/>
        </p:nvSpPr>
        <p:spPr>
          <a:xfrm>
            <a:off x="309397" y="778217"/>
            <a:ext cx="9461620"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想定：チャットやり取りを簡略化・自動化する事で、利便性を下げず営業トスアップ、</a:t>
            </a:r>
            <a:r>
              <a:rPr lang="en-US" altLang="ja-JP" sz="1600" b="1" dirty="0">
                <a:solidFill>
                  <a:srgbClr val="FF0000"/>
                </a:solidFill>
                <a:latin typeface="メイリオ" panose="020B0604030504040204" pitchFamily="50" charset="-128"/>
                <a:ea typeface="メイリオ" panose="020B0604030504040204" pitchFamily="50" charset="-128"/>
                <a:cs typeface="Meiryo"/>
                <a:sym typeface="Meiryo"/>
              </a:rPr>
              <a:t>CV</a:t>
            </a:r>
            <a:r>
              <a:rPr lang="ja-JP" altLang="en-US" sz="1600" b="1" dirty="0">
                <a:solidFill>
                  <a:srgbClr val="FF0000"/>
                </a:solidFill>
                <a:latin typeface="メイリオ" panose="020B0604030504040204" pitchFamily="50" charset="-128"/>
                <a:ea typeface="メイリオ" panose="020B0604030504040204" pitchFamily="50" charset="-128"/>
                <a:cs typeface="Meiryo"/>
                <a:sym typeface="Meiryo"/>
              </a:rPr>
              <a:t>に繋げる</a:t>
            </a:r>
          </a:p>
        </p:txBody>
      </p:sp>
      <p:sp>
        <p:nvSpPr>
          <p:cNvPr id="481" name="Shape 8">
            <a:extLst>
              <a:ext uri="{FF2B5EF4-FFF2-40B4-BE49-F238E27FC236}">
                <a16:creationId xmlns:a16="http://schemas.microsoft.com/office/drawing/2014/main" id="{40D8E928-F46D-96F7-0405-13E012EFA7B2}"/>
              </a:ext>
            </a:extLst>
          </p:cNvPr>
          <p:cNvSpPr/>
          <p:nvPr/>
        </p:nvSpPr>
        <p:spPr>
          <a:xfrm>
            <a:off x="622035"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3" name="Text 9">
            <a:extLst>
              <a:ext uri="{FF2B5EF4-FFF2-40B4-BE49-F238E27FC236}">
                <a16:creationId xmlns:a16="http://schemas.microsoft.com/office/drawing/2014/main" id="{211C6D19-0C27-C77A-DDEA-DCD4258F1B5D}"/>
              </a:ext>
            </a:extLst>
          </p:cNvPr>
          <p:cNvSpPr/>
          <p:nvPr/>
        </p:nvSpPr>
        <p:spPr>
          <a:xfrm>
            <a:off x="750051"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自動化施策</a:t>
            </a:r>
            <a:endParaRPr lang="en-US" sz="1100" dirty="0">
              <a:latin typeface="メイリオ" panose="020B0604030504040204" pitchFamily="50" charset="-128"/>
              <a:ea typeface="メイリオ" panose="020B0604030504040204" pitchFamily="50" charset="-128"/>
            </a:endParaRPr>
          </a:p>
        </p:txBody>
      </p:sp>
      <p:sp>
        <p:nvSpPr>
          <p:cNvPr id="485" name="Text 10">
            <a:extLst>
              <a:ext uri="{FF2B5EF4-FFF2-40B4-BE49-F238E27FC236}">
                <a16:creationId xmlns:a16="http://schemas.microsoft.com/office/drawing/2014/main" id="{DA951D4A-E1CE-ACE1-3BD6-706CA24B5611}"/>
              </a:ext>
            </a:extLst>
          </p:cNvPr>
          <p:cNvSpPr/>
          <p:nvPr/>
        </p:nvSpPr>
        <p:spPr>
          <a:xfrm>
            <a:off x="2430690" y="1326857"/>
            <a:ext cx="2361009" cy="182880"/>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よくある問い合わせを人手ゼロで対応する</a:t>
            </a:r>
            <a:endParaRPr lang="en-US" sz="900" dirty="0">
              <a:latin typeface="メイリオ" panose="020B0604030504040204" pitchFamily="50" charset="-128"/>
              <a:ea typeface="メイリオ" panose="020B0604030504040204" pitchFamily="50" charset="-128"/>
            </a:endParaRPr>
          </a:p>
        </p:txBody>
      </p:sp>
      <p:sp>
        <p:nvSpPr>
          <p:cNvPr id="487" name="Shape 11">
            <a:extLst>
              <a:ext uri="{FF2B5EF4-FFF2-40B4-BE49-F238E27FC236}">
                <a16:creationId xmlns:a16="http://schemas.microsoft.com/office/drawing/2014/main" id="{63FB878D-F961-067F-8450-B9BA5EA58307}"/>
              </a:ext>
            </a:extLst>
          </p:cNvPr>
          <p:cNvSpPr/>
          <p:nvPr/>
        </p:nvSpPr>
        <p:spPr>
          <a:xfrm>
            <a:off x="5066019" y="1279901"/>
            <a:ext cx="4279392" cy="295241"/>
          </a:xfrm>
          <a:prstGeom prst="roundRect">
            <a:avLst>
              <a:gd name="adj" fmla="val 13462"/>
            </a:avLst>
          </a:prstGeom>
          <a:solidFill>
            <a:srgbClr val="1F2B5C"/>
          </a:solidFill>
          <a:ln w="12700">
            <a:solidFill>
              <a:srgbClr val="1F2B5C"/>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89" name="Text 12">
            <a:extLst>
              <a:ext uri="{FF2B5EF4-FFF2-40B4-BE49-F238E27FC236}">
                <a16:creationId xmlns:a16="http://schemas.microsoft.com/office/drawing/2014/main" id="{F847FC9F-9261-C712-24D2-50358A98E369}"/>
              </a:ext>
            </a:extLst>
          </p:cNvPr>
          <p:cNvSpPr/>
          <p:nvPr/>
        </p:nvSpPr>
        <p:spPr>
          <a:xfrm>
            <a:off x="5194035" y="1262926"/>
            <a:ext cx="4023360" cy="237744"/>
          </a:xfrm>
          <a:prstGeom prst="rect">
            <a:avLst/>
          </a:prstGeom>
          <a:noFill/>
          <a:ln/>
        </p:spPr>
        <p:txBody>
          <a:bodyPr wrap="square" lIns="0" tIns="0" rIns="0" bIns="0" rtlCol="0" anchor="ctr"/>
          <a:lstStyle/>
          <a:p>
            <a:pPr marL="0" indent="0">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トスアップ施策</a:t>
            </a:r>
            <a:endParaRPr lang="en-US" sz="1100" dirty="0">
              <a:latin typeface="メイリオ" panose="020B0604030504040204" pitchFamily="50" charset="-128"/>
              <a:ea typeface="メイリオ" panose="020B0604030504040204" pitchFamily="50" charset="-128"/>
            </a:endParaRPr>
          </a:p>
        </p:txBody>
      </p:sp>
      <p:sp>
        <p:nvSpPr>
          <p:cNvPr id="491" name="Text 13">
            <a:extLst>
              <a:ext uri="{FF2B5EF4-FFF2-40B4-BE49-F238E27FC236}">
                <a16:creationId xmlns:a16="http://schemas.microsoft.com/office/drawing/2014/main" id="{BAB90F2A-13E5-1033-2A8F-C414B5648062}"/>
              </a:ext>
            </a:extLst>
          </p:cNvPr>
          <p:cNvSpPr/>
          <p:nvPr/>
        </p:nvSpPr>
        <p:spPr>
          <a:xfrm>
            <a:off x="6600354" y="1326857"/>
            <a:ext cx="2635329" cy="219533"/>
          </a:xfrm>
          <a:prstGeom prst="rect">
            <a:avLst/>
          </a:prstGeom>
          <a:noFill/>
          <a:ln/>
        </p:spPr>
        <p:txBody>
          <a:bodyPr wrap="square" lIns="0" tIns="0" rIns="0" bIns="0" rtlCol="0" anchor="ctr"/>
          <a:lstStyle/>
          <a:p>
            <a:pPr marL="0" indent="0">
              <a:buNone/>
            </a:pPr>
            <a:r>
              <a:rPr lang="en-US" sz="900" i="1" dirty="0">
                <a:solidFill>
                  <a:srgbClr val="CADCF2"/>
                </a:solidFill>
                <a:latin typeface="メイリオ" panose="020B0604030504040204" pitchFamily="50" charset="-128"/>
                <a:ea typeface="メイリオ" panose="020B0604030504040204" pitchFamily="50" charset="-128"/>
                <a:cs typeface="Calibri" pitchFamily="34" charset="-120"/>
              </a:rPr>
              <a:t>温度感が高まったユーザーを営業に自動連携する</a:t>
            </a:r>
            <a:endParaRPr lang="en-US" sz="900" dirty="0">
              <a:latin typeface="メイリオ" panose="020B0604030504040204" pitchFamily="50" charset="-128"/>
              <a:ea typeface="メイリオ" panose="020B0604030504040204" pitchFamily="50" charset="-128"/>
            </a:endParaRPr>
          </a:p>
        </p:txBody>
      </p:sp>
      <p:sp>
        <p:nvSpPr>
          <p:cNvPr id="493" name="Shape 15">
            <a:extLst>
              <a:ext uri="{FF2B5EF4-FFF2-40B4-BE49-F238E27FC236}">
                <a16:creationId xmlns:a16="http://schemas.microsoft.com/office/drawing/2014/main" id="{7E3C711F-E58C-C906-0A6A-BB593A1E2C84}"/>
              </a:ext>
            </a:extLst>
          </p:cNvPr>
          <p:cNvSpPr/>
          <p:nvPr/>
        </p:nvSpPr>
        <p:spPr>
          <a:xfrm>
            <a:off x="622035"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7" name="Shape 17">
            <a:extLst>
              <a:ext uri="{FF2B5EF4-FFF2-40B4-BE49-F238E27FC236}">
                <a16:creationId xmlns:a16="http://schemas.microsoft.com/office/drawing/2014/main" id="{C3F3A0E1-065D-A29B-1DB2-A3E74C471585}"/>
              </a:ext>
            </a:extLst>
          </p:cNvPr>
          <p:cNvSpPr/>
          <p:nvPr/>
        </p:nvSpPr>
        <p:spPr>
          <a:xfrm>
            <a:off x="731763"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499" name="Text 18">
            <a:extLst>
              <a:ext uri="{FF2B5EF4-FFF2-40B4-BE49-F238E27FC236}">
                <a16:creationId xmlns:a16="http://schemas.microsoft.com/office/drawing/2014/main" id="{F9CB141F-8399-5788-B588-7FE43F1079D4}"/>
              </a:ext>
            </a:extLst>
          </p:cNvPr>
          <p:cNvSpPr/>
          <p:nvPr/>
        </p:nvSpPr>
        <p:spPr>
          <a:xfrm>
            <a:off x="731763"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501" name="Shape 19">
            <a:extLst>
              <a:ext uri="{FF2B5EF4-FFF2-40B4-BE49-F238E27FC236}">
                <a16:creationId xmlns:a16="http://schemas.microsoft.com/office/drawing/2014/main" id="{3481035F-3DCB-6282-CAE4-A507C103A500}"/>
              </a:ext>
            </a:extLst>
          </p:cNvPr>
          <p:cNvSpPr/>
          <p:nvPr/>
        </p:nvSpPr>
        <p:spPr>
          <a:xfrm>
            <a:off x="999987" y="1703397"/>
            <a:ext cx="938784" cy="238470"/>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03" name="Text 20">
            <a:extLst>
              <a:ext uri="{FF2B5EF4-FFF2-40B4-BE49-F238E27FC236}">
                <a16:creationId xmlns:a16="http://schemas.microsoft.com/office/drawing/2014/main" id="{0C55A5FC-8367-FE85-5883-A028AB70B62A}"/>
              </a:ext>
            </a:extLst>
          </p:cNvPr>
          <p:cNvSpPr/>
          <p:nvPr/>
        </p:nvSpPr>
        <p:spPr>
          <a:xfrm>
            <a:off x="999987" y="1703396"/>
            <a:ext cx="938784" cy="276035"/>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KW自動応答</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05" name="Text 21">
            <a:extLst>
              <a:ext uri="{FF2B5EF4-FFF2-40B4-BE49-F238E27FC236}">
                <a16:creationId xmlns:a16="http://schemas.microsoft.com/office/drawing/2014/main" id="{8A25C9DA-C365-44B1-C918-421BC16A0936}"/>
              </a:ext>
            </a:extLst>
          </p:cNvPr>
          <p:cNvSpPr/>
          <p:nvPr/>
        </p:nvSpPr>
        <p:spPr>
          <a:xfrm>
            <a:off x="1993635" y="1663027"/>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頻出ワードへの自動返答でFAQを即解消</a:t>
            </a:r>
            <a:endParaRPr lang="en-US" sz="1100" dirty="0">
              <a:latin typeface="メイリオ" panose="020B0604030504040204" pitchFamily="50" charset="-128"/>
              <a:ea typeface="メイリオ" panose="020B0604030504040204" pitchFamily="50" charset="-128"/>
            </a:endParaRPr>
          </a:p>
        </p:txBody>
      </p:sp>
      <p:sp>
        <p:nvSpPr>
          <p:cNvPr id="507" name="Text 22">
            <a:extLst>
              <a:ext uri="{FF2B5EF4-FFF2-40B4-BE49-F238E27FC236}">
                <a16:creationId xmlns:a16="http://schemas.microsoft.com/office/drawing/2014/main" id="{B693EEEC-7F00-EA99-5A34-4E9A268BE1A5}"/>
              </a:ext>
            </a:extLst>
          </p:cNvPr>
          <p:cNvSpPr/>
          <p:nvPr/>
        </p:nvSpPr>
        <p:spPr>
          <a:xfrm>
            <a:off x="731763"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「料金は？」「予約したい」などの頻出キーワードをLINEに登録し自動返答。スタッフ対応ゼロで24時間365日対応が可能になり、問い合わせコストを大幅削減できる。</a:t>
            </a:r>
            <a:endParaRPr lang="en-US" sz="1000" dirty="0">
              <a:latin typeface="メイリオ" panose="020B0604030504040204" pitchFamily="50" charset="-128"/>
              <a:ea typeface="メイリオ" panose="020B0604030504040204" pitchFamily="50" charset="-128"/>
            </a:endParaRPr>
          </a:p>
        </p:txBody>
      </p:sp>
      <p:sp>
        <p:nvSpPr>
          <p:cNvPr id="509" name="Shape 23">
            <a:extLst>
              <a:ext uri="{FF2B5EF4-FFF2-40B4-BE49-F238E27FC236}">
                <a16:creationId xmlns:a16="http://schemas.microsoft.com/office/drawing/2014/main" id="{A2D2CDF0-CB49-AE15-936A-5D4CF22FFF73}"/>
              </a:ext>
            </a:extLst>
          </p:cNvPr>
          <p:cNvSpPr/>
          <p:nvPr/>
        </p:nvSpPr>
        <p:spPr>
          <a:xfrm>
            <a:off x="713475"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KW受信</a:t>
            </a:r>
            <a:endParaRPr lang="en-US" altLang="ja-JP" sz="1050" dirty="0">
              <a:latin typeface="メイリオ" panose="020B0604030504040204" pitchFamily="50" charset="-128"/>
              <a:ea typeface="メイリオ" panose="020B0604030504040204" pitchFamily="50" charset="-128"/>
            </a:endParaRPr>
          </a:p>
        </p:txBody>
      </p:sp>
      <p:sp>
        <p:nvSpPr>
          <p:cNvPr id="513" name="Shape 25">
            <a:extLst>
              <a:ext uri="{FF2B5EF4-FFF2-40B4-BE49-F238E27FC236}">
                <a16:creationId xmlns:a16="http://schemas.microsoft.com/office/drawing/2014/main" id="{E2556D42-A97F-4FB8-9798-9FA17D54E059}"/>
              </a:ext>
            </a:extLst>
          </p:cNvPr>
          <p:cNvSpPr/>
          <p:nvPr/>
        </p:nvSpPr>
        <p:spPr>
          <a:xfrm>
            <a:off x="1987539"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5" name="Text 26">
            <a:extLst>
              <a:ext uri="{FF2B5EF4-FFF2-40B4-BE49-F238E27FC236}">
                <a16:creationId xmlns:a16="http://schemas.microsoft.com/office/drawing/2014/main" id="{C1C6DA5E-79AC-68C0-42C1-CAA0B39FA416}"/>
              </a:ext>
            </a:extLst>
          </p:cNvPr>
          <p:cNvSpPr/>
          <p:nvPr/>
        </p:nvSpPr>
        <p:spPr>
          <a:xfrm>
            <a:off x="1987539"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17" name="Shape 27">
            <a:extLst>
              <a:ext uri="{FF2B5EF4-FFF2-40B4-BE49-F238E27FC236}">
                <a16:creationId xmlns:a16="http://schemas.microsoft.com/office/drawing/2014/main" id="{A8D5B9DB-4355-49CF-1630-7986C6276E29}"/>
              </a:ext>
            </a:extLst>
          </p:cNvPr>
          <p:cNvSpPr/>
          <p:nvPr/>
        </p:nvSpPr>
        <p:spPr>
          <a:xfrm>
            <a:off x="2078979" y="2621391"/>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19" name="Text 28">
            <a:extLst>
              <a:ext uri="{FF2B5EF4-FFF2-40B4-BE49-F238E27FC236}">
                <a16:creationId xmlns:a16="http://schemas.microsoft.com/office/drawing/2014/main" id="{F85272E7-370C-6676-96F2-02AE710242A4}"/>
              </a:ext>
            </a:extLst>
          </p:cNvPr>
          <p:cNvSpPr/>
          <p:nvPr/>
        </p:nvSpPr>
        <p:spPr>
          <a:xfrm>
            <a:off x="207897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自動返答</a:t>
            </a:r>
            <a:endParaRPr lang="en-US" sz="1050" dirty="0">
              <a:latin typeface="メイリオ" panose="020B0604030504040204" pitchFamily="50" charset="-128"/>
              <a:ea typeface="メイリオ" panose="020B0604030504040204" pitchFamily="50" charset="-128"/>
            </a:endParaRPr>
          </a:p>
        </p:txBody>
      </p:sp>
      <p:sp>
        <p:nvSpPr>
          <p:cNvPr id="521" name="Shape 29">
            <a:extLst>
              <a:ext uri="{FF2B5EF4-FFF2-40B4-BE49-F238E27FC236}">
                <a16:creationId xmlns:a16="http://schemas.microsoft.com/office/drawing/2014/main" id="{F507953E-977B-FFA6-1D19-EA7E8F6B3BEA}"/>
              </a:ext>
            </a:extLst>
          </p:cNvPr>
          <p:cNvSpPr/>
          <p:nvPr/>
        </p:nvSpPr>
        <p:spPr>
          <a:xfrm>
            <a:off x="335304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23" name="Text 30">
            <a:extLst>
              <a:ext uri="{FF2B5EF4-FFF2-40B4-BE49-F238E27FC236}">
                <a16:creationId xmlns:a16="http://schemas.microsoft.com/office/drawing/2014/main" id="{65A59212-B09E-F4BC-9E5F-C2F671474A3C}"/>
              </a:ext>
            </a:extLst>
          </p:cNvPr>
          <p:cNvSpPr/>
          <p:nvPr/>
        </p:nvSpPr>
        <p:spPr>
          <a:xfrm>
            <a:off x="335304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25" name="Shape 31">
            <a:extLst>
              <a:ext uri="{FF2B5EF4-FFF2-40B4-BE49-F238E27FC236}">
                <a16:creationId xmlns:a16="http://schemas.microsoft.com/office/drawing/2014/main" id="{CAEC6CDB-23CB-5A93-4438-A59C2BFFFACF}"/>
              </a:ext>
            </a:extLst>
          </p:cNvPr>
          <p:cNvSpPr/>
          <p:nvPr/>
        </p:nvSpPr>
        <p:spPr>
          <a:xfrm>
            <a:off x="3444483" y="2621391"/>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疑問即解消</a:t>
            </a:r>
            <a:endParaRPr lang="en-US" altLang="ja-JP" sz="1050" dirty="0">
              <a:latin typeface="メイリオ" panose="020B0604030504040204" pitchFamily="50" charset="-128"/>
              <a:ea typeface="メイリオ" panose="020B0604030504040204" pitchFamily="50" charset="-128"/>
            </a:endParaRPr>
          </a:p>
        </p:txBody>
      </p:sp>
      <p:sp>
        <p:nvSpPr>
          <p:cNvPr id="529" name="Shape 33">
            <a:extLst>
              <a:ext uri="{FF2B5EF4-FFF2-40B4-BE49-F238E27FC236}">
                <a16:creationId xmlns:a16="http://schemas.microsoft.com/office/drawing/2014/main" id="{F248F8B6-9A86-ABF2-E2D6-E7CF006E3C5F}"/>
              </a:ext>
            </a:extLst>
          </p:cNvPr>
          <p:cNvSpPr/>
          <p:nvPr/>
        </p:nvSpPr>
        <p:spPr>
          <a:xfrm>
            <a:off x="622035"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3" name="Shape 35">
            <a:extLst>
              <a:ext uri="{FF2B5EF4-FFF2-40B4-BE49-F238E27FC236}">
                <a16:creationId xmlns:a16="http://schemas.microsoft.com/office/drawing/2014/main" id="{44F07E0D-5DE6-3E4A-4251-8215FFA1B921}"/>
              </a:ext>
            </a:extLst>
          </p:cNvPr>
          <p:cNvSpPr/>
          <p:nvPr/>
        </p:nvSpPr>
        <p:spPr>
          <a:xfrm>
            <a:off x="725667" y="3207928"/>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35" name="Text 36">
            <a:extLst>
              <a:ext uri="{FF2B5EF4-FFF2-40B4-BE49-F238E27FC236}">
                <a16:creationId xmlns:a16="http://schemas.microsoft.com/office/drawing/2014/main" id="{2C4560AC-AA6D-E576-2CBD-46E3A388A446}"/>
              </a:ext>
            </a:extLst>
          </p:cNvPr>
          <p:cNvSpPr/>
          <p:nvPr/>
        </p:nvSpPr>
        <p:spPr>
          <a:xfrm>
            <a:off x="725667" y="3207928"/>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537" name="Shape 37">
            <a:extLst>
              <a:ext uri="{FF2B5EF4-FFF2-40B4-BE49-F238E27FC236}">
                <a16:creationId xmlns:a16="http://schemas.microsoft.com/office/drawing/2014/main" id="{EE277A39-0DD5-47B3-B211-B3AD8641BF28}"/>
              </a:ext>
            </a:extLst>
          </p:cNvPr>
          <p:cNvSpPr/>
          <p:nvPr/>
        </p:nvSpPr>
        <p:spPr>
          <a:xfrm>
            <a:off x="999987" y="3230566"/>
            <a:ext cx="947928" cy="248603"/>
          </a:xfrm>
          <a:prstGeom prst="roundRect">
            <a:avLst>
              <a:gd name="adj" fmla="val 18182"/>
            </a:avLst>
          </a:prstGeom>
          <a:solidFill>
            <a:schemeClr val="tx2"/>
          </a:solidFill>
          <a:ln w="12700">
            <a:solidFill>
              <a:srgbClr val="D8D8E2"/>
            </a:solidFill>
            <a:prstDash val="solid"/>
          </a:ln>
        </p:spPr>
        <p:txBody>
          <a:bodyPr/>
          <a:lstStyle/>
          <a:p>
            <a:endParaRPr lang="ja-JP" altLang="en-US" sz="900">
              <a:solidFill>
                <a:srgbClr val="FDFDFD"/>
              </a:solidFill>
              <a:latin typeface="メイリオ" panose="020B0604030504040204" pitchFamily="50" charset="-128"/>
              <a:ea typeface="メイリオ" panose="020B0604030504040204" pitchFamily="50" charset="-128"/>
            </a:endParaRPr>
          </a:p>
        </p:txBody>
      </p:sp>
      <p:sp>
        <p:nvSpPr>
          <p:cNvPr id="539" name="Text 38">
            <a:extLst>
              <a:ext uri="{FF2B5EF4-FFF2-40B4-BE49-F238E27FC236}">
                <a16:creationId xmlns:a16="http://schemas.microsoft.com/office/drawing/2014/main" id="{C4B5340D-36BF-DDE8-20C8-687DA330872F}"/>
              </a:ext>
            </a:extLst>
          </p:cNvPr>
          <p:cNvSpPr/>
          <p:nvPr/>
        </p:nvSpPr>
        <p:spPr>
          <a:xfrm>
            <a:off x="1097523" y="3245973"/>
            <a:ext cx="859536" cy="248603"/>
          </a:xfrm>
          <a:prstGeom prst="rect">
            <a:avLst/>
          </a:prstGeom>
          <a:no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日程調整自動化</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541" name="Text 39">
            <a:extLst>
              <a:ext uri="{FF2B5EF4-FFF2-40B4-BE49-F238E27FC236}">
                <a16:creationId xmlns:a16="http://schemas.microsoft.com/office/drawing/2014/main" id="{0DC216C4-D41D-ED06-86B7-5AC5FCBFEB41}"/>
              </a:ext>
            </a:extLst>
          </p:cNvPr>
          <p:cNvSpPr/>
          <p:nvPr/>
        </p:nvSpPr>
        <p:spPr>
          <a:xfrm>
            <a:off x="2011923" y="3205604"/>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面談・予約の日程調整をLINEで完結させる</a:t>
            </a:r>
            <a:endParaRPr lang="en-US" sz="1100" dirty="0">
              <a:latin typeface="メイリオ" panose="020B0604030504040204" pitchFamily="50" charset="-128"/>
              <a:ea typeface="メイリオ" panose="020B0604030504040204" pitchFamily="50" charset="-128"/>
            </a:endParaRPr>
          </a:p>
        </p:txBody>
      </p:sp>
      <p:sp>
        <p:nvSpPr>
          <p:cNvPr id="543" name="Text 40">
            <a:extLst>
              <a:ext uri="{FF2B5EF4-FFF2-40B4-BE49-F238E27FC236}">
                <a16:creationId xmlns:a16="http://schemas.microsoft.com/office/drawing/2014/main" id="{DFBBA734-BAAC-1419-468E-1E9B8278BC26}"/>
              </a:ext>
            </a:extLst>
          </p:cNvPr>
          <p:cNvSpPr/>
          <p:nvPr/>
        </p:nvSpPr>
        <p:spPr>
          <a:xfrm>
            <a:off x="731763" y="3643349"/>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「面談を希望する」と入力したユーザーに日程候補を自動提示→選択→確定までLINE内で完結。電話折り返し・メール往復ゼロで商談設定工数を大幅削減できる。</a:t>
            </a:r>
            <a:endParaRPr lang="en-US" sz="1000" dirty="0">
              <a:latin typeface="メイリオ" panose="020B0604030504040204" pitchFamily="50" charset="-128"/>
              <a:ea typeface="メイリオ" panose="020B0604030504040204" pitchFamily="50" charset="-128"/>
            </a:endParaRPr>
          </a:p>
        </p:txBody>
      </p:sp>
      <p:sp>
        <p:nvSpPr>
          <p:cNvPr id="545" name="Shape 41">
            <a:extLst>
              <a:ext uri="{FF2B5EF4-FFF2-40B4-BE49-F238E27FC236}">
                <a16:creationId xmlns:a16="http://schemas.microsoft.com/office/drawing/2014/main" id="{FE670AD2-A079-0197-8810-8F9B34E3CABD}"/>
              </a:ext>
            </a:extLst>
          </p:cNvPr>
          <p:cNvSpPr/>
          <p:nvPr/>
        </p:nvSpPr>
        <p:spPr>
          <a:xfrm>
            <a:off x="713475" y="4158910"/>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a:solidFill>
                  <a:srgbClr val="FFFFFF"/>
                </a:solidFill>
                <a:latin typeface="メイリオ" panose="020B0604030504040204" pitchFamily="50" charset="-128"/>
                <a:ea typeface="メイリオ" panose="020B0604030504040204" pitchFamily="50" charset="-128"/>
                <a:cs typeface="Calibri" pitchFamily="34" charset="-120"/>
              </a:rPr>
              <a:t>希望入力</a:t>
            </a:r>
            <a:endParaRPr lang="en-US" altLang="ja-JP" sz="1050" dirty="0">
              <a:latin typeface="メイリオ" panose="020B0604030504040204" pitchFamily="50" charset="-128"/>
              <a:ea typeface="メイリオ" panose="020B0604030504040204" pitchFamily="50" charset="-128"/>
            </a:endParaRPr>
          </a:p>
        </p:txBody>
      </p:sp>
      <p:sp>
        <p:nvSpPr>
          <p:cNvPr id="549" name="Shape 43">
            <a:extLst>
              <a:ext uri="{FF2B5EF4-FFF2-40B4-BE49-F238E27FC236}">
                <a16:creationId xmlns:a16="http://schemas.microsoft.com/office/drawing/2014/main" id="{9DCF792D-C31C-B1B0-89D3-34127B875145}"/>
              </a:ext>
            </a:extLst>
          </p:cNvPr>
          <p:cNvSpPr/>
          <p:nvPr/>
        </p:nvSpPr>
        <p:spPr>
          <a:xfrm>
            <a:off x="1987539"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1" name="Text 44">
            <a:extLst>
              <a:ext uri="{FF2B5EF4-FFF2-40B4-BE49-F238E27FC236}">
                <a16:creationId xmlns:a16="http://schemas.microsoft.com/office/drawing/2014/main" id="{30983E3A-6EDF-B882-D614-D35301C1A700}"/>
              </a:ext>
            </a:extLst>
          </p:cNvPr>
          <p:cNvSpPr/>
          <p:nvPr/>
        </p:nvSpPr>
        <p:spPr>
          <a:xfrm>
            <a:off x="1987539"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53" name="Shape 45">
            <a:extLst>
              <a:ext uri="{FF2B5EF4-FFF2-40B4-BE49-F238E27FC236}">
                <a16:creationId xmlns:a16="http://schemas.microsoft.com/office/drawing/2014/main" id="{209054EF-CC06-6B5D-0FD0-5D15A5DB252B}"/>
              </a:ext>
            </a:extLst>
          </p:cNvPr>
          <p:cNvSpPr/>
          <p:nvPr/>
        </p:nvSpPr>
        <p:spPr>
          <a:xfrm>
            <a:off x="2078979"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5" name="Text 46">
            <a:extLst>
              <a:ext uri="{FF2B5EF4-FFF2-40B4-BE49-F238E27FC236}">
                <a16:creationId xmlns:a16="http://schemas.microsoft.com/office/drawing/2014/main" id="{5BE3AFBB-71C6-1263-E9E2-A276B8A0D061}"/>
              </a:ext>
            </a:extLst>
          </p:cNvPr>
          <p:cNvSpPr/>
          <p:nvPr/>
        </p:nvSpPr>
        <p:spPr>
          <a:xfrm>
            <a:off x="2078979"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日程自動提示</a:t>
            </a:r>
            <a:endParaRPr lang="en-US" sz="1100" dirty="0">
              <a:latin typeface="メイリオ" panose="020B0604030504040204" pitchFamily="50" charset="-128"/>
              <a:ea typeface="メイリオ" panose="020B0604030504040204" pitchFamily="50" charset="-128"/>
            </a:endParaRPr>
          </a:p>
        </p:txBody>
      </p:sp>
      <p:sp>
        <p:nvSpPr>
          <p:cNvPr id="557" name="Shape 47">
            <a:extLst>
              <a:ext uri="{FF2B5EF4-FFF2-40B4-BE49-F238E27FC236}">
                <a16:creationId xmlns:a16="http://schemas.microsoft.com/office/drawing/2014/main" id="{A9232A71-6BB9-1F02-D8A6-0D588E915F91}"/>
              </a:ext>
            </a:extLst>
          </p:cNvPr>
          <p:cNvSpPr/>
          <p:nvPr/>
        </p:nvSpPr>
        <p:spPr>
          <a:xfrm>
            <a:off x="335304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559" name="Text 48">
            <a:extLst>
              <a:ext uri="{FF2B5EF4-FFF2-40B4-BE49-F238E27FC236}">
                <a16:creationId xmlns:a16="http://schemas.microsoft.com/office/drawing/2014/main" id="{C5C94F94-3800-196D-F055-BE367B6C3823}"/>
              </a:ext>
            </a:extLst>
          </p:cNvPr>
          <p:cNvSpPr/>
          <p:nvPr/>
        </p:nvSpPr>
        <p:spPr>
          <a:xfrm>
            <a:off x="335304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561" name="Shape 49">
            <a:extLst>
              <a:ext uri="{FF2B5EF4-FFF2-40B4-BE49-F238E27FC236}">
                <a16:creationId xmlns:a16="http://schemas.microsoft.com/office/drawing/2014/main" id="{27FD51EA-7B61-DE39-7567-087D884D2689}"/>
              </a:ext>
            </a:extLst>
          </p:cNvPr>
          <p:cNvSpPr/>
          <p:nvPr/>
        </p:nvSpPr>
        <p:spPr>
          <a:xfrm>
            <a:off x="3444483"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563" name="Text 50">
            <a:extLst>
              <a:ext uri="{FF2B5EF4-FFF2-40B4-BE49-F238E27FC236}">
                <a16:creationId xmlns:a16="http://schemas.microsoft.com/office/drawing/2014/main" id="{8F32671E-225E-D073-04DF-BE2045451A90}"/>
              </a:ext>
            </a:extLst>
          </p:cNvPr>
          <p:cNvSpPr/>
          <p:nvPr/>
        </p:nvSpPr>
        <p:spPr>
          <a:xfrm>
            <a:off x="3444483"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確定完了</a:t>
            </a:r>
            <a:endParaRPr lang="en-US" sz="1050" dirty="0">
              <a:latin typeface="メイリオ" panose="020B0604030504040204" pitchFamily="50" charset="-128"/>
              <a:ea typeface="メイリオ" panose="020B0604030504040204" pitchFamily="50" charset="-128"/>
            </a:endParaRPr>
          </a:p>
        </p:txBody>
      </p:sp>
      <p:sp>
        <p:nvSpPr>
          <p:cNvPr id="565" name="Shape 51">
            <a:extLst>
              <a:ext uri="{FF2B5EF4-FFF2-40B4-BE49-F238E27FC236}">
                <a16:creationId xmlns:a16="http://schemas.microsoft.com/office/drawing/2014/main" id="{BD20E957-9831-52B2-3945-EA8265886264}"/>
              </a:ext>
            </a:extLst>
          </p:cNvPr>
          <p:cNvSpPr/>
          <p:nvPr/>
        </p:nvSpPr>
        <p:spPr>
          <a:xfrm>
            <a:off x="622035"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569" name="Shape 53">
            <a:extLst>
              <a:ext uri="{FF2B5EF4-FFF2-40B4-BE49-F238E27FC236}">
                <a16:creationId xmlns:a16="http://schemas.microsoft.com/office/drawing/2014/main" id="{000D987C-780E-251D-7A2E-453B098046FA}"/>
              </a:ext>
            </a:extLst>
          </p:cNvPr>
          <p:cNvSpPr/>
          <p:nvPr/>
        </p:nvSpPr>
        <p:spPr>
          <a:xfrm>
            <a:off x="725667"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571" name="Text 54">
            <a:extLst>
              <a:ext uri="{FF2B5EF4-FFF2-40B4-BE49-F238E27FC236}">
                <a16:creationId xmlns:a16="http://schemas.microsoft.com/office/drawing/2014/main" id="{D7EBC11B-EE52-5F8C-3A09-E5EFC16DAD14}"/>
              </a:ext>
            </a:extLst>
          </p:cNvPr>
          <p:cNvSpPr/>
          <p:nvPr/>
        </p:nvSpPr>
        <p:spPr>
          <a:xfrm>
            <a:off x="725667"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573" name="Shape 55">
            <a:extLst>
              <a:ext uri="{FF2B5EF4-FFF2-40B4-BE49-F238E27FC236}">
                <a16:creationId xmlns:a16="http://schemas.microsoft.com/office/drawing/2014/main" id="{CE118FE4-70B1-ABC1-CFCE-B2C7803700D6}"/>
              </a:ext>
            </a:extLst>
          </p:cNvPr>
          <p:cNvSpPr/>
          <p:nvPr/>
        </p:nvSpPr>
        <p:spPr>
          <a:xfrm>
            <a:off x="999987" y="4795902"/>
            <a:ext cx="957072" cy="230221"/>
          </a:xfrm>
          <a:prstGeom prst="roundRect">
            <a:avLst>
              <a:gd name="adj" fmla="val 18182"/>
            </a:avLst>
          </a:prstGeom>
          <a:solidFill>
            <a:schemeClr val="tx2"/>
          </a:solidFill>
          <a:ln w="12700">
            <a:solidFill>
              <a:srgbClr val="D8D8E2"/>
            </a:solidFill>
            <a:prstDash val="solid"/>
          </a:ln>
        </p:spPr>
        <p:txBody>
          <a:bodyPr/>
          <a:lstStyle/>
          <a:p>
            <a:endParaRPr lang="ja-JP" altLang="en-US" sz="1000">
              <a:solidFill>
                <a:srgbClr val="FDFDFD"/>
              </a:solidFill>
              <a:latin typeface="メイリオ" panose="020B0604030504040204" pitchFamily="50" charset="-128"/>
              <a:ea typeface="メイリオ" panose="020B0604030504040204" pitchFamily="50" charset="-128"/>
            </a:endParaRPr>
          </a:p>
        </p:txBody>
      </p:sp>
      <p:sp>
        <p:nvSpPr>
          <p:cNvPr id="575" name="Text 56">
            <a:extLst>
              <a:ext uri="{FF2B5EF4-FFF2-40B4-BE49-F238E27FC236}">
                <a16:creationId xmlns:a16="http://schemas.microsoft.com/office/drawing/2014/main" id="{7B3D7BAA-5B14-06C5-CCFD-B1B2ED14D54C}"/>
              </a:ext>
            </a:extLst>
          </p:cNvPr>
          <p:cNvSpPr/>
          <p:nvPr/>
        </p:nvSpPr>
        <p:spPr>
          <a:xfrm>
            <a:off x="1079235" y="4788631"/>
            <a:ext cx="859536" cy="255874"/>
          </a:xfrm>
          <a:prstGeom prst="rect">
            <a:avLst/>
          </a:prstGeom>
          <a:no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Q&amp;A自動対応</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577" name="Text 57">
            <a:extLst>
              <a:ext uri="{FF2B5EF4-FFF2-40B4-BE49-F238E27FC236}">
                <a16:creationId xmlns:a16="http://schemas.microsoft.com/office/drawing/2014/main" id="{3B6EAD0F-BD63-287A-3804-2B841A85C33B}"/>
              </a:ext>
            </a:extLst>
          </p:cNvPr>
          <p:cNvSpPr/>
          <p:nvPr/>
        </p:nvSpPr>
        <p:spPr>
          <a:xfrm>
            <a:off x="2030211" y="4755532"/>
            <a:ext cx="2798064" cy="316404"/>
          </a:xfrm>
          <a:prstGeom prst="rect">
            <a:avLst/>
          </a:prstGeom>
          <a:noFill/>
          <a:ln/>
        </p:spPr>
        <p:txBody>
          <a:bodyPr wrap="square" lIns="0" tIns="0" rIns="0" bIns="0" rtlCol="0" anchor="ctr"/>
          <a:lstStyle/>
          <a:p>
            <a:pPr marL="0" indent="0">
              <a:buNone/>
            </a:pP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よくある質問の回答をメニュー選択式で自動配信</a:t>
            </a:r>
            <a:endParaRPr lang="en-US" sz="1100" dirty="0">
              <a:latin typeface="メイリオ" panose="020B0604030504040204" pitchFamily="50" charset="-128"/>
              <a:ea typeface="メイリオ" panose="020B0604030504040204" pitchFamily="50" charset="-128"/>
            </a:endParaRPr>
          </a:p>
        </p:txBody>
      </p:sp>
      <p:sp>
        <p:nvSpPr>
          <p:cNvPr id="579" name="Text 58">
            <a:extLst>
              <a:ext uri="{FF2B5EF4-FFF2-40B4-BE49-F238E27FC236}">
                <a16:creationId xmlns:a16="http://schemas.microsoft.com/office/drawing/2014/main" id="{57A957C0-047C-B1C9-3EBB-B3B3F767873F}"/>
              </a:ext>
            </a:extLst>
          </p:cNvPr>
          <p:cNvSpPr/>
          <p:nvPr/>
        </p:nvSpPr>
        <p:spPr>
          <a:xfrm>
            <a:off x="731763" y="5182003"/>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リッチメニューに「よくある質問」「料金を知りたい」「事例を見たい」等のボタンを設置し、タップするだけで回答が届く設計にする。スタッフが答える前に自己解決を促す。</a:t>
            </a:r>
            <a:endParaRPr lang="en-US" sz="1000" dirty="0">
              <a:latin typeface="メイリオ" panose="020B0604030504040204" pitchFamily="50" charset="-128"/>
              <a:ea typeface="メイリオ" panose="020B0604030504040204" pitchFamily="50" charset="-128"/>
            </a:endParaRPr>
          </a:p>
        </p:txBody>
      </p:sp>
      <p:sp>
        <p:nvSpPr>
          <p:cNvPr id="581" name="Shape 59">
            <a:extLst>
              <a:ext uri="{FF2B5EF4-FFF2-40B4-BE49-F238E27FC236}">
                <a16:creationId xmlns:a16="http://schemas.microsoft.com/office/drawing/2014/main" id="{9A61C22E-A4B2-9E05-F598-E9C4F0164BD1}"/>
              </a:ext>
            </a:extLst>
          </p:cNvPr>
          <p:cNvSpPr/>
          <p:nvPr/>
        </p:nvSpPr>
        <p:spPr>
          <a:xfrm>
            <a:off x="713475"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83" name="Text 60">
            <a:extLst>
              <a:ext uri="{FF2B5EF4-FFF2-40B4-BE49-F238E27FC236}">
                <a16:creationId xmlns:a16="http://schemas.microsoft.com/office/drawing/2014/main" id="{A8DD111B-2CD0-0C8C-5FFD-F634D3033930}"/>
              </a:ext>
            </a:extLst>
          </p:cNvPr>
          <p:cNvSpPr/>
          <p:nvPr/>
        </p:nvSpPr>
        <p:spPr>
          <a:xfrm>
            <a:off x="713475"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メニューをタップ</a:t>
            </a:r>
            <a:endParaRPr lang="en-US" sz="1000" dirty="0">
              <a:latin typeface="メイリオ" panose="020B0604030504040204" pitchFamily="50" charset="-128"/>
              <a:ea typeface="メイリオ" panose="020B0604030504040204" pitchFamily="50" charset="-128"/>
            </a:endParaRPr>
          </a:p>
        </p:txBody>
      </p:sp>
      <p:sp>
        <p:nvSpPr>
          <p:cNvPr id="589" name="Shape 63">
            <a:extLst>
              <a:ext uri="{FF2B5EF4-FFF2-40B4-BE49-F238E27FC236}">
                <a16:creationId xmlns:a16="http://schemas.microsoft.com/office/drawing/2014/main" id="{E77A650E-654A-EC81-6A3F-240D6A4404F3}"/>
              </a:ext>
            </a:extLst>
          </p:cNvPr>
          <p:cNvSpPr/>
          <p:nvPr/>
        </p:nvSpPr>
        <p:spPr>
          <a:xfrm>
            <a:off x="2078979"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591" name="Text 64">
            <a:extLst>
              <a:ext uri="{FF2B5EF4-FFF2-40B4-BE49-F238E27FC236}">
                <a16:creationId xmlns:a16="http://schemas.microsoft.com/office/drawing/2014/main" id="{515BC9A2-B5AE-4A2B-32CA-BEE70A5B85EE}"/>
              </a:ext>
            </a:extLst>
          </p:cNvPr>
          <p:cNvSpPr/>
          <p:nvPr/>
        </p:nvSpPr>
        <p:spPr>
          <a:xfrm>
            <a:off x="2078979"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自動回答配信</a:t>
            </a:r>
            <a:endParaRPr lang="en-US" sz="1000" dirty="0">
              <a:latin typeface="メイリオ" panose="020B0604030504040204" pitchFamily="50" charset="-128"/>
              <a:ea typeface="メイリオ" panose="020B0604030504040204" pitchFamily="50" charset="-128"/>
            </a:endParaRPr>
          </a:p>
        </p:txBody>
      </p:sp>
      <p:sp>
        <p:nvSpPr>
          <p:cNvPr id="597" name="Shape 67">
            <a:extLst>
              <a:ext uri="{FF2B5EF4-FFF2-40B4-BE49-F238E27FC236}">
                <a16:creationId xmlns:a16="http://schemas.microsoft.com/office/drawing/2014/main" id="{0EEFD0FA-7548-0ECC-E0D4-F44B04D48FB8}"/>
              </a:ext>
            </a:extLst>
          </p:cNvPr>
          <p:cNvSpPr/>
          <p:nvPr/>
        </p:nvSpPr>
        <p:spPr>
          <a:xfrm>
            <a:off x="3444483" y="5676275"/>
            <a:ext cx="1274064" cy="406805"/>
          </a:xfrm>
          <a:prstGeom prst="roundRect">
            <a:avLst>
              <a:gd name="adj" fmla="val 16667"/>
            </a:avLst>
          </a:prstGeom>
          <a:solidFill>
            <a:schemeClr val="tx1"/>
          </a:solidFill>
          <a:ln w="12700">
            <a:solidFill>
              <a:srgbClr val="4A2080"/>
            </a:solidFill>
            <a:prstDash val="solid"/>
          </a:ln>
        </p:spPr>
        <p:txBody>
          <a:bodyPr anchor="ctr"/>
          <a:lstStyle/>
          <a:p>
            <a:pPr algn="ctr">
              <a:lnSpc>
                <a:spcPct val="115000"/>
              </a:lnSpc>
            </a:pPr>
            <a:r>
              <a:rPr lang="en-US" altLang="ja-JP" sz="1000" b="1">
                <a:solidFill>
                  <a:srgbClr val="FFFFFF"/>
                </a:solidFill>
                <a:latin typeface="メイリオ" panose="020B0604030504040204" pitchFamily="50" charset="-128"/>
                <a:ea typeface="メイリオ" panose="020B0604030504040204" pitchFamily="50" charset="-128"/>
                <a:cs typeface="Calibri" pitchFamily="34" charset="-120"/>
              </a:rPr>
              <a:t>自己解決完了</a:t>
            </a:r>
            <a:endParaRPr lang="en-US" altLang="ja-JP" sz="1000" dirty="0">
              <a:latin typeface="メイリオ" panose="020B0604030504040204" pitchFamily="50" charset="-128"/>
              <a:ea typeface="メイリオ" panose="020B0604030504040204" pitchFamily="50" charset="-128"/>
            </a:endParaRPr>
          </a:p>
        </p:txBody>
      </p:sp>
      <p:sp>
        <p:nvSpPr>
          <p:cNvPr id="601" name="Shape 69">
            <a:extLst>
              <a:ext uri="{FF2B5EF4-FFF2-40B4-BE49-F238E27FC236}">
                <a16:creationId xmlns:a16="http://schemas.microsoft.com/office/drawing/2014/main" id="{BB58A48E-96E7-063D-EB59-D048E2A09397}"/>
              </a:ext>
            </a:extLst>
          </p:cNvPr>
          <p:cNvSpPr/>
          <p:nvPr/>
        </p:nvSpPr>
        <p:spPr>
          <a:xfrm>
            <a:off x="5066019" y="1623387"/>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5" name="Shape 71">
            <a:extLst>
              <a:ext uri="{FF2B5EF4-FFF2-40B4-BE49-F238E27FC236}">
                <a16:creationId xmlns:a16="http://schemas.microsoft.com/office/drawing/2014/main" id="{CEEFFC68-843C-CB8F-F3EE-D5F381F99FB3}"/>
              </a:ext>
            </a:extLst>
          </p:cNvPr>
          <p:cNvSpPr/>
          <p:nvPr/>
        </p:nvSpPr>
        <p:spPr>
          <a:xfrm>
            <a:off x="5175747" y="1658715"/>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07" name="Text 72">
            <a:extLst>
              <a:ext uri="{FF2B5EF4-FFF2-40B4-BE49-F238E27FC236}">
                <a16:creationId xmlns:a16="http://schemas.microsoft.com/office/drawing/2014/main" id="{BA1AC9FB-2A36-A56E-5C44-D0E3ACC9A307}"/>
              </a:ext>
            </a:extLst>
          </p:cNvPr>
          <p:cNvSpPr/>
          <p:nvPr/>
        </p:nvSpPr>
        <p:spPr>
          <a:xfrm>
            <a:off x="5175747" y="1658715"/>
            <a:ext cx="274320" cy="339004"/>
          </a:xfrm>
          <a:prstGeom prst="rect">
            <a:avLst/>
          </a:prstGeom>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1</a:t>
            </a:r>
            <a:endParaRPr lang="en-US" sz="1050" dirty="0">
              <a:latin typeface="メイリオ" panose="020B0604030504040204" pitchFamily="50" charset="-128"/>
              <a:ea typeface="メイリオ" panose="020B0604030504040204" pitchFamily="50" charset="-128"/>
            </a:endParaRPr>
          </a:p>
        </p:txBody>
      </p:sp>
      <p:sp>
        <p:nvSpPr>
          <p:cNvPr id="609" name="Shape 73">
            <a:extLst>
              <a:ext uri="{FF2B5EF4-FFF2-40B4-BE49-F238E27FC236}">
                <a16:creationId xmlns:a16="http://schemas.microsoft.com/office/drawing/2014/main" id="{DA9D4DB3-FD3E-CC23-5F93-7DD0F2C4A66E}"/>
              </a:ext>
            </a:extLst>
          </p:cNvPr>
          <p:cNvSpPr/>
          <p:nvPr/>
        </p:nvSpPr>
        <p:spPr>
          <a:xfrm>
            <a:off x="5523219" y="1703396"/>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11" name="Text 74">
            <a:extLst>
              <a:ext uri="{FF2B5EF4-FFF2-40B4-BE49-F238E27FC236}">
                <a16:creationId xmlns:a16="http://schemas.microsoft.com/office/drawing/2014/main" id="{388F5303-8FCA-86F2-09F0-93CE3D368104}"/>
              </a:ext>
            </a:extLst>
          </p:cNvPr>
          <p:cNvSpPr/>
          <p:nvPr/>
        </p:nvSpPr>
        <p:spPr>
          <a:xfrm>
            <a:off x="5450067" y="1694906"/>
            <a:ext cx="932688" cy="257094"/>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ホットリード検知</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13" name="Text 75">
            <a:extLst>
              <a:ext uri="{FF2B5EF4-FFF2-40B4-BE49-F238E27FC236}">
                <a16:creationId xmlns:a16="http://schemas.microsoft.com/office/drawing/2014/main" id="{FC4B8845-D876-501A-B76E-902595F69EEE}"/>
              </a:ext>
            </a:extLst>
          </p:cNvPr>
          <p:cNvSpPr/>
          <p:nvPr/>
        </p:nvSpPr>
        <p:spPr>
          <a:xfrm>
            <a:off x="6437619" y="1663027"/>
            <a:ext cx="298094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高スコアユーザーを自動で</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スタッフにアラート通知</a:t>
            </a:r>
            <a:endParaRPr lang="en-US" sz="1100" dirty="0">
              <a:latin typeface="メイリオ" panose="020B0604030504040204" pitchFamily="50" charset="-128"/>
              <a:ea typeface="メイリオ" panose="020B0604030504040204" pitchFamily="50" charset="-128"/>
            </a:endParaRPr>
          </a:p>
        </p:txBody>
      </p:sp>
      <p:sp>
        <p:nvSpPr>
          <p:cNvPr id="615" name="Text 76">
            <a:extLst>
              <a:ext uri="{FF2B5EF4-FFF2-40B4-BE49-F238E27FC236}">
                <a16:creationId xmlns:a16="http://schemas.microsoft.com/office/drawing/2014/main" id="{41A00D6D-FDD2-F734-B47F-D5335D94AED4}"/>
              </a:ext>
            </a:extLst>
          </p:cNvPr>
          <p:cNvSpPr/>
          <p:nvPr/>
        </p:nvSpPr>
        <p:spPr>
          <a:xfrm>
            <a:off x="5175747" y="2106046"/>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アンケート回答・特定コンテンツのクリック・複数回のサイト訪問など、CVに近いアクションを検知した際に営業担当へ自動アラート。商談タイミングを逃さない。</a:t>
            </a:r>
            <a:endParaRPr lang="en-US" sz="1000" dirty="0">
              <a:latin typeface="メイリオ" panose="020B0604030504040204" pitchFamily="50" charset="-128"/>
              <a:ea typeface="メイリオ" panose="020B0604030504040204" pitchFamily="50" charset="-128"/>
            </a:endParaRPr>
          </a:p>
        </p:txBody>
      </p:sp>
      <p:sp>
        <p:nvSpPr>
          <p:cNvPr id="617" name="Shape 77">
            <a:extLst>
              <a:ext uri="{FF2B5EF4-FFF2-40B4-BE49-F238E27FC236}">
                <a16:creationId xmlns:a16="http://schemas.microsoft.com/office/drawing/2014/main" id="{AAC1844B-8885-A3DF-88B2-F8DB39D7D842}"/>
              </a:ext>
            </a:extLst>
          </p:cNvPr>
          <p:cNvSpPr/>
          <p:nvPr/>
        </p:nvSpPr>
        <p:spPr>
          <a:xfrm>
            <a:off x="5157459" y="2621391"/>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19" name="Text 78">
            <a:extLst>
              <a:ext uri="{FF2B5EF4-FFF2-40B4-BE49-F238E27FC236}">
                <a16:creationId xmlns:a16="http://schemas.microsoft.com/office/drawing/2014/main" id="{E6B184D6-84E5-DB05-766A-D1E68B869F8D}"/>
              </a:ext>
            </a:extLst>
          </p:cNvPr>
          <p:cNvSpPr/>
          <p:nvPr/>
        </p:nvSpPr>
        <p:spPr>
          <a:xfrm>
            <a:off x="5157459" y="2621391"/>
            <a:ext cx="1274064" cy="406805"/>
          </a:xfrm>
          <a:prstGeom prst="rect">
            <a:avLst/>
          </a:prstGeom>
          <a:noFill/>
          <a:ln/>
        </p:spPr>
        <p:txBody>
          <a:bodyPr wrap="square" lIns="0" tIns="0" rIns="0" bIns="0" rtlCol="0" anchor="ctr"/>
          <a:lstStyle/>
          <a:p>
            <a:pPr marL="0" indent="0" algn="ctr">
              <a:lnSpc>
                <a:spcPct val="115000"/>
              </a:lnSpc>
              <a:buNone/>
            </a:pPr>
            <a:r>
              <a:rPr lang="en-US" sz="1050" b="1" dirty="0" err="1">
                <a:solidFill>
                  <a:srgbClr val="FFFFFF"/>
                </a:solidFill>
                <a:latin typeface="メイリオ" panose="020B0604030504040204" pitchFamily="50" charset="-128"/>
                <a:ea typeface="メイリオ" panose="020B0604030504040204" pitchFamily="50" charset="-128"/>
                <a:cs typeface="Calibri" pitchFamily="34" charset="-120"/>
              </a:rPr>
              <a:t>行動スコア計測</a:t>
            </a:r>
            <a:endParaRPr lang="en-US" sz="1050" dirty="0">
              <a:latin typeface="メイリオ" panose="020B0604030504040204" pitchFamily="50" charset="-128"/>
              <a:ea typeface="メイリオ" panose="020B0604030504040204" pitchFamily="50" charset="-128"/>
            </a:endParaRPr>
          </a:p>
        </p:txBody>
      </p:sp>
      <p:sp>
        <p:nvSpPr>
          <p:cNvPr id="621" name="Shape 79">
            <a:extLst>
              <a:ext uri="{FF2B5EF4-FFF2-40B4-BE49-F238E27FC236}">
                <a16:creationId xmlns:a16="http://schemas.microsoft.com/office/drawing/2014/main" id="{1CC3FE20-C3AA-8956-0689-74FD2017633E}"/>
              </a:ext>
            </a:extLst>
          </p:cNvPr>
          <p:cNvSpPr/>
          <p:nvPr/>
        </p:nvSpPr>
        <p:spPr>
          <a:xfrm>
            <a:off x="6431523"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23" name="Text 80">
            <a:extLst>
              <a:ext uri="{FF2B5EF4-FFF2-40B4-BE49-F238E27FC236}">
                <a16:creationId xmlns:a16="http://schemas.microsoft.com/office/drawing/2014/main" id="{9AC9454B-847A-EEEC-85FF-D2119E030598}"/>
              </a:ext>
            </a:extLst>
          </p:cNvPr>
          <p:cNvSpPr/>
          <p:nvPr/>
        </p:nvSpPr>
        <p:spPr>
          <a:xfrm>
            <a:off x="6431523"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25" name="Shape 81">
            <a:extLst>
              <a:ext uri="{FF2B5EF4-FFF2-40B4-BE49-F238E27FC236}">
                <a16:creationId xmlns:a16="http://schemas.microsoft.com/office/drawing/2014/main" id="{60491B0C-3EEB-681C-1D47-8D098E8FA7D8}"/>
              </a:ext>
            </a:extLst>
          </p:cNvPr>
          <p:cNvSpPr/>
          <p:nvPr/>
        </p:nvSpPr>
        <p:spPr>
          <a:xfrm>
            <a:off x="6522963"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閾値超えで検知</a:t>
            </a:r>
            <a:endParaRPr lang="en-US" altLang="ja-JP" sz="1050" dirty="0">
              <a:latin typeface="メイリオ" panose="020B0604030504040204" pitchFamily="50" charset="-128"/>
              <a:ea typeface="メイリオ" panose="020B0604030504040204" pitchFamily="50" charset="-128"/>
            </a:endParaRPr>
          </a:p>
        </p:txBody>
      </p:sp>
      <p:sp>
        <p:nvSpPr>
          <p:cNvPr id="629" name="Shape 83">
            <a:extLst>
              <a:ext uri="{FF2B5EF4-FFF2-40B4-BE49-F238E27FC236}">
                <a16:creationId xmlns:a16="http://schemas.microsoft.com/office/drawing/2014/main" id="{4B84A085-A08B-402E-675A-39F203C58877}"/>
              </a:ext>
            </a:extLst>
          </p:cNvPr>
          <p:cNvSpPr/>
          <p:nvPr/>
        </p:nvSpPr>
        <p:spPr>
          <a:xfrm>
            <a:off x="7797027" y="275595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31" name="Text 84">
            <a:extLst>
              <a:ext uri="{FF2B5EF4-FFF2-40B4-BE49-F238E27FC236}">
                <a16:creationId xmlns:a16="http://schemas.microsoft.com/office/drawing/2014/main" id="{73ACF39F-9B9B-5BCF-7511-91DAC982D28F}"/>
              </a:ext>
            </a:extLst>
          </p:cNvPr>
          <p:cNvSpPr/>
          <p:nvPr/>
        </p:nvSpPr>
        <p:spPr>
          <a:xfrm>
            <a:off x="7797027" y="2755954"/>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33" name="Shape 85">
            <a:extLst>
              <a:ext uri="{FF2B5EF4-FFF2-40B4-BE49-F238E27FC236}">
                <a16:creationId xmlns:a16="http://schemas.microsoft.com/office/drawing/2014/main" id="{260C63D6-01F1-691F-333C-A703B453DFD3}"/>
              </a:ext>
            </a:extLst>
          </p:cNvPr>
          <p:cNvSpPr/>
          <p:nvPr/>
        </p:nvSpPr>
        <p:spPr>
          <a:xfrm>
            <a:off x="7888467" y="2621391"/>
            <a:ext cx="1274064" cy="406805"/>
          </a:xfrm>
          <a:prstGeom prst="roundRect">
            <a:avLst>
              <a:gd name="adj" fmla="val 16667"/>
            </a:avLst>
          </a:prstGeom>
          <a:solidFill>
            <a:schemeClr val="tx1"/>
          </a:solidFill>
          <a:ln w="12700">
            <a:noFill/>
            <a:prstDash val="solid"/>
          </a:ln>
        </p:spPr>
        <p:txBody>
          <a:bodyPr anchor="ctr"/>
          <a:lstStyle/>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スタッフに</a:t>
            </a:r>
            <a:endParaRPr lang="en-US" altLang="ja-JP" sz="1050" b="1" dirty="0">
              <a:solidFill>
                <a:srgbClr val="FFFFFF"/>
              </a:solidFill>
              <a:latin typeface="メイリオ" panose="020B0604030504040204" pitchFamily="50" charset="-128"/>
              <a:ea typeface="メイリオ" panose="020B0604030504040204" pitchFamily="50" charset="-128"/>
              <a:cs typeface="Calibri" pitchFamily="34" charset="-120"/>
            </a:endParaRPr>
          </a:p>
          <a:p>
            <a:pPr algn="ctr">
              <a:lnSpc>
                <a:spcPct val="115000"/>
              </a:lnSpc>
            </a:pPr>
            <a:r>
              <a:rPr lang="en-US" altLang="ja-JP" sz="1050" b="1" dirty="0" err="1">
                <a:solidFill>
                  <a:srgbClr val="FFFFFF"/>
                </a:solidFill>
                <a:latin typeface="メイリオ" panose="020B0604030504040204" pitchFamily="50" charset="-128"/>
                <a:ea typeface="メイリオ" panose="020B0604030504040204" pitchFamily="50" charset="-128"/>
                <a:cs typeface="Calibri" pitchFamily="34" charset="-120"/>
              </a:rPr>
              <a:t>アラート</a:t>
            </a:r>
            <a:endParaRPr lang="en-US" altLang="ja-JP" sz="1050" dirty="0">
              <a:latin typeface="メイリオ" panose="020B0604030504040204" pitchFamily="50" charset="-128"/>
              <a:ea typeface="メイリオ" panose="020B0604030504040204" pitchFamily="50" charset="-128"/>
            </a:endParaRPr>
          </a:p>
        </p:txBody>
      </p:sp>
      <p:sp>
        <p:nvSpPr>
          <p:cNvPr id="637" name="Shape 87">
            <a:extLst>
              <a:ext uri="{FF2B5EF4-FFF2-40B4-BE49-F238E27FC236}">
                <a16:creationId xmlns:a16="http://schemas.microsoft.com/office/drawing/2014/main" id="{784BB10F-3251-36CA-8B39-87931A158145}"/>
              </a:ext>
            </a:extLst>
          </p:cNvPr>
          <p:cNvSpPr/>
          <p:nvPr/>
        </p:nvSpPr>
        <p:spPr>
          <a:xfrm>
            <a:off x="5066019" y="3160341"/>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1" name="Shape 89">
            <a:extLst>
              <a:ext uri="{FF2B5EF4-FFF2-40B4-BE49-F238E27FC236}">
                <a16:creationId xmlns:a16="http://schemas.microsoft.com/office/drawing/2014/main" id="{00DC0A3B-4000-F47D-3213-A4E96634D97B}"/>
              </a:ext>
            </a:extLst>
          </p:cNvPr>
          <p:cNvSpPr/>
          <p:nvPr/>
        </p:nvSpPr>
        <p:spPr>
          <a:xfrm>
            <a:off x="5194035" y="3202373"/>
            <a:ext cx="274320" cy="339004"/>
          </a:xfrm>
          <a:prstGeom prst="ellipse">
            <a:avLst/>
          </a:prstGeom>
          <a:solidFill>
            <a:schemeClr val="tx1"/>
          </a:solidFill>
          <a:ln w="12700">
            <a:no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3" name="Text 90">
            <a:extLst>
              <a:ext uri="{FF2B5EF4-FFF2-40B4-BE49-F238E27FC236}">
                <a16:creationId xmlns:a16="http://schemas.microsoft.com/office/drawing/2014/main" id="{B83E96EB-4D94-8784-7634-300FB4B3D87E}"/>
              </a:ext>
            </a:extLst>
          </p:cNvPr>
          <p:cNvSpPr/>
          <p:nvPr/>
        </p:nvSpPr>
        <p:spPr>
          <a:xfrm>
            <a:off x="5194035" y="3202373"/>
            <a:ext cx="274320" cy="339004"/>
          </a:xfrm>
          <a:prstGeom prst="rect">
            <a:avLst/>
          </a:prstGeom>
          <a:noFill/>
          <a:ln>
            <a:noFill/>
          </a:ln>
        </p:spPr>
        <p:txBody>
          <a:bodyPr wrap="square" lIns="0" tIns="0" rIns="0" bIns="0" rtlCol="0" anchor="ctr"/>
          <a:lstStyle/>
          <a:p>
            <a:pPr marL="0" indent="0" algn="ctr">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2</a:t>
            </a:r>
            <a:endParaRPr lang="en-US" sz="1050" dirty="0">
              <a:latin typeface="メイリオ" panose="020B0604030504040204" pitchFamily="50" charset="-128"/>
              <a:ea typeface="メイリオ" panose="020B0604030504040204" pitchFamily="50" charset="-128"/>
            </a:endParaRPr>
          </a:p>
        </p:txBody>
      </p:sp>
      <p:sp>
        <p:nvSpPr>
          <p:cNvPr id="645" name="Shape 91">
            <a:extLst>
              <a:ext uri="{FF2B5EF4-FFF2-40B4-BE49-F238E27FC236}">
                <a16:creationId xmlns:a16="http://schemas.microsoft.com/office/drawing/2014/main" id="{46886788-FBC0-BB7D-8B57-0602CB1FB3B4}"/>
              </a:ext>
            </a:extLst>
          </p:cNvPr>
          <p:cNvSpPr/>
          <p:nvPr/>
        </p:nvSpPr>
        <p:spPr>
          <a:xfrm>
            <a:off x="5541507" y="3247054"/>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47" name="Text 92">
            <a:extLst>
              <a:ext uri="{FF2B5EF4-FFF2-40B4-BE49-F238E27FC236}">
                <a16:creationId xmlns:a16="http://schemas.microsoft.com/office/drawing/2014/main" id="{FAEBC937-35CD-96F3-EB63-7A55072A57D0}"/>
              </a:ext>
            </a:extLst>
          </p:cNvPr>
          <p:cNvSpPr/>
          <p:nvPr/>
        </p:nvSpPr>
        <p:spPr>
          <a:xfrm>
            <a:off x="5486643" y="3247054"/>
            <a:ext cx="859536" cy="248603"/>
          </a:xfrm>
          <a:prstGeom prst="rect">
            <a:avLst/>
          </a:prstGeom>
          <a:solidFill>
            <a:schemeClr val="tx2"/>
          </a:solidFill>
          <a:ln/>
        </p:spPr>
        <p:txBody>
          <a:bodyPr wrap="square" lIns="0" tIns="0" rIns="0" bIns="0" rtlCol="0" anchor="ctr"/>
          <a:lstStyle/>
          <a:p>
            <a:pPr marL="0" indent="0" algn="ctr">
              <a:buNone/>
            </a:pPr>
            <a:r>
              <a:rPr lang="en-US" sz="900" b="1" dirty="0">
                <a:solidFill>
                  <a:srgbClr val="FDFDFD"/>
                </a:solidFill>
                <a:latin typeface="メイリオ" panose="020B0604030504040204" pitchFamily="50" charset="-128"/>
                <a:ea typeface="メイリオ" panose="020B0604030504040204" pitchFamily="50" charset="-128"/>
                <a:cs typeface="Calibri" pitchFamily="34" charset="-120"/>
              </a:rPr>
              <a:t>BOT×有人切替</a:t>
            </a:r>
            <a:endParaRPr lang="en-US" sz="900" dirty="0">
              <a:solidFill>
                <a:srgbClr val="FDFDFD"/>
              </a:solidFill>
              <a:latin typeface="メイリオ" panose="020B0604030504040204" pitchFamily="50" charset="-128"/>
              <a:ea typeface="メイリオ" panose="020B0604030504040204" pitchFamily="50" charset="-128"/>
            </a:endParaRPr>
          </a:p>
        </p:txBody>
      </p:sp>
      <p:sp>
        <p:nvSpPr>
          <p:cNvPr id="649" name="Text 93">
            <a:extLst>
              <a:ext uri="{FF2B5EF4-FFF2-40B4-BE49-F238E27FC236}">
                <a16:creationId xmlns:a16="http://schemas.microsoft.com/office/drawing/2014/main" id="{67BE3A5A-F652-950D-998F-E17F2540B5B5}"/>
              </a:ext>
            </a:extLst>
          </p:cNvPr>
          <p:cNvSpPr/>
          <p:nvPr/>
        </p:nvSpPr>
        <p:spPr>
          <a:xfrm>
            <a:off x="6455907" y="3206685"/>
            <a:ext cx="279806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BOT初期対応</a:t>
            </a:r>
            <a:endParaRPr lang="en-US" sz="1100" b="1" dirty="0">
              <a:solidFill>
                <a:srgbClr val="1A1A2E"/>
              </a:solidFill>
              <a:latin typeface="メイリオ" panose="020B0604030504040204" pitchFamily="50" charset="-128"/>
              <a:ea typeface="メイリオ" panose="020B0604030504040204" pitchFamily="50" charset="-128"/>
              <a:cs typeface="Calibri" pitchFamily="34" charset="-120"/>
            </a:endParaRPr>
          </a:p>
          <a:p>
            <a:pPr marL="0" indent="0">
              <a:buNone/>
            </a:pP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　</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→温度感に応じて人に切り替える</a:t>
            </a:r>
            <a:endParaRPr lang="en-US" sz="1100" dirty="0">
              <a:latin typeface="メイリオ" panose="020B0604030504040204" pitchFamily="50" charset="-128"/>
              <a:ea typeface="メイリオ" panose="020B0604030504040204" pitchFamily="50" charset="-128"/>
            </a:endParaRPr>
          </a:p>
        </p:txBody>
      </p:sp>
      <p:sp>
        <p:nvSpPr>
          <p:cNvPr id="651" name="Text 94">
            <a:extLst>
              <a:ext uri="{FF2B5EF4-FFF2-40B4-BE49-F238E27FC236}">
                <a16:creationId xmlns:a16="http://schemas.microsoft.com/office/drawing/2014/main" id="{AFBBE4E7-B1A7-4292-09B1-18137ED8D42D}"/>
              </a:ext>
            </a:extLst>
          </p:cNvPr>
          <p:cNvSpPr/>
          <p:nvPr/>
        </p:nvSpPr>
        <p:spPr>
          <a:xfrm>
            <a:off x="5175747" y="3609802"/>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最初の問い合わせはBOTで自動対応しつつ、「今すぐ相談したい」「詳しく聞きたい」等のキーワードや返信内容に応じてスタッフのチャット対応に切り替える二段構えの設計。</a:t>
            </a:r>
            <a:endParaRPr lang="en-US" sz="1000" dirty="0">
              <a:latin typeface="メイリオ" panose="020B0604030504040204" pitchFamily="50" charset="-128"/>
              <a:ea typeface="メイリオ" panose="020B0604030504040204" pitchFamily="50" charset="-128"/>
            </a:endParaRPr>
          </a:p>
        </p:txBody>
      </p:sp>
      <p:sp>
        <p:nvSpPr>
          <p:cNvPr id="653" name="Shape 95">
            <a:extLst>
              <a:ext uri="{FF2B5EF4-FFF2-40B4-BE49-F238E27FC236}">
                <a16:creationId xmlns:a16="http://schemas.microsoft.com/office/drawing/2014/main" id="{39FA8CE3-0F53-8CA9-1EA5-539561B76F93}"/>
              </a:ext>
            </a:extLst>
          </p:cNvPr>
          <p:cNvSpPr/>
          <p:nvPr/>
        </p:nvSpPr>
        <p:spPr>
          <a:xfrm>
            <a:off x="5157459" y="4158910"/>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55" name="Text 96">
            <a:extLst>
              <a:ext uri="{FF2B5EF4-FFF2-40B4-BE49-F238E27FC236}">
                <a16:creationId xmlns:a16="http://schemas.microsoft.com/office/drawing/2014/main" id="{E655B7A0-C9A5-CF91-16E4-1895DE139666}"/>
              </a:ext>
            </a:extLst>
          </p:cNvPr>
          <p:cNvSpPr/>
          <p:nvPr/>
        </p:nvSpPr>
        <p:spPr>
          <a:xfrm>
            <a:off x="5157459" y="4158910"/>
            <a:ext cx="1274064" cy="406805"/>
          </a:xfrm>
          <a:prstGeom prst="rect">
            <a:avLst/>
          </a:prstGeom>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BOT自動対応</a:t>
            </a:r>
            <a:endParaRPr lang="en-US" sz="1050" dirty="0">
              <a:latin typeface="メイリオ" panose="020B0604030504040204" pitchFamily="50" charset="-128"/>
              <a:ea typeface="メイリオ" panose="020B0604030504040204" pitchFamily="50" charset="-128"/>
            </a:endParaRPr>
          </a:p>
        </p:txBody>
      </p:sp>
      <p:sp>
        <p:nvSpPr>
          <p:cNvPr id="657" name="Shape 97">
            <a:extLst>
              <a:ext uri="{FF2B5EF4-FFF2-40B4-BE49-F238E27FC236}">
                <a16:creationId xmlns:a16="http://schemas.microsoft.com/office/drawing/2014/main" id="{1626AF9B-240E-5BE3-7DCD-12861D786B24}"/>
              </a:ext>
            </a:extLst>
          </p:cNvPr>
          <p:cNvSpPr/>
          <p:nvPr/>
        </p:nvSpPr>
        <p:spPr>
          <a:xfrm>
            <a:off x="6431523"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59" name="Text 98">
            <a:extLst>
              <a:ext uri="{FF2B5EF4-FFF2-40B4-BE49-F238E27FC236}">
                <a16:creationId xmlns:a16="http://schemas.microsoft.com/office/drawing/2014/main" id="{42A3A949-F941-32D9-7509-689D4FFFDFB7}"/>
              </a:ext>
            </a:extLst>
          </p:cNvPr>
          <p:cNvSpPr/>
          <p:nvPr/>
        </p:nvSpPr>
        <p:spPr>
          <a:xfrm>
            <a:off x="6431523"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1" name="Shape 99">
            <a:extLst>
              <a:ext uri="{FF2B5EF4-FFF2-40B4-BE49-F238E27FC236}">
                <a16:creationId xmlns:a16="http://schemas.microsoft.com/office/drawing/2014/main" id="{6DE99E7F-7471-D525-A123-D720FA6FA9B5}"/>
              </a:ext>
            </a:extLst>
          </p:cNvPr>
          <p:cNvSpPr/>
          <p:nvPr/>
        </p:nvSpPr>
        <p:spPr>
          <a:xfrm>
            <a:off x="6522963"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3" name="Text 100">
            <a:extLst>
              <a:ext uri="{FF2B5EF4-FFF2-40B4-BE49-F238E27FC236}">
                <a16:creationId xmlns:a16="http://schemas.microsoft.com/office/drawing/2014/main" id="{9B9F0FB1-A7C2-521A-B063-2941776A633E}"/>
              </a:ext>
            </a:extLst>
          </p:cNvPr>
          <p:cNvSpPr/>
          <p:nvPr/>
        </p:nvSpPr>
        <p:spPr>
          <a:xfrm>
            <a:off x="6522963"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温度感判定</a:t>
            </a:r>
            <a:endParaRPr lang="en-US" sz="1050" dirty="0">
              <a:latin typeface="メイリオ" panose="020B0604030504040204" pitchFamily="50" charset="-128"/>
              <a:ea typeface="メイリオ" panose="020B0604030504040204" pitchFamily="50" charset="-128"/>
            </a:endParaRPr>
          </a:p>
        </p:txBody>
      </p:sp>
      <p:sp>
        <p:nvSpPr>
          <p:cNvPr id="665" name="Shape 101">
            <a:extLst>
              <a:ext uri="{FF2B5EF4-FFF2-40B4-BE49-F238E27FC236}">
                <a16:creationId xmlns:a16="http://schemas.microsoft.com/office/drawing/2014/main" id="{9339D2EE-CDD4-3AA6-FBFA-6A18F1CC0246}"/>
              </a:ext>
            </a:extLst>
          </p:cNvPr>
          <p:cNvSpPr/>
          <p:nvPr/>
        </p:nvSpPr>
        <p:spPr>
          <a:xfrm>
            <a:off x="7797027" y="4293473"/>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67" name="Text 102">
            <a:extLst>
              <a:ext uri="{FF2B5EF4-FFF2-40B4-BE49-F238E27FC236}">
                <a16:creationId xmlns:a16="http://schemas.microsoft.com/office/drawing/2014/main" id="{851DC5F9-D2E2-AB8D-5270-F12410849762}"/>
              </a:ext>
            </a:extLst>
          </p:cNvPr>
          <p:cNvSpPr/>
          <p:nvPr/>
        </p:nvSpPr>
        <p:spPr>
          <a:xfrm>
            <a:off x="7797027" y="4293473"/>
            <a:ext cx="91440" cy="180802"/>
          </a:xfrm>
          <a:prstGeom prst="rect">
            <a:avLst/>
          </a:prstGeom>
          <a:noFill/>
          <a:ln/>
        </p:spPr>
        <p:txBody>
          <a:bodyPr wrap="square" lIns="0" tIns="0" rIns="0" bIns="0" rtlCol="0" anchor="ctr"/>
          <a:lstStyle/>
          <a:p>
            <a:pPr marL="0" indent="0" algn="ctr">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1000" dirty="0">
              <a:latin typeface="メイリオ" panose="020B0604030504040204" pitchFamily="50" charset="-128"/>
              <a:ea typeface="メイリオ" panose="020B0604030504040204" pitchFamily="50" charset="-128"/>
            </a:endParaRPr>
          </a:p>
        </p:txBody>
      </p:sp>
      <p:sp>
        <p:nvSpPr>
          <p:cNvPr id="669" name="Shape 103">
            <a:extLst>
              <a:ext uri="{FF2B5EF4-FFF2-40B4-BE49-F238E27FC236}">
                <a16:creationId xmlns:a16="http://schemas.microsoft.com/office/drawing/2014/main" id="{CA3E34EC-809E-1460-AF84-01892AC164A2}"/>
              </a:ext>
            </a:extLst>
          </p:cNvPr>
          <p:cNvSpPr/>
          <p:nvPr/>
        </p:nvSpPr>
        <p:spPr>
          <a:xfrm>
            <a:off x="7888467" y="4158910"/>
            <a:ext cx="1274064" cy="406805"/>
          </a:xfrm>
          <a:prstGeom prst="roundRect">
            <a:avLst>
              <a:gd name="adj" fmla="val 16667"/>
            </a:avLst>
          </a:prstGeom>
          <a:solidFill>
            <a:schemeClr val="tx1"/>
          </a:solidFill>
          <a:ln w="12700">
            <a:noFill/>
            <a:prstDash val="solid"/>
          </a:ln>
        </p:spPr>
        <p:txBody>
          <a:bodyPr/>
          <a:lstStyle/>
          <a:p>
            <a:endParaRPr lang="ja-JP" altLang="en-US" sz="2800">
              <a:latin typeface="メイリオ" panose="020B0604030504040204" pitchFamily="50" charset="-128"/>
              <a:ea typeface="メイリオ" panose="020B0604030504040204" pitchFamily="50" charset="-128"/>
            </a:endParaRPr>
          </a:p>
        </p:txBody>
      </p:sp>
      <p:sp>
        <p:nvSpPr>
          <p:cNvPr id="671" name="Text 104">
            <a:extLst>
              <a:ext uri="{FF2B5EF4-FFF2-40B4-BE49-F238E27FC236}">
                <a16:creationId xmlns:a16="http://schemas.microsoft.com/office/drawing/2014/main" id="{92D817DE-E3E0-0210-118B-E88552E70384}"/>
              </a:ext>
            </a:extLst>
          </p:cNvPr>
          <p:cNvSpPr/>
          <p:nvPr/>
        </p:nvSpPr>
        <p:spPr>
          <a:xfrm>
            <a:off x="7888467" y="4158910"/>
            <a:ext cx="1274064" cy="406805"/>
          </a:xfrm>
          <a:prstGeom prst="rect">
            <a:avLst/>
          </a:prstGeom>
          <a:noFill/>
          <a:ln>
            <a:noFill/>
          </a:ln>
        </p:spPr>
        <p:txBody>
          <a:bodyPr wrap="square" lIns="0" tIns="0" rIns="0" bIns="0" rtlCol="0" anchor="ctr"/>
          <a:lstStyle/>
          <a:p>
            <a:pPr marL="0" indent="0" algn="ctr">
              <a:lnSpc>
                <a:spcPct val="115000"/>
              </a:lnSpc>
              <a:buNone/>
            </a:pPr>
            <a:r>
              <a:rPr lang="en-US" sz="1050" b="1" dirty="0">
                <a:solidFill>
                  <a:srgbClr val="FFFFFF"/>
                </a:solidFill>
                <a:latin typeface="メイリオ" panose="020B0604030504040204" pitchFamily="50" charset="-128"/>
                <a:ea typeface="メイリオ" panose="020B0604030504040204" pitchFamily="50" charset="-128"/>
                <a:cs typeface="Calibri" pitchFamily="34" charset="-120"/>
              </a:rPr>
              <a:t>有人チャット切替</a:t>
            </a:r>
            <a:endParaRPr lang="en-US" sz="1050" dirty="0">
              <a:latin typeface="メイリオ" panose="020B0604030504040204" pitchFamily="50" charset="-128"/>
              <a:ea typeface="メイリオ" panose="020B0604030504040204" pitchFamily="50" charset="-128"/>
            </a:endParaRPr>
          </a:p>
        </p:txBody>
      </p:sp>
      <p:sp>
        <p:nvSpPr>
          <p:cNvPr id="673" name="Shape 105">
            <a:extLst>
              <a:ext uri="{FF2B5EF4-FFF2-40B4-BE49-F238E27FC236}">
                <a16:creationId xmlns:a16="http://schemas.microsoft.com/office/drawing/2014/main" id="{81CD6781-0482-CB41-CA37-3520B7496A5A}"/>
              </a:ext>
            </a:extLst>
          </p:cNvPr>
          <p:cNvSpPr/>
          <p:nvPr/>
        </p:nvSpPr>
        <p:spPr>
          <a:xfrm>
            <a:off x="5066019" y="4709813"/>
            <a:ext cx="4279392" cy="1446419"/>
          </a:xfrm>
          <a:prstGeom prst="roundRect">
            <a:avLst>
              <a:gd name="adj" fmla="val 7031"/>
            </a:avLst>
          </a:prstGeom>
          <a:solidFill>
            <a:srgbClr val="EEEFF4"/>
          </a:solidFill>
          <a:ln w="12700">
            <a:solidFill>
              <a:srgbClr val="D8D8E2"/>
            </a:solidFill>
            <a:prstDash val="solid"/>
          </a:ln>
          <a:effectLst>
            <a:outerShdw blurRad="50800" dist="12700" dir="8100000" algn="bl" rotWithShape="0">
              <a:srgbClr val="C8C8D8">
                <a:alpha val="10000"/>
              </a:srgbClr>
            </a:outerShdw>
          </a:effectLst>
        </p:spPr>
        <p:txBody>
          <a:bodyPr/>
          <a:lstStyle/>
          <a:p>
            <a:endParaRPr lang="ja-JP" altLang="en-US" sz="1600">
              <a:latin typeface="メイリオ" panose="020B0604030504040204" pitchFamily="50" charset="-128"/>
              <a:ea typeface="メイリオ" panose="020B0604030504040204" pitchFamily="50" charset="-128"/>
            </a:endParaRPr>
          </a:p>
        </p:txBody>
      </p:sp>
      <p:sp>
        <p:nvSpPr>
          <p:cNvPr id="677" name="Shape 107">
            <a:extLst>
              <a:ext uri="{FF2B5EF4-FFF2-40B4-BE49-F238E27FC236}">
                <a16:creationId xmlns:a16="http://schemas.microsoft.com/office/drawing/2014/main" id="{A81AEAB6-AD7E-F31B-0ADE-5C7B295D5EA4}"/>
              </a:ext>
            </a:extLst>
          </p:cNvPr>
          <p:cNvSpPr/>
          <p:nvPr/>
        </p:nvSpPr>
        <p:spPr>
          <a:xfrm>
            <a:off x="5169651" y="4751221"/>
            <a:ext cx="274320" cy="339004"/>
          </a:xfrm>
          <a:prstGeom prst="ellipse">
            <a:avLst/>
          </a:prstGeom>
          <a:solidFill>
            <a:schemeClr val="tx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79" name="Text 108">
            <a:extLst>
              <a:ext uri="{FF2B5EF4-FFF2-40B4-BE49-F238E27FC236}">
                <a16:creationId xmlns:a16="http://schemas.microsoft.com/office/drawing/2014/main" id="{64AA460F-920B-4702-F2D6-9DC6134F10FA}"/>
              </a:ext>
            </a:extLst>
          </p:cNvPr>
          <p:cNvSpPr/>
          <p:nvPr/>
        </p:nvSpPr>
        <p:spPr>
          <a:xfrm>
            <a:off x="5169651" y="4751221"/>
            <a:ext cx="274320" cy="339004"/>
          </a:xfrm>
          <a:prstGeom prst="rect">
            <a:avLst/>
          </a:prstGeom>
          <a:noFill/>
          <a:ln/>
        </p:spPr>
        <p:txBody>
          <a:bodyPr wrap="square" lIns="0" tIns="0" rIns="0" bIns="0" rtlCol="0" anchor="ctr"/>
          <a:lstStyle/>
          <a:p>
            <a:pPr marL="0" indent="0" algn="ctr">
              <a:buNone/>
            </a:pPr>
            <a:r>
              <a:rPr lang="en-US" sz="1100" b="1" dirty="0">
                <a:solidFill>
                  <a:srgbClr val="FFFFFF"/>
                </a:solidFill>
                <a:latin typeface="メイリオ" panose="020B0604030504040204" pitchFamily="50" charset="-128"/>
                <a:ea typeface="メイリオ" panose="020B0604030504040204" pitchFamily="50" charset="-128"/>
                <a:cs typeface="Calibri" pitchFamily="34" charset="-120"/>
              </a:rPr>
              <a:t>3</a:t>
            </a:r>
            <a:endParaRPr lang="en-US" sz="1100" dirty="0">
              <a:latin typeface="メイリオ" panose="020B0604030504040204" pitchFamily="50" charset="-128"/>
              <a:ea typeface="メイリオ" panose="020B0604030504040204" pitchFamily="50" charset="-128"/>
            </a:endParaRPr>
          </a:p>
        </p:txBody>
      </p:sp>
      <p:sp>
        <p:nvSpPr>
          <p:cNvPr id="681" name="Shape 109">
            <a:extLst>
              <a:ext uri="{FF2B5EF4-FFF2-40B4-BE49-F238E27FC236}">
                <a16:creationId xmlns:a16="http://schemas.microsoft.com/office/drawing/2014/main" id="{A7159021-040A-B966-0BEA-A487B1880278}"/>
              </a:ext>
            </a:extLst>
          </p:cNvPr>
          <p:cNvSpPr/>
          <p:nvPr/>
        </p:nvSpPr>
        <p:spPr>
          <a:xfrm>
            <a:off x="5517123" y="4795902"/>
            <a:ext cx="859536" cy="248603"/>
          </a:xfrm>
          <a:prstGeom prst="roundRect">
            <a:avLst>
              <a:gd name="adj" fmla="val 18182"/>
            </a:avLst>
          </a:prstGeom>
          <a:solidFill>
            <a:srgbClr val="F7F7F9"/>
          </a:solidFill>
          <a:ln w="12700">
            <a:solidFill>
              <a:srgbClr val="D8D8E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683" name="Text 110">
            <a:extLst>
              <a:ext uri="{FF2B5EF4-FFF2-40B4-BE49-F238E27FC236}">
                <a16:creationId xmlns:a16="http://schemas.microsoft.com/office/drawing/2014/main" id="{54E3A1A7-41A3-D934-7220-35DFA71C0D16}"/>
              </a:ext>
            </a:extLst>
          </p:cNvPr>
          <p:cNvSpPr/>
          <p:nvPr/>
        </p:nvSpPr>
        <p:spPr>
          <a:xfrm>
            <a:off x="5486643" y="4795902"/>
            <a:ext cx="890016" cy="248603"/>
          </a:xfrm>
          <a:prstGeom prst="rect">
            <a:avLst/>
          </a:prstGeom>
          <a:solidFill>
            <a:schemeClr val="tx2"/>
          </a:solidFill>
          <a:ln/>
        </p:spPr>
        <p:txBody>
          <a:bodyPr wrap="square" lIns="0" tIns="0" rIns="0" bIns="0" rtlCol="0" anchor="ctr"/>
          <a:lstStyle/>
          <a:p>
            <a:pPr marL="0" indent="0" algn="ctr">
              <a:buNone/>
            </a:pPr>
            <a:r>
              <a:rPr lang="en-US" sz="1000" b="1" dirty="0">
                <a:solidFill>
                  <a:srgbClr val="FDFDFD"/>
                </a:solidFill>
                <a:latin typeface="メイリオ" panose="020B0604030504040204" pitchFamily="50" charset="-128"/>
                <a:ea typeface="メイリオ" panose="020B0604030504040204" pitchFamily="50" charset="-128"/>
                <a:cs typeface="Calibri" pitchFamily="34" charset="-120"/>
              </a:rPr>
              <a:t>CV前プッシュ</a:t>
            </a:r>
            <a:endParaRPr lang="en-US" sz="1000" dirty="0">
              <a:solidFill>
                <a:srgbClr val="FDFDFD"/>
              </a:solidFill>
              <a:latin typeface="メイリオ" panose="020B0604030504040204" pitchFamily="50" charset="-128"/>
              <a:ea typeface="メイリオ" panose="020B0604030504040204" pitchFamily="50" charset="-128"/>
            </a:endParaRPr>
          </a:p>
        </p:txBody>
      </p:sp>
      <p:sp>
        <p:nvSpPr>
          <p:cNvPr id="685" name="Text 111">
            <a:extLst>
              <a:ext uri="{FF2B5EF4-FFF2-40B4-BE49-F238E27FC236}">
                <a16:creationId xmlns:a16="http://schemas.microsoft.com/office/drawing/2014/main" id="{F45F7554-888D-796D-0EEB-97F748D6AF65}"/>
              </a:ext>
            </a:extLst>
          </p:cNvPr>
          <p:cNvSpPr/>
          <p:nvPr/>
        </p:nvSpPr>
        <p:spPr>
          <a:xfrm>
            <a:off x="6431523" y="4755533"/>
            <a:ext cx="3054724" cy="316404"/>
          </a:xfrm>
          <a:prstGeom prst="rect">
            <a:avLst/>
          </a:prstGeom>
          <a:noFill/>
          <a:ln/>
        </p:spPr>
        <p:txBody>
          <a:bodyPr wrap="square" lIns="0" tIns="0" rIns="0" bIns="0" rtlCol="0" anchor="ctr"/>
          <a:lstStyle/>
          <a:p>
            <a:pPr marL="0" indent="0">
              <a:buNone/>
            </a:pP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購入・申込前</a:t>
            </a:r>
            <a:r>
              <a:rPr lang="ja-JP" altLang="en-US" sz="1100" b="1" dirty="0">
                <a:solidFill>
                  <a:srgbClr val="1A1A2E"/>
                </a:solidFill>
                <a:latin typeface="メイリオ" panose="020B0604030504040204" pitchFamily="50" charset="-128"/>
                <a:ea typeface="メイリオ" panose="020B0604030504040204" pitchFamily="50" charset="-128"/>
                <a:cs typeface="Calibri" pitchFamily="34" charset="-120"/>
              </a:rPr>
              <a:t>の検討</a:t>
            </a:r>
            <a:r>
              <a:rPr lang="en-US" sz="1100" b="1" dirty="0" err="1">
                <a:solidFill>
                  <a:srgbClr val="1A1A2E"/>
                </a:solidFill>
                <a:latin typeface="メイリオ" panose="020B0604030504040204" pitchFamily="50" charset="-128"/>
                <a:ea typeface="メイリオ" panose="020B0604030504040204" pitchFamily="50" charset="-128"/>
                <a:cs typeface="Calibri" pitchFamily="34" charset="-120"/>
              </a:rPr>
              <a:t>ユーザーへ自動フォロ</a:t>
            </a:r>
            <a:r>
              <a:rPr lang="en-US" sz="1100" b="1" dirty="0">
                <a:solidFill>
                  <a:srgbClr val="1A1A2E"/>
                </a:solidFill>
                <a:latin typeface="メイリオ" panose="020B0604030504040204" pitchFamily="50" charset="-128"/>
                <a:ea typeface="メイリオ" panose="020B0604030504040204" pitchFamily="50" charset="-128"/>
                <a:cs typeface="Calibri" pitchFamily="34" charset="-120"/>
              </a:rPr>
              <a:t>ー</a:t>
            </a:r>
            <a:endParaRPr lang="en-US" sz="1100" dirty="0">
              <a:latin typeface="メイリオ" panose="020B0604030504040204" pitchFamily="50" charset="-128"/>
              <a:ea typeface="メイリオ" panose="020B0604030504040204" pitchFamily="50" charset="-128"/>
            </a:endParaRPr>
          </a:p>
        </p:txBody>
      </p:sp>
      <p:sp>
        <p:nvSpPr>
          <p:cNvPr id="687" name="Text 112">
            <a:extLst>
              <a:ext uri="{FF2B5EF4-FFF2-40B4-BE49-F238E27FC236}">
                <a16:creationId xmlns:a16="http://schemas.microsoft.com/office/drawing/2014/main" id="{70BE181D-BA19-893E-1406-EC150E011C61}"/>
              </a:ext>
            </a:extLst>
          </p:cNvPr>
          <p:cNvSpPr/>
          <p:nvPr/>
        </p:nvSpPr>
        <p:spPr>
          <a:xfrm>
            <a:off x="5175747" y="5163094"/>
            <a:ext cx="4059936" cy="384205"/>
          </a:xfrm>
          <a:prstGeom prst="rect">
            <a:avLst/>
          </a:prstGeom>
          <a:noFill/>
          <a:ln/>
        </p:spPr>
        <p:txBody>
          <a:bodyPr wrap="square" lIns="0" tIns="0" rIns="0" bIns="0" rtlCol="0" anchor="ctr"/>
          <a:lstStyle/>
          <a:p>
            <a:pPr marL="0" indent="0">
              <a:lnSpc>
                <a:spcPct val="140000"/>
              </a:lnSpc>
              <a:buNone/>
            </a:pPr>
            <a:r>
              <a:rPr lang="en-US" sz="1000" dirty="0">
                <a:solidFill>
                  <a:srgbClr val="5A5A72"/>
                </a:solidFill>
                <a:latin typeface="メイリオ" panose="020B0604030504040204" pitchFamily="50" charset="-128"/>
                <a:ea typeface="メイリオ" panose="020B0604030504040204" pitchFamily="50" charset="-128"/>
                <a:cs typeface="Calibri" pitchFamily="34" charset="-120"/>
              </a:rPr>
              <a:t>特定LPを複数回閲覧・カートに入れたまま未購入等をトリガーに「ご不明な点はありますか？」とLINEから自動チャット誘導し、最後の一押しをする。</a:t>
            </a:r>
            <a:endParaRPr lang="en-US" sz="1000" dirty="0">
              <a:latin typeface="メイリオ" panose="020B0604030504040204" pitchFamily="50" charset="-128"/>
              <a:ea typeface="メイリオ" panose="020B0604030504040204" pitchFamily="50" charset="-128"/>
            </a:endParaRPr>
          </a:p>
        </p:txBody>
      </p:sp>
      <p:sp>
        <p:nvSpPr>
          <p:cNvPr id="689" name="Shape 113">
            <a:extLst>
              <a:ext uri="{FF2B5EF4-FFF2-40B4-BE49-F238E27FC236}">
                <a16:creationId xmlns:a16="http://schemas.microsoft.com/office/drawing/2014/main" id="{ECAFE45D-D34B-EFFC-7D25-B08BEE20AEF6}"/>
              </a:ext>
            </a:extLst>
          </p:cNvPr>
          <p:cNvSpPr/>
          <p:nvPr/>
        </p:nvSpPr>
        <p:spPr>
          <a:xfrm>
            <a:off x="5157459"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691" name="Text 114">
            <a:extLst>
              <a:ext uri="{FF2B5EF4-FFF2-40B4-BE49-F238E27FC236}">
                <a16:creationId xmlns:a16="http://schemas.microsoft.com/office/drawing/2014/main" id="{6B779C85-BD07-0168-5453-28C423513F9D}"/>
              </a:ext>
            </a:extLst>
          </p:cNvPr>
          <p:cNvSpPr/>
          <p:nvPr/>
        </p:nvSpPr>
        <p:spPr>
          <a:xfrm>
            <a:off x="5157459" y="5676275"/>
            <a:ext cx="1274064" cy="406805"/>
          </a:xfrm>
          <a:prstGeom prst="rect">
            <a:avLst/>
          </a:prstGeom>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行動トリガー検知</a:t>
            </a:r>
            <a:endParaRPr lang="en-US" sz="1000" dirty="0">
              <a:latin typeface="メイリオ" panose="020B0604030504040204" pitchFamily="50" charset="-128"/>
              <a:ea typeface="メイリオ" panose="020B0604030504040204" pitchFamily="50" charset="-128"/>
            </a:endParaRPr>
          </a:p>
        </p:txBody>
      </p:sp>
      <p:sp>
        <p:nvSpPr>
          <p:cNvPr id="697" name="Shape 117">
            <a:extLst>
              <a:ext uri="{FF2B5EF4-FFF2-40B4-BE49-F238E27FC236}">
                <a16:creationId xmlns:a16="http://schemas.microsoft.com/office/drawing/2014/main" id="{74895763-F19D-BB26-23E9-71C875568975}"/>
              </a:ext>
            </a:extLst>
          </p:cNvPr>
          <p:cNvSpPr/>
          <p:nvPr/>
        </p:nvSpPr>
        <p:spPr>
          <a:xfrm>
            <a:off x="6522963" y="5676275"/>
            <a:ext cx="1274064" cy="406805"/>
          </a:xfrm>
          <a:prstGeom prst="roundRect">
            <a:avLst>
              <a:gd name="adj" fmla="val 16667"/>
            </a:avLst>
          </a:prstGeom>
          <a:solidFill>
            <a:schemeClr val="tx1"/>
          </a:solidFill>
          <a:ln w="12700">
            <a:noFill/>
            <a:prstDash val="solid"/>
          </a:ln>
        </p:spPr>
        <p:txBody>
          <a:bodyPr/>
          <a:lstStyle/>
          <a:p>
            <a:endParaRPr lang="ja-JP" altLang="en-US" sz="2000">
              <a:latin typeface="メイリオ" panose="020B0604030504040204" pitchFamily="50" charset="-128"/>
              <a:ea typeface="メイリオ" panose="020B0604030504040204" pitchFamily="50" charset="-128"/>
            </a:endParaRPr>
          </a:p>
        </p:txBody>
      </p:sp>
      <p:sp>
        <p:nvSpPr>
          <p:cNvPr id="699" name="Text 118">
            <a:extLst>
              <a:ext uri="{FF2B5EF4-FFF2-40B4-BE49-F238E27FC236}">
                <a16:creationId xmlns:a16="http://schemas.microsoft.com/office/drawing/2014/main" id="{503535A8-3E13-EB09-4892-4EF8B4B48074}"/>
              </a:ext>
            </a:extLst>
          </p:cNvPr>
          <p:cNvSpPr/>
          <p:nvPr/>
        </p:nvSpPr>
        <p:spPr>
          <a:xfrm>
            <a:off x="6522963"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自動チャット誘導</a:t>
            </a:r>
            <a:endParaRPr lang="en-US" sz="1000" dirty="0">
              <a:latin typeface="メイリオ" panose="020B0604030504040204" pitchFamily="50" charset="-128"/>
              <a:ea typeface="メイリオ" panose="020B0604030504040204" pitchFamily="50" charset="-128"/>
            </a:endParaRPr>
          </a:p>
        </p:txBody>
      </p:sp>
      <p:sp>
        <p:nvSpPr>
          <p:cNvPr id="705" name="Shape 121">
            <a:extLst>
              <a:ext uri="{FF2B5EF4-FFF2-40B4-BE49-F238E27FC236}">
                <a16:creationId xmlns:a16="http://schemas.microsoft.com/office/drawing/2014/main" id="{AC9980DB-B831-BCAA-8D60-562EB65D4D3A}"/>
              </a:ext>
            </a:extLst>
          </p:cNvPr>
          <p:cNvSpPr/>
          <p:nvPr/>
        </p:nvSpPr>
        <p:spPr>
          <a:xfrm>
            <a:off x="7888467" y="5676275"/>
            <a:ext cx="1274064" cy="406805"/>
          </a:xfrm>
          <a:prstGeom prst="roundRect">
            <a:avLst>
              <a:gd name="adj" fmla="val 16667"/>
            </a:avLst>
          </a:prstGeom>
          <a:solidFill>
            <a:schemeClr val="tx1"/>
          </a:solidFill>
          <a:ln w="12700">
            <a:no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707" name="Text 122">
            <a:extLst>
              <a:ext uri="{FF2B5EF4-FFF2-40B4-BE49-F238E27FC236}">
                <a16:creationId xmlns:a16="http://schemas.microsoft.com/office/drawing/2014/main" id="{22E49EBC-D7D9-221D-5A31-6BDEA690B75F}"/>
              </a:ext>
            </a:extLst>
          </p:cNvPr>
          <p:cNvSpPr/>
          <p:nvPr/>
        </p:nvSpPr>
        <p:spPr>
          <a:xfrm>
            <a:off x="7888467" y="5676275"/>
            <a:ext cx="1274064" cy="406805"/>
          </a:xfrm>
          <a:prstGeom prst="rect">
            <a:avLst/>
          </a:prstGeom>
          <a:noFill/>
          <a:ln>
            <a:noFill/>
          </a:ln>
        </p:spPr>
        <p:txBody>
          <a:bodyPr wrap="square" lIns="0" tIns="0" rIns="0" bIns="0" rtlCol="0" anchor="ctr"/>
          <a:lstStyle/>
          <a:p>
            <a:pPr marL="0" indent="0" algn="ctr">
              <a:lnSpc>
                <a:spcPct val="115000"/>
              </a:lnSpc>
              <a:buNone/>
            </a:pPr>
            <a:r>
              <a:rPr lang="en-US" sz="1000" b="1" dirty="0">
                <a:solidFill>
                  <a:srgbClr val="FFFFFF"/>
                </a:solidFill>
                <a:latin typeface="メイリオ" panose="020B0604030504040204" pitchFamily="50" charset="-128"/>
                <a:ea typeface="メイリオ" panose="020B0604030504040204" pitchFamily="50" charset="-128"/>
                <a:cs typeface="Calibri" pitchFamily="34" charset="-120"/>
              </a:rPr>
              <a:t>最終CV押し</a:t>
            </a:r>
            <a:endParaRPr lang="en-US" sz="1000" dirty="0">
              <a:latin typeface="メイリオ" panose="020B0604030504040204" pitchFamily="50" charset="-128"/>
              <a:ea typeface="メイリオ" panose="020B0604030504040204" pitchFamily="50" charset="-128"/>
            </a:endParaRPr>
          </a:p>
        </p:txBody>
      </p:sp>
      <p:sp>
        <p:nvSpPr>
          <p:cNvPr id="12" name="Shape 43">
            <a:extLst>
              <a:ext uri="{FF2B5EF4-FFF2-40B4-BE49-F238E27FC236}">
                <a16:creationId xmlns:a16="http://schemas.microsoft.com/office/drawing/2014/main" id="{015046B1-422B-D143-D42E-FFCB6E50BDFD}"/>
              </a:ext>
            </a:extLst>
          </p:cNvPr>
          <p:cNvSpPr/>
          <p:nvPr/>
        </p:nvSpPr>
        <p:spPr>
          <a:xfrm>
            <a:off x="1987539"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4" name="Text 44">
            <a:extLst>
              <a:ext uri="{FF2B5EF4-FFF2-40B4-BE49-F238E27FC236}">
                <a16:creationId xmlns:a16="http://schemas.microsoft.com/office/drawing/2014/main" id="{E10F9D9D-B8B4-2619-0D78-A8518E7D27D9}"/>
              </a:ext>
            </a:extLst>
          </p:cNvPr>
          <p:cNvSpPr/>
          <p:nvPr/>
        </p:nvSpPr>
        <p:spPr>
          <a:xfrm>
            <a:off x="1987539"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16" name="Shape 47">
            <a:extLst>
              <a:ext uri="{FF2B5EF4-FFF2-40B4-BE49-F238E27FC236}">
                <a16:creationId xmlns:a16="http://schemas.microsoft.com/office/drawing/2014/main" id="{C0AA6635-6DF6-2127-AAD7-0D9D5EB088C1}"/>
              </a:ext>
            </a:extLst>
          </p:cNvPr>
          <p:cNvSpPr/>
          <p:nvPr/>
        </p:nvSpPr>
        <p:spPr>
          <a:xfrm>
            <a:off x="3353043" y="5832174"/>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18" name="Text 48">
            <a:extLst>
              <a:ext uri="{FF2B5EF4-FFF2-40B4-BE49-F238E27FC236}">
                <a16:creationId xmlns:a16="http://schemas.microsoft.com/office/drawing/2014/main" id="{497710E5-220F-C545-E364-574BD79A0BE8}"/>
              </a:ext>
            </a:extLst>
          </p:cNvPr>
          <p:cNvSpPr/>
          <p:nvPr/>
        </p:nvSpPr>
        <p:spPr>
          <a:xfrm>
            <a:off x="3353043" y="5832174"/>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0" name="Shape 43">
            <a:extLst>
              <a:ext uri="{FF2B5EF4-FFF2-40B4-BE49-F238E27FC236}">
                <a16:creationId xmlns:a16="http://schemas.microsoft.com/office/drawing/2014/main" id="{06C06D8C-BAFC-2894-2CA3-9E087FEEA2E3}"/>
              </a:ext>
            </a:extLst>
          </p:cNvPr>
          <p:cNvSpPr/>
          <p:nvPr/>
        </p:nvSpPr>
        <p:spPr>
          <a:xfrm>
            <a:off x="6431523"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2" name="Text 44">
            <a:extLst>
              <a:ext uri="{FF2B5EF4-FFF2-40B4-BE49-F238E27FC236}">
                <a16:creationId xmlns:a16="http://schemas.microsoft.com/office/drawing/2014/main" id="{008286C9-78EA-C479-FFCF-2F148042A721}"/>
              </a:ext>
            </a:extLst>
          </p:cNvPr>
          <p:cNvSpPr/>
          <p:nvPr/>
        </p:nvSpPr>
        <p:spPr>
          <a:xfrm>
            <a:off x="6431523"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
        <p:nvSpPr>
          <p:cNvPr id="24" name="Shape 47">
            <a:extLst>
              <a:ext uri="{FF2B5EF4-FFF2-40B4-BE49-F238E27FC236}">
                <a16:creationId xmlns:a16="http://schemas.microsoft.com/office/drawing/2014/main" id="{E3694C2E-3C58-CF49-66A0-6BD648B3759E}"/>
              </a:ext>
            </a:extLst>
          </p:cNvPr>
          <p:cNvSpPr/>
          <p:nvPr/>
        </p:nvSpPr>
        <p:spPr>
          <a:xfrm>
            <a:off x="7797027" y="5807651"/>
            <a:ext cx="91440" cy="180802"/>
          </a:xfrm>
          <a:prstGeom prst="roundRect">
            <a:avLst>
              <a:gd name="adj" fmla="val 40000"/>
            </a:avLst>
          </a:prstGeom>
          <a:solidFill>
            <a:srgbClr val="D8D8E2"/>
          </a:solidFill>
          <a:ln w="12700">
            <a:solidFill>
              <a:srgbClr val="D8D8E2"/>
            </a:solidFill>
            <a:prstDash val="solid"/>
          </a:ln>
        </p:spPr>
        <p:txBody>
          <a:bodyPr/>
          <a:lstStyle/>
          <a:p>
            <a:endParaRPr lang="ja-JP" altLang="en-US" sz="2400">
              <a:latin typeface="メイリオ" panose="020B0604030504040204" pitchFamily="50" charset="-128"/>
              <a:ea typeface="メイリオ" panose="020B0604030504040204" pitchFamily="50" charset="-128"/>
            </a:endParaRPr>
          </a:p>
        </p:txBody>
      </p:sp>
      <p:sp>
        <p:nvSpPr>
          <p:cNvPr id="26" name="Text 48">
            <a:extLst>
              <a:ext uri="{FF2B5EF4-FFF2-40B4-BE49-F238E27FC236}">
                <a16:creationId xmlns:a16="http://schemas.microsoft.com/office/drawing/2014/main" id="{EC1D5F75-6D8E-B3B8-DD9E-954F37F1B769}"/>
              </a:ext>
            </a:extLst>
          </p:cNvPr>
          <p:cNvSpPr/>
          <p:nvPr/>
        </p:nvSpPr>
        <p:spPr>
          <a:xfrm>
            <a:off x="7797027" y="5807651"/>
            <a:ext cx="91440" cy="180802"/>
          </a:xfrm>
          <a:prstGeom prst="rect">
            <a:avLst/>
          </a:prstGeom>
          <a:noFill/>
          <a:ln/>
        </p:spPr>
        <p:txBody>
          <a:bodyPr wrap="square" lIns="0" tIns="0" rIns="0" bIns="0" rtlCol="0" anchor="ctr"/>
          <a:lstStyle/>
          <a:p>
            <a:pPr marL="0" indent="0" algn="ctr">
              <a:buNone/>
            </a:pPr>
            <a:r>
              <a:rPr lang="en-US" sz="900" dirty="0">
                <a:solidFill>
                  <a:srgbClr val="5A5A72"/>
                </a:solidFill>
                <a:latin typeface="メイリオ" panose="020B0604030504040204" pitchFamily="50" charset="-128"/>
                <a:ea typeface="メイリオ" panose="020B0604030504040204" pitchFamily="50" charset="-128"/>
                <a:cs typeface="Calibri" pitchFamily="34" charset="-120"/>
              </a:rPr>
              <a:t>▶</a:t>
            </a:r>
            <a:endParaRPr lang="en-US" sz="9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48277907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メイリオ" pitchFamily="34" charset="0"/>
              <a:ea typeface="メイリオ"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メイリオ"/>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メイリオ" panose="020F0302020204030204"/>
        <a:ea typeface="メイリオ"/>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メイリオ" panose="020F0502020204030204"/>
        <a:ea typeface="メイリオ"/>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146316</TotalTime>
  <Words>8419</Words>
  <Application>Microsoft Office PowerPoint</Application>
  <PresentationFormat>A4 210 x 297 mm</PresentationFormat>
  <Paragraphs>1836</Paragraphs>
  <Slides>50</Slides>
  <Notes>9</Notes>
  <HiddenSlides>4</HiddenSlides>
  <MMClips>0</MMClips>
  <ScaleCrop>false</ScaleCrop>
  <HeadingPairs>
    <vt:vector size="6" baseType="variant">
      <vt:variant>
        <vt:lpstr>使用されているフォント</vt:lpstr>
      </vt:variant>
      <vt:variant>
        <vt:i4>3</vt:i4>
      </vt:variant>
      <vt:variant>
        <vt:lpstr>テーマ</vt:lpstr>
      </vt:variant>
      <vt:variant>
        <vt:i4>2</vt:i4>
      </vt:variant>
      <vt:variant>
        <vt:lpstr>スライド タイトル</vt:lpstr>
      </vt:variant>
      <vt:variant>
        <vt:i4>50</vt:i4>
      </vt:variant>
    </vt:vector>
  </HeadingPairs>
  <TitlesOfParts>
    <vt:vector size="55" baseType="lpstr">
      <vt:lpstr>メイリオ</vt:lpstr>
      <vt:lpstr>Arial</vt:lpstr>
      <vt:lpstr>Calibri</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1965</cp:revision>
  <cp:lastPrinted>2022-11-01T11:38:14Z</cp:lastPrinted>
  <dcterms:created xsi:type="dcterms:W3CDTF">2015-09-04T09:21:15Z</dcterms:created>
  <dcterms:modified xsi:type="dcterms:W3CDTF">2026-09-25T07:53:28Z</dcterms:modified>
</cp:coreProperties>
</file>