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7.svg" ContentType="image/svg+xml"/>
  <Override PartName="/ppt/media/image18.svg" ContentType="image/svg+xml"/>
  <Override PartName="/ppt/media/image19.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9" r:id="rId3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1.emf"/><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jpeg"/><Relationship Id="rId7" Type="http://schemas.openxmlformats.org/officeDocument/2006/relationships/image" Target="../media/image15.jpeg"/><Relationship Id="rId8"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svg"/><Relationship Id="rId3" Type="http://schemas.openxmlformats.org/officeDocument/2006/relationships/image" Target="../media/image18.svg"/><Relationship Id="rId4" Type="http://schemas.openxmlformats.org/officeDocument/2006/relationships/image" Target="../media/image19.svg"/><Relationship Id="rId5" Type="http://schemas.openxmlformats.org/officeDocument/2006/relationships/image" Target="../media/image20.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jpg"/><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40.jpg"/><Relationship Id="rId6" Type="http://schemas.openxmlformats.org/officeDocument/2006/relationships/image" Target="../media/image41.png"/><Relationship Id="rId7" Type="http://schemas.openxmlformats.org/officeDocument/2006/relationships/hyperlink" Target="https://youtube.com/shorts/0qI4QgrOppQ" TargetMode="External"/><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LINE導入の背景／CRM・API連携／その他の活用機能／提供施策／運用プラン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競合のLINE運用：大進建設は特典で、資料請求から事前審査まで後押しする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大進建設を中心に、一条工務店・セキスイハイムの友だち追加の入口とあいさつを、実際の画面で見る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2340864"/>
            <a:ext cx="1600200" cy="1600200"/>
          </a:xfrm>
          <a:prstGeom prst="rect">
            <a:avLst/>
          </a:prstGeom>
        </p:spPr>
      </p:pic>
      <p:sp>
        <p:nvSpPr>
          <p:cNvPr id="9" name="会社 大進建設"/>
          <p:cNvSpPr/>
          <p:nvPr/>
        </p:nvSpPr>
        <p:spPr>
          <a:xfrm>
            <a:off x="411480" y="1481328"/>
            <a:ext cx="5577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ほかの大手"/>
          <p:cNvSpPr/>
          <p:nvPr/>
        </p:nvSpPr>
        <p:spPr>
          <a:xfrm>
            <a:off x="6217920" y="1481328"/>
            <a:ext cx="3273552"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ほかの大手（参考）</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6002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4023360"/>
            <a:ext cx="1600200"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最大4万円分</a:t>
            </a:r>
            <a:endParaRPr lang="ja-JP" altLang="en-US" sz="1200" dirty="0">
              <a:latin typeface="メイリオ"/>
              <a:ea typeface="メイリオ"/>
              <a:cs typeface="メイリオ"/>
            </a:endParaRPr>
          </a:p>
        </p:txBody>
      </p:sp>
      <p:sp>
        <p:nvSpPr>
          <p:cNvPr id="13" name="見出し あいさつ"/>
          <p:cNvSpPr/>
          <p:nvPr/>
        </p:nvSpPr>
        <p:spPr>
          <a:xfrm>
            <a:off x="2148840" y="1874519"/>
            <a:ext cx="18288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大進建設のあいさつ" descr="tanaka_line_daishin_aisatsu.png"/>
          <p:cNvPicPr>
            <a:picLocks noChangeAspect="1"/>
          </p:cNvPicPr>
          <p:nvPr/>
        </p:nvPicPr>
        <p:blipFill>
          <a:blip r:embed="rId6"/>
          <a:stretch>
            <a:fillRect/>
          </a:stretch>
        </p:blipFill>
        <p:spPr>
          <a:xfrm>
            <a:off x="2400300" y="2340864"/>
            <a:ext cx="1325880" cy="2871216"/>
          </a:xfrm>
          <a:prstGeom prst="rect">
            <a:avLst/>
          </a:prstGeom>
          <a:ln w="9525">
            <a:solidFill>
              <a:srgbClr val="BFBFBF"/>
            </a:solidFill>
          </a:ln>
        </p:spPr>
      </p:pic>
      <p:sp>
        <p:nvSpPr>
          <p:cNvPr id="15" name="画面の説明"/>
          <p:cNvSpPr/>
          <p:nvPr/>
        </p:nvSpPr>
        <p:spPr>
          <a:xfrm>
            <a:off x="2148840" y="5266944"/>
            <a:ext cx="182880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p:txBody>
      </p:sp>
      <p:sp>
        <p:nvSpPr>
          <p:cNvPr id="16" name="見出し リッチメニュー"/>
          <p:cNvSpPr/>
          <p:nvPr/>
        </p:nvSpPr>
        <p:spPr>
          <a:xfrm>
            <a:off x="4114800" y="1874519"/>
            <a:ext cx="1874519"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18" name="見出し 一条工務店"/>
          <p:cNvSpPr/>
          <p:nvPr/>
        </p:nvSpPr>
        <p:spPr>
          <a:xfrm>
            <a:off x="6217920" y="1874519"/>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6263640" y="2286000"/>
            <a:ext cx="868680" cy="1883664"/>
          </a:xfrm>
          <a:prstGeom prst="rect">
            <a:avLst/>
          </a:prstGeom>
          <a:ln w="9525">
            <a:solidFill>
              <a:srgbClr val="BFBFBF"/>
            </a:solidFill>
          </a:ln>
        </p:spPr>
      </p:pic>
      <p:sp>
        <p:nvSpPr>
          <p:cNvPr id="20" name="画面の説明"/>
          <p:cNvSpPr/>
          <p:nvPr/>
        </p:nvSpPr>
        <p:spPr>
          <a:xfrm>
            <a:off x="8183879" y="2286000"/>
            <a:ext cx="1307592" cy="1883664"/>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1分のアンケートへ案内。メニューに性能・暮らし・実例</a:t>
            </a:r>
            <a:endParaRPr lang="ja-JP" altLang="en-US" sz="1200" dirty="0">
              <a:latin typeface="メイリオ"/>
              <a:ea typeface="メイリオ"/>
              <a:cs typeface="メイリオ"/>
            </a:endParaRPr>
          </a:p>
        </p:txBody>
      </p:sp>
      <p:sp>
        <p:nvSpPr>
          <p:cNvPr id="21" name="見出し セキスイハイム"/>
          <p:cNvSpPr/>
          <p:nvPr/>
        </p:nvSpPr>
        <p:spPr>
          <a:xfrm>
            <a:off x="6217920" y="4343400"/>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セキスイハイム</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7223760" y="2286000"/>
            <a:ext cx="868680" cy="1883664"/>
          </a:xfrm>
          <a:prstGeom prst="rect">
            <a:avLst/>
          </a:prstGeom>
          <a:ln w="9525">
            <a:solidFill>
              <a:srgbClr val="BFBFBF"/>
            </a:solidFill>
          </a:ln>
        </p:spPr>
      </p:pic>
      <p:sp>
        <p:nvSpPr>
          <p:cNvPr id="23" name="画面の説明"/>
          <p:cNvSpPr/>
          <p:nvPr/>
        </p:nvSpPr>
        <p:spPr>
          <a:xfrm>
            <a:off x="6217920" y="4754880"/>
            <a:ext cx="3273552"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LINEで、カタログ無料診断・無料間取り作成を案内</a:t>
            </a:r>
            <a:endParaRPr lang="ja-JP" altLang="en-US" sz="1200" dirty="0">
              <a:latin typeface="メイリオ"/>
              <a:ea typeface="メイリオ"/>
              <a:cs typeface="メイリオ"/>
            </a:endParaRPr>
          </a:p>
        </p:txBody>
      </p:sp>
      <p:sp>
        <p:nvSpPr>
          <p:cNvPr id="26" name="区切り"/>
          <p:cNvSpPr/>
          <p:nvPr/>
        </p:nvSpPr>
        <p:spPr>
          <a:xfrm>
            <a:off x="608076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2026年10月19日、セキスイハイム 2026年10月16日確認）。サイトのポップアップは大進建設の公式サイトより（2026年10月16日確認）</a:t>
            </a:r>
            <a:endParaRPr lang="ja-JP" altLang="en-US" sz="1200" dirty="0">
              <a:latin typeface="メイリオ"/>
              <a:ea typeface="メイリオ"/>
              <a:cs typeface="メイリオ"/>
            </a:endParaRPr>
          </a:p>
        </p:txBody>
      </p:sp>
      <p:pic>
        <p:nvPicPr>
          <p:cNvPr id="28" name="大進建設のキャンペーンとリッチメニュー" descr="tanaka_line_daishin_aisatsu.png"/>
          <p:cNvPicPr>
            <a:picLocks noChangeAspect="1"/>
          </p:cNvPicPr>
          <p:nvPr/>
        </p:nvPicPr>
        <p:blipFill>
          <a:blip r:embed="rId3"/>
          <a:stretch>
            <a:fillRect/>
          </a:stretch>
        </p:blipFill>
        <p:spPr>
          <a:xfrm>
            <a:off x="4389120" y="2340864"/>
            <a:ext cx="1325880" cy="2871216"/>
          </a:xfrm>
          <a:prstGeom prst="rect">
            <a:avLst/>
          </a:prstGeom>
          <a:ln w="9525">
            <a:solidFill>
              <a:srgbClr val="BFBFBF"/>
            </a:solidFill>
          </a:ln>
        </p:spPr>
      </p:pic>
      <p:sp>
        <p:nvSpPr>
          <p:cNvPr id="29" name="画面の説明"/>
          <p:cNvSpPr/>
          <p:nvPr/>
        </p:nvSpPr>
        <p:spPr>
          <a:xfrm>
            <a:off x="4069080" y="5266944"/>
            <a:ext cx="196596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特典で事前審査まで後押しする大進建設に対し、資料請求の前から契約まで追う設計で応える</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2026年10月19日確認）。入口・ポップアップは各社の公式サイトより（2026年10月16日確認）</a:t>
            </a:r>
            <a:endParaRPr lang="ja-JP" altLang="en-US" sz="1200" dirty="0">
              <a:latin typeface="メイリオ"/>
              <a:ea typeface="メイリオ"/>
              <a:cs typeface="メイリオ"/>
            </a:endParaRPr>
          </a:p>
        </p:txBody>
      </p:sp>
      <p:sp>
        <p:nvSpPr>
          <p:cNvPr id="13" name="会社 大進建設"/>
          <p:cNvSpPr/>
          <p:nvPr/>
        </p:nvSpPr>
        <p:spPr>
          <a:xfrm>
            <a:off x="502920" y="1572768"/>
            <a:ext cx="3401568"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4" name="会社 タナカホーム"/>
          <p:cNvSpPr/>
          <p:nvPr/>
        </p:nvSpPr>
        <p:spPr>
          <a:xfrm>
            <a:off x="5971032" y="1572768"/>
            <a:ext cx="342900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タナカホーム（弊社の運用でつくる形）</a:t>
            </a:r>
            <a:endParaRPr lang="ja-JP" altLang="en-US" sz="1200" dirty="0">
              <a:latin typeface="メイリオ"/>
              <a:ea typeface="メイリオ"/>
              <a:cs typeface="メイリオ"/>
            </a:endParaRPr>
          </a:p>
        </p:txBody>
      </p:sp>
      <p:sp>
        <p:nvSpPr>
          <p:cNvPr id="15" name="項目 友だちになるきっかけ"/>
          <p:cNvSpPr/>
          <p:nvPr/>
        </p:nvSpPr>
        <p:spPr>
          <a:xfrm>
            <a:off x="4023360" y="208483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友だちになるきっかけ</a:t>
            </a:r>
            <a:endParaRPr lang="ja-JP" altLang="en-US" sz="1200" dirty="0">
              <a:latin typeface="メイリオ"/>
              <a:ea typeface="メイリオ"/>
              <a:cs typeface="メイリオ"/>
            </a:endParaRPr>
          </a:p>
        </p:txBody>
      </p:sp>
      <p:sp>
        <p:nvSpPr>
          <p:cNvPr id="16" name="大進建設"/>
          <p:cNvSpPr/>
          <p:nvPr/>
        </p:nvSpPr>
        <p:spPr>
          <a:xfrm>
            <a:off x="502920" y="201168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LINE登録で最大4万円分のギフトカード</a:t>
            </a:r>
            <a:endParaRPr lang="ja-JP" altLang="en-US" sz="1200" dirty="0">
              <a:latin typeface="メイリオ"/>
              <a:ea typeface="メイリオ"/>
              <a:cs typeface="メイリオ"/>
            </a:endParaRPr>
          </a:p>
        </p:txBody>
      </p:sp>
      <p:sp>
        <p:nvSpPr>
          <p:cNvPr id="17" name="タナカホーム"/>
          <p:cNvSpPr/>
          <p:nvPr/>
        </p:nvSpPr>
        <p:spPr>
          <a:xfrm>
            <a:off x="5971032" y="201168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来場特典に加え、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施工事例・ルームツアーなどの情報</a:t>
            </a:r>
            <a:endParaRPr lang="ja-JP" altLang="en-US" sz="1200" dirty="0">
              <a:latin typeface="メイリオ"/>
              <a:ea typeface="メイリオ"/>
              <a:cs typeface="メイリオ"/>
            </a:endParaRPr>
          </a:p>
        </p:txBody>
      </p:sp>
      <p:cxnSp>
        <p:nvCxnSpPr>
          <p:cNvPr id="18" name="項目の区切り"/>
          <p:cNvCxnSpPr/>
          <p:nvPr/>
        </p:nvCxnSpPr>
        <p:spPr>
          <a:xfrm>
            <a:off x="502920" y="260604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項目 友だちの入口"/>
          <p:cNvSpPr/>
          <p:nvPr/>
        </p:nvSpPr>
        <p:spPr>
          <a:xfrm>
            <a:off x="4023360" y="272491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友だちの入口</a:t>
            </a:r>
            <a:endParaRPr lang="ja-JP" altLang="en-US" sz="1200" dirty="0">
              <a:latin typeface="メイリオ"/>
              <a:ea typeface="メイリオ"/>
              <a:cs typeface="メイリオ"/>
            </a:endParaRPr>
          </a:p>
        </p:txBody>
      </p:sp>
      <p:sp>
        <p:nvSpPr>
          <p:cNvPr id="20" name="大進建設"/>
          <p:cNvSpPr/>
          <p:nvPr/>
        </p:nvSpPr>
        <p:spPr>
          <a:xfrm>
            <a:off x="502920" y="265176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p:txBody>
      </p:sp>
      <p:sp>
        <p:nvSpPr>
          <p:cNvPr id="21" name="タナカホーム"/>
          <p:cNvSpPr/>
          <p:nvPr/>
        </p:nvSpPr>
        <p:spPr>
          <a:xfrm>
            <a:off x="5971032" y="265176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サイトを閉じるとき・資料請求の完了直後</a:t>
            </a:r>
            <a:endParaRPr lang="ja-JP" altLang="en-US" sz="1200" dirty="0">
              <a:latin typeface="メイリオ"/>
              <a:ea typeface="メイリオ"/>
              <a:cs typeface="メイリオ"/>
            </a:endParaRPr>
          </a:p>
        </p:txBody>
      </p:sp>
      <p:cxnSp>
        <p:nvCxnSpPr>
          <p:cNvPr id="22" name="項目の区切り"/>
          <p:cNvCxnSpPr/>
          <p:nvPr/>
        </p:nvCxnSpPr>
        <p:spPr>
          <a:xfrm>
            <a:off x="502920" y="324612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項目 あいさつ"/>
          <p:cNvSpPr/>
          <p:nvPr/>
        </p:nvSpPr>
        <p:spPr>
          <a:xfrm>
            <a:off x="4023360" y="336499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sp>
        <p:nvSpPr>
          <p:cNvPr id="24" name="大進建設"/>
          <p:cNvSpPr/>
          <p:nvPr/>
        </p:nvSpPr>
        <p:spPr>
          <a:xfrm>
            <a:off x="502920" y="329184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「まずは資料請求から」</a:t>
            </a:r>
            <a:endParaRPr lang="ja-JP" altLang="en-US" sz="1200" dirty="0">
              <a:latin typeface="メイリオ"/>
              <a:ea typeface="メイリオ"/>
              <a:cs typeface="メイリオ"/>
            </a:endParaRPr>
          </a:p>
        </p:txBody>
      </p:sp>
      <p:sp>
        <p:nvSpPr>
          <p:cNvPr id="25" name="タナカホーム"/>
          <p:cNvSpPr/>
          <p:nvPr/>
        </p:nvSpPr>
        <p:spPr>
          <a:xfrm>
            <a:off x="5971032" y="329184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予約の案内に加え、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平屋か2階建てか・予算の簡易診断へ</a:t>
            </a:r>
            <a:endParaRPr lang="ja-JP" altLang="en-US" sz="1200" dirty="0">
              <a:latin typeface="メイリオ"/>
              <a:ea typeface="メイリオ"/>
              <a:cs typeface="メイリオ"/>
            </a:endParaRPr>
          </a:p>
        </p:txBody>
      </p:sp>
      <p:cxnSp>
        <p:nvCxnSpPr>
          <p:cNvPr id="26" name="項目の区切り"/>
          <p:cNvCxnSpPr/>
          <p:nvPr/>
        </p:nvCxnSpPr>
        <p:spPr>
          <a:xfrm>
            <a:off x="502920" y="388620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項目 リッチメニュー"/>
          <p:cNvSpPr/>
          <p:nvPr/>
        </p:nvSpPr>
        <p:spPr>
          <a:xfrm>
            <a:off x="4023360" y="400507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28" name="大進建設"/>
          <p:cNvSpPr/>
          <p:nvPr/>
        </p:nvSpPr>
        <p:spPr>
          <a:xfrm>
            <a:off x="502920" y="393192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キャンペーン・資料請求・モデルハウス・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
        <p:nvSpPr>
          <p:cNvPr id="29" name="タナカホーム"/>
          <p:cNvSpPr/>
          <p:nvPr/>
        </p:nvSpPr>
        <p:spPr>
          <a:xfrm>
            <a:off x="5971032" y="393192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今の予約・ホームページ・SNSに、</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施工事例・ルームツアー・資金相談を足す</a:t>
            </a:r>
            <a:endParaRPr lang="ja-JP" altLang="en-US" sz="1200" dirty="0">
              <a:latin typeface="メイリオ"/>
              <a:ea typeface="メイリオ"/>
              <a:cs typeface="メイリオ"/>
            </a:endParaRPr>
          </a:p>
        </p:txBody>
      </p:sp>
      <p:cxnSp>
        <p:nvCxnSpPr>
          <p:cNvPr id="30" name="項目の区切り"/>
          <p:cNvCxnSpPr/>
          <p:nvPr/>
        </p:nvCxnSpPr>
        <p:spPr>
          <a:xfrm>
            <a:off x="502920" y="452628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項目 どこまで追うか"/>
          <p:cNvSpPr/>
          <p:nvPr/>
        </p:nvSpPr>
        <p:spPr>
          <a:xfrm>
            <a:off x="4023360" y="4645152"/>
            <a:ext cx="1828800" cy="402335"/>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どこまで追うか</a:t>
            </a:r>
            <a:endParaRPr lang="ja-JP" altLang="en-US" sz="1200" dirty="0">
              <a:latin typeface="メイリオ"/>
              <a:ea typeface="メイリオ"/>
              <a:cs typeface="メイリオ"/>
            </a:endParaRPr>
          </a:p>
        </p:txBody>
      </p:sp>
      <p:sp>
        <p:nvSpPr>
          <p:cNvPr id="32" name="大進建設"/>
          <p:cNvSpPr/>
          <p:nvPr/>
        </p:nvSpPr>
        <p:spPr>
          <a:xfrm>
            <a:off x="502920" y="457200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特典で、資料請求・予約来場から、</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来場後の事前審査まで</a:t>
            </a:r>
            <a:endParaRPr lang="ja-JP" altLang="en-US" sz="1200" dirty="0">
              <a:latin typeface="メイリオ"/>
              <a:ea typeface="メイリオ"/>
              <a:cs typeface="メイリオ"/>
            </a:endParaRPr>
          </a:p>
        </p:txBody>
      </p:sp>
      <p:sp>
        <p:nvSpPr>
          <p:cNvPr id="33" name="タナカホーム"/>
          <p:cNvSpPr/>
          <p:nvPr/>
        </p:nvSpPr>
        <p:spPr>
          <a:xfrm>
            <a:off x="5971032" y="457200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弊社が運用を代行して、</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資料請求の前から契約まで追う設計にする</a:t>
            </a:r>
            <a:endParaRPr lang="ja-JP" altLang="en-US" sz="1200" dirty="0">
              <a:latin typeface="メイリオ"/>
              <a:ea typeface="メイリオ"/>
              <a:cs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20624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20624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20624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
        <p:nvSpPr>
          <p:cNvPr id="24" name="送り方"/>
          <p:cNvSpPr/>
          <p:nvPr/>
        </p:nvSpPr>
        <p:spPr>
          <a:xfrm>
            <a:off x="502920" y="3639312"/>
            <a:ext cx="8897112" cy="384048"/>
          </a:xfrm>
          <a:prstGeom prst="rect">
            <a:avLst/>
          </a:prstGeom>
          <a:noFill/>
          <a:ln w="9525">
            <a:solidFill>
              <a:srgbClr val="D9D9D9"/>
            </a:solidFill>
          </a:ln>
        </p:spPr>
        <p:txBody>
          <a:bodyPr wrap="square" lIns="91440" tIns="91440" rIns="91440" bIns="54864" rtlCol="0" anchor="ctr">
            <a:noAutofit/>
          </a:bodyPr>
          <a:lstStyle/>
          <a:p>
            <a:pPr algn="l">
              <a:lnSpc>
                <a:spcPct val="125000"/>
              </a:lnSpc>
              <a:buNone/>
            </a:pPr>
            <a:r>
              <a:rPr lang="ja-JP" altLang="en-US" sz="1200" b="0" dirty="0">
                <a:solidFill>
                  <a:srgbClr val="333333"/>
                </a:solidFill>
                <a:latin typeface="メイリオ" panose="020B0604030504040204" pitchFamily="50" charset="-128"/>
                <a:ea typeface="メイリオ" panose="020B0604030504040204" pitchFamily="50" charset="-128"/>
              </a:rPr>
              <a:t>送り方｜貴社の事務の方が予約を確認し、LINEでお送りする。文面の型は弊社が用意し、反応を見て直す</a:t>
            </a:r>
            <a:endParaRPr lang="ja-JP"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概算お見積り：月23万円で、6か月目に資料請求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型の改善</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オプション</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1,453人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来場前の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お知らせ</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型をつくる</a:t>
            </a:r>
            <a:endParaRPr lang="en-US" sz="13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1755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100,000円〜／プラン②・③ 150,000円〜）＋離脱防止 15,000円</a:t>
            </a:r>
            <a:endParaRPr lang="ja-JP" altLang="en-US" sz="1200" dirty="0"/>
          </a:p>
        </p:txBody>
      </p:sp>
      <p:sp>
        <p:nvSpPr>
          <p:cNvPr id="641" name="注記"/>
          <p:cNvSpPr/>
          <p:nvPr/>
        </p:nvSpPr>
        <p:spPr>
          <a:xfrm>
            <a:off x="384048" y="54041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30,000円。LINE公式アカウント利用料は別（貴社のご契約のまま）</a:t>
            </a:r>
            <a:endParaRPr lang="ja-JP" altLang="en-US" sz="1200" dirty="0"/>
          </a:p>
        </p:txBody>
      </p:sp>
      <p:sp>
        <p:nvSpPr>
          <p:cNvPr id="641" name="注記"/>
          <p:cNvSpPr/>
          <p:nvPr/>
        </p:nvSpPr>
        <p:spPr>
          <a:xfrm>
            <a:off x="384048" y="5632704"/>
            <a:ext cx="9144000" cy="246888"/>
          </a:xfrm>
          <a:prstGeom prst="rect">
            <a:avLst/>
          </a:prstGeom>
          <a:noFill/>
          <a:ln>
            <a:noFill/>
          </a:ln>
        </p:spPr>
        <p:txBody>
          <a:bodyPr wrap="square" lIns="0" tIns="0" rIns="0" bIns="0" rtlCol="0" anchor="t">
            <a:noAutofit/>
          </a:bodyPr>
          <a:lstStyle/>
          <a:p>
            <a:pPr algn="l">
              <a:buNone/>
            </a:pPr>
            <a:r>
              <a:rPr lang="ja-JP" altLang="en-US" sz="900" b="1" dirty="0">
                <a:solidFill>
                  <a:srgbClr val="7F7F7F"/>
                </a:solidFill>
                <a:latin typeface="メイリオ" panose="020B0604030504040204" pitchFamily="50" charset="-128"/>
                <a:ea typeface="メイリオ" panose="020B0604030504040204" pitchFamily="50" charset="-128"/>
              </a:rPr>
              <a:t>※サンクスLINE誘導（オプション）：追加する場合は初期＋150,000円・月額＋30,000円〜。サンクスLINE誘導のみの導入も可能</a:t>
            </a:r>
            <a:endParaRPr lang="ja-JP" altLang="en-US" sz="1200" dirty="0"/>
          </a:p>
        </p:txBody>
      </p:sp>
      <p:sp>
        <p:nvSpPr>
          <p:cNvPr id="642" name="注記"/>
          <p:cNvSpPr/>
          <p:nvPr/>
        </p:nvSpPr>
        <p:spPr>
          <a:xfrm>
            <a:off x="384048" y="58613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60899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42" name="注記"/>
          <p:cNvSpPr/>
          <p:nvPr/>
        </p:nvSpPr>
        <p:spPr>
          <a:xfrm>
            <a:off x="384048" y="529254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※サンクスLINE誘導はオプション（どのプランにも追加可能。サンクスLINE誘導のみの導入も可能）</a:t>
            </a:r>
            <a:endParaRPr lang="ja-JP" alt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構築：離脱防止、ステップ配信、来場前のお知らせの型（サンクスLINE誘導はオプション）</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5"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10"/>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8"/>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8"/>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8"/>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4"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11"/>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11"/>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143279</TotalTime>
  <Words>4261</Words>
  <Application>Microsoft Office PowerPoint</Application>
  <PresentationFormat>A4 210 x 297 mm</PresentationFormat>
  <Paragraphs>692</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1976</cp:revision>
  <cp:lastPrinted>2022-11-01T11:38:14Z</cp:lastPrinted>
  <dcterms:created xsi:type="dcterms:W3CDTF">2015-09-04T09:21:15Z</dcterms:created>
  <dcterms:modified xsi:type="dcterms:W3CDTF">2026-10-19T03:20:25Z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