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8.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62"/>
  </p:notesMasterIdLst>
  <p:handoutMasterIdLst>
    <p:handoutMasterId r:id="rId63"/>
  </p:handoutMasterIdLst>
  <p:sldIdLst>
    <p:sldId id="2363" r:id="rId3"/>
    <p:sldId id="2988" r:id="rId4"/>
    <p:sldId id="2971" r:id="rId5"/>
    <p:sldId id="2972" r:id="rId6"/>
    <p:sldId id="2736" r:id="rId7"/>
    <p:sldId id="2976" r:id="rId8"/>
    <p:sldId id="3033" r:id="rId9"/>
    <p:sldId id="3026" r:id="rId10"/>
    <p:sldId id="2986" r:id="rId11"/>
    <p:sldId id="2761" r:id="rId12"/>
    <p:sldId id="3021" r:id="rId13"/>
    <p:sldId id="3008" r:id="rId14"/>
    <p:sldId id="2737" r:id="rId15"/>
    <p:sldId id="2979" r:id="rId16"/>
    <p:sldId id="3006" r:id="rId17"/>
    <p:sldId id="3027" r:id="rId18"/>
    <p:sldId id="2989" r:id="rId19"/>
    <p:sldId id="3015" r:id="rId20"/>
    <p:sldId id="2957" r:id="rId22"/>
    <p:sldId id="3022" r:id="rId23"/>
    <p:sldId id="3031" r:id="rId24"/>
    <p:sldId id="3023" r:id="rId25"/>
    <p:sldId id="3024" r:id="rId26"/>
    <p:sldId id="3019" r:id="rId27"/>
    <p:sldId id="3032" r:id="rId28"/>
    <p:sldId id="3028" r:id="rId29"/>
    <p:sldId id="2970" r:id="rId30"/>
    <p:sldId id="2959" r:id="rId31"/>
    <p:sldId id="3025" r:id="rId32"/>
    <p:sldId id="3034" r:id="rId68"/>
    <p:sldId id="2966" r:id="rId33"/>
    <p:sldId id="3013" r:id="rId21"/>
    <p:sldId id="3029" r:id="rId34"/>
    <p:sldId id="3011" r:id="rId35"/>
    <p:sldId id="2734" r:id="rId36"/>
    <p:sldId id="2595" r:id="rId37"/>
    <p:sldId id="2566" r:id="rId38"/>
    <p:sldId id="2915" r:id="rId39"/>
    <p:sldId id="2619" r:id="rId40"/>
    <p:sldId id="1169" r:id="rId41"/>
    <p:sldId id="2961" r:id="rId42"/>
    <p:sldId id="2908" r:id="rId43"/>
    <p:sldId id="2935" r:id="rId44"/>
    <p:sldId id="2919" r:id="rId45"/>
    <p:sldId id="2519" r:id="rId46"/>
    <p:sldId id="2931" r:id="rId47"/>
    <p:sldId id="2749" r:id="rId48"/>
    <p:sldId id="2950" r:id="rId49"/>
    <p:sldId id="2563" r:id="rId50"/>
    <p:sldId id="2968" r:id="rId51"/>
    <p:sldId id="2969" r:id="rId52"/>
    <p:sldId id="2951" r:id="rId53"/>
    <p:sldId id="2841" r:id="rId54"/>
    <p:sldId id="2849" r:id="rId55"/>
    <p:sldId id="2904" r:id="rId56"/>
    <p:sldId id="2905" r:id="rId57"/>
    <p:sldId id="2906" r:id="rId58"/>
    <p:sldId id="2907" r:id="rId59"/>
    <p:sldId id="2575" r:id="rId60"/>
    <p:sldId id="2910" r:id="rId61"/>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FDFDFD"/>
    <a:srgbClr val="173559"/>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p:scale>
          <a:sx n="50" d="100"/>
          <a:sy n="50" d="100"/>
        </p:scale>
        <p:origin x="-56" y="504"/>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32.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1.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handoutMaster" Target="handoutMasters/handout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 Id="rId68" Type="http://schemas.openxmlformats.org/officeDocument/2006/relationships/slide" Target="slides/slide3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2026/10/22</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3847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81540-B398-8C02-E1F2-1F1C4798CC2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82C74D-328C-FB0E-E710-C92A52BEF4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5EB1E7-3A4C-2E0A-CA67-686800FA87A8}"/>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173A52D-F6CC-DC20-5CFE-D4EBA25ECCBC}"/>
              </a:ext>
            </a:extLst>
          </p:cNvPr>
          <p:cNvSpPr>
            <a:spLocks noGrp="1"/>
          </p:cNvSpPr>
          <p:nvPr>
            <p:ph type="sldNum" sz="quarter" idx="10"/>
          </p:nvPr>
        </p:nvSpPr>
        <p:spPr/>
        <p:txBody>
          <a:bodyPr/>
          <a:lstStyle/>
          <a:p>
            <a:fld id="{022E43C0-6795-4B13-B37C-259C826D4B6A}" type="slidenum">
              <a:rPr kumimoji="1" lang="ja-JP" altLang="en-US" smtClean="0"/>
              <a:t>4</a:t>
            </a:fld>
            <a:endParaRPr kumimoji="1" lang="ja-JP" altLang="en-US"/>
          </a:p>
        </p:txBody>
      </p:sp>
    </p:spTree>
    <p:extLst>
      <p:ext uri="{BB962C8B-B14F-4D97-AF65-F5344CB8AC3E}">
        <p14:creationId xmlns:p14="http://schemas.microsoft.com/office/powerpoint/2010/main" val="27379868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A4272-5DA9-3CCF-23F3-9466DBC1B84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FD5C72-277A-86ED-D54E-FE626540E2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71F2ED-0463-0DB8-0277-A35A864B316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1D54FEC3-6CD7-0B2F-7F8F-E9EA265B8458}"/>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35530082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E720E-DA68-EF51-102C-8A8F426BC2A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F3953B-7C5E-F4EE-4A6B-ED8A375555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937431-13FD-3E05-9A43-DCB7C90B899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2A18B0F-EA65-28D1-0695-DBC0FCD085B9}"/>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508933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1E9D4-0876-C25C-8529-8B74AB559B8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CF43F49-5B7A-3752-251E-82690E66FE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863D13-39F9-D392-9C29-D9EAD3D1EA4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73CE111-A992-AC9F-119C-E1210F4D3DD7}"/>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188658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3B6B0-6587-3186-12B6-A952A7A5D12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DBB0FD4-EC87-837C-B6C4-420DF35669C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0D00E3-9072-6B26-2C54-100B09DEBA1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F5CD577-5D30-A22F-CC79-63E4DE657085}"/>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32093741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66AA4-1AC1-0B6A-8DD3-54899EB2E28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F4BF6DE-3BFF-29D8-3037-FBBE63C7FD8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B3F9493-7009-9A31-DAE6-BB1112CC20A3}"/>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6E5153-623E-955A-9E75-0EA3C02F1D85}"/>
              </a:ext>
            </a:extLst>
          </p:cNvPr>
          <p:cNvSpPr>
            <a:spLocks noGrp="1"/>
          </p:cNvSpPr>
          <p:nvPr>
            <p:ph type="sldNum" sz="quarter" idx="10"/>
          </p:nvPr>
        </p:nvSpPr>
        <p:spPr/>
        <p:txBody>
          <a:bodyPr/>
          <a:lstStyle/>
          <a:p>
            <a:fld id="{022E43C0-6795-4B13-B37C-259C826D4B6A}" type="slidenum">
              <a:rPr kumimoji="1" lang="ja-JP" altLang="en-US" smtClean="0"/>
              <a:t>17</a:t>
            </a:fld>
            <a:endParaRPr kumimoji="1" lang="ja-JP" altLang="en-US"/>
          </a:p>
        </p:txBody>
      </p:sp>
    </p:spTree>
    <p:extLst>
      <p:ext uri="{BB962C8B-B14F-4D97-AF65-F5344CB8AC3E}">
        <p14:creationId xmlns:p14="http://schemas.microsoft.com/office/powerpoint/2010/main" val="202780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192C0-1B1B-AD3F-B0C2-F33DAD8A2D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33AE9E-C7C9-D146-DD36-5849B111FD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58A3C9A-42D2-B5D7-5F81-0F1CAB8FD4B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1D8EFF-3CFC-7207-CD2B-A2DC20DEDF1D}"/>
              </a:ext>
            </a:extLst>
          </p:cNvPr>
          <p:cNvSpPr>
            <a:spLocks noGrp="1"/>
          </p:cNvSpPr>
          <p:nvPr>
            <p:ph type="sldNum" sz="quarter" idx="10"/>
          </p:nvPr>
        </p:nvSpPr>
        <p:spPr/>
        <p:txBody>
          <a:bodyPr/>
          <a:lstStyle/>
          <a:p>
            <a:fld id="{022E43C0-6795-4B13-B37C-259C826D4B6A}" type="slidenum">
              <a:rPr kumimoji="1" lang="ja-JP" altLang="en-US" smtClean="0"/>
              <a:t>19</a:t>
            </a:fld>
            <a:endParaRPr kumimoji="1" lang="ja-JP" altLang="en-US"/>
          </a:p>
        </p:txBody>
      </p:sp>
    </p:spTree>
    <p:extLst>
      <p:ext uri="{BB962C8B-B14F-4D97-AF65-F5344CB8AC3E}">
        <p14:creationId xmlns:p14="http://schemas.microsoft.com/office/powerpoint/2010/main" val="3312371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87073-46E4-97E2-AA29-34C04E4216C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16C4E1-C336-7022-85BD-D0261416B80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802BD2-A4F7-3ACB-C314-CC3BD50FC0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5C9B1FE-F22D-0B70-94D0-AC959C46242D}"/>
              </a:ext>
            </a:extLst>
          </p:cNvPr>
          <p:cNvSpPr>
            <a:spLocks noGrp="1"/>
          </p:cNvSpPr>
          <p:nvPr>
            <p:ph type="sldNum" sz="quarter" idx="10"/>
          </p:nvPr>
        </p:nvSpPr>
        <p:spPr/>
        <p:txBody>
          <a:bodyPr/>
          <a:lstStyle/>
          <a:p>
            <a:fld id="{022E43C0-6795-4B13-B37C-259C826D4B6A}" type="slidenum">
              <a:rPr kumimoji="1" lang="ja-JP" altLang="en-US" smtClean="0"/>
              <a:t>33</a:t>
            </a:fld>
            <a:endParaRPr kumimoji="1" lang="ja-JP" altLang="en-US"/>
          </a:p>
        </p:txBody>
      </p:sp>
    </p:spTree>
    <p:extLst>
      <p:ext uri="{BB962C8B-B14F-4D97-AF65-F5344CB8AC3E}">
        <p14:creationId xmlns:p14="http://schemas.microsoft.com/office/powerpoint/2010/main" val="28889650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solidFill>
                <a:schemeClr val="tx1">
                  <a:lumMod val="65000"/>
                  <a:lumOff val="35000"/>
                </a:schemeClr>
              </a:solidFill>
            </a:endParaRPr>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35</a:t>
            </a:fld>
            <a:endParaRPr kumimoji="1" lang="ja-JP" altLang="en-US"/>
          </a:p>
        </p:txBody>
      </p:sp>
    </p:spTree>
    <p:extLst>
      <p:ext uri="{BB962C8B-B14F-4D97-AF65-F5344CB8AC3E}">
        <p14:creationId xmlns:p14="http://schemas.microsoft.com/office/powerpoint/2010/main" val="15223248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36</a:t>
            </a:fld>
            <a:endParaRPr kumimoji="1" lang="ja-JP" altLang="en-US"/>
          </a:p>
        </p:txBody>
      </p:sp>
    </p:spTree>
    <p:extLst>
      <p:ext uri="{BB962C8B-B14F-4D97-AF65-F5344CB8AC3E}">
        <p14:creationId xmlns:p14="http://schemas.microsoft.com/office/powerpoint/2010/main" val="1835064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B6ADA-9EE0-91AA-01F0-865797FB33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48D7824-B497-EEC9-3C27-6A309145FC0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893DCE5-B0D5-3EB2-202E-F260807F710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8AE7A32-4756-AD3E-9E41-6DB0BE31AC45}"/>
              </a:ext>
            </a:extLst>
          </p:cNvPr>
          <p:cNvSpPr>
            <a:spLocks noGrp="1"/>
          </p:cNvSpPr>
          <p:nvPr>
            <p:ph type="sldNum" sz="quarter" idx="10"/>
          </p:nvPr>
        </p:nvSpPr>
        <p:spPr/>
        <p:txBody>
          <a:bodyPr/>
          <a:lstStyle/>
          <a:p>
            <a:fld id="{022E43C0-6795-4B13-B37C-259C826D4B6A}" type="slidenum">
              <a:rPr kumimoji="1" lang="ja-JP" altLang="en-US" smtClean="0"/>
              <a:t>37</a:t>
            </a:fld>
            <a:endParaRPr kumimoji="1" lang="ja-JP" altLang="en-US"/>
          </a:p>
        </p:txBody>
      </p:sp>
    </p:spTree>
    <p:extLst>
      <p:ext uri="{BB962C8B-B14F-4D97-AF65-F5344CB8AC3E}">
        <p14:creationId xmlns:p14="http://schemas.microsoft.com/office/powerpoint/2010/main" val="3226146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38</a:t>
            </a:fld>
            <a:endParaRPr kumimoji="1" lang="ja-JP" altLang="en-US"/>
          </a:p>
        </p:txBody>
      </p:sp>
    </p:spTree>
    <p:extLst>
      <p:ext uri="{BB962C8B-B14F-4D97-AF65-F5344CB8AC3E}">
        <p14:creationId xmlns:p14="http://schemas.microsoft.com/office/powerpoint/2010/main" val="3717622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39</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42</a:t>
            </a:fld>
            <a:endParaRPr kumimoji="1" lang="ja-JP" altLang="en-US"/>
          </a:p>
        </p:txBody>
      </p:sp>
    </p:spTree>
    <p:extLst>
      <p:ext uri="{BB962C8B-B14F-4D97-AF65-F5344CB8AC3E}">
        <p14:creationId xmlns:p14="http://schemas.microsoft.com/office/powerpoint/2010/main" val="247953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43</a:t>
            </a:fld>
            <a:endParaRPr kumimoji="1" lang="ja-JP" altLang="en-US"/>
          </a:p>
        </p:txBody>
      </p:sp>
    </p:spTree>
    <p:extLst>
      <p:ext uri="{BB962C8B-B14F-4D97-AF65-F5344CB8AC3E}">
        <p14:creationId xmlns:p14="http://schemas.microsoft.com/office/powerpoint/2010/main" val="29854248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022E43C0-6795-4B13-B37C-259C826D4B6A}" type="slidenum">
              <a:rPr kumimoji="1" lang="ja-JP" altLang="en-US" smtClean="0"/>
              <a:t>44</a:t>
            </a:fld>
            <a:endParaRPr kumimoji="1" lang="ja-JP" altLang="en-US"/>
          </a:p>
        </p:txBody>
      </p:sp>
    </p:spTree>
    <p:extLst>
      <p:ext uri="{BB962C8B-B14F-4D97-AF65-F5344CB8AC3E}">
        <p14:creationId xmlns:p14="http://schemas.microsoft.com/office/powerpoint/2010/main" val="23705264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ED428-D571-14FF-D396-D7175DA0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71AB2A-80AE-D1AA-E70B-86CDF93505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C0C2926-5D95-6624-6AD9-E45C5528979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0B6DFD87-0439-882A-B65E-9CEE51F20332}"/>
              </a:ext>
            </a:extLst>
          </p:cNvPr>
          <p:cNvSpPr>
            <a:spLocks noGrp="1"/>
          </p:cNvSpPr>
          <p:nvPr>
            <p:ph type="sldNum" sz="quarter" idx="10"/>
          </p:nvPr>
        </p:nvSpPr>
        <p:spPr/>
        <p:txBody>
          <a:bodyPr/>
          <a:lstStyle/>
          <a:p>
            <a:fld id="{022E43C0-6795-4B13-B37C-259C826D4B6A}" type="slidenum">
              <a:rPr kumimoji="1" lang="ja-JP" altLang="en-US" smtClean="0"/>
              <a:t>45</a:t>
            </a:fld>
            <a:endParaRPr kumimoji="1" lang="ja-JP" altLang="en-US"/>
          </a:p>
        </p:txBody>
      </p:sp>
    </p:spTree>
    <p:extLst>
      <p:ext uri="{BB962C8B-B14F-4D97-AF65-F5344CB8AC3E}">
        <p14:creationId xmlns:p14="http://schemas.microsoft.com/office/powerpoint/2010/main" val="110140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47</a:t>
            </a:fld>
            <a:endParaRPr kumimoji="1" lang="ja-JP" altLang="en-US"/>
          </a:p>
        </p:txBody>
      </p:sp>
    </p:spTree>
    <p:extLst>
      <p:ext uri="{BB962C8B-B14F-4D97-AF65-F5344CB8AC3E}">
        <p14:creationId xmlns:p14="http://schemas.microsoft.com/office/powerpoint/2010/main" val="2390234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jpg"/><Relationship Id="rId3" Type="http://schemas.openxmlformats.org/officeDocument/2006/relationships/image" Target="../media/image15.jp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jpeg"/><Relationship Id="rId8" Type="http://schemas.openxmlformats.org/officeDocument/2006/relationships/image" Target="../media/image20.jpg"/><Relationship Id="rId9" Type="http://schemas.openxmlformats.org/officeDocument/2006/relationships/image" Target="../media/image21.png"/><Relationship Id="rId10" Type="http://schemas.openxmlformats.org/officeDocument/2006/relationships/image" Target="../media/image22.png"/><Relationship Id="rId11" Type="http://schemas.openxmlformats.org/officeDocument/2006/relationships/hyperlink" Target="https://youtube.com/shorts/0qI4QgrOppQ"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2.png"/><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 Id="rId6" Type="http://schemas.openxmlformats.org/officeDocument/2006/relationships/image" Target="../media/image37.png"/><Relationship Id="rId7" Type="http://schemas.openxmlformats.org/officeDocument/2006/relationships/image" Target="../media/image38.svg"/><Relationship Id="rId8" Type="http://schemas.openxmlformats.org/officeDocument/2006/relationships/image" Target="../media/image3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40.jpeg"/><Relationship Id="rId5" Type="http://schemas.openxmlformats.org/officeDocument/2006/relationships/image" Target="../media/image41.jpeg"/><Relationship Id="rId6" Type="http://schemas.openxmlformats.org/officeDocument/2006/relationships/image" Target="../media/image42.jpeg"/><Relationship Id="rId7" Type="http://schemas.openxmlformats.org/officeDocument/2006/relationships/image" Target="../media/image43.jpeg"/><Relationship Id="rId8" Type="http://schemas.openxmlformats.org/officeDocument/2006/relationships/image" Target="../media/image44.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5.svg"/><Relationship Id="rId4" Type="http://schemas.openxmlformats.org/officeDocument/2006/relationships/image" Target="../media/image46.svg"/><Relationship Id="rId5" Type="http://schemas.openxmlformats.org/officeDocument/2006/relationships/image" Target="../media/image47.svg"/><Relationship Id="rId6" Type="http://schemas.openxmlformats.org/officeDocument/2006/relationships/image" Target="../media/image48.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image" Target="../media/image63.png"/><Relationship Id="rId7" Type="http://schemas.openxmlformats.org/officeDocument/2006/relationships/image" Target="../media/image6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 Id="rId3" Type="http://schemas.openxmlformats.org/officeDocument/2006/relationships/image" Target="../media/image66.png"/><Relationship Id="rId4" Type="http://schemas.openxmlformats.org/officeDocument/2006/relationships/image" Target="../media/image6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331720"/>
            <a:ext cx="6626632" cy="658368"/>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広告で集めた見込み客をLINEで育成し、</a:t>
            </a:r>
          </a:p>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cs typeface="メイリオ"/>
              </a:rPr>
              <a:t>次のセミナー参加・サロン入会へ</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A461DC58-6517-316F-E5FE-0F7AB1043C43}"/>
              </a:ext>
            </a:extLst>
          </p:cNvPr>
          <p:cNvSpPr txBox="1"/>
          <p:nvPr/>
        </p:nvSpPr>
        <p:spPr>
          <a:xfrm>
            <a:off x="365759" y="216290"/>
            <a:ext cx="5233851" cy="338554"/>
          </a:xfrm>
          <a:prstGeom prst="rect">
            <a:avLst/>
          </a:prstGeom>
          <a:noFill/>
        </p:spPr>
        <p:txBody>
          <a:bodyPr wrap="square">
            <a:spAutoFit/>
          </a:bodyPr>
          <a:lstStyle/>
          <a:p>
            <a:r>
              <a:rPr lang="ja-JP" altLang="en-US" sz="16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株式会社すなおコンサルティング 御中</a:t>
            </a:r>
            <a:endParaRPr lang="ja-JP" altLang="en-US" sz="1050" dirty="0">
              <a:latin typeface="メイリオ"/>
              <a:ea typeface="メイリオ"/>
              <a:cs typeface="メイリオ"/>
            </a:endParaRP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A891A-F874-A527-E24E-39C71E4366C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4042977" y="3038203"/>
            <a:ext cx="1826141"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現状把握</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631432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現状把握</a:t>
            </a:r>
            <a:endParaRPr sz="1600" b="1" dirty="0">
              <a:solidFill>
                <a:srgbClr val="002060"/>
              </a:solidFill>
              <a:latin typeface="メイリオ"/>
              <a:ea typeface="メイリオ"/>
              <a:cs typeface="メイリオ"/>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1200" b="1" dirty="0">
                <a:solidFill>
                  <a:schemeClr val="bg1"/>
                </a:solidFill>
                <a:latin typeface="メイリオ" panose="020B0604030504040204" pitchFamily="50" charset="-128"/>
                <a:ea typeface="メイリオ" panose="020B0604030504040204" pitchFamily="50" charset="-128"/>
                <a:cs typeface="メイリオ"/>
              </a:rPr>
              <a:t>ステータス</a:t>
            </a:r>
            <a:endParaRPr lang="ja-JP" altLang="en-US" sz="1200" b="1" dirty="0">
              <a:solidFill>
                <a:schemeClr val="bg1"/>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LP（セミナー申込みページ）ステータス</a:t>
            </a:r>
            <a:endParaRPr lang="ja-JP" altLang="en-US" sz="1200" dirty="0">
              <a:solidFill>
                <a:schemeClr val="bg1"/>
              </a:solidFill>
              <a:latin typeface="メイリオ"/>
              <a:ea typeface="メイリオ"/>
              <a:cs typeface="メイリオ"/>
            </a:endParaRPr>
          </a:p>
        </p:txBody>
      </p:sp>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広告でセミナー予約を獲得（1回 約8</a:t>
            </a:r>
            <a:r>
              <a:rPr lang="en-US" altLang="ja-JP" sz="1050" dirty="0">
                <a:latin typeface="メイリオ" panose="020B0604030504040204" pitchFamily="50" charset="-128"/>
                <a:ea typeface="メイリオ" panose="020B0604030504040204" pitchFamily="50" charset="-128"/>
                <a:cs typeface="メイリオ"/>
              </a:rPr>
              <a:t>0</a:t>
            </a:r>
            <a:r>
              <a:rPr lang="ja-JP" altLang="en-US" sz="1050" dirty="0">
                <a:latin typeface="メイリオ" panose="020B0604030504040204" pitchFamily="50" charset="-128"/>
                <a:ea typeface="メイリオ" panose="020B0604030504040204" pitchFamily="50" charset="-128"/>
                <a:cs typeface="メイリオ"/>
              </a:rPr>
              <a:t>件・CPA 約26,0</a:t>
            </a:r>
            <a:r>
              <a:rPr lang="en-US" altLang="ja-JP" sz="1050" dirty="0">
                <a:latin typeface="メイリオ" panose="020B0604030504040204" pitchFamily="50" charset="-128"/>
                <a:ea typeface="メイリオ" panose="020B0604030504040204" pitchFamily="50" charset="-128"/>
                <a:cs typeface="メイリオ"/>
              </a:rPr>
              <a:t>00</a:t>
            </a:r>
            <a:r>
              <a:rPr lang="ja-JP" altLang="en-US" sz="1050" dirty="0">
                <a:latin typeface="メイリオ" panose="020B0604030504040204" pitchFamily="50" charset="-128"/>
                <a:ea typeface="メイリオ" panose="020B0604030504040204" pitchFamily="50" charset="-128"/>
                <a:cs typeface="メイリオ"/>
              </a:rPr>
              <a:t>円）。</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接点を次回イベントまで継続できる仕組みを強化する。</a:t>
            </a:r>
            <a:endParaRPr lang="en-US" altLang="ja-JP" sz="105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cs typeface="メイリオ"/>
              </a:rPr>
              <a:t>LINE公式アカウントを、</a:t>
            </a:r>
            <a:endParaRPr lang="en-US" altLang="ja-JP" sz="1050" dirty="0">
              <a:latin typeface="メイリオ" panose="020B0604030504040204" pitchFamily="50" charset="-128"/>
              <a:ea typeface="メイリオ" panose="020B0604030504040204" pitchFamily="50" charset="-128"/>
              <a:cs typeface="メイリオ"/>
            </a:endParaRPr>
          </a:p>
          <a:p>
            <a:pPr algn="ctr"/>
            <a:r>
              <a:rPr lang="ja-JP" altLang="en-US" sz="1050" dirty="0">
                <a:latin typeface="メイリオ" panose="020B0604030504040204" pitchFamily="50" charset="-128"/>
                <a:ea typeface="メイリオ" panose="020B0604030504040204" pitchFamily="50" charset="-128"/>
                <a:cs typeface="メイリオ"/>
              </a:rPr>
              <a:t>見込み客との継続的な接点として活用</a:t>
            </a:r>
            <a:endParaRPr lang="en-US" altLang="ja-JP" sz="1050" dirty="0">
              <a:latin typeface="メイリオ" panose="020B0604030504040204" pitchFamily="50" charset="-128"/>
              <a:ea typeface="メイリオ" panose="020B0604030504040204" pitchFamily="50" charset="-128"/>
              <a:cs typeface="メイリオ"/>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a:p>
            <a:pPr algn="ctr"/>
            <a:endParaRPr lang="en-US" altLang="ja-JP" sz="500" dirty="0">
              <a:latin typeface="メイリオ" panose="020B0604030504040204" pitchFamily="50" charset="-128"/>
              <a:ea typeface="メイリオ" panose="020B0604030504040204" pitchFamily="50" charset="-128"/>
              <a:cs typeface="メイリオ"/>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LP 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4908654"/>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cs typeface="メイリオ"/>
              </a:rPr>
              <a:t>※1回のイベントの数値。LP UUは</a:t>
            </a:r>
          </a:p>
          <a:p>
            <a:r>
              <a:rPr lang="ja-JP" altLang="en-US" sz="900" dirty="0">
                <a:solidFill>
                  <a:schemeClr val="bg1">
                    <a:lumMod val="65000"/>
                  </a:schemeClr>
                </a:solidFill>
                <a:latin typeface="メイリオ" panose="020B0604030504040204" pitchFamily="50" charset="-128"/>
                <a:ea typeface="メイリオ" panose="020B0604030504040204" pitchFamily="50" charset="-128"/>
                <a:cs typeface="メイリオ"/>
              </a:rPr>
              <a:t>　広告のクリック数からの想定数値。</a:t>
            </a:r>
            <a:endParaRPr lang="ja-JP" altLang="en-US" sz="1400" dirty="0">
              <a:solidFill>
                <a:schemeClr val="bg1">
                  <a:lumMod val="65000"/>
                </a:schemeClr>
              </a:solidFill>
              <a:latin typeface="メイリオ"/>
              <a:ea typeface="メイリオ"/>
              <a:cs typeface="メイリオ"/>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うち広告</a:t>
            </a:r>
            <a:r>
              <a:rPr lang="en-US" altLang="ja-JP" sz="1000" dirty="0">
                <a:solidFill>
                  <a:schemeClr val="bg1"/>
                </a:solidFill>
                <a:latin typeface="メイリオ" panose="020B0604030504040204" pitchFamily="50" charset="-128"/>
                <a:ea typeface="メイリオ" panose="020B0604030504040204" pitchFamily="50" charset="-128"/>
                <a:cs typeface="メイリオ"/>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広告費用</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17317" y="455097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メイン流入元</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17317" y="423495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他</a:t>
            </a:r>
            <a:r>
              <a:rPr lang="en-US" altLang="ja-JP" sz="1000" dirty="0">
                <a:solidFill>
                  <a:schemeClr val="bg1"/>
                </a:solidFill>
                <a:latin typeface="メイリオ" panose="020B0604030504040204" pitchFamily="50" charset="-128"/>
                <a:ea typeface="メイリオ" panose="020B0604030504040204" pitchFamily="50" charset="-128"/>
                <a:cs typeface="メイリオ"/>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17317" y="391892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イベント開催</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CV数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CV</a:t>
            </a:r>
            <a:r>
              <a:rPr lang="ja-JP" altLang="en-US" sz="1000" dirty="0">
                <a:solidFill>
                  <a:schemeClr val="bg1"/>
                </a:solidFill>
                <a:latin typeface="メイリオ" panose="020B0604030504040204" pitchFamily="50" charset="-128"/>
                <a:ea typeface="メイリオ" panose="020B0604030504040204" pitchFamily="50" charset="-128"/>
                <a:cs typeface="メイリオ"/>
              </a:rPr>
              <a:t>地点</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cs typeface="メイリオ"/>
              </a:rPr>
              <a:t>LINE</a:t>
            </a:r>
            <a:r>
              <a:rPr lang="ja-JP" altLang="en-US" sz="1000" dirty="0">
                <a:solidFill>
                  <a:schemeClr val="bg1"/>
                </a:solidFill>
                <a:latin typeface="メイリオ" panose="020B0604030504040204" pitchFamily="50" charset="-128"/>
                <a:ea typeface="メイリオ" panose="020B0604030504040204" pitchFamily="50" charset="-128"/>
                <a:cs typeface="メイリオ"/>
              </a:rPr>
              <a:t>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友だち数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アクティブ数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ブロック率</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ツール</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想定コスト</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月間投稿数</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ステップ実施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cs typeface="メイリオ"/>
              </a:rPr>
              <a:t>プロフ動線</a:t>
            </a:r>
            <a:endParaRPr lang="en-US" altLang="ja-JP" sz="10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3,000</a:t>
            </a: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約3,000</a:t>
            </a: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約210万円</a:t>
            </a: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11624" y="4556397"/>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広告</a:t>
            </a: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11624" y="424037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Facebookグループ</a:t>
            </a: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11624" y="3924345"/>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cs typeface="メイリオ"/>
              </a:rPr>
              <a:t>年4回</a:t>
            </a: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71256"/>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約</a:t>
            </a:r>
            <a:r>
              <a:rPr lang="en-US" altLang="ja-JP" sz="1000" b="1" dirty="0">
                <a:latin typeface="メイリオ" panose="020B0604030504040204" pitchFamily="50" charset="-128"/>
                <a:ea typeface="メイリオ" panose="020B0604030504040204" pitchFamily="50" charset="-128"/>
                <a:cs typeface="メイリオ"/>
              </a:rPr>
              <a:t>80件</a:t>
            </a: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cs typeface="メイリオ"/>
              </a:rPr>
              <a:t>セミナー予約</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ja-JP" altLang="en-US" sz="1000" b="1" dirty="0">
                <a:solidFill>
                  <a:srgbClr val="1F2A5C"/>
                </a:solidFill>
                <a:latin typeface="メイリオ" panose="020B0604030504040204" pitchFamily="50" charset="-128"/>
                <a:ea typeface="メイリオ" panose="020B0604030504040204" pitchFamily="50" charset="-128"/>
                <a:cs typeface="メイリオ"/>
              </a:rPr>
              <a:t>なし</a:t>
            </a:r>
            <a:endParaRPr lang="en-US" altLang="ja-JP" sz="10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メイリオ"/>
              </a:rPr>
              <a:t>なし</a:t>
            </a:r>
          </a:p>
        </p:txBody>
      </p:sp>
      <p:pic>
        <p:nvPicPr>
          <p:cNvPr id="192" name="Picture 191" descr="sunao_lp_firstview.png"/>
          <p:cNvPicPr>
            <a:picLocks noChangeAspect="1"/>
          </p:cNvPicPr>
          <p:nvPr/>
        </p:nvPicPr>
        <p:blipFill>
          <a:blip r:embed="rId4"/>
          <a:stretch>
            <a:fillRect/>
          </a:stretch>
        </p:blipFill>
        <p:spPr>
          <a:xfrm>
            <a:off x="507335" y="2271233"/>
            <a:ext cx="1557206" cy="2637933"/>
          </a:xfrm>
          <a:prstGeom prst="rect">
            <a:avLst/>
          </a:prstGeom>
        </p:spPr>
      </p:pic>
      <p:sp>
        <p:nvSpPr>
          <p:cNvPr id="2" name="テキスト ボックス 1">
            <a:extLst>
              <a:ext uri="{FF2B5EF4-FFF2-40B4-BE49-F238E27FC236}">
                <a16:creationId xmlns:a16="http://schemas.microsoft.com/office/drawing/2014/main" id="{3F83FE19-1018-A2D8-4032-86D45BF09F48}"/>
              </a:ext>
            </a:extLst>
          </p:cNvPr>
          <p:cNvSpPr txBox="1"/>
          <p:nvPr/>
        </p:nvSpPr>
        <p:spPr>
          <a:xfrm>
            <a:off x="1282764" y="767248"/>
            <a:ext cx="7340471" cy="369332"/>
          </a:xfrm>
          <a:prstGeom prst="rect">
            <a:avLst/>
          </a:prstGeom>
          <a:noFill/>
        </p:spPr>
        <p:txBody>
          <a:bodyPr wrap="none" rtlCol="0">
            <a:spAutoFit/>
          </a:bodyPr>
          <a:lstStyle/>
          <a:p>
            <a:r>
              <a:rPr kumimoji="1" lang="ja-JP" altLang="en-US" b="1" dirty="0">
                <a:latin typeface="メイリオ" panose="020B0604030504040204" pitchFamily="50" charset="-128"/>
                <a:ea typeface="メイリオ" panose="020B0604030504040204" pitchFamily="50" charset="-128"/>
              </a:rPr>
              <a:t>集めた見込み客との接点を次回イベントまで続ける仕組みを強化する</a:t>
            </a:r>
          </a:p>
        </p:txBody>
      </p:sp>
    </p:spTree>
    <p:extLst>
      <p:ext uri="{BB962C8B-B14F-4D97-AF65-F5344CB8AC3E}">
        <p14:creationId xmlns:p14="http://schemas.microsoft.com/office/powerpoint/2010/main" val="2378484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E5221-666F-DE20-B9E8-FDFC607CC22D}"/>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9FC28CD-401F-CB33-EA18-1071AD4C7D1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EC0D1AEC-5D54-2359-450D-84430B2857C0}"/>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8948BAF3-ECB9-2FF9-8B0D-50EE1A62E7C4}"/>
              </a:ext>
            </a:extLst>
          </p:cNvPr>
          <p:cNvSpPr txBox="1"/>
          <p:nvPr/>
        </p:nvSpPr>
        <p:spPr>
          <a:xfrm>
            <a:off x="4830775" y="2249778"/>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55D1671E-E029-A7B0-F0FE-5B3AEA581FA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9C9A66C9-6F0C-720F-D33F-5A677E31CE5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E0FFD56C-A8BF-1D7F-B9F0-7A4C2CF517A7}"/>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8" name="正方形/長方形 27">
            <a:extLst>
              <a:ext uri="{FF2B5EF4-FFF2-40B4-BE49-F238E27FC236}">
                <a16:creationId xmlns:a16="http://schemas.microsoft.com/office/drawing/2014/main" id="{985D0F3D-E958-2764-0030-33A43FBBB844}"/>
              </a:ext>
            </a:extLst>
          </p:cNvPr>
          <p:cNvSpPr/>
          <p:nvPr/>
        </p:nvSpPr>
        <p:spPr>
          <a:xfrm>
            <a:off x="377495" y="3168907"/>
            <a:ext cx="9425943" cy="12803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62DFAD71-5EA4-2410-A3B7-8926C38B8C15}"/>
              </a:ext>
            </a:extLst>
          </p:cNvPr>
          <p:cNvSpPr txBox="1"/>
          <p:nvPr/>
        </p:nvSpPr>
        <p:spPr>
          <a:xfrm>
            <a:off x="3136470" y="3386385"/>
            <a:ext cx="1868110"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テキスト ボックス 35">
            <a:extLst>
              <a:ext uri="{FF2B5EF4-FFF2-40B4-BE49-F238E27FC236}">
                <a16:creationId xmlns:a16="http://schemas.microsoft.com/office/drawing/2014/main" id="{38132008-D8F9-19F3-2653-AEF9F6C09DC2}"/>
              </a:ext>
            </a:extLst>
          </p:cNvPr>
          <p:cNvSpPr txBox="1"/>
          <p:nvPr/>
        </p:nvSpPr>
        <p:spPr>
          <a:xfrm>
            <a:off x="6119414" y="3532648"/>
            <a:ext cx="3640831"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8" name="テキスト ボックス 37">
            <a:extLst>
              <a:ext uri="{FF2B5EF4-FFF2-40B4-BE49-F238E27FC236}">
                <a16:creationId xmlns:a16="http://schemas.microsoft.com/office/drawing/2014/main" id="{8423A7FD-A6C6-EFD2-582C-90B8E121BC79}"/>
              </a:ext>
            </a:extLst>
          </p:cNvPr>
          <p:cNvSpPr txBox="1"/>
          <p:nvPr/>
        </p:nvSpPr>
        <p:spPr>
          <a:xfrm>
            <a:off x="330435" y="3170605"/>
            <a:ext cx="2157994" cy="253916"/>
          </a:xfrm>
          <a:prstGeom prst="rect">
            <a:avLst/>
          </a:prstGeom>
          <a:no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メイリオ"/>
              </a:rPr>
              <a:t>&lt;</a:t>
            </a:r>
            <a:r>
              <a:rPr lang="ja-JP" altLang="en-US" sz="1050" b="1" dirty="0">
                <a:latin typeface="メイリオ" panose="020B0604030504040204" pitchFamily="50" charset="-128"/>
                <a:ea typeface="メイリオ" panose="020B0604030504040204" pitchFamily="50" charset="-128"/>
                <a:cs typeface="メイリオ"/>
              </a:rPr>
              <a:t>貴社のユーザー動線イメージ</a:t>
            </a:r>
            <a:r>
              <a:rPr lang="en-US" altLang="ja-JP" sz="1050" b="1" dirty="0">
                <a:latin typeface="メイリオ" panose="020B0604030504040204" pitchFamily="50" charset="-128"/>
                <a:ea typeface="メイリオ" panose="020B0604030504040204" pitchFamily="50" charset="-128"/>
                <a:cs typeface="メイリオ"/>
              </a:rPr>
              <a:t>&gt;</a:t>
            </a:r>
            <a:endParaRPr lang="ja-JP" altLang="en-US" sz="1050" b="1" dirty="0">
              <a:latin typeface="メイリオ" panose="020B0604030504040204" pitchFamily="50" charset="-128"/>
              <a:ea typeface="メイリオ" panose="020B0604030504040204" pitchFamily="50" charset="-128"/>
              <a:cs typeface="メイリオ"/>
            </a:endParaRPr>
          </a:p>
        </p:txBody>
      </p:sp>
      <p:sp>
        <p:nvSpPr>
          <p:cNvPr id="24" name="テキスト ボックス 23">
            <a:extLst>
              <a:ext uri="{FF2B5EF4-FFF2-40B4-BE49-F238E27FC236}">
                <a16:creationId xmlns:a16="http://schemas.microsoft.com/office/drawing/2014/main" id="{86D765FE-5D14-B727-20F8-7C773D684C03}"/>
              </a:ext>
            </a:extLst>
          </p:cNvPr>
          <p:cNvSpPr txBox="1"/>
          <p:nvPr/>
        </p:nvSpPr>
        <p:spPr>
          <a:xfrm>
            <a:off x="3542137" y="3670478"/>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9" name="テキスト ボックス 18">
            <a:extLst>
              <a:ext uri="{FF2B5EF4-FFF2-40B4-BE49-F238E27FC236}">
                <a16:creationId xmlns:a16="http://schemas.microsoft.com/office/drawing/2014/main" id="{54872F58-9C7B-BF3F-8FD6-90758592757B}"/>
              </a:ext>
            </a:extLst>
          </p:cNvPr>
          <p:cNvSpPr txBox="1"/>
          <p:nvPr/>
        </p:nvSpPr>
        <p:spPr>
          <a:xfrm>
            <a:off x="7408050" y="2697616"/>
            <a:ext cx="2352196" cy="4001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71A37862-DC0D-FFB9-A4C0-DFCD839440E7}"/>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23" name="テキスト ボックス 22">
            <a:extLst>
              <a:ext uri="{FF2B5EF4-FFF2-40B4-BE49-F238E27FC236}">
                <a16:creationId xmlns:a16="http://schemas.microsoft.com/office/drawing/2014/main" id="{687CD251-15DA-69B7-5940-0B47AE7838C7}"/>
              </a:ext>
            </a:extLst>
          </p:cNvPr>
          <p:cNvSpPr txBox="1"/>
          <p:nvPr/>
        </p:nvSpPr>
        <p:spPr>
          <a:xfrm>
            <a:off x="1268357" y="2262194"/>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広告で新しい見込み客を集め、LINEで継続的に育成し、</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次回イベント・サロン入会へつなげる動線を、8フェーズで整理する。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10" name="正方形/長方形 9">
            <a:extLst>
              <a:ext uri="{FF2B5EF4-FFF2-40B4-BE49-F238E27FC236}">
                <a16:creationId xmlns:a16="http://schemas.microsoft.com/office/drawing/2014/main" id="{BC3DB233-2109-75A0-E58B-5975C2C6368D}"/>
              </a:ext>
            </a:extLst>
          </p:cNvPr>
          <p:cNvSpPr/>
          <p:nvPr/>
        </p:nvSpPr>
        <p:spPr>
          <a:xfrm>
            <a:off x="377494" y="4594042"/>
            <a:ext cx="9425943" cy="1545908"/>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200" dirty="0">
                <a:solidFill>
                  <a:schemeClr val="tx1"/>
                </a:solidFill>
                <a:latin typeface="メイリオ" panose="020B0604030504040204" pitchFamily="50" charset="-128"/>
                <a:ea typeface="メイリオ" panose="020B0604030504040204" pitchFamily="50" charset="-128"/>
                <a:cs typeface="メイリオ"/>
              </a:rPr>
              <a:t>サービス特性として、</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kumimoji="1" lang="en-US" altLang="ja-JP" sz="6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ターゲット</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：保険営業の方向けのセミナー・サロンが主軸（一般の方向けのマネーセミナーもあり）</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商材・サービス</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200" dirty="0">
                <a:solidFill>
                  <a:schemeClr val="tx1"/>
                </a:solidFill>
                <a:latin typeface="メイリオ" panose="020B0604030504040204" pitchFamily="50" charset="-128"/>
                <a:ea typeface="メイリオ" panose="020B0604030504040204" pitchFamily="50" charset="-128"/>
                <a:cs typeface="メイリオ"/>
              </a:rPr>
              <a:t>： セミナー参加の段階では費用の不安は小さく、金額の判断はサロン入会の段階</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【イベントは年4回】 </a:t>
            </a:r>
            <a:r>
              <a:rPr lang="ja-JP" altLang="en-US" sz="1200" dirty="0">
                <a:solidFill>
                  <a:schemeClr val="tx1"/>
                </a:solidFill>
                <a:latin typeface="メイリオ" panose="020B0604030504040204" pitchFamily="50" charset="-128"/>
                <a:ea typeface="メイリオ" panose="020B0604030504040204" pitchFamily="50" charset="-128"/>
                <a:cs typeface="メイリオ"/>
              </a:rPr>
              <a:t>：イベントの間の時期にも、継続して情報を届けることが重要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en-US" altLang="ja-JP" sz="1200" b="1" dirty="0" err="1">
                <a:solidFill>
                  <a:schemeClr val="tx1"/>
                </a:solidFill>
                <a:latin typeface="メイリオ" panose="020B0604030504040204" pitchFamily="50" charset="-128"/>
                <a:ea typeface="メイリオ" panose="020B0604030504040204" pitchFamily="50" charset="-128"/>
                <a:cs typeface="メイリオ"/>
              </a:rPr>
              <a:t>広告</a:t>
            </a:r>
            <a:r>
              <a:rPr kumimoji="1" lang="en-US" altLang="ja-JP" sz="1200" b="1" dirty="0">
                <a:solidFill>
                  <a:schemeClr val="tx1"/>
                </a:solidFill>
                <a:latin typeface="メイリオ" panose="020B0604030504040204" pitchFamily="50" charset="-128"/>
                <a:ea typeface="メイリオ" panose="020B0604030504040204" pitchFamily="50" charset="-128"/>
                <a:cs typeface="メイリオ"/>
              </a:rPr>
              <a:t>】</a:t>
            </a:r>
            <a:r>
              <a:rPr kumimoji="1" lang="ja-JP" altLang="en-US" sz="1200" b="1" dirty="0">
                <a:solidFill>
                  <a:schemeClr val="tx1"/>
                </a:solidFill>
                <a:latin typeface="メイリオ" panose="020B0604030504040204" pitchFamily="50" charset="-128"/>
                <a:ea typeface="メイリオ" panose="020B0604030504040204" pitchFamily="50" charset="-128"/>
                <a:cs typeface="メイリオ"/>
              </a:rPr>
              <a:t>　　　　　　</a:t>
            </a:r>
            <a:r>
              <a:rPr kumimoji="1" lang="ja-JP" altLang="en-US" sz="1200" dirty="0">
                <a:solidFill>
                  <a:schemeClr val="tx1"/>
                </a:solidFill>
                <a:latin typeface="メイリオ" panose="020B0604030504040204" pitchFamily="50" charset="-128"/>
                <a:ea typeface="メイリオ" panose="020B0604030504040204" pitchFamily="50" charset="-128"/>
                <a:cs typeface="メイリオ"/>
              </a:rPr>
              <a:t>：</a:t>
            </a:r>
            <a:r>
              <a:rPr lang="en-US" altLang="ja-JP" sz="1200" dirty="0">
                <a:solidFill>
                  <a:schemeClr val="tx1"/>
                </a:solidFill>
                <a:latin typeface="メイリオ" panose="020B0604030504040204" pitchFamily="50" charset="-128"/>
                <a:ea typeface="メイリオ" panose="020B0604030504040204" pitchFamily="50" charset="-128"/>
                <a:cs typeface="メイリオ"/>
              </a:rPr>
              <a:t> </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セミナー予約</a:t>
            </a:r>
            <a:r>
              <a:rPr lang="ja-JP" altLang="en-US" sz="1200" dirty="0">
                <a:solidFill>
                  <a:schemeClr val="tx1"/>
                </a:solidFill>
                <a:latin typeface="メイリオ" panose="020B0604030504040204" pitchFamily="50" charset="-128"/>
                <a:ea typeface="メイリオ" panose="020B0604030504040204" pitchFamily="50" charset="-128"/>
                <a:cs typeface="メイリオ"/>
              </a:rPr>
              <a:t>者</a:t>
            </a:r>
            <a:r>
              <a:rPr lang="en-US" altLang="ja-JP" sz="1200" dirty="0" err="1">
                <a:solidFill>
                  <a:schemeClr val="tx1"/>
                </a:solidFill>
                <a:latin typeface="メイリオ" panose="020B0604030504040204" pitchFamily="50" charset="-128"/>
                <a:ea typeface="メイリオ" panose="020B0604030504040204" pitchFamily="50" charset="-128"/>
                <a:cs typeface="メイリオ"/>
              </a:rPr>
              <a:t>を集めている</a:t>
            </a:r>
            <a:endParaRPr kumimoji="1" lang="en-US" altLang="ja-JP" sz="12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endParaRPr lang="en-US" altLang="ja-JP" sz="700"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solidFill>
                <a:latin typeface="メイリオ" panose="020B0604030504040204" pitchFamily="50" charset="-128"/>
                <a:ea typeface="メイリオ" panose="020B0604030504040204" pitchFamily="50" charset="-128"/>
                <a:cs typeface="メイリオ"/>
              </a:rPr>
              <a:t>という特性があり、</a:t>
            </a:r>
            <a:r>
              <a:rPr lang="ja-JP" altLang="en-US" sz="1200" b="1" dirty="0">
                <a:solidFill>
                  <a:srgbClr val="1F2A5C"/>
                </a:solidFill>
                <a:latin typeface="メイリオ" panose="020B0604030504040204" pitchFamily="50" charset="-128"/>
                <a:ea typeface="メイリオ" panose="020B0604030504040204" pitchFamily="50" charset="-128"/>
                <a:cs typeface="メイリオ"/>
              </a:rPr>
              <a:t>集めた方と、次のイベント参加・サロン入会まで接点を持ち続けることが重要</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BE746261-2A92-C9B9-6034-451CF233AB9D}"/>
              </a:ext>
            </a:extLst>
          </p:cNvPr>
          <p:cNvSpPr txBox="1"/>
          <p:nvPr/>
        </p:nvSpPr>
        <p:spPr>
          <a:xfrm>
            <a:off x="6119414" y="2496774"/>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B116237D-8580-3F61-2B2F-766C3CCF8BF6}"/>
              </a:ext>
            </a:extLst>
          </p:cNvPr>
          <p:cNvCxnSpPr>
            <a:cxnSpLocks/>
          </p:cNvCxnSpPr>
          <p:nvPr/>
        </p:nvCxnSpPr>
        <p:spPr>
          <a:xfrm rot="5400000" flipH="1" flipV="1">
            <a:off x="4264071" y="2454256"/>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12C4F8BA-6552-4B16-FBC5-C62D2917BFE8}"/>
              </a:ext>
            </a:extLst>
          </p:cNvPr>
          <p:cNvSpPr txBox="1"/>
          <p:nvPr/>
        </p:nvSpPr>
        <p:spPr>
          <a:xfrm>
            <a:off x="2202414" y="2498472"/>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BD16F021-165B-ADE2-A377-D74CBC854B23}"/>
              </a:ext>
            </a:extLst>
          </p:cNvPr>
          <p:cNvSpPr txBox="1"/>
          <p:nvPr/>
        </p:nvSpPr>
        <p:spPr>
          <a:xfrm>
            <a:off x="3136468" y="2714703"/>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1" name="テキスト ボックス 10">
            <a:extLst>
              <a:ext uri="{FF2B5EF4-FFF2-40B4-BE49-F238E27FC236}">
                <a16:creationId xmlns:a16="http://schemas.microsoft.com/office/drawing/2014/main" id="{2393C1D2-496B-1648-5EFD-E8E0242ED7FD}"/>
              </a:ext>
            </a:extLst>
          </p:cNvPr>
          <p:cNvSpPr txBox="1"/>
          <p:nvPr/>
        </p:nvSpPr>
        <p:spPr>
          <a:xfrm>
            <a:off x="7408050" y="4096480"/>
            <a:ext cx="2352195"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セミナー参加</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1A845779-79CA-4072-2A28-CD9E201361F3}"/>
              </a:ext>
            </a:extLst>
          </p:cNvPr>
          <p:cNvSpPr txBox="1"/>
          <p:nvPr/>
        </p:nvSpPr>
        <p:spPr>
          <a:xfrm>
            <a:off x="6381559" y="3815834"/>
            <a:ext cx="2202588" cy="261610"/>
          </a:xfrm>
          <a:prstGeom prst="rect">
            <a:avLst/>
          </a:prstGeom>
          <a:solidFill>
            <a:srgbClr val="173559"/>
          </a:solidFill>
        </p:spPr>
        <p:txBody>
          <a:bodyPr wrap="square">
            <a:spAutoFit/>
          </a:bodyPr>
          <a:lstStyle/>
          <a:p>
            <a:pPr algn="ctr"/>
            <a:r>
              <a:rPr lang="ja-JP" altLang="en-US" sz="1100" dirty="0">
                <a:solidFill>
                  <a:schemeClr val="bg1"/>
                </a:solidFill>
                <a:latin typeface="メイリオ" panose="020B0604030504040204" pitchFamily="50" charset="-128"/>
                <a:ea typeface="メイリオ" panose="020B0604030504040204" pitchFamily="50" charset="-128"/>
                <a:cs typeface="メイリオ"/>
              </a:rPr>
              <a:t>セミナー予約</a:t>
            </a:r>
            <a:endParaRPr lang="en-US" altLang="ja-JP" sz="1100" dirty="0">
              <a:solidFill>
                <a:schemeClr val="bg1"/>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17159093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市場・ユーザー・競合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8DBEE-A033-E538-7B67-FCA6549C3DF9}"/>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研修・学びの市場：営業職の学びのニーズが伸びている</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21985"/>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企業の研修への投資も、個人がお金を払って学ぶ市場も伸びている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429415095"/>
              </p:ext>
            </p:extLst>
          </p:nvPr>
        </p:nvGraphicFramePr>
        <p:xfrm>
          <a:off x="420624" y="1645920"/>
          <a:ext cx="9052560" cy="265684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企業向け研修サービス市場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6,075億円（前年度比3.7%増）。</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　2026年度は6,300億円の予測</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企業の人材育成への投資は増えている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eラーニング市場</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2025年度 3,924億円（前年度比2.7%増）。法人向け 1,294億円（4.7%増）・個人向け 2,630億円（1.7%増）。個人向けは資格関連の伸びで3年ぶりのプラス</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個人がお金を払って学ぶ市場も、</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再び伸び始めている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オンラインサロン</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最大手のDMMオンラインサロンの流通総額は2024年度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約60億円。シェアは61.9%（2021年度は51.4%）</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有料のオンラインコミュニティで学ぶ形が定着している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保険営業の方の</a:t>
                      </a:r>
                      <a:endParaRPr lang="en-US" altLang="ja-JP" sz="1200" b="1" dirty="0">
                        <a:solidFill>
                          <a:srgbClr val="1F2A5C"/>
                        </a:solidFill>
                        <a:latin typeface="メイリオ" panose="020B0604030504040204" pitchFamily="50" charset="-128"/>
                        <a:ea typeface="メイリオ" panose="020B0604030504040204" pitchFamily="50" charset="-128"/>
                      </a:endParaRPr>
                    </a:p>
                    <a:p>
                      <a:pPr algn="l">
                        <a:buNone/>
                      </a:pPr>
                      <a:r>
                        <a:rPr lang="ja-JP" altLang="en-US" sz="1200" b="1" dirty="0">
                          <a:solidFill>
                            <a:srgbClr val="1F2A5C"/>
                          </a:solidFill>
                          <a:latin typeface="メイリオ" panose="020B0604030504040204" pitchFamily="50" charset="-128"/>
                          <a:ea typeface="メイリオ" panose="020B0604030504040204" pitchFamily="50" charset="-128"/>
                        </a:rPr>
                        <a:t>接触回数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コロナ前と比べ、接触回数が「減少した」営業職員が55.5%（2023年調査）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限られた面談で成果を出すやり方を学ぶ必要がある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2932556337"/>
                  </a:ext>
                </a:extLst>
              </a:tr>
            </a:tbl>
          </a:graphicData>
        </a:graphic>
      </p:graphicFrame>
      <p:sp>
        <p:nvSpPr>
          <p:cNvPr id="52" name="示唆"/>
          <p:cNvSpPr/>
          <p:nvPr/>
        </p:nvSpPr>
        <p:spPr>
          <a:xfrm>
            <a:off x="420624" y="446735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学びたい方が増えている。そのため、セミナーで出会った方とLINEでつながり、次のセミナー・サロンの入会まで</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案内を続ける場を整えることが重要。</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※企業向け研修サービス市場：矢野経済研究所（2026年8月24日）／eラーニング市場：矢野経済研究所（2026年4月22日。2025年度は見込み）／オンラインサロン：DMM.com発表（2025年11月14日。調査：デロイト トーマツ ミック経済研究所）／接触回数：矢野経済研究所「生命保険の営業職員アンケート調査」（2023年4〜6月、生命保険の営業職員400名）</a:t>
            </a:r>
            <a:endParaRPr lang="ja-JP" altLang="en-US" sz="1200" dirty="0"/>
          </a:p>
        </p:txBody>
      </p:sp>
    </p:spTree>
    <p:extLst>
      <p:ext uri="{BB962C8B-B14F-4D97-AF65-F5344CB8AC3E}">
        <p14:creationId xmlns:p14="http://schemas.microsoft.com/office/powerpoint/2010/main" val="25447284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お金への関心は高まる一方で、学ぶ機会が少ない</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208551" y="855516"/>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資産形成を始める方は増えているのに、金融について学んでいない方が約9割</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業界STUDY 49"/>
          <p:cNvGraphicFramePr>
            <a:graphicFrameLocks noGrp="1"/>
          </p:cNvGraphicFramePr>
          <p:nvPr>
            <p:extLst>
              <p:ext uri="{D42A27DB-BD31-4B8C-83A1-F6EECF244321}">
                <p14:modId xmlns:p14="http://schemas.microsoft.com/office/powerpoint/2010/main" val="3122004456"/>
              </p:ext>
            </p:extLst>
          </p:nvPr>
        </p:nvGraphicFramePr>
        <p:xfrm>
          <a:off x="420624" y="1645920"/>
          <a:ext cx="9052560" cy="2854960"/>
        </p:xfrm>
        <a:graphic>
          <a:graphicData uri="http://schemas.openxmlformats.org/drawingml/2006/table">
            <a:tbl>
              <a:tblPr/>
              <a:tblGrid>
                <a:gridCol w="17373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項目</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ファクト</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意味すること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NISA口座数</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2,125万 → 2024年末 2,559万 → 2025年末 2,821万口座（政府目標：2027年末までに3,400万口座）</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資産形成を始める方は増え続けている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NISAの累計買付額</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2023年末 35兆円 → 2024年末 53兆円 → 2025年末 71兆円。2027年末の政府目標56兆円をすでに超えた</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実際にお金が動いている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2324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金融経済教育</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「受けたと認識している」方は8.7%。</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一方で67.5%が「学校で行うべき」と回答</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学ぶ機会が少なく、</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学びたいというニーズは大きい</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21360">
                <a:tc>
                  <a:txBody>
                    <a:bodyPr/>
                    <a:lstStyle/>
                    <a:p>
                      <a:pPr algn="l">
                        <a:buNone/>
                      </a:pPr>
                      <a:r>
                        <a:rPr lang="ja-JP" altLang="en-US" sz="1200" b="1" dirty="0">
                          <a:solidFill>
                            <a:srgbClr val="1F2A5C"/>
                          </a:solidFill>
                          <a:latin typeface="メイリオ" panose="020B0604030504040204" pitchFamily="50" charset="-128"/>
                          <a:ea typeface="メイリオ" panose="020B0604030504040204" pitchFamily="50" charset="-128"/>
                        </a:rPr>
                        <a:t>知識・計画</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金融リテラシーの正答率は53.8%（前回から1.9ポイント低下）。老後の資金計画をたてている方は40.1%、商品性を理解せずに投資信託を買った方は29.3%</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相談に乗れる方が求められている</a:t>
                      </a:r>
                      <a:endParaRPr lang="ja-JP" altLang="en-US" sz="12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476197571"/>
                  </a:ext>
                </a:extLst>
              </a:tr>
            </a:tbl>
          </a:graphicData>
        </a:graphic>
      </p:graphicFrame>
      <p:sp>
        <p:nvSpPr>
          <p:cNvPr id="52" name="示唆"/>
          <p:cNvSpPr/>
          <p:nvPr/>
        </p:nvSpPr>
        <p:spPr>
          <a:xfrm>
            <a:off x="420624" y="4665472"/>
            <a:ext cx="9052560" cy="78867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rPr>
              <a:t>示唆</a:t>
            </a:r>
            <a:endParaRPr lang="ja-JP" altLang="en-US" sz="1200" dirty="0"/>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rPr>
              <a:t>お金への関心が高まる一方で、学ぶ機会が少ない。保険営業の方にとって、相談につながるチャンスが増えている。一般の方向けのマネーセミナーも、LINEで次回の案内を続けられる。</a:t>
            </a:r>
            <a:endParaRPr lang="ja-JP" altLang="en-US" sz="1200" dirty="0"/>
          </a:p>
        </p:txBody>
      </p:sp>
      <p:sp>
        <p:nvSpPr>
          <p:cNvPr id="53"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NISA口座数・買付額：金融庁「NISAの利用状況」（2025年12月末時点）／金融経済教育・正答率・資金計画・投資信託：金融経済教育推進機構（J-FLEC）「金融リテラシー調査（2025年）」（2026年3月27日公表、30,000人）</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ターゲット：保険営業の方が主軸。一般の方向けも考慮</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対象によって、関心のある内容と申込先が異なる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ターゲット 49"/>
          <p:cNvGraphicFramePr>
            <a:graphicFrameLocks noGrp="1"/>
          </p:cNvGraphicFramePr>
          <p:nvPr>
            <p:extLst>
              <p:ext uri="{D42A27DB-BD31-4B8C-83A1-F6EECF244321}">
                <p14:modId xmlns:p14="http://schemas.microsoft.com/office/powerpoint/2010/main" val="3726247305"/>
              </p:ext>
            </p:extLst>
          </p:nvPr>
        </p:nvGraphicFramePr>
        <p:xfrm>
          <a:off x="420624" y="1645920"/>
          <a:ext cx="9052559"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374903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保険営業の方（主軸）</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一般の方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関心</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営業力の向上（面談・提案の進め方）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資産形成・お金の知識</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申込先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生産性4倍セミナー → オンラインサロン「ハッピーライフ」</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資産形成・マネーセミナー等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LINEで届ける内容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セミナーの見どころ・受講生の声・サロンのご案内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マネーセミナー等のご案内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出し分けの基本</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保険営業の方向けのLPから友だち追加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一般の方向けの申込みページ等から</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友だち追加</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bl>
          </a:graphicData>
        </a:graphic>
      </p:graphicFrame>
      <p:sp>
        <p:nvSpPr>
          <p:cNvPr id="52" name="示唆"/>
          <p:cNvSpPr/>
          <p:nvPr/>
        </p:nvSpPr>
        <p:spPr>
          <a:xfrm>
            <a:off x="420624" y="4526280"/>
            <a:ext cx="9052560" cy="1097280"/>
          </a:xfrm>
          <a:prstGeom prst="rect">
            <a:avLst/>
          </a:prstGeom>
          <a:solidFill>
            <a:srgbClr val="F5F7FA"/>
          </a:solidFill>
          <a:ln>
            <a:noFill/>
          </a:ln>
        </p:spPr>
        <p:txBody>
          <a:bodyPr wrap="square" lIns="182880" tIns="54864" rIns="182880" bIns="54864" rtlCol="0" anchor="ctr">
            <a:noAutofit/>
          </a:bodyPr>
          <a:lstStyle/>
          <a:p>
            <a:pPr algn="l">
              <a:lnSpc>
                <a:spcPct val="120000"/>
              </a:lnSpc>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示唆</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同じLINE公式アカウントで運用する場合は、友だち追加の流入経路（どのページから追加したか）で出し分ける。</a:t>
            </a:r>
            <a:endParaRPr lang="ja-JP" altLang="en-US" sz="1200" dirty="0">
              <a:latin typeface="メイリオ"/>
              <a:ea typeface="メイリオ"/>
              <a:cs typeface="メイリオ"/>
            </a:endParaRPr>
          </a:p>
          <a:p>
            <a:pPr algn="l">
              <a:lnSpc>
                <a:spcPct val="120000"/>
              </a:lnSpc>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一般の方向けセミナーの参加者には、保険営業の方向けサロンへの入会を前提にした案内はしない。</a:t>
            </a:r>
            <a:endParaRPr lang="ja-JP" altLang="en-US" sz="1200" dirty="0">
              <a:latin typeface="メイリオ"/>
              <a:ea typeface="メイリオ"/>
              <a:cs typeface="メイリオ"/>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E3E23-EB7F-D169-38DE-98B27F305DB6}"/>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C62F92F0-EE46-60C0-E453-43E26B4DBD66}"/>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競合調査：貴社施策内で検討の訴求軸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保険営業の方向けの他社も、LINEで特典や学びを届けている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他社のLINE 49"/>
          <p:cNvGraphicFramePr>
            <a:graphicFrameLocks noGrp="1"/>
          </p:cNvGraphicFramePr>
          <p:nvPr>
            <p:extLst>
              <p:ext uri="{D42A27DB-BD31-4B8C-83A1-F6EECF244321}">
                <p14:modId xmlns:p14="http://schemas.microsoft.com/office/powerpoint/2010/main" val="3478589760"/>
              </p:ext>
            </p:extLst>
          </p:nvPr>
        </p:nvGraphicFramePr>
        <p:xfrm>
          <a:off x="420624" y="1645920"/>
          <a:ext cx="6492240" cy="2194560"/>
        </p:xfrm>
        <a:graphic>
          <a:graphicData uri="http://schemas.openxmlformats.org/drawingml/2006/table">
            <a:tbl>
              <a:tblPr/>
              <a:tblGrid>
                <a:gridCol w="160020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他社</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サービス</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LINEでしていること</a:t>
                      </a:r>
                      <a:endParaRPr lang="ja-JP" altLang="en-US" sz="1300" dirty="0"/>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野沢塾</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保険営業の方向けの講座（月2回）</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サイトのボタンから友だち追加。あいさつで特典の動画を届ける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1440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rPr>
                        <a:t>R&amp;C保険営業ラボ</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保険営業の方向けの無料の学習サービス</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（2026年9月開始）</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登録時の5問のアンケートに合わせて、資料・動画を段階的に配信</a:t>
                      </a:r>
                      <a:endParaRPr lang="ja-JP" altLang="en-US" sz="1300" dirty="0"/>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bl>
          </a:graphicData>
        </a:graphic>
      </p:graphicFrame>
      <p:sp>
        <p:nvSpPr>
          <p:cNvPr id="51" name="貴社の訴求軸 見出し"/>
          <p:cNvSpPr/>
          <p:nvPr/>
        </p:nvSpPr>
        <p:spPr>
          <a:xfrm>
            <a:off x="420624" y="4160520"/>
            <a:ext cx="182880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貴社の訴求軸</a:t>
            </a:r>
            <a:endParaRPr lang="ja-JP" altLang="en-US" sz="1200" dirty="0"/>
          </a:p>
        </p:txBody>
      </p:sp>
      <p:sp>
        <p:nvSpPr>
          <p:cNvPr id="52" name="貴社の訴求軸"/>
          <p:cNvSpPr/>
          <p:nvPr/>
        </p:nvSpPr>
        <p:spPr>
          <a:xfrm>
            <a:off x="420624" y="4471416"/>
            <a:ext cx="6492240" cy="822960"/>
          </a:xfrm>
          <a:prstGeom prst="rect">
            <a:avLst/>
          </a:prstGeom>
          <a:solidFill>
            <a:srgbClr val="EEF1F8"/>
          </a:solidFill>
          <a:ln w="9525">
            <a:solidFill>
              <a:srgbClr val="1F2A5C"/>
            </a:solidFill>
          </a:ln>
        </p:spPr>
        <p:txBody>
          <a:bodyPr wrap="square" lIns="73152" tIns="36576" rIns="73152" bIns="36576" rtlCol="0" anchor="ctr">
            <a:noAutofit/>
          </a:bodyPr>
          <a:lstStyle/>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イベントの予約・参加に合わせて、案内を変える</a:t>
            </a:r>
            <a:endParaRPr lang="ja-JP" altLang="en-US" sz="1200" dirty="0"/>
          </a:p>
          <a:p>
            <a:pPr algn="ctr">
              <a:lnSpc>
                <a:spcPct val="125000"/>
              </a:lnSpc>
              <a:buNone/>
            </a:pPr>
            <a:r>
              <a:rPr lang="ja-JP" altLang="en-US" sz="1400" b="1" dirty="0">
                <a:solidFill>
                  <a:srgbClr val="1F2A5C"/>
                </a:solidFill>
                <a:latin typeface="メイリオ" panose="020B0604030504040204" pitchFamily="50" charset="-128"/>
                <a:ea typeface="メイリオ" panose="020B0604030504040204" pitchFamily="50" charset="-128"/>
              </a:rPr>
              <a:t>参加後は、サロンの入会へつなげる</a:t>
            </a:r>
            <a:endParaRPr lang="ja-JP" altLang="en-US" sz="1200" dirty="0"/>
          </a:p>
        </p:txBody>
      </p:sp>
      <p:pic>
        <p:nvPicPr>
          <p:cNvPr id="53" name="Picture 52" descr="image.png"/>
          <p:cNvPicPr>
            <a:picLocks noChangeAspect="1"/>
          </p:cNvPicPr>
          <p:nvPr/>
        </p:nvPicPr>
        <p:blipFill>
          <a:blip r:embed="rId3"/>
          <a:stretch>
            <a:fillRect/>
          </a:stretch>
        </p:blipFill>
        <p:spPr>
          <a:xfrm>
            <a:off x="7492936" y="1645920"/>
            <a:ext cx="1583054" cy="3429000"/>
          </a:xfrm>
          <a:prstGeom prst="rect">
            <a:avLst/>
          </a:prstGeom>
        </p:spPr>
      </p:pic>
      <p:sp>
        <p:nvSpPr>
          <p:cNvPr id="54" name="画像の説明"/>
          <p:cNvSpPr/>
          <p:nvPr/>
        </p:nvSpPr>
        <p:spPr>
          <a:xfrm>
            <a:off x="6995160" y="5120640"/>
            <a:ext cx="2560320" cy="228600"/>
          </a:xfrm>
          <a:prstGeom prst="rect">
            <a:avLst/>
          </a:prstGeom>
          <a:noFill/>
          <a:ln>
            <a:noFill/>
          </a:ln>
        </p:spPr>
        <p:txBody>
          <a:bodyPr wrap="square" lIns="0" tIns="0" rIns="0" bIns="0" rtlCol="0" anchor="t">
            <a:noAutofit/>
          </a:bodyPr>
          <a:lstStyle/>
          <a:p>
            <a:pPr algn="ctr">
              <a:buNone/>
            </a:pPr>
            <a:r>
              <a:rPr lang="ja-JP" altLang="en-US" sz="1000" b="0" dirty="0">
                <a:solidFill>
                  <a:srgbClr val="7F7F7F"/>
                </a:solidFill>
                <a:latin typeface="メイリオ" panose="020B0604030504040204" pitchFamily="50" charset="-128"/>
                <a:ea typeface="メイリオ" panose="020B0604030504040204" pitchFamily="50" charset="-128"/>
              </a:rPr>
              <a:t>野沢塾のあいさつ（LINE公式アカウント）</a:t>
            </a:r>
            <a:endParaRPr lang="ja-JP" altLang="en-US" sz="1200" dirty="0"/>
          </a:p>
        </p:txBody>
      </p:sp>
      <p:sp>
        <p:nvSpPr>
          <p:cNvPr id="55" name="注記"/>
          <p:cNvSpPr/>
          <p:nvPr/>
        </p:nvSpPr>
        <p:spPr>
          <a:xfrm>
            <a:off x="420624" y="589788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※野沢塾：LINE公式アカウント（2026年10月19日確認）・公式サイト（2026年10月18日確認）より。画面の名前とパスワードは伏せている</a:t>
            </a:r>
            <a:endParaRPr lang="ja-JP" altLang="en-US" sz="1200" dirty="0"/>
          </a:p>
          <a:p>
            <a:pPr algn="l">
              <a:buNone/>
            </a:pPr>
            <a:r>
              <a:rPr lang="ja-JP" altLang="en-US" sz="900" b="0" dirty="0">
                <a:solidFill>
                  <a:srgbClr val="7F7F7F"/>
                </a:solidFill>
                <a:latin typeface="メイリオ" panose="020B0604030504040204" pitchFamily="50" charset="-128"/>
                <a:ea typeface="メイリオ" panose="020B0604030504040204" pitchFamily="50" charset="-128"/>
              </a:rPr>
              <a:t>※R&amp;C保険営業ラボ：R&amp;C株式会社のプレスリリースより。</a:t>
            </a:r>
            <a:endParaRPr lang="ja-JP" altLang="en-US" sz="1200" dirty="0"/>
          </a:p>
        </p:txBody>
      </p:sp>
    </p:spTree>
    <p:extLst>
      <p:ext uri="{BB962C8B-B14F-4D97-AF65-F5344CB8AC3E}">
        <p14:creationId xmlns:p14="http://schemas.microsoft.com/office/powerpoint/2010/main" val="186140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E9651-D02B-F1D5-7974-8EFB42339FA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D14D38F-F567-ACF2-CDEB-76004FDB5B5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636C1E2A-AC35-76CA-EBEE-CAD4F26CF45A}"/>
              </a:ext>
            </a:extLst>
          </p:cNvPr>
          <p:cNvSpPr/>
          <p:nvPr/>
        </p:nvSpPr>
        <p:spPr>
          <a:xfrm>
            <a:off x="841248" y="3038203"/>
            <a:ext cx="8229600" cy="584775"/>
          </a:xfrm>
          <a:prstGeom prst="rect">
            <a:avLst/>
          </a:prstGeom>
        </p:spPr>
        <p:txBody>
          <a:bodyPr wrap="none">
            <a:spAutoFit/>
          </a:bodyPr>
          <a:lstStyle/>
          <a:p>
            <a:pPr algn="ctr"/>
            <a:r>
              <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なぜLINE公式アカウントなのか</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09543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なぜLINEか</a:t>
            </a:r>
          </a:p>
        </p:txBody>
      </p:sp>
      <p:sp>
        <p:nvSpPr>
          <p:cNvPr id="3" name="正方形/長方形 8"/>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LINE公式アカウント</a:t>
            </a:r>
          </a:p>
        </p:txBody>
      </p:sp>
      <p:sp>
        <p:nvSpPr>
          <p:cNvPr id="4" name="Google Shape;752;p28"/>
          <p:cNvSpPr txBox="1"/>
          <p:nvPr/>
        </p:nvSpPr>
        <p:spPr>
          <a:xfrm>
            <a:off x="2286000" y="859536"/>
            <a:ext cx="7406640" cy="338328"/>
          </a:xfrm>
          <a:prstGeom prst="rect">
            <a:avLst/>
          </a:prstGeom>
          <a:noFill/>
          <a:ln>
            <a:noFill/>
          </a:ln>
        </p:spPr>
        <p:txBody>
          <a:bodyPr spcFirstLastPara="1" wrap="square" lIns="91425" tIns="45700" rIns="91425" bIns="45700" anchor="ctr" anchorCtr="0">
            <a:spAutoFit/>
          </a:bodyPr>
          <a:lstStyle/>
          <a:p>
            <a:r>
              <a:rPr lang="en-US" altLang="ja-JP" sz="1600" b="1" dirty="0" err="1">
                <a:latin typeface="メイリオ" panose="020B0604030504040204" pitchFamily="50" charset="-128"/>
                <a:ea typeface="メイリオ" panose="020B0604030504040204" pitchFamily="50" charset="-128"/>
                <a:cs typeface="メイリオ"/>
                <a:sym typeface="Meiryo"/>
              </a:rPr>
              <a:t>広告で新規見込み客を集め、LINEで関係を積み上げる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6" name="メリット 見出し"/>
          <p:cNvSpPr/>
          <p:nvPr/>
        </p:nvSpPr>
        <p:spPr>
          <a:xfrm>
            <a:off x="502920" y="3886200"/>
            <a:ext cx="310896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LINE公式アカウントのメリット</a:t>
            </a:r>
            <a:endParaRPr lang="ja-JP" altLang="en-US" sz="1200" dirty="0">
              <a:latin typeface="メイリオ"/>
              <a:ea typeface="メイリオ"/>
              <a:cs typeface="メイリオ"/>
            </a:endParaRPr>
          </a:p>
        </p:txBody>
      </p:sp>
      <p:sp>
        <p:nvSpPr>
          <p:cNvPr id="7" name="メリット"/>
          <p:cNvSpPr/>
          <p:nvPr/>
        </p:nvSpPr>
        <p:spPr>
          <a:xfrm>
            <a:off x="502920" y="4197096"/>
            <a:ext cx="8897112" cy="1737360"/>
          </a:xfrm>
          <a:prstGeom prst="rect">
            <a:avLst/>
          </a:prstGeom>
          <a:solidFill>
            <a:srgbClr val="EEF1F8"/>
          </a:solidFill>
          <a:ln w="9525">
            <a:solidFill>
              <a:srgbClr val="1F2A5C"/>
            </a:solidFill>
          </a:ln>
        </p:spPr>
        <p:txBody>
          <a:bodyPr wrap="square" lIns="274320" tIns="54864" rIns="182880" bIns="54864" rtlCol="0" anchor="ctr">
            <a:noAutofit/>
          </a:bodyPr>
          <a:lstStyle/>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・友だち追加した方に、継続して情報を届けられる（次回以降のイベントも案内できる）</a:t>
            </a:r>
            <a:endParaRPr lang="ja-JP" altLang="en-US" sz="1200" dirty="0">
              <a:latin typeface="メイリオ"/>
              <a:ea typeface="メイリオ"/>
              <a:cs typeface="メイリオ"/>
            </a:endParaRPr>
          </a:p>
          <a:p>
            <a:pPr algn="l">
              <a:lnSpc>
                <a:spcPct val="130000"/>
              </a:lnSpc>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・イベントのない時期も、見込み客との接点を持てる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・通知を通じて、見込み客との接点をつくれる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・友だちとして、見込み客を蓄積できる</a:t>
            </a:r>
            <a:endParaRPr lang="ja-JP" altLang="en-US" sz="1200" dirty="0">
              <a:latin typeface="メイリオ"/>
              <a:ea typeface="メイリオ"/>
              <a:cs typeface="メイリオ"/>
            </a:endParaRPr>
          </a:p>
          <a:p>
            <a:pPr algn="l">
              <a:lnSpc>
                <a:spcPct val="130000"/>
              </a:lnSpc>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・中長期的に、広告への依存度を下げられる可能性がある</a:t>
            </a:r>
            <a:endParaRPr lang="ja-JP" altLang="en-US" sz="1200" dirty="0">
              <a:latin typeface="メイリオ"/>
              <a:ea typeface="メイリオ"/>
              <a:cs typeface="メイリオ"/>
            </a:endParaRPr>
          </a:p>
        </p:txBody>
      </p:sp>
      <p:sp>
        <p:nvSpPr>
          <p:cNvPr id="8" name="Rectangle 7"/>
          <p:cNvSpPr/>
          <p:nvPr/>
        </p:nvSpPr>
        <p:spPr>
          <a:xfrm>
            <a:off x="502920" y="1828800"/>
            <a:ext cx="3520440" cy="192024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9" name="Rectangle 8"/>
          <p:cNvSpPr/>
          <p:nvPr/>
        </p:nvSpPr>
        <p:spPr>
          <a:xfrm>
            <a:off x="502920" y="1463040"/>
            <a:ext cx="3520440" cy="365760"/>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1F285A"/>
                </a:solidFill>
                <a:latin typeface="メイリオ"/>
                <a:ea typeface="メイリオ"/>
                <a:cs typeface="メイリオ"/>
              </a:rPr>
              <a:t>広告</a:t>
            </a:r>
          </a:p>
        </p:txBody>
      </p:sp>
      <p:sp>
        <p:nvSpPr>
          <p:cNvPr id="10" name="TextBox 9"/>
          <p:cNvSpPr txBox="1"/>
          <p:nvPr/>
        </p:nvSpPr>
        <p:spPr>
          <a:xfrm>
            <a:off x="594360" y="19019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0">
                <a:solidFill>
                  <a:srgbClr val="333333"/>
                </a:solidFill>
                <a:latin typeface="メイリオ"/>
                <a:ea typeface="メイリオ"/>
                <a:cs typeface="メイリオ"/>
              </a:rPr>
              <a:t>新しい見込み客との接点を獲得する</a:t>
            </a:r>
          </a:p>
        </p:txBody>
      </p:sp>
      <p:cxnSp>
        <p:nvCxnSpPr>
          <p:cNvPr id="11" name="Connector 10"/>
          <p:cNvCxnSpPr/>
          <p:nvPr/>
        </p:nvCxnSpPr>
        <p:spPr>
          <a:xfrm>
            <a:off x="640080" y="23317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594360" y="23591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0">
                <a:solidFill>
                  <a:srgbClr val="333333"/>
                </a:solidFill>
                <a:latin typeface="メイリオ"/>
                <a:ea typeface="メイリオ"/>
                <a:cs typeface="メイリオ"/>
              </a:rPr>
              <a:t>まだつながっていない方</a:t>
            </a:r>
          </a:p>
        </p:txBody>
      </p:sp>
      <p:cxnSp>
        <p:nvCxnSpPr>
          <p:cNvPr id="13" name="Connector 12"/>
          <p:cNvCxnSpPr/>
          <p:nvPr/>
        </p:nvCxnSpPr>
        <p:spPr>
          <a:xfrm>
            <a:off x="640080" y="27889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4360" y="2816351"/>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0">
                <a:solidFill>
                  <a:srgbClr val="333333"/>
                </a:solidFill>
                <a:latin typeface="メイリオ"/>
                <a:ea typeface="メイリオ"/>
                <a:cs typeface="メイリオ"/>
              </a:rPr>
              <a:t>広告を配信している期間</a:t>
            </a:r>
          </a:p>
        </p:txBody>
      </p:sp>
      <p:cxnSp>
        <p:nvCxnSpPr>
          <p:cNvPr id="15" name="Connector 14"/>
          <p:cNvCxnSpPr/>
          <p:nvPr/>
        </p:nvCxnSpPr>
        <p:spPr>
          <a:xfrm>
            <a:off x="640080" y="3246120"/>
            <a:ext cx="3246120"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594360" y="3273552"/>
            <a:ext cx="3337559"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0">
                <a:solidFill>
                  <a:srgbClr val="333333"/>
                </a:solidFill>
                <a:latin typeface="メイリオ"/>
                <a:ea typeface="メイリオ"/>
                <a:cs typeface="メイリオ"/>
              </a:rPr>
              <a:t>セミナー予約などの反響</a:t>
            </a:r>
          </a:p>
        </p:txBody>
      </p:sp>
      <p:sp>
        <p:nvSpPr>
          <p:cNvPr id="17" name="Rectangle 16"/>
          <p:cNvSpPr/>
          <p:nvPr/>
        </p:nvSpPr>
        <p:spPr>
          <a:xfrm>
            <a:off x="4846320" y="1828800"/>
            <a:ext cx="4553712" cy="1920240"/>
          </a:xfrm>
          <a:prstGeom prst="rect">
            <a:avLst/>
          </a:prstGeom>
          <a:solidFill>
            <a:srgbClr val="F4F7FF"/>
          </a:solidFill>
          <a:ln w="15875">
            <a:solidFill>
              <a:srgbClr val="1F285A"/>
            </a:solid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
        <p:nvSpPr>
          <p:cNvPr id="18" name="Rectangle 17"/>
          <p:cNvSpPr/>
          <p:nvPr/>
        </p:nvSpPr>
        <p:spPr>
          <a:xfrm>
            <a:off x="4846320" y="1463040"/>
            <a:ext cx="4553712" cy="365760"/>
          </a:xfrm>
          <a:prstGeom prst="rect">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300" b="1">
                <a:solidFill>
                  <a:srgbClr val="FFFFFF"/>
                </a:solidFill>
                <a:latin typeface="メイリオ"/>
                <a:ea typeface="メイリオ"/>
                <a:cs typeface="メイリオ"/>
              </a:rPr>
              <a:t>LINE公式アカウント</a:t>
            </a:r>
          </a:p>
        </p:txBody>
      </p:sp>
      <p:sp>
        <p:nvSpPr>
          <p:cNvPr id="19" name="TextBox 18"/>
          <p:cNvSpPr txBox="1"/>
          <p:nvPr/>
        </p:nvSpPr>
        <p:spPr>
          <a:xfrm>
            <a:off x="4937760" y="19019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役割</a:t>
            </a:r>
          </a:p>
          <a:p>
            <a:pPr algn="l">
              <a:lnSpc>
                <a:spcPct val="105000"/>
              </a:lnSpc>
              <a:spcAft>
                <a:spcPts val="200"/>
              </a:spcAft>
            </a:pPr>
            <a:r>
              <a:rPr sz="1300" b="1">
                <a:solidFill>
                  <a:srgbClr val="1F285A"/>
                </a:solidFill>
                <a:latin typeface="メイリオ"/>
                <a:ea typeface="メイリオ"/>
                <a:cs typeface="メイリオ"/>
              </a:rPr>
              <a:t>一度つながった見込み客に、継続して情報を届ける</a:t>
            </a:r>
          </a:p>
        </p:txBody>
      </p:sp>
      <p:cxnSp>
        <p:nvCxnSpPr>
          <p:cNvPr id="20" name="Connector 19"/>
          <p:cNvCxnSpPr/>
          <p:nvPr/>
        </p:nvCxnSpPr>
        <p:spPr>
          <a:xfrm>
            <a:off x="4983480" y="23317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4937760" y="23591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主に届く相手</a:t>
            </a:r>
          </a:p>
          <a:p>
            <a:pPr algn="l">
              <a:lnSpc>
                <a:spcPct val="105000"/>
              </a:lnSpc>
              <a:spcAft>
                <a:spcPts val="200"/>
              </a:spcAft>
            </a:pPr>
            <a:r>
              <a:rPr sz="1300" b="1">
                <a:solidFill>
                  <a:srgbClr val="1F285A"/>
                </a:solidFill>
                <a:latin typeface="メイリオ"/>
                <a:ea typeface="メイリオ"/>
                <a:cs typeface="メイリオ"/>
              </a:rPr>
              <a:t>友だち追加した方</a:t>
            </a:r>
          </a:p>
        </p:txBody>
      </p:sp>
      <p:cxnSp>
        <p:nvCxnSpPr>
          <p:cNvPr id="22" name="Connector 21"/>
          <p:cNvCxnSpPr/>
          <p:nvPr/>
        </p:nvCxnSpPr>
        <p:spPr>
          <a:xfrm>
            <a:off x="4983480" y="27889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4937760" y="2816351"/>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届けられる時期</a:t>
            </a:r>
          </a:p>
          <a:p>
            <a:pPr algn="l">
              <a:lnSpc>
                <a:spcPct val="105000"/>
              </a:lnSpc>
              <a:spcAft>
                <a:spcPts val="200"/>
              </a:spcAft>
            </a:pPr>
            <a:r>
              <a:rPr sz="1300" b="1">
                <a:solidFill>
                  <a:srgbClr val="1F285A"/>
                </a:solidFill>
                <a:latin typeface="メイリオ"/>
                <a:ea typeface="メイリオ"/>
                <a:cs typeface="メイリオ"/>
              </a:rPr>
              <a:t>開催月も、開催のない月も</a:t>
            </a:r>
          </a:p>
        </p:txBody>
      </p:sp>
      <p:cxnSp>
        <p:nvCxnSpPr>
          <p:cNvPr id="24" name="Connector 23"/>
          <p:cNvCxnSpPr/>
          <p:nvPr/>
        </p:nvCxnSpPr>
        <p:spPr>
          <a:xfrm>
            <a:off x="4983480" y="3246120"/>
            <a:ext cx="427939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4937760" y="3273552"/>
            <a:ext cx="4370832" cy="402336"/>
          </a:xfrm>
          <a:prstGeom prst="rect">
            <a:avLst/>
          </a:prstGeom>
          <a:noFill/>
        </p:spPr>
        <p:txBody>
          <a:bodyPr wrap="square" anchor="ctr" lIns="36000" rIns="36000" tIns="10800" bIns="10800">
            <a:spAutoFit/>
          </a:bodyPr>
          <a:lstStyle/>
          <a:p>
            <a:pPr algn="l">
              <a:lnSpc>
                <a:spcPct val="105000"/>
              </a:lnSpc>
              <a:spcAft>
                <a:spcPts val="200"/>
              </a:spcAft>
            </a:pPr>
            <a:r>
              <a:rPr sz="1000" b="0">
                <a:solidFill>
                  <a:srgbClr val="64748B"/>
                </a:solidFill>
                <a:latin typeface="メイリオ"/>
                <a:ea typeface="メイリオ"/>
                <a:cs typeface="メイリオ"/>
              </a:rPr>
              <a:t>積み上がるもの</a:t>
            </a:r>
          </a:p>
          <a:p>
            <a:pPr algn="l">
              <a:lnSpc>
                <a:spcPct val="105000"/>
              </a:lnSpc>
              <a:spcAft>
                <a:spcPts val="200"/>
              </a:spcAft>
            </a:pPr>
            <a:r>
              <a:rPr sz="1300" b="1">
                <a:solidFill>
                  <a:srgbClr val="1F285A"/>
                </a:solidFill>
                <a:latin typeface="メイリオ"/>
                <a:ea typeface="メイリオ"/>
                <a:cs typeface="メイリオ"/>
              </a:rPr>
              <a:t>友だち（次回以降も案内できる相手）</a:t>
            </a:r>
          </a:p>
        </p:txBody>
      </p:sp>
      <p:sp>
        <p:nvSpPr>
          <p:cNvPr id="26" name="TextBox 25"/>
          <p:cNvSpPr txBox="1"/>
          <p:nvPr/>
        </p:nvSpPr>
        <p:spPr>
          <a:xfrm>
            <a:off x="4023360" y="2286000"/>
            <a:ext cx="822960" cy="274320"/>
          </a:xfrm>
          <a:prstGeom prst="rect">
            <a:avLst/>
          </a:prstGeom>
          <a:noFill/>
        </p:spPr>
        <p:txBody>
          <a:bodyPr wrap="square" anchor="b" lIns="36000" rIns="36000" tIns="10800" bIns="10800">
            <a:spAutoFit/>
          </a:bodyPr>
          <a:lstStyle/>
          <a:p>
            <a:pPr algn="ctr">
              <a:lnSpc>
                <a:spcPct val="105000"/>
              </a:lnSpc>
              <a:spcAft>
                <a:spcPts val="200"/>
              </a:spcAft>
            </a:pPr>
            <a:r>
              <a:rPr sz="1000" b="1">
                <a:solidFill>
                  <a:srgbClr val="1F285A"/>
                </a:solidFill>
                <a:latin typeface="メイリオ"/>
                <a:ea typeface="メイリオ"/>
                <a:cs typeface="メイリオ"/>
              </a:rPr>
              <a:t>友だち追加</a:t>
            </a:r>
          </a:p>
        </p:txBody>
      </p:sp>
      <p:sp>
        <p:nvSpPr>
          <p:cNvPr id="27" name="Right Arrow 26"/>
          <p:cNvSpPr/>
          <p:nvPr/>
        </p:nvSpPr>
        <p:spPr>
          <a:xfrm>
            <a:off x="4133088" y="2606039"/>
            <a:ext cx="603504" cy="365760"/>
          </a:xfrm>
          <a:prstGeom prst="rightArrow">
            <a:avLst/>
          </a:prstGeom>
          <a:solidFill>
            <a:srgbClr val="1F285A"/>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AA527-0EA1-7A75-453D-963C8B528D5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B6D9B23-C685-E912-4659-E23BCCC23FC3}"/>
              </a:ext>
            </a:extLst>
          </p:cNvPr>
          <p:cNvSpPr txBox="1"/>
          <p:nvPr/>
        </p:nvSpPr>
        <p:spPr>
          <a:xfrm>
            <a:off x="548883" y="138137"/>
            <a:ext cx="768096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事例紹介：保険・イベント集客でのLINEの成果</a:t>
            </a:r>
          </a:p>
        </p:txBody>
      </p:sp>
      <p:sp>
        <p:nvSpPr>
          <p:cNvPr id="5"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6"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7"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8"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338554"/>
          </a:xfrm>
          <a:prstGeom prst="rect">
            <a:avLst/>
          </a:prstGeom>
          <a:noFill/>
        </p:spPr>
        <p:txBody>
          <a:bodyPr wrap="square">
            <a:spAutoFit/>
          </a:bodyPr>
          <a:lstStyle/>
          <a:p>
            <a:pPr marL="228600">
              <a:spcAft>
                <a:spcPts val="800"/>
              </a:spcAft>
              <a:buNone/>
            </a:pPr>
            <a:r>
              <a:rPr lang="ja-JP" altLang="ja-JP" sz="1600" dirty="0">
                <a:effectLst/>
                <a:latin typeface="メイリオ" panose="02020603050405020304" pitchFamily="18" charset="0"/>
                <a:ea typeface="メイリオ" panose="020B0604030504040204" pitchFamily="50" charset="-128"/>
                <a:cs typeface="メイリオ" panose="020B0604030504040204" pitchFamily="50" charset="-128"/>
              </a:rPr>
              <a:t>保険・イベント集客の事例</a:t>
            </a:r>
            <a:endParaRPr lang="en-US" altLang="ja-JP" sz="16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9" name="事例 8"/>
          <p:cNvGraphicFramePr>
            <a:graphicFrameLocks noGrp="1"/>
          </p:cNvGraphicFramePr>
          <p:nvPr>
            <p:extLst>
              <p:ext uri="{D42A27DB-BD31-4B8C-83A1-F6EECF244321}">
                <p14:modId xmlns:p14="http://schemas.microsoft.com/office/powerpoint/2010/main" val="425815105"/>
              </p:ext>
            </p:extLst>
          </p:nvPr>
        </p:nvGraphicFramePr>
        <p:xfrm>
          <a:off x="420624" y="1783080"/>
          <a:ext cx="9052560" cy="3767328"/>
        </p:xfrm>
        <a:graphic>
          <a:graphicData uri="http://schemas.openxmlformats.org/drawingml/2006/table">
            <a:tbl>
              <a:tblPr/>
              <a:tblGrid>
                <a:gridCol w="1600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5146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業種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LINEでしたこと</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結果</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貴社での活かし方</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同じ内容をメールとLINEで配信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約8倍</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資料請求のCV率（メール比）</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次回セミナーの案内を、LINEで届ける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887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生命保険会社</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営業職員経由で、お客様にLINEの友だち追加を案内</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5.2%</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営業職員経由の友だちのブロック率（自然に友だちになった方は74.9%）</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接点のある方を友だちにし、</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配信を届け続ける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109728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教室・スクール</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見学会（イベント）の案内をLINEで配信</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2200" b="1" dirty="0">
                          <a:solidFill>
                            <a:srgbClr val="1F2A5C"/>
                          </a:solidFill>
                          <a:latin typeface="メイリオ" panose="020B0604030504040204" pitchFamily="50" charset="-128"/>
                          <a:ea typeface="メイリオ" panose="020B0604030504040204" pitchFamily="50" charset="-128"/>
                          <a:cs typeface="メイリオ"/>
                        </a:rPr>
                        <a:t>約7割</a:t>
                      </a:r>
                      <a:endParaRPr lang="ja-JP" altLang="en-US" sz="1300" dirty="0">
                        <a:latin typeface="メイリオ"/>
                        <a:ea typeface="メイリオ"/>
                        <a:cs typeface="メイリオ"/>
                      </a:endParaRPr>
                    </a:p>
                    <a:p>
                      <a:pPr algn="ctr">
                        <a:buNone/>
                      </a:pPr>
                      <a:r>
                        <a:rPr lang="ja-JP" altLang="en-US" sz="1100" b="0" dirty="0">
                          <a:solidFill>
                            <a:srgbClr val="333333"/>
                          </a:solidFill>
                          <a:latin typeface="メイリオ" panose="020B0604030504040204" pitchFamily="50" charset="-128"/>
                          <a:ea typeface="メイリオ" panose="020B0604030504040204" pitchFamily="50" charset="-128"/>
                          <a:cs typeface="メイリオ"/>
                        </a:rPr>
                        <a:t>見学会の参加者の入会率</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セミナー参加後に、サロンの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0" name="注記"/>
          <p:cNvSpPr/>
          <p:nvPr/>
        </p:nvSpPr>
        <p:spPr>
          <a:xfrm>
            <a:off x="420624" y="585216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※LINEヤフー for Business 掲載の導入事例（数値は各社調べ）。生命保険会社＝2024年4月・2025年2月公開、教室・スクール＝2021年8月公開</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2155798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8C43D-93AD-C213-ED4C-7741F0FE507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E72800AA-EBD7-DB78-DF5E-877E18C2F2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10683329-D426-0C34-21A1-BB46AEF49EBC}"/>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運用方針・全体導線</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206017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82CEA-3068-C260-29FA-52D10FA7F467}"/>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8B2265A6-2819-27E8-AA87-ACBFF2D49AD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要件定義</a:t>
            </a:r>
            <a:endParaRPr sz="1600" b="1" dirty="0">
              <a:solidFill>
                <a:srgbClr val="002060"/>
              </a:solidFill>
              <a:latin typeface="メイリオ"/>
              <a:ea typeface="メイリオ"/>
              <a:cs typeface="メイリオ"/>
              <a:sym typeface="Meiryo"/>
            </a:endParaRPr>
          </a:p>
        </p:txBody>
      </p:sp>
      <p:graphicFrame>
        <p:nvGraphicFramePr>
          <p:cNvPr id="46" name="要件定義 45"/>
          <p:cNvGraphicFramePr>
            <a:graphicFrameLocks noGrp="1"/>
          </p:cNvGraphicFramePr>
          <p:nvPr>
            <p:extLst>
              <p:ext uri="{D42A27DB-BD31-4B8C-83A1-F6EECF244321}">
                <p14:modId xmlns:p14="http://schemas.microsoft.com/office/powerpoint/2010/main" val="4270878370"/>
              </p:ext>
            </p:extLst>
          </p:nvPr>
        </p:nvGraphicFramePr>
        <p:xfrm>
          <a:off x="420624" y="1082040"/>
          <a:ext cx="9052560" cy="4434840"/>
        </p:xfrm>
        <a:graphic>
          <a:graphicData uri="http://schemas.openxmlformats.org/drawingml/2006/table">
            <a:tbl>
              <a:tblPr/>
              <a:tblGrid>
                <a:gridCol w="2011680">
                  <a:extLst>
                    <a:ext uri="{9D8B030D-6E8A-4147-A177-3AD203B41FA5}">
                      <a16:colId xmlns:a16="http://schemas.microsoft.com/office/drawing/2014/main" val="20000"/>
                    </a:ext>
                  </a:extLst>
                </a:gridCol>
                <a:gridCol w="7040880">
                  <a:extLst>
                    <a:ext uri="{9D8B030D-6E8A-4147-A177-3AD203B41FA5}">
                      <a16:colId xmlns:a16="http://schemas.microsoft.com/office/drawing/2014/main" val="20001"/>
                    </a:ext>
                  </a:extLst>
                </a:gridCol>
              </a:tblGrid>
              <a:tr h="73152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プロモーション目的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広告で獲得した見込み客をLINE公式アカウントに蓄積し、継続的な情報配信で、</a:t>
                      </a:r>
                      <a:endParaRPr lang="en-US" altLang="ja-JP" sz="1400" b="1" dirty="0">
                        <a:solidFill>
                          <a:srgbClr val="1F2A5C"/>
                        </a:solidFill>
                        <a:latin typeface="メイリオ" panose="020B0604030504040204" pitchFamily="50" charset="-128"/>
                        <a:ea typeface="メイリオ" panose="020B0604030504040204" pitchFamily="50" charset="-128"/>
                        <a:cs typeface="メイリオ"/>
                      </a:endParaRPr>
                    </a:p>
                    <a:p>
                      <a:pPr algn="l">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次回セミナーへの参加とオンラインサロンへの入会を増やす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中長期の目的</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入会後の継続利用・紹介にもLINEを活用し、LTV最大化をめざす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1"/>
                  </a:ext>
                </a:extLst>
              </a:tr>
              <a:tr h="41148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契約期間</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6か月（セミナー開催月と開催のない月で、配信内容と工数が変わる）</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配信目標</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友だちを増やし、ブロック率を抑えながら、セミナー参加・サロン入会につなげる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（6か月の想定は、概算お見積りに記載）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3"/>
                  </a:ext>
                </a:extLst>
              </a:tr>
              <a:tr h="128016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手法（ご提案）</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① 離脱防止ポップアップ（推奨）で、LPを離れる方を対象に</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　 予約完了後は、サンクスLINE誘導（追加オプション）または通常のご案内</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② 友だち追加直後・予約した方・参加後の段階ごとで、案内を変える</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③ 開催のない月は月1〜2回、開催月は月4〜5回の企画配信で、つながりを保つ</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14400">
                <a:tc>
                  <a:txBody>
                    <a:bodyPr/>
                    <a:lstStyle/>
                    <a:p>
                      <a:pPr algn="ctr">
                        <a:buNone/>
                      </a:pPr>
                      <a:r>
                        <a:rPr lang="ja-JP" altLang="en-US" sz="1400" b="1" dirty="0">
                          <a:solidFill>
                            <a:srgbClr val="1F2A5C"/>
                          </a:solidFill>
                          <a:latin typeface="メイリオ" panose="020B0604030504040204" pitchFamily="50" charset="-128"/>
                          <a:ea typeface="メイリオ" panose="020B0604030504040204" pitchFamily="50" charset="-128"/>
                          <a:cs typeface="メイリオ"/>
                        </a:rPr>
                        <a:t>＋αの施策</a:t>
                      </a:r>
                      <a:endParaRPr lang="ja-JP" altLang="en-US" sz="14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過去のセミナー予約者・参加者へのご案内（通知メッセージ）</a:t>
                      </a:r>
                      <a:endParaRPr lang="ja-JP" altLang="en-US" sz="1300" dirty="0">
                        <a:latin typeface="メイリオ"/>
                        <a:ea typeface="メイリオ"/>
                        <a:cs typeface="メイリオ"/>
                      </a:endParaRPr>
                    </a:p>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サロンの申込み完了ページからのLINE誘導（サンクスLINE誘導）</a:t>
                      </a:r>
                      <a:endParaRPr lang="ja-JP" altLang="en-US" sz="1300" dirty="0">
                        <a:latin typeface="メイリオ"/>
                        <a:ea typeface="メイリオ"/>
                        <a:cs typeface="メイリオ"/>
                      </a:endParaRPr>
                    </a:p>
                    <a:p>
                      <a:pPr algn="l">
                        <a:buNone/>
                      </a:pPr>
                      <a:r>
                        <a:rPr lang="ja-JP" altLang="en-US" sz="1100" b="0" dirty="0">
                          <a:solidFill>
                            <a:srgbClr val="7F7F7F"/>
                          </a:solidFill>
                          <a:latin typeface="メイリオ" panose="020B0604030504040204" pitchFamily="50" charset="-128"/>
                          <a:ea typeface="メイリオ" panose="020B0604030504040204" pitchFamily="50" charset="-128"/>
                          <a:cs typeface="メイリオ"/>
                        </a:rPr>
                        <a:t>※通知メッセージは、予約時の電話番号がある場合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3662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BE316-B5A0-8BF0-8055-8F5EB8BA81E4}"/>
            </a:ext>
          </a:extLst>
        </p:cNvPr>
        <p:cNvGrpSpPr/>
        <p:nvPr/>
      </p:nvGrpSpPr>
      <p:grpSpPr>
        <a:xfrm>
          <a:off x="0" y="0"/>
          <a:ext cx="0" cy="0"/>
          <a:chOff x="0" y="0"/>
          <a:chExt cx="0" cy="0"/>
        </a:xfrm>
      </p:grpSpPr>
      <p:sp>
        <p:nvSpPr>
          <p:cNvPr id="45" name="Google Shape;156;p7">
            <a:extLst>
              <a:ext uri="{FF2B5EF4-FFF2-40B4-BE49-F238E27FC236}">
                <a16:creationId xmlns:a16="http://schemas.microsoft.com/office/drawing/2014/main" id="{7D9E611B-4E41-7D55-FDAA-59D5455231E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運用方針</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一度集めた見込み客を蓄積し、継続的にアプローチできる仕組みを強化する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KEY TAKEAWAY 見出し"/>
          <p:cNvSpPr/>
          <p:nvPr/>
        </p:nvSpPr>
        <p:spPr>
          <a:xfrm>
            <a:off x="420624" y="1600200"/>
            <a:ext cx="2103120"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cs typeface="メイリオ"/>
              </a:rPr>
              <a:t>KEY TAKEAWAY</a:t>
            </a:r>
            <a:endParaRPr lang="ja-JP" altLang="en-US" sz="1200" dirty="0">
              <a:latin typeface="メイリオ"/>
              <a:ea typeface="メイリオ"/>
              <a:cs typeface="メイリオ"/>
            </a:endParaRPr>
          </a:p>
        </p:txBody>
      </p:sp>
      <p:sp>
        <p:nvSpPr>
          <p:cNvPr id="51" name="KEY TAKEAWAY"/>
          <p:cNvSpPr/>
          <p:nvPr/>
        </p:nvSpPr>
        <p:spPr>
          <a:xfrm>
            <a:off x="420624" y="1911095"/>
            <a:ext cx="9120232" cy="731520"/>
          </a:xfrm>
          <a:prstGeom prst="rect">
            <a:avLst/>
          </a:prstGeom>
          <a:solidFill>
            <a:srgbClr val="EEF1F8"/>
          </a:solidFill>
          <a:ln w="9525">
            <a:solidFill>
              <a:srgbClr val="1F2A5C"/>
            </a:solidFill>
          </a:ln>
        </p:spPr>
        <p:txBody>
          <a:bodyPr wrap="square" lIns="73152" tIns="36576" rIns="73152" bIns="36576" rtlCol="0" anchor="ctr">
            <a:noAutofit/>
          </a:bodyPr>
          <a:lstStyle/>
          <a:p>
            <a:pPr algn="ctr">
              <a:buNone/>
            </a:pPr>
            <a:r>
              <a:rPr lang="ja-JP" altLang="en-US" sz="2000" b="1" dirty="0">
                <a:solidFill>
                  <a:srgbClr val="1F2A5C"/>
                </a:solidFill>
                <a:latin typeface="メイリオ" panose="020B0604030504040204" pitchFamily="50" charset="-128"/>
                <a:ea typeface="メイリオ" panose="020B0604030504040204" pitchFamily="50" charset="-128"/>
                <a:cs typeface="メイリオ"/>
              </a:rPr>
              <a:t>イベント開催時だけでない時期にも継続して情報を届ける</a:t>
            </a:r>
            <a:endParaRPr lang="ja-JP" altLang="en-US" sz="1200" dirty="0">
              <a:latin typeface="メイリオ"/>
              <a:ea typeface="メイリオ"/>
              <a:cs typeface="メイリオ"/>
            </a:endParaRPr>
          </a:p>
        </p:txBody>
      </p:sp>
      <p:graphicFrame>
        <p:nvGraphicFramePr>
          <p:cNvPr id="52" name="3つのポイント 51"/>
          <p:cNvGraphicFramePr>
            <a:graphicFrameLocks noGrp="1"/>
          </p:cNvGraphicFramePr>
          <p:nvPr>
            <p:extLst>
              <p:ext uri="{D42A27DB-BD31-4B8C-83A1-F6EECF244321}">
                <p14:modId xmlns:p14="http://schemas.microsoft.com/office/powerpoint/2010/main" val="2678730967"/>
              </p:ext>
            </p:extLst>
          </p:nvPr>
        </p:nvGraphicFramePr>
        <p:xfrm>
          <a:off x="420623" y="2926080"/>
          <a:ext cx="9120233" cy="2834640"/>
        </p:xfrm>
        <a:graphic>
          <a:graphicData uri="http://schemas.openxmlformats.org/drawingml/2006/table">
            <a:tbl>
              <a:tblPr/>
              <a:tblGrid>
                <a:gridCol w="1566101">
                  <a:extLst>
                    <a:ext uri="{9D8B030D-6E8A-4147-A177-3AD203B41FA5}">
                      <a16:colId xmlns:a16="http://schemas.microsoft.com/office/drawing/2014/main" val="20000"/>
                    </a:ext>
                  </a:extLst>
                </a:gridCol>
                <a:gridCol w="2487336">
                  <a:extLst>
                    <a:ext uri="{9D8B030D-6E8A-4147-A177-3AD203B41FA5}">
                      <a16:colId xmlns:a16="http://schemas.microsoft.com/office/drawing/2014/main" val="20001"/>
                    </a:ext>
                  </a:extLst>
                </a:gridCol>
                <a:gridCol w="3869190">
                  <a:extLst>
                    <a:ext uri="{9D8B030D-6E8A-4147-A177-3AD203B41FA5}">
                      <a16:colId xmlns:a16="http://schemas.microsoft.com/office/drawing/2014/main" val="20002"/>
                    </a:ext>
                  </a:extLst>
                </a:gridCol>
                <a:gridCol w="1197606">
                  <a:extLst>
                    <a:ext uri="{9D8B030D-6E8A-4147-A177-3AD203B41FA5}">
                      <a16:colId xmlns:a16="http://schemas.microsoft.com/office/drawing/2014/main" val="20003"/>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強化するポイント</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打ち手</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伸ばす数字</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01 集める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LPを見た方・予約した方と、LINEでつながる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・離脱防止ポップアップで友だちに</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・予約者はサンクスLINE誘導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02 届け続ける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開催月・開催のない月</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それぞれに合わせて届ける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・予約した方へ、前日・当日のリマインド</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予約・参加数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82296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03 つなげる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参加後、関心が高いうちに</a:t>
                      </a:r>
                      <a:endParaRPr lang="en-US" altLang="ja-JP" sz="13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サロン入会を案内する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・参加後に、振り返りとサロンの内容をご案内</a:t>
                      </a:r>
                      <a:endParaRPr lang="ja-JP" altLang="en-US" sz="13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・受講生の声で、入会の判断材料を届ける</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入会数</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7295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全体導線：広告で集め、LINEで育て、セミナー参加・サロン入会へ</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広告による新規集客と、LINEによる継続的な顧客育成を組み合わせる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広告の領域"/>
          <p:cNvSpPr/>
          <p:nvPr/>
        </p:nvSpPr>
        <p:spPr>
          <a:xfrm>
            <a:off x="420624" y="1645920"/>
            <a:ext cx="2871215" cy="310896"/>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広告（新規集客）</a:t>
            </a:r>
            <a:endParaRPr lang="ja-JP" altLang="en-US" sz="1200" dirty="0">
              <a:latin typeface="メイリオ"/>
              <a:ea typeface="メイリオ"/>
              <a:cs typeface="メイリオ"/>
            </a:endParaRPr>
          </a:p>
        </p:txBody>
      </p:sp>
      <p:sp>
        <p:nvSpPr>
          <p:cNvPr id="51" name="LINEの領域"/>
          <p:cNvSpPr/>
          <p:nvPr/>
        </p:nvSpPr>
        <p:spPr>
          <a:xfrm>
            <a:off x="3511296" y="1645920"/>
            <a:ext cx="5961888" cy="310896"/>
          </a:xfrm>
          <a:prstGeom prst="rect">
            <a:avLst/>
          </a:prstGeom>
          <a:solidFill>
            <a:srgbClr val="06C755"/>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LINE公式アカウント（継続的な顧客育成）</a:t>
            </a:r>
            <a:endParaRPr lang="ja-JP" altLang="en-US" sz="1200" dirty="0">
              <a:latin typeface="メイリオ"/>
              <a:ea typeface="メイリオ"/>
              <a:cs typeface="メイリオ"/>
            </a:endParaRPr>
          </a:p>
        </p:txBody>
      </p:sp>
      <p:sp>
        <p:nvSpPr>
          <p:cNvPr id="52" name="導線 広告"/>
          <p:cNvSpPr/>
          <p:nvPr/>
        </p:nvSpPr>
        <p:spPr>
          <a:xfrm>
            <a:off x="420624"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広告</a:t>
            </a:r>
            <a:endParaRPr lang="ja-JP" altLang="en-US" sz="1200" dirty="0">
              <a:latin typeface="メイリオ"/>
              <a:ea typeface="メイリオ"/>
              <a:cs typeface="メイリオ"/>
            </a:endParaRPr>
          </a:p>
        </p:txBody>
      </p:sp>
      <p:sp>
        <p:nvSpPr>
          <p:cNvPr id="53" name="導線の説明 広告"/>
          <p:cNvSpPr/>
          <p:nvPr/>
        </p:nvSpPr>
        <p:spPr>
          <a:xfrm>
            <a:off x="42062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広告などで、新しい見込み客と接点をつくる</a:t>
            </a:r>
            <a:endParaRPr lang="ja-JP" altLang="en-US" sz="1200" dirty="0">
              <a:latin typeface="メイリオ"/>
              <a:ea typeface="メイリオ"/>
              <a:cs typeface="メイリオ"/>
            </a:endParaRPr>
          </a:p>
        </p:txBody>
      </p:sp>
      <p:sp>
        <p:nvSpPr>
          <p:cNvPr id="54" name="矢印"/>
          <p:cNvSpPr/>
          <p:nvPr/>
        </p:nvSpPr>
        <p:spPr>
          <a:xfrm>
            <a:off x="1746504"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5" name="導線 セミナーLP"/>
          <p:cNvSpPr/>
          <p:nvPr/>
        </p:nvSpPr>
        <p:spPr>
          <a:xfrm>
            <a:off x="1965960" y="2057400"/>
            <a:ext cx="1325880" cy="685800"/>
          </a:xfrm>
          <a:prstGeom prst="rect">
            <a:avLst/>
          </a:prstGeom>
          <a:solidFill>
            <a:srgbClr val="1F2A5C"/>
          </a:solidFill>
          <a:ln>
            <a:noFill/>
          </a:ln>
        </p:spPr>
        <p:txBody>
          <a:bodyPr wrap="square" lIns="45720" tIns="27432" rIns="45720" bIns="27432"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セミナーLP</a:t>
            </a:r>
            <a:endParaRPr lang="ja-JP" altLang="en-US" sz="1200" dirty="0">
              <a:latin typeface="メイリオ"/>
              <a:ea typeface="メイリオ"/>
              <a:cs typeface="メイリオ"/>
            </a:endParaRPr>
          </a:p>
        </p:txBody>
      </p:sp>
      <p:sp>
        <p:nvSpPr>
          <p:cNvPr id="56" name="導線の説明 セミナーLP"/>
          <p:cNvSpPr/>
          <p:nvPr/>
        </p:nvSpPr>
        <p:spPr>
          <a:xfrm>
            <a:off x="1965960"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セミナーの内容を知り、予約につなげる</a:t>
            </a:r>
            <a:endParaRPr lang="ja-JP" altLang="en-US" sz="1200" dirty="0">
              <a:latin typeface="メイリオ"/>
              <a:ea typeface="メイリオ"/>
              <a:cs typeface="メイリオ"/>
            </a:endParaRPr>
          </a:p>
        </p:txBody>
      </p:sp>
      <p:sp>
        <p:nvSpPr>
          <p:cNvPr id="57" name="矢印"/>
          <p:cNvSpPr/>
          <p:nvPr/>
        </p:nvSpPr>
        <p:spPr>
          <a:xfrm>
            <a:off x="3291839"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58" name="導線 LINE友だち追加"/>
          <p:cNvSpPr/>
          <p:nvPr/>
        </p:nvSpPr>
        <p:spPr>
          <a:xfrm>
            <a:off x="3511296"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LINE友だち追加</a:t>
            </a:r>
            <a:endParaRPr lang="ja-JP" altLang="en-US" sz="1200" dirty="0">
              <a:latin typeface="メイリオ"/>
              <a:ea typeface="メイリオ"/>
              <a:cs typeface="メイリオ"/>
            </a:endParaRPr>
          </a:p>
        </p:txBody>
      </p:sp>
      <p:sp>
        <p:nvSpPr>
          <p:cNvPr id="59" name="導線の説明 LINE友だち追加"/>
          <p:cNvSpPr/>
          <p:nvPr/>
        </p:nvSpPr>
        <p:spPr>
          <a:xfrm>
            <a:off x="3511296"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予約完了後のご案内（サンクスLINE誘導は追加オプション）</a:t>
            </a:r>
            <a:endParaRPr lang="ja-JP" altLang="en-US" sz="1200" dirty="0">
              <a:latin typeface="メイリオ"/>
              <a:ea typeface="メイリオ"/>
              <a:cs typeface="メイリオ"/>
            </a:endParaRPr>
          </a:p>
        </p:txBody>
      </p:sp>
      <p:sp>
        <p:nvSpPr>
          <p:cNvPr id="60" name="矢印"/>
          <p:cNvSpPr/>
          <p:nvPr/>
        </p:nvSpPr>
        <p:spPr>
          <a:xfrm>
            <a:off x="4837176"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1" name="導線 継続的な情報配信"/>
          <p:cNvSpPr/>
          <p:nvPr/>
        </p:nvSpPr>
        <p:spPr>
          <a:xfrm>
            <a:off x="5056632"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継続的な情報配信</a:t>
            </a:r>
            <a:endParaRPr lang="ja-JP" altLang="en-US" sz="1200" dirty="0">
              <a:latin typeface="メイリオ"/>
              <a:ea typeface="メイリオ"/>
              <a:cs typeface="メイリオ"/>
            </a:endParaRPr>
          </a:p>
        </p:txBody>
      </p:sp>
      <p:sp>
        <p:nvSpPr>
          <p:cNvPr id="62" name="導線の説明 継続的な情報配信"/>
          <p:cNvSpPr/>
          <p:nvPr/>
        </p:nvSpPr>
        <p:spPr>
          <a:xfrm>
            <a:off x="5056632"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あいさつ・見どころ動画・参加特典</a:t>
            </a:r>
            <a:endParaRPr lang="ja-JP" altLang="en-US" sz="1200" dirty="0">
              <a:latin typeface="メイリオ"/>
              <a:ea typeface="メイリオ"/>
              <a:cs typeface="メイリオ"/>
            </a:endParaRPr>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企画配信：開催のない月は月1〜2回／開催月は月4〜5回</a:t>
            </a:r>
            <a:endParaRPr lang="ja-JP" altLang="en-US" sz="1200" dirty="0">
              <a:latin typeface="メイリオ"/>
              <a:ea typeface="メイリオ"/>
              <a:cs typeface="メイリオ"/>
            </a:endParaRPr>
          </a:p>
        </p:txBody>
      </p:sp>
      <p:sp>
        <p:nvSpPr>
          <p:cNvPr id="63" name="矢印"/>
          <p:cNvSpPr/>
          <p:nvPr/>
        </p:nvSpPr>
        <p:spPr>
          <a:xfrm>
            <a:off x="6382512"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4" name="導線 セミナー予約・参加"/>
          <p:cNvSpPr/>
          <p:nvPr/>
        </p:nvSpPr>
        <p:spPr>
          <a:xfrm>
            <a:off x="6601968"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セミナー予約・参加</a:t>
            </a:r>
            <a:endParaRPr lang="ja-JP" altLang="en-US" sz="1200" dirty="0">
              <a:latin typeface="メイリオ"/>
              <a:ea typeface="メイリオ"/>
              <a:cs typeface="メイリオ"/>
            </a:endParaRPr>
          </a:p>
        </p:txBody>
      </p:sp>
      <p:sp>
        <p:nvSpPr>
          <p:cNvPr id="65" name="導線の説明 セミナー予約・参加"/>
          <p:cNvSpPr/>
          <p:nvPr/>
        </p:nvSpPr>
        <p:spPr>
          <a:xfrm>
            <a:off x="6601968"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p:txBody>
      </p:sp>
      <p:sp>
        <p:nvSpPr>
          <p:cNvPr id="66" name="矢印"/>
          <p:cNvSpPr/>
          <p:nvPr/>
        </p:nvSpPr>
        <p:spPr>
          <a:xfrm>
            <a:off x="7927848" y="2057400"/>
            <a:ext cx="219456" cy="685800"/>
          </a:xfrm>
          <a:prstGeom prst="rect">
            <a:avLst/>
          </a:prstGeom>
          <a:noFill/>
          <a:ln>
            <a:noFill/>
          </a:ln>
        </p:spPr>
        <p:txBody>
          <a:bodyPr wrap="square" lIns="0" tIns="0" rIns="0" bIns="0"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p:txBody>
      </p:sp>
      <p:sp>
        <p:nvSpPr>
          <p:cNvPr id="67" name="導線 オンラインサロン入会"/>
          <p:cNvSpPr/>
          <p:nvPr/>
        </p:nvSpPr>
        <p:spPr>
          <a:xfrm>
            <a:off x="8147304" y="2057400"/>
            <a:ext cx="1325880" cy="685800"/>
          </a:xfrm>
          <a:prstGeom prst="rect">
            <a:avLst/>
          </a:prstGeom>
          <a:solidFill>
            <a:srgbClr val="FFFFFF"/>
          </a:solidFill>
          <a:ln w="19050">
            <a:solidFill>
              <a:srgbClr val="06C755"/>
            </a:solidFill>
          </a:ln>
        </p:spPr>
        <p:txBody>
          <a:bodyPr wrap="square" lIns="45720" tIns="27432" rIns="45720" bIns="27432"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サロン入会</a:t>
            </a:r>
            <a:endParaRPr lang="ja-JP" altLang="en-US" sz="1200" dirty="0">
              <a:latin typeface="メイリオ"/>
              <a:ea typeface="メイリオ"/>
              <a:cs typeface="メイリオ"/>
            </a:endParaRPr>
          </a:p>
        </p:txBody>
      </p:sp>
      <p:sp>
        <p:nvSpPr>
          <p:cNvPr id="68" name="導線の説明 オンラインサロン入会"/>
          <p:cNvSpPr/>
          <p:nvPr/>
        </p:nvSpPr>
        <p:spPr>
          <a:xfrm>
            <a:off x="8147304" y="2834640"/>
            <a:ext cx="1325880" cy="169164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参加後の振り返り・サロンの内容紹介・入会のご案内</a:t>
            </a:r>
            <a:endParaRPr lang="ja-JP" altLang="en-US" sz="1200" dirty="0">
              <a:latin typeface="メイリオ"/>
              <a:ea typeface="メイリオ"/>
              <a:cs typeface="メイリオ"/>
            </a:endParaRPr>
          </a:p>
        </p:txBody>
      </p:sp>
      <p:sp>
        <p:nvSpPr>
          <p:cNvPr id="69" name="中長期"/>
          <p:cNvSpPr/>
          <p:nvPr/>
        </p:nvSpPr>
        <p:spPr>
          <a:xfrm>
            <a:off x="3511296" y="4754880"/>
            <a:ext cx="5961888" cy="457200"/>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中長期：入会後の継続利用・紹介にも、LINEでの情報配信を活用</a:t>
            </a:r>
            <a:endParaRPr lang="ja-JP" altLang="en-US" sz="1200" dirty="0">
              <a:latin typeface="メイリオ"/>
              <a:ea typeface="メイリオ"/>
              <a:cs typeface="メイリオ"/>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642A8-3E67-5B74-44A3-2319A4429A9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672B0F-F237-F0AD-0406-3F0B4D837466}"/>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6E4BBB3A-0D38-BEFA-41CE-475A3AD94E4B}"/>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F6061EA3-81DF-F127-35ED-8E76CB9BA87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想定動線（フェーズごとのLINEの役割）</a:t>
            </a:r>
            <a:endParaRPr sz="1600" b="1" dirty="0">
              <a:solidFill>
                <a:srgbClr val="002060"/>
              </a:solidFill>
              <a:latin typeface="メイリオ"/>
              <a:ea typeface="メイリオ"/>
              <a:cs typeface="メイリオ"/>
              <a:sym typeface="Meiryo"/>
            </a:endParaRPr>
          </a:p>
        </p:txBody>
      </p:sp>
      <p:cxnSp>
        <p:nvCxnSpPr>
          <p:cNvPr id="2" name="直線コネクタ 1">
            <a:extLst>
              <a:ext uri="{FF2B5EF4-FFF2-40B4-BE49-F238E27FC236}">
                <a16:creationId xmlns:a16="http://schemas.microsoft.com/office/drawing/2014/main" id="{4DFF8E60-181C-F552-91AA-8D421878A5E4}"/>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6" name="テキスト ボックス 5">
            <a:extLst>
              <a:ext uri="{FF2B5EF4-FFF2-40B4-BE49-F238E27FC236}">
                <a16:creationId xmlns:a16="http://schemas.microsoft.com/office/drawing/2014/main" id="{C90C3361-4E73-2E37-B42D-7BEC4ACEF81B}"/>
              </a:ext>
            </a:extLst>
          </p:cNvPr>
          <p:cNvSpPr txBox="1"/>
          <p:nvPr/>
        </p:nvSpPr>
        <p:spPr>
          <a:xfrm>
            <a:off x="3542139" y="2019663"/>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リード有効化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7" name="テキスト ボックス 6">
            <a:extLst>
              <a:ext uri="{FF2B5EF4-FFF2-40B4-BE49-F238E27FC236}">
                <a16:creationId xmlns:a16="http://schemas.microsoft.com/office/drawing/2014/main" id="{FFD30C49-34B0-02C4-AF70-B2CDE69444A5}"/>
              </a:ext>
            </a:extLst>
          </p:cNvPr>
          <p:cNvSpPr txBox="1"/>
          <p:nvPr/>
        </p:nvSpPr>
        <p:spPr>
          <a:xfrm>
            <a:off x="6119413" y="2428821"/>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⑦マネタイズ</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成約</a:t>
            </a:r>
            <a:r>
              <a:rPr lang="en-US" altLang="ja-JP" sz="1000" b="1" dirty="0">
                <a:latin typeface="メイリオ" panose="020B0604030504040204" pitchFamily="50" charset="-128"/>
                <a:ea typeface="メイリオ" panose="020B0604030504040204" pitchFamily="50" charset="-128"/>
                <a:cs typeface="メイリオ"/>
              </a:rPr>
              <a:t>/</a:t>
            </a:r>
            <a:r>
              <a:rPr lang="ja-JP" altLang="en-US" sz="1000" b="1" dirty="0">
                <a:latin typeface="メイリオ" panose="020B0604030504040204" pitchFamily="50" charset="-128"/>
                <a:ea typeface="メイリオ" panose="020B0604030504040204" pitchFamily="50" charset="-128"/>
                <a:cs typeface="メイリオ"/>
              </a:rPr>
              <a:t>購入</a:t>
            </a:r>
            <a:r>
              <a:rPr lang="en-US" altLang="ja-JP" sz="1000" b="1" dirty="0">
                <a:latin typeface="メイリオ" panose="020B0604030504040204" pitchFamily="50" charset="-128"/>
                <a:ea typeface="メイリオ" panose="020B0604030504040204" pitchFamily="50" charset="-128"/>
                <a:cs typeface="メイリオ"/>
              </a:rPr>
              <a:t>)</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48603E9D-0741-5356-E71D-C1FC418F0477}"/>
              </a:ext>
            </a:extLst>
          </p:cNvPr>
          <p:cNvSpPr txBox="1"/>
          <p:nvPr/>
        </p:nvSpPr>
        <p:spPr>
          <a:xfrm>
            <a:off x="4830776" y="2224242"/>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有効リードの再育成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9" name="テキスト ボックス 8">
            <a:extLst>
              <a:ext uri="{FF2B5EF4-FFF2-40B4-BE49-F238E27FC236}">
                <a16:creationId xmlns:a16="http://schemas.microsoft.com/office/drawing/2014/main" id="{5510780C-7296-C3F4-8C4C-3E6051AD3A79}"/>
              </a:ext>
            </a:extLst>
          </p:cNvPr>
          <p:cNvSpPr txBox="1"/>
          <p:nvPr/>
        </p:nvSpPr>
        <p:spPr>
          <a:xfrm>
            <a:off x="7408050" y="2633400"/>
            <a:ext cx="2352196" cy="400110"/>
          </a:xfrm>
          <a:prstGeom prst="rect">
            <a:avLst/>
          </a:prstGeom>
          <a:solidFill>
            <a:schemeClr val="bg1">
              <a:lumMod val="65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a:t>
            </a:r>
            <a:r>
              <a:rPr lang="en-US" altLang="ja-JP" sz="1100" dirty="0">
                <a:latin typeface="メイリオ" panose="020B0604030504040204" pitchFamily="50" charset="-128"/>
                <a:ea typeface="メイリオ" panose="020B0604030504040204" pitchFamily="50" charset="-128"/>
                <a:cs typeface="メイリオ"/>
              </a:rPr>
              <a:t>LTV</a:t>
            </a:r>
            <a:r>
              <a:rPr lang="ja-JP" altLang="en-US" sz="1100" dirty="0">
                <a:latin typeface="メイリオ" panose="020B0604030504040204" pitchFamily="50" charset="-128"/>
                <a:ea typeface="メイリオ" panose="020B0604030504040204" pitchFamily="50" charset="-128"/>
                <a:cs typeface="メイリオ"/>
              </a:rPr>
              <a:t>最大化・紹介</a:t>
            </a:r>
            <a:endParaRPr lang="en-US" altLang="ja-JP" sz="1100" dirty="0">
              <a:latin typeface="メイリオ" panose="020B0604030504040204" pitchFamily="50" charset="-128"/>
              <a:ea typeface="メイリオ" panose="020B0604030504040204" pitchFamily="50" charset="-128"/>
              <a:cs typeface="メイリオ"/>
            </a:endParaRPr>
          </a:p>
          <a:p>
            <a:pPr>
              <a:buNone/>
            </a:pPr>
            <a:endParaRPr lang="ja-JP" altLang="ja-JP" sz="900" dirty="0">
              <a:latin typeface="メイリオ" panose="020B0604030504040204" pitchFamily="50" charset="-128"/>
              <a:ea typeface="メイリオ" panose="020B0604030504040204" pitchFamily="50" charset="-128"/>
              <a:cs typeface="メイリオ"/>
            </a:endParaRPr>
          </a:p>
        </p:txBody>
      </p:sp>
      <p:sp>
        <p:nvSpPr>
          <p:cNvPr id="10" name="テキスト ボックス 9">
            <a:extLst>
              <a:ext uri="{FF2B5EF4-FFF2-40B4-BE49-F238E27FC236}">
                <a16:creationId xmlns:a16="http://schemas.microsoft.com/office/drawing/2014/main" id="{22893D84-2009-2D10-A58D-4D15D44E30A4}"/>
              </a:ext>
            </a:extLst>
          </p:cNvPr>
          <p:cNvSpPr txBox="1"/>
          <p:nvPr/>
        </p:nvSpPr>
        <p:spPr>
          <a:xfrm>
            <a:off x="334303" y="2025996"/>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接触（認知・流入）</a:t>
            </a:r>
          </a:p>
        </p:txBody>
      </p:sp>
      <p:sp>
        <p:nvSpPr>
          <p:cNvPr id="11" name="テキスト ボックス 10">
            <a:extLst>
              <a:ext uri="{FF2B5EF4-FFF2-40B4-BE49-F238E27FC236}">
                <a16:creationId xmlns:a16="http://schemas.microsoft.com/office/drawing/2014/main" id="{23C7633E-5748-2D3A-84BA-79804E06BD11}"/>
              </a:ext>
            </a:extLst>
          </p:cNvPr>
          <p:cNvSpPr txBox="1"/>
          <p:nvPr/>
        </p:nvSpPr>
        <p:spPr>
          <a:xfrm>
            <a:off x="1268358" y="2236658"/>
            <a:ext cx="1868111" cy="348203"/>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サイト離脱</a:t>
            </a:r>
            <a:r>
              <a:rPr lang="ja-JP" altLang="en-US" sz="1100" dirty="0">
                <a:latin typeface="メイリオ" panose="020B0604030504040204" pitchFamily="50" charset="-128"/>
                <a:ea typeface="メイリオ" panose="020B0604030504040204" pitchFamily="50" charset="-128"/>
                <a:cs typeface="メイリオ"/>
              </a:rPr>
              <a:t>（対策）</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12" name="テキスト ボックス 11">
            <a:extLst>
              <a:ext uri="{FF2B5EF4-FFF2-40B4-BE49-F238E27FC236}">
                <a16:creationId xmlns:a16="http://schemas.microsoft.com/office/drawing/2014/main" id="{0FF28B09-D075-F525-81E8-9E46FD2E18CC}"/>
              </a:ext>
            </a:extLst>
          </p:cNvPr>
          <p:cNvSpPr txBox="1"/>
          <p:nvPr/>
        </p:nvSpPr>
        <p:spPr>
          <a:xfrm>
            <a:off x="2202413" y="2430519"/>
            <a:ext cx="1868111" cy="383023"/>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育成（興味</a:t>
            </a:r>
            <a:r>
              <a:rPr lang="ja-JP" altLang="en-US" sz="1100" b="1" dirty="0">
                <a:latin typeface="メイリオ" panose="020B0604030504040204" pitchFamily="50" charset="-128"/>
                <a:ea typeface="メイリオ" panose="020B0604030504040204" pitchFamily="50" charset="-128"/>
                <a:cs typeface="メイリオ"/>
              </a:rPr>
              <a:t>喚起</a:t>
            </a:r>
            <a:r>
              <a:rPr lang="ja-JP" altLang="ja-JP" sz="1100" b="1" dirty="0">
                <a:latin typeface="メイリオ" panose="020B0604030504040204" pitchFamily="50" charset="-128"/>
                <a:ea typeface="メイリオ" panose="020B0604030504040204" pitchFamily="50" charset="-128"/>
                <a:cs typeface="メイリオ"/>
              </a:rPr>
              <a:t>）</a:t>
            </a:r>
          </a:p>
        </p:txBody>
      </p:sp>
      <p:sp>
        <p:nvSpPr>
          <p:cNvPr id="13" name="テキスト ボックス 12">
            <a:extLst>
              <a:ext uri="{FF2B5EF4-FFF2-40B4-BE49-F238E27FC236}">
                <a16:creationId xmlns:a16="http://schemas.microsoft.com/office/drawing/2014/main" id="{16BD59AA-351D-314F-6C74-5744411BB09A}"/>
              </a:ext>
            </a:extLst>
          </p:cNvPr>
          <p:cNvSpPr txBox="1"/>
          <p:nvPr/>
        </p:nvSpPr>
        <p:spPr>
          <a:xfrm>
            <a:off x="3136468" y="2626872"/>
            <a:ext cx="1868111" cy="383023"/>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④リード獲得 </a:t>
            </a:r>
            <a:r>
              <a:rPr lang="en-US" altLang="ja-JP" sz="900" b="1" dirty="0">
                <a:latin typeface="メイリオ" panose="020B0604030504040204" pitchFamily="50" charset="-128"/>
                <a:ea typeface="メイリオ" panose="020B0604030504040204" pitchFamily="50" charset="-128"/>
                <a:cs typeface="メイリオ"/>
              </a:rPr>
              <a:t>(web/LINE)</a:t>
            </a:r>
            <a:endParaRPr lang="ja-JP" altLang="ja-JP" sz="1050" b="1" dirty="0">
              <a:latin typeface="メイリオ" panose="020B0604030504040204" pitchFamily="50" charset="-128"/>
              <a:ea typeface="メイリオ" panose="020B0604030504040204" pitchFamily="50" charset="-128"/>
              <a:cs typeface="メイリオ"/>
            </a:endParaRPr>
          </a:p>
        </p:txBody>
      </p:sp>
      <p:cxnSp>
        <p:nvCxnSpPr>
          <p:cNvPr id="14" name="コネクタ: カギ線 13">
            <a:extLst>
              <a:ext uri="{FF2B5EF4-FFF2-40B4-BE49-F238E27FC236}">
                <a16:creationId xmlns:a16="http://schemas.microsoft.com/office/drawing/2014/main" id="{7CD2930D-6317-C65A-EBFA-3A24A7BB98EE}"/>
              </a:ext>
            </a:extLst>
          </p:cNvPr>
          <p:cNvCxnSpPr>
            <a:cxnSpLocks/>
            <a:stCxn id="13" idx="0"/>
            <a:endCxn id="6" idx="2"/>
          </p:cNvCxnSpPr>
          <p:nvPr/>
        </p:nvCxnSpPr>
        <p:spPr>
          <a:xfrm rot="5400000" flipH="1" flipV="1">
            <a:off x="4282287" y="2389919"/>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FB4E9283-AFFE-D736-E74D-1988664432CA}"/>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6" name="直線矢印コネクタ 15">
            <a:extLst>
              <a:ext uri="{FF2B5EF4-FFF2-40B4-BE49-F238E27FC236}">
                <a16:creationId xmlns:a16="http://schemas.microsoft.com/office/drawing/2014/main" id="{A823DE0C-5E87-D9B3-1B01-A8A108957A34}"/>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F10F5A5D-3ADF-7E9F-1184-B3E6D3B235ED}"/>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19" name="テキスト ボックス 18">
            <a:extLst>
              <a:ext uri="{FF2B5EF4-FFF2-40B4-BE49-F238E27FC236}">
                <a16:creationId xmlns:a16="http://schemas.microsoft.com/office/drawing/2014/main" id="{66008B0A-0A1F-2AD8-1A0D-BF496D4F453D}"/>
              </a:ext>
            </a:extLst>
          </p:cNvPr>
          <p:cNvSpPr txBox="1"/>
          <p:nvPr/>
        </p:nvSpPr>
        <p:spPr>
          <a:xfrm>
            <a:off x="181151" y="707743"/>
            <a:ext cx="9476706" cy="307777"/>
          </a:xfrm>
          <a:prstGeom prst="rect">
            <a:avLst/>
          </a:prstGeom>
          <a:noFill/>
        </p:spPr>
        <p:txBody>
          <a:bodyPr wrap="square">
            <a:spAutoFit/>
          </a:bodyPr>
          <a:lstStyle/>
          <a:p>
            <a:pPr marL="228600">
              <a:spcAft>
                <a:spcPts val="800"/>
              </a:spcAft>
              <a:buNone/>
            </a:pP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8</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フェーズごとのユーザー心理・離脱課題・</a:t>
            </a:r>
            <a:r>
              <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rPr>
              <a:t>LINE OA</a:t>
            </a:r>
            <a:r>
              <a:rPr lang="ja-JP" altLang="en-US" sz="1400" dirty="0">
                <a:effectLst/>
                <a:latin typeface="メイリオ" panose="02020603050405020304" pitchFamily="18" charset="0"/>
                <a:ea typeface="メイリオ" panose="020B0604030504040204" pitchFamily="50" charset="-128"/>
                <a:cs typeface="メイリオ" panose="020B0604030504040204" pitchFamily="50" charset="-128"/>
              </a:rPr>
              <a:t>の役割を一覧化し、以降の施策設計の土台とする。</a:t>
            </a:r>
            <a:endParaRPr lang="ja-JP" altLang="ja-JP" sz="1100" dirty="0">
              <a:effectLst/>
              <a:latin typeface="メイリオ" panose="02020603050405020304" pitchFamily="18" charset="0"/>
              <a:ea typeface="メイリオ" panose="02020400000000000000" pitchFamily="18" charset="-128"/>
              <a:cs typeface="メイリオ"/>
            </a:endParaRPr>
          </a:p>
        </p:txBody>
      </p:sp>
      <p:sp>
        <p:nvSpPr>
          <p:cNvPr id="46" name="Rectangle 45"/>
          <p:cNvSpPr/>
          <p:nvPr/>
        </p:nvSpPr>
        <p:spPr>
          <a:xfrm>
            <a:off x="384048" y="3154680"/>
            <a:ext cx="1371600" cy="749807"/>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1F285A"/>
                </a:solidFill>
                <a:latin typeface="メイリオ"/>
                <a:ea typeface="メイリオ"/>
                <a:cs typeface="メイリオ"/>
              </a:rPr>
              <a:t>① 接触</a:t>
            </a:r>
          </a:p>
          <a:p>
            <a:pPr algn="ctr">
              <a:lnSpc>
                <a:spcPct val="110000"/>
              </a:lnSpc>
              <a:spcAft>
                <a:spcPts val="0"/>
              </a:spcAft>
            </a:pPr>
            <a:r>
              <a:rPr sz="1050" b="1">
                <a:solidFill>
                  <a:srgbClr val="1F285A"/>
                </a:solidFill>
                <a:latin typeface="メイリオ"/>
                <a:ea typeface="メイリオ"/>
                <a:cs typeface="メイリオ"/>
              </a:rPr>
              <a:t>（認知・流入）</a:t>
            </a:r>
          </a:p>
        </p:txBody>
      </p:sp>
      <p:sp>
        <p:nvSpPr>
          <p:cNvPr id="47" name="TextBox 46"/>
          <p:cNvSpPr txBox="1"/>
          <p:nvPr/>
        </p:nvSpPr>
        <p:spPr>
          <a:xfrm>
            <a:off x="1828800" y="3200400"/>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心理</a:t>
            </a:r>
          </a:p>
        </p:txBody>
      </p:sp>
      <p:sp>
        <p:nvSpPr>
          <p:cNvPr id="48" name="TextBox 47"/>
          <p:cNvSpPr txBox="1"/>
          <p:nvPr/>
        </p:nvSpPr>
        <p:spPr>
          <a:xfrm>
            <a:off x="2395728" y="3200400"/>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営業力を上げたい・情報収集中</a:t>
            </a:r>
          </a:p>
        </p:txBody>
      </p:sp>
      <p:sp>
        <p:nvSpPr>
          <p:cNvPr id="49" name="TextBox 48"/>
          <p:cNvSpPr txBox="1"/>
          <p:nvPr/>
        </p:nvSpPr>
        <p:spPr>
          <a:xfrm>
            <a:off x="1828800" y="3419856"/>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離脱課題</a:t>
            </a:r>
          </a:p>
        </p:txBody>
      </p:sp>
      <p:sp>
        <p:nvSpPr>
          <p:cNvPr id="50" name="TextBox 49"/>
          <p:cNvSpPr txBox="1"/>
          <p:nvPr/>
        </p:nvSpPr>
        <p:spPr>
          <a:xfrm>
            <a:off x="2395728" y="3419856"/>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日程が合わず、申し込まない</a:t>
            </a:r>
          </a:p>
        </p:txBody>
      </p:sp>
      <p:sp>
        <p:nvSpPr>
          <p:cNvPr id="51" name="TextBox 50"/>
          <p:cNvSpPr txBox="1"/>
          <p:nvPr/>
        </p:nvSpPr>
        <p:spPr>
          <a:xfrm>
            <a:off x="1828800" y="3639312"/>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1">
                <a:solidFill>
                  <a:srgbClr val="1F285A"/>
                </a:solidFill>
                <a:latin typeface="メイリオ"/>
                <a:ea typeface="メイリオ"/>
                <a:cs typeface="メイリオ"/>
              </a:rPr>
              <a:t>LINE</a:t>
            </a:r>
          </a:p>
        </p:txBody>
      </p:sp>
      <p:sp>
        <p:nvSpPr>
          <p:cNvPr id="52" name="TextBox 51"/>
          <p:cNvSpPr txBox="1"/>
          <p:nvPr/>
        </p:nvSpPr>
        <p:spPr>
          <a:xfrm>
            <a:off x="2395728" y="3639312"/>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1">
                <a:solidFill>
                  <a:srgbClr val="1F285A"/>
                </a:solidFill>
                <a:latin typeface="メイリオ"/>
                <a:ea typeface="メイリオ"/>
                <a:cs typeface="メイリオ"/>
              </a:rPr>
              <a:t>離脱防止ポップアップ（推奨）</a:t>
            </a:r>
          </a:p>
        </p:txBody>
      </p:sp>
      <p:cxnSp>
        <p:nvCxnSpPr>
          <p:cNvPr id="53" name="Connector 52"/>
          <p:cNvCxnSpPr/>
          <p:nvPr/>
        </p:nvCxnSpPr>
        <p:spPr>
          <a:xfrm>
            <a:off x="384048" y="3941064"/>
            <a:ext cx="459943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54" name="Rectangle 53"/>
          <p:cNvSpPr/>
          <p:nvPr/>
        </p:nvSpPr>
        <p:spPr>
          <a:xfrm>
            <a:off x="384048" y="3977640"/>
            <a:ext cx="1371600" cy="749807"/>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1F285A"/>
                </a:solidFill>
                <a:latin typeface="メイリオ"/>
                <a:ea typeface="メイリオ"/>
                <a:cs typeface="メイリオ"/>
              </a:rPr>
              <a:t>② サイト離脱</a:t>
            </a:r>
          </a:p>
          <a:p>
            <a:pPr algn="ctr">
              <a:lnSpc>
                <a:spcPct val="110000"/>
              </a:lnSpc>
              <a:spcAft>
                <a:spcPts val="0"/>
              </a:spcAft>
            </a:pPr>
            <a:r>
              <a:rPr sz="1050" b="1">
                <a:solidFill>
                  <a:srgbClr val="1F285A"/>
                </a:solidFill>
                <a:latin typeface="メイリオ"/>
                <a:ea typeface="メイリオ"/>
                <a:cs typeface="メイリオ"/>
              </a:rPr>
              <a:t>（対策）</a:t>
            </a:r>
          </a:p>
        </p:txBody>
      </p:sp>
      <p:sp>
        <p:nvSpPr>
          <p:cNvPr id="55" name="TextBox 54"/>
          <p:cNvSpPr txBox="1"/>
          <p:nvPr/>
        </p:nvSpPr>
        <p:spPr>
          <a:xfrm>
            <a:off x="1828800" y="4023359"/>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心理</a:t>
            </a:r>
          </a:p>
        </p:txBody>
      </p:sp>
      <p:sp>
        <p:nvSpPr>
          <p:cNvPr id="56" name="TextBox 55"/>
          <p:cNvSpPr txBox="1"/>
          <p:nvPr/>
        </p:nvSpPr>
        <p:spPr>
          <a:xfrm>
            <a:off x="2395728" y="4023359"/>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今回は申し込まない</a:t>
            </a:r>
          </a:p>
        </p:txBody>
      </p:sp>
      <p:sp>
        <p:nvSpPr>
          <p:cNvPr id="57" name="TextBox 56"/>
          <p:cNvSpPr txBox="1"/>
          <p:nvPr/>
        </p:nvSpPr>
        <p:spPr>
          <a:xfrm>
            <a:off x="1828800" y="4242816"/>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離脱課題</a:t>
            </a:r>
          </a:p>
        </p:txBody>
      </p:sp>
      <p:sp>
        <p:nvSpPr>
          <p:cNvPr id="58" name="TextBox 57"/>
          <p:cNvSpPr txBox="1"/>
          <p:nvPr/>
        </p:nvSpPr>
        <p:spPr>
          <a:xfrm>
            <a:off x="2395728" y="4242816"/>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次の開催まで関心が続きにくい</a:t>
            </a:r>
          </a:p>
        </p:txBody>
      </p:sp>
      <p:sp>
        <p:nvSpPr>
          <p:cNvPr id="59" name="TextBox 58"/>
          <p:cNvSpPr txBox="1"/>
          <p:nvPr/>
        </p:nvSpPr>
        <p:spPr>
          <a:xfrm>
            <a:off x="1828800" y="4462271"/>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1">
                <a:solidFill>
                  <a:srgbClr val="1F285A"/>
                </a:solidFill>
                <a:latin typeface="メイリオ"/>
                <a:ea typeface="メイリオ"/>
                <a:cs typeface="メイリオ"/>
              </a:rPr>
              <a:t>LINE</a:t>
            </a:r>
          </a:p>
        </p:txBody>
      </p:sp>
      <p:sp>
        <p:nvSpPr>
          <p:cNvPr id="60" name="TextBox 59"/>
          <p:cNvSpPr txBox="1"/>
          <p:nvPr/>
        </p:nvSpPr>
        <p:spPr>
          <a:xfrm>
            <a:off x="2395728" y="4462271"/>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1">
                <a:solidFill>
                  <a:srgbClr val="1F285A"/>
                </a:solidFill>
                <a:latin typeface="メイリオ"/>
                <a:ea typeface="メイリオ"/>
                <a:cs typeface="メイリオ"/>
              </a:rPr>
              <a:t>ポップアップからLINE友だち化</a:t>
            </a:r>
          </a:p>
        </p:txBody>
      </p:sp>
      <p:cxnSp>
        <p:nvCxnSpPr>
          <p:cNvPr id="61" name="Connector 60"/>
          <p:cNvCxnSpPr/>
          <p:nvPr/>
        </p:nvCxnSpPr>
        <p:spPr>
          <a:xfrm>
            <a:off x="384048" y="4764024"/>
            <a:ext cx="459943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62" name="Rectangle 61"/>
          <p:cNvSpPr/>
          <p:nvPr/>
        </p:nvSpPr>
        <p:spPr>
          <a:xfrm>
            <a:off x="384048" y="4800600"/>
            <a:ext cx="1371600" cy="749807"/>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1F285A"/>
                </a:solidFill>
                <a:latin typeface="メイリオ"/>
                <a:ea typeface="メイリオ"/>
                <a:cs typeface="メイリオ"/>
              </a:rPr>
              <a:t>③ 育成</a:t>
            </a:r>
          </a:p>
          <a:p>
            <a:pPr algn="ctr">
              <a:lnSpc>
                <a:spcPct val="110000"/>
              </a:lnSpc>
              <a:spcAft>
                <a:spcPts val="0"/>
              </a:spcAft>
            </a:pPr>
            <a:r>
              <a:rPr sz="1050" b="1">
                <a:solidFill>
                  <a:srgbClr val="1F285A"/>
                </a:solidFill>
                <a:latin typeface="メイリオ"/>
                <a:ea typeface="メイリオ"/>
                <a:cs typeface="メイリオ"/>
              </a:rPr>
              <a:t>（興味喚起）</a:t>
            </a:r>
          </a:p>
        </p:txBody>
      </p:sp>
      <p:sp>
        <p:nvSpPr>
          <p:cNvPr id="63" name="TextBox 62"/>
          <p:cNvSpPr txBox="1"/>
          <p:nvPr/>
        </p:nvSpPr>
        <p:spPr>
          <a:xfrm>
            <a:off x="1828800" y="4846320"/>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心理</a:t>
            </a:r>
          </a:p>
        </p:txBody>
      </p:sp>
      <p:sp>
        <p:nvSpPr>
          <p:cNvPr id="64" name="TextBox 63"/>
          <p:cNvSpPr txBox="1"/>
          <p:nvPr/>
        </p:nvSpPr>
        <p:spPr>
          <a:xfrm>
            <a:off x="2395728" y="4846320"/>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どんなセミナーか分からない</a:t>
            </a:r>
          </a:p>
        </p:txBody>
      </p:sp>
      <p:sp>
        <p:nvSpPr>
          <p:cNvPr id="65" name="TextBox 64"/>
          <p:cNvSpPr txBox="1"/>
          <p:nvPr/>
        </p:nvSpPr>
        <p:spPr>
          <a:xfrm>
            <a:off x="1828800" y="5065776"/>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離脱課題</a:t>
            </a:r>
          </a:p>
        </p:txBody>
      </p:sp>
      <p:sp>
        <p:nvSpPr>
          <p:cNvPr id="66" name="TextBox 65"/>
          <p:cNvSpPr txBox="1"/>
          <p:nvPr/>
        </p:nvSpPr>
        <p:spPr>
          <a:xfrm>
            <a:off x="2395728" y="5065776"/>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中身が見えず、予約に進まない</a:t>
            </a:r>
          </a:p>
        </p:txBody>
      </p:sp>
      <p:sp>
        <p:nvSpPr>
          <p:cNvPr id="67" name="TextBox 66"/>
          <p:cNvSpPr txBox="1"/>
          <p:nvPr/>
        </p:nvSpPr>
        <p:spPr>
          <a:xfrm>
            <a:off x="1828800" y="5285231"/>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1">
                <a:solidFill>
                  <a:srgbClr val="1F285A"/>
                </a:solidFill>
                <a:latin typeface="メイリオ"/>
                <a:ea typeface="メイリオ"/>
                <a:cs typeface="メイリオ"/>
              </a:rPr>
              <a:t>LINE</a:t>
            </a:r>
          </a:p>
        </p:txBody>
      </p:sp>
      <p:sp>
        <p:nvSpPr>
          <p:cNvPr id="68" name="TextBox 67"/>
          <p:cNvSpPr txBox="1"/>
          <p:nvPr/>
        </p:nvSpPr>
        <p:spPr>
          <a:xfrm>
            <a:off x="2395728" y="5285231"/>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1">
                <a:solidFill>
                  <a:srgbClr val="1F285A"/>
                </a:solidFill>
                <a:latin typeface="メイリオ"/>
                <a:ea typeface="メイリオ"/>
                <a:cs typeface="メイリオ"/>
              </a:rPr>
              <a:t>見どころ・特典をステップ配信</a:t>
            </a:r>
          </a:p>
        </p:txBody>
      </p:sp>
      <p:cxnSp>
        <p:nvCxnSpPr>
          <p:cNvPr id="69" name="Connector 68"/>
          <p:cNvCxnSpPr/>
          <p:nvPr/>
        </p:nvCxnSpPr>
        <p:spPr>
          <a:xfrm>
            <a:off x="384048" y="5586984"/>
            <a:ext cx="459943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384048" y="5623560"/>
            <a:ext cx="1371600" cy="749807"/>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1F285A"/>
                </a:solidFill>
                <a:latin typeface="メイリオ"/>
                <a:ea typeface="メイリオ"/>
                <a:cs typeface="メイリオ"/>
              </a:rPr>
              <a:t>④ リード獲得</a:t>
            </a:r>
          </a:p>
          <a:p>
            <a:pPr algn="ctr">
              <a:lnSpc>
                <a:spcPct val="110000"/>
              </a:lnSpc>
              <a:spcAft>
                <a:spcPts val="0"/>
              </a:spcAft>
            </a:pPr>
            <a:r>
              <a:rPr sz="1050" b="1">
                <a:solidFill>
                  <a:srgbClr val="1F285A"/>
                </a:solidFill>
                <a:latin typeface="メイリオ"/>
                <a:ea typeface="メイリオ"/>
                <a:cs typeface="メイリオ"/>
              </a:rPr>
              <a:t>(web/LINE)</a:t>
            </a:r>
          </a:p>
        </p:txBody>
      </p:sp>
      <p:sp>
        <p:nvSpPr>
          <p:cNvPr id="71" name="TextBox 70"/>
          <p:cNvSpPr txBox="1"/>
          <p:nvPr/>
        </p:nvSpPr>
        <p:spPr>
          <a:xfrm>
            <a:off x="1828800" y="5669280"/>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心理</a:t>
            </a:r>
          </a:p>
        </p:txBody>
      </p:sp>
      <p:sp>
        <p:nvSpPr>
          <p:cNvPr id="72" name="TextBox 71"/>
          <p:cNvSpPr txBox="1"/>
          <p:nvPr/>
        </p:nvSpPr>
        <p:spPr>
          <a:xfrm>
            <a:off x="2395728" y="5669280"/>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セミナーを予約した</a:t>
            </a:r>
          </a:p>
        </p:txBody>
      </p:sp>
      <p:sp>
        <p:nvSpPr>
          <p:cNvPr id="73" name="TextBox 72"/>
          <p:cNvSpPr txBox="1"/>
          <p:nvPr/>
        </p:nvSpPr>
        <p:spPr>
          <a:xfrm>
            <a:off x="1828800" y="5888736"/>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離脱課題</a:t>
            </a:r>
          </a:p>
        </p:txBody>
      </p:sp>
      <p:sp>
        <p:nvSpPr>
          <p:cNvPr id="74" name="TextBox 73"/>
          <p:cNvSpPr txBox="1"/>
          <p:nvPr/>
        </p:nvSpPr>
        <p:spPr>
          <a:xfrm>
            <a:off x="2395728" y="5888736"/>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日が空き、参加を忘れる</a:t>
            </a:r>
          </a:p>
        </p:txBody>
      </p:sp>
      <p:sp>
        <p:nvSpPr>
          <p:cNvPr id="75" name="TextBox 74"/>
          <p:cNvSpPr txBox="1"/>
          <p:nvPr/>
        </p:nvSpPr>
        <p:spPr>
          <a:xfrm>
            <a:off x="1828800" y="6108191"/>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1">
                <a:solidFill>
                  <a:srgbClr val="1F285A"/>
                </a:solidFill>
                <a:latin typeface="メイリオ"/>
                <a:ea typeface="メイリオ"/>
                <a:cs typeface="メイリオ"/>
              </a:rPr>
              <a:t>LINE</a:t>
            </a:r>
          </a:p>
        </p:txBody>
      </p:sp>
      <p:sp>
        <p:nvSpPr>
          <p:cNvPr id="76" name="TextBox 75"/>
          <p:cNvSpPr txBox="1"/>
          <p:nvPr/>
        </p:nvSpPr>
        <p:spPr>
          <a:xfrm>
            <a:off x="2395728" y="6108191"/>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1">
                <a:solidFill>
                  <a:srgbClr val="1F285A"/>
                </a:solidFill>
                <a:latin typeface="メイリオ"/>
                <a:ea typeface="メイリオ"/>
                <a:cs typeface="メイリオ"/>
              </a:rPr>
              <a:t>予約後の友だち追加・前日の案内</a:t>
            </a:r>
          </a:p>
        </p:txBody>
      </p:sp>
      <p:sp>
        <p:nvSpPr>
          <p:cNvPr id="77" name="Rectangle 76"/>
          <p:cNvSpPr/>
          <p:nvPr/>
        </p:nvSpPr>
        <p:spPr>
          <a:xfrm>
            <a:off x="5166360" y="3154680"/>
            <a:ext cx="1371600" cy="749807"/>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1F285A"/>
                </a:solidFill>
                <a:latin typeface="メイリオ"/>
                <a:ea typeface="メイリオ"/>
                <a:cs typeface="メイリオ"/>
              </a:rPr>
              <a:t>⑤ リード有効化</a:t>
            </a:r>
          </a:p>
        </p:txBody>
      </p:sp>
      <p:sp>
        <p:nvSpPr>
          <p:cNvPr id="78" name="TextBox 77"/>
          <p:cNvSpPr txBox="1"/>
          <p:nvPr/>
        </p:nvSpPr>
        <p:spPr>
          <a:xfrm>
            <a:off x="6611112" y="3200400"/>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心理</a:t>
            </a:r>
          </a:p>
        </p:txBody>
      </p:sp>
      <p:sp>
        <p:nvSpPr>
          <p:cNvPr id="79" name="TextBox 78"/>
          <p:cNvSpPr txBox="1"/>
          <p:nvPr/>
        </p:nvSpPr>
        <p:spPr>
          <a:xfrm>
            <a:off x="7178040" y="3200400"/>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参加して関心が高まっている</a:t>
            </a:r>
          </a:p>
        </p:txBody>
      </p:sp>
      <p:sp>
        <p:nvSpPr>
          <p:cNvPr id="80" name="TextBox 79"/>
          <p:cNvSpPr txBox="1"/>
          <p:nvPr/>
        </p:nvSpPr>
        <p:spPr>
          <a:xfrm>
            <a:off x="6611112" y="3419856"/>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離脱課題</a:t>
            </a:r>
          </a:p>
        </p:txBody>
      </p:sp>
      <p:sp>
        <p:nvSpPr>
          <p:cNvPr id="81" name="TextBox 80"/>
          <p:cNvSpPr txBox="1"/>
          <p:nvPr/>
        </p:nvSpPr>
        <p:spPr>
          <a:xfrm>
            <a:off x="7178040" y="3419856"/>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入会を迷ったまま時間が経つ</a:t>
            </a:r>
          </a:p>
        </p:txBody>
      </p:sp>
      <p:sp>
        <p:nvSpPr>
          <p:cNvPr id="82" name="TextBox 81"/>
          <p:cNvSpPr txBox="1"/>
          <p:nvPr/>
        </p:nvSpPr>
        <p:spPr>
          <a:xfrm>
            <a:off x="6611112" y="3639312"/>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1">
                <a:solidFill>
                  <a:srgbClr val="1F285A"/>
                </a:solidFill>
                <a:latin typeface="メイリオ"/>
                <a:ea typeface="メイリオ"/>
                <a:cs typeface="メイリオ"/>
              </a:rPr>
              <a:t>LINE</a:t>
            </a:r>
          </a:p>
        </p:txBody>
      </p:sp>
      <p:sp>
        <p:nvSpPr>
          <p:cNvPr id="83" name="TextBox 82"/>
          <p:cNvSpPr txBox="1"/>
          <p:nvPr/>
        </p:nvSpPr>
        <p:spPr>
          <a:xfrm>
            <a:off x="7178040" y="3639312"/>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1">
                <a:solidFill>
                  <a:srgbClr val="1F285A"/>
                </a:solidFill>
                <a:latin typeface="メイリオ"/>
                <a:ea typeface="メイリオ"/>
                <a:cs typeface="メイリオ"/>
              </a:rPr>
              <a:t>参加直後にサロンを案内</a:t>
            </a:r>
          </a:p>
        </p:txBody>
      </p:sp>
      <p:cxnSp>
        <p:nvCxnSpPr>
          <p:cNvPr id="84" name="Connector 83"/>
          <p:cNvCxnSpPr/>
          <p:nvPr/>
        </p:nvCxnSpPr>
        <p:spPr>
          <a:xfrm>
            <a:off x="5166360" y="3941064"/>
            <a:ext cx="459943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5166360" y="3977640"/>
            <a:ext cx="1371600" cy="749807"/>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1F285A"/>
                </a:solidFill>
                <a:latin typeface="メイリオ"/>
                <a:ea typeface="メイリオ"/>
                <a:cs typeface="メイリオ"/>
              </a:rPr>
              <a:t>⑥ 有効リードの再育成</a:t>
            </a:r>
          </a:p>
        </p:txBody>
      </p:sp>
      <p:sp>
        <p:nvSpPr>
          <p:cNvPr id="86" name="TextBox 85"/>
          <p:cNvSpPr txBox="1"/>
          <p:nvPr/>
        </p:nvSpPr>
        <p:spPr>
          <a:xfrm>
            <a:off x="6611112" y="4023359"/>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心理</a:t>
            </a:r>
          </a:p>
        </p:txBody>
      </p:sp>
      <p:sp>
        <p:nvSpPr>
          <p:cNvPr id="87" name="TextBox 86"/>
          <p:cNvSpPr txBox="1"/>
          <p:nvPr/>
        </p:nvSpPr>
        <p:spPr>
          <a:xfrm>
            <a:off x="7178040" y="4023359"/>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未入会／予約したが不参加</a:t>
            </a:r>
          </a:p>
        </p:txBody>
      </p:sp>
      <p:sp>
        <p:nvSpPr>
          <p:cNvPr id="88" name="TextBox 87"/>
          <p:cNvSpPr txBox="1"/>
          <p:nvPr/>
        </p:nvSpPr>
        <p:spPr>
          <a:xfrm>
            <a:off x="6611112" y="4242816"/>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離脱課題</a:t>
            </a:r>
          </a:p>
        </p:txBody>
      </p:sp>
      <p:sp>
        <p:nvSpPr>
          <p:cNvPr id="89" name="TextBox 88"/>
          <p:cNvSpPr txBox="1"/>
          <p:nvPr/>
        </p:nvSpPr>
        <p:spPr>
          <a:xfrm>
            <a:off x="7178040" y="4242816"/>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次のイベントまで期間が空く</a:t>
            </a:r>
          </a:p>
        </p:txBody>
      </p:sp>
      <p:sp>
        <p:nvSpPr>
          <p:cNvPr id="90" name="TextBox 89"/>
          <p:cNvSpPr txBox="1"/>
          <p:nvPr/>
        </p:nvSpPr>
        <p:spPr>
          <a:xfrm>
            <a:off x="6611112" y="4462271"/>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1">
                <a:solidFill>
                  <a:srgbClr val="1F285A"/>
                </a:solidFill>
                <a:latin typeface="メイリオ"/>
                <a:ea typeface="メイリオ"/>
                <a:cs typeface="メイリオ"/>
              </a:rPr>
              <a:t>LINE</a:t>
            </a:r>
          </a:p>
        </p:txBody>
      </p:sp>
      <p:sp>
        <p:nvSpPr>
          <p:cNvPr id="91" name="TextBox 90"/>
          <p:cNvSpPr txBox="1"/>
          <p:nvPr/>
        </p:nvSpPr>
        <p:spPr>
          <a:xfrm>
            <a:off x="7178040" y="4462271"/>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1">
                <a:solidFill>
                  <a:srgbClr val="1F285A"/>
                </a:solidFill>
                <a:latin typeface="メイリオ"/>
                <a:ea typeface="メイリオ"/>
                <a:cs typeface="メイリオ"/>
              </a:rPr>
              <a:t>月1〜2回の配信で次回へ</a:t>
            </a:r>
          </a:p>
        </p:txBody>
      </p:sp>
      <p:cxnSp>
        <p:nvCxnSpPr>
          <p:cNvPr id="92" name="Connector 91"/>
          <p:cNvCxnSpPr/>
          <p:nvPr/>
        </p:nvCxnSpPr>
        <p:spPr>
          <a:xfrm>
            <a:off x="5166360" y="4764024"/>
            <a:ext cx="459943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93" name="Rectangle 92"/>
          <p:cNvSpPr/>
          <p:nvPr/>
        </p:nvSpPr>
        <p:spPr>
          <a:xfrm>
            <a:off x="5166360" y="4800600"/>
            <a:ext cx="1371600" cy="749807"/>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1F285A"/>
                </a:solidFill>
                <a:latin typeface="メイリオ"/>
                <a:ea typeface="メイリオ"/>
                <a:cs typeface="メイリオ"/>
              </a:rPr>
              <a:t>⑦ マネタイズ(成約/購入)</a:t>
            </a:r>
          </a:p>
        </p:txBody>
      </p:sp>
      <p:sp>
        <p:nvSpPr>
          <p:cNvPr id="94" name="TextBox 93"/>
          <p:cNvSpPr txBox="1"/>
          <p:nvPr/>
        </p:nvSpPr>
        <p:spPr>
          <a:xfrm>
            <a:off x="6611112" y="4846320"/>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心理</a:t>
            </a:r>
          </a:p>
        </p:txBody>
      </p:sp>
      <p:sp>
        <p:nvSpPr>
          <p:cNvPr id="95" name="TextBox 94"/>
          <p:cNvSpPr txBox="1"/>
          <p:nvPr/>
        </p:nvSpPr>
        <p:spPr>
          <a:xfrm>
            <a:off x="7178040" y="4846320"/>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サロンの入会を検討</a:t>
            </a:r>
          </a:p>
        </p:txBody>
      </p:sp>
      <p:sp>
        <p:nvSpPr>
          <p:cNvPr id="96" name="TextBox 95"/>
          <p:cNvSpPr txBox="1"/>
          <p:nvPr/>
        </p:nvSpPr>
        <p:spPr>
          <a:xfrm>
            <a:off x="6611112" y="5065776"/>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離脱課題</a:t>
            </a:r>
          </a:p>
        </p:txBody>
      </p:sp>
      <p:sp>
        <p:nvSpPr>
          <p:cNvPr id="97" name="TextBox 96"/>
          <p:cNvSpPr txBox="1"/>
          <p:nvPr/>
        </p:nvSpPr>
        <p:spPr>
          <a:xfrm>
            <a:off x="7178040" y="5065776"/>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入会後の中身・成果が見えない</a:t>
            </a:r>
          </a:p>
        </p:txBody>
      </p:sp>
      <p:sp>
        <p:nvSpPr>
          <p:cNvPr id="98" name="TextBox 97"/>
          <p:cNvSpPr txBox="1"/>
          <p:nvPr/>
        </p:nvSpPr>
        <p:spPr>
          <a:xfrm>
            <a:off x="6611112" y="5285231"/>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1">
                <a:solidFill>
                  <a:srgbClr val="1F285A"/>
                </a:solidFill>
                <a:latin typeface="メイリオ"/>
                <a:ea typeface="メイリオ"/>
                <a:cs typeface="メイリオ"/>
              </a:rPr>
              <a:t>LINE</a:t>
            </a:r>
          </a:p>
        </p:txBody>
      </p:sp>
      <p:sp>
        <p:nvSpPr>
          <p:cNvPr id="99" name="TextBox 98"/>
          <p:cNvSpPr txBox="1"/>
          <p:nvPr/>
        </p:nvSpPr>
        <p:spPr>
          <a:xfrm>
            <a:off x="7178040" y="5285231"/>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1">
                <a:solidFill>
                  <a:srgbClr val="1F285A"/>
                </a:solidFill>
                <a:latin typeface="メイリオ"/>
                <a:ea typeface="メイリオ"/>
                <a:cs typeface="メイリオ"/>
              </a:rPr>
              <a:t>入会した方の声を配信</a:t>
            </a:r>
          </a:p>
        </p:txBody>
      </p:sp>
      <p:cxnSp>
        <p:nvCxnSpPr>
          <p:cNvPr id="100" name="Connector 99"/>
          <p:cNvCxnSpPr/>
          <p:nvPr/>
        </p:nvCxnSpPr>
        <p:spPr>
          <a:xfrm>
            <a:off x="5166360" y="5586984"/>
            <a:ext cx="4599432" cy="0"/>
          </a:xfrm>
          <a:prstGeom prst="line">
            <a:avLst/>
          </a:prstGeom>
          <a:ln w="6350">
            <a:solidFill>
              <a:srgbClr val="D9D9D9"/>
            </a:solidFill>
          </a:ln>
        </p:spPr>
        <p:style>
          <a:lnRef idx="2">
            <a:schemeClr val="accent1"/>
          </a:lnRef>
          <a:fillRef idx="0">
            <a:schemeClr val="accent1"/>
          </a:fillRef>
          <a:effectRef idx="0">
            <a:schemeClr val="accent1"/>
          </a:effectRef>
          <a:fontRef idx="minor">
            <a:schemeClr val="tx1"/>
          </a:fontRef>
        </p:style>
      </p:cxnSp>
      <p:sp>
        <p:nvSpPr>
          <p:cNvPr id="101" name="Rectangle 100"/>
          <p:cNvSpPr/>
          <p:nvPr/>
        </p:nvSpPr>
        <p:spPr>
          <a:xfrm>
            <a:off x="5166360" y="5623560"/>
            <a:ext cx="1371600" cy="749807"/>
          </a:xfrm>
          <a:prstGeom prst="rect">
            <a:avLst/>
          </a:prstGeom>
          <a:solidFill>
            <a:srgbClr val="EEF0F4"/>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2000" tIns="18000" rIns="72000" bIns="18000"/>
          <a:lstStyle/>
          <a:p>
            <a:pPr algn="ctr">
              <a:lnSpc>
                <a:spcPct val="110000"/>
              </a:lnSpc>
              <a:spcAft>
                <a:spcPts val="0"/>
              </a:spcAft>
            </a:pPr>
            <a:r>
              <a:rPr sz="1200" b="1">
                <a:solidFill>
                  <a:srgbClr val="1F285A"/>
                </a:solidFill>
                <a:latin typeface="メイリオ"/>
                <a:ea typeface="メイリオ"/>
                <a:cs typeface="メイリオ"/>
              </a:rPr>
              <a:t>⑧ LTV最大化・紹介</a:t>
            </a:r>
          </a:p>
        </p:txBody>
      </p:sp>
      <p:sp>
        <p:nvSpPr>
          <p:cNvPr id="102" name="TextBox 101"/>
          <p:cNvSpPr txBox="1"/>
          <p:nvPr/>
        </p:nvSpPr>
        <p:spPr>
          <a:xfrm>
            <a:off x="6611112" y="5669280"/>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心理</a:t>
            </a:r>
          </a:p>
        </p:txBody>
      </p:sp>
      <p:sp>
        <p:nvSpPr>
          <p:cNvPr id="103" name="TextBox 102"/>
          <p:cNvSpPr txBox="1"/>
          <p:nvPr/>
        </p:nvSpPr>
        <p:spPr>
          <a:xfrm>
            <a:off x="7178040" y="5669280"/>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サロンに入会</a:t>
            </a:r>
          </a:p>
        </p:txBody>
      </p:sp>
      <p:sp>
        <p:nvSpPr>
          <p:cNvPr id="104" name="TextBox 103"/>
          <p:cNvSpPr txBox="1"/>
          <p:nvPr/>
        </p:nvSpPr>
        <p:spPr>
          <a:xfrm>
            <a:off x="6611112" y="5888736"/>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0">
                <a:solidFill>
                  <a:srgbClr val="64748B"/>
                </a:solidFill>
                <a:latin typeface="メイリオ"/>
                <a:ea typeface="メイリオ"/>
                <a:cs typeface="メイリオ"/>
              </a:rPr>
              <a:t>離脱課題</a:t>
            </a:r>
          </a:p>
        </p:txBody>
      </p:sp>
      <p:sp>
        <p:nvSpPr>
          <p:cNvPr id="105" name="TextBox 104"/>
          <p:cNvSpPr txBox="1"/>
          <p:nvPr/>
        </p:nvSpPr>
        <p:spPr>
          <a:xfrm>
            <a:off x="7178040" y="5888736"/>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0">
                <a:solidFill>
                  <a:srgbClr val="333333"/>
                </a:solidFill>
                <a:latin typeface="メイリオ"/>
                <a:ea typeface="メイリオ"/>
                <a:cs typeface="メイリオ"/>
              </a:rPr>
              <a:t>継続利用・紹介まで届きにくい</a:t>
            </a:r>
          </a:p>
        </p:txBody>
      </p:sp>
      <p:sp>
        <p:nvSpPr>
          <p:cNvPr id="106" name="TextBox 105"/>
          <p:cNvSpPr txBox="1"/>
          <p:nvPr/>
        </p:nvSpPr>
        <p:spPr>
          <a:xfrm>
            <a:off x="6611112" y="6108191"/>
            <a:ext cx="566928" cy="219456"/>
          </a:xfrm>
          <a:prstGeom prst="rect">
            <a:avLst/>
          </a:prstGeom>
          <a:noFill/>
        </p:spPr>
        <p:txBody>
          <a:bodyPr wrap="square" anchor="ctr" lIns="36000" rIns="36000" tIns="10800" bIns="10800">
            <a:spAutoFit/>
          </a:bodyPr>
          <a:lstStyle/>
          <a:p>
            <a:pPr algn="l">
              <a:lnSpc>
                <a:spcPct val="105000"/>
              </a:lnSpc>
              <a:spcAft>
                <a:spcPts val="200"/>
              </a:spcAft>
            </a:pPr>
            <a:r>
              <a:rPr sz="900" b="1">
                <a:solidFill>
                  <a:srgbClr val="1F285A"/>
                </a:solidFill>
                <a:latin typeface="メイリオ"/>
                <a:ea typeface="メイリオ"/>
                <a:cs typeface="メイリオ"/>
              </a:rPr>
              <a:t>LINE</a:t>
            </a:r>
          </a:p>
        </p:txBody>
      </p:sp>
      <p:sp>
        <p:nvSpPr>
          <p:cNvPr id="107" name="TextBox 106"/>
          <p:cNvSpPr txBox="1"/>
          <p:nvPr/>
        </p:nvSpPr>
        <p:spPr>
          <a:xfrm>
            <a:off x="7178040" y="6108191"/>
            <a:ext cx="2587752" cy="219456"/>
          </a:xfrm>
          <a:prstGeom prst="rect">
            <a:avLst/>
          </a:prstGeom>
          <a:noFill/>
        </p:spPr>
        <p:txBody>
          <a:bodyPr wrap="square" anchor="ctr" lIns="36000" rIns="36000" tIns="10800" bIns="10800">
            <a:spAutoFit/>
          </a:bodyPr>
          <a:lstStyle/>
          <a:p>
            <a:pPr algn="l">
              <a:lnSpc>
                <a:spcPct val="105000"/>
              </a:lnSpc>
              <a:spcAft>
                <a:spcPts val="200"/>
              </a:spcAft>
            </a:pPr>
            <a:r>
              <a:rPr sz="1200" b="1">
                <a:solidFill>
                  <a:srgbClr val="1F285A"/>
                </a:solidFill>
                <a:latin typeface="メイリオ"/>
                <a:ea typeface="メイリオ"/>
                <a:cs typeface="メイリオ"/>
              </a:rPr>
              <a:t>イベント案内・紹介（中長期）</a:t>
            </a:r>
          </a:p>
        </p:txBody>
      </p:sp>
    </p:spTree>
    <p:extLst>
      <p:ext uri="{BB962C8B-B14F-4D97-AF65-F5344CB8AC3E}">
        <p14:creationId xmlns:p14="http://schemas.microsoft.com/office/powerpoint/2010/main" val="3571272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3B1F-7F7B-6271-9DE8-D3CECB4AEE7A}"/>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8421BF1B-3828-BADE-4033-28B8258FFCB2}"/>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全体設計</a:t>
            </a:r>
          </a:p>
        </p:txBody>
      </p:sp>
      <p:sp>
        <p:nvSpPr>
          <p:cNvPr id="3" name="テキスト ボックス 2">
            <a:extLst>
              <a:ext uri="{FF2B5EF4-FFF2-40B4-BE49-F238E27FC236}">
                <a16:creationId xmlns:a16="http://schemas.microsoft.com/office/drawing/2014/main" id="{EDD3D979-9EEB-6B18-F888-A17F98CFB00B}"/>
              </a:ext>
            </a:extLst>
          </p:cNvPr>
          <p:cNvSpPr txBox="1"/>
          <p:nvPr/>
        </p:nvSpPr>
        <p:spPr>
          <a:xfrm>
            <a:off x="4630780" y="1385918"/>
            <a:ext cx="1285343"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⑤ 有効化</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4" name="テキスト ボックス 3">
            <a:extLst>
              <a:ext uri="{FF2B5EF4-FFF2-40B4-BE49-F238E27FC236}">
                <a16:creationId xmlns:a16="http://schemas.microsoft.com/office/drawing/2014/main" id="{74A29E67-E629-D5BB-0BF0-30595AA3A156}"/>
              </a:ext>
            </a:extLst>
          </p:cNvPr>
          <p:cNvSpPr txBox="1"/>
          <p:nvPr/>
        </p:nvSpPr>
        <p:spPr>
          <a:xfrm>
            <a:off x="726950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⑦ 入会</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5" name="テキスト ボックス 4">
            <a:extLst>
              <a:ext uri="{FF2B5EF4-FFF2-40B4-BE49-F238E27FC236}">
                <a16:creationId xmlns:a16="http://schemas.microsoft.com/office/drawing/2014/main" id="{C8FAABE7-2498-0A19-8EFA-AE3DAED1CE38}"/>
              </a:ext>
            </a:extLst>
          </p:cNvPr>
          <p:cNvSpPr txBox="1"/>
          <p:nvPr/>
        </p:nvSpPr>
        <p:spPr>
          <a:xfrm>
            <a:off x="5950140" y="1385918"/>
            <a:ext cx="1285341" cy="2616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⑥ 再育成</a:t>
            </a:r>
            <a:endParaRPr lang="ja-JP" altLang="ja-JP" sz="1100" b="1" dirty="0">
              <a:latin typeface="メイリオ" panose="020B0604030504040204" pitchFamily="50" charset="-128"/>
              <a:ea typeface="メイリオ" panose="020B0604030504040204" pitchFamily="50" charset="-128"/>
              <a:cs typeface="メイリオ"/>
            </a:endParaRPr>
          </a:p>
        </p:txBody>
      </p:sp>
      <p:sp>
        <p:nvSpPr>
          <p:cNvPr id="8" name="テキスト ボックス 7">
            <a:extLst>
              <a:ext uri="{FF2B5EF4-FFF2-40B4-BE49-F238E27FC236}">
                <a16:creationId xmlns:a16="http://schemas.microsoft.com/office/drawing/2014/main" id="{7A77BB20-672A-267B-1278-73B82EFDB35A}"/>
              </a:ext>
            </a:extLst>
          </p:cNvPr>
          <p:cNvSpPr txBox="1"/>
          <p:nvPr/>
        </p:nvSpPr>
        <p:spPr>
          <a:xfrm>
            <a:off x="2435404" y="1385918"/>
            <a:ext cx="1063671" cy="261610"/>
          </a:xfrm>
          <a:prstGeom prst="rect">
            <a:avLst/>
          </a:prstGeom>
          <a:solidFill>
            <a:srgbClr val="F2F2F2"/>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cs typeface="メイリオ"/>
              </a:rPr>
              <a:t>③ 育成</a:t>
            </a:r>
          </a:p>
        </p:txBody>
      </p:sp>
      <p:sp>
        <p:nvSpPr>
          <p:cNvPr id="11" name="テキスト ボックス 10">
            <a:extLst>
              <a:ext uri="{FF2B5EF4-FFF2-40B4-BE49-F238E27FC236}">
                <a16:creationId xmlns:a16="http://schemas.microsoft.com/office/drawing/2014/main" id="{757FA4CB-2B6D-1C58-A1D7-FBC3E968719E}"/>
              </a:ext>
            </a:extLst>
          </p:cNvPr>
          <p:cNvSpPr txBox="1"/>
          <p:nvPr/>
        </p:nvSpPr>
        <p:spPr>
          <a:xfrm>
            <a:off x="3533092" y="1385918"/>
            <a:ext cx="1063671" cy="261610"/>
          </a:xfrm>
          <a:prstGeom prst="rect">
            <a:avLst/>
          </a:prstGeom>
          <a:solidFill>
            <a:srgbClr val="F2F2F2"/>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cs typeface="メイリオ"/>
              </a:rPr>
              <a:t>④ リード</a:t>
            </a:r>
            <a:endParaRPr lang="ja-JP" altLang="ja-JP" sz="1050" b="1" dirty="0">
              <a:latin typeface="メイリオ" panose="020B0604030504040204" pitchFamily="50" charset="-128"/>
              <a:ea typeface="メイリオ" panose="020B0604030504040204" pitchFamily="50" charset="-128"/>
              <a:cs typeface="メイリオ"/>
            </a:endParaRPr>
          </a:p>
        </p:txBody>
      </p:sp>
      <p:sp>
        <p:nvSpPr>
          <p:cNvPr id="16" name="正方形/長方形 15">
            <a:extLst>
              <a:ext uri="{FF2B5EF4-FFF2-40B4-BE49-F238E27FC236}">
                <a16:creationId xmlns:a16="http://schemas.microsoft.com/office/drawing/2014/main" id="{9F1496A9-1AA6-8C00-6027-75BA16E87457}"/>
              </a:ext>
            </a:extLst>
          </p:cNvPr>
          <p:cNvSpPr/>
          <p:nvPr/>
        </p:nvSpPr>
        <p:spPr>
          <a:xfrm>
            <a:off x="240028" y="773977"/>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7" name="直線矢印コネクタ 16">
            <a:extLst>
              <a:ext uri="{FF2B5EF4-FFF2-40B4-BE49-F238E27FC236}">
                <a16:creationId xmlns:a16="http://schemas.microsoft.com/office/drawing/2014/main" id="{0B8C27AC-9240-5C32-389B-1F46C1A17D15}"/>
              </a:ext>
            </a:extLst>
          </p:cNvPr>
          <p:cNvCxnSpPr>
            <a:cxnSpLocks/>
          </p:cNvCxnSpPr>
          <p:nvPr/>
        </p:nvCxnSpPr>
        <p:spPr>
          <a:xfrm>
            <a:off x="323367" y="1003861"/>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9BA284C9-F4DC-DB06-4BAF-EC4EB7A246B5}"/>
              </a:ext>
            </a:extLst>
          </p:cNvPr>
          <p:cNvSpPr txBox="1"/>
          <p:nvPr/>
        </p:nvSpPr>
        <p:spPr>
          <a:xfrm>
            <a:off x="3972228" y="875991"/>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メイリオ"/>
                <a:sym typeface="Meiryo"/>
              </a:rPr>
              <a:t>カスタマージャーニーマップ</a:t>
            </a:r>
            <a:endParaRPr lang="ja-JP" altLang="en-US" sz="1050" dirty="0">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5717FF50-BC66-88D1-6E63-63A2832D9840}"/>
              </a:ext>
            </a:extLst>
          </p:cNvPr>
          <p:cNvSpPr txBox="1"/>
          <p:nvPr/>
        </p:nvSpPr>
        <p:spPr>
          <a:xfrm>
            <a:off x="8588858" y="1385918"/>
            <a:ext cx="1339302" cy="261610"/>
          </a:xfrm>
          <a:prstGeom prst="rect">
            <a:avLst/>
          </a:prstGeom>
          <a:solidFill>
            <a:schemeClr val="tx1">
              <a:lumMod val="50000"/>
              <a:lumOff val="50000"/>
              <a:alpha val="30000"/>
            </a:schemeClr>
          </a:solidFill>
        </p:spPr>
        <p:txBody>
          <a:bodyPr wrap="square">
            <a:spAutoFit/>
          </a:bodyPr>
          <a:lstStyle/>
          <a:p>
            <a:pPr>
              <a:buNone/>
            </a:pPr>
            <a:r>
              <a:rPr lang="ja-JP" altLang="en-US" sz="1100" dirty="0">
                <a:latin typeface="メイリオ" panose="020B0604030504040204" pitchFamily="50" charset="-128"/>
                <a:ea typeface="メイリオ" panose="020B0604030504040204" pitchFamily="50" charset="-128"/>
                <a:cs typeface="メイリオ"/>
              </a:rPr>
              <a:t>⑧ 紹介</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21" name="テキスト ボックス 20">
            <a:extLst>
              <a:ext uri="{FF2B5EF4-FFF2-40B4-BE49-F238E27FC236}">
                <a16:creationId xmlns:a16="http://schemas.microsoft.com/office/drawing/2014/main" id="{46D32A0E-F7DE-9D8C-2548-B53782ECD867}"/>
              </a:ext>
            </a:extLst>
          </p:cNvPr>
          <p:cNvSpPr txBox="1"/>
          <p:nvPr/>
        </p:nvSpPr>
        <p:spPr>
          <a:xfrm>
            <a:off x="240028"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① 接触</a:t>
            </a:r>
          </a:p>
        </p:txBody>
      </p:sp>
      <p:sp>
        <p:nvSpPr>
          <p:cNvPr id="22" name="テキスト ボックス 21">
            <a:extLst>
              <a:ext uri="{FF2B5EF4-FFF2-40B4-BE49-F238E27FC236}">
                <a16:creationId xmlns:a16="http://schemas.microsoft.com/office/drawing/2014/main" id="{38E909FA-CB5E-B051-BA39-70C6E514BC74}"/>
              </a:ext>
            </a:extLst>
          </p:cNvPr>
          <p:cNvSpPr txBox="1"/>
          <p:nvPr/>
        </p:nvSpPr>
        <p:spPr>
          <a:xfrm>
            <a:off x="1337716" y="1385918"/>
            <a:ext cx="1063671" cy="261610"/>
          </a:xfrm>
          <a:prstGeom prst="rect">
            <a:avLst/>
          </a:prstGeom>
          <a:solidFill>
            <a:srgbClr val="F2F2F2"/>
          </a:solidFill>
        </p:spPr>
        <p:txBody>
          <a:bodyPr wrap="square">
            <a:spAutoFit/>
          </a:bodyPr>
          <a:lstStyle/>
          <a:p>
            <a:pPr>
              <a:buNone/>
            </a:pPr>
            <a:r>
              <a:rPr lang="ja-JP" altLang="ja-JP" sz="1100" dirty="0">
                <a:latin typeface="メイリオ" panose="020B0604030504040204" pitchFamily="50" charset="-128"/>
                <a:ea typeface="メイリオ" panose="020B0604030504040204" pitchFamily="50" charset="-128"/>
                <a:cs typeface="メイリオ"/>
              </a:rPr>
              <a:t>② </a:t>
            </a:r>
            <a:r>
              <a:rPr lang="ja-JP" altLang="en-US" sz="1100" dirty="0">
                <a:latin typeface="メイリオ" panose="020B0604030504040204" pitchFamily="50" charset="-128"/>
                <a:ea typeface="メイリオ" panose="020B0604030504040204" pitchFamily="50" charset="-128"/>
                <a:cs typeface="メイリオ"/>
              </a:rPr>
              <a:t>離脱</a:t>
            </a:r>
            <a:endParaRPr lang="ja-JP" altLang="ja-JP" sz="1100" dirty="0">
              <a:latin typeface="メイリオ" panose="020B0604030504040204" pitchFamily="50" charset="-128"/>
              <a:ea typeface="メイリオ" panose="020B0604030504040204" pitchFamily="50" charset="-128"/>
              <a:cs typeface="メイリオ"/>
            </a:endParaRPr>
          </a:p>
        </p:txBody>
      </p:sp>
      <p:sp>
        <p:nvSpPr>
          <p:cNvPr id="39" name="正方形/長方形 38">
            <a:extLst>
              <a:ext uri="{FF2B5EF4-FFF2-40B4-BE49-F238E27FC236}">
                <a16:creationId xmlns:a16="http://schemas.microsoft.com/office/drawing/2014/main" id="{0387F7F8-78A2-5984-62D7-5E0BC6139087}"/>
              </a:ext>
            </a:extLst>
          </p:cNvPr>
          <p:cNvSpPr/>
          <p:nvPr/>
        </p:nvSpPr>
        <p:spPr>
          <a:xfrm>
            <a:off x="1587355" y="2875302"/>
            <a:ext cx="697117" cy="75632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離</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脱</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防</a:t>
            </a:r>
            <a:endParaRPr kumimoji="1"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止</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41" name="正方形/長方形 40">
            <a:extLst>
              <a:ext uri="{FF2B5EF4-FFF2-40B4-BE49-F238E27FC236}">
                <a16:creationId xmlns:a16="http://schemas.microsoft.com/office/drawing/2014/main" id="{4EA0C91B-78C6-BBBB-2C69-9BB0F2452933}"/>
              </a:ext>
            </a:extLst>
          </p:cNvPr>
          <p:cNvSpPr/>
          <p:nvPr/>
        </p:nvSpPr>
        <p:spPr>
          <a:xfrm>
            <a:off x="2618680" y="3637979"/>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16F18994-DA2E-D80B-5B66-954D59885119}"/>
              </a:ext>
            </a:extLst>
          </p:cNvPr>
          <p:cNvSpPr/>
          <p:nvPr/>
        </p:nvSpPr>
        <p:spPr>
          <a:xfrm>
            <a:off x="3554602" y="3544936"/>
            <a:ext cx="1020649"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予約完了後の</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友だち追加</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4" name="直線矢印コネクタ 43">
            <a:extLst>
              <a:ext uri="{FF2B5EF4-FFF2-40B4-BE49-F238E27FC236}">
                <a16:creationId xmlns:a16="http://schemas.microsoft.com/office/drawing/2014/main" id="{EB54D42B-999A-C988-8087-353D7313BC5D}"/>
              </a:ext>
            </a:extLst>
          </p:cNvPr>
          <p:cNvCxnSpPr>
            <a:cxnSpLocks/>
          </p:cNvCxnSpPr>
          <p:nvPr/>
        </p:nvCxnSpPr>
        <p:spPr>
          <a:xfrm>
            <a:off x="3332019" y="3790376"/>
            <a:ext cx="198486"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48" name="正方形/長方形 47">
            <a:extLst>
              <a:ext uri="{FF2B5EF4-FFF2-40B4-BE49-F238E27FC236}">
                <a16:creationId xmlns:a16="http://schemas.microsoft.com/office/drawing/2014/main" id="{98DC54E6-D786-24C4-0A98-CF27487E94A5}"/>
              </a:ext>
            </a:extLst>
          </p:cNvPr>
          <p:cNvSpPr/>
          <p:nvPr/>
        </p:nvSpPr>
        <p:spPr>
          <a:xfrm>
            <a:off x="2628833" y="4890712"/>
            <a:ext cx="843512"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友だち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000" b="1" dirty="0">
                <a:solidFill>
                  <a:schemeClr val="tx1"/>
                </a:solidFill>
                <a:latin typeface="メイリオ" panose="020B0604030504040204" pitchFamily="50" charset="-128"/>
                <a:ea typeface="メイリオ" panose="020B0604030504040204" pitchFamily="50" charset="-128"/>
                <a:cs typeface="メイリオ"/>
              </a:rPr>
              <a:t>追加誘導</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49" name="直線矢印コネクタ 48">
            <a:extLst>
              <a:ext uri="{FF2B5EF4-FFF2-40B4-BE49-F238E27FC236}">
                <a16:creationId xmlns:a16="http://schemas.microsoft.com/office/drawing/2014/main" id="{D6140142-DD1A-809C-DE27-D2CD7D992B51}"/>
              </a:ext>
            </a:extLst>
          </p:cNvPr>
          <p:cNvCxnSpPr>
            <a:cxnSpLocks/>
          </p:cNvCxnSpPr>
          <p:nvPr/>
        </p:nvCxnSpPr>
        <p:spPr>
          <a:xfrm>
            <a:off x="3572613" y="5136153"/>
            <a:ext cx="1974603"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56" name="左中かっこ 55">
            <a:extLst>
              <a:ext uri="{FF2B5EF4-FFF2-40B4-BE49-F238E27FC236}">
                <a16:creationId xmlns:a16="http://schemas.microsoft.com/office/drawing/2014/main" id="{9F7871CB-0948-ED66-262E-E4668DAEA788}"/>
              </a:ext>
            </a:extLst>
          </p:cNvPr>
          <p:cNvSpPr/>
          <p:nvPr/>
        </p:nvSpPr>
        <p:spPr>
          <a:xfrm>
            <a:off x="3306385" y="5445071"/>
            <a:ext cx="165959" cy="752529"/>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524DFC21-9336-5CCC-A46E-6B03A60F8CD8}"/>
              </a:ext>
            </a:extLst>
          </p:cNvPr>
          <p:cNvSpPr txBox="1"/>
          <p:nvPr/>
        </p:nvSpPr>
        <p:spPr>
          <a:xfrm>
            <a:off x="3472344" y="5451968"/>
            <a:ext cx="1307291"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・見どころ</a:t>
            </a:r>
            <a:r>
              <a:rPr lang="ja-JP" altLang="en-US" sz="1000" b="1" dirty="0">
                <a:latin typeface="メイリオ" panose="020B0604030504040204" pitchFamily="50" charset="-128"/>
                <a:ea typeface="メイリオ" panose="020B0604030504040204" pitchFamily="50" charset="-128"/>
                <a:cs typeface="メイリオ"/>
              </a:rPr>
              <a:t>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・参加特典</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・ステップ配信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0" name="左中かっこ 59">
            <a:extLst>
              <a:ext uri="{FF2B5EF4-FFF2-40B4-BE49-F238E27FC236}">
                <a16:creationId xmlns:a16="http://schemas.microsoft.com/office/drawing/2014/main" id="{6D1FBEB7-0DA2-6BD0-D8E5-5287AABE463D}"/>
              </a:ext>
            </a:extLst>
          </p:cNvPr>
          <p:cNvSpPr/>
          <p:nvPr/>
        </p:nvSpPr>
        <p:spPr>
          <a:xfrm>
            <a:off x="4341554" y="4064872"/>
            <a:ext cx="165959" cy="681427"/>
          </a:xfrm>
          <a:prstGeom prst="leftBrace">
            <a:avLst>
              <a:gd name="adj1" fmla="val 8333"/>
              <a:gd name="adj2" fmla="val 10247"/>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solidFill>
                <a:schemeClr val="tx1">
                  <a:lumMod val="65000"/>
                  <a:lumOff val="35000"/>
                </a:schemeClr>
              </a:solidFill>
              <a:latin typeface="メイリオ"/>
              <a:ea typeface="メイリオ"/>
              <a:cs typeface="メイリオ"/>
            </a:endParaRPr>
          </a:p>
        </p:txBody>
      </p:sp>
      <p:sp>
        <p:nvSpPr>
          <p:cNvPr id="62" name="テキスト ボックス 61">
            <a:extLst>
              <a:ext uri="{FF2B5EF4-FFF2-40B4-BE49-F238E27FC236}">
                <a16:creationId xmlns:a16="http://schemas.microsoft.com/office/drawing/2014/main" id="{23E526DD-37E7-611C-2660-347E6E25E45B}"/>
              </a:ext>
            </a:extLst>
          </p:cNvPr>
          <p:cNvSpPr txBox="1"/>
          <p:nvPr/>
        </p:nvSpPr>
        <p:spPr>
          <a:xfrm>
            <a:off x="4507513" y="4071769"/>
            <a:ext cx="1737360" cy="553998"/>
          </a:xfrm>
          <a:prstGeom prst="rect">
            <a:avLst/>
          </a:prstGeom>
          <a:noFill/>
        </p:spPr>
        <p:txBody>
          <a:bodyPr wrap="square">
            <a:spAutoFit/>
          </a:bodyPr>
          <a:lstStyle/>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・前日・当日のリマインド</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a:p>
            <a:r>
              <a:rPr lang="ja-JP" altLang="en-US" sz="1000" b="1" dirty="0">
                <a:latin typeface="メイリオ" panose="020B0604030504040204" pitchFamily="50" charset="-128"/>
                <a:ea typeface="メイリオ" panose="020B0604030504040204" pitchFamily="50" charset="-128"/>
                <a:cs typeface="メイリオ"/>
              </a:rPr>
              <a:t>・見どころ配信</a:t>
            </a:r>
            <a:endParaRPr lang="en-US" altLang="ja-JP" sz="1000" b="1" dirty="0">
              <a:latin typeface="メイリオ" panose="020B0604030504040204" pitchFamily="50" charset="-128"/>
              <a:ea typeface="メイリオ" panose="020B0604030504040204" pitchFamily="50" charset="-128"/>
              <a:cs typeface="メイリオ"/>
            </a:endParaRPr>
          </a:p>
          <a:p>
            <a:r>
              <a:rPr lang="ja-JP" altLang="en-US" sz="1000" b="1" dirty="0">
                <a:solidFill>
                  <a:schemeClr val="tx1"/>
                </a:solidFill>
                <a:latin typeface="メイリオ" panose="020B0604030504040204" pitchFamily="50" charset="-128"/>
                <a:ea typeface="メイリオ" panose="020B0604030504040204" pitchFamily="50" charset="-128"/>
                <a:cs typeface="メイリオ"/>
              </a:rPr>
              <a:t>・参加者の声</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65" name="直線矢印コネクタ 64">
            <a:extLst>
              <a:ext uri="{FF2B5EF4-FFF2-40B4-BE49-F238E27FC236}">
                <a16:creationId xmlns:a16="http://schemas.microsoft.com/office/drawing/2014/main" id="{92F8C127-A45A-8F56-9D6E-7D83C0CD059C}"/>
              </a:ext>
            </a:extLst>
          </p:cNvPr>
          <p:cNvCxnSpPr>
            <a:cxnSpLocks/>
          </p:cNvCxnSpPr>
          <p:nvPr/>
        </p:nvCxnSpPr>
        <p:spPr>
          <a:xfrm>
            <a:off x="4702245" y="3762641"/>
            <a:ext cx="761292" cy="1512"/>
          </a:xfrm>
          <a:prstGeom prst="straightConnector1">
            <a:avLst/>
          </a:prstGeom>
          <a:ln w="57150">
            <a:solidFill>
              <a:srgbClr val="04FA0A"/>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8" name="直線矢印コネクタ 77">
            <a:extLst>
              <a:ext uri="{FF2B5EF4-FFF2-40B4-BE49-F238E27FC236}">
                <a16:creationId xmlns:a16="http://schemas.microsoft.com/office/drawing/2014/main" id="{18BC9B61-1AB1-C280-3AB3-0A3065C47874}"/>
              </a:ext>
            </a:extLst>
          </p:cNvPr>
          <p:cNvCxnSpPr>
            <a:cxnSpLocks/>
          </p:cNvCxnSpPr>
          <p:nvPr/>
        </p:nvCxnSpPr>
        <p:spPr>
          <a:xfrm flipV="1">
            <a:off x="879791" y="2657573"/>
            <a:ext cx="4546592"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0C63AA03-27C4-0484-5A97-8C858F657C28}"/>
              </a:ext>
            </a:extLst>
          </p:cNvPr>
          <p:cNvCxnSpPr>
            <a:cxnSpLocks/>
          </p:cNvCxnSpPr>
          <p:nvPr/>
        </p:nvCxnSpPr>
        <p:spPr>
          <a:xfrm flipV="1">
            <a:off x="1120433" y="3147854"/>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テキスト ボックス 86">
            <a:extLst>
              <a:ext uri="{FF2B5EF4-FFF2-40B4-BE49-F238E27FC236}">
                <a16:creationId xmlns:a16="http://schemas.microsoft.com/office/drawing/2014/main" id="{91706F5F-C2C9-CFA6-A6DA-6320D8935BA3}"/>
              </a:ext>
            </a:extLst>
          </p:cNvPr>
          <p:cNvSpPr txBox="1"/>
          <p:nvPr/>
        </p:nvSpPr>
        <p:spPr>
          <a:xfrm>
            <a:off x="968181" y="2932648"/>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88" name="直線矢印コネクタ 87">
            <a:extLst>
              <a:ext uri="{FF2B5EF4-FFF2-40B4-BE49-F238E27FC236}">
                <a16:creationId xmlns:a16="http://schemas.microsoft.com/office/drawing/2014/main" id="{826F5558-E52E-4955-ECF0-22B6B8A29748}"/>
              </a:ext>
            </a:extLst>
          </p:cNvPr>
          <p:cNvCxnSpPr>
            <a:cxnSpLocks/>
          </p:cNvCxnSpPr>
          <p:nvPr/>
        </p:nvCxnSpPr>
        <p:spPr>
          <a:xfrm flipV="1">
            <a:off x="2290047" y="3020133"/>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9" name="テキスト ボックス 88">
            <a:extLst>
              <a:ext uri="{FF2B5EF4-FFF2-40B4-BE49-F238E27FC236}">
                <a16:creationId xmlns:a16="http://schemas.microsoft.com/office/drawing/2014/main" id="{C87D3212-5CA7-479B-A73E-22643A6E1B0C}"/>
              </a:ext>
            </a:extLst>
          </p:cNvPr>
          <p:cNvSpPr txBox="1"/>
          <p:nvPr/>
        </p:nvSpPr>
        <p:spPr>
          <a:xfrm>
            <a:off x="2137795" y="2804927"/>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cxnSp>
        <p:nvCxnSpPr>
          <p:cNvPr id="91" name="コネクタ: カギ線 90">
            <a:extLst>
              <a:ext uri="{FF2B5EF4-FFF2-40B4-BE49-F238E27FC236}">
                <a16:creationId xmlns:a16="http://schemas.microsoft.com/office/drawing/2014/main" id="{E092BAF5-1123-4B1D-F3A5-6BB3C08065DE}"/>
              </a:ext>
            </a:extLst>
          </p:cNvPr>
          <p:cNvCxnSpPr>
            <a:stCxn id="39" idx="3"/>
            <a:endCxn id="41" idx="1"/>
          </p:cNvCxnSpPr>
          <p:nvPr/>
        </p:nvCxnSpPr>
        <p:spPr>
          <a:xfrm>
            <a:off x="2284472" y="3253466"/>
            <a:ext cx="334208" cy="536912"/>
          </a:xfrm>
          <a:prstGeom prst="bentConnector3">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コネクタ: カギ線 94">
            <a:extLst>
              <a:ext uri="{FF2B5EF4-FFF2-40B4-BE49-F238E27FC236}">
                <a16:creationId xmlns:a16="http://schemas.microsoft.com/office/drawing/2014/main" id="{368BF7F4-176E-2B84-4610-9F916AC5F605}"/>
              </a:ext>
            </a:extLst>
          </p:cNvPr>
          <p:cNvCxnSpPr>
            <a:cxnSpLocks/>
            <a:stCxn id="39" idx="3"/>
            <a:endCxn id="48" idx="1"/>
          </p:cNvCxnSpPr>
          <p:nvPr/>
        </p:nvCxnSpPr>
        <p:spPr>
          <a:xfrm>
            <a:off x="2284472" y="3253466"/>
            <a:ext cx="344361" cy="1882687"/>
          </a:xfrm>
          <a:prstGeom prst="bentConnector3">
            <a:avLst>
              <a:gd name="adj1" fmla="val 50000"/>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線矢印コネクタ 97">
            <a:extLst>
              <a:ext uri="{FF2B5EF4-FFF2-40B4-BE49-F238E27FC236}">
                <a16:creationId xmlns:a16="http://schemas.microsoft.com/office/drawing/2014/main" id="{81E1473F-6265-659C-CC0B-C6FE85BCA3EC}"/>
              </a:ext>
            </a:extLst>
          </p:cNvPr>
          <p:cNvCxnSpPr>
            <a:cxnSpLocks/>
          </p:cNvCxnSpPr>
          <p:nvPr/>
        </p:nvCxnSpPr>
        <p:spPr>
          <a:xfrm>
            <a:off x="1018332" y="2261854"/>
            <a:ext cx="6368884" cy="0"/>
          </a:xfrm>
          <a:prstGeom prst="straightConnector1">
            <a:avLst/>
          </a:prstGeom>
          <a:ln w="22225">
            <a:solidFill>
              <a:schemeClr val="tx2"/>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99" name="正方形/長方形 98">
            <a:extLst>
              <a:ext uri="{FF2B5EF4-FFF2-40B4-BE49-F238E27FC236}">
                <a16:creationId xmlns:a16="http://schemas.microsoft.com/office/drawing/2014/main" id="{71342B33-5F5E-5ACC-6866-024BDB2FCF99}"/>
              </a:ext>
            </a:extLst>
          </p:cNvPr>
          <p:cNvSpPr/>
          <p:nvPr/>
        </p:nvSpPr>
        <p:spPr>
          <a:xfrm>
            <a:off x="2618679" y="2095601"/>
            <a:ext cx="697117" cy="30479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予約完了</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1" name="正方形/長方形 100">
            <a:extLst>
              <a:ext uri="{FF2B5EF4-FFF2-40B4-BE49-F238E27FC236}">
                <a16:creationId xmlns:a16="http://schemas.microsoft.com/office/drawing/2014/main" id="{47073071-D09C-A372-757E-07EDFC1B4691}"/>
              </a:ext>
            </a:extLst>
          </p:cNvPr>
          <p:cNvSpPr/>
          <p:nvPr/>
        </p:nvSpPr>
        <p:spPr>
          <a:xfrm>
            <a:off x="7490414" y="2123310"/>
            <a:ext cx="843512" cy="277088"/>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サロン入会</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103" name="正方形/長方形 102">
            <a:extLst>
              <a:ext uri="{FF2B5EF4-FFF2-40B4-BE49-F238E27FC236}">
                <a16:creationId xmlns:a16="http://schemas.microsoft.com/office/drawing/2014/main" id="{362FF045-6EC3-A2C7-23A8-F82F6C32CA62}"/>
              </a:ext>
            </a:extLst>
          </p:cNvPr>
          <p:cNvSpPr/>
          <p:nvPr/>
        </p:nvSpPr>
        <p:spPr>
          <a:xfrm>
            <a:off x="5151597" y="2099217"/>
            <a:ext cx="843512" cy="304064"/>
          </a:xfrm>
          <a:prstGeom prst="rect">
            <a:avLst/>
          </a:prstGeom>
          <a:solidFill>
            <a:srgbClr val="1F2A5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solidFill>
                <a:latin typeface="メイリオ" panose="020B0604030504040204" pitchFamily="50" charset="-128"/>
                <a:ea typeface="メイリオ" panose="020B0604030504040204" pitchFamily="50" charset="-128"/>
                <a:cs typeface="メイリオ"/>
              </a:rPr>
              <a:t>参加</a:t>
            </a:r>
            <a:endParaRPr lang="en-US" altLang="ja-JP" sz="1000"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104" name="直線矢印コネクタ 103">
            <a:extLst>
              <a:ext uri="{FF2B5EF4-FFF2-40B4-BE49-F238E27FC236}">
                <a16:creationId xmlns:a16="http://schemas.microsoft.com/office/drawing/2014/main" id="{B2BEB3B0-AB21-E350-31D0-2459E72A227A}"/>
              </a:ext>
            </a:extLst>
          </p:cNvPr>
          <p:cNvCxnSpPr>
            <a:cxnSpLocks/>
          </p:cNvCxnSpPr>
          <p:nvPr/>
        </p:nvCxnSpPr>
        <p:spPr>
          <a:xfrm rot="16200000">
            <a:off x="4316154" y="3825356"/>
            <a:ext cx="2628196" cy="2483"/>
          </a:xfrm>
          <a:prstGeom prst="straightConnector1">
            <a:avLst/>
          </a:prstGeom>
          <a:ln w="57150">
            <a:solidFill>
              <a:srgbClr val="1F2A5C"/>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106" name="正方形/長方形 105">
            <a:extLst>
              <a:ext uri="{FF2B5EF4-FFF2-40B4-BE49-F238E27FC236}">
                <a16:creationId xmlns:a16="http://schemas.microsoft.com/office/drawing/2014/main" id="{294E5883-9E5C-CC39-B584-0348ED134790}"/>
              </a:ext>
            </a:extLst>
          </p:cNvPr>
          <p:cNvSpPr/>
          <p:nvPr/>
        </p:nvSpPr>
        <p:spPr>
          <a:xfrm>
            <a:off x="425513" y="1810959"/>
            <a:ext cx="697117" cy="4644153"/>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solidFill>
                <a:latin typeface="メイリオ" panose="020B0604030504040204" pitchFamily="50" charset="-128"/>
                <a:ea typeface="メイリオ" panose="020B0604030504040204" pitchFamily="50" charset="-128"/>
                <a:cs typeface="メイリオ"/>
              </a:rPr>
              <a:t>AD</a:t>
            </a: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8" name="正方形/長方形 107">
            <a:extLst>
              <a:ext uri="{FF2B5EF4-FFF2-40B4-BE49-F238E27FC236}">
                <a16:creationId xmlns:a16="http://schemas.microsoft.com/office/drawing/2014/main" id="{BF61B903-1FDC-8BAE-D2B9-3470F4804967}"/>
              </a:ext>
            </a:extLst>
          </p:cNvPr>
          <p:cNvSpPr/>
          <p:nvPr/>
        </p:nvSpPr>
        <p:spPr>
          <a:xfrm>
            <a:off x="5088255" y="5754882"/>
            <a:ext cx="1135687" cy="490881"/>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lgn="ctr">
              <a:buFontTx/>
              <a:buChar char="-"/>
            </a:pPr>
            <a:r>
              <a:rPr lang="ja-JP" altLang="en-US" sz="1000" b="1" dirty="0">
                <a:solidFill>
                  <a:schemeClr val="tx1"/>
                </a:solidFill>
                <a:latin typeface="メイリオ" panose="020B0604030504040204" pitchFamily="50" charset="-128"/>
                <a:ea typeface="メイリオ" panose="020B0604030504040204" pitchFamily="50" charset="-128"/>
                <a:cs typeface="メイリオ"/>
              </a:rPr>
              <a:t>開催のない月の配信</a:t>
            </a:r>
            <a:endParaRPr lang="en-US" altLang="ja-JP" sz="1000" b="1"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2" name="直線矢印コネクタ 1">
            <a:extLst>
              <a:ext uri="{FF2B5EF4-FFF2-40B4-BE49-F238E27FC236}">
                <a16:creationId xmlns:a16="http://schemas.microsoft.com/office/drawing/2014/main" id="{BE373B3A-392A-272B-09F4-3EDF2F42A980}"/>
              </a:ext>
            </a:extLst>
          </p:cNvPr>
          <p:cNvCxnSpPr>
            <a:cxnSpLocks/>
          </p:cNvCxnSpPr>
          <p:nvPr/>
        </p:nvCxnSpPr>
        <p:spPr>
          <a:xfrm flipV="1">
            <a:off x="5137316" y="5576055"/>
            <a:ext cx="434566" cy="0"/>
          </a:xfrm>
          <a:prstGeom prst="straightConnector1">
            <a:avLst/>
          </a:prstGeom>
          <a:ln w="28575">
            <a:solidFill>
              <a:schemeClr val="bg1">
                <a:lumMod val="6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DB9BD1D1-C76F-12F8-B85E-165B4A6C8BFD}"/>
              </a:ext>
            </a:extLst>
          </p:cNvPr>
          <p:cNvSpPr txBox="1"/>
          <p:nvPr/>
        </p:nvSpPr>
        <p:spPr>
          <a:xfrm>
            <a:off x="4985064" y="5360849"/>
            <a:ext cx="671035" cy="230832"/>
          </a:xfrm>
          <a:prstGeom prst="rect">
            <a:avLst/>
          </a:prstGeom>
          <a:noFill/>
        </p:spPr>
        <p:txBody>
          <a:bodyPr wrap="square">
            <a:spAutoFit/>
          </a:bodyPr>
          <a:lstStyle/>
          <a:p>
            <a:pPr algn="ctr"/>
            <a:r>
              <a:rPr kumimoji="1" lang="ja-JP" altLang="en-US" sz="900" dirty="0">
                <a:solidFill>
                  <a:srgbClr val="1F2A5C"/>
                </a:solidFill>
                <a:latin typeface="メイリオ" panose="020B0604030504040204" pitchFamily="50" charset="-128"/>
                <a:ea typeface="メイリオ" panose="020B0604030504040204" pitchFamily="50" charset="-128"/>
                <a:cs typeface="メイリオ"/>
              </a:rPr>
              <a:t>離脱</a:t>
            </a:r>
            <a:endParaRPr kumimoji="1" lang="en-US" altLang="ja-JP" sz="9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 name="正方形/長方形 9">
            <a:extLst>
              <a:ext uri="{FF2B5EF4-FFF2-40B4-BE49-F238E27FC236}">
                <a16:creationId xmlns:a16="http://schemas.microsoft.com/office/drawing/2014/main" id="{452A1327-261D-FFA5-8AB0-FBC92A2407B8}"/>
              </a:ext>
            </a:extLst>
          </p:cNvPr>
          <p:cNvSpPr/>
          <p:nvPr/>
        </p:nvSpPr>
        <p:spPr>
          <a:xfrm>
            <a:off x="5995109" y="2633366"/>
            <a:ext cx="3273814" cy="14024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●イベント直後に、サロンの</a:t>
            </a:r>
            <a:endParaRPr kumimoji="1"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申込みフォームを案内</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00" dirty="0">
                <a:solidFill>
                  <a:schemeClr val="tx1"/>
                </a:solidFill>
                <a:latin typeface="メイリオ" panose="020B0604030504040204" pitchFamily="50" charset="-128"/>
                <a:ea typeface="メイリオ" panose="020B0604030504040204" pitchFamily="50" charset="-128"/>
                <a:cs typeface="メイリオ"/>
              </a:rPr>
              <a:t>（申込みはいつでも可能）</a:t>
            </a: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endParaRPr lang="en-US" altLang="ja-JP" sz="1000" dirty="0">
              <a:solidFill>
                <a:schemeClr val="tx1"/>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en-US" altLang="ja-JP" sz="1000" dirty="0" err="1">
                <a:solidFill>
                  <a:srgbClr val="1F2A5C"/>
                </a:solidFill>
                <a:latin typeface="メイリオ" panose="020B0604030504040204" pitchFamily="50" charset="-128"/>
                <a:ea typeface="メイリオ" panose="020B0604030504040204" pitchFamily="50" charset="-128"/>
                <a:cs typeface="メイリオ"/>
              </a:rPr>
              <a:t>個別チャットは貴社で対応</a:t>
            </a:r>
            <a:endParaRPr lang="en-US" altLang="ja-JP" sz="1000"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（自動応答などの効率化は弊社で設定）</a:t>
            </a:r>
          </a:p>
        </p:txBody>
      </p:sp>
      <p:sp>
        <p:nvSpPr>
          <p:cNvPr id="109" name="予約後の友だち追加の注記"/>
          <p:cNvSpPr/>
          <p:nvPr/>
        </p:nvSpPr>
        <p:spPr>
          <a:xfrm>
            <a:off x="6309360" y="4160520"/>
            <a:ext cx="2962656" cy="548640"/>
          </a:xfrm>
          <a:prstGeom prst="rect">
            <a:avLst/>
          </a:prstGeom>
          <a:noFill/>
          <a:ln>
            <a:noFill/>
          </a:ln>
        </p:spPr>
        <p:txBody>
          <a:bodyPr wrap="square" lIns="4572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※予約完了後の友だち追加は、サンクスLINE誘導（追加オプション）または通常の友だち追加のご案内で実施</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3947487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0D4D3-02EA-A5F1-D13F-557CC4270B1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CE82040-EC6A-3624-AB86-12AD7F91F3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AB48BF19-1E81-18F2-64BE-979545FAE824}"/>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期待成果・費用</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19375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cs typeface="メイリオ"/>
              </a:rPr>
              <a:t>概算お見積り：推奨構成（ポップアップあり）での6か月の運用</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初期</a:t>
            </a:r>
            <a:endParaRPr lang="en-US" sz="1400" b="0" u="none" strike="noStrike">
              <a:solidFill>
                <a:srgbClr val="FFFFFF"/>
              </a:solidFill>
              <a:effectLst/>
              <a:uFillTx/>
              <a:latin typeface="メイリオ"/>
              <a:ea typeface="メイリオ"/>
              <a:cs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月次</a:t>
            </a:r>
            <a:endParaRPr lang="en-US" sz="1400" b="0" u="none" strike="noStrike">
              <a:solidFill>
                <a:srgbClr val="FFFFFF"/>
              </a:solidFill>
              <a:effectLst/>
              <a:uFillTx/>
              <a:latin typeface="メイリオ"/>
              <a:ea typeface="メイリオ"/>
              <a:cs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¥145,000〜</a:t>
            </a:r>
            <a:endParaRPr lang="en-US" sz="1600" b="0" u="none" strike="noStrike">
              <a:solidFill>
                <a:srgbClr val="000000"/>
              </a:solidFill>
              <a:effectLst/>
              <a:uFillTx/>
              <a:latin typeface="メイリオ"/>
              <a:ea typeface="メイリオ"/>
              <a:cs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cs typeface="メイリオ"/>
              </a:rPr>
              <a:t>開催月 ¥335,000程度</a:t>
            </a:r>
            <a:endParaRPr lang="en-US" sz="1600" b="0" u="none" strike="noStrike">
              <a:solidFill>
                <a:srgbClr val="000000"/>
              </a:solidFill>
              <a:effectLst/>
              <a:uFillTx/>
              <a:latin typeface="メイリオ"/>
              <a:ea typeface="メイリオ"/>
              <a:cs typeface="メイリオ"/>
            </a:endParaRPr>
          </a:p>
          <a:p>
            <a:pPr algn="ctr" defTabSz="914400">
              <a:lnSpc>
                <a:spcPct val="100000"/>
              </a:lnSpc>
            </a:pPr>
            <a:r>
              <a:rPr lang="en-US" sz="1600" b="1" u="none" strike="noStrike">
                <a:solidFill>
                  <a:schemeClr val="dk1"/>
                </a:solidFill>
                <a:effectLst/>
                <a:uFillTx/>
                <a:latin typeface="メイリオ"/>
                <a:ea typeface="メイリオ"/>
                <a:cs typeface="メイリオ"/>
              </a:rPr>
              <a:t>開催のない月 ¥135,000〜</a:t>
            </a:r>
            <a:endParaRPr lang="en-US" sz="1600" b="0" u="none" strike="noStrike">
              <a:solidFill>
                <a:srgbClr val="000000"/>
              </a:solidFill>
              <a:effectLst/>
              <a:uFillTx/>
              <a:latin typeface="メイリオ"/>
              <a:ea typeface="メイリオ"/>
              <a:cs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0" u="none" strike="noStrike">
                <a:solidFill>
                  <a:schemeClr val="lt1"/>
                </a:solidFill>
                <a:effectLst/>
                <a:uFillTx/>
                <a:latin typeface="メイリオ"/>
                <a:ea typeface="メイリオ"/>
                <a:cs typeface="メイリオ"/>
              </a:rPr>
              <a:t>6か月後（サンクスLINE誘導あり）</a:t>
            </a:r>
            <a:endParaRPr lang="en-US" sz="1400" b="0" u="none" strike="noStrike">
              <a:solidFill>
                <a:srgbClr val="FFFFFF"/>
              </a:solidFill>
              <a:effectLst/>
              <a:uFillTx/>
              <a:latin typeface="メイリオ"/>
              <a:ea typeface="メイリオ"/>
              <a:cs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cs typeface="メイリオ"/>
              </a:rPr>
              <a:t>&lt;</a:t>
            </a:r>
            <a:r>
              <a:rPr lang="ja-JP" sz="1400" b="0" u="none" strike="noStrike">
                <a:solidFill>
                  <a:schemeClr val="dk1"/>
                </a:solidFill>
                <a:effectLst/>
                <a:uFillTx/>
                <a:latin typeface="メイリオ"/>
                <a:ea typeface="メイリオ"/>
                <a:cs typeface="メイリオ"/>
              </a:rPr>
              <a:t>実施内容</a:t>
            </a:r>
            <a:r>
              <a:rPr lang="en-US" sz="1400" b="0" u="none" strike="noStrike">
                <a:solidFill>
                  <a:schemeClr val="dk1"/>
                </a:solidFill>
                <a:effectLst/>
                <a:uFillTx/>
                <a:latin typeface="メイリオ"/>
                <a:ea typeface="メイリオ"/>
                <a:cs typeface="メイリオ"/>
              </a:rPr>
              <a:t>&gt;</a:t>
            </a:r>
            <a:endParaRPr lang="en-US" sz="1400" b="0" u="none" strike="noStrike">
              <a:solidFill>
                <a:srgbClr val="000000"/>
              </a:solidFill>
              <a:effectLst/>
              <a:uFillTx/>
              <a:latin typeface="メイリオ"/>
              <a:ea typeface="メイリオ"/>
              <a:cs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企画配信</a:t>
            </a:r>
            <a:endParaRPr lang="en-US" sz="1300" b="0" u="none" strike="noStrike">
              <a:solidFill>
                <a:srgbClr val="FFFFFF"/>
              </a:solidFill>
              <a:effectLst/>
              <a:uFillTx/>
              <a:latin typeface="メイリオ"/>
              <a:ea typeface="メイリオ"/>
              <a:cs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200" b="0" u="none" strike="noStrike">
                <a:solidFill>
                  <a:schemeClr val="dk1"/>
                </a:solidFill>
                <a:effectLst/>
                <a:uFillTx/>
                <a:latin typeface="メイリオ"/>
                <a:ea typeface="メイリオ"/>
                <a:cs typeface="メイリオ"/>
              </a:rPr>
              <a:t>開催月 4〜5回</a:t>
            </a:r>
            <a:endParaRPr lang="en-US" sz="1300" b="0" u="none" strike="noStrike">
              <a:solidFill>
                <a:srgbClr val="000000"/>
              </a:solidFill>
              <a:effectLst/>
              <a:uFillTx/>
              <a:latin typeface="メイリオ"/>
              <a:ea typeface="メイリオ"/>
              <a:cs typeface="メイリオ"/>
            </a:endParaRPr>
          </a:p>
          <a:p>
            <a:pPr algn="ctr" defTabSz="914400">
              <a:lnSpc>
                <a:spcPct val="100000"/>
              </a:lnSpc>
            </a:pPr>
            <a:r>
              <a:rPr lang="zh-CN" sz="1200" b="0" u="none" strike="noStrike">
                <a:solidFill>
                  <a:schemeClr val="dk1"/>
                </a:solidFill>
                <a:effectLst/>
                <a:uFillTx/>
                <a:latin typeface="メイリオ"/>
                <a:ea typeface="メイリオ"/>
                <a:cs typeface="メイリオ"/>
              </a:rPr>
              <a:t>開催のない月 1〜2回</a:t>
            </a:r>
            <a:endParaRPr lang="en-US" sz="1300" b="0" u="none" strike="noStrike">
              <a:solidFill>
                <a:srgbClr val="000000"/>
              </a:solidFill>
              <a:effectLst/>
              <a:uFillTx/>
              <a:latin typeface="メイリオ"/>
              <a:ea typeface="メイリオ"/>
              <a:cs typeface="メイリオ"/>
            </a:endParaRPr>
          </a:p>
        </p:txBody>
      </p:sp>
      <p:sp>
        <p:nvSpPr>
          <p:cNvPr id="351" name="正方形/長方形 32"/>
          <p:cNvSpPr/>
          <p:nvPr/>
        </p:nvSpPr>
        <p:spPr>
          <a:xfrm>
            <a:off x="33832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dirty="0">
                <a:solidFill>
                  <a:schemeClr val="lt1"/>
                </a:solidFill>
                <a:effectLst/>
                <a:uFillTx/>
                <a:latin typeface="メイリオ"/>
                <a:ea typeface="メイリオ"/>
                <a:cs typeface="メイリオ"/>
              </a:rPr>
              <a:t>前日・当日の</a:t>
            </a:r>
            <a:endParaRPr lang="en-US" sz="1200" b="0" u="none" strike="noStrike" dirty="0">
              <a:solidFill>
                <a:srgbClr val="FFFFFF"/>
              </a:solidFill>
              <a:effectLst/>
              <a:uFillTx/>
              <a:latin typeface="メイリオ"/>
              <a:ea typeface="メイリオ"/>
              <a:cs typeface="メイリオ"/>
            </a:endParaRPr>
          </a:p>
          <a:p>
            <a:pPr algn="ctr" defTabSz="914400">
              <a:lnSpc>
                <a:spcPct val="90000"/>
              </a:lnSpc>
            </a:pPr>
            <a:r>
              <a:rPr lang="ja-JP" sz="1200" b="0" u="none" strike="noStrike" dirty="0">
                <a:solidFill>
                  <a:schemeClr val="lt1"/>
                </a:solidFill>
                <a:effectLst/>
                <a:uFillTx/>
                <a:latin typeface="メイリオ"/>
                <a:ea typeface="メイリオ"/>
                <a:cs typeface="メイリオ"/>
              </a:rPr>
              <a:t>リマインド</a:t>
            </a:r>
            <a:endParaRPr lang="en-US" sz="1200" b="0" u="none" strike="noStrike" dirty="0">
              <a:solidFill>
                <a:srgbClr val="FFFFFF"/>
              </a:solidFill>
              <a:effectLst/>
              <a:uFillTx/>
              <a:latin typeface="メイリオ"/>
              <a:ea typeface="メイリオ"/>
              <a:cs typeface="メイリオ"/>
            </a:endParaRPr>
          </a:p>
        </p:txBody>
      </p:sp>
      <p:sp>
        <p:nvSpPr>
          <p:cNvPr id="352" name="正方形/長方形 36"/>
          <p:cNvSpPr/>
          <p:nvPr/>
        </p:nvSpPr>
        <p:spPr>
          <a:xfrm>
            <a:off x="48463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予約ごとに配信</a:t>
            </a:r>
            <a:endParaRPr lang="en-US" sz="1200" b="0" u="none" strike="noStrike">
              <a:solidFill>
                <a:srgbClr val="000000"/>
              </a:solidFill>
              <a:effectLst/>
              <a:uFillTx/>
              <a:latin typeface="メイリオ"/>
              <a:ea typeface="メイリオ"/>
              <a:cs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ステップ配信</a:t>
            </a:r>
            <a:endParaRPr lang="en-US" sz="1300" b="0" u="none" strike="noStrike" dirty="0">
              <a:solidFill>
                <a:srgbClr val="FFFFFF"/>
              </a:solidFill>
              <a:effectLst/>
              <a:uFillTx/>
              <a:latin typeface="メイリオ"/>
              <a:ea typeface="メイリオ"/>
              <a:cs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5通の改善</a:t>
            </a:r>
            <a:endParaRPr lang="en-US" sz="1300" b="0" u="none" strike="noStrike">
              <a:solidFill>
                <a:srgbClr val="000000"/>
              </a:solidFill>
              <a:effectLst/>
              <a:uFillTx/>
              <a:latin typeface="メイリオ"/>
              <a:ea typeface="メイリオ"/>
              <a:cs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友だちの入口</a:t>
            </a:r>
            <a:endParaRPr lang="en-US" sz="1300" b="0" u="none" strike="noStrike">
              <a:solidFill>
                <a:srgbClr val="FFFFFF"/>
              </a:solidFill>
              <a:effectLst/>
              <a:uFillTx/>
              <a:latin typeface="メイリオ"/>
              <a:ea typeface="メイリオ"/>
              <a:cs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運用</a:t>
            </a:r>
            <a:endParaRPr lang="en-US" sz="1300" b="0" u="none" strike="noStrike">
              <a:solidFill>
                <a:srgbClr val="000000"/>
              </a:solidFill>
              <a:effectLst/>
              <a:uFillTx/>
              <a:latin typeface="メイリオ"/>
              <a:ea typeface="メイリオ"/>
              <a:cs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dirty="0">
                <a:solidFill>
                  <a:schemeClr val="lt1"/>
                </a:solidFill>
                <a:effectLst/>
                <a:uFillTx/>
                <a:latin typeface="メイリオ"/>
                <a:ea typeface="メイリオ"/>
                <a:cs typeface="メイリオ"/>
              </a:rPr>
              <a:t>個別チャット</a:t>
            </a:r>
            <a:endParaRPr lang="en-US" sz="1300" b="0" u="none" strike="noStrike" dirty="0">
              <a:solidFill>
                <a:srgbClr val="FFFFFF"/>
              </a:solidFill>
              <a:effectLst/>
              <a:uFillTx/>
              <a:latin typeface="メイリオ"/>
              <a:ea typeface="メイリオ"/>
              <a:cs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貴社で対応</a:t>
            </a:r>
            <a:endParaRPr lang="en-US" sz="1300" b="0" u="none" strike="noStrike">
              <a:solidFill>
                <a:srgbClr val="000000"/>
              </a:solidFill>
              <a:effectLst/>
              <a:uFillTx/>
              <a:latin typeface="メイリオ"/>
              <a:ea typeface="メイリオ"/>
              <a:cs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友だち数</a:t>
            </a:r>
            <a:endParaRPr lang="en-US" sz="1400" b="0" u="none" strike="noStrike">
              <a:solidFill>
                <a:srgbClr val="000000"/>
              </a:solidFill>
              <a:effectLst/>
              <a:uFillTx/>
              <a:latin typeface="メイリオ"/>
              <a:ea typeface="メイリオ"/>
              <a:cs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cs typeface="メイリオ"/>
              </a:rPr>
              <a:t>配信可能な人数</a:t>
            </a:r>
            <a:endParaRPr lang="en-US" sz="1400" b="0" u="none" strike="noStrike">
              <a:solidFill>
                <a:srgbClr val="000000"/>
              </a:solidFill>
              <a:effectLst/>
              <a:uFillTx/>
              <a:latin typeface="メイリオ"/>
              <a:ea typeface="メイリオ"/>
              <a:cs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セミナー予約</a:t>
            </a:r>
            <a:endParaRPr lang="en-US" sz="1400" b="0" u="none" strike="noStrike">
              <a:solidFill>
                <a:srgbClr val="000000"/>
              </a:solidFill>
              <a:effectLst/>
              <a:uFillTx/>
              <a:latin typeface="メイリオ"/>
              <a:ea typeface="メイリオ"/>
              <a:cs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ポップアップ</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ツール</a:t>
            </a:r>
            <a:endParaRPr lang="en-US" sz="1300" b="0" u="none" strike="noStrike">
              <a:solidFill>
                <a:srgbClr val="FFFFFF"/>
              </a:solidFill>
              <a:effectLst/>
              <a:uFillTx/>
              <a:latin typeface="メイリオ"/>
              <a:ea typeface="メイリオ"/>
              <a:cs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cs typeface="メイリオ"/>
              </a:rPr>
              <a:t>導入（推奨）</a:t>
            </a:r>
            <a:endParaRPr lang="en-US" sz="1300" b="0" u="none" strike="noStrike">
              <a:solidFill>
                <a:srgbClr val="000000"/>
              </a:solidFill>
              <a:effectLst/>
              <a:uFillTx/>
              <a:latin typeface="メイリオ"/>
              <a:ea typeface="メイリオ"/>
              <a:cs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サンクス</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LINE誘導</a:t>
            </a:r>
            <a:endParaRPr lang="en-US" sz="1300" b="0" u="none" strike="noStrike">
              <a:solidFill>
                <a:srgbClr val="FFFFFF"/>
              </a:solidFill>
              <a:effectLst/>
              <a:uFillTx/>
              <a:latin typeface="メイリオ"/>
              <a:ea typeface="メイリオ"/>
              <a:cs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追加オプション</a:t>
            </a:r>
            <a:endParaRPr lang="en-US" sz="1300" b="0" u="none" strike="noStrike">
              <a:solidFill>
                <a:srgbClr val="000000"/>
              </a:solidFill>
              <a:effectLst/>
              <a:uFillTx/>
              <a:latin typeface="メイリオ"/>
              <a:ea typeface="メイリオ"/>
              <a:cs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LINE公式</a:t>
            </a:r>
            <a:endParaRPr lang="en-US" sz="1300" b="0" u="none" strike="noStrike">
              <a:solidFill>
                <a:srgbClr val="FFFFFF"/>
              </a:solidFill>
              <a:effectLst/>
              <a:uFillTx/>
              <a:latin typeface="メイリオ"/>
              <a:ea typeface="メイリオ"/>
              <a:cs typeface="メイリオ"/>
            </a:endParaRPr>
          </a:p>
          <a:p>
            <a:pPr algn="ctr" defTabSz="914400">
              <a:lnSpc>
                <a:spcPct val="100000"/>
              </a:lnSpc>
            </a:pPr>
            <a:r>
              <a:rPr lang="ja-JP" sz="1300" b="0" u="none" strike="noStrike">
                <a:solidFill>
                  <a:schemeClr val="lt1"/>
                </a:solidFill>
                <a:effectLst/>
                <a:uFillTx/>
                <a:latin typeface="メイリオ"/>
                <a:ea typeface="メイリオ"/>
                <a:cs typeface="メイリオ"/>
              </a:rPr>
              <a:t>アカウント開設</a:t>
            </a:r>
            <a:endParaRPr lang="en-US" sz="1300" b="0" u="none" strike="noStrike">
              <a:solidFill>
                <a:srgbClr val="FFFFFF"/>
              </a:solidFill>
              <a:effectLst/>
              <a:uFillTx/>
              <a:latin typeface="メイリオ"/>
              <a:ea typeface="メイリオ"/>
              <a:cs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cs typeface="メイリオ"/>
              </a:rPr>
              <a:t>対応</a:t>
            </a:r>
            <a:endParaRPr lang="en-US" sz="1300" b="0" u="none" strike="noStrike">
              <a:solidFill>
                <a:srgbClr val="000000"/>
              </a:solidFill>
              <a:effectLst/>
              <a:uFillTx/>
              <a:latin typeface="メイリオ"/>
              <a:ea typeface="メイリオ"/>
              <a:cs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ステップ配信</a:t>
            </a:r>
            <a:endParaRPr lang="en-US" sz="1300" b="0" u="none" strike="noStrike">
              <a:solidFill>
                <a:srgbClr val="FFFFFF"/>
              </a:solidFill>
              <a:effectLst/>
              <a:uFillTx/>
              <a:latin typeface="メイリオ"/>
              <a:ea typeface="メイリオ"/>
              <a:cs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cs typeface="メイリオ"/>
              </a:rPr>
              <a:t>5通を構築</a:t>
            </a:r>
            <a:endParaRPr lang="en-US" sz="1300" b="0" u="none" strike="noStrike">
              <a:solidFill>
                <a:srgbClr val="000000"/>
              </a:solidFill>
              <a:effectLst/>
              <a:uFillTx/>
              <a:latin typeface="メイリオ"/>
              <a:ea typeface="メイリオ"/>
              <a:cs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cs typeface="メイリオ"/>
              </a:rPr>
              <a:t>配信の設計</a:t>
            </a:r>
            <a:endParaRPr lang="en-US" sz="1300" b="0" u="none" strike="noStrike">
              <a:solidFill>
                <a:srgbClr val="FFFFFF"/>
              </a:solidFill>
              <a:effectLst/>
              <a:uFillTx/>
              <a:latin typeface="メイリオ"/>
              <a:ea typeface="メイリオ"/>
              <a:cs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200" b="0" u="none" strike="noStrike">
                <a:solidFill>
                  <a:schemeClr val="dk1"/>
                </a:solidFill>
                <a:effectLst/>
                <a:uFillTx/>
                <a:latin typeface="メイリオ"/>
                <a:ea typeface="メイリオ"/>
                <a:cs typeface="メイリオ"/>
              </a:rPr>
              <a:t>8フェーズで設計</a:t>
            </a:r>
            <a:endParaRPr lang="en-US" sz="1300" b="0" u="none" strike="noStrike">
              <a:solidFill>
                <a:srgbClr val="000000"/>
              </a:solidFill>
              <a:effectLst/>
              <a:uFillTx/>
              <a:latin typeface="メイリオ"/>
              <a:ea typeface="メイリオ"/>
              <a:cs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cs typeface="メイリオ"/>
              </a:rPr>
              <a:t>131人</a:t>
            </a:r>
            <a:endParaRPr lang="en-US" sz="1400" b="0" u="none" strike="noStrike">
              <a:solidFill>
                <a:srgbClr val="000000"/>
              </a:solidFill>
              <a:effectLst/>
              <a:uFillTx/>
              <a:latin typeface="メイリオ"/>
              <a:ea typeface="メイリオ"/>
              <a:cs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90人</a:t>
            </a:r>
            <a:endParaRPr lang="en-US" sz="1400" b="0" u="none" strike="noStrike">
              <a:solidFill>
                <a:srgbClr val="000000"/>
              </a:solidFill>
              <a:effectLst/>
              <a:uFillTx/>
              <a:latin typeface="メイリオ"/>
              <a:ea typeface="メイリオ"/>
              <a:cs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11件/6か月</a:t>
            </a:r>
            <a:endParaRPr lang="en-US" sz="1400" b="0" u="none" strike="noStrike">
              <a:solidFill>
                <a:srgbClr val="000000"/>
              </a:solidFill>
              <a:effectLst/>
              <a:uFillTx/>
              <a:latin typeface="メイリオ"/>
              <a:ea typeface="メイリオ"/>
              <a:cs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cs typeface="メイリオ"/>
              </a:rPr>
              <a:t>プラン②｜イベントに合わせた運用で、集めた方を友だちにし、次のセミナー予約・入会へつなげる</a:t>
            </a:r>
            <a:endParaRPr lang="en-US" sz="1400" b="0" u="none" strike="noStrike">
              <a:solidFill>
                <a:srgbClr val="000000"/>
              </a:solidFill>
              <a:effectLst/>
              <a:uFillTx/>
              <a:latin typeface="メイリオ"/>
              <a:ea typeface="メイリオ"/>
              <a:cs typeface="メイリオ"/>
            </a:endParaRPr>
          </a:p>
        </p:txBody>
      </p:sp>
      <p:sp>
        <p:nvSpPr>
          <p:cNvPr id="382" name="正方形/長方形 85"/>
          <p:cNvSpPr/>
          <p:nvPr/>
        </p:nvSpPr>
        <p:spPr>
          <a:xfrm>
            <a:off x="6812280" y="3383424"/>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cs typeface="メイリオ"/>
              </a:rPr>
              <a:t>サロン入会</a:t>
            </a:r>
            <a:endParaRPr lang="en-US" sz="1400" b="0" u="none" strike="noStrike">
              <a:solidFill>
                <a:srgbClr val="000000"/>
              </a:solidFill>
              <a:effectLst/>
              <a:uFillTx/>
              <a:latin typeface="メイリオ"/>
              <a:ea typeface="メイリオ"/>
              <a:cs typeface="メイリオ"/>
            </a:endParaRPr>
          </a:p>
        </p:txBody>
      </p:sp>
      <p:sp>
        <p:nvSpPr>
          <p:cNvPr id="383" name="テキスト ボックス 26"/>
          <p:cNvSpPr/>
          <p:nvPr/>
        </p:nvSpPr>
        <p:spPr>
          <a:xfrm>
            <a:off x="8256960" y="3383424"/>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cs typeface="メイリオ"/>
              </a:rPr>
              <a:t>4件/6か月</a:t>
            </a:r>
            <a:endParaRPr lang="en-US" sz="1400" b="0" u="none" strike="noStrike">
              <a:solidFill>
                <a:srgbClr val="000000"/>
              </a:solidFill>
              <a:effectLst/>
              <a:uFillTx/>
              <a:latin typeface="メイリオ"/>
              <a:ea typeface="メイリオ"/>
              <a:cs typeface="メイリオ"/>
            </a:endParaRPr>
          </a:p>
        </p:txBody>
      </p:sp>
      <p:sp>
        <p:nvSpPr>
          <p:cNvPr id="3" name="正方形/長方形 57">
            <a:extLst>
              <a:ext uri="{FF2B5EF4-FFF2-40B4-BE49-F238E27FC236}">
                <a16:creationId xmlns:a16="http://schemas.microsoft.com/office/drawing/2014/main" id="{F866D691-36CB-2858-C7C4-274E9BD31295}"/>
              </a:ext>
            </a:extLst>
          </p:cNvPr>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b="0" u="none" strike="noStrike" dirty="0">
                <a:solidFill>
                  <a:schemeClr val="lt1"/>
                </a:solidFill>
                <a:effectLst/>
                <a:uFillTx/>
                <a:latin typeface="メイリオ"/>
                <a:ea typeface="メイリオ"/>
                <a:cs typeface="メイリオ"/>
              </a:rPr>
              <a:t>月次レポート</a:t>
            </a:r>
            <a:r>
              <a:rPr lang="ja-JP" altLang="en-US" sz="1300" dirty="0">
                <a:solidFill>
                  <a:srgbClr val="FFFFFF"/>
                </a:solidFill>
                <a:latin typeface="メイリオ"/>
                <a:ea typeface="メイリオ"/>
                <a:cs typeface="メイリオ"/>
              </a:rPr>
              <a:t>・</a:t>
            </a:r>
            <a:endParaRPr lang="en-US" altLang="ja-JP" sz="1300" dirty="0">
              <a:solidFill>
                <a:srgbClr val="FFFFFF"/>
              </a:solidFill>
              <a:latin typeface="メイリオ"/>
              <a:ea typeface="メイリオ"/>
              <a:cs typeface="メイリオ"/>
            </a:endParaRPr>
          </a:p>
          <a:p>
            <a:pPr algn="ctr" defTabSz="914400">
              <a:lnSpc>
                <a:spcPct val="100000"/>
              </a:lnSpc>
            </a:pPr>
            <a:r>
              <a:rPr lang="ja-JP" altLang="en-US" sz="1300" b="0" u="none" strike="noStrike" dirty="0">
                <a:solidFill>
                  <a:srgbClr val="FFFFFF"/>
                </a:solidFill>
                <a:effectLst/>
                <a:uFillTx/>
                <a:latin typeface="メイリオ"/>
                <a:ea typeface="メイリオ"/>
                <a:cs typeface="メイリオ"/>
              </a:rPr>
              <a:t>定例会</a:t>
            </a:r>
            <a:endParaRPr lang="en-US" altLang="ja-JP" sz="1300" b="0" u="none" strike="noStrike" dirty="0">
              <a:solidFill>
                <a:schemeClr val="lt1"/>
              </a:solidFill>
              <a:effectLst/>
              <a:uFillTx/>
              <a:latin typeface="メイリオ"/>
              <a:ea typeface="メイリオ"/>
              <a:cs typeface="メイリオ"/>
            </a:endParaRPr>
          </a:p>
        </p:txBody>
      </p:sp>
      <p:sp>
        <p:nvSpPr>
          <p:cNvPr id="5" name="正方形/長方形 61">
            <a:extLst>
              <a:ext uri="{FF2B5EF4-FFF2-40B4-BE49-F238E27FC236}">
                <a16:creationId xmlns:a16="http://schemas.microsoft.com/office/drawing/2014/main" id="{916B9146-7BB6-4276-D5B6-30DF19D48AA1}"/>
              </a:ext>
            </a:extLst>
          </p:cNvPr>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altLang="en-US" sz="1300" dirty="0">
                <a:solidFill>
                  <a:schemeClr val="dk1"/>
                </a:solidFill>
                <a:latin typeface="メイリオ"/>
                <a:ea typeface="メイリオ"/>
                <a:cs typeface="メイリオ"/>
              </a:rPr>
              <a:t>月１回</a:t>
            </a:r>
            <a:endParaRPr lang="en-US" sz="1300" b="0" u="none" strike="noStrike" dirty="0">
              <a:solidFill>
                <a:srgbClr val="000000"/>
              </a:solidFill>
              <a:effectLst/>
              <a:uFillTx/>
              <a:latin typeface="メイリオ"/>
              <a:ea typeface="メイリオ"/>
              <a:cs typeface="メイリオ"/>
            </a:endParaRPr>
          </a:p>
        </p:txBody>
      </p:sp>
      <p:sp>
        <p:nvSpPr>
          <p:cNvPr id="384" name="想定の注記"/>
          <p:cNvSpPr/>
          <p:nvPr/>
        </p:nvSpPr>
        <p:spPr>
          <a:xfrm>
            <a:off x="6748272" y="3931920"/>
            <a:ext cx="2898648" cy="2286000"/>
          </a:xfrm>
          <a:prstGeom prst="rect">
            <a:avLst/>
          </a:prstGeom>
          <a:noFill/>
          <a:ln>
            <a:noFill/>
          </a:ln>
        </p:spPr>
        <p:txBody>
          <a:bodyPr wrap="square" lIns="45720" tIns="0" rIns="0" bIns="0" rtlCol="0" anchor="t">
            <a:noAutofit/>
          </a:bodyPr>
          <a:lstStyle/>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※SIMによる想定値（実績ではない）。ポップアップ＋サンクスLINE誘導の場合</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※推奨構成（ポップアップのみ）では、予約完了後の友だち追加が減るため、友だち数・配信可能な人数は少なくなる想定</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※セミナー予約・サロン入会は、LINEの配信・リンクからの件数。友だち数ほどの差は見込まないが、同数とは限らない</a:t>
            </a:r>
            <a:endParaRPr lang="ja-JP" altLang="en-US" sz="1200" dirty="0">
              <a:latin typeface="メイリオ"/>
              <a:ea typeface="メイリオ"/>
              <a:cs typeface="メイリオ"/>
            </a:endParaRPr>
          </a:p>
          <a:p>
            <a:pPr algn="l">
              <a:lnSpc>
                <a:spcPct val="110000"/>
              </a:lnSpc>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※配信可能な人数＝ブロックされずに届く友だちの数</a:t>
            </a:r>
            <a:endParaRPr lang="ja-JP" altLang="en-US" sz="1200" dirty="0">
              <a:latin typeface="メイリオ"/>
              <a:ea typeface="メイリオ"/>
              <a:cs typeface="メイリオ"/>
            </a:endParaRPr>
          </a:p>
        </p:txBody>
      </p:sp>
      <p:sp>
        <p:nvSpPr>
          <p:cNvPr id="385" name="追加オプション"/>
          <p:cNvSpPr/>
          <p:nvPr/>
        </p:nvSpPr>
        <p:spPr>
          <a:xfrm>
            <a:off x="265176" y="6053328"/>
            <a:ext cx="5971032" cy="411480"/>
          </a:xfrm>
          <a:prstGeom prst="rect">
            <a:avLst/>
          </a:prstGeom>
          <a:solidFill>
            <a:srgbClr val="F5F7FA"/>
          </a:solidFill>
          <a:ln w="9525">
            <a:solidFill>
              <a:srgbClr val="1F2A5C"/>
            </a:solidFill>
          </a:ln>
        </p:spPr>
        <p:txBody>
          <a:bodyPr wrap="square" lIns="91440" tIns="18288" rIns="91440" bIns="18288" rtlCol="0" anchor="ctr">
            <a:noAutofit/>
          </a:bodyPr>
          <a:lstStyle/>
          <a:p>
            <a:pPr algn="l">
              <a:buNone/>
            </a:pPr>
            <a:r>
              <a:rPr lang="ja-JP" altLang="en-US" sz="1100" b="1" dirty="0">
                <a:solidFill>
                  <a:srgbClr val="1F2A5C"/>
                </a:solidFill>
                <a:latin typeface="メイリオ" panose="020B0604030504040204" pitchFamily="50" charset="-128"/>
                <a:ea typeface="メイリオ" panose="020B0604030504040204" pitchFamily="50" charset="-128"/>
                <a:cs typeface="メイリオ"/>
              </a:rPr>
              <a:t>追加オプション｜サンクスLINE誘導：初期＋¥150,000・月額＋¥30,000〜</a:t>
            </a:r>
            <a:endParaRPr lang="ja-JP" altLang="en-US" sz="1200" dirty="0">
              <a:latin typeface="メイリオ"/>
              <a:ea typeface="メイリオ"/>
              <a:cs typeface="メイリオ"/>
            </a:endParaRPr>
          </a:p>
          <a:p>
            <a:pPr algn="l">
              <a:buNone/>
            </a:pPr>
            <a:r>
              <a:rPr lang="ja-JP" altLang="en-US" sz="1000" b="0" dirty="0">
                <a:solidFill>
                  <a:srgbClr val="333333"/>
                </a:solidFill>
                <a:latin typeface="メイリオ" panose="020B0604030504040204" pitchFamily="50" charset="-128"/>
                <a:ea typeface="メイリオ" panose="020B0604030504040204" pitchFamily="50" charset="-128"/>
                <a:cs typeface="メイリオ"/>
              </a:rPr>
              <a:t>（追加した場合の合計：初期 ¥295,000〜／開催月 ¥365,000程度／開催のない月 ¥165,000〜）</a:t>
            </a:r>
            <a:endParaRPr lang="ja-JP" altLang="en-US" sz="1200" dirty="0">
              <a:latin typeface="メイリオ"/>
              <a:ea typeface="メイリオ"/>
              <a:cs typeface="メイリオ"/>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費用の比較：推奨構成と、サンクスLINE誘導を追加する場合</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費用の比較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ポップアップの導入を推奨。サンクスLINE誘導は追加の選択肢</a:t>
            </a:r>
            <a:endParaRPr lang="en-US" sz="1600" b="0" u="none" strike="noStrike" dirty="0">
              <a:solidFill>
                <a:srgbClr val="000000"/>
              </a:solidFill>
              <a:effectLst/>
              <a:uFillTx/>
              <a:latin typeface="メイリオ"/>
              <a:ea typeface="メイリオ"/>
              <a:cs typeface="メイリオ"/>
            </a:endParaRPr>
          </a:p>
        </p:txBody>
      </p:sp>
      <p:graphicFrame>
        <p:nvGraphicFramePr>
          <p:cNvPr id="638" name="費用の比較 637"/>
          <p:cNvGraphicFramePr>
            <a:graphicFrameLocks noGrp="1"/>
          </p:cNvGraphicFramePr>
          <p:nvPr/>
        </p:nvGraphicFramePr>
        <p:xfrm>
          <a:off x="384048" y="1353312"/>
          <a:ext cx="9144000" cy="3264408"/>
        </p:xfrm>
        <a:graphic>
          <a:graphicData uri="http://schemas.openxmlformats.org/drawingml/2006/table">
            <a:tbl>
              <a:tblPr/>
              <a:tblGrid>
                <a:gridCol w="2514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384048">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推奨構成：ポップアップあり</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追加構成：＋サンクスLINE誘導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初期費用</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295,000円〜（＋150,000円）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135,000円〜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165,000円〜（＋30,000円〜）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45720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月額費用（セミナー開催月）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335,000円程度</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500" b="1" dirty="0">
                          <a:solidFill>
                            <a:srgbClr val="1F2A5C"/>
                          </a:solidFill>
                          <a:latin typeface="メイリオ" panose="020B0604030504040204" pitchFamily="50" charset="-128"/>
                          <a:ea typeface="メイリオ" panose="020B0604030504040204" pitchFamily="50" charset="-128"/>
                          <a:cs typeface="メイリオ"/>
                        </a:rPr>
                        <a:t>365,000円程度（＋30,000円〜）</a:t>
                      </a:r>
                      <a:endParaRPr lang="ja-JP" altLang="en-US" sz="15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友だちの入口</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離脱防止ポップアップで、LPを離れる方を友だちに。予約完了ページには通常の友だち追加ボタン等を設置（費用・実装条件は仕様確認のうえ）</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上記に加え、予約完了後にLINEへ自動遷移（フォームの入力内容の引き継ぎも可能）</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追加するメリット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予約した方を友だちにしやすくなり、特にセミナー開催時期の友だち追加数の上積みが期待できる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39" name="注記"/>
          <p:cNvSpPr/>
          <p:nvPr/>
        </p:nvSpPr>
        <p:spPr>
          <a:xfrm>
            <a:off x="420624" y="4754880"/>
            <a:ext cx="9052560" cy="96012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※月額費用＝コンサルティング費（開催のない月 100,000円／セミナー開催月 300,000円程度）＋ツール・LINE関連費（推奨構成 35,000円〜＝ポップアップ 30,000円＋LINE公式アカウント利用料 5,000円〜）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※初期費用（推奨構成）＝運用設計・構築 100,000円〜＋ポップアップ 15,000円＋LINE公式アカウント開設 30,000円</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※ポップアップ・サンクスLINE誘導はどちらも選択制。ポップアップも導入しない場合の参考：初期 130,000円〜／開催のない月 105,000円〜／開催月 305,000円程度（別途の実装・制作費等は含まない）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※サンクスLINE誘導の最低利用期間・停止条件（セミナー開催月だけの利用可否）は、確認のうえご案内</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料金プラン：3つのプランの費用</a:t>
            </a:r>
            <a:endParaRPr lang="en-US" sz="1600" b="0" u="none" strike="noStrike">
              <a:solidFill>
                <a:srgbClr val="000000"/>
              </a:solidFill>
              <a:effectLst/>
              <a:uFillTx/>
              <a:latin typeface="メイリオ"/>
              <a:ea typeface="メイリオ"/>
              <a:cs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cs typeface="メイリオ"/>
              </a:rPr>
              <a:t>料金プランの比較</a:t>
            </a:r>
            <a:endParaRPr lang="en-US" sz="1400" b="0" u="none" strike="noStrike" dirty="0">
              <a:solidFill>
                <a:srgbClr val="FFFFFF"/>
              </a:solidFill>
              <a:effectLst/>
              <a:uFillTx/>
              <a:latin typeface="メイリオ"/>
              <a:ea typeface="メイリオ"/>
              <a:cs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ご予算と運用の体制に合わせて、3つのプランをご用意</a:t>
            </a:r>
            <a:endParaRPr lang="en-US" sz="1600" b="0" u="none" strike="noStrike" dirty="0">
              <a:solidFill>
                <a:srgbClr val="000000"/>
              </a:solidFill>
              <a:effectLst/>
              <a:uFillTx/>
              <a:latin typeface="メイリオ"/>
              <a:ea typeface="メイリオ"/>
              <a:cs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889248"/>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400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初期費用</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145,000円〜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100,000円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200,000円〜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月額コンサルティング費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300,000円程度</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300,000円〜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月額ツール・LINE関連費</a:t>
                      </a:r>
                      <a:endParaRPr lang="ja-JP" altLang="en-US" sz="1400" dirty="0">
                        <a:latin typeface="メイリオ"/>
                        <a:ea typeface="メイリオ"/>
                        <a:cs typeface="メイリオ"/>
                      </a:endParaRPr>
                    </a:p>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（ポップアップあり）</a:t>
                      </a:r>
                      <a:endParaRPr lang="ja-JP" altLang="en-US" sz="1400" dirty="0">
                        <a:latin typeface="メイリオ"/>
                        <a:ea typeface="メイリオ"/>
                        <a:cs typeface="メイリオ"/>
                      </a:endParaRPr>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cs typeface="メイリオ"/>
                        </a:rPr>
                        <a:t>35,000円〜</a:t>
                      </a:r>
                      <a:endParaRPr lang="ja-JP" altLang="en-US" sz="15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（開催のない月）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cs typeface="メイリオ"/>
                        </a:rPr>
                        <a:t>135,000円〜</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235,000円〜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5"/>
                  </a:ext>
                </a:extLst>
              </a:tr>
              <a:tr h="59436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月額費用</a:t>
                      </a:r>
                      <a:endParaRPr lang="ja-JP" altLang="en-US" sz="14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（セミナー開催月）</a:t>
                      </a:r>
                      <a:endParaRPr lang="ja-JP" altLang="en-US" sz="14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335,000円程度</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600" b="1" dirty="0">
                          <a:solidFill>
                            <a:srgbClr val="1F285A"/>
                          </a:solidFill>
                          <a:latin typeface="メイリオ" panose="020B0604030504040204" pitchFamily="50" charset="-128"/>
                          <a:ea typeface="メイリオ" panose="020B0604030504040204" pitchFamily="50" charset="-128"/>
                          <a:cs typeface="メイリオ"/>
                        </a:rPr>
                        <a:t>335,000円〜</a:t>
                      </a:r>
                      <a:endParaRPr lang="ja-JP" altLang="en-US" sz="16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6"/>
                  </a:ext>
                </a:extLst>
              </a:tr>
            </a:tbl>
          </a:graphicData>
        </a:graphic>
      </p:graphicFrame>
      <p:sp>
        <p:nvSpPr>
          <p:cNvPr id="640" name="注記"/>
          <p:cNvSpPr/>
          <p:nvPr/>
        </p:nvSpPr>
        <p:spPr>
          <a:xfrm>
            <a:off x="384048" y="53035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※初期費用＝運用設計・構築 100,000円〜＋ポップアップ 15,000円＋LINE公式アカウント開設 30,000円</a:t>
            </a:r>
            <a:endParaRPr lang="ja-JP" altLang="en-US" sz="1200" dirty="0">
              <a:latin typeface="メイリオ"/>
              <a:ea typeface="メイリオ"/>
              <a:cs typeface="メイリオ"/>
            </a:endParaRPr>
          </a:p>
        </p:txBody>
      </p:sp>
      <p:sp>
        <p:nvSpPr>
          <p:cNvPr id="641" name="注記"/>
          <p:cNvSpPr/>
          <p:nvPr/>
        </p:nvSpPr>
        <p:spPr>
          <a:xfrm>
            <a:off x="384048" y="55321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※月額ツール・LINE関連費＝ポップアップ 30,000円＋LINE公式アカウント利用料 5,000円〜</a:t>
            </a:r>
            <a:endParaRPr lang="ja-JP" altLang="en-US" sz="1200" dirty="0">
              <a:latin typeface="メイリオ"/>
              <a:ea typeface="メイリオ"/>
              <a:cs typeface="メイリオ"/>
            </a:endParaRPr>
          </a:p>
        </p:txBody>
      </p:sp>
      <p:sp>
        <p:nvSpPr>
          <p:cNvPr id="642" name="注記"/>
          <p:cNvSpPr/>
          <p:nvPr/>
        </p:nvSpPr>
        <p:spPr>
          <a:xfrm>
            <a:off x="384048" y="57607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※ツールは選択制。サンクスLINE誘導を追加する場合は、初期＋150,000円・月額＋30,000円〜（ポップアップを導入しない場合は、初期−15,000円・月額−30,000円）</a:t>
            </a:r>
            <a:endParaRPr lang="ja-JP" altLang="en-US" sz="1200" dirty="0">
              <a:latin typeface="メイリオ"/>
              <a:ea typeface="メイリオ"/>
              <a:cs typeface="メイリオ"/>
            </a:endParaRPr>
          </a:p>
        </p:txBody>
      </p:sp>
      <p:sp>
        <p:nvSpPr>
          <p:cNvPr id="643" name="注記"/>
          <p:cNvSpPr/>
          <p:nvPr/>
        </p:nvSpPr>
        <p:spPr>
          <a:xfrm>
            <a:off x="384048" y="59893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※成果報酬型プラン：初期 145,000円〜／月額 35,000円〜＋成果報酬（セミナー予約 12,000円／件）。ツールの追加は上記と同じ</a:t>
            </a:r>
            <a:endParaRPr lang="ja-JP" altLang="en-US" sz="1200" dirty="0">
              <a:latin typeface="メイリオ"/>
              <a:ea typeface="メイリオ"/>
              <a:cs typeface="メイリオ"/>
            </a:endParaRPr>
          </a:p>
        </p:txBody>
      </p:sp>
      <p:sp>
        <p:nvSpPr>
          <p:cNvPr id="644" name="注記"/>
          <p:cNvSpPr/>
          <p:nvPr/>
        </p:nvSpPr>
        <p:spPr>
          <a:xfrm>
            <a:off x="384048" y="621792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※契約期間は6か月。広告費は含まない。施策内容・配信本数・連携範囲等により、費用は個別にお見積もりいたします。</a:t>
            </a:r>
            <a:endParaRPr lang="ja-JP" altLang="en-US" sz="1200" dirty="0">
              <a:latin typeface="メイリオ"/>
              <a:ea typeface="メイリオ"/>
              <a:cs typeface="メイリオ"/>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運用内容：プランごとの対応範囲</a:t>
            </a:r>
            <a:endParaRPr lang="en-US" sz="1600" b="0" u="none" strike="noStrike">
              <a:solidFill>
                <a:srgbClr val="000000"/>
              </a:solidFill>
              <a:effectLst/>
              <a:uFillTx/>
              <a:latin typeface="メイリオ"/>
              <a:ea typeface="メイリオ"/>
              <a:cs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cs typeface="メイリオ"/>
              </a:rPr>
              <a:t>運用内容の比較</a:t>
            </a:r>
            <a:endParaRPr lang="en-US" sz="1400" b="0" u="none" strike="noStrike">
              <a:solidFill>
                <a:srgbClr val="FFFFFF"/>
              </a:solidFill>
              <a:effectLst/>
              <a:uFillTx/>
              <a:latin typeface="メイリオ"/>
              <a:ea typeface="メイリオ"/>
              <a:cs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cs typeface="メイリオ"/>
              </a:rPr>
              <a:t>3つのプランの運用内容の比較</a:t>
            </a:r>
            <a:endParaRPr lang="en-US" sz="1600" b="0" u="none" strike="noStrike" dirty="0">
              <a:solidFill>
                <a:srgbClr val="000000"/>
              </a:solidFill>
              <a:effectLst/>
              <a:uFillTx/>
              <a:latin typeface="メイリオ"/>
              <a:ea typeface="メイリオ"/>
              <a:cs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2955272464"/>
              </p:ext>
            </p:extLst>
          </p:nvPr>
        </p:nvGraphicFramePr>
        <p:xfrm>
          <a:off x="384048" y="1353312"/>
          <a:ext cx="9144000" cy="3642969"/>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項目</a:t>
                      </a:r>
                      <a:endParaRPr lang="ja-JP" altLang="en-US" sz="14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プラン①</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初期設計のみ</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プラン②</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イベントに合わせた運用</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プラン③</a:t>
                      </a:r>
                      <a:endParaRPr lang="ja-JP" altLang="en-US" sz="1300" dirty="0">
                        <a:latin typeface="メイリオ"/>
                        <a:ea typeface="メイリオ"/>
                        <a:cs typeface="メイリオ"/>
                      </a:endParaRPr>
                    </a:p>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継続的な運用・改善</a:t>
                      </a:r>
                      <a:endParaRPr lang="ja-JP" altLang="en-US" sz="1300" dirty="0">
                        <a:latin typeface="メイリオ"/>
                        <a:ea typeface="メイリオ"/>
                        <a:cs typeface="メイリオ"/>
                      </a:endParaRPr>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ポップアップ（推奨）・</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サンクスLINE誘導（追加）</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選択制・導入内容に</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応じて対応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ステップ配信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5通</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（構築・改善）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企画配信</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なし（貴社で運用）</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月4〜5回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開催のない月は月1〜2回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開催月 月5回</a:t>
                      </a:r>
                      <a:endParaRPr lang="ja-JP" altLang="en-US" sz="1300" dirty="0">
                        <a:latin typeface="メイリオ"/>
                        <a:ea typeface="メイリオ"/>
                        <a:cs typeface="メイリオ"/>
                      </a:endParaRPr>
                    </a:p>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開催のない月は月3回</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セミナー前日・当日のリマインド</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設定のみ</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設定・改善</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結果の分析・改善</a:t>
                      </a:r>
                      <a:endParaRPr lang="ja-JP" altLang="en-US" sz="1300" dirty="0">
                        <a:latin typeface="メイリオ"/>
                        <a:ea typeface="メイリオ"/>
                        <a:cs typeface="メイリオ"/>
                      </a:endParaRPr>
                    </a:p>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（月次レポート・定例会）</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なし</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dirty="0">
                          <a:latin typeface="メイリオ"/>
                          <a:ea typeface="メイリオ"/>
                          <a:cs typeface="メイリオ"/>
                        </a:rPr>
                        <a:t>対応</a:t>
                      </a:r>
                      <a:endParaRPr lang="en-US" altLang="ja-JP"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個別チャット</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cs typeface="メイリオ"/>
                        </a:rPr>
                        <a:t>貴社で対応</a:t>
                      </a:r>
                      <a:endParaRPr lang="ja-JP" altLang="en-US" sz="1300" dirty="0">
                        <a:latin typeface="メイリオ"/>
                        <a:ea typeface="メイリオ"/>
                        <a:cs typeface="メイリオ"/>
                      </a:endParaRPr>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7" name="注記"/>
          <p:cNvSpPr/>
          <p:nvPr/>
        </p:nvSpPr>
        <p:spPr>
          <a:xfrm>
            <a:off x="420624" y="512064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※月額のコンサルティング費には、企画配信の制作に加え、LINEアカウントの運用・導線の管理・ステップ配信の改善・配信結果の分析・次回施策への改善提案を含む</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※開催のない月の配信は、次のイベントまで関係を保つためのもの（配信の回数を増やすこと自体は目的にしない）</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※前日・当日のリマインドは、企画配信とは別に、予約ごとに配信。契約期間は6か月</a:t>
            </a:r>
            <a:endParaRPr lang="ja-JP" altLang="en-US" sz="1200" dirty="0">
              <a:latin typeface="メイリオ"/>
              <a:ea typeface="メイリオ"/>
              <a:cs typeface="メイリオ"/>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A67513FB-FEEF-76F5-5394-A1A2495F048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5CF6CD71-4C48-796A-BD54-E778269A9308}"/>
              </a:ext>
            </a:extLst>
          </p:cNvPr>
          <p:cNvSpPr/>
          <p:nvPr/>
        </p:nvSpPr>
        <p:spPr>
          <a:xfrm>
            <a:off x="0" y="777240"/>
            <a:ext cx="210312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成果報酬型プラン</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6C35AEF3-D15B-5805-4919-629E6F4207CC}"/>
              </a:ext>
            </a:extLst>
          </p:cNvPr>
          <p:cNvSpPr txBox="1"/>
          <p:nvPr/>
        </p:nvSpPr>
        <p:spPr>
          <a:xfrm>
            <a:off x="2286000" y="859443"/>
            <a:ext cx="7406640"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別案：成果件数に応じた費用で、リスクを抑えて運用を始められる</a:t>
            </a:r>
          </a:p>
        </p:txBody>
      </p:sp>
      <p:sp>
        <p:nvSpPr>
          <p:cNvPr id="21" name="正方形/長方形 20">
            <a:extLst>
              <a:ext uri="{FF2B5EF4-FFF2-40B4-BE49-F238E27FC236}">
                <a16:creationId xmlns:a16="http://schemas.microsoft.com/office/drawing/2014/main" id="{EEA02B17-0DA2-A3FE-A6E5-243C1724301E}"/>
              </a:ext>
            </a:extLst>
          </p:cNvPr>
          <p:cNvSpPr/>
          <p:nvPr/>
        </p:nvSpPr>
        <p:spPr>
          <a:xfrm>
            <a:off x="548881" y="1405687"/>
            <a:ext cx="4404119" cy="2061098"/>
          </a:xfrm>
          <a:prstGeom prst="rect">
            <a:avLst/>
          </a:prstGeom>
          <a:no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a:extLst>
              <a:ext uri="{FF2B5EF4-FFF2-40B4-BE49-F238E27FC236}">
                <a16:creationId xmlns:a16="http://schemas.microsoft.com/office/drawing/2014/main" id="{CA8AA691-8D48-57D0-BF47-34182D3A6DAC}"/>
              </a:ext>
            </a:extLst>
          </p:cNvPr>
          <p:cNvSpPr/>
          <p:nvPr/>
        </p:nvSpPr>
        <p:spPr>
          <a:xfrm>
            <a:off x="748333" y="1594972"/>
            <a:ext cx="2322527"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メイリオ" panose="020B0604030504040204" pitchFamily="50" charset="-128"/>
                <a:ea typeface="メイリオ" panose="020B0604030504040204" pitchFamily="50" charset="-128"/>
                <a:cs typeface="メイリオ"/>
              </a:rPr>
              <a:t>成果報酬費用</a:t>
            </a:r>
            <a:endParaRPr kumimoji="1" lang="ja-JP" altLang="en-US" sz="10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264193FC-5A1A-667F-A9D5-30C2155A72EB}"/>
              </a:ext>
            </a:extLst>
          </p:cNvPr>
          <p:cNvSpPr/>
          <p:nvPr/>
        </p:nvSpPr>
        <p:spPr>
          <a:xfrm>
            <a:off x="3230275" y="1588966"/>
            <a:ext cx="1494125" cy="50292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メイリオ" panose="020B0604030504040204" pitchFamily="50" charset="-128"/>
                <a:ea typeface="メイリオ" panose="020B0604030504040204" pitchFamily="50" charset="-128"/>
                <a:cs typeface="メイリオ"/>
              </a:rPr>
              <a:t>固定費用</a:t>
            </a: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 name="正方形/長方形 6">
            <a:extLst>
              <a:ext uri="{FF2B5EF4-FFF2-40B4-BE49-F238E27FC236}">
                <a16:creationId xmlns:a16="http://schemas.microsoft.com/office/drawing/2014/main" id="{692E0C40-273C-2C77-21FF-EC7A2A1C8F8F}"/>
              </a:ext>
            </a:extLst>
          </p:cNvPr>
          <p:cNvSpPr/>
          <p:nvPr/>
        </p:nvSpPr>
        <p:spPr>
          <a:xfrm>
            <a:off x="748333" y="2116483"/>
            <a:ext cx="2322527"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成果件数 </a:t>
            </a:r>
            <a:r>
              <a:rPr lang="en-US" altLang="ja-JP" sz="1400" b="1" dirty="0">
                <a:solidFill>
                  <a:schemeClr val="tx1"/>
                </a:solidFill>
                <a:latin typeface="メイリオ" panose="020B0604030504040204" pitchFamily="50" charset="-128"/>
                <a:ea typeface="メイリオ" panose="020B0604030504040204" pitchFamily="50" charset="-128"/>
                <a:cs typeface="メイリオ"/>
              </a:rPr>
              <a:t>× </a:t>
            </a:r>
            <a:r>
              <a:rPr lang="ja-JP" altLang="en-US" sz="1400" b="1" dirty="0">
                <a:solidFill>
                  <a:schemeClr val="tx1"/>
                </a:solidFill>
                <a:latin typeface="メイリオ" panose="020B0604030504040204" pitchFamily="50" charset="-128"/>
                <a:ea typeface="メイリオ" panose="020B0604030504040204" pitchFamily="50" charset="-128"/>
                <a:cs typeface="メイリオ"/>
              </a:rPr>
              <a:t>成果報酬単価</a:t>
            </a:r>
            <a:endParaRPr lang="en-US" altLang="ja-JP"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5" name="正方形/長方形 14">
            <a:extLst>
              <a:ext uri="{FF2B5EF4-FFF2-40B4-BE49-F238E27FC236}">
                <a16:creationId xmlns:a16="http://schemas.microsoft.com/office/drawing/2014/main" id="{BAC2B063-6DAA-B7D0-0B1D-E5CC879D23FD}"/>
              </a:ext>
            </a:extLst>
          </p:cNvPr>
          <p:cNvSpPr/>
          <p:nvPr/>
        </p:nvSpPr>
        <p:spPr>
          <a:xfrm>
            <a:off x="3230275" y="2116483"/>
            <a:ext cx="1494125" cy="68767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アカウント費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1200" dirty="0">
                <a:solidFill>
                  <a:schemeClr val="tx1"/>
                </a:solidFill>
                <a:latin typeface="メイリオ" panose="020B0604030504040204" pitchFamily="50" charset="-128"/>
                <a:ea typeface="メイリオ" panose="020B0604030504040204" pitchFamily="50" charset="-128"/>
                <a:cs typeface="メイリオ"/>
              </a:rPr>
              <a:t>ツール費</a:t>
            </a:r>
            <a:endParaRPr lang="en-US" altLang="ja-JP" sz="12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18" name="テキスト ボックス 17">
            <a:extLst>
              <a:ext uri="{FF2B5EF4-FFF2-40B4-BE49-F238E27FC236}">
                <a16:creationId xmlns:a16="http://schemas.microsoft.com/office/drawing/2014/main" id="{0036B929-196A-854E-1925-1967B52BEB27}"/>
              </a:ext>
            </a:extLst>
          </p:cNvPr>
          <p:cNvSpPr txBox="1"/>
          <p:nvPr/>
        </p:nvSpPr>
        <p:spPr>
          <a:xfrm>
            <a:off x="668626" y="1585328"/>
            <a:ext cx="4960620" cy="523220"/>
          </a:xfrm>
          <a:prstGeom prst="rect">
            <a:avLst/>
          </a:prstGeom>
          <a:noFill/>
        </p:spPr>
        <p:txBody>
          <a:bodyPr wrap="square">
            <a:spAutoFit/>
          </a:bodyPr>
          <a:lstStyle/>
          <a:p>
            <a:pPr algn="ctr"/>
            <a:r>
              <a:rPr lang="ja-JP" altLang="en-US" sz="2800" b="1" dirty="0">
                <a:solidFill>
                  <a:schemeClr val="tx1"/>
                </a:solidFill>
                <a:latin typeface="メイリオ" panose="020B0604030504040204" pitchFamily="50" charset="-128"/>
                <a:ea typeface="メイリオ" panose="020B0604030504040204" pitchFamily="50" charset="-128"/>
                <a:cs typeface="メイリオ"/>
              </a:rPr>
              <a:t>＋</a:t>
            </a:r>
            <a:endParaRPr lang="en-US" altLang="ja-JP" sz="28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C94A4AE5-885C-B98E-00A8-77C51FC7BFE1}"/>
              </a:ext>
            </a:extLst>
          </p:cNvPr>
          <p:cNvSpPr/>
          <p:nvPr/>
        </p:nvSpPr>
        <p:spPr>
          <a:xfrm>
            <a:off x="5080364" y="1405605"/>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流入経路ごとにステップ配信を構築し、CV数の増加を図る。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4" name="正方形/長方形 23">
            <a:extLst>
              <a:ext uri="{FF2B5EF4-FFF2-40B4-BE49-F238E27FC236}">
                <a16:creationId xmlns:a16="http://schemas.microsoft.com/office/drawing/2014/main" id="{4A2D4AF3-1CC4-4934-0B96-59B465612A8D}"/>
              </a:ext>
            </a:extLst>
          </p:cNvPr>
          <p:cNvSpPr/>
          <p:nvPr/>
        </p:nvSpPr>
        <p:spPr>
          <a:xfrm>
            <a:off x="5080363" y="1783080"/>
            <a:ext cx="4328131" cy="23235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100" dirty="0">
                <a:solidFill>
                  <a:schemeClr val="tx1"/>
                </a:solidFill>
                <a:latin typeface="メイリオ" panose="020B0604030504040204" pitchFamily="50" charset="-128"/>
                <a:ea typeface="メイリオ" panose="020B0604030504040204" pitchFamily="50" charset="-128"/>
                <a:cs typeface="メイリオ"/>
              </a:rPr>
              <a:t> ☑ 現状導入しているツール、計測環境に応じて設計が可能。 </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26" name="テキスト ボックス 25">
            <a:extLst>
              <a:ext uri="{FF2B5EF4-FFF2-40B4-BE49-F238E27FC236}">
                <a16:creationId xmlns:a16="http://schemas.microsoft.com/office/drawing/2014/main" id="{1981C36B-B3F0-8036-014B-17B1A065A490}"/>
              </a:ext>
            </a:extLst>
          </p:cNvPr>
          <p:cNvSpPr txBox="1"/>
          <p:nvPr/>
        </p:nvSpPr>
        <p:spPr>
          <a:xfrm>
            <a:off x="3230275" y="2856669"/>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導入ツールに応じて費用発生</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7" name="テキスト ボックス 26">
            <a:extLst>
              <a:ext uri="{FF2B5EF4-FFF2-40B4-BE49-F238E27FC236}">
                <a16:creationId xmlns:a16="http://schemas.microsoft.com/office/drawing/2014/main" id="{0F171EE4-EBC4-0A03-9342-8E33CDF25A68}"/>
              </a:ext>
            </a:extLst>
          </p:cNvPr>
          <p:cNvSpPr txBox="1"/>
          <p:nvPr/>
        </p:nvSpPr>
        <p:spPr>
          <a:xfrm>
            <a:off x="3230274" y="3083982"/>
            <a:ext cx="1715105"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上限通数を設定して運営可能</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テキスト ボックス 27">
            <a:extLst>
              <a:ext uri="{FF2B5EF4-FFF2-40B4-BE49-F238E27FC236}">
                <a16:creationId xmlns:a16="http://schemas.microsoft.com/office/drawing/2014/main" id="{C6B5A64D-6B62-2D6A-1AF5-5EFCEC948063}"/>
              </a:ext>
            </a:extLst>
          </p:cNvPr>
          <p:cNvSpPr txBox="1"/>
          <p:nvPr/>
        </p:nvSpPr>
        <p:spPr>
          <a:xfrm>
            <a:off x="748334" y="2856669"/>
            <a:ext cx="2101546"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成果件数は</a:t>
            </a:r>
            <a:r>
              <a:rPr lang="en-US" altLang="ja-JP" sz="800" dirty="0">
                <a:solidFill>
                  <a:srgbClr val="1F2A5C"/>
                </a:solidFill>
                <a:latin typeface="メイリオ" panose="020B0604030504040204" pitchFamily="50" charset="-128"/>
                <a:ea typeface="メイリオ" panose="020B0604030504040204" pitchFamily="50" charset="-128"/>
                <a:cs typeface="メイリオ"/>
              </a:rPr>
              <a:t>GA</a:t>
            </a:r>
            <a:r>
              <a:rPr lang="ja-JP" altLang="en-US" sz="800" dirty="0">
                <a:solidFill>
                  <a:srgbClr val="1F2A5C"/>
                </a:solidFill>
                <a:latin typeface="メイリオ" panose="020B0604030504040204" pitchFamily="50" charset="-128"/>
                <a:ea typeface="メイリオ" panose="020B0604030504040204" pitchFamily="50" charset="-128"/>
                <a:cs typeface="メイリオ"/>
              </a:rPr>
              <a:t>、他ツールでの計測</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テキスト ボックス 28">
            <a:extLst>
              <a:ext uri="{FF2B5EF4-FFF2-40B4-BE49-F238E27FC236}">
                <a16:creationId xmlns:a16="http://schemas.microsoft.com/office/drawing/2014/main" id="{555B5E5B-7EFA-B5FA-0284-3CD0D3947983}"/>
              </a:ext>
            </a:extLst>
          </p:cNvPr>
          <p:cNvSpPr txBox="1"/>
          <p:nvPr/>
        </p:nvSpPr>
        <p:spPr>
          <a:xfrm>
            <a:off x="748333" y="3083982"/>
            <a:ext cx="2322527" cy="215444"/>
          </a:xfrm>
          <a:prstGeom prst="rect">
            <a:avLst/>
          </a:prstGeom>
          <a:noFill/>
        </p:spPr>
        <p:txBody>
          <a:bodyPr wrap="square">
            <a:spAutoFit/>
          </a:bodyPr>
          <a:lstStyle/>
          <a:p>
            <a:r>
              <a:rPr lang="en-US" altLang="ja-JP" sz="800" dirty="0">
                <a:solidFill>
                  <a:srgbClr val="1F2A5C"/>
                </a:solidFill>
                <a:latin typeface="メイリオ" panose="020B0604030504040204" pitchFamily="50" charset="-128"/>
                <a:ea typeface="メイリオ" panose="020B0604030504040204" pitchFamily="50" charset="-128"/>
                <a:cs typeface="メイリオ"/>
              </a:rPr>
              <a:t>※ </a:t>
            </a:r>
            <a:r>
              <a:rPr lang="ja-JP" altLang="en-US" sz="800" dirty="0">
                <a:solidFill>
                  <a:srgbClr val="1F2A5C"/>
                </a:solidFill>
                <a:latin typeface="メイリオ" panose="020B0604030504040204" pitchFamily="50" charset="-128"/>
                <a:ea typeface="メイリオ" panose="020B0604030504040204" pitchFamily="50" charset="-128"/>
                <a:cs typeface="メイリオ"/>
              </a:rPr>
              <a:t>成果報酬単価は広告</a:t>
            </a:r>
            <a:r>
              <a:rPr lang="en-US" altLang="ja-JP" sz="800" dirty="0">
                <a:solidFill>
                  <a:srgbClr val="1F2A5C"/>
                </a:solidFill>
                <a:latin typeface="メイリオ" panose="020B0604030504040204" pitchFamily="50" charset="-128"/>
                <a:ea typeface="メイリオ" panose="020B0604030504040204" pitchFamily="50" charset="-128"/>
                <a:cs typeface="メイリオ"/>
              </a:rPr>
              <a:t>CPA</a:t>
            </a:r>
            <a:r>
              <a:rPr lang="ja-JP" altLang="en-US" sz="800" dirty="0">
                <a:solidFill>
                  <a:srgbClr val="1F2A5C"/>
                </a:solidFill>
                <a:latin typeface="メイリオ" panose="020B0604030504040204" pitchFamily="50" charset="-128"/>
                <a:ea typeface="メイリオ" panose="020B0604030504040204" pitchFamily="50" charset="-128"/>
                <a:cs typeface="メイリオ"/>
              </a:rPr>
              <a:t>に基づき設定</a:t>
            </a:r>
            <a:endParaRPr lang="en-US" altLang="ja-JP" sz="8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3" name="テキスト ボックス 22">
            <a:extLst>
              <a:ext uri="{FF2B5EF4-FFF2-40B4-BE49-F238E27FC236}">
                <a16:creationId xmlns:a16="http://schemas.microsoft.com/office/drawing/2014/main" id="{4C08CE37-3C30-0822-0EDA-FEB4C5F762A4}"/>
              </a:ext>
            </a:extLst>
          </p:cNvPr>
          <p:cNvSpPr txBox="1"/>
          <p:nvPr/>
        </p:nvSpPr>
        <p:spPr>
          <a:xfrm>
            <a:off x="5084483" y="2103120"/>
            <a:ext cx="4324011" cy="415498"/>
          </a:xfrm>
          <a:prstGeom prst="rect">
            <a:avLst/>
          </a:prstGeom>
          <a:noFill/>
        </p:spPr>
        <p:txBody>
          <a:bodyPr wrap="square">
            <a:spAutoFit/>
          </a:bodyPr>
          <a:lstStyle/>
          <a:p>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a:t>
            </a:r>
            <a:r>
              <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 ✓複数の成果地点とそれに伴う成果単価</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 に基づいて、契約における条件の調整が可能。</a:t>
            </a:r>
            <a:endParaRPr lang="en-US" altLang="ja-JP" sz="105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17" name="正方形/長方形 16">
            <a:extLst>
              <a:ext uri="{FF2B5EF4-FFF2-40B4-BE49-F238E27FC236}">
                <a16:creationId xmlns:a16="http://schemas.microsoft.com/office/drawing/2014/main" id="{5D385AB6-97DE-E2AB-6E27-3BFD5D3B3C5D}"/>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0" name="小見出し"/>
          <p:cNvSpPr/>
          <p:nvPr/>
        </p:nvSpPr>
        <p:spPr>
          <a:xfrm>
            <a:off x="548640" y="3749039"/>
            <a:ext cx="8860536" cy="320040"/>
          </a:xfrm>
          <a:prstGeom prst="rect">
            <a:avLst/>
          </a:prstGeom>
          <a:noFill/>
          <a:ln>
            <a:noFill/>
          </a:ln>
        </p:spPr>
        <p:txBody>
          <a:bodyPr wrap="square" lIns="0" tIns="0" rIns="0" bIns="0" rtlCol="0" anchor="ctr">
            <a:noAutofit/>
          </a:bodyPr>
          <a:lstStyle/>
          <a:p>
            <a:pPr algn="l">
              <a:buNone/>
            </a:pPr>
            <a:r>
              <a:rPr lang="ja-JP" altLang="en-US" sz="1300" b="1" dirty="0">
                <a:solidFill>
                  <a:srgbClr val="002060"/>
                </a:solidFill>
                <a:latin typeface="メイリオ" panose="020B0604030504040204" pitchFamily="50" charset="-128"/>
                <a:ea typeface="メイリオ" panose="020B0604030504040204" pitchFamily="50" charset="-128"/>
                <a:cs typeface="メイリオ"/>
              </a:rPr>
              <a:t>今回の成果単価の費用感</a:t>
            </a:r>
            <a:endParaRPr lang="ja-JP" altLang="en-US" sz="1200" dirty="0">
              <a:latin typeface="メイリオ"/>
              <a:ea typeface="メイリオ"/>
              <a:cs typeface="メイリオ"/>
            </a:endParaRPr>
          </a:p>
        </p:txBody>
      </p:sp>
      <p:graphicFrame>
        <p:nvGraphicFramePr>
          <p:cNvPr id="31" name="成果報酬単価 30"/>
          <p:cNvGraphicFramePr>
            <a:graphicFrameLocks noGrp="1"/>
          </p:cNvGraphicFramePr>
          <p:nvPr/>
        </p:nvGraphicFramePr>
        <p:xfrm>
          <a:off x="548640" y="4114800"/>
          <a:ext cx="8860536" cy="1325880"/>
        </p:xfrm>
        <a:graphic>
          <a:graphicData uri="http://schemas.openxmlformats.org/drawingml/2006/table">
            <a:tbl>
              <a:tblPr/>
              <a:tblGrid>
                <a:gridCol w="23774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05656">
                  <a:extLst>
                    <a:ext uri="{9D8B030D-6E8A-4147-A177-3AD203B41FA5}">
                      <a16:colId xmlns:a16="http://schemas.microsoft.com/office/drawing/2014/main" val="20002"/>
                    </a:ext>
                  </a:extLst>
                </a:gridCol>
              </a:tblGrid>
              <a:tr h="41148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成果の地点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成果報酬単価</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cs typeface="メイリオ"/>
                        </a:rPr>
                        <a:t>成果件数の数え方</a:t>
                      </a:r>
                      <a:endParaRPr lang="ja-JP" altLang="en-US" sz="1400" dirty="0">
                        <a:latin typeface="メイリオ"/>
                        <a:ea typeface="メイリオ"/>
                        <a:cs typeface="メイリオ"/>
                      </a:endParaRPr>
                    </a:p>
                  </a:txBody>
                  <a:tcPr marL="73152" marR="73152" marT="27432" marB="27432"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002060"/>
                    </a:solidFill>
                  </a:tcPr>
                </a:tc>
                <a:extLst>
                  <a:ext uri="{0D108BD9-81ED-4DB2-BD59-A6C34878D82A}">
                    <a16:rowId xmlns:a16="http://schemas.microsoft.com/office/drawing/2014/main" val="10000"/>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LINEのリンクからのセミナー予約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algn="ctr">
                        <a:buNone/>
                      </a:pPr>
                      <a:r>
                        <a:rPr lang="ja-JP" altLang="en-US" sz="1400" b="1" dirty="0">
                          <a:solidFill>
                            <a:srgbClr val="002060"/>
                          </a:solidFill>
                          <a:latin typeface="メイリオ" panose="020B0604030504040204" pitchFamily="50" charset="-128"/>
                          <a:ea typeface="メイリオ" panose="020B0604030504040204" pitchFamily="50" charset="-128"/>
                          <a:cs typeface="メイリオ"/>
                        </a:rPr>
                        <a:t>リピート予約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DCE6F2"/>
                    </a:solidFill>
                  </a:tcPr>
                </a:tc>
                <a:tc>
                  <a:txBody>
                    <a:bodyPr/>
                    <a:lstStyle/>
                    <a:p>
                      <a:pPr algn="ctr">
                        <a:buNone/>
                      </a:pPr>
                      <a:r>
                        <a:rPr lang="ja-JP" altLang="en-US" sz="1600" b="1" dirty="0">
                          <a:solidFill>
                            <a:srgbClr val="002060"/>
                          </a:solidFill>
                          <a:latin typeface="メイリオ" panose="020B0604030504040204" pitchFamily="50" charset="-128"/>
                          <a:ea typeface="メイリオ" panose="020B0604030504040204" pitchFamily="50" charset="-128"/>
                          <a:cs typeface="メイリオ"/>
                        </a:rPr>
                        <a:t>12,000円／件</a:t>
                      </a:r>
                      <a:endParaRPr lang="ja-JP" altLang="en-US" sz="16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tc>
                  <a:txBody>
                    <a:bodyPr/>
                    <a:lstStyle/>
                    <a:p>
                      <a:pPr algn="l">
                        <a:buNone/>
                      </a:pPr>
                      <a:r>
                        <a:rPr lang="ja-JP" altLang="en-US" sz="1400" b="0" dirty="0">
                          <a:solidFill>
                            <a:srgbClr val="333333"/>
                          </a:solidFill>
                          <a:latin typeface="メイリオ" panose="020B0604030504040204" pitchFamily="50" charset="-128"/>
                          <a:ea typeface="メイリオ" panose="020B0604030504040204" pitchFamily="50" charset="-128"/>
                          <a:cs typeface="メイリオ"/>
                        </a:rPr>
                        <a:t>LINEのリンクからの2回目以降の予約</a:t>
                      </a:r>
                      <a:endParaRPr lang="ja-JP" altLang="en-US" sz="1400" dirty="0">
                        <a:latin typeface="メイリオ"/>
                        <a:ea typeface="メイリオ"/>
                        <a:cs typeface="メイリオ"/>
                      </a:endParaRPr>
                    </a:p>
                  </a:txBody>
                  <a:tcPr marR="73152" marT="36576" marB="36576"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32" name="注記"/>
          <p:cNvSpPr/>
          <p:nvPr/>
        </p:nvSpPr>
        <p:spPr>
          <a:xfrm>
            <a:off x="420624" y="5532120"/>
            <a:ext cx="9052560" cy="22860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※成果地点の定義・重複計上の有無・計測方法は、ご契約前に確認のうえ決定</a:t>
            </a:r>
            <a:endParaRPr lang="ja-JP" altLang="en-US" sz="1200" dirty="0">
              <a:latin typeface="メイリオ"/>
              <a:ea typeface="メイリオ"/>
              <a:cs typeface="メイリオ"/>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LINE施策の全体像：6つの段階で、友だち獲得から入会まで案内</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友だち追加の時期と状況に合わせて、届ける内容を変える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graphicFrame>
        <p:nvGraphicFramePr>
          <p:cNvPr id="50" name="LINE施策の全体像 49"/>
          <p:cNvGraphicFramePr>
            <a:graphicFrameLocks noGrp="1"/>
          </p:cNvGraphicFramePr>
          <p:nvPr>
            <p:extLst>
              <p:ext uri="{D42A27DB-BD31-4B8C-83A1-F6EECF244321}">
                <p14:modId xmlns:p14="http://schemas.microsoft.com/office/powerpoint/2010/main" val="101222327"/>
              </p:ext>
            </p:extLst>
          </p:nvPr>
        </p:nvGraphicFramePr>
        <p:xfrm>
          <a:off x="420624" y="1600200"/>
          <a:ext cx="9052560" cy="3931920"/>
        </p:xfrm>
        <a:graphic>
          <a:graphicData uri="http://schemas.openxmlformats.org/drawingml/2006/table">
            <a:tbl>
              <a:tblPr/>
              <a:tblGrid>
                <a:gridCol w="1700276">
                  <a:extLst>
                    <a:ext uri="{9D8B030D-6E8A-4147-A177-3AD203B41FA5}">
                      <a16:colId xmlns:a16="http://schemas.microsoft.com/office/drawing/2014/main" val="20000"/>
                    </a:ext>
                  </a:extLst>
                </a:gridCol>
                <a:gridCol w="4229100">
                  <a:extLst>
                    <a:ext uri="{9D8B030D-6E8A-4147-A177-3AD203B41FA5}">
                      <a16:colId xmlns:a16="http://schemas.microsoft.com/office/drawing/2014/main" val="20001"/>
                    </a:ext>
                  </a:extLst>
                </a:gridCol>
                <a:gridCol w="3123184">
                  <a:extLst>
                    <a:ext uri="{9D8B030D-6E8A-4147-A177-3AD203B41FA5}">
                      <a16:colId xmlns:a16="http://schemas.microsoft.com/office/drawing/2014/main" val="20002"/>
                    </a:ext>
                  </a:extLst>
                </a:gridCol>
              </a:tblGrid>
              <a:tr h="365760">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段階</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主な施策</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ねらい</a:t>
                      </a:r>
                      <a:endParaRPr lang="ja-JP" altLang="en-US" sz="1300" dirty="0">
                        <a:latin typeface="メイリオ"/>
                        <a:ea typeface="メイリオ"/>
                        <a:cs typeface="メイリオ"/>
                      </a:endParaRPr>
                    </a:p>
                  </a:txBody>
                  <a:tcPr marL="109728" marT="36576" marB="36576" anchor="ctr">
                    <a:lnL w="9525" cap="flat" cmpd="sng" algn="ctr">
                      <a:solidFill>
                        <a:srgbClr val="1F2A5C"/>
                      </a:solidFill>
                      <a:prstDash val="solid"/>
                      <a:round/>
                      <a:headEnd type="none" w="med" len="med"/>
                      <a:tailEnd type="none" w="med" len="med"/>
                    </a:lnL>
                    <a:lnR w="9525" cap="flat" cmpd="sng" algn="ctr">
                      <a:solidFill>
                        <a:srgbClr val="1F2A5C"/>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1F2A5C"/>
                      </a:solidFill>
                      <a:prstDash val="solid"/>
                      <a:round/>
                      <a:headEnd type="none" w="med" len="med"/>
                      <a:tailEnd type="none" w="med" len="med"/>
                    </a:lnB>
                    <a:solidFill>
                      <a:srgbClr val="1F2A5C"/>
                    </a:solidFill>
                  </a:tcPr>
                </a:tc>
                <a:extLst>
                  <a:ext uri="{0D108BD9-81ED-4DB2-BD59-A6C34878D82A}">
                    <a16:rowId xmlns:a16="http://schemas.microsoft.com/office/drawing/2014/main" val="10000"/>
                  </a:ext>
                </a:extLst>
              </a:tr>
              <a:tr h="731520">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① 友だち獲得</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離脱防止ポップアップ（推奨）／予約完了後の友だち追加：サンクスLINE誘導（追加オプション）または通常の</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LPを離れる方・予約した方とつながる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1F2A5C"/>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② 友だち追加直後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あいさつメッセージ・見どころ動画・参加特典</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（必要に応じて、簡易的な興味分野の把握）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セミナーの中身を伝え、予約につなげる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③ 予約した方</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前日・当日のリマインド／開催情報・参加方法のご案内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当日の参加を後押しする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④ 参加後</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セミナー内容の振り返り／</a:t>
                      </a:r>
                      <a:endParaRPr lang="en-US" altLang="ja-JP" sz="1200" b="0" dirty="0">
                        <a:solidFill>
                          <a:srgbClr val="333333"/>
                        </a:solidFill>
                        <a:latin typeface="メイリオ" panose="020B0604030504040204" pitchFamily="50" charset="-128"/>
                        <a:ea typeface="メイリオ" panose="020B0604030504040204" pitchFamily="50" charset="-128"/>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サロンの内容紹介・入会のご案内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関心が高いうちに、入会を案内する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⑤ 開催のない月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月1〜2回の企画配信／次回イベントのご案内</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イベントのない期間もつながりを保つ</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⑥ セミナー開催月</a:t>
                      </a:r>
                      <a:endParaRPr lang="ja-JP" altLang="en-US" sz="13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月4〜5回の企画配信</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開催に合わせて、予約・参加を後押しする</a:t>
                      </a:r>
                      <a:endParaRPr lang="ja-JP" altLang="en-US" sz="1200" dirty="0">
                        <a:latin typeface="メイリオ"/>
                        <a:ea typeface="メイリオ"/>
                        <a:cs typeface="メイリオ"/>
                      </a:endParaRPr>
                    </a:p>
                  </a:txBody>
                  <a:tcPr marL="109728"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51" name="注記"/>
          <p:cNvSpPr/>
          <p:nvPr/>
        </p:nvSpPr>
        <p:spPr>
          <a:xfrm>
            <a:off x="420624" y="5623560"/>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※③のリマインドは、企画配信の回数とは別に、予約ごとに配信</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※③④は、予約・参加した方を特定できる範囲で実施（予約完了後の友だち追加など）。予約システム等との連携は、可否を確認のうえ設計</a:t>
            </a:r>
            <a:endParaRPr lang="ja-JP" altLang="en-US" sz="1200" dirty="0">
              <a:latin typeface="メイリオ"/>
              <a:ea typeface="メイリオ"/>
              <a:cs typeface="メイリオ"/>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a:solidFill>
            <a:schemeClr val="tx2"/>
          </a:solidFill>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（ポップアップ </a:t>
            </a:r>
            <a:r>
              <a:rPr lang="en-US" altLang="ja-JP" sz="1600" b="1" dirty="0">
                <a:solidFill>
                  <a:srgbClr val="323366"/>
                </a:solidFill>
                <a:latin typeface="メイリオ" panose="020B0604030504040204" pitchFamily="50" charset="-128"/>
                <a:ea typeface="メイリオ" panose="020B0604030504040204" pitchFamily="50" charset="-128"/>
                <a:cs typeface="メイリオ"/>
                <a:sym typeface="Meiryo"/>
              </a:rPr>
              <a:t>/ </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離脱防止）</a:t>
            </a:r>
          </a:p>
        </p:txBody>
      </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サイト上の特定アクションを起こしたユーザーに対して</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ポップアップの形で</a:t>
            </a:r>
            <a:r>
              <a:rPr lang="en-US" altLang="ja-JP" sz="1600" dirty="0">
                <a:latin typeface="メイリオ"/>
                <a:ea typeface="メイリオ"/>
                <a:cs typeface="メイリオ"/>
                <a:sym typeface="Meiryo"/>
              </a:rPr>
              <a:t>LINE</a:t>
            </a:r>
            <a:r>
              <a:rPr lang="ja-JP" altLang="en-US" sz="1600" dirty="0">
                <a:latin typeface="メイリオ"/>
                <a:ea typeface="メイリオ"/>
                <a:cs typeface="メイリオ"/>
                <a:sym typeface="Meiryo"/>
              </a:rPr>
              <a:t>誘導の動線を提示。</a:t>
            </a:r>
          </a:p>
        </p:txBody>
      </p:sp>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1F2A5C"/>
                </a:solidFill>
                <a:latin typeface="メイリオ"/>
                <a:ea typeface="メイリオ"/>
                <a:cs typeface="メイリオ"/>
                <a:sym typeface="Meiryo"/>
              </a:rPr>
              <a:t>LINE以外の注力動線への誘導も同バナーから実施可能。</a:t>
            </a:r>
            <a:endParaRPr lang="ja-JP" altLang="en-US" sz="1050" dirty="0">
              <a:solidFill>
                <a:srgbClr val="1F2A5C"/>
              </a:solidFill>
              <a:latin typeface="メイリオ"/>
              <a:ea typeface="メイリオ"/>
              <a:cs typeface="メイリオ"/>
            </a:endParaRPr>
          </a:p>
        </p:txBody>
      </p:sp>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2"/>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3"/>
          <a:stretch>
            <a:fillRect/>
          </a:stretch>
        </p:blipFill>
        <p:spPr>
          <a:xfrm>
            <a:off x="579513" y="1977951"/>
            <a:ext cx="5023065" cy="2231287"/>
          </a:xfrm>
          <a:prstGeom prst="rect">
            <a:avLst/>
          </a:prstGeom>
        </p:spPr>
      </p:pic>
      <p:grpSp>
        <p:nvGrpSpPr>
          <p:cNvPr id="2" name="グループ化 1">
            <a:extLst>
              <a:ext uri="{FF2B5EF4-FFF2-40B4-BE49-F238E27FC236}">
                <a16:creationId xmlns:a16="http://schemas.microsoft.com/office/drawing/2014/main" id="{B58110A5-3249-591F-F0D8-9733B5C19419}"/>
              </a:ext>
            </a:extLst>
          </p:cNvPr>
          <p:cNvGrpSpPr/>
          <p:nvPr/>
        </p:nvGrpSpPr>
        <p:grpSpPr>
          <a:xfrm>
            <a:off x="543398" y="777681"/>
            <a:ext cx="3105325" cy="485102"/>
            <a:chOff x="507969" y="928495"/>
            <a:chExt cx="3105325" cy="485102"/>
          </a:xfrm>
          <a:solidFill>
            <a:schemeClr val="tx2"/>
          </a:solidFill>
        </p:grpSpPr>
        <p:sp>
          <p:nvSpPr>
            <p:cNvPr id="10" name="Google Shape;51;p19">
              <a:extLst>
                <a:ext uri="{FF2B5EF4-FFF2-40B4-BE49-F238E27FC236}">
                  <a16:creationId xmlns:a16="http://schemas.microsoft.com/office/drawing/2014/main" id="{2624D4C3-8EE7-C79A-AD39-F7C125FED5C3}"/>
                </a:ext>
              </a:extLst>
            </p:cNvPr>
            <p:cNvSpPr/>
            <p:nvPr/>
          </p:nvSpPr>
          <p:spPr>
            <a:xfrm>
              <a:off x="507969" y="928495"/>
              <a:ext cx="3105325" cy="485102"/>
            </a:xfrm>
            <a:prstGeom prst="roundRect">
              <a:avLst>
                <a:gd name="adj" fmla="val 16667"/>
              </a:avLst>
            </a:prstGeom>
            <a:grp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8134CCE0-9B09-BEAB-56F6-583858DE4FFA}"/>
                </a:ext>
              </a:extLst>
            </p:cNvPr>
            <p:cNvSpPr txBox="1"/>
            <p:nvPr/>
          </p:nvSpPr>
          <p:spPr>
            <a:xfrm>
              <a:off x="687498" y="938979"/>
              <a:ext cx="2746265" cy="357790"/>
            </a:xfrm>
            <a:prstGeom prst="rect">
              <a:avLst/>
            </a:prstGeom>
            <a:grp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ポップアップ</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離脱防止 など</a:t>
              </a:r>
              <a:r>
                <a:rPr kumimoji="1" lang="en-US" altLang="ja-JP" sz="1500" b="1" dirty="0">
                  <a:solidFill>
                    <a:schemeClr val="bg1"/>
                  </a:solidFill>
                  <a:latin typeface="メイリオ" panose="020B0604030504040204" pitchFamily="34" charset="-128"/>
                  <a:ea typeface="メイリオ" panose="020B0604030504040204" pitchFamily="34" charset="-128"/>
                  <a:cs typeface="メイリオ"/>
                </a:rPr>
                <a:t>)</a:t>
              </a:r>
              <a:endParaRPr kumimoji="1" lang="ja-JP" altLang="en-US" sz="1500" b="1" dirty="0">
                <a:solidFill>
                  <a:schemeClr val="bg1"/>
                </a:solidFill>
                <a:latin typeface="メイリオ" panose="020B0604030504040204" pitchFamily="34" charset="-128"/>
                <a:ea typeface="メイリオ" panose="020B0604030504040204" pitchFamily="34" charset="-128"/>
                <a:cs typeface="メイリオ"/>
              </a:endParaRPr>
            </a:p>
          </p:txBody>
        </p:sp>
      </p:grpSp>
      <p:sp>
        <p:nvSpPr>
          <p:cNvPr id="18" name="Google Shape;51;p19">
            <a:extLst>
              <a:ext uri="{FF2B5EF4-FFF2-40B4-BE49-F238E27FC236}">
                <a16:creationId xmlns:a16="http://schemas.microsoft.com/office/drawing/2014/main" id="{ABAC4CA8-0C86-B839-6335-8FB2EF8DA230}"/>
              </a:ext>
            </a:extLst>
          </p:cNvPr>
          <p:cNvSpPr/>
          <p:nvPr/>
        </p:nvSpPr>
        <p:spPr>
          <a:xfrm>
            <a:off x="543399"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1.5</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20" name="Google Shape;51;p19">
            <a:extLst>
              <a:ext uri="{FF2B5EF4-FFF2-40B4-BE49-F238E27FC236}">
                <a16:creationId xmlns:a16="http://schemas.microsoft.com/office/drawing/2014/main" id="{54BADA25-EAD6-B857-B5DA-8E7366A2D4D6}"/>
              </a:ext>
            </a:extLst>
          </p:cNvPr>
          <p:cNvSpPr/>
          <p:nvPr/>
        </p:nvSpPr>
        <p:spPr>
          <a:xfrm>
            <a:off x="2137897" y="1321261"/>
            <a:ext cx="1510826" cy="485102"/>
          </a:xfrm>
          <a:prstGeom prst="roundRect">
            <a:avLst>
              <a:gd name="adj" fmla="val 16667"/>
            </a:avLst>
          </a:prstGeom>
          <a:solidFill>
            <a:srgbClr val="1F2A5C"/>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3</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pic>
        <p:nvPicPr>
          <p:cNvPr id="26" name="図 25">
            <a:extLst>
              <a:ext uri="{FF2B5EF4-FFF2-40B4-BE49-F238E27FC236}">
                <a16:creationId xmlns:a16="http://schemas.microsoft.com/office/drawing/2014/main" id="{EDC5B771-42F2-76B0-A6E7-50BC96175819}"/>
              </a:ext>
            </a:extLst>
          </p:cNvPr>
          <p:cNvPicPr>
            <a:picLocks noChangeAspect="1"/>
          </p:cNvPicPr>
          <p:nvPr/>
        </p:nvPicPr>
        <p:blipFill>
          <a:blip r:embed="rId4"/>
          <a:stretch>
            <a:fillRect/>
          </a:stretch>
        </p:blipFill>
        <p:spPr>
          <a:xfrm>
            <a:off x="5743237" y="2258734"/>
            <a:ext cx="1190032" cy="2417060"/>
          </a:xfrm>
          <a:prstGeom prst="rect">
            <a:avLst/>
          </a:prstGeom>
        </p:spPr>
      </p:pic>
      <p:pic>
        <p:nvPicPr>
          <p:cNvPr id="46" name="図 45">
            <a:extLst>
              <a:ext uri="{FF2B5EF4-FFF2-40B4-BE49-F238E27FC236}">
                <a16:creationId xmlns:a16="http://schemas.microsoft.com/office/drawing/2014/main" id="{CDFFD994-B78C-9580-A303-CCE3C06EF4D0}"/>
              </a:ext>
            </a:extLst>
          </p:cNvPr>
          <p:cNvPicPr>
            <a:picLocks noChangeAspect="1"/>
          </p:cNvPicPr>
          <p:nvPr/>
        </p:nvPicPr>
        <p:blipFill>
          <a:blip r:embed="rId4"/>
          <a:stretch>
            <a:fillRect/>
          </a:stretch>
        </p:blipFill>
        <p:spPr>
          <a:xfrm>
            <a:off x="7682503" y="2258734"/>
            <a:ext cx="1190032" cy="2417060"/>
          </a:xfrm>
          <a:prstGeom prst="rect">
            <a:avLst/>
          </a:prstGeom>
        </p:spPr>
      </p:pic>
      <p:pic>
        <p:nvPicPr>
          <p:cNvPr id="48" name="図 47">
            <a:extLst>
              <a:ext uri="{FF2B5EF4-FFF2-40B4-BE49-F238E27FC236}">
                <a16:creationId xmlns:a16="http://schemas.microsoft.com/office/drawing/2014/main" id="{2F2D6E3E-D262-6FC3-26DE-F7F8A36D53EB}"/>
              </a:ext>
            </a:extLst>
          </p:cNvPr>
          <p:cNvPicPr>
            <a:picLocks noChangeAspect="1"/>
          </p:cNvPicPr>
          <p:nvPr/>
        </p:nvPicPr>
        <p:blipFill>
          <a:blip r:embed="rId4"/>
          <a:stretch>
            <a:fillRect/>
          </a:stretch>
        </p:blipFill>
        <p:spPr>
          <a:xfrm>
            <a:off x="8367522" y="4081984"/>
            <a:ext cx="1190032" cy="2417060"/>
          </a:xfrm>
          <a:prstGeom prst="rect">
            <a:avLst/>
          </a:prstGeom>
        </p:spPr>
      </p:pic>
      <p:sp>
        <p:nvSpPr>
          <p:cNvPr id="50" name="正方形/長方形 49">
            <a:extLst>
              <a:ext uri="{FF2B5EF4-FFF2-40B4-BE49-F238E27FC236}">
                <a16:creationId xmlns:a16="http://schemas.microsoft.com/office/drawing/2014/main" id="{C15238B5-4395-F723-0A79-2790FCF7C350}"/>
              </a:ext>
            </a:extLst>
          </p:cNvPr>
          <p:cNvSpPr/>
          <p:nvPr/>
        </p:nvSpPr>
        <p:spPr>
          <a:xfrm>
            <a:off x="8404597"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56" name="図 55">
            <a:extLst>
              <a:ext uri="{FF2B5EF4-FFF2-40B4-BE49-F238E27FC236}">
                <a16:creationId xmlns:a16="http://schemas.microsoft.com/office/drawing/2014/main" id="{EF814CDE-D628-AA7F-3C9D-D1DAF2358FE4}"/>
              </a:ext>
            </a:extLst>
          </p:cNvPr>
          <p:cNvPicPr>
            <a:picLocks noChangeAspect="1"/>
          </p:cNvPicPr>
          <p:nvPr/>
        </p:nvPicPr>
        <p:blipFill>
          <a:blip r:embed="rId4"/>
          <a:stretch>
            <a:fillRect/>
          </a:stretch>
        </p:blipFill>
        <p:spPr>
          <a:xfrm>
            <a:off x="6278620" y="4081984"/>
            <a:ext cx="1190032" cy="2417060"/>
          </a:xfrm>
          <a:prstGeom prst="rect">
            <a:avLst/>
          </a:prstGeom>
        </p:spPr>
      </p:pic>
      <p:sp>
        <p:nvSpPr>
          <p:cNvPr id="58" name="正方形/長方形 57">
            <a:extLst>
              <a:ext uri="{FF2B5EF4-FFF2-40B4-BE49-F238E27FC236}">
                <a16:creationId xmlns:a16="http://schemas.microsoft.com/office/drawing/2014/main" id="{8EAB183B-DD91-4D27-96EA-958B1E359EDF}"/>
              </a:ext>
            </a:extLst>
          </p:cNvPr>
          <p:cNvSpPr/>
          <p:nvPr/>
        </p:nvSpPr>
        <p:spPr>
          <a:xfrm>
            <a:off x="6315695" y="4259719"/>
            <a:ext cx="1126830" cy="1847856"/>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66" name="図 65">
            <a:extLst>
              <a:ext uri="{FF2B5EF4-FFF2-40B4-BE49-F238E27FC236}">
                <a16:creationId xmlns:a16="http://schemas.microsoft.com/office/drawing/2014/main" id="{C2855CFF-6E8D-0B73-876F-08A7CAF4119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364783" y="4682317"/>
            <a:ext cx="999311" cy="999311"/>
          </a:xfrm>
          <a:prstGeom prst="rect">
            <a:avLst/>
          </a:prstGeom>
        </p:spPr>
      </p:pic>
      <p:sp>
        <p:nvSpPr>
          <p:cNvPr id="68" name="テキスト ボックス 67">
            <a:extLst>
              <a:ext uri="{FF2B5EF4-FFF2-40B4-BE49-F238E27FC236}">
                <a16:creationId xmlns:a16="http://schemas.microsoft.com/office/drawing/2014/main" id="{A25E8A43-2530-9596-D092-B486168F2683}"/>
              </a:ext>
            </a:extLst>
          </p:cNvPr>
          <p:cNvSpPr txBox="1"/>
          <p:nvPr/>
        </p:nvSpPr>
        <p:spPr>
          <a:xfrm>
            <a:off x="6161730"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ja-JP" altLang="en-US" sz="1000" b="1" dirty="0">
                <a:solidFill>
                  <a:schemeClr val="bg1"/>
                </a:solidFill>
                <a:latin typeface="メイリオ"/>
                <a:ea typeface="メイリオ"/>
                <a:cs typeface="メイリオ"/>
                <a:sym typeface="Meiryo"/>
              </a:rPr>
              <a:t>セミナーLPへ</a:t>
            </a:r>
            <a:endParaRPr lang="ja-JP" altLang="en-US" sz="1050" b="1" dirty="0">
              <a:solidFill>
                <a:schemeClr val="bg1"/>
              </a:solidFill>
              <a:latin typeface="メイリオ"/>
              <a:ea typeface="メイリオ"/>
              <a:cs typeface="メイリオ"/>
            </a:endParaRPr>
          </a:p>
        </p:txBody>
      </p:sp>
      <p:sp>
        <p:nvSpPr>
          <p:cNvPr id="70" name="テキスト ボックス 69">
            <a:extLst>
              <a:ext uri="{FF2B5EF4-FFF2-40B4-BE49-F238E27FC236}">
                <a16:creationId xmlns:a16="http://schemas.microsoft.com/office/drawing/2014/main" id="{0728AAC8-ACED-DE14-79C2-5D2E1E568CE7}"/>
              </a:ext>
            </a:extLst>
          </p:cNvPr>
          <p:cNvSpPr txBox="1"/>
          <p:nvPr/>
        </p:nvSpPr>
        <p:spPr>
          <a:xfrm>
            <a:off x="8248538" y="5659308"/>
            <a:ext cx="1437861" cy="400110"/>
          </a:xfrm>
          <a:prstGeom prst="rect">
            <a:avLst/>
          </a:prstGeom>
          <a:noFill/>
        </p:spPr>
        <p:txBody>
          <a:bodyPr wrap="square">
            <a:spAutoFit/>
          </a:bodyPr>
          <a:lstStyle/>
          <a:p>
            <a:pPr algn="ctr"/>
            <a:r>
              <a:rPr lang="ja-JP" altLang="en-US" sz="1000" b="1" dirty="0">
                <a:solidFill>
                  <a:schemeClr val="bg1"/>
                </a:solidFill>
                <a:latin typeface="メイリオ"/>
                <a:ea typeface="メイリオ"/>
                <a:cs typeface="メイリオ"/>
                <a:sym typeface="Meiryo"/>
              </a:rPr>
              <a:t>↓</a:t>
            </a:r>
            <a:endParaRPr lang="en-US" altLang="ja-JP" sz="1000" b="1" dirty="0">
              <a:solidFill>
                <a:schemeClr val="bg1"/>
              </a:solidFill>
              <a:latin typeface="メイリオ"/>
              <a:ea typeface="メイリオ"/>
              <a:cs typeface="メイリオ"/>
              <a:sym typeface="Meiryo"/>
            </a:endParaRPr>
          </a:p>
          <a:p>
            <a:pPr algn="ctr"/>
            <a:r>
              <a:rPr lang="en-US" altLang="ja-JP" sz="1000" b="1" dirty="0">
                <a:solidFill>
                  <a:schemeClr val="bg1"/>
                </a:solidFill>
                <a:latin typeface="メイリオ"/>
                <a:ea typeface="メイリオ"/>
                <a:cs typeface="メイリオ"/>
                <a:sym typeface="Meiryo"/>
              </a:rPr>
              <a:t>LINE</a:t>
            </a:r>
            <a:r>
              <a:rPr lang="ja-JP" altLang="en-US" sz="1000" b="1" dirty="0">
                <a:solidFill>
                  <a:schemeClr val="bg1"/>
                </a:solidFill>
                <a:latin typeface="メイリオ"/>
                <a:ea typeface="メイリオ"/>
                <a:cs typeface="メイリオ"/>
                <a:sym typeface="Meiryo"/>
              </a:rPr>
              <a:t>追加へ</a:t>
            </a:r>
            <a:endParaRPr lang="ja-JP" altLang="en-US" sz="1050" b="1" dirty="0">
              <a:solidFill>
                <a:schemeClr val="bg1"/>
              </a:solidFill>
              <a:latin typeface="メイリオ"/>
              <a:ea typeface="メイリオ"/>
              <a:cs typeface="メイリオ"/>
            </a:endParaRPr>
          </a:p>
        </p:txBody>
      </p:sp>
      <p:pic>
        <p:nvPicPr>
          <p:cNvPr id="74" name="図 73">
            <a:extLst>
              <a:ext uri="{FF2B5EF4-FFF2-40B4-BE49-F238E27FC236}">
                <a16:creationId xmlns:a16="http://schemas.microsoft.com/office/drawing/2014/main" id="{4C49234A-BFF2-AECE-086F-27D9165ADB4C}"/>
              </a:ext>
            </a:extLst>
          </p:cNvPr>
          <p:cNvPicPr>
            <a:picLocks noChangeAspect="1"/>
          </p:cNvPicPr>
          <p:nvPr/>
        </p:nvPicPr>
        <p:blipFill>
          <a:blip r:embed="rId6"/>
          <a:stretch>
            <a:fillRect/>
          </a:stretch>
        </p:blipFill>
        <p:spPr>
          <a:xfrm>
            <a:off x="8471302" y="4682317"/>
            <a:ext cx="976991" cy="976991"/>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cs typeface="メイリオ"/>
                </a:rPr>
                <a:t>サンクス</a:t>
              </a:r>
              <a:r>
                <a:rPr lang="en-US" altLang="ja-JP" sz="1200" b="1" dirty="0">
                  <a:solidFill>
                    <a:schemeClr val="bg1"/>
                  </a:solidFill>
                  <a:latin typeface="メイリオ" panose="020B0604030504040204" pitchFamily="34" charset="-128"/>
                  <a:ea typeface="メイリオ" panose="020B0604030504040204" pitchFamily="34" charset="-128"/>
                  <a:cs typeface="メイリオ"/>
                </a:rPr>
                <a:t>LINE</a:t>
              </a:r>
              <a:r>
                <a:rPr lang="ja-JP" altLang="en-US" sz="1200" b="1" dirty="0">
                  <a:solidFill>
                    <a:schemeClr val="bg1"/>
                  </a:solidFill>
                  <a:latin typeface="メイリオ" panose="020B0604030504040204" pitchFamily="34" charset="-128"/>
                  <a:ea typeface="メイリオ" panose="020B0604030504040204" pitchFamily="34" charset="-128"/>
                  <a:cs typeface="メイリオ"/>
                </a:rPr>
                <a:t>誘導</a:t>
              </a:r>
            </a:p>
          </p:txBody>
        </p:sp>
      </p:grpSp>
      <p:sp>
        <p:nvSpPr>
          <p:cNvPr id="9" name="正方形/長方形 8">
            <a:extLst>
              <a:ext uri="{FF2B5EF4-FFF2-40B4-BE49-F238E27FC236}">
                <a16:creationId xmlns:a16="http://schemas.microsoft.com/office/drawing/2014/main" id="{DC4FF56C-47EE-47DB-92F1-3F0EF57613D9}"/>
              </a:ext>
            </a:extLst>
          </p:cNvPr>
          <p:cNvSpPr/>
          <p:nvPr/>
        </p:nvSpPr>
        <p:spPr>
          <a:xfrm>
            <a:off x="3931920" y="1371600"/>
            <a:ext cx="4754880" cy="274320"/>
          </a:xfrm>
          <a:prstGeom prst="rect">
            <a:avLst/>
          </a:prstGeom>
        </p:spPr>
        <p:txBody>
          <a:bodyPr wrap="square" lIns="74295" rIns="74295">
            <a:spAutoFit/>
          </a:bodyPr>
          <a:lstStyle/>
          <a:p>
            <a:pPr lvl="0">
              <a:buClr>
                <a:schemeClr val="dk1"/>
              </a:buClr>
              <a:buSzPts val="1500"/>
            </a:pPr>
            <a:r>
              <a:rPr lang="ja-JP" altLang="en-US" sz="1300" dirty="0">
                <a:latin typeface="メイリオ"/>
                <a:ea typeface="メイリオ"/>
                <a:cs typeface="メイリオ"/>
                <a:sym typeface="Meiryo"/>
              </a:rPr>
              <a:t>予約後のLINE誘導を自動化し、開催時期の友だち数を上積み</a:t>
            </a:r>
            <a:endParaRPr lang="en-US" altLang="ja-JP" sz="1400" dirty="0">
              <a:latin typeface="メイリオ"/>
              <a:ea typeface="メイリオ"/>
              <a:cs typeface="メイリオ"/>
              <a:sym typeface="Meiryo"/>
            </a:endParaRPr>
          </a:p>
        </p:txBody>
      </p:sp>
      <p:sp>
        <p:nvSpPr>
          <p:cNvPr id="14" name="テキスト ボックス 13">
            <a:extLst>
              <a:ext uri="{FF2B5EF4-FFF2-40B4-BE49-F238E27FC236}">
                <a16:creationId xmlns:a16="http://schemas.microsoft.com/office/drawing/2014/main" id="{5ED6F7D2-546D-BF9F-9805-58455D7E2831}"/>
              </a:ext>
            </a:extLst>
          </p:cNvPr>
          <p:cNvSpPr txBox="1"/>
          <p:nvPr/>
        </p:nvSpPr>
        <p:spPr>
          <a:xfrm>
            <a:off x="3931920" y="1645920"/>
            <a:ext cx="2148840" cy="201168"/>
          </a:xfrm>
          <a:prstGeom prst="rect">
            <a:avLst/>
          </a:prstGeom>
          <a:noFill/>
        </p:spPr>
        <p:txBody>
          <a:bodyPr wrap="square" lIns="74295" rIns="74295">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※既存APIツールとの併用も可能</a:t>
            </a:r>
            <a:endParaRPr lang="ja-JP" altLang="en-US" sz="900" dirty="0">
              <a:solidFill>
                <a:srgbClr val="1F2A5C"/>
              </a:solidFill>
              <a:latin typeface="メイリオ"/>
              <a:ea typeface="メイリオ"/>
              <a:cs typeface="メイリオ"/>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cs typeface="メイリオ"/>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cs typeface="メイリオ"/>
              </a:rPr>
            </a:br>
            <a:r>
              <a:rPr lang="en-US" altLang="ja-JP" sz="13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300" dirty="0">
                <a:solidFill>
                  <a:schemeClr val="tx1"/>
                </a:solidFill>
                <a:latin typeface="メイリオ" panose="020B0604030504040204" pitchFamily="50" charset="-128"/>
                <a:ea typeface="メイリオ" panose="020B0604030504040204" pitchFamily="50" charset="-128"/>
                <a:cs typeface="メイリオ"/>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cs typeface="メイリオ"/>
              </a:rPr>
              <a:t>CV</a:t>
            </a:r>
            <a:r>
              <a:rPr lang="ja-JP" altLang="en-US" sz="1100" dirty="0">
                <a:solidFill>
                  <a:schemeClr val="tx1"/>
                </a:solidFill>
                <a:latin typeface="メイリオ" panose="020B0604030504040204" pitchFamily="50" charset="-128"/>
                <a:ea typeface="メイリオ" panose="020B0604030504040204" pitchFamily="50" charset="-128"/>
                <a:cs typeface="メイリオ"/>
              </a:rPr>
              <a:t>完了後約</a:t>
            </a:r>
            <a:r>
              <a:rPr lang="en-US" altLang="ja-JP" sz="1100" dirty="0">
                <a:solidFill>
                  <a:schemeClr val="tx1"/>
                </a:solidFill>
                <a:latin typeface="メイリオ" panose="020B0604030504040204" pitchFamily="50" charset="-128"/>
                <a:ea typeface="メイリオ" panose="020B0604030504040204" pitchFamily="50" charset="-128"/>
                <a:cs typeface="メイリオ"/>
              </a:rPr>
              <a:t>2~3</a:t>
            </a:r>
            <a:r>
              <a:rPr lang="ja-JP" altLang="en-US" sz="1100" dirty="0">
                <a:solidFill>
                  <a:schemeClr val="tx1"/>
                </a:solidFill>
                <a:latin typeface="メイリオ" panose="020B0604030504040204" pitchFamily="50" charset="-128"/>
                <a:ea typeface="メイリオ" panose="020B0604030504040204" pitchFamily="50" charset="-128"/>
                <a:cs typeface="メイリオ"/>
              </a:rPr>
              <a:t>秒で</a:t>
            </a:r>
            <a:br>
              <a:rPr lang="en-US" altLang="ja-JP" sz="1100" dirty="0">
                <a:solidFill>
                  <a:schemeClr val="tx1"/>
                </a:solidFill>
                <a:latin typeface="メイリオ" panose="020B0604030504040204" pitchFamily="50" charset="-128"/>
                <a:ea typeface="メイリオ" panose="020B0604030504040204" pitchFamily="50" charset="-128"/>
                <a:cs typeface="メイリオ"/>
              </a:rPr>
            </a:br>
            <a:r>
              <a:rPr lang="en-US" altLang="ja-JP" sz="1100" dirty="0">
                <a:solidFill>
                  <a:schemeClr val="tx1"/>
                </a:solidFill>
                <a:latin typeface="メイリオ" panose="020B0604030504040204" pitchFamily="50" charset="-128"/>
                <a:ea typeface="メイリオ" panose="020B0604030504040204" pitchFamily="50" charset="-128"/>
                <a:cs typeface="メイリオ"/>
              </a:rPr>
              <a:t>LINE</a:t>
            </a:r>
            <a:r>
              <a:rPr lang="ja-JP" altLang="en-US" sz="1100" dirty="0">
                <a:solidFill>
                  <a:schemeClr val="tx1"/>
                </a:solidFill>
                <a:latin typeface="メイリオ" panose="020B0604030504040204" pitchFamily="50" charset="-128"/>
                <a:ea typeface="メイリオ" panose="020B0604030504040204" pitchFamily="50" charset="-128"/>
                <a:cs typeface="メイリオ"/>
              </a:rPr>
              <a:t>へ自動遷移</a:t>
            </a:r>
            <a:endParaRPr lang="en-US" altLang="ja-JP" sz="1100" dirty="0">
              <a:solidFill>
                <a:schemeClr val="tx1"/>
              </a:solidFill>
              <a:latin typeface="メイリオ" panose="020B0604030504040204" pitchFamily="50" charset="-128"/>
              <a:ea typeface="メイリオ" panose="020B0604030504040204" pitchFamily="50" charset="-128"/>
              <a:cs typeface="メイリオ"/>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cs typeface="メイリオ"/>
              </a:rPr>
              <a:t>QRコードを読み取って</a:t>
            </a:r>
            <a:endParaRPr lang="en-US" altLang="ja-JP" sz="1050" b="1" dirty="0">
              <a:latin typeface="メイリオ" panose="020B0604030504040204" pitchFamily="50" charset="-128"/>
              <a:ea typeface="メイリオ" panose="020B0604030504040204" pitchFamily="50" charset="-128"/>
              <a:cs typeface="メイリオ"/>
            </a:endParaRPr>
          </a:p>
          <a:p>
            <a:r>
              <a:rPr lang="ja-JP" altLang="ja-JP" sz="1050" b="1" dirty="0">
                <a:latin typeface="メイリオ" panose="020B0604030504040204" pitchFamily="50" charset="-128"/>
                <a:ea typeface="メイリオ" panose="020B0604030504040204" pitchFamily="50" charset="-128"/>
                <a:cs typeface="メイリオ"/>
              </a:rPr>
              <a:t>動画を見る（約22秒）</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cs typeface="メイリオ"/>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cs typeface="メイリオ"/>
              </a:rPr>
              <a:t>クリックして再生</a:t>
            </a:r>
            <a:endParaRPr lang="en-US" altLang="ja-JP" sz="1050" b="1" dirty="0">
              <a:latin typeface="メイリオ" panose="020B0604030504040204" pitchFamily="50" charset="-128"/>
              <a:ea typeface="メイリオ" panose="020B0604030504040204" pitchFamily="50" charset="-128"/>
              <a:cs typeface="メイリオ"/>
            </a:endParaRPr>
          </a:p>
        </p:txBody>
      </p:sp>
      <p:sp>
        <p:nvSpPr>
          <p:cNvPr id="1053" name="Google Shape;51;p19">
            <a:extLst>
              <a:ext uri="{FF2B5EF4-FFF2-40B4-BE49-F238E27FC236}">
                <a16:creationId xmlns:a16="http://schemas.microsoft.com/office/drawing/2014/main" id="{A4070FDA-7C99-27DE-6A9C-437C1D5DD3B3}"/>
              </a:ext>
            </a:extLst>
          </p:cNvPr>
          <p:cNvSpPr/>
          <p:nvPr/>
        </p:nvSpPr>
        <p:spPr>
          <a:xfrm>
            <a:off x="3931920" y="841248"/>
            <a:ext cx="13258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初期：</a:t>
            </a:r>
            <a:r>
              <a:rPr lang="en-US" altLang="ja-JP" b="1" dirty="0">
                <a:solidFill>
                  <a:schemeClr val="lt1"/>
                </a:solidFill>
                <a:latin typeface="メイリオ"/>
                <a:ea typeface="メイリオ"/>
                <a:cs typeface="メイリオ"/>
                <a:sym typeface="Meiryo"/>
              </a:rPr>
              <a:t>15</a:t>
            </a:r>
            <a:r>
              <a:rPr lang="ja-JP" altLang="en-US" b="1" dirty="0">
                <a:solidFill>
                  <a:schemeClr val="lt1"/>
                </a:solidFill>
                <a:latin typeface="メイリオ"/>
                <a:ea typeface="メイリオ"/>
                <a:cs typeface="メイリオ"/>
                <a:sym typeface="Meiryo"/>
              </a:rPr>
              <a:t>万円</a:t>
            </a:r>
            <a:endParaRPr b="1" dirty="0">
              <a:solidFill>
                <a:schemeClr val="lt1"/>
              </a:solidFill>
              <a:latin typeface="メイリオ"/>
              <a:ea typeface="メイリオ"/>
              <a:cs typeface="メイリオ"/>
              <a:sym typeface="Meiryo"/>
            </a:endParaRPr>
          </a:p>
        </p:txBody>
      </p:sp>
      <p:sp>
        <p:nvSpPr>
          <p:cNvPr id="1054" name="Google Shape;51;p19">
            <a:extLst>
              <a:ext uri="{FF2B5EF4-FFF2-40B4-BE49-F238E27FC236}">
                <a16:creationId xmlns:a16="http://schemas.microsoft.com/office/drawing/2014/main" id="{40C4675F-5DCC-DD57-BE14-B3A7697A02CD}"/>
              </a:ext>
            </a:extLst>
          </p:cNvPr>
          <p:cNvSpPr/>
          <p:nvPr/>
        </p:nvSpPr>
        <p:spPr>
          <a:xfrm>
            <a:off x="5349240" y="841248"/>
            <a:ext cx="1783080" cy="484632"/>
          </a:xfrm>
          <a:prstGeom prst="roundRect">
            <a:avLst>
              <a:gd name="adj" fmla="val 16667"/>
            </a:avLst>
          </a:prstGeom>
          <a:solidFill>
            <a:schemeClr val="tx2"/>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r>
              <a:rPr lang="ja-JP" altLang="en-US" b="1" dirty="0">
                <a:solidFill>
                  <a:schemeClr val="lt1"/>
                </a:solidFill>
                <a:latin typeface="メイリオ"/>
                <a:ea typeface="メイリオ"/>
                <a:cs typeface="メイリオ"/>
                <a:sym typeface="Meiryo"/>
              </a:rPr>
              <a:t>月額</a:t>
            </a:r>
            <a:r>
              <a:rPr lang="en-US" altLang="ja-JP" b="1" dirty="0">
                <a:solidFill>
                  <a:schemeClr val="lt1"/>
                </a:solidFill>
                <a:latin typeface="メイリオ"/>
                <a:ea typeface="メイリオ"/>
                <a:cs typeface="メイリオ"/>
                <a:sym typeface="Meiryo"/>
              </a:rPr>
              <a:t>3</a:t>
            </a:r>
            <a:r>
              <a:rPr lang="ja-JP" altLang="en-US" b="1" dirty="0">
                <a:solidFill>
                  <a:schemeClr val="lt1"/>
                </a:solidFill>
                <a:latin typeface="メイリオ"/>
                <a:ea typeface="メイリオ"/>
                <a:cs typeface="メイリオ"/>
                <a:sym typeface="Meiryo"/>
              </a:rPr>
              <a:t>万円～</a:t>
            </a:r>
            <a:endParaRPr lang="en-US" altLang="ja-JP" b="1" dirty="0">
              <a:solidFill>
                <a:schemeClr val="lt1"/>
              </a:solidFill>
              <a:latin typeface="メイリオ"/>
              <a:ea typeface="メイリオ"/>
              <a:cs typeface="メイリオ"/>
              <a:sym typeface="Meiryo"/>
            </a:endParaRPr>
          </a:p>
          <a:p>
            <a:pPr algn="ctr">
              <a:buSzPts val="1400"/>
            </a:pPr>
            <a:r>
              <a:rPr lang="en-US" altLang="ja-JP" sz="850" b="1" dirty="0">
                <a:solidFill>
                  <a:srgbClr val="FFFFFF"/>
                </a:solidFill>
                <a:latin typeface="メイリオ"/>
                <a:ea typeface="メイリオ"/>
                <a:cs typeface="メイリオ"/>
                <a:sym typeface="Meiryo"/>
              </a:rPr>
              <a:t>+</a:t>
            </a:r>
            <a:r>
              <a:rPr lang="ja-JP" altLang="en-US" sz="850" b="1" dirty="0">
                <a:solidFill>
                  <a:srgbClr val="FFFFFF"/>
                </a:solidFill>
                <a:latin typeface="メイリオ"/>
                <a:ea typeface="メイリオ"/>
                <a:cs typeface="メイリオ"/>
                <a:sym typeface="Meiryo"/>
              </a:rPr>
              <a:t>設定地点追加</a:t>
            </a:r>
            <a:endParaRPr sz="850" b="1" dirty="0">
              <a:solidFill>
                <a:srgbClr val="FFFFFF"/>
              </a:solidFill>
              <a:latin typeface="メイリオ"/>
              <a:ea typeface="メイリオ"/>
              <a:cs typeface="メイリオ"/>
              <a:sym typeface="Meiryo"/>
            </a:endParaRPr>
          </a:p>
        </p:txBody>
      </p:sp>
      <p:sp>
        <p:nvSpPr>
          <p:cNvPr id="1056" name="追加オプションの注記"/>
          <p:cNvSpPr/>
          <p:nvPr/>
        </p:nvSpPr>
        <p:spPr>
          <a:xfrm>
            <a:off x="5486400" y="6272784"/>
            <a:ext cx="4023360" cy="201168"/>
          </a:xfrm>
          <a:prstGeom prst="rect">
            <a:avLst/>
          </a:prstGeom>
          <a:noFill/>
          <a:ln>
            <a:noFill/>
          </a:ln>
        </p:spPr>
        <p:txBody>
          <a:bodyPr wrap="square" lIns="0" tIns="0" rIns="0" bIns="0" rtlCol="0" anchor="t">
            <a:noAutofit/>
          </a:bodyPr>
          <a:lstStyle/>
          <a:p>
            <a:pPr algn="l">
              <a:buNone/>
            </a:pPr>
            <a:r>
              <a:rPr lang="ja-JP" altLang="en-US" sz="1000" b="0" dirty="0">
                <a:solidFill>
                  <a:srgbClr val="7F7F7F"/>
                </a:solidFill>
                <a:latin typeface="メイリオ" panose="020B0604030504040204" pitchFamily="50" charset="-128"/>
                <a:ea typeface="メイリオ" panose="020B0604030504040204" pitchFamily="50" charset="-128"/>
                <a:cs typeface="メイリオ"/>
              </a:rPr>
              <a:t>※最低利用期間・停止条件は確認のうえご案内</a:t>
            </a:r>
            <a:endParaRPr lang="ja-JP" altLang="en-US" sz="1200" dirty="0">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Google Shape;752;p28">
            <a:extLst>
              <a:ext uri="{FF2B5EF4-FFF2-40B4-BE49-F238E27FC236}">
                <a16:creationId xmlns:a16="http://schemas.microsoft.com/office/drawing/2014/main" id="{1ADD4630-B4FB-1ED5-AA03-7B456BE4B71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2930638E-A234-B57F-602E-9D9732D57A7B}"/>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配信の内容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LINEOA</a:t>
            </a:r>
            <a:r>
              <a:rPr kumimoji="1" lang="ja-JP" altLang="en-US" sz="1400" dirty="0">
                <a:latin typeface="メイリオ" panose="020B0604030504040204" pitchFamily="50" charset="-128"/>
                <a:ea typeface="メイリオ" panose="020B0604030504040204" pitchFamily="50" charset="-128"/>
                <a:cs typeface="メイリオ"/>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友だち追加から15日ほどで反応が下がり、ブロックも増えやすい。</a:t>
            </a:r>
          </a:p>
          <a:p>
            <a:r>
              <a:rPr lang="ja-JP" altLang="en-US" sz="1600" b="1" dirty="0">
                <a:latin typeface="メイリオ" panose="020B0604030504040204" pitchFamily="50" charset="-128"/>
                <a:ea typeface="メイリオ" panose="020B0604030504040204" pitchFamily="50" charset="-128"/>
                <a:cs typeface="メイリオ"/>
                <a:sym typeface="Meiryo"/>
              </a:rPr>
              <a:t>そのため、段階に合わせて配信を変え、イベントのない時期は回数を絞る。</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cs typeface="メイリオ"/>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rgbClr val="1F2A5C"/>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solidFill>
                  <a:srgbClr val="1F2A5C"/>
                </a:solidFill>
                <a:latin typeface="メイリオ" panose="020B0604030504040204" pitchFamily="50" charset="-128"/>
                <a:ea typeface="メイリオ" panose="020B0604030504040204" pitchFamily="50" charset="-128"/>
                <a:cs typeface="メイリオ"/>
                <a:sym typeface="Meiryo"/>
              </a:rPr>
              <a:t>15</a:t>
            </a:r>
            <a:r>
              <a:rPr lang="ja-JP" altLang="en-US" sz="1200" b="1" dirty="0">
                <a:solidFill>
                  <a:srgbClr val="1F2A5C"/>
                </a:solidFill>
                <a:latin typeface="メイリオ" panose="020B0604030504040204" pitchFamily="50" charset="-128"/>
                <a:ea typeface="メイリオ" panose="020B0604030504040204" pitchFamily="50" charset="-128"/>
                <a:cs typeface="メイリオ"/>
                <a:sym typeface="Meiryo"/>
              </a:rPr>
              <a:t>日後</a:t>
            </a:r>
            <a:endParaRPr lang="ja-JP" altLang="en-US" sz="12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メイリオ"/>
                <a:sym typeface="Meiryo"/>
              </a:rPr>
              <a:t>30</a:t>
            </a:r>
            <a:r>
              <a:rPr lang="ja-JP" altLang="en-US" sz="1200" b="1" dirty="0">
                <a:latin typeface="メイリオ" panose="020B0604030504040204" pitchFamily="50" charset="-128"/>
                <a:ea typeface="メイリオ" panose="020B0604030504040204" pitchFamily="50" charset="-128"/>
                <a:cs typeface="メイリオ"/>
                <a:sym typeface="Meiryo"/>
              </a:rPr>
              <a:t>日後</a:t>
            </a:r>
            <a:endParaRPr lang="ja-JP" altLang="en-US" sz="1200" dirty="0">
              <a:latin typeface="メイリオ"/>
              <a:ea typeface="メイリオ"/>
              <a:cs typeface="メイリオ"/>
            </a:endParaRPr>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1F2A5C"/>
                </a:solidFill>
                <a:latin typeface="メイリオ" panose="020B0604030504040204" pitchFamily="50" charset="-128"/>
                <a:ea typeface="メイリオ" panose="020B0604030504040204" pitchFamily="50" charset="-128"/>
                <a:cs typeface="メイリオ"/>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1F2A5C"/>
              </a:solidFill>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1F2A5C"/>
                </a:solidFill>
                <a:latin typeface="メイリオ" panose="020B0604030504040204" pitchFamily="50" charset="-128"/>
                <a:ea typeface="メイリオ" panose="020B0604030504040204" pitchFamily="50" charset="-128"/>
                <a:cs typeface="メイリオ"/>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cs typeface="メイリオ"/>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cs typeface="メイリオ"/>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7" name="Google Shape;752;p28">
            <a:extLst>
              <a:ext uri="{FF2B5EF4-FFF2-40B4-BE49-F238E27FC236}">
                <a16:creationId xmlns:a16="http://schemas.microsoft.com/office/drawing/2014/main" id="{A711D9CD-A0E9-90A0-722C-36249BABF896}"/>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1065560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A337D-17CA-E6E5-D505-2573F42DF1AE}"/>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764D8A5C-7B4A-390C-FB5B-FB3131C930AD}"/>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EEFB8B0A-6EC5-1DE8-1B6D-A4065AE6AEA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sp>
        <p:nvSpPr>
          <p:cNvPr id="45" name="Google Shape;156;p7">
            <a:extLst>
              <a:ext uri="{FF2B5EF4-FFF2-40B4-BE49-F238E27FC236}">
                <a16:creationId xmlns:a16="http://schemas.microsoft.com/office/drawing/2014/main" id="{414EC833-F0FA-AEDA-4F48-B979DDE04109}"/>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配信の出し分け：予約した方／予約していない方</a:t>
            </a:r>
            <a:endParaRPr sz="1600" b="1" dirty="0">
              <a:solidFill>
                <a:srgbClr val="002060"/>
              </a:solidFill>
              <a:latin typeface="メイリオ"/>
              <a:ea typeface="メイリオ"/>
              <a:cs typeface="メイリオ"/>
              <a:sym typeface="Meiryo"/>
            </a:endParaRPr>
          </a:p>
        </p:txBody>
      </p:sp>
      <p:sp>
        <p:nvSpPr>
          <p:cNvPr id="5" name="Heading">
            <a:extLst>
              <a:ext uri="{FF2B5EF4-FFF2-40B4-BE49-F238E27FC236}">
                <a16:creationId xmlns:a16="http://schemas.microsoft.com/office/drawing/2014/main" id="{C7E6A42B-1136-E29F-50E6-B072A610CB01}"/>
              </a:ext>
            </a:extLst>
          </p:cNvPr>
          <p:cNvSpPr txBox="1"/>
          <p:nvPr/>
        </p:nvSpPr>
        <p:spPr>
          <a:xfrm>
            <a:off x="381000" y="1181608"/>
            <a:ext cx="9144000" cy="279400"/>
          </a:xfrm>
          <a:prstGeom prst="rect">
            <a:avLst/>
          </a:prstGeom>
          <a:noFill/>
          <a:ln>
            <a:noFill/>
          </a:ln>
        </p:spPr>
        <p:txBody>
          <a:bodyPr wrap="square" lIns="101600" tIns="76200" rIns="101600" bIns="76200" anchor="t"/>
          <a:lstStyle/>
          <a:p>
            <a:pPr>
              <a:buClr>
                <a:srgbClr val="000000"/>
              </a:buClr>
              <a:buFont typeface="Arial"/>
              <a:buNone/>
            </a:pPr>
            <a:r>
              <a:rPr kumimoji="0" lang="ja-JP" altLang="en-US" sz="1400" b="1" kern="0" dirty="0">
                <a:solidFill>
                  <a:srgbClr val="1F2A5C"/>
                </a:solidFill>
                <a:latin typeface="メイリオ" panose="020B0604030504040204" pitchFamily="50" charset="-128"/>
                <a:ea typeface="メイリオ" panose="020B0604030504040204" pitchFamily="50" charset="-128"/>
                <a:cs typeface="メイリオ"/>
                <a:sym typeface="Arial"/>
              </a:rPr>
              <a:t>出し分けの考え方</a:t>
            </a:r>
          </a:p>
        </p:txBody>
      </p:sp>
      <p:sp>
        <p:nvSpPr>
          <p:cNvPr id="6" name="LeftHeader">
            <a:extLst>
              <a:ext uri="{FF2B5EF4-FFF2-40B4-BE49-F238E27FC236}">
                <a16:creationId xmlns:a16="http://schemas.microsoft.com/office/drawing/2014/main" id="{88B8ADE6-2320-90DE-4B5D-0E825050A440}"/>
              </a:ext>
            </a:extLst>
          </p:cNvPr>
          <p:cNvSpPr txBox="1"/>
          <p:nvPr/>
        </p:nvSpPr>
        <p:spPr>
          <a:xfrm>
            <a:off x="381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イベント期の層（予約した方）</a:t>
            </a:r>
          </a:p>
        </p:txBody>
      </p:sp>
      <p:sp>
        <p:nvSpPr>
          <p:cNvPr id="7" name="LeftBody">
            <a:extLst>
              <a:ext uri="{FF2B5EF4-FFF2-40B4-BE49-F238E27FC236}">
                <a16:creationId xmlns:a16="http://schemas.microsoft.com/office/drawing/2014/main" id="{04B17781-2CE9-1794-B996-D203F2127177}"/>
              </a:ext>
            </a:extLst>
          </p:cNvPr>
          <p:cNvSpPr txBox="1"/>
          <p:nvPr/>
        </p:nvSpPr>
        <p:spPr>
          <a:xfrm>
            <a:off x="381000" y="1943607"/>
            <a:ext cx="4445000" cy="2423763"/>
          </a:xfrm>
          <a:prstGeom prst="rect">
            <a:avLst/>
          </a:prstGeom>
          <a:solidFill>
            <a:srgbClr val="F5F7FA"/>
          </a:solidFill>
          <a:ln w="6350">
            <a:solidFill>
              <a:srgbClr val="D1D8E0"/>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セミナーを予約済み・参加の意思がある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当日までに日が空く</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日程ごとの前日・当日のお知らせで、当日の参加につなげられる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当日に参加しないと、そのまま離れやすい</a:t>
            </a:r>
          </a:p>
        </p:txBody>
      </p:sp>
      <p:sp>
        <p:nvSpPr>
          <p:cNvPr id="9" name="RightHeader">
            <a:extLst>
              <a:ext uri="{FF2B5EF4-FFF2-40B4-BE49-F238E27FC236}">
                <a16:creationId xmlns:a16="http://schemas.microsoft.com/office/drawing/2014/main" id="{83D7B48F-F108-1D28-80D9-9B07405A3AF3}"/>
              </a:ext>
            </a:extLst>
          </p:cNvPr>
          <p:cNvSpPr txBox="1"/>
          <p:nvPr/>
        </p:nvSpPr>
        <p:spPr>
          <a:xfrm>
            <a:off x="5080000" y="1562607"/>
            <a:ext cx="4445000" cy="380999"/>
          </a:xfrm>
          <a:prstGeom prst="rect">
            <a:avLst/>
          </a:prstGeom>
          <a:solidFill>
            <a:srgbClr val="1F2A5C"/>
          </a:solidFill>
          <a:ln>
            <a:noFill/>
          </a:ln>
        </p:spPr>
        <p:txBody>
          <a:bodyPr wrap="square" lIns="152400" tIns="76200" rIns="152400" bIns="76200" anchor="ctr"/>
          <a:lstStyle/>
          <a:p>
            <a:pPr algn="ctr">
              <a:buClr>
                <a:srgbClr val="000000"/>
              </a:buClr>
              <a:buFont typeface="Arial"/>
              <a:buNone/>
            </a:pPr>
            <a:r>
              <a:rPr kumimoji="0" lang="ja-JP" altLang="en-US" sz="1400" b="1" kern="0" dirty="0">
                <a:solidFill>
                  <a:srgbClr val="FFFFFF"/>
                </a:solidFill>
                <a:latin typeface="メイリオ" panose="020B0604030504040204" pitchFamily="50" charset="-128"/>
                <a:ea typeface="メイリオ" panose="020B0604030504040204" pitchFamily="50" charset="-128"/>
                <a:cs typeface="メイリオ"/>
                <a:sym typeface="Arial"/>
              </a:rPr>
              <a:t>開催のない月の層（予約していない方）</a:t>
            </a:r>
          </a:p>
        </p:txBody>
      </p:sp>
      <p:sp>
        <p:nvSpPr>
          <p:cNvPr id="11" name="RightBody">
            <a:extLst>
              <a:ext uri="{FF2B5EF4-FFF2-40B4-BE49-F238E27FC236}">
                <a16:creationId xmlns:a16="http://schemas.microsoft.com/office/drawing/2014/main" id="{854968D2-9B97-28FB-49F7-CCBD26E2F10D}"/>
              </a:ext>
            </a:extLst>
          </p:cNvPr>
          <p:cNvSpPr txBox="1"/>
          <p:nvPr/>
        </p:nvSpPr>
        <p:spPr>
          <a:xfrm>
            <a:off x="5080000" y="1943607"/>
            <a:ext cx="4445000" cy="2423763"/>
          </a:xfrm>
          <a:prstGeom prst="rect">
            <a:avLst/>
          </a:prstGeom>
          <a:solidFill>
            <a:srgbClr val="FFFFFF"/>
          </a:solidFill>
          <a:ln w="12700">
            <a:solidFill>
              <a:srgbClr val="1F2A5C"/>
            </a:solidFill>
          </a:ln>
        </p:spPr>
        <p:txBody>
          <a:bodyPr wrap="square" lIns="177800" tIns="152400" rIns="177800" bIns="1524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特徴</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LPを見たが、今回は申し込んでいない</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次のイベントまで間がある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開催のない月の配信で、次回までつながりを保てる</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次のイベントの案内を、開催が決まり次第届けられる</a:t>
            </a:r>
          </a:p>
          <a:p>
            <a:pPr>
              <a:spcBef>
                <a:spcPts val="600"/>
              </a:spcBef>
              <a:buClr>
                <a:srgbClr val="000000"/>
              </a:buClr>
              <a:buFont typeface="Arial"/>
              <a:buNone/>
            </a:pPr>
            <a:endParaRPr kumimoji="0" lang="en-US" altLang="ja-JP" sz="1200" b="1" kern="0" dirty="0">
              <a:solidFill>
                <a:srgbClr val="1F2A5C"/>
              </a:solidFill>
              <a:latin typeface="メイリオ" panose="020B0604030504040204" pitchFamily="50" charset="-128"/>
              <a:ea typeface="メイリオ" panose="020B0604030504040204" pitchFamily="50" charset="-128"/>
              <a:cs typeface="メイリオ"/>
              <a:sym typeface="Arial"/>
            </a:endParaRPr>
          </a:p>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デメリット</a:t>
            </a:r>
          </a:p>
          <a:p>
            <a:pPr marL="171450" indent="-171450">
              <a:spcBef>
                <a:spcPts val="200"/>
              </a:spcBef>
              <a:buClr>
                <a:srgbClr val="1F2A5C"/>
              </a:buClr>
              <a:buFont typeface="Arial"/>
              <a:buChar char="•"/>
            </a:pPr>
            <a:r>
              <a:rPr kumimoji="0" lang="ja-JP" altLang="en-US" sz="1200" kern="0" dirty="0">
                <a:solidFill>
                  <a:srgbClr val="333333"/>
                </a:solidFill>
                <a:latin typeface="メイリオ" panose="020B0604030504040204" pitchFamily="50" charset="-128"/>
                <a:ea typeface="メイリオ" panose="020B0604030504040204" pitchFamily="50" charset="-128"/>
                <a:cs typeface="メイリオ"/>
                <a:sym typeface="Arial"/>
              </a:rPr>
              <a:t>予約・入会まで時間がかかる</a:t>
            </a:r>
          </a:p>
        </p:txBody>
      </p:sp>
      <p:sp>
        <p:nvSpPr>
          <p:cNvPr id="13" name="Conclusion">
            <a:extLst>
              <a:ext uri="{FF2B5EF4-FFF2-40B4-BE49-F238E27FC236}">
                <a16:creationId xmlns:a16="http://schemas.microsoft.com/office/drawing/2014/main" id="{C13E0556-1137-A003-99B5-1CC8EE085C44}"/>
              </a:ext>
            </a:extLst>
          </p:cNvPr>
          <p:cNvSpPr txBox="1"/>
          <p:nvPr/>
        </p:nvSpPr>
        <p:spPr>
          <a:xfrm>
            <a:off x="381000" y="4554727"/>
            <a:ext cx="9144000" cy="1234440"/>
          </a:xfrm>
          <a:prstGeom prst="rect">
            <a:avLst/>
          </a:prstGeom>
          <a:solidFill>
            <a:srgbClr val="F0F2F7"/>
          </a:solidFill>
          <a:ln>
            <a:noFill/>
          </a:ln>
        </p:spPr>
        <p:txBody>
          <a:bodyPr wrap="square" lIns="177800" tIns="127000" rIns="177800" bIns="127000" anchor="t"/>
          <a:lstStyle/>
          <a:p>
            <a:pPr>
              <a:buClr>
                <a:srgbClr val="000000"/>
              </a:buClr>
              <a:buFont typeface="Arial"/>
              <a:buNone/>
            </a:pPr>
            <a:r>
              <a:rPr kumimoji="0" lang="ja-JP" altLang="en-US" sz="1200" b="1" kern="0" dirty="0">
                <a:solidFill>
                  <a:srgbClr val="1F2A5C"/>
                </a:solidFill>
                <a:latin typeface="メイリオ" panose="020B0604030504040204" pitchFamily="50" charset="-128"/>
                <a:ea typeface="メイリオ" panose="020B0604030504040204" pitchFamily="50" charset="-128"/>
                <a:cs typeface="メイリオ"/>
                <a:sym typeface="Arial"/>
              </a:rPr>
              <a:t>結論・推奨</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友だち追加の流入経路（離脱防止ポップアップ／予約完了後のご案内）で分け、予約した方は当日の参加へ、</a:t>
            </a:r>
          </a:p>
          <a:p>
            <a:pPr>
              <a:spcBef>
                <a:spcPts val="200"/>
              </a:spcBef>
              <a:buClr>
                <a:srgbClr val="000000"/>
              </a:buClr>
              <a:buFont typeface="Arial"/>
              <a:buNone/>
            </a:pPr>
            <a:r>
              <a:rPr kumimoji="0" lang="en-US" altLang="ja-JP" sz="1200" kern="0" dirty="0">
                <a:solidFill>
                  <a:srgbClr val="333333"/>
                </a:solidFill>
                <a:latin typeface="メイリオ" panose="020B0604030504040204" pitchFamily="50" charset="-128"/>
                <a:ea typeface="メイリオ" panose="020B0604030504040204" pitchFamily="50" charset="-128"/>
                <a:cs typeface="メイリオ"/>
                <a:sym typeface="Arial"/>
              </a:rPr>
              <a:t>予約していない方は開催のない月の配信で次のイベントへつなげる。流入経路だけでは予約・参加・入会の状況をすべて把握できないため、状況に応じた出し分けは、連携の仕様を確認のうえ設計。</a:t>
            </a:r>
          </a:p>
        </p:txBody>
      </p:sp>
    </p:spTree>
    <p:extLst>
      <p:ext uri="{BB962C8B-B14F-4D97-AF65-F5344CB8AC3E}">
        <p14:creationId xmlns:p14="http://schemas.microsoft.com/office/powerpoint/2010/main" val="3203648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Google Shape;156;p7">
            <a:extLst>
              <a:ext uri="{FF2B5EF4-FFF2-40B4-BE49-F238E27FC236}">
                <a16:creationId xmlns:a16="http://schemas.microsoft.com/office/drawing/2014/main" id="{73A3A993-1ECB-4CB5-EF51-73494E022DA2}"/>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友だち追加直後のステップ配信（5通・案）</a:t>
            </a:r>
            <a:endParaRPr sz="1600" b="1" dirty="0">
              <a:solidFill>
                <a:srgbClr val="002060"/>
              </a:solidFill>
              <a:latin typeface="メイリオ"/>
              <a:ea typeface="メイリオ"/>
              <a:cs typeface="メイリオ"/>
              <a:sym typeface="Meiryo"/>
            </a:endParaRPr>
          </a:p>
        </p:txBody>
      </p:sp>
      <p:sp>
        <p:nvSpPr>
          <p:cNvPr id="46" name="正方形/長方形 2">
            <a:extLst>
              <a:ext uri="{FF2B5EF4-FFF2-40B4-BE49-F238E27FC236}">
                <a16:creationId xmlns:a16="http://schemas.microsoft.com/office/drawing/2014/main" id="{31AFE6AB-F1DA-C6B7-D87F-3695F50AA57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7" name="正方形/長方形 3">
            <a:extLst>
              <a:ext uri="{FF2B5EF4-FFF2-40B4-BE49-F238E27FC236}">
                <a16:creationId xmlns:a16="http://schemas.microsoft.com/office/drawing/2014/main" id="{F8C7209A-302D-E575-6893-8AB70FAE1F8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48" name="直線コネクタ 1">
            <a:extLst>
              <a:ext uri="{FF2B5EF4-FFF2-40B4-BE49-F238E27FC236}">
                <a16:creationId xmlns:a16="http://schemas.microsoft.com/office/drawing/2014/main" id="{075811D5-D863-CFCC-F7C2-B17B78E050E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9" name="テキスト ボックス 8">
            <a:extLst>
              <a:ext uri="{FF2B5EF4-FFF2-40B4-BE49-F238E27FC236}">
                <a16:creationId xmlns:a16="http://schemas.microsoft.com/office/drawing/2014/main" id="{4C3DC3D4-7D19-11E4-6F8B-21449E92FE21}"/>
              </a:ext>
            </a:extLst>
          </p:cNvPr>
          <p:cNvSpPr txBox="1"/>
          <p:nvPr/>
        </p:nvSpPr>
        <p:spPr>
          <a:xfrm>
            <a:off x="181151" y="707743"/>
            <a:ext cx="9476706" cy="625812"/>
          </a:xfrm>
          <a:prstGeom prst="rect">
            <a:avLst/>
          </a:prstGeom>
          <a:noFill/>
        </p:spPr>
        <p:txBody>
          <a:bodyPr wrap="square">
            <a:spAutoFit/>
          </a:bodyPr>
          <a:lstStyle/>
          <a:p>
            <a:pPr marL="228600">
              <a:spcAft>
                <a:spcPts val="800"/>
              </a:spcAft>
              <a:buNone/>
            </a:pPr>
            <a:r>
              <a:rPr lang="ja-JP" altLang="ja-JP" sz="1400" dirty="0">
                <a:effectLst/>
                <a:latin typeface="メイリオ" panose="02020603050405020304" pitchFamily="18" charset="0"/>
                <a:ea typeface="メイリオ" panose="020B0604030504040204" pitchFamily="50" charset="-128"/>
                <a:cs typeface="メイリオ" panose="020B0604030504040204" pitchFamily="50" charset="-128"/>
              </a:rPr>
              <a:t>追加直後の関心が高いうちに、セミナーの中身と参加の判断材料を届ける</a:t>
            </a:r>
            <a:endParaRPr lang="en-US" altLang="ja-JP" sz="1400" dirty="0">
              <a:effectLst/>
              <a:latin typeface="メイリオ" panose="02020603050405020304" pitchFamily="18" charset="0"/>
              <a:ea typeface="メイリオ" panose="020B0604030504040204" pitchFamily="50" charset="-128"/>
              <a:cs typeface="メイリオ" panose="020B0604030504040204" pitchFamily="50" charset="-128"/>
            </a:endParaRPr>
          </a:p>
        </p:txBody>
      </p:sp>
      <p:sp>
        <p:nvSpPr>
          <p:cNvPr id="50" name="ステップ 追加直後"/>
          <p:cNvSpPr/>
          <p:nvPr/>
        </p:nvSpPr>
        <p:spPr>
          <a:xfrm>
            <a:off x="420624"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追加直後</a:t>
            </a:r>
            <a:endParaRPr lang="ja-JP" altLang="en-US" sz="1200" dirty="0">
              <a:latin typeface="メイリオ"/>
              <a:ea typeface="メイリオ"/>
              <a:cs typeface="メイリオ"/>
            </a:endParaRPr>
          </a:p>
        </p:txBody>
      </p:sp>
      <p:sp>
        <p:nvSpPr>
          <p:cNvPr id="51" name="配信 追加直後"/>
          <p:cNvSpPr/>
          <p:nvPr/>
        </p:nvSpPr>
        <p:spPr>
          <a:xfrm>
            <a:off x="420624"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あいさつ・参加特典</a:t>
            </a:r>
            <a:endParaRPr lang="ja-JP" altLang="en-US" sz="1200" dirty="0">
              <a:latin typeface="メイリオ"/>
              <a:ea typeface="メイリオ"/>
              <a:cs typeface="メイリオ"/>
            </a:endParaRPr>
          </a:p>
        </p:txBody>
      </p:sp>
      <p:sp>
        <p:nvSpPr>
          <p:cNvPr id="52" name="内容 追加直後"/>
          <p:cNvSpPr/>
          <p:nvPr/>
        </p:nvSpPr>
        <p:spPr>
          <a:xfrm>
            <a:off x="420624"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参加特典をご案内。必要に応じて、興味分野を1問で確認（保険営業の方向け／一般の方向け）</a:t>
            </a:r>
            <a:endParaRPr lang="ja-JP" altLang="en-US" sz="1200" dirty="0">
              <a:latin typeface="メイリオ"/>
              <a:ea typeface="メイリオ"/>
              <a:cs typeface="メイリオ"/>
            </a:endParaRPr>
          </a:p>
        </p:txBody>
      </p:sp>
      <p:sp>
        <p:nvSpPr>
          <p:cNvPr id="53" name="ステップ 1〜2日後"/>
          <p:cNvSpPr/>
          <p:nvPr/>
        </p:nvSpPr>
        <p:spPr>
          <a:xfrm>
            <a:off x="2258568"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1〜2日後</a:t>
            </a:r>
            <a:endParaRPr lang="ja-JP" altLang="en-US" sz="1200" dirty="0">
              <a:latin typeface="メイリオ"/>
              <a:ea typeface="メイリオ"/>
              <a:cs typeface="メイリオ"/>
            </a:endParaRPr>
          </a:p>
        </p:txBody>
      </p:sp>
      <p:sp>
        <p:nvSpPr>
          <p:cNvPr id="54" name="配信 1〜2日後"/>
          <p:cNvSpPr/>
          <p:nvPr/>
        </p:nvSpPr>
        <p:spPr>
          <a:xfrm>
            <a:off x="2258568"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見どころ動画</a:t>
            </a:r>
            <a:endParaRPr lang="ja-JP" altLang="en-US" sz="1200" dirty="0">
              <a:latin typeface="メイリオ"/>
              <a:ea typeface="メイリオ"/>
              <a:cs typeface="メイリオ"/>
            </a:endParaRPr>
          </a:p>
        </p:txBody>
      </p:sp>
      <p:sp>
        <p:nvSpPr>
          <p:cNvPr id="55" name="内容 1〜2日後"/>
          <p:cNvSpPr/>
          <p:nvPr/>
        </p:nvSpPr>
        <p:spPr>
          <a:xfrm>
            <a:off x="2258568"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両想い営業・ライフプランブロックなど、セミナーの見どころを動画で紹介</a:t>
            </a:r>
            <a:endParaRPr lang="ja-JP" altLang="en-US" sz="1200" dirty="0">
              <a:latin typeface="メイリオ"/>
              <a:ea typeface="メイリオ"/>
              <a:cs typeface="メイリオ"/>
            </a:endParaRPr>
          </a:p>
        </p:txBody>
      </p:sp>
      <p:sp>
        <p:nvSpPr>
          <p:cNvPr id="56" name="ステップ 4〜5日後"/>
          <p:cNvSpPr/>
          <p:nvPr/>
        </p:nvSpPr>
        <p:spPr>
          <a:xfrm>
            <a:off x="4096512"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4〜5日後</a:t>
            </a:r>
            <a:endParaRPr lang="ja-JP" altLang="en-US" sz="1200" dirty="0">
              <a:latin typeface="メイリオ"/>
              <a:ea typeface="メイリオ"/>
              <a:cs typeface="メイリオ"/>
            </a:endParaRPr>
          </a:p>
        </p:txBody>
      </p:sp>
      <p:sp>
        <p:nvSpPr>
          <p:cNvPr id="57" name="配信 4〜5日後"/>
          <p:cNvSpPr/>
          <p:nvPr/>
        </p:nvSpPr>
        <p:spPr>
          <a:xfrm>
            <a:off x="4096512"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p:txBody>
      </p:sp>
      <p:sp>
        <p:nvSpPr>
          <p:cNvPr id="58" name="内容 4〜5日後"/>
          <p:cNvSpPr/>
          <p:nvPr/>
        </p:nvSpPr>
        <p:spPr>
          <a:xfrm>
            <a:off x="4096512"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面談の進め方が変わった受講生の声を紹介</a:t>
            </a:r>
            <a:endParaRPr lang="ja-JP" altLang="en-US" sz="1200" dirty="0">
              <a:latin typeface="メイリオ"/>
              <a:ea typeface="メイリオ"/>
              <a:cs typeface="メイリオ"/>
            </a:endParaRPr>
          </a:p>
        </p:txBody>
      </p:sp>
      <p:sp>
        <p:nvSpPr>
          <p:cNvPr id="59" name="ステップ 8〜9日後"/>
          <p:cNvSpPr/>
          <p:nvPr/>
        </p:nvSpPr>
        <p:spPr>
          <a:xfrm>
            <a:off x="5934456"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8〜9日後</a:t>
            </a:r>
            <a:endParaRPr lang="ja-JP" altLang="en-US" sz="1200" dirty="0">
              <a:latin typeface="メイリオ"/>
              <a:ea typeface="メイリオ"/>
              <a:cs typeface="メイリオ"/>
            </a:endParaRPr>
          </a:p>
        </p:txBody>
      </p:sp>
      <p:sp>
        <p:nvSpPr>
          <p:cNvPr id="60" name="配信 8〜9日後"/>
          <p:cNvSpPr/>
          <p:nvPr/>
        </p:nvSpPr>
        <p:spPr>
          <a:xfrm>
            <a:off x="5934456"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61" name="内容 8〜9日後"/>
          <p:cNvSpPr/>
          <p:nvPr/>
        </p:nvSpPr>
        <p:spPr>
          <a:xfrm>
            <a:off x="5934456"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62" name="ステップ 12〜15日後"/>
          <p:cNvSpPr/>
          <p:nvPr/>
        </p:nvSpPr>
        <p:spPr>
          <a:xfrm>
            <a:off x="7772400" y="1783080"/>
            <a:ext cx="1700784" cy="384048"/>
          </a:xfrm>
          <a:prstGeom prst="rect">
            <a:avLst/>
          </a:prstGeom>
          <a:solidFill>
            <a:srgbClr val="1F2A5C"/>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12〜15日後</a:t>
            </a:r>
            <a:endParaRPr lang="ja-JP" altLang="en-US" sz="1200" dirty="0">
              <a:latin typeface="メイリオ"/>
              <a:ea typeface="メイリオ"/>
              <a:cs typeface="メイリオ"/>
            </a:endParaRPr>
          </a:p>
        </p:txBody>
      </p:sp>
      <p:sp>
        <p:nvSpPr>
          <p:cNvPr id="63" name="配信 12〜15日後"/>
          <p:cNvSpPr/>
          <p:nvPr/>
        </p:nvSpPr>
        <p:spPr>
          <a:xfrm>
            <a:off x="7772400" y="2240280"/>
            <a:ext cx="1700784" cy="457200"/>
          </a:xfrm>
          <a:prstGeom prst="rect">
            <a:avLst/>
          </a:prstGeom>
          <a:solidFill>
            <a:srgbClr val="EEF1F8"/>
          </a:solidFill>
          <a:ln>
            <a:noFill/>
          </a:ln>
        </p:spPr>
        <p:txBody>
          <a:bodyPr wrap="square" lIns="36576" tIns="18288" rIns="36576" bIns="18288" rtlCol="0" anchor="ctr">
            <a:noAutofit/>
          </a:bodyPr>
          <a:lstStyle/>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次回セミナーの</a:t>
            </a:r>
            <a:endParaRPr lang="en-US" altLang="ja-JP" sz="1300" b="1" dirty="0">
              <a:solidFill>
                <a:srgbClr val="1F2A5C"/>
              </a:solidFill>
              <a:latin typeface="メイリオ" panose="020B0604030504040204" pitchFamily="50" charset="-128"/>
              <a:ea typeface="メイリオ" panose="020B0604030504040204" pitchFamily="50" charset="-128"/>
              <a:cs typeface="メイリオ"/>
            </a:endParaRPr>
          </a:p>
          <a:p>
            <a:pPr algn="ctr">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ご案内</a:t>
            </a:r>
            <a:endParaRPr lang="ja-JP" altLang="en-US" sz="1200" dirty="0">
              <a:latin typeface="メイリオ"/>
              <a:ea typeface="メイリオ"/>
              <a:cs typeface="メイリオ"/>
            </a:endParaRPr>
          </a:p>
        </p:txBody>
      </p:sp>
      <p:sp>
        <p:nvSpPr>
          <p:cNvPr id="64" name="内容 12〜15日後"/>
          <p:cNvSpPr/>
          <p:nvPr/>
        </p:nvSpPr>
        <p:spPr>
          <a:xfrm>
            <a:off x="7772400" y="2770632"/>
            <a:ext cx="1700784" cy="1600200"/>
          </a:xfrm>
          <a:prstGeom prst="rect">
            <a:avLst/>
          </a:prstGeom>
          <a:solidFill>
            <a:srgbClr val="F5F7FA"/>
          </a:solidFill>
          <a:ln>
            <a:noFill/>
          </a:ln>
        </p:spPr>
        <p:txBody>
          <a:bodyPr wrap="square" lIns="73152" tIns="73152" rIns="73152" bIns="54864"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開催日程と予約ページをご案内（募集期間外は、案内開始時にお届け）</a:t>
            </a:r>
            <a:endParaRPr lang="ja-JP" altLang="en-US" sz="1200" dirty="0">
              <a:latin typeface="メイリオ"/>
              <a:ea typeface="メイリオ"/>
              <a:cs typeface="メイリオ"/>
            </a:endParaRPr>
          </a:p>
        </p:txBody>
      </p:sp>
      <p:sp>
        <p:nvSpPr>
          <p:cNvPr id="65" name="注記"/>
          <p:cNvSpPr/>
          <p:nvPr/>
        </p:nvSpPr>
        <p:spPr>
          <a:xfrm>
            <a:off x="420624" y="4617720"/>
            <a:ext cx="9052560" cy="59436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※配信内容は、貴社LPの「生産性4倍セミナーの特徴」「受講生の声」「よくある質問」をもとにした例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※一般の方向けを選んだ方には、一般の方向けの案内を中心に配信</a:t>
            </a:r>
            <a:endParaRPr lang="ja-JP" altLang="en-US" sz="1200" dirty="0">
              <a:latin typeface="メイリオ"/>
              <a:ea typeface="メイリオ"/>
              <a:cs typeface="メイリオ"/>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6D1CC-B1BA-828E-295F-EADD0CDEFAB4}"/>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417026AF-4DDE-BCC5-590F-D8DDBF5664B1}"/>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メイリオ" charset="0"/>
                <a:ea typeface="メイリオ" charset="0"/>
                <a:cs typeface="メイリオ" charset="0"/>
              </a:defRPr>
            </a:lvl1pPr>
            <a:lvl2pPr>
              <a:defRPr kumimoji="1" sz="2800">
                <a:solidFill>
                  <a:schemeClr val="tx1"/>
                </a:solidFill>
                <a:latin typeface="メイリオ" charset="0"/>
                <a:ea typeface="メイリオ" charset="0"/>
                <a:cs typeface="メイリオ"/>
              </a:defRPr>
            </a:lvl2pPr>
            <a:lvl3pPr>
              <a:defRPr kumimoji="1" sz="2400">
                <a:solidFill>
                  <a:schemeClr val="tx1"/>
                </a:solidFill>
                <a:latin typeface="メイリオ" charset="0"/>
                <a:ea typeface="メイリオ" charset="0"/>
                <a:cs typeface="メイリオ"/>
              </a:defRPr>
            </a:lvl3pPr>
            <a:lvl4pPr>
              <a:defRPr kumimoji="1" sz="2000">
                <a:solidFill>
                  <a:schemeClr val="tx1"/>
                </a:solidFill>
                <a:latin typeface="メイリオ" charset="0"/>
                <a:ea typeface="メイリオ" charset="0"/>
                <a:cs typeface="メイリオ"/>
              </a:defRPr>
            </a:lvl4pPr>
            <a:lvl5pPr>
              <a:defRPr kumimoji="1" sz="2000">
                <a:solidFill>
                  <a:schemeClr val="tx1"/>
                </a:solidFill>
                <a:latin typeface="メイリオ" charset="0"/>
                <a:ea typeface="メイリオ" charset="0"/>
                <a:cs typeface="メイリオ"/>
              </a:defRPr>
            </a:lvl5pPr>
            <a:lvl6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6pPr>
            <a:lvl7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7pPr>
            <a:lvl8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8pPr>
            <a:lvl9pPr eaLnBrk="0" fontAlgn="base" hangingPunct="0">
              <a:spcAft>
                <a:spcPct val="0"/>
              </a:spcAft>
              <a:buFont typeface="Arial" charset="0"/>
              <a:buChar char="»"/>
              <a:defRPr kumimoji="1" sz="2000">
                <a:solidFill>
                  <a:schemeClr val="tx1"/>
                </a:solidFill>
                <a:latin typeface="メイリオ" charset="0"/>
                <a:ea typeface="メイリオ" charset="0"/>
                <a:cs typeface="メイリオ"/>
              </a:defRPr>
            </a:lvl9pPr>
          </a:lstStyle>
          <a:p>
            <a:pPr>
              <a:spcBef>
                <a:spcPct val="20000"/>
              </a:spcBef>
              <a:buFont typeface="Arial" charset="0"/>
              <a:buNone/>
            </a:pPr>
            <a:r>
              <a:rPr lang="ja-JP" altLang="en-US" sz="1600" b="1" dirty="0">
                <a:solidFill>
                  <a:srgbClr val="1F2A5C"/>
                </a:solidFill>
                <a:latin typeface="メイリオ" panose="020B0604030504040204" pitchFamily="50" charset="-128"/>
                <a:ea typeface="メイリオ" panose="020B0604030504040204" pitchFamily="50" charset="-128"/>
                <a:cs typeface="メイリオ"/>
              </a:rPr>
              <a:t>参加後のフォローアップ：関心が高いうちに、入会の判断材料を届ける</a:t>
            </a:r>
          </a:p>
        </p:txBody>
      </p:sp>
      <p:sp>
        <p:nvSpPr>
          <p:cNvPr id="5" name="Lead">
            <a:extLst>
              <a:ext uri="{FF2B5EF4-FFF2-40B4-BE49-F238E27FC236}">
                <a16:creationId xmlns:a16="http://schemas.microsoft.com/office/drawing/2014/main" id="{392B90DB-59D9-CA69-BB23-380EC53A1799}"/>
              </a:ext>
            </a:extLst>
          </p:cNvPr>
          <p:cNvSpPr txBox="1"/>
          <p:nvPr/>
        </p:nvSpPr>
        <p:spPr>
          <a:xfrm>
            <a:off x="342900" y="711200"/>
            <a:ext cx="6667500" cy="285750"/>
          </a:xfrm>
          <a:prstGeom prst="rect">
            <a:avLst/>
          </a:prstGeom>
          <a:noFill/>
        </p:spPr>
        <p:txBody>
          <a:bodyPr wrap="square" lIns="0" tIns="0" rIns="0" bIns="0" anchor="t"/>
          <a:lstStyle/>
          <a:p>
            <a:pPr>
              <a:buNone/>
            </a:pPr>
            <a:r>
              <a:rPr lang="ja-JP" altLang="en-US" sz="1400" dirty="0">
                <a:solidFill>
                  <a:srgbClr val="5A6378"/>
                </a:solidFill>
                <a:latin typeface="メイリオ"/>
                <a:ea typeface="メイリオ"/>
                <a:cs typeface="メイリオ"/>
              </a:rPr>
              <a:t>参加直後と参加後30〜60日に、サロンの内容と入会方法をお届けする</a:t>
            </a:r>
          </a:p>
        </p:txBody>
      </p:sp>
      <p:sp>
        <p:nvSpPr>
          <p:cNvPr id="7" name="Body">
            <a:extLst>
              <a:ext uri="{FF2B5EF4-FFF2-40B4-BE49-F238E27FC236}">
                <a16:creationId xmlns:a16="http://schemas.microsoft.com/office/drawing/2014/main" id="{BE3C0D2E-9E33-CCCB-465C-36479CC64146}"/>
              </a:ext>
            </a:extLst>
          </p:cNvPr>
          <p:cNvSpPr txBox="1"/>
          <p:nvPr/>
        </p:nvSpPr>
        <p:spPr>
          <a:xfrm>
            <a:off x="342900" y="3164840"/>
            <a:ext cx="6743700" cy="3810000"/>
          </a:xfrm>
          <a:prstGeom prst="rect">
            <a:avLst/>
          </a:prstGeom>
          <a:noFill/>
        </p:spPr>
        <p:txBody>
          <a:bodyPr wrap="square" lIns="0" tIns="0" rIns="0" bIns="0" anchor="t"/>
          <a:lstStyle/>
          <a:p>
            <a:endParaRPr>
              <a:latin typeface="メイリオ"/>
              <a:ea typeface="メイリオ"/>
              <a:cs typeface="メイリオ"/>
            </a:endParaRPr>
          </a:p>
        </p:txBody>
      </p:sp>
      <p:sp>
        <p:nvSpPr>
          <p:cNvPr id="4" name="TextBox 2006">
            <a:extLst>
              <a:ext uri="{FF2B5EF4-FFF2-40B4-BE49-F238E27FC236}">
                <a16:creationId xmlns:a16="http://schemas.microsoft.com/office/drawing/2014/main" id="{D2F2FC8A-1E7E-57E2-6839-B8D5EF164194}"/>
              </a:ext>
            </a:extLst>
          </p:cNvPr>
          <p:cNvSpPr txBox="1"/>
          <p:nvPr/>
        </p:nvSpPr>
        <p:spPr>
          <a:xfrm>
            <a:off x="456501" y="1091185"/>
            <a:ext cx="9052560" cy="320040"/>
          </a:xfrm>
          <a:prstGeom prst="rect">
            <a:avLst/>
          </a:prstGeom>
          <a:noFill/>
        </p:spPr>
        <p:txBody>
          <a:bodyPr wrap="square">
            <a:spAutoFit/>
          </a:bodyPr>
          <a:lstStyle/>
          <a:p>
            <a:pPr algn="l"/>
            <a:r>
              <a:rPr sz="1400" b="1">
                <a:solidFill>
                  <a:srgbClr val="1F2A5C"/>
                </a:solidFill>
                <a:latin typeface="メイリオ"/>
                <a:ea typeface="メイリオ"/>
                <a:cs typeface="メイリオ"/>
              </a:rPr>
              <a:t>配信内容（例）</a:t>
            </a:r>
          </a:p>
        </p:txBody>
      </p:sp>
      <p:sp>
        <p:nvSpPr>
          <p:cNvPr id="8" name="Chevron 2007">
            <a:extLst>
              <a:ext uri="{FF2B5EF4-FFF2-40B4-BE49-F238E27FC236}">
                <a16:creationId xmlns:a16="http://schemas.microsoft.com/office/drawing/2014/main" id="{10212EE1-F4B4-8DDA-CF71-F80F8F6403F8}"/>
              </a:ext>
            </a:extLst>
          </p:cNvPr>
          <p:cNvSpPr/>
          <p:nvPr/>
        </p:nvSpPr>
        <p:spPr>
          <a:xfrm>
            <a:off x="456501"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参加直後</a:t>
            </a:r>
          </a:p>
          <a:p>
            <a:pPr algn="ctr"/>
            <a:r>
              <a:rPr sz="1200">
                <a:solidFill>
                  <a:srgbClr val="FFFFFF"/>
                </a:solidFill>
                <a:latin typeface="メイリオ"/>
                <a:ea typeface="メイリオ"/>
                <a:cs typeface="メイリオ"/>
              </a:rPr>
              <a:t>関心が高いうちに、サロンをご案内</a:t>
            </a:r>
          </a:p>
        </p:txBody>
      </p:sp>
      <p:sp>
        <p:nvSpPr>
          <p:cNvPr id="11" name="Chevron 2008">
            <a:extLst>
              <a:ext uri="{FF2B5EF4-FFF2-40B4-BE49-F238E27FC236}">
                <a16:creationId xmlns:a16="http://schemas.microsoft.com/office/drawing/2014/main" id="{785204DB-5C6A-DF80-2A53-F86C50DB8BFE}"/>
              </a:ext>
            </a:extLst>
          </p:cNvPr>
          <p:cNvSpPr/>
          <p:nvPr/>
        </p:nvSpPr>
        <p:spPr>
          <a:xfrm>
            <a:off x="5037645" y="1456944"/>
            <a:ext cx="4471416" cy="685800"/>
          </a:xfrm>
          <a:prstGeom prst="chevron">
            <a:avLst/>
          </a:prstGeom>
          <a:solidFill>
            <a:srgbClr val="1F2A5C"/>
          </a:solidFill>
          <a:ln>
            <a:noFill/>
          </a:ln>
        </p:spPr>
        <p:style>
          <a:lnRef idx="1">
            <a:schemeClr val="accent1"/>
          </a:lnRef>
          <a:fillRef idx="3">
            <a:schemeClr val="accent1"/>
          </a:fillRef>
          <a:effectRef idx="2">
            <a:schemeClr val="accent1"/>
          </a:effectRef>
          <a:fontRef idx="minor">
            <a:schemeClr val="lt1"/>
          </a:fontRef>
        </p:style>
        <p:txBody>
          <a:bodyPr wrap="square" lIns="25400" rIns="25400" rtlCol="0" anchor="ctr"/>
          <a:lstStyle/>
          <a:p>
            <a:pPr algn="ctr"/>
            <a:r>
              <a:rPr sz="1300" b="1">
                <a:solidFill>
                  <a:srgbClr val="FFFFFF"/>
                </a:solidFill>
                <a:latin typeface="メイリオ"/>
                <a:ea typeface="メイリオ"/>
                <a:cs typeface="メイリオ"/>
              </a:rPr>
              <a:t>参加後30〜60日</a:t>
            </a:r>
          </a:p>
          <a:p>
            <a:pPr algn="ctr"/>
            <a:r>
              <a:rPr sz="1200">
                <a:solidFill>
                  <a:srgbClr val="FFFFFF"/>
                </a:solidFill>
                <a:latin typeface="メイリオ"/>
                <a:ea typeface="メイリオ"/>
                <a:cs typeface="メイリオ"/>
              </a:rPr>
              <a:t>迷っている方へ、成果と続け方を届ける</a:t>
            </a:r>
          </a:p>
        </p:txBody>
      </p:sp>
      <p:sp>
        <p:nvSpPr>
          <p:cNvPr id="12" name="配信内容"/>
          <p:cNvSpPr/>
          <p:nvPr/>
        </p:nvSpPr>
        <p:spPr>
          <a:xfrm>
            <a:off x="548640"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セミナーの振り返り</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両想い営業・ライフプランブロックの要点をおさらい</a:t>
            </a:r>
            <a:endParaRPr lang="ja-JP" altLang="en-US" sz="1200" dirty="0">
              <a:latin typeface="メイリオ"/>
              <a:ea typeface="メイリオ"/>
              <a:cs typeface="メイリオ"/>
            </a:endParaRPr>
          </a:p>
        </p:txBody>
      </p:sp>
      <p:cxnSp>
        <p:nvCxnSpPr>
          <p:cNvPr id="13" name="Connector 12"/>
          <p:cNvCxnSpPr/>
          <p:nvPr/>
        </p:nvCxnSpPr>
        <p:spPr>
          <a:xfrm>
            <a:off x="548640" y="2993136"/>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4" name="配信内容"/>
          <p:cNvSpPr/>
          <p:nvPr/>
        </p:nvSpPr>
        <p:spPr>
          <a:xfrm>
            <a:off x="548640"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「契約で頭がいっぱい」だった方が、個人保険でTOT</a:t>
            </a:r>
            <a:endParaRPr lang="ja-JP" altLang="en-US" sz="1200" dirty="0">
              <a:latin typeface="メイリオ"/>
              <a:ea typeface="メイリオ"/>
              <a:cs typeface="メイリオ"/>
            </a:endParaRPr>
          </a:p>
        </p:txBody>
      </p:sp>
      <p:cxnSp>
        <p:nvCxnSpPr>
          <p:cNvPr id="15" name="Connector 14"/>
          <p:cNvCxnSpPr/>
          <p:nvPr/>
        </p:nvCxnSpPr>
        <p:spPr>
          <a:xfrm>
            <a:off x="548640" y="3669793"/>
            <a:ext cx="4288535"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6" name="配信内容"/>
          <p:cNvSpPr/>
          <p:nvPr/>
        </p:nvSpPr>
        <p:spPr>
          <a:xfrm>
            <a:off x="548640"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サロンのご案内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ライフプランブロックは、サロンの方だけが使える</a:t>
            </a:r>
            <a:endParaRPr lang="ja-JP" altLang="en-US" sz="1200" dirty="0">
              <a:latin typeface="メイリオ"/>
              <a:ea typeface="メイリオ"/>
              <a:cs typeface="メイリオ"/>
            </a:endParaRPr>
          </a:p>
        </p:txBody>
      </p:sp>
      <p:sp>
        <p:nvSpPr>
          <p:cNvPr id="17" name="配信内容"/>
          <p:cNvSpPr/>
          <p:nvPr/>
        </p:nvSpPr>
        <p:spPr>
          <a:xfrm>
            <a:off x="5129783" y="2371345"/>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受講生の声</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ロープレ動画で面談を振り返り、TOTを達成</a:t>
            </a:r>
            <a:endParaRPr lang="ja-JP" altLang="en-US" sz="1200" dirty="0">
              <a:latin typeface="メイリオ"/>
              <a:ea typeface="メイリオ"/>
              <a:cs typeface="メイリオ"/>
            </a:endParaRPr>
          </a:p>
        </p:txBody>
      </p:sp>
      <p:cxnSp>
        <p:nvCxnSpPr>
          <p:cNvPr id="18" name="Connector 17"/>
          <p:cNvCxnSpPr/>
          <p:nvPr/>
        </p:nvCxnSpPr>
        <p:spPr>
          <a:xfrm>
            <a:off x="5129783" y="2993136"/>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19" name="配信内容"/>
          <p:cNvSpPr/>
          <p:nvPr/>
        </p:nvSpPr>
        <p:spPr>
          <a:xfrm>
            <a:off x="5129783" y="3048000"/>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講師メッセージ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毎日遅くまで働いた頃から、働く時間を半分以下に</a:t>
            </a:r>
            <a:endParaRPr lang="ja-JP" altLang="en-US" sz="1200" dirty="0">
              <a:latin typeface="メイリオ"/>
              <a:ea typeface="メイリオ"/>
              <a:cs typeface="メイリオ"/>
            </a:endParaRPr>
          </a:p>
        </p:txBody>
      </p:sp>
      <p:cxnSp>
        <p:nvCxnSpPr>
          <p:cNvPr id="20" name="Connector 19"/>
          <p:cNvCxnSpPr/>
          <p:nvPr/>
        </p:nvCxnSpPr>
        <p:spPr>
          <a:xfrm>
            <a:off x="5129783" y="3669793"/>
            <a:ext cx="4288536" cy="0"/>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1" name="配信内容"/>
          <p:cNvSpPr/>
          <p:nvPr/>
        </p:nvSpPr>
        <p:spPr>
          <a:xfrm>
            <a:off x="5129783" y="3724657"/>
            <a:ext cx="4288536" cy="566928"/>
          </a:xfrm>
          <a:prstGeom prst="rect">
            <a:avLst/>
          </a:prstGeom>
          <a:noFill/>
          <a:ln>
            <a:noFill/>
          </a:ln>
        </p:spPr>
        <p:txBody>
          <a:bodyPr wrap="square" lIns="4572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次のセミナーのご案内</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次回の日程と、サロン入会のお申込み方法</a:t>
            </a:r>
            <a:endParaRPr lang="ja-JP" altLang="en-US" sz="1200" dirty="0">
              <a:latin typeface="メイリオ"/>
              <a:ea typeface="メイリオ"/>
              <a:cs typeface="メイリオ"/>
            </a:endParaRPr>
          </a:p>
        </p:txBody>
      </p:sp>
      <p:sp>
        <p:nvSpPr>
          <p:cNvPr id="22" name="注記"/>
          <p:cNvSpPr/>
          <p:nvPr/>
        </p:nvSpPr>
        <p:spPr>
          <a:xfrm>
            <a:off x="457200" y="5916168"/>
            <a:ext cx="9052560" cy="411480"/>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※参加した方を判別できる場合に、その情報を活用して配信（自動で判別できるかは、予約システム等との連携の可否による）</a:t>
            </a:r>
            <a:endParaRPr lang="ja-JP" altLang="en-US" sz="1200" dirty="0">
              <a:latin typeface="メイリオ"/>
              <a:ea typeface="メイリオ"/>
              <a:cs typeface="メイリオ"/>
            </a:endParaRPr>
          </a:p>
          <a:p>
            <a:pPr algn="l">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※配信内容は、貴社LPの「受講生の声」「講師メッセージ」「よくある質問」「講師紹介」をもとにした例</a:t>
            </a:r>
            <a:endParaRPr lang="ja-JP" altLang="en-US" sz="1200" dirty="0">
              <a:latin typeface="メイリオ"/>
              <a:ea typeface="メイリオ"/>
              <a:cs typeface="メイリオ"/>
            </a:endParaRPr>
          </a:p>
        </p:txBody>
      </p:sp>
      <p:sp>
        <p:nvSpPr>
          <p:cNvPr id="23" name="ほかの配信案"/>
          <p:cNvSpPr/>
          <p:nvPr/>
        </p:nvSpPr>
        <p:spPr>
          <a:xfrm>
            <a:off x="457200" y="4474463"/>
            <a:ext cx="9052560" cy="292608"/>
          </a:xfrm>
          <a:prstGeom prst="rect">
            <a:avLst/>
          </a:prstGeom>
          <a:noFill/>
          <a:ln>
            <a:noFill/>
          </a:ln>
        </p:spPr>
        <p:txBody>
          <a:bodyPr wrap="square" lIns="91440" tIns="0" rIns="0" bIns="0"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他の案</a:t>
            </a:r>
            <a:endParaRPr lang="ja-JP" altLang="en-US" sz="1200" dirty="0">
              <a:latin typeface="メイリオ"/>
              <a:ea typeface="メイリオ"/>
              <a:cs typeface="メイリオ"/>
            </a:endParaRPr>
          </a:p>
        </p:txBody>
      </p:sp>
      <p:sp>
        <p:nvSpPr>
          <p:cNvPr id="24" name="ほかの配信案 項目"/>
          <p:cNvSpPr/>
          <p:nvPr/>
        </p:nvSpPr>
        <p:spPr>
          <a:xfrm>
            <a:off x="457200" y="4767071"/>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よくある質問</a:t>
            </a:r>
            <a:endParaRPr lang="ja-JP" altLang="en-US" sz="1200" dirty="0">
              <a:latin typeface="メイリオ"/>
              <a:ea typeface="メイリオ"/>
              <a:cs typeface="メイリオ"/>
            </a:endParaRPr>
          </a:p>
        </p:txBody>
      </p:sp>
      <p:sp>
        <p:nvSpPr>
          <p:cNvPr id="25" name="ほかの配信案 内容"/>
          <p:cNvSpPr/>
          <p:nvPr/>
        </p:nvSpPr>
        <p:spPr>
          <a:xfrm>
            <a:off x="2377440" y="4767071"/>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次のセミナーの案内に添える</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地方からも参加できる・録画はない・初心者でも分かる・参加は無料</a:t>
            </a:r>
            <a:endParaRPr lang="ja-JP" altLang="en-US" sz="1200" dirty="0">
              <a:latin typeface="メイリオ"/>
              <a:ea typeface="メイリオ"/>
              <a:cs typeface="メイリオ"/>
            </a:endParaRPr>
          </a:p>
        </p:txBody>
      </p:sp>
      <p:sp>
        <p:nvSpPr>
          <p:cNvPr id="26" name="ほかの配信案 項目"/>
          <p:cNvSpPr/>
          <p:nvPr/>
        </p:nvSpPr>
        <p:spPr>
          <a:xfrm>
            <a:off x="457200" y="5352287"/>
            <a:ext cx="1920240" cy="512064"/>
          </a:xfrm>
          <a:prstGeom prst="rect">
            <a:avLst/>
          </a:prstGeom>
          <a:solidFill>
            <a:srgbClr val="F5F7FA"/>
          </a:solidFill>
          <a:ln>
            <a:noFill/>
          </a:ln>
        </p:spPr>
        <p:txBody>
          <a:bodyPr wrap="square" lIns="182880" tIns="18288" rIns="45720" bIns="18288" rtlCol="0" anchor="ctr">
            <a:noAutofit/>
          </a:bodyPr>
          <a:lstStyle/>
          <a:p>
            <a:pPr algn="l">
              <a:buNone/>
            </a:pPr>
            <a:r>
              <a:rPr lang="ja-JP" altLang="en-US" sz="1300" b="1" dirty="0">
                <a:solidFill>
                  <a:srgbClr val="1F2A5C"/>
                </a:solidFill>
                <a:latin typeface="メイリオ" panose="020B0604030504040204" pitchFamily="50" charset="-128"/>
                <a:ea typeface="メイリオ" panose="020B0604030504040204" pitchFamily="50" charset="-128"/>
                <a:cs typeface="メイリオ"/>
              </a:rPr>
              <a:t>講師紹介</a:t>
            </a:r>
            <a:endParaRPr lang="ja-JP" altLang="en-US" sz="1200" dirty="0">
              <a:latin typeface="メイリオ"/>
              <a:ea typeface="メイリオ"/>
              <a:cs typeface="メイリオ"/>
            </a:endParaRPr>
          </a:p>
        </p:txBody>
      </p:sp>
      <p:sp>
        <p:nvSpPr>
          <p:cNvPr id="27" name="ほかの配信案 内容"/>
          <p:cNvSpPr/>
          <p:nvPr/>
        </p:nvSpPr>
        <p:spPr>
          <a:xfrm>
            <a:off x="2377440" y="5352287"/>
            <a:ext cx="7132320" cy="512064"/>
          </a:xfrm>
          <a:prstGeom prst="rect">
            <a:avLst/>
          </a:prstGeom>
          <a:solidFill>
            <a:srgbClr val="F5F7FA"/>
          </a:solidFill>
          <a:ln>
            <a:noFill/>
          </a:ln>
        </p:spPr>
        <p:txBody>
          <a:bodyPr wrap="square" lIns="45720" tIns="18288" rIns="91440" bIns="18288" rtlCol="0" anchor="ctr">
            <a:noAutofit/>
          </a:bodyPr>
          <a:lstStyle/>
          <a:p>
            <a:pPr algn="l">
              <a:buNone/>
            </a:pPr>
            <a:r>
              <a:rPr lang="ja-JP" altLang="en-US" sz="1200" b="1" dirty="0">
                <a:solidFill>
                  <a:srgbClr val="333333"/>
                </a:solidFill>
                <a:latin typeface="メイリオ" panose="020B0604030504040204" pitchFamily="50" charset="-128"/>
                <a:ea typeface="メイリオ" panose="020B0604030504040204" pitchFamily="50" charset="-128"/>
                <a:cs typeface="メイリオ"/>
              </a:rPr>
              <a:t>入会を迷っている方へ</a:t>
            </a:r>
            <a:endParaRPr lang="ja-JP" altLang="en-US" sz="1200" dirty="0">
              <a:latin typeface="メイリオ"/>
              <a:ea typeface="メイリオ"/>
              <a:cs typeface="メイリオ"/>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谷岡様の経歴：契約件数全国1位で表彰・週2日の営業で毎年TOT</a:t>
            </a:r>
            <a:endParaRPr lang="ja-JP" altLang="en-US" sz="1200" dirty="0">
              <a:latin typeface="メイリオ"/>
              <a:ea typeface="メイリオ"/>
              <a:cs typeface="メイリオ"/>
            </a:endParaRPr>
          </a:p>
        </p:txBody>
      </p:sp>
    </p:spTree>
    <p:extLst>
      <p:ext uri="{BB962C8B-B14F-4D97-AF65-F5344CB8AC3E}">
        <p14:creationId xmlns:p14="http://schemas.microsoft.com/office/powerpoint/2010/main" val="4396800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17A57-A342-CB38-A7F8-9DB9EF160348}"/>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82D28B4-A2E3-FBF5-60E3-CBDCF57DCEE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262C21F-1F4A-FEF6-A8ED-48C7EC229555}"/>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運用体制・スケジュール</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092134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p:cNvSpPr/>
          <p:nvPr/>
        </p:nvSpPr>
        <p:spPr>
          <a:xfrm>
            <a:off x="300312" y="832762"/>
            <a:ext cx="9355994" cy="867143"/>
          </a:xfrm>
          <a:prstGeom prst="rect">
            <a:avLst/>
          </a:prstGeom>
          <a:solidFill>
            <a:schemeClr val="tx2"/>
          </a:solidFill>
          <a:ln w="2222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400" dirty="0">
                <a:solidFill>
                  <a:schemeClr val="bg1"/>
                </a:solidFill>
                <a:latin typeface="メイリオ" panose="020B0604030504040204" pitchFamily="50" charset="-128"/>
                <a:ea typeface="メイリオ" panose="020B0604030504040204" pitchFamily="50" charset="-128"/>
                <a:cs typeface="メイリオ"/>
              </a:rPr>
              <a:t>WEB</a:t>
            </a:r>
            <a:r>
              <a:rPr lang="ja-JP" altLang="en-US" sz="2400" dirty="0">
                <a:solidFill>
                  <a:schemeClr val="bg1"/>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pic>
        <p:nvPicPr>
          <p:cNvPr id="7" name="図 6"/>
          <p:cNvPicPr>
            <a:picLocks noChangeAspect="1"/>
          </p:cNvPicPr>
          <p:nvPr/>
        </p:nvPicPr>
        <p:blipFill>
          <a:blip r:embed="rId3"/>
          <a:stretch>
            <a:fillRect/>
          </a:stretch>
        </p:blipFill>
        <p:spPr>
          <a:xfrm>
            <a:off x="1183616" y="2131090"/>
            <a:ext cx="2498573" cy="1744287"/>
          </a:xfrm>
          <a:prstGeom prst="rect">
            <a:avLst/>
          </a:prstGeom>
        </p:spPr>
      </p:pic>
      <p:pic>
        <p:nvPicPr>
          <p:cNvPr id="8" name="図 7"/>
          <p:cNvPicPr>
            <a:picLocks noChangeAspect="1"/>
          </p:cNvPicPr>
          <p:nvPr/>
        </p:nvPicPr>
        <p:blipFill>
          <a:blip r:embed="rId4"/>
          <a:stretch>
            <a:fillRect/>
          </a:stretch>
        </p:blipFill>
        <p:spPr>
          <a:xfrm>
            <a:off x="3456146" y="2402524"/>
            <a:ext cx="2393091" cy="1668595"/>
          </a:xfrm>
          <a:prstGeom prst="rect">
            <a:avLst/>
          </a:prstGeom>
        </p:spPr>
      </p:pic>
      <p:pic>
        <p:nvPicPr>
          <p:cNvPr id="10" name="図 9"/>
          <p:cNvPicPr>
            <a:picLocks noChangeAspect="1"/>
          </p:cNvPicPr>
          <p:nvPr/>
        </p:nvPicPr>
        <p:blipFill>
          <a:blip r:embed="rId5"/>
          <a:stretch>
            <a:fillRect/>
          </a:stretch>
        </p:blipFill>
        <p:spPr>
          <a:xfrm>
            <a:off x="5697714" y="2676687"/>
            <a:ext cx="2432174" cy="1698131"/>
          </a:xfrm>
          <a:prstGeom prst="rect">
            <a:avLst/>
          </a:prstGeom>
        </p:spPr>
      </p:pic>
      <p:pic>
        <p:nvPicPr>
          <p:cNvPr id="14" name="図 13"/>
          <p:cNvPicPr>
            <a:picLocks noChangeAspect="1"/>
          </p:cNvPicPr>
          <p:nvPr/>
        </p:nvPicPr>
        <p:blipFill>
          <a:blip r:embed="rId6"/>
          <a:stretch>
            <a:fillRect/>
          </a:stretch>
        </p:blipFill>
        <p:spPr>
          <a:xfrm>
            <a:off x="1158180" y="4165451"/>
            <a:ext cx="2417022" cy="1682579"/>
          </a:xfrm>
          <a:prstGeom prst="rect">
            <a:avLst/>
          </a:prstGeom>
        </p:spPr>
      </p:pic>
      <p:pic>
        <p:nvPicPr>
          <p:cNvPr id="15" name="図 14"/>
          <p:cNvPicPr>
            <a:picLocks noChangeAspect="1"/>
          </p:cNvPicPr>
          <p:nvPr/>
        </p:nvPicPr>
        <p:blipFill>
          <a:blip r:embed="rId7"/>
          <a:stretch>
            <a:fillRect/>
          </a:stretch>
        </p:blipFill>
        <p:spPr>
          <a:xfrm>
            <a:off x="3434655" y="4410829"/>
            <a:ext cx="2417022" cy="1683209"/>
          </a:xfrm>
          <a:prstGeom prst="rect">
            <a:avLst/>
          </a:prstGeom>
        </p:spPr>
      </p:pic>
      <p:pic>
        <p:nvPicPr>
          <p:cNvPr id="24" name="図 23"/>
          <p:cNvPicPr>
            <a:picLocks noChangeAspect="1"/>
          </p:cNvPicPr>
          <p:nvPr/>
        </p:nvPicPr>
        <p:blipFill>
          <a:blip r:embed="rId8"/>
          <a:stretch>
            <a:fillRect/>
          </a:stretch>
        </p:blipFill>
        <p:spPr>
          <a:xfrm>
            <a:off x="5697714" y="4687135"/>
            <a:ext cx="2427146" cy="1691079"/>
          </a:xfrm>
          <a:prstGeom prst="rect">
            <a:avLst/>
          </a:prstGeom>
        </p:spPr>
      </p:pic>
      <p:pic>
        <p:nvPicPr>
          <p:cNvPr id="26" name="図 25"/>
          <p:cNvPicPr>
            <a:picLocks noChangeAspect="1"/>
          </p:cNvPicPr>
          <p:nvPr/>
        </p:nvPicPr>
        <p:blipFill>
          <a:blip r:embed="rId9"/>
          <a:stretch>
            <a:fillRect/>
          </a:stretch>
        </p:blipFill>
        <p:spPr>
          <a:xfrm>
            <a:off x="8022243" y="1995292"/>
            <a:ext cx="1068645" cy="454221"/>
          </a:xfrm>
          <a:prstGeom prst="rect">
            <a:avLst/>
          </a:prstGeom>
        </p:spPr>
      </p:pic>
      <p:sp>
        <p:nvSpPr>
          <p:cNvPr id="2" name="テキスト ボックス 1">
            <a:extLst>
              <a:ext uri="{FF2B5EF4-FFF2-40B4-BE49-F238E27FC236}">
                <a16:creationId xmlns:a16="http://schemas.microsoft.com/office/drawing/2014/main" id="{D651C636-9CF1-15AA-68DF-A90526709D47}"/>
              </a:ext>
            </a:extLst>
          </p:cNvPr>
          <p:cNvSpPr txBox="1"/>
          <p:nvPr/>
        </p:nvSpPr>
        <p:spPr>
          <a:xfrm>
            <a:off x="482693" y="989115"/>
            <a:ext cx="933809" cy="646331"/>
          </a:xfrm>
          <a:prstGeom prst="rect">
            <a:avLst/>
          </a:prstGeom>
          <a:noFill/>
        </p:spPr>
        <p:txBody>
          <a:bodyPr wrap="square">
            <a:spAutoFit/>
          </a:bodyPr>
          <a:lstStyle/>
          <a:p>
            <a:r>
              <a:rPr lang="ja-JP" altLang="en-US" sz="3600" dirty="0">
                <a:solidFill>
                  <a:schemeClr val="bg1"/>
                </a:solidFill>
                <a:latin typeface="メイリオ" panose="020B0604030504040204" pitchFamily="50" charset="-128"/>
                <a:ea typeface="メイリオ" panose="020B0604030504040204" pitchFamily="50" charset="-128"/>
                <a:cs typeface="メイリオ"/>
              </a:rPr>
              <a:t>☑</a:t>
            </a:r>
            <a:endParaRPr lang="ja-JP" altLang="en-US" sz="3600" dirty="0">
              <a:latin typeface="メイリオ"/>
              <a:ea typeface="メイリオ"/>
              <a:cs typeface="メイリオ"/>
            </a:endParaRPr>
          </a:p>
        </p:txBody>
      </p:sp>
      <p:pic>
        <p:nvPicPr>
          <p:cNvPr id="3" name="Picture 2" descr="ロゴガイドライン｜LINEヤフー for Business">
            <a:extLst>
              <a:ext uri="{FF2B5EF4-FFF2-40B4-BE49-F238E27FC236}">
                <a16:creationId xmlns:a16="http://schemas.microsoft.com/office/drawing/2014/main" id="{4B935F7B-C5E5-F09A-504B-9182D06611B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485508" y="1787991"/>
            <a:ext cx="2447955" cy="888696"/>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156;p7">
            <a:extLst>
              <a:ext uri="{FF2B5EF4-FFF2-40B4-BE49-F238E27FC236}">
                <a16:creationId xmlns:a16="http://schemas.microsoft.com/office/drawing/2014/main" id="{C235E2E0-8EAB-29DE-40C2-6596465C1F0D}"/>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01FEA49-75A4-DB83-1235-8CE72DDD1DB5}"/>
              </a:ext>
            </a:extLst>
          </p:cNvPr>
          <p:cNvSpPr/>
          <p:nvPr/>
        </p:nvSpPr>
        <p:spPr>
          <a:xfrm>
            <a:off x="166962" y="3583894"/>
            <a:ext cx="9594258" cy="867143"/>
          </a:xfrm>
          <a:prstGeom prst="rect">
            <a:avLst/>
          </a:prstGeom>
          <a:solidFill>
            <a:schemeClr val="tx1">
              <a:lumMod val="65000"/>
              <a:lumOff val="35000"/>
              <a:alpha val="5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400" b="1" dirty="0">
                <a:solidFill>
                  <a:schemeClr val="bg1"/>
                </a:solidFill>
                <a:latin typeface="メイリオ" panose="020B0604030504040204" pitchFamily="50" charset="-128"/>
                <a:ea typeface="メイリオ" panose="020B0604030504040204" pitchFamily="50" charset="-128"/>
                <a:cs typeface="メイリオ"/>
              </a:rPr>
              <a:t>レポートサンプル</a:t>
            </a:r>
            <a:endParaRPr lang="en-US" altLang="ja-JP" sz="24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1400" dirty="0">
                <a:solidFill>
                  <a:schemeClr val="bg1"/>
                </a:solidFill>
                <a:latin typeface="メイリオ" panose="020B0604030504040204" pitchFamily="50" charset="-128"/>
                <a:ea typeface="メイリオ" panose="020B0604030504040204" pitchFamily="50" charset="-128"/>
                <a:cs typeface="メイリオ"/>
              </a:rPr>
              <a:t>（貴社要望によりカスタマイズ予定）</a:t>
            </a:r>
          </a:p>
        </p:txBody>
      </p:sp>
    </p:spTree>
    <p:extLst>
      <p:ext uri="{BB962C8B-B14F-4D97-AF65-F5344CB8AC3E}">
        <p14:creationId xmlns:p14="http://schemas.microsoft.com/office/powerpoint/2010/main" val="202681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p:cNvSpPr/>
          <p:nvPr/>
        </p:nvSpPr>
        <p:spPr>
          <a:xfrm>
            <a:off x="6757851" y="93594"/>
            <a:ext cx="1320961" cy="34403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メイリオ" panose="020B0604030504040204" pitchFamily="50" charset="-128"/>
                <a:ea typeface="メイリオ" panose="020B0604030504040204" pitchFamily="50" charset="-128"/>
                <a:cs typeface="メイリオ"/>
              </a:rPr>
              <a:t>効果計測</a:t>
            </a:r>
            <a:endParaRPr kumimoji="1" lang="ja-JP" altLang="en-US" sz="1100" dirty="0">
              <a:latin typeface="メイリオ" panose="020B0604030504040204" pitchFamily="50" charset="-128"/>
              <a:ea typeface="メイリオ" panose="020B0604030504040204" pitchFamily="50" charset="-128"/>
              <a:cs typeface="メイリオ"/>
            </a:endParaRPr>
          </a:p>
        </p:txBody>
      </p:sp>
      <p:sp>
        <p:nvSpPr>
          <p:cNvPr id="14" name="正方形/長方形 13"/>
          <p:cNvSpPr/>
          <p:nvPr/>
        </p:nvSpPr>
        <p:spPr>
          <a:xfrm>
            <a:off x="258794" y="1486023"/>
            <a:ext cx="9230264" cy="170575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pic>
        <p:nvPicPr>
          <p:cNvPr id="15" name="図 14"/>
          <p:cNvPicPr>
            <a:picLocks noChangeAspect="1"/>
          </p:cNvPicPr>
          <p:nvPr/>
        </p:nvPicPr>
        <p:blipFill>
          <a:blip r:embed="rId3"/>
          <a:stretch>
            <a:fillRect/>
          </a:stretch>
        </p:blipFill>
        <p:spPr>
          <a:xfrm>
            <a:off x="445640" y="4515592"/>
            <a:ext cx="4393508" cy="1886055"/>
          </a:xfrm>
          <a:prstGeom prst="rect">
            <a:avLst/>
          </a:prstGeom>
        </p:spPr>
      </p:pic>
      <p:sp>
        <p:nvSpPr>
          <p:cNvPr id="16" name="正方形/長方形 15"/>
          <p:cNvSpPr/>
          <p:nvPr/>
        </p:nvSpPr>
        <p:spPr>
          <a:xfrm>
            <a:off x="1728755" y="1724210"/>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ツールなし</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17" name="正方形/長方形 16"/>
          <p:cNvSpPr/>
          <p:nvPr/>
        </p:nvSpPr>
        <p:spPr>
          <a:xfrm>
            <a:off x="1728754" y="2464827"/>
            <a:ext cx="1984767"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kumimoji="1" lang="ja-JP" altLang="en-US" sz="1200" b="1" dirty="0">
                <a:latin typeface="メイリオ" panose="020B0604030504040204" pitchFamily="50" charset="-128"/>
                <a:ea typeface="メイリオ" panose="020B0604030504040204" pitchFamily="50" charset="-128"/>
                <a:cs typeface="メイリオ"/>
              </a:rPr>
              <a:t>ツールあり</a:t>
            </a:r>
          </a:p>
        </p:txBody>
      </p:sp>
      <p:sp>
        <p:nvSpPr>
          <p:cNvPr id="18" name="正方形/長方形 17"/>
          <p:cNvSpPr/>
          <p:nvPr/>
        </p:nvSpPr>
        <p:spPr>
          <a:xfrm>
            <a:off x="3939661" y="2445682"/>
            <a:ext cx="3312125"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API</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ツール管理画面上にて</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「特定期間に対する</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数算出」が可能</a:t>
            </a:r>
          </a:p>
        </p:txBody>
      </p:sp>
      <p:sp>
        <p:nvSpPr>
          <p:cNvPr id="19" name="正方形/長方形 18"/>
          <p:cNvSpPr/>
          <p:nvPr/>
        </p:nvSpPr>
        <p:spPr>
          <a:xfrm>
            <a:off x="3939661" y="1705487"/>
            <a:ext cx="4273927" cy="523220"/>
          </a:xfrm>
          <a:prstGeom prst="rect">
            <a:avLst/>
          </a:prstGeom>
        </p:spPr>
        <p:txBody>
          <a:bodyPr wrap="none" anchor="ctr">
            <a:spAutoFit/>
          </a:bodyPr>
          <a:lstStyle/>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タグの設定に伴い、計測自体は可能だが</a:t>
            </a:r>
            <a:endPar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CV</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数</a:t>
            </a:r>
            <a:r>
              <a:rPr lang="en-US" altLang="ja-JP"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50</a:t>
            </a:r>
            <a:r>
              <a:rPr lang="ja-JP" altLang="en-US" sz="1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件以上での数値計測となる（管理画面上）</a:t>
            </a:r>
          </a:p>
        </p:txBody>
      </p:sp>
      <p:sp>
        <p:nvSpPr>
          <p:cNvPr id="20" name="正方形/長方形 19"/>
          <p:cNvSpPr/>
          <p:nvPr/>
        </p:nvSpPr>
        <p:spPr>
          <a:xfrm>
            <a:off x="625827" y="2120216"/>
            <a:ext cx="646331" cy="369332"/>
          </a:xfrm>
          <a:prstGeom prst="rect">
            <a:avLst/>
          </a:prstGeom>
        </p:spPr>
        <p:txBody>
          <a:bodyPr wrap="none">
            <a:spAutoFit/>
          </a:bodyPr>
          <a:lstStyle/>
          <a:p>
            <a:pPr algn="ctr"/>
            <a:r>
              <a:rPr lang="ja-JP" altLang="en-US" dirty="0">
                <a:latin typeface="メイリオ" panose="020B0604030504040204" pitchFamily="50" charset="-128"/>
                <a:ea typeface="メイリオ" panose="020B0604030504040204" pitchFamily="50" charset="-128"/>
                <a:cs typeface="メイリオ"/>
              </a:rPr>
              <a:t>通常</a:t>
            </a:r>
          </a:p>
        </p:txBody>
      </p:sp>
      <p:sp>
        <p:nvSpPr>
          <p:cNvPr id="21" name="正方形/長方形 20"/>
          <p:cNvSpPr/>
          <p:nvPr/>
        </p:nvSpPr>
        <p:spPr>
          <a:xfrm>
            <a:off x="258794" y="3337953"/>
            <a:ext cx="9230264" cy="105307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latin typeface="メイリオ"/>
              <a:ea typeface="メイリオ"/>
              <a:cs typeface="メイリオ"/>
            </a:endParaRPr>
          </a:p>
        </p:txBody>
      </p:sp>
      <p:sp>
        <p:nvSpPr>
          <p:cNvPr id="22" name="正方形/長方形 21"/>
          <p:cNvSpPr/>
          <p:nvPr/>
        </p:nvSpPr>
        <p:spPr>
          <a:xfrm>
            <a:off x="1728754" y="3527788"/>
            <a:ext cx="1984767" cy="70485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API</a:t>
            </a:r>
            <a:r>
              <a:rPr lang="ja-JP" altLang="en-US" sz="1200" b="1" dirty="0">
                <a:latin typeface="メイリオ" panose="020B0604030504040204" pitchFamily="50" charset="-128"/>
                <a:ea typeface="メイリオ" panose="020B0604030504040204" pitchFamily="50" charset="-128"/>
                <a:cs typeface="メイリオ"/>
              </a:rPr>
              <a:t>ツール有無</a:t>
            </a:r>
            <a:endParaRPr lang="en-US" altLang="ja-JP" sz="1200" b="1" dirty="0">
              <a:latin typeface="メイリオ" panose="020B0604030504040204" pitchFamily="50" charset="-128"/>
              <a:ea typeface="メイリオ" panose="020B0604030504040204" pitchFamily="50" charset="-128"/>
              <a:cs typeface="メイリオ"/>
            </a:endParaRPr>
          </a:p>
          <a:p>
            <a:pPr algn="ctr"/>
            <a:r>
              <a:rPr kumimoji="1" lang="ja-JP" altLang="en-US" sz="1200" b="1" dirty="0">
                <a:latin typeface="メイリオ" panose="020B0604030504040204" pitchFamily="50" charset="-128"/>
                <a:ea typeface="メイリオ" panose="020B0604030504040204" pitchFamily="50" charset="-128"/>
                <a:cs typeface="メイリオ"/>
              </a:rPr>
              <a:t>に関わらず</a:t>
            </a:r>
          </a:p>
        </p:txBody>
      </p:sp>
      <p:sp>
        <p:nvSpPr>
          <p:cNvPr id="23" name="正方形/長方形 22"/>
          <p:cNvSpPr/>
          <p:nvPr/>
        </p:nvSpPr>
        <p:spPr>
          <a:xfrm>
            <a:off x="3939660" y="3618602"/>
            <a:ext cx="4164923" cy="523220"/>
          </a:xfrm>
          <a:prstGeom prst="rect">
            <a:avLst/>
          </a:prstGeom>
        </p:spPr>
        <p:txBody>
          <a:bodyPr wrap="none" anchor="ctr">
            <a:spAutoFit/>
          </a:bodyPr>
          <a:lstStyle/>
          <a:p>
            <a:r>
              <a:rPr lang="ja-JP" altLang="en-US" sz="1400" dirty="0">
                <a:latin typeface="メイリオ" panose="020B0604030504040204" pitchFamily="50" charset="-128"/>
                <a:ea typeface="メイリオ" panose="020B0604030504040204" pitchFamily="50" charset="-128"/>
                <a:cs typeface="メイリオ"/>
              </a:rPr>
              <a:t>定期投稿、シナリオ、リッチメニュー等に設定の</a:t>
            </a:r>
            <a:endParaRPr lang="en-US" altLang="ja-JP" sz="1400" dirty="0">
              <a:latin typeface="メイリオ" panose="020B0604030504040204" pitchFamily="50" charset="-128"/>
              <a:ea typeface="メイリオ" panose="020B0604030504040204" pitchFamily="50" charset="-128"/>
              <a:cs typeface="メイリオ"/>
            </a:endParaRPr>
          </a:p>
          <a:p>
            <a:r>
              <a:rPr lang="ja-JP" altLang="en-US" sz="1400" dirty="0">
                <a:latin typeface="メイリオ" panose="020B0604030504040204" pitchFamily="50" charset="-128"/>
                <a:ea typeface="メイリオ" panose="020B0604030504040204" pitchFamily="50" charset="-128"/>
                <a:cs typeface="メイリオ"/>
              </a:rPr>
              <a:t>リンクについて、</a:t>
            </a:r>
            <a:r>
              <a:rPr lang="en-US" altLang="ja-JP" sz="1400" dirty="0">
                <a:solidFill>
                  <a:srgbClr val="1F2A5C"/>
                </a:solidFill>
                <a:latin typeface="メイリオ" panose="020B0604030504040204" pitchFamily="50" charset="-128"/>
                <a:ea typeface="メイリオ" panose="020B0604030504040204" pitchFamily="50" charset="-128"/>
                <a:cs typeface="メイリオ"/>
              </a:rPr>
              <a:t>GA</a:t>
            </a:r>
            <a:r>
              <a:rPr lang="ja-JP" altLang="en-US" sz="1400" dirty="0" err="1">
                <a:solidFill>
                  <a:srgbClr val="1F2A5C"/>
                </a:solidFill>
                <a:latin typeface="メイリオ" panose="020B0604030504040204" pitchFamily="50" charset="-128"/>
                <a:ea typeface="メイリオ" panose="020B0604030504040204" pitchFamily="50" charset="-128"/>
                <a:cs typeface="メイリオ"/>
              </a:rPr>
              <a:t>、</a:t>
            </a:r>
            <a:r>
              <a:rPr lang="en-US" altLang="ja-JP" sz="1400" dirty="0">
                <a:solidFill>
                  <a:srgbClr val="1F2A5C"/>
                </a:solidFill>
                <a:latin typeface="メイリオ" panose="020B0604030504040204" pitchFamily="50" charset="-128"/>
                <a:ea typeface="メイリオ" panose="020B0604030504040204" pitchFamily="50" charset="-128"/>
                <a:cs typeface="メイリオ"/>
              </a:rPr>
              <a:t>MA</a:t>
            </a:r>
            <a:r>
              <a:rPr lang="ja-JP" altLang="en-US" sz="1400" dirty="0">
                <a:solidFill>
                  <a:srgbClr val="1F2A5C"/>
                </a:solidFill>
                <a:latin typeface="メイリオ" panose="020B0604030504040204" pitchFamily="50" charset="-128"/>
                <a:ea typeface="メイリオ" panose="020B0604030504040204" pitchFamily="50" charset="-128"/>
                <a:cs typeface="メイリオ"/>
              </a:rPr>
              <a:t>ツールでの計測可能</a:t>
            </a:r>
            <a:r>
              <a:rPr lang="ja-JP" altLang="en-US" sz="1400" dirty="0">
                <a:latin typeface="メイリオ" panose="020B0604030504040204" pitchFamily="50" charset="-128"/>
                <a:ea typeface="メイリオ" panose="020B0604030504040204" pitchFamily="50" charset="-128"/>
                <a:cs typeface="メイリオ"/>
              </a:rPr>
              <a:t>に</a:t>
            </a:r>
          </a:p>
        </p:txBody>
      </p:sp>
      <p:sp>
        <p:nvSpPr>
          <p:cNvPr id="24" name="正方形/長方形 23"/>
          <p:cNvSpPr/>
          <p:nvPr/>
        </p:nvSpPr>
        <p:spPr>
          <a:xfrm>
            <a:off x="571292" y="3649379"/>
            <a:ext cx="693973" cy="369332"/>
          </a:xfrm>
          <a:prstGeom prst="rect">
            <a:avLst/>
          </a:prstGeom>
        </p:spPr>
        <p:txBody>
          <a:bodyPr wrap="none">
            <a:spAutoFit/>
          </a:bodyPr>
          <a:lstStyle/>
          <a:p>
            <a:pPr algn="ctr"/>
            <a:r>
              <a:rPr lang="en-US" altLang="ja-JP" dirty="0">
                <a:latin typeface="メイリオ" panose="020B0604030504040204" pitchFamily="50" charset="-128"/>
                <a:ea typeface="メイリオ" panose="020B0604030504040204" pitchFamily="50" charset="-128"/>
                <a:cs typeface="メイリオ"/>
              </a:rPr>
              <a:t>DYM</a:t>
            </a:r>
            <a:endParaRPr lang="ja-JP" altLang="en-US" dirty="0">
              <a:latin typeface="メイリオ" panose="020B0604030504040204" pitchFamily="50" charset="-128"/>
              <a:ea typeface="メイリオ" panose="020B0604030504040204" pitchFamily="50" charset="-128"/>
              <a:cs typeface="メイリオ"/>
            </a:endParaRPr>
          </a:p>
        </p:txBody>
      </p:sp>
      <p:pic>
        <p:nvPicPr>
          <p:cNvPr id="27" name="図 26"/>
          <p:cNvPicPr>
            <a:picLocks noChangeAspect="1"/>
          </p:cNvPicPr>
          <p:nvPr/>
        </p:nvPicPr>
        <p:blipFill>
          <a:blip r:embed="rId4"/>
          <a:stretch>
            <a:fillRect/>
          </a:stretch>
        </p:blipFill>
        <p:spPr>
          <a:xfrm>
            <a:off x="5173537" y="4510754"/>
            <a:ext cx="4219164" cy="1912981"/>
          </a:xfrm>
          <a:prstGeom prst="rect">
            <a:avLst/>
          </a:prstGeom>
        </p:spPr>
      </p:pic>
      <p:sp>
        <p:nvSpPr>
          <p:cNvPr id="29" name="正方形/長方形 28"/>
          <p:cNvSpPr/>
          <p:nvPr/>
        </p:nvSpPr>
        <p:spPr>
          <a:xfrm>
            <a:off x="372964" y="4445247"/>
            <a:ext cx="4546440"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0" name="正方形/長方形 29"/>
          <p:cNvSpPr/>
          <p:nvPr/>
        </p:nvSpPr>
        <p:spPr>
          <a:xfrm>
            <a:off x="5141643" y="4445246"/>
            <a:ext cx="4282952" cy="2023013"/>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1" name="正方形/長方形 30"/>
          <p:cNvSpPr/>
          <p:nvPr/>
        </p:nvSpPr>
        <p:spPr>
          <a:xfrm>
            <a:off x="788187"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レポート（日次）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kumimoji="1"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2" name="正方形/長方形 31"/>
          <p:cNvSpPr/>
          <p:nvPr/>
        </p:nvSpPr>
        <p:spPr>
          <a:xfrm>
            <a:off x="5453208" y="6081911"/>
            <a:ext cx="3659825" cy="322628"/>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cs typeface="メイリオ"/>
              </a:rPr>
              <a:t>GA</a:t>
            </a:r>
            <a:r>
              <a:rPr kumimoji="1" lang="ja-JP" altLang="en-US" sz="1400" b="1" dirty="0">
                <a:latin typeface="メイリオ" panose="020B0604030504040204" pitchFamily="50" charset="-128"/>
                <a:ea typeface="メイリオ" panose="020B0604030504040204" pitchFamily="50" charset="-128"/>
                <a:cs typeface="メイリオ"/>
              </a:rPr>
              <a:t>レポート（月次）</a:t>
            </a:r>
            <a:r>
              <a:rPr kumimoji="1" lang="ja-JP" altLang="en-US" sz="1100" b="1" dirty="0">
                <a:latin typeface="メイリオ" panose="020B0604030504040204" pitchFamily="50" charset="-128"/>
                <a:ea typeface="メイリオ" panose="020B0604030504040204" pitchFamily="50" charset="-128"/>
                <a:cs typeface="メイリオ"/>
              </a:rPr>
              <a:t> </a:t>
            </a:r>
            <a:r>
              <a:rPr kumimoji="1" lang="en-US" altLang="ja-JP" sz="1100" b="1" dirty="0">
                <a:latin typeface="メイリオ" panose="020B0604030504040204" pitchFamily="50" charset="-128"/>
                <a:ea typeface="メイリオ" panose="020B0604030504040204" pitchFamily="50" charset="-128"/>
                <a:cs typeface="メイリオ"/>
              </a:rPr>
              <a:t>※</a:t>
            </a:r>
            <a:r>
              <a:rPr lang="ja-JP" altLang="en-US" sz="1100" b="1" dirty="0">
                <a:latin typeface="メイリオ" panose="020B0604030504040204" pitchFamily="50" charset="-128"/>
                <a:ea typeface="メイリオ" panose="020B0604030504040204" pitchFamily="50" charset="-128"/>
                <a:cs typeface="メイリオ"/>
              </a:rPr>
              <a:t>サンプル</a:t>
            </a:r>
            <a:endParaRPr kumimoji="1" lang="ja-JP" altLang="en-US" sz="1400" b="1" dirty="0">
              <a:latin typeface="メイリオ" panose="020B0604030504040204" pitchFamily="50" charset="-128"/>
              <a:ea typeface="メイリオ" panose="020B0604030504040204" pitchFamily="50" charset="-128"/>
              <a:cs typeface="メイリオ"/>
            </a:endParaRPr>
          </a:p>
        </p:txBody>
      </p:sp>
      <p:sp>
        <p:nvSpPr>
          <p:cNvPr id="33" name="正方形/長方形 32"/>
          <p:cNvSpPr/>
          <p:nvPr/>
        </p:nvSpPr>
        <p:spPr>
          <a:xfrm>
            <a:off x="258794" y="776172"/>
            <a:ext cx="9230264" cy="523220"/>
          </a:xfrm>
          <a:prstGeom prst="rect">
            <a:avLst/>
          </a:prstGeom>
        </p:spPr>
        <p:txBody>
          <a:bodyPr wrap="square" anchor="ctr">
            <a:spAutoFit/>
          </a:bodyPr>
          <a:lstStyle/>
          <a:p>
            <a:pPr algn="ctr"/>
            <a:r>
              <a:rPr lang="ja-JP" altLang="en-US" sz="1400" dirty="0">
                <a:latin typeface="メイリオ" panose="020B0604030504040204" pitchFamily="50" charset="-128"/>
                <a:ea typeface="メイリオ" panose="020B0604030504040204" pitchFamily="50" charset="-128"/>
                <a:cs typeface="メイリオ"/>
              </a:rPr>
              <a:t>コンサル費用＋アカウント費用に対する効果を可視化し、課題点を都度確認できる体制に。</a:t>
            </a:r>
            <a:endParaRPr lang="en-US" altLang="ja-JP" sz="1400" dirty="0">
              <a:latin typeface="メイリオ" panose="020B0604030504040204" pitchFamily="50" charset="-128"/>
              <a:ea typeface="メイリオ" panose="020B0604030504040204" pitchFamily="50" charset="-128"/>
              <a:cs typeface="メイリオ"/>
            </a:endParaRPr>
          </a:p>
          <a:p>
            <a:pPr algn="ctr"/>
            <a:r>
              <a:rPr lang="ja-JP" altLang="en-US" sz="1400" dirty="0">
                <a:latin typeface="メイリオ" panose="020B0604030504040204" pitchFamily="50" charset="-128"/>
                <a:ea typeface="メイリオ" panose="020B0604030504040204" pitchFamily="50" charset="-128"/>
                <a:cs typeface="メイリオ"/>
              </a:rPr>
              <a:t>投稿別</a:t>
            </a:r>
            <a:r>
              <a:rPr lang="en-US" altLang="ja-JP" sz="1400" dirty="0">
                <a:latin typeface="メイリオ" panose="020B0604030504040204" pitchFamily="50" charset="-128"/>
                <a:ea typeface="メイリオ" panose="020B0604030504040204" pitchFamily="50" charset="-128"/>
                <a:cs typeface="メイリオ"/>
              </a:rPr>
              <a:t>×</a:t>
            </a:r>
            <a:r>
              <a:rPr lang="ja-JP" altLang="en-US" sz="1400" dirty="0">
                <a:latin typeface="メイリオ" panose="020B0604030504040204" pitchFamily="50" charset="-128"/>
                <a:ea typeface="メイリオ" panose="020B0604030504040204" pitchFamily="50" charset="-128"/>
                <a:cs typeface="メイリオ"/>
              </a:rPr>
              <a:t>セグメント別でデータ化でき、</a:t>
            </a:r>
            <a:r>
              <a:rPr lang="en-US" altLang="ja-JP" sz="1400" dirty="0">
                <a:latin typeface="メイリオ" panose="020B0604030504040204" pitchFamily="50" charset="-128"/>
                <a:ea typeface="メイリオ" panose="020B0604030504040204" pitchFamily="50" charset="-128"/>
                <a:cs typeface="メイリオ"/>
              </a:rPr>
              <a:t>AB</a:t>
            </a:r>
            <a:r>
              <a:rPr lang="ja-JP" altLang="en-US" sz="1400" dirty="0">
                <a:latin typeface="メイリオ" panose="020B0604030504040204" pitchFamily="50" charset="-128"/>
                <a:ea typeface="メイリオ" panose="020B0604030504040204" pitchFamily="50" charset="-128"/>
                <a:cs typeface="メイリオ"/>
              </a:rPr>
              <a:t>テストとクリエイティブ検証を細かく実施。</a:t>
            </a:r>
          </a:p>
        </p:txBody>
      </p:sp>
      <p:sp>
        <p:nvSpPr>
          <p:cNvPr id="4" name="Google Shape;156;p7">
            <a:extLst>
              <a:ext uri="{FF2B5EF4-FFF2-40B4-BE49-F238E27FC236}">
                <a16:creationId xmlns:a16="http://schemas.microsoft.com/office/drawing/2014/main" id="{260430EB-E69F-64B3-39EC-6A753FA8A5B0}"/>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サポート体制（報告</a:t>
            </a:r>
            <a:r>
              <a:rPr lang="en-US" altLang="ja-JP" sz="1600" b="1" dirty="0">
                <a:solidFill>
                  <a:srgbClr val="002060"/>
                </a:solidFill>
                <a:latin typeface="メイリオ"/>
                <a:ea typeface="メイリオ"/>
                <a:cs typeface="メイリオ"/>
                <a:sym typeface="Meiryo"/>
              </a:rPr>
              <a:t>FMT</a:t>
            </a:r>
            <a:r>
              <a:rPr lang="ja-JP" altLang="en-US" sz="1600" b="1" dirty="0">
                <a:solidFill>
                  <a:srgbClr val="002060"/>
                </a:solidFill>
                <a:latin typeface="メイリオ"/>
                <a:ea typeface="メイリオ"/>
                <a:cs typeface="メイリオ"/>
                <a:sym typeface="Meiryo"/>
              </a:rPr>
              <a:t>）</a:t>
            </a:r>
            <a:endParaRPr sz="1600" b="1" dirty="0">
              <a:solidFill>
                <a:srgbClr val="002060"/>
              </a:solidFill>
              <a:latin typeface="メイリオ"/>
              <a:ea typeface="メイリオ"/>
              <a:cs typeface="メイリオ"/>
              <a:sym typeface="Meiryo"/>
            </a:endParaRPr>
          </a:p>
        </p:txBody>
      </p:sp>
    </p:spTree>
    <p:extLst>
      <p:ext uri="{BB962C8B-B14F-4D97-AF65-F5344CB8AC3E}">
        <p14:creationId xmlns:p14="http://schemas.microsoft.com/office/powerpoint/2010/main" val="37869246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2F862-6825-0A25-E527-0C644CE2032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95EDD6-658F-4CEF-BC87-63AE1294A97D}"/>
              </a:ext>
            </a:extLst>
          </p:cNvPr>
          <p:cNvSpPr/>
          <p:nvPr/>
        </p:nvSpPr>
        <p:spPr>
          <a:xfrm>
            <a:off x="253638" y="835690"/>
            <a:ext cx="2541320" cy="48577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弊社体制図</a:t>
            </a:r>
            <a:endParaRPr kumimoji="1" lang="ja-JP" altLang="en-US" sz="1600" b="1" dirty="0">
              <a:latin typeface="メイリオ" panose="020B0604030504040204" pitchFamily="50" charset="-128"/>
              <a:ea typeface="メイリオ" panose="020B0604030504040204" pitchFamily="50" charset="-128"/>
              <a:cs typeface="メイリオ"/>
            </a:endParaRPr>
          </a:p>
        </p:txBody>
      </p:sp>
      <p:sp>
        <p:nvSpPr>
          <p:cNvPr id="6" name="Google Shape;156;p7">
            <a:extLst>
              <a:ext uri="{FF2B5EF4-FFF2-40B4-BE49-F238E27FC236}">
                <a16:creationId xmlns:a16="http://schemas.microsoft.com/office/drawing/2014/main" id="{3BA0E9AE-61D3-01E9-521B-2E5746D00D89}"/>
              </a:ext>
            </a:extLst>
          </p:cNvPr>
          <p:cNvSpPr txBox="1"/>
          <p:nvPr/>
        </p:nvSpPr>
        <p:spPr>
          <a:xfrm>
            <a:off x="2857804" y="786210"/>
            <a:ext cx="7217767" cy="584735"/>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chemeClr val="tx1">
                    <a:lumMod val="65000"/>
                    <a:lumOff val="35000"/>
                  </a:schemeClr>
                </a:solidFill>
                <a:latin typeface="メイリオ"/>
                <a:ea typeface="メイリオ"/>
                <a:cs typeface="メイリオ"/>
                <a:sym typeface="Meiryo"/>
              </a:rPr>
              <a:t>GA</a:t>
            </a:r>
            <a:r>
              <a:rPr lang="ja-JP" altLang="en-US" sz="1600" b="1" dirty="0">
                <a:solidFill>
                  <a:schemeClr val="tx1">
                    <a:lumMod val="65000"/>
                    <a:lumOff val="35000"/>
                  </a:schemeClr>
                </a:solidFill>
                <a:latin typeface="メイリオ"/>
                <a:ea typeface="メイリオ"/>
                <a:cs typeface="メイリオ"/>
                <a:sym typeface="Meiryo"/>
              </a:rPr>
              <a:t>及び</a:t>
            </a:r>
            <a:r>
              <a:rPr lang="en-US" altLang="ja-JP" sz="1600" b="1" dirty="0">
                <a:solidFill>
                  <a:schemeClr val="tx1">
                    <a:lumMod val="65000"/>
                    <a:lumOff val="35000"/>
                  </a:schemeClr>
                </a:solidFill>
                <a:latin typeface="メイリオ"/>
                <a:ea typeface="メイリオ"/>
                <a:cs typeface="メイリオ"/>
                <a:sym typeface="Meiryo"/>
              </a:rPr>
              <a:t>MA</a:t>
            </a:r>
            <a:r>
              <a:rPr lang="ja-JP" altLang="en-US" sz="1600" b="1" dirty="0">
                <a:solidFill>
                  <a:schemeClr val="tx1">
                    <a:lumMod val="65000"/>
                    <a:lumOff val="35000"/>
                  </a:schemeClr>
                </a:solidFill>
                <a:latin typeface="メイリオ"/>
                <a:ea typeface="メイリオ"/>
                <a:cs typeface="メイリオ"/>
                <a:sym typeface="Meiryo"/>
              </a:rPr>
              <a:t>ツール両面での計測ができるようパラメータ管理。</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公式アカウントの管理画面には出ない、サイト上の結果を紐づけ。</a:t>
            </a:r>
            <a:endParaRPr sz="1600" b="1" dirty="0">
              <a:solidFill>
                <a:schemeClr val="tx1">
                  <a:lumMod val="65000"/>
                  <a:lumOff val="35000"/>
                </a:schemeClr>
              </a:solidFill>
              <a:latin typeface="メイリオ"/>
              <a:ea typeface="メイリオ"/>
              <a:cs typeface="メイリオ"/>
              <a:sym typeface="Meiryo"/>
            </a:endParaRPr>
          </a:p>
        </p:txBody>
      </p:sp>
      <p:sp>
        <p:nvSpPr>
          <p:cNvPr id="12" name="Google Shape;156;p7">
            <a:extLst>
              <a:ext uri="{FF2B5EF4-FFF2-40B4-BE49-F238E27FC236}">
                <a16:creationId xmlns:a16="http://schemas.microsoft.com/office/drawing/2014/main" id="{C5C4EFC6-EAB9-6A05-AE92-8FF390EDDDE3}"/>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体制図（イメージ）</a:t>
            </a:r>
            <a:endParaRPr sz="1600" b="1" dirty="0">
              <a:solidFill>
                <a:srgbClr val="002060"/>
              </a:solidFill>
              <a:latin typeface="メイリオ"/>
              <a:ea typeface="メイリオ"/>
              <a:cs typeface="メイリオ"/>
              <a:sym typeface="Meiryo"/>
            </a:endParaRPr>
          </a:p>
        </p:txBody>
      </p:sp>
      <p:sp>
        <p:nvSpPr>
          <p:cNvPr id="8" name="Shape 6"/>
          <p:cNvSpPr/>
          <p:nvPr/>
        </p:nvSpPr>
        <p:spPr>
          <a:xfrm>
            <a:off x="621091" y="3084378"/>
            <a:ext cx="4674326" cy="738321"/>
          </a:xfrm>
          <a:prstGeom prst="rect">
            <a:avLst/>
          </a:prstGeom>
          <a:solidFill>
            <a:srgbClr val="FFFFFF"/>
          </a:solidFill>
          <a:ln w="12700">
            <a:solidFill>
              <a:srgbClr val="C0CEDE"/>
            </a:solidFill>
            <a:prstDash val="solid"/>
          </a:ln>
        </p:spPr>
        <p:txBody>
          <a:bodyPr anchor="ctr"/>
          <a:lstStyle/>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 name="Shape 15"/>
          <p:cNvSpPr/>
          <p:nvPr/>
        </p:nvSpPr>
        <p:spPr>
          <a:xfrm>
            <a:off x="660472" y="4383083"/>
            <a:ext cx="2148840" cy="578878"/>
          </a:xfrm>
          <a:prstGeom prst="rect">
            <a:avLst/>
          </a:prstGeom>
          <a:solidFill>
            <a:srgbClr val="FFFFFF"/>
          </a:solidFill>
          <a:ln w="12700">
            <a:solidFill>
              <a:srgbClr val="C0CEDE"/>
            </a:solidFill>
            <a:prstDash val="solid"/>
          </a:ln>
        </p:spPr>
        <p:txBody>
          <a:bodyPr anchor="ctr"/>
          <a:lstStyle/>
          <a:p>
            <a:endParaRPr lang="en-US" altLang="ja-JP" sz="3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latin typeface="メイリオ" panose="020B0604030504040204" pitchFamily="50" charset="-128"/>
              <a:ea typeface="メイリオ" panose="020B0604030504040204" pitchFamily="50" charset="-128"/>
              <a:cs typeface="メイリオ"/>
            </a:endParaRPr>
          </a:p>
        </p:txBody>
      </p:sp>
      <p:sp>
        <p:nvSpPr>
          <p:cNvPr id="18" name="Shape 16"/>
          <p:cNvSpPr/>
          <p:nvPr/>
        </p:nvSpPr>
        <p:spPr>
          <a:xfrm>
            <a:off x="645163" y="4065900"/>
            <a:ext cx="2148840" cy="347472"/>
          </a:xfrm>
          <a:prstGeom prst="rect">
            <a:avLst/>
          </a:prstGeom>
          <a:solidFill>
            <a:srgbClr val="1F3864"/>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広告・SNS運用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8" name="Shape 26"/>
          <p:cNvSpPr/>
          <p:nvPr/>
        </p:nvSpPr>
        <p:spPr>
          <a:xfrm>
            <a:off x="633127" y="5566878"/>
            <a:ext cx="2140131" cy="626818"/>
          </a:xfrm>
          <a:prstGeom prst="rect">
            <a:avLst/>
          </a:prstGeom>
          <a:solidFill>
            <a:srgbClr val="FFFFFF"/>
          </a:solidFill>
          <a:ln w="12700">
            <a:solidFill>
              <a:srgbClr val="C0CEDE"/>
            </a:solidFill>
            <a:prstDash val="solid"/>
          </a:ln>
        </p:spPr>
        <p:txBody>
          <a:bodyPr anchor="ctr"/>
          <a:lstStyle/>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入稿作業</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29" name="Shape 27"/>
          <p:cNvSpPr/>
          <p:nvPr/>
        </p:nvSpPr>
        <p:spPr>
          <a:xfrm>
            <a:off x="633127" y="5231331"/>
            <a:ext cx="2140131" cy="347472"/>
          </a:xfrm>
          <a:prstGeom prst="rect">
            <a:avLst/>
          </a:prstGeom>
          <a:solidFill>
            <a:srgbClr val="1F3864"/>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運用サポート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0" name="Text 28"/>
          <p:cNvSpPr/>
          <p:nvPr/>
        </p:nvSpPr>
        <p:spPr>
          <a:xfrm>
            <a:off x="633128" y="5231331"/>
            <a:ext cx="2140131" cy="347472"/>
          </a:xfrm>
          <a:prstGeom prst="rect">
            <a:avLst/>
          </a:prstGeom>
          <a:noFill/>
          <a:ln/>
        </p:spPr>
        <p:txBody>
          <a:bodyPr wrap="square" lIns="0" tIns="0" rIns="0" bIns="0" rtlCol="0" anchor="ctr"/>
          <a:lstStyle/>
          <a:p>
            <a:pPr marL="0" indent="0" algn="ctr">
              <a:buNone/>
            </a:pPr>
            <a:endParaRPr lang="en-US" sz="1050" dirty="0">
              <a:latin typeface="メイリオ" panose="020B0604030504040204" pitchFamily="50" charset="-128"/>
              <a:ea typeface="メイリオ" panose="020B0604030504040204" pitchFamily="50" charset="-128"/>
              <a:cs typeface="メイリオ"/>
            </a:endParaRPr>
          </a:p>
        </p:txBody>
      </p:sp>
      <p:sp>
        <p:nvSpPr>
          <p:cNvPr id="33" name="Shape 31"/>
          <p:cNvSpPr/>
          <p:nvPr/>
        </p:nvSpPr>
        <p:spPr>
          <a:xfrm>
            <a:off x="2921304" y="5532054"/>
            <a:ext cx="2386149" cy="641636"/>
          </a:xfrm>
          <a:prstGeom prst="rect">
            <a:avLst/>
          </a:prstGeom>
          <a:solidFill>
            <a:srgbClr val="FFFFFF"/>
          </a:solidFill>
          <a:ln w="12700">
            <a:solidFill>
              <a:srgbClr val="C0CEDE"/>
            </a:solidFill>
            <a:prstDash val="solid"/>
          </a:ln>
        </p:spPr>
        <p:txBody>
          <a:bodyPr anchor="ct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バナー制作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LP制作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動画制作</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p:txBody>
      </p:sp>
      <p:sp>
        <p:nvSpPr>
          <p:cNvPr id="34" name="Shape 32"/>
          <p:cNvSpPr/>
          <p:nvPr/>
        </p:nvSpPr>
        <p:spPr>
          <a:xfrm>
            <a:off x="2921304" y="5221392"/>
            <a:ext cx="2386149" cy="347472"/>
          </a:xfrm>
          <a:prstGeom prst="rect">
            <a:avLst/>
          </a:prstGeom>
          <a:solidFill>
            <a:schemeClr val="bg1">
              <a:lumMod val="65000"/>
            </a:schemeClr>
          </a:solidFill>
          <a:ln w="12700">
            <a:solidFill>
              <a:srgbClr val="1F3864"/>
            </a:solidFill>
            <a:prstDash val="solid"/>
          </a:ln>
        </p:spPr>
        <p:txBody>
          <a:bodyPr anchor="ctr"/>
          <a:lstStyle/>
          <a:p>
            <a:pPr algn="ctr"/>
            <a:r>
              <a:rPr lang="en-US" altLang="ja-JP" sz="1200" b="1">
                <a:solidFill>
                  <a:srgbClr val="FFFFFF"/>
                </a:solidFill>
                <a:latin typeface="メイリオ" panose="020B0604030504040204" pitchFamily="50" charset="-128"/>
                <a:ea typeface="メイリオ" panose="020B0604030504040204" pitchFamily="50" charset="-128"/>
                <a:cs typeface="メイリオ" pitchFamily="34" charset="-120"/>
              </a:rPr>
              <a:t>制作</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40" name="Shape 38"/>
          <p:cNvSpPr/>
          <p:nvPr/>
        </p:nvSpPr>
        <p:spPr>
          <a:xfrm>
            <a:off x="5740699" y="4097070"/>
            <a:ext cx="3293358" cy="347472"/>
          </a:xfrm>
          <a:prstGeom prst="rect">
            <a:avLst/>
          </a:prstGeom>
          <a:solidFill>
            <a:srgbClr val="8496B8"/>
          </a:solidFill>
          <a:ln w="12700">
            <a:solidFill>
              <a:srgbClr val="8496B8"/>
            </a:solidFill>
            <a:prstDash val="solid"/>
          </a:ln>
        </p:spPr>
        <p:txBody>
          <a:bodyPr anchor="ct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媒体担当</a:t>
            </a:r>
          </a:p>
        </p:txBody>
      </p:sp>
      <p:sp>
        <p:nvSpPr>
          <p:cNvPr id="75" name="Shape 20">
            <a:extLst>
              <a:ext uri="{FF2B5EF4-FFF2-40B4-BE49-F238E27FC236}">
                <a16:creationId xmlns:a16="http://schemas.microsoft.com/office/drawing/2014/main" id="{9B35F62E-D565-EC7D-5BED-9E3AD8414C54}"/>
              </a:ext>
            </a:extLst>
          </p:cNvPr>
          <p:cNvSpPr/>
          <p:nvPr/>
        </p:nvSpPr>
        <p:spPr>
          <a:xfrm>
            <a:off x="2930013" y="4391542"/>
            <a:ext cx="2377440" cy="578878"/>
          </a:xfrm>
          <a:prstGeom prst="rect">
            <a:avLst/>
          </a:prstGeom>
          <a:solidFill>
            <a:srgbClr val="FFFFFF"/>
          </a:solidFill>
          <a:ln w="12700">
            <a:solidFill>
              <a:srgbClr val="C0CEDE"/>
            </a:solidFill>
            <a:prstDash val="solid"/>
          </a:ln>
        </p:spPr>
        <p:txBody>
          <a:bodyPr anchor="ctr"/>
          <a:lstStyle/>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アカウント設計</a:t>
            </a:r>
            <a:r>
              <a:rPr lang="ja-JP" altLang="en-US"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運用調整</a:t>
            </a:r>
            <a:endPar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1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100" dirty="0" err="1">
                <a:solidFill>
                  <a:srgbClr val="1A1A1A"/>
                </a:solidFill>
                <a:latin typeface="メイリオ" panose="020B0604030504040204" pitchFamily="50" charset="-128"/>
                <a:ea typeface="メイリオ" panose="020B0604030504040204" pitchFamily="50" charset="-128"/>
                <a:cs typeface="メイリオ" pitchFamily="34" charset="-120"/>
              </a:rPr>
              <a:t>クリエイティブディレクション</a:t>
            </a:r>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a:p>
            <a:endParaRPr lang="en-US" altLang="ja-JP" sz="1100" dirty="0">
              <a:latin typeface="メイリオ" panose="020B0604030504040204" pitchFamily="50" charset="-128"/>
              <a:ea typeface="メイリオ" panose="020B0604030504040204" pitchFamily="50" charset="-128"/>
              <a:cs typeface="メイリオ"/>
            </a:endParaRPr>
          </a:p>
        </p:txBody>
      </p:sp>
      <p:sp>
        <p:nvSpPr>
          <p:cNvPr id="76" name="Shape 21">
            <a:extLst>
              <a:ext uri="{FF2B5EF4-FFF2-40B4-BE49-F238E27FC236}">
                <a16:creationId xmlns:a16="http://schemas.microsoft.com/office/drawing/2014/main" id="{0A9AF3DD-64DC-1BF0-8119-2924ECA0B69F}"/>
              </a:ext>
            </a:extLst>
          </p:cNvPr>
          <p:cNvSpPr/>
          <p:nvPr/>
        </p:nvSpPr>
        <p:spPr>
          <a:xfrm>
            <a:off x="2930013" y="4059656"/>
            <a:ext cx="2377440" cy="347472"/>
          </a:xfrm>
          <a:prstGeom prst="rect">
            <a:avLst/>
          </a:prstGeom>
          <a:solidFill>
            <a:srgbClr val="1F2A5C"/>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LINEOA運用</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5" name="Shape 6">
            <a:extLst>
              <a:ext uri="{FF2B5EF4-FFF2-40B4-BE49-F238E27FC236}">
                <a16:creationId xmlns:a16="http://schemas.microsoft.com/office/drawing/2014/main" id="{85CDFD14-B545-2394-79CD-B4BB79EC6A1B}"/>
              </a:ext>
            </a:extLst>
          </p:cNvPr>
          <p:cNvSpPr/>
          <p:nvPr/>
        </p:nvSpPr>
        <p:spPr>
          <a:xfrm>
            <a:off x="5425961" y="3084378"/>
            <a:ext cx="3557928" cy="738321"/>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貴社担当との連絡やり取り全般</a:t>
            </a:r>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・書</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類</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の作成等、事務面までサポート</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7" name="Shape 7">
            <a:extLst>
              <a:ext uri="{FF2B5EF4-FFF2-40B4-BE49-F238E27FC236}">
                <a16:creationId xmlns:a16="http://schemas.microsoft.com/office/drawing/2014/main" id="{DE68CBB6-5454-1932-8D24-8CA86C03FDAF}"/>
              </a:ext>
            </a:extLst>
          </p:cNvPr>
          <p:cNvSpPr/>
          <p:nvPr/>
        </p:nvSpPr>
        <p:spPr>
          <a:xfrm>
            <a:off x="5425961" y="2849521"/>
            <a:ext cx="3557928"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フロント対応（サブ</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20" name="Shape 7"/>
          <p:cNvSpPr/>
          <p:nvPr/>
        </p:nvSpPr>
        <p:spPr>
          <a:xfrm>
            <a:off x="612383" y="2849521"/>
            <a:ext cx="4683034" cy="347472"/>
          </a:xfrm>
          <a:prstGeom prst="rect">
            <a:avLst/>
          </a:prstGeom>
          <a:solidFill>
            <a:schemeClr val="accent1">
              <a:lumMod val="75000"/>
            </a:schemeClr>
          </a:solidFill>
          <a:ln w="12700">
            <a:solidFill>
              <a:srgbClr val="1F3864"/>
            </a:solidFill>
            <a:prstDash val="solid"/>
          </a:ln>
        </p:spPr>
        <p:txBody>
          <a:bodyPr anchor="ctr"/>
          <a:lstStyle/>
          <a:p>
            <a:pPr algn="ct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広告運用統括・コンサル</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1" name="Shape 6">
            <a:extLst>
              <a:ext uri="{FF2B5EF4-FFF2-40B4-BE49-F238E27FC236}">
                <a16:creationId xmlns:a16="http://schemas.microsoft.com/office/drawing/2014/main" id="{40835ECB-DBED-5389-F67F-16368EB09190}"/>
              </a:ext>
            </a:extLst>
          </p:cNvPr>
          <p:cNvSpPr/>
          <p:nvPr/>
        </p:nvSpPr>
        <p:spPr>
          <a:xfrm>
            <a:off x="548883" y="1995744"/>
            <a:ext cx="8545959" cy="615505"/>
          </a:xfrm>
          <a:prstGeom prst="rect">
            <a:avLst/>
          </a:prstGeom>
          <a:solidFill>
            <a:srgbClr val="FFFFFF"/>
          </a:solidFill>
          <a:ln w="12700">
            <a:solidFill>
              <a:srgbClr val="C0CEDE"/>
            </a:solidFill>
            <a:prstDash val="solid"/>
          </a:ln>
        </p:spPr>
        <p:txBody>
          <a:bodyPr/>
          <a:lstStyle/>
          <a:p>
            <a:endPar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endParaRPr>
          </a:p>
          <a:p>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本プロモーションの戦略立案</a:t>
            </a:r>
            <a:r>
              <a:rPr lang="en-US" altLang="ja-JP" sz="1200" dirty="0">
                <a:solidFill>
                  <a:srgbClr val="1A1A1A"/>
                </a:solidFill>
                <a:latin typeface="メイリオ" panose="020B0604030504040204" pitchFamily="50" charset="-128"/>
                <a:ea typeface="メイリオ" panose="020B0604030504040204" pitchFamily="50" charset="-128"/>
                <a:cs typeface="メイリオ" pitchFamily="34" charset="-120"/>
              </a:rPr>
              <a:t> / </a:t>
            </a:r>
            <a:r>
              <a:rPr lang="en-US" altLang="ja-JP" sz="1200" dirty="0" err="1">
                <a:solidFill>
                  <a:srgbClr val="1A1A1A"/>
                </a:solidFill>
                <a:latin typeface="メイリオ" panose="020B0604030504040204" pitchFamily="50" charset="-128"/>
                <a:ea typeface="メイリオ" panose="020B0604030504040204" pitchFamily="50" charset="-128"/>
                <a:cs typeface="メイリオ" pitchFamily="34" charset="-120"/>
              </a:rPr>
              <a:t>方針決定</a:t>
            </a:r>
            <a:r>
              <a:rPr lang="ja-JP" altLang="en-US" sz="1200" dirty="0">
                <a:solidFill>
                  <a:srgbClr val="1A1A1A"/>
                </a:solidFill>
                <a:latin typeface="メイリオ" panose="020B0604030504040204" pitchFamily="50" charset="-128"/>
                <a:ea typeface="メイリオ" panose="020B0604030504040204" pitchFamily="50" charset="-128"/>
                <a:cs typeface="メイリオ" pitchFamily="34" charset="-120"/>
              </a:rPr>
              <a:t>　　　　・貴社ご担当者様との連絡やり取り全般</a:t>
            </a:r>
            <a:endParaRPr lang="en-US" altLang="ja-JP" sz="12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67B490AF-C245-DAC8-B203-E07692B565EF}"/>
              </a:ext>
            </a:extLst>
          </p:cNvPr>
          <p:cNvSpPr/>
          <p:nvPr/>
        </p:nvSpPr>
        <p:spPr>
          <a:xfrm>
            <a:off x="548883" y="1729963"/>
            <a:ext cx="4073917" cy="347472"/>
          </a:xfrm>
          <a:prstGeom prst="rect">
            <a:avLst/>
          </a:prstGeom>
          <a:solidFill>
            <a:schemeClr val="accent1">
              <a:lumMod val="75000"/>
            </a:schemeClr>
          </a:solidFill>
          <a:ln w="12700">
            <a:solidFill>
              <a:srgbClr val="1F3864"/>
            </a:solidFill>
            <a:prstDash val="solid"/>
          </a:ln>
        </p:spPr>
        <p:txBody>
          <a:bodyPr anchor="ctr"/>
          <a:lstStyle/>
          <a:p>
            <a:pPr algn="ct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営業</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 / </a:t>
            </a:r>
            <a:r>
              <a:rPr lang="en-US" altLang="ja-JP" sz="1350" b="1" dirty="0" err="1">
                <a:solidFill>
                  <a:srgbClr val="FFFFFF"/>
                </a:solidFill>
                <a:latin typeface="メイリオ" panose="020B0604030504040204" pitchFamily="50" charset="-128"/>
                <a:ea typeface="メイリオ" panose="020B0604030504040204" pitchFamily="50" charset="-128"/>
                <a:cs typeface="メイリオ" pitchFamily="34" charset="-120"/>
              </a:rPr>
              <a:t>フロント対応</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全体統括</a:t>
            </a:r>
            <a:r>
              <a:rPr lang="en-US" altLang="ja-JP" sz="1350" b="1" dirty="0">
                <a:solidFill>
                  <a:srgbClr val="FFFFFF"/>
                </a:solidFill>
                <a:latin typeface="メイリオ" panose="020B0604030504040204" pitchFamily="50" charset="-128"/>
                <a:ea typeface="メイリオ" panose="020B0604030504040204" pitchFamily="50" charset="-128"/>
                <a:cs typeface="メイリオ" pitchFamily="34" charset="-120"/>
              </a:rPr>
              <a:t>）</a:t>
            </a:r>
            <a:r>
              <a:rPr lang="ja-JP" altLang="en-US" sz="1350" b="1" dirty="0">
                <a:solidFill>
                  <a:srgbClr val="FFFFFF"/>
                </a:solidFill>
                <a:latin typeface="メイリオ" panose="020B0604030504040204" pitchFamily="50" charset="-128"/>
                <a:ea typeface="メイリオ" panose="020B0604030504040204" pitchFamily="50" charset="-128"/>
                <a:cs typeface="メイリオ" pitchFamily="34" charset="-120"/>
              </a:rPr>
              <a:t>　</a:t>
            </a:r>
            <a:endParaRPr lang="en-US" altLang="ja-JP" sz="1350" dirty="0">
              <a:latin typeface="メイリオ" panose="020B0604030504040204" pitchFamily="50" charset="-128"/>
              <a:ea typeface="メイリオ" panose="020B0604030504040204" pitchFamily="50" charset="-128"/>
              <a:cs typeface="メイリオ"/>
            </a:endParaRPr>
          </a:p>
        </p:txBody>
      </p:sp>
      <p:sp>
        <p:nvSpPr>
          <p:cNvPr id="35" name="Shape 38">
            <a:extLst>
              <a:ext uri="{FF2B5EF4-FFF2-40B4-BE49-F238E27FC236}">
                <a16:creationId xmlns:a16="http://schemas.microsoft.com/office/drawing/2014/main" id="{0C1173B9-EECF-693B-9E7D-0C69C5B122BF}"/>
              </a:ext>
            </a:extLst>
          </p:cNvPr>
          <p:cNvSpPr/>
          <p:nvPr/>
        </p:nvSpPr>
        <p:spPr>
          <a:xfrm>
            <a:off x="5740699" y="4509077"/>
            <a:ext cx="3293358" cy="1146893"/>
          </a:xfrm>
          <a:prstGeom prst="rect">
            <a:avLst/>
          </a:prstGeom>
          <a:solidFill>
            <a:schemeClr val="accent1">
              <a:lumMod val="20000"/>
              <a:lumOff val="80000"/>
            </a:schemeClr>
          </a:solidFill>
          <a:ln w="12700">
            <a:solidFill>
              <a:srgbClr val="8496B8"/>
            </a:solidFill>
            <a:prstDash val="solid"/>
          </a:ln>
        </p:spPr>
        <p:txBody>
          <a:bodyPr anchor="ctr"/>
          <a:lstStyle/>
          <a:p>
            <a:pPr algn="ctr"/>
            <a:endParaRPr lang="ja-JP" altLang="en-US" sz="1200" dirty="0">
              <a:solidFill>
                <a:schemeClr val="bg1"/>
              </a:solidFill>
              <a:latin typeface="メイリオ" panose="020B0604030504040204" pitchFamily="50" charset="-128"/>
              <a:ea typeface="メイリオ" panose="020B0604030504040204" pitchFamily="50" charset="-128"/>
              <a:cs typeface="メイリオ"/>
            </a:endParaRPr>
          </a:p>
        </p:txBody>
      </p:sp>
      <p:sp>
        <p:nvSpPr>
          <p:cNvPr id="36" name="矢印: 下 35">
            <a:extLst>
              <a:ext uri="{FF2B5EF4-FFF2-40B4-BE49-F238E27FC236}">
                <a16:creationId xmlns:a16="http://schemas.microsoft.com/office/drawing/2014/main" id="{7CCB5C34-442B-3398-0780-2D0336E6D4ED}"/>
              </a:ext>
            </a:extLst>
          </p:cNvPr>
          <p:cNvSpPr/>
          <p:nvPr/>
        </p:nvSpPr>
        <p:spPr>
          <a:xfrm>
            <a:off x="1528292" y="373514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矢印: 下 36">
            <a:extLst>
              <a:ext uri="{FF2B5EF4-FFF2-40B4-BE49-F238E27FC236}">
                <a16:creationId xmlns:a16="http://schemas.microsoft.com/office/drawing/2014/main" id="{F4FC4967-B41B-4444-4ADE-4F30B9156CB8}"/>
              </a:ext>
            </a:extLst>
          </p:cNvPr>
          <p:cNvSpPr/>
          <p:nvPr/>
        </p:nvSpPr>
        <p:spPr>
          <a:xfrm>
            <a:off x="3987378" y="3740258"/>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pic>
        <p:nvPicPr>
          <p:cNvPr id="1026" name="Picture 2">
            <a:extLst>
              <a:ext uri="{FF2B5EF4-FFF2-40B4-BE49-F238E27FC236}">
                <a16:creationId xmlns:a16="http://schemas.microsoft.com/office/drawing/2014/main" id="{AC3EAB26-5599-F35D-4523-6C68BD69EF6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49980" y="4692784"/>
            <a:ext cx="570053" cy="37623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ロゴガイドライン｜LINEヤフー for Business">
            <a:extLst>
              <a:ext uri="{FF2B5EF4-FFF2-40B4-BE49-F238E27FC236}">
                <a16:creationId xmlns:a16="http://schemas.microsoft.com/office/drawing/2014/main" id="{CEFB2BC3-422C-45B1-E9EF-4EF91F4D989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72902" y="4459743"/>
            <a:ext cx="2357368" cy="855810"/>
          </a:xfrm>
          <a:prstGeom prst="rect">
            <a:avLst/>
          </a:prstGeom>
          <a:noFill/>
          <a:extLst>
            <a:ext uri="{909E8E84-426E-40DD-AFC4-6F175D3DCCD1}">
              <a14:hiddenFill xmlns:a14="http://schemas.microsoft.com/office/drawing/2010/main">
                <a:solidFill>
                  <a:srgbClr val="FFFFFF"/>
                </a:solidFill>
              </a14:hiddenFill>
            </a:ext>
          </a:extLst>
        </p:spPr>
      </p:pic>
      <p:pic>
        <p:nvPicPr>
          <p:cNvPr id="49" name="図 48">
            <a:extLst>
              <a:ext uri="{FF2B5EF4-FFF2-40B4-BE49-F238E27FC236}">
                <a16:creationId xmlns:a16="http://schemas.microsoft.com/office/drawing/2014/main" id="{C827C962-E7C6-7341-785B-5CEA2F163BA9}"/>
              </a:ext>
            </a:extLst>
          </p:cNvPr>
          <p:cNvPicPr>
            <a:picLocks noChangeAspect="1"/>
          </p:cNvPicPr>
          <p:nvPr/>
        </p:nvPicPr>
        <p:blipFill>
          <a:blip r:embed="rId5" cstate="print">
            <a:extLst>
              <a:ext uri="{28A0092B-C50C-407E-A947-70E740481C1C}">
                <a14:useLocalDpi xmlns:a14="http://schemas.microsoft.com/office/drawing/2010/main" val="0"/>
              </a:ext>
            </a:extLst>
          </a:blip>
          <a:srcRect l="10032" t="9688" r="9713" b="9686"/>
          <a:stretch>
            <a:fillRect/>
          </a:stretch>
        </p:blipFill>
        <p:spPr>
          <a:xfrm>
            <a:off x="7294243" y="4673418"/>
            <a:ext cx="411545" cy="413459"/>
          </a:xfrm>
          <a:prstGeom prst="rect">
            <a:avLst/>
          </a:prstGeom>
        </p:spPr>
      </p:pic>
      <p:pic>
        <p:nvPicPr>
          <p:cNvPr id="1034" name="Picture 10" descr="Google ロゴ（グーグル） – ICONLAB（アイコンラボ）">
            <a:extLst>
              <a:ext uri="{FF2B5EF4-FFF2-40B4-BE49-F238E27FC236}">
                <a16:creationId xmlns:a16="http://schemas.microsoft.com/office/drawing/2014/main" id="{EF486F86-4362-411E-58E4-AF8FA89FFB1A}"/>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6281" y="5170783"/>
            <a:ext cx="1167467" cy="383075"/>
          </a:xfrm>
          <a:prstGeom prst="rect">
            <a:avLst/>
          </a:prstGeom>
          <a:noFill/>
          <a:extLst>
            <a:ext uri="{909E8E84-426E-40DD-AFC4-6F175D3DCCD1}">
              <a14:hiddenFill xmlns:a14="http://schemas.microsoft.com/office/drawing/2010/main">
                <a:solidFill>
                  <a:srgbClr val="FFFFFF"/>
                </a:solidFill>
              </a14:hiddenFill>
            </a:ext>
          </a:extLst>
        </p:spPr>
      </p:pic>
      <p:sp>
        <p:nvSpPr>
          <p:cNvPr id="52" name="AutoShape 16" descr="TikTok Vector Logo - Download Free SVG Icon | Worldvectorlogo">
            <a:extLst>
              <a:ext uri="{FF2B5EF4-FFF2-40B4-BE49-F238E27FC236}">
                <a16:creationId xmlns:a16="http://schemas.microsoft.com/office/drawing/2014/main" id="{FC9F455A-4712-6D98-BB84-88AB6130694C}"/>
              </a:ext>
            </a:extLst>
          </p:cNvPr>
          <p:cNvSpPr>
            <a:spLocks noChangeAspect="1" noChangeArrowheads="1"/>
          </p:cNvSpPr>
          <p:nvPr/>
        </p:nvSpPr>
        <p:spPr bwMode="auto">
          <a:xfrm>
            <a:off x="4800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latin typeface="メイリオ"/>
              <a:ea typeface="メイリオ"/>
              <a:cs typeface="メイリオ"/>
            </a:endParaRPr>
          </a:p>
        </p:txBody>
      </p:sp>
      <p:pic>
        <p:nvPicPr>
          <p:cNvPr id="55" name="グラフィックス 54">
            <a:extLst>
              <a:ext uri="{FF2B5EF4-FFF2-40B4-BE49-F238E27FC236}">
                <a16:creationId xmlns:a16="http://schemas.microsoft.com/office/drawing/2014/main" id="{236DDCA7-2D38-04D7-5FB4-240CFC7457D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915162" y="4592565"/>
            <a:ext cx="431326" cy="494866"/>
          </a:xfrm>
          <a:prstGeom prst="rect">
            <a:avLst/>
          </a:prstGeom>
        </p:spPr>
      </p:pic>
      <p:pic>
        <p:nvPicPr>
          <p:cNvPr id="1042" name="Picture 18" descr="スマートニュースはSNSでも情報を発信しています">
            <a:extLst>
              <a:ext uri="{FF2B5EF4-FFF2-40B4-BE49-F238E27FC236}">
                <a16:creationId xmlns:a16="http://schemas.microsoft.com/office/drawing/2014/main" id="{4F12F3EC-DFC2-4480-39CA-8C4C8AE3C056}"/>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r="70053"/>
          <a:stretch>
            <a:fillRect/>
          </a:stretch>
        </p:blipFill>
        <p:spPr bwMode="auto">
          <a:xfrm>
            <a:off x="8334066" y="4584625"/>
            <a:ext cx="564335" cy="580417"/>
          </a:xfrm>
          <a:prstGeom prst="rect">
            <a:avLst/>
          </a:prstGeom>
          <a:noFill/>
          <a:extLst>
            <a:ext uri="{909E8E84-426E-40DD-AFC4-6F175D3DCCD1}">
              <a14:hiddenFill xmlns:a14="http://schemas.microsoft.com/office/drawing/2010/main">
                <a:solidFill>
                  <a:srgbClr val="FFFFFF"/>
                </a:solidFill>
              </a14:hiddenFill>
            </a:ext>
          </a:extLst>
        </p:spPr>
      </p:pic>
      <p:sp>
        <p:nvSpPr>
          <p:cNvPr id="56" name="矢印: 下 55">
            <a:extLst>
              <a:ext uri="{FF2B5EF4-FFF2-40B4-BE49-F238E27FC236}">
                <a16:creationId xmlns:a16="http://schemas.microsoft.com/office/drawing/2014/main" id="{E75D1A0F-AE27-48A1-23FB-0EB865F9868F}"/>
              </a:ext>
            </a:extLst>
          </p:cNvPr>
          <p:cNvSpPr/>
          <p:nvPr/>
        </p:nvSpPr>
        <p:spPr>
          <a:xfrm>
            <a:off x="2694214" y="252912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7" name="矢印: 下 56">
            <a:extLst>
              <a:ext uri="{FF2B5EF4-FFF2-40B4-BE49-F238E27FC236}">
                <a16:creationId xmlns:a16="http://schemas.microsoft.com/office/drawing/2014/main" id="{45EAB25F-C320-6516-2457-A8EC46BA5759}"/>
              </a:ext>
            </a:extLst>
          </p:cNvPr>
          <p:cNvSpPr/>
          <p:nvPr/>
        </p:nvSpPr>
        <p:spPr>
          <a:xfrm>
            <a:off x="7125416" y="2500315"/>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8" name="矢印: 下 57">
            <a:extLst>
              <a:ext uri="{FF2B5EF4-FFF2-40B4-BE49-F238E27FC236}">
                <a16:creationId xmlns:a16="http://schemas.microsoft.com/office/drawing/2014/main" id="{D4C3E4FB-FBBD-F807-4224-633D3437041D}"/>
              </a:ext>
            </a:extLst>
          </p:cNvPr>
          <p:cNvSpPr/>
          <p:nvPr/>
        </p:nvSpPr>
        <p:spPr>
          <a:xfrm>
            <a:off x="7077925" y="3692382"/>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9" name="矢印: 下 58">
            <a:extLst>
              <a:ext uri="{FF2B5EF4-FFF2-40B4-BE49-F238E27FC236}">
                <a16:creationId xmlns:a16="http://schemas.microsoft.com/office/drawing/2014/main" id="{101128B9-99D7-A912-7FA8-A54843D9D245}"/>
              </a:ext>
            </a:extLst>
          </p:cNvPr>
          <p:cNvSpPr/>
          <p:nvPr/>
        </p:nvSpPr>
        <p:spPr>
          <a:xfrm>
            <a:off x="1531548" y="4943191"/>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下 59">
            <a:extLst>
              <a:ext uri="{FF2B5EF4-FFF2-40B4-BE49-F238E27FC236}">
                <a16:creationId xmlns:a16="http://schemas.microsoft.com/office/drawing/2014/main" id="{98D6B609-F1DC-B6C8-DC56-54C22972DE71}"/>
              </a:ext>
            </a:extLst>
          </p:cNvPr>
          <p:cNvSpPr/>
          <p:nvPr/>
        </p:nvSpPr>
        <p:spPr>
          <a:xfrm>
            <a:off x="3985192" y="4946879"/>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1" name="矢印: 下 60">
            <a:extLst>
              <a:ext uri="{FF2B5EF4-FFF2-40B4-BE49-F238E27FC236}">
                <a16:creationId xmlns:a16="http://schemas.microsoft.com/office/drawing/2014/main" id="{CBA9CA06-6F9A-2C27-90F1-49EDB667ED05}"/>
              </a:ext>
            </a:extLst>
          </p:cNvPr>
          <p:cNvSpPr/>
          <p:nvPr/>
        </p:nvSpPr>
        <p:spPr>
          <a:xfrm rot="17888006">
            <a:off x="5384120" y="4622183"/>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下 61">
            <a:extLst>
              <a:ext uri="{FF2B5EF4-FFF2-40B4-BE49-F238E27FC236}">
                <a16:creationId xmlns:a16="http://schemas.microsoft.com/office/drawing/2014/main" id="{50FA0F8D-4B66-B543-827F-E62BB2D7A5C7}"/>
              </a:ext>
            </a:extLst>
          </p:cNvPr>
          <p:cNvSpPr/>
          <p:nvPr/>
        </p:nvSpPr>
        <p:spPr>
          <a:xfrm rot="7261747">
            <a:off x="5310324" y="4360130"/>
            <a:ext cx="254000" cy="306911"/>
          </a:xfrm>
          <a:prstGeom prst="downArrow">
            <a:avLst>
              <a:gd name="adj1" fmla="val 50000"/>
              <a:gd name="adj2" fmla="val 6125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35440024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運用スケジュール</a:t>
            </a:r>
            <a:endParaRPr sz="1600" b="1" dirty="0">
              <a:solidFill>
                <a:srgbClr val="002060"/>
              </a:solidFill>
              <a:latin typeface="メイリオ"/>
              <a:ea typeface="メイリオ"/>
              <a:cs typeface="メイリオ"/>
              <a:sym typeface="Meiryo"/>
            </a:endParaRPr>
          </a:p>
        </p:txBody>
      </p:sp>
      <p:sp>
        <p:nvSpPr>
          <p:cNvPr id="28" name="角丸四角形 27"/>
          <p:cNvSpPr/>
          <p:nvPr/>
        </p:nvSpPr>
        <p:spPr>
          <a:xfrm>
            <a:off x="910833" y="19940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STEP1</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9" name="角丸四角形 28"/>
          <p:cNvSpPr/>
          <p:nvPr/>
        </p:nvSpPr>
        <p:spPr>
          <a:xfrm>
            <a:off x="910833" y="353713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STEP3</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1" name="角丸四角形 30"/>
          <p:cNvSpPr/>
          <p:nvPr/>
        </p:nvSpPr>
        <p:spPr>
          <a:xfrm>
            <a:off x="910833" y="276560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STEP2</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2" name="角丸四角形 31"/>
          <p:cNvSpPr/>
          <p:nvPr/>
        </p:nvSpPr>
        <p:spPr>
          <a:xfrm>
            <a:off x="910833" y="4308658"/>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STEP4</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33" name="角丸四角形 32"/>
          <p:cNvSpPr/>
          <p:nvPr/>
        </p:nvSpPr>
        <p:spPr>
          <a:xfrm>
            <a:off x="910833" y="5080183"/>
            <a:ext cx="2144546" cy="520517"/>
          </a:xfrm>
          <a:prstGeom prst="roundRect">
            <a:avLst>
              <a:gd name="adj" fmla="val 4701"/>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STEP5</a:t>
            </a:r>
            <a:endParaRPr kumimoji="1" lang="ja-JP" altLang="en-US"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p:txBody>
      </p:sp>
      <p:sp>
        <p:nvSpPr>
          <p:cNvPr id="2" name="正方形/長方形 1"/>
          <p:cNvSpPr/>
          <p:nvPr/>
        </p:nvSpPr>
        <p:spPr>
          <a:xfrm>
            <a:off x="4600923" y="2266950"/>
            <a:ext cx="1638300" cy="391649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0" name="角丸四角形 39"/>
          <p:cNvSpPr/>
          <p:nvPr/>
        </p:nvSpPr>
        <p:spPr>
          <a:xfrm>
            <a:off x="3133924" y="19940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お申込み（書類締結）</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1" name="角丸四角形 40"/>
          <p:cNvSpPr/>
          <p:nvPr/>
        </p:nvSpPr>
        <p:spPr>
          <a:xfrm>
            <a:off x="3133924" y="353713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ツール導入・連携の設定 / タグ確認</a:t>
            </a:r>
          </a:p>
        </p:txBody>
      </p:sp>
      <p:sp>
        <p:nvSpPr>
          <p:cNvPr id="42" name="角丸四角形 41"/>
          <p:cNvSpPr/>
          <p:nvPr/>
        </p:nvSpPr>
        <p:spPr>
          <a:xfrm>
            <a:off x="3133924" y="276560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キックオフ</a:t>
            </a:r>
            <a:r>
              <a:rPr kumimoji="1" lang="en-US" altLang="ja-JP" dirty="0">
                <a:solidFill>
                  <a:schemeClr val="bg1">
                    <a:lumMod val="50000"/>
                  </a:schemeClr>
                </a:solidFill>
                <a:latin typeface="メイリオ" panose="020B0604030504040204" pitchFamily="50" charset="-128"/>
                <a:ea typeface="メイリオ" panose="020B0604030504040204" pitchFamily="50" charset="-128"/>
                <a:cs typeface="メイリオ"/>
              </a:rPr>
              <a:t>MTG</a:t>
            </a:r>
            <a:endPar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
        <p:nvSpPr>
          <p:cNvPr id="44" name="角丸四角形 43"/>
          <p:cNvSpPr/>
          <p:nvPr/>
        </p:nvSpPr>
        <p:spPr>
          <a:xfrm>
            <a:off x="3133924" y="4308658"/>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初期設計の構築</a:t>
            </a:r>
          </a:p>
        </p:txBody>
      </p:sp>
      <p:sp>
        <p:nvSpPr>
          <p:cNvPr id="45" name="角丸四角形 44"/>
          <p:cNvSpPr/>
          <p:nvPr/>
        </p:nvSpPr>
        <p:spPr>
          <a:xfrm>
            <a:off x="3133924" y="5080183"/>
            <a:ext cx="4749705" cy="520517"/>
          </a:xfrm>
          <a:prstGeom prst="roundRect">
            <a:avLst>
              <a:gd name="adj" fmla="val 4701"/>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bg1">
                    <a:lumMod val="50000"/>
                  </a:schemeClr>
                </a:solidFill>
                <a:latin typeface="メイリオ" panose="020B0604030504040204" pitchFamily="50" charset="-128"/>
                <a:ea typeface="メイリオ" panose="020B0604030504040204" pitchFamily="50" charset="-128"/>
                <a:cs typeface="メイリオ"/>
              </a:rPr>
              <a:t>運用開始</a:t>
            </a:r>
          </a:p>
        </p:txBody>
      </p:sp>
      <p:sp>
        <p:nvSpPr>
          <p:cNvPr id="19" name="正方形/長方形 18"/>
          <p:cNvSpPr/>
          <p:nvPr/>
        </p:nvSpPr>
        <p:spPr>
          <a:xfrm>
            <a:off x="548883" y="1033120"/>
            <a:ext cx="8921032" cy="461665"/>
          </a:xfrm>
          <a:prstGeom prst="rect">
            <a:avLst/>
          </a:prstGeom>
        </p:spPr>
        <p:txBody>
          <a:bodyPr wrap="none">
            <a:spAutoFit/>
          </a:bodyPr>
          <a:lstStyle/>
          <a:p>
            <a:r>
              <a:rPr lang="ja-JP" altLang="en-US" sz="2400" dirty="0">
                <a:latin typeface="メイリオ" panose="020B0604030504040204" pitchFamily="50" charset="-128"/>
                <a:ea typeface="メイリオ" panose="020B0604030504040204" pitchFamily="50" charset="-128"/>
                <a:cs typeface="メイリオ"/>
              </a:rPr>
              <a:t>サイト・LINEへの実装は、初期設計が整い次第、順次進行</a:t>
            </a:r>
            <a:endParaRPr lang="ja-JP" altLang="en-US" sz="2400" dirty="0">
              <a:latin typeface="メイリオ"/>
              <a:ea typeface="メイリオ"/>
              <a:cs typeface="メイリオ"/>
            </a:endParaRPr>
          </a:p>
        </p:txBody>
      </p:sp>
      <p:sp>
        <p:nvSpPr>
          <p:cNvPr id="20" name="正方形/長方形 19"/>
          <p:cNvSpPr/>
          <p:nvPr/>
        </p:nvSpPr>
        <p:spPr>
          <a:xfrm>
            <a:off x="3566160" y="5841409"/>
            <a:ext cx="5974713" cy="276999"/>
          </a:xfrm>
          <a:prstGeom prst="rect">
            <a:avLst/>
          </a:prstGeom>
        </p:spPr>
        <p:txBody>
          <a:bodyPr wrap="none">
            <a:spAutoFit/>
          </a:bodyPr>
          <a:lstStyle/>
          <a:p>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※契約期間は6か月。貴社作業・確認にかかる時間により前後する場合があ</a:t>
            </a:r>
            <a:r>
              <a:rPr lang="ja-JP" altLang="en-US"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ります</a:t>
            </a:r>
            <a:r>
              <a:rPr lang="en-US" altLang="ja-JP" sz="12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t>
            </a:r>
          </a:p>
        </p:txBody>
      </p:sp>
      <p:sp>
        <p:nvSpPr>
          <p:cNvPr id="3" name="正方形/長方形 2"/>
          <p:cNvSpPr/>
          <p:nvPr/>
        </p:nvSpPr>
        <p:spPr>
          <a:xfrm>
            <a:off x="7902506" y="3514209"/>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オーディエンスリスト作成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タグ設定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GA</a:t>
            </a:r>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設定</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24" name="正方形/長方形 23"/>
          <p:cNvSpPr/>
          <p:nvPr/>
        </p:nvSpPr>
        <p:spPr>
          <a:xfrm>
            <a:off x="7897281" y="4276528"/>
            <a:ext cx="1107996"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リッチメニュー作成</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アンケート設計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シナリオ設計</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rPr>
              <a:t>etc...</a:t>
            </a:r>
          </a:p>
        </p:txBody>
      </p:sp>
      <p:sp>
        <p:nvSpPr>
          <p:cNvPr id="46" name="正方形/長方形 2"/>
          <p:cNvSpPr/>
          <p:nvPr/>
        </p:nvSpPr>
        <p:spPr>
          <a:xfrm>
            <a:off x="7902506" y="2743200"/>
            <a:ext cx="1415772" cy="584775"/>
          </a:xfrm>
          <a:prstGeom prst="rect">
            <a:avLst/>
          </a:prstGeom>
        </p:spPr>
        <p:txBody>
          <a:bodyPr wrap="none">
            <a:spAutoFit/>
          </a:bodyPr>
          <a:lstStyle/>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ツールの選択</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実装条件の確認</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（サンクスLINE誘導の</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a:p>
            <a:r>
              <a:rPr lang="ja-JP" altLang="en-US" sz="800" dirty="0">
                <a:solidFill>
                  <a:schemeClr val="bg1">
                    <a:lumMod val="50000"/>
                  </a:schemeClr>
                </a:solidFill>
                <a:latin typeface="メイリオ" panose="020B0604030504040204" pitchFamily="50" charset="-128"/>
                <a:ea typeface="メイリオ" panose="020B0604030504040204" pitchFamily="50" charset="-128"/>
                <a:cs typeface="メイリオ"/>
              </a:rPr>
              <a:t>契約・停止条件）</a:t>
            </a:r>
            <a:endParaRPr lang="en-US" altLang="ja-JP" sz="800" dirty="0">
              <a:solidFill>
                <a:schemeClr val="bg1">
                  <a:lumMod val="50000"/>
                </a:schemeClr>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121434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latin typeface="メイリオ"/>
                <a:ea typeface="メイリオ"/>
                <a:cs typeface="メイリオ"/>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latin typeface="メイリオ"/>
                <a:ea typeface="メイリオ"/>
                <a:cs typeface="メイリオ"/>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latin typeface="メイリオ"/>
                <a:ea typeface="メイリオ"/>
                <a:cs typeface="メイリオ"/>
              </a:defRPr>
            </a:pPr>
            <a:endParaRPr lang="ja-JP" altLang="en-US">
              <a:solidFill>
                <a:prstClr val="black"/>
              </a:solidFill>
              <a:latin typeface="メイリオ" pitchFamily="34" charset="0"/>
              <a:ea typeface="メイリオ" pitchFamily="50" charset="-128"/>
              <a:cs typeface="メイリオ"/>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latin typeface="メイリオ"/>
                <a:ea typeface="メイリオ"/>
                <a:cs typeface="メイリオ"/>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Tree>
    <p:extLst>
      <p:ext uri="{BB962C8B-B14F-4D97-AF65-F5344CB8AC3E}">
        <p14:creationId xmlns:p14="http://schemas.microsoft.com/office/powerpoint/2010/main" val="4185355464"/>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A8046-1654-094B-8F5D-E4DEE374596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70E0618D-3216-35E4-D4C4-66DD232D827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資料アジェンダ</a:t>
            </a:r>
          </a:p>
        </p:txBody>
      </p:sp>
      <p:sp>
        <p:nvSpPr>
          <p:cNvPr id="2" name="正方形/長方形 1">
            <a:extLst>
              <a:ext uri="{FF2B5EF4-FFF2-40B4-BE49-F238E27FC236}">
                <a16:creationId xmlns:a16="http://schemas.microsoft.com/office/drawing/2014/main" id="{87478A58-B30A-B13E-22E3-8D83CCAF592E}"/>
              </a:ext>
            </a:extLst>
          </p:cNvPr>
          <p:cNvSpPr/>
          <p:nvPr/>
        </p:nvSpPr>
        <p:spPr>
          <a:xfrm>
            <a:off x="841248" y="3038203"/>
            <a:ext cx="822960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補足資料・その他サービス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40006679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メイリオ"/>
                <a:sym typeface="Meiryo"/>
              </a:rPr>
              <a:t>LINE</a:t>
            </a:r>
            <a:r>
              <a:rPr lang="ja-JP" altLang="en-US" sz="1600" b="1" dirty="0">
                <a:solidFill>
                  <a:schemeClr val="tx1">
                    <a:lumMod val="50000"/>
                    <a:lumOff val="50000"/>
                  </a:schemeClr>
                </a:solidFill>
                <a:latin typeface="メイリオ"/>
                <a:ea typeface="メイリオ"/>
                <a:cs typeface="メイリオ"/>
                <a:sym typeface="Meiryo"/>
              </a:rPr>
              <a:t>施策における重要な考え方</a:t>
            </a:r>
            <a:endParaRPr lang="en-US" altLang="ja-JP" sz="1600" b="1" dirty="0">
              <a:solidFill>
                <a:schemeClr val="tx1">
                  <a:lumMod val="50000"/>
                  <a:lumOff val="50000"/>
                </a:schemeClr>
              </a:solidFill>
              <a:latin typeface="メイリオ"/>
              <a:ea typeface="メイリオ"/>
              <a:cs typeface="メイリオ"/>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latin typeface="メイリオ"/>
                <a:ea typeface="メイリオ"/>
                <a:cs typeface="メイリオ"/>
              </a:defRPr>
            </a:defPPr>
            <a:lvl1pPr marL="0" algn="l" defTabSz="914400" rtl="0" eaLnBrk="1" latinLnBrk="0" hangingPunct="1">
              <a:defRPr kumimoji="1" sz="1800" kern="1200">
                <a:solidFill>
                  <a:schemeClr val="tx1"/>
                </a:solidFill>
                <a:latin typeface="メイリオ"/>
                <a:ea typeface="メイリオ"/>
                <a:cs typeface="メイリオ"/>
              </a:defRPr>
            </a:lvl1pPr>
            <a:lvl2pPr marL="457200" algn="l" defTabSz="914400" rtl="0" eaLnBrk="1" latinLnBrk="0" hangingPunct="1">
              <a:defRPr kumimoji="1" sz="1800" kern="1200">
                <a:solidFill>
                  <a:schemeClr val="tx1"/>
                </a:solidFill>
                <a:latin typeface="メイリオ"/>
                <a:ea typeface="メイリオ"/>
                <a:cs typeface="メイリオ"/>
              </a:defRPr>
            </a:lvl2pPr>
            <a:lvl3pPr marL="914400" algn="l" defTabSz="914400" rtl="0" eaLnBrk="1" latinLnBrk="0" hangingPunct="1">
              <a:defRPr kumimoji="1" sz="1800" kern="1200">
                <a:solidFill>
                  <a:schemeClr val="tx1"/>
                </a:solidFill>
                <a:latin typeface="メイリオ"/>
                <a:ea typeface="メイリオ"/>
                <a:cs typeface="メイリオ"/>
              </a:defRPr>
            </a:lvl3pPr>
            <a:lvl4pPr marL="1371600" algn="l" defTabSz="914400" rtl="0" eaLnBrk="1" latinLnBrk="0" hangingPunct="1">
              <a:defRPr kumimoji="1" sz="1800" kern="1200">
                <a:solidFill>
                  <a:schemeClr val="tx1"/>
                </a:solidFill>
                <a:latin typeface="メイリオ"/>
                <a:ea typeface="メイリオ"/>
                <a:cs typeface="メイリオ"/>
              </a:defRPr>
            </a:lvl4pPr>
            <a:lvl5pPr marL="1828800" algn="l" defTabSz="914400" rtl="0" eaLnBrk="1" latinLnBrk="0" hangingPunct="1">
              <a:defRPr kumimoji="1" sz="1800" kern="1200">
                <a:solidFill>
                  <a:schemeClr val="tx1"/>
                </a:solidFill>
                <a:latin typeface="メイリオ"/>
                <a:ea typeface="メイリオ"/>
                <a:cs typeface="メイリオ"/>
              </a:defRPr>
            </a:lvl5pPr>
            <a:lvl6pPr marL="2286000" algn="l" defTabSz="914400" rtl="0" eaLnBrk="1" latinLnBrk="0" hangingPunct="1">
              <a:defRPr kumimoji="1" sz="1800" kern="1200">
                <a:solidFill>
                  <a:schemeClr val="tx1"/>
                </a:solidFill>
                <a:latin typeface="メイリオ"/>
                <a:ea typeface="メイリオ"/>
                <a:cs typeface="メイリオ"/>
              </a:defRPr>
            </a:lvl6pPr>
            <a:lvl7pPr marL="2743200" algn="l" defTabSz="914400" rtl="0" eaLnBrk="1" latinLnBrk="0" hangingPunct="1">
              <a:defRPr kumimoji="1" sz="1800" kern="1200">
                <a:solidFill>
                  <a:schemeClr val="tx1"/>
                </a:solidFill>
                <a:latin typeface="メイリオ"/>
                <a:ea typeface="メイリオ"/>
                <a:cs typeface="メイリオ"/>
              </a:defRPr>
            </a:lvl7pPr>
            <a:lvl8pPr marL="3200400" algn="l" defTabSz="914400" rtl="0" eaLnBrk="1" latinLnBrk="0" hangingPunct="1">
              <a:defRPr kumimoji="1" sz="1800" kern="1200">
                <a:solidFill>
                  <a:schemeClr val="tx1"/>
                </a:solidFill>
                <a:latin typeface="メイリオ"/>
                <a:ea typeface="メイリオ"/>
                <a:cs typeface="メイリオ"/>
              </a:defRPr>
            </a:lvl8pPr>
            <a:lvl9pPr marL="3657600" algn="l" defTabSz="914400" rtl="0" eaLnBrk="1" latinLnBrk="0" hangingPunct="1">
              <a:defRPr kumimoji="1" sz="1800" kern="1200">
                <a:solidFill>
                  <a:schemeClr val="tx1"/>
                </a:solidFill>
                <a:latin typeface="メイリオ"/>
                <a:ea typeface="メイリオ"/>
                <a:cs typeface="メイリオ"/>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アカウント効果を</a:t>
            </a:r>
            <a:r>
              <a:rPr lang="ja-JP" altLang="en-US" sz="2400" b="1" dirty="0">
                <a:latin typeface="メイリオ" panose="020B0604030504040204" pitchFamily="50" charset="-128"/>
                <a:ea typeface="メイリオ" panose="020B0604030504040204" pitchFamily="50" charset="-128"/>
                <a:cs typeface="メイリオ"/>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solidFill>
                <a:schemeClr val="tx1">
                  <a:lumMod val="50000"/>
                  <a:lumOff val="50000"/>
                </a:schemeClr>
              </a:solidFill>
              <a:latin typeface="メイリオ"/>
              <a:ea typeface="メイリオ"/>
              <a:cs typeface="メイリオ"/>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ファン化・自社アプリ登録に対して、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ハードルが高く感じる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ユーザーが増えている状況。</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離脱防止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友だち追加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で学習 </a:t>
            </a:r>
            <a:r>
              <a:rPr lang="en-US" altLang="ja-JP" sz="1400" dirty="0">
                <a:solidFill>
                  <a:srgbClr val="343434"/>
                </a:solidFill>
                <a:latin typeface="メイリオ" panose="020B0604030504040204" pitchFamily="50" charset="-128"/>
                <a:ea typeface="メイリオ" panose="020B0604030504040204" pitchFamily="50" charset="-128"/>
                <a:cs typeface="メイリオ"/>
              </a:rPr>
              <a:t>&gt;&gt; </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リード獲得・利用 の導線設計でハードル抑えつつ運営が可能。</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cs typeface="メイリオ"/>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過去の顧客データを活用</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離脱防止バナーにて</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検討段階ユーザーを</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接触、詳細ページ閲覧</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の動線での</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誘導を整備</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cs typeface="メイリオ"/>
              </a:rPr>
              <a:t>DYM</a:t>
            </a:r>
            <a:r>
              <a:rPr lang="ja-JP" altLang="en-US" sz="1200" dirty="0">
                <a:solidFill>
                  <a:schemeClr val="bg1"/>
                </a:solidFill>
                <a:latin typeface="メイリオ" panose="020B0604030504040204" pitchFamily="50" charset="-128"/>
                <a:ea typeface="メイリオ" panose="020B0604030504040204" pitchFamily="50" charset="-128"/>
                <a:cs typeface="メイリオ"/>
              </a:rPr>
              <a:t>施策</a:t>
            </a:r>
            <a:endParaRPr lang="ja-JP" altLang="en-US" sz="1200" dirty="0">
              <a:solidFill>
                <a:schemeClr val="bg1"/>
              </a:solidFill>
              <a:latin typeface="メイリオ"/>
              <a:ea typeface="メイリオ"/>
              <a:cs typeface="メイリオ"/>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cs typeface="メイリオ"/>
              </a:rPr>
              <a:t>現状施策</a:t>
            </a:r>
            <a:endParaRPr lang="ja-JP" altLang="en-US" sz="1200" dirty="0">
              <a:solidFill>
                <a:schemeClr val="bg1"/>
              </a:solidFill>
              <a:latin typeface="メイリオ"/>
              <a:ea typeface="メイリオ"/>
              <a:cs typeface="メイリオ"/>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cs typeface="メイリオ"/>
            </a:endParaRPr>
          </a:p>
          <a:p>
            <a:pPr algn="ctr"/>
            <a:r>
              <a:rPr lang="ja-JP" altLang="en-US" sz="900" b="1" dirty="0">
                <a:solidFill>
                  <a:schemeClr val="bg1"/>
                </a:solidFill>
                <a:latin typeface="メイリオ" panose="020B0604030504040204" pitchFamily="50" charset="-128"/>
                <a:ea typeface="メイリオ" panose="020B0604030504040204" pitchFamily="50" charset="-128"/>
                <a:cs typeface="メイリオ"/>
              </a:rPr>
              <a:t>商材への動線設計</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※ID</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900" b="1" dirty="0">
                <a:solidFill>
                  <a:schemeClr val="bg1"/>
                </a:solidFill>
                <a:latin typeface="メイリオ" panose="020B0604030504040204" pitchFamily="50" charset="-128"/>
                <a:ea typeface="メイリオ" panose="020B0604030504040204" pitchFamily="50" charset="-128"/>
                <a:cs typeface="メイリオ"/>
              </a:rPr>
              <a:t>ミニアプリ・診断 →</a:t>
            </a:r>
            <a:r>
              <a:rPr lang="en-US" altLang="ja-JP" sz="900" b="1" dirty="0">
                <a:solidFill>
                  <a:schemeClr val="bg1"/>
                </a:solidFill>
                <a:latin typeface="メイリオ" panose="020B0604030504040204" pitchFamily="50" charset="-128"/>
                <a:ea typeface="メイリオ" panose="020B0604030504040204" pitchFamily="50" charset="-128"/>
                <a:cs typeface="メイリオ"/>
              </a:rPr>
              <a:t> </a:t>
            </a:r>
            <a:r>
              <a:rPr lang="ja-JP" altLang="en-US" sz="900" b="1" dirty="0">
                <a:solidFill>
                  <a:schemeClr val="bg1"/>
                </a:solidFill>
                <a:latin typeface="メイリオ" panose="020B0604030504040204" pitchFamily="50" charset="-128"/>
                <a:ea typeface="メイリオ" panose="020B0604030504040204" pitchFamily="50" charset="-128"/>
                <a:cs typeface="メイリオ"/>
              </a:rPr>
              <a:t>特典</a:t>
            </a:r>
            <a:endParaRPr kumimoji="1" lang="ja-JP" altLang="en-US" sz="90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cs typeface="メイリオ"/>
              </a:rPr>
              <a:t>※</a:t>
            </a:r>
            <a:r>
              <a:rPr kumimoji="1" lang="ja-JP" altLang="en-US" sz="1000" dirty="0">
                <a:solidFill>
                  <a:schemeClr val="bg1"/>
                </a:solidFill>
                <a:latin typeface="メイリオ" panose="020B0604030504040204" pitchFamily="50" charset="-128"/>
                <a:ea typeface="メイリオ" panose="020B0604030504040204" pitchFamily="50" charset="-128"/>
                <a:cs typeface="メイリオ"/>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13000" y="2265395"/>
            <a:ext cx="1826395" cy="3929946"/>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cs typeface="メイリオ"/>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cs typeface="メイリオ"/>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cs typeface="メイリオ"/>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 </a:t>
            </a:r>
            <a:r>
              <a:rPr kumimoji="1" lang="ja-JP" altLang="en-US" sz="1200" b="1" dirty="0">
                <a:latin typeface="メイリオ" panose="020B0604030504040204" pitchFamily="50" charset="-128"/>
                <a:ea typeface="メイリオ" panose="020B0604030504040204" pitchFamily="50" charset="-128"/>
                <a:cs typeface="メイリオ"/>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cs typeface="メイリオ"/>
              </a:rPr>
              <a:t>自社</a:t>
            </a:r>
            <a:r>
              <a:rPr kumimoji="1" lang="en-US" altLang="ja-JP" sz="1200" b="1" dirty="0">
                <a:latin typeface="メイリオ" panose="020B0604030504040204" pitchFamily="50" charset="-128"/>
                <a:ea typeface="メイリオ" panose="020B0604030504040204" pitchFamily="50" charset="-128"/>
                <a:cs typeface="メイリオ"/>
              </a:rPr>
              <a:t>App/</a:t>
            </a:r>
            <a:r>
              <a:rPr kumimoji="1" lang="ja-JP" altLang="en-US" sz="1200" b="1" dirty="0">
                <a:latin typeface="メイリオ" panose="020B0604030504040204" pitchFamily="50" charset="-128"/>
                <a:ea typeface="メイリオ" panose="020B0604030504040204" pitchFamily="50" charset="-128"/>
                <a:cs typeface="メイリオ"/>
              </a:rPr>
              <a:t>ネットワーク</a:t>
            </a:r>
            <a:endParaRPr kumimoji="1" lang="en-US" altLang="ja-JP" sz="1200" b="1" dirty="0">
              <a:latin typeface="メイリオ" panose="020B0604030504040204" pitchFamily="50" charset="-128"/>
              <a:ea typeface="メイリオ" panose="020B0604030504040204" pitchFamily="50" charset="-128"/>
              <a:cs typeface="メイリオ"/>
            </a:endParaRPr>
          </a:p>
          <a:p>
            <a:pPr algn="ctr"/>
            <a:r>
              <a:rPr lang="ja-JP" altLang="en-US" sz="1200" b="1" dirty="0">
                <a:latin typeface="メイリオ" panose="020B0604030504040204" pitchFamily="50" charset="-128"/>
                <a:ea typeface="メイリオ" panose="020B0604030504040204" pitchFamily="50" charset="-128"/>
                <a:cs typeface="メイリオ"/>
              </a:rPr>
              <a:t>（</a:t>
            </a:r>
            <a:r>
              <a:rPr lang="en-US" altLang="ja-JP" sz="1200" b="1" dirty="0">
                <a:latin typeface="メイリオ" panose="020B0604030504040204" pitchFamily="50" charset="-128"/>
                <a:ea typeface="メイリオ" panose="020B0604030504040204" pitchFamily="50" charset="-128"/>
                <a:cs typeface="メイリオ"/>
              </a:rPr>
              <a:t>ID</a:t>
            </a:r>
            <a:r>
              <a:rPr lang="ja-JP" altLang="en-US" sz="1200" b="1" dirty="0">
                <a:latin typeface="メイリオ" panose="020B0604030504040204" pitchFamily="50" charset="-128"/>
                <a:ea typeface="メイリオ" panose="020B0604030504040204" pitchFamily="50" charset="-128"/>
                <a:cs typeface="メイリオ"/>
              </a:rPr>
              <a:t>連携等の開発）</a:t>
            </a:r>
            <a:endParaRPr kumimoji="1" lang="ja-JP" altLang="en-US" sz="1200" b="1" dirty="0">
              <a:latin typeface="メイリオ" panose="020B0604030504040204" pitchFamily="50" charset="-128"/>
              <a:ea typeface="メイリオ" panose="020B0604030504040204" pitchFamily="50" charset="-128"/>
              <a:cs typeface="メイリオ"/>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cs typeface="メイリオ"/>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cs typeface="メイリオ"/>
              </a:rPr>
              <a:t>LINE</a:t>
            </a:r>
            <a:r>
              <a:rPr lang="ja-JP" altLang="en-US" sz="1200" b="1" dirty="0">
                <a:latin typeface="メイリオ" panose="020B0604030504040204" pitchFamily="50" charset="-128"/>
                <a:ea typeface="メイリオ" panose="020B0604030504040204" pitchFamily="50" charset="-128"/>
                <a:cs typeface="メイリオ"/>
              </a:rPr>
              <a:t>でログイン</a:t>
            </a:r>
          </a:p>
        </p:txBody>
      </p:sp>
    </p:spTree>
    <p:extLst>
      <p:ext uri="{BB962C8B-B14F-4D97-AF65-F5344CB8AC3E}">
        <p14:creationId xmlns:p14="http://schemas.microsoft.com/office/powerpoint/2010/main" val="426513679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BCB9F207-E933-48A8-A62B-47A12C4BFADB}"/>
              </a:ext>
            </a:extLst>
          </p:cNvPr>
          <p:cNvSpPr/>
          <p:nvPr/>
        </p:nvSpPr>
        <p:spPr>
          <a:xfrm>
            <a:off x="788963" y="824934"/>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ユーザーコミュニケーションに、</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LINE公式アカウントを導入する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法人</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が</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増加傾向</a:t>
            </a: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p>
          <a:p>
            <a:pPr algn="ctr">
              <a:lnSpc>
                <a:spcPts val="2455"/>
              </a:lnSpc>
            </a:pPr>
            <a:r>
              <a:rPr lang="en-US" altLang="ja-JP" sz="1400" b="1" dirty="0">
                <a:solidFill>
                  <a:srgbClr val="343434"/>
                </a:solidFill>
                <a:latin typeface="メイリオ" panose="020B0604030504040204" pitchFamily="50" charset="-128"/>
                <a:ea typeface="メイリオ" panose="020B0604030504040204" pitchFamily="50" charset="-128"/>
                <a:cs typeface="メイリオ"/>
              </a:rPr>
              <a:t>開封率に関してはメールマガジンの6倍を誇る</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と言われています。</a:t>
            </a:r>
          </a:p>
        </p:txBody>
      </p:sp>
      <p:cxnSp>
        <p:nvCxnSpPr>
          <p:cNvPr id="9" name="直線コネクタ 8">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10" name="Group 2">
            <a:extLst>
              <a:ext uri="{FF2B5EF4-FFF2-40B4-BE49-F238E27FC236}">
                <a16:creationId xmlns:a16="http://schemas.microsoft.com/office/drawing/2014/main" id="{8411FB04-4378-9C1F-7198-DA25276CF8E2}"/>
              </a:ext>
            </a:extLst>
          </p:cNvPr>
          <p:cNvGrpSpPr/>
          <p:nvPr/>
        </p:nvGrpSpPr>
        <p:grpSpPr>
          <a:xfrm>
            <a:off x="788963" y="1653447"/>
            <a:ext cx="8366061" cy="731867"/>
            <a:chOff x="0" y="0"/>
            <a:chExt cx="3130995" cy="273901"/>
          </a:xfrm>
        </p:grpSpPr>
        <p:sp>
          <p:nvSpPr>
            <p:cNvPr id="11" name="Freeform 3">
              <a:extLst>
                <a:ext uri="{FF2B5EF4-FFF2-40B4-BE49-F238E27FC236}">
                  <a16:creationId xmlns:a16="http://schemas.microsoft.com/office/drawing/2014/main" id="{DA30BE06-7392-13FD-69EB-48890255A158}"/>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12" name="TextBox 4">
              <a:extLst>
                <a:ext uri="{FF2B5EF4-FFF2-40B4-BE49-F238E27FC236}">
                  <a16:creationId xmlns:a16="http://schemas.microsoft.com/office/drawing/2014/main" id="{C283FFE9-487F-ECFB-11D7-47B424A23DE5}"/>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dirty="0">
                  <a:solidFill>
                    <a:srgbClr val="040606"/>
                  </a:solidFill>
                  <a:latin typeface="メイリオ" panose="020B0604030504040204" pitchFamily="50" charset="-128"/>
                  <a:ea typeface="メイリオ" panose="020B0604030504040204" pitchFamily="50" charset="-128"/>
                  <a:cs typeface="メイリオ"/>
                </a:rPr>
                <a:t>　　　　</a:t>
              </a:r>
              <a:r>
                <a:rPr lang="en-US" sz="1400" dirty="0" err="1">
                  <a:solidFill>
                    <a:srgbClr val="040606"/>
                  </a:solidFill>
                  <a:latin typeface="メイリオ" panose="020B0604030504040204" pitchFamily="50" charset="-128"/>
                  <a:ea typeface="メイリオ" panose="020B0604030504040204" pitchFamily="50" charset="-128"/>
                  <a:cs typeface="メイリオ"/>
                </a:rPr>
                <a:t>メールマガジン</a:t>
              </a:r>
              <a:r>
                <a:rPr lang="ja-JP" altLang="en-US" sz="1400" dirty="0" err="1">
                  <a:solidFill>
                    <a:srgbClr val="040606"/>
                  </a:solidFill>
                  <a:latin typeface="メイリオ" panose="020B0604030504040204" pitchFamily="50" charset="-128"/>
                  <a:ea typeface="メイリオ" panose="020B0604030504040204" pitchFamily="50" charset="-128"/>
                  <a:cs typeface="メイリオ"/>
                </a:rPr>
                <a:t>、</a:t>
              </a:r>
              <a:r>
                <a:rPr lang="ja-JP" altLang="en-US" sz="1400" dirty="0">
                  <a:solidFill>
                    <a:srgbClr val="040606"/>
                  </a:solidFill>
                  <a:latin typeface="メイリオ" panose="020B0604030504040204" pitchFamily="50" charset="-128"/>
                  <a:ea typeface="メイリオ" panose="020B0604030504040204" pitchFamily="50" charset="-128"/>
                  <a:cs typeface="メイリオ"/>
                </a:rPr>
                <a:t>テレマーケティング </a:t>
              </a:r>
              <a:r>
                <a:rPr lang="en-US" sz="1400" dirty="0" err="1">
                  <a:solidFill>
                    <a:srgbClr val="040606"/>
                  </a:solidFill>
                  <a:latin typeface="メイリオ" panose="020B0604030504040204" pitchFamily="50" charset="-128"/>
                  <a:ea typeface="メイリオ" panose="020B0604030504040204" pitchFamily="50" charset="-128"/>
                  <a:cs typeface="メイリオ"/>
                </a:rPr>
                <a:t>が主流</a:t>
              </a:r>
              <a:endParaRPr lang="en-US" sz="1400" dirty="0">
                <a:solidFill>
                  <a:srgbClr val="040606"/>
                </a:solidFill>
                <a:latin typeface="メイリオ" panose="020B0604030504040204" pitchFamily="50" charset="-128"/>
                <a:ea typeface="メイリオ" panose="020B0604030504040204" pitchFamily="50" charset="-128"/>
                <a:cs typeface="メイリオ"/>
              </a:endParaRPr>
            </a:p>
          </p:txBody>
        </p:sp>
      </p:grpSp>
      <p:sp>
        <p:nvSpPr>
          <p:cNvPr id="13" name="Freeform 5">
            <a:extLst>
              <a:ext uri="{FF2B5EF4-FFF2-40B4-BE49-F238E27FC236}">
                <a16:creationId xmlns:a16="http://schemas.microsoft.com/office/drawing/2014/main" id="{92B274FD-6C4B-BF09-92C7-B918BFE86EBE}"/>
              </a:ext>
            </a:extLst>
          </p:cNvPr>
          <p:cNvSpPr/>
          <p:nvPr/>
        </p:nvSpPr>
        <p:spPr>
          <a:xfrm>
            <a:off x="1044952" y="1864063"/>
            <a:ext cx="586512" cy="415690"/>
          </a:xfrm>
          <a:custGeom>
            <a:avLst/>
            <a:gdLst/>
            <a:ahLst/>
            <a:cxnLst/>
            <a:rect l="l" t="t" r="r" b="b"/>
            <a:pathLst>
              <a:path w="586512" h="415690">
                <a:moveTo>
                  <a:pt x="0" y="0"/>
                </a:moveTo>
                <a:lnTo>
                  <a:pt x="586512" y="0"/>
                </a:lnTo>
                <a:lnTo>
                  <a:pt x="586512" y="415691"/>
                </a:lnTo>
                <a:lnTo>
                  <a:pt x="0" y="41569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Freeform 6">
            <a:extLst>
              <a:ext uri="{FF2B5EF4-FFF2-40B4-BE49-F238E27FC236}">
                <a16:creationId xmlns:a16="http://schemas.microsoft.com/office/drawing/2014/main" id="{BE4175CE-3408-B9E2-6CB8-BAD8904A8563}"/>
              </a:ext>
            </a:extLst>
          </p:cNvPr>
          <p:cNvSpPr/>
          <p:nvPr/>
        </p:nvSpPr>
        <p:spPr>
          <a:xfrm>
            <a:off x="1828420" y="1769085"/>
            <a:ext cx="385149" cy="302824"/>
          </a:xfrm>
          <a:custGeom>
            <a:avLst/>
            <a:gdLst/>
            <a:ahLst/>
            <a:cxnLst/>
            <a:rect l="l" t="t" r="r" b="b"/>
            <a:pathLst>
              <a:path w="385149" h="302824">
                <a:moveTo>
                  <a:pt x="0" y="0"/>
                </a:moveTo>
                <a:lnTo>
                  <a:pt x="385150" y="0"/>
                </a:lnTo>
                <a:lnTo>
                  <a:pt x="385150" y="302824"/>
                </a:lnTo>
                <a:lnTo>
                  <a:pt x="0" y="3028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5" name="Group 7">
            <a:extLst>
              <a:ext uri="{FF2B5EF4-FFF2-40B4-BE49-F238E27FC236}">
                <a16:creationId xmlns:a16="http://schemas.microsoft.com/office/drawing/2014/main" id="{0D673740-D652-7CA2-D522-30AA6E6BB082}"/>
              </a:ext>
            </a:extLst>
          </p:cNvPr>
          <p:cNvGrpSpPr/>
          <p:nvPr/>
        </p:nvGrpSpPr>
        <p:grpSpPr>
          <a:xfrm>
            <a:off x="4762596" y="2450266"/>
            <a:ext cx="418793" cy="197815"/>
            <a:chOff x="0" y="0"/>
            <a:chExt cx="812800" cy="383922"/>
          </a:xfrm>
        </p:grpSpPr>
        <p:sp>
          <p:nvSpPr>
            <p:cNvPr id="16" name="Freeform 8">
              <a:extLst>
                <a:ext uri="{FF2B5EF4-FFF2-40B4-BE49-F238E27FC236}">
                  <a16:creationId xmlns:a16="http://schemas.microsoft.com/office/drawing/2014/main" id="{EC35FB35-F0A3-935B-D05E-B8D1AE53C824}"/>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9">
              <a:extLst>
                <a:ext uri="{FF2B5EF4-FFF2-40B4-BE49-F238E27FC236}">
                  <a16:creationId xmlns:a16="http://schemas.microsoft.com/office/drawing/2014/main" id="{C69E28B5-A3A4-36F5-01DB-CB6A9BEF984F}"/>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10">
            <a:extLst>
              <a:ext uri="{FF2B5EF4-FFF2-40B4-BE49-F238E27FC236}">
                <a16:creationId xmlns:a16="http://schemas.microsoft.com/office/drawing/2014/main" id="{2D0D8876-267F-8994-0640-F07758F8E631}"/>
              </a:ext>
            </a:extLst>
          </p:cNvPr>
          <p:cNvGrpSpPr/>
          <p:nvPr/>
        </p:nvGrpSpPr>
        <p:grpSpPr>
          <a:xfrm>
            <a:off x="788963" y="2722429"/>
            <a:ext cx="8366061" cy="731867"/>
            <a:chOff x="0" y="0"/>
            <a:chExt cx="3130995" cy="273901"/>
          </a:xfrm>
        </p:grpSpPr>
        <p:sp>
          <p:nvSpPr>
            <p:cNvPr id="19" name="Freeform 11">
              <a:extLst>
                <a:ext uri="{FF2B5EF4-FFF2-40B4-BE49-F238E27FC236}">
                  <a16:creationId xmlns:a16="http://schemas.microsoft.com/office/drawing/2014/main" id="{C5CB9F64-A605-7D94-6D58-E12CBE069A72}"/>
                </a:ext>
              </a:extLst>
            </p:cNvPr>
            <p:cNvSpPr/>
            <p:nvPr/>
          </p:nvSpPr>
          <p:spPr>
            <a:xfrm>
              <a:off x="0" y="0"/>
              <a:ext cx="3130995" cy="273901"/>
            </a:xfrm>
            <a:custGeom>
              <a:avLst/>
              <a:gdLst/>
              <a:ahLst/>
              <a:cxnLst/>
              <a:rect l="l" t="t" r="r" b="b"/>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0" name="TextBox 12">
              <a:extLst>
                <a:ext uri="{FF2B5EF4-FFF2-40B4-BE49-F238E27FC236}">
                  <a16:creationId xmlns:a16="http://schemas.microsoft.com/office/drawing/2014/main" id="{8175F01D-919F-5A71-EF4D-6A5F56166D72}"/>
                </a:ext>
              </a:extLst>
            </p:cNvPr>
            <p:cNvSpPr txBox="1"/>
            <p:nvPr/>
          </p:nvSpPr>
          <p:spPr>
            <a:xfrm>
              <a:off x="0" y="-47625"/>
              <a:ext cx="3130995" cy="321526"/>
            </a:xfrm>
            <a:prstGeom prst="rect">
              <a:avLst/>
            </a:prstGeom>
          </p:spPr>
          <p:txBody>
            <a:bodyPr lIns="29700" tIns="29700" rIns="29700" bIns="29700" rtlCol="0" anchor="ctr"/>
            <a:lstStyle/>
            <a:p>
              <a:pPr algn="ctr">
                <a:lnSpc>
                  <a:spcPts val="2455"/>
                </a:lnSpc>
              </a:pPr>
              <a:r>
                <a:rPr lang="ja-JP" alt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b="1" dirty="0">
                  <a:solidFill>
                    <a:srgbClr val="00B900"/>
                  </a:solidFill>
                  <a:latin typeface="メイリオ" panose="020B0604030504040204" pitchFamily="50" charset="-128"/>
                  <a:ea typeface="メイリオ" panose="020B0604030504040204" pitchFamily="50" charset="-128"/>
                  <a:cs typeface="メイリオ"/>
                </a:rPr>
                <a:t>LINE</a:t>
              </a:r>
              <a:r>
                <a:rPr lang="ja-JP" altLang="en-US" sz="1400" b="1" dirty="0">
                  <a:solidFill>
                    <a:srgbClr val="00B900"/>
                  </a:solidFill>
                  <a:latin typeface="メイリオ" panose="020B0604030504040204" pitchFamily="50" charset="-128"/>
                  <a:ea typeface="メイリオ" panose="020B0604030504040204" pitchFamily="50" charset="-128"/>
                  <a:cs typeface="メイリオ"/>
                </a:rPr>
                <a:t>公式アカウント</a:t>
              </a:r>
              <a:r>
                <a:rPr lang="en-US" sz="1400" b="1" dirty="0">
                  <a:solidFill>
                    <a:srgbClr val="00B900"/>
                  </a:solidFill>
                  <a:latin typeface="メイリオ" panose="020B0604030504040204" pitchFamily="50" charset="-128"/>
                  <a:ea typeface="メイリオ" panose="020B0604030504040204" pitchFamily="50" charset="-128"/>
                  <a:cs typeface="メイリオ"/>
                </a:rPr>
                <a:t> </a:t>
              </a:r>
              <a:r>
                <a:rPr lang="en-US" sz="1400" dirty="0" err="1">
                  <a:solidFill>
                    <a:srgbClr val="00B900"/>
                  </a:solidFill>
                  <a:latin typeface="メイリオ" panose="020B0604030504040204" pitchFamily="50" charset="-128"/>
                  <a:ea typeface="メイリオ" panose="020B0604030504040204" pitchFamily="50" charset="-128"/>
                  <a:cs typeface="メイリオ"/>
                </a:rPr>
                <a:t>が主流</a:t>
              </a:r>
              <a:endParaRPr lang="en-US" sz="1400" dirty="0">
                <a:solidFill>
                  <a:srgbClr val="00B900"/>
                </a:solidFill>
                <a:latin typeface="メイリオ" panose="020B0604030504040204" pitchFamily="50" charset="-128"/>
                <a:ea typeface="メイリオ" panose="020B0604030504040204" pitchFamily="50" charset="-128"/>
                <a:cs typeface="メイリオ"/>
              </a:endParaRPr>
            </a:p>
          </p:txBody>
        </p:sp>
      </p:grpSp>
      <p:sp>
        <p:nvSpPr>
          <p:cNvPr id="21" name="Freeform 13">
            <a:extLst>
              <a:ext uri="{FF2B5EF4-FFF2-40B4-BE49-F238E27FC236}">
                <a16:creationId xmlns:a16="http://schemas.microsoft.com/office/drawing/2014/main" id="{6FCF9A47-57C4-D983-7A09-62A1C2DDB6B4}"/>
              </a:ext>
            </a:extLst>
          </p:cNvPr>
          <p:cNvSpPr/>
          <p:nvPr/>
        </p:nvSpPr>
        <p:spPr>
          <a:xfrm>
            <a:off x="1184666" y="2810458"/>
            <a:ext cx="307084" cy="555808"/>
          </a:xfrm>
          <a:custGeom>
            <a:avLst/>
            <a:gdLst/>
            <a:ahLst/>
            <a:cxnLst/>
            <a:rect l="l" t="t" r="r" b="b"/>
            <a:pathLst>
              <a:path w="307084" h="555808">
                <a:moveTo>
                  <a:pt x="0" y="0"/>
                </a:moveTo>
                <a:lnTo>
                  <a:pt x="307084" y="0"/>
                </a:lnTo>
                <a:lnTo>
                  <a:pt x="307084" y="555808"/>
                </a:lnTo>
                <a:lnTo>
                  <a:pt x="0" y="555808"/>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Freeform 14">
            <a:extLst>
              <a:ext uri="{FF2B5EF4-FFF2-40B4-BE49-F238E27FC236}">
                <a16:creationId xmlns:a16="http://schemas.microsoft.com/office/drawing/2014/main" id="{EFB8EAC2-A5C6-6450-209B-316F851133C9}"/>
              </a:ext>
            </a:extLst>
          </p:cNvPr>
          <p:cNvSpPr/>
          <p:nvPr/>
        </p:nvSpPr>
        <p:spPr>
          <a:xfrm>
            <a:off x="1815677" y="2807175"/>
            <a:ext cx="397893" cy="397893"/>
          </a:xfrm>
          <a:custGeom>
            <a:avLst/>
            <a:gdLst/>
            <a:ahLst/>
            <a:cxnLst/>
            <a:rect l="l" t="t" r="r" b="b"/>
            <a:pathLst>
              <a:path w="397893" h="397893">
                <a:moveTo>
                  <a:pt x="0" y="0"/>
                </a:moveTo>
                <a:lnTo>
                  <a:pt x="397893" y="0"/>
                </a:lnTo>
                <a:lnTo>
                  <a:pt x="397893" y="397892"/>
                </a:lnTo>
                <a:lnTo>
                  <a:pt x="0" y="397892"/>
                </a:lnTo>
                <a:lnTo>
                  <a:pt x="0" y="0"/>
                </a:lnTo>
                <a:close/>
              </a:path>
            </a:pathLst>
          </a:custGeom>
          <a:blipFill>
            <a:blip cstate="screen">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a:blip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4" name="TextBox 16">
            <a:extLst>
              <a:ext uri="{FF2B5EF4-FFF2-40B4-BE49-F238E27FC236}">
                <a16:creationId xmlns:a16="http://schemas.microsoft.com/office/drawing/2014/main" id="{654B7271-F862-F3D1-E65A-6C75F2F9021C}"/>
              </a:ext>
            </a:extLst>
          </p:cNvPr>
          <p:cNvSpPr txBox="1"/>
          <p:nvPr/>
        </p:nvSpPr>
        <p:spPr>
          <a:xfrm>
            <a:off x="2903784" y="3579302"/>
            <a:ext cx="2520582" cy="302006"/>
          </a:xfrm>
          <a:prstGeom prst="rect">
            <a:avLst/>
          </a:prstGeom>
        </p:spPr>
        <p:txBody>
          <a:bodyPr lIns="0" tIns="0" rIns="0" bIns="0" rtlCol="0" anchor="t">
            <a:spAutoFit/>
          </a:bodyPr>
          <a:lstStyle/>
          <a:p>
            <a:pPr algn="ct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メールマガジン</a:t>
            </a:r>
          </a:p>
        </p:txBody>
      </p:sp>
      <p:grpSp>
        <p:nvGrpSpPr>
          <p:cNvPr id="26" name="Group 18">
            <a:extLst>
              <a:ext uri="{FF2B5EF4-FFF2-40B4-BE49-F238E27FC236}">
                <a16:creationId xmlns:a16="http://schemas.microsoft.com/office/drawing/2014/main" id="{E238BF15-71F6-4126-96D0-3C58C8B7CB25}"/>
              </a:ext>
            </a:extLst>
          </p:cNvPr>
          <p:cNvGrpSpPr/>
          <p:nvPr/>
        </p:nvGrpSpPr>
        <p:grpSpPr>
          <a:xfrm>
            <a:off x="4026555" y="3972737"/>
            <a:ext cx="275039" cy="129913"/>
            <a:chOff x="0" y="0"/>
            <a:chExt cx="812800" cy="383922"/>
          </a:xfrm>
        </p:grpSpPr>
        <p:sp>
          <p:nvSpPr>
            <p:cNvPr id="27" name="Freeform 19">
              <a:extLst>
                <a:ext uri="{FF2B5EF4-FFF2-40B4-BE49-F238E27FC236}">
                  <a16:creationId xmlns:a16="http://schemas.microsoft.com/office/drawing/2014/main" id="{49FE6727-4EE8-5C24-6048-CAC6C3CB48D0}"/>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0000"/>
            </a:solidFill>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28" name="TextBox 20">
              <a:extLst>
                <a:ext uri="{FF2B5EF4-FFF2-40B4-BE49-F238E27FC236}">
                  <a16:creationId xmlns:a16="http://schemas.microsoft.com/office/drawing/2014/main" id="{D00B2C25-C04A-579B-6514-18301F922DD2}"/>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a:latin typeface="メイリオ" panose="020B0604030504040204" pitchFamily="50" charset="-128"/>
                <a:ea typeface="メイリオ" panose="020B0604030504040204" pitchFamily="50" charset="-128"/>
                <a:cs typeface="メイリオ"/>
              </a:endParaRPr>
            </a:p>
          </p:txBody>
        </p:sp>
      </p:grpSp>
      <p:sp>
        <p:nvSpPr>
          <p:cNvPr id="32" name="AutoShape 24">
            <a:extLst>
              <a:ext uri="{FF2B5EF4-FFF2-40B4-BE49-F238E27FC236}">
                <a16:creationId xmlns:a16="http://schemas.microsoft.com/office/drawing/2014/main" id="{E12D8DCD-6939-B3D3-8747-7AB267084175}"/>
              </a:ext>
            </a:extLst>
          </p:cNvPr>
          <p:cNvSpPr/>
          <p:nvPr/>
        </p:nvSpPr>
        <p:spPr>
          <a:xfrm>
            <a:off x="1044962" y="4660284"/>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3" name="TextBox 25">
            <a:extLst>
              <a:ext uri="{FF2B5EF4-FFF2-40B4-BE49-F238E27FC236}">
                <a16:creationId xmlns:a16="http://schemas.microsoft.com/office/drawing/2014/main" id="{27ACB4CE-9593-D530-6FC9-45474D0A87C8}"/>
              </a:ext>
            </a:extLst>
          </p:cNvPr>
          <p:cNvSpPr txBox="1"/>
          <p:nvPr/>
        </p:nvSpPr>
        <p:spPr>
          <a:xfrm>
            <a:off x="2752051" y="4197408"/>
            <a:ext cx="2937353" cy="302006"/>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入力が面倒・間違いが発生</a:t>
            </a:r>
          </a:p>
        </p:txBody>
      </p:sp>
      <p:sp>
        <p:nvSpPr>
          <p:cNvPr id="34" name="AutoShape 26">
            <a:extLst>
              <a:ext uri="{FF2B5EF4-FFF2-40B4-BE49-F238E27FC236}">
                <a16:creationId xmlns:a16="http://schemas.microsoft.com/office/drawing/2014/main" id="{9DFA3AA3-EC46-59A7-ACD8-CFBFB3E6AC42}"/>
              </a:ext>
            </a:extLst>
          </p:cNvPr>
          <p:cNvSpPr/>
          <p:nvPr/>
        </p:nvSpPr>
        <p:spPr>
          <a:xfrm>
            <a:off x="2752093" y="3967169"/>
            <a:ext cx="2952531" cy="11138"/>
          </a:xfrm>
          <a:prstGeom prst="line">
            <a:avLst/>
          </a:prstGeom>
          <a:ln w="19050" cap="flat">
            <a:solidFill>
              <a:srgbClr val="000000"/>
            </a:solidFill>
            <a:prstDash val="solid"/>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5" name="TextBox 27">
            <a:extLst>
              <a:ext uri="{FF2B5EF4-FFF2-40B4-BE49-F238E27FC236}">
                <a16:creationId xmlns:a16="http://schemas.microsoft.com/office/drawing/2014/main" id="{8CBB54AF-4E8A-1541-1FBC-0122997F4D92}"/>
              </a:ext>
            </a:extLst>
          </p:cNvPr>
          <p:cNvSpPr txBox="1"/>
          <p:nvPr/>
        </p:nvSpPr>
        <p:spPr>
          <a:xfrm>
            <a:off x="2752051" y="477562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迷惑メールなどに入る</a:t>
            </a:r>
          </a:p>
        </p:txBody>
      </p:sp>
      <p:sp>
        <p:nvSpPr>
          <p:cNvPr id="36" name="TextBox 28">
            <a:extLst>
              <a:ext uri="{FF2B5EF4-FFF2-40B4-BE49-F238E27FC236}">
                <a16:creationId xmlns:a16="http://schemas.microsoft.com/office/drawing/2014/main" id="{1890926C-AAF3-81C2-B57E-1FF89EF56E37}"/>
              </a:ext>
            </a:extLst>
          </p:cNvPr>
          <p:cNvSpPr txBox="1"/>
          <p:nvPr/>
        </p:nvSpPr>
        <p:spPr>
          <a:xfrm>
            <a:off x="2752051" y="535477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10％</a:t>
            </a:r>
          </a:p>
        </p:txBody>
      </p:sp>
      <p:sp>
        <p:nvSpPr>
          <p:cNvPr id="37" name="TextBox 29">
            <a:extLst>
              <a:ext uri="{FF2B5EF4-FFF2-40B4-BE49-F238E27FC236}">
                <a16:creationId xmlns:a16="http://schemas.microsoft.com/office/drawing/2014/main" id="{EBE70ABF-86A0-2A2F-6768-A1AE13D1152D}"/>
              </a:ext>
            </a:extLst>
          </p:cNvPr>
          <p:cNvSpPr txBox="1"/>
          <p:nvPr/>
        </p:nvSpPr>
        <p:spPr>
          <a:xfrm>
            <a:off x="2752051"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1時間</a:t>
            </a:r>
          </a:p>
        </p:txBody>
      </p:sp>
      <p:sp>
        <p:nvSpPr>
          <p:cNvPr id="38" name="AutoShape 30">
            <a:extLst>
              <a:ext uri="{FF2B5EF4-FFF2-40B4-BE49-F238E27FC236}">
                <a16:creationId xmlns:a16="http://schemas.microsoft.com/office/drawing/2014/main" id="{2AEB91F9-20AE-78E3-90FC-95BDACB17800}"/>
              </a:ext>
            </a:extLst>
          </p:cNvPr>
          <p:cNvSpPr/>
          <p:nvPr/>
        </p:nvSpPr>
        <p:spPr>
          <a:xfrm>
            <a:off x="1044994" y="5247985"/>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39" name="AutoShape 31">
            <a:extLst>
              <a:ext uri="{FF2B5EF4-FFF2-40B4-BE49-F238E27FC236}">
                <a16:creationId xmlns:a16="http://schemas.microsoft.com/office/drawing/2014/main" id="{8CA9232F-EFCD-0685-4172-87FA8B803443}"/>
              </a:ext>
            </a:extLst>
          </p:cNvPr>
          <p:cNvSpPr/>
          <p:nvPr/>
        </p:nvSpPr>
        <p:spPr>
          <a:xfrm>
            <a:off x="1044952" y="5806130"/>
            <a:ext cx="7854082" cy="7039"/>
          </a:xfrm>
          <a:prstGeom prst="line">
            <a:avLst/>
          </a:prstGeom>
          <a:ln w="19050" cap="flat">
            <a:solidFill>
              <a:srgbClr val="000000"/>
            </a:solidFill>
            <a:prstDash val="sysDot"/>
            <a:headEnd type="none" w="sm" len="sm"/>
            <a:tailEnd type="none" w="sm" len="sm"/>
          </a:ln>
        </p:spPr>
        <p:txBody>
          <a:bodyPr/>
          <a:lstStyle/>
          <a:p>
            <a:endParaRPr lang="ja-JP" altLang="en-US" sz="1400">
              <a:latin typeface="メイリオ" panose="020B0604030504040204" pitchFamily="50" charset="-128"/>
              <a:ea typeface="メイリオ" panose="020B0604030504040204" pitchFamily="50" charset="-128"/>
              <a:cs typeface="メイリオ"/>
            </a:endParaRPr>
          </a:p>
        </p:txBody>
      </p:sp>
      <p:sp>
        <p:nvSpPr>
          <p:cNvPr id="40" name="TextBox 32">
            <a:extLst>
              <a:ext uri="{FF2B5EF4-FFF2-40B4-BE49-F238E27FC236}">
                <a16:creationId xmlns:a16="http://schemas.microsoft.com/office/drawing/2014/main" id="{0A70F695-8166-2256-5FDF-4F5178646823}"/>
              </a:ext>
            </a:extLst>
          </p:cNvPr>
          <p:cNvSpPr txBox="1"/>
          <p:nvPr/>
        </p:nvSpPr>
        <p:spPr>
          <a:xfrm>
            <a:off x="1184666" y="4779163"/>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到達</a:t>
            </a:r>
          </a:p>
        </p:txBody>
      </p:sp>
      <p:sp>
        <p:nvSpPr>
          <p:cNvPr id="41" name="TextBox 33">
            <a:extLst>
              <a:ext uri="{FF2B5EF4-FFF2-40B4-BE49-F238E27FC236}">
                <a16:creationId xmlns:a16="http://schemas.microsoft.com/office/drawing/2014/main" id="{85D3D6AF-3D79-C393-385D-3C63168F89A4}"/>
              </a:ext>
            </a:extLst>
          </p:cNvPr>
          <p:cNvSpPr txBox="1"/>
          <p:nvPr/>
        </p:nvSpPr>
        <p:spPr>
          <a:xfrm>
            <a:off x="1184666" y="5352087"/>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開封率</a:t>
            </a:r>
          </a:p>
        </p:txBody>
      </p:sp>
      <p:sp>
        <p:nvSpPr>
          <p:cNvPr id="42" name="TextBox 34">
            <a:extLst>
              <a:ext uri="{FF2B5EF4-FFF2-40B4-BE49-F238E27FC236}">
                <a16:creationId xmlns:a16="http://schemas.microsoft.com/office/drawing/2014/main" id="{C2F1559D-703E-EACC-8125-BCED5B42B895}"/>
              </a:ext>
            </a:extLst>
          </p:cNvPr>
          <p:cNvSpPr txBox="1"/>
          <p:nvPr/>
        </p:nvSpPr>
        <p:spPr>
          <a:xfrm>
            <a:off x="1184666" y="5933924"/>
            <a:ext cx="2937353" cy="294311"/>
          </a:xfrm>
          <a:prstGeom prst="rect">
            <a:avLst/>
          </a:prstGeom>
        </p:spPr>
        <p:txBody>
          <a:bodyPr lIns="0" tIns="0" rIns="0" bIns="0" rtlCol="0" anchor="t">
            <a:spAutoFit/>
          </a:bodyPr>
          <a:lstStyle/>
          <a:p>
            <a:pPr>
              <a:lnSpc>
                <a:spcPts val="2455"/>
              </a:lnSpc>
            </a:pPr>
            <a:r>
              <a:rPr lang="en-US" sz="1400">
                <a:solidFill>
                  <a:srgbClr val="040606"/>
                </a:solidFill>
                <a:latin typeface="メイリオ" panose="020B0604030504040204" pitchFamily="50" charset="-128"/>
                <a:ea typeface="メイリオ" panose="020B0604030504040204" pitchFamily="50" charset="-128"/>
                <a:cs typeface="メイリオ"/>
              </a:rPr>
              <a:t>開封まで</a:t>
            </a:r>
          </a:p>
        </p:txBody>
      </p:sp>
      <p:sp>
        <p:nvSpPr>
          <p:cNvPr id="47"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89DE5776-5C26-CF86-01D7-D84844A782CF}"/>
              </a:ext>
            </a:extLst>
          </p:cNvPr>
          <p:cNvSpPr/>
          <p:nvPr/>
        </p:nvSpPr>
        <p:spPr>
          <a:xfrm>
            <a:off x="5783983" y="3545570"/>
            <a:ext cx="3333054" cy="2822520"/>
          </a:xfrm>
          <a:prstGeom prst="rect">
            <a:avLst/>
          </a:prstGeom>
          <a:solidFill>
            <a:srgbClr val="1F2A5C">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00" b="1">
              <a:latin typeface="メイリオ"/>
              <a:ea typeface="メイリオ"/>
              <a:cs typeface="メイリオ"/>
            </a:endParaRPr>
          </a:p>
        </p:txBody>
      </p:sp>
      <p:sp>
        <p:nvSpPr>
          <p:cNvPr id="3" name="AutoShape 15">
            <a:extLst>
              <a:ext uri="{FF2B5EF4-FFF2-40B4-BE49-F238E27FC236}">
                <a16:creationId xmlns:a16="http://schemas.microsoft.com/office/drawing/2014/main" id="{0D44F6AF-095D-1CA0-2D98-25F7DB03466E}"/>
              </a:ext>
            </a:extLst>
          </p:cNvPr>
          <p:cNvSpPr/>
          <p:nvPr/>
        </p:nvSpPr>
        <p:spPr>
          <a:xfrm>
            <a:off x="5946513" y="3983875"/>
            <a:ext cx="2952531" cy="11137"/>
          </a:xfrm>
          <a:prstGeom prst="line">
            <a:avLst/>
          </a:prstGeom>
          <a:ln w="19050" cap="flat">
            <a:solidFill>
              <a:srgbClr val="00B900"/>
            </a:solidFill>
            <a:prstDash val="solid"/>
            <a:headEnd type="none" w="sm" len="sm"/>
            <a:tailEnd type="none" w="sm" len="sm"/>
          </a:ln>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4" name="TextBox 17">
            <a:extLst>
              <a:ext uri="{FF2B5EF4-FFF2-40B4-BE49-F238E27FC236}">
                <a16:creationId xmlns:a16="http://schemas.microsoft.com/office/drawing/2014/main" id="{53BD49FD-8C06-FB39-06D6-3CC078F782FE}"/>
              </a:ext>
            </a:extLst>
          </p:cNvPr>
          <p:cNvSpPr txBox="1"/>
          <p:nvPr/>
        </p:nvSpPr>
        <p:spPr>
          <a:xfrm>
            <a:off x="6162487" y="3579302"/>
            <a:ext cx="2520582" cy="294311"/>
          </a:xfrm>
          <a:prstGeom prst="rect">
            <a:avLst/>
          </a:prstGeom>
        </p:spPr>
        <p:txBody>
          <a:bodyPr lIns="0" tIns="0" rIns="0" bIns="0" rtlCol="0" anchor="t">
            <a:spAutoFit/>
          </a:bodyPr>
          <a:lstStyle/>
          <a:p>
            <a:pPr algn="ct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LINE</a:t>
            </a:r>
          </a:p>
        </p:txBody>
      </p:sp>
      <p:grpSp>
        <p:nvGrpSpPr>
          <p:cNvPr id="5" name="Group 21">
            <a:extLst>
              <a:ext uri="{FF2B5EF4-FFF2-40B4-BE49-F238E27FC236}">
                <a16:creationId xmlns:a16="http://schemas.microsoft.com/office/drawing/2014/main" id="{365678CD-DBE8-11A0-DE97-1E3489051004}"/>
              </a:ext>
            </a:extLst>
          </p:cNvPr>
          <p:cNvGrpSpPr/>
          <p:nvPr/>
        </p:nvGrpSpPr>
        <p:grpSpPr>
          <a:xfrm>
            <a:off x="7261679" y="3983875"/>
            <a:ext cx="322198" cy="152188"/>
            <a:chOff x="0" y="0"/>
            <a:chExt cx="812800" cy="383922"/>
          </a:xfrm>
        </p:grpSpPr>
        <p:sp>
          <p:nvSpPr>
            <p:cNvPr id="6" name="Freeform 22">
              <a:extLst>
                <a:ext uri="{FF2B5EF4-FFF2-40B4-BE49-F238E27FC236}">
                  <a16:creationId xmlns:a16="http://schemas.microsoft.com/office/drawing/2014/main" id="{FF803387-EA72-D3D7-22AE-52C01E0790A8}"/>
                </a:ext>
              </a:extLst>
            </p:cNvPr>
            <p:cNvSpPr/>
            <p:nvPr/>
          </p:nvSpPr>
          <p:spPr>
            <a:xfrm>
              <a:off x="0" y="0"/>
              <a:ext cx="812800" cy="383922"/>
            </a:xfrm>
            <a:custGeom>
              <a:avLst/>
              <a:gdLst/>
              <a:ahLst/>
              <a:cxnLst/>
              <a:rect l="l" t="t" r="r" b="b"/>
              <a:pathLst>
                <a:path w="812800" h="383922">
                  <a:moveTo>
                    <a:pt x="406400" y="383922"/>
                  </a:moveTo>
                  <a:lnTo>
                    <a:pt x="812800" y="0"/>
                  </a:lnTo>
                  <a:lnTo>
                    <a:pt x="0" y="0"/>
                  </a:lnTo>
                  <a:lnTo>
                    <a:pt x="406400" y="383922"/>
                  </a:lnTo>
                  <a:close/>
                </a:path>
              </a:pathLst>
            </a:custGeom>
            <a:solidFill>
              <a:srgbClr val="00B449"/>
            </a:solidFill>
          </p:spPr>
          <p:txBody>
            <a:bodyPr/>
            <a:lstStyle/>
            <a:p>
              <a:endParaRPr lang="ja-JP" altLang="en-US" sz="1400" b="1">
                <a:latin typeface="メイリオ" panose="020B0604030504040204" pitchFamily="50" charset="-128"/>
                <a:ea typeface="メイリオ" panose="020B0604030504040204" pitchFamily="50" charset="-128"/>
                <a:cs typeface="メイリオ"/>
              </a:endParaRPr>
            </a:p>
          </p:txBody>
        </p:sp>
        <p:sp>
          <p:nvSpPr>
            <p:cNvPr id="7" name="TextBox 23">
              <a:extLst>
                <a:ext uri="{FF2B5EF4-FFF2-40B4-BE49-F238E27FC236}">
                  <a16:creationId xmlns:a16="http://schemas.microsoft.com/office/drawing/2014/main" id="{268D41FC-63F5-2C69-D721-47F5A47AB26E}"/>
                </a:ext>
              </a:extLst>
            </p:cNvPr>
            <p:cNvSpPr txBox="1"/>
            <p:nvPr/>
          </p:nvSpPr>
          <p:spPr>
            <a:xfrm>
              <a:off x="127000" y="-20202"/>
              <a:ext cx="558800" cy="225874"/>
            </a:xfrm>
            <a:prstGeom prst="rect">
              <a:avLst/>
            </a:prstGeom>
          </p:spPr>
          <p:txBody>
            <a:bodyPr lIns="29700" tIns="29700" rIns="29700" bIns="29700" rtlCol="0" anchor="ctr"/>
            <a:lstStyle/>
            <a:p>
              <a:pPr algn="ctr">
                <a:lnSpc>
                  <a:spcPts val="2046"/>
                </a:lnSpc>
              </a:pPr>
              <a:endParaRPr sz="1400" b="1">
                <a:latin typeface="メイリオ" panose="020B0604030504040204" pitchFamily="50" charset="-128"/>
                <a:ea typeface="メイリオ" panose="020B0604030504040204" pitchFamily="50" charset="-128"/>
                <a:cs typeface="メイリオ"/>
              </a:endParaRPr>
            </a:p>
          </p:txBody>
        </p:sp>
      </p:grpSp>
      <p:sp>
        <p:nvSpPr>
          <p:cNvPr id="48" name="TextBox 35">
            <a:extLst>
              <a:ext uri="{FF2B5EF4-FFF2-40B4-BE49-F238E27FC236}">
                <a16:creationId xmlns:a16="http://schemas.microsoft.com/office/drawing/2014/main" id="{EF42718D-116E-9F31-BBCC-5F9118C59FCF}"/>
              </a:ext>
            </a:extLst>
          </p:cNvPr>
          <p:cNvSpPr txBox="1"/>
          <p:nvPr/>
        </p:nvSpPr>
        <p:spPr>
          <a:xfrm>
            <a:off x="5961733" y="4772936"/>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確実に届く</a:t>
            </a:r>
          </a:p>
        </p:txBody>
      </p:sp>
      <p:sp>
        <p:nvSpPr>
          <p:cNvPr id="49" name="TextBox 36">
            <a:extLst>
              <a:ext uri="{FF2B5EF4-FFF2-40B4-BE49-F238E27FC236}">
                <a16:creationId xmlns:a16="http://schemas.microsoft.com/office/drawing/2014/main" id="{BE477B33-5D35-D414-030E-C48CB175247D}"/>
              </a:ext>
            </a:extLst>
          </p:cNvPr>
          <p:cNvSpPr txBox="1"/>
          <p:nvPr/>
        </p:nvSpPr>
        <p:spPr>
          <a:xfrm>
            <a:off x="5961733" y="535208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60％</a:t>
            </a:r>
          </a:p>
        </p:txBody>
      </p:sp>
      <p:sp>
        <p:nvSpPr>
          <p:cNvPr id="50" name="TextBox 37">
            <a:extLst>
              <a:ext uri="{FF2B5EF4-FFF2-40B4-BE49-F238E27FC236}">
                <a16:creationId xmlns:a16="http://schemas.microsoft.com/office/drawing/2014/main" id="{0A436778-3336-3714-957B-826DFB9FCDBE}"/>
              </a:ext>
            </a:extLst>
          </p:cNvPr>
          <p:cNvSpPr txBox="1"/>
          <p:nvPr/>
        </p:nvSpPr>
        <p:spPr>
          <a:xfrm>
            <a:off x="5961733" y="5931237"/>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15分</a:t>
            </a:r>
          </a:p>
        </p:txBody>
      </p:sp>
      <p:sp>
        <p:nvSpPr>
          <p:cNvPr id="51" name="TextBox 38">
            <a:extLst>
              <a:ext uri="{FF2B5EF4-FFF2-40B4-BE49-F238E27FC236}">
                <a16:creationId xmlns:a16="http://schemas.microsoft.com/office/drawing/2014/main" id="{A5A10008-8C16-4E94-CB60-09FD258B3234}"/>
              </a:ext>
            </a:extLst>
          </p:cNvPr>
          <p:cNvSpPr txBox="1"/>
          <p:nvPr/>
        </p:nvSpPr>
        <p:spPr>
          <a:xfrm>
            <a:off x="5961733" y="4206140"/>
            <a:ext cx="2937353" cy="294311"/>
          </a:xfrm>
          <a:prstGeom prst="rect">
            <a:avLst/>
          </a:prstGeom>
        </p:spPr>
        <p:txBody>
          <a:bodyPr lIns="0" tIns="0" rIns="0" bIns="0" rtlCol="0" anchor="t">
            <a:spAutoFit/>
          </a:bodyPr>
          <a:lstStyle/>
          <a:p>
            <a:pPr>
              <a:lnSpc>
                <a:spcPts val="2455"/>
              </a:lnSpc>
            </a:pPr>
            <a:r>
              <a:rPr lang="en-US" sz="1400" b="1">
                <a:solidFill>
                  <a:srgbClr val="00B449"/>
                </a:solidFill>
                <a:latin typeface="メイリオ" panose="020B0604030504040204" pitchFamily="50" charset="-128"/>
                <a:ea typeface="メイリオ" panose="020B0604030504040204" pitchFamily="50" charset="-128"/>
                <a:cs typeface="メイリオ"/>
              </a:rPr>
              <a:t>ワンタップで追加</a:t>
            </a:r>
          </a:p>
        </p:txBody>
      </p:sp>
    </p:spTree>
    <p:extLst>
      <p:ext uri="{BB962C8B-B14F-4D97-AF65-F5344CB8AC3E}">
        <p14:creationId xmlns:p14="http://schemas.microsoft.com/office/powerpoint/2010/main" val="17542971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正方形/長方形 2">
            <a:extLst>
              <a:ext uri="{FF2B5EF4-FFF2-40B4-BE49-F238E27FC236}">
                <a16:creationId xmlns:a16="http://schemas.microsoft.com/office/drawing/2014/main" id="{0E416A61-B302-4BF8-8730-14A0C8808AB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BCB9F207-E933-48A8-A62B-47A12C4BFADB}"/>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en-US" altLang="ja-JP" sz="1400" dirty="0">
                <a:solidFill>
                  <a:srgbClr val="343434"/>
                </a:solidFill>
                <a:latin typeface="メイリオ" panose="020B0604030504040204" pitchFamily="50" charset="-128"/>
                <a:ea typeface="メイリオ" panose="020B0604030504040204" pitchFamily="50" charset="-128"/>
                <a:cs typeface="メイリオ"/>
              </a:rPr>
              <a:t>「</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今すぐ客」以外の</a:t>
            </a:r>
            <a:r>
              <a:rPr lang="ja-JP" altLang="en-US" sz="1400" dirty="0">
                <a:solidFill>
                  <a:srgbClr val="343434"/>
                </a:solidFill>
                <a:latin typeface="メイリオ" panose="020B0604030504040204" pitchFamily="50" charset="-128"/>
                <a:ea typeface="メイリオ" panose="020B0604030504040204" pitchFamily="50" charset="-128"/>
                <a:cs typeface="メイリオ"/>
              </a:rPr>
              <a:t>約</a:t>
            </a:r>
            <a:r>
              <a:rPr lang="en-US" altLang="ja-JP" sz="1400" dirty="0">
                <a:solidFill>
                  <a:srgbClr val="343434"/>
                </a:solidFill>
                <a:latin typeface="メイリオ" panose="020B0604030504040204" pitchFamily="50" charset="-128"/>
                <a:ea typeface="メイリオ" panose="020B0604030504040204" pitchFamily="50" charset="-128"/>
                <a:cs typeface="メイリオ"/>
              </a:rPr>
              <a:t>99％の層をリストマーケティングで顧客に引き上げることが重要。</a:t>
            </a:r>
          </a:p>
          <a:p>
            <a:pPr algn="ctr">
              <a:lnSpc>
                <a:spcPts val="2455"/>
              </a:lnSpc>
            </a:pP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結果として</a:t>
            </a:r>
            <a:r>
              <a:rPr lang="ja-JP" altLang="en-US" sz="1400" dirty="0" err="1">
                <a:solidFill>
                  <a:srgbClr val="343434"/>
                </a:solidFill>
                <a:latin typeface="メイリオ" panose="020B0604030504040204" pitchFamily="50" charset="-128"/>
                <a:ea typeface="メイリオ" panose="020B0604030504040204" pitchFamily="50" charset="-128"/>
                <a:cs typeface="メイリオ"/>
              </a:rPr>
              <a:t>、</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リード獲得率向上、</a:t>
            </a:r>
            <a:r>
              <a:rPr lang="en-US" altLang="ja-JP" sz="1400" dirty="0" err="1">
                <a:solidFill>
                  <a:srgbClr val="343434"/>
                </a:solidFill>
                <a:latin typeface="メイリオ" panose="020B0604030504040204" pitchFamily="50" charset="-128"/>
                <a:ea typeface="メイリオ" panose="020B0604030504040204" pitchFamily="50" charset="-128"/>
                <a:cs typeface="メイリオ"/>
              </a:rPr>
              <a:t>リピート率向上、売上向上に繋</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げ</a:t>
            </a:r>
            <a:r>
              <a:rPr lang="en-US" altLang="ja-JP" sz="1400" dirty="0">
                <a:solidFill>
                  <a:srgbClr val="343434"/>
                </a:solidFill>
                <a:latin typeface="メイリオ" panose="020B0604030504040204" pitchFamily="50" charset="-128"/>
                <a:ea typeface="メイリオ" panose="020B0604030504040204" pitchFamily="50" charset="-128"/>
                <a:cs typeface="メイリオ"/>
              </a:rPr>
              <a:t>る。</a:t>
            </a:r>
          </a:p>
        </p:txBody>
      </p:sp>
      <p:cxnSp>
        <p:nvCxnSpPr>
          <p:cNvPr id="5" name="直線コネクタ 4">
            <a:extLst>
              <a:ext uri="{FF2B5EF4-FFF2-40B4-BE49-F238E27FC236}">
                <a16:creationId xmlns:a16="http://schemas.microsoft.com/office/drawing/2014/main" id="{CA93CA45-604C-4C3A-A630-6604E0B4FD4A}"/>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grpSp>
        <p:nvGrpSpPr>
          <p:cNvPr id="6" name="Group 11">
            <a:extLst>
              <a:ext uri="{FF2B5EF4-FFF2-40B4-BE49-F238E27FC236}">
                <a16:creationId xmlns:a16="http://schemas.microsoft.com/office/drawing/2014/main" id="{FD51838A-D34F-466B-3A5A-09652D900BEB}"/>
              </a:ext>
            </a:extLst>
          </p:cNvPr>
          <p:cNvGrpSpPr/>
          <p:nvPr/>
        </p:nvGrpSpPr>
        <p:grpSpPr>
          <a:xfrm>
            <a:off x="3049695" y="2975186"/>
            <a:ext cx="1458934" cy="913844"/>
            <a:chOff x="0" y="0"/>
            <a:chExt cx="617887" cy="387031"/>
          </a:xfrm>
        </p:grpSpPr>
        <p:sp>
          <p:nvSpPr>
            <p:cNvPr id="8" name="Freeform 12">
              <a:extLst>
                <a:ext uri="{FF2B5EF4-FFF2-40B4-BE49-F238E27FC236}">
                  <a16:creationId xmlns:a16="http://schemas.microsoft.com/office/drawing/2014/main" id="{361A24A3-498E-8CCA-072B-BFF0D43720CF}"/>
                </a:ext>
              </a:extLst>
            </p:cNvPr>
            <p:cNvSpPr/>
            <p:nvPr/>
          </p:nvSpPr>
          <p:spPr>
            <a:xfrm>
              <a:off x="0" y="0"/>
              <a:ext cx="617887" cy="387031"/>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9" name="TextBox 13">
              <a:extLst>
                <a:ext uri="{FF2B5EF4-FFF2-40B4-BE49-F238E27FC236}">
                  <a16:creationId xmlns:a16="http://schemas.microsoft.com/office/drawing/2014/main" id="{2F7982DD-8DDE-BE65-D1C8-38F017EFAA9E}"/>
                </a:ext>
              </a:extLst>
            </p:cNvPr>
            <p:cNvSpPr txBox="1"/>
            <p:nvPr/>
          </p:nvSpPr>
          <p:spPr>
            <a:xfrm>
              <a:off x="0" y="-38100"/>
              <a:ext cx="617887"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10" name="AutoShape 14">
            <a:extLst>
              <a:ext uri="{FF2B5EF4-FFF2-40B4-BE49-F238E27FC236}">
                <a16:creationId xmlns:a16="http://schemas.microsoft.com/office/drawing/2014/main" id="{59178687-7B87-9112-285E-3FE124A7840D}"/>
              </a:ext>
            </a:extLst>
          </p:cNvPr>
          <p:cNvSpPr/>
          <p:nvPr/>
        </p:nvSpPr>
        <p:spPr>
          <a:xfrm flipV="1">
            <a:off x="637708" y="2862215"/>
            <a:ext cx="0" cy="3496153"/>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1" name="AutoShape 15">
            <a:extLst>
              <a:ext uri="{FF2B5EF4-FFF2-40B4-BE49-F238E27FC236}">
                <a16:creationId xmlns:a16="http://schemas.microsoft.com/office/drawing/2014/main" id="{2E944E85-C1E7-F939-7840-FEE3895A6217}"/>
              </a:ext>
            </a:extLst>
          </p:cNvPr>
          <p:cNvSpPr/>
          <p:nvPr/>
        </p:nvSpPr>
        <p:spPr>
          <a:xfrm>
            <a:off x="272396" y="6045613"/>
            <a:ext cx="4516804" cy="0"/>
          </a:xfrm>
          <a:prstGeom prst="line">
            <a:avLst/>
          </a:prstGeom>
          <a:ln w="19050" cap="flat">
            <a:solidFill>
              <a:srgbClr val="737373"/>
            </a:solidFill>
            <a:prstDash val="solid"/>
            <a:headEnd type="none" w="sm" len="sm"/>
            <a:tailEnd type="arrow" w="med"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grpSp>
        <p:nvGrpSpPr>
          <p:cNvPr id="12" name="Group 16">
            <a:extLst>
              <a:ext uri="{FF2B5EF4-FFF2-40B4-BE49-F238E27FC236}">
                <a16:creationId xmlns:a16="http://schemas.microsoft.com/office/drawing/2014/main" id="{ED4AC5BA-40AB-055B-93BE-A426AB6D2DD1}"/>
              </a:ext>
            </a:extLst>
          </p:cNvPr>
          <p:cNvGrpSpPr/>
          <p:nvPr/>
        </p:nvGrpSpPr>
        <p:grpSpPr>
          <a:xfrm>
            <a:off x="964199" y="2975186"/>
            <a:ext cx="1770851" cy="913844"/>
            <a:chOff x="0" y="0"/>
            <a:chExt cx="749990" cy="387031"/>
          </a:xfrm>
        </p:grpSpPr>
        <p:sp>
          <p:nvSpPr>
            <p:cNvPr id="13" name="Freeform 17">
              <a:extLst>
                <a:ext uri="{FF2B5EF4-FFF2-40B4-BE49-F238E27FC236}">
                  <a16:creationId xmlns:a16="http://schemas.microsoft.com/office/drawing/2014/main" id="{37852D43-B89A-3E8A-340C-86DBCB7EAE2C}"/>
                </a:ext>
              </a:extLst>
            </p:cNvPr>
            <p:cNvSpPr/>
            <p:nvPr/>
          </p:nvSpPr>
          <p:spPr>
            <a:xfrm>
              <a:off x="0" y="0"/>
              <a:ext cx="749990" cy="387031"/>
            </a:xfrm>
            <a:custGeom>
              <a:avLst/>
              <a:gdLst/>
              <a:ahLst/>
              <a:cxnLst/>
              <a:rect l="l" t="t" r="r" b="b"/>
              <a:pathLst>
                <a:path w="749990" h="387031">
                  <a:moveTo>
                    <a:pt x="0" y="0"/>
                  </a:moveTo>
                  <a:lnTo>
                    <a:pt x="749990" y="0"/>
                  </a:lnTo>
                  <a:lnTo>
                    <a:pt x="749990" y="387031"/>
                  </a:lnTo>
                  <a:lnTo>
                    <a:pt x="0" y="387031"/>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4" name="TextBox 18">
              <a:extLst>
                <a:ext uri="{FF2B5EF4-FFF2-40B4-BE49-F238E27FC236}">
                  <a16:creationId xmlns:a16="http://schemas.microsoft.com/office/drawing/2014/main" id="{0038C48A-D57E-4C03-47F9-21556A2A60B4}"/>
                </a:ext>
              </a:extLst>
            </p:cNvPr>
            <p:cNvSpPr txBox="1"/>
            <p:nvPr/>
          </p:nvSpPr>
          <p:spPr>
            <a:xfrm>
              <a:off x="0" y="-38100"/>
              <a:ext cx="749990" cy="425131"/>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5" name="Group 19">
            <a:extLst>
              <a:ext uri="{FF2B5EF4-FFF2-40B4-BE49-F238E27FC236}">
                <a16:creationId xmlns:a16="http://schemas.microsoft.com/office/drawing/2014/main" id="{3507EDCA-E3B7-016A-2C53-E70338EE7F9D}"/>
              </a:ext>
            </a:extLst>
          </p:cNvPr>
          <p:cNvGrpSpPr/>
          <p:nvPr/>
        </p:nvGrpSpPr>
        <p:grpSpPr>
          <a:xfrm>
            <a:off x="964199" y="4203123"/>
            <a:ext cx="1770851" cy="1544458"/>
            <a:chOff x="0" y="0"/>
            <a:chExt cx="749990" cy="654108"/>
          </a:xfrm>
        </p:grpSpPr>
        <p:sp>
          <p:nvSpPr>
            <p:cNvPr id="16" name="Freeform 20">
              <a:extLst>
                <a:ext uri="{FF2B5EF4-FFF2-40B4-BE49-F238E27FC236}">
                  <a16:creationId xmlns:a16="http://schemas.microsoft.com/office/drawing/2014/main" id="{EDDE50AF-2F17-77D4-19B1-742225FD70A2}"/>
                </a:ext>
              </a:extLst>
            </p:cNvPr>
            <p:cNvSpPr/>
            <p:nvPr/>
          </p:nvSpPr>
          <p:spPr>
            <a:xfrm>
              <a:off x="0" y="0"/>
              <a:ext cx="749990" cy="654108"/>
            </a:xfrm>
            <a:custGeom>
              <a:avLst/>
              <a:gdLst/>
              <a:ahLst/>
              <a:cxnLst/>
              <a:rect l="l" t="t" r="r" b="b"/>
              <a:pathLst>
                <a:path w="749990" h="654108">
                  <a:moveTo>
                    <a:pt x="0" y="0"/>
                  </a:moveTo>
                  <a:lnTo>
                    <a:pt x="749990" y="0"/>
                  </a:lnTo>
                  <a:lnTo>
                    <a:pt x="749990" y="654108"/>
                  </a:lnTo>
                  <a:lnTo>
                    <a:pt x="0" y="654108"/>
                  </a:lnTo>
                  <a:close/>
                </a:path>
              </a:pathLst>
            </a:custGeom>
            <a:solidFill>
              <a:srgbClr val="025D27"/>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17" name="TextBox 21">
              <a:extLst>
                <a:ext uri="{FF2B5EF4-FFF2-40B4-BE49-F238E27FC236}">
                  <a16:creationId xmlns:a16="http://schemas.microsoft.com/office/drawing/2014/main" id="{7F07540F-73B0-D716-1131-982594039AED}"/>
                </a:ext>
              </a:extLst>
            </p:cNvPr>
            <p:cNvSpPr txBox="1"/>
            <p:nvPr/>
          </p:nvSpPr>
          <p:spPr>
            <a:xfrm>
              <a:off x="0" y="-38100"/>
              <a:ext cx="749990"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18" name="Group 22">
            <a:extLst>
              <a:ext uri="{FF2B5EF4-FFF2-40B4-BE49-F238E27FC236}">
                <a16:creationId xmlns:a16="http://schemas.microsoft.com/office/drawing/2014/main" id="{281B028B-385E-F452-024D-8BB94F4D83B8}"/>
              </a:ext>
            </a:extLst>
          </p:cNvPr>
          <p:cNvGrpSpPr/>
          <p:nvPr/>
        </p:nvGrpSpPr>
        <p:grpSpPr>
          <a:xfrm>
            <a:off x="3049695" y="4203123"/>
            <a:ext cx="1458934" cy="1544458"/>
            <a:chOff x="0" y="0"/>
            <a:chExt cx="617887" cy="654108"/>
          </a:xfrm>
        </p:grpSpPr>
        <p:sp>
          <p:nvSpPr>
            <p:cNvPr id="19" name="Freeform 23">
              <a:extLst>
                <a:ext uri="{FF2B5EF4-FFF2-40B4-BE49-F238E27FC236}">
                  <a16:creationId xmlns:a16="http://schemas.microsoft.com/office/drawing/2014/main" id="{22B22B83-BF89-287F-782C-53EFBE5EE2C9}"/>
                </a:ext>
              </a:extLst>
            </p:cNvPr>
            <p:cNvSpPr/>
            <p:nvPr/>
          </p:nvSpPr>
          <p:spPr>
            <a:xfrm>
              <a:off x="0" y="0"/>
              <a:ext cx="617887" cy="654108"/>
            </a:xfrm>
            <a:custGeom>
              <a:avLst/>
              <a:gdLst/>
              <a:ahLst/>
              <a:cxnLst/>
              <a:rect l="l" t="t" r="r" b="b"/>
              <a:pathLst>
                <a:path w="617887" h="654108">
                  <a:moveTo>
                    <a:pt x="0" y="0"/>
                  </a:moveTo>
                  <a:lnTo>
                    <a:pt x="617887" y="0"/>
                  </a:lnTo>
                  <a:lnTo>
                    <a:pt x="617887" y="654108"/>
                  </a:lnTo>
                  <a:lnTo>
                    <a:pt x="0" y="654108"/>
                  </a:lnTo>
                  <a:close/>
                </a:path>
              </a:pathLst>
            </a:custGeom>
            <a:solidFill>
              <a:srgbClr val="7BD47C"/>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0" name="TextBox 24">
              <a:extLst>
                <a:ext uri="{FF2B5EF4-FFF2-40B4-BE49-F238E27FC236}">
                  <a16:creationId xmlns:a16="http://schemas.microsoft.com/office/drawing/2014/main" id="{9342B319-ADE7-C21F-2EC5-DC47280C7AA5}"/>
                </a:ext>
              </a:extLst>
            </p:cNvPr>
            <p:cNvSpPr txBox="1"/>
            <p:nvPr/>
          </p:nvSpPr>
          <p:spPr>
            <a:xfrm>
              <a:off x="0" y="-38100"/>
              <a:ext cx="617887" cy="692208"/>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grpSp>
        <p:nvGrpSpPr>
          <p:cNvPr id="21" name="Group 25">
            <a:extLst>
              <a:ext uri="{FF2B5EF4-FFF2-40B4-BE49-F238E27FC236}">
                <a16:creationId xmlns:a16="http://schemas.microsoft.com/office/drawing/2014/main" id="{269BA4E8-CBA1-17CF-4B27-5586E44C9042}"/>
              </a:ext>
            </a:extLst>
          </p:cNvPr>
          <p:cNvGrpSpPr/>
          <p:nvPr/>
        </p:nvGrpSpPr>
        <p:grpSpPr>
          <a:xfrm rot="5400000">
            <a:off x="5145798" y="3131429"/>
            <a:ext cx="301414" cy="601358"/>
            <a:chOff x="0" y="0"/>
            <a:chExt cx="452282" cy="902360"/>
          </a:xfrm>
        </p:grpSpPr>
        <p:sp>
          <p:nvSpPr>
            <p:cNvPr id="22"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24" name="TextBox 28">
            <a:extLst>
              <a:ext uri="{FF2B5EF4-FFF2-40B4-BE49-F238E27FC236}">
                <a16:creationId xmlns:a16="http://schemas.microsoft.com/office/drawing/2014/main" id="{5E157642-2D9B-689A-C2B2-A7717A07260A}"/>
              </a:ext>
            </a:extLst>
          </p:cNvPr>
          <p:cNvSpPr txBox="1"/>
          <p:nvPr/>
        </p:nvSpPr>
        <p:spPr>
          <a:xfrm>
            <a:off x="239660" y="4103553"/>
            <a:ext cx="187572" cy="654025"/>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必要性</a:t>
            </a:r>
          </a:p>
        </p:txBody>
      </p:sp>
      <p:sp>
        <p:nvSpPr>
          <p:cNvPr id="25" name="TextBox 29">
            <a:extLst>
              <a:ext uri="{FF2B5EF4-FFF2-40B4-BE49-F238E27FC236}">
                <a16:creationId xmlns:a16="http://schemas.microsoft.com/office/drawing/2014/main" id="{E542051B-CCE6-131D-3645-4C3C8932C9AF}"/>
              </a:ext>
            </a:extLst>
          </p:cNvPr>
          <p:cNvSpPr txBox="1"/>
          <p:nvPr/>
        </p:nvSpPr>
        <p:spPr>
          <a:xfrm>
            <a:off x="2530798" y="6132696"/>
            <a:ext cx="633665" cy="218008"/>
          </a:xfrm>
          <a:prstGeom prst="rect">
            <a:avLst/>
          </a:prstGeom>
        </p:spPr>
        <p:txBody>
          <a:bodyPr wrap="square" lIns="0" tIns="0" rIns="0" bIns="0" rtlCol="0" anchor="t">
            <a:spAutoFit/>
          </a:bodyPr>
          <a:lstStyle/>
          <a:p>
            <a:pPr>
              <a:lnSpc>
                <a:spcPts val="1741"/>
              </a:lnSpc>
              <a:spcBef>
                <a:spcPct val="0"/>
              </a:spcBef>
            </a:pPr>
            <a:r>
              <a:rPr lang="en-US" sz="1243" b="1">
                <a:solidFill>
                  <a:srgbClr val="494848"/>
                </a:solidFill>
                <a:latin typeface="メイリオ" panose="020B0604030504040204" pitchFamily="50" charset="-128"/>
                <a:ea typeface="メイリオ" panose="020B0604030504040204" pitchFamily="50" charset="-128"/>
                <a:cs typeface="メイリオ"/>
              </a:rPr>
              <a:t>緊急性</a:t>
            </a:r>
          </a:p>
        </p:txBody>
      </p:sp>
      <p:sp>
        <p:nvSpPr>
          <p:cNvPr id="26" name="TextBox 30">
            <a:extLst>
              <a:ext uri="{FF2B5EF4-FFF2-40B4-BE49-F238E27FC236}">
                <a16:creationId xmlns:a16="http://schemas.microsoft.com/office/drawing/2014/main" id="{789AA7FE-BAB1-3DE7-B600-0D2687AE8FEF}"/>
              </a:ext>
            </a:extLst>
          </p:cNvPr>
          <p:cNvSpPr txBox="1"/>
          <p:nvPr/>
        </p:nvSpPr>
        <p:spPr>
          <a:xfrm>
            <a:off x="3462330" y="3120281"/>
            <a:ext cx="633665"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今すぐ客</a:t>
            </a:r>
          </a:p>
        </p:txBody>
      </p:sp>
      <p:sp>
        <p:nvSpPr>
          <p:cNvPr id="27" name="TextBox 31">
            <a:extLst>
              <a:ext uri="{FF2B5EF4-FFF2-40B4-BE49-F238E27FC236}">
                <a16:creationId xmlns:a16="http://schemas.microsoft.com/office/drawing/2014/main" id="{95B912FE-88DA-75EB-2906-07FA329A9879}"/>
              </a:ext>
            </a:extLst>
          </p:cNvPr>
          <p:cNvSpPr txBox="1"/>
          <p:nvPr/>
        </p:nvSpPr>
        <p:spPr>
          <a:xfrm>
            <a:off x="1381753" y="311530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そのうち客</a:t>
            </a:r>
          </a:p>
        </p:txBody>
      </p:sp>
      <p:sp>
        <p:nvSpPr>
          <p:cNvPr id="28" name="TextBox 32">
            <a:extLst>
              <a:ext uri="{FF2B5EF4-FFF2-40B4-BE49-F238E27FC236}">
                <a16:creationId xmlns:a16="http://schemas.microsoft.com/office/drawing/2014/main" id="{59D328C3-F2B3-6E79-96BF-D71386F2B39C}"/>
              </a:ext>
            </a:extLst>
          </p:cNvPr>
          <p:cNvSpPr txBox="1"/>
          <p:nvPr/>
        </p:nvSpPr>
        <p:spPr>
          <a:xfrm>
            <a:off x="1415156"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FFFFFF"/>
                </a:solidFill>
                <a:latin typeface="メイリオ" panose="020B0604030504040204" pitchFamily="50" charset="-128"/>
                <a:ea typeface="メイリオ" panose="020B0604030504040204" pitchFamily="50" charset="-128"/>
                <a:cs typeface="メイリオ"/>
              </a:rPr>
              <a:t>まだまだ客</a:t>
            </a:r>
          </a:p>
        </p:txBody>
      </p:sp>
      <p:sp>
        <p:nvSpPr>
          <p:cNvPr id="29" name="TextBox 33">
            <a:extLst>
              <a:ext uri="{FF2B5EF4-FFF2-40B4-BE49-F238E27FC236}">
                <a16:creationId xmlns:a16="http://schemas.microsoft.com/office/drawing/2014/main" id="{877B9BED-D0F9-E0E6-43A4-64BB48000261}"/>
              </a:ext>
            </a:extLst>
          </p:cNvPr>
          <p:cNvSpPr txBox="1"/>
          <p:nvPr/>
        </p:nvSpPr>
        <p:spPr>
          <a:xfrm>
            <a:off x="3344694" y="4384620"/>
            <a:ext cx="868938" cy="218008"/>
          </a:xfrm>
          <a:prstGeom prst="rect">
            <a:avLst/>
          </a:prstGeom>
        </p:spPr>
        <p:txBody>
          <a:bodyPr wrap="square" lIns="0" tIns="0" rIns="0" bIns="0" rtlCol="0" anchor="t">
            <a:spAutoFit/>
          </a:bodyPr>
          <a:lstStyle/>
          <a:p>
            <a:pPr algn="ctr">
              <a:lnSpc>
                <a:spcPts val="1741"/>
              </a:lnSpc>
              <a:spcBef>
                <a:spcPct val="0"/>
              </a:spcBef>
            </a:pPr>
            <a:r>
              <a:rPr lang="en-US" sz="1243">
                <a:solidFill>
                  <a:srgbClr val="494848"/>
                </a:solidFill>
                <a:latin typeface="メイリオ" panose="020B0604030504040204" pitchFamily="50" charset="-128"/>
                <a:ea typeface="メイリオ" panose="020B0604030504040204" pitchFamily="50" charset="-128"/>
                <a:cs typeface="メイリオ"/>
              </a:rPr>
              <a:t>お悩み客</a:t>
            </a:r>
          </a:p>
        </p:txBody>
      </p:sp>
      <p:sp>
        <p:nvSpPr>
          <p:cNvPr id="30" name="TextBox 34">
            <a:extLst>
              <a:ext uri="{FF2B5EF4-FFF2-40B4-BE49-F238E27FC236}">
                <a16:creationId xmlns:a16="http://schemas.microsoft.com/office/drawing/2014/main" id="{0401D261-C9B9-D74A-1CE2-30812B0B4154}"/>
              </a:ext>
            </a:extLst>
          </p:cNvPr>
          <p:cNvSpPr txBox="1"/>
          <p:nvPr/>
        </p:nvSpPr>
        <p:spPr>
          <a:xfrm>
            <a:off x="3462330" y="3384483"/>
            <a:ext cx="633665" cy="282129"/>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1-2％</a:t>
            </a:r>
          </a:p>
        </p:txBody>
      </p:sp>
      <p:sp>
        <p:nvSpPr>
          <p:cNvPr id="31" name="TextBox 35">
            <a:extLst>
              <a:ext uri="{FF2B5EF4-FFF2-40B4-BE49-F238E27FC236}">
                <a16:creationId xmlns:a16="http://schemas.microsoft.com/office/drawing/2014/main" id="{D2A4C54E-2F37-07C2-DE48-A2E382EA3FF7}"/>
              </a:ext>
            </a:extLst>
          </p:cNvPr>
          <p:cNvSpPr txBox="1"/>
          <p:nvPr/>
        </p:nvSpPr>
        <p:spPr>
          <a:xfrm>
            <a:off x="1385749" y="3384483"/>
            <a:ext cx="927750" cy="564257"/>
          </a:xfrm>
          <a:prstGeom prst="rect">
            <a:avLst/>
          </a:prstGeom>
        </p:spPr>
        <p:txBody>
          <a:bodyPr wrap="square" lIns="0" tIns="0" rIns="0" bIns="0" rtlCol="0" anchor="t">
            <a:spAutoFit/>
          </a:bodyPr>
          <a:lstStyle/>
          <a:p>
            <a:pPr algn="ctr">
              <a:lnSpc>
                <a:spcPts val="2176"/>
              </a:lnSpc>
              <a:spcBef>
                <a:spcPct val="0"/>
              </a:spcBef>
            </a:pPr>
            <a:r>
              <a:rPr lang="en-US" altLang="ja-JP" sz="1554" dirty="0">
                <a:solidFill>
                  <a:srgbClr val="494848"/>
                </a:solidFill>
                <a:latin typeface="メイリオ" panose="020B0604030504040204" pitchFamily="50" charset="-128"/>
                <a:ea typeface="メイリオ" panose="020B0604030504040204" pitchFamily="50" charset="-128"/>
                <a:cs typeface="メイリオ"/>
              </a:rPr>
              <a:t>9-</a:t>
            </a:r>
            <a:r>
              <a:rPr lang="en-US" sz="1554" dirty="0">
                <a:solidFill>
                  <a:srgbClr val="494848"/>
                </a:solidFill>
                <a:latin typeface="メイリオ" panose="020B0604030504040204" pitchFamily="50" charset="-128"/>
                <a:ea typeface="メイリオ" panose="020B0604030504040204" pitchFamily="50" charset="-128"/>
                <a:cs typeface="メイリオ"/>
              </a:rPr>
              <a:t>9.5％</a:t>
            </a:r>
          </a:p>
        </p:txBody>
      </p:sp>
      <p:sp>
        <p:nvSpPr>
          <p:cNvPr id="32" name="TextBox 36">
            <a:extLst>
              <a:ext uri="{FF2B5EF4-FFF2-40B4-BE49-F238E27FC236}">
                <a16:creationId xmlns:a16="http://schemas.microsoft.com/office/drawing/2014/main" id="{E5AC4649-00C6-4888-D80C-1A7202D4D61C}"/>
              </a:ext>
            </a:extLst>
          </p:cNvPr>
          <p:cNvSpPr txBox="1"/>
          <p:nvPr/>
        </p:nvSpPr>
        <p:spPr>
          <a:xfrm>
            <a:off x="3315287" y="4823293"/>
            <a:ext cx="927750" cy="564257"/>
          </a:xfrm>
          <a:prstGeom prst="rect">
            <a:avLst/>
          </a:prstGeom>
        </p:spPr>
        <p:txBody>
          <a:bodyPr wrap="square" lIns="0" tIns="0" rIns="0" bIns="0" rtlCol="0" anchor="t">
            <a:spAutoFit/>
          </a:bodyPr>
          <a:lstStyle/>
          <a:p>
            <a:pPr algn="ctr">
              <a:lnSpc>
                <a:spcPts val="2176"/>
              </a:lnSpc>
              <a:spcBef>
                <a:spcPct val="0"/>
              </a:spcBef>
            </a:pPr>
            <a:r>
              <a:rPr lang="en-US" sz="1554" dirty="0">
                <a:solidFill>
                  <a:srgbClr val="494848"/>
                </a:solidFill>
                <a:latin typeface="メイリオ" panose="020B0604030504040204" pitchFamily="50" charset="-128"/>
                <a:ea typeface="メイリオ" panose="020B0604030504040204" pitchFamily="50" charset="-128"/>
                <a:cs typeface="メイリオ"/>
              </a:rPr>
              <a:t>9-9.5％</a:t>
            </a:r>
          </a:p>
        </p:txBody>
      </p:sp>
      <p:sp>
        <p:nvSpPr>
          <p:cNvPr id="33" name="TextBox 37">
            <a:extLst>
              <a:ext uri="{FF2B5EF4-FFF2-40B4-BE49-F238E27FC236}">
                <a16:creationId xmlns:a16="http://schemas.microsoft.com/office/drawing/2014/main" id="{F710B60A-9E92-C96A-5B26-805DEEDE4E80}"/>
              </a:ext>
            </a:extLst>
          </p:cNvPr>
          <p:cNvSpPr txBox="1"/>
          <p:nvPr/>
        </p:nvSpPr>
        <p:spPr>
          <a:xfrm>
            <a:off x="1532792" y="4823293"/>
            <a:ext cx="633665" cy="282129"/>
          </a:xfrm>
          <a:prstGeom prst="rect">
            <a:avLst/>
          </a:prstGeom>
        </p:spPr>
        <p:txBody>
          <a:bodyPr wrap="square" lIns="0" tIns="0" rIns="0" bIns="0" rtlCol="0" anchor="t">
            <a:spAutoFit/>
          </a:bodyPr>
          <a:lstStyle/>
          <a:p>
            <a:pPr algn="ctr">
              <a:lnSpc>
                <a:spcPts val="2176"/>
              </a:lnSpc>
              <a:spcBef>
                <a:spcPct val="0"/>
              </a:spcBef>
            </a:pPr>
            <a:r>
              <a:rPr lang="en-US" sz="1554">
                <a:solidFill>
                  <a:srgbClr val="FFFFFF"/>
                </a:solidFill>
                <a:latin typeface="メイリオ" panose="020B0604030504040204" pitchFamily="50" charset="-128"/>
                <a:ea typeface="メイリオ" panose="020B0604030504040204" pitchFamily="50" charset="-128"/>
                <a:cs typeface="メイリオ"/>
              </a:rPr>
              <a:t>80％</a:t>
            </a:r>
          </a:p>
        </p:txBody>
      </p:sp>
      <p:sp>
        <p:nvSpPr>
          <p:cNvPr id="34" name="TextBox 38">
            <a:extLst>
              <a:ext uri="{FF2B5EF4-FFF2-40B4-BE49-F238E27FC236}">
                <a16:creationId xmlns:a16="http://schemas.microsoft.com/office/drawing/2014/main" id="{5DBC0D5A-D55C-257A-51E2-CC2A6B58B8CE}"/>
              </a:ext>
            </a:extLst>
          </p:cNvPr>
          <p:cNvSpPr txBox="1"/>
          <p:nvPr/>
        </p:nvSpPr>
        <p:spPr>
          <a:xfrm>
            <a:off x="5800858" y="3159765"/>
            <a:ext cx="3788946" cy="539891"/>
          </a:xfrm>
          <a:prstGeom prst="rect">
            <a:avLst/>
          </a:prstGeom>
        </p:spPr>
        <p:txBody>
          <a:bodyPr wrap="square" lIns="0" tIns="0" rIns="0" bIns="0" rtlCol="0" anchor="t">
            <a:spAutoFit/>
          </a:bodyPr>
          <a:lstStyle/>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en-US" sz="1200" b="1" dirty="0" err="1">
                <a:solidFill>
                  <a:srgbClr val="494848"/>
                </a:solidFill>
                <a:latin typeface="メイリオ" panose="020B0604030504040204" pitchFamily="50" charset="-128"/>
                <a:ea typeface="メイリオ" panose="020B0604030504040204" pitchFamily="50" charset="-128"/>
                <a:cs typeface="メイリオ"/>
              </a:rPr>
              <a:t>今すぐ</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客」を高い広告費を投資して獲得する</a:t>
            </a:r>
            <a:r>
              <a:rPr lang="ja-JP" altLang="en-US" sz="1200" b="1" dirty="0" err="1">
                <a:solidFill>
                  <a:srgbClr val="494848"/>
                </a:solidFill>
                <a:latin typeface="メイリオ" panose="020B0604030504040204" pitchFamily="50" charset="-128"/>
                <a:ea typeface="メイリオ" panose="020B0604030504040204" pitchFamily="50" charset="-128"/>
                <a:cs typeface="メイリオ"/>
              </a:rPr>
              <a:t>のは</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リスクが大きい。</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6" name="Freeform 40">
            <a:extLst>
              <a:ext uri="{FF2B5EF4-FFF2-40B4-BE49-F238E27FC236}">
                <a16:creationId xmlns:a16="http://schemas.microsoft.com/office/drawing/2014/main" id="{5A77A5D7-0DDE-21C2-51A5-84842B7243A6}"/>
              </a:ext>
            </a:extLst>
          </p:cNvPr>
          <p:cNvSpPr/>
          <p:nvPr/>
        </p:nvSpPr>
        <p:spPr>
          <a:xfrm rot="5400000">
            <a:off x="5145798" y="4206671"/>
            <a:ext cx="301414" cy="601358"/>
          </a:xfrm>
          <a:custGeom>
            <a:avLst/>
            <a:gdLst/>
            <a:ahLst/>
            <a:cxnLst/>
            <a:rect l="l" t="t" r="r" b="b"/>
            <a:pathLst>
              <a:path w="452282" h="902360">
                <a:moveTo>
                  <a:pt x="226141" y="0"/>
                </a:moveTo>
                <a:lnTo>
                  <a:pt x="452282" y="902360"/>
                </a:lnTo>
                <a:lnTo>
                  <a:pt x="0" y="902360"/>
                </a:lnTo>
                <a:lnTo>
                  <a:pt x="226141" y="0"/>
                </a:lnTo>
                <a:close/>
              </a:path>
            </a:pathLst>
          </a:custGeom>
          <a:solidFill>
            <a:srgbClr val="00FF00"/>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TextBox 42">
            <a:extLst>
              <a:ext uri="{FF2B5EF4-FFF2-40B4-BE49-F238E27FC236}">
                <a16:creationId xmlns:a16="http://schemas.microsoft.com/office/drawing/2014/main" id="{8A119429-976A-2BD7-EDD0-0C402786F523}"/>
              </a:ext>
            </a:extLst>
          </p:cNvPr>
          <p:cNvSpPr txBox="1"/>
          <p:nvPr/>
        </p:nvSpPr>
        <p:spPr>
          <a:xfrm>
            <a:off x="5800858" y="4237404"/>
            <a:ext cx="3889580" cy="539891"/>
          </a:xfrm>
          <a:prstGeom prst="rect">
            <a:avLst/>
          </a:prstGeom>
        </p:spPr>
        <p:txBody>
          <a:bodyPr wrap="square" lIns="0" tIns="0" rIns="0" bIns="0" rtlCol="0" anchor="t">
            <a:spAutoFit/>
          </a:bodyPr>
          <a:lstStyle/>
          <a:p>
            <a:pPr>
              <a:lnSpc>
                <a:spcPts val="2176"/>
              </a:lnSpc>
            </a:pPr>
            <a:r>
              <a:rPr lang="en-US" sz="1200" b="1" dirty="0" err="1">
                <a:solidFill>
                  <a:srgbClr val="494848"/>
                </a:solidFill>
                <a:latin typeface="メイリオ" panose="020B0604030504040204" pitchFamily="50" charset="-128"/>
                <a:ea typeface="メイリオ" panose="020B0604030504040204" pitchFamily="50" charset="-128"/>
                <a:cs typeface="メイリオ"/>
              </a:rPr>
              <a:t>リストとして獲得するだけでなく</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sz="1200" b="1" dirty="0">
                <a:solidFill>
                  <a:srgbClr val="494848"/>
                </a:solidFill>
                <a:latin typeface="メイリオ" panose="020B0604030504040204" pitchFamily="50" charset="-128"/>
                <a:ea typeface="メイリオ" panose="020B0604030504040204" pitchFamily="50" charset="-128"/>
                <a:cs typeface="メイリオ"/>
              </a:rPr>
              <a:t>「</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将来的な顧</a:t>
            </a:r>
            <a:r>
              <a:rPr lang="en-US" sz="1200" b="1" dirty="0" err="1">
                <a:solidFill>
                  <a:srgbClr val="494848"/>
                </a:solidFill>
                <a:latin typeface="メイリオ" panose="020B0604030504040204" pitchFamily="50" charset="-128"/>
                <a:ea typeface="メイリオ" panose="020B0604030504040204" pitchFamily="50" charset="-128"/>
                <a:cs typeface="メイリオ"/>
              </a:rPr>
              <a:t>客」教育をLINE</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上で構築し</a:t>
            </a:r>
            <a:r>
              <a:rPr lang="en-US" sz="1200" b="1" dirty="0">
                <a:solidFill>
                  <a:srgbClr val="494848"/>
                </a:solidFill>
                <a:latin typeface="メイリオ" panose="020B0604030504040204" pitchFamily="50" charset="-128"/>
                <a:ea typeface="メイリオ" panose="020B0604030504040204" pitchFamily="50" charset="-128"/>
                <a:cs typeface="メイリオ"/>
              </a:rPr>
              <a:t>行</a:t>
            </a:r>
            <a:r>
              <a:rPr lang="ja-JP" altLang="en-US" sz="1200" b="1" dirty="0">
                <a:solidFill>
                  <a:srgbClr val="494848"/>
                </a:solidFill>
                <a:latin typeface="メイリオ" panose="020B0604030504040204" pitchFamily="50" charset="-128"/>
                <a:ea typeface="メイリオ" panose="020B0604030504040204" pitchFamily="50" charset="-128"/>
                <a:cs typeface="メイリオ"/>
              </a:rPr>
              <a:t>う。</a:t>
            </a:r>
            <a:endParaRPr lang="en-US"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39" name="AutoShape 43">
            <a:extLst>
              <a:ext uri="{FF2B5EF4-FFF2-40B4-BE49-F238E27FC236}">
                <a16:creationId xmlns:a16="http://schemas.microsoft.com/office/drawing/2014/main" id="{BAFE21F2-B11C-C6C6-4A68-B44BBEB51A4E}"/>
              </a:ext>
            </a:extLst>
          </p:cNvPr>
          <p:cNvSpPr/>
          <p:nvPr/>
        </p:nvSpPr>
        <p:spPr>
          <a:xfrm>
            <a:off x="837672" y="2859077"/>
            <a:ext cx="2060521"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AutoShape 44">
            <a:extLst>
              <a:ext uri="{FF2B5EF4-FFF2-40B4-BE49-F238E27FC236}">
                <a16:creationId xmlns:a16="http://schemas.microsoft.com/office/drawing/2014/main" id="{2CDA6644-C37D-611D-E0EA-EDDC28827BA0}"/>
              </a:ext>
            </a:extLst>
          </p:cNvPr>
          <p:cNvSpPr/>
          <p:nvPr/>
        </p:nvSpPr>
        <p:spPr>
          <a:xfrm>
            <a:off x="828963" y="5877316"/>
            <a:ext cx="3810830"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1" name="AutoShape 45">
            <a:extLst>
              <a:ext uri="{FF2B5EF4-FFF2-40B4-BE49-F238E27FC236}">
                <a16:creationId xmlns:a16="http://schemas.microsoft.com/office/drawing/2014/main" id="{1127F3C8-7A7B-61A4-7E40-223286E1D74F}"/>
              </a:ext>
            </a:extLst>
          </p:cNvPr>
          <p:cNvSpPr/>
          <p:nvPr/>
        </p:nvSpPr>
        <p:spPr>
          <a:xfrm>
            <a:off x="2889484" y="4056689"/>
            <a:ext cx="1750309" cy="0"/>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2" name="AutoShape 46">
            <a:extLst>
              <a:ext uri="{FF2B5EF4-FFF2-40B4-BE49-F238E27FC236}">
                <a16:creationId xmlns:a16="http://schemas.microsoft.com/office/drawing/2014/main" id="{67E01EC4-C522-4365-750F-36BD973DD207}"/>
              </a:ext>
            </a:extLst>
          </p:cNvPr>
          <p:cNvSpPr/>
          <p:nvPr/>
        </p:nvSpPr>
        <p:spPr>
          <a:xfrm>
            <a:off x="4639793" y="4062682"/>
            <a:ext cx="0" cy="1826059"/>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3" name="AutoShape 47">
            <a:extLst>
              <a:ext uri="{FF2B5EF4-FFF2-40B4-BE49-F238E27FC236}">
                <a16:creationId xmlns:a16="http://schemas.microsoft.com/office/drawing/2014/main" id="{3E4AE2CB-A28C-E78F-2537-02549A8EA7AB}"/>
              </a:ext>
            </a:extLst>
          </p:cNvPr>
          <p:cNvSpPr/>
          <p:nvPr/>
        </p:nvSpPr>
        <p:spPr>
          <a:xfrm>
            <a:off x="2901330" y="2853320"/>
            <a:ext cx="0" cy="1217836"/>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AutoShape 48">
            <a:extLst>
              <a:ext uri="{FF2B5EF4-FFF2-40B4-BE49-F238E27FC236}">
                <a16:creationId xmlns:a16="http://schemas.microsoft.com/office/drawing/2014/main" id="{BDF7967C-8276-F30B-0E4E-4BFC7A91F312}"/>
              </a:ext>
            </a:extLst>
          </p:cNvPr>
          <p:cNvSpPr/>
          <p:nvPr/>
        </p:nvSpPr>
        <p:spPr>
          <a:xfrm>
            <a:off x="840809" y="2862215"/>
            <a:ext cx="0" cy="3015101"/>
          </a:xfrm>
          <a:prstGeom prst="line">
            <a:avLst/>
          </a:prstGeom>
          <a:ln w="19050" cap="flat">
            <a:solidFill>
              <a:srgbClr val="B0EDC9"/>
            </a:solidFill>
            <a:prstDash val="solid"/>
            <a:headEnd type="none" w="sm" len="sm"/>
            <a:tailEnd type="none" w="sm" len="sm"/>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Google Shape;156;p7"/>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pSp>
        <p:nvGrpSpPr>
          <p:cNvPr id="2" name="Group 25">
            <a:extLst>
              <a:ext uri="{FF2B5EF4-FFF2-40B4-BE49-F238E27FC236}">
                <a16:creationId xmlns:a16="http://schemas.microsoft.com/office/drawing/2014/main" id="{B0E7D26F-11A3-5FBC-5353-A2EB828FFE48}"/>
              </a:ext>
            </a:extLst>
          </p:cNvPr>
          <p:cNvGrpSpPr/>
          <p:nvPr/>
        </p:nvGrpSpPr>
        <p:grpSpPr>
          <a:xfrm rot="5400000">
            <a:off x="5145798" y="5317353"/>
            <a:ext cx="301414" cy="601358"/>
            <a:chOff x="0" y="0"/>
            <a:chExt cx="452282" cy="902360"/>
          </a:xfrm>
        </p:grpSpPr>
        <p:sp>
          <p:nvSpPr>
            <p:cNvPr id="35" name="Freeform 26">
              <a:extLst>
                <a:ext uri="{FF2B5EF4-FFF2-40B4-BE49-F238E27FC236}">
                  <a16:creationId xmlns:a16="http://schemas.microsoft.com/office/drawing/2014/main" id="{CDCF4F9F-A96D-47F0-B2E9-BCCD3E29956A}"/>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7" name="TextBox 27">
              <a:extLst>
                <a:ext uri="{FF2B5EF4-FFF2-40B4-BE49-F238E27FC236}">
                  <a16:creationId xmlns:a16="http://schemas.microsoft.com/office/drawing/2014/main" id="{6966F572-AC3F-D92B-3752-A94BD979EB99}"/>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64F1097F-60BC-270D-2F02-2726FEAC05DF}"/>
              </a:ext>
            </a:extLst>
          </p:cNvPr>
          <p:cNvSpPr txBox="1"/>
          <p:nvPr/>
        </p:nvSpPr>
        <p:spPr>
          <a:xfrm>
            <a:off x="5800858" y="5349271"/>
            <a:ext cx="3788946" cy="539891"/>
          </a:xfrm>
          <a:prstGeom prst="rect">
            <a:avLst/>
          </a:prstGeom>
        </p:spPr>
        <p:txBody>
          <a:bodyPr wrap="square" lIns="0" tIns="0" rIns="0" bIns="0" rtlCol="0" anchor="t">
            <a:spAutoFit/>
          </a:bodyPr>
          <a:lstStyle/>
          <a:p>
            <a:pPr>
              <a:lnSpc>
                <a:spcPts val="2176"/>
              </a:lnSpc>
            </a:pPr>
            <a:r>
              <a:rPr lang="ja-JP" altLang="en-US" sz="1200" b="1" dirty="0">
                <a:solidFill>
                  <a:srgbClr val="494848"/>
                </a:solidFill>
                <a:latin typeface="メイリオ" panose="020B0604030504040204" pitchFamily="50" charset="-128"/>
                <a:ea typeface="メイリオ" panose="020B0604030504040204" pitchFamily="50" charset="-128"/>
                <a:cs typeface="メイリオ"/>
              </a:rPr>
              <a:t>広告審査がないうえに、ユーザー接点を早めることで大量かつ高効率での獲得を見込むことが出来る。</a:t>
            </a:r>
            <a:endParaRPr lang="en-US" altLang="ja-JP" sz="1200" b="1" dirty="0">
              <a:solidFill>
                <a:srgbClr val="494848"/>
              </a:solidFill>
              <a:latin typeface="メイリオ" panose="020B0604030504040204" pitchFamily="50" charset="-128"/>
              <a:ea typeface="メイリオ" panose="020B0604030504040204" pitchFamily="50" charset="-128"/>
              <a:cs typeface="メイリオ"/>
            </a:endParaRPr>
          </a:p>
        </p:txBody>
      </p:sp>
      <p:sp>
        <p:nvSpPr>
          <p:cNvPr id="67" name="正方形/長方形 66">
            <a:extLst>
              <a:ext uri="{FF2B5EF4-FFF2-40B4-BE49-F238E27FC236}">
                <a16:creationId xmlns:a16="http://schemas.microsoft.com/office/drawing/2014/main" id="{77B39B6D-C944-4A06-0278-EC4EB8161426}"/>
              </a:ext>
            </a:extLst>
          </p:cNvPr>
          <p:cNvSpPr/>
          <p:nvPr/>
        </p:nvSpPr>
        <p:spPr>
          <a:xfrm>
            <a:off x="0" y="1550126"/>
            <a:ext cx="9906000" cy="9981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9" name="正方形/長方形 68">
            <a:extLst>
              <a:ext uri="{FF2B5EF4-FFF2-40B4-BE49-F238E27FC236}">
                <a16:creationId xmlns:a16="http://schemas.microsoft.com/office/drawing/2014/main" id="{5E7B95DC-CC66-6E85-612E-16DD030F6207}"/>
              </a:ext>
            </a:extLst>
          </p:cNvPr>
          <p:cNvSpPr/>
          <p:nvPr/>
        </p:nvSpPr>
        <p:spPr>
          <a:xfrm>
            <a:off x="1415156" y="1777768"/>
            <a:ext cx="3135795" cy="523220"/>
          </a:xfrm>
          <a:prstGeom prst="rect">
            <a:avLst/>
          </a:prstGeom>
        </p:spPr>
        <p:txBody>
          <a:bodyPr wrap="none">
            <a:spAutoFit/>
          </a:bodyPr>
          <a:lstStyle/>
          <a:p>
            <a:pPr algn="ctr"/>
            <a:r>
              <a:rPr lang="en-US" altLang="ja-JP" sz="1400" dirty="0">
                <a:latin typeface="メイリオ"/>
                <a:ea typeface="メイリオ"/>
                <a:cs typeface="メイリオ"/>
                <a:sym typeface="Meiryo"/>
              </a:rPr>
              <a:t>WEB</a:t>
            </a:r>
            <a:r>
              <a:rPr lang="ja-JP" altLang="en-US" sz="1400" dirty="0">
                <a:latin typeface="メイリオ"/>
                <a:ea typeface="メイリオ"/>
                <a:cs typeface="メイリオ"/>
                <a:sym typeface="Meiryo"/>
              </a:rPr>
              <a:t>広告における</a:t>
            </a:r>
            <a:r>
              <a:rPr lang="ja-JP" altLang="en-US" sz="1400" b="1" dirty="0">
                <a:latin typeface="メイリオ"/>
                <a:ea typeface="メイリオ"/>
                <a:cs typeface="メイリオ"/>
                <a:sym typeface="Meiryo"/>
              </a:rPr>
              <a:t>競合性が高</a:t>
            </a:r>
            <a:r>
              <a:rPr lang="ja-JP" altLang="en-US" sz="1400" dirty="0">
                <a:latin typeface="メイリオ"/>
                <a:ea typeface="メイリオ"/>
                <a:cs typeface="メイリオ"/>
                <a:sym typeface="Meiryo"/>
              </a:rPr>
              <a:t>くなり</a:t>
            </a:r>
            <a:endParaRPr lang="en-US" altLang="ja-JP" sz="1400" dirty="0">
              <a:latin typeface="メイリオ"/>
              <a:ea typeface="メイリオ"/>
              <a:cs typeface="メイリオ"/>
              <a:sym typeface="Meiryo"/>
            </a:endParaRPr>
          </a:p>
          <a:p>
            <a:pPr algn="ctr"/>
            <a:r>
              <a:rPr lang="ja-JP" altLang="en-US" sz="1400" b="1" dirty="0">
                <a:solidFill>
                  <a:srgbClr val="1F2A5C"/>
                </a:solidFill>
                <a:latin typeface="メイリオ"/>
                <a:ea typeface="メイリオ"/>
                <a:cs typeface="メイリオ"/>
                <a:sym typeface="Meiryo"/>
              </a:rPr>
              <a:t>単価指標（</a:t>
            </a:r>
            <a:r>
              <a:rPr lang="en-US" altLang="ja-JP" sz="1400" b="1" dirty="0">
                <a:solidFill>
                  <a:srgbClr val="1F2A5C"/>
                </a:solidFill>
                <a:latin typeface="メイリオ"/>
                <a:ea typeface="メイリオ"/>
                <a:cs typeface="メイリオ"/>
                <a:sym typeface="Meiryo"/>
              </a:rPr>
              <a:t>CPC</a:t>
            </a:r>
            <a:r>
              <a:rPr lang="ja-JP" altLang="en-US" sz="1400" b="1" dirty="0">
                <a:solidFill>
                  <a:srgbClr val="1F2A5C"/>
                </a:solidFill>
                <a:latin typeface="メイリオ"/>
                <a:ea typeface="メイリオ"/>
                <a:cs typeface="メイリオ"/>
                <a:sym typeface="Meiryo"/>
              </a:rPr>
              <a:t>及び</a:t>
            </a:r>
            <a:r>
              <a:rPr lang="en-US" altLang="ja-JP" sz="1400" b="1" dirty="0">
                <a:solidFill>
                  <a:srgbClr val="1F2A5C"/>
                </a:solidFill>
                <a:latin typeface="メイリオ"/>
                <a:ea typeface="メイリオ"/>
                <a:cs typeface="メイリオ"/>
                <a:sym typeface="Meiryo"/>
              </a:rPr>
              <a:t>CPA</a:t>
            </a:r>
            <a:r>
              <a:rPr lang="ja-JP" altLang="en-US" sz="1400" b="1" dirty="0">
                <a:solidFill>
                  <a:srgbClr val="1F2A5C"/>
                </a:solidFill>
                <a:latin typeface="メイリオ"/>
                <a:ea typeface="メイリオ"/>
                <a:cs typeface="メイリオ"/>
                <a:sym typeface="Meiryo"/>
              </a:rPr>
              <a:t>）が高騰</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p:txBody>
      </p:sp>
      <p:sp>
        <p:nvSpPr>
          <p:cNvPr id="71" name="正方形/長方形 70">
            <a:extLst>
              <a:ext uri="{FF2B5EF4-FFF2-40B4-BE49-F238E27FC236}">
                <a16:creationId xmlns:a16="http://schemas.microsoft.com/office/drawing/2014/main" id="{8E05BE0D-9D83-9FD4-8701-8FD707FC6BF5}"/>
              </a:ext>
            </a:extLst>
          </p:cNvPr>
          <p:cNvSpPr/>
          <p:nvPr/>
        </p:nvSpPr>
        <p:spPr>
          <a:xfrm>
            <a:off x="5717891" y="1781471"/>
            <a:ext cx="3773790" cy="523220"/>
          </a:xfrm>
          <a:prstGeom prst="rect">
            <a:avLst/>
          </a:prstGeom>
        </p:spPr>
        <p:txBody>
          <a:bodyPr wrap="none">
            <a:spAutoFit/>
          </a:bodyPr>
          <a:lstStyle/>
          <a:p>
            <a:pPr algn="ctr"/>
            <a:r>
              <a:rPr lang="ja-JP" altLang="en-US" sz="1400" dirty="0">
                <a:latin typeface="メイリオ"/>
                <a:ea typeface="メイリオ"/>
                <a:cs typeface="メイリオ"/>
                <a:sym typeface="Meiryo"/>
              </a:rPr>
              <a:t>集客施策における</a:t>
            </a:r>
            <a:r>
              <a:rPr lang="en-US" altLang="ja-JP" sz="1400" b="1" dirty="0">
                <a:latin typeface="メイリオ"/>
                <a:ea typeface="メイリオ"/>
                <a:cs typeface="メイリオ"/>
                <a:sym typeface="Meiryo"/>
              </a:rPr>
              <a:t>CVR</a:t>
            </a:r>
            <a:r>
              <a:rPr lang="ja-JP" altLang="en-US" sz="1400" b="1" dirty="0">
                <a:latin typeface="メイリオ"/>
                <a:ea typeface="メイリオ"/>
                <a:cs typeface="メイリオ"/>
                <a:sym typeface="Meiryo"/>
              </a:rPr>
              <a:t>は高くても</a:t>
            </a:r>
            <a:r>
              <a:rPr lang="en-US" altLang="ja-JP" sz="1400" b="1" dirty="0">
                <a:latin typeface="メイリオ"/>
                <a:ea typeface="メイリオ"/>
                <a:cs typeface="メイリオ"/>
                <a:sym typeface="Meiryo"/>
              </a:rPr>
              <a:t>2%</a:t>
            </a:r>
            <a:r>
              <a:rPr lang="ja-JP" altLang="en-US" sz="1400" b="1" dirty="0">
                <a:latin typeface="メイリオ"/>
                <a:ea typeface="メイリオ"/>
                <a:cs typeface="メイリオ"/>
                <a:sym typeface="Meiryo"/>
              </a:rPr>
              <a:t>程度</a:t>
            </a:r>
            <a:r>
              <a:rPr lang="ja-JP" altLang="en-US" sz="1400" dirty="0">
                <a:latin typeface="メイリオ"/>
                <a:ea typeface="メイリオ"/>
                <a:cs typeface="メイリオ"/>
                <a:sym typeface="Meiryo"/>
              </a:rPr>
              <a:t>。</a:t>
            </a:r>
            <a:endParaRPr lang="en-US" altLang="ja-JP" sz="1400" dirty="0">
              <a:latin typeface="メイリオ"/>
              <a:ea typeface="メイリオ"/>
              <a:cs typeface="メイリオ"/>
              <a:sym typeface="Meiryo"/>
            </a:endParaRPr>
          </a:p>
          <a:p>
            <a:pPr algn="ctr"/>
            <a:r>
              <a:rPr lang="en-US" altLang="ja-JP" sz="1400" dirty="0">
                <a:solidFill>
                  <a:srgbClr val="1F2A5C"/>
                </a:solidFill>
                <a:latin typeface="メイリオ"/>
                <a:ea typeface="メイリオ"/>
                <a:cs typeface="メイリオ"/>
                <a:sym typeface="Meiryo"/>
              </a:rPr>
              <a:t>CV</a:t>
            </a:r>
            <a:r>
              <a:rPr lang="ja-JP" altLang="en-US" sz="1400" dirty="0">
                <a:solidFill>
                  <a:srgbClr val="1F2A5C"/>
                </a:solidFill>
                <a:latin typeface="メイリオ"/>
                <a:ea typeface="メイリオ"/>
                <a:cs typeface="メイリオ"/>
                <a:sym typeface="Meiryo"/>
              </a:rPr>
              <a:t>に至らず離脱するユーザーが大部分</a:t>
            </a:r>
            <a:r>
              <a:rPr lang="ja-JP" altLang="en-US" sz="1400" dirty="0">
                <a:latin typeface="メイリオ"/>
                <a:ea typeface="メイリオ"/>
                <a:cs typeface="メイリオ"/>
                <a:sym typeface="Meiryo"/>
              </a:rPr>
              <a:t>。</a:t>
            </a:r>
            <a:endParaRPr lang="ja-JP" altLang="en-US" sz="1400" dirty="0">
              <a:latin typeface="メイリオ"/>
              <a:ea typeface="メイリオ"/>
              <a:cs typeface="メイリオ"/>
            </a:endParaRPr>
          </a:p>
        </p:txBody>
      </p:sp>
      <p:sp>
        <p:nvSpPr>
          <p:cNvPr id="73" name="Freeform 12">
            <a:extLst>
              <a:ext uri="{FF2B5EF4-FFF2-40B4-BE49-F238E27FC236}">
                <a16:creationId xmlns:a16="http://schemas.microsoft.com/office/drawing/2014/main" id="{E8D769AF-3EE9-8FD1-96E2-AA6FB90CAF13}"/>
              </a:ext>
            </a:extLst>
          </p:cNvPr>
          <p:cNvSpPr/>
          <p:nvPr/>
        </p:nvSpPr>
        <p:spPr>
          <a:xfrm>
            <a:off x="4853067" y="1823015"/>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CVR</a:t>
            </a:r>
            <a:endParaRPr lang="ja-JP" altLang="en-US" b="1" dirty="0">
              <a:latin typeface="メイリオ" panose="020B0604030504040204" pitchFamily="50" charset="-128"/>
              <a:ea typeface="メイリオ" panose="020B0604030504040204" pitchFamily="50" charset="-128"/>
              <a:cs typeface="メイリオ"/>
            </a:endParaRPr>
          </a:p>
        </p:txBody>
      </p:sp>
      <p:sp>
        <p:nvSpPr>
          <p:cNvPr id="75" name="Freeform 12">
            <a:extLst>
              <a:ext uri="{FF2B5EF4-FFF2-40B4-BE49-F238E27FC236}">
                <a16:creationId xmlns:a16="http://schemas.microsoft.com/office/drawing/2014/main" id="{952D530B-C759-C959-90BD-289EC5DBA890}"/>
              </a:ext>
            </a:extLst>
          </p:cNvPr>
          <p:cNvSpPr/>
          <p:nvPr/>
        </p:nvSpPr>
        <p:spPr>
          <a:xfrm>
            <a:off x="555048" y="1808923"/>
            <a:ext cx="823531" cy="426315"/>
          </a:xfrm>
          <a:custGeom>
            <a:avLst/>
            <a:gdLst/>
            <a:ahLst/>
            <a:cxnLst/>
            <a:rect l="l" t="t" r="r" b="b"/>
            <a:pathLst>
              <a:path w="617887" h="387031">
                <a:moveTo>
                  <a:pt x="0" y="0"/>
                </a:moveTo>
                <a:lnTo>
                  <a:pt x="617887" y="0"/>
                </a:lnTo>
                <a:lnTo>
                  <a:pt x="617887" y="387031"/>
                </a:lnTo>
                <a:lnTo>
                  <a:pt x="0" y="387031"/>
                </a:lnTo>
                <a:close/>
              </a:path>
            </a:pathLst>
          </a:custGeom>
          <a:solidFill>
            <a:srgbClr val="D9D9D9"/>
          </a:solidFill>
        </p:spPr>
        <p:txBody>
          <a:bodyPr anchor="ctr"/>
          <a:lstStyle/>
          <a:p>
            <a:pPr algn="ctr"/>
            <a:r>
              <a:rPr lang="en-US" altLang="ja-JP" b="1" dirty="0">
                <a:latin typeface="メイリオ" panose="020B0604030504040204" pitchFamily="50" charset="-128"/>
                <a:ea typeface="メイリオ" panose="020B0604030504040204" pitchFamily="50" charset="-128"/>
                <a:cs typeface="メイリオ"/>
              </a:rPr>
              <a:t>CPC</a:t>
            </a:r>
            <a:endParaRPr lang="ja-JP" altLang="en-US"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35621484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D88C4-8CFA-2C0E-C230-F47FCA10FFC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634DA306-8233-CC88-65A5-36654C66652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0CB02FD4-701A-71CE-F43E-33D8F9E44E7B}"/>
              </a:ext>
            </a:extLst>
          </p:cNvPr>
          <p:cNvSpPr/>
          <p:nvPr/>
        </p:nvSpPr>
        <p:spPr>
          <a:xfrm>
            <a:off x="796379" y="635062"/>
            <a:ext cx="8328074"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利用年齢層により変動はするものの、</a:t>
            </a:r>
            <a:r>
              <a:rPr lang="en-US" altLang="ja-JP" sz="1400" dirty="0">
                <a:solidFill>
                  <a:srgbClr val="343434"/>
                </a:solidFill>
                <a:latin typeface="メイリオ" panose="020B0604030504040204" pitchFamily="50" charset="-128"/>
                <a:ea typeface="メイリオ" panose="020B0604030504040204" pitchFamily="50" charset="-128"/>
                <a:cs typeface="メイリオ"/>
              </a:rPr>
              <a:t>10-40</a:t>
            </a:r>
            <a:r>
              <a:rPr lang="ja-JP" altLang="en-US" sz="1400" dirty="0">
                <a:solidFill>
                  <a:srgbClr val="343434"/>
                </a:solidFill>
                <a:latin typeface="メイリオ" panose="020B0604030504040204" pitchFamily="50" charset="-128"/>
                <a:ea typeface="メイリオ" panose="020B0604030504040204" pitchFamily="50" charset="-128"/>
                <a:cs typeface="メイリオ"/>
              </a:rPr>
              <a:t>代を中心に電話、メールを忌避する動きが強まっている。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b="1" dirty="0">
                <a:solidFill>
                  <a:srgbClr val="343434"/>
                </a:solidFill>
                <a:latin typeface="メイリオ" panose="020B0604030504040204" pitchFamily="50" charset="-128"/>
                <a:ea typeface="メイリオ" panose="020B0604030504040204" pitchFamily="50" charset="-128"/>
                <a:cs typeface="メイリオ"/>
              </a:rPr>
              <a:t>既存ユーザー以外の年齢層の獲得にあたって、利用率の高い</a:t>
            </a:r>
            <a:r>
              <a:rPr lang="en-US" altLang="ja-JP" sz="1400" b="1" dirty="0">
                <a:solidFill>
                  <a:srgbClr val="343434"/>
                </a:solidFill>
                <a:latin typeface="メイリオ" panose="020B0604030504040204" pitchFamily="50" charset="-128"/>
                <a:ea typeface="メイリオ" panose="020B0604030504040204" pitchFamily="50" charset="-128"/>
                <a:cs typeface="メイリオ"/>
              </a:rPr>
              <a:t>LINEOA</a:t>
            </a:r>
            <a:r>
              <a:rPr lang="ja-JP" altLang="en-US" sz="1400" b="1" dirty="0">
                <a:solidFill>
                  <a:srgbClr val="343434"/>
                </a:solidFill>
                <a:latin typeface="メイリオ" panose="020B0604030504040204" pitchFamily="50" charset="-128"/>
                <a:ea typeface="メイリオ" panose="020B0604030504040204" pitchFamily="50" charset="-128"/>
                <a:cs typeface="メイリオ"/>
              </a:rPr>
              <a:t>施策が非常に重要と想定</a:t>
            </a:r>
            <a:r>
              <a:rPr lang="ja-JP" altLang="en-US" sz="1400" dirty="0">
                <a:solidFill>
                  <a:srgbClr val="343434"/>
                </a:solidFill>
                <a:latin typeface="メイリオ" panose="020B0604030504040204" pitchFamily="50" charset="-128"/>
                <a:ea typeface="メイリオ" panose="020B0604030504040204" pitchFamily="50" charset="-128"/>
                <a:cs typeface="メイリオ"/>
              </a:rPr>
              <a:t>される。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p:txBody>
      </p:sp>
      <p:cxnSp>
        <p:nvCxnSpPr>
          <p:cNvPr id="5" name="直線コネクタ 4">
            <a:extLst>
              <a:ext uri="{FF2B5EF4-FFF2-40B4-BE49-F238E27FC236}">
                <a16:creationId xmlns:a16="http://schemas.microsoft.com/office/drawing/2014/main" id="{F214699F-6602-F0D9-7DE6-2A3BDFB291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37B7BC17-B92E-ED23-C69B-F5A79154E50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graphicFrame>
        <p:nvGraphicFramePr>
          <p:cNvPr id="50" name="表 49">
            <a:extLst>
              <a:ext uri="{FF2B5EF4-FFF2-40B4-BE49-F238E27FC236}">
                <a16:creationId xmlns:a16="http://schemas.microsoft.com/office/drawing/2014/main" id="{F4041BC0-327B-67FB-AC18-60C96EAE8809}"/>
              </a:ext>
            </a:extLst>
          </p:cNvPr>
          <p:cNvGraphicFramePr>
            <a:graphicFrameLocks noGrp="1"/>
          </p:cNvGraphicFramePr>
          <p:nvPr/>
        </p:nvGraphicFramePr>
        <p:xfrm>
          <a:off x="367528" y="1662925"/>
          <a:ext cx="9168355" cy="4494024"/>
        </p:xfrm>
        <a:graphic>
          <a:graphicData uri="http://schemas.openxmlformats.org/drawingml/2006/table">
            <a:tbl>
              <a:tblPr/>
              <a:tblGrid>
                <a:gridCol w="1833671">
                  <a:extLst>
                    <a:ext uri="{9D8B030D-6E8A-4147-A177-3AD203B41FA5}">
                      <a16:colId xmlns:a16="http://schemas.microsoft.com/office/drawing/2014/main" val="1559461290"/>
                    </a:ext>
                  </a:extLst>
                </a:gridCol>
                <a:gridCol w="1833671">
                  <a:extLst>
                    <a:ext uri="{9D8B030D-6E8A-4147-A177-3AD203B41FA5}">
                      <a16:colId xmlns:a16="http://schemas.microsoft.com/office/drawing/2014/main" val="4043568489"/>
                    </a:ext>
                  </a:extLst>
                </a:gridCol>
                <a:gridCol w="1833671">
                  <a:extLst>
                    <a:ext uri="{9D8B030D-6E8A-4147-A177-3AD203B41FA5}">
                      <a16:colId xmlns:a16="http://schemas.microsoft.com/office/drawing/2014/main" val="377063127"/>
                    </a:ext>
                  </a:extLst>
                </a:gridCol>
                <a:gridCol w="1833671">
                  <a:extLst>
                    <a:ext uri="{9D8B030D-6E8A-4147-A177-3AD203B41FA5}">
                      <a16:colId xmlns:a16="http://schemas.microsoft.com/office/drawing/2014/main" val="2814255100"/>
                    </a:ext>
                  </a:extLst>
                </a:gridCol>
                <a:gridCol w="1833671">
                  <a:extLst>
                    <a:ext uri="{9D8B030D-6E8A-4147-A177-3AD203B41FA5}">
                      <a16:colId xmlns:a16="http://schemas.microsoft.com/office/drawing/2014/main" val="3083523150"/>
                    </a:ext>
                  </a:extLst>
                </a:gridCol>
              </a:tblGrid>
              <a:tr h="499336">
                <a:tc>
                  <a:txBody>
                    <a:bodyPr/>
                    <a:lstStyle/>
                    <a:p>
                      <a:pPr algn="ctr"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年齢層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・チャット系</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メール・メルマガ</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主要な特徴・</a:t>
                      </a: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SNS</a:t>
                      </a:r>
                    </a:p>
                    <a:p>
                      <a:pPr algn="ctr" fontAlgn="ctr">
                        <a:buNone/>
                      </a:pP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extLst>
                  <a:ext uri="{0D108BD9-81ED-4DB2-BD59-A6C34878D82A}">
                    <a16:rowId xmlns:a16="http://schemas.microsoft.com/office/drawing/2014/main" val="3477182699"/>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10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〜20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　</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利用率：極めて低</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err="1">
                          <a:solidFill>
                            <a:srgbClr val="000000"/>
                          </a:solidFill>
                          <a:effectLst/>
                          <a:latin typeface="メイリオ" panose="020B0604030504040204" pitchFamily="50" charset="-128"/>
                          <a:ea typeface="メイリオ" panose="020B0604030504040204" pitchFamily="50" charset="-128"/>
                          <a:cs typeface="メイリオ"/>
                        </a:rPr>
                        <a:t>Tiktok</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 YouTube</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が情報収集の起点。</a:t>
                      </a:r>
                      <a:b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b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Instagram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DM</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連絡網として活用。</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52248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日常連絡の絶対的インフラ。</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企業や公式からの連絡は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読まれない傾向。</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「電話恐怖症」を持つ人も。</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705581114"/>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30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〜40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90%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利用率：中</a:t>
                      </a:r>
                      <a:r>
                        <a:rPr lang="en-US" altLang="ja-JP" sz="1000" b="1" i="0" u="none" strike="noStrike">
                          <a:solidFill>
                            <a:srgbClr val="000000"/>
                          </a:solidFill>
                          <a:effectLst/>
                          <a:latin typeface="メイリオ" panose="020B0604030504040204" pitchFamily="50" charset="-128"/>
                          <a:ea typeface="メイリオ" panose="020B0604030504040204" pitchFamily="50" charset="-128"/>
                          <a:cs typeface="メイリオ"/>
                        </a:rPr>
                        <a:t>〜</a:t>
                      </a:r>
                      <a:r>
                        <a:rPr lang="ja-JP" altLang="en-US" sz="1000" b="1" i="0" u="none" strike="noStrike">
                          <a:solidFill>
                            <a:srgbClr val="000000"/>
                          </a:solidFill>
                          <a:effectLst/>
                          <a:latin typeface="メイリオ" panose="020B0604030504040204" pitchFamily="50" charset="-128"/>
                          <a:ea typeface="メイリオ" panose="020B0604030504040204" pitchFamily="50" charset="-128"/>
                          <a:cs typeface="メイリオ"/>
                        </a:rPr>
                        <a:t>高</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利用率：中</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Facebook</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や</a:t>
                      </a:r>
                      <a:r>
                        <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X</a:t>
                      </a: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での情報収集が活発。</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3153412"/>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プライベートの連絡網。</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仕事や、メルマガでの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セールス情報に抵抗なし。</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プライベートでは減少傾向も</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仕事では必須。</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3489989836"/>
                  </a:ext>
                </a:extLst>
              </a:tr>
              <a:tr h="499336">
                <a:tc rowSpan="2">
                  <a:txBody>
                    <a:bodyPr/>
                    <a:lstStyle/>
                    <a:p>
                      <a:pPr algn="l" fontAlgn="ctr">
                        <a:buNone/>
                      </a:pP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　　　</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50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〜60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80%〜90%</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en-US" altLang="ja-JP" sz="800" b="0" i="0" u="none" strike="noStrike">
                          <a:solidFill>
                            <a:srgbClr val="000000"/>
                          </a:solidFill>
                          <a:effectLst/>
                          <a:latin typeface="メイリオ" panose="020B0604030504040204" pitchFamily="50" charset="-128"/>
                          <a:ea typeface="メイリオ" panose="020B0604030504040204" pitchFamily="50" charset="-128"/>
                          <a:cs typeface="メイリオ"/>
                        </a:rPr>
                        <a:t>YouTube</a:t>
                      </a: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での趣味動画視聴も普及。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76969856"/>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a:solidFill>
                            <a:srgbClr val="000000"/>
                          </a:solidFill>
                          <a:effectLst/>
                          <a:latin typeface="メイリオ" panose="020B0604030504040204" pitchFamily="50" charset="-128"/>
                          <a:ea typeface="メイリオ" panose="020B0604030504040204" pitchFamily="50" charset="-128"/>
                          <a:cs typeface="メイリオ"/>
                        </a:rPr>
                        <a:t>家族や友人との連絡で定着。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最も好まれる企業からの</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情報受取ツール。</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予約や急ぎの用件で信頼性が高い。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2832446328"/>
                  </a:ext>
                </a:extLst>
              </a:tr>
              <a:tr h="499336">
                <a:tc rowSpan="2">
                  <a:txBody>
                    <a:bodyPr/>
                    <a:lstStyle/>
                    <a:p>
                      <a:pPr algn="ctr" fontAlgn="ctr">
                        <a:buNone/>
                      </a:pPr>
                      <a:r>
                        <a:rPr lang="en-US" altLang="ja-JP"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50" b="1" i="0" u="none" strike="noStrike" dirty="0">
                          <a:solidFill>
                            <a:srgbClr val="000000"/>
                          </a:solidFill>
                          <a:effectLst/>
                          <a:latin typeface="メイリオ" panose="020B0604030504040204" pitchFamily="50" charset="-128"/>
                          <a:ea typeface="メイリオ" panose="020B0604030504040204" pitchFamily="50" charset="-128"/>
                          <a:cs typeface="メイリオ"/>
                        </a:rPr>
                        <a:t>代以上</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AE9F8"/>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a:t>
                      </a:r>
                      <a:r>
                        <a:rPr lang="en-US" altLang="ja-JP"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70%</a:t>
                      </a: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前後</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利用率：低い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a:txBody>
                    <a:bodyPr/>
                    <a:lstStyle/>
                    <a:p>
                      <a:pPr algn="ctr" fontAlgn="ctr">
                        <a:buNone/>
                      </a:pPr>
                      <a:r>
                        <a:rPr lang="ja-JP" altLang="en-US" sz="1000" b="1" i="0" u="none" strike="noStrike" dirty="0">
                          <a:solidFill>
                            <a:srgbClr val="000000"/>
                          </a:solidFill>
                          <a:effectLst/>
                          <a:latin typeface="メイリオ" panose="020B0604030504040204" pitchFamily="50" charset="-128"/>
                          <a:ea typeface="メイリオ" panose="020B0604030504040204" pitchFamily="50" charset="-128"/>
                          <a:cs typeface="メイリオ"/>
                        </a:rPr>
                        <a:t>利用率：最も高い</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chemeClr val="bg1"/>
                    </a:solidFill>
                  </a:tcPr>
                </a:tc>
                <a:tc rowSpan="2">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連絡手段としての電話が</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最優先される層。</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9922214"/>
                  </a:ext>
                </a:extLst>
              </a:tr>
              <a:tr h="499336">
                <a:tc vMerge="1">
                  <a:txBody>
                    <a:bodyPr/>
                    <a:lstStyle/>
                    <a:p>
                      <a:endParaRPr kumimoji="1" lang="ja-JP" altLang="en-US">
                        <a:latin typeface="メイリオ"/>
                        <a:ea typeface="メイリオ"/>
                        <a:cs typeface="メイリオ"/>
                      </a:endParaRPr>
                    </a:p>
                  </a:txBody>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高齢者層にも普及が進む。</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操作に不慣れで到達率が下がる。</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重要な連絡や問い合わせは</a:t>
                      </a:r>
                      <a:endParaRPr lang="en-US" altLang="ja-JP" sz="8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algn="ctr" fontAlgn="ctr">
                        <a:buNone/>
                      </a:pPr>
                      <a:r>
                        <a:rPr lang="ja-JP" altLang="en-US" sz="8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電話がメイン。</a:t>
                      </a:r>
                    </a:p>
                  </a:txBody>
                  <a:tcPr marL="6767" marR="6767" marT="676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chemeClr val="bg1"/>
                    </a:solidFill>
                  </a:tcPr>
                </a:tc>
                <a:tc vMerge="1">
                  <a:txBody>
                    <a:bodyPr/>
                    <a:lstStyle/>
                    <a:p>
                      <a:endParaRPr kumimoji="1" lang="ja-JP" altLang="en-US">
                        <a:latin typeface="メイリオ"/>
                        <a:ea typeface="メイリオ"/>
                        <a:cs typeface="メイリオ"/>
                      </a:endParaRPr>
                    </a:p>
                  </a:txBody>
                  <a:tcPr/>
                </a:tc>
                <a:extLst>
                  <a:ext uri="{0D108BD9-81ED-4DB2-BD59-A6C34878D82A}">
                    <a16:rowId xmlns:a16="http://schemas.microsoft.com/office/drawing/2014/main" val="14424828"/>
                  </a:ext>
                </a:extLst>
              </a:tr>
            </a:tbl>
          </a:graphicData>
        </a:graphic>
      </p:graphicFrame>
    </p:spTree>
    <p:extLst>
      <p:ext uri="{BB962C8B-B14F-4D97-AF65-F5344CB8AC3E}">
        <p14:creationId xmlns:p14="http://schemas.microsoft.com/office/powerpoint/2010/main" val="783279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0E1BE-EA97-1C99-EC9B-9162DE48D9C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61F3EB4-5BDD-9E9F-8965-BA311951E81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p>
        </p:txBody>
      </p:sp>
      <p:sp>
        <p:nvSpPr>
          <p:cNvPr id="2" name="Google Shape;752;p28">
            <a:extLst>
              <a:ext uri="{FF2B5EF4-FFF2-40B4-BE49-F238E27FC236}">
                <a16:creationId xmlns:a16="http://schemas.microsoft.com/office/drawing/2014/main" id="{903AB3A7-E543-27E0-6B76-9022EAF2AAFA}"/>
              </a:ext>
            </a:extLst>
          </p:cNvPr>
          <p:cNvSpPr txBox="1"/>
          <p:nvPr/>
        </p:nvSpPr>
        <p:spPr>
          <a:xfrm>
            <a:off x="711353" y="96941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LINE</a:t>
            </a:r>
            <a:r>
              <a:rPr lang="ja-JP" altLang="en-US" sz="1400" dirty="0">
                <a:latin typeface="メイリオ" panose="020B0604030504040204" pitchFamily="50" charset="-128"/>
                <a:ea typeface="メイリオ" panose="020B0604030504040204" pitchFamily="50" charset="-128"/>
                <a:cs typeface="メイリオ"/>
                <a:sym typeface="Meiryo"/>
              </a:rPr>
              <a:t>公式アカウントの施策内（開封率、クリック率、</a:t>
            </a:r>
            <a:r>
              <a:rPr lang="en-US" altLang="ja-JP" sz="1400" dirty="0">
                <a:latin typeface="メイリオ" panose="020B0604030504040204" pitchFamily="50" charset="-128"/>
                <a:ea typeface="メイリオ" panose="020B0604030504040204" pitchFamily="50" charset="-128"/>
                <a:cs typeface="メイリオ"/>
                <a:sym typeface="Meiryo"/>
              </a:rPr>
              <a:t>CV</a:t>
            </a:r>
            <a:r>
              <a:rPr lang="ja-JP" altLang="en-US" sz="1400" dirty="0">
                <a:latin typeface="メイリオ" panose="020B0604030504040204" pitchFamily="50" charset="-128"/>
                <a:ea typeface="メイリオ" panose="020B0604030504040204" pitchFamily="50" charset="-128"/>
                <a:cs typeface="メイリオ"/>
                <a:sym typeface="Meiryo"/>
              </a:rPr>
              <a:t>率）で高い水準の施策をご提供。</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初期設計のみのご依頼でも、大きく数値改善できるポイントの導入支援が可能です。</a:t>
            </a:r>
            <a:endParaRPr lang="en-US" altLang="ja-JP" sz="1400" dirty="0">
              <a:latin typeface="メイリオ" panose="020B0604030504040204" pitchFamily="50" charset="-128"/>
              <a:ea typeface="メイリオ" panose="020B0604030504040204" pitchFamily="50" charset="-128"/>
              <a:cs typeface="メイリオ"/>
              <a:sym typeface="Meiryo"/>
            </a:endParaRPr>
          </a:p>
        </p:txBody>
      </p:sp>
      <p:sp>
        <p:nvSpPr>
          <p:cNvPr id="5" name="正方形/長方形 4">
            <a:extLst>
              <a:ext uri="{FF2B5EF4-FFF2-40B4-BE49-F238E27FC236}">
                <a16:creationId xmlns:a16="http://schemas.microsoft.com/office/drawing/2014/main" id="{C953AFCB-1DF4-3DF6-FD0A-5FA8B9829345}"/>
              </a:ext>
            </a:extLst>
          </p:cNvPr>
          <p:cNvSpPr/>
          <p:nvPr/>
        </p:nvSpPr>
        <p:spPr>
          <a:xfrm>
            <a:off x="7833676" y="2844726"/>
            <a:ext cx="1438656" cy="268338"/>
          </a:xfrm>
          <a:prstGeom prst="rect">
            <a:avLst/>
          </a:prstGeom>
          <a:solidFill>
            <a:srgbClr val="1F2A5C"/>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endParaRPr kumimoji="1" lang="ja-JP" altLang="en-US" sz="1050"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6" name="正方形/長方形 5">
            <a:extLst>
              <a:ext uri="{FF2B5EF4-FFF2-40B4-BE49-F238E27FC236}">
                <a16:creationId xmlns:a16="http://schemas.microsoft.com/office/drawing/2014/main" id="{AA0FC5BF-544B-2CE7-3D6D-05C5FCBA0558}"/>
              </a:ext>
            </a:extLst>
          </p:cNvPr>
          <p:cNvSpPr/>
          <p:nvPr/>
        </p:nvSpPr>
        <p:spPr>
          <a:xfrm>
            <a:off x="7833676" y="2532843"/>
            <a:ext cx="1438656" cy="268338"/>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営業トスアップ</a:t>
            </a:r>
          </a:p>
        </p:txBody>
      </p:sp>
      <p:cxnSp>
        <p:nvCxnSpPr>
          <p:cNvPr id="16" name="直線矢印コネクタ 15">
            <a:extLst>
              <a:ext uri="{FF2B5EF4-FFF2-40B4-BE49-F238E27FC236}">
                <a16:creationId xmlns:a16="http://schemas.microsoft.com/office/drawing/2014/main" id="{94BB7063-D344-7388-DC5C-AB2163552A18}"/>
              </a:ext>
            </a:extLst>
          </p:cNvPr>
          <p:cNvCxnSpPr>
            <a:cxnSpLocks/>
          </p:cNvCxnSpPr>
          <p:nvPr/>
        </p:nvCxnSpPr>
        <p:spPr>
          <a:xfrm>
            <a:off x="387956" y="2801181"/>
            <a:ext cx="7250805" cy="0"/>
          </a:xfrm>
          <a:prstGeom prst="straightConnector1">
            <a:avLst/>
          </a:prstGeom>
          <a:ln w="28575">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1" name="正方形/長方形 20">
            <a:extLst>
              <a:ext uri="{FF2B5EF4-FFF2-40B4-BE49-F238E27FC236}">
                <a16:creationId xmlns:a16="http://schemas.microsoft.com/office/drawing/2014/main" id="{49A8005B-FA05-AC0F-4885-3EB9D9E7F271}"/>
              </a:ext>
            </a:extLst>
          </p:cNvPr>
          <p:cNvSpPr/>
          <p:nvPr/>
        </p:nvSpPr>
        <p:spPr>
          <a:xfrm>
            <a:off x="7663263" y="2057611"/>
            <a:ext cx="1820092" cy="1128395"/>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43461C80-3343-B710-9ADB-76DB69B61EAF}"/>
              </a:ext>
            </a:extLst>
          </p:cNvPr>
          <p:cNvSpPr txBox="1"/>
          <p:nvPr/>
        </p:nvSpPr>
        <p:spPr>
          <a:xfrm>
            <a:off x="8033166" y="2122574"/>
            <a:ext cx="1080286" cy="261610"/>
          </a:xfrm>
          <a:prstGeom prst="rect">
            <a:avLst/>
          </a:prstGeom>
          <a:noFill/>
        </p:spPr>
        <p:txBody>
          <a:bodyPr wrap="square">
            <a:spAutoFit/>
          </a:bodyPr>
          <a:lstStyle/>
          <a:p>
            <a:pPr algn="ctr"/>
            <a:r>
              <a:rPr kumimoji="1" lang="ja-JP" altLang="en-US" sz="1100" dirty="0">
                <a:solidFill>
                  <a:srgbClr val="1F2A5C"/>
                </a:solidFill>
                <a:latin typeface="メイリオ" panose="020B0604030504040204" pitchFamily="50" charset="-128"/>
                <a:ea typeface="メイリオ" panose="020B0604030504040204" pitchFamily="50" charset="-128"/>
                <a:cs typeface="メイリオ"/>
              </a:rPr>
              <a:t>（成果地点）</a:t>
            </a:r>
          </a:p>
        </p:txBody>
      </p:sp>
      <p:sp>
        <p:nvSpPr>
          <p:cNvPr id="46" name="正方形/長方形 45">
            <a:extLst>
              <a:ext uri="{FF2B5EF4-FFF2-40B4-BE49-F238E27FC236}">
                <a16:creationId xmlns:a16="http://schemas.microsoft.com/office/drawing/2014/main" id="{68EF36FD-0665-96DB-08B6-92F8F12DC27E}"/>
              </a:ext>
            </a:extLst>
          </p:cNvPr>
          <p:cNvSpPr/>
          <p:nvPr/>
        </p:nvSpPr>
        <p:spPr>
          <a:xfrm>
            <a:off x="2496412" y="2062968"/>
            <a:ext cx="4888178"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47" name="正方形/長方形 46">
            <a:extLst>
              <a:ext uri="{FF2B5EF4-FFF2-40B4-BE49-F238E27FC236}">
                <a16:creationId xmlns:a16="http://schemas.microsoft.com/office/drawing/2014/main" id="{1B4C640C-D32C-D834-8B9B-538AEF528437}"/>
              </a:ext>
            </a:extLst>
          </p:cNvPr>
          <p:cNvSpPr/>
          <p:nvPr/>
        </p:nvSpPr>
        <p:spPr>
          <a:xfrm>
            <a:off x="2727621"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48" name="正方形/長方形 47">
            <a:extLst>
              <a:ext uri="{FF2B5EF4-FFF2-40B4-BE49-F238E27FC236}">
                <a16:creationId xmlns:a16="http://schemas.microsoft.com/office/drawing/2014/main" id="{B779420D-D103-81E4-5973-9C543E915ED9}"/>
              </a:ext>
            </a:extLst>
          </p:cNvPr>
          <p:cNvSpPr/>
          <p:nvPr/>
        </p:nvSpPr>
        <p:spPr>
          <a:xfrm>
            <a:off x="4236068"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49" name="正方形/長方形 48">
            <a:extLst>
              <a:ext uri="{FF2B5EF4-FFF2-40B4-BE49-F238E27FC236}">
                <a16:creationId xmlns:a16="http://schemas.microsoft.com/office/drawing/2014/main" id="{79F9C4D6-EE41-0712-7E02-3613A29A0277}"/>
              </a:ext>
            </a:extLst>
          </p:cNvPr>
          <p:cNvSpPr/>
          <p:nvPr/>
        </p:nvSpPr>
        <p:spPr>
          <a:xfrm>
            <a:off x="5744515" y="2844178"/>
            <a:ext cx="1438656" cy="268338"/>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0" name="正方形/長方形 49">
            <a:extLst>
              <a:ext uri="{FF2B5EF4-FFF2-40B4-BE49-F238E27FC236}">
                <a16:creationId xmlns:a16="http://schemas.microsoft.com/office/drawing/2014/main" id="{63D97449-C5FF-7125-1910-BF401BE155D3}"/>
              </a:ext>
            </a:extLst>
          </p:cNvPr>
          <p:cNvSpPr/>
          <p:nvPr/>
        </p:nvSpPr>
        <p:spPr>
          <a:xfrm>
            <a:off x="2635396" y="2541859"/>
            <a:ext cx="4617897" cy="268338"/>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通常メッセージ（企画投稿）</a:t>
            </a:r>
          </a:p>
        </p:txBody>
      </p:sp>
      <p:sp>
        <p:nvSpPr>
          <p:cNvPr id="51" name="正方形/長方形 50">
            <a:extLst>
              <a:ext uri="{FF2B5EF4-FFF2-40B4-BE49-F238E27FC236}">
                <a16:creationId xmlns:a16="http://schemas.microsoft.com/office/drawing/2014/main" id="{0FEAAD04-7412-6C00-12C5-668087B3187D}"/>
              </a:ext>
            </a:extLst>
          </p:cNvPr>
          <p:cNvSpPr/>
          <p:nvPr/>
        </p:nvSpPr>
        <p:spPr>
          <a:xfrm>
            <a:off x="2727621"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2" name="正方形/長方形 51">
            <a:extLst>
              <a:ext uri="{FF2B5EF4-FFF2-40B4-BE49-F238E27FC236}">
                <a16:creationId xmlns:a16="http://schemas.microsoft.com/office/drawing/2014/main" id="{16300100-5CAE-C822-F497-9A928E7568CE}"/>
              </a:ext>
            </a:extLst>
          </p:cNvPr>
          <p:cNvSpPr/>
          <p:nvPr/>
        </p:nvSpPr>
        <p:spPr>
          <a:xfrm>
            <a:off x="4236068"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3" name="正方形/長方形 52">
            <a:extLst>
              <a:ext uri="{FF2B5EF4-FFF2-40B4-BE49-F238E27FC236}">
                <a16:creationId xmlns:a16="http://schemas.microsoft.com/office/drawing/2014/main" id="{BAABA8F7-038F-8934-7296-51B7E190F8F6}"/>
              </a:ext>
            </a:extLst>
          </p:cNvPr>
          <p:cNvSpPr/>
          <p:nvPr/>
        </p:nvSpPr>
        <p:spPr>
          <a:xfrm>
            <a:off x="5744515" y="3513580"/>
            <a:ext cx="1438656" cy="268338"/>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4" name="正方形/長方形 53">
            <a:extLst>
              <a:ext uri="{FF2B5EF4-FFF2-40B4-BE49-F238E27FC236}">
                <a16:creationId xmlns:a16="http://schemas.microsoft.com/office/drawing/2014/main" id="{FFA1928D-294F-EEFC-2C8F-4A612343D93B}"/>
              </a:ext>
            </a:extLst>
          </p:cNvPr>
          <p:cNvSpPr/>
          <p:nvPr/>
        </p:nvSpPr>
        <p:spPr>
          <a:xfrm>
            <a:off x="2635396" y="3211261"/>
            <a:ext cx="4617897" cy="268338"/>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通常メッセージ（ステップ配信投稿）</a:t>
            </a:r>
          </a:p>
        </p:txBody>
      </p:sp>
      <p:sp>
        <p:nvSpPr>
          <p:cNvPr id="55" name="正方形/長方形 54">
            <a:extLst>
              <a:ext uri="{FF2B5EF4-FFF2-40B4-BE49-F238E27FC236}">
                <a16:creationId xmlns:a16="http://schemas.microsoft.com/office/drawing/2014/main" id="{C60EF948-7D0E-221F-F7C3-9EA4070D13D5}"/>
              </a:ext>
            </a:extLst>
          </p:cNvPr>
          <p:cNvSpPr/>
          <p:nvPr/>
        </p:nvSpPr>
        <p:spPr>
          <a:xfrm>
            <a:off x="2727621"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56" name="正方形/長方形 55">
            <a:extLst>
              <a:ext uri="{FF2B5EF4-FFF2-40B4-BE49-F238E27FC236}">
                <a16:creationId xmlns:a16="http://schemas.microsoft.com/office/drawing/2014/main" id="{0A26395C-F3D5-A8C3-4036-5A461E8AEB95}"/>
              </a:ext>
            </a:extLst>
          </p:cNvPr>
          <p:cNvSpPr/>
          <p:nvPr/>
        </p:nvSpPr>
        <p:spPr>
          <a:xfrm>
            <a:off x="4236068"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57" name="正方形/長方形 56">
            <a:extLst>
              <a:ext uri="{FF2B5EF4-FFF2-40B4-BE49-F238E27FC236}">
                <a16:creationId xmlns:a16="http://schemas.microsoft.com/office/drawing/2014/main" id="{258779A5-C321-795D-FAE9-C3DA7EDE5D3F}"/>
              </a:ext>
            </a:extLst>
          </p:cNvPr>
          <p:cNvSpPr/>
          <p:nvPr/>
        </p:nvSpPr>
        <p:spPr>
          <a:xfrm>
            <a:off x="5744515" y="4167605"/>
            <a:ext cx="1438656" cy="268338"/>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58" name="正方形/長方形 57">
            <a:extLst>
              <a:ext uri="{FF2B5EF4-FFF2-40B4-BE49-F238E27FC236}">
                <a16:creationId xmlns:a16="http://schemas.microsoft.com/office/drawing/2014/main" id="{10A67980-B163-BD77-6B0F-32FBA0EAD741}"/>
              </a:ext>
            </a:extLst>
          </p:cNvPr>
          <p:cNvSpPr/>
          <p:nvPr/>
        </p:nvSpPr>
        <p:spPr>
          <a:xfrm>
            <a:off x="2635396" y="3865286"/>
            <a:ext cx="4617897" cy="268338"/>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その他指標（リッチメニュー、プロフ、挨拶メッセ）</a:t>
            </a:r>
          </a:p>
        </p:txBody>
      </p:sp>
      <p:sp>
        <p:nvSpPr>
          <p:cNvPr id="59" name="テキスト ボックス 58">
            <a:extLst>
              <a:ext uri="{FF2B5EF4-FFF2-40B4-BE49-F238E27FC236}">
                <a16:creationId xmlns:a16="http://schemas.microsoft.com/office/drawing/2014/main" id="{5568B802-79BB-89D9-41B1-B8211A23D3E1}"/>
              </a:ext>
            </a:extLst>
          </p:cNvPr>
          <p:cNvSpPr txBox="1"/>
          <p:nvPr/>
        </p:nvSpPr>
        <p:spPr>
          <a:xfrm>
            <a:off x="4152577" y="2126463"/>
            <a:ext cx="1581648" cy="261610"/>
          </a:xfrm>
          <a:prstGeom prst="rect">
            <a:avLst/>
          </a:prstGeom>
          <a:noFill/>
        </p:spPr>
        <p:txBody>
          <a:bodyPr wrap="square">
            <a:spAutoFit/>
          </a:bodyPr>
          <a:lstStyle/>
          <a:p>
            <a:pPr algn="ct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r>
              <a:rPr kumimoji="1" lang="en-US" altLang="ja-JP" sz="1100" dirty="0">
                <a:solidFill>
                  <a:schemeClr val="tx2"/>
                </a:solidFill>
                <a:latin typeface="メイリオ" panose="020B0604030504040204" pitchFamily="50" charset="-128"/>
                <a:ea typeface="メイリオ" panose="020B0604030504040204" pitchFamily="50" charset="-128"/>
                <a:cs typeface="メイリオ"/>
              </a:rPr>
              <a:t>LINE</a:t>
            </a:r>
            <a:r>
              <a:rPr kumimoji="1" lang="ja-JP" altLang="en-US" sz="1100" dirty="0">
                <a:solidFill>
                  <a:schemeClr val="tx2"/>
                </a:solidFill>
                <a:latin typeface="メイリオ" panose="020B0604030504040204" pitchFamily="50" charset="-128"/>
                <a:ea typeface="メイリオ" panose="020B0604030504040204" pitchFamily="50" charset="-128"/>
                <a:cs typeface="メイリオ"/>
              </a:rPr>
              <a:t>施策内</a:t>
            </a:r>
            <a:r>
              <a:rPr lang="ja-JP" altLang="en-US" sz="1100" dirty="0">
                <a:solidFill>
                  <a:schemeClr val="tx2"/>
                </a:solidFill>
                <a:latin typeface="メイリオ" panose="020B0604030504040204" pitchFamily="50" charset="-128"/>
                <a:ea typeface="メイリオ" panose="020B0604030504040204" pitchFamily="50" charset="-128"/>
                <a:cs typeface="メイリオ"/>
              </a:rPr>
              <a:t>）</a:t>
            </a:r>
            <a:endParaRPr kumimoji="1" lang="ja-JP" altLang="en-US" sz="1100" dirty="0">
              <a:solidFill>
                <a:schemeClr val="tx2"/>
              </a:solidFill>
              <a:latin typeface="メイリオ" panose="020B0604030504040204" pitchFamily="50" charset="-128"/>
              <a:ea typeface="メイリオ" panose="020B0604030504040204" pitchFamily="50" charset="-128"/>
              <a:cs typeface="メイリオ"/>
            </a:endParaRPr>
          </a:p>
        </p:txBody>
      </p:sp>
      <p:sp>
        <p:nvSpPr>
          <p:cNvPr id="65" name="正方形/長方形 64">
            <a:extLst>
              <a:ext uri="{FF2B5EF4-FFF2-40B4-BE49-F238E27FC236}">
                <a16:creationId xmlns:a16="http://schemas.microsoft.com/office/drawing/2014/main" id="{F955D004-F2E0-9106-46D0-01B91AAAC48C}"/>
              </a:ext>
            </a:extLst>
          </p:cNvPr>
          <p:cNvSpPr/>
          <p:nvPr/>
        </p:nvSpPr>
        <p:spPr>
          <a:xfrm>
            <a:off x="632050" y="2062968"/>
            <a:ext cx="1581647" cy="2483764"/>
          </a:xfrm>
          <a:prstGeom prst="rect">
            <a:avLst/>
          </a:prstGeom>
          <a:solidFill>
            <a:schemeClr val="bg1"/>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6" name="正方形/長方形 65">
            <a:extLst>
              <a:ext uri="{FF2B5EF4-FFF2-40B4-BE49-F238E27FC236}">
                <a16:creationId xmlns:a16="http://schemas.microsoft.com/office/drawing/2014/main" id="{39800BBF-7F74-6827-30AB-067A9B79B2FB}"/>
              </a:ext>
            </a:extLst>
          </p:cNvPr>
          <p:cNvSpPr/>
          <p:nvPr/>
        </p:nvSpPr>
        <p:spPr>
          <a:xfrm>
            <a:off x="703546" y="2667012"/>
            <a:ext cx="1438656" cy="268338"/>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友だち追加</a:t>
            </a:r>
          </a:p>
        </p:txBody>
      </p:sp>
      <p:sp>
        <p:nvSpPr>
          <p:cNvPr id="67" name="テキスト ボックス 66">
            <a:extLst>
              <a:ext uri="{FF2B5EF4-FFF2-40B4-BE49-F238E27FC236}">
                <a16:creationId xmlns:a16="http://schemas.microsoft.com/office/drawing/2014/main" id="{5C2F9AAE-62F2-1C25-6B2F-275B20FB2668}"/>
              </a:ext>
            </a:extLst>
          </p:cNvPr>
          <p:cNvSpPr txBox="1"/>
          <p:nvPr/>
        </p:nvSpPr>
        <p:spPr>
          <a:xfrm>
            <a:off x="632050" y="3030925"/>
            <a:ext cx="1581647" cy="369332"/>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アクティブ数</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kumimoji="1" lang="ja-JP" altLang="en-US" sz="800" dirty="0">
                <a:latin typeface="メイリオ" panose="020B0604030504040204" pitchFamily="50" charset="-128"/>
                <a:ea typeface="メイリオ" panose="020B0604030504040204" pitchFamily="50" charset="-128"/>
                <a:cs typeface="メイリオ"/>
              </a:rPr>
              <a:t>（非ブロック率）</a:t>
            </a:r>
          </a:p>
        </p:txBody>
      </p:sp>
      <p:sp>
        <p:nvSpPr>
          <p:cNvPr id="68" name="テキスト ボックス 67">
            <a:extLst>
              <a:ext uri="{FF2B5EF4-FFF2-40B4-BE49-F238E27FC236}">
                <a16:creationId xmlns:a16="http://schemas.microsoft.com/office/drawing/2014/main" id="{D723F77C-494C-4598-FEF1-6B884D04A448}"/>
              </a:ext>
            </a:extLst>
          </p:cNvPr>
          <p:cNvSpPr txBox="1"/>
          <p:nvPr/>
        </p:nvSpPr>
        <p:spPr>
          <a:xfrm>
            <a:off x="632050" y="3492489"/>
            <a:ext cx="1581647" cy="553998"/>
          </a:xfrm>
          <a:prstGeom prst="rect">
            <a:avLst/>
          </a:prstGeom>
          <a:noFill/>
        </p:spPr>
        <p:txBody>
          <a:bodyPr wrap="square">
            <a:spAutoFit/>
          </a:bodyPr>
          <a:lstStyle/>
          <a:p>
            <a:pPr algn="ctr"/>
            <a:r>
              <a:rPr kumimoji="1" lang="ja-JP" altLang="en-US" sz="1000" b="1" dirty="0">
                <a:latin typeface="メイリオ" panose="020B0604030504040204" pitchFamily="50" charset="-128"/>
                <a:ea typeface="メイリオ" panose="020B0604030504040204" pitchFamily="50" charset="-128"/>
                <a:cs typeface="メイリオ"/>
              </a:rPr>
              <a:t>セグメント率</a:t>
            </a:r>
            <a:endParaRPr kumimoji="1" lang="en-US" altLang="ja-JP" sz="1000" b="1" dirty="0">
              <a:latin typeface="メイリオ" panose="020B0604030504040204" pitchFamily="50" charset="-128"/>
              <a:ea typeface="メイリオ" panose="020B0604030504040204" pitchFamily="50" charset="-128"/>
              <a:cs typeface="メイリオ"/>
            </a:endParaRPr>
          </a:p>
          <a:p>
            <a:pPr algn="ctr"/>
            <a:r>
              <a:rPr lang="en-US" altLang="ja-JP" sz="1000" dirty="0">
                <a:latin typeface="メイリオ" panose="020B0604030504040204" pitchFamily="50" charset="-128"/>
                <a:ea typeface="メイリオ" panose="020B0604030504040204" pitchFamily="50" charset="-128"/>
                <a:cs typeface="メイリオ"/>
              </a:rPr>
              <a:t>or</a:t>
            </a:r>
          </a:p>
          <a:p>
            <a:pPr algn="ctr"/>
            <a:r>
              <a:rPr kumimoji="1" lang="ja-JP" altLang="en-US" sz="1000" b="1" dirty="0">
                <a:latin typeface="メイリオ" panose="020B0604030504040204" pitchFamily="50" charset="-128"/>
                <a:ea typeface="メイリオ" panose="020B0604030504040204" pitchFamily="50" charset="-128"/>
                <a:cs typeface="メイリオ"/>
              </a:rPr>
              <a:t>ステップ配信設定数</a:t>
            </a:r>
          </a:p>
        </p:txBody>
      </p:sp>
      <p:sp>
        <p:nvSpPr>
          <p:cNvPr id="69" name="テキスト ボックス 68">
            <a:extLst>
              <a:ext uri="{FF2B5EF4-FFF2-40B4-BE49-F238E27FC236}">
                <a16:creationId xmlns:a16="http://schemas.microsoft.com/office/drawing/2014/main" id="{83F40BCD-888E-2A85-0E72-CECDC4CEFCE7}"/>
              </a:ext>
            </a:extLst>
          </p:cNvPr>
          <p:cNvSpPr txBox="1"/>
          <p:nvPr/>
        </p:nvSpPr>
        <p:spPr>
          <a:xfrm>
            <a:off x="632049" y="2122574"/>
            <a:ext cx="1581648" cy="261610"/>
          </a:xfrm>
          <a:prstGeom prst="rect">
            <a:avLst/>
          </a:prstGeom>
          <a:noFill/>
        </p:spPr>
        <p:txBody>
          <a:bodyPr wrap="square">
            <a:spAutoFit/>
          </a:bodyPr>
          <a:lstStyle/>
          <a:p>
            <a:pPr algn="ctr"/>
            <a:r>
              <a:rPr lang="ja-JP" altLang="en-US" sz="1100" dirty="0">
                <a:solidFill>
                  <a:srgbClr val="00B050"/>
                </a:solidFill>
                <a:latin typeface="メイリオ" panose="020B0604030504040204" pitchFamily="50" charset="-128"/>
                <a:ea typeface="メイリオ" panose="020B0604030504040204" pitchFamily="50" charset="-128"/>
                <a:cs typeface="メイリオ"/>
              </a:rPr>
              <a:t>（ターゲット戦略）</a:t>
            </a:r>
            <a:endParaRPr kumimoji="1" lang="ja-JP" altLang="en-US" sz="1100" dirty="0">
              <a:solidFill>
                <a:srgbClr val="00B050"/>
              </a:solidFill>
              <a:latin typeface="メイリオ" panose="020B0604030504040204" pitchFamily="50" charset="-128"/>
              <a:ea typeface="メイリオ" panose="020B0604030504040204" pitchFamily="50" charset="-128"/>
              <a:cs typeface="メイリオ"/>
            </a:endParaRPr>
          </a:p>
        </p:txBody>
      </p:sp>
      <p:sp>
        <p:nvSpPr>
          <p:cNvPr id="70" name="正方形/長方形 69">
            <a:extLst>
              <a:ext uri="{FF2B5EF4-FFF2-40B4-BE49-F238E27FC236}">
                <a16:creationId xmlns:a16="http://schemas.microsoft.com/office/drawing/2014/main" id="{A282801A-6F7E-2812-60DE-D9BD30E96635}"/>
              </a:ext>
            </a:extLst>
          </p:cNvPr>
          <p:cNvSpPr/>
          <p:nvPr/>
        </p:nvSpPr>
        <p:spPr>
          <a:xfrm>
            <a:off x="828387" y="4167605"/>
            <a:ext cx="1188972" cy="268338"/>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月間通数</a:t>
            </a:r>
          </a:p>
        </p:txBody>
      </p:sp>
      <p:sp>
        <p:nvSpPr>
          <p:cNvPr id="3" name="正方形/長方形 2">
            <a:extLst>
              <a:ext uri="{FF2B5EF4-FFF2-40B4-BE49-F238E27FC236}">
                <a16:creationId xmlns:a16="http://schemas.microsoft.com/office/drawing/2014/main" id="{DEF078B1-2A45-316B-F6D4-2929C807201E}"/>
              </a:ext>
            </a:extLst>
          </p:cNvPr>
          <p:cNvSpPr/>
          <p:nvPr/>
        </p:nvSpPr>
        <p:spPr>
          <a:xfrm>
            <a:off x="619696" y="2055027"/>
            <a:ext cx="1613438" cy="2508602"/>
          </a:xfrm>
          <a:prstGeom prst="rect">
            <a:avLst/>
          </a:prstGeom>
          <a:solidFill>
            <a:schemeClr val="bg1">
              <a:alpha val="65000"/>
            </a:schemeClr>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吹き出し: 角を丸めた四角形 21">
            <a:extLst>
              <a:ext uri="{FF2B5EF4-FFF2-40B4-BE49-F238E27FC236}">
                <a16:creationId xmlns:a16="http://schemas.microsoft.com/office/drawing/2014/main" id="{72F45E26-7BF4-E2ED-9A7A-1F4668D22973}"/>
              </a:ext>
            </a:extLst>
          </p:cNvPr>
          <p:cNvSpPr/>
          <p:nvPr/>
        </p:nvSpPr>
        <p:spPr>
          <a:xfrm>
            <a:off x="1422873" y="4756716"/>
            <a:ext cx="6798018" cy="1723684"/>
          </a:xfrm>
          <a:prstGeom prst="wedgeRoundRectCallout">
            <a:avLst>
              <a:gd name="adj1" fmla="val -8535"/>
              <a:gd name="adj2" fmla="val -65828"/>
              <a:gd name="adj3" fmla="val 16667"/>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4" name="正方形/長方形 23">
            <a:extLst>
              <a:ext uri="{FF2B5EF4-FFF2-40B4-BE49-F238E27FC236}">
                <a16:creationId xmlns:a16="http://schemas.microsoft.com/office/drawing/2014/main" id="{4E48C706-01F7-97BF-6029-19C07E10A157}"/>
              </a:ext>
            </a:extLst>
          </p:cNvPr>
          <p:cNvSpPr/>
          <p:nvPr/>
        </p:nvSpPr>
        <p:spPr>
          <a:xfrm>
            <a:off x="314498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開封率</a:t>
            </a:r>
          </a:p>
        </p:txBody>
      </p:sp>
      <p:sp>
        <p:nvSpPr>
          <p:cNvPr id="25" name="正方形/長方形 24">
            <a:extLst>
              <a:ext uri="{FF2B5EF4-FFF2-40B4-BE49-F238E27FC236}">
                <a16:creationId xmlns:a16="http://schemas.microsoft.com/office/drawing/2014/main" id="{691F0267-60AB-455D-B6F1-6559EBCD5D65}"/>
              </a:ext>
            </a:extLst>
          </p:cNvPr>
          <p:cNvSpPr/>
          <p:nvPr/>
        </p:nvSpPr>
        <p:spPr>
          <a:xfrm>
            <a:off x="4882248"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bg1"/>
                </a:solidFill>
                <a:latin typeface="メイリオ" panose="020B0604030504040204" pitchFamily="50" charset="-128"/>
                <a:ea typeface="メイリオ" panose="020B0604030504040204" pitchFamily="50" charset="-128"/>
                <a:cs typeface="メイリオ"/>
              </a:rPr>
              <a:t>クリック率</a:t>
            </a:r>
          </a:p>
        </p:txBody>
      </p:sp>
      <p:sp>
        <p:nvSpPr>
          <p:cNvPr id="26" name="正方形/長方形 25">
            <a:extLst>
              <a:ext uri="{FF2B5EF4-FFF2-40B4-BE49-F238E27FC236}">
                <a16:creationId xmlns:a16="http://schemas.microsoft.com/office/drawing/2014/main" id="{D9156083-EC1B-F8D0-1360-7F5BEA5CB663}"/>
              </a:ext>
            </a:extLst>
          </p:cNvPr>
          <p:cNvSpPr/>
          <p:nvPr/>
        </p:nvSpPr>
        <p:spPr>
          <a:xfrm>
            <a:off x="6594510" y="4892530"/>
            <a:ext cx="1438656" cy="268338"/>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b="1" dirty="0">
                <a:solidFill>
                  <a:schemeClr val="bg1"/>
                </a:solidFill>
                <a:latin typeface="メイリオ" panose="020B0604030504040204" pitchFamily="50" charset="-128"/>
                <a:ea typeface="メイリオ" panose="020B0604030504040204" pitchFamily="50" charset="-128"/>
                <a:cs typeface="メイリオ"/>
              </a:rPr>
              <a:t>CV</a:t>
            </a:r>
            <a:r>
              <a:rPr kumimoji="1" lang="ja-JP" altLang="en-US" sz="1050" b="1" dirty="0">
                <a:solidFill>
                  <a:schemeClr val="bg1"/>
                </a:solidFill>
                <a:latin typeface="メイリオ" panose="020B0604030504040204" pitchFamily="50" charset="-128"/>
                <a:ea typeface="メイリオ" panose="020B0604030504040204" pitchFamily="50" charset="-128"/>
                <a:cs typeface="メイリオ"/>
              </a:rPr>
              <a:t>率</a:t>
            </a:r>
          </a:p>
        </p:txBody>
      </p:sp>
      <p:sp>
        <p:nvSpPr>
          <p:cNvPr id="27" name="正方形/長方形 26">
            <a:extLst>
              <a:ext uri="{FF2B5EF4-FFF2-40B4-BE49-F238E27FC236}">
                <a16:creationId xmlns:a16="http://schemas.microsoft.com/office/drawing/2014/main" id="{B0EDDD6B-F76F-0F36-49FD-6D63CEA4F456}"/>
              </a:ext>
            </a:extLst>
          </p:cNvPr>
          <p:cNvSpPr/>
          <p:nvPr/>
        </p:nvSpPr>
        <p:spPr>
          <a:xfrm>
            <a:off x="314498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b="1" dirty="0">
                <a:solidFill>
                  <a:srgbClr val="1F2A5C"/>
                </a:solidFill>
                <a:latin typeface="メイリオ" panose="020B0604030504040204" pitchFamily="50" charset="-128"/>
                <a:ea typeface="メイリオ" panose="020B0604030504040204" pitchFamily="50" charset="-128"/>
                <a:cs typeface="メイリオ"/>
              </a:rPr>
              <a:t>85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8" name="正方形/長方形 27">
            <a:extLst>
              <a:ext uri="{FF2B5EF4-FFF2-40B4-BE49-F238E27FC236}">
                <a16:creationId xmlns:a16="http://schemas.microsoft.com/office/drawing/2014/main" id="{FD41B1A7-59DC-DE5C-69C2-F913EA082034}"/>
              </a:ext>
            </a:extLst>
          </p:cNvPr>
          <p:cNvSpPr/>
          <p:nvPr/>
        </p:nvSpPr>
        <p:spPr>
          <a:xfrm>
            <a:off x="4882248"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rgbClr val="1F2A5C"/>
                </a:solidFill>
                <a:latin typeface="メイリオ" panose="020B0604030504040204" pitchFamily="50" charset="-128"/>
                <a:ea typeface="メイリオ" panose="020B0604030504040204" pitchFamily="50" charset="-128"/>
                <a:cs typeface="メイリオ"/>
              </a:rPr>
              <a:t>12.5 </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正方形/長方形 28">
            <a:extLst>
              <a:ext uri="{FF2B5EF4-FFF2-40B4-BE49-F238E27FC236}">
                <a16:creationId xmlns:a16="http://schemas.microsoft.com/office/drawing/2014/main" id="{2885A2E9-9449-3650-0E4A-5A9BF2D80E32}"/>
              </a:ext>
            </a:extLst>
          </p:cNvPr>
          <p:cNvSpPr/>
          <p:nvPr/>
        </p:nvSpPr>
        <p:spPr>
          <a:xfrm>
            <a:off x="6594510" y="5228913"/>
            <a:ext cx="1438656" cy="522965"/>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600" b="1" dirty="0">
                <a:solidFill>
                  <a:srgbClr val="1F2A5C"/>
                </a:solidFill>
                <a:latin typeface="メイリオ" panose="020B0604030504040204" pitchFamily="50" charset="-128"/>
                <a:ea typeface="メイリオ" panose="020B0604030504040204" pitchFamily="50" charset="-128"/>
                <a:cs typeface="メイリオ"/>
              </a:rPr>
              <a:t>0.5</a:t>
            </a:r>
            <a:r>
              <a:rPr kumimoji="1" lang="en-US" altLang="ja-JP" sz="1400" b="1" dirty="0">
                <a:solidFill>
                  <a:srgbClr val="1F2A5C"/>
                </a:solidFill>
                <a:latin typeface="メイリオ" panose="020B0604030504040204" pitchFamily="50" charset="-128"/>
                <a:ea typeface="メイリオ" panose="020B0604030504040204" pitchFamily="50" charset="-128"/>
                <a:cs typeface="メイリオ"/>
              </a:rPr>
              <a:t> %</a:t>
            </a:r>
            <a:endParaRPr kumimoji="1" lang="ja-JP" altLang="en-US" sz="14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30" name="正方形/長方形 29">
            <a:extLst>
              <a:ext uri="{FF2B5EF4-FFF2-40B4-BE49-F238E27FC236}">
                <a16:creationId xmlns:a16="http://schemas.microsoft.com/office/drawing/2014/main" id="{317ECBDF-09D3-257E-8F4A-E037F6ADBAAE}"/>
              </a:ext>
            </a:extLst>
          </p:cNvPr>
          <p:cNvSpPr/>
          <p:nvPr/>
        </p:nvSpPr>
        <p:spPr>
          <a:xfrm>
            <a:off x="314498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70 %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1" name="正方形/長方形 30">
            <a:extLst>
              <a:ext uri="{FF2B5EF4-FFF2-40B4-BE49-F238E27FC236}">
                <a16:creationId xmlns:a16="http://schemas.microsoft.com/office/drawing/2014/main" id="{DA54FC15-4562-C68F-C13B-F3AB00F5F82F}"/>
              </a:ext>
            </a:extLst>
          </p:cNvPr>
          <p:cNvSpPr/>
          <p:nvPr/>
        </p:nvSpPr>
        <p:spPr>
          <a:xfrm>
            <a:off x="4882248"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400" b="1" dirty="0">
                <a:solidFill>
                  <a:schemeClr val="tx1"/>
                </a:solidFill>
                <a:latin typeface="メイリオ" panose="020B0604030504040204" pitchFamily="50" charset="-128"/>
                <a:ea typeface="メイリオ" panose="020B0604030504040204" pitchFamily="50" charset="-128"/>
                <a:cs typeface="メイリオ"/>
              </a:rPr>
              <a:t>8.25 %</a:t>
            </a:r>
            <a:endParaRPr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2" name="正方形/長方形 31">
            <a:extLst>
              <a:ext uri="{FF2B5EF4-FFF2-40B4-BE49-F238E27FC236}">
                <a16:creationId xmlns:a16="http://schemas.microsoft.com/office/drawing/2014/main" id="{382D3CC2-0AA1-6B39-8315-AC41101F88FE}"/>
              </a:ext>
            </a:extLst>
          </p:cNvPr>
          <p:cNvSpPr/>
          <p:nvPr/>
        </p:nvSpPr>
        <p:spPr>
          <a:xfrm>
            <a:off x="6594510" y="5811212"/>
            <a:ext cx="1438656" cy="522965"/>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solidFill>
                  <a:schemeClr val="tx1"/>
                </a:solidFill>
                <a:latin typeface="メイリオ" panose="020B0604030504040204" pitchFamily="50" charset="-128"/>
                <a:ea typeface="メイリオ" panose="020B0604030504040204" pitchFamily="50" charset="-128"/>
                <a:cs typeface="メイリオ"/>
              </a:rPr>
              <a:t>0.3 %</a:t>
            </a:r>
            <a:endParaRPr kumimoji="1" lang="ja-JP" altLang="en-US" sz="140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33" name="正方形/長方形 32">
            <a:extLst>
              <a:ext uri="{FF2B5EF4-FFF2-40B4-BE49-F238E27FC236}">
                <a16:creationId xmlns:a16="http://schemas.microsoft.com/office/drawing/2014/main" id="{5C344B7F-D598-9707-1687-34DC19B638F6}"/>
              </a:ext>
            </a:extLst>
          </p:cNvPr>
          <p:cNvSpPr/>
          <p:nvPr/>
        </p:nvSpPr>
        <p:spPr>
          <a:xfrm>
            <a:off x="1569529" y="5226753"/>
            <a:ext cx="1438656" cy="522965"/>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cs typeface="メイリオ"/>
              </a:rPr>
              <a:t>DYM</a:t>
            </a:r>
            <a:r>
              <a:rPr kumimoji="1" lang="ja-JP" altLang="en-US" sz="1200" b="1" dirty="0">
                <a:solidFill>
                  <a:srgbClr val="FFFFFF"/>
                </a:solidFill>
                <a:latin typeface="メイリオ" panose="020B0604030504040204" pitchFamily="50" charset="-128"/>
                <a:ea typeface="メイリオ" panose="020B0604030504040204" pitchFamily="50" charset="-128"/>
                <a:cs typeface="メイリオ"/>
              </a:rPr>
              <a:t>実績</a:t>
            </a:r>
          </a:p>
        </p:txBody>
      </p:sp>
      <p:sp>
        <p:nvSpPr>
          <p:cNvPr id="34" name="正方形/長方形 33">
            <a:extLst>
              <a:ext uri="{FF2B5EF4-FFF2-40B4-BE49-F238E27FC236}">
                <a16:creationId xmlns:a16="http://schemas.microsoft.com/office/drawing/2014/main" id="{93D563E7-193E-0293-8E0E-7C2E3C5192BF}"/>
              </a:ext>
            </a:extLst>
          </p:cNvPr>
          <p:cNvSpPr/>
          <p:nvPr/>
        </p:nvSpPr>
        <p:spPr>
          <a:xfrm>
            <a:off x="1569529" y="5809052"/>
            <a:ext cx="1438656" cy="522965"/>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solidFill>
                <a:latin typeface="メイリオ" panose="020B0604030504040204" pitchFamily="50" charset="-128"/>
                <a:ea typeface="メイリオ" panose="020B0604030504040204" pitchFamily="50" charset="-128"/>
                <a:cs typeface="メイリオ"/>
              </a:rPr>
              <a:t>業界平均</a:t>
            </a:r>
            <a:endParaRPr lang="en-US" altLang="ja-JP" sz="1200" b="1" dirty="0">
              <a:solidFill>
                <a:schemeClr val="bg1"/>
              </a:solidFill>
              <a:latin typeface="メイリオ" panose="020B0604030504040204" pitchFamily="50" charset="-128"/>
              <a:ea typeface="メイリオ" panose="020B0604030504040204" pitchFamily="50" charset="-128"/>
              <a:cs typeface="メイリオ"/>
            </a:endParaRPr>
          </a:p>
          <a:p>
            <a:pPr algn="ctr"/>
            <a:r>
              <a:rPr lang="en-US" altLang="ja-JP" sz="800" b="1" dirty="0">
                <a:solidFill>
                  <a:schemeClr val="bg1"/>
                </a:solidFill>
                <a:latin typeface="メイリオ" panose="020B0604030504040204" pitchFamily="50" charset="-128"/>
                <a:ea typeface="メイリオ" panose="020B0604030504040204" pitchFamily="50" charset="-128"/>
                <a:cs typeface="メイリオ"/>
              </a:rPr>
              <a:t>(LINE</a:t>
            </a:r>
            <a:r>
              <a:rPr lang="ja-JP" altLang="en-US" sz="800" b="1" dirty="0">
                <a:solidFill>
                  <a:schemeClr val="bg1"/>
                </a:solidFill>
                <a:latin typeface="メイリオ" panose="020B0604030504040204" pitchFamily="50" charset="-128"/>
                <a:ea typeface="メイリオ" panose="020B0604030504040204" pitchFamily="50" charset="-128"/>
                <a:cs typeface="メイリオ"/>
              </a:rPr>
              <a:t>ヤフー社より共有）</a:t>
            </a:r>
          </a:p>
        </p:txBody>
      </p:sp>
      <p:sp>
        <p:nvSpPr>
          <p:cNvPr id="35" name="正方形/長方形 34">
            <a:extLst>
              <a:ext uri="{FF2B5EF4-FFF2-40B4-BE49-F238E27FC236}">
                <a16:creationId xmlns:a16="http://schemas.microsoft.com/office/drawing/2014/main" id="{A58F3C16-C1CC-3071-6630-130857C0B7D1}"/>
              </a:ext>
            </a:extLst>
          </p:cNvPr>
          <p:cNvSpPr/>
          <p:nvPr/>
        </p:nvSpPr>
        <p:spPr>
          <a:xfrm>
            <a:off x="564095" y="1666793"/>
            <a:ext cx="8989207" cy="32813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rgbClr val="FFFFFF"/>
                </a:solidFill>
                <a:latin typeface="メイリオ" panose="020B0604030504040204" pitchFamily="50" charset="-128"/>
                <a:ea typeface="メイリオ" panose="020B0604030504040204" pitchFamily="50" charset="-128"/>
                <a:cs typeface="メイリオ"/>
              </a:rPr>
              <a:t>施策の流れ</a:t>
            </a:r>
          </a:p>
        </p:txBody>
      </p:sp>
    </p:spTree>
    <p:extLst>
      <p:ext uri="{BB962C8B-B14F-4D97-AF65-F5344CB8AC3E}">
        <p14:creationId xmlns:p14="http://schemas.microsoft.com/office/powerpoint/2010/main" val="24218423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cs typeface="メイリオ"/>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業態平均で</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最大３</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のユーザーは有効化</a:t>
            </a:r>
            <a:r>
              <a:rPr lang="en-US" altLang="ja-JP" sz="1400" b="1" dirty="0">
                <a:solidFill>
                  <a:srgbClr val="1F2A5C"/>
                </a:solidFill>
                <a:latin typeface="メイリオ" panose="020B0604030504040204" pitchFamily="50" charset="-128"/>
                <a:ea typeface="メイリオ" panose="020B0604030504040204" pitchFamily="50" charset="-128"/>
                <a:cs typeface="メイリオ"/>
              </a:rPr>
              <a:t>/</a:t>
            </a:r>
            <a:r>
              <a:rPr lang="ja-JP" altLang="en-US" sz="1400" b="1" dirty="0">
                <a:solidFill>
                  <a:srgbClr val="1F2A5C"/>
                </a:solidFill>
                <a:latin typeface="メイリオ" panose="020B0604030504040204" pitchFamily="50" charset="-128"/>
                <a:ea typeface="メイリオ" panose="020B0604030504040204" pitchFamily="50" charset="-128"/>
                <a:cs typeface="メイリオ"/>
              </a:rPr>
              <a:t>マネタイズ可能</a:t>
            </a:r>
            <a:r>
              <a:rPr lang="ja-JP" altLang="en-US" sz="1400" dirty="0">
                <a:solidFill>
                  <a:srgbClr val="343434"/>
                </a:solidFill>
                <a:latin typeface="メイリオ" panose="020B0604030504040204" pitchFamily="50" charset="-128"/>
                <a:ea typeface="メイリオ" panose="020B0604030504040204" pitchFamily="50" charset="-128"/>
                <a:cs typeface="メイリオ"/>
              </a:rPr>
              <a:t> とされている。</a:t>
            </a:r>
            <a:endParaRPr lang="en-US" altLang="ja-JP" sz="1400" dirty="0">
              <a:solidFill>
                <a:srgbClr val="343434"/>
              </a:solidFill>
              <a:latin typeface="メイリオ" panose="020B0604030504040204" pitchFamily="50" charset="-128"/>
              <a:ea typeface="メイリオ" panose="020B0604030504040204" pitchFamily="50" charset="-128"/>
              <a:cs typeface="メイリオ"/>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cs typeface="メイリオ"/>
              </a:rPr>
              <a:t>貴社集客課題に合わせて、</a:t>
            </a:r>
            <a:r>
              <a:rPr lang="en-US" altLang="ja-JP" sz="1400" dirty="0">
                <a:solidFill>
                  <a:srgbClr val="343434"/>
                </a:solidFill>
                <a:latin typeface="メイリオ" panose="020B0604030504040204" pitchFamily="50" charset="-128"/>
                <a:ea typeface="メイリオ" panose="020B0604030504040204" pitchFamily="50" charset="-128"/>
                <a:cs typeface="メイリオ"/>
              </a:rPr>
              <a:t>LINE</a:t>
            </a:r>
            <a:r>
              <a:rPr lang="ja-JP" altLang="en-US" sz="1400" dirty="0">
                <a:solidFill>
                  <a:srgbClr val="343434"/>
                </a:solidFill>
                <a:latin typeface="メイリオ" panose="020B0604030504040204" pitchFamily="50" charset="-128"/>
                <a:ea typeface="メイリオ" panose="020B0604030504040204" pitchFamily="50" charset="-128"/>
                <a:cs typeface="メイリオ"/>
              </a:rPr>
              <a:t>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メイリオ"/>
                <a:sym typeface="Meiryo"/>
              </a:rPr>
              <a:t>LINE</a:t>
            </a:r>
            <a:r>
              <a:rPr lang="ja-JP" altLang="en-US" sz="1600" b="1" dirty="0">
                <a:solidFill>
                  <a:srgbClr val="002060"/>
                </a:solidFill>
                <a:latin typeface="メイリオ"/>
                <a:ea typeface="メイリオ"/>
                <a:cs typeface="メイリオ"/>
                <a:sym typeface="Meiryo"/>
              </a:rPr>
              <a:t>公式アカウントを検討する背景</a:t>
            </a:r>
            <a:endParaRPr sz="1600" b="1" dirty="0">
              <a:solidFill>
                <a:srgbClr val="002060"/>
              </a:solidFill>
              <a:latin typeface="メイリオ"/>
              <a:ea typeface="メイリオ"/>
              <a:cs typeface="メイリオ"/>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cs typeface="メイリオ"/>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cs typeface="メイリオ"/>
              </a:rPr>
              <a:t>LINE</a:t>
            </a:r>
            <a:r>
              <a:rPr kumimoji="1" lang="ja-JP" altLang="en-US" sz="1200" b="1" dirty="0">
                <a:latin typeface="メイリオ" panose="020B0604030504040204" pitchFamily="50" charset="-128"/>
                <a:ea typeface="メイリオ" panose="020B0604030504040204" pitchFamily="50" charset="-128"/>
                <a:cs typeface="メイリオ"/>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cs typeface="メイリオ"/>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教育コンテンツ配信</a:t>
            </a:r>
            <a:endPar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latin typeface="メイリオ"/>
              <a:ea typeface="メイリオ"/>
              <a:cs typeface="メイリオ"/>
            </a:endParaRPr>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ステップ配信（</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7〜14</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商談・申込への誘導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1F2A5C"/>
                </a:solidFill>
                <a:latin typeface="メイリオ" panose="020B0604030504040204" pitchFamily="50" charset="-128"/>
                <a:ea typeface="メイリオ" panose="020B0604030504040204" pitchFamily="50" charset="-128"/>
                <a:cs typeface="メイリオ"/>
              </a:rPr>
              <a:t>CV</a:t>
            </a:r>
            <a:r>
              <a:rPr kumimoji="1" lang="ja-JP" altLang="en-US" sz="1100" b="1" dirty="0">
                <a:solidFill>
                  <a:srgbClr val="1F2A5C"/>
                </a:solidFill>
                <a:latin typeface="メイリオ" panose="020B0604030504040204" pitchFamily="50" charset="-128"/>
                <a:ea typeface="メイリオ" panose="020B0604030504040204" pitchFamily="50" charset="-128"/>
                <a:cs typeface="メイリオ"/>
              </a:rPr>
              <a:t>するユーザー割合</a:t>
            </a:r>
            <a:endParaRPr kumimoji="1" lang="en-US" altLang="ja-JP" sz="1100" b="1" dirty="0">
              <a:solidFill>
                <a:srgbClr val="1F2A5C"/>
              </a:solidFill>
              <a:latin typeface="メイリオ" panose="020B0604030504040204" pitchFamily="50" charset="-128"/>
              <a:ea typeface="メイリオ" panose="020B0604030504040204" pitchFamily="50" charset="-128"/>
              <a:cs typeface="メイリオ"/>
            </a:endParaRPr>
          </a:p>
          <a:p>
            <a:pPr algn="ctr"/>
            <a:r>
              <a:rPr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lang="ja-JP" altLang="en-US" sz="1000" dirty="0">
                <a:solidFill>
                  <a:srgbClr val="1F2A5C"/>
                </a:solidFill>
                <a:latin typeface="メイリオ" panose="020B0604030504040204" pitchFamily="50" charset="-128"/>
                <a:ea typeface="メイリオ" panose="020B0604030504040204" pitchFamily="50" charset="-128"/>
                <a:cs typeface="メイリオ"/>
              </a:rPr>
              <a:t>平均値</a:t>
            </a:r>
            <a:endParaRPr kumimoji="1" lang="ja-JP" altLang="en-US" sz="1000" dirty="0">
              <a:solidFill>
                <a:srgbClr val="1F2A5C"/>
              </a:solidFill>
              <a:latin typeface="メイリオ" panose="020B0604030504040204" pitchFamily="50" charset="-128"/>
              <a:ea typeface="メイリオ" panose="020B0604030504040204" pitchFamily="50" charset="-128"/>
              <a:cs typeface="メイリオ"/>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1F2A5C"/>
                </a:solidFill>
                <a:latin typeface="メイリオ" panose="020B0604030504040204" pitchFamily="50" charset="-128"/>
                <a:ea typeface="メイリオ" panose="020B0604030504040204" pitchFamily="50" charset="-128"/>
                <a:cs typeface="メイリオ"/>
              </a:rPr>
              <a:t>３</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1.5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2.5</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1F2A5C"/>
                </a:solidFill>
                <a:latin typeface="メイリオ" panose="020B0604030504040204" pitchFamily="50" charset="-128"/>
                <a:ea typeface="メイリオ" panose="020B0604030504040204" pitchFamily="50" charset="-128"/>
                <a:cs typeface="メイリオ"/>
              </a:rPr>
              <a:t>2</a:t>
            </a:r>
            <a:r>
              <a:rPr kumimoji="1" lang="ja-JP" altLang="en-US" sz="2400" b="1" dirty="0">
                <a:solidFill>
                  <a:srgbClr val="1F2A5C"/>
                </a:solidFill>
                <a:latin typeface="メイリオ" panose="020B0604030504040204" pitchFamily="50" charset="-128"/>
                <a:ea typeface="メイリオ" panose="020B0604030504040204" pitchFamily="50" charset="-128"/>
                <a:cs typeface="メイリオ"/>
              </a:rPr>
              <a:t>％</a:t>
            </a:r>
            <a:endParaRPr lang="ja-JP" altLang="en-US" sz="2400" dirty="0">
              <a:solidFill>
                <a:srgbClr val="1F2A5C"/>
              </a:solidFill>
              <a:latin typeface="メイリオ"/>
              <a:ea typeface="メイリオ"/>
              <a:cs typeface="メイリオ"/>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リマインド配信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有効リード育成シナリオ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 商談・再購入誘導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1F2A5C"/>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1F2A5C"/>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メイリオ"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98883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離脱防止バナー</a:t>
            </a:r>
            <a:endParaRPr lang="en-US" altLang="ja-JP" sz="2000" b="1" dirty="0">
              <a:solidFill>
                <a:srgbClr val="002060"/>
              </a:solidFill>
              <a:latin typeface="メイリオ"/>
              <a:ea typeface="メイリオ"/>
              <a:cs typeface="メイリオ"/>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2000" b="1" dirty="0">
              <a:solidFill>
                <a:srgbClr val="002060"/>
              </a:solidFill>
              <a:latin typeface="メイリオ"/>
              <a:ea typeface="メイリオ"/>
              <a:cs typeface="メイリオ"/>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サンクス</a:t>
            </a: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誘導</a:t>
            </a:r>
            <a:endParaRPr lang="en-US" altLang="ja-JP" sz="2000" b="1" dirty="0">
              <a:solidFill>
                <a:srgbClr val="002060"/>
              </a:solidFill>
              <a:latin typeface="メイリオ"/>
              <a:ea typeface="メイリオ"/>
              <a:cs typeface="メイリオ"/>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事例：車買取</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興味はあるが利用まで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至らなかったユーザーを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友だちとして囲い込む。</a:t>
            </a:r>
            <a:endParaRPr lang="en-US" altLang="ja-JP" sz="1400" dirty="0">
              <a:latin typeface="メイリオ"/>
              <a:ea typeface="メイリオ"/>
              <a:cs typeface="メイリオ"/>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メイリオ"/>
                <a:ea typeface="メイリオ"/>
                <a:cs typeface="メイリオ"/>
                <a:sym typeface="Meiryo"/>
              </a:rPr>
              <a:t>CPF</a:t>
            </a:r>
            <a:r>
              <a:rPr lang="ja-JP" altLang="en-US" sz="1400" dirty="0">
                <a:latin typeface="メイリオ"/>
                <a:ea typeface="メイリオ"/>
                <a:cs typeface="メイリオ"/>
                <a:sym typeface="Meiryo"/>
              </a:rPr>
              <a:t>約</a:t>
            </a:r>
            <a:r>
              <a:rPr lang="en-US" altLang="ja-JP" sz="1400" dirty="0">
                <a:latin typeface="メイリオ"/>
                <a:ea typeface="メイリオ"/>
                <a:cs typeface="メイリオ"/>
                <a:sym typeface="Meiryo"/>
              </a:rPr>
              <a:t>100-200</a:t>
            </a:r>
            <a:r>
              <a:rPr lang="ja-JP" altLang="en-US" sz="1400" dirty="0">
                <a:latin typeface="メイリオ"/>
                <a:ea typeface="メイリオ"/>
                <a:cs typeface="メイリオ"/>
                <a:sym typeface="Meiryo"/>
              </a:rPr>
              <a:t>円台。</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かなり安価かつ成果報酬で</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友だちを増やす広告。</a:t>
            </a:r>
            <a:endParaRPr lang="en-US" altLang="ja-JP" sz="1400" dirty="0">
              <a:latin typeface="メイリオ"/>
              <a:ea typeface="メイリオ"/>
              <a:cs typeface="メイリオ"/>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事例：アパレル</a:t>
            </a:r>
            <a:endParaRPr lang="en-US" altLang="ja-JP" sz="1400" dirty="0">
              <a:solidFill>
                <a:schemeClr val="tx1">
                  <a:lumMod val="50000"/>
                  <a:lumOff val="50000"/>
                </a:schemeClr>
              </a:solidFill>
              <a:latin typeface="メイリオ"/>
              <a:ea typeface="メイリオ"/>
              <a:cs typeface="メイリオ"/>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1</a:t>
            </a:r>
            <a:r>
              <a:rPr lang="ja-JP" altLang="en-US" sz="1200" dirty="0">
                <a:solidFill>
                  <a:schemeClr val="tx1">
                    <a:lumMod val="50000"/>
                    <a:lumOff val="50000"/>
                  </a:schemeClr>
                </a:solidFill>
                <a:latin typeface="メイリオ"/>
                <a:ea typeface="メイリオ"/>
                <a:cs typeface="メイリオ"/>
                <a:sym typeface="Meiryo"/>
              </a:rPr>
              <a:t>人あたり</a:t>
            </a:r>
            <a:r>
              <a:rPr lang="en-US" altLang="ja-JP" sz="1200" dirty="0">
                <a:solidFill>
                  <a:schemeClr val="tx1">
                    <a:lumMod val="50000"/>
                    <a:lumOff val="50000"/>
                  </a:schemeClr>
                </a:solidFill>
                <a:latin typeface="メイリオ"/>
                <a:ea typeface="メイリオ"/>
                <a:cs typeface="メイリオ"/>
                <a:sym typeface="Meiryo"/>
              </a:rPr>
              <a:t>50</a:t>
            </a:r>
            <a:r>
              <a:rPr lang="ja-JP" altLang="en-US" sz="1200" dirty="0">
                <a:solidFill>
                  <a:schemeClr val="tx1">
                    <a:lumMod val="50000"/>
                    <a:lumOff val="50000"/>
                  </a:schemeClr>
                </a:solidFill>
                <a:latin typeface="メイリオ"/>
                <a:ea typeface="メイリオ"/>
                <a:cs typeface="メイリオ"/>
                <a:sym typeface="Meiryo"/>
              </a:rPr>
              <a:t>円で友だち獲得</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経由の購入</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サンクスページに到達した</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ユーザーを自動で</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に誘導。</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友だち追加、追客に活用可能。</a:t>
            </a:r>
            <a:endParaRPr lang="en-US" altLang="ja-JP" sz="1400" dirty="0">
              <a:latin typeface="メイリオ"/>
              <a:ea typeface="メイリオ"/>
              <a:cs typeface="メイリオ"/>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事例：美容医療</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LP</a:t>
            </a:r>
            <a:r>
              <a:rPr lang="ja-JP" altLang="en-US" sz="1200" dirty="0">
                <a:solidFill>
                  <a:schemeClr val="tx1">
                    <a:lumMod val="50000"/>
                    <a:lumOff val="50000"/>
                  </a:schemeClr>
                </a:solidFill>
                <a:latin typeface="メイリオ"/>
                <a:ea typeface="メイリオ"/>
                <a:cs typeface="メイリオ"/>
                <a:sym typeface="Meiryo"/>
              </a:rPr>
              <a:t>離脱ユーザーに対して</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誘導を実施。</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en-US" altLang="ja-JP" sz="1200" dirty="0">
                <a:solidFill>
                  <a:schemeClr val="tx1">
                    <a:lumMod val="50000"/>
                    <a:lumOff val="50000"/>
                  </a:schemeClr>
                </a:solidFill>
                <a:latin typeface="メイリオ"/>
                <a:ea typeface="メイリオ"/>
                <a:cs typeface="メイリオ"/>
                <a:sym typeface="Meiryo"/>
              </a:rPr>
              <a:t>LINE</a:t>
            </a:r>
            <a:r>
              <a:rPr lang="ja-JP" altLang="en-US" sz="1200" dirty="0">
                <a:solidFill>
                  <a:schemeClr val="tx1">
                    <a:lumMod val="50000"/>
                    <a:lumOff val="50000"/>
                  </a:schemeClr>
                </a:solidFill>
                <a:latin typeface="メイリオ"/>
                <a:ea typeface="メイリオ"/>
                <a:cs typeface="メイリオ"/>
                <a:sym typeface="Meiryo"/>
              </a:rPr>
              <a:t>追加から</a:t>
            </a:r>
            <a:r>
              <a:rPr lang="en-US" altLang="ja-JP" sz="1200" dirty="0">
                <a:solidFill>
                  <a:schemeClr val="tx1">
                    <a:lumMod val="50000"/>
                    <a:lumOff val="50000"/>
                  </a:schemeClr>
                </a:solidFill>
                <a:latin typeface="メイリオ"/>
                <a:ea typeface="メイリオ"/>
                <a:cs typeface="メイリオ"/>
                <a:sym typeface="Meiryo"/>
              </a:rPr>
              <a:t>20</a:t>
            </a:r>
            <a:r>
              <a:rPr lang="ja-JP" altLang="en-US" sz="1200" dirty="0">
                <a:solidFill>
                  <a:schemeClr val="tx1">
                    <a:lumMod val="50000"/>
                    <a:lumOff val="50000"/>
                  </a:schemeClr>
                </a:solidFill>
                <a:latin typeface="メイリオ"/>
                <a:ea typeface="メイリオ"/>
                <a:cs typeface="メイリオ"/>
                <a:sym typeface="Meiryo"/>
              </a:rPr>
              <a:t>％が</a:t>
            </a:r>
            <a:r>
              <a:rPr lang="en-US" altLang="ja-JP" sz="1200" dirty="0">
                <a:solidFill>
                  <a:schemeClr val="tx1">
                    <a:lumMod val="50000"/>
                    <a:lumOff val="50000"/>
                  </a:schemeClr>
                </a:solidFill>
                <a:latin typeface="メイリオ"/>
                <a:ea typeface="メイリオ"/>
                <a:cs typeface="メイリオ"/>
                <a:sym typeface="Meiryo"/>
              </a:rPr>
              <a:t>CV</a:t>
            </a:r>
          </a:p>
          <a:p>
            <a:pPr lvl="0">
              <a:buClr>
                <a:schemeClr val="dk1"/>
              </a:buClr>
              <a:buSzPts val="1500"/>
            </a:pP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導入後友だち増加数が</a:t>
            </a:r>
            <a:r>
              <a:rPr lang="en-US" altLang="ja-JP" sz="1200" dirty="0">
                <a:solidFill>
                  <a:schemeClr val="tx1">
                    <a:lumMod val="50000"/>
                    <a:lumOff val="50000"/>
                  </a:schemeClr>
                </a:solidFill>
                <a:latin typeface="メイリオ"/>
                <a:ea typeface="メイリオ"/>
                <a:cs typeface="メイリオ"/>
                <a:sym typeface="Meiryo"/>
              </a:rPr>
              <a:t>1.5</a:t>
            </a:r>
            <a:r>
              <a:rPr lang="ja-JP" altLang="en-US" sz="1200" dirty="0">
                <a:solidFill>
                  <a:schemeClr val="tx1">
                    <a:lumMod val="50000"/>
                    <a:lumOff val="50000"/>
                  </a:schemeClr>
                </a:solidFill>
                <a:latin typeface="メイリオ"/>
                <a:ea typeface="メイリオ"/>
                <a:cs typeface="メイリオ"/>
                <a:sym typeface="Meiryo"/>
              </a:rPr>
              <a:t>倍に。</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実反響率も</a:t>
            </a:r>
            <a:r>
              <a:rPr lang="en-US" altLang="ja-JP" sz="1200" dirty="0">
                <a:solidFill>
                  <a:schemeClr val="tx1">
                    <a:lumMod val="50000"/>
                    <a:lumOff val="50000"/>
                  </a:schemeClr>
                </a:solidFill>
                <a:latin typeface="メイリオ"/>
                <a:ea typeface="メイリオ"/>
                <a:cs typeface="メイリオ"/>
                <a:sym typeface="Meiryo"/>
              </a:rPr>
              <a:t>40%</a:t>
            </a:r>
            <a:r>
              <a:rPr lang="ja-JP" altLang="en-US" sz="1200" dirty="0">
                <a:solidFill>
                  <a:schemeClr val="tx1">
                    <a:lumMod val="50000"/>
                    <a:lumOff val="50000"/>
                  </a:schemeClr>
                </a:solidFill>
                <a:latin typeface="メイリオ"/>
                <a:ea typeface="メイリオ"/>
                <a:cs typeface="メイリオ"/>
                <a:sym typeface="Meiryo"/>
              </a:rPr>
              <a:t>程度改善。</a:t>
            </a:r>
            <a:endParaRPr lang="en-US" altLang="ja-JP" sz="1200" dirty="0">
              <a:solidFill>
                <a:schemeClr val="tx1">
                  <a:lumMod val="50000"/>
                  <a:lumOff val="50000"/>
                </a:schemeClr>
              </a:solidFill>
              <a:latin typeface="メイリオ"/>
              <a:ea typeface="メイリオ"/>
              <a:cs typeface="メイリオ"/>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通知メッセージ</a:t>
            </a:r>
            <a:endParaRPr lang="en-US" altLang="ja-JP" sz="2000" b="1" dirty="0">
              <a:solidFill>
                <a:srgbClr val="002060"/>
              </a:solidFill>
              <a:latin typeface="メイリオ"/>
              <a:ea typeface="メイリオ"/>
              <a:cs typeface="メイリオ"/>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メイリオ"/>
                <a:ea typeface="メイリオ"/>
                <a:cs typeface="メイリオ"/>
                <a:sym typeface="Meiryo"/>
              </a:rPr>
              <a:t>友だちではないユーザーに</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対して予約完了通知などを</a:t>
            </a:r>
            <a:endParaRPr lang="en-US" altLang="ja-JP" sz="1400" dirty="0">
              <a:latin typeface="メイリオ"/>
              <a:ea typeface="メイリオ"/>
              <a:cs typeface="メイリオ"/>
              <a:sym typeface="Meiryo"/>
            </a:endParaRPr>
          </a:p>
          <a:p>
            <a:pPr lvl="0" algn="ctr">
              <a:buClr>
                <a:schemeClr val="dk1"/>
              </a:buClr>
              <a:buSzPts val="1500"/>
            </a:pPr>
            <a:r>
              <a:rPr lang="ja-JP" altLang="en-US" sz="1400" dirty="0">
                <a:latin typeface="メイリオ"/>
                <a:ea typeface="メイリオ"/>
                <a:cs typeface="メイリオ"/>
                <a:sym typeface="Meiryo"/>
              </a:rPr>
              <a:t>送り友だちを増やす。</a:t>
            </a:r>
            <a:endParaRPr lang="en-US" altLang="ja-JP" sz="1400" dirty="0">
              <a:latin typeface="メイリオ"/>
              <a:ea typeface="メイリオ"/>
              <a:cs typeface="メイリオ"/>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メイリオ"/>
                <a:ea typeface="メイリオ"/>
                <a:cs typeface="メイリオ"/>
                <a:sym typeface="Meiryo"/>
              </a:rPr>
              <a:t>事例：宅配ピザ</a:t>
            </a:r>
            <a:endParaRPr lang="en-US" altLang="ja-JP" sz="1400" dirty="0">
              <a:solidFill>
                <a:schemeClr val="tx1">
                  <a:lumMod val="50000"/>
                  <a:lumOff val="50000"/>
                </a:schemeClr>
              </a:solidFill>
              <a:latin typeface="メイリオ"/>
              <a:ea typeface="メイリオ"/>
              <a:cs typeface="メイリオ"/>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通知メッセージ導入４ヶ月で</a:t>
            </a:r>
            <a:endParaRPr lang="en-US" altLang="ja-JP" sz="1200" dirty="0">
              <a:solidFill>
                <a:schemeClr val="tx1">
                  <a:lumMod val="50000"/>
                  <a:lumOff val="50000"/>
                </a:schemeClr>
              </a:solidFill>
              <a:latin typeface="メイリオ"/>
              <a:ea typeface="メイリオ"/>
              <a:cs typeface="メイリオ"/>
              <a:sym typeface="Meiryo"/>
            </a:endParaRPr>
          </a:p>
          <a:p>
            <a:pPr lvl="0">
              <a:buClr>
                <a:schemeClr val="dk1"/>
              </a:buClr>
              <a:buSzPts val="1500"/>
            </a:pPr>
            <a:r>
              <a:rPr lang="ja-JP" altLang="en-US" sz="1200" dirty="0">
                <a:solidFill>
                  <a:schemeClr val="tx1">
                    <a:lumMod val="50000"/>
                    <a:lumOff val="50000"/>
                  </a:schemeClr>
                </a:solidFill>
                <a:latin typeface="メイリオ"/>
                <a:ea typeface="メイリオ"/>
                <a:cs typeface="メイリオ"/>
                <a:sym typeface="Meiryo"/>
              </a:rPr>
              <a:t>友だち数</a:t>
            </a:r>
            <a:r>
              <a:rPr lang="en-US" altLang="ja-JP" sz="1200" dirty="0">
                <a:solidFill>
                  <a:schemeClr val="tx1">
                    <a:lumMod val="50000"/>
                    <a:lumOff val="50000"/>
                  </a:schemeClr>
                </a:solidFill>
                <a:latin typeface="メイリオ"/>
                <a:ea typeface="メイリオ"/>
                <a:cs typeface="メイリオ"/>
                <a:sym typeface="Meiryo"/>
              </a:rPr>
              <a:t>2</a:t>
            </a:r>
            <a:r>
              <a:rPr lang="ja-JP" altLang="en-US" sz="1200" dirty="0">
                <a:solidFill>
                  <a:schemeClr val="tx1">
                    <a:lumMod val="50000"/>
                    <a:lumOff val="50000"/>
                  </a:schemeClr>
                </a:solidFill>
                <a:latin typeface="メイリオ"/>
                <a:ea typeface="メイリオ"/>
                <a:cs typeface="メイリオ"/>
                <a:sym typeface="Meiryo"/>
              </a:rPr>
              <a:t>倍</a:t>
            </a:r>
            <a:endParaRPr lang="en-US" altLang="ja-JP" sz="1200" dirty="0">
              <a:solidFill>
                <a:schemeClr val="tx1">
                  <a:lumMod val="50000"/>
                  <a:lumOff val="50000"/>
                </a:schemeClr>
              </a:solidFill>
              <a:latin typeface="メイリオ"/>
              <a:ea typeface="メイリオ"/>
              <a:cs typeface="メイリオ"/>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583059"/>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メイリオ"/>
                <a:ea typeface="メイリオ"/>
                <a:cs typeface="メイリオ"/>
                <a:sym typeface="Meiryo"/>
              </a:rPr>
              <a:t>準顕在（獲得見込みが高い）層の</a:t>
            </a:r>
            <a:r>
              <a:rPr lang="ja-JP" altLang="en-US" sz="1600" b="1" dirty="0">
                <a:latin typeface="メイリオ"/>
                <a:ea typeface="メイリオ"/>
                <a:cs typeface="メイリオ"/>
                <a:sym typeface="Meiryo"/>
              </a:rPr>
              <a:t>独自獲得手法が豊富</a:t>
            </a:r>
            <a:r>
              <a:rPr lang="ja-JP" altLang="en-US" sz="1600" dirty="0">
                <a:latin typeface="メイリオ"/>
                <a:ea typeface="メイリオ"/>
                <a:cs typeface="メイリオ"/>
                <a:sym typeface="Meiryo"/>
              </a:rPr>
              <a:t>で尚且つ</a:t>
            </a:r>
            <a:r>
              <a:rPr lang="ja-JP" altLang="en-US" sz="1600" b="1" dirty="0">
                <a:latin typeface="メイリオ"/>
                <a:ea typeface="メイリオ"/>
                <a:cs typeface="メイリオ"/>
                <a:sym typeface="Meiryo"/>
              </a:rPr>
              <a:t>利用までナーチャリング</a:t>
            </a:r>
            <a:endParaRPr lang="en-US" altLang="ja-JP" sz="1600" b="1" dirty="0">
              <a:latin typeface="メイリオ"/>
              <a:ea typeface="メイリオ"/>
              <a:cs typeface="メイリオ"/>
              <a:sym typeface="Meiryo"/>
            </a:endParaRPr>
          </a:p>
          <a:p>
            <a:pPr lvl="0" algn="ctr">
              <a:buClr>
                <a:schemeClr val="dk1"/>
              </a:buClr>
              <a:buSzPts val="1500"/>
            </a:pPr>
            <a:r>
              <a:rPr lang="en-US" altLang="ja-JP" sz="1100" dirty="0">
                <a:solidFill>
                  <a:srgbClr val="1F2A5C"/>
                </a:solidFill>
                <a:latin typeface="メイリオ"/>
                <a:ea typeface="メイリオ"/>
                <a:cs typeface="メイリオ"/>
                <a:sym typeface="Meiryo"/>
              </a:rPr>
              <a:t>※</a:t>
            </a:r>
            <a:r>
              <a:rPr lang="ja-JP" altLang="en-US" sz="1100" dirty="0">
                <a:solidFill>
                  <a:srgbClr val="1F2A5C"/>
                </a:solidFill>
                <a:latin typeface="メイリオ"/>
                <a:ea typeface="メイリオ"/>
                <a:cs typeface="メイリオ"/>
                <a:sym typeface="Meiryo"/>
              </a:rPr>
              <a:t>実施想定の友だち追加動線について、★を記載しております。</a:t>
            </a:r>
            <a:endParaRPr lang="en-US" altLang="ja-JP" sz="1600" dirty="0">
              <a:solidFill>
                <a:srgbClr val="1F2A5C"/>
              </a:solidFill>
              <a:latin typeface="メイリオ"/>
              <a:ea typeface="メイリオ"/>
              <a:cs typeface="メイリオ"/>
              <a:sym typeface="Meiryo"/>
            </a:endParaRPr>
          </a:p>
        </p:txBody>
      </p:sp>
      <p:sp>
        <p:nvSpPr>
          <p:cNvPr id="6" name="星: 5 pt 5">
            <a:extLst>
              <a:ext uri="{FF2B5EF4-FFF2-40B4-BE49-F238E27FC236}">
                <a16:creationId xmlns:a16="http://schemas.microsoft.com/office/drawing/2014/main" id="{73AA3FF7-ED61-B641-763C-E4940D075F39}"/>
              </a:ext>
            </a:extLst>
          </p:cNvPr>
          <p:cNvSpPr/>
          <p:nvPr/>
        </p:nvSpPr>
        <p:spPr>
          <a:xfrm>
            <a:off x="2749464"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
        <p:nvSpPr>
          <p:cNvPr id="12" name="星: 5 pt 11">
            <a:extLst>
              <a:ext uri="{FF2B5EF4-FFF2-40B4-BE49-F238E27FC236}">
                <a16:creationId xmlns:a16="http://schemas.microsoft.com/office/drawing/2014/main" id="{2C908883-96FE-2C98-5753-AECCC0E66D37}"/>
              </a:ext>
            </a:extLst>
          </p:cNvPr>
          <p:cNvSpPr/>
          <p:nvPr/>
        </p:nvSpPr>
        <p:spPr>
          <a:xfrm>
            <a:off x="9252865" y="1706924"/>
            <a:ext cx="540000" cy="540000"/>
          </a:xfrm>
          <a:prstGeom prst="star5">
            <a:avLst>
              <a:gd name="adj" fmla="val 32226"/>
              <a:gd name="hf" fmla="val 105146"/>
              <a:gd name="vf" fmla="val 110557"/>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メイリオ"/>
              <a:ea typeface="メイリオ"/>
              <a:cs typeface="メイリオ"/>
            </a:endParaRPr>
          </a:p>
        </p:txBody>
      </p:sp>
    </p:spTree>
    <p:extLst>
      <p:ext uri="{BB962C8B-B14F-4D97-AF65-F5344CB8AC3E}">
        <p14:creationId xmlns:p14="http://schemas.microsoft.com/office/powerpoint/2010/main" val="3000134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cs typeface="メイリオ"/>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cs typeface="メイリオ"/>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cs typeface="メイリオ"/>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やまや（</a:t>
            </a:r>
            <a:r>
              <a:rPr kumimoji="1" lang="en-US" altLang="ja-JP" sz="1100" dirty="0">
                <a:solidFill>
                  <a:schemeClr val="tx1"/>
                </a:solidFill>
                <a:latin typeface="メイリオ" panose="020B0604030504040204" pitchFamily="50" charset="-128"/>
                <a:ea typeface="メイリオ" panose="020B0604030504040204" pitchFamily="50" charset="-128"/>
                <a:cs typeface="メイリオ"/>
              </a:rPr>
              <a:t>EC</a:t>
            </a:r>
            <a:r>
              <a:rPr kumimoji="1" lang="ja-JP" altLang="en-US" sz="1100" dirty="0">
                <a:solidFill>
                  <a:schemeClr val="tx1"/>
                </a:solidFill>
                <a:latin typeface="メイリオ" panose="020B0604030504040204" pitchFamily="50" charset="-128"/>
                <a:ea typeface="メイリオ" panose="020B0604030504040204" pitchFamily="50" charset="-128"/>
                <a:cs typeface="メイリオ"/>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メイリオ"/>
                <a:ea typeface="メイリオ"/>
                <a:cs typeface="メイリオ"/>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nSpc>
                  <a:spcPct val="120000"/>
                </a:lnSpc>
              </a:pPr>
              <a:r>
                <a:rPr kumimoji="1" lang="ja-JP" altLang="en-US" sz="1500" b="1" dirty="0">
                  <a:solidFill>
                    <a:schemeClr val="bg1"/>
                  </a:solidFill>
                  <a:latin typeface="メイリオ" panose="020B0604030504040204" pitchFamily="34" charset="-128"/>
                  <a:ea typeface="メイリオ" panose="020B0604030504040204" pitchFamily="34" charset="-128"/>
                  <a:cs typeface="メイリオ"/>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メイリオ"/>
                <a:ea typeface="メイリオ"/>
                <a:cs typeface="メイリオ"/>
                <a:sym typeface="Meiryo"/>
              </a:rPr>
              <a:t>WEB</a:t>
            </a:r>
            <a:r>
              <a:rPr lang="ja-JP" altLang="en-US" sz="1600" dirty="0">
                <a:latin typeface="メイリオ"/>
                <a:ea typeface="メイリオ"/>
                <a:cs typeface="メイリオ"/>
                <a:sym typeface="Meiryo"/>
              </a:rPr>
              <a:t>上のアクションユーザー、貴社保有リスト をターゲット</a:t>
            </a:r>
            <a:endParaRPr lang="en-US" altLang="ja-JP" sz="1600" dirty="0">
              <a:latin typeface="メイリオ"/>
              <a:ea typeface="メイリオ"/>
              <a:cs typeface="メイリオ"/>
              <a:sym typeface="Meiryo"/>
            </a:endParaRPr>
          </a:p>
          <a:p>
            <a:pPr lvl="0" algn="ctr">
              <a:buClr>
                <a:schemeClr val="dk1"/>
              </a:buClr>
              <a:buSzPts val="1500"/>
            </a:pPr>
            <a:r>
              <a:rPr lang="ja-JP" altLang="en-US" sz="1600" dirty="0">
                <a:latin typeface="メイリオ"/>
                <a:ea typeface="メイリオ"/>
                <a:cs typeface="メイリオ"/>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初期：</a:t>
            </a:r>
            <a:r>
              <a:rPr lang="en-US" altLang="ja-JP" sz="1400" b="1" i="0" u="none" strike="noStrike" cap="none" dirty="0">
                <a:solidFill>
                  <a:schemeClr val="lt1"/>
                </a:solidFill>
                <a:latin typeface="メイリオ"/>
                <a:ea typeface="メイリオ"/>
                <a:cs typeface="メイリオ"/>
                <a:sym typeface="Meiryo"/>
              </a:rPr>
              <a:t>10</a:t>
            </a:r>
            <a:r>
              <a:rPr lang="ja-JP" altLang="en-US" sz="1400" b="1" i="0" u="none" strike="noStrike" cap="none" dirty="0">
                <a:solidFill>
                  <a:schemeClr val="lt1"/>
                </a:solidFill>
                <a:latin typeface="メイリオ"/>
                <a:ea typeface="メイリオ"/>
                <a:cs typeface="メイリオ"/>
                <a:sym typeface="Meiryo"/>
              </a:rPr>
              <a:t>万円</a:t>
            </a:r>
            <a:endParaRPr sz="1400" b="1" i="0" u="none" strike="noStrike" cap="none" dirty="0">
              <a:solidFill>
                <a:schemeClr val="lt1"/>
              </a:solidFill>
              <a:latin typeface="メイリオ"/>
              <a:ea typeface="メイリオ"/>
              <a:cs typeface="メイリオ"/>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メイリオ"/>
                <a:ea typeface="メイリオ"/>
                <a:cs typeface="メイリオ"/>
                <a:sym typeface="Meiryo"/>
              </a:rPr>
              <a:t>月額</a:t>
            </a:r>
            <a:r>
              <a:rPr lang="en-US" altLang="ja-JP" sz="1400" b="1" i="0" u="none" strike="noStrike" cap="none" dirty="0">
                <a:solidFill>
                  <a:schemeClr val="lt1"/>
                </a:solidFill>
                <a:latin typeface="メイリオ"/>
                <a:ea typeface="メイリオ"/>
                <a:cs typeface="メイリオ"/>
                <a:sym typeface="Meiryo"/>
              </a:rPr>
              <a:t>8</a:t>
            </a:r>
            <a:r>
              <a:rPr lang="ja-JP" altLang="en-US" sz="1400" b="1" i="0" u="none" strike="noStrike" cap="none" dirty="0">
                <a:solidFill>
                  <a:schemeClr val="lt1"/>
                </a:solidFill>
                <a:latin typeface="メイリオ"/>
                <a:ea typeface="メイリオ"/>
                <a:cs typeface="メイリオ"/>
                <a:sym typeface="Meiryo"/>
              </a:rPr>
              <a:t>万円～</a:t>
            </a:r>
            <a:endParaRPr lang="en-US" altLang="ja-JP" sz="1400" b="1" i="0" u="none" strike="noStrike" cap="none" dirty="0">
              <a:solidFill>
                <a:schemeClr val="lt1"/>
              </a:solidFill>
              <a:latin typeface="メイリオ"/>
              <a:ea typeface="メイリオ"/>
              <a:cs typeface="メイリオ"/>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メイリオ"/>
                <a:ea typeface="メイリオ"/>
                <a:cs typeface="メイリオ"/>
                <a:sym typeface="Meiryo"/>
              </a:rPr>
              <a:t>+</a:t>
            </a:r>
            <a:r>
              <a:rPr lang="ja-JP" altLang="en-US" sz="1050" b="1" dirty="0">
                <a:solidFill>
                  <a:srgbClr val="FFFFFF"/>
                </a:solidFill>
                <a:latin typeface="メイリオ"/>
                <a:ea typeface="メイリオ"/>
                <a:cs typeface="メイリオ"/>
                <a:sym typeface="Meiryo"/>
              </a:rPr>
              <a:t>通数単価：</a:t>
            </a:r>
            <a:r>
              <a:rPr lang="en-US" altLang="ja-JP" sz="1050" b="1" dirty="0">
                <a:solidFill>
                  <a:srgbClr val="FFFFFF"/>
                </a:solidFill>
                <a:latin typeface="メイリオ"/>
                <a:ea typeface="メイリオ"/>
                <a:cs typeface="メイリオ"/>
                <a:sym typeface="Meiryo"/>
              </a:rPr>
              <a:t>7</a:t>
            </a:r>
            <a:r>
              <a:rPr lang="ja-JP" altLang="en-US" sz="1050" b="1" dirty="0">
                <a:solidFill>
                  <a:srgbClr val="FFFFFF"/>
                </a:solidFill>
                <a:latin typeface="メイリオ"/>
                <a:ea typeface="メイリオ"/>
                <a:cs typeface="メイリオ"/>
                <a:sym typeface="Meiryo"/>
              </a:rPr>
              <a:t>円</a:t>
            </a:r>
            <a:endParaRPr sz="1050" b="1" i="0" u="none" strike="noStrike" cap="none" dirty="0">
              <a:solidFill>
                <a:srgbClr val="FFFFFF"/>
              </a:solidFill>
              <a:latin typeface="メイリオ"/>
              <a:ea typeface="メイリオ"/>
              <a:cs typeface="メイリオ"/>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1F2A5C"/>
                </a:solidFill>
                <a:latin typeface="メイリオ" panose="020B0604030504040204" pitchFamily="50" charset="-128"/>
                <a:ea typeface="メイリオ" panose="020B0604030504040204" pitchFamily="50" charset="-128"/>
                <a:cs typeface="メイリオ"/>
              </a:rPr>
              <a:t>Sales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a:t>
            </a:r>
            <a:r>
              <a:rPr lang="en-US" altLang="ja-JP" sz="900" dirty="0">
                <a:solidFill>
                  <a:srgbClr val="1F2A5C"/>
                </a:solidFill>
                <a:latin typeface="メイリオ" panose="020B0604030504040204" pitchFamily="50" charset="-128"/>
                <a:ea typeface="メイリオ" panose="020B0604030504040204" pitchFamily="50" charset="-128"/>
                <a:cs typeface="メイリオ"/>
              </a:rPr>
              <a:t>Tech Partner</a:t>
            </a:r>
            <a:r>
              <a:rPr lang="ja-JP" altLang="en-US" sz="900" dirty="0">
                <a:solidFill>
                  <a:srgbClr val="1F2A5C"/>
                </a:solidFill>
                <a:latin typeface="メイリオ" panose="020B0604030504040204" pitchFamily="50" charset="-128"/>
                <a:ea typeface="メイリオ" panose="020B0604030504040204" pitchFamily="50" charset="-128"/>
                <a:cs typeface="メイリオ"/>
              </a:rPr>
              <a:t>限定公開の</a:t>
            </a:r>
            <a:r>
              <a:rPr lang="en-US" altLang="ja-JP" sz="900" dirty="0">
                <a:solidFill>
                  <a:srgbClr val="1F2A5C"/>
                </a:solidFill>
                <a:latin typeface="メイリオ" panose="020B0604030504040204" pitchFamily="50" charset="-128"/>
                <a:ea typeface="メイリオ" panose="020B0604030504040204" pitchFamily="50" charset="-128"/>
                <a:cs typeface="メイリオ"/>
              </a:rPr>
              <a:t>API</a:t>
            </a:r>
            <a:r>
              <a:rPr lang="ja-JP" altLang="en-US" sz="900" dirty="0">
                <a:solidFill>
                  <a:srgbClr val="1F2A5C"/>
                </a:solidFill>
                <a:latin typeface="メイリオ" panose="020B0604030504040204" pitchFamily="50" charset="-128"/>
                <a:ea typeface="メイリオ" panose="020B0604030504040204" pitchFamily="50" charset="-128"/>
                <a:cs typeface="メイリオ"/>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1F2A5C"/>
                </a:solidFill>
                <a:latin typeface="メイリオ" panose="020B0604030504040204" pitchFamily="50" charset="-128"/>
                <a:ea typeface="メイリオ" panose="020B0604030504040204" pitchFamily="50" charset="-128"/>
                <a:cs typeface="メイリオ"/>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メイリオ"/>
                <a:ea typeface="メイリオ"/>
                <a:cs typeface="メイリオ"/>
                <a:sym typeface="Meiryo"/>
              </a:rPr>
              <a:t>利用可能なシーン一例</a:t>
            </a:r>
            <a:endParaRPr sz="900" i="0" u="none" strike="noStrike" cap="none" dirty="0">
              <a:solidFill>
                <a:srgbClr val="FFFFFF"/>
              </a:solidFill>
              <a:latin typeface="メイリオ"/>
              <a:ea typeface="メイリオ"/>
              <a:cs typeface="メイリオ"/>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0CDE0-BB10-C7C6-9CB9-785832AAB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4DA5ED1-E7F2-6353-56C2-FA4628CF19B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2AEA7C23-DE93-9590-AE94-B792C3122BEF}"/>
              </a:ext>
            </a:extLst>
          </p:cNvPr>
          <p:cNvSpPr/>
          <p:nvPr/>
        </p:nvSpPr>
        <p:spPr>
          <a:xfrm>
            <a:off x="0" y="68157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cs typeface="メイリオ"/>
              </a:rPr>
              <a:t>サービス内容</a:t>
            </a:r>
            <a:endParaRPr kumimoji="1" lang="ja-JP" altLang="en-US" sz="1400" dirty="0">
              <a:latin typeface="メイリオ" panose="020B0604030504040204" pitchFamily="50" charset="-128"/>
              <a:ea typeface="メイリオ" panose="020B0604030504040204" pitchFamily="50" charset="-128"/>
              <a:cs typeface="メイリオ"/>
            </a:endParaRPr>
          </a:p>
        </p:txBody>
      </p:sp>
      <p:sp>
        <p:nvSpPr>
          <p:cNvPr id="5" name="Google Shape;752;p28">
            <a:extLst>
              <a:ext uri="{FF2B5EF4-FFF2-40B4-BE49-F238E27FC236}">
                <a16:creationId xmlns:a16="http://schemas.microsoft.com/office/drawing/2014/main" id="{9D6FEB09-4D8F-8EAE-D257-4C677C23BB92}"/>
              </a:ext>
            </a:extLst>
          </p:cNvPr>
          <p:cNvSpPr txBox="1"/>
          <p:nvPr/>
        </p:nvSpPr>
        <p:spPr>
          <a:xfrm>
            <a:off x="2983774" y="782870"/>
            <a:ext cx="661987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メイリオ"/>
                <a:sym typeface="Meiryo"/>
              </a:rPr>
              <a:t>施策成果件数に伴う費用発生でリスクを抑えた運用スタートを実現。</a:t>
            </a:r>
          </a:p>
        </p:txBody>
      </p:sp>
      <p:sp>
        <p:nvSpPr>
          <p:cNvPr id="17" name="正方形/長方形 16">
            <a:extLst>
              <a:ext uri="{FF2B5EF4-FFF2-40B4-BE49-F238E27FC236}">
                <a16:creationId xmlns:a16="http://schemas.microsoft.com/office/drawing/2014/main" id="{64B91377-FDB2-808E-0970-159FDA78ABB9}"/>
              </a:ext>
            </a:extLst>
          </p:cNvPr>
          <p:cNvSpPr/>
          <p:nvPr/>
        </p:nvSpPr>
        <p:spPr>
          <a:xfrm>
            <a:off x="3996942" y="122215"/>
            <a:ext cx="2083719" cy="320757"/>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cs typeface="メイリオ"/>
              </a:rPr>
              <a:t>DYM</a:t>
            </a:r>
            <a:r>
              <a:rPr kumimoji="1" lang="ja-JP" altLang="en-US" sz="1400" dirty="0">
                <a:latin typeface="メイリオ" panose="020B0604030504040204" pitchFamily="50" charset="-128"/>
                <a:ea typeface="メイリオ" panose="020B0604030504040204" pitchFamily="50" charset="-128"/>
                <a:cs typeface="メイリオ"/>
              </a:rPr>
              <a:t>プラン</a:t>
            </a:r>
          </a:p>
        </p:txBody>
      </p:sp>
      <p:sp>
        <p:nvSpPr>
          <p:cNvPr id="3" name="Shape 2">
            <a:extLst>
              <a:ext uri="{FF2B5EF4-FFF2-40B4-BE49-F238E27FC236}">
                <a16:creationId xmlns:a16="http://schemas.microsoft.com/office/drawing/2014/main" id="{133EC02F-4D0A-E846-1994-A1FA50AA761C}"/>
              </a:ext>
            </a:extLst>
          </p:cNvPr>
          <p:cNvSpPr/>
          <p:nvPr/>
        </p:nvSpPr>
        <p:spPr>
          <a:xfrm>
            <a:off x="3996942" y="1299722"/>
            <a:ext cx="5180076" cy="658368"/>
          </a:xfrm>
          <a:prstGeom prst="roundRect">
            <a:avLst>
              <a:gd name="adj" fmla="val 11111"/>
            </a:avLst>
          </a:prstGeom>
          <a:solidFill>
            <a:schemeClr val="bg1">
              <a:lumMod val="85000"/>
            </a:schemeClr>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2" name="Shape 3">
            <a:extLst>
              <a:ext uri="{FF2B5EF4-FFF2-40B4-BE49-F238E27FC236}">
                <a16:creationId xmlns:a16="http://schemas.microsoft.com/office/drawing/2014/main" id="{B03D337C-CE0C-8D62-1622-3E7F414F385E}"/>
              </a:ext>
            </a:extLst>
          </p:cNvPr>
          <p:cNvSpPr/>
          <p:nvPr/>
        </p:nvSpPr>
        <p:spPr>
          <a:xfrm>
            <a:off x="4232400" y="1391162"/>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5" name="Text 4">
            <a:extLst>
              <a:ext uri="{FF2B5EF4-FFF2-40B4-BE49-F238E27FC236}">
                <a16:creationId xmlns:a16="http://schemas.microsoft.com/office/drawing/2014/main" id="{B1A45445-BB59-E57C-783F-82C190B07BF0}"/>
              </a:ext>
            </a:extLst>
          </p:cNvPr>
          <p:cNvSpPr/>
          <p:nvPr/>
        </p:nvSpPr>
        <p:spPr>
          <a:xfrm>
            <a:off x="4232400" y="1391162"/>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30" name="Text 5">
            <a:extLst>
              <a:ext uri="{FF2B5EF4-FFF2-40B4-BE49-F238E27FC236}">
                <a16:creationId xmlns:a16="http://schemas.microsoft.com/office/drawing/2014/main" id="{9B28CF00-AAB9-C0E8-E939-BB9A0644E64F}"/>
              </a:ext>
            </a:extLst>
          </p:cNvPr>
          <p:cNvSpPr/>
          <p:nvPr/>
        </p:nvSpPr>
        <p:spPr>
          <a:xfrm>
            <a:off x="4872480" y="1354586"/>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カスタマージャーニー（8フェーズ）</a:t>
            </a:r>
            <a:endParaRPr lang="en-US" sz="1300" dirty="0">
              <a:latin typeface="メイリオ" panose="020B0604030504040204" pitchFamily="50" charset="-128"/>
              <a:ea typeface="メイリオ" panose="020B0604030504040204" pitchFamily="50" charset="-128"/>
              <a:cs typeface="メイリオ"/>
            </a:endParaRPr>
          </a:p>
        </p:txBody>
      </p:sp>
      <p:sp>
        <p:nvSpPr>
          <p:cNvPr id="31" name="Text 6">
            <a:extLst>
              <a:ext uri="{FF2B5EF4-FFF2-40B4-BE49-F238E27FC236}">
                <a16:creationId xmlns:a16="http://schemas.microsoft.com/office/drawing/2014/main" id="{859B7776-633B-4EB8-939E-2F40912A0B26}"/>
              </a:ext>
            </a:extLst>
          </p:cNvPr>
          <p:cNvSpPr/>
          <p:nvPr/>
        </p:nvSpPr>
        <p:spPr>
          <a:xfrm>
            <a:off x="4872480" y="1647194"/>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接触〜リピートまでの動線設計</a:t>
            </a:r>
            <a:endParaRPr lang="en-US" sz="1000" dirty="0">
              <a:latin typeface="メイリオ" panose="020B0604030504040204" pitchFamily="50" charset="-128"/>
              <a:ea typeface="メイリオ" panose="020B0604030504040204" pitchFamily="50" charset="-128"/>
              <a:cs typeface="メイリオ"/>
            </a:endParaRPr>
          </a:p>
        </p:txBody>
      </p:sp>
      <p:sp>
        <p:nvSpPr>
          <p:cNvPr id="32" name="Shape 7">
            <a:extLst>
              <a:ext uri="{FF2B5EF4-FFF2-40B4-BE49-F238E27FC236}">
                <a16:creationId xmlns:a16="http://schemas.microsoft.com/office/drawing/2014/main" id="{7D44BDCF-0A55-B2C9-910D-3324635E44D1}"/>
              </a:ext>
            </a:extLst>
          </p:cNvPr>
          <p:cNvSpPr/>
          <p:nvPr/>
        </p:nvSpPr>
        <p:spPr>
          <a:xfrm>
            <a:off x="3996942" y="2067818"/>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3" name="Shape 8">
            <a:extLst>
              <a:ext uri="{FF2B5EF4-FFF2-40B4-BE49-F238E27FC236}">
                <a16:creationId xmlns:a16="http://schemas.microsoft.com/office/drawing/2014/main" id="{6B95D5FC-BCA7-C12E-16F3-F3982D7CB7FF}"/>
              </a:ext>
            </a:extLst>
          </p:cNvPr>
          <p:cNvSpPr/>
          <p:nvPr/>
        </p:nvSpPr>
        <p:spPr>
          <a:xfrm>
            <a:off x="4232400" y="215925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4" name="Text 9">
            <a:extLst>
              <a:ext uri="{FF2B5EF4-FFF2-40B4-BE49-F238E27FC236}">
                <a16:creationId xmlns:a16="http://schemas.microsoft.com/office/drawing/2014/main" id="{337B0579-C212-59E6-2BF8-06592B5DE9B2}"/>
              </a:ext>
            </a:extLst>
          </p:cNvPr>
          <p:cNvSpPr/>
          <p:nvPr/>
        </p:nvSpPr>
        <p:spPr>
          <a:xfrm>
            <a:off x="4232400" y="215925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02</a:t>
            </a:r>
            <a:endParaRPr lang="en-US" sz="1300" dirty="0">
              <a:latin typeface="メイリオ" panose="020B0604030504040204" pitchFamily="50" charset="-128"/>
              <a:ea typeface="メイリオ" panose="020B0604030504040204" pitchFamily="50" charset="-128"/>
              <a:cs typeface="メイリオ"/>
            </a:endParaRPr>
          </a:p>
        </p:txBody>
      </p:sp>
      <p:sp>
        <p:nvSpPr>
          <p:cNvPr id="35" name="Text 10">
            <a:extLst>
              <a:ext uri="{FF2B5EF4-FFF2-40B4-BE49-F238E27FC236}">
                <a16:creationId xmlns:a16="http://schemas.microsoft.com/office/drawing/2014/main" id="{920D37BD-A1AA-216C-CD8A-FC40DD16D16E}"/>
              </a:ext>
            </a:extLst>
          </p:cNvPr>
          <p:cNvSpPr/>
          <p:nvPr/>
        </p:nvSpPr>
        <p:spPr>
          <a:xfrm>
            <a:off x="4872480" y="212268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LINEステップ配信シナリオ（5通）</a:t>
            </a:r>
            <a:endParaRPr lang="en-US" sz="1300" dirty="0">
              <a:latin typeface="メイリオ" panose="020B0604030504040204" pitchFamily="50" charset="-128"/>
              <a:ea typeface="メイリオ" panose="020B0604030504040204" pitchFamily="50" charset="-128"/>
              <a:cs typeface="メイリオ"/>
            </a:endParaRPr>
          </a:p>
        </p:txBody>
      </p:sp>
      <p:sp>
        <p:nvSpPr>
          <p:cNvPr id="36" name="Text 11">
            <a:extLst>
              <a:ext uri="{FF2B5EF4-FFF2-40B4-BE49-F238E27FC236}">
                <a16:creationId xmlns:a16="http://schemas.microsoft.com/office/drawing/2014/main" id="{974E4765-6EBA-5838-ABF7-F21BBF0480C5}"/>
              </a:ext>
            </a:extLst>
          </p:cNvPr>
          <p:cNvSpPr/>
          <p:nvPr/>
        </p:nvSpPr>
        <p:spPr>
          <a:xfrm>
            <a:off x="4872480" y="241529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r>
              <a:rPr lang="en-US" sz="1000" dirty="0">
                <a:solidFill>
                  <a:srgbClr val="64748B"/>
                </a:solidFill>
                <a:latin typeface="メイリオ" panose="020B0604030504040204" pitchFamily="50" charset="-128"/>
                <a:ea typeface="メイリオ" panose="020B0604030504040204" pitchFamily="50" charset="-128"/>
                <a:cs typeface="メイリオ" pitchFamily="34" charset="-120"/>
              </a:rPr>
              <a:t>友だち追加直後〜セミナー予約まで</a:t>
            </a:r>
            <a:endParaRPr lang="en-US" sz="1000" dirty="0">
              <a:latin typeface="メイリオ" panose="020B0604030504040204" pitchFamily="50" charset="-128"/>
              <a:ea typeface="メイリオ" panose="020B0604030504040204" pitchFamily="50" charset="-128"/>
              <a:cs typeface="メイリオ"/>
            </a:endParaRPr>
          </a:p>
        </p:txBody>
      </p:sp>
      <p:sp>
        <p:nvSpPr>
          <p:cNvPr id="37" name="Shape 12">
            <a:extLst>
              <a:ext uri="{FF2B5EF4-FFF2-40B4-BE49-F238E27FC236}">
                <a16:creationId xmlns:a16="http://schemas.microsoft.com/office/drawing/2014/main" id="{D811E673-9797-08AA-F052-158BFDE9379B}"/>
              </a:ext>
            </a:extLst>
          </p:cNvPr>
          <p:cNvSpPr/>
          <p:nvPr/>
        </p:nvSpPr>
        <p:spPr>
          <a:xfrm>
            <a:off x="3996942" y="2835914"/>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8" name="Shape 13">
            <a:extLst>
              <a:ext uri="{FF2B5EF4-FFF2-40B4-BE49-F238E27FC236}">
                <a16:creationId xmlns:a16="http://schemas.microsoft.com/office/drawing/2014/main" id="{11CD1AF8-999B-AEAA-EA44-B774D877F777}"/>
              </a:ext>
            </a:extLst>
          </p:cNvPr>
          <p:cNvSpPr/>
          <p:nvPr/>
        </p:nvSpPr>
        <p:spPr>
          <a:xfrm>
            <a:off x="4232400" y="292735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9" name="Text 14">
            <a:extLst>
              <a:ext uri="{FF2B5EF4-FFF2-40B4-BE49-F238E27FC236}">
                <a16:creationId xmlns:a16="http://schemas.microsoft.com/office/drawing/2014/main" id="{39EC602B-88CD-63D2-D10B-5FB47EBB73C5}"/>
              </a:ext>
            </a:extLst>
          </p:cNvPr>
          <p:cNvSpPr/>
          <p:nvPr/>
        </p:nvSpPr>
        <p:spPr>
          <a:xfrm>
            <a:off x="4232400" y="292735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03</a:t>
            </a:r>
            <a:endParaRPr lang="en-US" sz="1300" dirty="0">
              <a:latin typeface="メイリオ" panose="020B0604030504040204" pitchFamily="50" charset="-128"/>
              <a:ea typeface="メイリオ" panose="020B0604030504040204" pitchFamily="50" charset="-128"/>
              <a:cs typeface="メイリオ"/>
            </a:endParaRPr>
          </a:p>
        </p:txBody>
      </p:sp>
      <p:sp>
        <p:nvSpPr>
          <p:cNvPr id="40" name="Text 15">
            <a:extLst>
              <a:ext uri="{FF2B5EF4-FFF2-40B4-BE49-F238E27FC236}">
                <a16:creationId xmlns:a16="http://schemas.microsoft.com/office/drawing/2014/main" id="{0AEE18E8-A2E5-2400-F73C-D5891E9A42FC}"/>
              </a:ext>
            </a:extLst>
          </p:cNvPr>
          <p:cNvSpPr/>
          <p:nvPr/>
        </p:nvSpPr>
        <p:spPr>
          <a:xfrm>
            <a:off x="4872480" y="2890778"/>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興味分野の把握（簡易アンケート）</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42" name="Text 16">
            <a:extLst>
              <a:ext uri="{FF2B5EF4-FFF2-40B4-BE49-F238E27FC236}">
                <a16:creationId xmlns:a16="http://schemas.microsoft.com/office/drawing/2014/main" id="{B4775A80-7B08-FF59-7696-55B7BFFE29C0}"/>
              </a:ext>
            </a:extLst>
          </p:cNvPr>
          <p:cNvSpPr/>
          <p:nvPr/>
        </p:nvSpPr>
        <p:spPr>
          <a:xfrm>
            <a:off x="4872480" y="3183386"/>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流入経路・興味分野に応じた配信の出し分け</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43" name="Shape 17">
            <a:extLst>
              <a:ext uri="{FF2B5EF4-FFF2-40B4-BE49-F238E27FC236}">
                <a16:creationId xmlns:a16="http://schemas.microsoft.com/office/drawing/2014/main" id="{3D356BBE-5EFA-8143-1308-9A8F66D3D8F4}"/>
              </a:ext>
            </a:extLst>
          </p:cNvPr>
          <p:cNvSpPr/>
          <p:nvPr/>
        </p:nvSpPr>
        <p:spPr>
          <a:xfrm>
            <a:off x="3996942" y="3604010"/>
            <a:ext cx="5180076" cy="658368"/>
          </a:xfrm>
          <a:prstGeom prst="roundRect">
            <a:avLst>
              <a:gd name="adj" fmla="val 11111"/>
            </a:avLst>
          </a:prstGeom>
          <a:solidFill>
            <a:srgbClr val="FFFF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4" name="Shape 18">
            <a:extLst>
              <a:ext uri="{FF2B5EF4-FFF2-40B4-BE49-F238E27FC236}">
                <a16:creationId xmlns:a16="http://schemas.microsoft.com/office/drawing/2014/main" id="{347BFA19-EB93-7D44-5D29-87E8A0640967}"/>
              </a:ext>
            </a:extLst>
          </p:cNvPr>
          <p:cNvSpPr/>
          <p:nvPr/>
        </p:nvSpPr>
        <p:spPr>
          <a:xfrm>
            <a:off x="4232400" y="369545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 19">
            <a:extLst>
              <a:ext uri="{FF2B5EF4-FFF2-40B4-BE49-F238E27FC236}">
                <a16:creationId xmlns:a16="http://schemas.microsoft.com/office/drawing/2014/main" id="{808039CB-8A35-B1E6-353C-C961982DAEEE}"/>
              </a:ext>
            </a:extLst>
          </p:cNvPr>
          <p:cNvSpPr/>
          <p:nvPr/>
        </p:nvSpPr>
        <p:spPr>
          <a:xfrm>
            <a:off x="4232400" y="369545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04</a:t>
            </a:r>
            <a:endParaRPr lang="en-US" sz="1300" dirty="0">
              <a:latin typeface="メイリオ" panose="020B0604030504040204" pitchFamily="50" charset="-128"/>
              <a:ea typeface="メイリオ" panose="020B0604030504040204" pitchFamily="50" charset="-128"/>
              <a:cs typeface="メイリオ"/>
            </a:endParaRPr>
          </a:p>
        </p:txBody>
      </p:sp>
      <p:sp>
        <p:nvSpPr>
          <p:cNvPr id="46" name="Text 20">
            <a:extLst>
              <a:ext uri="{FF2B5EF4-FFF2-40B4-BE49-F238E27FC236}">
                <a16:creationId xmlns:a16="http://schemas.microsoft.com/office/drawing/2014/main" id="{5510FCD4-7246-36B3-3CB6-AE9EB64B95B8}"/>
              </a:ext>
            </a:extLst>
          </p:cNvPr>
          <p:cNvSpPr/>
          <p:nvPr/>
        </p:nvSpPr>
        <p:spPr>
          <a:xfrm>
            <a:off x="4872480" y="365887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セグメント設定</a:t>
            </a:r>
            <a:endParaRPr lang="en-US" sz="1300" dirty="0">
              <a:latin typeface="メイリオ" panose="020B0604030504040204" pitchFamily="50" charset="-128"/>
              <a:ea typeface="メイリオ" panose="020B0604030504040204" pitchFamily="50" charset="-128"/>
              <a:cs typeface="メイリオ"/>
            </a:endParaRPr>
          </a:p>
        </p:txBody>
      </p:sp>
      <p:sp>
        <p:nvSpPr>
          <p:cNvPr id="47" name="Text 21">
            <a:extLst>
              <a:ext uri="{FF2B5EF4-FFF2-40B4-BE49-F238E27FC236}">
                <a16:creationId xmlns:a16="http://schemas.microsoft.com/office/drawing/2014/main" id="{30188B70-2DE7-6DC7-0865-6F6103AD5132}"/>
              </a:ext>
            </a:extLst>
          </p:cNvPr>
          <p:cNvSpPr/>
          <p:nvPr/>
        </p:nvSpPr>
        <p:spPr>
          <a:xfrm>
            <a:off x="4872480" y="395148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buNone/>
            </a:pPr>
            <a:endParaRPr lang="en-US" sz="1000" dirty="0">
              <a:latin typeface="メイリオ" panose="020B0604030504040204" pitchFamily="50" charset="-128"/>
              <a:ea typeface="メイリオ" panose="020B0604030504040204" pitchFamily="50" charset="-128"/>
              <a:cs typeface="メイリオ"/>
            </a:endParaRPr>
          </a:p>
        </p:txBody>
      </p:sp>
      <p:sp>
        <p:nvSpPr>
          <p:cNvPr id="49" name="Text 16">
            <a:extLst>
              <a:ext uri="{FF2B5EF4-FFF2-40B4-BE49-F238E27FC236}">
                <a16:creationId xmlns:a16="http://schemas.microsoft.com/office/drawing/2014/main" id="{5224712D-B17D-A02C-3D89-CC6242B38B83}"/>
              </a:ext>
            </a:extLst>
          </p:cNvPr>
          <p:cNvSpPr/>
          <p:nvPr/>
        </p:nvSpPr>
        <p:spPr>
          <a:xfrm>
            <a:off x="4872480" y="396519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a:latin typeface="メイリオ" panose="020B0604030504040204" pitchFamily="50" charset="-128"/>
                <a:ea typeface="メイリオ" panose="020B0604030504040204" pitchFamily="50" charset="-128"/>
                <a:cs typeface="メイリオ"/>
              </a:rPr>
              <a:t>WEB</a:t>
            </a:r>
            <a:r>
              <a:rPr lang="ja-JP" altLang="en-US" sz="1000" dirty="0">
                <a:latin typeface="メイリオ" panose="020B0604030504040204" pitchFamily="50" charset="-128"/>
                <a:ea typeface="メイリオ" panose="020B0604030504040204" pitchFamily="50" charset="-128"/>
                <a:cs typeface="メイリオ"/>
              </a:rPr>
              <a:t>サイトアクション、</a:t>
            </a:r>
            <a:r>
              <a:rPr lang="en-US" altLang="ja-JP" sz="1000" dirty="0">
                <a:latin typeface="メイリオ" panose="020B0604030504040204" pitchFamily="50" charset="-128"/>
                <a:ea typeface="メイリオ" panose="020B0604030504040204" pitchFamily="50" charset="-128"/>
                <a:cs typeface="メイリオ"/>
              </a:rPr>
              <a:t>LINE</a:t>
            </a:r>
            <a:r>
              <a:rPr lang="ja-JP" altLang="en-US" sz="1000" dirty="0">
                <a:latin typeface="メイリオ" panose="020B0604030504040204" pitchFamily="50" charset="-128"/>
                <a:ea typeface="メイリオ" panose="020B0604030504040204" pitchFamily="50" charset="-128"/>
                <a:cs typeface="メイリオ"/>
              </a:rPr>
              <a:t>上アクションのスコアリング 等を活用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2" name="Shape 12">
            <a:extLst>
              <a:ext uri="{FF2B5EF4-FFF2-40B4-BE49-F238E27FC236}">
                <a16:creationId xmlns:a16="http://schemas.microsoft.com/office/drawing/2014/main" id="{FEE65136-327D-500B-12B2-F775BA661CA0}"/>
              </a:ext>
            </a:extLst>
          </p:cNvPr>
          <p:cNvSpPr/>
          <p:nvPr/>
        </p:nvSpPr>
        <p:spPr>
          <a:xfrm>
            <a:off x="3996942" y="4335530"/>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3" name="Shape 13">
            <a:extLst>
              <a:ext uri="{FF2B5EF4-FFF2-40B4-BE49-F238E27FC236}">
                <a16:creationId xmlns:a16="http://schemas.microsoft.com/office/drawing/2014/main" id="{4E57D180-2654-0AC3-340A-A6D2C576BF28}"/>
              </a:ext>
            </a:extLst>
          </p:cNvPr>
          <p:cNvSpPr/>
          <p:nvPr/>
        </p:nvSpPr>
        <p:spPr>
          <a:xfrm>
            <a:off x="4232400" y="4426970"/>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55" name="Text 14">
            <a:extLst>
              <a:ext uri="{FF2B5EF4-FFF2-40B4-BE49-F238E27FC236}">
                <a16:creationId xmlns:a16="http://schemas.microsoft.com/office/drawing/2014/main" id="{246080CC-996D-7BA0-3140-EC427EE9AC6A}"/>
              </a:ext>
            </a:extLst>
          </p:cNvPr>
          <p:cNvSpPr/>
          <p:nvPr/>
        </p:nvSpPr>
        <p:spPr>
          <a:xfrm>
            <a:off x="4232400" y="4426970"/>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sz="1300" dirty="0">
              <a:latin typeface="メイリオ" panose="020B0604030504040204" pitchFamily="50" charset="-128"/>
              <a:ea typeface="メイリオ" panose="020B0604030504040204" pitchFamily="50" charset="-128"/>
              <a:cs typeface="メイリオ"/>
            </a:endParaRPr>
          </a:p>
        </p:txBody>
      </p:sp>
      <p:sp>
        <p:nvSpPr>
          <p:cNvPr id="56" name="Text 15">
            <a:extLst>
              <a:ext uri="{FF2B5EF4-FFF2-40B4-BE49-F238E27FC236}">
                <a16:creationId xmlns:a16="http://schemas.microsoft.com/office/drawing/2014/main" id="{613A87C0-F021-8C8E-C0C8-7A94F347FD40}"/>
              </a:ext>
            </a:extLst>
          </p:cNvPr>
          <p:cNvSpPr/>
          <p:nvPr/>
        </p:nvSpPr>
        <p:spPr>
          <a:xfrm>
            <a:off x="4872480" y="4390394"/>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効果計測・改善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58" name="Text 16">
            <a:extLst>
              <a:ext uri="{FF2B5EF4-FFF2-40B4-BE49-F238E27FC236}">
                <a16:creationId xmlns:a16="http://schemas.microsoft.com/office/drawing/2014/main" id="{9DA36E29-5E4C-827F-3F47-7F5A66283E74}"/>
              </a:ext>
            </a:extLst>
          </p:cNvPr>
          <p:cNvSpPr/>
          <p:nvPr/>
        </p:nvSpPr>
        <p:spPr>
          <a:xfrm>
            <a:off x="4872480" y="4683002"/>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配信ごとの開封・クリック・予約を確認し、次の配信に反映</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59" name="Shape 12">
            <a:extLst>
              <a:ext uri="{FF2B5EF4-FFF2-40B4-BE49-F238E27FC236}">
                <a16:creationId xmlns:a16="http://schemas.microsoft.com/office/drawing/2014/main" id="{161B3C95-AA02-BAC5-D24B-86C62582A0EE}"/>
              </a:ext>
            </a:extLst>
          </p:cNvPr>
          <p:cNvSpPr/>
          <p:nvPr/>
        </p:nvSpPr>
        <p:spPr>
          <a:xfrm>
            <a:off x="3996942" y="5085338"/>
            <a:ext cx="5180076" cy="658368"/>
          </a:xfrm>
          <a:prstGeom prst="roundRect">
            <a:avLst>
              <a:gd name="adj" fmla="val 11111"/>
            </a:avLst>
          </a:prstGeom>
          <a:solidFill>
            <a:schemeClr val="bg1"/>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0" name="Shape 13">
            <a:extLst>
              <a:ext uri="{FF2B5EF4-FFF2-40B4-BE49-F238E27FC236}">
                <a16:creationId xmlns:a16="http://schemas.microsoft.com/office/drawing/2014/main" id="{69FCAD8A-755C-CC30-3ED3-D5F11C11A363}"/>
              </a:ext>
            </a:extLst>
          </p:cNvPr>
          <p:cNvSpPr/>
          <p:nvPr/>
        </p:nvSpPr>
        <p:spPr>
          <a:xfrm>
            <a:off x="4232400" y="5176778"/>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64" name="Text 14">
            <a:extLst>
              <a:ext uri="{FF2B5EF4-FFF2-40B4-BE49-F238E27FC236}">
                <a16:creationId xmlns:a16="http://schemas.microsoft.com/office/drawing/2014/main" id="{6301A83B-57F7-303A-D503-58842AD3A2C9}"/>
              </a:ext>
            </a:extLst>
          </p:cNvPr>
          <p:cNvSpPr/>
          <p:nvPr/>
        </p:nvSpPr>
        <p:spPr>
          <a:xfrm>
            <a:off x="4232400" y="5176778"/>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06</a:t>
            </a:r>
            <a:endParaRPr lang="en-US" sz="1300" dirty="0">
              <a:latin typeface="メイリオ" panose="020B0604030504040204" pitchFamily="50" charset="-128"/>
              <a:ea typeface="メイリオ" panose="020B0604030504040204" pitchFamily="50" charset="-128"/>
              <a:cs typeface="メイリオ"/>
            </a:endParaRPr>
          </a:p>
        </p:txBody>
      </p:sp>
      <p:sp>
        <p:nvSpPr>
          <p:cNvPr id="70" name="Text 15">
            <a:extLst>
              <a:ext uri="{FF2B5EF4-FFF2-40B4-BE49-F238E27FC236}">
                <a16:creationId xmlns:a16="http://schemas.microsoft.com/office/drawing/2014/main" id="{26FF7A4F-5A58-E1CE-107D-E1780C611FE8}"/>
              </a:ext>
            </a:extLst>
          </p:cNvPr>
          <p:cNvSpPr/>
          <p:nvPr/>
        </p:nvSpPr>
        <p:spPr>
          <a:xfrm>
            <a:off x="4872480" y="5140202"/>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300" b="1" dirty="0" err="1">
                <a:solidFill>
                  <a:srgbClr val="1E2761"/>
                </a:solidFill>
                <a:latin typeface="メイリオ" panose="020B0604030504040204" pitchFamily="50" charset="-128"/>
                <a:ea typeface="メイリオ" panose="020B0604030504040204" pitchFamily="50" charset="-128"/>
                <a:cs typeface="メイリオ" pitchFamily="34" charset="-120"/>
              </a:rPr>
              <a:t>セミナー開催月・開催のない月の企画配信</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1" name="Text 16">
            <a:extLst>
              <a:ext uri="{FF2B5EF4-FFF2-40B4-BE49-F238E27FC236}">
                <a16:creationId xmlns:a16="http://schemas.microsoft.com/office/drawing/2014/main" id="{71DABE45-88FB-C5ED-EF05-90FD4F3C4A0B}"/>
              </a:ext>
            </a:extLst>
          </p:cNvPr>
          <p:cNvSpPr/>
          <p:nvPr/>
        </p:nvSpPr>
        <p:spPr>
          <a:xfrm>
            <a:off x="4872480" y="5432810"/>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en-US" altLang="ja-JP" sz="1000" dirty="0" err="1">
                <a:solidFill>
                  <a:srgbClr val="64748B"/>
                </a:solidFill>
                <a:latin typeface="メイリオ" panose="020B0604030504040204" pitchFamily="50" charset="-128"/>
                <a:ea typeface="メイリオ" panose="020B0604030504040204" pitchFamily="50" charset="-128"/>
                <a:cs typeface="メイリオ" pitchFamily="34" charset="-120"/>
              </a:rPr>
              <a:t>開催月は月4〜5回、開催のない月は月1〜2回の配信案</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4" name="Shape 12">
            <a:extLst>
              <a:ext uri="{FF2B5EF4-FFF2-40B4-BE49-F238E27FC236}">
                <a16:creationId xmlns:a16="http://schemas.microsoft.com/office/drawing/2014/main" id="{B291868D-9C9C-066C-CFF8-87B199CEA5CF}"/>
              </a:ext>
            </a:extLst>
          </p:cNvPr>
          <p:cNvSpPr/>
          <p:nvPr/>
        </p:nvSpPr>
        <p:spPr>
          <a:xfrm>
            <a:off x="3996942" y="5838536"/>
            <a:ext cx="5180076" cy="658368"/>
          </a:xfrm>
          <a:prstGeom prst="roundRect">
            <a:avLst>
              <a:gd name="adj" fmla="val 11111"/>
            </a:avLst>
          </a:prstGeom>
          <a:solidFill>
            <a:srgbClr val="F4F7FF"/>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5" name="Shape 13">
            <a:extLst>
              <a:ext uri="{FF2B5EF4-FFF2-40B4-BE49-F238E27FC236}">
                <a16:creationId xmlns:a16="http://schemas.microsoft.com/office/drawing/2014/main" id="{50DF7319-3B00-9111-2E31-8AC337BA4D33}"/>
              </a:ext>
            </a:extLst>
          </p:cNvPr>
          <p:cNvSpPr/>
          <p:nvPr/>
        </p:nvSpPr>
        <p:spPr>
          <a:xfrm>
            <a:off x="4232400" y="5929976"/>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76" name="Text 14">
            <a:extLst>
              <a:ext uri="{FF2B5EF4-FFF2-40B4-BE49-F238E27FC236}">
                <a16:creationId xmlns:a16="http://schemas.microsoft.com/office/drawing/2014/main" id="{0C235F7A-0F23-E972-590D-0F6705D7497F}"/>
              </a:ext>
            </a:extLst>
          </p:cNvPr>
          <p:cNvSpPr/>
          <p:nvPr/>
        </p:nvSpPr>
        <p:spPr>
          <a:xfrm>
            <a:off x="4232400" y="5929976"/>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altLang="ja-JP" sz="1300" b="1" dirty="0">
                <a:solidFill>
                  <a:srgbClr val="CADCFC"/>
                </a:solidFill>
                <a:latin typeface="メイリオ" panose="020B0604030504040204" pitchFamily="50" charset="-128"/>
                <a:ea typeface="メイリオ" panose="020B0604030504040204" pitchFamily="50" charset="-128"/>
                <a:cs typeface="メイリオ" pitchFamily="34" charset="-120"/>
              </a:rPr>
              <a:t>07</a:t>
            </a:r>
            <a:endParaRPr lang="en-US" sz="1300" dirty="0">
              <a:latin typeface="メイリオ" panose="020B0604030504040204" pitchFamily="50" charset="-128"/>
              <a:ea typeface="メイリオ" panose="020B0604030504040204" pitchFamily="50" charset="-128"/>
              <a:cs typeface="メイリオ"/>
            </a:endParaRPr>
          </a:p>
        </p:txBody>
      </p:sp>
      <p:sp>
        <p:nvSpPr>
          <p:cNvPr id="77" name="Text 15">
            <a:extLst>
              <a:ext uri="{FF2B5EF4-FFF2-40B4-BE49-F238E27FC236}">
                <a16:creationId xmlns:a16="http://schemas.microsoft.com/office/drawing/2014/main" id="{A8806AA1-15C3-799B-4DF6-265E528EF9FE}"/>
              </a:ext>
            </a:extLst>
          </p:cNvPr>
          <p:cNvSpPr/>
          <p:nvPr/>
        </p:nvSpPr>
        <p:spPr>
          <a:xfrm>
            <a:off x="4872480" y="5893400"/>
            <a:ext cx="3947160" cy="320040"/>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300" b="1" dirty="0">
                <a:solidFill>
                  <a:srgbClr val="1E2761"/>
                </a:solidFill>
                <a:latin typeface="メイリオ" panose="020B0604030504040204" pitchFamily="50" charset="-128"/>
                <a:ea typeface="メイリオ" panose="020B0604030504040204" pitchFamily="50" charset="-128"/>
                <a:cs typeface="メイリオ" pitchFamily="34" charset="-120"/>
              </a:rPr>
              <a:t>各種設定の更新・改善</a:t>
            </a:r>
            <a:endParaRPr lang="en-US" altLang="ja-JP" sz="1300" dirty="0">
              <a:latin typeface="メイリオ" panose="020B0604030504040204" pitchFamily="50" charset="-128"/>
              <a:ea typeface="メイリオ" panose="020B0604030504040204" pitchFamily="50" charset="-128"/>
              <a:cs typeface="メイリオ"/>
            </a:endParaRPr>
          </a:p>
        </p:txBody>
      </p:sp>
      <p:sp>
        <p:nvSpPr>
          <p:cNvPr id="78" name="Text 16">
            <a:extLst>
              <a:ext uri="{FF2B5EF4-FFF2-40B4-BE49-F238E27FC236}">
                <a16:creationId xmlns:a16="http://schemas.microsoft.com/office/drawing/2014/main" id="{60F4341A-D01A-FB28-EE9D-FBD6E531C1A2}"/>
              </a:ext>
            </a:extLst>
          </p:cNvPr>
          <p:cNvSpPr/>
          <p:nvPr/>
        </p:nvSpPr>
        <p:spPr>
          <a:xfrm>
            <a:off x="4872480" y="6186008"/>
            <a:ext cx="4554415" cy="256032"/>
          </a:xfrm>
          <a:prstGeom prst="rect">
            <a:avLst/>
          </a:prstGeom>
          <a:noFill/>
          <a:ln/>
        </p:spPr>
        <p:txBody>
          <a:bodyPr wrap="square" lIns="0" tIns="0" rIns="0" bIns="0"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r>
              <a:rPr lang="ja-JP" altLang="en-US" sz="1000" dirty="0">
                <a:latin typeface="メイリオ" panose="020B0604030504040204" pitchFamily="50" charset="-128"/>
                <a:ea typeface="メイリオ" panose="020B0604030504040204" pitchFamily="50" charset="-128"/>
                <a:cs typeface="メイリオ"/>
              </a:rPr>
              <a:t>あいさつメッセージ、リッチメニュー、</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の改修（</a:t>
            </a:r>
            <a:r>
              <a:rPr lang="en-US" altLang="ja-JP" sz="1000" dirty="0">
                <a:latin typeface="メイリオ" panose="020B0604030504040204" pitchFamily="50" charset="-128"/>
                <a:ea typeface="メイリオ" panose="020B0604030504040204" pitchFamily="50" charset="-128"/>
                <a:cs typeface="メイリオ"/>
              </a:rPr>
              <a:t>※LP</a:t>
            </a:r>
            <a:r>
              <a:rPr lang="ja-JP" altLang="en-US" sz="1000" dirty="0">
                <a:latin typeface="メイリオ" panose="020B0604030504040204" pitchFamily="50" charset="-128"/>
                <a:ea typeface="メイリオ" panose="020B0604030504040204" pitchFamily="50" charset="-128"/>
                <a:cs typeface="メイリオ"/>
              </a:rPr>
              <a:t>は別途費用）</a:t>
            </a:r>
            <a:endParaRPr lang="en-US" altLang="ja-JP" sz="1000" dirty="0">
              <a:latin typeface="メイリオ" panose="020B0604030504040204" pitchFamily="50" charset="-128"/>
              <a:ea typeface="メイリオ" panose="020B0604030504040204" pitchFamily="50" charset="-128"/>
              <a:cs typeface="メイリオ"/>
            </a:endParaRPr>
          </a:p>
        </p:txBody>
      </p:sp>
      <p:sp>
        <p:nvSpPr>
          <p:cNvPr id="79" name="テキスト ボックス 78">
            <a:extLst>
              <a:ext uri="{FF2B5EF4-FFF2-40B4-BE49-F238E27FC236}">
                <a16:creationId xmlns:a16="http://schemas.microsoft.com/office/drawing/2014/main" id="{4C2DE5F8-8AC0-6067-4D4C-B9D9A832AFB8}"/>
              </a:ext>
            </a:extLst>
          </p:cNvPr>
          <p:cNvSpPr txBox="1"/>
          <p:nvPr/>
        </p:nvSpPr>
        <p:spPr>
          <a:xfrm>
            <a:off x="320847" y="1664842"/>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初期費用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sp>
        <p:nvSpPr>
          <p:cNvPr id="80" name="テキスト ボックス 79">
            <a:extLst>
              <a:ext uri="{FF2B5EF4-FFF2-40B4-BE49-F238E27FC236}">
                <a16:creationId xmlns:a16="http://schemas.microsoft.com/office/drawing/2014/main" id="{E134C725-7D1E-AE55-EE5C-49EE0EE87D93}"/>
              </a:ext>
            </a:extLst>
          </p:cNvPr>
          <p:cNvSpPr txBox="1"/>
          <p:nvPr/>
        </p:nvSpPr>
        <p:spPr>
          <a:xfrm>
            <a:off x="320847" y="2645729"/>
            <a:ext cx="2800460" cy="791695"/>
          </a:xfrm>
          <a:prstGeom prst="rect">
            <a:avLst/>
          </a:prstGeom>
          <a:solidFill>
            <a:schemeClr val="tx1">
              <a:lumMod val="65000"/>
              <a:lumOff val="35000"/>
            </a:schemeClr>
          </a:solidFill>
        </p:spPr>
        <p:txBody>
          <a:bodyPr wrap="square" anchor="ctr">
            <a:spAutoFit/>
          </a:bodyPr>
          <a:lstStyle/>
          <a:p>
            <a:pPr algn="ct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&lt;</a:t>
            </a:r>
            <a:r>
              <a:rPr kumimoji="1" lang="ja-JP" altLang="en-US" b="1" dirty="0">
                <a:solidFill>
                  <a:schemeClr val="bg1"/>
                </a:solidFill>
                <a:latin typeface="メイリオ" panose="020B0604030504040204" pitchFamily="50" charset="-128"/>
                <a:ea typeface="メイリオ" panose="020B0604030504040204" pitchFamily="50" charset="-128"/>
                <a:cs typeface="メイリオ"/>
              </a:rPr>
              <a:t>月額費用</a:t>
            </a:r>
            <a:r>
              <a:rPr kumimoji="1" lang="en-US" altLang="ja-JP" b="1" dirty="0">
                <a:solidFill>
                  <a:schemeClr val="bg1"/>
                </a:solidFill>
                <a:latin typeface="メイリオ" panose="020B0604030504040204" pitchFamily="50" charset="-128"/>
                <a:ea typeface="メイリオ" panose="020B0604030504040204" pitchFamily="50" charset="-128"/>
                <a:cs typeface="メイリオ"/>
              </a:rPr>
              <a:t>&gt;</a:t>
            </a:r>
            <a:endParaRPr kumimoji="1" lang="ja-JP" altLang="en-US" b="1" dirty="0">
              <a:solidFill>
                <a:schemeClr val="bg1"/>
              </a:solidFill>
              <a:latin typeface="メイリオ" panose="020B0604030504040204" pitchFamily="50" charset="-128"/>
              <a:ea typeface="メイリオ" panose="020B0604030504040204" pitchFamily="50" charset="-128"/>
              <a:cs typeface="メイリオ"/>
            </a:endParaRPr>
          </a:p>
        </p:txBody>
      </p:sp>
      <p:cxnSp>
        <p:nvCxnSpPr>
          <p:cNvPr id="82" name="直線コネクタ 81">
            <a:extLst>
              <a:ext uri="{FF2B5EF4-FFF2-40B4-BE49-F238E27FC236}">
                <a16:creationId xmlns:a16="http://schemas.microsoft.com/office/drawing/2014/main" id="{831B96C5-FD9C-7953-5A0F-36510DDC3A7B}"/>
              </a:ext>
            </a:extLst>
          </p:cNvPr>
          <p:cNvCxnSpPr>
            <a:cxnSpLocks/>
            <a:stCxn id="79" idx="3"/>
            <a:endCxn id="3" idx="1"/>
          </p:cNvCxnSpPr>
          <p:nvPr/>
        </p:nvCxnSpPr>
        <p:spPr>
          <a:xfrm flipV="1">
            <a:off x="3121307" y="1628906"/>
            <a:ext cx="875635" cy="431784"/>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直線コネクタ 82">
            <a:extLst>
              <a:ext uri="{FF2B5EF4-FFF2-40B4-BE49-F238E27FC236}">
                <a16:creationId xmlns:a16="http://schemas.microsoft.com/office/drawing/2014/main" id="{6098E9A1-7354-0021-8518-053452298071}"/>
              </a:ext>
            </a:extLst>
          </p:cNvPr>
          <p:cNvCxnSpPr>
            <a:cxnSpLocks/>
            <a:stCxn id="79" idx="3"/>
            <a:endCxn id="32" idx="1"/>
          </p:cNvCxnSpPr>
          <p:nvPr/>
        </p:nvCxnSpPr>
        <p:spPr>
          <a:xfrm>
            <a:off x="3121307" y="2060690"/>
            <a:ext cx="875635" cy="336312"/>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4BFC78F3-17B4-F007-0507-0BCEB9DFB526}"/>
              </a:ext>
            </a:extLst>
          </p:cNvPr>
          <p:cNvCxnSpPr>
            <a:cxnSpLocks/>
            <a:stCxn id="79" idx="3"/>
            <a:endCxn id="37" idx="1"/>
          </p:cNvCxnSpPr>
          <p:nvPr/>
        </p:nvCxnSpPr>
        <p:spPr>
          <a:xfrm>
            <a:off x="3121307" y="2060690"/>
            <a:ext cx="875635" cy="1104408"/>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E053B786-BB0C-C1E1-76B7-A9573A626CCC}"/>
              </a:ext>
            </a:extLst>
          </p:cNvPr>
          <p:cNvCxnSpPr>
            <a:cxnSpLocks/>
            <a:stCxn id="79" idx="3"/>
            <a:endCxn id="43" idx="1"/>
          </p:cNvCxnSpPr>
          <p:nvPr/>
        </p:nvCxnSpPr>
        <p:spPr>
          <a:xfrm>
            <a:off x="3121307" y="2060690"/>
            <a:ext cx="875635" cy="1872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線コネクタ 92">
            <a:extLst>
              <a:ext uri="{FF2B5EF4-FFF2-40B4-BE49-F238E27FC236}">
                <a16:creationId xmlns:a16="http://schemas.microsoft.com/office/drawing/2014/main" id="{903C918B-3600-6FEA-8902-E84AA7410C48}"/>
              </a:ext>
            </a:extLst>
          </p:cNvPr>
          <p:cNvCxnSpPr>
            <a:cxnSpLocks/>
            <a:stCxn id="79" idx="3"/>
            <a:endCxn id="52" idx="1"/>
          </p:cNvCxnSpPr>
          <p:nvPr/>
        </p:nvCxnSpPr>
        <p:spPr>
          <a:xfrm>
            <a:off x="3121307" y="2060690"/>
            <a:ext cx="875635" cy="2604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3" name="直線コネクタ 102">
            <a:extLst>
              <a:ext uri="{FF2B5EF4-FFF2-40B4-BE49-F238E27FC236}">
                <a16:creationId xmlns:a16="http://schemas.microsoft.com/office/drawing/2014/main" id="{C69A1662-C040-7006-503F-B8153E815781}"/>
              </a:ext>
            </a:extLst>
          </p:cNvPr>
          <p:cNvCxnSpPr>
            <a:cxnSpLocks/>
            <a:stCxn id="80" idx="3"/>
            <a:endCxn id="59" idx="1"/>
          </p:cNvCxnSpPr>
          <p:nvPr/>
        </p:nvCxnSpPr>
        <p:spPr>
          <a:xfrm>
            <a:off x="3121307" y="3041577"/>
            <a:ext cx="875635" cy="23729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線コネクタ 105">
            <a:extLst>
              <a:ext uri="{FF2B5EF4-FFF2-40B4-BE49-F238E27FC236}">
                <a16:creationId xmlns:a16="http://schemas.microsoft.com/office/drawing/2014/main" id="{A951076B-2FA5-076D-22CD-6FECF9562464}"/>
              </a:ext>
            </a:extLst>
          </p:cNvPr>
          <p:cNvCxnSpPr>
            <a:cxnSpLocks/>
            <a:stCxn id="80" idx="3"/>
            <a:endCxn id="74" idx="1"/>
          </p:cNvCxnSpPr>
          <p:nvPr/>
        </p:nvCxnSpPr>
        <p:spPr>
          <a:xfrm>
            <a:off x="3121307" y="3041577"/>
            <a:ext cx="875635" cy="3126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テキスト ボックス 110">
            <a:extLst>
              <a:ext uri="{FF2B5EF4-FFF2-40B4-BE49-F238E27FC236}">
                <a16:creationId xmlns:a16="http://schemas.microsoft.com/office/drawing/2014/main" id="{082BA8EB-3EC9-6EAE-B9FB-1019DA2907F6}"/>
              </a:ext>
            </a:extLst>
          </p:cNvPr>
          <p:cNvSpPr txBox="1"/>
          <p:nvPr/>
        </p:nvSpPr>
        <p:spPr>
          <a:xfrm>
            <a:off x="7438779" y="5177010"/>
            <a:ext cx="1581647" cy="246221"/>
          </a:xfrm>
          <a:prstGeom prst="rect">
            <a:avLst/>
          </a:prstGeom>
          <a:noFill/>
        </p:spPr>
        <p:txBody>
          <a:bodyPr wrap="square">
            <a:spAutoFit/>
          </a:bodyPr>
          <a:lstStyle/>
          <a:p>
            <a:pPr algn="ctr"/>
            <a:r>
              <a:rPr kumimoji="1" lang="en-US" altLang="ja-JP" sz="1000" dirty="0">
                <a:solidFill>
                  <a:srgbClr val="1F2A5C"/>
                </a:solidFill>
                <a:latin typeface="メイリオ" panose="020B0604030504040204" pitchFamily="50" charset="-128"/>
                <a:ea typeface="メイリオ" panose="020B0604030504040204" pitchFamily="50" charset="-128"/>
                <a:cs typeface="メイリオ"/>
              </a:rPr>
              <a:t>※</a:t>
            </a:r>
            <a:r>
              <a:rPr kumimoji="1" lang="ja-JP" altLang="en-US" sz="1000" dirty="0">
                <a:solidFill>
                  <a:srgbClr val="1F2A5C"/>
                </a:solidFill>
                <a:latin typeface="メイリオ" panose="020B0604030504040204" pitchFamily="50" charset="-128"/>
                <a:ea typeface="メイリオ" panose="020B0604030504040204" pitchFamily="50" charset="-128"/>
                <a:cs typeface="メイリオ"/>
              </a:rPr>
              <a:t>本数により金額変動</a:t>
            </a:r>
          </a:p>
        </p:txBody>
      </p:sp>
      <p:sp>
        <p:nvSpPr>
          <p:cNvPr id="20" name="Shape 12">
            <a:extLst>
              <a:ext uri="{FF2B5EF4-FFF2-40B4-BE49-F238E27FC236}">
                <a16:creationId xmlns:a16="http://schemas.microsoft.com/office/drawing/2014/main" id="{18C0BF3B-C933-B900-F923-9B5EF5F7FBFF}"/>
              </a:ext>
            </a:extLst>
          </p:cNvPr>
          <p:cNvSpPr/>
          <p:nvPr/>
        </p:nvSpPr>
        <p:spPr>
          <a:xfrm>
            <a:off x="286011" y="4017770"/>
            <a:ext cx="3214833" cy="1106171"/>
          </a:xfrm>
          <a:prstGeom prst="roundRect">
            <a:avLst>
              <a:gd name="adj" fmla="val 11111"/>
            </a:avLst>
          </a:prstGeom>
          <a:solidFill>
            <a:srgbClr val="F2F2F2"/>
          </a:solidFill>
          <a:ln w="12700">
            <a:solidFill>
              <a:srgbClr val="E8EDF8"/>
            </a:solidFill>
            <a:prstDash val="solid"/>
          </a:ln>
          <a:effectLst>
            <a:outerShdw blurRad="101600" dist="25400" dir="2700000" algn="bl" rotWithShape="0">
              <a:srgbClr val="000000">
                <a:alpha val="10000"/>
              </a:srgbClr>
            </a:outerShdw>
          </a:effectLst>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3" name="Shape 3">
            <a:extLst>
              <a:ext uri="{FF2B5EF4-FFF2-40B4-BE49-F238E27FC236}">
                <a16:creationId xmlns:a16="http://schemas.microsoft.com/office/drawing/2014/main" id="{A8583825-051F-63CB-E5DA-C6D15505A435}"/>
              </a:ext>
            </a:extLst>
          </p:cNvPr>
          <p:cNvSpPr/>
          <p:nvPr/>
        </p:nvSpPr>
        <p:spPr>
          <a:xfrm>
            <a:off x="396037" y="4146914"/>
            <a:ext cx="502920" cy="475488"/>
          </a:xfrm>
          <a:prstGeom prst="roundRect">
            <a:avLst>
              <a:gd name="adj" fmla="val 11538"/>
            </a:avLst>
          </a:prstGeom>
          <a:solidFill>
            <a:srgbClr val="1E2761"/>
          </a:solidFill>
          <a:ln w="12700">
            <a:solidFill>
              <a:srgbClr val="1E2761"/>
            </a:solidFill>
            <a:prstDash val="solid"/>
          </a:ln>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26" name="Text 4">
            <a:extLst>
              <a:ext uri="{FF2B5EF4-FFF2-40B4-BE49-F238E27FC236}">
                <a16:creationId xmlns:a16="http://schemas.microsoft.com/office/drawing/2014/main" id="{3C6030FF-300A-A8F4-53D7-7136504B9465}"/>
              </a:ext>
            </a:extLst>
          </p:cNvPr>
          <p:cNvSpPr/>
          <p:nvPr/>
        </p:nvSpPr>
        <p:spPr>
          <a:xfrm>
            <a:off x="396037" y="4146914"/>
            <a:ext cx="502920" cy="475488"/>
          </a:xfrm>
          <a:prstGeom prst="rect">
            <a:avLst/>
          </a:prstGeom>
          <a:noFill/>
          <a:ln/>
        </p:spPr>
        <p:txBody>
          <a:bodyPr wrap="square" rtlCol="0" anchor="ctr"/>
          <a:lstStyle>
            <a:lvl1pPr marL="0" algn="l" defTabSz="914400" rtl="0" eaLnBrk="1" latinLnBrk="0" hangingPunct="1">
              <a:defRPr sz="1800" kern="1200">
                <a:solidFill>
                  <a:schemeClr val="tx1"/>
                </a:solidFill>
                <a:latin typeface="メイリオ"/>
                <a:ea typeface="メイリオ"/>
                <a:cs typeface="メイリオ"/>
              </a:defRPr>
            </a:lvl1pPr>
            <a:lvl2pPr marL="457200" algn="l" defTabSz="914400" rtl="0" eaLnBrk="1" latinLnBrk="0" hangingPunct="1">
              <a:defRPr sz="1800" kern="1200">
                <a:solidFill>
                  <a:schemeClr val="tx1"/>
                </a:solidFill>
                <a:latin typeface="メイリオ"/>
                <a:ea typeface="メイリオ"/>
                <a:cs typeface="メイリオ"/>
              </a:defRPr>
            </a:lvl2pPr>
            <a:lvl3pPr marL="914400" algn="l" defTabSz="914400" rtl="0" eaLnBrk="1" latinLnBrk="0" hangingPunct="1">
              <a:defRPr sz="1800" kern="1200">
                <a:solidFill>
                  <a:schemeClr val="tx1"/>
                </a:solidFill>
                <a:latin typeface="メイリオ"/>
                <a:ea typeface="メイリオ"/>
                <a:cs typeface="メイリオ"/>
              </a:defRPr>
            </a:lvl3pPr>
            <a:lvl4pPr marL="1371600" algn="l" defTabSz="914400" rtl="0" eaLnBrk="1" latinLnBrk="0" hangingPunct="1">
              <a:defRPr sz="1800" kern="1200">
                <a:solidFill>
                  <a:schemeClr val="tx1"/>
                </a:solidFill>
                <a:latin typeface="メイリオ"/>
                <a:ea typeface="メイリオ"/>
                <a:cs typeface="メイリオ"/>
              </a:defRPr>
            </a:lvl4pPr>
            <a:lvl5pPr marL="1828800" algn="l" defTabSz="914400" rtl="0" eaLnBrk="1" latinLnBrk="0" hangingPunct="1">
              <a:defRPr sz="1800" kern="1200">
                <a:solidFill>
                  <a:schemeClr val="tx1"/>
                </a:solidFill>
                <a:latin typeface="メイリオ"/>
                <a:ea typeface="メイリオ"/>
                <a:cs typeface="メイリオ"/>
              </a:defRPr>
            </a:lvl5pPr>
            <a:lvl6pPr marL="2286000" algn="l" defTabSz="914400" rtl="0" eaLnBrk="1" latinLnBrk="0" hangingPunct="1">
              <a:defRPr sz="1800" kern="1200">
                <a:solidFill>
                  <a:schemeClr val="tx1"/>
                </a:solidFill>
                <a:latin typeface="メイリオ"/>
                <a:ea typeface="メイリオ"/>
                <a:cs typeface="メイリオ"/>
              </a:defRPr>
            </a:lvl6pPr>
            <a:lvl7pPr marL="2743200" algn="l" defTabSz="914400" rtl="0" eaLnBrk="1" latinLnBrk="0" hangingPunct="1">
              <a:defRPr sz="1800" kern="1200">
                <a:solidFill>
                  <a:schemeClr val="tx1"/>
                </a:solidFill>
                <a:latin typeface="メイリオ"/>
                <a:ea typeface="メイリオ"/>
                <a:cs typeface="メイリオ"/>
              </a:defRPr>
            </a:lvl7pPr>
            <a:lvl8pPr marL="3200400" algn="l" defTabSz="914400" rtl="0" eaLnBrk="1" latinLnBrk="0" hangingPunct="1">
              <a:defRPr sz="1800" kern="1200">
                <a:solidFill>
                  <a:schemeClr val="tx1"/>
                </a:solidFill>
                <a:latin typeface="メイリオ"/>
                <a:ea typeface="メイリオ"/>
                <a:cs typeface="メイリオ"/>
              </a:defRPr>
            </a:lvl8pPr>
            <a:lvl9pPr marL="3657600" algn="l" defTabSz="914400" rtl="0" eaLnBrk="1" latinLnBrk="0" hangingPunct="1">
              <a:defRPr sz="1800" kern="1200">
                <a:solidFill>
                  <a:schemeClr val="tx1"/>
                </a:solidFill>
                <a:latin typeface="メイリオ"/>
                <a:ea typeface="メイリオ"/>
                <a:cs typeface="メイリオ"/>
              </a:defRPr>
            </a:lvl9pPr>
          </a:lstStyle>
          <a:p>
            <a:pPr marL="0" indent="0" algn="ctr">
              <a:buNone/>
            </a:pPr>
            <a:r>
              <a:rPr lang="en-US" sz="1300" b="1" dirty="0">
                <a:solidFill>
                  <a:srgbClr val="CADCFC"/>
                </a:solidFill>
                <a:latin typeface="メイリオ" panose="020B0604030504040204" pitchFamily="50" charset="-128"/>
                <a:ea typeface="メイリオ" panose="020B0604030504040204" pitchFamily="50" charset="-128"/>
                <a:cs typeface="メイリオ" pitchFamily="34" charset="-120"/>
              </a:rPr>
              <a:t>01</a:t>
            </a:r>
            <a:endParaRPr lang="en-US" sz="1300" dirty="0">
              <a:latin typeface="メイリオ" panose="020B0604030504040204" pitchFamily="50" charset="-128"/>
              <a:ea typeface="メイリオ" panose="020B0604030504040204" pitchFamily="50" charset="-128"/>
              <a:cs typeface="メイリオ"/>
            </a:endParaRPr>
          </a:p>
        </p:txBody>
      </p:sp>
      <p:sp>
        <p:nvSpPr>
          <p:cNvPr id="28" name="Shape 13">
            <a:extLst>
              <a:ext uri="{FF2B5EF4-FFF2-40B4-BE49-F238E27FC236}">
                <a16:creationId xmlns:a16="http://schemas.microsoft.com/office/drawing/2014/main" id="{BA6E3B17-14AB-43B1-EBF3-8D9704B6BB11}"/>
              </a:ext>
            </a:extLst>
          </p:cNvPr>
          <p:cNvSpPr/>
          <p:nvPr/>
        </p:nvSpPr>
        <p:spPr>
          <a:xfrm>
            <a:off x="1134415" y="4146914"/>
            <a:ext cx="502920" cy="475488"/>
          </a:xfrm>
          <a:prstGeom prst="roundRect">
            <a:avLst>
              <a:gd name="adj" fmla="val 11538"/>
            </a:avLst>
          </a:prstGeom>
          <a:solidFill>
            <a:srgbClr val="1E2761"/>
          </a:solidFill>
          <a:ln w="12700">
            <a:solidFill>
              <a:srgbClr val="1E2761"/>
            </a:solidFill>
            <a:prstDash val="solid"/>
          </a:ln>
        </p:spPr>
        <p:txBody>
          <a:bodyPr anchor="ctr"/>
          <a:lstStyle/>
          <a:p>
            <a:pPr algn="ctr"/>
            <a:r>
              <a:rPr lang="en-US" altLang="ja-JP" sz="1400" b="1" dirty="0">
                <a:solidFill>
                  <a:srgbClr val="CADCFC"/>
                </a:solidFill>
                <a:latin typeface="メイリオ" panose="020B0604030504040204" pitchFamily="50" charset="-128"/>
                <a:ea typeface="メイリオ" panose="020B0604030504040204" pitchFamily="50" charset="-128"/>
                <a:cs typeface="メイリオ" pitchFamily="34" charset="-120"/>
              </a:rPr>
              <a:t>05</a:t>
            </a:r>
            <a:endParaRPr lang="en-US" altLang="ja-JP" sz="1400" dirty="0">
              <a:latin typeface="メイリオ" panose="020B0604030504040204" pitchFamily="50" charset="-128"/>
              <a:ea typeface="メイリオ" panose="020B0604030504040204" pitchFamily="50" charset="-128"/>
              <a:cs typeface="メイリオ"/>
            </a:endParaRPr>
          </a:p>
        </p:txBody>
      </p:sp>
      <p:sp>
        <p:nvSpPr>
          <p:cNvPr id="41" name="テキスト ボックス 40">
            <a:extLst>
              <a:ext uri="{FF2B5EF4-FFF2-40B4-BE49-F238E27FC236}">
                <a16:creationId xmlns:a16="http://schemas.microsoft.com/office/drawing/2014/main" id="{B64D3BA7-9F12-14DB-A4FB-CDB1ED52D238}"/>
              </a:ext>
            </a:extLst>
          </p:cNvPr>
          <p:cNvSpPr txBox="1"/>
          <p:nvPr/>
        </p:nvSpPr>
        <p:spPr>
          <a:xfrm>
            <a:off x="850134" y="4251844"/>
            <a:ext cx="2789430" cy="738664"/>
          </a:xfrm>
          <a:prstGeom prst="rect">
            <a:avLst/>
          </a:prstGeom>
          <a:noFill/>
        </p:spPr>
        <p:txBody>
          <a:bodyPr wrap="square">
            <a:spAutoFit/>
          </a:bodyPr>
          <a:lstStyle/>
          <a:p>
            <a:r>
              <a:rPr kumimoji="1" lang="ja-JP" altLang="en-US" sz="1400" b="1" dirty="0">
                <a:latin typeface="メイリオ" panose="020B0604030504040204" pitchFamily="50" charset="-128"/>
                <a:ea typeface="メイリオ" panose="020B0604030504040204" pitchFamily="50" charset="-128"/>
                <a:cs typeface="メイリオ"/>
              </a:rPr>
              <a:t>～　　　 の修正・調整も</a:t>
            </a:r>
            <a:endParaRPr lang="en-US" altLang="ja-JP" sz="1400" b="1" dirty="0">
              <a:latin typeface="メイリオ" panose="020B0604030504040204" pitchFamily="50" charset="-128"/>
              <a:ea typeface="メイリオ" panose="020B0604030504040204" pitchFamily="50" charset="-128"/>
              <a:cs typeface="メイリオ"/>
            </a:endParaRPr>
          </a:p>
          <a:p>
            <a:endParaRPr kumimoji="1" lang="en-US" altLang="ja-JP" sz="1400" b="1" dirty="0">
              <a:latin typeface="メイリオ" panose="020B0604030504040204" pitchFamily="50" charset="-128"/>
              <a:ea typeface="メイリオ" panose="020B0604030504040204" pitchFamily="50" charset="-128"/>
              <a:cs typeface="メイリオ"/>
            </a:endParaRPr>
          </a:p>
          <a:p>
            <a:r>
              <a:rPr lang="ja-JP" altLang="en-US" sz="1400" b="1" dirty="0">
                <a:latin typeface="メイリオ" panose="020B0604030504040204" pitchFamily="50" charset="-128"/>
                <a:ea typeface="メイリオ" panose="020B0604030504040204" pitchFamily="50" charset="-128"/>
                <a:cs typeface="メイリオ"/>
              </a:rPr>
              <a:t>月次対応内に含んでおります。</a:t>
            </a:r>
            <a:endParaRPr kumimoji="1" lang="en-US" altLang="ja-JP" sz="1400" b="1"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3693530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83023-AF7C-336C-849B-8B85A9ACB9B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445BC53-89DD-A84D-9D16-6634A99161D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弊社からご提供できる運用プラン</a:t>
            </a:r>
          </a:p>
        </p:txBody>
      </p:sp>
      <p:sp>
        <p:nvSpPr>
          <p:cNvPr id="9" name="正方形/長方形 8">
            <a:extLst>
              <a:ext uri="{FF2B5EF4-FFF2-40B4-BE49-F238E27FC236}">
                <a16:creationId xmlns:a16="http://schemas.microsoft.com/office/drawing/2014/main" id="{9AB03A73-8782-5833-4EC4-7EE6E67551BB}"/>
              </a:ext>
            </a:extLst>
          </p:cNvPr>
          <p:cNvSpPr/>
          <p:nvPr/>
        </p:nvSpPr>
        <p:spPr>
          <a:xfrm>
            <a:off x="0" y="777240"/>
            <a:ext cx="2914650"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cs typeface="メイリオ"/>
              </a:rPr>
              <a:t>都度発注プラン</a:t>
            </a:r>
          </a:p>
        </p:txBody>
      </p:sp>
      <p:sp>
        <p:nvSpPr>
          <p:cNvPr id="3" name="Google Shape;752;p28">
            <a:extLst>
              <a:ext uri="{FF2B5EF4-FFF2-40B4-BE49-F238E27FC236}">
                <a16:creationId xmlns:a16="http://schemas.microsoft.com/office/drawing/2014/main" id="{028B53B5-690E-5899-171E-A9074171D6E9}"/>
              </a:ext>
            </a:extLst>
          </p:cNvPr>
          <p:cNvSpPr txBox="1"/>
          <p:nvPr/>
        </p:nvSpPr>
        <p:spPr>
          <a:xfrm>
            <a:off x="3036570" y="859443"/>
            <a:ext cx="627632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メイリオ"/>
                <a:sym typeface="Meiryo"/>
              </a:rPr>
              <a:t>LINEOA</a:t>
            </a:r>
            <a:r>
              <a:rPr lang="ja-JP" altLang="en-US" sz="1600" b="1" dirty="0">
                <a:latin typeface="メイリオ" panose="020B0604030504040204" pitchFamily="50" charset="-128"/>
                <a:ea typeface="メイリオ" panose="020B0604030504040204" pitchFamily="50" charset="-128"/>
                <a:cs typeface="メイリオ"/>
                <a:sym typeface="Meiryo"/>
              </a:rPr>
              <a:t>の運用業務・</a:t>
            </a:r>
            <a:r>
              <a:rPr lang="en-US" altLang="ja-JP" sz="1600" b="1" dirty="0">
                <a:latin typeface="メイリオ" panose="020B0604030504040204" pitchFamily="50" charset="-128"/>
                <a:ea typeface="メイリオ" panose="020B0604030504040204" pitchFamily="50" charset="-128"/>
                <a:cs typeface="メイリオ"/>
                <a:sym typeface="Meiryo"/>
              </a:rPr>
              <a:t>CR</a:t>
            </a:r>
            <a:r>
              <a:rPr lang="ja-JP" altLang="en-US" sz="1600" b="1" dirty="0">
                <a:latin typeface="メイリオ" panose="020B0604030504040204" pitchFamily="50" charset="-128"/>
                <a:ea typeface="メイリオ" panose="020B0604030504040204" pitchFamily="50" charset="-128"/>
                <a:cs typeface="メイリオ"/>
                <a:sym typeface="Meiryo"/>
              </a:rPr>
              <a:t>制作業務を一部外出ししてご依頼依頼も。</a:t>
            </a:r>
            <a:endParaRPr lang="en-US" altLang="ja-JP" sz="1600" b="1" dirty="0">
              <a:latin typeface="メイリオ" panose="020B0604030504040204" pitchFamily="50" charset="-128"/>
              <a:ea typeface="メイリオ" panose="020B0604030504040204" pitchFamily="50" charset="-128"/>
              <a:cs typeface="メイリオ"/>
              <a:sym typeface="Meiryo"/>
            </a:endParaRPr>
          </a:p>
        </p:txBody>
      </p:sp>
      <p:sp>
        <p:nvSpPr>
          <p:cNvPr id="12" name="正方形/長方形 11">
            <a:extLst>
              <a:ext uri="{FF2B5EF4-FFF2-40B4-BE49-F238E27FC236}">
                <a16:creationId xmlns:a16="http://schemas.microsoft.com/office/drawing/2014/main" id="{E2BC9744-CCD5-D85B-03E7-5884310FE6EE}"/>
              </a:ext>
            </a:extLst>
          </p:cNvPr>
          <p:cNvSpPr/>
          <p:nvPr/>
        </p:nvSpPr>
        <p:spPr>
          <a:xfrm>
            <a:off x="548883" y="1380214"/>
            <a:ext cx="8859613" cy="5081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endParaRPr>
          </a:p>
        </p:txBody>
      </p:sp>
      <p:sp>
        <p:nvSpPr>
          <p:cNvPr id="13" name="テキスト ボックス 12">
            <a:extLst>
              <a:ext uri="{FF2B5EF4-FFF2-40B4-BE49-F238E27FC236}">
                <a16:creationId xmlns:a16="http://schemas.microsoft.com/office/drawing/2014/main" id="{B88E2B73-305C-9688-214C-1EF768E484BD}"/>
              </a:ext>
            </a:extLst>
          </p:cNvPr>
          <p:cNvSpPr txBox="1"/>
          <p:nvPr/>
        </p:nvSpPr>
        <p:spPr>
          <a:xfrm>
            <a:off x="706726" y="1569462"/>
            <a:ext cx="4963884" cy="253916"/>
          </a:xfrm>
          <a:prstGeom prst="rect">
            <a:avLst/>
          </a:prstGeom>
          <a:noFill/>
        </p:spPr>
        <p:txBody>
          <a:bodyPr wrap="square">
            <a:spAutoFit/>
          </a:bodyPr>
          <a:lstStyle/>
          <a:p>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&lt;</a:t>
            </a: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追加作業における費用感　</a:t>
            </a:r>
            <a:r>
              <a:rPr lang="en-US" altLang="ja-JP" sz="9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900" dirty="0">
                <a:solidFill>
                  <a:srgbClr val="1F2A5C"/>
                </a:solidFill>
                <a:latin typeface="メイリオ" panose="020B0604030504040204" pitchFamily="50" charset="-128"/>
                <a:ea typeface="メイリオ" panose="020B0604030504040204" pitchFamily="50" charset="-128"/>
                <a:cs typeface="メイリオ"/>
                <a:sym typeface="Meiryo"/>
              </a:rPr>
              <a:t>作業量により変動する可能性がございます</a:t>
            </a:r>
            <a:r>
              <a:rPr lang="en-US" altLang="ja-JP" sz="1050" dirty="0">
                <a:solidFill>
                  <a:schemeClr val="tx1">
                    <a:lumMod val="65000"/>
                    <a:lumOff val="35000"/>
                  </a:schemeClr>
                </a:solidFill>
                <a:latin typeface="メイリオ" panose="020B0604030504040204" pitchFamily="50" charset="-128"/>
                <a:ea typeface="メイリオ" panose="020B0604030504040204" pitchFamily="50" charset="-128"/>
                <a:cs typeface="メイリオ"/>
                <a:sym typeface="Meiryo"/>
              </a:rPr>
              <a:t>&gt;</a:t>
            </a:r>
            <a:endParaRPr lang="ja-JP" altLang="en-US" sz="1050" dirty="0">
              <a:solidFill>
                <a:schemeClr val="tx1">
                  <a:lumMod val="65000"/>
                  <a:lumOff val="35000"/>
                </a:schemeClr>
              </a:solidFill>
              <a:latin typeface="メイリオ"/>
              <a:ea typeface="メイリオ"/>
              <a:cs typeface="メイリオ"/>
            </a:endParaRPr>
          </a:p>
        </p:txBody>
      </p:sp>
      <p:graphicFrame>
        <p:nvGraphicFramePr>
          <p:cNvPr id="14" name="表 13">
            <a:extLst>
              <a:ext uri="{FF2B5EF4-FFF2-40B4-BE49-F238E27FC236}">
                <a16:creationId xmlns:a16="http://schemas.microsoft.com/office/drawing/2014/main" id="{09C77DA6-2F75-12F7-39C7-7A6997364857}"/>
              </a:ext>
            </a:extLst>
          </p:cNvPr>
          <p:cNvGraphicFramePr>
            <a:graphicFrameLocks noGrp="1"/>
          </p:cNvGraphicFramePr>
          <p:nvPr/>
        </p:nvGraphicFramePr>
        <p:xfrm>
          <a:off x="706726" y="1862534"/>
          <a:ext cx="8543925" cy="4069730"/>
        </p:xfrm>
        <a:graphic>
          <a:graphicData uri="http://schemas.openxmlformats.org/drawingml/2006/table">
            <a:tbl>
              <a:tblPr/>
              <a:tblGrid>
                <a:gridCol w="1832575">
                  <a:extLst>
                    <a:ext uri="{9D8B030D-6E8A-4147-A177-3AD203B41FA5}">
                      <a16:colId xmlns:a16="http://schemas.microsoft.com/office/drawing/2014/main" val="861741390"/>
                    </a:ext>
                  </a:extLst>
                </a:gridCol>
                <a:gridCol w="1140808">
                  <a:extLst>
                    <a:ext uri="{9D8B030D-6E8A-4147-A177-3AD203B41FA5}">
                      <a16:colId xmlns:a16="http://schemas.microsoft.com/office/drawing/2014/main" val="2023292695"/>
                    </a:ext>
                  </a:extLst>
                </a:gridCol>
                <a:gridCol w="1140808">
                  <a:extLst>
                    <a:ext uri="{9D8B030D-6E8A-4147-A177-3AD203B41FA5}">
                      <a16:colId xmlns:a16="http://schemas.microsoft.com/office/drawing/2014/main" val="3807194112"/>
                    </a:ext>
                  </a:extLst>
                </a:gridCol>
                <a:gridCol w="315543">
                  <a:extLst>
                    <a:ext uri="{9D8B030D-6E8A-4147-A177-3AD203B41FA5}">
                      <a16:colId xmlns:a16="http://schemas.microsoft.com/office/drawing/2014/main" val="1897046241"/>
                    </a:ext>
                  </a:extLst>
                </a:gridCol>
                <a:gridCol w="1832575">
                  <a:extLst>
                    <a:ext uri="{9D8B030D-6E8A-4147-A177-3AD203B41FA5}">
                      <a16:colId xmlns:a16="http://schemas.microsoft.com/office/drawing/2014/main" val="286895173"/>
                    </a:ext>
                  </a:extLst>
                </a:gridCol>
                <a:gridCol w="1140808">
                  <a:extLst>
                    <a:ext uri="{9D8B030D-6E8A-4147-A177-3AD203B41FA5}">
                      <a16:colId xmlns:a16="http://schemas.microsoft.com/office/drawing/2014/main" val="241768133"/>
                    </a:ext>
                  </a:extLst>
                </a:gridCol>
                <a:gridCol w="1140808">
                  <a:extLst>
                    <a:ext uri="{9D8B030D-6E8A-4147-A177-3AD203B41FA5}">
                      <a16:colId xmlns:a16="http://schemas.microsoft.com/office/drawing/2014/main" val="3498780203"/>
                    </a:ext>
                  </a:extLst>
                </a:gridCol>
              </a:tblGrid>
              <a:tr h="290695">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内容</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l" fontAlgn="ctr">
                        <a:buNone/>
                      </a:pPr>
                      <a:endParaRPr lang="ja-JP" altLang="en-US" sz="1100" b="1"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1" i="0" u="none" strike="noStrike">
                          <a:solidFill>
                            <a:srgbClr val="FFFFFF"/>
                          </a:solidFill>
                          <a:effectLst/>
                          <a:latin typeface="メイリオ" panose="020B0604030504040204" pitchFamily="50" charset="-128"/>
                          <a:ea typeface="メイリオ" panose="020B0604030504040204" pitchFamily="50" charset="-128"/>
                          <a:cs typeface="メイリオ"/>
                        </a:rPr>
                        <a:t>対応項目</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初期</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tc>
                  <a:txBody>
                    <a:bodyPr/>
                    <a:lstStyle/>
                    <a:p>
                      <a:pPr algn="ctr" fontAlgn="ctr">
                        <a:buNone/>
                      </a:pPr>
                      <a:r>
                        <a:rPr lang="ja-JP" altLang="en-US" sz="1100" b="1" i="0" u="none" strike="noStrike" dirty="0">
                          <a:solidFill>
                            <a:srgbClr val="FFFFFF"/>
                          </a:solidFill>
                          <a:effectLst/>
                          <a:latin typeface="メイリオ" panose="020B0604030504040204" pitchFamily="50" charset="-128"/>
                          <a:ea typeface="メイリオ" panose="020B0604030504040204" pitchFamily="50" charset="-128"/>
                          <a:cs typeface="メイリオ"/>
                        </a:rPr>
                        <a:t>月額</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E2841"/>
                    </a:solidFill>
                  </a:tcPr>
                </a:tc>
                <a:extLst>
                  <a:ext uri="{0D108BD9-81ED-4DB2-BD59-A6C34878D82A}">
                    <a16:rowId xmlns:a16="http://schemas.microsoft.com/office/drawing/2014/main" val="156404078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アカウント開設</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API</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ツール導入</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2032470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プロフィール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ID</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¥200,000~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72466269"/>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リッチメニュー</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ログイン</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algn="ctr" rtl="0" eaLnBrk="1" fontAlgn="ctr" latinLnBrk="0" hangingPunct="1">
                        <a:buNone/>
                      </a:pPr>
                      <a:r>
                        <a:rPr kumimoji="1" lang="en-US" sz="1050" b="0" i="0" u="none" strike="noStrike" kern="1200" dirty="0">
                          <a:solidFill>
                            <a:schemeClr val="tx1">
                              <a:lumMod val="50000"/>
                              <a:lumOff val="50000"/>
                            </a:schemeClr>
                          </a:solidFill>
                          <a:effectLst/>
                          <a:latin typeface="メイリオ" panose="020B0604030504040204" pitchFamily="50" charset="-128"/>
                          <a:ea typeface="メイリオ" panose="020B0604030504040204" pitchFamily="50" charset="-128"/>
                          <a:cs typeface="メイリオ"/>
                        </a:rPr>
                        <a:t>¥0</a:t>
                      </a:r>
                      <a:endParaRPr lang="en-US" altLang="ja-JP" sz="2800" b="0" i="0" u="none" strike="noStrike" dirty="0">
                        <a:solidFill>
                          <a:schemeClr val="tx1">
                            <a:lumMod val="50000"/>
                            <a:lumOff val="50000"/>
                          </a:schemeClr>
                        </a:solidFill>
                        <a:effectLst/>
                        <a:latin typeface="メイリオ" panose="020B0604020202020204" pitchFamily="34" charset="0"/>
                        <a:ea typeface="メイリオ"/>
                        <a:cs typeface="メイリオ"/>
                      </a:endParaRPr>
                    </a:p>
                  </a:txBody>
                  <a:tcPr marL="9144" marR="9144" marT="9144"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843180495"/>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あいさつメッセージ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通知メッセージ</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56199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初期アンケート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チャットボット機能</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98230469"/>
                  </a:ext>
                </a:extLst>
              </a:tr>
              <a:tr h="290695">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KW</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の自動応答</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Chat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1305542"/>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ステップ配信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¥50,000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Call Plus</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1113508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セグメント配信</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rPr>
                        <a:t>決済</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98971440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チャットタグ管理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予約管理</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¥20,000~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0214931"/>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チャット対応</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 </a:t>
                      </a:r>
                      <a:r>
                        <a:rPr lang="en-US" altLang="ja-JP"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a:t>
                      </a:r>
                      <a:r>
                        <a:rPr lang="ja-JP" altLang="en-US" sz="700" b="0" i="0" u="none" strike="noStrike" dirty="0">
                          <a:solidFill>
                            <a:srgbClr val="1F2A5C"/>
                          </a:solidFill>
                          <a:effectLst/>
                          <a:latin typeface="メイリオ" panose="020B0604030504040204" pitchFamily="50" charset="-128"/>
                          <a:ea typeface="メイリオ" panose="020B0604030504040204" pitchFamily="50" charset="-128"/>
                          <a:cs typeface="メイリオ"/>
                        </a:rPr>
                        <a:t>サポートは可能</a:t>
                      </a:r>
                      <a:endParaRPr lang="ja-JP" altLang="en-US" sz="1100" b="0" i="0" u="none" strike="noStrike" dirty="0">
                        <a:solidFill>
                          <a:srgbClr val="1F2A5C"/>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¥100,000</a:t>
                      </a:r>
                      <a:r>
                        <a:rPr lang="ja-JP" altLang="en-US"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endPar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件数により変動</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19396613"/>
                  </a:ext>
                </a:extLst>
              </a:tr>
              <a:tr h="290695">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GA(CRM)</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レポート連携</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02321774"/>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クリエイティブ</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¥15,000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画像</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1</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枚での想定</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p>
                      <a:pPr marL="0" marR="0" lvl="0" indent="0" algn="ctr" defTabSz="914400" rtl="0" eaLnBrk="1" fontAlgn="ctr" latinLnBrk="0" hangingPunct="1">
                        <a:lnSpc>
                          <a:spcPct val="100000"/>
                        </a:lnSpc>
                        <a:spcBef>
                          <a:spcPts val="0"/>
                        </a:spcBef>
                        <a:spcAft>
                          <a:spcPts val="0"/>
                        </a:spcAft>
                        <a:buClrTx/>
                        <a:buSzTx/>
                        <a:buFontTx/>
                        <a:buNone/>
                        <a:tabLst/>
                        <a:defRPr>
                          <a:latin typeface="メイリオ"/>
                          <a:ea typeface="メイリオ"/>
                          <a:cs typeface="メイリオ"/>
                        </a:defRPr>
                      </a:pP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バナー、</a:t>
                      </a:r>
                      <a:r>
                        <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HTML</a:t>
                      </a:r>
                      <a:r>
                        <a:rPr lang="ja-JP" altLang="en-US" sz="600" b="0" i="0" u="none" strike="noStrike" dirty="0">
                          <a:solidFill>
                            <a:srgbClr val="000000"/>
                          </a:solidFill>
                          <a:effectLst/>
                          <a:latin typeface="メイリオ" panose="020B0604030504040204" pitchFamily="50" charset="-128"/>
                          <a:ea typeface="メイリオ" panose="020B0604030504040204" pitchFamily="50" charset="-128"/>
                          <a:cs typeface="メイリオ"/>
                        </a:rPr>
                        <a:t>メール等</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離脱防止ツール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98905920"/>
                  </a:ext>
                </a:extLst>
              </a:tr>
              <a:tr h="290695">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投稿作成</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00" b="0" i="0" u="none" strike="noStrike" dirty="0">
                          <a:solidFill>
                            <a:srgbClr val="000000"/>
                          </a:solidFill>
                          <a:effectLst/>
                          <a:latin typeface="メイリオ" panose="020B0604030504040204" pitchFamily="50" charset="-128"/>
                          <a:ea typeface="メイリオ" panose="020B0604030504040204" pitchFamily="50" charset="-128"/>
                          <a:cs typeface="メイリオ"/>
                        </a:rPr>
                        <a:t>¥30,000</a:t>
                      </a: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tc>
                  <a:txBody>
                    <a:bodyPr/>
                    <a:lstStyle/>
                    <a:p>
                      <a:pPr algn="l" fontAlgn="ctr">
                        <a:buNone/>
                      </a:pPr>
                      <a:endPar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noFill/>
                  </a:tcPr>
                </a:tc>
                <a:tc>
                  <a:txBody>
                    <a:bodyPr/>
                    <a:lstStyle/>
                    <a:p>
                      <a:pPr algn="ctr" fontAlgn="ctr">
                        <a:buNone/>
                      </a:pP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サンクス</a:t>
                      </a:r>
                      <a:r>
                        <a:rPr lang="en-US" altLang="ja-JP"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LINE</a:t>
                      </a:r>
                      <a:r>
                        <a:rPr lang="ja-JP" altLang="en-US" sz="1100" b="0" i="0" u="none" strike="noStrike" dirty="0">
                          <a:solidFill>
                            <a:srgbClr val="000000"/>
                          </a:solidFill>
                          <a:effectLst/>
                          <a:latin typeface="メイリオ" panose="020B0604030504040204" pitchFamily="50" charset="-128"/>
                          <a:ea typeface="メイリオ" panose="020B0604030504040204" pitchFamily="50" charset="-128"/>
                          <a:cs typeface="メイリオ"/>
                        </a:rPr>
                        <a:t>誘導ツール</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¥150,000</a:t>
                      </a:r>
                    </a:p>
                  </a:txBody>
                  <a:tcPr marL="9102" marR="9102" marT="1319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US" altLang="ja-JP" sz="1050" b="0" i="0" u="none" strike="noStrike" dirty="0">
                          <a:solidFill>
                            <a:schemeClr val="tx1">
                              <a:lumMod val="65000"/>
                              <a:lumOff val="35000"/>
                            </a:schemeClr>
                          </a:solidFill>
                          <a:effectLst/>
                          <a:latin typeface="メイリオ" panose="020B0604030504040204" pitchFamily="50" charset="-128"/>
                          <a:ea typeface="メイリオ" panose="020B0604030504040204" pitchFamily="50" charset="-128"/>
                          <a:cs typeface="メイリオ"/>
                        </a:rPr>
                        <a:t>¥30,000〜</a:t>
                      </a:r>
                      <a:endParaRPr lang="en-US" altLang="ja-JP" sz="600" b="0" i="0" u="none" strike="noStrike" dirty="0">
                        <a:solidFill>
                          <a:srgbClr val="000000"/>
                        </a:solidFill>
                        <a:effectLst/>
                        <a:latin typeface="メイリオ" panose="020B0604030504040204" pitchFamily="50" charset="-128"/>
                        <a:ea typeface="メイリオ" panose="020B0604030504040204" pitchFamily="50" charset="-128"/>
                        <a:cs typeface="メイリオ"/>
                      </a:endParaRPr>
                    </a:p>
                  </a:txBody>
                  <a:tcPr marL="9102" marR="9102" marT="910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17655704"/>
                  </a:ext>
                </a:extLst>
              </a:tr>
            </a:tbl>
          </a:graphicData>
        </a:graphic>
      </p:graphicFrame>
      <p:sp>
        <p:nvSpPr>
          <p:cNvPr id="5" name="テキスト ボックス 4">
            <a:extLst>
              <a:ext uri="{FF2B5EF4-FFF2-40B4-BE49-F238E27FC236}">
                <a16:creationId xmlns:a16="http://schemas.microsoft.com/office/drawing/2014/main" id="{F7D704DA-4ADC-402A-12BC-1D923B1E3B20}"/>
              </a:ext>
            </a:extLst>
          </p:cNvPr>
          <p:cNvSpPr txBox="1"/>
          <p:nvPr/>
        </p:nvSpPr>
        <p:spPr>
          <a:xfrm>
            <a:off x="1344877" y="6045252"/>
            <a:ext cx="7267622" cy="307777"/>
          </a:xfrm>
          <a:prstGeom prst="rect">
            <a:avLst/>
          </a:prstGeom>
          <a:noFill/>
        </p:spPr>
        <p:txBody>
          <a:bodyPr wrap="square">
            <a:spAutoFit/>
          </a:bodyPr>
          <a:lstStyle/>
          <a:p>
            <a:pPr algn="ctr"/>
            <a:r>
              <a:rPr lang="ja-JP" altLang="en-US" sz="1400" dirty="0">
                <a:solidFill>
                  <a:srgbClr val="1F2A5C"/>
                </a:solidFill>
                <a:latin typeface="メイリオ" panose="020B0604030504040204" pitchFamily="50" charset="-128"/>
                <a:ea typeface="メイリオ" panose="020B0604030504040204" pitchFamily="50" charset="-128"/>
                <a:cs typeface="メイリオ"/>
                <a:sym typeface="Meiryo"/>
              </a:rPr>
              <a:t>貴社リソースの状況に応じて都度発注でのご依頼も各単価で受けさせていただきます。</a:t>
            </a:r>
            <a:endParaRPr lang="ja-JP" altLang="en-US" sz="1400" dirty="0">
              <a:latin typeface="メイリオ"/>
              <a:ea typeface="メイリオ"/>
              <a:cs typeface="メイリオ"/>
            </a:endParaRPr>
          </a:p>
        </p:txBody>
      </p:sp>
      <p:sp>
        <p:nvSpPr>
          <p:cNvPr id="2" name="正方形/長方形 1">
            <a:extLst>
              <a:ext uri="{FF2B5EF4-FFF2-40B4-BE49-F238E27FC236}">
                <a16:creationId xmlns:a16="http://schemas.microsoft.com/office/drawing/2014/main" id="{80B84980-B4D9-2F75-F253-D767EB0FFCF5}"/>
              </a:ext>
            </a:extLst>
          </p:cNvPr>
          <p:cNvSpPr/>
          <p:nvPr/>
        </p:nvSpPr>
        <p:spPr>
          <a:xfrm>
            <a:off x="378823" y="1329288"/>
            <a:ext cx="9183188" cy="5219557"/>
          </a:xfrm>
          <a:prstGeom prst="rect">
            <a:avLst/>
          </a:prstGeom>
          <a:solidFill>
            <a:schemeClr val="bg1">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880881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4FE7-6D4B-4888-997F-23D957A67FB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E998200-CD1E-9377-8F8E-91B67A682AE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　</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[CRM</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及び</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API</a:t>
            </a:r>
            <a:r>
              <a:rPr lang="ja-JP" altLang="en-US" sz="1400" b="1" dirty="0">
                <a:solidFill>
                  <a:srgbClr val="1F2A5C"/>
                </a:solidFill>
                <a:latin typeface="メイリオ" panose="020B0604030504040204" pitchFamily="50" charset="-128"/>
                <a:ea typeface="メイリオ" panose="020B0604030504040204" pitchFamily="50" charset="-128"/>
                <a:cs typeface="メイリオ"/>
                <a:sym typeface="Meiryo"/>
              </a:rPr>
              <a:t>ツールとの連携</a:t>
            </a:r>
            <a:r>
              <a:rPr lang="en-US" altLang="ja-JP" sz="1400" b="1" dirty="0">
                <a:solidFill>
                  <a:srgbClr val="1F2A5C"/>
                </a:solidFill>
                <a:latin typeface="メイリオ" panose="020B0604030504040204" pitchFamily="50" charset="-128"/>
                <a:ea typeface="メイリオ" panose="020B0604030504040204" pitchFamily="50" charset="-128"/>
                <a:cs typeface="メイリオ"/>
                <a:sym typeface="Meiryo"/>
              </a:rPr>
              <a:t>]</a:t>
            </a:r>
            <a:endParaRPr lang="ja-JP" altLang="en-US" sz="1600" b="1" dirty="0">
              <a:solidFill>
                <a:srgbClr val="1F2A5C"/>
              </a:solidFill>
              <a:latin typeface="メイリオ" panose="020B0604030504040204" pitchFamily="50" charset="-128"/>
              <a:ea typeface="メイリオ" panose="020B0604030504040204" pitchFamily="50" charset="-128"/>
              <a:cs typeface="メイリオ"/>
              <a:sym typeface="Meiryo"/>
            </a:endParaRPr>
          </a:p>
        </p:txBody>
      </p:sp>
      <p:sp>
        <p:nvSpPr>
          <p:cNvPr id="2" name="正方形/長方形 1">
            <a:extLst>
              <a:ext uri="{FF2B5EF4-FFF2-40B4-BE49-F238E27FC236}">
                <a16:creationId xmlns:a16="http://schemas.microsoft.com/office/drawing/2014/main" id="{529B047E-CF1E-2AB0-E618-76435731185A}"/>
              </a:ext>
            </a:extLst>
          </p:cNvPr>
          <p:cNvSpPr/>
          <p:nvPr/>
        </p:nvSpPr>
        <p:spPr>
          <a:xfrm>
            <a:off x="804889" y="5113292"/>
            <a:ext cx="3834166" cy="825268"/>
          </a:xfrm>
          <a:prstGeom prst="rect">
            <a:avLst/>
          </a:prstGeom>
          <a:solidFill>
            <a:schemeClr val="accent1">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r>
              <a:rPr lang="ja-JP" altLang="en-US" sz="1400" dirty="0">
                <a:solidFill>
                  <a:srgbClr val="073763"/>
                </a:solidFill>
                <a:latin typeface="メイリオ" panose="020B0604030504040204" pitchFamily="50" charset="-128"/>
                <a:ea typeface="メイリオ" panose="020B0604030504040204" pitchFamily="50" charset="-128"/>
                <a:cs typeface="メイリオ"/>
              </a:rPr>
              <a:t>「</a:t>
            </a:r>
            <a:r>
              <a:rPr kumimoji="1" lang="en-US" altLang="ja-JP" sz="1400" dirty="0">
                <a:solidFill>
                  <a:srgbClr val="073763"/>
                </a:solidFill>
                <a:latin typeface="メイリオ" panose="020B0604030504040204" pitchFamily="50" charset="-128"/>
                <a:ea typeface="メイリオ" panose="020B0604030504040204" pitchFamily="50" charset="-128"/>
                <a:cs typeface="メイリオ"/>
              </a:rPr>
              <a:t>CRM</a:t>
            </a:r>
            <a:r>
              <a:rPr kumimoji="1" lang="ja-JP" altLang="en-US" sz="1400" dirty="0">
                <a:solidFill>
                  <a:srgbClr val="073763"/>
                </a:solidFill>
                <a:latin typeface="メイリオ" panose="020B0604030504040204" pitchFamily="50" charset="-128"/>
                <a:ea typeface="メイリオ" panose="020B0604030504040204" pitchFamily="50" charset="-128"/>
                <a:cs typeface="メイリオ"/>
              </a:rPr>
              <a:t>側でどんな情報を取りたいか」</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が重要</a:t>
            </a:r>
            <a:br>
              <a:rPr lang="en-US" altLang="ja-JP" sz="1400" dirty="0">
                <a:solidFill>
                  <a:srgbClr val="073763"/>
                </a:solidFill>
                <a:latin typeface="メイリオ" panose="020B0604030504040204" pitchFamily="50" charset="-128"/>
                <a:ea typeface="メイリオ" panose="020B0604030504040204" pitchFamily="50" charset="-128"/>
                <a:cs typeface="メイリオ"/>
              </a:rPr>
            </a:br>
            <a:r>
              <a:rPr lang="ja-JP" altLang="en-US" sz="1400" b="1" dirty="0">
                <a:solidFill>
                  <a:srgbClr val="073763"/>
                </a:solidFill>
                <a:latin typeface="メイリオ" panose="020B0604030504040204" pitchFamily="50" charset="-128"/>
                <a:ea typeface="メイリオ" panose="020B0604030504040204" pitchFamily="50" charset="-128"/>
                <a:cs typeface="メイリオ"/>
              </a:rPr>
              <a:t>要件定義</a:t>
            </a:r>
            <a:r>
              <a:rPr lang="ja-JP" altLang="en-US" sz="1400" dirty="0">
                <a:solidFill>
                  <a:srgbClr val="073763"/>
                </a:solidFill>
                <a:latin typeface="メイリオ" panose="020B0604030504040204" pitchFamily="50" charset="-128"/>
                <a:ea typeface="メイリオ" panose="020B0604030504040204" pitchFamily="50" charset="-128"/>
                <a:cs typeface="メイリオ"/>
              </a:rPr>
              <a:t>を先にする必要がある</a:t>
            </a:r>
            <a:endParaRPr kumimoji="1" lang="ja-JP" altLang="en-US" sz="1400" dirty="0">
              <a:solidFill>
                <a:srgbClr val="073763"/>
              </a:solidFill>
              <a:latin typeface="メイリオ" panose="020B0604030504040204" pitchFamily="50" charset="-128"/>
              <a:ea typeface="メイリオ" panose="020B0604030504040204" pitchFamily="50" charset="-128"/>
              <a:cs typeface="メイリオ"/>
            </a:endParaRPr>
          </a:p>
        </p:txBody>
      </p:sp>
      <p:sp>
        <p:nvSpPr>
          <p:cNvPr id="3" name="正方形/長方形 2">
            <a:extLst>
              <a:ext uri="{FF2B5EF4-FFF2-40B4-BE49-F238E27FC236}">
                <a16:creationId xmlns:a16="http://schemas.microsoft.com/office/drawing/2014/main" id="{C7D9704D-BB8D-31FA-D577-9838EADFB52F}"/>
              </a:ext>
            </a:extLst>
          </p:cNvPr>
          <p:cNvSpPr/>
          <p:nvPr/>
        </p:nvSpPr>
        <p:spPr>
          <a:xfrm>
            <a:off x="548883"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CR</a:t>
            </a:r>
            <a:r>
              <a:rPr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M</a:t>
            </a:r>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によるセグメント配信の違い</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5" name="正方形/長方形 4">
            <a:extLst>
              <a:ext uri="{FF2B5EF4-FFF2-40B4-BE49-F238E27FC236}">
                <a16:creationId xmlns:a16="http://schemas.microsoft.com/office/drawing/2014/main" id="{DEDA1867-168F-C6E6-0B48-C791330A0A1C}"/>
              </a:ext>
            </a:extLst>
          </p:cNvPr>
          <p:cNvSpPr/>
          <p:nvPr/>
        </p:nvSpPr>
        <p:spPr>
          <a:xfrm>
            <a:off x="4855489" y="1681759"/>
            <a:ext cx="1637212"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pic>
        <p:nvPicPr>
          <p:cNvPr id="6" name="図 5">
            <a:extLst>
              <a:ext uri="{FF2B5EF4-FFF2-40B4-BE49-F238E27FC236}">
                <a16:creationId xmlns:a16="http://schemas.microsoft.com/office/drawing/2014/main" id="{3E9A497F-26C3-7713-AA96-7B5A48F56252}"/>
              </a:ext>
            </a:extLst>
          </p:cNvPr>
          <p:cNvPicPr>
            <a:picLocks noChangeAspect="1"/>
          </p:cNvPicPr>
          <p:nvPr/>
        </p:nvPicPr>
        <p:blipFill>
          <a:blip r:embed="rId2"/>
          <a:stretch>
            <a:fillRect/>
          </a:stretch>
        </p:blipFill>
        <p:spPr>
          <a:xfrm>
            <a:off x="767879" y="2097602"/>
            <a:ext cx="1748922" cy="1226856"/>
          </a:xfrm>
          <a:prstGeom prst="rect">
            <a:avLst/>
          </a:prstGeom>
        </p:spPr>
      </p:pic>
      <p:pic>
        <p:nvPicPr>
          <p:cNvPr id="7" name="図 6">
            <a:extLst>
              <a:ext uri="{FF2B5EF4-FFF2-40B4-BE49-F238E27FC236}">
                <a16:creationId xmlns:a16="http://schemas.microsoft.com/office/drawing/2014/main" id="{AAF48BB3-9A38-696F-FC70-5DEE4C4078CF}"/>
              </a:ext>
            </a:extLst>
          </p:cNvPr>
          <p:cNvPicPr>
            <a:picLocks noChangeAspect="1"/>
          </p:cNvPicPr>
          <p:nvPr/>
        </p:nvPicPr>
        <p:blipFill>
          <a:blip r:embed="rId3"/>
          <a:stretch>
            <a:fillRect/>
          </a:stretch>
        </p:blipFill>
        <p:spPr>
          <a:xfrm>
            <a:off x="2629285" y="2290287"/>
            <a:ext cx="2166018" cy="762483"/>
          </a:xfrm>
          <a:prstGeom prst="rect">
            <a:avLst/>
          </a:prstGeom>
        </p:spPr>
      </p:pic>
      <p:pic>
        <p:nvPicPr>
          <p:cNvPr id="8" name="図 7">
            <a:extLst>
              <a:ext uri="{FF2B5EF4-FFF2-40B4-BE49-F238E27FC236}">
                <a16:creationId xmlns:a16="http://schemas.microsoft.com/office/drawing/2014/main" id="{84D1E44E-92B8-B060-DC73-7A65C3C6173F}"/>
              </a:ext>
            </a:extLst>
          </p:cNvPr>
          <p:cNvPicPr>
            <a:picLocks noChangeAspect="1"/>
          </p:cNvPicPr>
          <p:nvPr/>
        </p:nvPicPr>
        <p:blipFill>
          <a:blip r:embed="rId4"/>
          <a:stretch>
            <a:fillRect/>
          </a:stretch>
        </p:blipFill>
        <p:spPr>
          <a:xfrm>
            <a:off x="732463" y="3382653"/>
            <a:ext cx="1896822" cy="592757"/>
          </a:xfrm>
          <a:prstGeom prst="rect">
            <a:avLst/>
          </a:prstGeom>
        </p:spPr>
      </p:pic>
      <p:pic>
        <p:nvPicPr>
          <p:cNvPr id="10" name="図 9">
            <a:extLst>
              <a:ext uri="{FF2B5EF4-FFF2-40B4-BE49-F238E27FC236}">
                <a16:creationId xmlns:a16="http://schemas.microsoft.com/office/drawing/2014/main" id="{41BDD745-D379-657E-EEF9-DAE4405410CE}"/>
              </a:ext>
            </a:extLst>
          </p:cNvPr>
          <p:cNvPicPr>
            <a:picLocks noChangeAspect="1"/>
          </p:cNvPicPr>
          <p:nvPr/>
        </p:nvPicPr>
        <p:blipFill>
          <a:blip r:embed="rId5"/>
          <a:stretch>
            <a:fillRect/>
          </a:stretch>
        </p:blipFill>
        <p:spPr>
          <a:xfrm>
            <a:off x="2774924" y="3271855"/>
            <a:ext cx="1980643" cy="825268"/>
          </a:xfrm>
          <a:prstGeom prst="rect">
            <a:avLst/>
          </a:prstGeom>
        </p:spPr>
      </p:pic>
      <p:sp>
        <p:nvSpPr>
          <p:cNvPr id="11" name="二等辺三角形 10">
            <a:extLst>
              <a:ext uri="{FF2B5EF4-FFF2-40B4-BE49-F238E27FC236}">
                <a16:creationId xmlns:a16="http://schemas.microsoft.com/office/drawing/2014/main" id="{DE45D7C0-7CD3-BE83-DB56-A8A9A887F251}"/>
              </a:ext>
            </a:extLst>
          </p:cNvPr>
          <p:cNvSpPr/>
          <p:nvPr/>
        </p:nvSpPr>
        <p:spPr>
          <a:xfrm flipV="1">
            <a:off x="2404365" y="4661972"/>
            <a:ext cx="635214" cy="243054"/>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pPr algn="ctr"/>
            <a:endParaRPr kumimoji="1" lang="ja-JP" altLang="en-US">
              <a:latin typeface="メイリオ"/>
              <a:ea typeface="メイリオ"/>
              <a:cs typeface="メイリオ"/>
            </a:endParaRPr>
          </a:p>
        </p:txBody>
      </p:sp>
      <p:sp>
        <p:nvSpPr>
          <p:cNvPr id="12" name="正方形/長方形 11">
            <a:extLst>
              <a:ext uri="{FF2B5EF4-FFF2-40B4-BE49-F238E27FC236}">
                <a16:creationId xmlns:a16="http://schemas.microsoft.com/office/drawing/2014/main" id="{7FB401AD-59C1-FD46-42C1-D7E7B4A5CBEF}"/>
              </a:ext>
            </a:extLst>
          </p:cNvPr>
          <p:cNvSpPr/>
          <p:nvPr/>
        </p:nvSpPr>
        <p:spPr>
          <a:xfrm>
            <a:off x="5088187" y="1746891"/>
            <a:ext cx="2809027" cy="2547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▼参考：</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ステップ</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連携機能</a:t>
            </a:r>
          </a:p>
        </p:txBody>
      </p:sp>
      <p:pic>
        <p:nvPicPr>
          <p:cNvPr id="13" name="図 12">
            <a:extLst>
              <a:ext uri="{FF2B5EF4-FFF2-40B4-BE49-F238E27FC236}">
                <a16:creationId xmlns:a16="http://schemas.microsoft.com/office/drawing/2014/main" id="{CAF63C84-7FEF-612A-E123-4983B7F28BAA}"/>
              </a:ext>
            </a:extLst>
          </p:cNvPr>
          <p:cNvPicPr>
            <a:picLocks noChangeAspect="1"/>
          </p:cNvPicPr>
          <p:nvPr/>
        </p:nvPicPr>
        <p:blipFill>
          <a:blip r:embed="rId6"/>
          <a:stretch>
            <a:fillRect/>
          </a:stretch>
        </p:blipFill>
        <p:spPr>
          <a:xfrm>
            <a:off x="5088187" y="2053900"/>
            <a:ext cx="4493959" cy="4306708"/>
          </a:xfrm>
          <a:prstGeom prst="rect">
            <a:avLst/>
          </a:prstGeom>
        </p:spPr>
      </p:pic>
      <p:sp>
        <p:nvSpPr>
          <p:cNvPr id="14" name="Google Shape;752;p28">
            <a:extLst>
              <a:ext uri="{FF2B5EF4-FFF2-40B4-BE49-F238E27FC236}">
                <a16:creationId xmlns:a16="http://schemas.microsoft.com/office/drawing/2014/main" id="{87B68C46-3A5D-A74F-1932-7FA2CEB38DBA}"/>
              </a:ext>
            </a:extLst>
          </p:cNvPr>
          <p:cNvSpPr txBox="1"/>
          <p:nvPr/>
        </p:nvSpPr>
        <p:spPr>
          <a:xfrm>
            <a:off x="776105" y="864423"/>
            <a:ext cx="8353789" cy="523180"/>
          </a:xfrm>
          <a:prstGeom prst="rect">
            <a:avLst/>
          </a:prstGeom>
          <a:noFill/>
          <a:ln>
            <a:noFill/>
          </a:ln>
        </p:spPr>
        <p:txBody>
          <a:bodyPr spcFirstLastPara="1" wrap="square" lIns="91425" tIns="45700" rIns="91425" bIns="45700" anchor="ctr" anchorCtr="0">
            <a:spAutoFit/>
          </a:bodyPr>
          <a:lstStyle/>
          <a:p>
            <a:pPr lvl="0" algn="ct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a:t>
            </a:r>
            <a:r>
              <a:rPr lang="en-US" altLang="ja-JP" sz="1400" dirty="0">
                <a:latin typeface="メイリオ" panose="020B0604030504040204" pitchFamily="50" charset="-128"/>
                <a:ea typeface="メイリオ" panose="020B0604030504040204" pitchFamily="50" charset="-128"/>
                <a:cs typeface="メイリオ"/>
                <a:sym typeface="Meiryo"/>
              </a:rPr>
              <a:t>API</a:t>
            </a:r>
            <a:r>
              <a:rPr lang="ja-JP" altLang="en-US" sz="1400" dirty="0">
                <a:latin typeface="メイリオ" panose="020B0604030504040204" pitchFamily="50" charset="-128"/>
                <a:ea typeface="メイリオ" panose="020B0604030504040204" pitchFamily="50" charset="-128"/>
                <a:cs typeface="メイリオ"/>
                <a:sym typeface="Meiryo"/>
              </a:rPr>
              <a:t>ツールで要件定義を行いつつ、効率化及び詳細なセグメント設計を目的として、</a:t>
            </a:r>
            <a:endParaRPr lang="en-US" altLang="ja-JP" sz="1400" dirty="0">
              <a:latin typeface="メイリオ" panose="020B0604030504040204" pitchFamily="50" charset="-128"/>
              <a:ea typeface="メイリオ" panose="020B0604030504040204" pitchFamily="50" charset="-128"/>
              <a:cs typeface="メイリオ"/>
              <a:sym typeface="Meiryo"/>
            </a:endParaRPr>
          </a:p>
          <a:p>
            <a:pPr lvl="0" algn="ctr"/>
            <a:r>
              <a:rPr lang="ja-JP" altLang="en-US" sz="1400" dirty="0">
                <a:latin typeface="メイリオ" panose="020B0604030504040204" pitchFamily="50" charset="-128"/>
                <a:ea typeface="メイリオ" panose="020B0604030504040204" pitchFamily="50" charset="-128"/>
                <a:cs typeface="メイリオ"/>
                <a:sym typeface="Meiryo"/>
              </a:rPr>
              <a:t>貴社内の顧客管理（</a:t>
            </a:r>
            <a:r>
              <a:rPr lang="en-US" altLang="ja-JP" sz="1400" dirty="0">
                <a:latin typeface="メイリオ" panose="020B0604030504040204" pitchFamily="50" charset="-128"/>
                <a:ea typeface="メイリオ" panose="020B0604030504040204" pitchFamily="50" charset="-128"/>
                <a:cs typeface="メイリオ"/>
                <a:sym typeface="Meiryo"/>
              </a:rPr>
              <a:t>CRM</a:t>
            </a:r>
            <a:r>
              <a:rPr lang="ja-JP" altLang="en-US" sz="1400" dirty="0">
                <a:latin typeface="メイリオ" panose="020B0604030504040204" pitchFamily="50" charset="-128"/>
                <a:ea typeface="メイリオ" panose="020B0604030504040204" pitchFamily="50" charset="-128"/>
                <a:cs typeface="メイリオ"/>
                <a:sym typeface="Meiryo"/>
              </a:rPr>
              <a:t>）ツールとの連携の実施も可能です。</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 </a:t>
            </a:r>
            <a:r>
              <a:rPr lang="en-US" altLang="ja-JP" sz="1100" dirty="0">
                <a:solidFill>
                  <a:srgbClr val="1F2A5C"/>
                </a:solidFill>
                <a:latin typeface="メイリオ" panose="020B0604030504040204" pitchFamily="50" charset="-128"/>
                <a:ea typeface="メイリオ" panose="020B0604030504040204" pitchFamily="50" charset="-128"/>
                <a:cs typeface="メイリオ"/>
                <a:sym typeface="Meiryo"/>
              </a:rPr>
              <a:t>※</a:t>
            </a:r>
            <a:r>
              <a:rPr lang="ja-JP" altLang="en-US" sz="1100" dirty="0">
                <a:solidFill>
                  <a:srgbClr val="1F2A5C"/>
                </a:solidFill>
                <a:latin typeface="メイリオ" panose="020B0604030504040204" pitchFamily="50" charset="-128"/>
                <a:ea typeface="メイリオ" panose="020B0604030504040204" pitchFamily="50" charset="-128"/>
                <a:cs typeface="メイリオ"/>
                <a:sym typeface="Meiryo"/>
              </a:rPr>
              <a:t>開発は別途費用</a:t>
            </a:r>
            <a:endParaRPr lang="en-US" altLang="ja-JP" sz="1400" dirty="0">
              <a:solidFill>
                <a:srgbClr val="1F2A5C"/>
              </a:solidFill>
              <a:latin typeface="メイリオ" panose="020B0604030504040204" pitchFamily="50" charset="-128"/>
              <a:ea typeface="メイリオ" panose="020B0604030504040204" pitchFamily="50" charset="-128"/>
              <a:cs typeface="メイリオ"/>
              <a:sym typeface="Meiryo"/>
            </a:endParaRPr>
          </a:p>
        </p:txBody>
      </p:sp>
      <p:pic>
        <p:nvPicPr>
          <p:cNvPr id="16" name="図 15">
            <a:extLst>
              <a:ext uri="{FF2B5EF4-FFF2-40B4-BE49-F238E27FC236}">
                <a16:creationId xmlns:a16="http://schemas.microsoft.com/office/drawing/2014/main" id="{03191DAC-E9A0-5CCA-8AC1-DD7587146EC0}"/>
              </a:ext>
            </a:extLst>
          </p:cNvPr>
          <p:cNvPicPr>
            <a:picLocks noChangeAspect="1"/>
          </p:cNvPicPr>
          <p:nvPr/>
        </p:nvPicPr>
        <p:blipFill>
          <a:blip r:embed="rId7"/>
          <a:stretch>
            <a:fillRect/>
          </a:stretch>
        </p:blipFill>
        <p:spPr>
          <a:xfrm>
            <a:off x="8356962" y="3138694"/>
            <a:ext cx="1225184" cy="371527"/>
          </a:xfrm>
          <a:prstGeom prst="rect">
            <a:avLst/>
          </a:prstGeom>
        </p:spPr>
      </p:pic>
      <p:sp>
        <p:nvSpPr>
          <p:cNvPr id="18" name="正方形/長方形 17">
            <a:extLst>
              <a:ext uri="{FF2B5EF4-FFF2-40B4-BE49-F238E27FC236}">
                <a16:creationId xmlns:a16="http://schemas.microsoft.com/office/drawing/2014/main" id="{6556E7C3-00CD-61AD-290A-ADC705BB4ED2}"/>
              </a:ext>
            </a:extLst>
          </p:cNvPr>
          <p:cNvSpPr/>
          <p:nvPr/>
        </p:nvSpPr>
        <p:spPr>
          <a:xfrm>
            <a:off x="7392816" y="2667912"/>
            <a:ext cx="1404514" cy="70467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LINE</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公式と</a:t>
            </a:r>
            <a:r>
              <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API</a:t>
            </a:r>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ツール間の</a:t>
            </a:r>
            <a:endParaRPr kumimoji="1" lang="en-US" altLang="ja-JP"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a:p>
            <a:r>
              <a:rPr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情報連携</a:t>
            </a:r>
            <a:endPar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endParaRPr>
          </a:p>
        </p:txBody>
      </p:sp>
      <p:sp>
        <p:nvSpPr>
          <p:cNvPr id="19" name="正方形/長方形 18">
            <a:extLst>
              <a:ext uri="{FF2B5EF4-FFF2-40B4-BE49-F238E27FC236}">
                <a16:creationId xmlns:a16="http://schemas.microsoft.com/office/drawing/2014/main" id="{ECFC83DD-87A7-DC53-4B5A-DD088FDF4D20}"/>
              </a:ext>
            </a:extLst>
          </p:cNvPr>
          <p:cNvSpPr/>
          <p:nvPr/>
        </p:nvSpPr>
        <p:spPr>
          <a:xfrm>
            <a:off x="5873920" y="2711430"/>
            <a:ext cx="989184" cy="423766"/>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ja-JP">
                <a:latin typeface="メイリオ"/>
                <a:ea typeface="メイリオ"/>
                <a:cs typeface="メイリオ"/>
              </a:defRPr>
            </a:defPPr>
            <a:lvl1pPr marL="0" algn="l" defTabSz="914400" rtl="0" eaLnBrk="1" latinLnBrk="0" hangingPunct="1">
              <a:defRPr kumimoji="1" sz="1800" kern="1200">
                <a:solidFill>
                  <a:schemeClr val="lt1"/>
                </a:solidFill>
                <a:latin typeface="メイリオ"/>
                <a:ea typeface="メイリオ"/>
                <a:cs typeface="メイリオ"/>
              </a:defRPr>
            </a:lvl1pPr>
            <a:lvl2pPr marL="457200" algn="l" defTabSz="914400" rtl="0" eaLnBrk="1" latinLnBrk="0" hangingPunct="1">
              <a:defRPr kumimoji="1" sz="1800" kern="1200">
                <a:solidFill>
                  <a:schemeClr val="lt1"/>
                </a:solidFill>
                <a:latin typeface="メイリオ"/>
                <a:ea typeface="メイリオ"/>
                <a:cs typeface="メイリオ"/>
              </a:defRPr>
            </a:lvl2pPr>
            <a:lvl3pPr marL="914400" algn="l" defTabSz="914400" rtl="0" eaLnBrk="1" latinLnBrk="0" hangingPunct="1">
              <a:defRPr kumimoji="1" sz="1800" kern="1200">
                <a:solidFill>
                  <a:schemeClr val="lt1"/>
                </a:solidFill>
                <a:latin typeface="メイリオ"/>
                <a:ea typeface="メイリオ"/>
                <a:cs typeface="メイリオ"/>
              </a:defRPr>
            </a:lvl3pPr>
            <a:lvl4pPr marL="1371600" algn="l" defTabSz="914400" rtl="0" eaLnBrk="1" latinLnBrk="0" hangingPunct="1">
              <a:defRPr kumimoji="1" sz="1800" kern="1200">
                <a:solidFill>
                  <a:schemeClr val="lt1"/>
                </a:solidFill>
                <a:latin typeface="メイリオ"/>
                <a:ea typeface="メイリオ"/>
                <a:cs typeface="メイリオ"/>
              </a:defRPr>
            </a:lvl4pPr>
            <a:lvl5pPr marL="1828800" algn="l" defTabSz="914400" rtl="0" eaLnBrk="1" latinLnBrk="0" hangingPunct="1">
              <a:defRPr kumimoji="1" sz="1800" kern="1200">
                <a:solidFill>
                  <a:schemeClr val="lt1"/>
                </a:solidFill>
                <a:latin typeface="メイリオ"/>
                <a:ea typeface="メイリオ"/>
                <a:cs typeface="メイリオ"/>
              </a:defRPr>
            </a:lvl5pPr>
            <a:lvl6pPr marL="2286000" algn="l" defTabSz="914400" rtl="0" eaLnBrk="1" latinLnBrk="0" hangingPunct="1">
              <a:defRPr kumimoji="1" sz="1800" kern="1200">
                <a:solidFill>
                  <a:schemeClr val="lt1"/>
                </a:solidFill>
                <a:latin typeface="メイリオ"/>
                <a:ea typeface="メイリオ"/>
                <a:cs typeface="メイリオ"/>
              </a:defRPr>
            </a:lvl6pPr>
            <a:lvl7pPr marL="2743200" algn="l" defTabSz="914400" rtl="0" eaLnBrk="1" latinLnBrk="0" hangingPunct="1">
              <a:defRPr kumimoji="1" sz="1800" kern="1200">
                <a:solidFill>
                  <a:schemeClr val="lt1"/>
                </a:solidFill>
                <a:latin typeface="メイリオ"/>
                <a:ea typeface="メイリオ"/>
                <a:cs typeface="メイリオ"/>
              </a:defRPr>
            </a:lvl7pPr>
            <a:lvl8pPr marL="3200400" algn="l" defTabSz="914400" rtl="0" eaLnBrk="1" latinLnBrk="0" hangingPunct="1">
              <a:defRPr kumimoji="1" sz="1800" kern="1200">
                <a:solidFill>
                  <a:schemeClr val="lt1"/>
                </a:solidFill>
                <a:latin typeface="メイリオ"/>
                <a:ea typeface="メイリオ"/>
                <a:cs typeface="メイリオ"/>
              </a:defRPr>
            </a:lvl8pPr>
            <a:lvl9pPr marL="3657600" algn="l" defTabSz="914400" rtl="0" eaLnBrk="1" latinLnBrk="0" hangingPunct="1">
              <a:defRPr kumimoji="1" sz="1800" kern="1200">
                <a:solidFill>
                  <a:schemeClr val="lt1"/>
                </a:solidFill>
                <a:latin typeface="メイリオ"/>
                <a:ea typeface="メイリオ"/>
                <a:cs typeface="メイリオ"/>
              </a:defRPr>
            </a:lvl9pPr>
          </a:lstStyle>
          <a:p>
            <a:r>
              <a:rPr kumimoji="1" lang="ja-JP" altLang="en-US" sz="1200" dirty="0">
                <a:solidFill>
                  <a:schemeClr val="tx1">
                    <a:lumMod val="75000"/>
                    <a:lumOff val="25000"/>
                  </a:schemeClr>
                </a:solidFill>
                <a:latin typeface="メイリオ" panose="020B0604030504040204" pitchFamily="50" charset="-128"/>
                <a:ea typeface="メイリオ" panose="020B0604030504040204" pitchFamily="50" charset="-128"/>
                <a:cs typeface="メイリオ"/>
              </a:rPr>
              <a:t>メッセ送信</a:t>
            </a:r>
          </a:p>
        </p:txBody>
      </p:sp>
    </p:spTree>
    <p:extLst>
      <p:ext uri="{BB962C8B-B14F-4D97-AF65-F5344CB8AC3E}">
        <p14:creationId xmlns:p14="http://schemas.microsoft.com/office/powerpoint/2010/main" val="9826497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メイリオ"/>
                <a:sym typeface="Meiryo"/>
              </a:rPr>
              <a:t>その他 代表的な活用機能</a:t>
            </a:r>
            <a:endParaRPr sz="1600" b="1" dirty="0">
              <a:solidFill>
                <a:srgbClr val="002060"/>
              </a:solidFill>
              <a:latin typeface="メイリオ"/>
              <a:ea typeface="メイリオ"/>
              <a:cs typeface="メイリオ"/>
              <a:sym typeface="Meiryo"/>
            </a:endParaRPr>
          </a:p>
        </p:txBody>
      </p:sp>
      <p:sp>
        <p:nvSpPr>
          <p:cNvPr id="8" name="正方形/長方形 7"/>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メイリオ" panose="020B0604030504040204" pitchFamily="50" charset="-128"/>
                <a:ea typeface="メイリオ" panose="020B0604030504040204" pitchFamily="50" charset="-128"/>
                <a:cs typeface="メイリオ"/>
              </a:rPr>
              <a:t>ミニアプリ</a:t>
            </a:r>
            <a:endParaRPr lang="en-US" altLang="ja-JP" sz="1600" b="1" dirty="0">
              <a:latin typeface="メイリオ" panose="020B0604030504040204" pitchFamily="50" charset="-128"/>
              <a:ea typeface="メイリオ" panose="020B0604030504040204" pitchFamily="50" charset="-128"/>
              <a:cs typeface="メイリオ"/>
            </a:endParaRPr>
          </a:p>
        </p:txBody>
      </p:sp>
      <p:pic>
        <p:nvPicPr>
          <p:cNvPr id="15" name="図 14"/>
          <p:cNvPicPr>
            <a:picLocks noChangeAspect="1"/>
          </p:cNvPicPr>
          <p:nvPr/>
        </p:nvPicPr>
        <p:blipFill>
          <a:blip r:embed="rId2"/>
          <a:stretch>
            <a:fillRect/>
          </a:stretch>
        </p:blipFill>
        <p:spPr>
          <a:xfrm>
            <a:off x="395078" y="4223656"/>
            <a:ext cx="4883652" cy="2255298"/>
          </a:xfrm>
          <a:prstGeom prst="rect">
            <a:avLst/>
          </a:prstGeom>
        </p:spPr>
      </p:pic>
      <p:pic>
        <p:nvPicPr>
          <p:cNvPr id="16" name="図 15"/>
          <p:cNvPicPr>
            <a:picLocks noChangeAspect="1"/>
          </p:cNvPicPr>
          <p:nvPr/>
        </p:nvPicPr>
        <p:blipFill>
          <a:blip r:embed="rId3"/>
          <a:stretch>
            <a:fillRect/>
          </a:stretch>
        </p:blipFill>
        <p:spPr>
          <a:xfrm>
            <a:off x="5447610" y="4291935"/>
            <a:ext cx="4377759" cy="1962444"/>
          </a:xfrm>
          <a:prstGeom prst="rect">
            <a:avLst/>
          </a:prstGeom>
        </p:spPr>
      </p:pic>
      <p:pic>
        <p:nvPicPr>
          <p:cNvPr id="17" name="図 16"/>
          <p:cNvPicPr>
            <a:picLocks noChangeAspect="1"/>
          </p:cNvPicPr>
          <p:nvPr/>
        </p:nvPicPr>
        <p:blipFill>
          <a:blip r:embed="rId4"/>
          <a:stretch>
            <a:fillRect/>
          </a:stretch>
        </p:blipFill>
        <p:spPr>
          <a:xfrm>
            <a:off x="295583" y="1824445"/>
            <a:ext cx="5881033" cy="2266757"/>
          </a:xfrm>
          <a:prstGeom prst="rect">
            <a:avLst/>
          </a:prstGeom>
        </p:spPr>
      </p:pic>
      <p:sp>
        <p:nvSpPr>
          <p:cNvPr id="2" name="正方形/長方形 1"/>
          <p:cNvSpPr/>
          <p:nvPr/>
        </p:nvSpPr>
        <p:spPr>
          <a:xfrm>
            <a:off x="2971109" y="823033"/>
            <a:ext cx="6669279" cy="584775"/>
          </a:xfrm>
          <a:prstGeom prst="rect">
            <a:avLst/>
          </a:prstGeom>
        </p:spPr>
        <p:txBody>
          <a:bodyPr wrap="square">
            <a:spAutoFit/>
          </a:body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内で活用できるミニアプリでは、ゲームや抽選といった機能を</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アプリ開発よりも大幅に格安な価格帯で利用できるサービス。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939997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5022E-E793-10B7-A063-757EDCFFDB08}"/>
            </a:ext>
          </a:extLst>
        </p:cNvPr>
        <p:cNvGrpSpPr/>
        <p:nvPr/>
      </p:nvGrpSpPr>
      <p:grpSpPr>
        <a:xfrm>
          <a:off x="0" y="0"/>
          <a:ext cx="0" cy="0"/>
          <a:chOff x="0" y="0"/>
          <a:chExt cx="0" cy="0"/>
        </a:xfrm>
      </p:grpSpPr>
      <p:sp>
        <p:nvSpPr>
          <p:cNvPr id="43" name="Google Shape;156;p7"/>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28" name="正方形/長方形 27"/>
          <p:cNvSpPr/>
          <p:nvPr/>
        </p:nvSpPr>
        <p:spPr>
          <a:xfrm>
            <a:off x="209578" y="1455366"/>
            <a:ext cx="716093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チャット</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FAQ</a:t>
            </a:r>
            <a:r>
              <a:rPr lang="ja-JP" altLang="en-US" sz="1600" b="1" dirty="0">
                <a:solidFill>
                  <a:schemeClr val="tx1">
                    <a:lumMod val="65000"/>
                    <a:lumOff val="35000"/>
                  </a:schemeClr>
                </a:solidFill>
                <a:latin typeface="メイリオ"/>
                <a:ea typeface="メイリオ"/>
                <a:cs typeface="メイリオ"/>
                <a:sym typeface="Meiryo"/>
              </a:rPr>
              <a:t>をもとにした</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による自動応答や、</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有人でのチャット対応による細かなサポートを可能にするオプション機能。</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29" name="正方形/長方形 28"/>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LINE】Chat</a:t>
            </a:r>
            <a:r>
              <a:rPr lang="en-US" altLang="ja-JP" sz="1600" b="1" dirty="0">
                <a:latin typeface="メイリオ" panose="020B0604030504040204" pitchFamily="50" charset="-128"/>
                <a:ea typeface="メイリオ" panose="020B0604030504040204" pitchFamily="50" charset="-128"/>
                <a:cs typeface="メイリオ"/>
              </a:rPr>
              <a:t> Plus</a:t>
            </a:r>
          </a:p>
        </p:txBody>
      </p:sp>
      <p:sp>
        <p:nvSpPr>
          <p:cNvPr id="30" name="角丸四角形 29"/>
          <p:cNvSpPr/>
          <p:nvPr/>
        </p:nvSpPr>
        <p:spPr>
          <a:xfrm>
            <a:off x="548883" y="2287502"/>
            <a:ext cx="4031506" cy="419913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pic>
        <p:nvPicPr>
          <p:cNvPr id="3" name="図 2"/>
          <p:cNvPicPr>
            <a:picLocks noChangeAspect="1"/>
          </p:cNvPicPr>
          <p:nvPr/>
        </p:nvPicPr>
        <p:blipFill rotWithShape="1">
          <a:blip r:embed="rId2" cstate="print">
            <a:extLst>
              <a:ext uri="{28A0092B-C50C-407E-A947-70E740481C1C}">
                <a14:useLocalDpi xmlns:a14="http://schemas.microsoft.com/office/drawing/2010/main" val="0"/>
              </a:ext>
            </a:extLst>
          </a:blip>
          <a:srcRect t="34310" b="34334"/>
          <a:stretch/>
        </p:blipFill>
        <p:spPr>
          <a:xfrm>
            <a:off x="683491" y="2611441"/>
            <a:ext cx="3762290" cy="2097249"/>
          </a:xfrm>
          <a:prstGeom prst="rect">
            <a:avLst/>
          </a:prstGeom>
        </p:spPr>
      </p:pic>
      <p:sp>
        <p:nvSpPr>
          <p:cNvPr id="33" name="正方形/長方形 32"/>
          <p:cNvSpPr/>
          <p:nvPr/>
        </p:nvSpPr>
        <p:spPr>
          <a:xfrm>
            <a:off x="830828" y="5032628"/>
            <a:ext cx="3467616" cy="830997"/>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ホームページから気軽にチャットで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問い合わせができるようになり</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資料請求や商品の購入に繋がる。</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34" name="Group 25">
            <a:extLst>
              <a:ext uri="{FF2B5EF4-FFF2-40B4-BE49-F238E27FC236}">
                <a16:creationId xmlns:a16="http://schemas.microsoft.com/office/drawing/2014/main" id="{269BA4E8-CBA1-17CF-4B27-5586E44C9042}"/>
              </a:ext>
            </a:extLst>
          </p:cNvPr>
          <p:cNvGrpSpPr/>
          <p:nvPr/>
        </p:nvGrpSpPr>
        <p:grpSpPr>
          <a:xfrm rot="5400000">
            <a:off x="5120631" y="2997089"/>
            <a:ext cx="301414" cy="601358"/>
            <a:chOff x="0" y="0"/>
            <a:chExt cx="452282" cy="902360"/>
          </a:xfrm>
        </p:grpSpPr>
        <p:sp>
          <p:nvSpPr>
            <p:cNvPr id="35"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36"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37" name="TextBox 38">
            <a:extLst>
              <a:ext uri="{FF2B5EF4-FFF2-40B4-BE49-F238E27FC236}">
                <a16:creationId xmlns:a16="http://schemas.microsoft.com/office/drawing/2014/main" id="{5DBC0D5A-D55C-257A-51E2-CC2A6B58B8CE}"/>
              </a:ext>
            </a:extLst>
          </p:cNvPr>
          <p:cNvSpPr txBox="1"/>
          <p:nvPr/>
        </p:nvSpPr>
        <p:spPr>
          <a:xfrm>
            <a:off x="5836651" y="3018835"/>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自動応答と有人応答を使い分けることが</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38" name="Group 25">
            <a:extLst>
              <a:ext uri="{FF2B5EF4-FFF2-40B4-BE49-F238E27FC236}">
                <a16:creationId xmlns:a16="http://schemas.microsoft.com/office/drawing/2014/main" id="{269BA4E8-CBA1-17CF-4B27-5586E44C9042}"/>
              </a:ext>
            </a:extLst>
          </p:cNvPr>
          <p:cNvGrpSpPr/>
          <p:nvPr/>
        </p:nvGrpSpPr>
        <p:grpSpPr>
          <a:xfrm rot="5400000">
            <a:off x="5120631" y="3995552"/>
            <a:ext cx="301414" cy="601358"/>
            <a:chOff x="0" y="0"/>
            <a:chExt cx="452282" cy="902360"/>
          </a:xfrm>
        </p:grpSpPr>
        <p:sp>
          <p:nvSpPr>
            <p:cNvPr id="39"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0"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1" name="TextBox 38">
            <a:extLst>
              <a:ext uri="{FF2B5EF4-FFF2-40B4-BE49-F238E27FC236}">
                <a16:creationId xmlns:a16="http://schemas.microsoft.com/office/drawing/2014/main" id="{5DBC0D5A-D55C-257A-51E2-CC2A6B58B8CE}"/>
              </a:ext>
            </a:extLst>
          </p:cNvPr>
          <p:cNvSpPr txBox="1"/>
          <p:nvPr/>
        </p:nvSpPr>
        <p:spPr>
          <a:xfrm>
            <a:off x="5836651" y="4017298"/>
            <a:ext cx="3788946" cy="564257"/>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「訪問者管理機能」により、ホームページに訪れたユーザーを一覧で見ることが可能</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grpSp>
        <p:nvGrpSpPr>
          <p:cNvPr id="42" name="Group 25">
            <a:extLst>
              <a:ext uri="{FF2B5EF4-FFF2-40B4-BE49-F238E27FC236}">
                <a16:creationId xmlns:a16="http://schemas.microsoft.com/office/drawing/2014/main" id="{269BA4E8-CBA1-17CF-4B27-5586E44C9042}"/>
              </a:ext>
            </a:extLst>
          </p:cNvPr>
          <p:cNvGrpSpPr/>
          <p:nvPr/>
        </p:nvGrpSpPr>
        <p:grpSpPr>
          <a:xfrm rot="5400000">
            <a:off x="5120631" y="4994015"/>
            <a:ext cx="301414" cy="601358"/>
            <a:chOff x="0" y="0"/>
            <a:chExt cx="452282" cy="902360"/>
          </a:xfrm>
        </p:grpSpPr>
        <p:sp>
          <p:nvSpPr>
            <p:cNvPr id="44" name="Freeform 26">
              <a:extLst>
                <a:ext uri="{FF2B5EF4-FFF2-40B4-BE49-F238E27FC236}">
                  <a16:creationId xmlns:a16="http://schemas.microsoft.com/office/drawing/2014/main" id="{F979CAEC-8CC8-5992-6164-138369941BE6}"/>
                </a:ext>
              </a:extLst>
            </p:cNvPr>
            <p:cNvSpPr/>
            <p:nvPr/>
          </p:nvSpPr>
          <p:spPr>
            <a:xfrm>
              <a:off x="0" y="0"/>
              <a:ext cx="452282" cy="902360"/>
            </a:xfrm>
            <a:custGeom>
              <a:avLst/>
              <a:gdLst/>
              <a:ahLst/>
              <a:cxnLst/>
              <a:rect l="l" t="t" r="r" b="b"/>
              <a:pathLst>
                <a:path w="452282" h="902360">
                  <a:moveTo>
                    <a:pt x="226141" y="0"/>
                  </a:moveTo>
                  <a:lnTo>
                    <a:pt x="452282" y="902360"/>
                  </a:lnTo>
                  <a:lnTo>
                    <a:pt x="0" y="902360"/>
                  </a:lnTo>
                  <a:lnTo>
                    <a:pt x="226141" y="0"/>
                  </a:lnTo>
                  <a:close/>
                </a:path>
              </a:pathLst>
            </a:custGeom>
            <a:solidFill>
              <a:srgbClr val="D9D9D9"/>
            </a:solidFill>
          </p:spPr>
          <p:txBody>
            <a:bodyPr/>
            <a:lstStyle/>
            <a:p>
              <a:endParaRPr lang="ja-JP" altLang="en-US">
                <a:latin typeface="メイリオ" panose="020B0604030504040204" pitchFamily="50" charset="-128"/>
                <a:ea typeface="メイリオ" panose="020B0604030504040204" pitchFamily="50" charset="-128"/>
                <a:cs typeface="メイリオ"/>
              </a:endParaRPr>
            </a:p>
          </p:txBody>
        </p:sp>
        <p:sp>
          <p:nvSpPr>
            <p:cNvPr id="45" name="TextBox 27">
              <a:extLst>
                <a:ext uri="{FF2B5EF4-FFF2-40B4-BE49-F238E27FC236}">
                  <a16:creationId xmlns:a16="http://schemas.microsoft.com/office/drawing/2014/main" id="{35EF9994-DB9A-78E5-055F-3AFF8481CE16}"/>
                </a:ext>
              </a:extLst>
            </p:cNvPr>
            <p:cNvSpPr txBox="1"/>
            <p:nvPr/>
          </p:nvSpPr>
          <p:spPr>
            <a:xfrm>
              <a:off x="70669" y="380853"/>
              <a:ext cx="310944" cy="457053"/>
            </a:xfrm>
            <a:prstGeom prst="rect">
              <a:avLst/>
            </a:prstGeom>
          </p:spPr>
          <p:txBody>
            <a:bodyPr lIns="31591" tIns="31591" rIns="31591" bIns="31591" rtlCol="0" anchor="ctr"/>
            <a:lstStyle/>
            <a:p>
              <a:pPr algn="ctr">
                <a:lnSpc>
                  <a:spcPts val="1741"/>
                </a:lnSpc>
              </a:pPr>
              <a:endParaRPr>
                <a:latin typeface="メイリオ" panose="020B0604030504040204" pitchFamily="50" charset="-128"/>
                <a:ea typeface="メイリオ" panose="020B0604030504040204" pitchFamily="50" charset="-128"/>
                <a:cs typeface="メイリオ"/>
              </a:endParaRPr>
            </a:p>
          </p:txBody>
        </p:sp>
      </p:grpSp>
      <p:sp>
        <p:nvSpPr>
          <p:cNvPr id="46" name="TextBox 38">
            <a:extLst>
              <a:ext uri="{FF2B5EF4-FFF2-40B4-BE49-F238E27FC236}">
                <a16:creationId xmlns:a16="http://schemas.microsoft.com/office/drawing/2014/main" id="{5DBC0D5A-D55C-257A-51E2-CC2A6B58B8CE}"/>
              </a:ext>
            </a:extLst>
          </p:cNvPr>
          <p:cNvSpPr txBox="1"/>
          <p:nvPr/>
        </p:nvSpPr>
        <p:spPr>
          <a:xfrm>
            <a:off x="5836651" y="5015761"/>
            <a:ext cx="3788946" cy="846386"/>
          </a:xfrm>
          <a:prstGeom prst="rect">
            <a:avLst/>
          </a:prstGeom>
        </p:spPr>
        <p:txBody>
          <a:bodyPr wrap="square" lIns="0" tIns="0" rIns="0" bIns="0" rtlCol="0" anchor="t">
            <a:spAutoFit/>
          </a:bodyPr>
          <a:lstStyle/>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公式</a:t>
            </a: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とチャットボットを連携し</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en-US" altLang="ja-JP" sz="1554" b="1" dirty="0">
                <a:solidFill>
                  <a:srgbClr val="494848"/>
                </a:solidFill>
                <a:latin typeface="メイリオ" panose="020B0604030504040204" pitchFamily="50" charset="-128"/>
                <a:ea typeface="メイリオ" panose="020B0604030504040204" pitchFamily="50" charset="-128"/>
                <a:cs typeface="メイリオ"/>
              </a:rPr>
              <a:t>LINE</a:t>
            </a:r>
            <a:r>
              <a:rPr lang="ja-JP" altLang="en-US" sz="1554" b="1" dirty="0">
                <a:solidFill>
                  <a:srgbClr val="494848"/>
                </a:solidFill>
                <a:latin typeface="メイリオ" panose="020B0604030504040204" pitchFamily="50" charset="-128"/>
                <a:ea typeface="メイリオ" panose="020B0604030504040204" pitchFamily="50" charset="-128"/>
                <a:cs typeface="メイリオ"/>
              </a:rPr>
              <a:t>上でも同じチャットボットを活用</a:t>
            </a:r>
            <a:endParaRPr lang="en-US" altLang="ja-JP" sz="1554" b="1" dirty="0">
              <a:solidFill>
                <a:srgbClr val="494848"/>
              </a:solidFill>
              <a:latin typeface="メイリオ" panose="020B0604030504040204" pitchFamily="50" charset="-128"/>
              <a:ea typeface="メイリオ" panose="020B0604030504040204" pitchFamily="50" charset="-128"/>
              <a:cs typeface="メイリオ"/>
            </a:endParaRPr>
          </a:p>
          <a:p>
            <a:pPr>
              <a:lnSpc>
                <a:spcPts val="2176"/>
              </a:lnSpc>
            </a:pPr>
            <a:r>
              <a:rPr lang="ja-JP" altLang="en-US" sz="1554" b="1" dirty="0">
                <a:solidFill>
                  <a:srgbClr val="494848"/>
                </a:solidFill>
                <a:latin typeface="メイリオ" panose="020B0604030504040204" pitchFamily="50" charset="-128"/>
                <a:ea typeface="メイリオ" panose="020B0604030504040204" pitchFamily="50" charset="-128"/>
                <a:cs typeface="メイリオ"/>
              </a:rPr>
              <a:t>できる</a:t>
            </a:r>
            <a:endParaRPr lang="en-US" sz="1554" b="1" dirty="0">
              <a:solidFill>
                <a:srgbClr val="494848"/>
              </a:solidFill>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692766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0026D-0FAA-76C0-699F-5C95EE2044C4}"/>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C5E2E585-BC17-9ECA-2598-27E9D406C15A}"/>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4" name="正方形/長方形 3">
            <a:extLst>
              <a:ext uri="{FF2B5EF4-FFF2-40B4-BE49-F238E27FC236}">
                <a16:creationId xmlns:a16="http://schemas.microsoft.com/office/drawing/2014/main" id="{E05B90A4-AED6-B19A-AEE0-64B5142381A5}"/>
              </a:ext>
            </a:extLst>
          </p:cNvPr>
          <p:cNvSpPr/>
          <p:nvPr/>
        </p:nvSpPr>
        <p:spPr>
          <a:xfrm>
            <a:off x="209578" y="1455366"/>
            <a:ext cx="7689926"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コール</a:t>
            </a:r>
            <a:r>
              <a:rPr lang="en-US" altLang="ja-JP" sz="1600" b="1" dirty="0">
                <a:solidFill>
                  <a:schemeClr val="tx1">
                    <a:lumMod val="65000"/>
                    <a:lumOff val="35000"/>
                  </a:schemeClr>
                </a:solidFill>
                <a:latin typeface="メイリオ"/>
                <a:ea typeface="メイリオ"/>
                <a:cs typeface="メイリオ"/>
                <a:sym typeface="Meiryo"/>
              </a:rPr>
              <a:t>Plus</a:t>
            </a:r>
            <a:r>
              <a:rPr lang="ja-JP" altLang="en-US" sz="1600" b="1" dirty="0">
                <a:solidFill>
                  <a:schemeClr val="tx1">
                    <a:lumMod val="65000"/>
                    <a:lumOff val="35000"/>
                  </a:schemeClr>
                </a:solidFill>
                <a:latin typeface="メイリオ"/>
                <a:ea typeface="メイリオ"/>
                <a:cs typeface="メイリオ"/>
                <a:sym typeface="Meiryo"/>
              </a:rPr>
              <a:t>」は、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公式アカウントの有料オプション機能で、</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公式アカウントからユーザーがカスタマーサポートに電話できるサービス。</a:t>
            </a:r>
            <a:endParaRPr lang="en-US" altLang="ja-JP" sz="1600" b="1" dirty="0">
              <a:solidFill>
                <a:schemeClr val="tx1">
                  <a:lumMod val="65000"/>
                  <a:lumOff val="35000"/>
                </a:schemeClr>
              </a:solidFill>
              <a:latin typeface="メイリオ"/>
              <a:ea typeface="メイリオ"/>
              <a:cs typeface="メイリオ"/>
              <a:sym typeface="Meiryo"/>
            </a:endParaRPr>
          </a:p>
        </p:txBody>
      </p:sp>
      <p:sp>
        <p:nvSpPr>
          <p:cNvPr id="5" name="正方形/長方形 4">
            <a:extLst>
              <a:ext uri="{FF2B5EF4-FFF2-40B4-BE49-F238E27FC236}">
                <a16:creationId xmlns:a16="http://schemas.microsoft.com/office/drawing/2014/main" id="{381E56F1-6DB4-770A-F040-6633F4E7E2B0}"/>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a:t>
            </a:r>
            <a:r>
              <a:rPr lang="en-US" altLang="ja-JP" sz="1600" b="1" dirty="0" err="1">
                <a:latin typeface="メイリオ" panose="020B0604030504040204" pitchFamily="50" charset="-128"/>
                <a:ea typeface="メイリオ" panose="020B0604030504040204" pitchFamily="50" charset="-128"/>
                <a:cs typeface="メイリオ"/>
              </a:rPr>
              <a:t>LINE】Call</a:t>
            </a:r>
            <a:r>
              <a:rPr lang="en-US" altLang="ja-JP" sz="1600" b="1" dirty="0">
                <a:latin typeface="メイリオ" panose="020B0604030504040204" pitchFamily="50" charset="-128"/>
                <a:ea typeface="メイリオ" panose="020B0604030504040204" pitchFamily="50" charset="-128"/>
                <a:cs typeface="メイリオ"/>
              </a:rPr>
              <a:t> Plus</a:t>
            </a:r>
          </a:p>
        </p:txBody>
      </p:sp>
      <p:pic>
        <p:nvPicPr>
          <p:cNvPr id="6" name="図 5">
            <a:extLst>
              <a:ext uri="{FF2B5EF4-FFF2-40B4-BE49-F238E27FC236}">
                <a16:creationId xmlns:a16="http://schemas.microsoft.com/office/drawing/2014/main" id="{A4DCE6F0-EC2D-892A-88B0-8516B660CB73}"/>
              </a:ext>
            </a:extLst>
          </p:cNvPr>
          <p:cNvPicPr>
            <a:picLocks noChangeAspect="1"/>
          </p:cNvPicPr>
          <p:nvPr/>
        </p:nvPicPr>
        <p:blipFill>
          <a:blip r:embed="rId2"/>
          <a:stretch>
            <a:fillRect/>
          </a:stretch>
        </p:blipFill>
        <p:spPr>
          <a:xfrm>
            <a:off x="668697" y="2287502"/>
            <a:ext cx="8332001" cy="2953508"/>
          </a:xfrm>
          <a:prstGeom prst="rect">
            <a:avLst/>
          </a:prstGeom>
        </p:spPr>
      </p:pic>
      <p:sp>
        <p:nvSpPr>
          <p:cNvPr id="7" name="角丸四角形 7">
            <a:extLst>
              <a:ext uri="{FF2B5EF4-FFF2-40B4-BE49-F238E27FC236}">
                <a16:creationId xmlns:a16="http://schemas.microsoft.com/office/drawing/2014/main" id="{D9E83488-E9DE-A2BA-7266-DA0D65822773}"/>
              </a:ext>
            </a:extLst>
          </p:cNvPr>
          <p:cNvSpPr/>
          <p:nvPr/>
        </p:nvSpPr>
        <p:spPr>
          <a:xfrm>
            <a:off x="548883" y="5241010"/>
            <a:ext cx="8720952" cy="1245629"/>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正方形/長方形 7">
            <a:extLst>
              <a:ext uri="{FF2B5EF4-FFF2-40B4-BE49-F238E27FC236}">
                <a16:creationId xmlns:a16="http://schemas.microsoft.com/office/drawing/2014/main" id="{71E1C361-AEEF-C8A2-A1E4-44AF984285D5}"/>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sp>
        <p:nvSpPr>
          <p:cNvPr id="9" name="正方形/長方形 8">
            <a:extLst>
              <a:ext uri="{FF2B5EF4-FFF2-40B4-BE49-F238E27FC236}">
                <a16:creationId xmlns:a16="http://schemas.microsoft.com/office/drawing/2014/main" id="{F798F716-4AF6-5FA7-044B-E98F33F1C04B}"/>
              </a:ext>
            </a:extLst>
          </p:cNvPr>
          <p:cNvSpPr/>
          <p:nvPr/>
        </p:nvSpPr>
        <p:spPr>
          <a:xfrm>
            <a:off x="859212" y="5571436"/>
            <a:ext cx="7989495"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さらに「</a:t>
            </a:r>
            <a:r>
              <a:rPr lang="en-US" altLang="ja-JP" sz="1600" b="1" dirty="0">
                <a:solidFill>
                  <a:schemeClr val="tx1">
                    <a:lumMod val="65000"/>
                    <a:lumOff val="35000"/>
                  </a:schemeClr>
                </a:solidFill>
                <a:latin typeface="メイリオ"/>
                <a:ea typeface="メイリオ"/>
                <a:cs typeface="メイリオ"/>
                <a:sym typeface="Meiryo"/>
              </a:rPr>
              <a:t>LINE Ai Call</a:t>
            </a:r>
            <a:r>
              <a:rPr lang="ja-JP" altLang="en-US" sz="1600" b="1" dirty="0">
                <a:solidFill>
                  <a:schemeClr val="tx1">
                    <a:lumMod val="65000"/>
                    <a:lumOff val="35000"/>
                  </a:schemeClr>
                </a:solidFill>
                <a:latin typeface="メイリオ"/>
                <a:ea typeface="メイリオ"/>
                <a:cs typeface="メイリオ"/>
                <a:sym typeface="Meiryo"/>
              </a:rPr>
              <a:t>」を活用するとユーザーの要望に対して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による自然な</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対話応答が可能に。要件に応じて</a:t>
            </a:r>
            <a:r>
              <a:rPr lang="en-US" altLang="ja-JP" sz="1600" b="1" dirty="0">
                <a:solidFill>
                  <a:schemeClr val="tx1">
                    <a:lumMod val="65000"/>
                    <a:lumOff val="35000"/>
                  </a:schemeClr>
                </a:solidFill>
                <a:latin typeface="メイリオ"/>
                <a:ea typeface="メイリオ"/>
                <a:cs typeface="メイリオ"/>
                <a:sym typeface="Meiryo"/>
              </a:rPr>
              <a:t>Ai</a:t>
            </a:r>
            <a:r>
              <a:rPr lang="ja-JP" altLang="en-US" sz="1600" b="1" dirty="0">
                <a:solidFill>
                  <a:schemeClr val="tx1">
                    <a:lumMod val="65000"/>
                    <a:lumOff val="35000"/>
                  </a:schemeClr>
                </a:solidFill>
                <a:latin typeface="メイリオ"/>
                <a:ea typeface="メイリオ"/>
                <a:cs typeface="メイリオ"/>
                <a:sym typeface="Meiryo"/>
              </a:rPr>
              <a:t>と有人オペレータの振り分け業務効率化を支援。</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2524554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1520D-5D7C-2BDD-908B-6251C4BD5729}"/>
            </a:ext>
          </a:extLst>
        </p:cNvPr>
        <p:cNvGrpSpPr/>
        <p:nvPr/>
      </p:nvGrpSpPr>
      <p:grpSpPr>
        <a:xfrm>
          <a:off x="0" y="0"/>
          <a:ext cx="0" cy="0"/>
          <a:chOff x="0" y="0"/>
          <a:chExt cx="0" cy="0"/>
        </a:xfrm>
      </p:grpSpPr>
      <p:sp>
        <p:nvSpPr>
          <p:cNvPr id="2" name="Google Shape;156;p7">
            <a:extLst>
              <a:ext uri="{FF2B5EF4-FFF2-40B4-BE49-F238E27FC236}">
                <a16:creationId xmlns:a16="http://schemas.microsoft.com/office/drawing/2014/main" id="{D9975C92-DB69-EFCA-815F-DEDCC99A793F}"/>
              </a:ext>
            </a:extLst>
          </p:cNvPr>
          <p:cNvSpPr txBox="1"/>
          <p:nvPr/>
        </p:nvSpPr>
        <p:spPr>
          <a:xfrm>
            <a:off x="548883" y="138118"/>
            <a:ext cx="6514857" cy="338554"/>
          </a:xfrm>
          <a:prstGeom prst="rect">
            <a:avLst/>
          </a:prstGeom>
          <a:noFill/>
          <a:ln>
            <a:noFill/>
          </a:ln>
        </p:spPr>
        <p:txBody>
          <a:bodyPr spcFirstLastPara="1" wrap="square" lIns="91425" tIns="45700" rIns="91425" bIns="45700" anchor="ctr" anchorCtr="0">
            <a:spAutoFit/>
          </a:bodyPr>
          <a:lstStyle/>
          <a:p>
            <a:pPr lvl="0">
              <a:buClr>
                <a:srgbClr val="002060"/>
              </a:buClr>
              <a:buSzPts val="1600"/>
            </a:pPr>
            <a:r>
              <a:rPr lang="ja-JP" altLang="en-US" sz="1600" b="1" dirty="0">
                <a:solidFill>
                  <a:srgbClr val="002060"/>
                </a:solidFill>
                <a:latin typeface="メイリオ"/>
                <a:ea typeface="メイリオ"/>
                <a:cs typeface="メイリオ"/>
                <a:sym typeface="Meiryo"/>
              </a:rPr>
              <a:t>その他 代表的な活用機能</a:t>
            </a:r>
          </a:p>
        </p:txBody>
      </p:sp>
      <p:sp>
        <p:nvSpPr>
          <p:cNvPr id="5" name="正方形/長方形 4">
            <a:extLst>
              <a:ext uri="{FF2B5EF4-FFF2-40B4-BE49-F238E27FC236}">
                <a16:creationId xmlns:a16="http://schemas.microsoft.com/office/drawing/2014/main" id="{B925A5A4-A739-9AD7-5D18-2E4781D36898}"/>
              </a:ext>
            </a:extLst>
          </p:cNvPr>
          <p:cNvSpPr/>
          <p:nvPr/>
        </p:nvSpPr>
        <p:spPr>
          <a:xfrm>
            <a:off x="295583" y="823033"/>
            <a:ext cx="2541320" cy="485775"/>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でログイン</a:t>
            </a:r>
            <a:endParaRPr lang="en-US" altLang="ja-JP" sz="1600" b="1" dirty="0">
              <a:latin typeface="メイリオ" panose="020B0604030504040204" pitchFamily="50" charset="-128"/>
              <a:ea typeface="メイリオ" panose="020B0604030504040204" pitchFamily="50" charset="-128"/>
              <a:cs typeface="メイリオ"/>
            </a:endParaRPr>
          </a:p>
        </p:txBody>
      </p:sp>
      <p:sp>
        <p:nvSpPr>
          <p:cNvPr id="8" name="正方形/長方形 7">
            <a:extLst>
              <a:ext uri="{FF2B5EF4-FFF2-40B4-BE49-F238E27FC236}">
                <a16:creationId xmlns:a16="http://schemas.microsoft.com/office/drawing/2014/main" id="{7C64DE5F-370C-8EB5-6D0C-7DDEB12A3E16}"/>
              </a:ext>
            </a:extLst>
          </p:cNvPr>
          <p:cNvSpPr/>
          <p:nvPr/>
        </p:nvSpPr>
        <p:spPr>
          <a:xfrm>
            <a:off x="4642710" y="6545362"/>
            <a:ext cx="5046574" cy="246221"/>
          </a:xfrm>
          <a:prstGeom prst="rect">
            <a:avLst/>
          </a:prstGeom>
        </p:spPr>
        <p:txBody>
          <a:bodyPr wrap="none">
            <a:spAutoFit/>
          </a:bodyPr>
          <a:lstStyle/>
          <a:p>
            <a:pPr lvl="0">
              <a:buClr>
                <a:srgbClr val="002060"/>
              </a:buClr>
              <a:buSzPts val="1600"/>
            </a:pPr>
            <a:r>
              <a:rPr lang="ja-JP" altLang="en-US" sz="1000" b="1" dirty="0">
                <a:solidFill>
                  <a:schemeClr val="tx1">
                    <a:lumMod val="65000"/>
                    <a:lumOff val="35000"/>
                  </a:schemeClr>
                </a:solidFill>
                <a:latin typeface="メイリオ"/>
                <a:ea typeface="メイリオ"/>
                <a:cs typeface="メイリオ"/>
                <a:sym typeface="Meiryo"/>
              </a:rPr>
              <a:t>引用：</a:t>
            </a:r>
            <a:r>
              <a:rPr lang="en-US" altLang="ja-JP" sz="1000" b="1" dirty="0">
                <a:solidFill>
                  <a:schemeClr val="tx1">
                    <a:lumMod val="65000"/>
                    <a:lumOff val="35000"/>
                  </a:schemeClr>
                </a:solidFill>
                <a:latin typeface="メイリオ"/>
                <a:ea typeface="メイリオ"/>
                <a:cs typeface="メイリオ"/>
                <a:sym typeface="Meiryo"/>
              </a:rPr>
              <a:t>https://prtimes.jp/main/html/rd/p/000003920.000001594.html</a:t>
            </a:r>
          </a:p>
        </p:txBody>
      </p:sp>
      <p:pic>
        <p:nvPicPr>
          <p:cNvPr id="3" name="図 2">
            <a:extLst>
              <a:ext uri="{FF2B5EF4-FFF2-40B4-BE49-F238E27FC236}">
                <a16:creationId xmlns:a16="http://schemas.microsoft.com/office/drawing/2014/main" id="{2F4170E7-BAC4-FD12-01C2-903FF75F192F}"/>
              </a:ext>
            </a:extLst>
          </p:cNvPr>
          <p:cNvPicPr>
            <a:picLocks noChangeAspect="1"/>
          </p:cNvPicPr>
          <p:nvPr/>
        </p:nvPicPr>
        <p:blipFill>
          <a:blip r:embed="rId2"/>
          <a:stretch>
            <a:fillRect/>
          </a:stretch>
        </p:blipFill>
        <p:spPr>
          <a:xfrm>
            <a:off x="414007" y="1995020"/>
            <a:ext cx="9077986" cy="4550342"/>
          </a:xfrm>
          <a:prstGeom prst="rect">
            <a:avLst/>
          </a:prstGeom>
        </p:spPr>
      </p:pic>
      <p:sp>
        <p:nvSpPr>
          <p:cNvPr id="4" name="正方形/長方形 3">
            <a:extLst>
              <a:ext uri="{FF2B5EF4-FFF2-40B4-BE49-F238E27FC236}">
                <a16:creationId xmlns:a16="http://schemas.microsoft.com/office/drawing/2014/main" id="{33EC1AF8-7A08-D8F6-3DC4-3EBE18410E78}"/>
              </a:ext>
            </a:extLst>
          </p:cNvPr>
          <p:cNvSpPr/>
          <p:nvPr/>
        </p:nvSpPr>
        <p:spPr>
          <a:xfrm>
            <a:off x="209578" y="1455366"/>
            <a:ext cx="8925841" cy="584775"/>
          </a:xfrm>
          <a:prstGeom prst="rect">
            <a:avLst/>
          </a:prstGeom>
        </p:spPr>
        <p:txBody>
          <a:bodyPr wrap="none">
            <a:spAutoFit/>
          </a:bodyPr>
          <a:lstStyle/>
          <a:p>
            <a:pPr lvl="0">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でログイン」は、</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上のユーザー情報を活用して</a:t>
            </a:r>
            <a:r>
              <a:rPr lang="en-US" altLang="ja-JP" sz="1600" b="1" dirty="0">
                <a:solidFill>
                  <a:schemeClr val="tx1">
                    <a:lumMod val="65000"/>
                    <a:lumOff val="35000"/>
                  </a:schemeClr>
                </a:solidFill>
                <a:latin typeface="メイリオ"/>
                <a:ea typeface="メイリオ"/>
                <a:cs typeface="メイリオ"/>
                <a:sym typeface="Meiryo"/>
              </a:rPr>
              <a:t>WEB</a:t>
            </a:r>
            <a:r>
              <a:rPr lang="ja-JP" altLang="en-US" sz="1600" b="1" dirty="0">
                <a:solidFill>
                  <a:schemeClr val="tx1">
                    <a:lumMod val="65000"/>
                    <a:lumOff val="35000"/>
                  </a:schemeClr>
                </a:solidFill>
                <a:latin typeface="メイリオ"/>
                <a:ea typeface="メイリオ"/>
                <a:cs typeface="メイリオ"/>
                <a:sym typeface="Meiryo"/>
              </a:rPr>
              <a:t>サイト登録が出来る仕組み。</a:t>
            </a:r>
            <a:endParaRPr lang="en-US" altLang="ja-JP" sz="1600" b="1" dirty="0">
              <a:solidFill>
                <a:schemeClr val="tx1">
                  <a:lumMod val="65000"/>
                  <a:lumOff val="35000"/>
                </a:schemeClr>
              </a:solidFill>
              <a:latin typeface="メイリオ"/>
              <a:ea typeface="メイリオ"/>
              <a:cs typeface="メイリオ"/>
              <a:sym typeface="Meiryo"/>
            </a:endParaRPr>
          </a:p>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ID</a:t>
            </a:r>
            <a:r>
              <a:rPr lang="ja-JP" altLang="en-US" sz="1600" b="1" dirty="0">
                <a:solidFill>
                  <a:schemeClr val="tx1">
                    <a:lumMod val="65000"/>
                    <a:lumOff val="35000"/>
                  </a:schemeClr>
                </a:solidFill>
                <a:latin typeface="メイリオ"/>
                <a:ea typeface="メイリオ"/>
                <a:cs typeface="メイリオ"/>
                <a:sym typeface="Meiryo"/>
              </a:rPr>
              <a:t>連携を完了することにより、サービス</a:t>
            </a:r>
            <a:r>
              <a:rPr lang="en-US" altLang="ja-JP" sz="1600" b="1" dirty="0">
                <a:solidFill>
                  <a:schemeClr val="tx1">
                    <a:lumMod val="65000"/>
                    <a:lumOff val="35000"/>
                  </a:schemeClr>
                </a:solidFill>
                <a:latin typeface="メイリオ"/>
                <a:ea typeface="メイリオ"/>
                <a:cs typeface="メイリオ"/>
                <a:sym typeface="Meiryo"/>
              </a:rPr>
              <a:t>(WEB) </a:t>
            </a:r>
            <a:r>
              <a:rPr lang="ja-JP" altLang="en-US" sz="1600" b="1" dirty="0">
                <a:solidFill>
                  <a:schemeClr val="tx1">
                    <a:lumMod val="65000"/>
                    <a:lumOff val="35000"/>
                  </a:schemeClr>
                </a:solidFill>
                <a:latin typeface="メイリオ"/>
                <a:ea typeface="メイリオ"/>
                <a:cs typeface="メイリオ"/>
                <a:sym typeface="Meiryo"/>
              </a:rPr>
              <a:t>⇔ </a:t>
            </a:r>
            <a:r>
              <a:rPr lang="en-US" altLang="ja-JP" sz="1600" b="1" dirty="0">
                <a:solidFill>
                  <a:schemeClr val="tx1">
                    <a:lumMod val="65000"/>
                    <a:lumOff val="35000"/>
                  </a:schemeClr>
                </a:solidFill>
                <a:latin typeface="メイリオ"/>
                <a:ea typeface="メイリオ"/>
                <a:cs typeface="メイリオ"/>
                <a:sym typeface="Meiryo"/>
              </a:rPr>
              <a:t>LINE </a:t>
            </a:r>
            <a:r>
              <a:rPr lang="ja-JP" altLang="en-US" sz="1600" b="1" dirty="0">
                <a:solidFill>
                  <a:schemeClr val="tx1">
                    <a:lumMod val="65000"/>
                    <a:lumOff val="35000"/>
                  </a:schemeClr>
                </a:solidFill>
                <a:latin typeface="メイリオ"/>
                <a:ea typeface="メイリオ"/>
                <a:cs typeface="メイリオ"/>
                <a:sym typeface="Meiryo"/>
              </a:rPr>
              <a:t>での効果的なメッセージが可能に。</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41940683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オフライン動線</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400" b="1" dirty="0">
                <a:solidFill>
                  <a:srgbClr val="002060"/>
                </a:solidFill>
                <a:latin typeface="メイリオ"/>
                <a:ea typeface="メイリオ"/>
                <a:cs typeface="メイリオ"/>
                <a:sym typeface="Meiryo"/>
              </a:rPr>
              <a:t>ニュースリリース等</a:t>
            </a:r>
            <a:endParaRPr lang="en-US" altLang="ja-JP" sz="1400" b="1" dirty="0">
              <a:solidFill>
                <a:srgbClr val="002060"/>
              </a:solidFill>
              <a:latin typeface="メイリオ"/>
              <a:ea typeface="メイリオ"/>
              <a:cs typeface="メイリオ"/>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WEB</a:t>
            </a:r>
            <a:r>
              <a:rPr lang="ja-JP" altLang="en-US" sz="2000" b="1" dirty="0">
                <a:solidFill>
                  <a:srgbClr val="002060"/>
                </a:solidFill>
                <a:latin typeface="メイリオ"/>
                <a:ea typeface="メイリオ"/>
                <a:cs typeface="メイリオ"/>
                <a:sym typeface="Meiryo"/>
              </a:rPr>
              <a:t>サイト動線整備</a:t>
            </a:r>
            <a:endParaRPr lang="en-US" altLang="ja-JP" sz="2000" b="1" dirty="0">
              <a:solidFill>
                <a:srgbClr val="002060"/>
              </a:solidFill>
              <a:latin typeface="メイリオ"/>
              <a:ea typeface="メイリオ"/>
              <a:cs typeface="メイリオ"/>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友だち紹介</a:t>
            </a:r>
            <a:endParaRPr lang="en-US" altLang="ja-JP" sz="2000" b="1" dirty="0">
              <a:solidFill>
                <a:srgbClr val="002060"/>
              </a:solidFill>
              <a:latin typeface="メイリオ"/>
              <a:ea typeface="メイリオ"/>
              <a:cs typeface="メイリオ"/>
              <a:sym typeface="Meiryo"/>
            </a:endParaRPr>
          </a:p>
          <a:p>
            <a:pPr lvl="0" algn="ctr">
              <a:buClr>
                <a:schemeClr val="dk1"/>
              </a:buClr>
              <a:buSzPts val="1500"/>
            </a:pPr>
            <a:r>
              <a:rPr lang="ja-JP" altLang="en-US" sz="1200" b="1" dirty="0">
                <a:solidFill>
                  <a:srgbClr val="002060"/>
                </a:solidFill>
                <a:latin typeface="メイリオ"/>
                <a:ea typeface="メイリオ"/>
                <a:cs typeface="メイリオ"/>
                <a:sym typeface="Meiryo"/>
              </a:rPr>
              <a:t>（</a:t>
            </a:r>
            <a:r>
              <a:rPr lang="en-US" altLang="ja-JP" sz="1200" b="1" dirty="0">
                <a:solidFill>
                  <a:srgbClr val="002060"/>
                </a:solidFill>
                <a:latin typeface="メイリオ"/>
                <a:ea typeface="メイリオ"/>
                <a:cs typeface="メイリオ"/>
                <a:sym typeface="Meiryo"/>
              </a:rPr>
              <a:t>LINE</a:t>
            </a:r>
            <a:r>
              <a:rPr lang="ja-JP" altLang="en-US" sz="1200" b="1" dirty="0">
                <a:solidFill>
                  <a:srgbClr val="002060"/>
                </a:solidFill>
                <a:latin typeface="メイリオ"/>
                <a:ea typeface="メイリオ"/>
                <a:cs typeface="メイリオ"/>
                <a:sym typeface="Meiryo"/>
              </a:rPr>
              <a:t>ポイントコネクト）</a:t>
            </a:r>
            <a:endParaRPr lang="en-US" altLang="ja-JP" sz="1200" b="1" dirty="0">
              <a:solidFill>
                <a:srgbClr val="002060"/>
              </a:solidFill>
              <a:latin typeface="メイリオ"/>
              <a:ea typeface="メイリオ"/>
              <a:cs typeface="メイリオ"/>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LINE</a:t>
            </a:r>
            <a:r>
              <a:rPr lang="ja-JP" altLang="en-US" sz="2000" b="1" dirty="0">
                <a:solidFill>
                  <a:srgbClr val="002060"/>
                </a:solidFill>
                <a:latin typeface="メイリオ"/>
                <a:ea typeface="メイリオ"/>
                <a:cs typeface="メイリオ"/>
                <a:sym typeface="Meiryo"/>
              </a:rPr>
              <a:t>ポイント</a:t>
            </a:r>
            <a:r>
              <a:rPr lang="en-US" altLang="ja-JP" sz="2000" b="1" dirty="0">
                <a:solidFill>
                  <a:srgbClr val="002060"/>
                </a:solidFill>
                <a:latin typeface="メイリオ"/>
                <a:ea typeface="メイリオ"/>
                <a:cs typeface="メイリオ"/>
                <a:sym typeface="Meiryo"/>
              </a:rPr>
              <a:t>Ads</a:t>
            </a:r>
            <a:endParaRPr lang="en-US" altLang="ja-JP" sz="1400" b="1" dirty="0">
              <a:solidFill>
                <a:srgbClr val="002060"/>
              </a:solidFill>
              <a:latin typeface="メイリオ"/>
              <a:ea typeface="メイリオ"/>
              <a:cs typeface="メイリオ"/>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メイリオ"/>
                <a:ea typeface="メイリオ"/>
                <a:cs typeface="メイリオ"/>
                <a:sym typeface="Meiryo"/>
              </a:rPr>
              <a:t>スタンプ施策</a:t>
            </a:r>
            <a:endParaRPr lang="en-US" altLang="ja-JP" sz="2000" b="1" dirty="0">
              <a:solidFill>
                <a:srgbClr val="002060"/>
              </a:solidFill>
              <a:latin typeface="メイリオ"/>
              <a:ea typeface="メイリオ"/>
              <a:cs typeface="メイリオ"/>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latin typeface="メイリオ"/>
                <a:ea typeface="メイリオ"/>
                <a:cs typeface="メイリオ"/>
              </a:defRPr>
            </a:pPr>
            <a:endParaRPr kumimoji="0" lang="ja-JP" altLang="en-US" sz="1400" b="0" i="0" u="none" strike="noStrike" kern="0" cap="none" spc="0" normalizeH="0" baseline="0" noProof="0">
              <a:ln>
                <a:noFill/>
              </a:ln>
              <a:solidFill>
                <a:srgbClr val="FFFFFF"/>
              </a:solidFill>
              <a:effectLst/>
              <a:uLnTx/>
              <a:uFillTx/>
              <a:latin typeface="メイリオ"/>
              <a:ea typeface="メイリオ" panose="020B0600070205080204" pitchFamily="50" charset="-128"/>
              <a:cs typeface="メイリオ"/>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メイリオ"/>
                <a:ea typeface="メイリオ"/>
                <a:cs typeface="メイリオ"/>
                <a:sym typeface="Meiryo"/>
              </a:rPr>
              <a:t>CPF</a:t>
            </a:r>
            <a:r>
              <a:rPr lang="ja-JP" altLang="en-US" sz="2000" b="1" dirty="0">
                <a:solidFill>
                  <a:srgbClr val="002060"/>
                </a:solidFill>
                <a:latin typeface="メイリオ"/>
                <a:ea typeface="メイリオ"/>
                <a:cs typeface="メイリオ"/>
                <a:sym typeface="Meiryo"/>
              </a:rPr>
              <a:t>広告</a:t>
            </a:r>
            <a:endParaRPr lang="en-US" altLang="ja-JP" sz="1200" b="1" dirty="0">
              <a:solidFill>
                <a:srgbClr val="002060"/>
              </a:solidFill>
              <a:latin typeface="メイリオ"/>
              <a:ea typeface="メイリオ"/>
              <a:cs typeface="メイリオ"/>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メイリオ"/>
              <a:ea typeface="メイリオ"/>
              <a:cs typeface="メイリオ"/>
            </a:endParaRPr>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メイリオ"/>
                <a:ea typeface="メイリオ"/>
                <a:cs typeface="メイリオ"/>
                <a:sym typeface="Meiryo"/>
              </a:rPr>
              <a:t>コンサル発注</a:t>
            </a:r>
            <a:r>
              <a:rPr lang="ja-JP" altLang="en-US" sz="1200" dirty="0">
                <a:latin typeface="メイリオ"/>
                <a:ea typeface="メイリオ"/>
                <a:cs typeface="メイリオ"/>
                <a:sym typeface="Meiryo"/>
              </a:rPr>
              <a:t>であれば </a:t>
            </a:r>
            <a:r>
              <a:rPr lang="ja-JP" altLang="en-US" b="1" dirty="0">
                <a:solidFill>
                  <a:srgbClr val="1F2A5C"/>
                </a:solidFill>
                <a:latin typeface="メイリオ"/>
                <a:ea typeface="メイリオ"/>
                <a:cs typeface="メイリオ"/>
                <a:sym typeface="Meiryo"/>
              </a:rPr>
              <a:t>無償</a:t>
            </a:r>
            <a:endParaRPr lang="ja-JP" altLang="en-US" dirty="0">
              <a:solidFill>
                <a:srgbClr val="1F2A5C"/>
              </a:solidFill>
              <a:latin typeface="メイリオ"/>
              <a:ea typeface="メイリオ"/>
              <a:cs typeface="メイリオ"/>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メイリオ"/>
                <a:ea typeface="メイリオ"/>
                <a:cs typeface="メイリオ"/>
                <a:sym typeface="Meiryo"/>
              </a:rPr>
              <a:t>サービス停止中</a:t>
            </a:r>
            <a:endParaRPr lang="ja-JP" altLang="en-US" b="1" dirty="0">
              <a:solidFill>
                <a:schemeClr val="tx1">
                  <a:lumMod val="50000"/>
                  <a:lumOff val="50000"/>
                </a:schemeClr>
              </a:solidFill>
              <a:latin typeface="メイリオ"/>
              <a:ea typeface="メイリオ"/>
              <a:cs typeface="メイリオ"/>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（期間合計）</a:t>
            </a:r>
            <a:endParaRPr lang="ja-JP" altLang="en-US" sz="2000" dirty="0">
              <a:solidFill>
                <a:srgbClr val="1F2A5C"/>
              </a:solidFill>
              <a:latin typeface="メイリオ"/>
              <a:ea typeface="メイリオ"/>
              <a:cs typeface="メイリオ"/>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1F2A5C"/>
                </a:solidFill>
                <a:latin typeface="メイリオ"/>
                <a:ea typeface="メイリオ"/>
                <a:cs typeface="メイリオ"/>
                <a:sym typeface="Meiryo"/>
              </a:rPr>
              <a:t>20</a:t>
            </a:r>
            <a:r>
              <a:rPr lang="ja-JP" altLang="en-US" sz="2000" b="1" dirty="0">
                <a:solidFill>
                  <a:srgbClr val="1F2A5C"/>
                </a:solidFill>
                <a:latin typeface="メイリオ"/>
                <a:ea typeface="メイリオ"/>
                <a:cs typeface="メイリオ"/>
                <a:sym typeface="Meiryo"/>
              </a:rPr>
              <a:t>万円</a:t>
            </a:r>
            <a:r>
              <a:rPr lang="en-US" altLang="ja-JP" sz="2000" b="1" dirty="0">
                <a:solidFill>
                  <a:srgbClr val="1F2A5C"/>
                </a:solidFill>
                <a:latin typeface="メイリオ"/>
                <a:ea typeface="メイリオ"/>
                <a:cs typeface="メイリオ"/>
                <a:sym typeface="Meiryo"/>
              </a:rPr>
              <a:t>~</a:t>
            </a:r>
            <a:r>
              <a:rPr lang="ja-JP" altLang="en-US" sz="1200" dirty="0">
                <a:latin typeface="メイリオ"/>
                <a:ea typeface="メイリオ"/>
                <a:cs typeface="メイリオ"/>
                <a:sym typeface="Meiryo"/>
              </a:rPr>
              <a:t>（</a:t>
            </a:r>
            <a:r>
              <a:rPr lang="en-US" altLang="ja-JP" sz="1200" dirty="0">
                <a:latin typeface="メイリオ"/>
                <a:ea typeface="メイリオ"/>
                <a:cs typeface="メイリオ"/>
                <a:sym typeface="Meiryo"/>
              </a:rPr>
              <a:t>1</a:t>
            </a:r>
            <a:r>
              <a:rPr lang="ja-JP" altLang="en-US" sz="1200" dirty="0">
                <a:latin typeface="メイリオ"/>
                <a:ea typeface="メイリオ"/>
                <a:cs typeface="メイリオ"/>
                <a:sym typeface="Meiryo"/>
              </a:rPr>
              <a:t>ヶ月</a:t>
            </a:r>
            <a:r>
              <a:rPr lang="en-US" altLang="ja-JP" sz="1200" dirty="0">
                <a:latin typeface="メイリオ"/>
                <a:ea typeface="メイリオ"/>
                <a:cs typeface="メイリオ"/>
                <a:sym typeface="Meiryo"/>
              </a:rPr>
              <a:t>~</a:t>
            </a:r>
            <a:r>
              <a:rPr lang="ja-JP" altLang="en-US" sz="1200" dirty="0">
                <a:latin typeface="メイリオ"/>
                <a:ea typeface="メイリオ"/>
                <a:cs typeface="メイリオ"/>
                <a:sym typeface="Meiryo"/>
              </a:rPr>
              <a:t>）</a:t>
            </a:r>
            <a:endParaRPr lang="ja-JP" altLang="en-US" sz="2000" dirty="0">
              <a:solidFill>
                <a:srgbClr val="1F2A5C"/>
              </a:solidFill>
              <a:latin typeface="メイリオ"/>
              <a:ea typeface="メイリオ"/>
              <a:cs typeface="メイリオ"/>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600" b="1" dirty="0">
                <a:solidFill>
                  <a:schemeClr val="tx1">
                    <a:lumMod val="65000"/>
                    <a:lumOff val="35000"/>
                  </a:schemeClr>
                </a:solidFill>
                <a:latin typeface="メイリオ"/>
                <a:ea typeface="メイリオ"/>
                <a:cs typeface="メイリオ"/>
                <a:sym typeface="Meiryo"/>
              </a:rPr>
              <a:t>各拡張施策についても</a:t>
            </a:r>
            <a:r>
              <a:rPr lang="en-US" altLang="ja-JP" sz="1600" b="1" dirty="0">
                <a:solidFill>
                  <a:schemeClr val="tx1">
                    <a:lumMod val="65000"/>
                    <a:lumOff val="35000"/>
                  </a:schemeClr>
                </a:solidFill>
                <a:latin typeface="メイリオ"/>
                <a:ea typeface="メイリオ"/>
                <a:cs typeface="メイリオ"/>
                <a:sym typeface="Meiryo"/>
              </a:rPr>
              <a:t>MIN</a:t>
            </a:r>
            <a:r>
              <a:rPr lang="ja-JP" altLang="en-US" sz="1600" b="1" dirty="0">
                <a:solidFill>
                  <a:schemeClr val="tx1">
                    <a:lumMod val="65000"/>
                    <a:lumOff val="35000"/>
                  </a:schemeClr>
                </a:solidFill>
                <a:latin typeface="メイリオ"/>
                <a:ea typeface="メイリオ"/>
                <a:cs typeface="メイリオ"/>
                <a:sym typeface="Meiryo"/>
              </a:rPr>
              <a:t>金額からの発注、動線設計が可能です。</a:t>
            </a:r>
            <a:endParaRPr lang="en-US" altLang="ja-JP" sz="1600" b="1" dirty="0">
              <a:solidFill>
                <a:schemeClr val="tx1">
                  <a:lumMod val="65000"/>
                  <a:lumOff val="35000"/>
                </a:schemeClr>
              </a:solidFill>
              <a:latin typeface="メイリオ"/>
              <a:ea typeface="メイリオ"/>
              <a:cs typeface="メイリオ"/>
              <a:sym typeface="Meiryo"/>
            </a:endParaRPr>
          </a:p>
          <a:p>
            <a:pPr lvl="0" algn="ctr">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メイリオ"/>
              <a:ea typeface="メイリオ"/>
              <a:cs typeface="メイリオ"/>
              <a:sym typeface="Meiryo"/>
            </a:endParaRPr>
          </a:p>
        </p:txBody>
      </p:sp>
    </p:spTree>
    <p:extLst>
      <p:ext uri="{BB962C8B-B14F-4D97-AF65-F5344CB8AC3E}">
        <p14:creationId xmlns:p14="http://schemas.microsoft.com/office/powerpoint/2010/main" val="300670347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メイリオ"/>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r>
              <a:rPr lang="en-US" altLang="ja-JP" sz="1600" b="1" dirty="0">
                <a:latin typeface="メイリオ" panose="020B0604030504040204" pitchFamily="50" charset="-128"/>
                <a:ea typeface="メイリオ" panose="020B0604030504040204" pitchFamily="50" charset="-128"/>
                <a:cs typeface="メイリオ"/>
              </a:rPr>
              <a:t>LINE</a:t>
            </a:r>
            <a:r>
              <a:rPr lang="ja-JP" altLang="en-US" sz="1600" b="1" dirty="0">
                <a:latin typeface="メイリオ" panose="020B0604030504040204" pitchFamily="50" charset="-128"/>
                <a:ea typeface="メイリオ" panose="020B0604030504040204" pitchFamily="50" charset="-128"/>
                <a:cs typeface="メイリオ"/>
              </a:rPr>
              <a:t>広告</a:t>
            </a:r>
            <a:r>
              <a:rPr lang="ja-JP" altLang="en-US" sz="1200" b="1" dirty="0">
                <a:latin typeface="メイリオ" panose="020B0604030504040204" pitchFamily="50" charset="-128"/>
                <a:ea typeface="メイリオ" panose="020B0604030504040204" pitchFamily="50" charset="-128"/>
                <a:cs typeface="メイリオ"/>
              </a:rPr>
              <a:t>（友だち追加）</a:t>
            </a:r>
            <a:endParaRPr lang="en-US" altLang="ja-JP" sz="1200" b="1" dirty="0">
              <a:latin typeface="メイリオ" panose="020B0604030504040204" pitchFamily="50" charset="-128"/>
              <a:ea typeface="メイリオ" panose="020B0604030504040204" pitchFamily="50" charset="-128"/>
              <a:cs typeface="メイリオ"/>
            </a:endParaRPr>
          </a:p>
          <a:p>
            <a:pPr algn="ctr"/>
            <a:r>
              <a:rPr lang="en-US" altLang="ja-JP" sz="1200" b="1" dirty="0">
                <a:solidFill>
                  <a:srgbClr val="FFFFFF"/>
                </a:solidFill>
                <a:latin typeface="メイリオ" panose="020B0604030504040204" pitchFamily="50" charset="-128"/>
                <a:ea typeface="メイリオ" panose="020B0604030504040204" pitchFamily="50" charset="-128"/>
                <a:cs typeface="メイリオ"/>
              </a:rPr>
              <a:t>※CPF</a:t>
            </a:r>
            <a:r>
              <a:rPr lang="ja-JP" altLang="en-US" sz="1200" b="1" dirty="0">
                <a:solidFill>
                  <a:srgbClr val="FFFFFF"/>
                </a:solidFill>
                <a:latin typeface="メイリオ" panose="020B0604030504040204" pitchFamily="50" charset="-128"/>
                <a:ea typeface="メイリオ" panose="020B0604030504040204" pitchFamily="50" charset="-128"/>
                <a:cs typeface="メイリオ"/>
              </a:rPr>
              <a:t>広告</a:t>
            </a:r>
            <a:r>
              <a:rPr lang="en-US" altLang="ja-JP" sz="1200" b="1" dirty="0">
                <a:solidFill>
                  <a:srgbClr val="FFFFFF"/>
                </a:solidFill>
                <a:latin typeface="メイリオ" panose="020B0604030504040204" pitchFamily="50" charset="-128"/>
                <a:ea typeface="メイリオ" panose="020B0604030504040204" pitchFamily="50" charset="-128"/>
                <a:cs typeface="メイリオ"/>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buClr>
                <a:srgbClr val="002060"/>
              </a:buClr>
              <a:buSzPts val="1600"/>
            </a:pP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公式アカウントの友だちを増やすための広告を、</a:t>
            </a:r>
            <a:br>
              <a:rPr lang="en-US" altLang="ja-JP" sz="1600" b="1" dirty="0">
                <a:solidFill>
                  <a:schemeClr val="tx1">
                    <a:lumMod val="65000"/>
                    <a:lumOff val="35000"/>
                  </a:schemeClr>
                </a:solidFill>
                <a:latin typeface="メイリオ"/>
                <a:ea typeface="メイリオ"/>
                <a:cs typeface="メイリオ"/>
                <a:sym typeface="Meiryo"/>
              </a:rPr>
            </a:b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広告の管理画面より</a:t>
            </a:r>
            <a:r>
              <a:rPr lang="en-US" altLang="ja-JP" sz="1600" b="1" dirty="0">
                <a:solidFill>
                  <a:schemeClr val="tx1">
                    <a:lumMod val="65000"/>
                    <a:lumOff val="35000"/>
                  </a:schemeClr>
                </a:solidFill>
                <a:latin typeface="メイリオ"/>
                <a:ea typeface="メイリオ"/>
                <a:cs typeface="メイリオ"/>
                <a:sym typeface="Meiryo"/>
              </a:rPr>
              <a:t>LINE</a:t>
            </a:r>
            <a:r>
              <a:rPr lang="ja-JP" altLang="en-US" sz="1600" b="1" dirty="0">
                <a:solidFill>
                  <a:schemeClr val="tx1">
                    <a:lumMod val="65000"/>
                    <a:lumOff val="35000"/>
                  </a:schemeClr>
                </a:solidFill>
                <a:latin typeface="メイリオ"/>
                <a:ea typeface="メイリオ"/>
                <a:cs typeface="メイリオ"/>
                <a:sym typeface="Meiryo"/>
              </a:rPr>
              <a:t>アプリ内で掲載できる機能。</a:t>
            </a:r>
            <a:endParaRPr lang="en-US" altLang="ja-JP" sz="1600" b="1" dirty="0">
              <a:solidFill>
                <a:schemeClr val="tx1">
                  <a:lumMod val="65000"/>
                  <a:lumOff val="35000"/>
                </a:schemeClr>
              </a:solidFill>
              <a:latin typeface="メイリオ"/>
              <a:ea typeface="メイリオ"/>
              <a:cs typeface="メイリオ"/>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en-US" altLang="ja-JP" sz="1200" b="1" dirty="0">
                  <a:solidFill>
                    <a:srgbClr val="0070C0"/>
                  </a:solidFill>
                  <a:latin typeface="メイリオ"/>
                  <a:ea typeface="メイリオ"/>
                  <a:cs typeface="メイリオ"/>
                  <a:sym typeface="Meiryo"/>
                </a:rPr>
                <a:t>LINE</a:t>
              </a:r>
              <a:r>
                <a:rPr lang="ja-JP" altLang="en-US" sz="1200" b="1" dirty="0">
                  <a:solidFill>
                    <a:srgbClr val="0070C0"/>
                  </a:solidFill>
                  <a:latin typeface="メイリオ"/>
                  <a:ea typeface="メイリオ"/>
                  <a:cs typeface="メイリオ"/>
                  <a:sym typeface="Meiryo"/>
                </a:rPr>
                <a:t>公式アカウントまでの導線</a:t>
              </a:r>
              <a:endParaRPr lang="en-US" altLang="ja-JP" sz="1200" b="1" dirty="0">
                <a:solidFill>
                  <a:srgbClr val="0070C0"/>
                </a:solidFill>
                <a:latin typeface="メイリオ"/>
                <a:ea typeface="メイリオ"/>
                <a:cs typeface="メイリオ"/>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lvl="0" algn="ctr">
                <a:buClr>
                  <a:srgbClr val="002060"/>
                </a:buClr>
                <a:buSzPts val="1600"/>
              </a:pPr>
              <a:r>
                <a:rPr lang="ja-JP" altLang="en-US" sz="1200" b="1" dirty="0">
                  <a:solidFill>
                    <a:srgbClr val="0070C0"/>
                  </a:solidFill>
                  <a:latin typeface="メイリオ"/>
                  <a:ea typeface="メイリオ"/>
                  <a:cs typeface="メイリオ"/>
                  <a:sym typeface="Meiryo"/>
                </a:rPr>
                <a:t>「友だち追加広告」との違い</a:t>
              </a:r>
              <a:endParaRPr lang="en-US" altLang="ja-JP" sz="1200" b="1" dirty="0">
                <a:solidFill>
                  <a:srgbClr val="0070C0"/>
                </a:solidFill>
                <a:latin typeface="メイリオ"/>
                <a:ea typeface="メイリオ"/>
                <a:cs typeface="メイリオ"/>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メイリオ"/>
                <a:ea typeface="メイリオ"/>
                <a:cs typeface="メイリオ"/>
                <a:sym typeface="Arial"/>
              </a:defRPr>
            </a:lvl9pPr>
          </a:lstStyle>
          <a:p>
            <a:pPr algn="ctr"/>
            <a:endParaRPr kumimoji="1" lang="ja-JP" altLang="en-US">
              <a:latin typeface="メイリオ"/>
              <a:ea typeface="メイリオ"/>
              <a:cs typeface="メイリオ"/>
            </a:endParaRPr>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メイリオ"/>
                <a:ea typeface="メイリオ"/>
                <a:cs typeface="メイリオ"/>
                <a:sym typeface="Arial"/>
              </a:defRPr>
            </a:lvl9pPr>
          </a:lstStyle>
          <a:p>
            <a:pPr algn="ctr"/>
            <a:r>
              <a:rPr kumimoji="1" lang="en-US" altLang="ja-JP" sz="1200" dirty="0">
                <a:latin typeface="メイリオ" panose="020B0604030504040204" pitchFamily="50" charset="-128"/>
                <a:ea typeface="メイリオ" panose="020B0604030504040204" pitchFamily="50" charset="-128"/>
                <a:cs typeface="メイリオ"/>
              </a:rPr>
              <a:t>LINE</a:t>
            </a:r>
            <a:r>
              <a:rPr kumimoji="1" lang="ja-JP" altLang="en-US" sz="1200" dirty="0">
                <a:latin typeface="メイリオ" panose="020B0604030504040204" pitchFamily="50" charset="-128"/>
                <a:ea typeface="メイリオ" panose="020B0604030504040204" pitchFamily="50" charset="-128"/>
                <a:cs typeface="メイリオ"/>
              </a:rPr>
              <a:t>アプリ内から</a:t>
            </a:r>
            <a:br>
              <a:rPr kumimoji="1" lang="en-US" altLang="ja-JP" sz="1200" dirty="0">
                <a:latin typeface="メイリオ" panose="020B0604030504040204" pitchFamily="50" charset="-128"/>
                <a:ea typeface="メイリオ" panose="020B0604030504040204" pitchFamily="50" charset="-128"/>
                <a:cs typeface="メイリオ"/>
              </a:rPr>
            </a:br>
            <a:r>
              <a:rPr kumimoji="1" lang="ja-JP" altLang="en-US" sz="1200" dirty="0">
                <a:latin typeface="メイリオ" panose="020B0604030504040204" pitchFamily="50" charset="-128"/>
                <a:ea typeface="メイリオ" panose="020B0604030504040204" pitchFamily="50" charset="-128"/>
                <a:cs typeface="メイリオ"/>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600" b="1" dirty="0">
                <a:solidFill>
                  <a:srgbClr val="33CC33"/>
                </a:solidFill>
                <a:latin typeface="メイリオ" panose="020B0604030504040204" pitchFamily="50" charset="-128"/>
                <a:ea typeface="メイリオ" panose="020B0604030504040204" pitchFamily="50" charset="-128"/>
                <a:cs typeface="メイリオ"/>
              </a:rPr>
              <a:t>直接</a:t>
            </a:r>
            <a:r>
              <a:rPr kumimoji="1" lang="en-US" altLang="ja-JP" sz="1600" b="1" dirty="0">
                <a:solidFill>
                  <a:srgbClr val="33CC33"/>
                </a:solidFill>
                <a:latin typeface="メイリオ" panose="020B0604030504040204" pitchFamily="50" charset="-128"/>
                <a:ea typeface="メイリオ" panose="020B0604030504040204" pitchFamily="50" charset="-128"/>
                <a:cs typeface="メイリオ"/>
              </a:rPr>
              <a:t>”</a:t>
            </a:r>
            <a:r>
              <a:rPr kumimoji="1" lang="ja-JP" altLang="en-US" sz="1200" dirty="0">
                <a:latin typeface="メイリオ" panose="020B0604030504040204" pitchFamily="50" charset="-128"/>
                <a:ea typeface="メイリオ" panose="020B0604030504040204" pitchFamily="50" charset="-128"/>
                <a:cs typeface="メイリオ"/>
              </a:rPr>
              <a:t>誘導</a:t>
            </a:r>
            <a:endParaRPr kumimoji="1" lang="en-US" altLang="ja-JP" sz="1200" dirty="0">
              <a:latin typeface="メイリオ" panose="020B0604030504040204" pitchFamily="50" charset="-128"/>
              <a:ea typeface="メイリオ" panose="020B0604030504040204" pitchFamily="50" charset="-128"/>
              <a:cs typeface="メイリオ"/>
            </a:endParaRPr>
          </a:p>
        </p:txBody>
      </p:sp>
    </p:spTree>
    <p:extLst>
      <p:ext uri="{BB962C8B-B14F-4D97-AF65-F5344CB8AC3E}">
        <p14:creationId xmlns:p14="http://schemas.microsoft.com/office/powerpoint/2010/main" val="2706008177"/>
      </p:ext>
    </p:extLst>
  </p:cSld>
  <p:clrMapOvr>
    <a:masterClrMapping/>
  </p:clrMapOvr>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142313</TotalTime>
  <Words>7860</Words>
  <Application>Microsoft Office PowerPoint</Application>
  <PresentationFormat>A4 210 x 297 mm</PresentationFormat>
  <Paragraphs>1329</Paragraphs>
  <Slides>59</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2</vt:i4>
      </vt:variant>
      <vt:variant>
        <vt:lpstr>スライド タイトル</vt:lpstr>
      </vt:variant>
      <vt:variant>
        <vt:i4>59</vt:i4>
      </vt:variant>
    </vt:vector>
  </HeadingPairs>
  <TitlesOfParts>
    <vt:vector size="65" baseType="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1955</cp:revision>
  <cp:lastPrinted>2022-11-01T11:38:14Z</cp:lastPrinted>
  <dcterms:created xsi:type="dcterms:W3CDTF">2015-09-04T09:21:15Z</dcterms:created>
  <dcterms:modified xsi:type="dcterms:W3CDTF">2026-10-22T00:32:51Z</dcterms:modified>
</cp:coreProperties>
</file>