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26"/>
  </p:notesMasterIdLst>
  <p:handoutMasterIdLst>
    <p:handoutMasterId r:id="rId27"/>
  </p:handoutMasterIdLst>
  <p:sldIdLst>
    <p:sldId id="2977" r:id="rId13"/>
    <p:sldId id="2979" r:id="rId14"/>
    <p:sldId id="3000" r:id="rId15"/>
    <p:sldId id="2968" r:id="rId16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26" Type="http://schemas.openxmlformats.org/officeDocument/2006/relationships/notesMaster" Target="notesMasters/notesMaster1.xml"/><Relationship Id="rId27" Type="http://schemas.openxmlformats.org/officeDocument/2006/relationships/handoutMaster" Target="handoutMasters/handout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2026/9/29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C3D0E-521D-4421-8E6F-5B072E392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8DA4E99E-E573-FB69-824A-6A64B973F1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C7418EF-CD86-6501-70F8-B9DD019152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CB86D95-C452-2BDC-5841-170929F80D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947864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11E9D4-0876-C25C-8529-8B74AB55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CF43F49-5B7A-3752-251E-82690E66FE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5863D13-39F9-D392-9C29-D9EAD3D1EA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73CE111-A992-AC9F-119C-E1210F4D3D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585059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A66D97-D2AE-47E8-CEF6-DF7B01DBF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17462C0-C3A5-BB88-91F7-226AFC2244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D40E553-EB2C-9ACD-C50F-CC21DD6D00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59E7342-2894-A379-2FAD-61B82347D6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2973044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305794-10C5-A163-5F03-DB8F5144F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①友だち追加の動線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（箇所）→ 訴求 → LINE追加　※費用（月額／初期）。人数はシミュレーション（SIM ver2.6）の9月時点。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30000"/>
            <a:ext cx="1188000" cy="144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21600" bIns="2160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動線00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離脱防止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ポップアップ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92000" y="1530000"/>
            <a:ext cx="5256000" cy="144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72000" tIns="21600" bIns="21600"/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求人ページから離れようとした方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→「条件に合う新着求人をLINEでお届けします」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LINE追加（月約41人）</a:t>
            </a:r>
          </a:p>
          <a:p>
            <a:pPr algn="l">
              <a:spcAft>
                <a:spcPts val="0"/>
              </a:spcAft>
            </a:pPr>
            <a:r>
              <a:rPr sz="1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※月3万円（初期1.5万円）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6470" y="1530000"/>
            <a:ext cx="2302258" cy="14400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432000" y="3078000"/>
            <a:ext cx="1188000" cy="1440000"/>
          </a:xfrm>
          <a:prstGeom prst="roundRect">
            <a:avLst>
              <a:gd name="adj" fmla="val 8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21600" bIns="2160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動線01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「LINEで登録」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ボタン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92000" y="3078000"/>
            <a:ext cx="5256000" cy="144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72000" tIns="21600" bIns="21600"/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求人詳細・会員登録ページ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→「LINEで登録（入力はほぼ不要）」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会員登録（CV①）＋LINE追加（月約98人）</a:t>
            </a:r>
          </a:p>
          <a:p>
            <a:pPr algn="l">
              <a:spcAft>
                <a:spcPts val="0"/>
              </a:spcAft>
            </a:pPr>
            <a:r>
              <a:rPr sz="1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※サイト側で実装（LINE連携の開発は都度お見積もり）／LINE Profile+は申請・審査のうえ別途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6470" y="3078000"/>
            <a:ext cx="2302258" cy="14400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11" name="Rounded Rectangle 10"/>
          <p:cNvSpPr/>
          <p:nvPr/>
        </p:nvSpPr>
        <p:spPr>
          <a:xfrm>
            <a:off x="432000" y="4626000"/>
            <a:ext cx="1188000" cy="1440000"/>
          </a:xfrm>
          <a:prstGeom prst="roundRect">
            <a:avLst>
              <a:gd name="adj" fmla="val 8000"/>
            </a:avLst>
          </a:prstGeom>
          <a:solidFill>
            <a:srgbClr val="0B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21600" bIns="2160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動線02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サンクスLINE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（オプション）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92000" y="4626000"/>
            <a:ext cx="5256000" cy="144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72000" tIns="21600" bIns="21600"/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応募の完了画面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→「今後のご連絡はこのLINEでお送りします」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LINE追加（月約17人の想定）</a:t>
            </a:r>
          </a:p>
          <a:p>
            <a:pPr algn="l">
              <a:spcAft>
                <a:spcPts val="0"/>
              </a:spcAft>
            </a:pPr>
            <a:r>
              <a:rPr sz="1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※月5万円（初期10万円）／シミュレーションの応募数・費用には含めない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2384" y="4626000"/>
            <a:ext cx="810430" cy="14400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※月約17人＝サイトからの応募（月約47件）×完了画面の表示80%×友だち追加45%の想定／画面はイメージです</a:t>
            </a:r>
          </a:p>
        </p:txBody>
      </p:sp>
    </p:spTree>
    <p:extLst>
      <p:ext uri="{BB962C8B-B14F-4D97-AF65-F5344CB8AC3E}">
        <p14:creationId xmlns:p14="http://schemas.microsoft.com/office/powerpoint/2010/main" val="36518251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082CEA-3068-C260-29FA-52D10FA7F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②効率改善（ステップ配信・企画配信）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対象（想定数）→ 訴求 → 開封率×クリック率 → クリック数 × 応募率2.0% → 件数（月・9月時点）。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クリック数・件数の合計は、SIM ver2.6の9月（クリック752回・応募15件）と一致します。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32000" y="1512000"/>
          <a:ext cx="7415999" cy="406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/>
                <a:gridCol w="612000"/>
                <a:gridCol w="936000"/>
                <a:gridCol w="1188000"/>
                <a:gridCol w="1512000"/>
                <a:gridCol w="936000"/>
                <a:gridCol w="827999"/>
                <a:gridCol w="1044000"/>
              </a:tblGrid>
              <a:tr h="406800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動線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配信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タイミング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対象（想定数）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訴求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開封×クリック
→ クリック数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×応募率
→ 件数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費用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</a:tr>
              <a:tr h="406800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ステップ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0〜14日後
（全10通）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離脱防止から
追加した方（約22人）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職種を聞く→合う求人→
会員登録・応募のご案内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72.5%×12%
→ 57回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2.0%
→ 1.1件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コンサル費
に含む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6800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00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企画配信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月4本／ステップ
終了後の方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離脱防止から
追加した方（約88人）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新着求人・資格取得支援・
働き方の特集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78%×10%
→ 82回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2.0%
→ 1.6件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コンサル費
に含む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</a:tr>
              <a:tr h="406800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リッチ
メニュー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いつでも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有効な友だち
（約137人）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職種・地域・資格で
求人を探す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月30%×2回
→ 82回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2.0%
→ 1.6件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コンサル費
に含む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6800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01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ステップ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0〜14日後
（全10通）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LINEで登録した方
（約52人）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職種を聞く→合う求人→
応募のご案内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72.5%×12%
→ 137回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2.0%
→ 2.7件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コンサル費
に含む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</a:tr>
              <a:tr h="406800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企画配信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月4本／ステップ
終了後の方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LINEで登録した方
（約210人）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新着求人・資格取得支援・
働き方の特集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78%×10%
→ 197回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2.0%
→ 3.9件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コンサル費
に含む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6800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01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リッチ
メニュー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いつでも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有効な友だち
（約328人）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職種・地域・資格で
求人を探す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月30%×2回
→ 197回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2.0%
→ 3.9件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コンサル費
に含む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</a:tr>
              <a:tr h="406800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ステップ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応募当日／
面談前日・当日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応募した方
（月約17人）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応募受付のお礼・面談の
日時・場所・持ち物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対象外
（採用向け）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サンクスLINE
に含む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6800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02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企画配信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送らない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応募済みの方に
求人の案内は送らない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</a:tr>
              <a:tr h="406800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合計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752回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0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約15件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6000" y="1527600"/>
            <a:ext cx="1519200" cy="1012799"/>
          </a:xfrm>
          <a:prstGeom prst="rect">
            <a:avLst/>
          </a:prstGeom>
          <a:ln>
            <a:solidFill>
              <a:srgbClr val="D9D9D9"/>
            </a:solidFill>
          </a:ln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6000" y="2754317"/>
            <a:ext cx="1519200" cy="2699364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32000" y="5670000"/>
            <a:ext cx="9043200" cy="503999"/>
          </a:xfrm>
          <a:prstGeom prst="rect">
            <a:avLst/>
          </a:prstGeom>
          <a:noFill/>
        </p:spPr>
        <p:txBody>
          <a:bodyPr wrap="square" lIns="0" rIns="50400" tIns="21600" bIns="216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ステップの中身（全10通の例）：0日 あいさつ・職種を聞く → 1日 職種の違い → 2日 働き方 → 3日 求人のご案内① → 4日 資格取得支援 → 5日 他の職種との比較 → 7日 資格別の年収 → 10日 現場の様子 → 12日 地域別の新着求人 → 14日 求人のご案内②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※クリック数はSIM ver2.6の9月の値を、動線ごとの友だち数（離脱防止29%・LINEで登録71%）と配信ごとのクリック比率で振り分けたもの。反応率の補正（1.46倍）と複数回のクリック（2.05倍）を含むため、対象×開封率×クリック率の単純な掛け算とは一致しません／コンサル費＝月20万円（初期20万円）、サンクスLINE＝月5万円（初期10万円）／画面はイメージです</a:t>
            </a:r>
          </a:p>
        </p:txBody>
      </p:sp>
    </p:spTree>
    <p:extLst>
      <p:ext uri="{BB962C8B-B14F-4D97-AF65-F5344CB8AC3E}">
        <p14:creationId xmlns:p14="http://schemas.microsoft.com/office/powerpoint/2010/main" val="11513433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DCB94-34C8-7DB0-D6CB-991D39D9B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③満足度改善（ユーザー）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友だちになった方が、電話なしで迷わず質問・相談できるようにします。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692000" y="1512000"/>
          <a:ext cx="7783200" cy="3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2000"/>
                <a:gridCol w="2592000"/>
                <a:gridCol w="2599200"/>
              </a:tblGrid>
              <a:tr h="324000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QA自動化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個別チャット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その他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32000" y="1908000"/>
            <a:ext cx="1188000" cy="126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21600" bIns="2160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動線00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離脱防止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ポップアップ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92000" y="1908000"/>
            <a:ext cx="2520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108000" tIns="21600" bIns="21600"/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資格・受験料・勤務地などのよくある質問に、LINEで24時間すぐ回答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7600" y="1908000"/>
            <a:ext cx="2520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108000" tIns="21600" bIns="21600"/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求人の条件や働き方の相談に、LINEで対応（電話は不要）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83200" y="1908000"/>
            <a:ext cx="2520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108000" tIns="21600" bIns="21600"/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希望の条件に合う求人だけが届く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000" y="3276000"/>
            <a:ext cx="1188000" cy="1260000"/>
          </a:xfrm>
          <a:prstGeom prst="roundRect">
            <a:avLst>
              <a:gd name="adj" fmla="val 8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21600" bIns="2160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動線01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「LINEで登録」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ボタン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92000" y="3276000"/>
            <a:ext cx="2520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108000" tIns="21600" bIns="21600"/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資格・受験料・勤務地、会員登録・ログインの質問に、LINEで24時間すぐ回答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7600" y="3276000"/>
            <a:ext cx="2520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108000" tIns="21600" bIns="21600"/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求人の条件や面談の相談に、LINEで対応（電話は不要）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83200" y="3276000"/>
            <a:ext cx="2520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108000" tIns="21600" bIns="21600"/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希望の条件（職種・地域）を、リッチメニューからいつでも変更できる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000" y="4643999"/>
            <a:ext cx="1188000" cy="1260000"/>
          </a:xfrm>
          <a:prstGeom prst="roundRect">
            <a:avLst>
              <a:gd name="adj" fmla="val 8000"/>
            </a:avLst>
          </a:prstGeom>
          <a:solidFill>
            <a:srgbClr val="0B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21600" bIns="2160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動線02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サンクスLINE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（オプション）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92000" y="4643999"/>
            <a:ext cx="2520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108000" tIns="21600" bIns="21600"/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面談の場所・持ち物・服装などの質問に、LINEで24時間すぐ回答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87600" y="4643999"/>
            <a:ext cx="2520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108000" tIns="21600" bIns="21600"/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日程の変更や相談を、電話なしでLINEで完結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83200" y="4643999"/>
            <a:ext cx="2520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108000" tIns="21600" bIns="21600"/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面談前日・当日のご案内で、予定を忘れない</a:t>
            </a:r>
          </a:p>
        </p:txBody>
      </p:sp>
    </p:spTree>
    <p:extLst>
      <p:ext uri="{BB962C8B-B14F-4D97-AF65-F5344CB8AC3E}">
        <p14:creationId xmlns:p14="http://schemas.microsoft.com/office/powerpoint/2010/main" val="26585262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E341AF-76F7-F354-A08C-287945F04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④効率改善（管理側）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貴社の担当者の対応の手間を増やさずに、友だち・応募者とのやりとりを回せるようにします。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692000" y="1512000"/>
          <a:ext cx="7783200" cy="3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91600"/>
                <a:gridCol w="3891600"/>
              </a:tblGrid>
              <a:tr h="324000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自動応答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その他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32000" y="1908000"/>
            <a:ext cx="1188000" cy="126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21600" bIns="2160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動線00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離脱防止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ポップアップ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92000" y="1908000"/>
            <a:ext cx="3816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108000" tIns="21600" bIns="21600"/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よくある質問への回答を自動化し、電話・メールでの問い合わせ対応を減らす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87200" y="1908000"/>
            <a:ext cx="3816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108000" tIns="21600" bIns="21600"/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クリックの履歴で、興味別のグループを自動で作る（クリックリターゲティング）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3276000"/>
            <a:ext cx="1188000" cy="1260000"/>
          </a:xfrm>
          <a:prstGeom prst="roundRect">
            <a:avLst>
              <a:gd name="adj" fmla="val 8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21600" bIns="2160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動線01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「LINEで登録」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ボタン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92000" y="3276000"/>
            <a:ext cx="3816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108000" tIns="21600" bIns="21600"/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よくある質問への回答を自動化し、問い合わせ対応を減らす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87200" y="3276000"/>
            <a:ext cx="3816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108000" tIns="21600" bIns="21600"/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会員の情報とLINEをひもづけ、条件別の配信を自動化する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000" y="4643999"/>
            <a:ext cx="1188000" cy="1260000"/>
          </a:xfrm>
          <a:prstGeom prst="roundRect">
            <a:avLst>
              <a:gd name="adj" fmla="val 8000"/>
            </a:avLst>
          </a:prstGeom>
          <a:solidFill>
            <a:srgbClr val="0B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21600" bIns="2160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動線02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サンクスLINE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（オプション）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92000" y="4643999"/>
            <a:ext cx="3816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108000" tIns="21600" bIns="21600"/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面談日程の確認・変更の受付を自動化し、電話でのやりとりを減らす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87200" y="4643999"/>
            <a:ext cx="3816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108000" tIns="21600" bIns="21600"/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応募者への連絡をLINEにまとめ、電話がつながらない手間を減らす</a:t>
            </a:r>
          </a:p>
        </p:txBody>
      </p:sp>
    </p:spTree>
    <p:extLst>
      <p:ext uri="{BB962C8B-B14F-4D97-AF65-F5344CB8AC3E}">
        <p14:creationId xmlns:p14="http://schemas.microsoft.com/office/powerpoint/2010/main" val="3731031205"/>
      </p:ext>
    </p:extLst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143161</TotalTime>
  <Words>2012</Words>
  <Application>Microsoft Office PowerPoint</Application>
  <PresentationFormat>A4 210 x 297 mm</PresentationFormat>
  <Paragraphs>500</Paragraphs>
  <Slides>23</Slides>
  <Notes>15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23</vt:i4>
      </vt:variant>
    </vt:vector>
  </HeadingPairs>
  <TitlesOfParts>
    <vt:vector size="30" baseType="lpstr">
      <vt:lpstr>Meiryo</vt:lpstr>
      <vt:lpstr>Meiryo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1958</cp:revision>
  <cp:lastPrinted>2022-11-01T11:38:14Z</cp:lastPrinted>
  <dcterms:created xsi:type="dcterms:W3CDTF">2015-09-04T09:21:15Z</dcterms:created>
  <dcterms:modified xsi:type="dcterms:W3CDTF">2026-09-29T06:42:38Z</dcterms:modified>
</cp:coreProperties>
</file>