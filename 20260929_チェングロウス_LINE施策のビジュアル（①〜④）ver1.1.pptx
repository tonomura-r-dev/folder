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977" r:id="rId13"/>
    <p:sldId id="2979" r:id="rId14"/>
    <p:sldId id="3000" r:id="rId15"/>
    <p:sldId id="2968" r:id="rId1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（箇所）→ 訴求 → LINE追加　※費用（月額／初期）。人数はシミュレーション（SIM ver2.6）の9月時点。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30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2000" y="1530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72000" tIns="21600" bIns="216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→「条件に合う新着求人をLINEでお届けします」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LINE追加（月約41人）</a:t>
            </a:r>
          </a:p>
          <a:p>
            <a:pPr algn="l">
              <a:spcAft>
                <a:spcPts val="0"/>
              </a:spcAft>
            </a:pPr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70" y="1530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32000" y="3078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2000" y="3078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72000" tIns="21600" bIns="216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→「LINEで登録（入力はほぼ不要）」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会員登録（CV①）＋LINE追加（月約98人）</a:t>
            </a:r>
          </a:p>
          <a:p>
            <a:pPr algn="l">
              <a:spcAft>
                <a:spcPts val="0"/>
              </a:spcAft>
            </a:pPr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※サイト側で実装（LINE連携の開発は都度お見積もり）／LINE Profile+は申請・審査のうえ別途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470" y="3078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626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2000" y="4626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72000" tIns="21600" bIns="216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→「今後のご連絡はこのLINEでお送りします」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LINE追加（月約17人の想定）</a:t>
            </a:r>
          </a:p>
          <a:p>
            <a:pPr algn="l">
              <a:spcAft>
                <a:spcPts val="0"/>
              </a:spcAft>
            </a:pPr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※月5万円（初期10万円）／シミュレーションの応募数・費用には含めない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384" y="4626000"/>
            <a:ext cx="810430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対象（想定数）→ 訴求 → 開封率×クリック率 → クリック数 × 応募率2.0% → 件数（月・9月時点）。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クリック数・件数の合計は、SIM ver2.6の9月（クリック752回・応募15件）と一致します。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12000"/>
          <a:ext cx="7415999" cy="40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612000"/>
                <a:gridCol w="936000"/>
                <a:gridCol w="1188000"/>
                <a:gridCol w="1512000"/>
                <a:gridCol w="936000"/>
                <a:gridCol w="827999"/>
                <a:gridCol w="1044000"/>
              </a:tblGrid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×応募率
→ 件数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0〜14日後
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1.1件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1.6件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1.6件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0〜14日後
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（約52人）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137回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2.7件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（約210人）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197回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3.9件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（約328人）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197回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2.0%
→ 3.9件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
（採用向け）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068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000" y="1527600"/>
            <a:ext cx="1519200" cy="1012799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000" y="2754317"/>
            <a:ext cx="1519200" cy="2699364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32000" y="5670000"/>
            <a:ext cx="9043200" cy="503999"/>
          </a:xfrm>
          <a:prstGeom prst="rect">
            <a:avLst/>
          </a:prstGeom>
          <a:noFill/>
        </p:spPr>
        <p:txBody>
          <a:bodyPr wrap="square" lIns="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ステップの中身（全10通の例）：0日 あいさつ・職種を聞く → 1日 職種の違い → 2日 働き方 → 3日 求人のご案内① → 4日 資格取得支援 → 5日 他の職種との比較 → 7日 資格別の年収 → 10日 現場の様子 → 12日 地域別の新着求人 → 14日 求人のご案内②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※クリック数はSIM ver2.6の9月の値を、動線ごとの友だち数（離脱防止29%・LINEで登録71%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（完了画面からの友だち追加の仕組み）＝月5万円（初期10万円）／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友だちになった方が、電話なしで迷わず質問・相談できるようにします。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/>
                <a:gridCol w="2592000"/>
                <a:gridCol w="2599200"/>
              </a:tblGrid>
              <a:tr h="324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20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76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求人の条件や働き方の相談に、LINEで対応（電話は不要）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32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20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76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求人の条件や面談の相談に、LINEで対応（電話は不要）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32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20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76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日程の変更や相談を、電話なしでLINEで完結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32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貴社の担当者の対応の手間を増やさずに、友だち・応募者とのやりとりを回せるようにします。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600"/>
                <a:gridCol w="3891600"/>
              </a:tblGrid>
              <a:tr h="324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20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よくある質問への回答を自動化し、電話・メールでの問い合わせ対応を減らす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72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クリックの履歴で、興味別のグループを自動で作る（クリックリターゲティング）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20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よくある質問への回答を自動化し、問い合わせ対応を減らす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72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会員の情報とLINEをひもづけ、条件別の配信を自動化する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20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面談日程の確認・変更の受付を自動化し、電話でのやりとりを減らす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72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08000" tIns="21600" bIns="21600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応募者への連絡をLINEにまとめ、電話がつながらない手間を減らす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143161</TotalTime>
  <Words>2012</Words>
  <Application>Microsoft Office PowerPoint</Application>
  <PresentationFormat>A4 210 x 297 mm</PresentationFormat>
  <Paragraphs>500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1958</cp:revision>
  <cp:lastPrinted>2022-11-01T11:38:14Z</cp:lastPrinted>
  <dcterms:created xsi:type="dcterms:W3CDTF">2015-09-04T09:21:15Z</dcterms:created>
  <dcterms:modified xsi:type="dcterms:W3CDTF">2026-09-29T06:42:38Z</dcterms:modified>
</cp:coreProperties>
</file>