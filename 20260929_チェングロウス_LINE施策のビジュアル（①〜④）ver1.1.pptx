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6"/>
  </p:notesMasterIdLst>
  <p:handoutMasterIdLst>
    <p:handoutMasterId r:id="rId27"/>
  </p:handoutMasterIdLst>
  <p:sldIdLst>
    <p:sldId id="2977" r:id="rId13"/>
    <p:sldId id="2979" r:id="rId14"/>
    <p:sldId id="3000" r:id="rId15"/>
    <p:sldId id="2968" r:id="rId1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C3D0E-521D-4421-8E6F-5B072E39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A4E99E-E573-FB69-824A-6A64B973F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C7418EF-CD86-6501-70F8-B9DD019152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B86D95-C452-2BDC-5841-170929F80D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786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1E9D4-0876-C25C-8529-8B74AB55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F43F49-5B7A-3752-251E-82690E66F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863D13-39F9-D392-9C29-D9EAD3D1E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3CE111-A992-AC9F-119C-E1210F4D3D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85059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66D97-D2AE-47E8-CEF6-DF7B01DBF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17462C0-C3A5-BB88-91F7-226AFC224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40E553-EB2C-9ACD-C50F-CC21DD6D0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59E7342-2894-A379-2FAD-61B82347D6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973044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05794-10C5-A163-5F03-DB8F5144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①友だち追加の動線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（箇所）→ 訴求 → LINE追加　※費用（月額／初期）。人数はシミュレーション（SIM ver2.6）の9月時点。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30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2000" y="1530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72000" tIns="21600" bIns="21600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求人ページから離れようとした方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→「条件に合う新着求人をLINEでお届けします」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LINE追加（月約41人）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※月3万円（初期1.5万円）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470" y="1530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432000" y="3078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2000" y="3078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72000" tIns="21600" bIns="21600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求人詳細・会員登録ページ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→「LINEで登録（入力はほぼ不要）」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会員登録（CV①）＋LINE追加（月約98人）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※サイト側で実装（リニューアルの要件）／LINE Profile+は申請・審査のうえ別途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6470" y="3078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4626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2000" y="4626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72000" tIns="21600" bIns="21600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→「今後のご連絡はこのLINEでお送りします」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LINE追加（月約17人の想定）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※月5万円（初期10万円）／シミュレーションの応募数・費用には含めない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2384" y="4626000"/>
            <a:ext cx="810430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※月約17人＝サイトからの応募（月約47件）×完了画面の表示80%×友だち追加45%の想定／画面はイメージです</a:t>
            </a:r>
          </a:p>
        </p:txBody>
      </p:sp>
    </p:spTree>
    <p:extLst>
      <p:ext uri="{BB962C8B-B14F-4D97-AF65-F5344CB8AC3E}">
        <p14:creationId xmlns:p14="http://schemas.microsoft.com/office/powerpoint/2010/main" val="3651825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82CEA-3068-C260-29FA-52D10FA7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②効率改善（ステップ配信・企画配信）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対象（想定数）→ 訴求 → 開封率×クリック率×応募率 → 件数（月・9月時点）。合計は約15件＝SIM ver2.6の9月の応募数。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12000"/>
          <a:ext cx="6840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000"/>
                <a:gridCol w="756000"/>
                <a:gridCol w="972000"/>
                <a:gridCol w="1404000"/>
                <a:gridCol w="1800000"/>
                <a:gridCol w="900000"/>
                <a:gridCol w="576000"/>
              </a:tblGrid>
              <a:tr h="36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動線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タイミング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対象（想定数）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訴求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開封×クリック×応募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件数／月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36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1〜14日後（全10通）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離脱防止から追加した方（約27人）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希望の職種を聞く→条件に合う求人→会員登録・応募のご案内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72.5%×12%×2.0%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月4本（1〜2月は強化）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離脱防止から追加した方（約110人）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新着求人・資格取得支援・働き方の特集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78%×10%×2.0%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6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リッチメニュー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有効な友だち（約137人）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職種・地域・資格で求人を探す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月30%×2回×2.0%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1〜14日後（全10通）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LINEで登録した方（約66人）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希望の職種を聞く→条件に合う求人→応募のご案内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72.5%×12%×2.0%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6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月4本（1〜2月は強化）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LINEで登録した方（約262人）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新着求人・資格取得支援・働き方の特集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78%×10%×2.0%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約4件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リッチメニュー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有効な友だち（約328人）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職種・地域・資格で求人を探す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月30%×2回×2.0%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約4件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6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応募当日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応募した方（月約17人）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応募受付のお礼・面談までの流れ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面談前日・当日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面談予定の方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日時・場所・持ち物のご案内（無断キャンセルを防ぐ）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6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送らない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応募済みの方には求人の案内を送らない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約15件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1515600"/>
            <a:ext cx="2095200" cy="1396800"/>
          </a:xfrm>
          <a:prstGeom prst="rect">
            <a:avLst/>
          </a:prstGeom>
          <a:ln>
            <a:solidFill>
              <a:srgbClr val="D9D9D9"/>
            </a:solidFill>
          </a:ln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3668" y="3006000"/>
            <a:ext cx="1387862" cy="246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32000" y="5526000"/>
            <a:ext cx="6840000" cy="46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ステップの中身（例）：1日後 職種の違い → 2日後 働き方 → 3日後 求人のご案内① → 5日後 他の職種との比較 → 7日後 資格別の年収 → 10日後 現場の様子 → 14日後 求人のご案内②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件数は9月の応募数15件を、動線ごとの友だち数とクリック数の比率で振り分けたもの（反応率の補正・複数回のクリックを含むため、掛け算の結果とは一致しません）／配信・リッチメニューの作成はコンサル費（月20万円）に含む／画面はイメージです</a:t>
            </a:r>
          </a:p>
        </p:txBody>
      </p:sp>
    </p:spTree>
    <p:extLst>
      <p:ext uri="{BB962C8B-B14F-4D97-AF65-F5344CB8AC3E}">
        <p14:creationId xmlns:p14="http://schemas.microsoft.com/office/powerpoint/2010/main" val="1151343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CB94-34C8-7DB0-D6CB-991D39D9B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③満足度改善（ユーザー）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友だちになった方が、電話なしで迷わず質問・相談できるようにします。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000"/>
                <a:gridCol w="2592000"/>
                <a:gridCol w="2599200"/>
              </a:tblGrid>
              <a:tr h="32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QA自動化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個別チャット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20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資格・受験料・勤務地などのよくある質問に、LINEで24時間すぐ回答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76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求人の条件や働き方の相談に、LINEで対応（電話は不要）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832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希望の条件に合う求人だけが届く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20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資格・受験料・勤務地、会員登録・ログインの質問に、LINEで24時間すぐ回答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6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求人の条件や面談の相談に、LINEで対応（電話は不要）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832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希望の条件（職種・地域）を、リッチメニューからいつでも変更できる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20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面談の場所・持ち物・服装などの質問に、LINEで24時間すぐ回答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76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日程の変更や相談を、電話なしでLINEで完結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832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面談前日・当日のご案内で、予定を忘れない</a:t>
            </a:r>
          </a:p>
        </p:txBody>
      </p:sp>
    </p:spTree>
    <p:extLst>
      <p:ext uri="{BB962C8B-B14F-4D97-AF65-F5344CB8AC3E}">
        <p14:creationId xmlns:p14="http://schemas.microsoft.com/office/powerpoint/2010/main" val="26585262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341AF-76F7-F354-A08C-287945F0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④効率改善（管理側）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貴社の担当者の対応の手間を増やさずに、友だち・応募者とのやりとりを回せるようにします。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1600"/>
                <a:gridCol w="3891600"/>
              </a:tblGrid>
              <a:tr h="32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自動応答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20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よくある質問への回答を自動化し、電話・メールでの問い合わせ対応を減らす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872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クリックの履歴で、興味別のグループを自動で作る（クリックリターゲティング）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20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よくある質問への回答を自動化し、問い合わせ対応を減らす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72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会員の情報とLINEをひもづけ、条件別の配信を自動化する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20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面談日程の確認・変更の受付を自動化し、電話でのやりとりを減らす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872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21600" bIns="21600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応募者への連絡をLINEにまとめ、電話がつながらない手間を減らす</a:t>
            </a:r>
          </a:p>
        </p:txBody>
      </p:sp>
    </p:spTree>
    <p:extLst>
      <p:ext uri="{BB962C8B-B14F-4D97-AF65-F5344CB8AC3E}">
        <p14:creationId xmlns:p14="http://schemas.microsoft.com/office/powerpoint/2010/main" val="3731031205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143161</TotalTime>
  <Words>2012</Words>
  <Application>Microsoft Office PowerPoint</Application>
  <PresentationFormat>A4 210 x 297 mm</PresentationFormat>
  <Paragraphs>500</Paragraphs>
  <Slides>23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23</vt:i4>
      </vt:variant>
    </vt:vector>
  </HeadingPairs>
  <TitlesOfParts>
    <vt:vector size="30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1958</cp:revision>
  <cp:lastPrinted>2022-11-01T11:38:14Z</cp:lastPrinted>
  <dcterms:created xsi:type="dcterms:W3CDTF">2015-09-04T09:21:15Z</dcterms:created>
  <dcterms:modified xsi:type="dcterms:W3CDTF">2026-09-29T06:42:38Z</dcterms:modified>
</cp:coreProperties>
</file>