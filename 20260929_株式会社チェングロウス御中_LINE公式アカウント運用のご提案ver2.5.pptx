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2971" r:id="rId4"/>
    <p:sldId id="2972" r:id="rId5"/>
    <p:sldId id="2904" r:id="rId6"/>
    <p:sldId id="3007" r:id="rId7"/>
    <p:sldId id="2987" r:id="rId8"/>
    <p:sldId id="2999" r:id="rId9"/>
    <p:sldId id="2997" r:id="rId10"/>
    <p:sldId id="2996" r:id="rId11"/>
    <p:sldId id="2973" r:id="rId12"/>
    <p:sldId id="3008" r:id="rId32"/>
    <p:sldId id="3009" r:id="rId33"/>
    <p:sldId id="3010" r:id="rId34"/>
    <p:sldId id="3011" r:id="rId35"/>
    <p:sldId id="2968" r:id="rId16"/>
    <p:sldId id="2908" r:id="rId17"/>
    <p:sldId id="2990" r:id="rId18"/>
    <p:sldId id="2986" r:id="rId19"/>
    <p:sldId id="2991" r:id="rId20"/>
    <p:sldId id="2989" r:id="rId21"/>
    <p:sldId id="2563" r:id="rId22"/>
    <p:sldId id="2959" r:id="rId23"/>
    <p:sldId id="2995" r:id="rId24"/>
    <p:sldId id="1169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80EF-6C8C-B780-9BB3-1B0757C00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DAB9840-7942-E115-501A-18129D771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2A1841C-729C-28E2-58FF-5212B200D2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47DBBA-098F-116B-BB87-D1F9D32E06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0818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8432E-C2C6-89CF-C006-DD360C6CB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7CA1C0-54B2-C273-9EFA-4A233AA33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6AE94C-3A31-DE43-5CF3-F8B06624D4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92184BA-3FBD-5E23-D138-23E1190BD5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841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9F94-460F-5A9A-D53E-BD9AF25C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880BBC6-A0FB-42D9-3A8A-800D9E47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7DCB781-2099-65DC-EA96-CC827630A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2154FB-F3CF-6922-2040-70A35BD97D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3598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DFB9-1A0E-AC56-86AB-C554ECA5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E74640-8F62-6E74-5A21-E69A7415B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566DD76-369D-9DB0-5CDC-B936C94E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B7A0C4-A336-4C2C-E97A-0E6D7798D4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648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AC78-50A4-F913-B3AF-274D3224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7EBEBB5-128F-0CAF-8FD7-D21920916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79E3D02-55AC-2638-9F09-898F0C8E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1B9F10-F34C-A78C-BAAF-5494CD58A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5453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B00FA-BE78-95FE-0350-A4F0396FF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FC15E1A-F54C-3203-065A-E98A027A09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9AE28B8-9549-F5B4-6969-5885B85CC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2C20ED0-F80D-F8F8-F1CB-2D28DC68BC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954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956886">
              <a:defRPr/>
            </a:pPr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defTabSz="956886">
              <a:defRPr/>
            </a:pPr>
            <a:fld id="{929202D6-C1F5-472A-A72F-285F233F82C2}" type="slidenum">
              <a:rPr lang="ja-JP" altLang="en-US">
                <a:solidFill>
                  <a:prstClr val="black"/>
                </a:solidFill>
                <a:latin typeface="Calibri"/>
                <a:ea typeface="ＭＳ Ｐゴシック" panose="020B0600070205080204" pitchFamily="50" charset="-128"/>
              </a:rPr>
              <a:pPr defTabSz="956886">
                <a:defRPr/>
              </a:pPr>
              <a:t>23</a:t>
            </a:fld>
            <a:endParaRPr lang="ja-JP" altLang="en-US">
              <a:solidFill>
                <a:prstClr val="black"/>
              </a:solidFill>
              <a:latin typeface="Calibri"/>
              <a:ea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20873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emf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6" Type="http://schemas.openxmlformats.org/officeDocument/2006/relationships/image" Target="../media/image21.jpeg"/><Relationship Id="rId7" Type="http://schemas.openxmlformats.org/officeDocument/2006/relationships/image" Target="../media/image22.jpeg"/><Relationship Id="rId8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1665887" y="2533105"/>
            <a:ext cx="65742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ja-I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LINE</a:t>
            </a:r>
            <a:r>
              <a:rPr lang="ja-JP" alt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公式アカウント運用のご提案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1613481" y="2224725"/>
            <a:ext cx="662663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―サイトリニューアルに伴うご提案―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10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株式会社チェングロウス 御中</a:t>
            </a:r>
          </a:p>
        </p:txBody>
      </p:sp>
      <p:pic>
        <p:nvPicPr>
          <p:cNvPr id="11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求人メディアのLINE活用事例｜タウンワーク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リッチメニューに人気の検索条件を並べ、LINEからワンタップで求人を探せるようにしました。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その結果、LINE経由の応募は、配信よりもリッチメニュー経由が最も多くなりました。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LINEからの応募が大きく増加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リッチメニューのタップ数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＋20%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探す入口として使われるように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620000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リッチメニュー経由の応募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最多</a:t>
            </a:r>
          </a:p>
          <a:p>
            <a:pPr algn="ctr"/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LINE経由の応募の中で、配信より多い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3456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取り組みの内容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リッチメニューに人気の検索条件を並べる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単発・日払い・在宅など、よく探される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条件をボタンに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283199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315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　トークで条件を選ぶと、求人が表示される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選んだ条件に合う求人がカード形式で並ぶ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82800" y="4320000"/>
            <a:ext cx="2376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31199" y="3780000"/>
            <a:ext cx="2844000" cy="140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　</a:t>
            </a: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そのまま求人ページへ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条件を入れた状態の検索結果に移動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サイトで応募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LINEを「求人を探す入口」にしたことが、応募の増加につながりました。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タウンワークの実際の画面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LINEは「条件を選ぶ入口」で、検索と応募はサイト側で行う作りです。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サイトの会員とLINEを連携し、条件別の検索結果ページへそのまま移動させています。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6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3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39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条件に合う求人を受け取るための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会員連携を案内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84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9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7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7504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時間帯・学生歓迎などの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条件がワンタップ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84800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2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1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176800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検索結果ページ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1199" y="1548000"/>
            <a:ext cx="1764000" cy="288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5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1541" y="1890000"/>
            <a:ext cx="1763318" cy="3816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7603199" y="5742000"/>
            <a:ext cx="1980000" cy="468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（メール＋パスワード）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LINEのメリット①｜興味別に届けられる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725334"/>
            <a:ext cx="9036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配信の中でクリックされた内容をもとに、友だちを自動で分けられ</a:t>
            </a:r>
            <a:r>
              <a:rPr lang="ja-JP" altLang="en-US"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配信するたびに分け方の精度が上がり、全員に同じ内容を送らずに済みます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232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STEP1　配信する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232000" cy="25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新着求人のお知らせ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・整備士の求人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・営業の求人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・未経験OK・資格取得支援の求人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3つの求人を1通で届ける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72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40000" y="1620000"/>
            <a:ext cx="29880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STEP2　クリックで自動的に分かれる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0000" y="1980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→「整備士に興味」のグループ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0000" y="2862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営業の求人をクリック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→「営業に興味」のグループ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0000" y="3744000"/>
            <a:ext cx="2988000" cy="81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資格取得支援をクリック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→「未経験・資格取得を目指す」グループ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90000" y="3096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840000" y="1620000"/>
            <a:ext cx="2635200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STEP3　興味のある方にだけ届ける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40000" y="1980000"/>
            <a:ext cx="2635200" cy="25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次の配信から</a:t>
            </a:r>
            <a:endParaRPr sz="125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整備士グループには整備士の求人</a:t>
            </a:r>
            <a:endParaRPr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未経験グループには資格取得支援</a:t>
            </a:r>
            <a:r>
              <a:rPr lang="ja-JP" altLang="en-US"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</a:t>
            </a:r>
            <a:endParaRPr lang="en-US" altLang="ja-JP" sz="11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endParaRPr sz="3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興味のない案内が減るので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ブロックされにくくなります</a:t>
            </a:r>
            <a:r>
              <a:rPr sz="11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登録時に細かく聞かなくても、クリックの履歴で興味が分かっていきます。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※LINE公式アカウント管理画面の「オーディエンス」機能（クリックリターゲティング）を使用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②｜</a:t>
            </a:r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半永久的に</a:t>
            </a:r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接点を持てる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広告は、クリックされた一度きりで接点が終わります。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LINEは、一度友だちになれば、広告費をかけ直さずに何度でも求人をご案内できます。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655999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40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広告を見る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31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491999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183999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544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応募しない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1745999"/>
            <a:ext cx="288000" cy="251999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1655999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接点が終わる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20000"/>
            <a:ext cx="936000" cy="432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4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0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求人を見る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31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1999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LINEで友だちに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83999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544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</a:t>
            </a:r>
            <a:r>
              <a:rPr sz="120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</a:t>
            </a:r>
            <a:endParaRPr lang="en-US"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20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条件の合う求人</a:t>
            </a:r>
            <a:endParaRPr sz="120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7236000" y="2610000"/>
            <a:ext cx="288000" cy="251999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596000" y="2520000"/>
            <a:ext cx="1655999" cy="43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4000" y="3024000"/>
            <a:ext cx="180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100" b="1">
                <a:solidFill>
                  <a:srgbClr val="06C755"/>
                </a:solidFill>
                <a:latin typeface="メイリオ"/>
                <a:ea typeface="メイリオ"/>
                <a:cs typeface="メイリオ"/>
              </a:rPr>
              <a:t>↻ 何度でもご案内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応募しなかった方ともつながり続ける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今すぐ応募しない方とも、友だちとしてつながり続けます。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315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タイミングが合ったときに届く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転職を考え始めた時期に、新着求人が届きます。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31199" y="3600000"/>
            <a:ext cx="2844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連絡がLINEで完結する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電話やメールより気軽にやりとりできます。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5148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一度の広告費で、何度もご案内できる「転職を検討している方のリスト」ができます。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※配信通数に応じたLINE公式アカウントの利用料は別途かかります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LINEのメリット③｜登録の手間を下げられる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「LINEでログイン」を使うと、LINEのアカウントでサイトの会員登録ができます。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さらにLINE Profile+を使うと、氏名・電話番号などが自動で入り、確認して押すだけで登録が終わります。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584000"/>
            <a:ext cx="5616000" cy="2815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4434680"/>
            <a:ext cx="5616000" cy="216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9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「LINEでログイン」の画面の流れ（イメージ）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1584000"/>
            <a:ext cx="3247200" cy="15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 Profile+で自動入力できる項目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氏名（カナを含む）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性別・生年月日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電話番号・住所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240000"/>
            <a:ext cx="3247200" cy="151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利用の条件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日本の法人のみ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使う項目ごとに申請し、LINEヤフー社の審査がある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ユーザーの同意が必要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8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入力が「確認して押すだけ」になり、会員登録のハードルを大きく下げられます。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 Developers（LINE Profile+・2025年11月更新）／画面の流れの引用：https://prtimes.jp/main/html/rd/p/000003920.000001594.html</a:t>
            </a: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79BAA-8C2D-2DC3-A995-CBA086D4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他社のLINE活用｜求人サービスの状況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7833"/>
            <a:ext cx="9036000" cy="30433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総合大手は、数十万〜数百万人規模でLINEを活用しています。一方、整備士特化のサービスでは、まだ少ない状況です。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262570"/>
              </p:ext>
            </p:extLst>
          </p:nvPr>
        </p:nvGraphicFramePr>
        <p:xfrm>
          <a:off x="432000" y="1619999"/>
          <a:ext cx="9043200" cy="2249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0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133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種別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LINE友だち数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リクナビNEXT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3,235,678人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求人ボックス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総合・アグリゲーション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1,862,866人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マイナビ転職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総合・転職サイト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754,302人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doda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総合・エージェント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公開アカウントなし（会員登録後に1:1連携）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プレックスジョブ【整備士】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6,288人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336">
                <a:tc>
                  <a:txBody>
                    <a:bodyPr/>
                    <a:lstStyle/>
                    <a:p>
                      <a:pPr algn="l"/>
                      <a:r>
                        <a:rPr sz="140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整備士の求人・転職｜カンパネル</a:t>
                      </a:r>
                      <a:endParaRPr sz="140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整備士特化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196人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4380253"/>
            <a:ext cx="9043200" cy="396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整備士特化で、LINEを本格的に活用しているサービスはまだ少なく、先に始めた方が有利です。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出典：page.line.me（公式）2026-09-21実測。友だち数は取得日時点の公表値</a:t>
            </a:r>
          </a:p>
        </p:txBody>
      </p:sp>
    </p:spTree>
    <p:extLst>
      <p:ext uri="{BB962C8B-B14F-4D97-AF65-F5344CB8AC3E}">
        <p14:creationId xmlns:p14="http://schemas.microsoft.com/office/powerpoint/2010/main" val="140579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EC9E0-2ED9-448E-0518-C4BB6687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タウンワークの型を分解すると、3つの仕組み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応募が増えた理由は、LINEを「求人を探す入口」にしたことです。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この3つは、サイト側に「条件別の検索結果ページ」と「LINEとの会員連携」があれば再現できます。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リッチメニューで条件検索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よく探される条件をボタンに並べる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トーク画面の下に常にあるので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探したいときにいつでも使える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全員共通のあいさつ＋タップで分岐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あいさつで会員連携を案内する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条件のカードをタップしてもらい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興味を聞く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620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検索結果へそのまま移動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2015999"/>
            <a:ext cx="2844000" cy="1655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 dirty="0"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条件を入れた状態の検索結果ページへ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探す手間がなく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応募はサイト側で行う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3888000"/>
            <a:ext cx="9043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貴社で再現するときに必要なもの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4212000"/>
            <a:ext cx="4392000" cy="936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条件別の検索結果ページ（職種×地域×資格）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LINEで会員登録・ログインできる仕組み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6000" y="4212000"/>
            <a:ext cx="4399200" cy="936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LINE側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リッチメニュー・あいさつ・配信の設計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条件で選んで送る仕組み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5364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サイトリニューアルのタイミングなら、この仕組みを最初から入れられます。</a:t>
            </a:r>
          </a:p>
        </p:txBody>
      </p:sp>
    </p:spTree>
    <p:extLst>
      <p:ext uri="{BB962C8B-B14F-4D97-AF65-F5344CB8AC3E}">
        <p14:creationId xmlns:p14="http://schemas.microsoft.com/office/powerpoint/2010/main" val="3797552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C615-BEE8-3B16-A209-225180EB5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貴社に当てはめると｜会員登録はLINEで、その先の応募へ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サイトリニューアルに合わせて、会員登録をLINEで完結できる形にすることをご提案します。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入力の手間がほぼなくなり、登録のハードルを大きく下げられます。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入口は「応募」か「転職支援の申込」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・会員登録の利用が少ない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・応募しなかった方との接点が残らない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・比較検討中の方と接点を持てない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6000" y="2700000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91200" y="1584000"/>
            <a:ext cx="4284000" cy="342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リニューアル後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91200" y="1962000"/>
            <a:ext cx="4284000" cy="1800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会員登録＝LINEでワンタップ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・登録と同じ画面で、LINEの友だち追加もあわせてご案内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・応募しなかった方とも、登録者としてつながり続ける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・登録した方に、条件に合う求人を届け続けられる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665600" y="3870000"/>
            <a:ext cx="503999" cy="288000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2000" y="4248000"/>
            <a:ext cx="9043200" cy="82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4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会員登録はワンタップで完了します。次の課題は、登録した方を応募へどうつなげるかです</a:t>
            </a:r>
            <a:r>
              <a:rPr sz="14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。</a:t>
            </a:r>
          </a:p>
          <a:p>
            <a:pPr algn="ctr"/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2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リッチメニューと配信で、LINEから応募へつなげます（次ページ以降</a:t>
            </a:r>
            <a:r>
              <a:rPr sz="12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CV①＝会員登録（LINEで登録）／CV②＝求人への応募</a:t>
            </a:r>
          </a:p>
        </p:txBody>
      </p:sp>
    </p:spTree>
    <p:extLst>
      <p:ext uri="{BB962C8B-B14F-4D97-AF65-F5344CB8AC3E}">
        <p14:creationId xmlns:p14="http://schemas.microsoft.com/office/powerpoint/2010/main" val="4161387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4C018-2F1E-8306-707D-71C186D40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貴社向けの工夫｜タウンワークより手軽な登録と、整備士向けの条件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タウンワークの型をそのまま使うのではなく、貴社のサイトと求人に合わせて、2点を工夫します。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4392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工夫①　タウンワークより手軽に登録できる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264252"/>
              </p:ext>
            </p:extLst>
          </p:nvPr>
        </p:nvGraphicFramePr>
        <p:xfrm>
          <a:off x="432000" y="2015999"/>
          <a:ext cx="4391999" cy="161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1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タウンワーク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貴社（ご提案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LINEとつなぐ前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リクルートIDで
ログインが必要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不要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入力するもの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メール・パスワード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ほ</a:t>
                      </a:r>
                      <a:r>
                        <a:rPr lang="ja-JP" altLang="en-US"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とんど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なし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Profile+で自動入力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0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つながった状態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既存の会員と連携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登録と同じ画面で、</a:t>
                      </a:r>
                      <a:r>
                        <a:rPr sz="105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1050" b="1" dirty="0" err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友だち追加もあわせてご案内</a:t>
                      </a:r>
                      <a:endParaRPr sz="1050" b="1" dirty="0">
                        <a:solidFill>
                          <a:srgbClr val="C00000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76000" y="1584000"/>
            <a:ext cx="43992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工夫②　条件を整備士向けにする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000" y="2015999"/>
            <a:ext cx="43992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リッチメニュー・配信で使う条件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・職種：整備士／営業／受付・事務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・地域：都道府県・市区町村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・資格：1級・2級・3級・無資格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・未経験OK・資格取得支援あり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744000"/>
            <a:ext cx="90432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掲載中の求人を、条件で探せるようにします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全国2,134件（うち正社員・整備士946件、正社員・営業180件）の求人を、LINEから条件別に探せる入口をつくります。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89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「手軽な登録」と「整備士に合わせた条件」で、タウンワークの型を貴社向けに最適化します。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  <p:extLst>
      <p:ext uri="{BB962C8B-B14F-4D97-AF65-F5344CB8AC3E}">
        <p14:creationId xmlns:p14="http://schemas.microsoft.com/office/powerpoint/2010/main" val="507335036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①友だち追加の動線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50368"/>
            <a:ext cx="9036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箇所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※</a:t>
            </a:r>
            <a:r>
              <a:rPr sz="12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費用（月額／初期</a:t>
            </a:r>
            <a:r>
              <a:rPr sz="12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30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2000" y="1530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求人ページから離れようとした方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条件に合う新着求人をLINEでお届けします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※月3万円（初期1.5万円）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470" y="1530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32000" y="3078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92000" y="3078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求人詳細・会員登録ページ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LINEで登録（入力はほぼ不要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</a:t>
            </a: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①）＋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endParaRPr sz="1150" b="1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0"/>
              </a:spcAft>
            </a:pP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サイト側で実装（LINE連携の開発は都度お見積もり</a:t>
            </a: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）／LINE 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Profile+は申請・審査のうえ別途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470" y="3078000"/>
            <a:ext cx="2302258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2000" y="4626000"/>
            <a:ext cx="1188000" cy="144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2000" y="4626000"/>
            <a:ext cx="5256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72000" bIns="21600" rtlCol="0" anchor="ctr"/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応募の完了画面</a:t>
            </a:r>
            <a:endParaRPr sz="1150" b="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→「</a:t>
            </a:r>
            <a:r>
              <a:rPr sz="1150" b="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今後のご連絡はこのLINEでお送りします</a:t>
            </a:r>
            <a:r>
              <a:rPr sz="1150" b="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</a:t>
            </a:r>
            <a:r>
              <a:rPr sz="1150" b="1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</a:t>
            </a:r>
            <a:br>
              <a:rPr lang="en-US" sz="1150" b="1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</a:br>
            <a:r>
              <a:rPr sz="1000" b="1" dirty="0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※月5万円（初期10万円）／</a:t>
            </a:r>
            <a:r>
              <a:rPr sz="1000" b="1" dirty="0" err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シミュレーションの応募数・費用には含めない</a:t>
            </a:r>
            <a:endParaRPr sz="1000" b="1" dirty="0">
              <a:solidFill>
                <a:srgbClr val="ED7D31"/>
              </a:solidFill>
              <a:latin typeface="メイリオ"/>
              <a:ea typeface="メイリオ"/>
              <a:cs typeface="メイリオ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2384" y="4626000"/>
            <a:ext cx="810430" cy="144000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※月約17人＝サイトからの応募（月約47件）×完了画面の表示80%×友だち追加45%の想定／画面はイメージです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②効率改善（ステップ配信・企画配信）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対象（想定数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訴求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開封率×クリック率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クリック数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× 応募率2.6% → </a:t>
            </a: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件数</a:t>
            </a:r>
            <a:endParaRPr sz="14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826462"/>
              </p:ext>
            </p:extLst>
          </p:nvPr>
        </p:nvGraphicFramePr>
        <p:xfrm>
          <a:off x="432000" y="1512000"/>
          <a:ext cx="7524000" cy="40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9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31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42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66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92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動線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配信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タイミング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対象（想定数）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訴求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開封×クリック
→ クリック数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×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応募率</a:t>
                      </a:r>
                      <a:r>
                        <a:rPr sz="850" b="1" dirty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→ </a:t>
                      </a:r>
                      <a:r>
                        <a:rPr sz="850" b="1" dirty="0" err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件数</a:t>
                      </a:r>
                      <a:endParaRPr sz="850" b="1" dirty="0">
                        <a:solidFill>
                          <a:srgbClr val="FFFFFF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費用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追加した方（約22人）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会員登録・応募のご案内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57回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2.6%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離脱防止から
追加した方（約88人）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82回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2.6%
→ 2件</a:t>
                      </a:r>
                      <a:r>
                        <a:rPr 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（約137人）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82回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2.6%
→ 2件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0日 あいさつ／
1〜14日後（全10通）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（約35人）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職種を聞く→合う求人→
応募のご案内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72.5%×12%
→ 92回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2.6%
→ 2件</a:t>
                      </a:r>
                      <a:r>
                        <a:rPr 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月4本／ステップ
終了後の方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LINEで登録した方
（約140人）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新着求人・資格取得支援・
働き方の特集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78%×10%
→ 131回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2.6%
→ 4件</a:t>
                      </a:r>
                      <a:r>
                        <a:rPr 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01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リッチ
メニュー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いつでも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有効な友だち
（約219人）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職種・地域・資格で
求人を探す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月30%×2回
→ 131回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2.6%
→ 3件</a:t>
                      </a:r>
                      <a:r>
                        <a:rPr 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/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
に含む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応募当日／
面談前日・当日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応募した方
（月約17人）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応募受付のお礼・面談の
日時・場所・持ち物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対象外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（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採用向け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コンサル費</a:t>
                      </a:r>
                      <a:r>
                        <a:rPr sz="80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
</a:t>
                      </a:r>
                      <a:r>
                        <a:rPr sz="800" b="0" dirty="0" err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に含む</a:t>
                      </a:r>
                      <a:endParaRPr sz="800" b="0" dirty="0">
                        <a:solidFill>
                          <a:srgbClr val="333333"/>
                        </a:solidFill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02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企画配信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応募済みの方に
求人の案内は送らない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575回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5338" y="1532339"/>
            <a:ext cx="1519200" cy="1012799"/>
          </a:xfrm>
          <a:prstGeom prst="rect">
            <a:avLst/>
          </a:prstGeom>
          <a:ln>
            <a:solidFill>
              <a:srgbClr val="D9D9D9"/>
            </a:solidFill>
          </a:ln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338" y="2759056"/>
            <a:ext cx="1519200" cy="2699364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32000" y="5670000"/>
            <a:ext cx="9043200" cy="40525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配信の中身（全10通の例）：0日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あいさつメッセージ（職種を聞く）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職種の違い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働き方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3日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→ 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資格取得支援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5日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他の職種との比較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7日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資格別の年収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10日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現場の様子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12日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地域別の新着求人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→ 14日 </a:t>
            </a:r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求人のご案内</a:t>
            </a:r>
            <a:r>
              <a:rPr sz="10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②（1日後からはステップ配信）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クリック数は弊社シミュレーションの9月の値を、動線ごとの友だち数（離脱防止38%・LINEで登録62%）と配信ごとのクリック比率で振り分けたもの。反応率の補正（1.46倍）と複数回のクリック（2.05倍）を含むため、対象×開封率×クリック率の単純な掛け算とは一致しません／コンサル費＝月20万円（初期20万円）、サンクスLINE＝月5万円（初期10万円）／画面はイメージで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③満足度改善（ユーザー）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友だちになった方が、電話なしで質問・相談できるようにします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QA自動化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個別チャット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920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資格・受験料・勤務地などのよくある質問に、LINEで24時間すぐ回答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76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求人の条件や働き方の相談に、LINEで対応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83200" y="1908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希望の条件に合う求人だけが届く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</a:t>
            </a:r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LINEで登録</a:t>
            </a:r>
            <a:r>
              <a:rPr sz="10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」</a:t>
            </a:r>
          </a:p>
          <a:p>
            <a:pPr algn="ctr"/>
            <a:r>
              <a:rPr sz="10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  <a:endParaRPr sz="10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6920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資格・受験料・勤務地、会員登録・ログインの質問に、LINEで24時間すぐ回答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76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求人の条件や面談の相談に、LINEで対応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83200" y="3276000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希望の条件（職種・地域）を、リッチメニューからいつでも変更できる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20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面談の場所・持ち物・服装などの質問に、LINEで24時間すぐ回答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76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日程の変更や相談</a:t>
            </a:r>
            <a:r>
              <a:rPr lang="ja-JP" altLang="en-US"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LINEで完結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83200" y="4643999"/>
            <a:ext cx="2520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面談前日・当日のご案内で、予定を忘れない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④効率改善（管理側）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36230"/>
            <a:ext cx="9036000" cy="30754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貴社の担当者の対応の手間を増やさずに、友だち・応募者とのやりとりを回せるようにします</a:t>
            </a:r>
            <a:r>
              <a:rPr sz="14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92000" y="1512000"/>
          <a:ext cx="778320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自動応答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その他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1908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動線00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ポップアップ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20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電話・メールでの問い合わせ対応を減らす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87200" y="1908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クリックの履歴で、興味別のグループを自動で作る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クリックリターゲティング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76000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動線01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「LINEで登録」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20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よくある質問への回答を自動化し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問い合わせ対応を減らす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587200" y="3276000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会員の情報とLINEをひもづけ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条件別の配信を自動化する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2000" y="4643999"/>
            <a:ext cx="1188000" cy="1260000"/>
          </a:xfrm>
          <a:prstGeom prst="roundRect">
            <a:avLst>
              <a:gd name="adj" fmla="val 8000"/>
            </a:avLst>
          </a:prstGeom>
          <a:solidFill>
            <a:srgbClr val="0B7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21600" rIns="36000" bIns="21600" rtlCol="0" anchor="ctr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動線02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（オプション）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20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面談日程の確認・変更の受付を自動化し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電話でのやりとりを減らす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87200" y="4643999"/>
            <a:ext cx="3816000" cy="126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21600" rIns="108000" bIns="21600" rtlCol="0" anchor="ctr"/>
          <a:lstStyle/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応募者への連絡をLINEにまとめ</a:t>
            </a:r>
            <a:r>
              <a:rPr sz="11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</a:pPr>
            <a:r>
              <a:rPr sz="11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電話がつながらない手間を減らす</a:t>
            </a:r>
            <a:endParaRPr sz="11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341AF-76F7-F354-A08C-287945F04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サイトリニューアルと同時の導入をおすすめする理由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LINEの友だち・会員の情報は、始めた日からしか蓄積されません。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サイトと同時に始めれば、翌3月の転職のピークを、増えた友だちとともに迎えられます。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データを初日から蓄積できる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友だち・会員・クリックの履歴は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始めた日から蓄積される。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半年後には約540人の友だちに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（弊社シミュレーション）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開発のやり直しを避けられる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会員登録の仕組みを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後からLINE対応に作り替えると、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サイトの改修が二度手間になる。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223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3月の転職のピークに間に合う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整備士の検索は一年中あり、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ピークは3月。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秋までに友だちを増やしておけば、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ピークの時期にご案内できる。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000" y="3996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同時に開始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4068000"/>
            <a:ext cx="76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00000" y="4302000"/>
            <a:ext cx="7668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 ────── 友だちが増え続ける ────── 翌3月（転職のピーク）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644000"/>
            <a:ext cx="1296000" cy="360000"/>
          </a:xfrm>
          <a:prstGeom prst="roundRect">
            <a:avLst>
              <a:gd name="adj" fmla="val 1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後から開始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00000" y="4716000"/>
            <a:ext cx="3600000" cy="216000"/>
          </a:xfrm>
          <a:prstGeom prst="roundRect">
            <a:avLst>
              <a:gd name="adj" fmla="val 6000"/>
            </a:avLst>
          </a:prstGeom>
          <a:solidFill>
            <a:srgbClr val="E6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00000" y="4716000"/>
            <a:ext cx="4068000" cy="216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00000" y="4950000"/>
            <a:ext cx="3600000" cy="251999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ctr"/>
            <a:r>
              <a:rPr sz="105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この期間の登録者とはLINEでつながれない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540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サイトリニューアルと同時に、LINEも最初から入れることをご提案します。</a:t>
            </a:r>
          </a:p>
        </p:txBody>
      </p:sp>
    </p:spTree>
    <p:extLst>
      <p:ext uri="{BB962C8B-B14F-4D97-AF65-F5344CB8AC3E}">
        <p14:creationId xmlns:p14="http://schemas.microsoft.com/office/powerpoint/2010/main" val="3731031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5A5A4-75AD-516A-9D25-18F8EF002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サイトリニューアルに入れる要件3点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LINEで応募へつなげるために、リニューアルの要件として次の3点を入れていただくことをご提案します。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会員登録をLINEで完結させる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000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「LINEでログイン」とLINE Profile+で、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入力ほぼなしで会員登録。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同じ画面で友だち追加もあわせてご案内。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会員の情報とLINEをひもづける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15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会員名簿にLINEの情報を保存し、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職種・地域・資格で選んで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配信できるようにする。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1199" y="1584000"/>
            <a:ext cx="2844000" cy="36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条件別の検索結果ページ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31199" y="1980000"/>
            <a:ext cx="2844000" cy="19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endParaRPr/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職種×地域×資格ごとのURLを用意し、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リッチメニューや配信から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そのまま開けるようにする。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140000"/>
            <a:ext cx="9043200" cy="86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LINE連携の開発について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LINE連携の開発は、弊社でも対応が可能です（内容に応じて都度お見積もり）。サイト制作会社様と仕様をすり合わせて進めます。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22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この3点が入っていれば、タウンワークの型を貴社サイトで再現できます。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3212290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スケジュール｜4月にサイトと同時に開設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 Profile+は申請とLINEヤフー社の審査があるため、予算が決まり次第、早めに着手します。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11〜12月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35999" y="158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予算のご決定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来期の予算にLINEを組み込む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39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1〜2月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35999" y="239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お申込み・申請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アカウント開設、LINE Profile+の申請、サイト制作会社様と仕様のすり合わせ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320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2〜3月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35999" y="320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あいさつ・リッチメニュー・ステップ配信の作成、サイトとの連携テスト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000" y="401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5999" y="401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サイトと同時に開設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運用開始。会員登録・友だち追加を開始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4824000"/>
            <a:ext cx="1296000" cy="68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〜翌3月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35999" y="4824000"/>
            <a:ext cx="7639200" cy="6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友だちを増やし、ピークに備える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毎月の配信と改善を続け、3月の転職のピークに備える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 Profile+の審査期間は、申請内容により変わります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2631F-440C-AF04-0C69-2C8669EB8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成果シミュレーション（4〜9月）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会員登録（CV①）はLINEでワンタップ。登録した方を、リッチメニューと配信で応募（CV②）へつなげます。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友だちが増えるほど応募も増え、7月に応募単価が2.5万円を下回る見込みです。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9043200" cy="22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64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会員登録（CV①）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38件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50件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62件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66件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334件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応募（CV②）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11件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13件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55件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応募単価（CPA）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4.7万円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2.9万円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2.1万円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1.8万円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1.6万円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32000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半年の会員登録（CV①）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334件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LINEでワンタップ登録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315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半年の応募（CV②）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55件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リッチメニュー・配信から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31199" y="3996000"/>
            <a:ext cx="2844000" cy="122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9月の応募単価</a:t>
            </a:r>
          </a:p>
          <a:p>
            <a:pPr algn="ctr">
              <a:spcAft>
                <a:spcPts val="300"/>
              </a:spcAft>
            </a:pPr>
            <a:r>
              <a:rPr sz="28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1.6万円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目標2〜2.5万円を下回る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前提：サイト来訪 月約6,100人（広告のシミュレーション確定後に差し替え）／LINEで登録＝来訪者の1.0%／費用 月23.5万円／応募単価＝月の費用÷その月の応募数（初期費用は含まない）</a:t>
            </a:r>
          </a:p>
        </p:txBody>
      </p:sp>
    </p:spTree>
    <p:extLst>
      <p:ext uri="{BB962C8B-B14F-4D97-AF65-F5344CB8AC3E}">
        <p14:creationId xmlns:p14="http://schemas.microsoft.com/office/powerpoint/2010/main" val="1269822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費用と体制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LINE単独のお見積もりです（サイト制作費・広告運用費とは別）。運用は弊社が担当します。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32000" y="1584000"/>
          <a:ext cx="5256000" cy="2771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857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初期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月額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LINE運用コンサル
（設計・構築・配信・改善）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離脱防止ポップアップ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LINE公式アカウント（開設／利用料）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0.5万円〜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24.5万円〜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23.5万円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857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サンクスLINE（オプション）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5万円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85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LINE Profile+／LINE連携の開発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都度お見積もり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03999" y="1584000"/>
            <a:ext cx="35712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体制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03999" y="190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弊社：戦略・設計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アカウント設計、動線・配信の設計、効果の分析と改善のご提案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3999" y="271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弊社：運用・制作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あいさつ・リッチメニュー・配信の作成と設定、毎月のレポート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3999" y="3528000"/>
            <a:ext cx="3571200" cy="737999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貴社にお願いすること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求人情報・面談体制の共有、サイト制作会社様との連携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000" y="4536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月23.5万円で、会員登録から応募までをLINEでつなげる仕組みを構築・運用します。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※LINE公式アカウントの利用料は配信通数により変動します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A8C22-A859-569A-8EEC-58728B6BD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業界の人手不足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整備士・営業は、求人に対して人材が大きく不足している「超売り手市場」です。担い手も増えていません。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5.46倍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315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自動車営業の有効求人倍率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12.55倍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2025年度（受付事務は0.96倍）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31199" y="1584000"/>
            <a:ext cx="2844000" cy="144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400" tIns="21600" rIns="50400" bIns="21600" rtlCol="0" anchor="ctr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人手不足を感じる整備事業者</a:t>
            </a:r>
          </a:p>
          <a:p>
            <a:pPr algn="ctr">
              <a:spcAft>
                <a:spcPts val="400"/>
              </a:spcAft>
            </a:pPr>
            <a:r>
              <a:rPr sz="3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約6割</a:t>
            </a:r>
          </a:p>
          <a:p>
            <a:pPr algn="ctr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国土交通省の資料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2000" y="3240000"/>
          <a:ext cx="9043200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以前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最近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変化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整備学校の入学者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12,394人（2003年度）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7,068人（2024年度）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約4割減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整備要員の平均年齢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39.7歳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47.2歳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C0000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高齢化</a:t>
                      </a:r>
                    </a:p>
                  </a:txBody>
                  <a:tcPr anchor="ctr">
                    <a:solidFill>
                      <a:srgbClr val="F4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人材が集まりにくい市場だからこそ、サイトに訪れた求職者を逃さない仕組みが効果を発揮します。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出典：厚生労働省 job tag（有効求人倍率・2025年度）／国土交通省資料（出典：自動車整備白書）</a:t>
            </a:r>
          </a:p>
        </p:txBody>
      </p:sp>
    </p:spTree>
    <p:extLst>
      <p:ext uri="{BB962C8B-B14F-4D97-AF65-F5344CB8AC3E}">
        <p14:creationId xmlns:p14="http://schemas.microsoft.com/office/powerpoint/2010/main" val="1734662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求職者の動き方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整備士は、複数の経路を併用して比べながら仕事を探しています。検索は一年を通してあり、ピークは3月です。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32000" y="1548000"/>
            <a:ext cx="3960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仕事を探した経路（複数回答）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190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2000" y="1980000"/>
            <a:ext cx="180000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8000" y="190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44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2000" y="2520000"/>
            <a:ext cx="1738810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26810" y="244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2988000"/>
            <a:ext cx="1584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2000" y="3060000"/>
            <a:ext cx="1682719" cy="251999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0719" y="2988000"/>
            <a:ext cx="648000" cy="396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" y="3600000"/>
            <a:ext cx="396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特化型サイトの登録者は、84%が有資格者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整備士に特化したサイトには、資格を持つ方が集まる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0" y="1548000"/>
            <a:ext cx="4788000" cy="288000"/>
          </a:xfrm>
          <a:prstGeom prst="rect">
            <a:avLst/>
          </a:prstGeom>
          <a:noFill/>
        </p:spPr>
        <p:txBody>
          <a:bodyPr wrap="square" lIns="0" tIns="21600" rIns="50400" bIns="21600" anchor="t">
            <a:spAutoFit/>
          </a:bodyPr>
          <a:lstStyle/>
          <a:p>
            <a:pPr algn="l"/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「整備士」の検索（過去5年）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0" y="1872000"/>
            <a:ext cx="4788000" cy="15561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680000" y="3600000"/>
            <a:ext cx="4788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ピークは3月、最も少ないのは12月。差は約1.4倍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一年を通して、転職を検討する方がいる。3月に向けて前倒しで接点を持つ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680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比較検討中の方を、LINEで登録者としてつながっておくことが大切です。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2026年9月23日）／Googleトレンド「整備士」（日本・過去5年）</a:t>
            </a:r>
          </a:p>
        </p:txBody>
      </p:sp>
    </p:spTree>
    <p:extLst>
      <p:ext uri="{BB962C8B-B14F-4D97-AF65-F5344CB8AC3E}">
        <p14:creationId xmlns:p14="http://schemas.microsoft.com/office/powerpoint/2010/main" val="3000134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5156-99A2-3647-6F9D-3BD80C59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前後検索（近い業種：工場求人ナビ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48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求人サイトで仕事を探す方の動き方には、型があります。</a:t>
            </a:r>
          </a:p>
          <a:p>
            <a:pPr algn="l">
              <a:lnSpc>
                <a:spcPct val="130000"/>
              </a:lnSpc>
            </a:pPr>
            <a:r>
              <a:rPr sz="12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自動車整備士のデータではありませんが、同じ「求人サイトの利用者」の動き方として参考にします。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工場求人ナビ_前後検索_202609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584000"/>
            <a:ext cx="5688000" cy="331894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28000" y="1584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検索前（〜前日）：広く比べる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求人サイト／求人 正社員／高収入 仕事／40代 転職／人と関わらない仕事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8000" y="2700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検索当日：サイト名・具体的な求人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工場求人ナビ／日総工産／工場 求人 正社員／製造業 求人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8000" y="3816000"/>
            <a:ext cx="3247200" cy="104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t"/>
          <a:lstStyle/>
          <a:p>
            <a:pPr algn="l">
              <a:spcAft>
                <a:spcPts val="50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検索後（翌日〜15日）：条件・評判・応募の準備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期間工 年齢制限／夜勤 体への影響／派遣社員 デメリット／○○ 評判／製造業 志望動機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5112000"/>
            <a:ext cx="9043200" cy="432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登録した後の配信は「条件 → 評判・不安 → 応募の準備」の順番で組みます。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前後検索データ（起点KW：工場求人ナビ／2026年9月取得）※近い業種の参考。自動車整備士のデータではありません</a:t>
            </a:r>
          </a:p>
        </p:txBody>
      </p:sp>
    </p:spTree>
    <p:extLst>
      <p:ext uri="{BB962C8B-B14F-4D97-AF65-F5344CB8AC3E}">
        <p14:creationId xmlns:p14="http://schemas.microsoft.com/office/powerpoint/2010/main" val="1058933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1AEA3-5B74-7C38-9336-4D6A18C7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前後検索（カーディーラ</a:t>
            </a:r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ー）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30000"/>
            <a:ext cx="9036000" cy="6840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「カーディーラー」の検索前後15日間。友だち追加につながりやすいのは、検索当日〜翌日です。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1458000"/>
            <a:ext cx="5112000" cy="29828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07233" y="4397400"/>
            <a:ext cx="936000" cy="223200"/>
          </a:xfrm>
          <a:prstGeom prst="rect">
            <a:avLst/>
          </a:prstGeom>
          <a:solidFill>
            <a:srgbClr val="C6E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950" b="1">
                <a:solidFill>
                  <a:srgbClr val="00873C"/>
                </a:solidFill>
                <a:latin typeface="メイリオ"/>
                <a:ea typeface="メイリオ"/>
                <a:cs typeface="メイリオ"/>
              </a:rPr>
              <a:t>LINE追加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2347" y="1458000"/>
            <a:ext cx="605772" cy="2946851"/>
          </a:xfrm>
          <a:prstGeom prst="rect">
            <a:avLst/>
          </a:prstGeom>
          <a:solidFill>
            <a:srgbClr val="06C75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240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FBE0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C0561A"/>
                </a:solidFill>
                <a:latin typeface="メイリオ"/>
                <a:ea typeface="メイリオ"/>
                <a:cs typeface="メイリオ"/>
              </a:rPr>
              <a:t>職業・働き方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17600" y="1458000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D6E2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2B5797"/>
                </a:solidFill>
                <a:latin typeface="メイリオ"/>
                <a:ea typeface="メイリオ"/>
                <a:cs typeface="メイリオ"/>
              </a:rPr>
              <a:t>整備・工具・カー用品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240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E8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7440A8"/>
                </a:solidFill>
                <a:latin typeface="メイリオ"/>
                <a:ea typeface="メイリオ"/>
                <a:cs typeface="メイリオ"/>
              </a:rPr>
              <a:t>お金・手続き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17600" y="1717199"/>
            <a:ext cx="1857600" cy="223200"/>
          </a:xfrm>
          <a:prstGeom prst="roundRect">
            <a:avLst>
              <a:gd name="adj" fmla="val 8000"/>
            </a:avLst>
          </a:prstGeom>
          <a:solidFill>
            <a:srgbClr val="CC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00" b="1">
                <a:solidFill>
                  <a:srgbClr val="00796B"/>
                </a:solidFill>
                <a:latin typeface="メイリオ"/>
                <a:ea typeface="メイリオ"/>
                <a:cs typeface="メイリオ"/>
              </a:rPr>
              <a:t>クルマ選び（車種・店舗）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24000" y="2052000"/>
            <a:ext cx="3751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LINE追加率を上げるコンテンツ（検索当日〜翌日）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240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endParaRPr/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「整備士の年収相場」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をLINEで見られます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600" y="2322000"/>
            <a:ext cx="1839600" cy="917999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この機会に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LINEで30秒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適職診断しませんか？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240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当日の検索は「年収」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その場で答えを示す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600" y="3276000"/>
            <a:ext cx="1839600" cy="702000"/>
          </a:xfrm>
          <a:prstGeom prst="roundRect">
            <a:avLst>
              <a:gd name="adj" fmla="val 8000"/>
            </a:avLst>
          </a:prstGeom>
          <a:solidFill>
            <a:srgbClr val="DD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0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電話なし・履歴書なし</a:t>
            </a:r>
          </a:p>
          <a:p>
            <a:pPr algn="ctr"/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応募前の方でも気軽に登録できる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375233" y="2772000"/>
            <a:ext cx="2312767" cy="154872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2000" y="4710852"/>
            <a:ext cx="9043200" cy="223200"/>
          </a:xfrm>
          <a:prstGeom prst="roundRect">
            <a:avLst>
              <a:gd name="adj" fmla="val 8000"/>
            </a:avLst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1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登録後に応募へつなげるコンテンツ（翌日〜14日・前後検索の関心の順番）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職種図鑑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整備・受付・営業の違い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34171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働き方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休み・残業・働きやすい職場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36342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求人のご案内①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514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他職種と比較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営業・施工管理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40685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7日目</a:t>
            </a: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資格別の</a:t>
            </a:r>
            <a:endParaRPr lang="en-US"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1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年収相場</a:t>
            </a:r>
            <a:endParaRPr sz="11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sz="10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キャリアマップ</a:t>
            </a:r>
            <a:endParaRPr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942857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10日目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現場のリアル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冬の繁忙期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5028" y="4980852"/>
            <a:ext cx="1230171" cy="1211148"/>
          </a:xfrm>
          <a:prstGeom prst="roundRect">
            <a:avLst>
              <a:gd name="adj" fmla="val 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28800" rIns="54000" bIns="288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14日目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求人のご案内②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（応募）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21600" y="4320720"/>
            <a:ext cx="255599" cy="372131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32000" y="6282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前後検索データ（起点KW：カーディーラー／2026-09-23取得）。色分けはDYM分類（ラベル129件）</a:t>
            </a:r>
          </a:p>
        </p:txBody>
      </p:sp>
    </p:spTree>
    <p:extLst>
      <p:ext uri="{BB962C8B-B14F-4D97-AF65-F5344CB8AC3E}">
        <p14:creationId xmlns:p14="http://schemas.microsoft.com/office/powerpoint/2010/main" val="20531706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18"/>
          <p:cNvSpPr>
            <a:spLocks noChangeArrowheads="1"/>
          </p:cNvSpPr>
          <p:nvPr/>
        </p:nvSpPr>
        <p:spPr bwMode="auto">
          <a:xfrm>
            <a:off x="1649030" y="5820984"/>
            <a:ext cx="6192837" cy="373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株式会社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DYM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〒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141-0032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東京都品川区大崎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1-11-2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ゲートシティ大崎イーストタワー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10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階</a:t>
            </a:r>
            <a:endParaRPr lang="en-US" altLang="ja-JP" sz="831" b="1" dirty="0">
              <a:solidFill>
                <a:prstClr val="black"/>
              </a:solidFill>
              <a:latin typeface="メイリオ"/>
              <a:ea typeface="メイリオ"/>
              <a:cs typeface="メイリオ"/>
            </a:endParaRPr>
          </a:p>
          <a:p>
            <a:pPr marL="0" lvl="1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TEL: 03-5745-0200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FAX: 03-3779-8720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en-US" altLang="ja-JP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http://dym.asia   </a:t>
            </a:r>
            <a:r>
              <a:rPr lang="ja-JP" altLang="en-US" sz="831" b="1" dirty="0">
                <a:solidFill>
                  <a:prstClr val="black"/>
                </a:solidFill>
                <a:latin typeface="メイリオ"/>
                <a:ea typeface="メイリオ"/>
                <a:cs typeface="メイリオ"/>
              </a:rPr>
              <a:t>代表取締役　水谷佑毅</a:t>
            </a:r>
          </a:p>
        </p:txBody>
      </p:sp>
      <p:pic>
        <p:nvPicPr>
          <p:cNvPr id="24" name="図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647" r="-11171"/>
          <a:stretch/>
        </p:blipFill>
        <p:spPr bwMode="auto">
          <a:xfrm>
            <a:off x="543897" y="5895365"/>
            <a:ext cx="1100981" cy="224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テキスト ボックス 2"/>
          <p:cNvSpPr txBox="1"/>
          <p:nvPr/>
        </p:nvSpPr>
        <p:spPr>
          <a:xfrm>
            <a:off x="5070232" y="55977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ja-JP" altLang="en-US">
              <a:solidFill>
                <a:prstClr val="black"/>
              </a:solidFill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8" name="正方形/長方形 17"/>
          <p:cNvSpPr/>
          <p:nvPr/>
        </p:nvSpPr>
        <p:spPr>
          <a:xfrm>
            <a:off x="2170038" y="989684"/>
            <a:ext cx="5565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b="1" dirty="0">
                <a:solidFill>
                  <a:prstClr val="black"/>
                </a:solidFill>
                <a:latin typeface="メイリオ" charset="0"/>
                <a:ea typeface="メイリオ" charset="0"/>
                <a:cs typeface="メイリオ" charset="0"/>
              </a:rPr>
              <a:t>貴社の明るい未来に必ず貢献致します。</a:t>
            </a:r>
          </a:p>
        </p:txBody>
      </p:sp>
      <p:sp>
        <p:nvSpPr>
          <p:cNvPr id="14" name="正方形/長方形 13"/>
          <p:cNvSpPr/>
          <p:nvPr/>
        </p:nvSpPr>
        <p:spPr>
          <a:xfrm>
            <a:off x="382695" y="2698377"/>
            <a:ext cx="598220" cy="205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738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sp>
        <p:nvSpPr>
          <p:cNvPr id="15" name="正方形/長方形 14"/>
          <p:cNvSpPr/>
          <p:nvPr/>
        </p:nvSpPr>
        <p:spPr>
          <a:xfrm>
            <a:off x="368300" y="2355213"/>
            <a:ext cx="756684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ja-JP" altLang="en-US" sz="800" dirty="0">
                <a:solidFill>
                  <a:srgbClr val="FFFFFF"/>
                </a:solidFill>
                <a:latin typeface="メイリオ" charset="0"/>
                <a:ea typeface="メイリオ" charset="0"/>
                <a:cs typeface="メイリオ" charset="0"/>
              </a:rPr>
              <a:t>本社</a:t>
            </a: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5A1AABC-CDB8-5B83-4CFD-649967A361BF}"/>
              </a:ext>
            </a:extLst>
          </p:cNvPr>
          <p:cNvGrpSpPr/>
          <p:nvPr/>
        </p:nvGrpSpPr>
        <p:grpSpPr>
          <a:xfrm>
            <a:off x="381002" y="1772817"/>
            <a:ext cx="9143999" cy="3314853"/>
            <a:chOff x="1" y="1772816"/>
            <a:chExt cx="9143999" cy="3314853"/>
          </a:xfrm>
        </p:grpSpPr>
        <p:pic>
          <p:nvPicPr>
            <p:cNvPr id="21" name="図 20" descr="ポーズをとる男性グループ&#10;&#10;自動的に生成された説明">
              <a:extLst>
                <a:ext uri="{FF2B5EF4-FFF2-40B4-BE49-F238E27FC236}">
                  <a16:creationId xmlns:a16="http://schemas.microsoft.com/office/drawing/2014/main" id="{4927F40E-D146-C638-5583-C9DC298472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2" r="4076"/>
            <a:stretch/>
          </p:blipFill>
          <p:spPr>
            <a:xfrm>
              <a:off x="6973793" y="3518745"/>
              <a:ext cx="2170207" cy="1567781"/>
            </a:xfrm>
            <a:prstGeom prst="rect">
              <a:avLst/>
            </a:prstGeom>
          </p:spPr>
        </p:pic>
        <p:pic>
          <p:nvPicPr>
            <p:cNvPr id="16" name="図 15" descr="白いシャツを着ている男性&#10;&#10;中程度の精度で自動的に生成された説明">
              <a:extLst>
                <a:ext uri="{FF2B5EF4-FFF2-40B4-BE49-F238E27FC236}">
                  <a16:creationId xmlns:a16="http://schemas.microsoft.com/office/drawing/2014/main" id="{2ECDFCA7-8611-D865-F999-FDCD0EC21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3808" y="3519888"/>
              <a:ext cx="1989985" cy="1567781"/>
            </a:xfrm>
            <a:prstGeom prst="rect">
              <a:avLst/>
            </a:prstGeom>
          </p:spPr>
        </p:pic>
        <p:pic>
          <p:nvPicPr>
            <p:cNvPr id="10" name="図 9" descr="スーツを着た男性たち&#10;&#10;自動的に生成された説明">
              <a:extLst>
                <a:ext uri="{FF2B5EF4-FFF2-40B4-BE49-F238E27FC236}">
                  <a16:creationId xmlns:a16="http://schemas.microsoft.com/office/drawing/2014/main" id="{9D3AD52A-1514-4350-FFDD-09984B3666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703" r="10363"/>
            <a:stretch/>
          </p:blipFill>
          <p:spPr>
            <a:xfrm>
              <a:off x="7299681" y="1773979"/>
              <a:ext cx="1842624" cy="1745909"/>
            </a:xfrm>
            <a:prstGeom prst="rect">
              <a:avLst/>
            </a:prstGeom>
          </p:spPr>
        </p:pic>
        <p:pic>
          <p:nvPicPr>
            <p:cNvPr id="7" name="図 6" descr="講堂にいる人たち&#10;&#10;中程度の精度で自動的に生成された説明">
              <a:extLst>
                <a:ext uri="{FF2B5EF4-FFF2-40B4-BE49-F238E27FC236}">
                  <a16:creationId xmlns:a16="http://schemas.microsoft.com/office/drawing/2014/main" id="{B1CA0DFF-0DAF-D5BD-8D9F-8AFB103E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2" t="12879" r="2477"/>
            <a:stretch/>
          </p:blipFill>
          <p:spPr>
            <a:xfrm>
              <a:off x="1" y="1772816"/>
              <a:ext cx="5089778" cy="3314853"/>
            </a:xfrm>
            <a:prstGeom prst="rect">
              <a:avLst/>
            </a:prstGeom>
          </p:spPr>
        </p:pic>
        <p:pic>
          <p:nvPicPr>
            <p:cNvPr id="11" name="図 10" descr="スーツを着た男性グループの写真&#10;&#10;低い精度で自動的に生成された説明">
              <a:extLst>
                <a:ext uri="{FF2B5EF4-FFF2-40B4-BE49-F238E27FC236}">
                  <a16:creationId xmlns:a16="http://schemas.microsoft.com/office/drawing/2014/main" id="{FEFAFF33-EFBF-C67E-586A-08D93AF295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95" r="6763"/>
            <a:stretch/>
          </p:blipFill>
          <p:spPr>
            <a:xfrm>
              <a:off x="5089779" y="1772836"/>
              <a:ext cx="2215315" cy="1745909"/>
            </a:xfrm>
            <a:prstGeom prst="rect">
              <a:avLst/>
            </a:prstGeom>
          </p:spPr>
        </p:pic>
      </p:grp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38B92EF-519D-929F-4345-5BAC445EF234}"/>
              </a:ext>
            </a:extLst>
          </p:cNvPr>
          <p:cNvSpPr/>
          <p:nvPr/>
        </p:nvSpPr>
        <p:spPr>
          <a:xfrm>
            <a:off x="128016" y="6620256"/>
            <a:ext cx="2852928" cy="237744"/>
          </a:xfrm>
          <a:prstGeom prst="rect">
            <a:avLst/>
          </a:prstGeom>
          <a:solidFill>
            <a:srgbClr val="191F54"/>
          </a:solidFill>
          <a:ln>
            <a:solidFill>
              <a:srgbClr val="1025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49B271-D24D-666E-90F2-EA616E1EABC2}"/>
              </a:ext>
            </a:extLst>
          </p:cNvPr>
          <p:cNvSpPr/>
          <p:nvPr/>
        </p:nvSpPr>
        <p:spPr>
          <a:xfrm>
            <a:off x="368300" y="0"/>
            <a:ext cx="9537700" cy="514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535546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143172</TotalTime>
  <Words>1995</Words>
  <Application>Microsoft Office PowerPoint</Application>
  <PresentationFormat>A4 210 x 297 mm</PresentationFormat>
  <Paragraphs>503</Paragraphs>
  <Slides>23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Meiryo</vt:lpstr>
      <vt:lpstr>Meiryo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1959</cp:revision>
  <cp:lastPrinted>2022-11-01T11:38:14Z</cp:lastPrinted>
  <dcterms:created xsi:type="dcterms:W3CDTF">2015-09-04T09:21:15Z</dcterms:created>
  <dcterms:modified xsi:type="dcterms:W3CDTF">2026-09-29T07:45:11Z</dcterms:modified>
</cp:coreProperties>
</file>