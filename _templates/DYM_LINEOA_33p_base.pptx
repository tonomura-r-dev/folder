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15.svg" ContentType="image/svg+xml"/>
  <Override PartName="/ppt/media/image16.svg" ContentType="image/svg+xml"/>
  <Override PartName="/ppt/media/image17.svg" ContentType="image/svg+xml"/>
  <Override PartName="/ppt/media/image18.svg" ContentType="image/svg+xml"/>
  <Override PartName="/ppt/media/image3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7"/>
  </p:notesMasterIdLst>
  <p:handoutMasterIdLst>
    <p:handoutMasterId r:id="rId48"/>
  </p:handoutMasterIdLst>
  <p:sldIdLst>
    <p:sldId id="2995" r:id="rId3"/>
    <p:sldId id="2721" r:id="rId4"/>
    <p:sldId id="2723" r:id="rId5"/>
    <p:sldId id="2714" r:id="rId6"/>
    <p:sldId id="2761" r:id="rId7"/>
    <p:sldId id="2935" r:id="rId8"/>
    <p:sldId id="2919" r:id="rId9"/>
    <p:sldId id="2519" r:id="rId10"/>
    <p:sldId id="2931" r:id="rId11"/>
    <p:sldId id="2749" r:id="rId12"/>
    <p:sldId id="2950" r:id="rId13"/>
    <p:sldId id="2736" r:id="rId14"/>
    <p:sldId id="2996" r:id="rId15"/>
    <p:sldId id="2997" r:id="rId16"/>
    <p:sldId id="2998" r:id="rId17"/>
    <p:sldId id="2999" r:id="rId18"/>
    <p:sldId id="2908" r:id="rId19"/>
    <p:sldId id="3000" r:id="rId20"/>
    <p:sldId id="3001" r:id="rId21"/>
    <p:sldId id="3002" r:id="rId22"/>
    <p:sldId id="3003" r:id="rId23"/>
    <p:sldId id="2959" r:id="rId24"/>
    <p:sldId id="2957" r:id="rId25"/>
    <p:sldId id="3004" r:id="rId26"/>
    <p:sldId id="3005" r:id="rId27"/>
    <p:sldId id="3006" r:id="rId28"/>
    <p:sldId id="3007" r:id="rId29"/>
    <p:sldId id="2951" r:id="rId30"/>
    <p:sldId id="2841" r:id="rId31"/>
    <p:sldId id="2734" r:id="rId32"/>
    <p:sldId id="2913" r:id="rId33"/>
    <p:sldId id="2953" r:id="rId34"/>
    <p:sldId id="2566" r:id="rId35"/>
    <p:sldId id="2915" r:id="rId36"/>
    <p:sldId id="2619" r:id="rId37"/>
    <p:sldId id="2961" r:id="rId38"/>
    <p:sldId id="2849" r:id="rId39"/>
    <p:sldId id="2904" r:id="rId40"/>
    <p:sldId id="2905" r:id="rId41"/>
    <p:sldId id="2906" r:id="rId42"/>
    <p:sldId id="2907" r:id="rId43"/>
    <p:sldId id="2575" r:id="rId44"/>
    <p:sldId id="2910" r:id="rId45"/>
    <p:sldId id="1169" r:id="rId4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899" autoAdjust="0"/>
    <p:restoredTop sz="94424" autoAdjust="0"/>
  </p:normalViewPr>
  <p:slideViewPr>
    <p:cSldViewPr snapToGrid="0">
      <p:cViewPr varScale="1">
        <p:scale>
          <a:sx n="110" d="100"/>
          <a:sy n="110" d="100"/>
        </p:scale>
        <p:origin x="1080"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notesMaster" Target="notesMasters/notesMaster1.xml"/><Relationship Id="rId48" Type="http://schemas.openxmlformats.org/officeDocument/2006/relationships/handoutMaster" Target="handoutMasters/handout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2026/8/3</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44</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svg"/><Relationship Id="rId4" Type="http://schemas.openxmlformats.org/officeDocument/2006/relationships/image" Target="../media/image16.svg"/><Relationship Id="rId5" Type="http://schemas.openxmlformats.org/officeDocument/2006/relationships/image" Target="../media/image17.svg"/><Relationship Id="rId6" Type="http://schemas.openxmlformats.org/officeDocument/2006/relationships/image" Target="../media/image18.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jpg"/><Relationship Id="rId3" Type="http://schemas.openxmlformats.org/officeDocument/2006/relationships/image" Target="../media/image6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jpg"/><Relationship Id="rId3"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3.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emf"/><Relationship Id="rId4" Type="http://schemas.openxmlformats.org/officeDocument/2006/relationships/image" Target="../media/image56.jpeg"/><Relationship Id="rId5" Type="http://schemas.openxmlformats.org/officeDocument/2006/relationships/image" Target="../media/image57.jpeg"/><Relationship Id="rId6" Type="http://schemas.openxmlformats.org/officeDocument/2006/relationships/image" Target="../media/image58.jpeg"/><Relationship Id="rId7" Type="http://schemas.openxmlformats.org/officeDocument/2006/relationships/image" Target="../media/image59.jpeg"/><Relationship Id="rId8" Type="http://schemas.openxmlformats.org/officeDocument/2006/relationships/image" Target="../media/image6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377440"/>
            <a:ext cx="8778240" cy="822960"/>
          </a:xfrm>
          <a:prstGeom prst="rect">
            <a:avLst/>
          </a:prstGeom>
          <a:noFill/>
        </p:spPr>
        <p:txBody>
          <a:bodyPr wrap="none">
            <a:spAutoFit/>
          </a:bodyPr>
          <a:lstStyle/>
          <a:p>
            <a:pPr algn="ctr"/>
            <a:r>
              <a:rPr sz="3200" b="1">
                <a:solidFill>
                  <a:srgbClr val="002060"/>
                </a:solidFill>
                <a:latin typeface="メイリオ"/>
              </a:rPr>
              <a:t>公式LINEのご提案</a:t>
            </a:r>
          </a:p>
        </p:txBody>
      </p:sp>
      <p:sp>
        <p:nvSpPr>
          <p:cNvPr id="3" name="TextBox 2"/>
          <p:cNvSpPr txBox="1"/>
          <p:nvPr/>
        </p:nvSpPr>
        <p:spPr>
          <a:xfrm>
            <a:off x="548640" y="3383280"/>
            <a:ext cx="8778240" cy="548640"/>
          </a:xfrm>
          <a:prstGeom prst="rect">
            <a:avLst/>
          </a:prstGeom>
          <a:noFill/>
        </p:spPr>
        <p:txBody>
          <a:bodyPr wrap="none">
            <a:spAutoFit/>
          </a:bodyPr>
          <a:lstStyle/>
          <a:p>
            <a:pPr algn="ctr"/>
            <a:r>
              <a:rPr sz="2000" b="1">
                <a:solidFill>
                  <a:srgbClr val="333333"/>
                </a:solidFill>
                <a:latin typeface="メイリオ"/>
              </a:rPr>
              <a:t>株式会社クラフトマン 御中</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公式アカウントの取扱社数は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spTree>
    <p:extLst>
      <p:ext uri="{BB962C8B-B14F-4D97-AF65-F5344CB8AC3E}">
        <p14:creationId xmlns:p14="http://schemas.microsoft.com/office/powerpoint/2010/main" val="2814499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他</a:t>
            </a:r>
            <a:r>
              <a:rPr kumimoji="1" lang="en-US" altLang="ja-JP" sz="1000" b="1" dirty="0">
                <a:solidFill>
                  <a:schemeClr val="tx1"/>
                </a:solidFill>
                <a:latin typeface="メイリオ" panose="020B0604030504040204" pitchFamily="50" charset="-128"/>
                <a:ea typeface="メイリオ" panose="020B0604030504040204" pitchFamily="50" charset="-128"/>
              </a:rPr>
              <a:t>CRM</a:t>
            </a:r>
            <a:r>
              <a:rPr kumimoji="1" lang="ja-JP" altLang="en-US" sz="1000" b="1"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73664"/>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84166"/>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659089"/>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15948"/>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694453"/>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73664"/>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79400"/>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694711"/>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09164"/>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646331"/>
          </a:xfrm>
          <a:prstGeom prst="rect">
            <a:avLst/>
          </a:prstGeom>
          <a:noFill/>
        </p:spPr>
        <p:txBody>
          <a:bodyPr wrap="square">
            <a:spAutoFit/>
          </a:bodyPr>
          <a:lstStyle/>
          <a:p>
            <a:pPr algn="ct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285978"/>
            <a:ext cx="4311647" cy="461665"/>
          </a:xfrm>
          <a:prstGeom prst="rect">
            <a:avLst/>
          </a:prstGeom>
          <a:noFill/>
        </p:spPr>
        <p:txBody>
          <a:bodyPr wrap="square" anchor="ctr">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683522"/>
            <a:ext cx="9005456" cy="8694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600" b="1" dirty="0">
                <a:solidFill>
                  <a:schemeClr val="tx1"/>
                </a:solidFill>
                <a:latin typeface="メイリオ" panose="020B0604030504040204" pitchFamily="50" charset="-128"/>
                <a:ea typeface="メイリオ" panose="020B0604030504040204" pitchFamily="50" charset="-128"/>
              </a:rPr>
              <a:t>LINEOA</a:t>
            </a:r>
            <a:r>
              <a:rPr lang="ja-JP" altLang="en-US" sz="1600" b="1"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貴社社内運用部隊と連携して、一部業務の委託についてもご相談いただけます。</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rgbClr val="FF0000"/>
                </a:solidFill>
                <a:latin typeface="メイリオ" panose="020B0604030504040204" pitchFamily="50" charset="-128"/>
                <a:ea typeface="メイリオ" panose="020B0604030504040204" pitchFamily="50" charset="-128"/>
              </a:rPr>
              <a:t>※</a:t>
            </a:r>
            <a:r>
              <a:rPr lang="ja-JP" altLang="en-US" sz="1200" b="1"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600" b="1" dirty="0">
              <a:solidFill>
                <a:srgbClr val="FF0000"/>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420800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2"/>
          <a:srcRect t="757"/>
          <a:stretch/>
        </p:blipFill>
        <p:spPr>
          <a:xfrm>
            <a:off x="295976" y="1434465"/>
            <a:ext cx="9387073" cy="4996347"/>
          </a:xfrm>
          <a:prstGeom prst="rect">
            <a:avLst/>
          </a:prstGeom>
        </p:spPr>
      </p:pic>
      <p:sp>
        <p:nvSpPr>
          <p:cNvPr id="4" name="Google Shape;752;p28">
            <a:extLst>
              <a:ext uri="{FF2B5EF4-FFF2-40B4-BE49-F238E27FC236}">
                <a16:creationId xmlns:a16="http://schemas.microsoft.com/office/drawing/2014/main" id="{FDC206AF-704B-C667-AC7C-8A98250C47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弊社の強み</a:t>
            </a:r>
          </a:p>
        </p:txBody>
      </p:sp>
      <p:sp>
        <p:nvSpPr>
          <p:cNvPr id="7" name="正方形/長方形 6">
            <a:extLst>
              <a:ext uri="{FF2B5EF4-FFF2-40B4-BE49-F238E27FC236}">
                <a16:creationId xmlns:a16="http://schemas.microsoft.com/office/drawing/2014/main" id="{5B599DE5-990B-7CA4-B34C-8BC9D9739CAB}"/>
              </a:ext>
            </a:extLst>
          </p:cNvPr>
          <p:cNvSpPr/>
          <p:nvPr/>
        </p:nvSpPr>
        <p:spPr>
          <a:xfrm>
            <a:off x="486784" y="613850"/>
            <a:ext cx="9005456" cy="6777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プランニング</a:t>
            </a:r>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運用・クリエイティブを一気通貫で行うことで、成果にコミットしやすい体制。</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貴社としても窓口・依頼の工数を大きく削減しながらの施策スタートが可能です。</a:t>
            </a:r>
          </a:p>
        </p:txBody>
      </p:sp>
    </p:spTree>
    <p:extLst>
      <p:ext uri="{BB962C8B-B14F-4D97-AF65-F5344CB8AC3E}">
        <p14:creationId xmlns:p14="http://schemas.microsoft.com/office/powerpoint/2010/main" val="2911739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DYMによる想定施策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411480"/>
          </a:xfrm>
          <a:prstGeom prst="rect">
            <a:avLst/>
          </a:prstGeom>
          <a:noFill/>
        </p:spPr>
        <p:txBody>
          <a:bodyPr wrap="none">
            <a:spAutoFit/>
          </a:bodyPr>
          <a:lstStyle/>
          <a:p>
            <a:r>
              <a:rPr sz="2000" b="1">
                <a:solidFill>
                  <a:srgbClr val="002060"/>
                </a:solidFill>
                <a:latin typeface="メイリオ"/>
              </a:rPr>
              <a:t>現状の課題</a:t>
            </a:r>
          </a:p>
        </p:txBody>
      </p:sp>
      <p:sp>
        <p:nvSpPr>
          <p:cNvPr id="3" name="TextBox 2"/>
          <p:cNvSpPr txBox="1"/>
          <p:nvPr/>
        </p:nvSpPr>
        <p:spPr>
          <a:xfrm>
            <a:off x="548640" y="658368"/>
            <a:ext cx="8778240" cy="548640"/>
          </a:xfrm>
          <a:prstGeom prst="rect">
            <a:avLst/>
          </a:prstGeom>
          <a:noFill/>
        </p:spPr>
        <p:txBody>
          <a:bodyPr wrap="square">
            <a:spAutoFit/>
          </a:bodyPr>
          <a:lstStyle/>
          <a:p>
            <a:r>
              <a:rPr sz="1400" b="1">
                <a:solidFill>
                  <a:srgbClr val="333333"/>
                </a:solidFill>
                <a:latin typeface="メイリオ"/>
              </a:rPr>
              <a:t>現状のLINE公式アカウントには3つの課題があり、応募単価改善（¥17,000→¥15,000目標）のボトルネックになっています。</a:t>
            </a:r>
          </a:p>
        </p:txBody>
      </p:sp>
      <p:sp>
        <p:nvSpPr>
          <p:cNvPr id="4" name="Rounded Rectangle 3"/>
          <p:cNvSpPr/>
          <p:nvPr/>
        </p:nvSpPr>
        <p:spPr>
          <a:xfrm>
            <a:off x="548640" y="1463040"/>
            <a:ext cx="5715000" cy="1234440"/>
          </a:xfrm>
          <a:prstGeom prst="roundRect">
            <a:avLst/>
          </a:prstGeom>
          <a:solidFill>
            <a:srgbClr val="FDECEC"/>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C00000"/>
                </a:solidFill>
                <a:latin typeface="メイリオ"/>
              </a:rPr>
              <a:t>課題① 未認証アカウント</a:t>
            </a:r>
          </a:p>
          <a:p>
            <a:r>
              <a:rPr sz="1400">
                <a:solidFill>
                  <a:srgbClr val="333333"/>
                </a:solidFill>
                <a:latin typeface="メイリオ"/>
              </a:rPr>
              <a:t>「不審なアカウントには返信しない」が標準反応に。</a:t>
            </a:r>
          </a:p>
          <a:p>
            <a:r>
              <a:rPr sz="1400">
                <a:solidFill>
                  <a:srgbClr val="333333"/>
                </a:solidFill>
                <a:latin typeface="メイリオ"/>
              </a:rPr>
              <a:t>あいさつ配信への返信率を大きく下げている。</a:t>
            </a:r>
          </a:p>
        </p:txBody>
      </p:sp>
      <p:sp>
        <p:nvSpPr>
          <p:cNvPr id="5" name="Rounded Rectangle 4"/>
          <p:cNvSpPr/>
          <p:nvPr/>
        </p:nvSpPr>
        <p:spPr>
          <a:xfrm>
            <a:off x="548640" y="2880360"/>
            <a:ext cx="5715000" cy="1234440"/>
          </a:xfrm>
          <a:prstGeom prst="roundRect">
            <a:avLst/>
          </a:prstGeom>
          <a:solidFill>
            <a:srgbClr val="FDECEC"/>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C00000"/>
                </a:solidFill>
                <a:latin typeface="メイリオ"/>
              </a:rPr>
              <a:t>課題② 機能が使えていない</a:t>
            </a:r>
          </a:p>
          <a:p>
            <a:r>
              <a:rPr sz="1400">
                <a:solidFill>
                  <a:srgbClr val="333333"/>
                </a:solidFill>
                <a:latin typeface="メイリオ"/>
              </a:rPr>
              <a:t>未認証のため機能が制限され、リッチメニュー・</a:t>
            </a:r>
          </a:p>
          <a:p>
            <a:r>
              <a:rPr sz="1400">
                <a:solidFill>
                  <a:srgbClr val="333333"/>
                </a:solidFill>
                <a:latin typeface="メイリオ"/>
              </a:rPr>
              <a:t>絞り込み配信等、数値を伸ばす打ち手が塞がっている。</a:t>
            </a:r>
          </a:p>
        </p:txBody>
      </p:sp>
      <p:sp>
        <p:nvSpPr>
          <p:cNvPr id="6" name="Rounded Rectangle 5"/>
          <p:cNvSpPr/>
          <p:nvPr/>
        </p:nvSpPr>
        <p:spPr>
          <a:xfrm>
            <a:off x="548640" y="4297680"/>
            <a:ext cx="5715000" cy="1234440"/>
          </a:xfrm>
          <a:prstGeom prst="roundRect">
            <a:avLst/>
          </a:prstGeom>
          <a:solidFill>
            <a:srgbClr val="FDECEC"/>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C00000"/>
                </a:solidFill>
                <a:latin typeface="メイリオ"/>
              </a:rPr>
              <a:t>課題③ メッセージ設計が未整備</a:t>
            </a:r>
          </a:p>
          <a:p>
            <a:r>
              <a:rPr sz="1400">
                <a:solidFill>
                  <a:srgbClr val="333333"/>
                </a:solidFill>
                <a:latin typeface="メイリオ"/>
              </a:rPr>
              <a:t>追加直後に個人情報5項目を一括要求。以降は土日を</a:t>
            </a:r>
          </a:p>
          <a:p>
            <a:r>
              <a:rPr sz="1400">
                <a:solidFill>
                  <a:srgbClr val="333333"/>
                </a:solidFill>
                <a:latin typeface="メイリオ"/>
              </a:rPr>
              <a:t>挟み4日以上無配信＝追客が存在しない。</a:t>
            </a:r>
          </a:p>
        </p:txBody>
      </p:sp>
      <p:pic>
        <p:nvPicPr>
          <p:cNvPr id="7" name="Picture 6" descr="nyuryo_crop.png"/>
          <p:cNvPicPr>
            <a:picLocks noChangeAspect="1"/>
          </p:cNvPicPr>
          <p:nvPr/>
        </p:nvPicPr>
        <p:blipFill>
          <a:blip r:embed="rId3"/>
          <a:stretch>
            <a:fillRect/>
          </a:stretch>
        </p:blipFill>
        <p:spPr>
          <a:xfrm>
            <a:off x="6895506" y="1463040"/>
            <a:ext cx="2028108" cy="4069080"/>
          </a:xfrm>
          <a:prstGeom prst="rect">
            <a:avLst/>
          </a:prstGeom>
        </p:spPr>
      </p:pic>
      <p:sp>
        <p:nvSpPr>
          <p:cNvPr id="8" name="TextBox 7"/>
          <p:cNvSpPr txBox="1"/>
          <p:nvPr/>
        </p:nvSpPr>
        <p:spPr>
          <a:xfrm>
            <a:off x="6446520" y="5577840"/>
            <a:ext cx="2926080" cy="274320"/>
          </a:xfrm>
          <a:prstGeom prst="rect">
            <a:avLst/>
          </a:prstGeom>
          <a:noFill/>
        </p:spPr>
        <p:txBody>
          <a:bodyPr wrap="none">
            <a:spAutoFit/>
          </a:bodyPr>
          <a:lstStyle/>
          <a:p>
            <a:pPr algn="ctr"/>
            <a:r>
              <a:rPr sz="1100" b="1">
                <a:solidFill>
                  <a:srgbClr val="C00000"/>
                </a:solidFill>
                <a:latin typeface="メイリオ"/>
              </a:rPr>
              <a:t>▲ 現状のあいさつ配信（未認証）</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411480"/>
          </a:xfrm>
          <a:prstGeom prst="rect">
            <a:avLst/>
          </a:prstGeom>
          <a:noFill/>
        </p:spPr>
        <p:txBody>
          <a:bodyPr wrap="none">
            <a:spAutoFit/>
          </a:bodyPr>
          <a:lstStyle/>
          <a:p>
            <a:r>
              <a:rPr sz="2000" b="1">
                <a:solidFill>
                  <a:srgbClr val="002060"/>
                </a:solidFill>
                <a:latin typeface="メイリオ"/>
              </a:rPr>
              <a:t>解決の方向性</a:t>
            </a:r>
          </a:p>
        </p:txBody>
      </p:sp>
      <p:sp>
        <p:nvSpPr>
          <p:cNvPr id="3" name="TextBox 2"/>
          <p:cNvSpPr txBox="1"/>
          <p:nvPr/>
        </p:nvSpPr>
        <p:spPr>
          <a:xfrm>
            <a:off x="548640" y="658368"/>
            <a:ext cx="8778240" cy="548640"/>
          </a:xfrm>
          <a:prstGeom prst="rect">
            <a:avLst/>
          </a:prstGeom>
          <a:noFill/>
        </p:spPr>
        <p:txBody>
          <a:bodyPr wrap="square">
            <a:spAutoFit/>
          </a:bodyPr>
          <a:lstStyle/>
          <a:p>
            <a:r>
              <a:rPr sz="1400" b="1">
                <a:solidFill>
                  <a:srgbClr val="333333"/>
                </a:solidFill>
                <a:latin typeface="メイリオ"/>
              </a:rPr>
              <a:t>3つの課題それぞれに打ち手を対応させ、LINE経由の応募を月17〜22件まで積み上げます。</a:t>
            </a:r>
          </a:p>
        </p:txBody>
      </p:sp>
      <p:sp>
        <p:nvSpPr>
          <p:cNvPr id="4" name="Rounded Rectangle 3"/>
          <p:cNvSpPr/>
          <p:nvPr/>
        </p:nvSpPr>
        <p:spPr>
          <a:xfrm>
            <a:off x="548640" y="1417320"/>
            <a:ext cx="2377440" cy="1051560"/>
          </a:xfrm>
          <a:prstGeom prst="roundRect">
            <a:avLst/>
          </a:prstGeom>
          <a:solidFill>
            <a:srgbClr val="FDECEC"/>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C00000"/>
                </a:solidFill>
                <a:latin typeface="メイリオ"/>
              </a:rPr>
              <a:t>課題①</a:t>
            </a:r>
          </a:p>
          <a:p>
            <a:pPr algn="ctr"/>
            <a:r>
              <a:rPr sz="1500" b="1">
                <a:solidFill>
                  <a:srgbClr val="C00000"/>
                </a:solidFill>
                <a:latin typeface="メイリオ"/>
              </a:rPr>
              <a:t>未認証で不審</a:t>
            </a:r>
          </a:p>
        </p:txBody>
      </p:sp>
      <p:sp>
        <p:nvSpPr>
          <p:cNvPr id="5" name="Right Arrow 4"/>
          <p:cNvSpPr/>
          <p:nvPr/>
        </p:nvSpPr>
        <p:spPr>
          <a:xfrm>
            <a:off x="3035808" y="1746504"/>
            <a:ext cx="475488" cy="402336"/>
          </a:xfrm>
          <a:prstGeom prst="rightArrow">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11880" y="1417320"/>
            <a:ext cx="5715000" cy="1051560"/>
          </a:xfrm>
          <a:prstGeom prst="roundRect">
            <a:avLst/>
          </a:prstGeom>
          <a:solidFill>
            <a:srgbClr val="EAF0FA"/>
          </a:solidFill>
          <a:ln w="15875">
            <a:solidFill>
              <a:srgbClr val="1F285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1F285A"/>
                </a:solidFill>
                <a:latin typeface="メイリオ"/>
              </a:rPr>
              <a:t>① 認証取得サポート</a:t>
            </a:r>
          </a:p>
          <a:p>
            <a:r>
              <a:rPr sz="1400">
                <a:solidFill>
                  <a:srgbClr val="333333"/>
                </a:solidFill>
                <a:latin typeface="メイリオ"/>
              </a:rPr>
              <a:t>商流変更のうえ弊社で申請し、認証バッジを取得。</a:t>
            </a:r>
          </a:p>
          <a:p>
            <a:r>
              <a:rPr sz="1400">
                <a:solidFill>
                  <a:srgbClr val="333333"/>
                </a:solidFill>
                <a:latin typeface="メイリオ"/>
              </a:rPr>
              <a:t>「不審」の入口問題を解消。</a:t>
            </a:r>
          </a:p>
        </p:txBody>
      </p:sp>
      <p:sp>
        <p:nvSpPr>
          <p:cNvPr id="7" name="Rounded Rectangle 6"/>
          <p:cNvSpPr/>
          <p:nvPr/>
        </p:nvSpPr>
        <p:spPr>
          <a:xfrm>
            <a:off x="548640" y="2624328"/>
            <a:ext cx="2377440" cy="1051560"/>
          </a:xfrm>
          <a:prstGeom prst="roundRect">
            <a:avLst/>
          </a:prstGeom>
          <a:solidFill>
            <a:srgbClr val="FDECEC"/>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C00000"/>
                </a:solidFill>
                <a:latin typeface="メイリオ"/>
              </a:rPr>
              <a:t>課題②</a:t>
            </a:r>
          </a:p>
          <a:p>
            <a:pPr algn="ctr"/>
            <a:r>
              <a:rPr sz="1500" b="1">
                <a:solidFill>
                  <a:srgbClr val="C00000"/>
                </a:solidFill>
                <a:latin typeface="メイリオ"/>
              </a:rPr>
              <a:t>機能が制限</a:t>
            </a:r>
          </a:p>
        </p:txBody>
      </p:sp>
      <p:sp>
        <p:nvSpPr>
          <p:cNvPr id="8" name="Right Arrow 7"/>
          <p:cNvSpPr/>
          <p:nvPr/>
        </p:nvSpPr>
        <p:spPr>
          <a:xfrm>
            <a:off x="3035808" y="2953512"/>
            <a:ext cx="475488" cy="402336"/>
          </a:xfrm>
          <a:prstGeom prst="rightArrow">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11880" y="2624328"/>
            <a:ext cx="5715000" cy="1051560"/>
          </a:xfrm>
          <a:prstGeom prst="roundRect">
            <a:avLst/>
          </a:prstGeom>
          <a:solidFill>
            <a:srgbClr val="EAF0FA"/>
          </a:solidFill>
          <a:ln w="15875">
            <a:solidFill>
              <a:srgbClr val="1F285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1F285A"/>
                </a:solidFill>
                <a:latin typeface="メイリオ"/>
              </a:rPr>
              <a:t>② 参考アカウント提示</a:t>
            </a:r>
          </a:p>
          <a:p>
            <a:r>
              <a:rPr sz="1400">
                <a:solidFill>
                  <a:srgbClr val="333333"/>
                </a:solidFill>
                <a:latin typeface="メイリオ"/>
              </a:rPr>
              <a:t>人材業界の運用例（ツナグバ）を提示し、</a:t>
            </a:r>
          </a:p>
          <a:p>
            <a:r>
              <a:rPr sz="1400">
                <a:solidFill>
                  <a:srgbClr val="333333"/>
                </a:solidFill>
                <a:latin typeface="メイリオ"/>
              </a:rPr>
              <a:t>認証後に使える機能を実物で確認。</a:t>
            </a:r>
          </a:p>
        </p:txBody>
      </p:sp>
      <p:sp>
        <p:nvSpPr>
          <p:cNvPr id="10" name="Rounded Rectangle 9"/>
          <p:cNvSpPr/>
          <p:nvPr/>
        </p:nvSpPr>
        <p:spPr>
          <a:xfrm>
            <a:off x="548640" y="3831336"/>
            <a:ext cx="2377440" cy="1051560"/>
          </a:xfrm>
          <a:prstGeom prst="roundRect">
            <a:avLst/>
          </a:prstGeom>
          <a:solidFill>
            <a:srgbClr val="FDECEC"/>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C00000"/>
                </a:solidFill>
                <a:latin typeface="メイリオ"/>
              </a:rPr>
              <a:t>課題③</a:t>
            </a:r>
          </a:p>
          <a:p>
            <a:pPr algn="ctr"/>
            <a:r>
              <a:rPr sz="1500" b="1">
                <a:solidFill>
                  <a:srgbClr val="C00000"/>
                </a:solidFill>
                <a:latin typeface="メイリオ"/>
              </a:rPr>
              <a:t>メッセ設計未整備</a:t>
            </a:r>
          </a:p>
        </p:txBody>
      </p:sp>
      <p:sp>
        <p:nvSpPr>
          <p:cNvPr id="11" name="Right Arrow 10"/>
          <p:cNvSpPr/>
          <p:nvPr/>
        </p:nvSpPr>
        <p:spPr>
          <a:xfrm>
            <a:off x="3035808" y="4160520"/>
            <a:ext cx="475488" cy="402336"/>
          </a:xfrm>
          <a:prstGeom prst="rightArrow">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11880" y="3831336"/>
            <a:ext cx="5715000" cy="1051560"/>
          </a:xfrm>
          <a:prstGeom prst="roundRect">
            <a:avLst/>
          </a:prstGeom>
          <a:solidFill>
            <a:srgbClr val="EAF0FA"/>
          </a:solidFill>
          <a:ln w="15875">
            <a:solidFill>
              <a:srgbClr val="1F285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1F285A"/>
                </a:solidFill>
                <a:latin typeface="メイリオ"/>
              </a:rPr>
              <a:t>③ メッセージ構築</a:t>
            </a:r>
          </a:p>
          <a:p>
            <a:r>
              <a:rPr sz="1400">
                <a:solidFill>
                  <a:srgbClr val="333333"/>
                </a:solidFill>
                <a:latin typeface="メイリオ"/>
              </a:rPr>
              <a:t>アンケート起点のステップ配信を新設計。</a:t>
            </a:r>
          </a:p>
          <a:p>
            <a:r>
              <a:rPr sz="1400">
                <a:solidFill>
                  <a:srgbClr val="333333"/>
                </a:solidFill>
                <a:latin typeface="メイリオ"/>
              </a:rPr>
              <a:t>before/afterを次頁で提示。</a:t>
            </a:r>
          </a:p>
        </p:txBody>
      </p:sp>
      <p:graphicFrame>
        <p:nvGraphicFramePr>
          <p:cNvPr id="13" name="Table 12"/>
          <p:cNvGraphicFramePr>
            <a:graphicFrameLocks noGrp="1"/>
          </p:cNvGraphicFramePr>
          <p:nvPr/>
        </p:nvGraphicFramePr>
        <p:xfrm>
          <a:off x="1280160" y="5120640"/>
          <a:ext cx="7223760" cy="1097280"/>
        </p:xfrm>
        <a:graphic>
          <a:graphicData uri="http://schemas.openxmlformats.org/drawingml/2006/table">
            <a:tbl>
              <a:tblPr firstRow="1" bandRow="1">
                <a:tableStyleId>{5C22544A-7EE6-4342-B048-85BDC9FD1C3A}</a:tableStyleId>
              </a:tblPr>
              <a:tblGrid>
                <a:gridCol w="1805940"/>
                <a:gridCol w="1805940"/>
                <a:gridCol w="1805940"/>
                <a:gridCol w="1805940"/>
              </a:tblGrid>
              <a:tr h="365760">
                <a:tc>
                  <a:txBody>
                    <a:bodyPr/>
                    <a:lstStyle/>
                    <a:p>
                      <a:pPr algn="ctr"/>
                      <a:r>
                        <a:rPr sz="1400" b="1">
                          <a:solidFill>
                            <a:srgbClr val="FFFFFF"/>
                          </a:solidFill>
                          <a:latin typeface="メイリオ"/>
                        </a:rPr>
                        <a:t/>
                      </a:r>
                    </a:p>
                  </a:txBody>
                  <a:tcPr anchor="ctr">
                    <a:solidFill>
                      <a:srgbClr val="1F285A"/>
                    </a:solidFill>
                  </a:tcPr>
                </a:tc>
                <a:tc>
                  <a:txBody>
                    <a:bodyPr/>
                    <a:lstStyle/>
                    <a:p>
                      <a:pPr algn="ctr"/>
                      <a:r>
                        <a:rPr sz="1400" b="1">
                          <a:solidFill>
                            <a:srgbClr val="FFFFFF"/>
                          </a:solidFill>
                          <a:latin typeface="メイリオ"/>
                        </a:rPr>
                        <a:t>応募単価</a:t>
                      </a:r>
                    </a:p>
                  </a:txBody>
                  <a:tcPr anchor="ctr">
                    <a:solidFill>
                      <a:srgbClr val="1F285A"/>
                    </a:solidFill>
                  </a:tcPr>
                </a:tc>
                <a:tc>
                  <a:txBody>
                    <a:bodyPr/>
                    <a:lstStyle/>
                    <a:p>
                      <a:pPr algn="ctr"/>
                      <a:r>
                        <a:rPr sz="1400" b="1">
                          <a:solidFill>
                            <a:srgbClr val="FFFFFF"/>
                          </a:solidFill>
                          <a:latin typeface="メイリオ"/>
                        </a:rPr>
                        <a:t>着座単価</a:t>
                      </a:r>
                    </a:p>
                  </a:txBody>
                  <a:tcPr anchor="ctr">
                    <a:solidFill>
                      <a:srgbClr val="1F285A"/>
                    </a:solidFill>
                  </a:tcPr>
                </a:tc>
                <a:tc>
                  <a:txBody>
                    <a:bodyPr/>
                    <a:lstStyle/>
                    <a:p>
                      <a:pPr algn="ctr"/>
                      <a:r>
                        <a:rPr sz="1400" b="1">
                          <a:solidFill>
                            <a:srgbClr val="FFFFFF"/>
                          </a:solidFill>
                          <a:latin typeface="メイリオ"/>
                        </a:rPr>
                        <a:t>決定単価</a:t>
                      </a:r>
                    </a:p>
                  </a:txBody>
                  <a:tcPr anchor="ctr">
                    <a:solidFill>
                      <a:srgbClr val="1F285A"/>
                    </a:solidFill>
                  </a:tcPr>
                </a:tc>
              </a:tr>
              <a:tr h="365760">
                <a:tc>
                  <a:txBody>
                    <a:bodyPr/>
                    <a:lstStyle/>
                    <a:p>
                      <a:pPr algn="ctr"/>
                      <a:r>
                        <a:rPr sz="1400" b="1">
                          <a:solidFill>
                            <a:srgbClr val="333333"/>
                          </a:solidFill>
                          <a:latin typeface="メイリオ"/>
                        </a:rPr>
                        <a:t>現状</a:t>
                      </a:r>
                    </a:p>
                  </a:txBody>
                  <a:tcPr anchor="ctr">
                    <a:solidFill>
                      <a:srgbClr val="FFFFFF"/>
                    </a:solidFill>
                  </a:tcPr>
                </a:tc>
                <a:tc>
                  <a:txBody>
                    <a:bodyPr/>
                    <a:lstStyle/>
                    <a:p>
                      <a:pPr algn="ctr"/>
                      <a:r>
                        <a:rPr sz="1400" b="0">
                          <a:solidFill>
                            <a:srgbClr val="333333"/>
                          </a:solidFill>
                          <a:latin typeface="メイリオ"/>
                        </a:rPr>
                        <a:t>¥17,000</a:t>
                      </a:r>
                    </a:p>
                  </a:txBody>
                  <a:tcPr anchor="ctr">
                    <a:solidFill>
                      <a:srgbClr val="FFFFFF"/>
                    </a:solidFill>
                  </a:tcPr>
                </a:tc>
                <a:tc>
                  <a:txBody>
                    <a:bodyPr/>
                    <a:lstStyle/>
                    <a:p>
                      <a:pPr algn="ctr"/>
                      <a:r>
                        <a:rPr sz="1400" b="0">
                          <a:solidFill>
                            <a:srgbClr val="333333"/>
                          </a:solidFill>
                          <a:latin typeface="メイリオ"/>
                        </a:rPr>
                        <a:t>¥51,000</a:t>
                      </a:r>
                    </a:p>
                  </a:txBody>
                  <a:tcPr anchor="ctr">
                    <a:solidFill>
                      <a:srgbClr val="FFFFFF"/>
                    </a:solidFill>
                  </a:tcPr>
                </a:tc>
                <a:tc>
                  <a:txBody>
                    <a:bodyPr/>
                    <a:lstStyle/>
                    <a:p>
                      <a:pPr algn="ctr"/>
                      <a:r>
                        <a:rPr sz="1400" b="0">
                          <a:solidFill>
                            <a:srgbClr val="333333"/>
                          </a:solidFill>
                          <a:latin typeface="メイリオ"/>
                        </a:rPr>
                        <a:t>¥170,000</a:t>
                      </a:r>
                    </a:p>
                  </a:txBody>
                  <a:tcPr anchor="ctr">
                    <a:solidFill>
                      <a:srgbClr val="FFFFFF"/>
                    </a:solidFill>
                  </a:tcPr>
                </a:tc>
              </a:tr>
              <a:tr h="365760">
                <a:tc>
                  <a:txBody>
                    <a:bodyPr/>
                    <a:lstStyle/>
                    <a:p>
                      <a:pPr algn="ctr"/>
                      <a:r>
                        <a:rPr sz="1400" b="1">
                          <a:solidFill>
                            <a:srgbClr val="333333"/>
                          </a:solidFill>
                          <a:latin typeface="メイリオ"/>
                        </a:rPr>
                        <a:t>改善後（目標）</a:t>
                      </a:r>
                    </a:p>
                  </a:txBody>
                  <a:tcPr anchor="ctr">
                    <a:solidFill>
                      <a:srgbClr val="EAF0FA"/>
                    </a:solidFill>
                  </a:tcPr>
                </a:tc>
                <a:tc>
                  <a:txBody>
                    <a:bodyPr/>
                    <a:lstStyle/>
                    <a:p>
                      <a:pPr algn="ctr"/>
                      <a:r>
                        <a:rPr sz="1400" b="1">
                          <a:solidFill>
                            <a:srgbClr val="C00000"/>
                          </a:solidFill>
                          <a:latin typeface="メイリオ"/>
                        </a:rPr>
                        <a:t>¥14,000</a:t>
                      </a:r>
                    </a:p>
                  </a:txBody>
                  <a:tcPr anchor="ctr">
                    <a:solidFill>
                      <a:srgbClr val="EAF0FA"/>
                    </a:solidFill>
                  </a:tcPr>
                </a:tc>
                <a:tc>
                  <a:txBody>
                    <a:bodyPr/>
                    <a:lstStyle/>
                    <a:p>
                      <a:pPr algn="ctr"/>
                      <a:r>
                        <a:rPr sz="1400" b="1">
                          <a:solidFill>
                            <a:srgbClr val="C00000"/>
                          </a:solidFill>
                          <a:latin typeface="メイリオ"/>
                        </a:rPr>
                        <a:t>¥42,000</a:t>
                      </a:r>
                    </a:p>
                  </a:txBody>
                  <a:tcPr anchor="ctr">
                    <a:solidFill>
                      <a:srgbClr val="EAF0FA"/>
                    </a:solidFill>
                  </a:tcPr>
                </a:tc>
                <a:tc>
                  <a:txBody>
                    <a:bodyPr/>
                    <a:lstStyle/>
                    <a:p>
                      <a:pPr algn="ctr"/>
                      <a:r>
                        <a:rPr sz="1400" b="1">
                          <a:solidFill>
                            <a:srgbClr val="C00000"/>
                          </a:solidFill>
                          <a:latin typeface="メイリオ"/>
                        </a:rPr>
                        <a:t>¥140,000</a:t>
                      </a:r>
                    </a:p>
                  </a:txBody>
                  <a:tcPr anchor="ctr">
                    <a:solidFill>
                      <a:srgbClr val="EAF0FA"/>
                    </a:solidFill>
                  </a:tcPr>
                </a:tc>
              </a:tr>
            </a:tbl>
          </a:graphicData>
        </a:graphic>
      </p:graphicFrame>
      <p:sp>
        <p:nvSpPr>
          <p:cNvPr id="14" name="TextBox 13"/>
          <p:cNvSpPr txBox="1"/>
          <p:nvPr/>
        </p:nvSpPr>
        <p:spPr>
          <a:xfrm>
            <a:off x="1280160" y="6263640"/>
            <a:ext cx="7223760" cy="274320"/>
          </a:xfrm>
          <a:prstGeom prst="rect">
            <a:avLst/>
          </a:prstGeom>
          <a:noFill/>
        </p:spPr>
        <p:txBody>
          <a:bodyPr wrap="none">
            <a:spAutoFit/>
          </a:bodyPr>
          <a:lstStyle/>
          <a:p>
            <a:r>
              <a:rPr sz="1000">
                <a:solidFill>
                  <a:srgbClr val="333333"/>
                </a:solidFill>
                <a:latin typeface="メイリオ"/>
              </a:rPr>
              <a:t>※広告改善と合わせた全体目標。仮説値のためAD側SIM確定後に再計算します。</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365760"/>
          </a:xfrm>
          <a:prstGeom prst="rect">
            <a:avLst/>
          </a:prstGeom>
          <a:noFill/>
        </p:spPr>
        <p:txBody>
          <a:bodyPr wrap="none">
            <a:spAutoFit/>
          </a:bodyPr>
          <a:lstStyle/>
          <a:p>
            <a:r>
              <a:rPr sz="2000" b="1">
                <a:solidFill>
                  <a:srgbClr val="002060"/>
                </a:solidFill>
                <a:latin typeface="メイリオ"/>
              </a:rPr>
              <a:t>施策① メッセージ設計 Before / After</a:t>
            </a:r>
          </a:p>
        </p:txBody>
      </p:sp>
      <p:sp>
        <p:nvSpPr>
          <p:cNvPr id="3" name="TextBox 2"/>
          <p:cNvSpPr txBox="1"/>
          <p:nvPr/>
        </p:nvSpPr>
        <p:spPr>
          <a:xfrm>
            <a:off x="548640" y="640080"/>
            <a:ext cx="8778240" cy="502920"/>
          </a:xfrm>
          <a:prstGeom prst="rect">
            <a:avLst/>
          </a:prstGeom>
          <a:noFill/>
        </p:spPr>
        <p:txBody>
          <a:bodyPr wrap="square">
            <a:spAutoFit/>
          </a:bodyPr>
          <a:lstStyle/>
          <a:p>
            <a:r>
              <a:rPr sz="1400" b="1">
                <a:solidFill>
                  <a:srgbClr val="333333"/>
                </a:solidFill>
                <a:latin typeface="メイリオ"/>
              </a:rPr>
              <a:t>「先に個人情報を聞く」から「先に価値を渡す」へ。同じ5項目でも、順番を変えるだけで返信ハードルが逆転します。</a:t>
            </a:r>
          </a:p>
        </p:txBody>
      </p:sp>
      <p:sp>
        <p:nvSpPr>
          <p:cNvPr id="4" name="Rounded Rectangle 3"/>
          <p:cNvSpPr/>
          <p:nvPr/>
        </p:nvSpPr>
        <p:spPr>
          <a:xfrm>
            <a:off x="548640" y="1280160"/>
            <a:ext cx="4206240" cy="1371600"/>
          </a:xfrm>
          <a:prstGeom prst="roundRect">
            <a:avLst/>
          </a:prstGeom>
          <a:solidFill>
            <a:srgbClr val="FDECEC"/>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wrap="square" tIns="54864" rtlCol="0" anchor="t"/>
          <a:lstStyle/>
          <a:p>
            <a:pPr algn="ctr"/>
            <a:r>
              <a:rPr sz="1400" b="1">
                <a:solidFill>
                  <a:srgbClr val="C00000"/>
                </a:solidFill>
                <a:latin typeface="メイリオ"/>
              </a:rPr>
              <a:t>Before（現状）</a:t>
            </a:r>
          </a:p>
          <a:p>
            <a:r>
              <a:rPr sz="1400">
                <a:solidFill>
                  <a:srgbClr val="333333"/>
                </a:solidFill>
                <a:latin typeface="メイリオ"/>
              </a:rPr>
              <a:t>あいさつ → 即・個人情報5項目（自由入力）→ 以降4日以上無配信。見返りゼロで要求し、追客なし。</a:t>
            </a:r>
          </a:p>
        </p:txBody>
      </p:sp>
      <p:sp>
        <p:nvSpPr>
          <p:cNvPr id="5" name="Rounded Rectangle 4"/>
          <p:cNvSpPr/>
          <p:nvPr/>
        </p:nvSpPr>
        <p:spPr>
          <a:xfrm>
            <a:off x="5074920" y="1280160"/>
            <a:ext cx="4206240" cy="1371600"/>
          </a:xfrm>
          <a:prstGeom prst="roundRect">
            <a:avLst/>
          </a:prstGeom>
          <a:solidFill>
            <a:srgbClr val="EAF0FA"/>
          </a:solidFill>
          <a:ln w="15875">
            <a:solidFill>
              <a:srgbClr val="1F285A"/>
            </a:solidFill>
          </a:ln>
        </p:spPr>
        <p:style>
          <a:lnRef idx="1">
            <a:schemeClr val="accent1"/>
          </a:lnRef>
          <a:fillRef idx="3">
            <a:schemeClr val="accent1"/>
          </a:fillRef>
          <a:effectRef idx="2">
            <a:schemeClr val="accent1"/>
          </a:effectRef>
          <a:fontRef idx="minor">
            <a:schemeClr val="lt1"/>
          </a:fontRef>
        </p:style>
        <p:txBody>
          <a:bodyPr wrap="square" tIns="54864" rtlCol="0" anchor="t"/>
          <a:lstStyle/>
          <a:p>
            <a:pPr algn="ctr"/>
            <a:r>
              <a:rPr sz="1400" b="1">
                <a:solidFill>
                  <a:srgbClr val="1F285A"/>
                </a:solidFill>
                <a:latin typeface="メイリオ"/>
              </a:rPr>
              <a:t>After（改善後）</a:t>
            </a:r>
          </a:p>
          <a:p>
            <a:r>
              <a:rPr sz="1400">
                <a:solidFill>
                  <a:srgbClr val="333333"/>
                </a:solidFill>
                <a:latin typeface="メイリオ"/>
              </a:rPr>
              <a:t>できること✅リスト＋診断へ誘導（特典つき）→ ボタン診断 → 祝金額＋求人提示 → 最後に登録情報 → 14日間の自動追客。</a:t>
            </a:r>
          </a:p>
        </p:txBody>
      </p:sp>
      <p:pic>
        <p:nvPicPr>
          <p:cNvPr id="6" name="Picture 5" descr="IMG_0249.jpg"/>
          <p:cNvPicPr>
            <a:picLocks noChangeAspect="1"/>
          </p:cNvPicPr>
          <p:nvPr/>
        </p:nvPicPr>
        <p:blipFill>
          <a:blip r:embed="rId2"/>
          <a:stretch>
            <a:fillRect/>
          </a:stretch>
        </p:blipFill>
        <p:spPr>
          <a:xfrm>
            <a:off x="1954843" y="2788920"/>
            <a:ext cx="1393834" cy="3017520"/>
          </a:xfrm>
          <a:prstGeom prst="rect">
            <a:avLst/>
          </a:prstGeom>
        </p:spPr>
      </p:pic>
      <p:pic>
        <p:nvPicPr>
          <p:cNvPr id="7" name="Picture 6" descr="IMG_0256.jpg"/>
          <p:cNvPicPr>
            <a:picLocks noChangeAspect="1"/>
          </p:cNvPicPr>
          <p:nvPr/>
        </p:nvPicPr>
        <p:blipFill>
          <a:blip r:embed="rId3"/>
          <a:stretch>
            <a:fillRect/>
          </a:stretch>
        </p:blipFill>
        <p:spPr>
          <a:xfrm>
            <a:off x="6481123" y="2788920"/>
            <a:ext cx="1393834" cy="30175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365760"/>
          </a:xfrm>
          <a:prstGeom prst="rect">
            <a:avLst/>
          </a:prstGeom>
          <a:noFill/>
        </p:spPr>
        <p:txBody>
          <a:bodyPr wrap="none">
            <a:spAutoFit/>
          </a:bodyPr>
          <a:lstStyle/>
          <a:p>
            <a:r>
              <a:rPr sz="2000" b="1">
                <a:solidFill>
                  <a:srgbClr val="002060"/>
                </a:solidFill>
                <a:latin typeface="メイリオ"/>
              </a:rPr>
              <a:t>参考：人材業界の運用例（ツナグバ）</a:t>
            </a:r>
          </a:p>
        </p:txBody>
      </p:sp>
      <p:sp>
        <p:nvSpPr>
          <p:cNvPr id="3" name="TextBox 2"/>
          <p:cNvSpPr txBox="1"/>
          <p:nvPr/>
        </p:nvSpPr>
        <p:spPr>
          <a:xfrm>
            <a:off x="548640" y="640080"/>
            <a:ext cx="8778240" cy="502920"/>
          </a:xfrm>
          <a:prstGeom prst="rect">
            <a:avLst/>
          </a:prstGeom>
          <a:noFill/>
        </p:spPr>
        <p:txBody>
          <a:bodyPr wrap="square">
            <a:spAutoFit/>
          </a:bodyPr>
          <a:lstStyle/>
          <a:p>
            <a:r>
              <a:rPr sz="1400" b="1">
                <a:solidFill>
                  <a:srgbClr val="333333"/>
                </a:solidFill>
                <a:latin typeface="メイリオ"/>
              </a:rPr>
              <a:t>認証済みアカウントで実現できる配信の実例です。診断コンテンツ・パーソナライズ配信・事例カードが、目指す姿になります。</a:t>
            </a:r>
          </a:p>
        </p:txBody>
      </p:sp>
      <p:pic>
        <p:nvPicPr>
          <p:cNvPr id="4" name="Picture 3" descr="0c1f4d51-f7d1-4112-a0fc-6e972ba73fd5.jpg"/>
          <p:cNvPicPr>
            <a:picLocks noChangeAspect="1"/>
          </p:cNvPicPr>
          <p:nvPr/>
        </p:nvPicPr>
        <p:blipFill>
          <a:blip r:embed="rId2"/>
          <a:stretch>
            <a:fillRect/>
          </a:stretch>
        </p:blipFill>
        <p:spPr>
          <a:xfrm>
            <a:off x="968157" y="1371600"/>
            <a:ext cx="1858446" cy="4023360"/>
          </a:xfrm>
          <a:prstGeom prst="rect">
            <a:avLst/>
          </a:prstGeom>
        </p:spPr>
      </p:pic>
      <p:sp>
        <p:nvSpPr>
          <p:cNvPr id="5" name="TextBox 4"/>
          <p:cNvSpPr txBox="1"/>
          <p:nvPr/>
        </p:nvSpPr>
        <p:spPr>
          <a:xfrm>
            <a:off x="548640" y="5440680"/>
            <a:ext cx="2697480" cy="320040"/>
          </a:xfrm>
          <a:prstGeom prst="rect">
            <a:avLst/>
          </a:prstGeom>
          <a:noFill/>
        </p:spPr>
        <p:txBody>
          <a:bodyPr wrap="none">
            <a:spAutoFit/>
          </a:bodyPr>
          <a:lstStyle/>
          <a:p>
            <a:pPr algn="ctr"/>
            <a:r>
              <a:rPr sz="1300" b="1">
                <a:solidFill>
                  <a:srgbClr val="1F285A"/>
                </a:solidFill>
                <a:latin typeface="メイリオ"/>
              </a:rPr>
              <a:t>① マッチ度診断への誘導配信</a:t>
            </a:r>
          </a:p>
        </p:txBody>
      </p:sp>
      <p:pic>
        <p:nvPicPr>
          <p:cNvPr id="6" name="Picture 5" descr="5d942e0a-4bc9-4f34-b0eb-b13ae690f562.jpg"/>
          <p:cNvPicPr>
            <a:picLocks noChangeAspect="1"/>
          </p:cNvPicPr>
          <p:nvPr/>
        </p:nvPicPr>
        <p:blipFill>
          <a:blip r:embed="rId3"/>
          <a:stretch>
            <a:fillRect/>
          </a:stretch>
        </p:blipFill>
        <p:spPr>
          <a:xfrm>
            <a:off x="3848517" y="1371600"/>
            <a:ext cx="1858446" cy="4023360"/>
          </a:xfrm>
          <a:prstGeom prst="rect">
            <a:avLst/>
          </a:prstGeom>
        </p:spPr>
      </p:pic>
      <p:sp>
        <p:nvSpPr>
          <p:cNvPr id="7" name="TextBox 6"/>
          <p:cNvSpPr txBox="1"/>
          <p:nvPr/>
        </p:nvSpPr>
        <p:spPr>
          <a:xfrm>
            <a:off x="3429000" y="5440680"/>
            <a:ext cx="2697480" cy="320040"/>
          </a:xfrm>
          <a:prstGeom prst="rect">
            <a:avLst/>
          </a:prstGeom>
          <a:noFill/>
        </p:spPr>
        <p:txBody>
          <a:bodyPr wrap="none">
            <a:spAutoFit/>
          </a:bodyPr>
          <a:lstStyle/>
          <a:p>
            <a:pPr algn="ctr"/>
            <a:r>
              <a:rPr sz="1300" b="1">
                <a:solidFill>
                  <a:srgbClr val="1F285A"/>
                </a:solidFill>
                <a:latin typeface="メイリオ"/>
              </a:rPr>
              <a:t>② 診断カード（リッチメッセージ）</a:t>
            </a:r>
          </a:p>
        </p:txBody>
      </p:sp>
      <p:pic>
        <p:nvPicPr>
          <p:cNvPr id="8" name="Picture 7" descr="e435654c-90ad-4653-8c1b-58ad2c2b6dc1.jpg"/>
          <p:cNvPicPr>
            <a:picLocks noChangeAspect="1"/>
          </p:cNvPicPr>
          <p:nvPr/>
        </p:nvPicPr>
        <p:blipFill>
          <a:blip r:embed="rId4"/>
          <a:stretch>
            <a:fillRect/>
          </a:stretch>
        </p:blipFill>
        <p:spPr>
          <a:xfrm>
            <a:off x="6728877" y="1371600"/>
            <a:ext cx="1858446" cy="4023360"/>
          </a:xfrm>
          <a:prstGeom prst="rect">
            <a:avLst/>
          </a:prstGeom>
        </p:spPr>
      </p:pic>
      <p:sp>
        <p:nvSpPr>
          <p:cNvPr id="9" name="TextBox 8"/>
          <p:cNvSpPr txBox="1"/>
          <p:nvPr/>
        </p:nvSpPr>
        <p:spPr>
          <a:xfrm>
            <a:off x="6309360" y="5440680"/>
            <a:ext cx="2697480" cy="320040"/>
          </a:xfrm>
          <a:prstGeom prst="rect">
            <a:avLst/>
          </a:prstGeom>
          <a:noFill/>
        </p:spPr>
        <p:txBody>
          <a:bodyPr wrap="none">
            <a:spAutoFit/>
          </a:bodyPr>
          <a:lstStyle/>
          <a:p>
            <a:pPr algn="ctr"/>
            <a:r>
              <a:rPr sz="1300" b="1">
                <a:solidFill>
                  <a:srgbClr val="1F285A"/>
                </a:solidFill>
                <a:latin typeface="メイリオ"/>
              </a:rPr>
              <a:t>③ 年収アップ事例＋面談予約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365760"/>
          </a:xfrm>
          <a:prstGeom prst="rect">
            <a:avLst/>
          </a:prstGeom>
          <a:noFill/>
        </p:spPr>
        <p:txBody>
          <a:bodyPr wrap="none">
            <a:spAutoFit/>
          </a:bodyPr>
          <a:lstStyle/>
          <a:p>
            <a:r>
              <a:rPr sz="2000" b="1">
                <a:solidFill>
                  <a:srgbClr val="002060"/>
                </a:solidFill>
                <a:latin typeface="メイリオ"/>
              </a:rPr>
              <a:t>施策② アンケート設計</a:t>
            </a:r>
          </a:p>
        </p:txBody>
      </p:sp>
      <p:sp>
        <p:nvSpPr>
          <p:cNvPr id="3" name="TextBox 2"/>
          <p:cNvSpPr txBox="1"/>
          <p:nvPr/>
        </p:nvSpPr>
        <p:spPr>
          <a:xfrm>
            <a:off x="548640" y="621792"/>
            <a:ext cx="8778240" cy="457200"/>
          </a:xfrm>
          <a:prstGeom prst="rect">
            <a:avLst/>
          </a:prstGeom>
          <a:noFill/>
        </p:spPr>
        <p:txBody>
          <a:bodyPr wrap="square">
            <a:spAutoFit/>
          </a:bodyPr>
          <a:lstStyle/>
          <a:p>
            <a:r>
              <a:rPr sz="1400" b="1">
                <a:solidFill>
                  <a:srgbClr val="333333"/>
                </a:solidFill>
                <a:latin typeface="メイリオ"/>
              </a:rPr>
              <a:t>アンケート回答を促すことで、「アクションハードルを下げる」「希望条件・緊急度を把握する」ことが可能。</a:t>
            </a:r>
          </a:p>
        </p:txBody>
      </p:sp>
      <p:sp>
        <p:nvSpPr>
          <p:cNvPr id="4" name="Rectangle 3"/>
          <p:cNvSpPr/>
          <p:nvPr/>
        </p:nvSpPr>
        <p:spPr>
          <a:xfrm>
            <a:off x="548640" y="1170432"/>
            <a:ext cx="1600200" cy="310896"/>
          </a:xfrm>
          <a:prstGeom prst="rect">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latin typeface="メイリオ"/>
              </a:rPr>
              <a:t>友だち追加</a:t>
            </a:r>
          </a:p>
        </p:txBody>
      </p:sp>
      <p:sp>
        <p:nvSpPr>
          <p:cNvPr id="5" name="Rectangle 4"/>
          <p:cNvSpPr/>
          <p:nvPr/>
        </p:nvSpPr>
        <p:spPr>
          <a:xfrm>
            <a:off x="548640" y="1481328"/>
            <a:ext cx="1600200" cy="4160520"/>
          </a:xfrm>
          <a:prstGeom prst="rect">
            <a:avLst/>
          </a:prstGeom>
          <a:solidFill>
            <a:srgbClr val="FFFF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05840" y="1783080"/>
            <a:ext cx="685800" cy="685800"/>
          </a:xfrm>
          <a:prstGeom prst="ellipse">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メイリオ"/>
              </a:rPr>
              <a:t>LINE</a:t>
            </a:r>
          </a:p>
        </p:txBody>
      </p:sp>
      <p:sp>
        <p:nvSpPr>
          <p:cNvPr id="7" name="TextBox 6"/>
          <p:cNvSpPr txBox="1"/>
          <p:nvPr/>
        </p:nvSpPr>
        <p:spPr>
          <a:xfrm>
            <a:off x="548640" y="2514600"/>
            <a:ext cx="1600200" cy="274320"/>
          </a:xfrm>
          <a:prstGeom prst="rect">
            <a:avLst/>
          </a:prstGeom>
          <a:noFill/>
        </p:spPr>
        <p:txBody>
          <a:bodyPr wrap="square">
            <a:spAutoFit/>
          </a:bodyPr>
          <a:lstStyle/>
          <a:p>
            <a:pPr algn="ctr"/>
            <a:r>
              <a:rPr sz="1300" b="1">
                <a:solidFill>
                  <a:srgbClr val="333333"/>
                </a:solidFill>
                <a:latin typeface="メイリオ"/>
              </a:rPr>
              <a:t>友だち追加</a:t>
            </a:r>
          </a:p>
        </p:txBody>
      </p:sp>
      <p:sp>
        <p:nvSpPr>
          <p:cNvPr id="8" name="Down Arrow 7"/>
          <p:cNvSpPr/>
          <p:nvPr/>
        </p:nvSpPr>
        <p:spPr>
          <a:xfrm>
            <a:off x="1252728" y="2834640"/>
            <a:ext cx="201168" cy="411480"/>
          </a:xfrm>
          <a:prstGeom prst="downArrow">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 y="3337560"/>
            <a:ext cx="1380744" cy="1051560"/>
          </a:xfrm>
          <a:prstGeom prst="roundRect">
            <a:avLst/>
          </a:prstGeom>
          <a:solidFill>
            <a:srgbClr val="14172E"/>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750" b="1">
                <a:solidFill>
                  <a:srgbClr val="FFFFFF"/>
                </a:solidFill>
                <a:latin typeface="メイリオ"/>
              </a:rPr>
              <a:t>本日限定！</a:t>
            </a:r>
          </a:p>
          <a:p>
            <a:pPr algn="ctr"/>
            <a:r>
              <a:rPr sz="1300" b="1">
                <a:solidFill>
                  <a:srgbClr val="E8C25A"/>
                </a:solidFill>
                <a:latin typeface="メイリオ"/>
              </a:rPr>
              <a:t>入社祝金
最大30万円</a:t>
            </a:r>
          </a:p>
          <a:p>
            <a:pPr algn="ctr"/>
            <a:r>
              <a:rPr sz="750">
                <a:solidFill>
                  <a:srgbClr val="FFFFFF"/>
                </a:solidFill>
                <a:latin typeface="メイリオ"/>
              </a:rPr>
              <a:t>かんたん診断で確認 ▶</a:t>
            </a:r>
          </a:p>
        </p:txBody>
      </p:sp>
      <p:sp>
        <p:nvSpPr>
          <p:cNvPr id="10" name="TextBox 9"/>
          <p:cNvSpPr txBox="1"/>
          <p:nvPr/>
        </p:nvSpPr>
        <p:spPr>
          <a:xfrm>
            <a:off x="548640" y="4526280"/>
            <a:ext cx="1600200" cy="548640"/>
          </a:xfrm>
          <a:prstGeom prst="rect">
            <a:avLst/>
          </a:prstGeom>
          <a:noFill/>
        </p:spPr>
        <p:txBody>
          <a:bodyPr wrap="square">
            <a:spAutoFit/>
          </a:bodyPr>
          <a:lstStyle/>
          <a:p>
            <a:pPr algn="ctr"/>
            <a:r>
              <a:rPr sz="850" b="0">
                <a:solidFill>
                  <a:srgbClr val="333333"/>
                </a:solidFill>
                <a:latin typeface="メイリオ"/>
              </a:rPr>
              <a:t>離脱防止バナー・広告から
LINEへ誘導</a:t>
            </a:r>
          </a:p>
        </p:txBody>
      </p:sp>
      <p:sp>
        <p:nvSpPr>
          <p:cNvPr id="11" name="Rectangle 10"/>
          <p:cNvSpPr/>
          <p:nvPr/>
        </p:nvSpPr>
        <p:spPr>
          <a:xfrm>
            <a:off x="2286000" y="1170432"/>
            <a:ext cx="4617720" cy="310896"/>
          </a:xfrm>
          <a:prstGeom prst="rect">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メイリオ"/>
              </a:rPr>
              <a:t>あいさつメッセージ＋かんたん診断（全4問・約30秒）</a:t>
            </a:r>
          </a:p>
        </p:txBody>
      </p:sp>
      <p:sp>
        <p:nvSpPr>
          <p:cNvPr id="12" name="Rectangle 11"/>
          <p:cNvSpPr/>
          <p:nvPr/>
        </p:nvSpPr>
        <p:spPr>
          <a:xfrm>
            <a:off x="2286000" y="1481328"/>
            <a:ext cx="4617720" cy="4160520"/>
          </a:xfrm>
          <a:prstGeom prst="rect">
            <a:avLst/>
          </a:prstGeom>
          <a:solidFill>
            <a:srgbClr val="FFFF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395728" y="1627632"/>
            <a:ext cx="1371600" cy="3566160"/>
          </a:xfrm>
          <a:prstGeom prst="roundRect">
            <a:avLst/>
          </a:prstGeom>
          <a:solidFill>
            <a:srgbClr val="22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441448" y="1755648"/>
            <a:ext cx="1280160" cy="3346704"/>
          </a:xfrm>
          <a:prstGeom prst="rect">
            <a:avLst/>
          </a:prstGeom>
          <a:solidFill>
            <a:srgbClr val="849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41448" y="1632204"/>
            <a:ext cx="1280160" cy="128016"/>
          </a:xfrm>
          <a:prstGeom prst="rect">
            <a:avLst/>
          </a:prstGeom>
          <a:noFill/>
        </p:spPr>
        <p:txBody>
          <a:bodyPr wrap="none">
            <a:spAutoFit/>
          </a:bodyPr>
          <a:lstStyle/>
          <a:p>
            <a:pPr algn="ctr"/>
            <a:r>
              <a:rPr sz="500">
                <a:solidFill>
                  <a:srgbClr val="55555A"/>
                </a:solidFill>
              </a:rPr>
              <a:t>●</a:t>
            </a:r>
          </a:p>
        </p:txBody>
      </p:sp>
      <p:sp>
        <p:nvSpPr>
          <p:cNvPr id="16" name="Rounded Rectangle 15"/>
          <p:cNvSpPr/>
          <p:nvPr/>
        </p:nvSpPr>
        <p:spPr>
          <a:xfrm>
            <a:off x="2496312" y="1828800"/>
            <a:ext cx="1170432" cy="6344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650">
                <a:solidFill>
                  <a:srgbClr val="333333"/>
                </a:solidFill>
                <a:latin typeface="メイリオ"/>
              </a:rPr>
              <a:t>友だち追加</a:t>
            </a:r>
          </a:p>
          <a:p>
            <a:pPr algn="l"/>
            <a:r>
              <a:rPr sz="650">
                <a:solidFill>
                  <a:srgbClr val="333333"/>
                </a:solidFill>
                <a:latin typeface="メイリオ"/>
              </a:rPr>
              <a:t>ありがとうございます🎉</a:t>
            </a:r>
          </a:p>
          <a:p>
            <a:pPr algn="l"/>
            <a:r>
              <a:rPr sz="650">
                <a:solidFill>
                  <a:srgbClr val="333333"/>
                </a:solidFill>
                <a:latin typeface="メイリオ"/>
              </a:rPr>
              <a:t>30秒であなたの</a:t>
            </a:r>
          </a:p>
          <a:p>
            <a:pPr algn="l"/>
            <a:r>
              <a:rPr sz="650">
                <a:solidFill>
                  <a:srgbClr val="333333"/>
                </a:solidFill>
                <a:latin typeface="メイリオ"/>
              </a:rPr>
              <a:t>入社祝金がわかります</a:t>
            </a:r>
          </a:p>
        </p:txBody>
      </p:sp>
      <p:sp>
        <p:nvSpPr>
          <p:cNvPr id="17" name="Rounded Rectangle 16"/>
          <p:cNvSpPr/>
          <p:nvPr/>
        </p:nvSpPr>
        <p:spPr>
          <a:xfrm>
            <a:off x="2514600" y="2536444"/>
            <a:ext cx="1133856" cy="868680"/>
          </a:xfrm>
          <a:prstGeom prst="roundRect">
            <a:avLst/>
          </a:prstGeom>
          <a:solidFill>
            <a:srgbClr val="14172E"/>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750" b="1">
                <a:solidFill>
                  <a:srgbClr val="FFFFFF"/>
                </a:solidFill>
                <a:latin typeface="メイリオ"/>
              </a:rPr>
              <a:t>🎁 診断限定</a:t>
            </a:r>
          </a:p>
          <a:p>
            <a:pPr algn="ctr"/>
            <a:r>
              <a:rPr sz="800" b="1">
                <a:solidFill>
                  <a:srgbClr val="E8C25A"/>
                </a:solidFill>
                <a:latin typeface="メイリオ"/>
              </a:rPr>
              <a:t>祝金増額
情報つき</a:t>
            </a:r>
          </a:p>
        </p:txBody>
      </p:sp>
      <p:sp>
        <p:nvSpPr>
          <p:cNvPr id="18" name="Rounded Rectangle 17"/>
          <p:cNvSpPr/>
          <p:nvPr/>
        </p:nvSpPr>
        <p:spPr>
          <a:xfrm>
            <a:off x="2514600" y="4773168"/>
            <a:ext cx="1133856" cy="237744"/>
          </a:xfrm>
          <a:prstGeom prst="roundRect">
            <a:avLst/>
          </a:prstGeom>
          <a:solidFill>
            <a:srgbClr val="2EB44C"/>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750" b="1">
                <a:solidFill>
                  <a:srgbClr val="FFFFFF"/>
                </a:solidFill>
                <a:latin typeface="メイリオ"/>
              </a:rPr>
              <a:t>▼ 診断をスタート</a:t>
            </a:r>
          </a:p>
        </p:txBody>
      </p:sp>
      <p:sp>
        <p:nvSpPr>
          <p:cNvPr id="19" name="Rectangle 18"/>
          <p:cNvSpPr/>
          <p:nvPr/>
        </p:nvSpPr>
        <p:spPr>
          <a:xfrm>
            <a:off x="3886200" y="1691640"/>
            <a:ext cx="347472" cy="274320"/>
          </a:xfrm>
          <a:prstGeom prst="rect">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latin typeface="メイリオ"/>
              </a:rPr>
              <a:t>Q1</a:t>
            </a:r>
          </a:p>
        </p:txBody>
      </p:sp>
      <p:sp>
        <p:nvSpPr>
          <p:cNvPr id="20" name="TextBox 19"/>
          <p:cNvSpPr txBox="1"/>
          <p:nvPr/>
        </p:nvSpPr>
        <p:spPr>
          <a:xfrm>
            <a:off x="4306824" y="1700784"/>
            <a:ext cx="2459736" cy="256032"/>
          </a:xfrm>
          <a:prstGeom prst="rect">
            <a:avLst/>
          </a:prstGeom>
          <a:noFill/>
        </p:spPr>
        <p:txBody>
          <a:bodyPr wrap="square">
            <a:spAutoFit/>
          </a:bodyPr>
          <a:lstStyle/>
          <a:p>
            <a:pPr algn="l"/>
            <a:r>
              <a:rPr sz="1300" b="1">
                <a:solidFill>
                  <a:srgbClr val="333333"/>
                </a:solidFill>
                <a:latin typeface="メイリオ"/>
              </a:rPr>
              <a:t>希望エリアは？</a:t>
            </a:r>
          </a:p>
        </p:txBody>
      </p:sp>
      <p:sp>
        <p:nvSpPr>
          <p:cNvPr id="21" name="Rounded Rectangle 20"/>
          <p:cNvSpPr/>
          <p:nvPr/>
        </p:nvSpPr>
        <p:spPr>
          <a:xfrm>
            <a:off x="3886200" y="2002536"/>
            <a:ext cx="436245" cy="237744"/>
          </a:xfrm>
          <a:prstGeom prst="roundRect">
            <a:avLst/>
          </a:prstGeom>
          <a:solidFill>
            <a:srgbClr val="FFFFFF"/>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lIns="27432" tIns="0" rIns="18288" bIns="0" rtlCol="0" anchor="ctr"/>
          <a:lstStyle/>
          <a:p>
            <a:pPr algn="ctr"/>
            <a:r>
              <a:rPr sz="750">
                <a:solidFill>
                  <a:srgbClr val="333333"/>
                </a:solidFill>
                <a:latin typeface="メイリオ"/>
              </a:rPr>
              <a:t>☐ 関東</a:t>
            </a:r>
          </a:p>
        </p:txBody>
      </p:sp>
      <p:sp>
        <p:nvSpPr>
          <p:cNvPr id="22" name="Rounded Rectangle 21"/>
          <p:cNvSpPr/>
          <p:nvPr/>
        </p:nvSpPr>
        <p:spPr>
          <a:xfrm>
            <a:off x="4377309" y="2002536"/>
            <a:ext cx="436245" cy="237744"/>
          </a:xfrm>
          <a:prstGeom prst="roundRect">
            <a:avLst/>
          </a:prstGeom>
          <a:solidFill>
            <a:srgbClr val="FFFFFF"/>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lIns="27432" tIns="0" rIns="18288" bIns="0" rtlCol="0" anchor="ctr"/>
          <a:lstStyle/>
          <a:p>
            <a:pPr algn="ctr"/>
            <a:r>
              <a:rPr sz="750">
                <a:solidFill>
                  <a:srgbClr val="333333"/>
                </a:solidFill>
                <a:latin typeface="メイリオ"/>
              </a:rPr>
              <a:t>☐ 東海</a:t>
            </a:r>
          </a:p>
        </p:txBody>
      </p:sp>
      <p:sp>
        <p:nvSpPr>
          <p:cNvPr id="23" name="Rounded Rectangle 22"/>
          <p:cNvSpPr/>
          <p:nvPr/>
        </p:nvSpPr>
        <p:spPr>
          <a:xfrm>
            <a:off x="4868418" y="2002536"/>
            <a:ext cx="436245" cy="237744"/>
          </a:xfrm>
          <a:prstGeom prst="roundRect">
            <a:avLst/>
          </a:prstGeom>
          <a:solidFill>
            <a:srgbClr val="FFFFFF"/>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lIns="27432" tIns="0" rIns="18288" bIns="0" rtlCol="0" anchor="ctr"/>
          <a:lstStyle/>
          <a:p>
            <a:pPr algn="ctr"/>
            <a:r>
              <a:rPr sz="750">
                <a:solidFill>
                  <a:srgbClr val="333333"/>
                </a:solidFill>
                <a:latin typeface="メイリオ"/>
              </a:rPr>
              <a:t>☐ 関西</a:t>
            </a:r>
          </a:p>
        </p:txBody>
      </p:sp>
      <p:sp>
        <p:nvSpPr>
          <p:cNvPr id="24" name="Rounded Rectangle 23"/>
          <p:cNvSpPr/>
          <p:nvPr/>
        </p:nvSpPr>
        <p:spPr>
          <a:xfrm>
            <a:off x="5359527" y="2002536"/>
            <a:ext cx="436245" cy="237744"/>
          </a:xfrm>
          <a:prstGeom prst="roundRect">
            <a:avLst/>
          </a:prstGeom>
          <a:solidFill>
            <a:srgbClr val="FFFFFF"/>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lIns="27432" tIns="0" rIns="18288" bIns="0" rtlCol="0" anchor="ctr"/>
          <a:lstStyle/>
          <a:p>
            <a:pPr algn="ctr"/>
            <a:r>
              <a:rPr sz="750">
                <a:solidFill>
                  <a:srgbClr val="333333"/>
                </a:solidFill>
                <a:latin typeface="メイリオ"/>
              </a:rPr>
              <a:t>☐ 九州</a:t>
            </a:r>
          </a:p>
        </p:txBody>
      </p:sp>
      <p:sp>
        <p:nvSpPr>
          <p:cNvPr id="25" name="Rectangle 24"/>
          <p:cNvSpPr/>
          <p:nvPr/>
        </p:nvSpPr>
        <p:spPr>
          <a:xfrm>
            <a:off x="3886200" y="2350008"/>
            <a:ext cx="347472" cy="274320"/>
          </a:xfrm>
          <a:prstGeom prst="rect">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latin typeface="メイリオ"/>
              </a:rPr>
              <a:t>Q2</a:t>
            </a:r>
          </a:p>
        </p:txBody>
      </p:sp>
      <p:sp>
        <p:nvSpPr>
          <p:cNvPr id="26" name="TextBox 25"/>
          <p:cNvSpPr txBox="1"/>
          <p:nvPr/>
        </p:nvSpPr>
        <p:spPr>
          <a:xfrm>
            <a:off x="4306824" y="2359152"/>
            <a:ext cx="2459736" cy="256032"/>
          </a:xfrm>
          <a:prstGeom prst="rect">
            <a:avLst/>
          </a:prstGeom>
          <a:noFill/>
        </p:spPr>
        <p:txBody>
          <a:bodyPr wrap="square">
            <a:spAutoFit/>
          </a:bodyPr>
          <a:lstStyle/>
          <a:p>
            <a:pPr algn="l"/>
            <a:r>
              <a:rPr sz="1300" b="1">
                <a:solidFill>
                  <a:srgbClr val="333333"/>
                </a:solidFill>
                <a:latin typeface="メイリオ"/>
              </a:rPr>
              <a:t>希望職種は？</a:t>
            </a:r>
          </a:p>
        </p:txBody>
      </p:sp>
      <p:sp>
        <p:nvSpPr>
          <p:cNvPr id="27" name="Rounded Rectangle 26"/>
          <p:cNvSpPr/>
          <p:nvPr/>
        </p:nvSpPr>
        <p:spPr>
          <a:xfrm>
            <a:off x="3886200" y="2660904"/>
            <a:ext cx="436245" cy="237744"/>
          </a:xfrm>
          <a:prstGeom prst="roundRect">
            <a:avLst/>
          </a:prstGeom>
          <a:solidFill>
            <a:srgbClr val="FFFFFF"/>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lIns="27432" tIns="0" rIns="18288" bIns="0" rtlCol="0" anchor="ctr"/>
          <a:lstStyle/>
          <a:p>
            <a:pPr algn="ctr"/>
            <a:r>
              <a:rPr sz="750">
                <a:solidFill>
                  <a:srgbClr val="333333"/>
                </a:solidFill>
                <a:latin typeface="メイリオ"/>
              </a:rPr>
              <a:t>☐ 製造</a:t>
            </a:r>
          </a:p>
        </p:txBody>
      </p:sp>
      <p:sp>
        <p:nvSpPr>
          <p:cNvPr id="28" name="Rounded Rectangle 27"/>
          <p:cNvSpPr/>
          <p:nvPr/>
        </p:nvSpPr>
        <p:spPr>
          <a:xfrm>
            <a:off x="4377309" y="2660904"/>
            <a:ext cx="517207" cy="237744"/>
          </a:xfrm>
          <a:prstGeom prst="roundRect">
            <a:avLst/>
          </a:prstGeom>
          <a:solidFill>
            <a:srgbClr val="FFFFFF"/>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lIns="27432" tIns="0" rIns="18288" bIns="0" rtlCol="0" anchor="ctr"/>
          <a:lstStyle/>
          <a:p>
            <a:pPr algn="ctr"/>
            <a:r>
              <a:rPr sz="750">
                <a:solidFill>
                  <a:srgbClr val="333333"/>
                </a:solidFill>
                <a:latin typeface="メイリオ"/>
              </a:rPr>
              <a:t>☐ 軽作業</a:t>
            </a:r>
          </a:p>
        </p:txBody>
      </p:sp>
      <p:sp>
        <p:nvSpPr>
          <p:cNvPr id="29" name="Rounded Rectangle 28"/>
          <p:cNvSpPr/>
          <p:nvPr/>
        </p:nvSpPr>
        <p:spPr>
          <a:xfrm>
            <a:off x="4949380" y="2660904"/>
            <a:ext cx="679132" cy="237744"/>
          </a:xfrm>
          <a:prstGeom prst="roundRect">
            <a:avLst/>
          </a:prstGeom>
          <a:solidFill>
            <a:srgbClr val="FFFFFF"/>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lIns="27432" tIns="0" rIns="18288" bIns="0" rtlCol="0" anchor="ctr"/>
          <a:lstStyle/>
          <a:p>
            <a:pPr algn="ctr"/>
            <a:r>
              <a:rPr sz="750">
                <a:solidFill>
                  <a:srgbClr val="333333"/>
                </a:solidFill>
                <a:latin typeface="メイリオ"/>
              </a:rPr>
              <a:t>☐ 未経験OK</a:t>
            </a:r>
          </a:p>
        </p:txBody>
      </p:sp>
      <p:sp>
        <p:nvSpPr>
          <p:cNvPr id="30" name="Rectangle 29"/>
          <p:cNvSpPr/>
          <p:nvPr/>
        </p:nvSpPr>
        <p:spPr>
          <a:xfrm>
            <a:off x="3886200" y="3008376"/>
            <a:ext cx="347472" cy="274320"/>
          </a:xfrm>
          <a:prstGeom prst="rect">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latin typeface="メイリオ"/>
              </a:rPr>
              <a:t>Q3</a:t>
            </a:r>
          </a:p>
        </p:txBody>
      </p:sp>
      <p:sp>
        <p:nvSpPr>
          <p:cNvPr id="31" name="TextBox 30"/>
          <p:cNvSpPr txBox="1"/>
          <p:nvPr/>
        </p:nvSpPr>
        <p:spPr>
          <a:xfrm>
            <a:off x="4306824" y="3017520"/>
            <a:ext cx="2459736" cy="256032"/>
          </a:xfrm>
          <a:prstGeom prst="rect">
            <a:avLst/>
          </a:prstGeom>
          <a:noFill/>
        </p:spPr>
        <p:txBody>
          <a:bodyPr wrap="square">
            <a:spAutoFit/>
          </a:bodyPr>
          <a:lstStyle/>
          <a:p>
            <a:pPr algn="l"/>
            <a:r>
              <a:rPr sz="1300" b="1">
                <a:solidFill>
                  <a:srgbClr val="333333"/>
                </a:solidFill>
                <a:latin typeface="メイリオ"/>
              </a:rPr>
              <a:t>いつから入寮したい？</a:t>
            </a:r>
          </a:p>
        </p:txBody>
      </p:sp>
      <p:sp>
        <p:nvSpPr>
          <p:cNvPr id="32" name="Rounded Rectangle 31"/>
          <p:cNvSpPr/>
          <p:nvPr/>
        </p:nvSpPr>
        <p:spPr>
          <a:xfrm>
            <a:off x="3886200" y="3319272"/>
            <a:ext cx="517207" cy="237744"/>
          </a:xfrm>
          <a:prstGeom prst="roundRect">
            <a:avLst/>
          </a:prstGeom>
          <a:solidFill>
            <a:srgbClr val="FFFFFF"/>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lIns="27432" tIns="0" rIns="18288" bIns="0" rtlCol="0" anchor="ctr"/>
          <a:lstStyle/>
          <a:p>
            <a:pPr algn="ctr"/>
            <a:r>
              <a:rPr sz="750">
                <a:solidFill>
                  <a:srgbClr val="333333"/>
                </a:solidFill>
                <a:latin typeface="メイリオ"/>
              </a:rPr>
              <a:t>☐ 今すぐ</a:t>
            </a:r>
          </a:p>
        </p:txBody>
      </p:sp>
      <p:sp>
        <p:nvSpPr>
          <p:cNvPr id="33" name="Rounded Rectangle 32"/>
          <p:cNvSpPr/>
          <p:nvPr/>
        </p:nvSpPr>
        <p:spPr>
          <a:xfrm>
            <a:off x="4458271" y="3319272"/>
            <a:ext cx="679132" cy="237744"/>
          </a:xfrm>
          <a:prstGeom prst="roundRect">
            <a:avLst/>
          </a:prstGeom>
          <a:solidFill>
            <a:srgbClr val="FFFFFF"/>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lIns="27432" tIns="0" rIns="18288" bIns="0" rtlCol="0" anchor="ctr"/>
          <a:lstStyle/>
          <a:p>
            <a:pPr algn="ctr"/>
            <a:r>
              <a:rPr sz="750">
                <a:solidFill>
                  <a:srgbClr val="333333"/>
                </a:solidFill>
                <a:latin typeface="メイリオ"/>
              </a:rPr>
              <a:t>☐ 1週間以内</a:t>
            </a:r>
          </a:p>
        </p:txBody>
      </p:sp>
      <p:sp>
        <p:nvSpPr>
          <p:cNvPr id="34" name="Rounded Rectangle 33"/>
          <p:cNvSpPr/>
          <p:nvPr/>
        </p:nvSpPr>
        <p:spPr>
          <a:xfrm>
            <a:off x="5192267" y="3319272"/>
            <a:ext cx="679132" cy="237744"/>
          </a:xfrm>
          <a:prstGeom prst="roundRect">
            <a:avLst/>
          </a:prstGeom>
          <a:solidFill>
            <a:srgbClr val="FFFFFF"/>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lIns="27432" tIns="0" rIns="18288" bIns="0" rtlCol="0" anchor="ctr"/>
          <a:lstStyle/>
          <a:p>
            <a:pPr algn="ctr"/>
            <a:r>
              <a:rPr sz="750">
                <a:solidFill>
                  <a:srgbClr val="333333"/>
                </a:solidFill>
                <a:latin typeface="メイリオ"/>
              </a:rPr>
              <a:t>☐ 1ヶ月以内</a:t>
            </a:r>
          </a:p>
        </p:txBody>
      </p:sp>
      <p:sp>
        <p:nvSpPr>
          <p:cNvPr id="35" name="Rectangle 34"/>
          <p:cNvSpPr/>
          <p:nvPr/>
        </p:nvSpPr>
        <p:spPr>
          <a:xfrm>
            <a:off x="3886200" y="3666744"/>
            <a:ext cx="347472" cy="274320"/>
          </a:xfrm>
          <a:prstGeom prst="rect">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latin typeface="メイリオ"/>
              </a:rPr>
              <a:t>Q4</a:t>
            </a:r>
          </a:p>
        </p:txBody>
      </p:sp>
      <p:sp>
        <p:nvSpPr>
          <p:cNvPr id="36" name="TextBox 35"/>
          <p:cNvSpPr txBox="1"/>
          <p:nvPr/>
        </p:nvSpPr>
        <p:spPr>
          <a:xfrm>
            <a:off x="4306824" y="3675888"/>
            <a:ext cx="2459736" cy="256032"/>
          </a:xfrm>
          <a:prstGeom prst="rect">
            <a:avLst/>
          </a:prstGeom>
          <a:noFill/>
        </p:spPr>
        <p:txBody>
          <a:bodyPr wrap="square">
            <a:spAutoFit/>
          </a:bodyPr>
          <a:lstStyle/>
          <a:p>
            <a:pPr algn="l"/>
            <a:r>
              <a:rPr sz="1300" b="1">
                <a:solidFill>
                  <a:srgbClr val="333333"/>
                </a:solidFill>
                <a:latin typeface="メイリオ"/>
              </a:rPr>
              <a:t>現在のご状況は？</a:t>
            </a:r>
          </a:p>
        </p:txBody>
      </p:sp>
      <p:sp>
        <p:nvSpPr>
          <p:cNvPr id="37" name="Rounded Rectangle 36"/>
          <p:cNvSpPr/>
          <p:nvPr/>
        </p:nvSpPr>
        <p:spPr>
          <a:xfrm>
            <a:off x="3886200" y="3977640"/>
            <a:ext cx="517207" cy="237744"/>
          </a:xfrm>
          <a:prstGeom prst="roundRect">
            <a:avLst/>
          </a:prstGeom>
          <a:solidFill>
            <a:srgbClr val="FFFFFF"/>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lIns="27432" tIns="0" rIns="18288" bIns="0" rtlCol="0" anchor="ctr"/>
          <a:lstStyle/>
          <a:p>
            <a:pPr algn="ctr"/>
            <a:r>
              <a:rPr sz="750">
                <a:solidFill>
                  <a:srgbClr val="333333"/>
                </a:solidFill>
                <a:latin typeface="メイリオ"/>
              </a:rPr>
              <a:t>☐ 離職中</a:t>
            </a:r>
          </a:p>
        </p:txBody>
      </p:sp>
      <p:sp>
        <p:nvSpPr>
          <p:cNvPr id="38" name="Rounded Rectangle 37"/>
          <p:cNvSpPr/>
          <p:nvPr/>
        </p:nvSpPr>
        <p:spPr>
          <a:xfrm>
            <a:off x="4458271" y="3977640"/>
            <a:ext cx="517207" cy="237744"/>
          </a:xfrm>
          <a:prstGeom prst="roundRect">
            <a:avLst/>
          </a:prstGeom>
          <a:solidFill>
            <a:srgbClr val="FFFFFF"/>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lIns="27432" tIns="0" rIns="18288" bIns="0" rtlCol="0" anchor="ctr"/>
          <a:lstStyle/>
          <a:p>
            <a:pPr algn="ctr"/>
            <a:r>
              <a:rPr sz="750">
                <a:solidFill>
                  <a:srgbClr val="333333"/>
                </a:solidFill>
                <a:latin typeface="メイリオ"/>
              </a:rPr>
              <a:t>☐ 在職中</a:t>
            </a:r>
          </a:p>
        </p:txBody>
      </p:sp>
      <p:sp>
        <p:nvSpPr>
          <p:cNvPr id="39" name="Rounded Rectangle 38"/>
          <p:cNvSpPr/>
          <p:nvPr/>
        </p:nvSpPr>
        <p:spPr>
          <a:xfrm>
            <a:off x="5030342" y="3977640"/>
            <a:ext cx="760095" cy="237744"/>
          </a:xfrm>
          <a:prstGeom prst="roundRect">
            <a:avLst/>
          </a:prstGeom>
          <a:solidFill>
            <a:srgbClr val="FFFFFF"/>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lIns="27432" tIns="0" rIns="18288" bIns="0" rtlCol="0" anchor="ctr"/>
          <a:lstStyle/>
          <a:p>
            <a:pPr algn="ctr"/>
            <a:r>
              <a:rPr sz="750">
                <a:solidFill>
                  <a:srgbClr val="333333"/>
                </a:solidFill>
                <a:latin typeface="メイリオ"/>
              </a:rPr>
              <a:t>☐ 住まい探し中</a:t>
            </a:r>
          </a:p>
        </p:txBody>
      </p:sp>
      <p:sp>
        <p:nvSpPr>
          <p:cNvPr id="40" name="TextBox 39"/>
          <p:cNvSpPr txBox="1"/>
          <p:nvPr/>
        </p:nvSpPr>
        <p:spPr>
          <a:xfrm>
            <a:off x="3886200" y="4325112"/>
            <a:ext cx="2880360" cy="457200"/>
          </a:xfrm>
          <a:prstGeom prst="rect">
            <a:avLst/>
          </a:prstGeom>
          <a:noFill/>
        </p:spPr>
        <p:txBody>
          <a:bodyPr wrap="square">
            <a:spAutoFit/>
          </a:bodyPr>
          <a:lstStyle/>
          <a:p>
            <a:pPr algn="l"/>
            <a:r>
              <a:rPr sz="850" b="1">
                <a:solidFill>
                  <a:srgbClr val="1F285A"/>
                </a:solidFill>
                <a:latin typeface="メイリオ"/>
              </a:rPr>
              <a:t>ご回答いただいた内容に合わせて、</a:t>
            </a:r>
          </a:p>
          <a:p>
            <a:pPr algn="l"/>
            <a:r>
              <a:rPr sz="850" b="1">
                <a:solidFill>
                  <a:srgbClr val="1F285A"/>
                </a:solidFill>
                <a:latin typeface="メイリオ"/>
              </a:rPr>
              <a:t>最適な求人をお届けします！</a:t>
            </a:r>
          </a:p>
        </p:txBody>
      </p:sp>
      <p:sp>
        <p:nvSpPr>
          <p:cNvPr id="41" name="Rectangle 40"/>
          <p:cNvSpPr/>
          <p:nvPr/>
        </p:nvSpPr>
        <p:spPr>
          <a:xfrm>
            <a:off x="7040880" y="1170432"/>
            <a:ext cx="2286000" cy="310896"/>
          </a:xfrm>
          <a:prstGeom prst="rect">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latin typeface="メイリオ"/>
              </a:rPr>
              <a:t>タグ付け・セグメント</a:t>
            </a:r>
          </a:p>
        </p:txBody>
      </p:sp>
      <p:sp>
        <p:nvSpPr>
          <p:cNvPr id="42" name="Rectangle 41"/>
          <p:cNvSpPr/>
          <p:nvPr/>
        </p:nvSpPr>
        <p:spPr>
          <a:xfrm>
            <a:off x="7040880" y="1481328"/>
            <a:ext cx="2286000" cy="4160520"/>
          </a:xfrm>
          <a:prstGeom prst="rect">
            <a:avLst/>
          </a:prstGeom>
          <a:solidFill>
            <a:srgbClr val="FFFF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150608" y="1600200"/>
            <a:ext cx="2066544" cy="274320"/>
          </a:xfrm>
          <a:prstGeom prst="rect">
            <a:avLst/>
          </a:prstGeom>
          <a:noFill/>
        </p:spPr>
        <p:txBody>
          <a:bodyPr wrap="square">
            <a:spAutoFit/>
          </a:bodyPr>
          <a:lstStyle/>
          <a:p>
            <a:pPr algn="ctr"/>
            <a:r>
              <a:rPr sz="1300" b="1">
                <a:solidFill>
                  <a:srgbClr val="1F285A"/>
                </a:solidFill>
                <a:latin typeface="メイリオ"/>
              </a:rPr>
              <a:t>回答に応じて自動タグ付け！</a:t>
            </a:r>
          </a:p>
        </p:txBody>
      </p:sp>
      <p:sp>
        <p:nvSpPr>
          <p:cNvPr id="44" name="Oval 43"/>
          <p:cNvSpPr/>
          <p:nvPr/>
        </p:nvSpPr>
        <p:spPr>
          <a:xfrm>
            <a:off x="7543800" y="1920240"/>
            <a:ext cx="256032" cy="256032"/>
          </a:xfrm>
          <a:prstGeom prst="ellipse">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7443216" y="2194560"/>
            <a:ext cx="457200" cy="320040"/>
          </a:xfrm>
          <a:prstGeom prst="roundRect">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Pentagon 45"/>
          <p:cNvSpPr/>
          <p:nvPr/>
        </p:nvSpPr>
        <p:spPr>
          <a:xfrm>
            <a:off x="8321040" y="1965960"/>
            <a:ext cx="502920" cy="365760"/>
          </a:xfrm>
          <a:prstGeom prst="homePlate">
            <a:avLst/>
          </a:prstGeom>
          <a:solidFill>
            <a:srgbClr val="E8C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7315200" y="2651760"/>
            <a:ext cx="1737360" cy="256032"/>
          </a:xfrm>
          <a:prstGeom prst="rect">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latin typeface="メイリオ"/>
              </a:rPr>
              <a:t>タグ付け例</a:t>
            </a:r>
          </a:p>
        </p:txBody>
      </p:sp>
      <p:sp>
        <p:nvSpPr>
          <p:cNvPr id="48" name="TextBox 47"/>
          <p:cNvSpPr txBox="1"/>
          <p:nvPr/>
        </p:nvSpPr>
        <p:spPr>
          <a:xfrm>
            <a:off x="7269480" y="2971800"/>
            <a:ext cx="1920240" cy="1737360"/>
          </a:xfrm>
          <a:prstGeom prst="rect">
            <a:avLst/>
          </a:prstGeom>
          <a:noFill/>
        </p:spPr>
        <p:txBody>
          <a:bodyPr wrap="square">
            <a:spAutoFit/>
          </a:bodyPr>
          <a:lstStyle/>
          <a:p>
            <a:pPr algn="l"/>
            <a:r>
              <a:rPr sz="850" b="0">
                <a:solidFill>
                  <a:srgbClr val="333333"/>
                </a:solidFill>
                <a:latin typeface="メイリオ"/>
              </a:rPr>
              <a:t>● 今すぐ入寮希望（緊急層）</a:t>
            </a:r>
          </a:p>
          <a:p>
            <a:pPr algn="l"/>
            <a:r>
              <a:rPr sz="850" b="0">
                <a:solidFill>
                  <a:srgbClr val="333333"/>
                </a:solidFill>
                <a:latin typeface="メイリオ"/>
              </a:rPr>
              <a:t>● 離職中／住まい探し中</a:t>
            </a:r>
          </a:p>
          <a:p>
            <a:pPr algn="l"/>
            <a:r>
              <a:rPr sz="850" b="0">
                <a:solidFill>
                  <a:srgbClr val="333333"/>
                </a:solidFill>
                <a:latin typeface="メイリオ"/>
              </a:rPr>
              <a:t>● 関東・製造希望</a:t>
            </a:r>
          </a:p>
          <a:p>
            <a:pPr algn="l"/>
            <a:r>
              <a:rPr sz="850" b="0">
                <a:solidFill>
                  <a:srgbClr val="333333"/>
                </a:solidFill>
                <a:latin typeface="メイリオ"/>
              </a:rPr>
              <a:t>● 未経験OK希望</a:t>
            </a:r>
          </a:p>
          <a:p>
            <a:pPr algn="l"/>
            <a:r>
              <a:rPr sz="850" b="0">
                <a:solidFill>
                  <a:srgbClr val="333333"/>
                </a:solidFill>
                <a:latin typeface="メイリオ"/>
              </a:rPr>
              <a:t>● 1ヶ月以内（検討層)</a:t>
            </a:r>
          </a:p>
          <a:p>
            <a:pPr algn="l"/>
            <a:r>
              <a:rPr sz="850" b="0">
                <a:solidFill>
                  <a:srgbClr val="333333"/>
                </a:solidFill>
                <a:latin typeface="メイリオ"/>
              </a:rPr>
              <a:t>● 在職中（育成配信へ）</a:t>
            </a:r>
          </a:p>
          <a:p>
            <a:pPr algn="l"/>
            <a:r>
              <a:rPr sz="750" b="0">
                <a:solidFill>
                  <a:srgbClr val="888888"/>
                </a:solidFill>
                <a:latin typeface="メイリオ"/>
              </a:rPr>
              <a:t>※配信内容・出し分けに活用</a:t>
            </a:r>
          </a:p>
        </p:txBody>
      </p:sp>
      <p:sp>
        <p:nvSpPr>
          <p:cNvPr id="49" name="Rounded Rectangle 48"/>
          <p:cNvSpPr/>
          <p:nvPr/>
        </p:nvSpPr>
        <p:spPr>
          <a:xfrm>
            <a:off x="548640" y="5806440"/>
            <a:ext cx="8778240" cy="548640"/>
          </a:xfrm>
          <a:prstGeom prst="roundRect">
            <a:avLst/>
          </a:prstGeom>
          <a:solidFill>
            <a:srgbClr val="EAF0FA"/>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sz="1400" b="1">
                <a:solidFill>
                  <a:srgbClr val="1F285A"/>
                </a:solidFill>
                <a:latin typeface="メイリオ"/>
              </a:rPr>
              <a:t>回答させるアクション自体が行動ハードルを下げ、緊急層（今すぐ×離職中）は求人即提示・電話案内、検討層は育成配信へ接続します。</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365760"/>
          </a:xfrm>
          <a:prstGeom prst="rect">
            <a:avLst/>
          </a:prstGeom>
          <a:noFill/>
        </p:spPr>
        <p:txBody>
          <a:bodyPr wrap="none">
            <a:spAutoFit/>
          </a:bodyPr>
          <a:lstStyle/>
          <a:p>
            <a:r>
              <a:rPr sz="2000" b="1">
                <a:solidFill>
                  <a:srgbClr val="002060"/>
                </a:solidFill>
                <a:latin typeface="メイリオ"/>
              </a:rPr>
              <a:t>施策③ ステップ配信設計（追加から14日間）</a:t>
            </a:r>
          </a:p>
        </p:txBody>
      </p:sp>
      <p:sp>
        <p:nvSpPr>
          <p:cNvPr id="3" name="TextBox 2"/>
          <p:cNvSpPr txBox="1"/>
          <p:nvPr/>
        </p:nvSpPr>
        <p:spPr>
          <a:xfrm>
            <a:off x="548640" y="621792"/>
            <a:ext cx="8778240" cy="457200"/>
          </a:xfrm>
          <a:prstGeom prst="rect">
            <a:avLst/>
          </a:prstGeom>
          <a:noFill/>
        </p:spPr>
        <p:txBody>
          <a:bodyPr wrap="square">
            <a:spAutoFit/>
          </a:bodyPr>
          <a:lstStyle/>
          <a:p>
            <a:r>
              <a:rPr sz="1400" b="1">
                <a:solidFill>
                  <a:srgbClr val="333333"/>
                </a:solidFill>
                <a:latin typeface="メイリオ"/>
              </a:rPr>
              <a:t>アクティブ率が高い追加直後に価値を渡し、週末2段設計で決断を後押し。5ステップでCVを積み上げます。</a:t>
            </a:r>
          </a:p>
        </p:txBody>
      </p:sp>
      <p:sp>
        <p:nvSpPr>
          <p:cNvPr id="4" name="Rounded Rectangle 3"/>
          <p:cNvSpPr/>
          <p:nvPr/>
        </p:nvSpPr>
        <p:spPr>
          <a:xfrm>
            <a:off x="548640" y="1234440"/>
            <a:ext cx="1700784" cy="502920"/>
          </a:xfrm>
          <a:prstGeom prst="roundRect">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latin typeface="メイリオ"/>
              </a:rPr>
              <a:t>STEP 1</a:t>
            </a:r>
          </a:p>
          <a:p>
            <a:pPr algn="ctr"/>
            <a:r>
              <a:rPr sz="1300" b="1">
                <a:solidFill>
                  <a:srgbClr val="FFFFFF"/>
                </a:solidFill>
                <a:latin typeface="メイリオ"/>
              </a:rPr>
              <a:t>追加直後</a:t>
            </a:r>
          </a:p>
        </p:txBody>
      </p:sp>
      <p:sp>
        <p:nvSpPr>
          <p:cNvPr id="5" name="TextBox 4"/>
          <p:cNvSpPr txBox="1"/>
          <p:nvPr/>
        </p:nvSpPr>
        <p:spPr>
          <a:xfrm>
            <a:off x="548640" y="1783080"/>
            <a:ext cx="1700784" cy="256032"/>
          </a:xfrm>
          <a:prstGeom prst="rect">
            <a:avLst/>
          </a:prstGeom>
          <a:noFill/>
        </p:spPr>
        <p:txBody>
          <a:bodyPr wrap="square">
            <a:spAutoFit/>
          </a:bodyPr>
          <a:lstStyle/>
          <a:p>
            <a:pPr algn="ctr"/>
            <a:r>
              <a:rPr sz="750" b="0">
                <a:solidFill>
                  <a:srgbClr val="333333"/>
                </a:solidFill>
                <a:latin typeface="メイリオ"/>
              </a:rPr>
              <a:t>すぐに自動配信</a:t>
            </a:r>
          </a:p>
        </p:txBody>
      </p:sp>
      <p:sp>
        <p:nvSpPr>
          <p:cNvPr id="6" name="Rounded Rectangle 5"/>
          <p:cNvSpPr/>
          <p:nvPr/>
        </p:nvSpPr>
        <p:spPr>
          <a:xfrm>
            <a:off x="548640" y="2075688"/>
            <a:ext cx="1700784" cy="2743200"/>
          </a:xfrm>
          <a:prstGeom prst="roundRect">
            <a:avLst/>
          </a:prstGeom>
          <a:solidFill>
            <a:srgbClr val="22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2203704"/>
            <a:ext cx="1609344" cy="2523744"/>
          </a:xfrm>
          <a:prstGeom prst="rect">
            <a:avLst/>
          </a:prstGeom>
          <a:solidFill>
            <a:srgbClr val="849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080260"/>
            <a:ext cx="1609344" cy="128016"/>
          </a:xfrm>
          <a:prstGeom prst="rect">
            <a:avLst/>
          </a:prstGeom>
          <a:noFill/>
        </p:spPr>
        <p:txBody>
          <a:bodyPr wrap="none">
            <a:spAutoFit/>
          </a:bodyPr>
          <a:lstStyle/>
          <a:p>
            <a:pPr algn="ctr"/>
            <a:r>
              <a:rPr sz="500">
                <a:solidFill>
                  <a:srgbClr val="55555A"/>
                </a:solidFill>
              </a:rPr>
              <a:t>●</a:t>
            </a:r>
          </a:p>
        </p:txBody>
      </p:sp>
      <p:sp>
        <p:nvSpPr>
          <p:cNvPr id="9" name="Rounded Rectangle 8"/>
          <p:cNvSpPr/>
          <p:nvPr/>
        </p:nvSpPr>
        <p:spPr>
          <a:xfrm>
            <a:off x="649224" y="2267712"/>
            <a:ext cx="1499616" cy="35382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650">
                <a:solidFill>
                  <a:srgbClr val="333333"/>
                </a:solidFill>
                <a:latin typeface="メイリオ"/>
              </a:rPr>
              <a:t>友だち追加ありがとう</a:t>
            </a:r>
          </a:p>
          <a:p>
            <a:pPr algn="l"/>
            <a:r>
              <a:rPr sz="650">
                <a:solidFill>
                  <a:srgbClr val="333333"/>
                </a:solidFill>
                <a:latin typeface="メイリオ"/>
              </a:rPr>
              <a:t>ございます🎉</a:t>
            </a:r>
          </a:p>
        </p:txBody>
      </p:sp>
      <p:sp>
        <p:nvSpPr>
          <p:cNvPr id="10" name="Rounded Rectangle 9"/>
          <p:cNvSpPr/>
          <p:nvPr/>
        </p:nvSpPr>
        <p:spPr>
          <a:xfrm>
            <a:off x="676656" y="2685542"/>
            <a:ext cx="1444752" cy="777240"/>
          </a:xfrm>
          <a:prstGeom prst="roundRect">
            <a:avLst/>
          </a:prstGeom>
          <a:solidFill>
            <a:srgbClr val="14172E"/>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750" b="1">
                <a:solidFill>
                  <a:srgbClr val="FFFFFF"/>
                </a:solidFill>
                <a:latin typeface="メイリオ"/>
              </a:rPr>
              <a:t>30秒でわかる</a:t>
            </a:r>
          </a:p>
          <a:p>
            <a:pPr algn="ctr"/>
            <a:r>
              <a:rPr sz="850" b="1">
                <a:solidFill>
                  <a:srgbClr val="E8C25A"/>
                </a:solidFill>
                <a:latin typeface="メイリオ"/>
              </a:rPr>
              <a:t>入社祝金
最大30万円</a:t>
            </a:r>
          </a:p>
          <a:p>
            <a:pPr algn="ctr"/>
            <a:r>
              <a:rPr sz="750">
                <a:solidFill>
                  <a:srgbClr val="FFFFFF"/>
                </a:solidFill>
                <a:latin typeface="メイリオ"/>
              </a:rPr>
              <a:t>かんたん診断 ▶</a:t>
            </a:r>
          </a:p>
        </p:txBody>
      </p:sp>
      <p:sp>
        <p:nvSpPr>
          <p:cNvPr id="11" name="Rounded Rectangle 10"/>
          <p:cNvSpPr/>
          <p:nvPr/>
        </p:nvSpPr>
        <p:spPr>
          <a:xfrm>
            <a:off x="676656" y="4416552"/>
            <a:ext cx="1444752" cy="237744"/>
          </a:xfrm>
          <a:prstGeom prst="roundRect">
            <a:avLst/>
          </a:prstGeom>
          <a:solidFill>
            <a:srgbClr val="2EB44C"/>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750" b="1">
                <a:solidFill>
                  <a:srgbClr val="FFFFFF"/>
                </a:solidFill>
                <a:latin typeface="メイリオ"/>
              </a:rPr>
              <a:t>▼ 診断をスタートする</a:t>
            </a:r>
          </a:p>
        </p:txBody>
      </p:sp>
      <p:sp>
        <p:nvSpPr>
          <p:cNvPr id="12" name="TextBox 11"/>
          <p:cNvSpPr txBox="1"/>
          <p:nvPr/>
        </p:nvSpPr>
        <p:spPr>
          <a:xfrm>
            <a:off x="548640" y="4937760"/>
            <a:ext cx="1700784" cy="868680"/>
          </a:xfrm>
          <a:prstGeom prst="rect">
            <a:avLst/>
          </a:prstGeom>
          <a:noFill/>
        </p:spPr>
        <p:txBody>
          <a:bodyPr wrap="square">
            <a:spAutoFit/>
          </a:bodyPr>
          <a:lstStyle/>
          <a:p>
            <a:pPr algn="l"/>
            <a:r>
              <a:rPr sz="800" b="1">
                <a:solidFill>
                  <a:srgbClr val="1F285A"/>
                </a:solidFill>
                <a:latin typeface="メイリオ"/>
              </a:rPr>
              <a:t>■ 配信の目的</a:t>
            </a:r>
          </a:p>
          <a:p>
            <a:pPr algn="l"/>
            <a:r>
              <a:rPr sz="800" b="0">
                <a:solidFill>
                  <a:srgbClr val="333333"/>
                </a:solidFill>
                <a:latin typeface="メイリオ"/>
              </a:rPr>
              <a:t>✓ あいさつ・診断へ誘導</a:t>
            </a:r>
          </a:p>
          <a:p>
            <a:pPr algn="l"/>
            <a:r>
              <a:rPr sz="800" b="0">
                <a:solidFill>
                  <a:srgbClr val="333333"/>
                </a:solidFill>
                <a:latin typeface="メイリオ"/>
              </a:rPr>
              <a:t>✓ ボタン4問で条件取得</a:t>
            </a:r>
          </a:p>
        </p:txBody>
      </p:sp>
      <p:sp>
        <p:nvSpPr>
          <p:cNvPr id="13" name="Rounded Rectangle 12"/>
          <p:cNvSpPr/>
          <p:nvPr/>
        </p:nvSpPr>
        <p:spPr>
          <a:xfrm>
            <a:off x="2350008" y="1234440"/>
            <a:ext cx="1700784" cy="502920"/>
          </a:xfrm>
          <a:prstGeom prst="roundRect">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latin typeface="メイリオ"/>
              </a:rPr>
              <a:t>STEP 2</a:t>
            </a:r>
          </a:p>
          <a:p>
            <a:pPr algn="ctr"/>
            <a:r>
              <a:rPr sz="1300" b="1">
                <a:solidFill>
                  <a:srgbClr val="FFFFFF"/>
                </a:solidFill>
                <a:latin typeface="メイリオ"/>
              </a:rPr>
              <a:t>1日後</a:t>
            </a:r>
          </a:p>
        </p:txBody>
      </p:sp>
      <p:sp>
        <p:nvSpPr>
          <p:cNvPr id="14" name="TextBox 13"/>
          <p:cNvSpPr txBox="1"/>
          <p:nvPr/>
        </p:nvSpPr>
        <p:spPr>
          <a:xfrm>
            <a:off x="2350008" y="1783080"/>
            <a:ext cx="1700784" cy="256032"/>
          </a:xfrm>
          <a:prstGeom prst="rect">
            <a:avLst/>
          </a:prstGeom>
          <a:noFill/>
        </p:spPr>
        <p:txBody>
          <a:bodyPr wrap="square">
            <a:spAutoFit/>
          </a:bodyPr>
          <a:lstStyle/>
          <a:p>
            <a:pPr algn="ctr"/>
            <a:r>
              <a:rPr sz="750" b="0">
                <a:solidFill>
                  <a:srgbClr val="333333"/>
                </a:solidFill>
                <a:latin typeface="メイリオ"/>
              </a:rPr>
              <a:t>夜20時に自動配信</a:t>
            </a:r>
          </a:p>
        </p:txBody>
      </p:sp>
      <p:sp>
        <p:nvSpPr>
          <p:cNvPr id="15" name="Rounded Rectangle 14"/>
          <p:cNvSpPr/>
          <p:nvPr/>
        </p:nvSpPr>
        <p:spPr>
          <a:xfrm>
            <a:off x="2350008" y="2075688"/>
            <a:ext cx="1700784" cy="2743200"/>
          </a:xfrm>
          <a:prstGeom prst="roundRect">
            <a:avLst/>
          </a:prstGeom>
          <a:solidFill>
            <a:srgbClr val="22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395728" y="2203704"/>
            <a:ext cx="1609344" cy="2523744"/>
          </a:xfrm>
          <a:prstGeom prst="rect">
            <a:avLst/>
          </a:prstGeom>
          <a:solidFill>
            <a:srgbClr val="849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95728" y="2080260"/>
            <a:ext cx="1609344" cy="128016"/>
          </a:xfrm>
          <a:prstGeom prst="rect">
            <a:avLst/>
          </a:prstGeom>
          <a:noFill/>
        </p:spPr>
        <p:txBody>
          <a:bodyPr wrap="none">
            <a:spAutoFit/>
          </a:bodyPr>
          <a:lstStyle/>
          <a:p>
            <a:pPr algn="ctr"/>
            <a:r>
              <a:rPr sz="500">
                <a:solidFill>
                  <a:srgbClr val="55555A"/>
                </a:solidFill>
              </a:rPr>
              <a:t>●</a:t>
            </a:r>
          </a:p>
        </p:txBody>
      </p:sp>
      <p:sp>
        <p:nvSpPr>
          <p:cNvPr id="18" name="Rounded Rectangle 17"/>
          <p:cNvSpPr/>
          <p:nvPr/>
        </p:nvSpPr>
        <p:spPr>
          <a:xfrm>
            <a:off x="2450592" y="2267712"/>
            <a:ext cx="1499616" cy="49415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650">
                <a:solidFill>
                  <a:srgbClr val="333333"/>
                </a:solidFill>
                <a:latin typeface="メイリオ"/>
              </a:rPr>
              <a:t>あなたに合うお仕事です👇</a:t>
            </a:r>
          </a:p>
          <a:p>
            <a:pPr algn="l"/>
            <a:r>
              <a:rPr sz="650">
                <a:solidFill>
                  <a:srgbClr val="333333"/>
                </a:solidFill>
                <a:latin typeface="メイリオ"/>
              </a:rPr>
              <a:t>🏭 愛知・自動車部品</a:t>
            </a:r>
          </a:p>
          <a:p>
            <a:pPr algn="l"/>
            <a:r>
              <a:rPr sz="650">
                <a:solidFill>
                  <a:srgbClr val="333333"/>
                </a:solidFill>
                <a:latin typeface="メイリオ"/>
              </a:rPr>
              <a:t>💰 月収40万円・寮費無料</a:t>
            </a:r>
          </a:p>
        </p:txBody>
      </p:sp>
      <p:sp>
        <p:nvSpPr>
          <p:cNvPr id="19" name="Rounded Rectangle 18"/>
          <p:cNvSpPr/>
          <p:nvPr/>
        </p:nvSpPr>
        <p:spPr>
          <a:xfrm>
            <a:off x="2478024" y="2825877"/>
            <a:ext cx="1444752" cy="777240"/>
          </a:xfrm>
          <a:prstGeom prst="roundRect">
            <a:avLst/>
          </a:prstGeom>
          <a:solidFill>
            <a:srgbClr val="14172E"/>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750" b="1">
                <a:solidFill>
                  <a:srgbClr val="FFFFFF"/>
                </a:solidFill>
                <a:latin typeface="メイリオ"/>
              </a:rPr>
              <a:t>診断結果限定</a:t>
            </a:r>
          </a:p>
          <a:p>
            <a:pPr algn="ctr"/>
            <a:r>
              <a:rPr sz="850" b="1">
                <a:solidFill>
                  <a:srgbClr val="E8C25A"/>
                </a:solidFill>
                <a:latin typeface="メイリオ"/>
              </a:rPr>
              <a:t>祝金30万円
の求人</a:t>
            </a:r>
          </a:p>
        </p:txBody>
      </p:sp>
      <p:sp>
        <p:nvSpPr>
          <p:cNvPr id="20" name="Rounded Rectangle 19"/>
          <p:cNvSpPr/>
          <p:nvPr/>
        </p:nvSpPr>
        <p:spPr>
          <a:xfrm>
            <a:off x="2478024" y="4416552"/>
            <a:ext cx="1444752" cy="237744"/>
          </a:xfrm>
          <a:prstGeom prst="roundRect">
            <a:avLst/>
          </a:prstGeom>
          <a:solidFill>
            <a:srgbClr val="2EB44C"/>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750" b="1">
                <a:solidFill>
                  <a:srgbClr val="FFFFFF"/>
                </a:solidFill>
                <a:latin typeface="メイリオ"/>
              </a:rPr>
              <a:t>求人をくわしく見る ▶</a:t>
            </a:r>
          </a:p>
        </p:txBody>
      </p:sp>
      <p:sp>
        <p:nvSpPr>
          <p:cNvPr id="21" name="TextBox 20"/>
          <p:cNvSpPr txBox="1"/>
          <p:nvPr/>
        </p:nvSpPr>
        <p:spPr>
          <a:xfrm>
            <a:off x="2350008" y="4937760"/>
            <a:ext cx="1700784" cy="868680"/>
          </a:xfrm>
          <a:prstGeom prst="rect">
            <a:avLst/>
          </a:prstGeom>
          <a:noFill/>
        </p:spPr>
        <p:txBody>
          <a:bodyPr wrap="square">
            <a:spAutoFit/>
          </a:bodyPr>
          <a:lstStyle/>
          <a:p>
            <a:pPr algn="l"/>
            <a:r>
              <a:rPr sz="800" b="1">
                <a:solidFill>
                  <a:srgbClr val="1F285A"/>
                </a:solidFill>
                <a:latin typeface="メイリオ"/>
              </a:rPr>
              <a:t>■ 配信の目的</a:t>
            </a:r>
          </a:p>
          <a:p>
            <a:pPr algn="l"/>
            <a:r>
              <a:rPr sz="800" b="0">
                <a:solidFill>
                  <a:srgbClr val="333333"/>
                </a:solidFill>
                <a:latin typeface="メイリオ"/>
              </a:rPr>
              <a:t>✓ 即決層の刈り取り</a:t>
            </a:r>
          </a:p>
          <a:p>
            <a:pPr algn="l"/>
            <a:r>
              <a:rPr sz="800" b="0">
                <a:solidFill>
                  <a:srgbClr val="333333"/>
                </a:solidFill>
                <a:latin typeface="メイリオ"/>
              </a:rPr>
              <a:t>✓ 金額明記で訴求</a:t>
            </a:r>
          </a:p>
        </p:txBody>
      </p:sp>
      <p:sp>
        <p:nvSpPr>
          <p:cNvPr id="22" name="Rounded Rectangle 21"/>
          <p:cNvSpPr/>
          <p:nvPr/>
        </p:nvSpPr>
        <p:spPr>
          <a:xfrm>
            <a:off x="4151376" y="1234440"/>
            <a:ext cx="1700784" cy="502920"/>
          </a:xfrm>
          <a:prstGeom prst="roundRect">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latin typeface="メイリオ"/>
              </a:rPr>
              <a:t>STEP 3</a:t>
            </a:r>
          </a:p>
          <a:p>
            <a:pPr algn="ctr"/>
            <a:r>
              <a:rPr sz="1300" b="1">
                <a:solidFill>
                  <a:srgbClr val="FFFFFF"/>
                </a:solidFill>
                <a:latin typeface="メイリオ"/>
              </a:rPr>
              <a:t>3日後</a:t>
            </a:r>
          </a:p>
        </p:txBody>
      </p:sp>
      <p:sp>
        <p:nvSpPr>
          <p:cNvPr id="23" name="TextBox 22"/>
          <p:cNvSpPr txBox="1"/>
          <p:nvPr/>
        </p:nvSpPr>
        <p:spPr>
          <a:xfrm>
            <a:off x="4151376" y="1783080"/>
            <a:ext cx="1700784" cy="256032"/>
          </a:xfrm>
          <a:prstGeom prst="rect">
            <a:avLst/>
          </a:prstGeom>
          <a:noFill/>
        </p:spPr>
        <p:txBody>
          <a:bodyPr wrap="square">
            <a:spAutoFit/>
          </a:bodyPr>
          <a:lstStyle/>
          <a:p>
            <a:pPr algn="ctr"/>
            <a:r>
              <a:rPr sz="750" b="0">
                <a:solidFill>
                  <a:srgbClr val="333333"/>
                </a:solidFill>
                <a:latin typeface="メイリオ"/>
              </a:rPr>
              <a:t>夜20時に自動配信</a:t>
            </a:r>
          </a:p>
        </p:txBody>
      </p:sp>
      <p:sp>
        <p:nvSpPr>
          <p:cNvPr id="24" name="Rounded Rectangle 23"/>
          <p:cNvSpPr/>
          <p:nvPr/>
        </p:nvSpPr>
        <p:spPr>
          <a:xfrm>
            <a:off x="4151376" y="2075688"/>
            <a:ext cx="1700784" cy="2743200"/>
          </a:xfrm>
          <a:prstGeom prst="roundRect">
            <a:avLst/>
          </a:prstGeom>
          <a:solidFill>
            <a:srgbClr val="22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197096" y="2203704"/>
            <a:ext cx="1609344" cy="2523744"/>
          </a:xfrm>
          <a:prstGeom prst="rect">
            <a:avLst/>
          </a:prstGeom>
          <a:solidFill>
            <a:srgbClr val="849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97096" y="2080260"/>
            <a:ext cx="1609344" cy="128016"/>
          </a:xfrm>
          <a:prstGeom prst="rect">
            <a:avLst/>
          </a:prstGeom>
          <a:noFill/>
        </p:spPr>
        <p:txBody>
          <a:bodyPr wrap="none">
            <a:spAutoFit/>
          </a:bodyPr>
          <a:lstStyle/>
          <a:p>
            <a:pPr algn="ctr"/>
            <a:r>
              <a:rPr sz="500">
                <a:solidFill>
                  <a:srgbClr val="55555A"/>
                </a:solidFill>
              </a:rPr>
              <a:t>●</a:t>
            </a:r>
          </a:p>
        </p:txBody>
      </p:sp>
      <p:sp>
        <p:nvSpPr>
          <p:cNvPr id="27" name="Rounded Rectangle 26"/>
          <p:cNvSpPr/>
          <p:nvPr/>
        </p:nvSpPr>
        <p:spPr>
          <a:xfrm>
            <a:off x="4251960" y="2267712"/>
            <a:ext cx="1499616" cy="49415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650">
                <a:solidFill>
                  <a:srgbClr val="333333"/>
                </a:solidFill>
                <a:latin typeface="メイリオ"/>
              </a:rPr>
              <a:t>「住み込みって怪しくない…？」</a:t>
            </a:r>
          </a:p>
          <a:p>
            <a:pPr algn="l"/>
            <a:r>
              <a:rPr sz="650">
                <a:solidFill>
                  <a:srgbClr val="333333"/>
                </a:solidFill>
                <a:latin typeface="メイリオ"/>
              </a:rPr>
              <a:t>寮の実写真、全部見せます📸</a:t>
            </a:r>
          </a:p>
          <a:p>
            <a:pPr algn="l"/>
            <a:r>
              <a:rPr sz="650">
                <a:solidFill>
                  <a:srgbClr val="333333"/>
                </a:solidFill>
                <a:latin typeface="メイリオ"/>
              </a:rPr>
              <a:t>家具家電つき・光熱費込</a:t>
            </a:r>
          </a:p>
        </p:txBody>
      </p:sp>
      <p:sp>
        <p:nvSpPr>
          <p:cNvPr id="28" name="Rounded Rectangle 27"/>
          <p:cNvSpPr/>
          <p:nvPr/>
        </p:nvSpPr>
        <p:spPr>
          <a:xfrm>
            <a:off x="4279392" y="4416552"/>
            <a:ext cx="1444752" cy="237744"/>
          </a:xfrm>
          <a:prstGeom prst="roundRect">
            <a:avLst/>
          </a:prstGeom>
          <a:solidFill>
            <a:srgbClr val="2EB44C"/>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750" b="1">
                <a:solidFill>
                  <a:srgbClr val="FFFFFF"/>
                </a:solidFill>
                <a:latin typeface="メイリオ"/>
              </a:rPr>
              <a:t>寮の中を見てみる ▶</a:t>
            </a:r>
          </a:p>
        </p:txBody>
      </p:sp>
      <p:sp>
        <p:nvSpPr>
          <p:cNvPr id="29" name="TextBox 28"/>
          <p:cNvSpPr txBox="1"/>
          <p:nvPr/>
        </p:nvSpPr>
        <p:spPr>
          <a:xfrm>
            <a:off x="4151376" y="4937760"/>
            <a:ext cx="1700784" cy="868680"/>
          </a:xfrm>
          <a:prstGeom prst="rect">
            <a:avLst/>
          </a:prstGeom>
          <a:noFill/>
        </p:spPr>
        <p:txBody>
          <a:bodyPr wrap="square">
            <a:spAutoFit/>
          </a:bodyPr>
          <a:lstStyle/>
          <a:p>
            <a:pPr algn="l"/>
            <a:r>
              <a:rPr sz="800" b="1">
                <a:solidFill>
                  <a:srgbClr val="1F285A"/>
                </a:solidFill>
                <a:latin typeface="メイリオ"/>
              </a:rPr>
              <a:t>■ 配信の目的</a:t>
            </a:r>
          </a:p>
          <a:p>
            <a:pPr algn="l"/>
            <a:r>
              <a:rPr sz="800" b="0">
                <a:solidFill>
                  <a:srgbClr val="333333"/>
                </a:solidFill>
                <a:latin typeface="メイリオ"/>
              </a:rPr>
              <a:t>✓ 不信感の解消</a:t>
            </a:r>
          </a:p>
          <a:p>
            <a:pPr algn="l"/>
            <a:r>
              <a:rPr sz="800" b="0">
                <a:solidFill>
                  <a:srgbClr val="333333"/>
                </a:solidFill>
                <a:latin typeface="メイリオ"/>
              </a:rPr>
              <a:t>✓ 入居者の声で信頼構築</a:t>
            </a:r>
          </a:p>
        </p:txBody>
      </p:sp>
      <p:sp>
        <p:nvSpPr>
          <p:cNvPr id="30" name="Rounded Rectangle 29"/>
          <p:cNvSpPr/>
          <p:nvPr/>
        </p:nvSpPr>
        <p:spPr>
          <a:xfrm>
            <a:off x="5952744" y="1234440"/>
            <a:ext cx="1700784" cy="50292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latin typeface="メイリオ"/>
              </a:rPr>
              <a:t>STEP 4</a:t>
            </a:r>
          </a:p>
          <a:p>
            <a:pPr algn="ctr"/>
            <a:r>
              <a:rPr sz="1300" b="1">
                <a:solidFill>
                  <a:srgbClr val="FFFFFF"/>
                </a:solidFill>
                <a:latin typeface="メイリオ"/>
              </a:rPr>
              <a:t>6-7日後</a:t>
            </a:r>
          </a:p>
        </p:txBody>
      </p:sp>
      <p:sp>
        <p:nvSpPr>
          <p:cNvPr id="31" name="TextBox 30"/>
          <p:cNvSpPr txBox="1"/>
          <p:nvPr/>
        </p:nvSpPr>
        <p:spPr>
          <a:xfrm>
            <a:off x="5952744" y="1783080"/>
            <a:ext cx="1700784" cy="256032"/>
          </a:xfrm>
          <a:prstGeom prst="rect">
            <a:avLst/>
          </a:prstGeom>
          <a:noFill/>
        </p:spPr>
        <p:txBody>
          <a:bodyPr wrap="square">
            <a:spAutoFit/>
          </a:bodyPr>
          <a:lstStyle/>
          <a:p>
            <a:pPr algn="ctr"/>
            <a:r>
              <a:rPr sz="750" b="0">
                <a:solidFill>
                  <a:srgbClr val="333333"/>
                </a:solidFill>
                <a:latin typeface="メイリオ"/>
              </a:rPr>
              <a:t>土曜夜・日曜夜の2段</a:t>
            </a:r>
          </a:p>
        </p:txBody>
      </p:sp>
      <p:sp>
        <p:nvSpPr>
          <p:cNvPr id="32" name="Rounded Rectangle 31"/>
          <p:cNvSpPr/>
          <p:nvPr/>
        </p:nvSpPr>
        <p:spPr>
          <a:xfrm>
            <a:off x="5952744" y="2075688"/>
            <a:ext cx="1700784" cy="2743200"/>
          </a:xfrm>
          <a:prstGeom prst="roundRect">
            <a:avLst/>
          </a:prstGeom>
          <a:solidFill>
            <a:srgbClr val="22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998464" y="2203704"/>
            <a:ext cx="1609344" cy="2523744"/>
          </a:xfrm>
          <a:prstGeom prst="rect">
            <a:avLst/>
          </a:prstGeom>
          <a:solidFill>
            <a:srgbClr val="849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98464" y="2080260"/>
            <a:ext cx="1609344" cy="128016"/>
          </a:xfrm>
          <a:prstGeom prst="rect">
            <a:avLst/>
          </a:prstGeom>
          <a:noFill/>
        </p:spPr>
        <p:txBody>
          <a:bodyPr wrap="none">
            <a:spAutoFit/>
          </a:bodyPr>
          <a:lstStyle/>
          <a:p>
            <a:pPr algn="ctr"/>
            <a:r>
              <a:rPr sz="500">
                <a:solidFill>
                  <a:srgbClr val="55555A"/>
                </a:solidFill>
              </a:rPr>
              <a:t>●</a:t>
            </a:r>
          </a:p>
        </p:txBody>
      </p:sp>
      <p:sp>
        <p:nvSpPr>
          <p:cNvPr id="35" name="Rounded Rectangle 34"/>
          <p:cNvSpPr/>
          <p:nvPr/>
        </p:nvSpPr>
        <p:spPr>
          <a:xfrm>
            <a:off x="6053328" y="2267712"/>
            <a:ext cx="1499616" cy="49415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650">
                <a:solidFill>
                  <a:srgbClr val="333333"/>
                </a:solidFill>
                <a:latin typeface="メイリオ"/>
              </a:rPr>
              <a:t>【今週入寮できるTOP5】</a:t>
            </a:r>
          </a:p>
          <a:p>
            <a:pPr algn="l"/>
            <a:r>
              <a:rPr sz="650">
                <a:solidFill>
                  <a:srgbClr val="333333"/>
                </a:solidFill>
                <a:latin typeface="メイリオ"/>
              </a:rPr>
              <a:t>今動けば、来週には</a:t>
            </a:r>
          </a:p>
          <a:p>
            <a:pPr algn="l"/>
            <a:r>
              <a:rPr sz="650">
                <a:solidFill>
                  <a:srgbClr val="333333"/>
                </a:solidFill>
                <a:latin typeface="メイリオ"/>
              </a:rPr>
              <a:t>家と仕事があります🏠</a:t>
            </a:r>
          </a:p>
        </p:txBody>
      </p:sp>
      <p:sp>
        <p:nvSpPr>
          <p:cNvPr id="36" name="Rounded Rectangle 35"/>
          <p:cNvSpPr/>
          <p:nvPr/>
        </p:nvSpPr>
        <p:spPr>
          <a:xfrm>
            <a:off x="6053328" y="2825877"/>
            <a:ext cx="1499616" cy="35382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650">
                <a:solidFill>
                  <a:srgbClr val="333333"/>
                </a:solidFill>
                <a:latin typeface="メイリオ"/>
              </a:rPr>
              <a:t>明日からまた、</a:t>
            </a:r>
          </a:p>
          <a:p>
            <a:pPr algn="l"/>
            <a:r>
              <a:rPr sz="650">
                <a:solidFill>
                  <a:srgbClr val="333333"/>
                </a:solidFill>
                <a:latin typeface="メイリオ"/>
              </a:rPr>
              <a:t>同じ1週間にしますか？</a:t>
            </a:r>
          </a:p>
        </p:txBody>
      </p:sp>
      <p:sp>
        <p:nvSpPr>
          <p:cNvPr id="37" name="Rounded Rectangle 36"/>
          <p:cNvSpPr/>
          <p:nvPr/>
        </p:nvSpPr>
        <p:spPr>
          <a:xfrm>
            <a:off x="6080760" y="4416552"/>
            <a:ext cx="1444752" cy="237744"/>
          </a:xfrm>
          <a:prstGeom prst="roundRect">
            <a:avLst/>
          </a:prstGeom>
          <a:solidFill>
            <a:srgbClr val="2EB44C"/>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750" b="1">
                <a:solidFill>
                  <a:srgbClr val="FFFFFF"/>
                </a:solidFill>
                <a:latin typeface="メイリオ"/>
              </a:rPr>
              <a:t>相談してみる ▶</a:t>
            </a:r>
          </a:p>
        </p:txBody>
      </p:sp>
      <p:sp>
        <p:nvSpPr>
          <p:cNvPr id="38" name="TextBox 37"/>
          <p:cNvSpPr txBox="1"/>
          <p:nvPr/>
        </p:nvSpPr>
        <p:spPr>
          <a:xfrm>
            <a:off x="5952744" y="4937760"/>
            <a:ext cx="1700784" cy="868680"/>
          </a:xfrm>
          <a:prstGeom prst="rect">
            <a:avLst/>
          </a:prstGeom>
          <a:noFill/>
        </p:spPr>
        <p:txBody>
          <a:bodyPr wrap="square">
            <a:spAutoFit/>
          </a:bodyPr>
          <a:lstStyle/>
          <a:p>
            <a:pPr algn="l"/>
            <a:r>
              <a:rPr sz="800" b="1">
                <a:solidFill>
                  <a:srgbClr val="C00000"/>
                </a:solidFill>
                <a:latin typeface="メイリオ"/>
              </a:rPr>
              <a:t>■ 配信の目的</a:t>
            </a:r>
          </a:p>
          <a:p>
            <a:pPr algn="l"/>
            <a:r>
              <a:rPr sz="800" b="0">
                <a:solidFill>
                  <a:srgbClr val="333333"/>
                </a:solidFill>
                <a:latin typeface="メイリオ"/>
              </a:rPr>
              <a:t>✓ 土曜夜＝種まき</a:t>
            </a:r>
          </a:p>
          <a:p>
            <a:pPr algn="l"/>
            <a:r>
              <a:rPr sz="800" b="0">
                <a:solidFill>
                  <a:srgbClr val="333333"/>
                </a:solidFill>
                <a:latin typeface="メイリオ"/>
              </a:rPr>
              <a:t>✓ 日曜夜＝決断の後押し</a:t>
            </a:r>
          </a:p>
        </p:txBody>
      </p:sp>
      <p:sp>
        <p:nvSpPr>
          <p:cNvPr id="39" name="Rounded Rectangle 38"/>
          <p:cNvSpPr/>
          <p:nvPr/>
        </p:nvSpPr>
        <p:spPr>
          <a:xfrm>
            <a:off x="7754112" y="1234440"/>
            <a:ext cx="1700784" cy="502920"/>
          </a:xfrm>
          <a:prstGeom prst="roundRect">
            <a:avLst/>
          </a:prstGeom>
          <a:solidFill>
            <a:srgbClr val="1F285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latin typeface="メイリオ"/>
              </a:rPr>
              <a:t>STEP 5</a:t>
            </a:r>
          </a:p>
          <a:p>
            <a:pPr algn="ctr"/>
            <a:r>
              <a:rPr sz="1300" b="1">
                <a:solidFill>
                  <a:srgbClr val="FFFFFF"/>
                </a:solidFill>
                <a:latin typeface="メイリオ"/>
              </a:rPr>
              <a:t>14日後</a:t>
            </a:r>
          </a:p>
        </p:txBody>
      </p:sp>
      <p:sp>
        <p:nvSpPr>
          <p:cNvPr id="40" name="TextBox 39"/>
          <p:cNvSpPr txBox="1"/>
          <p:nvPr/>
        </p:nvSpPr>
        <p:spPr>
          <a:xfrm>
            <a:off x="7754112" y="1783080"/>
            <a:ext cx="1700784" cy="256032"/>
          </a:xfrm>
          <a:prstGeom prst="rect">
            <a:avLst/>
          </a:prstGeom>
          <a:noFill/>
        </p:spPr>
        <p:txBody>
          <a:bodyPr wrap="square">
            <a:spAutoFit/>
          </a:bodyPr>
          <a:lstStyle/>
          <a:p>
            <a:pPr algn="ctr"/>
            <a:r>
              <a:rPr sz="750" b="0">
                <a:solidFill>
                  <a:srgbClr val="333333"/>
                </a:solidFill>
                <a:latin typeface="メイリオ"/>
              </a:rPr>
              <a:t>夜20時に自動配信</a:t>
            </a:r>
          </a:p>
        </p:txBody>
      </p:sp>
      <p:sp>
        <p:nvSpPr>
          <p:cNvPr id="41" name="Rounded Rectangle 40"/>
          <p:cNvSpPr/>
          <p:nvPr/>
        </p:nvSpPr>
        <p:spPr>
          <a:xfrm>
            <a:off x="7754112" y="2075688"/>
            <a:ext cx="1700784" cy="2743200"/>
          </a:xfrm>
          <a:prstGeom prst="roundRect">
            <a:avLst/>
          </a:prstGeom>
          <a:solidFill>
            <a:srgbClr val="22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799832" y="2203704"/>
            <a:ext cx="1609344" cy="2523744"/>
          </a:xfrm>
          <a:prstGeom prst="rect">
            <a:avLst/>
          </a:prstGeom>
          <a:solidFill>
            <a:srgbClr val="849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799832" y="2080260"/>
            <a:ext cx="1609344" cy="128016"/>
          </a:xfrm>
          <a:prstGeom prst="rect">
            <a:avLst/>
          </a:prstGeom>
          <a:noFill/>
        </p:spPr>
        <p:txBody>
          <a:bodyPr wrap="none">
            <a:spAutoFit/>
          </a:bodyPr>
          <a:lstStyle/>
          <a:p>
            <a:pPr algn="ctr"/>
            <a:r>
              <a:rPr sz="500">
                <a:solidFill>
                  <a:srgbClr val="55555A"/>
                </a:solidFill>
              </a:rPr>
              <a:t>●</a:t>
            </a:r>
          </a:p>
        </p:txBody>
      </p:sp>
      <p:sp>
        <p:nvSpPr>
          <p:cNvPr id="44" name="Rounded Rectangle 43"/>
          <p:cNvSpPr/>
          <p:nvPr/>
        </p:nvSpPr>
        <p:spPr>
          <a:xfrm>
            <a:off x="7854696" y="2267712"/>
            <a:ext cx="1499616" cy="35382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650">
                <a:solidFill>
                  <a:srgbClr val="333333"/>
                </a:solidFill>
                <a:latin typeface="メイリオ"/>
              </a:rPr>
              <a:t>今日のご連絡で</a:t>
            </a:r>
          </a:p>
          <a:p>
            <a:pPr algn="l"/>
            <a:r>
              <a:rPr sz="650">
                <a:solidFill>
                  <a:srgbClr val="333333"/>
                </a:solidFill>
                <a:latin typeface="メイリオ"/>
              </a:rPr>
              <a:t>最短◯日で入寮できます</a:t>
            </a:r>
          </a:p>
        </p:txBody>
      </p:sp>
      <p:sp>
        <p:nvSpPr>
          <p:cNvPr id="45" name="Rounded Rectangle 44"/>
          <p:cNvSpPr/>
          <p:nvPr/>
        </p:nvSpPr>
        <p:spPr>
          <a:xfrm>
            <a:off x="7882128" y="2685542"/>
            <a:ext cx="1444752" cy="777240"/>
          </a:xfrm>
          <a:prstGeom prst="roundRect">
            <a:avLst/>
          </a:prstGeom>
          <a:solidFill>
            <a:srgbClr val="14172E"/>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750" b="1">
                <a:solidFill>
                  <a:srgbClr val="FFFFFF"/>
                </a:solidFill>
                <a:latin typeface="メイリオ"/>
              </a:rPr>
              <a:t>今月末まで⏰</a:t>
            </a:r>
          </a:p>
          <a:p>
            <a:pPr algn="ctr"/>
            <a:r>
              <a:rPr sz="850" b="1">
                <a:solidFill>
                  <a:srgbClr val="E8C25A"/>
                </a:solidFill>
                <a:latin typeface="メイリオ"/>
              </a:rPr>
              <a:t>祝金増額
終了間近</a:t>
            </a:r>
          </a:p>
        </p:txBody>
      </p:sp>
      <p:sp>
        <p:nvSpPr>
          <p:cNvPr id="46" name="Rounded Rectangle 45"/>
          <p:cNvSpPr/>
          <p:nvPr/>
        </p:nvSpPr>
        <p:spPr>
          <a:xfrm>
            <a:off x="7882128" y="4416552"/>
            <a:ext cx="1444752" cy="237744"/>
          </a:xfrm>
          <a:prstGeom prst="roundRect">
            <a:avLst/>
          </a:prstGeom>
          <a:solidFill>
            <a:srgbClr val="2EB44C"/>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750" b="1">
                <a:solidFill>
                  <a:srgbClr val="FFFFFF"/>
                </a:solidFill>
                <a:latin typeface="メイリオ"/>
              </a:rPr>
              <a:t>面談日程をえらぶ ▶</a:t>
            </a:r>
          </a:p>
        </p:txBody>
      </p:sp>
      <p:sp>
        <p:nvSpPr>
          <p:cNvPr id="47" name="TextBox 46"/>
          <p:cNvSpPr txBox="1"/>
          <p:nvPr/>
        </p:nvSpPr>
        <p:spPr>
          <a:xfrm>
            <a:off x="7754112" y="4937760"/>
            <a:ext cx="1700784" cy="868680"/>
          </a:xfrm>
          <a:prstGeom prst="rect">
            <a:avLst/>
          </a:prstGeom>
          <a:noFill/>
        </p:spPr>
        <p:txBody>
          <a:bodyPr wrap="square">
            <a:spAutoFit/>
          </a:bodyPr>
          <a:lstStyle/>
          <a:p>
            <a:pPr algn="l"/>
            <a:r>
              <a:rPr sz="800" b="1">
                <a:solidFill>
                  <a:srgbClr val="1F285A"/>
                </a:solidFill>
                <a:latin typeface="メイリオ"/>
              </a:rPr>
              <a:t>■ 配信の目的</a:t>
            </a:r>
          </a:p>
          <a:p>
            <a:pPr algn="l"/>
            <a:r>
              <a:rPr sz="800" b="0">
                <a:solidFill>
                  <a:srgbClr val="333333"/>
                </a:solidFill>
                <a:latin typeface="メイリオ"/>
              </a:rPr>
              <a:t>✓ 期限クロージング</a:t>
            </a:r>
          </a:p>
          <a:p>
            <a:pPr algn="l"/>
            <a:r>
              <a:rPr sz="800" b="0">
                <a:solidFill>
                  <a:srgbClr val="333333"/>
                </a:solidFill>
                <a:latin typeface="メイリオ"/>
              </a:rPr>
              <a:t>✓ 未応募は長期フォローへ</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365760"/>
          </a:xfrm>
          <a:prstGeom prst="rect">
            <a:avLst/>
          </a:prstGeom>
          <a:noFill/>
        </p:spPr>
        <p:txBody>
          <a:bodyPr wrap="none">
            <a:spAutoFit/>
          </a:bodyPr>
          <a:lstStyle/>
          <a:p>
            <a:r>
              <a:rPr sz="2000" b="1">
                <a:solidFill>
                  <a:srgbClr val="002060"/>
                </a:solidFill>
                <a:latin typeface="メイリオ"/>
              </a:rPr>
              <a:t>施策④ 配信タイミングの設計思想</a:t>
            </a:r>
          </a:p>
        </p:txBody>
      </p:sp>
      <p:sp>
        <p:nvSpPr>
          <p:cNvPr id="3" name="TextBox 2"/>
          <p:cNvSpPr txBox="1"/>
          <p:nvPr/>
        </p:nvSpPr>
        <p:spPr>
          <a:xfrm>
            <a:off x="548640" y="621792"/>
            <a:ext cx="8778240" cy="457200"/>
          </a:xfrm>
          <a:prstGeom prst="rect">
            <a:avLst/>
          </a:prstGeom>
          <a:noFill/>
        </p:spPr>
        <p:txBody>
          <a:bodyPr wrap="square">
            <a:spAutoFit/>
          </a:bodyPr>
          <a:lstStyle/>
          <a:p>
            <a:r>
              <a:rPr sz="1400" b="1">
                <a:solidFill>
                  <a:srgbClr val="333333"/>
                </a:solidFill>
                <a:latin typeface="メイリオ"/>
              </a:rPr>
              <a:t>転職意欲のピークは日曜夜〜月曜朝。ただし月曜朝は行動できないため配信せず、週末を2段で設計します。</a:t>
            </a:r>
          </a:p>
        </p:txBody>
      </p:sp>
      <p:sp>
        <p:nvSpPr>
          <p:cNvPr id="4" name="Rectangle 3"/>
          <p:cNvSpPr/>
          <p:nvPr/>
        </p:nvSpPr>
        <p:spPr>
          <a:xfrm>
            <a:off x="548640" y="1280160"/>
            <a:ext cx="1252728" cy="457200"/>
          </a:xfrm>
          <a:prstGeom prst="rect">
            <a:avLst/>
          </a:prstGeom>
          <a:solidFill>
            <a:srgbClr val="EFEFE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33333"/>
                </a:solidFill>
                <a:latin typeface="メイリオ"/>
              </a:rPr>
              <a:t>月（配信なし）</a:t>
            </a:r>
          </a:p>
        </p:txBody>
      </p:sp>
      <p:sp>
        <p:nvSpPr>
          <p:cNvPr id="5" name="Rectangle 4"/>
          <p:cNvSpPr/>
          <p:nvPr/>
        </p:nvSpPr>
        <p:spPr>
          <a:xfrm>
            <a:off x="1801368" y="1280160"/>
            <a:ext cx="1252728" cy="457200"/>
          </a:xfrm>
          <a:prstGeom prst="rect">
            <a:avLst/>
          </a:prstGeom>
          <a:solidFill>
            <a:srgbClr val="EFEFE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33333"/>
                </a:solidFill>
                <a:latin typeface="メイリオ"/>
              </a:rPr>
              <a:t>火</a:t>
            </a:r>
          </a:p>
        </p:txBody>
      </p:sp>
      <p:sp>
        <p:nvSpPr>
          <p:cNvPr id="6" name="Rectangle 5"/>
          <p:cNvSpPr/>
          <p:nvPr/>
        </p:nvSpPr>
        <p:spPr>
          <a:xfrm>
            <a:off x="3054096" y="1280160"/>
            <a:ext cx="1252728" cy="457200"/>
          </a:xfrm>
          <a:prstGeom prst="rect">
            <a:avLst/>
          </a:prstGeom>
          <a:solidFill>
            <a:srgbClr val="EFEFE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33333"/>
                </a:solidFill>
                <a:latin typeface="メイリオ"/>
              </a:rPr>
              <a:t>水</a:t>
            </a:r>
          </a:p>
        </p:txBody>
      </p:sp>
      <p:sp>
        <p:nvSpPr>
          <p:cNvPr id="7" name="Rectangle 6"/>
          <p:cNvSpPr/>
          <p:nvPr/>
        </p:nvSpPr>
        <p:spPr>
          <a:xfrm>
            <a:off x="4306824" y="1280160"/>
            <a:ext cx="1252728" cy="457200"/>
          </a:xfrm>
          <a:prstGeom prst="rect">
            <a:avLst/>
          </a:prstGeom>
          <a:solidFill>
            <a:srgbClr val="EFEFE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33333"/>
                </a:solidFill>
                <a:latin typeface="メイリオ"/>
              </a:rPr>
              <a:t>木</a:t>
            </a:r>
          </a:p>
        </p:txBody>
      </p:sp>
      <p:sp>
        <p:nvSpPr>
          <p:cNvPr id="8" name="Rectangle 7"/>
          <p:cNvSpPr/>
          <p:nvPr/>
        </p:nvSpPr>
        <p:spPr>
          <a:xfrm>
            <a:off x="5559552" y="1280160"/>
            <a:ext cx="1252728" cy="457200"/>
          </a:xfrm>
          <a:prstGeom prst="rect">
            <a:avLst/>
          </a:prstGeom>
          <a:solidFill>
            <a:srgbClr val="EFEFE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33333"/>
                </a:solidFill>
                <a:latin typeface="メイリオ"/>
              </a:rPr>
              <a:t>金</a:t>
            </a:r>
          </a:p>
        </p:txBody>
      </p:sp>
      <p:sp>
        <p:nvSpPr>
          <p:cNvPr id="9" name="Rectangle 8"/>
          <p:cNvSpPr/>
          <p:nvPr/>
        </p:nvSpPr>
        <p:spPr>
          <a:xfrm>
            <a:off x="6812280" y="1280160"/>
            <a:ext cx="1252728" cy="457200"/>
          </a:xfrm>
          <a:prstGeom prst="rect">
            <a:avLst/>
          </a:prstGeom>
          <a:solidFill>
            <a:srgbClr val="FDECEC"/>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C00000"/>
                </a:solidFill>
                <a:latin typeface="メイリオ"/>
              </a:rPr>
              <a:t>土</a:t>
            </a:r>
          </a:p>
        </p:txBody>
      </p:sp>
      <p:sp>
        <p:nvSpPr>
          <p:cNvPr id="10" name="Rectangle 9"/>
          <p:cNvSpPr/>
          <p:nvPr/>
        </p:nvSpPr>
        <p:spPr>
          <a:xfrm>
            <a:off x="8065008" y="1280160"/>
            <a:ext cx="1252728" cy="457200"/>
          </a:xfrm>
          <a:prstGeom prst="rect">
            <a:avLst/>
          </a:prstGeom>
          <a:solidFill>
            <a:srgbClr val="FDECEC"/>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C00000"/>
                </a:solidFill>
                <a:latin typeface="メイリオ"/>
              </a:rPr>
              <a:t>日</a:t>
            </a:r>
          </a:p>
        </p:txBody>
      </p:sp>
      <p:sp>
        <p:nvSpPr>
          <p:cNvPr id="11" name="TextBox 10"/>
          <p:cNvSpPr txBox="1"/>
          <p:nvPr/>
        </p:nvSpPr>
        <p:spPr>
          <a:xfrm>
            <a:off x="548640" y="1920240"/>
            <a:ext cx="4206240" cy="292608"/>
          </a:xfrm>
          <a:prstGeom prst="rect">
            <a:avLst/>
          </a:prstGeom>
          <a:noFill/>
        </p:spPr>
        <p:txBody>
          <a:bodyPr wrap="square">
            <a:spAutoFit/>
          </a:bodyPr>
          <a:lstStyle/>
          <a:p>
            <a:pPr algn="l"/>
            <a:r>
              <a:rPr sz="1400" b="1">
                <a:solidFill>
                  <a:srgbClr val="C00000"/>
                </a:solidFill>
                <a:latin typeface="メイリオ"/>
              </a:rPr>
              <a:t>● 土曜夜｜種まき配信（求人TOP5）</a:t>
            </a:r>
          </a:p>
        </p:txBody>
      </p:sp>
      <p:sp>
        <p:nvSpPr>
          <p:cNvPr id="12" name="Rounded Rectangle 11"/>
          <p:cNvSpPr/>
          <p:nvPr/>
        </p:nvSpPr>
        <p:spPr>
          <a:xfrm>
            <a:off x="1097280" y="2286000"/>
            <a:ext cx="3108960" cy="2651760"/>
          </a:xfrm>
          <a:prstGeom prst="roundRect">
            <a:avLst/>
          </a:prstGeom>
          <a:solidFill>
            <a:srgbClr val="22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143000" y="2414016"/>
            <a:ext cx="3017520" cy="2432304"/>
          </a:xfrm>
          <a:prstGeom prst="rect">
            <a:avLst/>
          </a:prstGeom>
          <a:solidFill>
            <a:srgbClr val="849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43000" y="2290572"/>
            <a:ext cx="3017520" cy="128016"/>
          </a:xfrm>
          <a:prstGeom prst="rect">
            <a:avLst/>
          </a:prstGeom>
          <a:noFill/>
        </p:spPr>
        <p:txBody>
          <a:bodyPr wrap="none">
            <a:spAutoFit/>
          </a:bodyPr>
          <a:lstStyle/>
          <a:p>
            <a:pPr algn="ctr"/>
            <a:r>
              <a:rPr sz="500">
                <a:solidFill>
                  <a:srgbClr val="55555A"/>
                </a:solidFill>
              </a:rPr>
              <a:t>●</a:t>
            </a:r>
          </a:p>
        </p:txBody>
      </p:sp>
      <p:sp>
        <p:nvSpPr>
          <p:cNvPr id="15" name="Rounded Rectangle 14"/>
          <p:cNvSpPr/>
          <p:nvPr/>
        </p:nvSpPr>
        <p:spPr>
          <a:xfrm>
            <a:off x="1234440" y="2505456"/>
            <a:ext cx="2834640" cy="7208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750">
                <a:solidFill>
                  <a:srgbClr val="333333"/>
                </a:solidFill>
                <a:latin typeface="メイリオ"/>
              </a:rPr>
              <a:t>【今週入寮できるお仕事TOP5】🏠</a:t>
            </a:r>
          </a:p>
          <a:p>
            <a:pPr algn="l"/>
            <a:r>
              <a:rPr sz="750">
                <a:solidFill>
                  <a:srgbClr val="333333"/>
                </a:solidFill>
                <a:latin typeface="メイリオ"/>
              </a:rPr>
              <a:t>1️⃣ 愛知・自動車部品｜月40万・祝金30万</a:t>
            </a:r>
          </a:p>
          <a:p>
            <a:pPr algn="l"/>
            <a:r>
              <a:rPr sz="750">
                <a:solidFill>
                  <a:srgbClr val="333333"/>
                </a:solidFill>
                <a:latin typeface="メイリオ"/>
              </a:rPr>
              <a:t>2️⃣ 兵庫・電子部品｜月27万・寮費無料</a:t>
            </a:r>
          </a:p>
          <a:p>
            <a:pPr algn="l"/>
            <a:r>
              <a:rPr sz="750">
                <a:solidFill>
                  <a:srgbClr val="333333"/>
                </a:solidFill>
                <a:latin typeface="メイリオ"/>
              </a:rPr>
              <a:t>3️⃣ 神奈川・食品製造｜月25万・年休123日</a:t>
            </a:r>
          </a:p>
        </p:txBody>
      </p:sp>
      <p:sp>
        <p:nvSpPr>
          <p:cNvPr id="16" name="Rounded Rectangle 15"/>
          <p:cNvSpPr/>
          <p:nvPr/>
        </p:nvSpPr>
        <p:spPr>
          <a:xfrm>
            <a:off x="1463040" y="3363468"/>
            <a:ext cx="2377440" cy="731520"/>
          </a:xfrm>
          <a:prstGeom prst="roundRect">
            <a:avLst/>
          </a:prstGeom>
          <a:solidFill>
            <a:srgbClr val="14172E"/>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750" b="1">
                <a:solidFill>
                  <a:srgbClr val="FFFFFF"/>
                </a:solidFill>
                <a:latin typeface="メイリオ"/>
              </a:rPr>
              <a:t>今動けば</a:t>
            </a:r>
          </a:p>
          <a:p>
            <a:pPr algn="ctr"/>
            <a:r>
              <a:rPr sz="1300" b="1">
                <a:solidFill>
                  <a:srgbClr val="E8C25A"/>
                </a:solidFill>
                <a:latin typeface="メイリオ"/>
              </a:rPr>
              <a:t>来週には家と仕事</a:t>
            </a:r>
          </a:p>
        </p:txBody>
      </p:sp>
      <p:sp>
        <p:nvSpPr>
          <p:cNvPr id="17" name="Rounded Rectangle 16"/>
          <p:cNvSpPr/>
          <p:nvPr/>
        </p:nvSpPr>
        <p:spPr>
          <a:xfrm>
            <a:off x="1252728" y="4517136"/>
            <a:ext cx="2798064" cy="237744"/>
          </a:xfrm>
          <a:prstGeom prst="roundRect">
            <a:avLst/>
          </a:prstGeom>
          <a:solidFill>
            <a:srgbClr val="2EB44C"/>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750" b="1">
                <a:solidFill>
                  <a:srgbClr val="FFFFFF"/>
                </a:solidFill>
                <a:latin typeface="メイリオ"/>
              </a:rPr>
              <a:t>週末のうちにチェックする ▶</a:t>
            </a:r>
          </a:p>
        </p:txBody>
      </p:sp>
      <p:sp>
        <p:nvSpPr>
          <p:cNvPr id="18" name="TextBox 17"/>
          <p:cNvSpPr txBox="1"/>
          <p:nvPr/>
        </p:nvSpPr>
        <p:spPr>
          <a:xfrm>
            <a:off x="5074920" y="1920240"/>
            <a:ext cx="4206240" cy="292608"/>
          </a:xfrm>
          <a:prstGeom prst="rect">
            <a:avLst/>
          </a:prstGeom>
          <a:noFill/>
        </p:spPr>
        <p:txBody>
          <a:bodyPr wrap="square">
            <a:spAutoFit/>
          </a:bodyPr>
          <a:lstStyle/>
          <a:p>
            <a:pPr algn="l"/>
            <a:r>
              <a:rPr sz="1400" b="1">
                <a:solidFill>
                  <a:srgbClr val="C00000"/>
                </a:solidFill>
                <a:latin typeface="メイリオ"/>
              </a:rPr>
              <a:t>● 日曜夜｜決断押し配信（背中押し）</a:t>
            </a:r>
          </a:p>
        </p:txBody>
      </p:sp>
      <p:sp>
        <p:nvSpPr>
          <p:cNvPr id="19" name="Rounded Rectangle 18"/>
          <p:cNvSpPr/>
          <p:nvPr/>
        </p:nvSpPr>
        <p:spPr>
          <a:xfrm>
            <a:off x="5623560" y="2286000"/>
            <a:ext cx="3108960" cy="2651760"/>
          </a:xfrm>
          <a:prstGeom prst="roundRect">
            <a:avLst/>
          </a:prstGeom>
          <a:solidFill>
            <a:srgbClr val="22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0" y="2414016"/>
            <a:ext cx="3017520" cy="2432304"/>
          </a:xfrm>
          <a:prstGeom prst="rect">
            <a:avLst/>
          </a:prstGeom>
          <a:solidFill>
            <a:srgbClr val="849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0" y="2290572"/>
            <a:ext cx="3017520" cy="128016"/>
          </a:xfrm>
          <a:prstGeom prst="rect">
            <a:avLst/>
          </a:prstGeom>
          <a:noFill/>
        </p:spPr>
        <p:txBody>
          <a:bodyPr wrap="none">
            <a:spAutoFit/>
          </a:bodyPr>
          <a:lstStyle/>
          <a:p>
            <a:pPr algn="ctr"/>
            <a:r>
              <a:rPr sz="500">
                <a:solidFill>
                  <a:srgbClr val="55555A"/>
                </a:solidFill>
              </a:rPr>
              <a:t>●</a:t>
            </a:r>
          </a:p>
        </p:txBody>
      </p:sp>
      <p:sp>
        <p:nvSpPr>
          <p:cNvPr id="22" name="Rounded Rectangle 21"/>
          <p:cNvSpPr/>
          <p:nvPr/>
        </p:nvSpPr>
        <p:spPr>
          <a:xfrm>
            <a:off x="5760720" y="2505456"/>
            <a:ext cx="2834640" cy="88277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750">
                <a:solidFill>
                  <a:srgbClr val="333333"/>
                </a:solidFill>
                <a:latin typeface="メイリオ"/>
              </a:rPr>
              <a:t>明日からまた、同じ1週間が始まります。</a:t>
            </a:r>
          </a:p>
          <a:p>
            <a:pPr algn="l"/>
            <a:r>
              <a:rPr sz="750">
                <a:solidFill>
                  <a:srgbClr val="333333"/>
                </a:solidFill>
                <a:latin typeface="メイリオ"/>
              </a:rPr>
              <a:t>でも、今夜1通返信するだけで</a:t>
            </a:r>
          </a:p>
          <a:p>
            <a:pPr algn="l"/>
            <a:r>
              <a:rPr sz="750">
                <a:solidFill>
                  <a:srgbClr val="333333"/>
                </a:solidFill>
                <a:latin typeface="メイリオ"/>
              </a:rPr>
              <a:t>来週は違う景色かもしれません。</a:t>
            </a:r>
          </a:p>
          <a:p>
            <a:pPr algn="l"/>
            <a:r>
              <a:rPr sz="750">
                <a:solidFill>
                  <a:srgbClr val="333333"/>
                </a:solidFill>
                <a:latin typeface="メイリオ"/>
              </a:rPr>
              <a:t>昨日のTOP5、気になるものは</a:t>
            </a:r>
          </a:p>
          <a:p>
            <a:pPr algn="l"/>
            <a:r>
              <a:rPr sz="750">
                <a:solidFill>
                  <a:srgbClr val="333333"/>
                </a:solidFill>
                <a:latin typeface="メイリオ"/>
              </a:rPr>
              <a:t>ありましたか？番号の返信だけでOK😊</a:t>
            </a:r>
          </a:p>
        </p:txBody>
      </p:sp>
      <p:sp>
        <p:nvSpPr>
          <p:cNvPr id="23" name="Rounded Rectangle 22"/>
          <p:cNvSpPr/>
          <p:nvPr/>
        </p:nvSpPr>
        <p:spPr>
          <a:xfrm>
            <a:off x="5779008" y="4517136"/>
            <a:ext cx="2798064" cy="237744"/>
          </a:xfrm>
          <a:prstGeom prst="roundRect">
            <a:avLst/>
          </a:prstGeom>
          <a:solidFill>
            <a:srgbClr val="2EB44C"/>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750" b="1">
                <a:solidFill>
                  <a:srgbClr val="FFFFFF"/>
                </a:solidFill>
                <a:latin typeface="メイリオ"/>
              </a:rPr>
              <a:t>「1」と返信して相談する ▶</a:t>
            </a:r>
          </a:p>
        </p:txBody>
      </p:sp>
      <p:sp>
        <p:nvSpPr>
          <p:cNvPr id="24" name="TextBox 23"/>
          <p:cNvSpPr txBox="1"/>
          <p:nvPr/>
        </p:nvSpPr>
        <p:spPr>
          <a:xfrm>
            <a:off x="548640" y="5166360"/>
            <a:ext cx="8778240" cy="731520"/>
          </a:xfrm>
          <a:prstGeom prst="rect">
            <a:avLst/>
          </a:prstGeom>
          <a:noFill/>
        </p:spPr>
        <p:txBody>
          <a:bodyPr wrap="square">
            <a:spAutoFit/>
          </a:bodyPr>
          <a:lstStyle/>
          <a:p>
            <a:pPr algn="l"/>
            <a:r>
              <a:rPr sz="1400" b="1">
                <a:solidFill>
                  <a:srgbClr val="1F285A"/>
                </a:solidFill>
                <a:latin typeface="メイリオ"/>
              </a:rPr>
              <a:t>見せる日（土曜夜）と決めさせる日（日曜夜）を分けることで応募率を最大化。</a:t>
            </a:r>
          </a:p>
          <a:p>
            <a:pPr algn="l"/>
            <a:r>
              <a:rPr sz="1400" b="0">
                <a:solidFill>
                  <a:srgbClr val="333333"/>
                </a:solidFill>
                <a:latin typeface="メイリオ"/>
              </a:rPr>
              <a:t>平日は 朝7時台＝新着求人／昼12時台＝読み物系／夜19-21時＝応募系メイン配信 で運用します。</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365760"/>
          </a:xfrm>
          <a:prstGeom prst="rect">
            <a:avLst/>
          </a:prstGeom>
          <a:noFill/>
        </p:spPr>
        <p:txBody>
          <a:bodyPr wrap="none">
            <a:spAutoFit/>
          </a:bodyPr>
          <a:lstStyle/>
          <a:p>
            <a:r>
              <a:rPr sz="2000" b="1">
                <a:solidFill>
                  <a:srgbClr val="002060"/>
                </a:solidFill>
                <a:latin typeface="メイリオ"/>
              </a:rPr>
              <a:t>施策⑤ 季節別の訴求設計（年間3つの山）</a:t>
            </a:r>
          </a:p>
        </p:txBody>
      </p:sp>
      <p:sp>
        <p:nvSpPr>
          <p:cNvPr id="3" name="TextBox 2"/>
          <p:cNvSpPr txBox="1"/>
          <p:nvPr/>
        </p:nvSpPr>
        <p:spPr>
          <a:xfrm>
            <a:off x="548640" y="621792"/>
            <a:ext cx="8778240" cy="457200"/>
          </a:xfrm>
          <a:prstGeom prst="rect">
            <a:avLst/>
          </a:prstGeom>
          <a:noFill/>
        </p:spPr>
        <p:txBody>
          <a:bodyPr wrap="square">
            <a:spAutoFit/>
          </a:bodyPr>
          <a:lstStyle/>
          <a:p>
            <a:r>
              <a:rPr sz="1400" b="1">
                <a:solidFill>
                  <a:srgbClr val="333333"/>
                </a:solidFill>
                <a:latin typeface="メイリオ"/>
              </a:rPr>
              <a:t>「行きたい人がいる」「行き先がある」「今決める理由がある」——3条件が揃う11-12月を年間最重点期とします。</a:t>
            </a:r>
          </a:p>
        </p:txBody>
      </p:sp>
      <p:sp>
        <p:nvSpPr>
          <p:cNvPr id="4" name="Rectangle 3"/>
          <p:cNvSpPr/>
          <p:nvPr/>
        </p:nvSpPr>
        <p:spPr>
          <a:xfrm>
            <a:off x="548640" y="1280160"/>
            <a:ext cx="731520" cy="457200"/>
          </a:xfrm>
          <a:prstGeom prst="rect">
            <a:avLst/>
          </a:prstGeom>
          <a:solidFill>
            <a:srgbClr val="EFEFE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0">
                <a:solidFill>
                  <a:srgbClr val="999999"/>
                </a:solidFill>
                <a:latin typeface="メイリオ"/>
              </a:rPr>
              <a:t>1月</a:t>
            </a:r>
          </a:p>
        </p:txBody>
      </p:sp>
      <p:sp>
        <p:nvSpPr>
          <p:cNvPr id="5" name="Rectangle 4"/>
          <p:cNvSpPr/>
          <p:nvPr/>
        </p:nvSpPr>
        <p:spPr>
          <a:xfrm>
            <a:off x="1280160" y="1280160"/>
            <a:ext cx="731520" cy="457200"/>
          </a:xfrm>
          <a:prstGeom prst="rect">
            <a:avLst/>
          </a:prstGeom>
          <a:solidFill>
            <a:srgbClr val="EFEFE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0">
                <a:solidFill>
                  <a:srgbClr val="999999"/>
                </a:solidFill>
                <a:latin typeface="メイリオ"/>
              </a:rPr>
              <a:t>2月</a:t>
            </a:r>
          </a:p>
        </p:txBody>
      </p:sp>
      <p:sp>
        <p:nvSpPr>
          <p:cNvPr id="6" name="Rectangle 5"/>
          <p:cNvSpPr/>
          <p:nvPr/>
        </p:nvSpPr>
        <p:spPr>
          <a:xfrm>
            <a:off x="2011680" y="1280160"/>
            <a:ext cx="731520" cy="457200"/>
          </a:xfrm>
          <a:prstGeom prst="rect">
            <a:avLst/>
          </a:prstGeom>
          <a:solidFill>
            <a:srgbClr val="C9D8F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1F285A"/>
                </a:solidFill>
                <a:latin typeface="メイリオ"/>
              </a:rPr>
              <a:t>3月</a:t>
            </a:r>
          </a:p>
        </p:txBody>
      </p:sp>
      <p:sp>
        <p:nvSpPr>
          <p:cNvPr id="7" name="Rectangle 6"/>
          <p:cNvSpPr/>
          <p:nvPr/>
        </p:nvSpPr>
        <p:spPr>
          <a:xfrm>
            <a:off x="2743200" y="1280160"/>
            <a:ext cx="731520" cy="457200"/>
          </a:xfrm>
          <a:prstGeom prst="rect">
            <a:avLst/>
          </a:prstGeom>
          <a:solidFill>
            <a:srgbClr val="C9D8F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1F285A"/>
                </a:solidFill>
                <a:latin typeface="メイリオ"/>
              </a:rPr>
              <a:t>4月</a:t>
            </a:r>
          </a:p>
        </p:txBody>
      </p:sp>
      <p:sp>
        <p:nvSpPr>
          <p:cNvPr id="8" name="Rectangle 7"/>
          <p:cNvSpPr/>
          <p:nvPr/>
        </p:nvSpPr>
        <p:spPr>
          <a:xfrm>
            <a:off x="3474720" y="1280160"/>
            <a:ext cx="731520" cy="457200"/>
          </a:xfrm>
          <a:prstGeom prst="rect">
            <a:avLst/>
          </a:prstGeom>
          <a:solidFill>
            <a:srgbClr val="EFEFE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0">
                <a:solidFill>
                  <a:srgbClr val="999999"/>
                </a:solidFill>
                <a:latin typeface="メイリオ"/>
              </a:rPr>
              <a:t>5月</a:t>
            </a:r>
          </a:p>
        </p:txBody>
      </p:sp>
      <p:sp>
        <p:nvSpPr>
          <p:cNvPr id="9" name="Rectangle 8"/>
          <p:cNvSpPr/>
          <p:nvPr/>
        </p:nvSpPr>
        <p:spPr>
          <a:xfrm>
            <a:off x="4206240" y="1280160"/>
            <a:ext cx="731520" cy="457200"/>
          </a:xfrm>
          <a:prstGeom prst="rect">
            <a:avLst/>
          </a:prstGeom>
          <a:solidFill>
            <a:srgbClr val="EFEFE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0">
                <a:solidFill>
                  <a:srgbClr val="999999"/>
                </a:solidFill>
                <a:latin typeface="メイリオ"/>
              </a:rPr>
              <a:t>6月</a:t>
            </a:r>
          </a:p>
        </p:txBody>
      </p:sp>
      <p:sp>
        <p:nvSpPr>
          <p:cNvPr id="10" name="Rectangle 9"/>
          <p:cNvSpPr/>
          <p:nvPr/>
        </p:nvSpPr>
        <p:spPr>
          <a:xfrm>
            <a:off x="4937760" y="1280160"/>
            <a:ext cx="731520" cy="457200"/>
          </a:xfrm>
          <a:prstGeom prst="rect">
            <a:avLst/>
          </a:prstGeom>
          <a:solidFill>
            <a:srgbClr val="C9D8F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1F285A"/>
                </a:solidFill>
                <a:latin typeface="メイリオ"/>
              </a:rPr>
              <a:t>7月</a:t>
            </a:r>
          </a:p>
        </p:txBody>
      </p:sp>
      <p:sp>
        <p:nvSpPr>
          <p:cNvPr id="11" name="Rectangle 10"/>
          <p:cNvSpPr/>
          <p:nvPr/>
        </p:nvSpPr>
        <p:spPr>
          <a:xfrm>
            <a:off x="5669280" y="1280160"/>
            <a:ext cx="731520" cy="457200"/>
          </a:xfrm>
          <a:prstGeom prst="rect">
            <a:avLst/>
          </a:prstGeom>
          <a:solidFill>
            <a:srgbClr val="C9D8F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1F285A"/>
                </a:solidFill>
                <a:latin typeface="メイリオ"/>
              </a:rPr>
              <a:t>8月</a:t>
            </a:r>
          </a:p>
        </p:txBody>
      </p:sp>
      <p:sp>
        <p:nvSpPr>
          <p:cNvPr id="12" name="Rectangle 11"/>
          <p:cNvSpPr/>
          <p:nvPr/>
        </p:nvSpPr>
        <p:spPr>
          <a:xfrm>
            <a:off x="6400800" y="1280160"/>
            <a:ext cx="731520" cy="457200"/>
          </a:xfrm>
          <a:prstGeom prst="rect">
            <a:avLst/>
          </a:prstGeom>
          <a:solidFill>
            <a:srgbClr val="EFEFE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0">
                <a:solidFill>
                  <a:srgbClr val="999999"/>
                </a:solidFill>
                <a:latin typeface="メイリオ"/>
              </a:rPr>
              <a:t>9月</a:t>
            </a:r>
          </a:p>
        </p:txBody>
      </p:sp>
      <p:sp>
        <p:nvSpPr>
          <p:cNvPr id="13" name="Rectangle 12"/>
          <p:cNvSpPr/>
          <p:nvPr/>
        </p:nvSpPr>
        <p:spPr>
          <a:xfrm>
            <a:off x="7132320" y="1280160"/>
            <a:ext cx="731520" cy="457200"/>
          </a:xfrm>
          <a:prstGeom prst="rect">
            <a:avLst/>
          </a:prstGeom>
          <a:solidFill>
            <a:srgbClr val="EFEFE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0">
                <a:solidFill>
                  <a:srgbClr val="999999"/>
                </a:solidFill>
                <a:latin typeface="メイリオ"/>
              </a:rPr>
              <a:t>10月</a:t>
            </a:r>
          </a:p>
        </p:txBody>
      </p:sp>
      <p:sp>
        <p:nvSpPr>
          <p:cNvPr id="14" name="Rectangle 13"/>
          <p:cNvSpPr/>
          <p:nvPr/>
        </p:nvSpPr>
        <p:spPr>
          <a:xfrm>
            <a:off x="7863840" y="1280160"/>
            <a:ext cx="731520" cy="457200"/>
          </a:xfrm>
          <a:prstGeom prst="rect">
            <a:avLst/>
          </a:prstGeom>
          <a:solidFill>
            <a:srgbClr val="C000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latin typeface="メイリオ"/>
              </a:rPr>
              <a:t>11月</a:t>
            </a:r>
          </a:p>
        </p:txBody>
      </p:sp>
      <p:sp>
        <p:nvSpPr>
          <p:cNvPr id="15" name="Rectangle 14"/>
          <p:cNvSpPr/>
          <p:nvPr/>
        </p:nvSpPr>
        <p:spPr>
          <a:xfrm>
            <a:off x="8595360" y="1280160"/>
            <a:ext cx="731520" cy="457200"/>
          </a:xfrm>
          <a:prstGeom prst="rect">
            <a:avLst/>
          </a:prstGeom>
          <a:solidFill>
            <a:srgbClr val="C000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latin typeface="メイリオ"/>
              </a:rPr>
              <a:t>12月</a:t>
            </a:r>
          </a:p>
        </p:txBody>
      </p:sp>
      <p:sp>
        <p:nvSpPr>
          <p:cNvPr id="16" name="Rounded Rectangle 15"/>
          <p:cNvSpPr/>
          <p:nvPr/>
        </p:nvSpPr>
        <p:spPr>
          <a:xfrm>
            <a:off x="548640" y="1920240"/>
            <a:ext cx="2788920" cy="1600200"/>
          </a:xfrm>
          <a:prstGeom prst="roundRect">
            <a:avLst/>
          </a:prstGeom>
          <a:solidFill>
            <a:srgbClr val="EAF0FA"/>
          </a:solidFill>
          <a:ln w="15875">
            <a:solidFill>
              <a:srgbClr val="1F285A"/>
            </a:solidFill>
          </a:ln>
        </p:spPr>
        <p:style>
          <a:lnRef idx="1">
            <a:schemeClr val="accent1"/>
          </a:lnRef>
          <a:fillRef idx="3">
            <a:schemeClr val="accent1"/>
          </a:fillRef>
          <a:effectRef idx="2">
            <a:schemeClr val="accent1"/>
          </a:effectRef>
          <a:fontRef idx="minor">
            <a:schemeClr val="lt1"/>
          </a:fontRef>
        </p:style>
        <p:txBody>
          <a:bodyPr wrap="square" tIns="64008" rtlCol="0" anchor="t"/>
          <a:lstStyle/>
          <a:p>
            <a:pPr algn="ctr"/>
            <a:r>
              <a:rPr sz="1300" b="1">
                <a:solidFill>
                  <a:srgbClr val="1F285A"/>
                </a:solidFill>
                <a:latin typeface="メイリオ"/>
              </a:rPr>
              <a:t>3-4月｜新生活の季節</a:t>
            </a:r>
          </a:p>
          <a:p>
            <a:r>
              <a:rPr sz="1300">
                <a:solidFill>
                  <a:srgbClr val="333333"/>
                </a:solidFill>
                <a:latin typeface="メイリオ"/>
              </a:rPr>
              <a:t>・進学・就職・転勤で人が動く</a:t>
            </a:r>
          </a:p>
          <a:p>
            <a:r>
              <a:rPr sz="1300">
                <a:solidFill>
                  <a:srgbClr val="333333"/>
                </a:solidFill>
                <a:latin typeface="メイリオ"/>
              </a:rPr>
              <a:t>・求人も年間で豊富な時期</a:t>
            </a:r>
          </a:p>
          <a:p>
            <a:r>
              <a:rPr sz="1300">
                <a:solidFill>
                  <a:srgbClr val="333333"/>
                </a:solidFill>
                <a:latin typeface="メイリオ"/>
              </a:rPr>
              <a:t>・「選択肢の豊富さ」を訴求</a:t>
            </a:r>
          </a:p>
        </p:txBody>
      </p:sp>
      <p:sp>
        <p:nvSpPr>
          <p:cNvPr id="17" name="Rounded Rectangle 16"/>
          <p:cNvSpPr/>
          <p:nvPr/>
        </p:nvSpPr>
        <p:spPr>
          <a:xfrm>
            <a:off x="868680" y="3657600"/>
            <a:ext cx="2148840" cy="2148840"/>
          </a:xfrm>
          <a:prstGeom prst="roundRect">
            <a:avLst/>
          </a:prstGeom>
          <a:solidFill>
            <a:srgbClr val="22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14400" y="3785616"/>
            <a:ext cx="2057400" cy="1929384"/>
          </a:xfrm>
          <a:prstGeom prst="rect">
            <a:avLst/>
          </a:prstGeom>
          <a:solidFill>
            <a:srgbClr val="849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662172"/>
            <a:ext cx="2057400" cy="128016"/>
          </a:xfrm>
          <a:prstGeom prst="rect">
            <a:avLst/>
          </a:prstGeom>
          <a:noFill/>
        </p:spPr>
        <p:txBody>
          <a:bodyPr wrap="none">
            <a:spAutoFit/>
          </a:bodyPr>
          <a:lstStyle/>
          <a:p>
            <a:pPr algn="ctr"/>
            <a:r>
              <a:rPr sz="500">
                <a:solidFill>
                  <a:srgbClr val="55555A"/>
                </a:solidFill>
              </a:rPr>
              <a:t>●</a:t>
            </a:r>
          </a:p>
        </p:txBody>
      </p:sp>
      <p:sp>
        <p:nvSpPr>
          <p:cNvPr id="20" name="Rounded Rectangle 19"/>
          <p:cNvSpPr/>
          <p:nvPr/>
        </p:nvSpPr>
        <p:spPr>
          <a:xfrm>
            <a:off x="987552" y="3858768"/>
            <a:ext cx="1911096" cy="3754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700">
                <a:solidFill>
                  <a:srgbClr val="333333"/>
                </a:solidFill>
                <a:latin typeface="メイリオ"/>
              </a:rPr>
              <a:t>🌸 新生活、新しい仕事で</a:t>
            </a:r>
          </a:p>
          <a:p>
            <a:pPr algn="l"/>
            <a:r>
              <a:rPr sz="700">
                <a:solidFill>
                  <a:srgbClr val="333333"/>
                </a:solidFill>
                <a:latin typeface="メイリオ"/>
              </a:rPr>
              <a:t>始めませんか？</a:t>
            </a:r>
          </a:p>
        </p:txBody>
      </p:sp>
      <p:sp>
        <p:nvSpPr>
          <p:cNvPr id="21" name="Rounded Rectangle 20"/>
          <p:cNvSpPr/>
          <p:nvPr/>
        </p:nvSpPr>
        <p:spPr>
          <a:xfrm>
            <a:off x="1097280" y="4343908"/>
            <a:ext cx="1691640" cy="640080"/>
          </a:xfrm>
          <a:prstGeom prst="roundRect">
            <a:avLst/>
          </a:prstGeom>
          <a:solidFill>
            <a:srgbClr val="14172E"/>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750" b="1">
                <a:solidFill>
                  <a:srgbClr val="FFFFFF"/>
                </a:solidFill>
                <a:latin typeface="メイリオ"/>
              </a:rPr>
              <a:t>今なら選べる</a:t>
            </a:r>
          </a:p>
          <a:p>
            <a:pPr algn="ctr"/>
            <a:r>
              <a:rPr sz="850" b="1">
                <a:solidFill>
                  <a:srgbClr val="E8C25A"/>
                </a:solidFill>
                <a:latin typeface="メイリオ"/>
              </a:rPr>
              <a:t>求人◯◯件</a:t>
            </a:r>
          </a:p>
        </p:txBody>
      </p:sp>
      <p:sp>
        <p:nvSpPr>
          <p:cNvPr id="22" name="Rounded Rectangle 21"/>
          <p:cNvSpPr/>
          <p:nvPr/>
        </p:nvSpPr>
        <p:spPr>
          <a:xfrm>
            <a:off x="3502152" y="1920240"/>
            <a:ext cx="2788920" cy="1600200"/>
          </a:xfrm>
          <a:prstGeom prst="roundRect">
            <a:avLst/>
          </a:prstGeom>
          <a:solidFill>
            <a:srgbClr val="EAF0FA"/>
          </a:solidFill>
          <a:ln w="15875">
            <a:solidFill>
              <a:srgbClr val="1F285A"/>
            </a:solidFill>
          </a:ln>
        </p:spPr>
        <p:style>
          <a:lnRef idx="1">
            <a:schemeClr val="accent1"/>
          </a:lnRef>
          <a:fillRef idx="3">
            <a:schemeClr val="accent1"/>
          </a:fillRef>
          <a:effectRef idx="2">
            <a:schemeClr val="accent1"/>
          </a:effectRef>
          <a:fontRef idx="minor">
            <a:schemeClr val="lt1"/>
          </a:fontRef>
        </p:style>
        <p:txBody>
          <a:bodyPr wrap="square" tIns="64008" rtlCol="0" anchor="t"/>
          <a:lstStyle/>
          <a:p>
            <a:pPr algn="ctr"/>
            <a:r>
              <a:rPr sz="1300" b="1">
                <a:solidFill>
                  <a:srgbClr val="1F285A"/>
                </a:solidFill>
                <a:latin typeface="メイリオ"/>
              </a:rPr>
              <a:t>7-8月｜中だるみ・お盆</a:t>
            </a:r>
          </a:p>
          <a:p>
            <a:r>
              <a:rPr sz="1300">
                <a:solidFill>
                  <a:srgbClr val="333333"/>
                </a:solidFill>
                <a:latin typeface="メイリオ"/>
              </a:rPr>
              <a:t>・帰省で同世代との差を実感</a:t>
            </a:r>
          </a:p>
          <a:p>
            <a:r>
              <a:rPr sz="1300">
                <a:solidFill>
                  <a:srgbClr val="333333"/>
                </a:solidFill>
                <a:latin typeface="メイリオ"/>
              </a:rPr>
              <a:t>・「続けなくていい」の後押し</a:t>
            </a:r>
          </a:p>
          <a:p>
            <a:r>
              <a:rPr sz="1300">
                <a:solidFill>
                  <a:srgbClr val="333333"/>
                </a:solidFill>
                <a:latin typeface="メイリオ"/>
              </a:rPr>
              <a:t>・屋内・空調完備を訴求</a:t>
            </a:r>
          </a:p>
        </p:txBody>
      </p:sp>
      <p:sp>
        <p:nvSpPr>
          <p:cNvPr id="23" name="Rounded Rectangle 22"/>
          <p:cNvSpPr/>
          <p:nvPr/>
        </p:nvSpPr>
        <p:spPr>
          <a:xfrm>
            <a:off x="3822192" y="3657600"/>
            <a:ext cx="2148840" cy="2148840"/>
          </a:xfrm>
          <a:prstGeom prst="roundRect">
            <a:avLst/>
          </a:prstGeom>
          <a:solidFill>
            <a:srgbClr val="22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867912" y="3785616"/>
            <a:ext cx="2057400" cy="1929384"/>
          </a:xfrm>
          <a:prstGeom prst="rect">
            <a:avLst/>
          </a:prstGeom>
          <a:solidFill>
            <a:srgbClr val="849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67912" y="3662172"/>
            <a:ext cx="2057400" cy="128016"/>
          </a:xfrm>
          <a:prstGeom prst="rect">
            <a:avLst/>
          </a:prstGeom>
          <a:noFill/>
        </p:spPr>
        <p:txBody>
          <a:bodyPr wrap="none">
            <a:spAutoFit/>
          </a:bodyPr>
          <a:lstStyle/>
          <a:p>
            <a:pPr algn="ctr"/>
            <a:r>
              <a:rPr sz="500">
                <a:solidFill>
                  <a:srgbClr val="55555A"/>
                </a:solidFill>
              </a:rPr>
              <a:t>●</a:t>
            </a:r>
          </a:p>
        </p:txBody>
      </p:sp>
      <p:sp>
        <p:nvSpPr>
          <p:cNvPr id="26" name="Rounded Rectangle 25"/>
          <p:cNvSpPr/>
          <p:nvPr/>
        </p:nvSpPr>
        <p:spPr>
          <a:xfrm>
            <a:off x="3941064" y="3858768"/>
            <a:ext cx="1911096" cy="3754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700">
                <a:solidFill>
                  <a:srgbClr val="333333"/>
                </a:solidFill>
                <a:latin typeface="メイリオ"/>
              </a:rPr>
              <a:t>🍉 この夏、働き方を</a:t>
            </a:r>
          </a:p>
          <a:p>
            <a:pPr algn="l"/>
            <a:r>
              <a:rPr sz="700">
                <a:solidFill>
                  <a:srgbClr val="333333"/>
                </a:solidFill>
                <a:latin typeface="メイリオ"/>
              </a:rPr>
              <a:t>変えよう。</a:t>
            </a:r>
          </a:p>
        </p:txBody>
      </p:sp>
      <p:sp>
        <p:nvSpPr>
          <p:cNvPr id="27" name="Rounded Rectangle 26"/>
          <p:cNvSpPr/>
          <p:nvPr/>
        </p:nvSpPr>
        <p:spPr>
          <a:xfrm>
            <a:off x="4050792" y="4343908"/>
            <a:ext cx="1691640" cy="640080"/>
          </a:xfrm>
          <a:prstGeom prst="roundRect">
            <a:avLst/>
          </a:prstGeom>
          <a:solidFill>
            <a:srgbClr val="14172E"/>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750" b="1">
                <a:solidFill>
                  <a:srgbClr val="FFFFFF"/>
                </a:solidFill>
                <a:latin typeface="メイリオ"/>
              </a:rPr>
              <a:t>屋内・空調完備</a:t>
            </a:r>
          </a:p>
          <a:p>
            <a:pPr algn="ctr"/>
            <a:r>
              <a:rPr sz="850" b="1">
                <a:solidFill>
                  <a:srgbClr val="E8C25A"/>
                </a:solidFill>
                <a:latin typeface="メイリオ"/>
              </a:rPr>
              <a:t>月収30万円〜</a:t>
            </a:r>
          </a:p>
        </p:txBody>
      </p:sp>
      <p:sp>
        <p:nvSpPr>
          <p:cNvPr id="28" name="Rounded Rectangle 27"/>
          <p:cNvSpPr/>
          <p:nvPr/>
        </p:nvSpPr>
        <p:spPr>
          <a:xfrm>
            <a:off x="6455664" y="1920240"/>
            <a:ext cx="2788920" cy="1600200"/>
          </a:xfrm>
          <a:prstGeom prst="roundRect">
            <a:avLst/>
          </a:prstGeom>
          <a:solidFill>
            <a:srgbClr val="FDECEC"/>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wrap="square" tIns="64008" rtlCol="0" anchor="t"/>
          <a:lstStyle/>
          <a:p>
            <a:pPr algn="ctr"/>
            <a:r>
              <a:rPr sz="1300" b="1">
                <a:solidFill>
                  <a:srgbClr val="C00000"/>
                </a:solidFill>
                <a:latin typeface="メイリオ"/>
              </a:rPr>
              <a:t>11-12月｜年間最重点期</a:t>
            </a:r>
          </a:p>
          <a:p>
            <a:r>
              <a:rPr sz="1300">
                <a:solidFill>
                  <a:srgbClr val="333333"/>
                </a:solidFill>
                <a:latin typeface="メイリオ"/>
              </a:rPr>
              <a:t>・契約切れで寮と収入を失う層</a:t>
            </a:r>
          </a:p>
          <a:p>
            <a:r>
              <a:rPr sz="1300">
                <a:solidFill>
                  <a:srgbClr val="333333"/>
                </a:solidFill>
                <a:latin typeface="メイリオ"/>
              </a:rPr>
              <a:t>・年末商戦の増産で求人最多</a:t>
            </a:r>
          </a:p>
          <a:p>
            <a:r>
              <a:rPr sz="1300">
                <a:solidFill>
                  <a:srgbClr val="333333"/>
                </a:solidFill>
                <a:latin typeface="メイリオ"/>
              </a:rPr>
              <a:t>・「年内に」の自然な期限</a:t>
            </a:r>
          </a:p>
        </p:txBody>
      </p:sp>
      <p:sp>
        <p:nvSpPr>
          <p:cNvPr id="29" name="Rounded Rectangle 28"/>
          <p:cNvSpPr/>
          <p:nvPr/>
        </p:nvSpPr>
        <p:spPr>
          <a:xfrm>
            <a:off x="6775704" y="3657600"/>
            <a:ext cx="2148840" cy="2148840"/>
          </a:xfrm>
          <a:prstGeom prst="roundRect">
            <a:avLst/>
          </a:prstGeom>
          <a:solidFill>
            <a:srgbClr val="22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821424" y="3785616"/>
            <a:ext cx="2057400" cy="1929384"/>
          </a:xfrm>
          <a:prstGeom prst="rect">
            <a:avLst/>
          </a:prstGeom>
          <a:solidFill>
            <a:srgbClr val="849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21424" y="3662172"/>
            <a:ext cx="2057400" cy="128016"/>
          </a:xfrm>
          <a:prstGeom prst="rect">
            <a:avLst/>
          </a:prstGeom>
          <a:noFill/>
        </p:spPr>
        <p:txBody>
          <a:bodyPr wrap="none">
            <a:spAutoFit/>
          </a:bodyPr>
          <a:lstStyle/>
          <a:p>
            <a:pPr algn="ctr"/>
            <a:r>
              <a:rPr sz="500">
                <a:solidFill>
                  <a:srgbClr val="55555A"/>
                </a:solidFill>
              </a:rPr>
              <a:t>●</a:t>
            </a:r>
          </a:p>
        </p:txBody>
      </p:sp>
      <p:sp>
        <p:nvSpPr>
          <p:cNvPr id="32" name="Rounded Rectangle 31"/>
          <p:cNvSpPr/>
          <p:nvPr/>
        </p:nvSpPr>
        <p:spPr>
          <a:xfrm>
            <a:off x="6894576" y="3858768"/>
            <a:ext cx="1911096" cy="3754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700">
                <a:solidFill>
                  <a:srgbClr val="333333"/>
                </a:solidFill>
                <a:latin typeface="メイリオ"/>
              </a:rPr>
              <a:t>🎍 年内に、住まいと仕事を</a:t>
            </a:r>
          </a:p>
          <a:p>
            <a:pPr algn="l"/>
            <a:r>
              <a:rPr sz="700">
                <a:solidFill>
                  <a:srgbClr val="333333"/>
                </a:solidFill>
                <a:latin typeface="メイリオ"/>
              </a:rPr>
              <a:t>決めませんか？</a:t>
            </a:r>
          </a:p>
        </p:txBody>
      </p:sp>
      <p:sp>
        <p:nvSpPr>
          <p:cNvPr id="33" name="Rounded Rectangle 32"/>
          <p:cNvSpPr/>
          <p:nvPr/>
        </p:nvSpPr>
        <p:spPr>
          <a:xfrm>
            <a:off x="7004304" y="4343908"/>
            <a:ext cx="1691640" cy="640080"/>
          </a:xfrm>
          <a:prstGeom prst="roundRect">
            <a:avLst/>
          </a:prstGeom>
          <a:solidFill>
            <a:srgbClr val="14172E"/>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750" b="1">
                <a:solidFill>
                  <a:srgbClr val="FFFFFF"/>
                </a:solidFill>
                <a:latin typeface="メイリオ"/>
              </a:rPr>
              <a:t>年内入寮OK</a:t>
            </a:r>
          </a:p>
          <a:p>
            <a:pPr algn="ctr"/>
            <a:r>
              <a:rPr sz="850" b="1">
                <a:solidFill>
                  <a:srgbClr val="E8C25A"/>
                </a:solidFill>
                <a:latin typeface="メイリオ"/>
              </a:rPr>
              <a:t>祝金増額中</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プラン・シミュレーション</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365760"/>
          </a:xfrm>
          <a:prstGeom prst="rect">
            <a:avLst/>
          </a:prstGeom>
          <a:noFill/>
        </p:spPr>
        <p:txBody>
          <a:bodyPr wrap="none">
            <a:spAutoFit/>
          </a:bodyPr>
          <a:lstStyle/>
          <a:p>
            <a:r>
              <a:rPr sz="2000" b="1">
                <a:solidFill>
                  <a:srgbClr val="002060"/>
                </a:solidFill>
                <a:latin typeface="メイリオ"/>
              </a:rPr>
              <a:t>想定の費用対効果（サマリー）</a:t>
            </a:r>
          </a:p>
        </p:txBody>
      </p:sp>
      <p:sp>
        <p:nvSpPr>
          <p:cNvPr id="3" name="TextBox 2"/>
          <p:cNvSpPr txBox="1"/>
          <p:nvPr/>
        </p:nvSpPr>
        <p:spPr>
          <a:xfrm>
            <a:off x="548640" y="640080"/>
            <a:ext cx="8778240" cy="502920"/>
          </a:xfrm>
          <a:prstGeom prst="rect">
            <a:avLst/>
          </a:prstGeom>
          <a:noFill/>
        </p:spPr>
        <p:txBody>
          <a:bodyPr wrap="square">
            <a:spAutoFit/>
          </a:bodyPr>
          <a:lstStyle/>
          <a:p>
            <a:r>
              <a:rPr sz="1400" b="1">
                <a:solidFill>
                  <a:srgbClr val="333333"/>
                </a:solidFill>
                <a:latin typeface="メイリオ"/>
              </a:rPr>
              <a:t>離脱防止バナーによる友だち獲得とステップ配信で、LINE経由の応募を月17〜22件積み上げます。</a:t>
            </a:r>
          </a:p>
        </p:txBody>
      </p:sp>
      <p:sp>
        <p:nvSpPr>
          <p:cNvPr id="4" name="Rounded Rectangle 3"/>
          <p:cNvSpPr/>
          <p:nvPr/>
        </p:nvSpPr>
        <p:spPr>
          <a:xfrm>
            <a:off x="548640" y="1325880"/>
            <a:ext cx="2788920" cy="1645920"/>
          </a:xfrm>
          <a:prstGeom prst="roundRect">
            <a:avLst/>
          </a:prstGeom>
          <a:solidFill>
            <a:srgbClr val="EAF0FA"/>
          </a:solidFill>
          <a:ln w="15875">
            <a:solidFill>
              <a:srgbClr val="1F285A"/>
            </a:solidFill>
          </a:ln>
        </p:spPr>
        <p:style>
          <a:lnRef idx="1">
            <a:schemeClr val="accent1"/>
          </a:lnRef>
          <a:fillRef idx="3">
            <a:schemeClr val="accent1"/>
          </a:fillRef>
          <a:effectRef idx="2">
            <a:schemeClr val="accent1"/>
          </a:effectRef>
          <a:fontRef idx="minor">
            <a:schemeClr val="lt1"/>
          </a:fontRef>
        </p:style>
        <p:txBody>
          <a:bodyPr wrap="square" tIns="54864" rtlCol="0" anchor="t"/>
          <a:lstStyle/>
          <a:p>
            <a:pPr algn="ctr"/>
            <a:r>
              <a:rPr sz="1300" b="1">
                <a:solidFill>
                  <a:srgbClr val="1F285A"/>
                </a:solidFill>
                <a:latin typeface="メイリオ"/>
              </a:rPr>
              <a:t>初期費用</a:t>
            </a:r>
          </a:p>
          <a:p>
            <a:pPr algn="ctr"/>
            <a:r>
              <a:rPr sz="2000" b="1">
                <a:solidFill>
                  <a:srgbClr val="1F285A"/>
                </a:solidFill>
                <a:latin typeface="メイリオ"/>
              </a:rPr>
              <a:t>¥235,000</a:t>
            </a:r>
          </a:p>
          <a:p>
            <a:r>
              <a:rPr sz="1300">
                <a:solidFill>
                  <a:srgbClr val="333333"/>
                </a:solidFill>
                <a:latin typeface="メイリオ"/>
              </a:rPr>
              <a:t>コンサル初期20万＋離脱防止1.5万＋API2万</a:t>
            </a:r>
          </a:p>
        </p:txBody>
      </p:sp>
      <p:sp>
        <p:nvSpPr>
          <p:cNvPr id="5" name="Rounded Rectangle 4"/>
          <p:cNvSpPr/>
          <p:nvPr/>
        </p:nvSpPr>
        <p:spPr>
          <a:xfrm>
            <a:off x="3520440" y="1325880"/>
            <a:ext cx="2788920" cy="1645920"/>
          </a:xfrm>
          <a:prstGeom prst="roundRect">
            <a:avLst/>
          </a:prstGeom>
          <a:solidFill>
            <a:srgbClr val="EAF0FA"/>
          </a:solidFill>
          <a:ln w="15875">
            <a:solidFill>
              <a:srgbClr val="1F285A"/>
            </a:solidFill>
          </a:ln>
        </p:spPr>
        <p:style>
          <a:lnRef idx="1">
            <a:schemeClr val="accent1"/>
          </a:lnRef>
          <a:fillRef idx="3">
            <a:schemeClr val="accent1"/>
          </a:fillRef>
          <a:effectRef idx="2">
            <a:schemeClr val="accent1"/>
          </a:effectRef>
          <a:fontRef idx="minor">
            <a:schemeClr val="lt1"/>
          </a:fontRef>
        </p:style>
        <p:txBody>
          <a:bodyPr wrap="square" tIns="54864" rtlCol="0" anchor="t"/>
          <a:lstStyle/>
          <a:p>
            <a:pPr algn="ctr"/>
            <a:r>
              <a:rPr sz="1300" b="1">
                <a:solidFill>
                  <a:srgbClr val="1F285A"/>
                </a:solidFill>
                <a:latin typeface="メイリオ"/>
              </a:rPr>
              <a:t>月次固定費</a:t>
            </a:r>
          </a:p>
          <a:p>
            <a:pPr algn="ctr"/>
            <a:r>
              <a:rPr sz="2000" b="1">
                <a:solidFill>
                  <a:srgbClr val="1F285A"/>
                </a:solidFill>
                <a:latin typeface="メイリオ"/>
              </a:rPr>
              <a:t>¥159,800</a:t>
            </a:r>
          </a:p>
          <a:p>
            <a:r>
              <a:rPr sz="1300">
                <a:solidFill>
                  <a:srgbClr val="333333"/>
                </a:solidFill>
                <a:latin typeface="メイリオ"/>
              </a:rPr>
              <a:t>離脱防止1.5万＋アカウント1.5万＋コンサル10万＋API2.98万</a:t>
            </a:r>
          </a:p>
        </p:txBody>
      </p:sp>
      <p:sp>
        <p:nvSpPr>
          <p:cNvPr id="6" name="Rounded Rectangle 5"/>
          <p:cNvSpPr/>
          <p:nvPr/>
        </p:nvSpPr>
        <p:spPr>
          <a:xfrm>
            <a:off x="6492240" y="1325880"/>
            <a:ext cx="2788920" cy="1645920"/>
          </a:xfrm>
          <a:prstGeom prst="roundRect">
            <a:avLst/>
          </a:prstGeom>
          <a:solidFill>
            <a:srgbClr val="EAF0FA"/>
          </a:solidFill>
          <a:ln w="15875">
            <a:solidFill>
              <a:srgbClr val="1F285A"/>
            </a:solidFill>
          </a:ln>
        </p:spPr>
        <p:style>
          <a:lnRef idx="1">
            <a:schemeClr val="accent1"/>
          </a:lnRef>
          <a:fillRef idx="3">
            <a:schemeClr val="accent1"/>
          </a:fillRef>
          <a:effectRef idx="2">
            <a:schemeClr val="accent1"/>
          </a:effectRef>
          <a:fontRef idx="minor">
            <a:schemeClr val="lt1"/>
          </a:fontRef>
        </p:style>
        <p:txBody>
          <a:bodyPr wrap="square" tIns="54864" rtlCol="0" anchor="t"/>
          <a:lstStyle/>
          <a:p>
            <a:pPr algn="ctr"/>
            <a:r>
              <a:rPr sz="1300" b="1">
                <a:solidFill>
                  <a:srgbClr val="1F285A"/>
                </a:solidFill>
                <a:latin typeface="メイリオ"/>
              </a:rPr>
              <a:t>成果報酬</a:t>
            </a:r>
          </a:p>
          <a:p>
            <a:pPr algn="ctr"/>
            <a:r>
              <a:rPr sz="2000" b="1">
                <a:solidFill>
                  <a:srgbClr val="1F285A"/>
                </a:solidFill>
                <a:latin typeface="メイリオ"/>
              </a:rPr>
              <a:t>応募×¥12,000</a:t>
            </a:r>
          </a:p>
          <a:p>
            <a:r>
              <a:rPr sz="1300">
                <a:solidFill>
                  <a:srgbClr val="333333"/>
                </a:solidFill>
                <a:latin typeface="メイリオ"/>
              </a:rPr>
              <a:t>LINE経由の応募獲得数に連動</a:t>
            </a:r>
          </a:p>
        </p:txBody>
      </p:sp>
      <p:graphicFrame>
        <p:nvGraphicFramePr>
          <p:cNvPr id="7" name="Table 6"/>
          <p:cNvGraphicFramePr>
            <a:graphicFrameLocks noGrp="1"/>
          </p:cNvGraphicFramePr>
          <p:nvPr/>
        </p:nvGraphicFramePr>
        <p:xfrm>
          <a:off x="822960" y="3337560"/>
          <a:ext cx="8138160" cy="1432560"/>
        </p:xfrm>
        <a:graphic>
          <a:graphicData uri="http://schemas.openxmlformats.org/drawingml/2006/table">
            <a:tbl>
              <a:tblPr firstRow="1" bandRow="1">
                <a:tableStyleId>{5C22544A-7EE6-4342-B048-85BDC9FD1C3A}</a:tableStyleId>
              </a:tblPr>
              <a:tblGrid>
                <a:gridCol w="1627632">
                  <a:extLst>
                    <a:ext uri="{9D8B030D-6E8A-4147-A177-3AD203B41FA5}">
                      <a16:colId xmlns:a16="http://schemas.microsoft.com/office/drawing/2014/main" val="20000"/>
                    </a:ext>
                  </a:extLst>
                </a:gridCol>
                <a:gridCol w="1627632">
                  <a:extLst>
                    <a:ext uri="{9D8B030D-6E8A-4147-A177-3AD203B41FA5}">
                      <a16:colId xmlns:a16="http://schemas.microsoft.com/office/drawing/2014/main" val="20001"/>
                    </a:ext>
                  </a:extLst>
                </a:gridCol>
                <a:gridCol w="1627632">
                  <a:extLst>
                    <a:ext uri="{9D8B030D-6E8A-4147-A177-3AD203B41FA5}">
                      <a16:colId xmlns:a16="http://schemas.microsoft.com/office/drawing/2014/main" val="20002"/>
                    </a:ext>
                  </a:extLst>
                </a:gridCol>
                <a:gridCol w="1627632">
                  <a:extLst>
                    <a:ext uri="{9D8B030D-6E8A-4147-A177-3AD203B41FA5}">
                      <a16:colId xmlns:a16="http://schemas.microsoft.com/office/drawing/2014/main" val="20003"/>
                    </a:ext>
                  </a:extLst>
                </a:gridCol>
                <a:gridCol w="1627632">
                  <a:extLst>
                    <a:ext uri="{9D8B030D-6E8A-4147-A177-3AD203B41FA5}">
                      <a16:colId xmlns:a16="http://schemas.microsoft.com/office/drawing/2014/main" val="20004"/>
                    </a:ext>
                  </a:extLst>
                </a:gridCol>
              </a:tblGrid>
              <a:tr h="457200">
                <a:tc>
                  <a:txBody>
                    <a:bodyPr/>
                    <a:lstStyle/>
                    <a:p>
                      <a:pPr algn="ctr"/>
                      <a:endParaRPr/>
                    </a:p>
                  </a:txBody>
                  <a:tcPr>
                    <a:solidFill>
                      <a:srgbClr val="1F285A"/>
                    </a:solidFill>
                  </a:tcPr>
                </a:tc>
                <a:tc>
                  <a:txBody>
                    <a:bodyPr/>
                    <a:lstStyle/>
                    <a:p>
                      <a:pPr algn="ctr"/>
                      <a:r>
                        <a:rPr sz="1400" b="1">
                          <a:solidFill>
                            <a:srgbClr val="FFFFFF"/>
                          </a:solidFill>
                          <a:latin typeface="メイリオ"/>
                        </a:rPr>
                        <a:t>友だち数</a:t>
                      </a:r>
                    </a:p>
                  </a:txBody>
                  <a:tcPr>
                    <a:solidFill>
                      <a:srgbClr val="1F285A"/>
                    </a:solidFill>
                  </a:tcPr>
                </a:tc>
                <a:tc>
                  <a:txBody>
                    <a:bodyPr/>
                    <a:lstStyle/>
                    <a:p>
                      <a:pPr algn="ctr"/>
                      <a:r>
                        <a:rPr sz="1400" b="1">
                          <a:solidFill>
                            <a:srgbClr val="FFFFFF"/>
                          </a:solidFill>
                          <a:latin typeface="メイリオ"/>
                        </a:rPr>
                        <a:t>LINE経由応募/月</a:t>
                      </a:r>
                    </a:p>
                  </a:txBody>
                  <a:tcPr>
                    <a:solidFill>
                      <a:srgbClr val="1F285A"/>
                    </a:solidFill>
                  </a:tcPr>
                </a:tc>
                <a:tc>
                  <a:txBody>
                    <a:bodyPr/>
                    <a:lstStyle/>
                    <a:p>
                      <a:pPr algn="ctr"/>
                      <a:r>
                        <a:rPr sz="1400" b="1">
                          <a:solidFill>
                            <a:srgbClr val="FFFFFF"/>
                          </a:solidFill>
                          <a:latin typeface="メイリオ"/>
                        </a:rPr>
                        <a:t>月額総計</a:t>
                      </a:r>
                    </a:p>
                  </a:txBody>
                  <a:tcPr>
                    <a:solidFill>
                      <a:srgbClr val="1F285A"/>
                    </a:solidFill>
                  </a:tcPr>
                </a:tc>
                <a:tc>
                  <a:txBody>
                    <a:bodyPr/>
                    <a:lstStyle/>
                    <a:p>
                      <a:pPr algn="ctr"/>
                      <a:r>
                        <a:rPr sz="1400" b="1">
                          <a:solidFill>
                            <a:srgbClr val="FFFFFF"/>
                          </a:solidFill>
                          <a:latin typeface="メイリオ"/>
                        </a:rPr>
                        <a:t>CPA</a:t>
                      </a:r>
                    </a:p>
                  </a:txBody>
                  <a:tcPr>
                    <a:solidFill>
                      <a:srgbClr val="1F285A"/>
                    </a:solidFill>
                  </a:tcPr>
                </a:tc>
                <a:extLst>
                  <a:ext uri="{0D108BD9-81ED-4DB2-BD59-A6C34878D82A}">
                    <a16:rowId xmlns:a16="http://schemas.microsoft.com/office/drawing/2014/main" val="10000"/>
                  </a:ext>
                </a:extLst>
              </a:tr>
              <a:tr h="457200">
                <a:tc>
                  <a:txBody>
                    <a:bodyPr/>
                    <a:lstStyle/>
                    <a:p>
                      <a:pPr algn="ctr"/>
                      <a:r>
                        <a:rPr sz="1400" b="1">
                          <a:solidFill>
                            <a:srgbClr val="333333"/>
                          </a:solidFill>
                          <a:latin typeface="メイリオ"/>
                        </a:rPr>
                        <a:t>1か月目</a:t>
                      </a:r>
                    </a:p>
                  </a:txBody>
                  <a:tcPr>
                    <a:solidFill>
                      <a:srgbClr val="FFFFFF"/>
                    </a:solidFill>
                  </a:tcPr>
                </a:tc>
                <a:tc>
                  <a:txBody>
                    <a:bodyPr/>
                    <a:lstStyle/>
                    <a:p>
                      <a:pPr algn="ctr"/>
                      <a:r>
                        <a:rPr sz="1400" b="0">
                          <a:solidFill>
                            <a:srgbClr val="333333"/>
                          </a:solidFill>
                          <a:latin typeface="メイリオ"/>
                        </a:rPr>
                        <a:t>1,627</a:t>
                      </a:r>
                    </a:p>
                  </a:txBody>
                  <a:tcPr>
                    <a:solidFill>
                      <a:srgbClr val="FFFFFF"/>
                    </a:solidFill>
                  </a:tcPr>
                </a:tc>
                <a:tc>
                  <a:txBody>
                    <a:bodyPr/>
                    <a:lstStyle/>
                    <a:p>
                      <a:pPr algn="ctr"/>
                      <a:r>
                        <a:rPr sz="1400" b="0">
                          <a:solidFill>
                            <a:srgbClr val="333333"/>
                          </a:solidFill>
                          <a:latin typeface="メイリオ"/>
                        </a:rPr>
                        <a:t>22件</a:t>
                      </a:r>
                    </a:p>
                  </a:txBody>
                  <a:tcPr>
                    <a:solidFill>
                      <a:srgbClr val="FFFFFF"/>
                    </a:solidFill>
                  </a:tcPr>
                </a:tc>
                <a:tc>
                  <a:txBody>
                    <a:bodyPr/>
                    <a:lstStyle/>
                    <a:p>
                      <a:pPr algn="ctr"/>
                      <a:r>
                        <a:rPr sz="1400" b="0">
                          <a:solidFill>
                            <a:srgbClr val="333333"/>
                          </a:solidFill>
                          <a:latin typeface="メイリオ"/>
                        </a:rPr>
                        <a:t>¥423,800</a:t>
                      </a:r>
                    </a:p>
                  </a:txBody>
                  <a:tcPr>
                    <a:solidFill>
                      <a:srgbClr val="FFFFFF"/>
                    </a:solidFill>
                  </a:tcPr>
                </a:tc>
                <a:tc>
                  <a:txBody>
                    <a:bodyPr/>
                    <a:lstStyle/>
                    <a:p>
                      <a:pPr algn="ctr"/>
                      <a:r>
                        <a:rPr sz="1400" b="0">
                          <a:solidFill>
                            <a:srgbClr val="333333"/>
                          </a:solidFill>
                          <a:latin typeface="メイリオ"/>
                        </a:rPr>
                        <a:t>¥19,264</a:t>
                      </a:r>
                    </a:p>
                  </a:txBody>
                  <a:tcPr>
                    <a:solidFill>
                      <a:srgbClr val="FFFFFF"/>
                    </a:solidFill>
                  </a:tcPr>
                </a:tc>
                <a:extLst>
                  <a:ext uri="{0D108BD9-81ED-4DB2-BD59-A6C34878D82A}">
                    <a16:rowId xmlns:a16="http://schemas.microsoft.com/office/drawing/2014/main" val="10001"/>
                  </a:ext>
                </a:extLst>
              </a:tr>
              <a:tr h="457200">
                <a:tc>
                  <a:txBody>
                    <a:bodyPr/>
                    <a:lstStyle/>
                    <a:p>
                      <a:pPr algn="ctr"/>
                      <a:r>
                        <a:rPr sz="1400" b="1">
                          <a:solidFill>
                            <a:srgbClr val="333333"/>
                          </a:solidFill>
                          <a:latin typeface="メイリオ"/>
                        </a:rPr>
                        <a:t>6か月目</a:t>
                      </a:r>
                    </a:p>
                  </a:txBody>
                  <a:tcPr>
                    <a:solidFill>
                      <a:srgbClr val="EAF0FA"/>
                    </a:solidFill>
                  </a:tcPr>
                </a:tc>
                <a:tc>
                  <a:txBody>
                    <a:bodyPr/>
                    <a:lstStyle/>
                    <a:p>
                      <a:pPr algn="ctr"/>
                      <a:r>
                        <a:rPr sz="1400" b="0">
                          <a:solidFill>
                            <a:srgbClr val="333333"/>
                          </a:solidFill>
                          <a:latin typeface="メイリオ"/>
                        </a:rPr>
                        <a:t>1,815</a:t>
                      </a:r>
                    </a:p>
                  </a:txBody>
                  <a:tcPr>
                    <a:solidFill>
                      <a:srgbClr val="EAF0FA"/>
                    </a:solidFill>
                  </a:tcPr>
                </a:tc>
                <a:tc>
                  <a:txBody>
                    <a:bodyPr/>
                    <a:lstStyle/>
                    <a:p>
                      <a:pPr algn="ctr"/>
                      <a:r>
                        <a:rPr sz="1400" b="0">
                          <a:solidFill>
                            <a:srgbClr val="333333"/>
                          </a:solidFill>
                          <a:latin typeface="メイリオ"/>
                        </a:rPr>
                        <a:t>17件／累計111件</a:t>
                      </a:r>
                    </a:p>
                  </a:txBody>
                  <a:tcPr>
                    <a:solidFill>
                      <a:srgbClr val="EAF0FA"/>
                    </a:solidFill>
                  </a:tcPr>
                </a:tc>
                <a:tc>
                  <a:txBody>
                    <a:bodyPr/>
                    <a:lstStyle/>
                    <a:p>
                      <a:pPr algn="ctr"/>
                      <a:r>
                        <a:rPr sz="1400" b="0">
                          <a:solidFill>
                            <a:srgbClr val="333333"/>
                          </a:solidFill>
                          <a:latin typeface="メイリオ"/>
                        </a:rPr>
                        <a:t>¥363,800</a:t>
                      </a:r>
                    </a:p>
                  </a:txBody>
                  <a:tcPr>
                    <a:solidFill>
                      <a:srgbClr val="EAF0FA"/>
                    </a:solidFill>
                  </a:tcPr>
                </a:tc>
                <a:tc>
                  <a:txBody>
                    <a:bodyPr/>
                    <a:lstStyle/>
                    <a:p>
                      <a:pPr algn="ctr"/>
                      <a:r>
                        <a:rPr sz="1400" b="0">
                          <a:solidFill>
                            <a:srgbClr val="333333"/>
                          </a:solidFill>
                          <a:latin typeface="メイリオ"/>
                        </a:rPr>
                        <a:t>¥21,400</a:t>
                      </a:r>
                    </a:p>
                  </a:txBody>
                  <a:tcPr>
                    <a:solidFill>
                      <a:srgbClr val="EAF0FA"/>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822960" y="4892040"/>
            <a:ext cx="8138160" cy="457200"/>
          </a:xfrm>
          <a:prstGeom prst="rect">
            <a:avLst/>
          </a:prstGeom>
          <a:noFill/>
        </p:spPr>
        <p:txBody>
          <a:bodyPr wrap="square">
            <a:spAutoFit/>
          </a:bodyPr>
          <a:lstStyle/>
          <a:p>
            <a:r>
              <a:rPr sz="1400">
                <a:solidFill>
                  <a:srgbClr val="333333"/>
                </a:solidFill>
                <a:latin typeface="メイリオ"/>
              </a:rPr>
              <a:t>※UU5,750／広告UU5,254／既存友だち1,590を前提。数値は前提により±20%調整可。</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365760"/>
          </a:xfrm>
          <a:prstGeom prst="rect">
            <a:avLst/>
          </a:prstGeom>
          <a:noFill/>
        </p:spPr>
        <p:txBody>
          <a:bodyPr wrap="none">
            <a:spAutoFit/>
          </a:bodyPr>
          <a:lstStyle/>
          <a:p>
            <a:r>
              <a:rPr sz="2000" b="1">
                <a:solidFill>
                  <a:srgbClr val="002060"/>
                </a:solidFill>
                <a:latin typeface="メイリオ"/>
              </a:rPr>
              <a:t>想定の費用対効果（詳細①：友だち数と応募数）</a:t>
            </a:r>
          </a:p>
        </p:txBody>
      </p:sp>
      <p:sp>
        <p:nvSpPr>
          <p:cNvPr id="3" name="TextBox 2"/>
          <p:cNvSpPr txBox="1"/>
          <p:nvPr/>
        </p:nvSpPr>
        <p:spPr>
          <a:xfrm>
            <a:off x="548640" y="640080"/>
            <a:ext cx="8778240" cy="502920"/>
          </a:xfrm>
          <a:prstGeom prst="rect">
            <a:avLst/>
          </a:prstGeom>
          <a:noFill/>
        </p:spPr>
        <p:txBody>
          <a:bodyPr wrap="square">
            <a:spAutoFit/>
          </a:bodyPr>
          <a:lstStyle/>
          <a:p>
            <a:r>
              <a:rPr sz="1400" b="1">
                <a:solidFill>
                  <a:srgbClr val="333333"/>
                </a:solidFill>
                <a:latin typeface="メイリオ"/>
              </a:rPr>
              <a:t>離脱防止バナーで友だち＋225人。LINE経由の応募は半年累計111件を積み上げます。</a:t>
            </a:r>
          </a:p>
        </p:txBody>
      </p:sp>
      <p:sp>
        <p:nvSpPr>
          <p:cNvPr id="4" name="Rounded Rectangle 3"/>
          <p:cNvSpPr/>
          <p:nvPr/>
        </p:nvSpPr>
        <p:spPr>
          <a:xfrm>
            <a:off x="548640" y="1371600"/>
            <a:ext cx="2788920" cy="1554480"/>
          </a:xfrm>
          <a:prstGeom prst="roundRect">
            <a:avLst/>
          </a:prstGeom>
          <a:solidFill>
            <a:srgbClr val="EAF0FA"/>
          </a:solidFill>
          <a:ln w="15875">
            <a:solidFill>
              <a:srgbClr val="1F28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285A"/>
                </a:solidFill>
                <a:latin typeface="メイリオ"/>
              </a:rPr>
              <a:t>友だち数（6か月）</a:t>
            </a:r>
          </a:p>
          <a:p>
            <a:pPr algn="ctr"/>
            <a:r>
              <a:rPr sz="2400" b="1">
                <a:solidFill>
                  <a:srgbClr val="1F285A"/>
                </a:solidFill>
                <a:latin typeface="メイリオ"/>
              </a:rPr>
              <a:t>1,590 → 1,815人</a:t>
            </a:r>
          </a:p>
          <a:p>
            <a:pPr algn="ctr"/>
            <a:r>
              <a:rPr sz="1300">
                <a:solidFill>
                  <a:srgbClr val="333333"/>
                </a:solidFill>
                <a:latin typeface="メイリオ"/>
              </a:rPr>
              <a:t>離脱防止バナーで＋225人</a:t>
            </a:r>
          </a:p>
        </p:txBody>
      </p:sp>
      <p:sp>
        <p:nvSpPr>
          <p:cNvPr id="5" name="Rounded Rectangle 4"/>
          <p:cNvSpPr/>
          <p:nvPr/>
        </p:nvSpPr>
        <p:spPr>
          <a:xfrm>
            <a:off x="3520440" y="1371600"/>
            <a:ext cx="2788920" cy="1554480"/>
          </a:xfrm>
          <a:prstGeom prst="roundRect">
            <a:avLst/>
          </a:prstGeom>
          <a:solidFill>
            <a:srgbClr val="FDECEC"/>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C00000"/>
                </a:solidFill>
                <a:latin typeface="メイリオ"/>
              </a:rPr>
              <a:t>LINE経由応募（半年累計）</a:t>
            </a:r>
          </a:p>
          <a:p>
            <a:pPr algn="ctr"/>
            <a:r>
              <a:rPr sz="2400" b="1">
                <a:solidFill>
                  <a:srgbClr val="C00000"/>
                </a:solidFill>
                <a:latin typeface="メイリオ"/>
              </a:rPr>
              <a:t>111件</a:t>
            </a:r>
          </a:p>
          <a:p>
            <a:pPr algn="ctr"/>
            <a:r>
              <a:rPr sz="1300">
                <a:solidFill>
                  <a:srgbClr val="333333"/>
                </a:solidFill>
                <a:latin typeface="メイリオ"/>
              </a:rPr>
              <a:t>月22件→17件で安定推移</a:t>
            </a:r>
          </a:p>
        </p:txBody>
      </p:sp>
      <p:sp>
        <p:nvSpPr>
          <p:cNvPr id="6" name="Rounded Rectangle 5"/>
          <p:cNvSpPr/>
          <p:nvPr/>
        </p:nvSpPr>
        <p:spPr>
          <a:xfrm>
            <a:off x="6492240" y="1371600"/>
            <a:ext cx="2788920" cy="1554480"/>
          </a:xfrm>
          <a:prstGeom prst="roundRect">
            <a:avLst/>
          </a:prstGeom>
          <a:solidFill>
            <a:srgbClr val="EAF0FA"/>
          </a:solidFill>
          <a:ln w="15875">
            <a:solidFill>
              <a:srgbClr val="1F28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285A"/>
                </a:solidFill>
                <a:latin typeface="メイリオ"/>
              </a:rPr>
              <a:t>配信クリック→応募CVR</a:t>
            </a:r>
          </a:p>
          <a:p>
            <a:pPr algn="ctr"/>
            <a:r>
              <a:rPr sz="2400" b="1">
                <a:solidFill>
                  <a:srgbClr val="1F285A"/>
                </a:solidFill>
                <a:latin typeface="メイリオ"/>
              </a:rPr>
              <a:t>約2.0%</a:t>
            </a:r>
          </a:p>
          <a:p>
            <a:pPr algn="ctr"/>
            <a:r>
              <a:rPr sz="1300">
                <a:solidFill>
                  <a:srgbClr val="333333"/>
                </a:solidFill>
                <a:latin typeface="メイリオ"/>
              </a:rPr>
              <a:t>配信約3,900通/月・Click約900</a:t>
            </a:r>
          </a:p>
        </p:txBody>
      </p:sp>
      <p:graphicFrame>
        <p:nvGraphicFramePr>
          <p:cNvPr id="7" name="Table 6"/>
          <p:cNvGraphicFramePr>
            <a:graphicFrameLocks noGrp="1"/>
          </p:cNvGraphicFramePr>
          <p:nvPr/>
        </p:nvGraphicFramePr>
        <p:xfrm>
          <a:off x="548640" y="3246120"/>
          <a:ext cx="8869680" cy="182880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tblGrid>
              <a:tr h="457200">
                <a:tc>
                  <a:txBody>
                    <a:bodyPr/>
                    <a:lstStyle/>
                    <a:p>
                      <a:pPr algn="ctr"/>
                      <a:endParaRPr/>
                    </a:p>
                  </a:txBody>
                  <a:tcPr anchor="ctr">
                    <a:solidFill>
                      <a:srgbClr val="1F285A"/>
                    </a:solidFill>
                  </a:tcPr>
                </a:tc>
                <a:tc>
                  <a:txBody>
                    <a:bodyPr/>
                    <a:lstStyle/>
                    <a:p>
                      <a:pPr algn="ctr"/>
                      <a:r>
                        <a:rPr sz="1300" b="1">
                          <a:solidFill>
                            <a:srgbClr val="FFFFFF"/>
                          </a:solidFill>
                          <a:latin typeface="メイリオ"/>
                        </a:rPr>
                        <a:t>1か月目</a:t>
                      </a:r>
                    </a:p>
                  </a:txBody>
                  <a:tcPr anchor="ctr">
                    <a:solidFill>
                      <a:srgbClr val="1F285A"/>
                    </a:solidFill>
                  </a:tcPr>
                </a:tc>
                <a:tc>
                  <a:txBody>
                    <a:bodyPr/>
                    <a:lstStyle/>
                    <a:p>
                      <a:pPr algn="ctr"/>
                      <a:r>
                        <a:rPr sz="1300" b="1">
                          <a:solidFill>
                            <a:srgbClr val="FFFFFF"/>
                          </a:solidFill>
                          <a:latin typeface="メイリオ"/>
                        </a:rPr>
                        <a:t>2か月目</a:t>
                      </a:r>
                    </a:p>
                  </a:txBody>
                  <a:tcPr anchor="ctr">
                    <a:solidFill>
                      <a:srgbClr val="1F285A"/>
                    </a:solidFill>
                  </a:tcPr>
                </a:tc>
                <a:tc>
                  <a:txBody>
                    <a:bodyPr/>
                    <a:lstStyle/>
                    <a:p>
                      <a:pPr algn="ctr"/>
                      <a:r>
                        <a:rPr sz="1300" b="1">
                          <a:solidFill>
                            <a:srgbClr val="FFFFFF"/>
                          </a:solidFill>
                          <a:latin typeface="メイリオ"/>
                        </a:rPr>
                        <a:t>3か月目</a:t>
                      </a:r>
                    </a:p>
                  </a:txBody>
                  <a:tcPr anchor="ctr">
                    <a:solidFill>
                      <a:srgbClr val="1F285A"/>
                    </a:solidFill>
                  </a:tcPr>
                </a:tc>
                <a:tc>
                  <a:txBody>
                    <a:bodyPr/>
                    <a:lstStyle/>
                    <a:p>
                      <a:pPr algn="ctr"/>
                      <a:r>
                        <a:rPr sz="1300" b="1">
                          <a:solidFill>
                            <a:srgbClr val="FFFFFF"/>
                          </a:solidFill>
                          <a:latin typeface="メイリオ"/>
                        </a:rPr>
                        <a:t>4か月目</a:t>
                      </a:r>
                    </a:p>
                  </a:txBody>
                  <a:tcPr anchor="ctr">
                    <a:solidFill>
                      <a:srgbClr val="1F285A"/>
                    </a:solidFill>
                  </a:tcPr>
                </a:tc>
                <a:tc>
                  <a:txBody>
                    <a:bodyPr/>
                    <a:lstStyle/>
                    <a:p>
                      <a:pPr algn="ctr"/>
                      <a:r>
                        <a:rPr sz="1300" b="1">
                          <a:solidFill>
                            <a:srgbClr val="FFFFFF"/>
                          </a:solidFill>
                          <a:latin typeface="メイリオ"/>
                        </a:rPr>
                        <a:t>5か月目</a:t>
                      </a:r>
                    </a:p>
                  </a:txBody>
                  <a:tcPr anchor="ctr">
                    <a:solidFill>
                      <a:srgbClr val="1F285A"/>
                    </a:solidFill>
                  </a:tcPr>
                </a:tc>
                <a:tc>
                  <a:txBody>
                    <a:bodyPr/>
                    <a:lstStyle/>
                    <a:p>
                      <a:pPr algn="ctr"/>
                      <a:r>
                        <a:rPr sz="1300" b="1">
                          <a:solidFill>
                            <a:srgbClr val="FFFFFF"/>
                          </a:solidFill>
                          <a:latin typeface="メイリオ"/>
                        </a:rPr>
                        <a:t>6か月目</a:t>
                      </a:r>
                    </a:p>
                  </a:txBody>
                  <a:tcPr anchor="ctr">
                    <a:solidFill>
                      <a:srgbClr val="1F285A"/>
                    </a:solidFill>
                  </a:tcPr>
                </a:tc>
                <a:extLst>
                  <a:ext uri="{0D108BD9-81ED-4DB2-BD59-A6C34878D82A}">
                    <a16:rowId xmlns:a16="http://schemas.microsoft.com/office/drawing/2014/main" val="10000"/>
                  </a:ext>
                </a:extLst>
              </a:tr>
              <a:tr h="457200">
                <a:tc>
                  <a:txBody>
                    <a:bodyPr/>
                    <a:lstStyle/>
                    <a:p>
                      <a:pPr algn="ctr"/>
                      <a:r>
                        <a:rPr sz="1300" b="1">
                          <a:solidFill>
                            <a:srgbClr val="333333"/>
                          </a:solidFill>
                          <a:latin typeface="メイリオ"/>
                        </a:rPr>
                        <a:t>友だち数</a:t>
                      </a:r>
                    </a:p>
                  </a:txBody>
                  <a:tcPr anchor="ctr">
                    <a:solidFill>
                      <a:srgbClr val="FFFFFF"/>
                    </a:solidFill>
                  </a:tcPr>
                </a:tc>
                <a:tc>
                  <a:txBody>
                    <a:bodyPr/>
                    <a:lstStyle/>
                    <a:p>
                      <a:pPr algn="ctr"/>
                      <a:r>
                        <a:rPr sz="1300" b="0">
                          <a:solidFill>
                            <a:srgbClr val="333333"/>
                          </a:solidFill>
                          <a:latin typeface="メイリオ"/>
                        </a:rPr>
                        <a:t>1,627</a:t>
                      </a:r>
                    </a:p>
                  </a:txBody>
                  <a:tcPr anchor="ctr">
                    <a:solidFill>
                      <a:srgbClr val="FFFFFF"/>
                    </a:solidFill>
                  </a:tcPr>
                </a:tc>
                <a:tc>
                  <a:txBody>
                    <a:bodyPr/>
                    <a:lstStyle/>
                    <a:p>
                      <a:pPr algn="ctr"/>
                      <a:r>
                        <a:rPr sz="1300" b="0">
                          <a:solidFill>
                            <a:srgbClr val="333333"/>
                          </a:solidFill>
                          <a:latin typeface="メイリオ"/>
                        </a:rPr>
                        <a:t>1,664</a:t>
                      </a:r>
                    </a:p>
                  </a:txBody>
                  <a:tcPr anchor="ctr">
                    <a:solidFill>
                      <a:srgbClr val="FFFFFF"/>
                    </a:solidFill>
                  </a:tcPr>
                </a:tc>
                <a:tc>
                  <a:txBody>
                    <a:bodyPr/>
                    <a:lstStyle/>
                    <a:p>
                      <a:pPr algn="ctr"/>
                      <a:r>
                        <a:rPr sz="1300" b="0">
                          <a:solidFill>
                            <a:srgbClr val="333333"/>
                          </a:solidFill>
                          <a:latin typeface="メイリオ"/>
                        </a:rPr>
                        <a:t>1,702</a:t>
                      </a:r>
                    </a:p>
                  </a:txBody>
                  <a:tcPr anchor="ctr">
                    <a:solidFill>
                      <a:srgbClr val="FFFFFF"/>
                    </a:solidFill>
                  </a:tcPr>
                </a:tc>
                <a:tc>
                  <a:txBody>
                    <a:bodyPr/>
                    <a:lstStyle/>
                    <a:p>
                      <a:pPr algn="ctr"/>
                      <a:r>
                        <a:rPr sz="1300" b="0">
                          <a:solidFill>
                            <a:srgbClr val="333333"/>
                          </a:solidFill>
                          <a:latin typeface="メイリオ"/>
                        </a:rPr>
                        <a:t>1,740</a:t>
                      </a:r>
                    </a:p>
                  </a:txBody>
                  <a:tcPr anchor="ctr">
                    <a:solidFill>
                      <a:srgbClr val="FFFFFF"/>
                    </a:solidFill>
                  </a:tcPr>
                </a:tc>
                <a:tc>
                  <a:txBody>
                    <a:bodyPr/>
                    <a:lstStyle/>
                    <a:p>
                      <a:pPr algn="ctr"/>
                      <a:r>
                        <a:rPr sz="1300" b="0">
                          <a:solidFill>
                            <a:srgbClr val="333333"/>
                          </a:solidFill>
                          <a:latin typeface="メイリオ"/>
                        </a:rPr>
                        <a:t>1,777</a:t>
                      </a:r>
                    </a:p>
                  </a:txBody>
                  <a:tcPr anchor="ctr">
                    <a:solidFill>
                      <a:srgbClr val="FFFFFF"/>
                    </a:solidFill>
                  </a:tcPr>
                </a:tc>
                <a:tc>
                  <a:txBody>
                    <a:bodyPr/>
                    <a:lstStyle/>
                    <a:p>
                      <a:pPr algn="ctr"/>
                      <a:r>
                        <a:rPr sz="1300" b="0">
                          <a:solidFill>
                            <a:srgbClr val="333333"/>
                          </a:solidFill>
                          <a:latin typeface="メイリオ"/>
                        </a:rPr>
                        <a:t>1,815</a:t>
                      </a:r>
                    </a:p>
                  </a:txBody>
                  <a:tcPr anchor="ctr">
                    <a:solidFill>
                      <a:srgbClr val="FFFFFF"/>
                    </a:solidFill>
                  </a:tcPr>
                </a:tc>
                <a:extLst>
                  <a:ext uri="{0D108BD9-81ED-4DB2-BD59-A6C34878D82A}">
                    <a16:rowId xmlns:a16="http://schemas.microsoft.com/office/drawing/2014/main" val="10001"/>
                  </a:ext>
                </a:extLst>
              </a:tr>
              <a:tr h="457200">
                <a:tc>
                  <a:txBody>
                    <a:bodyPr/>
                    <a:lstStyle/>
                    <a:p>
                      <a:pPr algn="ctr"/>
                      <a:r>
                        <a:rPr sz="1300" b="1">
                          <a:solidFill>
                            <a:srgbClr val="333333"/>
                          </a:solidFill>
                          <a:latin typeface="メイリオ"/>
                        </a:rPr>
                        <a:t>応募数/月</a:t>
                      </a:r>
                    </a:p>
                  </a:txBody>
                  <a:tcPr anchor="ctr">
                    <a:solidFill>
                      <a:srgbClr val="EAF0FA"/>
                    </a:solidFill>
                  </a:tcPr>
                </a:tc>
                <a:tc>
                  <a:txBody>
                    <a:bodyPr/>
                    <a:lstStyle/>
                    <a:p>
                      <a:pPr algn="ctr"/>
                      <a:r>
                        <a:rPr sz="1300" b="0">
                          <a:solidFill>
                            <a:srgbClr val="333333"/>
                          </a:solidFill>
                          <a:latin typeface="メイリオ"/>
                        </a:rPr>
                        <a:t>22件</a:t>
                      </a:r>
                    </a:p>
                  </a:txBody>
                  <a:tcPr anchor="ctr">
                    <a:solidFill>
                      <a:srgbClr val="EAF0FA"/>
                    </a:solidFill>
                  </a:tcPr>
                </a:tc>
                <a:tc>
                  <a:txBody>
                    <a:bodyPr/>
                    <a:lstStyle/>
                    <a:p>
                      <a:pPr algn="ctr"/>
                      <a:r>
                        <a:rPr sz="1300" b="0">
                          <a:solidFill>
                            <a:srgbClr val="333333"/>
                          </a:solidFill>
                          <a:latin typeface="メイリオ"/>
                        </a:rPr>
                        <a:t>20件</a:t>
                      </a:r>
                    </a:p>
                  </a:txBody>
                  <a:tcPr anchor="ctr">
                    <a:solidFill>
                      <a:srgbClr val="EAF0FA"/>
                    </a:solidFill>
                  </a:tcPr>
                </a:tc>
                <a:tc>
                  <a:txBody>
                    <a:bodyPr/>
                    <a:lstStyle/>
                    <a:p>
                      <a:pPr algn="ctr"/>
                      <a:r>
                        <a:rPr sz="1300" b="0">
                          <a:solidFill>
                            <a:srgbClr val="333333"/>
                          </a:solidFill>
                          <a:latin typeface="メイリオ"/>
                        </a:rPr>
                        <a:t>18件</a:t>
                      </a:r>
                    </a:p>
                  </a:txBody>
                  <a:tcPr anchor="ctr">
                    <a:solidFill>
                      <a:srgbClr val="EAF0FA"/>
                    </a:solidFill>
                  </a:tcPr>
                </a:tc>
                <a:tc>
                  <a:txBody>
                    <a:bodyPr/>
                    <a:lstStyle/>
                    <a:p>
                      <a:pPr algn="ctr"/>
                      <a:r>
                        <a:rPr sz="1300" b="0">
                          <a:solidFill>
                            <a:srgbClr val="333333"/>
                          </a:solidFill>
                          <a:latin typeface="メイリオ"/>
                        </a:rPr>
                        <a:t>17件</a:t>
                      </a:r>
                    </a:p>
                  </a:txBody>
                  <a:tcPr anchor="ctr">
                    <a:solidFill>
                      <a:srgbClr val="EAF0FA"/>
                    </a:solidFill>
                  </a:tcPr>
                </a:tc>
                <a:tc>
                  <a:txBody>
                    <a:bodyPr/>
                    <a:lstStyle/>
                    <a:p>
                      <a:pPr algn="ctr"/>
                      <a:r>
                        <a:rPr sz="1300" b="0">
                          <a:solidFill>
                            <a:srgbClr val="333333"/>
                          </a:solidFill>
                          <a:latin typeface="メイリオ"/>
                        </a:rPr>
                        <a:t>17件</a:t>
                      </a:r>
                    </a:p>
                  </a:txBody>
                  <a:tcPr anchor="ctr">
                    <a:solidFill>
                      <a:srgbClr val="EAF0FA"/>
                    </a:solidFill>
                  </a:tcPr>
                </a:tc>
                <a:tc>
                  <a:txBody>
                    <a:bodyPr/>
                    <a:lstStyle/>
                    <a:p>
                      <a:pPr algn="ctr"/>
                      <a:r>
                        <a:rPr sz="1300" b="0">
                          <a:solidFill>
                            <a:srgbClr val="333333"/>
                          </a:solidFill>
                          <a:latin typeface="メイリオ"/>
                        </a:rPr>
                        <a:t>17件</a:t>
                      </a:r>
                    </a:p>
                  </a:txBody>
                  <a:tcPr anchor="ctr">
                    <a:solidFill>
                      <a:srgbClr val="EAF0FA"/>
                    </a:solidFill>
                  </a:tcPr>
                </a:tc>
                <a:extLst>
                  <a:ext uri="{0D108BD9-81ED-4DB2-BD59-A6C34878D82A}">
                    <a16:rowId xmlns:a16="http://schemas.microsoft.com/office/drawing/2014/main" val="10002"/>
                  </a:ext>
                </a:extLst>
              </a:tr>
              <a:tr h="457200">
                <a:tc>
                  <a:txBody>
                    <a:bodyPr/>
                    <a:lstStyle/>
                    <a:p>
                      <a:pPr algn="ctr"/>
                      <a:r>
                        <a:rPr sz="1300" b="1">
                          <a:solidFill>
                            <a:srgbClr val="333333"/>
                          </a:solidFill>
                          <a:latin typeface="メイリオ"/>
                        </a:rPr>
                        <a:t>CVR</a:t>
                      </a:r>
                    </a:p>
                  </a:txBody>
                  <a:tcPr anchor="ctr">
                    <a:solidFill>
                      <a:srgbClr val="FFFFFF"/>
                    </a:solidFill>
                  </a:tcPr>
                </a:tc>
                <a:tc>
                  <a:txBody>
                    <a:bodyPr/>
                    <a:lstStyle/>
                    <a:p>
                      <a:pPr algn="ctr"/>
                      <a:r>
                        <a:rPr sz="1300" b="0">
                          <a:solidFill>
                            <a:srgbClr val="333333"/>
                          </a:solidFill>
                          <a:latin typeface="メイリオ"/>
                        </a:rPr>
                        <a:t>2.28%</a:t>
                      </a:r>
                    </a:p>
                  </a:txBody>
                  <a:tcPr anchor="ctr">
                    <a:solidFill>
                      <a:srgbClr val="FFFFFF"/>
                    </a:solidFill>
                  </a:tcPr>
                </a:tc>
                <a:tc>
                  <a:txBody>
                    <a:bodyPr/>
                    <a:lstStyle/>
                    <a:p>
                      <a:pPr algn="ctr"/>
                      <a:r>
                        <a:rPr sz="1300" b="0">
                          <a:solidFill>
                            <a:srgbClr val="333333"/>
                          </a:solidFill>
                          <a:latin typeface="メイリオ"/>
                        </a:rPr>
                        <a:t>2.00%</a:t>
                      </a:r>
                    </a:p>
                  </a:txBody>
                  <a:tcPr anchor="ctr">
                    <a:solidFill>
                      <a:srgbClr val="FFFFFF"/>
                    </a:solidFill>
                  </a:tcPr>
                </a:tc>
                <a:tc>
                  <a:txBody>
                    <a:bodyPr/>
                    <a:lstStyle/>
                    <a:p>
                      <a:pPr algn="ctr"/>
                      <a:r>
                        <a:rPr sz="1300" b="0">
                          <a:solidFill>
                            <a:srgbClr val="333333"/>
                          </a:solidFill>
                          <a:latin typeface="メイリオ"/>
                        </a:rPr>
                        <a:t>1.74%</a:t>
                      </a:r>
                    </a:p>
                  </a:txBody>
                  <a:tcPr anchor="ctr">
                    <a:solidFill>
                      <a:srgbClr val="FFFFFF"/>
                    </a:solidFill>
                  </a:tcPr>
                </a:tc>
                <a:tc>
                  <a:txBody>
                    <a:bodyPr/>
                    <a:lstStyle/>
                    <a:p>
                      <a:pPr algn="ctr"/>
                      <a:r>
                        <a:rPr sz="1300" b="0">
                          <a:solidFill>
                            <a:srgbClr val="333333"/>
                          </a:solidFill>
                          <a:latin typeface="メイリオ"/>
                        </a:rPr>
                        <a:t>1.99%</a:t>
                      </a:r>
                    </a:p>
                  </a:txBody>
                  <a:tcPr anchor="ctr">
                    <a:solidFill>
                      <a:srgbClr val="FFFFFF"/>
                    </a:solidFill>
                  </a:tcPr>
                </a:tc>
                <a:tc>
                  <a:txBody>
                    <a:bodyPr/>
                    <a:lstStyle/>
                    <a:p>
                      <a:pPr algn="ctr"/>
                      <a:r>
                        <a:rPr sz="1300" b="0">
                          <a:solidFill>
                            <a:srgbClr val="333333"/>
                          </a:solidFill>
                          <a:latin typeface="メイリオ"/>
                        </a:rPr>
                        <a:t>1.92%</a:t>
                      </a:r>
                    </a:p>
                  </a:txBody>
                  <a:tcPr anchor="ctr">
                    <a:solidFill>
                      <a:srgbClr val="FFFFFF"/>
                    </a:solidFill>
                  </a:tcPr>
                </a:tc>
                <a:tc>
                  <a:txBody>
                    <a:bodyPr/>
                    <a:lstStyle/>
                    <a:p>
                      <a:pPr algn="ctr"/>
                      <a:r>
                        <a:rPr sz="1300" b="0">
                          <a:solidFill>
                            <a:srgbClr val="333333"/>
                          </a:solidFill>
                          <a:latin typeface="メイリオ"/>
                        </a:rPr>
                        <a:t>1.87%</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94360" y="5303520"/>
            <a:ext cx="8686800" cy="457200"/>
          </a:xfrm>
          <a:prstGeom prst="rect">
            <a:avLst/>
          </a:prstGeom>
          <a:noFill/>
        </p:spPr>
        <p:txBody>
          <a:bodyPr wrap="square">
            <a:spAutoFit/>
          </a:bodyPr>
          <a:lstStyle/>
          <a:p>
            <a:r>
              <a:rPr sz="1400">
                <a:solidFill>
                  <a:srgbClr val="333333"/>
                </a:solidFill>
                <a:latin typeface="メイリオ"/>
              </a:rPr>
              <a:t>※前提：UU5,750/月・広告UU5,254・既存友だち1,590・ブロック率41.2%・CVR約2%。数値は±20%調整可。</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365760"/>
          </a:xfrm>
          <a:prstGeom prst="rect">
            <a:avLst/>
          </a:prstGeom>
          <a:noFill/>
        </p:spPr>
        <p:txBody>
          <a:bodyPr wrap="none">
            <a:spAutoFit/>
          </a:bodyPr>
          <a:lstStyle/>
          <a:p>
            <a:r>
              <a:rPr sz="2000" b="1">
                <a:solidFill>
                  <a:srgbClr val="002060"/>
                </a:solidFill>
                <a:latin typeface="メイリオ"/>
              </a:rPr>
              <a:t>想定の費用対効果（詳細②：費用内訳）</a:t>
            </a:r>
          </a:p>
        </p:txBody>
      </p:sp>
      <p:sp>
        <p:nvSpPr>
          <p:cNvPr id="3" name="TextBox 2"/>
          <p:cNvSpPr txBox="1"/>
          <p:nvPr/>
        </p:nvSpPr>
        <p:spPr>
          <a:xfrm>
            <a:off x="548640" y="640080"/>
            <a:ext cx="8778240" cy="502920"/>
          </a:xfrm>
          <a:prstGeom prst="rect">
            <a:avLst/>
          </a:prstGeom>
          <a:noFill/>
        </p:spPr>
        <p:txBody>
          <a:bodyPr wrap="square">
            <a:spAutoFit/>
          </a:bodyPr>
          <a:lstStyle/>
          <a:p>
            <a:r>
              <a:rPr sz="1400" b="1">
                <a:solidFill>
                  <a:srgbClr val="333333"/>
                </a:solidFill>
                <a:latin typeface="メイリオ"/>
              </a:rPr>
              <a:t>初期¥235,000＋月次固定¥159,800に、成果報酬（応募×¥12,000）が加わる料金体系です。</a:t>
            </a:r>
          </a:p>
        </p:txBody>
      </p:sp>
      <p:graphicFrame>
        <p:nvGraphicFramePr>
          <p:cNvPr id="4" name="Table 3"/>
          <p:cNvGraphicFramePr>
            <a:graphicFrameLocks noGrp="1"/>
          </p:cNvGraphicFramePr>
          <p:nvPr/>
        </p:nvGraphicFramePr>
        <p:xfrm>
          <a:off x="502920" y="1325880"/>
          <a:ext cx="8961120" cy="32918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48640">
                <a:tc>
                  <a:txBody>
                    <a:bodyPr/>
                    <a:lstStyle/>
                    <a:p>
                      <a:pPr algn="ctr"/>
                      <a:r>
                        <a:rPr sz="1400" b="1">
                          <a:solidFill>
                            <a:srgbClr val="FFFFFF"/>
                          </a:solidFill>
                          <a:latin typeface="メイリオ"/>
                        </a:rPr>
                        <a:t>費用項目</a:t>
                      </a:r>
                    </a:p>
                  </a:txBody>
                  <a:tcPr anchor="ctr">
                    <a:solidFill>
                      <a:srgbClr val="1F285A"/>
                    </a:solidFill>
                  </a:tcPr>
                </a:tc>
                <a:tc>
                  <a:txBody>
                    <a:bodyPr/>
                    <a:lstStyle/>
                    <a:p>
                      <a:pPr algn="ctr"/>
                      <a:r>
                        <a:rPr sz="1400" b="1">
                          <a:solidFill>
                            <a:srgbClr val="FFFFFF"/>
                          </a:solidFill>
                          <a:latin typeface="メイリオ"/>
                        </a:rPr>
                        <a:t>金額</a:t>
                      </a:r>
                    </a:p>
                  </a:txBody>
                  <a:tcPr anchor="ctr">
                    <a:solidFill>
                      <a:srgbClr val="1F285A"/>
                    </a:solidFill>
                  </a:tcPr>
                </a:tc>
                <a:tc>
                  <a:txBody>
                    <a:bodyPr/>
                    <a:lstStyle/>
                    <a:p>
                      <a:pPr algn="ctr"/>
                      <a:r>
                        <a:rPr sz="1400" b="1">
                          <a:solidFill>
                            <a:srgbClr val="FFFFFF"/>
                          </a:solidFill>
                          <a:latin typeface="メイリオ"/>
                        </a:rPr>
                        <a:t>内訳・備考</a:t>
                      </a:r>
                    </a:p>
                  </a:txBody>
                  <a:tcPr anchor="ctr">
                    <a:solidFill>
                      <a:srgbClr val="1F285A"/>
                    </a:solidFill>
                  </a:tcPr>
                </a:tc>
                <a:extLst>
                  <a:ext uri="{0D108BD9-81ED-4DB2-BD59-A6C34878D82A}">
                    <a16:rowId xmlns:a16="http://schemas.microsoft.com/office/drawing/2014/main" val="10000"/>
                  </a:ext>
                </a:extLst>
              </a:tr>
              <a:tr h="548640">
                <a:tc>
                  <a:txBody>
                    <a:bodyPr/>
                    <a:lstStyle/>
                    <a:p>
                      <a:pPr algn="ctr"/>
                      <a:r>
                        <a:rPr sz="1400" b="1">
                          <a:solidFill>
                            <a:srgbClr val="333333"/>
                          </a:solidFill>
                          <a:latin typeface="メイリオ"/>
                        </a:rPr>
                        <a:t>初期費用</a:t>
                      </a:r>
                    </a:p>
                  </a:txBody>
                  <a:tcPr anchor="ctr">
                    <a:solidFill>
                      <a:srgbClr val="FFFFFF"/>
                    </a:solidFill>
                  </a:tcPr>
                </a:tc>
                <a:tc>
                  <a:txBody>
                    <a:bodyPr/>
                    <a:lstStyle/>
                    <a:p>
                      <a:pPr algn="ctr"/>
                      <a:r>
                        <a:rPr sz="1400" b="0">
                          <a:solidFill>
                            <a:srgbClr val="333333"/>
                          </a:solidFill>
                          <a:latin typeface="メイリオ"/>
                        </a:rPr>
                        <a:t>¥235,000</a:t>
                      </a:r>
                    </a:p>
                  </a:txBody>
                  <a:tcPr anchor="ctr">
                    <a:solidFill>
                      <a:srgbClr val="FFFFFF"/>
                    </a:solidFill>
                  </a:tcPr>
                </a:tc>
                <a:tc>
                  <a:txBody>
                    <a:bodyPr/>
                    <a:lstStyle/>
                    <a:p>
                      <a:pPr algn="ctr"/>
                      <a:r>
                        <a:rPr sz="1400" b="0">
                          <a:solidFill>
                            <a:srgbClr val="333333"/>
                          </a:solidFill>
                          <a:latin typeface="メイリオ"/>
                        </a:rPr>
                        <a:t>コンサル初期¥200,000＋離脱防止¥15,000＋API¥20,000</a:t>
                      </a:r>
                    </a:p>
                  </a:txBody>
                  <a:tcPr anchor="ctr">
                    <a:solidFill>
                      <a:srgbClr val="FFFFFF"/>
                    </a:solidFill>
                  </a:tcPr>
                </a:tc>
                <a:extLst>
                  <a:ext uri="{0D108BD9-81ED-4DB2-BD59-A6C34878D82A}">
                    <a16:rowId xmlns:a16="http://schemas.microsoft.com/office/drawing/2014/main" val="10001"/>
                  </a:ext>
                </a:extLst>
              </a:tr>
              <a:tr h="548640">
                <a:tc>
                  <a:txBody>
                    <a:bodyPr/>
                    <a:lstStyle/>
                    <a:p>
                      <a:pPr algn="ctr"/>
                      <a:r>
                        <a:rPr sz="1400" b="1">
                          <a:solidFill>
                            <a:srgbClr val="333333"/>
                          </a:solidFill>
                          <a:latin typeface="メイリオ"/>
                        </a:rPr>
                        <a:t>月次固定費</a:t>
                      </a:r>
                    </a:p>
                  </a:txBody>
                  <a:tcPr anchor="ctr">
                    <a:solidFill>
                      <a:srgbClr val="EAF0FA"/>
                    </a:solidFill>
                  </a:tcPr>
                </a:tc>
                <a:tc>
                  <a:txBody>
                    <a:bodyPr/>
                    <a:lstStyle/>
                    <a:p>
                      <a:pPr algn="ctr"/>
                      <a:r>
                        <a:rPr sz="1400" b="0">
                          <a:solidFill>
                            <a:srgbClr val="333333"/>
                          </a:solidFill>
                          <a:latin typeface="メイリオ"/>
                        </a:rPr>
                        <a:t>¥159,800</a:t>
                      </a:r>
                    </a:p>
                  </a:txBody>
                  <a:tcPr anchor="ctr">
                    <a:solidFill>
                      <a:srgbClr val="EAF0FA"/>
                    </a:solidFill>
                  </a:tcPr>
                </a:tc>
                <a:tc>
                  <a:txBody>
                    <a:bodyPr/>
                    <a:lstStyle/>
                    <a:p>
                      <a:pPr algn="ctr"/>
                      <a:r>
                        <a:rPr sz="1400" b="0">
                          <a:solidFill>
                            <a:srgbClr val="333333"/>
                          </a:solidFill>
                          <a:latin typeface="メイリオ"/>
                        </a:rPr>
                        <a:t>離脱防止¥15,000＋アカウント¥15,000＋コンサル¥100,000＋API¥29,800</a:t>
                      </a:r>
                    </a:p>
                  </a:txBody>
                  <a:tcPr anchor="ctr">
                    <a:solidFill>
                      <a:srgbClr val="EAF0FA"/>
                    </a:solidFill>
                  </a:tcPr>
                </a:tc>
                <a:extLst>
                  <a:ext uri="{0D108BD9-81ED-4DB2-BD59-A6C34878D82A}">
                    <a16:rowId xmlns:a16="http://schemas.microsoft.com/office/drawing/2014/main" val="10002"/>
                  </a:ext>
                </a:extLst>
              </a:tr>
              <a:tr h="548640">
                <a:tc>
                  <a:txBody>
                    <a:bodyPr/>
                    <a:lstStyle/>
                    <a:p>
                      <a:pPr algn="ctr"/>
                      <a:r>
                        <a:rPr sz="1400" b="1">
                          <a:solidFill>
                            <a:srgbClr val="333333"/>
                          </a:solidFill>
                          <a:latin typeface="メイリオ"/>
                        </a:rPr>
                        <a:t>成果報酬</a:t>
                      </a:r>
                    </a:p>
                  </a:txBody>
                  <a:tcPr anchor="ctr">
                    <a:solidFill>
                      <a:srgbClr val="FFFFFF"/>
                    </a:solidFill>
                  </a:tcPr>
                </a:tc>
                <a:tc>
                  <a:txBody>
                    <a:bodyPr/>
                    <a:lstStyle/>
                    <a:p>
                      <a:pPr algn="ctr"/>
                      <a:r>
                        <a:rPr sz="1400" b="0">
                          <a:solidFill>
                            <a:srgbClr val="333333"/>
                          </a:solidFill>
                          <a:latin typeface="メイリオ"/>
                        </a:rPr>
                        <a:t>応募 × ¥12,000</a:t>
                      </a:r>
                    </a:p>
                  </a:txBody>
                  <a:tcPr anchor="ctr">
                    <a:solidFill>
                      <a:srgbClr val="FFFFFF"/>
                    </a:solidFill>
                  </a:tcPr>
                </a:tc>
                <a:tc>
                  <a:txBody>
                    <a:bodyPr/>
                    <a:lstStyle/>
                    <a:p>
                      <a:pPr algn="ctr"/>
                      <a:r>
                        <a:rPr sz="1400" b="0">
                          <a:solidFill>
                            <a:srgbClr val="333333"/>
                          </a:solidFill>
                          <a:latin typeface="メイリオ"/>
                        </a:rPr>
                        <a:t>月¥264,000（22件）→ ¥204,000（17件）</a:t>
                      </a:r>
                    </a:p>
                  </a:txBody>
                  <a:tcPr anchor="ctr">
                    <a:solidFill>
                      <a:srgbClr val="FFFFFF"/>
                    </a:solidFill>
                  </a:tcPr>
                </a:tc>
                <a:extLst>
                  <a:ext uri="{0D108BD9-81ED-4DB2-BD59-A6C34878D82A}">
                    <a16:rowId xmlns:a16="http://schemas.microsoft.com/office/drawing/2014/main" val="10003"/>
                  </a:ext>
                </a:extLst>
              </a:tr>
              <a:tr h="548640">
                <a:tc>
                  <a:txBody>
                    <a:bodyPr/>
                    <a:lstStyle/>
                    <a:p>
                      <a:pPr algn="ctr"/>
                      <a:r>
                        <a:rPr sz="1400" b="1">
                          <a:solidFill>
                            <a:srgbClr val="333333"/>
                          </a:solidFill>
                          <a:latin typeface="メイリオ"/>
                        </a:rPr>
                        <a:t>月額総計</a:t>
                      </a:r>
                    </a:p>
                  </a:txBody>
                  <a:tcPr anchor="ctr">
                    <a:solidFill>
                      <a:srgbClr val="EAF0FA"/>
                    </a:solidFill>
                  </a:tcPr>
                </a:tc>
                <a:tc>
                  <a:txBody>
                    <a:bodyPr/>
                    <a:lstStyle/>
                    <a:p>
                      <a:pPr algn="ctr"/>
                      <a:r>
                        <a:rPr sz="1400" b="0">
                          <a:solidFill>
                            <a:srgbClr val="333333"/>
                          </a:solidFill>
                          <a:latin typeface="メイリオ"/>
                        </a:rPr>
                        <a:t>¥423,800 → ¥363,800</a:t>
                      </a:r>
                    </a:p>
                  </a:txBody>
                  <a:tcPr anchor="ctr">
                    <a:solidFill>
                      <a:srgbClr val="EAF0FA"/>
                    </a:solidFill>
                  </a:tcPr>
                </a:tc>
                <a:tc>
                  <a:txBody>
                    <a:bodyPr/>
                    <a:lstStyle/>
                    <a:p>
                      <a:pPr algn="ctr"/>
                      <a:r>
                        <a:rPr sz="1400" b="0">
                          <a:solidFill>
                            <a:srgbClr val="333333"/>
                          </a:solidFill>
                          <a:latin typeface="メイリオ"/>
                        </a:rPr>
                        <a:t>固定＋成果報酬（1か月目→6か月目）</a:t>
                      </a:r>
                    </a:p>
                  </a:txBody>
                  <a:tcPr anchor="ctr">
                    <a:solidFill>
                      <a:srgbClr val="EAF0FA"/>
                    </a:solidFill>
                  </a:tcPr>
                </a:tc>
                <a:extLst>
                  <a:ext uri="{0D108BD9-81ED-4DB2-BD59-A6C34878D82A}">
                    <a16:rowId xmlns:a16="http://schemas.microsoft.com/office/drawing/2014/main" val="10004"/>
                  </a:ext>
                </a:extLst>
              </a:tr>
              <a:tr h="548640">
                <a:tc>
                  <a:txBody>
                    <a:bodyPr/>
                    <a:lstStyle/>
                    <a:p>
                      <a:pPr algn="ctr"/>
                      <a:r>
                        <a:rPr sz="1400" b="1">
                          <a:solidFill>
                            <a:srgbClr val="333333"/>
                          </a:solidFill>
                          <a:latin typeface="メイリオ"/>
                        </a:rPr>
                        <a:t>CPA</a:t>
                      </a:r>
                    </a:p>
                  </a:txBody>
                  <a:tcPr anchor="ctr">
                    <a:solidFill>
                      <a:srgbClr val="FFFFFF"/>
                    </a:solidFill>
                  </a:tcPr>
                </a:tc>
                <a:tc>
                  <a:txBody>
                    <a:bodyPr/>
                    <a:lstStyle/>
                    <a:p>
                      <a:pPr algn="ctr"/>
                      <a:r>
                        <a:rPr sz="1400" b="0">
                          <a:solidFill>
                            <a:srgbClr val="333333"/>
                          </a:solidFill>
                          <a:latin typeface="メイリオ"/>
                        </a:rPr>
                        <a:t>¥19,264 → ¥21,400</a:t>
                      </a:r>
                    </a:p>
                  </a:txBody>
                  <a:tcPr anchor="ctr">
                    <a:solidFill>
                      <a:srgbClr val="FFFFFF"/>
                    </a:solidFill>
                  </a:tcPr>
                </a:tc>
                <a:tc>
                  <a:txBody>
                    <a:bodyPr/>
                    <a:lstStyle/>
                    <a:p>
                      <a:pPr algn="ctr"/>
                      <a:r>
                        <a:rPr sz="1400" b="0">
                          <a:solidFill>
                            <a:srgbClr val="333333"/>
                          </a:solidFill>
                          <a:latin typeface="メイリオ"/>
                        </a:rPr>
                        <a:t>月額総計 ÷ LINE経由応募数</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85800" y="4892040"/>
            <a:ext cx="8503920" cy="457200"/>
          </a:xfrm>
          <a:prstGeom prst="rect">
            <a:avLst/>
          </a:prstGeom>
          <a:noFill/>
        </p:spPr>
        <p:txBody>
          <a:bodyPr wrap="square">
            <a:spAutoFit/>
          </a:bodyPr>
          <a:lstStyle/>
          <a:p>
            <a:r>
              <a:rPr sz="1400">
                <a:solidFill>
                  <a:srgbClr val="333333"/>
                </a:solidFill>
                <a:latin typeface="メイリオ"/>
              </a:rPr>
              <a:t>※CPAはLINE施策単体の値。電話応募や管理画面に出ない実応募（引き上げ）を含めた全体で、目標応募単価¥15,000への改善に寄与する設計です。</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365760"/>
          </a:xfrm>
          <a:prstGeom prst="rect">
            <a:avLst/>
          </a:prstGeom>
          <a:noFill/>
        </p:spPr>
        <p:txBody>
          <a:bodyPr wrap="none">
            <a:spAutoFit/>
          </a:bodyPr>
          <a:lstStyle/>
          <a:p>
            <a:r>
              <a:rPr sz="2000" b="1">
                <a:solidFill>
                  <a:srgbClr val="002060"/>
                </a:solidFill>
                <a:latin typeface="メイリオ"/>
              </a:rPr>
              <a:t>計測環境の構築と月間KPI</a:t>
            </a:r>
          </a:p>
        </p:txBody>
      </p:sp>
      <p:sp>
        <p:nvSpPr>
          <p:cNvPr id="3" name="TextBox 2"/>
          <p:cNvSpPr txBox="1"/>
          <p:nvPr/>
        </p:nvSpPr>
        <p:spPr>
          <a:xfrm>
            <a:off x="548640" y="640080"/>
            <a:ext cx="8778240" cy="502920"/>
          </a:xfrm>
          <a:prstGeom prst="rect">
            <a:avLst/>
          </a:prstGeom>
          <a:noFill/>
        </p:spPr>
        <p:txBody>
          <a:bodyPr wrap="square">
            <a:spAutoFit/>
          </a:bodyPr>
          <a:lstStyle/>
          <a:p>
            <a:r>
              <a:rPr sz="1400" b="1">
                <a:solidFill>
                  <a:srgbClr val="333333"/>
                </a:solidFill>
                <a:latin typeface="メイリオ"/>
              </a:rPr>
              <a:t>GA・パラメータ管理により、LINE管理画面に出ないサイト上の応募も紐づけて計測。以下のKPIを月次でご報告します。</a:t>
            </a:r>
          </a:p>
        </p:txBody>
      </p:sp>
      <p:graphicFrame>
        <p:nvGraphicFramePr>
          <p:cNvPr id="4" name="Table 3"/>
          <p:cNvGraphicFramePr>
            <a:graphicFrameLocks noGrp="1"/>
          </p:cNvGraphicFramePr>
          <p:nvPr/>
        </p:nvGraphicFramePr>
        <p:xfrm>
          <a:off x="411480" y="1463040"/>
          <a:ext cx="9235440" cy="1005840"/>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6012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1051560">
                  <a:extLst>
                    <a:ext uri="{9D8B030D-6E8A-4147-A177-3AD203B41FA5}">
                      <a16:colId xmlns:a16="http://schemas.microsoft.com/office/drawing/2014/main" val="20008"/>
                    </a:ext>
                  </a:extLst>
                </a:gridCol>
              </a:tblGrid>
              <a:tr h="502920">
                <a:tc>
                  <a:txBody>
                    <a:bodyPr/>
                    <a:lstStyle/>
                    <a:p>
                      <a:pPr algn="ctr"/>
                      <a:r>
                        <a:rPr sz="1250" b="1">
                          <a:solidFill>
                            <a:srgbClr val="FFFFFF"/>
                          </a:solidFill>
                          <a:latin typeface="メイリオ"/>
                        </a:rPr>
                        <a:t>指標</a:t>
                      </a:r>
                    </a:p>
                  </a:txBody>
                  <a:tcPr anchor="ctr">
                    <a:solidFill>
                      <a:srgbClr val="1F285A"/>
                    </a:solidFill>
                  </a:tcPr>
                </a:tc>
                <a:tc>
                  <a:txBody>
                    <a:bodyPr/>
                    <a:lstStyle/>
                    <a:p>
                      <a:pPr algn="ctr"/>
                      <a:r>
                        <a:rPr sz="1250" b="1">
                          <a:solidFill>
                            <a:srgbClr val="FFFFFF"/>
                          </a:solidFill>
                          <a:latin typeface="メイリオ"/>
                        </a:rPr>
                        <a:t>友だち数</a:t>
                      </a:r>
                    </a:p>
                  </a:txBody>
                  <a:tcPr anchor="ctr">
                    <a:solidFill>
                      <a:srgbClr val="1F285A"/>
                    </a:solidFill>
                  </a:tcPr>
                </a:tc>
                <a:tc>
                  <a:txBody>
                    <a:bodyPr/>
                    <a:lstStyle/>
                    <a:p>
                      <a:pPr algn="ctr"/>
                      <a:r>
                        <a:rPr sz="1250" b="1">
                          <a:solidFill>
                            <a:srgbClr val="FFFFFF"/>
                          </a:solidFill>
                          <a:latin typeface="メイリオ"/>
                        </a:rPr>
                        <a:t>ブロック率</a:t>
                      </a:r>
                    </a:p>
                  </a:txBody>
                  <a:tcPr anchor="ctr">
                    <a:solidFill>
                      <a:srgbClr val="1F285A"/>
                    </a:solidFill>
                  </a:tcPr>
                </a:tc>
                <a:tc>
                  <a:txBody>
                    <a:bodyPr/>
                    <a:lstStyle/>
                    <a:p>
                      <a:pPr algn="ctr"/>
                      <a:r>
                        <a:rPr sz="1250" b="1">
                          <a:solidFill>
                            <a:srgbClr val="FFFFFF"/>
                          </a:solidFill>
                          <a:latin typeface="メイリオ"/>
                        </a:rPr>
                        <a:t>月額コスト</a:t>
                      </a:r>
                    </a:p>
                  </a:txBody>
                  <a:tcPr anchor="ctr">
                    <a:solidFill>
                      <a:srgbClr val="1F285A"/>
                    </a:solidFill>
                  </a:tcPr>
                </a:tc>
                <a:tc>
                  <a:txBody>
                    <a:bodyPr/>
                    <a:lstStyle/>
                    <a:p>
                      <a:pPr algn="ctr"/>
                      <a:r>
                        <a:rPr sz="1250" b="1">
                          <a:solidFill>
                            <a:srgbClr val="FFFFFF"/>
                          </a:solidFill>
                          <a:latin typeface="メイリオ"/>
                        </a:rPr>
                        <a:t>配信メッセ数</a:t>
                      </a:r>
                    </a:p>
                  </a:txBody>
                  <a:tcPr anchor="ctr">
                    <a:solidFill>
                      <a:srgbClr val="1F285A"/>
                    </a:solidFill>
                  </a:tcPr>
                </a:tc>
                <a:tc>
                  <a:txBody>
                    <a:bodyPr/>
                    <a:lstStyle/>
                    <a:p>
                      <a:pPr algn="ctr"/>
                      <a:r>
                        <a:rPr sz="1250" b="1">
                          <a:solidFill>
                            <a:srgbClr val="FFFFFF"/>
                          </a:solidFill>
                          <a:latin typeface="メイリオ"/>
                        </a:rPr>
                        <a:t>想定Click</a:t>
                      </a:r>
                    </a:p>
                  </a:txBody>
                  <a:tcPr anchor="ctr">
                    <a:solidFill>
                      <a:srgbClr val="1F285A"/>
                    </a:solidFill>
                  </a:tcPr>
                </a:tc>
                <a:tc>
                  <a:txBody>
                    <a:bodyPr/>
                    <a:lstStyle/>
                    <a:p>
                      <a:pPr algn="ctr"/>
                      <a:r>
                        <a:rPr sz="1250" b="1">
                          <a:solidFill>
                            <a:srgbClr val="FFFFFF"/>
                          </a:solidFill>
                          <a:latin typeface="メイリオ"/>
                        </a:rPr>
                        <a:t>応募（CV）</a:t>
                      </a:r>
                    </a:p>
                  </a:txBody>
                  <a:tcPr anchor="ctr">
                    <a:solidFill>
                      <a:srgbClr val="1F285A"/>
                    </a:solidFill>
                  </a:tcPr>
                </a:tc>
                <a:tc>
                  <a:txBody>
                    <a:bodyPr/>
                    <a:lstStyle/>
                    <a:p>
                      <a:pPr algn="ctr"/>
                      <a:r>
                        <a:rPr sz="1250" b="1">
                          <a:solidFill>
                            <a:srgbClr val="FFFFFF"/>
                          </a:solidFill>
                          <a:latin typeface="メイリオ"/>
                        </a:rPr>
                        <a:t>CVR</a:t>
                      </a:r>
                    </a:p>
                  </a:txBody>
                  <a:tcPr anchor="ctr">
                    <a:solidFill>
                      <a:srgbClr val="1F285A"/>
                    </a:solidFill>
                  </a:tcPr>
                </a:tc>
                <a:tc>
                  <a:txBody>
                    <a:bodyPr/>
                    <a:lstStyle/>
                    <a:p>
                      <a:pPr algn="ctr"/>
                      <a:r>
                        <a:rPr sz="1250" b="1">
                          <a:solidFill>
                            <a:srgbClr val="FFFFFF"/>
                          </a:solidFill>
                          <a:latin typeface="メイリオ"/>
                        </a:rPr>
                        <a:t>CPA</a:t>
                      </a:r>
                    </a:p>
                  </a:txBody>
                  <a:tcPr anchor="ctr">
                    <a:solidFill>
                      <a:srgbClr val="1F285A"/>
                    </a:solidFill>
                  </a:tcPr>
                </a:tc>
                <a:extLst>
                  <a:ext uri="{0D108BD9-81ED-4DB2-BD59-A6C34878D82A}">
                    <a16:rowId xmlns:a16="http://schemas.microsoft.com/office/drawing/2014/main" val="10000"/>
                  </a:ext>
                </a:extLst>
              </a:tr>
              <a:tr h="502920">
                <a:tc>
                  <a:txBody>
                    <a:bodyPr/>
                    <a:lstStyle/>
                    <a:p>
                      <a:pPr algn="ctr"/>
                      <a:r>
                        <a:rPr sz="1250" b="1">
                          <a:solidFill>
                            <a:srgbClr val="333333"/>
                          </a:solidFill>
                          <a:latin typeface="メイリオ"/>
                        </a:rPr>
                        <a:t>6か月目想定</a:t>
                      </a:r>
                    </a:p>
                  </a:txBody>
                  <a:tcPr anchor="ctr">
                    <a:solidFill>
                      <a:srgbClr val="FFFFFF"/>
                    </a:solidFill>
                  </a:tcPr>
                </a:tc>
                <a:tc>
                  <a:txBody>
                    <a:bodyPr/>
                    <a:lstStyle/>
                    <a:p>
                      <a:pPr algn="ctr"/>
                      <a:r>
                        <a:rPr sz="1250" b="0">
                          <a:solidFill>
                            <a:srgbClr val="333333"/>
                          </a:solidFill>
                          <a:latin typeface="メイリオ"/>
                        </a:rPr>
                        <a:t>1,815</a:t>
                      </a:r>
                    </a:p>
                  </a:txBody>
                  <a:tcPr anchor="ctr">
                    <a:solidFill>
                      <a:srgbClr val="FFFFFF"/>
                    </a:solidFill>
                  </a:tcPr>
                </a:tc>
                <a:tc>
                  <a:txBody>
                    <a:bodyPr/>
                    <a:lstStyle/>
                    <a:p>
                      <a:pPr algn="ctr"/>
                      <a:r>
                        <a:rPr sz="1250" b="0">
                          <a:solidFill>
                            <a:srgbClr val="333333"/>
                          </a:solidFill>
                          <a:latin typeface="メイリオ"/>
                        </a:rPr>
                        <a:t>37.3%</a:t>
                      </a:r>
                    </a:p>
                  </a:txBody>
                  <a:tcPr anchor="ctr">
                    <a:solidFill>
                      <a:srgbClr val="FFFFFF"/>
                    </a:solidFill>
                  </a:tcPr>
                </a:tc>
                <a:tc>
                  <a:txBody>
                    <a:bodyPr/>
                    <a:lstStyle/>
                    <a:p>
                      <a:pPr algn="ctr"/>
                      <a:r>
                        <a:rPr sz="1250" b="0">
                          <a:solidFill>
                            <a:srgbClr val="333333"/>
                          </a:solidFill>
                          <a:latin typeface="メイリオ"/>
                        </a:rPr>
                        <a:t>¥363,800</a:t>
                      </a:r>
                    </a:p>
                  </a:txBody>
                  <a:tcPr anchor="ctr">
                    <a:solidFill>
                      <a:srgbClr val="FFFFFF"/>
                    </a:solidFill>
                  </a:tcPr>
                </a:tc>
                <a:tc>
                  <a:txBody>
                    <a:bodyPr/>
                    <a:lstStyle/>
                    <a:p>
                      <a:pPr algn="ctr"/>
                      <a:r>
                        <a:rPr sz="1250" b="0">
                          <a:solidFill>
                            <a:srgbClr val="333333"/>
                          </a:solidFill>
                          <a:latin typeface="メイリオ"/>
                        </a:rPr>
                        <a:t>3,736通</a:t>
                      </a:r>
                    </a:p>
                  </a:txBody>
                  <a:tcPr anchor="ctr">
                    <a:solidFill>
                      <a:srgbClr val="FFFFFF"/>
                    </a:solidFill>
                  </a:tcPr>
                </a:tc>
                <a:tc>
                  <a:txBody>
                    <a:bodyPr/>
                    <a:lstStyle/>
                    <a:p>
                      <a:pPr algn="ctr"/>
                      <a:r>
                        <a:rPr sz="1250" b="0">
                          <a:solidFill>
                            <a:srgbClr val="333333"/>
                          </a:solidFill>
                          <a:latin typeface="メイリオ"/>
                        </a:rPr>
                        <a:t>911</a:t>
                      </a:r>
                    </a:p>
                  </a:txBody>
                  <a:tcPr anchor="ctr">
                    <a:solidFill>
                      <a:srgbClr val="FFFFFF"/>
                    </a:solidFill>
                  </a:tcPr>
                </a:tc>
                <a:tc>
                  <a:txBody>
                    <a:bodyPr/>
                    <a:lstStyle/>
                    <a:p>
                      <a:pPr algn="ctr"/>
                      <a:r>
                        <a:rPr sz="1250" b="0">
                          <a:solidFill>
                            <a:srgbClr val="333333"/>
                          </a:solidFill>
                          <a:latin typeface="メイリオ"/>
                        </a:rPr>
                        <a:t>17件</a:t>
                      </a:r>
                    </a:p>
                  </a:txBody>
                  <a:tcPr anchor="ctr">
                    <a:solidFill>
                      <a:srgbClr val="FFFFFF"/>
                    </a:solidFill>
                  </a:tcPr>
                </a:tc>
                <a:tc>
                  <a:txBody>
                    <a:bodyPr/>
                    <a:lstStyle/>
                    <a:p>
                      <a:pPr algn="ctr"/>
                      <a:r>
                        <a:rPr sz="1250" b="0">
                          <a:solidFill>
                            <a:srgbClr val="333333"/>
                          </a:solidFill>
                          <a:latin typeface="メイリオ"/>
                        </a:rPr>
                        <a:t>1.87%</a:t>
                      </a:r>
                    </a:p>
                  </a:txBody>
                  <a:tcPr anchor="ctr">
                    <a:solidFill>
                      <a:srgbClr val="FFFFFF"/>
                    </a:solidFill>
                  </a:tcPr>
                </a:tc>
                <a:tc>
                  <a:txBody>
                    <a:bodyPr/>
                    <a:lstStyle/>
                    <a:p>
                      <a:pPr algn="ctr"/>
                      <a:r>
                        <a:rPr sz="1250" b="0">
                          <a:solidFill>
                            <a:srgbClr val="333333"/>
                          </a:solidFill>
                          <a:latin typeface="メイリオ"/>
                        </a:rPr>
                        <a:t>¥21,400</a:t>
                      </a:r>
                    </a:p>
                  </a:txBody>
                  <a:tcPr anchor="ctr">
                    <a:solidFill>
                      <a:srgbClr val="FFFFFF"/>
                    </a:solidFill>
                  </a:tcPr>
                </a:tc>
                <a:extLst>
                  <a:ext uri="{0D108BD9-81ED-4DB2-BD59-A6C34878D82A}">
                    <a16:rowId xmlns:a16="http://schemas.microsoft.com/office/drawing/2014/main" val="10001"/>
                  </a:ext>
                </a:extLst>
              </a:tr>
            </a:tbl>
          </a:graphicData>
        </a:graphic>
      </p:graphicFrame>
      <p:sp>
        <p:nvSpPr>
          <p:cNvPr id="5" name="Rounded Rectangle 4"/>
          <p:cNvSpPr/>
          <p:nvPr/>
        </p:nvSpPr>
        <p:spPr>
          <a:xfrm>
            <a:off x="548640" y="2834640"/>
            <a:ext cx="8778240" cy="2377440"/>
          </a:xfrm>
          <a:prstGeom prst="roundRect">
            <a:avLst/>
          </a:prstGeom>
          <a:solidFill>
            <a:srgbClr val="EAF0FA"/>
          </a:solidFill>
          <a:ln w="15875">
            <a:solidFill>
              <a:srgbClr val="1F285A"/>
            </a:solidFill>
          </a:ln>
        </p:spPr>
        <p:style>
          <a:lnRef idx="1">
            <a:schemeClr val="accent1"/>
          </a:lnRef>
          <a:fillRef idx="3">
            <a:schemeClr val="accent1"/>
          </a:fillRef>
          <a:effectRef idx="2">
            <a:schemeClr val="accent1"/>
          </a:effectRef>
          <a:fontRef idx="minor">
            <a:schemeClr val="lt1"/>
          </a:fontRef>
        </p:style>
        <p:txBody>
          <a:bodyPr wrap="square" tIns="54864" rtlCol="0" anchor="t"/>
          <a:lstStyle/>
          <a:p>
            <a:pPr algn="ctr"/>
            <a:r>
              <a:rPr sz="1400" b="1">
                <a:solidFill>
                  <a:srgbClr val="1F285A"/>
                </a:solidFill>
                <a:latin typeface="メイリオ"/>
              </a:rPr>
              <a:t>計測のポイント</a:t>
            </a:r>
          </a:p>
          <a:p>
            <a:r>
              <a:rPr sz="1400">
                <a:solidFill>
                  <a:srgbClr val="333333"/>
                </a:solidFill>
                <a:latin typeface="メイリオ"/>
              </a:rPr>
              <a:t>・LINE経由の応募はLトラックに加え、GAパラメータで実応募（管理画面外）まで捕捉</a:t>
            </a:r>
          </a:p>
          <a:p>
            <a:r>
              <a:rPr sz="1400">
                <a:solidFill>
                  <a:srgbClr val="333333"/>
                </a:solidFill>
                <a:latin typeface="メイリオ"/>
              </a:rPr>
              <a:t>・電話応募（タップ計測）とLINE応募（8:2＝LINE:電話）を合算した「実質の応募単価」を毎月算出</a:t>
            </a:r>
          </a:p>
          <a:p>
            <a:r>
              <a:rPr sz="1400">
                <a:solidFill>
                  <a:srgbClr val="333333"/>
                </a:solidFill>
                <a:latin typeface="メイリオ"/>
              </a:rPr>
              <a:t>・配信ごとの開封率・クリック率を取得し、翌月の企画・クリエイティブを差し替え</a:t>
            </a:r>
          </a:p>
          <a:p>
            <a:r>
              <a:rPr sz="1400">
                <a:solidFill>
                  <a:srgbClr val="333333"/>
                </a:solidFill>
                <a:latin typeface="メイリオ"/>
              </a:rPr>
              <a:t>・目標：管理画面と実CVの乖離（引き上げ率）を反映した全体の応募単価¥15,000達成</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err="1">
                <a:solidFill>
                  <a:srgbClr val="1E2761"/>
                </a:solidFill>
                <a:latin typeface="メイリオ" panose="020B0604030504040204" pitchFamily="50" charset="-128"/>
                <a:ea typeface="メイリオ" panose="020B0604030504040204" pitchFamily="50" charset="-128"/>
                <a:cs typeface="Calibri" pitchFamily="34" charset="-120"/>
              </a:rPr>
              <a:t>ユーザーのカスタマージャーニ</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アンケート設計（初回）</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設問・分岐ロジックの設計、診断フローの構築</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アンケート運用・改善（月次）</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配信結果を見ての設問見直し・セグメント精度の改善提案</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3041576"/>
            <a:ext cx="875635" cy="16231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Tree>
    <p:extLst>
      <p:ext uri="{BB962C8B-B14F-4D97-AF65-F5344CB8AC3E}">
        <p14:creationId xmlns:p14="http://schemas.microsoft.com/office/powerpoint/2010/main" val="288088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extLst>
      <p:ext uri="{BB962C8B-B14F-4D97-AF65-F5344CB8AC3E}">
        <p14:creationId xmlns:p14="http://schemas.microsoft.com/office/powerpoint/2010/main" val="3960976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7E7F9-2DE8-FBB7-6EC3-C7A40612E55D}"/>
            </a:ext>
          </a:extLst>
        </p:cNvPr>
        <p:cNvGrpSpPr/>
        <p:nvPr/>
      </p:nvGrpSpPr>
      <p:grpSpPr>
        <a:xfrm>
          <a:off x="0" y="0"/>
          <a:ext cx="0" cy="0"/>
          <a:chOff x="0" y="0"/>
          <a:chExt cx="0" cy="0"/>
        </a:xfrm>
      </p:grpSpPr>
      <p:sp>
        <p:nvSpPr>
          <p:cNvPr id="2" name="Holder 2">
            <a:extLst>
              <a:ext uri="{FF2B5EF4-FFF2-40B4-BE49-F238E27FC236}">
                <a16:creationId xmlns:a16="http://schemas.microsoft.com/office/drawing/2014/main" id="{F862B62B-5B71-EA9D-EEB0-D172846452D5}"/>
              </a:ext>
            </a:extLst>
          </p:cNvPr>
          <p:cNvSpPr txBox="1">
            <a:spLocks/>
          </p:cNvSpPr>
          <p:nvPr/>
        </p:nvSpPr>
        <p:spPr>
          <a:xfrm>
            <a:off x="195478" y="6697558"/>
            <a:ext cx="2962275" cy="123111"/>
          </a:xfrm>
        </p:spPr>
        <p:txBody>
          <a:bodyPr lIns="0" tIns="0" rIns="0" bIns="0"/>
          <a:lstStyle>
            <a:defPPr>
              <a:defRPr lang="ja-JP"/>
            </a:defPPr>
            <a:lvl1pPr marL="0" algn="l" defTabSz="914400" rtl="0" eaLnBrk="1" latinLnBrk="0" hangingPunct="1">
              <a:defRPr kumimoji="1" sz="800" b="1" i="0" kern="1200">
                <a:solidFill>
                  <a:schemeClr val="bg1"/>
                </a:solidFill>
                <a:latin typeface="Microsoft YaHei UI"/>
                <a:ea typeface="+mn-ea"/>
                <a:cs typeface="Microsoft YaHei UI"/>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spcBef>
                <a:spcPts val="150"/>
              </a:spcBef>
            </a:pPr>
            <a:r>
              <a:rPr lang="ja-JP" altLang="en-US" spc="30"/>
              <a:t>　</a:t>
            </a:r>
            <a:endParaRPr lang="ja-JP" altLang="en-US" spc="30" dirty="0"/>
          </a:p>
        </p:txBody>
      </p:sp>
      <p:sp>
        <p:nvSpPr>
          <p:cNvPr id="3" name="Google Shape;120;g9743f4138a_0_146">
            <a:extLst>
              <a:ext uri="{FF2B5EF4-FFF2-40B4-BE49-F238E27FC236}">
                <a16:creationId xmlns:a16="http://schemas.microsoft.com/office/drawing/2014/main" id="{4627BBFD-469E-4089-DDF4-4B197F1C8DD0}"/>
              </a:ext>
            </a:extLst>
          </p:cNvPr>
          <p:cNvSpPr txBox="1"/>
          <p:nvPr/>
        </p:nvSpPr>
        <p:spPr>
          <a:xfrm>
            <a:off x="519426" y="101040"/>
            <a:ext cx="7512300" cy="365100"/>
          </a:xfrm>
          <a:prstGeom prst="rect">
            <a:avLst/>
          </a:prstGeom>
          <a:noFill/>
          <a:ln>
            <a:noFill/>
          </a:ln>
        </p:spPr>
        <p:txBody>
          <a:bodyPr spcFirstLastPara="1" wrap="square" lIns="91425" tIns="72000" rIns="91425" bIns="45700" anchor="t" anchorCtr="0">
            <a:noAutofit/>
          </a:bodyPr>
          <a:lstStyle/>
          <a:p>
            <a:r>
              <a:rPr lang="ja-JP" altLang="en-US" sz="1600" dirty="0">
                <a:latin typeface="メイリオ" panose="020B0604030504040204" pitchFamily="50" charset="-128"/>
                <a:ea typeface="メイリオ" panose="020B0604030504040204" pitchFamily="50" charset="-128"/>
              </a:rPr>
              <a:t>今回の運用について（想定導入ツール：</a:t>
            </a:r>
            <a:r>
              <a:rPr lang="en-US" altLang="ja-JP" sz="1600" dirty="0" err="1">
                <a:latin typeface="メイリオ" panose="020B0604030504040204" pitchFamily="50" charset="-128"/>
                <a:ea typeface="メイリオ" panose="020B0604030504040204" pitchFamily="50" charset="-128"/>
              </a:rPr>
              <a:t>Lstep</a:t>
            </a:r>
            <a:r>
              <a:rPr lang="ja-JP" altLang="en-US"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a:t>
            </a:r>
          </a:p>
        </p:txBody>
      </p:sp>
      <p:sp>
        <p:nvSpPr>
          <p:cNvPr id="4" name="Text 1">
            <a:extLst>
              <a:ext uri="{FF2B5EF4-FFF2-40B4-BE49-F238E27FC236}">
                <a16:creationId xmlns:a16="http://schemas.microsoft.com/office/drawing/2014/main" id="{C4007437-62B6-AAA7-A7BC-216300C477D9}"/>
              </a:ext>
            </a:extLst>
          </p:cNvPr>
          <p:cNvSpPr/>
          <p:nvPr/>
        </p:nvSpPr>
        <p:spPr>
          <a:xfrm>
            <a:off x="561774" y="839106"/>
            <a:ext cx="8220833" cy="304800"/>
          </a:xfrm>
          <a:prstGeom prst="rect">
            <a:avLst/>
          </a:prstGeom>
          <a:noFill/>
          <a:ln/>
        </p:spPr>
        <p:txBody>
          <a:bodyPr wrap="square" lIns="0" tIns="0" rIns="0" bIns="0" rtlCol="0" anchor="t"/>
          <a:lstStyle/>
          <a:p>
            <a:pPr marL="0" indent="0">
              <a:lnSpc>
                <a:spcPts val="2400"/>
              </a:lnSpc>
              <a:buNone/>
            </a:pPr>
            <a:r>
              <a:rPr lang="en-US" altLang="ja-JP" sz="1800" b="1" dirty="0" err="1">
                <a:solidFill>
                  <a:schemeClr val="tx2"/>
                </a:solidFill>
                <a:latin typeface="Meiryo" panose="020B0604030504040204" pitchFamily="34" charset="-128"/>
                <a:ea typeface="Meiryo" panose="020B0604030504040204" pitchFamily="34" charset="-128"/>
                <a:cs typeface="Noto Sans JP" pitchFamily="34" charset="-120"/>
              </a:rPr>
              <a:t>Lstep</a:t>
            </a:r>
            <a:r>
              <a:rPr lang="ja-JP" altLang="en-US" sz="1800" b="1" dirty="0">
                <a:solidFill>
                  <a:schemeClr val="tx2"/>
                </a:solidFill>
                <a:latin typeface="Meiryo" panose="020B0604030504040204" pitchFamily="34" charset="-128"/>
                <a:ea typeface="Meiryo" panose="020B0604030504040204" pitchFamily="34" charset="-128"/>
                <a:cs typeface="Noto Sans JP" pitchFamily="34" charset="-120"/>
              </a:rPr>
              <a:t>を導入のうえ、①アンケート回答結果 ②ステップ自動化 を確実に実装。</a:t>
            </a:r>
            <a:endParaRPr lang="en-US" sz="1800" dirty="0">
              <a:solidFill>
                <a:schemeClr val="tx2"/>
              </a:solidFill>
              <a:latin typeface="Meiryo" panose="020B0604030504040204" pitchFamily="34" charset="-128"/>
              <a:ea typeface="Meiryo" panose="020B0604030504040204" pitchFamily="34" charset="-128"/>
            </a:endParaRPr>
          </a:p>
        </p:txBody>
      </p:sp>
      <p:sp>
        <p:nvSpPr>
          <p:cNvPr id="24" name="正方形/長方形 23">
            <a:extLst>
              <a:ext uri="{FF2B5EF4-FFF2-40B4-BE49-F238E27FC236}">
                <a16:creationId xmlns:a16="http://schemas.microsoft.com/office/drawing/2014/main" id="{360C6539-2861-5FAC-E5A1-4A5F876F70C7}"/>
              </a:ext>
            </a:extLst>
          </p:cNvPr>
          <p:cNvSpPr/>
          <p:nvPr/>
        </p:nvSpPr>
        <p:spPr>
          <a:xfrm>
            <a:off x="264045" y="766037"/>
            <a:ext cx="123158" cy="44348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IS" altLang="en-US"/>
          </a:p>
        </p:txBody>
      </p:sp>
      <p:sp>
        <p:nvSpPr>
          <p:cNvPr id="58" name="Text 1">
            <a:extLst>
              <a:ext uri="{FF2B5EF4-FFF2-40B4-BE49-F238E27FC236}">
                <a16:creationId xmlns:a16="http://schemas.microsoft.com/office/drawing/2014/main" id="{52B6FF4D-4BE6-FA72-7863-213445C98187}"/>
              </a:ext>
            </a:extLst>
          </p:cNvPr>
          <p:cNvSpPr/>
          <p:nvPr/>
        </p:nvSpPr>
        <p:spPr>
          <a:xfrm>
            <a:off x="561774" y="1181815"/>
            <a:ext cx="9165700" cy="577316"/>
          </a:xfrm>
          <a:prstGeom prst="rect">
            <a:avLst/>
          </a:prstGeom>
          <a:noFill/>
          <a:ln/>
        </p:spPr>
        <p:txBody>
          <a:bodyPr wrap="square" lIns="0" tIns="0" rIns="0" bIns="0" rtlCol="0" anchor="t"/>
          <a:lstStyle/>
          <a:p>
            <a:pPr marL="0" indent="0">
              <a:lnSpc>
                <a:spcPts val="2400"/>
              </a:lnSpc>
              <a:buNone/>
            </a:pPr>
            <a:r>
              <a:rPr lang="en-US" altLang="ja-JP" sz="1400" dirty="0" err="1">
                <a:solidFill>
                  <a:schemeClr val="tx1">
                    <a:lumMod val="50000"/>
                    <a:lumOff val="50000"/>
                  </a:schemeClr>
                </a:solidFill>
                <a:latin typeface="Meiryo" panose="020B0604030504040204" pitchFamily="34" charset="-128"/>
                <a:ea typeface="Meiryo" panose="020B0604030504040204" pitchFamily="34" charset="-128"/>
                <a:cs typeface="Noto Sans JP" pitchFamily="34" charset="-120"/>
              </a:rPr>
              <a:t>Lstep</a:t>
            </a:r>
            <a:r>
              <a:rPr lang="ja-JP" altLang="en-US" sz="1400" dirty="0">
                <a:solidFill>
                  <a:schemeClr val="tx1">
                    <a:lumMod val="50000"/>
                    <a:lumOff val="50000"/>
                  </a:schemeClr>
                </a:solidFill>
                <a:latin typeface="Meiryo" panose="020B0604030504040204" pitchFamily="34" charset="-128"/>
                <a:ea typeface="Meiryo" panose="020B0604030504040204" pitchFamily="34" charset="-128"/>
                <a:cs typeface="Noto Sans JP" pitchFamily="34" charset="-120"/>
              </a:rPr>
              <a:t>を導入することでユーザー別のステータスをより詳細に収集しながら、</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cs typeface="Noto Sans JP" pitchFamily="34" charset="-120"/>
            </a:endParaRPr>
          </a:p>
          <a:p>
            <a:pPr marL="0" indent="0">
              <a:lnSpc>
                <a:spcPts val="2400"/>
              </a:lnSpc>
              <a:buNone/>
            </a:pPr>
            <a:r>
              <a:rPr lang="ja-JP" altLang="en-US" sz="1400" dirty="0">
                <a:solidFill>
                  <a:schemeClr val="tx1">
                    <a:lumMod val="50000"/>
                    <a:lumOff val="50000"/>
                  </a:schemeClr>
                </a:solidFill>
                <a:latin typeface="Meiryo" panose="020B0604030504040204" pitchFamily="34" charset="-128"/>
                <a:ea typeface="Meiryo" panose="020B0604030504040204" pitchFamily="34" charset="-128"/>
                <a:cs typeface="Noto Sans JP" pitchFamily="34" charset="-120"/>
              </a:rPr>
              <a:t>アンケート結果、サイトでのアクションや訪問歴、などを中心に最適なタイミングで最適な訴求軸をご提示。</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cs typeface="Noto Sans JP" pitchFamily="34" charset="-120"/>
            </a:endParaRPr>
          </a:p>
        </p:txBody>
      </p:sp>
      <p:sp>
        <p:nvSpPr>
          <p:cNvPr id="27" name="Holder 2">
            <a:extLst>
              <a:ext uri="{FF2B5EF4-FFF2-40B4-BE49-F238E27FC236}">
                <a16:creationId xmlns:a16="http://schemas.microsoft.com/office/drawing/2014/main" id="{05254657-AD39-FC3E-D556-0EFBE0E14A07}"/>
              </a:ext>
            </a:extLst>
          </p:cNvPr>
          <p:cNvSpPr txBox="1">
            <a:spLocks/>
          </p:cNvSpPr>
          <p:nvPr/>
        </p:nvSpPr>
        <p:spPr>
          <a:xfrm>
            <a:off x="195478" y="6697558"/>
            <a:ext cx="2962275" cy="123111"/>
          </a:xfrm>
        </p:spPr>
        <p:txBody>
          <a:bodyPr lIns="0" tIns="0" rIns="0" bIns="0"/>
          <a:lstStyle>
            <a:defPPr>
              <a:defRPr lang="ja-JP"/>
            </a:defPPr>
            <a:lvl1pPr marL="0" algn="l" defTabSz="914400" rtl="0" eaLnBrk="1" latinLnBrk="0" hangingPunct="1">
              <a:defRPr kumimoji="1" sz="800" b="1" i="0" kern="1200">
                <a:solidFill>
                  <a:schemeClr val="bg1"/>
                </a:solidFill>
                <a:latin typeface="Microsoft YaHei UI"/>
                <a:ea typeface="+mn-ea"/>
                <a:cs typeface="Microsoft YaHei UI"/>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spcBef>
                <a:spcPts val="150"/>
              </a:spcBef>
            </a:pPr>
            <a:r>
              <a:rPr lang="ja-JP" altLang="en-US" spc="30"/>
              <a:t>　</a:t>
            </a:r>
            <a:endParaRPr lang="ja-JP" altLang="en-US" spc="30" dirty="0"/>
          </a:p>
        </p:txBody>
      </p:sp>
      <p:pic>
        <p:nvPicPr>
          <p:cNvPr id="32" name="図 31">
            <a:extLst>
              <a:ext uri="{FF2B5EF4-FFF2-40B4-BE49-F238E27FC236}">
                <a16:creationId xmlns:a16="http://schemas.microsoft.com/office/drawing/2014/main" id="{0B039E34-3902-EBBD-456A-E89A13CC848B}"/>
              </a:ext>
            </a:extLst>
          </p:cNvPr>
          <p:cNvPicPr>
            <a:picLocks noChangeAspect="1"/>
          </p:cNvPicPr>
          <p:nvPr/>
        </p:nvPicPr>
        <p:blipFill>
          <a:blip r:embed="rId2"/>
          <a:stretch>
            <a:fillRect/>
          </a:stretch>
        </p:blipFill>
        <p:spPr>
          <a:xfrm>
            <a:off x="387203" y="2124189"/>
            <a:ext cx="2214010" cy="3675107"/>
          </a:xfrm>
          <a:prstGeom prst="rect">
            <a:avLst/>
          </a:prstGeom>
        </p:spPr>
      </p:pic>
      <p:pic>
        <p:nvPicPr>
          <p:cNvPr id="36" name="図 35">
            <a:extLst>
              <a:ext uri="{FF2B5EF4-FFF2-40B4-BE49-F238E27FC236}">
                <a16:creationId xmlns:a16="http://schemas.microsoft.com/office/drawing/2014/main" id="{E9885E75-4A6B-9C51-5F79-A22D6A9B91B3}"/>
              </a:ext>
            </a:extLst>
          </p:cNvPr>
          <p:cNvPicPr>
            <a:picLocks noChangeAspect="1"/>
          </p:cNvPicPr>
          <p:nvPr/>
        </p:nvPicPr>
        <p:blipFill>
          <a:blip r:embed="rId3"/>
          <a:stretch>
            <a:fillRect/>
          </a:stretch>
        </p:blipFill>
        <p:spPr>
          <a:xfrm>
            <a:off x="2792140" y="2124190"/>
            <a:ext cx="2278164" cy="4285320"/>
          </a:xfrm>
          <a:prstGeom prst="rect">
            <a:avLst/>
          </a:prstGeom>
        </p:spPr>
      </p:pic>
      <p:pic>
        <p:nvPicPr>
          <p:cNvPr id="39" name="図 38">
            <a:extLst>
              <a:ext uri="{FF2B5EF4-FFF2-40B4-BE49-F238E27FC236}">
                <a16:creationId xmlns:a16="http://schemas.microsoft.com/office/drawing/2014/main" id="{740F4C99-7771-D0B2-82F4-6C282DB18477}"/>
              </a:ext>
            </a:extLst>
          </p:cNvPr>
          <p:cNvPicPr>
            <a:picLocks noChangeAspect="1"/>
          </p:cNvPicPr>
          <p:nvPr/>
        </p:nvPicPr>
        <p:blipFill>
          <a:blip r:embed="rId4"/>
          <a:stretch>
            <a:fillRect/>
          </a:stretch>
        </p:blipFill>
        <p:spPr>
          <a:xfrm>
            <a:off x="5269940" y="2124189"/>
            <a:ext cx="2257740" cy="3886742"/>
          </a:xfrm>
          <a:prstGeom prst="rect">
            <a:avLst/>
          </a:prstGeom>
        </p:spPr>
      </p:pic>
      <p:pic>
        <p:nvPicPr>
          <p:cNvPr id="46" name="図 45">
            <a:extLst>
              <a:ext uri="{FF2B5EF4-FFF2-40B4-BE49-F238E27FC236}">
                <a16:creationId xmlns:a16="http://schemas.microsoft.com/office/drawing/2014/main" id="{654FB46D-A3DD-FC98-EC59-594BB50A3A65}"/>
              </a:ext>
            </a:extLst>
          </p:cNvPr>
          <p:cNvPicPr>
            <a:picLocks noChangeAspect="1"/>
          </p:cNvPicPr>
          <p:nvPr/>
        </p:nvPicPr>
        <p:blipFill>
          <a:blip r:embed="rId5"/>
          <a:stretch>
            <a:fillRect/>
          </a:stretch>
        </p:blipFill>
        <p:spPr>
          <a:xfrm>
            <a:off x="7727316" y="2124189"/>
            <a:ext cx="1942193" cy="2974681"/>
          </a:xfrm>
          <a:prstGeom prst="rect">
            <a:avLst/>
          </a:prstGeom>
        </p:spPr>
      </p:pic>
    </p:spTree>
    <p:extLst>
      <p:ext uri="{BB962C8B-B14F-4D97-AF65-F5344CB8AC3E}">
        <p14:creationId xmlns:p14="http://schemas.microsoft.com/office/powerpoint/2010/main" val="11717604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148781</TotalTime>
  <Words>4873</Words>
  <Application>Microsoft Office PowerPoint</Application>
  <PresentationFormat>A4 210 x 297 mm</PresentationFormat>
  <Paragraphs>955</Paragraphs>
  <Slides>44</Slides>
  <Notes>9</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44</vt:i4>
      </vt:variant>
    </vt:vector>
  </HeadingPairs>
  <TitlesOfParts>
    <vt:vector size="51"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1953</cp:revision>
  <cp:lastPrinted>2022-11-01T11:38:14Z</cp:lastPrinted>
  <dcterms:created xsi:type="dcterms:W3CDTF">2015-09-04T09:21:15Z</dcterms:created>
  <dcterms:modified xsi:type="dcterms:W3CDTF">2026-08-03T09:52:59Z</dcterms:modified>
</cp:coreProperties>
</file>