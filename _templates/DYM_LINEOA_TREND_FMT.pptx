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9906000"/>
  <p:notesSz cx="6799250" cy="9929800"/>
  <p:embeddedFontLst>
    <p:embeddedFont>
      <p:font typeface="Century Gothic"/>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QCoaVnfxROPv51WSWo8GFar7+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32AC2F-9110-45D6-A1EA-E37EBF87FD90}">
  <a:tblStyle styleId="{5232AC2F-9110-45D6-A1EA-E37EBF87FD9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CenturyGothic-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enturyGothic-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enturyGothic-italic.fntdata"/><Relationship Id="rId6" Type="http://schemas.openxmlformats.org/officeDocument/2006/relationships/slide" Target="slides/slide1.xml"/><Relationship Id="rId18"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2946094" cy="495952"/>
          </a:xfrm>
          <a:prstGeom prst="rect">
            <a:avLst/>
          </a:prstGeom>
          <a:noFill/>
          <a:ln>
            <a:noFill/>
          </a:ln>
        </p:spPr>
        <p:txBody>
          <a:bodyPr anchorCtr="0" anchor="t" bIns="44100" lIns="88200" spcFirstLastPara="1" rIns="88200" wrap="square" tIns="441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1650" y="0"/>
            <a:ext cx="2946093" cy="495952"/>
          </a:xfrm>
          <a:prstGeom prst="rect">
            <a:avLst/>
          </a:prstGeom>
          <a:noFill/>
          <a:ln>
            <a:noFill/>
          </a:ln>
        </p:spPr>
        <p:txBody>
          <a:bodyPr anchorCtr="0" anchor="t" bIns="44100" lIns="88200" spcFirstLastPara="1" rIns="88200" wrap="square" tIns="441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686" y="4716161"/>
            <a:ext cx="5439410" cy="4468185"/>
          </a:xfrm>
          <a:prstGeom prst="rect">
            <a:avLst/>
          </a:prstGeom>
          <a:noFill/>
          <a:ln>
            <a:noFill/>
          </a:ln>
        </p:spPr>
        <p:txBody>
          <a:bodyPr anchorCtr="0" anchor="t" bIns="44100" lIns="88200" spcFirstLastPara="1" rIns="88200" wrap="square" tIns="441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9432321"/>
            <a:ext cx="2946094" cy="495952"/>
          </a:xfrm>
          <a:prstGeom prst="rect">
            <a:avLst/>
          </a:prstGeom>
          <a:noFill/>
          <a:ln>
            <a:noFill/>
          </a:ln>
        </p:spPr>
        <p:txBody>
          <a:bodyPr anchorCtr="0" anchor="b" bIns="44100" lIns="88200" spcFirstLastPara="1" rIns="88200" wrap="square" tIns="441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1650" y="9432321"/>
            <a:ext cx="2946093" cy="495952"/>
          </a:xfrm>
          <a:prstGeom prst="rect">
            <a:avLst/>
          </a:prstGeom>
          <a:noFill/>
          <a:ln>
            <a:noFill/>
          </a:ln>
        </p:spPr>
        <p:txBody>
          <a:bodyPr anchorCtr="0" anchor="b" bIns="44100" lIns="88200" spcFirstLastPara="1" rIns="88200" wrap="square" tIns="44100">
            <a:noAutofit/>
          </a:bodyPr>
          <a:lstStyle/>
          <a:p>
            <a:pPr indent="0" lvl="0" marL="0" marR="0" rtl="0" algn="r">
              <a:spcBef>
                <a:spcPts val="0"/>
              </a:spcBef>
              <a:spcAft>
                <a:spcPts val="0"/>
              </a:spcAft>
              <a:buNone/>
            </a:pPr>
            <a:fld id="{00000000-1234-1234-1234-123412341234}" type="slidenum">
              <a:rPr b="0" i="0" lang="ja-JP"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p:nvPr>
            <p:ph idx="2" type="sldImg"/>
          </p:nvPr>
        </p:nvSpPr>
        <p:spPr>
          <a:xfrm>
            <a:off x="3124200" y="509588"/>
            <a:ext cx="3681413" cy="2549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2" name="Google Shape;22;p1:notes"/>
          <p:cNvSpPr txBox="1"/>
          <p:nvPr>
            <p:ph idx="1" type="body"/>
          </p:nvPr>
        </p:nvSpPr>
        <p:spPr>
          <a:xfrm>
            <a:off x="680686" y="4716161"/>
            <a:ext cx="5439410" cy="4468185"/>
          </a:xfrm>
          <a:prstGeom prst="rect">
            <a:avLst/>
          </a:prstGeom>
          <a:noFill/>
          <a:ln>
            <a:noFill/>
          </a:ln>
        </p:spPr>
        <p:txBody>
          <a:bodyPr anchorCtr="0" anchor="t" bIns="44100" lIns="88200" spcFirstLastPara="1" rIns="88200" wrap="square" tIns="441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 name="Google Shape;23;p1:notes"/>
          <p:cNvSpPr txBox="1"/>
          <p:nvPr>
            <p:ph idx="11" type="ftr"/>
          </p:nvPr>
        </p:nvSpPr>
        <p:spPr>
          <a:xfrm>
            <a:off x="1" y="9432321"/>
            <a:ext cx="2946094" cy="495952"/>
          </a:xfrm>
          <a:prstGeom prst="rect">
            <a:avLst/>
          </a:prstGeom>
          <a:noFill/>
          <a:ln>
            <a:noFill/>
          </a:ln>
        </p:spPr>
        <p:txBody>
          <a:bodyPr anchorCtr="0" anchor="b" bIns="44100" lIns="88200" spcFirstLastPara="1" rIns="88200" wrap="square" tIns="44100">
            <a:noAutofit/>
          </a:bodyPr>
          <a:lstStyle/>
          <a:p>
            <a:pPr indent="0" lvl="0" marL="0" rtl="0" algn="l">
              <a:spcBef>
                <a:spcPts val="0"/>
              </a:spcBef>
              <a:spcAft>
                <a:spcPts val="0"/>
              </a:spcAft>
              <a:buNone/>
            </a:pPr>
            <a:r>
              <a:t/>
            </a:r>
            <a:endParaRPr/>
          </a:p>
        </p:txBody>
      </p:sp>
      <p:sp>
        <p:nvSpPr>
          <p:cNvPr id="24" name="Google Shape;24;p1:notes"/>
          <p:cNvSpPr txBox="1"/>
          <p:nvPr>
            <p:ph idx="12" type="sldNum"/>
          </p:nvPr>
        </p:nvSpPr>
        <p:spPr>
          <a:xfrm>
            <a:off x="3851650" y="9432321"/>
            <a:ext cx="2946093" cy="495952"/>
          </a:xfrm>
          <a:prstGeom prst="rect">
            <a:avLst/>
          </a:prstGeom>
          <a:noFill/>
          <a:ln>
            <a:noFill/>
          </a:ln>
        </p:spPr>
        <p:txBody>
          <a:bodyPr anchorCtr="0" anchor="b" bIns="44100" lIns="88200" spcFirstLastPara="1" rIns="88200" wrap="square" tIns="44100">
            <a:noAutofit/>
          </a:bodyPr>
          <a:lstStyle/>
          <a:p>
            <a:pPr indent="0" lvl="0" marL="0" rtl="0" algn="r">
              <a:spcBef>
                <a:spcPts val="0"/>
              </a:spcBef>
              <a:spcAft>
                <a:spcPts val="0"/>
              </a:spcAft>
              <a:buNone/>
            </a:pPr>
            <a:fld id="{00000000-1234-1234-1234-123412341234}" type="slidenum">
              <a:rPr b="0" i="0" lang="ja-JP"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2" name="Google Shape;32;p2:notes"/>
          <p:cNvSpPr/>
          <p:nvPr>
            <p:ph idx="2" type="sldImg"/>
          </p:nvPr>
        </p:nvSpPr>
        <p:spPr>
          <a:xfrm>
            <a:off x="981075" y="1243013"/>
            <a:ext cx="4845050"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38" name="Google Shape;38;p3: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66" name="Google Shape;66;p4: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160" name="Google Shape;160;p7: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187" name="Google Shape;187;p8: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241" name="Google Shape;241;p10: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1: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268" name="Google Shape;268;p11: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タイトル スライド">
  <p:cSld name="1_タイトル スライド">
    <p:spTree>
      <p:nvGrpSpPr>
        <p:cNvPr id="16" name="Shape 1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タイトルとコンテンツ">
  <p:cSld name="4_タイトルとコンテンツ">
    <p:spTree>
      <p:nvGrpSpPr>
        <p:cNvPr id="17" name="Shape 17"/>
        <p:cNvGrpSpPr/>
        <p:nvPr/>
      </p:nvGrpSpPr>
      <p:grpSpPr>
        <a:xfrm>
          <a:off x="0" y="0"/>
          <a:ext cx="0" cy="0"/>
          <a:chOff x="0" y="0"/>
          <a:chExt cx="0" cy="0"/>
        </a:xfrm>
      </p:grpSpPr>
      <p:sp>
        <p:nvSpPr>
          <p:cNvPr id="18" name="Google Shape;18;p14"/>
          <p:cNvSpPr/>
          <p:nvPr/>
        </p:nvSpPr>
        <p:spPr>
          <a:xfrm>
            <a:off x="0" y="0"/>
            <a:ext cx="451204" cy="548680"/>
          </a:xfrm>
          <a:prstGeom prst="rect">
            <a:avLst/>
          </a:prstGeom>
          <a:solidFill>
            <a:srgbClr val="191F5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cxnSp>
        <p:nvCxnSpPr>
          <p:cNvPr id="19" name="Google Shape;19;p14"/>
          <p:cNvCxnSpPr/>
          <p:nvPr/>
        </p:nvCxnSpPr>
        <p:spPr>
          <a:xfrm>
            <a:off x="0" y="548680"/>
            <a:ext cx="9906000" cy="0"/>
          </a:xfrm>
          <a:prstGeom prst="straightConnector1">
            <a:avLst/>
          </a:prstGeom>
          <a:noFill/>
          <a:ln cap="flat" cmpd="sng" w="25400">
            <a:solidFill>
              <a:srgbClr val="191F54"/>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p:nvPr/>
        </p:nvSpPr>
        <p:spPr>
          <a:xfrm>
            <a:off x="0" y="6552728"/>
            <a:ext cx="9906000" cy="332656"/>
          </a:xfrm>
          <a:prstGeom prst="rect">
            <a:avLst/>
          </a:prstGeom>
          <a:solidFill>
            <a:srgbClr val="191F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2"/>
          <p:cNvSpPr txBox="1"/>
          <p:nvPr/>
        </p:nvSpPr>
        <p:spPr>
          <a:xfrm>
            <a:off x="116569" y="6597932"/>
            <a:ext cx="366630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ja-JP" sz="800" u="none" cap="none" strike="noStrike">
                <a:solidFill>
                  <a:schemeClr val="lt1"/>
                </a:solidFill>
                <a:latin typeface="Arial"/>
                <a:ea typeface="Arial"/>
                <a:cs typeface="Arial"/>
                <a:sym typeface="Arial"/>
              </a:rPr>
              <a:t>Copyright(c) 2025 DYM inc. All Rights Reserved.</a:t>
            </a:r>
            <a:endParaRPr/>
          </a:p>
        </p:txBody>
      </p:sp>
      <p:sp>
        <p:nvSpPr>
          <p:cNvPr id="12" name="Google Shape;12;p12"/>
          <p:cNvSpPr/>
          <p:nvPr/>
        </p:nvSpPr>
        <p:spPr>
          <a:xfrm>
            <a:off x="0" y="0"/>
            <a:ext cx="416496" cy="548680"/>
          </a:xfrm>
          <a:prstGeom prst="rect">
            <a:avLst/>
          </a:prstGeom>
          <a:solidFill>
            <a:srgbClr val="191F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13" name="Google Shape;13;p12"/>
          <p:cNvCxnSpPr/>
          <p:nvPr/>
        </p:nvCxnSpPr>
        <p:spPr>
          <a:xfrm>
            <a:off x="0" y="548680"/>
            <a:ext cx="9906000" cy="0"/>
          </a:xfrm>
          <a:prstGeom prst="straightConnector1">
            <a:avLst/>
          </a:prstGeom>
          <a:noFill/>
          <a:ln cap="flat" cmpd="sng" w="25400">
            <a:solidFill>
              <a:srgbClr val="00324B"/>
            </a:solidFill>
            <a:prstDash val="solid"/>
            <a:round/>
            <a:headEnd len="sm" w="sm" type="none"/>
            <a:tailEnd len="sm" w="sm" type="none"/>
          </a:ln>
        </p:spPr>
      </p:cxnSp>
      <p:pic>
        <p:nvPicPr>
          <p:cNvPr id="14" name="Google Shape;14;p12"/>
          <p:cNvPicPr preferRelativeResize="0"/>
          <p:nvPr/>
        </p:nvPicPr>
        <p:blipFill rotWithShape="1">
          <a:blip r:embed="rId1">
            <a:alphaModFix/>
          </a:blip>
          <a:srcRect b="0" l="-1647" r="-11171" t="0"/>
          <a:stretch/>
        </p:blipFill>
        <p:spPr>
          <a:xfrm>
            <a:off x="8619408" y="161057"/>
            <a:ext cx="1192729" cy="263314"/>
          </a:xfrm>
          <a:prstGeom prst="rect">
            <a:avLst/>
          </a:prstGeom>
          <a:noFill/>
          <a:ln>
            <a:noFill/>
          </a:ln>
        </p:spPr>
      </p:pic>
      <p:sp>
        <p:nvSpPr>
          <p:cNvPr id="15" name="Google Shape;15;p12"/>
          <p:cNvSpPr txBox="1"/>
          <p:nvPr/>
        </p:nvSpPr>
        <p:spPr>
          <a:xfrm>
            <a:off x="7545288" y="6571255"/>
            <a:ext cx="2133600" cy="216000"/>
          </a:xfrm>
          <a:prstGeom prst="rect">
            <a:avLst/>
          </a:prstGeom>
          <a:noFill/>
          <a:ln>
            <a:noFill/>
          </a:ln>
        </p:spPr>
        <p:txBody>
          <a:bodyPr anchorCtr="0" anchor="t" bIns="45700" lIns="91425" spcFirstLastPara="1" rIns="91425" wrap="square" tIns="25200">
            <a:noAutofit/>
          </a:bodyPr>
          <a:lstStyle/>
          <a:p>
            <a:pPr indent="0" lvl="0" marL="0" marR="0" rtl="0" algn="r">
              <a:spcBef>
                <a:spcPts val="0"/>
              </a:spcBef>
              <a:spcAft>
                <a:spcPts val="0"/>
              </a:spcAft>
              <a:buNone/>
            </a:pPr>
            <a:fld id="{00000000-1234-1234-1234-123412341234}" type="slidenum">
              <a:rPr b="0" i="1" lang="ja-JP" sz="1400" u="none" cap="none" strike="noStrike">
                <a:solidFill>
                  <a:schemeClr val="lt1"/>
                </a:solidFill>
                <a:latin typeface="Century Gothic"/>
                <a:ea typeface="Century Gothic"/>
                <a:cs typeface="Century Gothic"/>
                <a:sym typeface="Century Gothic"/>
              </a:rPr>
              <a:t>‹#›</a:t>
            </a:fld>
            <a:endParaRPr b="0" i="1" sz="1400" u="none" cap="none" strike="noStrike">
              <a:solidFill>
                <a:schemeClr val="lt1"/>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1"/>
          <p:cNvSpPr/>
          <p:nvPr/>
        </p:nvSpPr>
        <p:spPr>
          <a:xfrm>
            <a:off x="0" y="0"/>
            <a:ext cx="9906000" cy="8367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7" name="Google Shape;27;p1"/>
          <p:cNvPicPr preferRelativeResize="0"/>
          <p:nvPr/>
        </p:nvPicPr>
        <p:blipFill rotWithShape="1">
          <a:blip r:embed="rId3">
            <a:alphaModFix/>
          </a:blip>
          <a:srcRect b="0" l="-1647" r="-11171" t="0"/>
          <a:stretch/>
        </p:blipFill>
        <p:spPr>
          <a:xfrm>
            <a:off x="8619408" y="188641"/>
            <a:ext cx="1192729" cy="243605"/>
          </a:xfrm>
          <a:prstGeom prst="rect">
            <a:avLst/>
          </a:prstGeom>
          <a:noFill/>
          <a:ln>
            <a:noFill/>
          </a:ln>
        </p:spPr>
      </p:pic>
      <p:sp>
        <p:nvSpPr>
          <p:cNvPr id="28" name="Google Shape;28;p1"/>
          <p:cNvSpPr/>
          <p:nvPr/>
        </p:nvSpPr>
        <p:spPr>
          <a:xfrm>
            <a:off x="1026684" y="3645024"/>
            <a:ext cx="7873109" cy="45719"/>
          </a:xfrm>
          <a:prstGeom prst="rect">
            <a:avLst/>
          </a:prstGeom>
          <a:solidFill>
            <a:srgbClr val="1513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29" name="Google Shape;29;p1"/>
          <p:cNvSpPr/>
          <p:nvPr/>
        </p:nvSpPr>
        <p:spPr>
          <a:xfrm>
            <a:off x="781200" y="3044550"/>
            <a:ext cx="8343600" cy="646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ja-JP" sz="3600" u="none" cap="none" strike="noStrike">
                <a:solidFill>
                  <a:srgbClr val="0F243E"/>
                </a:solidFill>
                <a:latin typeface="Arial"/>
                <a:ea typeface="Arial"/>
                <a:cs typeface="Arial"/>
                <a:sym typeface="Arial"/>
              </a:rPr>
              <a:t>2026年7月　LINEOAトレンドレポート　</a:t>
            </a:r>
            <a:endParaRPr b="1" i="0" sz="2000" u="none" cap="none" strike="noStrike">
              <a:solidFill>
                <a:srgbClr val="0F243E"/>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2"/>
          <p:cNvSpPr txBox="1"/>
          <p:nvPr/>
        </p:nvSpPr>
        <p:spPr>
          <a:xfrm>
            <a:off x="318183" y="1483585"/>
            <a:ext cx="9298331" cy="4279033"/>
          </a:xfrm>
          <a:prstGeom prst="rect">
            <a:avLst/>
          </a:prstGeom>
          <a:noFill/>
          <a:ln>
            <a:noFill/>
          </a:ln>
        </p:spPr>
        <p:txBody>
          <a:bodyPr anchorCtr="0" anchor="t" bIns="90000" lIns="91425" spcFirstLastPara="1" rIns="91425" wrap="square" tIns="90000">
            <a:spAutoFit/>
          </a:bodyPr>
          <a:lstStyle/>
          <a:p>
            <a:pPr indent="0" lvl="0" marL="0" marR="0" rtl="0" algn="l">
              <a:lnSpc>
                <a:spcPct val="200000"/>
              </a:lnSpc>
              <a:spcBef>
                <a:spcPts val="0"/>
              </a:spcBef>
              <a:spcAft>
                <a:spcPts val="0"/>
              </a:spcAft>
              <a:buNone/>
            </a:pPr>
            <a:r>
              <a:rPr b="1" i="0" lang="ja-JP" sz="1500" u="none" cap="none" strike="noStrike">
                <a:solidFill>
                  <a:schemeClr val="dk1"/>
                </a:solidFill>
                <a:latin typeface="Meiryo"/>
                <a:ea typeface="Meiryo"/>
                <a:cs typeface="Meiryo"/>
                <a:sym typeface="Meiryo"/>
              </a:rPr>
              <a:t>P.3    【LINE VOOM】提供終了に伴う、LINE公式アカウントへの影響</a:t>
            </a:r>
            <a:endParaRPr/>
          </a:p>
          <a:p>
            <a:pPr indent="0" lvl="0" marL="0" marR="0" rtl="0" algn="l">
              <a:lnSpc>
                <a:spcPct val="200000"/>
              </a:lnSpc>
              <a:spcBef>
                <a:spcPts val="0"/>
              </a:spcBef>
              <a:spcAft>
                <a:spcPts val="0"/>
              </a:spcAft>
              <a:buNone/>
            </a:pPr>
            <a:r>
              <a:rPr b="1" i="0" lang="ja-JP" sz="1500" u="none" cap="none" strike="noStrike">
                <a:solidFill>
                  <a:schemeClr val="dk1"/>
                </a:solidFill>
                <a:latin typeface="Meiryo"/>
                <a:ea typeface="Meiryo"/>
                <a:cs typeface="Meiryo"/>
                <a:sym typeface="Meiryo"/>
              </a:rPr>
              <a:t>P.4    【Messaging API】API作成のリッチメニューの統計情報が取得可能に</a:t>
            </a:r>
            <a:br>
              <a:rPr b="1" i="0" lang="ja-JP" sz="1500" u="none" cap="none" strike="noStrike">
                <a:solidFill>
                  <a:schemeClr val="dk1"/>
                </a:solidFill>
                <a:latin typeface="Meiryo"/>
                <a:ea typeface="Meiryo"/>
                <a:cs typeface="Meiryo"/>
                <a:sym typeface="Meiryo"/>
              </a:rPr>
            </a:br>
            <a:r>
              <a:rPr b="1" i="0" lang="ja-JP" sz="1500" u="none" cap="none" strike="noStrike">
                <a:solidFill>
                  <a:schemeClr val="dk1"/>
                </a:solidFill>
                <a:latin typeface="Meiryo"/>
                <a:ea typeface="Meiryo"/>
                <a:cs typeface="Meiryo"/>
                <a:sym typeface="Meiryo"/>
              </a:rPr>
              <a:t>P.5    【LINEミニアプリ】起動フローの変更について</a:t>
            </a:r>
            <a:br>
              <a:rPr b="1" i="0" lang="ja-JP" sz="1500" u="none" cap="none" strike="noStrike">
                <a:solidFill>
                  <a:schemeClr val="dk1"/>
                </a:solidFill>
                <a:latin typeface="Meiryo"/>
                <a:ea typeface="Meiryo"/>
                <a:cs typeface="Meiryo"/>
                <a:sym typeface="Meiryo"/>
              </a:rPr>
            </a:br>
            <a:r>
              <a:rPr b="1" i="0" lang="ja-JP" sz="1500" u="none" cap="none" strike="noStrike">
                <a:solidFill>
                  <a:schemeClr val="dk1"/>
                </a:solidFill>
                <a:latin typeface="Meiryo"/>
                <a:ea typeface="Meiryo"/>
                <a:cs typeface="Meiryo"/>
                <a:sym typeface="Meiryo"/>
              </a:rPr>
              <a:t>P.6    【LINEミニアプリ】起動フローの変更について</a:t>
            </a:r>
            <a:endParaRPr/>
          </a:p>
          <a:p>
            <a:pPr indent="0" lvl="0" marL="0" marR="0" rtl="0" algn="l">
              <a:lnSpc>
                <a:spcPct val="200000"/>
              </a:lnSpc>
              <a:spcBef>
                <a:spcPts val="0"/>
              </a:spcBef>
              <a:spcAft>
                <a:spcPts val="0"/>
              </a:spcAft>
              <a:buNone/>
            </a:pPr>
            <a:r>
              <a:rPr b="1" i="0" lang="ja-JP" sz="1500" u="none" cap="none" strike="noStrike">
                <a:solidFill>
                  <a:schemeClr val="dk1"/>
                </a:solidFill>
                <a:latin typeface="Meiryo"/>
                <a:ea typeface="Meiryo"/>
                <a:cs typeface="Meiryo"/>
                <a:sym typeface="Meiryo"/>
              </a:rPr>
              <a:t>P.7    【LINEプロモーションスタンプ】OAブロック仕様変更後の実績共有</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Meiryo"/>
                <a:ea typeface="Meiryo"/>
                <a:cs typeface="Meiryo"/>
                <a:sym typeface="Meiryo"/>
              </a:rPr>
              <a:t>P.7    【LINEプロモーションスタンプ】OAブロック仕様変更後の実績共有</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Meiryo"/>
                <a:ea typeface="Meiryo"/>
                <a:cs typeface="Meiryo"/>
                <a:sym typeface="Meiryo"/>
              </a:rPr>
              <a:t>P.7    【LINEプロモーションスタンプ】OAブロック仕様変更後の実績共有</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Meiryo"/>
                <a:ea typeface="Meiryo"/>
                <a:cs typeface="Meiryo"/>
                <a:sym typeface="Meiryo"/>
              </a:rPr>
              <a:t>P.7    【LINEプロモーションスタンプ】OAブロック仕様変更後の実績共有</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Meiryo"/>
                <a:ea typeface="Meiryo"/>
                <a:cs typeface="Meiryo"/>
                <a:sym typeface="Meiryo"/>
              </a:rPr>
              <a:t>P.7    【LINEプロモーションスタンプ】OAブロック仕様変更後の実績共有</a:t>
            </a:r>
            <a:endParaRPr b="1" i="0" sz="1500" u="none" cap="none" strike="noStrike">
              <a:solidFill>
                <a:schemeClr val="dk1"/>
              </a:solidFill>
              <a:latin typeface="Meiryo"/>
              <a:ea typeface="Meiryo"/>
              <a:cs typeface="Meiryo"/>
              <a:sym typeface="Meiryo"/>
            </a:endParaRPr>
          </a:p>
        </p:txBody>
      </p:sp>
      <p:sp>
        <p:nvSpPr>
          <p:cNvPr id="35" name="Google Shape;35;p2"/>
          <p:cNvSpPr txBox="1"/>
          <p:nvPr/>
        </p:nvSpPr>
        <p:spPr>
          <a:xfrm>
            <a:off x="292801" y="62027"/>
            <a:ext cx="7512385" cy="365091"/>
          </a:xfrm>
          <a:prstGeom prst="rect">
            <a:avLst/>
          </a:prstGeom>
          <a:noFill/>
          <a:ln>
            <a:noFill/>
          </a:ln>
        </p:spPr>
        <p:txBody>
          <a:bodyPr anchorCtr="0" anchor="t" bIns="45700" lIns="91425" spcFirstLastPara="1" rIns="91425" wrap="square" tIns="72000">
            <a:spAutoFit/>
          </a:bodyPr>
          <a:lstStyle/>
          <a:p>
            <a:pPr indent="0" lvl="0" marL="0" marR="0" rtl="0" algn="l">
              <a:lnSpc>
                <a:spcPct val="100000"/>
              </a:lnSpc>
              <a:spcBef>
                <a:spcPts val="0"/>
              </a:spcBef>
              <a:spcAft>
                <a:spcPts val="0"/>
              </a:spcAft>
              <a:buClr>
                <a:srgbClr val="000000"/>
              </a:buClr>
              <a:buSzPts val="1600"/>
              <a:buFont typeface="Arial"/>
              <a:buNone/>
            </a:pPr>
            <a:r>
              <a:rPr b="0" i="0" lang="ja-JP" sz="1600" u="none" cap="none" strike="noStrike">
                <a:solidFill>
                  <a:srgbClr val="000000"/>
                </a:solidFill>
                <a:latin typeface="Meiryo"/>
                <a:ea typeface="Meiryo"/>
                <a:cs typeface="Meiryo"/>
                <a:sym typeface="Meiryo"/>
              </a:rPr>
              <a:t>    目次</a:t>
            </a:r>
            <a:endParaRPr b="0" i="0" sz="1600" u="none" cap="none" strike="noStrike">
              <a:solidFill>
                <a:srgbClr val="000000"/>
              </a:solidFill>
              <a:latin typeface="Meiryo"/>
              <a:ea typeface="Meiryo"/>
              <a:cs typeface="Meiryo"/>
              <a:sym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Meiryo"/>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Meiryo"/>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rgbClr val="C5D8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Meiryo"/>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Meiryo"/>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Meiryo"/>
                <a:ea typeface="Meiryo"/>
                <a:cs typeface="Meiryo"/>
                <a:sym typeface="Meiryo"/>
              </a:rPr>
              <a:t>友だち獲得を強化したい全業種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Meiryo"/>
                <a:ea typeface="Meiryo"/>
                <a:cs typeface="Meiryo"/>
                <a:sym typeface="Meiryo"/>
              </a:rPr>
              <a:t>出典：https://www.lycbiz.com/sites/default/files/media/jp/download/LINE_Point_FriendAD_ProductGuide_2608-09.pdf</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【LINE VOOM】提供終了に伴う、LINE公式アカウントへの影響</a:t>
            </a:r>
            <a:endParaRPr b="1" sz="1600">
              <a:solidFill>
                <a:srgbClr val="004DE6"/>
              </a:solidFill>
              <a:latin typeface="Meiryo"/>
              <a:ea typeface="Meiryo"/>
              <a:cs typeface="Meiryo"/>
              <a:sym typeface="Meiryo"/>
            </a:endParaRPr>
          </a:p>
        </p:txBody>
      </p:sp>
      <p:sp>
        <p:nvSpPr>
          <p:cNvPr id="47" name="Google Shape;47;p3"/>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Meiryo"/>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2026年9月30日（水）をもって、「LINE VOOM」の提供が終了することとなる。</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提供終了に伴い、LINE公式アカウントのいくつかの機能が段階的に廃止されることとなるため確認を。</a:t>
            </a:r>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未定ではあるが、これまでの「LINE VOOM」機能の一部がホーム画面へと移行していくことになるとのこと。</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Meiryo"/>
                <a:ea typeface="Meiryo"/>
                <a:cs typeface="Meiryo"/>
                <a:sym typeface="Meiryo"/>
              </a:rPr>
              <a:t>■ 施策スケジュール</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graphicFrame>
        <p:nvGraphicFramePr>
          <p:cNvPr id="63" name="Google Shape;63;p3"/>
          <p:cNvGraphicFramePr/>
          <p:nvPr/>
        </p:nvGraphicFramePr>
        <p:xfrm>
          <a:off x="544108" y="3068960"/>
          <a:ext cx="3000000" cy="3000000"/>
        </p:xfrm>
        <a:graphic>
          <a:graphicData uri="http://schemas.openxmlformats.org/drawingml/2006/table">
            <a:tbl>
              <a:tblPr>
                <a:noFill/>
                <a:tableStyleId>{5232AC2F-9110-45D6-A1EA-E37EBF87FD90}</a:tableStyleId>
              </a:tblPr>
              <a:tblGrid>
                <a:gridCol w="1600575"/>
                <a:gridCol w="3528400"/>
                <a:gridCol w="3688800"/>
              </a:tblGrid>
              <a:tr h="380975">
                <a:tc>
                  <a:txBody>
                    <a:bodyPr/>
                    <a:lstStyle/>
                    <a:p>
                      <a:pPr indent="0" lvl="0" marL="0" marR="0" rtl="0" algn="l">
                        <a:spcBef>
                          <a:spcPts val="0"/>
                        </a:spcBef>
                        <a:spcAft>
                          <a:spcPts val="0"/>
                        </a:spcAft>
                        <a:buNone/>
                      </a:pPr>
                      <a:r>
                        <a:rPr b="1" lang="ja-JP" sz="1000" u="none" cap="none" strike="noStrike">
                          <a:solidFill>
                            <a:srgbClr val="FFFFFF"/>
                          </a:solidFill>
                          <a:latin typeface="Meiryo"/>
                          <a:ea typeface="Meiryo"/>
                          <a:cs typeface="Meiryo"/>
                          <a:sym typeface="Meiryo"/>
                        </a:rPr>
                        <a:t>実施日</a:t>
                      </a:r>
                      <a:endParaRPr/>
                    </a:p>
                  </a:txBody>
                  <a:tcPr marT="36000" marB="36000" marR="72000" marL="72000" anchor="ctr">
                    <a:solidFill>
                      <a:srgbClr val="15133D"/>
                    </a:solidFill>
                  </a:tcPr>
                </a:tc>
                <a:tc>
                  <a:txBody>
                    <a:bodyPr/>
                    <a:lstStyle/>
                    <a:p>
                      <a:pPr indent="0" lvl="0" marL="0" marR="0" rtl="0" algn="ctr">
                        <a:spcBef>
                          <a:spcPts val="0"/>
                        </a:spcBef>
                        <a:spcAft>
                          <a:spcPts val="0"/>
                        </a:spcAft>
                        <a:buNone/>
                      </a:pPr>
                      <a:r>
                        <a:rPr b="1" lang="ja-JP" sz="1000" u="none" cap="none" strike="noStrike">
                          <a:solidFill>
                            <a:srgbClr val="FFFFFF"/>
                          </a:solidFill>
                          <a:latin typeface="Meiryo"/>
                          <a:ea typeface="Meiryo"/>
                          <a:cs typeface="Meiryo"/>
                          <a:sym typeface="Meiryo"/>
                        </a:rPr>
                        <a:t>内容</a:t>
                      </a:r>
                      <a:endParaRPr/>
                    </a:p>
                  </a:txBody>
                  <a:tcPr marT="36000" marB="36000" marR="36000" marL="36000" anchor="ctr">
                    <a:solidFill>
                      <a:srgbClr val="15133D"/>
                    </a:solidFill>
                  </a:tcPr>
                </a:tc>
                <a:tc>
                  <a:txBody>
                    <a:bodyPr/>
                    <a:lstStyle/>
                    <a:p>
                      <a:pPr indent="0" lvl="0" marL="0" marR="0" rtl="0" algn="ctr">
                        <a:spcBef>
                          <a:spcPts val="0"/>
                        </a:spcBef>
                        <a:spcAft>
                          <a:spcPts val="0"/>
                        </a:spcAft>
                        <a:buNone/>
                      </a:pPr>
                      <a:r>
                        <a:rPr b="1" lang="ja-JP" sz="1000" u="none" cap="none" strike="noStrike">
                          <a:solidFill>
                            <a:srgbClr val="FFFFFF"/>
                          </a:solidFill>
                          <a:latin typeface="Meiryo"/>
                          <a:ea typeface="Meiryo"/>
                          <a:cs typeface="Meiryo"/>
                          <a:sym typeface="Meiryo"/>
                        </a:rPr>
                        <a:t>影響・注意事項</a:t>
                      </a:r>
                      <a:endParaRPr/>
                    </a:p>
                  </a:txBody>
                  <a:tcPr marT="36000" marB="36000" marR="36000" marL="36000" anchor="ctr">
                    <a:solidFill>
                      <a:srgbClr val="15133D"/>
                    </a:solidFill>
                  </a:tcPr>
                </a:tc>
              </a:tr>
              <a:tr h="488575">
                <a:tc>
                  <a:txBody>
                    <a:bodyPr/>
                    <a:lstStyle/>
                    <a:p>
                      <a:pPr indent="0" lvl="0" marL="0" marR="0" rtl="0" algn="ctr">
                        <a:spcBef>
                          <a:spcPts val="0"/>
                        </a:spcBef>
                        <a:spcAft>
                          <a:spcPts val="0"/>
                        </a:spcAft>
                        <a:buNone/>
                      </a:pPr>
                      <a:r>
                        <a:rPr b="1" lang="ja-JP" sz="1000" u="none" cap="none" strike="noStrike">
                          <a:latin typeface="Meiryo"/>
                          <a:ea typeface="Meiryo"/>
                          <a:cs typeface="Meiryo"/>
                          <a:sym typeface="Meiryo"/>
                        </a:rPr>
                        <a:t>2026年8月下旬以降</a:t>
                      </a:r>
                      <a:endParaRPr b="1" sz="1000" u="none" cap="none" strike="noStrike">
                        <a:latin typeface="Meiryo"/>
                        <a:ea typeface="Meiryo"/>
                        <a:cs typeface="Meiryo"/>
                        <a:sym typeface="Meiryo"/>
                      </a:endParaRPr>
                    </a:p>
                  </a:txBody>
                  <a:tcPr marT="27000" marB="27000" marR="72000" marL="72000" anchor="ctr">
                    <a:solidFill>
                      <a:srgbClr val="EAEDF5"/>
                    </a:solidFill>
                  </a:tcP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メッセージ配信時のLINE VOOM同時投稿機能の廃止</a:t>
                      </a:r>
                      <a:endParaRPr/>
                    </a:p>
                  </a:txBody>
                  <a:tcPr marT="27000" marB="27000" marR="36000" marL="36000" anchor="ctr">
                    <a:solidFill>
                      <a:srgbClr val="FFFFFF"/>
                    </a:solidFill>
                  </a:tcP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実施日以降、メッセージ作成時の高度な設定項目</a:t>
                      </a:r>
                      <a:endParaRPr sz="1000" u="none" cap="none" strike="noStrike">
                        <a:latin typeface="Meiryo"/>
                        <a:ea typeface="Meiryo"/>
                        <a:cs typeface="Meiryo"/>
                        <a:sym typeface="Meiryo"/>
                      </a:endParaRPr>
                    </a:p>
                    <a:p>
                      <a:pPr indent="0" lvl="0" marL="0" marR="0" rtl="0" algn="ctr">
                        <a:spcBef>
                          <a:spcPts val="0"/>
                        </a:spcBef>
                        <a:spcAft>
                          <a:spcPts val="0"/>
                        </a:spcAft>
                        <a:buNone/>
                      </a:pPr>
                      <a:r>
                        <a:rPr lang="ja-JP" sz="1000" u="none" cap="none" strike="noStrike">
                          <a:latin typeface="Meiryo"/>
                          <a:ea typeface="Meiryo"/>
                          <a:cs typeface="Meiryo"/>
                          <a:sym typeface="Meiryo"/>
                        </a:rPr>
                        <a:t>「LINE VOOMに投稿」のチェックボックスが廃止されます。</a:t>
                      </a:r>
                      <a:endParaRPr/>
                    </a:p>
                  </a:txBody>
                  <a:tcPr marT="27000" marB="27000" marR="36000" marL="36000" anchor="ctr">
                    <a:solidFill>
                      <a:srgbClr val="FFFFFF"/>
                    </a:solidFill>
                  </a:tcPr>
                </a:tc>
              </a:tr>
              <a:tr h="488575">
                <a:tc rowSpan="4">
                  <a:txBody>
                    <a:bodyPr/>
                    <a:lstStyle/>
                    <a:p>
                      <a:pPr indent="0" lvl="0" marL="0" marR="0" rtl="0" algn="ctr">
                        <a:spcBef>
                          <a:spcPts val="0"/>
                        </a:spcBef>
                        <a:spcAft>
                          <a:spcPts val="0"/>
                        </a:spcAft>
                        <a:buNone/>
                      </a:pPr>
                      <a:r>
                        <a:rPr b="1" lang="ja-JP" sz="1000" u="none" cap="none" strike="noStrike">
                          <a:latin typeface="Meiryo"/>
                          <a:ea typeface="Meiryo"/>
                          <a:cs typeface="Meiryo"/>
                          <a:sym typeface="Meiryo"/>
                        </a:rPr>
                        <a:t>2026年9月16日（水）</a:t>
                      </a:r>
                      <a:endParaRPr/>
                    </a:p>
                  </a:txBody>
                  <a:tcPr marT="27000" marB="27000" marR="72000" marL="72000" anchor="ctr">
                    <a:solidFill>
                      <a:srgbClr val="EAEDF5"/>
                    </a:solidFill>
                  </a:tcP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「分析」タブ内の「LINE VOOM」メニューを削除</a:t>
                      </a:r>
                      <a:endParaRPr/>
                    </a:p>
                  </a:txBody>
                  <a:tcPr marT="27000" marB="27000" marR="36000" marL="36000" anchor="ctr">
                    <a:solidFill>
                      <a:srgbClr val="FFFFFF"/>
                    </a:solidFill>
                  </a:tcP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Web版管理画面および管理アプリの「分析」タブ内の</a:t>
                      </a:r>
                      <a:endParaRPr sz="1000" u="none" cap="none" strike="noStrike">
                        <a:latin typeface="Meiryo"/>
                        <a:ea typeface="Meiryo"/>
                        <a:cs typeface="Meiryo"/>
                        <a:sym typeface="Meiryo"/>
                      </a:endParaRPr>
                    </a:p>
                    <a:p>
                      <a:pPr indent="0" lvl="0" marL="0" marR="0" rtl="0" algn="ctr">
                        <a:spcBef>
                          <a:spcPts val="0"/>
                        </a:spcBef>
                        <a:spcAft>
                          <a:spcPts val="0"/>
                        </a:spcAft>
                        <a:buNone/>
                      </a:pPr>
                      <a:r>
                        <a:rPr lang="ja-JP" sz="1000" u="none" cap="none" strike="noStrike">
                          <a:latin typeface="Meiryo"/>
                          <a:ea typeface="Meiryo"/>
                          <a:cs typeface="Meiryo"/>
                          <a:sym typeface="Meiryo"/>
                        </a:rPr>
                        <a:t>「LINE VOOM」メニューが削除されます。</a:t>
                      </a:r>
                      <a:endParaRPr/>
                    </a:p>
                  </a:txBody>
                  <a:tcPr marT="27000" marB="27000" marR="36000" marL="36000" anchor="ctr">
                    <a:solidFill>
                      <a:srgbClr val="FFFFFF"/>
                    </a:solidFill>
                  </a:tcPr>
                </a:tc>
              </a:tr>
              <a:tr h="488575">
                <a:tc vMerge="1"/>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ビジネスプロフィールの「最近の投稿」への</a:t>
                      </a:r>
                      <a:endParaRPr sz="1000" u="none" cap="none" strike="noStrike">
                        <a:latin typeface="Meiryo"/>
                        <a:ea typeface="Meiryo"/>
                        <a:cs typeface="Meiryo"/>
                        <a:sym typeface="Meiryo"/>
                      </a:endParaRPr>
                    </a:p>
                    <a:p>
                      <a:pPr indent="0" lvl="0" marL="0" marR="0" rtl="0" algn="ctr">
                        <a:spcBef>
                          <a:spcPts val="0"/>
                        </a:spcBef>
                        <a:spcAft>
                          <a:spcPts val="0"/>
                        </a:spcAft>
                        <a:buNone/>
                      </a:pPr>
                      <a:r>
                        <a:rPr lang="ja-JP" sz="1000" u="none" cap="none" strike="noStrike">
                          <a:latin typeface="Meiryo"/>
                          <a:ea typeface="Meiryo"/>
                          <a:cs typeface="Meiryo"/>
                          <a:sym typeface="Meiryo"/>
                        </a:rPr>
                        <a:t>LINE VOOM投稿の非表示</a:t>
                      </a:r>
                      <a:endParaRPr/>
                    </a:p>
                  </a:txBody>
                  <a:tcPr marT="27000" marB="27000" marR="36000" marL="36000" anchor="ctr">
                    <a:solidFill>
                      <a:srgbClr val="FFFFFF"/>
                    </a:solidFill>
                  </a:tcP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ビジネスプロフィールのパーツ「最近の投稿」にLINE VOOMの投稿が表示されなくなります。</a:t>
                      </a:r>
                      <a:endParaRPr/>
                    </a:p>
                  </a:txBody>
                  <a:tcPr marT="27000" marB="27000" marR="36000" marL="36000" anchor="ctr">
                    <a:solidFill>
                      <a:srgbClr val="FFFFFF"/>
                    </a:solidFill>
                  </a:tcPr>
                </a:tc>
              </a:tr>
              <a:tr h="488575">
                <a:tc vMerge="1"/>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ビジネスプロフィールの「フォロワー数を表示」廃止</a:t>
                      </a:r>
                      <a:endParaRPr/>
                    </a:p>
                  </a:txBody>
                  <a:tcPr marT="27000" marB="27000" marR="36000" marL="36000" anchor="ctr">
                    <a:solidFill>
                      <a:srgbClr val="FFFFFF"/>
                    </a:solidFill>
                  </a:tcP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ビジネスプロフィール設定の「フォロワー数を表示」の項目が削除され、ビジネスプロフィール上に表示されなくなります。</a:t>
                      </a:r>
                      <a:endParaRPr/>
                    </a:p>
                  </a:txBody>
                  <a:tcPr marT="27000" marB="27000" marR="36000" marL="36000" anchor="ctr">
                    <a:solidFill>
                      <a:srgbClr val="FFFFFF"/>
                    </a:solidFill>
                  </a:tcPr>
                </a:tc>
              </a:tr>
              <a:tr h="488575">
                <a:tc vMerge="1"/>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ビジネスプロフィールの「投稿」ボタン廃止</a:t>
                      </a:r>
                      <a:endParaRPr/>
                    </a:p>
                  </a:txBody>
                  <a:tcPr marT="27000" marB="27000" marR="36000" marL="36000" anchor="ctr">
                    <a:solidFill>
                      <a:srgbClr val="FFFFFF"/>
                    </a:solidFill>
                  </a:tcP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ビジネスプロフィールのボタンの設定項目から</a:t>
                      </a:r>
                      <a:endParaRPr sz="1000" u="none" cap="none" strike="noStrike">
                        <a:latin typeface="Meiryo"/>
                        <a:ea typeface="Meiryo"/>
                        <a:cs typeface="Meiryo"/>
                        <a:sym typeface="Meiryo"/>
                      </a:endParaRPr>
                    </a:p>
                    <a:p>
                      <a:pPr indent="0" lvl="0" marL="0" marR="0" rtl="0" algn="ctr">
                        <a:spcBef>
                          <a:spcPts val="0"/>
                        </a:spcBef>
                        <a:spcAft>
                          <a:spcPts val="0"/>
                        </a:spcAft>
                        <a:buNone/>
                      </a:pPr>
                      <a:r>
                        <a:rPr lang="ja-JP" sz="1000" u="none" cap="none" strike="noStrike">
                          <a:latin typeface="Meiryo"/>
                          <a:ea typeface="Meiryo"/>
                          <a:cs typeface="Meiryo"/>
                          <a:sym typeface="Meiryo"/>
                        </a:rPr>
                        <a:t>「投稿」ボタンが削除されます。</a:t>
                      </a:r>
                      <a:endParaRPr/>
                    </a:p>
                  </a:txBody>
                  <a:tcPr marT="27000" marB="27000" marR="36000" marL="36000" anchor="ctr">
                    <a:solidFill>
                      <a:srgbClr val="FFFFFF"/>
                    </a:solidFill>
                  </a:tcPr>
                </a:tc>
              </a:tr>
              <a:tr h="488575">
                <a:tc>
                  <a:txBody>
                    <a:bodyPr/>
                    <a:lstStyle/>
                    <a:p>
                      <a:pPr indent="0" lvl="0" marL="0" marR="0" rtl="0" algn="ctr">
                        <a:lnSpc>
                          <a:spcPct val="100000"/>
                        </a:lnSpc>
                        <a:spcBef>
                          <a:spcPts val="0"/>
                        </a:spcBef>
                        <a:spcAft>
                          <a:spcPts val="0"/>
                        </a:spcAft>
                        <a:buClr>
                          <a:schemeClr val="dk1"/>
                        </a:buClr>
                        <a:buSzPts val="1000"/>
                        <a:buFont typeface="Meiryo"/>
                        <a:buNone/>
                      </a:pPr>
                      <a:r>
                        <a:rPr b="1" lang="ja-JP" sz="1000" u="none" cap="none" strike="noStrike">
                          <a:latin typeface="Meiryo"/>
                          <a:ea typeface="Meiryo"/>
                          <a:cs typeface="Meiryo"/>
                          <a:sym typeface="Meiryo"/>
                        </a:rPr>
                        <a:t>2026年9月30日（水）</a:t>
                      </a:r>
                      <a:endParaRPr/>
                    </a:p>
                  </a:txBody>
                  <a:tcPr marT="27000" marB="27000" marR="72000" marL="72000" anchor="ctr">
                    <a:solidFill>
                      <a:srgbClr val="EAEDF5"/>
                    </a:solidFill>
                  </a:tcP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LINE VOOMサービス終了</a:t>
                      </a:r>
                      <a:endParaRPr/>
                    </a:p>
                  </a:txBody>
                  <a:tcPr marT="27000" marB="27000" marR="36000" marL="36000" anchor="ctr"/>
                </a:tc>
                <a:tc>
                  <a:txBody>
                    <a:bodyPr/>
                    <a:lstStyle/>
                    <a:p>
                      <a:pPr indent="0" lvl="0" marL="0" marR="0" rtl="0" algn="ctr">
                        <a:spcBef>
                          <a:spcPts val="0"/>
                        </a:spcBef>
                        <a:spcAft>
                          <a:spcPts val="0"/>
                        </a:spcAft>
                        <a:buNone/>
                      </a:pPr>
                      <a:r>
                        <a:rPr lang="ja-JP" sz="1000" u="none" cap="none" strike="noStrike">
                          <a:latin typeface="Meiryo"/>
                          <a:ea typeface="Meiryo"/>
                          <a:cs typeface="Meiryo"/>
                          <a:sym typeface="Meiryo"/>
                        </a:rPr>
                        <a:t>LINE VOOMの提供が終了します。</a:t>
                      </a:r>
                      <a:endParaRPr/>
                    </a:p>
                  </a:txBody>
                  <a:tcPr marT="27000" marB="27000" marR="36000" marL="36000"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4"/>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Meiryo"/>
                <a:ea typeface="Meiryo"/>
                <a:cs typeface="Meiryo"/>
                <a:sym typeface="Meiryo"/>
              </a:rPr>
              <a:t>対象業界</a:t>
            </a:r>
            <a:endParaRPr/>
          </a:p>
        </p:txBody>
      </p:sp>
      <p:sp>
        <p:nvSpPr>
          <p:cNvPr id="69" name="Google Shape;69;p4"/>
          <p:cNvSpPr/>
          <p:nvPr/>
        </p:nvSpPr>
        <p:spPr>
          <a:xfrm>
            <a:off x="756084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Meiryo"/>
                <a:ea typeface="Meiryo"/>
                <a:cs typeface="Meiryo"/>
                <a:sym typeface="Meiryo"/>
              </a:rPr>
              <a:t>その他</a:t>
            </a:r>
            <a:endParaRPr sz="1200">
              <a:solidFill>
                <a:schemeClr val="dk1"/>
              </a:solidFill>
              <a:latin typeface="Meiryo"/>
              <a:ea typeface="Meiryo"/>
              <a:cs typeface="Meiryo"/>
              <a:sym typeface="Meiryo"/>
            </a:endParaRPr>
          </a:p>
        </p:txBody>
      </p:sp>
      <p:sp>
        <p:nvSpPr>
          <p:cNvPr id="70" name="Google Shape;70;p4"/>
          <p:cNvSpPr/>
          <p:nvPr/>
        </p:nvSpPr>
        <p:spPr>
          <a:xfrm>
            <a:off x="667905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オプション</a:t>
            </a:r>
            <a:endParaRPr sz="1000">
              <a:solidFill>
                <a:schemeClr val="dk1"/>
              </a:solidFill>
              <a:latin typeface="Meiryo"/>
              <a:ea typeface="Meiryo"/>
              <a:cs typeface="Meiryo"/>
              <a:sym typeface="Meiryo"/>
            </a:endParaRPr>
          </a:p>
          <a:p>
            <a:pPr indent="0" lvl="0" marL="0" marR="0" rtl="0" algn="ctr">
              <a:spcBef>
                <a:spcPts val="0"/>
              </a:spcBef>
              <a:spcAft>
                <a:spcPts val="0"/>
              </a:spcAft>
              <a:buNone/>
            </a:pPr>
            <a:r>
              <a:rPr lang="ja-JP" sz="1000">
                <a:solidFill>
                  <a:schemeClr val="dk1"/>
                </a:solidFill>
                <a:latin typeface="Meiryo"/>
                <a:ea typeface="Meiryo"/>
                <a:cs typeface="Meiryo"/>
                <a:sym typeface="Meiryo"/>
              </a:rPr>
              <a:t>商材</a:t>
            </a:r>
            <a:endParaRPr/>
          </a:p>
        </p:txBody>
      </p:sp>
      <p:sp>
        <p:nvSpPr>
          <p:cNvPr id="71" name="Google Shape;71;p4"/>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300">
                <a:solidFill>
                  <a:schemeClr val="dk1"/>
                </a:solidFill>
                <a:latin typeface="Meiryo"/>
                <a:ea typeface="Meiryo"/>
                <a:cs typeface="Meiryo"/>
                <a:sym typeface="Meiryo"/>
              </a:rPr>
              <a:t>全業種</a:t>
            </a:r>
            <a:endParaRPr/>
          </a:p>
        </p:txBody>
      </p:sp>
      <p:sp>
        <p:nvSpPr>
          <p:cNvPr id="72" name="Google Shape;72;p4"/>
          <p:cNvSpPr txBox="1"/>
          <p:nvPr/>
        </p:nvSpPr>
        <p:spPr>
          <a:xfrm>
            <a:off x="5745088" y="6597352"/>
            <a:ext cx="3760819"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800">
                <a:solidFill>
                  <a:schemeClr val="lt1"/>
                </a:solidFill>
                <a:latin typeface="Meiryo"/>
                <a:ea typeface="Meiryo"/>
                <a:cs typeface="Meiryo"/>
                <a:sym typeface="Meiryo"/>
              </a:rPr>
              <a:t>出典：https://www.lycbiz.com/jp/news/line-official-account/20260715/</a:t>
            </a:r>
            <a:endParaRPr sz="800">
              <a:solidFill>
                <a:schemeClr val="lt1"/>
              </a:solidFill>
              <a:latin typeface="Meiryo"/>
              <a:ea typeface="Meiryo"/>
              <a:cs typeface="Meiryo"/>
              <a:sym typeface="Meiryo"/>
            </a:endParaRPr>
          </a:p>
        </p:txBody>
      </p:sp>
      <p:sp>
        <p:nvSpPr>
          <p:cNvPr id="73" name="Google Shape;73;p4"/>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74" name="Google Shape;74;p4"/>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【Messaging API】API作成のリッチメニューの統計情報が取得可能に</a:t>
            </a:r>
            <a:endParaRPr b="1" sz="1600">
              <a:solidFill>
                <a:srgbClr val="004DE6"/>
              </a:solidFill>
              <a:latin typeface="Meiryo"/>
              <a:ea typeface="Meiryo"/>
              <a:cs typeface="Meiryo"/>
              <a:sym typeface="Meiryo"/>
            </a:endParaRPr>
          </a:p>
        </p:txBody>
      </p:sp>
      <p:sp>
        <p:nvSpPr>
          <p:cNvPr id="75" name="Google Shape;75;p4"/>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lang="ja-JP" sz="1600">
                <a:solidFill>
                  <a:schemeClr val="dk1"/>
                </a:solidFill>
                <a:latin typeface="Meiryo"/>
                <a:ea typeface="Meiryo"/>
                <a:cs typeface="Meiryo"/>
                <a:sym typeface="Meiryo"/>
              </a:rPr>
              <a:t>    今後のアップデート情報</a:t>
            </a:r>
            <a:endParaRPr sz="1600">
              <a:solidFill>
                <a:schemeClr val="dk1"/>
              </a:solidFill>
              <a:latin typeface="Meiryo"/>
              <a:ea typeface="Meiryo"/>
              <a:cs typeface="Meiryo"/>
              <a:sym typeface="Meiryo"/>
            </a:endParaRPr>
          </a:p>
        </p:txBody>
      </p:sp>
      <p:sp>
        <p:nvSpPr>
          <p:cNvPr id="76" name="Google Shape;76;p4"/>
          <p:cNvSpPr/>
          <p:nvPr/>
        </p:nvSpPr>
        <p:spPr>
          <a:xfrm>
            <a:off x="5797260" y="730955"/>
            <a:ext cx="829618" cy="435690"/>
          </a:xfrm>
          <a:prstGeom prst="rect">
            <a:avLst/>
          </a:prstGeom>
          <a:solidFill>
            <a:srgbClr val="C6D9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77" name="Google Shape;77;p4"/>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78" name="Google Shape;78;p4"/>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79" name="Google Shape;79;p4"/>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Messaging APIで作成したリッチメニューにおいて、表示された回数やクリック数などの統計情報が取得可能に。</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これにより、LINE拡張ツールをご利用している企業さまはリッチメニュー経由の統計情報を運用に活かすことができる。</a:t>
            </a:r>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実際に統計情報が確認できるようになるにはご利用のツール環境に依存するため、別途ご確認を。</a:t>
            </a:r>
            <a:endParaRPr b="1" sz="1400">
              <a:solidFill>
                <a:schemeClr val="dk1"/>
              </a:solidFill>
              <a:latin typeface="Meiryo"/>
              <a:ea typeface="Meiryo"/>
              <a:cs typeface="Meiryo"/>
              <a:sym typeface="Meiryo"/>
            </a:endParaRPr>
          </a:p>
        </p:txBody>
      </p:sp>
      <p:sp>
        <p:nvSpPr>
          <p:cNvPr id="80" name="Google Shape;80;p4"/>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Meiryo"/>
                <a:ea typeface="Meiryo"/>
                <a:cs typeface="Meiryo"/>
                <a:sym typeface="Meiryo"/>
              </a:rPr>
              <a:t>■ これまで</a:t>
            </a:r>
            <a:endParaRPr/>
          </a:p>
        </p:txBody>
      </p:sp>
      <p:grpSp>
        <p:nvGrpSpPr>
          <p:cNvPr id="81" name="Google Shape;81;p4"/>
          <p:cNvGrpSpPr/>
          <p:nvPr/>
        </p:nvGrpSpPr>
        <p:grpSpPr>
          <a:xfrm>
            <a:off x="8473303" y="730955"/>
            <a:ext cx="1376241" cy="1131930"/>
            <a:chOff x="0" y="0"/>
            <a:chExt cx="1376241" cy="1131930"/>
          </a:xfrm>
        </p:grpSpPr>
        <p:sp>
          <p:nvSpPr>
            <p:cNvPr id="82" name="Google Shape;82;p4"/>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84" name="Google Shape;84;p4"/>
            <p:cNvSpPr/>
            <p:nvPr/>
          </p:nvSpPr>
          <p:spPr>
            <a:xfrm rot="10800000">
              <a:off x="172030" y="282982"/>
              <a:ext cx="1032180" cy="282982"/>
            </a:xfrm>
            <a:prstGeom prst="trapezoid">
              <a:avLst>
                <a:gd fmla="val 60792" name="adj"/>
              </a:avLst>
            </a:prstGeom>
            <a:solidFill>
              <a:srgbClr val="C6D9F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86" name="Google Shape;86;p4"/>
            <p:cNvSpPr/>
            <p:nvPr/>
          </p:nvSpPr>
          <p:spPr>
            <a:xfrm rot="10800000">
              <a:off x="344060" y="565965"/>
              <a:ext cx="688120" cy="282982"/>
            </a:xfrm>
            <a:prstGeom prst="trapezoid">
              <a:avLst>
                <a:gd fmla="val 60792" name="adj"/>
              </a:avLst>
            </a:prstGeom>
            <a:solidFill>
              <a:srgbClr val="4F81B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88" name="Google Shape;88;p4"/>
            <p:cNvSpPr/>
            <p:nvPr/>
          </p:nvSpPr>
          <p:spPr>
            <a:xfrm rot="10800000">
              <a:off x="516090" y="848948"/>
              <a:ext cx="344060" cy="282982"/>
            </a:xfrm>
            <a:prstGeom prst="trapezoid">
              <a:avLst>
                <a:gd fmla="val 60792" name="adj"/>
              </a:avLst>
            </a:prstGeom>
            <a:solidFill>
              <a:srgbClr val="1F497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800"/>
                <a:buFont typeface="Arial"/>
                <a:buNone/>
              </a:pPr>
              <a:r>
                <a:rPr b="1" lang="ja-JP" sz="800">
                  <a:solidFill>
                    <a:schemeClr val="lt1"/>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90" name="Google Shape;90;p4"/>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pic>
        <p:nvPicPr>
          <p:cNvPr descr="リッチメニュー - LINEヤフーマーケティングキャンパス" id="91" name="Google Shape;91;p4"/>
          <p:cNvPicPr preferRelativeResize="0"/>
          <p:nvPr/>
        </p:nvPicPr>
        <p:blipFill rotWithShape="1">
          <a:blip r:embed="rId4">
            <a:alphaModFix/>
          </a:blip>
          <a:srcRect b="9692" l="200" r="0" t="0"/>
          <a:stretch/>
        </p:blipFill>
        <p:spPr>
          <a:xfrm>
            <a:off x="2052389" y="3143054"/>
            <a:ext cx="2863081" cy="1347481"/>
          </a:xfrm>
          <a:prstGeom prst="rect">
            <a:avLst/>
          </a:prstGeom>
          <a:noFill/>
          <a:ln>
            <a:noFill/>
          </a:ln>
        </p:spPr>
      </p:pic>
      <p:sp>
        <p:nvSpPr>
          <p:cNvPr id="92" name="Google Shape;92;p4"/>
          <p:cNvSpPr/>
          <p:nvPr/>
        </p:nvSpPr>
        <p:spPr>
          <a:xfrm>
            <a:off x="598984" y="3156578"/>
            <a:ext cx="817147" cy="296377"/>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200">
                <a:solidFill>
                  <a:srgbClr val="1F497D"/>
                </a:solidFill>
                <a:latin typeface="Meiryo"/>
                <a:ea typeface="Meiryo"/>
                <a:cs typeface="Meiryo"/>
                <a:sym typeface="Meiryo"/>
              </a:rPr>
              <a:t>OMA上</a:t>
            </a:r>
            <a:endParaRPr b="1" sz="1400">
              <a:solidFill>
                <a:srgbClr val="1F497D"/>
              </a:solidFill>
              <a:latin typeface="Meiryo"/>
              <a:ea typeface="Meiryo"/>
              <a:cs typeface="Meiryo"/>
              <a:sym typeface="Meiryo"/>
            </a:endParaRPr>
          </a:p>
        </p:txBody>
      </p:sp>
      <p:sp>
        <p:nvSpPr>
          <p:cNvPr id="93" name="Google Shape;93;p4"/>
          <p:cNvSpPr txBox="1"/>
          <p:nvPr/>
        </p:nvSpPr>
        <p:spPr>
          <a:xfrm>
            <a:off x="517096" y="3581640"/>
            <a:ext cx="2304256" cy="7925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rgbClr val="3F3F3F"/>
                </a:solidFill>
                <a:latin typeface="Meiryo"/>
                <a:ea typeface="Meiryo"/>
                <a:cs typeface="Meiryo"/>
                <a:sym typeface="Meiryo"/>
              </a:rPr>
              <a:t>【計測可能項目】</a:t>
            </a:r>
            <a:br>
              <a:rPr b="1" lang="ja-JP" sz="1200">
                <a:solidFill>
                  <a:srgbClr val="3F3F3F"/>
                </a:solidFill>
                <a:latin typeface="Meiryo"/>
                <a:ea typeface="Meiryo"/>
                <a:cs typeface="Meiryo"/>
                <a:sym typeface="Meiryo"/>
              </a:rPr>
            </a:br>
            <a:r>
              <a:rPr b="1" lang="ja-JP" sz="200">
                <a:solidFill>
                  <a:srgbClr val="3F3F3F"/>
                </a:solidFill>
                <a:latin typeface="Meiryo"/>
                <a:ea typeface="Meiryo"/>
                <a:cs typeface="Meiryo"/>
                <a:sym typeface="Meiryo"/>
              </a:rPr>
              <a:t>　</a:t>
            </a:r>
            <a:br>
              <a:rPr lang="ja-JP" sz="1050">
                <a:solidFill>
                  <a:schemeClr val="dk1"/>
                </a:solidFill>
                <a:latin typeface="Meiryo"/>
                <a:ea typeface="Meiryo"/>
                <a:cs typeface="Meiryo"/>
                <a:sym typeface="Meiryo"/>
              </a:rPr>
            </a:br>
            <a:r>
              <a:rPr lang="ja-JP" sz="1050">
                <a:solidFill>
                  <a:schemeClr val="dk1"/>
                </a:solidFill>
                <a:latin typeface="Meiryo"/>
                <a:ea typeface="Meiryo"/>
                <a:cs typeface="Meiryo"/>
                <a:sym typeface="Meiryo"/>
              </a:rPr>
              <a:t>　・インプレッション</a:t>
            </a:r>
            <a:endParaRPr sz="1050">
              <a:solidFill>
                <a:schemeClr val="dk1"/>
              </a:solidFill>
              <a:latin typeface="Meiryo"/>
              <a:ea typeface="Meiryo"/>
              <a:cs typeface="Meiryo"/>
              <a:sym typeface="Meiryo"/>
            </a:endParaRPr>
          </a:p>
          <a:p>
            <a:pPr indent="0" lvl="0" marL="0" marR="0" rtl="0" algn="l">
              <a:spcBef>
                <a:spcPts val="0"/>
              </a:spcBef>
              <a:spcAft>
                <a:spcPts val="0"/>
              </a:spcAft>
              <a:buNone/>
            </a:pPr>
            <a:r>
              <a:rPr lang="ja-JP" sz="1050">
                <a:solidFill>
                  <a:schemeClr val="dk1"/>
                </a:solidFill>
                <a:latin typeface="Meiryo"/>
                <a:ea typeface="Meiryo"/>
                <a:cs typeface="Meiryo"/>
                <a:sym typeface="Meiryo"/>
              </a:rPr>
              <a:t>　・インプレッションユーザー</a:t>
            </a:r>
            <a:br>
              <a:rPr lang="ja-JP" sz="1050">
                <a:solidFill>
                  <a:schemeClr val="dk1"/>
                </a:solidFill>
                <a:latin typeface="Meiryo"/>
                <a:ea typeface="Meiryo"/>
                <a:cs typeface="Meiryo"/>
                <a:sym typeface="Meiryo"/>
              </a:rPr>
            </a:br>
            <a:r>
              <a:rPr lang="ja-JP" sz="1050">
                <a:solidFill>
                  <a:schemeClr val="dk1"/>
                </a:solidFill>
                <a:latin typeface="Meiryo"/>
                <a:ea typeface="Meiryo"/>
                <a:cs typeface="Meiryo"/>
                <a:sym typeface="Meiryo"/>
              </a:rPr>
              <a:t>　・クリック / クリックユーザー</a:t>
            </a:r>
            <a:endParaRPr sz="1050">
              <a:solidFill>
                <a:schemeClr val="dk1"/>
              </a:solidFill>
              <a:latin typeface="Meiryo"/>
              <a:ea typeface="Meiryo"/>
              <a:cs typeface="Meiryo"/>
              <a:sym typeface="Meiryo"/>
            </a:endParaRPr>
          </a:p>
        </p:txBody>
      </p:sp>
      <p:pic>
        <p:nvPicPr>
          <p:cNvPr descr="リッチメニュー - LINEヤフーマーケティングキャンパス" id="94" name="Google Shape;94;p4"/>
          <p:cNvPicPr preferRelativeResize="0"/>
          <p:nvPr/>
        </p:nvPicPr>
        <p:blipFill rotWithShape="1">
          <a:blip r:embed="rId4">
            <a:alphaModFix/>
          </a:blip>
          <a:srcRect b="9692" l="200" r="0" t="0"/>
          <a:stretch/>
        </p:blipFill>
        <p:spPr>
          <a:xfrm>
            <a:off x="2052389" y="4823162"/>
            <a:ext cx="2863081" cy="1347481"/>
          </a:xfrm>
          <a:prstGeom prst="rect">
            <a:avLst/>
          </a:prstGeom>
          <a:noFill/>
          <a:ln>
            <a:noFill/>
          </a:ln>
        </p:spPr>
      </p:pic>
      <p:sp>
        <p:nvSpPr>
          <p:cNvPr id="95" name="Google Shape;95;p4"/>
          <p:cNvSpPr/>
          <p:nvPr/>
        </p:nvSpPr>
        <p:spPr>
          <a:xfrm>
            <a:off x="598984" y="4836686"/>
            <a:ext cx="817147" cy="296377"/>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200">
                <a:solidFill>
                  <a:srgbClr val="1F497D"/>
                </a:solidFill>
                <a:latin typeface="Meiryo"/>
                <a:ea typeface="Meiryo"/>
                <a:cs typeface="Meiryo"/>
                <a:sym typeface="Meiryo"/>
              </a:rPr>
              <a:t>ツール上</a:t>
            </a:r>
            <a:endParaRPr b="1" sz="1400">
              <a:solidFill>
                <a:srgbClr val="1F497D"/>
              </a:solidFill>
              <a:latin typeface="Meiryo"/>
              <a:ea typeface="Meiryo"/>
              <a:cs typeface="Meiryo"/>
              <a:sym typeface="Meiryo"/>
            </a:endParaRPr>
          </a:p>
        </p:txBody>
      </p:sp>
      <p:sp>
        <p:nvSpPr>
          <p:cNvPr id="96" name="Google Shape;96;p4"/>
          <p:cNvSpPr txBox="1"/>
          <p:nvPr/>
        </p:nvSpPr>
        <p:spPr>
          <a:xfrm>
            <a:off x="544108" y="5238533"/>
            <a:ext cx="2304256"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rgbClr val="3F3F3F"/>
                </a:solidFill>
                <a:latin typeface="Meiryo"/>
                <a:ea typeface="Meiryo"/>
                <a:cs typeface="Meiryo"/>
                <a:sym typeface="Meiryo"/>
              </a:rPr>
              <a:t>【計測可能項目】</a:t>
            </a:r>
            <a:br>
              <a:rPr b="1" lang="ja-JP" sz="1200">
                <a:solidFill>
                  <a:srgbClr val="3F3F3F"/>
                </a:solidFill>
                <a:latin typeface="Meiryo"/>
                <a:ea typeface="Meiryo"/>
                <a:cs typeface="Meiryo"/>
                <a:sym typeface="Meiryo"/>
              </a:rPr>
            </a:br>
            <a:r>
              <a:rPr b="1" lang="ja-JP" sz="200">
                <a:solidFill>
                  <a:srgbClr val="3F3F3F"/>
                </a:solidFill>
                <a:latin typeface="Meiryo"/>
                <a:ea typeface="Meiryo"/>
                <a:cs typeface="Meiryo"/>
                <a:sym typeface="Meiryo"/>
              </a:rPr>
              <a:t>　</a:t>
            </a:r>
            <a:br>
              <a:rPr lang="ja-JP" sz="1050">
                <a:solidFill>
                  <a:schemeClr val="dk1"/>
                </a:solidFill>
                <a:latin typeface="Meiryo"/>
                <a:ea typeface="Meiryo"/>
                <a:cs typeface="Meiryo"/>
                <a:sym typeface="Meiryo"/>
              </a:rPr>
            </a:br>
            <a:r>
              <a:rPr lang="ja-JP" sz="1050">
                <a:solidFill>
                  <a:schemeClr val="dk1"/>
                </a:solidFill>
                <a:latin typeface="Meiryo"/>
                <a:ea typeface="Meiryo"/>
                <a:cs typeface="Meiryo"/>
                <a:sym typeface="Meiryo"/>
              </a:rPr>
              <a:t>　無し</a:t>
            </a:r>
            <a:br>
              <a:rPr lang="ja-JP" sz="1050">
                <a:solidFill>
                  <a:schemeClr val="dk1"/>
                </a:solidFill>
                <a:latin typeface="Meiryo"/>
                <a:ea typeface="Meiryo"/>
                <a:cs typeface="Meiryo"/>
                <a:sym typeface="Meiryo"/>
              </a:rPr>
            </a:br>
            <a:r>
              <a:rPr lang="ja-JP" sz="1050">
                <a:solidFill>
                  <a:schemeClr val="dk1"/>
                </a:solidFill>
                <a:latin typeface="Meiryo"/>
                <a:ea typeface="Meiryo"/>
                <a:cs typeface="Meiryo"/>
                <a:sym typeface="Meiryo"/>
              </a:rPr>
              <a:t>　</a:t>
            </a:r>
            <a:r>
              <a:rPr lang="ja-JP" sz="900">
                <a:solidFill>
                  <a:schemeClr val="dk1"/>
                </a:solidFill>
                <a:latin typeface="Meiryo"/>
                <a:ea typeface="Meiryo"/>
                <a:cs typeface="Meiryo"/>
                <a:sym typeface="Meiryo"/>
              </a:rPr>
              <a:t>※擬似的にタグなどを用いて</a:t>
            </a:r>
            <a:br>
              <a:rPr lang="ja-JP" sz="900">
                <a:solidFill>
                  <a:schemeClr val="dk1"/>
                </a:solidFill>
                <a:latin typeface="Meiryo"/>
                <a:ea typeface="Meiryo"/>
                <a:cs typeface="Meiryo"/>
                <a:sym typeface="Meiryo"/>
              </a:rPr>
            </a:br>
            <a:r>
              <a:rPr lang="ja-JP" sz="900">
                <a:solidFill>
                  <a:schemeClr val="dk1"/>
                </a:solidFill>
                <a:latin typeface="Meiryo"/>
                <a:ea typeface="Meiryo"/>
                <a:cs typeface="Meiryo"/>
                <a:sym typeface="Meiryo"/>
              </a:rPr>
              <a:t>　　計測している様な状況だった</a:t>
            </a:r>
            <a:endParaRPr/>
          </a:p>
        </p:txBody>
      </p:sp>
      <p:sp>
        <p:nvSpPr>
          <p:cNvPr id="97" name="Google Shape;97;p4"/>
          <p:cNvSpPr/>
          <p:nvPr/>
        </p:nvSpPr>
        <p:spPr>
          <a:xfrm>
            <a:off x="4808984"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Meiryo"/>
                <a:ea typeface="Meiryo"/>
                <a:cs typeface="Meiryo"/>
                <a:sym typeface="Meiryo"/>
              </a:rPr>
              <a:t>■ これから</a:t>
            </a:r>
            <a:endParaRPr/>
          </a:p>
        </p:txBody>
      </p:sp>
      <p:pic>
        <p:nvPicPr>
          <p:cNvPr descr="リッチメニュー - LINEヤフーマーケティングキャンパス" id="98" name="Google Shape;98;p4"/>
          <p:cNvPicPr preferRelativeResize="0"/>
          <p:nvPr/>
        </p:nvPicPr>
        <p:blipFill rotWithShape="1">
          <a:blip r:embed="rId4">
            <a:alphaModFix/>
          </a:blip>
          <a:srcRect b="9692" l="200" r="0" t="0"/>
          <a:stretch/>
        </p:blipFill>
        <p:spPr>
          <a:xfrm>
            <a:off x="6509992" y="3143054"/>
            <a:ext cx="2863081" cy="1347481"/>
          </a:xfrm>
          <a:prstGeom prst="rect">
            <a:avLst/>
          </a:prstGeom>
          <a:noFill/>
          <a:ln>
            <a:noFill/>
          </a:ln>
        </p:spPr>
      </p:pic>
      <p:sp>
        <p:nvSpPr>
          <p:cNvPr id="99" name="Google Shape;99;p4"/>
          <p:cNvSpPr/>
          <p:nvPr/>
        </p:nvSpPr>
        <p:spPr>
          <a:xfrm>
            <a:off x="5056587" y="3156578"/>
            <a:ext cx="817147" cy="296377"/>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200">
                <a:solidFill>
                  <a:srgbClr val="1F497D"/>
                </a:solidFill>
                <a:latin typeface="Meiryo"/>
                <a:ea typeface="Meiryo"/>
                <a:cs typeface="Meiryo"/>
                <a:sym typeface="Meiryo"/>
              </a:rPr>
              <a:t>OMA上</a:t>
            </a:r>
            <a:endParaRPr b="1" sz="1400">
              <a:solidFill>
                <a:srgbClr val="1F497D"/>
              </a:solidFill>
              <a:latin typeface="Meiryo"/>
              <a:ea typeface="Meiryo"/>
              <a:cs typeface="Meiryo"/>
              <a:sym typeface="Meiryo"/>
            </a:endParaRPr>
          </a:p>
        </p:txBody>
      </p:sp>
      <p:sp>
        <p:nvSpPr>
          <p:cNvPr id="100" name="Google Shape;100;p4"/>
          <p:cNvSpPr txBox="1"/>
          <p:nvPr/>
        </p:nvSpPr>
        <p:spPr>
          <a:xfrm>
            <a:off x="4974699" y="3581640"/>
            <a:ext cx="2304256" cy="7925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rgbClr val="3F3F3F"/>
                </a:solidFill>
                <a:latin typeface="Meiryo"/>
                <a:ea typeface="Meiryo"/>
                <a:cs typeface="Meiryo"/>
                <a:sym typeface="Meiryo"/>
              </a:rPr>
              <a:t>【計測可能項目】</a:t>
            </a:r>
            <a:br>
              <a:rPr b="1" lang="ja-JP" sz="1200">
                <a:solidFill>
                  <a:srgbClr val="3F3F3F"/>
                </a:solidFill>
                <a:latin typeface="Meiryo"/>
                <a:ea typeface="Meiryo"/>
                <a:cs typeface="Meiryo"/>
                <a:sym typeface="Meiryo"/>
              </a:rPr>
            </a:br>
            <a:r>
              <a:rPr b="1" lang="ja-JP" sz="200">
                <a:solidFill>
                  <a:srgbClr val="3F3F3F"/>
                </a:solidFill>
                <a:latin typeface="Meiryo"/>
                <a:ea typeface="Meiryo"/>
                <a:cs typeface="Meiryo"/>
                <a:sym typeface="Meiryo"/>
              </a:rPr>
              <a:t>　</a:t>
            </a:r>
            <a:br>
              <a:rPr lang="ja-JP" sz="1050">
                <a:solidFill>
                  <a:schemeClr val="dk1"/>
                </a:solidFill>
                <a:latin typeface="Meiryo"/>
                <a:ea typeface="Meiryo"/>
                <a:cs typeface="Meiryo"/>
                <a:sym typeface="Meiryo"/>
              </a:rPr>
            </a:br>
            <a:r>
              <a:rPr lang="ja-JP" sz="1050">
                <a:solidFill>
                  <a:schemeClr val="dk1"/>
                </a:solidFill>
                <a:latin typeface="Meiryo"/>
                <a:ea typeface="Meiryo"/>
                <a:cs typeface="Meiryo"/>
                <a:sym typeface="Meiryo"/>
              </a:rPr>
              <a:t>　・インプレッション</a:t>
            </a:r>
            <a:endParaRPr sz="1050">
              <a:solidFill>
                <a:schemeClr val="dk1"/>
              </a:solidFill>
              <a:latin typeface="Meiryo"/>
              <a:ea typeface="Meiryo"/>
              <a:cs typeface="Meiryo"/>
              <a:sym typeface="Meiryo"/>
            </a:endParaRPr>
          </a:p>
          <a:p>
            <a:pPr indent="0" lvl="0" marL="0" marR="0" rtl="0" algn="l">
              <a:spcBef>
                <a:spcPts val="0"/>
              </a:spcBef>
              <a:spcAft>
                <a:spcPts val="0"/>
              </a:spcAft>
              <a:buNone/>
            </a:pPr>
            <a:r>
              <a:rPr lang="ja-JP" sz="1050">
                <a:solidFill>
                  <a:schemeClr val="dk1"/>
                </a:solidFill>
                <a:latin typeface="Meiryo"/>
                <a:ea typeface="Meiryo"/>
                <a:cs typeface="Meiryo"/>
                <a:sym typeface="Meiryo"/>
              </a:rPr>
              <a:t>　・インプレッションユーザー</a:t>
            </a:r>
            <a:br>
              <a:rPr lang="ja-JP" sz="1050">
                <a:solidFill>
                  <a:schemeClr val="dk1"/>
                </a:solidFill>
                <a:latin typeface="Meiryo"/>
                <a:ea typeface="Meiryo"/>
                <a:cs typeface="Meiryo"/>
                <a:sym typeface="Meiryo"/>
              </a:rPr>
            </a:br>
            <a:r>
              <a:rPr lang="ja-JP" sz="1050">
                <a:solidFill>
                  <a:schemeClr val="dk1"/>
                </a:solidFill>
                <a:latin typeface="Meiryo"/>
                <a:ea typeface="Meiryo"/>
                <a:cs typeface="Meiryo"/>
                <a:sym typeface="Meiryo"/>
              </a:rPr>
              <a:t>　・クリック / クリックユーザー</a:t>
            </a:r>
            <a:endParaRPr sz="1050">
              <a:solidFill>
                <a:schemeClr val="dk1"/>
              </a:solidFill>
              <a:latin typeface="Meiryo"/>
              <a:ea typeface="Meiryo"/>
              <a:cs typeface="Meiryo"/>
              <a:sym typeface="Meiryo"/>
            </a:endParaRPr>
          </a:p>
        </p:txBody>
      </p:sp>
      <p:pic>
        <p:nvPicPr>
          <p:cNvPr descr="リッチメニュー - LINEヤフーマーケティングキャンパス" id="101" name="Google Shape;101;p4"/>
          <p:cNvPicPr preferRelativeResize="0"/>
          <p:nvPr/>
        </p:nvPicPr>
        <p:blipFill rotWithShape="1">
          <a:blip r:embed="rId4">
            <a:alphaModFix/>
          </a:blip>
          <a:srcRect b="9692" l="200" r="0" t="0"/>
          <a:stretch/>
        </p:blipFill>
        <p:spPr>
          <a:xfrm>
            <a:off x="6509992" y="4823162"/>
            <a:ext cx="2863081" cy="1347481"/>
          </a:xfrm>
          <a:prstGeom prst="rect">
            <a:avLst/>
          </a:prstGeom>
          <a:noFill/>
          <a:ln>
            <a:noFill/>
          </a:ln>
        </p:spPr>
      </p:pic>
      <p:sp>
        <p:nvSpPr>
          <p:cNvPr id="102" name="Google Shape;102;p4"/>
          <p:cNvSpPr/>
          <p:nvPr/>
        </p:nvSpPr>
        <p:spPr>
          <a:xfrm>
            <a:off x="5056587" y="4836686"/>
            <a:ext cx="817147" cy="296377"/>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200">
                <a:solidFill>
                  <a:srgbClr val="1F497D"/>
                </a:solidFill>
                <a:latin typeface="Meiryo"/>
                <a:ea typeface="Meiryo"/>
                <a:cs typeface="Meiryo"/>
                <a:sym typeface="Meiryo"/>
              </a:rPr>
              <a:t>ツール上</a:t>
            </a:r>
            <a:endParaRPr b="1" sz="1400">
              <a:solidFill>
                <a:srgbClr val="1F497D"/>
              </a:solidFill>
              <a:latin typeface="Meiryo"/>
              <a:ea typeface="Meiryo"/>
              <a:cs typeface="Meiryo"/>
              <a:sym typeface="Meiryo"/>
            </a:endParaRPr>
          </a:p>
        </p:txBody>
      </p:sp>
      <p:sp>
        <p:nvSpPr>
          <p:cNvPr id="103" name="Google Shape;103;p4"/>
          <p:cNvSpPr txBox="1"/>
          <p:nvPr/>
        </p:nvSpPr>
        <p:spPr>
          <a:xfrm>
            <a:off x="5001711" y="5238533"/>
            <a:ext cx="2304256" cy="7925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rgbClr val="FF0000"/>
                </a:solidFill>
                <a:latin typeface="Meiryo"/>
                <a:ea typeface="Meiryo"/>
                <a:cs typeface="Meiryo"/>
                <a:sym typeface="Meiryo"/>
              </a:rPr>
              <a:t>【計測可能項目】</a:t>
            </a:r>
            <a:br>
              <a:rPr b="1" lang="ja-JP" sz="1200">
                <a:solidFill>
                  <a:srgbClr val="FF0000"/>
                </a:solidFill>
                <a:latin typeface="Meiryo"/>
                <a:ea typeface="Meiryo"/>
                <a:cs typeface="Meiryo"/>
                <a:sym typeface="Meiryo"/>
              </a:rPr>
            </a:br>
            <a:r>
              <a:rPr b="1" lang="ja-JP" sz="200">
                <a:solidFill>
                  <a:srgbClr val="FF0000"/>
                </a:solidFill>
                <a:latin typeface="Meiryo"/>
                <a:ea typeface="Meiryo"/>
                <a:cs typeface="Meiryo"/>
                <a:sym typeface="Meiryo"/>
              </a:rPr>
              <a:t>　</a:t>
            </a:r>
            <a:br>
              <a:rPr lang="ja-JP" sz="1050">
                <a:solidFill>
                  <a:srgbClr val="FF0000"/>
                </a:solidFill>
                <a:latin typeface="Meiryo"/>
                <a:ea typeface="Meiryo"/>
                <a:cs typeface="Meiryo"/>
                <a:sym typeface="Meiryo"/>
              </a:rPr>
            </a:br>
            <a:r>
              <a:rPr lang="ja-JP" sz="1050">
                <a:solidFill>
                  <a:srgbClr val="FF0000"/>
                </a:solidFill>
                <a:latin typeface="Meiryo"/>
                <a:ea typeface="Meiryo"/>
                <a:cs typeface="Meiryo"/>
                <a:sym typeface="Meiryo"/>
              </a:rPr>
              <a:t>　・インプレッション</a:t>
            </a:r>
            <a:endParaRPr sz="1050">
              <a:solidFill>
                <a:srgbClr val="FF0000"/>
              </a:solidFill>
              <a:latin typeface="Meiryo"/>
              <a:ea typeface="Meiryo"/>
              <a:cs typeface="Meiryo"/>
              <a:sym typeface="Meiryo"/>
            </a:endParaRPr>
          </a:p>
          <a:p>
            <a:pPr indent="0" lvl="0" marL="0" marR="0" rtl="0" algn="l">
              <a:spcBef>
                <a:spcPts val="0"/>
              </a:spcBef>
              <a:spcAft>
                <a:spcPts val="0"/>
              </a:spcAft>
              <a:buNone/>
            </a:pPr>
            <a:r>
              <a:rPr lang="ja-JP" sz="1050">
                <a:solidFill>
                  <a:srgbClr val="FF0000"/>
                </a:solidFill>
                <a:latin typeface="Meiryo"/>
                <a:ea typeface="Meiryo"/>
                <a:cs typeface="Meiryo"/>
                <a:sym typeface="Meiryo"/>
              </a:rPr>
              <a:t>　・インプレッションユーザー</a:t>
            </a:r>
            <a:br>
              <a:rPr lang="ja-JP" sz="1050">
                <a:solidFill>
                  <a:srgbClr val="FF0000"/>
                </a:solidFill>
                <a:latin typeface="Meiryo"/>
                <a:ea typeface="Meiryo"/>
                <a:cs typeface="Meiryo"/>
                <a:sym typeface="Meiryo"/>
              </a:rPr>
            </a:br>
            <a:r>
              <a:rPr lang="ja-JP" sz="1050">
                <a:solidFill>
                  <a:srgbClr val="FF0000"/>
                </a:solidFill>
                <a:latin typeface="Meiryo"/>
                <a:ea typeface="Meiryo"/>
                <a:cs typeface="Meiryo"/>
                <a:sym typeface="Meiryo"/>
              </a:rPr>
              <a:t>　・クリック / クリックユーザー</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Meiryo"/>
                <a:ea typeface="Meiryo"/>
                <a:cs typeface="Meiryo"/>
                <a:sym typeface="Meiryo"/>
              </a:rPr>
              <a:t>対象業界</a:t>
            </a:r>
            <a:endParaRPr/>
          </a:p>
        </p:txBody>
      </p:sp>
      <p:sp>
        <p:nvSpPr>
          <p:cNvPr id="109" name="Google Shape;109;p5"/>
          <p:cNvSpPr/>
          <p:nvPr/>
        </p:nvSpPr>
        <p:spPr>
          <a:xfrm>
            <a:off x="7560840" y="730955"/>
            <a:ext cx="829618" cy="435690"/>
          </a:xfrm>
          <a:prstGeom prst="rect">
            <a:avLst/>
          </a:prstGeom>
          <a:solidFill>
            <a:srgbClr val="C6D9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Meiryo"/>
                <a:ea typeface="Meiryo"/>
                <a:cs typeface="Meiryo"/>
                <a:sym typeface="Meiryo"/>
              </a:rPr>
              <a:t>その他</a:t>
            </a:r>
            <a:endParaRPr sz="1200">
              <a:solidFill>
                <a:schemeClr val="dk1"/>
              </a:solidFill>
              <a:latin typeface="Meiryo"/>
              <a:ea typeface="Meiryo"/>
              <a:cs typeface="Meiryo"/>
              <a:sym typeface="Meiryo"/>
            </a:endParaRPr>
          </a:p>
        </p:txBody>
      </p:sp>
      <p:sp>
        <p:nvSpPr>
          <p:cNvPr id="110" name="Google Shape;110;p5"/>
          <p:cNvSpPr/>
          <p:nvPr/>
        </p:nvSpPr>
        <p:spPr>
          <a:xfrm>
            <a:off x="667905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オプション</a:t>
            </a:r>
            <a:endParaRPr sz="1000">
              <a:solidFill>
                <a:schemeClr val="dk1"/>
              </a:solidFill>
              <a:latin typeface="Meiryo"/>
              <a:ea typeface="Meiryo"/>
              <a:cs typeface="Meiryo"/>
              <a:sym typeface="Meiryo"/>
            </a:endParaRPr>
          </a:p>
          <a:p>
            <a:pPr indent="0" lvl="0" marL="0" marR="0" rtl="0" algn="ctr">
              <a:spcBef>
                <a:spcPts val="0"/>
              </a:spcBef>
              <a:spcAft>
                <a:spcPts val="0"/>
              </a:spcAft>
              <a:buNone/>
            </a:pPr>
            <a:r>
              <a:rPr lang="ja-JP" sz="1000">
                <a:solidFill>
                  <a:schemeClr val="dk1"/>
                </a:solidFill>
                <a:latin typeface="Meiryo"/>
                <a:ea typeface="Meiryo"/>
                <a:cs typeface="Meiryo"/>
                <a:sym typeface="Meiryo"/>
              </a:rPr>
              <a:t>商材</a:t>
            </a:r>
            <a:endParaRPr/>
          </a:p>
        </p:txBody>
      </p:sp>
      <p:sp>
        <p:nvSpPr>
          <p:cNvPr id="111" name="Google Shape;111;p5"/>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300">
                <a:solidFill>
                  <a:schemeClr val="dk1"/>
                </a:solidFill>
                <a:latin typeface="Meiryo"/>
                <a:ea typeface="Meiryo"/>
                <a:cs typeface="Meiryo"/>
                <a:sym typeface="Meiryo"/>
              </a:rPr>
              <a:t>全業種</a:t>
            </a:r>
            <a:endParaRPr/>
          </a:p>
        </p:txBody>
      </p:sp>
      <p:sp>
        <p:nvSpPr>
          <p:cNvPr id="112" name="Google Shape;112;p5"/>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113" name="Google Shape;113;p5"/>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【LINEミニアプリ】起動フローの変更について</a:t>
            </a:r>
            <a:endParaRPr b="1" sz="1600">
              <a:solidFill>
                <a:srgbClr val="004DE6"/>
              </a:solidFill>
              <a:latin typeface="Meiryo"/>
              <a:ea typeface="Meiryo"/>
              <a:cs typeface="Meiryo"/>
              <a:sym typeface="Meiryo"/>
            </a:endParaRPr>
          </a:p>
        </p:txBody>
      </p:sp>
      <p:sp>
        <p:nvSpPr>
          <p:cNvPr id="114" name="Google Shape;114;p5"/>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lang="ja-JP" sz="1600">
                <a:solidFill>
                  <a:schemeClr val="dk1"/>
                </a:solidFill>
                <a:latin typeface="Meiryo"/>
                <a:ea typeface="Meiryo"/>
                <a:cs typeface="Meiryo"/>
                <a:sym typeface="Meiryo"/>
              </a:rPr>
              <a:t>    今後のアップデート情報</a:t>
            </a:r>
            <a:endParaRPr sz="1600">
              <a:solidFill>
                <a:schemeClr val="dk1"/>
              </a:solidFill>
              <a:latin typeface="Meiryo"/>
              <a:ea typeface="Meiryo"/>
              <a:cs typeface="Meiryo"/>
              <a:sym typeface="Meiryo"/>
            </a:endParaRPr>
          </a:p>
        </p:txBody>
      </p:sp>
      <p:sp>
        <p:nvSpPr>
          <p:cNvPr id="115" name="Google Shape;115;p5"/>
          <p:cNvSpPr/>
          <p:nvPr/>
        </p:nvSpPr>
        <p:spPr>
          <a:xfrm>
            <a:off x="579726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116" name="Google Shape;116;p5"/>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117" name="Google Shape;117;p5"/>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118" name="Google Shape;118;p5"/>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2026年10月を目処にLINEミニアプリにおいて一部の条件を満たす場合、ミニアプリの起動フローが変更する。</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条件は「提供国が日本」かつ「簡略化設定ON」かつ「認証済みミニアプリ」であること。</a:t>
            </a:r>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これにより同意画面およびロード画面がなくなり、ユーザーが離脱しづらくなるなどのメリットが発生する。</a:t>
            </a:r>
            <a:endParaRPr b="1" sz="1400">
              <a:solidFill>
                <a:schemeClr val="dk1"/>
              </a:solidFill>
              <a:latin typeface="Meiryo"/>
              <a:ea typeface="Meiryo"/>
              <a:cs typeface="Meiryo"/>
              <a:sym typeface="Meiryo"/>
            </a:endParaRPr>
          </a:p>
        </p:txBody>
      </p:sp>
      <p:grpSp>
        <p:nvGrpSpPr>
          <p:cNvPr id="119" name="Google Shape;119;p5"/>
          <p:cNvGrpSpPr/>
          <p:nvPr/>
        </p:nvGrpSpPr>
        <p:grpSpPr>
          <a:xfrm>
            <a:off x="8473303" y="730955"/>
            <a:ext cx="1376241" cy="1131930"/>
            <a:chOff x="0" y="0"/>
            <a:chExt cx="1376241" cy="1131930"/>
          </a:xfrm>
        </p:grpSpPr>
        <p:sp>
          <p:nvSpPr>
            <p:cNvPr id="120" name="Google Shape;120;p5"/>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122" name="Google Shape;122;p5"/>
            <p:cNvSpPr/>
            <p:nvPr/>
          </p:nvSpPr>
          <p:spPr>
            <a:xfrm rot="10800000">
              <a:off x="172030" y="282982"/>
              <a:ext cx="1032180" cy="282982"/>
            </a:xfrm>
            <a:prstGeom prst="trapezoid">
              <a:avLst>
                <a:gd fmla="val 60792" name="adj"/>
              </a:avLst>
            </a:prstGeom>
            <a:solidFill>
              <a:srgbClr val="C6D9F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124" name="Google Shape;124;p5"/>
            <p:cNvSpPr/>
            <p:nvPr/>
          </p:nvSpPr>
          <p:spPr>
            <a:xfrm rot="10800000">
              <a:off x="344060" y="565965"/>
              <a:ext cx="688120" cy="282982"/>
            </a:xfrm>
            <a:prstGeom prst="trapezoid">
              <a:avLst>
                <a:gd fmla="val 60792" name="adj"/>
              </a:avLst>
            </a:prstGeom>
            <a:solidFill>
              <a:srgbClr val="4F81B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126" name="Google Shape;126;p5"/>
            <p:cNvSpPr/>
            <p:nvPr/>
          </p:nvSpPr>
          <p:spPr>
            <a:xfrm rot="10800000">
              <a:off x="516090" y="848948"/>
              <a:ext cx="344060" cy="282982"/>
            </a:xfrm>
            <a:prstGeom prst="trapezoid">
              <a:avLst>
                <a:gd fmla="val 60792" name="adj"/>
              </a:avLst>
            </a:prstGeom>
            <a:solidFill>
              <a:srgbClr val="1F497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800"/>
                <a:buFont typeface="Arial"/>
                <a:buNone/>
              </a:pPr>
              <a:r>
                <a:rPr b="1" lang="ja-JP" sz="800">
                  <a:solidFill>
                    <a:schemeClr val="lt1"/>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128" name="Google Shape;128;p5"/>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pic>
        <p:nvPicPr>
          <p:cNvPr id="129" name="Google Shape;129;p5"/>
          <p:cNvPicPr preferRelativeResize="0"/>
          <p:nvPr/>
        </p:nvPicPr>
        <p:blipFill rotWithShape="1">
          <a:blip r:embed="rId4">
            <a:alphaModFix/>
          </a:blip>
          <a:srcRect b="0" l="0" r="0" t="0"/>
          <a:stretch/>
        </p:blipFill>
        <p:spPr>
          <a:xfrm>
            <a:off x="584837" y="2678123"/>
            <a:ext cx="8736326" cy="3836859"/>
          </a:xfrm>
          <a:prstGeom prst="rect">
            <a:avLst/>
          </a:prstGeom>
          <a:noFill/>
          <a:ln>
            <a:noFill/>
          </a:ln>
        </p:spPr>
      </p:pic>
      <p:sp>
        <p:nvSpPr>
          <p:cNvPr id="130" name="Google Shape;130;p5"/>
          <p:cNvSpPr txBox="1"/>
          <p:nvPr/>
        </p:nvSpPr>
        <p:spPr>
          <a:xfrm>
            <a:off x="8473303" y="6597352"/>
            <a:ext cx="10326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800">
                <a:solidFill>
                  <a:schemeClr val="lt1"/>
                </a:solidFill>
                <a:latin typeface="Meiryo"/>
                <a:ea typeface="Meiryo"/>
                <a:cs typeface="Meiryo"/>
                <a:sym typeface="Meiryo"/>
              </a:rPr>
              <a:t>出典：代理店情報</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Meiryo"/>
                <a:ea typeface="Meiryo"/>
                <a:cs typeface="Meiryo"/>
                <a:sym typeface="Meiryo"/>
              </a:rPr>
              <a:t>対象業界</a:t>
            </a:r>
            <a:endParaRPr/>
          </a:p>
        </p:txBody>
      </p:sp>
      <p:sp>
        <p:nvSpPr>
          <p:cNvPr id="136" name="Google Shape;136;p6"/>
          <p:cNvSpPr/>
          <p:nvPr/>
        </p:nvSpPr>
        <p:spPr>
          <a:xfrm>
            <a:off x="7560840" y="730955"/>
            <a:ext cx="829618" cy="435690"/>
          </a:xfrm>
          <a:prstGeom prst="rect">
            <a:avLst/>
          </a:prstGeom>
          <a:solidFill>
            <a:srgbClr val="C6D9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Meiryo"/>
                <a:ea typeface="Meiryo"/>
                <a:cs typeface="Meiryo"/>
                <a:sym typeface="Meiryo"/>
              </a:rPr>
              <a:t>その他</a:t>
            </a:r>
            <a:endParaRPr sz="1200">
              <a:solidFill>
                <a:schemeClr val="dk1"/>
              </a:solidFill>
              <a:latin typeface="Meiryo"/>
              <a:ea typeface="Meiryo"/>
              <a:cs typeface="Meiryo"/>
              <a:sym typeface="Meiryo"/>
            </a:endParaRPr>
          </a:p>
        </p:txBody>
      </p:sp>
      <p:sp>
        <p:nvSpPr>
          <p:cNvPr id="137" name="Google Shape;137;p6"/>
          <p:cNvSpPr/>
          <p:nvPr/>
        </p:nvSpPr>
        <p:spPr>
          <a:xfrm>
            <a:off x="667905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オプション</a:t>
            </a:r>
            <a:endParaRPr sz="1000">
              <a:solidFill>
                <a:schemeClr val="dk1"/>
              </a:solidFill>
              <a:latin typeface="Meiryo"/>
              <a:ea typeface="Meiryo"/>
              <a:cs typeface="Meiryo"/>
              <a:sym typeface="Meiryo"/>
            </a:endParaRPr>
          </a:p>
          <a:p>
            <a:pPr indent="0" lvl="0" marL="0" marR="0" rtl="0" algn="ctr">
              <a:spcBef>
                <a:spcPts val="0"/>
              </a:spcBef>
              <a:spcAft>
                <a:spcPts val="0"/>
              </a:spcAft>
              <a:buNone/>
            </a:pPr>
            <a:r>
              <a:rPr lang="ja-JP" sz="1000">
                <a:solidFill>
                  <a:schemeClr val="dk1"/>
                </a:solidFill>
                <a:latin typeface="Meiryo"/>
                <a:ea typeface="Meiryo"/>
                <a:cs typeface="Meiryo"/>
                <a:sym typeface="Meiryo"/>
              </a:rPr>
              <a:t>商材</a:t>
            </a:r>
            <a:endParaRPr/>
          </a:p>
        </p:txBody>
      </p:sp>
      <p:sp>
        <p:nvSpPr>
          <p:cNvPr id="138" name="Google Shape;138;p6"/>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300">
                <a:solidFill>
                  <a:schemeClr val="dk1"/>
                </a:solidFill>
                <a:latin typeface="Meiryo"/>
                <a:ea typeface="Meiryo"/>
                <a:cs typeface="Meiryo"/>
                <a:sym typeface="Meiryo"/>
              </a:rPr>
              <a:t>全業種</a:t>
            </a:r>
            <a:endParaRPr/>
          </a:p>
        </p:txBody>
      </p:sp>
      <p:sp>
        <p:nvSpPr>
          <p:cNvPr id="139" name="Google Shape;139;p6"/>
          <p:cNvSpPr txBox="1"/>
          <p:nvPr/>
        </p:nvSpPr>
        <p:spPr>
          <a:xfrm>
            <a:off x="8473303" y="6597352"/>
            <a:ext cx="10326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800">
                <a:solidFill>
                  <a:schemeClr val="lt1"/>
                </a:solidFill>
                <a:latin typeface="Meiryo"/>
                <a:ea typeface="Meiryo"/>
                <a:cs typeface="Meiryo"/>
                <a:sym typeface="Meiryo"/>
              </a:rPr>
              <a:t>出典：代理店情報</a:t>
            </a:r>
            <a:endParaRPr/>
          </a:p>
        </p:txBody>
      </p:sp>
      <p:sp>
        <p:nvSpPr>
          <p:cNvPr id="140" name="Google Shape;140;p6"/>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141" name="Google Shape;141;p6"/>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【LINEミニアプリ】起動フローの変更について</a:t>
            </a:r>
            <a:endParaRPr b="1" sz="1600">
              <a:solidFill>
                <a:srgbClr val="004DE6"/>
              </a:solidFill>
              <a:latin typeface="Meiryo"/>
              <a:ea typeface="Meiryo"/>
              <a:cs typeface="Meiryo"/>
              <a:sym typeface="Meiryo"/>
            </a:endParaRPr>
          </a:p>
        </p:txBody>
      </p:sp>
      <p:sp>
        <p:nvSpPr>
          <p:cNvPr id="142" name="Google Shape;142;p6"/>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lang="ja-JP" sz="1600">
                <a:solidFill>
                  <a:schemeClr val="dk1"/>
                </a:solidFill>
                <a:latin typeface="Meiryo"/>
                <a:ea typeface="Meiryo"/>
                <a:cs typeface="Meiryo"/>
                <a:sym typeface="Meiryo"/>
              </a:rPr>
              <a:t>    今後のアップデート情報</a:t>
            </a:r>
            <a:endParaRPr sz="1600">
              <a:solidFill>
                <a:schemeClr val="dk1"/>
              </a:solidFill>
              <a:latin typeface="Meiryo"/>
              <a:ea typeface="Meiryo"/>
              <a:cs typeface="Meiryo"/>
              <a:sym typeface="Meiryo"/>
            </a:endParaRPr>
          </a:p>
        </p:txBody>
      </p:sp>
      <p:sp>
        <p:nvSpPr>
          <p:cNvPr id="143" name="Google Shape;143;p6"/>
          <p:cNvSpPr/>
          <p:nvPr/>
        </p:nvSpPr>
        <p:spPr>
          <a:xfrm>
            <a:off x="579726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144" name="Google Shape;144;p6"/>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145" name="Google Shape;145;p6"/>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146" name="Google Shape;146;p6"/>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2026年10月を目処にLINEミニアプリにおいて一部の条件を満たす場合、ミニアプリの起動フローが変更する。</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条件は「提供国が日本」かつ「簡略化設定ON」かつ「認証済みミニアプリ」であること。</a:t>
            </a:r>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これにより同意画面およびロード画面がなくなり、ユーザーが離脱しづらくなるなどのメリットが発生する。</a:t>
            </a:r>
            <a:endParaRPr b="1" sz="1400">
              <a:solidFill>
                <a:schemeClr val="dk1"/>
              </a:solidFill>
              <a:latin typeface="Meiryo"/>
              <a:ea typeface="Meiryo"/>
              <a:cs typeface="Meiryo"/>
              <a:sym typeface="Meiryo"/>
            </a:endParaRPr>
          </a:p>
        </p:txBody>
      </p:sp>
      <p:grpSp>
        <p:nvGrpSpPr>
          <p:cNvPr id="147" name="Google Shape;147;p6"/>
          <p:cNvGrpSpPr/>
          <p:nvPr/>
        </p:nvGrpSpPr>
        <p:grpSpPr>
          <a:xfrm>
            <a:off x="8473303" y="730955"/>
            <a:ext cx="1376241" cy="1131930"/>
            <a:chOff x="0" y="0"/>
            <a:chExt cx="1376241" cy="1131930"/>
          </a:xfrm>
        </p:grpSpPr>
        <p:sp>
          <p:nvSpPr>
            <p:cNvPr id="148" name="Google Shape;148;p6"/>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150" name="Google Shape;150;p6"/>
            <p:cNvSpPr/>
            <p:nvPr/>
          </p:nvSpPr>
          <p:spPr>
            <a:xfrm rot="10800000">
              <a:off x="172030" y="282982"/>
              <a:ext cx="1032180" cy="282982"/>
            </a:xfrm>
            <a:prstGeom prst="trapezoid">
              <a:avLst>
                <a:gd fmla="val 60792" name="adj"/>
              </a:avLst>
            </a:prstGeom>
            <a:solidFill>
              <a:srgbClr val="C6D9F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152" name="Google Shape;152;p6"/>
            <p:cNvSpPr/>
            <p:nvPr/>
          </p:nvSpPr>
          <p:spPr>
            <a:xfrm rot="10800000">
              <a:off x="344060" y="565965"/>
              <a:ext cx="688120" cy="282982"/>
            </a:xfrm>
            <a:prstGeom prst="trapezoid">
              <a:avLst>
                <a:gd fmla="val 60792" name="adj"/>
              </a:avLst>
            </a:prstGeom>
            <a:solidFill>
              <a:srgbClr val="4F81B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154" name="Google Shape;154;p6"/>
            <p:cNvSpPr/>
            <p:nvPr/>
          </p:nvSpPr>
          <p:spPr>
            <a:xfrm rot="10800000">
              <a:off x="516090" y="848948"/>
              <a:ext cx="344060" cy="282982"/>
            </a:xfrm>
            <a:prstGeom prst="trapezoid">
              <a:avLst>
                <a:gd fmla="val 60792" name="adj"/>
              </a:avLst>
            </a:prstGeom>
            <a:solidFill>
              <a:srgbClr val="1F497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800"/>
                <a:buFont typeface="Arial"/>
                <a:buNone/>
              </a:pPr>
              <a:r>
                <a:rPr b="1" lang="ja-JP" sz="800">
                  <a:solidFill>
                    <a:schemeClr val="lt1"/>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156" name="Google Shape;156;p6"/>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pic>
        <p:nvPicPr>
          <p:cNvPr id="157" name="Google Shape;157;p6"/>
          <p:cNvPicPr preferRelativeResize="0"/>
          <p:nvPr/>
        </p:nvPicPr>
        <p:blipFill rotWithShape="1">
          <a:blip r:embed="rId4">
            <a:alphaModFix/>
          </a:blip>
          <a:srcRect b="0" l="0" r="0" t="0"/>
          <a:stretch/>
        </p:blipFill>
        <p:spPr>
          <a:xfrm>
            <a:off x="1272389" y="2688485"/>
            <a:ext cx="7361220" cy="38309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7"/>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Meiryo"/>
                <a:ea typeface="Meiryo"/>
                <a:cs typeface="Meiryo"/>
                <a:sym typeface="Meiryo"/>
              </a:rPr>
              <a:t>対象業界</a:t>
            </a:r>
            <a:endParaRPr/>
          </a:p>
        </p:txBody>
      </p:sp>
      <p:sp>
        <p:nvSpPr>
          <p:cNvPr id="163" name="Google Shape;163;p7"/>
          <p:cNvSpPr/>
          <p:nvPr/>
        </p:nvSpPr>
        <p:spPr>
          <a:xfrm>
            <a:off x="756084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Meiryo"/>
                <a:ea typeface="Meiryo"/>
                <a:cs typeface="Meiryo"/>
                <a:sym typeface="Meiryo"/>
              </a:rPr>
              <a:t>その他</a:t>
            </a:r>
            <a:endParaRPr sz="1200">
              <a:solidFill>
                <a:schemeClr val="dk1"/>
              </a:solidFill>
              <a:latin typeface="Meiryo"/>
              <a:ea typeface="Meiryo"/>
              <a:cs typeface="Meiryo"/>
              <a:sym typeface="Meiryo"/>
            </a:endParaRPr>
          </a:p>
        </p:txBody>
      </p:sp>
      <p:sp>
        <p:nvSpPr>
          <p:cNvPr id="164" name="Google Shape;164;p7"/>
          <p:cNvSpPr/>
          <p:nvPr/>
        </p:nvSpPr>
        <p:spPr>
          <a:xfrm>
            <a:off x="6679050" y="730955"/>
            <a:ext cx="829618" cy="435690"/>
          </a:xfrm>
          <a:prstGeom prst="rect">
            <a:avLst/>
          </a:prstGeom>
          <a:solidFill>
            <a:srgbClr val="C6D9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オプション</a:t>
            </a:r>
            <a:endParaRPr sz="1000">
              <a:solidFill>
                <a:schemeClr val="dk1"/>
              </a:solidFill>
              <a:latin typeface="Meiryo"/>
              <a:ea typeface="Meiryo"/>
              <a:cs typeface="Meiryo"/>
              <a:sym typeface="Meiryo"/>
            </a:endParaRPr>
          </a:p>
          <a:p>
            <a:pPr indent="0" lvl="0" marL="0" marR="0" rtl="0" algn="ctr">
              <a:spcBef>
                <a:spcPts val="0"/>
              </a:spcBef>
              <a:spcAft>
                <a:spcPts val="0"/>
              </a:spcAft>
              <a:buNone/>
            </a:pPr>
            <a:r>
              <a:rPr lang="ja-JP" sz="1000">
                <a:solidFill>
                  <a:schemeClr val="dk1"/>
                </a:solidFill>
                <a:latin typeface="Meiryo"/>
                <a:ea typeface="Meiryo"/>
                <a:cs typeface="Meiryo"/>
                <a:sym typeface="Meiryo"/>
              </a:rPr>
              <a:t>商材</a:t>
            </a:r>
            <a:endParaRPr/>
          </a:p>
        </p:txBody>
      </p:sp>
      <p:sp>
        <p:nvSpPr>
          <p:cNvPr id="165" name="Google Shape;165;p7"/>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300">
                <a:solidFill>
                  <a:schemeClr val="dk1"/>
                </a:solidFill>
                <a:latin typeface="Meiryo"/>
                <a:ea typeface="Meiryo"/>
                <a:cs typeface="Meiryo"/>
                <a:sym typeface="Meiryo"/>
              </a:rPr>
              <a:t>全業種</a:t>
            </a:r>
            <a:endParaRPr/>
          </a:p>
        </p:txBody>
      </p:sp>
      <p:sp>
        <p:nvSpPr>
          <p:cNvPr id="166" name="Google Shape;166;p7"/>
          <p:cNvSpPr txBox="1"/>
          <p:nvPr/>
        </p:nvSpPr>
        <p:spPr>
          <a:xfrm>
            <a:off x="8473303" y="6597352"/>
            <a:ext cx="10326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800">
                <a:solidFill>
                  <a:schemeClr val="lt1"/>
                </a:solidFill>
                <a:latin typeface="Meiryo"/>
                <a:ea typeface="Meiryo"/>
                <a:cs typeface="Meiryo"/>
                <a:sym typeface="Meiryo"/>
              </a:rPr>
              <a:t>出典：代理店情報</a:t>
            </a:r>
            <a:endParaRPr/>
          </a:p>
        </p:txBody>
      </p:sp>
      <p:sp>
        <p:nvSpPr>
          <p:cNvPr id="167" name="Google Shape;167;p7"/>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168" name="Google Shape;168;p7"/>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【LINEプロモーションスタンプ】OAブロック仕様変更後の実績共有</a:t>
            </a:r>
            <a:endParaRPr b="1" sz="1600">
              <a:solidFill>
                <a:srgbClr val="004DE6"/>
              </a:solidFill>
              <a:latin typeface="Meiryo"/>
              <a:ea typeface="Meiryo"/>
              <a:cs typeface="Meiryo"/>
              <a:sym typeface="Meiryo"/>
            </a:endParaRPr>
          </a:p>
        </p:txBody>
      </p:sp>
      <p:sp>
        <p:nvSpPr>
          <p:cNvPr id="169" name="Google Shape;169;p7"/>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lang="ja-JP" sz="1600">
                <a:solidFill>
                  <a:schemeClr val="dk1"/>
                </a:solidFill>
                <a:latin typeface="Meiryo"/>
                <a:ea typeface="Meiryo"/>
                <a:cs typeface="Meiryo"/>
                <a:sym typeface="Meiryo"/>
              </a:rPr>
              <a:t>    今後のアップデート情報</a:t>
            </a:r>
            <a:endParaRPr sz="1600">
              <a:solidFill>
                <a:schemeClr val="dk1"/>
              </a:solidFill>
              <a:latin typeface="Meiryo"/>
              <a:ea typeface="Meiryo"/>
              <a:cs typeface="Meiryo"/>
              <a:sym typeface="Meiryo"/>
            </a:endParaRPr>
          </a:p>
        </p:txBody>
      </p:sp>
      <p:sp>
        <p:nvSpPr>
          <p:cNvPr id="170" name="Google Shape;170;p7"/>
          <p:cNvSpPr/>
          <p:nvPr/>
        </p:nvSpPr>
        <p:spPr>
          <a:xfrm>
            <a:off x="579726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171" name="Google Shape;171;p7"/>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172" name="Google Shape;172;p7"/>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173" name="Google Shape;173;p7"/>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2026年4月13日より、LINEプロモーションスタンプ・スポンサード絵文字では、</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広告主OAの友だち状態とスタンプ・絵文字の利用可否を連動する仕様へ変更。</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これにより、ブロック率の低下が期待されていましが、今回その実績がLINEヤフーより共有された。</a:t>
            </a:r>
            <a:endParaRPr b="1" sz="1400">
              <a:solidFill>
                <a:schemeClr val="dk1"/>
              </a:solidFill>
              <a:latin typeface="Meiryo"/>
              <a:ea typeface="Meiryo"/>
              <a:cs typeface="Meiryo"/>
              <a:sym typeface="Meiryo"/>
            </a:endParaRPr>
          </a:p>
        </p:txBody>
      </p:sp>
      <p:grpSp>
        <p:nvGrpSpPr>
          <p:cNvPr id="174" name="Google Shape;174;p7"/>
          <p:cNvGrpSpPr/>
          <p:nvPr/>
        </p:nvGrpSpPr>
        <p:grpSpPr>
          <a:xfrm>
            <a:off x="8473303" y="730955"/>
            <a:ext cx="1376241" cy="1131930"/>
            <a:chOff x="0" y="0"/>
            <a:chExt cx="1376241" cy="1131930"/>
          </a:xfrm>
        </p:grpSpPr>
        <p:sp>
          <p:nvSpPr>
            <p:cNvPr id="175" name="Google Shape;175;p7"/>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177" name="Google Shape;177;p7"/>
            <p:cNvSpPr/>
            <p:nvPr/>
          </p:nvSpPr>
          <p:spPr>
            <a:xfrm rot="10800000">
              <a:off x="172030" y="282982"/>
              <a:ext cx="1032180" cy="282982"/>
            </a:xfrm>
            <a:prstGeom prst="trapezoid">
              <a:avLst>
                <a:gd fmla="val 60792" name="adj"/>
              </a:avLst>
            </a:prstGeom>
            <a:solidFill>
              <a:srgbClr val="C6D9F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179" name="Google Shape;179;p7"/>
            <p:cNvSpPr/>
            <p:nvPr/>
          </p:nvSpPr>
          <p:spPr>
            <a:xfrm rot="10800000">
              <a:off x="344060" y="565965"/>
              <a:ext cx="688120" cy="282982"/>
            </a:xfrm>
            <a:prstGeom prst="trapezoid">
              <a:avLst>
                <a:gd fmla="val 60792" name="adj"/>
              </a:avLst>
            </a:prstGeom>
            <a:solidFill>
              <a:srgbClr val="4F81B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181" name="Google Shape;181;p7"/>
            <p:cNvSpPr/>
            <p:nvPr/>
          </p:nvSpPr>
          <p:spPr>
            <a:xfrm rot="10800000">
              <a:off x="516090" y="848948"/>
              <a:ext cx="344060" cy="282982"/>
            </a:xfrm>
            <a:prstGeom prst="trapezoid">
              <a:avLst>
                <a:gd fmla="val 60792" name="adj"/>
              </a:avLst>
            </a:prstGeom>
            <a:solidFill>
              <a:srgbClr val="1F497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800"/>
                <a:buFont typeface="Arial"/>
                <a:buNone/>
              </a:pPr>
              <a:r>
                <a:rPr b="1" lang="ja-JP" sz="800">
                  <a:solidFill>
                    <a:schemeClr val="lt1"/>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183" name="Google Shape;183;p7"/>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pic>
        <p:nvPicPr>
          <p:cNvPr id="184" name="Google Shape;184;p7"/>
          <p:cNvPicPr preferRelativeResize="0"/>
          <p:nvPr/>
        </p:nvPicPr>
        <p:blipFill rotWithShape="1">
          <a:blip r:embed="rId4">
            <a:alphaModFix/>
          </a:blip>
          <a:srcRect b="0" l="0" r="0" t="0"/>
          <a:stretch/>
        </p:blipFill>
        <p:spPr>
          <a:xfrm>
            <a:off x="263804" y="2688485"/>
            <a:ext cx="9380897" cy="38170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Meiryo"/>
                <a:ea typeface="Meiryo"/>
                <a:cs typeface="Meiryo"/>
                <a:sym typeface="Meiryo"/>
              </a:rPr>
              <a:t>対象業界</a:t>
            </a:r>
            <a:endParaRPr/>
          </a:p>
        </p:txBody>
      </p:sp>
      <p:sp>
        <p:nvSpPr>
          <p:cNvPr id="190" name="Google Shape;190;p8"/>
          <p:cNvSpPr/>
          <p:nvPr/>
        </p:nvSpPr>
        <p:spPr>
          <a:xfrm>
            <a:off x="756084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Meiryo"/>
                <a:ea typeface="Meiryo"/>
                <a:cs typeface="Meiryo"/>
                <a:sym typeface="Meiryo"/>
              </a:rPr>
              <a:t>その他</a:t>
            </a:r>
            <a:endParaRPr sz="1200">
              <a:solidFill>
                <a:schemeClr val="dk1"/>
              </a:solidFill>
              <a:latin typeface="Meiryo"/>
              <a:ea typeface="Meiryo"/>
              <a:cs typeface="Meiryo"/>
              <a:sym typeface="Meiryo"/>
            </a:endParaRPr>
          </a:p>
        </p:txBody>
      </p:sp>
      <p:sp>
        <p:nvSpPr>
          <p:cNvPr id="191" name="Google Shape;191;p8"/>
          <p:cNvSpPr/>
          <p:nvPr/>
        </p:nvSpPr>
        <p:spPr>
          <a:xfrm>
            <a:off x="6679050" y="730955"/>
            <a:ext cx="829618" cy="435690"/>
          </a:xfrm>
          <a:prstGeom prst="rect">
            <a:avLst/>
          </a:prstGeom>
          <a:solidFill>
            <a:srgbClr val="C6D9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オプション</a:t>
            </a:r>
            <a:endParaRPr sz="1000">
              <a:solidFill>
                <a:schemeClr val="dk1"/>
              </a:solidFill>
              <a:latin typeface="Meiryo"/>
              <a:ea typeface="Meiryo"/>
              <a:cs typeface="Meiryo"/>
              <a:sym typeface="Meiryo"/>
            </a:endParaRPr>
          </a:p>
          <a:p>
            <a:pPr indent="0" lvl="0" marL="0" marR="0" rtl="0" algn="ctr">
              <a:spcBef>
                <a:spcPts val="0"/>
              </a:spcBef>
              <a:spcAft>
                <a:spcPts val="0"/>
              </a:spcAft>
              <a:buNone/>
            </a:pPr>
            <a:r>
              <a:rPr lang="ja-JP" sz="1000">
                <a:solidFill>
                  <a:schemeClr val="dk1"/>
                </a:solidFill>
                <a:latin typeface="Meiryo"/>
                <a:ea typeface="Meiryo"/>
                <a:cs typeface="Meiryo"/>
                <a:sym typeface="Meiryo"/>
              </a:rPr>
              <a:t>商材</a:t>
            </a:r>
            <a:endParaRPr/>
          </a:p>
        </p:txBody>
      </p:sp>
      <p:sp>
        <p:nvSpPr>
          <p:cNvPr id="192" name="Google Shape;192;p8"/>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300">
                <a:solidFill>
                  <a:schemeClr val="dk1"/>
                </a:solidFill>
                <a:latin typeface="Meiryo"/>
                <a:ea typeface="Meiryo"/>
                <a:cs typeface="Meiryo"/>
                <a:sym typeface="Meiryo"/>
              </a:rPr>
              <a:t>全業種</a:t>
            </a:r>
            <a:endParaRPr/>
          </a:p>
        </p:txBody>
      </p:sp>
      <p:sp>
        <p:nvSpPr>
          <p:cNvPr id="193" name="Google Shape;193;p8"/>
          <p:cNvSpPr txBox="1"/>
          <p:nvPr/>
        </p:nvSpPr>
        <p:spPr>
          <a:xfrm>
            <a:off x="8473303" y="6597352"/>
            <a:ext cx="10326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800">
                <a:solidFill>
                  <a:schemeClr val="lt1"/>
                </a:solidFill>
                <a:latin typeface="Meiryo"/>
                <a:ea typeface="Meiryo"/>
                <a:cs typeface="Meiryo"/>
                <a:sym typeface="Meiryo"/>
              </a:rPr>
              <a:t>出典：代理店情報</a:t>
            </a:r>
            <a:endParaRPr/>
          </a:p>
        </p:txBody>
      </p:sp>
      <p:sp>
        <p:nvSpPr>
          <p:cNvPr id="194" name="Google Shape;194;p8"/>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195" name="Google Shape;195;p8"/>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【LINEプロモーションスタンプ】OAブロック仕様変更後の実績共有</a:t>
            </a:r>
            <a:endParaRPr b="1" sz="1600">
              <a:solidFill>
                <a:srgbClr val="004DE6"/>
              </a:solidFill>
              <a:latin typeface="Meiryo"/>
              <a:ea typeface="Meiryo"/>
              <a:cs typeface="Meiryo"/>
              <a:sym typeface="Meiryo"/>
            </a:endParaRPr>
          </a:p>
        </p:txBody>
      </p:sp>
      <p:sp>
        <p:nvSpPr>
          <p:cNvPr id="196" name="Google Shape;196;p8"/>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lang="ja-JP" sz="1600">
                <a:solidFill>
                  <a:schemeClr val="dk1"/>
                </a:solidFill>
                <a:latin typeface="Meiryo"/>
                <a:ea typeface="Meiryo"/>
                <a:cs typeface="Meiryo"/>
                <a:sym typeface="Meiryo"/>
              </a:rPr>
              <a:t>    今後のアップデート情報</a:t>
            </a:r>
            <a:endParaRPr sz="1600">
              <a:solidFill>
                <a:schemeClr val="dk1"/>
              </a:solidFill>
              <a:latin typeface="Meiryo"/>
              <a:ea typeface="Meiryo"/>
              <a:cs typeface="Meiryo"/>
              <a:sym typeface="Meiryo"/>
            </a:endParaRPr>
          </a:p>
        </p:txBody>
      </p:sp>
      <p:sp>
        <p:nvSpPr>
          <p:cNvPr id="197" name="Google Shape;197;p8"/>
          <p:cNvSpPr/>
          <p:nvPr/>
        </p:nvSpPr>
        <p:spPr>
          <a:xfrm>
            <a:off x="579726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198" name="Google Shape;198;p8"/>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199" name="Google Shape;199;p8"/>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200" name="Google Shape;200;p8"/>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本機能リリース後の掲載開始案件では、2025年同月比で当日中ブロック率の低下が確認された。</a:t>
            </a:r>
            <a:br>
              <a:rPr b="1" lang="ja-JP" sz="1200">
                <a:solidFill>
                  <a:schemeClr val="dk1"/>
                </a:solidFill>
                <a:latin typeface="Meiryo"/>
                <a:ea typeface="Meiryo"/>
                <a:cs typeface="Meiryo"/>
                <a:sym typeface="Meiryo"/>
              </a:rPr>
            </a:br>
            <a:r>
              <a:rPr b="1" lang="ja-JP" sz="1200">
                <a:solidFill>
                  <a:schemeClr val="dk1"/>
                </a:solidFill>
                <a:latin typeface="Meiryo"/>
                <a:ea typeface="Meiryo"/>
                <a:cs typeface="Meiryo"/>
                <a:sym typeface="Meiryo"/>
              </a:rPr>
              <a:t>これにより、スタンプDL後の即時離脱を抑制し、</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広告主OAとの友だち関係を維持しやすくなることが期待できることが証明された。</a:t>
            </a:r>
            <a:endParaRPr b="1" sz="1400">
              <a:solidFill>
                <a:schemeClr val="dk1"/>
              </a:solidFill>
              <a:latin typeface="Meiryo"/>
              <a:ea typeface="Meiryo"/>
              <a:cs typeface="Meiryo"/>
              <a:sym typeface="Meiryo"/>
            </a:endParaRPr>
          </a:p>
        </p:txBody>
      </p:sp>
      <p:grpSp>
        <p:nvGrpSpPr>
          <p:cNvPr id="201" name="Google Shape;201;p8"/>
          <p:cNvGrpSpPr/>
          <p:nvPr/>
        </p:nvGrpSpPr>
        <p:grpSpPr>
          <a:xfrm>
            <a:off x="8473303" y="730955"/>
            <a:ext cx="1376241" cy="1131930"/>
            <a:chOff x="0" y="0"/>
            <a:chExt cx="1376241" cy="1131930"/>
          </a:xfrm>
        </p:grpSpPr>
        <p:sp>
          <p:nvSpPr>
            <p:cNvPr id="202" name="Google Shape;202;p8"/>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204" name="Google Shape;204;p8"/>
            <p:cNvSpPr/>
            <p:nvPr/>
          </p:nvSpPr>
          <p:spPr>
            <a:xfrm rot="10800000">
              <a:off x="172030" y="282982"/>
              <a:ext cx="1032180" cy="282982"/>
            </a:xfrm>
            <a:prstGeom prst="trapezoid">
              <a:avLst>
                <a:gd fmla="val 60792" name="adj"/>
              </a:avLst>
            </a:prstGeom>
            <a:solidFill>
              <a:srgbClr val="C6D9F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206" name="Google Shape;206;p8"/>
            <p:cNvSpPr/>
            <p:nvPr/>
          </p:nvSpPr>
          <p:spPr>
            <a:xfrm rot="10800000">
              <a:off x="344060" y="565965"/>
              <a:ext cx="688120" cy="282982"/>
            </a:xfrm>
            <a:prstGeom prst="trapezoid">
              <a:avLst>
                <a:gd fmla="val 60792" name="adj"/>
              </a:avLst>
            </a:prstGeom>
            <a:solidFill>
              <a:srgbClr val="4F81B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208" name="Google Shape;208;p8"/>
            <p:cNvSpPr/>
            <p:nvPr/>
          </p:nvSpPr>
          <p:spPr>
            <a:xfrm rot="10800000">
              <a:off x="516090" y="848948"/>
              <a:ext cx="344060" cy="282982"/>
            </a:xfrm>
            <a:prstGeom prst="trapezoid">
              <a:avLst>
                <a:gd fmla="val 60792" name="adj"/>
              </a:avLst>
            </a:prstGeom>
            <a:solidFill>
              <a:srgbClr val="1F497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800"/>
                <a:buFont typeface="Arial"/>
                <a:buNone/>
              </a:pPr>
              <a:r>
                <a:rPr b="1" lang="ja-JP" sz="800">
                  <a:solidFill>
                    <a:schemeClr val="lt1"/>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210" name="Google Shape;210;p8"/>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pic>
        <p:nvPicPr>
          <p:cNvPr id="211" name="Google Shape;211;p8"/>
          <p:cNvPicPr preferRelativeResize="0"/>
          <p:nvPr/>
        </p:nvPicPr>
        <p:blipFill rotWithShape="1">
          <a:blip r:embed="rId4">
            <a:alphaModFix/>
          </a:blip>
          <a:srcRect b="0" l="0" r="0" t="0"/>
          <a:stretch/>
        </p:blipFill>
        <p:spPr>
          <a:xfrm>
            <a:off x="200472" y="2741240"/>
            <a:ext cx="9505056" cy="3588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9"/>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Meiryo"/>
                <a:ea typeface="Meiryo"/>
                <a:cs typeface="Meiryo"/>
                <a:sym typeface="Meiryo"/>
              </a:rPr>
              <a:t>対象業界</a:t>
            </a:r>
            <a:endParaRPr/>
          </a:p>
        </p:txBody>
      </p:sp>
      <p:sp>
        <p:nvSpPr>
          <p:cNvPr id="217" name="Google Shape;217;p9"/>
          <p:cNvSpPr/>
          <p:nvPr/>
        </p:nvSpPr>
        <p:spPr>
          <a:xfrm>
            <a:off x="756084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Meiryo"/>
                <a:ea typeface="Meiryo"/>
                <a:cs typeface="Meiryo"/>
                <a:sym typeface="Meiryo"/>
              </a:rPr>
              <a:t>その他</a:t>
            </a:r>
            <a:endParaRPr sz="1200">
              <a:solidFill>
                <a:schemeClr val="dk1"/>
              </a:solidFill>
              <a:latin typeface="Meiryo"/>
              <a:ea typeface="Meiryo"/>
              <a:cs typeface="Meiryo"/>
              <a:sym typeface="Meiryo"/>
            </a:endParaRPr>
          </a:p>
        </p:txBody>
      </p:sp>
      <p:sp>
        <p:nvSpPr>
          <p:cNvPr id="218" name="Google Shape;218;p9"/>
          <p:cNvSpPr/>
          <p:nvPr/>
        </p:nvSpPr>
        <p:spPr>
          <a:xfrm>
            <a:off x="6679050" y="730955"/>
            <a:ext cx="829618" cy="435690"/>
          </a:xfrm>
          <a:prstGeom prst="rect">
            <a:avLst/>
          </a:prstGeom>
          <a:solidFill>
            <a:srgbClr val="C6D9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オプション</a:t>
            </a:r>
            <a:endParaRPr sz="1000">
              <a:solidFill>
                <a:schemeClr val="dk1"/>
              </a:solidFill>
              <a:latin typeface="Meiryo"/>
              <a:ea typeface="Meiryo"/>
              <a:cs typeface="Meiryo"/>
              <a:sym typeface="Meiryo"/>
            </a:endParaRPr>
          </a:p>
          <a:p>
            <a:pPr indent="0" lvl="0" marL="0" marR="0" rtl="0" algn="ctr">
              <a:spcBef>
                <a:spcPts val="0"/>
              </a:spcBef>
              <a:spcAft>
                <a:spcPts val="0"/>
              </a:spcAft>
              <a:buNone/>
            </a:pPr>
            <a:r>
              <a:rPr lang="ja-JP" sz="1000">
                <a:solidFill>
                  <a:schemeClr val="dk1"/>
                </a:solidFill>
                <a:latin typeface="Meiryo"/>
                <a:ea typeface="Meiryo"/>
                <a:cs typeface="Meiryo"/>
                <a:sym typeface="Meiryo"/>
              </a:rPr>
              <a:t>商材</a:t>
            </a:r>
            <a:endParaRPr/>
          </a:p>
        </p:txBody>
      </p:sp>
      <p:sp>
        <p:nvSpPr>
          <p:cNvPr id="219" name="Google Shape;219;p9"/>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300">
                <a:solidFill>
                  <a:schemeClr val="dk1"/>
                </a:solidFill>
                <a:latin typeface="Meiryo"/>
                <a:ea typeface="Meiryo"/>
                <a:cs typeface="Meiryo"/>
                <a:sym typeface="Meiryo"/>
              </a:rPr>
              <a:t>全業種</a:t>
            </a:r>
            <a:endParaRPr/>
          </a:p>
        </p:txBody>
      </p:sp>
      <p:sp>
        <p:nvSpPr>
          <p:cNvPr id="220" name="Google Shape;220;p9"/>
          <p:cNvSpPr txBox="1"/>
          <p:nvPr/>
        </p:nvSpPr>
        <p:spPr>
          <a:xfrm>
            <a:off x="8473303" y="6597352"/>
            <a:ext cx="10326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800">
                <a:solidFill>
                  <a:schemeClr val="lt1"/>
                </a:solidFill>
                <a:latin typeface="Meiryo"/>
                <a:ea typeface="Meiryo"/>
                <a:cs typeface="Meiryo"/>
                <a:sym typeface="Meiryo"/>
              </a:rPr>
              <a:t>出典：代理店情報</a:t>
            </a:r>
            <a:endParaRPr/>
          </a:p>
        </p:txBody>
      </p:sp>
      <p:sp>
        <p:nvSpPr>
          <p:cNvPr id="221" name="Google Shape;221;p9"/>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222" name="Google Shape;222;p9"/>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【LINEプロモーションスタンプ】OAブロック仕様変更後の実績共有</a:t>
            </a:r>
            <a:endParaRPr b="1" sz="1600">
              <a:solidFill>
                <a:srgbClr val="004DE6"/>
              </a:solidFill>
              <a:latin typeface="Meiryo"/>
              <a:ea typeface="Meiryo"/>
              <a:cs typeface="Meiryo"/>
              <a:sym typeface="Meiryo"/>
            </a:endParaRPr>
          </a:p>
        </p:txBody>
      </p:sp>
      <p:sp>
        <p:nvSpPr>
          <p:cNvPr id="223" name="Google Shape;223;p9"/>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lang="ja-JP" sz="1600">
                <a:solidFill>
                  <a:schemeClr val="dk1"/>
                </a:solidFill>
                <a:latin typeface="Meiryo"/>
                <a:ea typeface="Meiryo"/>
                <a:cs typeface="Meiryo"/>
                <a:sym typeface="Meiryo"/>
              </a:rPr>
              <a:t>    今後のアップデート情報</a:t>
            </a:r>
            <a:endParaRPr sz="1600">
              <a:solidFill>
                <a:schemeClr val="dk1"/>
              </a:solidFill>
              <a:latin typeface="Meiryo"/>
              <a:ea typeface="Meiryo"/>
              <a:cs typeface="Meiryo"/>
              <a:sym typeface="Meiryo"/>
            </a:endParaRPr>
          </a:p>
        </p:txBody>
      </p:sp>
      <p:sp>
        <p:nvSpPr>
          <p:cNvPr id="224" name="Google Shape;224;p9"/>
          <p:cNvSpPr/>
          <p:nvPr/>
        </p:nvSpPr>
        <p:spPr>
          <a:xfrm>
            <a:off x="579726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225" name="Google Shape;225;p9"/>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226" name="Google Shape;226;p9"/>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227" name="Google Shape;227;p9"/>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本機能リリース後の掲載開始案件では、2025年同月比で当日中ブロック率の低下が確認された。</a:t>
            </a:r>
            <a:br>
              <a:rPr b="1" lang="ja-JP" sz="1200">
                <a:solidFill>
                  <a:schemeClr val="dk1"/>
                </a:solidFill>
                <a:latin typeface="Meiryo"/>
                <a:ea typeface="Meiryo"/>
                <a:cs typeface="Meiryo"/>
                <a:sym typeface="Meiryo"/>
              </a:rPr>
            </a:br>
            <a:r>
              <a:rPr b="1" lang="ja-JP" sz="1200">
                <a:solidFill>
                  <a:schemeClr val="dk1"/>
                </a:solidFill>
                <a:latin typeface="Meiryo"/>
                <a:ea typeface="Meiryo"/>
                <a:cs typeface="Meiryo"/>
                <a:sym typeface="Meiryo"/>
              </a:rPr>
              <a:t>これにより、スタンプDL後の即時離脱を抑制し、</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広告主OAとの友だち関係を維持しやすくなることが期待できることが証明された。</a:t>
            </a:r>
            <a:endParaRPr b="1" sz="1400">
              <a:solidFill>
                <a:schemeClr val="dk1"/>
              </a:solidFill>
              <a:latin typeface="Meiryo"/>
              <a:ea typeface="Meiryo"/>
              <a:cs typeface="Meiryo"/>
              <a:sym typeface="Meiryo"/>
            </a:endParaRPr>
          </a:p>
        </p:txBody>
      </p:sp>
      <p:grpSp>
        <p:nvGrpSpPr>
          <p:cNvPr id="228" name="Google Shape;228;p9"/>
          <p:cNvGrpSpPr/>
          <p:nvPr/>
        </p:nvGrpSpPr>
        <p:grpSpPr>
          <a:xfrm>
            <a:off x="8473303" y="730955"/>
            <a:ext cx="1376241" cy="1131930"/>
            <a:chOff x="0" y="0"/>
            <a:chExt cx="1376241" cy="1131930"/>
          </a:xfrm>
        </p:grpSpPr>
        <p:sp>
          <p:nvSpPr>
            <p:cNvPr id="229" name="Google Shape;229;p9"/>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231" name="Google Shape;231;p9"/>
            <p:cNvSpPr/>
            <p:nvPr/>
          </p:nvSpPr>
          <p:spPr>
            <a:xfrm rot="10800000">
              <a:off x="172030" y="282982"/>
              <a:ext cx="1032180" cy="282982"/>
            </a:xfrm>
            <a:prstGeom prst="trapezoid">
              <a:avLst>
                <a:gd fmla="val 60792" name="adj"/>
              </a:avLst>
            </a:prstGeom>
            <a:solidFill>
              <a:srgbClr val="C6D9F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233" name="Google Shape;233;p9"/>
            <p:cNvSpPr/>
            <p:nvPr/>
          </p:nvSpPr>
          <p:spPr>
            <a:xfrm rot="10800000">
              <a:off x="344060" y="565965"/>
              <a:ext cx="688120" cy="282982"/>
            </a:xfrm>
            <a:prstGeom prst="trapezoid">
              <a:avLst>
                <a:gd fmla="val 60792" name="adj"/>
              </a:avLst>
            </a:prstGeom>
            <a:solidFill>
              <a:srgbClr val="4F81B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235" name="Google Shape;235;p9"/>
            <p:cNvSpPr/>
            <p:nvPr/>
          </p:nvSpPr>
          <p:spPr>
            <a:xfrm rot="10800000">
              <a:off x="516090" y="848948"/>
              <a:ext cx="344060" cy="282982"/>
            </a:xfrm>
            <a:prstGeom prst="trapezoid">
              <a:avLst>
                <a:gd fmla="val 60792" name="adj"/>
              </a:avLst>
            </a:prstGeom>
            <a:solidFill>
              <a:srgbClr val="1F497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800"/>
                <a:buFont typeface="Arial"/>
                <a:buNone/>
              </a:pPr>
              <a:r>
                <a:rPr b="1" lang="ja-JP" sz="800">
                  <a:solidFill>
                    <a:schemeClr val="lt1"/>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237" name="Google Shape;237;p9"/>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pic>
        <p:nvPicPr>
          <p:cNvPr id="238" name="Google Shape;238;p9"/>
          <p:cNvPicPr preferRelativeResize="0"/>
          <p:nvPr/>
        </p:nvPicPr>
        <p:blipFill rotWithShape="1">
          <a:blip r:embed="rId4">
            <a:alphaModFix/>
          </a:blip>
          <a:srcRect b="0" l="0" r="0" t="0"/>
          <a:stretch/>
        </p:blipFill>
        <p:spPr>
          <a:xfrm>
            <a:off x="213758" y="2688485"/>
            <a:ext cx="9478483" cy="37648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0"/>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Meiryo"/>
                <a:ea typeface="Meiryo"/>
                <a:cs typeface="Meiryo"/>
                <a:sym typeface="Meiryo"/>
              </a:rPr>
              <a:t>対象業界</a:t>
            </a:r>
            <a:endParaRPr/>
          </a:p>
        </p:txBody>
      </p:sp>
      <p:sp>
        <p:nvSpPr>
          <p:cNvPr id="244" name="Google Shape;244;p10"/>
          <p:cNvSpPr/>
          <p:nvPr/>
        </p:nvSpPr>
        <p:spPr>
          <a:xfrm>
            <a:off x="756084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Meiryo"/>
                <a:ea typeface="Meiryo"/>
                <a:cs typeface="Meiryo"/>
                <a:sym typeface="Meiryo"/>
              </a:rPr>
              <a:t>その他</a:t>
            </a:r>
            <a:endParaRPr sz="1200">
              <a:solidFill>
                <a:schemeClr val="dk1"/>
              </a:solidFill>
              <a:latin typeface="Meiryo"/>
              <a:ea typeface="Meiryo"/>
              <a:cs typeface="Meiryo"/>
              <a:sym typeface="Meiryo"/>
            </a:endParaRPr>
          </a:p>
        </p:txBody>
      </p:sp>
      <p:sp>
        <p:nvSpPr>
          <p:cNvPr id="245" name="Google Shape;245;p10"/>
          <p:cNvSpPr/>
          <p:nvPr/>
        </p:nvSpPr>
        <p:spPr>
          <a:xfrm>
            <a:off x="6679050" y="730955"/>
            <a:ext cx="829618" cy="435690"/>
          </a:xfrm>
          <a:prstGeom prst="rect">
            <a:avLst/>
          </a:prstGeom>
          <a:solidFill>
            <a:srgbClr val="C6D9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オプション</a:t>
            </a:r>
            <a:endParaRPr sz="1000">
              <a:solidFill>
                <a:schemeClr val="dk1"/>
              </a:solidFill>
              <a:latin typeface="Meiryo"/>
              <a:ea typeface="Meiryo"/>
              <a:cs typeface="Meiryo"/>
              <a:sym typeface="Meiryo"/>
            </a:endParaRPr>
          </a:p>
          <a:p>
            <a:pPr indent="0" lvl="0" marL="0" marR="0" rtl="0" algn="ctr">
              <a:spcBef>
                <a:spcPts val="0"/>
              </a:spcBef>
              <a:spcAft>
                <a:spcPts val="0"/>
              </a:spcAft>
              <a:buNone/>
            </a:pPr>
            <a:r>
              <a:rPr lang="ja-JP" sz="1000">
                <a:solidFill>
                  <a:schemeClr val="dk1"/>
                </a:solidFill>
                <a:latin typeface="Meiryo"/>
                <a:ea typeface="Meiryo"/>
                <a:cs typeface="Meiryo"/>
                <a:sym typeface="Meiryo"/>
              </a:rPr>
              <a:t>商材</a:t>
            </a:r>
            <a:endParaRPr/>
          </a:p>
        </p:txBody>
      </p:sp>
      <p:sp>
        <p:nvSpPr>
          <p:cNvPr id="246" name="Google Shape;246;p10"/>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300">
                <a:solidFill>
                  <a:schemeClr val="dk1"/>
                </a:solidFill>
                <a:latin typeface="Meiryo"/>
                <a:ea typeface="Meiryo"/>
                <a:cs typeface="Meiryo"/>
                <a:sym typeface="Meiryo"/>
              </a:rPr>
              <a:t>全業種</a:t>
            </a:r>
            <a:endParaRPr/>
          </a:p>
        </p:txBody>
      </p:sp>
      <p:sp>
        <p:nvSpPr>
          <p:cNvPr id="247" name="Google Shape;247;p10"/>
          <p:cNvSpPr txBox="1"/>
          <p:nvPr/>
        </p:nvSpPr>
        <p:spPr>
          <a:xfrm>
            <a:off x="8473303" y="6597352"/>
            <a:ext cx="10326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800">
                <a:solidFill>
                  <a:schemeClr val="lt1"/>
                </a:solidFill>
                <a:latin typeface="Meiryo"/>
                <a:ea typeface="Meiryo"/>
                <a:cs typeface="Meiryo"/>
                <a:sym typeface="Meiryo"/>
              </a:rPr>
              <a:t>出典：代理店情報</a:t>
            </a:r>
            <a:endParaRPr/>
          </a:p>
        </p:txBody>
      </p:sp>
      <p:sp>
        <p:nvSpPr>
          <p:cNvPr id="248" name="Google Shape;248;p10"/>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249" name="Google Shape;249;p10"/>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【LINEプロモーションスタンプ】OAブロック仕様変更後の実績共有</a:t>
            </a:r>
            <a:endParaRPr b="1" sz="1600">
              <a:solidFill>
                <a:srgbClr val="004DE6"/>
              </a:solidFill>
              <a:latin typeface="Meiryo"/>
              <a:ea typeface="Meiryo"/>
              <a:cs typeface="Meiryo"/>
              <a:sym typeface="Meiryo"/>
            </a:endParaRPr>
          </a:p>
        </p:txBody>
      </p:sp>
      <p:sp>
        <p:nvSpPr>
          <p:cNvPr id="250" name="Google Shape;250;p10"/>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lang="ja-JP" sz="1600">
                <a:solidFill>
                  <a:schemeClr val="dk1"/>
                </a:solidFill>
                <a:latin typeface="Meiryo"/>
                <a:ea typeface="Meiryo"/>
                <a:cs typeface="Meiryo"/>
                <a:sym typeface="Meiryo"/>
              </a:rPr>
              <a:t>    今後のアップデート情報</a:t>
            </a:r>
            <a:endParaRPr sz="1600">
              <a:solidFill>
                <a:schemeClr val="dk1"/>
              </a:solidFill>
              <a:latin typeface="Meiryo"/>
              <a:ea typeface="Meiryo"/>
              <a:cs typeface="Meiryo"/>
              <a:sym typeface="Meiryo"/>
            </a:endParaRPr>
          </a:p>
        </p:txBody>
      </p:sp>
      <p:sp>
        <p:nvSpPr>
          <p:cNvPr id="251" name="Google Shape;251;p10"/>
          <p:cNvSpPr/>
          <p:nvPr/>
        </p:nvSpPr>
        <p:spPr>
          <a:xfrm>
            <a:off x="579726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252" name="Google Shape;252;p10"/>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253" name="Google Shape;253;p10"/>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254" name="Google Shape;254;p10"/>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本機能リリース後の掲載開始案件では、2025年同月比で当日中ブロック率の低下が確認された。</a:t>
            </a:r>
            <a:br>
              <a:rPr b="1" lang="ja-JP" sz="1200">
                <a:solidFill>
                  <a:schemeClr val="dk1"/>
                </a:solidFill>
                <a:latin typeface="Meiryo"/>
                <a:ea typeface="Meiryo"/>
                <a:cs typeface="Meiryo"/>
                <a:sym typeface="Meiryo"/>
              </a:rPr>
            </a:br>
            <a:r>
              <a:rPr b="1" lang="ja-JP" sz="1200">
                <a:solidFill>
                  <a:schemeClr val="dk1"/>
                </a:solidFill>
                <a:latin typeface="Meiryo"/>
                <a:ea typeface="Meiryo"/>
                <a:cs typeface="Meiryo"/>
                <a:sym typeface="Meiryo"/>
              </a:rPr>
              <a:t>これにより、スタンプDL後の即時離脱を抑制し、</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広告主OAとの友だち関係を維持しやすくなることが期待できることが証明された。</a:t>
            </a:r>
            <a:endParaRPr b="1" sz="1400">
              <a:solidFill>
                <a:schemeClr val="dk1"/>
              </a:solidFill>
              <a:latin typeface="Meiryo"/>
              <a:ea typeface="Meiryo"/>
              <a:cs typeface="Meiryo"/>
              <a:sym typeface="Meiryo"/>
            </a:endParaRPr>
          </a:p>
        </p:txBody>
      </p:sp>
      <p:grpSp>
        <p:nvGrpSpPr>
          <p:cNvPr id="255" name="Google Shape;255;p10"/>
          <p:cNvGrpSpPr/>
          <p:nvPr/>
        </p:nvGrpSpPr>
        <p:grpSpPr>
          <a:xfrm>
            <a:off x="8473303" y="730955"/>
            <a:ext cx="1376241" cy="1131930"/>
            <a:chOff x="0" y="0"/>
            <a:chExt cx="1376241" cy="1131930"/>
          </a:xfrm>
        </p:grpSpPr>
        <p:sp>
          <p:nvSpPr>
            <p:cNvPr id="256" name="Google Shape;256;p10"/>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258" name="Google Shape;258;p10"/>
            <p:cNvSpPr/>
            <p:nvPr/>
          </p:nvSpPr>
          <p:spPr>
            <a:xfrm rot="10800000">
              <a:off x="172030" y="282982"/>
              <a:ext cx="1032180" cy="282982"/>
            </a:xfrm>
            <a:prstGeom prst="trapezoid">
              <a:avLst>
                <a:gd fmla="val 60792" name="adj"/>
              </a:avLst>
            </a:prstGeom>
            <a:solidFill>
              <a:srgbClr val="C6D9F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260" name="Google Shape;260;p10"/>
            <p:cNvSpPr/>
            <p:nvPr/>
          </p:nvSpPr>
          <p:spPr>
            <a:xfrm rot="10800000">
              <a:off x="344060" y="565965"/>
              <a:ext cx="688120" cy="282982"/>
            </a:xfrm>
            <a:prstGeom prst="trapezoid">
              <a:avLst>
                <a:gd fmla="val 60792" name="adj"/>
              </a:avLst>
            </a:prstGeom>
            <a:solidFill>
              <a:srgbClr val="4F81B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262" name="Google Shape;262;p10"/>
            <p:cNvSpPr/>
            <p:nvPr/>
          </p:nvSpPr>
          <p:spPr>
            <a:xfrm rot="10800000">
              <a:off x="516090" y="848948"/>
              <a:ext cx="344060" cy="282982"/>
            </a:xfrm>
            <a:prstGeom prst="trapezoid">
              <a:avLst>
                <a:gd fmla="val 60792" name="adj"/>
              </a:avLst>
            </a:prstGeom>
            <a:solidFill>
              <a:srgbClr val="1F497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800"/>
                <a:buFont typeface="Arial"/>
                <a:buNone/>
              </a:pPr>
              <a:r>
                <a:rPr b="1" lang="ja-JP" sz="800">
                  <a:solidFill>
                    <a:schemeClr val="lt1"/>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264" name="Google Shape;264;p10"/>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pic>
        <p:nvPicPr>
          <p:cNvPr id="265" name="Google Shape;265;p10"/>
          <p:cNvPicPr preferRelativeResize="0"/>
          <p:nvPr/>
        </p:nvPicPr>
        <p:blipFill rotWithShape="1">
          <a:blip r:embed="rId4">
            <a:alphaModFix/>
          </a:blip>
          <a:srcRect b="0" l="0" r="0" t="0"/>
          <a:stretch/>
        </p:blipFill>
        <p:spPr>
          <a:xfrm>
            <a:off x="292801" y="3052494"/>
            <a:ext cx="9305435" cy="274855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1"/>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Meiryo"/>
                <a:ea typeface="Meiryo"/>
                <a:cs typeface="Meiryo"/>
                <a:sym typeface="Meiryo"/>
              </a:rPr>
              <a:t>対象業界</a:t>
            </a:r>
            <a:endParaRPr/>
          </a:p>
        </p:txBody>
      </p:sp>
      <p:sp>
        <p:nvSpPr>
          <p:cNvPr id="271" name="Google Shape;271;p11"/>
          <p:cNvSpPr/>
          <p:nvPr/>
        </p:nvSpPr>
        <p:spPr>
          <a:xfrm>
            <a:off x="756084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Meiryo"/>
                <a:ea typeface="Meiryo"/>
                <a:cs typeface="Meiryo"/>
                <a:sym typeface="Meiryo"/>
              </a:rPr>
              <a:t>その他</a:t>
            </a:r>
            <a:endParaRPr sz="1200">
              <a:solidFill>
                <a:schemeClr val="dk1"/>
              </a:solidFill>
              <a:latin typeface="Meiryo"/>
              <a:ea typeface="Meiryo"/>
              <a:cs typeface="Meiryo"/>
              <a:sym typeface="Meiryo"/>
            </a:endParaRPr>
          </a:p>
        </p:txBody>
      </p:sp>
      <p:sp>
        <p:nvSpPr>
          <p:cNvPr id="272" name="Google Shape;272;p11"/>
          <p:cNvSpPr/>
          <p:nvPr/>
        </p:nvSpPr>
        <p:spPr>
          <a:xfrm>
            <a:off x="6679050" y="730955"/>
            <a:ext cx="829618" cy="435690"/>
          </a:xfrm>
          <a:prstGeom prst="rect">
            <a:avLst/>
          </a:prstGeom>
          <a:solidFill>
            <a:srgbClr val="C6D9F1"/>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オプション</a:t>
            </a:r>
            <a:endParaRPr sz="1000">
              <a:solidFill>
                <a:schemeClr val="dk1"/>
              </a:solidFill>
              <a:latin typeface="Meiryo"/>
              <a:ea typeface="Meiryo"/>
              <a:cs typeface="Meiryo"/>
              <a:sym typeface="Meiryo"/>
            </a:endParaRPr>
          </a:p>
          <a:p>
            <a:pPr indent="0" lvl="0" marL="0" marR="0" rtl="0" algn="ctr">
              <a:spcBef>
                <a:spcPts val="0"/>
              </a:spcBef>
              <a:spcAft>
                <a:spcPts val="0"/>
              </a:spcAft>
              <a:buNone/>
            </a:pPr>
            <a:r>
              <a:rPr lang="ja-JP" sz="1000">
                <a:solidFill>
                  <a:schemeClr val="dk1"/>
                </a:solidFill>
                <a:latin typeface="Meiryo"/>
                <a:ea typeface="Meiryo"/>
                <a:cs typeface="Meiryo"/>
                <a:sym typeface="Meiryo"/>
              </a:rPr>
              <a:t>商材</a:t>
            </a:r>
            <a:endParaRPr/>
          </a:p>
        </p:txBody>
      </p:sp>
      <p:sp>
        <p:nvSpPr>
          <p:cNvPr id="273" name="Google Shape;273;p11"/>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300">
                <a:solidFill>
                  <a:schemeClr val="dk1"/>
                </a:solidFill>
                <a:latin typeface="Meiryo"/>
                <a:ea typeface="Meiryo"/>
                <a:cs typeface="Meiryo"/>
                <a:sym typeface="Meiryo"/>
              </a:rPr>
              <a:t>全業種</a:t>
            </a:r>
            <a:endParaRPr/>
          </a:p>
        </p:txBody>
      </p:sp>
      <p:sp>
        <p:nvSpPr>
          <p:cNvPr id="274" name="Google Shape;274;p11"/>
          <p:cNvSpPr txBox="1"/>
          <p:nvPr/>
        </p:nvSpPr>
        <p:spPr>
          <a:xfrm>
            <a:off x="8473303" y="6597352"/>
            <a:ext cx="10326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800">
                <a:solidFill>
                  <a:schemeClr val="lt1"/>
                </a:solidFill>
                <a:latin typeface="Meiryo"/>
                <a:ea typeface="Meiryo"/>
                <a:cs typeface="Meiryo"/>
                <a:sym typeface="Meiryo"/>
              </a:rPr>
              <a:t>出典：代理店情報</a:t>
            </a:r>
            <a:endParaRPr/>
          </a:p>
        </p:txBody>
      </p:sp>
      <p:sp>
        <p:nvSpPr>
          <p:cNvPr id="275" name="Google Shape;275;p11"/>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Meiryo"/>
                <a:ea typeface="Meiryo"/>
                <a:cs typeface="Meiryo"/>
                <a:sym typeface="Meiryo"/>
              </a:rPr>
              <a:t>　　　　　　</a:t>
            </a:r>
            <a:endParaRPr b="1" sz="1800">
              <a:solidFill>
                <a:srgbClr val="004DE6"/>
              </a:solidFill>
              <a:latin typeface="Meiryo"/>
              <a:ea typeface="Meiryo"/>
              <a:cs typeface="Meiryo"/>
              <a:sym typeface="Meiryo"/>
            </a:endParaRPr>
          </a:p>
        </p:txBody>
      </p:sp>
      <p:sp>
        <p:nvSpPr>
          <p:cNvPr id="276" name="Google Shape;276;p11"/>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Meiryo"/>
                <a:ea typeface="Meiryo"/>
                <a:cs typeface="Meiryo"/>
                <a:sym typeface="Meiryo"/>
              </a:rPr>
              <a:t>【LINEプロモーションスタンプ】OAブロック仕様変更後の実績共有</a:t>
            </a:r>
            <a:endParaRPr b="1" sz="1600">
              <a:solidFill>
                <a:srgbClr val="004DE6"/>
              </a:solidFill>
              <a:latin typeface="Meiryo"/>
              <a:ea typeface="Meiryo"/>
              <a:cs typeface="Meiryo"/>
              <a:sym typeface="Meiryo"/>
            </a:endParaRPr>
          </a:p>
        </p:txBody>
      </p:sp>
      <p:sp>
        <p:nvSpPr>
          <p:cNvPr id="277" name="Google Shape;277;p11"/>
          <p:cNvSpPr txBox="1"/>
          <p:nvPr/>
        </p:nvSpPr>
        <p:spPr>
          <a:xfrm>
            <a:off x="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lang="ja-JP" sz="1600">
                <a:solidFill>
                  <a:schemeClr val="dk1"/>
                </a:solidFill>
                <a:latin typeface="Meiryo"/>
                <a:ea typeface="Meiryo"/>
                <a:cs typeface="Meiryo"/>
                <a:sym typeface="Meiryo"/>
              </a:rPr>
              <a:t>    今後のアップデート情報</a:t>
            </a:r>
            <a:endParaRPr sz="1600">
              <a:solidFill>
                <a:schemeClr val="dk1"/>
              </a:solidFill>
              <a:latin typeface="Meiryo"/>
              <a:ea typeface="Meiryo"/>
              <a:cs typeface="Meiryo"/>
              <a:sym typeface="Meiryo"/>
            </a:endParaRPr>
          </a:p>
        </p:txBody>
      </p:sp>
      <p:sp>
        <p:nvSpPr>
          <p:cNvPr id="278" name="Google Shape;278;p11"/>
          <p:cNvSpPr/>
          <p:nvPr/>
        </p:nvSpPr>
        <p:spPr>
          <a:xfrm>
            <a:off x="5797260" y="730955"/>
            <a:ext cx="829618" cy="435690"/>
          </a:xfrm>
          <a:prstGeom prst="rect">
            <a:avLst/>
          </a:prstGeom>
          <a:no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Meiryo"/>
                <a:ea typeface="Meiryo"/>
                <a:cs typeface="Meiryo"/>
                <a:sym typeface="Meiryo"/>
              </a:rPr>
              <a:t>LINE API</a:t>
            </a:r>
            <a:endParaRPr sz="1000">
              <a:solidFill>
                <a:schemeClr val="dk1"/>
              </a:solidFill>
              <a:latin typeface="Meiryo"/>
              <a:ea typeface="Meiryo"/>
              <a:cs typeface="Meiryo"/>
              <a:sym typeface="Meiryo"/>
            </a:endParaRPr>
          </a:p>
        </p:txBody>
      </p:sp>
      <p:sp>
        <p:nvSpPr>
          <p:cNvPr id="279" name="Google Shape;279;p11"/>
          <p:cNvSpPr/>
          <p:nvPr/>
        </p:nvSpPr>
        <p:spPr>
          <a:xfrm>
            <a:off x="4915470" y="730955"/>
            <a:ext cx="829618" cy="435690"/>
          </a:xfrm>
          <a:prstGeom prst="rect">
            <a:avLst/>
          </a:prstGeom>
          <a:solidFill>
            <a:schemeClr val="lt1"/>
          </a:solidFill>
          <a:ln cap="flat" cmpd="sng" w="9525">
            <a:solidFill>
              <a:srgbClr val="4F81BD"/>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Meiryo"/>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280" name="Google Shape;280;p11"/>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Meiryo"/>
              <a:ea typeface="Meiryo"/>
              <a:cs typeface="Meiryo"/>
              <a:sym typeface="Meiryo"/>
            </a:endParaRPr>
          </a:p>
        </p:txBody>
      </p:sp>
      <p:sp>
        <p:nvSpPr>
          <p:cNvPr id="281" name="Google Shape;281;p11"/>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Meiryo"/>
                <a:ea typeface="Meiryo"/>
                <a:cs typeface="Meiryo"/>
                <a:sym typeface="Meiryo"/>
              </a:rPr>
              <a:t>本機能リリース後の掲載開始案件では、2025年同月比で当日中ブロック率の低下が確認された。</a:t>
            </a:r>
            <a:br>
              <a:rPr b="1" lang="ja-JP" sz="1200">
                <a:solidFill>
                  <a:schemeClr val="dk1"/>
                </a:solidFill>
                <a:latin typeface="Meiryo"/>
                <a:ea typeface="Meiryo"/>
                <a:cs typeface="Meiryo"/>
                <a:sym typeface="Meiryo"/>
              </a:rPr>
            </a:br>
            <a:r>
              <a:rPr b="1" lang="ja-JP" sz="1200">
                <a:solidFill>
                  <a:schemeClr val="dk1"/>
                </a:solidFill>
                <a:latin typeface="Meiryo"/>
                <a:ea typeface="Meiryo"/>
                <a:cs typeface="Meiryo"/>
                <a:sym typeface="Meiryo"/>
              </a:rPr>
              <a:t>これにより、スタンプDL後の即時離脱を抑制し、</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Meiryo"/>
                <a:ea typeface="Meiryo"/>
                <a:cs typeface="Meiryo"/>
                <a:sym typeface="Meiryo"/>
              </a:rPr>
              <a:t>広告主OAとの友だち関係を維持しやすくなることが期待できることが証明された。</a:t>
            </a:r>
            <a:endParaRPr b="1" sz="1400">
              <a:solidFill>
                <a:schemeClr val="dk1"/>
              </a:solidFill>
              <a:latin typeface="Meiryo"/>
              <a:ea typeface="Meiryo"/>
              <a:cs typeface="Meiryo"/>
              <a:sym typeface="Meiryo"/>
            </a:endParaRPr>
          </a:p>
        </p:txBody>
      </p:sp>
      <p:grpSp>
        <p:nvGrpSpPr>
          <p:cNvPr id="282" name="Google Shape;282;p11"/>
          <p:cNvGrpSpPr/>
          <p:nvPr/>
        </p:nvGrpSpPr>
        <p:grpSpPr>
          <a:xfrm>
            <a:off x="8473303" y="730955"/>
            <a:ext cx="1376241" cy="1131930"/>
            <a:chOff x="0" y="0"/>
            <a:chExt cx="1376241" cy="1131930"/>
          </a:xfrm>
        </p:grpSpPr>
        <p:sp>
          <p:nvSpPr>
            <p:cNvPr id="283" name="Google Shape;283;p11"/>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285" name="Google Shape;285;p11"/>
            <p:cNvSpPr/>
            <p:nvPr/>
          </p:nvSpPr>
          <p:spPr>
            <a:xfrm rot="10800000">
              <a:off x="172030" y="282982"/>
              <a:ext cx="1032180" cy="282982"/>
            </a:xfrm>
            <a:prstGeom prst="trapezoid">
              <a:avLst>
                <a:gd fmla="val 60792" name="adj"/>
              </a:avLst>
            </a:prstGeom>
            <a:solidFill>
              <a:srgbClr val="C6D9F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287" name="Google Shape;287;p11"/>
            <p:cNvSpPr/>
            <p:nvPr/>
          </p:nvSpPr>
          <p:spPr>
            <a:xfrm rot="10800000">
              <a:off x="344060" y="565965"/>
              <a:ext cx="688120" cy="282982"/>
            </a:xfrm>
            <a:prstGeom prst="trapezoid">
              <a:avLst>
                <a:gd fmla="val 60792" name="adj"/>
              </a:avLst>
            </a:prstGeom>
            <a:solidFill>
              <a:srgbClr val="4F81B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289" name="Google Shape;289;p11"/>
            <p:cNvSpPr/>
            <p:nvPr/>
          </p:nvSpPr>
          <p:spPr>
            <a:xfrm rot="10800000">
              <a:off x="516090" y="848948"/>
              <a:ext cx="344060" cy="282982"/>
            </a:xfrm>
            <a:prstGeom prst="trapezoid">
              <a:avLst>
                <a:gd fmla="val 60792" name="adj"/>
              </a:avLst>
            </a:prstGeom>
            <a:solidFill>
              <a:srgbClr val="1F497D"/>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800"/>
                <a:buFont typeface="Arial"/>
                <a:buNone/>
              </a:pPr>
              <a:r>
                <a:rPr b="1" lang="ja-JP" sz="800">
                  <a:solidFill>
                    <a:schemeClr val="lt1"/>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291" name="Google Shape;291;p11"/>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pic>
        <p:nvPicPr>
          <p:cNvPr id="292" name="Google Shape;292;p11"/>
          <p:cNvPicPr preferRelativeResize="0"/>
          <p:nvPr/>
        </p:nvPicPr>
        <p:blipFill rotWithShape="1">
          <a:blip r:embed="rId4">
            <a:alphaModFix/>
          </a:blip>
          <a:srcRect b="0" l="0" r="0" t="0"/>
          <a:stretch/>
        </p:blipFill>
        <p:spPr>
          <a:xfrm>
            <a:off x="54930" y="2738189"/>
            <a:ext cx="9721080" cy="36828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YMJAPA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2021-08-26T12:24:15Z</dcterms:created>
  <dc:creator>横田 澪央</dc:creator>
</cp:coreProperties>
</file>