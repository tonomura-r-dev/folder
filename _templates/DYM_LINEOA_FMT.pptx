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35" r:id="rId4"/>
    <p:sldId id="2956" r:id="rId5"/>
    <p:sldId id="2988" r:id="rId6"/>
    <p:sldId id="2972" r:id="rId7"/>
    <p:sldId id="2977" r:id="rId8"/>
    <p:sldId id="2974" r:id="rId9"/>
    <p:sldId id="2975" r:id="rId10"/>
    <p:sldId id="2979" r:id="rId11"/>
    <p:sldId id="2982" r:id="rId12"/>
    <p:sldId id="2736" r:id="rId13"/>
    <p:sldId id="2983" r:id="rId14"/>
    <p:sldId id="2984" r:id="rId15"/>
    <p:sldId id="2985" r:id="rId16"/>
    <p:sldId id="2986" r:id="rId17"/>
    <p:sldId id="2987" r:id="rId18"/>
    <p:sldId id="2908" r:id="rId19"/>
    <p:sldId id="2950" r:id="rId20"/>
    <p:sldId id="2762" r:id="rId21"/>
    <p:sldId id="2937" r:id="rId22"/>
    <p:sldId id="2939" r:id="rId23"/>
    <p:sldId id="2966" r:id="rId24"/>
    <p:sldId id="2962" r:id="rId25"/>
    <p:sldId id="2942" r:id="rId26"/>
    <p:sldId id="2941" r:id="rId27"/>
    <p:sldId id="2943" r:id="rId28"/>
    <p:sldId id="2944" r:id="rId29"/>
    <p:sldId id="2967" r:id="rId30"/>
    <p:sldId id="2946" r:id="rId31"/>
    <p:sldId id="2947" r:id="rId32"/>
    <p:sldId id="2948" r:id="rId33"/>
    <p:sldId id="2958" r:id="rId34"/>
    <p:sldId id="2954" r:id="rId35"/>
    <p:sldId id="2953" r:id="rId36"/>
    <p:sldId id="2955" r:id="rId37"/>
    <p:sldId id="1169" r:id="rId3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53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3.emf"/><Relationship Id="rId7"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22834" y="2565747"/>
            <a:ext cx="1826395" cy="603248"/>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56D3FA3C-F4ED-9DF1-7620-D677AB1A2177}"/>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59" name="テキスト ボックス 58">
            <a:extLst>
              <a:ext uri="{FF2B5EF4-FFF2-40B4-BE49-F238E27FC236}">
                <a16:creationId xmlns:a16="http://schemas.microsoft.com/office/drawing/2014/main" id="{BF3977E5-B33C-C6FC-10BA-8F52ECFB03CA}"/>
              </a:ext>
            </a:extLst>
          </p:cNvPr>
          <p:cNvSpPr txBox="1"/>
          <p:nvPr/>
        </p:nvSpPr>
        <p:spPr>
          <a:xfrm>
            <a:off x="3541822" y="405192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D6206F79-4BB4-7551-FF37-4057DB323042}"/>
              </a:ext>
            </a:extLst>
          </p:cNvPr>
          <p:cNvSpPr txBox="1"/>
          <p:nvPr/>
        </p:nvSpPr>
        <p:spPr>
          <a:xfrm>
            <a:off x="6119096" y="511069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2D803312-8977-E9CF-359E-78896D5177A7}"/>
              </a:ext>
            </a:extLst>
          </p:cNvPr>
          <p:cNvSpPr txBox="1"/>
          <p:nvPr/>
        </p:nvSpPr>
        <p:spPr>
          <a:xfrm>
            <a:off x="4830459" y="458131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EC4FAF12-FDAC-B48D-B571-CC028A01229C}"/>
              </a:ext>
            </a:extLst>
          </p:cNvPr>
          <p:cNvSpPr txBox="1"/>
          <p:nvPr/>
        </p:nvSpPr>
        <p:spPr>
          <a:xfrm>
            <a:off x="7408050" y="564008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69" name="テキスト ボックス 68">
            <a:extLst>
              <a:ext uri="{FF2B5EF4-FFF2-40B4-BE49-F238E27FC236}">
                <a16:creationId xmlns:a16="http://schemas.microsoft.com/office/drawing/2014/main" id="{78DCEB5B-FCE6-A4B7-134E-DC51AE101C96}"/>
              </a:ext>
            </a:extLst>
          </p:cNvPr>
          <p:cNvSpPr txBox="1"/>
          <p:nvPr/>
        </p:nvSpPr>
        <p:spPr>
          <a:xfrm>
            <a:off x="334303" y="352782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endParaRPr lang="en-US" altLang="ja-JP" sz="1100" b="1" dirty="0">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7489B5AC-E8EC-12A6-77B1-767D57C6C111}"/>
              </a:ext>
            </a:extLst>
          </p:cNvPr>
          <p:cNvSpPr txBox="1"/>
          <p:nvPr/>
        </p:nvSpPr>
        <p:spPr>
          <a:xfrm>
            <a:off x="1268358" y="405192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3C51428D-94BF-DEDC-89ED-6FC6DD5D8DDB}"/>
              </a:ext>
            </a:extLst>
          </p:cNvPr>
          <p:cNvSpPr txBox="1"/>
          <p:nvPr/>
        </p:nvSpPr>
        <p:spPr>
          <a:xfrm>
            <a:off x="2202413" y="4576028"/>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70A8450A-EBDB-52BF-A9C2-03CB7CC3C8E9}"/>
              </a:ext>
            </a:extLst>
          </p:cNvPr>
          <p:cNvSpPr txBox="1"/>
          <p:nvPr/>
        </p:nvSpPr>
        <p:spPr>
          <a:xfrm>
            <a:off x="3132447" y="5100131"/>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p>
        </p:txBody>
      </p:sp>
    </p:spTree>
    <p:extLst>
      <p:ext uri="{BB962C8B-B14F-4D97-AF65-F5344CB8AC3E}">
        <p14:creationId xmlns:p14="http://schemas.microsoft.com/office/powerpoint/2010/main" val="35094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〇〇業界では、</a:t>
            </a:r>
            <a:r>
              <a:rPr lang="en-US" altLang="ja-JP" sz="1400" dirty="0">
                <a:solidFill>
                  <a:srgbClr val="343434"/>
                </a:solidFill>
                <a:latin typeface="メイリオ" panose="020B0604030504040204" pitchFamily="50" charset="-128"/>
                <a:ea typeface="メイリオ" panose="020B0604030504040204" pitchFamily="50" charset="-128"/>
              </a:rPr>
              <a:t>CPC</a:t>
            </a:r>
            <a:r>
              <a:rPr lang="ja-JP" altLang="en-US" sz="1400" dirty="0">
                <a:solidFill>
                  <a:srgbClr val="343434"/>
                </a:solidFill>
                <a:latin typeface="メイリオ" panose="020B0604030504040204" pitchFamily="50" charset="-128"/>
                <a:ea typeface="メイリオ" panose="020B0604030504040204" pitchFamily="50" charset="-128"/>
              </a:rPr>
              <a:t>にて３年で◯</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程度の上昇が見られる。</a:t>
            </a:r>
            <a:r>
              <a:rPr lang="en-US" altLang="ja-JP" sz="1400" dirty="0">
                <a:solidFill>
                  <a:srgbClr val="343434"/>
                </a:solidFill>
                <a:latin typeface="メイリオ" panose="020B0604030504040204" pitchFamily="50" charset="-128"/>
                <a:ea typeface="メイリオ" panose="020B0604030504040204" pitchFamily="50" charset="-128"/>
              </a:rPr>
              <a:t>※SNS</a:t>
            </a:r>
            <a:r>
              <a:rPr lang="ja-JP" altLang="en-US" sz="1400" dirty="0">
                <a:solidFill>
                  <a:srgbClr val="343434"/>
                </a:solidFill>
                <a:latin typeface="メイリオ" panose="020B0604030504040204" pitchFamily="50" charset="-128"/>
                <a:ea typeface="メイリオ" panose="020B0604030504040204" pitchFamily="50" charset="-128"/>
              </a:rPr>
              <a:t>も同様帯と想定</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→早期</a:t>
            </a:r>
            <a:r>
              <a:rPr lang="ja-JP" altLang="en-US" sz="1400" dirty="0">
                <a:solidFill>
                  <a:srgbClr val="FF0000"/>
                </a:solidFill>
                <a:latin typeface="メイリオ" panose="020B0604030504040204" pitchFamily="50" charset="-128"/>
                <a:ea typeface="メイリオ" panose="020B0604030504040204" pitchFamily="50" charset="-128"/>
              </a:rPr>
              <a:t>タッチポイントでのリード有効化</a:t>
            </a:r>
            <a:r>
              <a:rPr lang="ja-JP" altLang="en-US"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FF0000"/>
                </a:solidFill>
                <a:latin typeface="メイリオ" panose="020B0604030504040204" pitchFamily="50" charset="-128"/>
                <a:ea typeface="メイリオ" panose="020B0604030504040204" pitchFamily="50" charset="-128"/>
              </a:rPr>
              <a:t>施策全体における</a:t>
            </a:r>
            <a:r>
              <a:rPr lang="en-US" altLang="ja-JP" sz="1400" dirty="0">
                <a:solidFill>
                  <a:srgbClr val="FF0000"/>
                </a:solidFill>
                <a:latin typeface="メイリオ" panose="020B0604030504040204" pitchFamily="50" charset="-128"/>
                <a:ea typeface="メイリオ" panose="020B0604030504040204" pitchFamily="50" charset="-128"/>
              </a:rPr>
              <a:t>CVR</a:t>
            </a:r>
            <a:r>
              <a:rPr lang="ja-JP" altLang="en-US" sz="1400" dirty="0">
                <a:solidFill>
                  <a:srgbClr val="FF0000"/>
                </a:solidFill>
                <a:latin typeface="メイリオ" panose="020B0604030504040204" pitchFamily="50" charset="-128"/>
                <a:ea typeface="メイリオ" panose="020B0604030504040204" pitchFamily="50" charset="-128"/>
              </a:rPr>
              <a:t>改善</a:t>
            </a:r>
            <a:r>
              <a:rPr lang="ja-JP" altLang="en-US" sz="1400" dirty="0">
                <a:solidFill>
                  <a:srgbClr val="343434"/>
                </a:solidFill>
                <a:latin typeface="メイリオ" panose="020B0604030504040204" pitchFamily="50" charset="-128"/>
                <a:ea typeface="メイリオ" panose="020B0604030504040204" pitchFamily="50" charset="-128"/>
              </a:rPr>
              <a:t>の２点が非常に重要度として高い状態。</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741470"/>
            <a:ext cx="5512524" cy="530915"/>
          </a:xfrm>
          <a:prstGeom prst="rect">
            <a:avLst/>
          </a:prstGeom>
          <a:noFill/>
        </p:spPr>
        <p:txBody>
          <a:bodyPr wrap="square">
            <a:spAutoFit/>
          </a:bodyPr>
          <a:lstStyle/>
          <a:p>
            <a:r>
              <a:rPr lang="ja-JP" altLang="en-US" sz="105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050" b="1" i="0" dirty="0">
                <a:solidFill>
                  <a:srgbClr val="525860"/>
                </a:solidFill>
                <a:effectLst/>
                <a:latin typeface="メイリオ" panose="020B0604030504040204" pitchFamily="50" charset="-128"/>
                <a:ea typeface="メイリオ" panose="020B0604030504040204" pitchFamily="50" charset="-128"/>
              </a:rPr>
              <a:t>CPC</a:t>
            </a:r>
            <a:r>
              <a:rPr lang="ja-JP" altLang="en-US" sz="1050" b="1" i="0" dirty="0">
                <a:solidFill>
                  <a:srgbClr val="525860"/>
                </a:solidFill>
                <a:effectLst/>
                <a:latin typeface="メイリオ" panose="020B0604030504040204" pitchFamily="50" charset="-128"/>
                <a:ea typeface="メイリオ" panose="020B0604030504040204" pitchFamily="50" charset="-128"/>
              </a:rPr>
              <a:t>の推移</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18759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6AC72BA-0FDB-65F6-F7C5-C7F7CBB66E3E}"/>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〇〇業界においても、マーケティング支援実績もあり、</a:t>
            </a:r>
            <a:r>
              <a:rPr lang="en-US" altLang="ja-JP" sz="1400" dirty="0">
                <a:solidFill>
                  <a:srgbClr val="343434"/>
                </a:solidFill>
                <a:latin typeface="メイリオ" panose="020B0604030504040204" pitchFamily="50" charset="-128"/>
                <a:ea typeface="メイリオ" panose="020B0604030504040204" pitchFamily="50" charset="-128"/>
              </a:rPr>
              <a:t>CVR</a:t>
            </a:r>
            <a:r>
              <a:rPr lang="ja-JP" altLang="en-US" sz="1400" dirty="0">
                <a:solidFill>
                  <a:srgbClr val="343434"/>
                </a:solidFill>
                <a:latin typeface="メイリオ" panose="020B0604030504040204" pitchFamily="50" charset="-128"/>
                <a:ea typeface="メイリオ" panose="020B0604030504040204" pitchFamily="50" charset="-128"/>
              </a:rPr>
              <a:t>：◎</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と高い成約率を誇る。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掲載実績を踏まえて、</a:t>
            </a:r>
            <a:r>
              <a:rPr lang="ja-JP" altLang="en-US" sz="1400" b="1" dirty="0">
                <a:solidFill>
                  <a:srgbClr val="343434"/>
                </a:solidFill>
                <a:latin typeface="メイリオ" panose="020B0604030504040204" pitchFamily="50" charset="-128"/>
                <a:ea typeface="メイリオ" panose="020B0604030504040204" pitchFamily="50" charset="-128"/>
              </a:rPr>
              <a:t>配信コンテンツの出し分け等を行い、</a:t>
            </a:r>
            <a:r>
              <a:rPr lang="en-US" altLang="ja-JP" sz="1400" b="1" dirty="0">
                <a:solidFill>
                  <a:srgbClr val="343434"/>
                </a:solidFill>
                <a:latin typeface="メイリオ" panose="020B0604030504040204" pitchFamily="50" charset="-128"/>
                <a:ea typeface="メイリオ" panose="020B0604030504040204" pitchFamily="50" charset="-128"/>
              </a:rPr>
              <a:t>LINE</a:t>
            </a:r>
            <a:r>
              <a:rPr lang="ja-JP" altLang="en-US" sz="1400" b="1" dirty="0">
                <a:solidFill>
                  <a:srgbClr val="343434"/>
                </a:solidFill>
                <a:latin typeface="メイリオ" panose="020B0604030504040204" pitchFamily="50" charset="-128"/>
                <a:ea typeface="メイリオ" panose="020B0604030504040204" pitchFamily="50" charset="-128"/>
              </a:rPr>
              <a:t>施策から高</a:t>
            </a:r>
            <a:r>
              <a:rPr lang="en-US" altLang="ja-JP" sz="1400" b="1" dirty="0">
                <a:solidFill>
                  <a:srgbClr val="343434"/>
                </a:solidFill>
                <a:latin typeface="メイリオ" panose="020B0604030504040204" pitchFamily="50" charset="-128"/>
                <a:ea typeface="メイリオ" panose="020B0604030504040204" pitchFamily="50" charset="-128"/>
              </a:rPr>
              <a:t>CVR</a:t>
            </a:r>
            <a:r>
              <a:rPr lang="ja-JP" altLang="en-US" sz="1400" b="1" dirty="0">
                <a:solidFill>
                  <a:srgbClr val="343434"/>
                </a:solidFill>
                <a:latin typeface="メイリオ" panose="020B0604030504040204" pitchFamily="50" charset="-128"/>
                <a:ea typeface="メイリオ" panose="020B0604030504040204" pitchFamily="50" charset="-128"/>
              </a:rPr>
              <a:t>が見込める動線・</a:t>
            </a:r>
            <a:r>
              <a:rPr lang="en-US" altLang="ja-JP" sz="1400" b="1" dirty="0">
                <a:solidFill>
                  <a:srgbClr val="343434"/>
                </a:solidFill>
                <a:latin typeface="メイリオ" panose="020B0604030504040204" pitchFamily="50" charset="-128"/>
                <a:ea typeface="メイリオ" panose="020B0604030504040204" pitchFamily="50" charset="-128"/>
              </a:rPr>
              <a:t>CR</a:t>
            </a:r>
            <a:r>
              <a:rPr lang="ja-JP" altLang="en-US" sz="1400" dirty="0">
                <a:solidFill>
                  <a:srgbClr val="343434"/>
                </a:solidFill>
                <a:latin typeface="メイリオ" panose="020B0604030504040204" pitchFamily="50" charset="-128"/>
                <a:ea typeface="メイリオ" panose="020B0604030504040204" pitchFamily="50" charset="-128"/>
              </a:rPr>
              <a:t>を設計。</a:t>
            </a:r>
          </a:p>
        </p:txBody>
      </p:sp>
      <p:cxnSp>
        <p:nvCxnSpPr>
          <p:cNvPr id="5" name="直線コネクタ 4">
            <a:extLst>
              <a:ext uri="{FF2B5EF4-FFF2-40B4-BE49-F238E27FC236}">
                <a16:creationId xmlns:a16="http://schemas.microsoft.com/office/drawing/2014/main" id="{CC8BBE82-7A1B-2AA4-680B-9A59DF463243}"/>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90" name="Text 22">
            <a:extLst>
              <a:ext uri="{FF2B5EF4-FFF2-40B4-BE49-F238E27FC236}">
                <a16:creationId xmlns:a16="http://schemas.microsoft.com/office/drawing/2014/main" id="{1389A796-B845-887E-D54B-16DCC75361E0}"/>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A66A2D24-D49A-2FD7-CA11-EF7C8D631F70}"/>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051870B5-8B63-8F32-9E3E-2906547978E5}"/>
              </a:ext>
            </a:extLst>
          </p:cNvPr>
          <p:cNvSpPr txBox="1"/>
          <p:nvPr/>
        </p:nvSpPr>
        <p:spPr>
          <a:xfrm>
            <a:off x="422366" y="1741470"/>
            <a:ext cx="5512524" cy="530915"/>
          </a:xfrm>
          <a:prstGeom prst="rect">
            <a:avLst/>
          </a:prstGeom>
          <a:no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　広告実績CVR（CV地点記載）</a:t>
            </a:r>
            <a:br>
              <a:rPr lang="ja-JP" altLang="ja-JP" b="1" dirty="0">
                <a:latin typeface="メイリオ" panose="020B0604030504040204" pitchFamily="50" charset="-128"/>
                <a:ea typeface="メイリオ" panose="020B0604030504040204" pitchFamily="50" charset="-128"/>
              </a:rPr>
            </a:b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6647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ニーズ調査（シーズナリティ）</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57006A34-E0FD-C2ED-2162-46ECD9FAEE3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pic>
        <p:nvPicPr>
          <p:cNvPr id="6" name="図 5">
            <a:extLst>
              <a:ext uri="{FF2B5EF4-FFF2-40B4-BE49-F238E27FC236}">
                <a16:creationId xmlns:a16="http://schemas.microsoft.com/office/drawing/2014/main" id="{2405470D-5A55-DFE2-B198-5F19F529291F}"/>
              </a:ext>
            </a:extLst>
          </p:cNvPr>
          <p:cNvPicPr>
            <a:picLocks noChangeAspect="1"/>
          </p:cNvPicPr>
          <p:nvPr/>
        </p:nvPicPr>
        <p:blipFill>
          <a:blip r:embed="rId3"/>
          <a:stretch>
            <a:fillRect/>
          </a:stretch>
        </p:blipFill>
        <p:spPr>
          <a:xfrm>
            <a:off x="313835" y="1639783"/>
            <a:ext cx="9278330" cy="3578433"/>
          </a:xfrm>
          <a:prstGeom prst="rect">
            <a:avLst/>
          </a:prstGeom>
        </p:spPr>
      </p:pic>
      <p:sp>
        <p:nvSpPr>
          <p:cNvPr id="8" name="テキスト ボックス 7">
            <a:extLst>
              <a:ext uri="{FF2B5EF4-FFF2-40B4-BE49-F238E27FC236}">
                <a16:creationId xmlns:a16="http://schemas.microsoft.com/office/drawing/2014/main" id="{AB3D5176-7A86-8B1D-B537-7482C61F2830}"/>
              </a:ext>
            </a:extLst>
          </p:cNvPr>
          <p:cNvSpPr txBox="1"/>
          <p:nvPr/>
        </p:nvSpPr>
        <p:spPr>
          <a:xfrm>
            <a:off x="8133806" y="5351907"/>
            <a:ext cx="1458360" cy="2308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※Google</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トレンドより</a:t>
            </a:r>
            <a:endParaRPr lang="ja-JP" altLang="en-US" sz="1400" dirty="0">
              <a:solidFill>
                <a:schemeClr val="bg1">
                  <a:lumMod val="65000"/>
                </a:schemeClr>
              </a:solidFill>
            </a:endParaRPr>
          </a:p>
        </p:txBody>
      </p:sp>
      <p:sp>
        <p:nvSpPr>
          <p:cNvPr id="14" name="四角形: 角を丸くする 13">
            <a:extLst>
              <a:ext uri="{FF2B5EF4-FFF2-40B4-BE49-F238E27FC236}">
                <a16:creationId xmlns:a16="http://schemas.microsoft.com/office/drawing/2014/main" id="{D323F0A8-C6A7-11B7-65F0-89F945072168}"/>
              </a:ext>
            </a:extLst>
          </p:cNvPr>
          <p:cNvSpPr/>
          <p:nvPr/>
        </p:nvSpPr>
        <p:spPr>
          <a:xfrm>
            <a:off x="5360126" y="558273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D0C6510-F442-F835-8CE7-1A4E8429F6DE}"/>
              </a:ext>
            </a:extLst>
          </p:cNvPr>
          <p:cNvSpPr/>
          <p:nvPr/>
        </p:nvSpPr>
        <p:spPr>
          <a:xfrm>
            <a:off x="5360126" y="5878820"/>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290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pic>
        <p:nvPicPr>
          <p:cNvPr id="8" name="図 7">
            <a:extLst>
              <a:ext uri="{FF2B5EF4-FFF2-40B4-BE49-F238E27FC236}">
                <a16:creationId xmlns:a16="http://schemas.microsoft.com/office/drawing/2014/main" id="{F198BAAF-D48E-0B2F-41CA-A6EA35529E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94525" y="1685711"/>
            <a:ext cx="7516950" cy="4384888"/>
          </a:xfrm>
          <a:prstGeom prst="rect">
            <a:avLst/>
          </a:prstGeom>
        </p:spPr>
      </p:pic>
      <p:sp>
        <p:nvSpPr>
          <p:cNvPr id="10" name="正方形/長方形 9">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あああ</a:t>
            </a:r>
          </a:p>
        </p:txBody>
      </p:sp>
      <p:sp>
        <p:nvSpPr>
          <p:cNvPr id="23" name="四角形: 角を丸くする 22">
            <a:extLst>
              <a:ext uri="{FF2B5EF4-FFF2-40B4-BE49-F238E27FC236}">
                <a16:creationId xmlns:a16="http://schemas.microsoft.com/office/drawing/2014/main" id="{BAA5D856-D29F-D5D5-02FA-EDC498C6E38D}"/>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7AE0C013-9D56-4624-074C-3992B047F4C0}"/>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7DD23ED8-F8D9-B1F4-5F5D-4E5FF69D1AE9}"/>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98C9DD1D-1D53-20B3-A201-30EC6D616E46}"/>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381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他社配信アカウント（業界</a:t>
            </a:r>
            <a:r>
              <a:rPr lang="en-US" altLang="ja-JP" sz="1600" b="1" dirty="0">
                <a:solidFill>
                  <a:srgbClr val="002060"/>
                </a:solidFill>
                <a:latin typeface="Meiryo"/>
                <a:ea typeface="Meiryo"/>
                <a:cs typeface="Meiryo"/>
                <a:sym typeface="Meiryo"/>
              </a:rPr>
              <a:t>TOP</a:t>
            </a:r>
            <a:r>
              <a:rPr lang="ja-JP" altLang="en-US" sz="1600" b="1" dirty="0">
                <a:solidFill>
                  <a:srgbClr val="002060"/>
                </a:solidFill>
                <a:latin typeface="Meiryo"/>
                <a:ea typeface="Meiryo"/>
                <a:cs typeface="Meiryo"/>
                <a:sym typeface="Meiryo"/>
              </a:rPr>
              <a:t>クラスだとよい）</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pic>
        <p:nvPicPr>
          <p:cNvPr id="35" name="図 34">
            <a:extLst>
              <a:ext uri="{FF2B5EF4-FFF2-40B4-BE49-F238E27FC236}">
                <a16:creationId xmlns:a16="http://schemas.microsoft.com/office/drawing/2014/main" id="{3FDD197B-3A43-7E8B-E261-FC7EE3F2BCB2}"/>
              </a:ext>
            </a:extLst>
          </p:cNvPr>
          <p:cNvPicPr>
            <a:picLocks noChangeAspect="1"/>
          </p:cNvPicPr>
          <p:nvPr/>
        </p:nvPicPr>
        <p:blipFill>
          <a:blip r:embed="rId3"/>
          <a:stretch>
            <a:fillRect/>
          </a:stretch>
        </p:blipFill>
        <p:spPr>
          <a:xfrm>
            <a:off x="548883" y="2013911"/>
            <a:ext cx="1538002" cy="3123817"/>
          </a:xfrm>
          <a:prstGeom prst="rect">
            <a:avLst/>
          </a:prstGeom>
        </p:spPr>
      </p:pic>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ああああああああああああああ</a:t>
            </a:r>
            <a:endParaRPr lang="en-US" altLang="ja-JP" sz="1050" dirty="0">
              <a:latin typeface="メイリオ" panose="020B0604030504040204" pitchFamily="50" charset="-128"/>
              <a:ea typeface="メイリオ" panose="020B0604030504040204" pitchFamily="50" charset="-128"/>
            </a:endParaRPr>
          </a:p>
          <a:p>
            <a:pPr algn="ct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注釈、コメントを記載</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ああああああああああああああ</a:t>
            </a:r>
            <a:endParaRPr lang="en-US" altLang="ja-JP" sz="1050" dirty="0">
              <a:latin typeface="メイリオ" panose="020B0604030504040204" pitchFamily="50" charset="-128"/>
              <a:ea typeface="メイリオ" panose="020B0604030504040204" pitchFamily="50" charset="-128"/>
            </a:endParaRPr>
          </a:p>
          <a:p>
            <a:pPr algn="ct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注釈、コメントを記載</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メイン流入元</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4753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ロゴ</a:t>
            </a:r>
            <a:endParaRPr lang="en-US" altLang="ja-JP" sz="1000" b="1"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すうじ</a:t>
            </a:r>
            <a:endParaRPr lang="en-US" altLang="ja-JP" sz="10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資料請求＜来場予約</a:t>
            </a:r>
            <a:endParaRPr lang="en-US" altLang="ja-JP" sz="1000" b="1" dirty="0">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Hp</a:t>
            </a:r>
            <a:r>
              <a:rPr lang="ja-JP" altLang="en-US" sz="1000" b="1" dirty="0">
                <a:latin typeface="メイリオ" panose="020B0604030504040204" pitchFamily="50" charset="-128"/>
                <a:ea typeface="メイリオ" panose="020B0604030504040204" pitchFamily="50" charset="-128"/>
              </a:rPr>
              <a:t>固定リンク</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有無</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なまえ</a:t>
            </a:r>
            <a:endParaRPr lang="en-US" altLang="ja-JP" sz="900" b="1" dirty="0">
              <a:latin typeface="メイリオ" panose="020B0604030504040204" pitchFamily="50" charset="-128"/>
              <a:ea typeface="メイリオ" panose="020B0604030504040204" pitchFamily="50" charset="-128"/>
            </a:endParaRP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すうじ</a:t>
            </a:r>
            <a:endParaRPr lang="en-US" altLang="ja-JP" sz="900" b="1" dirty="0">
              <a:latin typeface="メイリオ" panose="020B0604030504040204" pitchFamily="50" charset="-128"/>
              <a:ea typeface="メイリオ" panose="020B0604030504040204" pitchFamily="50" charset="-128"/>
            </a:endParaRP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a:t>
            </a:r>
            <a:endParaRPr lang="en-US" altLang="ja-JP" sz="900" b="1" dirty="0">
              <a:latin typeface="メイリオ" panose="020B0604030504040204" pitchFamily="50" charset="-128"/>
              <a:ea typeface="メイリオ" panose="020B0604030504040204" pitchFamily="50" charset="-128"/>
            </a:endParaRP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a:t>
            </a:r>
            <a:endParaRPr lang="en-US" altLang="ja-JP" sz="900" b="1" dirty="0">
              <a:latin typeface="メイリオ" panose="020B0604030504040204" pitchFamily="50" charset="-128"/>
              <a:ea typeface="メイリオ" panose="020B0604030504040204" pitchFamily="50" charset="-128"/>
            </a:endParaRP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 </a:t>
            </a:r>
            <a:r>
              <a:rPr lang="en-US" altLang="ja-JP" sz="900" b="1" dirty="0">
                <a:latin typeface="メイリオ" panose="020B0604030504040204" pitchFamily="50" charset="-128"/>
                <a:ea typeface="メイリオ" panose="020B0604030504040204" pitchFamily="50" charset="-128"/>
              </a:rPr>
              <a:t>/ </a:t>
            </a:r>
            <a:r>
              <a:rPr lang="ja-JP" altLang="en-US" sz="900" b="1" dirty="0">
                <a:latin typeface="メイリオ" panose="020B0604030504040204" pitchFamily="50" charset="-128"/>
                <a:ea typeface="メイリオ" panose="020B0604030504040204" pitchFamily="50" charset="-128"/>
              </a:rPr>
              <a:t>良好</a:t>
            </a:r>
            <a:endParaRPr lang="en-US" altLang="ja-JP" sz="900" b="1" dirty="0">
              <a:latin typeface="メイリオ" panose="020B0604030504040204" pitchFamily="50" charset="-128"/>
              <a:ea typeface="メイリオ" panose="020B0604030504040204" pitchFamily="50" charset="-128"/>
            </a:endParaRP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356CEC6-1AE2-70AC-4ACA-400B9D728A79}"/>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99DA5A8-E206-903E-A096-E705AFAFE56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5F2670A-819F-8FEC-6F6A-76B4A93BE2A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635BF88-F676-4A66-FA76-C66B8210C36B}"/>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pic>
        <p:nvPicPr>
          <p:cNvPr id="55" name="図 54">
            <a:extLst>
              <a:ext uri="{FF2B5EF4-FFF2-40B4-BE49-F238E27FC236}">
                <a16:creationId xmlns:a16="http://schemas.microsoft.com/office/drawing/2014/main" id="{1C633AFA-AD53-2F0B-9BF6-E78EF6322609}"/>
              </a:ext>
            </a:extLst>
          </p:cNvPr>
          <p:cNvPicPr>
            <a:picLocks noChangeAspect="1"/>
          </p:cNvPicPr>
          <p:nvPr/>
        </p:nvPicPr>
        <p:blipFill>
          <a:blip r:embed="rId3"/>
          <a:stretch>
            <a:fillRect/>
          </a:stretch>
        </p:blipFill>
        <p:spPr>
          <a:xfrm>
            <a:off x="812517" y="2203410"/>
            <a:ext cx="1732686" cy="3519238"/>
          </a:xfrm>
          <a:prstGeom prst="rect">
            <a:avLst/>
          </a:prstGeom>
        </p:spPr>
      </p:pic>
      <p:sp>
        <p:nvSpPr>
          <p:cNvPr id="61" name="テキスト ボックス 60">
            <a:extLst>
              <a:ext uri="{FF2B5EF4-FFF2-40B4-BE49-F238E27FC236}">
                <a16:creationId xmlns:a16="http://schemas.microsoft.com/office/drawing/2014/main" id="{ED6E1118-51D8-709C-DDBF-5F0B5D00EAE9}"/>
              </a:ext>
            </a:extLst>
          </p:cNvPr>
          <p:cNvSpPr txBox="1"/>
          <p:nvPr/>
        </p:nvSpPr>
        <p:spPr>
          <a:xfrm>
            <a:off x="903294"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F4314178-8544-283C-E531-EED5993D5CE6}"/>
              </a:ext>
            </a:extLst>
          </p:cNvPr>
          <p:cNvSpPr txBox="1"/>
          <p:nvPr/>
        </p:nvSpPr>
        <p:spPr>
          <a:xfrm>
            <a:off x="1064403" y="3541307"/>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41D65602-1211-B0CC-4828-ABAE02C33457}"/>
              </a:ext>
            </a:extLst>
          </p:cNvPr>
          <p:cNvSpPr txBox="1"/>
          <p:nvPr/>
        </p:nvSpPr>
        <p:spPr>
          <a:xfrm>
            <a:off x="548882" y="1593226"/>
            <a:ext cx="874464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8" name="テキスト ボックス 7">
            <a:extLst>
              <a:ext uri="{FF2B5EF4-FFF2-40B4-BE49-F238E27FC236}">
                <a16:creationId xmlns:a16="http://schemas.microsoft.com/office/drawing/2014/main" id="{CEB884D6-F59B-133B-06A1-B241D718A972}"/>
              </a:ext>
            </a:extLst>
          </p:cNvPr>
          <p:cNvSpPr txBox="1"/>
          <p:nvPr/>
        </p:nvSpPr>
        <p:spPr>
          <a:xfrm>
            <a:off x="548883" y="190163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プロフ</a:t>
            </a:r>
            <a:endParaRPr lang="en-US" altLang="ja-JP" sz="105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76799ECF-394D-A93E-2E30-EF63D6F7ED73}"/>
              </a:ext>
            </a:extLst>
          </p:cNvPr>
          <p:cNvSpPr txBox="1"/>
          <p:nvPr/>
        </p:nvSpPr>
        <p:spPr>
          <a:xfrm>
            <a:off x="2788511" y="190561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リッチメニュー</a:t>
            </a:r>
            <a:endParaRPr lang="en-US" altLang="ja-JP" sz="105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5F58EF3-37FE-035A-4F88-7D5DFBDEEE2C}"/>
              </a:ext>
            </a:extLst>
          </p:cNvPr>
          <p:cNvSpPr txBox="1"/>
          <p:nvPr/>
        </p:nvSpPr>
        <p:spPr>
          <a:xfrm>
            <a:off x="5038150" y="1901636"/>
            <a:ext cx="413197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投稿（企画</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ステップは不明）</a:t>
            </a:r>
            <a:endParaRPr lang="en-US" altLang="ja-JP" sz="105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1BD6280E-B3F0-2AFB-2583-A7ACD73A942E}"/>
              </a:ext>
            </a:extLst>
          </p:cNvPr>
          <p:cNvPicPr>
            <a:picLocks noChangeAspect="1"/>
          </p:cNvPicPr>
          <p:nvPr/>
        </p:nvPicPr>
        <p:blipFill>
          <a:blip r:embed="rId3"/>
          <a:stretch>
            <a:fillRect/>
          </a:stretch>
        </p:blipFill>
        <p:spPr>
          <a:xfrm>
            <a:off x="2788511" y="2203410"/>
            <a:ext cx="1732686" cy="3519238"/>
          </a:xfrm>
          <a:prstGeom prst="rect">
            <a:avLst/>
          </a:prstGeom>
        </p:spPr>
      </p:pic>
      <p:sp>
        <p:nvSpPr>
          <p:cNvPr id="25" name="テキスト ボックス 24">
            <a:extLst>
              <a:ext uri="{FF2B5EF4-FFF2-40B4-BE49-F238E27FC236}">
                <a16:creationId xmlns:a16="http://schemas.microsoft.com/office/drawing/2014/main" id="{C3286217-468D-2C59-DAFC-FFE5479B9D27}"/>
              </a:ext>
            </a:extLst>
          </p:cNvPr>
          <p:cNvSpPr txBox="1"/>
          <p:nvPr/>
        </p:nvSpPr>
        <p:spPr>
          <a:xfrm>
            <a:off x="2879288"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E6069130-CD09-C914-40BE-BFF14FF83709}"/>
              </a:ext>
            </a:extLst>
          </p:cNvPr>
          <p:cNvSpPr txBox="1"/>
          <p:nvPr/>
        </p:nvSpPr>
        <p:spPr>
          <a:xfrm>
            <a:off x="3040397" y="3541307"/>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E933DD65-23A3-43A9-73FB-1116D2DFAF8F}"/>
              </a:ext>
            </a:extLst>
          </p:cNvPr>
          <p:cNvPicPr>
            <a:picLocks noChangeAspect="1"/>
          </p:cNvPicPr>
          <p:nvPr/>
        </p:nvPicPr>
        <p:blipFill>
          <a:blip r:embed="rId3"/>
          <a:stretch>
            <a:fillRect/>
          </a:stretch>
        </p:blipFill>
        <p:spPr>
          <a:xfrm>
            <a:off x="5223408" y="2212498"/>
            <a:ext cx="1732686" cy="3519238"/>
          </a:xfrm>
          <a:prstGeom prst="rect">
            <a:avLst/>
          </a:prstGeom>
        </p:spPr>
      </p:pic>
      <p:sp>
        <p:nvSpPr>
          <p:cNvPr id="33" name="テキスト ボックス 32">
            <a:extLst>
              <a:ext uri="{FF2B5EF4-FFF2-40B4-BE49-F238E27FC236}">
                <a16:creationId xmlns:a16="http://schemas.microsoft.com/office/drawing/2014/main" id="{E6D3AD92-0B94-48BB-C36C-156CFAF78E74}"/>
              </a:ext>
            </a:extLst>
          </p:cNvPr>
          <p:cNvSpPr txBox="1"/>
          <p:nvPr/>
        </p:nvSpPr>
        <p:spPr>
          <a:xfrm>
            <a:off x="5314185" y="247399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C3D18747-9FB8-D69A-C455-54ED9C9EF01B}"/>
              </a:ext>
            </a:extLst>
          </p:cNvPr>
          <p:cNvSpPr txBox="1"/>
          <p:nvPr/>
        </p:nvSpPr>
        <p:spPr>
          <a:xfrm>
            <a:off x="5475294" y="3550395"/>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38" name="図 37">
            <a:extLst>
              <a:ext uri="{FF2B5EF4-FFF2-40B4-BE49-F238E27FC236}">
                <a16:creationId xmlns:a16="http://schemas.microsoft.com/office/drawing/2014/main" id="{2E58D11A-548D-344E-8619-E0AF7B1E85EB}"/>
              </a:ext>
            </a:extLst>
          </p:cNvPr>
          <p:cNvPicPr>
            <a:picLocks noChangeAspect="1"/>
          </p:cNvPicPr>
          <p:nvPr/>
        </p:nvPicPr>
        <p:blipFill>
          <a:blip r:embed="rId3"/>
          <a:stretch>
            <a:fillRect/>
          </a:stretch>
        </p:blipFill>
        <p:spPr>
          <a:xfrm>
            <a:off x="6499214" y="2343508"/>
            <a:ext cx="1732686" cy="3519238"/>
          </a:xfrm>
          <a:prstGeom prst="rect">
            <a:avLst/>
          </a:prstGeom>
        </p:spPr>
      </p:pic>
      <p:sp>
        <p:nvSpPr>
          <p:cNvPr id="40" name="テキスト ボックス 39">
            <a:extLst>
              <a:ext uri="{FF2B5EF4-FFF2-40B4-BE49-F238E27FC236}">
                <a16:creationId xmlns:a16="http://schemas.microsoft.com/office/drawing/2014/main" id="{05DF7418-2B5A-25F9-83C2-F2DC03EBD2A1}"/>
              </a:ext>
            </a:extLst>
          </p:cNvPr>
          <p:cNvSpPr txBox="1"/>
          <p:nvPr/>
        </p:nvSpPr>
        <p:spPr>
          <a:xfrm>
            <a:off x="6589991" y="260500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793DCCA4-12DF-767E-21C3-85351356684D}"/>
              </a:ext>
            </a:extLst>
          </p:cNvPr>
          <p:cNvSpPr txBox="1"/>
          <p:nvPr/>
        </p:nvSpPr>
        <p:spPr>
          <a:xfrm>
            <a:off x="6751100" y="3681405"/>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49" name="図 48">
            <a:extLst>
              <a:ext uri="{FF2B5EF4-FFF2-40B4-BE49-F238E27FC236}">
                <a16:creationId xmlns:a16="http://schemas.microsoft.com/office/drawing/2014/main" id="{2F86245E-7240-7542-AEA3-3A5EF76B83DD}"/>
              </a:ext>
            </a:extLst>
          </p:cNvPr>
          <p:cNvPicPr>
            <a:picLocks noChangeAspect="1"/>
          </p:cNvPicPr>
          <p:nvPr/>
        </p:nvPicPr>
        <p:blipFill>
          <a:blip r:embed="rId3"/>
          <a:stretch>
            <a:fillRect/>
          </a:stretch>
        </p:blipFill>
        <p:spPr>
          <a:xfrm>
            <a:off x="7999709" y="2608182"/>
            <a:ext cx="1732686" cy="3519238"/>
          </a:xfrm>
          <a:prstGeom prst="rect">
            <a:avLst/>
          </a:prstGeom>
        </p:spPr>
      </p:pic>
      <p:sp>
        <p:nvSpPr>
          <p:cNvPr id="51" name="テキスト ボックス 50">
            <a:extLst>
              <a:ext uri="{FF2B5EF4-FFF2-40B4-BE49-F238E27FC236}">
                <a16:creationId xmlns:a16="http://schemas.microsoft.com/office/drawing/2014/main" id="{1D45B056-885A-F332-4906-A2C3F1C05F71}"/>
              </a:ext>
            </a:extLst>
          </p:cNvPr>
          <p:cNvSpPr txBox="1"/>
          <p:nvPr/>
        </p:nvSpPr>
        <p:spPr>
          <a:xfrm>
            <a:off x="8090486" y="2869677"/>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0FB55DCB-AB58-B996-C8B3-C04D8D2C4C2E}"/>
              </a:ext>
            </a:extLst>
          </p:cNvPr>
          <p:cNvSpPr txBox="1"/>
          <p:nvPr/>
        </p:nvSpPr>
        <p:spPr>
          <a:xfrm>
            <a:off x="8251595" y="3946079"/>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5386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11" name="テキスト ボックス 10">
            <a:extLst>
              <a:ext uri="{FF2B5EF4-FFF2-40B4-BE49-F238E27FC236}">
                <a16:creationId xmlns:a16="http://schemas.microsoft.com/office/drawing/2014/main" id="{D80C44F8-D6E0-1CF5-E49B-2A3195EB74D7}"/>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6932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9" name="テキスト ボックス 8">
            <a:extLst>
              <a:ext uri="{FF2B5EF4-FFF2-40B4-BE49-F238E27FC236}">
                <a16:creationId xmlns:a16="http://schemas.microsoft.com/office/drawing/2014/main" id="{59354F7E-177E-B9A6-BEFB-661567DEB95D}"/>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22507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具体企画のブレスト</a:t>
            </a:r>
            <a:endParaRPr sz="1600" b="1" dirty="0">
              <a:solidFill>
                <a:srgbClr val="002060"/>
              </a:solidFill>
              <a:latin typeface="Meiryo"/>
              <a:ea typeface="Meiryo"/>
              <a:cs typeface="Meiryo"/>
              <a:sym typeface="Meiryo"/>
            </a:endParaRPr>
          </a:p>
        </p:txBody>
      </p:sp>
      <p:sp>
        <p:nvSpPr>
          <p:cNvPr id="9" name="テキスト ボックス 8">
            <a:extLst>
              <a:ext uri="{FF2B5EF4-FFF2-40B4-BE49-F238E27FC236}">
                <a16:creationId xmlns:a16="http://schemas.microsoft.com/office/drawing/2014/main" id="{79221C13-7717-2740-A0FD-19D6A07AC286}"/>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2248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sp>
        <p:nvSpPr>
          <p:cNvPr id="7" name="テキスト ボックス 6">
            <a:extLst>
              <a:ext uri="{FF2B5EF4-FFF2-40B4-BE49-F238E27FC236}">
                <a16:creationId xmlns:a16="http://schemas.microsoft.com/office/drawing/2014/main" id="{8DB949C5-4575-1485-6ED4-CC1B2B71F936}"/>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728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E14AE26-F8C1-7865-A740-4BAA994EBC3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C793F7A-4100-45A7-A3E8-6393EB275D3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EB543E0B-6309-BD18-5503-71EF60694DC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87C5AF52-0BA5-9D3C-0D00-E524B190A51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a:t>
            </a:r>
            <a:endParaRPr sz="1600" b="1" dirty="0">
              <a:solidFill>
                <a:srgbClr val="002060"/>
              </a:solidFill>
              <a:latin typeface="Meiryo"/>
              <a:ea typeface="Meiryo"/>
              <a:cs typeface="Meiryo"/>
              <a:sym typeface="Meiryo"/>
            </a:endParaRPr>
          </a:p>
        </p:txBody>
      </p:sp>
      <p:sp>
        <p:nvSpPr>
          <p:cNvPr id="6" name="テキスト ボックス 5">
            <a:extLst>
              <a:ext uri="{FF2B5EF4-FFF2-40B4-BE49-F238E27FC236}">
                <a16:creationId xmlns:a16="http://schemas.microsoft.com/office/drawing/2014/main" id="{78AA58D8-F6C0-A461-5368-9D9EF1784414}"/>
              </a:ext>
            </a:extLst>
          </p:cNvPr>
          <p:cNvSpPr txBox="1"/>
          <p:nvPr/>
        </p:nvSpPr>
        <p:spPr>
          <a:xfrm>
            <a:off x="1010194" y="1886552"/>
            <a:ext cx="4963884" cy="1061829"/>
          </a:xfrm>
          <a:prstGeom prst="rect">
            <a:avLst/>
          </a:prstGeom>
          <a:solidFill>
            <a:schemeClr val="accent6">
              <a:lumMod val="20000"/>
              <a:lumOff val="80000"/>
            </a:schemeClr>
          </a:solidFill>
        </p:spPr>
        <p:txBody>
          <a:bodyPr wrap="square">
            <a:spAutoFit/>
          </a:bodyPr>
          <a:lstStyle/>
          <a:p>
            <a:r>
              <a:rPr lang="ja-JP" altLang="ja-JP" sz="1050" b="1" i="0" dirty="0">
                <a:solidFill>
                  <a:srgbClr val="525860"/>
                </a:solidFill>
                <a:effectLst/>
                <a:latin typeface="メイリオ" panose="020B0604030504040204" pitchFamily="50" charset="-128"/>
                <a:ea typeface="メイリオ" panose="020B0604030504040204" pitchFamily="50" charset="-128"/>
              </a:rPr>
              <a:t>・ステップ配信案（前後クエリと連動）</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・企画投稿案</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・通知メッセ利用シーン想定</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・飛び道具提案（奇抜な企画軸で）</a:t>
            </a:r>
            <a:br>
              <a:rPr lang="ja-JP" altLang="ja-JP" b="1" dirty="0">
                <a:latin typeface="メイリオ" panose="020B0604030504040204" pitchFamily="50" charset="-128"/>
                <a:ea typeface="メイリオ" panose="020B0604030504040204" pitchFamily="50" charset="-128"/>
              </a:rPr>
            </a:br>
            <a:r>
              <a:rPr lang="ja-JP" altLang="ja-JP" sz="1050" b="1" i="0" dirty="0">
                <a:solidFill>
                  <a:srgbClr val="525860"/>
                </a:solidFill>
                <a:effectLst/>
                <a:latin typeface="メイリオ" panose="020B0604030504040204" pitchFamily="50" charset="-128"/>
                <a:ea typeface="メイリオ" panose="020B0604030504040204" pitchFamily="50" charset="-128"/>
              </a:rPr>
              <a:t>・LINEOA実績（LY公式ならOK）</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2609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1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2ECE7535-75B5-FD71-5DE8-AB1B855FFED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公式アカウントにおける対策領域について</a:t>
            </a:r>
          </a:p>
        </p:txBody>
      </p:sp>
      <p:sp>
        <p:nvSpPr>
          <p:cNvPr id="4" name="正方形/長方形 3">
            <a:extLst>
              <a:ext uri="{FF2B5EF4-FFF2-40B4-BE49-F238E27FC236}">
                <a16:creationId xmlns:a16="http://schemas.microsoft.com/office/drawing/2014/main" id="{91D529F5-1969-8F22-8508-5967D82F7783}"/>
              </a:ext>
            </a:extLst>
          </p:cNvPr>
          <p:cNvSpPr/>
          <p:nvPr/>
        </p:nvSpPr>
        <p:spPr>
          <a:xfrm>
            <a:off x="379908" y="1835393"/>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379908" y="4397170"/>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C7E38EC2-DE76-A5FE-A6B8-3B48F7BD7B46}"/>
              </a:ext>
            </a:extLst>
          </p:cNvPr>
          <p:cNvSpPr txBox="1"/>
          <p:nvPr/>
        </p:nvSpPr>
        <p:spPr>
          <a:xfrm>
            <a:off x="379908" y="1527022"/>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テキスト ボックス 8">
            <a:extLst>
              <a:ext uri="{FF2B5EF4-FFF2-40B4-BE49-F238E27FC236}">
                <a16:creationId xmlns:a16="http://schemas.microsoft.com/office/drawing/2014/main" id="{315E4FD7-BF96-305B-4DFF-0204D305BAAE}"/>
              </a:ext>
            </a:extLst>
          </p:cNvPr>
          <p:cNvSpPr txBox="1"/>
          <p:nvPr/>
        </p:nvSpPr>
        <p:spPr>
          <a:xfrm>
            <a:off x="379908" y="4089393"/>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72450FBF-2EA8-4582-869E-9B2A7C4946D7}"/>
              </a:ext>
            </a:extLst>
          </p:cNvPr>
          <p:cNvSpPr/>
          <p:nvPr/>
        </p:nvSpPr>
        <p:spPr>
          <a:xfrm>
            <a:off x="548883" y="2060461"/>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6891C2D7-8AEF-98E4-337B-283DC4374AFC}"/>
              </a:ext>
            </a:extLst>
          </p:cNvPr>
          <p:cNvSpPr/>
          <p:nvPr/>
        </p:nvSpPr>
        <p:spPr>
          <a:xfrm>
            <a:off x="548883" y="2322497"/>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3670DE23-5EB2-C1E6-9ED3-6176C87DDEA9}"/>
              </a:ext>
            </a:extLst>
          </p:cNvPr>
          <p:cNvSpPr/>
          <p:nvPr/>
        </p:nvSpPr>
        <p:spPr>
          <a:xfrm>
            <a:off x="548883" y="2659935"/>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8C708B2-F546-DE85-AA3B-2C7B33013111}"/>
              </a:ext>
            </a:extLst>
          </p:cNvPr>
          <p:cNvSpPr/>
          <p:nvPr/>
        </p:nvSpPr>
        <p:spPr>
          <a:xfrm>
            <a:off x="548883" y="2997373"/>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7" name="正方形/長方形 16">
            <a:extLst>
              <a:ext uri="{FF2B5EF4-FFF2-40B4-BE49-F238E27FC236}">
                <a16:creationId xmlns:a16="http://schemas.microsoft.com/office/drawing/2014/main" id="{812C768D-D601-2E13-45FD-BFE5BA587BC6}"/>
              </a:ext>
            </a:extLst>
          </p:cNvPr>
          <p:cNvSpPr/>
          <p:nvPr/>
        </p:nvSpPr>
        <p:spPr>
          <a:xfrm>
            <a:off x="548883" y="3672249"/>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8" name="正方形/長方形 17">
            <a:extLst>
              <a:ext uri="{FF2B5EF4-FFF2-40B4-BE49-F238E27FC236}">
                <a16:creationId xmlns:a16="http://schemas.microsoft.com/office/drawing/2014/main" id="{13127993-BF51-568A-20FB-A9FB1DB6C913}"/>
              </a:ext>
            </a:extLst>
          </p:cNvPr>
          <p:cNvSpPr/>
          <p:nvPr/>
        </p:nvSpPr>
        <p:spPr>
          <a:xfrm>
            <a:off x="8170812" y="2408570"/>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2E81D74A-E79F-C90A-80AF-4F6BDF853777}"/>
              </a:ext>
            </a:extLst>
          </p:cNvPr>
          <p:cNvSpPr/>
          <p:nvPr/>
        </p:nvSpPr>
        <p:spPr>
          <a:xfrm>
            <a:off x="548883" y="3334811"/>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46217DB-3E59-DD17-6353-BB21863AB6A4}"/>
              </a:ext>
            </a:extLst>
          </p:cNvPr>
          <p:cNvSpPr/>
          <p:nvPr/>
        </p:nvSpPr>
        <p:spPr>
          <a:xfrm>
            <a:off x="1950234" y="2999032"/>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B73343-1515-8075-50D7-828D2C7D0482}"/>
              </a:ext>
            </a:extLst>
          </p:cNvPr>
          <p:cNvSpPr/>
          <p:nvPr/>
        </p:nvSpPr>
        <p:spPr>
          <a:xfrm>
            <a:off x="1939622" y="2149679"/>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2" name="コネクタ: カギ線 51">
            <a:extLst>
              <a:ext uri="{FF2B5EF4-FFF2-40B4-BE49-F238E27FC236}">
                <a16:creationId xmlns:a16="http://schemas.microsoft.com/office/drawing/2014/main" id="{10A164B9-404C-F131-0FB7-4A7EC00628C8}"/>
              </a:ext>
            </a:extLst>
          </p:cNvPr>
          <p:cNvCxnSpPr>
            <a:cxnSpLocks/>
            <a:stCxn id="14" idx="3"/>
          </p:cNvCxnSpPr>
          <p:nvPr/>
        </p:nvCxnSpPr>
        <p:spPr>
          <a:xfrm flipV="1">
            <a:off x="1904163" y="2540793"/>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AB39E10C-FA5C-42F3-51FF-A98C96D3A9FE}"/>
              </a:ext>
            </a:extLst>
          </p:cNvPr>
          <p:cNvSpPr/>
          <p:nvPr/>
        </p:nvSpPr>
        <p:spPr>
          <a:xfrm>
            <a:off x="8170812" y="2124073"/>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130" name="正方形/長方形 129">
            <a:extLst>
              <a:ext uri="{FF2B5EF4-FFF2-40B4-BE49-F238E27FC236}">
                <a16:creationId xmlns:a16="http://schemas.microsoft.com/office/drawing/2014/main" id="{68999E51-25BF-ABC0-E768-EB439414D6AA}"/>
              </a:ext>
            </a:extLst>
          </p:cNvPr>
          <p:cNvSpPr/>
          <p:nvPr/>
        </p:nvSpPr>
        <p:spPr>
          <a:xfrm>
            <a:off x="486784" y="713253"/>
            <a:ext cx="9005456" cy="65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離脱リード→新規で引上げ、顧客リード→効率化及びリピート化 等、</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公式アカウントで対策できるポイントが非常に多く、課題に応じた施策展開が可能。</a:t>
            </a:r>
            <a:endParaRPr lang="ja-JP" altLang="en-US" sz="1400" dirty="0">
              <a:solidFill>
                <a:srgbClr val="FF0000"/>
              </a:solidFill>
              <a:latin typeface="メイリオ" panose="020B0604030504040204" pitchFamily="50" charset="-128"/>
              <a:ea typeface="メイリオ" panose="020B0604030504040204" pitchFamily="50" charset="-128"/>
            </a:endParaRPr>
          </a:p>
        </p:txBody>
      </p:sp>
      <p:sp>
        <p:nvSpPr>
          <p:cNvPr id="133" name="正方形/長方形 132">
            <a:extLst>
              <a:ext uri="{FF2B5EF4-FFF2-40B4-BE49-F238E27FC236}">
                <a16:creationId xmlns:a16="http://schemas.microsoft.com/office/drawing/2014/main" id="{EF3EB03D-B886-80C5-4DDF-AD318BB1E8CB}"/>
              </a:ext>
            </a:extLst>
          </p:cNvPr>
          <p:cNvSpPr/>
          <p:nvPr/>
        </p:nvSpPr>
        <p:spPr>
          <a:xfrm>
            <a:off x="6444618" y="4938641"/>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134" name="正方形/長方形 133">
            <a:extLst>
              <a:ext uri="{FF2B5EF4-FFF2-40B4-BE49-F238E27FC236}">
                <a16:creationId xmlns:a16="http://schemas.microsoft.com/office/drawing/2014/main" id="{8185B158-D6FD-FC9A-D842-E0184FC04A2F}"/>
              </a:ext>
            </a:extLst>
          </p:cNvPr>
          <p:cNvSpPr/>
          <p:nvPr/>
        </p:nvSpPr>
        <p:spPr>
          <a:xfrm>
            <a:off x="6444618" y="5207075"/>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35" name="正方形/長方形 134">
            <a:extLst>
              <a:ext uri="{FF2B5EF4-FFF2-40B4-BE49-F238E27FC236}">
                <a16:creationId xmlns:a16="http://schemas.microsoft.com/office/drawing/2014/main" id="{CAF16DCF-7CE0-97CD-A1FD-09B08149FF7B}"/>
              </a:ext>
            </a:extLst>
          </p:cNvPr>
          <p:cNvSpPr/>
          <p:nvPr/>
        </p:nvSpPr>
        <p:spPr>
          <a:xfrm>
            <a:off x="6444617" y="5743943"/>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6" name="正方形/長方形 135">
            <a:extLst>
              <a:ext uri="{FF2B5EF4-FFF2-40B4-BE49-F238E27FC236}">
                <a16:creationId xmlns:a16="http://schemas.microsoft.com/office/drawing/2014/main" id="{DE164E19-C9CA-ADE8-FE9B-4A4096DD13BE}"/>
              </a:ext>
            </a:extLst>
          </p:cNvPr>
          <p:cNvSpPr/>
          <p:nvPr/>
        </p:nvSpPr>
        <p:spPr>
          <a:xfrm>
            <a:off x="6444617" y="5475509"/>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7" name="正方形/長方形 136">
            <a:extLst>
              <a:ext uri="{FF2B5EF4-FFF2-40B4-BE49-F238E27FC236}">
                <a16:creationId xmlns:a16="http://schemas.microsoft.com/office/drawing/2014/main" id="{FF9A810E-B53B-2631-3BD5-00395512E9C0}"/>
              </a:ext>
            </a:extLst>
          </p:cNvPr>
          <p:cNvSpPr/>
          <p:nvPr/>
        </p:nvSpPr>
        <p:spPr>
          <a:xfrm>
            <a:off x="6444617" y="6012377"/>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45" name="正方形/長方形 144">
            <a:extLst>
              <a:ext uri="{FF2B5EF4-FFF2-40B4-BE49-F238E27FC236}">
                <a16:creationId xmlns:a16="http://schemas.microsoft.com/office/drawing/2014/main" id="{1DF80BB2-F1C3-A39C-D441-B75E4795CC5B}"/>
              </a:ext>
            </a:extLst>
          </p:cNvPr>
          <p:cNvSpPr/>
          <p:nvPr/>
        </p:nvSpPr>
        <p:spPr>
          <a:xfrm>
            <a:off x="6444617" y="4746848"/>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49" name="正方形/長方形 48">
            <a:extLst>
              <a:ext uri="{FF2B5EF4-FFF2-40B4-BE49-F238E27FC236}">
                <a16:creationId xmlns:a16="http://schemas.microsoft.com/office/drawing/2014/main" id="{CABD8985-CFB7-BFB4-C5CA-334F6DD3C337}"/>
              </a:ext>
            </a:extLst>
          </p:cNvPr>
          <p:cNvSpPr/>
          <p:nvPr/>
        </p:nvSpPr>
        <p:spPr>
          <a:xfrm>
            <a:off x="3634802" y="1986633"/>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498D1E1C-883A-4348-5898-29B2849E59E6}"/>
              </a:ext>
            </a:extLst>
          </p:cNvPr>
          <p:cNvSpPr/>
          <p:nvPr/>
        </p:nvSpPr>
        <p:spPr>
          <a:xfrm>
            <a:off x="3802223" y="2418821"/>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51" name="コネクタ: カギ線 50">
            <a:extLst>
              <a:ext uri="{FF2B5EF4-FFF2-40B4-BE49-F238E27FC236}">
                <a16:creationId xmlns:a16="http://schemas.microsoft.com/office/drawing/2014/main" id="{2981AEA5-C263-1A76-AF6F-7D4F94F3AC3F}"/>
              </a:ext>
            </a:extLst>
          </p:cNvPr>
          <p:cNvCxnSpPr>
            <a:cxnSpLocks/>
          </p:cNvCxnSpPr>
          <p:nvPr/>
        </p:nvCxnSpPr>
        <p:spPr>
          <a:xfrm flipV="1">
            <a:off x="3492137" y="2540793"/>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898DA80-B20A-0E45-B382-62A8490927C1}"/>
              </a:ext>
            </a:extLst>
          </p:cNvPr>
          <p:cNvCxnSpPr>
            <a:cxnSpLocks/>
          </p:cNvCxnSpPr>
          <p:nvPr/>
        </p:nvCxnSpPr>
        <p:spPr>
          <a:xfrm flipV="1">
            <a:off x="3483428" y="2540793"/>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4194983F-AFC0-FB2F-1207-1AF108AFDA19}"/>
              </a:ext>
            </a:extLst>
          </p:cNvPr>
          <p:cNvCxnSpPr>
            <a:cxnSpLocks/>
          </p:cNvCxnSpPr>
          <p:nvPr/>
        </p:nvCxnSpPr>
        <p:spPr>
          <a:xfrm>
            <a:off x="3483428" y="2297265"/>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20DB094-045E-2E0D-7026-B0BFFA8F2374}"/>
              </a:ext>
            </a:extLst>
          </p:cNvPr>
          <p:cNvSpPr/>
          <p:nvPr/>
        </p:nvSpPr>
        <p:spPr>
          <a:xfrm>
            <a:off x="5319694" y="212207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56" name="正方形/長方形 55">
            <a:extLst>
              <a:ext uri="{FF2B5EF4-FFF2-40B4-BE49-F238E27FC236}">
                <a16:creationId xmlns:a16="http://schemas.microsoft.com/office/drawing/2014/main" id="{960DE889-CA21-9C03-FD30-9F8BA1C11BE0}"/>
              </a:ext>
            </a:extLst>
          </p:cNvPr>
          <p:cNvSpPr/>
          <p:nvPr/>
        </p:nvSpPr>
        <p:spPr>
          <a:xfrm>
            <a:off x="5319694" y="238767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64" name="正方形/長方形 63">
            <a:extLst>
              <a:ext uri="{FF2B5EF4-FFF2-40B4-BE49-F238E27FC236}">
                <a16:creationId xmlns:a16="http://schemas.microsoft.com/office/drawing/2014/main" id="{B0198902-7C67-1321-611C-A528F8B056D6}"/>
              </a:ext>
            </a:extLst>
          </p:cNvPr>
          <p:cNvSpPr/>
          <p:nvPr/>
        </p:nvSpPr>
        <p:spPr>
          <a:xfrm>
            <a:off x="5319694" y="265326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67" name="正方形/長方形 66">
            <a:extLst>
              <a:ext uri="{FF2B5EF4-FFF2-40B4-BE49-F238E27FC236}">
                <a16:creationId xmlns:a16="http://schemas.microsoft.com/office/drawing/2014/main" id="{EC9DC48F-C12B-8A2A-8E49-C82DF8C2398F}"/>
              </a:ext>
            </a:extLst>
          </p:cNvPr>
          <p:cNvSpPr/>
          <p:nvPr/>
        </p:nvSpPr>
        <p:spPr>
          <a:xfrm>
            <a:off x="3883318" y="2695245"/>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68" name="テキスト ボックス 67">
            <a:extLst>
              <a:ext uri="{FF2B5EF4-FFF2-40B4-BE49-F238E27FC236}">
                <a16:creationId xmlns:a16="http://schemas.microsoft.com/office/drawing/2014/main" id="{7FD4C92A-1BF4-DC29-74E5-5DDCAEC47D74}"/>
              </a:ext>
            </a:extLst>
          </p:cNvPr>
          <p:cNvSpPr txBox="1"/>
          <p:nvPr/>
        </p:nvSpPr>
        <p:spPr>
          <a:xfrm>
            <a:off x="3894226" y="2879422"/>
            <a:ext cx="1274185" cy="954107"/>
          </a:xfrm>
          <a:prstGeom prst="rect">
            <a:avLst/>
          </a:prstGeom>
          <a:noFill/>
        </p:spPr>
        <p:txBody>
          <a:bodyPr wrap="square">
            <a:spAutoFit/>
          </a:body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3C7CD555-05D0-53EC-B6D5-ED734EBA27DF}"/>
              </a:ext>
            </a:extLst>
          </p:cNvPr>
          <p:cNvSpPr/>
          <p:nvPr/>
        </p:nvSpPr>
        <p:spPr>
          <a:xfrm>
            <a:off x="5326708" y="291886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74" name="正方形/長方形 73">
            <a:extLst>
              <a:ext uri="{FF2B5EF4-FFF2-40B4-BE49-F238E27FC236}">
                <a16:creationId xmlns:a16="http://schemas.microsoft.com/office/drawing/2014/main" id="{64296BD6-7E19-AF65-3C1F-3AA68F3DB296}"/>
              </a:ext>
            </a:extLst>
          </p:cNvPr>
          <p:cNvSpPr/>
          <p:nvPr/>
        </p:nvSpPr>
        <p:spPr>
          <a:xfrm>
            <a:off x="5326708" y="3450051"/>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75" name="正方形/長方形 74">
            <a:extLst>
              <a:ext uri="{FF2B5EF4-FFF2-40B4-BE49-F238E27FC236}">
                <a16:creationId xmlns:a16="http://schemas.microsoft.com/office/drawing/2014/main" id="{2B391CFB-A763-8F28-0B80-C4699C620787}"/>
              </a:ext>
            </a:extLst>
          </p:cNvPr>
          <p:cNvSpPr/>
          <p:nvPr/>
        </p:nvSpPr>
        <p:spPr>
          <a:xfrm>
            <a:off x="5326708" y="318445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78BE8892-FE50-BF73-B15E-567C1CFD9A8A}"/>
              </a:ext>
            </a:extLst>
          </p:cNvPr>
          <p:cNvSpPr/>
          <p:nvPr/>
        </p:nvSpPr>
        <p:spPr>
          <a:xfrm>
            <a:off x="6487455" y="265530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77" name="正方形/長方形 76">
            <a:extLst>
              <a:ext uri="{FF2B5EF4-FFF2-40B4-BE49-F238E27FC236}">
                <a16:creationId xmlns:a16="http://schemas.microsoft.com/office/drawing/2014/main" id="{5FB8C9E8-13C6-54AE-CC6C-E66EB44BEE66}"/>
              </a:ext>
            </a:extLst>
          </p:cNvPr>
          <p:cNvSpPr/>
          <p:nvPr/>
        </p:nvSpPr>
        <p:spPr>
          <a:xfrm>
            <a:off x="5319693" y="3715648"/>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78" name="コネクタ: カギ線 77">
            <a:extLst>
              <a:ext uri="{FF2B5EF4-FFF2-40B4-BE49-F238E27FC236}">
                <a16:creationId xmlns:a16="http://schemas.microsoft.com/office/drawing/2014/main" id="{A0B29E3B-5447-4104-E77E-C26EB1CB0F8A}"/>
              </a:ext>
            </a:extLst>
          </p:cNvPr>
          <p:cNvCxnSpPr>
            <a:cxnSpLocks/>
            <a:stCxn id="77" idx="3"/>
          </p:cNvCxnSpPr>
          <p:nvPr/>
        </p:nvCxnSpPr>
        <p:spPr>
          <a:xfrm flipV="1">
            <a:off x="7612378" y="2246045"/>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6F60DF78-AC16-9662-17BD-3EBCD4677BB3}"/>
              </a:ext>
            </a:extLst>
          </p:cNvPr>
          <p:cNvCxnSpPr>
            <a:cxnSpLocks/>
            <a:stCxn id="74" idx="3"/>
          </p:cNvCxnSpPr>
          <p:nvPr/>
        </p:nvCxnSpPr>
        <p:spPr>
          <a:xfrm flipV="1">
            <a:off x="7619393" y="2530542"/>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9ACE7516-910E-229D-8D61-02389EE1209F}"/>
              </a:ext>
            </a:extLst>
          </p:cNvPr>
          <p:cNvCxnSpPr>
            <a:cxnSpLocks/>
            <a:stCxn id="75" idx="3"/>
          </p:cNvCxnSpPr>
          <p:nvPr/>
        </p:nvCxnSpPr>
        <p:spPr>
          <a:xfrm flipV="1">
            <a:off x="7619393" y="2530542"/>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CFEF0AA5-73C6-3E02-7EDB-57BE374DCDBF}"/>
              </a:ext>
            </a:extLst>
          </p:cNvPr>
          <p:cNvCxnSpPr>
            <a:cxnSpLocks/>
            <a:stCxn id="69" idx="3"/>
          </p:cNvCxnSpPr>
          <p:nvPr/>
        </p:nvCxnSpPr>
        <p:spPr>
          <a:xfrm flipV="1">
            <a:off x="7619393" y="2530542"/>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994CBAF5-3A55-5F8D-2FE3-7E89A4D5C622}"/>
              </a:ext>
            </a:extLst>
          </p:cNvPr>
          <p:cNvCxnSpPr>
            <a:cxnSpLocks/>
            <a:stCxn id="76" idx="3"/>
          </p:cNvCxnSpPr>
          <p:nvPr/>
        </p:nvCxnSpPr>
        <p:spPr>
          <a:xfrm flipV="1">
            <a:off x="7612379" y="2530542"/>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95AFF09E-E9EC-B83D-758F-AB3E03B91C26}"/>
              </a:ext>
            </a:extLst>
          </p:cNvPr>
          <p:cNvCxnSpPr>
            <a:cxnSpLocks/>
            <a:stCxn id="56" idx="3"/>
          </p:cNvCxnSpPr>
          <p:nvPr/>
        </p:nvCxnSpPr>
        <p:spPr>
          <a:xfrm>
            <a:off x="7612379" y="2498555"/>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81E043B6-4E27-2700-F284-741B1F2B6E99}"/>
              </a:ext>
            </a:extLst>
          </p:cNvPr>
          <p:cNvCxnSpPr>
            <a:cxnSpLocks/>
            <a:stCxn id="55" idx="3"/>
          </p:cNvCxnSpPr>
          <p:nvPr/>
        </p:nvCxnSpPr>
        <p:spPr>
          <a:xfrm>
            <a:off x="7612379" y="2232960"/>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8" name="左中かっこ 87">
            <a:extLst>
              <a:ext uri="{FF2B5EF4-FFF2-40B4-BE49-F238E27FC236}">
                <a16:creationId xmlns:a16="http://schemas.microsoft.com/office/drawing/2014/main" id="{3EB6A587-08D7-7B0D-8BB4-704F3A9413A8}"/>
              </a:ext>
            </a:extLst>
          </p:cNvPr>
          <p:cNvSpPr/>
          <p:nvPr/>
        </p:nvSpPr>
        <p:spPr>
          <a:xfrm>
            <a:off x="5156221" y="2086266"/>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3F6801A-CC8C-370B-47CD-0E9A8F78DA92}"/>
              </a:ext>
            </a:extLst>
          </p:cNvPr>
          <p:cNvSpPr/>
          <p:nvPr/>
        </p:nvSpPr>
        <p:spPr>
          <a:xfrm>
            <a:off x="468899" y="4586771"/>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EBF6537D-D75B-DA5C-78EC-88D8F874BA82}"/>
              </a:ext>
            </a:extLst>
          </p:cNvPr>
          <p:cNvSpPr/>
          <p:nvPr/>
        </p:nvSpPr>
        <p:spPr>
          <a:xfrm>
            <a:off x="2207057" y="6002525"/>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93" name="正方形/長方形 92">
            <a:extLst>
              <a:ext uri="{FF2B5EF4-FFF2-40B4-BE49-F238E27FC236}">
                <a16:creationId xmlns:a16="http://schemas.microsoft.com/office/drawing/2014/main" id="{1A52527A-0CF0-029E-8E86-430BD9DEAAA1}"/>
              </a:ext>
            </a:extLst>
          </p:cNvPr>
          <p:cNvSpPr/>
          <p:nvPr/>
        </p:nvSpPr>
        <p:spPr>
          <a:xfrm>
            <a:off x="548883" y="4704947"/>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95" name="コネクタ: カギ線 94">
            <a:extLst>
              <a:ext uri="{FF2B5EF4-FFF2-40B4-BE49-F238E27FC236}">
                <a16:creationId xmlns:a16="http://schemas.microsoft.com/office/drawing/2014/main" id="{898B747D-663D-3118-8C11-74EB0324AD5C}"/>
              </a:ext>
            </a:extLst>
          </p:cNvPr>
          <p:cNvCxnSpPr>
            <a:stCxn id="93" idx="0"/>
          </p:cNvCxnSpPr>
          <p:nvPr/>
        </p:nvCxnSpPr>
        <p:spPr>
          <a:xfrm rot="5400000" flipH="1" flipV="1">
            <a:off x="3855271" y="-288234"/>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CA244CA5-B309-FA6E-284D-7CBC7CC2508F}"/>
              </a:ext>
            </a:extLst>
          </p:cNvPr>
          <p:cNvCxnSpPr>
            <a:cxnSpLocks/>
            <a:stCxn id="93" idx="2"/>
            <a:endCxn id="92" idx="1"/>
          </p:cNvCxnSpPr>
          <p:nvPr/>
        </p:nvCxnSpPr>
        <p:spPr>
          <a:xfrm rot="16200000" flipH="1">
            <a:off x="972986" y="4890426"/>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B6490177-CFF0-A875-7C56-F0FC8CA2C530}"/>
              </a:ext>
            </a:extLst>
          </p:cNvPr>
          <p:cNvSpPr/>
          <p:nvPr/>
        </p:nvSpPr>
        <p:spPr>
          <a:xfrm>
            <a:off x="562021" y="58195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99" name="正方形/長方形 98">
            <a:extLst>
              <a:ext uri="{FF2B5EF4-FFF2-40B4-BE49-F238E27FC236}">
                <a16:creationId xmlns:a16="http://schemas.microsoft.com/office/drawing/2014/main" id="{6D76C720-225A-6A92-8A49-A13770789615}"/>
              </a:ext>
            </a:extLst>
          </p:cNvPr>
          <p:cNvSpPr/>
          <p:nvPr/>
        </p:nvSpPr>
        <p:spPr>
          <a:xfrm>
            <a:off x="562021" y="6084246"/>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101" name="正方形/長方形 100">
            <a:extLst>
              <a:ext uri="{FF2B5EF4-FFF2-40B4-BE49-F238E27FC236}">
                <a16:creationId xmlns:a16="http://schemas.microsoft.com/office/drawing/2014/main" id="{9927067B-793F-D21C-B90A-7C7E46812D7F}"/>
              </a:ext>
            </a:extLst>
          </p:cNvPr>
          <p:cNvSpPr/>
          <p:nvPr/>
        </p:nvSpPr>
        <p:spPr>
          <a:xfrm>
            <a:off x="3713703" y="473132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102" name="正方形/長方形 101">
            <a:extLst>
              <a:ext uri="{FF2B5EF4-FFF2-40B4-BE49-F238E27FC236}">
                <a16:creationId xmlns:a16="http://schemas.microsoft.com/office/drawing/2014/main" id="{BD2E83D5-3372-C439-208D-783F428C9D84}"/>
              </a:ext>
            </a:extLst>
          </p:cNvPr>
          <p:cNvSpPr/>
          <p:nvPr/>
        </p:nvSpPr>
        <p:spPr>
          <a:xfrm>
            <a:off x="3713703" y="499691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104" name="正方形/長方形 103">
            <a:extLst>
              <a:ext uri="{FF2B5EF4-FFF2-40B4-BE49-F238E27FC236}">
                <a16:creationId xmlns:a16="http://schemas.microsoft.com/office/drawing/2014/main" id="{087D59E0-E0CE-3934-C1B4-0EF4D82E0B2E}"/>
              </a:ext>
            </a:extLst>
          </p:cNvPr>
          <p:cNvSpPr/>
          <p:nvPr/>
        </p:nvSpPr>
        <p:spPr>
          <a:xfrm>
            <a:off x="3713703" y="526251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5" name="正方形/長方形 104">
            <a:extLst>
              <a:ext uri="{FF2B5EF4-FFF2-40B4-BE49-F238E27FC236}">
                <a16:creationId xmlns:a16="http://schemas.microsoft.com/office/drawing/2014/main" id="{78BB80E0-2482-846A-E4FE-C1770384E88E}"/>
              </a:ext>
            </a:extLst>
          </p:cNvPr>
          <p:cNvSpPr/>
          <p:nvPr/>
        </p:nvSpPr>
        <p:spPr>
          <a:xfrm>
            <a:off x="3720717" y="552810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111" name="正方形/長方形 110">
            <a:extLst>
              <a:ext uri="{FF2B5EF4-FFF2-40B4-BE49-F238E27FC236}">
                <a16:creationId xmlns:a16="http://schemas.microsoft.com/office/drawing/2014/main" id="{C885333E-56CE-B011-72B9-07B332849355}"/>
              </a:ext>
            </a:extLst>
          </p:cNvPr>
          <p:cNvSpPr/>
          <p:nvPr/>
        </p:nvSpPr>
        <p:spPr>
          <a:xfrm>
            <a:off x="4881464" y="526455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112" name="コネクタ: カギ線 111">
            <a:extLst>
              <a:ext uri="{FF2B5EF4-FFF2-40B4-BE49-F238E27FC236}">
                <a16:creationId xmlns:a16="http://schemas.microsoft.com/office/drawing/2014/main" id="{BDA83037-5C06-C2D0-EF8B-90AE0F4336B5}"/>
              </a:ext>
            </a:extLst>
          </p:cNvPr>
          <p:cNvCxnSpPr>
            <a:cxnSpLocks/>
            <a:stCxn id="93" idx="3"/>
            <a:endCxn id="101" idx="1"/>
          </p:cNvCxnSpPr>
          <p:nvPr/>
        </p:nvCxnSpPr>
        <p:spPr>
          <a:xfrm>
            <a:off x="1280160" y="4826919"/>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BA23D5BC-C7EC-06D4-215C-2852A68F0F9B}"/>
              </a:ext>
            </a:extLst>
          </p:cNvPr>
          <p:cNvCxnSpPr>
            <a:cxnSpLocks/>
            <a:stCxn id="93" idx="3"/>
            <a:endCxn id="102" idx="1"/>
          </p:cNvCxnSpPr>
          <p:nvPr/>
        </p:nvCxnSpPr>
        <p:spPr>
          <a:xfrm>
            <a:off x="1280160" y="4826919"/>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15">
            <a:extLst>
              <a:ext uri="{FF2B5EF4-FFF2-40B4-BE49-F238E27FC236}">
                <a16:creationId xmlns:a16="http://schemas.microsoft.com/office/drawing/2014/main" id="{F8AA6994-29BC-2C26-DE5F-C0C21F502236}"/>
              </a:ext>
            </a:extLst>
          </p:cNvPr>
          <p:cNvCxnSpPr>
            <a:cxnSpLocks/>
            <a:stCxn id="93" idx="3"/>
            <a:endCxn id="104" idx="1"/>
          </p:cNvCxnSpPr>
          <p:nvPr/>
        </p:nvCxnSpPr>
        <p:spPr>
          <a:xfrm>
            <a:off x="1280160" y="4826919"/>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8" name="コネクタ: カギ線 117">
            <a:extLst>
              <a:ext uri="{FF2B5EF4-FFF2-40B4-BE49-F238E27FC236}">
                <a16:creationId xmlns:a16="http://schemas.microsoft.com/office/drawing/2014/main" id="{3AE4A3D0-6C1F-7BCD-3ED2-5F066684CE21}"/>
              </a:ext>
            </a:extLst>
          </p:cNvPr>
          <p:cNvCxnSpPr>
            <a:cxnSpLocks/>
            <a:stCxn id="93" idx="3"/>
            <a:endCxn id="105" idx="1"/>
          </p:cNvCxnSpPr>
          <p:nvPr/>
        </p:nvCxnSpPr>
        <p:spPr>
          <a:xfrm>
            <a:off x="1280160" y="4826919"/>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F922E2DE-5C74-6CAA-736C-BAC94D2952DF}"/>
              </a:ext>
            </a:extLst>
          </p:cNvPr>
          <p:cNvSpPr/>
          <p:nvPr/>
        </p:nvSpPr>
        <p:spPr>
          <a:xfrm>
            <a:off x="3713703" y="5792944"/>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1" name="正方形/長方形 120">
            <a:extLst>
              <a:ext uri="{FF2B5EF4-FFF2-40B4-BE49-F238E27FC236}">
                <a16:creationId xmlns:a16="http://schemas.microsoft.com/office/drawing/2014/main" id="{03175683-57AB-6FFA-0F27-7E81645CA47B}"/>
              </a:ext>
            </a:extLst>
          </p:cNvPr>
          <p:cNvSpPr/>
          <p:nvPr/>
        </p:nvSpPr>
        <p:spPr>
          <a:xfrm>
            <a:off x="3720717" y="6061629"/>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122" name="コネクタ: カギ線 121">
            <a:extLst>
              <a:ext uri="{FF2B5EF4-FFF2-40B4-BE49-F238E27FC236}">
                <a16:creationId xmlns:a16="http://schemas.microsoft.com/office/drawing/2014/main" id="{30FE3CED-649C-7946-1117-B1E2FD2D7F26}"/>
              </a:ext>
            </a:extLst>
          </p:cNvPr>
          <p:cNvCxnSpPr>
            <a:cxnSpLocks/>
          </p:cNvCxnSpPr>
          <p:nvPr/>
        </p:nvCxnSpPr>
        <p:spPr>
          <a:xfrm rot="5400000" flipH="1" flipV="1">
            <a:off x="1605206" y="3681433"/>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5EB01514-8877-C931-E7AA-81B28EB77681}"/>
              </a:ext>
            </a:extLst>
          </p:cNvPr>
          <p:cNvSpPr/>
          <p:nvPr/>
        </p:nvSpPr>
        <p:spPr>
          <a:xfrm>
            <a:off x="6986937" y="1517116"/>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3427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で査定　✓</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LINE</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で相談</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✓再購入時期、併売商品を設定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655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a:t>
            </a: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を軸に配信戦略を組み立てることでユーザーのアクティブ率を保った状態で運用。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1" name="テキスト ボックス 10">
            <a:extLst>
              <a:ext uri="{FF2B5EF4-FFF2-40B4-BE49-F238E27FC236}">
                <a16:creationId xmlns:a16="http://schemas.microsoft.com/office/drawing/2014/main" id="{1CD1533E-1582-9E17-EE6F-EA2F4BE96D58}"/>
              </a:ext>
            </a:extLst>
          </p:cNvPr>
          <p:cNvSpPr txBox="1"/>
          <p:nvPr/>
        </p:nvSpPr>
        <p:spPr>
          <a:xfrm>
            <a:off x="422130"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2" name="テキスト ボックス 11">
            <a:extLst>
              <a:ext uri="{FF2B5EF4-FFF2-40B4-BE49-F238E27FC236}">
                <a16:creationId xmlns:a16="http://schemas.microsoft.com/office/drawing/2014/main" id="{2C43BB1A-3D6A-04B9-F8ED-26CB7DCA3735}"/>
              </a:ext>
            </a:extLst>
          </p:cNvPr>
          <p:cNvSpPr txBox="1"/>
          <p:nvPr/>
        </p:nvSpPr>
        <p:spPr>
          <a:xfrm>
            <a:off x="422130"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BCB10DC8-82CD-0C69-034B-7642E1296837}"/>
              </a:ext>
            </a:extLst>
          </p:cNvPr>
          <p:cNvSpPr txBox="1"/>
          <p:nvPr/>
        </p:nvSpPr>
        <p:spPr>
          <a:xfrm>
            <a:off x="422130"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15AFA19-CD5F-9379-AE26-44B78C354860}"/>
              </a:ext>
            </a:extLst>
          </p:cNvPr>
          <p:cNvSpPr txBox="1"/>
          <p:nvPr/>
        </p:nvSpPr>
        <p:spPr>
          <a:xfrm>
            <a:off x="422130" y="346717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22062743-7DD1-C474-56DE-C86161967F49}"/>
              </a:ext>
            </a:extLst>
          </p:cNvPr>
          <p:cNvSpPr txBox="1"/>
          <p:nvPr/>
        </p:nvSpPr>
        <p:spPr>
          <a:xfrm>
            <a:off x="422130"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B3F98235-7ECD-D5F4-08BE-76857355ABFA}"/>
              </a:ext>
            </a:extLst>
          </p:cNvPr>
          <p:cNvSpPr txBox="1"/>
          <p:nvPr/>
        </p:nvSpPr>
        <p:spPr>
          <a:xfrm>
            <a:off x="422130"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999F747F-6C0D-0BDB-B5B7-8266514B8949}"/>
              </a:ext>
            </a:extLst>
          </p:cNvPr>
          <p:cNvSpPr txBox="1"/>
          <p:nvPr/>
        </p:nvSpPr>
        <p:spPr>
          <a:xfrm>
            <a:off x="422130"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2277771-01BE-2A4E-C621-929D69C54177}"/>
              </a:ext>
            </a:extLst>
          </p:cNvPr>
          <p:cNvSpPr txBox="1"/>
          <p:nvPr/>
        </p:nvSpPr>
        <p:spPr>
          <a:xfrm>
            <a:off x="422130"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9CD79024-49B9-DF89-8EE9-633017761437}"/>
              </a:ext>
            </a:extLst>
          </p:cNvPr>
          <p:cNvCxnSpPr>
            <a:cxnSpLocks/>
          </p:cNvCxnSpPr>
          <p:nvPr/>
        </p:nvCxnSpPr>
        <p:spPr>
          <a:xfrm>
            <a:off x="725974"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3707324A-CA31-10C7-B6B8-E3A9A53CC3A2}"/>
              </a:ext>
            </a:extLst>
          </p:cNvPr>
          <p:cNvSpPr txBox="1"/>
          <p:nvPr/>
        </p:nvSpPr>
        <p:spPr>
          <a:xfrm>
            <a:off x="5143202"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4" name="テキスト ボックス 33">
            <a:extLst>
              <a:ext uri="{FF2B5EF4-FFF2-40B4-BE49-F238E27FC236}">
                <a16:creationId xmlns:a16="http://schemas.microsoft.com/office/drawing/2014/main" id="{2ADFDD2E-A723-2916-4648-0F5E903278F3}"/>
              </a:ext>
            </a:extLst>
          </p:cNvPr>
          <p:cNvSpPr txBox="1"/>
          <p:nvPr/>
        </p:nvSpPr>
        <p:spPr>
          <a:xfrm>
            <a:off x="5143202"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B895B974-A656-2669-0CE1-C27F2B4B20BE}"/>
              </a:ext>
            </a:extLst>
          </p:cNvPr>
          <p:cNvSpPr txBox="1"/>
          <p:nvPr/>
        </p:nvSpPr>
        <p:spPr>
          <a:xfrm>
            <a:off x="5143202"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A07117C9-502D-4C6F-AA2E-1C1E7CF7B4C6}"/>
              </a:ext>
            </a:extLst>
          </p:cNvPr>
          <p:cNvSpPr txBox="1"/>
          <p:nvPr/>
        </p:nvSpPr>
        <p:spPr>
          <a:xfrm>
            <a:off x="5143202" y="3467173"/>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6761199-CD70-153F-E94B-20E5E833D7A7}"/>
              </a:ext>
            </a:extLst>
          </p:cNvPr>
          <p:cNvSpPr txBox="1"/>
          <p:nvPr/>
        </p:nvSpPr>
        <p:spPr>
          <a:xfrm>
            <a:off x="5143202"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72CCB353-50A1-FF17-E933-B1158BEE91E4}"/>
              </a:ext>
            </a:extLst>
          </p:cNvPr>
          <p:cNvSpPr txBox="1"/>
          <p:nvPr/>
        </p:nvSpPr>
        <p:spPr>
          <a:xfrm>
            <a:off x="5143202"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44A347FC-9BE7-316C-5F13-B7762E412092}"/>
              </a:ext>
            </a:extLst>
          </p:cNvPr>
          <p:cNvSpPr txBox="1"/>
          <p:nvPr/>
        </p:nvSpPr>
        <p:spPr>
          <a:xfrm>
            <a:off x="5143202"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31750602-2370-CB79-F23B-20E4B2FC9A45}"/>
              </a:ext>
            </a:extLst>
          </p:cNvPr>
          <p:cNvSpPr txBox="1"/>
          <p:nvPr/>
        </p:nvSpPr>
        <p:spPr>
          <a:xfrm>
            <a:off x="5143202"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6" name="直線矢印コネクタ 45">
            <a:extLst>
              <a:ext uri="{FF2B5EF4-FFF2-40B4-BE49-F238E27FC236}">
                <a16:creationId xmlns:a16="http://schemas.microsoft.com/office/drawing/2014/main" id="{7398214A-9BC3-94A2-1B44-ABFB6EF10A95}"/>
              </a:ext>
            </a:extLst>
          </p:cNvPr>
          <p:cNvCxnSpPr>
            <a:cxnSpLocks/>
          </p:cNvCxnSpPr>
          <p:nvPr/>
        </p:nvCxnSpPr>
        <p:spPr>
          <a:xfrm>
            <a:off x="5447046"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BC82B682-A1BD-AF78-6196-B1E02CC1F3FB}"/>
              </a:ext>
            </a:extLst>
          </p:cNvPr>
          <p:cNvPicPr>
            <a:picLocks noChangeAspect="1"/>
          </p:cNvPicPr>
          <p:nvPr/>
        </p:nvPicPr>
        <p:blipFill>
          <a:blip r:embed="rId2"/>
          <a:stretch>
            <a:fillRect/>
          </a:stretch>
        </p:blipFill>
        <p:spPr>
          <a:xfrm>
            <a:off x="2277117" y="2386532"/>
            <a:ext cx="481489" cy="448956"/>
          </a:xfrm>
          <a:prstGeom prst="rect">
            <a:avLst/>
          </a:prstGeom>
        </p:spPr>
      </p:pic>
      <p:pic>
        <p:nvPicPr>
          <p:cNvPr id="54" name="図 53">
            <a:extLst>
              <a:ext uri="{FF2B5EF4-FFF2-40B4-BE49-F238E27FC236}">
                <a16:creationId xmlns:a16="http://schemas.microsoft.com/office/drawing/2014/main" id="{13BFB52F-AE2C-2214-E223-63E053D9FE07}"/>
              </a:ext>
            </a:extLst>
          </p:cNvPr>
          <p:cNvPicPr>
            <a:picLocks noChangeAspect="1"/>
          </p:cNvPicPr>
          <p:nvPr/>
        </p:nvPicPr>
        <p:blipFill>
          <a:blip r:embed="rId2"/>
          <a:stretch>
            <a:fillRect/>
          </a:stretch>
        </p:blipFill>
        <p:spPr>
          <a:xfrm>
            <a:off x="7114089" y="3453958"/>
            <a:ext cx="481489" cy="448956"/>
          </a:xfrm>
          <a:prstGeom prst="rect">
            <a:avLst/>
          </a:prstGeom>
        </p:spPr>
      </p:pic>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pic>
        <p:nvPicPr>
          <p:cNvPr id="70" name="図 69">
            <a:extLst>
              <a:ext uri="{FF2B5EF4-FFF2-40B4-BE49-F238E27FC236}">
                <a16:creationId xmlns:a16="http://schemas.microsoft.com/office/drawing/2014/main" id="{B5C916EA-56BA-12E3-B0EE-D83A8EC90585}"/>
              </a:ext>
            </a:extLst>
          </p:cNvPr>
          <p:cNvPicPr>
            <a:picLocks noChangeAspect="1"/>
          </p:cNvPicPr>
          <p:nvPr/>
        </p:nvPicPr>
        <p:blipFill>
          <a:blip r:embed="rId3"/>
          <a:stretch>
            <a:fillRect/>
          </a:stretch>
        </p:blipFill>
        <p:spPr>
          <a:xfrm>
            <a:off x="7595578" y="3298969"/>
            <a:ext cx="2167546" cy="2688917"/>
          </a:xfrm>
          <a:prstGeom prst="rect">
            <a:avLst/>
          </a:prstGeom>
        </p:spPr>
      </p:pic>
      <p:pic>
        <p:nvPicPr>
          <p:cNvPr id="826" name="図 825">
            <a:extLst>
              <a:ext uri="{FF2B5EF4-FFF2-40B4-BE49-F238E27FC236}">
                <a16:creationId xmlns:a16="http://schemas.microsoft.com/office/drawing/2014/main" id="{2D4E7AC1-305D-07DC-9608-BFD7502EFD59}"/>
              </a:ext>
            </a:extLst>
          </p:cNvPr>
          <p:cNvPicPr>
            <a:picLocks noChangeAspect="1"/>
          </p:cNvPicPr>
          <p:nvPr/>
        </p:nvPicPr>
        <p:blipFill>
          <a:blip r:embed="rId4"/>
          <a:stretch>
            <a:fillRect/>
          </a:stretch>
        </p:blipFill>
        <p:spPr>
          <a:xfrm>
            <a:off x="2758613" y="2386532"/>
            <a:ext cx="2101635" cy="2379328"/>
          </a:xfrm>
          <a:prstGeom prst="rect">
            <a:avLst/>
          </a:prstGeom>
        </p:spPr>
      </p:pic>
    </p:spTree>
    <p:extLst>
      <p:ext uri="{BB962C8B-B14F-4D97-AF65-F5344CB8AC3E}">
        <p14:creationId xmlns:p14="http://schemas.microsoft.com/office/powerpoint/2010/main" val="229935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改善モデル⓷</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5E6F5D8-69FF-EC49-F89A-79FBF097914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具体施策（友だち追加～短期施策）</a:t>
            </a:r>
          </a:p>
        </p:txBody>
      </p:sp>
      <p:sp>
        <p:nvSpPr>
          <p:cNvPr id="2" name="Google Shape;752;p28">
            <a:extLst>
              <a:ext uri="{FF2B5EF4-FFF2-40B4-BE49-F238E27FC236}">
                <a16:creationId xmlns:a16="http://schemas.microsoft.com/office/drawing/2014/main" id="{8DA9D746-57D8-A7F9-7048-09DA5704460D}"/>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友だち追加直後の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直近利用・契約可能性が高い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とされるユーザーに対しては</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トリガーとなる不安の払拭、条件面の精査を</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15-30</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日で設定しタッチポイントを増やす</a:t>
            </a:r>
          </a:p>
        </p:txBody>
      </p:sp>
      <p:sp>
        <p:nvSpPr>
          <p:cNvPr id="41" name="Shape 2">
            <a:extLst>
              <a:ext uri="{FF2B5EF4-FFF2-40B4-BE49-F238E27FC236}">
                <a16:creationId xmlns:a16="http://schemas.microsoft.com/office/drawing/2014/main" id="{72992F6A-FF2A-7ECF-0D33-F6529A528B57}"/>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Text 3">
            <a:extLst>
              <a:ext uri="{FF2B5EF4-FFF2-40B4-BE49-F238E27FC236}">
                <a16:creationId xmlns:a16="http://schemas.microsoft.com/office/drawing/2014/main" id="{190E6A1A-C1DD-4C8E-3197-5AD6F8426871}"/>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目的：登録直後の本気度スクリーニング → 即アプローチ対象（⑤リード有効化）の特定</a:t>
            </a:r>
            <a:endParaRPr lang="en-US" sz="1100" dirty="0">
              <a:latin typeface="メイリオ" panose="020B0604030504040204" pitchFamily="50" charset="-128"/>
              <a:ea typeface="メイリオ" panose="020B0604030504040204" pitchFamily="50" charset="-128"/>
            </a:endParaRPr>
          </a:p>
        </p:txBody>
      </p:sp>
      <p:sp>
        <p:nvSpPr>
          <p:cNvPr id="43" name="Shape 4">
            <a:extLst>
              <a:ext uri="{FF2B5EF4-FFF2-40B4-BE49-F238E27FC236}">
                <a16:creationId xmlns:a16="http://schemas.microsoft.com/office/drawing/2014/main" id="{D015C19B-5468-998D-251F-6B1B6959CE07}"/>
              </a:ext>
            </a:extLst>
          </p:cNvPr>
          <p:cNvSpPr/>
          <p:nvPr/>
        </p:nvSpPr>
        <p:spPr>
          <a:xfrm>
            <a:off x="775063" y="26047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5">
            <a:extLst>
              <a:ext uri="{FF2B5EF4-FFF2-40B4-BE49-F238E27FC236}">
                <a16:creationId xmlns:a16="http://schemas.microsoft.com/office/drawing/2014/main" id="{414FEA14-8392-6B62-876D-80318C415543}"/>
              </a:ext>
            </a:extLst>
          </p:cNvPr>
          <p:cNvSpPr/>
          <p:nvPr/>
        </p:nvSpPr>
        <p:spPr>
          <a:xfrm>
            <a:off x="848215" y="27144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6">
            <a:extLst>
              <a:ext uri="{FF2B5EF4-FFF2-40B4-BE49-F238E27FC236}">
                <a16:creationId xmlns:a16="http://schemas.microsoft.com/office/drawing/2014/main" id="{F75BBB7C-7CE8-CD05-76B4-8EAB532092DA}"/>
              </a:ext>
            </a:extLst>
          </p:cNvPr>
          <p:cNvSpPr/>
          <p:nvPr/>
        </p:nvSpPr>
        <p:spPr>
          <a:xfrm>
            <a:off x="848215" y="27144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6" name="Text 7">
            <a:extLst>
              <a:ext uri="{FF2B5EF4-FFF2-40B4-BE49-F238E27FC236}">
                <a16:creationId xmlns:a16="http://schemas.microsoft.com/office/drawing/2014/main" id="{1A4AA2AA-6FF8-3D30-B16C-44EC5F2961CD}"/>
              </a:ext>
            </a:extLst>
          </p:cNvPr>
          <p:cNvSpPr/>
          <p:nvPr/>
        </p:nvSpPr>
        <p:spPr>
          <a:xfrm>
            <a:off x="1250551" y="26504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Q1. 転職を検討し始めた理由は？</a:t>
            </a:r>
            <a:endParaRPr lang="en-US" sz="1100" dirty="0">
              <a:latin typeface="メイリオ" panose="020B0604030504040204" pitchFamily="50" charset="-128"/>
              <a:ea typeface="メイリオ" panose="020B0604030504040204" pitchFamily="50" charset="-128"/>
            </a:endParaRPr>
          </a:p>
        </p:txBody>
      </p:sp>
      <p:sp>
        <p:nvSpPr>
          <p:cNvPr id="47" name="Text 8">
            <a:extLst>
              <a:ext uri="{FF2B5EF4-FFF2-40B4-BE49-F238E27FC236}">
                <a16:creationId xmlns:a16="http://schemas.microsoft.com/office/drawing/2014/main" id="{7A1F59F1-0B49-73D0-38BD-9948F9A63985}"/>
              </a:ext>
            </a:extLst>
          </p:cNvPr>
          <p:cNvSpPr/>
          <p:nvPr/>
        </p:nvSpPr>
        <p:spPr>
          <a:xfrm>
            <a:off x="1250551" y="29156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年収アップ　B) 人間関係　C) キャリアアップ　D) 会社の将来性　E) ライフスタイル変化</a:t>
            </a:r>
            <a:endParaRPr lang="en-US" sz="850" dirty="0">
              <a:latin typeface="メイリオ" panose="020B0604030504040204" pitchFamily="50" charset="-128"/>
              <a:ea typeface="メイリオ" panose="020B0604030504040204" pitchFamily="50" charset="-128"/>
            </a:endParaRPr>
          </a:p>
        </p:txBody>
      </p:sp>
      <p:sp>
        <p:nvSpPr>
          <p:cNvPr id="48" name="Shape 9">
            <a:extLst>
              <a:ext uri="{FF2B5EF4-FFF2-40B4-BE49-F238E27FC236}">
                <a16:creationId xmlns:a16="http://schemas.microsoft.com/office/drawing/2014/main" id="{03F3B165-CA3D-3804-AA50-7C78C7C7EB79}"/>
              </a:ext>
            </a:extLst>
          </p:cNvPr>
          <p:cNvSpPr/>
          <p:nvPr/>
        </p:nvSpPr>
        <p:spPr>
          <a:xfrm>
            <a:off x="6444343" y="26778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9" name="Text 10">
            <a:extLst>
              <a:ext uri="{FF2B5EF4-FFF2-40B4-BE49-F238E27FC236}">
                <a16:creationId xmlns:a16="http://schemas.microsoft.com/office/drawing/2014/main" id="{DF68B239-8CBC-8341-BA16-8510179A4777}"/>
              </a:ext>
            </a:extLst>
          </p:cNvPr>
          <p:cNvSpPr/>
          <p:nvPr/>
        </p:nvSpPr>
        <p:spPr>
          <a:xfrm>
            <a:off x="6490063" y="26778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セグメント分けの最重要設問。回答別に配信内容を変える</a:t>
            </a:r>
            <a:endParaRPr lang="en-US" sz="850" dirty="0">
              <a:latin typeface="メイリオ" panose="020B0604030504040204" pitchFamily="50" charset="-128"/>
              <a:ea typeface="メイリオ" panose="020B0604030504040204" pitchFamily="50" charset="-128"/>
            </a:endParaRPr>
          </a:p>
        </p:txBody>
      </p:sp>
      <p:sp>
        <p:nvSpPr>
          <p:cNvPr id="50" name="Shape 11">
            <a:extLst>
              <a:ext uri="{FF2B5EF4-FFF2-40B4-BE49-F238E27FC236}">
                <a16:creationId xmlns:a16="http://schemas.microsoft.com/office/drawing/2014/main" id="{CEC57A7B-58B4-1F60-CC69-2D9C22413BEF}"/>
              </a:ext>
            </a:extLst>
          </p:cNvPr>
          <p:cNvSpPr/>
          <p:nvPr/>
        </p:nvSpPr>
        <p:spPr>
          <a:xfrm>
            <a:off x="775063" y="32905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1" name="Shape 12">
            <a:extLst>
              <a:ext uri="{FF2B5EF4-FFF2-40B4-BE49-F238E27FC236}">
                <a16:creationId xmlns:a16="http://schemas.microsoft.com/office/drawing/2014/main" id="{0FF9816E-5F43-9459-6349-51431111FD45}"/>
              </a:ext>
            </a:extLst>
          </p:cNvPr>
          <p:cNvSpPr/>
          <p:nvPr/>
        </p:nvSpPr>
        <p:spPr>
          <a:xfrm>
            <a:off x="848215" y="34002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13">
            <a:extLst>
              <a:ext uri="{FF2B5EF4-FFF2-40B4-BE49-F238E27FC236}">
                <a16:creationId xmlns:a16="http://schemas.microsoft.com/office/drawing/2014/main" id="{2BF8E88C-4FC5-B1C2-A8E8-D33029A55D78}"/>
              </a:ext>
            </a:extLst>
          </p:cNvPr>
          <p:cNvSpPr/>
          <p:nvPr/>
        </p:nvSpPr>
        <p:spPr>
          <a:xfrm>
            <a:off x="848215" y="34002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3" name="Text 14">
            <a:extLst>
              <a:ext uri="{FF2B5EF4-FFF2-40B4-BE49-F238E27FC236}">
                <a16:creationId xmlns:a16="http://schemas.microsoft.com/office/drawing/2014/main" id="{4AB095EB-AFFB-C1EB-53C1-4C882C450F66}"/>
              </a:ext>
            </a:extLst>
          </p:cNvPr>
          <p:cNvSpPr/>
          <p:nvPr/>
        </p:nvSpPr>
        <p:spPr>
          <a:xfrm>
            <a:off x="1250551" y="33362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Q2. 転職希望時期はいつ頃ですか？</a:t>
            </a:r>
            <a:endParaRPr lang="en-US" sz="1100" dirty="0">
              <a:latin typeface="メイリオ" panose="020B0604030504040204" pitchFamily="50" charset="-128"/>
              <a:ea typeface="メイリオ" panose="020B0604030504040204" pitchFamily="50" charset="-128"/>
            </a:endParaRPr>
          </a:p>
        </p:txBody>
      </p:sp>
      <p:sp>
        <p:nvSpPr>
          <p:cNvPr id="54" name="Text 15">
            <a:extLst>
              <a:ext uri="{FF2B5EF4-FFF2-40B4-BE49-F238E27FC236}">
                <a16:creationId xmlns:a16="http://schemas.microsoft.com/office/drawing/2014/main" id="{C6FBF75D-9A2C-AB9C-797C-A65992057C82}"/>
              </a:ext>
            </a:extLst>
          </p:cNvPr>
          <p:cNvSpPr/>
          <p:nvPr/>
        </p:nvSpPr>
        <p:spPr>
          <a:xfrm>
            <a:off x="1250551" y="36014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1ヶ月以内　B) 3ヶ月以内　C) 半年以内　D) まだ決めていない</a:t>
            </a:r>
            <a:endParaRPr lang="en-US" sz="850" dirty="0">
              <a:latin typeface="メイリオ" panose="020B0604030504040204" pitchFamily="50" charset="-128"/>
              <a:ea typeface="メイリオ" panose="020B0604030504040204" pitchFamily="50" charset="-128"/>
            </a:endParaRPr>
          </a:p>
        </p:txBody>
      </p:sp>
      <p:sp>
        <p:nvSpPr>
          <p:cNvPr id="55" name="Shape 16">
            <a:extLst>
              <a:ext uri="{FF2B5EF4-FFF2-40B4-BE49-F238E27FC236}">
                <a16:creationId xmlns:a16="http://schemas.microsoft.com/office/drawing/2014/main" id="{8B4031C1-8F8E-5381-AAC9-77A14A56B7F6}"/>
              </a:ext>
            </a:extLst>
          </p:cNvPr>
          <p:cNvSpPr/>
          <p:nvPr/>
        </p:nvSpPr>
        <p:spPr>
          <a:xfrm>
            <a:off x="6444343" y="33636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6" name="Text 17">
            <a:extLst>
              <a:ext uri="{FF2B5EF4-FFF2-40B4-BE49-F238E27FC236}">
                <a16:creationId xmlns:a16="http://schemas.microsoft.com/office/drawing/2014/main" id="{35FE734F-4C1A-3B7B-8AA4-C2546973E56B}"/>
              </a:ext>
            </a:extLst>
          </p:cNvPr>
          <p:cNvSpPr/>
          <p:nvPr/>
        </p:nvSpPr>
        <p:spPr>
          <a:xfrm>
            <a:off x="6490063" y="33636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「1〜3ヶ月以内」をホットリードとして即面談オファー対象に</a:t>
            </a:r>
            <a:endParaRPr lang="en-US" sz="850" dirty="0">
              <a:latin typeface="メイリオ" panose="020B0604030504040204" pitchFamily="50" charset="-128"/>
              <a:ea typeface="メイリオ" panose="020B0604030504040204" pitchFamily="50" charset="-128"/>
            </a:endParaRPr>
          </a:p>
        </p:txBody>
      </p:sp>
      <p:sp>
        <p:nvSpPr>
          <p:cNvPr id="57" name="Shape 18">
            <a:extLst>
              <a:ext uri="{FF2B5EF4-FFF2-40B4-BE49-F238E27FC236}">
                <a16:creationId xmlns:a16="http://schemas.microsoft.com/office/drawing/2014/main" id="{77F0529F-1B78-5C45-07C3-2B6DD4A77258}"/>
              </a:ext>
            </a:extLst>
          </p:cNvPr>
          <p:cNvSpPr/>
          <p:nvPr/>
        </p:nvSpPr>
        <p:spPr>
          <a:xfrm>
            <a:off x="775063" y="39763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8" name="Shape 19">
            <a:extLst>
              <a:ext uri="{FF2B5EF4-FFF2-40B4-BE49-F238E27FC236}">
                <a16:creationId xmlns:a16="http://schemas.microsoft.com/office/drawing/2014/main" id="{5CB9124D-3C60-302E-AD9D-68ADA9CED3C8}"/>
              </a:ext>
            </a:extLst>
          </p:cNvPr>
          <p:cNvSpPr/>
          <p:nvPr/>
        </p:nvSpPr>
        <p:spPr>
          <a:xfrm>
            <a:off x="848215" y="40860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9" name="Text 20">
            <a:extLst>
              <a:ext uri="{FF2B5EF4-FFF2-40B4-BE49-F238E27FC236}">
                <a16:creationId xmlns:a16="http://schemas.microsoft.com/office/drawing/2014/main" id="{DD06F576-0404-24E3-3484-9A5F77A77D7A}"/>
              </a:ext>
            </a:extLst>
          </p:cNvPr>
          <p:cNvSpPr/>
          <p:nvPr/>
        </p:nvSpPr>
        <p:spPr>
          <a:xfrm>
            <a:off x="848215" y="40860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0" name="Text 21">
            <a:extLst>
              <a:ext uri="{FF2B5EF4-FFF2-40B4-BE49-F238E27FC236}">
                <a16:creationId xmlns:a16="http://schemas.microsoft.com/office/drawing/2014/main" id="{362B56FE-0308-5ACA-794F-33A473A74E16}"/>
              </a:ext>
            </a:extLst>
          </p:cNvPr>
          <p:cNvSpPr/>
          <p:nvPr/>
        </p:nvSpPr>
        <p:spPr>
          <a:xfrm>
            <a:off x="1250551" y="40220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Q3. 現在の年収（税込）を教えてください</a:t>
            </a:r>
            <a:endParaRPr lang="en-US" sz="1100" dirty="0">
              <a:latin typeface="メイリオ" panose="020B0604030504040204" pitchFamily="50" charset="-128"/>
              <a:ea typeface="メイリオ" panose="020B0604030504040204" pitchFamily="50" charset="-128"/>
            </a:endParaRPr>
          </a:p>
        </p:txBody>
      </p:sp>
      <p:sp>
        <p:nvSpPr>
          <p:cNvPr id="61" name="Text 22">
            <a:extLst>
              <a:ext uri="{FF2B5EF4-FFF2-40B4-BE49-F238E27FC236}">
                <a16:creationId xmlns:a16="http://schemas.microsoft.com/office/drawing/2014/main" id="{CECF4E63-76E9-FEA5-7805-491752940936}"/>
              </a:ext>
            </a:extLst>
          </p:cNvPr>
          <p:cNvSpPr/>
          <p:nvPr/>
        </p:nvSpPr>
        <p:spPr>
          <a:xfrm>
            <a:off x="1250551" y="42872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〜300万　B) 300〜500万　C) 500〜700万　D) 700万〜</a:t>
            </a:r>
            <a:endParaRPr lang="en-US" sz="850" dirty="0">
              <a:latin typeface="メイリオ" panose="020B0604030504040204" pitchFamily="50" charset="-128"/>
              <a:ea typeface="メイリオ" panose="020B0604030504040204" pitchFamily="50" charset="-128"/>
            </a:endParaRPr>
          </a:p>
        </p:txBody>
      </p:sp>
      <p:sp>
        <p:nvSpPr>
          <p:cNvPr id="62" name="Shape 23">
            <a:extLst>
              <a:ext uri="{FF2B5EF4-FFF2-40B4-BE49-F238E27FC236}">
                <a16:creationId xmlns:a16="http://schemas.microsoft.com/office/drawing/2014/main" id="{DBA9622A-FDA2-1DDD-FBA3-73C50D3AB695}"/>
              </a:ext>
            </a:extLst>
          </p:cNvPr>
          <p:cNvSpPr/>
          <p:nvPr/>
        </p:nvSpPr>
        <p:spPr>
          <a:xfrm>
            <a:off x="6444343" y="40494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3" name="Text 24">
            <a:extLst>
              <a:ext uri="{FF2B5EF4-FFF2-40B4-BE49-F238E27FC236}">
                <a16:creationId xmlns:a16="http://schemas.microsoft.com/office/drawing/2014/main" id="{C60B9780-970F-8551-EE91-8044786C7B7C}"/>
              </a:ext>
            </a:extLst>
          </p:cNvPr>
          <p:cNvSpPr/>
          <p:nvPr/>
        </p:nvSpPr>
        <p:spPr>
          <a:xfrm>
            <a:off x="6490063" y="40494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サービス対象層の絞り込みと、訴求する年収UP幅の設定に活用</a:t>
            </a:r>
            <a:endParaRPr lang="en-US" sz="850" dirty="0">
              <a:latin typeface="メイリオ" panose="020B0604030504040204" pitchFamily="50" charset="-128"/>
              <a:ea typeface="メイリオ" panose="020B0604030504040204" pitchFamily="50" charset="-128"/>
            </a:endParaRPr>
          </a:p>
        </p:txBody>
      </p:sp>
      <p:sp>
        <p:nvSpPr>
          <p:cNvPr id="64" name="Shape 25">
            <a:extLst>
              <a:ext uri="{FF2B5EF4-FFF2-40B4-BE49-F238E27FC236}">
                <a16:creationId xmlns:a16="http://schemas.microsoft.com/office/drawing/2014/main" id="{E6646D0D-AC17-9974-8BF6-E0C26901E16D}"/>
              </a:ext>
            </a:extLst>
          </p:cNvPr>
          <p:cNvSpPr/>
          <p:nvPr/>
        </p:nvSpPr>
        <p:spPr>
          <a:xfrm>
            <a:off x="775063" y="46621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5" name="Shape 26">
            <a:extLst>
              <a:ext uri="{FF2B5EF4-FFF2-40B4-BE49-F238E27FC236}">
                <a16:creationId xmlns:a16="http://schemas.microsoft.com/office/drawing/2014/main" id="{86330F7C-C512-505C-521A-A5D1453510E6}"/>
              </a:ext>
            </a:extLst>
          </p:cNvPr>
          <p:cNvSpPr/>
          <p:nvPr/>
        </p:nvSpPr>
        <p:spPr>
          <a:xfrm>
            <a:off x="848215" y="47718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6" name="Text 27">
            <a:extLst>
              <a:ext uri="{FF2B5EF4-FFF2-40B4-BE49-F238E27FC236}">
                <a16:creationId xmlns:a16="http://schemas.microsoft.com/office/drawing/2014/main" id="{8A40057C-798D-FCB7-8B6B-C2507589C664}"/>
              </a:ext>
            </a:extLst>
          </p:cNvPr>
          <p:cNvSpPr/>
          <p:nvPr/>
        </p:nvSpPr>
        <p:spPr>
          <a:xfrm>
            <a:off x="848215" y="47718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67" name="Text 28">
            <a:extLst>
              <a:ext uri="{FF2B5EF4-FFF2-40B4-BE49-F238E27FC236}">
                <a16:creationId xmlns:a16="http://schemas.microsoft.com/office/drawing/2014/main" id="{FB185C3E-B3C3-8368-764A-0E889BE9E1DC}"/>
              </a:ext>
            </a:extLst>
          </p:cNvPr>
          <p:cNvSpPr/>
          <p:nvPr/>
        </p:nvSpPr>
        <p:spPr>
          <a:xfrm>
            <a:off x="1250551" y="47078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Q4. 今、転職活動で一番困っていることは？</a:t>
            </a:r>
            <a:endParaRPr lang="en-US" sz="1100" dirty="0">
              <a:latin typeface="メイリオ" panose="020B0604030504040204" pitchFamily="50" charset="-128"/>
              <a:ea typeface="メイリオ" panose="020B0604030504040204" pitchFamily="50" charset="-128"/>
            </a:endParaRPr>
          </a:p>
        </p:txBody>
      </p:sp>
      <p:sp>
        <p:nvSpPr>
          <p:cNvPr id="68" name="Text 29">
            <a:extLst>
              <a:ext uri="{FF2B5EF4-FFF2-40B4-BE49-F238E27FC236}">
                <a16:creationId xmlns:a16="http://schemas.microsoft.com/office/drawing/2014/main" id="{83A0111B-6C16-924D-2F24-F3322312058F}"/>
              </a:ext>
            </a:extLst>
          </p:cNvPr>
          <p:cNvSpPr/>
          <p:nvPr/>
        </p:nvSpPr>
        <p:spPr>
          <a:xfrm>
            <a:off x="1250551" y="49730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求人の探し方がわからない　B) 職務経歴書の書き方　C) 面接が不安　D) 年収交渉が怖い</a:t>
            </a:r>
            <a:endParaRPr lang="en-US" sz="850" dirty="0">
              <a:latin typeface="メイリオ" panose="020B0604030504040204" pitchFamily="50" charset="-128"/>
              <a:ea typeface="メイリオ" panose="020B0604030504040204" pitchFamily="50" charset="-128"/>
            </a:endParaRPr>
          </a:p>
        </p:txBody>
      </p:sp>
      <p:sp>
        <p:nvSpPr>
          <p:cNvPr id="69" name="Shape 30">
            <a:extLst>
              <a:ext uri="{FF2B5EF4-FFF2-40B4-BE49-F238E27FC236}">
                <a16:creationId xmlns:a16="http://schemas.microsoft.com/office/drawing/2014/main" id="{B12A9147-2862-DE3E-8AA5-154403D7E2E5}"/>
              </a:ext>
            </a:extLst>
          </p:cNvPr>
          <p:cNvSpPr/>
          <p:nvPr/>
        </p:nvSpPr>
        <p:spPr>
          <a:xfrm>
            <a:off x="6444343" y="47352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Text 31">
            <a:extLst>
              <a:ext uri="{FF2B5EF4-FFF2-40B4-BE49-F238E27FC236}">
                <a16:creationId xmlns:a16="http://schemas.microsoft.com/office/drawing/2014/main" id="{B1610132-9C94-4121-0174-5C4B56C1E9C4}"/>
              </a:ext>
            </a:extLst>
          </p:cNvPr>
          <p:cNvSpPr/>
          <p:nvPr/>
        </p:nvSpPr>
        <p:spPr>
          <a:xfrm>
            <a:off x="6490063" y="47352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ナーチャリングコンテンツの優先順位を決める設問</a:t>
            </a:r>
            <a:endParaRPr lang="en-US" sz="850" dirty="0">
              <a:latin typeface="メイリオ" panose="020B0604030504040204" pitchFamily="50" charset="-128"/>
              <a:ea typeface="メイリオ" panose="020B0604030504040204" pitchFamily="50" charset="-128"/>
            </a:endParaRPr>
          </a:p>
        </p:txBody>
      </p:sp>
      <p:sp>
        <p:nvSpPr>
          <p:cNvPr id="71" name="Shape 32">
            <a:extLst>
              <a:ext uri="{FF2B5EF4-FFF2-40B4-BE49-F238E27FC236}">
                <a16:creationId xmlns:a16="http://schemas.microsoft.com/office/drawing/2014/main" id="{5E0CF565-2E70-3594-94E3-B92DBA09CE1D}"/>
              </a:ext>
            </a:extLst>
          </p:cNvPr>
          <p:cNvSpPr/>
          <p:nvPr/>
        </p:nvSpPr>
        <p:spPr>
          <a:xfrm>
            <a:off x="775063" y="53479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Shape 33">
            <a:extLst>
              <a:ext uri="{FF2B5EF4-FFF2-40B4-BE49-F238E27FC236}">
                <a16:creationId xmlns:a16="http://schemas.microsoft.com/office/drawing/2014/main" id="{C3888C1F-7E31-5CB5-DB8C-6376B4A23075}"/>
              </a:ext>
            </a:extLst>
          </p:cNvPr>
          <p:cNvSpPr/>
          <p:nvPr/>
        </p:nvSpPr>
        <p:spPr>
          <a:xfrm>
            <a:off x="848215" y="54576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3" name="Text 34">
            <a:extLst>
              <a:ext uri="{FF2B5EF4-FFF2-40B4-BE49-F238E27FC236}">
                <a16:creationId xmlns:a16="http://schemas.microsoft.com/office/drawing/2014/main" id="{59588FF7-10F6-8141-4359-836B851E5424}"/>
              </a:ext>
            </a:extLst>
          </p:cNvPr>
          <p:cNvSpPr/>
          <p:nvPr/>
        </p:nvSpPr>
        <p:spPr>
          <a:xfrm>
            <a:off x="848215" y="54576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5</a:t>
            </a:r>
            <a:endParaRPr lang="en-US" sz="1100" dirty="0">
              <a:latin typeface="メイリオ" panose="020B0604030504040204" pitchFamily="50" charset="-128"/>
              <a:ea typeface="メイリオ" panose="020B0604030504040204" pitchFamily="50" charset="-128"/>
            </a:endParaRPr>
          </a:p>
        </p:txBody>
      </p:sp>
      <p:sp>
        <p:nvSpPr>
          <p:cNvPr id="74" name="Text 35">
            <a:extLst>
              <a:ext uri="{FF2B5EF4-FFF2-40B4-BE49-F238E27FC236}">
                <a16:creationId xmlns:a16="http://schemas.microsoft.com/office/drawing/2014/main" id="{C5CFC561-6A8F-BACD-E02C-A277E8A3063E}"/>
              </a:ext>
            </a:extLst>
          </p:cNvPr>
          <p:cNvSpPr/>
          <p:nvPr/>
        </p:nvSpPr>
        <p:spPr>
          <a:xfrm>
            <a:off x="1250551" y="53936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Q5. 転職エージェントの利用経験はありますか？</a:t>
            </a:r>
            <a:endParaRPr lang="en-US" sz="1100" dirty="0">
              <a:latin typeface="メイリオ" panose="020B0604030504040204" pitchFamily="50" charset="-128"/>
              <a:ea typeface="メイリオ" panose="020B0604030504040204" pitchFamily="50" charset="-128"/>
            </a:endParaRPr>
          </a:p>
        </p:txBody>
      </p:sp>
      <p:sp>
        <p:nvSpPr>
          <p:cNvPr id="75" name="Text 36">
            <a:extLst>
              <a:ext uri="{FF2B5EF4-FFF2-40B4-BE49-F238E27FC236}">
                <a16:creationId xmlns:a16="http://schemas.microsoft.com/office/drawing/2014/main" id="{BE1F2F6E-238F-21D4-40A5-BD1CB63C8953}"/>
              </a:ext>
            </a:extLst>
          </p:cNvPr>
          <p:cNvSpPr/>
          <p:nvPr/>
        </p:nvSpPr>
        <p:spPr>
          <a:xfrm>
            <a:off x="1250551" y="56588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はじめて　B) 使ったことがある（満足）　C) 使ったことがある（不満）</a:t>
            </a:r>
            <a:endParaRPr lang="en-US" sz="850" dirty="0">
              <a:latin typeface="メイリオ" panose="020B0604030504040204" pitchFamily="50" charset="-128"/>
              <a:ea typeface="メイリオ" panose="020B0604030504040204" pitchFamily="50" charset="-128"/>
            </a:endParaRPr>
          </a:p>
        </p:txBody>
      </p:sp>
      <p:sp>
        <p:nvSpPr>
          <p:cNvPr id="76" name="Shape 37">
            <a:extLst>
              <a:ext uri="{FF2B5EF4-FFF2-40B4-BE49-F238E27FC236}">
                <a16:creationId xmlns:a16="http://schemas.microsoft.com/office/drawing/2014/main" id="{E835EF93-AE65-C080-A583-076B9485CC6B}"/>
              </a:ext>
            </a:extLst>
          </p:cNvPr>
          <p:cNvSpPr/>
          <p:nvPr/>
        </p:nvSpPr>
        <p:spPr>
          <a:xfrm>
            <a:off x="6444343" y="54210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7" name="Text 38">
            <a:extLst>
              <a:ext uri="{FF2B5EF4-FFF2-40B4-BE49-F238E27FC236}">
                <a16:creationId xmlns:a16="http://schemas.microsoft.com/office/drawing/2014/main" id="{4E76941A-97E1-A80A-F7B6-9B05D68E1AA2}"/>
              </a:ext>
            </a:extLst>
          </p:cNvPr>
          <p:cNvSpPr/>
          <p:nvPr/>
        </p:nvSpPr>
        <p:spPr>
          <a:xfrm>
            <a:off x="6490063" y="54210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「不満あり」層には競合差別化コンテンツを優先配信</a:t>
            </a:r>
            <a:endParaRPr lang="en-US" sz="85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080DFA3-5E6A-7CB9-A83C-9D87074C7C62}"/>
              </a:ext>
            </a:extLst>
          </p:cNvPr>
          <p:cNvSpPr/>
          <p:nvPr/>
        </p:nvSpPr>
        <p:spPr>
          <a:xfrm>
            <a:off x="167640" y="1572768"/>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DC81EE9-FE25-DEA2-3BE6-5D4BC6729956}"/>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90106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CD327D4-877A-97BF-5A3D-BA2BFF89C5D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344F9C81-17B8-CD75-7943-C74785EA9326}"/>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想定：検索ボリューム推移などの情報からスケジューリング。運用実績案件ベースで</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「〇〇の日」「検討アクションが活発化する期間」「</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CVR</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が高い期間」を抽出し企画作成。</a:t>
            </a:r>
          </a:p>
        </p:txBody>
      </p:sp>
      <p:sp>
        <p:nvSpPr>
          <p:cNvPr id="3" name="Shape 2">
            <a:extLst>
              <a:ext uri="{FF2B5EF4-FFF2-40B4-BE49-F238E27FC236}">
                <a16:creationId xmlns:a16="http://schemas.microsoft.com/office/drawing/2014/main" id="{C60A8489-6BE4-3B93-2131-E11F42129098}"/>
              </a:ext>
            </a:extLst>
          </p:cNvPr>
          <p:cNvSpPr/>
          <p:nvPr/>
        </p:nvSpPr>
        <p:spPr>
          <a:xfrm>
            <a:off x="683623" y="2438404"/>
            <a:ext cx="4206240" cy="1920240"/>
          </a:xfrm>
          <a:prstGeom prst="roundRect">
            <a:avLst>
              <a:gd name="adj" fmla="val 5714"/>
            </a:avLst>
          </a:prstGeom>
          <a:solidFill>
            <a:srgbClr val="FFFFFF"/>
          </a:solidFill>
          <a:ln w="12700">
            <a:solidFill>
              <a:srgbClr val="4A90D9"/>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 name="Shape 3">
            <a:extLst>
              <a:ext uri="{FF2B5EF4-FFF2-40B4-BE49-F238E27FC236}">
                <a16:creationId xmlns:a16="http://schemas.microsoft.com/office/drawing/2014/main" id="{D946CD2D-A79C-A7B7-15A1-A1837415507A}"/>
              </a:ext>
            </a:extLst>
          </p:cNvPr>
          <p:cNvSpPr/>
          <p:nvPr/>
        </p:nvSpPr>
        <p:spPr>
          <a:xfrm>
            <a:off x="793351" y="2529844"/>
            <a:ext cx="658368" cy="292608"/>
          </a:xfrm>
          <a:prstGeom prst="roundRect">
            <a:avLst>
              <a:gd name="adj" fmla="val 18750"/>
            </a:avLst>
          </a:prstGeom>
          <a:solidFill>
            <a:srgbClr val="4A90D9"/>
          </a:solidFill>
          <a:ln w="12700">
            <a:solidFill>
              <a:srgbClr val="4A90D9"/>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 name="Text 4">
            <a:extLst>
              <a:ext uri="{FF2B5EF4-FFF2-40B4-BE49-F238E27FC236}">
                <a16:creationId xmlns:a16="http://schemas.microsoft.com/office/drawing/2014/main" id="{AB03F4F1-34EC-318B-44DB-813F9A260ADC}"/>
              </a:ext>
            </a:extLst>
          </p:cNvPr>
          <p:cNvSpPr/>
          <p:nvPr/>
        </p:nvSpPr>
        <p:spPr>
          <a:xfrm>
            <a:off x="79335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1-3月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 name="Shape 5">
            <a:extLst>
              <a:ext uri="{FF2B5EF4-FFF2-40B4-BE49-F238E27FC236}">
                <a16:creationId xmlns:a16="http://schemas.microsoft.com/office/drawing/2014/main" id="{C1B56B7E-2C3F-30E8-B262-184104348BC9}"/>
              </a:ext>
            </a:extLst>
          </p:cNvPr>
          <p:cNvSpPr/>
          <p:nvPr/>
        </p:nvSpPr>
        <p:spPr>
          <a:xfrm>
            <a:off x="150658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 name="Text 6">
            <a:extLst>
              <a:ext uri="{FF2B5EF4-FFF2-40B4-BE49-F238E27FC236}">
                <a16:creationId xmlns:a16="http://schemas.microsoft.com/office/drawing/2014/main" id="{A84711DF-BA77-8F0A-2104-C18090ED3CC4}"/>
              </a:ext>
            </a:extLst>
          </p:cNvPr>
          <p:cNvSpPr/>
          <p:nvPr/>
        </p:nvSpPr>
        <p:spPr>
          <a:xfrm>
            <a:off x="150658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転職最繁忙期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 name="Text 7">
            <a:extLst>
              <a:ext uri="{FF2B5EF4-FFF2-40B4-BE49-F238E27FC236}">
                <a16:creationId xmlns:a16="http://schemas.microsoft.com/office/drawing/2014/main" id="{F76CECB1-59BF-1E7A-094C-226743CD5D1F}"/>
              </a:ext>
            </a:extLst>
          </p:cNvPr>
          <p:cNvSpPr/>
          <p:nvPr/>
        </p:nvSpPr>
        <p:spPr>
          <a:xfrm>
            <a:off x="79335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「年度末キャリア見直しキャンペーン」</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 name="Text 8">
            <a:extLst>
              <a:ext uri="{FF2B5EF4-FFF2-40B4-BE49-F238E27FC236}">
                <a16:creationId xmlns:a16="http://schemas.microsoft.com/office/drawing/2014/main" id="{E9330544-7DE3-4156-FDB0-0068C25C7D92}"/>
              </a:ext>
            </a:extLst>
          </p:cNvPr>
          <p:cNvSpPr/>
          <p:nvPr/>
        </p:nvSpPr>
        <p:spPr>
          <a:xfrm>
            <a:off x="79335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1月〜3月は転職相談数が最大化する時期。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「3月末退職→4月入社」を目指す層が急増。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施策：無料個別面談の枠を期間限定で倍増。LINEで「残り○名」のカウントダウン配信。</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 name="Shape 9">
            <a:extLst>
              <a:ext uri="{FF2B5EF4-FFF2-40B4-BE49-F238E27FC236}">
                <a16:creationId xmlns:a16="http://schemas.microsoft.com/office/drawing/2014/main" id="{6C89C044-CC81-F526-4C28-8C8818A84AC8}"/>
              </a:ext>
            </a:extLst>
          </p:cNvPr>
          <p:cNvSpPr/>
          <p:nvPr/>
        </p:nvSpPr>
        <p:spPr>
          <a:xfrm>
            <a:off x="79335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 name="Text 10">
            <a:extLst>
              <a:ext uri="{FF2B5EF4-FFF2-40B4-BE49-F238E27FC236}">
                <a16:creationId xmlns:a16="http://schemas.microsoft.com/office/drawing/2014/main" id="{EBB9FD63-B2E1-8ED6-289B-17E75D53D0CF}"/>
              </a:ext>
            </a:extLst>
          </p:cNvPr>
          <p:cNvSpPr/>
          <p:nvPr/>
        </p:nvSpPr>
        <p:spPr>
          <a:xfrm>
            <a:off x="79335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KPI目標：面談予約率 +30% 目標</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13" name="Shape 11">
            <a:extLst>
              <a:ext uri="{FF2B5EF4-FFF2-40B4-BE49-F238E27FC236}">
                <a16:creationId xmlns:a16="http://schemas.microsoft.com/office/drawing/2014/main" id="{718FE43C-F46C-BAA4-F102-48BC91B9077E}"/>
              </a:ext>
            </a:extLst>
          </p:cNvPr>
          <p:cNvSpPr/>
          <p:nvPr/>
        </p:nvSpPr>
        <p:spPr>
          <a:xfrm>
            <a:off x="5118463" y="2438404"/>
            <a:ext cx="4206240" cy="1920240"/>
          </a:xfrm>
          <a:prstGeom prst="roundRect">
            <a:avLst>
              <a:gd name="adj" fmla="val 5714"/>
            </a:avLst>
          </a:prstGeom>
          <a:solidFill>
            <a:srgbClr val="FFFFFF"/>
          </a:solidFill>
          <a:ln w="12700">
            <a:solidFill>
              <a:schemeClr val="accent1">
                <a:lumMod val="60000"/>
                <a:lumOff val="4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 name="Shape 12">
            <a:extLst>
              <a:ext uri="{FF2B5EF4-FFF2-40B4-BE49-F238E27FC236}">
                <a16:creationId xmlns:a16="http://schemas.microsoft.com/office/drawing/2014/main" id="{BCFAF28F-3A41-62B7-ED14-2C88314DE693}"/>
              </a:ext>
            </a:extLst>
          </p:cNvPr>
          <p:cNvSpPr/>
          <p:nvPr/>
        </p:nvSpPr>
        <p:spPr>
          <a:xfrm>
            <a:off x="5228191" y="2529844"/>
            <a:ext cx="658368" cy="292608"/>
          </a:xfrm>
          <a:prstGeom prst="roundRect">
            <a:avLst>
              <a:gd name="adj" fmla="val 18750"/>
            </a:avLst>
          </a:prstGeom>
          <a:solidFill>
            <a:schemeClr val="accent1">
              <a:lumMod val="40000"/>
              <a:lumOff val="6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 name="Text 13">
            <a:extLst>
              <a:ext uri="{FF2B5EF4-FFF2-40B4-BE49-F238E27FC236}">
                <a16:creationId xmlns:a16="http://schemas.microsoft.com/office/drawing/2014/main" id="{5636307B-10AB-ADC3-1727-AB8FC5831143}"/>
              </a:ext>
            </a:extLst>
          </p:cNvPr>
          <p:cNvSpPr/>
          <p:nvPr/>
        </p:nvSpPr>
        <p:spPr>
          <a:xfrm>
            <a:off x="522819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4-5月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 name="Shape 14">
            <a:extLst>
              <a:ext uri="{FF2B5EF4-FFF2-40B4-BE49-F238E27FC236}">
                <a16:creationId xmlns:a16="http://schemas.microsoft.com/office/drawing/2014/main" id="{4D4B9A45-FCB5-6DB2-B02F-57FFE5D56691}"/>
              </a:ext>
            </a:extLst>
          </p:cNvPr>
          <p:cNvSpPr/>
          <p:nvPr/>
        </p:nvSpPr>
        <p:spPr>
          <a:xfrm>
            <a:off x="594142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 name="Text 15">
            <a:extLst>
              <a:ext uri="{FF2B5EF4-FFF2-40B4-BE49-F238E27FC236}">
                <a16:creationId xmlns:a16="http://schemas.microsoft.com/office/drawing/2014/main" id="{5AB9A477-5190-5925-BA00-7C28E41E2AE9}"/>
              </a:ext>
            </a:extLst>
          </p:cNvPr>
          <p:cNvSpPr/>
          <p:nvPr/>
        </p:nvSpPr>
        <p:spPr>
          <a:xfrm>
            <a:off x="594142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GW前後</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 name="Text 16">
            <a:extLst>
              <a:ext uri="{FF2B5EF4-FFF2-40B4-BE49-F238E27FC236}">
                <a16:creationId xmlns:a16="http://schemas.microsoft.com/office/drawing/2014/main" id="{F0DF4241-0F34-404F-9C8A-0C5C0B3F7B0B}"/>
              </a:ext>
            </a:extLst>
          </p:cNvPr>
          <p:cNvSpPr/>
          <p:nvPr/>
        </p:nvSpPr>
        <p:spPr>
          <a:xfrm>
            <a:off x="522819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「GW中に転職活動を始めよう」</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 name="Text 17">
            <a:extLst>
              <a:ext uri="{FF2B5EF4-FFF2-40B4-BE49-F238E27FC236}">
                <a16:creationId xmlns:a16="http://schemas.microsoft.com/office/drawing/2014/main" id="{2F5CBA0E-C68D-2D85-8F64-5D9ED46DE52D}"/>
              </a:ext>
            </a:extLst>
          </p:cNvPr>
          <p:cNvSpPr/>
          <p:nvPr/>
        </p:nvSpPr>
        <p:spPr>
          <a:xfrm>
            <a:off x="522819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連休中に将来を考えるホワイトカラーが多い</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暇×焦りが転職意欲を高める時期</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施策：GW前にLINE配信「休み中に読む転職マニュアル」PDF特典を展開。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 name="Shape 18">
            <a:extLst>
              <a:ext uri="{FF2B5EF4-FFF2-40B4-BE49-F238E27FC236}">
                <a16:creationId xmlns:a16="http://schemas.microsoft.com/office/drawing/2014/main" id="{7EF6A367-39C2-356A-9B47-3D3671D8D918}"/>
              </a:ext>
            </a:extLst>
          </p:cNvPr>
          <p:cNvSpPr/>
          <p:nvPr/>
        </p:nvSpPr>
        <p:spPr>
          <a:xfrm>
            <a:off x="522819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Text 19">
            <a:extLst>
              <a:ext uri="{FF2B5EF4-FFF2-40B4-BE49-F238E27FC236}">
                <a16:creationId xmlns:a16="http://schemas.microsoft.com/office/drawing/2014/main" id="{5E166AEE-8473-61AD-BC51-7204C60ECFE2}"/>
              </a:ext>
            </a:extLst>
          </p:cNvPr>
          <p:cNvSpPr/>
          <p:nvPr/>
        </p:nvSpPr>
        <p:spPr>
          <a:xfrm>
            <a:off x="522819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KPI目標：LINE登録数 ピーク月比 +20%</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22" name="Shape 20">
            <a:extLst>
              <a:ext uri="{FF2B5EF4-FFF2-40B4-BE49-F238E27FC236}">
                <a16:creationId xmlns:a16="http://schemas.microsoft.com/office/drawing/2014/main" id="{487B2061-6B88-0A18-0E57-12185B834CCF}"/>
              </a:ext>
            </a:extLst>
          </p:cNvPr>
          <p:cNvSpPr/>
          <p:nvPr/>
        </p:nvSpPr>
        <p:spPr>
          <a:xfrm>
            <a:off x="683623" y="4495804"/>
            <a:ext cx="4206240" cy="1920240"/>
          </a:xfrm>
          <a:prstGeom prst="roundRect">
            <a:avLst>
              <a:gd name="adj" fmla="val 5714"/>
            </a:avLst>
          </a:prstGeom>
          <a:solidFill>
            <a:srgbClr val="FFFFFF"/>
          </a:solidFill>
          <a:ln w="12700">
            <a:solidFill>
              <a:schemeClr val="accent1"/>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 name="Shape 21">
            <a:extLst>
              <a:ext uri="{FF2B5EF4-FFF2-40B4-BE49-F238E27FC236}">
                <a16:creationId xmlns:a16="http://schemas.microsoft.com/office/drawing/2014/main" id="{D80051DD-55DD-DDC4-1C20-FA43FB837AEB}"/>
              </a:ext>
            </a:extLst>
          </p:cNvPr>
          <p:cNvSpPr/>
          <p:nvPr/>
        </p:nvSpPr>
        <p:spPr>
          <a:xfrm>
            <a:off x="793351" y="4587244"/>
            <a:ext cx="658368" cy="292608"/>
          </a:xfrm>
          <a:prstGeom prst="roundRect">
            <a:avLst>
              <a:gd name="adj" fmla="val 18750"/>
            </a:avLst>
          </a:prstGeom>
          <a:solidFill>
            <a:schemeClr val="accent1"/>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 name="Text 22">
            <a:extLst>
              <a:ext uri="{FF2B5EF4-FFF2-40B4-BE49-F238E27FC236}">
                <a16:creationId xmlns:a16="http://schemas.microsoft.com/office/drawing/2014/main" id="{166D040C-5E3C-D384-1752-F340D729E508}"/>
              </a:ext>
            </a:extLst>
          </p:cNvPr>
          <p:cNvSpPr/>
          <p:nvPr/>
        </p:nvSpPr>
        <p:spPr>
          <a:xfrm>
            <a:off x="79335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9-10月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 name="Shape 23">
            <a:extLst>
              <a:ext uri="{FF2B5EF4-FFF2-40B4-BE49-F238E27FC236}">
                <a16:creationId xmlns:a16="http://schemas.microsoft.com/office/drawing/2014/main" id="{E1D75AA6-DC2D-C974-1F8F-EA3764B5E2B1}"/>
              </a:ext>
            </a:extLst>
          </p:cNvPr>
          <p:cNvSpPr/>
          <p:nvPr/>
        </p:nvSpPr>
        <p:spPr>
          <a:xfrm>
            <a:off x="150658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 name="Text 24">
            <a:extLst>
              <a:ext uri="{FF2B5EF4-FFF2-40B4-BE49-F238E27FC236}">
                <a16:creationId xmlns:a16="http://schemas.microsoft.com/office/drawing/2014/main" id="{2C81E4D3-7404-C45A-3360-2888B2C16CEC}"/>
              </a:ext>
            </a:extLst>
          </p:cNvPr>
          <p:cNvSpPr/>
          <p:nvPr/>
        </p:nvSpPr>
        <p:spPr>
          <a:xfrm>
            <a:off x="150658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秋の転職期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 name="Text 25">
            <a:extLst>
              <a:ext uri="{FF2B5EF4-FFF2-40B4-BE49-F238E27FC236}">
                <a16:creationId xmlns:a16="http://schemas.microsoft.com/office/drawing/2014/main" id="{D74753E2-5389-A4C0-99DF-F1EBD9F21486}"/>
              </a:ext>
            </a:extLst>
          </p:cNvPr>
          <p:cNvSpPr/>
          <p:nvPr/>
        </p:nvSpPr>
        <p:spPr>
          <a:xfrm>
            <a:off x="79335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「下半期スタートダッシュ転職フェア」</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 name="Text 26">
            <a:extLst>
              <a:ext uri="{FF2B5EF4-FFF2-40B4-BE49-F238E27FC236}">
                <a16:creationId xmlns:a16="http://schemas.microsoft.com/office/drawing/2014/main" id="{15421AF9-EA34-4D6D-A17B-353040384108}"/>
              </a:ext>
            </a:extLst>
          </p:cNvPr>
          <p:cNvSpPr/>
          <p:nvPr/>
        </p:nvSpPr>
        <p:spPr>
          <a:xfrm>
            <a:off x="79335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9月は企業の採用活動が再活性化する時期。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求人数が増えるため転職成功率も上がる</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施策：「秋限定・非公開求人100件公開」をLINEで先行案内。希少性で友だち追加を促進。</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 name="Shape 27">
            <a:extLst>
              <a:ext uri="{FF2B5EF4-FFF2-40B4-BE49-F238E27FC236}">
                <a16:creationId xmlns:a16="http://schemas.microsoft.com/office/drawing/2014/main" id="{5BE67E13-AD4F-4228-9F1A-8B4E0CCBEBBE}"/>
              </a:ext>
            </a:extLst>
          </p:cNvPr>
          <p:cNvSpPr/>
          <p:nvPr/>
        </p:nvSpPr>
        <p:spPr>
          <a:xfrm>
            <a:off x="79335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0" name="Text 28">
            <a:extLst>
              <a:ext uri="{FF2B5EF4-FFF2-40B4-BE49-F238E27FC236}">
                <a16:creationId xmlns:a16="http://schemas.microsoft.com/office/drawing/2014/main" id="{9E653D90-A148-4540-DAAB-BDE1AE7D11F9}"/>
              </a:ext>
            </a:extLst>
          </p:cNvPr>
          <p:cNvSpPr/>
          <p:nvPr/>
        </p:nvSpPr>
        <p:spPr>
          <a:xfrm>
            <a:off x="79335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KPI目標：非公開求人経由成約率 計測開始</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31" name="Shape 29">
            <a:extLst>
              <a:ext uri="{FF2B5EF4-FFF2-40B4-BE49-F238E27FC236}">
                <a16:creationId xmlns:a16="http://schemas.microsoft.com/office/drawing/2014/main" id="{9A903725-E0FA-B7ED-BE7F-3E870C011999}"/>
              </a:ext>
            </a:extLst>
          </p:cNvPr>
          <p:cNvSpPr/>
          <p:nvPr/>
        </p:nvSpPr>
        <p:spPr>
          <a:xfrm>
            <a:off x="5118463" y="4495804"/>
            <a:ext cx="4206240" cy="1920240"/>
          </a:xfrm>
          <a:prstGeom prst="roundRect">
            <a:avLst>
              <a:gd name="adj" fmla="val 5714"/>
            </a:avLst>
          </a:prstGeom>
          <a:solidFill>
            <a:srgbClr val="FFFFFF"/>
          </a:solidFill>
          <a:ln w="12700">
            <a:solidFill>
              <a:schemeClr val="tx2">
                <a:lumMod val="5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 name="Shape 30">
            <a:extLst>
              <a:ext uri="{FF2B5EF4-FFF2-40B4-BE49-F238E27FC236}">
                <a16:creationId xmlns:a16="http://schemas.microsoft.com/office/drawing/2014/main" id="{E560804C-2AD2-34CF-80F2-47723D89B9EE}"/>
              </a:ext>
            </a:extLst>
          </p:cNvPr>
          <p:cNvSpPr/>
          <p:nvPr/>
        </p:nvSpPr>
        <p:spPr>
          <a:xfrm>
            <a:off x="5228191" y="4587244"/>
            <a:ext cx="658368" cy="292608"/>
          </a:xfrm>
          <a:prstGeom prst="roundRect">
            <a:avLst>
              <a:gd name="adj" fmla="val 18750"/>
            </a:avLst>
          </a:prstGeom>
          <a:solidFill>
            <a:schemeClr val="tx2">
              <a:lumMod val="5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 name="Text 31">
            <a:extLst>
              <a:ext uri="{FF2B5EF4-FFF2-40B4-BE49-F238E27FC236}">
                <a16:creationId xmlns:a16="http://schemas.microsoft.com/office/drawing/2014/main" id="{0D3AA494-1CCC-455B-FD0B-69A03482B0B2}"/>
              </a:ext>
            </a:extLst>
          </p:cNvPr>
          <p:cNvSpPr/>
          <p:nvPr/>
        </p:nvSpPr>
        <p:spPr>
          <a:xfrm>
            <a:off x="522819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12月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 name="Shape 32">
            <a:extLst>
              <a:ext uri="{FF2B5EF4-FFF2-40B4-BE49-F238E27FC236}">
                <a16:creationId xmlns:a16="http://schemas.microsoft.com/office/drawing/2014/main" id="{7CE7A172-10BE-1E65-8E12-21F725E375E4}"/>
              </a:ext>
            </a:extLst>
          </p:cNvPr>
          <p:cNvSpPr/>
          <p:nvPr/>
        </p:nvSpPr>
        <p:spPr>
          <a:xfrm>
            <a:off x="594142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 name="Text 33">
            <a:extLst>
              <a:ext uri="{FF2B5EF4-FFF2-40B4-BE49-F238E27FC236}">
                <a16:creationId xmlns:a16="http://schemas.microsoft.com/office/drawing/2014/main" id="{6FF1A96D-D52E-0E30-532A-ECE831BE9605}"/>
              </a:ext>
            </a:extLst>
          </p:cNvPr>
          <p:cNvSpPr/>
          <p:nvPr/>
        </p:nvSpPr>
        <p:spPr>
          <a:xfrm>
            <a:off x="594142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年末</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 name="Text 34">
            <a:extLst>
              <a:ext uri="{FF2B5EF4-FFF2-40B4-BE49-F238E27FC236}">
                <a16:creationId xmlns:a16="http://schemas.microsoft.com/office/drawing/2014/main" id="{6B191EBD-ED99-BB14-8C62-5B0BA0590745}"/>
              </a:ext>
            </a:extLst>
          </p:cNvPr>
          <p:cNvSpPr/>
          <p:nvPr/>
        </p:nvSpPr>
        <p:spPr>
          <a:xfrm>
            <a:off x="522819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「来年こそ転職を決める人へ」」</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 name="Text 35">
            <a:extLst>
              <a:ext uri="{FF2B5EF4-FFF2-40B4-BE49-F238E27FC236}">
                <a16:creationId xmlns:a16="http://schemas.microsoft.com/office/drawing/2014/main" id="{13B90534-5D2F-7E51-02AE-C33CF568ED2E}"/>
              </a:ext>
            </a:extLst>
          </p:cNvPr>
          <p:cNvSpPr/>
          <p:nvPr/>
        </p:nvSpPr>
        <p:spPr>
          <a:xfrm>
            <a:off x="522819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年末は「来年こそ」という決意が高まるタイミング</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競合が少なく広告効率が良い穴場期間</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施策：LINE配信「2026年転職市場予測レポート」先行配布。年明けの面談予約を先に獲得。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 name="Shape 36">
            <a:extLst>
              <a:ext uri="{FF2B5EF4-FFF2-40B4-BE49-F238E27FC236}">
                <a16:creationId xmlns:a16="http://schemas.microsoft.com/office/drawing/2014/main" id="{985D5473-A6B2-6E6C-69A6-536638C669C1}"/>
              </a:ext>
            </a:extLst>
          </p:cNvPr>
          <p:cNvSpPr/>
          <p:nvPr/>
        </p:nvSpPr>
        <p:spPr>
          <a:xfrm>
            <a:off x="522819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 name="Text 37">
            <a:extLst>
              <a:ext uri="{FF2B5EF4-FFF2-40B4-BE49-F238E27FC236}">
                <a16:creationId xmlns:a16="http://schemas.microsoft.com/office/drawing/2014/main" id="{665AB6CB-040B-F5AE-5EDC-FD4A6C6C841A}"/>
              </a:ext>
            </a:extLst>
          </p:cNvPr>
          <p:cNvSpPr/>
          <p:nvPr/>
        </p:nvSpPr>
        <p:spPr>
          <a:xfrm>
            <a:off x="522819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KPI目標：1月面談予約の先行獲得率</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42" name="Shape 2">
            <a:extLst>
              <a:ext uri="{FF2B5EF4-FFF2-40B4-BE49-F238E27FC236}">
                <a16:creationId xmlns:a16="http://schemas.microsoft.com/office/drawing/2014/main" id="{22BE1ADA-BF01-A520-0D77-972E7821FCE2}"/>
              </a:ext>
            </a:extLst>
          </p:cNvPr>
          <p:cNvSpPr/>
          <p:nvPr/>
        </p:nvSpPr>
        <p:spPr>
          <a:xfrm>
            <a:off x="683623" y="1900213"/>
            <a:ext cx="864616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Text 3">
            <a:extLst>
              <a:ext uri="{FF2B5EF4-FFF2-40B4-BE49-F238E27FC236}">
                <a16:creationId xmlns:a16="http://schemas.microsoft.com/office/drawing/2014/main" id="{F90B8BB4-8425-50C4-639B-16BEF90627DF}"/>
              </a:ext>
            </a:extLst>
          </p:cNvPr>
          <p:cNvSpPr/>
          <p:nvPr/>
        </p:nvSpPr>
        <p:spPr>
          <a:xfrm>
            <a:off x="866503" y="1900213"/>
            <a:ext cx="8458200" cy="457200"/>
          </a:xfrm>
          <a:prstGeom prst="rect">
            <a:avLst/>
          </a:prstGeom>
          <a:noFill/>
          <a:ln/>
        </p:spPr>
        <p:txBody>
          <a:bodyPr wrap="square" rtlCol="0" anchor="ctr"/>
          <a:lstStyle/>
          <a:p>
            <a:pPr marL="0" indent="0">
              <a:buNone/>
            </a:pP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よくある</a:t>
            </a: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・季節・年齢などのデータから、各ユーザー層に反応率の高い投稿クリエイティブを、企画～設計～運用。</a:t>
            </a:r>
            <a:endParaRPr lang="en-US" sz="1100" dirty="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17C2D8-2B96-60F6-B4C8-41F2D3663705}"/>
              </a:ext>
            </a:extLst>
          </p:cNvPr>
          <p:cNvSpPr/>
          <p:nvPr/>
        </p:nvSpPr>
        <p:spPr>
          <a:xfrm>
            <a:off x="139337" y="1733006"/>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12EE9E2-9122-74C3-0A3B-F81EEC972BBE}"/>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2185305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B77D6B5-FA2F-ED51-FB47-E8DC14B8ADE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具体施策（友だち追加～休眠等の長期施策）</a:t>
            </a:r>
          </a:p>
        </p:txBody>
      </p:sp>
      <p:sp>
        <p:nvSpPr>
          <p:cNvPr id="2" name="Google Shape;752;p28">
            <a:extLst>
              <a:ext uri="{FF2B5EF4-FFF2-40B4-BE49-F238E27FC236}">
                <a16:creationId xmlns:a16="http://schemas.microsoft.com/office/drawing/2014/main" id="{A8DDF192-E20B-6A12-DAA4-2904850388D2}"/>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友だち追加からすぐ</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しないユーザーに対しては、最適な</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MSG</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配信を実現するため、</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心理ハードルの低い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性格診断</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“経験談アンケート</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等を通じて追客施策の強弱を決定。</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80" name="Text 3">
            <a:extLst>
              <a:ext uri="{FF2B5EF4-FFF2-40B4-BE49-F238E27FC236}">
                <a16:creationId xmlns:a16="http://schemas.microsoft.com/office/drawing/2014/main" id="{2F1CF158-D3B8-740E-7BB9-7BA2711D5A86}"/>
              </a:ext>
            </a:extLst>
          </p:cNvPr>
          <p:cNvSpPr/>
          <p:nvPr/>
        </p:nvSpPr>
        <p:spPr>
          <a:xfrm>
            <a:off x="430467" y="2806337"/>
            <a:ext cx="3997841"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診断設問（4問・各5択）</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1" name="Shape 4">
            <a:extLst>
              <a:ext uri="{FF2B5EF4-FFF2-40B4-BE49-F238E27FC236}">
                <a16:creationId xmlns:a16="http://schemas.microsoft.com/office/drawing/2014/main" id="{D0D52073-224A-0961-D46B-A0D0A35577C1}"/>
              </a:ext>
            </a:extLst>
          </p:cNvPr>
          <p:cNvSpPr/>
          <p:nvPr/>
        </p:nvSpPr>
        <p:spPr>
          <a:xfrm>
            <a:off x="404949" y="314466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5">
            <a:extLst>
              <a:ext uri="{FF2B5EF4-FFF2-40B4-BE49-F238E27FC236}">
                <a16:creationId xmlns:a16="http://schemas.microsoft.com/office/drawing/2014/main" id="{45D645B7-F48E-7853-EBC0-8E0C5EF81708}"/>
              </a:ext>
            </a:extLst>
          </p:cNvPr>
          <p:cNvSpPr/>
          <p:nvPr/>
        </p:nvSpPr>
        <p:spPr>
          <a:xfrm>
            <a:off x="559121" y="314466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Q1  「仕事のことを考えると、日曜の夜に憂鬱になりますか？」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3" name="Shape 6">
            <a:extLst>
              <a:ext uri="{FF2B5EF4-FFF2-40B4-BE49-F238E27FC236}">
                <a16:creationId xmlns:a16="http://schemas.microsoft.com/office/drawing/2014/main" id="{6791C392-1A7B-7AE0-A33F-16F51A18C75D}"/>
              </a:ext>
            </a:extLst>
          </p:cNvPr>
          <p:cNvSpPr/>
          <p:nvPr/>
        </p:nvSpPr>
        <p:spPr>
          <a:xfrm>
            <a:off x="404949" y="351042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4" name="Text 7">
            <a:extLst>
              <a:ext uri="{FF2B5EF4-FFF2-40B4-BE49-F238E27FC236}">
                <a16:creationId xmlns:a16="http://schemas.microsoft.com/office/drawing/2014/main" id="{E67E7D97-92DF-6373-F0A3-CF953F46FBAE}"/>
              </a:ext>
            </a:extLst>
          </p:cNvPr>
          <p:cNvSpPr/>
          <p:nvPr/>
        </p:nvSpPr>
        <p:spPr>
          <a:xfrm>
            <a:off x="559121" y="351042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Q2  「給与明細を見て『こんなものか』と思ったことがありますか？」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5" name="Shape 8">
            <a:extLst>
              <a:ext uri="{FF2B5EF4-FFF2-40B4-BE49-F238E27FC236}">
                <a16:creationId xmlns:a16="http://schemas.microsoft.com/office/drawing/2014/main" id="{1EEAB261-7048-6C4C-10D7-6CA60C396F31}"/>
              </a:ext>
            </a:extLst>
          </p:cNvPr>
          <p:cNvSpPr/>
          <p:nvPr/>
        </p:nvSpPr>
        <p:spPr>
          <a:xfrm>
            <a:off x="404949" y="387618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6" name="Text 9">
            <a:extLst>
              <a:ext uri="{FF2B5EF4-FFF2-40B4-BE49-F238E27FC236}">
                <a16:creationId xmlns:a16="http://schemas.microsoft.com/office/drawing/2014/main" id="{D0B754F8-CEA6-0F61-4B75-EC0D7AB0BBDC}"/>
              </a:ext>
            </a:extLst>
          </p:cNvPr>
          <p:cNvSpPr/>
          <p:nvPr/>
        </p:nvSpPr>
        <p:spPr>
          <a:xfrm>
            <a:off x="559121" y="387618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Q3  「5年後、今の会社にいる自分の姿が想像できますか？」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7" name="Shape 10">
            <a:extLst>
              <a:ext uri="{FF2B5EF4-FFF2-40B4-BE49-F238E27FC236}">
                <a16:creationId xmlns:a16="http://schemas.microsoft.com/office/drawing/2014/main" id="{FF427501-423E-6CDF-014B-ED232F961BFB}"/>
              </a:ext>
            </a:extLst>
          </p:cNvPr>
          <p:cNvSpPr/>
          <p:nvPr/>
        </p:nvSpPr>
        <p:spPr>
          <a:xfrm>
            <a:off x="404949" y="424194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Text 11">
            <a:extLst>
              <a:ext uri="{FF2B5EF4-FFF2-40B4-BE49-F238E27FC236}">
                <a16:creationId xmlns:a16="http://schemas.microsoft.com/office/drawing/2014/main" id="{DB910A08-DF58-32FA-2432-5C0AF3C83C53}"/>
              </a:ext>
            </a:extLst>
          </p:cNvPr>
          <p:cNvSpPr/>
          <p:nvPr/>
        </p:nvSpPr>
        <p:spPr>
          <a:xfrm>
            <a:off x="559121" y="424194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Q4  「上司・同僚と話す際に本音を言えていると感じますか？」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9" name="Text 12">
            <a:extLst>
              <a:ext uri="{FF2B5EF4-FFF2-40B4-BE49-F238E27FC236}">
                <a16:creationId xmlns:a16="http://schemas.microsoft.com/office/drawing/2014/main" id="{49C9DDEC-B91F-B9F3-D8EE-6DA3BF2758CE}"/>
              </a:ext>
            </a:extLst>
          </p:cNvPr>
          <p:cNvSpPr/>
          <p:nvPr/>
        </p:nvSpPr>
        <p:spPr>
          <a:xfrm>
            <a:off x="5177853" y="2810806"/>
            <a:ext cx="4297680"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診断結果 4パターン＋追客方針</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0" name="Shape 13">
            <a:extLst>
              <a:ext uri="{FF2B5EF4-FFF2-40B4-BE49-F238E27FC236}">
                <a16:creationId xmlns:a16="http://schemas.microsoft.com/office/drawing/2014/main" id="{7D9279AB-DA4C-865E-1BFC-B99D3C6C3C3F}"/>
              </a:ext>
            </a:extLst>
          </p:cNvPr>
          <p:cNvSpPr/>
          <p:nvPr/>
        </p:nvSpPr>
        <p:spPr>
          <a:xfrm>
            <a:off x="5177853" y="31491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1" name="Shape 14">
            <a:extLst>
              <a:ext uri="{FF2B5EF4-FFF2-40B4-BE49-F238E27FC236}">
                <a16:creationId xmlns:a16="http://schemas.microsoft.com/office/drawing/2014/main" id="{FE25EE99-D7D8-85CF-09FC-6465111BFB2C}"/>
              </a:ext>
            </a:extLst>
          </p:cNvPr>
          <p:cNvSpPr/>
          <p:nvPr/>
        </p:nvSpPr>
        <p:spPr>
          <a:xfrm>
            <a:off x="5251005" y="3222286"/>
            <a:ext cx="1005840" cy="256032"/>
          </a:xfrm>
          <a:prstGeom prst="roundRect">
            <a:avLst>
              <a:gd name="adj" fmla="val 14286"/>
            </a:avLst>
          </a:prstGeom>
          <a:solidFill>
            <a:schemeClr val="tx2">
              <a:lumMod val="75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2" name="Text 15">
            <a:extLst>
              <a:ext uri="{FF2B5EF4-FFF2-40B4-BE49-F238E27FC236}">
                <a16:creationId xmlns:a16="http://schemas.microsoft.com/office/drawing/2014/main" id="{F2BB4149-C773-D448-ED22-0664FCDF9177}"/>
              </a:ext>
            </a:extLst>
          </p:cNvPr>
          <p:cNvSpPr/>
          <p:nvPr/>
        </p:nvSpPr>
        <p:spPr>
          <a:xfrm>
            <a:off x="5251005" y="32222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即転職型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3" name="Shape 16">
            <a:extLst>
              <a:ext uri="{FF2B5EF4-FFF2-40B4-BE49-F238E27FC236}">
                <a16:creationId xmlns:a16="http://schemas.microsoft.com/office/drawing/2014/main" id="{95E60EE8-0A0B-1609-55AE-E84B1C214243}"/>
              </a:ext>
            </a:extLst>
          </p:cNvPr>
          <p:cNvSpPr/>
          <p:nvPr/>
        </p:nvSpPr>
        <p:spPr>
          <a:xfrm>
            <a:off x="6320853" y="32405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4" name="Text 17">
            <a:extLst>
              <a:ext uri="{FF2B5EF4-FFF2-40B4-BE49-F238E27FC236}">
                <a16:creationId xmlns:a16="http://schemas.microsoft.com/office/drawing/2014/main" id="{72D5F163-FCBF-2136-41BC-77594BF1877E}"/>
              </a:ext>
            </a:extLst>
          </p:cNvPr>
          <p:cNvSpPr/>
          <p:nvPr/>
        </p:nvSpPr>
        <p:spPr>
          <a:xfrm>
            <a:off x="6320853" y="32405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5" name="Text 18">
            <a:extLst>
              <a:ext uri="{FF2B5EF4-FFF2-40B4-BE49-F238E27FC236}">
                <a16:creationId xmlns:a16="http://schemas.microsoft.com/office/drawing/2014/main" id="{10AA3820-1E64-09EE-B24B-B91B9B0E3954}"/>
              </a:ext>
            </a:extLst>
          </p:cNvPr>
          <p:cNvSpPr/>
          <p:nvPr/>
        </p:nvSpPr>
        <p:spPr>
          <a:xfrm>
            <a:off x="7207821" y="32405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05A5A"/>
                </a:solidFill>
                <a:effectLst/>
                <a:uLnTx/>
                <a:uFillTx/>
                <a:latin typeface="メイリオ" panose="020B0604030504040204" pitchFamily="50" charset="-128"/>
                <a:ea typeface="メイリオ" panose="020B0604030504040204" pitchFamily="50" charset="-128"/>
                <a:cs typeface="Calibri" pitchFamily="34" charset="-120"/>
              </a:rPr>
              <a:t>→ ホットリスト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6" name="Text 19">
            <a:extLst>
              <a:ext uri="{FF2B5EF4-FFF2-40B4-BE49-F238E27FC236}">
                <a16:creationId xmlns:a16="http://schemas.microsoft.com/office/drawing/2014/main" id="{3DDA72DF-D996-0751-2316-45B75A6606C6}"/>
              </a:ext>
            </a:extLst>
          </p:cNvPr>
          <p:cNvSpPr/>
          <p:nvPr/>
        </p:nvSpPr>
        <p:spPr>
          <a:xfrm>
            <a:off x="5251005" y="34966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面談オファーを即座に配信。限定枠・期限を明示したクロージングメッセージ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7" name="Shape 20">
            <a:extLst>
              <a:ext uri="{FF2B5EF4-FFF2-40B4-BE49-F238E27FC236}">
                <a16:creationId xmlns:a16="http://schemas.microsoft.com/office/drawing/2014/main" id="{011CB3D1-C7A5-7956-3BAA-69C2CB905B6A}"/>
              </a:ext>
            </a:extLst>
          </p:cNvPr>
          <p:cNvSpPr/>
          <p:nvPr/>
        </p:nvSpPr>
        <p:spPr>
          <a:xfrm>
            <a:off x="5177853" y="38349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8" name="Shape 21">
            <a:extLst>
              <a:ext uri="{FF2B5EF4-FFF2-40B4-BE49-F238E27FC236}">
                <a16:creationId xmlns:a16="http://schemas.microsoft.com/office/drawing/2014/main" id="{4C69AF05-15A8-3F8C-8F51-AD3439C14622}"/>
              </a:ext>
            </a:extLst>
          </p:cNvPr>
          <p:cNvSpPr/>
          <p:nvPr/>
        </p:nvSpPr>
        <p:spPr>
          <a:xfrm>
            <a:off x="5251005" y="3908086"/>
            <a:ext cx="1005840" cy="256032"/>
          </a:xfrm>
          <a:prstGeom prst="roundRect">
            <a:avLst>
              <a:gd name="adj" fmla="val 14286"/>
            </a:avLst>
          </a:prstGeom>
          <a:solidFill>
            <a:schemeClr val="tx2"/>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9" name="Text 22">
            <a:extLst>
              <a:ext uri="{FF2B5EF4-FFF2-40B4-BE49-F238E27FC236}">
                <a16:creationId xmlns:a16="http://schemas.microsoft.com/office/drawing/2014/main" id="{FF31A922-59CE-9653-E310-5F8646A1A6DD}"/>
              </a:ext>
            </a:extLst>
          </p:cNvPr>
          <p:cNvSpPr/>
          <p:nvPr/>
        </p:nvSpPr>
        <p:spPr>
          <a:xfrm>
            <a:off x="5251005" y="39080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慎重検討型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0" name="Shape 23">
            <a:extLst>
              <a:ext uri="{FF2B5EF4-FFF2-40B4-BE49-F238E27FC236}">
                <a16:creationId xmlns:a16="http://schemas.microsoft.com/office/drawing/2014/main" id="{BF532CBE-24FC-8551-A3EA-4F3D1688FA51}"/>
              </a:ext>
            </a:extLst>
          </p:cNvPr>
          <p:cNvSpPr/>
          <p:nvPr/>
        </p:nvSpPr>
        <p:spPr>
          <a:xfrm>
            <a:off x="6320853" y="39263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1" name="Text 24">
            <a:extLst>
              <a:ext uri="{FF2B5EF4-FFF2-40B4-BE49-F238E27FC236}">
                <a16:creationId xmlns:a16="http://schemas.microsoft.com/office/drawing/2014/main" id="{6B81A3BF-2D14-0A6E-58E2-41F6C95FFF9D}"/>
              </a:ext>
            </a:extLst>
          </p:cNvPr>
          <p:cNvSpPr/>
          <p:nvPr/>
        </p:nvSpPr>
        <p:spPr>
          <a:xfrm>
            <a:off x="6320853" y="39263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2" name="Text 25">
            <a:extLst>
              <a:ext uri="{FF2B5EF4-FFF2-40B4-BE49-F238E27FC236}">
                <a16:creationId xmlns:a16="http://schemas.microsoft.com/office/drawing/2014/main" id="{A7F23C91-1AC9-92C8-0444-0C2A7B7900FB}"/>
              </a:ext>
            </a:extLst>
          </p:cNvPr>
          <p:cNvSpPr/>
          <p:nvPr/>
        </p:nvSpPr>
        <p:spPr>
          <a:xfrm>
            <a:off x="7207821" y="39263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8A838"/>
                </a:solidFill>
                <a:effectLst/>
                <a:uLnTx/>
                <a:uFillTx/>
                <a:latin typeface="メイリオ" panose="020B0604030504040204" pitchFamily="50" charset="-128"/>
                <a:ea typeface="メイリオ" panose="020B0604030504040204" pitchFamily="50" charset="-128"/>
                <a:cs typeface="Calibri" pitchFamily="34" charset="-120"/>
              </a:rPr>
              <a:t>→ ウォームリスト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3" name="Text 26">
            <a:extLst>
              <a:ext uri="{FF2B5EF4-FFF2-40B4-BE49-F238E27FC236}">
                <a16:creationId xmlns:a16="http://schemas.microsoft.com/office/drawing/2014/main" id="{4901DF11-6A92-B335-2D97-90FF2A2F3B7E}"/>
              </a:ext>
            </a:extLst>
          </p:cNvPr>
          <p:cNvSpPr/>
          <p:nvPr/>
        </p:nvSpPr>
        <p:spPr>
          <a:xfrm>
            <a:off x="5251005" y="41824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転職成功事例・年収比較データを週1配信。3〜4週間かけて温める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Shape 27">
            <a:extLst>
              <a:ext uri="{FF2B5EF4-FFF2-40B4-BE49-F238E27FC236}">
                <a16:creationId xmlns:a16="http://schemas.microsoft.com/office/drawing/2014/main" id="{20D444BB-26DB-74C1-2095-C4CECE5DD870}"/>
              </a:ext>
            </a:extLst>
          </p:cNvPr>
          <p:cNvSpPr/>
          <p:nvPr/>
        </p:nvSpPr>
        <p:spPr>
          <a:xfrm>
            <a:off x="5177853" y="45207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5" name="Shape 28">
            <a:extLst>
              <a:ext uri="{FF2B5EF4-FFF2-40B4-BE49-F238E27FC236}">
                <a16:creationId xmlns:a16="http://schemas.microsoft.com/office/drawing/2014/main" id="{B7739C89-3CB4-FFD4-5878-8E37F4F17031}"/>
              </a:ext>
            </a:extLst>
          </p:cNvPr>
          <p:cNvSpPr/>
          <p:nvPr/>
        </p:nvSpPr>
        <p:spPr>
          <a:xfrm>
            <a:off x="5251005" y="4593886"/>
            <a:ext cx="1005840" cy="256032"/>
          </a:xfrm>
          <a:prstGeom prst="roundRect">
            <a:avLst>
              <a:gd name="adj" fmla="val 14286"/>
            </a:avLst>
          </a:prstGeom>
          <a:solidFill>
            <a:schemeClr val="tx2">
              <a:lumMod val="60000"/>
              <a:lumOff val="4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6" name="Text 29">
            <a:extLst>
              <a:ext uri="{FF2B5EF4-FFF2-40B4-BE49-F238E27FC236}">
                <a16:creationId xmlns:a16="http://schemas.microsoft.com/office/drawing/2014/main" id="{86C5CCD4-DADF-8B0D-5331-4D81B5C903BC}"/>
              </a:ext>
            </a:extLst>
          </p:cNvPr>
          <p:cNvSpPr/>
          <p:nvPr/>
        </p:nvSpPr>
        <p:spPr>
          <a:xfrm>
            <a:off x="5251005" y="45938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情報収集型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7" name="Shape 30">
            <a:extLst>
              <a:ext uri="{FF2B5EF4-FFF2-40B4-BE49-F238E27FC236}">
                <a16:creationId xmlns:a16="http://schemas.microsoft.com/office/drawing/2014/main" id="{4F2323BE-47BE-D53C-98B3-4B403E562891}"/>
              </a:ext>
            </a:extLst>
          </p:cNvPr>
          <p:cNvSpPr/>
          <p:nvPr/>
        </p:nvSpPr>
        <p:spPr>
          <a:xfrm>
            <a:off x="6320853" y="46121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8" name="Text 31">
            <a:extLst>
              <a:ext uri="{FF2B5EF4-FFF2-40B4-BE49-F238E27FC236}">
                <a16:creationId xmlns:a16="http://schemas.microsoft.com/office/drawing/2014/main" id="{5812A64F-2CCF-7FF6-0B3F-E39A36A21562}"/>
              </a:ext>
            </a:extLst>
          </p:cNvPr>
          <p:cNvSpPr/>
          <p:nvPr/>
        </p:nvSpPr>
        <p:spPr>
          <a:xfrm>
            <a:off x="6320853" y="46121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9" name="Text 32">
            <a:extLst>
              <a:ext uri="{FF2B5EF4-FFF2-40B4-BE49-F238E27FC236}">
                <a16:creationId xmlns:a16="http://schemas.microsoft.com/office/drawing/2014/main" id="{E0F8F83C-84BB-D4BE-225A-E9D41ECDEA76}"/>
              </a:ext>
            </a:extLst>
          </p:cNvPr>
          <p:cNvSpPr/>
          <p:nvPr/>
        </p:nvSpPr>
        <p:spPr>
          <a:xfrm>
            <a:off x="7207821" y="46121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0D9488"/>
                </a:solidFill>
                <a:effectLst/>
                <a:uLnTx/>
                <a:uFillTx/>
                <a:latin typeface="メイリオ" panose="020B0604030504040204" pitchFamily="50" charset="-128"/>
                <a:ea typeface="メイリオ" panose="020B0604030504040204" pitchFamily="50" charset="-128"/>
                <a:cs typeface="Calibri" pitchFamily="34" charset="-120"/>
              </a:rPr>
              <a:t>→ ミドルリスト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Text 33">
            <a:extLst>
              <a:ext uri="{FF2B5EF4-FFF2-40B4-BE49-F238E27FC236}">
                <a16:creationId xmlns:a16="http://schemas.microsoft.com/office/drawing/2014/main" id="{88DC7D4E-3340-9B35-991E-96ED00531893}"/>
              </a:ext>
            </a:extLst>
          </p:cNvPr>
          <p:cNvSpPr/>
          <p:nvPr/>
        </p:nvSpPr>
        <p:spPr>
          <a:xfrm>
            <a:off x="5251005" y="48682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業界動向・スキルアップ情報を提供。半年スパンで関係構築</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1" name="Shape 34">
            <a:extLst>
              <a:ext uri="{FF2B5EF4-FFF2-40B4-BE49-F238E27FC236}">
                <a16:creationId xmlns:a16="http://schemas.microsoft.com/office/drawing/2014/main" id="{966CBC37-CF13-58B0-5CD8-1E77836F7F29}"/>
              </a:ext>
            </a:extLst>
          </p:cNvPr>
          <p:cNvSpPr/>
          <p:nvPr/>
        </p:nvSpPr>
        <p:spPr>
          <a:xfrm>
            <a:off x="5177853" y="52065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35">
            <a:extLst>
              <a:ext uri="{FF2B5EF4-FFF2-40B4-BE49-F238E27FC236}">
                <a16:creationId xmlns:a16="http://schemas.microsoft.com/office/drawing/2014/main" id="{100CDE3F-E390-202C-287F-515D436D1ADB}"/>
              </a:ext>
            </a:extLst>
          </p:cNvPr>
          <p:cNvSpPr/>
          <p:nvPr/>
        </p:nvSpPr>
        <p:spPr>
          <a:xfrm>
            <a:off x="5251005" y="5279686"/>
            <a:ext cx="1005840" cy="256032"/>
          </a:xfrm>
          <a:prstGeom prst="roundRect">
            <a:avLst>
              <a:gd name="adj" fmla="val 14286"/>
            </a:avLst>
          </a:prstGeom>
          <a:solidFill>
            <a:schemeClr val="tx2">
              <a:lumMod val="20000"/>
              <a:lumOff val="8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3" name="Text 36">
            <a:extLst>
              <a:ext uri="{FF2B5EF4-FFF2-40B4-BE49-F238E27FC236}">
                <a16:creationId xmlns:a16="http://schemas.microsoft.com/office/drawing/2014/main" id="{0D886FBA-D1FA-1F1D-4774-F731872AEE33}"/>
              </a:ext>
            </a:extLst>
          </p:cNvPr>
          <p:cNvSpPr/>
          <p:nvPr/>
        </p:nvSpPr>
        <p:spPr>
          <a:xfrm>
            <a:off x="5251005" y="52796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現状維持型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4" name="Shape 37">
            <a:extLst>
              <a:ext uri="{FF2B5EF4-FFF2-40B4-BE49-F238E27FC236}">
                <a16:creationId xmlns:a16="http://schemas.microsoft.com/office/drawing/2014/main" id="{0A8BE876-C3E9-5C00-CA0A-659FF0188ECF}"/>
              </a:ext>
            </a:extLst>
          </p:cNvPr>
          <p:cNvSpPr/>
          <p:nvPr/>
        </p:nvSpPr>
        <p:spPr>
          <a:xfrm>
            <a:off x="6320853" y="52979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5" name="Text 38">
            <a:extLst>
              <a:ext uri="{FF2B5EF4-FFF2-40B4-BE49-F238E27FC236}">
                <a16:creationId xmlns:a16="http://schemas.microsoft.com/office/drawing/2014/main" id="{BB5CADDA-DE23-AF11-67EE-438A0E4F573B}"/>
              </a:ext>
            </a:extLst>
          </p:cNvPr>
          <p:cNvSpPr/>
          <p:nvPr/>
        </p:nvSpPr>
        <p:spPr>
          <a:xfrm>
            <a:off x="6320853" y="52979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低スコア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39">
            <a:extLst>
              <a:ext uri="{FF2B5EF4-FFF2-40B4-BE49-F238E27FC236}">
                <a16:creationId xmlns:a16="http://schemas.microsoft.com/office/drawing/2014/main" id="{CDEDD963-E8C1-C16E-2022-546114A75A76}"/>
              </a:ext>
            </a:extLst>
          </p:cNvPr>
          <p:cNvSpPr/>
          <p:nvPr/>
        </p:nvSpPr>
        <p:spPr>
          <a:xfrm>
            <a:off x="7207821" y="52979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 コールドリスト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7" name="Text 40">
            <a:extLst>
              <a:ext uri="{FF2B5EF4-FFF2-40B4-BE49-F238E27FC236}">
                <a16:creationId xmlns:a16="http://schemas.microsoft.com/office/drawing/2014/main" id="{00198631-8657-65B3-0A0A-7C5220C5C5A7}"/>
              </a:ext>
            </a:extLst>
          </p:cNvPr>
          <p:cNvSpPr/>
          <p:nvPr/>
        </p:nvSpPr>
        <p:spPr>
          <a:xfrm>
            <a:off x="5251005" y="55540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無理にアプローチせず月1配信。「環境変化」で再燃を待つ長期戦略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8" name="Shape 2">
            <a:extLst>
              <a:ext uri="{FF2B5EF4-FFF2-40B4-BE49-F238E27FC236}">
                <a16:creationId xmlns:a16="http://schemas.microsoft.com/office/drawing/2014/main" id="{EED969DB-6090-3801-B39E-93C24360A11A}"/>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9" name="Text 3">
            <a:extLst>
              <a:ext uri="{FF2B5EF4-FFF2-40B4-BE49-F238E27FC236}">
                <a16:creationId xmlns:a16="http://schemas.microsoft.com/office/drawing/2014/main" id="{4BD93F70-A1A4-6B20-298D-BE3F4D258BE9}"/>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登録から時間がかかったユーザーに対して、あなたの診断（ハードル：低）→現状可視化→セグメント追客を実施</a:t>
            </a:r>
            <a:endParaRPr lang="en-US" sz="110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DC8374B-5F7F-A61F-169C-C54DCD7D51C0}"/>
              </a:ext>
            </a:extLst>
          </p:cNvPr>
          <p:cNvSpPr/>
          <p:nvPr/>
        </p:nvSpPr>
        <p:spPr>
          <a:xfrm>
            <a:off x="195943" y="1649952"/>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EEE7D10-E257-A9D8-F6D6-AF0A9A41DDC4}"/>
              </a:ext>
            </a:extLst>
          </p:cNvPr>
          <p:cNvSpPr txBox="1"/>
          <p:nvPr/>
        </p:nvSpPr>
        <p:spPr>
          <a:xfrm>
            <a:off x="3872439" y="1317985"/>
            <a:ext cx="5767950" cy="230832"/>
          </a:xfrm>
          <a:prstGeom prst="rect">
            <a:avLst/>
          </a:prstGeom>
          <a:noFill/>
        </p:spPr>
        <p:txBody>
          <a:bodyPr wrap="square">
            <a:spAutoFit/>
          </a:bodyPr>
          <a:lstStyle/>
          <a:p>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サービス説明に繋げられるけど、サービスの直接的な宣伝は忌避される</a:t>
            </a:r>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 </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ユーザー層のセグメント化に活用</a:t>
            </a:r>
            <a:endParaRPr lang="ja-JP" altLang="en-US" sz="900" dirty="0">
              <a:solidFill>
                <a:schemeClr val="bg1">
                  <a:lumMod val="50000"/>
                </a:schemeClr>
              </a:solidFill>
            </a:endParaRPr>
          </a:p>
        </p:txBody>
      </p:sp>
      <p:sp>
        <p:nvSpPr>
          <p:cNvPr id="5" name="矢印: 右 4">
            <a:extLst>
              <a:ext uri="{FF2B5EF4-FFF2-40B4-BE49-F238E27FC236}">
                <a16:creationId xmlns:a16="http://schemas.microsoft.com/office/drawing/2014/main" id="{31E96465-A2D8-BAD2-908E-13EA6B2BA2F0}"/>
              </a:ext>
            </a:extLst>
          </p:cNvPr>
          <p:cNvSpPr/>
          <p:nvPr/>
        </p:nvSpPr>
        <p:spPr>
          <a:xfrm>
            <a:off x="4769313" y="3151795"/>
            <a:ext cx="375557" cy="5302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173E9D-47C1-7D4E-1D0D-EC3756179319}"/>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人材</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転職</a:t>
            </a:r>
            <a:r>
              <a:rPr kumimoji="1" lang="en-US" altLang="ja-JP" sz="1200" dirty="0">
                <a:solidFill>
                  <a:schemeClr val="bg1"/>
                </a:solidFill>
                <a:latin typeface="メイリオ" panose="020B0604030504040204" pitchFamily="50" charset="-128"/>
                <a:ea typeface="メイリオ" panose="020B0604030504040204" pitchFamily="50" charset="-128"/>
              </a:rPr>
              <a:t>)</a:t>
            </a:r>
            <a:r>
              <a:rPr kumimoji="1" lang="ja-JP" altLang="en-US" sz="1200" dirty="0">
                <a:solidFill>
                  <a:schemeClr val="bg1"/>
                </a:solidFill>
                <a:latin typeface="メイリオ" panose="020B0604030504040204" pitchFamily="50" charset="-128"/>
                <a:ea typeface="メイリオ" panose="020B0604030504040204" pitchFamily="50" charset="-128"/>
              </a:rPr>
              <a:t>業界の例</a:t>
            </a:r>
          </a:p>
        </p:txBody>
      </p:sp>
    </p:spTree>
    <p:extLst>
      <p:ext uri="{BB962C8B-B14F-4D97-AF65-F5344CB8AC3E}">
        <p14:creationId xmlns:p14="http://schemas.microsoft.com/office/powerpoint/2010/main" val="1932664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141472</TotalTime>
  <Words>5264</Words>
  <Application>Microsoft Office PowerPoint</Application>
  <PresentationFormat>A4 210 x 297 mm</PresentationFormat>
  <Paragraphs>1342</Paragraphs>
  <Slides>36</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36</vt:i4>
      </vt:variant>
    </vt:vector>
  </HeadingPairs>
  <TitlesOfParts>
    <vt:vector size="4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1919</cp:revision>
  <cp:lastPrinted>2022-11-01T11:38:14Z</cp:lastPrinted>
  <dcterms:created xsi:type="dcterms:W3CDTF">2015-09-04T09:21:15Z</dcterms:created>
  <dcterms:modified xsi:type="dcterms:W3CDTF">2026-07-21T09:21:02Z</dcterms:modified>
</cp:coreProperties>
</file>