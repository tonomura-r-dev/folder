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5"/>
  </p:notesMasterIdLst>
  <p:handoutMasterIdLst>
    <p:handoutMasterId r:id="rId66"/>
  </p:handoutMasterIdLst>
  <p:sldIdLst>
    <p:sldId id="2363" r:id="rId3"/>
    <p:sldId id="2721" r:id="rId4"/>
    <p:sldId id="2723" r:id="rId5"/>
    <p:sldId id="2714" r:id="rId6"/>
    <p:sldId id="2761" r:id="rId7"/>
    <p:sldId id="2935" r:id="rId8"/>
    <p:sldId id="2919" r:id="rId9"/>
    <p:sldId id="2519" r:id="rId10"/>
    <p:sldId id="2931" r:id="rId11"/>
    <p:sldId id="2952" r:id="rId12"/>
    <p:sldId id="2956" r:id="rId13"/>
    <p:sldId id="2749" r:id="rId14"/>
    <p:sldId id="2736" r:id="rId15"/>
    <p:sldId id="2908" r:id="rId16"/>
    <p:sldId id="2950" r:id="rId17"/>
    <p:sldId id="2762" r:id="rId18"/>
    <p:sldId id="2937" r:id="rId19"/>
    <p:sldId id="2939" r:id="rId20"/>
    <p:sldId id="2966" r:id="rId21"/>
    <p:sldId id="2962" r:id="rId22"/>
    <p:sldId id="2942" r:id="rId23"/>
    <p:sldId id="2941" r:id="rId24"/>
    <p:sldId id="2943" r:id="rId25"/>
    <p:sldId id="2944" r:id="rId26"/>
    <p:sldId id="2737" r:id="rId27"/>
    <p:sldId id="2563" r:id="rId28"/>
    <p:sldId id="2959" r:id="rId29"/>
    <p:sldId id="2970" r:id="rId30"/>
    <p:sldId id="2968" r:id="rId31"/>
    <p:sldId id="2969" r:id="rId32"/>
    <p:sldId id="2639" r:id="rId33"/>
    <p:sldId id="2575" r:id="rId34"/>
    <p:sldId id="2910" r:id="rId35"/>
    <p:sldId id="2957" r:id="rId36"/>
    <p:sldId id="2839" r:id="rId37"/>
    <p:sldId id="2740" r:id="rId38"/>
    <p:sldId id="2755" r:id="rId39"/>
    <p:sldId id="2951" r:id="rId40"/>
    <p:sldId id="2841" r:id="rId41"/>
    <p:sldId id="2724" r:id="rId42"/>
    <p:sldId id="2734" r:id="rId43"/>
    <p:sldId id="2595" r:id="rId44"/>
    <p:sldId id="2566" r:id="rId45"/>
    <p:sldId id="2569" r:id="rId46"/>
    <p:sldId id="2915" r:id="rId47"/>
    <p:sldId id="2619" r:id="rId48"/>
    <p:sldId id="2913" r:id="rId49"/>
    <p:sldId id="2961" r:id="rId50"/>
    <p:sldId id="2849" r:id="rId51"/>
    <p:sldId id="2904" r:id="rId52"/>
    <p:sldId id="2905" r:id="rId53"/>
    <p:sldId id="2906" r:id="rId54"/>
    <p:sldId id="2907" r:id="rId55"/>
    <p:sldId id="2967" r:id="rId56"/>
    <p:sldId id="2946" r:id="rId57"/>
    <p:sldId id="2947" r:id="rId58"/>
    <p:sldId id="2948" r:id="rId59"/>
    <p:sldId id="2958" r:id="rId60"/>
    <p:sldId id="2954" r:id="rId61"/>
    <p:sldId id="2953" r:id="rId62"/>
    <p:sldId id="2955" r:id="rId63"/>
    <p:sldId id="612" r:id="rId64"/>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DFD"/>
    <a:srgbClr val="173559"/>
    <a:srgbClr val="04FA0A"/>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handoutMaster" Target="handoutMasters/handoutMaster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2026/10/16</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11254210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9746031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33726571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42520229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27020095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42</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43</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44</a:t>
            </a:fld>
            <a:endParaRPr kumimoji="1" lang="ja-JP" altLang="en-US"/>
          </a:p>
        </p:txBody>
      </p:sp>
    </p:spTree>
    <p:extLst>
      <p:ext uri="{BB962C8B-B14F-4D97-AF65-F5344CB8AC3E}">
        <p14:creationId xmlns:p14="http://schemas.microsoft.com/office/powerpoint/2010/main" val="3250212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45</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46</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a:defRPr/>
            </a:pPr>
            <a:endParaRPr lang="ja-JP" altLang="en-US"/>
          </a:p>
        </p:txBody>
      </p:sp>
      <p:sp>
        <p:nvSpPr>
          <p:cNvPr id="5" name="スライド番号プレースホルダー 4"/>
          <p:cNvSpPr>
            <a:spLocks noGrp="1"/>
          </p:cNvSpPr>
          <p:nvPr>
            <p:ph type="sldNum" sz="quarter" idx="11"/>
          </p:nvPr>
        </p:nvSpPr>
        <p:spPr/>
        <p:txBody>
          <a:bodyPr/>
          <a:lstStyle/>
          <a:p>
            <a:pPr>
              <a:defRPr/>
            </a:pPr>
            <a:fld id="{929202D6-C1F5-472A-A72F-285F233F82C2}" type="slidenum">
              <a:rPr lang="ja-JP" altLang="en-US" smtClean="0"/>
              <a:pPr>
                <a:defRPr/>
              </a:pPr>
              <a:t>62</a:t>
            </a:fld>
            <a:endParaRPr lang="ja-JP" altLang="en-US"/>
          </a:p>
        </p:txBody>
      </p:sp>
    </p:spTree>
    <p:extLst>
      <p:ext uri="{BB962C8B-B14F-4D97-AF65-F5344CB8AC3E}">
        <p14:creationId xmlns:p14="http://schemas.microsoft.com/office/powerpoint/2010/main" val="16718722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1.jpeg"/><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2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3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jpeg"/><Relationship Id="rId7" Type="http://schemas.openxmlformats.org/officeDocument/2006/relationships/image" Target="../media/image48.png"/><Relationship Id="rId2" Type="http://schemas.openxmlformats.org/officeDocument/2006/relationships/image" Target="../media/image43.jpeg"/><Relationship Id="rId1" Type="http://schemas.openxmlformats.org/officeDocument/2006/relationships/slideLayout" Target="../slideLayouts/slideLayout2.xml"/><Relationship Id="rId6" Type="http://schemas.openxmlformats.org/officeDocument/2006/relationships/image" Target="../media/image47.jpeg"/><Relationship Id="rId5" Type="http://schemas.openxmlformats.org/officeDocument/2006/relationships/image" Target="../media/image46.png"/><Relationship Id="rId10" Type="http://schemas.openxmlformats.org/officeDocument/2006/relationships/image" Target="../media/image51.jpeg"/><Relationship Id="rId4" Type="http://schemas.openxmlformats.org/officeDocument/2006/relationships/image" Target="../media/image45.png"/><Relationship Id="rId9" Type="http://schemas.openxmlformats.org/officeDocument/2006/relationships/image" Target="../media/image5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5" Type="http://schemas.openxmlformats.org/officeDocument/2006/relationships/image" Target="../media/image58.jpeg"/><Relationship Id="rId4" Type="http://schemas.openxmlformats.org/officeDocument/2006/relationships/image" Target="../media/image57.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9.png"/><Relationship Id="rId7" Type="http://schemas.openxmlformats.org/officeDocument/2006/relationships/image" Target="../media/image6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png"/><Relationship Id="rId10" Type="http://schemas.openxmlformats.org/officeDocument/2006/relationships/image" Target="../media/image66.png"/><Relationship Id="rId4" Type="http://schemas.openxmlformats.org/officeDocument/2006/relationships/image" Target="../media/image60.png"/><Relationship Id="rId9" Type="http://schemas.openxmlformats.org/officeDocument/2006/relationships/image" Target="../media/image65.png"/></Relationships>
</file>

<file path=ppt/slides/_rels/slide4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44.xml.rels><?xml version="1.0" encoding="UTF-8" standalone="yes"?>
<Relationships xmlns="http://schemas.openxmlformats.org/package/2006/relationships"><Relationship Id="rId3" Type="http://schemas.openxmlformats.org/officeDocument/2006/relationships/image" Target="../media/image69.jpeg"/><Relationship Id="rId7" Type="http://schemas.openxmlformats.org/officeDocument/2006/relationships/image" Target="../media/image7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jpeg"/></Relationships>
</file>

<file path=ppt/slides/_rels/slide45.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74.png"/><Relationship Id="rId7" Type="http://schemas.openxmlformats.org/officeDocument/2006/relationships/image" Target="../media/image78.sv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81.png"/><Relationship Id="rId7" Type="http://schemas.openxmlformats.org/officeDocument/2006/relationships/image" Target="../media/image85.png"/><Relationship Id="rId2" Type="http://schemas.openxmlformats.org/officeDocument/2006/relationships/image" Target="../media/image80.png"/><Relationship Id="rId1" Type="http://schemas.openxmlformats.org/officeDocument/2006/relationships/slideLayout" Target="../slideLayouts/slideLayout2.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slides/_rels/slide5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 Id="rId4" Type="http://schemas.openxmlformats.org/officeDocument/2006/relationships/image" Target="../media/image88.png"/></Relationships>
</file>

<file path=ppt/slides/_rels/slide51.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8" Type="http://schemas.openxmlformats.org/officeDocument/2006/relationships/image" Target="../media/image96.jpeg"/><Relationship Id="rId3" Type="http://schemas.openxmlformats.org/officeDocument/2006/relationships/image" Target="../media/image3.emf"/><Relationship Id="rId7" Type="http://schemas.openxmlformats.org/officeDocument/2006/relationships/image" Target="../media/image95.jpe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94.jpeg"/><Relationship Id="rId5" Type="http://schemas.openxmlformats.org/officeDocument/2006/relationships/image" Target="../media/image93.jpeg"/><Relationship Id="rId4" Type="http://schemas.openxmlformats.org/officeDocument/2006/relationships/image" Target="../media/image9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729823"/>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3" name="正方形/長方形 2">
            <a:extLst>
              <a:ext uri="{FF2B5EF4-FFF2-40B4-BE49-F238E27FC236}">
                <a16:creationId xmlns:a16="http://schemas.microsoft.com/office/drawing/2014/main" id="{8EDEE7F4-9CB5-D481-E92E-3941E7AB9B1C}"/>
              </a:ext>
            </a:extLst>
          </p:cNvPr>
          <p:cNvSpPr/>
          <p:nvPr/>
        </p:nvSpPr>
        <p:spPr>
          <a:xfrm>
            <a:off x="3524717" y="3910946"/>
            <a:ext cx="2804160" cy="405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- 2026</a:t>
            </a:r>
            <a:r>
              <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最新版 </a:t>
            </a: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t>
            </a:r>
            <a:endPar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9E1EF-F184-F7BC-2DF2-9E9641908D82}"/>
            </a:ext>
          </a:extLst>
        </p:cNvPr>
        <p:cNvGrpSpPr/>
        <p:nvPr/>
      </p:nvGrpSpPr>
      <p:grpSpPr>
        <a:xfrm>
          <a:off x="0" y="0"/>
          <a:ext cx="0" cy="0"/>
          <a:chOff x="0" y="0"/>
          <a:chExt cx="0" cy="0"/>
        </a:xfrm>
      </p:grpSpPr>
      <p:pic>
        <p:nvPicPr>
          <p:cNvPr id="58" name="図 57" descr="文字と写真のスクリーンショット&#10;&#10;AI 生成コンテンツは誤りを含む可能性があります。">
            <a:extLst>
              <a:ext uri="{FF2B5EF4-FFF2-40B4-BE49-F238E27FC236}">
                <a16:creationId xmlns:a16="http://schemas.microsoft.com/office/drawing/2014/main" id="{BC098C34-07FA-B015-C970-B8433D9E8BE3}"/>
              </a:ext>
            </a:extLst>
          </p:cNvPr>
          <p:cNvPicPr>
            <a:picLocks noChangeAspect="1"/>
          </p:cNvPicPr>
          <p:nvPr/>
        </p:nvPicPr>
        <p:blipFill>
          <a:blip r:embed="rId2" cstate="print">
            <a:extLst>
              <a:ext uri="{28A0092B-C50C-407E-A947-70E740481C1C}">
                <a14:useLocalDpi xmlns:a14="http://schemas.microsoft.com/office/drawing/2010/main" val="0"/>
              </a:ext>
            </a:extLst>
          </a:blip>
          <a:srcRect l="33846" t="3967" r="34188" b="52442"/>
          <a:stretch>
            <a:fillRect/>
          </a:stretch>
        </p:blipFill>
        <p:spPr>
          <a:xfrm>
            <a:off x="489022" y="5068469"/>
            <a:ext cx="2046003" cy="1464812"/>
          </a:xfrm>
          <a:prstGeom prst="rect">
            <a:avLst/>
          </a:prstGeom>
        </p:spPr>
      </p:pic>
      <p:sp>
        <p:nvSpPr>
          <p:cNvPr id="33" name="正方形/長方形 32">
            <a:extLst>
              <a:ext uri="{FF2B5EF4-FFF2-40B4-BE49-F238E27FC236}">
                <a16:creationId xmlns:a16="http://schemas.microsoft.com/office/drawing/2014/main" id="{1E52F929-5FD7-9413-24A8-2725B04E4908}"/>
              </a:ext>
            </a:extLst>
          </p:cNvPr>
          <p:cNvSpPr/>
          <p:nvPr/>
        </p:nvSpPr>
        <p:spPr>
          <a:xfrm>
            <a:off x="388723" y="1082314"/>
            <a:ext cx="9129600" cy="100564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11</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ヤフー社が主催する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Partner Award 2025” </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に株式会社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が参加。</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弊社は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公式アカウントによるビジネス拡大に最も貢献したとして、</a:t>
            </a:r>
            <a:r>
              <a:rPr lang="ja-JP" altLang="en-US" sz="1200" b="1" dirty="0">
                <a:solidFill>
                  <a:srgbClr val="C00000"/>
                </a:solidFill>
                <a:latin typeface="メイリオ" panose="020B0604030504040204" pitchFamily="50" charset="-128"/>
                <a:ea typeface="メイリオ" panose="020B0604030504040204" pitchFamily="50" charset="-128"/>
              </a:rPr>
              <a:t>「</a:t>
            </a:r>
            <a:r>
              <a:rPr lang="en-US" altLang="ja-JP" sz="1200" b="1" dirty="0">
                <a:solidFill>
                  <a:srgbClr val="C00000"/>
                </a:solidFill>
                <a:latin typeface="メイリオ" panose="020B0604030504040204" pitchFamily="50" charset="-128"/>
                <a:ea typeface="メイリオ" panose="020B0604030504040204" pitchFamily="50" charset="-128"/>
              </a:rPr>
              <a:t>Best LINE</a:t>
            </a:r>
            <a:r>
              <a:rPr lang="ja-JP" altLang="en-US" sz="1200" b="1" dirty="0">
                <a:solidFill>
                  <a:srgbClr val="C00000"/>
                </a:solidFill>
                <a:latin typeface="メイリオ" panose="020B0604030504040204" pitchFamily="50" charset="-128"/>
                <a:ea typeface="メイリオ" panose="020B0604030504040204" pitchFamily="50" charset="-128"/>
              </a:rPr>
              <a:t>公式アカウント </a:t>
            </a:r>
            <a:r>
              <a:rPr lang="en-US" altLang="ja-JP" sz="1200" b="1" dirty="0">
                <a:solidFill>
                  <a:srgbClr val="C00000"/>
                </a:solidFill>
                <a:latin typeface="メイリオ" panose="020B0604030504040204" pitchFamily="50" charset="-128"/>
                <a:ea typeface="メイリオ" panose="020B0604030504040204" pitchFamily="50" charset="-128"/>
              </a:rPr>
              <a:t>Growth</a:t>
            </a:r>
            <a:r>
              <a:rPr lang="en-US" altLang="ja-JP" sz="700" b="1" dirty="0">
                <a:solidFill>
                  <a:srgbClr val="C00000"/>
                </a:solidFill>
                <a:latin typeface="メイリオ" panose="020B0604030504040204" pitchFamily="50" charset="-128"/>
                <a:ea typeface="メイリオ" panose="020B0604030504040204" pitchFamily="50" charset="-128"/>
              </a:rPr>
              <a:t>※</a:t>
            </a:r>
            <a:r>
              <a:rPr lang="ja-JP" altLang="en-US" sz="1200" b="1" dirty="0">
                <a:solidFill>
                  <a:srgbClr val="C00000"/>
                </a:solidFill>
                <a:latin typeface="メイリオ" panose="020B0604030504040204" pitchFamily="50" charset="-128"/>
                <a:ea typeface="メイリオ" panose="020B0604030504040204" pitchFamily="50" charset="-128"/>
              </a:rPr>
              <a:t>」</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を受賞。</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10</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月現在、</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公式アカウントの取扱社数は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100</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社以上、</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400</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アカウント以上まで拡大しており関連サービスも展開中。</a:t>
            </a:r>
            <a:endPar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endParaRPr>
          </a:p>
          <a:p>
            <a:pPr algn="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 LINE</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公式アカウントを活用し、ビジネス拡大に最も貢献したパートナーに贈られる賞です。</a:t>
            </a:r>
            <a:endPar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Google Shape;752;p28">
            <a:extLst>
              <a:ext uri="{FF2B5EF4-FFF2-40B4-BE49-F238E27FC236}">
                <a16:creationId xmlns:a16="http://schemas.microsoft.com/office/drawing/2014/main" id="{C34101C7-CA6C-6ED6-33D4-C2B82BDA547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弊社実績</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49" name="正方形/長方形 48">
            <a:extLst>
              <a:ext uri="{FF2B5EF4-FFF2-40B4-BE49-F238E27FC236}">
                <a16:creationId xmlns:a16="http://schemas.microsoft.com/office/drawing/2014/main" id="{9685C0AB-6B7A-94C5-EFA8-756E59EE714E}"/>
              </a:ext>
            </a:extLst>
          </p:cNvPr>
          <p:cNvSpPr/>
          <p:nvPr/>
        </p:nvSpPr>
        <p:spPr>
          <a:xfrm>
            <a:off x="388723" y="2116303"/>
            <a:ext cx="9128554" cy="307777"/>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400" b="1">
                <a:solidFill>
                  <a:schemeClr val="bg1"/>
                </a:solidFill>
                <a:latin typeface="Meiryo"/>
                <a:ea typeface="Meiryo"/>
                <a:cs typeface="Meiryo"/>
                <a:sym typeface="Meiryo"/>
              </a:rPr>
              <a:t>弊社受賞遍歴 </a:t>
            </a:r>
            <a:r>
              <a:rPr lang="en-US" altLang="ja-JP" sz="1400" b="1">
                <a:solidFill>
                  <a:schemeClr val="bg1"/>
                </a:solidFill>
                <a:latin typeface="Meiryo"/>
                <a:ea typeface="Meiryo"/>
                <a:cs typeface="Meiryo"/>
                <a:sym typeface="Meiryo"/>
              </a:rPr>
              <a:t>Since.2024</a:t>
            </a:r>
            <a:r>
              <a:rPr lang="ja-JP" altLang="en-US" sz="1400" b="1">
                <a:solidFill>
                  <a:schemeClr val="bg1"/>
                </a:solidFill>
                <a:latin typeface="Meiryo"/>
                <a:ea typeface="Meiryo"/>
                <a:cs typeface="Meiryo"/>
                <a:sym typeface="Meiryo"/>
              </a:rPr>
              <a:t>年</a:t>
            </a:r>
            <a:r>
              <a:rPr lang="en-US" altLang="ja-JP" sz="1400" b="1">
                <a:solidFill>
                  <a:schemeClr val="bg1"/>
                </a:solidFill>
                <a:latin typeface="Meiryo"/>
                <a:ea typeface="Meiryo"/>
                <a:cs typeface="Meiryo"/>
                <a:sym typeface="Meiryo"/>
              </a:rPr>
              <a:t>5</a:t>
            </a:r>
            <a:r>
              <a:rPr lang="ja-JP" altLang="en-US" sz="1400" b="1">
                <a:solidFill>
                  <a:schemeClr val="bg1"/>
                </a:solidFill>
                <a:latin typeface="Meiryo"/>
                <a:ea typeface="Meiryo"/>
                <a:cs typeface="Meiryo"/>
                <a:sym typeface="Meiryo"/>
              </a:rPr>
              <a:t>月～</a:t>
            </a:r>
            <a:endParaRPr lang="en-US" altLang="ja-JP" sz="1400" b="1" dirty="0">
              <a:solidFill>
                <a:schemeClr val="bg1"/>
              </a:solidFill>
              <a:latin typeface="Meiryo"/>
              <a:ea typeface="Meiryo"/>
              <a:cs typeface="Meiryo"/>
              <a:sym typeface="Meiryo"/>
            </a:endParaRPr>
          </a:p>
        </p:txBody>
      </p:sp>
      <p:sp>
        <p:nvSpPr>
          <p:cNvPr id="50" name="テキスト プレースホルダー 2">
            <a:extLst>
              <a:ext uri="{FF2B5EF4-FFF2-40B4-BE49-F238E27FC236}">
                <a16:creationId xmlns:a16="http://schemas.microsoft.com/office/drawing/2014/main" id="{18B78559-32E9-7E98-9E42-625866BF0637}"/>
              </a:ext>
            </a:extLst>
          </p:cNvPr>
          <p:cNvSpPr txBox="1">
            <a:spLocks/>
          </p:cNvSpPr>
          <p:nvPr/>
        </p:nvSpPr>
        <p:spPr>
          <a:xfrm>
            <a:off x="4741655" y="135388"/>
            <a:ext cx="3604551" cy="356140"/>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39750" lvl="0" indent="-539750">
              <a:tabLst>
                <a:tab pos="447675" algn="l"/>
              </a:tabLst>
              <a:defRPr/>
            </a:pPr>
            <a:r>
              <a:rPr lang="en-US" altLang="ja-JP" sz="800" dirty="0">
                <a:solidFill>
                  <a:srgbClr val="000000">
                    <a:lumMod val="95000"/>
                    <a:lumOff val="5000"/>
                  </a:srgbClr>
                </a:solidFill>
              </a:rPr>
              <a:t>【</a:t>
            </a:r>
            <a:r>
              <a:rPr lang="ja-JP" altLang="en-US" sz="800" dirty="0">
                <a:solidFill>
                  <a:srgbClr val="000000">
                    <a:lumMod val="95000"/>
                    <a:lumOff val="5000"/>
                  </a:srgbClr>
                </a:solidFill>
              </a:rPr>
              <a:t>参考情報</a:t>
            </a:r>
            <a:r>
              <a:rPr lang="en-US" altLang="ja-JP" sz="800" dirty="0">
                <a:solidFill>
                  <a:srgbClr val="000000">
                    <a:lumMod val="95000"/>
                    <a:lumOff val="5000"/>
                  </a:srgbClr>
                </a:solidFill>
              </a:rPr>
              <a:t>】</a:t>
            </a:r>
          </a:p>
          <a:p>
            <a:pPr marL="88900" lvl="0">
              <a:tabLst>
                <a:tab pos="447675" algn="l"/>
              </a:tabLst>
              <a:defRPr/>
            </a:pPr>
            <a:r>
              <a:rPr lang="en-US" altLang="ja-JP" sz="800" dirty="0">
                <a:solidFill>
                  <a:srgbClr val="000000">
                    <a:lumMod val="95000"/>
                    <a:lumOff val="5000"/>
                  </a:srgbClr>
                </a:solidFill>
              </a:rPr>
              <a:t>https://prtimes.jp/main/html/rd/p/000000412.000027235.html</a:t>
            </a:r>
            <a:endParaRPr lang="en-US" altLang="ja-JP" sz="1100" dirty="0">
              <a:solidFill>
                <a:srgbClr val="000000">
                  <a:lumMod val="95000"/>
                  <a:lumOff val="5000"/>
                </a:srgbClr>
              </a:solidFill>
            </a:endParaRPr>
          </a:p>
        </p:txBody>
      </p:sp>
      <p:sp>
        <p:nvSpPr>
          <p:cNvPr id="45" name="正方形/長方形 44">
            <a:extLst>
              <a:ext uri="{FF2B5EF4-FFF2-40B4-BE49-F238E27FC236}">
                <a16:creationId xmlns:a16="http://schemas.microsoft.com/office/drawing/2014/main" id="{02177995-9B5C-9C4B-3202-5DD03969179E}"/>
              </a:ext>
            </a:extLst>
          </p:cNvPr>
          <p:cNvSpPr/>
          <p:nvPr/>
        </p:nvSpPr>
        <p:spPr>
          <a:xfrm>
            <a:off x="495424" y="4784484"/>
            <a:ext cx="3561143" cy="276999"/>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200" b="1" dirty="0">
                <a:solidFill>
                  <a:schemeClr val="bg1"/>
                </a:solidFill>
                <a:latin typeface="Meiryo"/>
                <a:ea typeface="Meiryo"/>
                <a:cs typeface="Meiryo"/>
                <a:sym typeface="Meiryo"/>
              </a:rPr>
              <a:t>最上位となる </a:t>
            </a:r>
            <a:r>
              <a:rPr lang="en-US" altLang="ja-JP" sz="1200" b="1" dirty="0">
                <a:solidFill>
                  <a:schemeClr val="bg1"/>
                </a:solidFill>
                <a:latin typeface="Meiryo"/>
                <a:ea typeface="Meiryo"/>
                <a:cs typeface="Meiryo"/>
                <a:sym typeface="Meiryo"/>
              </a:rPr>
              <a:t>Sales Partner Premier</a:t>
            </a:r>
          </a:p>
        </p:txBody>
      </p:sp>
      <p:sp>
        <p:nvSpPr>
          <p:cNvPr id="55" name="正方形/長方形 54">
            <a:extLst>
              <a:ext uri="{FF2B5EF4-FFF2-40B4-BE49-F238E27FC236}">
                <a16:creationId xmlns:a16="http://schemas.microsoft.com/office/drawing/2014/main" id="{0E12B4F2-0482-55A4-443A-115FC30E22E8}"/>
              </a:ext>
            </a:extLst>
          </p:cNvPr>
          <p:cNvSpPr/>
          <p:nvPr/>
        </p:nvSpPr>
        <p:spPr>
          <a:xfrm>
            <a:off x="4362995" y="4784484"/>
            <a:ext cx="5165666" cy="276999"/>
          </a:xfrm>
          <a:prstGeom prst="rect">
            <a:avLst/>
          </a:prstGeom>
          <a:solidFill>
            <a:schemeClr val="bg1">
              <a:lumMod val="65000"/>
            </a:schemeClr>
          </a:solidFill>
          <a:ln>
            <a:solidFill>
              <a:schemeClr val="bg1">
                <a:lumMod val="65000"/>
              </a:schemeClr>
            </a:solidFill>
          </a:ln>
        </p:spPr>
        <p:txBody>
          <a:bodyPr wrap="square">
            <a:spAutoFit/>
          </a:bodyPr>
          <a:lstStyle/>
          <a:p>
            <a:pPr algn="ctr">
              <a:buClr>
                <a:srgbClr val="002060"/>
              </a:buClr>
              <a:buSzPts val="1600"/>
            </a:pPr>
            <a:r>
              <a:rPr lang="en-US" altLang="ja-JP" sz="1200" b="1" dirty="0">
                <a:solidFill>
                  <a:schemeClr val="bg1"/>
                </a:solidFill>
                <a:latin typeface="Meiryo"/>
                <a:ea typeface="Meiryo"/>
                <a:cs typeface="Meiryo"/>
                <a:sym typeface="Meiryo"/>
              </a:rPr>
              <a:t>Best LINE</a:t>
            </a:r>
            <a:r>
              <a:rPr lang="ja-JP" altLang="en-US" sz="1200" b="1" dirty="0">
                <a:solidFill>
                  <a:schemeClr val="bg1"/>
                </a:solidFill>
                <a:latin typeface="Meiryo"/>
                <a:ea typeface="Meiryo"/>
                <a:cs typeface="Meiryo"/>
                <a:sym typeface="Meiryo"/>
              </a:rPr>
              <a:t>公式アカウント </a:t>
            </a:r>
            <a:r>
              <a:rPr lang="en-US" altLang="ja-JP" sz="1200" b="1" dirty="0">
                <a:solidFill>
                  <a:schemeClr val="bg1"/>
                </a:solidFill>
                <a:latin typeface="Meiryo"/>
                <a:ea typeface="Meiryo"/>
                <a:cs typeface="Meiryo"/>
                <a:sym typeface="Meiryo"/>
              </a:rPr>
              <a:t>Growth </a:t>
            </a:r>
            <a:r>
              <a:rPr lang="ja-JP" altLang="en-US" sz="1200" b="1" dirty="0">
                <a:solidFill>
                  <a:schemeClr val="bg1"/>
                </a:solidFill>
                <a:latin typeface="Meiryo"/>
                <a:ea typeface="Meiryo"/>
                <a:cs typeface="Meiryo"/>
                <a:sym typeface="Meiryo"/>
              </a:rPr>
              <a:t>の受賞を受ける</a:t>
            </a:r>
            <a:endParaRPr lang="en-US" altLang="ja-JP" sz="1200" b="1" dirty="0">
              <a:solidFill>
                <a:schemeClr val="bg1"/>
              </a:solidFill>
              <a:latin typeface="Meiryo"/>
              <a:ea typeface="Meiryo"/>
              <a:cs typeface="Meiryo"/>
              <a:sym typeface="Meiryo"/>
            </a:endParaRPr>
          </a:p>
        </p:txBody>
      </p:sp>
      <p:cxnSp>
        <p:nvCxnSpPr>
          <p:cNvPr id="2082" name="直線コネクタ 2081">
            <a:extLst>
              <a:ext uri="{FF2B5EF4-FFF2-40B4-BE49-F238E27FC236}">
                <a16:creationId xmlns:a16="http://schemas.microsoft.com/office/drawing/2014/main" id="{530411FF-29F9-73B2-C470-CBF0BA20AC73}"/>
              </a:ext>
            </a:extLst>
          </p:cNvPr>
          <p:cNvCxnSpPr>
            <a:cxnSpLocks/>
          </p:cNvCxnSpPr>
          <p:nvPr/>
        </p:nvCxnSpPr>
        <p:spPr>
          <a:xfrm>
            <a:off x="3212877" y="2980676"/>
            <a:ext cx="6240687"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2085" name="直線コネクタ 2084">
            <a:extLst>
              <a:ext uri="{FF2B5EF4-FFF2-40B4-BE49-F238E27FC236}">
                <a16:creationId xmlns:a16="http://schemas.microsoft.com/office/drawing/2014/main" id="{D7948E6E-45A1-2B8A-2983-5CE3031B129A}"/>
              </a:ext>
            </a:extLst>
          </p:cNvPr>
          <p:cNvCxnSpPr>
            <a:cxnSpLocks/>
          </p:cNvCxnSpPr>
          <p:nvPr/>
        </p:nvCxnSpPr>
        <p:spPr>
          <a:xfrm>
            <a:off x="412752" y="3985954"/>
            <a:ext cx="5253034"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sp>
        <p:nvSpPr>
          <p:cNvPr id="2086" name="フローチャート: 結合子 2085">
            <a:extLst>
              <a:ext uri="{FF2B5EF4-FFF2-40B4-BE49-F238E27FC236}">
                <a16:creationId xmlns:a16="http://schemas.microsoft.com/office/drawing/2014/main" id="{19617C5C-724A-7FCE-22E5-5B2ECC96F048}"/>
              </a:ext>
            </a:extLst>
          </p:cNvPr>
          <p:cNvSpPr/>
          <p:nvPr/>
        </p:nvSpPr>
        <p:spPr>
          <a:xfrm>
            <a:off x="3076995"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7" name="フローチャート: 結合子 2086">
            <a:extLst>
              <a:ext uri="{FF2B5EF4-FFF2-40B4-BE49-F238E27FC236}">
                <a16:creationId xmlns:a16="http://schemas.microsoft.com/office/drawing/2014/main" id="{C7AB064F-FD75-D23A-C3F2-7F831805457C}"/>
              </a:ext>
            </a:extLst>
          </p:cNvPr>
          <p:cNvSpPr/>
          <p:nvPr/>
        </p:nvSpPr>
        <p:spPr>
          <a:xfrm>
            <a:off x="970449" y="3759595"/>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9" name="フローチャート: 結合子 2088">
            <a:extLst>
              <a:ext uri="{FF2B5EF4-FFF2-40B4-BE49-F238E27FC236}">
                <a16:creationId xmlns:a16="http://schemas.microsoft.com/office/drawing/2014/main" id="{CE0B51F4-2695-E1D7-F353-BA60386FABE4}"/>
              </a:ext>
            </a:extLst>
          </p:cNvPr>
          <p:cNvSpPr/>
          <p:nvPr/>
        </p:nvSpPr>
        <p:spPr>
          <a:xfrm>
            <a:off x="7801859"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0" name="フローチャート: 結合子 2089">
            <a:extLst>
              <a:ext uri="{FF2B5EF4-FFF2-40B4-BE49-F238E27FC236}">
                <a16:creationId xmlns:a16="http://schemas.microsoft.com/office/drawing/2014/main" id="{6F2861A8-2376-2999-4214-6F268B03A3E1}"/>
              </a:ext>
            </a:extLst>
          </p:cNvPr>
          <p:cNvSpPr/>
          <p:nvPr/>
        </p:nvSpPr>
        <p:spPr>
          <a:xfrm>
            <a:off x="5439427"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2" name="フローチャート: 結合子 2091">
            <a:extLst>
              <a:ext uri="{FF2B5EF4-FFF2-40B4-BE49-F238E27FC236}">
                <a16:creationId xmlns:a16="http://schemas.microsoft.com/office/drawing/2014/main" id="{11455BE0-024C-CCCF-549A-5895CCF6FCA5}"/>
              </a:ext>
            </a:extLst>
          </p:cNvPr>
          <p:cNvSpPr/>
          <p:nvPr/>
        </p:nvSpPr>
        <p:spPr>
          <a:xfrm>
            <a:off x="5454960" y="3739586"/>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3" name="フローチャート: 結合子 2092">
            <a:extLst>
              <a:ext uri="{FF2B5EF4-FFF2-40B4-BE49-F238E27FC236}">
                <a16:creationId xmlns:a16="http://schemas.microsoft.com/office/drawing/2014/main" id="{6A2B7AEE-64D5-5687-4D90-BFEBFB87978F}"/>
              </a:ext>
            </a:extLst>
          </p:cNvPr>
          <p:cNvSpPr/>
          <p:nvPr/>
        </p:nvSpPr>
        <p:spPr>
          <a:xfrm>
            <a:off x="3076995" y="3776603"/>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4" name="テキスト ボックス 2093">
            <a:extLst>
              <a:ext uri="{FF2B5EF4-FFF2-40B4-BE49-F238E27FC236}">
                <a16:creationId xmlns:a16="http://schemas.microsoft.com/office/drawing/2014/main" id="{F181EC8C-1DAE-5AF7-1C4D-4C86090B08E7}"/>
              </a:ext>
            </a:extLst>
          </p:cNvPr>
          <p:cNvSpPr txBox="1"/>
          <p:nvPr/>
        </p:nvSpPr>
        <p:spPr>
          <a:xfrm>
            <a:off x="2824561" y="2498440"/>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5" name="テキスト ボックス 2094">
            <a:extLst>
              <a:ext uri="{FF2B5EF4-FFF2-40B4-BE49-F238E27FC236}">
                <a16:creationId xmlns:a16="http://schemas.microsoft.com/office/drawing/2014/main" id="{E9F47648-05F6-7064-8968-91D3649440CE}"/>
              </a:ext>
            </a:extLst>
          </p:cNvPr>
          <p:cNvSpPr txBox="1"/>
          <p:nvPr/>
        </p:nvSpPr>
        <p:spPr>
          <a:xfrm>
            <a:off x="5232177" y="2496209"/>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12</a:t>
            </a:r>
            <a:r>
              <a:rPr kumimoji="1" lang="ja-JP" altLang="en-US" sz="1000">
                <a:latin typeface="メイリオ" panose="020B0604030504040204" pitchFamily="50" charset="-128"/>
                <a:ea typeface="メイリオ" panose="020B0604030504040204" pitchFamily="50" charset="-128"/>
              </a:rPr>
              <a:t>月</a:t>
            </a:r>
          </a:p>
        </p:txBody>
      </p:sp>
      <p:sp>
        <p:nvSpPr>
          <p:cNvPr id="2096" name="テキスト ボックス 2095">
            <a:extLst>
              <a:ext uri="{FF2B5EF4-FFF2-40B4-BE49-F238E27FC236}">
                <a16:creationId xmlns:a16="http://schemas.microsoft.com/office/drawing/2014/main" id="{2C8EEABD-6A90-AA4E-FBA6-2819EBF654DE}"/>
              </a:ext>
            </a:extLst>
          </p:cNvPr>
          <p:cNvSpPr txBox="1"/>
          <p:nvPr/>
        </p:nvSpPr>
        <p:spPr>
          <a:xfrm>
            <a:off x="7623567" y="2492162"/>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8" name="テキスト ボックス 2097">
            <a:extLst>
              <a:ext uri="{FF2B5EF4-FFF2-40B4-BE49-F238E27FC236}">
                <a16:creationId xmlns:a16="http://schemas.microsoft.com/office/drawing/2014/main" id="{CE12257A-0E7E-B895-AF8E-D15F7AA1D62A}"/>
              </a:ext>
            </a:extLst>
          </p:cNvPr>
          <p:cNvSpPr txBox="1"/>
          <p:nvPr/>
        </p:nvSpPr>
        <p:spPr>
          <a:xfrm>
            <a:off x="2895696" y="3511221"/>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10</a:t>
            </a:r>
            <a:r>
              <a:rPr kumimoji="1" lang="ja-JP" altLang="en-US" sz="1000">
                <a:latin typeface="メイリオ" panose="020B0604030504040204" pitchFamily="50" charset="-128"/>
                <a:ea typeface="メイリオ" panose="020B0604030504040204" pitchFamily="50" charset="-128"/>
              </a:rPr>
              <a:t>月</a:t>
            </a:r>
          </a:p>
        </p:txBody>
      </p:sp>
      <p:sp>
        <p:nvSpPr>
          <p:cNvPr id="2099" name="テキスト ボックス 2098">
            <a:extLst>
              <a:ext uri="{FF2B5EF4-FFF2-40B4-BE49-F238E27FC236}">
                <a16:creationId xmlns:a16="http://schemas.microsoft.com/office/drawing/2014/main" id="{82EEA8C2-D18D-B5B9-3D3F-C9BE318BD901}"/>
              </a:ext>
            </a:extLst>
          </p:cNvPr>
          <p:cNvSpPr txBox="1"/>
          <p:nvPr/>
        </p:nvSpPr>
        <p:spPr>
          <a:xfrm>
            <a:off x="589609" y="3475317"/>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8</a:t>
            </a:r>
            <a:r>
              <a:rPr kumimoji="1" lang="ja-JP" altLang="en-US" sz="1000">
                <a:latin typeface="メイリオ" panose="020B0604030504040204" pitchFamily="50" charset="-128"/>
                <a:ea typeface="メイリオ" panose="020B0604030504040204" pitchFamily="50" charset="-128"/>
              </a:rPr>
              <a:t>月</a:t>
            </a:r>
          </a:p>
        </p:txBody>
      </p:sp>
      <p:sp>
        <p:nvSpPr>
          <p:cNvPr id="2101" name="テキスト ボックス 2100">
            <a:extLst>
              <a:ext uri="{FF2B5EF4-FFF2-40B4-BE49-F238E27FC236}">
                <a16:creationId xmlns:a16="http://schemas.microsoft.com/office/drawing/2014/main" id="{E6D4C90C-BD24-1939-D716-C6450E2AD8FC}"/>
              </a:ext>
            </a:extLst>
          </p:cNvPr>
          <p:cNvSpPr txBox="1"/>
          <p:nvPr/>
        </p:nvSpPr>
        <p:spPr>
          <a:xfrm>
            <a:off x="309563" y="4310547"/>
            <a:ext cx="1966105"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6000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kumimoji="1" lang="ja-JP" altLang="en-US" sz="800">
              <a:latin typeface="メイリオ" panose="020B0604030504040204" pitchFamily="50" charset="-128"/>
              <a:ea typeface="メイリオ" panose="020B0604030504040204" pitchFamily="50" charset="-128"/>
            </a:endParaRPr>
          </a:p>
        </p:txBody>
      </p:sp>
      <p:sp>
        <p:nvSpPr>
          <p:cNvPr id="2102" name="テキスト ボックス 2101">
            <a:extLst>
              <a:ext uri="{FF2B5EF4-FFF2-40B4-BE49-F238E27FC236}">
                <a16:creationId xmlns:a16="http://schemas.microsoft.com/office/drawing/2014/main" id="{756F6552-3CAE-3310-D96A-5D847F286859}"/>
              </a:ext>
            </a:extLst>
          </p:cNvPr>
          <p:cNvSpPr txBox="1"/>
          <p:nvPr/>
        </p:nvSpPr>
        <p:spPr>
          <a:xfrm>
            <a:off x="2105787" y="3209363"/>
            <a:ext cx="2612987" cy="338554"/>
          </a:xfrm>
          <a:prstGeom prst="rect">
            <a:avLst/>
          </a:prstGeom>
          <a:noFill/>
          <a:ln>
            <a:noFill/>
          </a:ln>
        </p:spPr>
        <p:txBody>
          <a:bodyPr wrap="square" rtlCol="0">
            <a:spAutoFit/>
          </a:bodyPr>
          <a:lstStyle/>
          <a:p>
            <a:pPr algn="ctr"/>
            <a:r>
              <a:rPr kumimoji="1" lang="en-US" altLang="ja-JP" sz="800" dirty="0">
                <a:latin typeface="メイリオ" panose="020B0604030504040204" pitchFamily="50" charset="-128"/>
                <a:ea typeface="メイリオ" panose="020B0604030504040204" pitchFamily="50" charset="-128"/>
              </a:rPr>
              <a:t>2024</a:t>
            </a:r>
            <a:r>
              <a:rPr kumimoji="1" lang="ja-JP" altLang="en-US" sz="800" dirty="0">
                <a:latin typeface="メイリオ" panose="020B0604030504040204" pitchFamily="50" charset="-128"/>
                <a:ea typeface="メイリオ" panose="020B0604030504040204" pitchFamily="50" charset="-128"/>
              </a:rPr>
              <a:t>年度上半期の</a:t>
            </a:r>
            <a:r>
              <a:rPr kumimoji="1" lang="en-US" altLang="ja-JP" sz="800" dirty="0">
                <a:latin typeface="メイリオ" panose="020B0604030504040204" pitchFamily="50" charset="-128"/>
                <a:ea typeface="メイリオ" panose="020B0604030504040204" pitchFamily="50" charset="-128"/>
              </a:rPr>
              <a:t>Sales Partner</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Premier</a:t>
            </a:r>
            <a:r>
              <a:rPr kumimoji="1" lang="ja-JP" altLang="en-US" sz="800" dirty="0">
                <a:latin typeface="メイリオ" panose="020B0604030504040204" pitchFamily="50" charset="-128"/>
                <a:ea typeface="メイリオ" panose="020B0604030504040204" pitchFamily="50" charset="-128"/>
              </a:rPr>
              <a:t>」に認定</a:t>
            </a:r>
            <a:r>
              <a:rPr lang="ja-JP" altLang="en-US" sz="800" dirty="0">
                <a:latin typeface="メイリオ" panose="020B0604030504040204" pitchFamily="50" charset="-128"/>
                <a:ea typeface="メイリオ" panose="020B0604030504040204" pitchFamily="50" charset="-128"/>
              </a:rPr>
              <a:t>。</a:t>
            </a:r>
            <a:endParaRPr lang="en-US" altLang="ja-JP" sz="800" dirty="0">
              <a:latin typeface="メイリオ" panose="020B0604030504040204" pitchFamily="50" charset="-128"/>
              <a:ea typeface="メイリオ" panose="020B0604030504040204" pitchFamily="50" charset="-128"/>
            </a:endParaRPr>
          </a:p>
          <a:p>
            <a:pPr algn="ctr"/>
            <a:r>
              <a:rPr lang="ja-JP" altLang="en-US" sz="800" b="1" dirty="0">
                <a:solidFill>
                  <a:srgbClr val="C00000"/>
                </a:solidFill>
                <a:latin typeface="メイリオ" panose="020B0604030504040204" pitchFamily="50" charset="-128"/>
                <a:ea typeface="メイリオ" panose="020B0604030504040204" pitchFamily="50" charset="-128"/>
              </a:rPr>
              <a:t>上位</a:t>
            </a:r>
            <a:r>
              <a:rPr lang="en-US" altLang="ja-JP" sz="800" b="1" dirty="0">
                <a:solidFill>
                  <a:srgbClr val="C00000"/>
                </a:solidFill>
                <a:latin typeface="メイリオ" panose="020B0604030504040204" pitchFamily="50" charset="-128"/>
                <a:ea typeface="メイリオ" panose="020B0604030504040204" pitchFamily="50" charset="-128"/>
              </a:rPr>
              <a:t>20</a:t>
            </a:r>
            <a:r>
              <a:rPr lang="ja-JP" altLang="en-US" sz="800" b="1" dirty="0">
                <a:solidFill>
                  <a:srgbClr val="C00000"/>
                </a:solidFill>
                <a:latin typeface="メイリオ" panose="020B0604030504040204" pitchFamily="50" charset="-128"/>
                <a:ea typeface="メイリオ" panose="020B0604030504040204" pitchFamily="50" charset="-128"/>
              </a:rPr>
              <a:t>位タイ</a:t>
            </a:r>
            <a:endParaRPr lang="en-US" altLang="ja-JP" sz="800" b="1" dirty="0">
              <a:solidFill>
                <a:srgbClr val="C00000"/>
              </a:solidFill>
              <a:latin typeface="メイリオ" panose="020B0604030504040204" pitchFamily="50" charset="-128"/>
              <a:ea typeface="メイリオ" panose="020B0604030504040204" pitchFamily="50" charset="-128"/>
            </a:endParaRPr>
          </a:p>
        </p:txBody>
      </p:sp>
      <p:sp>
        <p:nvSpPr>
          <p:cNvPr id="2103" name="テキスト ボックス 2102">
            <a:extLst>
              <a:ext uri="{FF2B5EF4-FFF2-40B4-BE49-F238E27FC236}">
                <a16:creationId xmlns:a16="http://schemas.microsoft.com/office/drawing/2014/main" id="{D5793D3E-32A5-A172-B93D-F2E02806685C}"/>
              </a:ext>
            </a:extLst>
          </p:cNvPr>
          <p:cNvSpPr txBox="1"/>
          <p:nvPr/>
        </p:nvSpPr>
        <p:spPr>
          <a:xfrm>
            <a:off x="4837113" y="3209363"/>
            <a:ext cx="1767520"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2000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lang="en-US" altLang="ja-JP" sz="800">
              <a:latin typeface="メイリオ" panose="020B0604030504040204" pitchFamily="50" charset="-128"/>
              <a:ea typeface="メイリオ" panose="020B0604030504040204" pitchFamily="50" charset="-128"/>
            </a:endParaRPr>
          </a:p>
        </p:txBody>
      </p:sp>
      <p:sp>
        <p:nvSpPr>
          <p:cNvPr id="2104" name="テキスト ボックス 2103">
            <a:extLst>
              <a:ext uri="{FF2B5EF4-FFF2-40B4-BE49-F238E27FC236}">
                <a16:creationId xmlns:a16="http://schemas.microsoft.com/office/drawing/2014/main" id="{89EE1600-592C-F991-FBB3-472A73DB5551}"/>
              </a:ext>
            </a:extLst>
          </p:cNvPr>
          <p:cNvSpPr txBox="1"/>
          <p:nvPr/>
        </p:nvSpPr>
        <p:spPr>
          <a:xfrm>
            <a:off x="1858111" y="4310547"/>
            <a:ext cx="3234807" cy="338554"/>
          </a:xfrm>
          <a:prstGeom prst="rect">
            <a:avLst/>
          </a:prstGeom>
          <a:noFill/>
          <a:ln>
            <a:noFill/>
          </a:ln>
        </p:spPr>
        <p:txBody>
          <a:bodyPr wrap="square" rtlCol="0">
            <a:spAutoFit/>
          </a:bodyPr>
          <a:lstStyle/>
          <a:p>
            <a:pPr algn="ctr"/>
            <a:r>
              <a:rPr kumimoji="1" lang="ja-JP" altLang="en-US" sz="800">
                <a:latin typeface="メイリオ" panose="020B0604030504040204" pitchFamily="50" charset="-128"/>
                <a:ea typeface="メイリオ" panose="020B0604030504040204" pitchFamily="50" charset="-128"/>
              </a:rPr>
              <a:t>前回に続き、最高グレードである</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endParaRPr lang="en-US" altLang="ja-JP" sz="800">
              <a:latin typeface="メイリオ" panose="020B0604030504040204" pitchFamily="50" charset="-128"/>
              <a:ea typeface="メイリオ" panose="020B0604030504040204" pitchFamily="50" charset="-128"/>
            </a:endParaRPr>
          </a:p>
          <a:p>
            <a:pPr algn="ctr"/>
            <a:r>
              <a:rPr kumimoji="1" lang="ja-JP" altLang="en-US" sz="800" b="1">
                <a:solidFill>
                  <a:srgbClr val="C00000"/>
                </a:solidFill>
                <a:latin typeface="メイリオ" panose="020B0604030504040204" pitchFamily="50" charset="-128"/>
                <a:ea typeface="メイリオ" panose="020B0604030504040204" pitchFamily="50" charset="-128"/>
              </a:rPr>
              <a:t>上位</a:t>
            </a:r>
            <a:r>
              <a:rPr kumimoji="1" lang="en-US" altLang="ja-JP" sz="800" b="1">
                <a:solidFill>
                  <a:srgbClr val="C00000"/>
                </a:solidFill>
                <a:latin typeface="メイリオ" panose="020B0604030504040204" pitchFamily="50" charset="-128"/>
                <a:ea typeface="メイリオ" panose="020B0604030504040204" pitchFamily="50" charset="-128"/>
              </a:rPr>
              <a:t>12</a:t>
            </a:r>
            <a:r>
              <a:rPr kumimoji="1" lang="ja-JP" altLang="en-US" sz="800" b="1">
                <a:solidFill>
                  <a:srgbClr val="C00000"/>
                </a:solidFill>
                <a:latin typeface="メイリオ" panose="020B0604030504040204" pitchFamily="50" charset="-128"/>
                <a:ea typeface="メイリオ" panose="020B0604030504040204" pitchFamily="50" charset="-128"/>
              </a:rPr>
              <a:t>位タイ</a:t>
            </a:r>
          </a:p>
        </p:txBody>
      </p:sp>
      <p:sp>
        <p:nvSpPr>
          <p:cNvPr id="2105" name="テキスト ボックス 2104">
            <a:extLst>
              <a:ext uri="{FF2B5EF4-FFF2-40B4-BE49-F238E27FC236}">
                <a16:creationId xmlns:a16="http://schemas.microsoft.com/office/drawing/2014/main" id="{735B8649-944E-38AC-EFE9-3FF466013418}"/>
              </a:ext>
            </a:extLst>
          </p:cNvPr>
          <p:cNvSpPr txBox="1"/>
          <p:nvPr/>
        </p:nvSpPr>
        <p:spPr>
          <a:xfrm>
            <a:off x="6722972" y="3209363"/>
            <a:ext cx="2758776" cy="338554"/>
          </a:xfrm>
          <a:prstGeom prst="rect">
            <a:avLst/>
          </a:prstGeom>
          <a:noFill/>
          <a:ln>
            <a:noFill/>
          </a:ln>
        </p:spPr>
        <p:txBody>
          <a:bodyPr wrap="square" rtlCol="0">
            <a:spAutoFit/>
          </a:bodyPr>
          <a:lstStyle/>
          <a:p>
            <a:pPr algn="ctr"/>
            <a:r>
              <a:rPr lang="ja-JP" altLang="en-US" sz="800">
                <a:latin typeface="メイリオ" panose="020B0604030504040204" pitchFamily="50" charset="-128"/>
                <a:ea typeface="メイリオ" panose="020B0604030504040204" pitchFamily="50" charset="-128"/>
              </a:rPr>
              <a:t>前回に続き、最高グレードである「</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r>
              <a:rPr lang="ja-JP" altLang="en-US" sz="800" b="1">
                <a:solidFill>
                  <a:srgbClr val="C00000"/>
                </a:solidFill>
                <a:latin typeface="メイリオ" panose="020B0604030504040204" pitchFamily="50" charset="-128"/>
                <a:ea typeface="メイリオ" panose="020B0604030504040204" pitchFamily="50" charset="-128"/>
              </a:rPr>
              <a:t>上位</a:t>
            </a:r>
            <a:r>
              <a:rPr lang="en-US" altLang="ja-JP" sz="800" b="1">
                <a:solidFill>
                  <a:srgbClr val="C00000"/>
                </a:solidFill>
                <a:latin typeface="メイリオ" panose="020B0604030504040204" pitchFamily="50" charset="-128"/>
                <a:ea typeface="メイリオ" panose="020B0604030504040204" pitchFamily="50" charset="-128"/>
              </a:rPr>
              <a:t>15</a:t>
            </a:r>
            <a:r>
              <a:rPr lang="ja-JP" altLang="en-US" sz="800" b="1">
                <a:solidFill>
                  <a:srgbClr val="C00000"/>
                </a:solidFill>
                <a:latin typeface="メイリオ" panose="020B0604030504040204" pitchFamily="50" charset="-128"/>
                <a:ea typeface="メイリオ" panose="020B0604030504040204" pitchFamily="50" charset="-128"/>
              </a:rPr>
              <a:t>位タイ</a:t>
            </a:r>
            <a:endParaRPr lang="en-US" altLang="ja-JP" sz="800" b="1">
              <a:solidFill>
                <a:srgbClr val="C00000"/>
              </a:solidFill>
              <a:latin typeface="メイリオ" panose="020B0604030504040204" pitchFamily="50" charset="-128"/>
              <a:ea typeface="メイリオ" panose="020B0604030504040204" pitchFamily="50" charset="-128"/>
            </a:endParaRPr>
          </a:p>
        </p:txBody>
      </p:sp>
      <p:sp>
        <p:nvSpPr>
          <p:cNvPr id="2110" name="テキスト ボックス 2109">
            <a:extLst>
              <a:ext uri="{FF2B5EF4-FFF2-40B4-BE49-F238E27FC236}">
                <a16:creationId xmlns:a16="http://schemas.microsoft.com/office/drawing/2014/main" id="{9364E84A-3501-3480-3E86-4181D9EDDE0D}"/>
              </a:ext>
            </a:extLst>
          </p:cNvPr>
          <p:cNvSpPr txBox="1"/>
          <p:nvPr/>
        </p:nvSpPr>
        <p:spPr>
          <a:xfrm>
            <a:off x="5204477" y="3512494"/>
            <a:ext cx="957586" cy="246221"/>
          </a:xfrm>
          <a:prstGeom prst="rect">
            <a:avLst/>
          </a:prstGeom>
          <a:noFill/>
          <a:ln>
            <a:noFill/>
          </a:ln>
        </p:spPr>
        <p:txBody>
          <a:bodyPr wrap="square" rtlCol="0">
            <a:spAutoFit/>
          </a:bodyPr>
          <a:lstStyle/>
          <a:p>
            <a:pPr algn="ctr"/>
            <a:r>
              <a:rPr kumimoji="1" lang="ja-JP" altLang="en-US" sz="1000">
                <a:latin typeface="メイリオ" panose="020B0604030504040204" pitchFamily="50" charset="-128"/>
                <a:ea typeface="メイリオ" panose="020B0604030504040204" pitchFamily="50" charset="-128"/>
              </a:rPr>
              <a:t>現在</a:t>
            </a:r>
          </a:p>
        </p:txBody>
      </p:sp>
      <p:sp>
        <p:nvSpPr>
          <p:cNvPr id="2111" name="テキスト ボックス 2110">
            <a:extLst>
              <a:ext uri="{FF2B5EF4-FFF2-40B4-BE49-F238E27FC236}">
                <a16:creationId xmlns:a16="http://schemas.microsoft.com/office/drawing/2014/main" id="{915149AC-7723-29BD-6D17-D471CC831F56}"/>
              </a:ext>
            </a:extLst>
          </p:cNvPr>
          <p:cNvSpPr txBox="1"/>
          <p:nvPr/>
        </p:nvSpPr>
        <p:spPr>
          <a:xfrm>
            <a:off x="4684085" y="4310547"/>
            <a:ext cx="2335280" cy="338554"/>
          </a:xfrm>
          <a:prstGeom prst="rect">
            <a:avLst/>
          </a:prstGeom>
          <a:noFill/>
          <a:ln>
            <a:noFill/>
          </a:ln>
        </p:spPr>
        <p:txBody>
          <a:bodyPr wrap="square" rtlCol="0">
            <a:spAutoFit/>
          </a:bodyPr>
          <a:lstStyle/>
          <a:p>
            <a:pPr algn="ct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Best LINE</a:t>
            </a:r>
            <a:r>
              <a:rPr lang="ja-JP" altLang="en-US" sz="800" dirty="0">
                <a:latin typeface="メイリオ" panose="020B0604030504040204" pitchFamily="50" charset="-128"/>
                <a:ea typeface="メイリオ" panose="020B0604030504040204" pitchFamily="50" charset="-128"/>
              </a:rPr>
              <a:t>公式アカウント </a:t>
            </a:r>
            <a:r>
              <a:rPr lang="en-US" altLang="ja-JP" sz="800" dirty="0">
                <a:latin typeface="メイリオ" panose="020B0604030504040204" pitchFamily="50" charset="-128"/>
                <a:ea typeface="メイリオ" panose="020B0604030504040204" pitchFamily="50" charset="-128"/>
              </a:rPr>
              <a:t>Growth</a:t>
            </a:r>
            <a:r>
              <a:rPr lang="ja-JP" altLang="en-US" sz="800" dirty="0">
                <a:latin typeface="メイリオ" panose="020B0604030504040204" pitchFamily="50" charset="-128"/>
                <a:ea typeface="メイリオ" panose="020B0604030504040204" pitchFamily="50" charset="-128"/>
              </a:rPr>
              <a:t>」部門で</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ヤフー社から表彰をいただきました。</a:t>
            </a:r>
            <a:endParaRPr kumimoji="1" lang="ja-JP" altLang="en-US" sz="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F974FA57-9312-73D0-6461-C65486B6B90A}"/>
              </a:ext>
            </a:extLst>
          </p:cNvPr>
          <p:cNvSpPr/>
          <p:nvPr/>
        </p:nvSpPr>
        <p:spPr>
          <a:xfrm>
            <a:off x="388723" y="675734"/>
            <a:ext cx="9128556" cy="349010"/>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661DF32-128A-6B77-5F5D-76D78A1B8378}"/>
              </a:ext>
            </a:extLst>
          </p:cNvPr>
          <p:cNvSpPr/>
          <p:nvPr/>
        </p:nvSpPr>
        <p:spPr>
          <a:xfrm>
            <a:off x="2853632" y="700332"/>
            <a:ext cx="6663645" cy="306000"/>
          </a:xfrm>
          <a:prstGeom prst="rect">
            <a:avLst/>
          </a:prstGeom>
          <a:solidFill>
            <a:srgbClr val="10253F"/>
          </a:solidFill>
        </p:spPr>
        <p:txBody>
          <a:bodyPr wrap="square">
            <a:spAutoFit/>
          </a:bodyPr>
          <a:lstStyle/>
          <a:p>
            <a:pPr lvl="0">
              <a:buClr>
                <a:srgbClr val="002060"/>
              </a:buClr>
              <a:buSzPts val="1600"/>
            </a:pPr>
            <a:r>
              <a:rPr lang="en-US" altLang="ja-JP" sz="1300" b="1">
                <a:solidFill>
                  <a:schemeClr val="bg1"/>
                </a:solidFill>
                <a:latin typeface="Meiryo"/>
                <a:ea typeface="Meiryo"/>
                <a:cs typeface="Meiryo"/>
                <a:sym typeface="Meiryo"/>
              </a:rPr>
              <a:t>LINE</a:t>
            </a:r>
            <a:r>
              <a:rPr lang="ja-JP" altLang="en-US" sz="1300" b="1">
                <a:solidFill>
                  <a:schemeClr val="bg1"/>
                </a:solidFill>
                <a:latin typeface="Meiryo"/>
                <a:ea typeface="Meiryo"/>
                <a:cs typeface="Meiryo"/>
                <a:sym typeface="Meiryo"/>
              </a:rPr>
              <a:t>ヤフー </a:t>
            </a:r>
            <a:r>
              <a:rPr lang="en-US" altLang="ja-JP" sz="1300" b="1">
                <a:solidFill>
                  <a:schemeClr val="bg1"/>
                </a:solidFill>
                <a:latin typeface="Meiryo"/>
                <a:ea typeface="Meiryo"/>
                <a:cs typeface="Meiryo"/>
                <a:sym typeface="Meiryo"/>
              </a:rPr>
              <a:t>Partner Award 2025</a:t>
            </a:r>
            <a:r>
              <a:rPr lang="ja-JP" altLang="en-US" sz="1300" b="1">
                <a:solidFill>
                  <a:schemeClr val="bg1"/>
                </a:solidFill>
                <a:latin typeface="Meiryo"/>
                <a:ea typeface="Meiryo"/>
                <a:cs typeface="Meiryo"/>
                <a:sym typeface="Meiryo"/>
              </a:rPr>
              <a:t>にて「</a:t>
            </a:r>
            <a:r>
              <a:rPr lang="en-US" altLang="ja-JP" sz="1300" b="1">
                <a:solidFill>
                  <a:schemeClr val="bg1"/>
                </a:solidFill>
                <a:latin typeface="Meiryo"/>
                <a:ea typeface="Meiryo"/>
                <a:cs typeface="Meiryo"/>
                <a:sym typeface="Meiryo"/>
              </a:rPr>
              <a:t>Best LINE</a:t>
            </a:r>
            <a:r>
              <a:rPr lang="ja-JP" altLang="en-US" sz="1300" b="1">
                <a:solidFill>
                  <a:schemeClr val="bg1"/>
                </a:solidFill>
                <a:latin typeface="Meiryo"/>
                <a:ea typeface="Meiryo"/>
                <a:cs typeface="Meiryo"/>
                <a:sym typeface="Meiryo"/>
              </a:rPr>
              <a:t>公式アカウント </a:t>
            </a:r>
            <a:r>
              <a:rPr lang="en-US" altLang="ja-JP" sz="1300" b="1">
                <a:solidFill>
                  <a:schemeClr val="bg1"/>
                </a:solidFill>
                <a:latin typeface="Meiryo"/>
                <a:ea typeface="Meiryo"/>
                <a:cs typeface="Meiryo"/>
                <a:sym typeface="Meiryo"/>
              </a:rPr>
              <a:t>Growth</a:t>
            </a:r>
            <a:r>
              <a:rPr lang="ja-JP" altLang="en-US" sz="1300" b="1">
                <a:solidFill>
                  <a:schemeClr val="bg1"/>
                </a:solidFill>
                <a:latin typeface="Meiryo"/>
                <a:ea typeface="Meiryo"/>
                <a:cs typeface="Meiryo"/>
                <a:sym typeface="Meiryo"/>
              </a:rPr>
              <a:t>」受賞</a:t>
            </a:r>
            <a:endParaRPr lang="en-US" altLang="ja-JP" sz="1300" b="1" dirty="0">
              <a:solidFill>
                <a:schemeClr val="bg1"/>
              </a:solidFill>
              <a:latin typeface="Meiryo"/>
              <a:ea typeface="Meiryo"/>
              <a:cs typeface="Meiryo"/>
              <a:sym typeface="Meiryo"/>
            </a:endParaRPr>
          </a:p>
        </p:txBody>
      </p:sp>
      <p:sp>
        <p:nvSpPr>
          <p:cNvPr id="6" name="正方形/長方形 5">
            <a:extLst>
              <a:ext uri="{FF2B5EF4-FFF2-40B4-BE49-F238E27FC236}">
                <a16:creationId xmlns:a16="http://schemas.microsoft.com/office/drawing/2014/main" id="{DEE7F595-5FAC-C5CD-0B26-580B6DF09A53}"/>
              </a:ext>
            </a:extLst>
          </p:cNvPr>
          <p:cNvSpPr/>
          <p:nvPr/>
        </p:nvSpPr>
        <p:spPr>
          <a:xfrm>
            <a:off x="432943" y="700332"/>
            <a:ext cx="2391617" cy="306000"/>
          </a:xfrm>
          <a:prstGeom prst="rect">
            <a:avLst/>
          </a:prstGeom>
          <a:solidFill>
            <a:srgbClr val="10253F"/>
          </a:solidFill>
        </p:spPr>
        <p:txBody>
          <a:bodyPr wrap="square">
            <a:spAutoFit/>
          </a:bodyPr>
          <a:lstStyle/>
          <a:p>
            <a:pPr lvl="0" algn="ctr">
              <a:buClr>
                <a:srgbClr val="002060"/>
              </a:buClr>
              <a:buSzPts val="1600"/>
            </a:pPr>
            <a:r>
              <a:rPr lang="en-US" altLang="ja-JP" sz="1400" b="1">
                <a:solidFill>
                  <a:schemeClr val="bg1"/>
                </a:solidFill>
                <a:latin typeface="Meiryo"/>
                <a:ea typeface="Meiryo"/>
                <a:cs typeface="Meiryo"/>
                <a:sym typeface="Meiryo"/>
              </a:rPr>
              <a:t>DYM × LINEOA</a:t>
            </a:r>
            <a:endParaRPr lang="en-US" altLang="ja-JP" sz="1400" b="1" dirty="0">
              <a:solidFill>
                <a:schemeClr val="bg1"/>
              </a:solidFill>
              <a:latin typeface="Meiryo"/>
              <a:ea typeface="Meiryo"/>
              <a:cs typeface="Meiryo"/>
              <a:sym typeface="Meiryo"/>
            </a:endParaRPr>
          </a:p>
        </p:txBody>
      </p:sp>
      <p:pic>
        <p:nvPicPr>
          <p:cNvPr id="56" name="Picture 2">
            <a:extLst>
              <a:ext uri="{FF2B5EF4-FFF2-40B4-BE49-F238E27FC236}">
                <a16:creationId xmlns:a16="http://schemas.microsoft.com/office/drawing/2014/main" id="{6B503BF7-985B-8770-4643-5E3EB6E55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689" y="5150774"/>
            <a:ext cx="1929199" cy="1286131"/>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2">
            <a:extLst>
              <a:ext uri="{FF2B5EF4-FFF2-40B4-BE49-F238E27FC236}">
                <a16:creationId xmlns:a16="http://schemas.microsoft.com/office/drawing/2014/main" id="{761ADAB8-B668-8B05-EDE6-B5003466E015}"/>
              </a:ext>
            </a:extLst>
          </p:cNvPr>
          <p:cNvSpPr txBox="1">
            <a:spLocks/>
          </p:cNvSpPr>
          <p:nvPr/>
        </p:nvSpPr>
        <p:spPr>
          <a:xfrm>
            <a:off x="8209814" y="6217102"/>
            <a:ext cx="676273" cy="157797"/>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700">
                <a:solidFill>
                  <a:schemeClr val="bg1"/>
                </a:solidFill>
              </a:rPr>
              <a:t>※</a:t>
            </a:r>
            <a:r>
              <a:rPr lang="ja-JP" altLang="en-US" sz="700">
                <a:solidFill>
                  <a:schemeClr val="bg1"/>
                </a:solidFill>
              </a:rPr>
              <a:t>受賞時の</a:t>
            </a:r>
            <a:r>
              <a:rPr lang="en-US" altLang="ja-JP" sz="700">
                <a:solidFill>
                  <a:schemeClr val="bg1"/>
                </a:solidFill>
              </a:rPr>
              <a:t>1</a:t>
            </a:r>
            <a:r>
              <a:rPr lang="ja-JP" altLang="en-US" sz="700">
                <a:solidFill>
                  <a:schemeClr val="bg1"/>
                </a:solidFill>
              </a:rPr>
              <a:t>枚</a:t>
            </a:r>
            <a:endParaRPr lang="en-US" altLang="ja-JP" sz="700" dirty="0">
              <a:solidFill>
                <a:schemeClr val="bg1"/>
              </a:solidFill>
            </a:endParaRPr>
          </a:p>
        </p:txBody>
      </p:sp>
      <p:pic>
        <p:nvPicPr>
          <p:cNvPr id="7" name="図 6" descr="アイコン が含まれている画像&#10;&#10;AI 生成コンテンツは誤りを含む可能性があります。">
            <a:extLst>
              <a:ext uri="{FF2B5EF4-FFF2-40B4-BE49-F238E27FC236}">
                <a16:creationId xmlns:a16="http://schemas.microsoft.com/office/drawing/2014/main" id="{1FAB445F-372A-C0D2-7552-790613769A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069" y="4654614"/>
            <a:ext cx="2886575" cy="2294826"/>
          </a:xfrm>
          <a:prstGeom prst="rect">
            <a:avLst/>
          </a:prstGeom>
        </p:spPr>
      </p:pic>
      <p:sp>
        <p:nvSpPr>
          <p:cNvPr id="10" name="テキスト ボックス 9">
            <a:extLst>
              <a:ext uri="{FF2B5EF4-FFF2-40B4-BE49-F238E27FC236}">
                <a16:creationId xmlns:a16="http://schemas.microsoft.com/office/drawing/2014/main" id="{F7A1F49B-800C-42EE-5308-93E8C2B2E88F}"/>
              </a:ext>
            </a:extLst>
          </p:cNvPr>
          <p:cNvSpPr txBox="1"/>
          <p:nvPr/>
        </p:nvSpPr>
        <p:spPr>
          <a:xfrm>
            <a:off x="2535025" y="5767731"/>
            <a:ext cx="4963884" cy="646331"/>
          </a:xfrm>
          <a:prstGeom prst="rect">
            <a:avLst/>
          </a:prstGeom>
          <a:noFill/>
        </p:spPr>
        <p:txBody>
          <a:bodyPr wrap="square">
            <a:spAutoFit/>
          </a:bodyPr>
          <a:lstStyle/>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現在</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Sales Partner Premier</a:t>
            </a:r>
          </a:p>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は</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を合わせて</a:t>
            </a:r>
            <a:r>
              <a:rPr lang="en-US" altLang="ja-JP" sz="900" b="1" dirty="0">
                <a:solidFill>
                  <a:srgbClr val="000000">
                    <a:lumMod val="95000"/>
                    <a:lumOff val="5000"/>
                  </a:srgbClr>
                </a:solidFill>
                <a:latin typeface="メイリオ" panose="020B0604030504040204" pitchFamily="50" charset="-128"/>
                <a:ea typeface="メイリオ" panose="020B0604030504040204" pitchFamily="50" charset="-128"/>
              </a:rPr>
              <a:t>12</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社が認定</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未上場企業では</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唯一で最上位</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ja-JP" altLang="en-US" sz="900" dirty="0"/>
          </a:p>
        </p:txBody>
      </p:sp>
      <p:pic>
        <p:nvPicPr>
          <p:cNvPr id="5" name="図 4">
            <a:extLst>
              <a:ext uri="{FF2B5EF4-FFF2-40B4-BE49-F238E27FC236}">
                <a16:creationId xmlns:a16="http://schemas.microsoft.com/office/drawing/2014/main" id="{60ACD608-62E1-EDDE-99C7-355D55B75F7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8996" y="4759370"/>
            <a:ext cx="2664636" cy="2074350"/>
          </a:xfrm>
          <a:prstGeom prst="rect">
            <a:avLst/>
          </a:prstGeom>
        </p:spPr>
      </p:pic>
    </p:spTree>
    <p:extLst>
      <p:ext uri="{BB962C8B-B14F-4D97-AF65-F5344CB8AC3E}">
        <p14:creationId xmlns:p14="http://schemas.microsoft.com/office/powerpoint/2010/main" val="30142225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861D-E2B1-5330-6864-9B051B1B450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0815731-3923-DF64-2497-E7A37D053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弊社ポジショニング</a:t>
            </a:r>
          </a:p>
        </p:txBody>
      </p:sp>
      <p:sp>
        <p:nvSpPr>
          <p:cNvPr id="2" name="正方形/長方形 1">
            <a:extLst>
              <a:ext uri="{FF2B5EF4-FFF2-40B4-BE49-F238E27FC236}">
                <a16:creationId xmlns:a16="http://schemas.microsoft.com/office/drawing/2014/main" id="{6EE73D80-19A8-1B22-3E67-207FD67693A3}"/>
              </a:ext>
            </a:extLst>
          </p:cNvPr>
          <p:cNvSpPr/>
          <p:nvPr/>
        </p:nvSpPr>
        <p:spPr>
          <a:xfrm>
            <a:off x="414745"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CD2306FC-4175-2C00-0D17-32F2AAC51C82}"/>
              </a:ext>
            </a:extLst>
          </p:cNvPr>
          <p:cNvSpPr/>
          <p:nvPr/>
        </p:nvSpPr>
        <p:spPr>
          <a:xfrm>
            <a:off x="4892040"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9ED6AD3F-541D-3FC5-0062-3F2A923253C9}"/>
              </a:ext>
            </a:extLst>
          </p:cNvPr>
          <p:cNvSpPr/>
          <p:nvPr/>
        </p:nvSpPr>
        <p:spPr>
          <a:xfrm>
            <a:off x="414745"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D4D20F90-DB1A-B6A0-8607-C0C93118158E}"/>
              </a:ext>
            </a:extLst>
          </p:cNvPr>
          <p:cNvSpPr/>
          <p:nvPr/>
        </p:nvSpPr>
        <p:spPr>
          <a:xfrm>
            <a:off x="4892040"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608CEE-4C85-001A-2579-A0A698688995}"/>
              </a:ext>
            </a:extLst>
          </p:cNvPr>
          <p:cNvSpPr/>
          <p:nvPr/>
        </p:nvSpPr>
        <p:spPr>
          <a:xfrm>
            <a:off x="414745"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ツール会社　</a:t>
            </a:r>
          </a:p>
        </p:txBody>
      </p:sp>
      <p:sp>
        <p:nvSpPr>
          <p:cNvPr id="13" name="正方形/長方形 12">
            <a:extLst>
              <a:ext uri="{FF2B5EF4-FFF2-40B4-BE49-F238E27FC236}">
                <a16:creationId xmlns:a16="http://schemas.microsoft.com/office/drawing/2014/main" id="{59A99E6E-D460-C2CE-3554-D4177944BCC1}"/>
              </a:ext>
            </a:extLst>
          </p:cNvPr>
          <p:cNvSpPr/>
          <p:nvPr/>
        </p:nvSpPr>
        <p:spPr>
          <a:xfrm>
            <a:off x="4892040"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 コンサル会社</a:t>
            </a:r>
          </a:p>
        </p:txBody>
      </p:sp>
      <p:sp>
        <p:nvSpPr>
          <p:cNvPr id="14" name="正方形/長方形 13">
            <a:extLst>
              <a:ext uri="{FF2B5EF4-FFF2-40B4-BE49-F238E27FC236}">
                <a16:creationId xmlns:a16="http://schemas.microsoft.com/office/drawing/2014/main" id="{B9B23A0A-C181-F52D-CE83-83252D57916D}"/>
              </a:ext>
            </a:extLst>
          </p:cNvPr>
          <p:cNvSpPr/>
          <p:nvPr/>
        </p:nvSpPr>
        <p:spPr>
          <a:xfrm>
            <a:off x="414745"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広告専業の代理店</a:t>
            </a:r>
          </a:p>
        </p:txBody>
      </p:sp>
      <p:sp>
        <p:nvSpPr>
          <p:cNvPr id="15" name="正方形/長方形 14">
            <a:extLst>
              <a:ext uri="{FF2B5EF4-FFF2-40B4-BE49-F238E27FC236}">
                <a16:creationId xmlns:a16="http://schemas.microsoft.com/office/drawing/2014/main" id="{735511C6-7F11-A23D-F1BA-0FACD703798D}"/>
              </a:ext>
            </a:extLst>
          </p:cNvPr>
          <p:cNvSpPr/>
          <p:nvPr/>
        </p:nvSpPr>
        <p:spPr>
          <a:xfrm>
            <a:off x="4892040"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他</a:t>
            </a:r>
            <a:r>
              <a:rPr kumimoji="1" lang="en-US" altLang="ja-JP" sz="1000" b="1" dirty="0">
                <a:solidFill>
                  <a:schemeClr val="tx1"/>
                </a:solidFill>
                <a:latin typeface="メイリオ" panose="020B0604030504040204" pitchFamily="50" charset="-128"/>
                <a:ea typeface="メイリオ" panose="020B0604030504040204" pitchFamily="50" charset="-128"/>
              </a:rPr>
              <a:t>CRM</a:t>
            </a:r>
            <a:r>
              <a:rPr kumimoji="1" lang="ja-JP" altLang="en-US" sz="1000" b="1" dirty="0">
                <a:solidFill>
                  <a:schemeClr val="tx1"/>
                </a:solidFill>
                <a:latin typeface="メイリオ" panose="020B0604030504040204" pitchFamily="50" charset="-128"/>
                <a:ea typeface="メイリオ" panose="020B0604030504040204" pitchFamily="50" charset="-128"/>
              </a:rPr>
              <a:t>の会社</a:t>
            </a:r>
          </a:p>
        </p:txBody>
      </p:sp>
      <p:pic>
        <p:nvPicPr>
          <p:cNvPr id="21" name="図 20" descr="文字が書かれている&#10;&#10;AI 生成コンテンツは誤りを含む可能性があります。">
            <a:extLst>
              <a:ext uri="{FF2B5EF4-FFF2-40B4-BE49-F238E27FC236}">
                <a16:creationId xmlns:a16="http://schemas.microsoft.com/office/drawing/2014/main" id="{2521257E-D1E1-307C-8244-A7D93D470795}"/>
              </a:ext>
            </a:extLst>
          </p:cNvPr>
          <p:cNvPicPr>
            <a:picLocks noChangeAspect="1"/>
          </p:cNvPicPr>
          <p:nvPr/>
        </p:nvPicPr>
        <p:blipFill>
          <a:blip r:embed="rId2"/>
          <a:stretch>
            <a:fillRect/>
          </a:stretch>
        </p:blipFill>
        <p:spPr>
          <a:xfrm>
            <a:off x="1086533" y="2273664"/>
            <a:ext cx="1323427" cy="315679"/>
          </a:xfrm>
          <a:prstGeom prst="rect">
            <a:avLst/>
          </a:prstGeom>
        </p:spPr>
      </p:pic>
      <p:pic>
        <p:nvPicPr>
          <p:cNvPr id="1026" name="Picture 2" descr="特定商取引法に関する表示 | Lステップ（エルステップ）公式_LINE公式アカウント特化のマーケティングツール">
            <a:extLst>
              <a:ext uri="{FF2B5EF4-FFF2-40B4-BE49-F238E27FC236}">
                <a16:creationId xmlns:a16="http://schemas.microsoft.com/office/drawing/2014/main" id="{E86AB3B4-1E56-4227-88BE-FA673F0233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6417" y="2184166"/>
            <a:ext cx="831168" cy="467532"/>
          </a:xfrm>
          <a:prstGeom prst="rect">
            <a:avLst/>
          </a:prstGeom>
          <a:noFill/>
          <a:extLst>
            <a:ext uri="{909E8E84-426E-40DD-AFC4-6F175D3DCCD1}">
              <a14:hiddenFill xmlns:a14="http://schemas.microsoft.com/office/drawing/2010/main">
                <a:solidFill>
                  <a:srgbClr val="FFFFFF"/>
                </a:solidFill>
              </a14:hiddenFill>
            </a:ext>
          </a:extLst>
        </p:spPr>
      </p:pic>
      <p:sp>
        <p:nvSpPr>
          <p:cNvPr id="26" name="乗算記号 25">
            <a:extLst>
              <a:ext uri="{FF2B5EF4-FFF2-40B4-BE49-F238E27FC236}">
                <a16:creationId xmlns:a16="http://schemas.microsoft.com/office/drawing/2014/main" id="{676235DE-33EB-2E33-33D6-74D321860C39}"/>
              </a:ext>
            </a:extLst>
          </p:cNvPr>
          <p:cNvSpPr/>
          <p:nvPr/>
        </p:nvSpPr>
        <p:spPr>
          <a:xfrm>
            <a:off x="619832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乗算記号 26">
            <a:extLst>
              <a:ext uri="{FF2B5EF4-FFF2-40B4-BE49-F238E27FC236}">
                <a16:creationId xmlns:a16="http://schemas.microsoft.com/office/drawing/2014/main" id="{7C31A50F-57BD-64E8-DE3F-3A8FB722D839}"/>
              </a:ext>
            </a:extLst>
          </p:cNvPr>
          <p:cNvSpPr/>
          <p:nvPr/>
        </p:nvSpPr>
        <p:spPr>
          <a:xfrm>
            <a:off x="1472312" y="4277918"/>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乗算記号 27">
            <a:extLst>
              <a:ext uri="{FF2B5EF4-FFF2-40B4-BE49-F238E27FC236}">
                <a16:creationId xmlns:a16="http://schemas.microsoft.com/office/drawing/2014/main" id="{9B7C9A4B-096B-D2DD-08B8-D421AB634155}"/>
              </a:ext>
            </a:extLst>
          </p:cNvPr>
          <p:cNvSpPr/>
          <p:nvPr/>
        </p:nvSpPr>
        <p:spPr>
          <a:xfrm>
            <a:off x="173435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乗算記号 28">
            <a:extLst>
              <a:ext uri="{FF2B5EF4-FFF2-40B4-BE49-F238E27FC236}">
                <a16:creationId xmlns:a16="http://schemas.microsoft.com/office/drawing/2014/main" id="{E3AD3032-8560-946E-0D20-D2977D17F027}"/>
              </a:ext>
            </a:extLst>
          </p:cNvPr>
          <p:cNvSpPr/>
          <p:nvPr/>
        </p:nvSpPr>
        <p:spPr>
          <a:xfrm>
            <a:off x="6128651" y="4274166"/>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8" name="Picture 4" descr="Salesforceってなに？初心者でも簡単にわかる！導入のメリットと基本機能について | CONCENTO">
            <a:extLst>
              <a:ext uri="{FF2B5EF4-FFF2-40B4-BE49-F238E27FC236}">
                <a16:creationId xmlns:a16="http://schemas.microsoft.com/office/drawing/2014/main" id="{A10BCEF0-052F-BF99-39E9-5BA577F00F7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3384" t="14322" r="25004" b="16405"/>
          <a:stretch>
            <a:fillRect/>
          </a:stretch>
        </p:blipFill>
        <p:spPr bwMode="auto">
          <a:xfrm>
            <a:off x="5388428" y="4659089"/>
            <a:ext cx="441441" cy="311537"/>
          </a:xfrm>
          <a:prstGeom prst="rect">
            <a:avLst/>
          </a:prstGeom>
          <a:ln>
            <a:noFill/>
          </a:ln>
        </p:spPr>
        <p:style>
          <a:lnRef idx="2">
            <a:schemeClr val="dk1"/>
          </a:lnRef>
          <a:fillRef idx="1">
            <a:schemeClr val="lt1"/>
          </a:fillRef>
          <a:effectRef idx="0">
            <a:schemeClr val="dk1"/>
          </a:effectRef>
          <a:fontRef idx="minor">
            <a:schemeClr val="dk1"/>
          </a:fontRef>
        </p:style>
      </p:pic>
      <p:pic>
        <p:nvPicPr>
          <p:cNvPr id="31" name="図 30" descr="挿絵, 抽象 が含まれている画像&#10;&#10;AI 生成コンテンツは誤りを含む可能性があります。">
            <a:extLst>
              <a:ext uri="{FF2B5EF4-FFF2-40B4-BE49-F238E27FC236}">
                <a16:creationId xmlns:a16="http://schemas.microsoft.com/office/drawing/2014/main" id="{172999E0-2479-CF51-1EFC-C4CA794CEC4E}"/>
              </a:ext>
            </a:extLst>
          </p:cNvPr>
          <p:cNvPicPr>
            <a:picLocks noChangeAspect="1"/>
          </p:cNvPicPr>
          <p:nvPr/>
        </p:nvPicPr>
        <p:blipFill>
          <a:blip r:embed="rId5"/>
          <a:stretch>
            <a:fillRect/>
          </a:stretch>
        </p:blipFill>
        <p:spPr>
          <a:xfrm>
            <a:off x="5864283" y="4715948"/>
            <a:ext cx="682242" cy="197819"/>
          </a:xfrm>
          <a:prstGeom prst="rect">
            <a:avLst/>
          </a:prstGeom>
        </p:spPr>
      </p:pic>
      <p:pic>
        <p:nvPicPr>
          <p:cNvPr id="33" name="図 32" descr="黒い背景に白い文字がある&#10;&#10;AI 生成コンテンツは誤りを含む可能性があります。">
            <a:extLst>
              <a:ext uri="{FF2B5EF4-FFF2-40B4-BE49-F238E27FC236}">
                <a16:creationId xmlns:a16="http://schemas.microsoft.com/office/drawing/2014/main" id="{474C051E-B596-1651-549B-F1BDC6EA898F}"/>
              </a:ext>
            </a:extLst>
          </p:cNvPr>
          <p:cNvPicPr>
            <a:picLocks noChangeAspect="1"/>
          </p:cNvPicPr>
          <p:nvPr/>
        </p:nvPicPr>
        <p:blipFill>
          <a:blip r:embed="rId6"/>
          <a:stretch>
            <a:fillRect/>
          </a:stretch>
        </p:blipFill>
        <p:spPr>
          <a:xfrm>
            <a:off x="6580939" y="4694453"/>
            <a:ext cx="1225076" cy="219314"/>
          </a:xfrm>
          <a:prstGeom prst="rect">
            <a:avLst/>
          </a:prstGeom>
        </p:spPr>
      </p:pic>
      <p:sp>
        <p:nvSpPr>
          <p:cNvPr id="35" name="テキスト ボックス 34">
            <a:extLst>
              <a:ext uri="{FF2B5EF4-FFF2-40B4-BE49-F238E27FC236}">
                <a16:creationId xmlns:a16="http://schemas.microsoft.com/office/drawing/2014/main" id="{A53AB6D9-AEB5-ECF4-8C73-A7EFC4F05EF1}"/>
              </a:ext>
            </a:extLst>
          </p:cNvPr>
          <p:cNvSpPr txBox="1"/>
          <p:nvPr/>
        </p:nvSpPr>
        <p:spPr>
          <a:xfrm>
            <a:off x="4866072" y="2273664"/>
            <a:ext cx="4459715" cy="246221"/>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システム管理会社・ツール運用会社・デザイン会社</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pic>
        <p:nvPicPr>
          <p:cNvPr id="1030" name="Picture 6" descr="お知らせ一覧｜LINEマーケティングや販促・顧客管理ならLiny">
            <a:extLst>
              <a:ext uri="{FF2B5EF4-FFF2-40B4-BE49-F238E27FC236}">
                <a16:creationId xmlns:a16="http://schemas.microsoft.com/office/drawing/2014/main" id="{A11EE7F3-23DE-A03C-6953-9FC6DABEDA8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1448" t="26478" r="21237" b="27778"/>
          <a:stretch>
            <a:fillRect/>
          </a:stretch>
        </p:blipFill>
        <p:spPr bwMode="auto">
          <a:xfrm>
            <a:off x="3335235" y="2279400"/>
            <a:ext cx="571287" cy="3042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opify Japan 株式会社のプレスリリース｜PR TIMES">
            <a:extLst>
              <a:ext uri="{FF2B5EF4-FFF2-40B4-BE49-F238E27FC236}">
                <a16:creationId xmlns:a16="http://schemas.microsoft.com/office/drawing/2014/main" id="{1BF2471A-3689-B39E-D841-0A5CEE63B02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38796" y="4694711"/>
            <a:ext cx="799200" cy="228571"/>
          </a:xfrm>
          <a:prstGeom prst="rect">
            <a:avLst/>
          </a:prstGeom>
          <a:noFill/>
          <a:extLst>
            <a:ext uri="{909E8E84-426E-40DD-AFC4-6F175D3DCCD1}">
              <a14:hiddenFill xmlns:a14="http://schemas.microsoft.com/office/drawing/2010/main">
                <a:solidFill>
                  <a:srgbClr val="FFFFFF"/>
                </a:solidFill>
              </a14:hiddenFill>
            </a:ext>
          </a:extLst>
        </p:spPr>
      </p:pic>
      <p:sp>
        <p:nvSpPr>
          <p:cNvPr id="36" name="テキスト ボックス 35">
            <a:extLst>
              <a:ext uri="{FF2B5EF4-FFF2-40B4-BE49-F238E27FC236}">
                <a16:creationId xmlns:a16="http://schemas.microsoft.com/office/drawing/2014/main" id="{EB20A091-C336-4BDE-54E9-33ECF6B1EC77}"/>
              </a:ext>
            </a:extLst>
          </p:cNvPr>
          <p:cNvSpPr txBox="1"/>
          <p:nvPr/>
        </p:nvSpPr>
        <p:spPr>
          <a:xfrm>
            <a:off x="362665" y="4709164"/>
            <a:ext cx="4459715" cy="246221"/>
          </a:xfrm>
          <a:prstGeom prst="rect">
            <a:avLst/>
          </a:prstGeom>
          <a:noFill/>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rPr>
              <a:t>LINE</a:t>
            </a:r>
            <a:r>
              <a:rPr lang="ja-JP" altLang="en-US" sz="1000" b="1" dirty="0">
                <a:latin typeface="メイリオ" panose="020B0604030504040204" pitchFamily="50" charset="-128"/>
                <a:ea typeface="メイリオ" panose="020B0604030504040204" pitchFamily="50" charset="-128"/>
              </a:rPr>
              <a:t>ヤフーのパッケージ商品などの拡販</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3CD4067-EE53-3C90-C918-C15397527FBF}"/>
              </a:ext>
            </a:extLst>
          </p:cNvPr>
          <p:cNvSpPr txBox="1"/>
          <p:nvPr/>
        </p:nvSpPr>
        <p:spPr>
          <a:xfrm>
            <a:off x="459470" y="2738645"/>
            <a:ext cx="4311647" cy="646331"/>
          </a:xfrm>
          <a:prstGeom prst="rect">
            <a:avLst/>
          </a:prstGeom>
          <a:noFill/>
        </p:spPr>
        <p:txBody>
          <a:bodyPr wrap="square">
            <a:spAutoFit/>
          </a:bodyPr>
          <a:lstStyle/>
          <a:p>
            <a:pPr algn="ctr"/>
            <a:r>
              <a:rPr kumimoji="1"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・ツールによって、適用される機能自体に差分がある。</a:t>
            </a:r>
            <a:endParaRPr kumimoji="1"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 </a:t>
            </a:r>
            <a:r>
              <a:rPr kumimoji="1"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ツールが</a:t>
            </a:r>
            <a:r>
              <a:rPr kumimoji="1"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1</a:t>
            </a:r>
            <a:r>
              <a:rPr kumimoji="1"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社のみの独占となり、切替えが難しい。</a:t>
            </a:r>
            <a:endParaRPr kumimoji="1"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endParaRPr kumimoji="1" lang="ja-JP" altLang="en-US" sz="12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EBA4D737-3559-5FE1-B418-3302CBFCB9A9}"/>
              </a:ext>
            </a:extLst>
          </p:cNvPr>
          <p:cNvSpPr txBox="1"/>
          <p:nvPr/>
        </p:nvSpPr>
        <p:spPr>
          <a:xfrm>
            <a:off x="4928055" y="2733229"/>
            <a:ext cx="4311647" cy="646331"/>
          </a:xfrm>
          <a:prstGeom prst="rect">
            <a:avLst/>
          </a:prstGeom>
          <a:noFill/>
        </p:spPr>
        <p:txBody>
          <a:bodyPr wrap="square">
            <a:spAutoFit/>
          </a:bodyPr>
          <a:lstStyle/>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・ツール外注により費用が大きくなる可能性がある。</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運用自体に対する知見が少ない。</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・一部利用できない機能が存在する（</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Option API</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他）。</a:t>
            </a:r>
          </a:p>
        </p:txBody>
      </p:sp>
      <p:sp>
        <p:nvSpPr>
          <p:cNvPr id="8" name="テキスト ボックス 7">
            <a:extLst>
              <a:ext uri="{FF2B5EF4-FFF2-40B4-BE49-F238E27FC236}">
                <a16:creationId xmlns:a16="http://schemas.microsoft.com/office/drawing/2014/main" id="{C16446F7-FB27-00FA-5115-4A5251550BE6}"/>
              </a:ext>
            </a:extLst>
          </p:cNvPr>
          <p:cNvSpPr txBox="1"/>
          <p:nvPr/>
        </p:nvSpPr>
        <p:spPr>
          <a:xfrm>
            <a:off x="461608" y="5199061"/>
            <a:ext cx="4311647" cy="646331"/>
          </a:xfrm>
          <a:prstGeom prst="rect">
            <a:avLst/>
          </a:prstGeom>
          <a:noFill/>
        </p:spPr>
        <p:txBody>
          <a:bodyPr wrap="square">
            <a:spAutoFit/>
          </a:bodyPr>
          <a:lstStyle/>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運用部隊を備えていない可能性がある。</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・パッケージ売りが中心で非アクティブユーザーが増加。</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p>
        </p:txBody>
      </p:sp>
      <p:sp>
        <p:nvSpPr>
          <p:cNvPr id="9" name="テキスト ボックス 8">
            <a:extLst>
              <a:ext uri="{FF2B5EF4-FFF2-40B4-BE49-F238E27FC236}">
                <a16:creationId xmlns:a16="http://schemas.microsoft.com/office/drawing/2014/main" id="{19EE3868-DB7E-927E-8B36-00939FCE4211}"/>
              </a:ext>
            </a:extLst>
          </p:cNvPr>
          <p:cNvSpPr txBox="1"/>
          <p:nvPr/>
        </p:nvSpPr>
        <p:spPr>
          <a:xfrm>
            <a:off x="4930193" y="5285978"/>
            <a:ext cx="4311647" cy="461665"/>
          </a:xfrm>
          <a:prstGeom prst="rect">
            <a:avLst/>
          </a:prstGeom>
          <a:noFill/>
        </p:spPr>
        <p:txBody>
          <a:bodyPr wrap="square" anchor="ctr">
            <a:spAutoFit/>
          </a:bodyPr>
          <a:lstStyle/>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CRM</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側の</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利用時に通常より高単価になりやすい。</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単体での運用知見の乏しさ。</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189FFC9F-CF2D-25AD-00C7-208E47BC4C66}"/>
              </a:ext>
            </a:extLst>
          </p:cNvPr>
          <p:cNvSpPr/>
          <p:nvPr/>
        </p:nvSpPr>
        <p:spPr>
          <a:xfrm>
            <a:off x="3361317" y="1908015"/>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自動化・効率化</a:t>
            </a:r>
          </a:p>
        </p:txBody>
      </p:sp>
      <p:sp>
        <p:nvSpPr>
          <p:cNvPr id="18" name="正方形/長方形 17">
            <a:extLst>
              <a:ext uri="{FF2B5EF4-FFF2-40B4-BE49-F238E27FC236}">
                <a16:creationId xmlns:a16="http://schemas.microsoft.com/office/drawing/2014/main" id="{122AB27F-120A-6587-2E9E-7D2F5F3B4407}"/>
              </a:ext>
            </a:extLst>
          </p:cNvPr>
          <p:cNvSpPr/>
          <p:nvPr/>
        </p:nvSpPr>
        <p:spPr>
          <a:xfrm>
            <a:off x="7854818" y="1902839"/>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リッチ化</a:t>
            </a:r>
          </a:p>
        </p:txBody>
      </p:sp>
      <p:sp>
        <p:nvSpPr>
          <p:cNvPr id="19" name="正方形/長方形 18">
            <a:extLst>
              <a:ext uri="{FF2B5EF4-FFF2-40B4-BE49-F238E27FC236}">
                <a16:creationId xmlns:a16="http://schemas.microsoft.com/office/drawing/2014/main" id="{56DB3229-AC80-A545-1A7F-30968AF568EC}"/>
              </a:ext>
            </a:extLst>
          </p:cNvPr>
          <p:cNvSpPr/>
          <p:nvPr/>
        </p:nvSpPr>
        <p:spPr>
          <a:xfrm>
            <a:off x="3386263" y="4343224"/>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リード母数拡大</a:t>
            </a:r>
          </a:p>
        </p:txBody>
      </p:sp>
      <p:sp>
        <p:nvSpPr>
          <p:cNvPr id="20" name="正方形/長方形 19">
            <a:extLst>
              <a:ext uri="{FF2B5EF4-FFF2-40B4-BE49-F238E27FC236}">
                <a16:creationId xmlns:a16="http://schemas.microsoft.com/office/drawing/2014/main" id="{21D29B7F-EC01-1021-44F2-D37D7A2E27DC}"/>
              </a:ext>
            </a:extLst>
          </p:cNvPr>
          <p:cNvSpPr/>
          <p:nvPr/>
        </p:nvSpPr>
        <p:spPr>
          <a:xfrm>
            <a:off x="7879764" y="4338048"/>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自動化・効率化</a:t>
            </a:r>
          </a:p>
        </p:txBody>
      </p:sp>
      <p:sp>
        <p:nvSpPr>
          <p:cNvPr id="22" name="正方形/長方形 21">
            <a:extLst>
              <a:ext uri="{FF2B5EF4-FFF2-40B4-BE49-F238E27FC236}">
                <a16:creationId xmlns:a16="http://schemas.microsoft.com/office/drawing/2014/main" id="{2B94E779-B2D3-DA1A-5386-88EC8B7F7A2A}"/>
              </a:ext>
            </a:extLst>
          </p:cNvPr>
          <p:cNvSpPr/>
          <p:nvPr/>
        </p:nvSpPr>
        <p:spPr>
          <a:xfrm>
            <a:off x="486784" y="683522"/>
            <a:ext cx="9005456" cy="8694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b="1" dirty="0">
                <a:solidFill>
                  <a:schemeClr val="tx1"/>
                </a:solidFill>
                <a:latin typeface="メイリオ" panose="020B0604030504040204" pitchFamily="50" charset="-128"/>
                <a:ea typeface="メイリオ" panose="020B0604030504040204" pitchFamily="50" charset="-128"/>
              </a:rPr>
              <a:t>各種パートナー企業との連携から、幅広い</a:t>
            </a:r>
            <a:r>
              <a:rPr lang="en-US" altLang="ja-JP" sz="1600" b="1" dirty="0">
                <a:solidFill>
                  <a:schemeClr val="tx1"/>
                </a:solidFill>
                <a:latin typeface="メイリオ" panose="020B0604030504040204" pitchFamily="50" charset="-128"/>
                <a:ea typeface="メイリオ" panose="020B0604030504040204" pitchFamily="50" charset="-128"/>
              </a:rPr>
              <a:t>LINEOA</a:t>
            </a:r>
            <a:r>
              <a:rPr lang="ja-JP" altLang="en-US" sz="1600" b="1" dirty="0">
                <a:solidFill>
                  <a:schemeClr val="tx1"/>
                </a:solidFill>
                <a:latin typeface="メイリオ" panose="020B0604030504040204" pitchFamily="50" charset="-128"/>
                <a:ea typeface="メイリオ" panose="020B0604030504040204" pitchFamily="50" charset="-128"/>
              </a:rPr>
              <a:t>業務に対して対応が可能。</a:t>
            </a:r>
            <a:endParaRPr lang="en-US" altLang="ja-JP" sz="1600" b="1" dirty="0">
              <a:solidFill>
                <a:schemeClr val="tx1"/>
              </a:solidFill>
              <a:latin typeface="メイリオ" panose="020B0604030504040204" pitchFamily="50" charset="-128"/>
              <a:ea typeface="メイリオ" panose="020B0604030504040204" pitchFamily="50" charset="-128"/>
            </a:endParaRPr>
          </a:p>
          <a:p>
            <a:pPr algn="ctr"/>
            <a:r>
              <a:rPr lang="ja-JP" altLang="en-US" sz="1600" b="1" dirty="0">
                <a:solidFill>
                  <a:schemeClr val="tx1"/>
                </a:solidFill>
                <a:latin typeface="メイリオ" panose="020B0604030504040204" pitchFamily="50" charset="-128"/>
                <a:ea typeface="メイリオ" panose="020B0604030504040204" pitchFamily="50" charset="-128"/>
              </a:rPr>
              <a:t>貴社社内運用部隊と連携して、一部業務の委託についてもご相談いただけます。</a:t>
            </a:r>
            <a:endParaRPr lang="en-US" altLang="ja-JP" sz="1600" b="1" dirty="0">
              <a:solidFill>
                <a:schemeClr val="tx1"/>
              </a:solidFill>
              <a:latin typeface="メイリオ" panose="020B0604030504040204" pitchFamily="50" charset="-128"/>
              <a:ea typeface="メイリオ" panose="020B0604030504040204" pitchFamily="50" charset="-128"/>
            </a:endParaRPr>
          </a:p>
          <a:p>
            <a:pPr algn="ctr"/>
            <a:r>
              <a:rPr lang="en-US" altLang="ja-JP" sz="1200" b="1" dirty="0">
                <a:solidFill>
                  <a:srgbClr val="FF0000"/>
                </a:solidFill>
                <a:latin typeface="メイリオ" panose="020B0604030504040204" pitchFamily="50" charset="-128"/>
                <a:ea typeface="メイリオ" panose="020B0604030504040204" pitchFamily="50" charset="-128"/>
              </a:rPr>
              <a:t>※</a:t>
            </a:r>
            <a:r>
              <a:rPr lang="ja-JP" altLang="en-US" sz="1200" b="1" dirty="0">
                <a:solidFill>
                  <a:srgbClr val="FF0000"/>
                </a:solidFill>
                <a:latin typeface="メイリオ" panose="020B0604030504040204" pitchFamily="50" charset="-128"/>
                <a:ea typeface="メイリオ" panose="020B0604030504040204" pitchFamily="50" charset="-128"/>
              </a:rPr>
              <a:t>現状運用環境に合わせた成果報酬プランやコストカットの監修なども提示が可能です。</a:t>
            </a:r>
            <a:endParaRPr lang="ja-JP" altLang="en-US" sz="1600" b="1" dirty="0">
              <a:solidFill>
                <a:srgbClr val="FF0000"/>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DB41465D-5D30-6E80-78F0-EEE5C4A9C571}"/>
              </a:ext>
            </a:extLst>
          </p:cNvPr>
          <p:cNvSpPr txBox="1"/>
          <p:nvPr/>
        </p:nvSpPr>
        <p:spPr>
          <a:xfrm>
            <a:off x="269967" y="3632378"/>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4" name="テキスト ボックス 33">
            <a:extLst>
              <a:ext uri="{FF2B5EF4-FFF2-40B4-BE49-F238E27FC236}">
                <a16:creationId xmlns:a16="http://schemas.microsoft.com/office/drawing/2014/main" id="{0144DC71-37E5-DA34-FDBB-69F2A1BEA8E0}"/>
              </a:ext>
            </a:extLst>
          </p:cNvPr>
          <p:cNvSpPr txBox="1"/>
          <p:nvPr/>
        </p:nvSpPr>
        <p:spPr>
          <a:xfrm>
            <a:off x="4741544" y="3629460"/>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8" name="テキスト ボックス 37">
            <a:extLst>
              <a:ext uri="{FF2B5EF4-FFF2-40B4-BE49-F238E27FC236}">
                <a16:creationId xmlns:a16="http://schemas.microsoft.com/office/drawing/2014/main" id="{AF15CFA9-BA43-360D-D26E-040407A743A9}"/>
              </a:ext>
            </a:extLst>
          </p:cNvPr>
          <p:cNvSpPr txBox="1"/>
          <p:nvPr/>
        </p:nvSpPr>
        <p:spPr>
          <a:xfrm>
            <a:off x="269967" y="6081294"/>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0" name="テキスト ボックス 39">
            <a:extLst>
              <a:ext uri="{FF2B5EF4-FFF2-40B4-BE49-F238E27FC236}">
                <a16:creationId xmlns:a16="http://schemas.microsoft.com/office/drawing/2014/main" id="{240BE338-3054-2BB1-6A31-C90BDCFE06A9}"/>
              </a:ext>
            </a:extLst>
          </p:cNvPr>
          <p:cNvSpPr txBox="1"/>
          <p:nvPr/>
        </p:nvSpPr>
        <p:spPr>
          <a:xfrm>
            <a:off x="4741544" y="6078376"/>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1" name="テキスト ボックス 40">
            <a:extLst>
              <a:ext uri="{FF2B5EF4-FFF2-40B4-BE49-F238E27FC236}">
                <a16:creationId xmlns:a16="http://schemas.microsoft.com/office/drawing/2014/main" id="{C0326F10-43FF-1E4A-8F3D-ED5A80FA014B}"/>
              </a:ext>
            </a:extLst>
          </p:cNvPr>
          <p:cNvSpPr txBox="1"/>
          <p:nvPr/>
        </p:nvSpPr>
        <p:spPr>
          <a:xfrm>
            <a:off x="956972" y="3530330"/>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各種実績の多いツール企業と連携している為、</a:t>
            </a:r>
            <a:endParaRPr lang="en-US" altLang="ja-JP" sz="1200" b="1">
              <a:solidFill>
                <a:schemeClr val="tx2"/>
              </a:solidFill>
              <a:latin typeface="メイリオ" panose="020B0604030504040204" pitchFamily="50" charset="-128"/>
              <a:ea typeface="メイリオ" panose="020B0604030504040204" pitchFamily="50" charset="-128"/>
            </a:endParaRPr>
          </a:p>
          <a:p>
            <a:pPr algn="ctr"/>
            <a:r>
              <a:rPr kumimoji="1" lang="ja-JP" altLang="en-US" sz="1200" b="1">
                <a:solidFill>
                  <a:schemeClr val="tx2"/>
                </a:solidFill>
                <a:latin typeface="メイリオ" panose="020B0604030504040204" pitchFamily="50" charset="-128"/>
                <a:ea typeface="メイリオ" panose="020B0604030504040204" pitchFamily="50" charset="-128"/>
              </a:rPr>
              <a:t>将来的</a:t>
            </a:r>
            <a:r>
              <a:rPr kumimoji="1" lang="ja-JP" altLang="en-US" sz="1200" b="1" dirty="0">
                <a:solidFill>
                  <a:schemeClr val="tx2"/>
                </a:solidFill>
                <a:latin typeface="メイリオ" panose="020B0604030504040204" pitchFamily="50" charset="-128"/>
                <a:ea typeface="メイリオ" panose="020B0604030504040204" pitchFamily="50" charset="-128"/>
              </a:rPr>
              <a:t>な運用プランに合わせてツール選定をサポート。</a:t>
            </a:r>
          </a:p>
        </p:txBody>
      </p:sp>
      <p:sp>
        <p:nvSpPr>
          <p:cNvPr id="42" name="テキスト ボックス 41">
            <a:extLst>
              <a:ext uri="{FF2B5EF4-FFF2-40B4-BE49-F238E27FC236}">
                <a16:creationId xmlns:a16="http://schemas.microsoft.com/office/drawing/2014/main" id="{D6EF5007-A21E-89B0-31EE-98FC1F7BE5FB}"/>
              </a:ext>
            </a:extLst>
          </p:cNvPr>
          <p:cNvSpPr txBox="1"/>
          <p:nvPr/>
        </p:nvSpPr>
        <p:spPr>
          <a:xfrm>
            <a:off x="5428549" y="3527412"/>
            <a:ext cx="3842445" cy="461665"/>
          </a:xfrm>
          <a:prstGeom prst="rect">
            <a:avLst/>
          </a:prstGeom>
          <a:noFill/>
        </p:spPr>
        <p:txBody>
          <a:bodyPr wrap="square">
            <a:spAutoFit/>
          </a:bodyPr>
          <a:lstStyle/>
          <a:p>
            <a:pPr algn="ctr"/>
            <a:r>
              <a:rPr lang="en-US" altLang="ja-JP" sz="1200" b="1" dirty="0">
                <a:solidFill>
                  <a:schemeClr val="tx2"/>
                </a:solidFill>
                <a:latin typeface="メイリオ" panose="020B0604030504040204" pitchFamily="50" charset="-128"/>
                <a:ea typeface="メイリオ" panose="020B0604030504040204" pitchFamily="50" charset="-128"/>
              </a:rPr>
              <a:t>DYM</a:t>
            </a:r>
            <a:r>
              <a:rPr lang="ja-JP" altLang="en-US" sz="1200" b="1" dirty="0">
                <a:solidFill>
                  <a:schemeClr val="tx2"/>
                </a:solidFill>
                <a:latin typeface="メイリオ" panose="020B0604030504040204" pitchFamily="50" charset="-128"/>
                <a:ea typeface="メイリオ" panose="020B0604030504040204" pitchFamily="50" charset="-128"/>
              </a:rPr>
              <a:t>が商流に入ることにより限定の割引プランや</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拡張機能（一部</a:t>
            </a:r>
            <a:r>
              <a:rPr kumimoji="1" lang="en-US" altLang="ja-JP" sz="1200" b="1" dirty="0">
                <a:solidFill>
                  <a:schemeClr val="tx2"/>
                </a:solidFill>
                <a:latin typeface="メイリオ" panose="020B0604030504040204" pitchFamily="50" charset="-128"/>
                <a:ea typeface="メイリオ" panose="020B0604030504040204" pitchFamily="50" charset="-128"/>
              </a:rPr>
              <a:t>β</a:t>
            </a:r>
            <a:r>
              <a:rPr lang="ja-JP" altLang="en-US" sz="1200" b="1" dirty="0">
                <a:solidFill>
                  <a:schemeClr val="tx2"/>
                </a:solidFill>
                <a:latin typeface="メイリオ" panose="020B0604030504040204" pitchFamily="50" charset="-128"/>
                <a:ea typeface="メイリオ" panose="020B0604030504040204" pitchFamily="50" charset="-128"/>
              </a:rPr>
              <a:t>版）の展開を可能に。</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674B7463-4A8E-D0FC-FDB4-5BB44B5E2FB2}"/>
              </a:ext>
            </a:extLst>
          </p:cNvPr>
          <p:cNvSpPr txBox="1"/>
          <p:nvPr/>
        </p:nvSpPr>
        <p:spPr>
          <a:xfrm>
            <a:off x="956972" y="5979246"/>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運用実務におけるアウトソースとして活用し、</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既存の運用領域における効率化をサポート。</a:t>
            </a:r>
          </a:p>
        </p:txBody>
      </p:sp>
      <p:sp>
        <p:nvSpPr>
          <p:cNvPr id="44" name="テキスト ボックス 43">
            <a:extLst>
              <a:ext uri="{FF2B5EF4-FFF2-40B4-BE49-F238E27FC236}">
                <a16:creationId xmlns:a16="http://schemas.microsoft.com/office/drawing/2014/main" id="{C373F1E9-22BB-9E8C-628E-A261897C133F}"/>
              </a:ext>
            </a:extLst>
          </p:cNvPr>
          <p:cNvSpPr txBox="1"/>
          <p:nvPr/>
        </p:nvSpPr>
        <p:spPr>
          <a:xfrm>
            <a:off x="5428549" y="5976328"/>
            <a:ext cx="3842445" cy="461665"/>
          </a:xfrm>
          <a:prstGeom prst="rect">
            <a:avLst/>
          </a:prstGeom>
          <a:noFill/>
        </p:spPr>
        <p:txBody>
          <a:bodyPr wrap="square">
            <a:spAutoFit/>
          </a:bodyPr>
          <a:lstStyle/>
          <a:p>
            <a:pPr algn="ctr"/>
            <a:r>
              <a:rPr kumimoji="1" lang="en-US" altLang="ja-JP" sz="1200" b="1" dirty="0">
                <a:solidFill>
                  <a:schemeClr val="tx2"/>
                </a:solidFill>
                <a:latin typeface="メイリオ" panose="020B0604030504040204" pitchFamily="50" charset="-128"/>
                <a:ea typeface="メイリオ" panose="020B0604030504040204" pitchFamily="50" charset="-128"/>
              </a:rPr>
              <a:t>OAM(</a:t>
            </a:r>
            <a:r>
              <a:rPr kumimoji="1" lang="ja-JP" altLang="en-US" sz="1200" b="1" dirty="0">
                <a:solidFill>
                  <a:schemeClr val="tx2"/>
                </a:solidFill>
                <a:latin typeface="メイリオ" panose="020B0604030504040204" pitchFamily="50" charset="-128"/>
                <a:ea typeface="メイリオ" panose="020B0604030504040204" pitchFamily="50" charset="-128"/>
              </a:rPr>
              <a:t>公式管理画面</a:t>
            </a:r>
            <a:r>
              <a:rPr kumimoji="1" lang="en-US" altLang="ja-JP" sz="1200" b="1" dirty="0">
                <a:solidFill>
                  <a:schemeClr val="tx2"/>
                </a:solidFill>
                <a:latin typeface="メイリオ" panose="020B0604030504040204" pitchFamily="50" charset="-128"/>
                <a:ea typeface="メイリオ" panose="020B0604030504040204" pitchFamily="50" charset="-128"/>
              </a:rPr>
              <a:t>)</a:t>
            </a:r>
            <a:r>
              <a:rPr kumimoji="1" lang="ja-JP" altLang="en-US" sz="1200" b="1" dirty="0">
                <a:solidFill>
                  <a:schemeClr val="tx2"/>
                </a:solidFill>
                <a:latin typeface="メイリオ" panose="020B0604030504040204" pitchFamily="50" charset="-128"/>
                <a:ea typeface="メイリオ" panose="020B0604030504040204" pitchFamily="50" charset="-128"/>
              </a:rPr>
              <a:t>と併用しながらコストカット。</a:t>
            </a:r>
            <a:endParaRPr kumimoji="1" lang="en-US" altLang="ja-JP" sz="1200" b="1" dirty="0">
              <a:solidFill>
                <a:schemeClr val="tx2"/>
              </a:solidFill>
              <a:latin typeface="メイリオ" panose="020B0604030504040204" pitchFamily="50" charset="-128"/>
              <a:ea typeface="メイリオ" panose="020B0604030504040204" pitchFamily="50" charset="-128"/>
            </a:endParaRPr>
          </a:p>
          <a:p>
            <a:pPr algn="ctr"/>
            <a:r>
              <a:rPr lang="ja-JP" altLang="en-US" sz="1200" b="1" dirty="0">
                <a:solidFill>
                  <a:schemeClr val="tx2"/>
                </a:solidFill>
                <a:latin typeface="メイリオ" panose="020B0604030504040204" pitchFamily="50" charset="-128"/>
                <a:ea typeface="メイリオ" panose="020B0604030504040204" pitchFamily="50" charset="-128"/>
              </a:rPr>
              <a:t>また複数ステップ配信の組み合わせで効率化も。</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2932612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p:cNvPicPr>
            <a:picLocks noChangeAspect="1"/>
          </p:cNvPicPr>
          <p:nvPr/>
        </p:nvPicPr>
        <p:blipFill rotWithShape="1">
          <a:blip r:embed="rId2"/>
          <a:srcRect t="756" b="22252"/>
          <a:stretch>
            <a:fillRect/>
          </a:stretch>
        </p:blipFill>
        <p:spPr>
          <a:xfrm>
            <a:off x="295975" y="1723516"/>
            <a:ext cx="9387073" cy="3876095"/>
          </a:xfrm>
          <a:prstGeom prst="rect">
            <a:avLst/>
          </a:prstGeom>
        </p:spPr>
      </p:pic>
      <p:sp>
        <p:nvSpPr>
          <p:cNvPr id="4" name="Google Shape;752;p28">
            <a:extLst>
              <a:ext uri="{FF2B5EF4-FFF2-40B4-BE49-F238E27FC236}">
                <a16:creationId xmlns:a16="http://schemas.microsoft.com/office/drawing/2014/main" id="{FDC206AF-704B-C667-AC7C-8A98250C47F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弊社の強み</a:t>
            </a:r>
          </a:p>
        </p:txBody>
      </p:sp>
      <p:sp>
        <p:nvSpPr>
          <p:cNvPr id="7" name="正方形/長方形 6">
            <a:extLst>
              <a:ext uri="{FF2B5EF4-FFF2-40B4-BE49-F238E27FC236}">
                <a16:creationId xmlns:a16="http://schemas.microsoft.com/office/drawing/2014/main" id="{5B599DE5-990B-7CA4-B34C-8BC9D9739CAB}"/>
              </a:ext>
            </a:extLst>
          </p:cNvPr>
          <p:cNvSpPr/>
          <p:nvPr/>
        </p:nvSpPr>
        <p:spPr>
          <a:xfrm>
            <a:off x="486784" y="613850"/>
            <a:ext cx="9005456" cy="6777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b="1" dirty="0">
                <a:solidFill>
                  <a:schemeClr val="tx1"/>
                </a:solidFill>
                <a:latin typeface="メイリオ" panose="020B0604030504040204" pitchFamily="50" charset="-128"/>
                <a:ea typeface="メイリオ" panose="020B0604030504040204" pitchFamily="50" charset="-128"/>
              </a:rPr>
              <a:t>プランニング</a:t>
            </a:r>
            <a:r>
              <a:rPr lang="en-US" altLang="ja-JP" sz="1600" b="1" dirty="0">
                <a:solidFill>
                  <a:schemeClr val="tx1"/>
                </a:solidFill>
                <a:latin typeface="メイリオ" panose="020B0604030504040204" pitchFamily="50" charset="-128"/>
                <a:ea typeface="メイリオ" panose="020B0604030504040204" pitchFamily="50" charset="-128"/>
              </a:rPr>
              <a:t>~</a:t>
            </a:r>
            <a:r>
              <a:rPr lang="ja-JP" altLang="en-US" sz="1600" b="1" dirty="0">
                <a:solidFill>
                  <a:schemeClr val="tx1"/>
                </a:solidFill>
                <a:latin typeface="メイリオ" panose="020B0604030504040204" pitchFamily="50" charset="-128"/>
                <a:ea typeface="メイリオ" panose="020B0604030504040204" pitchFamily="50" charset="-128"/>
              </a:rPr>
              <a:t>運用・クリエイティブを一気通貫で行うことで、成果にコミットしやすい体制。</a:t>
            </a:r>
            <a:endParaRPr lang="en-US" altLang="ja-JP" sz="1600" b="1" dirty="0">
              <a:solidFill>
                <a:schemeClr val="tx1"/>
              </a:solidFill>
              <a:latin typeface="メイリオ" panose="020B0604030504040204" pitchFamily="50" charset="-128"/>
              <a:ea typeface="メイリオ" panose="020B0604030504040204" pitchFamily="50" charset="-128"/>
            </a:endParaRPr>
          </a:p>
          <a:p>
            <a:pPr algn="ctr"/>
            <a:r>
              <a:rPr lang="ja-JP" altLang="en-US" sz="1600" b="1" dirty="0">
                <a:solidFill>
                  <a:schemeClr val="tx1"/>
                </a:solidFill>
                <a:latin typeface="メイリオ" panose="020B0604030504040204" pitchFamily="50" charset="-128"/>
                <a:ea typeface="メイリオ" panose="020B0604030504040204" pitchFamily="50" charset="-128"/>
              </a:rPr>
              <a:t>貴社としても窓口・依頼の工数を大きく削減しながらの施策スタートが可能です。</a:t>
            </a:r>
          </a:p>
        </p:txBody>
      </p:sp>
    </p:spTree>
    <p:extLst>
      <p:ext uri="{BB962C8B-B14F-4D97-AF65-F5344CB8AC3E}">
        <p14:creationId xmlns:p14="http://schemas.microsoft.com/office/powerpoint/2010/main" val="1645704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1460711" y="3038203"/>
            <a:ext cx="6984604"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公式アカウント運用のメリット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5653296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離脱防止 </a:t>
            </a:r>
            <a:r>
              <a:rPr lang="en-US" altLang="ja-JP" sz="1400" dirty="0">
                <a:solidFill>
                  <a:srgbClr val="343434"/>
                </a:solidFill>
                <a:latin typeface="メイリオ" panose="020B0604030504040204" pitchFamily="50" charset="-128"/>
                <a:ea typeface="メイリオ" panose="020B0604030504040204" pitchFamily="50" charset="-128"/>
              </a:rPr>
              <a:t>&gt;&gt; </a:t>
            </a:r>
            <a:r>
              <a:rPr lang="ja-JP" altLang="en-US" sz="1400" dirty="0">
                <a:solidFill>
                  <a:srgbClr val="343434"/>
                </a:solidFill>
                <a:latin typeface="メイリオ" panose="020B0604030504040204" pitchFamily="50" charset="-128"/>
                <a:ea typeface="メイリオ" panose="020B0604030504040204" pitchFamily="50" charset="-128"/>
              </a:rPr>
              <a:t>友だち追加 </a:t>
            </a:r>
            <a:r>
              <a:rPr lang="en-US" altLang="ja-JP" sz="1400" dirty="0">
                <a:solidFill>
                  <a:srgbClr val="343434"/>
                </a:solidFill>
                <a:latin typeface="メイリオ" panose="020B0604030504040204" pitchFamily="50" charset="-128"/>
                <a:ea typeface="メイリオ" panose="020B0604030504040204" pitchFamily="50" charset="-128"/>
              </a:rPr>
              <a:t>&gt;&gt; LINE</a:t>
            </a:r>
            <a:r>
              <a:rPr lang="ja-JP" altLang="en-US" sz="1400" dirty="0">
                <a:solidFill>
                  <a:srgbClr val="343434"/>
                </a:solidFill>
                <a:latin typeface="メイリオ" panose="020B0604030504040204" pitchFamily="50" charset="-128"/>
                <a:ea typeface="メイリオ" panose="020B0604030504040204" pitchFamily="50" charset="-128"/>
              </a:rPr>
              <a:t>で学習 </a:t>
            </a:r>
            <a:r>
              <a:rPr lang="en-US" altLang="ja-JP" sz="1400" dirty="0">
                <a:solidFill>
                  <a:srgbClr val="343434"/>
                </a:solidFill>
                <a:latin typeface="メイリオ" panose="020B0604030504040204" pitchFamily="50" charset="-128"/>
                <a:ea typeface="メイリオ" panose="020B0604030504040204" pitchFamily="50" charset="-128"/>
              </a:rPr>
              <a:t>&gt;&gt; </a:t>
            </a:r>
            <a:r>
              <a:rPr lang="ja-JP" altLang="en-US" sz="1400" dirty="0">
                <a:solidFill>
                  <a:srgbClr val="343434"/>
                </a:solidFill>
                <a:latin typeface="メイリオ" panose="020B0604030504040204" pitchFamily="50" charset="-128"/>
                <a:ea typeface="メイリオ" panose="020B0604030504040204" pitchFamily="50" charset="-128"/>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a:t>
            </a:r>
            <a:r>
              <a:rPr kumimoji="1" lang="ja-JP" altLang="en-US" sz="900" b="1" dirty="0">
                <a:solidFill>
                  <a:schemeClr val="bg1"/>
                </a:solidFill>
                <a:latin typeface="メイリオ" panose="020B0604030504040204" pitchFamily="50" charset="-128"/>
                <a:ea typeface="メイリオ" panose="020B0604030504040204" pitchFamily="50" charset="-128"/>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の動線での</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DYM</a:t>
            </a:r>
            <a:r>
              <a:rPr lang="ja-JP" altLang="en-US" sz="1200" dirty="0">
                <a:solidFill>
                  <a:schemeClr val="bg1"/>
                </a:solidFill>
                <a:latin typeface="メイリオ" panose="020B0604030504040204" pitchFamily="50" charset="-128"/>
                <a:ea typeface="メイリオ" panose="020B0604030504040204" pitchFamily="50" charset="-128"/>
              </a:rPr>
              <a:t>施策</a:t>
            </a:r>
            <a:endParaRPr lang="ja-JP" altLang="en-US" sz="1200" dirty="0">
              <a:solidFill>
                <a:schemeClr val="bg1"/>
              </a:solidFill>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現状施策</a:t>
            </a:r>
            <a:endParaRPr lang="ja-JP" altLang="en-US" sz="1200" dirty="0">
              <a:solidFill>
                <a:schemeClr val="bg1"/>
              </a:solidFill>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※ID</a:t>
            </a:r>
            <a:r>
              <a:rPr kumimoji="1" lang="ja-JP" altLang="en-US" sz="900" b="1" dirty="0">
                <a:solidFill>
                  <a:schemeClr val="bg1"/>
                </a:solidFill>
                <a:latin typeface="メイリオ" panose="020B0604030504040204" pitchFamily="50" charset="-128"/>
                <a:ea typeface="メイリオ" panose="020B0604030504040204" pitchFamily="50" charset="-128"/>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a:t>
            </a:r>
            <a:r>
              <a:rPr kumimoji="1" lang="ja-JP" altLang="en-US" sz="900" b="1" dirty="0">
                <a:solidFill>
                  <a:schemeClr val="bg1"/>
                </a:solidFill>
                <a:latin typeface="メイリオ" panose="020B0604030504040204" pitchFamily="50" charset="-128"/>
                <a:ea typeface="メイリオ" panose="020B0604030504040204" pitchFamily="50" charset="-128"/>
              </a:rPr>
              <a:t>ミニアプリ・診断 →</a:t>
            </a:r>
            <a:r>
              <a:rPr lang="en-US" altLang="ja-JP" sz="900" b="1" dirty="0">
                <a:solidFill>
                  <a:schemeClr val="bg1"/>
                </a:solidFill>
                <a:latin typeface="メイリオ" panose="020B0604030504040204" pitchFamily="50" charset="-128"/>
                <a:ea typeface="メイリオ" panose="020B0604030504040204" pitchFamily="50" charset="-128"/>
              </a:rPr>
              <a:t> </a:t>
            </a:r>
            <a:r>
              <a:rPr lang="ja-JP" altLang="en-US" sz="900" b="1" dirty="0">
                <a:solidFill>
                  <a:schemeClr val="bg1"/>
                </a:solidFill>
                <a:latin typeface="メイリオ" panose="020B0604030504040204" pitchFamily="50" charset="-128"/>
                <a:ea typeface="メイリオ" panose="020B0604030504040204" pitchFamily="50" charset="-128"/>
              </a:rPr>
              <a:t>特典</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ja-JP" altLang="en-US" sz="1000" dirty="0">
                <a:solidFill>
                  <a:schemeClr val="bg1"/>
                </a:solidFill>
                <a:latin typeface="メイリオ" panose="020B0604030504040204" pitchFamily="50" charset="-128"/>
                <a:ea typeface="メイリオ" panose="020B0604030504040204" pitchFamily="50" charset="-128"/>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 </a:t>
            </a:r>
            <a:r>
              <a:rPr kumimoji="1" lang="ja-JP" altLang="en-US" sz="1200" b="1" dirty="0">
                <a:latin typeface="メイリオ" panose="020B0604030504040204" pitchFamily="50" charset="-128"/>
                <a:ea typeface="メイリオ" panose="020B0604030504040204" pitchFamily="50" charset="-128"/>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自社</a:t>
            </a:r>
            <a:r>
              <a:rPr kumimoji="1" lang="en-US" altLang="ja-JP" sz="1200" b="1" dirty="0">
                <a:latin typeface="メイリオ" panose="020B0604030504040204" pitchFamily="50" charset="-128"/>
                <a:ea typeface="メイリオ" panose="020B0604030504040204" pitchFamily="50" charset="-128"/>
              </a:rPr>
              <a:t>App/</a:t>
            </a:r>
            <a:r>
              <a:rPr kumimoji="1" lang="ja-JP" altLang="en-US" sz="1200" b="1" dirty="0">
                <a:latin typeface="メイリオ" panose="020B0604030504040204" pitchFamily="50" charset="-128"/>
                <a:ea typeface="メイリオ" panose="020B0604030504040204" pitchFamily="50" charset="-128"/>
              </a:rPr>
              <a:t>ネットワーク</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ID</a:t>
            </a:r>
            <a:r>
              <a:rPr lang="ja-JP" altLang="en-US" sz="1200" b="1" dirty="0">
                <a:latin typeface="メイリオ" panose="020B0604030504040204" pitchFamily="50" charset="-128"/>
                <a:ea typeface="メイリオ" panose="020B0604030504040204" pitchFamily="50" charset="-128"/>
              </a:rPr>
              <a:t>連携等の開発）</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でログイン</a:t>
            </a:r>
          </a:p>
        </p:txBody>
      </p:sp>
    </p:spTree>
    <p:extLst>
      <p:ext uri="{BB962C8B-B14F-4D97-AF65-F5344CB8AC3E}">
        <p14:creationId xmlns:p14="http://schemas.microsoft.com/office/powerpoint/2010/main" val="993846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rPr>
              <a:t>法人</a:t>
            </a:r>
            <a:r>
              <a:rPr lang="en-US" altLang="ja-JP" sz="1400" dirty="0">
                <a:solidFill>
                  <a:srgbClr val="343434"/>
                </a:solidFill>
                <a:latin typeface="メイリオ" panose="020B0604030504040204" pitchFamily="50" charset="-128"/>
                <a:ea typeface="メイリオ" panose="020B0604030504040204" pitchFamily="50" charset="-128"/>
              </a:rPr>
              <a:t>が</a:t>
            </a:r>
            <a:r>
              <a:rPr lang="ja-JP" altLang="en-US" sz="1400" dirty="0">
                <a:solidFill>
                  <a:srgbClr val="343434"/>
                </a:solidFill>
                <a:latin typeface="メイリオ" panose="020B0604030504040204" pitchFamily="50" charset="-128"/>
                <a:ea typeface="メイリオ" panose="020B0604030504040204" pitchFamily="50" charset="-128"/>
              </a:rPr>
              <a:t>増加傾向</a:t>
            </a:r>
            <a:r>
              <a:rPr lang="en-US" altLang="ja-JP" sz="1400" dirty="0">
                <a:solidFill>
                  <a:srgbClr val="343434"/>
                </a:solidFill>
                <a:latin typeface="メイリオ" panose="020B0604030504040204" pitchFamily="50" charset="-128"/>
                <a:ea typeface="メイリオ" panose="020B0604030504040204" pitchFamily="50" charset="-128"/>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rPr>
                <a:t>　　　　</a:t>
              </a:r>
              <a:r>
                <a:rPr lang="en-US" sz="1400" dirty="0" err="1">
                  <a:solidFill>
                    <a:srgbClr val="040606"/>
                  </a:solidFill>
                  <a:latin typeface="メイリオ" panose="020B0604030504040204" pitchFamily="50" charset="-128"/>
                  <a:ea typeface="メイリオ" panose="020B0604030504040204" pitchFamily="50" charset="-128"/>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rPr>
                <a:t>、</a:t>
              </a:r>
              <a:r>
                <a:rPr lang="ja-JP" altLang="en-US" sz="1400" dirty="0">
                  <a:solidFill>
                    <a:srgbClr val="040606"/>
                  </a:solidFill>
                  <a:latin typeface="メイリオ" panose="020B0604030504040204" pitchFamily="50" charset="-128"/>
                  <a:ea typeface="メイリオ" panose="020B0604030504040204" pitchFamily="50" charset="-128"/>
                </a:rPr>
                <a:t>テレマーケティング </a:t>
              </a:r>
              <a:r>
                <a:rPr lang="en-US" sz="1400" dirty="0" err="1">
                  <a:solidFill>
                    <a:srgbClr val="040606"/>
                  </a:solidFill>
                  <a:latin typeface="メイリオ" panose="020B0604030504040204" pitchFamily="50" charset="-128"/>
                  <a:ea typeface="メイリオ" panose="020B0604030504040204" pitchFamily="50" charset="-128"/>
                </a:rPr>
                <a:t>が主流</a:t>
              </a:r>
              <a:endParaRPr lang="en-US" sz="1400" dirty="0">
                <a:solidFill>
                  <a:srgbClr val="040606"/>
                </a:solidFill>
                <a:latin typeface="メイリオ" panose="020B0604030504040204" pitchFamily="50" charset="-128"/>
                <a:ea typeface="メイリオ" panose="020B0604030504040204" pitchFamily="50" charset="-128"/>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rPr>
                <a:t>　　　　＋</a:t>
              </a:r>
              <a:r>
                <a:rPr lang="en-US" sz="1400" b="1" dirty="0">
                  <a:solidFill>
                    <a:srgbClr val="00B900"/>
                  </a:solidFill>
                  <a:latin typeface="メイリオ" panose="020B0604030504040204" pitchFamily="50" charset="-128"/>
                  <a:ea typeface="メイリオ" panose="020B0604030504040204" pitchFamily="50" charset="-128"/>
                </a:rPr>
                <a:t>LINE</a:t>
              </a:r>
              <a:r>
                <a:rPr lang="ja-JP" altLang="en-US" sz="1400" b="1" dirty="0">
                  <a:solidFill>
                    <a:srgbClr val="00B900"/>
                  </a:solidFill>
                  <a:latin typeface="メイリオ" panose="020B0604030504040204" pitchFamily="50" charset="-128"/>
                  <a:ea typeface="メイリオ" panose="020B0604030504040204" pitchFamily="50" charset="-128"/>
                </a:rPr>
                <a:t>公式アカウント</a:t>
              </a:r>
              <a:r>
                <a:rPr lang="en-US" sz="1400" b="1" dirty="0">
                  <a:solidFill>
                    <a:srgbClr val="00B900"/>
                  </a:solidFill>
                  <a:latin typeface="メイリオ" panose="020B0604030504040204" pitchFamily="50" charset="-128"/>
                  <a:ea typeface="メイリオ" panose="020B0604030504040204" pitchFamily="50" charset="-128"/>
                </a:rPr>
                <a:t> </a:t>
              </a:r>
              <a:r>
                <a:rPr lang="en-US" sz="1400" dirty="0" err="1">
                  <a:solidFill>
                    <a:srgbClr val="00B900"/>
                  </a:solidFill>
                  <a:latin typeface="メイリオ" panose="020B0604030504040204" pitchFamily="50" charset="-128"/>
                  <a:ea typeface="メイリオ" panose="020B0604030504040204" pitchFamily="50" charset="-128"/>
                </a:rPr>
                <a:t>が主流</a:t>
              </a:r>
              <a:endParaRPr lang="en-US" sz="1400" dirty="0">
                <a:solidFill>
                  <a:srgbClr val="00B900"/>
                </a:solidFill>
                <a:latin typeface="メイリオ" panose="020B0604030504040204" pitchFamily="50" charset="-128"/>
                <a:ea typeface="メイリオ" panose="020B0604030504040204" pitchFamily="50" charset="-128"/>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ワンタップで追加</a:t>
            </a:r>
          </a:p>
        </p:txBody>
      </p:sp>
    </p:spTree>
    <p:extLst>
      <p:ext uri="{BB962C8B-B14F-4D97-AF65-F5344CB8AC3E}">
        <p14:creationId xmlns:p14="http://schemas.microsoft.com/office/powerpoint/2010/main" val="38402223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rPr>
              <a:t>「</a:t>
            </a:r>
            <a:r>
              <a:rPr lang="en-US" altLang="ja-JP" sz="1400" dirty="0" err="1">
                <a:solidFill>
                  <a:srgbClr val="343434"/>
                </a:solidFill>
                <a:latin typeface="メイリオ" panose="020B0604030504040204" pitchFamily="50" charset="-128"/>
                <a:ea typeface="メイリオ" panose="020B0604030504040204" pitchFamily="50" charset="-128"/>
              </a:rPr>
              <a:t>今すぐ客」以外の</a:t>
            </a:r>
            <a:r>
              <a:rPr lang="ja-JP" altLang="en-US" sz="1400" dirty="0">
                <a:solidFill>
                  <a:srgbClr val="343434"/>
                </a:solidFill>
                <a:latin typeface="メイリオ" panose="020B0604030504040204" pitchFamily="50" charset="-128"/>
                <a:ea typeface="メイリオ" panose="020B0604030504040204" pitchFamily="50" charset="-128"/>
              </a:rPr>
              <a:t>約</a:t>
            </a:r>
            <a:r>
              <a:rPr lang="en-US" altLang="ja-JP" sz="1400" dirty="0">
                <a:solidFill>
                  <a:srgbClr val="343434"/>
                </a:solidFill>
                <a:latin typeface="メイリオ" panose="020B0604030504040204" pitchFamily="50" charset="-128"/>
                <a:ea typeface="メイリオ" panose="020B0604030504040204" pitchFamily="50" charset="-128"/>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rPr>
              <a:t>結果として</a:t>
            </a:r>
            <a:r>
              <a:rPr lang="ja-JP" altLang="en-US" sz="1400" dirty="0" err="1">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rPr>
              <a:t>げ</a:t>
            </a:r>
            <a:r>
              <a:rPr lang="en-US" altLang="ja-JP" sz="1400" dirty="0">
                <a:solidFill>
                  <a:srgbClr val="343434"/>
                </a:solidFill>
                <a:latin typeface="メイリオ" panose="020B0604030504040204" pitchFamily="50" charset="-128"/>
                <a:ea typeface="メイリオ" panose="020B0604030504040204" pitchFamily="50" charset="-128"/>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rPr>
              <a:t>9-</a:t>
            </a:r>
            <a:r>
              <a:rPr lang="en-US" sz="1554" dirty="0">
                <a:solidFill>
                  <a:srgbClr val="494848"/>
                </a:solidFill>
                <a:latin typeface="メイリオ" panose="020B0604030504040204" pitchFamily="50" charset="-128"/>
                <a:ea typeface="メイリオ" panose="020B0604030504040204" pitchFamily="50" charset="-128"/>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rPr>
              <a:t>「</a:t>
            </a:r>
            <a:r>
              <a:rPr lang="en-US" sz="1200" b="1" dirty="0" err="1">
                <a:solidFill>
                  <a:srgbClr val="494848"/>
                </a:solidFill>
                <a:latin typeface="メイリオ" panose="020B0604030504040204" pitchFamily="50" charset="-128"/>
                <a:ea typeface="メイリオ" panose="020B0604030504040204" pitchFamily="50" charset="-128"/>
              </a:rPr>
              <a:t>今すぐ</a:t>
            </a:r>
            <a:r>
              <a:rPr lang="ja-JP" altLang="en-US" sz="1200" b="1" dirty="0">
                <a:solidFill>
                  <a:srgbClr val="494848"/>
                </a:solidFill>
                <a:latin typeface="メイリオ" panose="020B0604030504040204" pitchFamily="50" charset="-128"/>
                <a:ea typeface="メイリオ" panose="020B0604030504040204" pitchFamily="50" charset="-128"/>
              </a:rPr>
              <a:t>顧</a:t>
            </a:r>
            <a:r>
              <a:rPr lang="en-US" sz="1200" b="1" dirty="0" err="1">
                <a:solidFill>
                  <a:srgbClr val="494848"/>
                </a:solidFill>
                <a:latin typeface="メイリオ" panose="020B0604030504040204" pitchFamily="50" charset="-128"/>
                <a:ea typeface="メイリオ" panose="020B0604030504040204" pitchFamily="50" charset="-128"/>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rPr>
              <a:t>のは</a:t>
            </a:r>
            <a:r>
              <a:rPr lang="ja-JP" altLang="en-US" sz="1200" b="1" dirty="0">
                <a:solidFill>
                  <a:srgbClr val="494848"/>
                </a:solidFill>
                <a:latin typeface="メイリオ" panose="020B0604030504040204" pitchFamily="50" charset="-128"/>
                <a:ea typeface="メイリオ" panose="020B0604030504040204" pitchFamily="50" charset="-128"/>
              </a:rPr>
              <a:t>リスクが大きい。</a:t>
            </a:r>
            <a:endParaRPr lang="en-US" sz="1200" b="1" dirty="0">
              <a:solidFill>
                <a:srgbClr val="494848"/>
              </a:solidFill>
              <a:latin typeface="メイリオ" panose="020B0604030504040204" pitchFamily="50" charset="-128"/>
              <a:ea typeface="メイリオ" panose="020B0604030504040204" pitchFamily="50" charset="-128"/>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rPr>
              <a:t>「</a:t>
            </a:r>
            <a:r>
              <a:rPr lang="ja-JP" altLang="en-US" sz="1200" b="1" dirty="0">
                <a:solidFill>
                  <a:srgbClr val="494848"/>
                </a:solidFill>
                <a:latin typeface="メイリオ" panose="020B0604030504040204" pitchFamily="50" charset="-128"/>
                <a:ea typeface="メイリオ" panose="020B0604030504040204" pitchFamily="50" charset="-128"/>
              </a:rPr>
              <a:t>将来的な顧</a:t>
            </a:r>
            <a:r>
              <a:rPr lang="en-US" sz="1200" b="1" dirty="0" err="1">
                <a:solidFill>
                  <a:srgbClr val="494848"/>
                </a:solidFill>
                <a:latin typeface="メイリオ" panose="020B0604030504040204" pitchFamily="50" charset="-128"/>
                <a:ea typeface="メイリオ" panose="020B0604030504040204" pitchFamily="50" charset="-128"/>
              </a:rPr>
              <a:t>客」教育をLINE</a:t>
            </a:r>
            <a:r>
              <a:rPr lang="ja-JP" altLang="en-US" sz="1200" b="1" dirty="0">
                <a:solidFill>
                  <a:srgbClr val="494848"/>
                </a:solidFill>
                <a:latin typeface="メイリオ" panose="020B0604030504040204" pitchFamily="50" charset="-128"/>
                <a:ea typeface="メイリオ" panose="020B0604030504040204" pitchFamily="50" charset="-128"/>
              </a:rPr>
              <a:t>上で構築し</a:t>
            </a:r>
            <a:r>
              <a:rPr lang="en-US" sz="1200" b="1" dirty="0">
                <a:solidFill>
                  <a:srgbClr val="494848"/>
                </a:solidFill>
                <a:latin typeface="メイリオ" panose="020B0604030504040204" pitchFamily="50" charset="-128"/>
                <a:ea typeface="メイリオ" panose="020B0604030504040204" pitchFamily="50" charset="-128"/>
              </a:rPr>
              <a:t>行</a:t>
            </a:r>
            <a:r>
              <a:rPr lang="ja-JP" altLang="en-US" sz="1200" b="1" dirty="0">
                <a:solidFill>
                  <a:srgbClr val="494848"/>
                </a:solidFill>
                <a:latin typeface="メイリオ" panose="020B0604030504040204" pitchFamily="50" charset="-128"/>
                <a:ea typeface="メイリオ" panose="020B0604030504040204" pitchFamily="50" charset="-128"/>
              </a:rPr>
              <a:t>う。</a:t>
            </a:r>
            <a:endParaRPr lang="en-US" sz="1200" b="1" dirty="0">
              <a:solidFill>
                <a:srgbClr val="494848"/>
              </a:solidFill>
              <a:latin typeface="メイリオ" panose="020B0604030504040204" pitchFamily="50" charset="-128"/>
              <a:ea typeface="メイリオ" panose="020B0604030504040204" pitchFamily="50" charset="-128"/>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Meiryo"/>
                <a:ea typeface="Meiryo"/>
                <a:cs typeface="Meiryo"/>
                <a:sym typeface="Meiryo"/>
              </a:rPr>
              <a:t>WEB</a:t>
            </a:r>
            <a:r>
              <a:rPr lang="ja-JP" altLang="en-US" sz="1400" dirty="0">
                <a:latin typeface="Meiryo"/>
                <a:ea typeface="Meiryo"/>
                <a:cs typeface="Meiryo"/>
                <a:sym typeface="Meiryo"/>
              </a:rPr>
              <a:t>広告における</a:t>
            </a:r>
            <a:r>
              <a:rPr lang="ja-JP" altLang="en-US" sz="1400" b="1" dirty="0">
                <a:latin typeface="Meiryo"/>
                <a:ea typeface="Meiryo"/>
                <a:cs typeface="Meiryo"/>
                <a:sym typeface="Meiryo"/>
              </a:rPr>
              <a:t>競合性が高</a:t>
            </a:r>
            <a:r>
              <a:rPr lang="ja-JP" altLang="en-US" sz="1400" dirty="0">
                <a:latin typeface="Meiryo"/>
                <a:ea typeface="Meiryo"/>
                <a:cs typeface="Meiryo"/>
                <a:sym typeface="Meiryo"/>
              </a:rPr>
              <a:t>くなり</a:t>
            </a:r>
            <a:endParaRPr lang="en-US" altLang="ja-JP" sz="1400" dirty="0">
              <a:latin typeface="Meiryo"/>
              <a:ea typeface="Meiryo"/>
              <a:cs typeface="Meiryo"/>
              <a:sym typeface="Meiryo"/>
            </a:endParaRPr>
          </a:p>
          <a:p>
            <a:pPr algn="ctr"/>
            <a:r>
              <a:rPr lang="ja-JP" altLang="en-US" sz="1400" b="1" dirty="0">
                <a:solidFill>
                  <a:srgbClr val="FF0000"/>
                </a:solidFill>
                <a:latin typeface="Meiryo"/>
                <a:ea typeface="Meiryo"/>
                <a:cs typeface="Meiryo"/>
                <a:sym typeface="Meiryo"/>
              </a:rPr>
              <a:t>単価指標（</a:t>
            </a:r>
            <a:r>
              <a:rPr lang="en-US" altLang="ja-JP" sz="1400" b="1" dirty="0">
                <a:solidFill>
                  <a:srgbClr val="FF0000"/>
                </a:solidFill>
                <a:latin typeface="Meiryo"/>
                <a:ea typeface="Meiryo"/>
                <a:cs typeface="Meiryo"/>
                <a:sym typeface="Meiryo"/>
              </a:rPr>
              <a:t>CPC</a:t>
            </a:r>
            <a:r>
              <a:rPr lang="ja-JP" altLang="en-US" sz="1400" b="1" dirty="0">
                <a:solidFill>
                  <a:srgbClr val="FF0000"/>
                </a:solidFill>
                <a:latin typeface="Meiryo"/>
                <a:ea typeface="Meiryo"/>
                <a:cs typeface="Meiryo"/>
                <a:sym typeface="Meiryo"/>
              </a:rPr>
              <a:t>及び</a:t>
            </a:r>
            <a:r>
              <a:rPr lang="en-US" altLang="ja-JP" sz="1400" b="1" dirty="0">
                <a:solidFill>
                  <a:srgbClr val="FF0000"/>
                </a:solidFill>
                <a:latin typeface="Meiryo"/>
                <a:ea typeface="Meiryo"/>
                <a:cs typeface="Meiryo"/>
                <a:sym typeface="Meiryo"/>
              </a:rPr>
              <a:t>CPA</a:t>
            </a:r>
            <a:r>
              <a:rPr lang="ja-JP" altLang="en-US" sz="1400" b="1" dirty="0">
                <a:solidFill>
                  <a:srgbClr val="FF0000"/>
                </a:solidFill>
                <a:latin typeface="Meiryo"/>
                <a:ea typeface="Meiryo"/>
                <a:cs typeface="Meiryo"/>
                <a:sym typeface="Meiryo"/>
              </a:rPr>
              <a:t>）が高騰</a:t>
            </a:r>
            <a:r>
              <a:rPr lang="ja-JP" altLang="en-US" sz="1400" dirty="0">
                <a:latin typeface="Meiryo"/>
                <a:ea typeface="Meiryo"/>
                <a:cs typeface="Meiryo"/>
                <a:sym typeface="Meiryo"/>
              </a:rPr>
              <a:t>。</a:t>
            </a:r>
            <a:endParaRPr lang="en-US" altLang="ja-JP" sz="1400" dirty="0">
              <a:latin typeface="Meiryo"/>
              <a:ea typeface="Meiryo"/>
              <a:cs typeface="Meiryo"/>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Meiryo"/>
                <a:ea typeface="Meiryo"/>
                <a:sym typeface="Meiryo"/>
              </a:rPr>
              <a:t>集客施策における</a:t>
            </a:r>
            <a:r>
              <a:rPr lang="en-US" altLang="ja-JP" sz="1400" b="1" dirty="0">
                <a:latin typeface="Meiryo"/>
                <a:ea typeface="Meiryo"/>
                <a:sym typeface="Meiryo"/>
              </a:rPr>
              <a:t>CVR</a:t>
            </a:r>
            <a:r>
              <a:rPr lang="ja-JP" altLang="en-US" sz="1400" b="1" dirty="0">
                <a:latin typeface="Meiryo"/>
                <a:ea typeface="Meiryo"/>
                <a:sym typeface="Meiryo"/>
              </a:rPr>
              <a:t>は高くても</a:t>
            </a:r>
            <a:r>
              <a:rPr lang="en-US" altLang="ja-JP" sz="1400" b="1" dirty="0">
                <a:latin typeface="Meiryo"/>
                <a:ea typeface="Meiryo"/>
                <a:sym typeface="Meiryo"/>
              </a:rPr>
              <a:t>2%</a:t>
            </a:r>
            <a:r>
              <a:rPr lang="ja-JP" altLang="en-US" sz="1400" b="1" dirty="0">
                <a:latin typeface="Meiryo"/>
                <a:ea typeface="Meiryo"/>
                <a:sym typeface="Meiryo"/>
              </a:rPr>
              <a:t>程度</a:t>
            </a:r>
            <a:r>
              <a:rPr lang="ja-JP" altLang="en-US" sz="1400" dirty="0">
                <a:latin typeface="Meiryo"/>
                <a:ea typeface="Meiryo"/>
                <a:sym typeface="Meiryo"/>
              </a:rPr>
              <a:t>。</a:t>
            </a:r>
            <a:endParaRPr lang="en-US" altLang="ja-JP" sz="1400" dirty="0">
              <a:latin typeface="Meiryo"/>
              <a:ea typeface="Meiryo"/>
              <a:sym typeface="Meiryo"/>
            </a:endParaRPr>
          </a:p>
          <a:p>
            <a:pPr algn="ctr"/>
            <a:r>
              <a:rPr lang="en-US" altLang="ja-JP" sz="1400" dirty="0">
                <a:solidFill>
                  <a:srgbClr val="FF0000"/>
                </a:solidFill>
                <a:latin typeface="Meiryo"/>
                <a:ea typeface="Meiryo"/>
                <a:sym typeface="Meiryo"/>
              </a:rPr>
              <a:t>CV</a:t>
            </a:r>
            <a:r>
              <a:rPr lang="ja-JP" altLang="en-US" sz="1400" dirty="0">
                <a:solidFill>
                  <a:srgbClr val="FF0000"/>
                </a:solidFill>
                <a:latin typeface="Meiryo"/>
                <a:ea typeface="Meiryo"/>
                <a:sym typeface="Meiryo"/>
              </a:rPr>
              <a:t>に至らず離脱するユーザーが大部分</a:t>
            </a:r>
            <a:r>
              <a:rPr lang="ja-JP" altLang="en-US" sz="1400" dirty="0">
                <a:latin typeface="Meiryo"/>
                <a:ea typeface="Meiryo"/>
                <a:sym typeface="Meiryo"/>
              </a:rPr>
              <a:t>。</a:t>
            </a:r>
            <a:endParaRPr lang="ja-JP" altLang="en-US" sz="1400" dirty="0"/>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rPr>
              <a:t>CVR</a:t>
            </a:r>
            <a:endParaRPr lang="ja-JP" altLang="en-US" b="1" dirty="0">
              <a:latin typeface="メイリオ" panose="020B0604030504040204" pitchFamily="50" charset="-128"/>
              <a:ea typeface="メイリオ" panose="020B0604030504040204" pitchFamily="50" charset="-128"/>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rPr>
              <a:t>CPC</a:t>
            </a:r>
            <a:endParaRPr lang="ja-JP" altLang="en-US"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4476818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rPr>
              <a:t>10-40</a:t>
            </a:r>
            <a:r>
              <a:rPr lang="ja-JP" altLang="en-US" sz="1400" dirty="0">
                <a:solidFill>
                  <a:srgbClr val="343434"/>
                </a:solidFill>
                <a:latin typeface="メイリオ" panose="020B0604030504040204" pitchFamily="50" charset="-128"/>
                <a:ea typeface="メイリオ" panose="020B0604030504040204" pitchFamily="50" charset="-128"/>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rPr>
              <a:t>LINEOA</a:t>
            </a:r>
            <a:r>
              <a:rPr lang="ja-JP" altLang="en-US" sz="1400" b="1" dirty="0">
                <a:solidFill>
                  <a:srgbClr val="343434"/>
                </a:solidFill>
                <a:latin typeface="メイリオ" panose="020B0604030504040204" pitchFamily="50" charset="-128"/>
                <a:ea typeface="メイリオ" panose="020B0604030504040204" pitchFamily="50" charset="-128"/>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rPr>
              <a:t>される。</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26346019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94AA7-C0BE-82BB-F1F1-CEB94F822CA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ABB44D3-A8C8-D843-B486-737497FA1A64}"/>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全体設計想定</a:t>
            </a:r>
          </a:p>
        </p:txBody>
      </p:sp>
      <p:sp>
        <p:nvSpPr>
          <p:cNvPr id="9" name="正方形/長方形 8">
            <a:extLst>
              <a:ext uri="{FF2B5EF4-FFF2-40B4-BE49-F238E27FC236}">
                <a16:creationId xmlns:a16="http://schemas.microsoft.com/office/drawing/2014/main" id="{6F594ACC-9E5E-8997-2C6C-AA5F11FCBEAE}"/>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集客動線</a:t>
            </a:r>
          </a:p>
        </p:txBody>
      </p:sp>
      <p:sp>
        <p:nvSpPr>
          <p:cNvPr id="3" name="Google Shape;752;p28">
            <a:extLst>
              <a:ext uri="{FF2B5EF4-FFF2-40B4-BE49-F238E27FC236}">
                <a16:creationId xmlns:a16="http://schemas.microsoft.com/office/drawing/2014/main" id="{DCCD6385-FF71-7870-2318-7AF6966C1540}"/>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商品・サービス利用の動線を８段階に分け、ユーザー動線における課題を明確化</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貴社課題に合わせて施策の組み合わせを変えながら施策効果を最大化します</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37" name="テキスト ボックス 36">
            <a:extLst>
              <a:ext uri="{FF2B5EF4-FFF2-40B4-BE49-F238E27FC236}">
                <a16:creationId xmlns:a16="http://schemas.microsoft.com/office/drawing/2014/main" id="{5950A71D-C6DB-F4A6-D312-894E2978D27C}"/>
              </a:ext>
            </a:extLst>
          </p:cNvPr>
          <p:cNvSpPr txBox="1"/>
          <p:nvPr/>
        </p:nvSpPr>
        <p:spPr>
          <a:xfrm>
            <a:off x="422130" y="1861196"/>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① 接触（認知・流入）</a:t>
            </a:r>
          </a:p>
        </p:txBody>
      </p:sp>
      <p:sp>
        <p:nvSpPr>
          <p:cNvPr id="38" name="テキスト ボックス 37">
            <a:extLst>
              <a:ext uri="{FF2B5EF4-FFF2-40B4-BE49-F238E27FC236}">
                <a16:creationId xmlns:a16="http://schemas.microsoft.com/office/drawing/2014/main" id="{D8DE6E29-4F5E-F233-C70B-BC6230369D79}"/>
              </a:ext>
            </a:extLst>
          </p:cNvPr>
          <p:cNvSpPr txBox="1"/>
          <p:nvPr/>
        </p:nvSpPr>
        <p:spPr>
          <a:xfrm>
            <a:off x="422130" y="2931848"/>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③ 育成（興味</a:t>
            </a:r>
            <a:r>
              <a:rPr lang="ja-JP" altLang="en-US" sz="1200" b="1" dirty="0">
                <a:latin typeface="メイリオ" panose="020B0604030504040204" pitchFamily="50" charset="-128"/>
                <a:ea typeface="メイリオ" panose="020B0604030504040204" pitchFamily="50" charset="-128"/>
              </a:rPr>
              <a:t>喚起</a:t>
            </a:r>
            <a:r>
              <a:rPr lang="ja-JP" altLang="ja-JP" sz="1200" b="1" dirty="0">
                <a:latin typeface="メイリオ" panose="020B0604030504040204" pitchFamily="50" charset="-128"/>
                <a:ea typeface="メイリオ" panose="020B0604030504040204" pitchFamily="50" charset="-128"/>
              </a:rPr>
              <a:t>）</a:t>
            </a:r>
          </a:p>
        </p:txBody>
      </p:sp>
      <p:sp>
        <p:nvSpPr>
          <p:cNvPr id="39" name="テキスト ボックス 38">
            <a:extLst>
              <a:ext uri="{FF2B5EF4-FFF2-40B4-BE49-F238E27FC236}">
                <a16:creationId xmlns:a16="http://schemas.microsoft.com/office/drawing/2014/main" id="{5235B826-02CF-2A4C-FAC3-9AE8C5C82594}"/>
              </a:ext>
            </a:extLst>
          </p:cNvPr>
          <p:cNvSpPr txBox="1"/>
          <p:nvPr/>
        </p:nvSpPr>
        <p:spPr>
          <a:xfrm>
            <a:off x="422130" y="2396522"/>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② サイト離脱</a:t>
            </a:r>
            <a:r>
              <a:rPr lang="ja-JP" altLang="en-US" sz="1200" b="1" dirty="0">
                <a:latin typeface="メイリオ" panose="020B0604030504040204" pitchFamily="50" charset="-128"/>
                <a:ea typeface="メイリオ" panose="020B0604030504040204" pitchFamily="50" charset="-128"/>
              </a:rPr>
              <a:t>（対策）</a:t>
            </a:r>
            <a:endParaRPr lang="ja-JP" altLang="ja-JP"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CBA0ED60-8608-E11C-FD26-CEB9F9A06F00}"/>
              </a:ext>
            </a:extLst>
          </p:cNvPr>
          <p:cNvSpPr txBox="1"/>
          <p:nvPr/>
        </p:nvSpPr>
        <p:spPr>
          <a:xfrm>
            <a:off x="422130" y="3467174"/>
            <a:ext cx="2352196" cy="446111"/>
          </a:xfrm>
          <a:prstGeom prst="rect">
            <a:avLst/>
          </a:prstGeom>
          <a:solidFill>
            <a:schemeClr val="accent6">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④リード獲得 </a:t>
            </a:r>
            <a:r>
              <a:rPr lang="en-US" altLang="ja-JP" sz="1000" b="1" dirty="0">
                <a:latin typeface="メイリオ" panose="020B0604030504040204" pitchFamily="50" charset="-128"/>
                <a:ea typeface="メイリオ" panose="020B0604030504040204" pitchFamily="50" charset="-128"/>
              </a:rPr>
              <a:t>(web/LINE)</a:t>
            </a:r>
            <a:endParaRPr lang="ja-JP" altLang="ja-JP" sz="1100" b="1" dirty="0">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33E93FC4-79F4-4C9E-10EB-0D8A9E1F783E}"/>
              </a:ext>
            </a:extLst>
          </p:cNvPr>
          <p:cNvSpPr txBox="1"/>
          <p:nvPr/>
        </p:nvSpPr>
        <p:spPr>
          <a:xfrm>
            <a:off x="422130" y="4407025"/>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⑤ リード有効化</a:t>
            </a:r>
            <a:endParaRPr lang="ja-JP" altLang="ja-JP" sz="1200" b="1" dirty="0">
              <a:latin typeface="メイリオ" panose="020B0604030504040204" pitchFamily="50" charset="-128"/>
              <a:ea typeface="メイリオ" panose="020B0604030504040204" pitchFamily="50" charset="-128"/>
            </a:endParaRPr>
          </a:p>
        </p:txBody>
      </p:sp>
      <p:sp>
        <p:nvSpPr>
          <p:cNvPr id="42" name="テキスト ボックス 41">
            <a:extLst>
              <a:ext uri="{FF2B5EF4-FFF2-40B4-BE49-F238E27FC236}">
                <a16:creationId xmlns:a16="http://schemas.microsoft.com/office/drawing/2014/main" id="{EC4FDFD3-BDC4-42AF-4DCC-A1E534D15FC4}"/>
              </a:ext>
            </a:extLst>
          </p:cNvPr>
          <p:cNvSpPr txBox="1"/>
          <p:nvPr/>
        </p:nvSpPr>
        <p:spPr>
          <a:xfrm>
            <a:off x="422130" y="5477677"/>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⑦マネタイズ</a:t>
            </a:r>
            <a:r>
              <a:rPr lang="en-US" altLang="ja-JP" sz="1050" b="1" dirty="0">
                <a:latin typeface="メイリオ" panose="020B0604030504040204" pitchFamily="50" charset="-128"/>
                <a:ea typeface="メイリオ" panose="020B0604030504040204" pitchFamily="50" charset="-128"/>
              </a:rPr>
              <a:t>(</a:t>
            </a:r>
            <a:r>
              <a:rPr lang="ja-JP" altLang="en-US" sz="1050" b="1" dirty="0">
                <a:latin typeface="メイリオ" panose="020B0604030504040204" pitchFamily="50" charset="-128"/>
                <a:ea typeface="メイリオ" panose="020B0604030504040204" pitchFamily="50" charset="-128"/>
              </a:rPr>
              <a:t>成約</a:t>
            </a:r>
            <a:r>
              <a:rPr lang="en-US" altLang="ja-JP" sz="1050" b="1" dirty="0">
                <a:latin typeface="メイリオ" panose="020B0604030504040204" pitchFamily="50" charset="-128"/>
                <a:ea typeface="メイリオ" panose="020B0604030504040204" pitchFamily="50" charset="-128"/>
              </a:rPr>
              <a:t>/</a:t>
            </a:r>
            <a:r>
              <a:rPr lang="ja-JP" altLang="en-US" sz="1050" b="1" dirty="0">
                <a:latin typeface="メイリオ" panose="020B0604030504040204" pitchFamily="50" charset="-128"/>
                <a:ea typeface="メイリオ" panose="020B0604030504040204" pitchFamily="50" charset="-128"/>
              </a:rPr>
              <a:t>購入</a:t>
            </a:r>
            <a:r>
              <a:rPr lang="en-US" altLang="ja-JP" sz="1050" b="1" dirty="0">
                <a:latin typeface="メイリオ" panose="020B0604030504040204" pitchFamily="50" charset="-128"/>
                <a:ea typeface="メイリオ" panose="020B0604030504040204" pitchFamily="50" charset="-128"/>
              </a:rPr>
              <a:t>)</a:t>
            </a:r>
            <a:endParaRPr lang="ja-JP" altLang="ja-JP" sz="1200" b="1" dirty="0">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B60C3938-78F2-CFFC-9D21-EAE5CC32FD65}"/>
              </a:ext>
            </a:extLst>
          </p:cNvPr>
          <p:cNvSpPr txBox="1"/>
          <p:nvPr/>
        </p:nvSpPr>
        <p:spPr>
          <a:xfrm>
            <a:off x="422130" y="4942351"/>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⑥ 有効リードの再育成</a:t>
            </a:r>
            <a:endParaRPr lang="ja-JP" altLang="ja-JP" sz="1200" b="1" dirty="0">
              <a:latin typeface="メイリオ" panose="020B0604030504040204" pitchFamily="50" charset="-128"/>
              <a:ea typeface="メイリオ" panose="020B0604030504040204" pitchFamily="50" charset="-128"/>
            </a:endParaRPr>
          </a:p>
        </p:txBody>
      </p:sp>
      <p:sp>
        <p:nvSpPr>
          <p:cNvPr id="44" name="テキスト ボックス 43">
            <a:extLst>
              <a:ext uri="{FF2B5EF4-FFF2-40B4-BE49-F238E27FC236}">
                <a16:creationId xmlns:a16="http://schemas.microsoft.com/office/drawing/2014/main" id="{88223CC4-587E-529F-4981-31D2131A6B24}"/>
              </a:ext>
            </a:extLst>
          </p:cNvPr>
          <p:cNvSpPr txBox="1"/>
          <p:nvPr/>
        </p:nvSpPr>
        <p:spPr>
          <a:xfrm>
            <a:off x="422130" y="6013005"/>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⑧</a:t>
            </a:r>
            <a:r>
              <a:rPr lang="en-US" altLang="ja-JP" sz="1200" b="1" dirty="0">
                <a:latin typeface="メイリオ" panose="020B0604030504040204" pitchFamily="50" charset="-128"/>
                <a:ea typeface="メイリオ" panose="020B0604030504040204" pitchFamily="50" charset="-128"/>
              </a:rPr>
              <a:t>LTV</a:t>
            </a:r>
            <a:r>
              <a:rPr lang="ja-JP" altLang="en-US" sz="1200" b="1" dirty="0">
                <a:latin typeface="メイリオ" panose="020B0604030504040204" pitchFamily="50" charset="-128"/>
                <a:ea typeface="メイリオ" panose="020B0604030504040204" pitchFamily="50" charset="-128"/>
              </a:rPr>
              <a:t>最大化・紹介</a:t>
            </a:r>
            <a:endParaRPr lang="ja-JP" altLang="ja-JP" sz="1200" b="1" dirty="0">
              <a:latin typeface="メイリオ" panose="020B0604030504040204" pitchFamily="50" charset="-128"/>
              <a:ea typeface="メイリオ" panose="020B0604030504040204" pitchFamily="50" charset="-128"/>
            </a:endParaRPr>
          </a:p>
        </p:txBody>
      </p:sp>
      <p:cxnSp>
        <p:nvCxnSpPr>
          <p:cNvPr id="45" name="直線矢印コネクタ 44">
            <a:extLst>
              <a:ext uri="{FF2B5EF4-FFF2-40B4-BE49-F238E27FC236}">
                <a16:creationId xmlns:a16="http://schemas.microsoft.com/office/drawing/2014/main" id="{87E98574-2837-4FC8-E748-526D33474E4D}"/>
              </a:ext>
            </a:extLst>
          </p:cNvPr>
          <p:cNvCxnSpPr>
            <a:cxnSpLocks/>
          </p:cNvCxnSpPr>
          <p:nvPr/>
        </p:nvCxnSpPr>
        <p:spPr>
          <a:xfrm>
            <a:off x="725974" y="3916591"/>
            <a:ext cx="0" cy="631205"/>
          </a:xfrm>
          <a:prstGeom prst="straightConnector1">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aphicFrame>
        <p:nvGraphicFramePr>
          <p:cNvPr id="5" name="表 4">
            <a:extLst>
              <a:ext uri="{FF2B5EF4-FFF2-40B4-BE49-F238E27FC236}">
                <a16:creationId xmlns:a16="http://schemas.microsoft.com/office/drawing/2014/main" id="{51D69C3C-8A78-71C1-CC10-FBFA86CD06DF}"/>
              </a:ext>
            </a:extLst>
          </p:cNvPr>
          <p:cNvGraphicFramePr>
            <a:graphicFrameLocks noGrp="1"/>
          </p:cNvGraphicFramePr>
          <p:nvPr>
            <p:extLst>
              <p:ext uri="{D42A27DB-BD31-4B8C-83A1-F6EECF244321}">
                <p14:modId xmlns:p14="http://schemas.microsoft.com/office/powerpoint/2010/main" val="4178443583"/>
              </p:ext>
            </p:extLst>
          </p:nvPr>
        </p:nvGraphicFramePr>
        <p:xfrm>
          <a:off x="2865120" y="1644532"/>
          <a:ext cx="6818810" cy="2311492"/>
        </p:xfrm>
        <a:graphic>
          <a:graphicData uri="http://schemas.openxmlformats.org/drawingml/2006/table">
            <a:tbl>
              <a:tblPr/>
              <a:tblGrid>
                <a:gridCol w="3365127">
                  <a:extLst>
                    <a:ext uri="{9D8B030D-6E8A-4147-A177-3AD203B41FA5}">
                      <a16:colId xmlns:a16="http://schemas.microsoft.com/office/drawing/2014/main" val="545601848"/>
                    </a:ext>
                  </a:extLst>
                </a:gridCol>
                <a:gridCol w="3453683">
                  <a:extLst>
                    <a:ext uri="{9D8B030D-6E8A-4147-A177-3AD203B41FA5}">
                      <a16:colId xmlns:a16="http://schemas.microsoft.com/office/drawing/2014/main" val="3902416673"/>
                    </a:ext>
                  </a:extLst>
                </a:gridCol>
              </a:tblGrid>
              <a:tr h="203612">
                <a:tc>
                  <a:txBody>
                    <a:bodyPr/>
                    <a:lstStyle/>
                    <a:p>
                      <a:pPr marL="0" indent="0" algn="ctr">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ユーザーの行動・心理</a:t>
                      </a:r>
                      <a:endParaRPr lang="en-US" sz="700" dirty="0">
                        <a:latin typeface="メイリオ" panose="020B0604030504040204" pitchFamily="50" charset="-128"/>
                        <a:ea typeface="メイリオ" panose="020B0604030504040204" pitchFamily="50" charset="-128"/>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solidFill>
                      <a:srgbClr val="1E2761"/>
                    </a:solidFill>
                  </a:tcPr>
                </a:tc>
                <a:tc>
                  <a:txBody>
                    <a:bodyPr/>
                    <a:lstStyle/>
                    <a:p>
                      <a:pPr marL="0" indent="0" algn="ctr">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企業側の具体的施策</a:t>
                      </a:r>
                      <a:endParaRPr lang="en-US" sz="700" dirty="0">
                        <a:latin typeface="メイリオ" panose="020B0604030504040204" pitchFamily="50" charset="-128"/>
                        <a:ea typeface="メイリオ" panose="020B0604030504040204" pitchFamily="50" charset="-128"/>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solidFill>
                      <a:srgbClr val="1E2761"/>
                    </a:solidFill>
                  </a:tcPr>
                </a:tc>
                <a:extLst>
                  <a:ext uri="{0D108BD9-81ED-4DB2-BD59-A6C34878D82A}">
                    <a16:rowId xmlns:a16="http://schemas.microsoft.com/office/drawing/2014/main" val="3084329450"/>
                  </a:ext>
                </a:extLst>
              </a:tr>
              <a:tr h="526970">
                <a:tc>
                  <a:txBody>
                    <a:bodyPr/>
                    <a:lstStyle/>
                    <a:p>
                      <a:pPr marL="0" indent="0">
                        <a:buNone/>
                      </a:pPr>
                      <a:r>
                        <a:rPr lang="en-US" sz="900" dirty="0">
                          <a:solidFill>
                            <a:srgbClr val="000000"/>
                          </a:solidFill>
                          <a:latin typeface="メイリオ" panose="020B0604030504040204" pitchFamily="50" charset="-128"/>
                          <a:ea typeface="メイリオ" panose="020B0604030504040204" pitchFamily="50" charset="-128"/>
                          <a:cs typeface="Calibri" pitchFamily="34" charset="-120"/>
                        </a:rPr>
                        <a:t>「転職したい」「</a:t>
                      </a:r>
                      <a:r>
                        <a:rPr lang="en-US" sz="900" dirty="0" err="1">
                          <a:solidFill>
                            <a:srgbClr val="000000"/>
                          </a:solidFill>
                          <a:latin typeface="メイリオ" panose="020B0604030504040204" pitchFamily="50" charset="-128"/>
                          <a:ea typeface="メイリオ" panose="020B0604030504040204" pitchFamily="50" charset="-128"/>
                          <a:cs typeface="Calibri" pitchFamily="34" charset="-120"/>
                        </a:rPr>
                        <a:t>今の職場が限界」という検索行動</a:t>
                      </a:r>
                      <a:endParaRPr lang="en-US" sz="900" dirty="0">
                        <a:solidFill>
                          <a:srgbClr val="000000"/>
                        </a:solidFill>
                        <a:latin typeface="メイリオ" panose="020B0604030504040204" pitchFamily="50" charset="-128"/>
                        <a:ea typeface="メイリオ" panose="020B0604030504040204" pitchFamily="50" charset="-128"/>
                        <a:cs typeface="Calibri" pitchFamily="34" charset="-120"/>
                      </a:endParaRPr>
                    </a:p>
                    <a:p>
                      <a:pPr marL="0" indent="0">
                        <a:buNone/>
                      </a:pPr>
                      <a:r>
                        <a:rPr lang="en-US" sz="900" dirty="0" err="1">
                          <a:solidFill>
                            <a:srgbClr val="000000"/>
                          </a:solidFill>
                          <a:latin typeface="メイリオ" panose="020B0604030504040204" pitchFamily="50" charset="-128"/>
                          <a:ea typeface="メイリオ" panose="020B0604030504040204" pitchFamily="50" charset="-128"/>
                          <a:cs typeface="Calibri" pitchFamily="34" charset="-120"/>
                        </a:rPr>
                        <a:t>比較サイト・SNS広告・口コミ経由が主流</a:t>
                      </a:r>
                      <a:endParaRPr lang="en-US" sz="900" dirty="0">
                        <a:latin typeface="メイリオ" panose="020B0604030504040204" pitchFamily="50" charset="-128"/>
                        <a:ea typeface="メイリオ" panose="020B0604030504040204" pitchFamily="50" charset="-128"/>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tc>
                  <a:txBody>
                    <a:bodyPr/>
                    <a:lstStyle/>
                    <a:p>
                      <a:pPr marL="0" indent="0">
                        <a:buNone/>
                      </a:pPr>
                      <a:r>
                        <a:rPr lang="en-US" sz="900" dirty="0">
                          <a:solidFill>
                            <a:srgbClr val="000000"/>
                          </a:solidFill>
                          <a:latin typeface="メイリオ" panose="020B0604030504040204" pitchFamily="50" charset="-128"/>
                          <a:ea typeface="メイリオ" panose="020B0604030504040204" pitchFamily="50" charset="-128"/>
                          <a:cs typeface="Calibri" pitchFamily="34" charset="-120"/>
                        </a:rPr>
                        <a:t>MEO/SEO強化、Meta広告（23-32歳ターゲ</a:t>
                      </a:r>
                    </a:p>
                    <a:p>
                      <a:pPr marL="0" indent="0">
                        <a:buNone/>
                      </a:pPr>
                      <a:r>
                        <a:rPr lang="en-US" sz="900" dirty="0" err="1">
                          <a:solidFill>
                            <a:srgbClr val="000000"/>
                          </a:solidFill>
                          <a:latin typeface="メイリオ" panose="020B0604030504040204" pitchFamily="50" charset="-128"/>
                          <a:ea typeface="メイリオ" panose="020B0604030504040204" pitchFamily="50" charset="-128"/>
                          <a:cs typeface="Calibri" pitchFamily="34" charset="-120"/>
                        </a:rPr>
                        <a:t>Indeed掲載、LINEの友だち追加ボタンをLP最上部に設置</a:t>
                      </a:r>
                      <a:endParaRPr lang="en-US" sz="900" dirty="0">
                        <a:latin typeface="メイリオ" panose="020B0604030504040204" pitchFamily="50" charset="-128"/>
                        <a:ea typeface="メイリオ" panose="020B0604030504040204" pitchFamily="50" charset="-128"/>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extLst>
                  <a:ext uri="{0D108BD9-81ED-4DB2-BD59-A6C34878D82A}">
                    <a16:rowId xmlns:a16="http://schemas.microsoft.com/office/drawing/2014/main" val="1021500690"/>
                  </a:ext>
                </a:extLst>
              </a:tr>
              <a:tr h="526970">
                <a:tc>
                  <a:txBody>
                    <a:bodyPr/>
                    <a:lstStyle/>
                    <a:p>
                      <a:pPr marL="0" indent="0">
                        <a:buNone/>
                      </a:pPr>
                      <a:r>
                        <a:rPr lang="en-US" sz="900" dirty="0" err="1">
                          <a:solidFill>
                            <a:srgbClr val="000000"/>
                          </a:solidFill>
                          <a:latin typeface="メイリオ" panose="020B0604030504040204" pitchFamily="50" charset="-128"/>
                          <a:ea typeface="メイリオ" panose="020B0604030504040204" pitchFamily="50" charset="-128"/>
                          <a:cs typeface="Calibri" pitchFamily="34" charset="-120"/>
                        </a:rPr>
                        <a:t>LPを一読するが登録せず離脱</a:t>
                      </a:r>
                      <a:endParaRPr lang="en-US" sz="900" dirty="0">
                        <a:solidFill>
                          <a:srgbClr val="000000"/>
                        </a:solidFill>
                        <a:latin typeface="メイリオ" panose="020B0604030504040204" pitchFamily="50" charset="-128"/>
                        <a:ea typeface="メイリオ" panose="020B0604030504040204" pitchFamily="50" charset="-128"/>
                        <a:cs typeface="Calibri" pitchFamily="34" charset="-120"/>
                      </a:endParaRPr>
                    </a:p>
                    <a:p>
                      <a:pPr marL="0" indent="0">
                        <a:buNone/>
                      </a:pPr>
                      <a:r>
                        <a:rPr lang="en-US" sz="900" dirty="0">
                          <a:solidFill>
                            <a:srgbClr val="000000"/>
                          </a:solidFill>
                          <a:latin typeface="メイリオ" panose="020B0604030504040204" pitchFamily="50" charset="-128"/>
                          <a:ea typeface="メイリオ" panose="020B0604030504040204" pitchFamily="50" charset="-128"/>
                          <a:cs typeface="Calibri" pitchFamily="34" charset="-120"/>
                        </a:rPr>
                        <a:t>「まだ本気じゃない」「怪しい」心理</a:t>
                      </a:r>
                      <a:endParaRPr lang="en-US" sz="900" dirty="0">
                        <a:latin typeface="メイリオ" panose="020B0604030504040204" pitchFamily="50" charset="-128"/>
                        <a:ea typeface="メイリオ" panose="020B0604030504040204" pitchFamily="50" charset="-128"/>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tc>
                  <a:txBody>
                    <a:bodyPr/>
                    <a:lstStyle/>
                    <a:p>
                      <a:pPr marL="0" indent="0">
                        <a:buNone/>
                      </a:pPr>
                      <a:r>
                        <a:rPr lang="en-US" sz="900" dirty="0" err="1">
                          <a:solidFill>
                            <a:srgbClr val="000000"/>
                          </a:solidFill>
                          <a:latin typeface="メイリオ" panose="020B0604030504040204" pitchFamily="50" charset="-128"/>
                          <a:ea typeface="メイリオ" panose="020B0604030504040204" pitchFamily="50" charset="-128"/>
                          <a:cs typeface="Calibri" pitchFamily="34" charset="-120"/>
                        </a:rPr>
                        <a:t>リタゲ広告＋LINEブロック防止コピ</a:t>
                      </a:r>
                      <a:r>
                        <a:rPr lang="en-US" sz="900" dirty="0">
                          <a:solidFill>
                            <a:srgbClr val="000000"/>
                          </a:solidFill>
                          <a:latin typeface="メイリオ" panose="020B0604030504040204" pitchFamily="50" charset="-128"/>
                          <a:ea typeface="メイリオ" panose="020B0604030504040204" pitchFamily="50" charset="-128"/>
                          <a:cs typeface="Calibri" pitchFamily="34" charset="-120"/>
                        </a:rPr>
                        <a:t>ー</a:t>
                      </a:r>
                    </a:p>
                    <a:p>
                      <a:pPr marL="0" indent="0">
                        <a:buNone/>
                      </a:pPr>
                      <a:r>
                        <a:rPr lang="en-US" sz="900" dirty="0">
                          <a:solidFill>
                            <a:srgbClr val="000000"/>
                          </a:solidFill>
                          <a:latin typeface="メイリオ" panose="020B0604030504040204" pitchFamily="50" charset="-128"/>
                          <a:ea typeface="メイリオ" panose="020B0604030504040204" pitchFamily="50" charset="-128"/>
                          <a:cs typeface="Calibri" pitchFamily="34" charset="-120"/>
                        </a:rPr>
                        <a:t>「登録=営業電話ではない」を明記したLPテスト</a:t>
                      </a:r>
                      <a:endParaRPr lang="en-US" sz="900" dirty="0">
                        <a:latin typeface="メイリオ" panose="020B0604030504040204" pitchFamily="50" charset="-128"/>
                        <a:ea typeface="メイリオ" panose="020B0604030504040204" pitchFamily="50" charset="-128"/>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extLst>
                  <a:ext uri="{0D108BD9-81ED-4DB2-BD59-A6C34878D82A}">
                    <a16:rowId xmlns:a16="http://schemas.microsoft.com/office/drawing/2014/main" val="267448599"/>
                  </a:ext>
                </a:extLst>
              </a:tr>
              <a:tr h="526970">
                <a:tc>
                  <a:txBody>
                    <a:bodyPr/>
                    <a:lstStyle/>
                    <a:p>
                      <a:pPr marL="0" indent="0">
                        <a:buNone/>
                      </a:pPr>
                      <a:r>
                        <a:rPr lang="en-US" sz="900" dirty="0">
                          <a:solidFill>
                            <a:srgbClr val="000000"/>
                          </a:solidFill>
                          <a:latin typeface="メイリオ" panose="020B0604030504040204" pitchFamily="50" charset="-128"/>
                          <a:ea typeface="メイリオ" panose="020B0604030504040204" pitchFamily="50" charset="-128"/>
                          <a:cs typeface="Calibri" pitchFamily="34" charset="-120"/>
                        </a:rPr>
                        <a:t>情報収集フェーズ。転職成功事例・年収UP実績に関心</a:t>
                      </a:r>
                      <a:endParaRPr lang="en-US" sz="900" dirty="0">
                        <a:latin typeface="メイリオ" panose="020B0604030504040204" pitchFamily="50" charset="-128"/>
                        <a:ea typeface="メイリオ" panose="020B0604030504040204" pitchFamily="50" charset="-128"/>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tc>
                  <a:txBody>
                    <a:bodyPr/>
                    <a:lstStyle/>
                    <a:p>
                      <a:pPr marL="0" indent="0">
                        <a:buNone/>
                      </a:pPr>
                      <a:r>
                        <a:rPr lang="en-US" sz="900" dirty="0">
                          <a:solidFill>
                            <a:srgbClr val="000000"/>
                          </a:solidFill>
                          <a:latin typeface="メイリオ" panose="020B0604030504040204" pitchFamily="50" charset="-128"/>
                          <a:ea typeface="メイリオ" panose="020B0604030504040204" pitchFamily="50" charset="-128"/>
                          <a:cs typeface="Calibri" pitchFamily="34" charset="-120"/>
                        </a:rPr>
                        <a:t>SNS/</a:t>
                      </a:r>
                      <a:r>
                        <a:rPr lang="en-US" sz="900" dirty="0" err="1">
                          <a:solidFill>
                            <a:srgbClr val="000000"/>
                          </a:solidFill>
                          <a:latin typeface="メイリオ" panose="020B0604030504040204" pitchFamily="50" charset="-128"/>
                          <a:ea typeface="メイリオ" panose="020B0604030504040204" pitchFamily="50" charset="-128"/>
                          <a:cs typeface="Calibri" pitchFamily="34" charset="-120"/>
                        </a:rPr>
                        <a:t>ブログで「転職失敗談→成功」ストーリーを</a:t>
                      </a:r>
                      <a:r>
                        <a:rPr lang="ja-JP" altLang="en-US" sz="900" dirty="0">
                          <a:solidFill>
                            <a:srgbClr val="000000"/>
                          </a:solidFill>
                          <a:latin typeface="メイリオ" panose="020B0604030504040204" pitchFamily="50" charset="-128"/>
                          <a:ea typeface="メイリオ" panose="020B0604030504040204" pitchFamily="50" charset="-128"/>
                          <a:cs typeface="Calibri" pitchFamily="34" charset="-120"/>
                        </a:rPr>
                        <a:t>発信</a:t>
                      </a:r>
                      <a:endParaRPr lang="en-US" sz="900" dirty="0">
                        <a:solidFill>
                          <a:srgbClr val="000000"/>
                        </a:solidFill>
                        <a:latin typeface="メイリオ" panose="020B0604030504040204" pitchFamily="50" charset="-128"/>
                        <a:ea typeface="メイリオ" panose="020B0604030504040204" pitchFamily="50" charset="-128"/>
                        <a:cs typeface="Calibri" pitchFamily="34" charset="-120"/>
                      </a:endParaRPr>
                    </a:p>
                    <a:p>
                      <a:pPr marL="0" indent="0">
                        <a:buNone/>
                      </a:pPr>
                      <a:r>
                        <a:rPr lang="en-US" sz="900" dirty="0" err="1">
                          <a:solidFill>
                            <a:srgbClr val="000000"/>
                          </a:solidFill>
                          <a:latin typeface="メイリオ" panose="020B0604030504040204" pitchFamily="50" charset="-128"/>
                          <a:ea typeface="メイリオ" panose="020B0604030504040204" pitchFamily="50" charset="-128"/>
                          <a:cs typeface="Calibri" pitchFamily="34" charset="-120"/>
                        </a:rPr>
                        <a:t>LINE登録で特典（非公開求人リスト等）訴求</a:t>
                      </a:r>
                      <a:endParaRPr lang="en-US" sz="900" dirty="0">
                        <a:latin typeface="メイリオ" panose="020B0604030504040204" pitchFamily="50" charset="-128"/>
                        <a:ea typeface="メイリオ" panose="020B0604030504040204" pitchFamily="50" charset="-128"/>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extLst>
                  <a:ext uri="{0D108BD9-81ED-4DB2-BD59-A6C34878D82A}">
                    <a16:rowId xmlns:a16="http://schemas.microsoft.com/office/drawing/2014/main" val="3177953868"/>
                  </a:ext>
                </a:extLst>
              </a:tr>
              <a:tr h="526970">
                <a:tc>
                  <a:txBody>
                    <a:bodyPr/>
                    <a:lstStyle/>
                    <a:p>
                      <a:pPr marL="0" indent="0">
                        <a:buNone/>
                      </a:pPr>
                      <a:r>
                        <a:rPr lang="en-US" sz="900" dirty="0">
                          <a:solidFill>
                            <a:srgbClr val="000000"/>
                          </a:solidFill>
                          <a:latin typeface="メイリオ" panose="020B0604030504040204" pitchFamily="50" charset="-128"/>
                          <a:ea typeface="メイリオ" panose="020B0604030504040204" pitchFamily="50" charset="-128"/>
                          <a:cs typeface="Calibri" pitchFamily="34" charset="-120"/>
                        </a:rPr>
                        <a:t>「</a:t>
                      </a:r>
                      <a:r>
                        <a:rPr lang="en-US" sz="900" dirty="0" err="1">
                          <a:solidFill>
                            <a:srgbClr val="000000"/>
                          </a:solidFill>
                          <a:latin typeface="メイリオ" panose="020B0604030504040204" pitchFamily="50" charset="-128"/>
                          <a:ea typeface="メイリオ" panose="020B0604030504040204" pitchFamily="50" charset="-128"/>
                          <a:cs typeface="Calibri" pitchFamily="34" charset="-120"/>
                        </a:rPr>
                        <a:t>登録しようかな」の直前</a:t>
                      </a:r>
                      <a:endParaRPr lang="en-US" sz="900" dirty="0">
                        <a:solidFill>
                          <a:srgbClr val="000000"/>
                        </a:solidFill>
                        <a:latin typeface="メイリオ" panose="020B0604030504040204" pitchFamily="50" charset="-128"/>
                        <a:ea typeface="メイリオ" panose="020B0604030504040204" pitchFamily="50" charset="-128"/>
                        <a:cs typeface="Calibri" pitchFamily="34" charset="-120"/>
                      </a:endParaRPr>
                    </a:p>
                    <a:p>
                      <a:pPr marL="0" indent="0">
                        <a:buNone/>
                      </a:pPr>
                      <a:r>
                        <a:rPr lang="en-US" sz="900" dirty="0" err="1">
                          <a:solidFill>
                            <a:srgbClr val="000000"/>
                          </a:solidFill>
                          <a:latin typeface="メイリオ" panose="020B0604030504040204" pitchFamily="50" charset="-128"/>
                          <a:ea typeface="メイリオ" panose="020B0604030504040204" pitchFamily="50" charset="-128"/>
                          <a:cs typeface="Calibri" pitchFamily="34" charset="-120"/>
                        </a:rPr>
                        <a:t>フォーム入力の心理ハードル</a:t>
                      </a:r>
                      <a:endParaRPr lang="en-US" sz="900" dirty="0">
                        <a:latin typeface="メイリオ" panose="020B0604030504040204" pitchFamily="50" charset="-128"/>
                        <a:ea typeface="メイリオ" panose="020B0604030504040204" pitchFamily="50" charset="-128"/>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tc>
                  <a:txBody>
                    <a:bodyPr/>
                    <a:lstStyle/>
                    <a:p>
                      <a:pPr marL="0" indent="0">
                        <a:buNone/>
                      </a:pPr>
                      <a:r>
                        <a:rPr lang="en-US" sz="900" dirty="0" err="1">
                          <a:solidFill>
                            <a:srgbClr val="000000"/>
                          </a:solidFill>
                          <a:latin typeface="メイリオ" panose="020B0604030504040204" pitchFamily="50" charset="-128"/>
                          <a:ea typeface="メイリオ" panose="020B0604030504040204" pitchFamily="50" charset="-128"/>
                          <a:cs typeface="Calibri" pitchFamily="34" charset="-120"/>
                        </a:rPr>
                        <a:t>LINE登録のほうがWEBフォームより離脱率が低い仮説</a:t>
                      </a:r>
                      <a:endParaRPr lang="en-US" sz="900" dirty="0">
                        <a:solidFill>
                          <a:srgbClr val="000000"/>
                        </a:solidFill>
                        <a:latin typeface="メイリオ" panose="020B0604030504040204" pitchFamily="50" charset="-128"/>
                        <a:ea typeface="メイリオ" panose="020B0604030504040204" pitchFamily="50" charset="-128"/>
                        <a:cs typeface="Calibri" pitchFamily="34" charset="-120"/>
                      </a:endParaRPr>
                    </a:p>
                    <a:p>
                      <a:pPr marL="0" indent="0">
                        <a:buNone/>
                      </a:pPr>
                      <a:r>
                        <a:rPr lang="en-US" sz="900" dirty="0">
                          <a:solidFill>
                            <a:srgbClr val="000000"/>
                          </a:solidFill>
                          <a:latin typeface="メイリオ" panose="020B0604030504040204" pitchFamily="50" charset="-128"/>
                          <a:ea typeface="メイリオ" panose="020B0604030504040204" pitchFamily="50" charset="-128"/>
                          <a:cs typeface="Calibri" pitchFamily="34" charset="-120"/>
                        </a:rPr>
                        <a:t>→</a:t>
                      </a:r>
                      <a:r>
                        <a:rPr lang="en-US" sz="900" dirty="0" err="1">
                          <a:solidFill>
                            <a:srgbClr val="000000"/>
                          </a:solidFill>
                          <a:latin typeface="メイリオ" panose="020B0604030504040204" pitchFamily="50" charset="-128"/>
                          <a:ea typeface="メイリオ" panose="020B0604030504040204" pitchFamily="50" charset="-128"/>
                          <a:cs typeface="Calibri" pitchFamily="34" charset="-120"/>
                        </a:rPr>
                        <a:t>ABテスト推奨</a:t>
                      </a:r>
                      <a:r>
                        <a:rPr lang="ja-JP" altLang="en-US" sz="900" dirty="0">
                          <a:solidFill>
                            <a:srgbClr val="000000"/>
                          </a:solidFill>
                          <a:latin typeface="メイリオ" panose="020B0604030504040204" pitchFamily="50" charset="-128"/>
                          <a:ea typeface="メイリオ" panose="020B0604030504040204" pitchFamily="50" charset="-128"/>
                          <a:cs typeface="Calibri" pitchFamily="34" charset="-120"/>
                        </a:rPr>
                        <a:t>　</a:t>
                      </a:r>
                      <a:r>
                        <a:rPr lang="en-US" sz="900" dirty="0" err="1">
                          <a:solidFill>
                            <a:srgbClr val="000000"/>
                          </a:solidFill>
                          <a:latin typeface="メイリオ" panose="020B0604030504040204" pitchFamily="50" charset="-128"/>
                          <a:ea typeface="メイリオ" panose="020B0604030504040204" pitchFamily="50" charset="-128"/>
                          <a:cs typeface="Calibri" pitchFamily="34" charset="-120"/>
                        </a:rPr>
                        <a:t>入力項目は最小限（名前・年齢・現職のみ</a:t>
                      </a:r>
                      <a:r>
                        <a:rPr lang="en-US" sz="900" dirty="0">
                          <a:solidFill>
                            <a:srgbClr val="000000"/>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extLst>
                  <a:ext uri="{0D108BD9-81ED-4DB2-BD59-A6C34878D82A}">
                    <a16:rowId xmlns:a16="http://schemas.microsoft.com/office/drawing/2014/main" val="2442422374"/>
                  </a:ext>
                </a:extLst>
              </a:tr>
            </a:tbl>
          </a:graphicData>
        </a:graphic>
      </p:graphicFrame>
      <p:graphicFrame>
        <p:nvGraphicFramePr>
          <p:cNvPr id="7" name="表 6">
            <a:extLst>
              <a:ext uri="{FF2B5EF4-FFF2-40B4-BE49-F238E27FC236}">
                <a16:creationId xmlns:a16="http://schemas.microsoft.com/office/drawing/2014/main" id="{483A0D42-0D68-9487-6275-D3AAF7E74F8A}"/>
              </a:ext>
            </a:extLst>
          </p:cNvPr>
          <p:cNvGraphicFramePr>
            <a:graphicFrameLocks noGrp="1"/>
          </p:cNvGraphicFramePr>
          <p:nvPr>
            <p:extLst>
              <p:ext uri="{D42A27DB-BD31-4B8C-83A1-F6EECF244321}">
                <p14:modId xmlns:p14="http://schemas.microsoft.com/office/powerpoint/2010/main" val="1710858454"/>
              </p:ext>
            </p:extLst>
          </p:nvPr>
        </p:nvGraphicFramePr>
        <p:xfrm>
          <a:off x="2865120" y="4153076"/>
          <a:ext cx="6818810" cy="2311492"/>
        </p:xfrm>
        <a:graphic>
          <a:graphicData uri="http://schemas.openxmlformats.org/drawingml/2006/table">
            <a:tbl>
              <a:tblPr/>
              <a:tblGrid>
                <a:gridCol w="3365127">
                  <a:extLst>
                    <a:ext uri="{9D8B030D-6E8A-4147-A177-3AD203B41FA5}">
                      <a16:colId xmlns:a16="http://schemas.microsoft.com/office/drawing/2014/main" val="4215076806"/>
                    </a:ext>
                  </a:extLst>
                </a:gridCol>
                <a:gridCol w="3453683">
                  <a:extLst>
                    <a:ext uri="{9D8B030D-6E8A-4147-A177-3AD203B41FA5}">
                      <a16:colId xmlns:a16="http://schemas.microsoft.com/office/drawing/2014/main" val="680030098"/>
                    </a:ext>
                  </a:extLst>
                </a:gridCol>
              </a:tblGrid>
              <a:tr h="203612">
                <a:tc>
                  <a:txBody>
                    <a:bodyPr/>
                    <a:lstStyle/>
                    <a:p>
                      <a:pPr marL="0" indent="0" algn="ctr">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ユーザーの行動・心理</a:t>
                      </a:r>
                      <a:endParaRPr lang="en-US" sz="700" dirty="0">
                        <a:latin typeface="メイリオ" panose="020B0604030504040204" pitchFamily="50" charset="-128"/>
                        <a:ea typeface="メイリオ" panose="020B0604030504040204" pitchFamily="50" charset="-128"/>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solidFill>
                      <a:srgbClr val="1E2761"/>
                    </a:solidFill>
                  </a:tcPr>
                </a:tc>
                <a:tc>
                  <a:txBody>
                    <a:bodyPr/>
                    <a:lstStyle/>
                    <a:p>
                      <a:pPr marL="0" indent="0" algn="ctr">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企業側の具体的施策</a:t>
                      </a:r>
                      <a:endParaRPr lang="en-US" sz="700" dirty="0">
                        <a:latin typeface="メイリオ" panose="020B0604030504040204" pitchFamily="50" charset="-128"/>
                        <a:ea typeface="メイリオ" panose="020B0604030504040204" pitchFamily="50" charset="-128"/>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solidFill>
                      <a:srgbClr val="1E2761"/>
                    </a:solidFill>
                  </a:tcPr>
                </a:tc>
                <a:extLst>
                  <a:ext uri="{0D108BD9-81ED-4DB2-BD59-A6C34878D82A}">
                    <a16:rowId xmlns:a16="http://schemas.microsoft.com/office/drawing/2014/main" val="3955716671"/>
                  </a:ext>
                </a:extLst>
              </a:tr>
              <a:tr h="526970">
                <a:tc>
                  <a:txBody>
                    <a:bodyPr/>
                    <a:lstStyle/>
                    <a:p>
                      <a:pPr marL="0" indent="0">
                        <a:buNone/>
                      </a:pPr>
                      <a:r>
                        <a:rPr lang="en-US" sz="900" dirty="0">
                          <a:solidFill>
                            <a:srgbClr val="000000"/>
                          </a:solidFill>
                          <a:latin typeface="メイリオ" panose="020B0604030504040204" pitchFamily="50" charset="-128"/>
                          <a:ea typeface="メイリオ" panose="020B0604030504040204" pitchFamily="50" charset="-128"/>
                          <a:cs typeface="Calibri" pitchFamily="34" charset="-120"/>
                        </a:rPr>
                        <a:t>登録直後。本気度・転職時期・希望条件のスクリーニング</a:t>
                      </a:r>
                      <a:endParaRPr lang="en-US" sz="900" dirty="0">
                        <a:latin typeface="メイリオ" panose="020B0604030504040204" pitchFamily="50" charset="-128"/>
                        <a:ea typeface="メイリオ" panose="020B0604030504040204" pitchFamily="50" charset="-128"/>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tc>
                  <a:txBody>
                    <a:bodyPr/>
                    <a:lstStyle/>
                    <a:p>
                      <a:pPr marL="0" indent="0">
                        <a:buNone/>
                      </a:pPr>
                      <a:r>
                        <a:rPr lang="en-US" sz="900" dirty="0" err="1">
                          <a:solidFill>
                            <a:srgbClr val="000000"/>
                          </a:solidFill>
                          <a:latin typeface="メイリオ" panose="020B0604030504040204" pitchFamily="50" charset="-128"/>
                          <a:ea typeface="メイリオ" panose="020B0604030504040204" pitchFamily="50" charset="-128"/>
                          <a:cs typeface="Calibri" pitchFamily="34" charset="-120"/>
                        </a:rPr>
                        <a:t>LINE登録直後にアンケート配信</a:t>
                      </a:r>
                      <a:endParaRPr lang="en-US" sz="900" dirty="0">
                        <a:solidFill>
                          <a:srgbClr val="000000"/>
                        </a:solidFill>
                        <a:latin typeface="メイリオ" panose="020B0604030504040204" pitchFamily="50" charset="-128"/>
                        <a:ea typeface="メイリオ" panose="020B0604030504040204" pitchFamily="50" charset="-128"/>
                        <a:cs typeface="Calibri" pitchFamily="34" charset="-120"/>
                      </a:endParaRPr>
                    </a:p>
                    <a:p>
                      <a:pPr marL="0" indent="0">
                        <a:buNone/>
                      </a:pPr>
                      <a:r>
                        <a:rPr lang="en-US" sz="900" dirty="0">
                          <a:solidFill>
                            <a:srgbClr val="000000"/>
                          </a:solidFill>
                          <a:latin typeface="メイリオ" panose="020B0604030504040204" pitchFamily="50" charset="-128"/>
                          <a:ea typeface="メイリオ" panose="020B0604030504040204" pitchFamily="50" charset="-128"/>
                          <a:cs typeface="Calibri" pitchFamily="34" charset="-120"/>
                        </a:rPr>
                        <a:t>「3ヶ月以内に転職希望」層を即座にセグメント分け</a:t>
                      </a:r>
                      <a:endParaRPr lang="en-US" sz="900" dirty="0">
                        <a:latin typeface="メイリオ" panose="020B0604030504040204" pitchFamily="50" charset="-128"/>
                        <a:ea typeface="メイリオ" panose="020B0604030504040204" pitchFamily="50" charset="-128"/>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extLst>
                  <a:ext uri="{0D108BD9-81ED-4DB2-BD59-A6C34878D82A}">
                    <a16:rowId xmlns:a16="http://schemas.microsoft.com/office/drawing/2014/main" val="3435062903"/>
                  </a:ext>
                </a:extLst>
              </a:tr>
              <a:tr h="526970">
                <a:tc>
                  <a:txBody>
                    <a:bodyPr/>
                    <a:lstStyle/>
                    <a:p>
                      <a:pPr marL="0" indent="0">
                        <a:buNone/>
                      </a:pPr>
                      <a:r>
                        <a:rPr lang="en-US" sz="900" dirty="0">
                          <a:solidFill>
                            <a:srgbClr val="000000"/>
                          </a:solidFill>
                          <a:latin typeface="メイリオ" panose="020B0604030504040204" pitchFamily="50" charset="-128"/>
                          <a:ea typeface="メイリオ" panose="020B0604030504040204" pitchFamily="50" charset="-128"/>
                          <a:cs typeface="Calibri" pitchFamily="34" charset="-120"/>
                        </a:rPr>
                        <a:t>「転職を具体化したい」が「踏み出せない」層が多い</a:t>
                      </a:r>
                      <a:endParaRPr lang="en-US" sz="900" dirty="0">
                        <a:latin typeface="メイリオ" panose="020B0604030504040204" pitchFamily="50" charset="-128"/>
                        <a:ea typeface="メイリオ" panose="020B0604030504040204" pitchFamily="50" charset="-128"/>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tc>
                  <a:txBody>
                    <a:bodyPr/>
                    <a:lstStyle/>
                    <a:p>
                      <a:pPr marL="0" indent="0">
                        <a:buNone/>
                      </a:pPr>
                      <a:r>
                        <a:rPr lang="en-US" sz="900" dirty="0">
                          <a:solidFill>
                            <a:srgbClr val="000000"/>
                          </a:solidFill>
                          <a:latin typeface="メイリオ" panose="020B0604030504040204" pitchFamily="50" charset="-128"/>
                          <a:ea typeface="メイリオ" panose="020B0604030504040204" pitchFamily="50" charset="-128"/>
                          <a:cs typeface="Calibri" pitchFamily="34" charset="-120"/>
                        </a:rPr>
                        <a:t>週1-2回のステップ配信</a:t>
                      </a:r>
                    </a:p>
                    <a:p>
                      <a:pPr marL="0" indent="0">
                        <a:buNone/>
                      </a:pPr>
                      <a:r>
                        <a:rPr lang="en-US" sz="900" dirty="0" err="1">
                          <a:solidFill>
                            <a:srgbClr val="000000"/>
                          </a:solidFill>
                          <a:latin typeface="メイリオ" panose="020B0604030504040204" pitchFamily="50" charset="-128"/>
                          <a:ea typeface="メイリオ" panose="020B0604030504040204" pitchFamily="50" charset="-128"/>
                          <a:cs typeface="Calibri" pitchFamily="34" charset="-120"/>
                        </a:rPr>
                        <a:t>年収交渉術・業界動向・面接対策コンテンツで信頼醸成</a:t>
                      </a:r>
                      <a:endParaRPr lang="en-US" sz="900" dirty="0">
                        <a:latin typeface="メイリオ" panose="020B0604030504040204" pitchFamily="50" charset="-128"/>
                        <a:ea typeface="メイリオ" panose="020B0604030504040204" pitchFamily="50" charset="-128"/>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extLst>
                  <a:ext uri="{0D108BD9-81ED-4DB2-BD59-A6C34878D82A}">
                    <a16:rowId xmlns:a16="http://schemas.microsoft.com/office/drawing/2014/main" val="4063541763"/>
                  </a:ext>
                </a:extLst>
              </a:tr>
              <a:tr h="526970">
                <a:tc>
                  <a:txBody>
                    <a:bodyPr/>
                    <a:lstStyle/>
                    <a:p>
                      <a:pPr marL="0" indent="0">
                        <a:buNone/>
                      </a:pPr>
                      <a:r>
                        <a:rPr lang="en-US" sz="900" dirty="0">
                          <a:solidFill>
                            <a:srgbClr val="000000"/>
                          </a:solidFill>
                          <a:latin typeface="メイリオ" panose="020B0604030504040204" pitchFamily="50" charset="-128"/>
                          <a:ea typeface="メイリオ" panose="020B0604030504040204" pitchFamily="50" charset="-128"/>
                          <a:cs typeface="Calibri" pitchFamily="34" charset="-120"/>
                        </a:rPr>
                        <a:t>「この会社なら安心」と感じたタイミングで商談・面談へ</a:t>
                      </a:r>
                      <a:endParaRPr lang="en-US" sz="900" dirty="0">
                        <a:latin typeface="メイリオ" panose="020B0604030504040204" pitchFamily="50" charset="-128"/>
                        <a:ea typeface="メイリオ" panose="020B0604030504040204" pitchFamily="50" charset="-128"/>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tc>
                  <a:txBody>
                    <a:bodyPr/>
                    <a:lstStyle/>
                    <a:p>
                      <a:pPr marL="0" indent="0">
                        <a:buNone/>
                      </a:pPr>
                      <a:r>
                        <a:rPr lang="en-US" sz="900" dirty="0" err="1">
                          <a:solidFill>
                            <a:srgbClr val="000000"/>
                          </a:solidFill>
                          <a:latin typeface="メイリオ" panose="020B0604030504040204" pitchFamily="50" charset="-128"/>
                          <a:ea typeface="メイリオ" panose="020B0604030504040204" pitchFamily="50" charset="-128"/>
                          <a:cs typeface="Calibri" pitchFamily="34" charset="-120"/>
                        </a:rPr>
                        <a:t>個別面談オファーのLINEメッセージ</a:t>
                      </a:r>
                      <a:endParaRPr lang="en-US" sz="900" dirty="0">
                        <a:solidFill>
                          <a:srgbClr val="000000"/>
                        </a:solidFill>
                        <a:latin typeface="メイリオ" panose="020B0604030504040204" pitchFamily="50" charset="-128"/>
                        <a:ea typeface="メイリオ" panose="020B0604030504040204" pitchFamily="50" charset="-128"/>
                        <a:cs typeface="Calibri" pitchFamily="34" charset="-120"/>
                      </a:endParaRPr>
                    </a:p>
                    <a:p>
                      <a:pPr marL="0" indent="0">
                        <a:buNone/>
                      </a:pPr>
                      <a:r>
                        <a:rPr lang="en-US" sz="900" dirty="0" err="1">
                          <a:solidFill>
                            <a:srgbClr val="000000"/>
                          </a:solidFill>
                          <a:latin typeface="メイリオ" panose="020B0604030504040204" pitchFamily="50" charset="-128"/>
                          <a:ea typeface="メイリオ" panose="020B0604030504040204" pitchFamily="50" charset="-128"/>
                          <a:cs typeface="Calibri" pitchFamily="34" charset="-120"/>
                        </a:rPr>
                        <a:t>スカウト型オファーを模倣したコピーで開封率向上</a:t>
                      </a:r>
                      <a:endParaRPr lang="en-US" sz="900" dirty="0">
                        <a:latin typeface="メイリオ" panose="020B0604030504040204" pitchFamily="50" charset="-128"/>
                        <a:ea typeface="メイリオ" panose="020B0604030504040204" pitchFamily="50" charset="-128"/>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extLst>
                  <a:ext uri="{0D108BD9-81ED-4DB2-BD59-A6C34878D82A}">
                    <a16:rowId xmlns:a16="http://schemas.microsoft.com/office/drawing/2014/main" val="1188033087"/>
                  </a:ext>
                </a:extLst>
              </a:tr>
              <a:tr h="526970">
                <a:tc>
                  <a:txBody>
                    <a:bodyPr/>
                    <a:lstStyle/>
                    <a:p>
                      <a:pPr marL="0" indent="0">
                        <a:buNone/>
                      </a:pPr>
                      <a:r>
                        <a:rPr lang="en-US" sz="900" dirty="0">
                          <a:solidFill>
                            <a:srgbClr val="000000"/>
                          </a:solidFill>
                          <a:latin typeface="メイリオ" panose="020B0604030504040204" pitchFamily="50" charset="-128"/>
                          <a:ea typeface="メイリオ" panose="020B0604030504040204" pitchFamily="50" charset="-128"/>
                          <a:cs typeface="Calibri" pitchFamily="34" charset="-120"/>
                        </a:rPr>
                        <a:t>転職成功後も「次の転職」「友人紹介」の可能性</a:t>
                      </a:r>
                      <a:endParaRPr lang="en-US" sz="900" dirty="0">
                        <a:latin typeface="メイリオ" panose="020B0604030504040204" pitchFamily="50" charset="-128"/>
                        <a:ea typeface="メイリオ" panose="020B0604030504040204" pitchFamily="50" charset="-128"/>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tc>
                  <a:txBody>
                    <a:bodyPr/>
                    <a:lstStyle/>
                    <a:p>
                      <a:pPr marL="0" indent="0">
                        <a:buNone/>
                      </a:pPr>
                      <a:r>
                        <a:rPr lang="en-US" sz="900" dirty="0" err="1">
                          <a:solidFill>
                            <a:srgbClr val="000000"/>
                          </a:solidFill>
                          <a:latin typeface="メイリオ" panose="020B0604030504040204" pitchFamily="50" charset="-128"/>
                          <a:ea typeface="メイリオ" panose="020B0604030504040204" pitchFamily="50" charset="-128"/>
                          <a:cs typeface="Calibri" pitchFamily="34" charset="-120"/>
                        </a:rPr>
                        <a:t>転職成功者向け限定コミュニティ招待</a:t>
                      </a:r>
                      <a:endParaRPr lang="en-US" sz="900" dirty="0">
                        <a:solidFill>
                          <a:srgbClr val="000000"/>
                        </a:solidFill>
                        <a:latin typeface="メイリオ" panose="020B0604030504040204" pitchFamily="50" charset="-128"/>
                        <a:ea typeface="メイリオ" panose="020B0604030504040204" pitchFamily="50" charset="-128"/>
                        <a:cs typeface="Calibri" pitchFamily="34" charset="-120"/>
                      </a:endParaRPr>
                    </a:p>
                    <a:p>
                      <a:pPr marL="0" indent="0">
                        <a:buNone/>
                      </a:pPr>
                      <a:r>
                        <a:rPr lang="en-US" sz="900" dirty="0" err="1">
                          <a:solidFill>
                            <a:srgbClr val="000000"/>
                          </a:solidFill>
                          <a:latin typeface="メイリオ" panose="020B0604030504040204" pitchFamily="50" charset="-128"/>
                          <a:ea typeface="メイリオ" panose="020B0604030504040204" pitchFamily="50" charset="-128"/>
                          <a:cs typeface="Calibri" pitchFamily="34" charset="-120"/>
                        </a:rPr>
                        <a:t>友人紹介キャンペーン（Amazonギフト等</a:t>
                      </a:r>
                      <a:r>
                        <a:rPr lang="en-US" sz="900" dirty="0">
                          <a:solidFill>
                            <a:srgbClr val="000000"/>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extLst>
                  <a:ext uri="{0D108BD9-81ED-4DB2-BD59-A6C34878D82A}">
                    <a16:rowId xmlns:a16="http://schemas.microsoft.com/office/drawing/2014/main" val="1366811623"/>
                  </a:ext>
                </a:extLst>
              </a:tr>
            </a:tbl>
          </a:graphicData>
        </a:graphic>
      </p:graphicFrame>
    </p:spTree>
    <p:extLst>
      <p:ext uri="{BB962C8B-B14F-4D97-AF65-F5344CB8AC3E}">
        <p14:creationId xmlns:p14="http://schemas.microsoft.com/office/powerpoint/2010/main" val="27198884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92180-D336-F255-C39D-17584774E38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C912E4CC-70AD-5529-2A5A-4FA0D1C97A2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全体設計想定</a:t>
            </a:r>
          </a:p>
        </p:txBody>
      </p:sp>
      <p:sp>
        <p:nvSpPr>
          <p:cNvPr id="9" name="正方形/長方形 8">
            <a:extLst>
              <a:ext uri="{FF2B5EF4-FFF2-40B4-BE49-F238E27FC236}">
                <a16:creationId xmlns:a16="http://schemas.microsoft.com/office/drawing/2014/main" id="{BD73628C-261B-9AE4-0B66-12C6BEDE3EDD}"/>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AF6C2475-3BD5-7DF2-52BD-C0F30E8072CF}"/>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カスタマージャーニーマップにあわせて</a:t>
            </a:r>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投稿を配置。</a:t>
            </a:r>
            <a:endParaRPr lang="en-US" altLang="ja-JP" sz="1600" b="1" dirty="0">
              <a:latin typeface="メイリオ" panose="020B0604030504040204" pitchFamily="50" charset="-128"/>
              <a:ea typeface="メイリオ" panose="020B0604030504040204" pitchFamily="50" charset="-128"/>
              <a:cs typeface="Meiryo"/>
              <a:sym typeface="Meiryo"/>
            </a:endParaRPr>
          </a:p>
          <a:p>
            <a:endParaRPr lang="en-US" altLang="ja-JP" sz="1600" b="1" dirty="0">
              <a:latin typeface="メイリオ" panose="020B0604030504040204" pitchFamily="50" charset="-128"/>
              <a:ea typeface="メイリオ" panose="020B0604030504040204" pitchFamily="50" charset="-128"/>
              <a:cs typeface="Meiryo"/>
              <a:sym typeface="Meiryo"/>
            </a:endParaRPr>
          </a:p>
        </p:txBody>
      </p:sp>
      <p:cxnSp>
        <p:nvCxnSpPr>
          <p:cNvPr id="2" name="直線コネクタ 1">
            <a:extLst>
              <a:ext uri="{FF2B5EF4-FFF2-40B4-BE49-F238E27FC236}">
                <a16:creationId xmlns:a16="http://schemas.microsoft.com/office/drawing/2014/main" id="{8D0721AE-E7E5-698E-E773-F2614C0DBB07}"/>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3BFFC88E-A589-D631-D366-94F280EFF67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D90E23BB-3076-5B7D-82F3-8433A2B09D1F}"/>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A68BF14-4E95-B76C-1300-FF13B29BADF0}"/>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558815C-4A36-8DFA-3258-ADAC642B44B6}"/>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B24DBF0-6A3A-0783-C6E3-74B28D837D9E}"/>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D9F92929-7F37-647E-2D3E-0EB84FFB20D1}"/>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A53FD7B1-4120-4E04-0DDF-B4B54EDB9BFD}"/>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ABDE72C7-C765-8BB2-E494-8277E0D528BC}"/>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96BDDC66-06A4-F147-F6D6-595BB801B1D3}"/>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375707FE-6207-A0AF-61A0-E9AABECDAC37}"/>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49AFAACD-69A5-DAB7-2AB7-5204509E5CCB}"/>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8B260C5F-25D5-8ED9-9E9C-2E4B97F7FE0C}"/>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9" name="テキスト ボックス 18">
            <a:extLst>
              <a:ext uri="{FF2B5EF4-FFF2-40B4-BE49-F238E27FC236}">
                <a16:creationId xmlns:a16="http://schemas.microsoft.com/office/drawing/2014/main" id="{D76A6924-9615-4D2D-207A-2C463DAF53AF}"/>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8C64E429-AF18-081D-2A8E-EDCE056C0C0B}"/>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7B99F819-3A4C-8D01-87D3-59398A0C3663}"/>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89810CF4-19DD-8F80-464F-FE8E1D250689}"/>
              </a:ext>
            </a:extLst>
          </p:cNvPr>
          <p:cNvCxnSpPr>
            <a:cxnSpLocks/>
            <a:stCxn id="21" idx="0"/>
            <a:endCxn id="14"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3F2ACC73-0643-27D8-F1B3-1B871FCEF141}"/>
              </a:ext>
            </a:extLst>
          </p:cNvPr>
          <p:cNvCxnSpPr>
            <a:cxnSpLocks/>
          </p:cNvCxnSpPr>
          <p:nvPr/>
        </p:nvCxnSpPr>
        <p:spPr>
          <a:xfrm>
            <a:off x="334303" y="3515795"/>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69C05BA8-18F6-F344-3C54-A5E03AFE2368}"/>
              </a:ext>
            </a:extLst>
          </p:cNvPr>
          <p:cNvCxnSpPr>
            <a:cxnSpLocks/>
          </p:cNvCxnSpPr>
          <p:nvPr/>
        </p:nvCxnSpPr>
        <p:spPr>
          <a:xfrm>
            <a:off x="3122098" y="4928015"/>
            <a:ext cx="6619128"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E77786FC-857A-BA29-36E6-9A41C2E99F31}"/>
              </a:ext>
            </a:extLst>
          </p:cNvPr>
          <p:cNvSpPr txBox="1"/>
          <p:nvPr/>
        </p:nvSpPr>
        <p:spPr>
          <a:xfrm>
            <a:off x="1268358" y="3383509"/>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sp>
        <p:nvSpPr>
          <p:cNvPr id="26" name="テキスト ボックス 25">
            <a:extLst>
              <a:ext uri="{FF2B5EF4-FFF2-40B4-BE49-F238E27FC236}">
                <a16:creationId xmlns:a16="http://schemas.microsoft.com/office/drawing/2014/main" id="{5B6D9466-EC9E-4057-AB18-8974D147F3E8}"/>
              </a:ext>
            </a:extLst>
          </p:cNvPr>
          <p:cNvSpPr txBox="1"/>
          <p:nvPr/>
        </p:nvSpPr>
        <p:spPr>
          <a:xfrm>
            <a:off x="5558554" y="4804166"/>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27" name="直線矢印コネクタ 26">
            <a:extLst>
              <a:ext uri="{FF2B5EF4-FFF2-40B4-BE49-F238E27FC236}">
                <a16:creationId xmlns:a16="http://schemas.microsoft.com/office/drawing/2014/main" id="{C2DCC080-98CE-945F-96A2-C42DE7E0C936}"/>
              </a:ext>
            </a:extLst>
          </p:cNvPr>
          <p:cNvCxnSpPr>
            <a:cxnSpLocks/>
          </p:cNvCxnSpPr>
          <p:nvPr/>
        </p:nvCxnSpPr>
        <p:spPr>
          <a:xfrm>
            <a:off x="3609975" y="3504789"/>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EA293A6D-CB27-A495-B2B6-10D3182B0B70}"/>
              </a:ext>
            </a:extLst>
          </p:cNvPr>
          <p:cNvSpPr txBox="1"/>
          <p:nvPr/>
        </p:nvSpPr>
        <p:spPr>
          <a:xfrm>
            <a:off x="3908480" y="3397243"/>
            <a:ext cx="1913269" cy="234537"/>
          </a:xfrm>
          <a:prstGeom prst="rect">
            <a:avLst/>
          </a:prstGeom>
          <a:solidFill>
            <a:schemeClr val="bg1"/>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オフライン→</a:t>
            </a: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sp>
        <p:nvSpPr>
          <p:cNvPr id="29" name="正方形/長方形 28">
            <a:extLst>
              <a:ext uri="{FF2B5EF4-FFF2-40B4-BE49-F238E27FC236}">
                <a16:creationId xmlns:a16="http://schemas.microsoft.com/office/drawing/2014/main" id="{2AFCBDA6-2140-B4C1-A45D-7A34BC21899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852097C2-692E-64D7-A5ED-5C35A2EFC97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9F2742C3-41F6-3CC5-6355-EC9495CFE608}"/>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33" name="正方形/長方形 32">
            <a:extLst>
              <a:ext uri="{FF2B5EF4-FFF2-40B4-BE49-F238E27FC236}">
                <a16:creationId xmlns:a16="http://schemas.microsoft.com/office/drawing/2014/main" id="{BF6CFDE9-CDE8-1133-47F9-90F22773AF32}"/>
              </a:ext>
            </a:extLst>
          </p:cNvPr>
          <p:cNvSpPr/>
          <p:nvPr/>
        </p:nvSpPr>
        <p:spPr>
          <a:xfrm>
            <a:off x="315939" y="3613966"/>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WEB</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a:t>
            </a:r>
          </a:p>
        </p:txBody>
      </p:sp>
      <p:sp>
        <p:nvSpPr>
          <p:cNvPr id="34" name="正方形/長方形 33">
            <a:extLst>
              <a:ext uri="{FF2B5EF4-FFF2-40B4-BE49-F238E27FC236}">
                <a16:creationId xmlns:a16="http://schemas.microsoft.com/office/drawing/2014/main" id="{39DCB4B6-9411-CC10-0D34-9F40EC11AD82}"/>
              </a:ext>
            </a:extLst>
          </p:cNvPr>
          <p:cNvSpPr/>
          <p:nvPr/>
        </p:nvSpPr>
        <p:spPr>
          <a:xfrm>
            <a:off x="3122098" y="505122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→反響）</a:t>
            </a:r>
          </a:p>
        </p:txBody>
      </p:sp>
      <p:cxnSp>
        <p:nvCxnSpPr>
          <p:cNvPr id="35" name="直線矢印コネクタ 34">
            <a:extLst>
              <a:ext uri="{FF2B5EF4-FFF2-40B4-BE49-F238E27FC236}">
                <a16:creationId xmlns:a16="http://schemas.microsoft.com/office/drawing/2014/main" id="{B94F8848-87A6-4A24-C2DE-D4A5BD2787D7}"/>
              </a:ext>
            </a:extLst>
          </p:cNvPr>
          <p:cNvCxnSpPr>
            <a:cxnSpLocks/>
          </p:cNvCxnSpPr>
          <p:nvPr/>
        </p:nvCxnSpPr>
        <p:spPr>
          <a:xfrm>
            <a:off x="484665" y="396479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13A35DD7-3CE1-ABA2-45A4-29A5F6D013E2}"/>
              </a:ext>
            </a:extLst>
          </p:cNvPr>
          <p:cNvSpPr txBox="1"/>
          <p:nvPr/>
        </p:nvSpPr>
        <p:spPr>
          <a:xfrm>
            <a:off x="853704" y="3860734"/>
            <a:ext cx="822746"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cs typeface="Meiryo"/>
                <a:sym typeface="Meiryo"/>
              </a:rPr>
              <a:t>CPF</a:t>
            </a:r>
            <a:r>
              <a:rPr lang="ja-JP" altLang="en-US" sz="1000" b="1" dirty="0">
                <a:latin typeface="メイリオ" panose="020B0604030504040204" pitchFamily="50" charset="-128"/>
                <a:ea typeface="メイリオ" panose="020B0604030504040204" pitchFamily="50" charset="-128"/>
                <a:cs typeface="Meiryo"/>
                <a:sym typeface="Meiryo"/>
              </a:rPr>
              <a:t>広告</a:t>
            </a:r>
            <a:endParaRPr lang="ja-JP" altLang="en-US" sz="1000" b="1" dirty="0"/>
          </a:p>
        </p:txBody>
      </p:sp>
      <p:cxnSp>
        <p:nvCxnSpPr>
          <p:cNvPr id="37" name="直線矢印コネクタ 36">
            <a:extLst>
              <a:ext uri="{FF2B5EF4-FFF2-40B4-BE49-F238E27FC236}">
                <a16:creationId xmlns:a16="http://schemas.microsoft.com/office/drawing/2014/main" id="{4DD36FC2-6468-F5B5-EFB8-BBFB2CF7F452}"/>
              </a:ext>
            </a:extLst>
          </p:cNvPr>
          <p:cNvCxnSpPr>
            <a:cxnSpLocks/>
          </p:cNvCxnSpPr>
          <p:nvPr/>
        </p:nvCxnSpPr>
        <p:spPr>
          <a:xfrm>
            <a:off x="3442595" y="433246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8" name="テキスト ボックス 37">
            <a:extLst>
              <a:ext uri="{FF2B5EF4-FFF2-40B4-BE49-F238E27FC236}">
                <a16:creationId xmlns:a16="http://schemas.microsoft.com/office/drawing/2014/main" id="{52205788-B1CC-5FF9-ED78-B6DD32267E17}"/>
              </a:ext>
            </a:extLst>
          </p:cNvPr>
          <p:cNvSpPr txBox="1"/>
          <p:nvPr/>
        </p:nvSpPr>
        <p:spPr>
          <a:xfrm>
            <a:off x="3811634" y="419868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39" name="直線矢印コネクタ 38">
            <a:extLst>
              <a:ext uri="{FF2B5EF4-FFF2-40B4-BE49-F238E27FC236}">
                <a16:creationId xmlns:a16="http://schemas.microsoft.com/office/drawing/2014/main" id="{923E43E2-8157-8C38-4A7C-C186793E6650}"/>
              </a:ext>
            </a:extLst>
          </p:cNvPr>
          <p:cNvCxnSpPr>
            <a:cxnSpLocks/>
          </p:cNvCxnSpPr>
          <p:nvPr/>
        </p:nvCxnSpPr>
        <p:spPr>
          <a:xfrm>
            <a:off x="3442595" y="458569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9B46B511-7630-9D21-552D-BAD1DCEC8387}"/>
              </a:ext>
            </a:extLst>
          </p:cNvPr>
          <p:cNvSpPr txBox="1"/>
          <p:nvPr/>
        </p:nvSpPr>
        <p:spPr>
          <a:xfrm>
            <a:off x="3811634" y="4451915"/>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サンクス</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誘導</a:t>
            </a:r>
            <a:endParaRPr lang="ja-JP" altLang="en-US" sz="1000" b="1" dirty="0"/>
          </a:p>
        </p:txBody>
      </p:sp>
      <p:cxnSp>
        <p:nvCxnSpPr>
          <p:cNvPr id="41" name="直線矢印コネクタ 40">
            <a:extLst>
              <a:ext uri="{FF2B5EF4-FFF2-40B4-BE49-F238E27FC236}">
                <a16:creationId xmlns:a16="http://schemas.microsoft.com/office/drawing/2014/main" id="{64D8562C-014D-DFB4-2D01-7479448659D1}"/>
              </a:ext>
            </a:extLst>
          </p:cNvPr>
          <p:cNvCxnSpPr>
            <a:cxnSpLocks/>
          </p:cNvCxnSpPr>
          <p:nvPr/>
        </p:nvCxnSpPr>
        <p:spPr>
          <a:xfrm>
            <a:off x="1351697" y="415316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540E1D19-5457-9319-2789-430F63EC5A42}"/>
              </a:ext>
            </a:extLst>
          </p:cNvPr>
          <p:cNvSpPr txBox="1"/>
          <p:nvPr/>
        </p:nvSpPr>
        <p:spPr>
          <a:xfrm>
            <a:off x="1720736" y="4019384"/>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43" name="直線矢印コネクタ 42">
            <a:extLst>
              <a:ext uri="{FF2B5EF4-FFF2-40B4-BE49-F238E27FC236}">
                <a16:creationId xmlns:a16="http://schemas.microsoft.com/office/drawing/2014/main" id="{490155E9-25FB-3090-382A-CA0B7F87F965}"/>
              </a:ext>
            </a:extLst>
          </p:cNvPr>
          <p:cNvCxnSpPr>
            <a:cxnSpLocks/>
          </p:cNvCxnSpPr>
          <p:nvPr/>
        </p:nvCxnSpPr>
        <p:spPr>
          <a:xfrm>
            <a:off x="1351697" y="438431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テキスト ボックス 43">
            <a:extLst>
              <a:ext uri="{FF2B5EF4-FFF2-40B4-BE49-F238E27FC236}">
                <a16:creationId xmlns:a16="http://schemas.microsoft.com/office/drawing/2014/main" id="{08D35021-E114-E4DF-FF22-BF7BE0CDF4D8}"/>
              </a:ext>
            </a:extLst>
          </p:cNvPr>
          <p:cNvSpPr txBox="1"/>
          <p:nvPr/>
        </p:nvSpPr>
        <p:spPr>
          <a:xfrm>
            <a:off x="1720736" y="4250529"/>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サイト動線の整備</a:t>
            </a:r>
          </a:p>
        </p:txBody>
      </p:sp>
      <p:cxnSp>
        <p:nvCxnSpPr>
          <p:cNvPr id="45" name="直線矢印コネクタ 44">
            <a:extLst>
              <a:ext uri="{FF2B5EF4-FFF2-40B4-BE49-F238E27FC236}">
                <a16:creationId xmlns:a16="http://schemas.microsoft.com/office/drawing/2014/main" id="{6840C346-E790-A413-26C5-79129D6F5FB7}"/>
              </a:ext>
            </a:extLst>
          </p:cNvPr>
          <p:cNvCxnSpPr>
            <a:cxnSpLocks/>
          </p:cNvCxnSpPr>
          <p:nvPr/>
        </p:nvCxnSpPr>
        <p:spPr>
          <a:xfrm>
            <a:off x="3900757" y="4022150"/>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715CC99E-9A08-159E-0120-31020FC33D0F}"/>
              </a:ext>
            </a:extLst>
          </p:cNvPr>
          <p:cNvSpPr txBox="1"/>
          <p:nvPr/>
        </p:nvSpPr>
        <p:spPr>
          <a:xfrm>
            <a:off x="4269796" y="3888366"/>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cxnSp>
        <p:nvCxnSpPr>
          <p:cNvPr id="47" name="直線矢印コネクタ 46">
            <a:extLst>
              <a:ext uri="{FF2B5EF4-FFF2-40B4-BE49-F238E27FC236}">
                <a16:creationId xmlns:a16="http://schemas.microsoft.com/office/drawing/2014/main" id="{C26FDFF8-ECDB-0D20-5A53-4F74EF6D93F8}"/>
              </a:ext>
            </a:extLst>
          </p:cNvPr>
          <p:cNvCxnSpPr>
            <a:cxnSpLocks/>
          </p:cNvCxnSpPr>
          <p:nvPr/>
        </p:nvCxnSpPr>
        <p:spPr>
          <a:xfrm>
            <a:off x="5494489" y="4328530"/>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テキスト ボックス 47">
            <a:extLst>
              <a:ext uri="{FF2B5EF4-FFF2-40B4-BE49-F238E27FC236}">
                <a16:creationId xmlns:a16="http://schemas.microsoft.com/office/drawing/2014/main" id="{03517788-8A00-3CE9-B8A0-DC9904CB9E29}"/>
              </a:ext>
            </a:extLst>
          </p:cNvPr>
          <p:cNvSpPr txBox="1"/>
          <p:nvPr/>
        </p:nvSpPr>
        <p:spPr>
          <a:xfrm>
            <a:off x="5863528" y="4194746"/>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49" name="直線矢印コネクタ 48">
            <a:extLst>
              <a:ext uri="{FF2B5EF4-FFF2-40B4-BE49-F238E27FC236}">
                <a16:creationId xmlns:a16="http://schemas.microsoft.com/office/drawing/2014/main" id="{8A08B47D-236B-D58F-E880-0E520352BC81}"/>
              </a:ext>
            </a:extLst>
          </p:cNvPr>
          <p:cNvCxnSpPr>
            <a:cxnSpLocks/>
          </p:cNvCxnSpPr>
          <p:nvPr/>
        </p:nvCxnSpPr>
        <p:spPr>
          <a:xfrm>
            <a:off x="5494489" y="459136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8376E216-AB77-BC34-74BE-9C14746155C3}"/>
              </a:ext>
            </a:extLst>
          </p:cNvPr>
          <p:cNvSpPr txBox="1"/>
          <p:nvPr/>
        </p:nvSpPr>
        <p:spPr>
          <a:xfrm>
            <a:off x="5863528" y="445758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サンクス</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誘導</a:t>
            </a:r>
            <a:endParaRPr lang="ja-JP" altLang="en-US" sz="1000" b="1" dirty="0"/>
          </a:p>
        </p:txBody>
      </p:sp>
      <p:cxnSp>
        <p:nvCxnSpPr>
          <p:cNvPr id="51" name="直線矢印コネクタ 50">
            <a:extLst>
              <a:ext uri="{FF2B5EF4-FFF2-40B4-BE49-F238E27FC236}">
                <a16:creationId xmlns:a16="http://schemas.microsoft.com/office/drawing/2014/main" id="{D6F7AD1E-A403-6C2E-4207-BA25C2D7BCC6}"/>
              </a:ext>
            </a:extLst>
          </p:cNvPr>
          <p:cNvCxnSpPr>
            <a:cxnSpLocks/>
          </p:cNvCxnSpPr>
          <p:nvPr/>
        </p:nvCxnSpPr>
        <p:spPr>
          <a:xfrm>
            <a:off x="751071" y="4630661"/>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7D798DBD-5393-6131-8034-EC789105D05B}"/>
              </a:ext>
            </a:extLst>
          </p:cNvPr>
          <p:cNvSpPr txBox="1"/>
          <p:nvPr/>
        </p:nvSpPr>
        <p:spPr>
          <a:xfrm>
            <a:off x="983946" y="4526600"/>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53" name="直線矢印コネクタ 52">
            <a:extLst>
              <a:ext uri="{FF2B5EF4-FFF2-40B4-BE49-F238E27FC236}">
                <a16:creationId xmlns:a16="http://schemas.microsoft.com/office/drawing/2014/main" id="{527AED14-C910-4D3E-987F-EA62ABD18D90}"/>
              </a:ext>
            </a:extLst>
          </p:cNvPr>
          <p:cNvCxnSpPr>
            <a:cxnSpLocks/>
          </p:cNvCxnSpPr>
          <p:nvPr/>
        </p:nvCxnSpPr>
        <p:spPr>
          <a:xfrm>
            <a:off x="747965" y="4897406"/>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4" name="テキスト ボックス 53">
            <a:extLst>
              <a:ext uri="{FF2B5EF4-FFF2-40B4-BE49-F238E27FC236}">
                <a16:creationId xmlns:a16="http://schemas.microsoft.com/office/drawing/2014/main" id="{9644DD32-D05B-DE83-7791-37895274BDE9}"/>
              </a:ext>
            </a:extLst>
          </p:cNvPr>
          <p:cNvSpPr txBox="1"/>
          <p:nvPr/>
        </p:nvSpPr>
        <p:spPr>
          <a:xfrm>
            <a:off x="969834" y="4806108"/>
            <a:ext cx="1117086" cy="191105"/>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店内ポップ・チラシ</a:t>
            </a:r>
            <a:endParaRPr lang="ja-JP" altLang="en-US" sz="800" dirty="0">
              <a:solidFill>
                <a:schemeClr val="tx1">
                  <a:lumMod val="50000"/>
                  <a:lumOff val="50000"/>
                </a:schemeClr>
              </a:solidFill>
            </a:endParaRPr>
          </a:p>
        </p:txBody>
      </p:sp>
      <p:cxnSp>
        <p:nvCxnSpPr>
          <p:cNvPr id="55" name="直線矢印コネクタ 54">
            <a:extLst>
              <a:ext uri="{FF2B5EF4-FFF2-40B4-BE49-F238E27FC236}">
                <a16:creationId xmlns:a16="http://schemas.microsoft.com/office/drawing/2014/main" id="{D3D532EE-6712-DE63-E452-E8BEAA167260}"/>
              </a:ext>
            </a:extLst>
          </p:cNvPr>
          <p:cNvCxnSpPr>
            <a:cxnSpLocks/>
          </p:cNvCxnSpPr>
          <p:nvPr/>
        </p:nvCxnSpPr>
        <p:spPr>
          <a:xfrm>
            <a:off x="7259810" y="444458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6" name="テキスト ボックス 55">
            <a:extLst>
              <a:ext uri="{FF2B5EF4-FFF2-40B4-BE49-F238E27FC236}">
                <a16:creationId xmlns:a16="http://schemas.microsoft.com/office/drawing/2014/main" id="{DCDD6E46-B8C3-8536-41F9-F39EB73CBD24}"/>
              </a:ext>
            </a:extLst>
          </p:cNvPr>
          <p:cNvSpPr txBox="1"/>
          <p:nvPr/>
        </p:nvSpPr>
        <p:spPr>
          <a:xfrm>
            <a:off x="7740673" y="4310804"/>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1000" b="1" dirty="0">
              <a:solidFill>
                <a:schemeClr val="tx1">
                  <a:lumMod val="50000"/>
                  <a:lumOff val="50000"/>
                </a:schemeClr>
              </a:solidFill>
            </a:endParaRPr>
          </a:p>
        </p:txBody>
      </p:sp>
      <p:cxnSp>
        <p:nvCxnSpPr>
          <p:cNvPr id="57" name="直線矢印コネクタ 56">
            <a:extLst>
              <a:ext uri="{FF2B5EF4-FFF2-40B4-BE49-F238E27FC236}">
                <a16:creationId xmlns:a16="http://schemas.microsoft.com/office/drawing/2014/main" id="{B9C84515-E6C9-A256-421E-9C3EFEBBFF17}"/>
              </a:ext>
            </a:extLst>
          </p:cNvPr>
          <p:cNvCxnSpPr>
            <a:cxnSpLocks/>
          </p:cNvCxnSpPr>
          <p:nvPr/>
        </p:nvCxnSpPr>
        <p:spPr>
          <a:xfrm>
            <a:off x="7697737" y="549519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8" name="テキスト ボックス 57">
            <a:extLst>
              <a:ext uri="{FF2B5EF4-FFF2-40B4-BE49-F238E27FC236}">
                <a16:creationId xmlns:a16="http://schemas.microsoft.com/office/drawing/2014/main" id="{7E002B77-EFC0-55F3-D3E6-100837F9B195}"/>
              </a:ext>
            </a:extLst>
          </p:cNvPr>
          <p:cNvSpPr txBox="1"/>
          <p:nvPr/>
        </p:nvSpPr>
        <p:spPr>
          <a:xfrm>
            <a:off x="8178600" y="5361409"/>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1000" b="1" dirty="0">
              <a:solidFill>
                <a:schemeClr val="tx1">
                  <a:lumMod val="50000"/>
                  <a:lumOff val="50000"/>
                </a:schemeClr>
              </a:solidFill>
            </a:endParaRPr>
          </a:p>
        </p:txBody>
      </p:sp>
      <p:cxnSp>
        <p:nvCxnSpPr>
          <p:cNvPr id="67" name="直線矢印コネクタ 66">
            <a:extLst>
              <a:ext uri="{FF2B5EF4-FFF2-40B4-BE49-F238E27FC236}">
                <a16:creationId xmlns:a16="http://schemas.microsoft.com/office/drawing/2014/main" id="{03BD82C1-8BEC-3E49-C1DA-A1C214DB1C8C}"/>
              </a:ext>
            </a:extLst>
          </p:cNvPr>
          <p:cNvCxnSpPr>
            <a:cxnSpLocks/>
          </p:cNvCxnSpPr>
          <p:nvPr/>
        </p:nvCxnSpPr>
        <p:spPr>
          <a:xfrm>
            <a:off x="4519454" y="549372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1" name="テキスト ボックス 80">
            <a:extLst>
              <a:ext uri="{FF2B5EF4-FFF2-40B4-BE49-F238E27FC236}">
                <a16:creationId xmlns:a16="http://schemas.microsoft.com/office/drawing/2014/main" id="{919F797F-1B6A-876C-B468-E147B3D97E8A}"/>
              </a:ext>
            </a:extLst>
          </p:cNvPr>
          <p:cNvSpPr txBox="1"/>
          <p:nvPr/>
        </p:nvSpPr>
        <p:spPr>
          <a:xfrm>
            <a:off x="5267281" y="5359939"/>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ステップ配信</a:t>
            </a:r>
            <a:endParaRPr lang="ja-JP" altLang="en-US" sz="1000" b="1" dirty="0"/>
          </a:p>
        </p:txBody>
      </p:sp>
      <p:cxnSp>
        <p:nvCxnSpPr>
          <p:cNvPr id="86" name="直線矢印コネクタ 85">
            <a:extLst>
              <a:ext uri="{FF2B5EF4-FFF2-40B4-BE49-F238E27FC236}">
                <a16:creationId xmlns:a16="http://schemas.microsoft.com/office/drawing/2014/main" id="{C96E67E6-B364-7DED-CDB8-DDCEEFB96AD2}"/>
              </a:ext>
            </a:extLst>
          </p:cNvPr>
          <p:cNvCxnSpPr>
            <a:cxnSpLocks/>
          </p:cNvCxnSpPr>
          <p:nvPr/>
        </p:nvCxnSpPr>
        <p:spPr>
          <a:xfrm>
            <a:off x="4519295" y="576683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1" name="テキスト ボックス 90">
            <a:extLst>
              <a:ext uri="{FF2B5EF4-FFF2-40B4-BE49-F238E27FC236}">
                <a16:creationId xmlns:a16="http://schemas.microsoft.com/office/drawing/2014/main" id="{335DB4AB-DEFA-E356-751F-7106100F929E}"/>
              </a:ext>
            </a:extLst>
          </p:cNvPr>
          <p:cNvSpPr txBox="1"/>
          <p:nvPr/>
        </p:nvSpPr>
        <p:spPr>
          <a:xfrm>
            <a:off x="5267122" y="5633055"/>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企画配信</a:t>
            </a:r>
            <a:endParaRPr lang="ja-JP" altLang="en-US" sz="1000" b="1" dirty="0"/>
          </a:p>
        </p:txBody>
      </p:sp>
      <p:cxnSp>
        <p:nvCxnSpPr>
          <p:cNvPr id="100" name="直線矢印コネクタ 99">
            <a:extLst>
              <a:ext uri="{FF2B5EF4-FFF2-40B4-BE49-F238E27FC236}">
                <a16:creationId xmlns:a16="http://schemas.microsoft.com/office/drawing/2014/main" id="{7884810E-3E89-4CCB-C00C-B386A34717E4}"/>
              </a:ext>
            </a:extLst>
          </p:cNvPr>
          <p:cNvCxnSpPr>
            <a:cxnSpLocks/>
          </p:cNvCxnSpPr>
          <p:nvPr/>
        </p:nvCxnSpPr>
        <p:spPr>
          <a:xfrm>
            <a:off x="3798688" y="5981626"/>
            <a:ext cx="2464861"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1" name="テキスト ボックス 100">
            <a:extLst>
              <a:ext uri="{FF2B5EF4-FFF2-40B4-BE49-F238E27FC236}">
                <a16:creationId xmlns:a16="http://schemas.microsoft.com/office/drawing/2014/main" id="{6FD45AC0-2372-776F-6D16-846C0FB7AC64}"/>
              </a:ext>
            </a:extLst>
          </p:cNvPr>
          <p:cNvSpPr txBox="1"/>
          <p:nvPr/>
        </p:nvSpPr>
        <p:spPr>
          <a:xfrm>
            <a:off x="4258152" y="5863519"/>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アンケート回収</a:t>
            </a:r>
            <a:endParaRPr lang="ja-JP" altLang="en-US" sz="1000" b="1" dirty="0"/>
          </a:p>
        </p:txBody>
      </p:sp>
      <p:cxnSp>
        <p:nvCxnSpPr>
          <p:cNvPr id="102" name="直線矢印コネクタ 101">
            <a:extLst>
              <a:ext uri="{FF2B5EF4-FFF2-40B4-BE49-F238E27FC236}">
                <a16:creationId xmlns:a16="http://schemas.microsoft.com/office/drawing/2014/main" id="{5BF3558A-EBED-81EE-B158-28A7CA5D6693}"/>
              </a:ext>
            </a:extLst>
          </p:cNvPr>
          <p:cNvCxnSpPr>
            <a:cxnSpLocks/>
          </p:cNvCxnSpPr>
          <p:nvPr/>
        </p:nvCxnSpPr>
        <p:spPr>
          <a:xfrm>
            <a:off x="3797428" y="6223951"/>
            <a:ext cx="2452867"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0" name="テキスト ボックス 109">
            <a:extLst>
              <a:ext uri="{FF2B5EF4-FFF2-40B4-BE49-F238E27FC236}">
                <a16:creationId xmlns:a16="http://schemas.microsoft.com/office/drawing/2014/main" id="{001266CB-AC56-8914-0ACE-8B554DB19B76}"/>
              </a:ext>
            </a:extLst>
          </p:cNvPr>
          <p:cNvSpPr txBox="1"/>
          <p:nvPr/>
        </p:nvSpPr>
        <p:spPr>
          <a:xfrm>
            <a:off x="4273398" y="613356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スコアリング等</a:t>
            </a:r>
            <a:endParaRPr lang="ja-JP" altLang="en-US" sz="1000" b="1" dirty="0"/>
          </a:p>
        </p:txBody>
      </p:sp>
      <p:cxnSp>
        <p:nvCxnSpPr>
          <p:cNvPr id="111" name="直線矢印コネクタ 110">
            <a:extLst>
              <a:ext uri="{FF2B5EF4-FFF2-40B4-BE49-F238E27FC236}">
                <a16:creationId xmlns:a16="http://schemas.microsoft.com/office/drawing/2014/main" id="{1B403718-ABF2-11BC-1A05-A9E208B7C0F7}"/>
              </a:ext>
            </a:extLst>
          </p:cNvPr>
          <p:cNvCxnSpPr>
            <a:cxnSpLocks/>
          </p:cNvCxnSpPr>
          <p:nvPr/>
        </p:nvCxnSpPr>
        <p:spPr>
          <a:xfrm>
            <a:off x="7118366" y="598554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6" name="テキスト ボックス 115">
            <a:extLst>
              <a:ext uri="{FF2B5EF4-FFF2-40B4-BE49-F238E27FC236}">
                <a16:creationId xmlns:a16="http://schemas.microsoft.com/office/drawing/2014/main" id="{B9061E8E-8F76-24D8-6F4C-BBBCDEB37FE0}"/>
              </a:ext>
            </a:extLst>
          </p:cNvPr>
          <p:cNvSpPr txBox="1"/>
          <p:nvPr/>
        </p:nvSpPr>
        <p:spPr>
          <a:xfrm>
            <a:off x="7397140" y="5871116"/>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1000" b="1" dirty="0">
              <a:solidFill>
                <a:schemeClr val="tx1">
                  <a:lumMod val="50000"/>
                  <a:lumOff val="50000"/>
                </a:schemeClr>
              </a:solidFill>
            </a:endParaRPr>
          </a:p>
        </p:txBody>
      </p:sp>
      <p:cxnSp>
        <p:nvCxnSpPr>
          <p:cNvPr id="117" name="直線矢印コネクタ 116">
            <a:extLst>
              <a:ext uri="{FF2B5EF4-FFF2-40B4-BE49-F238E27FC236}">
                <a16:creationId xmlns:a16="http://schemas.microsoft.com/office/drawing/2014/main" id="{B31EBA12-BB45-627B-A1FD-F44E077537B1}"/>
              </a:ext>
            </a:extLst>
          </p:cNvPr>
          <p:cNvCxnSpPr>
            <a:cxnSpLocks/>
          </p:cNvCxnSpPr>
          <p:nvPr/>
        </p:nvCxnSpPr>
        <p:spPr>
          <a:xfrm>
            <a:off x="7048606" y="62430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8" name="テキスト ボックス 117">
            <a:extLst>
              <a:ext uri="{FF2B5EF4-FFF2-40B4-BE49-F238E27FC236}">
                <a16:creationId xmlns:a16="http://schemas.microsoft.com/office/drawing/2014/main" id="{B0C05E5D-44B4-DA5D-7C04-0BDC8A4602CE}"/>
              </a:ext>
            </a:extLst>
          </p:cNvPr>
          <p:cNvSpPr txBox="1"/>
          <p:nvPr/>
        </p:nvSpPr>
        <p:spPr>
          <a:xfrm>
            <a:off x="7336089" y="6137342"/>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1000" b="1" dirty="0">
              <a:solidFill>
                <a:schemeClr val="tx1">
                  <a:lumMod val="50000"/>
                  <a:lumOff val="50000"/>
                </a:schemeClr>
              </a:solidFill>
            </a:endParaRPr>
          </a:p>
        </p:txBody>
      </p:sp>
      <p:pic>
        <p:nvPicPr>
          <p:cNvPr id="119" name="図 118">
            <a:extLst>
              <a:ext uri="{FF2B5EF4-FFF2-40B4-BE49-F238E27FC236}">
                <a16:creationId xmlns:a16="http://schemas.microsoft.com/office/drawing/2014/main" id="{2F4B65BB-B8AA-5045-2074-C574F9423E61}"/>
              </a:ext>
            </a:extLst>
          </p:cNvPr>
          <p:cNvPicPr>
            <a:picLocks noChangeAspect="1"/>
          </p:cNvPicPr>
          <p:nvPr/>
        </p:nvPicPr>
        <p:blipFill>
          <a:blip r:embed="rId2" cstate="print">
            <a:extLst>
              <a:ext uri="{28A0092B-C50C-407E-A947-70E740481C1C}">
                <a14:useLocalDpi xmlns:a14="http://schemas.microsoft.com/office/drawing/2010/main" val="0"/>
              </a:ext>
            </a:extLst>
          </a:blip>
          <a:srcRect t="4981" b="4075"/>
          <a:stretch>
            <a:fillRect/>
          </a:stretch>
        </p:blipFill>
        <p:spPr>
          <a:xfrm>
            <a:off x="3005614" y="5048188"/>
            <a:ext cx="703970" cy="1385346"/>
          </a:xfrm>
          <a:prstGeom prst="rect">
            <a:avLst/>
          </a:prstGeom>
        </p:spPr>
      </p:pic>
      <p:sp>
        <p:nvSpPr>
          <p:cNvPr id="66" name="正方形/長方形 65">
            <a:extLst>
              <a:ext uri="{FF2B5EF4-FFF2-40B4-BE49-F238E27FC236}">
                <a16:creationId xmlns:a16="http://schemas.microsoft.com/office/drawing/2014/main" id="{D22C9FBF-7B93-079A-E87E-A4C967CD0194}"/>
              </a:ext>
            </a:extLst>
          </p:cNvPr>
          <p:cNvSpPr/>
          <p:nvPr/>
        </p:nvSpPr>
        <p:spPr>
          <a:xfrm>
            <a:off x="3908480" y="533637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89B35388-9C44-6C01-ACAA-2E691617E119}"/>
              </a:ext>
            </a:extLst>
          </p:cNvPr>
          <p:cNvSpPr txBox="1"/>
          <p:nvPr/>
        </p:nvSpPr>
        <p:spPr>
          <a:xfrm>
            <a:off x="5723341" y="630303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6762304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施策における重要ポイントについて</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Meiryo"/>
                <a:sym typeface="Meiryo"/>
              </a:rPr>
              <a:t>LINE</a:t>
            </a:r>
            <a:r>
              <a:rPr lang="ja-JP" altLang="en-US" sz="1400" dirty="0">
                <a:latin typeface="メイリオ" panose="020B0604030504040204" pitchFamily="50" charset="-128"/>
                <a:ea typeface="メイリオ" panose="020B0604030504040204" pitchFamily="50" charset="-128"/>
                <a:cs typeface="Meiryo"/>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Meiryo"/>
                <a:sym typeface="Meiryo"/>
              </a:rPr>
              <a:t>CV</a:t>
            </a:r>
            <a:r>
              <a:rPr lang="ja-JP" altLang="en-US" sz="1400" dirty="0">
                <a:latin typeface="メイリオ" panose="020B0604030504040204" pitchFamily="50" charset="-128"/>
                <a:ea typeface="メイリオ" panose="020B0604030504040204" pitchFamily="50" charset="-128"/>
                <a:cs typeface="Meiryo"/>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Meiryo"/>
              <a:sym typeface="Meiryo"/>
            </a:endParaRPr>
          </a:p>
          <a:p>
            <a:pPr lvl="0" algn="ctr"/>
            <a:r>
              <a:rPr lang="ja-JP" altLang="en-US" sz="1400" dirty="0">
                <a:latin typeface="メイリオ" panose="020B0604030504040204" pitchFamily="50" charset="-128"/>
                <a:ea typeface="メイリオ" panose="020B0604030504040204" pitchFamily="50" charset="-128"/>
                <a:cs typeface="Meiryo"/>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Meiryo"/>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endParaRPr kumimoji="1" lang="ja-JP" altLang="en-US" sz="1050" b="1" dirty="0">
              <a:solidFill>
                <a:schemeClr val="bg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FF0000"/>
                </a:solidFill>
                <a:latin typeface="メイリオ" panose="020B0604030504040204" pitchFamily="50" charset="-128"/>
                <a:ea typeface="メイリオ" panose="020B0604030504040204" pitchFamily="50" charset="-128"/>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rPr>
              <a:t>（</a:t>
            </a:r>
            <a:r>
              <a:rPr kumimoji="1" lang="en-US" altLang="ja-JP" sz="1100" dirty="0">
                <a:solidFill>
                  <a:schemeClr val="tx2"/>
                </a:solidFill>
                <a:latin typeface="メイリオ" panose="020B0604030504040204" pitchFamily="50" charset="-128"/>
                <a:ea typeface="メイリオ" panose="020B0604030504040204" pitchFamily="50" charset="-128"/>
              </a:rPr>
              <a:t>LINE</a:t>
            </a:r>
            <a:r>
              <a:rPr kumimoji="1" lang="ja-JP" altLang="en-US" sz="1100" dirty="0">
                <a:solidFill>
                  <a:schemeClr val="tx2"/>
                </a:solidFill>
                <a:latin typeface="メイリオ" panose="020B0604030504040204" pitchFamily="50" charset="-128"/>
                <a:ea typeface="メイリオ" panose="020B0604030504040204" pitchFamily="50" charset="-128"/>
              </a:rPr>
              <a:t>施策内</a:t>
            </a:r>
            <a:r>
              <a:rPr lang="ja-JP" altLang="en-US" sz="1100" dirty="0">
                <a:solidFill>
                  <a:schemeClr val="tx2"/>
                </a:solidFill>
                <a:latin typeface="メイリオ" panose="020B0604030504040204" pitchFamily="50" charset="-128"/>
                <a:ea typeface="メイリオ" panose="020B0604030504040204" pitchFamily="50" charset="-128"/>
              </a:rPr>
              <a:t>）</a:t>
            </a:r>
            <a:endParaRPr kumimoji="1" lang="ja-JP" altLang="en-US" sz="1100" dirty="0">
              <a:solidFill>
                <a:schemeClr val="tx2"/>
              </a:solidFill>
              <a:latin typeface="メイリオ" panose="020B0604030504040204" pitchFamily="50" charset="-128"/>
              <a:ea typeface="メイリオ" panose="020B0604030504040204" pitchFamily="50" charset="-128"/>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rPr>
              <a:t>アクティブ数</a:t>
            </a:r>
            <a:endParaRPr kumimoji="1" lang="en-US" altLang="ja-JP" sz="1000" b="1" dirty="0">
              <a:latin typeface="メイリオ" panose="020B0604030504040204" pitchFamily="50" charset="-128"/>
              <a:ea typeface="メイリオ" panose="020B0604030504040204" pitchFamily="50" charset="-128"/>
            </a:endParaRPr>
          </a:p>
          <a:p>
            <a:pPr algn="ctr"/>
            <a:r>
              <a:rPr kumimoji="1" lang="ja-JP" altLang="en-US" sz="800" dirty="0">
                <a:latin typeface="メイリオ" panose="020B0604030504040204" pitchFamily="50" charset="-128"/>
                <a:ea typeface="メイリオ" panose="020B0604030504040204" pitchFamily="50" charset="-128"/>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rPr>
              <a:t>セグメント率</a:t>
            </a:r>
            <a:endParaRPr kumimoji="1" lang="en-US" altLang="ja-JP" sz="1000" b="1" dirty="0">
              <a:latin typeface="メイリオ" panose="020B0604030504040204" pitchFamily="50" charset="-128"/>
              <a:ea typeface="メイリオ" panose="020B0604030504040204" pitchFamily="50" charset="-128"/>
            </a:endParaRPr>
          </a:p>
          <a:p>
            <a:pPr algn="ctr"/>
            <a:r>
              <a:rPr lang="en-US" altLang="ja-JP" sz="1000" dirty="0">
                <a:latin typeface="メイリオ" panose="020B0604030504040204" pitchFamily="50" charset="-128"/>
                <a:ea typeface="メイリオ" panose="020B0604030504040204" pitchFamily="50" charset="-128"/>
              </a:rPr>
              <a:t>or</a:t>
            </a:r>
          </a:p>
          <a:p>
            <a:pPr algn="ctr"/>
            <a:r>
              <a:rPr kumimoji="1" lang="ja-JP" altLang="en-US" sz="1000" b="1" dirty="0">
                <a:latin typeface="メイリオ" panose="020B0604030504040204" pitchFamily="50" charset="-128"/>
                <a:ea typeface="メイリオ" panose="020B0604030504040204" pitchFamily="50" charset="-128"/>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FF0000"/>
                </a:solidFill>
                <a:latin typeface="メイリオ" panose="020B0604030504040204" pitchFamily="50" charset="-128"/>
                <a:ea typeface="メイリオ" panose="020B0604030504040204" pitchFamily="50" charset="-128"/>
              </a:rPr>
              <a:t>85 </a:t>
            </a:r>
            <a:r>
              <a:rPr lang="en-US" altLang="ja-JP" sz="1400" b="1" dirty="0">
                <a:solidFill>
                  <a:srgbClr val="FF0000"/>
                </a:solidFill>
                <a:latin typeface="メイリオ" panose="020B0604030504040204" pitchFamily="50" charset="-128"/>
                <a:ea typeface="メイリオ" panose="020B0604030504040204" pitchFamily="50" charset="-128"/>
              </a:rPr>
              <a:t>%</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FF0000"/>
                </a:solidFill>
                <a:latin typeface="メイリオ" panose="020B0604030504040204" pitchFamily="50" charset="-128"/>
                <a:ea typeface="メイリオ" panose="020B0604030504040204" pitchFamily="50" charset="-128"/>
              </a:rPr>
              <a:t>12.5 </a:t>
            </a:r>
            <a:r>
              <a:rPr lang="en-US" altLang="ja-JP" sz="1400" b="1" dirty="0">
                <a:solidFill>
                  <a:srgbClr val="FF0000"/>
                </a:solidFill>
                <a:latin typeface="メイリオ" panose="020B0604030504040204" pitchFamily="50" charset="-128"/>
                <a:ea typeface="メイリオ" panose="020B0604030504040204" pitchFamily="50" charset="-128"/>
              </a:rPr>
              <a:t>%</a:t>
            </a:r>
            <a:endParaRPr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FF0000"/>
                </a:solidFill>
                <a:latin typeface="メイリオ" panose="020B0604030504040204" pitchFamily="50" charset="-128"/>
                <a:ea typeface="メイリオ" panose="020B0604030504040204" pitchFamily="50" charset="-128"/>
              </a:rPr>
              <a:t>0.5</a:t>
            </a:r>
            <a:r>
              <a:rPr kumimoji="1" lang="en-US" altLang="ja-JP" sz="1400" b="1" dirty="0">
                <a:solidFill>
                  <a:srgbClr val="FF0000"/>
                </a:solidFill>
                <a:latin typeface="メイリオ" panose="020B0604030504040204" pitchFamily="50" charset="-128"/>
                <a:ea typeface="メイリオ" panose="020B0604030504040204" pitchFamily="50" charset="-128"/>
              </a:rPr>
              <a:t> %</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rPr>
              <a:t>70 %</a:t>
            </a:r>
            <a:endParaRPr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rPr>
              <a:t>8.25 %</a:t>
            </a:r>
            <a:endParaRPr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rPr>
              <a:t>0.3 %</a:t>
            </a:r>
            <a:endParaRPr kumimoji="1"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C000"/>
                </a:solidFill>
                <a:latin typeface="メイリオ" panose="020B0604030504040204" pitchFamily="50" charset="-128"/>
                <a:ea typeface="メイリオ" panose="020B0604030504040204" pitchFamily="50" charset="-128"/>
              </a:rPr>
              <a:t>DYM</a:t>
            </a:r>
            <a:r>
              <a:rPr kumimoji="1" lang="ja-JP" altLang="en-US" sz="1200" b="1" dirty="0">
                <a:solidFill>
                  <a:srgbClr val="FFC000"/>
                </a:solidFill>
                <a:latin typeface="メイリオ" panose="020B0604030504040204" pitchFamily="50" charset="-128"/>
                <a:ea typeface="メイリオ" panose="020B0604030504040204" pitchFamily="50" charset="-128"/>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rPr>
              <a:t>業界平均</a:t>
            </a:r>
            <a:endParaRPr lang="en-US" altLang="ja-JP" sz="1200" b="1" dirty="0">
              <a:solidFill>
                <a:schemeClr val="bg1"/>
              </a:solidFill>
              <a:latin typeface="メイリオ" panose="020B0604030504040204" pitchFamily="50" charset="-128"/>
              <a:ea typeface="メイリオ" panose="020B0604030504040204" pitchFamily="50" charset="-128"/>
            </a:endParaRPr>
          </a:p>
          <a:p>
            <a:pPr algn="ctr"/>
            <a:r>
              <a:rPr lang="en-US" altLang="ja-JP" sz="800" b="1" dirty="0">
                <a:solidFill>
                  <a:schemeClr val="bg1"/>
                </a:solidFill>
                <a:latin typeface="メイリオ" panose="020B0604030504040204" pitchFamily="50" charset="-128"/>
                <a:ea typeface="メイリオ" panose="020B0604030504040204" pitchFamily="50" charset="-128"/>
              </a:rPr>
              <a:t>(LINE</a:t>
            </a:r>
            <a:r>
              <a:rPr lang="ja-JP" altLang="en-US" sz="800" b="1" dirty="0">
                <a:solidFill>
                  <a:schemeClr val="bg1"/>
                </a:solidFill>
                <a:latin typeface="メイリオ" panose="020B0604030504040204" pitchFamily="50" charset="-128"/>
                <a:ea typeface="メイリオ" panose="020B0604030504040204" pitchFamily="50" charset="-128"/>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C000"/>
                </a:solidFill>
                <a:latin typeface="メイリオ" panose="020B0604030504040204" pitchFamily="50" charset="-128"/>
                <a:ea typeface="メイリオ" panose="020B0604030504040204" pitchFamily="50" charset="-128"/>
              </a:rPr>
              <a:t>施策の流れ</a:t>
            </a:r>
          </a:p>
        </p:txBody>
      </p:sp>
    </p:spTree>
    <p:extLst>
      <p:ext uri="{BB962C8B-B14F-4D97-AF65-F5344CB8AC3E}">
        <p14:creationId xmlns:p14="http://schemas.microsoft.com/office/powerpoint/2010/main" val="8313163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施策の詳細（配信の効率化）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Meiryo"/>
                <a:ea typeface="Meiryo"/>
                <a:cs typeface="Meiryo"/>
                <a:sym typeface="Meiryo"/>
              </a:rPr>
              <a:t>LINE</a:t>
            </a:r>
            <a:r>
              <a:rPr lang="ja-JP" altLang="en-US" sz="1600" b="1" dirty="0">
                <a:solidFill>
                  <a:schemeClr val="tx1">
                    <a:lumMod val="50000"/>
                    <a:lumOff val="50000"/>
                  </a:schemeClr>
                </a:solidFill>
                <a:latin typeface="Meiryo"/>
                <a:ea typeface="Meiryo"/>
                <a:cs typeface="Meiryo"/>
                <a:sym typeface="Meiryo"/>
              </a:rPr>
              <a:t>施策における重要な考え方</a:t>
            </a:r>
            <a:endParaRPr lang="en-US" altLang="ja-JP" sz="1600" b="1" dirty="0">
              <a:solidFill>
                <a:schemeClr val="tx1">
                  <a:lumMod val="50000"/>
                  <a:lumOff val="50000"/>
                </a:schemeClr>
              </a:solidFill>
              <a:latin typeface="Meiryo"/>
              <a:ea typeface="Meiryo"/>
              <a:cs typeface="Meiryo"/>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アカウント効果を</a:t>
            </a:r>
            <a:r>
              <a:rPr lang="ja-JP" altLang="en-US" sz="2400" b="1" dirty="0">
                <a:latin typeface="メイリオ" panose="020B0604030504040204" pitchFamily="50" charset="-128"/>
                <a:ea typeface="メイリオ" panose="020B0604030504040204" pitchFamily="50" charset="-128"/>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業態平均で</a:t>
            </a:r>
            <a:r>
              <a:rPr lang="ja-JP" altLang="en-US" sz="1400" b="1" dirty="0">
                <a:solidFill>
                  <a:srgbClr val="FF0000"/>
                </a:solidFill>
                <a:latin typeface="メイリオ" panose="020B0604030504040204" pitchFamily="50" charset="-128"/>
                <a:ea typeface="メイリオ" panose="020B0604030504040204" pitchFamily="50" charset="-128"/>
              </a:rPr>
              <a:t>最大３</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のユーザーは有効化</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マネタイズ可能</a:t>
            </a:r>
            <a:r>
              <a:rPr lang="ja-JP" altLang="en-US" sz="1400" dirty="0">
                <a:solidFill>
                  <a:srgbClr val="343434"/>
                </a:solidFill>
                <a:latin typeface="メイリオ" panose="020B0604030504040204" pitchFamily="50" charset="-128"/>
                <a:ea typeface="メイリオ" panose="020B0604030504040204" pitchFamily="50" charset="-128"/>
              </a:rPr>
              <a:t> とされている。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rPr>
              <a:t>LINE</a:t>
            </a:r>
            <a:r>
              <a:rPr lang="ja-JP" altLang="en-US" sz="1400" dirty="0">
                <a:solidFill>
                  <a:srgbClr val="343434"/>
                </a:solidFill>
                <a:latin typeface="メイリオ" panose="020B0604030504040204" pitchFamily="50" charset="-128"/>
                <a:ea typeface="メイリオ" panose="020B0604030504040204" pitchFamily="50" charset="-128"/>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FF0000"/>
                </a:solidFill>
                <a:latin typeface="メイリオ" panose="020B0604030504040204" pitchFamily="50" charset="-128"/>
                <a:ea typeface="メイリオ" panose="020B0604030504040204" pitchFamily="50" charset="-128"/>
              </a:rPr>
              <a:t>CV</a:t>
            </a:r>
            <a:r>
              <a:rPr kumimoji="1" lang="ja-JP" altLang="en-US" sz="1100" b="1" dirty="0">
                <a:solidFill>
                  <a:srgbClr val="FF0000"/>
                </a:solidFill>
                <a:latin typeface="メイリオ" panose="020B0604030504040204" pitchFamily="50" charset="-128"/>
                <a:ea typeface="メイリオ" panose="020B0604030504040204" pitchFamily="50" charset="-128"/>
              </a:rPr>
              <a:t>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FF0000"/>
                </a:solidFill>
                <a:latin typeface="メイリオ" panose="020B0604030504040204" pitchFamily="50" charset="-128"/>
                <a:ea typeface="メイリオ" panose="020B0604030504040204" pitchFamily="50" charset="-128"/>
              </a:rPr>
              <a:t>※</a:t>
            </a:r>
            <a:r>
              <a:rPr lang="ja-JP" altLang="en-US" sz="1000" dirty="0">
                <a:solidFill>
                  <a:srgbClr val="FF0000"/>
                </a:solidFill>
                <a:latin typeface="メイリオ" panose="020B0604030504040204" pitchFamily="50" charset="-128"/>
                <a:ea typeface="メイリオ" panose="020B0604030504040204" pitchFamily="50" charset="-128"/>
              </a:rPr>
              <a:t>平均値</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FF0000"/>
                </a:solidFill>
                <a:latin typeface="メイリオ" panose="020B0604030504040204" pitchFamily="50" charset="-128"/>
                <a:ea typeface="メイリオ" panose="020B0604030504040204" pitchFamily="50" charset="-128"/>
              </a:rPr>
              <a:t>３</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1.5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110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68898-91A3-9BC1-3966-7771C36E7509}"/>
            </a:ext>
          </a:extLst>
        </p:cNvPr>
        <p:cNvGrpSpPr/>
        <p:nvPr/>
      </p:nvGrpSpPr>
      <p:grpSpPr>
        <a:xfrm>
          <a:off x="0" y="0"/>
          <a:ext cx="0" cy="0"/>
          <a:chOff x="0" y="0"/>
          <a:chExt cx="0" cy="0"/>
        </a:xfrm>
      </p:grpSpPr>
      <p:sp>
        <p:nvSpPr>
          <p:cNvPr id="3" name="Google Shape;752;p28">
            <a:extLst>
              <a:ext uri="{FF2B5EF4-FFF2-40B4-BE49-F238E27FC236}">
                <a16:creationId xmlns:a16="http://schemas.microsoft.com/office/drawing/2014/main" id="{2ECE7535-75B5-FD71-5DE8-AB1B855FFEDC}"/>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公式アカウントにおける対策領域について</a:t>
            </a:r>
          </a:p>
        </p:txBody>
      </p:sp>
      <p:sp>
        <p:nvSpPr>
          <p:cNvPr id="4" name="正方形/長方形 3">
            <a:extLst>
              <a:ext uri="{FF2B5EF4-FFF2-40B4-BE49-F238E27FC236}">
                <a16:creationId xmlns:a16="http://schemas.microsoft.com/office/drawing/2014/main" id="{91D529F5-1969-8F22-8508-5967D82F7783}"/>
              </a:ext>
            </a:extLst>
          </p:cNvPr>
          <p:cNvSpPr/>
          <p:nvPr/>
        </p:nvSpPr>
        <p:spPr>
          <a:xfrm>
            <a:off x="379908" y="1835393"/>
            <a:ext cx="9190811" cy="216252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0D32EA92-3996-F5BA-08AE-72B08F79535C}"/>
              </a:ext>
            </a:extLst>
          </p:cNvPr>
          <p:cNvSpPr/>
          <p:nvPr/>
        </p:nvSpPr>
        <p:spPr>
          <a:xfrm>
            <a:off x="379908" y="4397170"/>
            <a:ext cx="9190811" cy="2022499"/>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C7E38EC2-DE76-A5FE-A6B8-3B48F7BD7B46}"/>
              </a:ext>
            </a:extLst>
          </p:cNvPr>
          <p:cNvSpPr txBox="1"/>
          <p:nvPr/>
        </p:nvSpPr>
        <p:spPr>
          <a:xfrm>
            <a:off x="379908" y="1527022"/>
            <a:ext cx="4963884" cy="307777"/>
          </a:xfrm>
          <a:prstGeom prst="rect">
            <a:avLst/>
          </a:prstGeom>
          <a:noFill/>
        </p:spPr>
        <p:txBody>
          <a:bodyPr wrap="square">
            <a:spAutoFit/>
          </a:body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対新規ユーザー領域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9" name="テキスト ボックス 8">
            <a:extLst>
              <a:ext uri="{FF2B5EF4-FFF2-40B4-BE49-F238E27FC236}">
                <a16:creationId xmlns:a16="http://schemas.microsoft.com/office/drawing/2014/main" id="{315E4FD7-BF96-305B-4DFF-0204D305BAAE}"/>
              </a:ext>
            </a:extLst>
          </p:cNvPr>
          <p:cNvSpPr txBox="1"/>
          <p:nvPr/>
        </p:nvSpPr>
        <p:spPr>
          <a:xfrm>
            <a:off x="379908" y="4089393"/>
            <a:ext cx="4963884" cy="307777"/>
          </a:xfrm>
          <a:prstGeom prst="rect">
            <a:avLst/>
          </a:prstGeom>
          <a:noFill/>
        </p:spPr>
        <p:txBody>
          <a:bodyPr wrap="square">
            <a:spAutoFit/>
          </a:body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対既存ユーザー</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顧客</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12" name="正方形/長方形 11">
            <a:extLst>
              <a:ext uri="{FF2B5EF4-FFF2-40B4-BE49-F238E27FC236}">
                <a16:creationId xmlns:a16="http://schemas.microsoft.com/office/drawing/2014/main" id="{72450FBF-2EA8-4582-869E-9B2A7C4946D7}"/>
              </a:ext>
            </a:extLst>
          </p:cNvPr>
          <p:cNvSpPr/>
          <p:nvPr/>
        </p:nvSpPr>
        <p:spPr>
          <a:xfrm>
            <a:off x="548883" y="2060461"/>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HP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6891C2D7-8AEF-98E4-337B-283DC4374AFC}"/>
              </a:ext>
            </a:extLst>
          </p:cNvPr>
          <p:cNvSpPr/>
          <p:nvPr/>
        </p:nvSpPr>
        <p:spPr>
          <a:xfrm>
            <a:off x="548883" y="2322497"/>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4" name="正方形/長方形 13">
            <a:extLst>
              <a:ext uri="{FF2B5EF4-FFF2-40B4-BE49-F238E27FC236}">
                <a16:creationId xmlns:a16="http://schemas.microsoft.com/office/drawing/2014/main" id="{3670DE23-5EB2-C1E6-9ED3-6176C87DDEA9}"/>
              </a:ext>
            </a:extLst>
          </p:cNvPr>
          <p:cNvSpPr/>
          <p:nvPr/>
        </p:nvSpPr>
        <p:spPr>
          <a:xfrm>
            <a:off x="548883" y="2659935"/>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a:t>
            </a:r>
            <a:r>
              <a:rPr kumimoji="1" lang="en-US" altLang="ja-JP" sz="1000" b="1" dirty="0">
                <a:solidFill>
                  <a:schemeClr val="bg1"/>
                </a:solidFill>
                <a:latin typeface="メイリオ" panose="020B0604030504040204" pitchFamily="50" charset="-128"/>
                <a:ea typeface="メイリオ" panose="020B0604030504040204" pitchFamily="50" charset="-128"/>
              </a:rPr>
              <a:t>SNS</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6" name="正方形/長方形 15">
            <a:extLst>
              <a:ext uri="{FF2B5EF4-FFF2-40B4-BE49-F238E27FC236}">
                <a16:creationId xmlns:a16="http://schemas.microsoft.com/office/drawing/2014/main" id="{98C708B2-F546-DE85-AA3B-2C7B33013111}"/>
              </a:ext>
            </a:extLst>
          </p:cNvPr>
          <p:cNvSpPr/>
          <p:nvPr/>
        </p:nvSpPr>
        <p:spPr>
          <a:xfrm>
            <a:off x="548883" y="2997373"/>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既存ユーザーリスト</a:t>
            </a:r>
          </a:p>
        </p:txBody>
      </p:sp>
      <p:sp>
        <p:nvSpPr>
          <p:cNvPr id="17" name="正方形/長方形 16">
            <a:extLst>
              <a:ext uri="{FF2B5EF4-FFF2-40B4-BE49-F238E27FC236}">
                <a16:creationId xmlns:a16="http://schemas.microsoft.com/office/drawing/2014/main" id="{812C768D-D601-2E13-45FD-BFE5BA587BC6}"/>
              </a:ext>
            </a:extLst>
          </p:cNvPr>
          <p:cNvSpPr/>
          <p:nvPr/>
        </p:nvSpPr>
        <p:spPr>
          <a:xfrm>
            <a:off x="548883" y="3672249"/>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LINE_CPF</a:t>
            </a:r>
            <a:r>
              <a:rPr kumimoji="1" lang="ja-JP" altLang="en-US" sz="1000" b="1" dirty="0">
                <a:solidFill>
                  <a:schemeClr val="bg1"/>
                </a:solidFill>
                <a:latin typeface="メイリオ" panose="020B0604030504040204" pitchFamily="50" charset="-128"/>
                <a:ea typeface="メイリオ" panose="020B0604030504040204" pitchFamily="50" charset="-128"/>
              </a:rPr>
              <a:t>やその他</a:t>
            </a:r>
          </a:p>
        </p:txBody>
      </p:sp>
      <p:sp>
        <p:nvSpPr>
          <p:cNvPr id="18" name="正方形/長方形 17">
            <a:extLst>
              <a:ext uri="{FF2B5EF4-FFF2-40B4-BE49-F238E27FC236}">
                <a16:creationId xmlns:a16="http://schemas.microsoft.com/office/drawing/2014/main" id="{13127993-BF51-568A-20FB-A9FB1DB6C913}"/>
              </a:ext>
            </a:extLst>
          </p:cNvPr>
          <p:cNvSpPr/>
          <p:nvPr/>
        </p:nvSpPr>
        <p:spPr>
          <a:xfrm>
            <a:off x="8170812" y="2408570"/>
            <a:ext cx="1355280" cy="243944"/>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2E81D74A-E79F-C90A-80AF-4F6BDF853777}"/>
              </a:ext>
            </a:extLst>
          </p:cNvPr>
          <p:cNvSpPr/>
          <p:nvPr/>
        </p:nvSpPr>
        <p:spPr>
          <a:xfrm>
            <a:off x="548883" y="3334811"/>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オフライン施策（ポップ、チラシ）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45" name="正方形/長方形 44">
            <a:extLst>
              <a:ext uri="{FF2B5EF4-FFF2-40B4-BE49-F238E27FC236}">
                <a16:creationId xmlns:a16="http://schemas.microsoft.com/office/drawing/2014/main" id="{346217DB-3E59-DD17-6353-BB21863AB6A4}"/>
              </a:ext>
            </a:extLst>
          </p:cNvPr>
          <p:cNvSpPr/>
          <p:nvPr/>
        </p:nvSpPr>
        <p:spPr>
          <a:xfrm>
            <a:off x="1950234" y="2999032"/>
            <a:ext cx="1543806"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メルマガ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47" name="正方形/長方形 46">
            <a:extLst>
              <a:ext uri="{FF2B5EF4-FFF2-40B4-BE49-F238E27FC236}">
                <a16:creationId xmlns:a16="http://schemas.microsoft.com/office/drawing/2014/main" id="{85B73343-1515-8075-50D7-828D2C7D0482}"/>
              </a:ext>
            </a:extLst>
          </p:cNvPr>
          <p:cNvSpPr/>
          <p:nvPr/>
        </p:nvSpPr>
        <p:spPr>
          <a:xfrm>
            <a:off x="1939622" y="2149679"/>
            <a:ext cx="1543806" cy="295172"/>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離脱防止バナー</a:t>
            </a:r>
            <a:r>
              <a:rPr lang="en-US" altLang="ja-JP" sz="1000" b="1" dirty="0">
                <a:solidFill>
                  <a:schemeClr val="bg1"/>
                </a:solidFill>
                <a:latin typeface="メイリオ" panose="020B0604030504040204" pitchFamily="50" charset="-128"/>
                <a:ea typeface="メイリオ" panose="020B0604030504040204" pitchFamily="50" charset="-128"/>
              </a:rPr>
              <a:t>)</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52" name="コネクタ: カギ線 51">
            <a:extLst>
              <a:ext uri="{FF2B5EF4-FFF2-40B4-BE49-F238E27FC236}">
                <a16:creationId xmlns:a16="http://schemas.microsoft.com/office/drawing/2014/main" id="{10A164B9-404C-F131-0FB7-4A7EC00628C8}"/>
              </a:ext>
            </a:extLst>
          </p:cNvPr>
          <p:cNvCxnSpPr>
            <a:cxnSpLocks/>
            <a:stCxn id="14" idx="3"/>
          </p:cNvCxnSpPr>
          <p:nvPr/>
        </p:nvCxnSpPr>
        <p:spPr>
          <a:xfrm flipV="1">
            <a:off x="1904163" y="2540793"/>
            <a:ext cx="1898060" cy="241114"/>
          </a:xfrm>
          <a:prstGeom prst="bentConnector3">
            <a:avLst>
              <a:gd name="adj1" fmla="val 88139"/>
            </a:avLst>
          </a:prstGeom>
          <a:ln>
            <a:solidFill>
              <a:schemeClr val="bg1">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0" name="正方形/長方形 79">
            <a:extLst>
              <a:ext uri="{FF2B5EF4-FFF2-40B4-BE49-F238E27FC236}">
                <a16:creationId xmlns:a16="http://schemas.microsoft.com/office/drawing/2014/main" id="{AB39E10C-FA5C-42F3-51FF-A98C96D3A9FE}"/>
              </a:ext>
            </a:extLst>
          </p:cNvPr>
          <p:cNvSpPr/>
          <p:nvPr/>
        </p:nvSpPr>
        <p:spPr>
          <a:xfrm>
            <a:off x="8170812" y="2124073"/>
            <a:ext cx="1355280" cy="243944"/>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営業トスアップ</a:t>
            </a:r>
          </a:p>
        </p:txBody>
      </p:sp>
      <p:sp>
        <p:nvSpPr>
          <p:cNvPr id="130" name="正方形/長方形 129">
            <a:extLst>
              <a:ext uri="{FF2B5EF4-FFF2-40B4-BE49-F238E27FC236}">
                <a16:creationId xmlns:a16="http://schemas.microsoft.com/office/drawing/2014/main" id="{68999E51-25BF-ABC0-E768-EB439414D6AA}"/>
              </a:ext>
            </a:extLst>
          </p:cNvPr>
          <p:cNvSpPr/>
          <p:nvPr/>
        </p:nvSpPr>
        <p:spPr>
          <a:xfrm>
            <a:off x="486784" y="713253"/>
            <a:ext cx="9005456" cy="653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chemeClr val="tx1"/>
                </a:solidFill>
                <a:latin typeface="メイリオ" panose="020B0604030504040204" pitchFamily="50" charset="-128"/>
                <a:ea typeface="メイリオ" panose="020B0604030504040204" pitchFamily="50" charset="-128"/>
              </a:rPr>
              <a:t>離脱リード→新規で引上げ、顧客リード→効率化及びリピート化 等、</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en-US" altLang="ja-JP" sz="1400" dirty="0">
                <a:solidFill>
                  <a:schemeClr val="tx1"/>
                </a:solidFill>
                <a:latin typeface="メイリオ" panose="020B0604030504040204" pitchFamily="50" charset="-128"/>
                <a:ea typeface="メイリオ" panose="020B0604030504040204" pitchFamily="50" charset="-128"/>
              </a:rPr>
              <a:t>LINE</a:t>
            </a:r>
            <a:r>
              <a:rPr lang="ja-JP" altLang="en-US" sz="1400" dirty="0">
                <a:solidFill>
                  <a:schemeClr val="tx1"/>
                </a:solidFill>
                <a:latin typeface="メイリオ" panose="020B0604030504040204" pitchFamily="50" charset="-128"/>
                <a:ea typeface="メイリオ" panose="020B0604030504040204" pitchFamily="50" charset="-128"/>
              </a:rPr>
              <a:t>公式アカウントで対策できるポイントが非常に多く、課題に応じた施策展開が可能。</a:t>
            </a:r>
            <a:endParaRPr lang="ja-JP" altLang="en-US" sz="1400" dirty="0">
              <a:solidFill>
                <a:srgbClr val="FF0000"/>
              </a:solidFill>
              <a:latin typeface="メイリオ" panose="020B0604030504040204" pitchFamily="50" charset="-128"/>
              <a:ea typeface="メイリオ" panose="020B0604030504040204" pitchFamily="50" charset="-128"/>
            </a:endParaRPr>
          </a:p>
        </p:txBody>
      </p:sp>
      <p:sp>
        <p:nvSpPr>
          <p:cNvPr id="133" name="正方形/長方形 132">
            <a:extLst>
              <a:ext uri="{FF2B5EF4-FFF2-40B4-BE49-F238E27FC236}">
                <a16:creationId xmlns:a16="http://schemas.microsoft.com/office/drawing/2014/main" id="{EF3EB03D-B886-80C5-4DDF-AD318BB1E8CB}"/>
              </a:ext>
            </a:extLst>
          </p:cNvPr>
          <p:cNvSpPr/>
          <p:nvPr/>
        </p:nvSpPr>
        <p:spPr>
          <a:xfrm>
            <a:off x="6444618" y="4938641"/>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GA</a:t>
            </a:r>
            <a:r>
              <a:rPr kumimoji="1" lang="ja-JP" altLang="en-US" sz="1000" dirty="0">
                <a:solidFill>
                  <a:schemeClr val="bg1"/>
                </a:solidFill>
                <a:latin typeface="メイリオ" panose="020B0604030504040204" pitchFamily="50" charset="-128"/>
                <a:ea typeface="メイリオ" panose="020B0604030504040204" pitchFamily="50" charset="-128"/>
              </a:rPr>
              <a:t>レポーティング対応</a:t>
            </a:r>
          </a:p>
        </p:txBody>
      </p:sp>
      <p:sp>
        <p:nvSpPr>
          <p:cNvPr id="134" name="正方形/長方形 133">
            <a:extLst>
              <a:ext uri="{FF2B5EF4-FFF2-40B4-BE49-F238E27FC236}">
                <a16:creationId xmlns:a16="http://schemas.microsoft.com/office/drawing/2014/main" id="{8185B158-D6FD-FC9A-D842-E0184FC04A2F}"/>
              </a:ext>
            </a:extLst>
          </p:cNvPr>
          <p:cNvSpPr/>
          <p:nvPr/>
        </p:nvSpPr>
        <p:spPr>
          <a:xfrm>
            <a:off x="6444618" y="5207075"/>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投稿スケジュール確認</a:t>
            </a:r>
            <a:endParaRPr kumimoji="1"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35" name="正方形/長方形 134">
            <a:extLst>
              <a:ext uri="{FF2B5EF4-FFF2-40B4-BE49-F238E27FC236}">
                <a16:creationId xmlns:a16="http://schemas.microsoft.com/office/drawing/2014/main" id="{CAF16DCF-7CE0-97CD-A1FD-09B08149FF7B}"/>
              </a:ext>
            </a:extLst>
          </p:cNvPr>
          <p:cNvSpPr/>
          <p:nvPr/>
        </p:nvSpPr>
        <p:spPr>
          <a:xfrm>
            <a:off x="6444617" y="5743943"/>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Call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136" name="正方形/長方形 135">
            <a:extLst>
              <a:ext uri="{FF2B5EF4-FFF2-40B4-BE49-F238E27FC236}">
                <a16:creationId xmlns:a16="http://schemas.microsoft.com/office/drawing/2014/main" id="{DE164E19-C9CA-ADE8-FE9B-4A4096DD13BE}"/>
              </a:ext>
            </a:extLst>
          </p:cNvPr>
          <p:cNvSpPr/>
          <p:nvPr/>
        </p:nvSpPr>
        <p:spPr>
          <a:xfrm>
            <a:off x="6444617" y="5475509"/>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Chat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137" name="正方形/長方形 136">
            <a:extLst>
              <a:ext uri="{FF2B5EF4-FFF2-40B4-BE49-F238E27FC236}">
                <a16:creationId xmlns:a16="http://schemas.microsoft.com/office/drawing/2014/main" id="{FF9A810E-B53B-2631-3BD5-00395512E9C0}"/>
              </a:ext>
            </a:extLst>
          </p:cNvPr>
          <p:cNvSpPr/>
          <p:nvPr/>
        </p:nvSpPr>
        <p:spPr>
          <a:xfrm>
            <a:off x="6444617" y="6012377"/>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通知メッセージ</a:t>
            </a: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en-US" altLang="ja-JP" sz="1000" dirty="0" err="1">
                <a:solidFill>
                  <a:schemeClr val="bg1"/>
                </a:solidFill>
                <a:latin typeface="メイリオ" panose="020B0604030504040204" pitchFamily="50" charset="-128"/>
                <a:ea typeface="メイリオ" panose="020B0604030504040204" pitchFamily="50" charset="-128"/>
              </a:rPr>
              <a:t>OptionAPI</a:t>
            </a:r>
            <a:r>
              <a:rPr kumimoji="1" lang="en-US" altLang="ja-JP" sz="1000" dirty="0">
                <a:solidFill>
                  <a:schemeClr val="bg1"/>
                </a:solidFill>
                <a:latin typeface="メイリオ" panose="020B0604030504040204" pitchFamily="50" charset="-128"/>
                <a:ea typeface="メイリオ" panose="020B0604030504040204" pitchFamily="50" charset="-128"/>
              </a:rPr>
              <a:t>)</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145" name="正方形/長方形 144">
            <a:extLst>
              <a:ext uri="{FF2B5EF4-FFF2-40B4-BE49-F238E27FC236}">
                <a16:creationId xmlns:a16="http://schemas.microsoft.com/office/drawing/2014/main" id="{1DF80BB2-F1C3-A39C-D441-B75E4795CC5B}"/>
              </a:ext>
            </a:extLst>
          </p:cNvPr>
          <p:cNvSpPr/>
          <p:nvPr/>
        </p:nvSpPr>
        <p:spPr>
          <a:xfrm>
            <a:off x="6444617" y="4746848"/>
            <a:ext cx="1424263" cy="163739"/>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定期対応項目</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一部抽出</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p>
        </p:txBody>
      </p:sp>
      <p:sp>
        <p:nvSpPr>
          <p:cNvPr id="49" name="正方形/長方形 48">
            <a:extLst>
              <a:ext uri="{FF2B5EF4-FFF2-40B4-BE49-F238E27FC236}">
                <a16:creationId xmlns:a16="http://schemas.microsoft.com/office/drawing/2014/main" id="{CABD8985-CFB7-BFB4-C5CA-334F6DD3C337}"/>
              </a:ext>
            </a:extLst>
          </p:cNvPr>
          <p:cNvSpPr/>
          <p:nvPr/>
        </p:nvSpPr>
        <p:spPr>
          <a:xfrm>
            <a:off x="3634802" y="1986633"/>
            <a:ext cx="4080010" cy="2098921"/>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0" name="正方形/長方形 49">
            <a:extLst>
              <a:ext uri="{FF2B5EF4-FFF2-40B4-BE49-F238E27FC236}">
                <a16:creationId xmlns:a16="http://schemas.microsoft.com/office/drawing/2014/main" id="{498D1E1C-883A-4348-5898-29B2849E59E6}"/>
              </a:ext>
            </a:extLst>
          </p:cNvPr>
          <p:cNvSpPr/>
          <p:nvPr/>
        </p:nvSpPr>
        <p:spPr>
          <a:xfrm>
            <a:off x="3802223" y="2418821"/>
            <a:ext cx="1355280"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友だち追加</a:t>
            </a:r>
          </a:p>
        </p:txBody>
      </p:sp>
      <p:cxnSp>
        <p:nvCxnSpPr>
          <p:cNvPr id="51" name="コネクタ: カギ線 50">
            <a:extLst>
              <a:ext uri="{FF2B5EF4-FFF2-40B4-BE49-F238E27FC236}">
                <a16:creationId xmlns:a16="http://schemas.microsoft.com/office/drawing/2014/main" id="{2981AEA5-C263-1A76-AF6F-7D4F94F3AC3F}"/>
              </a:ext>
            </a:extLst>
          </p:cNvPr>
          <p:cNvCxnSpPr>
            <a:cxnSpLocks/>
          </p:cNvCxnSpPr>
          <p:nvPr/>
        </p:nvCxnSpPr>
        <p:spPr>
          <a:xfrm flipV="1">
            <a:off x="3492137" y="2540793"/>
            <a:ext cx="310086" cy="915990"/>
          </a:xfrm>
          <a:prstGeom prst="bentConnector3">
            <a:avLst>
              <a:gd name="adj1" fmla="val 27532"/>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3" name="コネクタ: カギ線 52">
            <a:extLst>
              <a:ext uri="{FF2B5EF4-FFF2-40B4-BE49-F238E27FC236}">
                <a16:creationId xmlns:a16="http://schemas.microsoft.com/office/drawing/2014/main" id="{6898DA80-B20A-0E45-B382-62A8490927C1}"/>
              </a:ext>
            </a:extLst>
          </p:cNvPr>
          <p:cNvCxnSpPr>
            <a:cxnSpLocks/>
          </p:cNvCxnSpPr>
          <p:nvPr/>
        </p:nvCxnSpPr>
        <p:spPr>
          <a:xfrm flipV="1">
            <a:off x="3483428" y="2540793"/>
            <a:ext cx="310086" cy="1253428"/>
          </a:xfrm>
          <a:prstGeom prst="bentConnector3">
            <a:avLst>
              <a:gd name="adj1" fmla="val 3034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4" name="コネクタ: カギ線 53">
            <a:extLst>
              <a:ext uri="{FF2B5EF4-FFF2-40B4-BE49-F238E27FC236}">
                <a16:creationId xmlns:a16="http://schemas.microsoft.com/office/drawing/2014/main" id="{4194983F-AFC0-FB2F-1207-1AF108AFDA19}"/>
              </a:ext>
            </a:extLst>
          </p:cNvPr>
          <p:cNvCxnSpPr>
            <a:cxnSpLocks/>
          </p:cNvCxnSpPr>
          <p:nvPr/>
        </p:nvCxnSpPr>
        <p:spPr>
          <a:xfrm>
            <a:off x="3483428" y="2297265"/>
            <a:ext cx="318795" cy="243528"/>
          </a:xfrm>
          <a:prstGeom prst="bentConnector3">
            <a:avLst>
              <a:gd name="adj1" fmla="val 28488"/>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5" name="正方形/長方形 54">
            <a:extLst>
              <a:ext uri="{FF2B5EF4-FFF2-40B4-BE49-F238E27FC236}">
                <a16:creationId xmlns:a16="http://schemas.microsoft.com/office/drawing/2014/main" id="{B20DB094-045E-2E0D-7026-B0BFFA8F2374}"/>
              </a:ext>
            </a:extLst>
          </p:cNvPr>
          <p:cNvSpPr/>
          <p:nvPr/>
        </p:nvSpPr>
        <p:spPr>
          <a:xfrm>
            <a:off x="5319694" y="2122076"/>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企画配信（セグメント配信）</a:t>
            </a:r>
          </a:p>
        </p:txBody>
      </p:sp>
      <p:sp>
        <p:nvSpPr>
          <p:cNvPr id="56" name="正方形/長方形 55">
            <a:extLst>
              <a:ext uri="{FF2B5EF4-FFF2-40B4-BE49-F238E27FC236}">
                <a16:creationId xmlns:a16="http://schemas.microsoft.com/office/drawing/2014/main" id="{960DE889-CA21-9C03-FD30-9F8BA1C11BE0}"/>
              </a:ext>
            </a:extLst>
          </p:cNvPr>
          <p:cNvSpPr/>
          <p:nvPr/>
        </p:nvSpPr>
        <p:spPr>
          <a:xfrm>
            <a:off x="5319694" y="2387671"/>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ステップ配信</a:t>
            </a:r>
          </a:p>
        </p:txBody>
      </p:sp>
      <p:sp>
        <p:nvSpPr>
          <p:cNvPr id="64" name="正方形/長方形 63">
            <a:extLst>
              <a:ext uri="{FF2B5EF4-FFF2-40B4-BE49-F238E27FC236}">
                <a16:creationId xmlns:a16="http://schemas.microsoft.com/office/drawing/2014/main" id="{B0198902-7C67-1321-611C-A528F8B056D6}"/>
              </a:ext>
            </a:extLst>
          </p:cNvPr>
          <p:cNvSpPr/>
          <p:nvPr/>
        </p:nvSpPr>
        <p:spPr>
          <a:xfrm>
            <a:off x="5319694" y="2653266"/>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アンケート</a:t>
            </a:r>
          </a:p>
        </p:txBody>
      </p:sp>
      <p:sp>
        <p:nvSpPr>
          <p:cNvPr id="67" name="正方形/長方形 66">
            <a:extLst>
              <a:ext uri="{FF2B5EF4-FFF2-40B4-BE49-F238E27FC236}">
                <a16:creationId xmlns:a16="http://schemas.microsoft.com/office/drawing/2014/main" id="{EC9DC48F-C12B-8A2A-8E49-C82DF8C2398F}"/>
              </a:ext>
            </a:extLst>
          </p:cNvPr>
          <p:cNvSpPr/>
          <p:nvPr/>
        </p:nvSpPr>
        <p:spPr>
          <a:xfrm>
            <a:off x="3883318" y="2695245"/>
            <a:ext cx="1274185" cy="166616"/>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初期設計項目↓</a:t>
            </a:r>
          </a:p>
        </p:txBody>
      </p:sp>
      <p:sp>
        <p:nvSpPr>
          <p:cNvPr id="68" name="テキスト ボックス 67">
            <a:extLst>
              <a:ext uri="{FF2B5EF4-FFF2-40B4-BE49-F238E27FC236}">
                <a16:creationId xmlns:a16="http://schemas.microsoft.com/office/drawing/2014/main" id="{7FD4C92A-1BF4-DC29-74E5-5DDCAEC47D74}"/>
              </a:ext>
            </a:extLst>
          </p:cNvPr>
          <p:cNvSpPr txBox="1"/>
          <p:nvPr/>
        </p:nvSpPr>
        <p:spPr>
          <a:xfrm>
            <a:off x="3894226" y="2879422"/>
            <a:ext cx="1274185" cy="954107"/>
          </a:xfrm>
          <a:prstGeom prst="rect">
            <a:avLst/>
          </a:prstGeom>
          <a:noFill/>
        </p:spPr>
        <p:txBody>
          <a:bodyPr wrap="square">
            <a:spAutoFit/>
          </a:bodyPr>
          <a:lstStyle/>
          <a:p>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プロフィール画面</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リッチメニュー</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・あいさつメッセージ</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・応答メッセージ設定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・チャットタグ設定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・計測タグ設定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ログイン </a:t>
            </a:r>
            <a:r>
              <a:rPr lang="en-US" altLang="ja-JP" sz="600" dirty="0">
                <a:solidFill>
                  <a:srgbClr val="FF0000"/>
                </a:solidFill>
                <a:latin typeface="メイリオ" panose="020B0604030504040204" pitchFamily="50" charset="-128"/>
                <a:ea typeface="メイリオ" panose="020B0604030504040204" pitchFamily="50" charset="-128"/>
              </a:rPr>
              <a:t>※</a:t>
            </a:r>
            <a:r>
              <a:rPr lang="ja-JP" altLang="en-US" sz="6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LINEID</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連携 </a:t>
            </a:r>
            <a:r>
              <a:rPr lang="en-US" altLang="ja-JP" sz="700" dirty="0">
                <a:solidFill>
                  <a:srgbClr val="FF0000"/>
                </a:solidFill>
                <a:latin typeface="メイリオ" panose="020B0604030504040204" pitchFamily="50" charset="-128"/>
                <a:ea typeface="メイリオ" panose="020B0604030504040204" pitchFamily="50" charset="-128"/>
              </a:rPr>
              <a:t>※</a:t>
            </a:r>
            <a:r>
              <a:rPr lang="ja-JP" altLang="en-US" sz="7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p:txBody>
      </p:sp>
      <p:sp>
        <p:nvSpPr>
          <p:cNvPr id="69" name="正方形/長方形 68">
            <a:extLst>
              <a:ext uri="{FF2B5EF4-FFF2-40B4-BE49-F238E27FC236}">
                <a16:creationId xmlns:a16="http://schemas.microsoft.com/office/drawing/2014/main" id="{3C7CD555-05D0-53EC-B6D5-ED734EBA27DF}"/>
              </a:ext>
            </a:extLst>
          </p:cNvPr>
          <p:cNvSpPr/>
          <p:nvPr/>
        </p:nvSpPr>
        <p:spPr>
          <a:xfrm>
            <a:off x="5326708" y="2918861"/>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タグ・セグメントの管理</a:t>
            </a:r>
          </a:p>
        </p:txBody>
      </p:sp>
      <p:sp>
        <p:nvSpPr>
          <p:cNvPr id="74" name="正方形/長方形 73">
            <a:extLst>
              <a:ext uri="{FF2B5EF4-FFF2-40B4-BE49-F238E27FC236}">
                <a16:creationId xmlns:a16="http://schemas.microsoft.com/office/drawing/2014/main" id="{64296BD6-7E19-AF65-3C1F-3AA68F3DB296}"/>
              </a:ext>
            </a:extLst>
          </p:cNvPr>
          <p:cNvSpPr/>
          <p:nvPr/>
        </p:nvSpPr>
        <p:spPr>
          <a:xfrm>
            <a:off x="5326708" y="3450051"/>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各種初期設計の調整</a:t>
            </a:r>
          </a:p>
        </p:txBody>
      </p:sp>
      <p:sp>
        <p:nvSpPr>
          <p:cNvPr id="75" name="正方形/長方形 74">
            <a:extLst>
              <a:ext uri="{FF2B5EF4-FFF2-40B4-BE49-F238E27FC236}">
                <a16:creationId xmlns:a16="http://schemas.microsoft.com/office/drawing/2014/main" id="{2B391CFB-A763-8F28-0B80-C4699C620787}"/>
              </a:ext>
            </a:extLst>
          </p:cNvPr>
          <p:cNvSpPr/>
          <p:nvPr/>
        </p:nvSpPr>
        <p:spPr>
          <a:xfrm>
            <a:off x="5326708" y="3184456"/>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b="1">
                <a:solidFill>
                  <a:schemeClr val="bg1"/>
                </a:solidFill>
                <a:latin typeface="メイリオ" panose="020B0604030504040204" pitchFamily="50" charset="-128"/>
                <a:ea typeface="メイリオ" panose="020B0604030504040204" pitchFamily="50" charset="-128"/>
              </a:rPr>
              <a:t>QA</a:t>
            </a:r>
            <a:r>
              <a:rPr lang="ja-JP" altLang="en-US" sz="1000" b="1">
                <a:solidFill>
                  <a:schemeClr val="bg1"/>
                </a:solidFill>
                <a:latin typeface="メイリオ" panose="020B0604030504040204" pitchFamily="50" charset="-128"/>
                <a:ea typeface="メイリオ" panose="020B0604030504040204" pitchFamily="50" charset="-128"/>
              </a:rPr>
              <a:t>解消（自動応答）</a:t>
            </a:r>
            <a:endParaRPr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78BE8892-FE50-BF73-B15E-567C1CFD9A8A}"/>
              </a:ext>
            </a:extLst>
          </p:cNvPr>
          <p:cNvSpPr/>
          <p:nvPr/>
        </p:nvSpPr>
        <p:spPr>
          <a:xfrm>
            <a:off x="6487455" y="2655306"/>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 タグ配信</a:t>
            </a:r>
          </a:p>
        </p:txBody>
      </p:sp>
      <p:sp>
        <p:nvSpPr>
          <p:cNvPr id="77" name="正方形/長方形 76">
            <a:extLst>
              <a:ext uri="{FF2B5EF4-FFF2-40B4-BE49-F238E27FC236}">
                <a16:creationId xmlns:a16="http://schemas.microsoft.com/office/drawing/2014/main" id="{5FB8C9E8-13C6-54AE-CC6C-E66EB44BEE66}"/>
              </a:ext>
            </a:extLst>
          </p:cNvPr>
          <p:cNvSpPr/>
          <p:nvPr/>
        </p:nvSpPr>
        <p:spPr>
          <a:xfrm>
            <a:off x="5319693" y="3715648"/>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チャットルーム</a:t>
            </a:r>
          </a:p>
        </p:txBody>
      </p:sp>
      <p:cxnSp>
        <p:nvCxnSpPr>
          <p:cNvPr id="78" name="コネクタ: カギ線 77">
            <a:extLst>
              <a:ext uri="{FF2B5EF4-FFF2-40B4-BE49-F238E27FC236}">
                <a16:creationId xmlns:a16="http://schemas.microsoft.com/office/drawing/2014/main" id="{A0B29E3B-5447-4104-E77E-C26EB1CB0F8A}"/>
              </a:ext>
            </a:extLst>
          </p:cNvPr>
          <p:cNvCxnSpPr>
            <a:cxnSpLocks/>
            <a:stCxn id="77" idx="3"/>
          </p:cNvCxnSpPr>
          <p:nvPr/>
        </p:nvCxnSpPr>
        <p:spPr>
          <a:xfrm flipV="1">
            <a:off x="7612378" y="2246045"/>
            <a:ext cx="558434" cy="1580487"/>
          </a:xfrm>
          <a:prstGeom prst="bentConnector3">
            <a:avLst>
              <a:gd name="adj1" fmla="val 7651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79" name="コネクタ: カギ線 78">
            <a:extLst>
              <a:ext uri="{FF2B5EF4-FFF2-40B4-BE49-F238E27FC236}">
                <a16:creationId xmlns:a16="http://schemas.microsoft.com/office/drawing/2014/main" id="{6F60DF78-AC16-9662-17BD-3EBCD4677BB3}"/>
              </a:ext>
            </a:extLst>
          </p:cNvPr>
          <p:cNvCxnSpPr>
            <a:cxnSpLocks/>
            <a:stCxn id="74" idx="3"/>
          </p:cNvCxnSpPr>
          <p:nvPr/>
        </p:nvCxnSpPr>
        <p:spPr>
          <a:xfrm flipV="1">
            <a:off x="7619393" y="2530542"/>
            <a:ext cx="551419" cy="103039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2" name="コネクタ: カギ線 81">
            <a:extLst>
              <a:ext uri="{FF2B5EF4-FFF2-40B4-BE49-F238E27FC236}">
                <a16:creationId xmlns:a16="http://schemas.microsoft.com/office/drawing/2014/main" id="{9ACE7516-910E-229D-8D61-02389EE1209F}"/>
              </a:ext>
            </a:extLst>
          </p:cNvPr>
          <p:cNvCxnSpPr>
            <a:cxnSpLocks/>
            <a:stCxn id="75" idx="3"/>
          </p:cNvCxnSpPr>
          <p:nvPr/>
        </p:nvCxnSpPr>
        <p:spPr>
          <a:xfrm flipV="1">
            <a:off x="7619393" y="2530542"/>
            <a:ext cx="551419" cy="76479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3" name="コネクタ: カギ線 82">
            <a:extLst>
              <a:ext uri="{FF2B5EF4-FFF2-40B4-BE49-F238E27FC236}">
                <a16:creationId xmlns:a16="http://schemas.microsoft.com/office/drawing/2014/main" id="{CFEF0AA5-73C6-3E02-7EDB-57BE374DCDBF}"/>
              </a:ext>
            </a:extLst>
          </p:cNvPr>
          <p:cNvCxnSpPr>
            <a:cxnSpLocks/>
            <a:stCxn id="69" idx="3"/>
          </p:cNvCxnSpPr>
          <p:nvPr/>
        </p:nvCxnSpPr>
        <p:spPr>
          <a:xfrm flipV="1">
            <a:off x="7619393" y="2530542"/>
            <a:ext cx="551419" cy="49920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4" name="コネクタ: カギ線 83">
            <a:extLst>
              <a:ext uri="{FF2B5EF4-FFF2-40B4-BE49-F238E27FC236}">
                <a16:creationId xmlns:a16="http://schemas.microsoft.com/office/drawing/2014/main" id="{994CBAF5-3A55-5F8D-2FE3-7E89A4D5C622}"/>
              </a:ext>
            </a:extLst>
          </p:cNvPr>
          <p:cNvCxnSpPr>
            <a:cxnSpLocks/>
            <a:stCxn id="76" idx="3"/>
          </p:cNvCxnSpPr>
          <p:nvPr/>
        </p:nvCxnSpPr>
        <p:spPr>
          <a:xfrm flipV="1">
            <a:off x="7612379" y="2530542"/>
            <a:ext cx="558433" cy="23564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5" name="コネクタ: カギ線 84">
            <a:extLst>
              <a:ext uri="{FF2B5EF4-FFF2-40B4-BE49-F238E27FC236}">
                <a16:creationId xmlns:a16="http://schemas.microsoft.com/office/drawing/2014/main" id="{95AFF09E-E9EC-B83D-758F-AB3E03B91C26}"/>
              </a:ext>
            </a:extLst>
          </p:cNvPr>
          <p:cNvCxnSpPr>
            <a:cxnSpLocks/>
            <a:stCxn id="56" idx="3"/>
          </p:cNvCxnSpPr>
          <p:nvPr/>
        </p:nvCxnSpPr>
        <p:spPr>
          <a:xfrm>
            <a:off x="7612379" y="2498555"/>
            <a:ext cx="558433" cy="31987"/>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7" name="コネクタ: カギ線 86">
            <a:extLst>
              <a:ext uri="{FF2B5EF4-FFF2-40B4-BE49-F238E27FC236}">
                <a16:creationId xmlns:a16="http://schemas.microsoft.com/office/drawing/2014/main" id="{81E043B6-4E27-2700-F284-741B1F2B6E99}"/>
              </a:ext>
            </a:extLst>
          </p:cNvPr>
          <p:cNvCxnSpPr>
            <a:cxnSpLocks/>
            <a:stCxn id="55" idx="3"/>
          </p:cNvCxnSpPr>
          <p:nvPr/>
        </p:nvCxnSpPr>
        <p:spPr>
          <a:xfrm>
            <a:off x="7612379" y="2232960"/>
            <a:ext cx="558433" cy="297582"/>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8" name="左中かっこ 87">
            <a:extLst>
              <a:ext uri="{FF2B5EF4-FFF2-40B4-BE49-F238E27FC236}">
                <a16:creationId xmlns:a16="http://schemas.microsoft.com/office/drawing/2014/main" id="{3EB6A587-08D7-7B0D-8BB4-704F3A9413A8}"/>
              </a:ext>
            </a:extLst>
          </p:cNvPr>
          <p:cNvSpPr/>
          <p:nvPr/>
        </p:nvSpPr>
        <p:spPr>
          <a:xfrm>
            <a:off x="5156221" y="2086266"/>
            <a:ext cx="181099" cy="1866748"/>
          </a:xfrm>
          <a:prstGeom prst="leftBrace">
            <a:avLst>
              <a:gd name="adj1" fmla="val 8333"/>
              <a:gd name="adj2" fmla="val 23194"/>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90" name="正方形/長方形 89">
            <a:extLst>
              <a:ext uri="{FF2B5EF4-FFF2-40B4-BE49-F238E27FC236}">
                <a16:creationId xmlns:a16="http://schemas.microsoft.com/office/drawing/2014/main" id="{13F6801A-CC8C-370B-47CD-0E9A8F78DA92}"/>
              </a:ext>
            </a:extLst>
          </p:cNvPr>
          <p:cNvSpPr/>
          <p:nvPr/>
        </p:nvSpPr>
        <p:spPr>
          <a:xfrm>
            <a:off x="468899" y="4586771"/>
            <a:ext cx="5679352" cy="1887988"/>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EBF6537D-D75B-DA5C-78EC-88D8F874BA82}"/>
              </a:ext>
            </a:extLst>
          </p:cNvPr>
          <p:cNvSpPr/>
          <p:nvPr/>
        </p:nvSpPr>
        <p:spPr>
          <a:xfrm>
            <a:off x="2207057" y="6002525"/>
            <a:ext cx="848549"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友だち化</a:t>
            </a:r>
          </a:p>
        </p:txBody>
      </p:sp>
      <p:sp>
        <p:nvSpPr>
          <p:cNvPr id="93" name="正方形/長方形 92">
            <a:extLst>
              <a:ext uri="{FF2B5EF4-FFF2-40B4-BE49-F238E27FC236}">
                <a16:creationId xmlns:a16="http://schemas.microsoft.com/office/drawing/2014/main" id="{1A52527A-0CF0-029E-8E86-430BD9DEAAA1}"/>
              </a:ext>
            </a:extLst>
          </p:cNvPr>
          <p:cNvSpPr/>
          <p:nvPr/>
        </p:nvSpPr>
        <p:spPr>
          <a:xfrm>
            <a:off x="548883" y="4704947"/>
            <a:ext cx="731277" cy="243944"/>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95" name="コネクタ: カギ線 94">
            <a:extLst>
              <a:ext uri="{FF2B5EF4-FFF2-40B4-BE49-F238E27FC236}">
                <a16:creationId xmlns:a16="http://schemas.microsoft.com/office/drawing/2014/main" id="{898B747D-663D-3118-8C11-74EB0324AD5C}"/>
              </a:ext>
            </a:extLst>
          </p:cNvPr>
          <p:cNvCxnSpPr>
            <a:stCxn id="93" idx="0"/>
          </p:cNvCxnSpPr>
          <p:nvPr/>
        </p:nvCxnSpPr>
        <p:spPr>
          <a:xfrm rot="5400000" flipH="1" flipV="1">
            <a:off x="3855271" y="-288234"/>
            <a:ext cx="2052433" cy="7933930"/>
          </a:xfrm>
          <a:prstGeom prst="bentConnector3">
            <a:avLst>
              <a:gd name="adj1" fmla="val 8842"/>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96" name="コネクタ: カギ線 95">
            <a:extLst>
              <a:ext uri="{FF2B5EF4-FFF2-40B4-BE49-F238E27FC236}">
                <a16:creationId xmlns:a16="http://schemas.microsoft.com/office/drawing/2014/main" id="{CA244CA5-B309-FA6E-284D-7CBC7CC2508F}"/>
              </a:ext>
            </a:extLst>
          </p:cNvPr>
          <p:cNvCxnSpPr>
            <a:cxnSpLocks/>
            <a:stCxn id="93" idx="2"/>
            <a:endCxn id="92" idx="1"/>
          </p:cNvCxnSpPr>
          <p:nvPr/>
        </p:nvCxnSpPr>
        <p:spPr>
          <a:xfrm rot="16200000" flipH="1">
            <a:off x="972986" y="4890426"/>
            <a:ext cx="1175606" cy="1292535"/>
          </a:xfrm>
          <a:prstGeom prst="bentConnector2">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98" name="正方形/長方形 97">
            <a:extLst>
              <a:ext uri="{FF2B5EF4-FFF2-40B4-BE49-F238E27FC236}">
                <a16:creationId xmlns:a16="http://schemas.microsoft.com/office/drawing/2014/main" id="{B6490177-CFF0-A875-7C56-F0FC8CA2C530}"/>
              </a:ext>
            </a:extLst>
          </p:cNvPr>
          <p:cNvSpPr/>
          <p:nvPr/>
        </p:nvSpPr>
        <p:spPr>
          <a:xfrm>
            <a:off x="562021" y="5819567"/>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err="1">
                <a:solidFill>
                  <a:schemeClr val="bg1"/>
                </a:solidFill>
                <a:latin typeface="メイリオ" panose="020B0604030504040204" pitchFamily="50" charset="-128"/>
                <a:ea typeface="メイリオ" panose="020B0604030504040204" pitchFamily="50" charset="-128"/>
              </a:rPr>
              <a:t>OptionAPI</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99" name="正方形/長方形 98">
            <a:extLst>
              <a:ext uri="{FF2B5EF4-FFF2-40B4-BE49-F238E27FC236}">
                <a16:creationId xmlns:a16="http://schemas.microsoft.com/office/drawing/2014/main" id="{6D76C720-225A-6A92-8A49-A13770789615}"/>
              </a:ext>
            </a:extLst>
          </p:cNvPr>
          <p:cNvSpPr/>
          <p:nvPr/>
        </p:nvSpPr>
        <p:spPr>
          <a:xfrm>
            <a:off x="562021" y="6084246"/>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サンクス</a:t>
            </a:r>
            <a:r>
              <a:rPr kumimoji="1" lang="en-US" altLang="ja-JP" sz="1000" b="1" dirty="0">
                <a:solidFill>
                  <a:schemeClr val="bg1"/>
                </a:solidFill>
                <a:latin typeface="メイリオ" panose="020B0604030504040204" pitchFamily="50" charset="-128"/>
                <a:ea typeface="メイリオ" panose="020B0604030504040204" pitchFamily="50" charset="-128"/>
              </a:rPr>
              <a:t>LINE</a:t>
            </a:r>
            <a:r>
              <a:rPr kumimoji="1" lang="ja-JP" altLang="en-US" sz="1000" b="1" dirty="0">
                <a:solidFill>
                  <a:schemeClr val="bg1"/>
                </a:solidFill>
                <a:latin typeface="メイリオ" panose="020B0604030504040204" pitchFamily="50" charset="-128"/>
                <a:ea typeface="メイリオ" panose="020B0604030504040204" pitchFamily="50" charset="-128"/>
              </a:rPr>
              <a:t>誘導</a:t>
            </a:r>
          </a:p>
        </p:txBody>
      </p:sp>
      <p:sp>
        <p:nvSpPr>
          <p:cNvPr id="101" name="正方形/長方形 100">
            <a:extLst>
              <a:ext uri="{FF2B5EF4-FFF2-40B4-BE49-F238E27FC236}">
                <a16:creationId xmlns:a16="http://schemas.microsoft.com/office/drawing/2014/main" id="{9927067B-793F-D21C-B90A-7C7E46812D7F}"/>
              </a:ext>
            </a:extLst>
          </p:cNvPr>
          <p:cNvSpPr/>
          <p:nvPr/>
        </p:nvSpPr>
        <p:spPr>
          <a:xfrm>
            <a:off x="3713703" y="4731321"/>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リマインド配信</a:t>
            </a:r>
          </a:p>
        </p:txBody>
      </p:sp>
      <p:sp>
        <p:nvSpPr>
          <p:cNvPr id="102" name="正方形/長方形 101">
            <a:extLst>
              <a:ext uri="{FF2B5EF4-FFF2-40B4-BE49-F238E27FC236}">
                <a16:creationId xmlns:a16="http://schemas.microsoft.com/office/drawing/2014/main" id="{BD2E83D5-3372-C439-208D-783F428C9D84}"/>
              </a:ext>
            </a:extLst>
          </p:cNvPr>
          <p:cNvSpPr/>
          <p:nvPr/>
        </p:nvSpPr>
        <p:spPr>
          <a:xfrm>
            <a:off x="3713703" y="4996916"/>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クロスセル配信</a:t>
            </a:r>
          </a:p>
        </p:txBody>
      </p:sp>
      <p:sp>
        <p:nvSpPr>
          <p:cNvPr id="104" name="正方形/長方形 103">
            <a:extLst>
              <a:ext uri="{FF2B5EF4-FFF2-40B4-BE49-F238E27FC236}">
                <a16:creationId xmlns:a16="http://schemas.microsoft.com/office/drawing/2014/main" id="{087D59E0-E0CE-3934-C1B4-0EF4D82E0B2E}"/>
              </a:ext>
            </a:extLst>
          </p:cNvPr>
          <p:cNvSpPr/>
          <p:nvPr/>
        </p:nvSpPr>
        <p:spPr>
          <a:xfrm>
            <a:off x="3713703" y="5262511"/>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実反響</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05" name="正方形/長方形 104">
            <a:extLst>
              <a:ext uri="{FF2B5EF4-FFF2-40B4-BE49-F238E27FC236}">
                <a16:creationId xmlns:a16="http://schemas.microsoft.com/office/drawing/2014/main" id="{78BB80E0-2482-846A-E4FE-C1770384E88E}"/>
              </a:ext>
            </a:extLst>
          </p:cNvPr>
          <p:cNvSpPr/>
          <p:nvPr/>
        </p:nvSpPr>
        <p:spPr>
          <a:xfrm>
            <a:off x="3720717" y="5528106"/>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利用状況タグの設定</a:t>
            </a:r>
          </a:p>
        </p:txBody>
      </p:sp>
      <p:sp>
        <p:nvSpPr>
          <p:cNvPr id="111" name="正方形/長方形 110">
            <a:extLst>
              <a:ext uri="{FF2B5EF4-FFF2-40B4-BE49-F238E27FC236}">
                <a16:creationId xmlns:a16="http://schemas.microsoft.com/office/drawing/2014/main" id="{C885333E-56CE-B011-72B9-07B332849355}"/>
              </a:ext>
            </a:extLst>
          </p:cNvPr>
          <p:cNvSpPr/>
          <p:nvPr/>
        </p:nvSpPr>
        <p:spPr>
          <a:xfrm>
            <a:off x="4881464" y="5264551"/>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リピート配信</a:t>
            </a:r>
          </a:p>
        </p:txBody>
      </p:sp>
      <p:cxnSp>
        <p:nvCxnSpPr>
          <p:cNvPr id="112" name="コネクタ: カギ線 111">
            <a:extLst>
              <a:ext uri="{FF2B5EF4-FFF2-40B4-BE49-F238E27FC236}">
                <a16:creationId xmlns:a16="http://schemas.microsoft.com/office/drawing/2014/main" id="{BDA83037-5C06-C2D0-EF8B-90AE0F4336B5}"/>
              </a:ext>
            </a:extLst>
          </p:cNvPr>
          <p:cNvCxnSpPr>
            <a:cxnSpLocks/>
            <a:stCxn id="93" idx="3"/>
            <a:endCxn id="101" idx="1"/>
          </p:cNvCxnSpPr>
          <p:nvPr/>
        </p:nvCxnSpPr>
        <p:spPr>
          <a:xfrm>
            <a:off x="1280160" y="4826919"/>
            <a:ext cx="2433543" cy="1528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5" name="コネクタ: カギ線 114">
            <a:extLst>
              <a:ext uri="{FF2B5EF4-FFF2-40B4-BE49-F238E27FC236}">
                <a16:creationId xmlns:a16="http://schemas.microsoft.com/office/drawing/2014/main" id="{BA23D5BC-C7EC-06D4-215C-2852A68F0F9B}"/>
              </a:ext>
            </a:extLst>
          </p:cNvPr>
          <p:cNvCxnSpPr>
            <a:cxnSpLocks/>
            <a:stCxn id="93" idx="3"/>
            <a:endCxn id="102" idx="1"/>
          </p:cNvCxnSpPr>
          <p:nvPr/>
        </p:nvCxnSpPr>
        <p:spPr>
          <a:xfrm>
            <a:off x="1280160" y="4826919"/>
            <a:ext cx="2433543" cy="28088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6" name="コネクタ: カギ線 115">
            <a:extLst>
              <a:ext uri="{FF2B5EF4-FFF2-40B4-BE49-F238E27FC236}">
                <a16:creationId xmlns:a16="http://schemas.microsoft.com/office/drawing/2014/main" id="{F8AA6994-29BC-2C26-DE5F-C0C21F502236}"/>
              </a:ext>
            </a:extLst>
          </p:cNvPr>
          <p:cNvCxnSpPr>
            <a:cxnSpLocks/>
            <a:stCxn id="93" idx="3"/>
            <a:endCxn id="104" idx="1"/>
          </p:cNvCxnSpPr>
          <p:nvPr/>
        </p:nvCxnSpPr>
        <p:spPr>
          <a:xfrm>
            <a:off x="1280160" y="4826919"/>
            <a:ext cx="2433543" cy="54647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8" name="コネクタ: カギ線 117">
            <a:extLst>
              <a:ext uri="{FF2B5EF4-FFF2-40B4-BE49-F238E27FC236}">
                <a16:creationId xmlns:a16="http://schemas.microsoft.com/office/drawing/2014/main" id="{3AE4A3D0-6C1F-7BCD-3ED2-5F066684CE21}"/>
              </a:ext>
            </a:extLst>
          </p:cNvPr>
          <p:cNvCxnSpPr>
            <a:cxnSpLocks/>
            <a:stCxn id="93" idx="3"/>
            <a:endCxn id="105" idx="1"/>
          </p:cNvCxnSpPr>
          <p:nvPr/>
        </p:nvCxnSpPr>
        <p:spPr>
          <a:xfrm>
            <a:off x="1280160" y="4826919"/>
            <a:ext cx="2440557" cy="81207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19" name="正方形/長方形 118">
            <a:extLst>
              <a:ext uri="{FF2B5EF4-FFF2-40B4-BE49-F238E27FC236}">
                <a16:creationId xmlns:a16="http://schemas.microsoft.com/office/drawing/2014/main" id="{F922E2DE-5C74-6CAA-736C-BAC94D2952DF}"/>
              </a:ext>
            </a:extLst>
          </p:cNvPr>
          <p:cNvSpPr/>
          <p:nvPr/>
        </p:nvSpPr>
        <p:spPr>
          <a:xfrm>
            <a:off x="3713703" y="5792944"/>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クー</a:t>
            </a:r>
            <a:r>
              <a:rPr lang="ja-JP" altLang="en-US" sz="1000" b="1" dirty="0">
                <a:solidFill>
                  <a:schemeClr val="bg1"/>
                </a:solidFill>
                <a:latin typeface="メイリオ" panose="020B0604030504040204" pitchFamily="50" charset="-128"/>
                <a:ea typeface="メイリオ" panose="020B0604030504040204" pitchFamily="50" charset="-128"/>
              </a:rPr>
              <a:t>ポン・リサーチ動線の設計</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21" name="正方形/長方形 120">
            <a:extLst>
              <a:ext uri="{FF2B5EF4-FFF2-40B4-BE49-F238E27FC236}">
                <a16:creationId xmlns:a16="http://schemas.microsoft.com/office/drawing/2014/main" id="{03175683-57AB-6FFA-0F27-7E81645CA47B}"/>
              </a:ext>
            </a:extLst>
          </p:cNvPr>
          <p:cNvSpPr/>
          <p:nvPr/>
        </p:nvSpPr>
        <p:spPr>
          <a:xfrm>
            <a:off x="3720717" y="6061629"/>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チャット機能</a:t>
            </a:r>
          </a:p>
        </p:txBody>
      </p:sp>
      <p:cxnSp>
        <p:nvCxnSpPr>
          <p:cNvPr id="122" name="コネクタ: カギ線 121">
            <a:extLst>
              <a:ext uri="{FF2B5EF4-FFF2-40B4-BE49-F238E27FC236}">
                <a16:creationId xmlns:a16="http://schemas.microsoft.com/office/drawing/2014/main" id="{30FE3CED-649C-7946-1117-B1E2FD2D7F26}"/>
              </a:ext>
            </a:extLst>
          </p:cNvPr>
          <p:cNvCxnSpPr>
            <a:cxnSpLocks/>
          </p:cNvCxnSpPr>
          <p:nvPr/>
        </p:nvCxnSpPr>
        <p:spPr>
          <a:xfrm rot="5400000" flipH="1" flipV="1">
            <a:off x="1605206" y="3681433"/>
            <a:ext cx="3347219" cy="1294966"/>
          </a:xfrm>
          <a:prstGeom prst="bentConnector3">
            <a:avLst>
              <a:gd name="adj1" fmla="val 46358"/>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24" name="正方形/長方形 123">
            <a:extLst>
              <a:ext uri="{FF2B5EF4-FFF2-40B4-BE49-F238E27FC236}">
                <a16:creationId xmlns:a16="http://schemas.microsoft.com/office/drawing/2014/main" id="{5EB01514-8877-C931-E7AA-81B28EB77681}"/>
              </a:ext>
            </a:extLst>
          </p:cNvPr>
          <p:cNvSpPr/>
          <p:nvPr/>
        </p:nvSpPr>
        <p:spPr>
          <a:xfrm>
            <a:off x="6986937" y="1517116"/>
            <a:ext cx="2583782" cy="25261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rgbClr val="00B050"/>
                </a:solidFill>
                <a:latin typeface="メイリオ" panose="020B0604030504040204" pitchFamily="50" charset="-128"/>
                <a:ea typeface="メイリオ" panose="020B0604030504040204" pitchFamily="50" charset="-128"/>
              </a:rPr>
              <a:t>自動化</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ツール導入により</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可能領域</a:t>
            </a:r>
            <a:endParaRPr kumimoji="1" lang="ja-JP" altLang="en-US" sz="1000" b="1" dirty="0">
              <a:solidFill>
                <a:srgbClr val="00B05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0342701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E6EC7-8BED-7DDA-23DD-316D74FFBA1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5B1FD88-3B25-D76E-99D7-CDD7E800E78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709B81B2-1251-DE55-B4B3-220553E132F8}"/>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1E8D898A-0AF4-2505-8EE3-9F12824F6A59}"/>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施策においては、</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友だちの新規追加</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と</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友だちの育成・</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動線</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が重要。</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 name="正方形/長方形 1">
            <a:extLst>
              <a:ext uri="{FF2B5EF4-FFF2-40B4-BE49-F238E27FC236}">
                <a16:creationId xmlns:a16="http://schemas.microsoft.com/office/drawing/2014/main" id="{011C5FFF-B61A-EB8E-326E-072A0E269233}"/>
              </a:ext>
            </a:extLst>
          </p:cNvPr>
          <p:cNvSpPr/>
          <p:nvPr/>
        </p:nvSpPr>
        <p:spPr>
          <a:xfrm>
            <a:off x="3587358" y="1747110"/>
            <a:ext cx="860817" cy="143296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初期</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（初動）</a:t>
            </a:r>
            <a:endParaRPr kumimoji="1" lang="ja-JP" altLang="en-US" sz="1200" b="1"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1F32D58-29FF-60A6-17B5-A41ACCBE9449}"/>
              </a:ext>
            </a:extLst>
          </p:cNvPr>
          <p:cNvSpPr/>
          <p:nvPr/>
        </p:nvSpPr>
        <p:spPr>
          <a:xfrm>
            <a:off x="3587358" y="3321847"/>
            <a:ext cx="860817" cy="29212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月次</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（定例）</a:t>
            </a:r>
            <a:endParaRPr kumimoji="1" lang="ja-JP" altLang="en-US" sz="1200" b="1" dirty="0">
              <a:latin typeface="メイリオ" panose="020B0604030504040204" pitchFamily="50" charset="-128"/>
              <a:ea typeface="メイリオ" panose="020B0604030504040204" pitchFamily="50" charset="-128"/>
            </a:endParaRPr>
          </a:p>
        </p:txBody>
      </p:sp>
      <p:sp>
        <p:nvSpPr>
          <p:cNvPr id="8" name="四角形: 角を丸くする 7">
            <a:extLst>
              <a:ext uri="{FF2B5EF4-FFF2-40B4-BE49-F238E27FC236}">
                <a16:creationId xmlns:a16="http://schemas.microsoft.com/office/drawing/2014/main" id="{22EC6943-AA14-49EA-30CF-5D813BA45BFD}"/>
              </a:ext>
            </a:extLst>
          </p:cNvPr>
          <p:cNvSpPr/>
          <p:nvPr/>
        </p:nvSpPr>
        <p:spPr>
          <a:xfrm>
            <a:off x="336942" y="1729383"/>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離脱防止・ポップアップ</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HP/LP</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滞在時に、条件を満たすと</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ポップアップバナーを表示する</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0" name="四角形: 角を丸くする 9">
            <a:extLst>
              <a:ext uri="{FF2B5EF4-FFF2-40B4-BE49-F238E27FC236}">
                <a16:creationId xmlns:a16="http://schemas.microsoft.com/office/drawing/2014/main" id="{3436AF3F-C2E7-3494-0B01-4BC00578C5FF}"/>
              </a:ext>
            </a:extLst>
          </p:cNvPr>
          <p:cNvSpPr/>
          <p:nvPr/>
        </p:nvSpPr>
        <p:spPr>
          <a:xfrm>
            <a:off x="336942" y="2642195"/>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通知メッセージ</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ユーザーアクション時に</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API</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連携で</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にメッセ送付</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1" name="四角形: 角を丸くする 10">
            <a:extLst>
              <a:ext uri="{FF2B5EF4-FFF2-40B4-BE49-F238E27FC236}">
                <a16:creationId xmlns:a16="http://schemas.microsoft.com/office/drawing/2014/main" id="{6B8D9E5A-638C-EACC-4E99-235D769FBAB5}"/>
              </a:ext>
            </a:extLst>
          </p:cNvPr>
          <p:cNvSpPr/>
          <p:nvPr/>
        </p:nvSpPr>
        <p:spPr>
          <a:xfrm>
            <a:off x="336942" y="3555007"/>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サンクス</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誘導ツール</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WEB</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サイトの</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CV</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ページから</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入力情報を引き継ぎ</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へ自動遷移</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2" name="四角形: 角を丸くする 11">
            <a:extLst>
              <a:ext uri="{FF2B5EF4-FFF2-40B4-BE49-F238E27FC236}">
                <a16:creationId xmlns:a16="http://schemas.microsoft.com/office/drawing/2014/main" id="{340447B4-FBD9-E81D-7902-7B3BF84ED83A}"/>
              </a:ext>
            </a:extLst>
          </p:cNvPr>
          <p:cNvSpPr/>
          <p:nvPr/>
        </p:nvSpPr>
        <p:spPr>
          <a:xfrm>
            <a:off x="336942" y="4458293"/>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ログイン・</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ID</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連携等</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ログインに</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 </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を使用</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サイトユーザー</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と</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を連携</a:t>
            </a:r>
            <a:endParaRPr kumimoji="1" lang="ja-JP" altLang="en-US" sz="105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4" name="四角形: 角を丸くする 13">
            <a:extLst>
              <a:ext uri="{FF2B5EF4-FFF2-40B4-BE49-F238E27FC236}">
                <a16:creationId xmlns:a16="http://schemas.microsoft.com/office/drawing/2014/main" id="{BD6C1FC9-285C-AE02-A175-C7061E1A753F}"/>
              </a:ext>
            </a:extLst>
          </p:cNvPr>
          <p:cNvSpPr/>
          <p:nvPr/>
        </p:nvSpPr>
        <p:spPr>
          <a:xfrm>
            <a:off x="336942" y="5361315"/>
            <a:ext cx="2444358" cy="432333"/>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 CPF</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広告</a:t>
            </a:r>
            <a:endPar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5" name="四角形: 角を丸くする 14">
            <a:extLst>
              <a:ext uri="{FF2B5EF4-FFF2-40B4-BE49-F238E27FC236}">
                <a16:creationId xmlns:a16="http://schemas.microsoft.com/office/drawing/2014/main" id="{74F6F515-C9A5-F22C-3E1C-CF4380DB9991}"/>
              </a:ext>
            </a:extLst>
          </p:cNvPr>
          <p:cNvSpPr/>
          <p:nvPr/>
        </p:nvSpPr>
        <p:spPr>
          <a:xfrm>
            <a:off x="336942" y="5829843"/>
            <a:ext cx="2444358" cy="432333"/>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スタンプ・</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Pt</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施策</a:t>
            </a:r>
          </a:p>
        </p:txBody>
      </p:sp>
      <p:sp>
        <p:nvSpPr>
          <p:cNvPr id="16" name="正方形/長方形 15">
            <a:extLst>
              <a:ext uri="{FF2B5EF4-FFF2-40B4-BE49-F238E27FC236}">
                <a16:creationId xmlns:a16="http://schemas.microsoft.com/office/drawing/2014/main" id="{0156D598-0831-CD8B-6A89-EE3DAF51A5E9}"/>
              </a:ext>
            </a:extLst>
          </p:cNvPr>
          <p:cNvSpPr/>
          <p:nvPr/>
        </p:nvSpPr>
        <p:spPr>
          <a:xfrm>
            <a:off x="4482711" y="1756635"/>
            <a:ext cx="3233084" cy="14329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・リッチメニュー</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・プロフ動線</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・あいさつ</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MSG</a:t>
            </a:r>
          </a:p>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KW</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自動応答設定</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・友だち登録直後アンケート</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・再引上げ</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アンケート</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・ステップ配信</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：特定アクション後◯日での自動配信</a:t>
            </a:r>
            <a:endParaRPr kumimoji="1" lang="ja-JP" altLang="en-US" sz="12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24F01906-5193-F098-3B58-BDCC26D568EA}"/>
              </a:ext>
            </a:extLst>
          </p:cNvPr>
          <p:cNvSpPr/>
          <p:nvPr/>
        </p:nvSpPr>
        <p:spPr>
          <a:xfrm>
            <a:off x="4482711" y="3331372"/>
            <a:ext cx="3233084" cy="29212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新規</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ja-JP" altLang="en-US" sz="1200" b="1" dirty="0">
                <a:solidFill>
                  <a:srgbClr val="FF0000"/>
                </a:solidFill>
                <a:latin typeface="メイリオ" panose="020B0604030504040204" pitchFamily="50" charset="-128"/>
                <a:ea typeface="メイリオ" panose="020B0604030504040204" pitchFamily="50" charset="-128"/>
              </a:rPr>
              <a:t>→ 月間投稿数</a:t>
            </a:r>
            <a:endParaRPr lang="en-US" altLang="ja-JP" sz="1200" b="1" dirty="0">
              <a:solidFill>
                <a:srgbClr val="FF0000"/>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・イベント配信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・クーポン配信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・企画配信（特定ターゲット）</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・診断型配信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・お役立ちコラム・コンテンツ配信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・季節／時事ネタ配信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a:t>
            </a:r>
          </a:p>
          <a:p>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調整</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・アンケート</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・自動応答</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QA</a:t>
            </a: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集</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・リッチメニュー</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・ステップ配信</a:t>
            </a:r>
          </a:p>
        </p:txBody>
      </p:sp>
      <p:sp>
        <p:nvSpPr>
          <p:cNvPr id="19" name="左大かっこ 18">
            <a:extLst>
              <a:ext uri="{FF2B5EF4-FFF2-40B4-BE49-F238E27FC236}">
                <a16:creationId xmlns:a16="http://schemas.microsoft.com/office/drawing/2014/main" id="{B9FF3DCE-9B05-09FE-7C2F-B104CD0105BE}"/>
              </a:ext>
            </a:extLst>
          </p:cNvPr>
          <p:cNvSpPr/>
          <p:nvPr/>
        </p:nvSpPr>
        <p:spPr>
          <a:xfrm>
            <a:off x="3210542" y="1800836"/>
            <a:ext cx="215932" cy="4398089"/>
          </a:xfrm>
          <a:prstGeom prst="leftBracket">
            <a:avLst/>
          </a:prstGeom>
          <a:ln>
            <a:solidFill>
              <a:srgbClr val="04FA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4" name="左大かっこ 23">
            <a:extLst>
              <a:ext uri="{FF2B5EF4-FFF2-40B4-BE49-F238E27FC236}">
                <a16:creationId xmlns:a16="http://schemas.microsoft.com/office/drawing/2014/main" id="{61357E78-5BD2-BBD8-1F18-B1985600E22B}"/>
              </a:ext>
            </a:extLst>
          </p:cNvPr>
          <p:cNvSpPr/>
          <p:nvPr/>
        </p:nvSpPr>
        <p:spPr>
          <a:xfrm flipH="1">
            <a:off x="2892035" y="1756635"/>
            <a:ext cx="215932" cy="4486491"/>
          </a:xfrm>
          <a:prstGeom prst="leftBracket">
            <a:avLst/>
          </a:prstGeom>
          <a:ln>
            <a:solidFill>
              <a:srgbClr val="04FA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pic>
        <p:nvPicPr>
          <p:cNvPr id="26" name="図 25">
            <a:extLst>
              <a:ext uri="{FF2B5EF4-FFF2-40B4-BE49-F238E27FC236}">
                <a16:creationId xmlns:a16="http://schemas.microsoft.com/office/drawing/2014/main" id="{56E6CFC0-FB45-E508-C7ED-E0F29C95F377}"/>
              </a:ext>
            </a:extLst>
          </p:cNvPr>
          <p:cNvPicPr>
            <a:picLocks noChangeAspect="1"/>
          </p:cNvPicPr>
          <p:nvPr/>
        </p:nvPicPr>
        <p:blipFill>
          <a:blip r:embed="rId2"/>
          <a:stretch>
            <a:fillRect/>
          </a:stretch>
        </p:blipFill>
        <p:spPr>
          <a:xfrm>
            <a:off x="2862090" y="2173993"/>
            <a:ext cx="582602" cy="543237"/>
          </a:xfrm>
          <a:prstGeom prst="rect">
            <a:avLst/>
          </a:prstGeom>
        </p:spPr>
      </p:pic>
      <p:cxnSp>
        <p:nvCxnSpPr>
          <p:cNvPr id="27" name="直線矢印コネクタ 26">
            <a:extLst>
              <a:ext uri="{FF2B5EF4-FFF2-40B4-BE49-F238E27FC236}">
                <a16:creationId xmlns:a16="http://schemas.microsoft.com/office/drawing/2014/main" id="{38D782E3-91EF-D26A-1906-21A51865A939}"/>
              </a:ext>
            </a:extLst>
          </p:cNvPr>
          <p:cNvCxnSpPr>
            <a:cxnSpLocks/>
          </p:cNvCxnSpPr>
          <p:nvPr/>
        </p:nvCxnSpPr>
        <p:spPr>
          <a:xfrm>
            <a:off x="231756" y="1521490"/>
            <a:ext cx="2654192" cy="0"/>
          </a:xfrm>
          <a:prstGeom prst="straightConnector1">
            <a:avLst/>
          </a:prstGeom>
          <a:ln w="28575">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39D8C8E0-0854-5217-A7F3-DBD2104BDFAF}"/>
              </a:ext>
            </a:extLst>
          </p:cNvPr>
          <p:cNvSpPr txBox="1"/>
          <p:nvPr/>
        </p:nvSpPr>
        <p:spPr>
          <a:xfrm>
            <a:off x="857833" y="1390138"/>
            <a:ext cx="1306788" cy="261610"/>
          </a:xfrm>
          <a:prstGeom prst="rect">
            <a:avLst/>
          </a:prstGeom>
          <a:solidFill>
            <a:schemeClr val="bg1"/>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友だちの新規追加</a:t>
            </a:r>
            <a:endParaRPr lang="ja-JP" altLang="en-US" sz="1050" dirty="0"/>
          </a:p>
        </p:txBody>
      </p:sp>
      <p:cxnSp>
        <p:nvCxnSpPr>
          <p:cNvPr id="29" name="直線矢印コネクタ 28">
            <a:extLst>
              <a:ext uri="{FF2B5EF4-FFF2-40B4-BE49-F238E27FC236}">
                <a16:creationId xmlns:a16="http://schemas.microsoft.com/office/drawing/2014/main" id="{745F1B07-4D2C-4794-DAEA-D76D3E0CA8CF}"/>
              </a:ext>
            </a:extLst>
          </p:cNvPr>
          <p:cNvCxnSpPr>
            <a:cxnSpLocks/>
          </p:cNvCxnSpPr>
          <p:nvPr/>
        </p:nvCxnSpPr>
        <p:spPr>
          <a:xfrm>
            <a:off x="3248447" y="1521490"/>
            <a:ext cx="6173147" cy="0"/>
          </a:xfrm>
          <a:prstGeom prst="straightConnector1">
            <a:avLst/>
          </a:prstGeom>
          <a:ln w="28575">
            <a:solidFill>
              <a:schemeClr val="accent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D5E48196-7DAD-4F3E-ADDE-E36FAC475508}"/>
              </a:ext>
            </a:extLst>
          </p:cNvPr>
          <p:cNvSpPr txBox="1"/>
          <p:nvPr/>
        </p:nvSpPr>
        <p:spPr>
          <a:xfrm>
            <a:off x="5411256" y="1390138"/>
            <a:ext cx="1913269" cy="253916"/>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a:t>
            </a:r>
            <a:r>
              <a:rPr lang="ja-JP" altLang="en-US" sz="1050" b="1" dirty="0">
                <a:latin typeface="メイリオ" panose="020B0604030504040204" pitchFamily="50" charset="-128"/>
                <a:ea typeface="メイリオ" panose="020B0604030504040204" pitchFamily="50" charset="-128"/>
                <a:cs typeface="Meiryo"/>
                <a:sym typeface="Meiryo"/>
              </a:rPr>
              <a:t>友だちの育成・</a:t>
            </a:r>
            <a:r>
              <a:rPr lang="en-US" altLang="ja-JP" sz="1050" b="1" dirty="0">
                <a:latin typeface="メイリオ" panose="020B0604030504040204" pitchFamily="50" charset="-128"/>
                <a:ea typeface="メイリオ" panose="020B0604030504040204" pitchFamily="50" charset="-128"/>
                <a:cs typeface="Meiryo"/>
                <a:sym typeface="Meiryo"/>
              </a:rPr>
              <a:t>CV</a:t>
            </a:r>
            <a:r>
              <a:rPr lang="ja-JP" altLang="en-US" sz="1050" b="1" dirty="0">
                <a:latin typeface="メイリオ" panose="020B0604030504040204" pitchFamily="50" charset="-128"/>
                <a:ea typeface="メイリオ" panose="020B0604030504040204" pitchFamily="50" charset="-128"/>
                <a:cs typeface="Meiryo"/>
                <a:sym typeface="Meiryo"/>
              </a:rPr>
              <a:t>化</a:t>
            </a:r>
            <a:endParaRPr lang="en-US" altLang="ja-JP" sz="1050" b="1" dirty="0">
              <a:latin typeface="メイリオ" panose="020B0604030504040204" pitchFamily="50" charset="-128"/>
              <a:ea typeface="メイリオ" panose="020B0604030504040204" pitchFamily="50" charset="-128"/>
              <a:cs typeface="Meiryo"/>
              <a:sym typeface="Meiryo"/>
            </a:endParaRPr>
          </a:p>
        </p:txBody>
      </p:sp>
      <p:sp>
        <p:nvSpPr>
          <p:cNvPr id="32" name="正方形/長方形 31">
            <a:extLst>
              <a:ext uri="{FF2B5EF4-FFF2-40B4-BE49-F238E27FC236}">
                <a16:creationId xmlns:a16="http://schemas.microsoft.com/office/drawing/2014/main" id="{4EA6E8F1-E33D-1FB9-E4AA-6AD1A2F6B651}"/>
              </a:ext>
            </a:extLst>
          </p:cNvPr>
          <p:cNvSpPr/>
          <p:nvPr/>
        </p:nvSpPr>
        <p:spPr>
          <a:xfrm>
            <a:off x="7750331" y="1748432"/>
            <a:ext cx="1818728" cy="4494694"/>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200" b="1" dirty="0">
                <a:solidFill>
                  <a:schemeClr val="tx1"/>
                </a:solidFill>
                <a:latin typeface="メイリオ" panose="020B0604030504040204" pitchFamily="50" charset="-128"/>
                <a:ea typeface="メイリオ" panose="020B0604030504040204" pitchFamily="50" charset="-128"/>
              </a:rPr>
              <a:t>[</a:t>
            </a:r>
            <a:r>
              <a:rPr kumimoji="1" lang="ja-JP" altLang="en-US" sz="1200" b="1" dirty="0">
                <a:solidFill>
                  <a:schemeClr val="tx1"/>
                </a:solidFill>
                <a:latin typeface="メイリオ" panose="020B0604030504040204" pitchFamily="50" charset="-128"/>
                <a:ea typeface="メイリオ" panose="020B0604030504040204" pitchFamily="50" charset="-128"/>
              </a:rPr>
              <a:t>ターゲット設定</a:t>
            </a:r>
            <a:r>
              <a:rPr lang="en-US" altLang="ja-JP" sz="1200" b="1" dirty="0">
                <a:solidFill>
                  <a:schemeClr val="tx1"/>
                </a:solidFill>
                <a:latin typeface="メイリオ" panose="020B0604030504040204" pitchFamily="50" charset="-128"/>
                <a:ea typeface="メイリオ" panose="020B0604030504040204" pitchFamily="50" charset="-128"/>
              </a:rPr>
              <a:t>]</a:t>
            </a:r>
          </a:p>
          <a:p>
            <a:endParaRPr kumimoji="1" lang="en-US" altLang="ja-JP" sz="700" dirty="0">
              <a:solidFill>
                <a:schemeClr val="tx1"/>
              </a:solidFill>
              <a:latin typeface="メイリオ" panose="020B0604030504040204" pitchFamily="50" charset="-128"/>
              <a:ea typeface="メイリオ" panose="020B0604030504040204" pitchFamily="50" charset="-128"/>
            </a:endParaRPr>
          </a:p>
          <a:p>
            <a:endParaRPr kumimoji="1" lang="en-US" altLang="ja-JP" sz="700" dirty="0">
              <a:solidFill>
                <a:schemeClr val="tx1"/>
              </a:solidFill>
              <a:latin typeface="メイリオ" panose="020B0604030504040204" pitchFamily="50" charset="-128"/>
              <a:ea typeface="メイリオ" panose="020B0604030504040204" pitchFamily="50" charset="-128"/>
            </a:endParaRPr>
          </a:p>
          <a:p>
            <a:r>
              <a:rPr kumimoji="1" lang="en-US" altLang="ja-JP" sz="1200" b="1" dirty="0">
                <a:solidFill>
                  <a:schemeClr val="tx1"/>
                </a:solidFill>
                <a:latin typeface="メイリオ" panose="020B0604030504040204" pitchFamily="50" charset="-128"/>
                <a:ea typeface="メイリオ" panose="020B0604030504040204" pitchFamily="50" charset="-128"/>
              </a:rPr>
              <a:t>LINEOA</a:t>
            </a:r>
            <a:r>
              <a:rPr kumimoji="1" lang="ja-JP" altLang="en-US" sz="1200" b="1" dirty="0">
                <a:solidFill>
                  <a:schemeClr val="tx1"/>
                </a:solidFill>
                <a:latin typeface="メイリオ" panose="020B0604030504040204" pitchFamily="50" charset="-128"/>
                <a:ea typeface="メイリオ" panose="020B0604030504040204" pitchFamily="50" charset="-128"/>
              </a:rPr>
              <a:t>オーガニック</a:t>
            </a:r>
            <a:endParaRPr kumimoji="1" lang="en-US" altLang="ja-JP" sz="1200" b="1"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年齢</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性別</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地域</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(MSG</a:t>
            </a:r>
            <a:r>
              <a:rPr lang="ja-JP" altLang="en-US" sz="1050" dirty="0">
                <a:solidFill>
                  <a:schemeClr val="tx1"/>
                </a:solidFill>
                <a:latin typeface="メイリオ" panose="020B0604030504040204" pitchFamily="50" charset="-128"/>
                <a:ea typeface="メイリオ" panose="020B0604030504040204" pitchFamily="50" charset="-128"/>
              </a:rPr>
              <a:t>の</a:t>
            </a:r>
            <a:r>
              <a:rPr lang="en-US" altLang="ja-JP" sz="1050" dirty="0" err="1">
                <a:solidFill>
                  <a:schemeClr val="tx1"/>
                </a:solidFill>
                <a:latin typeface="メイリオ" panose="020B0604030504040204" pitchFamily="50" charset="-128"/>
                <a:ea typeface="メイリオ" panose="020B0604030504040204" pitchFamily="50" charset="-128"/>
              </a:rPr>
              <a:t>Imp,Click</a:t>
            </a:r>
            <a:r>
              <a:rPr lang="en-US" altLang="ja-JP" sz="1050" dirty="0">
                <a:solidFill>
                  <a:schemeClr val="tx1"/>
                </a:solidFill>
                <a:latin typeface="メイリオ" panose="020B0604030504040204" pitchFamily="50" charset="-128"/>
                <a:ea typeface="メイリオ" panose="020B0604030504040204" pitchFamily="50" charset="-128"/>
              </a:rPr>
              <a:t>)</a:t>
            </a:r>
          </a:p>
          <a:p>
            <a:endParaRPr lang="en-US" altLang="ja-JP" sz="700" dirty="0">
              <a:solidFill>
                <a:schemeClr val="tx1"/>
              </a:solidFill>
              <a:latin typeface="メイリオ" panose="020B0604030504040204" pitchFamily="50" charset="-128"/>
              <a:ea typeface="メイリオ" panose="020B0604030504040204" pitchFamily="50" charset="-128"/>
            </a:endParaRPr>
          </a:p>
          <a:p>
            <a:r>
              <a:rPr lang="en-US" altLang="ja-JP" sz="1200" b="1" dirty="0">
                <a:solidFill>
                  <a:schemeClr val="tx1"/>
                </a:solidFill>
                <a:latin typeface="メイリオ" panose="020B0604030504040204" pitchFamily="50" charset="-128"/>
                <a:ea typeface="メイリオ" panose="020B0604030504040204" pitchFamily="50" charset="-128"/>
              </a:rPr>
              <a:t>LINE_API</a:t>
            </a:r>
            <a:r>
              <a:rPr lang="ja-JP" altLang="en-US" sz="1200" b="1" dirty="0">
                <a:solidFill>
                  <a:schemeClr val="tx1"/>
                </a:solidFill>
                <a:latin typeface="メイリオ" panose="020B0604030504040204" pitchFamily="50" charset="-128"/>
                <a:ea typeface="メイリオ" panose="020B0604030504040204" pitchFamily="50" charset="-128"/>
              </a:rPr>
              <a:t>ツール</a:t>
            </a:r>
            <a:r>
              <a:rPr lang="ja-JP" altLang="en-US" sz="900" b="1" dirty="0">
                <a:solidFill>
                  <a:schemeClr val="tx1"/>
                </a:solidFill>
                <a:latin typeface="メイリオ" panose="020B0604030504040204" pitchFamily="50" charset="-128"/>
                <a:ea typeface="メイリオ" panose="020B0604030504040204" pitchFamily="50" charset="-128"/>
              </a:rPr>
              <a:t> </a:t>
            </a:r>
            <a:r>
              <a:rPr lang="en-US" altLang="ja-JP" sz="900" b="1" dirty="0">
                <a:solidFill>
                  <a:srgbClr val="FF0000"/>
                </a:solidFill>
                <a:latin typeface="メイリオ" panose="020B0604030504040204" pitchFamily="50" charset="-128"/>
                <a:ea typeface="メイリオ" panose="020B0604030504040204" pitchFamily="50" charset="-128"/>
              </a:rPr>
              <a:t>※</a:t>
            </a:r>
            <a:r>
              <a:rPr lang="ja-JP" altLang="en-US" sz="900" b="1" dirty="0">
                <a:solidFill>
                  <a:srgbClr val="FF0000"/>
                </a:solidFill>
                <a:latin typeface="メイリオ" panose="020B0604030504040204" pitchFamily="50" charset="-128"/>
                <a:ea typeface="メイリオ" panose="020B0604030504040204" pitchFamily="50" charset="-128"/>
              </a:rPr>
              <a:t>有料</a:t>
            </a:r>
            <a:endParaRPr lang="en-US" altLang="ja-JP" sz="1200" b="1" dirty="0">
              <a:solidFill>
                <a:srgbClr val="FF0000"/>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アンケート結果）</a:t>
            </a:r>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(WEB</a:t>
            </a:r>
            <a:r>
              <a:rPr lang="ja-JP" altLang="en-US" sz="1050" dirty="0">
                <a:solidFill>
                  <a:schemeClr val="tx1"/>
                </a:solidFill>
                <a:latin typeface="メイリオ" panose="020B0604030504040204" pitchFamily="50" charset="-128"/>
                <a:ea typeface="メイリオ" panose="020B0604030504040204" pitchFamily="50" charset="-128"/>
              </a:rPr>
              <a:t>サイトアクション</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リマインド</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再通知</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(ID</a:t>
            </a:r>
            <a:r>
              <a:rPr lang="ja-JP" altLang="en-US" sz="1050" dirty="0">
                <a:solidFill>
                  <a:schemeClr val="tx1"/>
                </a:solidFill>
                <a:latin typeface="メイリオ" panose="020B0604030504040204" pitchFamily="50" charset="-128"/>
                <a:ea typeface="メイリオ" panose="020B0604030504040204" pitchFamily="50" charset="-128"/>
              </a:rPr>
              <a:t>連携した情報ベース</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ユーザー一覧を取得</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a:t>
            </a:r>
            <a:r>
              <a:rPr lang="en-US" altLang="ja-JP" sz="1050" dirty="0">
                <a:solidFill>
                  <a:schemeClr val="tx1"/>
                </a:solidFill>
                <a:latin typeface="メイリオ" panose="020B0604030504040204" pitchFamily="50" charset="-128"/>
                <a:ea typeface="メイリオ" panose="020B0604030504040204" pitchFamily="50" charset="-128"/>
              </a:rPr>
              <a:t>ID</a:t>
            </a:r>
            <a:r>
              <a:rPr lang="ja-JP" altLang="en-US" sz="1050" dirty="0">
                <a:solidFill>
                  <a:schemeClr val="tx1"/>
                </a:solidFill>
                <a:latin typeface="メイリオ" panose="020B0604030504040204" pitchFamily="50" charset="-128"/>
                <a:ea typeface="メイリオ" panose="020B0604030504040204" pitchFamily="50" charset="-128"/>
              </a:rPr>
              <a:t>アップロード</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地点別スコアリング</a:t>
            </a:r>
            <a:r>
              <a:rPr lang="en-US" altLang="ja-JP" sz="1050" dirty="0">
                <a:solidFill>
                  <a:schemeClr val="tx1"/>
                </a:solidFill>
                <a:latin typeface="メイリオ" panose="020B0604030504040204" pitchFamily="50" charset="-128"/>
                <a:ea typeface="メイリオ" panose="020B0604030504040204" pitchFamily="50" charset="-128"/>
              </a:rPr>
              <a:t>)</a:t>
            </a: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1050" b="1" dirty="0">
                <a:solidFill>
                  <a:schemeClr val="tx1"/>
                </a:solidFill>
                <a:latin typeface="メイリオ" panose="020B0604030504040204" pitchFamily="50" charset="-128"/>
                <a:ea typeface="メイリオ" panose="020B0604030504040204" pitchFamily="50" charset="-128"/>
              </a:rPr>
              <a:t>※MA</a:t>
            </a:r>
            <a:r>
              <a:rPr lang="ja-JP" altLang="en-US" sz="1050" b="1" dirty="0">
                <a:solidFill>
                  <a:schemeClr val="tx1"/>
                </a:solidFill>
                <a:latin typeface="メイリオ" panose="020B0604030504040204" pitchFamily="50" charset="-128"/>
                <a:ea typeface="メイリオ" panose="020B0604030504040204" pitchFamily="50" charset="-128"/>
              </a:rPr>
              <a:t>、</a:t>
            </a:r>
            <a:r>
              <a:rPr lang="en-US" altLang="ja-JP" sz="1050" b="1" dirty="0">
                <a:solidFill>
                  <a:schemeClr val="tx1"/>
                </a:solidFill>
                <a:latin typeface="メイリオ" panose="020B0604030504040204" pitchFamily="50" charset="-128"/>
                <a:ea typeface="メイリオ" panose="020B0604030504040204" pitchFamily="50" charset="-128"/>
              </a:rPr>
              <a:t>CRM</a:t>
            </a:r>
            <a:r>
              <a:rPr lang="ja-JP" altLang="en-US" sz="1050" b="1" dirty="0">
                <a:solidFill>
                  <a:schemeClr val="tx1"/>
                </a:solidFill>
                <a:latin typeface="メイリオ" panose="020B0604030504040204" pitchFamily="50" charset="-128"/>
                <a:ea typeface="メイリオ" panose="020B0604030504040204" pitchFamily="50" charset="-128"/>
              </a:rPr>
              <a:t>との連携</a:t>
            </a:r>
            <a:endParaRPr lang="en-US" altLang="ja-JP" sz="1050" b="1"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購入・リードデータ</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ユーザー情報</a:t>
            </a:r>
            <a:r>
              <a:rPr lang="ja-JP" altLang="en-US" sz="900" dirty="0">
                <a:solidFill>
                  <a:schemeClr val="tx1"/>
                </a:solidFill>
                <a:latin typeface="メイリオ" panose="020B0604030504040204" pitchFamily="50" charset="-128"/>
                <a:ea typeface="メイリオ" panose="020B0604030504040204" pitchFamily="50" charset="-128"/>
              </a:rPr>
              <a:t> </a:t>
            </a:r>
            <a:r>
              <a:rPr lang="en-US" altLang="ja-JP" sz="900" dirty="0">
                <a:solidFill>
                  <a:schemeClr val="tx1"/>
                </a:solidFill>
                <a:latin typeface="メイリオ" panose="020B0604030504040204" pitchFamily="50" charset="-128"/>
                <a:ea typeface="メイリオ" panose="020B0604030504040204" pitchFamily="50" charset="-128"/>
              </a:rPr>
              <a:t>※</a:t>
            </a:r>
            <a:r>
              <a:rPr lang="ja-JP" altLang="en-US" sz="900" dirty="0">
                <a:solidFill>
                  <a:schemeClr val="tx1"/>
                </a:solidFill>
                <a:latin typeface="メイリオ" panose="020B0604030504040204" pitchFamily="50" charset="-128"/>
                <a:ea typeface="メイリオ" panose="020B0604030504040204" pitchFamily="50" charset="-128"/>
              </a:rPr>
              <a:t>詳細</a:t>
            </a:r>
            <a:r>
              <a:rPr lang="en-US" altLang="ja-JP" sz="1050" dirty="0">
                <a:solidFill>
                  <a:schemeClr val="tx1"/>
                </a:solidFill>
                <a:latin typeface="メイリオ" panose="020B0604030504040204" pitchFamily="50" charset="-128"/>
                <a:ea typeface="メイリオ" panose="020B0604030504040204" pitchFamily="50" charset="-128"/>
              </a:rPr>
              <a:t>)</a:t>
            </a:r>
          </a:p>
        </p:txBody>
      </p:sp>
      <p:sp>
        <p:nvSpPr>
          <p:cNvPr id="36" name="テキスト ボックス 35">
            <a:extLst>
              <a:ext uri="{FF2B5EF4-FFF2-40B4-BE49-F238E27FC236}">
                <a16:creationId xmlns:a16="http://schemas.microsoft.com/office/drawing/2014/main" id="{F47CAADD-ECBD-1DCC-19D6-6433C921622E}"/>
              </a:ext>
            </a:extLst>
          </p:cNvPr>
          <p:cNvSpPr txBox="1"/>
          <p:nvPr/>
        </p:nvSpPr>
        <p:spPr>
          <a:xfrm>
            <a:off x="2178040" y="2694449"/>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47" name="テキスト ボックス 46">
            <a:extLst>
              <a:ext uri="{FF2B5EF4-FFF2-40B4-BE49-F238E27FC236}">
                <a16:creationId xmlns:a16="http://schemas.microsoft.com/office/drawing/2014/main" id="{00802062-F552-1DFA-430A-41800E76A220}"/>
              </a:ext>
            </a:extLst>
          </p:cNvPr>
          <p:cNvSpPr txBox="1"/>
          <p:nvPr/>
        </p:nvSpPr>
        <p:spPr>
          <a:xfrm>
            <a:off x="2370382" y="1773237"/>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49" name="テキスト ボックス 48">
            <a:extLst>
              <a:ext uri="{FF2B5EF4-FFF2-40B4-BE49-F238E27FC236}">
                <a16:creationId xmlns:a16="http://schemas.microsoft.com/office/drawing/2014/main" id="{CDCAB868-C79D-2212-70C3-9EF559F32C21}"/>
              </a:ext>
            </a:extLst>
          </p:cNvPr>
          <p:cNvSpPr txBox="1"/>
          <p:nvPr/>
        </p:nvSpPr>
        <p:spPr>
          <a:xfrm>
            <a:off x="2456844" y="3619396"/>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1" name="テキスト ボックス 50">
            <a:extLst>
              <a:ext uri="{FF2B5EF4-FFF2-40B4-BE49-F238E27FC236}">
                <a16:creationId xmlns:a16="http://schemas.microsoft.com/office/drawing/2014/main" id="{E2ECFC3F-A285-F105-30CE-9144EBB24A11}"/>
              </a:ext>
            </a:extLst>
          </p:cNvPr>
          <p:cNvSpPr txBox="1"/>
          <p:nvPr/>
        </p:nvSpPr>
        <p:spPr>
          <a:xfrm>
            <a:off x="2518621" y="4576567"/>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3" name="テキスト ボックス 52">
            <a:extLst>
              <a:ext uri="{FF2B5EF4-FFF2-40B4-BE49-F238E27FC236}">
                <a16:creationId xmlns:a16="http://schemas.microsoft.com/office/drawing/2014/main" id="{39AB193A-8274-ABE1-CD3D-54790C3264F6}"/>
              </a:ext>
            </a:extLst>
          </p:cNvPr>
          <p:cNvSpPr txBox="1"/>
          <p:nvPr/>
        </p:nvSpPr>
        <p:spPr>
          <a:xfrm>
            <a:off x="2210158" y="5478733"/>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6" name="テキスト ボックス 55">
            <a:extLst>
              <a:ext uri="{FF2B5EF4-FFF2-40B4-BE49-F238E27FC236}">
                <a16:creationId xmlns:a16="http://schemas.microsoft.com/office/drawing/2014/main" id="{096A37B9-CA3D-92C9-1405-86C6FFCD8C5A}"/>
              </a:ext>
            </a:extLst>
          </p:cNvPr>
          <p:cNvSpPr txBox="1"/>
          <p:nvPr/>
        </p:nvSpPr>
        <p:spPr>
          <a:xfrm>
            <a:off x="2214724" y="5963211"/>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8" name="テキスト ボックス 57">
            <a:extLst>
              <a:ext uri="{FF2B5EF4-FFF2-40B4-BE49-F238E27FC236}">
                <a16:creationId xmlns:a16="http://schemas.microsoft.com/office/drawing/2014/main" id="{AA71FB07-E583-8196-5077-2EAA10A61A0F}"/>
              </a:ext>
            </a:extLst>
          </p:cNvPr>
          <p:cNvSpPr txBox="1"/>
          <p:nvPr/>
        </p:nvSpPr>
        <p:spPr>
          <a:xfrm>
            <a:off x="285223" y="6291679"/>
            <a:ext cx="2547258" cy="215444"/>
          </a:xfrm>
          <a:prstGeom prst="rect">
            <a:avLst/>
          </a:prstGeom>
          <a:noFill/>
        </p:spPr>
        <p:txBody>
          <a:bodyPr wrap="square">
            <a:spAutoFit/>
          </a:bodyPr>
          <a:lstStyle/>
          <a:p>
            <a:pPr algn="ct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その他</a:t>
            </a:r>
            <a:r>
              <a:rPr kumimoji="1" lang="en-US" altLang="ja-JP" sz="800" dirty="0">
                <a:solidFill>
                  <a:schemeClr val="bg1">
                    <a:lumMod val="50000"/>
                  </a:schemeClr>
                </a:solidFill>
                <a:latin typeface="メイリオ" panose="020B0604030504040204" pitchFamily="50" charset="-128"/>
                <a:ea typeface="メイリオ" panose="020B0604030504040204" pitchFamily="50" charset="-128"/>
              </a:rPr>
              <a:t>WEB</a:t>
            </a: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サイト動線整備、プレスリリース等</a:t>
            </a:r>
            <a:endParaRPr lang="ja-JP" altLang="en-US" sz="800" dirty="0">
              <a:solidFill>
                <a:schemeClr val="bg1">
                  <a:lumMod val="50000"/>
                </a:schemeClr>
              </a:solidFill>
            </a:endParaRPr>
          </a:p>
        </p:txBody>
      </p:sp>
      <p:sp>
        <p:nvSpPr>
          <p:cNvPr id="6" name="テキスト ボックス 5">
            <a:extLst>
              <a:ext uri="{FF2B5EF4-FFF2-40B4-BE49-F238E27FC236}">
                <a16:creationId xmlns:a16="http://schemas.microsoft.com/office/drawing/2014/main" id="{F3BE3835-FB68-0C7D-7CED-C40A02A19AB2}"/>
              </a:ext>
            </a:extLst>
          </p:cNvPr>
          <p:cNvSpPr txBox="1"/>
          <p:nvPr/>
        </p:nvSpPr>
        <p:spPr>
          <a:xfrm>
            <a:off x="6149585" y="3424747"/>
            <a:ext cx="1174939"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数量により変動</a:t>
            </a:r>
            <a:endParaRPr lang="ja-JP" altLang="en-US" sz="800" dirty="0"/>
          </a:p>
        </p:txBody>
      </p:sp>
      <p:sp>
        <p:nvSpPr>
          <p:cNvPr id="7" name="テキスト ボックス 6">
            <a:extLst>
              <a:ext uri="{FF2B5EF4-FFF2-40B4-BE49-F238E27FC236}">
                <a16:creationId xmlns:a16="http://schemas.microsoft.com/office/drawing/2014/main" id="{F47E1216-C9D3-60D3-B3E8-43E38B5791F4}"/>
              </a:ext>
            </a:extLst>
          </p:cNvPr>
          <p:cNvSpPr txBox="1"/>
          <p:nvPr/>
        </p:nvSpPr>
        <p:spPr>
          <a:xfrm>
            <a:off x="3587357" y="6286698"/>
            <a:ext cx="4128437" cy="215444"/>
          </a:xfrm>
          <a:prstGeom prst="rect">
            <a:avLst/>
          </a:prstGeom>
          <a:noFill/>
        </p:spPr>
        <p:txBody>
          <a:bodyPr wrap="square">
            <a:spAutoFit/>
          </a:bodyPr>
          <a:lstStyle/>
          <a:p>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　</a:t>
            </a:r>
            <a:r>
              <a:rPr kumimoji="1" lang="en-US" altLang="ja-JP" sz="800" dirty="0">
                <a:solidFill>
                  <a:schemeClr val="bg1">
                    <a:lumMod val="50000"/>
                  </a:schemeClr>
                </a:solidFill>
                <a:latin typeface="メイリオ" panose="020B0604030504040204" pitchFamily="50" charset="-128"/>
                <a:ea typeface="メイリオ" panose="020B0604030504040204" pitchFamily="50" charset="-128"/>
              </a:rPr>
              <a:t>※</a:t>
            </a: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クリエイティブ費用は基本的に内包、開発費用は別途見積もりとなります。</a:t>
            </a:r>
            <a:endParaRPr lang="ja-JP" altLang="en-US" sz="800" dirty="0">
              <a:solidFill>
                <a:schemeClr val="bg1">
                  <a:lumMod val="50000"/>
                </a:schemeClr>
              </a:solidFill>
            </a:endParaRPr>
          </a:p>
        </p:txBody>
      </p:sp>
      <p:sp>
        <p:nvSpPr>
          <p:cNvPr id="13" name="正方形/長方形 12">
            <a:extLst>
              <a:ext uri="{FF2B5EF4-FFF2-40B4-BE49-F238E27FC236}">
                <a16:creationId xmlns:a16="http://schemas.microsoft.com/office/drawing/2014/main" id="{9256C170-205B-2224-D69D-D964BF991C26}"/>
              </a:ext>
            </a:extLst>
          </p:cNvPr>
          <p:cNvSpPr/>
          <p:nvPr/>
        </p:nvSpPr>
        <p:spPr>
          <a:xfrm>
            <a:off x="7664076" y="1733928"/>
            <a:ext cx="1904982" cy="4562295"/>
          </a:xfrm>
          <a:prstGeom prst="rect">
            <a:avLst/>
          </a:prstGeom>
          <a:solidFill>
            <a:schemeClr val="bg1">
              <a:alpha val="5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Tree>
    <p:extLst>
      <p:ext uri="{BB962C8B-B14F-4D97-AF65-F5344CB8AC3E}">
        <p14:creationId xmlns:p14="http://schemas.microsoft.com/office/powerpoint/2010/main" val="1335448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C836A-F13C-1973-53EF-92ADF9F85FF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A8856EBE-32D8-42F5-9D61-C53BF60EFB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A6340BD7-9269-59A1-EA69-7426F07778B6}"/>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7C701305-F75E-4087-21C2-FA3CCCA8FB67}"/>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施策は、</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友だちの新規追加</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と</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友だちの育成・</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着地</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の動線が重要。</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企画投稿（毎月）とステップ配信（定常的に運営）を組み合わせて最適動線に。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5" name="正方形/長方形 24">
            <a:extLst>
              <a:ext uri="{FF2B5EF4-FFF2-40B4-BE49-F238E27FC236}">
                <a16:creationId xmlns:a16="http://schemas.microsoft.com/office/drawing/2014/main" id="{1A40E6EC-1B5E-5E46-EF89-1167C08649BA}"/>
              </a:ext>
            </a:extLst>
          </p:cNvPr>
          <p:cNvSpPr/>
          <p:nvPr/>
        </p:nvSpPr>
        <p:spPr>
          <a:xfrm>
            <a:off x="963202" y="3662763"/>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友だち追加後</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31" name="図 30">
            <a:extLst>
              <a:ext uri="{FF2B5EF4-FFF2-40B4-BE49-F238E27FC236}">
                <a16:creationId xmlns:a16="http://schemas.microsoft.com/office/drawing/2014/main" id="{2FE26F6B-D35B-6A6B-42D2-794437452752}"/>
              </a:ext>
            </a:extLst>
          </p:cNvPr>
          <p:cNvPicPr>
            <a:picLocks noChangeAspect="1"/>
          </p:cNvPicPr>
          <p:nvPr/>
        </p:nvPicPr>
        <p:blipFill>
          <a:blip r:embed="rId2"/>
          <a:stretch>
            <a:fillRect/>
          </a:stretch>
        </p:blipFill>
        <p:spPr>
          <a:xfrm>
            <a:off x="776401" y="3566663"/>
            <a:ext cx="582602" cy="543237"/>
          </a:xfrm>
          <a:prstGeom prst="rect">
            <a:avLst/>
          </a:prstGeom>
        </p:spPr>
      </p:pic>
      <p:sp>
        <p:nvSpPr>
          <p:cNvPr id="34" name="正方形/長方形 33">
            <a:extLst>
              <a:ext uri="{FF2B5EF4-FFF2-40B4-BE49-F238E27FC236}">
                <a16:creationId xmlns:a16="http://schemas.microsoft.com/office/drawing/2014/main" id="{39403F1B-B20A-C75C-8FCB-74AAD1581A2F}"/>
              </a:ext>
            </a:extLst>
          </p:cNvPr>
          <p:cNvSpPr/>
          <p:nvPr/>
        </p:nvSpPr>
        <p:spPr>
          <a:xfrm>
            <a:off x="686977" y="2019915"/>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LP</a:t>
            </a: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HP</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35" name="図 34" descr="lpデザインイラスト｜無料イラスト・フリー素材なら「イラストAC」">
            <a:extLst>
              <a:ext uri="{FF2B5EF4-FFF2-40B4-BE49-F238E27FC236}">
                <a16:creationId xmlns:a16="http://schemas.microsoft.com/office/drawing/2014/main" id="{EA2CF7EC-851A-10FF-17B6-E422C43BD10B}"/>
              </a:ext>
            </a:extLst>
          </p:cNvPr>
          <p:cNvPicPr>
            <a:picLocks noChangeAspect="1"/>
          </p:cNvPicPr>
          <p:nvPr/>
        </p:nvPicPr>
        <p:blipFill>
          <a:blip r:embed="rId3"/>
          <a:stretch>
            <a:fillRect/>
          </a:stretch>
        </p:blipFill>
        <p:spPr>
          <a:xfrm>
            <a:off x="272658" y="1875286"/>
            <a:ext cx="853665" cy="640720"/>
          </a:xfrm>
          <a:prstGeom prst="rect">
            <a:avLst/>
          </a:prstGeom>
        </p:spPr>
      </p:pic>
      <p:sp>
        <p:nvSpPr>
          <p:cNvPr id="40" name="矢印: 下 39">
            <a:extLst>
              <a:ext uri="{FF2B5EF4-FFF2-40B4-BE49-F238E27FC236}">
                <a16:creationId xmlns:a16="http://schemas.microsoft.com/office/drawing/2014/main" id="{0D54B1A9-3944-66DE-F219-BB4192EDE144}"/>
              </a:ext>
            </a:extLst>
          </p:cNvPr>
          <p:cNvSpPr/>
          <p:nvPr/>
        </p:nvSpPr>
        <p:spPr>
          <a:xfrm>
            <a:off x="3290805" y="3630924"/>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矢印: 下 40">
            <a:extLst>
              <a:ext uri="{FF2B5EF4-FFF2-40B4-BE49-F238E27FC236}">
                <a16:creationId xmlns:a16="http://schemas.microsoft.com/office/drawing/2014/main" id="{781A5984-3599-DC05-2E88-6BB61F188EB3}"/>
              </a:ext>
            </a:extLst>
          </p:cNvPr>
          <p:cNvSpPr/>
          <p:nvPr/>
        </p:nvSpPr>
        <p:spPr>
          <a:xfrm>
            <a:off x="5657443" y="3630924"/>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矢印: 下 41">
            <a:extLst>
              <a:ext uri="{FF2B5EF4-FFF2-40B4-BE49-F238E27FC236}">
                <a16:creationId xmlns:a16="http://schemas.microsoft.com/office/drawing/2014/main" id="{1C76D7C3-BFEE-8DA3-57FA-033BD7E35285}"/>
              </a:ext>
            </a:extLst>
          </p:cNvPr>
          <p:cNvSpPr/>
          <p:nvPr/>
        </p:nvSpPr>
        <p:spPr>
          <a:xfrm>
            <a:off x="5657443" y="2019915"/>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矢印: 下 42">
            <a:extLst>
              <a:ext uri="{FF2B5EF4-FFF2-40B4-BE49-F238E27FC236}">
                <a16:creationId xmlns:a16="http://schemas.microsoft.com/office/drawing/2014/main" id="{4E9F9DC2-BA49-A440-DA89-D45BC9E52C3A}"/>
              </a:ext>
            </a:extLst>
          </p:cNvPr>
          <p:cNvSpPr/>
          <p:nvPr/>
        </p:nvSpPr>
        <p:spPr>
          <a:xfrm>
            <a:off x="3290805" y="5241933"/>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矢印: 下 43">
            <a:extLst>
              <a:ext uri="{FF2B5EF4-FFF2-40B4-BE49-F238E27FC236}">
                <a16:creationId xmlns:a16="http://schemas.microsoft.com/office/drawing/2014/main" id="{6915D3B6-2B4C-5707-CB40-2696B722BA40}"/>
              </a:ext>
            </a:extLst>
          </p:cNvPr>
          <p:cNvSpPr/>
          <p:nvPr/>
        </p:nvSpPr>
        <p:spPr>
          <a:xfrm>
            <a:off x="5657443" y="5241933"/>
            <a:ext cx="792480" cy="1246418"/>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正方形/長方形 45">
            <a:extLst>
              <a:ext uri="{FF2B5EF4-FFF2-40B4-BE49-F238E27FC236}">
                <a16:creationId xmlns:a16="http://schemas.microsoft.com/office/drawing/2014/main" id="{D988BB36-5119-99B1-DF59-D4B80D30745C}"/>
              </a:ext>
            </a:extLst>
          </p:cNvPr>
          <p:cNvSpPr/>
          <p:nvPr/>
        </p:nvSpPr>
        <p:spPr>
          <a:xfrm>
            <a:off x="963202" y="5305611"/>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具体アクション</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48" name="図 47">
            <a:extLst>
              <a:ext uri="{FF2B5EF4-FFF2-40B4-BE49-F238E27FC236}">
                <a16:creationId xmlns:a16="http://schemas.microsoft.com/office/drawing/2014/main" id="{FE05BA15-FE69-7259-F5B1-7935A92DDFC1}"/>
              </a:ext>
            </a:extLst>
          </p:cNvPr>
          <p:cNvPicPr>
            <a:picLocks noChangeAspect="1"/>
          </p:cNvPicPr>
          <p:nvPr/>
        </p:nvPicPr>
        <p:blipFill>
          <a:blip r:embed="rId2"/>
          <a:stretch>
            <a:fillRect/>
          </a:stretch>
        </p:blipFill>
        <p:spPr>
          <a:xfrm>
            <a:off x="776401" y="5203250"/>
            <a:ext cx="582602" cy="543237"/>
          </a:xfrm>
          <a:prstGeom prst="rect">
            <a:avLst/>
          </a:prstGeom>
        </p:spPr>
      </p:pic>
      <p:sp>
        <p:nvSpPr>
          <p:cNvPr id="68" name="矢印: 下 67">
            <a:extLst>
              <a:ext uri="{FF2B5EF4-FFF2-40B4-BE49-F238E27FC236}">
                <a16:creationId xmlns:a16="http://schemas.microsoft.com/office/drawing/2014/main" id="{552BBE13-4EF3-7D14-9401-EE47B669E0A1}"/>
              </a:ext>
            </a:extLst>
          </p:cNvPr>
          <p:cNvSpPr/>
          <p:nvPr/>
        </p:nvSpPr>
        <p:spPr>
          <a:xfrm>
            <a:off x="8023941" y="3630924"/>
            <a:ext cx="792480" cy="1246418"/>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矢印: 下 68">
            <a:extLst>
              <a:ext uri="{FF2B5EF4-FFF2-40B4-BE49-F238E27FC236}">
                <a16:creationId xmlns:a16="http://schemas.microsoft.com/office/drawing/2014/main" id="{1CE2AD45-B81D-8C9E-9BEA-EE8F41408D09}"/>
              </a:ext>
            </a:extLst>
          </p:cNvPr>
          <p:cNvSpPr/>
          <p:nvPr/>
        </p:nvSpPr>
        <p:spPr>
          <a:xfrm>
            <a:off x="8023941" y="5241933"/>
            <a:ext cx="792480" cy="1246418"/>
          </a:xfrm>
          <a:prstGeom prst="downArrow">
            <a:avLst/>
          </a:prstGeom>
          <a:gradFill>
            <a:gsLst>
              <a:gs pos="4000">
                <a:schemeClr val="bg1"/>
              </a:gs>
              <a:gs pos="100000">
                <a:schemeClr val="bg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矢印: 下 69">
            <a:extLst>
              <a:ext uri="{FF2B5EF4-FFF2-40B4-BE49-F238E27FC236}">
                <a16:creationId xmlns:a16="http://schemas.microsoft.com/office/drawing/2014/main" id="{841F38E6-682B-0593-E7F1-B970924D2312}"/>
              </a:ext>
            </a:extLst>
          </p:cNvPr>
          <p:cNvSpPr/>
          <p:nvPr/>
        </p:nvSpPr>
        <p:spPr>
          <a:xfrm>
            <a:off x="8007886" y="2028495"/>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正方形/長方形 71">
            <a:extLst>
              <a:ext uri="{FF2B5EF4-FFF2-40B4-BE49-F238E27FC236}">
                <a16:creationId xmlns:a16="http://schemas.microsoft.com/office/drawing/2014/main" id="{EB9A5047-E824-A278-1DE7-38BCB5F653E4}"/>
              </a:ext>
            </a:extLst>
          </p:cNvPr>
          <p:cNvSpPr/>
          <p:nvPr/>
        </p:nvSpPr>
        <p:spPr>
          <a:xfrm>
            <a:off x="2835604" y="2013850"/>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その他動線</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grpSp>
        <p:nvGrpSpPr>
          <p:cNvPr id="18" name="グループ化 17">
            <a:extLst>
              <a:ext uri="{FF2B5EF4-FFF2-40B4-BE49-F238E27FC236}">
                <a16:creationId xmlns:a16="http://schemas.microsoft.com/office/drawing/2014/main" id="{D0BB931D-9C48-0F74-78B7-B39FB7567FB3}"/>
              </a:ext>
            </a:extLst>
          </p:cNvPr>
          <p:cNvGrpSpPr/>
          <p:nvPr/>
        </p:nvGrpSpPr>
        <p:grpSpPr>
          <a:xfrm>
            <a:off x="2497445" y="1791214"/>
            <a:ext cx="885030" cy="827297"/>
            <a:chOff x="2497445" y="1791214"/>
            <a:chExt cx="885030" cy="827297"/>
          </a:xfrm>
        </p:grpSpPr>
        <p:pic>
          <p:nvPicPr>
            <p:cNvPr id="73" name="図 72">
              <a:extLst>
                <a:ext uri="{FF2B5EF4-FFF2-40B4-BE49-F238E27FC236}">
                  <a16:creationId xmlns:a16="http://schemas.microsoft.com/office/drawing/2014/main" id="{95316F7A-1FC1-3A66-5456-79F5F636388C}"/>
                </a:ext>
              </a:extLst>
            </p:cNvPr>
            <p:cNvPicPr>
              <a:picLocks noChangeAspect="1"/>
            </p:cNvPicPr>
            <p:nvPr/>
          </p:nvPicPr>
          <p:blipFill>
            <a:blip r:embed="rId4"/>
            <a:stretch>
              <a:fillRect/>
            </a:stretch>
          </p:blipFill>
          <p:spPr>
            <a:xfrm>
              <a:off x="2497445" y="1791214"/>
              <a:ext cx="420559" cy="556499"/>
            </a:xfrm>
            <a:prstGeom prst="rect">
              <a:avLst/>
            </a:prstGeom>
          </p:spPr>
        </p:pic>
        <p:pic>
          <p:nvPicPr>
            <p:cNvPr id="74" name="図 73" descr="生活・その他】SNSとスマホのかわいいフリーイラスト | フタバのフリーイラスト">
              <a:extLst>
                <a:ext uri="{FF2B5EF4-FFF2-40B4-BE49-F238E27FC236}">
                  <a16:creationId xmlns:a16="http://schemas.microsoft.com/office/drawing/2014/main" id="{425A3C52-3D63-0CC5-2649-471F74876F03}"/>
                </a:ext>
              </a:extLst>
            </p:cNvPr>
            <p:cNvPicPr>
              <a:picLocks noChangeAspect="1"/>
            </p:cNvPicPr>
            <p:nvPr/>
          </p:nvPicPr>
          <p:blipFill>
            <a:blip r:embed="rId5"/>
            <a:stretch>
              <a:fillRect/>
            </a:stretch>
          </p:blipFill>
          <p:spPr>
            <a:xfrm>
              <a:off x="2610493" y="1846529"/>
              <a:ext cx="771982" cy="771982"/>
            </a:xfrm>
            <a:prstGeom prst="rect">
              <a:avLst/>
            </a:prstGeom>
          </p:spPr>
        </p:pic>
      </p:grpSp>
      <p:sp>
        <p:nvSpPr>
          <p:cNvPr id="76" name="テキスト ボックス 75">
            <a:extLst>
              <a:ext uri="{FF2B5EF4-FFF2-40B4-BE49-F238E27FC236}">
                <a16:creationId xmlns:a16="http://schemas.microsoft.com/office/drawing/2014/main" id="{A26D9D0D-8E50-52D9-7E65-8B19393671D2}"/>
              </a:ext>
            </a:extLst>
          </p:cNvPr>
          <p:cNvSpPr txBox="1"/>
          <p:nvPr/>
        </p:nvSpPr>
        <p:spPr>
          <a:xfrm>
            <a:off x="4820619" y="2013850"/>
            <a:ext cx="2466126"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友だち追加によるメリット提示</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✓限定クーポン　✓限定特典</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上でのコミュニケーション誘導</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LINE</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で査定　✓</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LINE</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で相談</a:t>
            </a:r>
            <a:endParaRPr lang="ja-JP" altLang="en-US" sz="1000" dirty="0">
              <a:solidFill>
                <a:schemeClr val="bg1">
                  <a:lumMod val="50000"/>
                </a:schemeClr>
              </a:solidFill>
            </a:endParaRPr>
          </a:p>
        </p:txBody>
      </p:sp>
      <p:sp>
        <p:nvSpPr>
          <p:cNvPr id="77" name="テキスト ボックス 76">
            <a:extLst>
              <a:ext uri="{FF2B5EF4-FFF2-40B4-BE49-F238E27FC236}">
                <a16:creationId xmlns:a16="http://schemas.microsoft.com/office/drawing/2014/main" id="{CFFD44FF-E632-A42A-AFD2-C978D5EB4382}"/>
              </a:ext>
            </a:extLst>
          </p:cNvPr>
          <p:cNvSpPr txBox="1"/>
          <p:nvPr/>
        </p:nvSpPr>
        <p:spPr>
          <a:xfrm>
            <a:off x="7498219" y="2013850"/>
            <a:ext cx="1852837"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でのナーチャリング</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✓アンケート回答</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で診断</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✓おすすめプランの提示</a:t>
            </a:r>
            <a:endParaRPr lang="ja-JP" altLang="en-US" sz="1000" dirty="0">
              <a:solidFill>
                <a:schemeClr val="bg1">
                  <a:lumMod val="50000"/>
                </a:schemeClr>
              </a:solidFill>
            </a:endParaRPr>
          </a:p>
        </p:txBody>
      </p:sp>
      <p:sp>
        <p:nvSpPr>
          <p:cNvPr id="78" name="テキスト ボックス 77">
            <a:extLst>
              <a:ext uri="{FF2B5EF4-FFF2-40B4-BE49-F238E27FC236}">
                <a16:creationId xmlns:a16="http://schemas.microsoft.com/office/drawing/2014/main" id="{2A92B9D2-AE81-B8F1-2775-9BABDBB2FB72}"/>
              </a:ext>
            </a:extLst>
          </p:cNvPr>
          <p:cNvSpPr txBox="1"/>
          <p:nvPr/>
        </p:nvSpPr>
        <p:spPr>
          <a:xfrm>
            <a:off x="4820619" y="3575596"/>
            <a:ext cx="2466126" cy="1015663"/>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◯企画投稿</a:t>
            </a:r>
            <a:r>
              <a:rPr lang="ja-JP" altLang="en-US" sz="1000" b="1" dirty="0">
                <a:solidFill>
                  <a:srgbClr val="FF0000"/>
                </a:solidFill>
                <a:latin typeface="メイリオ" panose="020B0604030504040204" pitchFamily="50" charset="-128"/>
                <a:ea typeface="メイリオ" panose="020B0604030504040204" pitchFamily="50" charset="-128"/>
                <a:cs typeface="Meiryo"/>
                <a:sym typeface="Meiryo"/>
              </a:rPr>
              <a:t>（月間投稿数）</a:t>
            </a:r>
            <a:endParaRPr lang="en-US" altLang="ja-JP" sz="1000" b="1" dirty="0">
              <a:solidFill>
                <a:srgbClr val="FF0000"/>
              </a:solidFill>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✓〇〇の季節、〇〇の日にちなんだ</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年齢→ライフイベント、よくある悩み</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アンケ回答例→学習コンテンツ</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79" name="テキスト ボックス 78">
            <a:extLst>
              <a:ext uri="{FF2B5EF4-FFF2-40B4-BE49-F238E27FC236}">
                <a16:creationId xmlns:a16="http://schemas.microsoft.com/office/drawing/2014/main" id="{3F5D2439-D550-34BB-53D6-091E9B32BF3C}"/>
              </a:ext>
            </a:extLst>
          </p:cNvPr>
          <p:cNvSpPr txBox="1"/>
          <p:nvPr/>
        </p:nvSpPr>
        <p:spPr>
          <a:xfrm>
            <a:off x="7303671" y="3575596"/>
            <a:ext cx="2241933" cy="954107"/>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◯ステップ配信</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✓友だち追加後◯日で</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（前後検索ニーズを調査）</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600" dirty="0">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✓学習が進行する導線設計</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特典等</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興味</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共感</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信頼</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オファー</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p>
        </p:txBody>
      </p:sp>
      <p:sp>
        <p:nvSpPr>
          <p:cNvPr id="82" name="テキスト ボックス 81">
            <a:extLst>
              <a:ext uri="{FF2B5EF4-FFF2-40B4-BE49-F238E27FC236}">
                <a16:creationId xmlns:a16="http://schemas.microsoft.com/office/drawing/2014/main" id="{F966D387-7E84-4F68-9C81-89F870210C79}"/>
              </a:ext>
            </a:extLst>
          </p:cNvPr>
          <p:cNvSpPr txBox="1"/>
          <p:nvPr/>
        </p:nvSpPr>
        <p:spPr>
          <a:xfrm>
            <a:off x="2772451" y="3575596"/>
            <a:ext cx="1852837" cy="1015663"/>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◯あいさつメッセージ</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◯アンケート</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情報収集</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solidFill>
                  <a:srgbClr val="FF0000"/>
                </a:solidFill>
                <a:latin typeface="メイリオ" panose="020B0604030504040204" pitchFamily="50" charset="-128"/>
                <a:ea typeface="メイリオ" panose="020B0604030504040204" pitchFamily="50" charset="-128"/>
                <a:cs typeface="Meiryo"/>
                <a:sym typeface="Meiryo"/>
              </a:rPr>
              <a:t>配信セグメントに活用</a:t>
            </a:r>
            <a:endParaRPr lang="en-US" altLang="ja-JP" sz="1000" b="1" dirty="0">
              <a:solidFill>
                <a:srgbClr val="FF0000"/>
              </a:solidFill>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◯プロフ・リッチメニュー</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sp>
        <p:nvSpPr>
          <p:cNvPr id="83" name="テキスト ボックス 82">
            <a:extLst>
              <a:ext uri="{FF2B5EF4-FFF2-40B4-BE49-F238E27FC236}">
                <a16:creationId xmlns:a16="http://schemas.microsoft.com/office/drawing/2014/main" id="{DCCA9A41-7AF8-A7E5-C05D-3CCE4D53D056}"/>
              </a:ext>
            </a:extLst>
          </p:cNvPr>
          <p:cNvSpPr txBox="1"/>
          <p:nvPr/>
        </p:nvSpPr>
        <p:spPr>
          <a:xfrm>
            <a:off x="7493762" y="5192489"/>
            <a:ext cx="1852837" cy="969496"/>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アフター</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フォロー</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✓よくある</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QA</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集の自動化</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✓チャット定型文の作成</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7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◯友だち紹介斡旋</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✓紹介</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CP</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などに誘導</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84" name="テキスト ボックス 83">
            <a:extLst>
              <a:ext uri="{FF2B5EF4-FFF2-40B4-BE49-F238E27FC236}">
                <a16:creationId xmlns:a16="http://schemas.microsoft.com/office/drawing/2014/main" id="{51666C25-34AB-775A-D360-970178A01029}"/>
              </a:ext>
            </a:extLst>
          </p:cNvPr>
          <p:cNvSpPr txBox="1"/>
          <p:nvPr/>
        </p:nvSpPr>
        <p:spPr>
          <a:xfrm>
            <a:off x="5015076" y="5197869"/>
            <a:ext cx="2038121"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◯アクション済</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✓応答メッセージ等で満足度↑</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sym typeface="Meiryo"/>
              </a:rPr>
              <a:t>◯再購入・クロスセル</a:t>
            </a:r>
            <a:endParaRPr lang="en-US" altLang="ja-JP" sz="1000" b="1" dirty="0">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65000"/>
                  </a:schemeClr>
                </a:solidFill>
                <a:latin typeface="メイリオ" panose="020B0604030504040204" pitchFamily="50" charset="-128"/>
                <a:ea typeface="メイリオ" panose="020B0604030504040204" pitchFamily="50" charset="-128"/>
                <a:sym typeface="Meiryo"/>
              </a:rPr>
              <a:t>✓再購入時期、併売商品を設定</a:t>
            </a:r>
            <a:endParaRPr lang="en-US" altLang="ja-JP" sz="1000" dirty="0">
              <a:solidFill>
                <a:schemeClr val="bg1">
                  <a:lumMod val="65000"/>
                </a:schemeClr>
              </a:solidFill>
              <a:latin typeface="メイリオ" panose="020B0604030504040204" pitchFamily="50" charset="-128"/>
              <a:ea typeface="メイリオ" panose="020B0604030504040204" pitchFamily="50" charset="-128"/>
              <a:sym typeface="Meiryo"/>
            </a:endParaRPr>
          </a:p>
        </p:txBody>
      </p:sp>
      <p:sp>
        <p:nvSpPr>
          <p:cNvPr id="85" name="テキスト ボックス 84">
            <a:extLst>
              <a:ext uri="{FF2B5EF4-FFF2-40B4-BE49-F238E27FC236}">
                <a16:creationId xmlns:a16="http://schemas.microsoft.com/office/drawing/2014/main" id="{E36E01A8-5E8D-6868-5242-258854A6C11E}"/>
              </a:ext>
            </a:extLst>
          </p:cNvPr>
          <p:cNvSpPr txBox="1"/>
          <p:nvPr/>
        </p:nvSpPr>
        <p:spPr>
          <a:xfrm>
            <a:off x="2577903" y="5197869"/>
            <a:ext cx="2241933" cy="954107"/>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◯再・簡易アンケート</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診断</a:t>
            </a:r>
            <a:r>
              <a:rPr lang="en-US" altLang="ja-JP" sz="1000" b="1" dirty="0">
                <a:latin typeface="メイリオ" panose="020B0604030504040204" pitchFamily="50" charset="-128"/>
                <a:ea typeface="メイリオ" panose="020B0604030504040204" pitchFamily="50" charset="-128"/>
                <a:cs typeface="Meiryo"/>
                <a:sym typeface="Meiryo"/>
              </a:rPr>
              <a:t>)</a:t>
            </a: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✓休眠層に対して</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サービス軸と異なる診断軸を用意</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6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◯商品訴求を再押し</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✓再度サービス訴求を実施</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8" name="矢印: 下 7">
            <a:extLst>
              <a:ext uri="{FF2B5EF4-FFF2-40B4-BE49-F238E27FC236}">
                <a16:creationId xmlns:a16="http://schemas.microsoft.com/office/drawing/2014/main" id="{BE6FB710-6D0D-A062-5DC4-E7437CE5BDE1}"/>
              </a:ext>
            </a:extLst>
          </p:cNvPr>
          <p:cNvSpPr/>
          <p:nvPr/>
        </p:nvSpPr>
        <p:spPr>
          <a:xfrm>
            <a:off x="8045609" y="1409403"/>
            <a:ext cx="871728" cy="395993"/>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矢印: 下 9">
            <a:extLst>
              <a:ext uri="{FF2B5EF4-FFF2-40B4-BE49-F238E27FC236}">
                <a16:creationId xmlns:a16="http://schemas.microsoft.com/office/drawing/2014/main" id="{92FDFDEB-CB5F-8A45-29AB-C10FC6580A7C}"/>
              </a:ext>
            </a:extLst>
          </p:cNvPr>
          <p:cNvSpPr/>
          <p:nvPr/>
        </p:nvSpPr>
        <p:spPr>
          <a:xfrm>
            <a:off x="8919666" y="1412851"/>
            <a:ext cx="871728" cy="395993"/>
          </a:xfrm>
          <a:prstGeom prst="downArrow">
            <a:avLst/>
          </a:prstGeom>
          <a:gradFill>
            <a:gsLst>
              <a:gs pos="4000">
                <a:schemeClr val="bg1"/>
              </a:gs>
              <a:gs pos="100000">
                <a:schemeClr val="bg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矢印: 下 10">
            <a:extLst>
              <a:ext uri="{FF2B5EF4-FFF2-40B4-BE49-F238E27FC236}">
                <a16:creationId xmlns:a16="http://schemas.microsoft.com/office/drawing/2014/main" id="{218212FE-3645-DB9F-3397-0748130F1AF8}"/>
              </a:ext>
            </a:extLst>
          </p:cNvPr>
          <p:cNvSpPr/>
          <p:nvPr/>
        </p:nvSpPr>
        <p:spPr>
          <a:xfrm>
            <a:off x="7180483" y="1412851"/>
            <a:ext cx="871728" cy="395993"/>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2D2D0860-25E1-93CE-4600-A1274BD77509}"/>
              </a:ext>
            </a:extLst>
          </p:cNvPr>
          <p:cNvSpPr txBox="1"/>
          <p:nvPr/>
        </p:nvSpPr>
        <p:spPr>
          <a:xfrm>
            <a:off x="7180483" y="1445284"/>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cs typeface="Meiryo"/>
                <a:sym typeface="Meiryo"/>
              </a:rPr>
              <a:t>企画</a:t>
            </a:r>
            <a:endParaRPr lang="en-US" altLang="ja-JP" sz="800" dirty="0">
              <a:latin typeface="メイリオ" panose="020B0604030504040204" pitchFamily="50" charset="-128"/>
              <a:ea typeface="メイリオ" panose="020B0604030504040204" pitchFamily="50" charset="-128"/>
              <a:cs typeface="Meiryo"/>
              <a:sym typeface="Meiryo"/>
            </a:endParaRPr>
          </a:p>
          <a:p>
            <a:pPr algn="ctr"/>
            <a:r>
              <a:rPr lang="ja-JP" altLang="en-US" sz="800" dirty="0">
                <a:latin typeface="メイリオ" panose="020B0604030504040204" pitchFamily="50" charset="-128"/>
                <a:ea typeface="メイリオ" panose="020B0604030504040204" pitchFamily="50" charset="-128"/>
                <a:sym typeface="Meiryo"/>
              </a:rPr>
              <a:t>投稿</a:t>
            </a:r>
            <a:endParaRPr lang="ja-JP" altLang="en-US" sz="800" dirty="0"/>
          </a:p>
        </p:txBody>
      </p:sp>
      <p:sp>
        <p:nvSpPr>
          <p:cNvPr id="13" name="テキスト ボックス 12">
            <a:extLst>
              <a:ext uri="{FF2B5EF4-FFF2-40B4-BE49-F238E27FC236}">
                <a16:creationId xmlns:a16="http://schemas.microsoft.com/office/drawing/2014/main" id="{A87B802C-245D-9C6E-1C33-7190F3073124}"/>
              </a:ext>
            </a:extLst>
          </p:cNvPr>
          <p:cNvSpPr txBox="1"/>
          <p:nvPr/>
        </p:nvSpPr>
        <p:spPr>
          <a:xfrm>
            <a:off x="8050075" y="1452197"/>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rPr>
              <a:t>ステップ</a:t>
            </a:r>
            <a:endParaRPr lang="en-US" altLang="ja-JP" sz="800" dirty="0">
              <a:latin typeface="メイリオ" panose="020B0604030504040204" pitchFamily="50" charset="-128"/>
              <a:ea typeface="メイリオ" panose="020B0604030504040204" pitchFamily="50" charset="-128"/>
            </a:endParaRPr>
          </a:p>
          <a:p>
            <a:pPr algn="ctr"/>
            <a:r>
              <a:rPr lang="ja-JP" altLang="en-US" sz="800" dirty="0">
                <a:latin typeface="メイリオ" panose="020B0604030504040204" pitchFamily="50" charset="-128"/>
                <a:ea typeface="メイリオ" panose="020B0604030504040204" pitchFamily="50" charset="-128"/>
              </a:rPr>
              <a:t>配信</a:t>
            </a:r>
          </a:p>
        </p:txBody>
      </p:sp>
      <p:sp>
        <p:nvSpPr>
          <p:cNvPr id="14" name="テキスト ボックス 13">
            <a:extLst>
              <a:ext uri="{FF2B5EF4-FFF2-40B4-BE49-F238E27FC236}">
                <a16:creationId xmlns:a16="http://schemas.microsoft.com/office/drawing/2014/main" id="{D775BACA-B985-5029-1E70-8D28879E88EC}"/>
              </a:ext>
            </a:extLst>
          </p:cNvPr>
          <p:cNvSpPr txBox="1"/>
          <p:nvPr/>
        </p:nvSpPr>
        <p:spPr>
          <a:xfrm>
            <a:off x="8910735" y="1438122"/>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rPr>
              <a:t>貴社対応</a:t>
            </a:r>
            <a:endParaRPr lang="en-US" altLang="ja-JP" sz="800" dirty="0">
              <a:latin typeface="メイリオ" panose="020B0604030504040204" pitchFamily="50" charset="-128"/>
              <a:ea typeface="メイリオ" panose="020B0604030504040204" pitchFamily="50" charset="-128"/>
            </a:endParaRPr>
          </a:p>
          <a:p>
            <a:pPr algn="ctr"/>
            <a:r>
              <a:rPr lang="en-US" altLang="ja-JP" sz="800" dirty="0">
                <a:latin typeface="メイリオ" panose="020B0604030504040204" pitchFamily="50" charset="-128"/>
                <a:ea typeface="メイリオ" panose="020B0604030504040204" pitchFamily="50" charset="-128"/>
              </a:rPr>
              <a:t>※</a:t>
            </a:r>
            <a:r>
              <a:rPr lang="ja-JP" altLang="en-US" sz="800" dirty="0">
                <a:latin typeface="メイリオ" panose="020B0604030504040204" pitchFamily="50" charset="-128"/>
                <a:ea typeface="メイリオ" panose="020B0604030504040204" pitchFamily="50" charset="-128"/>
              </a:rPr>
              <a:t>軽減</a:t>
            </a:r>
          </a:p>
        </p:txBody>
      </p:sp>
      <p:sp>
        <p:nvSpPr>
          <p:cNvPr id="15" name="正方形/長方形 14">
            <a:extLst>
              <a:ext uri="{FF2B5EF4-FFF2-40B4-BE49-F238E27FC236}">
                <a16:creationId xmlns:a16="http://schemas.microsoft.com/office/drawing/2014/main" id="{B0439D32-FABC-CA34-F07C-587F509AEF1D}"/>
              </a:ext>
            </a:extLst>
          </p:cNvPr>
          <p:cNvSpPr/>
          <p:nvPr/>
        </p:nvSpPr>
        <p:spPr>
          <a:xfrm>
            <a:off x="7116723" y="1367434"/>
            <a:ext cx="2725750" cy="483252"/>
          </a:xfrm>
          <a:prstGeom prst="rect">
            <a:avLst/>
          </a:prstGeom>
          <a:no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コネクタ: カギ線 19">
            <a:extLst>
              <a:ext uri="{FF2B5EF4-FFF2-40B4-BE49-F238E27FC236}">
                <a16:creationId xmlns:a16="http://schemas.microsoft.com/office/drawing/2014/main" id="{B6880BFB-9CE8-682D-5E73-400E7A9D4984}"/>
              </a:ext>
            </a:extLst>
          </p:cNvPr>
          <p:cNvCxnSpPr>
            <a:cxnSpLocks/>
            <a:stCxn id="74" idx="2"/>
            <a:endCxn id="25" idx="0"/>
          </p:cNvCxnSpPr>
          <p:nvPr/>
        </p:nvCxnSpPr>
        <p:spPr>
          <a:xfrm rot="5400000">
            <a:off x="1884437" y="2550716"/>
            <a:ext cx="1044252" cy="1179842"/>
          </a:xfrm>
          <a:prstGeom prst="bentConnector3">
            <a:avLst>
              <a:gd name="adj1" fmla="val 50000"/>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コネクタ: カギ線 26">
            <a:extLst>
              <a:ext uri="{FF2B5EF4-FFF2-40B4-BE49-F238E27FC236}">
                <a16:creationId xmlns:a16="http://schemas.microsoft.com/office/drawing/2014/main" id="{EF07FDA7-6FC7-C204-99A4-DB47A6724969}"/>
              </a:ext>
            </a:extLst>
          </p:cNvPr>
          <p:cNvCxnSpPr>
            <a:cxnSpLocks/>
            <a:endCxn id="25" idx="0"/>
          </p:cNvCxnSpPr>
          <p:nvPr/>
        </p:nvCxnSpPr>
        <p:spPr>
          <a:xfrm rot="16200000" flipH="1">
            <a:off x="693395" y="2539516"/>
            <a:ext cx="1138050" cy="1108444"/>
          </a:xfrm>
          <a:prstGeom prst="bentConnector3">
            <a:avLst>
              <a:gd name="adj1" fmla="val 54185"/>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矢印コネクタ 36">
            <a:extLst>
              <a:ext uri="{FF2B5EF4-FFF2-40B4-BE49-F238E27FC236}">
                <a16:creationId xmlns:a16="http://schemas.microsoft.com/office/drawing/2014/main" id="{B79B5748-0A9B-B2A8-36EE-9B6743393A50}"/>
              </a:ext>
            </a:extLst>
          </p:cNvPr>
          <p:cNvCxnSpPr>
            <a:stCxn id="25" idx="2"/>
            <a:endCxn id="46" idx="0"/>
          </p:cNvCxnSpPr>
          <p:nvPr/>
        </p:nvCxnSpPr>
        <p:spPr>
          <a:xfrm>
            <a:off x="1816642" y="4001277"/>
            <a:ext cx="0" cy="1304334"/>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8656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55786A2-F100-6AA6-4BA2-C612ABD2107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友だち追加～</a:t>
            </a:r>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日を境に大きくアクティブ率が下がる（ブロック率が上がる）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為、追加から</a:t>
            </a:r>
            <a:r>
              <a:rPr lang="en-US" altLang="ja-JP" sz="1600" b="1" dirty="0">
                <a:latin typeface="メイリオ" panose="020B0604030504040204" pitchFamily="50" charset="-128"/>
                <a:ea typeface="メイリオ" panose="020B0604030504040204" pitchFamily="50" charset="-128"/>
                <a:cs typeface="Meiryo"/>
                <a:sym typeface="Meiryo"/>
              </a:rPr>
              <a:t>20‐30</a:t>
            </a:r>
            <a:r>
              <a:rPr lang="ja-JP" altLang="en-US" sz="1600" b="1" dirty="0">
                <a:latin typeface="メイリオ" panose="020B0604030504040204" pitchFamily="50" charset="-128"/>
                <a:ea typeface="メイリオ" panose="020B0604030504040204" pitchFamily="50" charset="-128"/>
                <a:cs typeface="Meiryo"/>
                <a:sym typeface="Meiryo"/>
              </a:rPr>
              <a:t>日間のステップ配信構築とユーザビリティの改善が必要に。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latin typeface="メイリオ" panose="020B0604030504040204" pitchFamily="50" charset="-128"/>
                <a:ea typeface="メイリオ" panose="020B0604030504040204" pitchFamily="50" charset="-128"/>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15</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30</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FF0000"/>
                </a:solidFill>
                <a:latin typeface="メイリオ" panose="020B0604030504040204" pitchFamily="50" charset="-128"/>
                <a:ea typeface="メイリオ" panose="020B0604030504040204" pitchFamily="50" charset="-128"/>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065560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3900D-063E-F973-5EF2-005AE1CA215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758DBC2-018A-378B-99F0-43DAFE20DF5C}"/>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a:t>
            </a:r>
          </a:p>
        </p:txBody>
      </p:sp>
      <p:sp>
        <p:nvSpPr>
          <p:cNvPr id="3" name="正方形/長方形 2">
            <a:extLst>
              <a:ext uri="{FF2B5EF4-FFF2-40B4-BE49-F238E27FC236}">
                <a16:creationId xmlns:a16="http://schemas.microsoft.com/office/drawing/2014/main" id="{294458F3-B182-EFAE-9BE8-8E76712736E7}"/>
              </a:ext>
            </a:extLst>
          </p:cNvPr>
          <p:cNvSpPr/>
          <p:nvPr/>
        </p:nvSpPr>
        <p:spPr>
          <a:xfrm>
            <a:off x="175475" y="1823735"/>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EDB57FCC-E034-81EB-B2ED-2EB62032A504}"/>
              </a:ext>
            </a:extLst>
          </p:cNvPr>
          <p:cNvSpPr/>
          <p:nvPr/>
        </p:nvSpPr>
        <p:spPr>
          <a:xfrm>
            <a:off x="4994298" y="1823734"/>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3C363108-225C-23EE-472E-1E1A14DA49E4}"/>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10" name="Google Shape;752;p28">
            <a:extLst>
              <a:ext uri="{FF2B5EF4-FFF2-40B4-BE49-F238E27FC236}">
                <a16:creationId xmlns:a16="http://schemas.microsoft.com/office/drawing/2014/main" id="{9A39965E-24C8-AD90-0D9E-A9BC47D02016}"/>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WEB</a:t>
            </a:r>
            <a:r>
              <a:rPr lang="ja-JP" altLang="en-US" sz="1600" b="1" dirty="0">
                <a:latin typeface="メイリオ" panose="020B0604030504040204" pitchFamily="50" charset="-128"/>
                <a:ea typeface="メイリオ" panose="020B0604030504040204" pitchFamily="50" charset="-128"/>
                <a:cs typeface="Meiryo"/>
                <a:sym typeface="Meiryo"/>
              </a:rPr>
              <a:t>上で何らかの成果地点（</a:t>
            </a:r>
            <a:r>
              <a:rPr lang="en-US" altLang="ja-JP" sz="1600" b="1" dirty="0">
                <a:latin typeface="メイリオ" panose="020B0604030504040204" pitchFamily="50" charset="-128"/>
                <a:ea typeface="メイリオ" panose="020B0604030504040204" pitchFamily="50" charset="-128"/>
                <a:cs typeface="Meiryo"/>
                <a:sym typeface="Meiryo"/>
              </a:rPr>
              <a:t>mcv</a:t>
            </a:r>
            <a:r>
              <a:rPr lang="ja-JP" altLang="en-US" sz="1600" b="1" dirty="0">
                <a:latin typeface="メイリオ" panose="020B0604030504040204" pitchFamily="50" charset="-128"/>
                <a:ea typeface="メイリオ" panose="020B0604030504040204" pitchFamily="50" charset="-128"/>
                <a:cs typeface="Meiryo"/>
                <a:sym typeface="Meiryo"/>
              </a:rPr>
              <a:t>、</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）に到達しリード獲得できているか、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を軸に配信戦略を組み立てることでユーザーのアクティブ率を保った状態で運用。</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11" name="テキスト ボックス 10">
            <a:extLst>
              <a:ext uri="{FF2B5EF4-FFF2-40B4-BE49-F238E27FC236}">
                <a16:creationId xmlns:a16="http://schemas.microsoft.com/office/drawing/2014/main" id="{1CD1533E-1582-9E17-EE6F-EA2F4BE96D58}"/>
              </a:ext>
            </a:extLst>
          </p:cNvPr>
          <p:cNvSpPr txBox="1"/>
          <p:nvPr/>
        </p:nvSpPr>
        <p:spPr>
          <a:xfrm>
            <a:off x="422130" y="1861195"/>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① 接触（認知・流入）</a:t>
            </a:r>
          </a:p>
        </p:txBody>
      </p:sp>
      <p:sp>
        <p:nvSpPr>
          <p:cNvPr id="12" name="テキスト ボックス 11">
            <a:extLst>
              <a:ext uri="{FF2B5EF4-FFF2-40B4-BE49-F238E27FC236}">
                <a16:creationId xmlns:a16="http://schemas.microsoft.com/office/drawing/2014/main" id="{2C43BB1A-3D6A-04B9-F8ED-26CB7DCA3735}"/>
              </a:ext>
            </a:extLst>
          </p:cNvPr>
          <p:cNvSpPr txBox="1"/>
          <p:nvPr/>
        </p:nvSpPr>
        <p:spPr>
          <a:xfrm>
            <a:off x="422130" y="2931847"/>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③ 育成（興味</a:t>
            </a:r>
            <a:r>
              <a:rPr lang="ja-JP" altLang="en-US" sz="1200" b="1" dirty="0">
                <a:latin typeface="メイリオ" panose="020B0604030504040204" pitchFamily="50" charset="-128"/>
                <a:ea typeface="メイリオ" panose="020B0604030504040204" pitchFamily="50" charset="-128"/>
              </a:rPr>
              <a:t>喚起</a:t>
            </a:r>
            <a:r>
              <a:rPr lang="ja-JP" altLang="ja-JP" sz="1200" b="1" dirty="0">
                <a:latin typeface="メイリオ" panose="020B0604030504040204" pitchFamily="50" charset="-128"/>
                <a:ea typeface="メイリオ" panose="020B0604030504040204" pitchFamily="50" charset="-128"/>
              </a:rPr>
              <a:t>）</a:t>
            </a:r>
          </a:p>
        </p:txBody>
      </p:sp>
      <p:sp>
        <p:nvSpPr>
          <p:cNvPr id="15" name="テキスト ボックス 14">
            <a:extLst>
              <a:ext uri="{FF2B5EF4-FFF2-40B4-BE49-F238E27FC236}">
                <a16:creationId xmlns:a16="http://schemas.microsoft.com/office/drawing/2014/main" id="{BCB10DC8-82CD-0C69-034B-7642E1296837}"/>
              </a:ext>
            </a:extLst>
          </p:cNvPr>
          <p:cNvSpPr txBox="1"/>
          <p:nvPr/>
        </p:nvSpPr>
        <p:spPr>
          <a:xfrm>
            <a:off x="422130" y="2396521"/>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② サイト離脱</a:t>
            </a:r>
            <a:r>
              <a:rPr lang="ja-JP" altLang="en-US" sz="1200" b="1" dirty="0">
                <a:latin typeface="メイリオ" panose="020B0604030504040204" pitchFamily="50" charset="-128"/>
                <a:ea typeface="メイリオ" panose="020B0604030504040204" pitchFamily="50" charset="-128"/>
              </a:rPr>
              <a:t>（対策）</a:t>
            </a:r>
            <a:endParaRPr lang="ja-JP" altLang="ja-JP" sz="12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15AFA19-CD5F-9379-AE26-44B78C354860}"/>
              </a:ext>
            </a:extLst>
          </p:cNvPr>
          <p:cNvSpPr txBox="1"/>
          <p:nvPr/>
        </p:nvSpPr>
        <p:spPr>
          <a:xfrm>
            <a:off x="422130" y="3467172"/>
            <a:ext cx="2352196" cy="446111"/>
          </a:xfrm>
          <a:prstGeom prst="rect">
            <a:avLst/>
          </a:prstGeom>
          <a:solidFill>
            <a:schemeClr val="accent6">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④リード獲得 </a:t>
            </a:r>
            <a:r>
              <a:rPr lang="en-US" altLang="ja-JP" sz="1000" b="1" dirty="0">
                <a:latin typeface="メイリオ" panose="020B0604030504040204" pitchFamily="50" charset="-128"/>
                <a:ea typeface="メイリオ" panose="020B0604030504040204" pitchFamily="50" charset="-128"/>
              </a:rPr>
              <a:t>(web)</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22062743-7DD1-C474-56DE-C86161967F49}"/>
              </a:ext>
            </a:extLst>
          </p:cNvPr>
          <p:cNvSpPr txBox="1"/>
          <p:nvPr/>
        </p:nvSpPr>
        <p:spPr>
          <a:xfrm>
            <a:off x="422130" y="4407024"/>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⑤ リード有効化</a:t>
            </a:r>
            <a:endParaRPr lang="ja-JP" altLang="ja-JP" sz="12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B3F98235-7ECD-D5F4-08BE-76857355ABFA}"/>
              </a:ext>
            </a:extLst>
          </p:cNvPr>
          <p:cNvSpPr txBox="1"/>
          <p:nvPr/>
        </p:nvSpPr>
        <p:spPr>
          <a:xfrm>
            <a:off x="422130" y="5477676"/>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⑦マネタイズ</a:t>
            </a:r>
            <a:r>
              <a:rPr lang="en-US" altLang="ja-JP" sz="1050" b="1" dirty="0">
                <a:latin typeface="メイリオ" panose="020B0604030504040204" pitchFamily="50" charset="-128"/>
                <a:ea typeface="メイリオ" panose="020B0604030504040204" pitchFamily="50" charset="-128"/>
              </a:rPr>
              <a:t>(</a:t>
            </a:r>
            <a:r>
              <a:rPr lang="ja-JP" altLang="en-US" sz="1050" b="1" dirty="0">
                <a:latin typeface="メイリオ" panose="020B0604030504040204" pitchFamily="50" charset="-128"/>
                <a:ea typeface="メイリオ" panose="020B0604030504040204" pitchFamily="50" charset="-128"/>
              </a:rPr>
              <a:t>成約</a:t>
            </a:r>
            <a:r>
              <a:rPr lang="en-US" altLang="ja-JP" sz="1050" b="1" dirty="0">
                <a:latin typeface="メイリオ" panose="020B0604030504040204" pitchFamily="50" charset="-128"/>
                <a:ea typeface="メイリオ" panose="020B0604030504040204" pitchFamily="50" charset="-128"/>
              </a:rPr>
              <a:t>/</a:t>
            </a:r>
            <a:r>
              <a:rPr lang="ja-JP" altLang="en-US" sz="1050" b="1" dirty="0">
                <a:latin typeface="メイリオ" panose="020B0604030504040204" pitchFamily="50" charset="-128"/>
                <a:ea typeface="メイリオ" panose="020B0604030504040204" pitchFamily="50" charset="-128"/>
              </a:rPr>
              <a:t>購入</a:t>
            </a:r>
            <a:r>
              <a:rPr lang="en-US" altLang="ja-JP" sz="1050" b="1" dirty="0">
                <a:latin typeface="メイリオ" panose="020B0604030504040204" pitchFamily="50" charset="-128"/>
                <a:ea typeface="メイリオ" panose="020B0604030504040204" pitchFamily="50" charset="-128"/>
              </a:rPr>
              <a:t>)</a:t>
            </a:r>
            <a:endParaRPr lang="ja-JP" altLang="ja-JP" sz="1200" b="1" dirty="0">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999F747F-6C0D-0BDB-B5B7-8266514B8949}"/>
              </a:ext>
            </a:extLst>
          </p:cNvPr>
          <p:cNvSpPr txBox="1"/>
          <p:nvPr/>
        </p:nvSpPr>
        <p:spPr>
          <a:xfrm>
            <a:off x="422130" y="4942350"/>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⑥ 有効リードの再育成</a:t>
            </a:r>
            <a:endParaRPr lang="ja-JP" altLang="ja-JP" sz="12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A2277771-01BE-2A4E-C621-929D69C54177}"/>
              </a:ext>
            </a:extLst>
          </p:cNvPr>
          <p:cNvSpPr txBox="1"/>
          <p:nvPr/>
        </p:nvSpPr>
        <p:spPr>
          <a:xfrm>
            <a:off x="422130" y="6013004"/>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⑧</a:t>
            </a:r>
            <a:r>
              <a:rPr lang="en-US" altLang="ja-JP" sz="1200" b="1" dirty="0">
                <a:latin typeface="メイリオ" panose="020B0604030504040204" pitchFamily="50" charset="-128"/>
                <a:ea typeface="メイリオ" panose="020B0604030504040204" pitchFamily="50" charset="-128"/>
              </a:rPr>
              <a:t>LTV</a:t>
            </a:r>
            <a:r>
              <a:rPr lang="ja-JP" altLang="en-US" sz="1200" b="1" dirty="0">
                <a:latin typeface="メイリオ" panose="020B0604030504040204" pitchFamily="50" charset="-128"/>
                <a:ea typeface="メイリオ" panose="020B0604030504040204" pitchFamily="50" charset="-128"/>
              </a:rPr>
              <a:t>最大化・紹介</a:t>
            </a:r>
            <a:endParaRPr lang="ja-JP" altLang="ja-JP" sz="1200" b="1" dirty="0">
              <a:latin typeface="メイリオ" panose="020B0604030504040204" pitchFamily="50" charset="-128"/>
              <a:ea typeface="メイリオ" panose="020B0604030504040204" pitchFamily="50" charset="-128"/>
            </a:endParaRPr>
          </a:p>
        </p:txBody>
      </p:sp>
      <p:cxnSp>
        <p:nvCxnSpPr>
          <p:cNvPr id="21" name="直線矢印コネクタ 20">
            <a:extLst>
              <a:ext uri="{FF2B5EF4-FFF2-40B4-BE49-F238E27FC236}">
                <a16:creationId xmlns:a16="http://schemas.microsoft.com/office/drawing/2014/main" id="{9CD79024-49B9-DF89-8EE9-633017761437}"/>
              </a:ext>
            </a:extLst>
          </p:cNvPr>
          <p:cNvCxnSpPr>
            <a:cxnSpLocks/>
          </p:cNvCxnSpPr>
          <p:nvPr/>
        </p:nvCxnSpPr>
        <p:spPr>
          <a:xfrm>
            <a:off x="725974" y="3934112"/>
            <a:ext cx="0" cy="474234"/>
          </a:xfrm>
          <a:prstGeom prst="straightConnector1">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2" name="テキスト ボックス 31">
            <a:extLst>
              <a:ext uri="{FF2B5EF4-FFF2-40B4-BE49-F238E27FC236}">
                <a16:creationId xmlns:a16="http://schemas.microsoft.com/office/drawing/2014/main" id="{3707324A-CA31-10C7-B6B8-E3A9A53CC3A2}"/>
              </a:ext>
            </a:extLst>
          </p:cNvPr>
          <p:cNvSpPr txBox="1"/>
          <p:nvPr/>
        </p:nvSpPr>
        <p:spPr>
          <a:xfrm>
            <a:off x="5143202" y="1861195"/>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① 接触（認知・流入）</a:t>
            </a:r>
          </a:p>
        </p:txBody>
      </p:sp>
      <p:sp>
        <p:nvSpPr>
          <p:cNvPr id="34" name="テキスト ボックス 33">
            <a:extLst>
              <a:ext uri="{FF2B5EF4-FFF2-40B4-BE49-F238E27FC236}">
                <a16:creationId xmlns:a16="http://schemas.microsoft.com/office/drawing/2014/main" id="{2ADFDD2E-A723-2916-4648-0F5E903278F3}"/>
              </a:ext>
            </a:extLst>
          </p:cNvPr>
          <p:cNvSpPr txBox="1"/>
          <p:nvPr/>
        </p:nvSpPr>
        <p:spPr>
          <a:xfrm>
            <a:off x="5143202" y="2931847"/>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③ 育成（興味</a:t>
            </a:r>
            <a:r>
              <a:rPr lang="ja-JP" altLang="en-US" sz="1200" b="1" dirty="0">
                <a:latin typeface="メイリオ" panose="020B0604030504040204" pitchFamily="50" charset="-128"/>
                <a:ea typeface="メイリオ" panose="020B0604030504040204" pitchFamily="50" charset="-128"/>
              </a:rPr>
              <a:t>喚起</a:t>
            </a:r>
            <a:r>
              <a:rPr lang="ja-JP" altLang="ja-JP" sz="1200" b="1" dirty="0">
                <a:latin typeface="メイリオ" panose="020B0604030504040204" pitchFamily="50" charset="-128"/>
                <a:ea typeface="メイリオ" panose="020B0604030504040204" pitchFamily="50" charset="-128"/>
              </a:rPr>
              <a:t>）</a:t>
            </a:r>
          </a:p>
        </p:txBody>
      </p:sp>
      <p:sp>
        <p:nvSpPr>
          <p:cNvPr id="35" name="テキスト ボックス 34">
            <a:extLst>
              <a:ext uri="{FF2B5EF4-FFF2-40B4-BE49-F238E27FC236}">
                <a16:creationId xmlns:a16="http://schemas.microsoft.com/office/drawing/2014/main" id="{B895B974-A656-2669-0CE1-C27F2B4B20BE}"/>
              </a:ext>
            </a:extLst>
          </p:cNvPr>
          <p:cNvSpPr txBox="1"/>
          <p:nvPr/>
        </p:nvSpPr>
        <p:spPr>
          <a:xfrm>
            <a:off x="5143202" y="2396521"/>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② サイト離脱</a:t>
            </a:r>
            <a:r>
              <a:rPr lang="ja-JP" altLang="en-US" sz="1200" b="1" dirty="0">
                <a:latin typeface="メイリオ" panose="020B0604030504040204" pitchFamily="50" charset="-128"/>
                <a:ea typeface="メイリオ" panose="020B0604030504040204" pitchFamily="50" charset="-128"/>
              </a:rPr>
              <a:t>（対策）</a:t>
            </a:r>
            <a:endParaRPr lang="ja-JP" altLang="ja-JP" sz="1200" b="1" dirty="0">
              <a:latin typeface="メイリオ" panose="020B0604030504040204" pitchFamily="50" charset="-128"/>
              <a:ea typeface="メイリオ" panose="020B0604030504040204" pitchFamily="50" charset="-128"/>
            </a:endParaRPr>
          </a:p>
        </p:txBody>
      </p:sp>
      <p:sp>
        <p:nvSpPr>
          <p:cNvPr id="36" name="テキスト ボックス 35">
            <a:extLst>
              <a:ext uri="{FF2B5EF4-FFF2-40B4-BE49-F238E27FC236}">
                <a16:creationId xmlns:a16="http://schemas.microsoft.com/office/drawing/2014/main" id="{A07117C9-502D-4C6F-AA2E-1C1E7CF7B4C6}"/>
              </a:ext>
            </a:extLst>
          </p:cNvPr>
          <p:cNvSpPr txBox="1"/>
          <p:nvPr/>
        </p:nvSpPr>
        <p:spPr>
          <a:xfrm>
            <a:off x="5143202" y="3467173"/>
            <a:ext cx="2352196" cy="446111"/>
          </a:xfrm>
          <a:prstGeom prst="rect">
            <a:avLst/>
          </a:prstGeom>
          <a:solidFill>
            <a:schemeClr val="accent6">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④リード獲得 </a:t>
            </a:r>
            <a:r>
              <a:rPr lang="en-US" altLang="ja-JP" sz="1000" b="1" dirty="0">
                <a:latin typeface="メイリオ" panose="020B0604030504040204" pitchFamily="50" charset="-128"/>
                <a:ea typeface="メイリオ" panose="020B0604030504040204" pitchFamily="50" charset="-128"/>
              </a:rPr>
              <a:t>(web/LINE)</a:t>
            </a:r>
            <a:endParaRPr lang="ja-JP" altLang="ja-JP" sz="1100" b="1" dirty="0">
              <a:latin typeface="メイリオ" panose="020B0604030504040204" pitchFamily="50" charset="-128"/>
              <a:ea typeface="メイリオ" panose="020B0604030504040204" pitchFamily="50" charset="-128"/>
            </a:endParaRPr>
          </a:p>
        </p:txBody>
      </p:sp>
      <p:sp>
        <p:nvSpPr>
          <p:cNvPr id="38" name="テキスト ボックス 37">
            <a:extLst>
              <a:ext uri="{FF2B5EF4-FFF2-40B4-BE49-F238E27FC236}">
                <a16:creationId xmlns:a16="http://schemas.microsoft.com/office/drawing/2014/main" id="{56761199-CD70-153F-E94B-20E5E833D7A7}"/>
              </a:ext>
            </a:extLst>
          </p:cNvPr>
          <p:cNvSpPr txBox="1"/>
          <p:nvPr/>
        </p:nvSpPr>
        <p:spPr>
          <a:xfrm>
            <a:off x="5143202" y="4407024"/>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⑤ リード有効化</a:t>
            </a:r>
            <a:endParaRPr lang="ja-JP" altLang="ja-JP"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72CCB353-50A1-FF17-E933-B1158BEE91E4}"/>
              </a:ext>
            </a:extLst>
          </p:cNvPr>
          <p:cNvSpPr txBox="1"/>
          <p:nvPr/>
        </p:nvSpPr>
        <p:spPr>
          <a:xfrm>
            <a:off x="5143202" y="5477676"/>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⑦マネタイズ</a:t>
            </a:r>
            <a:r>
              <a:rPr lang="en-US" altLang="ja-JP" sz="1050" b="1" dirty="0">
                <a:latin typeface="メイリオ" panose="020B0604030504040204" pitchFamily="50" charset="-128"/>
                <a:ea typeface="メイリオ" panose="020B0604030504040204" pitchFamily="50" charset="-128"/>
              </a:rPr>
              <a:t>(</a:t>
            </a:r>
            <a:r>
              <a:rPr lang="ja-JP" altLang="en-US" sz="1050" b="1" dirty="0">
                <a:latin typeface="メイリオ" panose="020B0604030504040204" pitchFamily="50" charset="-128"/>
                <a:ea typeface="メイリオ" panose="020B0604030504040204" pitchFamily="50" charset="-128"/>
              </a:rPr>
              <a:t>成約</a:t>
            </a:r>
            <a:r>
              <a:rPr lang="en-US" altLang="ja-JP" sz="1050" b="1" dirty="0">
                <a:latin typeface="メイリオ" panose="020B0604030504040204" pitchFamily="50" charset="-128"/>
                <a:ea typeface="メイリオ" panose="020B0604030504040204" pitchFamily="50" charset="-128"/>
              </a:rPr>
              <a:t>/</a:t>
            </a:r>
            <a:r>
              <a:rPr lang="ja-JP" altLang="en-US" sz="1050" b="1" dirty="0">
                <a:latin typeface="メイリオ" panose="020B0604030504040204" pitchFamily="50" charset="-128"/>
                <a:ea typeface="メイリオ" panose="020B0604030504040204" pitchFamily="50" charset="-128"/>
              </a:rPr>
              <a:t>購入</a:t>
            </a:r>
            <a:r>
              <a:rPr lang="en-US" altLang="ja-JP" sz="1050" b="1" dirty="0">
                <a:latin typeface="メイリオ" panose="020B0604030504040204" pitchFamily="50" charset="-128"/>
                <a:ea typeface="メイリオ" panose="020B0604030504040204" pitchFamily="50" charset="-128"/>
              </a:rPr>
              <a:t>)</a:t>
            </a:r>
            <a:endParaRPr lang="ja-JP" altLang="ja-JP" sz="1200" b="1" dirty="0">
              <a:latin typeface="メイリオ" panose="020B0604030504040204" pitchFamily="50" charset="-128"/>
              <a:ea typeface="メイリオ" panose="020B0604030504040204" pitchFamily="50" charset="-128"/>
            </a:endParaRPr>
          </a:p>
        </p:txBody>
      </p:sp>
      <p:sp>
        <p:nvSpPr>
          <p:cNvPr id="42" name="テキスト ボックス 41">
            <a:extLst>
              <a:ext uri="{FF2B5EF4-FFF2-40B4-BE49-F238E27FC236}">
                <a16:creationId xmlns:a16="http://schemas.microsoft.com/office/drawing/2014/main" id="{44A347FC-9BE7-316C-5F13-B7762E412092}"/>
              </a:ext>
            </a:extLst>
          </p:cNvPr>
          <p:cNvSpPr txBox="1"/>
          <p:nvPr/>
        </p:nvSpPr>
        <p:spPr>
          <a:xfrm>
            <a:off x="5143202" y="4942350"/>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⑥ 有効リードの再育成</a:t>
            </a:r>
            <a:endParaRPr lang="ja-JP" altLang="ja-JP" sz="1200" b="1" dirty="0">
              <a:latin typeface="メイリオ" panose="020B0604030504040204" pitchFamily="50" charset="-128"/>
              <a:ea typeface="メイリオ" panose="020B0604030504040204" pitchFamily="50" charset="-128"/>
            </a:endParaRPr>
          </a:p>
        </p:txBody>
      </p:sp>
      <p:sp>
        <p:nvSpPr>
          <p:cNvPr id="44" name="テキスト ボックス 43">
            <a:extLst>
              <a:ext uri="{FF2B5EF4-FFF2-40B4-BE49-F238E27FC236}">
                <a16:creationId xmlns:a16="http://schemas.microsoft.com/office/drawing/2014/main" id="{31750602-2370-CB79-F23B-20E4B2FC9A45}"/>
              </a:ext>
            </a:extLst>
          </p:cNvPr>
          <p:cNvSpPr txBox="1"/>
          <p:nvPr/>
        </p:nvSpPr>
        <p:spPr>
          <a:xfrm>
            <a:off x="5143202" y="6013004"/>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⑧</a:t>
            </a:r>
            <a:r>
              <a:rPr lang="en-US" altLang="ja-JP" sz="1200" b="1" dirty="0">
                <a:latin typeface="メイリオ" panose="020B0604030504040204" pitchFamily="50" charset="-128"/>
                <a:ea typeface="メイリオ" panose="020B0604030504040204" pitchFamily="50" charset="-128"/>
              </a:rPr>
              <a:t>LTV</a:t>
            </a:r>
            <a:r>
              <a:rPr lang="ja-JP" altLang="en-US" sz="1200" b="1" dirty="0">
                <a:latin typeface="メイリオ" panose="020B0604030504040204" pitchFamily="50" charset="-128"/>
                <a:ea typeface="メイリオ" panose="020B0604030504040204" pitchFamily="50" charset="-128"/>
              </a:rPr>
              <a:t>最大化・紹介</a:t>
            </a:r>
            <a:endParaRPr lang="ja-JP" altLang="ja-JP" sz="1200" b="1" dirty="0">
              <a:latin typeface="メイリオ" panose="020B0604030504040204" pitchFamily="50" charset="-128"/>
              <a:ea typeface="メイリオ" panose="020B0604030504040204" pitchFamily="50" charset="-128"/>
            </a:endParaRPr>
          </a:p>
        </p:txBody>
      </p:sp>
      <p:cxnSp>
        <p:nvCxnSpPr>
          <p:cNvPr id="46" name="直線矢印コネクタ 45">
            <a:extLst>
              <a:ext uri="{FF2B5EF4-FFF2-40B4-BE49-F238E27FC236}">
                <a16:creationId xmlns:a16="http://schemas.microsoft.com/office/drawing/2014/main" id="{7398214A-9BC3-94A2-1B44-ABFB6EF10A95}"/>
              </a:ext>
            </a:extLst>
          </p:cNvPr>
          <p:cNvCxnSpPr>
            <a:cxnSpLocks/>
          </p:cNvCxnSpPr>
          <p:nvPr/>
        </p:nvCxnSpPr>
        <p:spPr>
          <a:xfrm>
            <a:off x="5447046" y="3934112"/>
            <a:ext cx="0" cy="474234"/>
          </a:xfrm>
          <a:prstGeom prst="straightConnector1">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50" name="図 49">
            <a:extLst>
              <a:ext uri="{FF2B5EF4-FFF2-40B4-BE49-F238E27FC236}">
                <a16:creationId xmlns:a16="http://schemas.microsoft.com/office/drawing/2014/main" id="{BC82B682-A1BD-AF78-6196-B1E02CC1F3FB}"/>
              </a:ext>
            </a:extLst>
          </p:cNvPr>
          <p:cNvPicPr>
            <a:picLocks noChangeAspect="1"/>
          </p:cNvPicPr>
          <p:nvPr/>
        </p:nvPicPr>
        <p:blipFill>
          <a:blip r:embed="rId2"/>
          <a:stretch>
            <a:fillRect/>
          </a:stretch>
        </p:blipFill>
        <p:spPr>
          <a:xfrm>
            <a:off x="2277117" y="2386532"/>
            <a:ext cx="481489" cy="448956"/>
          </a:xfrm>
          <a:prstGeom prst="rect">
            <a:avLst/>
          </a:prstGeom>
        </p:spPr>
      </p:pic>
      <p:pic>
        <p:nvPicPr>
          <p:cNvPr id="54" name="図 53">
            <a:extLst>
              <a:ext uri="{FF2B5EF4-FFF2-40B4-BE49-F238E27FC236}">
                <a16:creationId xmlns:a16="http://schemas.microsoft.com/office/drawing/2014/main" id="{13BFB52F-AE2C-2214-E223-63E053D9FE07}"/>
              </a:ext>
            </a:extLst>
          </p:cNvPr>
          <p:cNvPicPr>
            <a:picLocks noChangeAspect="1"/>
          </p:cNvPicPr>
          <p:nvPr/>
        </p:nvPicPr>
        <p:blipFill>
          <a:blip r:embed="rId2"/>
          <a:stretch>
            <a:fillRect/>
          </a:stretch>
        </p:blipFill>
        <p:spPr>
          <a:xfrm>
            <a:off x="7114089" y="3453958"/>
            <a:ext cx="481489" cy="448956"/>
          </a:xfrm>
          <a:prstGeom prst="rect">
            <a:avLst/>
          </a:prstGeom>
        </p:spPr>
      </p:pic>
      <p:sp>
        <p:nvSpPr>
          <p:cNvPr id="62" name="正方形/長方形 61">
            <a:extLst>
              <a:ext uri="{FF2B5EF4-FFF2-40B4-BE49-F238E27FC236}">
                <a16:creationId xmlns:a16="http://schemas.microsoft.com/office/drawing/2014/main" id="{EDC00F02-3FEF-F2A7-D36C-00239CB92DE5}"/>
              </a:ext>
            </a:extLst>
          </p:cNvPr>
          <p:cNvSpPr/>
          <p:nvPr/>
        </p:nvSpPr>
        <p:spPr>
          <a:xfrm>
            <a:off x="175475" y="1503248"/>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latin typeface="メイリオ" panose="020B0604030504040204" pitchFamily="50" charset="-128"/>
                <a:ea typeface="メイリオ" panose="020B0604030504040204" pitchFamily="50" charset="-128"/>
              </a:rPr>
              <a:t>施策パターン①</a:t>
            </a:r>
          </a:p>
        </p:txBody>
      </p:sp>
      <p:sp>
        <p:nvSpPr>
          <p:cNvPr id="66" name="正方形/長方形 65">
            <a:extLst>
              <a:ext uri="{FF2B5EF4-FFF2-40B4-BE49-F238E27FC236}">
                <a16:creationId xmlns:a16="http://schemas.microsoft.com/office/drawing/2014/main" id="{3B6038D6-0E00-CDB9-8318-C7D05A37E8F2}"/>
              </a:ext>
            </a:extLst>
          </p:cNvPr>
          <p:cNvSpPr/>
          <p:nvPr/>
        </p:nvSpPr>
        <p:spPr>
          <a:xfrm>
            <a:off x="4994298" y="1503247"/>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latin typeface="メイリオ" panose="020B0604030504040204" pitchFamily="50" charset="-128"/>
                <a:ea typeface="メイリオ" panose="020B0604030504040204" pitchFamily="50" charset="-128"/>
              </a:rPr>
              <a:t>施策パターン②</a:t>
            </a:r>
          </a:p>
        </p:txBody>
      </p:sp>
      <p:pic>
        <p:nvPicPr>
          <p:cNvPr id="70" name="図 69">
            <a:extLst>
              <a:ext uri="{FF2B5EF4-FFF2-40B4-BE49-F238E27FC236}">
                <a16:creationId xmlns:a16="http://schemas.microsoft.com/office/drawing/2014/main" id="{B5C916EA-56BA-12E3-B0EE-D83A8EC90585}"/>
              </a:ext>
            </a:extLst>
          </p:cNvPr>
          <p:cNvPicPr>
            <a:picLocks noChangeAspect="1"/>
          </p:cNvPicPr>
          <p:nvPr/>
        </p:nvPicPr>
        <p:blipFill>
          <a:blip r:embed="rId3"/>
          <a:stretch>
            <a:fillRect/>
          </a:stretch>
        </p:blipFill>
        <p:spPr>
          <a:xfrm>
            <a:off x="7595578" y="3298969"/>
            <a:ext cx="2167546" cy="2688917"/>
          </a:xfrm>
          <a:prstGeom prst="rect">
            <a:avLst/>
          </a:prstGeom>
        </p:spPr>
      </p:pic>
      <p:pic>
        <p:nvPicPr>
          <p:cNvPr id="826" name="図 825">
            <a:extLst>
              <a:ext uri="{FF2B5EF4-FFF2-40B4-BE49-F238E27FC236}">
                <a16:creationId xmlns:a16="http://schemas.microsoft.com/office/drawing/2014/main" id="{2D4E7AC1-305D-07DC-9608-BFD7502EFD59}"/>
              </a:ext>
            </a:extLst>
          </p:cNvPr>
          <p:cNvPicPr>
            <a:picLocks noChangeAspect="1"/>
          </p:cNvPicPr>
          <p:nvPr/>
        </p:nvPicPr>
        <p:blipFill>
          <a:blip r:embed="rId4"/>
          <a:stretch>
            <a:fillRect/>
          </a:stretch>
        </p:blipFill>
        <p:spPr>
          <a:xfrm>
            <a:off x="2758613" y="2386532"/>
            <a:ext cx="2101635" cy="2379328"/>
          </a:xfrm>
          <a:prstGeom prst="rect">
            <a:avLst/>
          </a:prstGeom>
        </p:spPr>
      </p:pic>
    </p:spTree>
    <p:extLst>
      <p:ext uri="{BB962C8B-B14F-4D97-AF65-F5344CB8AC3E}">
        <p14:creationId xmlns:p14="http://schemas.microsoft.com/office/powerpoint/2010/main" val="22993589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1AF94-39A6-ED70-5918-C4DFB0937C8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AA7E1F7-0824-AE94-5B85-AB7CDE6A394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改善モデル①</a:t>
            </a:r>
          </a:p>
        </p:txBody>
      </p:sp>
      <p:sp>
        <p:nvSpPr>
          <p:cNvPr id="9" name="正方形/長方形 8">
            <a:extLst>
              <a:ext uri="{FF2B5EF4-FFF2-40B4-BE49-F238E27FC236}">
                <a16:creationId xmlns:a16="http://schemas.microsoft.com/office/drawing/2014/main" id="{C0FCF3C4-80C9-827F-1385-EBD6AE02077C}"/>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3" name="Google Shape;752;p28">
            <a:extLst>
              <a:ext uri="{FF2B5EF4-FFF2-40B4-BE49-F238E27FC236}">
                <a16:creationId xmlns:a16="http://schemas.microsoft.com/office/drawing/2014/main" id="{C5064B01-7057-EF97-C2C2-7EA1400AE068}"/>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施策を通じて貴社に送ることが出来る個人情報を最大化する。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7" name="テキスト ボックス 26">
            <a:extLst>
              <a:ext uri="{FF2B5EF4-FFF2-40B4-BE49-F238E27FC236}">
                <a16:creationId xmlns:a16="http://schemas.microsoft.com/office/drawing/2014/main" id="{6AB9A59D-5D83-F4A0-8E07-0F2D6665420A}"/>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77440BBB-52A3-1900-D18A-8AF25E970934}"/>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5A50DC53-429F-39BB-C171-6F57EE64F0C2}"/>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cxnSp>
        <p:nvCxnSpPr>
          <p:cNvPr id="32" name="コネクタ: カギ線 31">
            <a:extLst>
              <a:ext uri="{FF2B5EF4-FFF2-40B4-BE49-F238E27FC236}">
                <a16:creationId xmlns:a16="http://schemas.microsoft.com/office/drawing/2014/main" id="{A2FE37DB-7FF9-8AA6-3138-A9AA0818706B}"/>
              </a:ext>
            </a:extLst>
          </p:cNvPr>
          <p:cNvCxnSpPr>
            <a:cxnSpLocks/>
            <a:endCxn id="6" idx="2"/>
          </p:cNvCxnSpPr>
          <p:nvPr/>
        </p:nvCxnSpPr>
        <p:spPr>
          <a:xfrm rot="5400000" flipH="1" flipV="1">
            <a:off x="4284885" y="1729027"/>
            <a:ext cx="218990" cy="36561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60AD3EC5-397C-F2E1-06DA-B35AA3F6DA3B}"/>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A916BF7B-2A5E-9585-D6BF-4545B58F8CDA}"/>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0CF33E8B-8A1D-B1FB-4244-9F0AFB92429B}"/>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916C11C4-F5B8-BBD3-EE11-4BBAC85EFEF6}"/>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900F58B-9BD8-36E8-2837-7D435FEE306F}"/>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1" name="正方形/長方形 10">
            <a:extLst>
              <a:ext uri="{FF2B5EF4-FFF2-40B4-BE49-F238E27FC236}">
                <a16:creationId xmlns:a16="http://schemas.microsoft.com/office/drawing/2014/main" id="{94AA99B3-016F-5352-F0F9-97BF2EF9495B}"/>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正方形/長方形 11">
            <a:extLst>
              <a:ext uri="{FF2B5EF4-FFF2-40B4-BE49-F238E27FC236}">
                <a16:creationId xmlns:a16="http://schemas.microsoft.com/office/drawing/2014/main" id="{A045185E-6C2C-A6FD-00A8-0A9C05295D96}"/>
              </a:ext>
            </a:extLst>
          </p:cNvPr>
          <p:cNvSpPr/>
          <p:nvPr/>
        </p:nvSpPr>
        <p:spPr>
          <a:xfrm>
            <a:off x="8382000" y="898654"/>
            <a:ext cx="1223554" cy="26009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成果報酬：可</a:t>
            </a:r>
          </a:p>
        </p:txBody>
      </p:sp>
      <p:sp>
        <p:nvSpPr>
          <p:cNvPr id="15" name="正方形/長方形 14">
            <a:extLst>
              <a:ext uri="{FF2B5EF4-FFF2-40B4-BE49-F238E27FC236}">
                <a16:creationId xmlns:a16="http://schemas.microsoft.com/office/drawing/2014/main" id="{EDFACFC7-1B18-419B-64DD-5EB407E04E3D}"/>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7" name="テキスト ボックス 16">
            <a:extLst>
              <a:ext uri="{FF2B5EF4-FFF2-40B4-BE49-F238E27FC236}">
                <a16:creationId xmlns:a16="http://schemas.microsoft.com/office/drawing/2014/main" id="{F808170B-2E7D-DA91-C855-5B0F96687E57}"/>
              </a:ext>
            </a:extLst>
          </p:cNvPr>
          <p:cNvSpPr txBox="1"/>
          <p:nvPr/>
        </p:nvSpPr>
        <p:spPr>
          <a:xfrm>
            <a:off x="3136468" y="2021330"/>
            <a:ext cx="1868111" cy="348203"/>
          </a:xfrm>
          <a:prstGeom prst="rect">
            <a:avLst/>
          </a:prstGeom>
          <a:solidFill>
            <a:srgbClr val="2080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④リード獲得 </a:t>
            </a:r>
            <a:r>
              <a:rPr lang="en-US" altLang="ja-JP" sz="900" b="1" dirty="0">
                <a:solidFill>
                  <a:schemeClr val="bg1"/>
                </a:solidFill>
                <a:latin typeface="メイリオ" panose="020B0604030504040204" pitchFamily="50" charset="-128"/>
                <a:ea typeface="メイリオ" panose="020B0604030504040204" pitchFamily="50" charset="-128"/>
              </a:rPr>
              <a:t>(web/LINE)</a:t>
            </a:r>
            <a:endParaRPr lang="ja-JP" altLang="ja-JP" sz="1050" b="1" dirty="0">
              <a:solidFill>
                <a:schemeClr val="bg1"/>
              </a:solidFill>
              <a:latin typeface="メイリオ" panose="020B0604030504040204" pitchFamily="50" charset="-128"/>
              <a:ea typeface="メイリオ" panose="020B0604030504040204" pitchFamily="50" charset="-128"/>
            </a:endParaRPr>
          </a:p>
        </p:txBody>
      </p:sp>
      <p:sp>
        <p:nvSpPr>
          <p:cNvPr id="215" name="正方形/長方形 214">
            <a:extLst>
              <a:ext uri="{FF2B5EF4-FFF2-40B4-BE49-F238E27FC236}">
                <a16:creationId xmlns:a16="http://schemas.microsoft.com/office/drawing/2014/main" id="{0D93F268-2976-E24C-FFDF-A52C518BD95E}"/>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広告・集客の成果地点として</a:t>
            </a:r>
            <a:r>
              <a:rPr kumimoji="1" lang="en-US" altLang="ja-JP" sz="1050" b="1" dirty="0">
                <a:latin typeface="メイリオ" panose="020B0604030504040204" pitchFamily="50" charset="-128"/>
                <a:ea typeface="メイリオ" panose="020B0604030504040204" pitchFamily="50" charset="-128"/>
              </a:rPr>
              <a:t>LINE</a:t>
            </a:r>
            <a:r>
              <a:rPr kumimoji="1" lang="ja-JP" altLang="en-US" sz="1050" b="1" dirty="0">
                <a:latin typeface="メイリオ" panose="020B0604030504040204" pitchFamily="50" charset="-128"/>
                <a:ea typeface="メイリオ" panose="020B0604030504040204" pitchFamily="50" charset="-128"/>
              </a:rPr>
              <a:t>を追加する</a:t>
            </a:r>
          </a:p>
        </p:txBody>
      </p:sp>
      <p:sp>
        <p:nvSpPr>
          <p:cNvPr id="217" name="正方形/長方形 216">
            <a:extLst>
              <a:ext uri="{FF2B5EF4-FFF2-40B4-BE49-F238E27FC236}">
                <a16:creationId xmlns:a16="http://schemas.microsoft.com/office/drawing/2014/main" id="{EFE9DDC0-6FAF-EE1E-D2F6-1599D9760DFE}"/>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a:latin typeface="メイリオ" panose="020B0604030504040204" pitchFamily="50" charset="-128"/>
                <a:ea typeface="メイリオ" panose="020B0604030504040204" pitchFamily="50" charset="-128"/>
              </a:rPr>
              <a:t>LINE</a:t>
            </a:r>
            <a:r>
              <a:rPr lang="ja-JP" altLang="en-US" sz="1050" b="1" dirty="0">
                <a:latin typeface="メイリオ" panose="020B0604030504040204" pitchFamily="50" charset="-128"/>
                <a:ea typeface="メイリオ" panose="020B0604030504040204" pitchFamily="50" charset="-128"/>
              </a:rPr>
              <a:t>の特典・メリットを適切なタイミングで提示し</a:t>
            </a:r>
            <a:r>
              <a:rPr lang="en-US" altLang="ja-JP" sz="1050" b="1" dirty="0">
                <a:latin typeface="メイリオ" panose="020B0604030504040204" pitchFamily="50" charset="-128"/>
                <a:ea typeface="メイリオ" panose="020B0604030504040204" pitchFamily="50" charset="-128"/>
              </a:rPr>
              <a:t>CV</a:t>
            </a:r>
            <a:r>
              <a:rPr lang="ja-JP" altLang="en-US" sz="1050" b="1" dirty="0">
                <a:latin typeface="メイリオ" panose="020B0604030504040204" pitchFamily="50" charset="-128"/>
                <a:ea typeface="メイリオ" panose="020B0604030504040204" pitchFamily="50" charset="-128"/>
              </a:rPr>
              <a:t>へ</a:t>
            </a:r>
          </a:p>
        </p:txBody>
      </p:sp>
      <p:sp>
        <p:nvSpPr>
          <p:cNvPr id="265" name="Shape 59">
            <a:extLst>
              <a:ext uri="{FF2B5EF4-FFF2-40B4-BE49-F238E27FC236}">
                <a16:creationId xmlns:a16="http://schemas.microsoft.com/office/drawing/2014/main" id="{2B92E1A5-40B4-D866-C1EB-8ACEB8EE470D}"/>
              </a:ext>
            </a:extLst>
          </p:cNvPr>
          <p:cNvSpPr/>
          <p:nvPr/>
        </p:nvSpPr>
        <p:spPr>
          <a:xfrm>
            <a:off x="265419" y="4842285"/>
            <a:ext cx="4541216" cy="1600804"/>
          </a:xfrm>
          <a:prstGeom prst="roundRect">
            <a:avLst>
              <a:gd name="adj" fmla="val 5263"/>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7" name="Shape 63">
            <a:extLst>
              <a:ext uri="{FF2B5EF4-FFF2-40B4-BE49-F238E27FC236}">
                <a16:creationId xmlns:a16="http://schemas.microsoft.com/office/drawing/2014/main" id="{986279D3-31B7-AFE5-0997-A2CDC716E6CD}"/>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9" name="Text 64">
            <a:extLst>
              <a:ext uri="{FF2B5EF4-FFF2-40B4-BE49-F238E27FC236}">
                <a16:creationId xmlns:a16="http://schemas.microsoft.com/office/drawing/2014/main" id="{314E4055-2D3D-DC19-BD60-79D095DBA6D9}"/>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LINE広告</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1" name="Text 65">
            <a:extLst>
              <a:ext uri="{FF2B5EF4-FFF2-40B4-BE49-F238E27FC236}">
                <a16:creationId xmlns:a16="http://schemas.microsoft.com/office/drawing/2014/main" id="{2259F17B-A9B0-7F43-8907-87383FCBF6CE}"/>
              </a:ext>
            </a:extLst>
          </p:cNvPr>
          <p:cNvSpPr/>
          <p:nvPr/>
        </p:nvSpPr>
        <p:spPr>
          <a:xfrm>
            <a:off x="1545579" y="4924581"/>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LINE広告（CPF）完結型 × LINE内チャットボット</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3" name="Text 66">
            <a:extLst>
              <a:ext uri="{FF2B5EF4-FFF2-40B4-BE49-F238E27FC236}">
                <a16:creationId xmlns:a16="http://schemas.microsoft.com/office/drawing/2014/main" id="{98D6C858-0A51-D469-C857-32114CFA96FE}"/>
              </a:ext>
            </a:extLst>
          </p:cNvPr>
          <p:cNvSpPr/>
          <p:nvPr/>
        </p:nvSpPr>
        <p:spPr>
          <a:xfrm>
            <a:off x="356859" y="5226333"/>
            <a:ext cx="4449774" cy="457200"/>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広告の</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CPF</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を利用して、興味関心</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商圏でのリード保有数を最大化。</a:t>
            </a:r>
            <a:endPar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endParaRPr>
          </a:p>
          <a:p>
            <a:pPr marL="0" marR="0" lvl="0" indent="0" defTabSz="914400" eaLnBrk="1" fontAlgn="auto" latinLnBrk="0" hangingPunct="1">
              <a:lnSpc>
                <a:spcPct val="135000"/>
              </a:lnSpc>
              <a:spcBef>
                <a:spcPts val="0"/>
              </a:spcBef>
              <a:spcAft>
                <a:spcPts val="0"/>
              </a:spcAft>
              <a:buClrTx/>
              <a:buSzTx/>
              <a:buFontTx/>
              <a:buNone/>
              <a:tabLst/>
              <a:defRPr/>
            </a:pP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LINE完結で</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WEBに遷移させないため離脱ゼロ</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でのステップ配信・有効リードの育成へ。</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5" name="Shape 68">
            <a:extLst>
              <a:ext uri="{FF2B5EF4-FFF2-40B4-BE49-F238E27FC236}">
                <a16:creationId xmlns:a16="http://schemas.microsoft.com/office/drawing/2014/main" id="{CFA7D9BB-A1E1-31FD-946A-B75B944AADA7}"/>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7" name="Text 69">
            <a:extLst>
              <a:ext uri="{FF2B5EF4-FFF2-40B4-BE49-F238E27FC236}">
                <a16:creationId xmlns:a16="http://schemas.microsoft.com/office/drawing/2014/main" id="{94B27B5E-13D7-A4CA-7352-4BBEA8C99224}"/>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9" name="Text 70">
            <a:extLst>
              <a:ext uri="{FF2B5EF4-FFF2-40B4-BE49-F238E27FC236}">
                <a16:creationId xmlns:a16="http://schemas.microsoft.com/office/drawing/2014/main" id="{02B4B046-1456-2549-8D2A-03FE8B9434D4}"/>
              </a:ext>
            </a:extLst>
          </p:cNvPr>
          <p:cNvSpPr/>
          <p:nvPr/>
        </p:nvSpPr>
        <p:spPr>
          <a:xfrm>
            <a:off x="363197" y="5687343"/>
            <a:ext cx="4053598" cy="146304"/>
          </a:xfrm>
          <a:prstGeom prst="rect">
            <a:avLst/>
          </a:prstGeom>
          <a:noFill/>
          <a:ln/>
        </p:spPr>
        <p:txBody>
          <a:bodyPr wrap="square" lIns="0" tIns="0" rIns="0" bIns="0" rtlCol="0" anchor="ctr"/>
          <a:lstStyle/>
          <a:p>
            <a:pPr marL="0" marR="0" lvl="0" indent="0" defTabSz="914400" eaLnBrk="1" fontAlgn="auto" latinLnBrk="0" hangingPunct="1">
              <a:lnSpc>
                <a:spcPct val="125000"/>
              </a:lnSpc>
              <a:spcBef>
                <a:spcPts val="0"/>
              </a:spcBef>
              <a:spcAft>
                <a:spcPts val="0"/>
              </a:spcAft>
              <a:buClrTx/>
              <a:buSzTx/>
              <a:buFontTx/>
              <a:buNone/>
              <a:tabLst/>
              <a:defRPr/>
            </a:pPr>
            <a:r>
              <a:rPr kumimoji="0" lang="en-US" sz="800" b="0" i="0" u="none" strike="noStrike" kern="0" cap="none" spc="0" normalizeH="0" baseline="0" noProof="0" dirty="0" err="1">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CPFの強みを活かすならLINE内完結設計が正解</a:t>
            </a:r>
            <a:r>
              <a:rPr kumimoji="0" lang="en-US" sz="800" b="0" i="0" u="none" strike="noStrike" kern="0" cap="none" spc="0" normalizeH="0" baseline="0" noProof="0" dirty="0">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1" name="Shape 71">
            <a:extLst>
              <a:ext uri="{FF2B5EF4-FFF2-40B4-BE49-F238E27FC236}">
                <a16:creationId xmlns:a16="http://schemas.microsoft.com/office/drawing/2014/main" id="{69A5DB50-D061-75F2-9683-580DA89DA5BD}"/>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3" name="Shape 72">
            <a:extLst>
              <a:ext uri="{FF2B5EF4-FFF2-40B4-BE49-F238E27FC236}">
                <a16:creationId xmlns:a16="http://schemas.microsoft.com/office/drawing/2014/main" id="{1E18DB25-A307-005D-2220-B5D1CB74EDBF}"/>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5" name="Text 73">
            <a:extLst>
              <a:ext uri="{FF2B5EF4-FFF2-40B4-BE49-F238E27FC236}">
                <a16:creationId xmlns:a16="http://schemas.microsoft.com/office/drawing/2014/main" id="{453E45E2-53B3-3123-A567-3CDA891BBEEF}"/>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7" name="Text 74">
            <a:extLst>
              <a:ext uri="{FF2B5EF4-FFF2-40B4-BE49-F238E27FC236}">
                <a16:creationId xmlns:a16="http://schemas.microsoft.com/office/drawing/2014/main" id="{35068314-9221-6665-F236-3F5B1A8773D8}"/>
              </a:ext>
            </a:extLst>
          </p:cNvPr>
          <p:cNvSpPr/>
          <p:nvPr/>
        </p:nvSpPr>
        <p:spPr>
          <a:xfrm>
            <a:off x="631179"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CPF広告タップ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9" name="Text 75">
            <a:extLst>
              <a:ext uri="{FF2B5EF4-FFF2-40B4-BE49-F238E27FC236}">
                <a16:creationId xmlns:a16="http://schemas.microsoft.com/office/drawing/2014/main" id="{9E831384-FBA1-9ABC-D5C4-E9D07BF92DC1}"/>
              </a:ext>
            </a:extLst>
          </p:cNvPr>
          <p:cNvSpPr/>
          <p:nvPr/>
        </p:nvSpPr>
        <p:spPr>
          <a:xfrm>
            <a:off x="411723"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即・友だち追加</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1" name="Text 76">
            <a:extLst>
              <a:ext uri="{FF2B5EF4-FFF2-40B4-BE49-F238E27FC236}">
                <a16:creationId xmlns:a16="http://schemas.microsoft.com/office/drawing/2014/main" id="{B609F64E-3A86-7ABF-C056-68CBD7347946}"/>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3" name="Shape 77">
            <a:extLst>
              <a:ext uri="{FF2B5EF4-FFF2-40B4-BE49-F238E27FC236}">
                <a16:creationId xmlns:a16="http://schemas.microsoft.com/office/drawing/2014/main" id="{A42E7FC8-693A-903C-101F-881077D3912E}"/>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5" name="Shape 78">
            <a:extLst>
              <a:ext uri="{FF2B5EF4-FFF2-40B4-BE49-F238E27FC236}">
                <a16:creationId xmlns:a16="http://schemas.microsoft.com/office/drawing/2014/main" id="{5D77DB8F-3255-B8FA-09A1-BA76AB1E30EC}"/>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7" name="Text 79">
            <a:extLst>
              <a:ext uri="{FF2B5EF4-FFF2-40B4-BE49-F238E27FC236}">
                <a16:creationId xmlns:a16="http://schemas.microsoft.com/office/drawing/2014/main" id="{AE657B72-3339-BAE3-9DA8-C9C378371C9D}"/>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9" name="Text 80">
            <a:extLst>
              <a:ext uri="{FF2B5EF4-FFF2-40B4-BE49-F238E27FC236}">
                <a16:creationId xmlns:a16="http://schemas.microsoft.com/office/drawing/2014/main" id="{582D1F5A-1093-8B0B-EC93-6F3E17DF1674}"/>
              </a:ext>
            </a:extLst>
          </p:cNvPr>
          <p:cNvSpPr/>
          <p:nvPr/>
        </p:nvSpPr>
        <p:spPr>
          <a:xfrm>
            <a:off x="2041211" y="5957091"/>
            <a:ext cx="98036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応答、ステップ起動</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1" name="Text 81">
            <a:extLst>
              <a:ext uri="{FF2B5EF4-FFF2-40B4-BE49-F238E27FC236}">
                <a16:creationId xmlns:a16="http://schemas.microsoft.com/office/drawing/2014/main" id="{267A8E72-34E2-AC1E-E783-02748F2A3058}"/>
              </a:ext>
            </a:extLst>
          </p:cNvPr>
          <p:cNvSpPr/>
          <p:nvPr/>
        </p:nvSpPr>
        <p:spPr>
          <a:xfrm>
            <a:off x="1819899"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ステップ配信が</a:t>
            </a:r>
            <a:r>
              <a:rPr kumimoji="0" lang="en-US" sz="7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起動</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3" name="Text 82">
            <a:extLst>
              <a:ext uri="{FF2B5EF4-FFF2-40B4-BE49-F238E27FC236}">
                <a16:creationId xmlns:a16="http://schemas.microsoft.com/office/drawing/2014/main" id="{9B65E420-0374-979E-BAA2-48722980545C}"/>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5" name="Shape 83">
            <a:extLst>
              <a:ext uri="{FF2B5EF4-FFF2-40B4-BE49-F238E27FC236}">
                <a16:creationId xmlns:a16="http://schemas.microsoft.com/office/drawing/2014/main" id="{7C0C6D93-01E9-C895-1E2E-400951DA4B8E}"/>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7" name="Shape 84">
            <a:extLst>
              <a:ext uri="{FF2B5EF4-FFF2-40B4-BE49-F238E27FC236}">
                <a16:creationId xmlns:a16="http://schemas.microsoft.com/office/drawing/2014/main" id="{6B131D82-5FD9-9308-3AF2-032B378170E3}"/>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9" name="Text 85">
            <a:extLst>
              <a:ext uri="{FF2B5EF4-FFF2-40B4-BE49-F238E27FC236}">
                <a16:creationId xmlns:a16="http://schemas.microsoft.com/office/drawing/2014/main" id="{A04EEFDD-332F-12BD-7677-D9DE3938B356}"/>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1" name="Text 86">
            <a:extLst>
              <a:ext uri="{FF2B5EF4-FFF2-40B4-BE49-F238E27FC236}">
                <a16:creationId xmlns:a16="http://schemas.microsoft.com/office/drawing/2014/main" id="{32928D0D-3150-AD73-9242-387FEEFEB4E7}"/>
              </a:ext>
            </a:extLst>
          </p:cNvPr>
          <p:cNvSpPr/>
          <p:nvPr/>
        </p:nvSpPr>
        <p:spPr>
          <a:xfrm>
            <a:off x="3447531"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リードデータ取得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3" name="Text 87">
            <a:extLst>
              <a:ext uri="{FF2B5EF4-FFF2-40B4-BE49-F238E27FC236}">
                <a16:creationId xmlns:a16="http://schemas.microsoft.com/office/drawing/2014/main" id="{155A8DAC-6178-45E5-B78E-ED5968433C87}"/>
              </a:ext>
            </a:extLst>
          </p:cNvPr>
          <p:cNvSpPr/>
          <p:nvPr/>
        </p:nvSpPr>
        <p:spPr>
          <a:xfrm>
            <a:off x="3228075"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LINE内で完結</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5" name="Shape 88">
            <a:extLst>
              <a:ext uri="{FF2B5EF4-FFF2-40B4-BE49-F238E27FC236}">
                <a16:creationId xmlns:a16="http://schemas.microsoft.com/office/drawing/2014/main" id="{65FD4E02-C70C-2DC3-6107-3854D0C99B17}"/>
              </a:ext>
            </a:extLst>
          </p:cNvPr>
          <p:cNvSpPr/>
          <p:nvPr/>
        </p:nvSpPr>
        <p:spPr>
          <a:xfrm>
            <a:off x="5099366" y="2999769"/>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9" name="Shape 113">
            <a:extLst>
              <a:ext uri="{FF2B5EF4-FFF2-40B4-BE49-F238E27FC236}">
                <a16:creationId xmlns:a16="http://schemas.microsoft.com/office/drawing/2014/main" id="{11234610-A1AC-AA19-B005-775FD3F8A3B3}"/>
              </a:ext>
            </a:extLst>
          </p:cNvPr>
          <p:cNvSpPr/>
          <p:nvPr/>
        </p:nvSpPr>
        <p:spPr>
          <a:xfrm>
            <a:off x="5099366" y="4842285"/>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1" name="Shape 117">
            <a:extLst>
              <a:ext uri="{FF2B5EF4-FFF2-40B4-BE49-F238E27FC236}">
                <a16:creationId xmlns:a16="http://schemas.microsoft.com/office/drawing/2014/main" id="{53B1A122-71EF-1F9B-0702-A1A1393823D4}"/>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3" name="Text 118">
            <a:extLst>
              <a:ext uri="{FF2B5EF4-FFF2-40B4-BE49-F238E27FC236}">
                <a16:creationId xmlns:a16="http://schemas.microsoft.com/office/drawing/2014/main" id="{841897D7-C412-EE47-0B0D-746DD32E330E}"/>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KW自動応答</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5" name="Text 119">
            <a:extLst>
              <a:ext uri="{FF2B5EF4-FFF2-40B4-BE49-F238E27FC236}">
                <a16:creationId xmlns:a16="http://schemas.microsoft.com/office/drawing/2014/main" id="{EBE6ADAD-9C3A-4E30-E6A7-BF0CDE4B5719}"/>
              </a:ext>
            </a:extLst>
          </p:cNvPr>
          <p:cNvSpPr/>
          <p:nvPr/>
        </p:nvSpPr>
        <p:spPr>
          <a:xfrm>
            <a:off x="6379527" y="4924581"/>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短期</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CV</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KW自動応答でFAQ即解消→</a:t>
            </a:r>
            <a:r>
              <a:rPr kumimoji="0" lang="en-US" altLang="ja-JP"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CV</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へ誘導</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7" name="Text 120">
            <a:extLst>
              <a:ext uri="{FF2B5EF4-FFF2-40B4-BE49-F238E27FC236}">
                <a16:creationId xmlns:a16="http://schemas.microsoft.com/office/drawing/2014/main" id="{9BC9F586-F4C8-69D1-0AB3-84BC5D46528A}"/>
              </a:ext>
            </a:extLst>
          </p:cNvPr>
          <p:cNvSpPr/>
          <p:nvPr/>
        </p:nvSpPr>
        <p:spPr>
          <a:xfrm>
            <a:off x="5190807" y="5226333"/>
            <a:ext cx="4449774" cy="493776"/>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ステップ配信と並行して、</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にて代表的な</a:t>
            </a:r>
            <a:r>
              <a:rPr kumimoji="0" lang="en-US" altLang="ja-JP"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Q</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に自動返答＋CV</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動線へ誘導</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p>
          <a:p>
            <a:pPr marL="0" marR="0" lvl="0" indent="0" defTabSz="914400" eaLnBrk="1" fontAlgn="auto" latinLnBrk="0" hangingPunct="1">
              <a:lnSpc>
                <a:spcPct val="135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24時間対応で「試しに聞いてみた」</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層</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をそのまま申込フォームへ転換</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9" name="Shape 121">
            <a:extLst>
              <a:ext uri="{FF2B5EF4-FFF2-40B4-BE49-F238E27FC236}">
                <a16:creationId xmlns:a16="http://schemas.microsoft.com/office/drawing/2014/main" id="{879C697E-7DA8-CA7E-D00D-C9CADF55302E}"/>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1" name="Shape 122">
            <a:extLst>
              <a:ext uri="{FF2B5EF4-FFF2-40B4-BE49-F238E27FC236}">
                <a16:creationId xmlns:a16="http://schemas.microsoft.com/office/drawing/2014/main" id="{E0FE3AAB-EEAF-8F74-4288-38540089361D}"/>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3" name="Text 123">
            <a:extLst>
              <a:ext uri="{FF2B5EF4-FFF2-40B4-BE49-F238E27FC236}">
                <a16:creationId xmlns:a16="http://schemas.microsoft.com/office/drawing/2014/main" id="{31A73E53-E872-D735-0EE5-02CFC5ED076F}"/>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5" name="Text 124">
            <a:extLst>
              <a:ext uri="{FF2B5EF4-FFF2-40B4-BE49-F238E27FC236}">
                <a16:creationId xmlns:a16="http://schemas.microsoft.com/office/drawing/2014/main" id="{014A61FB-ACC2-FA78-238A-10F112F08313}"/>
              </a:ext>
            </a:extLst>
          </p:cNvPr>
          <p:cNvSpPr/>
          <p:nvPr/>
        </p:nvSpPr>
        <p:spPr>
          <a:xfrm>
            <a:off x="5447079" y="5957091"/>
            <a:ext cx="1020168"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ステップ配信・</a:t>
            </a:r>
            <a:r>
              <a:rPr kumimoji="0" lang="en-US" altLang="ja-JP"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QA</a:t>
            </a:r>
            <a:r>
              <a:rPr kumimoji="0" lang="ja-JP" alt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7" name="Text 125">
            <a:extLst>
              <a:ext uri="{FF2B5EF4-FFF2-40B4-BE49-F238E27FC236}">
                <a16:creationId xmlns:a16="http://schemas.microsoft.com/office/drawing/2014/main" id="{61B557F9-9683-D913-1D65-DD25D26B2695}"/>
              </a:ext>
            </a:extLst>
          </p:cNvPr>
          <p:cNvSpPr/>
          <p:nvPr/>
        </p:nvSpPr>
        <p:spPr>
          <a:xfrm>
            <a:off x="5245671"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追加～</a:t>
            </a:r>
            <a:r>
              <a:rPr kumimoji="0" lang="en-US" altLang="ja-JP"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15</a:t>
            </a:r>
            <a:r>
              <a:rPr kumimoji="0" lang="ja-JP" alt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日で</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9" name="Text 126">
            <a:extLst>
              <a:ext uri="{FF2B5EF4-FFF2-40B4-BE49-F238E27FC236}">
                <a16:creationId xmlns:a16="http://schemas.microsoft.com/office/drawing/2014/main" id="{F117171D-C47B-261C-85AC-F680EF28CB19}"/>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1" name="Shape 127">
            <a:extLst>
              <a:ext uri="{FF2B5EF4-FFF2-40B4-BE49-F238E27FC236}">
                <a16:creationId xmlns:a16="http://schemas.microsoft.com/office/drawing/2014/main" id="{4BEE9167-F8E5-7442-64A8-E9F7D39F09D7}"/>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3" name="Shape 128">
            <a:extLst>
              <a:ext uri="{FF2B5EF4-FFF2-40B4-BE49-F238E27FC236}">
                <a16:creationId xmlns:a16="http://schemas.microsoft.com/office/drawing/2014/main" id="{9C2642A1-2BDB-C49F-7691-85BD71CF126B}"/>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5" name="Text 129">
            <a:extLst>
              <a:ext uri="{FF2B5EF4-FFF2-40B4-BE49-F238E27FC236}">
                <a16:creationId xmlns:a16="http://schemas.microsoft.com/office/drawing/2014/main" id="{B9E7F4F1-E140-0A15-9900-349580A383C4}"/>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7" name="Text 130">
            <a:extLst>
              <a:ext uri="{FF2B5EF4-FFF2-40B4-BE49-F238E27FC236}">
                <a16:creationId xmlns:a16="http://schemas.microsoft.com/office/drawing/2014/main" id="{538141D0-5353-E1AE-4CCC-4B7FBADE0E74}"/>
              </a:ext>
            </a:extLst>
          </p:cNvPr>
          <p:cNvSpPr/>
          <p:nvPr/>
        </p:nvSpPr>
        <p:spPr>
          <a:xfrm>
            <a:off x="6873303"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自動即返答</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9" name="Text 131">
            <a:extLst>
              <a:ext uri="{FF2B5EF4-FFF2-40B4-BE49-F238E27FC236}">
                <a16:creationId xmlns:a16="http://schemas.microsoft.com/office/drawing/2014/main" id="{507C3FBA-63F5-86D8-66C6-6318F2F8EDA2}"/>
              </a:ext>
            </a:extLst>
          </p:cNvPr>
          <p:cNvSpPr/>
          <p:nvPr/>
        </p:nvSpPr>
        <p:spPr>
          <a:xfrm>
            <a:off x="6653847"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FAQ解消＋LP URL送付</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1" name="Text 132">
            <a:extLst>
              <a:ext uri="{FF2B5EF4-FFF2-40B4-BE49-F238E27FC236}">
                <a16:creationId xmlns:a16="http://schemas.microsoft.com/office/drawing/2014/main" id="{6C6ED810-1D06-F9BD-D3C9-03D6BF6C14DA}"/>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3" name="Shape 133">
            <a:extLst>
              <a:ext uri="{FF2B5EF4-FFF2-40B4-BE49-F238E27FC236}">
                <a16:creationId xmlns:a16="http://schemas.microsoft.com/office/drawing/2014/main" id="{032FF15A-215D-CE84-EF89-D93E09191819}"/>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5" name="Shape 134">
            <a:extLst>
              <a:ext uri="{FF2B5EF4-FFF2-40B4-BE49-F238E27FC236}">
                <a16:creationId xmlns:a16="http://schemas.microsoft.com/office/drawing/2014/main" id="{4111E6D0-ABE0-6AC4-2D12-6FEF3F3EFA73}"/>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7" name="Text 135">
            <a:extLst>
              <a:ext uri="{FF2B5EF4-FFF2-40B4-BE49-F238E27FC236}">
                <a16:creationId xmlns:a16="http://schemas.microsoft.com/office/drawing/2014/main" id="{CF3AE303-2971-F53C-A610-F98F99E31897}"/>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9" name="Text 136">
            <a:extLst>
              <a:ext uri="{FF2B5EF4-FFF2-40B4-BE49-F238E27FC236}">
                <a16:creationId xmlns:a16="http://schemas.microsoft.com/office/drawing/2014/main" id="{F73C430F-E961-93C3-213B-0963BAC20CD3}"/>
              </a:ext>
            </a:extLst>
          </p:cNvPr>
          <p:cNvSpPr/>
          <p:nvPr/>
        </p:nvSpPr>
        <p:spPr>
          <a:xfrm>
            <a:off x="8281479"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申込フォームCV</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01" name="Text 137">
            <a:extLst>
              <a:ext uri="{FF2B5EF4-FFF2-40B4-BE49-F238E27FC236}">
                <a16:creationId xmlns:a16="http://schemas.microsoft.com/office/drawing/2014/main" id="{88FD7181-FD44-C0BF-B9A5-5C5C104EC047}"/>
              </a:ext>
            </a:extLst>
          </p:cNvPr>
          <p:cNvSpPr/>
          <p:nvPr/>
        </p:nvSpPr>
        <p:spPr>
          <a:xfrm>
            <a:off x="8062023"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24時間・スタッフ不要</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03" name="Shape 36">
            <a:extLst>
              <a:ext uri="{FF2B5EF4-FFF2-40B4-BE49-F238E27FC236}">
                <a16:creationId xmlns:a16="http://schemas.microsoft.com/office/drawing/2014/main" id="{D62EC5F5-FA90-2741-4644-800F1639B9D6}"/>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7" name="Shape 36">
            <a:extLst>
              <a:ext uri="{FF2B5EF4-FFF2-40B4-BE49-F238E27FC236}">
                <a16:creationId xmlns:a16="http://schemas.microsoft.com/office/drawing/2014/main" id="{3ABA6325-0C4D-ADBB-5C93-9AB0A04C8F15}"/>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53" name="Shape 36">
            <a:extLst>
              <a:ext uri="{FF2B5EF4-FFF2-40B4-BE49-F238E27FC236}">
                <a16:creationId xmlns:a16="http://schemas.microsoft.com/office/drawing/2014/main" id="{0BB2AEB8-7FA8-EBC7-04FD-AD5A5B8538F8}"/>
              </a:ext>
            </a:extLst>
          </p:cNvPr>
          <p:cNvSpPr/>
          <p:nvPr/>
        </p:nvSpPr>
        <p:spPr>
          <a:xfrm>
            <a:off x="5207551" y="3082504"/>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55" name="Shape 38">
            <a:extLst>
              <a:ext uri="{FF2B5EF4-FFF2-40B4-BE49-F238E27FC236}">
                <a16:creationId xmlns:a16="http://schemas.microsoft.com/office/drawing/2014/main" id="{3976CA87-D608-B478-0B7F-76C239579767}"/>
              </a:ext>
            </a:extLst>
          </p:cNvPr>
          <p:cNvSpPr/>
          <p:nvPr/>
        </p:nvSpPr>
        <p:spPr>
          <a:xfrm>
            <a:off x="5536735" y="3100792"/>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57" name="Text 39">
            <a:extLst>
              <a:ext uri="{FF2B5EF4-FFF2-40B4-BE49-F238E27FC236}">
                <a16:creationId xmlns:a16="http://schemas.microsoft.com/office/drawing/2014/main" id="{00B73596-25FE-7BEA-B356-6BA40FA3B1A1}"/>
              </a:ext>
            </a:extLst>
          </p:cNvPr>
          <p:cNvSpPr/>
          <p:nvPr/>
        </p:nvSpPr>
        <p:spPr>
          <a:xfrm>
            <a:off x="5536735" y="3100792"/>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kern="0" dirty="0">
                <a:solidFill>
                  <a:srgbClr val="1565C0"/>
                </a:solidFill>
                <a:latin typeface="メイリオ" panose="020B0604030504040204" pitchFamily="50" charset="-128"/>
                <a:ea typeface="メイリオ" panose="020B0604030504040204" pitchFamily="50" charset="-128"/>
                <a:cs typeface="Calibri" pitchFamily="34" charset="-120"/>
              </a:rPr>
              <a:t>低ハードル</a:t>
            </a:r>
            <a:r>
              <a:rPr kumimoji="0" lang="en-US" altLang="ja-JP" sz="750" b="1" kern="0" dirty="0">
                <a:solidFill>
                  <a:srgbClr val="1565C0"/>
                </a:solidFill>
                <a:latin typeface="メイリオ" panose="020B0604030504040204" pitchFamily="50" charset="-128"/>
                <a:ea typeface="メイリオ" panose="020B0604030504040204" pitchFamily="50" charset="-128"/>
                <a:cs typeface="Calibri" pitchFamily="34" charset="-120"/>
              </a:rPr>
              <a:t>CV</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59" name="Text 40">
            <a:extLst>
              <a:ext uri="{FF2B5EF4-FFF2-40B4-BE49-F238E27FC236}">
                <a16:creationId xmlns:a16="http://schemas.microsoft.com/office/drawing/2014/main" id="{8E8E8572-E4BF-C131-AD4E-7DE59476C19F}"/>
              </a:ext>
            </a:extLst>
          </p:cNvPr>
          <p:cNvSpPr/>
          <p:nvPr/>
        </p:nvSpPr>
        <p:spPr>
          <a:xfrm>
            <a:off x="6396271" y="3073360"/>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簡易</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r>
              <a:rPr kumimoji="0" 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 × </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リード＋</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LINE登録</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（サンクス</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1" name="Text 41">
            <a:extLst>
              <a:ext uri="{FF2B5EF4-FFF2-40B4-BE49-F238E27FC236}">
                <a16:creationId xmlns:a16="http://schemas.microsoft.com/office/drawing/2014/main" id="{A02D25CE-9C9B-6858-9645-3D054403B80F}"/>
              </a:ext>
            </a:extLst>
          </p:cNvPr>
          <p:cNvSpPr/>
          <p:nvPr/>
        </p:nvSpPr>
        <p:spPr>
          <a:xfrm>
            <a:off x="5207551" y="3375112"/>
            <a:ext cx="4449774" cy="493776"/>
          </a:xfrm>
          <a:prstGeom prst="rect">
            <a:avLst/>
          </a:prstGeom>
          <a:noFill/>
          <a:ln/>
        </p:spPr>
        <p:txBody>
          <a:bodyPr wrap="square" lIns="0" tIns="0" rIns="0" bIns="0" rtlCol="0" anchor="ctr"/>
          <a:lstStyle/>
          <a:p>
            <a:pPr lvl="0">
              <a:lnSpc>
                <a:spcPct val="135000"/>
              </a:lnSpc>
              <a:defRPr/>
            </a:pP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シミュレーター、簡易診断を</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受け取る</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簡易的な</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を作成し</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リード＋</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友だち追加そのままステップ配信へ移行</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CVR</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を</a:t>
            </a:r>
            <a:r>
              <a:rPr kumimoji="0" lang="ja-JP" altLang="en-US"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2</a:t>
            </a:r>
            <a:r>
              <a:rPr kumimoji="0" lang="ja-JP" altLang="en-US"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％前後</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」を「</a:t>
            </a:r>
            <a:r>
              <a:rPr kumimoji="0" lang="en-US" altLang="ja-JP" sz="850" b="1" kern="0" dirty="0">
                <a:solidFill>
                  <a:srgbClr val="4A4A6A"/>
                </a:solidFill>
                <a:latin typeface="メイリオ" panose="020B0604030504040204" pitchFamily="50" charset="-128"/>
                <a:ea typeface="メイリオ" panose="020B0604030504040204" pitchFamily="50" charset="-128"/>
                <a:cs typeface="Calibri" pitchFamily="34" charset="-120"/>
              </a:rPr>
              <a:t>5</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a:t>
            </a:r>
            <a:r>
              <a:rPr kumimoji="0" lang="en-US" altLang="ja-JP" sz="850" b="1" kern="0" dirty="0">
                <a:solidFill>
                  <a:srgbClr val="4A4A6A"/>
                </a:solidFill>
                <a:latin typeface="メイリオ" panose="020B0604030504040204" pitchFamily="50" charset="-128"/>
                <a:ea typeface="メイリオ" panose="020B0604030504040204" pitchFamily="50" charset="-128"/>
                <a:cs typeface="Calibri" pitchFamily="34" charset="-120"/>
              </a:rPr>
              <a:t>10</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％」に引上げてリード最大化。</a:t>
            </a:r>
            <a:endParaRPr kumimoji="0" lang="en-US" sz="85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3" name="Shape 42">
            <a:extLst>
              <a:ext uri="{FF2B5EF4-FFF2-40B4-BE49-F238E27FC236}">
                <a16:creationId xmlns:a16="http://schemas.microsoft.com/office/drawing/2014/main" id="{A9C5DE92-D696-84FB-0338-A45B2163E84E}"/>
              </a:ext>
            </a:extLst>
          </p:cNvPr>
          <p:cNvSpPr/>
          <p:nvPr/>
        </p:nvSpPr>
        <p:spPr>
          <a:xfrm>
            <a:off x="5207551" y="4069294"/>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65" name="Shape 43">
            <a:extLst>
              <a:ext uri="{FF2B5EF4-FFF2-40B4-BE49-F238E27FC236}">
                <a16:creationId xmlns:a16="http://schemas.microsoft.com/office/drawing/2014/main" id="{7A414BE8-8C56-464D-5646-C8428426E154}"/>
              </a:ext>
            </a:extLst>
          </p:cNvPr>
          <p:cNvSpPr/>
          <p:nvPr/>
        </p:nvSpPr>
        <p:spPr>
          <a:xfrm>
            <a:off x="5262415" y="4124158"/>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67" name="Text 44">
            <a:extLst>
              <a:ext uri="{FF2B5EF4-FFF2-40B4-BE49-F238E27FC236}">
                <a16:creationId xmlns:a16="http://schemas.microsoft.com/office/drawing/2014/main" id="{71F14BEE-D634-88A2-56B2-296177E648B8}"/>
              </a:ext>
            </a:extLst>
          </p:cNvPr>
          <p:cNvSpPr/>
          <p:nvPr/>
        </p:nvSpPr>
        <p:spPr>
          <a:xfrm>
            <a:off x="5262415"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9" name="Text 45">
            <a:extLst>
              <a:ext uri="{FF2B5EF4-FFF2-40B4-BE49-F238E27FC236}">
                <a16:creationId xmlns:a16="http://schemas.microsoft.com/office/drawing/2014/main" id="{38EAA9FF-3D6F-9893-A6AC-492E1F8D9ED2}"/>
              </a:ext>
            </a:extLst>
          </p:cNvPr>
          <p:cNvSpPr/>
          <p:nvPr/>
        </p:nvSpPr>
        <p:spPr>
          <a:xfrm>
            <a:off x="5481871" y="4105870"/>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超簡易</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1" name="Text 46">
            <a:extLst>
              <a:ext uri="{FF2B5EF4-FFF2-40B4-BE49-F238E27FC236}">
                <a16:creationId xmlns:a16="http://schemas.microsoft.com/office/drawing/2014/main" id="{76F9D806-0316-8040-BBC1-059EC4037026}"/>
              </a:ext>
            </a:extLst>
          </p:cNvPr>
          <p:cNvSpPr/>
          <p:nvPr/>
        </p:nvSpPr>
        <p:spPr>
          <a:xfrm>
            <a:off x="5262415" y="4316182"/>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リード獲得</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3" name="Text 47">
            <a:extLst>
              <a:ext uri="{FF2B5EF4-FFF2-40B4-BE49-F238E27FC236}">
                <a16:creationId xmlns:a16="http://schemas.microsoft.com/office/drawing/2014/main" id="{A91D1983-BD63-6B03-7992-4EBA1D20A7ED}"/>
              </a:ext>
            </a:extLst>
          </p:cNvPr>
          <p:cNvSpPr/>
          <p:nvPr/>
        </p:nvSpPr>
        <p:spPr>
          <a:xfrm>
            <a:off x="6487711" y="4224742"/>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5" name="Shape 48">
            <a:extLst>
              <a:ext uri="{FF2B5EF4-FFF2-40B4-BE49-F238E27FC236}">
                <a16:creationId xmlns:a16="http://schemas.microsoft.com/office/drawing/2014/main" id="{1B608CB6-10B1-7849-F676-C778EAF32793}"/>
              </a:ext>
            </a:extLst>
          </p:cNvPr>
          <p:cNvSpPr/>
          <p:nvPr/>
        </p:nvSpPr>
        <p:spPr>
          <a:xfrm>
            <a:off x="6615727" y="4069294"/>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77" name="Shape 49">
            <a:extLst>
              <a:ext uri="{FF2B5EF4-FFF2-40B4-BE49-F238E27FC236}">
                <a16:creationId xmlns:a16="http://schemas.microsoft.com/office/drawing/2014/main" id="{C6FD4C21-79ED-9901-73BB-36FADC629074}"/>
              </a:ext>
            </a:extLst>
          </p:cNvPr>
          <p:cNvSpPr/>
          <p:nvPr/>
        </p:nvSpPr>
        <p:spPr>
          <a:xfrm>
            <a:off x="6670591" y="4124158"/>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79" name="Text 50">
            <a:extLst>
              <a:ext uri="{FF2B5EF4-FFF2-40B4-BE49-F238E27FC236}">
                <a16:creationId xmlns:a16="http://schemas.microsoft.com/office/drawing/2014/main" id="{3AF7109C-EDE8-F8BE-01DA-9C306F9D4491}"/>
              </a:ext>
            </a:extLst>
          </p:cNvPr>
          <p:cNvSpPr/>
          <p:nvPr/>
        </p:nvSpPr>
        <p:spPr>
          <a:xfrm>
            <a:off x="6670591"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1" name="Text 51">
            <a:extLst>
              <a:ext uri="{FF2B5EF4-FFF2-40B4-BE49-F238E27FC236}">
                <a16:creationId xmlns:a16="http://schemas.microsoft.com/office/drawing/2014/main" id="{6A7C6314-C31C-2B4B-7A8D-E8DECD286DE8}"/>
              </a:ext>
            </a:extLst>
          </p:cNvPr>
          <p:cNvSpPr/>
          <p:nvPr/>
        </p:nvSpPr>
        <p:spPr>
          <a:xfrm>
            <a:off x="6887872" y="4105870"/>
            <a:ext cx="100584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サンクス</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誘導</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3" name="Text 52">
            <a:extLst>
              <a:ext uri="{FF2B5EF4-FFF2-40B4-BE49-F238E27FC236}">
                <a16:creationId xmlns:a16="http://schemas.microsoft.com/office/drawing/2014/main" id="{0C3AD28D-E803-BC04-74B7-651CDCD70000}"/>
              </a:ext>
            </a:extLst>
          </p:cNvPr>
          <p:cNvSpPr/>
          <p:nvPr/>
        </p:nvSpPr>
        <p:spPr>
          <a:xfrm>
            <a:off x="6621208" y="4316182"/>
            <a:ext cx="137196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上で受取</a:t>
            </a:r>
            <a:r>
              <a:rPr kumimoji="0" lang="ja-JP" altLang="en-US" sz="750" kern="0" dirty="0">
                <a:solidFill>
                  <a:srgbClr val="4A4A6A"/>
                </a:solidFill>
                <a:latin typeface="メイリオ" panose="020B0604030504040204" pitchFamily="50" charset="-128"/>
                <a:ea typeface="メイリオ" panose="020B0604030504040204" pitchFamily="50" charset="-128"/>
                <a:cs typeface="Calibri" pitchFamily="34" charset="-120"/>
              </a:rPr>
              <a:t>として友だちに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5" name="Text 53">
            <a:extLst>
              <a:ext uri="{FF2B5EF4-FFF2-40B4-BE49-F238E27FC236}">
                <a16:creationId xmlns:a16="http://schemas.microsoft.com/office/drawing/2014/main" id="{2FB8B884-DB13-49DB-D682-50EB7789C9A4}"/>
              </a:ext>
            </a:extLst>
          </p:cNvPr>
          <p:cNvSpPr/>
          <p:nvPr/>
        </p:nvSpPr>
        <p:spPr>
          <a:xfrm>
            <a:off x="7895887" y="4224742"/>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7" name="Shape 54">
            <a:extLst>
              <a:ext uri="{FF2B5EF4-FFF2-40B4-BE49-F238E27FC236}">
                <a16:creationId xmlns:a16="http://schemas.microsoft.com/office/drawing/2014/main" id="{710A2000-BA3B-1AFB-FCE0-644E6898DD03}"/>
              </a:ext>
            </a:extLst>
          </p:cNvPr>
          <p:cNvSpPr/>
          <p:nvPr/>
        </p:nvSpPr>
        <p:spPr>
          <a:xfrm>
            <a:off x="8023903" y="4069294"/>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89" name="Shape 55">
            <a:extLst>
              <a:ext uri="{FF2B5EF4-FFF2-40B4-BE49-F238E27FC236}">
                <a16:creationId xmlns:a16="http://schemas.microsoft.com/office/drawing/2014/main" id="{1037F87F-5E4D-E3F5-E197-701DC444F492}"/>
              </a:ext>
            </a:extLst>
          </p:cNvPr>
          <p:cNvSpPr/>
          <p:nvPr/>
        </p:nvSpPr>
        <p:spPr>
          <a:xfrm>
            <a:off x="8078767" y="4124158"/>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91" name="Text 56">
            <a:extLst>
              <a:ext uri="{FF2B5EF4-FFF2-40B4-BE49-F238E27FC236}">
                <a16:creationId xmlns:a16="http://schemas.microsoft.com/office/drawing/2014/main" id="{B168640B-7EB6-045C-32D4-9F60E9C4069A}"/>
              </a:ext>
            </a:extLst>
          </p:cNvPr>
          <p:cNvSpPr/>
          <p:nvPr/>
        </p:nvSpPr>
        <p:spPr>
          <a:xfrm>
            <a:off x="8078767"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93" name="Text 57">
            <a:extLst>
              <a:ext uri="{FF2B5EF4-FFF2-40B4-BE49-F238E27FC236}">
                <a16:creationId xmlns:a16="http://schemas.microsoft.com/office/drawing/2014/main" id="{E14BC7E9-3708-9505-AC4A-060665171BCD}"/>
              </a:ext>
            </a:extLst>
          </p:cNvPr>
          <p:cNvSpPr/>
          <p:nvPr/>
        </p:nvSpPr>
        <p:spPr>
          <a:xfrm>
            <a:off x="8298223" y="4105870"/>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友だち追加完了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95" name="Text 58">
            <a:extLst>
              <a:ext uri="{FF2B5EF4-FFF2-40B4-BE49-F238E27FC236}">
                <a16:creationId xmlns:a16="http://schemas.microsoft.com/office/drawing/2014/main" id="{5677227D-7522-18E3-CFF0-A01DE3054B96}"/>
              </a:ext>
            </a:extLst>
          </p:cNvPr>
          <p:cNvSpPr/>
          <p:nvPr/>
        </p:nvSpPr>
        <p:spPr>
          <a:xfrm>
            <a:off x="8078767" y="4316182"/>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err="1">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ステップ配信</a:t>
            </a:r>
            <a:r>
              <a:rPr kumimoji="0" lang="ja-JP" altLang="en-US" sz="750" kern="0" dirty="0">
                <a:solidFill>
                  <a:srgbClr val="D0E8FF"/>
                </a:solidFill>
                <a:latin typeface="メイリオ" panose="020B0604030504040204" pitchFamily="50" charset="-128"/>
                <a:ea typeface="メイリオ" panose="020B0604030504040204" pitchFamily="50" charset="-128"/>
                <a:cs typeface="Calibri" pitchFamily="34" charset="-120"/>
              </a:rPr>
              <a:t>対象に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43" name="Shape 88">
            <a:extLst>
              <a:ext uri="{FF2B5EF4-FFF2-40B4-BE49-F238E27FC236}">
                <a16:creationId xmlns:a16="http://schemas.microsoft.com/office/drawing/2014/main" id="{E0F73C02-327E-D244-0ABD-F19F91EB24DD}"/>
              </a:ext>
            </a:extLst>
          </p:cNvPr>
          <p:cNvSpPr/>
          <p:nvPr/>
        </p:nvSpPr>
        <p:spPr>
          <a:xfrm>
            <a:off x="261702" y="2995754"/>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45" name="Shape 36">
            <a:extLst>
              <a:ext uri="{FF2B5EF4-FFF2-40B4-BE49-F238E27FC236}">
                <a16:creationId xmlns:a16="http://schemas.microsoft.com/office/drawing/2014/main" id="{845DFC42-70E6-B496-30C2-C44315D85C79}"/>
              </a:ext>
            </a:extLst>
          </p:cNvPr>
          <p:cNvSpPr/>
          <p:nvPr/>
        </p:nvSpPr>
        <p:spPr>
          <a:xfrm>
            <a:off x="369887" y="307848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547" name="Shape 38">
            <a:extLst>
              <a:ext uri="{FF2B5EF4-FFF2-40B4-BE49-F238E27FC236}">
                <a16:creationId xmlns:a16="http://schemas.microsoft.com/office/drawing/2014/main" id="{2DBF8816-E4F7-4E6B-6AB6-19DEA2101114}"/>
              </a:ext>
            </a:extLst>
          </p:cNvPr>
          <p:cNvSpPr/>
          <p:nvPr/>
        </p:nvSpPr>
        <p:spPr>
          <a:xfrm>
            <a:off x="699071" y="309677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49" name="Text 39">
            <a:extLst>
              <a:ext uri="{FF2B5EF4-FFF2-40B4-BE49-F238E27FC236}">
                <a16:creationId xmlns:a16="http://schemas.microsoft.com/office/drawing/2014/main" id="{27DB11BF-957B-1CEF-3AC8-18BF5DCF40D9}"/>
              </a:ext>
            </a:extLst>
          </p:cNvPr>
          <p:cNvSpPr/>
          <p:nvPr/>
        </p:nvSpPr>
        <p:spPr>
          <a:xfrm>
            <a:off x="699071" y="309677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rPr>
              <a:t>CV</a:t>
            </a:r>
            <a:r>
              <a:rPr kumimoji="0" lang="ja-JP" altLang="en-US"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rPr>
              <a:t>地点追加</a:t>
            </a:r>
            <a:endParaRPr kumimoji="0" lang="en-US"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endParaRPr>
          </a:p>
        </p:txBody>
      </p:sp>
      <p:sp>
        <p:nvSpPr>
          <p:cNvPr id="551" name="Text 40">
            <a:extLst>
              <a:ext uri="{FF2B5EF4-FFF2-40B4-BE49-F238E27FC236}">
                <a16:creationId xmlns:a16="http://schemas.microsoft.com/office/drawing/2014/main" id="{C23E771B-F34E-1D51-1F7F-E37507CCE586}"/>
              </a:ext>
            </a:extLst>
          </p:cNvPr>
          <p:cNvSpPr/>
          <p:nvPr/>
        </p:nvSpPr>
        <p:spPr>
          <a:xfrm>
            <a:off x="1558607" y="3069345"/>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追加をそもそも集客成果の</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1</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地点に追加</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53" name="Text 41">
            <a:extLst>
              <a:ext uri="{FF2B5EF4-FFF2-40B4-BE49-F238E27FC236}">
                <a16:creationId xmlns:a16="http://schemas.microsoft.com/office/drawing/2014/main" id="{2C88C715-1A68-D7F9-6C3C-2E4E657F87BC}"/>
              </a:ext>
            </a:extLst>
          </p:cNvPr>
          <p:cNvSpPr/>
          <p:nvPr/>
        </p:nvSpPr>
        <p:spPr>
          <a:xfrm>
            <a:off x="369887" y="3371097"/>
            <a:ext cx="4449774" cy="493776"/>
          </a:xfrm>
          <a:prstGeom prst="rect">
            <a:avLst/>
          </a:prstGeom>
          <a:noFill/>
          <a:ln/>
        </p:spPr>
        <p:txBody>
          <a:bodyPr wrap="square" lIns="0" tIns="0" rIns="0" bIns="0" rtlCol="0" anchor="ctr"/>
          <a:lstStyle/>
          <a:p>
            <a:pPr lvl="0">
              <a:lnSpc>
                <a:spcPct val="135000"/>
              </a:lnSpc>
              <a:defRPr/>
            </a:pP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メール、電話を中心とした集客動線では、個人情報としてのハードルが高いため、</a:t>
            </a:r>
            <a:endPar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endParaRPr>
          </a:p>
          <a:p>
            <a:pPr lvl="0">
              <a:lnSpc>
                <a:spcPct val="135000"/>
              </a:lnSpc>
              <a:defRPr/>
            </a:pP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集客実施内でのリード獲得単価を抑制できる上、反応率が高い</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LINE</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を動線の</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1</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つに。</a:t>
            </a:r>
            <a:endParaRPr kumimoji="0" lang="en-US" sz="85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55" name="Shape 42">
            <a:extLst>
              <a:ext uri="{FF2B5EF4-FFF2-40B4-BE49-F238E27FC236}">
                <a16:creationId xmlns:a16="http://schemas.microsoft.com/office/drawing/2014/main" id="{113510A9-9BDD-9FAD-90F6-0D1EC0BCB699}"/>
              </a:ext>
            </a:extLst>
          </p:cNvPr>
          <p:cNvSpPr/>
          <p:nvPr/>
        </p:nvSpPr>
        <p:spPr>
          <a:xfrm>
            <a:off x="369887" y="406527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57" name="Shape 43">
            <a:extLst>
              <a:ext uri="{FF2B5EF4-FFF2-40B4-BE49-F238E27FC236}">
                <a16:creationId xmlns:a16="http://schemas.microsoft.com/office/drawing/2014/main" id="{4E4A9CB8-BC81-64F6-260F-5F493122A66C}"/>
              </a:ext>
            </a:extLst>
          </p:cNvPr>
          <p:cNvSpPr/>
          <p:nvPr/>
        </p:nvSpPr>
        <p:spPr>
          <a:xfrm>
            <a:off x="424751" y="412014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59" name="Text 44">
            <a:extLst>
              <a:ext uri="{FF2B5EF4-FFF2-40B4-BE49-F238E27FC236}">
                <a16:creationId xmlns:a16="http://schemas.microsoft.com/office/drawing/2014/main" id="{1140FDA8-6C5C-AE0C-F98C-11C8C0A073FE}"/>
              </a:ext>
            </a:extLst>
          </p:cNvPr>
          <p:cNvSpPr/>
          <p:nvPr/>
        </p:nvSpPr>
        <p:spPr>
          <a:xfrm>
            <a:off x="424751"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1" name="Text 45">
            <a:extLst>
              <a:ext uri="{FF2B5EF4-FFF2-40B4-BE49-F238E27FC236}">
                <a16:creationId xmlns:a16="http://schemas.microsoft.com/office/drawing/2014/main" id="{A22E630F-5396-9B90-711A-C5DCE95E1469}"/>
              </a:ext>
            </a:extLst>
          </p:cNvPr>
          <p:cNvSpPr/>
          <p:nvPr/>
        </p:nvSpPr>
        <p:spPr>
          <a:xfrm>
            <a:off x="644207" y="4101855"/>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広告・</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SEO</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SNS</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3" name="Text 46">
            <a:extLst>
              <a:ext uri="{FF2B5EF4-FFF2-40B4-BE49-F238E27FC236}">
                <a16:creationId xmlns:a16="http://schemas.microsoft.com/office/drawing/2014/main" id="{963027FB-D92E-2D7B-6655-63BA79599E4C}"/>
              </a:ext>
            </a:extLst>
          </p:cNvPr>
          <p:cNvSpPr/>
          <p:nvPr/>
        </p:nvSpPr>
        <p:spPr>
          <a:xfrm>
            <a:off x="424751" y="4312167"/>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流入チャネル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5" name="Text 47">
            <a:extLst>
              <a:ext uri="{FF2B5EF4-FFF2-40B4-BE49-F238E27FC236}">
                <a16:creationId xmlns:a16="http://schemas.microsoft.com/office/drawing/2014/main" id="{74B99422-CBF5-9B4D-0494-5C4443B23CDC}"/>
              </a:ext>
            </a:extLst>
          </p:cNvPr>
          <p:cNvSpPr/>
          <p:nvPr/>
        </p:nvSpPr>
        <p:spPr>
          <a:xfrm>
            <a:off x="1650047" y="422072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7" name="Shape 48">
            <a:extLst>
              <a:ext uri="{FF2B5EF4-FFF2-40B4-BE49-F238E27FC236}">
                <a16:creationId xmlns:a16="http://schemas.microsoft.com/office/drawing/2014/main" id="{8B8CFEAA-9314-449D-1074-EF75AFDAC19A}"/>
              </a:ext>
            </a:extLst>
          </p:cNvPr>
          <p:cNvSpPr/>
          <p:nvPr/>
        </p:nvSpPr>
        <p:spPr>
          <a:xfrm>
            <a:off x="1778063" y="406527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69" name="Shape 49">
            <a:extLst>
              <a:ext uri="{FF2B5EF4-FFF2-40B4-BE49-F238E27FC236}">
                <a16:creationId xmlns:a16="http://schemas.microsoft.com/office/drawing/2014/main" id="{C950146B-431E-366D-1457-E0150725DAB8}"/>
              </a:ext>
            </a:extLst>
          </p:cNvPr>
          <p:cNvSpPr/>
          <p:nvPr/>
        </p:nvSpPr>
        <p:spPr>
          <a:xfrm>
            <a:off x="1832927" y="412014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71" name="Text 50">
            <a:extLst>
              <a:ext uri="{FF2B5EF4-FFF2-40B4-BE49-F238E27FC236}">
                <a16:creationId xmlns:a16="http://schemas.microsoft.com/office/drawing/2014/main" id="{2812D2BF-5313-2DA8-B2ED-115987FDA314}"/>
              </a:ext>
            </a:extLst>
          </p:cNvPr>
          <p:cNvSpPr/>
          <p:nvPr/>
        </p:nvSpPr>
        <p:spPr>
          <a:xfrm>
            <a:off x="1832927"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3" name="Text 51">
            <a:extLst>
              <a:ext uri="{FF2B5EF4-FFF2-40B4-BE49-F238E27FC236}">
                <a16:creationId xmlns:a16="http://schemas.microsoft.com/office/drawing/2014/main" id="{61B9DBCC-02E6-6237-0DAD-ED9142171120}"/>
              </a:ext>
            </a:extLst>
          </p:cNvPr>
          <p:cNvSpPr/>
          <p:nvPr/>
        </p:nvSpPr>
        <p:spPr>
          <a:xfrm>
            <a:off x="2050208" y="4101855"/>
            <a:ext cx="100584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・ポップアップ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5" name="Text 52">
            <a:extLst>
              <a:ext uri="{FF2B5EF4-FFF2-40B4-BE49-F238E27FC236}">
                <a16:creationId xmlns:a16="http://schemas.microsoft.com/office/drawing/2014/main" id="{1CF9536A-5A56-D77B-3F08-8BACCB3B4827}"/>
              </a:ext>
            </a:extLst>
          </p:cNvPr>
          <p:cNvSpPr/>
          <p:nvPr/>
        </p:nvSpPr>
        <p:spPr>
          <a:xfrm>
            <a:off x="1783544" y="4312167"/>
            <a:ext cx="137196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やポップアップでの動線に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7" name="Text 53">
            <a:extLst>
              <a:ext uri="{FF2B5EF4-FFF2-40B4-BE49-F238E27FC236}">
                <a16:creationId xmlns:a16="http://schemas.microsoft.com/office/drawing/2014/main" id="{6C4945AC-3CDA-2080-CEF1-36A24E6529F2}"/>
              </a:ext>
            </a:extLst>
          </p:cNvPr>
          <p:cNvSpPr/>
          <p:nvPr/>
        </p:nvSpPr>
        <p:spPr>
          <a:xfrm>
            <a:off x="3058223" y="422072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9" name="Shape 54">
            <a:extLst>
              <a:ext uri="{FF2B5EF4-FFF2-40B4-BE49-F238E27FC236}">
                <a16:creationId xmlns:a16="http://schemas.microsoft.com/office/drawing/2014/main" id="{FB4A19A3-2EF9-47D2-F075-70F2D5D6B076}"/>
              </a:ext>
            </a:extLst>
          </p:cNvPr>
          <p:cNvSpPr/>
          <p:nvPr/>
        </p:nvSpPr>
        <p:spPr>
          <a:xfrm>
            <a:off x="3186239" y="406527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81" name="Shape 55">
            <a:extLst>
              <a:ext uri="{FF2B5EF4-FFF2-40B4-BE49-F238E27FC236}">
                <a16:creationId xmlns:a16="http://schemas.microsoft.com/office/drawing/2014/main" id="{6B43E1E4-2A7D-AD40-67F5-6B516A71860E}"/>
              </a:ext>
            </a:extLst>
          </p:cNvPr>
          <p:cNvSpPr/>
          <p:nvPr/>
        </p:nvSpPr>
        <p:spPr>
          <a:xfrm>
            <a:off x="3241103" y="412014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83" name="Text 56">
            <a:extLst>
              <a:ext uri="{FF2B5EF4-FFF2-40B4-BE49-F238E27FC236}">
                <a16:creationId xmlns:a16="http://schemas.microsoft.com/office/drawing/2014/main" id="{2E67F49B-16BE-07E6-9262-E50D4D3A8F60}"/>
              </a:ext>
            </a:extLst>
          </p:cNvPr>
          <p:cNvSpPr/>
          <p:nvPr/>
        </p:nvSpPr>
        <p:spPr>
          <a:xfrm>
            <a:off x="3241103"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85" name="Text 57">
            <a:extLst>
              <a:ext uri="{FF2B5EF4-FFF2-40B4-BE49-F238E27FC236}">
                <a16:creationId xmlns:a16="http://schemas.microsoft.com/office/drawing/2014/main" id="{AA931AD0-7A16-05D2-D8C7-AB50301B6C53}"/>
              </a:ext>
            </a:extLst>
          </p:cNvPr>
          <p:cNvSpPr/>
          <p:nvPr/>
        </p:nvSpPr>
        <p:spPr>
          <a:xfrm>
            <a:off x="3460559" y="4101855"/>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友だち追加完了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87" name="Text 58">
            <a:extLst>
              <a:ext uri="{FF2B5EF4-FFF2-40B4-BE49-F238E27FC236}">
                <a16:creationId xmlns:a16="http://schemas.microsoft.com/office/drawing/2014/main" id="{54B49D2D-4FC3-300F-AAB4-B1D6ACEDA33A}"/>
              </a:ext>
            </a:extLst>
          </p:cNvPr>
          <p:cNvSpPr/>
          <p:nvPr/>
        </p:nvSpPr>
        <p:spPr>
          <a:xfrm>
            <a:off x="3241103" y="4312167"/>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9571587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1E7E9-7412-46E6-C9BD-3E3A30E4E19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8CB184C-78E9-D432-060D-EA3167991AB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改善モデル②</a:t>
            </a:r>
          </a:p>
        </p:txBody>
      </p:sp>
      <p:sp>
        <p:nvSpPr>
          <p:cNvPr id="27" name="テキスト ボックス 26">
            <a:extLst>
              <a:ext uri="{FF2B5EF4-FFF2-40B4-BE49-F238E27FC236}">
                <a16:creationId xmlns:a16="http://schemas.microsoft.com/office/drawing/2014/main" id="{CD5B9619-DF62-5A09-8786-F83CA0529EF7}"/>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4FBA5686-1B33-AF5C-E6BC-2E0C88B24352}"/>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D27D1FC0-FB35-21DC-CE25-F2D2125F242E}"/>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7212DB55-F234-8FD7-C030-3F285C1EC16D}"/>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72B04E50-7661-9621-AE78-3522F8E664CF}"/>
              </a:ext>
            </a:extLst>
          </p:cNvPr>
          <p:cNvCxnSpPr>
            <a:cxnSpLocks/>
            <a:stCxn id="30" idx="0"/>
          </p:cNvCxnSpPr>
          <p:nvPr/>
        </p:nvCxnSpPr>
        <p:spPr>
          <a:xfrm rot="5400000" flipH="1" flipV="1">
            <a:off x="4270984" y="1681932"/>
            <a:ext cx="246792" cy="44239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 name="テキスト ボックス 1">
            <a:extLst>
              <a:ext uri="{FF2B5EF4-FFF2-40B4-BE49-F238E27FC236}">
                <a16:creationId xmlns:a16="http://schemas.microsoft.com/office/drawing/2014/main" id="{323ECFC3-BA42-FBB4-E25E-F72CFED142D3}"/>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E9E0720-3E3A-6F6F-EF58-0D05A19D436C}"/>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08A18FCF-114F-90AD-1C87-48385A2F1077}"/>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6534C85A-CAF2-CB68-930A-76AF50820018}"/>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3DC92EFA-89CD-05D2-4375-F2DE5BE5DDE6}"/>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11" name="Google Shape;752;p28">
            <a:extLst>
              <a:ext uri="{FF2B5EF4-FFF2-40B4-BE49-F238E27FC236}">
                <a16:creationId xmlns:a16="http://schemas.microsoft.com/office/drawing/2014/main" id="{9920090D-60BB-935F-AD0B-B7717467EA77}"/>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獲得されたリードを</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接触</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商談</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などの直リーチができる状態に引き上げる。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6" name="正方形/長方形 5">
            <a:extLst>
              <a:ext uri="{FF2B5EF4-FFF2-40B4-BE49-F238E27FC236}">
                <a16:creationId xmlns:a16="http://schemas.microsoft.com/office/drawing/2014/main" id="{E9F5C7F3-E9F1-D740-6953-AD8AB98C4502}"/>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テキスト ボックス 11">
            <a:extLst>
              <a:ext uri="{FF2B5EF4-FFF2-40B4-BE49-F238E27FC236}">
                <a16:creationId xmlns:a16="http://schemas.microsoft.com/office/drawing/2014/main" id="{AD26C97A-E96F-4F7B-9B0B-D735414D6034}"/>
              </a:ext>
            </a:extLst>
          </p:cNvPr>
          <p:cNvSpPr txBox="1"/>
          <p:nvPr/>
        </p:nvSpPr>
        <p:spPr>
          <a:xfrm>
            <a:off x="3542139" y="1396711"/>
            <a:ext cx="2352196" cy="383023"/>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リード有効化</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796E80A6-B5BB-3A8B-412E-06EE28AF0C99}"/>
              </a:ext>
            </a:extLst>
          </p:cNvPr>
          <p:cNvSpPr txBox="1"/>
          <p:nvPr/>
        </p:nvSpPr>
        <p:spPr>
          <a:xfrm>
            <a:off x="4830776" y="1593660"/>
            <a:ext cx="2352196" cy="379232"/>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⑥ 有効リードの再育成</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7CC6A546-6A9E-3367-D71C-1DB3BEF66AA8}"/>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rgbClr val="FFC000"/>
                </a:solidFill>
                <a:latin typeface="メイリオ" panose="020B0604030504040204" pitchFamily="50" charset="-128"/>
                <a:ea typeface="メイリオ" panose="020B0604030504040204" pitchFamily="50" charset="-128"/>
              </a:rPr>
              <a:t>短期：</a:t>
            </a:r>
            <a:r>
              <a:rPr kumimoji="1" lang="ja-JP" altLang="en-US" sz="1050" b="1" dirty="0">
                <a:latin typeface="メイリオ" panose="020B0604030504040204" pitchFamily="50" charset="-128"/>
                <a:ea typeface="メイリオ" panose="020B0604030504040204" pitchFamily="50" charset="-128"/>
              </a:rPr>
              <a:t>ナーチャリングにより、情報収集→実来店・直面談の機会設定</a:t>
            </a:r>
          </a:p>
        </p:txBody>
      </p:sp>
      <p:sp>
        <p:nvSpPr>
          <p:cNvPr id="15" name="正方形/長方形 14">
            <a:extLst>
              <a:ext uri="{FF2B5EF4-FFF2-40B4-BE49-F238E27FC236}">
                <a16:creationId xmlns:a16="http://schemas.microsoft.com/office/drawing/2014/main" id="{400321D5-E759-A2AB-D632-D8852C5C2531}"/>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rgbClr val="FFC000"/>
                </a:solidFill>
                <a:latin typeface="メイリオ" panose="020B0604030504040204" pitchFamily="50" charset="-128"/>
                <a:ea typeface="メイリオ" panose="020B0604030504040204" pitchFamily="50" charset="-128"/>
              </a:rPr>
              <a:t>長期：</a:t>
            </a:r>
            <a:r>
              <a:rPr lang="ja-JP" altLang="en-US" sz="1050" b="1" dirty="0">
                <a:latin typeface="メイリオ" panose="020B0604030504040204" pitchFamily="50" charset="-128"/>
                <a:ea typeface="メイリオ" panose="020B0604030504040204" pitchFamily="50" charset="-128"/>
              </a:rPr>
              <a:t>休眠顧客リスト、すぐすぐ以外の層に再度接点を</a:t>
            </a:r>
          </a:p>
        </p:txBody>
      </p:sp>
      <p:sp>
        <p:nvSpPr>
          <p:cNvPr id="19" name="Shape 34">
            <a:extLst>
              <a:ext uri="{FF2B5EF4-FFF2-40B4-BE49-F238E27FC236}">
                <a16:creationId xmlns:a16="http://schemas.microsoft.com/office/drawing/2014/main" id="{E40C1293-6205-BD09-C870-AB694054FE21}"/>
              </a:ext>
            </a:extLst>
          </p:cNvPr>
          <p:cNvSpPr/>
          <p:nvPr/>
        </p:nvSpPr>
        <p:spPr>
          <a:xfrm>
            <a:off x="265419" y="2999768"/>
            <a:ext cx="4541216" cy="1600805"/>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 name="Shape 36">
            <a:extLst>
              <a:ext uri="{FF2B5EF4-FFF2-40B4-BE49-F238E27FC236}">
                <a16:creationId xmlns:a16="http://schemas.microsoft.com/office/drawing/2014/main" id="{016D3DBA-827E-69AE-84A8-B5FA4B627604}"/>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3" name="Shape 38">
            <a:extLst>
              <a:ext uri="{FF2B5EF4-FFF2-40B4-BE49-F238E27FC236}">
                <a16:creationId xmlns:a16="http://schemas.microsoft.com/office/drawing/2014/main" id="{890CC249-519E-F80A-D737-4911D36F86B6}"/>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 name="Text 39">
            <a:extLst>
              <a:ext uri="{FF2B5EF4-FFF2-40B4-BE49-F238E27FC236}">
                <a16:creationId xmlns:a16="http://schemas.microsoft.com/office/drawing/2014/main" id="{006785A7-ADAB-E382-C3A3-3F5FA13C51E7}"/>
              </a:ext>
            </a:extLst>
          </p:cNvPr>
          <p:cNvSpPr/>
          <p:nvPr/>
        </p:nvSpPr>
        <p:spPr>
          <a:xfrm>
            <a:off x="686043"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ステップ配信</a:t>
            </a:r>
          </a:p>
        </p:txBody>
      </p:sp>
      <p:sp>
        <p:nvSpPr>
          <p:cNvPr id="31" name="Text 40">
            <a:extLst>
              <a:ext uri="{FF2B5EF4-FFF2-40B4-BE49-F238E27FC236}">
                <a16:creationId xmlns:a16="http://schemas.microsoft.com/office/drawing/2014/main" id="{560BDF4C-A3DE-DDCD-85B8-65A392B6CE01}"/>
              </a:ext>
            </a:extLst>
          </p:cNvPr>
          <p:cNvSpPr/>
          <p:nvPr/>
        </p:nvSpPr>
        <p:spPr>
          <a:xfrm>
            <a:off x="1545579" y="3082065"/>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ステップ配信 </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 </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限定面談オファーで商談化</a:t>
            </a:r>
          </a:p>
        </p:txBody>
      </p:sp>
      <p:sp>
        <p:nvSpPr>
          <p:cNvPr id="34" name="Text 41">
            <a:extLst>
              <a:ext uri="{FF2B5EF4-FFF2-40B4-BE49-F238E27FC236}">
                <a16:creationId xmlns:a16="http://schemas.microsoft.com/office/drawing/2014/main" id="{99B219D6-3C6C-5799-528B-587E37059F99}"/>
              </a:ext>
            </a:extLst>
          </p:cNvPr>
          <p:cNvSpPr/>
          <p:nvPr/>
        </p:nvSpPr>
        <p:spPr>
          <a:xfrm>
            <a:off x="356859" y="3383817"/>
            <a:ext cx="4449774" cy="493776"/>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Day0</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資料→</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Day3</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よくある質問→</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Day7</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事例紹介→</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Day10</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「今月限定・無料個別相談を○名様に」。「今すぐ買って」ではなく「まず話を聞くだけ」という低ハードル面談設定が鍵。限定性・数量制限で動機付け。</a:t>
            </a:r>
          </a:p>
        </p:txBody>
      </p:sp>
      <p:sp>
        <p:nvSpPr>
          <p:cNvPr id="36" name="Shape 42">
            <a:extLst>
              <a:ext uri="{FF2B5EF4-FFF2-40B4-BE49-F238E27FC236}">
                <a16:creationId xmlns:a16="http://schemas.microsoft.com/office/drawing/2014/main" id="{B511359D-C466-1D8A-5E4D-5C77E951F935}"/>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 name="Shape 43">
            <a:extLst>
              <a:ext uri="{FF2B5EF4-FFF2-40B4-BE49-F238E27FC236}">
                <a16:creationId xmlns:a16="http://schemas.microsoft.com/office/drawing/2014/main" id="{CB296A78-8B99-D908-AF84-F6571FA229F6}"/>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0" name="Text 44">
            <a:extLst>
              <a:ext uri="{FF2B5EF4-FFF2-40B4-BE49-F238E27FC236}">
                <a16:creationId xmlns:a16="http://schemas.microsoft.com/office/drawing/2014/main" id="{AA71EAAC-4F67-049F-5CB3-013124E72A38}"/>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2" name="Text 45">
            <a:extLst>
              <a:ext uri="{FF2B5EF4-FFF2-40B4-BE49-F238E27FC236}">
                <a16:creationId xmlns:a16="http://schemas.microsoft.com/office/drawing/2014/main" id="{42A6B48D-4266-BBC8-D43E-C90410471214}"/>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Day0 </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資料送付</a:t>
            </a:r>
            <a:endParaRPr lang="en-US" altLang="ja-JP" sz="850" dirty="0">
              <a:latin typeface="メイリオ" panose="020B0604030504040204" pitchFamily="50" charset="-128"/>
              <a:ea typeface="メイリオ" panose="020B0604030504040204" pitchFamily="50" charset="-128"/>
            </a:endParaRPr>
          </a:p>
        </p:txBody>
      </p:sp>
      <p:sp>
        <p:nvSpPr>
          <p:cNvPr id="44" name="Text 46">
            <a:extLst>
              <a:ext uri="{FF2B5EF4-FFF2-40B4-BE49-F238E27FC236}">
                <a16:creationId xmlns:a16="http://schemas.microsoft.com/office/drawing/2014/main" id="{2E529A7C-08F8-B965-8436-D648196C6289}"/>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即時価値提供</a:t>
            </a:r>
            <a:endParaRPr lang="en-US" altLang="ja-JP" sz="750" dirty="0">
              <a:latin typeface="メイリオ" panose="020B0604030504040204" pitchFamily="50" charset="-128"/>
              <a:ea typeface="メイリオ" panose="020B0604030504040204" pitchFamily="50" charset="-128"/>
            </a:endParaRPr>
          </a:p>
        </p:txBody>
      </p:sp>
      <p:sp>
        <p:nvSpPr>
          <p:cNvPr id="46" name="Text 47">
            <a:extLst>
              <a:ext uri="{FF2B5EF4-FFF2-40B4-BE49-F238E27FC236}">
                <a16:creationId xmlns:a16="http://schemas.microsoft.com/office/drawing/2014/main" id="{A451AFAF-0FA1-3FD6-C1D3-3C9BFFAAC97A}"/>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 name="Shape 48">
            <a:extLst>
              <a:ext uri="{FF2B5EF4-FFF2-40B4-BE49-F238E27FC236}">
                <a16:creationId xmlns:a16="http://schemas.microsoft.com/office/drawing/2014/main" id="{5210973B-C00E-2564-6A70-0A7CEC5FC416}"/>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0" name="Shape 49">
            <a:extLst>
              <a:ext uri="{FF2B5EF4-FFF2-40B4-BE49-F238E27FC236}">
                <a16:creationId xmlns:a16="http://schemas.microsoft.com/office/drawing/2014/main" id="{7F26AFE2-607A-7519-13A7-AE894D5EE528}"/>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2" name="Text 50">
            <a:extLst>
              <a:ext uri="{FF2B5EF4-FFF2-40B4-BE49-F238E27FC236}">
                <a16:creationId xmlns:a16="http://schemas.microsoft.com/office/drawing/2014/main" id="{265C8DF0-C86B-C86C-3E73-66465F4B1369}"/>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4" name="Text 51">
            <a:extLst>
              <a:ext uri="{FF2B5EF4-FFF2-40B4-BE49-F238E27FC236}">
                <a16:creationId xmlns:a16="http://schemas.microsoft.com/office/drawing/2014/main" id="{A95F52FD-E9C5-4730-028B-AF50835B0B2E}"/>
              </a:ext>
            </a:extLst>
          </p:cNvPr>
          <p:cNvSpPr/>
          <p:nvPr/>
        </p:nvSpPr>
        <p:spPr>
          <a:xfrm>
            <a:off x="2039355" y="4114575"/>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Day7 </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事例配信</a:t>
            </a:r>
            <a:endParaRPr lang="en-US" altLang="ja-JP" sz="850" dirty="0">
              <a:latin typeface="メイリオ" panose="020B0604030504040204" pitchFamily="50" charset="-128"/>
              <a:ea typeface="メイリオ" panose="020B0604030504040204" pitchFamily="50" charset="-128"/>
            </a:endParaRPr>
          </a:p>
        </p:txBody>
      </p:sp>
      <p:sp>
        <p:nvSpPr>
          <p:cNvPr id="56" name="Text 52">
            <a:extLst>
              <a:ext uri="{FF2B5EF4-FFF2-40B4-BE49-F238E27FC236}">
                <a16:creationId xmlns:a16="http://schemas.microsoft.com/office/drawing/2014/main" id="{5856973E-600C-9F69-B73B-7CF0931A980E}"/>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信頼醸成</a:t>
            </a:r>
            <a:endParaRPr lang="en-US" altLang="ja-JP" sz="750" dirty="0">
              <a:latin typeface="メイリオ" panose="020B0604030504040204" pitchFamily="50" charset="-128"/>
              <a:ea typeface="メイリオ" panose="020B0604030504040204" pitchFamily="50" charset="-128"/>
            </a:endParaRPr>
          </a:p>
        </p:txBody>
      </p:sp>
      <p:sp>
        <p:nvSpPr>
          <p:cNvPr id="58" name="Text 53">
            <a:extLst>
              <a:ext uri="{FF2B5EF4-FFF2-40B4-BE49-F238E27FC236}">
                <a16:creationId xmlns:a16="http://schemas.microsoft.com/office/drawing/2014/main" id="{758EA0D7-BE56-1F06-1A23-C564494322D2}"/>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60" name="Shape 54">
            <a:extLst>
              <a:ext uri="{FF2B5EF4-FFF2-40B4-BE49-F238E27FC236}">
                <a16:creationId xmlns:a16="http://schemas.microsoft.com/office/drawing/2014/main" id="{464D5640-6F1D-C6E1-393C-A5458B5A22C9}"/>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2" name="Shape 55">
            <a:extLst>
              <a:ext uri="{FF2B5EF4-FFF2-40B4-BE49-F238E27FC236}">
                <a16:creationId xmlns:a16="http://schemas.microsoft.com/office/drawing/2014/main" id="{89FC4EAE-E7E8-DC03-5DFF-37074D8D82B6}"/>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4" name="Text 56">
            <a:extLst>
              <a:ext uri="{FF2B5EF4-FFF2-40B4-BE49-F238E27FC236}">
                <a16:creationId xmlns:a16="http://schemas.microsoft.com/office/drawing/2014/main" id="{B33A9BF0-EC24-F583-5FA0-A5880F0E6A12}"/>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66" name="Text 57">
            <a:extLst>
              <a:ext uri="{FF2B5EF4-FFF2-40B4-BE49-F238E27FC236}">
                <a16:creationId xmlns:a16="http://schemas.microsoft.com/office/drawing/2014/main" id="{38746766-2598-E7FF-013F-7AF41C0BF589}"/>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a:solidFill>
                  <a:srgbClr val="FFFFFF"/>
                </a:solidFill>
                <a:latin typeface="メイリオ" panose="020B0604030504040204" pitchFamily="50" charset="-128"/>
                <a:ea typeface="メイリオ" panose="020B0604030504040204" pitchFamily="50" charset="-128"/>
                <a:cs typeface="Calibri" pitchFamily="34" charset="-120"/>
              </a:rPr>
              <a:t>Day10 </a:t>
            </a:r>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オファ</a:t>
            </a:r>
            <a:r>
              <a:rPr lang="en-US" altLang="ja-JP" sz="850" b="1" dirty="0">
                <a:solidFill>
                  <a:srgbClr val="FFFFFF"/>
                </a:solidFill>
                <a:latin typeface="メイリオ" panose="020B0604030504040204" pitchFamily="50" charset="-128"/>
                <a:ea typeface="メイリオ" panose="020B0604030504040204" pitchFamily="50" charset="-128"/>
                <a:cs typeface="Calibri" pitchFamily="34" charset="-120"/>
              </a:rPr>
              <a:t>ー</a:t>
            </a:r>
            <a:endParaRPr lang="en-US" altLang="ja-JP" sz="850" dirty="0">
              <a:latin typeface="メイリオ" panose="020B0604030504040204" pitchFamily="50" charset="-128"/>
              <a:ea typeface="メイリオ" panose="020B0604030504040204" pitchFamily="50" charset="-128"/>
            </a:endParaRPr>
          </a:p>
        </p:txBody>
      </p:sp>
      <p:sp>
        <p:nvSpPr>
          <p:cNvPr id="68" name="Text 58">
            <a:extLst>
              <a:ext uri="{FF2B5EF4-FFF2-40B4-BE49-F238E27FC236}">
                <a16:creationId xmlns:a16="http://schemas.microsoft.com/office/drawing/2014/main" id="{EE1DF143-F3CF-E063-7DA2-53A3D0BCB28D}"/>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限定・数量制限</a:t>
            </a:r>
            <a:endParaRPr lang="en-US" altLang="ja-JP" sz="750" dirty="0">
              <a:latin typeface="メイリオ" panose="020B0604030504040204" pitchFamily="50" charset="-128"/>
              <a:ea typeface="メイリオ" panose="020B0604030504040204" pitchFamily="50" charset="-128"/>
            </a:endParaRPr>
          </a:p>
        </p:txBody>
      </p:sp>
      <p:sp>
        <p:nvSpPr>
          <p:cNvPr id="70" name="Shape 59">
            <a:extLst>
              <a:ext uri="{FF2B5EF4-FFF2-40B4-BE49-F238E27FC236}">
                <a16:creationId xmlns:a16="http://schemas.microsoft.com/office/drawing/2014/main" id="{ED1F64AB-43E6-3EF4-E22A-1C2B3A1EAFE6}"/>
              </a:ext>
            </a:extLst>
          </p:cNvPr>
          <p:cNvSpPr/>
          <p:nvPr/>
        </p:nvSpPr>
        <p:spPr>
          <a:xfrm>
            <a:off x="265419" y="4842285"/>
            <a:ext cx="4541216" cy="1600804"/>
          </a:xfrm>
          <a:prstGeom prst="roundRect">
            <a:avLst>
              <a:gd name="adj" fmla="val 5263"/>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72" name="Shape 63">
            <a:extLst>
              <a:ext uri="{FF2B5EF4-FFF2-40B4-BE49-F238E27FC236}">
                <a16:creationId xmlns:a16="http://schemas.microsoft.com/office/drawing/2014/main" id="{38B1441B-4C63-5D92-EC3A-90F6C29F7A30}"/>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74" name="Text 64">
            <a:extLst>
              <a:ext uri="{FF2B5EF4-FFF2-40B4-BE49-F238E27FC236}">
                <a16:creationId xmlns:a16="http://schemas.microsoft.com/office/drawing/2014/main" id="{57430ED0-462D-34B1-A475-D78F816729F5}"/>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LINE広告</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76" name="Text 65">
            <a:extLst>
              <a:ext uri="{FF2B5EF4-FFF2-40B4-BE49-F238E27FC236}">
                <a16:creationId xmlns:a16="http://schemas.microsoft.com/office/drawing/2014/main" id="{B7DB943B-00E9-7974-CDB8-CF2D59CC61D4}"/>
              </a:ext>
            </a:extLst>
          </p:cNvPr>
          <p:cNvSpPr/>
          <p:nvPr/>
        </p:nvSpPr>
        <p:spPr>
          <a:xfrm>
            <a:off x="1545579"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アンケート</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スコアリングで商談自動振り分け</a:t>
            </a:r>
            <a:endParaRPr lang="en-US" altLang="ja-JP" sz="1100" dirty="0">
              <a:latin typeface="メイリオ" panose="020B0604030504040204" pitchFamily="50" charset="-128"/>
              <a:ea typeface="メイリオ" panose="020B0604030504040204" pitchFamily="50" charset="-128"/>
            </a:endParaRPr>
          </a:p>
        </p:txBody>
      </p:sp>
      <p:sp>
        <p:nvSpPr>
          <p:cNvPr id="78" name="Text 66">
            <a:extLst>
              <a:ext uri="{FF2B5EF4-FFF2-40B4-BE49-F238E27FC236}">
                <a16:creationId xmlns:a16="http://schemas.microsoft.com/office/drawing/2014/main" id="{4EFBD6ED-AC70-7247-939C-182C24C7C8EB}"/>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現在の状況を3問で教えてください」をLINEで配信。「3ヶ月以内に検討」「他社比較中」の回答者を自動でホットリードとして抽出しスタッフが即日連絡。全リードにスタッフ対応せず、温度感の高い層だけに集中する。</a:t>
            </a:r>
            <a:endParaRPr lang="en-US" altLang="ja-JP" sz="850" dirty="0">
              <a:latin typeface="メイリオ" panose="020B0604030504040204" pitchFamily="50" charset="-128"/>
              <a:ea typeface="メイリオ" panose="020B0604030504040204" pitchFamily="50" charset="-128"/>
            </a:endParaRPr>
          </a:p>
        </p:txBody>
      </p:sp>
      <p:sp>
        <p:nvSpPr>
          <p:cNvPr id="80" name="Shape 68">
            <a:extLst>
              <a:ext uri="{FF2B5EF4-FFF2-40B4-BE49-F238E27FC236}">
                <a16:creationId xmlns:a16="http://schemas.microsoft.com/office/drawing/2014/main" id="{A878F7AF-2951-6346-AC7C-117CEAD65882}"/>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2" name="Text 69">
            <a:extLst>
              <a:ext uri="{FF2B5EF4-FFF2-40B4-BE49-F238E27FC236}">
                <a16:creationId xmlns:a16="http://schemas.microsoft.com/office/drawing/2014/main" id="{51BC50E4-D2C2-FB3A-BADF-2405ED305FFC}"/>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4" name="Text 70">
            <a:extLst>
              <a:ext uri="{FF2B5EF4-FFF2-40B4-BE49-F238E27FC236}">
                <a16:creationId xmlns:a16="http://schemas.microsoft.com/office/drawing/2014/main" id="{C0DB247B-6B3F-9051-4404-63FBF132961F}"/>
              </a:ext>
            </a:extLst>
          </p:cNvPr>
          <p:cNvSpPr/>
          <p:nvPr/>
        </p:nvSpPr>
        <p:spPr>
          <a:xfrm>
            <a:off x="2671467" y="5559265"/>
            <a:ext cx="2022453" cy="158716"/>
          </a:xfrm>
          <a:prstGeom prst="rect">
            <a:avLst/>
          </a:prstGeom>
          <a:noFill/>
          <a:ln/>
        </p:spPr>
        <p:txBody>
          <a:bodyPr wrap="square" lIns="0" tIns="0" rIns="0" bIns="0" rtlCol="0" anchor="ctr"/>
          <a:lstStyle/>
          <a:p>
            <a:pPr marL="0" marR="0" lvl="0" indent="0" defTabSz="914400" eaLnBrk="1" fontAlgn="auto" latinLnBrk="0" hangingPunct="1">
              <a:lnSpc>
                <a:spcPct val="125000"/>
              </a:lnSpc>
              <a:spcBef>
                <a:spcPts val="0"/>
              </a:spcBef>
              <a:spcAft>
                <a:spcPts val="0"/>
              </a:spcAft>
              <a:buClrTx/>
              <a:buSzTx/>
              <a:buFontTx/>
              <a:buNone/>
              <a:tabLst/>
              <a:defRPr/>
            </a:pPr>
            <a:r>
              <a:rPr kumimoji="0" lang="en-US" sz="700" b="0" i="0" u="none" strike="noStrike" kern="0" cap="none" spc="0" normalizeH="0" baseline="0" noProof="0" dirty="0" err="1">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CPFの強みを活かすならLINE内完結設計が正解</a:t>
            </a:r>
            <a:r>
              <a:rPr kumimoji="0" lang="en-US" sz="700" b="0" i="0" u="none" strike="noStrike" kern="0" cap="none" spc="0" normalizeH="0" baseline="0" noProof="0" dirty="0">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6" name="Shape 71">
            <a:extLst>
              <a:ext uri="{FF2B5EF4-FFF2-40B4-BE49-F238E27FC236}">
                <a16:creationId xmlns:a16="http://schemas.microsoft.com/office/drawing/2014/main" id="{E782C278-7AB5-1A6B-D371-D48C786DEC22}"/>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8" name="Shape 72">
            <a:extLst>
              <a:ext uri="{FF2B5EF4-FFF2-40B4-BE49-F238E27FC236}">
                <a16:creationId xmlns:a16="http://schemas.microsoft.com/office/drawing/2014/main" id="{F8BD45B3-63BC-CCCC-A02C-22292B165914}"/>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0" name="Text 73">
            <a:extLst>
              <a:ext uri="{FF2B5EF4-FFF2-40B4-BE49-F238E27FC236}">
                <a16:creationId xmlns:a16="http://schemas.microsoft.com/office/drawing/2014/main" id="{7C72A4DB-C3F4-16C9-6A51-D60CB4DF1517}"/>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2" name="Text 74">
            <a:extLst>
              <a:ext uri="{FF2B5EF4-FFF2-40B4-BE49-F238E27FC236}">
                <a16:creationId xmlns:a16="http://schemas.microsoft.com/office/drawing/2014/main" id="{BE7ADCA5-3612-7BC6-AA8D-040022EE1617}"/>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3問アンケート配信</a:t>
            </a:r>
            <a:endParaRPr lang="en-US" altLang="ja-JP" sz="850" dirty="0">
              <a:latin typeface="メイリオ" panose="020B0604030504040204" pitchFamily="50" charset="-128"/>
              <a:ea typeface="メイリオ" panose="020B0604030504040204" pitchFamily="50" charset="-128"/>
            </a:endParaRPr>
          </a:p>
        </p:txBody>
      </p:sp>
      <p:sp>
        <p:nvSpPr>
          <p:cNvPr id="94" name="Text 75">
            <a:extLst>
              <a:ext uri="{FF2B5EF4-FFF2-40B4-BE49-F238E27FC236}">
                <a16:creationId xmlns:a16="http://schemas.microsoft.com/office/drawing/2014/main" id="{F0DD5913-5DC7-A93B-7D58-6F8AE9356AB0}"/>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タップ式・即回答</a:t>
            </a:r>
            <a:endParaRPr lang="en-US" altLang="ja-JP" sz="750" dirty="0">
              <a:latin typeface="メイリオ" panose="020B0604030504040204" pitchFamily="50" charset="-128"/>
              <a:ea typeface="メイリオ" panose="020B0604030504040204" pitchFamily="50" charset="-128"/>
            </a:endParaRPr>
          </a:p>
        </p:txBody>
      </p:sp>
      <p:sp>
        <p:nvSpPr>
          <p:cNvPr id="96" name="Text 76">
            <a:extLst>
              <a:ext uri="{FF2B5EF4-FFF2-40B4-BE49-F238E27FC236}">
                <a16:creationId xmlns:a16="http://schemas.microsoft.com/office/drawing/2014/main" id="{8841F69C-C2EB-F428-9C29-1835C7671985}"/>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8" name="Shape 77">
            <a:extLst>
              <a:ext uri="{FF2B5EF4-FFF2-40B4-BE49-F238E27FC236}">
                <a16:creationId xmlns:a16="http://schemas.microsoft.com/office/drawing/2014/main" id="{3D4B0674-1BDF-A06F-3031-1D2C3CFCAFCB}"/>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0" name="Shape 78">
            <a:extLst>
              <a:ext uri="{FF2B5EF4-FFF2-40B4-BE49-F238E27FC236}">
                <a16:creationId xmlns:a16="http://schemas.microsoft.com/office/drawing/2014/main" id="{A6BF8401-0185-4740-65BD-3B25BF274C5D}"/>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2" name="Text 79">
            <a:extLst>
              <a:ext uri="{FF2B5EF4-FFF2-40B4-BE49-F238E27FC236}">
                <a16:creationId xmlns:a16="http://schemas.microsoft.com/office/drawing/2014/main" id="{60ECC73C-CE71-5B5F-BE35-36A110A9273A}"/>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4" name="Text 80">
            <a:extLst>
              <a:ext uri="{FF2B5EF4-FFF2-40B4-BE49-F238E27FC236}">
                <a16:creationId xmlns:a16="http://schemas.microsoft.com/office/drawing/2014/main" id="{96428CFC-DE5B-2C59-73AD-050998F19ECE}"/>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自動スコアリング</a:t>
            </a:r>
            <a:endParaRPr lang="en-US" altLang="ja-JP" sz="850" dirty="0">
              <a:latin typeface="メイリオ" panose="020B0604030504040204" pitchFamily="50" charset="-128"/>
              <a:ea typeface="メイリオ" panose="020B0604030504040204" pitchFamily="50" charset="-128"/>
            </a:endParaRPr>
          </a:p>
        </p:txBody>
      </p:sp>
      <p:sp>
        <p:nvSpPr>
          <p:cNvPr id="106" name="Text 81">
            <a:extLst>
              <a:ext uri="{FF2B5EF4-FFF2-40B4-BE49-F238E27FC236}">
                <a16:creationId xmlns:a16="http://schemas.microsoft.com/office/drawing/2014/main" id="{A4C856B7-9917-9F3B-C6EC-F2AB00761D32}"/>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ホットリード特定</a:t>
            </a:r>
            <a:endParaRPr lang="en-US" altLang="ja-JP" sz="750" dirty="0">
              <a:latin typeface="メイリオ" panose="020B0604030504040204" pitchFamily="50" charset="-128"/>
              <a:ea typeface="メイリオ" panose="020B0604030504040204" pitchFamily="50" charset="-128"/>
            </a:endParaRPr>
          </a:p>
        </p:txBody>
      </p:sp>
      <p:sp>
        <p:nvSpPr>
          <p:cNvPr id="108" name="Text 82">
            <a:extLst>
              <a:ext uri="{FF2B5EF4-FFF2-40B4-BE49-F238E27FC236}">
                <a16:creationId xmlns:a16="http://schemas.microsoft.com/office/drawing/2014/main" id="{E3396CCE-6D05-BB63-89D2-AFEC3888A603}"/>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0" name="Shape 83">
            <a:extLst>
              <a:ext uri="{FF2B5EF4-FFF2-40B4-BE49-F238E27FC236}">
                <a16:creationId xmlns:a16="http://schemas.microsoft.com/office/drawing/2014/main" id="{E0F59D7C-4363-A525-B16C-695512C79C58}"/>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2" name="Shape 84">
            <a:extLst>
              <a:ext uri="{FF2B5EF4-FFF2-40B4-BE49-F238E27FC236}">
                <a16:creationId xmlns:a16="http://schemas.microsoft.com/office/drawing/2014/main" id="{9E2F0FE0-EA67-CDB7-9CF3-64EDD1E5E81A}"/>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4" name="Text 85">
            <a:extLst>
              <a:ext uri="{FF2B5EF4-FFF2-40B4-BE49-F238E27FC236}">
                <a16:creationId xmlns:a16="http://schemas.microsoft.com/office/drawing/2014/main" id="{E836FDF6-8AA3-5464-F9B5-FFD8960B35B5}"/>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6" name="Text 86">
            <a:extLst>
              <a:ext uri="{FF2B5EF4-FFF2-40B4-BE49-F238E27FC236}">
                <a16:creationId xmlns:a16="http://schemas.microsoft.com/office/drawing/2014/main" id="{FEF48462-734A-1272-13A3-E0A1A2C1A704}"/>
              </a:ext>
            </a:extLst>
          </p:cNvPr>
          <p:cNvSpPr/>
          <p:nvPr/>
        </p:nvSpPr>
        <p:spPr>
          <a:xfrm>
            <a:off x="3447531" y="5957091"/>
            <a:ext cx="914400" cy="182880"/>
          </a:xfrm>
          <a:prstGeom prst="rect">
            <a:avLst/>
          </a:prstGeom>
          <a:noFill/>
          <a:ln/>
        </p:spPr>
        <p:txBody>
          <a:bodyPr wrap="square" lIns="0" tIns="0" rIns="0" bIns="0" rtlCol="0" anchor="ctr"/>
          <a:lstStyle/>
          <a:p>
            <a:r>
              <a:rPr lang="ja-JP" altLang="en-US" sz="850" b="1" dirty="0">
                <a:solidFill>
                  <a:srgbClr val="FFFFFF"/>
                </a:solidFill>
                <a:latin typeface="メイリオ" panose="020B0604030504040204" pitchFamily="50" charset="-128"/>
                <a:ea typeface="メイリオ" panose="020B0604030504040204" pitchFamily="50" charset="-128"/>
                <a:cs typeface="Calibri" pitchFamily="34" charset="-120"/>
              </a:rPr>
              <a:t>トスアップ</a:t>
            </a:r>
            <a:endParaRPr lang="en-US" altLang="ja-JP" sz="850" dirty="0">
              <a:latin typeface="メイリオ" panose="020B0604030504040204" pitchFamily="50" charset="-128"/>
              <a:ea typeface="メイリオ" panose="020B0604030504040204" pitchFamily="50" charset="-128"/>
            </a:endParaRPr>
          </a:p>
        </p:txBody>
      </p:sp>
      <p:sp>
        <p:nvSpPr>
          <p:cNvPr id="118" name="Text 87">
            <a:extLst>
              <a:ext uri="{FF2B5EF4-FFF2-40B4-BE49-F238E27FC236}">
                <a16:creationId xmlns:a16="http://schemas.microsoft.com/office/drawing/2014/main" id="{7A5801BF-BB1C-CA06-2ADD-8917D3F321CF}"/>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商談化70%</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改善事例も</a:t>
            </a:r>
            <a:endParaRPr lang="en-US" altLang="ja-JP" sz="750" dirty="0">
              <a:latin typeface="メイリオ" panose="020B0604030504040204" pitchFamily="50" charset="-128"/>
              <a:ea typeface="メイリオ" panose="020B0604030504040204" pitchFamily="50" charset="-128"/>
            </a:endParaRPr>
          </a:p>
        </p:txBody>
      </p:sp>
      <p:sp>
        <p:nvSpPr>
          <p:cNvPr id="120" name="Shape 88">
            <a:extLst>
              <a:ext uri="{FF2B5EF4-FFF2-40B4-BE49-F238E27FC236}">
                <a16:creationId xmlns:a16="http://schemas.microsoft.com/office/drawing/2014/main" id="{1022B804-29BA-C16F-59BF-7116998459A1}"/>
              </a:ext>
            </a:extLst>
          </p:cNvPr>
          <p:cNvSpPr/>
          <p:nvPr/>
        </p:nvSpPr>
        <p:spPr>
          <a:xfrm>
            <a:off x="5099366" y="2999769"/>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2" name="Shape 92">
            <a:extLst>
              <a:ext uri="{FF2B5EF4-FFF2-40B4-BE49-F238E27FC236}">
                <a16:creationId xmlns:a16="http://schemas.microsoft.com/office/drawing/2014/main" id="{C083C52C-3E3D-EE4D-FA9C-B0A718669F53}"/>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4" name="Text 93">
            <a:extLst>
              <a:ext uri="{FF2B5EF4-FFF2-40B4-BE49-F238E27FC236}">
                <a16:creationId xmlns:a16="http://schemas.microsoft.com/office/drawing/2014/main" id="{1BBE6434-6048-9866-D279-EBE9D835E91D}"/>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企画配信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26" name="Text 94">
            <a:extLst>
              <a:ext uri="{FF2B5EF4-FFF2-40B4-BE49-F238E27FC236}">
                <a16:creationId xmlns:a16="http://schemas.microsoft.com/office/drawing/2014/main" id="{F578845C-26D5-3691-D376-1CA844A61B98}"/>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季節・業界イベント連動配信で休眠リストを起こす</a:t>
            </a:r>
            <a:endParaRPr lang="en-US" altLang="ja-JP" sz="1100" dirty="0">
              <a:latin typeface="メイリオ" panose="020B0604030504040204" pitchFamily="50" charset="-128"/>
              <a:ea typeface="メイリオ" panose="020B0604030504040204" pitchFamily="50" charset="-128"/>
            </a:endParaRPr>
          </a:p>
        </p:txBody>
      </p:sp>
      <p:sp>
        <p:nvSpPr>
          <p:cNvPr id="128" name="Text 95">
            <a:extLst>
              <a:ext uri="{FF2B5EF4-FFF2-40B4-BE49-F238E27FC236}">
                <a16:creationId xmlns:a16="http://schemas.microsoft.com/office/drawing/2014/main" id="{06D9F55B-7232-7A4D-8F5C-1AB4E0C70FBD}"/>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「年末の〇〇に向けて、今から準備を始めるお客様が増えています」という業界固有モーメントに乗せた再接触配信。悩みのピーク2〜3週前に配信することがCVR最大化のコツ。「</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売り込み」ではなく「タイミングの案内」として届ける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130" name="Shape 96">
            <a:extLst>
              <a:ext uri="{FF2B5EF4-FFF2-40B4-BE49-F238E27FC236}">
                <a16:creationId xmlns:a16="http://schemas.microsoft.com/office/drawing/2014/main" id="{069D4174-4F64-8276-0A34-474428B42A09}"/>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32" name="Shape 97">
            <a:extLst>
              <a:ext uri="{FF2B5EF4-FFF2-40B4-BE49-F238E27FC236}">
                <a16:creationId xmlns:a16="http://schemas.microsoft.com/office/drawing/2014/main" id="{D9EBB717-A542-13FE-924C-50E4D9047DEA}"/>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34" name="Text 98">
            <a:extLst>
              <a:ext uri="{FF2B5EF4-FFF2-40B4-BE49-F238E27FC236}">
                <a16:creationId xmlns:a16="http://schemas.microsoft.com/office/drawing/2014/main" id="{5701D322-E6AC-4743-3BF0-3D2C916AA73A}"/>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36" name="Text 99">
            <a:extLst>
              <a:ext uri="{FF2B5EF4-FFF2-40B4-BE49-F238E27FC236}">
                <a16:creationId xmlns:a16="http://schemas.microsoft.com/office/drawing/2014/main" id="{CA2962DC-C768-875A-D569-10ECD1DEB616}"/>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モーメント特定</a:t>
            </a:r>
            <a:endParaRPr lang="en-US" altLang="ja-JP" sz="850" dirty="0">
              <a:latin typeface="メイリオ" panose="020B0604030504040204" pitchFamily="50" charset="-128"/>
              <a:ea typeface="メイリオ" panose="020B0604030504040204" pitchFamily="50" charset="-128"/>
            </a:endParaRPr>
          </a:p>
        </p:txBody>
      </p:sp>
      <p:sp>
        <p:nvSpPr>
          <p:cNvPr id="138" name="Text 100">
            <a:extLst>
              <a:ext uri="{FF2B5EF4-FFF2-40B4-BE49-F238E27FC236}">
                <a16:creationId xmlns:a16="http://schemas.microsoft.com/office/drawing/2014/main" id="{C3D786F9-91FC-82F5-3763-A658668EED4C}"/>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ピーク2〜3週前</a:t>
            </a:r>
            <a:endParaRPr lang="en-US" altLang="ja-JP" sz="750" dirty="0">
              <a:latin typeface="メイリオ" panose="020B0604030504040204" pitchFamily="50" charset="-128"/>
              <a:ea typeface="メイリオ" panose="020B0604030504040204" pitchFamily="50" charset="-128"/>
            </a:endParaRPr>
          </a:p>
        </p:txBody>
      </p:sp>
      <p:sp>
        <p:nvSpPr>
          <p:cNvPr id="140" name="Text 101">
            <a:extLst>
              <a:ext uri="{FF2B5EF4-FFF2-40B4-BE49-F238E27FC236}">
                <a16:creationId xmlns:a16="http://schemas.microsoft.com/office/drawing/2014/main" id="{C1EEB04D-625F-17CE-C89D-4B08395FBAFC}"/>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42" name="Shape 102">
            <a:extLst>
              <a:ext uri="{FF2B5EF4-FFF2-40B4-BE49-F238E27FC236}">
                <a16:creationId xmlns:a16="http://schemas.microsoft.com/office/drawing/2014/main" id="{50E9AED5-D9C7-D6C3-65D6-3119987A999C}"/>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4" name="Shape 103">
            <a:extLst>
              <a:ext uri="{FF2B5EF4-FFF2-40B4-BE49-F238E27FC236}">
                <a16:creationId xmlns:a16="http://schemas.microsoft.com/office/drawing/2014/main" id="{C74365D2-79DD-46D0-F7E6-AB9A53F69C2C}"/>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6" name="Text 104">
            <a:extLst>
              <a:ext uri="{FF2B5EF4-FFF2-40B4-BE49-F238E27FC236}">
                <a16:creationId xmlns:a16="http://schemas.microsoft.com/office/drawing/2014/main" id="{6E4E920B-459D-A400-22E8-BABF2781E2BA}"/>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48" name="Text 105">
            <a:extLst>
              <a:ext uri="{FF2B5EF4-FFF2-40B4-BE49-F238E27FC236}">
                <a16:creationId xmlns:a16="http://schemas.microsoft.com/office/drawing/2014/main" id="{A09DCB92-8255-C6E6-87C7-473321C80234}"/>
              </a:ext>
            </a:extLst>
          </p:cNvPr>
          <p:cNvSpPr/>
          <p:nvPr/>
        </p:nvSpPr>
        <p:spPr>
          <a:xfrm>
            <a:off x="6873303"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コンテンツ配信</a:t>
            </a:r>
            <a:endParaRPr lang="en-US" altLang="ja-JP" sz="850" dirty="0">
              <a:latin typeface="メイリオ" panose="020B0604030504040204" pitchFamily="50" charset="-128"/>
              <a:ea typeface="メイリオ" panose="020B0604030504040204" pitchFamily="50" charset="-128"/>
            </a:endParaRPr>
          </a:p>
        </p:txBody>
      </p:sp>
      <p:sp>
        <p:nvSpPr>
          <p:cNvPr id="150" name="Text 106">
            <a:extLst>
              <a:ext uri="{FF2B5EF4-FFF2-40B4-BE49-F238E27FC236}">
                <a16:creationId xmlns:a16="http://schemas.microsoft.com/office/drawing/2014/main" id="{09AC34DD-AAEC-BF91-CB1D-5545FE79C4D2}"/>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今だから」訴求</a:t>
            </a:r>
            <a:endParaRPr lang="en-US" altLang="ja-JP" sz="750" dirty="0">
              <a:latin typeface="メイリオ" panose="020B0604030504040204" pitchFamily="50" charset="-128"/>
              <a:ea typeface="メイリオ" panose="020B0604030504040204" pitchFamily="50" charset="-128"/>
            </a:endParaRPr>
          </a:p>
        </p:txBody>
      </p:sp>
      <p:sp>
        <p:nvSpPr>
          <p:cNvPr id="152" name="Text 107">
            <a:extLst>
              <a:ext uri="{FF2B5EF4-FFF2-40B4-BE49-F238E27FC236}">
                <a16:creationId xmlns:a16="http://schemas.microsoft.com/office/drawing/2014/main" id="{BF81408E-47F9-9F16-013B-45DCB0A4C212}"/>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54" name="Shape 108">
            <a:extLst>
              <a:ext uri="{FF2B5EF4-FFF2-40B4-BE49-F238E27FC236}">
                <a16:creationId xmlns:a16="http://schemas.microsoft.com/office/drawing/2014/main" id="{503FF76B-C744-3397-71C4-D41BA4685B17}"/>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6" name="Shape 109">
            <a:extLst>
              <a:ext uri="{FF2B5EF4-FFF2-40B4-BE49-F238E27FC236}">
                <a16:creationId xmlns:a16="http://schemas.microsoft.com/office/drawing/2014/main" id="{A6B21F29-F9B0-9369-C7F9-877467F07918}"/>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8" name="Text 110">
            <a:extLst>
              <a:ext uri="{FF2B5EF4-FFF2-40B4-BE49-F238E27FC236}">
                <a16:creationId xmlns:a16="http://schemas.microsoft.com/office/drawing/2014/main" id="{27C2769D-257A-7368-2C8C-D5AC1F474DEE}"/>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60" name="Text 111">
            <a:extLst>
              <a:ext uri="{FF2B5EF4-FFF2-40B4-BE49-F238E27FC236}">
                <a16:creationId xmlns:a16="http://schemas.microsoft.com/office/drawing/2014/main" id="{38FBDAAB-A07A-E8C4-47B0-D464E78D6F27}"/>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休眠リスト再CV</a:t>
            </a:r>
            <a:endParaRPr lang="en-US" altLang="ja-JP" sz="850" dirty="0">
              <a:latin typeface="メイリオ" panose="020B0604030504040204" pitchFamily="50" charset="-128"/>
              <a:ea typeface="メイリオ" panose="020B0604030504040204" pitchFamily="50" charset="-128"/>
            </a:endParaRPr>
          </a:p>
        </p:txBody>
      </p:sp>
      <p:sp>
        <p:nvSpPr>
          <p:cNvPr id="162" name="Text 112">
            <a:extLst>
              <a:ext uri="{FF2B5EF4-FFF2-40B4-BE49-F238E27FC236}">
                <a16:creationId xmlns:a16="http://schemas.microsoft.com/office/drawing/2014/main" id="{D3F04975-0A5A-781C-2B9E-C31F7695748A}"/>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再CV率3〜8%</a:t>
            </a:r>
            <a:endParaRPr lang="en-US" altLang="ja-JP" sz="750" dirty="0">
              <a:latin typeface="メイリオ" panose="020B0604030504040204" pitchFamily="50" charset="-128"/>
              <a:ea typeface="メイリオ" panose="020B0604030504040204" pitchFamily="50" charset="-128"/>
            </a:endParaRPr>
          </a:p>
        </p:txBody>
      </p:sp>
      <p:sp>
        <p:nvSpPr>
          <p:cNvPr id="164" name="Shape 113">
            <a:extLst>
              <a:ext uri="{FF2B5EF4-FFF2-40B4-BE49-F238E27FC236}">
                <a16:creationId xmlns:a16="http://schemas.microsoft.com/office/drawing/2014/main" id="{B8A7F8E0-2D9E-4F58-B45C-445490BAD2A6}"/>
              </a:ext>
            </a:extLst>
          </p:cNvPr>
          <p:cNvSpPr/>
          <p:nvPr/>
        </p:nvSpPr>
        <p:spPr>
          <a:xfrm>
            <a:off x="5099366" y="4842285"/>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66" name="Shape 117">
            <a:extLst>
              <a:ext uri="{FF2B5EF4-FFF2-40B4-BE49-F238E27FC236}">
                <a16:creationId xmlns:a16="http://schemas.microsoft.com/office/drawing/2014/main" id="{405D8489-0824-1FFD-1B67-B3B0A50D9604}"/>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68" name="Text 118">
            <a:extLst>
              <a:ext uri="{FF2B5EF4-FFF2-40B4-BE49-F238E27FC236}">
                <a16:creationId xmlns:a16="http://schemas.microsoft.com/office/drawing/2014/main" id="{FE9A5096-9CFE-5412-810F-0F2F5A6CF1D7}"/>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再スクリーニング</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70" name="Text 119">
            <a:extLst>
              <a:ext uri="{FF2B5EF4-FFF2-40B4-BE49-F238E27FC236}">
                <a16:creationId xmlns:a16="http://schemas.microsoft.com/office/drawing/2014/main" id="{64A72FA9-D385-9A82-A7FF-CCA964EA228C}"/>
              </a:ext>
            </a:extLst>
          </p:cNvPr>
          <p:cNvSpPr/>
          <p:nvPr/>
        </p:nvSpPr>
        <p:spPr>
          <a:xfrm>
            <a:off x="6379527" y="4924581"/>
            <a:ext cx="3319066" cy="256032"/>
          </a:xfrm>
          <a:prstGeom prst="rect">
            <a:avLst/>
          </a:prstGeom>
          <a:noFill/>
          <a:ln/>
        </p:spPr>
        <p:txBody>
          <a:bodyPr wrap="square" lIns="0" tIns="0" rIns="0" bIns="0" rtlCol="0" anchor="ctr"/>
          <a:lstStyle/>
          <a:p>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その後いかが</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配信で失注リストを再活性化</a:t>
            </a:r>
            <a:endParaRPr lang="en-US" altLang="ja-JP" sz="1100" dirty="0">
              <a:latin typeface="メイリオ" panose="020B0604030504040204" pitchFamily="50" charset="-128"/>
              <a:ea typeface="メイリオ" panose="020B0604030504040204" pitchFamily="50" charset="-128"/>
            </a:endParaRPr>
          </a:p>
        </p:txBody>
      </p:sp>
      <p:sp>
        <p:nvSpPr>
          <p:cNvPr id="172" name="Text 120">
            <a:extLst>
              <a:ext uri="{FF2B5EF4-FFF2-40B4-BE49-F238E27FC236}">
                <a16:creationId xmlns:a16="http://schemas.microsoft.com/office/drawing/2014/main" id="{CBDC21B9-7A24-59D8-C78B-DA02EFBD1EE5}"/>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失注・辞退から3〜6ヶ月後に「ご状況が変わっていれば改めてご案内できます」と自然なトーンで再接触。失注理由別でシナリオを分岐：「</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予算NG」層</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新プランができました</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タイミングNG」層</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またご都合のよい時期に</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174" name="Shape 121">
            <a:extLst>
              <a:ext uri="{FF2B5EF4-FFF2-40B4-BE49-F238E27FC236}">
                <a16:creationId xmlns:a16="http://schemas.microsoft.com/office/drawing/2014/main" id="{8F2AD48D-D152-8DDF-689E-38F793A7A035}"/>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6" name="Shape 122">
            <a:extLst>
              <a:ext uri="{FF2B5EF4-FFF2-40B4-BE49-F238E27FC236}">
                <a16:creationId xmlns:a16="http://schemas.microsoft.com/office/drawing/2014/main" id="{62E05E15-51AF-4DED-F35A-E0341BEEDB6E}"/>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8" name="Text 123">
            <a:extLst>
              <a:ext uri="{FF2B5EF4-FFF2-40B4-BE49-F238E27FC236}">
                <a16:creationId xmlns:a16="http://schemas.microsoft.com/office/drawing/2014/main" id="{E6A90B54-8A00-3600-E1D6-0F35C45F9544}"/>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0" name="Text 124">
            <a:extLst>
              <a:ext uri="{FF2B5EF4-FFF2-40B4-BE49-F238E27FC236}">
                <a16:creationId xmlns:a16="http://schemas.microsoft.com/office/drawing/2014/main" id="{5CE65D75-4BC1-519E-F76F-6A0757C1EC53}"/>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失注後3〜6ヶ月</a:t>
            </a:r>
            <a:endParaRPr lang="en-US" altLang="ja-JP" sz="850" dirty="0">
              <a:latin typeface="メイリオ" panose="020B0604030504040204" pitchFamily="50" charset="-128"/>
              <a:ea typeface="メイリオ" panose="020B0604030504040204" pitchFamily="50" charset="-128"/>
            </a:endParaRPr>
          </a:p>
        </p:txBody>
      </p:sp>
      <p:sp>
        <p:nvSpPr>
          <p:cNvPr id="182" name="Text 125">
            <a:extLst>
              <a:ext uri="{FF2B5EF4-FFF2-40B4-BE49-F238E27FC236}">
                <a16:creationId xmlns:a16="http://schemas.microsoft.com/office/drawing/2014/main" id="{321D2CBF-DB5B-0A56-8946-401A4AD2CC5C}"/>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自動配信</a:t>
            </a: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（ステップ）</a:t>
            </a:r>
            <a:endParaRPr lang="en-US" altLang="ja-JP" sz="750" dirty="0">
              <a:latin typeface="メイリオ" panose="020B0604030504040204" pitchFamily="50" charset="-128"/>
              <a:ea typeface="メイリオ" panose="020B0604030504040204" pitchFamily="50" charset="-128"/>
            </a:endParaRPr>
          </a:p>
        </p:txBody>
      </p:sp>
      <p:sp>
        <p:nvSpPr>
          <p:cNvPr id="184" name="Text 126">
            <a:extLst>
              <a:ext uri="{FF2B5EF4-FFF2-40B4-BE49-F238E27FC236}">
                <a16:creationId xmlns:a16="http://schemas.microsoft.com/office/drawing/2014/main" id="{06401F8E-C60A-CA49-A807-0A6452BDC118}"/>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6" name="Shape 127">
            <a:extLst>
              <a:ext uri="{FF2B5EF4-FFF2-40B4-BE49-F238E27FC236}">
                <a16:creationId xmlns:a16="http://schemas.microsoft.com/office/drawing/2014/main" id="{AE3CA431-0C8F-8EF0-2ED8-A83CCA602B3E}"/>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88" name="Shape 128">
            <a:extLst>
              <a:ext uri="{FF2B5EF4-FFF2-40B4-BE49-F238E27FC236}">
                <a16:creationId xmlns:a16="http://schemas.microsoft.com/office/drawing/2014/main" id="{1AD820F2-8E91-97A5-8E0A-B1C6BFB331A1}"/>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90" name="Text 129">
            <a:extLst>
              <a:ext uri="{FF2B5EF4-FFF2-40B4-BE49-F238E27FC236}">
                <a16:creationId xmlns:a16="http://schemas.microsoft.com/office/drawing/2014/main" id="{8D818818-A3AE-555E-7011-4F3D90379688}"/>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2" name="Text 130">
            <a:extLst>
              <a:ext uri="{FF2B5EF4-FFF2-40B4-BE49-F238E27FC236}">
                <a16:creationId xmlns:a16="http://schemas.microsoft.com/office/drawing/2014/main" id="{4EF9A98F-AC88-0728-EFD8-0C772A79587A}"/>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失注理由別分岐</a:t>
            </a:r>
            <a:endParaRPr lang="en-US" altLang="ja-JP" sz="850" dirty="0">
              <a:latin typeface="メイリオ" panose="020B0604030504040204" pitchFamily="50" charset="-128"/>
              <a:ea typeface="メイリオ" panose="020B0604030504040204" pitchFamily="50" charset="-128"/>
            </a:endParaRPr>
          </a:p>
        </p:txBody>
      </p:sp>
      <p:sp>
        <p:nvSpPr>
          <p:cNvPr id="194" name="Text 131">
            <a:extLst>
              <a:ext uri="{FF2B5EF4-FFF2-40B4-BE49-F238E27FC236}">
                <a16:creationId xmlns:a16="http://schemas.microsoft.com/office/drawing/2014/main" id="{AA3268CA-2C22-0C62-160E-0C0216963E5F}"/>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シナリオカスタマイズ</a:t>
            </a:r>
            <a:endParaRPr lang="en-US" altLang="ja-JP" sz="750" dirty="0">
              <a:latin typeface="メイリオ" panose="020B0604030504040204" pitchFamily="50" charset="-128"/>
              <a:ea typeface="メイリオ" panose="020B0604030504040204" pitchFamily="50" charset="-128"/>
            </a:endParaRPr>
          </a:p>
        </p:txBody>
      </p:sp>
      <p:sp>
        <p:nvSpPr>
          <p:cNvPr id="196" name="Text 132">
            <a:extLst>
              <a:ext uri="{FF2B5EF4-FFF2-40B4-BE49-F238E27FC236}">
                <a16:creationId xmlns:a16="http://schemas.microsoft.com/office/drawing/2014/main" id="{2F00F7D4-1087-A7FE-323B-EE40BA03BBCF}"/>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8" name="Shape 133">
            <a:extLst>
              <a:ext uri="{FF2B5EF4-FFF2-40B4-BE49-F238E27FC236}">
                <a16:creationId xmlns:a16="http://schemas.microsoft.com/office/drawing/2014/main" id="{48973DFD-52B9-D288-5F88-EBA671150D93}"/>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00" name="Shape 134">
            <a:extLst>
              <a:ext uri="{FF2B5EF4-FFF2-40B4-BE49-F238E27FC236}">
                <a16:creationId xmlns:a16="http://schemas.microsoft.com/office/drawing/2014/main" id="{E611469B-B55C-8664-CADB-DF4675853BF0}"/>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02" name="Text 135">
            <a:extLst>
              <a:ext uri="{FF2B5EF4-FFF2-40B4-BE49-F238E27FC236}">
                <a16:creationId xmlns:a16="http://schemas.microsoft.com/office/drawing/2014/main" id="{F56AD707-B2E2-F152-960D-3E43770D8634}"/>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04" name="Text 136">
            <a:extLst>
              <a:ext uri="{FF2B5EF4-FFF2-40B4-BE49-F238E27FC236}">
                <a16:creationId xmlns:a16="http://schemas.microsoft.com/office/drawing/2014/main" id="{44EA5DE9-1C7B-2119-EC2E-A8BE9873034E}"/>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再CV獲得</a:t>
            </a:r>
            <a:endParaRPr lang="en-US" altLang="ja-JP" sz="850" dirty="0">
              <a:latin typeface="メイリオ" panose="020B0604030504040204" pitchFamily="50" charset="-128"/>
              <a:ea typeface="メイリオ" panose="020B0604030504040204" pitchFamily="50" charset="-128"/>
            </a:endParaRPr>
          </a:p>
        </p:txBody>
      </p:sp>
      <p:sp>
        <p:nvSpPr>
          <p:cNvPr id="206" name="Text 137">
            <a:extLst>
              <a:ext uri="{FF2B5EF4-FFF2-40B4-BE49-F238E27FC236}">
                <a16:creationId xmlns:a16="http://schemas.microsoft.com/office/drawing/2014/main" id="{8096588A-C237-8806-3F2E-41D5083C6A97}"/>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コストゼロ受注</a:t>
            </a:r>
            <a:endParaRPr lang="en-US" altLang="ja-JP" sz="750" dirty="0">
              <a:latin typeface="メイリオ" panose="020B0604030504040204" pitchFamily="50" charset="-128"/>
              <a:ea typeface="メイリオ" panose="020B0604030504040204" pitchFamily="50" charset="-128"/>
            </a:endParaRPr>
          </a:p>
        </p:txBody>
      </p:sp>
      <p:sp>
        <p:nvSpPr>
          <p:cNvPr id="208" name="Shape 36">
            <a:extLst>
              <a:ext uri="{FF2B5EF4-FFF2-40B4-BE49-F238E27FC236}">
                <a16:creationId xmlns:a16="http://schemas.microsoft.com/office/drawing/2014/main" id="{A5FC7E14-B018-D022-4C5B-B6CBBCAE4736}"/>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10" name="Shape 36">
            <a:extLst>
              <a:ext uri="{FF2B5EF4-FFF2-40B4-BE49-F238E27FC236}">
                <a16:creationId xmlns:a16="http://schemas.microsoft.com/office/drawing/2014/main" id="{6310D41F-AA25-B595-2E67-274ED86E8EEC}"/>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12" name="Shape 36">
            <a:extLst>
              <a:ext uri="{FF2B5EF4-FFF2-40B4-BE49-F238E27FC236}">
                <a16:creationId xmlns:a16="http://schemas.microsoft.com/office/drawing/2014/main" id="{04FC39D4-AF33-9A13-B4BB-7BF38704EB41}"/>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568268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5F51C-1549-19C8-A509-C77C3C8B926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0881644-71DA-0FD5-31A8-50845CB45B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改善モデル⓷</a:t>
            </a:r>
          </a:p>
        </p:txBody>
      </p:sp>
      <p:sp>
        <p:nvSpPr>
          <p:cNvPr id="27" name="テキスト ボックス 26">
            <a:extLst>
              <a:ext uri="{FF2B5EF4-FFF2-40B4-BE49-F238E27FC236}">
                <a16:creationId xmlns:a16="http://schemas.microsoft.com/office/drawing/2014/main" id="{3E754129-4E82-ADF0-7762-6DB3D6C37869}"/>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90A62F05-90DB-BEFF-2CA5-AB5CBFB875BB}"/>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FEA37072-D446-4372-FBCF-FF05EAA5FFDB}"/>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768555E4-10E4-ED78-186D-F8BBA4ECA773}"/>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C655AFC2-F818-8CFC-48E3-29591E6CCBA4}"/>
              </a:ext>
            </a:extLst>
          </p:cNvPr>
          <p:cNvCxnSpPr>
            <a:cxnSpLocks/>
            <a:stCxn id="30" idx="0"/>
          </p:cNvCxnSpPr>
          <p:nvPr/>
        </p:nvCxnSpPr>
        <p:spPr>
          <a:xfrm rot="5400000" flipH="1" flipV="1">
            <a:off x="4270984" y="1720322"/>
            <a:ext cx="246792" cy="36561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テキスト ボックス 4">
            <a:extLst>
              <a:ext uri="{FF2B5EF4-FFF2-40B4-BE49-F238E27FC236}">
                <a16:creationId xmlns:a16="http://schemas.microsoft.com/office/drawing/2014/main" id="{AE0E605C-24DB-D0F6-408E-DC91DFF126F2}"/>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024124EA-8A11-9089-D195-BFB58DD5068D}"/>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B87E9823-A3D2-CC28-7E59-EE124DBE7CAD}"/>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0E616C55-41AE-4E89-AA73-D23C6063BAC5}"/>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4F6D876E-0365-432F-46BA-A5401006C465}"/>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3EE31941-0F5E-1E7C-269A-8F9D019765CF}"/>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15" name="Google Shape;752;p28">
            <a:extLst>
              <a:ext uri="{FF2B5EF4-FFF2-40B4-BE49-F238E27FC236}">
                <a16:creationId xmlns:a16="http://schemas.microsoft.com/office/drawing/2014/main" id="{98886420-FB53-2FB8-A09E-EB3FDE7308E8}"/>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成約、購入等、企業としての売上・利益につなげる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25A50B78-E73B-4B44-EA42-3D987F8E8733}"/>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テキスト ボックス 11">
            <a:extLst>
              <a:ext uri="{FF2B5EF4-FFF2-40B4-BE49-F238E27FC236}">
                <a16:creationId xmlns:a16="http://schemas.microsoft.com/office/drawing/2014/main" id="{EDBFCB04-05B4-E4AC-12A0-CD0E81A2DC3C}"/>
              </a:ext>
            </a:extLst>
          </p:cNvPr>
          <p:cNvSpPr txBox="1"/>
          <p:nvPr/>
        </p:nvSpPr>
        <p:spPr>
          <a:xfrm>
            <a:off x="6119413" y="1832804"/>
            <a:ext cx="2352196" cy="348203"/>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⑦マネタイズ</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成約</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212" name="正方形/長方形 211">
            <a:extLst>
              <a:ext uri="{FF2B5EF4-FFF2-40B4-BE49-F238E27FC236}">
                <a16:creationId xmlns:a16="http://schemas.microsoft.com/office/drawing/2014/main" id="{7ACD6D34-5B12-71B8-0225-D9C053F55ED2}"/>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実際の購入・契約に関わるハードルを下げる</a:t>
            </a:r>
          </a:p>
        </p:txBody>
      </p:sp>
      <p:sp>
        <p:nvSpPr>
          <p:cNvPr id="214" name="正方形/長方形 213">
            <a:extLst>
              <a:ext uri="{FF2B5EF4-FFF2-40B4-BE49-F238E27FC236}">
                <a16:creationId xmlns:a16="http://schemas.microsoft.com/office/drawing/2014/main" id="{9B22DD71-4656-D5C5-DBDF-22BB0DC5C6FA}"/>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成約後のイメージ・アフターフォローを見える化する</a:t>
            </a:r>
            <a:endParaRPr lang="en-US" altLang="ja-JP" sz="1050" dirty="0">
              <a:latin typeface="メイリオ" panose="020B0604030504040204" pitchFamily="50" charset="-128"/>
              <a:ea typeface="メイリオ" panose="020B0604030504040204" pitchFamily="50" charset="-128"/>
            </a:endParaRPr>
          </a:p>
        </p:txBody>
      </p:sp>
      <p:sp>
        <p:nvSpPr>
          <p:cNvPr id="216" name="Shape 34">
            <a:extLst>
              <a:ext uri="{FF2B5EF4-FFF2-40B4-BE49-F238E27FC236}">
                <a16:creationId xmlns:a16="http://schemas.microsoft.com/office/drawing/2014/main" id="{17BC1EF4-21DA-CE94-283E-846B9F001F36}"/>
              </a:ext>
            </a:extLst>
          </p:cNvPr>
          <p:cNvSpPr/>
          <p:nvPr/>
        </p:nvSpPr>
        <p:spPr>
          <a:xfrm>
            <a:off x="265419" y="2999768"/>
            <a:ext cx="4541216" cy="1600805"/>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8" name="Shape 36">
            <a:extLst>
              <a:ext uri="{FF2B5EF4-FFF2-40B4-BE49-F238E27FC236}">
                <a16:creationId xmlns:a16="http://schemas.microsoft.com/office/drawing/2014/main" id="{B139C33D-7A13-4B90-506A-BD3D89DCB343}"/>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20" name="Shape 38">
            <a:extLst>
              <a:ext uri="{FF2B5EF4-FFF2-40B4-BE49-F238E27FC236}">
                <a16:creationId xmlns:a16="http://schemas.microsoft.com/office/drawing/2014/main" id="{2D290F22-1E3B-8151-C419-A64914BDF65F}"/>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22" name="Text 39">
            <a:extLst>
              <a:ext uri="{FF2B5EF4-FFF2-40B4-BE49-F238E27FC236}">
                <a16:creationId xmlns:a16="http://schemas.microsoft.com/office/drawing/2014/main" id="{19C3AE76-E5E9-46FF-E31E-15492F60B623}"/>
              </a:ext>
            </a:extLst>
          </p:cNvPr>
          <p:cNvSpPr/>
          <p:nvPr/>
        </p:nvSpPr>
        <p:spPr>
          <a:xfrm>
            <a:off x="686043"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不安解消</a:t>
            </a:r>
            <a:r>
              <a:rPr kumimoji="0" lang="en-US" altLang="ja-JP"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BOT</a:t>
            </a:r>
          </a:p>
        </p:txBody>
      </p:sp>
      <p:sp>
        <p:nvSpPr>
          <p:cNvPr id="224" name="Text 40">
            <a:extLst>
              <a:ext uri="{FF2B5EF4-FFF2-40B4-BE49-F238E27FC236}">
                <a16:creationId xmlns:a16="http://schemas.microsoft.com/office/drawing/2014/main" id="{F72D9597-CBE6-7729-EBB8-42A4EB56D3AC}"/>
              </a:ext>
            </a:extLst>
          </p:cNvPr>
          <p:cNvSpPr/>
          <p:nvPr/>
        </p:nvSpPr>
        <p:spPr>
          <a:xfrm>
            <a:off x="1545579"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チャットBOT</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申込前の不安をリアルタイム解消</a:t>
            </a:r>
            <a:endParaRPr lang="en-US" altLang="ja-JP" sz="1100" dirty="0">
              <a:latin typeface="メイリオ" panose="020B0604030504040204" pitchFamily="50" charset="-128"/>
              <a:ea typeface="メイリオ" panose="020B0604030504040204" pitchFamily="50" charset="-128"/>
            </a:endParaRPr>
          </a:p>
        </p:txBody>
      </p:sp>
      <p:sp>
        <p:nvSpPr>
          <p:cNvPr id="226" name="Text 41">
            <a:extLst>
              <a:ext uri="{FF2B5EF4-FFF2-40B4-BE49-F238E27FC236}">
                <a16:creationId xmlns:a16="http://schemas.microsoft.com/office/drawing/2014/main" id="{D4867974-A5DB-62BF-B56C-7B48EBD4FCD6}"/>
              </a:ext>
            </a:extLst>
          </p:cNvPr>
          <p:cNvSpPr/>
          <p:nvPr/>
        </p:nvSpPr>
        <p:spPr>
          <a:xfrm>
            <a:off x="356859" y="3383817"/>
            <a:ext cx="4449774" cy="493776"/>
          </a:xfrm>
          <a:prstGeom prst="rect">
            <a:avLst/>
          </a:prstGeom>
          <a:noFill/>
          <a:ln/>
        </p:spPr>
        <p:txBody>
          <a:bodyPr wrap="square" lIns="0" tIns="0" rIns="0" bIns="0" rtlCol="0" anchor="ctr"/>
          <a:lstStyle/>
          <a:p>
            <a:pPr>
              <a:lnSpc>
                <a:spcPct val="135000"/>
              </a:lnSpc>
            </a:pP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申込ページを複数回閲覧しているが踏み切れない層に「ご不明な点はありますか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とLINEからプッシュ</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解約できる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返金保証は</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効果はいつ出る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など頻出の不安をKW自動応答で即解消し申込フォームへ誘導</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228" name="Shape 42">
            <a:extLst>
              <a:ext uri="{FF2B5EF4-FFF2-40B4-BE49-F238E27FC236}">
                <a16:creationId xmlns:a16="http://schemas.microsoft.com/office/drawing/2014/main" id="{131B059A-8308-F9A4-4B71-FDED85A0F305}"/>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0" name="Shape 43">
            <a:extLst>
              <a:ext uri="{FF2B5EF4-FFF2-40B4-BE49-F238E27FC236}">
                <a16:creationId xmlns:a16="http://schemas.microsoft.com/office/drawing/2014/main" id="{763DFBBD-2B1A-7385-B3C6-41AF5556E607}"/>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2" name="Text 44">
            <a:extLst>
              <a:ext uri="{FF2B5EF4-FFF2-40B4-BE49-F238E27FC236}">
                <a16:creationId xmlns:a16="http://schemas.microsoft.com/office/drawing/2014/main" id="{426BE58B-62E2-01C7-74C9-694E2A9CD289}"/>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4" name="Text 45">
            <a:extLst>
              <a:ext uri="{FF2B5EF4-FFF2-40B4-BE49-F238E27FC236}">
                <a16:creationId xmlns:a16="http://schemas.microsoft.com/office/drawing/2014/main" id="{A698A3A9-032A-DEE2-0FD2-AAF7EC37F195}"/>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複数LP閲覧を検知</a:t>
            </a:r>
            <a:endParaRPr lang="en-US" altLang="ja-JP" sz="850" dirty="0">
              <a:latin typeface="メイリオ" panose="020B0604030504040204" pitchFamily="50" charset="-128"/>
              <a:ea typeface="メイリオ" panose="020B0604030504040204" pitchFamily="50" charset="-128"/>
            </a:endParaRPr>
          </a:p>
        </p:txBody>
      </p:sp>
      <p:sp>
        <p:nvSpPr>
          <p:cNvPr id="236" name="Text 46">
            <a:extLst>
              <a:ext uri="{FF2B5EF4-FFF2-40B4-BE49-F238E27FC236}">
                <a16:creationId xmlns:a16="http://schemas.microsoft.com/office/drawing/2014/main" id="{6CD14118-9279-776C-30F3-C63B5F00B503}"/>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確度：高として認定</a:t>
            </a:r>
            <a:endPar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endParaRPr>
          </a:p>
        </p:txBody>
      </p:sp>
      <p:sp>
        <p:nvSpPr>
          <p:cNvPr id="238" name="Text 47">
            <a:extLst>
              <a:ext uri="{FF2B5EF4-FFF2-40B4-BE49-F238E27FC236}">
                <a16:creationId xmlns:a16="http://schemas.microsoft.com/office/drawing/2014/main" id="{E675B87B-4A8E-ADF8-DADF-AA406110BF3C}"/>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0" name="Shape 48">
            <a:extLst>
              <a:ext uri="{FF2B5EF4-FFF2-40B4-BE49-F238E27FC236}">
                <a16:creationId xmlns:a16="http://schemas.microsoft.com/office/drawing/2014/main" id="{7E2CC952-E8D7-ECD4-395A-BE9452A2A487}"/>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2" name="Shape 49">
            <a:extLst>
              <a:ext uri="{FF2B5EF4-FFF2-40B4-BE49-F238E27FC236}">
                <a16:creationId xmlns:a16="http://schemas.microsoft.com/office/drawing/2014/main" id="{AE59EEF6-CC45-015B-A9E5-8A7A937B56CA}"/>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4" name="Text 50">
            <a:extLst>
              <a:ext uri="{FF2B5EF4-FFF2-40B4-BE49-F238E27FC236}">
                <a16:creationId xmlns:a16="http://schemas.microsoft.com/office/drawing/2014/main" id="{C754A20D-10B5-62BF-4DDB-DE8127CF6F40}"/>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6" name="Text 51">
            <a:extLst>
              <a:ext uri="{FF2B5EF4-FFF2-40B4-BE49-F238E27FC236}">
                <a16:creationId xmlns:a16="http://schemas.microsoft.com/office/drawing/2014/main" id="{D244FC3B-C26B-1060-3973-384C3CC08ADD}"/>
              </a:ext>
            </a:extLst>
          </p:cNvPr>
          <p:cNvSpPr/>
          <p:nvPr/>
        </p:nvSpPr>
        <p:spPr>
          <a:xfrm>
            <a:off x="2039355"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不安ありますか</a:t>
            </a:r>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248" name="Text 52">
            <a:extLst>
              <a:ext uri="{FF2B5EF4-FFF2-40B4-BE49-F238E27FC236}">
                <a16:creationId xmlns:a16="http://schemas.microsoft.com/office/drawing/2014/main" id="{9C10D7EA-6A29-74A3-5046-A7A5BA81CFEB}"/>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LINEからプッシュ</a:t>
            </a:r>
            <a:endParaRPr lang="en-US" altLang="ja-JP" sz="750" dirty="0">
              <a:latin typeface="メイリオ" panose="020B0604030504040204" pitchFamily="50" charset="-128"/>
              <a:ea typeface="メイリオ" panose="020B0604030504040204" pitchFamily="50" charset="-128"/>
            </a:endParaRPr>
          </a:p>
        </p:txBody>
      </p:sp>
      <p:sp>
        <p:nvSpPr>
          <p:cNvPr id="250" name="Text 53">
            <a:extLst>
              <a:ext uri="{FF2B5EF4-FFF2-40B4-BE49-F238E27FC236}">
                <a16:creationId xmlns:a16="http://schemas.microsoft.com/office/drawing/2014/main" id="{9EC056C0-654F-C52F-62E6-8D47A6551C13}"/>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2" name="Shape 54">
            <a:extLst>
              <a:ext uri="{FF2B5EF4-FFF2-40B4-BE49-F238E27FC236}">
                <a16:creationId xmlns:a16="http://schemas.microsoft.com/office/drawing/2014/main" id="{834935BC-F5E7-BAED-6E85-E07CBFE19550}"/>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4" name="Shape 55">
            <a:extLst>
              <a:ext uri="{FF2B5EF4-FFF2-40B4-BE49-F238E27FC236}">
                <a16:creationId xmlns:a16="http://schemas.microsoft.com/office/drawing/2014/main" id="{6327123E-240D-2DFD-89A6-C68864B84618}"/>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6" name="Text 56">
            <a:extLst>
              <a:ext uri="{FF2B5EF4-FFF2-40B4-BE49-F238E27FC236}">
                <a16:creationId xmlns:a16="http://schemas.microsoft.com/office/drawing/2014/main" id="{0395E968-804F-D503-B217-5E6877EED965}"/>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8" name="Text 57">
            <a:extLst>
              <a:ext uri="{FF2B5EF4-FFF2-40B4-BE49-F238E27FC236}">
                <a16:creationId xmlns:a16="http://schemas.microsoft.com/office/drawing/2014/main" id="{1F68B74A-B629-3DFC-2CEE-48823841BEF3}"/>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KW自動応答→CV</a:t>
            </a:r>
            <a:endParaRPr lang="en-US" altLang="ja-JP" sz="850" dirty="0">
              <a:latin typeface="メイリオ" panose="020B0604030504040204" pitchFamily="50" charset="-128"/>
              <a:ea typeface="メイリオ" panose="020B0604030504040204" pitchFamily="50" charset="-128"/>
            </a:endParaRPr>
          </a:p>
        </p:txBody>
      </p:sp>
      <p:sp>
        <p:nvSpPr>
          <p:cNvPr id="260" name="Text 58">
            <a:extLst>
              <a:ext uri="{FF2B5EF4-FFF2-40B4-BE49-F238E27FC236}">
                <a16:creationId xmlns:a16="http://schemas.microsoft.com/office/drawing/2014/main" id="{31AA167F-1838-719F-81AA-E6D277EA6DCC}"/>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段階式自動応答で</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CV</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まで</a:t>
            </a:r>
            <a:endParaRPr lang="en-US" altLang="ja-JP" sz="750" dirty="0">
              <a:latin typeface="メイリオ" panose="020B0604030504040204" pitchFamily="50" charset="-128"/>
              <a:ea typeface="メイリオ" panose="020B0604030504040204" pitchFamily="50" charset="-128"/>
            </a:endParaRPr>
          </a:p>
        </p:txBody>
      </p:sp>
      <p:sp>
        <p:nvSpPr>
          <p:cNvPr id="262" name="Shape 59">
            <a:extLst>
              <a:ext uri="{FF2B5EF4-FFF2-40B4-BE49-F238E27FC236}">
                <a16:creationId xmlns:a16="http://schemas.microsoft.com/office/drawing/2014/main" id="{158EC588-B65C-48B3-4271-EDA2EA270201}"/>
              </a:ext>
            </a:extLst>
          </p:cNvPr>
          <p:cNvSpPr/>
          <p:nvPr/>
        </p:nvSpPr>
        <p:spPr>
          <a:xfrm>
            <a:off x="265419" y="4842285"/>
            <a:ext cx="4541216" cy="1600804"/>
          </a:xfrm>
          <a:prstGeom prst="roundRect">
            <a:avLst>
              <a:gd name="adj" fmla="val 5263"/>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4" name="Shape 63">
            <a:extLst>
              <a:ext uri="{FF2B5EF4-FFF2-40B4-BE49-F238E27FC236}">
                <a16:creationId xmlns:a16="http://schemas.microsoft.com/office/drawing/2014/main" id="{1DCC50EF-FB92-09C8-A8AA-7A7EDB9B0146}"/>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6" name="Text 64">
            <a:extLst>
              <a:ext uri="{FF2B5EF4-FFF2-40B4-BE49-F238E27FC236}">
                <a16:creationId xmlns:a16="http://schemas.microsoft.com/office/drawing/2014/main" id="{446B3B6C-4902-BBA2-7F54-3C24433597F1}"/>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日程自動化</a:t>
            </a:r>
          </a:p>
        </p:txBody>
      </p:sp>
      <p:sp>
        <p:nvSpPr>
          <p:cNvPr id="268" name="Text 65">
            <a:extLst>
              <a:ext uri="{FF2B5EF4-FFF2-40B4-BE49-F238E27FC236}">
                <a16:creationId xmlns:a16="http://schemas.microsoft.com/office/drawing/2014/main" id="{43250F18-B2EB-58ED-89E5-9D277C0A5794}"/>
              </a:ext>
            </a:extLst>
          </p:cNvPr>
          <p:cNvSpPr/>
          <p:nvPr/>
        </p:nvSpPr>
        <p:spPr>
          <a:xfrm>
            <a:off x="1545579" y="4924581"/>
            <a:ext cx="3319066"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日程調整自動化で、検討前に商談確定</a:t>
            </a:r>
          </a:p>
        </p:txBody>
      </p:sp>
      <p:sp>
        <p:nvSpPr>
          <p:cNvPr id="270" name="Text 66">
            <a:extLst>
              <a:ext uri="{FF2B5EF4-FFF2-40B4-BE49-F238E27FC236}">
                <a16:creationId xmlns:a16="http://schemas.microsoft.com/office/drawing/2014/main" id="{251E5163-4BD4-2320-E1D0-DC825BC643E2}"/>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面談を希望します」と入力した瞬間にカレンダー連携で候補日程を自動提示→タップで選択→確定通知＋リマインドを自動送付。「後で連絡します」のやり取りで冷めるのを防ぎ、温度感が高いまま商談へ。</a:t>
            </a:r>
          </a:p>
        </p:txBody>
      </p:sp>
      <p:sp>
        <p:nvSpPr>
          <p:cNvPr id="272" name="Shape 68">
            <a:extLst>
              <a:ext uri="{FF2B5EF4-FFF2-40B4-BE49-F238E27FC236}">
                <a16:creationId xmlns:a16="http://schemas.microsoft.com/office/drawing/2014/main" id="{971EF85D-2530-7E85-695D-21576E3399C6}"/>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4" name="Text 69">
            <a:extLst>
              <a:ext uri="{FF2B5EF4-FFF2-40B4-BE49-F238E27FC236}">
                <a16:creationId xmlns:a16="http://schemas.microsoft.com/office/drawing/2014/main" id="{C61543A0-6CA4-B8A9-BABF-E3F296767C9F}"/>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6" name="Shape 71">
            <a:extLst>
              <a:ext uri="{FF2B5EF4-FFF2-40B4-BE49-F238E27FC236}">
                <a16:creationId xmlns:a16="http://schemas.microsoft.com/office/drawing/2014/main" id="{711A428D-8DE9-E0B6-1327-82CC5DEC5364}"/>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8" name="Shape 72">
            <a:extLst>
              <a:ext uri="{FF2B5EF4-FFF2-40B4-BE49-F238E27FC236}">
                <a16:creationId xmlns:a16="http://schemas.microsoft.com/office/drawing/2014/main" id="{A6F2A656-9918-5CCF-081B-90932FB7B31A}"/>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0" name="Text 73">
            <a:extLst>
              <a:ext uri="{FF2B5EF4-FFF2-40B4-BE49-F238E27FC236}">
                <a16:creationId xmlns:a16="http://schemas.microsoft.com/office/drawing/2014/main" id="{939DCB1A-68BA-D577-ECE4-D4DFF019EA70}"/>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2" name="Text 74">
            <a:extLst>
              <a:ext uri="{FF2B5EF4-FFF2-40B4-BE49-F238E27FC236}">
                <a16:creationId xmlns:a16="http://schemas.microsoft.com/office/drawing/2014/main" id="{85D30E2A-FEB3-5FD0-BE47-D36B7C7ADC4B}"/>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面談希望」入力</a:t>
            </a:r>
            <a:endParaRPr lang="en-US" altLang="ja-JP" sz="850" dirty="0">
              <a:latin typeface="メイリオ" panose="020B0604030504040204" pitchFamily="50" charset="-128"/>
              <a:ea typeface="メイリオ" panose="020B0604030504040204" pitchFamily="50" charset="-128"/>
            </a:endParaRPr>
          </a:p>
        </p:txBody>
      </p:sp>
      <p:sp>
        <p:nvSpPr>
          <p:cNvPr id="284" name="Text 75">
            <a:extLst>
              <a:ext uri="{FF2B5EF4-FFF2-40B4-BE49-F238E27FC236}">
                <a16:creationId xmlns:a16="http://schemas.microsoft.com/office/drawing/2014/main" id="{1D748291-A5CD-A534-775B-B4EBF567F665}"/>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即・日程提示</a:t>
            </a:r>
            <a:endParaRPr lang="en-US" altLang="ja-JP" sz="750" dirty="0">
              <a:latin typeface="メイリオ" panose="020B0604030504040204" pitchFamily="50" charset="-128"/>
              <a:ea typeface="メイリオ" panose="020B0604030504040204" pitchFamily="50" charset="-128"/>
            </a:endParaRPr>
          </a:p>
        </p:txBody>
      </p:sp>
      <p:sp>
        <p:nvSpPr>
          <p:cNvPr id="286" name="Text 76">
            <a:extLst>
              <a:ext uri="{FF2B5EF4-FFF2-40B4-BE49-F238E27FC236}">
                <a16:creationId xmlns:a16="http://schemas.microsoft.com/office/drawing/2014/main" id="{6D85AEBA-8759-4590-2BD5-991827894447}"/>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8" name="Shape 77">
            <a:extLst>
              <a:ext uri="{FF2B5EF4-FFF2-40B4-BE49-F238E27FC236}">
                <a16:creationId xmlns:a16="http://schemas.microsoft.com/office/drawing/2014/main" id="{32D27DAD-D2AF-DBAD-F818-E996C478DEC9}"/>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0" name="Shape 78">
            <a:extLst>
              <a:ext uri="{FF2B5EF4-FFF2-40B4-BE49-F238E27FC236}">
                <a16:creationId xmlns:a16="http://schemas.microsoft.com/office/drawing/2014/main" id="{638800F5-D582-38D9-A3E4-C35550FAF436}"/>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2" name="Text 79">
            <a:extLst>
              <a:ext uri="{FF2B5EF4-FFF2-40B4-BE49-F238E27FC236}">
                <a16:creationId xmlns:a16="http://schemas.microsoft.com/office/drawing/2014/main" id="{4FE98861-5470-BC0D-C54A-2F4F47BBE9EF}"/>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4" name="Text 80">
            <a:extLst>
              <a:ext uri="{FF2B5EF4-FFF2-40B4-BE49-F238E27FC236}">
                <a16:creationId xmlns:a16="http://schemas.microsoft.com/office/drawing/2014/main" id="{12FEA545-2A73-5AFD-1BD2-9F4325BD29F7}"/>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タップで日程確定</a:t>
            </a:r>
            <a:endParaRPr lang="en-US" altLang="ja-JP" sz="850" dirty="0">
              <a:latin typeface="メイリオ" panose="020B0604030504040204" pitchFamily="50" charset="-128"/>
              <a:ea typeface="メイリオ" panose="020B0604030504040204" pitchFamily="50" charset="-128"/>
            </a:endParaRPr>
          </a:p>
        </p:txBody>
      </p:sp>
      <p:sp>
        <p:nvSpPr>
          <p:cNvPr id="296" name="Text 81">
            <a:extLst>
              <a:ext uri="{FF2B5EF4-FFF2-40B4-BE49-F238E27FC236}">
                <a16:creationId xmlns:a16="http://schemas.microsoft.com/office/drawing/2014/main" id="{092A8A0A-B8FB-B1A7-1FCB-9EA219E6BFDE}"/>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メール往復ゼロ</a:t>
            </a:r>
            <a:endParaRPr lang="en-US" altLang="ja-JP" sz="750" dirty="0">
              <a:latin typeface="メイリオ" panose="020B0604030504040204" pitchFamily="50" charset="-128"/>
              <a:ea typeface="メイリオ" panose="020B0604030504040204" pitchFamily="50" charset="-128"/>
            </a:endParaRPr>
          </a:p>
        </p:txBody>
      </p:sp>
      <p:sp>
        <p:nvSpPr>
          <p:cNvPr id="298" name="Text 82">
            <a:extLst>
              <a:ext uri="{FF2B5EF4-FFF2-40B4-BE49-F238E27FC236}">
                <a16:creationId xmlns:a16="http://schemas.microsoft.com/office/drawing/2014/main" id="{A95A046B-C53A-FDCE-5111-F5834D0CA584}"/>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0" name="Shape 83">
            <a:extLst>
              <a:ext uri="{FF2B5EF4-FFF2-40B4-BE49-F238E27FC236}">
                <a16:creationId xmlns:a16="http://schemas.microsoft.com/office/drawing/2014/main" id="{19A246E9-D30A-1092-6D5A-555407259AB3}"/>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2" name="Shape 84">
            <a:extLst>
              <a:ext uri="{FF2B5EF4-FFF2-40B4-BE49-F238E27FC236}">
                <a16:creationId xmlns:a16="http://schemas.microsoft.com/office/drawing/2014/main" id="{9CFB5A33-6601-FA88-5E14-AD083E8A974F}"/>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4" name="Text 85">
            <a:extLst>
              <a:ext uri="{FF2B5EF4-FFF2-40B4-BE49-F238E27FC236}">
                <a16:creationId xmlns:a16="http://schemas.microsoft.com/office/drawing/2014/main" id="{115C0B2B-98C8-8B25-3BBF-1156626D6C87}"/>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6" name="Text 86">
            <a:extLst>
              <a:ext uri="{FF2B5EF4-FFF2-40B4-BE49-F238E27FC236}">
                <a16:creationId xmlns:a16="http://schemas.microsoft.com/office/drawing/2014/main" id="{A407CA47-3CF8-760D-6BA8-0DF95F970630}"/>
              </a:ext>
            </a:extLst>
          </p:cNvPr>
          <p:cNvSpPr/>
          <p:nvPr/>
        </p:nvSpPr>
        <p:spPr>
          <a:xfrm>
            <a:off x="3447530" y="5957091"/>
            <a:ext cx="1060705"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リマインド自動送付</a:t>
            </a:r>
            <a:endParaRPr lang="en-US" altLang="ja-JP" sz="850" dirty="0">
              <a:latin typeface="メイリオ" panose="020B0604030504040204" pitchFamily="50" charset="-128"/>
              <a:ea typeface="メイリオ" panose="020B0604030504040204" pitchFamily="50" charset="-128"/>
            </a:endParaRPr>
          </a:p>
        </p:txBody>
      </p:sp>
      <p:sp>
        <p:nvSpPr>
          <p:cNvPr id="308" name="Text 87">
            <a:extLst>
              <a:ext uri="{FF2B5EF4-FFF2-40B4-BE49-F238E27FC236}">
                <a16:creationId xmlns:a16="http://schemas.microsoft.com/office/drawing/2014/main" id="{4168941F-0BBB-6115-B5E7-6928BD42FC99}"/>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ドタキャン率低下</a:t>
            </a:r>
            <a:endParaRPr lang="en-US" altLang="ja-JP" sz="750" dirty="0">
              <a:latin typeface="メイリオ" panose="020B0604030504040204" pitchFamily="50" charset="-128"/>
              <a:ea typeface="メイリオ" panose="020B0604030504040204" pitchFamily="50" charset="-128"/>
            </a:endParaRPr>
          </a:p>
        </p:txBody>
      </p:sp>
      <p:sp>
        <p:nvSpPr>
          <p:cNvPr id="310" name="Shape 88">
            <a:extLst>
              <a:ext uri="{FF2B5EF4-FFF2-40B4-BE49-F238E27FC236}">
                <a16:creationId xmlns:a16="http://schemas.microsoft.com/office/drawing/2014/main" id="{25BA7DFC-080F-45BC-1CEB-0E2FA1036911}"/>
              </a:ext>
            </a:extLst>
          </p:cNvPr>
          <p:cNvSpPr/>
          <p:nvPr/>
        </p:nvSpPr>
        <p:spPr>
          <a:xfrm>
            <a:off x="5099366" y="2999769"/>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2" name="Shape 92">
            <a:extLst>
              <a:ext uri="{FF2B5EF4-FFF2-40B4-BE49-F238E27FC236}">
                <a16:creationId xmlns:a16="http://schemas.microsoft.com/office/drawing/2014/main" id="{05737E4A-7E87-3F90-A1F5-285284CA80FB}"/>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4" name="Text 93">
            <a:extLst>
              <a:ext uri="{FF2B5EF4-FFF2-40B4-BE49-F238E27FC236}">
                <a16:creationId xmlns:a16="http://schemas.microsoft.com/office/drawing/2014/main" id="{F29C5B70-F57E-D134-7E8F-7689219DE10A}"/>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体験談配信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6" name="Text 94">
            <a:extLst>
              <a:ext uri="{FF2B5EF4-FFF2-40B4-BE49-F238E27FC236}">
                <a16:creationId xmlns:a16="http://schemas.microsoft.com/office/drawing/2014/main" id="{FCC6DF42-A77D-8CE5-0ECF-48B3E50916B0}"/>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利用イメージ</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コンテンツ</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で利用想起</a:t>
            </a:r>
            <a:endParaRPr lang="en-US" altLang="ja-JP" sz="1100" dirty="0">
              <a:latin typeface="メイリオ" panose="020B0604030504040204" pitchFamily="50" charset="-128"/>
              <a:ea typeface="メイリオ" panose="020B0604030504040204" pitchFamily="50" charset="-128"/>
            </a:endParaRPr>
          </a:p>
        </p:txBody>
      </p:sp>
      <p:sp>
        <p:nvSpPr>
          <p:cNvPr id="318" name="Text 95">
            <a:extLst>
              <a:ext uri="{FF2B5EF4-FFF2-40B4-BE49-F238E27FC236}">
                <a16:creationId xmlns:a16="http://schemas.microsoft.com/office/drawing/2014/main" id="{C1491931-3BA8-2594-BE3C-4EBDCD6864BF}"/>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申込を迷っているユーザーに「〇〇を始めて3ヶ月の方の今」「先輩ユーザーの1週間スケジュール」などリアルな体験談をLINEで定期配信。「</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買った後どうなるか」の不安を、実際のユーザー事例で解消する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320" name="Shape 96">
            <a:extLst>
              <a:ext uri="{FF2B5EF4-FFF2-40B4-BE49-F238E27FC236}">
                <a16:creationId xmlns:a16="http://schemas.microsoft.com/office/drawing/2014/main" id="{9114BF09-7036-90AC-D9C8-0C172510E7C2}"/>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2" name="Shape 97">
            <a:extLst>
              <a:ext uri="{FF2B5EF4-FFF2-40B4-BE49-F238E27FC236}">
                <a16:creationId xmlns:a16="http://schemas.microsoft.com/office/drawing/2014/main" id="{1382F6BB-3947-2399-C34B-C78B6937D2DA}"/>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4" name="Text 98">
            <a:extLst>
              <a:ext uri="{FF2B5EF4-FFF2-40B4-BE49-F238E27FC236}">
                <a16:creationId xmlns:a16="http://schemas.microsoft.com/office/drawing/2014/main" id="{7CAD0DE0-345C-F621-25D3-89CEBC9C59EB}"/>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26" name="Text 99">
            <a:extLst>
              <a:ext uri="{FF2B5EF4-FFF2-40B4-BE49-F238E27FC236}">
                <a16:creationId xmlns:a16="http://schemas.microsoft.com/office/drawing/2014/main" id="{488ED467-36DE-30E3-BF80-C9BE8B1CF783}"/>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体験談コンテンツ</a:t>
            </a:r>
            <a:endParaRPr lang="en-US" altLang="ja-JP" sz="850" dirty="0">
              <a:latin typeface="メイリオ" panose="020B0604030504040204" pitchFamily="50" charset="-128"/>
              <a:ea typeface="メイリオ" panose="020B0604030504040204" pitchFamily="50" charset="-128"/>
            </a:endParaRPr>
          </a:p>
        </p:txBody>
      </p:sp>
      <p:sp>
        <p:nvSpPr>
          <p:cNvPr id="328" name="Text 100">
            <a:extLst>
              <a:ext uri="{FF2B5EF4-FFF2-40B4-BE49-F238E27FC236}">
                <a16:creationId xmlns:a16="http://schemas.microsoft.com/office/drawing/2014/main" id="{49A04842-DDE9-37E6-1E8D-79BF82BE9FA9}"/>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写真・動画・レポート</a:t>
            </a:r>
            <a:endParaRPr lang="en-US" altLang="ja-JP" sz="750" dirty="0">
              <a:latin typeface="メイリオ" panose="020B0604030504040204" pitchFamily="50" charset="-128"/>
              <a:ea typeface="メイリオ" panose="020B0604030504040204" pitchFamily="50" charset="-128"/>
            </a:endParaRPr>
          </a:p>
        </p:txBody>
      </p:sp>
      <p:sp>
        <p:nvSpPr>
          <p:cNvPr id="330" name="Text 101">
            <a:extLst>
              <a:ext uri="{FF2B5EF4-FFF2-40B4-BE49-F238E27FC236}">
                <a16:creationId xmlns:a16="http://schemas.microsoft.com/office/drawing/2014/main" id="{5E2DEEEF-3ABB-D51C-CB78-AD0E64E26029}"/>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2" name="Shape 102">
            <a:extLst>
              <a:ext uri="{FF2B5EF4-FFF2-40B4-BE49-F238E27FC236}">
                <a16:creationId xmlns:a16="http://schemas.microsoft.com/office/drawing/2014/main" id="{583FCA0F-3FAB-2529-936B-557E5CDD8BFF}"/>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4" name="Shape 103">
            <a:extLst>
              <a:ext uri="{FF2B5EF4-FFF2-40B4-BE49-F238E27FC236}">
                <a16:creationId xmlns:a16="http://schemas.microsoft.com/office/drawing/2014/main" id="{46DA626B-859D-0A40-A6EC-EBD75A52A80D}"/>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6" name="Text 104">
            <a:extLst>
              <a:ext uri="{FF2B5EF4-FFF2-40B4-BE49-F238E27FC236}">
                <a16:creationId xmlns:a16="http://schemas.microsoft.com/office/drawing/2014/main" id="{751B80C7-91E9-70BD-A17B-7A4E723D4D8C}"/>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8" name="Text 105">
            <a:extLst>
              <a:ext uri="{FF2B5EF4-FFF2-40B4-BE49-F238E27FC236}">
                <a16:creationId xmlns:a16="http://schemas.microsoft.com/office/drawing/2014/main" id="{A7ABE51D-147A-4B8A-9A19-112FACBFFA1D}"/>
              </a:ext>
            </a:extLst>
          </p:cNvPr>
          <p:cNvSpPr/>
          <p:nvPr/>
        </p:nvSpPr>
        <p:spPr>
          <a:xfrm>
            <a:off x="6873303" y="4114575"/>
            <a:ext cx="914400" cy="182880"/>
          </a:xfrm>
          <a:prstGeom prst="rect">
            <a:avLst/>
          </a:prstGeom>
          <a:noFill/>
          <a:ln/>
        </p:spPr>
        <p:txBody>
          <a:bodyPr wrap="square" lIns="0" tIns="0" rIns="0" bIns="0" rtlCol="0" anchor="ctr"/>
          <a:lstStyle/>
          <a:p>
            <a:r>
              <a:rPr lang="ja-JP" altLang="en-US" sz="850" dirty="0">
                <a:latin typeface="メイリオ" panose="020B0604030504040204" pitchFamily="50" charset="-128"/>
                <a:ea typeface="メイリオ" panose="020B0604030504040204" pitchFamily="50" charset="-128"/>
              </a:rPr>
              <a:t>不安払しょく</a:t>
            </a:r>
            <a:endParaRPr lang="en-US" altLang="ja-JP" sz="850" dirty="0">
              <a:latin typeface="メイリオ" panose="020B0604030504040204" pitchFamily="50" charset="-128"/>
              <a:ea typeface="メイリオ" panose="020B0604030504040204" pitchFamily="50" charset="-128"/>
            </a:endParaRPr>
          </a:p>
        </p:txBody>
      </p:sp>
      <p:sp>
        <p:nvSpPr>
          <p:cNvPr id="340" name="Text 106">
            <a:extLst>
              <a:ext uri="{FF2B5EF4-FFF2-40B4-BE49-F238E27FC236}">
                <a16:creationId xmlns:a16="http://schemas.microsoft.com/office/drawing/2014/main" id="{318494AB-2707-1129-BA71-E24AAAEEA5FA}"/>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購入後イメージ醸成</a:t>
            </a:r>
            <a:endParaRPr lang="en-US" altLang="ja-JP" sz="750" dirty="0">
              <a:latin typeface="メイリオ" panose="020B0604030504040204" pitchFamily="50" charset="-128"/>
              <a:ea typeface="メイリオ" panose="020B0604030504040204" pitchFamily="50" charset="-128"/>
            </a:endParaRPr>
          </a:p>
        </p:txBody>
      </p:sp>
      <p:sp>
        <p:nvSpPr>
          <p:cNvPr id="342" name="Text 107">
            <a:extLst>
              <a:ext uri="{FF2B5EF4-FFF2-40B4-BE49-F238E27FC236}">
                <a16:creationId xmlns:a16="http://schemas.microsoft.com/office/drawing/2014/main" id="{D2A81EF1-BC58-1253-ECD2-53DF3B40891F}"/>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4" name="Shape 108">
            <a:extLst>
              <a:ext uri="{FF2B5EF4-FFF2-40B4-BE49-F238E27FC236}">
                <a16:creationId xmlns:a16="http://schemas.microsoft.com/office/drawing/2014/main" id="{0417CEED-7C17-F2CD-95E5-6BA2C686EE12}"/>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6" name="Shape 109">
            <a:extLst>
              <a:ext uri="{FF2B5EF4-FFF2-40B4-BE49-F238E27FC236}">
                <a16:creationId xmlns:a16="http://schemas.microsoft.com/office/drawing/2014/main" id="{BE5D8431-CA60-5904-8740-E1668BC7E91C}"/>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8" name="Text 110">
            <a:extLst>
              <a:ext uri="{FF2B5EF4-FFF2-40B4-BE49-F238E27FC236}">
                <a16:creationId xmlns:a16="http://schemas.microsoft.com/office/drawing/2014/main" id="{DE57ABB2-07C3-A007-67C2-E95C551B1B58}"/>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50" name="Text 111">
            <a:extLst>
              <a:ext uri="{FF2B5EF4-FFF2-40B4-BE49-F238E27FC236}">
                <a16:creationId xmlns:a16="http://schemas.microsoft.com/office/drawing/2014/main" id="{94D9AB7C-B1F7-BB2D-6801-2EC11474714E}"/>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申込前ユーザーCV</a:t>
            </a:r>
            <a:endParaRPr lang="en-US" altLang="ja-JP" sz="850" dirty="0">
              <a:latin typeface="メイリオ" panose="020B0604030504040204" pitchFamily="50" charset="-128"/>
              <a:ea typeface="メイリオ" panose="020B0604030504040204" pitchFamily="50" charset="-128"/>
            </a:endParaRPr>
          </a:p>
        </p:txBody>
      </p:sp>
      <p:sp>
        <p:nvSpPr>
          <p:cNvPr id="352" name="Text 112">
            <a:extLst>
              <a:ext uri="{FF2B5EF4-FFF2-40B4-BE49-F238E27FC236}">
                <a16:creationId xmlns:a16="http://schemas.microsoft.com/office/drawing/2014/main" id="{FD2DA1A7-F345-DFC3-8751-889A3BEA99AB}"/>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a:t>
            </a: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安心して申込めた</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a:t>
            </a:r>
            <a:endParaRPr lang="en-US" altLang="ja-JP" sz="750" dirty="0">
              <a:latin typeface="メイリオ" panose="020B0604030504040204" pitchFamily="50" charset="-128"/>
              <a:ea typeface="メイリオ" panose="020B0604030504040204" pitchFamily="50" charset="-128"/>
            </a:endParaRPr>
          </a:p>
        </p:txBody>
      </p:sp>
      <p:sp>
        <p:nvSpPr>
          <p:cNvPr id="354" name="Shape 113">
            <a:extLst>
              <a:ext uri="{FF2B5EF4-FFF2-40B4-BE49-F238E27FC236}">
                <a16:creationId xmlns:a16="http://schemas.microsoft.com/office/drawing/2014/main" id="{A3968D0A-D5A3-B6DF-A4E1-5C8230BDD229}"/>
              </a:ext>
            </a:extLst>
          </p:cNvPr>
          <p:cNvSpPr/>
          <p:nvPr/>
        </p:nvSpPr>
        <p:spPr>
          <a:xfrm>
            <a:off x="5099366" y="4842285"/>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6" name="Shape 117">
            <a:extLst>
              <a:ext uri="{FF2B5EF4-FFF2-40B4-BE49-F238E27FC236}">
                <a16:creationId xmlns:a16="http://schemas.microsoft.com/office/drawing/2014/main" id="{D69FAC34-5229-FB00-C4A2-B94AD64E02AC}"/>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8" name="Text 118">
            <a:extLst>
              <a:ext uri="{FF2B5EF4-FFF2-40B4-BE49-F238E27FC236}">
                <a16:creationId xmlns:a16="http://schemas.microsoft.com/office/drawing/2014/main" id="{2DF5057F-5690-994B-B840-B9A70C3615E5}"/>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フロー案内</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0" name="Text 119">
            <a:extLst>
              <a:ext uri="{FF2B5EF4-FFF2-40B4-BE49-F238E27FC236}">
                <a16:creationId xmlns:a16="http://schemas.microsoft.com/office/drawing/2014/main" id="{C6CDBA0C-C4AB-DB49-4D97-5F4E1FADE225}"/>
              </a:ext>
            </a:extLst>
          </p:cNvPr>
          <p:cNvSpPr/>
          <p:nvPr/>
        </p:nvSpPr>
        <p:spPr>
          <a:xfrm>
            <a:off x="6379527"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フロー事前案内でキャンセル率を激減させる</a:t>
            </a:r>
            <a:endParaRPr lang="en-US" altLang="ja-JP" sz="1100" dirty="0">
              <a:latin typeface="メイリオ" panose="020B0604030504040204" pitchFamily="50" charset="-128"/>
              <a:ea typeface="メイリオ" panose="020B0604030504040204" pitchFamily="50" charset="-128"/>
            </a:endParaRPr>
          </a:p>
        </p:txBody>
      </p:sp>
      <p:sp>
        <p:nvSpPr>
          <p:cNvPr id="362" name="Text 120">
            <a:extLst>
              <a:ext uri="{FF2B5EF4-FFF2-40B4-BE49-F238E27FC236}">
                <a16:creationId xmlns:a16="http://schemas.microsoft.com/office/drawing/2014/main" id="{BD5402DC-C1D0-29CE-40A9-BA86E6FF6BAD}"/>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申込完了後すぐにLINEで「当日の流れをお伝えします」を送付。所要時間・準備するもの・スタッフの到着時間・終了後の対応まで全て事前案内する。不安が解消されると「楽しみに待てる」状態になりキャンセル・ドタキャンが激減。</a:t>
            </a:r>
            <a:endParaRPr lang="en-US" altLang="ja-JP" sz="850" dirty="0">
              <a:latin typeface="メイリオ" panose="020B0604030504040204" pitchFamily="50" charset="-128"/>
              <a:ea typeface="メイリオ" panose="020B0604030504040204" pitchFamily="50" charset="-128"/>
            </a:endParaRPr>
          </a:p>
        </p:txBody>
      </p:sp>
      <p:sp>
        <p:nvSpPr>
          <p:cNvPr id="364" name="Shape 121">
            <a:extLst>
              <a:ext uri="{FF2B5EF4-FFF2-40B4-BE49-F238E27FC236}">
                <a16:creationId xmlns:a16="http://schemas.microsoft.com/office/drawing/2014/main" id="{EC4E379D-5E50-776A-B55F-BD46A9652992}"/>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6" name="Shape 122">
            <a:extLst>
              <a:ext uri="{FF2B5EF4-FFF2-40B4-BE49-F238E27FC236}">
                <a16:creationId xmlns:a16="http://schemas.microsoft.com/office/drawing/2014/main" id="{46F28470-9DDC-A1C0-44ED-C1A38232636F}"/>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8" name="Text 123">
            <a:extLst>
              <a:ext uri="{FF2B5EF4-FFF2-40B4-BE49-F238E27FC236}">
                <a16:creationId xmlns:a16="http://schemas.microsoft.com/office/drawing/2014/main" id="{6E320849-A3F7-A150-79AA-9261937FECF2}"/>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0" name="Text 124">
            <a:extLst>
              <a:ext uri="{FF2B5EF4-FFF2-40B4-BE49-F238E27FC236}">
                <a16:creationId xmlns:a16="http://schemas.microsoft.com/office/drawing/2014/main" id="{16CF1DC5-D3CD-E50F-B7D5-B1647AD84264}"/>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申込完了直後</a:t>
            </a:r>
            <a:endParaRPr lang="en-US" altLang="ja-JP" sz="850" dirty="0">
              <a:latin typeface="メイリオ" panose="020B0604030504040204" pitchFamily="50" charset="-128"/>
              <a:ea typeface="メイリオ" panose="020B0604030504040204" pitchFamily="50" charset="-128"/>
            </a:endParaRPr>
          </a:p>
        </p:txBody>
      </p:sp>
      <p:sp>
        <p:nvSpPr>
          <p:cNvPr id="372" name="Text 125">
            <a:extLst>
              <a:ext uri="{FF2B5EF4-FFF2-40B4-BE49-F238E27FC236}">
                <a16:creationId xmlns:a16="http://schemas.microsoft.com/office/drawing/2014/main" id="{13B785A9-AE07-65EA-5E5C-8F6B908562CF}"/>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当日フロー自動送付</a:t>
            </a:r>
            <a:endParaRPr lang="en-US" altLang="ja-JP" sz="750" dirty="0">
              <a:latin typeface="メイリオ" panose="020B0604030504040204" pitchFamily="50" charset="-128"/>
              <a:ea typeface="メイリオ" panose="020B0604030504040204" pitchFamily="50" charset="-128"/>
            </a:endParaRPr>
          </a:p>
        </p:txBody>
      </p:sp>
      <p:sp>
        <p:nvSpPr>
          <p:cNvPr id="374" name="Text 126">
            <a:extLst>
              <a:ext uri="{FF2B5EF4-FFF2-40B4-BE49-F238E27FC236}">
                <a16:creationId xmlns:a16="http://schemas.microsoft.com/office/drawing/2014/main" id="{396E4066-71DA-8649-8C5F-BDFFC56B7F3A}"/>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6" name="Shape 127">
            <a:extLst>
              <a:ext uri="{FF2B5EF4-FFF2-40B4-BE49-F238E27FC236}">
                <a16:creationId xmlns:a16="http://schemas.microsoft.com/office/drawing/2014/main" id="{9B006DA7-6196-F8F6-970F-DC9C2663876A}"/>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8" name="Shape 128">
            <a:extLst>
              <a:ext uri="{FF2B5EF4-FFF2-40B4-BE49-F238E27FC236}">
                <a16:creationId xmlns:a16="http://schemas.microsoft.com/office/drawing/2014/main" id="{6F508C7C-1181-D6F1-04E3-871D86B1A7F3}"/>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0" name="Text 129">
            <a:extLst>
              <a:ext uri="{FF2B5EF4-FFF2-40B4-BE49-F238E27FC236}">
                <a16:creationId xmlns:a16="http://schemas.microsoft.com/office/drawing/2014/main" id="{50E830AA-3612-B666-F090-99534DF142A9}"/>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2" name="Text 130">
            <a:extLst>
              <a:ext uri="{FF2B5EF4-FFF2-40B4-BE49-F238E27FC236}">
                <a16:creationId xmlns:a16="http://schemas.microsoft.com/office/drawing/2014/main" id="{CAB1B380-D7B7-197D-641E-1FDD0F2113B6}"/>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不安ゼロで待機</a:t>
            </a:r>
            <a:endParaRPr lang="en-US" altLang="ja-JP" sz="850" dirty="0">
              <a:latin typeface="メイリオ" panose="020B0604030504040204" pitchFamily="50" charset="-128"/>
              <a:ea typeface="メイリオ" panose="020B0604030504040204" pitchFamily="50" charset="-128"/>
            </a:endParaRPr>
          </a:p>
        </p:txBody>
      </p:sp>
      <p:sp>
        <p:nvSpPr>
          <p:cNvPr id="384" name="Text 131">
            <a:extLst>
              <a:ext uri="{FF2B5EF4-FFF2-40B4-BE49-F238E27FC236}">
                <a16:creationId xmlns:a16="http://schemas.microsoft.com/office/drawing/2014/main" id="{0ED63B1C-3E6C-4055-2FDE-C901EA2E281E}"/>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アフターフォロー期待</a:t>
            </a:r>
            <a:endParaRPr lang="en-US" altLang="ja-JP" sz="750" dirty="0">
              <a:latin typeface="メイリオ" panose="020B0604030504040204" pitchFamily="50" charset="-128"/>
              <a:ea typeface="メイリオ" panose="020B0604030504040204" pitchFamily="50" charset="-128"/>
            </a:endParaRPr>
          </a:p>
        </p:txBody>
      </p:sp>
      <p:sp>
        <p:nvSpPr>
          <p:cNvPr id="386" name="Text 132">
            <a:extLst>
              <a:ext uri="{FF2B5EF4-FFF2-40B4-BE49-F238E27FC236}">
                <a16:creationId xmlns:a16="http://schemas.microsoft.com/office/drawing/2014/main" id="{A7504597-DAE8-7BD5-E427-59FE3F3330B0}"/>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8" name="Shape 133">
            <a:extLst>
              <a:ext uri="{FF2B5EF4-FFF2-40B4-BE49-F238E27FC236}">
                <a16:creationId xmlns:a16="http://schemas.microsoft.com/office/drawing/2014/main" id="{57656A25-7392-A4F8-42FF-0AAD35DAB96A}"/>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0" name="Shape 134">
            <a:extLst>
              <a:ext uri="{FF2B5EF4-FFF2-40B4-BE49-F238E27FC236}">
                <a16:creationId xmlns:a16="http://schemas.microsoft.com/office/drawing/2014/main" id="{A01509C7-F9AC-D612-CC39-58640601C006}"/>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2" name="Text 135">
            <a:extLst>
              <a:ext uri="{FF2B5EF4-FFF2-40B4-BE49-F238E27FC236}">
                <a16:creationId xmlns:a16="http://schemas.microsoft.com/office/drawing/2014/main" id="{4BF6839F-2873-F373-446B-2181CDBE0B5C}"/>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4" name="Text 136">
            <a:extLst>
              <a:ext uri="{FF2B5EF4-FFF2-40B4-BE49-F238E27FC236}">
                <a16:creationId xmlns:a16="http://schemas.microsoft.com/office/drawing/2014/main" id="{0E9F188B-90C4-31AB-2701-03D1FF2CC694}"/>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満足度向上</a:t>
            </a:r>
            <a:endParaRPr lang="en-US" altLang="ja-JP" sz="850" dirty="0">
              <a:latin typeface="メイリオ" panose="020B0604030504040204" pitchFamily="50" charset="-128"/>
              <a:ea typeface="メイリオ" panose="020B0604030504040204" pitchFamily="50" charset="-128"/>
            </a:endParaRPr>
          </a:p>
        </p:txBody>
      </p:sp>
      <p:sp>
        <p:nvSpPr>
          <p:cNvPr id="396" name="Text 137">
            <a:extLst>
              <a:ext uri="{FF2B5EF4-FFF2-40B4-BE49-F238E27FC236}">
                <a16:creationId xmlns:a16="http://schemas.microsoft.com/office/drawing/2014/main" id="{C8404977-9DAC-F0B8-336A-CAD39A2D9574}"/>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紹介・口コミ促進</a:t>
            </a:r>
            <a:endParaRPr lang="en-US" altLang="ja-JP" sz="750" dirty="0">
              <a:latin typeface="メイリオ" panose="020B0604030504040204" pitchFamily="50" charset="-128"/>
              <a:ea typeface="メイリオ" panose="020B0604030504040204" pitchFamily="50" charset="-128"/>
            </a:endParaRPr>
          </a:p>
        </p:txBody>
      </p:sp>
      <p:sp>
        <p:nvSpPr>
          <p:cNvPr id="398" name="Shape 36">
            <a:extLst>
              <a:ext uri="{FF2B5EF4-FFF2-40B4-BE49-F238E27FC236}">
                <a16:creationId xmlns:a16="http://schemas.microsoft.com/office/drawing/2014/main" id="{E1A706A9-2858-6B94-F554-D7AF99876505}"/>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0" name="Shape 36">
            <a:extLst>
              <a:ext uri="{FF2B5EF4-FFF2-40B4-BE49-F238E27FC236}">
                <a16:creationId xmlns:a16="http://schemas.microsoft.com/office/drawing/2014/main" id="{4310345B-A0A0-5528-0149-1158E742747C}"/>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2" name="Shape 36">
            <a:extLst>
              <a:ext uri="{FF2B5EF4-FFF2-40B4-BE49-F238E27FC236}">
                <a16:creationId xmlns:a16="http://schemas.microsoft.com/office/drawing/2014/main" id="{1F298478-02C0-26AD-DD18-2A5F883779BB}"/>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7743960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E2D0F-DE07-83AE-E053-ED6184F31BC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D1EA046-6B24-6F8B-072F-C58606586D2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改善モデル④</a:t>
            </a:r>
          </a:p>
        </p:txBody>
      </p:sp>
      <p:sp>
        <p:nvSpPr>
          <p:cNvPr id="9" name="正方形/長方形 8">
            <a:extLst>
              <a:ext uri="{FF2B5EF4-FFF2-40B4-BE49-F238E27FC236}">
                <a16:creationId xmlns:a16="http://schemas.microsoft.com/office/drawing/2014/main" id="{4CC6B560-F63A-0124-FC5F-88DB86F5E043}"/>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5D31B060-8732-8226-E996-E5CD8768DC86}"/>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リピート率、クロスセル率、客単価を改善し、</a:t>
            </a:r>
            <a:r>
              <a:rPr lang="en-US" altLang="ja-JP" sz="1600" b="1" dirty="0">
                <a:latin typeface="メイリオ" panose="020B0604030504040204" pitchFamily="50" charset="-128"/>
                <a:ea typeface="メイリオ" panose="020B0604030504040204" pitchFamily="50" charset="-128"/>
                <a:cs typeface="Meiryo"/>
                <a:sym typeface="Meiryo"/>
              </a:rPr>
              <a:t>LTV</a:t>
            </a:r>
            <a:r>
              <a:rPr lang="ja-JP" altLang="en-US" sz="1600" b="1" dirty="0">
                <a:latin typeface="メイリオ" panose="020B0604030504040204" pitchFamily="50" charset="-128"/>
                <a:ea typeface="メイリオ" panose="020B0604030504040204" pitchFamily="50" charset="-128"/>
                <a:cs typeface="Meiryo"/>
                <a:sym typeface="Meiryo"/>
              </a:rPr>
              <a:t>を最大化する。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1" name="テキスト ボックス 20">
            <a:extLst>
              <a:ext uri="{FF2B5EF4-FFF2-40B4-BE49-F238E27FC236}">
                <a16:creationId xmlns:a16="http://schemas.microsoft.com/office/drawing/2014/main" id="{A963DBCC-3129-4694-2516-D42EB1CB36A7}"/>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640F53FA-21E2-6B03-27CB-8DE09650F7F7}"/>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24" name="テキスト ボックス 23">
            <a:extLst>
              <a:ext uri="{FF2B5EF4-FFF2-40B4-BE49-F238E27FC236}">
                <a16:creationId xmlns:a16="http://schemas.microsoft.com/office/drawing/2014/main" id="{CD6F3969-7970-ED78-97A1-E18A646DC413}"/>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DE48F05F-518B-8B69-CAE4-9FC447A9510C}"/>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D5D38C1D-8C53-09C4-237B-4FFBFD65D619}"/>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13FD3000-99FD-4540-2B87-0D726E46FCA6}"/>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27A03507-5C3E-DF3F-18DA-D429C2C2869A}"/>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3A508995-2791-7443-0604-9D0C327CA4C2}"/>
              </a:ext>
            </a:extLst>
          </p:cNvPr>
          <p:cNvCxnSpPr>
            <a:cxnSpLocks/>
            <a:stCxn id="30" idx="0"/>
            <a:endCxn id="21" idx="2"/>
          </p:cNvCxnSpPr>
          <p:nvPr/>
        </p:nvCxnSpPr>
        <p:spPr>
          <a:xfrm rot="5400000" flipH="1" flipV="1">
            <a:off x="4282287" y="178957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正方形/長方形 4">
            <a:extLst>
              <a:ext uri="{FF2B5EF4-FFF2-40B4-BE49-F238E27FC236}">
                <a16:creationId xmlns:a16="http://schemas.microsoft.com/office/drawing/2014/main" id="{83A147CB-7405-2DCF-1F21-0B8337012B05}"/>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F635E64C-0D36-F30F-0A02-3BAB66350C25}"/>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6E52B63D-D41D-D127-AC66-256E2241FC5B}"/>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0" name="テキスト ボックス 9">
            <a:extLst>
              <a:ext uri="{FF2B5EF4-FFF2-40B4-BE49-F238E27FC236}">
                <a16:creationId xmlns:a16="http://schemas.microsoft.com/office/drawing/2014/main" id="{94C6D99A-720E-C67C-F0D7-BCC4F523B05A}"/>
              </a:ext>
            </a:extLst>
          </p:cNvPr>
          <p:cNvSpPr txBox="1"/>
          <p:nvPr/>
        </p:nvSpPr>
        <p:spPr>
          <a:xfrm>
            <a:off x="7408050" y="2033054"/>
            <a:ext cx="2352196" cy="400110"/>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a:t>
            </a:r>
            <a:r>
              <a:rPr lang="en-US" altLang="ja-JP" sz="1100" b="1" dirty="0">
                <a:solidFill>
                  <a:schemeClr val="bg1"/>
                </a:solidFill>
                <a:latin typeface="メイリオ" panose="020B0604030504040204" pitchFamily="50" charset="-128"/>
                <a:ea typeface="メイリオ" panose="020B0604030504040204" pitchFamily="50" charset="-128"/>
              </a:rPr>
              <a:t>LTV</a:t>
            </a:r>
            <a:r>
              <a:rPr lang="ja-JP" altLang="en-US" sz="1100" b="1" dirty="0">
                <a:solidFill>
                  <a:schemeClr val="bg1"/>
                </a:solidFill>
                <a:latin typeface="メイリオ" panose="020B0604030504040204" pitchFamily="50" charset="-128"/>
                <a:ea typeface="メイリオ" panose="020B0604030504040204" pitchFamily="50" charset="-128"/>
              </a:rPr>
              <a:t>最大化・紹介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endParaRPr lang="ja-JP" altLang="ja-JP" sz="900" b="1" dirty="0">
              <a:solidFill>
                <a:schemeClr val="bg1"/>
              </a:solidFill>
              <a:latin typeface="メイリオ" panose="020B0604030504040204" pitchFamily="50" charset="-128"/>
              <a:ea typeface="メイリオ" panose="020B0604030504040204" pitchFamily="50" charset="-128"/>
            </a:endParaRPr>
          </a:p>
        </p:txBody>
      </p:sp>
      <p:sp>
        <p:nvSpPr>
          <p:cNvPr id="212" name="正方形/長方形 211">
            <a:extLst>
              <a:ext uri="{FF2B5EF4-FFF2-40B4-BE49-F238E27FC236}">
                <a16:creationId xmlns:a16="http://schemas.microsoft.com/office/drawing/2014/main" id="{EBFE876B-88B7-8368-241B-4213AC327DEF}"/>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latin typeface="メイリオ" panose="020B0604030504040204" pitchFamily="50" charset="-128"/>
                <a:ea typeface="メイリオ" panose="020B0604030504040204" pitchFamily="50" charset="-128"/>
              </a:rPr>
              <a:t>属性把握により最適なタイミング・サービスラインを提示</a:t>
            </a:r>
          </a:p>
        </p:txBody>
      </p:sp>
      <p:sp>
        <p:nvSpPr>
          <p:cNvPr id="214" name="正方形/長方形 213">
            <a:extLst>
              <a:ext uri="{FF2B5EF4-FFF2-40B4-BE49-F238E27FC236}">
                <a16:creationId xmlns:a16="http://schemas.microsoft.com/office/drawing/2014/main" id="{BC37FCD9-3298-5435-6B9C-3FDC96F4BED5}"/>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成約後のイメージ・アフターフォローを見える化する</a:t>
            </a:r>
            <a:endParaRPr lang="en-US" altLang="ja-JP" sz="1050" dirty="0">
              <a:latin typeface="メイリオ" panose="020B0604030504040204" pitchFamily="50" charset="-128"/>
              <a:ea typeface="メイリオ" panose="020B0604030504040204" pitchFamily="50" charset="-128"/>
            </a:endParaRPr>
          </a:p>
        </p:txBody>
      </p:sp>
      <p:sp>
        <p:nvSpPr>
          <p:cNvPr id="216" name="Shape 34">
            <a:extLst>
              <a:ext uri="{FF2B5EF4-FFF2-40B4-BE49-F238E27FC236}">
                <a16:creationId xmlns:a16="http://schemas.microsoft.com/office/drawing/2014/main" id="{031543C4-0BBC-6209-20D0-2EFA2FCEF86D}"/>
              </a:ext>
            </a:extLst>
          </p:cNvPr>
          <p:cNvSpPr/>
          <p:nvPr/>
        </p:nvSpPr>
        <p:spPr>
          <a:xfrm>
            <a:off x="265419" y="2999768"/>
            <a:ext cx="4541216" cy="1600805"/>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8" name="Shape 36">
            <a:extLst>
              <a:ext uri="{FF2B5EF4-FFF2-40B4-BE49-F238E27FC236}">
                <a16:creationId xmlns:a16="http://schemas.microsoft.com/office/drawing/2014/main" id="{101BD496-9F8B-4FB2-A6BB-61070F561E0B}"/>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20" name="Shape 38">
            <a:extLst>
              <a:ext uri="{FF2B5EF4-FFF2-40B4-BE49-F238E27FC236}">
                <a16:creationId xmlns:a16="http://schemas.microsoft.com/office/drawing/2014/main" id="{C11A3E69-9E4D-9846-409E-E9A711BD995E}"/>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22" name="Text 39">
            <a:extLst>
              <a:ext uri="{FF2B5EF4-FFF2-40B4-BE49-F238E27FC236}">
                <a16:creationId xmlns:a16="http://schemas.microsoft.com/office/drawing/2014/main" id="{9A2D9F28-CC07-BFBF-1F09-849BDDAE374B}"/>
              </a:ext>
            </a:extLst>
          </p:cNvPr>
          <p:cNvSpPr/>
          <p:nvPr/>
        </p:nvSpPr>
        <p:spPr>
          <a:xfrm>
            <a:off x="686043" y="3109497"/>
            <a:ext cx="804672" cy="201168"/>
          </a:xfrm>
          <a:prstGeom prst="rect">
            <a:avLst/>
          </a:prstGeom>
          <a:noFill/>
          <a:ln/>
        </p:spPr>
        <p:txBody>
          <a:bodyPr wrap="square" lIns="0" tIns="0" rIns="0" bIns="0" rtlCol="0" anchor="ctr"/>
          <a:lstStyle/>
          <a:p>
            <a:pPr algn="ctr"/>
            <a:r>
              <a:rPr lang="en-US" altLang="ja-JP" sz="750" b="1" dirty="0" err="1">
                <a:solidFill>
                  <a:schemeClr val="accent1"/>
                </a:solidFill>
                <a:latin typeface="メイリオ" panose="020B0604030504040204" pitchFamily="50" charset="-128"/>
                <a:ea typeface="メイリオ" panose="020B0604030504040204" pitchFamily="50" charset="-128"/>
                <a:cs typeface="Calibri" pitchFamily="34" charset="-120"/>
              </a:rPr>
              <a:t>クロスセル配信</a:t>
            </a:r>
            <a:endParaRPr lang="en-US" altLang="ja-JP" sz="750" dirty="0">
              <a:solidFill>
                <a:schemeClr val="accent1"/>
              </a:solidFill>
              <a:latin typeface="メイリオ" panose="020B0604030504040204" pitchFamily="50" charset="-128"/>
              <a:ea typeface="メイリオ" panose="020B0604030504040204" pitchFamily="50" charset="-128"/>
            </a:endParaRPr>
          </a:p>
        </p:txBody>
      </p:sp>
      <p:sp>
        <p:nvSpPr>
          <p:cNvPr id="224" name="Text 40">
            <a:extLst>
              <a:ext uri="{FF2B5EF4-FFF2-40B4-BE49-F238E27FC236}">
                <a16:creationId xmlns:a16="http://schemas.microsoft.com/office/drawing/2014/main" id="{E07A6550-E043-DAC7-D1DE-2F58496625C9}"/>
              </a:ext>
            </a:extLst>
          </p:cNvPr>
          <p:cNvSpPr/>
          <p:nvPr/>
        </p:nvSpPr>
        <p:spPr>
          <a:xfrm>
            <a:off x="1545579"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利用状況タグ</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アップグレード提案で客単価を向上</a:t>
            </a:r>
            <a:endParaRPr lang="en-US" altLang="ja-JP" sz="1100" dirty="0">
              <a:latin typeface="メイリオ" panose="020B0604030504040204" pitchFamily="50" charset="-128"/>
              <a:ea typeface="メイリオ" panose="020B0604030504040204" pitchFamily="50" charset="-128"/>
            </a:endParaRPr>
          </a:p>
        </p:txBody>
      </p:sp>
      <p:sp>
        <p:nvSpPr>
          <p:cNvPr id="226" name="Text 41">
            <a:extLst>
              <a:ext uri="{FF2B5EF4-FFF2-40B4-BE49-F238E27FC236}">
                <a16:creationId xmlns:a16="http://schemas.microsoft.com/office/drawing/2014/main" id="{8B380EA5-B628-C9F7-AB4A-470FADCA002E}"/>
              </a:ext>
            </a:extLst>
          </p:cNvPr>
          <p:cNvSpPr/>
          <p:nvPr/>
        </p:nvSpPr>
        <p:spPr>
          <a:xfrm>
            <a:off x="356859" y="3383817"/>
            <a:ext cx="4449774" cy="493776"/>
          </a:xfrm>
          <a:prstGeom prst="rect">
            <a:avLst/>
          </a:prstGeom>
          <a:noFill/>
          <a:ln/>
        </p:spPr>
        <p:txBody>
          <a:bodyPr wrap="square" lIns="0" tIns="0" rIns="0" bIns="0" rtlCol="0" anchor="ctr"/>
          <a:lstStyle/>
          <a:p>
            <a:pPr>
              <a:lnSpc>
                <a:spcPct val="135000"/>
              </a:lnSpc>
            </a:pP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利用量・頻度タグを活用して「よく使っている層」に上位プラン・関連サービスを自動配信。「今のプランより月〇〇円で〇〇が追加できます」という具体的メリット提示が</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CVR</a:t>
            </a: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を高める。満足度が高い購入後</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3</a:t>
            </a: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ヶ月が最適タイミング。</a:t>
            </a:r>
          </a:p>
        </p:txBody>
      </p:sp>
      <p:sp>
        <p:nvSpPr>
          <p:cNvPr id="228" name="Shape 42">
            <a:extLst>
              <a:ext uri="{FF2B5EF4-FFF2-40B4-BE49-F238E27FC236}">
                <a16:creationId xmlns:a16="http://schemas.microsoft.com/office/drawing/2014/main" id="{9B4B4FC2-ABA9-EE54-2AE8-6D8B446B20FF}"/>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0" name="Shape 43">
            <a:extLst>
              <a:ext uri="{FF2B5EF4-FFF2-40B4-BE49-F238E27FC236}">
                <a16:creationId xmlns:a16="http://schemas.microsoft.com/office/drawing/2014/main" id="{B6DB6636-0D01-AC92-D361-5BB4DD706048}"/>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2" name="Text 44">
            <a:extLst>
              <a:ext uri="{FF2B5EF4-FFF2-40B4-BE49-F238E27FC236}">
                <a16:creationId xmlns:a16="http://schemas.microsoft.com/office/drawing/2014/main" id="{AA004DDF-312A-3679-2F4A-C0D702FDE201}"/>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4" name="Text 45">
            <a:extLst>
              <a:ext uri="{FF2B5EF4-FFF2-40B4-BE49-F238E27FC236}">
                <a16:creationId xmlns:a16="http://schemas.microsoft.com/office/drawing/2014/main" id="{8C971CE9-8DC5-3C5A-C74E-473D1EEF0A37}"/>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利用状況タグ付与</a:t>
            </a:r>
            <a:endParaRPr lang="en-US" altLang="ja-JP" sz="850" dirty="0">
              <a:latin typeface="メイリオ" panose="020B0604030504040204" pitchFamily="50" charset="-128"/>
              <a:ea typeface="メイリオ" panose="020B0604030504040204" pitchFamily="50" charset="-128"/>
            </a:endParaRPr>
          </a:p>
        </p:txBody>
      </p:sp>
      <p:sp>
        <p:nvSpPr>
          <p:cNvPr id="236" name="Text 46">
            <a:extLst>
              <a:ext uri="{FF2B5EF4-FFF2-40B4-BE49-F238E27FC236}">
                <a16:creationId xmlns:a16="http://schemas.microsoft.com/office/drawing/2014/main" id="{BDCB6CBA-6BE0-0029-00B8-F3E8C622531C}"/>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高頻度ユーザー特定</a:t>
            </a:r>
            <a:endParaRPr lang="en-US" altLang="ja-JP" sz="750" dirty="0">
              <a:latin typeface="メイリオ" panose="020B0604030504040204" pitchFamily="50" charset="-128"/>
              <a:ea typeface="メイリオ" panose="020B0604030504040204" pitchFamily="50" charset="-128"/>
            </a:endParaRPr>
          </a:p>
        </p:txBody>
      </p:sp>
      <p:sp>
        <p:nvSpPr>
          <p:cNvPr id="238" name="Text 47">
            <a:extLst>
              <a:ext uri="{FF2B5EF4-FFF2-40B4-BE49-F238E27FC236}">
                <a16:creationId xmlns:a16="http://schemas.microsoft.com/office/drawing/2014/main" id="{1D84C63C-EF83-B3FE-DA12-C6FED620F69C}"/>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0" name="Shape 48">
            <a:extLst>
              <a:ext uri="{FF2B5EF4-FFF2-40B4-BE49-F238E27FC236}">
                <a16:creationId xmlns:a16="http://schemas.microsoft.com/office/drawing/2014/main" id="{0BE03B95-9AB7-E6ED-2E78-10CF317A8766}"/>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2" name="Shape 49">
            <a:extLst>
              <a:ext uri="{FF2B5EF4-FFF2-40B4-BE49-F238E27FC236}">
                <a16:creationId xmlns:a16="http://schemas.microsoft.com/office/drawing/2014/main" id="{1E6CCFE3-96DE-0131-BB9B-0F2313B82CFB}"/>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4" name="Text 50">
            <a:extLst>
              <a:ext uri="{FF2B5EF4-FFF2-40B4-BE49-F238E27FC236}">
                <a16:creationId xmlns:a16="http://schemas.microsoft.com/office/drawing/2014/main" id="{5E69FB79-6A36-8814-5961-E84046021AAC}"/>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6" name="Text 51">
            <a:extLst>
              <a:ext uri="{FF2B5EF4-FFF2-40B4-BE49-F238E27FC236}">
                <a16:creationId xmlns:a16="http://schemas.microsoft.com/office/drawing/2014/main" id="{4EBEE041-7A21-6197-B2AC-4D081A8E8AD0}"/>
              </a:ext>
            </a:extLst>
          </p:cNvPr>
          <p:cNvSpPr/>
          <p:nvPr/>
        </p:nvSpPr>
        <p:spPr>
          <a:xfrm>
            <a:off x="2039355" y="4114575"/>
            <a:ext cx="914400" cy="182880"/>
          </a:xfrm>
          <a:prstGeom prst="rect">
            <a:avLst/>
          </a:prstGeom>
          <a:noFill/>
          <a:ln/>
        </p:spPr>
        <p:txBody>
          <a:bodyPr wrap="square" lIns="0" tIns="0" rIns="0" bIns="0" rtlCol="0" anchor="ctr"/>
          <a:lstStyle/>
          <a:p>
            <a:r>
              <a:rPr lang="ja-JP" altLang="en-US" sz="850" b="1" dirty="0">
                <a:solidFill>
                  <a:srgbClr val="1A1A2E"/>
                </a:solidFill>
                <a:latin typeface="メイリオ" panose="020B0604030504040204" pitchFamily="50" charset="-128"/>
                <a:ea typeface="メイリオ" panose="020B0604030504040204" pitchFamily="50" charset="-128"/>
                <a:cs typeface="Calibri" pitchFamily="34" charset="-120"/>
              </a:rPr>
              <a:t>アップセル</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提案</a:t>
            </a:r>
            <a:endParaRPr lang="en-US" altLang="ja-JP" sz="850" dirty="0">
              <a:latin typeface="メイリオ" panose="020B0604030504040204" pitchFamily="50" charset="-128"/>
              <a:ea typeface="メイリオ" panose="020B0604030504040204" pitchFamily="50" charset="-128"/>
            </a:endParaRPr>
          </a:p>
        </p:txBody>
      </p:sp>
      <p:sp>
        <p:nvSpPr>
          <p:cNvPr id="248" name="Text 52">
            <a:extLst>
              <a:ext uri="{FF2B5EF4-FFF2-40B4-BE49-F238E27FC236}">
                <a16:creationId xmlns:a16="http://schemas.microsoft.com/office/drawing/2014/main" id="{07AD15D9-CD6F-2D3C-CC15-71235D18482D}"/>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具体的金額＋メリット</a:t>
            </a:r>
            <a:endParaRPr lang="en-US" altLang="ja-JP" sz="750" dirty="0">
              <a:latin typeface="メイリオ" panose="020B0604030504040204" pitchFamily="50" charset="-128"/>
              <a:ea typeface="メイリオ" panose="020B0604030504040204" pitchFamily="50" charset="-128"/>
            </a:endParaRPr>
          </a:p>
        </p:txBody>
      </p:sp>
      <p:sp>
        <p:nvSpPr>
          <p:cNvPr id="250" name="Text 53">
            <a:extLst>
              <a:ext uri="{FF2B5EF4-FFF2-40B4-BE49-F238E27FC236}">
                <a16:creationId xmlns:a16="http://schemas.microsoft.com/office/drawing/2014/main" id="{8ECA8D7C-C4A5-C970-D4A6-A16EF6F3350C}"/>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2" name="Shape 54">
            <a:extLst>
              <a:ext uri="{FF2B5EF4-FFF2-40B4-BE49-F238E27FC236}">
                <a16:creationId xmlns:a16="http://schemas.microsoft.com/office/drawing/2014/main" id="{B12A5926-50A5-13EB-6415-C90901191CBD}"/>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4" name="Shape 55">
            <a:extLst>
              <a:ext uri="{FF2B5EF4-FFF2-40B4-BE49-F238E27FC236}">
                <a16:creationId xmlns:a16="http://schemas.microsoft.com/office/drawing/2014/main" id="{2700C358-B913-5B66-30B3-A247A5CFA965}"/>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6" name="Text 56">
            <a:extLst>
              <a:ext uri="{FF2B5EF4-FFF2-40B4-BE49-F238E27FC236}">
                <a16:creationId xmlns:a16="http://schemas.microsoft.com/office/drawing/2014/main" id="{25DAB092-6EC6-4374-F29D-D2E43E4B9FEB}"/>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8" name="Text 57">
            <a:extLst>
              <a:ext uri="{FF2B5EF4-FFF2-40B4-BE49-F238E27FC236}">
                <a16:creationId xmlns:a16="http://schemas.microsoft.com/office/drawing/2014/main" id="{9DFA3811-543F-B130-C558-9F98D1BDCE28}"/>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クロスセルCV</a:t>
            </a:r>
            <a:endParaRPr lang="en-US" altLang="ja-JP" sz="850" dirty="0">
              <a:latin typeface="メイリオ" panose="020B0604030504040204" pitchFamily="50" charset="-128"/>
              <a:ea typeface="メイリオ" panose="020B0604030504040204" pitchFamily="50" charset="-128"/>
            </a:endParaRPr>
          </a:p>
        </p:txBody>
      </p:sp>
      <p:sp>
        <p:nvSpPr>
          <p:cNvPr id="260" name="Text 58">
            <a:extLst>
              <a:ext uri="{FF2B5EF4-FFF2-40B4-BE49-F238E27FC236}">
                <a16:creationId xmlns:a16="http://schemas.microsoft.com/office/drawing/2014/main" id="{7A46B590-0C64-FEE3-0E7C-7EA298F486A3}"/>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客単価</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 -- %向上</a:t>
            </a:r>
            <a:endParaRPr lang="en-US" altLang="ja-JP" sz="750" dirty="0">
              <a:latin typeface="メイリオ" panose="020B0604030504040204" pitchFamily="50" charset="-128"/>
              <a:ea typeface="メイリオ" panose="020B0604030504040204" pitchFamily="50" charset="-128"/>
            </a:endParaRPr>
          </a:p>
        </p:txBody>
      </p:sp>
      <p:sp>
        <p:nvSpPr>
          <p:cNvPr id="262" name="Shape 59">
            <a:extLst>
              <a:ext uri="{FF2B5EF4-FFF2-40B4-BE49-F238E27FC236}">
                <a16:creationId xmlns:a16="http://schemas.microsoft.com/office/drawing/2014/main" id="{17831C21-2DE0-1603-B120-3BAF591E685E}"/>
              </a:ext>
            </a:extLst>
          </p:cNvPr>
          <p:cNvSpPr/>
          <p:nvPr/>
        </p:nvSpPr>
        <p:spPr>
          <a:xfrm>
            <a:off x="265419" y="4842285"/>
            <a:ext cx="4541216" cy="1600804"/>
          </a:xfrm>
          <a:prstGeom prst="roundRect">
            <a:avLst>
              <a:gd name="adj" fmla="val 5263"/>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4" name="Shape 63">
            <a:extLst>
              <a:ext uri="{FF2B5EF4-FFF2-40B4-BE49-F238E27FC236}">
                <a16:creationId xmlns:a16="http://schemas.microsoft.com/office/drawing/2014/main" id="{E0489255-B5B1-35CB-C8E0-D92F3D34C15B}"/>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6" name="Text 64">
            <a:extLst>
              <a:ext uri="{FF2B5EF4-FFF2-40B4-BE49-F238E27FC236}">
                <a16:creationId xmlns:a16="http://schemas.microsoft.com/office/drawing/2014/main" id="{45D18941-826F-30A6-3AA3-251341CB9EB1}"/>
              </a:ext>
            </a:extLst>
          </p:cNvPr>
          <p:cNvSpPr/>
          <p:nvPr/>
        </p:nvSpPr>
        <p:spPr>
          <a:xfrm>
            <a:off x="686043" y="4952013"/>
            <a:ext cx="804672" cy="201168"/>
          </a:xfrm>
          <a:prstGeom prst="rect">
            <a:avLst/>
          </a:prstGeom>
          <a:noFill/>
          <a:ln/>
        </p:spPr>
        <p:txBody>
          <a:bodyPr wrap="square" lIns="0" tIns="0" rIns="0" bIns="0" rtlCol="0" anchor="ctr"/>
          <a:lstStyle/>
          <a:p>
            <a:pPr algn="ctr"/>
            <a:r>
              <a:rPr lang="en-US" altLang="ja-JP" sz="750" b="1" dirty="0" err="1">
                <a:solidFill>
                  <a:schemeClr val="accent1"/>
                </a:solidFill>
                <a:latin typeface="メイリオ" panose="020B0604030504040204" pitchFamily="50" charset="-128"/>
                <a:ea typeface="メイリオ" panose="020B0604030504040204" pitchFamily="50" charset="-128"/>
                <a:cs typeface="Calibri" pitchFamily="34" charset="-120"/>
              </a:rPr>
              <a:t>紹介キャンペーン</a:t>
            </a:r>
            <a:endParaRPr lang="en-US" altLang="ja-JP" sz="750" dirty="0">
              <a:solidFill>
                <a:schemeClr val="accent1"/>
              </a:solidFill>
              <a:latin typeface="メイリオ" panose="020B0604030504040204" pitchFamily="50" charset="-128"/>
              <a:ea typeface="メイリオ" panose="020B0604030504040204" pitchFamily="50" charset="-128"/>
            </a:endParaRPr>
          </a:p>
        </p:txBody>
      </p:sp>
      <p:sp>
        <p:nvSpPr>
          <p:cNvPr id="268" name="Text 65">
            <a:extLst>
              <a:ext uri="{FF2B5EF4-FFF2-40B4-BE49-F238E27FC236}">
                <a16:creationId xmlns:a16="http://schemas.microsoft.com/office/drawing/2014/main" id="{46A7ADAB-7FB3-0E5E-A98A-5FA74D2FF194}"/>
              </a:ext>
            </a:extLst>
          </p:cNvPr>
          <p:cNvSpPr/>
          <p:nvPr/>
        </p:nvSpPr>
        <p:spPr>
          <a:xfrm>
            <a:off x="1545579"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紹介キャンペーン</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の誘導</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設計でゼロコスト新規獲得</a:t>
            </a:r>
            <a:endParaRPr lang="en-US" altLang="ja-JP" sz="1100" dirty="0">
              <a:latin typeface="メイリオ" panose="020B0604030504040204" pitchFamily="50" charset="-128"/>
              <a:ea typeface="メイリオ" panose="020B0604030504040204" pitchFamily="50" charset="-128"/>
            </a:endParaRPr>
          </a:p>
        </p:txBody>
      </p:sp>
      <p:sp>
        <p:nvSpPr>
          <p:cNvPr id="270" name="Text 66">
            <a:extLst>
              <a:ext uri="{FF2B5EF4-FFF2-40B4-BE49-F238E27FC236}">
                <a16:creationId xmlns:a16="http://schemas.microsoft.com/office/drawing/2014/main" id="{730ECA19-26DA-232F-404E-DBF02F6BA8B1}"/>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お友達をご紹介いただいた方にAmazonギフト</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○○円プレゼント」をLINEで配信。満足度が最も高い利用開始3ヶ月後が最適タイミング。紹介ユーザーのLTVは通常ユーザーの1.5〜2倍で広告比CPA1/5〜1/10。</a:t>
            </a:r>
            <a:endParaRPr lang="en-US" altLang="ja-JP" sz="850" dirty="0">
              <a:latin typeface="メイリオ" panose="020B0604030504040204" pitchFamily="50" charset="-128"/>
              <a:ea typeface="メイリオ" panose="020B0604030504040204" pitchFamily="50" charset="-128"/>
            </a:endParaRPr>
          </a:p>
        </p:txBody>
      </p:sp>
      <p:sp>
        <p:nvSpPr>
          <p:cNvPr id="272" name="Shape 68">
            <a:extLst>
              <a:ext uri="{FF2B5EF4-FFF2-40B4-BE49-F238E27FC236}">
                <a16:creationId xmlns:a16="http://schemas.microsoft.com/office/drawing/2014/main" id="{462FA3CD-674C-EF8C-8AE8-10A144147A63}"/>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4" name="Text 69">
            <a:extLst>
              <a:ext uri="{FF2B5EF4-FFF2-40B4-BE49-F238E27FC236}">
                <a16:creationId xmlns:a16="http://schemas.microsoft.com/office/drawing/2014/main" id="{11F7B611-A14B-627C-5FBB-0170B886D5EA}"/>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6" name="Shape 71">
            <a:extLst>
              <a:ext uri="{FF2B5EF4-FFF2-40B4-BE49-F238E27FC236}">
                <a16:creationId xmlns:a16="http://schemas.microsoft.com/office/drawing/2014/main" id="{C99449D4-E546-985F-BE72-933F1694A4F7}"/>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8" name="Shape 72">
            <a:extLst>
              <a:ext uri="{FF2B5EF4-FFF2-40B4-BE49-F238E27FC236}">
                <a16:creationId xmlns:a16="http://schemas.microsoft.com/office/drawing/2014/main" id="{164235F1-23EF-1248-60B7-999A0B29AA4D}"/>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0" name="Text 73">
            <a:extLst>
              <a:ext uri="{FF2B5EF4-FFF2-40B4-BE49-F238E27FC236}">
                <a16:creationId xmlns:a16="http://schemas.microsoft.com/office/drawing/2014/main" id="{12B0160C-FE2A-C7A4-E0AD-74F3D0F9BB4B}"/>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2" name="Text 74">
            <a:extLst>
              <a:ext uri="{FF2B5EF4-FFF2-40B4-BE49-F238E27FC236}">
                <a16:creationId xmlns:a16="http://schemas.microsoft.com/office/drawing/2014/main" id="{5E79EB16-FC89-25AD-ABF7-33918A2FDFC6}"/>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紹介特典を配信</a:t>
            </a:r>
            <a:endParaRPr lang="en-US" altLang="ja-JP" sz="850" dirty="0">
              <a:latin typeface="メイリオ" panose="020B0604030504040204" pitchFamily="50" charset="-128"/>
              <a:ea typeface="メイリオ" panose="020B0604030504040204" pitchFamily="50" charset="-128"/>
            </a:endParaRPr>
          </a:p>
        </p:txBody>
      </p:sp>
      <p:sp>
        <p:nvSpPr>
          <p:cNvPr id="284" name="Text 75">
            <a:extLst>
              <a:ext uri="{FF2B5EF4-FFF2-40B4-BE49-F238E27FC236}">
                <a16:creationId xmlns:a16="http://schemas.microsoft.com/office/drawing/2014/main" id="{64C81502-47D8-FD41-CAA1-246D2A7C55F4}"/>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満足度高い3ヶ月後</a:t>
            </a:r>
            <a:endParaRPr lang="en-US" altLang="ja-JP" sz="750" dirty="0">
              <a:latin typeface="メイリオ" panose="020B0604030504040204" pitchFamily="50" charset="-128"/>
              <a:ea typeface="メイリオ" panose="020B0604030504040204" pitchFamily="50" charset="-128"/>
            </a:endParaRPr>
          </a:p>
        </p:txBody>
      </p:sp>
      <p:sp>
        <p:nvSpPr>
          <p:cNvPr id="286" name="Text 76">
            <a:extLst>
              <a:ext uri="{FF2B5EF4-FFF2-40B4-BE49-F238E27FC236}">
                <a16:creationId xmlns:a16="http://schemas.microsoft.com/office/drawing/2014/main" id="{DDBCEA73-1ED9-CA4D-8311-CAF89AE71249}"/>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8" name="Shape 77">
            <a:extLst>
              <a:ext uri="{FF2B5EF4-FFF2-40B4-BE49-F238E27FC236}">
                <a16:creationId xmlns:a16="http://schemas.microsoft.com/office/drawing/2014/main" id="{4A9CE2B6-4FF8-B0CB-C568-0E29CCB25364}"/>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0" name="Shape 78">
            <a:extLst>
              <a:ext uri="{FF2B5EF4-FFF2-40B4-BE49-F238E27FC236}">
                <a16:creationId xmlns:a16="http://schemas.microsoft.com/office/drawing/2014/main" id="{FB713A24-D0F7-6DC1-B787-27EFB8E42CD6}"/>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2" name="Text 79">
            <a:extLst>
              <a:ext uri="{FF2B5EF4-FFF2-40B4-BE49-F238E27FC236}">
                <a16:creationId xmlns:a16="http://schemas.microsoft.com/office/drawing/2014/main" id="{37FF5E38-4F70-1C68-3580-FD6C0D20C5DF}"/>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4" name="Text 80">
            <a:extLst>
              <a:ext uri="{FF2B5EF4-FFF2-40B4-BE49-F238E27FC236}">
                <a16:creationId xmlns:a16="http://schemas.microsoft.com/office/drawing/2014/main" id="{5C71A4A8-6960-FBE7-CE24-A77A0C89DFFD}"/>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LINEシェア</a:t>
            </a:r>
            <a:endParaRPr lang="en-US" altLang="ja-JP" sz="850" dirty="0">
              <a:latin typeface="メイリオ" panose="020B0604030504040204" pitchFamily="50" charset="-128"/>
              <a:ea typeface="メイリオ" panose="020B0604030504040204" pitchFamily="50" charset="-128"/>
            </a:endParaRPr>
          </a:p>
        </p:txBody>
      </p:sp>
      <p:sp>
        <p:nvSpPr>
          <p:cNvPr id="296" name="Text 81">
            <a:extLst>
              <a:ext uri="{FF2B5EF4-FFF2-40B4-BE49-F238E27FC236}">
                <a16:creationId xmlns:a16="http://schemas.microsoft.com/office/drawing/2014/main" id="{F823702E-E3FF-CBCE-0A20-E5381533CBF2}"/>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心理ハードル最低</a:t>
            </a:r>
            <a:endParaRPr lang="en-US" altLang="ja-JP" sz="750" dirty="0">
              <a:latin typeface="メイリオ" panose="020B0604030504040204" pitchFamily="50" charset="-128"/>
              <a:ea typeface="メイリオ" panose="020B0604030504040204" pitchFamily="50" charset="-128"/>
            </a:endParaRPr>
          </a:p>
        </p:txBody>
      </p:sp>
      <p:sp>
        <p:nvSpPr>
          <p:cNvPr id="298" name="Text 82">
            <a:extLst>
              <a:ext uri="{FF2B5EF4-FFF2-40B4-BE49-F238E27FC236}">
                <a16:creationId xmlns:a16="http://schemas.microsoft.com/office/drawing/2014/main" id="{A83E74AB-BECE-59CE-D634-A3A5C9A361C9}"/>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0" name="Shape 83">
            <a:extLst>
              <a:ext uri="{FF2B5EF4-FFF2-40B4-BE49-F238E27FC236}">
                <a16:creationId xmlns:a16="http://schemas.microsoft.com/office/drawing/2014/main" id="{B99E233A-6870-51BA-7438-99DBD2BE03C3}"/>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2" name="Shape 84">
            <a:extLst>
              <a:ext uri="{FF2B5EF4-FFF2-40B4-BE49-F238E27FC236}">
                <a16:creationId xmlns:a16="http://schemas.microsoft.com/office/drawing/2014/main" id="{14136A19-FB98-4163-504D-27BC3C347109}"/>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4" name="Text 85">
            <a:extLst>
              <a:ext uri="{FF2B5EF4-FFF2-40B4-BE49-F238E27FC236}">
                <a16:creationId xmlns:a16="http://schemas.microsoft.com/office/drawing/2014/main" id="{B1261818-8213-92C4-5F69-CDB1FEED7D6B}"/>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6" name="Text 86">
            <a:extLst>
              <a:ext uri="{FF2B5EF4-FFF2-40B4-BE49-F238E27FC236}">
                <a16:creationId xmlns:a16="http://schemas.microsoft.com/office/drawing/2014/main" id="{2F5670AB-004B-F8FE-78FA-0194BCE83E05}"/>
              </a:ext>
            </a:extLst>
          </p:cNvPr>
          <p:cNvSpPr/>
          <p:nvPr/>
        </p:nvSpPr>
        <p:spPr>
          <a:xfrm>
            <a:off x="3447530" y="5957091"/>
            <a:ext cx="1060705"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紹介経由＋特典付与</a:t>
            </a:r>
            <a:endParaRPr lang="en-US" altLang="ja-JP" sz="850" dirty="0">
              <a:latin typeface="メイリオ" panose="020B0604030504040204" pitchFamily="50" charset="-128"/>
              <a:ea typeface="メイリオ" panose="020B0604030504040204" pitchFamily="50" charset="-128"/>
            </a:endParaRPr>
          </a:p>
        </p:txBody>
      </p:sp>
      <p:sp>
        <p:nvSpPr>
          <p:cNvPr id="308" name="Text 87">
            <a:extLst>
              <a:ext uri="{FF2B5EF4-FFF2-40B4-BE49-F238E27FC236}">
                <a16:creationId xmlns:a16="http://schemas.microsoft.com/office/drawing/2014/main" id="{DC6BE138-921D-A694-0DAC-F5A995A4F15D}"/>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ツール連携で自動追跡</a:t>
            </a:r>
            <a:endParaRPr lang="en-US" altLang="ja-JP" sz="750" dirty="0">
              <a:latin typeface="メイリオ" panose="020B0604030504040204" pitchFamily="50" charset="-128"/>
              <a:ea typeface="メイリオ" panose="020B0604030504040204" pitchFamily="50" charset="-128"/>
            </a:endParaRPr>
          </a:p>
        </p:txBody>
      </p:sp>
      <p:sp>
        <p:nvSpPr>
          <p:cNvPr id="310" name="Shape 88">
            <a:extLst>
              <a:ext uri="{FF2B5EF4-FFF2-40B4-BE49-F238E27FC236}">
                <a16:creationId xmlns:a16="http://schemas.microsoft.com/office/drawing/2014/main" id="{00EA83A8-D640-D726-5B4E-5B7E5CC8BB06}"/>
              </a:ext>
            </a:extLst>
          </p:cNvPr>
          <p:cNvSpPr/>
          <p:nvPr/>
        </p:nvSpPr>
        <p:spPr>
          <a:xfrm>
            <a:off x="5099366" y="2999769"/>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2" name="Shape 92">
            <a:extLst>
              <a:ext uri="{FF2B5EF4-FFF2-40B4-BE49-F238E27FC236}">
                <a16:creationId xmlns:a16="http://schemas.microsoft.com/office/drawing/2014/main" id="{2ED50188-C3E8-671B-437B-FE9D09CB0C8A}"/>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4" name="Text 93">
            <a:extLst>
              <a:ext uri="{FF2B5EF4-FFF2-40B4-BE49-F238E27FC236}">
                <a16:creationId xmlns:a16="http://schemas.microsoft.com/office/drawing/2014/main" id="{F6E39E70-FE8A-DE23-0A39-4AE1241BE1AD}"/>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再接触</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6" name="Text 94">
            <a:extLst>
              <a:ext uri="{FF2B5EF4-FFF2-40B4-BE49-F238E27FC236}">
                <a16:creationId xmlns:a16="http://schemas.microsoft.com/office/drawing/2014/main" id="{2B080416-8CAA-F775-2812-CDE294817703}"/>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長期離脱</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層</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へコンテンツ型ギフトで関係再構築</a:t>
            </a:r>
            <a:endParaRPr lang="en-US" altLang="ja-JP" sz="1100" dirty="0">
              <a:latin typeface="メイリオ" panose="020B0604030504040204" pitchFamily="50" charset="-128"/>
              <a:ea typeface="メイリオ" panose="020B0604030504040204" pitchFamily="50" charset="-128"/>
            </a:endParaRPr>
          </a:p>
        </p:txBody>
      </p:sp>
      <p:sp>
        <p:nvSpPr>
          <p:cNvPr id="318" name="Text 95">
            <a:extLst>
              <a:ext uri="{FF2B5EF4-FFF2-40B4-BE49-F238E27FC236}">
                <a16:creationId xmlns:a16="http://schemas.microsoft.com/office/drawing/2014/main" id="{56FA365B-5BDE-ED2F-4006-8ED9F6DCA2CB}"/>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6ヶ月以上アクションなしのユーザーに「ご無沙汰しています。最近こんな情報があります」という業界ニュース・役立つコンテンツ型で再接触。最初の2〜3回は純粋にギフトとして届け、関係を再構築してからCV訴求する。</a:t>
            </a:r>
            <a:endParaRPr lang="en-US" altLang="ja-JP" sz="850" dirty="0">
              <a:latin typeface="メイリオ" panose="020B0604030504040204" pitchFamily="50" charset="-128"/>
              <a:ea typeface="メイリオ" panose="020B0604030504040204" pitchFamily="50" charset="-128"/>
            </a:endParaRPr>
          </a:p>
        </p:txBody>
      </p:sp>
      <p:sp>
        <p:nvSpPr>
          <p:cNvPr id="320" name="Shape 96">
            <a:extLst>
              <a:ext uri="{FF2B5EF4-FFF2-40B4-BE49-F238E27FC236}">
                <a16:creationId xmlns:a16="http://schemas.microsoft.com/office/drawing/2014/main" id="{1E05EEB3-91EB-E94B-2D69-D35527B446BF}"/>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2" name="Shape 97">
            <a:extLst>
              <a:ext uri="{FF2B5EF4-FFF2-40B4-BE49-F238E27FC236}">
                <a16:creationId xmlns:a16="http://schemas.microsoft.com/office/drawing/2014/main" id="{BA904CD8-501F-A1E3-D3ED-D2CCD783E4DC}"/>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4" name="Text 98">
            <a:extLst>
              <a:ext uri="{FF2B5EF4-FFF2-40B4-BE49-F238E27FC236}">
                <a16:creationId xmlns:a16="http://schemas.microsoft.com/office/drawing/2014/main" id="{35DBBF69-D787-B899-0A91-599E4F6F88FD}"/>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26" name="Text 99">
            <a:extLst>
              <a:ext uri="{FF2B5EF4-FFF2-40B4-BE49-F238E27FC236}">
                <a16:creationId xmlns:a16="http://schemas.microsoft.com/office/drawing/2014/main" id="{571F5D58-D9F5-DDDB-BBA8-754874B6BA6A}"/>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役立つ情報のみ</a:t>
            </a:r>
            <a:endParaRPr lang="en-US" altLang="ja-JP" sz="850" dirty="0">
              <a:latin typeface="メイリオ" panose="020B0604030504040204" pitchFamily="50" charset="-128"/>
              <a:ea typeface="メイリオ" panose="020B0604030504040204" pitchFamily="50" charset="-128"/>
            </a:endParaRPr>
          </a:p>
        </p:txBody>
      </p:sp>
      <p:sp>
        <p:nvSpPr>
          <p:cNvPr id="328" name="Text 100">
            <a:extLst>
              <a:ext uri="{FF2B5EF4-FFF2-40B4-BE49-F238E27FC236}">
                <a16:creationId xmlns:a16="http://schemas.microsoft.com/office/drawing/2014/main" id="{ED413E21-4A95-D38C-61A6-621C9118C6E5}"/>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売り込みゼロ×2〜3回</a:t>
            </a:r>
            <a:endParaRPr lang="en-US" altLang="ja-JP" sz="750" dirty="0">
              <a:latin typeface="メイリオ" panose="020B0604030504040204" pitchFamily="50" charset="-128"/>
              <a:ea typeface="メイリオ" panose="020B0604030504040204" pitchFamily="50" charset="-128"/>
            </a:endParaRPr>
          </a:p>
        </p:txBody>
      </p:sp>
      <p:sp>
        <p:nvSpPr>
          <p:cNvPr id="330" name="Text 101">
            <a:extLst>
              <a:ext uri="{FF2B5EF4-FFF2-40B4-BE49-F238E27FC236}">
                <a16:creationId xmlns:a16="http://schemas.microsoft.com/office/drawing/2014/main" id="{CCFB2388-34C1-5BB1-7989-946A3B745B6A}"/>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2" name="Shape 102">
            <a:extLst>
              <a:ext uri="{FF2B5EF4-FFF2-40B4-BE49-F238E27FC236}">
                <a16:creationId xmlns:a16="http://schemas.microsoft.com/office/drawing/2014/main" id="{F8446415-1501-E693-C4B3-EB8C32C67E45}"/>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4" name="Shape 103">
            <a:extLst>
              <a:ext uri="{FF2B5EF4-FFF2-40B4-BE49-F238E27FC236}">
                <a16:creationId xmlns:a16="http://schemas.microsoft.com/office/drawing/2014/main" id="{A98E62F3-DFAB-3380-0063-854CD3B54274}"/>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6" name="Text 104">
            <a:extLst>
              <a:ext uri="{FF2B5EF4-FFF2-40B4-BE49-F238E27FC236}">
                <a16:creationId xmlns:a16="http://schemas.microsoft.com/office/drawing/2014/main" id="{415DB8B7-F668-AC7A-CE33-494F03854BD4}"/>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8" name="Text 105">
            <a:extLst>
              <a:ext uri="{FF2B5EF4-FFF2-40B4-BE49-F238E27FC236}">
                <a16:creationId xmlns:a16="http://schemas.microsoft.com/office/drawing/2014/main" id="{FA1DC66E-AF0D-0985-0802-20D85E926CA0}"/>
              </a:ext>
            </a:extLst>
          </p:cNvPr>
          <p:cNvSpPr/>
          <p:nvPr/>
        </p:nvSpPr>
        <p:spPr>
          <a:xfrm>
            <a:off x="6873303"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関係再構築完了</a:t>
            </a:r>
            <a:endParaRPr lang="en-US" altLang="ja-JP" sz="850" dirty="0">
              <a:latin typeface="メイリオ" panose="020B0604030504040204" pitchFamily="50" charset="-128"/>
              <a:ea typeface="メイリオ" panose="020B0604030504040204" pitchFamily="50" charset="-128"/>
            </a:endParaRPr>
          </a:p>
        </p:txBody>
      </p:sp>
      <p:sp>
        <p:nvSpPr>
          <p:cNvPr id="340" name="Text 106">
            <a:extLst>
              <a:ext uri="{FF2B5EF4-FFF2-40B4-BE49-F238E27FC236}">
                <a16:creationId xmlns:a16="http://schemas.microsoft.com/office/drawing/2014/main" id="{4D8603BB-BC34-BD19-18F7-38CF49867740}"/>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ブロック率を抑制</a:t>
            </a:r>
            <a:endParaRPr lang="en-US" altLang="ja-JP" sz="750" dirty="0">
              <a:latin typeface="メイリオ" panose="020B0604030504040204" pitchFamily="50" charset="-128"/>
              <a:ea typeface="メイリオ" panose="020B0604030504040204" pitchFamily="50" charset="-128"/>
            </a:endParaRPr>
          </a:p>
        </p:txBody>
      </p:sp>
      <p:sp>
        <p:nvSpPr>
          <p:cNvPr id="342" name="Text 107">
            <a:extLst>
              <a:ext uri="{FF2B5EF4-FFF2-40B4-BE49-F238E27FC236}">
                <a16:creationId xmlns:a16="http://schemas.microsoft.com/office/drawing/2014/main" id="{588E7835-072B-748B-58F3-CA6AFC64CEFD}"/>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4" name="Shape 108">
            <a:extLst>
              <a:ext uri="{FF2B5EF4-FFF2-40B4-BE49-F238E27FC236}">
                <a16:creationId xmlns:a16="http://schemas.microsoft.com/office/drawing/2014/main" id="{4F170C42-630C-8D4B-FBB8-27015876762A}"/>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6" name="Shape 109">
            <a:extLst>
              <a:ext uri="{FF2B5EF4-FFF2-40B4-BE49-F238E27FC236}">
                <a16:creationId xmlns:a16="http://schemas.microsoft.com/office/drawing/2014/main" id="{4949CD92-D7C3-604E-24C2-5DF64D165947}"/>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8" name="Text 110">
            <a:extLst>
              <a:ext uri="{FF2B5EF4-FFF2-40B4-BE49-F238E27FC236}">
                <a16:creationId xmlns:a16="http://schemas.microsoft.com/office/drawing/2014/main" id="{89D2F0E4-B8EC-3B98-9281-44E80C6C2F05}"/>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50" name="Text 111">
            <a:extLst>
              <a:ext uri="{FF2B5EF4-FFF2-40B4-BE49-F238E27FC236}">
                <a16:creationId xmlns:a16="http://schemas.microsoft.com/office/drawing/2014/main" id="{86FADA7D-7380-B2D4-BB29-67FA3FF02D03}"/>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自然な形でCV訴求</a:t>
            </a:r>
            <a:endParaRPr lang="en-US" altLang="ja-JP" sz="850" dirty="0">
              <a:latin typeface="メイリオ" panose="020B0604030504040204" pitchFamily="50" charset="-128"/>
              <a:ea typeface="メイリオ" panose="020B0604030504040204" pitchFamily="50" charset="-128"/>
            </a:endParaRPr>
          </a:p>
        </p:txBody>
      </p:sp>
      <p:sp>
        <p:nvSpPr>
          <p:cNvPr id="352" name="Text 112">
            <a:extLst>
              <a:ext uri="{FF2B5EF4-FFF2-40B4-BE49-F238E27FC236}">
                <a16:creationId xmlns:a16="http://schemas.microsoft.com/office/drawing/2014/main" id="{281ABCCF-C22A-E77A-4B67-210FD1F78104}"/>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再購入率10%</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前後</a:t>
            </a:r>
            <a:endParaRPr lang="en-US" altLang="ja-JP" sz="750" dirty="0">
              <a:latin typeface="メイリオ" panose="020B0604030504040204" pitchFamily="50" charset="-128"/>
              <a:ea typeface="メイリオ" panose="020B0604030504040204" pitchFamily="50" charset="-128"/>
            </a:endParaRPr>
          </a:p>
        </p:txBody>
      </p:sp>
      <p:sp>
        <p:nvSpPr>
          <p:cNvPr id="354" name="Shape 113">
            <a:extLst>
              <a:ext uri="{FF2B5EF4-FFF2-40B4-BE49-F238E27FC236}">
                <a16:creationId xmlns:a16="http://schemas.microsoft.com/office/drawing/2014/main" id="{971278A0-D337-07E8-607D-BF93BE0DD844}"/>
              </a:ext>
            </a:extLst>
          </p:cNvPr>
          <p:cNvSpPr/>
          <p:nvPr/>
        </p:nvSpPr>
        <p:spPr>
          <a:xfrm>
            <a:off x="5099366" y="4842285"/>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6" name="Shape 117">
            <a:extLst>
              <a:ext uri="{FF2B5EF4-FFF2-40B4-BE49-F238E27FC236}">
                <a16:creationId xmlns:a16="http://schemas.microsoft.com/office/drawing/2014/main" id="{F47773F9-0CEF-F0E1-89AB-B3B4EFC203DB}"/>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8" name="Text 118">
            <a:extLst>
              <a:ext uri="{FF2B5EF4-FFF2-40B4-BE49-F238E27FC236}">
                <a16:creationId xmlns:a16="http://schemas.microsoft.com/office/drawing/2014/main" id="{5E262051-72BB-2E2F-38AC-EAC107F4BF2D}"/>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フロー案内</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0" name="Text 119">
            <a:extLst>
              <a:ext uri="{FF2B5EF4-FFF2-40B4-BE49-F238E27FC236}">
                <a16:creationId xmlns:a16="http://schemas.microsoft.com/office/drawing/2014/main" id="{E3B15F81-AADD-9921-7172-C1CD99BDF110}"/>
              </a:ext>
            </a:extLst>
          </p:cNvPr>
          <p:cNvSpPr/>
          <p:nvPr/>
        </p:nvSpPr>
        <p:spPr>
          <a:xfrm>
            <a:off x="6379526" y="4924581"/>
            <a:ext cx="3480635"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誕生日記念日タグ </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パーソナライズ配信で</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LTV</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向上</a:t>
            </a:r>
          </a:p>
        </p:txBody>
      </p:sp>
      <p:sp>
        <p:nvSpPr>
          <p:cNvPr id="362" name="Text 120">
            <a:extLst>
              <a:ext uri="{FF2B5EF4-FFF2-40B4-BE49-F238E27FC236}">
                <a16:creationId xmlns:a16="http://schemas.microsoft.com/office/drawing/2014/main" id="{5D40B60F-5F09-DB2E-8DFF-C187AC234EEE}"/>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誕生日・入会記念日を記念日タグとして登録し</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様、今日はご誕生日おめでとうございます。特別クーポンをお贈りします」を自動配信</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。「自分のことを覚えてくれている」体験がロイヤリティを高め年間LTVを平均20%向上。</a:t>
            </a:r>
            <a:endParaRPr lang="en-US" altLang="ja-JP" sz="850" dirty="0">
              <a:latin typeface="メイリオ" panose="020B0604030504040204" pitchFamily="50" charset="-128"/>
              <a:ea typeface="メイリオ" panose="020B0604030504040204" pitchFamily="50" charset="-128"/>
            </a:endParaRPr>
          </a:p>
        </p:txBody>
      </p:sp>
      <p:sp>
        <p:nvSpPr>
          <p:cNvPr id="364" name="Shape 121">
            <a:extLst>
              <a:ext uri="{FF2B5EF4-FFF2-40B4-BE49-F238E27FC236}">
                <a16:creationId xmlns:a16="http://schemas.microsoft.com/office/drawing/2014/main" id="{6D87E532-2B58-F1E3-5364-68322B8546E8}"/>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6" name="Shape 122">
            <a:extLst>
              <a:ext uri="{FF2B5EF4-FFF2-40B4-BE49-F238E27FC236}">
                <a16:creationId xmlns:a16="http://schemas.microsoft.com/office/drawing/2014/main" id="{D091E1D9-CAC7-E7FA-4AE7-10C04B5FA5B7}"/>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8" name="Text 123">
            <a:extLst>
              <a:ext uri="{FF2B5EF4-FFF2-40B4-BE49-F238E27FC236}">
                <a16:creationId xmlns:a16="http://schemas.microsoft.com/office/drawing/2014/main" id="{91206034-9E2C-FBA8-B2C3-24856EE4B44C}"/>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0" name="Text 124">
            <a:extLst>
              <a:ext uri="{FF2B5EF4-FFF2-40B4-BE49-F238E27FC236}">
                <a16:creationId xmlns:a16="http://schemas.microsoft.com/office/drawing/2014/main" id="{96A70C8C-D3D2-8BAD-7C6C-DDACC0B79B34}"/>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記念日タグを設定</a:t>
            </a:r>
            <a:endParaRPr lang="en-US" altLang="ja-JP" sz="850" dirty="0">
              <a:latin typeface="メイリオ" panose="020B0604030504040204" pitchFamily="50" charset="-128"/>
              <a:ea typeface="メイリオ" panose="020B0604030504040204" pitchFamily="50" charset="-128"/>
            </a:endParaRPr>
          </a:p>
        </p:txBody>
      </p:sp>
      <p:sp>
        <p:nvSpPr>
          <p:cNvPr id="372" name="Text 125">
            <a:extLst>
              <a:ext uri="{FF2B5EF4-FFF2-40B4-BE49-F238E27FC236}">
                <a16:creationId xmlns:a16="http://schemas.microsoft.com/office/drawing/2014/main" id="{C7DCCB91-2446-504F-DB21-38DC9E40A99E}"/>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誕生日・入会日等</a:t>
            </a:r>
            <a:endParaRPr lang="en-US" altLang="ja-JP" sz="750" dirty="0">
              <a:latin typeface="メイリオ" panose="020B0604030504040204" pitchFamily="50" charset="-128"/>
              <a:ea typeface="メイリオ" panose="020B0604030504040204" pitchFamily="50" charset="-128"/>
            </a:endParaRPr>
          </a:p>
        </p:txBody>
      </p:sp>
      <p:sp>
        <p:nvSpPr>
          <p:cNvPr id="374" name="Text 126">
            <a:extLst>
              <a:ext uri="{FF2B5EF4-FFF2-40B4-BE49-F238E27FC236}">
                <a16:creationId xmlns:a16="http://schemas.microsoft.com/office/drawing/2014/main" id="{1F4F8BB1-7C46-CFAC-4A82-3A92CFDC15EE}"/>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6" name="Shape 127">
            <a:extLst>
              <a:ext uri="{FF2B5EF4-FFF2-40B4-BE49-F238E27FC236}">
                <a16:creationId xmlns:a16="http://schemas.microsoft.com/office/drawing/2014/main" id="{2D872CE0-C558-B33C-59A0-3B8B41F4DCBB}"/>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8" name="Shape 128">
            <a:extLst>
              <a:ext uri="{FF2B5EF4-FFF2-40B4-BE49-F238E27FC236}">
                <a16:creationId xmlns:a16="http://schemas.microsoft.com/office/drawing/2014/main" id="{356DDE33-7381-CEF0-7015-298C11EB34FA}"/>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0" name="Text 129">
            <a:extLst>
              <a:ext uri="{FF2B5EF4-FFF2-40B4-BE49-F238E27FC236}">
                <a16:creationId xmlns:a16="http://schemas.microsoft.com/office/drawing/2014/main" id="{EE6BBEAB-1160-1953-0E09-D30313ED9406}"/>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2" name="Text 130">
            <a:extLst>
              <a:ext uri="{FF2B5EF4-FFF2-40B4-BE49-F238E27FC236}">
                <a16:creationId xmlns:a16="http://schemas.microsoft.com/office/drawing/2014/main" id="{F035AA22-D856-8317-F313-F0B2385E993B}"/>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特別オファ</a:t>
            </a:r>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ー</a:t>
            </a:r>
            <a:r>
              <a:rPr lang="ja-JP" altLang="en-US" sz="850" b="1" dirty="0">
                <a:solidFill>
                  <a:srgbClr val="1A1A2E"/>
                </a:solidFill>
                <a:latin typeface="メイリオ" panose="020B0604030504040204" pitchFamily="50" charset="-128"/>
                <a:ea typeface="メイリオ" panose="020B0604030504040204" pitchFamily="50" charset="-128"/>
                <a:cs typeface="Calibri" pitchFamily="34" charset="-120"/>
              </a:rPr>
              <a:t>配信</a:t>
            </a:r>
            <a:endParaRPr lang="en-US" altLang="ja-JP" sz="850" dirty="0">
              <a:latin typeface="メイリオ" panose="020B0604030504040204" pitchFamily="50" charset="-128"/>
              <a:ea typeface="メイリオ" panose="020B0604030504040204" pitchFamily="50" charset="-128"/>
            </a:endParaRPr>
          </a:p>
        </p:txBody>
      </p:sp>
      <p:sp>
        <p:nvSpPr>
          <p:cNvPr id="384" name="Text 131">
            <a:extLst>
              <a:ext uri="{FF2B5EF4-FFF2-40B4-BE49-F238E27FC236}">
                <a16:creationId xmlns:a16="http://schemas.microsoft.com/office/drawing/2014/main" id="{5E7101A0-55A9-D99A-CD95-05335CAC2992}"/>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完全自動・スタッフゼロ</a:t>
            </a:r>
            <a:endParaRPr lang="en-US" altLang="ja-JP" sz="750" dirty="0">
              <a:latin typeface="メイリオ" panose="020B0604030504040204" pitchFamily="50" charset="-128"/>
              <a:ea typeface="メイリオ" panose="020B0604030504040204" pitchFamily="50" charset="-128"/>
            </a:endParaRPr>
          </a:p>
        </p:txBody>
      </p:sp>
      <p:sp>
        <p:nvSpPr>
          <p:cNvPr id="386" name="Text 132">
            <a:extLst>
              <a:ext uri="{FF2B5EF4-FFF2-40B4-BE49-F238E27FC236}">
                <a16:creationId xmlns:a16="http://schemas.microsoft.com/office/drawing/2014/main" id="{EB31AD4D-43BF-8F45-39CD-B0337D31809F}"/>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8" name="Shape 133">
            <a:extLst>
              <a:ext uri="{FF2B5EF4-FFF2-40B4-BE49-F238E27FC236}">
                <a16:creationId xmlns:a16="http://schemas.microsoft.com/office/drawing/2014/main" id="{9D865312-D619-1BB5-483D-A496A7C19C36}"/>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0" name="Shape 134">
            <a:extLst>
              <a:ext uri="{FF2B5EF4-FFF2-40B4-BE49-F238E27FC236}">
                <a16:creationId xmlns:a16="http://schemas.microsoft.com/office/drawing/2014/main" id="{A6902040-0093-C584-7CD4-3A8474835775}"/>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2" name="Text 135">
            <a:extLst>
              <a:ext uri="{FF2B5EF4-FFF2-40B4-BE49-F238E27FC236}">
                <a16:creationId xmlns:a16="http://schemas.microsoft.com/office/drawing/2014/main" id="{FB44CA82-5B08-B387-57C3-88F14FCA18B7}"/>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4" name="Text 136">
            <a:extLst>
              <a:ext uri="{FF2B5EF4-FFF2-40B4-BE49-F238E27FC236}">
                <a16:creationId xmlns:a16="http://schemas.microsoft.com/office/drawing/2014/main" id="{85A4EC17-97B2-BCD7-FCE3-303E8114491D}"/>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満足度向上</a:t>
            </a:r>
            <a:endParaRPr lang="en-US" altLang="ja-JP" sz="850" dirty="0">
              <a:latin typeface="メイリオ" panose="020B0604030504040204" pitchFamily="50" charset="-128"/>
              <a:ea typeface="メイリオ" panose="020B0604030504040204" pitchFamily="50" charset="-128"/>
            </a:endParaRPr>
          </a:p>
        </p:txBody>
      </p:sp>
      <p:sp>
        <p:nvSpPr>
          <p:cNvPr id="396" name="Text 137">
            <a:extLst>
              <a:ext uri="{FF2B5EF4-FFF2-40B4-BE49-F238E27FC236}">
                <a16:creationId xmlns:a16="http://schemas.microsoft.com/office/drawing/2014/main" id="{F48F4888-D926-9901-DE92-103FA2FF00EB}"/>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紹介・口コミ促進</a:t>
            </a:r>
            <a:endParaRPr lang="en-US" altLang="ja-JP" sz="750" dirty="0">
              <a:latin typeface="メイリオ" panose="020B0604030504040204" pitchFamily="50" charset="-128"/>
              <a:ea typeface="メイリオ" panose="020B0604030504040204" pitchFamily="50" charset="-128"/>
            </a:endParaRPr>
          </a:p>
        </p:txBody>
      </p:sp>
      <p:sp>
        <p:nvSpPr>
          <p:cNvPr id="398" name="Shape 36">
            <a:extLst>
              <a:ext uri="{FF2B5EF4-FFF2-40B4-BE49-F238E27FC236}">
                <a16:creationId xmlns:a16="http://schemas.microsoft.com/office/drawing/2014/main" id="{0734E444-168A-89C6-D964-38759E540BCB}"/>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0" name="Shape 36">
            <a:extLst>
              <a:ext uri="{FF2B5EF4-FFF2-40B4-BE49-F238E27FC236}">
                <a16:creationId xmlns:a16="http://schemas.microsoft.com/office/drawing/2014/main" id="{B45D359F-4CA9-C051-F58B-E1296B6FBFE4}"/>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2" name="Shape 36">
            <a:extLst>
              <a:ext uri="{FF2B5EF4-FFF2-40B4-BE49-F238E27FC236}">
                <a16:creationId xmlns:a16="http://schemas.microsoft.com/office/drawing/2014/main" id="{8EA02CFD-BE47-AC79-7F8B-5F9B8FB2B494}"/>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997255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1988098" y="3038203"/>
            <a:ext cx="59298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施策の詳細（新規友だち獲得）</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離脱防止バナー</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398393"/>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Meiryo"/>
                <a:ea typeface="Meiryo"/>
                <a:cs typeface="Meiryo"/>
                <a:sym typeface="Meiryo"/>
              </a:rPr>
              <a:t>準顕在（獲得見込みが高い）層の</a:t>
            </a:r>
            <a:r>
              <a:rPr lang="ja-JP" altLang="en-US" sz="1600" b="1" dirty="0">
                <a:latin typeface="Meiryo"/>
                <a:ea typeface="Meiryo"/>
                <a:cs typeface="Meiryo"/>
                <a:sym typeface="Meiryo"/>
              </a:rPr>
              <a:t>独自獲得手法が豊富</a:t>
            </a:r>
            <a:r>
              <a:rPr lang="ja-JP" altLang="en-US" sz="1600" dirty="0">
                <a:latin typeface="Meiryo"/>
                <a:ea typeface="Meiryo"/>
                <a:cs typeface="Meiryo"/>
                <a:sym typeface="Meiryo"/>
              </a:rPr>
              <a:t>で尚且つ</a:t>
            </a:r>
            <a:r>
              <a:rPr lang="ja-JP" altLang="en-US" sz="1600" b="1" dirty="0">
                <a:latin typeface="Meiryo"/>
                <a:ea typeface="Meiryo"/>
                <a:cs typeface="Meiryo"/>
                <a:sym typeface="Meiryo"/>
              </a:rPr>
              <a:t>利用までナーチャリング</a:t>
            </a:r>
            <a:endParaRPr lang="en-US" altLang="ja-JP" sz="1600" dirty="0">
              <a:latin typeface="Meiryo"/>
              <a:ea typeface="Meiryo"/>
              <a:cs typeface="Meiryo"/>
              <a:sym typeface="Meiryo"/>
            </a:endParaRPr>
          </a:p>
        </p:txBody>
      </p:sp>
    </p:spTree>
    <p:extLst>
      <p:ext uri="{BB962C8B-B14F-4D97-AF65-F5344CB8AC3E}">
        <p14:creationId xmlns:p14="http://schemas.microsoft.com/office/powerpoint/2010/main" val="30001345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やまや（</a:t>
            </a:r>
            <a:r>
              <a:rPr kumimoji="1" lang="en-US" altLang="ja-JP" sz="1100" dirty="0">
                <a:solidFill>
                  <a:schemeClr val="tx1"/>
                </a:solidFill>
                <a:latin typeface="メイリオ" panose="020B0604030504040204" pitchFamily="50" charset="-128"/>
                <a:ea typeface="メイリオ" panose="020B0604030504040204" pitchFamily="50" charset="-128"/>
              </a:rPr>
              <a:t>EC</a:t>
            </a: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Meiryo"/>
                <a:ea typeface="Meiryo"/>
                <a:cs typeface="Meiryo"/>
                <a:sym typeface="Meiryo"/>
              </a:rPr>
              <a:t>利用可能なシーン一例</a:t>
            </a:r>
            <a:endParaRPr sz="900" i="0" u="none" strike="noStrike" cap="none" dirty="0">
              <a:solidFill>
                <a:srgbClr val="FFFF00"/>
              </a:solidFill>
              <a:latin typeface="Meiryo"/>
              <a:ea typeface="Meiryo"/>
              <a:cs typeface="Meiryo"/>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506C2-B2E5-BEA0-384E-7336F080BD96}"/>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誘導）</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404798" y="1938056"/>
            <a:ext cx="1859036"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rPr>
              <a:t>WEB</a:t>
            </a: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サイト</a:t>
            </a:r>
          </a:p>
        </p:txBody>
      </p:sp>
      <p:sp>
        <p:nvSpPr>
          <p:cNvPr id="16" name="正方形/長方形 15">
            <a:extLst>
              <a:ext uri="{FF2B5EF4-FFF2-40B4-BE49-F238E27FC236}">
                <a16:creationId xmlns:a16="http://schemas.microsoft.com/office/drawing/2014/main" id="{32BBF438-B1EF-A61A-EE3D-69CD39766C7E}"/>
              </a:ext>
            </a:extLst>
          </p:cNvPr>
          <p:cNvSpPr/>
          <p:nvPr/>
        </p:nvSpPr>
        <p:spPr>
          <a:xfrm>
            <a:off x="5808682" y="241574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1A1E4128-77DC-C871-EE20-5BD43326E078}"/>
              </a:ext>
            </a:extLst>
          </p:cNvPr>
          <p:cNvSpPr/>
          <p:nvPr/>
        </p:nvSpPr>
        <p:spPr>
          <a:xfrm>
            <a:off x="5808681" y="458896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F37BB268-660A-FEE4-BB39-0E338F1DDC23}"/>
              </a:ext>
            </a:extLst>
          </p:cNvPr>
          <p:cNvSpPr/>
          <p:nvPr/>
        </p:nvSpPr>
        <p:spPr>
          <a:xfrm>
            <a:off x="5974632" y="23047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非</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5974632" y="44668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既存の</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cxnSp>
        <p:nvCxnSpPr>
          <p:cNvPr id="23" name="直線矢印コネクタ 22">
            <a:extLst>
              <a:ext uri="{FF2B5EF4-FFF2-40B4-BE49-F238E27FC236}">
                <a16:creationId xmlns:a16="http://schemas.microsoft.com/office/drawing/2014/main" id="{8F202453-7FF9-8AE7-D10D-66F74A74A2F4}"/>
              </a:ext>
            </a:extLst>
          </p:cNvPr>
          <p:cNvCxnSpPr/>
          <p:nvPr/>
        </p:nvCxnSpPr>
        <p:spPr>
          <a:xfrm>
            <a:off x="4361857" y="3239708"/>
            <a:ext cx="1407469" cy="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4361857" y="3392108"/>
            <a:ext cx="1407469" cy="135838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4867227" y="2304788"/>
            <a:ext cx="374449" cy="3205847"/>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a:t>
            </a:r>
            <a:r>
              <a:rPr lang="en-US" altLang="ja-JP" sz="1100" b="1" dirty="0">
                <a:solidFill>
                  <a:schemeClr val="tx1"/>
                </a:solidFill>
                <a:latin typeface="メイリオ" panose="020B0604030504040204" pitchFamily="50" charset="-128"/>
                <a:ea typeface="メイリオ" panose="020B0604030504040204" pitchFamily="50" charset="-128"/>
              </a:rPr>
              <a:t>D</a:t>
            </a: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Y</a:t>
            </a:r>
          </a:p>
          <a:p>
            <a:pPr algn="ctr"/>
            <a:r>
              <a:rPr lang="en-US" altLang="ja-JP" sz="1100" b="1" dirty="0">
                <a:solidFill>
                  <a:schemeClr val="tx1"/>
                </a:solidFill>
                <a:latin typeface="メイリオ" panose="020B0604030504040204" pitchFamily="50" charset="-128"/>
                <a:ea typeface="メイリオ" panose="020B0604030504040204" pitchFamily="50" charset="-128"/>
              </a:rPr>
              <a:t>M</a:t>
            </a:r>
            <a:r>
              <a:rPr lang="ja-JP" altLang="en-US" sz="1100" b="1" dirty="0">
                <a:solidFill>
                  <a:schemeClr val="tx1"/>
                </a:solidFill>
                <a:latin typeface="メイリオ" panose="020B0604030504040204" pitchFamily="50" charset="-128"/>
                <a:ea typeface="メイリオ" panose="020B0604030504040204" pitchFamily="50" charset="-128"/>
              </a:rPr>
              <a:t>ツ</a:t>
            </a:r>
            <a:endParaRPr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｜ルで</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L</a:t>
            </a:r>
            <a:br>
              <a:rPr kumimoji="1" lang="en-US" altLang="ja-JP" sz="1100" b="1" dirty="0">
                <a:solidFill>
                  <a:schemeClr val="tx1"/>
                </a:solidFill>
                <a:latin typeface="メイリオ" panose="020B0604030504040204" pitchFamily="50" charset="-128"/>
                <a:ea typeface="メイリオ" panose="020B0604030504040204" pitchFamily="50" charset="-128"/>
              </a:rPr>
            </a:br>
            <a:r>
              <a:rPr kumimoji="1" lang="en-US" altLang="ja-JP" sz="1100" b="1" dirty="0">
                <a:solidFill>
                  <a:schemeClr val="tx1"/>
                </a:solidFill>
                <a:latin typeface="メイリオ" panose="020B0604030504040204" pitchFamily="50" charset="-128"/>
                <a:ea typeface="メイリオ" panose="020B0604030504040204" pitchFamily="50" charset="-128"/>
              </a:rPr>
              <a:t>I</a:t>
            </a:r>
          </a:p>
          <a:p>
            <a:pPr algn="ctr"/>
            <a:r>
              <a:rPr lang="en-US" altLang="ja-JP" sz="1100" b="1" dirty="0">
                <a:solidFill>
                  <a:schemeClr val="tx1"/>
                </a:solidFill>
                <a:latin typeface="メイリオ" panose="020B0604030504040204" pitchFamily="50" charset="-128"/>
                <a:ea typeface="メイリオ" panose="020B0604030504040204" pitchFamily="50" charset="-128"/>
              </a:rPr>
              <a:t>N</a:t>
            </a:r>
            <a:br>
              <a:rPr lang="en-US" altLang="ja-JP" sz="1100" b="1" dirty="0">
                <a:solidFill>
                  <a:schemeClr val="tx1"/>
                </a:solidFill>
                <a:latin typeface="メイリオ" panose="020B0604030504040204" pitchFamily="50" charset="-128"/>
                <a:ea typeface="メイリオ" panose="020B0604030504040204" pitchFamily="50" charset="-128"/>
              </a:rPr>
            </a:br>
            <a:r>
              <a:rPr lang="en-US" altLang="ja-JP" sz="1100" b="1" dirty="0">
                <a:solidFill>
                  <a:schemeClr val="tx1"/>
                </a:solidFill>
                <a:latin typeface="メイリオ" panose="020B0604030504040204" pitchFamily="50" charset="-128"/>
                <a:ea typeface="メイリオ" panose="020B0604030504040204" pitchFamily="50" charset="-128"/>
              </a:rPr>
              <a:t>E</a:t>
            </a: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動線</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lang="ja-JP" altLang="en-US" sz="1100" b="1" dirty="0">
                <a:solidFill>
                  <a:schemeClr val="tx1"/>
                </a:solidFill>
                <a:latin typeface="メイリオ" panose="020B0604030504040204" pitchFamily="50" charset="-128"/>
                <a:ea typeface="メイリオ" panose="020B0604030504040204" pitchFamily="50" charset="-128"/>
              </a:rPr>
              <a:t>に</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a:t>
            </a:r>
          </a:p>
        </p:txBody>
      </p: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999618" y="2128994"/>
            <a:ext cx="1231081" cy="2085097"/>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999618" y="4325046"/>
            <a:ext cx="1231081" cy="2085098"/>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5974631" y="2701376"/>
            <a:ext cx="1859035" cy="430887"/>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友だち</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登録ページ</a:t>
            </a:r>
            <a:r>
              <a:rPr lang="ja-JP" altLang="en-US" sz="1100" dirty="0">
                <a:latin typeface="メイリオ" panose="020B0604030504040204" pitchFamily="50" charset="-128"/>
                <a:ea typeface="メイリオ" panose="020B0604030504040204" pitchFamily="50" charset="-128"/>
              </a:rPr>
              <a:t>へ遷移する。</a:t>
            </a:r>
            <a:endParaRPr kumimoji="1" lang="ja-JP" altLang="en-US" sz="1100" dirty="0">
              <a:latin typeface="メイリオ" panose="020B0604030504040204" pitchFamily="50" charset="-128"/>
              <a:ea typeface="メイリオ" panose="020B0604030504040204" pitchFamily="50" charset="-128"/>
            </a:endParaRP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5971905" y="4914274"/>
            <a:ext cx="1859035" cy="1384995"/>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トーク</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画面</a:t>
            </a:r>
            <a:r>
              <a:rPr lang="ja-JP" altLang="en-US" sz="1100" dirty="0">
                <a:latin typeface="メイリオ" panose="020B0604030504040204" pitchFamily="50" charset="-128"/>
                <a:ea typeface="メイリオ" panose="020B0604030504040204" pitchFamily="50" charset="-128"/>
              </a:rPr>
              <a:t>へ遷移する。</a:t>
            </a:r>
            <a:endParaRPr lang="en-US" altLang="ja-JP" sz="1100" dirty="0">
              <a:latin typeface="メイリオ" panose="020B0604030504040204" pitchFamily="50" charset="-128"/>
              <a:ea typeface="メイリオ" panose="020B0604030504040204" pitchFamily="50" charset="-128"/>
            </a:endParaRPr>
          </a:p>
          <a:p>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設定によりフォーム入力</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000" dirty="0">
                <a:solidFill>
                  <a:srgbClr val="FF0000"/>
                </a:solidFill>
                <a:latin typeface="メイリオ" panose="020B0604030504040204" pitchFamily="50" charset="-128"/>
                <a:ea typeface="メイリオ" panose="020B0604030504040204" pitchFamily="50" charset="-128"/>
              </a:rPr>
              <a:t>　内容を踏襲した入力画面</a:t>
            </a:r>
            <a:endParaRPr lang="en-US" altLang="ja-JP" sz="1000" dirty="0">
              <a:solidFill>
                <a:srgbClr val="FF0000"/>
              </a:solidFill>
              <a:latin typeface="メイリオ" panose="020B0604030504040204" pitchFamily="50" charset="-128"/>
              <a:ea typeface="メイリオ" panose="020B0604030504040204" pitchFamily="50" charset="-128"/>
            </a:endParaRPr>
          </a:p>
          <a:p>
            <a:r>
              <a:rPr kumimoji="1" lang="ja-JP" altLang="en-US" sz="1000" dirty="0">
                <a:solidFill>
                  <a:srgbClr val="FF0000"/>
                </a:solidFill>
                <a:latin typeface="メイリオ" panose="020B0604030504040204" pitchFamily="50" charset="-128"/>
                <a:ea typeface="メイリオ" panose="020B0604030504040204" pitchFamily="50" charset="-128"/>
              </a:rPr>
              <a:t>　を表示させることが可能。</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endParaRPr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a:p>
            <a:r>
              <a:rPr kumimoji="1" lang="ja-JP" altLang="en-US" sz="1100" b="1" dirty="0">
                <a:latin typeface="メイリオ" panose="020B0604030504040204" pitchFamily="50" charset="-128"/>
                <a:ea typeface="メイリオ" panose="020B0604030504040204" pitchFamily="50" charset="-128"/>
              </a:rPr>
              <a:t>配信セグメントに利用可</a:t>
            </a:r>
            <a:endParaRPr kumimoji="1" lang="ja-JP" altLang="en-US" sz="1100" dirty="0">
              <a:latin typeface="メイリオ" panose="020B0604030504040204" pitchFamily="50" charset="-128"/>
              <a:ea typeface="メイリオ" panose="020B0604030504040204" pitchFamily="50" charset="-128"/>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8048301" y="3085325"/>
            <a:ext cx="1133712" cy="110223"/>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8378027" y="3091633"/>
            <a:ext cx="479964" cy="106659"/>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8395919" y="4322141"/>
            <a:ext cx="334412" cy="74315"/>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8548319" y="4474541"/>
            <a:ext cx="334412" cy="74315"/>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8414131" y="2644225"/>
            <a:ext cx="396000" cy="39600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315283" y="2196668"/>
            <a:ext cx="1778402" cy="3994401"/>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二等辺三角形 34">
            <a:extLst>
              <a:ext uri="{FF2B5EF4-FFF2-40B4-BE49-F238E27FC236}">
                <a16:creationId xmlns:a16="http://schemas.microsoft.com/office/drawing/2014/main" id="{D9FB7255-AF30-7B82-6180-D447A3754744}"/>
              </a:ext>
            </a:extLst>
          </p:cNvPr>
          <p:cNvSpPr/>
          <p:nvPr/>
        </p:nvSpPr>
        <p:spPr>
          <a:xfrm rot="5400000">
            <a:off x="2108593"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2225165"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二等辺三角形 36">
            <a:extLst>
              <a:ext uri="{FF2B5EF4-FFF2-40B4-BE49-F238E27FC236}">
                <a16:creationId xmlns:a16="http://schemas.microsoft.com/office/drawing/2014/main" id="{9D8E2C96-1207-00B8-6FC3-23370EFD7A03}"/>
              </a:ext>
            </a:extLst>
          </p:cNvPr>
          <p:cNvSpPr/>
          <p:nvPr/>
        </p:nvSpPr>
        <p:spPr>
          <a:xfrm rot="5400000">
            <a:off x="2341737"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28671F13-F479-AFF6-9832-C7C00D2D05EE}"/>
              </a:ext>
            </a:extLst>
          </p:cNvPr>
          <p:cNvSpPr/>
          <p:nvPr/>
        </p:nvSpPr>
        <p:spPr>
          <a:xfrm>
            <a:off x="614547" y="4198381"/>
            <a:ext cx="1154315"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latin typeface="メイリオ" panose="020B0604030504040204" pitchFamily="50" charset="-128"/>
                <a:ea typeface="メイリオ" panose="020B0604030504040204" pitchFamily="50" charset="-128"/>
              </a:rPr>
              <a:t>フォーム</a:t>
            </a:r>
          </a:p>
        </p:txBody>
      </p:sp>
      <p:pic>
        <p:nvPicPr>
          <p:cNvPr id="40" name="図 39" descr="テキスト, 手紙&#10;&#10;AI 生成コンテンツは誤りを含む可能性があります。">
            <a:extLst>
              <a:ext uri="{FF2B5EF4-FFF2-40B4-BE49-F238E27FC236}">
                <a16:creationId xmlns:a16="http://schemas.microsoft.com/office/drawing/2014/main" id="{2B8DDCE0-83B3-5BAA-0FFE-3D329FBE2D94}"/>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663353" y="2289246"/>
            <a:ext cx="1048252" cy="1775437"/>
          </a:xfrm>
          <a:prstGeom prst="rect">
            <a:avLst/>
          </a:prstGeom>
        </p:spPr>
      </p:pic>
      <p:pic>
        <p:nvPicPr>
          <p:cNvPr id="41" name="図 40">
            <a:extLst>
              <a:ext uri="{FF2B5EF4-FFF2-40B4-BE49-F238E27FC236}">
                <a16:creationId xmlns:a16="http://schemas.microsoft.com/office/drawing/2014/main" id="{EE7C7FD3-78CB-4D67-F96A-D6F8017FE224}"/>
              </a:ext>
            </a:extLst>
          </p:cNvPr>
          <p:cNvPicPr>
            <a:picLocks noChangeAspect="1"/>
          </p:cNvPicPr>
          <p:nvPr/>
        </p:nvPicPr>
        <p:blipFill>
          <a:blip r:embed="rId7"/>
          <a:stretch>
            <a:fillRect/>
          </a:stretch>
        </p:blipFill>
        <p:spPr>
          <a:xfrm>
            <a:off x="641171" y="2325575"/>
            <a:ext cx="494484" cy="86136"/>
          </a:xfrm>
          <a:prstGeom prst="rect">
            <a:avLst/>
          </a:prstGeom>
        </p:spPr>
      </p:pic>
      <p:pic>
        <p:nvPicPr>
          <p:cNvPr id="42" name="図 41">
            <a:extLst>
              <a:ext uri="{FF2B5EF4-FFF2-40B4-BE49-F238E27FC236}">
                <a16:creationId xmlns:a16="http://schemas.microsoft.com/office/drawing/2014/main" id="{2E6CA8C2-2D04-CD9A-C431-4766768BBF3D}"/>
              </a:ext>
            </a:extLst>
          </p:cNvPr>
          <p:cNvPicPr>
            <a:picLocks noChangeAspect="1"/>
          </p:cNvPicPr>
          <p:nvPr/>
        </p:nvPicPr>
        <p:blipFill>
          <a:blip r:embed="rId7"/>
          <a:stretch>
            <a:fillRect/>
          </a:stretch>
        </p:blipFill>
        <p:spPr>
          <a:xfrm>
            <a:off x="630233" y="2328011"/>
            <a:ext cx="494484" cy="86136"/>
          </a:xfrm>
          <a:prstGeom prst="rect">
            <a:avLst/>
          </a:prstGeom>
        </p:spPr>
      </p:pic>
      <p:pic>
        <p:nvPicPr>
          <p:cNvPr id="47" name="図 46">
            <a:extLst>
              <a:ext uri="{FF2B5EF4-FFF2-40B4-BE49-F238E27FC236}">
                <a16:creationId xmlns:a16="http://schemas.microsoft.com/office/drawing/2014/main" id="{E5BE860E-2799-E5F4-ADCA-4ADBD44E0D0C}"/>
              </a:ext>
            </a:extLst>
          </p:cNvPr>
          <p:cNvPicPr>
            <a:picLocks noChangeAspect="1"/>
          </p:cNvPicPr>
          <p:nvPr/>
        </p:nvPicPr>
        <p:blipFill>
          <a:blip r:embed="rId7"/>
          <a:stretch>
            <a:fillRect/>
          </a:stretch>
        </p:blipFill>
        <p:spPr>
          <a:xfrm>
            <a:off x="810116" y="3773334"/>
            <a:ext cx="494484" cy="86136"/>
          </a:xfrm>
          <a:prstGeom prst="rect">
            <a:avLst/>
          </a:prstGeom>
        </p:spPr>
      </p:pic>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8"/>
          <a:stretch>
            <a:fillRect/>
          </a:stretch>
        </p:blipFill>
        <p:spPr>
          <a:xfrm>
            <a:off x="647157" y="2445202"/>
            <a:ext cx="1076073" cy="1468487"/>
          </a:xfrm>
          <a:prstGeom prst="rect">
            <a:avLst/>
          </a:prstGeom>
        </p:spPr>
      </p:pic>
      <p:pic>
        <p:nvPicPr>
          <p:cNvPr id="1024" name="図 1023">
            <a:extLst>
              <a:ext uri="{FF2B5EF4-FFF2-40B4-BE49-F238E27FC236}">
                <a16:creationId xmlns:a16="http://schemas.microsoft.com/office/drawing/2014/main" id="{E5E4719A-E6F5-34E0-F2FD-37322E2A76AA}"/>
              </a:ext>
            </a:extLst>
          </p:cNvPr>
          <p:cNvPicPr>
            <a:picLocks noChangeAspect="1"/>
          </p:cNvPicPr>
          <p:nvPr/>
        </p:nvPicPr>
        <p:blipFill>
          <a:blip r:embed="rId9"/>
          <a:stretch>
            <a:fillRect/>
          </a:stretch>
        </p:blipFill>
        <p:spPr>
          <a:xfrm>
            <a:off x="1125324" y="2303179"/>
            <a:ext cx="560995" cy="133465"/>
          </a:xfrm>
          <a:prstGeom prst="rect">
            <a:avLst/>
          </a:prstGeom>
        </p:spPr>
      </p:pic>
      <p:sp>
        <p:nvSpPr>
          <p:cNvPr id="1026" name="テキスト ボックス 1025">
            <a:extLst>
              <a:ext uri="{FF2B5EF4-FFF2-40B4-BE49-F238E27FC236}">
                <a16:creationId xmlns:a16="http://schemas.microsoft.com/office/drawing/2014/main" id="{1B57767B-4EA3-C247-B88C-4D505A95BD20}"/>
              </a:ext>
            </a:extLst>
          </p:cNvPr>
          <p:cNvSpPr txBox="1"/>
          <p:nvPr/>
        </p:nvSpPr>
        <p:spPr>
          <a:xfrm>
            <a:off x="-490844" y="4711039"/>
            <a:ext cx="3405553" cy="400110"/>
          </a:xfrm>
          <a:prstGeom prst="rect">
            <a:avLst/>
          </a:prstGeom>
          <a:noFill/>
        </p:spPr>
        <p:txBody>
          <a:bodyPr wrap="square">
            <a:spAutoFit/>
          </a:bodyPr>
          <a:lstStyle/>
          <a:p>
            <a:pPr algn="ctr"/>
            <a:r>
              <a:rPr lang="en-US" altLang="ja-JP" sz="1000" b="1" dirty="0">
                <a:solidFill>
                  <a:srgbClr val="FF0000"/>
                </a:solidFill>
                <a:latin typeface="メイリオ" panose="020B0604030504040204" pitchFamily="50" charset="-128"/>
                <a:ea typeface="メイリオ" panose="020B0604030504040204" pitchFamily="50" charset="-128"/>
              </a:rPr>
              <a:t>※</a:t>
            </a:r>
            <a:r>
              <a:rPr lang="ja-JP" altLang="en-US" sz="1000" b="1" dirty="0">
                <a:solidFill>
                  <a:srgbClr val="FF0000"/>
                </a:solidFill>
                <a:latin typeface="メイリオ" panose="020B0604030504040204" pitchFamily="50" charset="-128"/>
                <a:ea typeface="メイリオ" panose="020B0604030504040204" pitchFamily="50" charset="-128"/>
              </a:rPr>
              <a:t>入力した内容を</a:t>
            </a:r>
            <a:endParaRPr lang="en-US" altLang="ja-JP" sz="1000" b="1" dirty="0">
              <a:solidFill>
                <a:srgbClr val="FF0000"/>
              </a:solidFill>
              <a:latin typeface="メイリオ" panose="020B0604030504040204" pitchFamily="50" charset="-128"/>
              <a:ea typeface="メイリオ" panose="020B0604030504040204" pitchFamily="50" charset="-128"/>
            </a:endParaRPr>
          </a:p>
          <a:p>
            <a:pPr algn="ctr"/>
            <a:r>
              <a:rPr lang="ja-JP" altLang="en-US" sz="1000" b="1" dirty="0">
                <a:solidFill>
                  <a:srgbClr val="FF0000"/>
                </a:solidFill>
                <a:latin typeface="メイリオ" panose="020B0604030504040204" pitchFamily="50" charset="-128"/>
                <a:ea typeface="メイリオ" panose="020B0604030504040204" pitchFamily="50" charset="-128"/>
              </a:rPr>
              <a:t>トークに反映が可能。</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sp>
        <p:nvSpPr>
          <p:cNvPr id="1032" name="正方形/長方形 1031">
            <a:extLst>
              <a:ext uri="{FF2B5EF4-FFF2-40B4-BE49-F238E27FC236}">
                <a16:creationId xmlns:a16="http://schemas.microsoft.com/office/drawing/2014/main" id="{D1D96D42-255C-636E-49E5-2CDA95DD6764}"/>
              </a:ext>
            </a:extLst>
          </p:cNvPr>
          <p:cNvSpPr/>
          <p:nvPr/>
        </p:nvSpPr>
        <p:spPr>
          <a:xfrm>
            <a:off x="2584156" y="2196668"/>
            <a:ext cx="1778402" cy="3994401"/>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909322" y="4198381"/>
            <a:ext cx="1154315"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latin typeface="メイリオ" panose="020B0604030504040204" pitchFamily="50" charset="-128"/>
                <a:ea typeface="メイリオ" panose="020B0604030504040204" pitchFamily="50" charset="-128"/>
              </a:rPr>
              <a:t>CV</a:t>
            </a:r>
            <a:endParaRPr kumimoji="1" lang="ja-JP" altLang="en-US" sz="1100" b="1" dirty="0">
              <a:latin typeface="メイリオ" panose="020B0604030504040204" pitchFamily="50" charset="-128"/>
              <a:ea typeface="メイリオ" panose="020B0604030504040204" pitchFamily="50" charset="-128"/>
            </a:endParaRPr>
          </a:p>
        </p:txBody>
      </p:sp>
      <p:sp>
        <p:nvSpPr>
          <p:cNvPr id="1036" name="正方形/長方形 1035">
            <a:extLst>
              <a:ext uri="{FF2B5EF4-FFF2-40B4-BE49-F238E27FC236}">
                <a16:creationId xmlns:a16="http://schemas.microsoft.com/office/drawing/2014/main" id="{43EEA9CC-C52C-B219-FF18-6E6EA44E4D24}"/>
              </a:ext>
            </a:extLst>
          </p:cNvPr>
          <p:cNvSpPr/>
          <p:nvPr/>
        </p:nvSpPr>
        <p:spPr>
          <a:xfrm>
            <a:off x="2692868" y="4436119"/>
            <a:ext cx="1396722" cy="1045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・購入完了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・セミナー予約</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・登録完了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・メルマガ登録</a:t>
            </a:r>
            <a:endParaRPr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・その他</a:t>
            </a: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2977448" y="2296209"/>
            <a:ext cx="1048252" cy="1775437"/>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20270" r="23682"/>
          <a:stretch>
            <a:fillRect/>
          </a:stretch>
        </p:blipFill>
        <p:spPr bwMode="auto">
          <a:xfrm>
            <a:off x="3866329" y="4627146"/>
            <a:ext cx="395417" cy="529521"/>
          </a:xfrm>
          <a:prstGeom prst="rect">
            <a:avLst/>
          </a:prstGeom>
          <a:noFill/>
          <a:extLst>
            <a:ext uri="{909E8E84-426E-40DD-AFC4-6F175D3DCCD1}">
              <a14:hiddenFill xmlns:a14="http://schemas.microsoft.com/office/drawing/2010/main">
                <a:solidFill>
                  <a:srgbClr val="FFFFFF"/>
                </a:solidFill>
              </a14:hiddenFill>
            </a:ext>
          </a:extLst>
        </p:spPr>
      </p:pic>
      <p:pic>
        <p:nvPicPr>
          <p:cNvPr id="1040" name="図 1039">
            <a:extLst>
              <a:ext uri="{FF2B5EF4-FFF2-40B4-BE49-F238E27FC236}">
                <a16:creationId xmlns:a16="http://schemas.microsoft.com/office/drawing/2014/main" id="{D40EFC68-F8C8-CACE-392A-C804A102B410}"/>
              </a:ext>
            </a:extLst>
          </p:cNvPr>
          <p:cNvPicPr>
            <a:picLocks noChangeAspect="1"/>
          </p:cNvPicPr>
          <p:nvPr/>
        </p:nvPicPr>
        <p:blipFill>
          <a:blip r:embed="rId7"/>
          <a:stretch>
            <a:fillRect/>
          </a:stretch>
        </p:blipFill>
        <p:spPr>
          <a:xfrm>
            <a:off x="2955266" y="2332538"/>
            <a:ext cx="494484" cy="86136"/>
          </a:xfrm>
          <a:prstGeom prst="rect">
            <a:avLst/>
          </a:prstGeom>
        </p:spPr>
      </p:pic>
      <p:pic>
        <p:nvPicPr>
          <p:cNvPr id="1041" name="図 1040">
            <a:extLst>
              <a:ext uri="{FF2B5EF4-FFF2-40B4-BE49-F238E27FC236}">
                <a16:creationId xmlns:a16="http://schemas.microsoft.com/office/drawing/2014/main" id="{BA9B0596-4197-6BA5-B58D-7E67FD1379B1}"/>
              </a:ext>
            </a:extLst>
          </p:cNvPr>
          <p:cNvPicPr>
            <a:picLocks noChangeAspect="1"/>
          </p:cNvPicPr>
          <p:nvPr/>
        </p:nvPicPr>
        <p:blipFill>
          <a:blip r:embed="rId7"/>
          <a:stretch>
            <a:fillRect/>
          </a:stretch>
        </p:blipFill>
        <p:spPr>
          <a:xfrm>
            <a:off x="2944328" y="2334974"/>
            <a:ext cx="494484" cy="86136"/>
          </a:xfrm>
          <a:prstGeom prst="rect">
            <a:avLst/>
          </a:prstGeom>
        </p:spPr>
      </p:pic>
      <p:pic>
        <p:nvPicPr>
          <p:cNvPr id="1042" name="図 1041">
            <a:extLst>
              <a:ext uri="{FF2B5EF4-FFF2-40B4-BE49-F238E27FC236}">
                <a16:creationId xmlns:a16="http://schemas.microsoft.com/office/drawing/2014/main" id="{A3D5D1CE-703D-3244-20B5-0CBB6C5EB467}"/>
              </a:ext>
            </a:extLst>
          </p:cNvPr>
          <p:cNvPicPr>
            <a:picLocks noChangeAspect="1"/>
          </p:cNvPicPr>
          <p:nvPr/>
        </p:nvPicPr>
        <p:blipFill>
          <a:blip r:embed="rId7"/>
          <a:stretch>
            <a:fillRect/>
          </a:stretch>
        </p:blipFill>
        <p:spPr>
          <a:xfrm>
            <a:off x="3124211" y="3780297"/>
            <a:ext cx="494484" cy="86136"/>
          </a:xfrm>
          <a:prstGeom prst="rect">
            <a:avLst/>
          </a:prstGeom>
        </p:spPr>
      </p:pic>
      <p:sp>
        <p:nvSpPr>
          <p:cNvPr id="1043" name="テキスト ボックス 1042">
            <a:extLst>
              <a:ext uri="{FF2B5EF4-FFF2-40B4-BE49-F238E27FC236}">
                <a16:creationId xmlns:a16="http://schemas.microsoft.com/office/drawing/2014/main" id="{434489DF-76E5-B08D-AB93-7A020A3C23F0}"/>
              </a:ext>
            </a:extLst>
          </p:cNvPr>
          <p:cNvSpPr txBox="1"/>
          <p:nvPr/>
        </p:nvSpPr>
        <p:spPr>
          <a:xfrm>
            <a:off x="1254839" y="5195928"/>
            <a:ext cx="1679395" cy="338554"/>
          </a:xfrm>
          <a:prstGeom prst="rect">
            <a:avLst/>
          </a:prstGeom>
          <a:solidFill>
            <a:schemeClr val="bg1">
              <a:alpha val="56000"/>
            </a:schemeClr>
          </a:solidFill>
        </p:spPr>
        <p:txBody>
          <a:bodyPr wrap="square">
            <a:spAutoFit/>
          </a:bodyPr>
          <a:lstStyle/>
          <a:p>
            <a:pPr algn="ctr"/>
            <a:r>
              <a:rPr lang="en-US" altLang="ja-JP" sz="800" b="1" dirty="0">
                <a:solidFill>
                  <a:schemeClr val="bg1">
                    <a:lumMod val="85000"/>
                  </a:schemeClr>
                </a:solidFill>
                <a:latin typeface="メイリオ" panose="020B0604030504040204" pitchFamily="50" charset="-128"/>
                <a:ea typeface="メイリオ" panose="020B0604030504040204" pitchFamily="50" charset="-128"/>
              </a:rPr>
              <a:t>※</a:t>
            </a:r>
            <a:r>
              <a:rPr lang="ja-JP" altLang="en-US" sz="800" b="1" dirty="0">
                <a:solidFill>
                  <a:schemeClr val="bg1">
                    <a:lumMod val="85000"/>
                  </a:schemeClr>
                </a:solidFill>
                <a:latin typeface="メイリオ" panose="020B0604030504040204" pitchFamily="50" charset="-128"/>
                <a:ea typeface="メイリオ" panose="020B0604030504040204" pitchFamily="50" charset="-128"/>
              </a:rPr>
              <a:t>ユーザーの個人情報収集が</a:t>
            </a:r>
            <a:endParaRPr lang="en-US" altLang="ja-JP" sz="800" b="1" dirty="0">
              <a:solidFill>
                <a:schemeClr val="bg1">
                  <a:lumMod val="85000"/>
                </a:schemeClr>
              </a:solidFill>
              <a:latin typeface="メイリオ" panose="020B0604030504040204" pitchFamily="50" charset="-128"/>
              <a:ea typeface="メイリオ" panose="020B0604030504040204" pitchFamily="50" charset="-128"/>
            </a:endParaRPr>
          </a:p>
          <a:p>
            <a:pPr algn="ctr"/>
            <a:r>
              <a:rPr lang="ja-JP" altLang="en-US" sz="800" b="1" dirty="0">
                <a:solidFill>
                  <a:schemeClr val="bg1">
                    <a:lumMod val="85000"/>
                  </a:schemeClr>
                </a:solidFill>
                <a:latin typeface="メイリオ" panose="020B0604030504040204" pitchFamily="50" charset="-128"/>
                <a:ea typeface="メイリオ" panose="020B0604030504040204" pitchFamily="50" charset="-128"/>
              </a:rPr>
              <a:t>完了したタイミング</a:t>
            </a:r>
            <a:endParaRPr kumimoji="1" lang="ja-JP" altLang="en-US" sz="800" b="1" dirty="0">
              <a:solidFill>
                <a:schemeClr val="bg1">
                  <a:lumMod val="85000"/>
                </a:schemeClr>
              </a:solidFill>
              <a:latin typeface="メイリオ" panose="020B0604030504040204" pitchFamily="50" charset="-128"/>
              <a:ea typeface="メイリオ" panose="020B0604030504040204" pitchFamily="50" charset="-128"/>
            </a:endParaRPr>
          </a:p>
        </p:txBody>
      </p:sp>
      <p:grpSp>
        <p:nvGrpSpPr>
          <p:cNvPr id="3" name="グループ化 2">
            <a:extLst>
              <a:ext uri="{FF2B5EF4-FFF2-40B4-BE49-F238E27FC236}">
                <a16:creationId xmlns:a16="http://schemas.microsoft.com/office/drawing/2014/main" id="{E76D8F54-2926-2D56-7238-F66ACCBC4F2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サンクス</a:t>
              </a:r>
              <a:r>
                <a:rPr kumimoji="1" lang="en-US" altLang="ja-JP" sz="1500" b="1" dirty="0">
                  <a:solidFill>
                    <a:schemeClr val="bg1"/>
                  </a:solidFill>
                  <a:latin typeface="Meiryo" panose="020B0604030504040204" pitchFamily="34" charset="-128"/>
                  <a:ea typeface="Meiryo" panose="020B0604030504040204" pitchFamily="34" charset="-128"/>
                </a:rPr>
                <a:t>LINE</a:t>
              </a:r>
              <a:r>
                <a:rPr kumimoji="1" lang="ja-JP" altLang="en-US" sz="1500" b="1" dirty="0">
                  <a:solidFill>
                    <a:schemeClr val="bg1"/>
                  </a:solidFill>
                  <a:latin typeface="Meiryo" panose="020B0604030504040204" pitchFamily="34" charset="-128"/>
                  <a:ea typeface="Meiryo"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8247347" y="4702330"/>
            <a:ext cx="899499" cy="7995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コネクタ: カギ線 6">
            <a:extLst>
              <a:ext uri="{FF2B5EF4-FFF2-40B4-BE49-F238E27FC236}">
                <a16:creationId xmlns:a16="http://schemas.microsoft.com/office/drawing/2014/main" id="{C5EB654A-0759-70F8-6BA7-95CA3A0F983F}"/>
              </a:ext>
            </a:extLst>
          </p:cNvPr>
          <p:cNvCxnSpPr>
            <a:cxnSpLocks/>
          </p:cNvCxnSpPr>
          <p:nvPr/>
        </p:nvCxnSpPr>
        <p:spPr>
          <a:xfrm flipV="1">
            <a:off x="7672763" y="5102505"/>
            <a:ext cx="574585" cy="332494"/>
          </a:xfrm>
          <a:prstGeom prst="bentConnector3">
            <a:avLst>
              <a:gd name="adj1" fmla="val 50000"/>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218E3FE3-7B20-5966-421F-4ECB81603538}"/>
              </a:ext>
            </a:extLst>
          </p:cNvPr>
          <p:cNvCxnSpPr>
            <a:cxnSpLocks/>
            <a:stCxn id="48" idx="2"/>
            <a:endCxn id="21" idx="0"/>
          </p:cNvCxnSpPr>
          <p:nvPr/>
        </p:nvCxnSpPr>
        <p:spPr>
          <a:xfrm>
            <a:off x="6904149" y="3132263"/>
            <a:ext cx="1" cy="133462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DBDB9444-3A0E-B235-58FC-9F8C81BAEA44}"/>
              </a:ext>
            </a:extLst>
          </p:cNvPr>
          <p:cNvSpPr txBox="1"/>
          <p:nvPr/>
        </p:nvSpPr>
        <p:spPr>
          <a:xfrm>
            <a:off x="6323825" y="3523709"/>
            <a:ext cx="1161782" cy="261610"/>
          </a:xfrm>
          <a:prstGeom prst="rect">
            <a:avLst/>
          </a:prstGeom>
          <a:solidFill>
            <a:schemeClr val="bg1">
              <a:alpha val="70000"/>
            </a:schemeClr>
          </a:solidFill>
        </p:spPr>
        <p:txBody>
          <a:bodyPr wrap="square">
            <a:spAutoFit/>
          </a:bodyPr>
          <a:lstStyle/>
          <a:p>
            <a:pPr algn="ctr"/>
            <a:r>
              <a:rPr kumimoji="1" lang="ja-JP" altLang="en-US" sz="1100" b="1" dirty="0">
                <a:solidFill>
                  <a:srgbClr val="00C057"/>
                </a:solidFill>
                <a:latin typeface="メイリオ" panose="020B0604030504040204" pitchFamily="50" charset="-128"/>
                <a:ea typeface="メイリオ" panose="020B0604030504040204" pitchFamily="50" charset="-128"/>
              </a:rPr>
              <a:t>友だち追加後</a:t>
            </a:r>
            <a:endParaRPr lang="ja-JP" altLang="en-US" sz="1100" dirty="0">
              <a:solidFill>
                <a:srgbClr val="00C057"/>
              </a:solidFill>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Meiryo"/>
                <a:ea typeface="Meiryo"/>
                <a:cs typeface="Meiryo"/>
                <a:sym typeface="Meiryo"/>
              </a:rPr>
              <a:t>サンクス到達時の</a:t>
            </a:r>
            <a:r>
              <a:rPr lang="en-US" altLang="ja-JP" sz="1600" dirty="0">
                <a:latin typeface="Meiryo"/>
                <a:ea typeface="Meiryo"/>
                <a:cs typeface="Meiryo"/>
                <a:sym typeface="Meiryo"/>
              </a:rPr>
              <a:t>LINE</a:t>
            </a:r>
            <a:r>
              <a:rPr lang="ja-JP" altLang="en-US" sz="1600" dirty="0">
                <a:latin typeface="Meiryo"/>
                <a:ea typeface="Meiryo"/>
                <a:cs typeface="Meiryo"/>
                <a:sym typeface="Meiryo"/>
              </a:rPr>
              <a:t>動線が弊社開発により可能に。</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費用を抑えての導入が可能で、新規反響の質改善に寄与。</a:t>
            </a:r>
          </a:p>
        </p:txBody>
      </p:sp>
      <p:sp>
        <p:nvSpPr>
          <p:cNvPr id="10" name="テキスト ボックス 9">
            <a:extLst>
              <a:ext uri="{FF2B5EF4-FFF2-40B4-BE49-F238E27FC236}">
                <a16:creationId xmlns:a16="http://schemas.microsoft.com/office/drawing/2014/main" id="{3EACBB40-B311-2012-88DC-7E4CD6FCFF28}"/>
              </a:ext>
            </a:extLst>
          </p:cNvPr>
          <p:cNvSpPr txBox="1"/>
          <p:nvPr/>
        </p:nvSpPr>
        <p:spPr>
          <a:xfrm>
            <a:off x="4091506" y="1391612"/>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暫定措置として導入済アカウントについては</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2026</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年</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7</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月～の価格改定の予定</a:t>
            </a:r>
            <a:endParaRPr lang="ja-JP" altLang="en-US" sz="900" dirty="0">
              <a:solidFill>
                <a:srgbClr val="FF0000"/>
              </a:solidFill>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既存</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ツールとの併用についても、問題なく稼働が可能。</a:t>
            </a:r>
            <a:endParaRPr lang="ja-JP" altLang="en-US" sz="900" dirty="0">
              <a:solidFill>
                <a:srgbClr val="FF0000"/>
              </a:solidFill>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sp>
        <p:nvSpPr>
          <p:cNvPr id="26" name="Google Shape;51;p19">
            <a:extLst>
              <a:ext uri="{FF2B5EF4-FFF2-40B4-BE49-F238E27FC236}">
                <a16:creationId xmlns:a16="http://schemas.microsoft.com/office/drawing/2014/main" id="{A4070FDA-7C99-27DE-6A9C-437C1D5DD3B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28" name="Google Shape;51;p19">
            <a:extLst>
              <a:ext uri="{FF2B5EF4-FFF2-40B4-BE49-F238E27FC236}">
                <a16:creationId xmlns:a16="http://schemas.microsoft.com/office/drawing/2014/main" id="{40C4675F-5DCC-DD57-BE14-B3A7697A02C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設定地点追加</a:t>
            </a:r>
            <a:endParaRPr sz="1050" b="1" i="0" u="none" strike="noStrike" cap="none" dirty="0">
              <a:solidFill>
                <a:srgbClr val="FFFF00"/>
              </a:solidFill>
              <a:latin typeface="Meiryo"/>
              <a:ea typeface="Meiryo"/>
              <a:cs typeface="Meiryo"/>
              <a:sym typeface="Meiryo"/>
            </a:endParaRPr>
          </a:p>
        </p:txBody>
      </p:sp>
      <p:cxnSp>
        <p:nvCxnSpPr>
          <p:cNvPr id="30" name="コネクタ: カギ線 29">
            <a:extLst>
              <a:ext uri="{FF2B5EF4-FFF2-40B4-BE49-F238E27FC236}">
                <a16:creationId xmlns:a16="http://schemas.microsoft.com/office/drawing/2014/main" id="{D9706AF3-2C8D-6646-76C8-7802A4F734FC}"/>
              </a:ext>
            </a:extLst>
          </p:cNvPr>
          <p:cNvCxnSpPr>
            <a:cxnSpLocks/>
          </p:cNvCxnSpPr>
          <p:nvPr/>
        </p:nvCxnSpPr>
        <p:spPr>
          <a:xfrm rot="16200000" flipH="1">
            <a:off x="3294819" y="3047336"/>
            <a:ext cx="430977" cy="4596748"/>
          </a:xfrm>
          <a:prstGeom prst="bentConnector2">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97C92C6B-4F06-7ED3-0627-D0C168299913}"/>
              </a:ext>
            </a:extLst>
          </p:cNvPr>
          <p:cNvSpPr txBox="1"/>
          <p:nvPr/>
        </p:nvSpPr>
        <p:spPr>
          <a:xfrm>
            <a:off x="115187" y="5639542"/>
            <a:ext cx="5785781" cy="461665"/>
          </a:xfrm>
          <a:prstGeom prst="rect">
            <a:avLst/>
          </a:prstGeom>
          <a:solidFill>
            <a:schemeClr val="bg1">
              <a:alpha val="62000"/>
            </a:schemeClr>
          </a:solidFill>
        </p:spPr>
        <p:txBody>
          <a:bodyPr wrap="square">
            <a:spAutoFit/>
          </a:bodyPr>
          <a:lstStyle/>
          <a:p>
            <a:pPr algn="ctr"/>
            <a:r>
              <a:rPr lang="ja-JP" altLang="ja-JP" sz="1200" dirty="0">
                <a:latin typeface="メイリオ" panose="020B0604030504040204" pitchFamily="50" charset="-128"/>
                <a:ea typeface="メイリオ" panose="020B0604030504040204" pitchFamily="50" charset="-128"/>
              </a:rPr>
              <a:t>高開封率のLINEに誘導</a:t>
            </a:r>
            <a:r>
              <a:rPr lang="ja-JP" altLang="en-US" sz="1200" dirty="0">
                <a:latin typeface="メイリオ" panose="020B0604030504040204" pitchFamily="50" charset="-128"/>
                <a:ea typeface="メイリオ" panose="020B0604030504040204" pitchFamily="50" charset="-128"/>
              </a:rPr>
              <a:t>して</a:t>
            </a:r>
            <a:r>
              <a:rPr lang="ja-JP" altLang="ja-JP" sz="1200" dirty="0">
                <a:latin typeface="メイリオ" panose="020B0604030504040204" pitchFamily="50" charset="-128"/>
                <a:ea typeface="メイリオ" panose="020B0604030504040204" pitchFamily="50" charset="-128"/>
              </a:rPr>
              <a:t>反響→実売上への引上げ率、リピート率改善。</a:t>
            </a:r>
            <a:endParaRPr lang="en-US" altLang="ja-JP" sz="1200" dirty="0">
              <a:latin typeface="メイリオ" panose="020B0604030504040204" pitchFamily="50" charset="-128"/>
              <a:ea typeface="メイリオ" panose="020B0604030504040204" pitchFamily="50" charset="-128"/>
            </a:endParaRPr>
          </a:p>
          <a:p>
            <a:pPr algn="ctr"/>
            <a:r>
              <a:rPr lang="ja-JP" altLang="ja-JP" sz="1200" dirty="0">
                <a:latin typeface="メイリオ" panose="020B0604030504040204" pitchFamily="50" charset="-128"/>
                <a:ea typeface="メイリオ" panose="020B0604030504040204" pitchFamily="50" charset="-128"/>
              </a:rPr>
              <a:t> </a:t>
            </a:r>
            <a:r>
              <a:rPr lang="ja-JP" altLang="ja-JP" sz="1200" b="1" dirty="0">
                <a:solidFill>
                  <a:srgbClr val="FF0000"/>
                </a:solidFill>
                <a:latin typeface="メイリオ" panose="020B0604030504040204" pitchFamily="50" charset="-128"/>
                <a:ea typeface="メイリオ" panose="020B0604030504040204" pitchFamily="50" charset="-128"/>
              </a:rPr>
              <a:t>弊社運用の美容クリニック様では、予約後来院率にて40-50%程度の改善を実現</a:t>
            </a:r>
            <a:r>
              <a:rPr lang="ja-JP" altLang="ja-JP" sz="1200" dirty="0">
                <a:latin typeface="メイリオ" panose="020B0604030504040204" pitchFamily="50" charset="-128"/>
                <a:ea typeface="メイリオ" panose="020B0604030504040204" pitchFamily="50" charset="-128"/>
              </a:rPr>
              <a:t>。</a:t>
            </a:r>
            <a:endParaRPr lang="ja-JP" altLang="en-US"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9490901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17202631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00"/>
                </a:solidFill>
                <a:latin typeface="メイリオ" panose="020B0604030504040204" pitchFamily="50" charset="-128"/>
                <a:ea typeface="メイリオ" panose="020B0604030504040204" pitchFamily="50" charset="-128"/>
              </a:rPr>
              <a:t>※CPF</a:t>
            </a:r>
            <a:r>
              <a:rPr lang="ja-JP" altLang="en-US" sz="1200" b="1" dirty="0">
                <a:solidFill>
                  <a:srgbClr val="FFFF00"/>
                </a:solidFill>
                <a:latin typeface="メイリオ" panose="020B0604030504040204" pitchFamily="50" charset="-128"/>
                <a:ea typeface="メイリオ" panose="020B0604030504040204" pitchFamily="50" charset="-128"/>
              </a:rPr>
              <a:t>広告</a:t>
            </a:r>
            <a:r>
              <a:rPr lang="en-US" altLang="ja-JP" sz="1200" b="1" dirty="0">
                <a:solidFill>
                  <a:srgbClr val="FFFF00"/>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741189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4245125" y="3038203"/>
            <a:ext cx="1415772"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費用感</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31FAE-54F0-68FB-0777-049A78243301}"/>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0D2538F-E1B8-8AE5-0CD4-42EA268B5DF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DYM</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によるご提供プラン</a:t>
            </a:r>
          </a:p>
        </p:txBody>
      </p:sp>
      <p:pic>
        <p:nvPicPr>
          <p:cNvPr id="12" name="図 11" descr="アイコン が含まれている画像&#10;&#10;AI 生成コンテンツは誤りを含む可能性があります。">
            <a:extLst>
              <a:ext uri="{FF2B5EF4-FFF2-40B4-BE49-F238E27FC236}">
                <a16:creationId xmlns:a16="http://schemas.microsoft.com/office/drawing/2014/main" id="{DA698D6F-CD58-6385-1BCA-1E3129DEE1B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3108" y="1416099"/>
            <a:ext cx="1106285" cy="737523"/>
          </a:xfrm>
          <a:prstGeom prst="rect">
            <a:avLst/>
          </a:prstGeom>
        </p:spPr>
      </p:pic>
      <p:sp>
        <p:nvSpPr>
          <p:cNvPr id="41" name="正方形/長方形 40">
            <a:extLst>
              <a:ext uri="{FF2B5EF4-FFF2-40B4-BE49-F238E27FC236}">
                <a16:creationId xmlns:a16="http://schemas.microsoft.com/office/drawing/2014/main" id="{83976F76-8A4B-AFB5-EE98-67FE261517F3}"/>
              </a:ext>
            </a:extLst>
          </p:cNvPr>
          <p:cNvSpPr/>
          <p:nvPr/>
        </p:nvSpPr>
        <p:spPr>
          <a:xfrm>
            <a:off x="1123324" y="1813322"/>
            <a:ext cx="3368922" cy="134091"/>
          </a:xfrm>
          <a:prstGeom prst="rect">
            <a:avLst/>
          </a:prstGeom>
          <a:solidFill>
            <a:schemeClr val="tx2">
              <a:lumMod val="60000"/>
              <a:lumOff val="4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Google Shape;752;p28">
            <a:extLst>
              <a:ext uri="{FF2B5EF4-FFF2-40B4-BE49-F238E27FC236}">
                <a16:creationId xmlns:a16="http://schemas.microsoft.com/office/drawing/2014/main" id="{8185E67B-5C3A-B719-9811-C4C631E8B2F4}"/>
              </a:ext>
            </a:extLst>
          </p:cNvPr>
          <p:cNvSpPr txBox="1"/>
          <p:nvPr/>
        </p:nvSpPr>
        <p:spPr>
          <a:xfrm>
            <a:off x="1147590" y="1615603"/>
            <a:ext cx="483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DYM</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よりご提供できるプラン一覧</a:t>
            </a:r>
          </a:p>
        </p:txBody>
      </p:sp>
      <p:sp>
        <p:nvSpPr>
          <p:cNvPr id="2" name="Google Shape;752;p28">
            <a:extLst>
              <a:ext uri="{FF2B5EF4-FFF2-40B4-BE49-F238E27FC236}">
                <a16:creationId xmlns:a16="http://schemas.microsoft.com/office/drawing/2014/main" id="{9D5A302D-F00E-0C43-E9D8-F1DB17CF4EC0}"/>
              </a:ext>
            </a:extLst>
          </p:cNvPr>
          <p:cNvSpPr txBox="1"/>
          <p:nvPr/>
        </p:nvSpPr>
        <p:spPr>
          <a:xfrm>
            <a:off x="661098" y="824235"/>
            <a:ext cx="8437327" cy="307736"/>
          </a:xfrm>
          <a:prstGeom prst="rect">
            <a:avLst/>
          </a:prstGeom>
          <a:noFill/>
          <a:ln>
            <a:noFill/>
          </a:ln>
        </p:spPr>
        <p:txBody>
          <a:bodyPr spcFirstLastPara="1" wrap="square" lIns="91425" tIns="45700" rIns="91425" bIns="45700" anchor="ctr" anchorCtr="0">
            <a:spAutoFit/>
          </a:bodyPr>
          <a:lstStyle/>
          <a:p>
            <a:pPr lvl="0" algn="ctr"/>
            <a:r>
              <a:rPr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貴社課題感・予算感・施策規模感に合わせて、複数のプランでの提案が可能です。</a:t>
            </a:r>
            <a:endParaRPr lang="en-US" altLang="ja-JP" sz="14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8D454AA9-AD97-90CA-946B-22BBC421527A}"/>
              </a:ext>
            </a:extLst>
          </p:cNvPr>
          <p:cNvSpPr/>
          <p:nvPr/>
        </p:nvSpPr>
        <p:spPr>
          <a:xfrm>
            <a:off x="506322" y="2770359"/>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コンサル基本プラン</a:t>
            </a:r>
          </a:p>
        </p:txBody>
      </p:sp>
      <p:sp>
        <p:nvSpPr>
          <p:cNvPr id="5" name="正方形/長方形 4">
            <a:extLst>
              <a:ext uri="{FF2B5EF4-FFF2-40B4-BE49-F238E27FC236}">
                <a16:creationId xmlns:a16="http://schemas.microsoft.com/office/drawing/2014/main" id="{EEC8E70F-A694-0D6C-4FF1-315A6E9F733E}"/>
              </a:ext>
            </a:extLst>
          </p:cNvPr>
          <p:cNvSpPr/>
          <p:nvPr/>
        </p:nvSpPr>
        <p:spPr>
          <a:xfrm>
            <a:off x="506322" y="4666973"/>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初動設計</a:t>
            </a:r>
            <a:r>
              <a:rPr lang="ja-JP" altLang="en-US" sz="1400" dirty="0">
                <a:latin typeface="メイリオ" panose="020B0604030504040204" pitchFamily="50" charset="-128"/>
                <a:ea typeface="メイリオ" panose="020B0604030504040204" pitchFamily="50" charset="-128"/>
              </a:rPr>
              <a:t>のみ</a:t>
            </a:r>
            <a:r>
              <a:rPr kumimoji="1" lang="ja-JP" altLang="en-US" sz="1400" dirty="0">
                <a:latin typeface="メイリオ" panose="020B0604030504040204" pitchFamily="50" charset="-128"/>
                <a:ea typeface="メイリオ" panose="020B0604030504040204" pitchFamily="50" charset="-128"/>
              </a:rPr>
              <a:t>プラン</a:t>
            </a:r>
          </a:p>
        </p:txBody>
      </p:sp>
      <p:sp>
        <p:nvSpPr>
          <p:cNvPr id="6" name="正方形/長方形 5">
            <a:extLst>
              <a:ext uri="{FF2B5EF4-FFF2-40B4-BE49-F238E27FC236}">
                <a16:creationId xmlns:a16="http://schemas.microsoft.com/office/drawing/2014/main" id="{951ADC50-2D6D-823F-2EEF-A053535442BE}"/>
              </a:ext>
            </a:extLst>
          </p:cNvPr>
          <p:cNvSpPr/>
          <p:nvPr/>
        </p:nvSpPr>
        <p:spPr>
          <a:xfrm>
            <a:off x="506322" y="5615281"/>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運用代行・効率改善プラン</a:t>
            </a:r>
          </a:p>
        </p:txBody>
      </p:sp>
      <p:sp>
        <p:nvSpPr>
          <p:cNvPr id="7" name="正方形/長方形 6">
            <a:extLst>
              <a:ext uri="{FF2B5EF4-FFF2-40B4-BE49-F238E27FC236}">
                <a16:creationId xmlns:a16="http://schemas.microsoft.com/office/drawing/2014/main" id="{ED866F59-8FC1-9200-5700-DE2EEF3AF79A}"/>
              </a:ext>
            </a:extLst>
          </p:cNvPr>
          <p:cNvSpPr/>
          <p:nvPr/>
        </p:nvSpPr>
        <p:spPr>
          <a:xfrm>
            <a:off x="506322" y="3718666"/>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成果報酬型プラン</a:t>
            </a:r>
            <a:endParaRPr kumimoji="1" lang="ja-JP" altLang="en-US" sz="14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D7A43CC0-345F-22EA-1EA2-259B21EA4E19}"/>
              </a:ext>
            </a:extLst>
          </p:cNvPr>
          <p:cNvSpPr/>
          <p:nvPr/>
        </p:nvSpPr>
        <p:spPr>
          <a:xfrm>
            <a:off x="3477934" y="2602078"/>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10</a:t>
            </a:r>
            <a:r>
              <a:rPr lang="ja-JP" altLang="en-US" sz="1400" b="1" dirty="0">
                <a:solidFill>
                  <a:schemeClr val="tx1"/>
                </a:solidFill>
                <a:latin typeface="メイリオ" panose="020B0604030504040204" pitchFamily="50" charset="-128"/>
                <a:ea typeface="メイリオ" panose="020B0604030504040204" pitchFamily="50" charset="-128"/>
              </a:rPr>
              <a:t>万円</a:t>
            </a:r>
            <a:r>
              <a:rPr lang="en-US" altLang="ja-JP" sz="1400" b="1" dirty="0">
                <a:solidFill>
                  <a:schemeClr val="tx1"/>
                </a:solidFill>
                <a:latin typeface="メイリオ" panose="020B0604030504040204" pitchFamily="50" charset="-128"/>
                <a:ea typeface="メイリオ" panose="020B0604030504040204" pitchFamily="50" charset="-128"/>
              </a:rPr>
              <a:t>〜</a:t>
            </a:r>
          </a:p>
          <a:p>
            <a:pPr algn="ctr"/>
            <a:r>
              <a:rPr lang="en-US" altLang="ja-JP" sz="900" dirty="0">
                <a:solidFill>
                  <a:schemeClr val="tx1"/>
                </a:solidFill>
                <a:latin typeface="メイリオ" panose="020B0604030504040204" pitchFamily="50" charset="-128"/>
                <a:ea typeface="メイリオ" panose="020B0604030504040204" pitchFamily="50" charset="-128"/>
              </a:rPr>
              <a:t>※</a:t>
            </a:r>
            <a:r>
              <a:rPr lang="ja-JP" altLang="en-US" sz="900" dirty="0">
                <a:solidFill>
                  <a:schemeClr val="tx1"/>
                </a:solidFill>
                <a:latin typeface="メイリオ" panose="020B0604030504040204" pitchFamily="50" charset="-128"/>
                <a:ea typeface="メイリオ" panose="020B0604030504040204" pitchFamily="50" charset="-128"/>
              </a:rPr>
              <a:t>設定内容により変動</a:t>
            </a:r>
            <a:endParaRPr lang="en-US" altLang="ja-JP" sz="900" dirty="0">
              <a:solidFill>
                <a:schemeClr val="tx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B41ABFD0-4DA0-5335-346F-E7FA981B5FD9}"/>
              </a:ext>
            </a:extLst>
          </p:cNvPr>
          <p:cNvSpPr/>
          <p:nvPr/>
        </p:nvSpPr>
        <p:spPr>
          <a:xfrm>
            <a:off x="3477934" y="4498692"/>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10</a:t>
            </a:r>
            <a:r>
              <a:rPr lang="ja-JP" altLang="en-US" sz="1400" b="1" dirty="0">
                <a:solidFill>
                  <a:schemeClr val="tx1"/>
                </a:solidFill>
                <a:latin typeface="メイリオ" panose="020B0604030504040204" pitchFamily="50" charset="-128"/>
                <a:ea typeface="メイリオ" panose="020B0604030504040204" pitchFamily="50" charset="-128"/>
              </a:rPr>
              <a:t>万円</a:t>
            </a:r>
            <a:r>
              <a:rPr lang="en-US" altLang="ja-JP" sz="1400" b="1" dirty="0">
                <a:solidFill>
                  <a:schemeClr val="tx1"/>
                </a:solidFill>
                <a:latin typeface="メイリオ" panose="020B0604030504040204" pitchFamily="50" charset="-128"/>
                <a:ea typeface="メイリオ" panose="020B0604030504040204" pitchFamily="50" charset="-128"/>
              </a:rPr>
              <a:t>〜</a:t>
            </a:r>
          </a:p>
          <a:p>
            <a:pPr algn="ctr"/>
            <a:endParaRPr lang="en-US" altLang="ja-JP" sz="700" b="1" dirty="0">
              <a:solidFill>
                <a:schemeClr val="tx1"/>
              </a:solidFill>
              <a:latin typeface="メイリオ" panose="020B0604030504040204" pitchFamily="50" charset="-128"/>
              <a:ea typeface="メイリオ" panose="020B0604030504040204" pitchFamily="50" charset="-128"/>
            </a:endParaRPr>
          </a:p>
          <a:p>
            <a:pPr algn="ctr"/>
            <a:r>
              <a:rPr lang="en-US" altLang="ja-JP" sz="1200" dirty="0">
                <a:solidFill>
                  <a:schemeClr val="tx1"/>
                </a:solidFill>
                <a:latin typeface="メイリオ" panose="020B0604030504040204" pitchFamily="50" charset="-128"/>
                <a:ea typeface="メイリオ" panose="020B0604030504040204" pitchFamily="50" charset="-128"/>
              </a:rPr>
              <a:t>GA</a:t>
            </a:r>
            <a:r>
              <a:rPr lang="ja-JP" altLang="en-US" sz="1200" dirty="0">
                <a:solidFill>
                  <a:schemeClr val="tx1"/>
                </a:solidFill>
                <a:latin typeface="メイリオ" panose="020B0604030504040204" pitchFamily="50" charset="-128"/>
                <a:ea typeface="メイリオ" panose="020B0604030504040204" pitchFamily="50" charset="-128"/>
              </a:rPr>
              <a:t>計測、ステップ配信を構築します</a:t>
            </a:r>
            <a:endParaRPr lang="en-US" altLang="ja-JP" sz="105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AD61DD43-5145-183F-4944-CF28902E2BB5}"/>
              </a:ext>
            </a:extLst>
          </p:cNvPr>
          <p:cNvSpPr/>
          <p:nvPr/>
        </p:nvSpPr>
        <p:spPr>
          <a:xfrm>
            <a:off x="3477934" y="5447000"/>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5</a:t>
            </a:r>
            <a:r>
              <a:rPr lang="ja-JP" altLang="en-US" sz="1400" b="1" dirty="0">
                <a:solidFill>
                  <a:schemeClr val="tx1"/>
                </a:solidFill>
                <a:latin typeface="メイリオ" panose="020B0604030504040204" pitchFamily="50" charset="-128"/>
                <a:ea typeface="メイリオ" panose="020B0604030504040204" pitchFamily="50" charset="-128"/>
              </a:rPr>
              <a:t>万円</a:t>
            </a:r>
            <a:r>
              <a:rPr lang="en-US" altLang="ja-JP" sz="1400" b="1" dirty="0">
                <a:solidFill>
                  <a:schemeClr val="tx1"/>
                </a:solidFill>
                <a:latin typeface="メイリオ" panose="020B0604030504040204" pitchFamily="50" charset="-128"/>
                <a:ea typeface="メイリオ" panose="020B0604030504040204" pitchFamily="50" charset="-128"/>
              </a:rPr>
              <a:t>〜</a:t>
            </a:r>
          </a:p>
          <a:p>
            <a:pPr algn="ctr"/>
            <a:endParaRPr lang="en-US" altLang="ja-JP" sz="700" b="1" dirty="0">
              <a:solidFill>
                <a:schemeClr val="tx1"/>
              </a:solidFill>
              <a:latin typeface="メイリオ" panose="020B0604030504040204" pitchFamily="50" charset="-128"/>
              <a:ea typeface="メイリオ" panose="020B0604030504040204" pitchFamily="50" charset="-128"/>
            </a:endParaRPr>
          </a:p>
          <a:p>
            <a:pPr algn="ctr"/>
            <a:r>
              <a:rPr lang="ja-JP" altLang="en-US" sz="1200" dirty="0">
                <a:solidFill>
                  <a:schemeClr val="tx1"/>
                </a:solidFill>
                <a:latin typeface="メイリオ" panose="020B0604030504040204" pitchFamily="50" charset="-128"/>
                <a:ea typeface="メイリオ" panose="020B0604030504040204" pitchFamily="50" charset="-128"/>
              </a:rPr>
              <a:t>投稿数により変動</a:t>
            </a:r>
            <a:r>
              <a:rPr lang="en-US" altLang="ja-JP" sz="1050" dirty="0">
                <a:solidFill>
                  <a:schemeClr val="tx1"/>
                </a:solidFill>
                <a:latin typeface="メイリオ" panose="020B0604030504040204" pitchFamily="50" charset="-128"/>
                <a:ea typeface="メイリオ" panose="020B0604030504040204" pitchFamily="50" charset="-128"/>
              </a:rPr>
              <a:t>(3</a:t>
            </a:r>
            <a:r>
              <a:rPr lang="ja-JP" altLang="en-US" sz="1050" dirty="0">
                <a:solidFill>
                  <a:schemeClr val="tx1"/>
                </a:solidFill>
                <a:latin typeface="メイリオ" panose="020B0604030504040204" pitchFamily="50" charset="-128"/>
                <a:ea typeface="メイリオ" panose="020B0604030504040204" pitchFamily="50" charset="-128"/>
              </a:rPr>
              <a:t>投稿</a:t>
            </a:r>
            <a:r>
              <a:rPr lang="en-US" altLang="ja-JP" sz="1050" dirty="0">
                <a:solidFill>
                  <a:schemeClr val="tx1"/>
                </a:solidFill>
                <a:latin typeface="メイリオ" panose="020B0604030504040204" pitchFamily="50" charset="-128"/>
                <a:ea typeface="メイリオ" panose="020B0604030504040204" pitchFamily="50" charset="-128"/>
              </a:rPr>
              <a:t>〜/10</a:t>
            </a:r>
            <a:r>
              <a:rPr lang="ja-JP" altLang="en-US" sz="1050" dirty="0">
                <a:solidFill>
                  <a:schemeClr val="tx1"/>
                </a:solidFill>
                <a:latin typeface="メイリオ" panose="020B0604030504040204" pitchFamily="50" charset="-128"/>
                <a:ea typeface="メイリオ" panose="020B0604030504040204" pitchFamily="50" charset="-128"/>
              </a:rPr>
              <a:t>万円</a:t>
            </a:r>
            <a:r>
              <a:rPr lang="en-US" altLang="ja-JP" sz="1050" dirty="0">
                <a:solidFill>
                  <a:schemeClr val="tx1"/>
                </a:solidFill>
                <a:latin typeface="メイリオ" panose="020B0604030504040204" pitchFamily="50" charset="-128"/>
                <a:ea typeface="メイリオ" panose="020B0604030504040204" pitchFamily="50" charset="-128"/>
              </a:rPr>
              <a:t>6</a:t>
            </a:r>
            <a:r>
              <a:rPr lang="ja-JP" altLang="en-US" sz="1050" dirty="0">
                <a:solidFill>
                  <a:schemeClr val="tx1"/>
                </a:solidFill>
                <a:latin typeface="メイリオ" panose="020B0604030504040204" pitchFamily="50" charset="-128"/>
                <a:ea typeface="メイリオ" panose="020B0604030504040204" pitchFamily="50" charset="-128"/>
              </a:rPr>
              <a:t>投稿</a:t>
            </a:r>
            <a:r>
              <a:rPr lang="en-US" altLang="ja-JP" sz="1050" dirty="0">
                <a:solidFill>
                  <a:schemeClr val="tx1"/>
                </a:solidFill>
                <a:latin typeface="メイリオ" panose="020B0604030504040204" pitchFamily="50" charset="-128"/>
                <a:ea typeface="メイリオ" panose="020B0604030504040204" pitchFamily="50" charset="-128"/>
              </a:rPr>
              <a:t>)</a:t>
            </a:r>
          </a:p>
        </p:txBody>
      </p:sp>
      <p:sp>
        <p:nvSpPr>
          <p:cNvPr id="11" name="正方形/長方形 10">
            <a:extLst>
              <a:ext uri="{FF2B5EF4-FFF2-40B4-BE49-F238E27FC236}">
                <a16:creationId xmlns:a16="http://schemas.microsoft.com/office/drawing/2014/main" id="{AEBE1332-3E19-248E-DB59-7DA92679932C}"/>
              </a:ext>
            </a:extLst>
          </p:cNvPr>
          <p:cNvSpPr/>
          <p:nvPr/>
        </p:nvSpPr>
        <p:spPr>
          <a:xfrm>
            <a:off x="3477934" y="3550385"/>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10</a:t>
            </a:r>
            <a:r>
              <a:rPr lang="ja-JP" altLang="en-US" sz="1400" b="1" dirty="0">
                <a:solidFill>
                  <a:schemeClr val="tx1"/>
                </a:solidFill>
                <a:latin typeface="メイリオ" panose="020B0604030504040204" pitchFamily="50" charset="-128"/>
                <a:ea typeface="メイリオ" panose="020B0604030504040204" pitchFamily="50" charset="-128"/>
              </a:rPr>
              <a:t>万円</a:t>
            </a:r>
            <a:r>
              <a:rPr lang="en-US" altLang="ja-JP" sz="1400" b="1" dirty="0">
                <a:solidFill>
                  <a:schemeClr val="tx1"/>
                </a:solidFill>
                <a:latin typeface="メイリオ" panose="020B0604030504040204" pitchFamily="50" charset="-128"/>
                <a:ea typeface="メイリオ" panose="020B0604030504040204" pitchFamily="50" charset="-128"/>
              </a:rPr>
              <a:t>〜</a:t>
            </a:r>
          </a:p>
          <a:p>
            <a:pPr algn="ctr"/>
            <a:r>
              <a:rPr lang="en-US" altLang="ja-JP" sz="900" dirty="0">
                <a:solidFill>
                  <a:schemeClr val="tx1"/>
                </a:solidFill>
                <a:latin typeface="メイリオ" panose="020B0604030504040204" pitchFamily="50" charset="-128"/>
                <a:ea typeface="メイリオ" panose="020B0604030504040204" pitchFamily="50" charset="-128"/>
              </a:rPr>
              <a:t>※</a:t>
            </a:r>
            <a:r>
              <a:rPr lang="ja-JP" altLang="en-US" sz="900" dirty="0">
                <a:solidFill>
                  <a:schemeClr val="tx1"/>
                </a:solidFill>
                <a:latin typeface="メイリオ" panose="020B0604030504040204" pitchFamily="50" charset="-128"/>
                <a:ea typeface="メイリオ" panose="020B0604030504040204" pitchFamily="50" charset="-128"/>
              </a:rPr>
              <a:t>設定内容により変動</a:t>
            </a:r>
            <a:endParaRPr lang="en-US" altLang="ja-JP" sz="900"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2A0C2CFB-F02A-8049-96FD-FD6CF42B0E7A}"/>
              </a:ext>
            </a:extLst>
          </p:cNvPr>
          <p:cNvSpPr/>
          <p:nvPr/>
        </p:nvSpPr>
        <p:spPr>
          <a:xfrm>
            <a:off x="6517118" y="2602078"/>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lumMod val="65000"/>
                    <a:lumOff val="35000"/>
                  </a:schemeClr>
                </a:solidFill>
                <a:latin typeface="メイリオ" panose="020B0604030504040204" pitchFamily="50" charset="-128"/>
                <a:ea typeface="メイリオ" panose="020B0604030504040204" pitchFamily="50" charset="-128"/>
              </a:rPr>
              <a:t>20</a:t>
            </a:r>
            <a:r>
              <a:rPr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rPr>
              <a:t>万円</a:t>
            </a:r>
            <a:r>
              <a:rPr lang="en-US" altLang="ja-JP" sz="1400" b="1" dirty="0">
                <a:solidFill>
                  <a:schemeClr val="tx1">
                    <a:lumMod val="65000"/>
                    <a:lumOff val="35000"/>
                  </a:schemeClr>
                </a:solidFill>
                <a:latin typeface="メイリオ" panose="020B0604030504040204" pitchFamily="50" charset="-128"/>
                <a:ea typeface="メイリオ" panose="020B0604030504040204" pitchFamily="50" charset="-128"/>
              </a:rPr>
              <a:t>〜</a:t>
            </a:r>
          </a:p>
          <a:p>
            <a:pPr algn="ctr"/>
            <a:endParaRPr lang="en-US" altLang="ja-JP" sz="7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400" dirty="0">
                <a:solidFill>
                  <a:schemeClr val="tx1">
                    <a:lumMod val="65000"/>
                    <a:lumOff val="35000"/>
                  </a:schemeClr>
                </a:solidFill>
                <a:latin typeface="メイリオ" panose="020B0604030504040204" pitchFamily="50" charset="-128"/>
                <a:ea typeface="メイリオ" panose="020B0604030504040204" pitchFamily="50" charset="-128"/>
              </a:rPr>
              <a:t>投稿数により変動</a:t>
            </a:r>
            <a:r>
              <a:rPr lang="en-US" altLang="ja-JP" sz="1100" dirty="0">
                <a:solidFill>
                  <a:schemeClr val="tx1">
                    <a:lumMod val="65000"/>
                    <a:lumOff val="35000"/>
                  </a:schemeClr>
                </a:solidFill>
                <a:latin typeface="メイリオ" panose="020B0604030504040204" pitchFamily="50" charset="-128"/>
                <a:ea typeface="メイリオ" panose="020B0604030504040204" pitchFamily="50" charset="-128"/>
              </a:rPr>
              <a:t>(3</a:t>
            </a:r>
            <a:r>
              <a:rPr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投稿</a:t>
            </a:r>
            <a:r>
              <a:rPr lang="en-US" altLang="ja-JP" sz="1100" dirty="0">
                <a:solidFill>
                  <a:schemeClr val="tx1">
                    <a:lumMod val="65000"/>
                    <a:lumOff val="35000"/>
                  </a:schemeClr>
                </a:solidFill>
                <a:latin typeface="メイリオ" panose="020B0604030504040204" pitchFamily="50" charset="-128"/>
                <a:ea typeface="メイリオ" panose="020B0604030504040204" pitchFamily="50" charset="-128"/>
              </a:rPr>
              <a:t>〜)</a:t>
            </a:r>
          </a:p>
        </p:txBody>
      </p:sp>
      <p:sp>
        <p:nvSpPr>
          <p:cNvPr id="14" name="正方形/長方形 13">
            <a:extLst>
              <a:ext uri="{FF2B5EF4-FFF2-40B4-BE49-F238E27FC236}">
                <a16:creationId xmlns:a16="http://schemas.microsoft.com/office/drawing/2014/main" id="{E6CA090D-A0FE-B83F-F9D4-7F2081B321AC}"/>
              </a:ext>
            </a:extLst>
          </p:cNvPr>
          <p:cNvSpPr/>
          <p:nvPr/>
        </p:nvSpPr>
        <p:spPr>
          <a:xfrm>
            <a:off x="6517118" y="4498692"/>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lumMod val="65000"/>
                    <a:lumOff val="35000"/>
                  </a:schemeClr>
                </a:solidFill>
                <a:latin typeface="メイリオ" panose="020B0604030504040204" pitchFamily="50" charset="-128"/>
                <a:ea typeface="メイリオ" panose="020B0604030504040204" pitchFamily="50" charset="-128"/>
              </a:rPr>
              <a:t>0</a:t>
            </a:r>
            <a:r>
              <a:rPr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rPr>
              <a:t>万円</a:t>
            </a:r>
            <a:r>
              <a:rPr lang="en-US" altLang="ja-JP" sz="1400" b="1" dirty="0">
                <a:solidFill>
                  <a:schemeClr val="tx1">
                    <a:lumMod val="65000"/>
                    <a:lumOff val="35000"/>
                  </a:schemeClr>
                </a:solidFill>
                <a:latin typeface="メイリオ" panose="020B0604030504040204" pitchFamily="50" charset="-128"/>
                <a:ea typeface="メイリオ" panose="020B0604030504040204" pitchFamily="50" charset="-128"/>
              </a:rPr>
              <a:t>〜</a:t>
            </a:r>
            <a:endParaRPr lang="en-US" altLang="ja-JP" sz="7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アカウント費用のみ発生</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75000"/>
                  </a:schemeClr>
                </a:solidFill>
                <a:latin typeface="メイリオ" panose="020B0604030504040204" pitchFamily="50" charset="-128"/>
                <a:ea typeface="メイリオ" panose="020B0604030504040204" pitchFamily="50" charset="-128"/>
              </a:rPr>
              <a:t>※</a:t>
            </a:r>
            <a:r>
              <a:rPr lang="ja-JP" altLang="en-US" sz="1050" dirty="0">
                <a:solidFill>
                  <a:schemeClr val="bg1">
                    <a:lumMod val="75000"/>
                  </a:schemeClr>
                </a:solidFill>
                <a:latin typeface="メイリオ" panose="020B0604030504040204" pitchFamily="50" charset="-128"/>
                <a:ea typeface="メイリオ" panose="020B0604030504040204" pitchFamily="50" charset="-128"/>
              </a:rPr>
              <a:t>機能導入の場合は別途費用（</a:t>
            </a:r>
            <a:r>
              <a:rPr lang="en-US" altLang="ja-JP" sz="1050" dirty="0">
                <a:solidFill>
                  <a:schemeClr val="bg1">
                    <a:lumMod val="75000"/>
                  </a:schemeClr>
                </a:solidFill>
                <a:latin typeface="メイリオ" panose="020B0604030504040204" pitchFamily="50" charset="-128"/>
                <a:ea typeface="メイリオ" panose="020B0604030504040204" pitchFamily="50" charset="-128"/>
              </a:rPr>
              <a:t>Fee</a:t>
            </a:r>
            <a:r>
              <a:rPr lang="ja-JP" altLang="en-US" sz="1050" dirty="0">
                <a:solidFill>
                  <a:schemeClr val="bg1">
                    <a:lumMod val="75000"/>
                  </a:schemeClr>
                </a:solidFill>
                <a:latin typeface="メイリオ" panose="020B0604030504040204" pitchFamily="50" charset="-128"/>
                <a:ea typeface="メイリオ" panose="020B0604030504040204" pitchFamily="50" charset="-128"/>
              </a:rPr>
              <a:t>）が発生</a:t>
            </a:r>
            <a:endParaRPr lang="en-US" altLang="ja-JP" sz="1050"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EE3D57F9-87AE-6E15-36E0-FB1FCC357320}"/>
              </a:ext>
            </a:extLst>
          </p:cNvPr>
          <p:cNvSpPr/>
          <p:nvPr/>
        </p:nvSpPr>
        <p:spPr>
          <a:xfrm>
            <a:off x="6517118" y="5447000"/>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lumMod val="65000"/>
                    <a:lumOff val="35000"/>
                  </a:schemeClr>
                </a:solidFill>
                <a:latin typeface="メイリオ" panose="020B0604030504040204" pitchFamily="50" charset="-128"/>
                <a:ea typeface="メイリオ" panose="020B0604030504040204" pitchFamily="50" charset="-128"/>
              </a:rPr>
              <a:t>5</a:t>
            </a:r>
            <a:r>
              <a:rPr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rPr>
              <a:t>万円</a:t>
            </a:r>
            <a:r>
              <a:rPr lang="en-US" altLang="ja-JP" sz="1400" b="1" dirty="0">
                <a:solidFill>
                  <a:schemeClr val="tx1">
                    <a:lumMod val="65000"/>
                    <a:lumOff val="35000"/>
                  </a:schemeClr>
                </a:solidFill>
                <a:latin typeface="メイリオ" panose="020B0604030504040204" pitchFamily="50" charset="-128"/>
                <a:ea typeface="メイリオ" panose="020B0604030504040204" pitchFamily="50" charset="-128"/>
              </a:rPr>
              <a:t>〜</a:t>
            </a:r>
          </a:p>
          <a:p>
            <a:pPr algn="ctr"/>
            <a:endParaRPr lang="en-US" altLang="ja-JP" sz="7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投稿数により変動</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(3</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投稿</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〜/10</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万円</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6</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投稿</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a:t>
            </a:r>
          </a:p>
        </p:txBody>
      </p:sp>
      <p:sp>
        <p:nvSpPr>
          <p:cNvPr id="16" name="正方形/長方形 15">
            <a:extLst>
              <a:ext uri="{FF2B5EF4-FFF2-40B4-BE49-F238E27FC236}">
                <a16:creationId xmlns:a16="http://schemas.microsoft.com/office/drawing/2014/main" id="{CA00712D-E4EC-DEB7-454F-CD087FC64AB8}"/>
              </a:ext>
            </a:extLst>
          </p:cNvPr>
          <p:cNvSpPr/>
          <p:nvPr/>
        </p:nvSpPr>
        <p:spPr>
          <a:xfrm>
            <a:off x="6517118" y="3550385"/>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lumMod val="65000"/>
                    <a:lumOff val="35000"/>
                  </a:schemeClr>
                </a:solidFill>
                <a:latin typeface="メイリオ" panose="020B0604030504040204" pitchFamily="50" charset="-128"/>
                <a:ea typeface="メイリオ" panose="020B0604030504040204" pitchFamily="50" charset="-128"/>
              </a:rPr>
              <a:t>単価</a:t>
            </a:r>
            <a:r>
              <a:rPr lang="en-US" altLang="ja-JP" b="1"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b="1" dirty="0">
                <a:solidFill>
                  <a:schemeClr val="tx1">
                    <a:lumMod val="65000"/>
                    <a:lumOff val="35000"/>
                  </a:schemeClr>
                </a:solidFill>
                <a:latin typeface="メイリオ" panose="020B0604030504040204" pitchFamily="50" charset="-128"/>
                <a:ea typeface="メイリオ" panose="020B0604030504040204" pitchFamily="50" charset="-128"/>
              </a:rPr>
              <a:t>成果数により変動</a:t>
            </a:r>
            <a:endParaRPr lang="en-US" altLang="ja-JP" sz="12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endParaRPr lang="en-US" altLang="ja-JP" sz="7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アカウント費とツール費は発生します</a:t>
            </a:r>
            <a:endParaRPr lang="en-US" altLang="ja-JP" sz="7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B3C94D54-28FD-BEBF-AEF0-979D8BE80231}"/>
              </a:ext>
            </a:extLst>
          </p:cNvPr>
          <p:cNvSpPr txBox="1"/>
          <p:nvPr/>
        </p:nvSpPr>
        <p:spPr>
          <a:xfrm>
            <a:off x="3569145" y="2256270"/>
            <a:ext cx="2800460" cy="261610"/>
          </a:xfrm>
          <a:prstGeom prst="rect">
            <a:avLst/>
          </a:prstGeom>
          <a:noFill/>
        </p:spPr>
        <p:txBody>
          <a:bodyPr wrap="square">
            <a:spAutoFit/>
          </a:bodyPr>
          <a:lstStyle/>
          <a:p>
            <a:pPr algn="ctr"/>
            <a:r>
              <a:rPr kumimoji="1" lang="en-US" altLang="ja-JP" sz="1100" b="1" dirty="0">
                <a:solidFill>
                  <a:schemeClr val="tx1">
                    <a:lumMod val="65000"/>
                    <a:lumOff val="35000"/>
                  </a:schemeClr>
                </a:solidFill>
                <a:latin typeface="メイリオ" panose="020B0604030504040204" pitchFamily="50" charset="-128"/>
                <a:ea typeface="メイリオ" panose="020B0604030504040204" pitchFamily="50" charset="-128"/>
              </a:rPr>
              <a:t>&lt;</a:t>
            </a:r>
            <a:r>
              <a:rPr kumimoji="1" lang="ja-JP" altLang="en-US" sz="1100" b="1" dirty="0">
                <a:solidFill>
                  <a:schemeClr val="tx1">
                    <a:lumMod val="65000"/>
                    <a:lumOff val="35000"/>
                  </a:schemeClr>
                </a:solidFill>
                <a:latin typeface="メイリオ" panose="020B0604030504040204" pitchFamily="50" charset="-128"/>
                <a:ea typeface="メイリオ" panose="020B0604030504040204" pitchFamily="50" charset="-128"/>
              </a:rPr>
              <a:t>初期費用</a:t>
            </a:r>
            <a:r>
              <a:rPr kumimoji="1" lang="en-US" altLang="ja-JP" sz="1100" b="1" dirty="0">
                <a:solidFill>
                  <a:schemeClr val="tx1">
                    <a:lumMod val="65000"/>
                    <a:lumOff val="35000"/>
                  </a:schemeClr>
                </a:solidFill>
                <a:latin typeface="メイリオ" panose="020B0604030504040204" pitchFamily="50" charset="-128"/>
                <a:ea typeface="メイリオ" panose="020B0604030504040204" pitchFamily="50" charset="-128"/>
              </a:rPr>
              <a:t>&gt;</a:t>
            </a:r>
            <a:endParaRPr kumimoji="1" lang="ja-JP" altLang="en-US" sz="11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91B5A2B5-E8BF-32E8-3229-6262A8849DFA}"/>
              </a:ext>
            </a:extLst>
          </p:cNvPr>
          <p:cNvSpPr txBox="1"/>
          <p:nvPr/>
        </p:nvSpPr>
        <p:spPr>
          <a:xfrm>
            <a:off x="6608329" y="2256270"/>
            <a:ext cx="2800460" cy="261610"/>
          </a:xfrm>
          <a:prstGeom prst="rect">
            <a:avLst/>
          </a:prstGeom>
          <a:noFill/>
        </p:spPr>
        <p:txBody>
          <a:bodyPr wrap="square">
            <a:spAutoFit/>
          </a:bodyPr>
          <a:lstStyle/>
          <a:p>
            <a:pPr algn="ctr"/>
            <a:r>
              <a:rPr kumimoji="1" lang="en-US" altLang="ja-JP" sz="1100" b="1" dirty="0">
                <a:solidFill>
                  <a:schemeClr val="tx1">
                    <a:lumMod val="65000"/>
                    <a:lumOff val="35000"/>
                  </a:schemeClr>
                </a:solidFill>
                <a:latin typeface="メイリオ" panose="020B0604030504040204" pitchFamily="50" charset="-128"/>
                <a:ea typeface="メイリオ" panose="020B0604030504040204" pitchFamily="50" charset="-128"/>
              </a:rPr>
              <a:t>&lt;</a:t>
            </a:r>
            <a:r>
              <a:rPr kumimoji="1" lang="ja-JP" altLang="en-US" sz="1100" b="1" dirty="0">
                <a:solidFill>
                  <a:schemeClr val="tx1">
                    <a:lumMod val="65000"/>
                    <a:lumOff val="35000"/>
                  </a:schemeClr>
                </a:solidFill>
                <a:latin typeface="メイリオ" panose="020B0604030504040204" pitchFamily="50" charset="-128"/>
                <a:ea typeface="メイリオ" panose="020B0604030504040204" pitchFamily="50" charset="-128"/>
              </a:rPr>
              <a:t>月額費用</a:t>
            </a:r>
            <a:r>
              <a:rPr kumimoji="1" lang="en-US" altLang="ja-JP" sz="1100" b="1" dirty="0">
                <a:solidFill>
                  <a:schemeClr val="tx1">
                    <a:lumMod val="65000"/>
                    <a:lumOff val="35000"/>
                  </a:schemeClr>
                </a:solidFill>
                <a:latin typeface="メイリオ" panose="020B0604030504040204" pitchFamily="50" charset="-128"/>
                <a:ea typeface="メイリオ" panose="020B0604030504040204" pitchFamily="50" charset="-128"/>
              </a:rPr>
              <a:t>&gt;</a:t>
            </a:r>
            <a:endParaRPr kumimoji="1" lang="ja-JP" altLang="en-US" sz="11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4" name="テキスト ボックス 23">
            <a:extLst>
              <a:ext uri="{FF2B5EF4-FFF2-40B4-BE49-F238E27FC236}">
                <a16:creationId xmlns:a16="http://schemas.microsoft.com/office/drawing/2014/main" id="{F2E30823-4A97-1E61-22CA-60C942910619}"/>
              </a:ext>
            </a:extLst>
          </p:cNvPr>
          <p:cNvSpPr txBox="1"/>
          <p:nvPr/>
        </p:nvSpPr>
        <p:spPr>
          <a:xfrm>
            <a:off x="4864912" y="1516791"/>
            <a:ext cx="4294201" cy="276999"/>
          </a:xfrm>
          <a:prstGeom prst="rect">
            <a:avLst/>
          </a:prstGeom>
          <a:noFill/>
        </p:spPr>
        <p:txBody>
          <a:bodyPr wrap="square">
            <a:spAutoFit/>
          </a:bodyPr>
          <a:lstStyle/>
          <a:p>
            <a:r>
              <a:rPr lang="en-US" altLang="ja-JP" sz="12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いずれも</a:t>
            </a:r>
            <a:r>
              <a:rPr lang="en-US" altLang="ja-JP" sz="1200" b="1" dirty="0">
                <a:solidFill>
                  <a:srgbClr val="FF0000"/>
                </a:solidFill>
                <a:latin typeface="メイリオ" panose="020B0604030504040204" pitchFamily="50" charset="-128"/>
                <a:ea typeface="メイリオ" panose="020B0604030504040204" pitchFamily="50" charset="-128"/>
                <a:cs typeface="Meiryo"/>
                <a:sym typeface="Meiryo"/>
              </a:rPr>
              <a:t>6</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か月</a:t>
            </a:r>
            <a:r>
              <a:rPr lang="en-US" altLang="ja-JP" sz="12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の契約となります。</a:t>
            </a:r>
            <a:endParaRPr lang="ja-JP" altLang="en-US" sz="1200" b="1" dirty="0">
              <a:solidFill>
                <a:srgbClr val="FF0000"/>
              </a:solidFill>
            </a:endParaRPr>
          </a:p>
        </p:txBody>
      </p:sp>
      <p:sp>
        <p:nvSpPr>
          <p:cNvPr id="25" name="テキスト ボックス 24">
            <a:extLst>
              <a:ext uri="{FF2B5EF4-FFF2-40B4-BE49-F238E27FC236}">
                <a16:creationId xmlns:a16="http://schemas.microsoft.com/office/drawing/2014/main" id="{D33F2179-B983-907C-4091-A1C6C62D52D4}"/>
              </a:ext>
            </a:extLst>
          </p:cNvPr>
          <p:cNvSpPr txBox="1"/>
          <p:nvPr/>
        </p:nvSpPr>
        <p:spPr>
          <a:xfrm>
            <a:off x="4879760" y="1751891"/>
            <a:ext cx="4294201" cy="276999"/>
          </a:xfrm>
          <a:prstGeom prst="rect">
            <a:avLst/>
          </a:prstGeom>
          <a:noFill/>
        </p:spPr>
        <p:txBody>
          <a:bodyPr wrap="square">
            <a:spAutoFit/>
          </a:bodyPr>
          <a:lstStyle/>
          <a:p>
            <a:r>
              <a:rPr lang="en-US" altLang="ja-JP" sz="12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開発やツール導入の場合は別途費用が発生します。</a:t>
            </a:r>
            <a:endParaRPr lang="ja-JP" altLang="en-US" sz="1200" b="1" dirty="0">
              <a:solidFill>
                <a:srgbClr val="FF0000"/>
              </a:solidFill>
            </a:endParaRPr>
          </a:p>
        </p:txBody>
      </p:sp>
      <p:sp>
        <p:nvSpPr>
          <p:cNvPr id="18" name="正方形/長方形 17">
            <a:extLst>
              <a:ext uri="{FF2B5EF4-FFF2-40B4-BE49-F238E27FC236}">
                <a16:creationId xmlns:a16="http://schemas.microsoft.com/office/drawing/2014/main" id="{6C7D4DA1-1231-53FE-3BA9-7E10A6828C3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Tree>
    <p:extLst>
      <p:ext uri="{BB962C8B-B14F-4D97-AF65-F5344CB8AC3E}">
        <p14:creationId xmlns:p14="http://schemas.microsoft.com/office/powerpoint/2010/main" val="21829766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28F20-05AF-7B34-5B14-225CADFA40E5}"/>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CCBC79D5-B48C-EA1F-E7C8-2470B18780CC}"/>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D61F0D43-1EC8-C807-64DC-BE9799A02F79}"/>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コンサル基本プラン</a:t>
            </a:r>
          </a:p>
        </p:txBody>
      </p:sp>
      <p:sp>
        <p:nvSpPr>
          <p:cNvPr id="3" name="Google Shape;752;p28">
            <a:extLst>
              <a:ext uri="{FF2B5EF4-FFF2-40B4-BE49-F238E27FC236}">
                <a16:creationId xmlns:a16="http://schemas.microsoft.com/office/drawing/2014/main" id="{690D08B2-6972-E80D-2DA1-D0B4EE8CE831}"/>
              </a:ext>
            </a:extLst>
          </p:cNvPr>
          <p:cNvSpPr txBox="1"/>
          <p:nvPr/>
        </p:nvSpPr>
        <p:spPr>
          <a:xfrm>
            <a:off x="2914650" y="859443"/>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latin typeface="メイリオ" panose="020B0604030504040204" pitchFamily="50" charset="-128"/>
                <a:ea typeface="メイリオ" panose="020B0604030504040204" pitchFamily="50" charset="-128"/>
                <a:cs typeface="Meiryo"/>
                <a:sym typeface="Meiryo"/>
              </a:rPr>
              <a:t>オーソドックスなコンサルプラン。月間企画数により費用を設定。</a:t>
            </a:r>
          </a:p>
        </p:txBody>
      </p:sp>
      <p:sp>
        <p:nvSpPr>
          <p:cNvPr id="7" name="正方形/長方形 6">
            <a:extLst>
              <a:ext uri="{FF2B5EF4-FFF2-40B4-BE49-F238E27FC236}">
                <a16:creationId xmlns:a16="http://schemas.microsoft.com/office/drawing/2014/main" id="{9640D725-6CB1-3362-4D55-D2D874EE3245}"/>
              </a:ext>
            </a:extLst>
          </p:cNvPr>
          <p:cNvSpPr/>
          <p:nvPr/>
        </p:nvSpPr>
        <p:spPr>
          <a:xfrm>
            <a:off x="548883" y="3587932"/>
            <a:ext cx="8859613" cy="288253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graphicFrame>
        <p:nvGraphicFramePr>
          <p:cNvPr id="10" name="表 9">
            <a:extLst>
              <a:ext uri="{FF2B5EF4-FFF2-40B4-BE49-F238E27FC236}">
                <a16:creationId xmlns:a16="http://schemas.microsoft.com/office/drawing/2014/main" id="{C9C27775-D0B4-87CE-2D50-752D4FF8706F}"/>
              </a:ext>
            </a:extLst>
          </p:cNvPr>
          <p:cNvGraphicFramePr>
            <a:graphicFrameLocks noGrp="1"/>
          </p:cNvGraphicFramePr>
          <p:nvPr/>
        </p:nvGraphicFramePr>
        <p:xfrm>
          <a:off x="706726" y="3963057"/>
          <a:ext cx="8543925" cy="2454494"/>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175321">
                <a:tc>
                  <a:txBody>
                    <a:bodyPr/>
                    <a:lstStyle/>
                    <a:p>
                      <a:pPr algn="ctr" fontAlgn="ctr">
                        <a:buNone/>
                      </a:pPr>
                      <a:r>
                        <a:rPr lang="ja-JP" altLang="en-US" sz="800" b="1" i="0" u="none" strike="noStrike" dirty="0">
                          <a:solidFill>
                            <a:srgbClr val="FFFFFF"/>
                          </a:solidFill>
                          <a:effectLst/>
                          <a:latin typeface="メイリオ" panose="020B0604030504040204" pitchFamily="50" charset="-128"/>
                          <a:ea typeface="メイリオ" panose="020B0604030504040204" pitchFamily="50" charset="-128"/>
                        </a:rPr>
                        <a:t>対応項目</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月額</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800" b="1"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対応項目</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dirty="0">
                          <a:solidFill>
                            <a:srgbClr val="FFFFFF"/>
                          </a:solidFill>
                          <a:effectLst/>
                          <a:latin typeface="メイリオ" panose="020B0604030504040204" pitchFamily="50" charset="-128"/>
                          <a:ea typeface="メイリオ" panose="020B0604030504040204" pitchFamily="50" charset="-128"/>
                        </a:rPr>
                        <a:t>月額</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アカウント開設</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¥10,000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dirty="0">
                          <a:solidFill>
                            <a:srgbClr val="000000"/>
                          </a:solidFill>
                          <a:effectLst/>
                          <a:latin typeface="メイリオ" panose="020B0604030504040204" pitchFamily="50" charset="-128"/>
                          <a:ea typeface="メイリオ" panose="020B0604030504040204" pitchFamily="50" charset="-128"/>
                        </a:rPr>
                        <a:t>API</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ツール導入</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20324702"/>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プロフィール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ID</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連携</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72466269"/>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リッチメニュー</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ログイン</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43180495"/>
                  </a:ext>
                </a:extLst>
              </a:tr>
              <a:tr h="175321">
                <a:tc>
                  <a:txBody>
                    <a:bodyPr/>
                    <a:lstStyle/>
                    <a:p>
                      <a:pPr algn="ctr" fontAlgn="ctr">
                        <a:buNone/>
                      </a:pPr>
                      <a:r>
                        <a:rPr lang="ja-JP" altLang="en-US" sz="800" b="0" i="0" u="none" strike="noStrike">
                          <a:solidFill>
                            <a:srgbClr val="000000"/>
                          </a:solidFill>
                          <a:effectLst/>
                          <a:highlight>
                            <a:srgbClr val="FFFF00"/>
                          </a:highlight>
                          <a:latin typeface="メイリオ" panose="020B0604030504040204" pitchFamily="50" charset="-128"/>
                          <a:ea typeface="メイリオ" panose="020B0604030504040204" pitchFamily="50" charset="-128"/>
                        </a:rPr>
                        <a:t>あいさつメッセージ</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通知メッセージ</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¥600,000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95619942"/>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初期アンケート</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チャットボット機能</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98230469"/>
                  </a:ext>
                </a:extLst>
              </a:tr>
              <a:tr h="175321">
                <a:tc>
                  <a:txBody>
                    <a:bodyPr/>
                    <a:lstStyle/>
                    <a:p>
                      <a:pPr algn="ctr" fontAlgn="ctr">
                        <a:buNone/>
                      </a:pPr>
                      <a:r>
                        <a:rPr 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KW</a:t>
                      </a: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の自動応答</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dirty="0">
                          <a:solidFill>
                            <a:srgbClr val="000000"/>
                          </a:solidFill>
                          <a:effectLst/>
                          <a:latin typeface="メイリオ" panose="020B0604030504040204" pitchFamily="50" charset="-128"/>
                          <a:ea typeface="メイリオ" panose="020B0604030504040204" pitchFamily="50" charset="-128"/>
                        </a:rPr>
                        <a:t>Chat Plus</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1305542"/>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ステップ配信</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Call Plus</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l-GR" sz="800" b="0" i="0" u="none" strike="noStrike">
                          <a:solidFill>
                            <a:schemeClr val="bg1">
                              <a:lumMod val="75000"/>
                            </a:schemeClr>
                          </a:solidFill>
                          <a:effectLst/>
                          <a:latin typeface="メイリオ" panose="020B0604030504040204" pitchFamily="50" charset="-128"/>
                          <a:ea typeface="メイリオ" panose="020B0604030504040204" pitchFamily="50" charset="-128"/>
                        </a:rPr>
                        <a:t>¥100,000+α</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11135084"/>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セグメント配信</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決済</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3,5</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手数料</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89714401"/>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チャットタグ管理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予約管理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¥3,000~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60214931"/>
                  </a:ext>
                </a:extLst>
              </a:tr>
              <a:tr h="175321">
                <a:tc>
                  <a:txBody>
                    <a:bodyPr/>
                    <a:lstStyle/>
                    <a:p>
                      <a:pPr algn="ctr" fontAlgn="ctr">
                        <a:buNone/>
                      </a:pPr>
                      <a:r>
                        <a:rPr lang="ja-JP" altLang="en-US" sz="800" b="0" i="0" u="none" strike="noStrike" dirty="0">
                          <a:solidFill>
                            <a:srgbClr val="000000"/>
                          </a:solidFill>
                          <a:effectLst/>
                          <a:highlight>
                            <a:srgbClr val="F6A454"/>
                          </a:highlight>
                          <a:latin typeface="メイリオ" panose="020B0604030504040204" pitchFamily="50" charset="-128"/>
                          <a:ea typeface="メイリオ" panose="020B0604030504040204" pitchFamily="50" charset="-128"/>
                        </a:rPr>
                        <a:t>チャット対応</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多店舗管理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¥15,000(/</a:t>
                      </a:r>
                      <a:r>
                        <a:rPr lang="ja-JP" altLang="en-US" sz="800" b="0" i="0" u="none" strike="noStrike">
                          <a:solidFill>
                            <a:schemeClr val="bg1">
                              <a:lumMod val="75000"/>
                            </a:schemeClr>
                          </a:solidFill>
                          <a:effectLst/>
                          <a:latin typeface="メイリオ" panose="020B0604030504040204" pitchFamily="50" charset="-128"/>
                          <a:ea typeface="メイリオ" panose="020B0604030504040204" pitchFamily="50" charset="-128"/>
                        </a:rPr>
                        <a:t>店舗</a:t>
                      </a: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¥15,000(/</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店舗</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19396613"/>
                  </a:ext>
                </a:extLst>
              </a:tr>
              <a:tr h="175321">
                <a:tc>
                  <a:txBody>
                    <a:bodyPr/>
                    <a:lstStyle/>
                    <a:p>
                      <a:pPr algn="ctr" fontAlgn="ctr">
                        <a:buNone/>
                      </a:pPr>
                      <a:r>
                        <a:rPr lang="en-US" alt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GA(CRM)</a:t>
                      </a: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レポート連携</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02321774"/>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クリエイティブ</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離脱防止ツール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¥10,000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¥10,000~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8905920"/>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定例会</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サンクス</a:t>
                      </a: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誘導ツール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17655704"/>
                  </a:ext>
                </a:extLst>
              </a:tr>
            </a:tbl>
          </a:graphicData>
        </a:graphic>
      </p:graphicFrame>
      <p:sp>
        <p:nvSpPr>
          <p:cNvPr id="12" name="テキスト ボックス 11">
            <a:extLst>
              <a:ext uri="{FF2B5EF4-FFF2-40B4-BE49-F238E27FC236}">
                <a16:creationId xmlns:a16="http://schemas.microsoft.com/office/drawing/2014/main" id="{78F7A265-899D-CCF4-2C14-ED5BB94EA90E}"/>
              </a:ext>
            </a:extLst>
          </p:cNvPr>
          <p:cNvSpPr txBox="1"/>
          <p:nvPr/>
        </p:nvSpPr>
        <p:spPr>
          <a:xfrm>
            <a:off x="706726" y="3644690"/>
            <a:ext cx="4963884" cy="261610"/>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追加作業における費用感</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&gt;</a:t>
            </a:r>
            <a:endParaRPr lang="ja-JP" altLang="en-US" sz="1050" dirty="0">
              <a:solidFill>
                <a:schemeClr val="tx1">
                  <a:lumMod val="65000"/>
                  <a:lumOff val="35000"/>
                </a:schemeClr>
              </a:solidFill>
            </a:endParaRPr>
          </a:p>
        </p:txBody>
      </p:sp>
      <p:graphicFrame>
        <p:nvGraphicFramePr>
          <p:cNvPr id="20" name="表 19">
            <a:extLst>
              <a:ext uri="{FF2B5EF4-FFF2-40B4-BE49-F238E27FC236}">
                <a16:creationId xmlns:a16="http://schemas.microsoft.com/office/drawing/2014/main" id="{35A17481-69F7-B4A9-E021-97EE397EC507}"/>
              </a:ext>
            </a:extLst>
          </p:cNvPr>
          <p:cNvGraphicFramePr>
            <a:graphicFrameLocks noGrp="1"/>
          </p:cNvGraphicFramePr>
          <p:nvPr/>
        </p:nvGraphicFramePr>
        <p:xfrm>
          <a:off x="5052177" y="3697199"/>
          <a:ext cx="1236867" cy="175321"/>
        </p:xfrm>
        <a:graphic>
          <a:graphicData uri="http://schemas.openxmlformats.org/drawingml/2006/table">
            <a:tbl>
              <a:tblPr/>
              <a:tblGrid>
                <a:gridCol w="1236867">
                  <a:extLst>
                    <a:ext uri="{9D8B030D-6E8A-4147-A177-3AD203B41FA5}">
                      <a16:colId xmlns:a16="http://schemas.microsoft.com/office/drawing/2014/main" val="1094262138"/>
                    </a:ext>
                  </a:extLst>
                </a:gridCol>
              </a:tblGrid>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運用時、基本付帯する</a:t>
                      </a:r>
                    </a:p>
                  </a:txBody>
                  <a:tcPr marL="8241" marR="8241"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graphicFrame>
        <p:nvGraphicFramePr>
          <p:cNvPr id="21" name="表 20">
            <a:extLst>
              <a:ext uri="{FF2B5EF4-FFF2-40B4-BE49-F238E27FC236}">
                <a16:creationId xmlns:a16="http://schemas.microsoft.com/office/drawing/2014/main" id="{389502D4-BA2A-6A1C-BF6C-A371B6D109FD}"/>
              </a:ext>
            </a:extLst>
          </p:cNvPr>
          <p:cNvGraphicFramePr>
            <a:graphicFrameLocks noGrp="1"/>
          </p:cNvGraphicFramePr>
          <p:nvPr/>
        </p:nvGraphicFramePr>
        <p:xfrm>
          <a:off x="7891522" y="3697199"/>
          <a:ext cx="1249236" cy="153961"/>
        </p:xfrm>
        <a:graphic>
          <a:graphicData uri="http://schemas.openxmlformats.org/drawingml/2006/table">
            <a:tbl>
              <a:tblPr/>
              <a:tblGrid>
                <a:gridCol w="1249236">
                  <a:extLst>
                    <a:ext uri="{9D8B030D-6E8A-4147-A177-3AD203B41FA5}">
                      <a16:colId xmlns:a16="http://schemas.microsoft.com/office/drawing/2014/main" val="1094262138"/>
                    </a:ext>
                  </a:extLst>
                </a:gridCol>
              </a:tblGrid>
              <a:tr h="153961">
                <a:tc>
                  <a:txBody>
                    <a:bodyPr/>
                    <a:lstStyle/>
                    <a:p>
                      <a:pPr algn="ctr" fontAlgn="ctr">
                        <a:buNone/>
                      </a:pPr>
                      <a:r>
                        <a:rPr lang="ja-JP" altLang="en-US" sz="800" b="0" i="0" u="none" strike="noStrike" dirty="0">
                          <a:solidFill>
                            <a:srgbClr val="000000"/>
                          </a:solidFill>
                          <a:effectLst/>
                          <a:highlight>
                            <a:srgbClr val="C0C0C0"/>
                          </a:highlight>
                          <a:latin typeface="メイリオ" panose="020B0604030504040204" pitchFamily="50" charset="-128"/>
                          <a:ea typeface="メイリオ" panose="020B0604030504040204" pitchFamily="50" charset="-128"/>
                        </a:rPr>
                        <a:t>対応しない領域</a:t>
                      </a:r>
                    </a:p>
                  </a:txBody>
                  <a:tcPr marL="8323" marR="8323"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graphicFrame>
        <p:nvGraphicFramePr>
          <p:cNvPr id="22" name="表 21">
            <a:extLst>
              <a:ext uri="{FF2B5EF4-FFF2-40B4-BE49-F238E27FC236}">
                <a16:creationId xmlns:a16="http://schemas.microsoft.com/office/drawing/2014/main" id="{1AEA4D62-5A51-5D4C-668D-F5733449D649}"/>
              </a:ext>
            </a:extLst>
          </p:cNvPr>
          <p:cNvGraphicFramePr>
            <a:graphicFrameLocks noGrp="1"/>
          </p:cNvGraphicFramePr>
          <p:nvPr/>
        </p:nvGraphicFramePr>
        <p:xfrm>
          <a:off x="6465665" y="3697198"/>
          <a:ext cx="1249236" cy="175321"/>
        </p:xfrm>
        <a:graphic>
          <a:graphicData uri="http://schemas.openxmlformats.org/drawingml/2006/table">
            <a:tbl>
              <a:tblPr/>
              <a:tblGrid>
                <a:gridCol w="1249236">
                  <a:extLst>
                    <a:ext uri="{9D8B030D-6E8A-4147-A177-3AD203B41FA5}">
                      <a16:colId xmlns:a16="http://schemas.microsoft.com/office/drawing/2014/main" val="1094262138"/>
                    </a:ext>
                  </a:extLst>
                </a:gridCol>
              </a:tblGrid>
              <a:tr h="175321">
                <a:tc>
                  <a:txBody>
                    <a:bodyPr/>
                    <a:lstStyle/>
                    <a:p>
                      <a:pPr algn="ctr" fontAlgn="ctr">
                        <a:buNone/>
                      </a:pPr>
                      <a:r>
                        <a:rPr lang="ja-JP" altLang="en-US" sz="800" b="0" i="0" u="none" strike="noStrike" dirty="0">
                          <a:solidFill>
                            <a:srgbClr val="000000"/>
                          </a:solidFill>
                          <a:effectLst/>
                          <a:highlight>
                            <a:srgbClr val="F6A454"/>
                          </a:highlight>
                          <a:latin typeface="メイリオ" panose="020B0604030504040204" pitchFamily="50" charset="-128"/>
                          <a:ea typeface="メイリオ" panose="020B0604030504040204" pitchFamily="50" charset="-128"/>
                        </a:rPr>
                        <a:t>貴社にて対応</a:t>
                      </a:r>
                    </a:p>
                  </a:txBody>
                  <a:tcPr marL="8323" marR="8323"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sp>
        <p:nvSpPr>
          <p:cNvPr id="2" name="正方形/長方形 1">
            <a:extLst>
              <a:ext uri="{FF2B5EF4-FFF2-40B4-BE49-F238E27FC236}">
                <a16:creationId xmlns:a16="http://schemas.microsoft.com/office/drawing/2014/main" id="{C482A5B9-1B77-7CB2-3577-651B908CC4DA}"/>
              </a:ext>
            </a:extLst>
          </p:cNvPr>
          <p:cNvSpPr/>
          <p:nvPr/>
        </p:nvSpPr>
        <p:spPr>
          <a:xfrm>
            <a:off x="706726" y="1556872"/>
            <a:ext cx="2326304"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chemeClr val="tx1"/>
                </a:solidFill>
                <a:latin typeface="メイリオ" panose="020B0604030504040204" pitchFamily="50" charset="-128"/>
                <a:ea typeface="メイリオ" panose="020B0604030504040204" pitchFamily="50" charset="-128"/>
              </a:rPr>
              <a:t>20</a:t>
            </a:r>
            <a:r>
              <a:rPr kumimoji="1" lang="ja-JP" altLang="en-US" sz="1600" b="1" dirty="0">
                <a:solidFill>
                  <a:schemeClr val="tx1"/>
                </a:solidFill>
                <a:latin typeface="メイリオ" panose="020B0604030504040204" pitchFamily="50" charset="-128"/>
                <a:ea typeface="メイリオ" panose="020B0604030504040204" pitchFamily="50" charset="-128"/>
              </a:rPr>
              <a:t>万円</a:t>
            </a:r>
            <a:r>
              <a:rPr kumimoji="1" lang="ja-JP" altLang="en-US" sz="1400" b="1" dirty="0">
                <a:solidFill>
                  <a:schemeClr val="tx1"/>
                </a:solidFill>
                <a:latin typeface="メイリオ" panose="020B0604030504040204" pitchFamily="50" charset="-128"/>
                <a:ea typeface="メイリオ" panose="020B0604030504040204" pitchFamily="50" charset="-128"/>
              </a:rPr>
              <a:t> </a:t>
            </a:r>
            <a:r>
              <a:rPr kumimoji="1" lang="en-US" altLang="ja-JP" sz="1400" b="1" dirty="0">
                <a:solidFill>
                  <a:schemeClr val="tx1"/>
                </a:solidFill>
                <a:latin typeface="メイリオ" panose="020B0604030504040204" pitchFamily="50" charset="-128"/>
                <a:ea typeface="メイリオ" panose="020B0604030504040204" pitchFamily="50" charset="-128"/>
              </a:rPr>
              <a:t>/</a:t>
            </a:r>
            <a:r>
              <a:rPr lang="ja-JP" altLang="en-US" sz="1400" b="1" dirty="0">
                <a:solidFill>
                  <a:schemeClr val="tx1"/>
                </a:solidFill>
                <a:latin typeface="メイリオ" panose="020B0604030504040204" pitchFamily="50" charset="-128"/>
                <a:ea typeface="メイリオ" panose="020B0604030504040204" pitchFamily="50" charset="-128"/>
              </a:rPr>
              <a:t> 月</a:t>
            </a:r>
            <a:endParaRPr kumimoji="1"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D74AE0EC-48BF-DC77-08FD-383C4B76F73E}"/>
              </a:ext>
            </a:extLst>
          </p:cNvPr>
          <p:cNvSpPr/>
          <p:nvPr/>
        </p:nvSpPr>
        <p:spPr>
          <a:xfrm>
            <a:off x="706726" y="2183457"/>
            <a:ext cx="2326304"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30</a:t>
            </a:r>
            <a:r>
              <a:rPr lang="ja-JP" altLang="en-US" sz="1600" b="1" dirty="0">
                <a:solidFill>
                  <a:schemeClr val="tx1"/>
                </a:solidFill>
                <a:latin typeface="メイリオ" panose="020B0604030504040204" pitchFamily="50" charset="-128"/>
                <a:ea typeface="メイリオ" panose="020B0604030504040204" pitchFamily="50" charset="-128"/>
              </a:rPr>
              <a:t>万円</a:t>
            </a:r>
            <a:r>
              <a:rPr lang="ja-JP" altLang="en-US" sz="1400" b="1" dirty="0">
                <a:solidFill>
                  <a:schemeClr val="tx1"/>
                </a:solidFill>
                <a:latin typeface="メイリオ" panose="020B0604030504040204" pitchFamily="50" charset="-128"/>
                <a:ea typeface="メイリオ" panose="020B0604030504040204" pitchFamily="50" charset="-128"/>
              </a:rPr>
              <a:t> </a:t>
            </a:r>
            <a:r>
              <a:rPr lang="en-US" altLang="ja-JP" sz="1400" b="1" dirty="0">
                <a:solidFill>
                  <a:schemeClr val="tx1"/>
                </a:solidFill>
                <a:latin typeface="メイリオ" panose="020B0604030504040204" pitchFamily="50" charset="-128"/>
                <a:ea typeface="メイリオ" panose="020B0604030504040204" pitchFamily="50" charset="-128"/>
              </a:rPr>
              <a:t>/</a:t>
            </a:r>
            <a:r>
              <a:rPr lang="ja-JP" altLang="en-US" sz="1400" b="1" dirty="0">
                <a:solidFill>
                  <a:schemeClr val="tx1"/>
                </a:solidFill>
                <a:latin typeface="メイリオ" panose="020B0604030504040204" pitchFamily="50" charset="-128"/>
                <a:ea typeface="メイリオ" panose="020B0604030504040204" pitchFamily="50" charset="-128"/>
              </a:rPr>
              <a:t> 月</a:t>
            </a:r>
          </a:p>
        </p:txBody>
      </p:sp>
      <p:sp>
        <p:nvSpPr>
          <p:cNvPr id="6" name="正方形/長方形 5">
            <a:extLst>
              <a:ext uri="{FF2B5EF4-FFF2-40B4-BE49-F238E27FC236}">
                <a16:creationId xmlns:a16="http://schemas.microsoft.com/office/drawing/2014/main" id="{89600F16-6DFB-0370-C7A6-875494596D74}"/>
              </a:ext>
            </a:extLst>
          </p:cNvPr>
          <p:cNvSpPr/>
          <p:nvPr/>
        </p:nvSpPr>
        <p:spPr>
          <a:xfrm>
            <a:off x="706726" y="2815389"/>
            <a:ext cx="2326304"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50</a:t>
            </a:r>
            <a:r>
              <a:rPr lang="ja-JP" altLang="en-US" sz="1600" b="1" dirty="0">
                <a:solidFill>
                  <a:schemeClr val="tx1"/>
                </a:solidFill>
                <a:latin typeface="メイリオ" panose="020B0604030504040204" pitchFamily="50" charset="-128"/>
                <a:ea typeface="メイリオ" panose="020B0604030504040204" pitchFamily="50" charset="-128"/>
              </a:rPr>
              <a:t>万円</a:t>
            </a:r>
            <a:r>
              <a:rPr lang="ja-JP" altLang="en-US" sz="1400" b="1" dirty="0">
                <a:solidFill>
                  <a:schemeClr val="tx1"/>
                </a:solidFill>
                <a:latin typeface="メイリオ" panose="020B0604030504040204" pitchFamily="50" charset="-128"/>
                <a:ea typeface="メイリオ" panose="020B0604030504040204" pitchFamily="50" charset="-128"/>
              </a:rPr>
              <a:t> </a:t>
            </a:r>
            <a:r>
              <a:rPr lang="en-US" altLang="ja-JP" sz="1400" b="1" dirty="0">
                <a:solidFill>
                  <a:schemeClr val="tx1"/>
                </a:solidFill>
                <a:latin typeface="メイリオ" panose="020B0604030504040204" pitchFamily="50" charset="-128"/>
                <a:ea typeface="メイリオ" panose="020B0604030504040204" pitchFamily="50" charset="-128"/>
              </a:rPr>
              <a:t>/</a:t>
            </a:r>
            <a:r>
              <a:rPr lang="ja-JP" altLang="en-US" sz="1400" b="1" dirty="0">
                <a:solidFill>
                  <a:schemeClr val="tx1"/>
                </a:solidFill>
                <a:latin typeface="メイリオ" panose="020B0604030504040204" pitchFamily="50" charset="-128"/>
                <a:ea typeface="メイリオ" panose="020B0604030504040204" pitchFamily="50" charset="-128"/>
              </a:rPr>
              <a:t> 月</a:t>
            </a:r>
          </a:p>
        </p:txBody>
      </p:sp>
      <p:sp>
        <p:nvSpPr>
          <p:cNvPr id="11" name="正方形/長方形 10">
            <a:extLst>
              <a:ext uri="{FF2B5EF4-FFF2-40B4-BE49-F238E27FC236}">
                <a16:creationId xmlns:a16="http://schemas.microsoft.com/office/drawing/2014/main" id="{81506C69-8126-9C2B-FABF-119E315AF939}"/>
              </a:ext>
            </a:extLst>
          </p:cNvPr>
          <p:cNvSpPr/>
          <p:nvPr/>
        </p:nvSpPr>
        <p:spPr>
          <a:xfrm>
            <a:off x="3088448" y="1556872"/>
            <a:ext cx="1963729" cy="5029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メイリオ" panose="020B0604030504040204" pitchFamily="50" charset="-128"/>
                <a:ea typeface="メイリオ" panose="020B0604030504040204" pitchFamily="50" charset="-128"/>
              </a:rPr>
              <a:t>３</a:t>
            </a:r>
            <a:r>
              <a:rPr kumimoji="1" lang="ja-JP" altLang="en-US" sz="2000" dirty="0">
                <a:solidFill>
                  <a:schemeClr val="tx1"/>
                </a:solidFill>
                <a:latin typeface="メイリオ" panose="020B0604030504040204" pitchFamily="50" charset="-128"/>
                <a:ea typeface="メイリオ" panose="020B0604030504040204" pitchFamily="50" charset="-128"/>
              </a:rPr>
              <a:t>投稿</a:t>
            </a:r>
            <a:r>
              <a:rPr kumimoji="1" lang="ja-JP" altLang="en-US" sz="1200" dirty="0">
                <a:solidFill>
                  <a:schemeClr val="tx1"/>
                </a:solidFill>
                <a:latin typeface="メイリオ" panose="020B0604030504040204" pitchFamily="50" charset="-128"/>
                <a:ea typeface="メイリオ" panose="020B0604030504040204" pitchFamily="50" charset="-128"/>
              </a:rPr>
              <a:t> </a:t>
            </a:r>
            <a:r>
              <a:rPr kumimoji="1" lang="en-US" altLang="ja-JP" sz="1200" dirty="0">
                <a:solidFill>
                  <a:schemeClr val="tx1"/>
                </a:solidFill>
                <a:latin typeface="メイリオ" panose="020B0604030504040204" pitchFamily="50" charset="-128"/>
                <a:ea typeface="メイリオ" panose="020B0604030504040204" pitchFamily="50" charset="-128"/>
              </a:rPr>
              <a:t>/</a:t>
            </a:r>
            <a:r>
              <a:rPr lang="ja-JP" altLang="en-US" sz="1200" dirty="0">
                <a:solidFill>
                  <a:schemeClr val="tx1"/>
                </a:solidFill>
                <a:latin typeface="メイリオ" panose="020B0604030504040204" pitchFamily="50" charset="-128"/>
                <a:ea typeface="メイリオ" panose="020B0604030504040204" pitchFamily="50" charset="-128"/>
              </a:rPr>
              <a:t> 月</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14" name="正方形/長方形 13">
            <a:extLst>
              <a:ext uri="{FF2B5EF4-FFF2-40B4-BE49-F238E27FC236}">
                <a16:creationId xmlns:a16="http://schemas.microsoft.com/office/drawing/2014/main" id="{B15A40AA-7F6C-2AC4-1C14-0AC66212601F}"/>
              </a:ext>
            </a:extLst>
          </p:cNvPr>
          <p:cNvSpPr/>
          <p:nvPr/>
        </p:nvSpPr>
        <p:spPr>
          <a:xfrm>
            <a:off x="3088448" y="2183457"/>
            <a:ext cx="1963729" cy="5029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メイリオ" panose="020B0604030504040204" pitchFamily="50" charset="-128"/>
                <a:ea typeface="メイリオ" panose="020B0604030504040204" pitchFamily="50" charset="-128"/>
              </a:rPr>
              <a:t>５投稿</a:t>
            </a:r>
            <a:r>
              <a:rPr lang="ja-JP" altLang="en-US" sz="1200" dirty="0">
                <a:solidFill>
                  <a:schemeClr val="tx1"/>
                </a:solidFill>
                <a:latin typeface="メイリオ" panose="020B0604030504040204" pitchFamily="50" charset="-128"/>
                <a:ea typeface="メイリオ" panose="020B0604030504040204" pitchFamily="50" charset="-128"/>
              </a:rPr>
              <a:t> </a:t>
            </a:r>
            <a:r>
              <a:rPr lang="en-US" altLang="ja-JP" sz="1200" dirty="0">
                <a:solidFill>
                  <a:schemeClr val="tx1"/>
                </a:solidFill>
                <a:latin typeface="メイリオ" panose="020B0604030504040204" pitchFamily="50" charset="-128"/>
                <a:ea typeface="メイリオ" panose="020B0604030504040204" pitchFamily="50" charset="-128"/>
              </a:rPr>
              <a:t>/</a:t>
            </a:r>
            <a:r>
              <a:rPr lang="ja-JP" altLang="en-US" sz="1200" dirty="0">
                <a:solidFill>
                  <a:schemeClr val="tx1"/>
                </a:solidFill>
                <a:latin typeface="メイリオ" panose="020B0604030504040204" pitchFamily="50" charset="-128"/>
                <a:ea typeface="メイリオ" panose="020B0604030504040204" pitchFamily="50" charset="-128"/>
              </a:rPr>
              <a:t> 月</a:t>
            </a:r>
          </a:p>
        </p:txBody>
      </p:sp>
      <p:sp>
        <p:nvSpPr>
          <p:cNvPr id="15" name="正方形/長方形 14">
            <a:extLst>
              <a:ext uri="{FF2B5EF4-FFF2-40B4-BE49-F238E27FC236}">
                <a16:creationId xmlns:a16="http://schemas.microsoft.com/office/drawing/2014/main" id="{83D790EB-0222-5E5B-FEEC-80F16C159B19}"/>
              </a:ext>
            </a:extLst>
          </p:cNvPr>
          <p:cNvSpPr/>
          <p:nvPr/>
        </p:nvSpPr>
        <p:spPr>
          <a:xfrm>
            <a:off x="3088448" y="2815389"/>
            <a:ext cx="1963729" cy="5029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メイリオ" panose="020B0604030504040204" pitchFamily="50" charset="-128"/>
                <a:ea typeface="メイリオ" panose="020B0604030504040204" pitchFamily="50" charset="-128"/>
              </a:rPr>
              <a:t>９投稿</a:t>
            </a:r>
            <a:r>
              <a:rPr lang="ja-JP" altLang="en-US" sz="1200" dirty="0">
                <a:solidFill>
                  <a:schemeClr val="tx1"/>
                </a:solidFill>
                <a:latin typeface="メイリオ" panose="020B0604030504040204" pitchFamily="50" charset="-128"/>
                <a:ea typeface="メイリオ" panose="020B0604030504040204" pitchFamily="50" charset="-128"/>
              </a:rPr>
              <a:t> </a:t>
            </a:r>
            <a:r>
              <a:rPr lang="en-US" altLang="ja-JP" sz="1200" dirty="0">
                <a:solidFill>
                  <a:schemeClr val="tx1"/>
                </a:solidFill>
                <a:latin typeface="メイリオ" panose="020B0604030504040204" pitchFamily="50" charset="-128"/>
                <a:ea typeface="メイリオ" panose="020B0604030504040204" pitchFamily="50" charset="-128"/>
              </a:rPr>
              <a:t>/</a:t>
            </a:r>
            <a:r>
              <a:rPr lang="ja-JP" altLang="en-US" sz="1200" dirty="0">
                <a:solidFill>
                  <a:schemeClr val="tx1"/>
                </a:solidFill>
                <a:latin typeface="メイリオ" panose="020B0604030504040204" pitchFamily="50" charset="-128"/>
                <a:ea typeface="メイリオ" panose="020B0604030504040204" pitchFamily="50" charset="-128"/>
              </a:rPr>
              <a:t> 月</a:t>
            </a:r>
          </a:p>
        </p:txBody>
      </p:sp>
      <p:sp>
        <p:nvSpPr>
          <p:cNvPr id="16" name="正方形/長方形 15">
            <a:extLst>
              <a:ext uri="{FF2B5EF4-FFF2-40B4-BE49-F238E27FC236}">
                <a16:creationId xmlns:a16="http://schemas.microsoft.com/office/drawing/2014/main" id="{584F8FA8-652A-A0F8-874C-3E9B80EB3F4B}"/>
              </a:ext>
            </a:extLst>
          </p:cNvPr>
          <p:cNvSpPr/>
          <p:nvPr/>
        </p:nvSpPr>
        <p:spPr>
          <a:xfrm>
            <a:off x="5107595" y="1550011"/>
            <a:ext cx="4091679" cy="502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solidFill>
                <a:latin typeface="メイリオ" panose="020B0604030504040204" pitchFamily="50" charset="-128"/>
                <a:ea typeface="メイリオ" panose="020B0604030504040204" pitchFamily="50" charset="-128"/>
              </a:rPr>
              <a:t>その他基本付帯サービスは無償。</a:t>
            </a:r>
            <a:endParaRPr lang="en-US" altLang="ja-JP" sz="1050" dirty="0">
              <a:solidFill>
                <a:schemeClr val="tx1"/>
              </a:solidFill>
              <a:latin typeface="メイリオ" panose="020B0604030504040204" pitchFamily="50" charset="-128"/>
              <a:ea typeface="メイリオ" panose="020B0604030504040204" pitchFamily="50" charset="-128"/>
            </a:endParaRPr>
          </a:p>
          <a:p>
            <a:pPr algn="ctr"/>
            <a:r>
              <a:rPr lang="ja-JP" altLang="en-US" sz="1050" b="1" dirty="0">
                <a:solidFill>
                  <a:schemeClr val="tx1"/>
                </a:solidFill>
                <a:latin typeface="メイリオ" panose="020B0604030504040204" pitchFamily="50" charset="-128"/>
                <a:ea typeface="メイリオ" panose="020B0604030504040204" pitchFamily="50" charset="-128"/>
              </a:rPr>
              <a:t>レポート対応：有 </a:t>
            </a:r>
            <a:r>
              <a:rPr lang="en-US" altLang="ja-JP" sz="1050" b="1" dirty="0">
                <a:solidFill>
                  <a:schemeClr val="tx1"/>
                </a:solidFill>
                <a:latin typeface="メイリオ" panose="020B0604030504040204" pitchFamily="50" charset="-128"/>
                <a:ea typeface="メイリオ" panose="020B0604030504040204" pitchFamily="50" charset="-128"/>
              </a:rPr>
              <a:t>/ </a:t>
            </a:r>
            <a:r>
              <a:rPr lang="ja-JP" altLang="en-US" sz="1050" b="1" dirty="0">
                <a:solidFill>
                  <a:schemeClr val="tx1"/>
                </a:solidFill>
                <a:latin typeface="メイリオ" panose="020B0604030504040204" pitchFamily="50" charset="-128"/>
                <a:ea typeface="メイリオ" panose="020B0604030504040204" pitchFamily="50" charset="-128"/>
              </a:rPr>
              <a:t>定例会：</a:t>
            </a:r>
            <a:r>
              <a:rPr lang="en-US" altLang="ja-JP" sz="1050" b="1" dirty="0">
                <a:solidFill>
                  <a:schemeClr val="tx1"/>
                </a:solidFill>
                <a:latin typeface="メイリオ" panose="020B0604030504040204" pitchFamily="50" charset="-128"/>
                <a:ea typeface="メイリオ" panose="020B0604030504040204" pitchFamily="50" charset="-128"/>
              </a:rPr>
              <a:t>3</a:t>
            </a:r>
            <a:r>
              <a:rPr lang="ja-JP" altLang="en-US" sz="1050" b="1" dirty="0">
                <a:solidFill>
                  <a:schemeClr val="tx1"/>
                </a:solidFill>
                <a:latin typeface="メイリオ" panose="020B0604030504040204" pitchFamily="50" charset="-128"/>
                <a:ea typeface="メイリオ" panose="020B0604030504040204" pitchFamily="50" charset="-128"/>
              </a:rPr>
              <a:t>か月に</a:t>
            </a:r>
            <a:r>
              <a:rPr lang="en-US" altLang="ja-JP" sz="1050" b="1" dirty="0">
                <a:solidFill>
                  <a:schemeClr val="tx1"/>
                </a:solidFill>
                <a:latin typeface="メイリオ" panose="020B0604030504040204" pitchFamily="50" charset="-128"/>
                <a:ea typeface="メイリオ" panose="020B0604030504040204" pitchFamily="50" charset="-128"/>
              </a:rPr>
              <a:t>1</a:t>
            </a:r>
            <a:r>
              <a:rPr lang="ja-JP" altLang="en-US" sz="1050" b="1" dirty="0">
                <a:solidFill>
                  <a:schemeClr val="tx1"/>
                </a:solidFill>
                <a:latin typeface="メイリオ" panose="020B0604030504040204" pitchFamily="50" charset="-128"/>
                <a:ea typeface="メイリオ" panose="020B0604030504040204" pitchFamily="50" charset="-128"/>
              </a:rPr>
              <a:t>回。</a:t>
            </a:r>
            <a:endParaRPr lang="en-US" altLang="ja-JP" sz="1050" b="1" dirty="0">
              <a:solidFill>
                <a:schemeClr val="tx1"/>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4076E51B-9B1D-9885-A1EF-A14722C86109}"/>
              </a:ext>
            </a:extLst>
          </p:cNvPr>
          <p:cNvSpPr/>
          <p:nvPr/>
        </p:nvSpPr>
        <p:spPr>
          <a:xfrm>
            <a:off x="5107595" y="2176596"/>
            <a:ext cx="4091679" cy="502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solidFill>
                <a:latin typeface="メイリオ" panose="020B0604030504040204" pitchFamily="50" charset="-128"/>
                <a:ea typeface="メイリオ" panose="020B0604030504040204" pitchFamily="50" charset="-128"/>
              </a:rPr>
              <a:t>その他基本付帯サービスは無償。</a:t>
            </a:r>
            <a:endParaRPr lang="en-US" altLang="ja-JP" sz="1050" dirty="0">
              <a:solidFill>
                <a:schemeClr val="tx1"/>
              </a:solidFill>
              <a:latin typeface="メイリオ" panose="020B0604030504040204" pitchFamily="50" charset="-128"/>
              <a:ea typeface="メイリオ" panose="020B0604030504040204" pitchFamily="50" charset="-128"/>
            </a:endParaRPr>
          </a:p>
          <a:p>
            <a:pPr algn="ctr"/>
            <a:r>
              <a:rPr lang="ja-JP" altLang="en-US" sz="1050" b="1" dirty="0">
                <a:solidFill>
                  <a:srgbClr val="FF0000"/>
                </a:solidFill>
                <a:latin typeface="メイリオ" panose="020B0604030504040204" pitchFamily="50" charset="-128"/>
                <a:ea typeface="メイリオ" panose="020B0604030504040204" pitchFamily="50" charset="-128"/>
              </a:rPr>
              <a:t>レポート対応：有 </a:t>
            </a:r>
            <a:r>
              <a:rPr lang="en-US" altLang="ja-JP" sz="1050" b="1" dirty="0">
                <a:solidFill>
                  <a:srgbClr val="FF0000"/>
                </a:solidFill>
                <a:latin typeface="メイリオ" panose="020B0604030504040204" pitchFamily="50" charset="-128"/>
                <a:ea typeface="メイリオ" panose="020B0604030504040204" pitchFamily="50" charset="-128"/>
              </a:rPr>
              <a:t>/ </a:t>
            </a:r>
            <a:r>
              <a:rPr lang="ja-JP" altLang="en-US" sz="1050" b="1" dirty="0">
                <a:solidFill>
                  <a:srgbClr val="FF0000"/>
                </a:solidFill>
                <a:latin typeface="メイリオ" panose="020B0604030504040204" pitchFamily="50" charset="-128"/>
                <a:ea typeface="メイリオ" panose="020B0604030504040204" pitchFamily="50" charset="-128"/>
              </a:rPr>
              <a:t>定例会：</a:t>
            </a:r>
            <a:r>
              <a:rPr lang="en-US" altLang="ja-JP" sz="1050" b="1" dirty="0">
                <a:solidFill>
                  <a:srgbClr val="FF0000"/>
                </a:solidFill>
                <a:latin typeface="メイリオ" panose="020B0604030504040204" pitchFamily="50" charset="-128"/>
                <a:ea typeface="メイリオ" panose="020B0604030504040204" pitchFamily="50" charset="-128"/>
              </a:rPr>
              <a:t>1</a:t>
            </a:r>
            <a:r>
              <a:rPr lang="ja-JP" altLang="en-US" sz="1050" b="1" dirty="0">
                <a:solidFill>
                  <a:srgbClr val="FF0000"/>
                </a:solidFill>
                <a:latin typeface="メイリオ" panose="020B0604030504040204" pitchFamily="50" charset="-128"/>
                <a:ea typeface="メイリオ" panose="020B0604030504040204" pitchFamily="50" charset="-128"/>
              </a:rPr>
              <a:t>か月に</a:t>
            </a:r>
            <a:r>
              <a:rPr lang="en-US" altLang="ja-JP" sz="1050" b="1" dirty="0">
                <a:solidFill>
                  <a:srgbClr val="FF0000"/>
                </a:solidFill>
                <a:latin typeface="メイリオ" panose="020B0604030504040204" pitchFamily="50" charset="-128"/>
                <a:ea typeface="メイリオ" panose="020B0604030504040204" pitchFamily="50" charset="-128"/>
              </a:rPr>
              <a:t>1</a:t>
            </a:r>
            <a:r>
              <a:rPr lang="ja-JP" altLang="en-US" sz="1050" b="1" dirty="0">
                <a:solidFill>
                  <a:srgbClr val="FF0000"/>
                </a:solidFill>
                <a:latin typeface="メイリオ" panose="020B0604030504040204" pitchFamily="50" charset="-128"/>
                <a:ea typeface="メイリオ" panose="020B0604030504040204" pitchFamily="50" charset="-128"/>
              </a:rPr>
              <a:t>回。</a:t>
            </a:r>
            <a:endParaRPr lang="en-US" altLang="ja-JP" sz="1050" b="1" dirty="0">
              <a:solidFill>
                <a:srgbClr val="FF0000"/>
              </a:solidFill>
              <a:latin typeface="メイリオ" panose="020B0604030504040204" pitchFamily="50" charset="-128"/>
              <a:ea typeface="メイリオ" panose="020B0604030504040204" pitchFamily="50" charset="-128"/>
            </a:endParaRPr>
          </a:p>
        </p:txBody>
      </p:sp>
      <p:sp>
        <p:nvSpPr>
          <p:cNvPr id="18" name="正方形/長方形 17">
            <a:extLst>
              <a:ext uri="{FF2B5EF4-FFF2-40B4-BE49-F238E27FC236}">
                <a16:creationId xmlns:a16="http://schemas.microsoft.com/office/drawing/2014/main" id="{0CD9CFCA-70E9-24BE-9FC5-7AA490583C16}"/>
              </a:ext>
            </a:extLst>
          </p:cNvPr>
          <p:cNvSpPr/>
          <p:nvPr/>
        </p:nvSpPr>
        <p:spPr>
          <a:xfrm>
            <a:off x="5107595" y="2808528"/>
            <a:ext cx="4091679" cy="502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solidFill>
                <a:latin typeface="メイリオ" panose="020B0604030504040204" pitchFamily="50" charset="-128"/>
                <a:ea typeface="メイリオ" panose="020B0604030504040204" pitchFamily="50" charset="-128"/>
              </a:rPr>
              <a:t>その他基本付帯サービスは無償。</a:t>
            </a:r>
            <a:endParaRPr lang="en-US" altLang="ja-JP" sz="1050" dirty="0">
              <a:solidFill>
                <a:schemeClr val="tx1"/>
              </a:solidFill>
              <a:latin typeface="メイリオ" panose="020B0604030504040204" pitchFamily="50" charset="-128"/>
              <a:ea typeface="メイリオ" panose="020B0604030504040204" pitchFamily="50" charset="-128"/>
            </a:endParaRPr>
          </a:p>
          <a:p>
            <a:pPr algn="ctr"/>
            <a:r>
              <a:rPr lang="ja-JP" altLang="en-US" sz="1050" b="1" dirty="0">
                <a:solidFill>
                  <a:srgbClr val="FF0000"/>
                </a:solidFill>
                <a:latin typeface="メイリオ" panose="020B0604030504040204" pitchFamily="50" charset="-128"/>
                <a:ea typeface="メイリオ" panose="020B0604030504040204" pitchFamily="50" charset="-128"/>
              </a:rPr>
              <a:t>レポート対応：有 </a:t>
            </a:r>
            <a:r>
              <a:rPr lang="en-US" altLang="ja-JP" sz="1050" b="1" dirty="0">
                <a:solidFill>
                  <a:srgbClr val="FF0000"/>
                </a:solidFill>
                <a:latin typeface="メイリオ" panose="020B0604030504040204" pitchFamily="50" charset="-128"/>
                <a:ea typeface="メイリオ" panose="020B0604030504040204" pitchFamily="50" charset="-128"/>
              </a:rPr>
              <a:t>/ </a:t>
            </a:r>
            <a:r>
              <a:rPr lang="ja-JP" altLang="en-US" sz="1050" b="1" dirty="0">
                <a:solidFill>
                  <a:srgbClr val="FF0000"/>
                </a:solidFill>
                <a:latin typeface="メイリオ" panose="020B0604030504040204" pitchFamily="50" charset="-128"/>
                <a:ea typeface="メイリオ" panose="020B0604030504040204" pitchFamily="50" charset="-128"/>
              </a:rPr>
              <a:t>定例会：</a:t>
            </a:r>
            <a:r>
              <a:rPr lang="en-US" altLang="ja-JP" sz="1050" b="1" dirty="0">
                <a:solidFill>
                  <a:srgbClr val="FF0000"/>
                </a:solidFill>
                <a:latin typeface="メイリオ" panose="020B0604030504040204" pitchFamily="50" charset="-128"/>
                <a:ea typeface="メイリオ" panose="020B0604030504040204" pitchFamily="50" charset="-128"/>
              </a:rPr>
              <a:t>1</a:t>
            </a:r>
            <a:r>
              <a:rPr lang="ja-JP" altLang="en-US" sz="1050" b="1" dirty="0">
                <a:solidFill>
                  <a:srgbClr val="FF0000"/>
                </a:solidFill>
                <a:latin typeface="メイリオ" panose="020B0604030504040204" pitchFamily="50" charset="-128"/>
                <a:ea typeface="メイリオ" panose="020B0604030504040204" pitchFamily="50" charset="-128"/>
              </a:rPr>
              <a:t>か月に</a:t>
            </a:r>
            <a:r>
              <a:rPr lang="en-US" altLang="ja-JP" sz="1050" b="1" dirty="0">
                <a:solidFill>
                  <a:srgbClr val="FF0000"/>
                </a:solidFill>
                <a:latin typeface="メイリオ" panose="020B0604030504040204" pitchFamily="50" charset="-128"/>
                <a:ea typeface="メイリオ" panose="020B0604030504040204" pitchFamily="50" charset="-128"/>
              </a:rPr>
              <a:t>1</a:t>
            </a:r>
            <a:r>
              <a:rPr lang="ja-JP" altLang="en-US" sz="1050" b="1" dirty="0">
                <a:solidFill>
                  <a:srgbClr val="FF0000"/>
                </a:solidFill>
                <a:latin typeface="メイリオ" panose="020B0604030504040204" pitchFamily="50" charset="-128"/>
                <a:ea typeface="メイリオ" panose="020B0604030504040204" pitchFamily="50" charset="-128"/>
              </a:rPr>
              <a:t>回。</a:t>
            </a:r>
            <a:endParaRPr lang="en-US" altLang="ja-JP" sz="1050" b="1" dirty="0">
              <a:solidFill>
                <a:srgbClr val="FF0000"/>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AD5DC77C-BB7C-1DC7-BA4A-AF3ECCC137A1}"/>
              </a:ext>
            </a:extLst>
          </p:cNvPr>
          <p:cNvSpPr/>
          <p:nvPr/>
        </p:nvSpPr>
        <p:spPr>
          <a:xfrm>
            <a:off x="548881" y="1405687"/>
            <a:ext cx="8859613"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CD3409E3-7B2F-6541-B533-69689AE3B73B}"/>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Tree>
    <p:extLst>
      <p:ext uri="{BB962C8B-B14F-4D97-AF65-F5344CB8AC3E}">
        <p14:creationId xmlns:p14="http://schemas.microsoft.com/office/powerpoint/2010/main" val="15543086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76251-095F-A186-E17A-8A0E4C5D95A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成果報酬型プラン</a:t>
            </a:r>
            <a:endParaRPr kumimoji="1" lang="ja-JP" altLang="en-US" sz="1400" dirty="0">
              <a:latin typeface="メイリオ" panose="020B0604030504040204" pitchFamily="50" charset="-128"/>
              <a:ea typeface="メイリオ" panose="020B0604030504040204" pitchFamily="50" charset="-128"/>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914650" y="859443"/>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施策成果件数に伴う費用発生でリスクを抑えた運用スタートを実現。</a:t>
            </a:r>
          </a:p>
        </p:txBody>
      </p:sp>
      <p:sp>
        <p:nvSpPr>
          <p:cNvPr id="8" name="正方形/長方形 7">
            <a:extLst>
              <a:ext uri="{FF2B5EF4-FFF2-40B4-BE49-F238E27FC236}">
                <a16:creationId xmlns:a16="http://schemas.microsoft.com/office/drawing/2014/main" id="{FFB1B171-05E1-F3C6-1EBE-EBC6AA97A939}"/>
              </a:ext>
            </a:extLst>
          </p:cNvPr>
          <p:cNvSpPr/>
          <p:nvPr/>
        </p:nvSpPr>
        <p:spPr>
          <a:xfrm>
            <a:off x="548883" y="3587932"/>
            <a:ext cx="8859613" cy="288253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92DE66FC-7E13-76D6-A2AE-003C514A6B15}"/>
              </a:ext>
            </a:extLst>
          </p:cNvPr>
          <p:cNvSpPr txBox="1"/>
          <p:nvPr/>
        </p:nvSpPr>
        <p:spPr>
          <a:xfrm>
            <a:off x="706726" y="3644690"/>
            <a:ext cx="4963884" cy="261610"/>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追加作業における費用感</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&gt;</a:t>
            </a:r>
            <a:endParaRPr lang="ja-JP" altLang="en-US" sz="1050" dirty="0">
              <a:solidFill>
                <a:schemeClr val="tx1">
                  <a:lumMod val="65000"/>
                  <a:lumOff val="35000"/>
                </a:schemeClr>
              </a:solidFill>
            </a:endParaRPr>
          </a:p>
        </p:txBody>
      </p:sp>
      <p:graphicFrame>
        <p:nvGraphicFramePr>
          <p:cNvPr id="11" name="表 10">
            <a:extLst>
              <a:ext uri="{FF2B5EF4-FFF2-40B4-BE49-F238E27FC236}">
                <a16:creationId xmlns:a16="http://schemas.microsoft.com/office/drawing/2014/main" id="{AB699F68-6D67-CD60-1CF9-54BD45B04FBA}"/>
              </a:ext>
            </a:extLst>
          </p:cNvPr>
          <p:cNvGraphicFramePr>
            <a:graphicFrameLocks noGrp="1"/>
          </p:cNvGraphicFramePr>
          <p:nvPr/>
        </p:nvGraphicFramePr>
        <p:xfrm>
          <a:off x="706726" y="3963057"/>
          <a:ext cx="8543925" cy="2454494"/>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175321">
                <a:tc>
                  <a:txBody>
                    <a:bodyPr/>
                    <a:lstStyle/>
                    <a:p>
                      <a:pPr algn="ctr" fontAlgn="ctr">
                        <a:buNone/>
                      </a:pPr>
                      <a:r>
                        <a:rPr lang="ja-JP" altLang="en-US" sz="800" b="1" i="0" u="none" strike="noStrike" dirty="0">
                          <a:solidFill>
                            <a:srgbClr val="FFFFFF"/>
                          </a:solidFill>
                          <a:effectLst/>
                          <a:latin typeface="メイリオ" panose="020B0604030504040204" pitchFamily="50" charset="-128"/>
                          <a:ea typeface="メイリオ" panose="020B0604030504040204" pitchFamily="50" charset="-128"/>
                        </a:rPr>
                        <a:t>対応項目</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月額</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800" b="1"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対応項目</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dirty="0">
                          <a:solidFill>
                            <a:srgbClr val="FFFFFF"/>
                          </a:solidFill>
                          <a:effectLst/>
                          <a:latin typeface="メイリオ" panose="020B0604030504040204" pitchFamily="50" charset="-128"/>
                          <a:ea typeface="メイリオ" panose="020B0604030504040204" pitchFamily="50" charset="-128"/>
                        </a:rPr>
                        <a:t>月額</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アカウント開設</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API</a:t>
                      </a: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ツール導入</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20324702"/>
                  </a:ext>
                </a:extLst>
              </a:tr>
              <a:tr h="175321">
                <a:tc>
                  <a:txBody>
                    <a:bodyPr/>
                    <a:lstStyle/>
                    <a:p>
                      <a:pPr algn="ctr" fontAlgn="ctr">
                        <a:buNone/>
                      </a:pPr>
                      <a:r>
                        <a:rPr lang="ja-JP" altLang="en-US" sz="800" b="0" i="0" u="none" strike="noStrike">
                          <a:solidFill>
                            <a:srgbClr val="000000"/>
                          </a:solidFill>
                          <a:effectLst/>
                          <a:highlight>
                            <a:srgbClr val="FFFF00"/>
                          </a:highlight>
                          <a:latin typeface="メイリオ" panose="020B0604030504040204" pitchFamily="50" charset="-128"/>
                          <a:ea typeface="メイリオ" panose="020B0604030504040204" pitchFamily="50" charset="-128"/>
                        </a:rPr>
                        <a:t>プロフィール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ID</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連携</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72466269"/>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リッチメニュー</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ログイン</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43180495"/>
                  </a:ext>
                </a:extLst>
              </a:tr>
              <a:tr h="175321">
                <a:tc>
                  <a:txBody>
                    <a:bodyPr/>
                    <a:lstStyle/>
                    <a:p>
                      <a:pPr algn="ctr" fontAlgn="ctr">
                        <a:buNone/>
                      </a:pPr>
                      <a:r>
                        <a:rPr lang="ja-JP" altLang="en-US" sz="800" b="0" i="0" u="none" strike="noStrike">
                          <a:solidFill>
                            <a:srgbClr val="000000"/>
                          </a:solidFill>
                          <a:effectLst/>
                          <a:highlight>
                            <a:srgbClr val="FFFF00"/>
                          </a:highlight>
                          <a:latin typeface="メイリオ" panose="020B0604030504040204" pitchFamily="50" charset="-128"/>
                          <a:ea typeface="メイリオ" panose="020B0604030504040204" pitchFamily="50" charset="-128"/>
                        </a:rPr>
                        <a:t>あいさつメッセージ</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通知メッセージ</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¥600,000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95619942"/>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初期アンケート</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チャットボット機能</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98230469"/>
                  </a:ext>
                </a:extLst>
              </a:tr>
              <a:tr h="175321">
                <a:tc>
                  <a:txBody>
                    <a:bodyPr/>
                    <a:lstStyle/>
                    <a:p>
                      <a:pPr algn="ctr" fontAlgn="ctr">
                        <a:buNone/>
                      </a:pPr>
                      <a:r>
                        <a:rPr 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KW</a:t>
                      </a: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の自動応答</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dirty="0">
                          <a:solidFill>
                            <a:srgbClr val="000000"/>
                          </a:solidFill>
                          <a:effectLst/>
                          <a:latin typeface="メイリオ" panose="020B0604030504040204" pitchFamily="50" charset="-128"/>
                          <a:ea typeface="メイリオ" panose="020B0604030504040204" pitchFamily="50" charset="-128"/>
                        </a:rPr>
                        <a:t>Chat Plus</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1305542"/>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ステップ配信</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Call Plus</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l-GR" sz="800" b="0" i="0" u="none" strike="noStrike">
                          <a:solidFill>
                            <a:schemeClr val="bg1">
                              <a:lumMod val="75000"/>
                            </a:schemeClr>
                          </a:solidFill>
                          <a:effectLst/>
                          <a:latin typeface="メイリオ" panose="020B0604030504040204" pitchFamily="50" charset="-128"/>
                          <a:ea typeface="メイリオ" panose="020B0604030504040204" pitchFamily="50" charset="-128"/>
                        </a:rPr>
                        <a:t>¥100,000+α</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11135084"/>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セグメント配信</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決済</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3,5</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手数料</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89714401"/>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チャットタグ管理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予約管理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¥3,000~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60214931"/>
                  </a:ext>
                </a:extLst>
              </a:tr>
              <a:tr h="175321">
                <a:tc>
                  <a:txBody>
                    <a:bodyPr/>
                    <a:lstStyle/>
                    <a:p>
                      <a:pPr algn="ctr" fontAlgn="ctr">
                        <a:buNone/>
                      </a:pPr>
                      <a:r>
                        <a:rPr lang="ja-JP" altLang="en-US" sz="800" b="0" i="0" u="none" strike="noStrike" dirty="0">
                          <a:solidFill>
                            <a:srgbClr val="000000"/>
                          </a:solidFill>
                          <a:effectLst/>
                          <a:highlight>
                            <a:srgbClr val="F6A454"/>
                          </a:highlight>
                          <a:latin typeface="メイリオ" panose="020B0604030504040204" pitchFamily="50" charset="-128"/>
                          <a:ea typeface="メイリオ" panose="020B0604030504040204" pitchFamily="50" charset="-128"/>
                        </a:rPr>
                        <a:t>チャット対応</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多店舗管理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¥15,000(/</a:t>
                      </a:r>
                      <a:r>
                        <a:rPr lang="ja-JP" altLang="en-US" sz="800" b="0" i="0" u="none" strike="noStrike">
                          <a:solidFill>
                            <a:schemeClr val="bg1">
                              <a:lumMod val="75000"/>
                            </a:schemeClr>
                          </a:solidFill>
                          <a:effectLst/>
                          <a:latin typeface="メイリオ" panose="020B0604030504040204" pitchFamily="50" charset="-128"/>
                          <a:ea typeface="メイリオ" panose="020B0604030504040204" pitchFamily="50" charset="-128"/>
                        </a:rPr>
                        <a:t>店舗</a:t>
                      </a: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¥15,000(/</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店舗</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19396613"/>
                  </a:ext>
                </a:extLst>
              </a:tr>
              <a:tr h="175321">
                <a:tc>
                  <a:txBody>
                    <a:bodyPr/>
                    <a:lstStyle/>
                    <a:p>
                      <a:pPr algn="ctr" fontAlgn="ctr">
                        <a:buNone/>
                      </a:pPr>
                      <a:r>
                        <a:rPr lang="en-US" alt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GA(CRM)</a:t>
                      </a: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レポート連携</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02321774"/>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クリエイティブ</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離脱防止ツール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¥10,000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¥10,000~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8905920"/>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定例会</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サンクス</a:t>
                      </a: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誘導ツール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17655704"/>
                  </a:ext>
                </a:extLst>
              </a:tr>
            </a:tbl>
          </a:graphicData>
        </a:graphic>
      </p:graphicFrame>
      <p:graphicFrame>
        <p:nvGraphicFramePr>
          <p:cNvPr id="12" name="表 11">
            <a:extLst>
              <a:ext uri="{FF2B5EF4-FFF2-40B4-BE49-F238E27FC236}">
                <a16:creationId xmlns:a16="http://schemas.microsoft.com/office/drawing/2014/main" id="{F91A02FC-5E04-6D49-4A4E-97104D3E348C}"/>
              </a:ext>
            </a:extLst>
          </p:cNvPr>
          <p:cNvGraphicFramePr>
            <a:graphicFrameLocks noGrp="1"/>
          </p:cNvGraphicFramePr>
          <p:nvPr/>
        </p:nvGraphicFramePr>
        <p:xfrm>
          <a:off x="5052177" y="3697199"/>
          <a:ext cx="1236867" cy="175321"/>
        </p:xfrm>
        <a:graphic>
          <a:graphicData uri="http://schemas.openxmlformats.org/drawingml/2006/table">
            <a:tbl>
              <a:tblPr/>
              <a:tblGrid>
                <a:gridCol w="1236867">
                  <a:extLst>
                    <a:ext uri="{9D8B030D-6E8A-4147-A177-3AD203B41FA5}">
                      <a16:colId xmlns:a16="http://schemas.microsoft.com/office/drawing/2014/main" val="1094262138"/>
                    </a:ext>
                  </a:extLst>
                </a:gridCol>
              </a:tblGrid>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運用時、基本付帯する</a:t>
                      </a:r>
                    </a:p>
                  </a:txBody>
                  <a:tcPr marL="8241" marR="8241"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graphicFrame>
        <p:nvGraphicFramePr>
          <p:cNvPr id="13" name="表 12">
            <a:extLst>
              <a:ext uri="{FF2B5EF4-FFF2-40B4-BE49-F238E27FC236}">
                <a16:creationId xmlns:a16="http://schemas.microsoft.com/office/drawing/2014/main" id="{C2727225-26CE-D16E-9C5D-1FBD426B841E}"/>
              </a:ext>
            </a:extLst>
          </p:cNvPr>
          <p:cNvGraphicFramePr>
            <a:graphicFrameLocks noGrp="1"/>
          </p:cNvGraphicFramePr>
          <p:nvPr/>
        </p:nvGraphicFramePr>
        <p:xfrm>
          <a:off x="7891522" y="3697199"/>
          <a:ext cx="1249236" cy="153961"/>
        </p:xfrm>
        <a:graphic>
          <a:graphicData uri="http://schemas.openxmlformats.org/drawingml/2006/table">
            <a:tbl>
              <a:tblPr/>
              <a:tblGrid>
                <a:gridCol w="1249236">
                  <a:extLst>
                    <a:ext uri="{9D8B030D-6E8A-4147-A177-3AD203B41FA5}">
                      <a16:colId xmlns:a16="http://schemas.microsoft.com/office/drawing/2014/main" val="1094262138"/>
                    </a:ext>
                  </a:extLst>
                </a:gridCol>
              </a:tblGrid>
              <a:tr h="153961">
                <a:tc>
                  <a:txBody>
                    <a:bodyPr/>
                    <a:lstStyle/>
                    <a:p>
                      <a:pPr algn="ctr" fontAlgn="ctr">
                        <a:buNone/>
                      </a:pPr>
                      <a:r>
                        <a:rPr lang="ja-JP" altLang="en-US" sz="800" b="0" i="0" u="none" strike="noStrike" dirty="0">
                          <a:solidFill>
                            <a:srgbClr val="000000"/>
                          </a:solidFill>
                          <a:effectLst/>
                          <a:highlight>
                            <a:srgbClr val="C0C0C0"/>
                          </a:highlight>
                          <a:latin typeface="メイリオ" panose="020B0604030504040204" pitchFamily="50" charset="-128"/>
                          <a:ea typeface="メイリオ" panose="020B0604030504040204" pitchFamily="50" charset="-128"/>
                        </a:rPr>
                        <a:t>対応しない領域</a:t>
                      </a:r>
                    </a:p>
                  </a:txBody>
                  <a:tcPr marL="8323" marR="8323"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graphicFrame>
        <p:nvGraphicFramePr>
          <p:cNvPr id="14" name="表 13">
            <a:extLst>
              <a:ext uri="{FF2B5EF4-FFF2-40B4-BE49-F238E27FC236}">
                <a16:creationId xmlns:a16="http://schemas.microsoft.com/office/drawing/2014/main" id="{6568ED1F-4ADB-05EB-EAF7-6D88C325C7BB}"/>
              </a:ext>
            </a:extLst>
          </p:cNvPr>
          <p:cNvGraphicFramePr>
            <a:graphicFrameLocks noGrp="1"/>
          </p:cNvGraphicFramePr>
          <p:nvPr/>
        </p:nvGraphicFramePr>
        <p:xfrm>
          <a:off x="6465665" y="3697198"/>
          <a:ext cx="1249236" cy="175321"/>
        </p:xfrm>
        <a:graphic>
          <a:graphicData uri="http://schemas.openxmlformats.org/drawingml/2006/table">
            <a:tbl>
              <a:tblPr/>
              <a:tblGrid>
                <a:gridCol w="1249236">
                  <a:extLst>
                    <a:ext uri="{9D8B030D-6E8A-4147-A177-3AD203B41FA5}">
                      <a16:colId xmlns:a16="http://schemas.microsoft.com/office/drawing/2014/main" val="1094262138"/>
                    </a:ext>
                  </a:extLst>
                </a:gridCol>
              </a:tblGrid>
              <a:tr h="175321">
                <a:tc>
                  <a:txBody>
                    <a:bodyPr/>
                    <a:lstStyle/>
                    <a:p>
                      <a:pPr algn="ctr" fontAlgn="ctr">
                        <a:buNone/>
                      </a:pPr>
                      <a:r>
                        <a:rPr lang="ja-JP" altLang="en-US" sz="800" b="0" i="0" u="none" strike="noStrike" dirty="0">
                          <a:solidFill>
                            <a:srgbClr val="000000"/>
                          </a:solidFill>
                          <a:effectLst/>
                          <a:highlight>
                            <a:srgbClr val="F6A454"/>
                          </a:highlight>
                          <a:latin typeface="メイリオ" panose="020B0604030504040204" pitchFamily="50" charset="-128"/>
                          <a:ea typeface="メイリオ" panose="020B0604030504040204" pitchFamily="50" charset="-128"/>
                        </a:rPr>
                        <a:t>貴社にて対応</a:t>
                      </a:r>
                    </a:p>
                  </a:txBody>
                  <a:tcPr marL="8323" marR="8323"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sp>
        <p:nvSpPr>
          <p:cNvPr id="21" name="正方形/長方形 20">
            <a:extLst>
              <a:ext uri="{FF2B5EF4-FFF2-40B4-BE49-F238E27FC236}">
                <a16:creationId xmlns:a16="http://schemas.microsoft.com/office/drawing/2014/main" id="{EEA02B17-0DA2-A3FE-A6E5-243C1724301E}"/>
              </a:ext>
            </a:extLst>
          </p:cNvPr>
          <p:cNvSpPr/>
          <p:nvPr/>
        </p:nvSpPr>
        <p:spPr>
          <a:xfrm>
            <a:off x="548881" y="1405687"/>
            <a:ext cx="4404119"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 name="正方形/長方形 1">
            <a:extLst>
              <a:ext uri="{FF2B5EF4-FFF2-40B4-BE49-F238E27FC236}">
                <a16:creationId xmlns:a16="http://schemas.microsoft.com/office/drawing/2014/main" id="{CA8AA691-8D48-57D0-BF47-34182D3A6DAC}"/>
              </a:ext>
            </a:extLst>
          </p:cNvPr>
          <p:cNvSpPr/>
          <p:nvPr/>
        </p:nvSpPr>
        <p:spPr>
          <a:xfrm>
            <a:off x="748333" y="1594972"/>
            <a:ext cx="2322527"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rPr>
              <a:t>成果報酬費用</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264193FC-5A1A-667F-A9D5-30C2155A72EB}"/>
              </a:ext>
            </a:extLst>
          </p:cNvPr>
          <p:cNvSpPr/>
          <p:nvPr/>
        </p:nvSpPr>
        <p:spPr>
          <a:xfrm>
            <a:off x="3230275" y="1588966"/>
            <a:ext cx="1494125"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メイリオ" panose="020B0604030504040204" pitchFamily="50" charset="-128"/>
                <a:ea typeface="メイリオ" panose="020B0604030504040204" pitchFamily="50" charset="-128"/>
              </a:rPr>
              <a:t>固定費用</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92E0C40-273C-2C77-21FF-EC7A2A1C8F8F}"/>
              </a:ext>
            </a:extLst>
          </p:cNvPr>
          <p:cNvSpPr/>
          <p:nvPr/>
        </p:nvSpPr>
        <p:spPr>
          <a:xfrm>
            <a:off x="748333" y="2116483"/>
            <a:ext cx="2322527"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メイリオ" panose="020B0604030504040204" pitchFamily="50" charset="-128"/>
                <a:ea typeface="メイリオ" panose="020B0604030504040204" pitchFamily="50" charset="-128"/>
              </a:rPr>
              <a:t>成果件数 </a:t>
            </a:r>
            <a:r>
              <a:rPr lang="en-US" altLang="ja-JP" sz="1400" b="1" dirty="0">
                <a:solidFill>
                  <a:schemeClr val="tx1"/>
                </a:solidFill>
                <a:latin typeface="メイリオ" panose="020B0604030504040204" pitchFamily="50" charset="-128"/>
                <a:ea typeface="メイリオ" panose="020B0604030504040204" pitchFamily="50" charset="-128"/>
              </a:rPr>
              <a:t>× </a:t>
            </a:r>
            <a:r>
              <a:rPr lang="ja-JP" altLang="en-US" sz="1400" b="1" dirty="0">
                <a:solidFill>
                  <a:schemeClr val="tx1"/>
                </a:solidFill>
                <a:latin typeface="メイリオ" panose="020B0604030504040204" pitchFamily="50" charset="-128"/>
                <a:ea typeface="メイリオ" panose="020B0604030504040204" pitchFamily="50" charset="-128"/>
              </a:rPr>
              <a:t>成果報酬単価</a:t>
            </a:r>
            <a:endParaRPr lang="en-US" altLang="ja-JP" sz="1400" b="1" dirty="0">
              <a:solidFill>
                <a:schemeClr val="tx1"/>
              </a:solidFill>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BAC2B063-6DAA-B7D0-0B1D-E5CC879D23FD}"/>
              </a:ext>
            </a:extLst>
          </p:cNvPr>
          <p:cNvSpPr/>
          <p:nvPr/>
        </p:nvSpPr>
        <p:spPr>
          <a:xfrm>
            <a:off x="3230275" y="2116483"/>
            <a:ext cx="1494125"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rPr>
              <a:t>アカウント費</a:t>
            </a:r>
            <a:endParaRPr lang="en-US" altLang="ja-JP" sz="1200" dirty="0">
              <a:solidFill>
                <a:schemeClr val="tx1"/>
              </a:solidFill>
              <a:latin typeface="メイリオ" panose="020B0604030504040204" pitchFamily="50" charset="-128"/>
              <a:ea typeface="メイリオ" panose="020B0604030504040204" pitchFamily="50" charset="-128"/>
            </a:endParaRPr>
          </a:p>
          <a:p>
            <a:pPr algn="ctr"/>
            <a:r>
              <a:rPr lang="ja-JP" altLang="en-US" sz="1200" dirty="0">
                <a:solidFill>
                  <a:schemeClr val="tx1"/>
                </a:solidFill>
                <a:latin typeface="メイリオ" panose="020B0604030504040204" pitchFamily="50" charset="-128"/>
                <a:ea typeface="メイリオ" panose="020B0604030504040204" pitchFamily="50" charset="-128"/>
              </a:rPr>
              <a:t>＋</a:t>
            </a:r>
            <a:endParaRPr lang="en-US" altLang="ja-JP" sz="1200" dirty="0">
              <a:solidFill>
                <a:schemeClr val="tx1"/>
              </a:solidFill>
              <a:latin typeface="メイリオ" panose="020B0604030504040204" pitchFamily="50" charset="-128"/>
              <a:ea typeface="メイリオ" panose="020B0604030504040204" pitchFamily="50" charset="-128"/>
            </a:endParaRPr>
          </a:p>
          <a:p>
            <a:pPr algn="ctr"/>
            <a:r>
              <a:rPr lang="ja-JP" altLang="en-US" sz="1200" dirty="0">
                <a:solidFill>
                  <a:schemeClr val="tx1"/>
                </a:solidFill>
                <a:latin typeface="メイリオ" panose="020B0604030504040204" pitchFamily="50" charset="-128"/>
                <a:ea typeface="メイリオ" panose="020B0604030504040204" pitchFamily="50" charset="-128"/>
              </a:rPr>
              <a:t>ツール費</a:t>
            </a:r>
            <a:endParaRPr lang="en-US" altLang="ja-JP" sz="1200" dirty="0">
              <a:solidFill>
                <a:schemeClr val="tx1"/>
              </a:solidFill>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0036B929-196A-854E-1925-1967B52BEB27}"/>
              </a:ext>
            </a:extLst>
          </p:cNvPr>
          <p:cNvSpPr txBox="1"/>
          <p:nvPr/>
        </p:nvSpPr>
        <p:spPr>
          <a:xfrm>
            <a:off x="668626" y="1585328"/>
            <a:ext cx="4960620" cy="523220"/>
          </a:xfrm>
          <a:prstGeom prst="rect">
            <a:avLst/>
          </a:prstGeom>
          <a:noFill/>
        </p:spPr>
        <p:txBody>
          <a:bodyPr wrap="square">
            <a:spAutoFit/>
          </a:bodyPr>
          <a:lstStyle/>
          <a:p>
            <a:pPr algn="ctr"/>
            <a:r>
              <a:rPr lang="ja-JP" altLang="en-US" sz="2800" b="1" dirty="0">
                <a:solidFill>
                  <a:schemeClr val="tx1"/>
                </a:solidFill>
                <a:latin typeface="メイリオ" panose="020B0604030504040204" pitchFamily="50" charset="-128"/>
                <a:ea typeface="メイリオ" panose="020B0604030504040204" pitchFamily="50" charset="-128"/>
              </a:rPr>
              <a:t>＋</a:t>
            </a:r>
            <a:endParaRPr lang="en-US" altLang="ja-JP" sz="2800" b="1" dirty="0">
              <a:solidFill>
                <a:schemeClr val="tx1"/>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C94A4AE5-885C-B98E-00A8-77C51FC7BFE1}"/>
              </a:ext>
            </a:extLst>
          </p:cNvPr>
          <p:cNvSpPr/>
          <p:nvPr/>
        </p:nvSpPr>
        <p:spPr>
          <a:xfrm>
            <a:off x="5080364" y="1405605"/>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rPr>
              <a:t> ☑ 複数の</a:t>
            </a:r>
            <a:r>
              <a:rPr lang="en-US" altLang="ja-JP" sz="1100" dirty="0">
                <a:solidFill>
                  <a:schemeClr val="tx1"/>
                </a:solidFill>
                <a:latin typeface="メイリオ" panose="020B0604030504040204" pitchFamily="50" charset="-128"/>
                <a:ea typeface="メイリオ" panose="020B0604030504040204" pitchFamily="50" charset="-128"/>
              </a:rPr>
              <a:t>LINE</a:t>
            </a:r>
            <a:r>
              <a:rPr lang="ja-JP" altLang="en-US" sz="1100" dirty="0">
                <a:solidFill>
                  <a:schemeClr val="tx1"/>
                </a:solidFill>
                <a:latin typeface="メイリオ" panose="020B0604030504040204" pitchFamily="50" charset="-128"/>
                <a:ea typeface="メイリオ" panose="020B0604030504040204" pitchFamily="50" charset="-128"/>
              </a:rPr>
              <a:t>流入経路からステップ配信を構築し、</a:t>
            </a:r>
            <a:r>
              <a:rPr lang="en-US" altLang="ja-JP" sz="1100" dirty="0">
                <a:solidFill>
                  <a:schemeClr val="tx1"/>
                </a:solidFill>
                <a:latin typeface="メイリオ" panose="020B0604030504040204" pitchFamily="50" charset="-128"/>
                <a:ea typeface="メイリオ" panose="020B0604030504040204" pitchFamily="50" charset="-128"/>
              </a:rPr>
              <a:t>CV</a:t>
            </a:r>
            <a:r>
              <a:rPr lang="ja-JP" altLang="en-US" sz="1100" dirty="0">
                <a:solidFill>
                  <a:schemeClr val="tx1"/>
                </a:solidFill>
                <a:latin typeface="メイリオ" panose="020B0604030504040204" pitchFamily="50" charset="-128"/>
                <a:ea typeface="メイリオ" panose="020B0604030504040204" pitchFamily="50" charset="-128"/>
              </a:rPr>
              <a:t>数を増加。 </a:t>
            </a:r>
            <a:endParaRPr lang="en-US" altLang="ja-JP" sz="1100" dirty="0">
              <a:solidFill>
                <a:schemeClr val="tx1"/>
              </a:solidFill>
              <a:latin typeface="メイリオ" panose="020B0604030504040204" pitchFamily="50" charset="-128"/>
              <a:ea typeface="メイリオ" panose="020B0604030504040204" pitchFamily="50" charset="-128"/>
            </a:endParaRPr>
          </a:p>
        </p:txBody>
      </p:sp>
      <p:sp>
        <p:nvSpPr>
          <p:cNvPr id="24" name="正方形/長方形 23">
            <a:extLst>
              <a:ext uri="{FF2B5EF4-FFF2-40B4-BE49-F238E27FC236}">
                <a16:creationId xmlns:a16="http://schemas.microsoft.com/office/drawing/2014/main" id="{4A2D4AF3-1CC4-4934-0B96-59B465612A8D}"/>
              </a:ext>
            </a:extLst>
          </p:cNvPr>
          <p:cNvSpPr/>
          <p:nvPr/>
        </p:nvSpPr>
        <p:spPr>
          <a:xfrm>
            <a:off x="5080363" y="2750968"/>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rPr>
              <a:t> ☑ 現状導入しているツール、計測環境に応じて設計が可能。 </a:t>
            </a:r>
            <a:endParaRPr lang="en-US" altLang="ja-JP" sz="1100" dirty="0">
              <a:solidFill>
                <a:schemeClr val="tx1"/>
              </a:solidFill>
              <a:latin typeface="メイリオ" panose="020B0604030504040204" pitchFamily="50" charset="-128"/>
              <a:ea typeface="メイリオ" panose="020B0604030504040204" pitchFamily="50" charset="-128"/>
            </a:endParaRPr>
          </a:p>
        </p:txBody>
      </p:sp>
      <p:sp>
        <p:nvSpPr>
          <p:cNvPr id="26" name="テキスト ボックス 25">
            <a:extLst>
              <a:ext uri="{FF2B5EF4-FFF2-40B4-BE49-F238E27FC236}">
                <a16:creationId xmlns:a16="http://schemas.microsoft.com/office/drawing/2014/main" id="{1981C36B-B3F0-8036-014B-17B1A065A490}"/>
              </a:ext>
            </a:extLst>
          </p:cNvPr>
          <p:cNvSpPr txBox="1"/>
          <p:nvPr/>
        </p:nvSpPr>
        <p:spPr>
          <a:xfrm>
            <a:off x="3230275" y="2856669"/>
            <a:ext cx="1715105"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 </a:t>
            </a:r>
            <a:r>
              <a:rPr lang="ja-JP" altLang="en-US" sz="800" dirty="0">
                <a:solidFill>
                  <a:srgbClr val="FF0000"/>
                </a:solidFill>
                <a:latin typeface="メイリオ" panose="020B0604030504040204" pitchFamily="50" charset="-128"/>
                <a:ea typeface="メイリオ" panose="020B0604030504040204" pitchFamily="50" charset="-128"/>
              </a:rPr>
              <a:t>導入ツールに応じて費用発生</a:t>
            </a:r>
            <a:endParaRPr lang="en-US" altLang="ja-JP" sz="800" dirty="0">
              <a:solidFill>
                <a:srgbClr val="FF0000"/>
              </a:solidFill>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0F171EE4-EBC4-0A03-9342-8E33CDF25A68}"/>
              </a:ext>
            </a:extLst>
          </p:cNvPr>
          <p:cNvSpPr txBox="1"/>
          <p:nvPr/>
        </p:nvSpPr>
        <p:spPr>
          <a:xfrm>
            <a:off x="3230274" y="3083982"/>
            <a:ext cx="1715105"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 </a:t>
            </a:r>
            <a:r>
              <a:rPr lang="ja-JP" altLang="en-US" sz="800" dirty="0">
                <a:solidFill>
                  <a:srgbClr val="FF0000"/>
                </a:solidFill>
                <a:latin typeface="メイリオ" panose="020B0604030504040204" pitchFamily="50" charset="-128"/>
                <a:ea typeface="メイリオ" panose="020B0604030504040204" pitchFamily="50" charset="-128"/>
              </a:rPr>
              <a:t>上限通数を設定して運営可能</a:t>
            </a:r>
            <a:endParaRPr lang="en-US" altLang="ja-JP" sz="800" dirty="0">
              <a:solidFill>
                <a:srgbClr val="FF0000"/>
              </a:solidFill>
              <a:latin typeface="メイリオ" panose="020B0604030504040204" pitchFamily="50" charset="-128"/>
              <a:ea typeface="メイリオ" panose="020B0604030504040204" pitchFamily="50" charset="-128"/>
            </a:endParaRPr>
          </a:p>
        </p:txBody>
      </p:sp>
      <p:sp>
        <p:nvSpPr>
          <p:cNvPr id="28" name="テキスト ボックス 27">
            <a:extLst>
              <a:ext uri="{FF2B5EF4-FFF2-40B4-BE49-F238E27FC236}">
                <a16:creationId xmlns:a16="http://schemas.microsoft.com/office/drawing/2014/main" id="{C6B5A64D-6B62-2D6A-1AF5-5EFCEC948063}"/>
              </a:ext>
            </a:extLst>
          </p:cNvPr>
          <p:cNvSpPr txBox="1"/>
          <p:nvPr/>
        </p:nvSpPr>
        <p:spPr>
          <a:xfrm>
            <a:off x="748334" y="2856669"/>
            <a:ext cx="2101546"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 </a:t>
            </a:r>
            <a:r>
              <a:rPr lang="ja-JP" altLang="en-US" sz="800" dirty="0">
                <a:solidFill>
                  <a:srgbClr val="FF0000"/>
                </a:solidFill>
                <a:latin typeface="メイリオ" panose="020B0604030504040204" pitchFamily="50" charset="-128"/>
                <a:ea typeface="メイリオ" panose="020B0604030504040204" pitchFamily="50" charset="-128"/>
              </a:rPr>
              <a:t>成果件数は</a:t>
            </a:r>
            <a:r>
              <a:rPr lang="en-US" altLang="ja-JP" sz="800" dirty="0">
                <a:solidFill>
                  <a:srgbClr val="FF0000"/>
                </a:solidFill>
                <a:latin typeface="メイリオ" panose="020B0604030504040204" pitchFamily="50" charset="-128"/>
                <a:ea typeface="メイリオ" panose="020B0604030504040204" pitchFamily="50" charset="-128"/>
              </a:rPr>
              <a:t>GA</a:t>
            </a:r>
            <a:r>
              <a:rPr lang="ja-JP" altLang="en-US" sz="800" dirty="0">
                <a:solidFill>
                  <a:srgbClr val="FF0000"/>
                </a:solidFill>
                <a:latin typeface="メイリオ" panose="020B0604030504040204" pitchFamily="50" charset="-128"/>
                <a:ea typeface="メイリオ" panose="020B0604030504040204" pitchFamily="50" charset="-128"/>
              </a:rPr>
              <a:t>、他ツールでの計測</a:t>
            </a:r>
            <a:endParaRPr lang="en-US" altLang="ja-JP" sz="800" dirty="0">
              <a:solidFill>
                <a:srgbClr val="FF0000"/>
              </a:solidFill>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555B5E5B-7EFA-B5FA-0284-3CD0D3947983}"/>
              </a:ext>
            </a:extLst>
          </p:cNvPr>
          <p:cNvSpPr txBox="1"/>
          <p:nvPr/>
        </p:nvSpPr>
        <p:spPr>
          <a:xfrm>
            <a:off x="748333" y="3083982"/>
            <a:ext cx="2322527"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 </a:t>
            </a:r>
            <a:r>
              <a:rPr lang="ja-JP" altLang="en-US" sz="800" dirty="0">
                <a:solidFill>
                  <a:srgbClr val="FF0000"/>
                </a:solidFill>
                <a:latin typeface="メイリオ" panose="020B0604030504040204" pitchFamily="50" charset="-128"/>
                <a:ea typeface="メイリオ" panose="020B0604030504040204" pitchFamily="50" charset="-128"/>
              </a:rPr>
              <a:t>成果報酬単価は広告</a:t>
            </a:r>
            <a:r>
              <a:rPr lang="en-US" altLang="ja-JP" sz="800" dirty="0">
                <a:solidFill>
                  <a:srgbClr val="FF0000"/>
                </a:solidFill>
                <a:latin typeface="メイリオ" panose="020B0604030504040204" pitchFamily="50" charset="-128"/>
                <a:ea typeface="メイリオ" panose="020B0604030504040204" pitchFamily="50" charset="-128"/>
              </a:rPr>
              <a:t>CPA</a:t>
            </a:r>
            <a:r>
              <a:rPr lang="ja-JP" altLang="en-US" sz="800" dirty="0">
                <a:solidFill>
                  <a:srgbClr val="FF0000"/>
                </a:solidFill>
                <a:latin typeface="メイリオ" panose="020B0604030504040204" pitchFamily="50" charset="-128"/>
                <a:ea typeface="メイリオ" panose="020B0604030504040204" pitchFamily="50" charset="-128"/>
              </a:rPr>
              <a:t>に基づき設定</a:t>
            </a:r>
            <a:endParaRPr lang="en-US" altLang="ja-JP" sz="800" dirty="0">
              <a:solidFill>
                <a:srgbClr val="FF0000"/>
              </a:solidFill>
              <a:latin typeface="メイリオ" panose="020B0604030504040204" pitchFamily="50" charset="-128"/>
              <a:ea typeface="メイリオ" panose="020B0604030504040204" pitchFamily="50" charset="-128"/>
            </a:endParaRPr>
          </a:p>
        </p:txBody>
      </p:sp>
      <p:sp>
        <p:nvSpPr>
          <p:cNvPr id="16" name="正方形/長方形 15">
            <a:extLst>
              <a:ext uri="{FF2B5EF4-FFF2-40B4-BE49-F238E27FC236}">
                <a16:creationId xmlns:a16="http://schemas.microsoft.com/office/drawing/2014/main" id="{80A369CB-95D9-6607-0494-7E11C05DB30B}"/>
              </a:ext>
            </a:extLst>
          </p:cNvPr>
          <p:cNvSpPr/>
          <p:nvPr/>
        </p:nvSpPr>
        <p:spPr>
          <a:xfrm>
            <a:off x="5186487" y="1789945"/>
            <a:ext cx="843230" cy="166616"/>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bg1"/>
                </a:solidFill>
                <a:latin typeface="メイリオ" panose="020B0604030504040204" pitchFamily="50" charset="-128"/>
                <a:ea typeface="メイリオ" panose="020B0604030504040204" pitchFamily="50" charset="-128"/>
              </a:rPr>
              <a:t>離脱防止</a:t>
            </a:r>
          </a:p>
        </p:txBody>
      </p:sp>
      <p:sp>
        <p:nvSpPr>
          <p:cNvPr id="20" name="正方形/長方形 19">
            <a:extLst>
              <a:ext uri="{FF2B5EF4-FFF2-40B4-BE49-F238E27FC236}">
                <a16:creationId xmlns:a16="http://schemas.microsoft.com/office/drawing/2014/main" id="{EC40B420-994F-D333-3411-E864E0430DDC}"/>
              </a:ext>
            </a:extLst>
          </p:cNvPr>
          <p:cNvSpPr/>
          <p:nvPr/>
        </p:nvSpPr>
        <p:spPr>
          <a:xfrm>
            <a:off x="5186487" y="2204881"/>
            <a:ext cx="843230" cy="166616"/>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900" dirty="0">
                <a:solidFill>
                  <a:schemeClr val="bg1"/>
                </a:solidFill>
                <a:latin typeface="メイリオ" panose="020B0604030504040204" pitchFamily="50" charset="-128"/>
                <a:ea typeface="メイリオ" panose="020B0604030504040204" pitchFamily="50" charset="-128"/>
              </a:rPr>
              <a:t>CPF</a:t>
            </a:r>
            <a:r>
              <a:rPr lang="ja-JP" altLang="en-US" sz="900" dirty="0">
                <a:solidFill>
                  <a:schemeClr val="bg1"/>
                </a:solidFill>
                <a:latin typeface="メイリオ" panose="020B0604030504040204" pitchFamily="50" charset="-128"/>
                <a:ea typeface="メイリオ" panose="020B0604030504040204" pitchFamily="50" charset="-128"/>
              </a:rPr>
              <a:t>広告</a:t>
            </a:r>
            <a:endParaRPr kumimoji="1"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3" name="テキスト ボックス 22">
            <a:extLst>
              <a:ext uri="{FF2B5EF4-FFF2-40B4-BE49-F238E27FC236}">
                <a16:creationId xmlns:a16="http://schemas.microsoft.com/office/drawing/2014/main" id="{4C08CE37-3C30-0822-0EDA-FEB4C5F762A4}"/>
              </a:ext>
            </a:extLst>
          </p:cNvPr>
          <p:cNvSpPr txBox="1"/>
          <p:nvPr/>
        </p:nvSpPr>
        <p:spPr>
          <a:xfrm>
            <a:off x="5084483" y="3036028"/>
            <a:ext cx="4324011" cy="415498"/>
          </a:xfrm>
          <a:prstGeom prst="rect">
            <a:avLst/>
          </a:prstGeom>
          <a:noFill/>
        </p:spPr>
        <p:txBody>
          <a:bodyPr wrap="square">
            <a:spAutoFit/>
          </a:bodyPr>
          <a:lstStyle/>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rPr>
              <a:t> </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 </a:t>
            </a:r>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ツール ✓複数の成果地点とそれに伴う成果単価</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 に基づいて、契約における条件の調整が可能です。</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endParaRPr>
          </a:p>
        </p:txBody>
      </p:sp>
      <p:cxnSp>
        <p:nvCxnSpPr>
          <p:cNvPr id="41" name="直線矢印コネクタ 40">
            <a:extLst>
              <a:ext uri="{FF2B5EF4-FFF2-40B4-BE49-F238E27FC236}">
                <a16:creationId xmlns:a16="http://schemas.microsoft.com/office/drawing/2014/main" id="{3C75F8CA-AB1D-7749-481F-57570BE4B193}"/>
              </a:ext>
            </a:extLst>
          </p:cNvPr>
          <p:cNvCxnSpPr>
            <a:cxnSpLocks/>
            <a:stCxn id="16" idx="3"/>
          </p:cNvCxnSpPr>
          <p:nvPr/>
        </p:nvCxnSpPr>
        <p:spPr>
          <a:xfrm>
            <a:off x="6029717" y="1873253"/>
            <a:ext cx="2472656" cy="0"/>
          </a:xfrm>
          <a:prstGeom prst="straightConnector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C7C50C22-3D43-6C8E-7118-95F98A2DC0F9}"/>
              </a:ext>
            </a:extLst>
          </p:cNvPr>
          <p:cNvSpPr/>
          <p:nvPr/>
        </p:nvSpPr>
        <p:spPr>
          <a:xfrm>
            <a:off x="8502373" y="1789945"/>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chemeClr val="bg1"/>
                </a:solidFill>
                <a:latin typeface="メイリオ" panose="020B0604030504040204" pitchFamily="50" charset="-128"/>
                <a:ea typeface="メイリオ" panose="020B0604030504040204" pitchFamily="50" charset="-128"/>
              </a:rPr>
              <a:t>10</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sp>
        <p:nvSpPr>
          <p:cNvPr id="50" name="正方形/長方形 49">
            <a:extLst>
              <a:ext uri="{FF2B5EF4-FFF2-40B4-BE49-F238E27FC236}">
                <a16:creationId xmlns:a16="http://schemas.microsoft.com/office/drawing/2014/main" id="{D2356226-E20C-9118-F99F-C9E163470ACF}"/>
              </a:ext>
            </a:extLst>
          </p:cNvPr>
          <p:cNvSpPr/>
          <p:nvPr/>
        </p:nvSpPr>
        <p:spPr>
          <a:xfrm>
            <a:off x="7302164" y="1986273"/>
            <a:ext cx="503628" cy="166616"/>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bg1"/>
                </a:solidFill>
                <a:latin typeface="メイリオ" panose="020B0604030504040204" pitchFamily="50" charset="-128"/>
                <a:ea typeface="メイリオ" panose="020B0604030504040204" pitchFamily="50" charset="-128"/>
              </a:rPr>
              <a:t>未回答</a:t>
            </a:r>
          </a:p>
        </p:txBody>
      </p:sp>
      <p:sp>
        <p:nvSpPr>
          <p:cNvPr id="51" name="正方形/長方形 50">
            <a:extLst>
              <a:ext uri="{FF2B5EF4-FFF2-40B4-BE49-F238E27FC236}">
                <a16:creationId xmlns:a16="http://schemas.microsoft.com/office/drawing/2014/main" id="{B78951B1-4D17-2544-74F5-B18E0BD48A94}"/>
              </a:ext>
            </a:extLst>
          </p:cNvPr>
          <p:cNvSpPr/>
          <p:nvPr/>
        </p:nvSpPr>
        <p:spPr>
          <a:xfrm>
            <a:off x="8502373" y="1980991"/>
            <a:ext cx="503628" cy="166616"/>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chemeClr val="bg1"/>
                </a:solidFill>
                <a:latin typeface="メイリオ" panose="020B0604030504040204" pitchFamily="50" charset="-128"/>
                <a:ea typeface="メイリオ" panose="020B0604030504040204" pitchFamily="50" charset="-128"/>
              </a:rPr>
              <a:t>未回答</a:t>
            </a:r>
            <a:endParaRPr kumimoji="1" lang="ja-JP" altLang="en-US" sz="600" dirty="0">
              <a:solidFill>
                <a:schemeClr val="bg1"/>
              </a:solidFill>
              <a:latin typeface="メイリオ" panose="020B0604030504040204" pitchFamily="50" charset="-128"/>
              <a:ea typeface="メイリオ" panose="020B0604030504040204" pitchFamily="50" charset="-128"/>
            </a:endParaRPr>
          </a:p>
        </p:txBody>
      </p:sp>
      <p:cxnSp>
        <p:nvCxnSpPr>
          <p:cNvPr id="54" name="コネクタ: カギ線 53">
            <a:extLst>
              <a:ext uri="{FF2B5EF4-FFF2-40B4-BE49-F238E27FC236}">
                <a16:creationId xmlns:a16="http://schemas.microsoft.com/office/drawing/2014/main" id="{9AAF7DE6-A4BF-3A79-F5FB-1D24DC5D4A56}"/>
              </a:ext>
            </a:extLst>
          </p:cNvPr>
          <p:cNvCxnSpPr>
            <a:stCxn id="16" idx="3"/>
            <a:endCxn id="50" idx="1"/>
          </p:cNvCxnSpPr>
          <p:nvPr/>
        </p:nvCxnSpPr>
        <p:spPr>
          <a:xfrm>
            <a:off x="6029717" y="1873253"/>
            <a:ext cx="1272447" cy="196328"/>
          </a:xfrm>
          <a:prstGeom prst="bentConnector3">
            <a:avLst>
              <a:gd name="adj1" fmla="val 7021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7" name="コネクタ: カギ線 56">
            <a:extLst>
              <a:ext uri="{FF2B5EF4-FFF2-40B4-BE49-F238E27FC236}">
                <a16:creationId xmlns:a16="http://schemas.microsoft.com/office/drawing/2014/main" id="{76ACAA41-83DB-CA83-5B7D-33F8FDF68E1F}"/>
              </a:ext>
            </a:extLst>
          </p:cNvPr>
          <p:cNvCxnSpPr>
            <a:cxnSpLocks/>
            <a:stCxn id="16" idx="3"/>
            <a:endCxn id="51" idx="1"/>
          </p:cNvCxnSpPr>
          <p:nvPr/>
        </p:nvCxnSpPr>
        <p:spPr>
          <a:xfrm>
            <a:off x="6029717" y="1873253"/>
            <a:ext cx="2472656" cy="191046"/>
          </a:xfrm>
          <a:prstGeom prst="bentConnector3">
            <a:avLst>
              <a:gd name="adj1" fmla="val 80239"/>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1" name="正方形/長方形 60">
            <a:extLst>
              <a:ext uri="{FF2B5EF4-FFF2-40B4-BE49-F238E27FC236}">
                <a16:creationId xmlns:a16="http://schemas.microsoft.com/office/drawing/2014/main" id="{C1825D74-634C-9E36-9ECC-717EDC08D01D}"/>
              </a:ext>
            </a:extLst>
          </p:cNvPr>
          <p:cNvSpPr/>
          <p:nvPr/>
        </p:nvSpPr>
        <p:spPr>
          <a:xfrm>
            <a:off x="7302164" y="1795227"/>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chemeClr val="bg1"/>
                </a:solidFill>
                <a:latin typeface="メイリオ" panose="020B0604030504040204" pitchFamily="50" charset="-128"/>
                <a:ea typeface="メイリオ" panose="020B0604030504040204" pitchFamily="50" charset="-128"/>
              </a:rPr>
              <a:t>5</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sp>
        <p:nvSpPr>
          <p:cNvPr id="62" name="正方形/長方形 61">
            <a:extLst>
              <a:ext uri="{FF2B5EF4-FFF2-40B4-BE49-F238E27FC236}">
                <a16:creationId xmlns:a16="http://schemas.microsoft.com/office/drawing/2014/main" id="{5151ACBE-C823-12BC-893C-27BAE6932995}"/>
              </a:ext>
            </a:extLst>
          </p:cNvPr>
          <p:cNvSpPr/>
          <p:nvPr/>
        </p:nvSpPr>
        <p:spPr>
          <a:xfrm>
            <a:off x="6101955" y="1792712"/>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chemeClr val="bg1"/>
                </a:solidFill>
                <a:latin typeface="メイリオ" panose="020B0604030504040204" pitchFamily="50" charset="-128"/>
                <a:ea typeface="メイリオ" panose="020B0604030504040204" pitchFamily="50" charset="-128"/>
              </a:rPr>
              <a:t>3</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cxnSp>
        <p:nvCxnSpPr>
          <p:cNvPr id="63" name="直線矢印コネクタ 62">
            <a:extLst>
              <a:ext uri="{FF2B5EF4-FFF2-40B4-BE49-F238E27FC236}">
                <a16:creationId xmlns:a16="http://schemas.microsoft.com/office/drawing/2014/main" id="{4579CA69-5B2F-0843-0A27-914CF103589C}"/>
              </a:ext>
            </a:extLst>
          </p:cNvPr>
          <p:cNvCxnSpPr>
            <a:cxnSpLocks/>
          </p:cNvCxnSpPr>
          <p:nvPr/>
        </p:nvCxnSpPr>
        <p:spPr>
          <a:xfrm>
            <a:off x="6029717" y="2297422"/>
            <a:ext cx="2472656" cy="0"/>
          </a:xfrm>
          <a:prstGeom prst="straightConnector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5" name="コネクタ: カギ線 64">
            <a:extLst>
              <a:ext uri="{FF2B5EF4-FFF2-40B4-BE49-F238E27FC236}">
                <a16:creationId xmlns:a16="http://schemas.microsoft.com/office/drawing/2014/main" id="{8F57977B-34B8-7FE2-E800-D3FDB3F4B342}"/>
              </a:ext>
            </a:extLst>
          </p:cNvPr>
          <p:cNvCxnSpPr>
            <a:cxnSpLocks/>
          </p:cNvCxnSpPr>
          <p:nvPr/>
        </p:nvCxnSpPr>
        <p:spPr>
          <a:xfrm>
            <a:off x="6029717" y="2297422"/>
            <a:ext cx="2472656" cy="191046"/>
          </a:xfrm>
          <a:prstGeom prst="bentConnector3">
            <a:avLst>
              <a:gd name="adj1" fmla="val 80239"/>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B4580F79-A6B6-6CB7-42C9-9E72234E928E}"/>
              </a:ext>
            </a:extLst>
          </p:cNvPr>
          <p:cNvSpPr/>
          <p:nvPr/>
        </p:nvSpPr>
        <p:spPr>
          <a:xfrm>
            <a:off x="6101955" y="2207648"/>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chemeClr val="bg1"/>
                </a:solidFill>
                <a:latin typeface="メイリオ" panose="020B0604030504040204" pitchFamily="50" charset="-128"/>
                <a:ea typeface="メイリオ" panose="020B0604030504040204" pitchFamily="50" charset="-128"/>
              </a:rPr>
              <a:t>5</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sp>
        <p:nvSpPr>
          <p:cNvPr id="67" name="正方形/長方形 66">
            <a:extLst>
              <a:ext uri="{FF2B5EF4-FFF2-40B4-BE49-F238E27FC236}">
                <a16:creationId xmlns:a16="http://schemas.microsoft.com/office/drawing/2014/main" id="{1AE63C1F-BD64-D8ED-A701-8ADCA2511466}"/>
              </a:ext>
            </a:extLst>
          </p:cNvPr>
          <p:cNvSpPr/>
          <p:nvPr/>
        </p:nvSpPr>
        <p:spPr>
          <a:xfrm>
            <a:off x="7302164" y="2210163"/>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chemeClr val="bg1"/>
                </a:solidFill>
                <a:latin typeface="メイリオ" panose="020B0604030504040204" pitchFamily="50" charset="-128"/>
                <a:ea typeface="メイリオ" panose="020B0604030504040204" pitchFamily="50" charset="-128"/>
              </a:rPr>
              <a:t>15</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sp>
        <p:nvSpPr>
          <p:cNvPr id="68" name="正方形/長方形 67">
            <a:extLst>
              <a:ext uri="{FF2B5EF4-FFF2-40B4-BE49-F238E27FC236}">
                <a16:creationId xmlns:a16="http://schemas.microsoft.com/office/drawing/2014/main" id="{64057BAB-625B-5994-36D5-E83BE7E59586}"/>
              </a:ext>
            </a:extLst>
          </p:cNvPr>
          <p:cNvSpPr/>
          <p:nvPr/>
        </p:nvSpPr>
        <p:spPr>
          <a:xfrm>
            <a:off x="8502373" y="2204881"/>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chemeClr val="bg1"/>
                </a:solidFill>
                <a:latin typeface="メイリオ" panose="020B0604030504040204" pitchFamily="50" charset="-128"/>
                <a:ea typeface="メイリオ" panose="020B0604030504040204" pitchFamily="50" charset="-128"/>
              </a:rPr>
              <a:t>30</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sp>
        <p:nvSpPr>
          <p:cNvPr id="69" name="正方形/長方形 68">
            <a:extLst>
              <a:ext uri="{FF2B5EF4-FFF2-40B4-BE49-F238E27FC236}">
                <a16:creationId xmlns:a16="http://schemas.microsoft.com/office/drawing/2014/main" id="{878D4A23-0BCD-1E38-061D-650AD132E3D9}"/>
              </a:ext>
            </a:extLst>
          </p:cNvPr>
          <p:cNvSpPr/>
          <p:nvPr/>
        </p:nvSpPr>
        <p:spPr>
          <a:xfrm>
            <a:off x="8502373" y="2394616"/>
            <a:ext cx="503628" cy="166616"/>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chemeClr val="bg1"/>
                </a:solidFill>
                <a:latin typeface="メイリオ" panose="020B0604030504040204" pitchFamily="50" charset="-128"/>
                <a:ea typeface="メイリオ" panose="020B0604030504040204" pitchFamily="50" charset="-128"/>
              </a:rPr>
              <a:t>未回答</a:t>
            </a:r>
            <a:endParaRPr kumimoji="1" lang="ja-JP" altLang="en-US" sz="600" dirty="0">
              <a:solidFill>
                <a:schemeClr val="bg1"/>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5D385AB6-97DE-E2AB-6E27-3BFD5D3B3C5D}"/>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Tree>
    <p:extLst>
      <p:ext uri="{BB962C8B-B14F-4D97-AF65-F5344CB8AC3E}">
        <p14:creationId xmlns:p14="http://schemas.microsoft.com/office/powerpoint/2010/main" val="409828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サービス内容</a:t>
            </a:r>
            <a:endParaRPr kumimoji="1" lang="ja-JP" altLang="en-US" sz="1400" dirty="0">
              <a:latin typeface="メイリオ" panose="020B0604030504040204" pitchFamily="50" charset="-128"/>
              <a:ea typeface="メイリオ" panose="020B0604030504040204" pitchFamily="50" charset="-128"/>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転職ユーザーのカスタマージャーニー（8フェーズ）</a:t>
            </a:r>
            <a:endParaRPr lang="en-US" sz="1300" dirty="0">
              <a:latin typeface="メイリオ" panose="020B0604030504040204" pitchFamily="50" charset="-128"/>
              <a:ea typeface="メイリオ" panose="020B0604030504040204" pitchFamily="50" charset="-128"/>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接触〜リピートまでの動線設計</a:t>
            </a:r>
            <a:endParaRPr lang="en-US" sz="10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02</a:t>
            </a:r>
            <a:endParaRPr lang="en-US" sz="1300" dirty="0">
              <a:latin typeface="メイリオ" panose="020B0604030504040204" pitchFamily="50" charset="-128"/>
              <a:ea typeface="メイリオ" panose="020B0604030504040204" pitchFamily="50" charset="-128"/>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LINEステップ配信シナリオ（</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4</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-8</a:t>
            </a:r>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本</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sz="1300" dirty="0">
              <a:latin typeface="メイリオ" panose="020B0604030504040204" pitchFamily="50" charset="-128"/>
              <a:ea typeface="メイリオ" panose="020B0604030504040204" pitchFamily="50" charset="-128"/>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友だち追加直後〜成約誘導まで</a:t>
            </a:r>
            <a:endParaRPr lang="en-US" sz="1000" dirty="0">
              <a:latin typeface="メイリオ" panose="020B0604030504040204" pitchFamily="50" charset="-128"/>
              <a:ea typeface="メイリオ" panose="020B0604030504040204" pitchFamily="50" charset="-128"/>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03</a:t>
            </a:r>
            <a:endParaRPr lang="en-US" sz="1300" dirty="0">
              <a:latin typeface="メイリオ" panose="020B0604030504040204" pitchFamily="50" charset="-128"/>
              <a:ea typeface="メイリオ" panose="020B0604030504040204" pitchFamily="50" charset="-128"/>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04</a:t>
            </a:r>
            <a:endParaRPr lang="en-US" sz="1300" dirty="0">
              <a:latin typeface="メイリオ" panose="020B0604030504040204" pitchFamily="50" charset="-128"/>
              <a:ea typeface="メイリオ" panose="020B0604030504040204" pitchFamily="50" charset="-128"/>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セグメント設定</a:t>
            </a:r>
            <a:endParaRPr lang="en-US" sz="1300" dirty="0">
              <a:latin typeface="メイリオ" panose="020B0604030504040204" pitchFamily="50" charset="-128"/>
              <a:ea typeface="メイリオ" panose="020B0604030504040204" pitchFamily="50" charset="-128"/>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000" dirty="0">
              <a:latin typeface="メイリオ" panose="020B0604030504040204" pitchFamily="50" charset="-128"/>
              <a:ea typeface="メイリオ" panose="020B0604030504040204" pitchFamily="50" charset="-128"/>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a:latin typeface="メイリオ" panose="020B0604030504040204" pitchFamily="50" charset="-128"/>
                <a:ea typeface="メイリオ" panose="020B0604030504040204" pitchFamily="50" charset="-128"/>
              </a:rPr>
              <a:t>WEB</a:t>
            </a:r>
            <a:r>
              <a:rPr lang="ja-JP" altLang="en-US" sz="1000" dirty="0">
                <a:latin typeface="メイリオ" panose="020B0604030504040204" pitchFamily="50" charset="-128"/>
                <a:ea typeface="メイリオ" panose="020B0604030504040204" pitchFamily="50" charset="-128"/>
              </a:rPr>
              <a:t>サイトアクション、</a:t>
            </a:r>
            <a:r>
              <a:rPr lang="en-US" altLang="ja-JP" sz="1000" dirty="0">
                <a:latin typeface="メイリオ" panose="020B0604030504040204" pitchFamily="50" charset="-128"/>
                <a:ea typeface="メイリオ" panose="020B0604030504040204" pitchFamily="50" charset="-128"/>
              </a:rPr>
              <a:t>LINE</a:t>
            </a:r>
            <a:r>
              <a:rPr lang="ja-JP" altLang="en-US" sz="1000" dirty="0">
                <a:latin typeface="メイリオ" panose="020B0604030504040204" pitchFamily="50" charset="-128"/>
                <a:ea typeface="メイリオ" panose="020B0604030504040204" pitchFamily="50" charset="-128"/>
              </a:rPr>
              <a:t>上アクションのスコアリング 等を活用</a:t>
            </a:r>
            <a:endParaRPr lang="en-US" altLang="ja-JP" sz="1000" dirty="0">
              <a:latin typeface="メイリオ" panose="020B0604030504040204" pitchFamily="50" charset="-128"/>
              <a:ea typeface="メイリオ" panose="020B0604030504040204" pitchFamily="50" charset="-128"/>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sz="1300" dirty="0">
              <a:latin typeface="メイリオ" panose="020B0604030504040204" pitchFamily="50" charset="-128"/>
              <a:ea typeface="メイリオ" panose="020B0604030504040204" pitchFamily="50" charset="-128"/>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06</a:t>
            </a:r>
            <a:endParaRPr lang="en-US" sz="1300" dirty="0">
              <a:latin typeface="メイリオ" panose="020B0604030504040204" pitchFamily="50" charset="-128"/>
              <a:ea typeface="メイリオ" panose="020B0604030504040204" pitchFamily="50" charset="-128"/>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季節・時期ごとの企画配信</a:t>
            </a:r>
            <a:endParaRPr lang="en-US" altLang="ja-JP" sz="1300" dirty="0">
              <a:latin typeface="メイリオ" panose="020B0604030504040204" pitchFamily="50" charset="-128"/>
              <a:ea typeface="メイリオ" panose="020B0604030504040204" pitchFamily="50" charset="-128"/>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繁忙期に連動</a:t>
            </a:r>
            <a:r>
              <a:rPr lang="ja-JP" altLang="en-US" sz="1000" dirty="0">
                <a:solidFill>
                  <a:srgbClr val="64748B"/>
                </a:solidFill>
                <a:latin typeface="メイリオ" panose="020B0604030504040204" pitchFamily="50" charset="-128"/>
                <a:ea typeface="メイリオ" panose="020B0604030504040204" pitchFamily="50" charset="-128"/>
                <a:cs typeface="Calibri" pitchFamily="34" charset="-120"/>
              </a:rPr>
              <a:t>・各ユーザー層をターゲットと</a:t>
            </a:r>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したキャンペーン案</a:t>
            </a:r>
            <a:endParaRPr lang="en-US" altLang="ja-JP" sz="1000" dirty="0">
              <a:latin typeface="メイリオ" panose="020B0604030504040204" pitchFamily="50" charset="-128"/>
              <a:ea typeface="メイリオ" panose="020B0604030504040204" pitchFamily="50" charset="-128"/>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07</a:t>
            </a:r>
            <a:endParaRPr lang="en-US" sz="1300" dirty="0">
              <a:latin typeface="メイリオ" panose="020B0604030504040204" pitchFamily="50" charset="-128"/>
              <a:ea typeface="メイリオ" panose="020B0604030504040204" pitchFamily="50" charset="-128"/>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各種設定の更新・改善</a:t>
            </a:r>
            <a:endParaRPr lang="en-US" altLang="ja-JP" sz="1300" dirty="0">
              <a:latin typeface="メイリオ" panose="020B0604030504040204" pitchFamily="50" charset="-128"/>
              <a:ea typeface="メイリオ" panose="020B0604030504040204" pitchFamily="50" charset="-128"/>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000" dirty="0">
                <a:latin typeface="メイリオ" panose="020B0604030504040204" pitchFamily="50" charset="-128"/>
                <a:ea typeface="メイリオ" panose="020B0604030504040204" pitchFamily="50" charset="-128"/>
              </a:rPr>
              <a:t>あいさつメッセージ、リッチメニュー、</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の改修（</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は別途費用）</a:t>
            </a:r>
            <a:endParaRPr lang="en-US" altLang="ja-JP" sz="1000" dirty="0">
              <a:latin typeface="メイリオ" panose="020B0604030504040204" pitchFamily="50" charset="-128"/>
              <a:ea typeface="メイリオ" panose="020B0604030504040204" pitchFamily="50" charset="-128"/>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初期費用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月額費用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本数により金額変動</a:t>
            </a:r>
          </a:p>
        </p:txBody>
      </p:sp>
    </p:spTree>
    <p:extLst>
      <p:ext uri="{BB962C8B-B14F-4D97-AF65-F5344CB8AC3E}">
        <p14:creationId xmlns:p14="http://schemas.microsoft.com/office/powerpoint/2010/main" val="23693530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の運用業務・</a:t>
            </a:r>
            <a:r>
              <a:rPr lang="en-US" altLang="ja-JP" sz="1600" b="1" dirty="0">
                <a:latin typeface="メイリオ" panose="020B0604030504040204" pitchFamily="50" charset="-128"/>
                <a:ea typeface="メイリオ" panose="020B0604030504040204" pitchFamily="50" charset="-128"/>
                <a:cs typeface="Meiryo"/>
                <a:sym typeface="Meiryo"/>
              </a:rPr>
              <a:t>CR</a:t>
            </a:r>
            <a:r>
              <a:rPr lang="ja-JP" altLang="en-US" sz="1600" b="1" dirty="0">
                <a:latin typeface="メイリオ" panose="020B0604030504040204" pitchFamily="50" charset="-128"/>
                <a:ea typeface="メイリオ" panose="020B0604030504040204" pitchFamily="50" charset="-128"/>
                <a:cs typeface="Meiryo"/>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追加作業における費用感　</a:t>
            </a:r>
            <a:r>
              <a:rPr lang="en-US" altLang="ja-JP" sz="900" dirty="0">
                <a:solidFill>
                  <a:srgbClr val="FF0000"/>
                </a:solidFill>
                <a:latin typeface="メイリオ" panose="020B0604030504040204" pitchFamily="50" charset="-128"/>
                <a:ea typeface="メイリオ" panose="020B0604030504040204" pitchFamily="50" charset="-128"/>
                <a:sym typeface="Meiryo"/>
              </a:rPr>
              <a:t>※</a:t>
            </a:r>
            <a:r>
              <a:rPr lang="ja-JP" altLang="en-US" sz="900" dirty="0">
                <a:solidFill>
                  <a:srgbClr val="FF0000"/>
                </a:solidFill>
                <a:latin typeface="メイリオ" panose="020B0604030504040204" pitchFamily="50" charset="-128"/>
                <a:ea typeface="メイリオ" panose="020B0604030504040204" pitchFamily="50" charset="-128"/>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&gt;</a:t>
            </a:r>
            <a:endParaRPr lang="ja-JP" altLang="en-US" sz="1050" dirty="0">
              <a:solidFill>
                <a:schemeClr val="tx1">
                  <a:lumMod val="65000"/>
                  <a:lumOff val="35000"/>
                </a:schemeClr>
              </a:solidFill>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rPr>
                        <a:t>¥200,000~</a:t>
                      </a:r>
                      <a:endParaRPr lang="en-US" altLang="ja-JP" sz="2800" b="0" i="0" u="none" strike="noStrike" dirty="0">
                        <a:solidFill>
                          <a:schemeClr val="tx1">
                            <a:lumMod val="50000"/>
                            <a:lumOff val="50000"/>
                          </a:schemeClr>
                        </a:solidFill>
                        <a:effectLst/>
                        <a:latin typeface="Arial" panose="020B0604020202020204" pitchFamily="34" charset="0"/>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rPr>
                        <a:t>¥0</a:t>
                      </a:r>
                      <a:endParaRPr lang="en-US" altLang="ja-JP" sz="2800" b="0" i="0" u="none" strike="noStrike" dirty="0">
                        <a:solidFill>
                          <a:schemeClr val="tx1">
                            <a:lumMod val="50000"/>
                            <a:lumOff val="50000"/>
                          </a:schemeClr>
                        </a:solidFill>
                        <a:effectLst/>
                        <a:latin typeface="Arial" panose="020B0604020202020204" pitchFamily="34" charset="0"/>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チャット対応</a:t>
                      </a:r>
                      <a:r>
                        <a:rPr lang="ja-JP" altLang="en-US" sz="700" b="0" i="0" u="none" strike="noStrike" dirty="0">
                          <a:solidFill>
                            <a:srgbClr val="FF0000"/>
                          </a:solidFill>
                          <a:effectLst/>
                          <a:latin typeface="メイリオ" panose="020B0604030504040204" pitchFamily="50" charset="-128"/>
                          <a:ea typeface="メイリオ" panose="020B0604030504040204" pitchFamily="50" charset="-128"/>
                        </a:rPr>
                        <a:t> </a:t>
                      </a:r>
                      <a:r>
                        <a:rPr lang="en-US" altLang="ja-JP" sz="700" b="0" i="0" u="none" strike="noStrike" dirty="0">
                          <a:solidFill>
                            <a:srgbClr val="FF0000"/>
                          </a:solidFill>
                          <a:effectLst/>
                          <a:latin typeface="メイリオ" panose="020B0604030504040204" pitchFamily="50" charset="-128"/>
                          <a:ea typeface="メイリオ" panose="020B0604030504040204" pitchFamily="50" charset="-128"/>
                        </a:rPr>
                        <a:t>※</a:t>
                      </a:r>
                      <a:r>
                        <a:rPr lang="ja-JP" altLang="en-US" sz="700" b="0" i="0" u="none" strike="noStrike" dirty="0">
                          <a:solidFill>
                            <a:srgbClr val="FF0000"/>
                          </a:solidFill>
                          <a:effectLst/>
                          <a:latin typeface="メイリオ" panose="020B0604030504040204" pitchFamily="50" charset="-128"/>
                          <a:ea typeface="メイリオ" panose="020B0604030504040204" pitchFamily="50" charset="-128"/>
                        </a:rPr>
                        <a:t>サポートは可能</a:t>
                      </a:r>
                      <a:endParaRPr lang="ja-JP" altLang="en-US" sz="1100" b="0" i="0" u="none" strike="noStrike" dirty="0">
                        <a:solidFill>
                          <a:srgbClr val="FF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FF0000"/>
                </a:solidFill>
                <a:latin typeface="メイリオ" panose="020B0604030504040204" pitchFamily="50" charset="-128"/>
                <a:ea typeface="メイリオ" panose="020B0604030504040204" pitchFamily="50" charset="-128"/>
                <a:sym typeface="Meiryo"/>
              </a:rPr>
              <a:t>貴社リソースの状況に応じて都度発注でのご依頼も各単価で受けさせていただきます。</a:t>
            </a:r>
            <a:endParaRPr lang="ja-JP" altLang="en-US" sz="1400" dirty="0"/>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880881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A005E-6EDE-75AF-3702-D659FA2E02B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EB36E0B-BE06-5BCE-4458-BBF8CF4DBEB4}"/>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前提整理（費用感と市場相場感）</a:t>
            </a:r>
          </a:p>
        </p:txBody>
      </p:sp>
      <p:pic>
        <p:nvPicPr>
          <p:cNvPr id="12" name="図 11" descr="アイコン が含まれている画像&#10;&#10;AI 生成コンテンツは誤りを含む可能性があります。">
            <a:extLst>
              <a:ext uri="{FF2B5EF4-FFF2-40B4-BE49-F238E27FC236}">
                <a16:creationId xmlns:a16="http://schemas.microsoft.com/office/drawing/2014/main" id="{948F2ADE-2051-CBCE-BFA5-9D302E96EF9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3108" y="1416099"/>
            <a:ext cx="1106285" cy="737523"/>
          </a:xfrm>
          <a:prstGeom prst="rect">
            <a:avLst/>
          </a:prstGeom>
        </p:spPr>
      </p:pic>
      <p:sp>
        <p:nvSpPr>
          <p:cNvPr id="18" name="正方形/長方形 17">
            <a:extLst>
              <a:ext uri="{FF2B5EF4-FFF2-40B4-BE49-F238E27FC236}">
                <a16:creationId xmlns:a16="http://schemas.microsoft.com/office/drawing/2014/main" id="{5A82ED73-CFB4-5856-F1C2-89DFDAD093DF}"/>
              </a:ext>
            </a:extLst>
          </p:cNvPr>
          <p:cNvSpPr/>
          <p:nvPr/>
        </p:nvSpPr>
        <p:spPr>
          <a:xfrm>
            <a:off x="383783" y="1416099"/>
            <a:ext cx="9153917" cy="2612975"/>
          </a:xfrm>
          <a:prstGeom prst="rect">
            <a:avLst/>
          </a:prstGeom>
          <a:no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712484CE-6B39-BC8A-404D-A519F420F8FC}"/>
              </a:ext>
            </a:extLst>
          </p:cNvPr>
          <p:cNvSpPr/>
          <p:nvPr/>
        </p:nvSpPr>
        <p:spPr>
          <a:xfrm>
            <a:off x="386990" y="4067489"/>
            <a:ext cx="4557909" cy="2424973"/>
          </a:xfrm>
          <a:prstGeom prst="rect">
            <a:avLst/>
          </a:prstGeom>
          <a:no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EC816DE2-9FB5-3652-FB09-74A729C405CD}"/>
              </a:ext>
            </a:extLst>
          </p:cNvPr>
          <p:cNvSpPr/>
          <p:nvPr/>
        </p:nvSpPr>
        <p:spPr>
          <a:xfrm>
            <a:off x="4979791" y="4067489"/>
            <a:ext cx="4557909" cy="2424973"/>
          </a:xfrm>
          <a:prstGeom prst="rect">
            <a:avLst/>
          </a:prstGeom>
          <a:no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6" name="図 25" descr="グラフィカル ユーザー インターフェイス, アプリケーション&#10;&#10;AI 生成コンテンツは誤りを含む可能性があります。">
            <a:extLst>
              <a:ext uri="{FF2B5EF4-FFF2-40B4-BE49-F238E27FC236}">
                <a16:creationId xmlns:a16="http://schemas.microsoft.com/office/drawing/2014/main" id="{6412670A-1409-2B4C-31A2-5A1345AB47B5}"/>
              </a:ext>
            </a:extLst>
          </p:cNvPr>
          <p:cNvPicPr>
            <a:picLocks noChangeAspect="1"/>
          </p:cNvPicPr>
          <p:nvPr/>
        </p:nvPicPr>
        <p:blipFill>
          <a:blip r:embed="rId3">
            <a:extLst>
              <a:ext uri="{28A0092B-C50C-407E-A947-70E740481C1C}">
                <a14:useLocalDpi xmlns:a14="http://schemas.microsoft.com/office/drawing/2010/main" val="0"/>
              </a:ext>
            </a:extLst>
          </a:blip>
          <a:srcRect l="22645" t="9147" b="4386"/>
          <a:stretch>
            <a:fillRect/>
          </a:stretch>
        </p:blipFill>
        <p:spPr>
          <a:xfrm>
            <a:off x="498508" y="1676386"/>
            <a:ext cx="4758010" cy="2194830"/>
          </a:xfrm>
          <a:prstGeom prst="rect">
            <a:avLst/>
          </a:prstGeom>
        </p:spPr>
      </p:pic>
      <p:sp>
        <p:nvSpPr>
          <p:cNvPr id="30" name="テキスト ボックス 29">
            <a:extLst>
              <a:ext uri="{FF2B5EF4-FFF2-40B4-BE49-F238E27FC236}">
                <a16:creationId xmlns:a16="http://schemas.microsoft.com/office/drawing/2014/main" id="{80D3BEE1-2A27-3976-DAAB-7396732CD793}"/>
              </a:ext>
            </a:extLst>
          </p:cNvPr>
          <p:cNvSpPr txBox="1"/>
          <p:nvPr/>
        </p:nvSpPr>
        <p:spPr>
          <a:xfrm>
            <a:off x="5620249" y="1753351"/>
            <a:ext cx="3617668" cy="600164"/>
          </a:xfrm>
          <a:prstGeom prst="rect">
            <a:avLst/>
          </a:prstGeom>
          <a:noFill/>
        </p:spPr>
        <p:txBody>
          <a:bodyPr wrap="square">
            <a:spAutoFit/>
          </a:bodyPr>
          <a:lstStyle/>
          <a:p>
            <a:r>
              <a:rPr lang="en-US" altLang="ja-JP" sz="1100" dirty="0">
                <a:latin typeface="メイリオ" panose="020B0604030504040204" pitchFamily="50" charset="-128"/>
                <a:ea typeface="メイリオ" panose="020B0604030504040204" pitchFamily="50" charset="-128"/>
              </a:rPr>
              <a:t>50,000</a:t>
            </a:r>
            <a:r>
              <a:rPr lang="ja-JP" altLang="en-US" sz="1100" dirty="0">
                <a:latin typeface="メイリオ" panose="020B0604030504040204" pitchFamily="50" charset="-128"/>
                <a:ea typeface="メイリオ" panose="020B0604030504040204" pitchFamily="50" charset="-128"/>
              </a:rPr>
              <a:t>通</a:t>
            </a:r>
            <a:r>
              <a:rPr lang="en-US" altLang="ja-JP" sz="1100" dirty="0">
                <a:latin typeface="メイリオ" panose="020B0604030504040204" pitchFamily="50" charset="-128"/>
                <a:ea typeface="メイリオ" panose="020B0604030504040204" pitchFamily="50" charset="-128"/>
              </a:rPr>
              <a:t>~</a:t>
            </a:r>
            <a:r>
              <a:rPr lang="ja-JP" altLang="en-US" sz="1100" dirty="0">
                <a:latin typeface="メイリオ" panose="020B0604030504040204" pitchFamily="50" charset="-128"/>
                <a:ea typeface="メイリオ" panose="020B0604030504040204" pitchFamily="50" charset="-128"/>
              </a:rPr>
              <a:t>：</a:t>
            </a:r>
            <a:r>
              <a:rPr lang="en-US" altLang="ja-JP" sz="1100" dirty="0">
                <a:latin typeface="メイリオ" panose="020B0604030504040204" pitchFamily="50" charset="-128"/>
                <a:ea typeface="メイリオ" panose="020B0604030504040204" pitchFamily="50" charset="-128"/>
              </a:rPr>
              <a:t>2.8</a:t>
            </a:r>
            <a:r>
              <a:rPr lang="ja-JP" altLang="en-US" sz="1100" dirty="0">
                <a:latin typeface="メイリオ" panose="020B0604030504040204" pitchFamily="50" charset="-128"/>
                <a:ea typeface="メイリオ" panose="020B0604030504040204" pitchFamily="50" charset="-128"/>
              </a:rPr>
              <a:t>円</a:t>
            </a:r>
            <a:r>
              <a:rPr lang="en-US" altLang="ja-JP" sz="1100" dirty="0">
                <a:latin typeface="メイリオ" panose="020B0604030504040204" pitchFamily="50" charset="-128"/>
                <a:ea typeface="メイリオ" panose="020B0604030504040204" pitchFamily="50" charset="-128"/>
              </a:rPr>
              <a:t>/</a:t>
            </a:r>
            <a:r>
              <a:rPr lang="ja-JP" altLang="en-US" sz="1100" dirty="0">
                <a:latin typeface="メイリオ" panose="020B0604030504040204" pitchFamily="50" charset="-128"/>
                <a:ea typeface="メイリオ" panose="020B0604030504040204" pitchFamily="50" charset="-128"/>
              </a:rPr>
              <a:t>通 </a:t>
            </a:r>
            <a:r>
              <a:rPr lang="en-US" altLang="ja-JP" sz="1100" dirty="0">
                <a:latin typeface="メイリオ" panose="020B0604030504040204" pitchFamily="50" charset="-128"/>
                <a:ea typeface="メイリオ" panose="020B0604030504040204" pitchFamily="50" charset="-128"/>
              </a:rPr>
              <a:t>100,000</a:t>
            </a:r>
            <a:r>
              <a:rPr lang="ja-JP" altLang="en-US" sz="1100" dirty="0">
                <a:latin typeface="メイリオ" panose="020B0604030504040204" pitchFamily="50" charset="-128"/>
                <a:ea typeface="メイリオ" panose="020B0604030504040204" pitchFamily="50" charset="-128"/>
              </a:rPr>
              <a:t>通</a:t>
            </a:r>
            <a:r>
              <a:rPr lang="en-US" altLang="ja-JP" sz="1100" dirty="0">
                <a:latin typeface="メイリオ" panose="020B0604030504040204" pitchFamily="50" charset="-128"/>
                <a:ea typeface="メイリオ" panose="020B0604030504040204" pitchFamily="50" charset="-128"/>
              </a:rPr>
              <a:t>~</a:t>
            </a:r>
            <a:r>
              <a:rPr lang="ja-JP" altLang="en-US" sz="1100" dirty="0">
                <a:latin typeface="メイリオ" panose="020B0604030504040204" pitchFamily="50" charset="-128"/>
                <a:ea typeface="メイリオ" panose="020B0604030504040204" pitchFamily="50" charset="-128"/>
              </a:rPr>
              <a:t>：</a:t>
            </a:r>
            <a:r>
              <a:rPr lang="en-US" altLang="ja-JP" sz="1100" dirty="0">
                <a:latin typeface="メイリオ" panose="020B0604030504040204" pitchFamily="50" charset="-128"/>
                <a:ea typeface="メイリオ" panose="020B0604030504040204" pitchFamily="50" charset="-128"/>
              </a:rPr>
              <a:t>2.6</a:t>
            </a:r>
            <a:r>
              <a:rPr lang="ja-JP" altLang="en-US" sz="1100" dirty="0">
                <a:latin typeface="メイリオ" panose="020B0604030504040204" pitchFamily="50" charset="-128"/>
                <a:ea typeface="メイリオ" panose="020B0604030504040204" pitchFamily="50" charset="-128"/>
              </a:rPr>
              <a:t>円</a:t>
            </a:r>
            <a:r>
              <a:rPr lang="en-US" altLang="ja-JP" sz="1100" dirty="0">
                <a:latin typeface="メイリオ" panose="020B0604030504040204" pitchFamily="50" charset="-128"/>
                <a:ea typeface="メイリオ" panose="020B0604030504040204" pitchFamily="50" charset="-128"/>
              </a:rPr>
              <a:t>/</a:t>
            </a:r>
            <a:r>
              <a:rPr lang="ja-JP" altLang="en-US" sz="1100" dirty="0">
                <a:latin typeface="メイリオ" panose="020B0604030504040204" pitchFamily="50" charset="-128"/>
                <a:ea typeface="メイリオ" panose="020B0604030504040204" pitchFamily="50" charset="-128"/>
              </a:rPr>
              <a:t>通</a:t>
            </a:r>
            <a:endParaRPr lang="en-US" altLang="ja-JP" sz="1100" dirty="0">
              <a:latin typeface="メイリオ" panose="020B0604030504040204" pitchFamily="50" charset="-128"/>
              <a:ea typeface="メイリオ" panose="020B0604030504040204" pitchFamily="50" charset="-128"/>
            </a:endParaRPr>
          </a:p>
          <a:p>
            <a:r>
              <a:rPr lang="en-US" altLang="ja-JP" sz="1100" dirty="0">
                <a:latin typeface="メイリオ" panose="020B0604030504040204" pitchFamily="50" charset="-128"/>
                <a:ea typeface="メイリオ" panose="020B0604030504040204" pitchFamily="50" charset="-128"/>
              </a:rPr>
              <a:t>200,000</a:t>
            </a:r>
            <a:r>
              <a:rPr lang="ja-JP" altLang="en-US" sz="1100" dirty="0">
                <a:latin typeface="メイリオ" panose="020B0604030504040204" pitchFamily="50" charset="-128"/>
                <a:ea typeface="メイリオ" panose="020B0604030504040204" pitchFamily="50" charset="-128"/>
              </a:rPr>
              <a:t>通</a:t>
            </a:r>
            <a:r>
              <a:rPr lang="en-US" altLang="ja-JP" sz="1100" dirty="0">
                <a:latin typeface="メイリオ" panose="020B0604030504040204" pitchFamily="50" charset="-128"/>
                <a:ea typeface="メイリオ" panose="020B0604030504040204" pitchFamily="50" charset="-128"/>
              </a:rPr>
              <a:t>~</a:t>
            </a:r>
            <a:r>
              <a:rPr lang="ja-JP" altLang="en-US" sz="1100" dirty="0">
                <a:latin typeface="メイリオ" panose="020B0604030504040204" pitchFamily="50" charset="-128"/>
                <a:ea typeface="メイリオ" panose="020B0604030504040204" pitchFamily="50" charset="-128"/>
              </a:rPr>
              <a:t>：</a:t>
            </a:r>
            <a:r>
              <a:rPr lang="en-US" altLang="ja-JP" sz="1100" dirty="0">
                <a:latin typeface="メイリオ" panose="020B0604030504040204" pitchFamily="50" charset="-128"/>
                <a:ea typeface="メイリオ" panose="020B0604030504040204" pitchFamily="50" charset="-128"/>
              </a:rPr>
              <a:t>2.4</a:t>
            </a:r>
            <a:r>
              <a:rPr lang="ja-JP" altLang="en-US" sz="1100" dirty="0">
                <a:latin typeface="メイリオ" panose="020B0604030504040204" pitchFamily="50" charset="-128"/>
                <a:ea typeface="メイリオ" panose="020B0604030504040204" pitchFamily="50" charset="-128"/>
              </a:rPr>
              <a:t>円</a:t>
            </a:r>
            <a:r>
              <a:rPr lang="en-US" altLang="ja-JP" sz="1100" dirty="0">
                <a:latin typeface="メイリオ" panose="020B0604030504040204" pitchFamily="50" charset="-128"/>
                <a:ea typeface="メイリオ" panose="020B0604030504040204" pitchFamily="50" charset="-128"/>
              </a:rPr>
              <a:t>/</a:t>
            </a:r>
            <a:r>
              <a:rPr lang="ja-JP" altLang="en-US" sz="1100" dirty="0">
                <a:latin typeface="メイリオ" panose="020B0604030504040204" pitchFamily="50" charset="-128"/>
                <a:ea typeface="メイリオ" panose="020B0604030504040204" pitchFamily="50" charset="-128"/>
              </a:rPr>
              <a:t>通 </a:t>
            </a:r>
            <a:r>
              <a:rPr lang="en-US" altLang="ja-JP" sz="1100" dirty="0">
                <a:latin typeface="メイリオ" panose="020B0604030504040204" pitchFamily="50" charset="-128"/>
                <a:ea typeface="メイリオ" panose="020B0604030504040204" pitchFamily="50" charset="-128"/>
              </a:rPr>
              <a:t>300,000</a:t>
            </a:r>
            <a:r>
              <a:rPr lang="ja-JP" altLang="en-US" sz="1100" dirty="0">
                <a:latin typeface="メイリオ" panose="020B0604030504040204" pitchFamily="50" charset="-128"/>
                <a:ea typeface="メイリオ" panose="020B0604030504040204" pitchFamily="50" charset="-128"/>
              </a:rPr>
              <a:t>通</a:t>
            </a:r>
            <a:r>
              <a:rPr lang="en-US" altLang="ja-JP" sz="1100" dirty="0">
                <a:latin typeface="メイリオ" panose="020B0604030504040204" pitchFamily="50" charset="-128"/>
                <a:ea typeface="メイリオ" panose="020B0604030504040204" pitchFamily="50" charset="-128"/>
              </a:rPr>
              <a:t>~</a:t>
            </a:r>
            <a:r>
              <a:rPr lang="ja-JP" altLang="en-US" sz="1100" dirty="0">
                <a:latin typeface="メイリオ" panose="020B0604030504040204" pitchFamily="50" charset="-128"/>
                <a:ea typeface="メイリオ" panose="020B0604030504040204" pitchFamily="50" charset="-128"/>
              </a:rPr>
              <a:t>：</a:t>
            </a:r>
            <a:r>
              <a:rPr lang="en-US" altLang="ja-JP" sz="1100" dirty="0">
                <a:latin typeface="メイリオ" panose="020B0604030504040204" pitchFamily="50" charset="-128"/>
                <a:ea typeface="メイリオ" panose="020B0604030504040204" pitchFamily="50" charset="-128"/>
              </a:rPr>
              <a:t>2.2</a:t>
            </a:r>
            <a:r>
              <a:rPr lang="ja-JP" altLang="en-US" sz="1100" dirty="0">
                <a:latin typeface="メイリオ" panose="020B0604030504040204" pitchFamily="50" charset="-128"/>
                <a:ea typeface="メイリオ" panose="020B0604030504040204" pitchFamily="50" charset="-128"/>
              </a:rPr>
              <a:t>円</a:t>
            </a:r>
            <a:r>
              <a:rPr lang="en-US" altLang="ja-JP" sz="1100" dirty="0">
                <a:latin typeface="メイリオ" panose="020B0604030504040204" pitchFamily="50" charset="-128"/>
                <a:ea typeface="メイリオ" panose="020B0604030504040204" pitchFamily="50" charset="-128"/>
              </a:rPr>
              <a:t>/</a:t>
            </a:r>
            <a:r>
              <a:rPr lang="ja-JP" altLang="en-US" sz="1100" dirty="0">
                <a:latin typeface="メイリオ" panose="020B0604030504040204" pitchFamily="50" charset="-128"/>
                <a:ea typeface="メイリオ" panose="020B0604030504040204" pitchFamily="50" charset="-128"/>
              </a:rPr>
              <a:t>通</a:t>
            </a:r>
            <a:endParaRPr lang="en-US" altLang="ja-JP" sz="1100" dirty="0">
              <a:latin typeface="メイリオ" panose="020B0604030504040204" pitchFamily="50" charset="-128"/>
              <a:ea typeface="メイリオ" panose="020B0604030504040204" pitchFamily="50" charset="-128"/>
            </a:endParaRPr>
          </a:p>
          <a:p>
            <a:r>
              <a:rPr lang="en-US" altLang="ja-JP" sz="1100" dirty="0">
                <a:latin typeface="メイリオ" panose="020B0604030504040204" pitchFamily="50" charset="-128"/>
                <a:ea typeface="メイリオ" panose="020B0604030504040204" pitchFamily="50" charset="-128"/>
              </a:rPr>
              <a:t>400,000</a:t>
            </a:r>
            <a:r>
              <a:rPr lang="ja-JP" altLang="en-US" sz="1100" dirty="0">
                <a:latin typeface="メイリオ" panose="020B0604030504040204" pitchFamily="50" charset="-128"/>
                <a:ea typeface="メイリオ" panose="020B0604030504040204" pitchFamily="50" charset="-128"/>
              </a:rPr>
              <a:t>通</a:t>
            </a:r>
            <a:r>
              <a:rPr lang="en-US" altLang="ja-JP" sz="1100" dirty="0">
                <a:latin typeface="メイリオ" panose="020B0604030504040204" pitchFamily="50" charset="-128"/>
                <a:ea typeface="メイリオ" panose="020B0604030504040204" pitchFamily="50" charset="-128"/>
              </a:rPr>
              <a:t>~</a:t>
            </a:r>
            <a:r>
              <a:rPr lang="ja-JP" altLang="en-US" sz="1100" dirty="0">
                <a:latin typeface="メイリオ" panose="020B0604030504040204" pitchFamily="50" charset="-128"/>
                <a:ea typeface="メイリオ" panose="020B0604030504040204" pitchFamily="50" charset="-128"/>
              </a:rPr>
              <a:t>：</a:t>
            </a:r>
            <a:r>
              <a:rPr lang="en-US" altLang="ja-JP" sz="1100" dirty="0">
                <a:latin typeface="メイリオ" panose="020B0604030504040204" pitchFamily="50" charset="-128"/>
                <a:ea typeface="メイリオ" panose="020B0604030504040204" pitchFamily="50" charset="-128"/>
              </a:rPr>
              <a:t>2.0</a:t>
            </a:r>
            <a:r>
              <a:rPr lang="ja-JP" altLang="en-US" sz="1100" dirty="0">
                <a:latin typeface="メイリオ" panose="020B0604030504040204" pitchFamily="50" charset="-128"/>
                <a:ea typeface="メイリオ" panose="020B0604030504040204" pitchFamily="50" charset="-128"/>
              </a:rPr>
              <a:t>円</a:t>
            </a:r>
            <a:r>
              <a:rPr lang="en-US" altLang="ja-JP" sz="1100" dirty="0">
                <a:latin typeface="メイリオ" panose="020B0604030504040204" pitchFamily="50" charset="-128"/>
                <a:ea typeface="メイリオ" panose="020B0604030504040204" pitchFamily="50" charset="-128"/>
              </a:rPr>
              <a:t>/</a:t>
            </a:r>
            <a:r>
              <a:rPr lang="ja-JP" altLang="en-US" sz="1100" dirty="0">
                <a:latin typeface="メイリオ" panose="020B0604030504040204" pitchFamily="50" charset="-128"/>
                <a:ea typeface="メイリオ" panose="020B0604030504040204" pitchFamily="50" charset="-128"/>
              </a:rPr>
              <a:t>通 </a:t>
            </a:r>
            <a:r>
              <a:rPr lang="en-US" altLang="ja-JP" sz="1100" dirty="0">
                <a:latin typeface="メイリオ" panose="020B0604030504040204" pitchFamily="50" charset="-128"/>
                <a:ea typeface="メイリオ" panose="020B0604030504040204" pitchFamily="50" charset="-128"/>
              </a:rPr>
              <a:t>500,000</a:t>
            </a:r>
            <a:r>
              <a:rPr lang="ja-JP" altLang="en-US" sz="1100" dirty="0">
                <a:latin typeface="メイリオ" panose="020B0604030504040204" pitchFamily="50" charset="-128"/>
                <a:ea typeface="メイリオ" panose="020B0604030504040204" pitchFamily="50" charset="-128"/>
              </a:rPr>
              <a:t>通</a:t>
            </a:r>
            <a:r>
              <a:rPr lang="en-US" altLang="ja-JP" sz="1100" dirty="0">
                <a:latin typeface="メイリオ" panose="020B0604030504040204" pitchFamily="50" charset="-128"/>
                <a:ea typeface="メイリオ" panose="020B0604030504040204" pitchFamily="50" charset="-128"/>
              </a:rPr>
              <a:t>~</a:t>
            </a:r>
            <a:r>
              <a:rPr lang="ja-JP" altLang="en-US" sz="1100" dirty="0">
                <a:latin typeface="メイリオ" panose="020B0604030504040204" pitchFamily="50" charset="-128"/>
                <a:ea typeface="メイリオ" panose="020B0604030504040204" pitchFamily="50" charset="-128"/>
              </a:rPr>
              <a:t>：</a:t>
            </a:r>
            <a:r>
              <a:rPr lang="en-US" altLang="ja-JP" sz="1100" dirty="0">
                <a:latin typeface="メイリオ" panose="020B0604030504040204" pitchFamily="50" charset="-128"/>
                <a:ea typeface="メイリオ" panose="020B0604030504040204" pitchFamily="50" charset="-128"/>
              </a:rPr>
              <a:t>1.8</a:t>
            </a:r>
            <a:r>
              <a:rPr lang="ja-JP" altLang="en-US" sz="1100" dirty="0">
                <a:latin typeface="メイリオ" panose="020B0604030504040204" pitchFamily="50" charset="-128"/>
                <a:ea typeface="メイリオ" panose="020B0604030504040204" pitchFamily="50" charset="-128"/>
              </a:rPr>
              <a:t>円</a:t>
            </a:r>
            <a:r>
              <a:rPr lang="en-US" altLang="ja-JP" sz="1100" dirty="0">
                <a:latin typeface="メイリオ" panose="020B0604030504040204" pitchFamily="50" charset="-128"/>
                <a:ea typeface="メイリオ" panose="020B0604030504040204" pitchFamily="50" charset="-128"/>
              </a:rPr>
              <a:t>/</a:t>
            </a:r>
            <a:r>
              <a:rPr lang="ja-JP" altLang="en-US" sz="1100" dirty="0">
                <a:latin typeface="メイリオ" panose="020B0604030504040204" pitchFamily="50" charset="-128"/>
                <a:ea typeface="メイリオ" panose="020B0604030504040204" pitchFamily="50" charset="-128"/>
              </a:rPr>
              <a:t>通  等</a:t>
            </a:r>
          </a:p>
        </p:txBody>
      </p:sp>
      <p:sp>
        <p:nvSpPr>
          <p:cNvPr id="31" name="Google Shape;752;p28">
            <a:extLst>
              <a:ext uri="{FF2B5EF4-FFF2-40B4-BE49-F238E27FC236}">
                <a16:creationId xmlns:a16="http://schemas.microsoft.com/office/drawing/2014/main" id="{60A6E521-86B4-C76A-F476-E7045650FC5B}"/>
              </a:ext>
            </a:extLst>
          </p:cNvPr>
          <p:cNvSpPr txBox="1"/>
          <p:nvPr/>
        </p:nvSpPr>
        <p:spPr>
          <a:xfrm>
            <a:off x="5620249" y="1545047"/>
            <a:ext cx="3069239" cy="261570"/>
          </a:xfrm>
          <a:prstGeom prst="rect">
            <a:avLst/>
          </a:prstGeom>
          <a:noFill/>
          <a:ln>
            <a:noFill/>
          </a:ln>
        </p:spPr>
        <p:txBody>
          <a:bodyPr spcFirstLastPara="1" wrap="square" lIns="91425" tIns="45700" rIns="91425" bIns="45700" anchor="ctr" anchorCtr="0">
            <a:spAutoFit/>
          </a:bodyPr>
          <a:lstStyle/>
          <a:p>
            <a:pPr lvl="0"/>
            <a:r>
              <a:rPr lang="en-US" altLang="ja-JP" sz="1100" b="1" dirty="0">
                <a:solidFill>
                  <a:srgbClr val="323366"/>
                </a:solidFill>
                <a:latin typeface="メイリオ" panose="020B0604030504040204" pitchFamily="50" charset="-128"/>
                <a:ea typeface="メイリオ" panose="020B0604030504040204" pitchFamily="50" charset="-128"/>
                <a:cs typeface="Meiryo"/>
                <a:sym typeface="Meiryo"/>
              </a:rPr>
              <a:t>&lt;</a:t>
            </a:r>
            <a:r>
              <a:rPr lang="ja-JP" altLang="en-US" sz="1100" b="1" dirty="0">
                <a:solidFill>
                  <a:srgbClr val="323366"/>
                </a:solidFill>
                <a:latin typeface="メイリオ" panose="020B0604030504040204" pitchFamily="50" charset="-128"/>
                <a:ea typeface="メイリオ" panose="020B0604030504040204" pitchFamily="50" charset="-128"/>
                <a:cs typeface="Meiryo"/>
                <a:sym typeface="Meiryo"/>
              </a:rPr>
              <a:t>現行プラン </a:t>
            </a:r>
            <a:r>
              <a:rPr lang="en-US" altLang="ja-JP" sz="1100" b="1" dirty="0">
                <a:solidFill>
                  <a:srgbClr val="323366"/>
                </a:solidFill>
                <a:latin typeface="メイリオ" panose="020B0604030504040204" pitchFamily="50" charset="-128"/>
                <a:ea typeface="メイリオ" panose="020B0604030504040204" pitchFamily="50" charset="-128"/>
                <a:cs typeface="Meiryo"/>
                <a:sym typeface="Meiryo"/>
              </a:rPr>
              <a:t>※</a:t>
            </a:r>
            <a:r>
              <a:rPr lang="ja-JP" altLang="en-US" sz="1100" b="1" dirty="0">
                <a:solidFill>
                  <a:srgbClr val="323366"/>
                </a:solidFill>
                <a:latin typeface="メイリオ" panose="020B0604030504040204" pitchFamily="50" charset="-128"/>
                <a:ea typeface="メイリオ" panose="020B0604030504040204" pitchFamily="50" charset="-128"/>
                <a:cs typeface="Meiryo"/>
                <a:sym typeface="Meiryo"/>
              </a:rPr>
              <a:t>追加メッセージ</a:t>
            </a:r>
            <a:r>
              <a:rPr lang="en-US" altLang="ja-JP" sz="1100" b="1" dirty="0">
                <a:solidFill>
                  <a:srgbClr val="323366"/>
                </a:solidFill>
                <a:latin typeface="メイリオ" panose="020B0604030504040204" pitchFamily="50" charset="-128"/>
                <a:ea typeface="メイリオ" panose="020B0604030504040204" pitchFamily="50" charset="-128"/>
                <a:cs typeface="Meiryo"/>
                <a:sym typeface="Meiryo"/>
              </a:rPr>
              <a:t>&gt;</a:t>
            </a:r>
            <a:endParaRPr lang="ja-JP" altLang="en-US" sz="11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33" name="Google Shape;752;p28">
            <a:extLst>
              <a:ext uri="{FF2B5EF4-FFF2-40B4-BE49-F238E27FC236}">
                <a16:creationId xmlns:a16="http://schemas.microsoft.com/office/drawing/2014/main" id="{4C292373-E21B-4223-45D6-F3EF2A39A309}"/>
              </a:ext>
            </a:extLst>
          </p:cNvPr>
          <p:cNvSpPr txBox="1"/>
          <p:nvPr/>
        </p:nvSpPr>
        <p:spPr>
          <a:xfrm>
            <a:off x="5620249" y="2491590"/>
            <a:ext cx="3069239" cy="261570"/>
          </a:xfrm>
          <a:prstGeom prst="rect">
            <a:avLst/>
          </a:prstGeom>
          <a:noFill/>
          <a:ln>
            <a:noFill/>
          </a:ln>
        </p:spPr>
        <p:txBody>
          <a:bodyPr spcFirstLastPara="1" wrap="square" lIns="91425" tIns="45700" rIns="91425" bIns="45700" anchor="ctr" anchorCtr="0">
            <a:spAutoFit/>
          </a:bodyPr>
          <a:lstStyle/>
          <a:p>
            <a:pPr lvl="0"/>
            <a:r>
              <a:rPr lang="en-US" altLang="ja-JP" sz="1100" b="1" dirty="0">
                <a:solidFill>
                  <a:srgbClr val="323366"/>
                </a:solidFill>
                <a:latin typeface="メイリオ" panose="020B0604030504040204" pitchFamily="50" charset="-128"/>
                <a:ea typeface="メイリオ" panose="020B0604030504040204" pitchFamily="50" charset="-128"/>
                <a:cs typeface="Meiryo"/>
                <a:sym typeface="Meiryo"/>
              </a:rPr>
              <a:t>&lt;2026</a:t>
            </a:r>
            <a:r>
              <a:rPr lang="ja-JP" altLang="en-US" sz="1100" b="1" dirty="0">
                <a:solidFill>
                  <a:srgbClr val="323366"/>
                </a:solidFill>
                <a:latin typeface="メイリオ" panose="020B0604030504040204" pitchFamily="50" charset="-128"/>
                <a:ea typeface="メイリオ" panose="020B0604030504040204" pitchFamily="50" charset="-128"/>
                <a:cs typeface="Meiryo"/>
                <a:sym typeface="Meiryo"/>
              </a:rPr>
              <a:t>年</a:t>
            </a:r>
            <a:r>
              <a:rPr lang="en-US" altLang="ja-JP" sz="1100" b="1" dirty="0">
                <a:solidFill>
                  <a:srgbClr val="323366"/>
                </a:solidFill>
                <a:latin typeface="メイリオ" panose="020B0604030504040204" pitchFamily="50" charset="-128"/>
                <a:ea typeface="メイリオ" panose="020B0604030504040204" pitchFamily="50" charset="-128"/>
                <a:cs typeface="Meiryo"/>
                <a:sym typeface="Meiryo"/>
              </a:rPr>
              <a:t>10</a:t>
            </a:r>
            <a:r>
              <a:rPr lang="ja-JP" altLang="en-US" sz="1100" b="1" dirty="0">
                <a:solidFill>
                  <a:srgbClr val="323366"/>
                </a:solidFill>
                <a:latin typeface="メイリオ" panose="020B0604030504040204" pitchFamily="50" charset="-128"/>
                <a:ea typeface="メイリオ" panose="020B0604030504040204" pitchFamily="50" charset="-128"/>
                <a:cs typeface="Meiryo"/>
                <a:sym typeface="Meiryo"/>
              </a:rPr>
              <a:t>月以降の新プラン</a:t>
            </a:r>
            <a:r>
              <a:rPr lang="en-US" altLang="ja-JP" sz="1100" b="1" dirty="0">
                <a:solidFill>
                  <a:srgbClr val="323366"/>
                </a:solidFill>
                <a:latin typeface="メイリオ" panose="020B0604030504040204" pitchFamily="50" charset="-128"/>
                <a:ea typeface="メイリオ" panose="020B0604030504040204" pitchFamily="50" charset="-128"/>
                <a:cs typeface="Meiryo"/>
                <a:sym typeface="Meiryo"/>
              </a:rPr>
              <a:t>&gt;</a:t>
            </a:r>
            <a:endParaRPr lang="ja-JP" altLang="en-US" sz="11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35" name="テキスト ボックス 34">
            <a:extLst>
              <a:ext uri="{FF2B5EF4-FFF2-40B4-BE49-F238E27FC236}">
                <a16:creationId xmlns:a16="http://schemas.microsoft.com/office/drawing/2014/main" id="{5EF745E7-6AB5-E3F0-E54B-199E8D88B64F}"/>
              </a:ext>
            </a:extLst>
          </p:cNvPr>
          <p:cNvSpPr txBox="1"/>
          <p:nvPr/>
        </p:nvSpPr>
        <p:spPr>
          <a:xfrm>
            <a:off x="5620249" y="2699893"/>
            <a:ext cx="3069239" cy="430887"/>
          </a:xfrm>
          <a:prstGeom prst="rect">
            <a:avLst/>
          </a:prstGeom>
          <a:noFill/>
        </p:spPr>
        <p:txBody>
          <a:bodyPr wrap="square">
            <a:spAutoFit/>
          </a:bodyPr>
          <a:lstStyle/>
          <a:p>
            <a:r>
              <a:rPr lang="ja-JP" altLang="en-US" sz="1100" dirty="0">
                <a:latin typeface="メイリオ" panose="020B0604030504040204" pitchFamily="50" charset="-128"/>
                <a:ea typeface="メイリオ" panose="020B0604030504040204" pitchFamily="50" charset="-128"/>
              </a:rPr>
              <a:t>20万通/月まで: 1通3円</a:t>
            </a:r>
            <a:endParaRPr lang="en-US" altLang="ja-JP" sz="1100" dirty="0">
              <a:latin typeface="メイリオ" panose="020B0604030504040204" pitchFamily="50" charset="-128"/>
              <a:ea typeface="メイリオ" panose="020B0604030504040204" pitchFamily="50" charset="-128"/>
            </a:endParaRPr>
          </a:p>
          <a:p>
            <a:r>
              <a:rPr lang="ja-JP" altLang="en-US" sz="1100" dirty="0">
                <a:latin typeface="メイリオ" panose="020B0604030504040204" pitchFamily="50" charset="-128"/>
                <a:ea typeface="メイリオ" panose="020B0604030504040204" pitchFamily="50" charset="-128"/>
              </a:rPr>
              <a:t>20万通超過分: 1通2.5円</a:t>
            </a:r>
          </a:p>
        </p:txBody>
      </p:sp>
      <p:sp>
        <p:nvSpPr>
          <p:cNvPr id="36" name="Google Shape;752;p28">
            <a:extLst>
              <a:ext uri="{FF2B5EF4-FFF2-40B4-BE49-F238E27FC236}">
                <a16:creationId xmlns:a16="http://schemas.microsoft.com/office/drawing/2014/main" id="{B2356822-13C0-5F98-0FEE-79BBF00408BB}"/>
              </a:ext>
            </a:extLst>
          </p:cNvPr>
          <p:cNvSpPr txBox="1"/>
          <p:nvPr/>
        </p:nvSpPr>
        <p:spPr>
          <a:xfrm>
            <a:off x="5620249" y="3218796"/>
            <a:ext cx="3069239" cy="261570"/>
          </a:xfrm>
          <a:prstGeom prst="rect">
            <a:avLst/>
          </a:prstGeom>
          <a:noFill/>
          <a:ln>
            <a:noFill/>
          </a:ln>
        </p:spPr>
        <p:txBody>
          <a:bodyPr spcFirstLastPara="1" wrap="square" lIns="91425" tIns="45700" rIns="91425" bIns="45700" anchor="ctr" anchorCtr="0">
            <a:spAutoFit/>
          </a:bodyPr>
          <a:lstStyle/>
          <a:p>
            <a:pPr lvl="0"/>
            <a:r>
              <a:rPr lang="en-US" altLang="ja-JP" sz="1100" b="1" dirty="0">
                <a:solidFill>
                  <a:srgbClr val="323366"/>
                </a:solidFill>
                <a:latin typeface="メイリオ" panose="020B0604030504040204" pitchFamily="50" charset="-128"/>
                <a:ea typeface="メイリオ" panose="020B0604030504040204" pitchFamily="50" charset="-128"/>
                <a:cs typeface="Meiryo"/>
                <a:sym typeface="Meiryo"/>
              </a:rPr>
              <a:t>&lt;</a:t>
            </a:r>
            <a:r>
              <a:rPr lang="ja-JP" altLang="en-US" sz="1100" b="1" dirty="0">
                <a:solidFill>
                  <a:srgbClr val="323366"/>
                </a:solidFill>
                <a:latin typeface="メイリオ" panose="020B0604030504040204" pitchFamily="50" charset="-128"/>
                <a:ea typeface="メイリオ" panose="020B0604030504040204" pitchFamily="50" charset="-128"/>
                <a:cs typeface="Meiryo"/>
                <a:sym typeface="Meiryo"/>
              </a:rPr>
              <a:t>その他代表的なプラン設計</a:t>
            </a:r>
            <a:r>
              <a:rPr lang="en-US" altLang="ja-JP" sz="1100" b="1" dirty="0">
                <a:solidFill>
                  <a:srgbClr val="323366"/>
                </a:solidFill>
                <a:latin typeface="メイリオ" panose="020B0604030504040204" pitchFamily="50" charset="-128"/>
                <a:ea typeface="メイリオ" panose="020B0604030504040204" pitchFamily="50" charset="-128"/>
                <a:cs typeface="Meiryo"/>
                <a:sym typeface="Meiryo"/>
              </a:rPr>
              <a:t>&gt;</a:t>
            </a:r>
            <a:endParaRPr lang="ja-JP" altLang="en-US" sz="11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37" name="テキスト ボックス 36">
            <a:extLst>
              <a:ext uri="{FF2B5EF4-FFF2-40B4-BE49-F238E27FC236}">
                <a16:creationId xmlns:a16="http://schemas.microsoft.com/office/drawing/2014/main" id="{D63B651D-2345-9624-4A7C-1666CE93303B}"/>
              </a:ext>
            </a:extLst>
          </p:cNvPr>
          <p:cNvSpPr txBox="1"/>
          <p:nvPr/>
        </p:nvSpPr>
        <p:spPr>
          <a:xfrm>
            <a:off x="5620249" y="3427099"/>
            <a:ext cx="3901968" cy="400110"/>
          </a:xfrm>
          <a:prstGeom prst="rect">
            <a:avLst/>
          </a:prstGeom>
          <a:noFill/>
        </p:spPr>
        <p:txBody>
          <a:bodyPr wrap="square">
            <a:spAutoFit/>
          </a:bodyPr>
          <a:lstStyle/>
          <a:p>
            <a:r>
              <a:rPr lang="ja-JP" altLang="en-US" sz="1000" dirty="0">
                <a:solidFill>
                  <a:srgbClr val="FF0000"/>
                </a:solidFill>
                <a:latin typeface="メイリオ" panose="020B0604030504040204" pitchFamily="50" charset="-128"/>
                <a:ea typeface="メイリオ" panose="020B0604030504040204" pitchFamily="50" charset="-128"/>
              </a:rPr>
              <a:t>エキスパンションプラン</a:t>
            </a:r>
            <a:r>
              <a:rPr lang="ja-JP" altLang="en-US" sz="800" dirty="0">
                <a:solidFill>
                  <a:srgbClr val="FF0000"/>
                </a:solidFill>
                <a:latin typeface="メイリオ" panose="020B0604030504040204" pitchFamily="50" charset="-128"/>
                <a:ea typeface="メイリオ" panose="020B0604030504040204" pitchFamily="50" charset="-128"/>
              </a:rPr>
              <a:t> </a:t>
            </a:r>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前月対比</a:t>
            </a:r>
            <a:r>
              <a:rPr lang="en-US" altLang="ja-JP" sz="800" dirty="0">
                <a:solidFill>
                  <a:srgbClr val="FF0000"/>
                </a:solidFill>
                <a:latin typeface="メイリオ" panose="020B0604030504040204" pitchFamily="50" charset="-128"/>
                <a:ea typeface="メイリオ" panose="020B0604030504040204" pitchFamily="50" charset="-128"/>
              </a:rPr>
              <a:t>30</a:t>
            </a:r>
            <a:r>
              <a:rPr lang="ja-JP" altLang="en-US" sz="800" dirty="0">
                <a:solidFill>
                  <a:srgbClr val="FF0000"/>
                </a:solidFill>
                <a:latin typeface="メイリオ" panose="020B0604030504040204" pitchFamily="50" charset="-128"/>
                <a:ea typeface="メイリオ" panose="020B0604030504040204" pitchFamily="50" charset="-128"/>
              </a:rPr>
              <a:t>％伸長コミット</a:t>
            </a:r>
            <a:endParaRPr lang="en-US" altLang="ja-JP" sz="800" dirty="0">
              <a:solidFill>
                <a:srgbClr val="FF0000"/>
              </a:solidFill>
              <a:latin typeface="メイリオ" panose="020B0604030504040204" pitchFamily="50" charset="-128"/>
              <a:ea typeface="メイリオ" panose="020B0604030504040204" pitchFamily="50" charset="-128"/>
            </a:endParaRPr>
          </a:p>
          <a:p>
            <a:r>
              <a:rPr lang="ja-JP" altLang="en-US" sz="1000" dirty="0">
                <a:latin typeface="メイリオ" panose="020B0604030504040204" pitchFamily="50" charset="-128"/>
                <a:ea typeface="メイリオ" panose="020B0604030504040204" pitchFamily="50" charset="-128"/>
              </a:rPr>
              <a:t>特別プラン </a:t>
            </a:r>
            <a:r>
              <a:rPr lang="en-US" altLang="ja-JP" sz="800" dirty="0">
                <a:latin typeface="メイリオ" panose="020B0604030504040204" pitchFamily="50" charset="-128"/>
                <a:ea typeface="メイリオ" panose="020B0604030504040204" pitchFamily="50" charset="-128"/>
              </a:rPr>
              <a:t>※</a:t>
            </a:r>
            <a:r>
              <a:rPr lang="ja-JP" altLang="en-US" sz="800" dirty="0">
                <a:latin typeface="メイリオ" panose="020B0604030504040204" pitchFamily="50" charset="-128"/>
                <a:ea typeface="メイリオ" panose="020B0604030504040204" pitchFamily="50" charset="-128"/>
              </a:rPr>
              <a:t>その他</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ヤフー社から提示しているもの</a:t>
            </a:r>
            <a:endParaRPr lang="en-US" altLang="ja-JP" sz="600" dirty="0">
              <a:latin typeface="メイリオ" panose="020B0604030504040204" pitchFamily="50" charset="-128"/>
              <a:ea typeface="メイリオ" panose="020B0604030504040204" pitchFamily="50" charset="-128"/>
            </a:endParaRPr>
          </a:p>
        </p:txBody>
      </p:sp>
      <p:sp>
        <p:nvSpPr>
          <p:cNvPr id="41" name="正方形/長方形 40">
            <a:extLst>
              <a:ext uri="{FF2B5EF4-FFF2-40B4-BE49-F238E27FC236}">
                <a16:creationId xmlns:a16="http://schemas.microsoft.com/office/drawing/2014/main" id="{E1874F38-FA96-92AA-DD78-56523763C349}"/>
              </a:ext>
            </a:extLst>
          </p:cNvPr>
          <p:cNvSpPr/>
          <p:nvPr/>
        </p:nvSpPr>
        <p:spPr>
          <a:xfrm>
            <a:off x="1107930" y="1813322"/>
            <a:ext cx="1298864" cy="134091"/>
          </a:xfrm>
          <a:prstGeom prst="rect">
            <a:avLst/>
          </a:prstGeom>
          <a:solidFill>
            <a:schemeClr val="tx2">
              <a:lumMod val="60000"/>
              <a:lumOff val="4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正方形/長方形 41">
            <a:extLst>
              <a:ext uri="{FF2B5EF4-FFF2-40B4-BE49-F238E27FC236}">
                <a16:creationId xmlns:a16="http://schemas.microsoft.com/office/drawing/2014/main" id="{5DF189C4-BE43-797B-06FE-DF9F02E1220D}"/>
              </a:ext>
            </a:extLst>
          </p:cNvPr>
          <p:cNvSpPr/>
          <p:nvPr/>
        </p:nvSpPr>
        <p:spPr>
          <a:xfrm>
            <a:off x="1166560" y="4307351"/>
            <a:ext cx="1651792" cy="134091"/>
          </a:xfrm>
          <a:prstGeom prst="rect">
            <a:avLst/>
          </a:prstGeom>
          <a:solidFill>
            <a:schemeClr val="tx2">
              <a:lumMod val="60000"/>
              <a:lumOff val="4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正方形/長方形 42">
            <a:extLst>
              <a:ext uri="{FF2B5EF4-FFF2-40B4-BE49-F238E27FC236}">
                <a16:creationId xmlns:a16="http://schemas.microsoft.com/office/drawing/2014/main" id="{F431E6E6-4275-19E0-0A47-BDD067949F8C}"/>
              </a:ext>
            </a:extLst>
          </p:cNvPr>
          <p:cNvSpPr/>
          <p:nvPr/>
        </p:nvSpPr>
        <p:spPr>
          <a:xfrm>
            <a:off x="5683908" y="4307351"/>
            <a:ext cx="1901667" cy="134091"/>
          </a:xfrm>
          <a:prstGeom prst="rect">
            <a:avLst/>
          </a:prstGeom>
          <a:solidFill>
            <a:schemeClr val="tx2">
              <a:lumMod val="60000"/>
              <a:lumOff val="4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Google Shape;752;p28">
            <a:extLst>
              <a:ext uri="{FF2B5EF4-FFF2-40B4-BE49-F238E27FC236}">
                <a16:creationId xmlns:a16="http://schemas.microsoft.com/office/drawing/2014/main" id="{33B156F6-45B0-A871-AE63-6BDD77E372DE}"/>
              </a:ext>
            </a:extLst>
          </p:cNvPr>
          <p:cNvSpPr txBox="1"/>
          <p:nvPr/>
        </p:nvSpPr>
        <p:spPr>
          <a:xfrm>
            <a:off x="1147590" y="1615603"/>
            <a:ext cx="1452736"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ベース料金</a:t>
            </a:r>
          </a:p>
        </p:txBody>
      </p:sp>
      <p:sp>
        <p:nvSpPr>
          <p:cNvPr id="45" name="Google Shape;752;p28">
            <a:extLst>
              <a:ext uri="{FF2B5EF4-FFF2-40B4-BE49-F238E27FC236}">
                <a16:creationId xmlns:a16="http://schemas.microsoft.com/office/drawing/2014/main" id="{9FDB2489-BC5C-5902-A92D-99353EA829B4}"/>
              </a:ext>
            </a:extLst>
          </p:cNvPr>
          <p:cNvSpPr txBox="1"/>
          <p:nvPr/>
        </p:nvSpPr>
        <p:spPr>
          <a:xfrm>
            <a:off x="1147589" y="4131503"/>
            <a:ext cx="333868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機能拡充（別途）</a:t>
            </a:r>
          </a:p>
        </p:txBody>
      </p:sp>
      <p:sp>
        <p:nvSpPr>
          <p:cNvPr id="46" name="Google Shape;752;p28">
            <a:extLst>
              <a:ext uri="{FF2B5EF4-FFF2-40B4-BE49-F238E27FC236}">
                <a16:creationId xmlns:a16="http://schemas.microsoft.com/office/drawing/2014/main" id="{DF63868A-9A5A-1C35-4BB4-092655E5A4EC}"/>
              </a:ext>
            </a:extLst>
          </p:cNvPr>
          <p:cNvSpPr txBox="1"/>
          <p:nvPr/>
        </p:nvSpPr>
        <p:spPr>
          <a:xfrm>
            <a:off x="5759740" y="4131503"/>
            <a:ext cx="333868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コンサル領域</a:t>
            </a:r>
          </a:p>
        </p:txBody>
      </p:sp>
      <p:sp>
        <p:nvSpPr>
          <p:cNvPr id="48" name="テキスト ボックス 47">
            <a:extLst>
              <a:ext uri="{FF2B5EF4-FFF2-40B4-BE49-F238E27FC236}">
                <a16:creationId xmlns:a16="http://schemas.microsoft.com/office/drawing/2014/main" id="{6C374105-0594-8249-88B1-08FB6C833955}"/>
              </a:ext>
            </a:extLst>
          </p:cNvPr>
          <p:cNvSpPr txBox="1"/>
          <p:nvPr/>
        </p:nvSpPr>
        <p:spPr>
          <a:xfrm>
            <a:off x="462028" y="4726013"/>
            <a:ext cx="4490972" cy="261610"/>
          </a:xfrm>
          <a:prstGeom prst="rect">
            <a:avLst/>
          </a:prstGeom>
          <a:noFill/>
        </p:spPr>
        <p:txBody>
          <a:bodyPr wrap="square">
            <a:spAutoFit/>
          </a:bodyPr>
          <a:lstStyle/>
          <a:p>
            <a:r>
              <a:rPr lang="ja-JP" altLang="en-US" sz="1100" dirty="0">
                <a:latin typeface="メイリオ" panose="020B0604030504040204" pitchFamily="50" charset="-128"/>
                <a:ea typeface="メイリオ" panose="020B0604030504040204" pitchFamily="50" charset="-128"/>
              </a:rPr>
              <a:t>通知メッセージ</a:t>
            </a:r>
            <a:r>
              <a:rPr lang="ja-JP" altLang="en-US" sz="1100" b="1" dirty="0">
                <a:latin typeface="メイリオ" panose="020B0604030504040204" pitchFamily="50" charset="-128"/>
                <a:ea typeface="メイリオ" panose="020B0604030504040204" pitchFamily="50" charset="-128"/>
              </a:rPr>
              <a:t>（</a:t>
            </a:r>
            <a:r>
              <a:rPr lang="en-US" altLang="ja-JP" sz="1100" b="1" dirty="0">
                <a:latin typeface="メイリオ" panose="020B0604030504040204" pitchFamily="50" charset="-128"/>
                <a:ea typeface="メイリオ" panose="020B0604030504040204" pitchFamily="50" charset="-128"/>
              </a:rPr>
              <a:t>60</a:t>
            </a:r>
            <a:r>
              <a:rPr lang="ja-JP" altLang="en-US" sz="1100" b="1" dirty="0">
                <a:latin typeface="メイリオ" panose="020B0604030504040204" pitchFamily="50" charset="-128"/>
                <a:ea typeface="メイリオ" panose="020B0604030504040204" pitchFamily="50" charset="-128"/>
              </a:rPr>
              <a:t>万円</a:t>
            </a:r>
            <a:r>
              <a:rPr lang="en-US" altLang="ja-JP" sz="1100" b="1" dirty="0">
                <a:latin typeface="メイリオ" panose="020B0604030504040204" pitchFamily="50" charset="-128"/>
                <a:ea typeface="メイリオ" panose="020B0604030504040204" pitchFamily="50" charset="-128"/>
              </a:rPr>
              <a:t>~ / </a:t>
            </a:r>
            <a:r>
              <a:rPr lang="ja-JP" altLang="en-US" sz="1100" b="1" dirty="0">
                <a:latin typeface="メイリオ" panose="020B0604030504040204" pitchFamily="50" charset="-128"/>
                <a:ea typeface="メイリオ" panose="020B0604030504040204" pitchFamily="50" charset="-128"/>
              </a:rPr>
              <a:t>月）</a:t>
            </a:r>
            <a:endParaRPr lang="ja-JP" altLang="en-US" sz="1100" b="1" dirty="0"/>
          </a:p>
        </p:txBody>
      </p:sp>
      <p:sp>
        <p:nvSpPr>
          <p:cNvPr id="49" name="テキスト ボックス 48">
            <a:extLst>
              <a:ext uri="{FF2B5EF4-FFF2-40B4-BE49-F238E27FC236}">
                <a16:creationId xmlns:a16="http://schemas.microsoft.com/office/drawing/2014/main" id="{10EB4FEE-4067-9B1F-827C-886BF78A32B9}"/>
              </a:ext>
            </a:extLst>
          </p:cNvPr>
          <p:cNvSpPr txBox="1"/>
          <p:nvPr/>
        </p:nvSpPr>
        <p:spPr>
          <a:xfrm>
            <a:off x="462028" y="4987623"/>
            <a:ext cx="4490972" cy="261610"/>
          </a:xfrm>
          <a:prstGeom prst="rect">
            <a:avLst/>
          </a:prstGeom>
          <a:noFill/>
        </p:spPr>
        <p:txBody>
          <a:bodyPr wrap="square">
            <a:spAutoFit/>
          </a:bodyPr>
          <a:lstStyle/>
          <a:p>
            <a:r>
              <a:rPr lang="ja-JP" altLang="en-US" sz="1100" dirty="0">
                <a:latin typeface="メイリオ" panose="020B0604030504040204" pitchFamily="50" charset="-128"/>
                <a:ea typeface="メイリオ" panose="020B0604030504040204" pitchFamily="50" charset="-128"/>
              </a:rPr>
              <a:t>タグ操作の上限機能解放</a:t>
            </a:r>
            <a:r>
              <a:rPr lang="ja-JP" altLang="en-US" sz="1100" b="1" dirty="0">
                <a:latin typeface="メイリオ" panose="020B0604030504040204" pitchFamily="50" charset="-128"/>
                <a:ea typeface="メイリオ" panose="020B0604030504040204" pitchFamily="50" charset="-128"/>
              </a:rPr>
              <a:t>（</a:t>
            </a:r>
            <a:r>
              <a:rPr lang="en-US" altLang="ja-JP" sz="1100" b="1" dirty="0">
                <a:latin typeface="メイリオ" panose="020B0604030504040204" pitchFamily="50" charset="-128"/>
                <a:ea typeface="メイリオ" panose="020B0604030504040204" pitchFamily="50" charset="-128"/>
              </a:rPr>
              <a:t>3,000</a:t>
            </a:r>
            <a:r>
              <a:rPr lang="ja-JP" altLang="en-US" sz="1100" b="1" dirty="0">
                <a:latin typeface="メイリオ" panose="020B0604030504040204" pitchFamily="50" charset="-128"/>
                <a:ea typeface="メイリオ" panose="020B0604030504040204" pitchFamily="50" charset="-128"/>
              </a:rPr>
              <a:t>円 </a:t>
            </a:r>
            <a:r>
              <a:rPr lang="en-US" altLang="ja-JP" sz="1100" b="1" dirty="0">
                <a:latin typeface="メイリオ" panose="020B0604030504040204" pitchFamily="50" charset="-128"/>
                <a:ea typeface="メイリオ" panose="020B0604030504040204" pitchFamily="50" charset="-128"/>
              </a:rPr>
              <a:t>/ </a:t>
            </a:r>
            <a:r>
              <a:rPr lang="ja-JP" altLang="en-US" sz="1100" b="1" dirty="0">
                <a:latin typeface="メイリオ" panose="020B0604030504040204" pitchFamily="50" charset="-128"/>
                <a:ea typeface="メイリオ" panose="020B0604030504040204" pitchFamily="50" charset="-128"/>
              </a:rPr>
              <a:t>月）</a:t>
            </a:r>
            <a:endParaRPr lang="ja-JP" altLang="en-US" sz="1100" b="1" dirty="0"/>
          </a:p>
        </p:txBody>
      </p:sp>
      <p:sp>
        <p:nvSpPr>
          <p:cNvPr id="50" name="テキスト ボックス 49">
            <a:extLst>
              <a:ext uri="{FF2B5EF4-FFF2-40B4-BE49-F238E27FC236}">
                <a16:creationId xmlns:a16="http://schemas.microsoft.com/office/drawing/2014/main" id="{23A5199F-67B5-24D3-9654-26AAC5F8C7CC}"/>
              </a:ext>
            </a:extLst>
          </p:cNvPr>
          <p:cNvSpPr txBox="1"/>
          <p:nvPr/>
        </p:nvSpPr>
        <p:spPr>
          <a:xfrm>
            <a:off x="462028" y="5249233"/>
            <a:ext cx="4490972" cy="261610"/>
          </a:xfrm>
          <a:prstGeom prst="rect">
            <a:avLst/>
          </a:prstGeom>
          <a:noFill/>
        </p:spPr>
        <p:txBody>
          <a:bodyPr wrap="square">
            <a:spAutoFit/>
          </a:bodyPr>
          <a:lstStyle/>
          <a:p>
            <a:r>
              <a:rPr lang="ja-JP" altLang="en-US" sz="1100" dirty="0">
                <a:latin typeface="メイリオ" panose="020B0604030504040204" pitchFamily="50" charset="-128"/>
                <a:ea typeface="メイリオ" panose="020B0604030504040204" pitchFamily="50" charset="-128"/>
              </a:rPr>
              <a:t>汎用性の高い</a:t>
            </a:r>
            <a:r>
              <a:rPr lang="en-US" altLang="ja-JP" sz="1100" dirty="0">
                <a:latin typeface="メイリオ" panose="020B0604030504040204" pitchFamily="50" charset="-128"/>
                <a:ea typeface="メイリオ" panose="020B0604030504040204" pitchFamily="50" charset="-128"/>
              </a:rPr>
              <a:t>API</a:t>
            </a:r>
            <a:r>
              <a:rPr lang="ja-JP" altLang="en-US" sz="1100" dirty="0">
                <a:latin typeface="メイリオ" panose="020B0604030504040204" pitchFamily="50" charset="-128"/>
                <a:ea typeface="メイリオ" panose="020B0604030504040204" pitchFamily="50" charset="-128"/>
              </a:rPr>
              <a:t>ツール導入</a:t>
            </a:r>
            <a:r>
              <a:rPr lang="ja-JP" altLang="en-US" sz="1100" b="1" dirty="0">
                <a:latin typeface="メイリオ" panose="020B0604030504040204" pitchFamily="50" charset="-128"/>
                <a:ea typeface="メイリオ" panose="020B0604030504040204" pitchFamily="50" charset="-128"/>
              </a:rPr>
              <a:t>（初期 </a:t>
            </a:r>
            <a:r>
              <a:rPr lang="en-US" altLang="ja-JP" sz="1100" b="1" dirty="0">
                <a:latin typeface="メイリオ" panose="020B0604030504040204" pitchFamily="50" charset="-128"/>
                <a:ea typeface="メイリオ" panose="020B0604030504040204" pitchFamily="50" charset="-128"/>
              </a:rPr>
              <a:t>5</a:t>
            </a:r>
            <a:r>
              <a:rPr lang="ja-JP" altLang="en-US" sz="1100" b="1" dirty="0">
                <a:latin typeface="メイリオ" panose="020B0604030504040204" pitchFamily="50" charset="-128"/>
                <a:ea typeface="メイリオ" panose="020B0604030504040204" pitchFamily="50" charset="-128"/>
              </a:rPr>
              <a:t>万円</a:t>
            </a:r>
            <a:r>
              <a:rPr lang="en-US" altLang="ja-JP" sz="1100" b="1" dirty="0">
                <a:latin typeface="メイリオ" panose="020B0604030504040204" pitchFamily="50" charset="-128"/>
                <a:ea typeface="メイリオ" panose="020B0604030504040204" pitchFamily="50" charset="-128"/>
              </a:rPr>
              <a:t>~ / </a:t>
            </a:r>
            <a:r>
              <a:rPr lang="ja-JP" altLang="en-US" sz="1100" b="1" dirty="0">
                <a:latin typeface="メイリオ" panose="020B0604030504040204" pitchFamily="50" charset="-128"/>
                <a:ea typeface="メイリオ" panose="020B0604030504040204" pitchFamily="50" charset="-128"/>
              </a:rPr>
              <a:t>月額 </a:t>
            </a:r>
            <a:r>
              <a:rPr lang="en-US" altLang="ja-JP" sz="1100" b="1" dirty="0">
                <a:latin typeface="メイリオ" panose="020B0604030504040204" pitchFamily="50" charset="-128"/>
                <a:ea typeface="メイリオ" panose="020B0604030504040204" pitchFamily="50" charset="-128"/>
              </a:rPr>
              <a:t>3</a:t>
            </a:r>
            <a:r>
              <a:rPr lang="ja-JP" altLang="en-US" sz="1100" b="1" dirty="0">
                <a:latin typeface="メイリオ" panose="020B0604030504040204" pitchFamily="50" charset="-128"/>
                <a:ea typeface="メイリオ" panose="020B0604030504040204" pitchFamily="50" charset="-128"/>
              </a:rPr>
              <a:t>万円</a:t>
            </a:r>
            <a:r>
              <a:rPr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a:t>
            </a:r>
            <a:endParaRPr lang="ja-JP" altLang="en-US" sz="1100" b="1" dirty="0"/>
          </a:p>
        </p:txBody>
      </p:sp>
      <p:sp>
        <p:nvSpPr>
          <p:cNvPr id="51" name="テキスト ボックス 50">
            <a:extLst>
              <a:ext uri="{FF2B5EF4-FFF2-40B4-BE49-F238E27FC236}">
                <a16:creationId xmlns:a16="http://schemas.microsoft.com/office/drawing/2014/main" id="{C657D6AB-D459-5BAB-196C-28641FEA0BE7}"/>
              </a:ext>
            </a:extLst>
          </p:cNvPr>
          <p:cNvSpPr txBox="1"/>
          <p:nvPr/>
        </p:nvSpPr>
        <p:spPr>
          <a:xfrm>
            <a:off x="5166710" y="4719718"/>
            <a:ext cx="4358893" cy="261610"/>
          </a:xfrm>
          <a:prstGeom prst="rect">
            <a:avLst/>
          </a:prstGeom>
          <a:noFill/>
        </p:spPr>
        <p:txBody>
          <a:bodyPr wrap="square">
            <a:spAutoFit/>
          </a:bodyPr>
          <a:lstStyle/>
          <a:p>
            <a:r>
              <a:rPr lang="ja-JP" altLang="en-US" sz="1100" dirty="0">
                <a:latin typeface="メイリオ" panose="020B0604030504040204" pitchFamily="50" charset="-128"/>
                <a:ea typeface="メイリオ" panose="020B0604030504040204" pitchFamily="50" charset="-128"/>
              </a:rPr>
              <a:t>運用代行費用 </a:t>
            </a:r>
            <a:r>
              <a:rPr lang="ja-JP" altLang="en-US" sz="1100" b="1" dirty="0">
                <a:latin typeface="メイリオ" panose="020B0604030504040204" pitchFamily="50" charset="-128"/>
                <a:ea typeface="メイリオ" panose="020B0604030504040204" pitchFamily="50" charset="-128"/>
              </a:rPr>
              <a:t>（</a:t>
            </a:r>
            <a:r>
              <a:rPr lang="en-US" altLang="ja-JP" sz="1100" b="1" dirty="0">
                <a:latin typeface="メイリオ" panose="020B0604030504040204" pitchFamily="50" charset="-128"/>
                <a:ea typeface="メイリオ" panose="020B0604030504040204" pitchFamily="50" charset="-128"/>
              </a:rPr>
              <a:t>20</a:t>
            </a:r>
            <a:r>
              <a:rPr lang="ja-JP" altLang="en-US" sz="1100" b="1" dirty="0">
                <a:latin typeface="メイリオ" panose="020B0604030504040204" pitchFamily="50" charset="-128"/>
                <a:ea typeface="メイリオ" panose="020B0604030504040204" pitchFamily="50" charset="-128"/>
              </a:rPr>
              <a:t>万円 </a:t>
            </a:r>
            <a:r>
              <a:rPr lang="en-US" altLang="ja-JP" sz="1100" b="1" dirty="0">
                <a:latin typeface="メイリオ" panose="020B0604030504040204" pitchFamily="50" charset="-128"/>
                <a:ea typeface="メイリオ" panose="020B0604030504040204" pitchFamily="50" charset="-128"/>
              </a:rPr>
              <a:t>/ </a:t>
            </a:r>
            <a:r>
              <a:rPr lang="ja-JP" altLang="en-US" sz="1100" b="1" dirty="0">
                <a:latin typeface="メイリオ" panose="020B0604030504040204" pitchFamily="50" charset="-128"/>
                <a:ea typeface="メイリオ" panose="020B0604030504040204" pitchFamily="50" charset="-128"/>
              </a:rPr>
              <a:t>月 </a:t>
            </a:r>
            <a:r>
              <a:rPr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a:t>
            </a:r>
            <a:endParaRPr lang="ja-JP" altLang="en-US" sz="1100" b="1" dirty="0"/>
          </a:p>
        </p:txBody>
      </p:sp>
      <p:sp>
        <p:nvSpPr>
          <p:cNvPr id="52" name="テキスト ボックス 51">
            <a:extLst>
              <a:ext uri="{FF2B5EF4-FFF2-40B4-BE49-F238E27FC236}">
                <a16:creationId xmlns:a16="http://schemas.microsoft.com/office/drawing/2014/main" id="{9B4AA4F1-C558-4474-0075-3323ED7BB26E}"/>
              </a:ext>
            </a:extLst>
          </p:cNvPr>
          <p:cNvSpPr txBox="1"/>
          <p:nvPr/>
        </p:nvSpPr>
        <p:spPr>
          <a:xfrm>
            <a:off x="5166710" y="4981328"/>
            <a:ext cx="4358893" cy="261610"/>
          </a:xfrm>
          <a:prstGeom prst="rect">
            <a:avLst/>
          </a:prstGeom>
          <a:noFill/>
        </p:spPr>
        <p:txBody>
          <a:bodyPr wrap="square">
            <a:spAutoFit/>
          </a:bodyPr>
          <a:lstStyle/>
          <a:p>
            <a:r>
              <a:rPr lang="ja-JP" altLang="en-US" sz="1100" dirty="0">
                <a:latin typeface="メイリオ" panose="020B0604030504040204" pitchFamily="50" charset="-128"/>
                <a:ea typeface="メイリオ" panose="020B0604030504040204" pitchFamily="50" charset="-128"/>
              </a:rPr>
              <a:t>企画・レポーティング費用 </a:t>
            </a:r>
            <a:r>
              <a:rPr lang="ja-JP" altLang="en-US" sz="1100" b="1" dirty="0">
                <a:latin typeface="メイリオ" panose="020B0604030504040204" pitchFamily="50" charset="-128"/>
                <a:ea typeface="メイリオ" panose="020B0604030504040204" pitchFamily="50" charset="-128"/>
              </a:rPr>
              <a:t>（</a:t>
            </a:r>
            <a:r>
              <a:rPr lang="en-US" altLang="ja-JP" sz="1100" b="1" dirty="0">
                <a:latin typeface="メイリオ" panose="020B0604030504040204" pitchFamily="50" charset="-128"/>
                <a:ea typeface="メイリオ" panose="020B0604030504040204" pitchFamily="50" charset="-128"/>
              </a:rPr>
              <a:t>10</a:t>
            </a:r>
            <a:r>
              <a:rPr lang="ja-JP" altLang="en-US" sz="1100" b="1" dirty="0">
                <a:latin typeface="メイリオ" panose="020B0604030504040204" pitchFamily="50" charset="-128"/>
                <a:ea typeface="メイリオ" panose="020B0604030504040204" pitchFamily="50" charset="-128"/>
              </a:rPr>
              <a:t>万円 </a:t>
            </a:r>
            <a:r>
              <a:rPr lang="en-US" altLang="ja-JP" sz="1100" b="1" dirty="0">
                <a:latin typeface="メイリオ" panose="020B0604030504040204" pitchFamily="50" charset="-128"/>
                <a:ea typeface="メイリオ" panose="020B0604030504040204" pitchFamily="50" charset="-128"/>
              </a:rPr>
              <a:t>/ </a:t>
            </a:r>
            <a:r>
              <a:rPr lang="ja-JP" altLang="en-US" sz="1100" b="1" dirty="0">
                <a:latin typeface="メイリオ" panose="020B0604030504040204" pitchFamily="50" charset="-128"/>
                <a:ea typeface="メイリオ" panose="020B0604030504040204" pitchFamily="50" charset="-128"/>
              </a:rPr>
              <a:t>月 </a:t>
            </a:r>
            <a:r>
              <a:rPr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a:t>
            </a:r>
            <a:endParaRPr lang="ja-JP" altLang="en-US" sz="1100" b="1" dirty="0"/>
          </a:p>
        </p:txBody>
      </p:sp>
      <p:sp>
        <p:nvSpPr>
          <p:cNvPr id="53" name="テキスト ボックス 52">
            <a:extLst>
              <a:ext uri="{FF2B5EF4-FFF2-40B4-BE49-F238E27FC236}">
                <a16:creationId xmlns:a16="http://schemas.microsoft.com/office/drawing/2014/main" id="{EBAD9F18-E167-9327-E7BE-1C8A9779E192}"/>
              </a:ext>
            </a:extLst>
          </p:cNvPr>
          <p:cNvSpPr txBox="1"/>
          <p:nvPr/>
        </p:nvSpPr>
        <p:spPr>
          <a:xfrm>
            <a:off x="5166710" y="5242938"/>
            <a:ext cx="4358893" cy="261610"/>
          </a:xfrm>
          <a:prstGeom prst="rect">
            <a:avLst/>
          </a:prstGeom>
          <a:noFill/>
        </p:spPr>
        <p:txBody>
          <a:bodyPr wrap="square">
            <a:spAutoFit/>
          </a:bodyPr>
          <a:lstStyle/>
          <a:p>
            <a:r>
              <a:rPr lang="ja-JP" altLang="en-US" sz="1100" dirty="0">
                <a:latin typeface="メイリオ" panose="020B0604030504040204" pitchFamily="50" charset="-128"/>
                <a:ea typeface="メイリオ" panose="020B0604030504040204" pitchFamily="50" charset="-128"/>
              </a:rPr>
              <a:t>保守・管理費用</a:t>
            </a:r>
            <a:r>
              <a:rPr lang="ja-JP" altLang="en-US" sz="1100" b="1" dirty="0">
                <a:latin typeface="メイリオ" panose="020B0604030504040204" pitchFamily="50" charset="-128"/>
                <a:ea typeface="メイリオ" panose="020B0604030504040204" pitchFamily="50" charset="-128"/>
              </a:rPr>
              <a:t>（</a:t>
            </a:r>
            <a:r>
              <a:rPr lang="en-US" altLang="ja-JP" sz="1100" b="1" dirty="0">
                <a:latin typeface="メイリオ" panose="020B0604030504040204" pitchFamily="50" charset="-128"/>
                <a:ea typeface="メイリオ" panose="020B0604030504040204" pitchFamily="50" charset="-128"/>
              </a:rPr>
              <a:t>5</a:t>
            </a:r>
            <a:r>
              <a:rPr lang="ja-JP" altLang="en-US" sz="1100" b="1" dirty="0">
                <a:latin typeface="メイリオ" panose="020B0604030504040204" pitchFamily="50" charset="-128"/>
                <a:ea typeface="メイリオ" panose="020B0604030504040204" pitchFamily="50" charset="-128"/>
              </a:rPr>
              <a:t>万円 </a:t>
            </a:r>
            <a:r>
              <a:rPr lang="en-US" altLang="ja-JP" sz="1100" b="1" dirty="0">
                <a:latin typeface="メイリオ" panose="020B0604030504040204" pitchFamily="50" charset="-128"/>
                <a:ea typeface="メイリオ" panose="020B0604030504040204" pitchFamily="50" charset="-128"/>
              </a:rPr>
              <a:t>/ </a:t>
            </a:r>
            <a:r>
              <a:rPr lang="ja-JP" altLang="en-US" sz="1100" b="1" dirty="0">
                <a:latin typeface="メイリオ" panose="020B0604030504040204" pitchFamily="50" charset="-128"/>
                <a:ea typeface="メイリオ" panose="020B0604030504040204" pitchFamily="50" charset="-128"/>
              </a:rPr>
              <a:t>月 </a:t>
            </a:r>
            <a:r>
              <a:rPr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a:t>
            </a:r>
            <a:endParaRPr lang="ja-JP" altLang="en-US" sz="1100" b="1" dirty="0"/>
          </a:p>
        </p:txBody>
      </p:sp>
      <p:sp>
        <p:nvSpPr>
          <p:cNvPr id="55" name="テキスト ボックス 54">
            <a:extLst>
              <a:ext uri="{FF2B5EF4-FFF2-40B4-BE49-F238E27FC236}">
                <a16:creationId xmlns:a16="http://schemas.microsoft.com/office/drawing/2014/main" id="{3D00887D-7B59-5A25-DEFA-0688034CAC7D}"/>
              </a:ext>
            </a:extLst>
          </p:cNvPr>
          <p:cNvSpPr txBox="1"/>
          <p:nvPr/>
        </p:nvSpPr>
        <p:spPr>
          <a:xfrm>
            <a:off x="5160117" y="5618848"/>
            <a:ext cx="4358893" cy="261610"/>
          </a:xfrm>
          <a:prstGeom prst="rect">
            <a:avLst/>
          </a:prstGeom>
          <a:noFill/>
        </p:spPr>
        <p:txBody>
          <a:bodyPr wrap="square">
            <a:spAutoFit/>
          </a:bodyPr>
          <a:lstStyle/>
          <a:p>
            <a:r>
              <a:rPr lang="ja-JP" altLang="en-US" sz="1100" dirty="0">
                <a:latin typeface="メイリオ" panose="020B0604030504040204" pitchFamily="50" charset="-128"/>
                <a:ea typeface="メイリオ" panose="020B0604030504040204" pitchFamily="50" charset="-128"/>
              </a:rPr>
              <a:t>初期構築費用</a:t>
            </a:r>
            <a:r>
              <a:rPr lang="ja-JP" altLang="en-US" sz="1100" b="1" dirty="0">
                <a:latin typeface="メイリオ" panose="020B0604030504040204" pitchFamily="50" charset="-128"/>
                <a:ea typeface="メイリオ" panose="020B0604030504040204" pitchFamily="50" charset="-128"/>
              </a:rPr>
              <a:t>（</a:t>
            </a:r>
            <a:r>
              <a:rPr lang="en-US" altLang="ja-JP" sz="1100" b="1" dirty="0">
                <a:latin typeface="メイリオ" panose="020B0604030504040204" pitchFamily="50" charset="-128"/>
                <a:ea typeface="メイリオ" panose="020B0604030504040204" pitchFamily="50" charset="-128"/>
              </a:rPr>
              <a:t>20</a:t>
            </a:r>
            <a:r>
              <a:rPr lang="ja-JP" altLang="en-US" sz="1100" b="1" dirty="0">
                <a:latin typeface="メイリオ" panose="020B0604030504040204" pitchFamily="50" charset="-128"/>
                <a:ea typeface="メイリオ" panose="020B0604030504040204" pitchFamily="50" charset="-128"/>
              </a:rPr>
              <a:t>万円 </a:t>
            </a:r>
            <a:r>
              <a:rPr lang="en-US" altLang="ja-JP" sz="1100" b="1" dirty="0">
                <a:latin typeface="メイリオ" panose="020B0604030504040204" pitchFamily="50" charset="-128"/>
                <a:ea typeface="メイリオ" panose="020B0604030504040204" pitchFamily="50" charset="-128"/>
              </a:rPr>
              <a:t>/ </a:t>
            </a:r>
            <a:r>
              <a:rPr lang="ja-JP" altLang="en-US" sz="1100" b="1" dirty="0">
                <a:latin typeface="メイリオ" panose="020B0604030504040204" pitchFamily="50" charset="-128"/>
                <a:ea typeface="メイリオ" panose="020B0604030504040204" pitchFamily="50" charset="-128"/>
              </a:rPr>
              <a:t>回 </a:t>
            </a:r>
            <a:r>
              <a:rPr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a:t>
            </a:r>
            <a:endParaRPr lang="ja-JP" altLang="en-US" sz="1100" b="1" dirty="0"/>
          </a:p>
        </p:txBody>
      </p:sp>
      <p:sp>
        <p:nvSpPr>
          <p:cNvPr id="56" name="テキスト ボックス 55">
            <a:extLst>
              <a:ext uri="{FF2B5EF4-FFF2-40B4-BE49-F238E27FC236}">
                <a16:creationId xmlns:a16="http://schemas.microsoft.com/office/drawing/2014/main" id="{534CDE64-DD2C-7385-C303-9764D54CA0B3}"/>
              </a:ext>
            </a:extLst>
          </p:cNvPr>
          <p:cNvSpPr txBox="1"/>
          <p:nvPr/>
        </p:nvSpPr>
        <p:spPr>
          <a:xfrm>
            <a:off x="5166710" y="5886611"/>
            <a:ext cx="4358893" cy="261610"/>
          </a:xfrm>
          <a:prstGeom prst="rect">
            <a:avLst/>
          </a:prstGeom>
          <a:noFill/>
        </p:spPr>
        <p:txBody>
          <a:bodyPr wrap="square">
            <a:spAutoFit/>
          </a:bodyPr>
          <a:lstStyle/>
          <a:p>
            <a:r>
              <a:rPr lang="ja-JP" altLang="en-US" sz="1100" dirty="0">
                <a:latin typeface="メイリオ" panose="020B0604030504040204" pitchFamily="50" charset="-128"/>
                <a:ea typeface="メイリオ" panose="020B0604030504040204" pitchFamily="50" charset="-128"/>
              </a:rPr>
              <a:t>開発・実装費用</a:t>
            </a:r>
            <a:r>
              <a:rPr lang="ja-JP" altLang="en-US" sz="1100" b="1" dirty="0">
                <a:latin typeface="メイリオ" panose="020B0604030504040204" pitchFamily="50" charset="-128"/>
                <a:ea typeface="メイリオ" panose="020B0604030504040204" pitchFamily="50" charset="-128"/>
              </a:rPr>
              <a:t>（</a:t>
            </a:r>
            <a:r>
              <a:rPr lang="en-US" altLang="ja-JP" sz="1100" b="1" dirty="0">
                <a:latin typeface="メイリオ" panose="020B0604030504040204" pitchFamily="50" charset="-128"/>
                <a:ea typeface="メイリオ" panose="020B0604030504040204" pitchFamily="50" charset="-128"/>
              </a:rPr>
              <a:t>30</a:t>
            </a:r>
            <a:r>
              <a:rPr lang="ja-JP" altLang="en-US" sz="1100" b="1" dirty="0">
                <a:latin typeface="メイリオ" panose="020B0604030504040204" pitchFamily="50" charset="-128"/>
                <a:ea typeface="メイリオ" panose="020B0604030504040204" pitchFamily="50" charset="-128"/>
              </a:rPr>
              <a:t>万円 </a:t>
            </a:r>
            <a:r>
              <a:rPr lang="en-US" altLang="ja-JP" sz="1100" b="1" dirty="0">
                <a:latin typeface="メイリオ" panose="020B0604030504040204" pitchFamily="50" charset="-128"/>
                <a:ea typeface="メイリオ" panose="020B0604030504040204" pitchFamily="50" charset="-128"/>
              </a:rPr>
              <a:t>/ </a:t>
            </a:r>
            <a:r>
              <a:rPr lang="ja-JP" altLang="en-US" sz="1100" b="1" dirty="0">
                <a:latin typeface="メイリオ" panose="020B0604030504040204" pitchFamily="50" charset="-128"/>
                <a:ea typeface="メイリオ" panose="020B0604030504040204" pitchFamily="50" charset="-128"/>
              </a:rPr>
              <a:t>回 </a:t>
            </a:r>
            <a:r>
              <a:rPr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a:t>
            </a:r>
            <a:endParaRPr lang="ja-JP" altLang="en-US" sz="1100" b="1" dirty="0"/>
          </a:p>
        </p:txBody>
      </p:sp>
      <p:sp>
        <p:nvSpPr>
          <p:cNvPr id="57" name="テキスト ボックス 56">
            <a:extLst>
              <a:ext uri="{FF2B5EF4-FFF2-40B4-BE49-F238E27FC236}">
                <a16:creationId xmlns:a16="http://schemas.microsoft.com/office/drawing/2014/main" id="{A5839810-49E5-9459-649C-C5CE9BBE0501}"/>
              </a:ext>
            </a:extLst>
          </p:cNvPr>
          <p:cNvSpPr txBox="1"/>
          <p:nvPr/>
        </p:nvSpPr>
        <p:spPr>
          <a:xfrm>
            <a:off x="5160116" y="6154374"/>
            <a:ext cx="4358893" cy="261610"/>
          </a:xfrm>
          <a:prstGeom prst="rect">
            <a:avLst/>
          </a:prstGeom>
          <a:noFill/>
        </p:spPr>
        <p:txBody>
          <a:bodyPr wrap="square">
            <a:spAutoFit/>
          </a:bodyPr>
          <a:lstStyle/>
          <a:p>
            <a:r>
              <a:rPr lang="ja-JP" altLang="en-US" sz="1100" dirty="0">
                <a:latin typeface="メイリオ" panose="020B0604030504040204" pitchFamily="50" charset="-128"/>
                <a:ea typeface="メイリオ" panose="020B0604030504040204" pitchFamily="50" charset="-128"/>
              </a:rPr>
              <a:t>クリエイティブ制作費用</a:t>
            </a:r>
            <a:r>
              <a:rPr lang="ja-JP" altLang="en-US" sz="1100" b="1" dirty="0">
                <a:latin typeface="メイリオ" panose="020B0604030504040204" pitchFamily="50" charset="-128"/>
                <a:ea typeface="メイリオ" panose="020B0604030504040204" pitchFamily="50" charset="-128"/>
              </a:rPr>
              <a:t>（</a:t>
            </a:r>
            <a:r>
              <a:rPr lang="en-US" altLang="ja-JP" sz="1100" b="1" dirty="0">
                <a:latin typeface="メイリオ" panose="020B0604030504040204" pitchFamily="50" charset="-128"/>
                <a:ea typeface="メイリオ" panose="020B0604030504040204" pitchFamily="50" charset="-128"/>
              </a:rPr>
              <a:t>5</a:t>
            </a:r>
            <a:r>
              <a:rPr lang="ja-JP" altLang="en-US" sz="1100" b="1" dirty="0">
                <a:latin typeface="メイリオ" panose="020B0604030504040204" pitchFamily="50" charset="-128"/>
                <a:ea typeface="メイリオ" panose="020B0604030504040204" pitchFamily="50" charset="-128"/>
              </a:rPr>
              <a:t>万円 </a:t>
            </a:r>
            <a:r>
              <a:rPr lang="en-US" altLang="ja-JP" sz="1100" b="1" dirty="0">
                <a:latin typeface="メイリオ" panose="020B0604030504040204" pitchFamily="50" charset="-128"/>
                <a:ea typeface="メイリオ" panose="020B0604030504040204" pitchFamily="50" charset="-128"/>
              </a:rPr>
              <a:t>/ </a:t>
            </a:r>
            <a:r>
              <a:rPr lang="ja-JP" altLang="en-US" sz="1100" b="1" dirty="0">
                <a:latin typeface="メイリオ" panose="020B0604030504040204" pitchFamily="50" charset="-128"/>
                <a:ea typeface="メイリオ" panose="020B0604030504040204" pitchFamily="50" charset="-128"/>
              </a:rPr>
              <a:t>月 </a:t>
            </a:r>
            <a:r>
              <a:rPr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a:t>
            </a:r>
            <a:endParaRPr lang="ja-JP" altLang="en-US" sz="1100" b="1" dirty="0"/>
          </a:p>
        </p:txBody>
      </p:sp>
      <p:sp>
        <p:nvSpPr>
          <p:cNvPr id="58" name="テキスト ボックス 57">
            <a:extLst>
              <a:ext uri="{FF2B5EF4-FFF2-40B4-BE49-F238E27FC236}">
                <a16:creationId xmlns:a16="http://schemas.microsoft.com/office/drawing/2014/main" id="{A2340A02-3B55-DEE6-FE6F-EF9664598B26}"/>
              </a:ext>
            </a:extLst>
          </p:cNvPr>
          <p:cNvSpPr txBox="1"/>
          <p:nvPr/>
        </p:nvSpPr>
        <p:spPr>
          <a:xfrm>
            <a:off x="453927" y="5515342"/>
            <a:ext cx="4490972" cy="261610"/>
          </a:xfrm>
          <a:prstGeom prst="rect">
            <a:avLst/>
          </a:prstGeom>
          <a:noFill/>
        </p:spPr>
        <p:txBody>
          <a:bodyPr wrap="square">
            <a:spAutoFit/>
          </a:bodyPr>
          <a:lstStyle/>
          <a:p>
            <a:r>
              <a:rPr lang="ja-JP" altLang="en-US" sz="1100" dirty="0">
                <a:latin typeface="メイリオ" panose="020B0604030504040204" pitchFamily="50" charset="-128"/>
                <a:ea typeface="メイリオ" panose="020B0604030504040204" pitchFamily="50" charset="-128"/>
              </a:rPr>
              <a:t>業界特化型の</a:t>
            </a:r>
            <a:r>
              <a:rPr lang="en-US" altLang="ja-JP" sz="1100" dirty="0">
                <a:latin typeface="メイリオ" panose="020B0604030504040204" pitchFamily="50" charset="-128"/>
                <a:ea typeface="メイリオ" panose="020B0604030504040204" pitchFamily="50" charset="-128"/>
              </a:rPr>
              <a:t>API</a:t>
            </a:r>
            <a:r>
              <a:rPr lang="ja-JP" altLang="en-US" sz="1100" dirty="0">
                <a:latin typeface="メイリオ" panose="020B0604030504040204" pitchFamily="50" charset="-128"/>
                <a:ea typeface="メイリオ" panose="020B0604030504040204" pitchFamily="50" charset="-128"/>
              </a:rPr>
              <a:t>ツール導入</a:t>
            </a:r>
            <a:r>
              <a:rPr lang="ja-JP" altLang="en-US" sz="1100" b="1" dirty="0">
                <a:latin typeface="メイリオ" panose="020B0604030504040204" pitchFamily="50" charset="-128"/>
                <a:ea typeface="メイリオ" panose="020B0604030504040204" pitchFamily="50" charset="-128"/>
              </a:rPr>
              <a:t>（初期 </a:t>
            </a:r>
            <a:r>
              <a:rPr lang="en-US" altLang="ja-JP" sz="1100" b="1" dirty="0">
                <a:latin typeface="メイリオ" panose="020B0604030504040204" pitchFamily="50" charset="-128"/>
                <a:ea typeface="メイリオ" panose="020B0604030504040204" pitchFamily="50" charset="-128"/>
              </a:rPr>
              <a:t>30</a:t>
            </a:r>
            <a:r>
              <a:rPr lang="ja-JP" altLang="en-US" sz="1100" b="1" dirty="0">
                <a:latin typeface="メイリオ" panose="020B0604030504040204" pitchFamily="50" charset="-128"/>
                <a:ea typeface="メイリオ" panose="020B0604030504040204" pitchFamily="50" charset="-128"/>
              </a:rPr>
              <a:t>万円</a:t>
            </a:r>
            <a:r>
              <a:rPr lang="en-US" altLang="ja-JP" sz="1100" b="1" dirty="0">
                <a:latin typeface="メイリオ" panose="020B0604030504040204" pitchFamily="50" charset="-128"/>
                <a:ea typeface="メイリオ" panose="020B0604030504040204" pitchFamily="50" charset="-128"/>
              </a:rPr>
              <a:t>~ / </a:t>
            </a:r>
            <a:r>
              <a:rPr lang="ja-JP" altLang="en-US" sz="1100" b="1" dirty="0">
                <a:latin typeface="メイリオ" panose="020B0604030504040204" pitchFamily="50" charset="-128"/>
                <a:ea typeface="メイリオ" panose="020B0604030504040204" pitchFamily="50" charset="-128"/>
              </a:rPr>
              <a:t>月額 </a:t>
            </a:r>
            <a:r>
              <a:rPr lang="en-US" altLang="ja-JP" sz="1100" b="1" dirty="0">
                <a:latin typeface="メイリオ" panose="020B0604030504040204" pitchFamily="50" charset="-128"/>
                <a:ea typeface="メイリオ" panose="020B0604030504040204" pitchFamily="50" charset="-128"/>
              </a:rPr>
              <a:t>20</a:t>
            </a:r>
            <a:r>
              <a:rPr lang="ja-JP" altLang="en-US" sz="1100" b="1" dirty="0">
                <a:latin typeface="メイリオ" panose="020B0604030504040204" pitchFamily="50" charset="-128"/>
                <a:ea typeface="メイリオ" panose="020B0604030504040204" pitchFamily="50" charset="-128"/>
              </a:rPr>
              <a:t>万円</a:t>
            </a:r>
            <a:r>
              <a:rPr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a:t>
            </a:r>
            <a:endParaRPr lang="ja-JP" altLang="en-US" sz="1100" b="1" dirty="0"/>
          </a:p>
        </p:txBody>
      </p:sp>
      <p:sp>
        <p:nvSpPr>
          <p:cNvPr id="59" name="テキスト ボックス 58">
            <a:extLst>
              <a:ext uri="{FF2B5EF4-FFF2-40B4-BE49-F238E27FC236}">
                <a16:creationId xmlns:a16="http://schemas.microsoft.com/office/drawing/2014/main" id="{2B4F27C1-EB31-DBE5-DA0A-648DE9AA6C20}"/>
              </a:ext>
            </a:extLst>
          </p:cNvPr>
          <p:cNvSpPr txBox="1"/>
          <p:nvPr/>
        </p:nvSpPr>
        <p:spPr>
          <a:xfrm>
            <a:off x="453927" y="5907757"/>
            <a:ext cx="4490972" cy="261610"/>
          </a:xfrm>
          <a:prstGeom prst="rect">
            <a:avLst/>
          </a:prstGeom>
          <a:noFill/>
        </p:spPr>
        <p:txBody>
          <a:bodyPr wrap="square">
            <a:spAutoFit/>
          </a:bodyPr>
          <a:lstStyle/>
          <a:p>
            <a:r>
              <a:rPr lang="ja-JP" altLang="en-US" sz="1100" dirty="0">
                <a:latin typeface="メイリオ" panose="020B0604030504040204" pitchFamily="50" charset="-128"/>
                <a:ea typeface="メイリオ" panose="020B0604030504040204" pitchFamily="50" charset="-128"/>
              </a:rPr>
              <a:t>外部</a:t>
            </a:r>
            <a:r>
              <a:rPr lang="en-US" altLang="ja-JP" sz="1100" dirty="0">
                <a:latin typeface="メイリオ" panose="020B0604030504040204" pitchFamily="50" charset="-128"/>
                <a:ea typeface="メイリオ" panose="020B0604030504040204" pitchFamily="50" charset="-128"/>
              </a:rPr>
              <a:t>CRM</a:t>
            </a:r>
            <a:r>
              <a:rPr lang="ja-JP" altLang="en-US" sz="1100" dirty="0">
                <a:latin typeface="メイリオ" panose="020B0604030504040204" pitchFamily="50" charset="-128"/>
                <a:ea typeface="メイリオ" panose="020B0604030504040204" pitchFamily="50" charset="-128"/>
              </a:rPr>
              <a:t>ツールを利用したセグメント配信</a:t>
            </a:r>
            <a:r>
              <a:rPr lang="ja-JP" altLang="en-US" sz="1100" b="1" dirty="0">
                <a:latin typeface="メイリオ" panose="020B0604030504040204" pitchFamily="50" charset="-128"/>
                <a:ea typeface="メイリオ" panose="020B0604030504040204" pitchFamily="50" charset="-128"/>
              </a:rPr>
              <a:t>（</a:t>
            </a:r>
            <a:r>
              <a:rPr lang="en-US" altLang="ja-JP" sz="1100" b="1" dirty="0">
                <a:latin typeface="メイリオ" panose="020B0604030504040204" pitchFamily="50" charset="-128"/>
                <a:ea typeface="メイリオ" panose="020B0604030504040204" pitchFamily="50" charset="-128"/>
              </a:rPr>
              <a:t>10</a:t>
            </a:r>
            <a:r>
              <a:rPr lang="ja-JP" altLang="en-US" sz="1100" b="1" dirty="0">
                <a:latin typeface="メイリオ" panose="020B0604030504040204" pitchFamily="50" charset="-128"/>
                <a:ea typeface="メイリオ" panose="020B0604030504040204" pitchFamily="50" charset="-128"/>
              </a:rPr>
              <a:t>円～ </a:t>
            </a:r>
            <a:r>
              <a:rPr lang="en-US" altLang="ja-JP" sz="1100" b="1" dirty="0">
                <a:latin typeface="メイリオ" panose="020B0604030504040204" pitchFamily="50" charset="-128"/>
                <a:ea typeface="メイリオ" panose="020B0604030504040204" pitchFamily="50" charset="-128"/>
              </a:rPr>
              <a:t>/ </a:t>
            </a:r>
            <a:r>
              <a:rPr lang="ja-JP" altLang="en-US" sz="1100" b="1" dirty="0">
                <a:latin typeface="メイリオ" panose="020B0604030504040204" pitchFamily="50" charset="-128"/>
                <a:ea typeface="メイリオ" panose="020B0604030504040204" pitchFamily="50" charset="-128"/>
              </a:rPr>
              <a:t>通）</a:t>
            </a:r>
            <a:endParaRPr lang="ja-JP" altLang="en-US" sz="1100" b="1" dirty="0"/>
          </a:p>
        </p:txBody>
      </p:sp>
      <p:sp>
        <p:nvSpPr>
          <p:cNvPr id="60" name="テキスト ボックス 59">
            <a:extLst>
              <a:ext uri="{FF2B5EF4-FFF2-40B4-BE49-F238E27FC236}">
                <a16:creationId xmlns:a16="http://schemas.microsoft.com/office/drawing/2014/main" id="{068DABDD-F9DC-6C5F-1BA0-2E1A986C89DA}"/>
              </a:ext>
            </a:extLst>
          </p:cNvPr>
          <p:cNvSpPr txBox="1"/>
          <p:nvPr/>
        </p:nvSpPr>
        <p:spPr>
          <a:xfrm>
            <a:off x="452503" y="6173866"/>
            <a:ext cx="4490972" cy="261610"/>
          </a:xfrm>
          <a:prstGeom prst="rect">
            <a:avLst/>
          </a:prstGeom>
          <a:noFill/>
        </p:spPr>
        <p:txBody>
          <a:bodyPr wrap="square">
            <a:spAutoFit/>
          </a:bodyPr>
          <a:lstStyle/>
          <a:p>
            <a:r>
              <a:rPr lang="en-US" altLang="ja-JP" sz="1100" dirty="0">
                <a:latin typeface="メイリオ" panose="020B0604030504040204" pitchFamily="50" charset="-128"/>
                <a:ea typeface="メイリオ" panose="020B0604030504040204" pitchFamily="50" charset="-128"/>
              </a:rPr>
              <a:t>LINE</a:t>
            </a:r>
            <a:r>
              <a:rPr lang="ja-JP" altLang="en-US" sz="1100" dirty="0">
                <a:latin typeface="メイリオ" panose="020B0604030504040204" pitchFamily="50" charset="-128"/>
                <a:ea typeface="メイリオ" panose="020B0604030504040204" pitchFamily="50" charset="-128"/>
              </a:rPr>
              <a:t>ログイン導入</a:t>
            </a:r>
            <a:r>
              <a:rPr lang="ja-JP" altLang="en-US" sz="1100" b="1" dirty="0">
                <a:latin typeface="メイリオ" panose="020B0604030504040204" pitchFamily="50" charset="-128"/>
                <a:ea typeface="メイリオ" panose="020B0604030504040204" pitchFamily="50" charset="-128"/>
              </a:rPr>
              <a:t>（初期 </a:t>
            </a:r>
            <a:r>
              <a:rPr lang="en-US" altLang="ja-JP" sz="1100" b="1" dirty="0">
                <a:latin typeface="メイリオ" panose="020B0604030504040204" pitchFamily="50" charset="-128"/>
                <a:ea typeface="メイリオ" panose="020B0604030504040204" pitchFamily="50" charset="-128"/>
              </a:rPr>
              <a:t>10</a:t>
            </a:r>
            <a:r>
              <a:rPr lang="ja-JP" altLang="en-US" sz="1100" b="1" dirty="0">
                <a:latin typeface="メイリオ" panose="020B0604030504040204" pitchFamily="50" charset="-128"/>
                <a:ea typeface="メイリオ" panose="020B0604030504040204" pitchFamily="50" charset="-128"/>
              </a:rPr>
              <a:t>万円</a:t>
            </a:r>
            <a:r>
              <a:rPr lang="en-US" altLang="ja-JP" sz="1100" b="1" dirty="0">
                <a:latin typeface="メイリオ" panose="020B0604030504040204" pitchFamily="50" charset="-128"/>
                <a:ea typeface="メイリオ" panose="020B0604030504040204" pitchFamily="50" charset="-128"/>
              </a:rPr>
              <a:t>~ / </a:t>
            </a:r>
            <a:r>
              <a:rPr lang="ja-JP" altLang="en-US" sz="1100" b="1" dirty="0">
                <a:latin typeface="メイリオ" panose="020B0604030504040204" pitchFamily="50" charset="-128"/>
                <a:ea typeface="メイリオ" panose="020B0604030504040204" pitchFamily="50" charset="-128"/>
              </a:rPr>
              <a:t>月額 </a:t>
            </a:r>
            <a:r>
              <a:rPr lang="en-US" altLang="ja-JP" sz="1100" b="1" dirty="0">
                <a:latin typeface="メイリオ" panose="020B0604030504040204" pitchFamily="50" charset="-128"/>
                <a:ea typeface="メイリオ" panose="020B0604030504040204" pitchFamily="50" charset="-128"/>
              </a:rPr>
              <a:t>5</a:t>
            </a:r>
            <a:r>
              <a:rPr lang="ja-JP" altLang="en-US" sz="1100" b="1" dirty="0">
                <a:latin typeface="メイリオ" panose="020B0604030504040204" pitchFamily="50" charset="-128"/>
                <a:ea typeface="メイリオ" panose="020B0604030504040204" pitchFamily="50" charset="-128"/>
              </a:rPr>
              <a:t>万円</a:t>
            </a:r>
            <a:r>
              <a:rPr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a:t>
            </a:r>
            <a:endParaRPr lang="ja-JP" altLang="en-US" sz="1100" b="1" dirty="0"/>
          </a:p>
        </p:txBody>
      </p:sp>
      <p:pic>
        <p:nvPicPr>
          <p:cNvPr id="2053" name="図 2052" descr="アイコン&#10;&#10;AI 生成コンテンツは誤りを含む可能性があります。">
            <a:extLst>
              <a:ext uri="{FF2B5EF4-FFF2-40B4-BE49-F238E27FC236}">
                <a16:creationId xmlns:a16="http://schemas.microsoft.com/office/drawing/2014/main" id="{45D2599F-DD07-FBB7-CB4E-7FF38D08EC2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8499" y="4118099"/>
            <a:ext cx="530667" cy="530667"/>
          </a:xfrm>
          <a:prstGeom prst="rect">
            <a:avLst/>
          </a:prstGeom>
        </p:spPr>
      </p:pic>
      <p:pic>
        <p:nvPicPr>
          <p:cNvPr id="2056" name="図 2055" descr="アイコン&#10;&#10;AI 生成コンテンツは誤りを含む可能性があります。">
            <a:extLst>
              <a:ext uri="{FF2B5EF4-FFF2-40B4-BE49-F238E27FC236}">
                <a16:creationId xmlns:a16="http://schemas.microsoft.com/office/drawing/2014/main" id="{14F4A368-0C52-1E20-CE90-B84BC8508A4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073802" y="4119733"/>
            <a:ext cx="489299" cy="489299"/>
          </a:xfrm>
          <a:prstGeom prst="rect">
            <a:avLst/>
          </a:prstGeom>
        </p:spPr>
      </p:pic>
      <p:sp>
        <p:nvSpPr>
          <p:cNvPr id="2" name="Google Shape;752;p28">
            <a:extLst>
              <a:ext uri="{FF2B5EF4-FFF2-40B4-BE49-F238E27FC236}">
                <a16:creationId xmlns:a16="http://schemas.microsoft.com/office/drawing/2014/main" id="{F4B42A5D-E279-9392-2C1A-8FFFED867BEE}"/>
              </a:ext>
            </a:extLst>
          </p:cNvPr>
          <p:cNvSpPr txBox="1"/>
          <p:nvPr/>
        </p:nvSpPr>
        <p:spPr>
          <a:xfrm>
            <a:off x="661098" y="716513"/>
            <a:ext cx="8437327"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LINE</a:t>
            </a:r>
            <a:r>
              <a:rPr lang="ja-JP" altLang="en-US" sz="1400"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公式アカウントの運用における業界平均的な金額感をおまとめ。</a:t>
            </a:r>
            <a:endParaRPr lang="en-US" altLang="ja-JP" sz="1400"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endParaRPr>
          </a:p>
          <a:p>
            <a:pPr lvl="0" algn="ctr"/>
            <a:r>
              <a:rPr lang="ja-JP" altLang="en-US" sz="1400"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配信通数に係る費用に加えて、外注・機能導入に対してもコストが発生する形。</a:t>
            </a:r>
          </a:p>
        </p:txBody>
      </p:sp>
      <p:sp>
        <p:nvSpPr>
          <p:cNvPr id="54" name="正方形/長方形 53">
            <a:extLst>
              <a:ext uri="{FF2B5EF4-FFF2-40B4-BE49-F238E27FC236}">
                <a16:creationId xmlns:a16="http://schemas.microsoft.com/office/drawing/2014/main" id="{5B374BA5-AFD5-5B7A-EC35-D4C4F93D84B0}"/>
              </a:ext>
            </a:extLst>
          </p:cNvPr>
          <p:cNvSpPr/>
          <p:nvPr/>
        </p:nvSpPr>
        <p:spPr>
          <a:xfrm>
            <a:off x="3996942" y="122215"/>
            <a:ext cx="2083719" cy="320757"/>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外注費相場</a:t>
            </a:r>
          </a:p>
        </p:txBody>
      </p:sp>
      <p:sp>
        <p:nvSpPr>
          <p:cNvPr id="3" name="テキスト ボックス 2">
            <a:extLst>
              <a:ext uri="{FF2B5EF4-FFF2-40B4-BE49-F238E27FC236}">
                <a16:creationId xmlns:a16="http://schemas.microsoft.com/office/drawing/2014/main" id="{4004E69C-B6F0-093C-681E-2EE35395C269}"/>
              </a:ext>
            </a:extLst>
          </p:cNvPr>
          <p:cNvSpPr txBox="1"/>
          <p:nvPr/>
        </p:nvSpPr>
        <p:spPr>
          <a:xfrm>
            <a:off x="248130" y="1267859"/>
            <a:ext cx="9424762" cy="5262979"/>
          </a:xfrm>
          <a:prstGeom prst="rect">
            <a:avLst/>
          </a:prstGeom>
          <a:solidFill>
            <a:schemeClr val="bg1">
              <a:alpha val="30000"/>
            </a:schemeClr>
          </a:solidFill>
        </p:spPr>
        <p:txBody>
          <a:bodyPr wrap="square">
            <a:spAutoFit/>
          </a:bodyPr>
          <a:lstStyle/>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ja-JP" altLang="ja-JP" sz="105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1268877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3629572"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サポート体制</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rPr>
              <a:t>WEB</a:t>
            </a:r>
            <a:r>
              <a:rPr lang="ja-JP" altLang="en-US" sz="2400" dirty="0">
                <a:solidFill>
                  <a:schemeClr val="bg1"/>
                </a:solidFill>
                <a:latin typeface="メイリオ" panose="020B0604030504040204" pitchFamily="50" charset="-128"/>
                <a:ea typeface="メイリオ" panose="020B0604030504040204" pitchFamily="50" charset="-128"/>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rPr>
              <a:t>☑</a:t>
            </a:r>
            <a:endParaRPr lang="ja-JP" altLang="en-US" sz="3600" dirty="0"/>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endParaRPr>
          </a:p>
          <a:p>
            <a:pPr algn="ctr"/>
            <a:r>
              <a:rPr lang="ja-JP" altLang="en-US" sz="1400" dirty="0">
                <a:solidFill>
                  <a:schemeClr val="bg1"/>
                </a:solidFill>
                <a:latin typeface="メイリオ" panose="020B0604030504040204" pitchFamily="50" charset="-128"/>
                <a:ea typeface="メイリオ" panose="020B0604030504040204" pitchFamily="50" charset="-128"/>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rPr>
              <a:t>効果計測</a:t>
            </a:r>
            <a:endParaRPr kumimoji="1" lang="ja-JP" altLang="en-US" sz="1100" dirty="0">
              <a:latin typeface="メイリオ" panose="020B0604030504040204" pitchFamily="50" charset="-128"/>
              <a:ea typeface="メイリオ" panose="020B0604030504040204" pitchFamily="50" charset="-128"/>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ツールなし</a:t>
            </a:r>
            <a:endParaRPr kumimoji="1" lang="ja-JP" altLang="en-US" sz="1200" b="1" dirty="0">
              <a:latin typeface="メイリオ" panose="020B0604030504040204" pitchFamily="50" charset="-128"/>
              <a:ea typeface="メイリオ" panose="020B0604030504040204" pitchFamily="50" charset="-128"/>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kumimoji="1" lang="ja-JP" altLang="en-US" sz="1200" b="1" dirty="0">
                <a:latin typeface="メイリオ" panose="020B0604030504040204" pitchFamily="50" charset="-128"/>
                <a:ea typeface="メイリオ" panose="020B0604030504040204" pitchFamily="50" charset="-128"/>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ツール有無</a:t>
            </a:r>
            <a:endParaRPr lang="en-US" altLang="ja-JP" sz="1200" b="1" dirty="0">
              <a:latin typeface="メイリオ" panose="020B0604030504040204" pitchFamily="50" charset="-128"/>
              <a:ea typeface="メイリオ" panose="020B0604030504040204" pitchFamily="50" charset="-128"/>
            </a:endParaRPr>
          </a:p>
          <a:p>
            <a:pPr algn="ctr"/>
            <a:r>
              <a:rPr kumimoji="1" lang="ja-JP" altLang="en-US" sz="1200" b="1" dirty="0">
                <a:latin typeface="メイリオ" panose="020B0604030504040204" pitchFamily="50" charset="-128"/>
                <a:ea typeface="メイリオ" panose="020B0604030504040204" pitchFamily="50" charset="-128"/>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rPr>
              <a:t>定期投稿、シナリオ、リッチメニュー等に設定の</a:t>
            </a:r>
            <a:endParaRPr lang="en-US" altLang="ja-JP" sz="1400" dirty="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リンクについて、</a:t>
            </a:r>
            <a:r>
              <a:rPr lang="en-US" altLang="ja-JP" sz="1400" dirty="0">
                <a:solidFill>
                  <a:srgbClr val="FF0000"/>
                </a:solidFill>
                <a:latin typeface="メイリオ" panose="020B0604030504040204" pitchFamily="50" charset="-128"/>
                <a:ea typeface="メイリオ" panose="020B0604030504040204" pitchFamily="50" charset="-128"/>
              </a:rPr>
              <a:t>GA</a:t>
            </a:r>
            <a:r>
              <a:rPr lang="ja-JP" altLang="en-US" sz="1400" dirty="0" err="1">
                <a:solidFill>
                  <a:srgbClr val="FF0000"/>
                </a:solidFill>
                <a:latin typeface="メイリオ" panose="020B0604030504040204" pitchFamily="50" charset="-128"/>
                <a:ea typeface="メイリオ" panose="020B0604030504040204" pitchFamily="50" charset="-128"/>
              </a:rPr>
              <a:t>、</a:t>
            </a:r>
            <a:r>
              <a:rPr lang="en-US" altLang="ja-JP" sz="1400" dirty="0">
                <a:solidFill>
                  <a:srgbClr val="FF0000"/>
                </a:solidFill>
                <a:latin typeface="メイリオ" panose="020B0604030504040204" pitchFamily="50" charset="-128"/>
                <a:ea typeface="メイリオ" panose="020B0604030504040204" pitchFamily="50" charset="-128"/>
              </a:rPr>
              <a:t>MA</a:t>
            </a:r>
            <a:r>
              <a:rPr lang="ja-JP" altLang="en-US" sz="1400" dirty="0">
                <a:solidFill>
                  <a:srgbClr val="FF0000"/>
                </a:solidFill>
                <a:latin typeface="メイリオ" panose="020B0604030504040204" pitchFamily="50" charset="-128"/>
                <a:ea typeface="メイリオ" panose="020B0604030504040204" pitchFamily="50" charset="-128"/>
              </a:rPr>
              <a:t>ツールでの計測可能</a:t>
            </a:r>
            <a:r>
              <a:rPr lang="ja-JP" altLang="en-US" sz="1400" dirty="0">
                <a:latin typeface="メイリオ" panose="020B0604030504040204" pitchFamily="50" charset="-128"/>
                <a:ea typeface="メイリオ" panose="020B0604030504040204" pitchFamily="50" charset="-128"/>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rPr>
              <a:t>DYM</a:t>
            </a:r>
            <a:endParaRPr lang="ja-JP" altLang="en-US" dirty="0">
              <a:latin typeface="メイリオ" panose="020B0604030504040204" pitchFamily="50" charset="-128"/>
              <a:ea typeface="メイリオ" panose="020B0604030504040204" pitchFamily="50" charset="-128"/>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レポート（日次）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kumimoji="1"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レポート（月次）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endParaRPr>
          </a:p>
          <a:p>
            <a:pPr algn="ctr"/>
            <a:r>
              <a:rPr lang="ja-JP" altLang="en-US" sz="1400" dirty="0">
                <a:latin typeface="メイリオ" panose="020B0604030504040204" pitchFamily="50" charset="-128"/>
                <a:ea typeface="メイリオ" panose="020B0604030504040204" pitchFamily="50" charset="-128"/>
              </a:rPr>
              <a:t>投稿別</a:t>
            </a:r>
            <a:r>
              <a:rPr lang="en-US" altLang="ja-JP" sz="1400" dirty="0">
                <a:latin typeface="メイリオ" panose="020B0604030504040204" pitchFamily="50" charset="-128"/>
                <a:ea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rPr>
              <a:t>セグメント別でデータ化でき、</a:t>
            </a:r>
            <a:r>
              <a:rPr lang="en-US" altLang="ja-JP" sz="1400" dirty="0">
                <a:latin typeface="メイリオ" panose="020B0604030504040204" pitchFamily="50" charset="-128"/>
                <a:ea typeface="メイリオ" panose="020B0604030504040204" pitchFamily="50" charset="-128"/>
              </a:rPr>
              <a:t>AB</a:t>
            </a:r>
            <a:r>
              <a:rPr lang="ja-JP" altLang="en-US" sz="1400" dirty="0">
                <a:latin typeface="メイリオ" panose="020B0604030504040204" pitchFamily="50" charset="-128"/>
                <a:ea typeface="メイリオ" panose="020B0604030504040204" pitchFamily="50" charset="-128"/>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計測環境の構築</a:t>
            </a:r>
            <a:endParaRPr kumimoji="1" lang="ja-JP" altLang="en-US" sz="1600" b="1" dirty="0">
              <a:latin typeface="メイリオ" panose="020B0604030504040204" pitchFamily="50" charset="-128"/>
              <a:ea typeface="メイリオ" panose="020B0604030504040204" pitchFamily="50" charset="-128"/>
            </a:endParaRPr>
          </a:p>
        </p:txBody>
      </p:sp>
      <p:cxnSp>
        <p:nvCxnSpPr>
          <p:cNvPr id="5" name="直線コネクタ 4"/>
          <p:cNvCxnSpPr/>
          <p:nvPr/>
        </p:nvCxnSpPr>
        <p:spPr>
          <a:xfrm>
            <a:off x="466638" y="1802924"/>
            <a:ext cx="898708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 name="Google Shape;156;p7"/>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Meiryo"/>
                <a:ea typeface="Meiryo"/>
                <a:cs typeface="Meiryo"/>
                <a:sym typeface="Meiryo"/>
              </a:rPr>
              <a:t>GA</a:t>
            </a:r>
            <a:r>
              <a:rPr lang="ja-JP" altLang="en-US" sz="1600" b="1" dirty="0">
                <a:solidFill>
                  <a:schemeClr val="tx1">
                    <a:lumMod val="65000"/>
                    <a:lumOff val="35000"/>
                  </a:schemeClr>
                </a:solidFill>
                <a:latin typeface="Meiryo"/>
                <a:ea typeface="Meiryo"/>
                <a:cs typeface="Meiryo"/>
                <a:sym typeface="Meiryo"/>
              </a:rPr>
              <a:t>及び</a:t>
            </a:r>
            <a:r>
              <a:rPr lang="en-US" altLang="ja-JP" sz="1600" b="1" dirty="0">
                <a:solidFill>
                  <a:schemeClr val="tx1">
                    <a:lumMod val="65000"/>
                    <a:lumOff val="35000"/>
                  </a:schemeClr>
                </a:solidFill>
                <a:latin typeface="Meiryo"/>
                <a:ea typeface="Meiryo"/>
                <a:cs typeface="Meiryo"/>
                <a:sym typeface="Meiryo"/>
              </a:rPr>
              <a:t>MA</a:t>
            </a:r>
            <a:r>
              <a:rPr lang="ja-JP" altLang="en-US" sz="1600" b="1" dirty="0">
                <a:solidFill>
                  <a:schemeClr val="tx1">
                    <a:lumMod val="65000"/>
                    <a:lumOff val="35000"/>
                  </a:schemeClr>
                </a:solidFill>
                <a:latin typeface="Meiryo"/>
                <a:ea typeface="Meiryo"/>
                <a:cs typeface="Meiryo"/>
                <a:sym typeface="Meiryo"/>
              </a:rPr>
              <a:t>ツール両面での計測ができるようパラメータ管理。</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公式アカウントの管理画面には出ない、サイト上の結果を紐づけ。</a:t>
            </a:r>
            <a:endParaRPr sz="1600" b="1" dirty="0">
              <a:solidFill>
                <a:schemeClr val="tx1">
                  <a:lumMod val="65000"/>
                  <a:lumOff val="35000"/>
                </a:schemeClr>
              </a:solidFill>
              <a:latin typeface="Meiryo"/>
              <a:ea typeface="Meiryo"/>
              <a:cs typeface="Meiryo"/>
              <a:sym typeface="Meiryo"/>
            </a:endParaRPr>
          </a:p>
        </p:txBody>
      </p:sp>
      <p:sp>
        <p:nvSpPr>
          <p:cNvPr id="7" name="正方形/長方形 6"/>
          <p:cNvSpPr/>
          <p:nvPr/>
        </p:nvSpPr>
        <p:spPr>
          <a:xfrm>
            <a:off x="390709" y="1971785"/>
            <a:ext cx="8988624" cy="27778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dirty="0">
                <a:latin typeface="メイリオ" panose="020B0604030504040204" pitchFamily="50" charset="-128"/>
                <a:ea typeface="メイリオ" panose="020B0604030504040204" pitchFamily="50" charset="-128"/>
              </a:rPr>
              <a:t>設定イメージ</a:t>
            </a:r>
            <a:endParaRPr kumimoji="1" lang="ja-JP" altLang="en-US" sz="1200" b="1" dirty="0">
              <a:latin typeface="メイリオ" panose="020B0604030504040204" pitchFamily="50" charset="-128"/>
              <a:ea typeface="メイリオ" panose="020B0604030504040204" pitchFamily="50" charset="-128"/>
            </a:endParaRPr>
          </a:p>
        </p:txBody>
      </p:sp>
      <p:graphicFrame>
        <p:nvGraphicFramePr>
          <p:cNvPr id="8" name="表 7"/>
          <p:cNvGraphicFramePr>
            <a:graphicFrameLocks noGrp="1"/>
          </p:cNvGraphicFramePr>
          <p:nvPr/>
        </p:nvGraphicFramePr>
        <p:xfrm>
          <a:off x="394861" y="2273528"/>
          <a:ext cx="8988618" cy="1631076"/>
        </p:xfrm>
        <a:graphic>
          <a:graphicData uri="http://schemas.openxmlformats.org/drawingml/2006/table">
            <a:tbl>
              <a:tblPr/>
              <a:tblGrid>
                <a:gridCol w="616271">
                  <a:extLst>
                    <a:ext uri="{9D8B030D-6E8A-4147-A177-3AD203B41FA5}">
                      <a16:colId xmlns:a16="http://schemas.microsoft.com/office/drawing/2014/main" val="1670584577"/>
                    </a:ext>
                  </a:extLst>
                </a:gridCol>
                <a:gridCol w="584117">
                  <a:extLst>
                    <a:ext uri="{9D8B030D-6E8A-4147-A177-3AD203B41FA5}">
                      <a16:colId xmlns:a16="http://schemas.microsoft.com/office/drawing/2014/main" val="783239229"/>
                    </a:ext>
                  </a:extLst>
                </a:gridCol>
                <a:gridCol w="594835">
                  <a:extLst>
                    <a:ext uri="{9D8B030D-6E8A-4147-A177-3AD203B41FA5}">
                      <a16:colId xmlns:a16="http://schemas.microsoft.com/office/drawing/2014/main" val="2882545821"/>
                    </a:ext>
                  </a:extLst>
                </a:gridCol>
                <a:gridCol w="594835">
                  <a:extLst>
                    <a:ext uri="{9D8B030D-6E8A-4147-A177-3AD203B41FA5}">
                      <a16:colId xmlns:a16="http://schemas.microsoft.com/office/drawing/2014/main" val="1085754342"/>
                    </a:ext>
                  </a:extLst>
                </a:gridCol>
                <a:gridCol w="594835">
                  <a:extLst>
                    <a:ext uri="{9D8B030D-6E8A-4147-A177-3AD203B41FA5}">
                      <a16:colId xmlns:a16="http://schemas.microsoft.com/office/drawing/2014/main" val="3609874806"/>
                    </a:ext>
                  </a:extLst>
                </a:gridCol>
                <a:gridCol w="594835">
                  <a:extLst>
                    <a:ext uri="{9D8B030D-6E8A-4147-A177-3AD203B41FA5}">
                      <a16:colId xmlns:a16="http://schemas.microsoft.com/office/drawing/2014/main" val="1613786001"/>
                    </a:ext>
                  </a:extLst>
                </a:gridCol>
                <a:gridCol w="594835">
                  <a:extLst>
                    <a:ext uri="{9D8B030D-6E8A-4147-A177-3AD203B41FA5}">
                      <a16:colId xmlns:a16="http://schemas.microsoft.com/office/drawing/2014/main" val="2234954468"/>
                    </a:ext>
                  </a:extLst>
                </a:gridCol>
                <a:gridCol w="594835">
                  <a:extLst>
                    <a:ext uri="{9D8B030D-6E8A-4147-A177-3AD203B41FA5}">
                      <a16:colId xmlns:a16="http://schemas.microsoft.com/office/drawing/2014/main" val="1983969397"/>
                    </a:ext>
                  </a:extLst>
                </a:gridCol>
                <a:gridCol w="594835">
                  <a:extLst>
                    <a:ext uri="{9D8B030D-6E8A-4147-A177-3AD203B41FA5}">
                      <a16:colId xmlns:a16="http://schemas.microsoft.com/office/drawing/2014/main" val="38530890"/>
                    </a:ext>
                  </a:extLst>
                </a:gridCol>
                <a:gridCol w="594835">
                  <a:extLst>
                    <a:ext uri="{9D8B030D-6E8A-4147-A177-3AD203B41FA5}">
                      <a16:colId xmlns:a16="http://schemas.microsoft.com/office/drawing/2014/main" val="4265005170"/>
                    </a:ext>
                  </a:extLst>
                </a:gridCol>
                <a:gridCol w="594835">
                  <a:extLst>
                    <a:ext uri="{9D8B030D-6E8A-4147-A177-3AD203B41FA5}">
                      <a16:colId xmlns:a16="http://schemas.microsoft.com/office/drawing/2014/main" val="2342412426"/>
                    </a:ext>
                  </a:extLst>
                </a:gridCol>
                <a:gridCol w="594835">
                  <a:extLst>
                    <a:ext uri="{9D8B030D-6E8A-4147-A177-3AD203B41FA5}">
                      <a16:colId xmlns:a16="http://schemas.microsoft.com/office/drawing/2014/main" val="1958758615"/>
                    </a:ext>
                  </a:extLst>
                </a:gridCol>
                <a:gridCol w="650210">
                  <a:extLst>
                    <a:ext uri="{9D8B030D-6E8A-4147-A177-3AD203B41FA5}">
                      <a16:colId xmlns:a16="http://schemas.microsoft.com/office/drawing/2014/main" val="3616243268"/>
                    </a:ext>
                  </a:extLst>
                </a:gridCol>
                <a:gridCol w="594835">
                  <a:extLst>
                    <a:ext uri="{9D8B030D-6E8A-4147-A177-3AD203B41FA5}">
                      <a16:colId xmlns:a16="http://schemas.microsoft.com/office/drawing/2014/main" val="689028932"/>
                    </a:ext>
                  </a:extLst>
                </a:gridCol>
                <a:gridCol w="594835">
                  <a:extLst>
                    <a:ext uri="{9D8B030D-6E8A-4147-A177-3AD203B41FA5}">
                      <a16:colId xmlns:a16="http://schemas.microsoft.com/office/drawing/2014/main" val="3105858647"/>
                    </a:ext>
                  </a:extLst>
                </a:gridCol>
              </a:tblGrid>
              <a:tr h="135923">
                <a:tc gridSpan="2">
                  <a:txBody>
                    <a:bodyPr/>
                    <a:lstStyle/>
                    <a:p>
                      <a:pPr algn="l" fontAlgn="ctr"/>
                      <a:r>
                        <a:rPr lang="ja-JP" altLang="en-US" sz="600" b="1" i="0" u="none" strike="noStrike">
                          <a:solidFill>
                            <a:srgbClr val="000000"/>
                          </a:solidFill>
                          <a:effectLst/>
                          <a:latin typeface="メイリオ" panose="020B0604030504040204" pitchFamily="50" charset="-128"/>
                          <a:ea typeface="メイリオ" panose="020B0604030504040204" pitchFamily="50" charset="-128"/>
                        </a:rPr>
                        <a:t>■月間の</a:t>
                      </a: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KPI</a:t>
                      </a:r>
                      <a:r>
                        <a:rPr lang="ja-JP" altLang="en-US" sz="600" b="1" i="0" u="none" strike="noStrike">
                          <a:solidFill>
                            <a:srgbClr val="000000"/>
                          </a:solidFill>
                          <a:effectLst/>
                          <a:latin typeface="メイリオ" panose="020B0604030504040204" pitchFamily="50" charset="-128"/>
                          <a:ea typeface="メイリオ" panose="020B0604030504040204" pitchFamily="50" charset="-128"/>
                        </a:rPr>
                        <a:t>（ご提案時）</a:t>
                      </a:r>
                    </a:p>
                  </a:txBody>
                  <a:tcPr marL="5106" marR="5106" marT="5106" marB="0" anchor="ctr">
                    <a:lnL>
                      <a:noFill/>
                    </a:lnL>
                    <a:lnR>
                      <a:noFill/>
                    </a:lnR>
                    <a:lnT>
                      <a:noFill/>
                    </a:lnT>
                    <a:lnB>
                      <a:noFill/>
                    </a:lnB>
                  </a:tcPr>
                </a:tc>
                <a:tc hMerge="1">
                  <a:txBody>
                    <a:bodyPr/>
                    <a:lstStyle/>
                    <a:p>
                      <a:endParaRPr kumimoji="1" lang="ja-JP" altLang="en-US"/>
                    </a:p>
                  </a:txBody>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extLst>
                  <a:ext uri="{0D108BD9-81ED-4DB2-BD59-A6C34878D82A}">
                    <a16:rowId xmlns:a16="http://schemas.microsoft.com/office/drawing/2014/main" val="759026655"/>
                  </a:ext>
                </a:extLst>
              </a:tr>
              <a:tr h="135923">
                <a:tc>
                  <a:txBody>
                    <a:bodyPr/>
                    <a:lstStyle/>
                    <a:p>
                      <a:pPr algn="ctr" fontAlgn="ctr"/>
                      <a:r>
                        <a:rPr lang="ja-JP" altLang="en-US" sz="600" b="1" i="0" u="none" strike="noStrike" dirty="0">
                          <a:solidFill>
                            <a:srgbClr val="FFFFFF"/>
                          </a:solidFill>
                          <a:effectLst/>
                          <a:latin typeface="メイリオ" panose="020B0604030504040204" pitchFamily="50" charset="-128"/>
                          <a:ea typeface="メイリオ" panose="020B0604030504040204" pitchFamily="50" charset="-128"/>
                        </a:rPr>
                        <a:t>期間</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友だち数</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ブロック率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コスト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配信メッセ数</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開封率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クリック率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その他流入</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流入計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流入単価</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GA_CV</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CV_</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その他 </a:t>
                      </a:r>
                      <a:r>
                        <a:rPr lang="en-US" altLang="ja-JP" sz="600" b="1" i="0" u="none" strike="noStrike">
                          <a:solidFill>
                            <a:srgbClr val="FFFFFF"/>
                          </a:solidFill>
                          <a:effectLst/>
                          <a:latin typeface="メイリオ" panose="020B0604030504040204" pitchFamily="50" charset="-128"/>
                          <a:ea typeface="メイリオ" panose="020B0604030504040204" pitchFamily="50" charset="-128"/>
                        </a:rPr>
                        <a:t>※</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仮</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3A3838"/>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CV</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CPA</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extLst>
                  <a:ext uri="{0D108BD9-81ED-4DB2-BD59-A6C34878D82A}">
                    <a16:rowId xmlns:a16="http://schemas.microsoft.com/office/drawing/2014/main" val="2732671633"/>
                  </a:ext>
                </a:extLst>
              </a:tr>
              <a:tr h="135923">
                <a:tc>
                  <a:txBody>
                    <a:bodyPr/>
                    <a:lstStyle/>
                    <a:p>
                      <a:pPr algn="ctr" fontAlgn="ctr"/>
                      <a:r>
                        <a:rPr lang="ja-JP" altLang="en-US" sz="600" b="0" i="0" u="none" strike="noStrike">
                          <a:solidFill>
                            <a:srgbClr val="000000"/>
                          </a:solidFill>
                          <a:effectLst/>
                          <a:latin typeface="メイリオ" panose="020B0604030504040204" pitchFamily="50" charset="-128"/>
                          <a:ea typeface="メイリオ" panose="020B0604030504040204" pitchFamily="50" charset="-128"/>
                        </a:rPr>
                        <a:t>ご提案時</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ja-JP" altLang="en-US" sz="600" b="0" i="0" u="none" strike="noStrike">
                          <a:solidFill>
                            <a:srgbClr val="000000"/>
                          </a:solidFill>
                          <a:effectLst/>
                          <a:latin typeface="メイリオ" panose="020B0604030504040204" pitchFamily="50" charset="-128"/>
                          <a:ea typeface="メイリオ" panose="020B0604030504040204" pitchFamily="50" charset="-128"/>
                        </a:rPr>
                        <a:t>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75.0%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2,200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647146513"/>
                  </a:ext>
                </a:extLst>
              </a:tr>
              <a:tr h="135923">
                <a:tc gridSpan="2">
                  <a:txBody>
                    <a:bodyPr/>
                    <a:lstStyle/>
                    <a:p>
                      <a:pPr algn="l" fontAlgn="ctr"/>
                      <a:r>
                        <a:rPr lang="ja-JP" altLang="en-US" sz="600" b="1" i="0" u="none" strike="noStrike" dirty="0">
                          <a:solidFill>
                            <a:srgbClr val="000000"/>
                          </a:solidFill>
                          <a:effectLst/>
                          <a:latin typeface="メイリオ" panose="020B0604030504040204" pitchFamily="50" charset="-128"/>
                          <a:ea typeface="メイリオ" panose="020B0604030504040204" pitchFamily="50" charset="-128"/>
                        </a:rPr>
                        <a:t>■月次データ（概要）</a:t>
                      </a: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hMerge="1">
                  <a:txBody>
                    <a:bodyPr/>
                    <a:lstStyle/>
                    <a:p>
                      <a:endParaRPr kumimoji="1" lang="ja-JP" altLang="en-US"/>
                    </a:p>
                  </a:txBody>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extLst>
                  <a:ext uri="{0D108BD9-81ED-4DB2-BD59-A6C34878D82A}">
                    <a16:rowId xmlns:a16="http://schemas.microsoft.com/office/drawing/2014/main" val="2623514694"/>
                  </a:ext>
                </a:extLst>
              </a:tr>
              <a:tr h="135923">
                <a:tc>
                  <a:txBody>
                    <a:bodyPr/>
                    <a:lstStyle/>
                    <a:p>
                      <a:pPr algn="ctr" fontAlgn="ctr"/>
                      <a:r>
                        <a:rPr lang="ja-JP" altLang="en-US" sz="600" b="1" i="0" u="none" strike="noStrike" dirty="0">
                          <a:solidFill>
                            <a:srgbClr val="FFFFFF"/>
                          </a:solidFill>
                          <a:effectLst/>
                          <a:latin typeface="メイリオ" panose="020B0604030504040204" pitchFamily="50" charset="-128"/>
                          <a:ea typeface="メイリオ" panose="020B0604030504040204" pitchFamily="50" charset="-128"/>
                        </a:rPr>
                        <a:t>期間</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変換用</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友だち数</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ブロック率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コスト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配信メッセ数</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開封率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クリック率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その他流入</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流入計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流入単価</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GA_CV</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F0000"/>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CV_</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その他 </a:t>
                      </a:r>
                      <a:r>
                        <a:rPr lang="en-US" altLang="ja-JP" sz="600" b="1" i="0" u="none" strike="noStrike">
                          <a:solidFill>
                            <a:srgbClr val="FFFFFF"/>
                          </a:solidFill>
                          <a:effectLst/>
                          <a:latin typeface="メイリオ" panose="020B0604030504040204" pitchFamily="50" charset="-128"/>
                          <a:ea typeface="メイリオ" panose="020B0604030504040204" pitchFamily="50" charset="-128"/>
                        </a:rPr>
                        <a:t>※</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仮</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3A3838"/>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CV</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CPA</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extLst>
                  <a:ext uri="{0D108BD9-81ED-4DB2-BD59-A6C34878D82A}">
                    <a16:rowId xmlns:a16="http://schemas.microsoft.com/office/drawing/2014/main" val="2368346719"/>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2025/1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20250101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184,548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22,901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77.0%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¥659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32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¥14,063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018188146"/>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20241201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181,780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82,916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47.8%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1,865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¥241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22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¥20,455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242232307"/>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20241101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179,053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68.4%</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53,464</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57.7%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1,150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¥391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1.4%</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¥28,125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491418966"/>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20241001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176,367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82,279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53.2%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1,868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¥241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¥37,500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705770834"/>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20240901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173,722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24,240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88.3%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617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¥1,159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¥40,909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2777529875"/>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20240801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171,116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39,665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86.0%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1,064</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¥699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¥45,000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532772668"/>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20240701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168,549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74,478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44.6%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1,321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dirty="0">
                          <a:solidFill>
                            <a:srgbClr val="FF0000"/>
                          </a:solidFill>
                          <a:effectLst/>
                          <a:latin typeface="メイリオ" panose="020B0604030504040204" pitchFamily="50" charset="-128"/>
                          <a:ea typeface="メイリオ" panose="020B0604030504040204" pitchFamily="50" charset="-128"/>
                        </a:rPr>
                        <a:t>¥56,250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1526691278"/>
                  </a:ext>
                </a:extLst>
              </a:tr>
            </a:tbl>
          </a:graphicData>
        </a:graphic>
      </p:graphicFrame>
      <p:sp>
        <p:nvSpPr>
          <p:cNvPr id="9" name="正方形/長方形 8"/>
          <p:cNvSpPr/>
          <p:nvPr/>
        </p:nvSpPr>
        <p:spPr>
          <a:xfrm>
            <a:off x="5164183" y="2352739"/>
            <a:ext cx="4219296" cy="1762616"/>
          </a:xfrm>
          <a:prstGeom prst="rect">
            <a:avLst/>
          </a:prstGeom>
          <a:noFill/>
          <a:ln>
            <a:solidFill>
              <a:schemeClr val="tx2">
                <a:alpha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p:cNvSpPr/>
          <p:nvPr/>
        </p:nvSpPr>
        <p:spPr>
          <a:xfrm>
            <a:off x="7192964" y="3902953"/>
            <a:ext cx="2206519" cy="209848"/>
          </a:xfrm>
          <a:prstGeom prst="rect">
            <a:avLst/>
          </a:prstGeom>
        </p:spPr>
        <p:txBody>
          <a:bodyPr wrap="none">
            <a:spAutoFit/>
          </a:bodyPr>
          <a:lstStyle/>
          <a:p>
            <a:r>
              <a:rPr lang="en-US" altLang="ja-JP" sz="1050" b="1" dirty="0">
                <a:solidFill>
                  <a:schemeClr val="tx1">
                    <a:lumMod val="65000"/>
                    <a:lumOff val="35000"/>
                  </a:schemeClr>
                </a:solidFill>
                <a:latin typeface="Meiryo"/>
                <a:ea typeface="Meiryo"/>
                <a:cs typeface="Meiryo"/>
                <a:sym typeface="Meiryo"/>
              </a:rPr>
              <a:t>GA</a:t>
            </a:r>
            <a:r>
              <a:rPr lang="ja-JP" altLang="en-US" sz="1050" b="1" dirty="0">
                <a:solidFill>
                  <a:schemeClr val="tx1">
                    <a:lumMod val="65000"/>
                    <a:lumOff val="35000"/>
                  </a:schemeClr>
                </a:solidFill>
                <a:latin typeface="Meiryo"/>
                <a:ea typeface="Meiryo"/>
                <a:cs typeface="Meiryo"/>
                <a:sym typeface="Meiryo"/>
              </a:rPr>
              <a:t>管理画面上で計測し、数値反映</a:t>
            </a:r>
            <a:endParaRPr lang="ja-JP" altLang="en-US" sz="1050" dirty="0"/>
          </a:p>
        </p:txBody>
      </p:sp>
      <p:sp>
        <p:nvSpPr>
          <p:cNvPr id="16" name="右矢印 15"/>
          <p:cNvSpPr/>
          <p:nvPr/>
        </p:nvSpPr>
        <p:spPr>
          <a:xfrm>
            <a:off x="4570905" y="4720337"/>
            <a:ext cx="717764" cy="680165"/>
          </a:xfrm>
          <a:prstGeom prst="rightArrow">
            <a:avLst>
              <a:gd name="adj1" fmla="val 65364"/>
              <a:gd name="adj2" fmla="val 50000"/>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7" name="図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1717" y="4408755"/>
            <a:ext cx="1685243" cy="2001227"/>
          </a:xfrm>
          <a:prstGeom prst="rect">
            <a:avLst/>
          </a:prstGeom>
        </p:spPr>
      </p:pic>
      <p:pic>
        <p:nvPicPr>
          <p:cNvPr id="18" name="図 17"/>
          <p:cNvPicPr>
            <a:picLocks noChangeAspect="1"/>
          </p:cNvPicPr>
          <p:nvPr/>
        </p:nvPicPr>
        <p:blipFill rotWithShape="1">
          <a:blip r:embed="rId4" cstate="print">
            <a:extLst>
              <a:ext uri="{28A0092B-C50C-407E-A947-70E740481C1C}">
                <a14:useLocalDpi xmlns:a14="http://schemas.microsoft.com/office/drawing/2010/main" val="0"/>
              </a:ext>
            </a:extLst>
          </a:blip>
          <a:srcRect r="4805" b="31533"/>
          <a:stretch/>
        </p:blipFill>
        <p:spPr>
          <a:xfrm>
            <a:off x="934688" y="5400502"/>
            <a:ext cx="1403563" cy="1009480"/>
          </a:xfrm>
          <a:prstGeom prst="rect">
            <a:avLst/>
          </a:prstGeom>
        </p:spPr>
      </p:pic>
      <p:pic>
        <p:nvPicPr>
          <p:cNvPr id="19" name="図 1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86163" y="4408755"/>
            <a:ext cx="1685243" cy="2001227"/>
          </a:xfrm>
          <a:prstGeom prst="rect">
            <a:avLst/>
          </a:prstGeom>
        </p:spPr>
      </p:pic>
      <p:pic>
        <p:nvPicPr>
          <p:cNvPr id="21" name="図 20"/>
          <p:cNvPicPr>
            <a:picLocks noChangeAspect="1"/>
          </p:cNvPicPr>
          <p:nvPr/>
        </p:nvPicPr>
        <p:blipFill>
          <a:blip r:embed="rId5"/>
          <a:stretch>
            <a:fillRect/>
          </a:stretch>
        </p:blipFill>
        <p:spPr>
          <a:xfrm>
            <a:off x="5535676" y="4826463"/>
            <a:ext cx="1309023" cy="542766"/>
          </a:xfrm>
          <a:prstGeom prst="rect">
            <a:avLst/>
          </a:prstGeom>
        </p:spPr>
      </p:pic>
      <p:sp>
        <p:nvSpPr>
          <p:cNvPr id="22" name="楕円 21"/>
          <p:cNvSpPr/>
          <p:nvPr/>
        </p:nvSpPr>
        <p:spPr>
          <a:xfrm>
            <a:off x="7644705" y="5440910"/>
            <a:ext cx="1326812" cy="552958"/>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売上</a:t>
            </a:r>
          </a:p>
        </p:txBody>
      </p:sp>
      <p:sp>
        <p:nvSpPr>
          <p:cNvPr id="24" name="楕円 23"/>
          <p:cNvSpPr/>
          <p:nvPr/>
        </p:nvSpPr>
        <p:spPr>
          <a:xfrm>
            <a:off x="6613630" y="5424347"/>
            <a:ext cx="1326812" cy="552958"/>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CV</a:t>
            </a:r>
            <a:endParaRPr kumimoji="1" lang="ja-JP" altLang="en-US" sz="12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5" name="楕円 24"/>
          <p:cNvSpPr/>
          <p:nvPr/>
        </p:nvSpPr>
        <p:spPr>
          <a:xfrm>
            <a:off x="5459174" y="5424348"/>
            <a:ext cx="1326812" cy="552958"/>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有効（</a:t>
            </a:r>
            <a:r>
              <a:rPr lang="en-US" altLang="ja-JP" sz="1100" dirty="0">
                <a:solidFill>
                  <a:schemeClr val="tx1">
                    <a:lumMod val="65000"/>
                    <a:lumOff val="35000"/>
                  </a:schemeClr>
                </a:solidFill>
                <a:latin typeface="メイリオ" panose="020B0604030504040204" pitchFamily="50" charset="-128"/>
                <a:ea typeface="メイリオ" panose="020B0604030504040204" pitchFamily="50" charset="-128"/>
              </a:rPr>
              <a:t>mcv</a:t>
            </a:r>
            <a:r>
              <a:rPr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a:t>
            </a:r>
            <a:endParaRPr kumimoji="1" lang="ja-JP" altLang="en-US" sz="11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6" name="正方形/長方形 25"/>
          <p:cNvSpPr/>
          <p:nvPr/>
        </p:nvSpPr>
        <p:spPr>
          <a:xfrm>
            <a:off x="6785986" y="5037438"/>
            <a:ext cx="2492990" cy="276999"/>
          </a:xfrm>
          <a:prstGeom prst="rect">
            <a:avLst/>
          </a:prstGeom>
        </p:spPr>
        <p:txBody>
          <a:bodyPr wrap="none">
            <a:spAutoFit/>
          </a:bodyPr>
          <a:lstStyle/>
          <a:p>
            <a:r>
              <a:rPr lang="ja-JP" altLang="en-US" sz="1200" b="1" dirty="0">
                <a:latin typeface="Meiryo"/>
                <a:ea typeface="Meiryo"/>
                <a:cs typeface="Meiryo"/>
                <a:sym typeface="Meiryo"/>
              </a:rPr>
              <a:t>管理画面を成果としてレポート化</a:t>
            </a:r>
            <a:endParaRPr lang="ja-JP" altLang="en-US" sz="1200" b="1" dirty="0"/>
          </a:p>
        </p:txBody>
      </p:sp>
      <p:sp>
        <p:nvSpPr>
          <p:cNvPr id="27" name="正方形/長方形 26"/>
          <p:cNvSpPr/>
          <p:nvPr/>
        </p:nvSpPr>
        <p:spPr>
          <a:xfrm>
            <a:off x="5895888" y="6013913"/>
            <a:ext cx="2762295" cy="261610"/>
          </a:xfrm>
          <a:prstGeom prst="rect">
            <a:avLst/>
          </a:prstGeom>
        </p:spPr>
        <p:txBody>
          <a:bodyPr wrap="none">
            <a:spAutoFit/>
          </a:bodyPr>
          <a:lstStyle/>
          <a:p>
            <a:r>
              <a:rPr lang="en-US" altLang="ja-JP" sz="1100" dirty="0">
                <a:solidFill>
                  <a:schemeClr val="tx1">
                    <a:lumMod val="50000"/>
                    <a:lumOff val="50000"/>
                  </a:schemeClr>
                </a:solidFill>
                <a:latin typeface="Meiryo"/>
                <a:ea typeface="Meiryo"/>
                <a:sym typeface="Meiryo"/>
              </a:rPr>
              <a:t>※</a:t>
            </a:r>
            <a:r>
              <a:rPr lang="en-US" altLang="ja-JP" sz="1100" dirty="0" err="1">
                <a:solidFill>
                  <a:schemeClr val="tx1">
                    <a:lumMod val="50000"/>
                    <a:lumOff val="50000"/>
                  </a:schemeClr>
                </a:solidFill>
                <a:latin typeface="Meiryo"/>
                <a:ea typeface="Meiryo"/>
                <a:sym typeface="Meiryo"/>
              </a:rPr>
              <a:t>AdEbis</a:t>
            </a:r>
            <a:r>
              <a:rPr lang="ja-JP" altLang="en-US" sz="1100" dirty="0">
                <a:solidFill>
                  <a:schemeClr val="tx1">
                    <a:lumMod val="50000"/>
                    <a:lumOff val="50000"/>
                  </a:schemeClr>
                </a:solidFill>
                <a:latin typeface="Meiryo"/>
                <a:ea typeface="Meiryo"/>
                <a:sym typeface="Meiryo"/>
              </a:rPr>
              <a:t>等の外部ツールの対応も可能。</a:t>
            </a:r>
            <a:endParaRPr lang="ja-JP" altLang="en-US" sz="1100" dirty="0">
              <a:solidFill>
                <a:schemeClr val="tx1">
                  <a:lumMod val="50000"/>
                  <a:lumOff val="50000"/>
                </a:schemeClr>
              </a:solidFill>
            </a:endParaRPr>
          </a:p>
        </p:txBody>
      </p:sp>
      <p:sp>
        <p:nvSpPr>
          <p:cNvPr id="28" name="正方形/長方形 27"/>
          <p:cNvSpPr/>
          <p:nvPr/>
        </p:nvSpPr>
        <p:spPr>
          <a:xfrm>
            <a:off x="390709" y="4227706"/>
            <a:ext cx="4219296" cy="277788"/>
          </a:xfrm>
          <a:prstGeom prst="rect">
            <a:avLst/>
          </a:prstGeom>
          <a:solidFill>
            <a:srgbClr val="00C0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アプリ上</a:t>
            </a:r>
            <a:endParaRPr kumimoji="1" lang="ja-JP" altLang="en-US" sz="1200" b="1" dirty="0">
              <a:latin typeface="メイリオ" panose="020B0604030504040204" pitchFamily="50" charset="-128"/>
              <a:ea typeface="メイリオ" panose="020B0604030504040204" pitchFamily="50" charset="-128"/>
            </a:endParaRPr>
          </a:p>
        </p:txBody>
      </p:sp>
      <p:pic>
        <p:nvPicPr>
          <p:cNvPr id="1034" name="Picture 10" descr="Illustrazione Stock クリック,チェック,注目,選ぶ,指,押す,注意,決定,タッチ,おすすめ,案内,重要,選択,発見,検索,ピクトグラム,カーソル,ポインター,マウス,指す,記号,マーク,ワンポイント,シンボル,サイン,タップ,スワイプ,ポイント,手,人差し指,ゆび,イチ押し,スライド,アイコン,広告,ひらめき,チラシ,シンプル,プッシュ,開く,イラスト | Adobe Stock"/>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13670773">
            <a:off x="1882803" y="6009237"/>
            <a:ext cx="542505" cy="38294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10" descr="Illustrazione Stock クリック,チェック,注目,選ぶ,指,押す,注意,決定,タッチ,おすすめ,案内,重要,選択,発見,検索,ピクトグラム,カーソル,ポインター,マウス,指す,記号,マーク,ワンポイント,シンボル,サイン,タップ,スワイプ,ポイント,手,人差し指,ゆび,イチ押し,スライド,アイコン,広告,ひらめき,チラシ,シンプル,プッシュ,開く,イラスト | Adobe Stock"/>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13670773">
            <a:off x="3827252" y="6144220"/>
            <a:ext cx="542505" cy="382945"/>
          </a:xfrm>
          <a:prstGeom prst="rect">
            <a:avLst/>
          </a:prstGeom>
          <a:noFill/>
          <a:extLst>
            <a:ext uri="{909E8E84-426E-40DD-AFC4-6F175D3DCCD1}">
              <a14:hiddenFill xmlns:a14="http://schemas.microsoft.com/office/drawing/2010/main">
                <a:solidFill>
                  <a:srgbClr val="FFFFFF"/>
                </a:solidFill>
              </a14:hiddenFill>
            </a:ext>
          </a:extLst>
        </p:spPr>
      </p:pic>
      <p:grpSp>
        <p:nvGrpSpPr>
          <p:cNvPr id="41" name="グループ化 40"/>
          <p:cNvGrpSpPr/>
          <p:nvPr/>
        </p:nvGrpSpPr>
        <p:grpSpPr>
          <a:xfrm>
            <a:off x="1802228" y="5899367"/>
            <a:ext cx="125343" cy="138465"/>
            <a:chOff x="4245087" y="1539805"/>
            <a:chExt cx="325106" cy="269830"/>
          </a:xfrm>
        </p:grpSpPr>
        <p:sp>
          <p:nvSpPr>
            <p:cNvPr id="42" name="二等辺三角形 41"/>
            <p:cNvSpPr/>
            <p:nvPr/>
          </p:nvSpPr>
          <p:spPr>
            <a:xfrm rot="7826235">
              <a:off x="4335416" y="1595821"/>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二等辺三角形 42"/>
            <p:cNvSpPr/>
            <p:nvPr/>
          </p:nvSpPr>
          <p:spPr>
            <a:xfrm rot="9540823">
              <a:off x="4394543" y="1541914"/>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二等辺三角形 43"/>
            <p:cNvSpPr/>
            <p:nvPr/>
          </p:nvSpPr>
          <p:spPr>
            <a:xfrm rot="10800000">
              <a:off x="4483129" y="1539805"/>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4" name="グループ化 53"/>
          <p:cNvGrpSpPr/>
          <p:nvPr/>
        </p:nvGrpSpPr>
        <p:grpSpPr>
          <a:xfrm>
            <a:off x="3722470" y="6025641"/>
            <a:ext cx="125343" cy="138465"/>
            <a:chOff x="4245087" y="1539805"/>
            <a:chExt cx="325106" cy="269830"/>
          </a:xfrm>
        </p:grpSpPr>
        <p:sp>
          <p:nvSpPr>
            <p:cNvPr id="55" name="二等辺三角形 54"/>
            <p:cNvSpPr/>
            <p:nvPr/>
          </p:nvSpPr>
          <p:spPr>
            <a:xfrm rot="7826235">
              <a:off x="4335416" y="1595821"/>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二等辺三角形 55"/>
            <p:cNvSpPr/>
            <p:nvPr/>
          </p:nvSpPr>
          <p:spPr>
            <a:xfrm rot="9540823">
              <a:off x="4394543" y="1541914"/>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二等辺三角形 56"/>
            <p:cNvSpPr/>
            <p:nvPr/>
          </p:nvSpPr>
          <p:spPr>
            <a:xfrm rot="10800000">
              <a:off x="4483129" y="1539805"/>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3" name="正方形/長方形 32"/>
          <p:cNvSpPr/>
          <p:nvPr/>
        </p:nvSpPr>
        <p:spPr>
          <a:xfrm>
            <a:off x="5180187" y="4221922"/>
            <a:ext cx="4219296" cy="27778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b="1" dirty="0">
                <a:latin typeface="メイリオ" panose="020B0604030504040204" pitchFamily="50" charset="-128"/>
                <a:ea typeface="メイリオ" panose="020B0604030504040204" pitchFamily="50" charset="-128"/>
              </a:rPr>
              <a:t>WEB</a:t>
            </a:r>
            <a:r>
              <a:rPr lang="ja-JP" altLang="en-US" sz="1200" b="1" dirty="0">
                <a:latin typeface="メイリオ" panose="020B0604030504040204" pitchFamily="50" charset="-128"/>
                <a:ea typeface="メイリオ" panose="020B0604030504040204" pitchFamily="50" charset="-128"/>
              </a:rPr>
              <a:t>サイト上</a:t>
            </a:r>
            <a:endParaRPr kumimoji="1" lang="ja-JP" altLang="en-US" sz="1200" b="1" dirty="0">
              <a:latin typeface="メイリオ" panose="020B0604030504040204" pitchFamily="50" charset="-128"/>
              <a:ea typeface="メイリオ" panose="020B0604030504040204" pitchFamily="50" charset="-128"/>
            </a:endParaRPr>
          </a:p>
        </p:txBody>
      </p:sp>
      <p:pic>
        <p:nvPicPr>
          <p:cNvPr id="10" name="図 9"/>
          <p:cNvPicPr>
            <a:picLocks noChangeAspect="1"/>
          </p:cNvPicPr>
          <p:nvPr/>
        </p:nvPicPr>
        <p:blipFill>
          <a:blip r:embed="rId7"/>
          <a:stretch>
            <a:fillRect/>
          </a:stretch>
        </p:blipFill>
        <p:spPr>
          <a:xfrm>
            <a:off x="2758013" y="4552453"/>
            <a:ext cx="1379725" cy="919257"/>
          </a:xfrm>
          <a:prstGeom prst="rect">
            <a:avLst/>
          </a:prstGeom>
        </p:spPr>
      </p:pic>
      <p:sp>
        <p:nvSpPr>
          <p:cNvPr id="11" name="正方形/長方形 10">
            <a:extLst>
              <a:ext uri="{FF2B5EF4-FFF2-40B4-BE49-F238E27FC236}">
                <a16:creationId xmlns:a16="http://schemas.microsoft.com/office/drawing/2014/main" id="{22778390-5C65-8A0B-FBCC-331F4769C279}"/>
              </a:ext>
            </a:extLst>
          </p:cNvPr>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rPr>
              <a:t>効果計測</a:t>
            </a:r>
            <a:endParaRPr kumimoji="1" lang="ja-JP" altLang="en-US" sz="1100" dirty="0">
              <a:latin typeface="メイリオ" panose="020B0604030504040204" pitchFamily="50" charset="-128"/>
              <a:ea typeface="メイリオ" panose="020B0604030504040204" pitchFamily="50" charset="-128"/>
            </a:endParaRPr>
          </a:p>
        </p:txBody>
      </p:sp>
      <p:sp>
        <p:nvSpPr>
          <p:cNvPr id="12" name="Google Shape;156;p7">
            <a:extLst>
              <a:ext uri="{FF2B5EF4-FFF2-40B4-BE49-F238E27FC236}">
                <a16:creationId xmlns:a16="http://schemas.microsoft.com/office/drawing/2014/main" id="{6FA8B775-64BA-CC75-EC39-92A06C7D5702}"/>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Tree>
    <p:extLst>
      <p:ext uri="{BB962C8B-B14F-4D97-AF65-F5344CB8AC3E}">
        <p14:creationId xmlns:p14="http://schemas.microsoft.com/office/powerpoint/2010/main" val="29946349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弊社体制図</a:t>
            </a:r>
            <a:endParaRPr kumimoji="1" lang="ja-JP" altLang="en-US" sz="1600" b="1" dirty="0">
              <a:latin typeface="メイリオ" panose="020B0604030504040204" pitchFamily="50" charset="-128"/>
              <a:ea typeface="メイリオ" panose="020B0604030504040204" pitchFamily="50" charset="-128"/>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Meiryo"/>
                <a:ea typeface="Meiryo"/>
                <a:cs typeface="Meiryo"/>
                <a:sym typeface="Meiryo"/>
              </a:rPr>
              <a:t>GA</a:t>
            </a:r>
            <a:r>
              <a:rPr lang="ja-JP" altLang="en-US" sz="1600" b="1" dirty="0">
                <a:solidFill>
                  <a:schemeClr val="tx1">
                    <a:lumMod val="65000"/>
                    <a:lumOff val="35000"/>
                  </a:schemeClr>
                </a:solidFill>
                <a:latin typeface="Meiryo"/>
                <a:ea typeface="Meiryo"/>
                <a:cs typeface="Meiryo"/>
                <a:sym typeface="Meiryo"/>
              </a:rPr>
              <a:t>及び</a:t>
            </a:r>
            <a:r>
              <a:rPr lang="en-US" altLang="ja-JP" sz="1600" b="1" dirty="0">
                <a:solidFill>
                  <a:schemeClr val="tx1">
                    <a:lumMod val="65000"/>
                    <a:lumOff val="35000"/>
                  </a:schemeClr>
                </a:solidFill>
                <a:latin typeface="Meiryo"/>
                <a:ea typeface="Meiryo"/>
                <a:cs typeface="Meiryo"/>
                <a:sym typeface="Meiryo"/>
              </a:rPr>
              <a:t>MA</a:t>
            </a:r>
            <a:r>
              <a:rPr lang="ja-JP" altLang="en-US" sz="1600" b="1" dirty="0">
                <a:solidFill>
                  <a:schemeClr val="tx1">
                    <a:lumMod val="65000"/>
                    <a:lumOff val="35000"/>
                  </a:schemeClr>
                </a:solidFill>
                <a:latin typeface="Meiryo"/>
                <a:ea typeface="Meiryo"/>
                <a:cs typeface="Meiryo"/>
                <a:sym typeface="Meiryo"/>
              </a:rPr>
              <a:t>ツール両面での計測ができるようパラメータ管理。</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公式アカウントの管理画面には出ない、サイト上の結果を紐づけ。</a:t>
            </a:r>
            <a:endParaRPr sz="1600" b="1" dirty="0">
              <a:solidFill>
                <a:schemeClr val="tx1">
                  <a:lumMod val="65000"/>
                  <a:lumOff val="35000"/>
                </a:schemeClr>
              </a:solidFill>
              <a:latin typeface="Meiryo"/>
              <a:ea typeface="Meiryo"/>
              <a:cs typeface="Meiryo"/>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体制図（イメージ）</a:t>
            </a:r>
            <a:endParaRPr sz="1600" b="1" dirty="0">
              <a:solidFill>
                <a:srgbClr val="002060"/>
              </a:solidFill>
              <a:latin typeface="Meiryo"/>
              <a:ea typeface="Meiryo"/>
              <a:cs typeface="Meiryo"/>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endParaRPr lang="en-US" altLang="ja-JP" sz="1200" dirty="0">
              <a:latin typeface="メイリオ" panose="020B0604030504040204" pitchFamily="50" charset="-128"/>
              <a:ea typeface="メイリオ" panose="020B0604030504040204" pitchFamily="50" charset="-128"/>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latin typeface="メイリオ" panose="020B0604030504040204" pitchFamily="50" charset="-128"/>
              <a:ea typeface="メイリオ" panose="020B0604030504040204" pitchFamily="50" charset="-128"/>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SNS運用</a:t>
            </a:r>
            <a:endParaRPr lang="en-US" altLang="ja-JP" sz="1350" dirty="0">
              <a:latin typeface="メイリオ" panose="020B0604030504040204" pitchFamily="50" charset="-128"/>
              <a:ea typeface="メイリオ" panose="020B0604030504040204" pitchFamily="50" charset="-128"/>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入稿作業</a:t>
            </a:r>
            <a:endParaRPr lang="en-US" altLang="ja-JP" sz="1200" dirty="0">
              <a:latin typeface="メイリオ" panose="020B0604030504040204" pitchFamily="50" charset="-128"/>
              <a:ea typeface="メイリオ" panose="020B0604030504040204" pitchFamily="50" charset="-128"/>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運用サポート</a:t>
            </a:r>
            <a:endParaRPr lang="en-US" altLang="ja-JP" sz="1200" dirty="0">
              <a:latin typeface="メイリオ" panose="020B0604030504040204" pitchFamily="50" charset="-128"/>
              <a:ea typeface="メイリオ" panose="020B0604030504040204" pitchFamily="50" charset="-128"/>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制作</a:t>
            </a:r>
            <a:endParaRPr lang="en-US" altLang="ja-JP" sz="1200" dirty="0">
              <a:latin typeface="メイリオ" panose="020B0604030504040204" pitchFamily="50" charset="-128"/>
              <a:ea typeface="メイリオ" panose="020B0604030504040204" pitchFamily="50" charset="-128"/>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FFC000"/>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LINEOA運用</a:t>
            </a:r>
            <a:endParaRPr lang="en-US" altLang="ja-JP" sz="1350" dirty="0">
              <a:latin typeface="メイリオ" panose="020B0604030504040204" pitchFamily="50" charset="-128"/>
              <a:ea typeface="メイリオ" panose="020B0604030504040204" pitchFamily="50" charset="-128"/>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endParaRPr lang="en-US" altLang="ja-JP" sz="1350" dirty="0">
              <a:latin typeface="メイリオ" panose="020B0604030504040204" pitchFamily="50" charset="-128"/>
              <a:ea typeface="メイリオ" panose="020B0604030504040204" pitchFamily="50" charset="-128"/>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広告運用統括・コンサル</a:t>
            </a:r>
            <a:endParaRPr lang="en-US" altLang="ja-JP" sz="1350" dirty="0">
              <a:latin typeface="メイリオ" panose="020B0604030504040204" pitchFamily="50" charset="-128"/>
              <a:ea typeface="メイリオ" panose="020B0604030504040204" pitchFamily="50" charset="-128"/>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　</a:t>
            </a:r>
            <a:endParaRPr lang="en-US" altLang="ja-JP" sz="1350" dirty="0">
              <a:latin typeface="メイリオ" panose="020B0604030504040204" pitchFamily="50" charset="-128"/>
              <a:ea typeface="メイリオ" panose="020B0604030504040204" pitchFamily="50" charset="-128"/>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440024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運用スケジュール</a:t>
            </a:r>
            <a:endParaRPr sz="1600" b="1" dirty="0">
              <a:solidFill>
                <a:srgbClr val="002060"/>
              </a:solidFill>
              <a:latin typeface="Meiryo"/>
              <a:ea typeface="Meiryo"/>
              <a:cs typeface="Meiryo"/>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rPr>
              <a:t>サイト</a:t>
            </a:r>
            <a:r>
              <a:rPr lang="en-US" altLang="ja-JP" sz="2400" dirty="0">
                <a:latin typeface="メイリオ" panose="020B0604030504040204" pitchFamily="50" charset="-128"/>
                <a:ea typeface="メイリオ" panose="020B0604030504040204" pitchFamily="50" charset="-128"/>
              </a:rPr>
              <a:t>/LINE</a:t>
            </a:r>
            <a:r>
              <a:rPr lang="ja-JP" altLang="en-US" sz="2400" dirty="0">
                <a:latin typeface="メイリオ" panose="020B0604030504040204" pitchFamily="50" charset="-128"/>
                <a:ea typeface="メイリオ" panose="020B0604030504040204" pitchFamily="50" charset="-128"/>
              </a:rPr>
              <a:t>上への実装については、約</a:t>
            </a:r>
            <a:r>
              <a:rPr lang="en-US" altLang="ja-JP" sz="2400" dirty="0">
                <a:latin typeface="メイリオ" panose="020B0604030504040204" pitchFamily="50" charset="-128"/>
                <a:ea typeface="メイリオ" panose="020B0604030504040204" pitchFamily="50" charset="-128"/>
              </a:rPr>
              <a:t>1</a:t>
            </a:r>
            <a:r>
              <a:rPr lang="ja-JP" altLang="en-US" sz="2400" dirty="0">
                <a:latin typeface="メイリオ" panose="020B0604030504040204" pitchFamily="50" charset="-128"/>
                <a:ea typeface="メイリオ" panose="020B0604030504040204" pitchFamily="50" charset="-128"/>
              </a:rPr>
              <a:t>か月程度を頂き進行。</a:t>
            </a:r>
            <a:endParaRPr lang="ja-JP" altLang="en-US" sz="2400" dirty="0"/>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貴社作業・確認にかかる時間により前後する可能性がございます。</a:t>
            </a:r>
          </a:p>
        </p:txBody>
      </p:sp>
      <p:cxnSp>
        <p:nvCxnSpPr>
          <p:cNvPr id="21" name="直線矢印コネクタ 20"/>
          <p:cNvCxnSpPr/>
          <p:nvPr/>
        </p:nvCxnSpPr>
        <p:spPr>
          <a:xfrm>
            <a:off x="6985106" y="2256762"/>
            <a:ext cx="0" cy="3086100"/>
          </a:xfrm>
          <a:prstGeom prst="straightConnector1">
            <a:avLst/>
          </a:prstGeom>
          <a:ln w="38100">
            <a:solidFill>
              <a:schemeClr val="tx1">
                <a:lumMod val="75000"/>
                <a:lumOff val="2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2" name="正方形/長方形 21"/>
          <p:cNvSpPr/>
          <p:nvPr/>
        </p:nvSpPr>
        <p:spPr>
          <a:xfrm>
            <a:off x="7042256" y="2130871"/>
            <a:ext cx="742511" cy="276999"/>
          </a:xfrm>
          <a:prstGeom prst="rect">
            <a:avLst/>
          </a:prstGeom>
          <a:solidFill>
            <a:schemeClr val="accent1">
              <a:lumMod val="20000"/>
              <a:lumOff val="80000"/>
            </a:schemeClr>
          </a:solidFill>
        </p:spPr>
        <p:txBody>
          <a:bodyPr wrap="none">
            <a:spAutoFit/>
          </a:bodyPr>
          <a:lstStyle/>
          <a:p>
            <a:r>
              <a:rPr lang="ja-JP" altLang="en-US" sz="1200" dirty="0">
                <a:latin typeface="メイリオ" panose="020B0604030504040204" pitchFamily="50" charset="-128"/>
                <a:ea typeface="メイリオ" panose="020B0604030504040204" pitchFamily="50" charset="-128"/>
              </a:rPr>
              <a:t>約</a:t>
            </a:r>
            <a:r>
              <a:rPr lang="en-US" altLang="ja-JP" sz="1200" dirty="0">
                <a:latin typeface="メイリオ" panose="020B0604030504040204" pitchFamily="50" charset="-128"/>
                <a:ea typeface="メイリオ" panose="020B0604030504040204" pitchFamily="50" charset="-128"/>
              </a:rPr>
              <a:t>1</a:t>
            </a:r>
            <a:r>
              <a:rPr lang="ja-JP" altLang="en-US" sz="1200" dirty="0">
                <a:latin typeface="メイリオ" panose="020B0604030504040204" pitchFamily="50" charset="-128"/>
                <a:ea typeface="メイリオ" panose="020B0604030504040204" pitchFamily="50" charset="-128"/>
              </a:rPr>
              <a:t>か月</a:t>
            </a:r>
            <a:endParaRPr lang="ja-JP" altLang="en-US" sz="1200" dirty="0"/>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Tree>
    <p:extLst>
      <p:ext uri="{BB962C8B-B14F-4D97-AF65-F5344CB8AC3E}">
        <p14:creationId xmlns:p14="http://schemas.microsoft.com/office/powerpoint/2010/main" val="21214348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実例紹介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弊社実績について</a:t>
            </a:r>
          </a:p>
        </p:txBody>
      </p:sp>
      <p:graphicFrame>
        <p:nvGraphicFramePr>
          <p:cNvPr id="3" name="表 2">
            <a:extLst>
              <a:ext uri="{FF2B5EF4-FFF2-40B4-BE49-F238E27FC236}">
                <a16:creationId xmlns:a16="http://schemas.microsoft.com/office/drawing/2014/main" id="{9A6B81D2-7F85-D98D-ED15-FD61A8068EF9}"/>
              </a:ext>
            </a:extLst>
          </p:cNvPr>
          <p:cNvGraphicFramePr>
            <a:graphicFrameLocks noGrp="1"/>
          </p:cNvGraphicFramePr>
          <p:nvPr/>
        </p:nvGraphicFramePr>
        <p:xfrm>
          <a:off x="381000" y="809625"/>
          <a:ext cx="9191625" cy="5485142"/>
        </p:xfrm>
        <a:graphic>
          <a:graphicData uri="http://schemas.openxmlformats.org/drawingml/2006/table">
            <a:tbl>
              <a:tblPr/>
              <a:tblGrid>
                <a:gridCol w="1819275">
                  <a:extLst>
                    <a:ext uri="{9D8B030D-6E8A-4147-A177-3AD203B41FA5}">
                      <a16:colId xmlns:a16="http://schemas.microsoft.com/office/drawing/2014/main" val="1856077232"/>
                    </a:ext>
                  </a:extLst>
                </a:gridCol>
                <a:gridCol w="828675">
                  <a:extLst>
                    <a:ext uri="{9D8B030D-6E8A-4147-A177-3AD203B41FA5}">
                      <a16:colId xmlns:a16="http://schemas.microsoft.com/office/drawing/2014/main" val="2505763101"/>
                    </a:ext>
                  </a:extLst>
                </a:gridCol>
                <a:gridCol w="2856379">
                  <a:extLst>
                    <a:ext uri="{9D8B030D-6E8A-4147-A177-3AD203B41FA5}">
                      <a16:colId xmlns:a16="http://schemas.microsoft.com/office/drawing/2014/main" val="415261329"/>
                    </a:ext>
                  </a:extLst>
                </a:gridCol>
                <a:gridCol w="3687296">
                  <a:extLst>
                    <a:ext uri="{9D8B030D-6E8A-4147-A177-3AD203B41FA5}">
                      <a16:colId xmlns:a16="http://schemas.microsoft.com/office/drawing/2014/main" val="2991975434"/>
                    </a:ext>
                  </a:extLst>
                </a:gridCol>
              </a:tblGrid>
              <a:tr h="371475">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業界</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運用期間</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施策インパクト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施策内容</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extLst>
                  <a:ext uri="{0D108BD9-81ED-4DB2-BD59-A6C34878D82A}">
                    <a16:rowId xmlns:a16="http://schemas.microsoft.com/office/drawing/2014/main" val="369463423"/>
                  </a:ext>
                </a:extLst>
              </a:tr>
              <a:tr h="1028103">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人材</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（資格職・専門職転職）</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8</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■月間求人応募数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 4</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br>
                        <a:rPr lang="en-US" altLang="ja-JP" sz="18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30</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¥145,000 → ¥102,000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・アンケートによる</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ユーザーセグメントの取得</a:t>
                      </a:r>
                      <a:br>
                        <a:rPr lang="en-US" altLang="ja-JP" sz="1200" b="1" i="0" u="sng" strike="noStrike" dirty="0">
                          <a:solidFill>
                            <a:srgbClr val="C00000"/>
                          </a:solidFill>
                          <a:effectLst/>
                          <a:latin typeface="メイリオ" panose="020B0604030504040204" pitchFamily="50" charset="-128"/>
                          <a:ea typeface="メイリオ" panose="020B0604030504040204" pitchFamily="50" charset="-128"/>
                        </a:rPr>
                      </a:br>
                      <a:r>
                        <a:rPr lang="ja-JP" altLang="en-US" sz="400" b="1" i="0" u="sng" strike="noStrike" dirty="0">
                          <a:solidFill>
                            <a:srgbClr val="C00000"/>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・セグメント配信による</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パーソナライズされた追客</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34378025"/>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不動産</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（住宅メーカー）</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10</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■月間来場・資料請求件数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12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60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92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¥150,000 → ¥12,500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離脱防止バナー</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による友だち増加促進</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ペルソナに合わせた動線・クリエイティブ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の設計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09117311"/>
                  </a:ext>
                </a:extLst>
              </a:tr>
              <a:tr h="1021391">
                <a:tc>
                  <a:txBody>
                    <a:bodyPr/>
                    <a:lstStyle/>
                    <a:p>
                      <a:pPr algn="ctr" fontAlgn="ctr">
                        <a:buNone/>
                      </a:pPr>
                      <a:r>
                        <a:rPr lang="en-US" sz="1200" b="1" i="0" u="none" strike="noStrike" dirty="0">
                          <a:solidFill>
                            <a:srgbClr val="191F54"/>
                          </a:solidFill>
                          <a:effectLst/>
                          <a:latin typeface="メイリオ" panose="020B0604030504040204" pitchFamily="50" charset="-128"/>
                          <a:ea typeface="メイリオ" panose="020B0604030504040204" pitchFamily="50" charset="-128"/>
                        </a:rPr>
                        <a:t>EC</a:t>
                      </a:r>
                    </a:p>
                    <a:p>
                      <a:pPr algn="ctr" fontAlgn="ctr">
                        <a:buNone/>
                      </a:pPr>
                      <a:r>
                        <a:rPr lang="en-US" sz="1200" b="1" i="0" u="none" strike="noStrike" dirty="0">
                          <a:solidFill>
                            <a:srgbClr val="191F54"/>
                          </a:solidFill>
                          <a:effectLst/>
                          <a:latin typeface="メイリオ" panose="020B0604030504040204" pitchFamily="50" charset="-128"/>
                          <a:ea typeface="メイリオ" panose="020B0604030504040204" pitchFamily="50" charset="-128"/>
                        </a:rPr>
                        <a:t>（</a:t>
                      </a: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総合</a:t>
                      </a:r>
                      <a:r>
                        <a:rPr lang="en-US" sz="1200" b="1" i="0" u="none" strike="noStrike" dirty="0">
                          <a:solidFill>
                            <a:srgbClr val="191F54"/>
                          </a:solidFill>
                          <a:effectLst/>
                          <a:latin typeface="メイリオ" panose="020B0604030504040204" pitchFamily="50" charset="-128"/>
                          <a:ea typeface="メイリオ" panose="020B0604030504040204" pitchFamily="50" charset="-128"/>
                        </a:rPr>
                        <a:t>EC）</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年</a:t>
                      </a: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8</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4.3</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120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520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ROAS</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92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¥150,000 → ¥12,500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離脱防止バナーと</a:t>
                      </a:r>
                      <a:r>
                        <a:rPr lang="en-US" altLang="ja-JP" sz="1200" b="1" i="0" u="sng" strike="noStrike" dirty="0">
                          <a:solidFill>
                            <a:srgbClr val="C00000"/>
                          </a:solidFill>
                          <a:effectLst/>
                          <a:latin typeface="メイリオ" panose="020B0604030504040204" pitchFamily="50" charset="-128"/>
                          <a:ea typeface="メイリオ" panose="020B0604030504040204" pitchFamily="50" charset="-128"/>
                        </a:rPr>
                        <a:t>CPF</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を活用した友だち増加</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・アンケートを実施し、</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カゴ落ちユーザーを中心に</a:t>
                      </a:r>
                      <a:b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br>
                      <a:r>
                        <a:rPr lang="ja-JP" altLang="en-US" sz="1200" b="0" i="0" u="none" strike="noStrike" dirty="0">
                          <a:solidFill>
                            <a:srgbClr val="C00000"/>
                          </a:solidFill>
                          <a:effectLst/>
                          <a:latin typeface="メイリオ" panose="020B0604030504040204" pitchFamily="50" charset="-128"/>
                          <a:ea typeface="メイリオ" panose="020B0604030504040204" pitchFamily="50" charset="-128"/>
                        </a:rPr>
                        <a:t>　</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期間限定商品・高単価商品の情報を配信</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03009258"/>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美容クリニック</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（美肌治療）</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a:t>
                      </a:r>
                      <a:r>
                        <a:rPr lang="ja-JP" altLang="en-US" sz="1100" b="1" i="0" u="none" strike="noStrike">
                          <a:solidFill>
                            <a:schemeClr val="tx1">
                              <a:lumMod val="65000"/>
                              <a:lumOff val="35000"/>
                            </a:schemeClr>
                          </a:solidFill>
                          <a:effectLst/>
                          <a:latin typeface="メイリオ" panose="020B0604030504040204" pitchFamily="50" charset="-128"/>
                          <a:ea typeface="メイリオ" panose="020B0604030504040204" pitchFamily="50" charset="-128"/>
                        </a:rPr>
                        <a:t>年</a:t>
                      </a:r>
                      <a:endPar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60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ROAS</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63</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¥32,000 → ¥12,000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ビフォーアフターがわかるクリエイティブ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を配信</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個別メッセージを利用したユーザー個々への追客</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65115858"/>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美容クリニック</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（痩身）</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年</a:t>
                      </a: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4</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ja-JP" altLang="en-US" sz="1100" b="1" i="0" u="none" strike="noStrike" dirty="0">
                          <a:solidFill>
                            <a:srgbClr val="C00000"/>
                          </a:solidFill>
                          <a:effectLst/>
                          <a:latin typeface="メイリオ" panose="020B0604030504040204" pitchFamily="50" charset="-128"/>
                          <a:ea typeface="メイリオ" panose="020B0604030504040204" pitchFamily="50" charset="-128"/>
                        </a:rPr>
                        <a:t>開設から</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45</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件</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N/A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45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ja-JP" altLang="en-US" sz="1100" b="1" i="0" u="none" strike="noStrike" dirty="0">
                          <a:solidFill>
                            <a:srgbClr val="C00000"/>
                          </a:solidFill>
                          <a:effectLst/>
                          <a:latin typeface="メイリオ" panose="020B0604030504040204" pitchFamily="50" charset="-128"/>
                          <a:ea typeface="メイリオ" panose="020B0604030504040204" pitchFamily="50" charset="-128"/>
                        </a:rPr>
                        <a:t>開設から</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1</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万円台</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N/A → ¥10,700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ビフォーアフターがわかるクリエイティブ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を配信</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・アンケート動線を設定し、</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悩み別のシナリオを用意</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47929865"/>
                  </a:ext>
                </a:extLst>
              </a:tr>
            </a:tbl>
          </a:graphicData>
        </a:graphic>
      </p:graphicFrame>
    </p:spTree>
    <p:extLst>
      <p:ext uri="{BB962C8B-B14F-4D97-AF65-F5344CB8AC3E}">
        <p14:creationId xmlns:p14="http://schemas.microsoft.com/office/powerpoint/2010/main" val="21978396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3834758" y="3038203"/>
            <a:ext cx="223651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その他機能</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　</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[CRM</a:t>
            </a:r>
            <a:r>
              <a:rPr lang="ja-JP" altLang="en-US" sz="1400" b="1" dirty="0">
                <a:solidFill>
                  <a:srgbClr val="FF0000"/>
                </a:solidFill>
                <a:latin typeface="メイリオ" panose="020B0604030504040204" pitchFamily="50" charset="-128"/>
                <a:ea typeface="メイリオ" panose="020B0604030504040204" pitchFamily="50" charset="-128"/>
                <a:cs typeface="Meiryo"/>
                <a:sym typeface="Meiryo"/>
              </a:rPr>
              <a:t>及び</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1400" b="1" dirty="0">
                <a:solidFill>
                  <a:srgbClr val="FF0000"/>
                </a:solidFill>
                <a:latin typeface="メイリオ" panose="020B0604030504040204" pitchFamily="50" charset="-128"/>
                <a:ea typeface="メイリオ" panose="020B0604030504040204" pitchFamily="50" charset="-128"/>
                <a:cs typeface="Meiryo"/>
                <a:sym typeface="Meiryo"/>
              </a:rPr>
              <a:t>ツールとの連携</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a:t>
            </a:r>
            <a:endPar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rPr>
              <a:t>「</a:t>
            </a:r>
            <a:r>
              <a:rPr kumimoji="1" lang="en-US" altLang="ja-JP" sz="1400" dirty="0">
                <a:solidFill>
                  <a:srgbClr val="073763"/>
                </a:solidFill>
                <a:latin typeface="メイリオ" panose="020B0604030504040204" pitchFamily="50" charset="-128"/>
                <a:ea typeface="メイリオ" panose="020B0604030504040204" pitchFamily="50" charset="-128"/>
              </a:rPr>
              <a:t>CRM</a:t>
            </a:r>
            <a:r>
              <a:rPr kumimoji="1" lang="ja-JP" altLang="en-US" sz="1400" dirty="0">
                <a:solidFill>
                  <a:srgbClr val="073763"/>
                </a:solidFill>
                <a:latin typeface="メイリオ" panose="020B0604030504040204" pitchFamily="50" charset="-128"/>
                <a:ea typeface="メイリオ" panose="020B0604030504040204" pitchFamily="50" charset="-128"/>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rPr>
              <a:t>が重要</a:t>
            </a:r>
            <a:br>
              <a:rPr lang="en-US" altLang="ja-JP" sz="1400" dirty="0">
                <a:solidFill>
                  <a:srgbClr val="073763"/>
                </a:solidFill>
                <a:latin typeface="メイリオ" panose="020B0604030504040204" pitchFamily="50" charset="-128"/>
                <a:ea typeface="メイリオ" panose="020B0604030504040204" pitchFamily="50" charset="-128"/>
              </a:rPr>
            </a:br>
            <a:r>
              <a:rPr lang="ja-JP" altLang="en-US" sz="1400" b="1" dirty="0">
                <a:solidFill>
                  <a:srgbClr val="073763"/>
                </a:solidFill>
                <a:latin typeface="メイリオ" panose="020B0604030504040204" pitchFamily="50" charset="-128"/>
                <a:ea typeface="メイリオ" panose="020B0604030504040204" pitchFamily="50" charset="-128"/>
              </a:rPr>
              <a:t>要件定義</a:t>
            </a:r>
            <a:r>
              <a:rPr lang="ja-JP" altLang="en-US" sz="1400" dirty="0">
                <a:solidFill>
                  <a:srgbClr val="073763"/>
                </a:solidFill>
                <a:latin typeface="メイリオ" panose="020B0604030504040204" pitchFamily="50" charset="-128"/>
                <a:ea typeface="メイリオ" panose="020B0604030504040204" pitchFamily="50" charset="-128"/>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Meiryo"/>
                <a:sym typeface="Meiryo"/>
              </a:rPr>
              <a:t>CRM</a:t>
            </a:r>
            <a:r>
              <a:rPr lang="ja-JP" altLang="en-US" sz="1400" dirty="0">
                <a:latin typeface="メイリオ" panose="020B0604030504040204" pitchFamily="50" charset="-128"/>
                <a:ea typeface="メイリオ" panose="020B0604030504040204" pitchFamily="50" charset="-128"/>
                <a:cs typeface="Meiryo"/>
                <a:sym typeface="Meiryo"/>
              </a:rPr>
              <a:t>、</a:t>
            </a:r>
            <a:r>
              <a:rPr lang="en-US" altLang="ja-JP" sz="1400" dirty="0">
                <a:latin typeface="メイリオ" panose="020B0604030504040204" pitchFamily="50" charset="-128"/>
                <a:ea typeface="メイリオ" panose="020B0604030504040204" pitchFamily="50" charset="-128"/>
                <a:cs typeface="Meiryo"/>
                <a:sym typeface="Meiryo"/>
              </a:rPr>
              <a:t>API</a:t>
            </a:r>
            <a:r>
              <a:rPr lang="ja-JP" altLang="en-US" sz="1400" dirty="0">
                <a:latin typeface="メイリオ" panose="020B0604030504040204" pitchFamily="50" charset="-128"/>
                <a:ea typeface="メイリオ" panose="020B0604030504040204" pitchFamily="50" charset="-128"/>
                <a:cs typeface="Meiryo"/>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Meiryo"/>
              <a:sym typeface="Meiryo"/>
            </a:endParaRPr>
          </a:p>
          <a:p>
            <a:pPr lvl="0" algn="ctr"/>
            <a:r>
              <a:rPr lang="ja-JP" altLang="en-US" sz="1400" dirty="0">
                <a:latin typeface="メイリオ" panose="020B0604030504040204" pitchFamily="50" charset="-128"/>
                <a:ea typeface="メイリオ" panose="020B0604030504040204" pitchFamily="50" charset="-128"/>
                <a:cs typeface="Meiryo"/>
                <a:sym typeface="Meiryo"/>
              </a:rPr>
              <a:t>貴社内の顧客管理（</a:t>
            </a:r>
            <a:r>
              <a:rPr lang="en-US" altLang="ja-JP" sz="1400" dirty="0">
                <a:latin typeface="メイリオ" panose="020B0604030504040204" pitchFamily="50" charset="-128"/>
                <a:ea typeface="メイリオ" panose="020B0604030504040204" pitchFamily="50" charset="-128"/>
                <a:cs typeface="Meiryo"/>
                <a:sym typeface="Meiryo"/>
              </a:rPr>
              <a:t>CRM</a:t>
            </a:r>
            <a:r>
              <a:rPr lang="ja-JP" altLang="en-US" sz="1400" dirty="0">
                <a:latin typeface="メイリオ" panose="020B0604030504040204" pitchFamily="50" charset="-128"/>
                <a:ea typeface="メイリオ" panose="020B0604030504040204" pitchFamily="50" charset="-128"/>
                <a:cs typeface="Meiryo"/>
                <a:sym typeface="Meiryo"/>
              </a:rPr>
              <a:t>）ツールとの連携の実施も可能です。</a:t>
            </a:r>
            <a:r>
              <a:rPr lang="ja-JP" altLang="en-US" sz="1100" dirty="0">
                <a:solidFill>
                  <a:srgbClr val="FF0000"/>
                </a:solidFill>
                <a:latin typeface="メイリオ" panose="020B0604030504040204" pitchFamily="50" charset="-128"/>
                <a:ea typeface="メイリオ" panose="020B0604030504040204" pitchFamily="50" charset="-128"/>
                <a:cs typeface="Meiryo"/>
                <a:sym typeface="Meiryo"/>
              </a:rPr>
              <a:t> </a:t>
            </a:r>
            <a:r>
              <a:rPr lang="en-US" altLang="ja-JP" sz="11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100" dirty="0">
                <a:solidFill>
                  <a:srgbClr val="FF0000"/>
                </a:solidFill>
                <a:latin typeface="メイリオ" panose="020B0604030504040204" pitchFamily="50" charset="-128"/>
                <a:ea typeface="メイリオ" panose="020B0604030504040204" pitchFamily="50" charset="-128"/>
                <a:cs typeface="Meiryo"/>
                <a:sym typeface="Meiryo"/>
              </a:rPr>
              <a:t>開発は別途費用</a:t>
            </a:r>
            <a:endParaRPr lang="en-US" altLang="ja-JP" sz="1400" dirty="0">
              <a:solidFill>
                <a:srgbClr val="FF0000"/>
              </a:solidFill>
              <a:latin typeface="メイリオ" panose="020B0604030504040204" pitchFamily="50" charset="-128"/>
              <a:ea typeface="メイリオ" panose="020B0604030504040204" pitchFamily="50" charset="-128"/>
              <a:cs typeface="Meiryo"/>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メッセ送信</a:t>
            </a:r>
          </a:p>
        </p:txBody>
      </p:sp>
    </p:spTree>
    <p:extLst>
      <p:ext uri="{BB962C8B-B14F-4D97-AF65-F5344CB8AC3E}">
        <p14:creationId xmlns:p14="http://schemas.microsoft.com/office/powerpoint/2010/main" val="9826497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その他 代表的な活用機能</a:t>
            </a:r>
            <a:endParaRPr sz="1600" b="1" dirty="0">
              <a:solidFill>
                <a:srgbClr val="002060"/>
              </a:solidFill>
              <a:latin typeface="Meiryo"/>
              <a:ea typeface="Meiryo"/>
              <a:cs typeface="Meiryo"/>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ミニアプリ</a:t>
            </a:r>
            <a:endParaRPr lang="en-US" altLang="ja-JP" sz="1600" b="1" dirty="0">
              <a:latin typeface="メイリオ" panose="020B0604030504040204" pitchFamily="50" charset="-128"/>
              <a:ea typeface="メイリオ" panose="020B0604030504040204" pitchFamily="50" charset="-128"/>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内で活用できるミニアプリでは、ゲームや抽選といった機能を</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アプリ開発よりも大幅に格安な価格帯で利用できるサービス。</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チャット</a:t>
            </a:r>
            <a:r>
              <a:rPr lang="en-US" altLang="ja-JP" sz="1600" b="1" dirty="0">
                <a:solidFill>
                  <a:schemeClr val="tx1">
                    <a:lumMod val="65000"/>
                    <a:lumOff val="35000"/>
                  </a:schemeClr>
                </a:solidFill>
                <a:latin typeface="Meiryo"/>
                <a:ea typeface="Meiryo"/>
                <a:cs typeface="Meiryo"/>
                <a:sym typeface="Meiryo"/>
              </a:rPr>
              <a:t>Plus</a:t>
            </a:r>
            <a:r>
              <a:rPr lang="ja-JP" altLang="en-US" sz="1600" b="1" dirty="0">
                <a:solidFill>
                  <a:schemeClr val="tx1">
                    <a:lumMod val="65000"/>
                    <a:lumOff val="35000"/>
                  </a:schemeClr>
                </a:solidFill>
                <a:latin typeface="Meiryo"/>
                <a:ea typeface="Meiryo"/>
                <a:cs typeface="Meiryo"/>
                <a:sym typeface="Meiryo"/>
              </a:rPr>
              <a:t>」は、</a:t>
            </a:r>
            <a:r>
              <a:rPr lang="en-US" altLang="ja-JP" sz="1600" b="1" dirty="0">
                <a:solidFill>
                  <a:schemeClr val="tx1">
                    <a:lumMod val="65000"/>
                    <a:lumOff val="35000"/>
                  </a:schemeClr>
                </a:solidFill>
                <a:latin typeface="Meiryo"/>
                <a:ea typeface="Meiryo"/>
                <a:cs typeface="Meiryo"/>
                <a:sym typeface="Meiryo"/>
              </a:rPr>
              <a:t>FAQ</a:t>
            </a:r>
            <a:r>
              <a:rPr lang="ja-JP" altLang="en-US" sz="1600" b="1" dirty="0">
                <a:solidFill>
                  <a:schemeClr val="tx1">
                    <a:lumMod val="65000"/>
                    <a:lumOff val="35000"/>
                  </a:schemeClr>
                </a:solidFill>
                <a:latin typeface="Meiryo"/>
                <a:ea typeface="Meiryo"/>
                <a:cs typeface="Meiryo"/>
                <a:sym typeface="Meiryo"/>
              </a:rPr>
              <a:t>をもとにした</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による自動応答や、</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Meiryo"/>
              <a:ea typeface="Meiryo"/>
              <a:cs typeface="Meiryo"/>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a:t>
            </a:r>
            <a:r>
              <a:rPr lang="en-US" altLang="ja-JP" sz="1600" b="1" dirty="0" err="1">
                <a:latin typeface="メイリオ" panose="020B0604030504040204" pitchFamily="50" charset="-128"/>
                <a:ea typeface="メイリオ" panose="020B0604030504040204" pitchFamily="50" charset="-128"/>
              </a:rPr>
              <a:t>LINE】Chat</a:t>
            </a:r>
            <a:r>
              <a:rPr lang="en-US" altLang="ja-JP" sz="1600" b="1" dirty="0">
                <a:latin typeface="メイリオ" panose="020B0604030504040204" pitchFamily="50" charset="-128"/>
                <a:ea typeface="メイリオ" panose="020B0604030504040204" pitchFamily="50" charset="-128"/>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ホームページから気軽にチャットで</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問い合わせができるようになり</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資料請求や商品の購入に繋がる。</a:t>
            </a:r>
            <a:endParaRPr lang="en-US" altLang="ja-JP" sz="1600" b="1" dirty="0">
              <a:solidFill>
                <a:schemeClr val="tx1">
                  <a:lumMod val="65000"/>
                  <a:lumOff val="35000"/>
                </a:schemeClr>
              </a:solidFill>
              <a:latin typeface="Meiryo"/>
              <a:ea typeface="Meiryo"/>
              <a:cs typeface="Meiryo"/>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できる</a:t>
            </a:r>
            <a:endParaRPr lang="en-US" sz="1554" b="1" dirty="0">
              <a:solidFill>
                <a:srgbClr val="494848"/>
              </a:solidFill>
              <a:latin typeface="メイリオ" panose="020B0604030504040204" pitchFamily="50" charset="-128"/>
              <a:ea typeface="メイリオ" panose="020B0604030504040204" pitchFamily="50" charset="-128"/>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公式</a:t>
            </a:r>
            <a:r>
              <a:rPr lang="en-US" altLang="ja-JP" sz="1554" b="1" dirty="0">
                <a:solidFill>
                  <a:srgbClr val="494848"/>
                </a:solidFill>
                <a:latin typeface="メイリオ" panose="020B0604030504040204" pitchFamily="50" charset="-128"/>
                <a:ea typeface="メイリオ" panose="020B0604030504040204" pitchFamily="50" charset="-128"/>
              </a:rPr>
              <a:t>LINE</a:t>
            </a:r>
            <a:r>
              <a:rPr lang="ja-JP" altLang="en-US" sz="1554" b="1" dirty="0">
                <a:solidFill>
                  <a:srgbClr val="494848"/>
                </a:solidFill>
                <a:latin typeface="メイリオ" panose="020B0604030504040204" pitchFamily="50" charset="-128"/>
                <a:ea typeface="メイリオ" panose="020B0604030504040204" pitchFamily="50" charset="-128"/>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rPr>
              <a:t>LINE</a:t>
            </a:r>
            <a:r>
              <a:rPr lang="ja-JP" altLang="en-US" sz="1554" b="1" dirty="0">
                <a:solidFill>
                  <a:srgbClr val="494848"/>
                </a:solidFill>
                <a:latin typeface="メイリオ" panose="020B0604030504040204" pitchFamily="50" charset="-128"/>
                <a:ea typeface="メイリオ" panose="020B0604030504040204" pitchFamily="50" charset="-128"/>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できる</a:t>
            </a:r>
            <a:endParaRPr lang="en-US" sz="1554" b="1" dirty="0">
              <a:solidFill>
                <a:srgbClr val="494848"/>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6927665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コール</a:t>
            </a:r>
            <a:r>
              <a:rPr lang="en-US" altLang="ja-JP" sz="1600" b="1" dirty="0">
                <a:solidFill>
                  <a:schemeClr val="tx1">
                    <a:lumMod val="65000"/>
                    <a:lumOff val="35000"/>
                  </a:schemeClr>
                </a:solidFill>
                <a:latin typeface="Meiryo"/>
                <a:ea typeface="Meiryo"/>
                <a:cs typeface="Meiryo"/>
                <a:sym typeface="Meiryo"/>
              </a:rPr>
              <a:t>Plus</a:t>
            </a:r>
            <a:r>
              <a:rPr lang="ja-JP" altLang="en-US" sz="1600" b="1" dirty="0">
                <a:solidFill>
                  <a:schemeClr val="tx1">
                    <a:lumMod val="65000"/>
                    <a:lumOff val="35000"/>
                  </a:schemeClr>
                </a:solidFill>
                <a:latin typeface="Meiryo"/>
                <a:ea typeface="Meiryo"/>
                <a:cs typeface="Meiryo"/>
                <a:sym typeface="Meiryo"/>
              </a:rPr>
              <a:t>」は、</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公式アカウントの有料オプション機能で、</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a:t>
            </a:r>
            <a:r>
              <a:rPr lang="en-US" altLang="ja-JP" sz="1600" b="1" dirty="0" err="1">
                <a:latin typeface="メイリオ" panose="020B0604030504040204" pitchFamily="50" charset="-128"/>
                <a:ea typeface="メイリオ" panose="020B0604030504040204" pitchFamily="50" charset="-128"/>
              </a:rPr>
              <a:t>LINE】Call</a:t>
            </a:r>
            <a:r>
              <a:rPr lang="en-US" altLang="ja-JP" sz="1600" b="1" dirty="0">
                <a:latin typeface="メイリオ" panose="020B0604030504040204" pitchFamily="50" charset="-128"/>
                <a:ea typeface="メイリオ" panose="020B0604030504040204" pitchFamily="50" charset="-128"/>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Meiryo"/>
                <a:ea typeface="Meiryo"/>
                <a:cs typeface="Meiryo"/>
                <a:sym typeface="Meiryo"/>
              </a:rPr>
              <a:t>引用：</a:t>
            </a:r>
            <a:r>
              <a:rPr lang="en-US" altLang="ja-JP" sz="1000" b="1" dirty="0">
                <a:solidFill>
                  <a:schemeClr val="tx1">
                    <a:lumMod val="65000"/>
                    <a:lumOff val="35000"/>
                  </a:schemeClr>
                </a:solidFill>
                <a:latin typeface="Meiryo"/>
                <a:ea typeface="Meiryo"/>
                <a:cs typeface="Meiryo"/>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さらに「</a:t>
            </a:r>
            <a:r>
              <a:rPr lang="en-US" altLang="ja-JP" sz="1600" b="1" dirty="0">
                <a:solidFill>
                  <a:schemeClr val="tx1">
                    <a:lumMod val="65000"/>
                    <a:lumOff val="35000"/>
                  </a:schemeClr>
                </a:solidFill>
                <a:latin typeface="Meiryo"/>
                <a:ea typeface="Meiryo"/>
                <a:cs typeface="Meiryo"/>
                <a:sym typeface="Meiryo"/>
              </a:rPr>
              <a:t>LINE Ai Call</a:t>
            </a:r>
            <a:r>
              <a:rPr lang="ja-JP" altLang="en-US" sz="1600" b="1" dirty="0">
                <a:solidFill>
                  <a:schemeClr val="tx1">
                    <a:lumMod val="65000"/>
                    <a:lumOff val="35000"/>
                  </a:schemeClr>
                </a:solidFill>
                <a:latin typeface="Meiryo"/>
                <a:ea typeface="Meiryo"/>
                <a:cs typeface="Meiryo"/>
                <a:sym typeface="Meiryo"/>
              </a:rPr>
              <a:t>」を活用するとユーザーの要望に対して</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による自然な</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対話応答が可能に。要件に応じて</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と有人オペレータの振り分け業務効率化を支援。</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でログイン</a:t>
            </a:r>
            <a:endParaRPr lang="en-US" altLang="ja-JP" sz="1600" b="1"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Meiryo"/>
                <a:ea typeface="Meiryo"/>
                <a:cs typeface="Meiryo"/>
                <a:sym typeface="Meiryo"/>
              </a:rPr>
              <a:t>引用：</a:t>
            </a:r>
            <a:r>
              <a:rPr lang="en-US" altLang="ja-JP" sz="1000" b="1" dirty="0">
                <a:solidFill>
                  <a:schemeClr val="tx1">
                    <a:lumMod val="65000"/>
                    <a:lumOff val="35000"/>
                  </a:schemeClr>
                </a:solidFill>
                <a:latin typeface="Meiryo"/>
                <a:ea typeface="Meiryo"/>
                <a:cs typeface="Meiryo"/>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でログイン」は、</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上のユーザー情報を活用して</a:t>
            </a:r>
            <a:r>
              <a:rPr lang="en-US" altLang="ja-JP" sz="1600" b="1" dirty="0">
                <a:solidFill>
                  <a:schemeClr val="tx1">
                    <a:lumMod val="65000"/>
                    <a:lumOff val="35000"/>
                  </a:schemeClr>
                </a:solidFill>
                <a:latin typeface="Meiryo"/>
                <a:ea typeface="Meiryo"/>
                <a:cs typeface="Meiryo"/>
                <a:sym typeface="Meiryo"/>
              </a:rPr>
              <a:t>WEB</a:t>
            </a:r>
            <a:r>
              <a:rPr lang="ja-JP" altLang="en-US" sz="1600" b="1" dirty="0">
                <a:solidFill>
                  <a:schemeClr val="tx1">
                    <a:lumMod val="65000"/>
                    <a:lumOff val="35000"/>
                  </a:schemeClr>
                </a:solidFill>
                <a:latin typeface="Meiryo"/>
                <a:ea typeface="Meiryo"/>
                <a:cs typeface="Meiryo"/>
                <a:sym typeface="Meiryo"/>
              </a:rPr>
              <a:t>サイト登録が出来る仕組み。</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ID</a:t>
            </a:r>
            <a:r>
              <a:rPr lang="ja-JP" altLang="en-US" sz="1600" b="1" dirty="0">
                <a:solidFill>
                  <a:schemeClr val="tx1">
                    <a:lumMod val="65000"/>
                    <a:lumOff val="35000"/>
                  </a:schemeClr>
                </a:solidFill>
                <a:latin typeface="Meiryo"/>
                <a:ea typeface="Meiryo"/>
                <a:cs typeface="Meiryo"/>
                <a:sym typeface="Meiryo"/>
              </a:rPr>
              <a:t>連携を完了することにより、サービス</a:t>
            </a:r>
            <a:r>
              <a:rPr lang="en-US" altLang="ja-JP" sz="1600" b="1" dirty="0">
                <a:solidFill>
                  <a:schemeClr val="tx1">
                    <a:lumMod val="65000"/>
                    <a:lumOff val="35000"/>
                  </a:schemeClr>
                </a:solidFill>
                <a:latin typeface="Meiryo"/>
                <a:ea typeface="Meiryo"/>
                <a:cs typeface="Meiryo"/>
                <a:sym typeface="Meiryo"/>
              </a:rPr>
              <a:t>(WEB) </a:t>
            </a:r>
            <a:r>
              <a:rPr lang="ja-JP" altLang="en-US" sz="1600" b="1" dirty="0">
                <a:solidFill>
                  <a:schemeClr val="tx1">
                    <a:lumMod val="65000"/>
                    <a:lumOff val="35000"/>
                  </a:schemeClr>
                </a:solidFill>
                <a:latin typeface="Meiryo"/>
                <a:ea typeface="Meiryo"/>
                <a:cs typeface="Meiryo"/>
                <a:sym typeface="Meiryo"/>
              </a:rPr>
              <a:t>⇔ </a:t>
            </a:r>
            <a:r>
              <a:rPr lang="en-US" altLang="ja-JP" sz="1600" b="1" dirty="0">
                <a:solidFill>
                  <a:schemeClr val="tx1">
                    <a:lumMod val="65000"/>
                    <a:lumOff val="35000"/>
                  </a:schemeClr>
                </a:solidFill>
                <a:latin typeface="Meiryo"/>
                <a:ea typeface="Meiryo"/>
                <a:cs typeface="Meiryo"/>
                <a:sym typeface="Meiryo"/>
              </a:rPr>
              <a:t>LINE </a:t>
            </a:r>
            <a:r>
              <a:rPr lang="ja-JP" altLang="en-US" sz="1600" b="1" dirty="0">
                <a:solidFill>
                  <a:schemeClr val="tx1">
                    <a:lumMod val="65000"/>
                    <a:lumOff val="35000"/>
                  </a:schemeClr>
                </a:solidFill>
                <a:latin typeface="Meiryo"/>
                <a:ea typeface="Meiryo"/>
                <a:cs typeface="Meiryo"/>
                <a:sym typeface="Meiryo"/>
              </a:rPr>
              <a:t>での効果的なメッセージが可能に。</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6F07D-57DB-D005-AEF4-0353E12BFBBB}"/>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E70BA7A-C846-DB25-5226-608EE498C23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C580AE1A-1ED9-8A39-74F0-21E10C52709E}"/>
              </a:ext>
            </a:extLst>
          </p:cNvPr>
          <p:cNvSpPr/>
          <p:nvPr/>
        </p:nvSpPr>
        <p:spPr>
          <a:xfrm>
            <a:off x="3834758" y="3038203"/>
            <a:ext cx="223651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その他機能</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381273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F5926-064C-E9E2-1BF7-7405461E390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36CA518-3F59-3390-7B5A-E644AD768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19E80E8E-60A7-3A23-9CC8-7604796F1C0C}"/>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想定：低ハードルの</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地点を設定してリード情報を大量獲得</a:t>
            </a:r>
          </a:p>
        </p:txBody>
      </p:sp>
      <p:sp>
        <p:nvSpPr>
          <p:cNvPr id="245" name="Shape 8">
            <a:extLst>
              <a:ext uri="{FF2B5EF4-FFF2-40B4-BE49-F238E27FC236}">
                <a16:creationId xmlns:a16="http://schemas.microsoft.com/office/drawing/2014/main" id="{50B34EBB-32AA-4AD8-2936-6751081DDE7C}"/>
              </a:ext>
            </a:extLst>
          </p:cNvPr>
          <p:cNvSpPr/>
          <p:nvPr/>
        </p:nvSpPr>
        <p:spPr>
          <a:xfrm>
            <a:off x="603747" y="219432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7" name="Text 9">
            <a:extLst>
              <a:ext uri="{FF2B5EF4-FFF2-40B4-BE49-F238E27FC236}">
                <a16:creationId xmlns:a16="http://schemas.microsoft.com/office/drawing/2014/main" id="{6B824CCD-B508-0A92-337C-8E55E54ECCC6}"/>
              </a:ext>
            </a:extLst>
          </p:cNvPr>
          <p:cNvSpPr/>
          <p:nvPr/>
        </p:nvSpPr>
        <p:spPr>
          <a:xfrm>
            <a:off x="731763" y="2177352"/>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パターン A　入口設計</a:t>
            </a:r>
            <a:endParaRPr lang="en-US" sz="1000" dirty="0">
              <a:latin typeface="メイリオ" panose="020B0604030504040204" pitchFamily="50" charset="-128"/>
              <a:ea typeface="メイリオ" panose="020B0604030504040204" pitchFamily="50" charset="-128"/>
            </a:endParaRPr>
          </a:p>
        </p:txBody>
      </p:sp>
      <p:sp>
        <p:nvSpPr>
          <p:cNvPr id="249" name="Text 10">
            <a:extLst>
              <a:ext uri="{FF2B5EF4-FFF2-40B4-BE49-F238E27FC236}">
                <a16:creationId xmlns:a16="http://schemas.microsoft.com/office/drawing/2014/main" id="{84F4A405-7F45-B583-37DE-94237EEF3D61}"/>
              </a:ext>
            </a:extLst>
          </p:cNvPr>
          <p:cNvSpPr/>
          <p:nvPr/>
        </p:nvSpPr>
        <p:spPr>
          <a:xfrm>
            <a:off x="2679778" y="2181269"/>
            <a:ext cx="2178492"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LINE登録をCVゴールに変える</a:t>
            </a:r>
            <a:endParaRPr lang="en-US" sz="700" dirty="0">
              <a:latin typeface="メイリオ" panose="020B0604030504040204" pitchFamily="50" charset="-128"/>
              <a:ea typeface="メイリオ" panose="020B0604030504040204" pitchFamily="50" charset="-128"/>
            </a:endParaRPr>
          </a:p>
        </p:txBody>
      </p:sp>
      <p:sp>
        <p:nvSpPr>
          <p:cNvPr id="251" name="Shape 11">
            <a:extLst>
              <a:ext uri="{FF2B5EF4-FFF2-40B4-BE49-F238E27FC236}">
                <a16:creationId xmlns:a16="http://schemas.microsoft.com/office/drawing/2014/main" id="{E03D806A-5D1C-D296-4B14-ED4D280CB458}"/>
              </a:ext>
            </a:extLst>
          </p:cNvPr>
          <p:cNvSpPr/>
          <p:nvPr/>
        </p:nvSpPr>
        <p:spPr>
          <a:xfrm>
            <a:off x="5047731" y="219432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3" name="Text 12">
            <a:extLst>
              <a:ext uri="{FF2B5EF4-FFF2-40B4-BE49-F238E27FC236}">
                <a16:creationId xmlns:a16="http://schemas.microsoft.com/office/drawing/2014/main" id="{4B548AFE-3848-314C-CA69-8B8E255E25A3}"/>
              </a:ext>
            </a:extLst>
          </p:cNvPr>
          <p:cNvSpPr/>
          <p:nvPr/>
        </p:nvSpPr>
        <p:spPr>
          <a:xfrm>
            <a:off x="5175747" y="2177352"/>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パターン B　特典訴求</a:t>
            </a:r>
            <a:endParaRPr lang="en-US" sz="1000" dirty="0">
              <a:latin typeface="メイリオ" panose="020B0604030504040204" pitchFamily="50" charset="-128"/>
              <a:ea typeface="メイリオ" panose="020B0604030504040204" pitchFamily="50" charset="-128"/>
            </a:endParaRPr>
          </a:p>
        </p:txBody>
      </p:sp>
      <p:sp>
        <p:nvSpPr>
          <p:cNvPr id="255" name="Text 13">
            <a:extLst>
              <a:ext uri="{FF2B5EF4-FFF2-40B4-BE49-F238E27FC236}">
                <a16:creationId xmlns:a16="http://schemas.microsoft.com/office/drawing/2014/main" id="{F7BBED76-5EF3-CF1C-3E94-BFDDA81FC4CB}"/>
              </a:ext>
            </a:extLst>
          </p:cNvPr>
          <p:cNvSpPr/>
          <p:nvPr/>
        </p:nvSpPr>
        <p:spPr>
          <a:xfrm>
            <a:off x="7123762" y="2181269"/>
            <a:ext cx="2178492"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もらえる理由を先に見せる</a:t>
            </a:r>
            <a:endParaRPr lang="en-US" sz="700" dirty="0">
              <a:latin typeface="メイリオ" panose="020B0604030504040204" pitchFamily="50" charset="-128"/>
              <a:ea typeface="メイリオ" panose="020B0604030504040204" pitchFamily="50" charset="-128"/>
            </a:endParaRPr>
          </a:p>
        </p:txBody>
      </p:sp>
      <p:sp>
        <p:nvSpPr>
          <p:cNvPr id="257" name="Shape 15">
            <a:extLst>
              <a:ext uri="{FF2B5EF4-FFF2-40B4-BE49-F238E27FC236}">
                <a16:creationId xmlns:a16="http://schemas.microsoft.com/office/drawing/2014/main" id="{3C3A65BE-9DC3-733C-E32C-C6463CB1B2D8}"/>
              </a:ext>
            </a:extLst>
          </p:cNvPr>
          <p:cNvSpPr/>
          <p:nvPr/>
        </p:nvSpPr>
        <p:spPr>
          <a:xfrm>
            <a:off x="603747" y="260527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Shape 17">
            <a:extLst>
              <a:ext uri="{FF2B5EF4-FFF2-40B4-BE49-F238E27FC236}">
                <a16:creationId xmlns:a16="http://schemas.microsoft.com/office/drawing/2014/main" id="{3CF94F6C-2ADA-3F87-0FEF-DBA69394A376}"/>
              </a:ext>
            </a:extLst>
          </p:cNvPr>
          <p:cNvSpPr/>
          <p:nvPr/>
        </p:nvSpPr>
        <p:spPr>
          <a:xfrm>
            <a:off x="713475" y="269671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Text 18">
            <a:extLst>
              <a:ext uri="{FF2B5EF4-FFF2-40B4-BE49-F238E27FC236}">
                <a16:creationId xmlns:a16="http://schemas.microsoft.com/office/drawing/2014/main" id="{103195C8-2651-E639-EA61-8D610F734E60}"/>
              </a:ext>
            </a:extLst>
          </p:cNvPr>
          <p:cNvSpPr/>
          <p:nvPr/>
        </p:nvSpPr>
        <p:spPr>
          <a:xfrm>
            <a:off x="713475" y="2696718"/>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Text 20">
            <a:extLst>
              <a:ext uri="{FF2B5EF4-FFF2-40B4-BE49-F238E27FC236}">
                <a16:creationId xmlns:a16="http://schemas.microsoft.com/office/drawing/2014/main" id="{5FD52149-2769-6790-5E24-12A543DB12BE}"/>
              </a:ext>
            </a:extLst>
          </p:cNvPr>
          <p:cNvSpPr/>
          <p:nvPr/>
        </p:nvSpPr>
        <p:spPr>
          <a:xfrm>
            <a:off x="1060947" y="2724150"/>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SEO・広告流入</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69" name="Text 21">
            <a:extLst>
              <a:ext uri="{FF2B5EF4-FFF2-40B4-BE49-F238E27FC236}">
                <a16:creationId xmlns:a16="http://schemas.microsoft.com/office/drawing/2014/main" id="{CD72F40E-8420-7001-60D2-BE4609277B4B}"/>
              </a:ext>
            </a:extLst>
          </p:cNvPr>
          <p:cNvSpPr/>
          <p:nvPr/>
        </p:nvSpPr>
        <p:spPr>
          <a:xfrm>
            <a:off x="1975347" y="2696718"/>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「資料・診断」をLINE登録特典に設定</a:t>
            </a:r>
            <a:endParaRPr lang="en-US" sz="1000" dirty="0">
              <a:latin typeface="メイリオ" panose="020B0604030504040204" pitchFamily="50" charset="-128"/>
              <a:ea typeface="メイリオ" panose="020B0604030504040204" pitchFamily="50" charset="-128"/>
            </a:endParaRPr>
          </a:p>
        </p:txBody>
      </p:sp>
      <p:sp>
        <p:nvSpPr>
          <p:cNvPr id="271" name="Text 22">
            <a:extLst>
              <a:ext uri="{FF2B5EF4-FFF2-40B4-BE49-F238E27FC236}">
                <a16:creationId xmlns:a16="http://schemas.microsoft.com/office/drawing/2014/main" id="{9E779F3B-EE90-9E2A-0F05-BE0AF6DB44A6}"/>
              </a:ext>
            </a:extLst>
          </p:cNvPr>
          <p:cNvSpPr/>
          <p:nvPr/>
        </p:nvSpPr>
        <p:spPr>
          <a:xfrm>
            <a:off x="713475" y="3025902"/>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フォーム入力より低ハードルなLINE登録をCV地点に変更。「まず資料だけ」「30秒診断」など登録理由を明確にし、友だち追加率を0.8〜1.0%前後に改善する。</a:t>
            </a:r>
            <a:endParaRPr lang="en-US" sz="600" dirty="0">
              <a:latin typeface="メイリオ" panose="020B0604030504040204" pitchFamily="50" charset="-128"/>
              <a:ea typeface="メイリオ" panose="020B0604030504040204" pitchFamily="50" charset="-128"/>
            </a:endParaRPr>
          </a:p>
        </p:txBody>
      </p:sp>
      <p:sp>
        <p:nvSpPr>
          <p:cNvPr id="273" name="Shape 23">
            <a:extLst>
              <a:ext uri="{FF2B5EF4-FFF2-40B4-BE49-F238E27FC236}">
                <a16:creationId xmlns:a16="http://schemas.microsoft.com/office/drawing/2014/main" id="{675C0BB0-8300-FD46-0D46-92211B03501E}"/>
              </a:ext>
            </a:extLst>
          </p:cNvPr>
          <p:cNvSpPr/>
          <p:nvPr/>
        </p:nvSpPr>
        <p:spPr>
          <a:xfrm>
            <a:off x="695187" y="3373374"/>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75" name="Text 24">
            <a:extLst>
              <a:ext uri="{FF2B5EF4-FFF2-40B4-BE49-F238E27FC236}">
                <a16:creationId xmlns:a16="http://schemas.microsoft.com/office/drawing/2014/main" id="{656BBEFB-D770-4F75-DBE8-633CD2956F1D}"/>
              </a:ext>
            </a:extLst>
          </p:cNvPr>
          <p:cNvSpPr/>
          <p:nvPr/>
        </p:nvSpPr>
        <p:spPr>
          <a:xfrm>
            <a:off x="695187"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LP閲覧</a:t>
            </a:r>
            <a:endParaRPr lang="en-US" sz="700" dirty="0">
              <a:latin typeface="メイリオ" panose="020B0604030504040204" pitchFamily="50" charset="-128"/>
              <a:ea typeface="メイリオ" panose="020B0604030504040204" pitchFamily="50" charset="-128"/>
            </a:endParaRPr>
          </a:p>
        </p:txBody>
      </p:sp>
      <p:sp>
        <p:nvSpPr>
          <p:cNvPr id="277" name="Shape 25">
            <a:extLst>
              <a:ext uri="{FF2B5EF4-FFF2-40B4-BE49-F238E27FC236}">
                <a16:creationId xmlns:a16="http://schemas.microsoft.com/office/drawing/2014/main" id="{F4B93B37-4B61-4E52-FE2D-5809A86D42AD}"/>
              </a:ext>
            </a:extLst>
          </p:cNvPr>
          <p:cNvSpPr/>
          <p:nvPr/>
        </p:nvSpPr>
        <p:spPr>
          <a:xfrm>
            <a:off x="1969251" y="346481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9" name="Text 26">
            <a:extLst>
              <a:ext uri="{FF2B5EF4-FFF2-40B4-BE49-F238E27FC236}">
                <a16:creationId xmlns:a16="http://schemas.microsoft.com/office/drawing/2014/main" id="{61F60C63-C90B-8878-87EB-125EC950C1B5}"/>
              </a:ext>
            </a:extLst>
          </p:cNvPr>
          <p:cNvSpPr/>
          <p:nvPr/>
        </p:nvSpPr>
        <p:spPr>
          <a:xfrm>
            <a:off x="1969251" y="3464814"/>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1" name="Shape 27">
            <a:extLst>
              <a:ext uri="{FF2B5EF4-FFF2-40B4-BE49-F238E27FC236}">
                <a16:creationId xmlns:a16="http://schemas.microsoft.com/office/drawing/2014/main" id="{C645E261-F348-F246-EC19-FD2061AD3056}"/>
              </a:ext>
            </a:extLst>
          </p:cNvPr>
          <p:cNvSpPr/>
          <p:nvPr/>
        </p:nvSpPr>
        <p:spPr>
          <a:xfrm>
            <a:off x="2060691" y="3373374"/>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83" name="Text 28">
            <a:extLst>
              <a:ext uri="{FF2B5EF4-FFF2-40B4-BE49-F238E27FC236}">
                <a16:creationId xmlns:a16="http://schemas.microsoft.com/office/drawing/2014/main" id="{2CB542A9-044C-66B0-BB16-9144232C75A6}"/>
              </a:ext>
            </a:extLst>
          </p:cNvPr>
          <p:cNvSpPr/>
          <p:nvPr/>
        </p:nvSpPr>
        <p:spPr>
          <a:xfrm>
            <a:off x="2060691"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登録特典訴求</a:t>
            </a:r>
            <a:endParaRPr lang="en-US" sz="700" dirty="0">
              <a:latin typeface="メイリオ" panose="020B0604030504040204" pitchFamily="50" charset="-128"/>
              <a:ea typeface="メイリオ" panose="020B0604030504040204" pitchFamily="50" charset="-128"/>
            </a:endParaRPr>
          </a:p>
        </p:txBody>
      </p:sp>
      <p:sp>
        <p:nvSpPr>
          <p:cNvPr id="285" name="Shape 29">
            <a:extLst>
              <a:ext uri="{FF2B5EF4-FFF2-40B4-BE49-F238E27FC236}">
                <a16:creationId xmlns:a16="http://schemas.microsoft.com/office/drawing/2014/main" id="{2C761D6B-768E-B3F9-32B2-443E96E0F616}"/>
              </a:ext>
            </a:extLst>
          </p:cNvPr>
          <p:cNvSpPr/>
          <p:nvPr/>
        </p:nvSpPr>
        <p:spPr>
          <a:xfrm>
            <a:off x="3334755" y="346481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7" name="Text 30">
            <a:extLst>
              <a:ext uri="{FF2B5EF4-FFF2-40B4-BE49-F238E27FC236}">
                <a16:creationId xmlns:a16="http://schemas.microsoft.com/office/drawing/2014/main" id="{AF64CF89-0BBE-D590-0A33-9D0B3155D051}"/>
              </a:ext>
            </a:extLst>
          </p:cNvPr>
          <p:cNvSpPr/>
          <p:nvPr/>
        </p:nvSpPr>
        <p:spPr>
          <a:xfrm>
            <a:off x="3334755" y="3464814"/>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9" name="Shape 31">
            <a:extLst>
              <a:ext uri="{FF2B5EF4-FFF2-40B4-BE49-F238E27FC236}">
                <a16:creationId xmlns:a16="http://schemas.microsoft.com/office/drawing/2014/main" id="{A59F8ABE-3E84-32A7-F100-7F2C83484C81}"/>
              </a:ext>
            </a:extLst>
          </p:cNvPr>
          <p:cNvSpPr/>
          <p:nvPr/>
        </p:nvSpPr>
        <p:spPr>
          <a:xfrm>
            <a:off x="3426195" y="3373374"/>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91" name="Text 32">
            <a:extLst>
              <a:ext uri="{FF2B5EF4-FFF2-40B4-BE49-F238E27FC236}">
                <a16:creationId xmlns:a16="http://schemas.microsoft.com/office/drawing/2014/main" id="{DFCEB467-89AA-CC7A-AE80-E30F3A21DA5C}"/>
              </a:ext>
            </a:extLst>
          </p:cNvPr>
          <p:cNvSpPr/>
          <p:nvPr/>
        </p:nvSpPr>
        <p:spPr>
          <a:xfrm>
            <a:off x="3426195"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友だち追加</a:t>
            </a:r>
            <a:endParaRPr lang="en-US" sz="700" dirty="0">
              <a:latin typeface="メイリオ" panose="020B0604030504040204" pitchFamily="50" charset="-128"/>
              <a:ea typeface="メイリオ" panose="020B0604030504040204" pitchFamily="50" charset="-128"/>
            </a:endParaRPr>
          </a:p>
        </p:txBody>
      </p:sp>
      <p:sp>
        <p:nvSpPr>
          <p:cNvPr id="293" name="Shape 33">
            <a:extLst>
              <a:ext uri="{FF2B5EF4-FFF2-40B4-BE49-F238E27FC236}">
                <a16:creationId xmlns:a16="http://schemas.microsoft.com/office/drawing/2014/main" id="{1BECB815-6070-49FB-327C-8C81ADE9C9A4}"/>
              </a:ext>
            </a:extLst>
          </p:cNvPr>
          <p:cNvSpPr/>
          <p:nvPr/>
        </p:nvSpPr>
        <p:spPr>
          <a:xfrm>
            <a:off x="603747" y="384886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Shape 35">
            <a:extLst>
              <a:ext uri="{FF2B5EF4-FFF2-40B4-BE49-F238E27FC236}">
                <a16:creationId xmlns:a16="http://schemas.microsoft.com/office/drawing/2014/main" id="{8975206F-9C1B-B632-6774-C18FE5D889D0}"/>
              </a:ext>
            </a:extLst>
          </p:cNvPr>
          <p:cNvSpPr/>
          <p:nvPr/>
        </p:nvSpPr>
        <p:spPr>
          <a:xfrm>
            <a:off x="713475" y="394030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Text 36">
            <a:extLst>
              <a:ext uri="{FF2B5EF4-FFF2-40B4-BE49-F238E27FC236}">
                <a16:creationId xmlns:a16="http://schemas.microsoft.com/office/drawing/2014/main" id="{8BA14BF1-A613-57E7-03CB-725B3C62074A}"/>
              </a:ext>
            </a:extLst>
          </p:cNvPr>
          <p:cNvSpPr/>
          <p:nvPr/>
        </p:nvSpPr>
        <p:spPr>
          <a:xfrm>
            <a:off x="713475" y="394030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Text 38">
            <a:extLst>
              <a:ext uri="{FF2B5EF4-FFF2-40B4-BE49-F238E27FC236}">
                <a16:creationId xmlns:a16="http://schemas.microsoft.com/office/drawing/2014/main" id="{4C39AC04-3638-D60D-DAEF-A34EE2A29086}"/>
              </a:ext>
            </a:extLst>
          </p:cNvPr>
          <p:cNvSpPr/>
          <p:nvPr/>
        </p:nvSpPr>
        <p:spPr>
          <a:xfrm>
            <a:off x="1060947" y="3967734"/>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離脱防止</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5" name="Text 39">
            <a:extLst>
              <a:ext uri="{FF2B5EF4-FFF2-40B4-BE49-F238E27FC236}">
                <a16:creationId xmlns:a16="http://schemas.microsoft.com/office/drawing/2014/main" id="{65FFEC87-48E1-7E1B-7864-8D4BE90902D9}"/>
              </a:ext>
            </a:extLst>
          </p:cNvPr>
          <p:cNvSpPr/>
          <p:nvPr/>
        </p:nvSpPr>
        <p:spPr>
          <a:xfrm>
            <a:off x="1975347" y="3940302"/>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サイト滞在ユーザーへのポップアップ表示</a:t>
            </a:r>
            <a:endParaRPr lang="en-US" sz="1000" dirty="0">
              <a:latin typeface="メイリオ" panose="020B0604030504040204" pitchFamily="50" charset="-128"/>
              <a:ea typeface="メイリオ" panose="020B0604030504040204" pitchFamily="50" charset="-128"/>
            </a:endParaRPr>
          </a:p>
        </p:txBody>
      </p:sp>
      <p:sp>
        <p:nvSpPr>
          <p:cNvPr id="307" name="Text 40">
            <a:extLst>
              <a:ext uri="{FF2B5EF4-FFF2-40B4-BE49-F238E27FC236}">
                <a16:creationId xmlns:a16="http://schemas.microsoft.com/office/drawing/2014/main" id="{4D4E02D9-8D3A-B52C-98F8-C4162B5CCBF1}"/>
              </a:ext>
            </a:extLst>
          </p:cNvPr>
          <p:cNvSpPr/>
          <p:nvPr/>
        </p:nvSpPr>
        <p:spPr>
          <a:xfrm>
            <a:off x="713475" y="4269486"/>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一定時間閲覧・離脱意図を検知した際にLINE追加バナーを表示。「今すぐ問い合わせ」より「無料で資料受け取る」のCTAがCVRを向上させる。</a:t>
            </a:r>
            <a:endParaRPr lang="en-US" sz="600" dirty="0">
              <a:latin typeface="メイリオ" panose="020B0604030504040204" pitchFamily="50" charset="-128"/>
              <a:ea typeface="メイリオ" panose="020B0604030504040204" pitchFamily="50" charset="-128"/>
            </a:endParaRPr>
          </a:p>
        </p:txBody>
      </p:sp>
      <p:sp>
        <p:nvSpPr>
          <p:cNvPr id="309" name="Shape 41">
            <a:extLst>
              <a:ext uri="{FF2B5EF4-FFF2-40B4-BE49-F238E27FC236}">
                <a16:creationId xmlns:a16="http://schemas.microsoft.com/office/drawing/2014/main" id="{4ACBB8E7-2F20-7BE2-4CE1-5E63FB2D2A19}"/>
              </a:ext>
            </a:extLst>
          </p:cNvPr>
          <p:cNvSpPr/>
          <p:nvPr/>
        </p:nvSpPr>
        <p:spPr>
          <a:xfrm>
            <a:off x="695187" y="4616958"/>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1" name="Text 42">
            <a:extLst>
              <a:ext uri="{FF2B5EF4-FFF2-40B4-BE49-F238E27FC236}">
                <a16:creationId xmlns:a16="http://schemas.microsoft.com/office/drawing/2014/main" id="{801F8A22-4494-B935-6101-F68A1F96B362}"/>
              </a:ext>
            </a:extLst>
          </p:cNvPr>
          <p:cNvSpPr/>
          <p:nvPr/>
        </p:nvSpPr>
        <p:spPr>
          <a:xfrm>
            <a:off x="695187" y="461695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離脱検知</a:t>
            </a:r>
            <a:endParaRPr lang="en-US" sz="700" dirty="0">
              <a:latin typeface="メイリオ" panose="020B0604030504040204" pitchFamily="50" charset="-128"/>
              <a:ea typeface="メイリオ" panose="020B0604030504040204" pitchFamily="50" charset="-128"/>
            </a:endParaRPr>
          </a:p>
        </p:txBody>
      </p:sp>
      <p:sp>
        <p:nvSpPr>
          <p:cNvPr id="313" name="Shape 43">
            <a:extLst>
              <a:ext uri="{FF2B5EF4-FFF2-40B4-BE49-F238E27FC236}">
                <a16:creationId xmlns:a16="http://schemas.microsoft.com/office/drawing/2014/main" id="{5A6F984C-63AF-ACD2-BF62-D30F1D25838C}"/>
              </a:ext>
            </a:extLst>
          </p:cNvPr>
          <p:cNvSpPr/>
          <p:nvPr/>
        </p:nvSpPr>
        <p:spPr>
          <a:xfrm>
            <a:off x="1969251" y="470839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5" name="Text 44">
            <a:extLst>
              <a:ext uri="{FF2B5EF4-FFF2-40B4-BE49-F238E27FC236}">
                <a16:creationId xmlns:a16="http://schemas.microsoft.com/office/drawing/2014/main" id="{898D2A9B-2C91-5C0E-E0D1-08EC04B5B101}"/>
              </a:ext>
            </a:extLst>
          </p:cNvPr>
          <p:cNvSpPr/>
          <p:nvPr/>
        </p:nvSpPr>
        <p:spPr>
          <a:xfrm>
            <a:off x="1969251" y="4708398"/>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7" name="Shape 45">
            <a:extLst>
              <a:ext uri="{FF2B5EF4-FFF2-40B4-BE49-F238E27FC236}">
                <a16:creationId xmlns:a16="http://schemas.microsoft.com/office/drawing/2014/main" id="{73ECF984-984E-E268-3600-20C40EDFB08B}"/>
              </a:ext>
            </a:extLst>
          </p:cNvPr>
          <p:cNvSpPr/>
          <p:nvPr/>
        </p:nvSpPr>
        <p:spPr>
          <a:xfrm>
            <a:off x="2060691" y="4616958"/>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9" name="Text 46">
            <a:extLst>
              <a:ext uri="{FF2B5EF4-FFF2-40B4-BE49-F238E27FC236}">
                <a16:creationId xmlns:a16="http://schemas.microsoft.com/office/drawing/2014/main" id="{CF65025C-BF9E-DD3E-F624-8D11792E90C8}"/>
              </a:ext>
            </a:extLst>
          </p:cNvPr>
          <p:cNvSpPr/>
          <p:nvPr/>
        </p:nvSpPr>
        <p:spPr>
          <a:xfrm>
            <a:off x="2060691" y="461695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ポップアップ表示</a:t>
            </a:r>
            <a:endParaRPr lang="en-US" sz="700" dirty="0">
              <a:latin typeface="メイリオ" panose="020B0604030504040204" pitchFamily="50" charset="-128"/>
              <a:ea typeface="メイリオ" panose="020B0604030504040204" pitchFamily="50" charset="-128"/>
            </a:endParaRPr>
          </a:p>
        </p:txBody>
      </p:sp>
      <p:sp>
        <p:nvSpPr>
          <p:cNvPr id="321" name="Shape 47">
            <a:extLst>
              <a:ext uri="{FF2B5EF4-FFF2-40B4-BE49-F238E27FC236}">
                <a16:creationId xmlns:a16="http://schemas.microsoft.com/office/drawing/2014/main" id="{D4367962-B456-5285-6F36-9C11FF008F9C}"/>
              </a:ext>
            </a:extLst>
          </p:cNvPr>
          <p:cNvSpPr/>
          <p:nvPr/>
        </p:nvSpPr>
        <p:spPr>
          <a:xfrm>
            <a:off x="3334755" y="470839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3" name="Text 48">
            <a:extLst>
              <a:ext uri="{FF2B5EF4-FFF2-40B4-BE49-F238E27FC236}">
                <a16:creationId xmlns:a16="http://schemas.microsoft.com/office/drawing/2014/main" id="{A419A458-B799-4951-9FF6-942FE396F15A}"/>
              </a:ext>
            </a:extLst>
          </p:cNvPr>
          <p:cNvSpPr/>
          <p:nvPr/>
        </p:nvSpPr>
        <p:spPr>
          <a:xfrm>
            <a:off x="3334755" y="4708398"/>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5" name="Shape 49">
            <a:extLst>
              <a:ext uri="{FF2B5EF4-FFF2-40B4-BE49-F238E27FC236}">
                <a16:creationId xmlns:a16="http://schemas.microsoft.com/office/drawing/2014/main" id="{6D1A4CA3-33E1-E41B-7C83-F990FB5BE3FD}"/>
              </a:ext>
            </a:extLst>
          </p:cNvPr>
          <p:cNvSpPr/>
          <p:nvPr/>
        </p:nvSpPr>
        <p:spPr>
          <a:xfrm>
            <a:off x="3426195" y="4616958"/>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7" name="Text 50">
            <a:extLst>
              <a:ext uri="{FF2B5EF4-FFF2-40B4-BE49-F238E27FC236}">
                <a16:creationId xmlns:a16="http://schemas.microsoft.com/office/drawing/2014/main" id="{C59264FC-5AE8-9BB2-623A-9DEF6D9D796C}"/>
              </a:ext>
            </a:extLst>
          </p:cNvPr>
          <p:cNvSpPr/>
          <p:nvPr/>
        </p:nvSpPr>
        <p:spPr>
          <a:xfrm>
            <a:off x="3426195" y="461695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LINE追加</a:t>
            </a:r>
            <a:endParaRPr lang="en-US" sz="700" dirty="0">
              <a:latin typeface="メイリオ" panose="020B0604030504040204" pitchFamily="50" charset="-128"/>
              <a:ea typeface="メイリオ" panose="020B0604030504040204" pitchFamily="50" charset="-128"/>
            </a:endParaRPr>
          </a:p>
        </p:txBody>
      </p:sp>
      <p:sp>
        <p:nvSpPr>
          <p:cNvPr id="329" name="Shape 51">
            <a:extLst>
              <a:ext uri="{FF2B5EF4-FFF2-40B4-BE49-F238E27FC236}">
                <a16:creationId xmlns:a16="http://schemas.microsoft.com/office/drawing/2014/main" id="{6D963E5B-1138-2B0E-0167-B5B9BF716186}"/>
              </a:ext>
            </a:extLst>
          </p:cNvPr>
          <p:cNvSpPr/>
          <p:nvPr/>
        </p:nvSpPr>
        <p:spPr>
          <a:xfrm>
            <a:off x="603747" y="509244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Shape 53">
            <a:extLst>
              <a:ext uri="{FF2B5EF4-FFF2-40B4-BE49-F238E27FC236}">
                <a16:creationId xmlns:a16="http://schemas.microsoft.com/office/drawing/2014/main" id="{2F6F51E4-22ED-423C-D348-1FBBE8111C30}"/>
              </a:ext>
            </a:extLst>
          </p:cNvPr>
          <p:cNvSpPr/>
          <p:nvPr/>
        </p:nvSpPr>
        <p:spPr>
          <a:xfrm>
            <a:off x="713475" y="518388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Text 54">
            <a:extLst>
              <a:ext uri="{FF2B5EF4-FFF2-40B4-BE49-F238E27FC236}">
                <a16:creationId xmlns:a16="http://schemas.microsoft.com/office/drawing/2014/main" id="{89F3FA46-BAFD-DBEA-D8E2-4D32A77DBE47}"/>
              </a:ext>
            </a:extLst>
          </p:cNvPr>
          <p:cNvSpPr/>
          <p:nvPr/>
        </p:nvSpPr>
        <p:spPr>
          <a:xfrm>
            <a:off x="713475" y="5183886"/>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Text 56">
            <a:extLst>
              <a:ext uri="{FF2B5EF4-FFF2-40B4-BE49-F238E27FC236}">
                <a16:creationId xmlns:a16="http://schemas.microsoft.com/office/drawing/2014/main" id="{18FC6107-EEDB-D5C0-0493-D5024B31930A}"/>
              </a:ext>
            </a:extLst>
          </p:cNvPr>
          <p:cNvSpPr/>
          <p:nvPr/>
        </p:nvSpPr>
        <p:spPr>
          <a:xfrm>
            <a:off x="1060947" y="5211318"/>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LINE広告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41" name="Text 57">
            <a:extLst>
              <a:ext uri="{FF2B5EF4-FFF2-40B4-BE49-F238E27FC236}">
                <a16:creationId xmlns:a16="http://schemas.microsoft.com/office/drawing/2014/main" id="{C7099D20-6647-411E-495C-A262E2099219}"/>
              </a:ext>
            </a:extLst>
          </p:cNvPr>
          <p:cNvSpPr/>
          <p:nvPr/>
        </p:nvSpPr>
        <p:spPr>
          <a:xfrm>
            <a:off x="1975347" y="518388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LINE広告（CPF）で友だち追加を直接獲得</a:t>
            </a:r>
            <a:endParaRPr lang="en-US" sz="1000" dirty="0">
              <a:latin typeface="メイリオ" panose="020B0604030504040204" pitchFamily="50" charset="-128"/>
              <a:ea typeface="メイリオ" panose="020B0604030504040204" pitchFamily="50" charset="-128"/>
            </a:endParaRPr>
          </a:p>
        </p:txBody>
      </p:sp>
      <p:sp>
        <p:nvSpPr>
          <p:cNvPr id="343" name="Text 58">
            <a:extLst>
              <a:ext uri="{FF2B5EF4-FFF2-40B4-BE49-F238E27FC236}">
                <a16:creationId xmlns:a16="http://schemas.microsoft.com/office/drawing/2014/main" id="{E2CBABF1-E10B-8655-69E8-9A7C51A6D9E3}"/>
              </a:ext>
            </a:extLst>
          </p:cNvPr>
          <p:cNvSpPr/>
          <p:nvPr/>
        </p:nvSpPr>
        <p:spPr>
          <a:xfrm>
            <a:off x="713475" y="5513070"/>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LINEのタイムラインに広告を配信し、タップするだけで友だち追加が完了するCPFを活用。フォーム入力ゼロで大量リストを獲得できる。</a:t>
            </a:r>
            <a:endParaRPr lang="en-US" sz="600" dirty="0">
              <a:latin typeface="メイリオ" panose="020B0604030504040204" pitchFamily="50" charset="-128"/>
              <a:ea typeface="メイリオ" panose="020B0604030504040204" pitchFamily="50" charset="-128"/>
            </a:endParaRPr>
          </a:p>
        </p:txBody>
      </p:sp>
      <p:sp>
        <p:nvSpPr>
          <p:cNvPr id="345" name="Shape 59">
            <a:extLst>
              <a:ext uri="{FF2B5EF4-FFF2-40B4-BE49-F238E27FC236}">
                <a16:creationId xmlns:a16="http://schemas.microsoft.com/office/drawing/2014/main" id="{F7FA16E9-28E9-5FAA-0B5A-2DEB195507E8}"/>
              </a:ext>
            </a:extLst>
          </p:cNvPr>
          <p:cNvSpPr/>
          <p:nvPr/>
        </p:nvSpPr>
        <p:spPr>
          <a:xfrm>
            <a:off x="695187"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7" name="Text 60">
            <a:extLst>
              <a:ext uri="{FF2B5EF4-FFF2-40B4-BE49-F238E27FC236}">
                <a16:creationId xmlns:a16="http://schemas.microsoft.com/office/drawing/2014/main" id="{E2B42AA0-132E-2BD1-9170-8FB822F9DD8D}"/>
              </a:ext>
            </a:extLst>
          </p:cNvPr>
          <p:cNvSpPr/>
          <p:nvPr/>
        </p:nvSpPr>
        <p:spPr>
          <a:xfrm>
            <a:off x="695187"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LINE広告配信</a:t>
            </a:r>
            <a:endParaRPr lang="en-US" sz="700" dirty="0">
              <a:latin typeface="メイリオ" panose="020B0604030504040204" pitchFamily="50" charset="-128"/>
              <a:ea typeface="メイリオ" panose="020B0604030504040204" pitchFamily="50" charset="-128"/>
            </a:endParaRPr>
          </a:p>
        </p:txBody>
      </p:sp>
      <p:sp>
        <p:nvSpPr>
          <p:cNvPr id="349" name="Shape 61">
            <a:extLst>
              <a:ext uri="{FF2B5EF4-FFF2-40B4-BE49-F238E27FC236}">
                <a16:creationId xmlns:a16="http://schemas.microsoft.com/office/drawing/2014/main" id="{2D2F38BD-F703-1322-C0EB-FF7E51A439E3}"/>
              </a:ext>
            </a:extLst>
          </p:cNvPr>
          <p:cNvSpPr/>
          <p:nvPr/>
        </p:nvSpPr>
        <p:spPr>
          <a:xfrm>
            <a:off x="1969251" y="59519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1" name="Text 62">
            <a:extLst>
              <a:ext uri="{FF2B5EF4-FFF2-40B4-BE49-F238E27FC236}">
                <a16:creationId xmlns:a16="http://schemas.microsoft.com/office/drawing/2014/main" id="{C2B3A8C9-C9C1-FA05-756B-E4822346E20D}"/>
              </a:ext>
            </a:extLst>
          </p:cNvPr>
          <p:cNvSpPr/>
          <p:nvPr/>
        </p:nvSpPr>
        <p:spPr>
          <a:xfrm>
            <a:off x="1969251" y="5951982"/>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3" name="Shape 63">
            <a:extLst>
              <a:ext uri="{FF2B5EF4-FFF2-40B4-BE49-F238E27FC236}">
                <a16:creationId xmlns:a16="http://schemas.microsoft.com/office/drawing/2014/main" id="{BD3E93B4-E548-6909-FB3B-06C1E8639169}"/>
              </a:ext>
            </a:extLst>
          </p:cNvPr>
          <p:cNvSpPr/>
          <p:nvPr/>
        </p:nvSpPr>
        <p:spPr>
          <a:xfrm>
            <a:off x="2060691"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55" name="Text 64">
            <a:extLst>
              <a:ext uri="{FF2B5EF4-FFF2-40B4-BE49-F238E27FC236}">
                <a16:creationId xmlns:a16="http://schemas.microsoft.com/office/drawing/2014/main" id="{A6256185-6AD4-3A20-1F48-E2EF9D4891CE}"/>
              </a:ext>
            </a:extLst>
          </p:cNvPr>
          <p:cNvSpPr/>
          <p:nvPr/>
        </p:nvSpPr>
        <p:spPr>
          <a:xfrm>
            <a:off x="2060691"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タップ1回</a:t>
            </a:r>
            <a:endParaRPr lang="en-US" sz="700" dirty="0">
              <a:latin typeface="メイリオ" panose="020B0604030504040204" pitchFamily="50" charset="-128"/>
              <a:ea typeface="メイリオ" panose="020B0604030504040204" pitchFamily="50" charset="-128"/>
            </a:endParaRPr>
          </a:p>
        </p:txBody>
      </p:sp>
      <p:sp>
        <p:nvSpPr>
          <p:cNvPr id="357" name="Shape 65">
            <a:extLst>
              <a:ext uri="{FF2B5EF4-FFF2-40B4-BE49-F238E27FC236}">
                <a16:creationId xmlns:a16="http://schemas.microsoft.com/office/drawing/2014/main" id="{3BF64739-BCDC-698F-EF0E-28E1322565B2}"/>
              </a:ext>
            </a:extLst>
          </p:cNvPr>
          <p:cNvSpPr/>
          <p:nvPr/>
        </p:nvSpPr>
        <p:spPr>
          <a:xfrm>
            <a:off x="3334755" y="59519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9" name="Text 66">
            <a:extLst>
              <a:ext uri="{FF2B5EF4-FFF2-40B4-BE49-F238E27FC236}">
                <a16:creationId xmlns:a16="http://schemas.microsoft.com/office/drawing/2014/main" id="{DC3E4D69-6A59-7489-79CB-99F94D990D7A}"/>
              </a:ext>
            </a:extLst>
          </p:cNvPr>
          <p:cNvSpPr/>
          <p:nvPr/>
        </p:nvSpPr>
        <p:spPr>
          <a:xfrm>
            <a:off x="3334755" y="5951982"/>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1" name="Shape 67">
            <a:extLst>
              <a:ext uri="{FF2B5EF4-FFF2-40B4-BE49-F238E27FC236}">
                <a16:creationId xmlns:a16="http://schemas.microsoft.com/office/drawing/2014/main" id="{9ADB30CA-F6EE-C089-A57A-6F22275FEAB4}"/>
              </a:ext>
            </a:extLst>
          </p:cNvPr>
          <p:cNvSpPr/>
          <p:nvPr/>
        </p:nvSpPr>
        <p:spPr>
          <a:xfrm>
            <a:off x="3426195"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63" name="Text 68">
            <a:extLst>
              <a:ext uri="{FF2B5EF4-FFF2-40B4-BE49-F238E27FC236}">
                <a16:creationId xmlns:a16="http://schemas.microsoft.com/office/drawing/2014/main" id="{98B08C9C-D511-6B94-9B7A-44C6A5439875}"/>
              </a:ext>
            </a:extLst>
          </p:cNvPr>
          <p:cNvSpPr/>
          <p:nvPr/>
        </p:nvSpPr>
        <p:spPr>
          <a:xfrm>
            <a:off x="3426195"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友だち追加完了</a:t>
            </a:r>
            <a:endParaRPr lang="en-US" sz="700" dirty="0">
              <a:latin typeface="メイリオ" panose="020B0604030504040204" pitchFamily="50" charset="-128"/>
              <a:ea typeface="メイリオ" panose="020B0604030504040204" pitchFamily="50" charset="-128"/>
            </a:endParaRPr>
          </a:p>
        </p:txBody>
      </p:sp>
      <p:sp>
        <p:nvSpPr>
          <p:cNvPr id="365" name="Shape 69">
            <a:extLst>
              <a:ext uri="{FF2B5EF4-FFF2-40B4-BE49-F238E27FC236}">
                <a16:creationId xmlns:a16="http://schemas.microsoft.com/office/drawing/2014/main" id="{D6B35E10-B1AC-F1BF-E6B4-49DBF665E15B}"/>
              </a:ext>
            </a:extLst>
          </p:cNvPr>
          <p:cNvSpPr/>
          <p:nvPr/>
        </p:nvSpPr>
        <p:spPr>
          <a:xfrm>
            <a:off x="5047731" y="260527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Shape 71">
            <a:extLst>
              <a:ext uri="{FF2B5EF4-FFF2-40B4-BE49-F238E27FC236}">
                <a16:creationId xmlns:a16="http://schemas.microsoft.com/office/drawing/2014/main" id="{68234D9A-1E80-F88C-68E3-9B0BD913573C}"/>
              </a:ext>
            </a:extLst>
          </p:cNvPr>
          <p:cNvSpPr/>
          <p:nvPr/>
        </p:nvSpPr>
        <p:spPr>
          <a:xfrm>
            <a:off x="5157459" y="269671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Text 72">
            <a:extLst>
              <a:ext uri="{FF2B5EF4-FFF2-40B4-BE49-F238E27FC236}">
                <a16:creationId xmlns:a16="http://schemas.microsoft.com/office/drawing/2014/main" id="{552F05CD-97BD-C4BE-A13E-740BB4C11A0B}"/>
              </a:ext>
            </a:extLst>
          </p:cNvPr>
          <p:cNvSpPr/>
          <p:nvPr/>
        </p:nvSpPr>
        <p:spPr>
          <a:xfrm>
            <a:off x="5157459" y="2696718"/>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Text 74">
            <a:extLst>
              <a:ext uri="{FF2B5EF4-FFF2-40B4-BE49-F238E27FC236}">
                <a16:creationId xmlns:a16="http://schemas.microsoft.com/office/drawing/2014/main" id="{DF4277DC-C449-82E4-95E9-6A760DB1A9BE}"/>
              </a:ext>
            </a:extLst>
          </p:cNvPr>
          <p:cNvSpPr/>
          <p:nvPr/>
        </p:nvSpPr>
        <p:spPr>
          <a:xfrm>
            <a:off x="5504931" y="2724150"/>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無料特典</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7" name="Text 75">
            <a:extLst>
              <a:ext uri="{FF2B5EF4-FFF2-40B4-BE49-F238E27FC236}">
                <a16:creationId xmlns:a16="http://schemas.microsoft.com/office/drawing/2014/main" id="{26E53970-4631-F503-9567-2A93A8696D8A}"/>
              </a:ext>
            </a:extLst>
          </p:cNvPr>
          <p:cNvSpPr/>
          <p:nvPr/>
        </p:nvSpPr>
        <p:spPr>
          <a:xfrm>
            <a:off x="6419331" y="2696718"/>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業界特化の無料チェックリスト・資料を配布</a:t>
            </a:r>
            <a:endParaRPr lang="en-US" sz="1000" dirty="0">
              <a:latin typeface="メイリオ" panose="020B0604030504040204" pitchFamily="50" charset="-128"/>
              <a:ea typeface="メイリオ" panose="020B0604030504040204" pitchFamily="50" charset="-128"/>
            </a:endParaRPr>
          </a:p>
        </p:txBody>
      </p:sp>
      <p:sp>
        <p:nvSpPr>
          <p:cNvPr id="379" name="Text 76">
            <a:extLst>
              <a:ext uri="{FF2B5EF4-FFF2-40B4-BE49-F238E27FC236}">
                <a16:creationId xmlns:a16="http://schemas.microsoft.com/office/drawing/2014/main" id="{2D8E133D-EC4C-5575-4BD8-86BE9F65DDF1}"/>
              </a:ext>
            </a:extLst>
          </p:cNvPr>
          <p:cNvSpPr/>
          <p:nvPr/>
        </p:nvSpPr>
        <p:spPr>
          <a:xfrm>
            <a:off x="5157459" y="3025902"/>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「登録するだけでもらえる」特典を用意することで登録動機を明確化。業界固有の課題解決系コンテンツ（チェックシート・業界レポート等）が最もCV率が高い。</a:t>
            </a:r>
            <a:endParaRPr lang="en-US" sz="600" dirty="0">
              <a:latin typeface="メイリオ" panose="020B0604030504040204" pitchFamily="50" charset="-128"/>
              <a:ea typeface="メイリオ" panose="020B0604030504040204" pitchFamily="50" charset="-128"/>
            </a:endParaRPr>
          </a:p>
        </p:txBody>
      </p:sp>
      <p:sp>
        <p:nvSpPr>
          <p:cNvPr id="381" name="Shape 77">
            <a:extLst>
              <a:ext uri="{FF2B5EF4-FFF2-40B4-BE49-F238E27FC236}">
                <a16:creationId xmlns:a16="http://schemas.microsoft.com/office/drawing/2014/main" id="{31E10F06-F863-67FA-6DAC-010C215B84E8}"/>
              </a:ext>
            </a:extLst>
          </p:cNvPr>
          <p:cNvSpPr/>
          <p:nvPr/>
        </p:nvSpPr>
        <p:spPr>
          <a:xfrm>
            <a:off x="5139171" y="3373374"/>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3" name="Text 78">
            <a:extLst>
              <a:ext uri="{FF2B5EF4-FFF2-40B4-BE49-F238E27FC236}">
                <a16:creationId xmlns:a16="http://schemas.microsoft.com/office/drawing/2014/main" id="{6C9F3ABA-2FF8-FD90-4A48-758E002398FB}"/>
              </a:ext>
            </a:extLst>
          </p:cNvPr>
          <p:cNvSpPr/>
          <p:nvPr/>
        </p:nvSpPr>
        <p:spPr>
          <a:xfrm>
            <a:off x="5139171"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特典を訴求</a:t>
            </a:r>
            <a:endParaRPr lang="en-US" sz="700" dirty="0">
              <a:latin typeface="メイリオ" panose="020B0604030504040204" pitchFamily="50" charset="-128"/>
              <a:ea typeface="メイリオ" panose="020B0604030504040204" pitchFamily="50" charset="-128"/>
            </a:endParaRPr>
          </a:p>
        </p:txBody>
      </p:sp>
      <p:sp>
        <p:nvSpPr>
          <p:cNvPr id="385" name="Shape 79">
            <a:extLst>
              <a:ext uri="{FF2B5EF4-FFF2-40B4-BE49-F238E27FC236}">
                <a16:creationId xmlns:a16="http://schemas.microsoft.com/office/drawing/2014/main" id="{E72C78D1-0BB9-916F-36B5-7479F8CE5D3C}"/>
              </a:ext>
            </a:extLst>
          </p:cNvPr>
          <p:cNvSpPr/>
          <p:nvPr/>
        </p:nvSpPr>
        <p:spPr>
          <a:xfrm>
            <a:off x="6413235" y="346481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7" name="Text 80">
            <a:extLst>
              <a:ext uri="{FF2B5EF4-FFF2-40B4-BE49-F238E27FC236}">
                <a16:creationId xmlns:a16="http://schemas.microsoft.com/office/drawing/2014/main" id="{BC0BBF5B-BAF8-E70E-8B07-996AA9432035}"/>
              </a:ext>
            </a:extLst>
          </p:cNvPr>
          <p:cNvSpPr/>
          <p:nvPr/>
        </p:nvSpPr>
        <p:spPr>
          <a:xfrm>
            <a:off x="6413235" y="3464814"/>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9" name="Shape 81">
            <a:extLst>
              <a:ext uri="{FF2B5EF4-FFF2-40B4-BE49-F238E27FC236}">
                <a16:creationId xmlns:a16="http://schemas.microsoft.com/office/drawing/2014/main" id="{408D8BF9-9A64-3437-189F-7AB6EF573C7B}"/>
              </a:ext>
            </a:extLst>
          </p:cNvPr>
          <p:cNvSpPr/>
          <p:nvPr/>
        </p:nvSpPr>
        <p:spPr>
          <a:xfrm>
            <a:off x="6504675" y="3373374"/>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1" name="Text 82">
            <a:extLst>
              <a:ext uri="{FF2B5EF4-FFF2-40B4-BE49-F238E27FC236}">
                <a16:creationId xmlns:a16="http://schemas.microsoft.com/office/drawing/2014/main" id="{143086EA-358A-8358-5A98-D73784BCDE63}"/>
              </a:ext>
            </a:extLst>
          </p:cNvPr>
          <p:cNvSpPr/>
          <p:nvPr/>
        </p:nvSpPr>
        <p:spPr>
          <a:xfrm>
            <a:off x="6504675"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393" name="Shape 83">
            <a:extLst>
              <a:ext uri="{FF2B5EF4-FFF2-40B4-BE49-F238E27FC236}">
                <a16:creationId xmlns:a16="http://schemas.microsoft.com/office/drawing/2014/main" id="{735AC242-9C22-523C-8493-ED1444186A4A}"/>
              </a:ext>
            </a:extLst>
          </p:cNvPr>
          <p:cNvSpPr/>
          <p:nvPr/>
        </p:nvSpPr>
        <p:spPr>
          <a:xfrm>
            <a:off x="7778739" y="346481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5" name="Text 84">
            <a:extLst>
              <a:ext uri="{FF2B5EF4-FFF2-40B4-BE49-F238E27FC236}">
                <a16:creationId xmlns:a16="http://schemas.microsoft.com/office/drawing/2014/main" id="{5CA0A665-628D-A550-FA00-F6977D3E7726}"/>
              </a:ext>
            </a:extLst>
          </p:cNvPr>
          <p:cNvSpPr/>
          <p:nvPr/>
        </p:nvSpPr>
        <p:spPr>
          <a:xfrm>
            <a:off x="7778739" y="3464814"/>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7" name="Shape 85">
            <a:extLst>
              <a:ext uri="{FF2B5EF4-FFF2-40B4-BE49-F238E27FC236}">
                <a16:creationId xmlns:a16="http://schemas.microsoft.com/office/drawing/2014/main" id="{C421B86C-B079-C4D9-00AC-3FDB83FD4088}"/>
              </a:ext>
            </a:extLst>
          </p:cNvPr>
          <p:cNvSpPr/>
          <p:nvPr/>
        </p:nvSpPr>
        <p:spPr>
          <a:xfrm>
            <a:off x="7870179" y="3373374"/>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9" name="Text 86">
            <a:extLst>
              <a:ext uri="{FF2B5EF4-FFF2-40B4-BE49-F238E27FC236}">
                <a16:creationId xmlns:a16="http://schemas.microsoft.com/office/drawing/2014/main" id="{C9D03C7D-B81E-970A-1517-18C66C14BA76}"/>
              </a:ext>
            </a:extLst>
          </p:cNvPr>
          <p:cNvSpPr/>
          <p:nvPr/>
        </p:nvSpPr>
        <p:spPr>
          <a:xfrm>
            <a:off x="7870179"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即時受け取り</a:t>
            </a:r>
            <a:endParaRPr lang="en-US" sz="700" dirty="0">
              <a:latin typeface="メイリオ" panose="020B0604030504040204" pitchFamily="50" charset="-128"/>
              <a:ea typeface="メイリオ" panose="020B0604030504040204" pitchFamily="50" charset="-128"/>
            </a:endParaRPr>
          </a:p>
        </p:txBody>
      </p:sp>
      <p:sp>
        <p:nvSpPr>
          <p:cNvPr id="401" name="Shape 87">
            <a:extLst>
              <a:ext uri="{FF2B5EF4-FFF2-40B4-BE49-F238E27FC236}">
                <a16:creationId xmlns:a16="http://schemas.microsoft.com/office/drawing/2014/main" id="{5F9AA049-EA0A-0919-98F9-2182FAADD0F3}"/>
              </a:ext>
            </a:extLst>
          </p:cNvPr>
          <p:cNvSpPr/>
          <p:nvPr/>
        </p:nvSpPr>
        <p:spPr>
          <a:xfrm>
            <a:off x="5047731" y="384886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Shape 89">
            <a:extLst>
              <a:ext uri="{FF2B5EF4-FFF2-40B4-BE49-F238E27FC236}">
                <a16:creationId xmlns:a16="http://schemas.microsoft.com/office/drawing/2014/main" id="{994EA064-C509-0D34-2927-FD8920D66D38}"/>
              </a:ext>
            </a:extLst>
          </p:cNvPr>
          <p:cNvSpPr/>
          <p:nvPr/>
        </p:nvSpPr>
        <p:spPr>
          <a:xfrm>
            <a:off x="5157459" y="394030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Text 90">
            <a:extLst>
              <a:ext uri="{FF2B5EF4-FFF2-40B4-BE49-F238E27FC236}">
                <a16:creationId xmlns:a16="http://schemas.microsoft.com/office/drawing/2014/main" id="{81BA2858-4DF2-33F8-E6B3-E47B08169C58}"/>
              </a:ext>
            </a:extLst>
          </p:cNvPr>
          <p:cNvSpPr/>
          <p:nvPr/>
        </p:nvSpPr>
        <p:spPr>
          <a:xfrm>
            <a:off x="5157459" y="394030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3">
            <a:extLst>
              <a:ext uri="{FF2B5EF4-FFF2-40B4-BE49-F238E27FC236}">
                <a16:creationId xmlns:a16="http://schemas.microsoft.com/office/drawing/2014/main" id="{7C039DD3-77AB-DC72-1BF7-6F43484A6F48}"/>
              </a:ext>
            </a:extLst>
          </p:cNvPr>
          <p:cNvSpPr/>
          <p:nvPr/>
        </p:nvSpPr>
        <p:spPr>
          <a:xfrm>
            <a:off x="6419331" y="3940302"/>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「〇〇診断」でゲーム感覚の登録動線を設計</a:t>
            </a:r>
            <a:endParaRPr lang="en-US" sz="1000" dirty="0">
              <a:latin typeface="メイリオ" panose="020B0604030504040204" pitchFamily="50" charset="-128"/>
              <a:ea typeface="メイリオ" panose="020B0604030504040204" pitchFamily="50" charset="-128"/>
            </a:endParaRPr>
          </a:p>
        </p:txBody>
      </p:sp>
      <p:sp>
        <p:nvSpPr>
          <p:cNvPr id="415" name="Text 94">
            <a:extLst>
              <a:ext uri="{FF2B5EF4-FFF2-40B4-BE49-F238E27FC236}">
                <a16:creationId xmlns:a16="http://schemas.microsoft.com/office/drawing/2014/main" id="{DC0D3973-D909-3E0E-0185-8C5F00160F49}"/>
              </a:ext>
            </a:extLst>
          </p:cNvPr>
          <p:cNvSpPr/>
          <p:nvPr/>
        </p:nvSpPr>
        <p:spPr>
          <a:xfrm>
            <a:off x="5157459" y="4269486"/>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「あなたの〇〇タイプ診断」など自分に関係する情報を得られる診断コンテンツをLINE登録の特典に設定。結果表示→そのまま育成配信へ移行。</a:t>
            </a:r>
            <a:endParaRPr lang="en-US" sz="600" dirty="0">
              <a:latin typeface="メイリオ" panose="020B0604030504040204" pitchFamily="50" charset="-128"/>
              <a:ea typeface="メイリオ" panose="020B0604030504040204" pitchFamily="50" charset="-128"/>
            </a:endParaRPr>
          </a:p>
        </p:txBody>
      </p:sp>
      <p:sp>
        <p:nvSpPr>
          <p:cNvPr id="417" name="Shape 95">
            <a:extLst>
              <a:ext uri="{FF2B5EF4-FFF2-40B4-BE49-F238E27FC236}">
                <a16:creationId xmlns:a16="http://schemas.microsoft.com/office/drawing/2014/main" id="{A539ABF7-93E6-0B97-E682-67036D8B4469}"/>
              </a:ext>
            </a:extLst>
          </p:cNvPr>
          <p:cNvSpPr/>
          <p:nvPr/>
        </p:nvSpPr>
        <p:spPr>
          <a:xfrm>
            <a:off x="5139171" y="4616958"/>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19" name="Text 96">
            <a:extLst>
              <a:ext uri="{FF2B5EF4-FFF2-40B4-BE49-F238E27FC236}">
                <a16:creationId xmlns:a16="http://schemas.microsoft.com/office/drawing/2014/main" id="{872D0829-AC14-447F-7459-990C0436BD6F}"/>
              </a:ext>
            </a:extLst>
          </p:cNvPr>
          <p:cNvSpPr/>
          <p:nvPr/>
        </p:nvSpPr>
        <p:spPr>
          <a:xfrm>
            <a:off x="5139171" y="4616958"/>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診断スタート</a:t>
            </a:r>
            <a:endParaRPr lang="en-US" sz="700" dirty="0">
              <a:latin typeface="メイリオ" panose="020B0604030504040204" pitchFamily="50" charset="-128"/>
              <a:ea typeface="メイリオ" panose="020B0604030504040204" pitchFamily="50" charset="-128"/>
            </a:endParaRPr>
          </a:p>
        </p:txBody>
      </p:sp>
      <p:sp>
        <p:nvSpPr>
          <p:cNvPr id="421" name="Shape 97">
            <a:extLst>
              <a:ext uri="{FF2B5EF4-FFF2-40B4-BE49-F238E27FC236}">
                <a16:creationId xmlns:a16="http://schemas.microsoft.com/office/drawing/2014/main" id="{277FEA39-DF85-2BC7-8790-281873782510}"/>
              </a:ext>
            </a:extLst>
          </p:cNvPr>
          <p:cNvSpPr/>
          <p:nvPr/>
        </p:nvSpPr>
        <p:spPr>
          <a:xfrm>
            <a:off x="6413235" y="470839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3" name="Text 98">
            <a:extLst>
              <a:ext uri="{FF2B5EF4-FFF2-40B4-BE49-F238E27FC236}">
                <a16:creationId xmlns:a16="http://schemas.microsoft.com/office/drawing/2014/main" id="{CCEC2CA7-1DA7-3457-DB53-866B5464808A}"/>
              </a:ext>
            </a:extLst>
          </p:cNvPr>
          <p:cNvSpPr/>
          <p:nvPr/>
        </p:nvSpPr>
        <p:spPr>
          <a:xfrm>
            <a:off x="6413235" y="4708398"/>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5" name="Shape 99">
            <a:extLst>
              <a:ext uri="{FF2B5EF4-FFF2-40B4-BE49-F238E27FC236}">
                <a16:creationId xmlns:a16="http://schemas.microsoft.com/office/drawing/2014/main" id="{BEE40DCA-8F8C-5FB8-E003-26C56815916C}"/>
              </a:ext>
            </a:extLst>
          </p:cNvPr>
          <p:cNvSpPr/>
          <p:nvPr/>
        </p:nvSpPr>
        <p:spPr>
          <a:xfrm>
            <a:off x="6504675" y="4616958"/>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7" name="Text 100">
            <a:extLst>
              <a:ext uri="{FF2B5EF4-FFF2-40B4-BE49-F238E27FC236}">
                <a16:creationId xmlns:a16="http://schemas.microsoft.com/office/drawing/2014/main" id="{00D1855F-45CE-D188-2C64-7750B7F10335}"/>
              </a:ext>
            </a:extLst>
          </p:cNvPr>
          <p:cNvSpPr/>
          <p:nvPr/>
        </p:nvSpPr>
        <p:spPr>
          <a:xfrm>
            <a:off x="6504675" y="4616958"/>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429" name="Shape 101">
            <a:extLst>
              <a:ext uri="{FF2B5EF4-FFF2-40B4-BE49-F238E27FC236}">
                <a16:creationId xmlns:a16="http://schemas.microsoft.com/office/drawing/2014/main" id="{BC3DBCCE-C415-FFB9-0EF0-ED016BFACE66}"/>
              </a:ext>
            </a:extLst>
          </p:cNvPr>
          <p:cNvSpPr/>
          <p:nvPr/>
        </p:nvSpPr>
        <p:spPr>
          <a:xfrm>
            <a:off x="7778739" y="470839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1" name="Text 102">
            <a:extLst>
              <a:ext uri="{FF2B5EF4-FFF2-40B4-BE49-F238E27FC236}">
                <a16:creationId xmlns:a16="http://schemas.microsoft.com/office/drawing/2014/main" id="{87E68EDD-1B05-C39E-A803-3CD6952C46E3}"/>
              </a:ext>
            </a:extLst>
          </p:cNvPr>
          <p:cNvSpPr/>
          <p:nvPr/>
        </p:nvSpPr>
        <p:spPr>
          <a:xfrm>
            <a:off x="7778739" y="4708398"/>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3" name="Shape 103">
            <a:extLst>
              <a:ext uri="{FF2B5EF4-FFF2-40B4-BE49-F238E27FC236}">
                <a16:creationId xmlns:a16="http://schemas.microsoft.com/office/drawing/2014/main" id="{75540B87-5EA1-8B70-BE9E-D7CD43DE2F0B}"/>
              </a:ext>
            </a:extLst>
          </p:cNvPr>
          <p:cNvSpPr/>
          <p:nvPr/>
        </p:nvSpPr>
        <p:spPr>
          <a:xfrm>
            <a:off x="7870179" y="4616958"/>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5" name="Text 104">
            <a:extLst>
              <a:ext uri="{FF2B5EF4-FFF2-40B4-BE49-F238E27FC236}">
                <a16:creationId xmlns:a16="http://schemas.microsoft.com/office/drawing/2014/main" id="{D38E76BC-A277-7B9A-A14E-8E7F032F5CF9}"/>
              </a:ext>
            </a:extLst>
          </p:cNvPr>
          <p:cNvSpPr/>
          <p:nvPr/>
        </p:nvSpPr>
        <p:spPr>
          <a:xfrm>
            <a:off x="7870179" y="461695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結果＋ナーチャ</a:t>
            </a:r>
            <a:endParaRPr lang="en-US" sz="700" dirty="0">
              <a:latin typeface="メイリオ" panose="020B0604030504040204" pitchFamily="50" charset="-128"/>
              <a:ea typeface="メイリオ" panose="020B0604030504040204" pitchFamily="50" charset="-128"/>
            </a:endParaRPr>
          </a:p>
        </p:txBody>
      </p:sp>
      <p:sp>
        <p:nvSpPr>
          <p:cNvPr id="437" name="Shape 105">
            <a:extLst>
              <a:ext uri="{FF2B5EF4-FFF2-40B4-BE49-F238E27FC236}">
                <a16:creationId xmlns:a16="http://schemas.microsoft.com/office/drawing/2014/main" id="{7E7D236C-E62B-82AE-1904-7E878C11F436}"/>
              </a:ext>
            </a:extLst>
          </p:cNvPr>
          <p:cNvSpPr/>
          <p:nvPr/>
        </p:nvSpPr>
        <p:spPr>
          <a:xfrm>
            <a:off x="5047731" y="509244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Shape 107">
            <a:extLst>
              <a:ext uri="{FF2B5EF4-FFF2-40B4-BE49-F238E27FC236}">
                <a16:creationId xmlns:a16="http://schemas.microsoft.com/office/drawing/2014/main" id="{11FB9564-FEC8-56EC-F099-43F051A24D1D}"/>
              </a:ext>
            </a:extLst>
          </p:cNvPr>
          <p:cNvSpPr/>
          <p:nvPr/>
        </p:nvSpPr>
        <p:spPr>
          <a:xfrm>
            <a:off x="5157459" y="518388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Text 108">
            <a:extLst>
              <a:ext uri="{FF2B5EF4-FFF2-40B4-BE49-F238E27FC236}">
                <a16:creationId xmlns:a16="http://schemas.microsoft.com/office/drawing/2014/main" id="{F6040C66-355F-8C90-5BE2-53D9C4A42B57}"/>
              </a:ext>
            </a:extLst>
          </p:cNvPr>
          <p:cNvSpPr/>
          <p:nvPr/>
        </p:nvSpPr>
        <p:spPr>
          <a:xfrm>
            <a:off x="5157459" y="5183886"/>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7" name="Text 110">
            <a:extLst>
              <a:ext uri="{FF2B5EF4-FFF2-40B4-BE49-F238E27FC236}">
                <a16:creationId xmlns:a16="http://schemas.microsoft.com/office/drawing/2014/main" id="{1BBCFD40-F618-5A41-391D-5947D86BCCA5}"/>
              </a:ext>
            </a:extLst>
          </p:cNvPr>
          <p:cNvSpPr/>
          <p:nvPr/>
        </p:nvSpPr>
        <p:spPr>
          <a:xfrm>
            <a:off x="5504931" y="5211318"/>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サンクスLINE誘導</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49" name="Text 111">
            <a:extLst>
              <a:ext uri="{FF2B5EF4-FFF2-40B4-BE49-F238E27FC236}">
                <a16:creationId xmlns:a16="http://schemas.microsoft.com/office/drawing/2014/main" id="{4EB6017D-3A77-E9F5-F635-7B6DB13B4131}"/>
              </a:ext>
            </a:extLst>
          </p:cNvPr>
          <p:cNvSpPr/>
          <p:nvPr/>
        </p:nvSpPr>
        <p:spPr>
          <a:xfrm>
            <a:off x="6419331" y="5183886"/>
            <a:ext cx="2798064" cy="256032"/>
          </a:xfrm>
          <a:prstGeom prst="rect">
            <a:avLst/>
          </a:prstGeom>
          <a:noFill/>
          <a:ln/>
        </p:spPr>
        <p:txBody>
          <a:bodyPr wrap="square" lIns="0" tIns="0" rIns="0" bIns="0" rtlCol="0" anchor="ctr"/>
          <a:lstStyle/>
          <a:p>
            <a:pPr marL="0" indent="0">
              <a:buNone/>
            </a:pP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WEBフォームCV後サンクスページでLINE誘導</a:t>
            </a:r>
            <a:endParaRPr lang="en-US" sz="1000" dirty="0">
              <a:latin typeface="メイリオ" panose="020B0604030504040204" pitchFamily="50" charset="-128"/>
              <a:ea typeface="メイリオ" panose="020B0604030504040204" pitchFamily="50" charset="-128"/>
            </a:endParaRPr>
          </a:p>
        </p:txBody>
      </p:sp>
      <p:sp>
        <p:nvSpPr>
          <p:cNvPr id="451" name="Text 112">
            <a:extLst>
              <a:ext uri="{FF2B5EF4-FFF2-40B4-BE49-F238E27FC236}">
                <a16:creationId xmlns:a16="http://schemas.microsoft.com/office/drawing/2014/main" id="{A63DAD2F-DDAE-6E26-0FE7-A71DCF606881}"/>
              </a:ext>
            </a:extLst>
          </p:cNvPr>
          <p:cNvSpPr/>
          <p:nvPr/>
        </p:nvSpPr>
        <p:spPr>
          <a:xfrm>
            <a:off x="5157459" y="5513070"/>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問い合わせや申込のサンクスページ上にLINE追加QRコードを設置。「手続き状況・キャンペーン情報をLINEでお知らせします」という理由付けで登録率を高める。</a:t>
            </a:r>
            <a:endParaRPr lang="en-US" sz="600" dirty="0">
              <a:latin typeface="メイリオ" panose="020B0604030504040204" pitchFamily="50" charset="-128"/>
              <a:ea typeface="メイリオ" panose="020B0604030504040204" pitchFamily="50" charset="-128"/>
            </a:endParaRPr>
          </a:p>
        </p:txBody>
      </p:sp>
      <p:sp>
        <p:nvSpPr>
          <p:cNvPr id="453" name="Shape 113">
            <a:extLst>
              <a:ext uri="{FF2B5EF4-FFF2-40B4-BE49-F238E27FC236}">
                <a16:creationId xmlns:a16="http://schemas.microsoft.com/office/drawing/2014/main" id="{1A747923-8770-D6A4-F82F-4A2F7CF2E59A}"/>
              </a:ext>
            </a:extLst>
          </p:cNvPr>
          <p:cNvSpPr/>
          <p:nvPr/>
        </p:nvSpPr>
        <p:spPr>
          <a:xfrm>
            <a:off x="5139171"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55" name="Text 114">
            <a:extLst>
              <a:ext uri="{FF2B5EF4-FFF2-40B4-BE49-F238E27FC236}">
                <a16:creationId xmlns:a16="http://schemas.microsoft.com/office/drawing/2014/main" id="{C1269C45-D060-14BD-4EA5-EEA9971F9196}"/>
              </a:ext>
            </a:extLst>
          </p:cNvPr>
          <p:cNvSpPr/>
          <p:nvPr/>
        </p:nvSpPr>
        <p:spPr>
          <a:xfrm>
            <a:off x="5139171"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WEBフォームCV</a:t>
            </a:r>
            <a:endParaRPr lang="en-US" sz="700" dirty="0">
              <a:latin typeface="メイリオ" panose="020B0604030504040204" pitchFamily="50" charset="-128"/>
              <a:ea typeface="メイリオ" panose="020B0604030504040204" pitchFamily="50" charset="-128"/>
            </a:endParaRPr>
          </a:p>
        </p:txBody>
      </p:sp>
      <p:sp>
        <p:nvSpPr>
          <p:cNvPr id="457" name="Shape 115">
            <a:extLst>
              <a:ext uri="{FF2B5EF4-FFF2-40B4-BE49-F238E27FC236}">
                <a16:creationId xmlns:a16="http://schemas.microsoft.com/office/drawing/2014/main" id="{FCD11C9D-95DC-CE32-D1D6-7DA9E01A8070}"/>
              </a:ext>
            </a:extLst>
          </p:cNvPr>
          <p:cNvSpPr/>
          <p:nvPr/>
        </p:nvSpPr>
        <p:spPr>
          <a:xfrm>
            <a:off x="6413235" y="59519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9" name="Text 116">
            <a:extLst>
              <a:ext uri="{FF2B5EF4-FFF2-40B4-BE49-F238E27FC236}">
                <a16:creationId xmlns:a16="http://schemas.microsoft.com/office/drawing/2014/main" id="{0CA15731-A766-6C2F-3E49-8EB2B66C2373}"/>
              </a:ext>
            </a:extLst>
          </p:cNvPr>
          <p:cNvSpPr/>
          <p:nvPr/>
        </p:nvSpPr>
        <p:spPr>
          <a:xfrm>
            <a:off x="6413235" y="5951982"/>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1" name="Shape 117">
            <a:extLst>
              <a:ext uri="{FF2B5EF4-FFF2-40B4-BE49-F238E27FC236}">
                <a16:creationId xmlns:a16="http://schemas.microsoft.com/office/drawing/2014/main" id="{06D1EAE5-1FBE-2FD3-053D-8C52C5C51D7E}"/>
              </a:ext>
            </a:extLst>
          </p:cNvPr>
          <p:cNvSpPr/>
          <p:nvPr/>
        </p:nvSpPr>
        <p:spPr>
          <a:xfrm>
            <a:off x="6504675"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3" name="Text 118">
            <a:extLst>
              <a:ext uri="{FF2B5EF4-FFF2-40B4-BE49-F238E27FC236}">
                <a16:creationId xmlns:a16="http://schemas.microsoft.com/office/drawing/2014/main" id="{6E95A348-95C2-C3E1-0F40-D8D0B9C5F18E}"/>
              </a:ext>
            </a:extLst>
          </p:cNvPr>
          <p:cNvSpPr/>
          <p:nvPr/>
        </p:nvSpPr>
        <p:spPr>
          <a:xfrm>
            <a:off x="6504675"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サンクスページ</a:t>
            </a:r>
            <a:endParaRPr lang="en-US" sz="700" dirty="0">
              <a:latin typeface="メイリオ" panose="020B0604030504040204" pitchFamily="50" charset="-128"/>
              <a:ea typeface="メイリオ" panose="020B0604030504040204" pitchFamily="50" charset="-128"/>
            </a:endParaRPr>
          </a:p>
        </p:txBody>
      </p:sp>
      <p:sp>
        <p:nvSpPr>
          <p:cNvPr id="465" name="Shape 119">
            <a:extLst>
              <a:ext uri="{FF2B5EF4-FFF2-40B4-BE49-F238E27FC236}">
                <a16:creationId xmlns:a16="http://schemas.microsoft.com/office/drawing/2014/main" id="{052DAA84-9922-E532-C742-794FAF42CC11}"/>
              </a:ext>
            </a:extLst>
          </p:cNvPr>
          <p:cNvSpPr/>
          <p:nvPr/>
        </p:nvSpPr>
        <p:spPr>
          <a:xfrm>
            <a:off x="7778739" y="59519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7" name="Text 120">
            <a:extLst>
              <a:ext uri="{FF2B5EF4-FFF2-40B4-BE49-F238E27FC236}">
                <a16:creationId xmlns:a16="http://schemas.microsoft.com/office/drawing/2014/main" id="{6BC630B4-8A8E-3272-A831-973D660DF9AA}"/>
              </a:ext>
            </a:extLst>
          </p:cNvPr>
          <p:cNvSpPr/>
          <p:nvPr/>
        </p:nvSpPr>
        <p:spPr>
          <a:xfrm>
            <a:off x="7778739" y="5951982"/>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9" name="Shape 121">
            <a:extLst>
              <a:ext uri="{FF2B5EF4-FFF2-40B4-BE49-F238E27FC236}">
                <a16:creationId xmlns:a16="http://schemas.microsoft.com/office/drawing/2014/main" id="{255DDAF0-4E72-66D8-778E-24CDC5A34141}"/>
              </a:ext>
            </a:extLst>
          </p:cNvPr>
          <p:cNvSpPr/>
          <p:nvPr/>
        </p:nvSpPr>
        <p:spPr>
          <a:xfrm>
            <a:off x="7870179"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71" name="Text 122">
            <a:extLst>
              <a:ext uri="{FF2B5EF4-FFF2-40B4-BE49-F238E27FC236}">
                <a16:creationId xmlns:a16="http://schemas.microsoft.com/office/drawing/2014/main" id="{BC85E7AC-9264-BDB0-801D-8FD55C9ABAC6}"/>
              </a:ext>
            </a:extLst>
          </p:cNvPr>
          <p:cNvSpPr/>
          <p:nvPr/>
        </p:nvSpPr>
        <p:spPr>
          <a:xfrm>
            <a:off x="7870179"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LINE友だち追加</a:t>
            </a:r>
            <a:endParaRPr lang="en-US" sz="700" dirty="0">
              <a:latin typeface="メイリオ" panose="020B0604030504040204" pitchFamily="50" charset="-128"/>
              <a:ea typeface="メイリオ" panose="020B0604030504040204" pitchFamily="50" charset="-128"/>
            </a:endParaRPr>
          </a:p>
        </p:txBody>
      </p:sp>
      <p:sp>
        <p:nvSpPr>
          <p:cNvPr id="5" name="Shape 19">
            <a:extLst>
              <a:ext uri="{FF2B5EF4-FFF2-40B4-BE49-F238E27FC236}">
                <a16:creationId xmlns:a16="http://schemas.microsoft.com/office/drawing/2014/main" id="{779670CC-3A4B-99AD-47F8-99C1DC7CC783}"/>
              </a:ext>
            </a:extLst>
          </p:cNvPr>
          <p:cNvSpPr/>
          <p:nvPr/>
        </p:nvSpPr>
        <p:spPr>
          <a:xfrm>
            <a:off x="1060947" y="2741125"/>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7" name="Text 20">
            <a:extLst>
              <a:ext uri="{FF2B5EF4-FFF2-40B4-BE49-F238E27FC236}">
                <a16:creationId xmlns:a16="http://schemas.microsoft.com/office/drawing/2014/main" id="{1DB2C24D-FB84-85D3-0975-0F08103A2C4E}"/>
              </a:ext>
            </a:extLst>
          </p:cNvPr>
          <p:cNvSpPr/>
          <p:nvPr/>
        </p:nvSpPr>
        <p:spPr>
          <a:xfrm>
            <a:off x="1060947" y="2741125"/>
            <a:ext cx="859536" cy="201168"/>
          </a:xfrm>
          <a:prstGeom prst="rect">
            <a:avLst/>
          </a:prstGeom>
          <a:noFill/>
          <a:ln/>
        </p:spPr>
        <p:txBody>
          <a:bodyPr wrap="square" lIns="0" tIns="0" rIns="0" bIns="0" rtlCol="0" anchor="ctr"/>
          <a:lstStyle/>
          <a:p>
            <a:pPr algn="ctr"/>
            <a:r>
              <a:rPr lang="en-US" altLang="ja-JP" sz="700" b="1" dirty="0" err="1">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altLang="ja-JP" sz="700" dirty="0">
              <a:solidFill>
                <a:srgbClr val="FDFDFD"/>
              </a:solidFill>
              <a:latin typeface="メイリオ" panose="020B0604030504040204" pitchFamily="50" charset="-128"/>
              <a:ea typeface="メイリオ" panose="020B0604030504040204" pitchFamily="50" charset="-128"/>
            </a:endParaRPr>
          </a:p>
        </p:txBody>
      </p:sp>
      <p:sp>
        <p:nvSpPr>
          <p:cNvPr id="9" name="Shape 37">
            <a:extLst>
              <a:ext uri="{FF2B5EF4-FFF2-40B4-BE49-F238E27FC236}">
                <a16:creationId xmlns:a16="http://schemas.microsoft.com/office/drawing/2014/main" id="{5F39079C-5F31-C56D-AD14-1DC3C7AEDE30}"/>
              </a:ext>
            </a:extLst>
          </p:cNvPr>
          <p:cNvSpPr/>
          <p:nvPr/>
        </p:nvSpPr>
        <p:spPr>
          <a:xfrm>
            <a:off x="1060947" y="3984709"/>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11" name="Text 38">
            <a:extLst>
              <a:ext uri="{FF2B5EF4-FFF2-40B4-BE49-F238E27FC236}">
                <a16:creationId xmlns:a16="http://schemas.microsoft.com/office/drawing/2014/main" id="{9FE95EAB-22DB-4E55-885E-2DC8280EB9CD}"/>
              </a:ext>
            </a:extLst>
          </p:cNvPr>
          <p:cNvSpPr/>
          <p:nvPr/>
        </p:nvSpPr>
        <p:spPr>
          <a:xfrm>
            <a:off x="1060947" y="3984709"/>
            <a:ext cx="859536" cy="201168"/>
          </a:xfrm>
          <a:prstGeom prst="rect">
            <a:avLst/>
          </a:prstGeom>
          <a:solidFill>
            <a:schemeClr val="tx2"/>
          </a:solidFill>
          <a:ln/>
        </p:spPr>
        <p:txBody>
          <a:bodyPr wrap="square" lIns="0" tIns="0" rIns="0" bIns="0" rtlCol="0" anchor="ctr"/>
          <a:lstStyle/>
          <a:p>
            <a:pPr marL="0" indent="0" algn="ctr">
              <a:buNone/>
            </a:pPr>
            <a:r>
              <a:rPr lang="ja-JP" altLang="en-US" sz="700" dirty="0">
                <a:solidFill>
                  <a:srgbClr val="FDFDFD"/>
                </a:solidFill>
                <a:latin typeface="メイリオ" panose="020B0604030504040204" pitchFamily="50" charset="-128"/>
                <a:ea typeface="メイリオ" panose="020B0604030504040204" pitchFamily="50" charset="-128"/>
              </a:rPr>
              <a:t>離脱防止</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13" name="Shape 55">
            <a:extLst>
              <a:ext uri="{FF2B5EF4-FFF2-40B4-BE49-F238E27FC236}">
                <a16:creationId xmlns:a16="http://schemas.microsoft.com/office/drawing/2014/main" id="{356ADFC3-885B-BB77-EA21-6C4F3B80B276}"/>
              </a:ext>
            </a:extLst>
          </p:cNvPr>
          <p:cNvSpPr/>
          <p:nvPr/>
        </p:nvSpPr>
        <p:spPr>
          <a:xfrm>
            <a:off x="1060947" y="5228293"/>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19" name="Text 92">
            <a:extLst>
              <a:ext uri="{FF2B5EF4-FFF2-40B4-BE49-F238E27FC236}">
                <a16:creationId xmlns:a16="http://schemas.microsoft.com/office/drawing/2014/main" id="{859EC5EC-52A5-A121-F295-214BCB4D4C62}"/>
              </a:ext>
            </a:extLst>
          </p:cNvPr>
          <p:cNvSpPr/>
          <p:nvPr/>
        </p:nvSpPr>
        <p:spPr>
          <a:xfrm>
            <a:off x="5504931" y="3984709"/>
            <a:ext cx="859536" cy="201168"/>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21" name="Shape 109">
            <a:extLst>
              <a:ext uri="{FF2B5EF4-FFF2-40B4-BE49-F238E27FC236}">
                <a16:creationId xmlns:a16="http://schemas.microsoft.com/office/drawing/2014/main" id="{911D55AD-ECC0-DC10-3F42-35787A02D284}"/>
              </a:ext>
            </a:extLst>
          </p:cNvPr>
          <p:cNvSpPr/>
          <p:nvPr/>
        </p:nvSpPr>
        <p:spPr>
          <a:xfrm>
            <a:off x="5504931" y="5228293"/>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3" name="Text 110">
            <a:extLst>
              <a:ext uri="{FF2B5EF4-FFF2-40B4-BE49-F238E27FC236}">
                <a16:creationId xmlns:a16="http://schemas.microsoft.com/office/drawing/2014/main" id="{EDD9FC5D-F103-9D3F-47C3-8F954172AE95}"/>
              </a:ext>
            </a:extLst>
          </p:cNvPr>
          <p:cNvSpPr/>
          <p:nvPr/>
        </p:nvSpPr>
        <p:spPr>
          <a:xfrm>
            <a:off x="5504931" y="5228293"/>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サンクス</a:t>
            </a:r>
            <a:r>
              <a:rPr lang="en-US" altLang="ja-JP" sz="700" b="1" dirty="0">
                <a:solidFill>
                  <a:srgbClr val="FDFDFD"/>
                </a:solidFill>
                <a:latin typeface="メイリオ" panose="020B0604030504040204" pitchFamily="50" charset="-128"/>
                <a:ea typeface="メイリオ" panose="020B0604030504040204" pitchFamily="50" charset="-128"/>
                <a:cs typeface="Calibri" pitchFamily="34" charset="-120"/>
              </a:rPr>
              <a:t>LINE</a:t>
            </a: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誘導</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5" name="Text 110">
            <a:extLst>
              <a:ext uri="{FF2B5EF4-FFF2-40B4-BE49-F238E27FC236}">
                <a16:creationId xmlns:a16="http://schemas.microsoft.com/office/drawing/2014/main" id="{E8EED7F4-BAE1-D41E-67C4-68F570C48388}"/>
              </a:ext>
            </a:extLst>
          </p:cNvPr>
          <p:cNvSpPr/>
          <p:nvPr/>
        </p:nvSpPr>
        <p:spPr>
          <a:xfrm>
            <a:off x="5504931" y="3993853"/>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rPr>
              <a:t>診断コンテンツ</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27" name="Text 110">
            <a:extLst>
              <a:ext uri="{FF2B5EF4-FFF2-40B4-BE49-F238E27FC236}">
                <a16:creationId xmlns:a16="http://schemas.microsoft.com/office/drawing/2014/main" id="{28C48291-9255-498E-EA09-1FE91DCD196F}"/>
              </a:ext>
            </a:extLst>
          </p:cNvPr>
          <p:cNvSpPr/>
          <p:nvPr/>
        </p:nvSpPr>
        <p:spPr>
          <a:xfrm>
            <a:off x="1060947" y="5226218"/>
            <a:ext cx="859536" cy="201168"/>
          </a:xfrm>
          <a:prstGeom prst="rect">
            <a:avLst/>
          </a:prstGeom>
          <a:solidFill>
            <a:schemeClr val="tx2"/>
          </a:solidFill>
          <a:ln/>
        </p:spPr>
        <p:txBody>
          <a:bodyPr wrap="square" lIns="0" tIns="0" rIns="0" bIns="0" rtlCol="0" anchor="ctr"/>
          <a:lstStyle/>
          <a:p>
            <a:pPr marL="0" indent="0" algn="ctr">
              <a:buNone/>
            </a:pPr>
            <a:r>
              <a:rPr lang="en-US" altLang="ja-JP" sz="700" b="1" dirty="0">
                <a:solidFill>
                  <a:srgbClr val="FDFDFD"/>
                </a:solidFill>
                <a:latin typeface="メイリオ" panose="020B0604030504040204" pitchFamily="50" charset="-128"/>
                <a:ea typeface="メイリオ" panose="020B0604030504040204" pitchFamily="50" charset="-128"/>
                <a:cs typeface="Calibri" pitchFamily="34" charset="-120"/>
              </a:rPr>
              <a:t>LINE</a:t>
            </a: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9" name="Text 38">
            <a:extLst>
              <a:ext uri="{FF2B5EF4-FFF2-40B4-BE49-F238E27FC236}">
                <a16:creationId xmlns:a16="http://schemas.microsoft.com/office/drawing/2014/main" id="{0AAF9C38-B88A-AA3E-E296-3AB0BC76B93B}"/>
              </a:ext>
            </a:extLst>
          </p:cNvPr>
          <p:cNvSpPr/>
          <p:nvPr/>
        </p:nvSpPr>
        <p:spPr>
          <a:xfrm>
            <a:off x="1060947" y="2739050"/>
            <a:ext cx="859536" cy="201168"/>
          </a:xfrm>
          <a:prstGeom prst="rect">
            <a:avLst/>
          </a:prstGeom>
          <a:solidFill>
            <a:schemeClr val="tx2"/>
          </a:solidFill>
          <a:ln/>
        </p:spPr>
        <p:txBody>
          <a:bodyPr wrap="square" lIns="0" tIns="0" rIns="0" bIns="0" rtlCol="0" anchor="ctr"/>
          <a:lstStyle/>
          <a:p>
            <a:pPr marL="0" indent="0" algn="ctr">
              <a:buNone/>
            </a:pPr>
            <a:r>
              <a:rPr lang="ja-JP" altLang="en-US" sz="700" dirty="0">
                <a:solidFill>
                  <a:srgbClr val="FDFDFD"/>
                </a:solidFill>
                <a:latin typeface="メイリオ" panose="020B0604030504040204" pitchFamily="50" charset="-128"/>
                <a:ea typeface="メイリオ" panose="020B0604030504040204" pitchFamily="50" charset="-128"/>
              </a:rPr>
              <a:t>流入</a:t>
            </a:r>
            <a:r>
              <a:rPr lang="en-US" altLang="ja-JP" sz="700" dirty="0">
                <a:solidFill>
                  <a:srgbClr val="FDFDFD"/>
                </a:solidFill>
                <a:latin typeface="メイリオ" panose="020B0604030504040204" pitchFamily="50" charset="-128"/>
                <a:ea typeface="メイリオ" panose="020B0604030504040204" pitchFamily="50" charset="-128"/>
              </a:rPr>
              <a:t>/</a:t>
            </a:r>
            <a:r>
              <a:rPr lang="ja-JP" altLang="en-US" sz="700" dirty="0">
                <a:solidFill>
                  <a:srgbClr val="FDFDFD"/>
                </a:solidFill>
                <a:latin typeface="メイリオ" panose="020B0604030504040204" pitchFamily="50" charset="-128"/>
                <a:ea typeface="メイリオ" panose="020B0604030504040204" pitchFamily="50" charset="-128"/>
              </a:rPr>
              <a:t>集客チャネル</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1" name="Text 74">
            <a:extLst>
              <a:ext uri="{FF2B5EF4-FFF2-40B4-BE49-F238E27FC236}">
                <a16:creationId xmlns:a16="http://schemas.microsoft.com/office/drawing/2014/main" id="{A540ADCF-43EA-1930-0DAD-09ED3B6411D9}"/>
              </a:ext>
            </a:extLst>
          </p:cNvPr>
          <p:cNvSpPr/>
          <p:nvPr/>
        </p:nvSpPr>
        <p:spPr>
          <a:xfrm>
            <a:off x="5504931" y="2741125"/>
            <a:ext cx="859536" cy="201168"/>
          </a:xfrm>
          <a:prstGeom prst="rect">
            <a:avLst/>
          </a:prstGeom>
          <a:solidFill>
            <a:schemeClr val="tx2"/>
          </a:solidFill>
          <a:ln/>
        </p:spPr>
        <p:txBody>
          <a:bodyPr wrap="square" lIns="0" tIns="0" rIns="0" bIns="0" rtlCol="0" anchor="ctr"/>
          <a:lstStyle/>
          <a:p>
            <a:pPr marL="0" indent="0" algn="ctr">
              <a:buNone/>
            </a:pPr>
            <a:r>
              <a:rPr lang="ja-JP" altLang="en-US" sz="700" dirty="0">
                <a:solidFill>
                  <a:srgbClr val="FDFDFD"/>
                </a:solidFill>
                <a:latin typeface="メイリオ" panose="020B0604030504040204" pitchFamily="50" charset="-128"/>
                <a:ea typeface="メイリオ" panose="020B0604030504040204" pitchFamily="50" charset="-128"/>
              </a:rPr>
              <a:t>無料特典</a:t>
            </a:r>
            <a:endParaRPr lang="en-US" sz="700"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561967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0F9E9-3239-4F30-04FA-62A41B30208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0640CA-DB77-D06C-8E9B-5D428526E6D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C5AA372-6333-C3A6-0175-98D1ECE0C2E1}"/>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想定：過去の保有リストに対して、再度</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を促す動線を設計</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（未アクションユーザーの再アクション）</a:t>
            </a:r>
            <a:endPar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247" name="Shape 8">
            <a:extLst>
              <a:ext uri="{FF2B5EF4-FFF2-40B4-BE49-F238E27FC236}">
                <a16:creationId xmlns:a16="http://schemas.microsoft.com/office/drawing/2014/main" id="{0799E4C9-4772-6D53-7617-85D7F0745D89}"/>
              </a:ext>
            </a:extLst>
          </p:cNvPr>
          <p:cNvSpPr/>
          <p:nvPr/>
        </p:nvSpPr>
        <p:spPr>
          <a:xfrm>
            <a:off x="603747" y="2204952"/>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9" name="Text 9">
            <a:extLst>
              <a:ext uri="{FF2B5EF4-FFF2-40B4-BE49-F238E27FC236}">
                <a16:creationId xmlns:a16="http://schemas.microsoft.com/office/drawing/2014/main" id="{503999D2-F9B7-AB8E-4554-F51FB54870FC}"/>
              </a:ext>
            </a:extLst>
          </p:cNvPr>
          <p:cNvSpPr/>
          <p:nvPr/>
        </p:nvSpPr>
        <p:spPr>
          <a:xfrm>
            <a:off x="731763" y="2187977"/>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パターン A　タイミング設計</a:t>
            </a:r>
            <a:endParaRPr lang="en-US" sz="1000" dirty="0">
              <a:latin typeface="メイリオ" panose="020B0604030504040204" pitchFamily="50" charset="-128"/>
              <a:ea typeface="メイリオ" panose="020B0604030504040204" pitchFamily="50" charset="-128"/>
            </a:endParaRPr>
          </a:p>
        </p:txBody>
      </p:sp>
      <p:sp>
        <p:nvSpPr>
          <p:cNvPr id="251" name="Text 10">
            <a:extLst>
              <a:ext uri="{FF2B5EF4-FFF2-40B4-BE49-F238E27FC236}">
                <a16:creationId xmlns:a16="http://schemas.microsoft.com/office/drawing/2014/main" id="{7868CE86-40F0-7280-8274-0AE354E0F621}"/>
              </a:ext>
            </a:extLst>
          </p:cNvPr>
          <p:cNvSpPr/>
          <p:nvPr/>
        </p:nvSpPr>
        <p:spPr>
          <a:xfrm>
            <a:off x="3214016" y="2224556"/>
            <a:ext cx="1669123"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「今動きやすい理由」を作って再接触</a:t>
            </a:r>
            <a:endParaRPr lang="en-US" sz="700" dirty="0">
              <a:latin typeface="メイリオ" panose="020B0604030504040204" pitchFamily="50" charset="-128"/>
              <a:ea typeface="メイリオ" panose="020B0604030504040204" pitchFamily="50" charset="-128"/>
            </a:endParaRPr>
          </a:p>
        </p:txBody>
      </p:sp>
      <p:sp>
        <p:nvSpPr>
          <p:cNvPr id="253" name="Shape 11">
            <a:extLst>
              <a:ext uri="{FF2B5EF4-FFF2-40B4-BE49-F238E27FC236}">
                <a16:creationId xmlns:a16="http://schemas.microsoft.com/office/drawing/2014/main" id="{5A6F33C8-39E2-1FDF-60C3-CAE6BB50B2E0}"/>
              </a:ext>
            </a:extLst>
          </p:cNvPr>
          <p:cNvSpPr/>
          <p:nvPr/>
        </p:nvSpPr>
        <p:spPr>
          <a:xfrm>
            <a:off x="5047731" y="2204952"/>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5" name="Text 12">
            <a:extLst>
              <a:ext uri="{FF2B5EF4-FFF2-40B4-BE49-F238E27FC236}">
                <a16:creationId xmlns:a16="http://schemas.microsoft.com/office/drawing/2014/main" id="{E483BA7C-D180-763E-0C14-8368B0CD432E}"/>
              </a:ext>
            </a:extLst>
          </p:cNvPr>
          <p:cNvSpPr/>
          <p:nvPr/>
        </p:nvSpPr>
        <p:spPr>
          <a:xfrm>
            <a:off x="5175747" y="2187977"/>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パターン B　再接触設計</a:t>
            </a:r>
            <a:endParaRPr lang="en-US" sz="1000" dirty="0">
              <a:latin typeface="メイリオ" panose="020B0604030504040204" pitchFamily="50" charset="-128"/>
              <a:ea typeface="メイリオ" panose="020B0604030504040204" pitchFamily="50" charset="-128"/>
            </a:endParaRPr>
          </a:p>
        </p:txBody>
      </p:sp>
      <p:sp>
        <p:nvSpPr>
          <p:cNvPr id="257" name="Text 13">
            <a:extLst>
              <a:ext uri="{FF2B5EF4-FFF2-40B4-BE49-F238E27FC236}">
                <a16:creationId xmlns:a16="http://schemas.microsoft.com/office/drawing/2014/main" id="{FDF61AEE-BD8E-57C5-25B1-5985C67AE181}"/>
              </a:ext>
            </a:extLst>
          </p:cNvPr>
          <p:cNvSpPr/>
          <p:nvPr/>
        </p:nvSpPr>
        <p:spPr>
          <a:xfrm>
            <a:off x="7658000" y="2224556"/>
            <a:ext cx="1669123" cy="182880"/>
          </a:xfrm>
          <a:prstGeom prst="rect">
            <a:avLst/>
          </a:prstGeom>
          <a:noFill/>
          <a:ln/>
        </p:spPr>
        <p:txBody>
          <a:bodyPr wrap="square" lIns="0" tIns="0" rIns="0" bIns="0" rtlCol="0" anchor="ctr"/>
          <a:lstStyle/>
          <a:p>
            <a:pPr marL="0" indent="0">
              <a:buNone/>
            </a:pPr>
            <a:r>
              <a:rPr lang="ja-JP" altLang="en-US" sz="700" i="1" dirty="0">
                <a:solidFill>
                  <a:srgbClr val="CADCF2"/>
                </a:solidFill>
                <a:latin typeface="メイリオ" panose="020B0604030504040204" pitchFamily="50" charset="-128"/>
                <a:ea typeface="メイリオ" panose="020B0604030504040204" pitchFamily="50" charset="-128"/>
                <a:cs typeface="Calibri" pitchFamily="34" charset="-120"/>
              </a:rPr>
              <a:t>休眠</a:t>
            </a:r>
            <a:r>
              <a:rPr lang="en-US" sz="700" i="1" dirty="0" err="1">
                <a:solidFill>
                  <a:srgbClr val="CADCF2"/>
                </a:solidFill>
                <a:latin typeface="メイリオ" panose="020B0604030504040204" pitchFamily="50" charset="-128"/>
                <a:ea typeface="メイリオ" panose="020B0604030504040204" pitchFamily="50" charset="-128"/>
                <a:cs typeface="Calibri" pitchFamily="34" charset="-120"/>
              </a:rPr>
              <a:t>ユーザーを起こす動線</a:t>
            </a:r>
            <a:endParaRPr lang="en-US" sz="700" dirty="0">
              <a:latin typeface="メイリオ" panose="020B0604030504040204" pitchFamily="50" charset="-128"/>
              <a:ea typeface="メイリオ" panose="020B0604030504040204" pitchFamily="50" charset="-128"/>
            </a:endParaRPr>
          </a:p>
        </p:txBody>
      </p:sp>
      <p:sp>
        <p:nvSpPr>
          <p:cNvPr id="259" name="Shape 15">
            <a:extLst>
              <a:ext uri="{FF2B5EF4-FFF2-40B4-BE49-F238E27FC236}">
                <a16:creationId xmlns:a16="http://schemas.microsoft.com/office/drawing/2014/main" id="{4CD9286D-9F08-88C6-E014-06303CCE918A}"/>
              </a:ext>
            </a:extLst>
          </p:cNvPr>
          <p:cNvSpPr/>
          <p:nvPr/>
        </p:nvSpPr>
        <p:spPr>
          <a:xfrm>
            <a:off x="603747" y="2622253"/>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Shape 17">
            <a:extLst>
              <a:ext uri="{FF2B5EF4-FFF2-40B4-BE49-F238E27FC236}">
                <a16:creationId xmlns:a16="http://schemas.microsoft.com/office/drawing/2014/main" id="{89F06007-1636-DBF8-2A66-6F5D4D265EED}"/>
              </a:ext>
            </a:extLst>
          </p:cNvPr>
          <p:cNvSpPr/>
          <p:nvPr/>
        </p:nvSpPr>
        <p:spPr>
          <a:xfrm>
            <a:off x="713475" y="271369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5" name="Text 18">
            <a:extLst>
              <a:ext uri="{FF2B5EF4-FFF2-40B4-BE49-F238E27FC236}">
                <a16:creationId xmlns:a16="http://schemas.microsoft.com/office/drawing/2014/main" id="{38635304-800A-B1D2-8097-4F4856E2C577}"/>
              </a:ext>
            </a:extLst>
          </p:cNvPr>
          <p:cNvSpPr/>
          <p:nvPr/>
        </p:nvSpPr>
        <p:spPr>
          <a:xfrm>
            <a:off x="713475" y="2713693"/>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Shape 19">
            <a:extLst>
              <a:ext uri="{FF2B5EF4-FFF2-40B4-BE49-F238E27FC236}">
                <a16:creationId xmlns:a16="http://schemas.microsoft.com/office/drawing/2014/main" id="{4D46F564-C151-62CF-8B30-E68A1621865C}"/>
              </a:ext>
            </a:extLst>
          </p:cNvPr>
          <p:cNvSpPr/>
          <p:nvPr/>
        </p:nvSpPr>
        <p:spPr>
          <a:xfrm>
            <a:off x="1060947" y="2741125"/>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269" name="Text 20">
            <a:extLst>
              <a:ext uri="{FF2B5EF4-FFF2-40B4-BE49-F238E27FC236}">
                <a16:creationId xmlns:a16="http://schemas.microsoft.com/office/drawing/2014/main" id="{D9E0431F-47A8-8AC8-E983-9F1E51409534}"/>
              </a:ext>
            </a:extLst>
          </p:cNvPr>
          <p:cNvSpPr/>
          <p:nvPr/>
        </p:nvSpPr>
        <p:spPr>
          <a:xfrm>
            <a:off x="1060947" y="2741125"/>
            <a:ext cx="859536" cy="201168"/>
          </a:xfrm>
          <a:prstGeom prst="rect">
            <a:avLst/>
          </a:prstGeom>
          <a:noFill/>
          <a:ln/>
        </p:spPr>
        <p:txBody>
          <a:bodyPr wrap="square" lIns="0" tIns="0" rIns="0" bIns="0" rtlCol="0" anchor="ctr"/>
          <a:lstStyle/>
          <a:p>
            <a:pPr algn="ctr"/>
            <a:r>
              <a:rPr lang="en-US" altLang="ja-JP" sz="700" b="1" dirty="0" err="1">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altLang="ja-JP" sz="700" dirty="0">
              <a:solidFill>
                <a:srgbClr val="FDFDFD"/>
              </a:solidFill>
              <a:latin typeface="メイリオ" panose="020B0604030504040204" pitchFamily="50" charset="-128"/>
              <a:ea typeface="メイリオ" panose="020B0604030504040204" pitchFamily="50" charset="-128"/>
            </a:endParaRPr>
          </a:p>
        </p:txBody>
      </p:sp>
      <p:sp>
        <p:nvSpPr>
          <p:cNvPr id="271" name="Text 21">
            <a:extLst>
              <a:ext uri="{FF2B5EF4-FFF2-40B4-BE49-F238E27FC236}">
                <a16:creationId xmlns:a16="http://schemas.microsoft.com/office/drawing/2014/main" id="{0A469BFD-45E9-8234-0B4E-FCBD032981EA}"/>
              </a:ext>
            </a:extLst>
          </p:cNvPr>
          <p:cNvSpPr/>
          <p:nvPr/>
        </p:nvSpPr>
        <p:spPr>
          <a:xfrm>
            <a:off x="1975347" y="2713693"/>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通知メッセで保有リストを一括再接触</a:t>
            </a:r>
            <a:endParaRPr lang="en-US" sz="1000" dirty="0">
              <a:latin typeface="メイリオ" panose="020B0604030504040204" pitchFamily="50" charset="-128"/>
              <a:ea typeface="メイリオ" panose="020B0604030504040204" pitchFamily="50" charset="-128"/>
            </a:endParaRPr>
          </a:p>
        </p:txBody>
      </p:sp>
      <p:sp>
        <p:nvSpPr>
          <p:cNvPr id="273" name="Text 22">
            <a:extLst>
              <a:ext uri="{FF2B5EF4-FFF2-40B4-BE49-F238E27FC236}">
                <a16:creationId xmlns:a16="http://schemas.microsoft.com/office/drawing/2014/main" id="{EFC13B7C-7CC2-B883-A014-EB9039ADFA69}"/>
              </a:ext>
            </a:extLst>
          </p:cNvPr>
          <p:cNvSpPr/>
          <p:nvPr/>
        </p:nvSpPr>
        <p:spPr>
          <a:xfrm>
            <a:off x="713475" y="3042877"/>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メルマガ・テレマの既存リストにLINE移行キャンペーンを配信。「LINE登録でXXXプレゼント」などの特典で現役のLINEリストに転換し、再ナーチャリングを開始する。</a:t>
            </a:r>
            <a:endParaRPr lang="en-US" sz="600" dirty="0">
              <a:latin typeface="メイリオ" panose="020B0604030504040204" pitchFamily="50" charset="-128"/>
              <a:ea typeface="メイリオ" panose="020B0604030504040204" pitchFamily="50" charset="-128"/>
            </a:endParaRPr>
          </a:p>
        </p:txBody>
      </p:sp>
      <p:sp>
        <p:nvSpPr>
          <p:cNvPr id="275" name="Shape 23">
            <a:extLst>
              <a:ext uri="{FF2B5EF4-FFF2-40B4-BE49-F238E27FC236}">
                <a16:creationId xmlns:a16="http://schemas.microsoft.com/office/drawing/2014/main" id="{08872876-56FF-B053-724C-EA829FBD2859}"/>
              </a:ext>
            </a:extLst>
          </p:cNvPr>
          <p:cNvSpPr/>
          <p:nvPr/>
        </p:nvSpPr>
        <p:spPr>
          <a:xfrm>
            <a:off x="695187" y="3390349"/>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4">
            <a:extLst>
              <a:ext uri="{FF2B5EF4-FFF2-40B4-BE49-F238E27FC236}">
                <a16:creationId xmlns:a16="http://schemas.microsoft.com/office/drawing/2014/main" id="{AD668F19-8AF9-40E5-B252-5466AAC211D4}"/>
              </a:ext>
            </a:extLst>
          </p:cNvPr>
          <p:cNvSpPr/>
          <p:nvPr/>
        </p:nvSpPr>
        <p:spPr>
          <a:xfrm>
            <a:off x="695187" y="339034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既存リスト</a:t>
            </a:r>
            <a:endParaRPr lang="en-US" sz="700" dirty="0">
              <a:latin typeface="メイリオ" panose="020B0604030504040204" pitchFamily="50" charset="-128"/>
              <a:ea typeface="メイリオ" panose="020B0604030504040204" pitchFamily="50" charset="-128"/>
            </a:endParaRPr>
          </a:p>
        </p:txBody>
      </p:sp>
      <p:sp>
        <p:nvSpPr>
          <p:cNvPr id="279" name="Shape 25">
            <a:extLst>
              <a:ext uri="{FF2B5EF4-FFF2-40B4-BE49-F238E27FC236}">
                <a16:creationId xmlns:a16="http://schemas.microsoft.com/office/drawing/2014/main" id="{53FD5EF2-15D7-6676-A293-790E6A49DF58}"/>
              </a:ext>
            </a:extLst>
          </p:cNvPr>
          <p:cNvSpPr/>
          <p:nvPr/>
        </p:nvSpPr>
        <p:spPr>
          <a:xfrm>
            <a:off x="1969251" y="348178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1" name="Text 26">
            <a:extLst>
              <a:ext uri="{FF2B5EF4-FFF2-40B4-BE49-F238E27FC236}">
                <a16:creationId xmlns:a16="http://schemas.microsoft.com/office/drawing/2014/main" id="{F355D7F8-8131-3548-836D-B163B9DE9373}"/>
              </a:ext>
            </a:extLst>
          </p:cNvPr>
          <p:cNvSpPr/>
          <p:nvPr/>
        </p:nvSpPr>
        <p:spPr>
          <a:xfrm>
            <a:off x="1969251" y="348178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3" name="Shape 27">
            <a:extLst>
              <a:ext uri="{FF2B5EF4-FFF2-40B4-BE49-F238E27FC236}">
                <a16:creationId xmlns:a16="http://schemas.microsoft.com/office/drawing/2014/main" id="{29B4E427-F660-12E7-1167-8F6AE81B2CFA}"/>
              </a:ext>
            </a:extLst>
          </p:cNvPr>
          <p:cNvSpPr/>
          <p:nvPr/>
        </p:nvSpPr>
        <p:spPr>
          <a:xfrm>
            <a:off x="2060691" y="3390349"/>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28">
            <a:extLst>
              <a:ext uri="{FF2B5EF4-FFF2-40B4-BE49-F238E27FC236}">
                <a16:creationId xmlns:a16="http://schemas.microsoft.com/office/drawing/2014/main" id="{D066DD46-5262-0D07-EB4C-1D98EB173D07}"/>
              </a:ext>
            </a:extLst>
          </p:cNvPr>
          <p:cNvSpPr/>
          <p:nvPr/>
        </p:nvSpPr>
        <p:spPr>
          <a:xfrm>
            <a:off x="2060691" y="3390349"/>
            <a:ext cx="1274064" cy="329184"/>
          </a:xfrm>
          <a:prstGeom prst="rect">
            <a:avLst/>
          </a:prstGeom>
          <a:noFill/>
          <a:ln/>
        </p:spPr>
        <p:txBody>
          <a:bodyPr wrap="square" lIns="0" tIns="0" rIns="0" bIns="0" rtlCol="0" anchor="ctr"/>
          <a:lstStyle/>
          <a:p>
            <a:pPr marL="0" indent="0" algn="ctr">
              <a:lnSpc>
                <a:spcPct val="115000"/>
              </a:lnSpc>
              <a:buNone/>
            </a:pPr>
            <a:r>
              <a:rPr lang="en-US" sz="600" b="1" dirty="0">
                <a:solidFill>
                  <a:srgbClr val="FFFFFF"/>
                </a:solidFill>
                <a:latin typeface="メイリオ" panose="020B0604030504040204" pitchFamily="50" charset="-128"/>
                <a:ea typeface="メイリオ" panose="020B0604030504040204" pitchFamily="50" charset="-128"/>
                <a:cs typeface="Calibri" pitchFamily="34" charset="-120"/>
              </a:rPr>
              <a:t>LINE移行配信</a:t>
            </a:r>
            <a:endParaRPr lang="en-US" sz="600" dirty="0">
              <a:latin typeface="メイリオ" panose="020B0604030504040204" pitchFamily="50" charset="-128"/>
              <a:ea typeface="メイリオ" panose="020B0604030504040204" pitchFamily="50" charset="-128"/>
            </a:endParaRPr>
          </a:p>
        </p:txBody>
      </p:sp>
      <p:sp>
        <p:nvSpPr>
          <p:cNvPr id="287" name="Shape 29">
            <a:extLst>
              <a:ext uri="{FF2B5EF4-FFF2-40B4-BE49-F238E27FC236}">
                <a16:creationId xmlns:a16="http://schemas.microsoft.com/office/drawing/2014/main" id="{FD6D25F1-7F51-6F80-08D2-5C57CC0EE5FD}"/>
              </a:ext>
            </a:extLst>
          </p:cNvPr>
          <p:cNvSpPr/>
          <p:nvPr/>
        </p:nvSpPr>
        <p:spPr>
          <a:xfrm>
            <a:off x="3334755" y="348178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9" name="Text 30">
            <a:extLst>
              <a:ext uri="{FF2B5EF4-FFF2-40B4-BE49-F238E27FC236}">
                <a16:creationId xmlns:a16="http://schemas.microsoft.com/office/drawing/2014/main" id="{445D1811-574B-7D5D-C8F7-69A8E5E9C21D}"/>
              </a:ext>
            </a:extLst>
          </p:cNvPr>
          <p:cNvSpPr/>
          <p:nvPr/>
        </p:nvSpPr>
        <p:spPr>
          <a:xfrm>
            <a:off x="3334755" y="348178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91" name="Shape 31">
            <a:extLst>
              <a:ext uri="{FF2B5EF4-FFF2-40B4-BE49-F238E27FC236}">
                <a16:creationId xmlns:a16="http://schemas.microsoft.com/office/drawing/2014/main" id="{3ECC5DD0-1593-14F4-CE83-E996526D1F30}"/>
              </a:ext>
            </a:extLst>
          </p:cNvPr>
          <p:cNvSpPr/>
          <p:nvPr/>
        </p:nvSpPr>
        <p:spPr>
          <a:xfrm>
            <a:off x="3426195" y="3390349"/>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再ナーチャ開始</a:t>
            </a:r>
            <a:endParaRPr lang="en-US" altLang="ja-JP" sz="700" dirty="0">
              <a:latin typeface="メイリオ" panose="020B0604030504040204" pitchFamily="50" charset="-128"/>
              <a:ea typeface="メイリオ" panose="020B0604030504040204" pitchFamily="50" charset="-128"/>
            </a:endParaRPr>
          </a:p>
        </p:txBody>
      </p:sp>
      <p:sp>
        <p:nvSpPr>
          <p:cNvPr id="295" name="Shape 33">
            <a:extLst>
              <a:ext uri="{FF2B5EF4-FFF2-40B4-BE49-F238E27FC236}">
                <a16:creationId xmlns:a16="http://schemas.microsoft.com/office/drawing/2014/main" id="{82289F46-2DD5-5C3A-3C48-00C24CA11CB0}"/>
              </a:ext>
            </a:extLst>
          </p:cNvPr>
          <p:cNvSpPr/>
          <p:nvPr/>
        </p:nvSpPr>
        <p:spPr>
          <a:xfrm>
            <a:off x="603747" y="388488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Shape 35">
            <a:extLst>
              <a:ext uri="{FF2B5EF4-FFF2-40B4-BE49-F238E27FC236}">
                <a16:creationId xmlns:a16="http://schemas.microsoft.com/office/drawing/2014/main" id="{24455EB4-1D48-DB00-C3B3-680CAE5E3D80}"/>
              </a:ext>
            </a:extLst>
          </p:cNvPr>
          <p:cNvSpPr/>
          <p:nvPr/>
        </p:nvSpPr>
        <p:spPr>
          <a:xfrm>
            <a:off x="713475" y="397632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1" name="Text 36">
            <a:extLst>
              <a:ext uri="{FF2B5EF4-FFF2-40B4-BE49-F238E27FC236}">
                <a16:creationId xmlns:a16="http://schemas.microsoft.com/office/drawing/2014/main" id="{CB2D1291-F43D-C666-8910-F82EACBD2188}"/>
              </a:ext>
            </a:extLst>
          </p:cNvPr>
          <p:cNvSpPr/>
          <p:nvPr/>
        </p:nvSpPr>
        <p:spPr>
          <a:xfrm>
            <a:off x="713475" y="3976327"/>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Shape 37">
            <a:extLst>
              <a:ext uri="{FF2B5EF4-FFF2-40B4-BE49-F238E27FC236}">
                <a16:creationId xmlns:a16="http://schemas.microsoft.com/office/drawing/2014/main" id="{1F29E0C9-C40D-4D78-5118-4ECCEB313DBE}"/>
              </a:ext>
            </a:extLst>
          </p:cNvPr>
          <p:cNvSpPr/>
          <p:nvPr/>
        </p:nvSpPr>
        <p:spPr>
          <a:xfrm>
            <a:off x="1060947" y="4003759"/>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5" name="Text 38">
            <a:extLst>
              <a:ext uri="{FF2B5EF4-FFF2-40B4-BE49-F238E27FC236}">
                <a16:creationId xmlns:a16="http://schemas.microsoft.com/office/drawing/2014/main" id="{1FD30953-D12F-98F2-00A8-937392AB3DC2}"/>
              </a:ext>
            </a:extLst>
          </p:cNvPr>
          <p:cNvSpPr/>
          <p:nvPr/>
        </p:nvSpPr>
        <p:spPr>
          <a:xfrm>
            <a:off x="1060947" y="4003759"/>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モーメント活用</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7" name="Text 39">
            <a:extLst>
              <a:ext uri="{FF2B5EF4-FFF2-40B4-BE49-F238E27FC236}">
                <a16:creationId xmlns:a16="http://schemas.microsoft.com/office/drawing/2014/main" id="{6A195358-D025-E7FE-2931-51A26C3E1674}"/>
              </a:ext>
            </a:extLst>
          </p:cNvPr>
          <p:cNvSpPr/>
          <p:nvPr/>
        </p:nvSpPr>
        <p:spPr>
          <a:xfrm>
            <a:off x="1975347" y="3976327"/>
            <a:ext cx="2907792"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季節・業界イベントに合わせた限定配信でCV喚起</a:t>
            </a:r>
            <a:endParaRPr lang="en-US" sz="1000" dirty="0">
              <a:latin typeface="メイリオ" panose="020B0604030504040204" pitchFamily="50" charset="-128"/>
              <a:ea typeface="メイリオ" panose="020B0604030504040204" pitchFamily="50" charset="-128"/>
            </a:endParaRPr>
          </a:p>
        </p:txBody>
      </p:sp>
      <p:sp>
        <p:nvSpPr>
          <p:cNvPr id="309" name="Text 40">
            <a:extLst>
              <a:ext uri="{FF2B5EF4-FFF2-40B4-BE49-F238E27FC236}">
                <a16:creationId xmlns:a16="http://schemas.microsoft.com/office/drawing/2014/main" id="{E5DC2BC8-3C7E-A26E-2F0A-55D95A140AE0}"/>
              </a:ext>
            </a:extLst>
          </p:cNvPr>
          <p:cNvSpPr/>
          <p:nvPr/>
        </p:nvSpPr>
        <p:spPr>
          <a:xfrm>
            <a:off x="713475" y="4305511"/>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「年末特別キャンペーン」「繁忙期前のご案内」など、ユーザーが動きやすいタイミングに合わせて配信。「今だから」という理由付けが未アクション層の行動を促す。</a:t>
            </a:r>
            <a:endParaRPr lang="en-US" sz="600" dirty="0">
              <a:latin typeface="メイリオ" panose="020B0604030504040204" pitchFamily="50" charset="-128"/>
              <a:ea typeface="メイリオ" panose="020B0604030504040204" pitchFamily="50" charset="-128"/>
            </a:endParaRPr>
          </a:p>
        </p:txBody>
      </p:sp>
      <p:sp>
        <p:nvSpPr>
          <p:cNvPr id="311" name="Shape 41">
            <a:extLst>
              <a:ext uri="{FF2B5EF4-FFF2-40B4-BE49-F238E27FC236}">
                <a16:creationId xmlns:a16="http://schemas.microsoft.com/office/drawing/2014/main" id="{0070C0BA-3D13-97EE-26A8-CE149AA4A04E}"/>
              </a:ext>
            </a:extLst>
          </p:cNvPr>
          <p:cNvSpPr/>
          <p:nvPr/>
        </p:nvSpPr>
        <p:spPr>
          <a:xfrm>
            <a:off x="695187" y="465298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2">
            <a:extLst>
              <a:ext uri="{FF2B5EF4-FFF2-40B4-BE49-F238E27FC236}">
                <a16:creationId xmlns:a16="http://schemas.microsoft.com/office/drawing/2014/main" id="{768D77C7-92A2-948E-DE3D-509594621085}"/>
              </a:ext>
            </a:extLst>
          </p:cNvPr>
          <p:cNvSpPr/>
          <p:nvPr/>
        </p:nvSpPr>
        <p:spPr>
          <a:xfrm>
            <a:off x="695187" y="465298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イベント前3週</a:t>
            </a:r>
            <a:endParaRPr lang="en-US" sz="700" dirty="0">
              <a:latin typeface="メイリオ" panose="020B0604030504040204" pitchFamily="50" charset="-128"/>
              <a:ea typeface="メイリオ" panose="020B0604030504040204" pitchFamily="50" charset="-128"/>
            </a:endParaRPr>
          </a:p>
        </p:txBody>
      </p:sp>
      <p:sp>
        <p:nvSpPr>
          <p:cNvPr id="315" name="Shape 43">
            <a:extLst>
              <a:ext uri="{FF2B5EF4-FFF2-40B4-BE49-F238E27FC236}">
                <a16:creationId xmlns:a16="http://schemas.microsoft.com/office/drawing/2014/main" id="{8F66DE4C-D7A8-1BDB-39CF-66DEBA652EAD}"/>
              </a:ext>
            </a:extLst>
          </p:cNvPr>
          <p:cNvSpPr/>
          <p:nvPr/>
        </p:nvSpPr>
        <p:spPr>
          <a:xfrm>
            <a:off x="1969251" y="474442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7" name="Text 44">
            <a:extLst>
              <a:ext uri="{FF2B5EF4-FFF2-40B4-BE49-F238E27FC236}">
                <a16:creationId xmlns:a16="http://schemas.microsoft.com/office/drawing/2014/main" id="{2305B67B-4CE8-2127-6CE4-351EB11A2BDC}"/>
              </a:ext>
            </a:extLst>
          </p:cNvPr>
          <p:cNvSpPr/>
          <p:nvPr/>
        </p:nvSpPr>
        <p:spPr>
          <a:xfrm>
            <a:off x="1969251" y="474442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9" name="Shape 45">
            <a:extLst>
              <a:ext uri="{FF2B5EF4-FFF2-40B4-BE49-F238E27FC236}">
                <a16:creationId xmlns:a16="http://schemas.microsoft.com/office/drawing/2014/main" id="{28045CD1-3B2D-EC7B-E972-FDF6398513D4}"/>
              </a:ext>
            </a:extLst>
          </p:cNvPr>
          <p:cNvSpPr/>
          <p:nvPr/>
        </p:nvSpPr>
        <p:spPr>
          <a:xfrm>
            <a:off x="2060691" y="4652983"/>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限定オファー配信</a:t>
            </a:r>
            <a:endParaRPr lang="en-US" altLang="ja-JP" sz="700" dirty="0">
              <a:latin typeface="メイリオ" panose="020B0604030504040204" pitchFamily="50" charset="-128"/>
              <a:ea typeface="メイリオ" panose="020B0604030504040204" pitchFamily="50" charset="-128"/>
            </a:endParaRPr>
          </a:p>
        </p:txBody>
      </p:sp>
      <p:sp>
        <p:nvSpPr>
          <p:cNvPr id="323" name="Shape 47">
            <a:extLst>
              <a:ext uri="{FF2B5EF4-FFF2-40B4-BE49-F238E27FC236}">
                <a16:creationId xmlns:a16="http://schemas.microsoft.com/office/drawing/2014/main" id="{91BB8E57-FE8E-A082-C6EE-88B56532C6FC}"/>
              </a:ext>
            </a:extLst>
          </p:cNvPr>
          <p:cNvSpPr/>
          <p:nvPr/>
        </p:nvSpPr>
        <p:spPr>
          <a:xfrm>
            <a:off x="3334755" y="474442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5" name="Text 48">
            <a:extLst>
              <a:ext uri="{FF2B5EF4-FFF2-40B4-BE49-F238E27FC236}">
                <a16:creationId xmlns:a16="http://schemas.microsoft.com/office/drawing/2014/main" id="{56A5766B-A3BD-2EE9-DB90-A95ABA8474AA}"/>
              </a:ext>
            </a:extLst>
          </p:cNvPr>
          <p:cNvSpPr/>
          <p:nvPr/>
        </p:nvSpPr>
        <p:spPr>
          <a:xfrm>
            <a:off x="3334755" y="474442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7" name="Shape 49">
            <a:extLst>
              <a:ext uri="{FF2B5EF4-FFF2-40B4-BE49-F238E27FC236}">
                <a16:creationId xmlns:a16="http://schemas.microsoft.com/office/drawing/2014/main" id="{D9B75229-E701-C66D-A2EB-914F33FC7A38}"/>
              </a:ext>
            </a:extLst>
          </p:cNvPr>
          <p:cNvSpPr/>
          <p:nvPr/>
        </p:nvSpPr>
        <p:spPr>
          <a:xfrm>
            <a:off x="3426195" y="4652983"/>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altLang="ja-JP" sz="700" dirty="0">
              <a:latin typeface="メイリオ" panose="020B0604030504040204" pitchFamily="50" charset="-128"/>
              <a:ea typeface="メイリオ" panose="020B0604030504040204" pitchFamily="50" charset="-128"/>
            </a:endParaRPr>
          </a:p>
        </p:txBody>
      </p:sp>
      <p:sp>
        <p:nvSpPr>
          <p:cNvPr id="331" name="Shape 51">
            <a:extLst>
              <a:ext uri="{FF2B5EF4-FFF2-40B4-BE49-F238E27FC236}">
                <a16:creationId xmlns:a16="http://schemas.microsoft.com/office/drawing/2014/main" id="{22A4D85B-1CBD-0995-DA90-60C14D83ECE6}"/>
              </a:ext>
            </a:extLst>
          </p:cNvPr>
          <p:cNvSpPr/>
          <p:nvPr/>
        </p:nvSpPr>
        <p:spPr>
          <a:xfrm>
            <a:off x="603747" y="5147521"/>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Shape 53">
            <a:extLst>
              <a:ext uri="{FF2B5EF4-FFF2-40B4-BE49-F238E27FC236}">
                <a16:creationId xmlns:a16="http://schemas.microsoft.com/office/drawing/2014/main" id="{0EFDA52C-6BD8-EC2C-8042-989867BEE007}"/>
              </a:ext>
            </a:extLst>
          </p:cNvPr>
          <p:cNvSpPr/>
          <p:nvPr/>
        </p:nvSpPr>
        <p:spPr>
          <a:xfrm>
            <a:off x="713475" y="5238961"/>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7" name="Text 54">
            <a:extLst>
              <a:ext uri="{FF2B5EF4-FFF2-40B4-BE49-F238E27FC236}">
                <a16:creationId xmlns:a16="http://schemas.microsoft.com/office/drawing/2014/main" id="{1A38F7F4-D85C-3C2E-52E8-1DA18687D157}"/>
              </a:ext>
            </a:extLst>
          </p:cNvPr>
          <p:cNvSpPr/>
          <p:nvPr/>
        </p:nvSpPr>
        <p:spPr>
          <a:xfrm>
            <a:off x="713475" y="5238961"/>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Shape 55">
            <a:extLst>
              <a:ext uri="{FF2B5EF4-FFF2-40B4-BE49-F238E27FC236}">
                <a16:creationId xmlns:a16="http://schemas.microsoft.com/office/drawing/2014/main" id="{67EE7C45-7156-71ED-275F-D3D0B62D6390}"/>
              </a:ext>
            </a:extLst>
          </p:cNvPr>
          <p:cNvSpPr/>
          <p:nvPr/>
        </p:nvSpPr>
        <p:spPr>
          <a:xfrm>
            <a:off x="1060947" y="5266393"/>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343" name="Text 57">
            <a:extLst>
              <a:ext uri="{FF2B5EF4-FFF2-40B4-BE49-F238E27FC236}">
                <a16:creationId xmlns:a16="http://schemas.microsoft.com/office/drawing/2014/main" id="{3D038977-48FB-088C-1A4C-879420FF6CE5}"/>
              </a:ext>
            </a:extLst>
          </p:cNvPr>
          <p:cNvSpPr/>
          <p:nvPr/>
        </p:nvSpPr>
        <p:spPr>
          <a:xfrm>
            <a:off x="1975347" y="5238961"/>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現在の状況確認アンケートで温度感を再把握</a:t>
            </a:r>
            <a:endParaRPr lang="en-US" sz="1000" dirty="0">
              <a:latin typeface="メイリオ" panose="020B0604030504040204" pitchFamily="50" charset="-128"/>
              <a:ea typeface="メイリオ" panose="020B0604030504040204" pitchFamily="50" charset="-128"/>
            </a:endParaRPr>
          </a:p>
        </p:txBody>
      </p:sp>
      <p:sp>
        <p:nvSpPr>
          <p:cNvPr id="345" name="Text 58">
            <a:extLst>
              <a:ext uri="{FF2B5EF4-FFF2-40B4-BE49-F238E27FC236}">
                <a16:creationId xmlns:a16="http://schemas.microsoft.com/office/drawing/2014/main" id="{1DCE3801-724B-70B8-6043-4AE707933047}"/>
              </a:ext>
            </a:extLst>
          </p:cNvPr>
          <p:cNvSpPr/>
          <p:nvPr/>
        </p:nvSpPr>
        <p:spPr>
          <a:xfrm>
            <a:off x="713475" y="5568145"/>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「現在の状況を教えてください（3問）」を配信。「検討中」「他社比較中」「まだ先」に応じてシナリオを分岐させ、各層に最適なコンテンツを配信する。</a:t>
            </a:r>
            <a:endParaRPr lang="en-US" sz="600" dirty="0">
              <a:latin typeface="メイリオ" panose="020B0604030504040204" pitchFamily="50" charset="-128"/>
              <a:ea typeface="メイリオ" panose="020B0604030504040204" pitchFamily="50" charset="-128"/>
            </a:endParaRPr>
          </a:p>
        </p:txBody>
      </p:sp>
      <p:sp>
        <p:nvSpPr>
          <p:cNvPr id="347" name="Shape 59">
            <a:extLst>
              <a:ext uri="{FF2B5EF4-FFF2-40B4-BE49-F238E27FC236}">
                <a16:creationId xmlns:a16="http://schemas.microsoft.com/office/drawing/2014/main" id="{153BB988-9655-425D-2D4F-44E89C57F2F5}"/>
              </a:ext>
            </a:extLst>
          </p:cNvPr>
          <p:cNvSpPr/>
          <p:nvPr/>
        </p:nvSpPr>
        <p:spPr>
          <a:xfrm>
            <a:off x="695187"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0">
            <a:extLst>
              <a:ext uri="{FF2B5EF4-FFF2-40B4-BE49-F238E27FC236}">
                <a16:creationId xmlns:a16="http://schemas.microsoft.com/office/drawing/2014/main" id="{CD7CE35E-3AD0-5FAC-435B-4694E9133E17}"/>
              </a:ext>
            </a:extLst>
          </p:cNvPr>
          <p:cNvSpPr/>
          <p:nvPr/>
        </p:nvSpPr>
        <p:spPr>
          <a:xfrm>
            <a:off x="695187"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3問配信</a:t>
            </a:r>
            <a:endParaRPr lang="en-US" sz="700" dirty="0">
              <a:latin typeface="メイリオ" panose="020B0604030504040204" pitchFamily="50" charset="-128"/>
              <a:ea typeface="メイリオ" panose="020B0604030504040204" pitchFamily="50" charset="-128"/>
            </a:endParaRPr>
          </a:p>
        </p:txBody>
      </p:sp>
      <p:sp>
        <p:nvSpPr>
          <p:cNvPr id="351" name="Shape 61">
            <a:extLst>
              <a:ext uri="{FF2B5EF4-FFF2-40B4-BE49-F238E27FC236}">
                <a16:creationId xmlns:a16="http://schemas.microsoft.com/office/drawing/2014/main" id="{DFAA349E-29DE-1759-4B7A-492F6D87018D}"/>
              </a:ext>
            </a:extLst>
          </p:cNvPr>
          <p:cNvSpPr/>
          <p:nvPr/>
        </p:nvSpPr>
        <p:spPr>
          <a:xfrm>
            <a:off x="1969251" y="6007057"/>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2">
            <a:extLst>
              <a:ext uri="{FF2B5EF4-FFF2-40B4-BE49-F238E27FC236}">
                <a16:creationId xmlns:a16="http://schemas.microsoft.com/office/drawing/2014/main" id="{B5184D6B-2A05-C57D-1F26-E41EB297B5B8}"/>
              </a:ext>
            </a:extLst>
          </p:cNvPr>
          <p:cNvSpPr/>
          <p:nvPr/>
        </p:nvSpPr>
        <p:spPr>
          <a:xfrm>
            <a:off x="1969251" y="6007057"/>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5" name="Shape 63">
            <a:extLst>
              <a:ext uri="{FF2B5EF4-FFF2-40B4-BE49-F238E27FC236}">
                <a16:creationId xmlns:a16="http://schemas.microsoft.com/office/drawing/2014/main" id="{1D19C5F8-3384-B358-0F6D-32AC93A34F7A}"/>
              </a:ext>
            </a:extLst>
          </p:cNvPr>
          <p:cNvSpPr/>
          <p:nvPr/>
        </p:nvSpPr>
        <p:spPr>
          <a:xfrm>
            <a:off x="2060691"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4">
            <a:extLst>
              <a:ext uri="{FF2B5EF4-FFF2-40B4-BE49-F238E27FC236}">
                <a16:creationId xmlns:a16="http://schemas.microsoft.com/office/drawing/2014/main" id="{AA99E733-4810-E0D8-954C-794B120B1798}"/>
              </a:ext>
            </a:extLst>
          </p:cNvPr>
          <p:cNvSpPr/>
          <p:nvPr/>
        </p:nvSpPr>
        <p:spPr>
          <a:xfrm>
            <a:off x="2060691"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状況把握</a:t>
            </a:r>
            <a:endParaRPr lang="en-US" sz="700" dirty="0">
              <a:latin typeface="メイリオ" panose="020B0604030504040204" pitchFamily="50" charset="-128"/>
              <a:ea typeface="メイリオ" panose="020B0604030504040204" pitchFamily="50" charset="-128"/>
            </a:endParaRPr>
          </a:p>
        </p:txBody>
      </p:sp>
      <p:sp>
        <p:nvSpPr>
          <p:cNvPr id="359" name="Shape 65">
            <a:extLst>
              <a:ext uri="{FF2B5EF4-FFF2-40B4-BE49-F238E27FC236}">
                <a16:creationId xmlns:a16="http://schemas.microsoft.com/office/drawing/2014/main" id="{E098D67B-D4FA-1F81-743A-A0EF2B8E894C}"/>
              </a:ext>
            </a:extLst>
          </p:cNvPr>
          <p:cNvSpPr/>
          <p:nvPr/>
        </p:nvSpPr>
        <p:spPr>
          <a:xfrm>
            <a:off x="3334755" y="6007057"/>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1" name="Text 66">
            <a:extLst>
              <a:ext uri="{FF2B5EF4-FFF2-40B4-BE49-F238E27FC236}">
                <a16:creationId xmlns:a16="http://schemas.microsoft.com/office/drawing/2014/main" id="{3A788ABA-1FAA-0E0C-477B-176A52F30D82}"/>
              </a:ext>
            </a:extLst>
          </p:cNvPr>
          <p:cNvSpPr/>
          <p:nvPr/>
        </p:nvSpPr>
        <p:spPr>
          <a:xfrm>
            <a:off x="3334755" y="6007057"/>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3" name="Shape 67">
            <a:extLst>
              <a:ext uri="{FF2B5EF4-FFF2-40B4-BE49-F238E27FC236}">
                <a16:creationId xmlns:a16="http://schemas.microsoft.com/office/drawing/2014/main" id="{2C82253D-F8B8-D14C-4626-9B78723DE539}"/>
              </a:ext>
            </a:extLst>
          </p:cNvPr>
          <p:cNvSpPr/>
          <p:nvPr/>
        </p:nvSpPr>
        <p:spPr>
          <a:xfrm>
            <a:off x="3426195"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5" name="Text 68">
            <a:extLst>
              <a:ext uri="{FF2B5EF4-FFF2-40B4-BE49-F238E27FC236}">
                <a16:creationId xmlns:a16="http://schemas.microsoft.com/office/drawing/2014/main" id="{5DD03071-2AEB-1384-0051-084B996E481D}"/>
              </a:ext>
            </a:extLst>
          </p:cNvPr>
          <p:cNvSpPr/>
          <p:nvPr/>
        </p:nvSpPr>
        <p:spPr>
          <a:xfrm>
            <a:off x="3426195"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シナリオ分岐</a:t>
            </a:r>
            <a:endParaRPr lang="en-US" sz="700" dirty="0">
              <a:latin typeface="メイリオ" panose="020B0604030504040204" pitchFamily="50" charset="-128"/>
              <a:ea typeface="メイリオ" panose="020B0604030504040204" pitchFamily="50" charset="-128"/>
            </a:endParaRPr>
          </a:p>
        </p:txBody>
      </p:sp>
      <p:sp>
        <p:nvSpPr>
          <p:cNvPr id="367" name="Shape 69">
            <a:extLst>
              <a:ext uri="{FF2B5EF4-FFF2-40B4-BE49-F238E27FC236}">
                <a16:creationId xmlns:a16="http://schemas.microsoft.com/office/drawing/2014/main" id="{F329F47A-44ED-4B04-F04D-56BC913CF99F}"/>
              </a:ext>
            </a:extLst>
          </p:cNvPr>
          <p:cNvSpPr/>
          <p:nvPr/>
        </p:nvSpPr>
        <p:spPr>
          <a:xfrm>
            <a:off x="5047731" y="2622253"/>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Shape 71">
            <a:extLst>
              <a:ext uri="{FF2B5EF4-FFF2-40B4-BE49-F238E27FC236}">
                <a16:creationId xmlns:a16="http://schemas.microsoft.com/office/drawing/2014/main" id="{BA1D3F46-451A-2E85-599A-900433C193B8}"/>
              </a:ext>
            </a:extLst>
          </p:cNvPr>
          <p:cNvSpPr/>
          <p:nvPr/>
        </p:nvSpPr>
        <p:spPr>
          <a:xfrm>
            <a:off x="5157459" y="271369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3" name="Text 72">
            <a:extLst>
              <a:ext uri="{FF2B5EF4-FFF2-40B4-BE49-F238E27FC236}">
                <a16:creationId xmlns:a16="http://schemas.microsoft.com/office/drawing/2014/main" id="{8BCF6B4A-374A-B6D9-3EF4-5AE1A778DE73}"/>
              </a:ext>
            </a:extLst>
          </p:cNvPr>
          <p:cNvSpPr/>
          <p:nvPr/>
        </p:nvSpPr>
        <p:spPr>
          <a:xfrm>
            <a:off x="5157459" y="2713693"/>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Shape 73">
            <a:extLst>
              <a:ext uri="{FF2B5EF4-FFF2-40B4-BE49-F238E27FC236}">
                <a16:creationId xmlns:a16="http://schemas.microsoft.com/office/drawing/2014/main" id="{9F918316-F2DF-A22A-C6CB-01F22910720D}"/>
              </a:ext>
            </a:extLst>
          </p:cNvPr>
          <p:cNvSpPr/>
          <p:nvPr/>
        </p:nvSpPr>
        <p:spPr>
          <a:xfrm>
            <a:off x="5504931" y="2741125"/>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7" name="Text 74">
            <a:extLst>
              <a:ext uri="{FF2B5EF4-FFF2-40B4-BE49-F238E27FC236}">
                <a16:creationId xmlns:a16="http://schemas.microsoft.com/office/drawing/2014/main" id="{1C57608E-D0D9-DD5B-8ED8-37BB302AB673}"/>
              </a:ext>
            </a:extLst>
          </p:cNvPr>
          <p:cNvSpPr/>
          <p:nvPr/>
        </p:nvSpPr>
        <p:spPr>
          <a:xfrm>
            <a:off x="5504931" y="2741125"/>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失注リスト</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9" name="Text 75">
            <a:extLst>
              <a:ext uri="{FF2B5EF4-FFF2-40B4-BE49-F238E27FC236}">
                <a16:creationId xmlns:a16="http://schemas.microsoft.com/office/drawing/2014/main" id="{2DAFDF0B-346B-15F4-BEBF-857C67E91ED9}"/>
              </a:ext>
            </a:extLst>
          </p:cNvPr>
          <p:cNvSpPr/>
          <p:nvPr/>
        </p:nvSpPr>
        <p:spPr>
          <a:xfrm>
            <a:off x="6419331" y="2713693"/>
            <a:ext cx="3017520" cy="256032"/>
          </a:xfrm>
          <a:prstGeom prst="rect">
            <a:avLst/>
          </a:prstGeom>
          <a:noFill/>
          <a:ln/>
        </p:spPr>
        <p:txBody>
          <a:bodyPr wrap="square" lIns="0" tIns="0" rIns="0" bIns="0" rtlCol="0" anchor="ctr"/>
          <a:lstStyle/>
          <a:p>
            <a:pPr marL="0" indent="0">
              <a:buNone/>
            </a:pP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失注・辞退ユーザーへ「その後</a:t>
            </a:r>
            <a:r>
              <a:rPr lang="ja-JP" altLang="en-US" sz="1000" b="1" dirty="0">
                <a:solidFill>
                  <a:srgbClr val="1A1A2E"/>
                </a:solidFill>
                <a:latin typeface="メイリオ" panose="020B0604030504040204" pitchFamily="50" charset="-128"/>
                <a:ea typeface="メイリオ" panose="020B0604030504040204" pitchFamily="50" charset="-128"/>
                <a:cs typeface="Calibri" pitchFamily="34" charset="-120"/>
              </a:rPr>
              <a:t>どう</a:t>
            </a: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ですか</a:t>
            </a: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？」配信</a:t>
            </a:r>
            <a:endParaRPr lang="en-US" sz="1000" dirty="0">
              <a:latin typeface="メイリオ" panose="020B0604030504040204" pitchFamily="50" charset="-128"/>
              <a:ea typeface="メイリオ" panose="020B0604030504040204" pitchFamily="50" charset="-128"/>
            </a:endParaRPr>
          </a:p>
        </p:txBody>
      </p:sp>
      <p:sp>
        <p:nvSpPr>
          <p:cNvPr id="381" name="Text 76">
            <a:extLst>
              <a:ext uri="{FF2B5EF4-FFF2-40B4-BE49-F238E27FC236}">
                <a16:creationId xmlns:a16="http://schemas.microsoft.com/office/drawing/2014/main" id="{0AF5CE2E-2255-A788-F029-07167611F1A8}"/>
              </a:ext>
            </a:extLst>
          </p:cNvPr>
          <p:cNvSpPr/>
          <p:nvPr/>
        </p:nvSpPr>
        <p:spPr>
          <a:xfrm>
            <a:off x="5157459" y="3042877"/>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過去に問い合わせしたが未申込の層に、3〜6ヶ月後を目安に再接触。「新しいプランができました」「条件が改善されました」という切り口が再CVに有効。</a:t>
            </a:r>
            <a:endParaRPr lang="en-US" sz="600" dirty="0">
              <a:latin typeface="メイリオ" panose="020B0604030504040204" pitchFamily="50" charset="-128"/>
              <a:ea typeface="メイリオ" panose="020B0604030504040204" pitchFamily="50" charset="-128"/>
            </a:endParaRPr>
          </a:p>
        </p:txBody>
      </p:sp>
      <p:sp>
        <p:nvSpPr>
          <p:cNvPr id="383" name="Shape 77">
            <a:extLst>
              <a:ext uri="{FF2B5EF4-FFF2-40B4-BE49-F238E27FC236}">
                <a16:creationId xmlns:a16="http://schemas.microsoft.com/office/drawing/2014/main" id="{4E4B79B4-719F-E82E-34BC-1FDB6969E4DA}"/>
              </a:ext>
            </a:extLst>
          </p:cNvPr>
          <p:cNvSpPr/>
          <p:nvPr/>
        </p:nvSpPr>
        <p:spPr>
          <a:xfrm>
            <a:off x="5139171" y="3390349"/>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78">
            <a:extLst>
              <a:ext uri="{FF2B5EF4-FFF2-40B4-BE49-F238E27FC236}">
                <a16:creationId xmlns:a16="http://schemas.microsoft.com/office/drawing/2014/main" id="{5AD0E7CC-7987-CDC0-51C0-C45C57A162F8}"/>
              </a:ext>
            </a:extLst>
          </p:cNvPr>
          <p:cNvSpPr/>
          <p:nvPr/>
        </p:nvSpPr>
        <p:spPr>
          <a:xfrm>
            <a:off x="5139171" y="339034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失注後3〜6ヶ月</a:t>
            </a:r>
            <a:endParaRPr lang="en-US" sz="700" dirty="0">
              <a:latin typeface="メイリオ" panose="020B0604030504040204" pitchFamily="50" charset="-128"/>
              <a:ea typeface="メイリオ" panose="020B0604030504040204" pitchFamily="50" charset="-128"/>
            </a:endParaRPr>
          </a:p>
        </p:txBody>
      </p:sp>
      <p:sp>
        <p:nvSpPr>
          <p:cNvPr id="387" name="Shape 79">
            <a:extLst>
              <a:ext uri="{FF2B5EF4-FFF2-40B4-BE49-F238E27FC236}">
                <a16:creationId xmlns:a16="http://schemas.microsoft.com/office/drawing/2014/main" id="{F0421E50-A8C1-66B8-6E6F-D74D7601A19C}"/>
              </a:ext>
            </a:extLst>
          </p:cNvPr>
          <p:cNvSpPr/>
          <p:nvPr/>
        </p:nvSpPr>
        <p:spPr>
          <a:xfrm>
            <a:off x="6413235" y="348178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9" name="Text 80">
            <a:extLst>
              <a:ext uri="{FF2B5EF4-FFF2-40B4-BE49-F238E27FC236}">
                <a16:creationId xmlns:a16="http://schemas.microsoft.com/office/drawing/2014/main" id="{65A5B5BF-4145-BBC7-EEE4-1712EFD3CF93}"/>
              </a:ext>
            </a:extLst>
          </p:cNvPr>
          <p:cNvSpPr/>
          <p:nvPr/>
        </p:nvSpPr>
        <p:spPr>
          <a:xfrm>
            <a:off x="6413235" y="348178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1" name="Shape 81">
            <a:extLst>
              <a:ext uri="{FF2B5EF4-FFF2-40B4-BE49-F238E27FC236}">
                <a16:creationId xmlns:a16="http://schemas.microsoft.com/office/drawing/2014/main" id="{9EA3BBF7-3315-16D0-DC9B-BE1C67242EA7}"/>
              </a:ext>
            </a:extLst>
          </p:cNvPr>
          <p:cNvSpPr/>
          <p:nvPr/>
        </p:nvSpPr>
        <p:spPr>
          <a:xfrm>
            <a:off x="6504675" y="3390349"/>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状況再確認配信</a:t>
            </a:r>
            <a:endParaRPr lang="en-US" altLang="ja-JP" sz="700" dirty="0">
              <a:latin typeface="メイリオ" panose="020B0604030504040204" pitchFamily="50" charset="-128"/>
              <a:ea typeface="メイリオ" panose="020B0604030504040204" pitchFamily="50" charset="-128"/>
            </a:endParaRPr>
          </a:p>
        </p:txBody>
      </p:sp>
      <p:sp>
        <p:nvSpPr>
          <p:cNvPr id="395" name="Shape 83">
            <a:extLst>
              <a:ext uri="{FF2B5EF4-FFF2-40B4-BE49-F238E27FC236}">
                <a16:creationId xmlns:a16="http://schemas.microsoft.com/office/drawing/2014/main" id="{DC049964-E96C-C1BF-7C7A-F15300037114}"/>
              </a:ext>
            </a:extLst>
          </p:cNvPr>
          <p:cNvSpPr/>
          <p:nvPr/>
        </p:nvSpPr>
        <p:spPr>
          <a:xfrm>
            <a:off x="7778739" y="348178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7" name="Text 84">
            <a:extLst>
              <a:ext uri="{FF2B5EF4-FFF2-40B4-BE49-F238E27FC236}">
                <a16:creationId xmlns:a16="http://schemas.microsoft.com/office/drawing/2014/main" id="{51EFCC51-0F78-4F8D-C532-B98FB0AF559F}"/>
              </a:ext>
            </a:extLst>
          </p:cNvPr>
          <p:cNvSpPr/>
          <p:nvPr/>
        </p:nvSpPr>
        <p:spPr>
          <a:xfrm>
            <a:off x="7778739" y="348178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9" name="Shape 85">
            <a:extLst>
              <a:ext uri="{FF2B5EF4-FFF2-40B4-BE49-F238E27FC236}">
                <a16:creationId xmlns:a16="http://schemas.microsoft.com/office/drawing/2014/main" id="{58F818F9-0832-56EA-F61B-C4AA37B01F57}"/>
              </a:ext>
            </a:extLst>
          </p:cNvPr>
          <p:cNvSpPr/>
          <p:nvPr/>
        </p:nvSpPr>
        <p:spPr>
          <a:xfrm>
            <a:off x="7870179" y="3390349"/>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1" name="Text 86">
            <a:extLst>
              <a:ext uri="{FF2B5EF4-FFF2-40B4-BE49-F238E27FC236}">
                <a16:creationId xmlns:a16="http://schemas.microsoft.com/office/drawing/2014/main" id="{9B117C4F-B6A8-E365-C69E-36D76F40D869}"/>
              </a:ext>
            </a:extLst>
          </p:cNvPr>
          <p:cNvSpPr/>
          <p:nvPr/>
        </p:nvSpPr>
        <p:spPr>
          <a:xfrm>
            <a:off x="7870179" y="339034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再CV誘導</a:t>
            </a:r>
            <a:endParaRPr lang="en-US" sz="700" dirty="0">
              <a:latin typeface="メイリオ" panose="020B0604030504040204" pitchFamily="50" charset="-128"/>
              <a:ea typeface="メイリオ" panose="020B0604030504040204" pitchFamily="50" charset="-128"/>
            </a:endParaRPr>
          </a:p>
        </p:txBody>
      </p:sp>
      <p:sp>
        <p:nvSpPr>
          <p:cNvPr id="403" name="Shape 87">
            <a:extLst>
              <a:ext uri="{FF2B5EF4-FFF2-40B4-BE49-F238E27FC236}">
                <a16:creationId xmlns:a16="http://schemas.microsoft.com/office/drawing/2014/main" id="{5F6AFF3E-D4D9-71AD-93DC-B81C9B4D82B7}"/>
              </a:ext>
            </a:extLst>
          </p:cNvPr>
          <p:cNvSpPr/>
          <p:nvPr/>
        </p:nvSpPr>
        <p:spPr>
          <a:xfrm>
            <a:off x="5047731" y="388488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Shape 89">
            <a:extLst>
              <a:ext uri="{FF2B5EF4-FFF2-40B4-BE49-F238E27FC236}">
                <a16:creationId xmlns:a16="http://schemas.microsoft.com/office/drawing/2014/main" id="{D1B45F88-544D-FBED-408C-8209CA691AC8}"/>
              </a:ext>
            </a:extLst>
          </p:cNvPr>
          <p:cNvSpPr/>
          <p:nvPr/>
        </p:nvSpPr>
        <p:spPr>
          <a:xfrm>
            <a:off x="5157459" y="397632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9" name="Text 90">
            <a:extLst>
              <a:ext uri="{FF2B5EF4-FFF2-40B4-BE49-F238E27FC236}">
                <a16:creationId xmlns:a16="http://schemas.microsoft.com/office/drawing/2014/main" id="{592A9BD1-F0B8-60E4-8129-402CDDB4073D}"/>
              </a:ext>
            </a:extLst>
          </p:cNvPr>
          <p:cNvSpPr/>
          <p:nvPr/>
        </p:nvSpPr>
        <p:spPr>
          <a:xfrm>
            <a:off x="5157459" y="3976327"/>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2">
            <a:extLst>
              <a:ext uri="{FF2B5EF4-FFF2-40B4-BE49-F238E27FC236}">
                <a16:creationId xmlns:a16="http://schemas.microsoft.com/office/drawing/2014/main" id="{1B276E55-4348-C44C-DC53-C0E12FAE38EA}"/>
              </a:ext>
            </a:extLst>
          </p:cNvPr>
          <p:cNvSpPr/>
          <p:nvPr/>
        </p:nvSpPr>
        <p:spPr>
          <a:xfrm>
            <a:off x="5504931" y="4003759"/>
            <a:ext cx="859536" cy="201168"/>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415" name="Text 93">
            <a:extLst>
              <a:ext uri="{FF2B5EF4-FFF2-40B4-BE49-F238E27FC236}">
                <a16:creationId xmlns:a16="http://schemas.microsoft.com/office/drawing/2014/main" id="{80CB45ED-8383-FD42-4282-965B68B36BF6}"/>
              </a:ext>
            </a:extLst>
          </p:cNvPr>
          <p:cNvSpPr/>
          <p:nvPr/>
        </p:nvSpPr>
        <p:spPr>
          <a:xfrm>
            <a:off x="6419331" y="3976327"/>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カゴ落ち・問い合わせのみ層へのリマインド配信</a:t>
            </a:r>
            <a:endParaRPr lang="en-US" sz="1000" dirty="0">
              <a:latin typeface="メイリオ" panose="020B0604030504040204" pitchFamily="50" charset="-128"/>
              <a:ea typeface="メイリオ" panose="020B0604030504040204" pitchFamily="50" charset="-128"/>
            </a:endParaRPr>
          </a:p>
        </p:txBody>
      </p:sp>
      <p:sp>
        <p:nvSpPr>
          <p:cNvPr id="417" name="Text 94">
            <a:extLst>
              <a:ext uri="{FF2B5EF4-FFF2-40B4-BE49-F238E27FC236}">
                <a16:creationId xmlns:a16="http://schemas.microsoft.com/office/drawing/2014/main" id="{AEF4A7E3-C254-08CE-C1D1-259691AA1AE0}"/>
              </a:ext>
            </a:extLst>
          </p:cNvPr>
          <p:cNvSpPr/>
          <p:nvPr/>
        </p:nvSpPr>
        <p:spPr>
          <a:xfrm>
            <a:off x="5157459" y="4305511"/>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資料請求・問い合わせのみで申込に至っていない層に特化したステップ配信を設計。「無料相談受付中」「今月末で受付終了」等のCTAで背中を押す。</a:t>
            </a:r>
            <a:endParaRPr lang="en-US" sz="600" dirty="0">
              <a:latin typeface="メイリオ" panose="020B0604030504040204" pitchFamily="50" charset="-128"/>
              <a:ea typeface="メイリオ" panose="020B0604030504040204" pitchFamily="50" charset="-128"/>
            </a:endParaRPr>
          </a:p>
        </p:txBody>
      </p:sp>
      <p:sp>
        <p:nvSpPr>
          <p:cNvPr id="419" name="Shape 95">
            <a:extLst>
              <a:ext uri="{FF2B5EF4-FFF2-40B4-BE49-F238E27FC236}">
                <a16:creationId xmlns:a16="http://schemas.microsoft.com/office/drawing/2014/main" id="{620086D7-B11A-B51E-6EBE-09AABF87761F}"/>
              </a:ext>
            </a:extLst>
          </p:cNvPr>
          <p:cNvSpPr/>
          <p:nvPr/>
        </p:nvSpPr>
        <p:spPr>
          <a:xfrm>
            <a:off x="5139171" y="465298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6">
            <a:extLst>
              <a:ext uri="{FF2B5EF4-FFF2-40B4-BE49-F238E27FC236}">
                <a16:creationId xmlns:a16="http://schemas.microsoft.com/office/drawing/2014/main" id="{0A5E544F-BFBF-5FCC-DE72-1F0EA2CD109F}"/>
              </a:ext>
            </a:extLst>
          </p:cNvPr>
          <p:cNvSpPr/>
          <p:nvPr/>
        </p:nvSpPr>
        <p:spPr>
          <a:xfrm>
            <a:off x="5139171" y="465298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行動履歴取得</a:t>
            </a:r>
            <a:endParaRPr lang="en-US" sz="700" dirty="0">
              <a:latin typeface="メイリオ" panose="020B0604030504040204" pitchFamily="50" charset="-128"/>
              <a:ea typeface="メイリオ" panose="020B0604030504040204" pitchFamily="50" charset="-128"/>
            </a:endParaRPr>
          </a:p>
        </p:txBody>
      </p:sp>
      <p:sp>
        <p:nvSpPr>
          <p:cNvPr id="423" name="Shape 97">
            <a:extLst>
              <a:ext uri="{FF2B5EF4-FFF2-40B4-BE49-F238E27FC236}">
                <a16:creationId xmlns:a16="http://schemas.microsoft.com/office/drawing/2014/main" id="{437F2371-56CA-9C8D-898A-5718BBBC16BD}"/>
              </a:ext>
            </a:extLst>
          </p:cNvPr>
          <p:cNvSpPr/>
          <p:nvPr/>
        </p:nvSpPr>
        <p:spPr>
          <a:xfrm>
            <a:off x="6413235" y="474442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5" name="Text 98">
            <a:extLst>
              <a:ext uri="{FF2B5EF4-FFF2-40B4-BE49-F238E27FC236}">
                <a16:creationId xmlns:a16="http://schemas.microsoft.com/office/drawing/2014/main" id="{F6BB9355-F36A-724C-0AF5-0A7D58041D0E}"/>
              </a:ext>
            </a:extLst>
          </p:cNvPr>
          <p:cNvSpPr/>
          <p:nvPr/>
        </p:nvSpPr>
        <p:spPr>
          <a:xfrm>
            <a:off x="6413235" y="474442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7" name="Shape 99">
            <a:extLst>
              <a:ext uri="{FF2B5EF4-FFF2-40B4-BE49-F238E27FC236}">
                <a16:creationId xmlns:a16="http://schemas.microsoft.com/office/drawing/2014/main" id="{A92E3EF4-24A4-2366-71A1-E5DDC1CAC6F2}"/>
              </a:ext>
            </a:extLst>
          </p:cNvPr>
          <p:cNvSpPr/>
          <p:nvPr/>
        </p:nvSpPr>
        <p:spPr>
          <a:xfrm>
            <a:off x="6504675" y="465298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0">
            <a:extLst>
              <a:ext uri="{FF2B5EF4-FFF2-40B4-BE49-F238E27FC236}">
                <a16:creationId xmlns:a16="http://schemas.microsoft.com/office/drawing/2014/main" id="{0D73681F-6C0D-7920-A565-AF64BA896102}"/>
              </a:ext>
            </a:extLst>
          </p:cNvPr>
          <p:cNvSpPr/>
          <p:nvPr/>
        </p:nvSpPr>
        <p:spPr>
          <a:xfrm>
            <a:off x="6504675" y="465298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リマインド配信</a:t>
            </a:r>
            <a:endParaRPr lang="en-US" sz="700" dirty="0">
              <a:latin typeface="メイリオ" panose="020B0604030504040204" pitchFamily="50" charset="-128"/>
              <a:ea typeface="メイリオ" panose="020B0604030504040204" pitchFamily="50" charset="-128"/>
            </a:endParaRPr>
          </a:p>
        </p:txBody>
      </p:sp>
      <p:sp>
        <p:nvSpPr>
          <p:cNvPr id="431" name="Shape 101">
            <a:extLst>
              <a:ext uri="{FF2B5EF4-FFF2-40B4-BE49-F238E27FC236}">
                <a16:creationId xmlns:a16="http://schemas.microsoft.com/office/drawing/2014/main" id="{3B3A64CC-6A13-370D-9373-AD0FB06E375E}"/>
              </a:ext>
            </a:extLst>
          </p:cNvPr>
          <p:cNvSpPr/>
          <p:nvPr/>
        </p:nvSpPr>
        <p:spPr>
          <a:xfrm>
            <a:off x="7778739" y="474442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3" name="Text 102">
            <a:extLst>
              <a:ext uri="{FF2B5EF4-FFF2-40B4-BE49-F238E27FC236}">
                <a16:creationId xmlns:a16="http://schemas.microsoft.com/office/drawing/2014/main" id="{4F5D5A55-D409-4FDA-49E0-1758FEAFEE48}"/>
              </a:ext>
            </a:extLst>
          </p:cNvPr>
          <p:cNvSpPr/>
          <p:nvPr/>
        </p:nvSpPr>
        <p:spPr>
          <a:xfrm>
            <a:off x="7778739" y="474442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5" name="Shape 103">
            <a:extLst>
              <a:ext uri="{FF2B5EF4-FFF2-40B4-BE49-F238E27FC236}">
                <a16:creationId xmlns:a16="http://schemas.microsoft.com/office/drawing/2014/main" id="{E0FBF11F-8E0A-C526-CF1A-16BB189BC592}"/>
              </a:ext>
            </a:extLst>
          </p:cNvPr>
          <p:cNvSpPr/>
          <p:nvPr/>
        </p:nvSpPr>
        <p:spPr>
          <a:xfrm>
            <a:off x="7870179" y="465298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7" name="Text 104">
            <a:extLst>
              <a:ext uri="{FF2B5EF4-FFF2-40B4-BE49-F238E27FC236}">
                <a16:creationId xmlns:a16="http://schemas.microsoft.com/office/drawing/2014/main" id="{35AF2962-900D-E7A7-6796-0642679811B9}"/>
              </a:ext>
            </a:extLst>
          </p:cNvPr>
          <p:cNvSpPr/>
          <p:nvPr/>
        </p:nvSpPr>
        <p:spPr>
          <a:xfrm>
            <a:off x="7870179" y="465298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最終CVオファー</a:t>
            </a:r>
            <a:endParaRPr lang="en-US" sz="700" dirty="0">
              <a:latin typeface="メイリオ" panose="020B0604030504040204" pitchFamily="50" charset="-128"/>
              <a:ea typeface="メイリオ" panose="020B0604030504040204" pitchFamily="50" charset="-128"/>
            </a:endParaRPr>
          </a:p>
        </p:txBody>
      </p:sp>
      <p:sp>
        <p:nvSpPr>
          <p:cNvPr id="439" name="Shape 105">
            <a:extLst>
              <a:ext uri="{FF2B5EF4-FFF2-40B4-BE49-F238E27FC236}">
                <a16:creationId xmlns:a16="http://schemas.microsoft.com/office/drawing/2014/main" id="{991461E6-A613-71C0-FEED-105A9B53A82F}"/>
              </a:ext>
            </a:extLst>
          </p:cNvPr>
          <p:cNvSpPr/>
          <p:nvPr/>
        </p:nvSpPr>
        <p:spPr>
          <a:xfrm>
            <a:off x="5047731" y="5147521"/>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Shape 107">
            <a:extLst>
              <a:ext uri="{FF2B5EF4-FFF2-40B4-BE49-F238E27FC236}">
                <a16:creationId xmlns:a16="http://schemas.microsoft.com/office/drawing/2014/main" id="{B151BD68-31EC-2062-2399-27CE0A52BCDA}"/>
              </a:ext>
            </a:extLst>
          </p:cNvPr>
          <p:cNvSpPr/>
          <p:nvPr/>
        </p:nvSpPr>
        <p:spPr>
          <a:xfrm>
            <a:off x="5157459" y="5238961"/>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5" name="Text 108">
            <a:extLst>
              <a:ext uri="{FF2B5EF4-FFF2-40B4-BE49-F238E27FC236}">
                <a16:creationId xmlns:a16="http://schemas.microsoft.com/office/drawing/2014/main" id="{2838910A-123C-E9FE-5AF1-45001B06EE8A}"/>
              </a:ext>
            </a:extLst>
          </p:cNvPr>
          <p:cNvSpPr/>
          <p:nvPr/>
        </p:nvSpPr>
        <p:spPr>
          <a:xfrm>
            <a:off x="5157459" y="5238961"/>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7" name="Shape 109">
            <a:extLst>
              <a:ext uri="{FF2B5EF4-FFF2-40B4-BE49-F238E27FC236}">
                <a16:creationId xmlns:a16="http://schemas.microsoft.com/office/drawing/2014/main" id="{7AACC6BD-1A7A-0ECC-2C70-E171A4B73D2E}"/>
              </a:ext>
            </a:extLst>
          </p:cNvPr>
          <p:cNvSpPr/>
          <p:nvPr/>
        </p:nvSpPr>
        <p:spPr>
          <a:xfrm>
            <a:off x="5504931" y="5266393"/>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9" name="Text 110">
            <a:extLst>
              <a:ext uri="{FF2B5EF4-FFF2-40B4-BE49-F238E27FC236}">
                <a16:creationId xmlns:a16="http://schemas.microsoft.com/office/drawing/2014/main" id="{5D30EE12-A5B1-F69B-1B36-9BA013EE1870}"/>
              </a:ext>
            </a:extLst>
          </p:cNvPr>
          <p:cNvSpPr/>
          <p:nvPr/>
        </p:nvSpPr>
        <p:spPr>
          <a:xfrm>
            <a:off x="5504931" y="5266393"/>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長期離脱層</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51" name="Text 111">
            <a:extLst>
              <a:ext uri="{FF2B5EF4-FFF2-40B4-BE49-F238E27FC236}">
                <a16:creationId xmlns:a16="http://schemas.microsoft.com/office/drawing/2014/main" id="{11D406F6-8148-4982-8BAD-ED92DE292139}"/>
              </a:ext>
            </a:extLst>
          </p:cNvPr>
          <p:cNvSpPr/>
          <p:nvPr/>
        </p:nvSpPr>
        <p:spPr>
          <a:xfrm>
            <a:off x="6419331" y="5238961"/>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「ご無沙汰ユーザー」へ限定特典で関係再構築</a:t>
            </a:r>
            <a:endParaRPr lang="en-US" sz="1000" dirty="0">
              <a:latin typeface="メイリオ" panose="020B0604030504040204" pitchFamily="50" charset="-128"/>
              <a:ea typeface="メイリオ" panose="020B0604030504040204" pitchFamily="50" charset="-128"/>
            </a:endParaRPr>
          </a:p>
        </p:txBody>
      </p:sp>
      <p:sp>
        <p:nvSpPr>
          <p:cNvPr id="453" name="Text 112">
            <a:extLst>
              <a:ext uri="{FF2B5EF4-FFF2-40B4-BE49-F238E27FC236}">
                <a16:creationId xmlns:a16="http://schemas.microsoft.com/office/drawing/2014/main" id="{508C543F-C9AB-A60B-8018-61A15273F0DE}"/>
              </a:ext>
            </a:extLst>
          </p:cNvPr>
          <p:cNvSpPr/>
          <p:nvPr/>
        </p:nvSpPr>
        <p:spPr>
          <a:xfrm>
            <a:off x="5157459" y="5568145"/>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6ヶ月以上アクションがないユーザーに「久しぶりにご連絡します」という自然なトーンで接触。業界ニュース・役立つコンテンツから入り、関係を再構築してからCVを狙う。</a:t>
            </a:r>
            <a:endParaRPr lang="en-US" sz="600" dirty="0">
              <a:latin typeface="メイリオ" panose="020B0604030504040204" pitchFamily="50" charset="-128"/>
              <a:ea typeface="メイリオ" panose="020B0604030504040204" pitchFamily="50" charset="-128"/>
            </a:endParaRPr>
          </a:p>
        </p:txBody>
      </p:sp>
      <p:sp>
        <p:nvSpPr>
          <p:cNvPr id="455" name="Shape 113">
            <a:extLst>
              <a:ext uri="{FF2B5EF4-FFF2-40B4-BE49-F238E27FC236}">
                <a16:creationId xmlns:a16="http://schemas.microsoft.com/office/drawing/2014/main" id="{0D84DDA0-BF3C-451C-FA1C-5C4E0CC796E5}"/>
              </a:ext>
            </a:extLst>
          </p:cNvPr>
          <p:cNvSpPr/>
          <p:nvPr/>
        </p:nvSpPr>
        <p:spPr>
          <a:xfrm>
            <a:off x="5139171"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4">
            <a:extLst>
              <a:ext uri="{FF2B5EF4-FFF2-40B4-BE49-F238E27FC236}">
                <a16:creationId xmlns:a16="http://schemas.microsoft.com/office/drawing/2014/main" id="{A87F45F7-ABD3-CEBF-4AF2-8CB3A30A3DC0}"/>
              </a:ext>
            </a:extLst>
          </p:cNvPr>
          <p:cNvSpPr/>
          <p:nvPr/>
        </p:nvSpPr>
        <p:spPr>
          <a:xfrm>
            <a:off x="5139171"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コンテンツ接触</a:t>
            </a:r>
            <a:endParaRPr lang="en-US" sz="700" dirty="0">
              <a:latin typeface="メイリオ" panose="020B0604030504040204" pitchFamily="50" charset="-128"/>
              <a:ea typeface="メイリオ" panose="020B0604030504040204" pitchFamily="50" charset="-128"/>
            </a:endParaRPr>
          </a:p>
        </p:txBody>
      </p:sp>
      <p:sp>
        <p:nvSpPr>
          <p:cNvPr id="459" name="Shape 115">
            <a:extLst>
              <a:ext uri="{FF2B5EF4-FFF2-40B4-BE49-F238E27FC236}">
                <a16:creationId xmlns:a16="http://schemas.microsoft.com/office/drawing/2014/main" id="{21CA3B89-DC5E-AD89-5676-C5B918F75004}"/>
              </a:ext>
            </a:extLst>
          </p:cNvPr>
          <p:cNvSpPr/>
          <p:nvPr/>
        </p:nvSpPr>
        <p:spPr>
          <a:xfrm>
            <a:off x="6413235" y="6007057"/>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1" name="Text 116">
            <a:extLst>
              <a:ext uri="{FF2B5EF4-FFF2-40B4-BE49-F238E27FC236}">
                <a16:creationId xmlns:a16="http://schemas.microsoft.com/office/drawing/2014/main" id="{2B5EBEB8-BD89-88B8-B0AF-DB4EF15161B3}"/>
              </a:ext>
            </a:extLst>
          </p:cNvPr>
          <p:cNvSpPr/>
          <p:nvPr/>
        </p:nvSpPr>
        <p:spPr>
          <a:xfrm>
            <a:off x="6413235" y="6007057"/>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3" name="Shape 117">
            <a:extLst>
              <a:ext uri="{FF2B5EF4-FFF2-40B4-BE49-F238E27FC236}">
                <a16:creationId xmlns:a16="http://schemas.microsoft.com/office/drawing/2014/main" id="{D5BA2610-8ECE-0E46-5DE9-D84256F4ABB7}"/>
              </a:ext>
            </a:extLst>
          </p:cNvPr>
          <p:cNvSpPr/>
          <p:nvPr/>
        </p:nvSpPr>
        <p:spPr>
          <a:xfrm>
            <a:off x="6504675" y="5915617"/>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関係再構築</a:t>
            </a:r>
            <a:endParaRPr lang="en-US" altLang="ja-JP" sz="700" dirty="0">
              <a:latin typeface="メイリオ" panose="020B0604030504040204" pitchFamily="50" charset="-128"/>
              <a:ea typeface="メイリオ" panose="020B0604030504040204" pitchFamily="50" charset="-128"/>
            </a:endParaRPr>
          </a:p>
        </p:txBody>
      </p:sp>
      <p:sp>
        <p:nvSpPr>
          <p:cNvPr id="467" name="Shape 119">
            <a:extLst>
              <a:ext uri="{FF2B5EF4-FFF2-40B4-BE49-F238E27FC236}">
                <a16:creationId xmlns:a16="http://schemas.microsoft.com/office/drawing/2014/main" id="{ECDAE41D-74EE-70DA-6BA7-EFBBEFFC654B}"/>
              </a:ext>
            </a:extLst>
          </p:cNvPr>
          <p:cNvSpPr/>
          <p:nvPr/>
        </p:nvSpPr>
        <p:spPr>
          <a:xfrm>
            <a:off x="7778739" y="6007057"/>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9" name="Text 120">
            <a:extLst>
              <a:ext uri="{FF2B5EF4-FFF2-40B4-BE49-F238E27FC236}">
                <a16:creationId xmlns:a16="http://schemas.microsoft.com/office/drawing/2014/main" id="{CB14E44B-796A-6A2D-D1B3-013FACC24DEC}"/>
              </a:ext>
            </a:extLst>
          </p:cNvPr>
          <p:cNvSpPr/>
          <p:nvPr/>
        </p:nvSpPr>
        <p:spPr>
          <a:xfrm>
            <a:off x="7778739" y="6007057"/>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71" name="Shape 121">
            <a:extLst>
              <a:ext uri="{FF2B5EF4-FFF2-40B4-BE49-F238E27FC236}">
                <a16:creationId xmlns:a16="http://schemas.microsoft.com/office/drawing/2014/main" id="{75D4D855-A0E2-F793-0792-F5696FFF8659}"/>
              </a:ext>
            </a:extLst>
          </p:cNvPr>
          <p:cNvSpPr/>
          <p:nvPr/>
        </p:nvSpPr>
        <p:spPr>
          <a:xfrm>
            <a:off x="7870179"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73" name="Text 122">
            <a:extLst>
              <a:ext uri="{FF2B5EF4-FFF2-40B4-BE49-F238E27FC236}">
                <a16:creationId xmlns:a16="http://schemas.microsoft.com/office/drawing/2014/main" id="{B61DFFD1-F302-D0F1-D19E-8923951471AC}"/>
              </a:ext>
            </a:extLst>
          </p:cNvPr>
          <p:cNvSpPr/>
          <p:nvPr/>
        </p:nvSpPr>
        <p:spPr>
          <a:xfrm>
            <a:off x="7870179"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CV誘導</a:t>
            </a:r>
            <a:endParaRPr lang="en-US" sz="700" dirty="0">
              <a:latin typeface="メイリオ" panose="020B0604030504040204" pitchFamily="50" charset="-128"/>
              <a:ea typeface="メイリオ" panose="020B0604030504040204" pitchFamily="50" charset="-128"/>
            </a:endParaRPr>
          </a:p>
        </p:txBody>
      </p:sp>
      <p:sp>
        <p:nvSpPr>
          <p:cNvPr id="9" name="Text 110">
            <a:extLst>
              <a:ext uri="{FF2B5EF4-FFF2-40B4-BE49-F238E27FC236}">
                <a16:creationId xmlns:a16="http://schemas.microsoft.com/office/drawing/2014/main" id="{D50F457C-0303-AF4A-FC6E-E83638F895A9}"/>
              </a:ext>
            </a:extLst>
          </p:cNvPr>
          <p:cNvSpPr/>
          <p:nvPr/>
        </p:nvSpPr>
        <p:spPr>
          <a:xfrm>
            <a:off x="5504931" y="4012903"/>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rPr>
              <a:t>購入検討層</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13" name="Text 110">
            <a:extLst>
              <a:ext uri="{FF2B5EF4-FFF2-40B4-BE49-F238E27FC236}">
                <a16:creationId xmlns:a16="http://schemas.microsoft.com/office/drawing/2014/main" id="{842F8CC1-6BB0-E2D8-D691-F619A1535EB4}"/>
              </a:ext>
            </a:extLst>
          </p:cNvPr>
          <p:cNvSpPr/>
          <p:nvPr/>
        </p:nvSpPr>
        <p:spPr>
          <a:xfrm>
            <a:off x="1060947" y="5264318"/>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再スクリーニング</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15" name="Text 38">
            <a:extLst>
              <a:ext uri="{FF2B5EF4-FFF2-40B4-BE49-F238E27FC236}">
                <a16:creationId xmlns:a16="http://schemas.microsoft.com/office/drawing/2014/main" id="{3534AFB2-278D-FF29-BCC6-4EA3CABA4614}"/>
              </a:ext>
            </a:extLst>
          </p:cNvPr>
          <p:cNvSpPr/>
          <p:nvPr/>
        </p:nvSpPr>
        <p:spPr>
          <a:xfrm>
            <a:off x="1060947" y="2739050"/>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sz="700"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0125450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4B6A2-11F2-64AD-4DDE-1248419C631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11AA335-9B44-6B58-2534-BB048200CA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72627B2D-8393-455B-0855-0EB48BEF4480}"/>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想定：リピート、クロスセルを計画的に実施</a:t>
            </a:r>
          </a:p>
        </p:txBody>
      </p:sp>
      <p:sp>
        <p:nvSpPr>
          <p:cNvPr id="243" name="Shape 8">
            <a:extLst>
              <a:ext uri="{FF2B5EF4-FFF2-40B4-BE49-F238E27FC236}">
                <a16:creationId xmlns:a16="http://schemas.microsoft.com/office/drawing/2014/main" id="{25BEC70F-1CF8-F07A-EA93-FC6E8D940E95}"/>
              </a:ext>
            </a:extLst>
          </p:cNvPr>
          <p:cNvSpPr/>
          <p:nvPr/>
        </p:nvSpPr>
        <p:spPr>
          <a:xfrm>
            <a:off x="622035" y="219562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5" name="Text 9">
            <a:extLst>
              <a:ext uri="{FF2B5EF4-FFF2-40B4-BE49-F238E27FC236}">
                <a16:creationId xmlns:a16="http://schemas.microsoft.com/office/drawing/2014/main" id="{15FC7E1F-9877-CB06-F5F1-37331233B89F}"/>
              </a:ext>
            </a:extLst>
          </p:cNvPr>
          <p:cNvSpPr/>
          <p:nvPr/>
        </p:nvSpPr>
        <p:spPr>
          <a:xfrm>
            <a:off x="750051" y="2178652"/>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リピート施策</a:t>
            </a:r>
            <a:endParaRPr lang="en-US" sz="1000" dirty="0">
              <a:latin typeface="メイリオ" panose="020B0604030504040204" pitchFamily="50" charset="-128"/>
              <a:ea typeface="メイリオ" panose="020B0604030504040204" pitchFamily="50" charset="-128"/>
            </a:endParaRPr>
          </a:p>
        </p:txBody>
      </p:sp>
      <p:sp>
        <p:nvSpPr>
          <p:cNvPr id="247" name="Text 10">
            <a:extLst>
              <a:ext uri="{FF2B5EF4-FFF2-40B4-BE49-F238E27FC236}">
                <a16:creationId xmlns:a16="http://schemas.microsoft.com/office/drawing/2014/main" id="{04713F76-50FA-FA3F-D4BD-08DC408EA176}"/>
              </a:ext>
            </a:extLst>
          </p:cNvPr>
          <p:cNvSpPr/>
          <p:nvPr/>
        </p:nvSpPr>
        <p:spPr>
          <a:xfrm>
            <a:off x="2541313" y="2189103"/>
            <a:ext cx="2177234"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既存顧客を繰り返しCVさせる設計</a:t>
            </a:r>
            <a:endParaRPr lang="en-US" sz="700" dirty="0">
              <a:latin typeface="メイリオ" panose="020B0604030504040204" pitchFamily="50" charset="-128"/>
              <a:ea typeface="メイリオ" panose="020B0604030504040204" pitchFamily="50" charset="-128"/>
            </a:endParaRPr>
          </a:p>
        </p:txBody>
      </p:sp>
      <p:sp>
        <p:nvSpPr>
          <p:cNvPr id="249" name="Shape 11">
            <a:extLst>
              <a:ext uri="{FF2B5EF4-FFF2-40B4-BE49-F238E27FC236}">
                <a16:creationId xmlns:a16="http://schemas.microsoft.com/office/drawing/2014/main" id="{8636F3C8-63E7-CBB8-3872-E6B2584513F2}"/>
              </a:ext>
            </a:extLst>
          </p:cNvPr>
          <p:cNvSpPr/>
          <p:nvPr/>
        </p:nvSpPr>
        <p:spPr>
          <a:xfrm>
            <a:off x="5066019" y="219562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1" name="Text 12">
            <a:extLst>
              <a:ext uri="{FF2B5EF4-FFF2-40B4-BE49-F238E27FC236}">
                <a16:creationId xmlns:a16="http://schemas.microsoft.com/office/drawing/2014/main" id="{6615CF57-D24E-7288-7AB0-1DF692D04526}"/>
              </a:ext>
            </a:extLst>
          </p:cNvPr>
          <p:cNvSpPr/>
          <p:nvPr/>
        </p:nvSpPr>
        <p:spPr>
          <a:xfrm>
            <a:off x="5194035" y="2178652"/>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クロスセル施策</a:t>
            </a:r>
            <a:endParaRPr lang="en-US" sz="1000" dirty="0">
              <a:latin typeface="メイリオ" panose="020B0604030504040204" pitchFamily="50" charset="-128"/>
              <a:ea typeface="メイリオ" panose="020B0604030504040204" pitchFamily="50" charset="-128"/>
            </a:endParaRPr>
          </a:p>
        </p:txBody>
      </p:sp>
      <p:sp>
        <p:nvSpPr>
          <p:cNvPr id="253" name="Text 13">
            <a:extLst>
              <a:ext uri="{FF2B5EF4-FFF2-40B4-BE49-F238E27FC236}">
                <a16:creationId xmlns:a16="http://schemas.microsoft.com/office/drawing/2014/main" id="{7C345B51-6053-1E03-9823-0F386006D466}"/>
              </a:ext>
            </a:extLst>
          </p:cNvPr>
          <p:cNvSpPr/>
          <p:nvPr/>
        </p:nvSpPr>
        <p:spPr>
          <a:xfrm>
            <a:off x="6985297" y="2189103"/>
            <a:ext cx="2177234"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関連サービス・上位プランへの誘導設計</a:t>
            </a:r>
            <a:endParaRPr lang="en-US" sz="700" dirty="0">
              <a:latin typeface="メイリオ" panose="020B0604030504040204" pitchFamily="50" charset="-128"/>
              <a:ea typeface="メイリオ" panose="020B0604030504040204" pitchFamily="50" charset="-128"/>
            </a:endParaRPr>
          </a:p>
        </p:txBody>
      </p:sp>
      <p:sp>
        <p:nvSpPr>
          <p:cNvPr id="255" name="Shape 15">
            <a:extLst>
              <a:ext uri="{FF2B5EF4-FFF2-40B4-BE49-F238E27FC236}">
                <a16:creationId xmlns:a16="http://schemas.microsoft.com/office/drawing/2014/main" id="{2BEE7A23-A38F-24B6-8785-FB455AC73808}"/>
              </a:ext>
            </a:extLst>
          </p:cNvPr>
          <p:cNvSpPr/>
          <p:nvPr/>
        </p:nvSpPr>
        <p:spPr>
          <a:xfrm>
            <a:off x="622035" y="261310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9" name="Shape 17">
            <a:extLst>
              <a:ext uri="{FF2B5EF4-FFF2-40B4-BE49-F238E27FC236}">
                <a16:creationId xmlns:a16="http://schemas.microsoft.com/office/drawing/2014/main" id="{6EA2FE60-CA64-D4E8-A942-9C618AC68B86}"/>
              </a:ext>
            </a:extLst>
          </p:cNvPr>
          <p:cNvSpPr/>
          <p:nvPr/>
        </p:nvSpPr>
        <p:spPr>
          <a:xfrm>
            <a:off x="731763" y="270454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Text 18">
            <a:extLst>
              <a:ext uri="{FF2B5EF4-FFF2-40B4-BE49-F238E27FC236}">
                <a16:creationId xmlns:a16="http://schemas.microsoft.com/office/drawing/2014/main" id="{E856EF37-698D-F191-3067-928FC0AFC456}"/>
              </a:ext>
            </a:extLst>
          </p:cNvPr>
          <p:cNvSpPr/>
          <p:nvPr/>
        </p:nvSpPr>
        <p:spPr>
          <a:xfrm>
            <a:off x="731763" y="2704549"/>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3" name="Shape 19">
            <a:extLst>
              <a:ext uri="{FF2B5EF4-FFF2-40B4-BE49-F238E27FC236}">
                <a16:creationId xmlns:a16="http://schemas.microsoft.com/office/drawing/2014/main" id="{C3D7846E-19C7-41FD-05BA-E1F3CF32FFFD}"/>
              </a:ext>
            </a:extLst>
          </p:cNvPr>
          <p:cNvSpPr/>
          <p:nvPr/>
        </p:nvSpPr>
        <p:spPr>
          <a:xfrm>
            <a:off x="1079235" y="2731981"/>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265" name="Text 20">
            <a:extLst>
              <a:ext uri="{FF2B5EF4-FFF2-40B4-BE49-F238E27FC236}">
                <a16:creationId xmlns:a16="http://schemas.microsoft.com/office/drawing/2014/main" id="{B823E9DA-260C-1603-CA04-ED130644314C}"/>
              </a:ext>
            </a:extLst>
          </p:cNvPr>
          <p:cNvSpPr/>
          <p:nvPr/>
        </p:nvSpPr>
        <p:spPr>
          <a:xfrm>
            <a:off x="1079235" y="2731981"/>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アフターフォロー</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67" name="Text 21">
            <a:extLst>
              <a:ext uri="{FF2B5EF4-FFF2-40B4-BE49-F238E27FC236}">
                <a16:creationId xmlns:a16="http://schemas.microsoft.com/office/drawing/2014/main" id="{FCE3B029-FE9D-7576-7B05-2585AB5A66B1}"/>
              </a:ext>
            </a:extLst>
          </p:cNvPr>
          <p:cNvSpPr/>
          <p:nvPr/>
        </p:nvSpPr>
        <p:spPr>
          <a:xfrm>
            <a:off x="1993635" y="2704549"/>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購入・利用完了後の自動フォローアップ配信</a:t>
            </a:r>
            <a:endParaRPr lang="en-US" sz="1000" dirty="0">
              <a:latin typeface="メイリオ" panose="020B0604030504040204" pitchFamily="50" charset="-128"/>
              <a:ea typeface="メイリオ" panose="020B0604030504040204" pitchFamily="50" charset="-128"/>
            </a:endParaRPr>
          </a:p>
        </p:txBody>
      </p:sp>
      <p:sp>
        <p:nvSpPr>
          <p:cNvPr id="269" name="Text 22">
            <a:extLst>
              <a:ext uri="{FF2B5EF4-FFF2-40B4-BE49-F238E27FC236}">
                <a16:creationId xmlns:a16="http://schemas.microsoft.com/office/drawing/2014/main" id="{C1ECFC15-9129-ED3B-D3EF-84A237B9E067}"/>
              </a:ext>
            </a:extLst>
          </p:cNvPr>
          <p:cNvSpPr/>
          <p:nvPr/>
        </p:nvSpPr>
        <p:spPr>
          <a:xfrm>
            <a:off x="731763" y="3033733"/>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サービス利用後30日・3ヶ月・6ヶ月のタイミングで自動配信。「その後いかがですか？」「定期メンテナンスのご案内」など適切なタイミングで次回利用を自然に促す。</a:t>
            </a:r>
            <a:endParaRPr lang="en-US" sz="600" dirty="0">
              <a:latin typeface="メイリオ" panose="020B0604030504040204" pitchFamily="50" charset="-128"/>
              <a:ea typeface="メイリオ" panose="020B0604030504040204" pitchFamily="50" charset="-128"/>
            </a:endParaRPr>
          </a:p>
        </p:txBody>
      </p:sp>
      <p:sp>
        <p:nvSpPr>
          <p:cNvPr id="271" name="Shape 23">
            <a:extLst>
              <a:ext uri="{FF2B5EF4-FFF2-40B4-BE49-F238E27FC236}">
                <a16:creationId xmlns:a16="http://schemas.microsoft.com/office/drawing/2014/main" id="{02AAD0EA-81DD-0BAE-0FBC-DF75C0098CFF}"/>
              </a:ext>
            </a:extLst>
          </p:cNvPr>
          <p:cNvSpPr/>
          <p:nvPr/>
        </p:nvSpPr>
        <p:spPr>
          <a:xfrm>
            <a:off x="713475" y="338120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購入完了</a:t>
            </a:r>
            <a:endParaRPr lang="en-US" altLang="ja-JP" sz="700" dirty="0">
              <a:latin typeface="メイリオ" panose="020B0604030504040204" pitchFamily="50" charset="-128"/>
              <a:ea typeface="メイリオ" panose="020B0604030504040204" pitchFamily="50" charset="-128"/>
            </a:endParaRPr>
          </a:p>
        </p:txBody>
      </p:sp>
      <p:sp>
        <p:nvSpPr>
          <p:cNvPr id="275" name="Shape 25">
            <a:extLst>
              <a:ext uri="{FF2B5EF4-FFF2-40B4-BE49-F238E27FC236}">
                <a16:creationId xmlns:a16="http://schemas.microsoft.com/office/drawing/2014/main" id="{597E6017-68DF-6125-D04E-EBE42E4AC1C8}"/>
              </a:ext>
            </a:extLst>
          </p:cNvPr>
          <p:cNvSpPr/>
          <p:nvPr/>
        </p:nvSpPr>
        <p:spPr>
          <a:xfrm>
            <a:off x="1987539" y="3472645"/>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6">
            <a:extLst>
              <a:ext uri="{FF2B5EF4-FFF2-40B4-BE49-F238E27FC236}">
                <a16:creationId xmlns:a16="http://schemas.microsoft.com/office/drawing/2014/main" id="{A0AA9CE1-6CB6-6DB8-F485-AA5FC31BD9AB}"/>
              </a:ext>
            </a:extLst>
          </p:cNvPr>
          <p:cNvSpPr/>
          <p:nvPr/>
        </p:nvSpPr>
        <p:spPr>
          <a:xfrm>
            <a:off x="1987539" y="3472645"/>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79" name="Shape 27">
            <a:extLst>
              <a:ext uri="{FF2B5EF4-FFF2-40B4-BE49-F238E27FC236}">
                <a16:creationId xmlns:a16="http://schemas.microsoft.com/office/drawing/2014/main" id="{0033C6EE-6DB2-CF55-B4C7-D25DA14E4D93}"/>
              </a:ext>
            </a:extLst>
          </p:cNvPr>
          <p:cNvSpPr/>
          <p:nvPr/>
        </p:nvSpPr>
        <p:spPr>
          <a:xfrm>
            <a:off x="2078979" y="3381205"/>
            <a:ext cx="1274064" cy="329184"/>
          </a:xfrm>
          <a:prstGeom prst="roundRect">
            <a:avLst>
              <a:gd name="adj" fmla="val 16667"/>
            </a:avLst>
          </a:prstGeom>
          <a:solidFill>
            <a:schemeClr val="tx1"/>
          </a:solidFill>
          <a:ln w="12700">
            <a:noFill/>
            <a:prstDash val="solid"/>
          </a:ln>
        </p:spPr>
        <p:txBody>
          <a:bodyPr/>
          <a:lstStyle/>
          <a:p>
            <a:endParaRPr lang="ja-JP" altLang="en-US" sz="700" dirty="0">
              <a:latin typeface="メイリオ" panose="020B0604030504040204" pitchFamily="50" charset="-128"/>
              <a:ea typeface="メイリオ" panose="020B0604030504040204" pitchFamily="50" charset="-128"/>
            </a:endParaRPr>
          </a:p>
        </p:txBody>
      </p:sp>
      <p:sp>
        <p:nvSpPr>
          <p:cNvPr id="281" name="Text 28">
            <a:extLst>
              <a:ext uri="{FF2B5EF4-FFF2-40B4-BE49-F238E27FC236}">
                <a16:creationId xmlns:a16="http://schemas.microsoft.com/office/drawing/2014/main" id="{7A443300-A185-ED88-10AA-DFD63178035A}"/>
              </a:ext>
            </a:extLst>
          </p:cNvPr>
          <p:cNvSpPr/>
          <p:nvPr/>
        </p:nvSpPr>
        <p:spPr>
          <a:xfrm>
            <a:off x="2078979" y="3381205"/>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30日/3ヶ月/6ヶ月</a:t>
            </a:r>
            <a:endParaRPr lang="en-US" sz="700" dirty="0">
              <a:latin typeface="メイリオ" panose="020B0604030504040204" pitchFamily="50" charset="-128"/>
              <a:ea typeface="メイリオ" panose="020B0604030504040204" pitchFamily="50" charset="-128"/>
            </a:endParaRPr>
          </a:p>
        </p:txBody>
      </p:sp>
      <p:sp>
        <p:nvSpPr>
          <p:cNvPr id="283" name="Shape 29">
            <a:extLst>
              <a:ext uri="{FF2B5EF4-FFF2-40B4-BE49-F238E27FC236}">
                <a16:creationId xmlns:a16="http://schemas.microsoft.com/office/drawing/2014/main" id="{A8CDF565-4E56-34DE-F4B7-83C324AB1111}"/>
              </a:ext>
            </a:extLst>
          </p:cNvPr>
          <p:cNvSpPr/>
          <p:nvPr/>
        </p:nvSpPr>
        <p:spPr>
          <a:xfrm>
            <a:off x="3353043" y="3472645"/>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30">
            <a:extLst>
              <a:ext uri="{FF2B5EF4-FFF2-40B4-BE49-F238E27FC236}">
                <a16:creationId xmlns:a16="http://schemas.microsoft.com/office/drawing/2014/main" id="{C7552AF9-D505-7C0D-70BF-ACE641907EEA}"/>
              </a:ext>
            </a:extLst>
          </p:cNvPr>
          <p:cNvSpPr/>
          <p:nvPr/>
        </p:nvSpPr>
        <p:spPr>
          <a:xfrm>
            <a:off x="3353043" y="3472645"/>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7" name="Shape 31">
            <a:extLst>
              <a:ext uri="{FF2B5EF4-FFF2-40B4-BE49-F238E27FC236}">
                <a16:creationId xmlns:a16="http://schemas.microsoft.com/office/drawing/2014/main" id="{41993352-6267-4FE7-B0F8-37A18FC55C5D}"/>
              </a:ext>
            </a:extLst>
          </p:cNvPr>
          <p:cNvSpPr/>
          <p:nvPr/>
        </p:nvSpPr>
        <p:spPr>
          <a:xfrm>
            <a:off x="3444483" y="338120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89" name="Text 32">
            <a:extLst>
              <a:ext uri="{FF2B5EF4-FFF2-40B4-BE49-F238E27FC236}">
                <a16:creationId xmlns:a16="http://schemas.microsoft.com/office/drawing/2014/main" id="{56896933-7E6D-6A12-EEAF-C1E0A07B9A27}"/>
              </a:ext>
            </a:extLst>
          </p:cNvPr>
          <p:cNvSpPr/>
          <p:nvPr/>
        </p:nvSpPr>
        <p:spPr>
          <a:xfrm>
            <a:off x="3444483" y="3381205"/>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自動リマインド</a:t>
            </a:r>
            <a:endParaRPr lang="en-US" sz="700" dirty="0">
              <a:latin typeface="メイリオ" panose="020B0604030504040204" pitchFamily="50" charset="-128"/>
              <a:ea typeface="メイリオ" panose="020B0604030504040204" pitchFamily="50" charset="-128"/>
            </a:endParaRPr>
          </a:p>
        </p:txBody>
      </p:sp>
      <p:sp>
        <p:nvSpPr>
          <p:cNvPr id="291" name="Shape 33">
            <a:extLst>
              <a:ext uri="{FF2B5EF4-FFF2-40B4-BE49-F238E27FC236}">
                <a16:creationId xmlns:a16="http://schemas.microsoft.com/office/drawing/2014/main" id="{F55E1F0E-CE1E-4788-56E8-EEC6BC428B40}"/>
              </a:ext>
            </a:extLst>
          </p:cNvPr>
          <p:cNvSpPr/>
          <p:nvPr/>
        </p:nvSpPr>
        <p:spPr>
          <a:xfrm>
            <a:off x="622035" y="3875743"/>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5" name="Shape 35">
            <a:extLst>
              <a:ext uri="{FF2B5EF4-FFF2-40B4-BE49-F238E27FC236}">
                <a16:creationId xmlns:a16="http://schemas.microsoft.com/office/drawing/2014/main" id="{A12EE24B-120D-6CFC-50B3-086F27872223}"/>
              </a:ext>
            </a:extLst>
          </p:cNvPr>
          <p:cNvSpPr/>
          <p:nvPr/>
        </p:nvSpPr>
        <p:spPr>
          <a:xfrm>
            <a:off x="731763" y="396718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Text 36">
            <a:extLst>
              <a:ext uri="{FF2B5EF4-FFF2-40B4-BE49-F238E27FC236}">
                <a16:creationId xmlns:a16="http://schemas.microsoft.com/office/drawing/2014/main" id="{751A7A54-3F2B-726E-0209-EC76E1460C60}"/>
              </a:ext>
            </a:extLst>
          </p:cNvPr>
          <p:cNvSpPr/>
          <p:nvPr/>
        </p:nvSpPr>
        <p:spPr>
          <a:xfrm>
            <a:off x="731763" y="3967183"/>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299" name="Shape 37">
            <a:extLst>
              <a:ext uri="{FF2B5EF4-FFF2-40B4-BE49-F238E27FC236}">
                <a16:creationId xmlns:a16="http://schemas.microsoft.com/office/drawing/2014/main" id="{8370F2F6-B57B-6CE2-C1D8-99B62C8BD5CA}"/>
              </a:ext>
            </a:extLst>
          </p:cNvPr>
          <p:cNvSpPr/>
          <p:nvPr/>
        </p:nvSpPr>
        <p:spPr>
          <a:xfrm>
            <a:off x="1079235" y="3994615"/>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01" name="Text 38">
            <a:extLst>
              <a:ext uri="{FF2B5EF4-FFF2-40B4-BE49-F238E27FC236}">
                <a16:creationId xmlns:a16="http://schemas.microsoft.com/office/drawing/2014/main" id="{38E18943-F8B5-9629-4062-419A919A3557}"/>
              </a:ext>
            </a:extLst>
          </p:cNvPr>
          <p:cNvSpPr/>
          <p:nvPr/>
        </p:nvSpPr>
        <p:spPr>
          <a:xfrm>
            <a:off x="1079235" y="3994615"/>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記念日配信</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3" name="Text 39">
            <a:extLst>
              <a:ext uri="{FF2B5EF4-FFF2-40B4-BE49-F238E27FC236}">
                <a16:creationId xmlns:a16="http://schemas.microsoft.com/office/drawing/2014/main" id="{3E303003-51EC-7FC3-DE76-F0E6D2EAB3EE}"/>
              </a:ext>
            </a:extLst>
          </p:cNvPr>
          <p:cNvSpPr/>
          <p:nvPr/>
        </p:nvSpPr>
        <p:spPr>
          <a:xfrm>
            <a:off x="1993635" y="3967183"/>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誕生日・契約記念日に特別オファーを自動配信</a:t>
            </a:r>
            <a:endParaRPr lang="en-US" sz="1000" dirty="0">
              <a:latin typeface="メイリオ" panose="020B0604030504040204" pitchFamily="50" charset="-128"/>
              <a:ea typeface="メイリオ" panose="020B0604030504040204" pitchFamily="50" charset="-128"/>
            </a:endParaRPr>
          </a:p>
        </p:txBody>
      </p:sp>
      <p:sp>
        <p:nvSpPr>
          <p:cNvPr id="305" name="Text 40">
            <a:extLst>
              <a:ext uri="{FF2B5EF4-FFF2-40B4-BE49-F238E27FC236}">
                <a16:creationId xmlns:a16="http://schemas.microsoft.com/office/drawing/2014/main" id="{30181338-1CDB-632A-4D21-1980958DAE90}"/>
              </a:ext>
            </a:extLst>
          </p:cNvPr>
          <p:cNvSpPr/>
          <p:nvPr/>
        </p:nvSpPr>
        <p:spPr>
          <a:xfrm>
            <a:off x="731763" y="4296367"/>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誕生日や初回購入日を記念日として登録し、該当日に特別クーポン・優待を自動配信。「あなただけへの特別オファー」感が再購入率を高める。</a:t>
            </a:r>
            <a:endParaRPr lang="en-US" sz="600" dirty="0">
              <a:latin typeface="メイリオ" panose="020B0604030504040204" pitchFamily="50" charset="-128"/>
              <a:ea typeface="メイリオ" panose="020B0604030504040204" pitchFamily="50" charset="-128"/>
            </a:endParaRPr>
          </a:p>
        </p:txBody>
      </p:sp>
      <p:sp>
        <p:nvSpPr>
          <p:cNvPr id="307" name="Shape 41">
            <a:extLst>
              <a:ext uri="{FF2B5EF4-FFF2-40B4-BE49-F238E27FC236}">
                <a16:creationId xmlns:a16="http://schemas.microsoft.com/office/drawing/2014/main" id="{9C3ADD4D-62FF-6E75-0C94-EBA797742E61}"/>
              </a:ext>
            </a:extLst>
          </p:cNvPr>
          <p:cNvSpPr/>
          <p:nvPr/>
        </p:nvSpPr>
        <p:spPr>
          <a:xfrm>
            <a:off x="713475"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09" name="Text 42">
            <a:extLst>
              <a:ext uri="{FF2B5EF4-FFF2-40B4-BE49-F238E27FC236}">
                <a16:creationId xmlns:a16="http://schemas.microsoft.com/office/drawing/2014/main" id="{A3F87B85-6E13-9A64-8ED1-AC226457C436}"/>
              </a:ext>
            </a:extLst>
          </p:cNvPr>
          <p:cNvSpPr/>
          <p:nvPr/>
        </p:nvSpPr>
        <p:spPr>
          <a:xfrm>
            <a:off x="713475"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記念日タグ設定</a:t>
            </a:r>
            <a:endParaRPr lang="en-US" sz="700" dirty="0">
              <a:latin typeface="メイリオ" panose="020B0604030504040204" pitchFamily="50" charset="-128"/>
              <a:ea typeface="メイリオ" panose="020B0604030504040204" pitchFamily="50" charset="-128"/>
            </a:endParaRPr>
          </a:p>
        </p:txBody>
      </p:sp>
      <p:sp>
        <p:nvSpPr>
          <p:cNvPr id="311" name="Shape 43">
            <a:extLst>
              <a:ext uri="{FF2B5EF4-FFF2-40B4-BE49-F238E27FC236}">
                <a16:creationId xmlns:a16="http://schemas.microsoft.com/office/drawing/2014/main" id="{0A895F50-3F88-98A2-89D0-3ACC9E308C89}"/>
              </a:ext>
            </a:extLst>
          </p:cNvPr>
          <p:cNvSpPr/>
          <p:nvPr/>
        </p:nvSpPr>
        <p:spPr>
          <a:xfrm>
            <a:off x="1987539" y="473527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4">
            <a:extLst>
              <a:ext uri="{FF2B5EF4-FFF2-40B4-BE49-F238E27FC236}">
                <a16:creationId xmlns:a16="http://schemas.microsoft.com/office/drawing/2014/main" id="{84141BF0-6600-94F4-8298-8914165AE119}"/>
              </a:ext>
            </a:extLst>
          </p:cNvPr>
          <p:cNvSpPr/>
          <p:nvPr/>
        </p:nvSpPr>
        <p:spPr>
          <a:xfrm>
            <a:off x="1987539" y="473527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5" name="Shape 45">
            <a:extLst>
              <a:ext uri="{FF2B5EF4-FFF2-40B4-BE49-F238E27FC236}">
                <a16:creationId xmlns:a16="http://schemas.microsoft.com/office/drawing/2014/main" id="{D6D24DD8-6D7D-257C-F532-6ED722A69206}"/>
              </a:ext>
            </a:extLst>
          </p:cNvPr>
          <p:cNvSpPr/>
          <p:nvPr/>
        </p:nvSpPr>
        <p:spPr>
          <a:xfrm>
            <a:off x="2078979"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7" name="Text 46">
            <a:extLst>
              <a:ext uri="{FF2B5EF4-FFF2-40B4-BE49-F238E27FC236}">
                <a16:creationId xmlns:a16="http://schemas.microsoft.com/office/drawing/2014/main" id="{7BD3B483-4A49-A931-5EB8-12119ED715C2}"/>
              </a:ext>
            </a:extLst>
          </p:cNvPr>
          <p:cNvSpPr/>
          <p:nvPr/>
        </p:nvSpPr>
        <p:spPr>
          <a:xfrm>
            <a:off x="2078979"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特別オファー配信</a:t>
            </a:r>
            <a:endParaRPr lang="en-US" sz="700" dirty="0">
              <a:latin typeface="メイリオ" panose="020B0604030504040204" pitchFamily="50" charset="-128"/>
              <a:ea typeface="メイリオ" panose="020B0604030504040204" pitchFamily="50" charset="-128"/>
            </a:endParaRPr>
          </a:p>
        </p:txBody>
      </p:sp>
      <p:sp>
        <p:nvSpPr>
          <p:cNvPr id="319" name="Shape 47">
            <a:extLst>
              <a:ext uri="{FF2B5EF4-FFF2-40B4-BE49-F238E27FC236}">
                <a16:creationId xmlns:a16="http://schemas.microsoft.com/office/drawing/2014/main" id="{1A3ED534-DB25-D7E2-0DDC-342462B34810}"/>
              </a:ext>
            </a:extLst>
          </p:cNvPr>
          <p:cNvSpPr/>
          <p:nvPr/>
        </p:nvSpPr>
        <p:spPr>
          <a:xfrm>
            <a:off x="3353043" y="473527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1" name="Text 48">
            <a:extLst>
              <a:ext uri="{FF2B5EF4-FFF2-40B4-BE49-F238E27FC236}">
                <a16:creationId xmlns:a16="http://schemas.microsoft.com/office/drawing/2014/main" id="{0A78ED48-FFFC-A962-F364-19738CBAA8ED}"/>
              </a:ext>
            </a:extLst>
          </p:cNvPr>
          <p:cNvSpPr/>
          <p:nvPr/>
        </p:nvSpPr>
        <p:spPr>
          <a:xfrm>
            <a:off x="3353043" y="473527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3" name="Shape 49">
            <a:extLst>
              <a:ext uri="{FF2B5EF4-FFF2-40B4-BE49-F238E27FC236}">
                <a16:creationId xmlns:a16="http://schemas.microsoft.com/office/drawing/2014/main" id="{A71799E1-6D37-9019-F683-E28EDFCD59C9}"/>
              </a:ext>
            </a:extLst>
          </p:cNvPr>
          <p:cNvSpPr/>
          <p:nvPr/>
        </p:nvSpPr>
        <p:spPr>
          <a:xfrm>
            <a:off x="3444483"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5" name="Text 50">
            <a:extLst>
              <a:ext uri="{FF2B5EF4-FFF2-40B4-BE49-F238E27FC236}">
                <a16:creationId xmlns:a16="http://schemas.microsoft.com/office/drawing/2014/main" id="{95527DCC-1F43-8A3D-2A58-DC34D3444C39}"/>
              </a:ext>
            </a:extLst>
          </p:cNvPr>
          <p:cNvSpPr/>
          <p:nvPr/>
        </p:nvSpPr>
        <p:spPr>
          <a:xfrm>
            <a:off x="3444483"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再購入CV</a:t>
            </a:r>
            <a:endParaRPr lang="en-US" sz="700" dirty="0">
              <a:latin typeface="メイリオ" panose="020B0604030504040204" pitchFamily="50" charset="-128"/>
              <a:ea typeface="メイリオ" panose="020B0604030504040204" pitchFamily="50" charset="-128"/>
            </a:endParaRPr>
          </a:p>
        </p:txBody>
      </p:sp>
      <p:sp>
        <p:nvSpPr>
          <p:cNvPr id="327" name="Shape 51">
            <a:extLst>
              <a:ext uri="{FF2B5EF4-FFF2-40B4-BE49-F238E27FC236}">
                <a16:creationId xmlns:a16="http://schemas.microsoft.com/office/drawing/2014/main" id="{BB7FE265-C435-3F11-D327-2005EB3B7D4C}"/>
              </a:ext>
            </a:extLst>
          </p:cNvPr>
          <p:cNvSpPr/>
          <p:nvPr/>
        </p:nvSpPr>
        <p:spPr>
          <a:xfrm>
            <a:off x="622035" y="513837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1" name="Shape 53">
            <a:extLst>
              <a:ext uri="{FF2B5EF4-FFF2-40B4-BE49-F238E27FC236}">
                <a16:creationId xmlns:a16="http://schemas.microsoft.com/office/drawing/2014/main" id="{F32B0A21-54EF-8445-6E6B-BBF9705C30E4}"/>
              </a:ext>
            </a:extLst>
          </p:cNvPr>
          <p:cNvSpPr/>
          <p:nvPr/>
        </p:nvSpPr>
        <p:spPr>
          <a:xfrm>
            <a:off x="731763" y="522981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Text 54">
            <a:extLst>
              <a:ext uri="{FF2B5EF4-FFF2-40B4-BE49-F238E27FC236}">
                <a16:creationId xmlns:a16="http://schemas.microsoft.com/office/drawing/2014/main" id="{4F222B19-A9AA-8B90-A278-F2067EC7FD8D}"/>
              </a:ext>
            </a:extLst>
          </p:cNvPr>
          <p:cNvSpPr/>
          <p:nvPr/>
        </p:nvSpPr>
        <p:spPr>
          <a:xfrm>
            <a:off x="731763" y="5229817"/>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5" name="Shape 55">
            <a:extLst>
              <a:ext uri="{FF2B5EF4-FFF2-40B4-BE49-F238E27FC236}">
                <a16:creationId xmlns:a16="http://schemas.microsoft.com/office/drawing/2014/main" id="{ABF7DB2E-403A-46F2-A837-399B3FE97C5E}"/>
              </a:ext>
            </a:extLst>
          </p:cNvPr>
          <p:cNvSpPr/>
          <p:nvPr/>
        </p:nvSpPr>
        <p:spPr>
          <a:xfrm>
            <a:off x="1079235" y="5257249"/>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37" name="Text 56">
            <a:extLst>
              <a:ext uri="{FF2B5EF4-FFF2-40B4-BE49-F238E27FC236}">
                <a16:creationId xmlns:a16="http://schemas.microsoft.com/office/drawing/2014/main" id="{8DC1BB15-70BD-88F4-1430-70391985EBFC}"/>
              </a:ext>
            </a:extLst>
          </p:cNvPr>
          <p:cNvSpPr/>
          <p:nvPr/>
        </p:nvSpPr>
        <p:spPr>
          <a:xfrm>
            <a:off x="1079235" y="5257249"/>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紹介キャンペーン</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39" name="Text 57">
            <a:extLst>
              <a:ext uri="{FF2B5EF4-FFF2-40B4-BE49-F238E27FC236}">
                <a16:creationId xmlns:a16="http://schemas.microsoft.com/office/drawing/2014/main" id="{863EF515-E441-C008-46FD-E8772A47BE9A}"/>
              </a:ext>
            </a:extLst>
          </p:cNvPr>
          <p:cNvSpPr/>
          <p:nvPr/>
        </p:nvSpPr>
        <p:spPr>
          <a:xfrm>
            <a:off x="1993635" y="5229817"/>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友人紹介制度をLINEで完結させる仕組みを設計</a:t>
            </a:r>
            <a:endParaRPr lang="en-US" sz="1000" dirty="0">
              <a:latin typeface="メイリオ" panose="020B0604030504040204" pitchFamily="50" charset="-128"/>
              <a:ea typeface="メイリオ" panose="020B0604030504040204" pitchFamily="50" charset="-128"/>
            </a:endParaRPr>
          </a:p>
        </p:txBody>
      </p:sp>
      <p:sp>
        <p:nvSpPr>
          <p:cNvPr id="341" name="Text 58">
            <a:extLst>
              <a:ext uri="{FF2B5EF4-FFF2-40B4-BE49-F238E27FC236}">
                <a16:creationId xmlns:a16="http://schemas.microsoft.com/office/drawing/2014/main" id="{8F06CA0B-814F-E8C0-33FE-0B48BBED0532}"/>
              </a:ext>
            </a:extLst>
          </p:cNvPr>
          <p:cNvSpPr/>
          <p:nvPr/>
        </p:nvSpPr>
        <p:spPr>
          <a:xfrm>
            <a:off x="731763" y="5559001"/>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「友人を紹介してくれたらXXXをプレゼント」をLINEで告知・管理。満足度が高い時期（利用直後・成果確認後）に訴求することで紹介件数が最大化する。</a:t>
            </a:r>
            <a:endParaRPr lang="en-US" sz="600" dirty="0">
              <a:latin typeface="メイリオ" panose="020B0604030504040204" pitchFamily="50" charset="-128"/>
              <a:ea typeface="メイリオ" panose="020B0604030504040204" pitchFamily="50" charset="-128"/>
            </a:endParaRPr>
          </a:p>
        </p:txBody>
      </p:sp>
      <p:sp>
        <p:nvSpPr>
          <p:cNvPr id="343" name="Shape 59">
            <a:extLst>
              <a:ext uri="{FF2B5EF4-FFF2-40B4-BE49-F238E27FC236}">
                <a16:creationId xmlns:a16="http://schemas.microsoft.com/office/drawing/2014/main" id="{F9FC2AD5-120F-E447-D301-5476F135AF0B}"/>
              </a:ext>
            </a:extLst>
          </p:cNvPr>
          <p:cNvSpPr/>
          <p:nvPr/>
        </p:nvSpPr>
        <p:spPr>
          <a:xfrm>
            <a:off x="713475" y="5906473"/>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5" name="Text 60">
            <a:extLst>
              <a:ext uri="{FF2B5EF4-FFF2-40B4-BE49-F238E27FC236}">
                <a16:creationId xmlns:a16="http://schemas.microsoft.com/office/drawing/2014/main" id="{FB0832F3-E1A0-CA4E-156B-CE6E264BF982}"/>
              </a:ext>
            </a:extLst>
          </p:cNvPr>
          <p:cNvSpPr/>
          <p:nvPr/>
        </p:nvSpPr>
        <p:spPr>
          <a:xfrm>
            <a:off x="713475"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利用後3ヶ月</a:t>
            </a:r>
            <a:endParaRPr lang="en-US" sz="700" dirty="0">
              <a:latin typeface="メイリオ" panose="020B0604030504040204" pitchFamily="50" charset="-128"/>
              <a:ea typeface="メイリオ" panose="020B0604030504040204" pitchFamily="50" charset="-128"/>
            </a:endParaRPr>
          </a:p>
        </p:txBody>
      </p:sp>
      <p:sp>
        <p:nvSpPr>
          <p:cNvPr id="347" name="Shape 61">
            <a:extLst>
              <a:ext uri="{FF2B5EF4-FFF2-40B4-BE49-F238E27FC236}">
                <a16:creationId xmlns:a16="http://schemas.microsoft.com/office/drawing/2014/main" id="{E24615D6-1A79-B0F4-BB14-14E2183880AC}"/>
              </a:ext>
            </a:extLst>
          </p:cNvPr>
          <p:cNvSpPr/>
          <p:nvPr/>
        </p:nvSpPr>
        <p:spPr>
          <a:xfrm>
            <a:off x="1987539" y="599791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2">
            <a:extLst>
              <a:ext uri="{FF2B5EF4-FFF2-40B4-BE49-F238E27FC236}">
                <a16:creationId xmlns:a16="http://schemas.microsoft.com/office/drawing/2014/main" id="{64603FC2-C317-4C97-5288-F270620ED7B9}"/>
              </a:ext>
            </a:extLst>
          </p:cNvPr>
          <p:cNvSpPr/>
          <p:nvPr/>
        </p:nvSpPr>
        <p:spPr>
          <a:xfrm>
            <a:off x="1987539" y="599791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1" name="Shape 63">
            <a:extLst>
              <a:ext uri="{FF2B5EF4-FFF2-40B4-BE49-F238E27FC236}">
                <a16:creationId xmlns:a16="http://schemas.microsoft.com/office/drawing/2014/main" id="{C477B16C-33E8-F120-9A1F-AFC395AE6E3D}"/>
              </a:ext>
            </a:extLst>
          </p:cNvPr>
          <p:cNvSpPr/>
          <p:nvPr/>
        </p:nvSpPr>
        <p:spPr>
          <a:xfrm>
            <a:off x="2078979" y="590647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4">
            <a:extLst>
              <a:ext uri="{FF2B5EF4-FFF2-40B4-BE49-F238E27FC236}">
                <a16:creationId xmlns:a16="http://schemas.microsoft.com/office/drawing/2014/main" id="{2A73DA5C-F06B-A590-9987-5306E6C59DCE}"/>
              </a:ext>
            </a:extLst>
          </p:cNvPr>
          <p:cNvSpPr/>
          <p:nvPr/>
        </p:nvSpPr>
        <p:spPr>
          <a:xfrm>
            <a:off x="2078979"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紹介特典訴求</a:t>
            </a:r>
            <a:endParaRPr lang="en-US" sz="700" dirty="0">
              <a:latin typeface="メイリオ" panose="020B0604030504040204" pitchFamily="50" charset="-128"/>
              <a:ea typeface="メイリオ" panose="020B0604030504040204" pitchFamily="50" charset="-128"/>
            </a:endParaRPr>
          </a:p>
        </p:txBody>
      </p:sp>
      <p:sp>
        <p:nvSpPr>
          <p:cNvPr id="355" name="Shape 65">
            <a:extLst>
              <a:ext uri="{FF2B5EF4-FFF2-40B4-BE49-F238E27FC236}">
                <a16:creationId xmlns:a16="http://schemas.microsoft.com/office/drawing/2014/main" id="{4B5406BB-D5C2-0D61-B213-493260EC338A}"/>
              </a:ext>
            </a:extLst>
          </p:cNvPr>
          <p:cNvSpPr/>
          <p:nvPr/>
        </p:nvSpPr>
        <p:spPr>
          <a:xfrm>
            <a:off x="3353043" y="599791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6">
            <a:extLst>
              <a:ext uri="{FF2B5EF4-FFF2-40B4-BE49-F238E27FC236}">
                <a16:creationId xmlns:a16="http://schemas.microsoft.com/office/drawing/2014/main" id="{E443F4FD-BC95-5CA8-315B-21521441E367}"/>
              </a:ext>
            </a:extLst>
          </p:cNvPr>
          <p:cNvSpPr/>
          <p:nvPr/>
        </p:nvSpPr>
        <p:spPr>
          <a:xfrm>
            <a:off x="3353043" y="599791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9" name="Shape 67">
            <a:extLst>
              <a:ext uri="{FF2B5EF4-FFF2-40B4-BE49-F238E27FC236}">
                <a16:creationId xmlns:a16="http://schemas.microsoft.com/office/drawing/2014/main" id="{DA4B236A-3702-649B-9446-3AB64493F09A}"/>
              </a:ext>
            </a:extLst>
          </p:cNvPr>
          <p:cNvSpPr/>
          <p:nvPr/>
        </p:nvSpPr>
        <p:spPr>
          <a:xfrm>
            <a:off x="3444483" y="5906473"/>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紹介→新規CV</a:t>
            </a:r>
            <a:endParaRPr lang="en-US" altLang="ja-JP" sz="700" dirty="0">
              <a:latin typeface="メイリオ" panose="020B0604030504040204" pitchFamily="50" charset="-128"/>
              <a:ea typeface="メイリオ" panose="020B0604030504040204" pitchFamily="50" charset="-128"/>
            </a:endParaRPr>
          </a:p>
        </p:txBody>
      </p:sp>
      <p:sp>
        <p:nvSpPr>
          <p:cNvPr id="363" name="Shape 69">
            <a:extLst>
              <a:ext uri="{FF2B5EF4-FFF2-40B4-BE49-F238E27FC236}">
                <a16:creationId xmlns:a16="http://schemas.microsoft.com/office/drawing/2014/main" id="{11D208CF-F0AA-77FB-68F5-7FA3663557BE}"/>
              </a:ext>
            </a:extLst>
          </p:cNvPr>
          <p:cNvSpPr/>
          <p:nvPr/>
        </p:nvSpPr>
        <p:spPr>
          <a:xfrm>
            <a:off x="5066019" y="261310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7" name="Shape 71">
            <a:extLst>
              <a:ext uri="{FF2B5EF4-FFF2-40B4-BE49-F238E27FC236}">
                <a16:creationId xmlns:a16="http://schemas.microsoft.com/office/drawing/2014/main" id="{BA65DAD3-3E2D-0363-0ABA-819311B17A9B}"/>
              </a:ext>
            </a:extLst>
          </p:cNvPr>
          <p:cNvSpPr/>
          <p:nvPr/>
        </p:nvSpPr>
        <p:spPr>
          <a:xfrm>
            <a:off x="5175747" y="270454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Text 72">
            <a:extLst>
              <a:ext uri="{FF2B5EF4-FFF2-40B4-BE49-F238E27FC236}">
                <a16:creationId xmlns:a16="http://schemas.microsoft.com/office/drawing/2014/main" id="{772DDEC2-C488-7293-86EB-F96BAAD7EA90}"/>
              </a:ext>
            </a:extLst>
          </p:cNvPr>
          <p:cNvSpPr/>
          <p:nvPr/>
        </p:nvSpPr>
        <p:spPr>
          <a:xfrm>
            <a:off x="5175747" y="2704549"/>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1" name="Shape 73">
            <a:extLst>
              <a:ext uri="{FF2B5EF4-FFF2-40B4-BE49-F238E27FC236}">
                <a16:creationId xmlns:a16="http://schemas.microsoft.com/office/drawing/2014/main" id="{595BE68E-4F81-E693-447A-8BD486204CD6}"/>
              </a:ext>
            </a:extLst>
          </p:cNvPr>
          <p:cNvSpPr/>
          <p:nvPr/>
        </p:nvSpPr>
        <p:spPr>
          <a:xfrm>
            <a:off x="5523219" y="2731981"/>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73" name="Text 74">
            <a:extLst>
              <a:ext uri="{FF2B5EF4-FFF2-40B4-BE49-F238E27FC236}">
                <a16:creationId xmlns:a16="http://schemas.microsoft.com/office/drawing/2014/main" id="{DE0C1BD7-D498-BF93-A12E-93FC8F3EFEEB}"/>
              </a:ext>
            </a:extLst>
          </p:cNvPr>
          <p:cNvSpPr/>
          <p:nvPr/>
        </p:nvSpPr>
        <p:spPr>
          <a:xfrm>
            <a:off x="5523219" y="2731981"/>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利用状況連動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5" name="Text 75">
            <a:extLst>
              <a:ext uri="{FF2B5EF4-FFF2-40B4-BE49-F238E27FC236}">
                <a16:creationId xmlns:a16="http://schemas.microsoft.com/office/drawing/2014/main" id="{828F19F3-3156-29E9-3072-E1DED5F92BA0}"/>
              </a:ext>
            </a:extLst>
          </p:cNvPr>
          <p:cNvSpPr/>
          <p:nvPr/>
        </p:nvSpPr>
        <p:spPr>
          <a:xfrm>
            <a:off x="6437619" y="2704549"/>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利用量・頻度に応じたアップグレード提案</a:t>
            </a:r>
            <a:endParaRPr lang="en-US" sz="1000" dirty="0">
              <a:latin typeface="メイリオ" panose="020B0604030504040204" pitchFamily="50" charset="-128"/>
              <a:ea typeface="メイリオ" panose="020B0604030504040204" pitchFamily="50" charset="-128"/>
            </a:endParaRPr>
          </a:p>
        </p:txBody>
      </p:sp>
      <p:sp>
        <p:nvSpPr>
          <p:cNvPr id="377" name="Text 76">
            <a:extLst>
              <a:ext uri="{FF2B5EF4-FFF2-40B4-BE49-F238E27FC236}">
                <a16:creationId xmlns:a16="http://schemas.microsoft.com/office/drawing/2014/main" id="{74CEEBF9-FB5E-B42A-5BBB-7613F874DD22}"/>
              </a:ext>
            </a:extLst>
          </p:cNvPr>
          <p:cNvSpPr/>
          <p:nvPr/>
        </p:nvSpPr>
        <p:spPr>
          <a:xfrm>
            <a:off x="5175747" y="3033733"/>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利用状況タグを活用して「よく使っている層」に上位プランの提案を自動配信。「今のプランより月1,000円で〇〇が使い放題に」という具体的メリット提示がCVRを高める。</a:t>
            </a:r>
            <a:endParaRPr lang="en-US" sz="600" dirty="0">
              <a:latin typeface="メイリオ" panose="020B0604030504040204" pitchFamily="50" charset="-128"/>
              <a:ea typeface="メイリオ" panose="020B0604030504040204" pitchFamily="50" charset="-128"/>
            </a:endParaRPr>
          </a:p>
        </p:txBody>
      </p:sp>
      <p:sp>
        <p:nvSpPr>
          <p:cNvPr id="379" name="Shape 77">
            <a:extLst>
              <a:ext uri="{FF2B5EF4-FFF2-40B4-BE49-F238E27FC236}">
                <a16:creationId xmlns:a16="http://schemas.microsoft.com/office/drawing/2014/main" id="{EB3AEAB9-3091-B770-5C73-60F2CC509D9D}"/>
              </a:ext>
            </a:extLst>
          </p:cNvPr>
          <p:cNvSpPr/>
          <p:nvPr/>
        </p:nvSpPr>
        <p:spPr>
          <a:xfrm>
            <a:off x="5157459" y="338120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1" name="Text 78">
            <a:extLst>
              <a:ext uri="{FF2B5EF4-FFF2-40B4-BE49-F238E27FC236}">
                <a16:creationId xmlns:a16="http://schemas.microsoft.com/office/drawing/2014/main" id="{16B65D6F-FEB1-6B8D-4243-6E6A8950251C}"/>
              </a:ext>
            </a:extLst>
          </p:cNvPr>
          <p:cNvSpPr/>
          <p:nvPr/>
        </p:nvSpPr>
        <p:spPr>
          <a:xfrm>
            <a:off x="5157459" y="3381205"/>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利用量タグ付与</a:t>
            </a:r>
            <a:endParaRPr lang="en-US" sz="700" dirty="0">
              <a:latin typeface="メイリオ" panose="020B0604030504040204" pitchFamily="50" charset="-128"/>
              <a:ea typeface="メイリオ" panose="020B0604030504040204" pitchFamily="50" charset="-128"/>
            </a:endParaRPr>
          </a:p>
        </p:txBody>
      </p:sp>
      <p:sp>
        <p:nvSpPr>
          <p:cNvPr id="383" name="Shape 79">
            <a:extLst>
              <a:ext uri="{FF2B5EF4-FFF2-40B4-BE49-F238E27FC236}">
                <a16:creationId xmlns:a16="http://schemas.microsoft.com/office/drawing/2014/main" id="{ACEF9838-1EE3-1464-24F9-5960C72ACE63}"/>
              </a:ext>
            </a:extLst>
          </p:cNvPr>
          <p:cNvSpPr/>
          <p:nvPr/>
        </p:nvSpPr>
        <p:spPr>
          <a:xfrm>
            <a:off x="6431523" y="3472645"/>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80">
            <a:extLst>
              <a:ext uri="{FF2B5EF4-FFF2-40B4-BE49-F238E27FC236}">
                <a16:creationId xmlns:a16="http://schemas.microsoft.com/office/drawing/2014/main" id="{69501D59-8F67-4ADD-2B3A-62D69E08E6AD}"/>
              </a:ext>
            </a:extLst>
          </p:cNvPr>
          <p:cNvSpPr/>
          <p:nvPr/>
        </p:nvSpPr>
        <p:spPr>
          <a:xfrm>
            <a:off x="6431523" y="3472645"/>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7" name="Shape 81">
            <a:extLst>
              <a:ext uri="{FF2B5EF4-FFF2-40B4-BE49-F238E27FC236}">
                <a16:creationId xmlns:a16="http://schemas.microsoft.com/office/drawing/2014/main" id="{24E5901A-0626-345C-7E4E-690DFA9947EE}"/>
              </a:ext>
            </a:extLst>
          </p:cNvPr>
          <p:cNvSpPr/>
          <p:nvPr/>
        </p:nvSpPr>
        <p:spPr>
          <a:xfrm>
            <a:off x="6522963" y="338120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アップグレード提案</a:t>
            </a:r>
            <a:endParaRPr lang="en-US" altLang="ja-JP" sz="700" dirty="0">
              <a:latin typeface="メイリオ" panose="020B0604030504040204" pitchFamily="50" charset="-128"/>
              <a:ea typeface="メイリオ" panose="020B0604030504040204" pitchFamily="50" charset="-128"/>
            </a:endParaRPr>
          </a:p>
        </p:txBody>
      </p:sp>
      <p:sp>
        <p:nvSpPr>
          <p:cNvPr id="391" name="Shape 83">
            <a:extLst>
              <a:ext uri="{FF2B5EF4-FFF2-40B4-BE49-F238E27FC236}">
                <a16:creationId xmlns:a16="http://schemas.microsoft.com/office/drawing/2014/main" id="{DBA87A6B-3A5A-5BB5-800C-AD29E3A38E51}"/>
              </a:ext>
            </a:extLst>
          </p:cNvPr>
          <p:cNvSpPr/>
          <p:nvPr/>
        </p:nvSpPr>
        <p:spPr>
          <a:xfrm>
            <a:off x="7797027" y="3472645"/>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3" name="Text 84">
            <a:extLst>
              <a:ext uri="{FF2B5EF4-FFF2-40B4-BE49-F238E27FC236}">
                <a16:creationId xmlns:a16="http://schemas.microsoft.com/office/drawing/2014/main" id="{5F05F5BA-6ADB-F29A-796A-6AE1FAE69215}"/>
              </a:ext>
            </a:extLst>
          </p:cNvPr>
          <p:cNvSpPr/>
          <p:nvPr/>
        </p:nvSpPr>
        <p:spPr>
          <a:xfrm>
            <a:off x="7797027" y="3472645"/>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5" name="Shape 85">
            <a:extLst>
              <a:ext uri="{FF2B5EF4-FFF2-40B4-BE49-F238E27FC236}">
                <a16:creationId xmlns:a16="http://schemas.microsoft.com/office/drawing/2014/main" id="{B5E69B07-FB02-4F49-A566-CE157E614F49}"/>
              </a:ext>
            </a:extLst>
          </p:cNvPr>
          <p:cNvSpPr/>
          <p:nvPr/>
        </p:nvSpPr>
        <p:spPr>
          <a:xfrm>
            <a:off x="7888467" y="338120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プラン変更CV</a:t>
            </a:r>
            <a:endParaRPr lang="en-US" altLang="ja-JP" sz="700" dirty="0">
              <a:latin typeface="メイリオ" panose="020B0604030504040204" pitchFamily="50" charset="-128"/>
              <a:ea typeface="メイリオ" panose="020B0604030504040204" pitchFamily="50" charset="-128"/>
            </a:endParaRPr>
          </a:p>
        </p:txBody>
      </p:sp>
      <p:sp>
        <p:nvSpPr>
          <p:cNvPr id="399" name="Shape 87">
            <a:extLst>
              <a:ext uri="{FF2B5EF4-FFF2-40B4-BE49-F238E27FC236}">
                <a16:creationId xmlns:a16="http://schemas.microsoft.com/office/drawing/2014/main" id="{BF4F34D9-E34A-88AA-21A2-8773568F5586}"/>
              </a:ext>
            </a:extLst>
          </p:cNvPr>
          <p:cNvSpPr/>
          <p:nvPr/>
        </p:nvSpPr>
        <p:spPr>
          <a:xfrm>
            <a:off x="5066019" y="3875743"/>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3" name="Shape 89">
            <a:extLst>
              <a:ext uri="{FF2B5EF4-FFF2-40B4-BE49-F238E27FC236}">
                <a16:creationId xmlns:a16="http://schemas.microsoft.com/office/drawing/2014/main" id="{EFE5E9D0-3F2E-411E-681C-D9CBD3BA1795}"/>
              </a:ext>
            </a:extLst>
          </p:cNvPr>
          <p:cNvSpPr/>
          <p:nvPr/>
        </p:nvSpPr>
        <p:spPr>
          <a:xfrm>
            <a:off x="5175747" y="396718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Text 90">
            <a:extLst>
              <a:ext uri="{FF2B5EF4-FFF2-40B4-BE49-F238E27FC236}">
                <a16:creationId xmlns:a16="http://schemas.microsoft.com/office/drawing/2014/main" id="{5A2E3029-A975-C95C-7E57-D4269143AA55}"/>
              </a:ext>
            </a:extLst>
          </p:cNvPr>
          <p:cNvSpPr/>
          <p:nvPr/>
        </p:nvSpPr>
        <p:spPr>
          <a:xfrm>
            <a:off x="5175747" y="3967183"/>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07" name="Shape 91">
            <a:extLst>
              <a:ext uri="{FF2B5EF4-FFF2-40B4-BE49-F238E27FC236}">
                <a16:creationId xmlns:a16="http://schemas.microsoft.com/office/drawing/2014/main" id="{0B44982A-093D-F4A4-8627-DD2BEB875FCE}"/>
              </a:ext>
            </a:extLst>
          </p:cNvPr>
          <p:cNvSpPr/>
          <p:nvPr/>
        </p:nvSpPr>
        <p:spPr>
          <a:xfrm>
            <a:off x="5523219" y="3994615"/>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09" name="Text 92">
            <a:extLst>
              <a:ext uri="{FF2B5EF4-FFF2-40B4-BE49-F238E27FC236}">
                <a16:creationId xmlns:a16="http://schemas.microsoft.com/office/drawing/2014/main" id="{8E58A804-D262-6223-9739-795C7490802F}"/>
              </a:ext>
            </a:extLst>
          </p:cNvPr>
          <p:cNvSpPr/>
          <p:nvPr/>
        </p:nvSpPr>
        <p:spPr>
          <a:xfrm>
            <a:off x="5523219" y="3994615"/>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関連商材</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11" name="Text 93">
            <a:extLst>
              <a:ext uri="{FF2B5EF4-FFF2-40B4-BE49-F238E27FC236}">
                <a16:creationId xmlns:a16="http://schemas.microsoft.com/office/drawing/2014/main" id="{2820774A-8461-0C15-3354-D17D2A38ACE9}"/>
              </a:ext>
            </a:extLst>
          </p:cNvPr>
          <p:cNvSpPr/>
          <p:nvPr/>
        </p:nvSpPr>
        <p:spPr>
          <a:xfrm>
            <a:off x="6437619" y="3967183"/>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購入・利用カテゴリに紐づくクロスセル配信</a:t>
            </a:r>
            <a:endParaRPr lang="en-US" sz="1000" dirty="0">
              <a:latin typeface="メイリオ" panose="020B0604030504040204" pitchFamily="50" charset="-128"/>
              <a:ea typeface="メイリオ" panose="020B0604030504040204" pitchFamily="50" charset="-128"/>
            </a:endParaRPr>
          </a:p>
        </p:txBody>
      </p:sp>
      <p:sp>
        <p:nvSpPr>
          <p:cNvPr id="413" name="Text 94">
            <a:extLst>
              <a:ext uri="{FF2B5EF4-FFF2-40B4-BE49-F238E27FC236}">
                <a16:creationId xmlns:a16="http://schemas.microsoft.com/office/drawing/2014/main" id="{66C6D264-EC5E-9BD7-A6C4-38CC9629CE29}"/>
              </a:ext>
            </a:extLst>
          </p:cNvPr>
          <p:cNvSpPr/>
          <p:nvPr/>
        </p:nvSpPr>
        <p:spPr>
          <a:xfrm>
            <a:off x="5175747" y="4296367"/>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「Aサービスをご利用中の方向け：Bサービスとの組み合わせで効果UP」という形で関連商材を案内。タグセグメントで対象を絞ることで過剰アプローチを防ぐ。</a:t>
            </a:r>
            <a:endParaRPr lang="en-US" sz="600" dirty="0">
              <a:latin typeface="メイリオ" panose="020B0604030504040204" pitchFamily="50" charset="-128"/>
              <a:ea typeface="メイリオ" panose="020B0604030504040204" pitchFamily="50" charset="-128"/>
            </a:endParaRPr>
          </a:p>
        </p:txBody>
      </p:sp>
      <p:sp>
        <p:nvSpPr>
          <p:cNvPr id="415" name="Shape 95">
            <a:extLst>
              <a:ext uri="{FF2B5EF4-FFF2-40B4-BE49-F238E27FC236}">
                <a16:creationId xmlns:a16="http://schemas.microsoft.com/office/drawing/2014/main" id="{3620767E-5C81-82F3-ACE8-BEF5B040FA3C}"/>
              </a:ext>
            </a:extLst>
          </p:cNvPr>
          <p:cNvSpPr/>
          <p:nvPr/>
        </p:nvSpPr>
        <p:spPr>
          <a:xfrm>
            <a:off x="5157459"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17" name="Text 96">
            <a:extLst>
              <a:ext uri="{FF2B5EF4-FFF2-40B4-BE49-F238E27FC236}">
                <a16:creationId xmlns:a16="http://schemas.microsoft.com/office/drawing/2014/main" id="{9AA7117C-343C-4068-D766-8BFDA27C8DE4}"/>
              </a:ext>
            </a:extLst>
          </p:cNvPr>
          <p:cNvSpPr/>
          <p:nvPr/>
        </p:nvSpPr>
        <p:spPr>
          <a:xfrm>
            <a:off x="5157459"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購入カテゴリ特定</a:t>
            </a:r>
            <a:endParaRPr lang="en-US" sz="700" dirty="0">
              <a:latin typeface="メイリオ" panose="020B0604030504040204" pitchFamily="50" charset="-128"/>
              <a:ea typeface="メイリオ" panose="020B0604030504040204" pitchFamily="50" charset="-128"/>
            </a:endParaRPr>
          </a:p>
        </p:txBody>
      </p:sp>
      <p:sp>
        <p:nvSpPr>
          <p:cNvPr id="419" name="Shape 97">
            <a:extLst>
              <a:ext uri="{FF2B5EF4-FFF2-40B4-BE49-F238E27FC236}">
                <a16:creationId xmlns:a16="http://schemas.microsoft.com/office/drawing/2014/main" id="{0EBCC7F5-0E29-C4A8-94D8-A7D7ECC5F89A}"/>
              </a:ext>
            </a:extLst>
          </p:cNvPr>
          <p:cNvSpPr/>
          <p:nvPr/>
        </p:nvSpPr>
        <p:spPr>
          <a:xfrm>
            <a:off x="6431523" y="473527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8">
            <a:extLst>
              <a:ext uri="{FF2B5EF4-FFF2-40B4-BE49-F238E27FC236}">
                <a16:creationId xmlns:a16="http://schemas.microsoft.com/office/drawing/2014/main" id="{BD96E4BA-ADE4-8898-880F-1EAA79A8DF2D}"/>
              </a:ext>
            </a:extLst>
          </p:cNvPr>
          <p:cNvSpPr/>
          <p:nvPr/>
        </p:nvSpPr>
        <p:spPr>
          <a:xfrm>
            <a:off x="6431523" y="473527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3" name="Shape 99">
            <a:extLst>
              <a:ext uri="{FF2B5EF4-FFF2-40B4-BE49-F238E27FC236}">
                <a16:creationId xmlns:a16="http://schemas.microsoft.com/office/drawing/2014/main" id="{E126C166-BD13-9190-0FE0-63914F4AD447}"/>
              </a:ext>
            </a:extLst>
          </p:cNvPr>
          <p:cNvSpPr/>
          <p:nvPr/>
        </p:nvSpPr>
        <p:spPr>
          <a:xfrm>
            <a:off x="6522963" y="4643839"/>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関連商材案内</a:t>
            </a:r>
            <a:endParaRPr lang="en-US" altLang="ja-JP" sz="700" dirty="0">
              <a:latin typeface="メイリオ" panose="020B0604030504040204" pitchFamily="50" charset="-128"/>
              <a:ea typeface="メイリオ" panose="020B0604030504040204" pitchFamily="50" charset="-128"/>
            </a:endParaRPr>
          </a:p>
        </p:txBody>
      </p:sp>
      <p:sp>
        <p:nvSpPr>
          <p:cNvPr id="427" name="Shape 101">
            <a:extLst>
              <a:ext uri="{FF2B5EF4-FFF2-40B4-BE49-F238E27FC236}">
                <a16:creationId xmlns:a16="http://schemas.microsoft.com/office/drawing/2014/main" id="{EE014BEF-08EA-D95F-B260-566E9689AFE2}"/>
              </a:ext>
            </a:extLst>
          </p:cNvPr>
          <p:cNvSpPr/>
          <p:nvPr/>
        </p:nvSpPr>
        <p:spPr>
          <a:xfrm>
            <a:off x="7797027" y="473527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2">
            <a:extLst>
              <a:ext uri="{FF2B5EF4-FFF2-40B4-BE49-F238E27FC236}">
                <a16:creationId xmlns:a16="http://schemas.microsoft.com/office/drawing/2014/main" id="{6D8C6BF2-428E-B744-84F1-70D22F6EC306}"/>
              </a:ext>
            </a:extLst>
          </p:cNvPr>
          <p:cNvSpPr/>
          <p:nvPr/>
        </p:nvSpPr>
        <p:spPr>
          <a:xfrm>
            <a:off x="7797027" y="473527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1" name="Shape 103">
            <a:extLst>
              <a:ext uri="{FF2B5EF4-FFF2-40B4-BE49-F238E27FC236}">
                <a16:creationId xmlns:a16="http://schemas.microsoft.com/office/drawing/2014/main" id="{EB1CED23-229B-155C-8DA1-725B58167B0D}"/>
              </a:ext>
            </a:extLst>
          </p:cNvPr>
          <p:cNvSpPr/>
          <p:nvPr/>
        </p:nvSpPr>
        <p:spPr>
          <a:xfrm>
            <a:off x="7888467"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3" name="Text 104">
            <a:extLst>
              <a:ext uri="{FF2B5EF4-FFF2-40B4-BE49-F238E27FC236}">
                <a16:creationId xmlns:a16="http://schemas.microsoft.com/office/drawing/2014/main" id="{B0BD8085-260F-767B-600D-29C4EFE91EF6}"/>
              </a:ext>
            </a:extLst>
          </p:cNvPr>
          <p:cNvSpPr/>
          <p:nvPr/>
        </p:nvSpPr>
        <p:spPr>
          <a:xfrm>
            <a:off x="7888467"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クロスセルCV</a:t>
            </a:r>
            <a:endParaRPr lang="en-US" sz="700" dirty="0">
              <a:latin typeface="メイリオ" panose="020B0604030504040204" pitchFamily="50" charset="-128"/>
              <a:ea typeface="メイリオ" panose="020B0604030504040204" pitchFamily="50" charset="-128"/>
            </a:endParaRPr>
          </a:p>
        </p:txBody>
      </p:sp>
      <p:sp>
        <p:nvSpPr>
          <p:cNvPr id="435" name="Shape 105">
            <a:extLst>
              <a:ext uri="{FF2B5EF4-FFF2-40B4-BE49-F238E27FC236}">
                <a16:creationId xmlns:a16="http://schemas.microsoft.com/office/drawing/2014/main" id="{2B58AD02-89B6-782E-1247-733846A3BEB6}"/>
              </a:ext>
            </a:extLst>
          </p:cNvPr>
          <p:cNvSpPr/>
          <p:nvPr/>
        </p:nvSpPr>
        <p:spPr>
          <a:xfrm>
            <a:off x="5066019" y="513837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9" name="Shape 107">
            <a:extLst>
              <a:ext uri="{FF2B5EF4-FFF2-40B4-BE49-F238E27FC236}">
                <a16:creationId xmlns:a16="http://schemas.microsoft.com/office/drawing/2014/main" id="{A1CF4B93-1F7F-95B1-9748-9AE48BB0A67D}"/>
              </a:ext>
            </a:extLst>
          </p:cNvPr>
          <p:cNvSpPr/>
          <p:nvPr/>
        </p:nvSpPr>
        <p:spPr>
          <a:xfrm>
            <a:off x="5175747" y="522981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Text 108">
            <a:extLst>
              <a:ext uri="{FF2B5EF4-FFF2-40B4-BE49-F238E27FC236}">
                <a16:creationId xmlns:a16="http://schemas.microsoft.com/office/drawing/2014/main" id="{699242CC-C724-22FB-181E-24FA20BE103C}"/>
              </a:ext>
            </a:extLst>
          </p:cNvPr>
          <p:cNvSpPr/>
          <p:nvPr/>
        </p:nvSpPr>
        <p:spPr>
          <a:xfrm>
            <a:off x="5175747" y="5229817"/>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3" name="Shape 109">
            <a:extLst>
              <a:ext uri="{FF2B5EF4-FFF2-40B4-BE49-F238E27FC236}">
                <a16:creationId xmlns:a16="http://schemas.microsoft.com/office/drawing/2014/main" id="{5C0B9632-0D33-3A4F-852D-28C99ACB77A6}"/>
              </a:ext>
            </a:extLst>
          </p:cNvPr>
          <p:cNvSpPr/>
          <p:nvPr/>
        </p:nvSpPr>
        <p:spPr>
          <a:xfrm>
            <a:off x="5523219" y="5257249"/>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45" name="Text 110">
            <a:extLst>
              <a:ext uri="{FF2B5EF4-FFF2-40B4-BE49-F238E27FC236}">
                <a16:creationId xmlns:a16="http://schemas.microsoft.com/office/drawing/2014/main" id="{B910E2C6-1CCA-1DB7-F916-05CAB4560F12}"/>
              </a:ext>
            </a:extLst>
          </p:cNvPr>
          <p:cNvSpPr/>
          <p:nvPr/>
        </p:nvSpPr>
        <p:spPr>
          <a:xfrm>
            <a:off x="5523219" y="5257249"/>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季節連動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47" name="Text 111">
            <a:extLst>
              <a:ext uri="{FF2B5EF4-FFF2-40B4-BE49-F238E27FC236}">
                <a16:creationId xmlns:a16="http://schemas.microsoft.com/office/drawing/2014/main" id="{418968BF-D240-4525-61FD-34A2CD92F77A}"/>
              </a:ext>
            </a:extLst>
          </p:cNvPr>
          <p:cNvSpPr/>
          <p:nvPr/>
        </p:nvSpPr>
        <p:spPr>
          <a:xfrm>
            <a:off x="6437619" y="5229817"/>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季節・繁忙期に合わせた関連サービス案内</a:t>
            </a:r>
            <a:endParaRPr lang="en-US" sz="1000" dirty="0">
              <a:latin typeface="メイリオ" panose="020B0604030504040204" pitchFamily="50" charset="-128"/>
              <a:ea typeface="メイリオ" panose="020B0604030504040204" pitchFamily="50" charset="-128"/>
            </a:endParaRPr>
          </a:p>
        </p:txBody>
      </p:sp>
      <p:sp>
        <p:nvSpPr>
          <p:cNvPr id="449" name="Text 112">
            <a:extLst>
              <a:ext uri="{FF2B5EF4-FFF2-40B4-BE49-F238E27FC236}">
                <a16:creationId xmlns:a16="http://schemas.microsoft.com/office/drawing/2014/main" id="{DB9225A3-0B40-6631-04BA-B036BA78DD18}"/>
              </a:ext>
            </a:extLst>
          </p:cNvPr>
          <p:cNvSpPr/>
          <p:nvPr/>
        </p:nvSpPr>
        <p:spPr>
          <a:xfrm>
            <a:off x="5175747" y="5559001"/>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ユーザーが次のニーズを感じる前に関連サービスを先出しする。「春のXXXに向けて、ご準備はお済みですか？」という形でシーズン2〜3週前に配信するとCVRが高い。</a:t>
            </a:r>
            <a:endParaRPr lang="en-US" sz="600" dirty="0">
              <a:latin typeface="メイリオ" panose="020B0604030504040204" pitchFamily="50" charset="-128"/>
              <a:ea typeface="メイリオ" panose="020B0604030504040204" pitchFamily="50" charset="-128"/>
            </a:endParaRPr>
          </a:p>
        </p:txBody>
      </p:sp>
      <p:sp>
        <p:nvSpPr>
          <p:cNvPr id="451" name="Shape 113">
            <a:extLst>
              <a:ext uri="{FF2B5EF4-FFF2-40B4-BE49-F238E27FC236}">
                <a16:creationId xmlns:a16="http://schemas.microsoft.com/office/drawing/2014/main" id="{2E10B183-2361-FE23-322F-7D503F80197A}"/>
              </a:ext>
            </a:extLst>
          </p:cNvPr>
          <p:cNvSpPr/>
          <p:nvPr/>
        </p:nvSpPr>
        <p:spPr>
          <a:xfrm>
            <a:off x="5157459" y="590647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3" name="Text 114">
            <a:extLst>
              <a:ext uri="{FF2B5EF4-FFF2-40B4-BE49-F238E27FC236}">
                <a16:creationId xmlns:a16="http://schemas.microsoft.com/office/drawing/2014/main" id="{E3F71D55-3A7F-7216-A68B-E9D41C4251F7}"/>
              </a:ext>
            </a:extLst>
          </p:cNvPr>
          <p:cNvSpPr/>
          <p:nvPr/>
        </p:nvSpPr>
        <p:spPr>
          <a:xfrm>
            <a:off x="5157459"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シーズン2〜3週前</a:t>
            </a:r>
            <a:endParaRPr lang="en-US" sz="700" dirty="0">
              <a:latin typeface="メイリオ" panose="020B0604030504040204" pitchFamily="50" charset="-128"/>
              <a:ea typeface="メイリオ" panose="020B0604030504040204" pitchFamily="50" charset="-128"/>
            </a:endParaRPr>
          </a:p>
        </p:txBody>
      </p:sp>
      <p:sp>
        <p:nvSpPr>
          <p:cNvPr id="455" name="Shape 115">
            <a:extLst>
              <a:ext uri="{FF2B5EF4-FFF2-40B4-BE49-F238E27FC236}">
                <a16:creationId xmlns:a16="http://schemas.microsoft.com/office/drawing/2014/main" id="{4DD46369-30C8-F75A-A124-3FEDB935C4A0}"/>
              </a:ext>
            </a:extLst>
          </p:cNvPr>
          <p:cNvSpPr/>
          <p:nvPr/>
        </p:nvSpPr>
        <p:spPr>
          <a:xfrm>
            <a:off x="6431523" y="599791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6">
            <a:extLst>
              <a:ext uri="{FF2B5EF4-FFF2-40B4-BE49-F238E27FC236}">
                <a16:creationId xmlns:a16="http://schemas.microsoft.com/office/drawing/2014/main" id="{4A907B15-7708-47C9-7642-BA0B05630DEF}"/>
              </a:ext>
            </a:extLst>
          </p:cNvPr>
          <p:cNvSpPr/>
          <p:nvPr/>
        </p:nvSpPr>
        <p:spPr>
          <a:xfrm>
            <a:off x="6431523" y="599791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59" name="Shape 117">
            <a:extLst>
              <a:ext uri="{FF2B5EF4-FFF2-40B4-BE49-F238E27FC236}">
                <a16:creationId xmlns:a16="http://schemas.microsoft.com/office/drawing/2014/main" id="{33185618-A887-525D-081A-03DCDB2AC769}"/>
              </a:ext>
            </a:extLst>
          </p:cNvPr>
          <p:cNvSpPr/>
          <p:nvPr/>
        </p:nvSpPr>
        <p:spPr>
          <a:xfrm>
            <a:off x="6522963" y="5906473"/>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1" name="Text 118">
            <a:extLst>
              <a:ext uri="{FF2B5EF4-FFF2-40B4-BE49-F238E27FC236}">
                <a16:creationId xmlns:a16="http://schemas.microsoft.com/office/drawing/2014/main" id="{A758DBE7-E957-396E-311E-D9582502DB4F}"/>
              </a:ext>
            </a:extLst>
          </p:cNvPr>
          <p:cNvSpPr/>
          <p:nvPr/>
        </p:nvSpPr>
        <p:spPr>
          <a:xfrm>
            <a:off x="6522963"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関連サービス先出し</a:t>
            </a:r>
            <a:endParaRPr lang="en-US" sz="700" dirty="0">
              <a:latin typeface="メイリオ" panose="020B0604030504040204" pitchFamily="50" charset="-128"/>
              <a:ea typeface="メイリオ" panose="020B0604030504040204" pitchFamily="50" charset="-128"/>
            </a:endParaRPr>
          </a:p>
        </p:txBody>
      </p:sp>
      <p:sp>
        <p:nvSpPr>
          <p:cNvPr id="463" name="Shape 119">
            <a:extLst>
              <a:ext uri="{FF2B5EF4-FFF2-40B4-BE49-F238E27FC236}">
                <a16:creationId xmlns:a16="http://schemas.microsoft.com/office/drawing/2014/main" id="{BF462C74-804E-9C1C-C821-FF72072655B2}"/>
              </a:ext>
            </a:extLst>
          </p:cNvPr>
          <p:cNvSpPr/>
          <p:nvPr/>
        </p:nvSpPr>
        <p:spPr>
          <a:xfrm>
            <a:off x="7797027" y="599791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5" name="Text 120">
            <a:extLst>
              <a:ext uri="{FF2B5EF4-FFF2-40B4-BE49-F238E27FC236}">
                <a16:creationId xmlns:a16="http://schemas.microsoft.com/office/drawing/2014/main" id="{BB683829-0CAA-9EF6-F72B-0FA8AE6169AD}"/>
              </a:ext>
            </a:extLst>
          </p:cNvPr>
          <p:cNvSpPr/>
          <p:nvPr/>
        </p:nvSpPr>
        <p:spPr>
          <a:xfrm>
            <a:off x="7797027" y="599791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7" name="Shape 121">
            <a:extLst>
              <a:ext uri="{FF2B5EF4-FFF2-40B4-BE49-F238E27FC236}">
                <a16:creationId xmlns:a16="http://schemas.microsoft.com/office/drawing/2014/main" id="{EE617E52-3088-925B-672C-E8F15869002F}"/>
              </a:ext>
            </a:extLst>
          </p:cNvPr>
          <p:cNvSpPr/>
          <p:nvPr/>
        </p:nvSpPr>
        <p:spPr>
          <a:xfrm>
            <a:off x="7888467" y="5906473"/>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9" name="Text 122">
            <a:extLst>
              <a:ext uri="{FF2B5EF4-FFF2-40B4-BE49-F238E27FC236}">
                <a16:creationId xmlns:a16="http://schemas.microsoft.com/office/drawing/2014/main" id="{571C1378-34E0-DF83-9B00-2BE63986DA83}"/>
              </a:ext>
            </a:extLst>
          </p:cNvPr>
          <p:cNvSpPr/>
          <p:nvPr/>
        </p:nvSpPr>
        <p:spPr>
          <a:xfrm>
            <a:off x="7888467"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sz="7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8455432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CBDC7-BB8D-566B-5273-6DCD8BE0326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F5D35F1-C5E4-FAC8-AB97-4C02D6883A9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3CF23F6-F858-EAD5-4A2E-672EF61A2882}"/>
              </a:ext>
            </a:extLst>
          </p:cNvPr>
          <p:cNvSpPr txBox="1"/>
          <p:nvPr/>
        </p:nvSpPr>
        <p:spPr>
          <a:xfrm>
            <a:off x="309397" y="778217"/>
            <a:ext cx="9461620"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想定：チャットやり取りを簡略化・自動化する事で、利便性を下げず営業トスアップ、</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に繋げる</a:t>
            </a:r>
          </a:p>
        </p:txBody>
      </p:sp>
      <p:sp>
        <p:nvSpPr>
          <p:cNvPr id="481" name="Shape 8">
            <a:extLst>
              <a:ext uri="{FF2B5EF4-FFF2-40B4-BE49-F238E27FC236}">
                <a16:creationId xmlns:a16="http://schemas.microsoft.com/office/drawing/2014/main" id="{40D8E928-F46D-96F7-0405-13E012EFA7B2}"/>
              </a:ext>
            </a:extLst>
          </p:cNvPr>
          <p:cNvSpPr/>
          <p:nvPr/>
        </p:nvSpPr>
        <p:spPr>
          <a:xfrm>
            <a:off x="622035" y="220949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83" name="Text 9">
            <a:extLst>
              <a:ext uri="{FF2B5EF4-FFF2-40B4-BE49-F238E27FC236}">
                <a16:creationId xmlns:a16="http://schemas.microsoft.com/office/drawing/2014/main" id="{211C6D19-0C27-C77A-DDEA-DCD4258F1B5D}"/>
              </a:ext>
            </a:extLst>
          </p:cNvPr>
          <p:cNvSpPr/>
          <p:nvPr/>
        </p:nvSpPr>
        <p:spPr>
          <a:xfrm>
            <a:off x="750051" y="2192516"/>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自動化施策</a:t>
            </a:r>
            <a:endParaRPr lang="en-US" sz="1000" dirty="0">
              <a:latin typeface="メイリオ" panose="020B0604030504040204" pitchFamily="50" charset="-128"/>
              <a:ea typeface="メイリオ" panose="020B0604030504040204" pitchFamily="50" charset="-128"/>
            </a:endParaRPr>
          </a:p>
        </p:txBody>
      </p:sp>
      <p:sp>
        <p:nvSpPr>
          <p:cNvPr id="485" name="Text 10">
            <a:extLst>
              <a:ext uri="{FF2B5EF4-FFF2-40B4-BE49-F238E27FC236}">
                <a16:creationId xmlns:a16="http://schemas.microsoft.com/office/drawing/2014/main" id="{DA951D4A-E1CE-ACE1-3BD6-706CA24B5611}"/>
              </a:ext>
            </a:extLst>
          </p:cNvPr>
          <p:cNvSpPr/>
          <p:nvPr/>
        </p:nvSpPr>
        <p:spPr>
          <a:xfrm>
            <a:off x="2430690" y="2202968"/>
            <a:ext cx="2361009"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よくある問い合わせを人手ゼロで対応する</a:t>
            </a:r>
            <a:endParaRPr lang="en-US" sz="700" dirty="0">
              <a:latin typeface="メイリオ" panose="020B0604030504040204" pitchFamily="50" charset="-128"/>
              <a:ea typeface="メイリオ" panose="020B0604030504040204" pitchFamily="50" charset="-128"/>
            </a:endParaRPr>
          </a:p>
        </p:txBody>
      </p:sp>
      <p:sp>
        <p:nvSpPr>
          <p:cNvPr id="487" name="Shape 11">
            <a:extLst>
              <a:ext uri="{FF2B5EF4-FFF2-40B4-BE49-F238E27FC236}">
                <a16:creationId xmlns:a16="http://schemas.microsoft.com/office/drawing/2014/main" id="{63FB878D-F961-067F-8450-B9BA5EA58307}"/>
              </a:ext>
            </a:extLst>
          </p:cNvPr>
          <p:cNvSpPr/>
          <p:nvPr/>
        </p:nvSpPr>
        <p:spPr>
          <a:xfrm>
            <a:off x="5066019" y="220949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89" name="Text 12">
            <a:extLst>
              <a:ext uri="{FF2B5EF4-FFF2-40B4-BE49-F238E27FC236}">
                <a16:creationId xmlns:a16="http://schemas.microsoft.com/office/drawing/2014/main" id="{F847FC9F-9261-C712-24D2-50358A98E369}"/>
              </a:ext>
            </a:extLst>
          </p:cNvPr>
          <p:cNvSpPr/>
          <p:nvPr/>
        </p:nvSpPr>
        <p:spPr>
          <a:xfrm>
            <a:off x="5194035" y="2192516"/>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トスアップ施策</a:t>
            </a:r>
            <a:endParaRPr lang="en-US" sz="1000" dirty="0">
              <a:latin typeface="メイリオ" panose="020B0604030504040204" pitchFamily="50" charset="-128"/>
              <a:ea typeface="メイリオ" panose="020B0604030504040204" pitchFamily="50" charset="-128"/>
            </a:endParaRPr>
          </a:p>
        </p:txBody>
      </p:sp>
      <p:sp>
        <p:nvSpPr>
          <p:cNvPr id="491" name="Text 13">
            <a:extLst>
              <a:ext uri="{FF2B5EF4-FFF2-40B4-BE49-F238E27FC236}">
                <a16:creationId xmlns:a16="http://schemas.microsoft.com/office/drawing/2014/main" id="{BAB90F2A-13E5-1033-2A8F-C414B5648062}"/>
              </a:ext>
            </a:extLst>
          </p:cNvPr>
          <p:cNvSpPr/>
          <p:nvPr/>
        </p:nvSpPr>
        <p:spPr>
          <a:xfrm>
            <a:off x="6874674" y="2202968"/>
            <a:ext cx="2361009"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温度感が高まったユーザーを営業に自動連携する</a:t>
            </a:r>
            <a:endParaRPr lang="en-US" sz="700" dirty="0">
              <a:latin typeface="メイリオ" panose="020B0604030504040204" pitchFamily="50" charset="-128"/>
              <a:ea typeface="メイリオ" panose="020B0604030504040204" pitchFamily="50" charset="-128"/>
            </a:endParaRPr>
          </a:p>
        </p:txBody>
      </p:sp>
      <p:sp>
        <p:nvSpPr>
          <p:cNvPr id="493" name="Shape 15">
            <a:extLst>
              <a:ext uri="{FF2B5EF4-FFF2-40B4-BE49-F238E27FC236}">
                <a16:creationId xmlns:a16="http://schemas.microsoft.com/office/drawing/2014/main" id="{7E3C711F-E58C-C906-0A6A-BB593A1E2C84}"/>
              </a:ext>
            </a:extLst>
          </p:cNvPr>
          <p:cNvSpPr/>
          <p:nvPr/>
        </p:nvSpPr>
        <p:spPr>
          <a:xfrm>
            <a:off x="622035" y="262044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97" name="Shape 17">
            <a:extLst>
              <a:ext uri="{FF2B5EF4-FFF2-40B4-BE49-F238E27FC236}">
                <a16:creationId xmlns:a16="http://schemas.microsoft.com/office/drawing/2014/main" id="{C3F3A0E1-065D-A29B-1DB2-A3E74C471585}"/>
              </a:ext>
            </a:extLst>
          </p:cNvPr>
          <p:cNvSpPr/>
          <p:nvPr/>
        </p:nvSpPr>
        <p:spPr>
          <a:xfrm>
            <a:off x="731763" y="271188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99" name="Text 18">
            <a:extLst>
              <a:ext uri="{FF2B5EF4-FFF2-40B4-BE49-F238E27FC236}">
                <a16:creationId xmlns:a16="http://schemas.microsoft.com/office/drawing/2014/main" id="{F9CB141F-8399-5788-B588-7FE43F1079D4}"/>
              </a:ext>
            </a:extLst>
          </p:cNvPr>
          <p:cNvSpPr/>
          <p:nvPr/>
        </p:nvSpPr>
        <p:spPr>
          <a:xfrm>
            <a:off x="731763" y="271188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501" name="Shape 19">
            <a:extLst>
              <a:ext uri="{FF2B5EF4-FFF2-40B4-BE49-F238E27FC236}">
                <a16:creationId xmlns:a16="http://schemas.microsoft.com/office/drawing/2014/main" id="{3481035F-3DCB-6282-CAE4-A507C103A500}"/>
              </a:ext>
            </a:extLst>
          </p:cNvPr>
          <p:cNvSpPr/>
          <p:nvPr/>
        </p:nvSpPr>
        <p:spPr>
          <a:xfrm>
            <a:off x="1079235" y="2739314"/>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503" name="Text 20">
            <a:extLst>
              <a:ext uri="{FF2B5EF4-FFF2-40B4-BE49-F238E27FC236}">
                <a16:creationId xmlns:a16="http://schemas.microsoft.com/office/drawing/2014/main" id="{0C55A5FC-8367-FE85-5883-A028AB70B62A}"/>
              </a:ext>
            </a:extLst>
          </p:cNvPr>
          <p:cNvSpPr/>
          <p:nvPr/>
        </p:nvSpPr>
        <p:spPr>
          <a:xfrm>
            <a:off x="1079235" y="2739314"/>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KW自動応答</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505" name="Text 21">
            <a:extLst>
              <a:ext uri="{FF2B5EF4-FFF2-40B4-BE49-F238E27FC236}">
                <a16:creationId xmlns:a16="http://schemas.microsoft.com/office/drawing/2014/main" id="{8A25C9DA-C365-44B1-C918-421BC16A0936}"/>
              </a:ext>
            </a:extLst>
          </p:cNvPr>
          <p:cNvSpPr/>
          <p:nvPr/>
        </p:nvSpPr>
        <p:spPr>
          <a:xfrm>
            <a:off x="1993635" y="2711882"/>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頻出ワードへの自動返答でFAQを即解消</a:t>
            </a:r>
            <a:endParaRPr lang="en-US" sz="1000" dirty="0">
              <a:latin typeface="メイリオ" panose="020B0604030504040204" pitchFamily="50" charset="-128"/>
              <a:ea typeface="メイリオ" panose="020B0604030504040204" pitchFamily="50" charset="-128"/>
            </a:endParaRPr>
          </a:p>
        </p:txBody>
      </p:sp>
      <p:sp>
        <p:nvSpPr>
          <p:cNvPr id="507" name="Text 22">
            <a:extLst>
              <a:ext uri="{FF2B5EF4-FFF2-40B4-BE49-F238E27FC236}">
                <a16:creationId xmlns:a16="http://schemas.microsoft.com/office/drawing/2014/main" id="{B693EEEC-7F00-EA99-5A34-4E9A268BE1A5}"/>
              </a:ext>
            </a:extLst>
          </p:cNvPr>
          <p:cNvSpPr/>
          <p:nvPr/>
        </p:nvSpPr>
        <p:spPr>
          <a:xfrm>
            <a:off x="731763" y="3041066"/>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「料金は？」「予約したい」などの頻出キーワードをLINEに登録し自動返答。スタッフ対応ゼロで24時間365日対応が可能になり、問い合わせコストを大幅削減できる。</a:t>
            </a:r>
            <a:endParaRPr lang="en-US" sz="600" dirty="0">
              <a:latin typeface="メイリオ" panose="020B0604030504040204" pitchFamily="50" charset="-128"/>
              <a:ea typeface="メイリオ" panose="020B0604030504040204" pitchFamily="50" charset="-128"/>
            </a:endParaRPr>
          </a:p>
        </p:txBody>
      </p:sp>
      <p:sp>
        <p:nvSpPr>
          <p:cNvPr id="509" name="Shape 23">
            <a:extLst>
              <a:ext uri="{FF2B5EF4-FFF2-40B4-BE49-F238E27FC236}">
                <a16:creationId xmlns:a16="http://schemas.microsoft.com/office/drawing/2014/main" id="{A2D2CDF0-CB49-AE15-936A-5D4CF22FFF73}"/>
              </a:ext>
            </a:extLst>
          </p:cNvPr>
          <p:cNvSpPr/>
          <p:nvPr/>
        </p:nvSpPr>
        <p:spPr>
          <a:xfrm>
            <a:off x="713475" y="3388538"/>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KW受信</a:t>
            </a:r>
            <a:endParaRPr lang="en-US" altLang="ja-JP" sz="700" dirty="0">
              <a:latin typeface="メイリオ" panose="020B0604030504040204" pitchFamily="50" charset="-128"/>
              <a:ea typeface="メイリオ" panose="020B0604030504040204" pitchFamily="50" charset="-128"/>
            </a:endParaRPr>
          </a:p>
        </p:txBody>
      </p:sp>
      <p:sp>
        <p:nvSpPr>
          <p:cNvPr id="513" name="Shape 25">
            <a:extLst>
              <a:ext uri="{FF2B5EF4-FFF2-40B4-BE49-F238E27FC236}">
                <a16:creationId xmlns:a16="http://schemas.microsoft.com/office/drawing/2014/main" id="{E2556D42-A97F-4FB8-9798-9FA17D54E059}"/>
              </a:ext>
            </a:extLst>
          </p:cNvPr>
          <p:cNvSpPr/>
          <p:nvPr/>
        </p:nvSpPr>
        <p:spPr>
          <a:xfrm>
            <a:off x="1987539" y="347997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15" name="Text 26">
            <a:extLst>
              <a:ext uri="{FF2B5EF4-FFF2-40B4-BE49-F238E27FC236}">
                <a16:creationId xmlns:a16="http://schemas.microsoft.com/office/drawing/2014/main" id="{C1C6DA5E-79AC-68C0-42C1-CAA0B39FA416}"/>
              </a:ext>
            </a:extLst>
          </p:cNvPr>
          <p:cNvSpPr/>
          <p:nvPr/>
        </p:nvSpPr>
        <p:spPr>
          <a:xfrm>
            <a:off x="1987539" y="3479978"/>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517" name="Shape 27">
            <a:extLst>
              <a:ext uri="{FF2B5EF4-FFF2-40B4-BE49-F238E27FC236}">
                <a16:creationId xmlns:a16="http://schemas.microsoft.com/office/drawing/2014/main" id="{A8D5B9DB-4355-49CF-1630-7986C6276E29}"/>
              </a:ext>
            </a:extLst>
          </p:cNvPr>
          <p:cNvSpPr/>
          <p:nvPr/>
        </p:nvSpPr>
        <p:spPr>
          <a:xfrm>
            <a:off x="2078979" y="3388538"/>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19" name="Text 28">
            <a:extLst>
              <a:ext uri="{FF2B5EF4-FFF2-40B4-BE49-F238E27FC236}">
                <a16:creationId xmlns:a16="http://schemas.microsoft.com/office/drawing/2014/main" id="{F85272E7-370C-6676-96F2-02AE710242A4}"/>
              </a:ext>
            </a:extLst>
          </p:cNvPr>
          <p:cNvSpPr/>
          <p:nvPr/>
        </p:nvSpPr>
        <p:spPr>
          <a:xfrm>
            <a:off x="2078979" y="338853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自動返答</a:t>
            </a:r>
            <a:endParaRPr lang="en-US" sz="700" dirty="0">
              <a:latin typeface="メイリオ" panose="020B0604030504040204" pitchFamily="50" charset="-128"/>
              <a:ea typeface="メイリオ" panose="020B0604030504040204" pitchFamily="50" charset="-128"/>
            </a:endParaRPr>
          </a:p>
        </p:txBody>
      </p:sp>
      <p:sp>
        <p:nvSpPr>
          <p:cNvPr id="521" name="Shape 29">
            <a:extLst>
              <a:ext uri="{FF2B5EF4-FFF2-40B4-BE49-F238E27FC236}">
                <a16:creationId xmlns:a16="http://schemas.microsoft.com/office/drawing/2014/main" id="{F507953E-977B-FFA6-1D19-EA7E8F6B3BEA}"/>
              </a:ext>
            </a:extLst>
          </p:cNvPr>
          <p:cNvSpPr/>
          <p:nvPr/>
        </p:nvSpPr>
        <p:spPr>
          <a:xfrm>
            <a:off x="3353043" y="347997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23" name="Text 30">
            <a:extLst>
              <a:ext uri="{FF2B5EF4-FFF2-40B4-BE49-F238E27FC236}">
                <a16:creationId xmlns:a16="http://schemas.microsoft.com/office/drawing/2014/main" id="{65A59212-B09E-F4BC-9E5F-C2F671474A3C}"/>
              </a:ext>
            </a:extLst>
          </p:cNvPr>
          <p:cNvSpPr/>
          <p:nvPr/>
        </p:nvSpPr>
        <p:spPr>
          <a:xfrm>
            <a:off x="3353043" y="3479978"/>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525" name="Shape 31">
            <a:extLst>
              <a:ext uri="{FF2B5EF4-FFF2-40B4-BE49-F238E27FC236}">
                <a16:creationId xmlns:a16="http://schemas.microsoft.com/office/drawing/2014/main" id="{CAEC6CDB-23CB-5A93-4438-A59C2BFFFACF}"/>
              </a:ext>
            </a:extLst>
          </p:cNvPr>
          <p:cNvSpPr/>
          <p:nvPr/>
        </p:nvSpPr>
        <p:spPr>
          <a:xfrm>
            <a:off x="3444483" y="3388538"/>
            <a:ext cx="1274064" cy="329184"/>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疑問即解消</a:t>
            </a:r>
            <a:endParaRPr lang="en-US" altLang="ja-JP" sz="700" dirty="0">
              <a:latin typeface="メイリオ" panose="020B0604030504040204" pitchFamily="50" charset="-128"/>
              <a:ea typeface="メイリオ" panose="020B0604030504040204" pitchFamily="50" charset="-128"/>
            </a:endParaRPr>
          </a:p>
        </p:txBody>
      </p:sp>
      <p:sp>
        <p:nvSpPr>
          <p:cNvPr id="529" name="Shape 33">
            <a:extLst>
              <a:ext uri="{FF2B5EF4-FFF2-40B4-BE49-F238E27FC236}">
                <a16:creationId xmlns:a16="http://schemas.microsoft.com/office/drawing/2014/main" id="{F248F8B6-9A86-ABF2-E2D6-E7CF006E3C5F}"/>
              </a:ext>
            </a:extLst>
          </p:cNvPr>
          <p:cNvSpPr/>
          <p:nvPr/>
        </p:nvSpPr>
        <p:spPr>
          <a:xfrm>
            <a:off x="622035" y="388307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533" name="Shape 35">
            <a:extLst>
              <a:ext uri="{FF2B5EF4-FFF2-40B4-BE49-F238E27FC236}">
                <a16:creationId xmlns:a16="http://schemas.microsoft.com/office/drawing/2014/main" id="{44F07E0D-5DE6-3E4A-4251-8215FFA1B921}"/>
              </a:ext>
            </a:extLst>
          </p:cNvPr>
          <p:cNvSpPr/>
          <p:nvPr/>
        </p:nvSpPr>
        <p:spPr>
          <a:xfrm>
            <a:off x="731763" y="397451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535" name="Text 36">
            <a:extLst>
              <a:ext uri="{FF2B5EF4-FFF2-40B4-BE49-F238E27FC236}">
                <a16:creationId xmlns:a16="http://schemas.microsoft.com/office/drawing/2014/main" id="{2C4560AC-AA6D-E576-2CBD-46E3A388A446}"/>
              </a:ext>
            </a:extLst>
          </p:cNvPr>
          <p:cNvSpPr/>
          <p:nvPr/>
        </p:nvSpPr>
        <p:spPr>
          <a:xfrm>
            <a:off x="731763" y="3974516"/>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537" name="Shape 37">
            <a:extLst>
              <a:ext uri="{FF2B5EF4-FFF2-40B4-BE49-F238E27FC236}">
                <a16:creationId xmlns:a16="http://schemas.microsoft.com/office/drawing/2014/main" id="{EE277A39-0DD5-47B3-B211-B3AD8641BF28}"/>
              </a:ext>
            </a:extLst>
          </p:cNvPr>
          <p:cNvSpPr/>
          <p:nvPr/>
        </p:nvSpPr>
        <p:spPr>
          <a:xfrm>
            <a:off x="1079235" y="4001948"/>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539" name="Text 38">
            <a:extLst>
              <a:ext uri="{FF2B5EF4-FFF2-40B4-BE49-F238E27FC236}">
                <a16:creationId xmlns:a16="http://schemas.microsoft.com/office/drawing/2014/main" id="{C4B5340D-36BF-DDE8-20C8-687DA330872F}"/>
              </a:ext>
            </a:extLst>
          </p:cNvPr>
          <p:cNvSpPr/>
          <p:nvPr/>
        </p:nvSpPr>
        <p:spPr>
          <a:xfrm>
            <a:off x="1079235" y="4001948"/>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日程調整自動化</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541" name="Text 39">
            <a:extLst>
              <a:ext uri="{FF2B5EF4-FFF2-40B4-BE49-F238E27FC236}">
                <a16:creationId xmlns:a16="http://schemas.microsoft.com/office/drawing/2014/main" id="{0DC216C4-D41D-ED06-86B7-5AC5FCBFEB41}"/>
              </a:ext>
            </a:extLst>
          </p:cNvPr>
          <p:cNvSpPr/>
          <p:nvPr/>
        </p:nvSpPr>
        <p:spPr>
          <a:xfrm>
            <a:off x="1993635" y="397451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面談・予約の日程調整をLINEで完結させる</a:t>
            </a:r>
            <a:endParaRPr lang="en-US" sz="1000" dirty="0">
              <a:latin typeface="メイリオ" panose="020B0604030504040204" pitchFamily="50" charset="-128"/>
              <a:ea typeface="メイリオ" panose="020B0604030504040204" pitchFamily="50" charset="-128"/>
            </a:endParaRPr>
          </a:p>
        </p:txBody>
      </p:sp>
      <p:sp>
        <p:nvSpPr>
          <p:cNvPr id="543" name="Text 40">
            <a:extLst>
              <a:ext uri="{FF2B5EF4-FFF2-40B4-BE49-F238E27FC236}">
                <a16:creationId xmlns:a16="http://schemas.microsoft.com/office/drawing/2014/main" id="{DFBBA734-BAAC-1419-468E-1E9B8278BC26}"/>
              </a:ext>
            </a:extLst>
          </p:cNvPr>
          <p:cNvSpPr/>
          <p:nvPr/>
        </p:nvSpPr>
        <p:spPr>
          <a:xfrm>
            <a:off x="731763" y="4303700"/>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「面談を希望する」と入力したユーザーに日程候補を自動提示→選択→確定までLINE内で完結。電話折り返し・メール往復ゼロで商談設定工数を大幅削減できる。</a:t>
            </a:r>
            <a:endParaRPr lang="en-US" sz="600" dirty="0">
              <a:latin typeface="メイリオ" panose="020B0604030504040204" pitchFamily="50" charset="-128"/>
              <a:ea typeface="メイリオ" panose="020B0604030504040204" pitchFamily="50" charset="-128"/>
            </a:endParaRPr>
          </a:p>
        </p:txBody>
      </p:sp>
      <p:sp>
        <p:nvSpPr>
          <p:cNvPr id="545" name="Shape 41">
            <a:extLst>
              <a:ext uri="{FF2B5EF4-FFF2-40B4-BE49-F238E27FC236}">
                <a16:creationId xmlns:a16="http://schemas.microsoft.com/office/drawing/2014/main" id="{FE670AD2-A079-0197-8810-8F9B34E3CABD}"/>
              </a:ext>
            </a:extLst>
          </p:cNvPr>
          <p:cNvSpPr/>
          <p:nvPr/>
        </p:nvSpPr>
        <p:spPr>
          <a:xfrm>
            <a:off x="713475" y="4651172"/>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希望入力</a:t>
            </a:r>
            <a:endParaRPr lang="en-US" altLang="ja-JP" sz="700" dirty="0">
              <a:latin typeface="メイリオ" panose="020B0604030504040204" pitchFamily="50" charset="-128"/>
              <a:ea typeface="メイリオ" panose="020B0604030504040204" pitchFamily="50" charset="-128"/>
            </a:endParaRPr>
          </a:p>
        </p:txBody>
      </p:sp>
      <p:sp>
        <p:nvSpPr>
          <p:cNvPr id="549" name="Shape 43">
            <a:extLst>
              <a:ext uri="{FF2B5EF4-FFF2-40B4-BE49-F238E27FC236}">
                <a16:creationId xmlns:a16="http://schemas.microsoft.com/office/drawing/2014/main" id="{9DCF792D-C31C-B1B0-89D3-34127B875145}"/>
              </a:ext>
            </a:extLst>
          </p:cNvPr>
          <p:cNvSpPr/>
          <p:nvPr/>
        </p:nvSpPr>
        <p:spPr>
          <a:xfrm>
            <a:off x="1987539" y="474261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51" name="Text 44">
            <a:extLst>
              <a:ext uri="{FF2B5EF4-FFF2-40B4-BE49-F238E27FC236}">
                <a16:creationId xmlns:a16="http://schemas.microsoft.com/office/drawing/2014/main" id="{30983E3A-6EDF-B882-D614-D35301C1A700}"/>
              </a:ext>
            </a:extLst>
          </p:cNvPr>
          <p:cNvSpPr/>
          <p:nvPr/>
        </p:nvSpPr>
        <p:spPr>
          <a:xfrm>
            <a:off x="1987539" y="474261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553" name="Shape 45">
            <a:extLst>
              <a:ext uri="{FF2B5EF4-FFF2-40B4-BE49-F238E27FC236}">
                <a16:creationId xmlns:a16="http://schemas.microsoft.com/office/drawing/2014/main" id="{209054EF-CC06-6B5D-0FD0-5D15A5DB252B}"/>
              </a:ext>
            </a:extLst>
          </p:cNvPr>
          <p:cNvSpPr/>
          <p:nvPr/>
        </p:nvSpPr>
        <p:spPr>
          <a:xfrm>
            <a:off x="2078979" y="4651172"/>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55" name="Text 46">
            <a:extLst>
              <a:ext uri="{FF2B5EF4-FFF2-40B4-BE49-F238E27FC236}">
                <a16:creationId xmlns:a16="http://schemas.microsoft.com/office/drawing/2014/main" id="{5BE3AFBB-71C6-1263-E9E2-A276B8A0D061}"/>
              </a:ext>
            </a:extLst>
          </p:cNvPr>
          <p:cNvSpPr/>
          <p:nvPr/>
        </p:nvSpPr>
        <p:spPr>
          <a:xfrm>
            <a:off x="2078979" y="4651172"/>
            <a:ext cx="1274064" cy="329184"/>
          </a:xfrm>
          <a:prstGeom prst="rect">
            <a:avLst/>
          </a:prstGeom>
          <a:noFill/>
          <a:ln>
            <a:noFill/>
          </a:ln>
        </p:spPr>
        <p:txBody>
          <a:bodyPr wrap="square" lIns="0" tIns="0" rIns="0" bIns="0" rtlCol="0" anchor="ctr"/>
          <a:lstStyle/>
          <a:p>
            <a:pPr marL="0" indent="0" algn="ctr">
              <a:lnSpc>
                <a:spcPct val="115000"/>
              </a:lnSpc>
              <a:buNone/>
            </a:pPr>
            <a:r>
              <a:rPr lang="en-US" sz="800" b="1" dirty="0">
                <a:solidFill>
                  <a:srgbClr val="FFFFFF"/>
                </a:solidFill>
                <a:latin typeface="メイリオ" panose="020B0604030504040204" pitchFamily="50" charset="-128"/>
                <a:ea typeface="メイリオ" panose="020B0604030504040204" pitchFamily="50" charset="-128"/>
                <a:cs typeface="Calibri" pitchFamily="34" charset="-120"/>
              </a:rPr>
              <a:t>日程自動提示</a:t>
            </a:r>
            <a:endParaRPr lang="en-US" sz="800" dirty="0">
              <a:latin typeface="メイリオ" panose="020B0604030504040204" pitchFamily="50" charset="-128"/>
              <a:ea typeface="メイリオ" panose="020B0604030504040204" pitchFamily="50" charset="-128"/>
            </a:endParaRPr>
          </a:p>
        </p:txBody>
      </p:sp>
      <p:sp>
        <p:nvSpPr>
          <p:cNvPr id="557" name="Shape 47">
            <a:extLst>
              <a:ext uri="{FF2B5EF4-FFF2-40B4-BE49-F238E27FC236}">
                <a16:creationId xmlns:a16="http://schemas.microsoft.com/office/drawing/2014/main" id="{A9232A71-6BB9-1F02-D8A6-0D588E915F91}"/>
              </a:ext>
            </a:extLst>
          </p:cNvPr>
          <p:cNvSpPr/>
          <p:nvPr/>
        </p:nvSpPr>
        <p:spPr>
          <a:xfrm>
            <a:off x="3353043" y="474261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59" name="Text 48">
            <a:extLst>
              <a:ext uri="{FF2B5EF4-FFF2-40B4-BE49-F238E27FC236}">
                <a16:creationId xmlns:a16="http://schemas.microsoft.com/office/drawing/2014/main" id="{C5C94F94-3800-196D-F055-BE367B6C3823}"/>
              </a:ext>
            </a:extLst>
          </p:cNvPr>
          <p:cNvSpPr/>
          <p:nvPr/>
        </p:nvSpPr>
        <p:spPr>
          <a:xfrm>
            <a:off x="3353043" y="474261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561" name="Shape 49">
            <a:extLst>
              <a:ext uri="{FF2B5EF4-FFF2-40B4-BE49-F238E27FC236}">
                <a16:creationId xmlns:a16="http://schemas.microsoft.com/office/drawing/2014/main" id="{27FD51EA-7B61-DE39-7567-087D884D2689}"/>
              </a:ext>
            </a:extLst>
          </p:cNvPr>
          <p:cNvSpPr/>
          <p:nvPr/>
        </p:nvSpPr>
        <p:spPr>
          <a:xfrm>
            <a:off x="3444483" y="4651172"/>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563" name="Text 50">
            <a:extLst>
              <a:ext uri="{FF2B5EF4-FFF2-40B4-BE49-F238E27FC236}">
                <a16:creationId xmlns:a16="http://schemas.microsoft.com/office/drawing/2014/main" id="{8F32671E-225E-D073-04DF-BE2045451A90}"/>
              </a:ext>
            </a:extLst>
          </p:cNvPr>
          <p:cNvSpPr/>
          <p:nvPr/>
        </p:nvSpPr>
        <p:spPr>
          <a:xfrm>
            <a:off x="3444483" y="465117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確定完了</a:t>
            </a:r>
            <a:endParaRPr lang="en-US" sz="700" dirty="0">
              <a:latin typeface="メイリオ" panose="020B0604030504040204" pitchFamily="50" charset="-128"/>
              <a:ea typeface="メイリオ" panose="020B0604030504040204" pitchFamily="50" charset="-128"/>
            </a:endParaRPr>
          </a:p>
        </p:txBody>
      </p:sp>
      <p:sp>
        <p:nvSpPr>
          <p:cNvPr id="565" name="Shape 51">
            <a:extLst>
              <a:ext uri="{FF2B5EF4-FFF2-40B4-BE49-F238E27FC236}">
                <a16:creationId xmlns:a16="http://schemas.microsoft.com/office/drawing/2014/main" id="{BD20E957-9831-52B2-3945-EA8265886264}"/>
              </a:ext>
            </a:extLst>
          </p:cNvPr>
          <p:cNvSpPr/>
          <p:nvPr/>
        </p:nvSpPr>
        <p:spPr>
          <a:xfrm>
            <a:off x="622035" y="514571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569" name="Shape 53">
            <a:extLst>
              <a:ext uri="{FF2B5EF4-FFF2-40B4-BE49-F238E27FC236}">
                <a16:creationId xmlns:a16="http://schemas.microsoft.com/office/drawing/2014/main" id="{000D987C-780E-251D-7A2E-453B098046FA}"/>
              </a:ext>
            </a:extLst>
          </p:cNvPr>
          <p:cNvSpPr/>
          <p:nvPr/>
        </p:nvSpPr>
        <p:spPr>
          <a:xfrm>
            <a:off x="731763" y="5237150"/>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571" name="Text 54">
            <a:extLst>
              <a:ext uri="{FF2B5EF4-FFF2-40B4-BE49-F238E27FC236}">
                <a16:creationId xmlns:a16="http://schemas.microsoft.com/office/drawing/2014/main" id="{D7EBC11B-EE52-5F8C-3A09-E5EFC16DAD14}"/>
              </a:ext>
            </a:extLst>
          </p:cNvPr>
          <p:cNvSpPr/>
          <p:nvPr/>
        </p:nvSpPr>
        <p:spPr>
          <a:xfrm>
            <a:off x="731763" y="5237150"/>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573" name="Shape 55">
            <a:extLst>
              <a:ext uri="{FF2B5EF4-FFF2-40B4-BE49-F238E27FC236}">
                <a16:creationId xmlns:a16="http://schemas.microsoft.com/office/drawing/2014/main" id="{CE118FE4-70B1-ABC1-CFCE-B2C7803700D6}"/>
              </a:ext>
            </a:extLst>
          </p:cNvPr>
          <p:cNvSpPr/>
          <p:nvPr/>
        </p:nvSpPr>
        <p:spPr>
          <a:xfrm>
            <a:off x="1079235" y="5264582"/>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575" name="Text 56">
            <a:extLst>
              <a:ext uri="{FF2B5EF4-FFF2-40B4-BE49-F238E27FC236}">
                <a16:creationId xmlns:a16="http://schemas.microsoft.com/office/drawing/2014/main" id="{7B3D7BAA-5B14-06C5-CCFD-B1B2ED14D54C}"/>
              </a:ext>
            </a:extLst>
          </p:cNvPr>
          <p:cNvSpPr/>
          <p:nvPr/>
        </p:nvSpPr>
        <p:spPr>
          <a:xfrm>
            <a:off x="1079235" y="5264582"/>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Q&amp;A自動対応</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577" name="Text 57">
            <a:extLst>
              <a:ext uri="{FF2B5EF4-FFF2-40B4-BE49-F238E27FC236}">
                <a16:creationId xmlns:a16="http://schemas.microsoft.com/office/drawing/2014/main" id="{3B6EAD0F-BD63-287A-3804-2B841A85C33B}"/>
              </a:ext>
            </a:extLst>
          </p:cNvPr>
          <p:cNvSpPr/>
          <p:nvPr/>
        </p:nvSpPr>
        <p:spPr>
          <a:xfrm>
            <a:off x="1993635" y="5237150"/>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よくある質問の回答をメニュー選択式で自動配信</a:t>
            </a:r>
            <a:endParaRPr lang="en-US" sz="1000" dirty="0">
              <a:latin typeface="メイリオ" panose="020B0604030504040204" pitchFamily="50" charset="-128"/>
              <a:ea typeface="メイリオ" panose="020B0604030504040204" pitchFamily="50" charset="-128"/>
            </a:endParaRPr>
          </a:p>
        </p:txBody>
      </p:sp>
      <p:sp>
        <p:nvSpPr>
          <p:cNvPr id="579" name="Text 58">
            <a:extLst>
              <a:ext uri="{FF2B5EF4-FFF2-40B4-BE49-F238E27FC236}">
                <a16:creationId xmlns:a16="http://schemas.microsoft.com/office/drawing/2014/main" id="{57A957C0-047C-B1C9-3EBB-B3B3F767873F}"/>
              </a:ext>
            </a:extLst>
          </p:cNvPr>
          <p:cNvSpPr/>
          <p:nvPr/>
        </p:nvSpPr>
        <p:spPr>
          <a:xfrm>
            <a:off x="731763" y="5566334"/>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リッチメニューに「よくある質問」「料金を知りたい」「事例を見たい」等のボタンを設置し、タップするだけで回答が届く設計にする。スタッフが答える前に自己解決を促す。</a:t>
            </a:r>
            <a:endParaRPr lang="en-US" sz="600" dirty="0">
              <a:latin typeface="メイリオ" panose="020B0604030504040204" pitchFamily="50" charset="-128"/>
              <a:ea typeface="メイリオ" panose="020B0604030504040204" pitchFamily="50" charset="-128"/>
            </a:endParaRPr>
          </a:p>
        </p:txBody>
      </p:sp>
      <p:sp>
        <p:nvSpPr>
          <p:cNvPr id="581" name="Shape 59">
            <a:extLst>
              <a:ext uri="{FF2B5EF4-FFF2-40B4-BE49-F238E27FC236}">
                <a16:creationId xmlns:a16="http://schemas.microsoft.com/office/drawing/2014/main" id="{9A61C22E-A4B2-9E05-F598-E9C4F0164BD1}"/>
              </a:ext>
            </a:extLst>
          </p:cNvPr>
          <p:cNvSpPr/>
          <p:nvPr/>
        </p:nvSpPr>
        <p:spPr>
          <a:xfrm>
            <a:off x="713475" y="5913806"/>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583" name="Text 60">
            <a:extLst>
              <a:ext uri="{FF2B5EF4-FFF2-40B4-BE49-F238E27FC236}">
                <a16:creationId xmlns:a16="http://schemas.microsoft.com/office/drawing/2014/main" id="{A8DD111B-2CD0-0C8C-5FFD-F634D3033930}"/>
              </a:ext>
            </a:extLst>
          </p:cNvPr>
          <p:cNvSpPr/>
          <p:nvPr/>
        </p:nvSpPr>
        <p:spPr>
          <a:xfrm>
            <a:off x="713475" y="5913806"/>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メニューをタップ</a:t>
            </a:r>
            <a:endParaRPr lang="en-US" sz="700" dirty="0">
              <a:latin typeface="メイリオ" panose="020B0604030504040204" pitchFamily="50" charset="-128"/>
              <a:ea typeface="メイリオ" panose="020B0604030504040204" pitchFamily="50" charset="-128"/>
            </a:endParaRPr>
          </a:p>
        </p:txBody>
      </p:sp>
      <p:sp>
        <p:nvSpPr>
          <p:cNvPr id="589" name="Shape 63">
            <a:extLst>
              <a:ext uri="{FF2B5EF4-FFF2-40B4-BE49-F238E27FC236}">
                <a16:creationId xmlns:a16="http://schemas.microsoft.com/office/drawing/2014/main" id="{E77A650E-654A-EC81-6A3F-240D6A4404F3}"/>
              </a:ext>
            </a:extLst>
          </p:cNvPr>
          <p:cNvSpPr/>
          <p:nvPr/>
        </p:nvSpPr>
        <p:spPr>
          <a:xfrm>
            <a:off x="2078979" y="5913806"/>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591" name="Text 64">
            <a:extLst>
              <a:ext uri="{FF2B5EF4-FFF2-40B4-BE49-F238E27FC236}">
                <a16:creationId xmlns:a16="http://schemas.microsoft.com/office/drawing/2014/main" id="{515BC9A2-B5AE-4A2B-32CA-BEE70A5B85EE}"/>
              </a:ext>
            </a:extLst>
          </p:cNvPr>
          <p:cNvSpPr/>
          <p:nvPr/>
        </p:nvSpPr>
        <p:spPr>
          <a:xfrm>
            <a:off x="2078979" y="5913806"/>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自動回答配信</a:t>
            </a:r>
            <a:endParaRPr lang="en-US" sz="700" dirty="0">
              <a:latin typeface="メイリオ" panose="020B0604030504040204" pitchFamily="50" charset="-128"/>
              <a:ea typeface="メイリオ" panose="020B0604030504040204" pitchFamily="50" charset="-128"/>
            </a:endParaRPr>
          </a:p>
        </p:txBody>
      </p:sp>
      <p:sp>
        <p:nvSpPr>
          <p:cNvPr id="597" name="Shape 67">
            <a:extLst>
              <a:ext uri="{FF2B5EF4-FFF2-40B4-BE49-F238E27FC236}">
                <a16:creationId xmlns:a16="http://schemas.microsoft.com/office/drawing/2014/main" id="{0EEFD0FA-7548-0ECC-E0D4-F44B04D48FB8}"/>
              </a:ext>
            </a:extLst>
          </p:cNvPr>
          <p:cNvSpPr/>
          <p:nvPr/>
        </p:nvSpPr>
        <p:spPr>
          <a:xfrm>
            <a:off x="3444483" y="5913806"/>
            <a:ext cx="1274064" cy="329184"/>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自己解決完了</a:t>
            </a:r>
            <a:endParaRPr lang="en-US" altLang="ja-JP" sz="700" dirty="0">
              <a:latin typeface="メイリオ" panose="020B0604030504040204" pitchFamily="50" charset="-128"/>
              <a:ea typeface="メイリオ" panose="020B0604030504040204" pitchFamily="50" charset="-128"/>
            </a:endParaRPr>
          </a:p>
        </p:txBody>
      </p:sp>
      <p:sp>
        <p:nvSpPr>
          <p:cNvPr id="601" name="Shape 69">
            <a:extLst>
              <a:ext uri="{FF2B5EF4-FFF2-40B4-BE49-F238E27FC236}">
                <a16:creationId xmlns:a16="http://schemas.microsoft.com/office/drawing/2014/main" id="{BB58A48E-96E7-063D-EB59-D048E2A09397}"/>
              </a:ext>
            </a:extLst>
          </p:cNvPr>
          <p:cNvSpPr/>
          <p:nvPr/>
        </p:nvSpPr>
        <p:spPr>
          <a:xfrm>
            <a:off x="5066019" y="262044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05" name="Shape 71">
            <a:extLst>
              <a:ext uri="{FF2B5EF4-FFF2-40B4-BE49-F238E27FC236}">
                <a16:creationId xmlns:a16="http://schemas.microsoft.com/office/drawing/2014/main" id="{CEEFFC68-843C-CB8F-F3EE-D5F381F99FB3}"/>
              </a:ext>
            </a:extLst>
          </p:cNvPr>
          <p:cNvSpPr/>
          <p:nvPr/>
        </p:nvSpPr>
        <p:spPr>
          <a:xfrm>
            <a:off x="5175747" y="271188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07" name="Text 72">
            <a:extLst>
              <a:ext uri="{FF2B5EF4-FFF2-40B4-BE49-F238E27FC236}">
                <a16:creationId xmlns:a16="http://schemas.microsoft.com/office/drawing/2014/main" id="{BA1AC9FB-2A36-A56E-5C44-D0E3ACC9A307}"/>
              </a:ext>
            </a:extLst>
          </p:cNvPr>
          <p:cNvSpPr/>
          <p:nvPr/>
        </p:nvSpPr>
        <p:spPr>
          <a:xfrm>
            <a:off x="5175747" y="271188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609" name="Shape 73">
            <a:extLst>
              <a:ext uri="{FF2B5EF4-FFF2-40B4-BE49-F238E27FC236}">
                <a16:creationId xmlns:a16="http://schemas.microsoft.com/office/drawing/2014/main" id="{DA9D4DB3-FD3E-CC23-5F93-7DD0F2C4A66E}"/>
              </a:ext>
            </a:extLst>
          </p:cNvPr>
          <p:cNvSpPr/>
          <p:nvPr/>
        </p:nvSpPr>
        <p:spPr>
          <a:xfrm>
            <a:off x="5523219" y="2739314"/>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11" name="Text 74">
            <a:extLst>
              <a:ext uri="{FF2B5EF4-FFF2-40B4-BE49-F238E27FC236}">
                <a16:creationId xmlns:a16="http://schemas.microsoft.com/office/drawing/2014/main" id="{388F5303-8FCA-86F2-09F0-93CE3D368104}"/>
              </a:ext>
            </a:extLst>
          </p:cNvPr>
          <p:cNvSpPr/>
          <p:nvPr/>
        </p:nvSpPr>
        <p:spPr>
          <a:xfrm>
            <a:off x="5523219" y="2739314"/>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ホットリード検知</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613" name="Text 75">
            <a:extLst>
              <a:ext uri="{FF2B5EF4-FFF2-40B4-BE49-F238E27FC236}">
                <a16:creationId xmlns:a16="http://schemas.microsoft.com/office/drawing/2014/main" id="{FC4B8845-D876-501A-B76E-902595F69EEE}"/>
              </a:ext>
            </a:extLst>
          </p:cNvPr>
          <p:cNvSpPr/>
          <p:nvPr/>
        </p:nvSpPr>
        <p:spPr>
          <a:xfrm>
            <a:off x="6437619" y="2711882"/>
            <a:ext cx="298094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高スコアユーザーを自動でスタッフにアラート通知</a:t>
            </a:r>
            <a:endParaRPr lang="en-US" sz="1000" dirty="0">
              <a:latin typeface="メイリオ" panose="020B0604030504040204" pitchFamily="50" charset="-128"/>
              <a:ea typeface="メイリオ" panose="020B0604030504040204" pitchFamily="50" charset="-128"/>
            </a:endParaRPr>
          </a:p>
        </p:txBody>
      </p:sp>
      <p:sp>
        <p:nvSpPr>
          <p:cNvPr id="615" name="Text 76">
            <a:extLst>
              <a:ext uri="{FF2B5EF4-FFF2-40B4-BE49-F238E27FC236}">
                <a16:creationId xmlns:a16="http://schemas.microsoft.com/office/drawing/2014/main" id="{41A00D6D-FDD2-F734-B47F-D5335D94AED4}"/>
              </a:ext>
            </a:extLst>
          </p:cNvPr>
          <p:cNvSpPr/>
          <p:nvPr/>
        </p:nvSpPr>
        <p:spPr>
          <a:xfrm>
            <a:off x="5175747" y="3041066"/>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アンケート回答・特定コンテンツのクリック・複数回のサイト訪問など、CVに近いアクションを検知した際に営業担当へ自動アラート。商談タイミングを逃さない。</a:t>
            </a:r>
            <a:endParaRPr lang="en-US" sz="600" dirty="0">
              <a:latin typeface="メイリオ" panose="020B0604030504040204" pitchFamily="50" charset="-128"/>
              <a:ea typeface="メイリオ" panose="020B0604030504040204" pitchFamily="50" charset="-128"/>
            </a:endParaRPr>
          </a:p>
        </p:txBody>
      </p:sp>
      <p:sp>
        <p:nvSpPr>
          <p:cNvPr id="617" name="Shape 77">
            <a:extLst>
              <a:ext uri="{FF2B5EF4-FFF2-40B4-BE49-F238E27FC236}">
                <a16:creationId xmlns:a16="http://schemas.microsoft.com/office/drawing/2014/main" id="{AAC1844B-8885-A3DF-88B2-F8DB39D7D842}"/>
              </a:ext>
            </a:extLst>
          </p:cNvPr>
          <p:cNvSpPr/>
          <p:nvPr/>
        </p:nvSpPr>
        <p:spPr>
          <a:xfrm>
            <a:off x="5157459" y="3388538"/>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619" name="Text 78">
            <a:extLst>
              <a:ext uri="{FF2B5EF4-FFF2-40B4-BE49-F238E27FC236}">
                <a16:creationId xmlns:a16="http://schemas.microsoft.com/office/drawing/2014/main" id="{E6B184D6-84E5-DB05-766A-D1E68B869F8D}"/>
              </a:ext>
            </a:extLst>
          </p:cNvPr>
          <p:cNvSpPr/>
          <p:nvPr/>
        </p:nvSpPr>
        <p:spPr>
          <a:xfrm>
            <a:off x="5157459" y="3388538"/>
            <a:ext cx="1274064" cy="329184"/>
          </a:xfrm>
          <a:prstGeom prst="rect">
            <a:avLst/>
          </a:prstGeom>
          <a:noFill/>
          <a:ln/>
        </p:spPr>
        <p:txBody>
          <a:bodyPr wrap="square" lIns="0" tIns="0" rIns="0" bIns="0" rtlCol="0" anchor="ctr"/>
          <a:lstStyle/>
          <a:p>
            <a:pPr marL="0" indent="0" algn="ctr">
              <a:lnSpc>
                <a:spcPct val="115000"/>
              </a:lnSpc>
              <a:buNone/>
            </a:pPr>
            <a:r>
              <a:rPr lang="en-US" sz="700" b="1" dirty="0" err="1">
                <a:solidFill>
                  <a:srgbClr val="FFFFFF"/>
                </a:solidFill>
                <a:latin typeface="メイリオ" panose="020B0604030504040204" pitchFamily="50" charset="-128"/>
                <a:ea typeface="メイリオ" panose="020B0604030504040204" pitchFamily="50" charset="-128"/>
                <a:cs typeface="Calibri" pitchFamily="34" charset="-120"/>
              </a:rPr>
              <a:t>行動スコア計測</a:t>
            </a:r>
            <a:endParaRPr lang="en-US" sz="700" dirty="0">
              <a:latin typeface="メイリオ" panose="020B0604030504040204" pitchFamily="50" charset="-128"/>
              <a:ea typeface="メイリオ" panose="020B0604030504040204" pitchFamily="50" charset="-128"/>
            </a:endParaRPr>
          </a:p>
        </p:txBody>
      </p:sp>
      <p:sp>
        <p:nvSpPr>
          <p:cNvPr id="621" name="Shape 79">
            <a:extLst>
              <a:ext uri="{FF2B5EF4-FFF2-40B4-BE49-F238E27FC236}">
                <a16:creationId xmlns:a16="http://schemas.microsoft.com/office/drawing/2014/main" id="{1CC3FE20-C3AA-8956-0689-74FD2017633E}"/>
              </a:ext>
            </a:extLst>
          </p:cNvPr>
          <p:cNvSpPr/>
          <p:nvPr/>
        </p:nvSpPr>
        <p:spPr>
          <a:xfrm>
            <a:off x="6431523" y="347997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23" name="Text 80">
            <a:extLst>
              <a:ext uri="{FF2B5EF4-FFF2-40B4-BE49-F238E27FC236}">
                <a16:creationId xmlns:a16="http://schemas.microsoft.com/office/drawing/2014/main" id="{9AC9454B-847A-EEEC-85FF-D2119E030598}"/>
              </a:ext>
            </a:extLst>
          </p:cNvPr>
          <p:cNvSpPr/>
          <p:nvPr/>
        </p:nvSpPr>
        <p:spPr>
          <a:xfrm>
            <a:off x="6431523" y="3479978"/>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625" name="Shape 81">
            <a:extLst>
              <a:ext uri="{FF2B5EF4-FFF2-40B4-BE49-F238E27FC236}">
                <a16:creationId xmlns:a16="http://schemas.microsoft.com/office/drawing/2014/main" id="{60491B0C-3EEB-681C-1D47-8D098E8FA7D8}"/>
              </a:ext>
            </a:extLst>
          </p:cNvPr>
          <p:cNvSpPr/>
          <p:nvPr/>
        </p:nvSpPr>
        <p:spPr>
          <a:xfrm>
            <a:off x="6522963" y="3388538"/>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閾値超えで検知</a:t>
            </a:r>
            <a:endParaRPr lang="en-US" altLang="ja-JP" sz="700" dirty="0">
              <a:latin typeface="メイリオ" panose="020B0604030504040204" pitchFamily="50" charset="-128"/>
              <a:ea typeface="メイリオ" panose="020B0604030504040204" pitchFamily="50" charset="-128"/>
            </a:endParaRPr>
          </a:p>
        </p:txBody>
      </p:sp>
      <p:sp>
        <p:nvSpPr>
          <p:cNvPr id="629" name="Shape 83">
            <a:extLst>
              <a:ext uri="{FF2B5EF4-FFF2-40B4-BE49-F238E27FC236}">
                <a16:creationId xmlns:a16="http://schemas.microsoft.com/office/drawing/2014/main" id="{4B84A085-A08B-402E-675A-39F203C58877}"/>
              </a:ext>
            </a:extLst>
          </p:cNvPr>
          <p:cNvSpPr/>
          <p:nvPr/>
        </p:nvSpPr>
        <p:spPr>
          <a:xfrm>
            <a:off x="7797027" y="347997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31" name="Text 84">
            <a:extLst>
              <a:ext uri="{FF2B5EF4-FFF2-40B4-BE49-F238E27FC236}">
                <a16:creationId xmlns:a16="http://schemas.microsoft.com/office/drawing/2014/main" id="{73ACF39F-9B9B-5BCF-7511-91DAC982D28F}"/>
              </a:ext>
            </a:extLst>
          </p:cNvPr>
          <p:cNvSpPr/>
          <p:nvPr/>
        </p:nvSpPr>
        <p:spPr>
          <a:xfrm>
            <a:off x="7797027" y="3479978"/>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633" name="Shape 85">
            <a:extLst>
              <a:ext uri="{FF2B5EF4-FFF2-40B4-BE49-F238E27FC236}">
                <a16:creationId xmlns:a16="http://schemas.microsoft.com/office/drawing/2014/main" id="{260C63D6-01F1-691F-333C-A703B453DFD3}"/>
              </a:ext>
            </a:extLst>
          </p:cNvPr>
          <p:cNvSpPr/>
          <p:nvPr/>
        </p:nvSpPr>
        <p:spPr>
          <a:xfrm>
            <a:off x="7888467" y="3388538"/>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スタッフにアラート</a:t>
            </a:r>
            <a:endParaRPr lang="en-US" altLang="ja-JP" sz="700" dirty="0">
              <a:latin typeface="メイリオ" panose="020B0604030504040204" pitchFamily="50" charset="-128"/>
              <a:ea typeface="メイリオ" panose="020B0604030504040204" pitchFamily="50" charset="-128"/>
            </a:endParaRPr>
          </a:p>
        </p:txBody>
      </p:sp>
      <p:sp>
        <p:nvSpPr>
          <p:cNvPr id="637" name="Shape 87">
            <a:extLst>
              <a:ext uri="{FF2B5EF4-FFF2-40B4-BE49-F238E27FC236}">
                <a16:creationId xmlns:a16="http://schemas.microsoft.com/office/drawing/2014/main" id="{784BB10F-3251-36CA-8B39-87931A158145}"/>
              </a:ext>
            </a:extLst>
          </p:cNvPr>
          <p:cNvSpPr/>
          <p:nvPr/>
        </p:nvSpPr>
        <p:spPr>
          <a:xfrm>
            <a:off x="5066019" y="388307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41" name="Shape 89">
            <a:extLst>
              <a:ext uri="{FF2B5EF4-FFF2-40B4-BE49-F238E27FC236}">
                <a16:creationId xmlns:a16="http://schemas.microsoft.com/office/drawing/2014/main" id="{00DC0A3B-4000-F47D-3213-A4E96634D97B}"/>
              </a:ext>
            </a:extLst>
          </p:cNvPr>
          <p:cNvSpPr/>
          <p:nvPr/>
        </p:nvSpPr>
        <p:spPr>
          <a:xfrm>
            <a:off x="5175747" y="397451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43" name="Text 90">
            <a:extLst>
              <a:ext uri="{FF2B5EF4-FFF2-40B4-BE49-F238E27FC236}">
                <a16:creationId xmlns:a16="http://schemas.microsoft.com/office/drawing/2014/main" id="{B83E96EB-4D94-8784-7634-300FB4B3D87E}"/>
              </a:ext>
            </a:extLst>
          </p:cNvPr>
          <p:cNvSpPr/>
          <p:nvPr/>
        </p:nvSpPr>
        <p:spPr>
          <a:xfrm>
            <a:off x="5175747" y="3974516"/>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645" name="Shape 91">
            <a:extLst>
              <a:ext uri="{FF2B5EF4-FFF2-40B4-BE49-F238E27FC236}">
                <a16:creationId xmlns:a16="http://schemas.microsoft.com/office/drawing/2014/main" id="{46886788-FBC0-BB7D-8B57-0602CB1FB3B4}"/>
              </a:ext>
            </a:extLst>
          </p:cNvPr>
          <p:cNvSpPr/>
          <p:nvPr/>
        </p:nvSpPr>
        <p:spPr>
          <a:xfrm>
            <a:off x="5523219" y="4001948"/>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47" name="Text 92">
            <a:extLst>
              <a:ext uri="{FF2B5EF4-FFF2-40B4-BE49-F238E27FC236}">
                <a16:creationId xmlns:a16="http://schemas.microsoft.com/office/drawing/2014/main" id="{FAEBC937-35CD-96F3-EB63-7A55072A57D0}"/>
              </a:ext>
            </a:extLst>
          </p:cNvPr>
          <p:cNvSpPr/>
          <p:nvPr/>
        </p:nvSpPr>
        <p:spPr>
          <a:xfrm>
            <a:off x="5523219" y="4001948"/>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BOT×有人切替</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649" name="Text 93">
            <a:extLst>
              <a:ext uri="{FF2B5EF4-FFF2-40B4-BE49-F238E27FC236}">
                <a16:creationId xmlns:a16="http://schemas.microsoft.com/office/drawing/2014/main" id="{67BE3A5A-F652-950D-998F-E17F2540B5B5}"/>
              </a:ext>
            </a:extLst>
          </p:cNvPr>
          <p:cNvSpPr/>
          <p:nvPr/>
        </p:nvSpPr>
        <p:spPr>
          <a:xfrm>
            <a:off x="6437619" y="397451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BOT初期対応→温度感に応じて人に切り替える</a:t>
            </a:r>
            <a:endParaRPr lang="en-US" sz="1000" dirty="0">
              <a:latin typeface="メイリオ" panose="020B0604030504040204" pitchFamily="50" charset="-128"/>
              <a:ea typeface="メイリオ" panose="020B0604030504040204" pitchFamily="50" charset="-128"/>
            </a:endParaRPr>
          </a:p>
        </p:txBody>
      </p:sp>
      <p:sp>
        <p:nvSpPr>
          <p:cNvPr id="651" name="Text 94">
            <a:extLst>
              <a:ext uri="{FF2B5EF4-FFF2-40B4-BE49-F238E27FC236}">
                <a16:creationId xmlns:a16="http://schemas.microsoft.com/office/drawing/2014/main" id="{AFBBE4E7-B1A7-4292-09B1-18137ED8D42D}"/>
              </a:ext>
            </a:extLst>
          </p:cNvPr>
          <p:cNvSpPr/>
          <p:nvPr/>
        </p:nvSpPr>
        <p:spPr>
          <a:xfrm>
            <a:off x="5175747" y="4303700"/>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最初の問い合わせはBOTで自動対応しつつ、「今すぐ相談したい」「詳しく聞きたい」等のキーワードや返信内容に応じてスタッフのチャット対応に切り替える二段構えの設計。</a:t>
            </a:r>
            <a:endParaRPr lang="en-US" sz="600" dirty="0">
              <a:latin typeface="メイリオ" panose="020B0604030504040204" pitchFamily="50" charset="-128"/>
              <a:ea typeface="メイリオ" panose="020B0604030504040204" pitchFamily="50" charset="-128"/>
            </a:endParaRPr>
          </a:p>
        </p:txBody>
      </p:sp>
      <p:sp>
        <p:nvSpPr>
          <p:cNvPr id="653" name="Shape 95">
            <a:extLst>
              <a:ext uri="{FF2B5EF4-FFF2-40B4-BE49-F238E27FC236}">
                <a16:creationId xmlns:a16="http://schemas.microsoft.com/office/drawing/2014/main" id="{39FA8CE3-0F53-8CA9-1EA5-539561B76F93}"/>
              </a:ext>
            </a:extLst>
          </p:cNvPr>
          <p:cNvSpPr/>
          <p:nvPr/>
        </p:nvSpPr>
        <p:spPr>
          <a:xfrm>
            <a:off x="5157459" y="4651172"/>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655" name="Text 96">
            <a:extLst>
              <a:ext uri="{FF2B5EF4-FFF2-40B4-BE49-F238E27FC236}">
                <a16:creationId xmlns:a16="http://schemas.microsoft.com/office/drawing/2014/main" id="{E655B7A0-C9A5-CF91-16E4-1895DE139666}"/>
              </a:ext>
            </a:extLst>
          </p:cNvPr>
          <p:cNvSpPr/>
          <p:nvPr/>
        </p:nvSpPr>
        <p:spPr>
          <a:xfrm>
            <a:off x="5157459" y="465117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BOT自動対応</a:t>
            </a:r>
            <a:endParaRPr lang="en-US" sz="700" dirty="0">
              <a:latin typeface="メイリオ" panose="020B0604030504040204" pitchFamily="50" charset="-128"/>
              <a:ea typeface="メイリオ" panose="020B0604030504040204" pitchFamily="50" charset="-128"/>
            </a:endParaRPr>
          </a:p>
        </p:txBody>
      </p:sp>
      <p:sp>
        <p:nvSpPr>
          <p:cNvPr id="657" name="Shape 97">
            <a:extLst>
              <a:ext uri="{FF2B5EF4-FFF2-40B4-BE49-F238E27FC236}">
                <a16:creationId xmlns:a16="http://schemas.microsoft.com/office/drawing/2014/main" id="{1626AF9B-240E-5BE3-7DCD-12861D786B24}"/>
              </a:ext>
            </a:extLst>
          </p:cNvPr>
          <p:cNvSpPr/>
          <p:nvPr/>
        </p:nvSpPr>
        <p:spPr>
          <a:xfrm>
            <a:off x="6431523" y="474261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59" name="Text 98">
            <a:extLst>
              <a:ext uri="{FF2B5EF4-FFF2-40B4-BE49-F238E27FC236}">
                <a16:creationId xmlns:a16="http://schemas.microsoft.com/office/drawing/2014/main" id="{42A3A949-F941-32D9-7509-689D4FFFDFB7}"/>
              </a:ext>
            </a:extLst>
          </p:cNvPr>
          <p:cNvSpPr/>
          <p:nvPr/>
        </p:nvSpPr>
        <p:spPr>
          <a:xfrm>
            <a:off x="6431523" y="474261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661" name="Shape 99">
            <a:extLst>
              <a:ext uri="{FF2B5EF4-FFF2-40B4-BE49-F238E27FC236}">
                <a16:creationId xmlns:a16="http://schemas.microsoft.com/office/drawing/2014/main" id="{6DE99E7F-7471-D525-A123-D720FA6FA9B5}"/>
              </a:ext>
            </a:extLst>
          </p:cNvPr>
          <p:cNvSpPr/>
          <p:nvPr/>
        </p:nvSpPr>
        <p:spPr>
          <a:xfrm>
            <a:off x="6522963" y="4651172"/>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63" name="Text 100">
            <a:extLst>
              <a:ext uri="{FF2B5EF4-FFF2-40B4-BE49-F238E27FC236}">
                <a16:creationId xmlns:a16="http://schemas.microsoft.com/office/drawing/2014/main" id="{9B9F0FB1-A7C2-521A-B063-2941776A633E}"/>
              </a:ext>
            </a:extLst>
          </p:cNvPr>
          <p:cNvSpPr/>
          <p:nvPr/>
        </p:nvSpPr>
        <p:spPr>
          <a:xfrm>
            <a:off x="6522963" y="4651172"/>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温度感判定</a:t>
            </a:r>
            <a:endParaRPr lang="en-US" sz="700" dirty="0">
              <a:latin typeface="メイリオ" panose="020B0604030504040204" pitchFamily="50" charset="-128"/>
              <a:ea typeface="メイリオ" panose="020B0604030504040204" pitchFamily="50" charset="-128"/>
            </a:endParaRPr>
          </a:p>
        </p:txBody>
      </p:sp>
      <p:sp>
        <p:nvSpPr>
          <p:cNvPr id="665" name="Shape 101">
            <a:extLst>
              <a:ext uri="{FF2B5EF4-FFF2-40B4-BE49-F238E27FC236}">
                <a16:creationId xmlns:a16="http://schemas.microsoft.com/office/drawing/2014/main" id="{9339D2EE-CDD4-3AA6-FBFA-6A18F1CC0246}"/>
              </a:ext>
            </a:extLst>
          </p:cNvPr>
          <p:cNvSpPr/>
          <p:nvPr/>
        </p:nvSpPr>
        <p:spPr>
          <a:xfrm>
            <a:off x="7797027" y="474261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67" name="Text 102">
            <a:extLst>
              <a:ext uri="{FF2B5EF4-FFF2-40B4-BE49-F238E27FC236}">
                <a16:creationId xmlns:a16="http://schemas.microsoft.com/office/drawing/2014/main" id="{851DC5F9-D2E2-AB8D-5270-F12410849762}"/>
              </a:ext>
            </a:extLst>
          </p:cNvPr>
          <p:cNvSpPr/>
          <p:nvPr/>
        </p:nvSpPr>
        <p:spPr>
          <a:xfrm>
            <a:off x="7797027" y="474261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669" name="Shape 103">
            <a:extLst>
              <a:ext uri="{FF2B5EF4-FFF2-40B4-BE49-F238E27FC236}">
                <a16:creationId xmlns:a16="http://schemas.microsoft.com/office/drawing/2014/main" id="{CA3E34EC-809E-1460-AF84-01892AC164A2}"/>
              </a:ext>
            </a:extLst>
          </p:cNvPr>
          <p:cNvSpPr/>
          <p:nvPr/>
        </p:nvSpPr>
        <p:spPr>
          <a:xfrm>
            <a:off x="7888467" y="4651172"/>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71" name="Text 104">
            <a:extLst>
              <a:ext uri="{FF2B5EF4-FFF2-40B4-BE49-F238E27FC236}">
                <a16:creationId xmlns:a16="http://schemas.microsoft.com/office/drawing/2014/main" id="{92D817DE-E3E0-0210-118B-E88552E70384}"/>
              </a:ext>
            </a:extLst>
          </p:cNvPr>
          <p:cNvSpPr/>
          <p:nvPr/>
        </p:nvSpPr>
        <p:spPr>
          <a:xfrm>
            <a:off x="7888467" y="4651172"/>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有人チャット切替</a:t>
            </a:r>
            <a:endParaRPr lang="en-US" sz="700" dirty="0">
              <a:latin typeface="メイリオ" panose="020B0604030504040204" pitchFamily="50" charset="-128"/>
              <a:ea typeface="メイリオ" panose="020B0604030504040204" pitchFamily="50" charset="-128"/>
            </a:endParaRPr>
          </a:p>
        </p:txBody>
      </p:sp>
      <p:sp>
        <p:nvSpPr>
          <p:cNvPr id="673" name="Shape 105">
            <a:extLst>
              <a:ext uri="{FF2B5EF4-FFF2-40B4-BE49-F238E27FC236}">
                <a16:creationId xmlns:a16="http://schemas.microsoft.com/office/drawing/2014/main" id="{81CD6781-0482-CB41-CA37-3520B7496A5A}"/>
              </a:ext>
            </a:extLst>
          </p:cNvPr>
          <p:cNvSpPr/>
          <p:nvPr/>
        </p:nvSpPr>
        <p:spPr>
          <a:xfrm>
            <a:off x="5066019" y="514571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77" name="Shape 107">
            <a:extLst>
              <a:ext uri="{FF2B5EF4-FFF2-40B4-BE49-F238E27FC236}">
                <a16:creationId xmlns:a16="http://schemas.microsoft.com/office/drawing/2014/main" id="{A81AEAB6-AD7E-F31B-0ADE-5C7B295D5EA4}"/>
              </a:ext>
            </a:extLst>
          </p:cNvPr>
          <p:cNvSpPr/>
          <p:nvPr/>
        </p:nvSpPr>
        <p:spPr>
          <a:xfrm>
            <a:off x="5175747" y="5237150"/>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79" name="Text 108">
            <a:extLst>
              <a:ext uri="{FF2B5EF4-FFF2-40B4-BE49-F238E27FC236}">
                <a16:creationId xmlns:a16="http://schemas.microsoft.com/office/drawing/2014/main" id="{64AA460F-920B-4702-F2D6-9DC6134F10FA}"/>
              </a:ext>
            </a:extLst>
          </p:cNvPr>
          <p:cNvSpPr/>
          <p:nvPr/>
        </p:nvSpPr>
        <p:spPr>
          <a:xfrm>
            <a:off x="5175747" y="5237150"/>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681" name="Shape 109">
            <a:extLst>
              <a:ext uri="{FF2B5EF4-FFF2-40B4-BE49-F238E27FC236}">
                <a16:creationId xmlns:a16="http://schemas.microsoft.com/office/drawing/2014/main" id="{A7159021-040A-B966-0BEA-A487B1880278}"/>
              </a:ext>
            </a:extLst>
          </p:cNvPr>
          <p:cNvSpPr/>
          <p:nvPr/>
        </p:nvSpPr>
        <p:spPr>
          <a:xfrm>
            <a:off x="5523219" y="5264582"/>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83" name="Text 110">
            <a:extLst>
              <a:ext uri="{FF2B5EF4-FFF2-40B4-BE49-F238E27FC236}">
                <a16:creationId xmlns:a16="http://schemas.microsoft.com/office/drawing/2014/main" id="{54E3A1A7-41A3-D934-7220-35DFA71C0D16}"/>
              </a:ext>
            </a:extLst>
          </p:cNvPr>
          <p:cNvSpPr/>
          <p:nvPr/>
        </p:nvSpPr>
        <p:spPr>
          <a:xfrm>
            <a:off x="5523219" y="5264582"/>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CV前プッシュ</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685" name="Text 111">
            <a:extLst>
              <a:ext uri="{FF2B5EF4-FFF2-40B4-BE49-F238E27FC236}">
                <a16:creationId xmlns:a16="http://schemas.microsoft.com/office/drawing/2014/main" id="{F45F7554-888D-796D-0EEB-97F748D6AF65}"/>
              </a:ext>
            </a:extLst>
          </p:cNvPr>
          <p:cNvSpPr/>
          <p:nvPr/>
        </p:nvSpPr>
        <p:spPr>
          <a:xfrm>
            <a:off x="6437619" y="5237150"/>
            <a:ext cx="3054724" cy="256032"/>
          </a:xfrm>
          <a:prstGeom prst="rect">
            <a:avLst/>
          </a:prstGeom>
          <a:noFill/>
          <a:ln/>
        </p:spPr>
        <p:txBody>
          <a:bodyPr wrap="square" lIns="0" tIns="0" rIns="0" bIns="0" rtlCol="0" anchor="ctr"/>
          <a:lstStyle/>
          <a:p>
            <a:pPr marL="0" indent="0">
              <a:buNone/>
            </a:pP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購入・申込前</a:t>
            </a:r>
            <a:r>
              <a:rPr lang="ja-JP" altLang="en-US" sz="1000" b="1" dirty="0">
                <a:solidFill>
                  <a:srgbClr val="1A1A2E"/>
                </a:solidFill>
                <a:latin typeface="メイリオ" panose="020B0604030504040204" pitchFamily="50" charset="-128"/>
                <a:ea typeface="メイリオ" panose="020B0604030504040204" pitchFamily="50" charset="-128"/>
                <a:cs typeface="Calibri" pitchFamily="34" charset="-120"/>
              </a:rPr>
              <a:t>の検討</a:t>
            </a: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ユーザーへ自動フォロ</a:t>
            </a: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ー</a:t>
            </a:r>
            <a:endParaRPr lang="en-US" sz="1000" dirty="0">
              <a:latin typeface="メイリオ" panose="020B0604030504040204" pitchFamily="50" charset="-128"/>
              <a:ea typeface="メイリオ" panose="020B0604030504040204" pitchFamily="50" charset="-128"/>
            </a:endParaRPr>
          </a:p>
        </p:txBody>
      </p:sp>
      <p:sp>
        <p:nvSpPr>
          <p:cNvPr id="687" name="Text 112">
            <a:extLst>
              <a:ext uri="{FF2B5EF4-FFF2-40B4-BE49-F238E27FC236}">
                <a16:creationId xmlns:a16="http://schemas.microsoft.com/office/drawing/2014/main" id="{70BE181D-BA19-893E-1406-EC150E011C61}"/>
              </a:ext>
            </a:extLst>
          </p:cNvPr>
          <p:cNvSpPr/>
          <p:nvPr/>
        </p:nvSpPr>
        <p:spPr>
          <a:xfrm>
            <a:off x="5175747" y="5566334"/>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特定LPを複数回閲覧・カートに入れたまま未購入等をトリガーに「ご不明な点はありますか？」とLINEから自動チャット誘導し、最後の一押しをする。</a:t>
            </a:r>
            <a:endParaRPr lang="en-US" sz="600" dirty="0">
              <a:latin typeface="メイリオ" panose="020B0604030504040204" pitchFamily="50" charset="-128"/>
              <a:ea typeface="メイリオ" panose="020B0604030504040204" pitchFamily="50" charset="-128"/>
            </a:endParaRPr>
          </a:p>
        </p:txBody>
      </p:sp>
      <p:sp>
        <p:nvSpPr>
          <p:cNvPr id="689" name="Shape 113">
            <a:extLst>
              <a:ext uri="{FF2B5EF4-FFF2-40B4-BE49-F238E27FC236}">
                <a16:creationId xmlns:a16="http://schemas.microsoft.com/office/drawing/2014/main" id="{ECAFE45D-D34B-EFFC-7D25-B08BEE20AEF6}"/>
              </a:ext>
            </a:extLst>
          </p:cNvPr>
          <p:cNvSpPr/>
          <p:nvPr/>
        </p:nvSpPr>
        <p:spPr>
          <a:xfrm>
            <a:off x="5157459" y="5913806"/>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91" name="Text 114">
            <a:extLst>
              <a:ext uri="{FF2B5EF4-FFF2-40B4-BE49-F238E27FC236}">
                <a16:creationId xmlns:a16="http://schemas.microsoft.com/office/drawing/2014/main" id="{6B779C85-BD07-0168-5453-28C423513F9D}"/>
              </a:ext>
            </a:extLst>
          </p:cNvPr>
          <p:cNvSpPr/>
          <p:nvPr/>
        </p:nvSpPr>
        <p:spPr>
          <a:xfrm>
            <a:off x="5157459" y="5913806"/>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行動トリガー検知</a:t>
            </a:r>
            <a:endParaRPr lang="en-US" sz="700" dirty="0">
              <a:latin typeface="メイリオ" panose="020B0604030504040204" pitchFamily="50" charset="-128"/>
              <a:ea typeface="メイリオ" panose="020B0604030504040204" pitchFamily="50" charset="-128"/>
            </a:endParaRPr>
          </a:p>
        </p:txBody>
      </p:sp>
      <p:sp>
        <p:nvSpPr>
          <p:cNvPr id="697" name="Shape 117">
            <a:extLst>
              <a:ext uri="{FF2B5EF4-FFF2-40B4-BE49-F238E27FC236}">
                <a16:creationId xmlns:a16="http://schemas.microsoft.com/office/drawing/2014/main" id="{74895763-F19D-BB26-23E9-71C875568975}"/>
              </a:ext>
            </a:extLst>
          </p:cNvPr>
          <p:cNvSpPr/>
          <p:nvPr/>
        </p:nvSpPr>
        <p:spPr>
          <a:xfrm>
            <a:off x="6522963" y="5913806"/>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699" name="Text 118">
            <a:extLst>
              <a:ext uri="{FF2B5EF4-FFF2-40B4-BE49-F238E27FC236}">
                <a16:creationId xmlns:a16="http://schemas.microsoft.com/office/drawing/2014/main" id="{503535A8-3E13-EB09-4892-4EF8B4B48074}"/>
              </a:ext>
            </a:extLst>
          </p:cNvPr>
          <p:cNvSpPr/>
          <p:nvPr/>
        </p:nvSpPr>
        <p:spPr>
          <a:xfrm>
            <a:off x="6522963" y="5913806"/>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自動チャット誘導</a:t>
            </a:r>
            <a:endParaRPr lang="en-US" sz="700" dirty="0">
              <a:latin typeface="メイリオ" panose="020B0604030504040204" pitchFamily="50" charset="-128"/>
              <a:ea typeface="メイリオ" panose="020B0604030504040204" pitchFamily="50" charset="-128"/>
            </a:endParaRPr>
          </a:p>
        </p:txBody>
      </p:sp>
      <p:sp>
        <p:nvSpPr>
          <p:cNvPr id="705" name="Shape 121">
            <a:extLst>
              <a:ext uri="{FF2B5EF4-FFF2-40B4-BE49-F238E27FC236}">
                <a16:creationId xmlns:a16="http://schemas.microsoft.com/office/drawing/2014/main" id="{AC9980DB-B831-BCAA-8D60-562EB65D4D3A}"/>
              </a:ext>
            </a:extLst>
          </p:cNvPr>
          <p:cNvSpPr/>
          <p:nvPr/>
        </p:nvSpPr>
        <p:spPr>
          <a:xfrm>
            <a:off x="7888467" y="5913806"/>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707" name="Text 122">
            <a:extLst>
              <a:ext uri="{FF2B5EF4-FFF2-40B4-BE49-F238E27FC236}">
                <a16:creationId xmlns:a16="http://schemas.microsoft.com/office/drawing/2014/main" id="{22E49EBC-D7D9-221D-5A31-6BDEA690B75F}"/>
              </a:ext>
            </a:extLst>
          </p:cNvPr>
          <p:cNvSpPr/>
          <p:nvPr/>
        </p:nvSpPr>
        <p:spPr>
          <a:xfrm>
            <a:off x="7888467" y="5913806"/>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最終CV押し</a:t>
            </a:r>
            <a:endParaRPr lang="en-US" sz="700" dirty="0">
              <a:latin typeface="メイリオ" panose="020B0604030504040204" pitchFamily="50" charset="-128"/>
              <a:ea typeface="メイリオ" panose="020B0604030504040204" pitchFamily="50" charset="-128"/>
            </a:endParaRPr>
          </a:p>
        </p:txBody>
      </p:sp>
      <p:sp>
        <p:nvSpPr>
          <p:cNvPr id="12" name="Shape 43">
            <a:extLst>
              <a:ext uri="{FF2B5EF4-FFF2-40B4-BE49-F238E27FC236}">
                <a16:creationId xmlns:a16="http://schemas.microsoft.com/office/drawing/2014/main" id="{015046B1-422B-D143-D42E-FFCB6E50BDFD}"/>
              </a:ext>
            </a:extLst>
          </p:cNvPr>
          <p:cNvSpPr/>
          <p:nvPr/>
        </p:nvSpPr>
        <p:spPr>
          <a:xfrm>
            <a:off x="1987539" y="60265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14" name="Text 44">
            <a:extLst>
              <a:ext uri="{FF2B5EF4-FFF2-40B4-BE49-F238E27FC236}">
                <a16:creationId xmlns:a16="http://schemas.microsoft.com/office/drawing/2014/main" id="{E10F9D9D-B8B4-2619-0D78-A8518E7D27D9}"/>
              </a:ext>
            </a:extLst>
          </p:cNvPr>
          <p:cNvSpPr/>
          <p:nvPr/>
        </p:nvSpPr>
        <p:spPr>
          <a:xfrm>
            <a:off x="1987539" y="602658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16" name="Shape 47">
            <a:extLst>
              <a:ext uri="{FF2B5EF4-FFF2-40B4-BE49-F238E27FC236}">
                <a16:creationId xmlns:a16="http://schemas.microsoft.com/office/drawing/2014/main" id="{C0AA6635-6DF6-2127-AAD7-0D9D5EB088C1}"/>
              </a:ext>
            </a:extLst>
          </p:cNvPr>
          <p:cNvSpPr/>
          <p:nvPr/>
        </p:nvSpPr>
        <p:spPr>
          <a:xfrm>
            <a:off x="3353043" y="60265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18" name="Text 48">
            <a:extLst>
              <a:ext uri="{FF2B5EF4-FFF2-40B4-BE49-F238E27FC236}">
                <a16:creationId xmlns:a16="http://schemas.microsoft.com/office/drawing/2014/main" id="{497710E5-220F-C545-E364-574BD79A0BE8}"/>
              </a:ext>
            </a:extLst>
          </p:cNvPr>
          <p:cNvSpPr/>
          <p:nvPr/>
        </p:nvSpPr>
        <p:spPr>
          <a:xfrm>
            <a:off x="3353043" y="602658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20" name="Shape 43">
            <a:extLst>
              <a:ext uri="{FF2B5EF4-FFF2-40B4-BE49-F238E27FC236}">
                <a16:creationId xmlns:a16="http://schemas.microsoft.com/office/drawing/2014/main" id="{06C06D8C-BAFC-2894-2CA3-9E087FEEA2E3}"/>
              </a:ext>
            </a:extLst>
          </p:cNvPr>
          <p:cNvSpPr/>
          <p:nvPr/>
        </p:nvSpPr>
        <p:spPr>
          <a:xfrm>
            <a:off x="6431523" y="600205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22" name="Text 44">
            <a:extLst>
              <a:ext uri="{FF2B5EF4-FFF2-40B4-BE49-F238E27FC236}">
                <a16:creationId xmlns:a16="http://schemas.microsoft.com/office/drawing/2014/main" id="{008286C9-78EA-C479-FFCF-2F148042A721}"/>
              </a:ext>
            </a:extLst>
          </p:cNvPr>
          <p:cNvSpPr/>
          <p:nvPr/>
        </p:nvSpPr>
        <p:spPr>
          <a:xfrm>
            <a:off x="6431523" y="6002059"/>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24" name="Shape 47">
            <a:extLst>
              <a:ext uri="{FF2B5EF4-FFF2-40B4-BE49-F238E27FC236}">
                <a16:creationId xmlns:a16="http://schemas.microsoft.com/office/drawing/2014/main" id="{E3694C2E-3C58-CF49-66A0-6BD648B3759E}"/>
              </a:ext>
            </a:extLst>
          </p:cNvPr>
          <p:cNvSpPr/>
          <p:nvPr/>
        </p:nvSpPr>
        <p:spPr>
          <a:xfrm>
            <a:off x="7797027" y="600205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26" name="Text 48">
            <a:extLst>
              <a:ext uri="{FF2B5EF4-FFF2-40B4-BE49-F238E27FC236}">
                <a16:creationId xmlns:a16="http://schemas.microsoft.com/office/drawing/2014/main" id="{EC1D5F75-6D8E-B3B8-DD9E-954F37F1B769}"/>
              </a:ext>
            </a:extLst>
          </p:cNvPr>
          <p:cNvSpPr/>
          <p:nvPr/>
        </p:nvSpPr>
        <p:spPr>
          <a:xfrm>
            <a:off x="7797027" y="6002059"/>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8277907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4070-0F2B-474C-0AD3-89D288BF8607}"/>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5E6F5D8-69FF-EC49-F89A-79FBF097914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具体施策（友だち追加～短期施策）</a:t>
            </a:r>
          </a:p>
        </p:txBody>
      </p:sp>
      <p:sp>
        <p:nvSpPr>
          <p:cNvPr id="2" name="Google Shape;752;p28">
            <a:extLst>
              <a:ext uri="{FF2B5EF4-FFF2-40B4-BE49-F238E27FC236}">
                <a16:creationId xmlns:a16="http://schemas.microsoft.com/office/drawing/2014/main" id="{8DA9D746-57D8-A7F9-7048-09DA5704460D}"/>
              </a:ext>
            </a:extLst>
          </p:cNvPr>
          <p:cNvSpPr txBox="1"/>
          <p:nvPr/>
        </p:nvSpPr>
        <p:spPr>
          <a:xfrm>
            <a:off x="309397" y="655107"/>
            <a:ext cx="9330992" cy="584735"/>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友だち追加直後の</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直近利用・契約可能性が高い</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とされるユーザーに対しては</a:t>
            </a:r>
            <a:endPar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endParaRPr>
          </a:p>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　　  </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トリガーとなる不安の払拭、条件面の精査を</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15-30</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日で設定しタッチポイントを増やす</a:t>
            </a:r>
          </a:p>
        </p:txBody>
      </p:sp>
      <p:sp>
        <p:nvSpPr>
          <p:cNvPr id="41" name="Shape 2">
            <a:extLst>
              <a:ext uri="{FF2B5EF4-FFF2-40B4-BE49-F238E27FC236}">
                <a16:creationId xmlns:a16="http://schemas.microsoft.com/office/drawing/2014/main" id="{72992F6A-FF2A-7ECF-0D33-F6529A528B57}"/>
              </a:ext>
            </a:extLst>
          </p:cNvPr>
          <p:cNvSpPr/>
          <p:nvPr/>
        </p:nvSpPr>
        <p:spPr>
          <a:xfrm>
            <a:off x="775063" y="2010373"/>
            <a:ext cx="8412480" cy="457200"/>
          </a:xfrm>
          <a:prstGeom prst="roundRect">
            <a:avLst>
              <a:gd name="adj" fmla="val 16000"/>
            </a:avLst>
          </a:prstGeom>
          <a:solidFill>
            <a:srgbClr val="F4F7FF"/>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2" name="Text 3">
            <a:extLst>
              <a:ext uri="{FF2B5EF4-FFF2-40B4-BE49-F238E27FC236}">
                <a16:creationId xmlns:a16="http://schemas.microsoft.com/office/drawing/2014/main" id="{190E6A1A-C1DD-4C8E-3197-5AD6F8426871}"/>
              </a:ext>
            </a:extLst>
          </p:cNvPr>
          <p:cNvSpPr/>
          <p:nvPr/>
        </p:nvSpPr>
        <p:spPr>
          <a:xfrm>
            <a:off x="957943" y="2010373"/>
            <a:ext cx="8229600" cy="457200"/>
          </a:xfrm>
          <a:prstGeom prst="rect">
            <a:avLst/>
          </a:prstGeom>
          <a:noFill/>
          <a:ln/>
        </p:spPr>
        <p:txBody>
          <a:bodyPr wrap="square" rtlCol="0" anchor="ctr"/>
          <a:lstStyle/>
          <a:p>
            <a:pPr marL="0" indent="0">
              <a:buNone/>
            </a:pPr>
            <a:r>
              <a:rPr lang="en-US" sz="1100" b="1" dirty="0">
                <a:solidFill>
                  <a:srgbClr val="1E2761"/>
                </a:solidFill>
                <a:latin typeface="メイリオ" panose="020B0604030504040204" pitchFamily="50" charset="-128"/>
                <a:ea typeface="メイリオ" panose="020B0604030504040204" pitchFamily="50" charset="-128"/>
                <a:cs typeface="Calibri" pitchFamily="34" charset="-120"/>
              </a:rPr>
              <a:t>目的：登録直後の本気度スクリーニング → 即アプローチ対象（⑤リード有効化）の特定</a:t>
            </a:r>
            <a:endParaRPr lang="en-US" sz="1100" dirty="0">
              <a:latin typeface="メイリオ" panose="020B0604030504040204" pitchFamily="50" charset="-128"/>
              <a:ea typeface="メイリオ" panose="020B0604030504040204" pitchFamily="50" charset="-128"/>
            </a:endParaRPr>
          </a:p>
        </p:txBody>
      </p:sp>
      <p:sp>
        <p:nvSpPr>
          <p:cNvPr id="43" name="Shape 4">
            <a:extLst>
              <a:ext uri="{FF2B5EF4-FFF2-40B4-BE49-F238E27FC236}">
                <a16:creationId xmlns:a16="http://schemas.microsoft.com/office/drawing/2014/main" id="{D015C19B-5468-998D-251F-6B1B6959CE07}"/>
              </a:ext>
            </a:extLst>
          </p:cNvPr>
          <p:cNvSpPr/>
          <p:nvPr/>
        </p:nvSpPr>
        <p:spPr>
          <a:xfrm>
            <a:off x="775063" y="2604733"/>
            <a:ext cx="8412480" cy="621792"/>
          </a:xfrm>
          <a:prstGeom prst="roundRect">
            <a:avLst>
              <a:gd name="adj" fmla="val 10294"/>
            </a:avLst>
          </a:prstGeom>
          <a:solidFill>
            <a:srgbClr val="F4F7FF"/>
          </a:solidFill>
          <a:ln w="12700">
            <a:solidFill>
              <a:srgbClr val="D1D9F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Shape 5">
            <a:extLst>
              <a:ext uri="{FF2B5EF4-FFF2-40B4-BE49-F238E27FC236}">
                <a16:creationId xmlns:a16="http://schemas.microsoft.com/office/drawing/2014/main" id="{414FEA14-8392-6B62-876D-80318C415543}"/>
              </a:ext>
            </a:extLst>
          </p:cNvPr>
          <p:cNvSpPr/>
          <p:nvPr/>
        </p:nvSpPr>
        <p:spPr>
          <a:xfrm>
            <a:off x="848215" y="2714461"/>
            <a:ext cx="329184" cy="329184"/>
          </a:xfrm>
          <a:prstGeom prst="ellipse">
            <a:avLst/>
          </a:prstGeom>
          <a:solidFill>
            <a:srgbClr val="4A90D9"/>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 6">
            <a:extLst>
              <a:ext uri="{FF2B5EF4-FFF2-40B4-BE49-F238E27FC236}">
                <a16:creationId xmlns:a16="http://schemas.microsoft.com/office/drawing/2014/main" id="{F75BBB7C-7CE8-CD05-76B4-8EAB532092DA}"/>
              </a:ext>
            </a:extLst>
          </p:cNvPr>
          <p:cNvSpPr/>
          <p:nvPr/>
        </p:nvSpPr>
        <p:spPr>
          <a:xfrm>
            <a:off x="848215" y="2714461"/>
            <a:ext cx="329184" cy="329184"/>
          </a:xfrm>
          <a:prstGeom prst="rect">
            <a:avLst/>
          </a:prstGeom>
          <a:noFill/>
          <a:ln/>
        </p:spPr>
        <p:txBody>
          <a:bodyPr wrap="square"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1100" dirty="0">
              <a:latin typeface="メイリオ" panose="020B0604030504040204" pitchFamily="50" charset="-128"/>
              <a:ea typeface="メイリオ" panose="020B0604030504040204" pitchFamily="50" charset="-128"/>
            </a:endParaRPr>
          </a:p>
        </p:txBody>
      </p:sp>
      <p:sp>
        <p:nvSpPr>
          <p:cNvPr id="46" name="Text 7">
            <a:extLst>
              <a:ext uri="{FF2B5EF4-FFF2-40B4-BE49-F238E27FC236}">
                <a16:creationId xmlns:a16="http://schemas.microsoft.com/office/drawing/2014/main" id="{1A4AA2AA-6FF8-3D30-B16C-44EC5F2961CD}"/>
              </a:ext>
            </a:extLst>
          </p:cNvPr>
          <p:cNvSpPr/>
          <p:nvPr/>
        </p:nvSpPr>
        <p:spPr>
          <a:xfrm>
            <a:off x="1250551" y="2650453"/>
            <a:ext cx="5303520" cy="256032"/>
          </a:xfrm>
          <a:prstGeom prst="rect">
            <a:avLst/>
          </a:prstGeom>
          <a:noFill/>
          <a:ln/>
        </p:spPr>
        <p:txBody>
          <a:bodyPr wrap="square" lIns="0" tIns="0" rIns="0" bIns="0" rtlCol="0" anchor="ctr"/>
          <a:lstStyle/>
          <a:p>
            <a:pPr marL="0" indent="0">
              <a:buNone/>
            </a:pPr>
            <a:r>
              <a:rPr lang="en-US" sz="1100" b="1" dirty="0">
                <a:solidFill>
                  <a:srgbClr val="1E2761"/>
                </a:solidFill>
                <a:latin typeface="メイリオ" panose="020B0604030504040204" pitchFamily="50" charset="-128"/>
                <a:ea typeface="メイリオ" panose="020B0604030504040204" pitchFamily="50" charset="-128"/>
                <a:cs typeface="Calibri" pitchFamily="34" charset="-120"/>
              </a:rPr>
              <a:t>Q1. 転職を検討し始めた理由は？</a:t>
            </a:r>
            <a:endParaRPr lang="en-US" sz="1100" dirty="0">
              <a:latin typeface="メイリオ" panose="020B0604030504040204" pitchFamily="50" charset="-128"/>
              <a:ea typeface="メイリオ" panose="020B0604030504040204" pitchFamily="50" charset="-128"/>
            </a:endParaRPr>
          </a:p>
        </p:txBody>
      </p:sp>
      <p:sp>
        <p:nvSpPr>
          <p:cNvPr id="47" name="Text 8">
            <a:extLst>
              <a:ext uri="{FF2B5EF4-FFF2-40B4-BE49-F238E27FC236}">
                <a16:creationId xmlns:a16="http://schemas.microsoft.com/office/drawing/2014/main" id="{7A1F59F1-0B49-73D0-38BD-9948F9A63985}"/>
              </a:ext>
            </a:extLst>
          </p:cNvPr>
          <p:cNvSpPr/>
          <p:nvPr/>
        </p:nvSpPr>
        <p:spPr>
          <a:xfrm>
            <a:off x="1250551" y="2915629"/>
            <a:ext cx="5029200" cy="237744"/>
          </a:xfrm>
          <a:prstGeom prst="rect">
            <a:avLst/>
          </a:prstGeom>
          <a:noFill/>
          <a:ln/>
        </p:spPr>
        <p:txBody>
          <a:bodyPr wrap="square" lIns="0" tIns="0" rIns="0" bIns="0" rtlCol="0" anchor="ctr"/>
          <a:lstStyle/>
          <a:p>
            <a:pPr marL="0" indent="0">
              <a:buNone/>
            </a:pPr>
            <a:r>
              <a:rPr lang="en-US" sz="850" dirty="0">
                <a:solidFill>
                  <a:srgbClr val="64748B"/>
                </a:solidFill>
                <a:latin typeface="メイリオ" panose="020B0604030504040204" pitchFamily="50" charset="-128"/>
                <a:ea typeface="メイリオ" panose="020B0604030504040204" pitchFamily="50" charset="-128"/>
                <a:cs typeface="Calibri" pitchFamily="34" charset="-120"/>
              </a:rPr>
              <a:t>A) 年収アップ　B) 人間関係　C) キャリアアップ　D) 会社の将来性　E) ライフスタイル変化</a:t>
            </a:r>
            <a:endParaRPr lang="en-US" sz="850" dirty="0">
              <a:latin typeface="メイリオ" panose="020B0604030504040204" pitchFamily="50" charset="-128"/>
              <a:ea typeface="メイリオ" panose="020B0604030504040204" pitchFamily="50" charset="-128"/>
            </a:endParaRPr>
          </a:p>
        </p:txBody>
      </p:sp>
      <p:sp>
        <p:nvSpPr>
          <p:cNvPr id="48" name="Shape 9">
            <a:extLst>
              <a:ext uri="{FF2B5EF4-FFF2-40B4-BE49-F238E27FC236}">
                <a16:creationId xmlns:a16="http://schemas.microsoft.com/office/drawing/2014/main" id="{03F3B165-CA3D-3804-AA50-7C78C7C7EB79}"/>
              </a:ext>
            </a:extLst>
          </p:cNvPr>
          <p:cNvSpPr/>
          <p:nvPr/>
        </p:nvSpPr>
        <p:spPr>
          <a:xfrm>
            <a:off x="6444343" y="2677885"/>
            <a:ext cx="2743200" cy="457200"/>
          </a:xfrm>
          <a:prstGeom prst="roundRect">
            <a:avLst>
              <a:gd name="adj" fmla="val 10000"/>
            </a:avLst>
          </a:prstGeom>
          <a:solidFill>
            <a:srgbClr val="FFF8E8"/>
          </a:solidFill>
          <a:ln w="12700">
            <a:solidFill>
              <a:srgbClr val="E8A838"/>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9" name="Text 10">
            <a:extLst>
              <a:ext uri="{FF2B5EF4-FFF2-40B4-BE49-F238E27FC236}">
                <a16:creationId xmlns:a16="http://schemas.microsoft.com/office/drawing/2014/main" id="{DF68B239-8CBC-8341-BA16-8510179A4777}"/>
              </a:ext>
            </a:extLst>
          </p:cNvPr>
          <p:cNvSpPr/>
          <p:nvPr/>
        </p:nvSpPr>
        <p:spPr>
          <a:xfrm>
            <a:off x="6490063" y="2677885"/>
            <a:ext cx="2651760" cy="457200"/>
          </a:xfrm>
          <a:prstGeom prst="rect">
            <a:avLst/>
          </a:prstGeom>
          <a:noFill/>
          <a:ln/>
        </p:spPr>
        <p:txBody>
          <a:bodyPr wrap="square" rtlCol="0" anchor="ctr"/>
          <a:lstStyle/>
          <a:p>
            <a:pPr marL="0" indent="0">
              <a:lnSpc>
                <a:spcPct val="120000"/>
              </a:lnSpc>
              <a:buNone/>
            </a:pPr>
            <a:r>
              <a:rPr lang="en-US" sz="850" dirty="0" err="1">
                <a:solidFill>
                  <a:srgbClr val="7A5200"/>
                </a:solidFill>
                <a:latin typeface="メイリオ" panose="020B0604030504040204" pitchFamily="50" charset="-128"/>
                <a:ea typeface="メイリオ" panose="020B0604030504040204" pitchFamily="50" charset="-128"/>
                <a:cs typeface="Calibri" pitchFamily="34" charset="-120"/>
              </a:rPr>
              <a:t>セグメント分けの最重要設問。回答別に配信内容を変える</a:t>
            </a:r>
            <a:endParaRPr lang="en-US" sz="850" dirty="0">
              <a:latin typeface="メイリオ" panose="020B0604030504040204" pitchFamily="50" charset="-128"/>
              <a:ea typeface="メイリオ" panose="020B0604030504040204" pitchFamily="50" charset="-128"/>
            </a:endParaRPr>
          </a:p>
        </p:txBody>
      </p:sp>
      <p:sp>
        <p:nvSpPr>
          <p:cNvPr id="50" name="Shape 11">
            <a:extLst>
              <a:ext uri="{FF2B5EF4-FFF2-40B4-BE49-F238E27FC236}">
                <a16:creationId xmlns:a16="http://schemas.microsoft.com/office/drawing/2014/main" id="{CEC57A7B-58B4-1F60-CC69-2D9C22413BEF}"/>
              </a:ext>
            </a:extLst>
          </p:cNvPr>
          <p:cNvSpPr/>
          <p:nvPr/>
        </p:nvSpPr>
        <p:spPr>
          <a:xfrm>
            <a:off x="775063" y="3290533"/>
            <a:ext cx="8412480" cy="621792"/>
          </a:xfrm>
          <a:prstGeom prst="roundRect">
            <a:avLst>
              <a:gd name="adj" fmla="val 10294"/>
            </a:avLst>
          </a:prstGeom>
          <a:solidFill>
            <a:srgbClr val="FFFFFF"/>
          </a:solidFill>
          <a:ln w="12700">
            <a:solidFill>
              <a:srgbClr val="D1D9F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1" name="Shape 12">
            <a:extLst>
              <a:ext uri="{FF2B5EF4-FFF2-40B4-BE49-F238E27FC236}">
                <a16:creationId xmlns:a16="http://schemas.microsoft.com/office/drawing/2014/main" id="{0FF9816E-5F43-9459-6349-51431111FD45}"/>
              </a:ext>
            </a:extLst>
          </p:cNvPr>
          <p:cNvSpPr/>
          <p:nvPr/>
        </p:nvSpPr>
        <p:spPr>
          <a:xfrm>
            <a:off x="848215" y="3400261"/>
            <a:ext cx="329184" cy="329184"/>
          </a:xfrm>
          <a:prstGeom prst="ellipse">
            <a:avLst/>
          </a:prstGeom>
          <a:solidFill>
            <a:srgbClr val="4A90D9"/>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2" name="Text 13">
            <a:extLst>
              <a:ext uri="{FF2B5EF4-FFF2-40B4-BE49-F238E27FC236}">
                <a16:creationId xmlns:a16="http://schemas.microsoft.com/office/drawing/2014/main" id="{2BF8E88C-4FC5-B1C2-A8E8-D33029A55D78}"/>
              </a:ext>
            </a:extLst>
          </p:cNvPr>
          <p:cNvSpPr/>
          <p:nvPr/>
        </p:nvSpPr>
        <p:spPr>
          <a:xfrm>
            <a:off x="848215" y="3400261"/>
            <a:ext cx="329184" cy="329184"/>
          </a:xfrm>
          <a:prstGeom prst="rect">
            <a:avLst/>
          </a:prstGeom>
          <a:noFill/>
          <a:ln/>
        </p:spPr>
        <p:txBody>
          <a:bodyPr wrap="square"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1100" dirty="0">
              <a:latin typeface="メイリオ" panose="020B0604030504040204" pitchFamily="50" charset="-128"/>
              <a:ea typeface="メイリオ" panose="020B0604030504040204" pitchFamily="50" charset="-128"/>
            </a:endParaRPr>
          </a:p>
        </p:txBody>
      </p:sp>
      <p:sp>
        <p:nvSpPr>
          <p:cNvPr id="53" name="Text 14">
            <a:extLst>
              <a:ext uri="{FF2B5EF4-FFF2-40B4-BE49-F238E27FC236}">
                <a16:creationId xmlns:a16="http://schemas.microsoft.com/office/drawing/2014/main" id="{4AB095EB-AFFB-C1EB-53C1-4C882C450F66}"/>
              </a:ext>
            </a:extLst>
          </p:cNvPr>
          <p:cNvSpPr/>
          <p:nvPr/>
        </p:nvSpPr>
        <p:spPr>
          <a:xfrm>
            <a:off x="1250551" y="3336253"/>
            <a:ext cx="5303520" cy="256032"/>
          </a:xfrm>
          <a:prstGeom prst="rect">
            <a:avLst/>
          </a:prstGeom>
          <a:noFill/>
          <a:ln/>
        </p:spPr>
        <p:txBody>
          <a:bodyPr wrap="square" lIns="0" tIns="0" rIns="0" bIns="0" rtlCol="0" anchor="ctr"/>
          <a:lstStyle/>
          <a:p>
            <a:pPr marL="0" indent="0">
              <a:buNone/>
            </a:pPr>
            <a:r>
              <a:rPr lang="en-US" sz="1100" b="1" dirty="0">
                <a:solidFill>
                  <a:srgbClr val="1E2761"/>
                </a:solidFill>
                <a:latin typeface="メイリオ" panose="020B0604030504040204" pitchFamily="50" charset="-128"/>
                <a:ea typeface="メイリオ" panose="020B0604030504040204" pitchFamily="50" charset="-128"/>
                <a:cs typeface="Calibri" pitchFamily="34" charset="-120"/>
              </a:rPr>
              <a:t>Q2. 転職希望時期はいつ頃ですか？</a:t>
            </a:r>
            <a:endParaRPr lang="en-US" sz="1100" dirty="0">
              <a:latin typeface="メイリオ" panose="020B0604030504040204" pitchFamily="50" charset="-128"/>
              <a:ea typeface="メイリオ" panose="020B0604030504040204" pitchFamily="50" charset="-128"/>
            </a:endParaRPr>
          </a:p>
        </p:txBody>
      </p:sp>
      <p:sp>
        <p:nvSpPr>
          <p:cNvPr id="54" name="Text 15">
            <a:extLst>
              <a:ext uri="{FF2B5EF4-FFF2-40B4-BE49-F238E27FC236}">
                <a16:creationId xmlns:a16="http://schemas.microsoft.com/office/drawing/2014/main" id="{C6FBF75D-9A2C-AB9C-797C-A65992057C82}"/>
              </a:ext>
            </a:extLst>
          </p:cNvPr>
          <p:cNvSpPr/>
          <p:nvPr/>
        </p:nvSpPr>
        <p:spPr>
          <a:xfrm>
            <a:off x="1250551" y="3601429"/>
            <a:ext cx="5029200" cy="237744"/>
          </a:xfrm>
          <a:prstGeom prst="rect">
            <a:avLst/>
          </a:prstGeom>
          <a:noFill/>
          <a:ln/>
        </p:spPr>
        <p:txBody>
          <a:bodyPr wrap="square" lIns="0" tIns="0" rIns="0" bIns="0" rtlCol="0" anchor="ctr"/>
          <a:lstStyle/>
          <a:p>
            <a:pPr marL="0" indent="0">
              <a:buNone/>
            </a:pPr>
            <a:r>
              <a:rPr lang="en-US" sz="850" dirty="0">
                <a:solidFill>
                  <a:srgbClr val="64748B"/>
                </a:solidFill>
                <a:latin typeface="メイリオ" panose="020B0604030504040204" pitchFamily="50" charset="-128"/>
                <a:ea typeface="メイリオ" panose="020B0604030504040204" pitchFamily="50" charset="-128"/>
                <a:cs typeface="Calibri" pitchFamily="34" charset="-120"/>
              </a:rPr>
              <a:t>A) 1ヶ月以内　B) 3ヶ月以内　C) 半年以内　D) まだ決めていない</a:t>
            </a:r>
            <a:endParaRPr lang="en-US" sz="850" dirty="0">
              <a:latin typeface="メイリオ" panose="020B0604030504040204" pitchFamily="50" charset="-128"/>
              <a:ea typeface="メイリオ" panose="020B0604030504040204" pitchFamily="50" charset="-128"/>
            </a:endParaRPr>
          </a:p>
        </p:txBody>
      </p:sp>
      <p:sp>
        <p:nvSpPr>
          <p:cNvPr id="55" name="Shape 16">
            <a:extLst>
              <a:ext uri="{FF2B5EF4-FFF2-40B4-BE49-F238E27FC236}">
                <a16:creationId xmlns:a16="http://schemas.microsoft.com/office/drawing/2014/main" id="{8B4031C1-8F8E-5381-AAC9-77A14A56B7F6}"/>
              </a:ext>
            </a:extLst>
          </p:cNvPr>
          <p:cNvSpPr/>
          <p:nvPr/>
        </p:nvSpPr>
        <p:spPr>
          <a:xfrm>
            <a:off x="6444343" y="3363685"/>
            <a:ext cx="2743200" cy="457200"/>
          </a:xfrm>
          <a:prstGeom prst="roundRect">
            <a:avLst>
              <a:gd name="adj" fmla="val 10000"/>
            </a:avLst>
          </a:prstGeom>
          <a:solidFill>
            <a:srgbClr val="FFF8E8"/>
          </a:solidFill>
          <a:ln w="12700">
            <a:solidFill>
              <a:srgbClr val="E8A838"/>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6" name="Text 17">
            <a:extLst>
              <a:ext uri="{FF2B5EF4-FFF2-40B4-BE49-F238E27FC236}">
                <a16:creationId xmlns:a16="http://schemas.microsoft.com/office/drawing/2014/main" id="{35FE734F-4C1A-3B7B-8AA4-C2546973E56B}"/>
              </a:ext>
            </a:extLst>
          </p:cNvPr>
          <p:cNvSpPr/>
          <p:nvPr/>
        </p:nvSpPr>
        <p:spPr>
          <a:xfrm>
            <a:off x="6490063" y="3363685"/>
            <a:ext cx="2651760" cy="457200"/>
          </a:xfrm>
          <a:prstGeom prst="rect">
            <a:avLst/>
          </a:prstGeom>
          <a:noFill/>
          <a:ln/>
        </p:spPr>
        <p:txBody>
          <a:bodyPr wrap="square" rtlCol="0" anchor="ctr"/>
          <a:lstStyle/>
          <a:p>
            <a:pPr marL="0" indent="0">
              <a:lnSpc>
                <a:spcPct val="120000"/>
              </a:lnSpc>
              <a:buNone/>
            </a:pPr>
            <a:r>
              <a:rPr lang="en-US" sz="850" dirty="0">
                <a:solidFill>
                  <a:srgbClr val="7A5200"/>
                </a:solidFill>
                <a:latin typeface="メイリオ" panose="020B0604030504040204" pitchFamily="50" charset="-128"/>
                <a:ea typeface="メイリオ" panose="020B0604030504040204" pitchFamily="50" charset="-128"/>
                <a:cs typeface="Calibri" pitchFamily="34" charset="-120"/>
              </a:rPr>
              <a:t>「1〜3ヶ月以内」をホットリードとして即面談オファー対象に</a:t>
            </a:r>
            <a:endParaRPr lang="en-US" sz="850" dirty="0">
              <a:latin typeface="メイリオ" panose="020B0604030504040204" pitchFamily="50" charset="-128"/>
              <a:ea typeface="メイリオ" panose="020B0604030504040204" pitchFamily="50" charset="-128"/>
            </a:endParaRPr>
          </a:p>
        </p:txBody>
      </p:sp>
      <p:sp>
        <p:nvSpPr>
          <p:cNvPr id="57" name="Shape 18">
            <a:extLst>
              <a:ext uri="{FF2B5EF4-FFF2-40B4-BE49-F238E27FC236}">
                <a16:creationId xmlns:a16="http://schemas.microsoft.com/office/drawing/2014/main" id="{77F0529F-1B78-5C45-07C3-2B6DD4A77258}"/>
              </a:ext>
            </a:extLst>
          </p:cNvPr>
          <p:cNvSpPr/>
          <p:nvPr/>
        </p:nvSpPr>
        <p:spPr>
          <a:xfrm>
            <a:off x="775063" y="3976333"/>
            <a:ext cx="8412480" cy="621792"/>
          </a:xfrm>
          <a:prstGeom prst="roundRect">
            <a:avLst>
              <a:gd name="adj" fmla="val 10294"/>
            </a:avLst>
          </a:prstGeom>
          <a:solidFill>
            <a:srgbClr val="F4F7FF"/>
          </a:solidFill>
          <a:ln w="12700">
            <a:solidFill>
              <a:srgbClr val="D1D9F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8" name="Shape 19">
            <a:extLst>
              <a:ext uri="{FF2B5EF4-FFF2-40B4-BE49-F238E27FC236}">
                <a16:creationId xmlns:a16="http://schemas.microsoft.com/office/drawing/2014/main" id="{5CB9124D-3C60-302E-AD9D-68ADA9CED3C8}"/>
              </a:ext>
            </a:extLst>
          </p:cNvPr>
          <p:cNvSpPr/>
          <p:nvPr/>
        </p:nvSpPr>
        <p:spPr>
          <a:xfrm>
            <a:off x="848215" y="4086061"/>
            <a:ext cx="329184" cy="329184"/>
          </a:xfrm>
          <a:prstGeom prst="ellipse">
            <a:avLst/>
          </a:prstGeom>
          <a:solidFill>
            <a:srgbClr val="4A90D9"/>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9" name="Text 20">
            <a:extLst>
              <a:ext uri="{FF2B5EF4-FFF2-40B4-BE49-F238E27FC236}">
                <a16:creationId xmlns:a16="http://schemas.microsoft.com/office/drawing/2014/main" id="{DD06F576-0404-24E3-3484-9A5F77A77D7A}"/>
              </a:ext>
            </a:extLst>
          </p:cNvPr>
          <p:cNvSpPr/>
          <p:nvPr/>
        </p:nvSpPr>
        <p:spPr>
          <a:xfrm>
            <a:off x="848215" y="4086061"/>
            <a:ext cx="329184" cy="329184"/>
          </a:xfrm>
          <a:prstGeom prst="rect">
            <a:avLst/>
          </a:prstGeom>
          <a:noFill/>
          <a:ln/>
        </p:spPr>
        <p:txBody>
          <a:bodyPr wrap="square"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1100" dirty="0">
              <a:latin typeface="メイリオ" panose="020B0604030504040204" pitchFamily="50" charset="-128"/>
              <a:ea typeface="メイリオ" panose="020B0604030504040204" pitchFamily="50" charset="-128"/>
            </a:endParaRPr>
          </a:p>
        </p:txBody>
      </p:sp>
      <p:sp>
        <p:nvSpPr>
          <p:cNvPr id="60" name="Text 21">
            <a:extLst>
              <a:ext uri="{FF2B5EF4-FFF2-40B4-BE49-F238E27FC236}">
                <a16:creationId xmlns:a16="http://schemas.microsoft.com/office/drawing/2014/main" id="{362B56FE-0308-5ACA-794F-33A473A74E16}"/>
              </a:ext>
            </a:extLst>
          </p:cNvPr>
          <p:cNvSpPr/>
          <p:nvPr/>
        </p:nvSpPr>
        <p:spPr>
          <a:xfrm>
            <a:off x="1250551" y="4022053"/>
            <a:ext cx="5303520" cy="256032"/>
          </a:xfrm>
          <a:prstGeom prst="rect">
            <a:avLst/>
          </a:prstGeom>
          <a:noFill/>
          <a:ln/>
        </p:spPr>
        <p:txBody>
          <a:bodyPr wrap="square" lIns="0" tIns="0" rIns="0" bIns="0" rtlCol="0" anchor="ctr"/>
          <a:lstStyle/>
          <a:p>
            <a:pPr marL="0" indent="0">
              <a:buNone/>
            </a:pPr>
            <a:r>
              <a:rPr lang="en-US" sz="1100" b="1" dirty="0">
                <a:solidFill>
                  <a:srgbClr val="1E2761"/>
                </a:solidFill>
                <a:latin typeface="メイリオ" panose="020B0604030504040204" pitchFamily="50" charset="-128"/>
                <a:ea typeface="メイリオ" panose="020B0604030504040204" pitchFamily="50" charset="-128"/>
                <a:cs typeface="Calibri" pitchFamily="34" charset="-120"/>
              </a:rPr>
              <a:t>Q3. 現在の年収（税込）を教えてください</a:t>
            </a:r>
            <a:endParaRPr lang="en-US" sz="1100" dirty="0">
              <a:latin typeface="メイリオ" panose="020B0604030504040204" pitchFamily="50" charset="-128"/>
              <a:ea typeface="メイリオ" panose="020B0604030504040204" pitchFamily="50" charset="-128"/>
            </a:endParaRPr>
          </a:p>
        </p:txBody>
      </p:sp>
      <p:sp>
        <p:nvSpPr>
          <p:cNvPr id="61" name="Text 22">
            <a:extLst>
              <a:ext uri="{FF2B5EF4-FFF2-40B4-BE49-F238E27FC236}">
                <a16:creationId xmlns:a16="http://schemas.microsoft.com/office/drawing/2014/main" id="{CECF4E63-76E9-FEA5-7805-491752940936}"/>
              </a:ext>
            </a:extLst>
          </p:cNvPr>
          <p:cNvSpPr/>
          <p:nvPr/>
        </p:nvSpPr>
        <p:spPr>
          <a:xfrm>
            <a:off x="1250551" y="4287229"/>
            <a:ext cx="5029200" cy="237744"/>
          </a:xfrm>
          <a:prstGeom prst="rect">
            <a:avLst/>
          </a:prstGeom>
          <a:noFill/>
          <a:ln/>
        </p:spPr>
        <p:txBody>
          <a:bodyPr wrap="square" lIns="0" tIns="0" rIns="0" bIns="0" rtlCol="0" anchor="ctr"/>
          <a:lstStyle/>
          <a:p>
            <a:pPr marL="0" indent="0">
              <a:buNone/>
            </a:pPr>
            <a:r>
              <a:rPr lang="en-US" sz="850" dirty="0">
                <a:solidFill>
                  <a:srgbClr val="64748B"/>
                </a:solidFill>
                <a:latin typeface="メイリオ" panose="020B0604030504040204" pitchFamily="50" charset="-128"/>
                <a:ea typeface="メイリオ" panose="020B0604030504040204" pitchFamily="50" charset="-128"/>
                <a:cs typeface="Calibri" pitchFamily="34" charset="-120"/>
              </a:rPr>
              <a:t>A) 〜300万　B) 300〜500万　C) 500〜700万　D) 700万〜</a:t>
            </a:r>
            <a:endParaRPr lang="en-US" sz="850" dirty="0">
              <a:latin typeface="メイリオ" panose="020B0604030504040204" pitchFamily="50" charset="-128"/>
              <a:ea typeface="メイリオ" panose="020B0604030504040204" pitchFamily="50" charset="-128"/>
            </a:endParaRPr>
          </a:p>
        </p:txBody>
      </p:sp>
      <p:sp>
        <p:nvSpPr>
          <p:cNvPr id="62" name="Shape 23">
            <a:extLst>
              <a:ext uri="{FF2B5EF4-FFF2-40B4-BE49-F238E27FC236}">
                <a16:creationId xmlns:a16="http://schemas.microsoft.com/office/drawing/2014/main" id="{DBA9622A-FDA2-1DDD-FBA3-73C50D3AB695}"/>
              </a:ext>
            </a:extLst>
          </p:cNvPr>
          <p:cNvSpPr/>
          <p:nvPr/>
        </p:nvSpPr>
        <p:spPr>
          <a:xfrm>
            <a:off x="6444343" y="4049485"/>
            <a:ext cx="2743200" cy="457200"/>
          </a:xfrm>
          <a:prstGeom prst="roundRect">
            <a:avLst>
              <a:gd name="adj" fmla="val 10000"/>
            </a:avLst>
          </a:prstGeom>
          <a:solidFill>
            <a:srgbClr val="FFF8E8"/>
          </a:solidFill>
          <a:ln w="12700">
            <a:solidFill>
              <a:srgbClr val="E8A838"/>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3" name="Text 24">
            <a:extLst>
              <a:ext uri="{FF2B5EF4-FFF2-40B4-BE49-F238E27FC236}">
                <a16:creationId xmlns:a16="http://schemas.microsoft.com/office/drawing/2014/main" id="{C60B9780-970F-8551-EE91-8044786C7B7C}"/>
              </a:ext>
            </a:extLst>
          </p:cNvPr>
          <p:cNvSpPr/>
          <p:nvPr/>
        </p:nvSpPr>
        <p:spPr>
          <a:xfrm>
            <a:off x="6490063" y="4049485"/>
            <a:ext cx="2651760" cy="457200"/>
          </a:xfrm>
          <a:prstGeom prst="rect">
            <a:avLst/>
          </a:prstGeom>
          <a:noFill/>
          <a:ln/>
        </p:spPr>
        <p:txBody>
          <a:bodyPr wrap="square" rtlCol="0" anchor="ctr"/>
          <a:lstStyle/>
          <a:p>
            <a:pPr marL="0" indent="0">
              <a:lnSpc>
                <a:spcPct val="120000"/>
              </a:lnSpc>
              <a:buNone/>
            </a:pPr>
            <a:r>
              <a:rPr lang="en-US" sz="850" dirty="0" err="1">
                <a:solidFill>
                  <a:srgbClr val="7A5200"/>
                </a:solidFill>
                <a:latin typeface="メイリオ" panose="020B0604030504040204" pitchFamily="50" charset="-128"/>
                <a:ea typeface="メイリオ" panose="020B0604030504040204" pitchFamily="50" charset="-128"/>
                <a:cs typeface="Calibri" pitchFamily="34" charset="-120"/>
              </a:rPr>
              <a:t>サービス対象層の絞り込みと、訴求する年収UP幅の設定に活用</a:t>
            </a:r>
            <a:endParaRPr lang="en-US" sz="850" dirty="0">
              <a:latin typeface="メイリオ" panose="020B0604030504040204" pitchFamily="50" charset="-128"/>
              <a:ea typeface="メイリオ" panose="020B0604030504040204" pitchFamily="50" charset="-128"/>
            </a:endParaRPr>
          </a:p>
        </p:txBody>
      </p:sp>
      <p:sp>
        <p:nvSpPr>
          <p:cNvPr id="64" name="Shape 25">
            <a:extLst>
              <a:ext uri="{FF2B5EF4-FFF2-40B4-BE49-F238E27FC236}">
                <a16:creationId xmlns:a16="http://schemas.microsoft.com/office/drawing/2014/main" id="{E6646D0D-AC17-9974-8BF6-E0C26901E16D}"/>
              </a:ext>
            </a:extLst>
          </p:cNvPr>
          <p:cNvSpPr/>
          <p:nvPr/>
        </p:nvSpPr>
        <p:spPr>
          <a:xfrm>
            <a:off x="775063" y="4662133"/>
            <a:ext cx="8412480" cy="621792"/>
          </a:xfrm>
          <a:prstGeom prst="roundRect">
            <a:avLst>
              <a:gd name="adj" fmla="val 10294"/>
            </a:avLst>
          </a:prstGeom>
          <a:solidFill>
            <a:srgbClr val="FFFFFF"/>
          </a:solidFill>
          <a:ln w="12700">
            <a:solidFill>
              <a:srgbClr val="D1D9F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5" name="Shape 26">
            <a:extLst>
              <a:ext uri="{FF2B5EF4-FFF2-40B4-BE49-F238E27FC236}">
                <a16:creationId xmlns:a16="http://schemas.microsoft.com/office/drawing/2014/main" id="{86330F7C-C512-505C-521A-A5D1453510E6}"/>
              </a:ext>
            </a:extLst>
          </p:cNvPr>
          <p:cNvSpPr/>
          <p:nvPr/>
        </p:nvSpPr>
        <p:spPr>
          <a:xfrm>
            <a:off x="848215" y="4771861"/>
            <a:ext cx="329184" cy="329184"/>
          </a:xfrm>
          <a:prstGeom prst="ellipse">
            <a:avLst/>
          </a:prstGeom>
          <a:solidFill>
            <a:srgbClr val="4A90D9"/>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6" name="Text 27">
            <a:extLst>
              <a:ext uri="{FF2B5EF4-FFF2-40B4-BE49-F238E27FC236}">
                <a16:creationId xmlns:a16="http://schemas.microsoft.com/office/drawing/2014/main" id="{8A40057C-798D-FCB7-8B6B-C2507589C664}"/>
              </a:ext>
            </a:extLst>
          </p:cNvPr>
          <p:cNvSpPr/>
          <p:nvPr/>
        </p:nvSpPr>
        <p:spPr>
          <a:xfrm>
            <a:off x="848215" y="4771861"/>
            <a:ext cx="329184" cy="329184"/>
          </a:xfrm>
          <a:prstGeom prst="rect">
            <a:avLst/>
          </a:prstGeom>
          <a:noFill/>
          <a:ln/>
        </p:spPr>
        <p:txBody>
          <a:bodyPr wrap="square"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4</a:t>
            </a:r>
            <a:endParaRPr lang="en-US" sz="1100" dirty="0">
              <a:latin typeface="メイリオ" panose="020B0604030504040204" pitchFamily="50" charset="-128"/>
              <a:ea typeface="メイリオ" panose="020B0604030504040204" pitchFamily="50" charset="-128"/>
            </a:endParaRPr>
          </a:p>
        </p:txBody>
      </p:sp>
      <p:sp>
        <p:nvSpPr>
          <p:cNvPr id="67" name="Text 28">
            <a:extLst>
              <a:ext uri="{FF2B5EF4-FFF2-40B4-BE49-F238E27FC236}">
                <a16:creationId xmlns:a16="http://schemas.microsoft.com/office/drawing/2014/main" id="{FB185C3E-B3C3-8368-764A-0E889BE9E1DC}"/>
              </a:ext>
            </a:extLst>
          </p:cNvPr>
          <p:cNvSpPr/>
          <p:nvPr/>
        </p:nvSpPr>
        <p:spPr>
          <a:xfrm>
            <a:off x="1250551" y="4707853"/>
            <a:ext cx="5303520" cy="256032"/>
          </a:xfrm>
          <a:prstGeom prst="rect">
            <a:avLst/>
          </a:prstGeom>
          <a:noFill/>
          <a:ln/>
        </p:spPr>
        <p:txBody>
          <a:bodyPr wrap="square" lIns="0" tIns="0" rIns="0" bIns="0" rtlCol="0" anchor="ctr"/>
          <a:lstStyle/>
          <a:p>
            <a:pPr marL="0" indent="0">
              <a:buNone/>
            </a:pPr>
            <a:r>
              <a:rPr lang="en-US" sz="1100" b="1" dirty="0">
                <a:solidFill>
                  <a:srgbClr val="1E2761"/>
                </a:solidFill>
                <a:latin typeface="メイリオ" panose="020B0604030504040204" pitchFamily="50" charset="-128"/>
                <a:ea typeface="メイリオ" panose="020B0604030504040204" pitchFamily="50" charset="-128"/>
                <a:cs typeface="Calibri" pitchFamily="34" charset="-120"/>
              </a:rPr>
              <a:t>Q4. 今、転職活動で一番困っていることは？</a:t>
            </a:r>
            <a:endParaRPr lang="en-US" sz="1100" dirty="0">
              <a:latin typeface="メイリオ" panose="020B0604030504040204" pitchFamily="50" charset="-128"/>
              <a:ea typeface="メイリオ" panose="020B0604030504040204" pitchFamily="50" charset="-128"/>
            </a:endParaRPr>
          </a:p>
        </p:txBody>
      </p:sp>
      <p:sp>
        <p:nvSpPr>
          <p:cNvPr id="68" name="Text 29">
            <a:extLst>
              <a:ext uri="{FF2B5EF4-FFF2-40B4-BE49-F238E27FC236}">
                <a16:creationId xmlns:a16="http://schemas.microsoft.com/office/drawing/2014/main" id="{83A0111B-6C16-924D-2F24-F3322312058F}"/>
              </a:ext>
            </a:extLst>
          </p:cNvPr>
          <p:cNvSpPr/>
          <p:nvPr/>
        </p:nvSpPr>
        <p:spPr>
          <a:xfrm>
            <a:off x="1250551" y="4973029"/>
            <a:ext cx="5029200" cy="237744"/>
          </a:xfrm>
          <a:prstGeom prst="rect">
            <a:avLst/>
          </a:prstGeom>
          <a:noFill/>
          <a:ln/>
        </p:spPr>
        <p:txBody>
          <a:bodyPr wrap="square" lIns="0" tIns="0" rIns="0" bIns="0" rtlCol="0" anchor="ctr"/>
          <a:lstStyle/>
          <a:p>
            <a:pPr marL="0" indent="0">
              <a:buNone/>
            </a:pPr>
            <a:r>
              <a:rPr lang="en-US" sz="850" dirty="0">
                <a:solidFill>
                  <a:srgbClr val="64748B"/>
                </a:solidFill>
                <a:latin typeface="メイリオ" panose="020B0604030504040204" pitchFamily="50" charset="-128"/>
                <a:ea typeface="メイリオ" panose="020B0604030504040204" pitchFamily="50" charset="-128"/>
                <a:cs typeface="Calibri" pitchFamily="34" charset="-120"/>
              </a:rPr>
              <a:t>A) 求人の探し方がわからない　B) 職務経歴書の書き方　C) 面接が不安　D) 年収交渉が怖い</a:t>
            </a:r>
            <a:endParaRPr lang="en-US" sz="850" dirty="0">
              <a:latin typeface="メイリオ" panose="020B0604030504040204" pitchFamily="50" charset="-128"/>
              <a:ea typeface="メイリオ" panose="020B0604030504040204" pitchFamily="50" charset="-128"/>
            </a:endParaRPr>
          </a:p>
        </p:txBody>
      </p:sp>
      <p:sp>
        <p:nvSpPr>
          <p:cNvPr id="69" name="Shape 30">
            <a:extLst>
              <a:ext uri="{FF2B5EF4-FFF2-40B4-BE49-F238E27FC236}">
                <a16:creationId xmlns:a16="http://schemas.microsoft.com/office/drawing/2014/main" id="{B12A9147-2862-DE3E-8AA5-154403D7E2E5}"/>
              </a:ext>
            </a:extLst>
          </p:cNvPr>
          <p:cNvSpPr/>
          <p:nvPr/>
        </p:nvSpPr>
        <p:spPr>
          <a:xfrm>
            <a:off x="6444343" y="4735285"/>
            <a:ext cx="2743200" cy="457200"/>
          </a:xfrm>
          <a:prstGeom prst="roundRect">
            <a:avLst>
              <a:gd name="adj" fmla="val 10000"/>
            </a:avLst>
          </a:prstGeom>
          <a:solidFill>
            <a:srgbClr val="FFF8E8"/>
          </a:solidFill>
          <a:ln w="12700">
            <a:solidFill>
              <a:srgbClr val="E8A838"/>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0" name="Text 31">
            <a:extLst>
              <a:ext uri="{FF2B5EF4-FFF2-40B4-BE49-F238E27FC236}">
                <a16:creationId xmlns:a16="http://schemas.microsoft.com/office/drawing/2014/main" id="{B1610132-9C94-4121-0174-5C4B56C1E9C4}"/>
              </a:ext>
            </a:extLst>
          </p:cNvPr>
          <p:cNvSpPr/>
          <p:nvPr/>
        </p:nvSpPr>
        <p:spPr>
          <a:xfrm>
            <a:off x="6490063" y="4735285"/>
            <a:ext cx="2651760" cy="457200"/>
          </a:xfrm>
          <a:prstGeom prst="rect">
            <a:avLst/>
          </a:prstGeom>
          <a:noFill/>
          <a:ln/>
        </p:spPr>
        <p:txBody>
          <a:bodyPr wrap="square" rtlCol="0" anchor="ctr"/>
          <a:lstStyle/>
          <a:p>
            <a:pPr marL="0" indent="0">
              <a:lnSpc>
                <a:spcPct val="120000"/>
              </a:lnSpc>
              <a:buNone/>
            </a:pPr>
            <a:r>
              <a:rPr lang="en-US" sz="850" dirty="0" err="1">
                <a:solidFill>
                  <a:srgbClr val="7A5200"/>
                </a:solidFill>
                <a:latin typeface="メイリオ" panose="020B0604030504040204" pitchFamily="50" charset="-128"/>
                <a:ea typeface="メイリオ" panose="020B0604030504040204" pitchFamily="50" charset="-128"/>
                <a:cs typeface="Calibri" pitchFamily="34" charset="-120"/>
              </a:rPr>
              <a:t>ナーチャリングコンテンツの優先順位を決める設問</a:t>
            </a:r>
            <a:endParaRPr lang="en-US" sz="850" dirty="0">
              <a:latin typeface="メイリオ" panose="020B0604030504040204" pitchFamily="50" charset="-128"/>
              <a:ea typeface="メイリオ" panose="020B0604030504040204" pitchFamily="50" charset="-128"/>
            </a:endParaRPr>
          </a:p>
        </p:txBody>
      </p:sp>
      <p:sp>
        <p:nvSpPr>
          <p:cNvPr id="71" name="Shape 32">
            <a:extLst>
              <a:ext uri="{FF2B5EF4-FFF2-40B4-BE49-F238E27FC236}">
                <a16:creationId xmlns:a16="http://schemas.microsoft.com/office/drawing/2014/main" id="{5E0CF565-2E70-3594-94E3-B92DBA09CE1D}"/>
              </a:ext>
            </a:extLst>
          </p:cNvPr>
          <p:cNvSpPr/>
          <p:nvPr/>
        </p:nvSpPr>
        <p:spPr>
          <a:xfrm>
            <a:off x="775063" y="5347933"/>
            <a:ext cx="8412480" cy="621792"/>
          </a:xfrm>
          <a:prstGeom prst="roundRect">
            <a:avLst>
              <a:gd name="adj" fmla="val 10294"/>
            </a:avLst>
          </a:prstGeom>
          <a:solidFill>
            <a:srgbClr val="F4F7FF"/>
          </a:solidFill>
          <a:ln w="12700">
            <a:solidFill>
              <a:srgbClr val="D1D9F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2" name="Shape 33">
            <a:extLst>
              <a:ext uri="{FF2B5EF4-FFF2-40B4-BE49-F238E27FC236}">
                <a16:creationId xmlns:a16="http://schemas.microsoft.com/office/drawing/2014/main" id="{C3888C1F-7E31-5CB5-DB8C-6376B4A23075}"/>
              </a:ext>
            </a:extLst>
          </p:cNvPr>
          <p:cNvSpPr/>
          <p:nvPr/>
        </p:nvSpPr>
        <p:spPr>
          <a:xfrm>
            <a:off x="848215" y="5457661"/>
            <a:ext cx="329184" cy="329184"/>
          </a:xfrm>
          <a:prstGeom prst="ellipse">
            <a:avLst/>
          </a:prstGeom>
          <a:solidFill>
            <a:srgbClr val="4A90D9"/>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3" name="Text 34">
            <a:extLst>
              <a:ext uri="{FF2B5EF4-FFF2-40B4-BE49-F238E27FC236}">
                <a16:creationId xmlns:a16="http://schemas.microsoft.com/office/drawing/2014/main" id="{59588FF7-10F6-8141-4359-836B851E5424}"/>
              </a:ext>
            </a:extLst>
          </p:cNvPr>
          <p:cNvSpPr/>
          <p:nvPr/>
        </p:nvSpPr>
        <p:spPr>
          <a:xfrm>
            <a:off x="848215" y="5457661"/>
            <a:ext cx="329184" cy="329184"/>
          </a:xfrm>
          <a:prstGeom prst="rect">
            <a:avLst/>
          </a:prstGeom>
          <a:noFill/>
          <a:ln/>
        </p:spPr>
        <p:txBody>
          <a:bodyPr wrap="square"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5</a:t>
            </a:r>
            <a:endParaRPr lang="en-US" sz="1100" dirty="0">
              <a:latin typeface="メイリオ" panose="020B0604030504040204" pitchFamily="50" charset="-128"/>
              <a:ea typeface="メイリオ" panose="020B0604030504040204" pitchFamily="50" charset="-128"/>
            </a:endParaRPr>
          </a:p>
        </p:txBody>
      </p:sp>
      <p:sp>
        <p:nvSpPr>
          <p:cNvPr id="74" name="Text 35">
            <a:extLst>
              <a:ext uri="{FF2B5EF4-FFF2-40B4-BE49-F238E27FC236}">
                <a16:creationId xmlns:a16="http://schemas.microsoft.com/office/drawing/2014/main" id="{C5CFC561-6A8F-BACD-E02C-A277E8A3063E}"/>
              </a:ext>
            </a:extLst>
          </p:cNvPr>
          <p:cNvSpPr/>
          <p:nvPr/>
        </p:nvSpPr>
        <p:spPr>
          <a:xfrm>
            <a:off x="1250551" y="5393653"/>
            <a:ext cx="5303520" cy="256032"/>
          </a:xfrm>
          <a:prstGeom prst="rect">
            <a:avLst/>
          </a:prstGeom>
          <a:noFill/>
          <a:ln/>
        </p:spPr>
        <p:txBody>
          <a:bodyPr wrap="square" lIns="0" tIns="0" rIns="0" bIns="0" rtlCol="0" anchor="ctr"/>
          <a:lstStyle/>
          <a:p>
            <a:pPr marL="0" indent="0">
              <a:buNone/>
            </a:pPr>
            <a:r>
              <a:rPr lang="en-US" sz="1100" b="1" dirty="0">
                <a:solidFill>
                  <a:srgbClr val="1E2761"/>
                </a:solidFill>
                <a:latin typeface="メイリオ" panose="020B0604030504040204" pitchFamily="50" charset="-128"/>
                <a:ea typeface="メイリオ" panose="020B0604030504040204" pitchFamily="50" charset="-128"/>
                <a:cs typeface="Calibri" pitchFamily="34" charset="-120"/>
              </a:rPr>
              <a:t>Q5. 転職エージェントの利用経験はありますか？</a:t>
            </a:r>
            <a:endParaRPr lang="en-US" sz="1100" dirty="0">
              <a:latin typeface="メイリオ" panose="020B0604030504040204" pitchFamily="50" charset="-128"/>
              <a:ea typeface="メイリオ" panose="020B0604030504040204" pitchFamily="50" charset="-128"/>
            </a:endParaRPr>
          </a:p>
        </p:txBody>
      </p:sp>
      <p:sp>
        <p:nvSpPr>
          <p:cNvPr id="75" name="Text 36">
            <a:extLst>
              <a:ext uri="{FF2B5EF4-FFF2-40B4-BE49-F238E27FC236}">
                <a16:creationId xmlns:a16="http://schemas.microsoft.com/office/drawing/2014/main" id="{BE1F2F6E-238F-21D4-40A5-BD1CB63C8953}"/>
              </a:ext>
            </a:extLst>
          </p:cNvPr>
          <p:cNvSpPr/>
          <p:nvPr/>
        </p:nvSpPr>
        <p:spPr>
          <a:xfrm>
            <a:off x="1250551" y="5658829"/>
            <a:ext cx="5029200" cy="237744"/>
          </a:xfrm>
          <a:prstGeom prst="rect">
            <a:avLst/>
          </a:prstGeom>
          <a:noFill/>
          <a:ln/>
        </p:spPr>
        <p:txBody>
          <a:bodyPr wrap="square" lIns="0" tIns="0" rIns="0" bIns="0" rtlCol="0" anchor="ctr"/>
          <a:lstStyle/>
          <a:p>
            <a:pPr marL="0" indent="0">
              <a:buNone/>
            </a:pPr>
            <a:r>
              <a:rPr lang="en-US" sz="850" dirty="0">
                <a:solidFill>
                  <a:srgbClr val="64748B"/>
                </a:solidFill>
                <a:latin typeface="メイリオ" panose="020B0604030504040204" pitchFamily="50" charset="-128"/>
                <a:ea typeface="メイリオ" panose="020B0604030504040204" pitchFamily="50" charset="-128"/>
                <a:cs typeface="Calibri" pitchFamily="34" charset="-120"/>
              </a:rPr>
              <a:t>A) はじめて　B) 使ったことがある（満足）　C) 使ったことがある（不満）</a:t>
            </a:r>
            <a:endParaRPr lang="en-US" sz="850" dirty="0">
              <a:latin typeface="メイリオ" panose="020B0604030504040204" pitchFamily="50" charset="-128"/>
              <a:ea typeface="メイリオ" panose="020B0604030504040204" pitchFamily="50" charset="-128"/>
            </a:endParaRPr>
          </a:p>
        </p:txBody>
      </p:sp>
      <p:sp>
        <p:nvSpPr>
          <p:cNvPr id="76" name="Shape 37">
            <a:extLst>
              <a:ext uri="{FF2B5EF4-FFF2-40B4-BE49-F238E27FC236}">
                <a16:creationId xmlns:a16="http://schemas.microsoft.com/office/drawing/2014/main" id="{E835EF93-AE65-C080-A583-076B9485CC6B}"/>
              </a:ext>
            </a:extLst>
          </p:cNvPr>
          <p:cNvSpPr/>
          <p:nvPr/>
        </p:nvSpPr>
        <p:spPr>
          <a:xfrm>
            <a:off x="6444343" y="5421085"/>
            <a:ext cx="2743200" cy="457200"/>
          </a:xfrm>
          <a:prstGeom prst="roundRect">
            <a:avLst>
              <a:gd name="adj" fmla="val 10000"/>
            </a:avLst>
          </a:prstGeom>
          <a:solidFill>
            <a:srgbClr val="FFF8E8"/>
          </a:solidFill>
          <a:ln w="12700">
            <a:solidFill>
              <a:srgbClr val="E8A838"/>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7" name="Text 38">
            <a:extLst>
              <a:ext uri="{FF2B5EF4-FFF2-40B4-BE49-F238E27FC236}">
                <a16:creationId xmlns:a16="http://schemas.microsoft.com/office/drawing/2014/main" id="{4E76941A-97E1-A80A-F7B6-9B05D68E1AA2}"/>
              </a:ext>
            </a:extLst>
          </p:cNvPr>
          <p:cNvSpPr/>
          <p:nvPr/>
        </p:nvSpPr>
        <p:spPr>
          <a:xfrm>
            <a:off x="6490063" y="5421085"/>
            <a:ext cx="2651760" cy="457200"/>
          </a:xfrm>
          <a:prstGeom prst="rect">
            <a:avLst/>
          </a:prstGeom>
          <a:noFill/>
          <a:ln/>
        </p:spPr>
        <p:txBody>
          <a:bodyPr wrap="square" rtlCol="0" anchor="ctr"/>
          <a:lstStyle/>
          <a:p>
            <a:pPr marL="0" indent="0">
              <a:lnSpc>
                <a:spcPct val="120000"/>
              </a:lnSpc>
              <a:buNone/>
            </a:pPr>
            <a:r>
              <a:rPr lang="en-US" sz="850" dirty="0">
                <a:solidFill>
                  <a:srgbClr val="7A5200"/>
                </a:solidFill>
                <a:latin typeface="メイリオ" panose="020B0604030504040204" pitchFamily="50" charset="-128"/>
                <a:ea typeface="メイリオ" panose="020B0604030504040204" pitchFamily="50" charset="-128"/>
                <a:cs typeface="Calibri" pitchFamily="34" charset="-120"/>
              </a:rPr>
              <a:t>「不満あり」層には競合差別化コンテンツを優先配信</a:t>
            </a:r>
            <a:endParaRPr lang="en-US" sz="850"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B080DFA3-5E6A-7CB9-A83C-9D87074C7C62}"/>
              </a:ext>
            </a:extLst>
          </p:cNvPr>
          <p:cNvSpPr/>
          <p:nvPr/>
        </p:nvSpPr>
        <p:spPr>
          <a:xfrm>
            <a:off x="167640" y="1572768"/>
            <a:ext cx="9570720" cy="4772299"/>
          </a:xfrm>
          <a:prstGeom prst="rect">
            <a:avLst/>
          </a:prstGeom>
          <a:solidFill>
            <a:schemeClr val="bg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FDC81EE9-FE25-DEA2-3BE6-5D4BC6729956}"/>
              </a:ext>
            </a:extLst>
          </p:cNvPr>
          <p:cNvSpPr/>
          <p:nvPr/>
        </p:nvSpPr>
        <p:spPr>
          <a:xfrm>
            <a:off x="4940121" y="59287"/>
            <a:ext cx="2597727" cy="41563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人材</a:t>
            </a:r>
            <a:r>
              <a:rPr kumimoji="1" lang="en-US" altLang="ja-JP" sz="1200" dirty="0">
                <a:solidFill>
                  <a:schemeClr val="bg1"/>
                </a:solidFill>
                <a:latin typeface="メイリオ" panose="020B0604030504040204" pitchFamily="50" charset="-128"/>
                <a:ea typeface="メイリオ" panose="020B0604030504040204" pitchFamily="50" charset="-128"/>
              </a:rPr>
              <a:t>(</a:t>
            </a:r>
            <a:r>
              <a:rPr kumimoji="1" lang="ja-JP" altLang="en-US" sz="1200" dirty="0">
                <a:solidFill>
                  <a:schemeClr val="bg1"/>
                </a:solidFill>
                <a:latin typeface="メイリオ" panose="020B0604030504040204" pitchFamily="50" charset="-128"/>
                <a:ea typeface="メイリオ" panose="020B0604030504040204" pitchFamily="50" charset="-128"/>
              </a:rPr>
              <a:t>転職</a:t>
            </a:r>
            <a:r>
              <a:rPr kumimoji="1" lang="en-US" altLang="ja-JP" sz="1200" dirty="0">
                <a:solidFill>
                  <a:schemeClr val="bg1"/>
                </a:solidFill>
                <a:latin typeface="メイリオ" panose="020B0604030504040204" pitchFamily="50" charset="-128"/>
                <a:ea typeface="メイリオ" panose="020B0604030504040204" pitchFamily="50" charset="-128"/>
              </a:rPr>
              <a:t>)</a:t>
            </a:r>
            <a:r>
              <a:rPr kumimoji="1" lang="ja-JP" altLang="en-US" sz="1200" dirty="0">
                <a:solidFill>
                  <a:schemeClr val="bg1"/>
                </a:solidFill>
                <a:latin typeface="メイリオ" panose="020B0604030504040204" pitchFamily="50" charset="-128"/>
                <a:ea typeface="メイリオ" panose="020B0604030504040204" pitchFamily="50" charset="-128"/>
              </a:rPr>
              <a:t>業界の例</a:t>
            </a:r>
          </a:p>
        </p:txBody>
      </p:sp>
    </p:spTree>
    <p:extLst>
      <p:ext uri="{BB962C8B-B14F-4D97-AF65-F5344CB8AC3E}">
        <p14:creationId xmlns:p14="http://schemas.microsoft.com/office/powerpoint/2010/main" val="90106357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33825-9171-A79A-31F7-FBB36FFE7BAB}"/>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CD327D4-877A-97BF-5A3D-BA2BFF89C5D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具体施策（友だち追加～休眠等の長期施策）</a:t>
            </a:r>
          </a:p>
        </p:txBody>
      </p:sp>
      <p:sp>
        <p:nvSpPr>
          <p:cNvPr id="2" name="Google Shape;752;p28">
            <a:extLst>
              <a:ext uri="{FF2B5EF4-FFF2-40B4-BE49-F238E27FC236}">
                <a16:creationId xmlns:a16="http://schemas.microsoft.com/office/drawing/2014/main" id="{344F9C81-17B8-CD75-7943-C74785EA9326}"/>
              </a:ext>
            </a:extLst>
          </p:cNvPr>
          <p:cNvSpPr txBox="1"/>
          <p:nvPr/>
        </p:nvSpPr>
        <p:spPr>
          <a:xfrm>
            <a:off x="309397" y="655107"/>
            <a:ext cx="9330992" cy="584735"/>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想定：検索ボリューム推移などの情報からスケジューリング。運用実績案件ベースで</a:t>
            </a:r>
            <a:endPar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endParaRPr>
          </a:p>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　　 「〇〇の日」「検討アクションが活発化する期間」「</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CVR</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が高い期間」を抽出し企画作成。</a:t>
            </a:r>
          </a:p>
        </p:txBody>
      </p:sp>
      <p:sp>
        <p:nvSpPr>
          <p:cNvPr id="3" name="Shape 2">
            <a:extLst>
              <a:ext uri="{FF2B5EF4-FFF2-40B4-BE49-F238E27FC236}">
                <a16:creationId xmlns:a16="http://schemas.microsoft.com/office/drawing/2014/main" id="{C60A8489-6BE4-3B93-2131-E11F42129098}"/>
              </a:ext>
            </a:extLst>
          </p:cNvPr>
          <p:cNvSpPr/>
          <p:nvPr/>
        </p:nvSpPr>
        <p:spPr>
          <a:xfrm>
            <a:off x="683623" y="2438404"/>
            <a:ext cx="4206240" cy="1920240"/>
          </a:xfrm>
          <a:prstGeom prst="roundRect">
            <a:avLst>
              <a:gd name="adj" fmla="val 5714"/>
            </a:avLst>
          </a:prstGeom>
          <a:solidFill>
            <a:srgbClr val="FFFFFF"/>
          </a:solidFill>
          <a:ln w="12700">
            <a:solidFill>
              <a:srgbClr val="4A90D9"/>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 name="Shape 3">
            <a:extLst>
              <a:ext uri="{FF2B5EF4-FFF2-40B4-BE49-F238E27FC236}">
                <a16:creationId xmlns:a16="http://schemas.microsoft.com/office/drawing/2014/main" id="{D946CD2D-A79C-A7B7-15A1-A1837415507A}"/>
              </a:ext>
            </a:extLst>
          </p:cNvPr>
          <p:cNvSpPr/>
          <p:nvPr/>
        </p:nvSpPr>
        <p:spPr>
          <a:xfrm>
            <a:off x="793351" y="2529844"/>
            <a:ext cx="658368" cy="292608"/>
          </a:xfrm>
          <a:prstGeom prst="roundRect">
            <a:avLst>
              <a:gd name="adj" fmla="val 18750"/>
            </a:avLst>
          </a:prstGeom>
          <a:solidFill>
            <a:srgbClr val="4A90D9"/>
          </a:solidFill>
          <a:ln w="12700">
            <a:solidFill>
              <a:srgbClr val="4A90D9"/>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 name="Text 4">
            <a:extLst>
              <a:ext uri="{FF2B5EF4-FFF2-40B4-BE49-F238E27FC236}">
                <a16:creationId xmlns:a16="http://schemas.microsoft.com/office/drawing/2014/main" id="{AB03F4F1-34EC-318B-44DB-813F9A260ADC}"/>
              </a:ext>
            </a:extLst>
          </p:cNvPr>
          <p:cNvSpPr/>
          <p:nvPr/>
        </p:nvSpPr>
        <p:spPr>
          <a:xfrm>
            <a:off x="793351" y="2529844"/>
            <a:ext cx="658368" cy="292608"/>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1-3月</a:t>
            </a:r>
            <a:endParaRPr kumimoji="0" lang="en-US" sz="10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7" name="Shape 5">
            <a:extLst>
              <a:ext uri="{FF2B5EF4-FFF2-40B4-BE49-F238E27FC236}">
                <a16:creationId xmlns:a16="http://schemas.microsoft.com/office/drawing/2014/main" id="{C1B56B7E-2C3F-30E8-B262-184104348BC9}"/>
              </a:ext>
            </a:extLst>
          </p:cNvPr>
          <p:cNvSpPr/>
          <p:nvPr/>
        </p:nvSpPr>
        <p:spPr>
          <a:xfrm>
            <a:off x="1506583" y="2548132"/>
            <a:ext cx="1005840" cy="256032"/>
          </a:xfrm>
          <a:prstGeom prst="roundRect">
            <a:avLst>
              <a:gd name="adj" fmla="val 14286"/>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 name="Text 6">
            <a:extLst>
              <a:ext uri="{FF2B5EF4-FFF2-40B4-BE49-F238E27FC236}">
                <a16:creationId xmlns:a16="http://schemas.microsoft.com/office/drawing/2014/main" id="{A84711DF-BA77-8F0A-2104-C18090ED3CC4}"/>
              </a:ext>
            </a:extLst>
          </p:cNvPr>
          <p:cNvSpPr/>
          <p:nvPr/>
        </p:nvSpPr>
        <p:spPr>
          <a:xfrm>
            <a:off x="1506583" y="2548132"/>
            <a:ext cx="1005840" cy="256032"/>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転職最繁忙期</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 name="Text 7">
            <a:extLst>
              <a:ext uri="{FF2B5EF4-FFF2-40B4-BE49-F238E27FC236}">
                <a16:creationId xmlns:a16="http://schemas.microsoft.com/office/drawing/2014/main" id="{F76CECB1-59BF-1E7A-094C-226743CD5D1F}"/>
              </a:ext>
            </a:extLst>
          </p:cNvPr>
          <p:cNvSpPr/>
          <p:nvPr/>
        </p:nvSpPr>
        <p:spPr>
          <a:xfrm>
            <a:off x="793351" y="2895604"/>
            <a:ext cx="3931920" cy="292608"/>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「年度末キャリア見直しキャンペーン」</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 name="Text 8">
            <a:extLst>
              <a:ext uri="{FF2B5EF4-FFF2-40B4-BE49-F238E27FC236}">
                <a16:creationId xmlns:a16="http://schemas.microsoft.com/office/drawing/2014/main" id="{E9330544-7DE3-4156-FDB0-0068C25C7D92}"/>
              </a:ext>
            </a:extLst>
          </p:cNvPr>
          <p:cNvSpPr/>
          <p:nvPr/>
        </p:nvSpPr>
        <p:spPr>
          <a:xfrm>
            <a:off x="793351" y="3215644"/>
            <a:ext cx="3931920" cy="749808"/>
          </a:xfrm>
          <a:prstGeom prst="rect">
            <a:avLst/>
          </a:prstGeom>
          <a:noFill/>
          <a:ln/>
        </p:spPr>
        <p:txBody>
          <a:bodyPr wrap="square" lIns="0" tIns="0" rIns="0" bIns="0" rtlCol="0" anchor="ctr"/>
          <a:lstStyle/>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1月〜3月は転職相談数が最大化する時期。</a:t>
            </a: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「3月末退職→4月入社」を目指す層が急増。</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施策：無料個別面談の枠を期間限定で倍増。LINEで「残り○名」のカウントダウン配信。</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 name="Shape 9">
            <a:extLst>
              <a:ext uri="{FF2B5EF4-FFF2-40B4-BE49-F238E27FC236}">
                <a16:creationId xmlns:a16="http://schemas.microsoft.com/office/drawing/2014/main" id="{6C89C044-CC81-F526-4C28-8C8818A84AC8}"/>
              </a:ext>
            </a:extLst>
          </p:cNvPr>
          <p:cNvSpPr/>
          <p:nvPr/>
        </p:nvSpPr>
        <p:spPr>
          <a:xfrm>
            <a:off x="793351" y="4011172"/>
            <a:ext cx="3931920" cy="228600"/>
          </a:xfrm>
          <a:prstGeom prst="roundRect">
            <a:avLst>
              <a:gd name="adj" fmla="val 16000"/>
            </a:avLst>
          </a:prstGeom>
          <a:solidFill>
            <a:srgbClr val="F4F7FF"/>
          </a:solidFill>
          <a:ln w="12700">
            <a:solidFill>
              <a:srgbClr val="D1D9F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 name="Text 10">
            <a:extLst>
              <a:ext uri="{FF2B5EF4-FFF2-40B4-BE49-F238E27FC236}">
                <a16:creationId xmlns:a16="http://schemas.microsoft.com/office/drawing/2014/main" id="{EBB9FD63-B2E1-8ED6-289B-17E75D53D0CF}"/>
              </a:ext>
            </a:extLst>
          </p:cNvPr>
          <p:cNvSpPr/>
          <p:nvPr/>
        </p:nvSpPr>
        <p:spPr>
          <a:xfrm>
            <a:off x="793351" y="4011172"/>
            <a:ext cx="3931920" cy="228600"/>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cs typeface="Calibri" pitchFamily="34" charset="-120"/>
              </a:rPr>
              <a:t>KPI目標：面談予約率 +30% 目標</a:t>
            </a:r>
            <a:endParaRPr kumimoji="0" lang="en-US" sz="850" b="0"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endParaRPr>
          </a:p>
        </p:txBody>
      </p:sp>
      <p:sp>
        <p:nvSpPr>
          <p:cNvPr id="13" name="Shape 11">
            <a:extLst>
              <a:ext uri="{FF2B5EF4-FFF2-40B4-BE49-F238E27FC236}">
                <a16:creationId xmlns:a16="http://schemas.microsoft.com/office/drawing/2014/main" id="{718FE43C-F46C-BAA4-F102-48BC91B9077E}"/>
              </a:ext>
            </a:extLst>
          </p:cNvPr>
          <p:cNvSpPr/>
          <p:nvPr/>
        </p:nvSpPr>
        <p:spPr>
          <a:xfrm>
            <a:off x="5118463" y="2438404"/>
            <a:ext cx="4206240" cy="1920240"/>
          </a:xfrm>
          <a:prstGeom prst="roundRect">
            <a:avLst>
              <a:gd name="adj" fmla="val 5714"/>
            </a:avLst>
          </a:prstGeom>
          <a:solidFill>
            <a:srgbClr val="FFFFFF"/>
          </a:solidFill>
          <a:ln w="12700">
            <a:solidFill>
              <a:schemeClr val="accent1">
                <a:lumMod val="60000"/>
                <a:lumOff val="40000"/>
              </a:schemeClr>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 name="Shape 12">
            <a:extLst>
              <a:ext uri="{FF2B5EF4-FFF2-40B4-BE49-F238E27FC236}">
                <a16:creationId xmlns:a16="http://schemas.microsoft.com/office/drawing/2014/main" id="{BCFAF28F-3A41-62B7-ED14-2C88314DE693}"/>
              </a:ext>
            </a:extLst>
          </p:cNvPr>
          <p:cNvSpPr/>
          <p:nvPr/>
        </p:nvSpPr>
        <p:spPr>
          <a:xfrm>
            <a:off x="5228191" y="2529844"/>
            <a:ext cx="658368" cy="292608"/>
          </a:xfrm>
          <a:prstGeom prst="roundRect">
            <a:avLst>
              <a:gd name="adj" fmla="val 18750"/>
            </a:avLst>
          </a:prstGeom>
          <a:solidFill>
            <a:schemeClr val="accent1">
              <a:lumMod val="40000"/>
              <a:lumOff val="60000"/>
            </a:schemeClr>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 name="Text 13">
            <a:extLst>
              <a:ext uri="{FF2B5EF4-FFF2-40B4-BE49-F238E27FC236}">
                <a16:creationId xmlns:a16="http://schemas.microsoft.com/office/drawing/2014/main" id="{5636307B-10AB-ADC3-1727-AB8FC5831143}"/>
              </a:ext>
            </a:extLst>
          </p:cNvPr>
          <p:cNvSpPr/>
          <p:nvPr/>
        </p:nvSpPr>
        <p:spPr>
          <a:xfrm>
            <a:off x="5228191" y="2529844"/>
            <a:ext cx="658368" cy="292608"/>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4-5月</a:t>
            </a:r>
            <a:endParaRPr kumimoji="0" lang="en-US" sz="10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6" name="Shape 14">
            <a:extLst>
              <a:ext uri="{FF2B5EF4-FFF2-40B4-BE49-F238E27FC236}">
                <a16:creationId xmlns:a16="http://schemas.microsoft.com/office/drawing/2014/main" id="{4D4B9A45-FCB5-6DB2-B02F-57FFE5D56691}"/>
              </a:ext>
            </a:extLst>
          </p:cNvPr>
          <p:cNvSpPr/>
          <p:nvPr/>
        </p:nvSpPr>
        <p:spPr>
          <a:xfrm>
            <a:off x="5941423" y="2548132"/>
            <a:ext cx="1005840" cy="256032"/>
          </a:xfrm>
          <a:prstGeom prst="roundRect">
            <a:avLst>
              <a:gd name="adj" fmla="val 14286"/>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 name="Text 15">
            <a:extLst>
              <a:ext uri="{FF2B5EF4-FFF2-40B4-BE49-F238E27FC236}">
                <a16:creationId xmlns:a16="http://schemas.microsoft.com/office/drawing/2014/main" id="{5AB9A477-5190-5925-BA00-7C28E41E2AE9}"/>
              </a:ext>
            </a:extLst>
          </p:cNvPr>
          <p:cNvSpPr/>
          <p:nvPr/>
        </p:nvSpPr>
        <p:spPr>
          <a:xfrm>
            <a:off x="5941423" y="2548132"/>
            <a:ext cx="1005840" cy="256032"/>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GW前後</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 name="Text 16">
            <a:extLst>
              <a:ext uri="{FF2B5EF4-FFF2-40B4-BE49-F238E27FC236}">
                <a16:creationId xmlns:a16="http://schemas.microsoft.com/office/drawing/2014/main" id="{F0DF4241-0F34-404F-9C8A-0C5C0B3F7B0B}"/>
              </a:ext>
            </a:extLst>
          </p:cNvPr>
          <p:cNvSpPr/>
          <p:nvPr/>
        </p:nvSpPr>
        <p:spPr>
          <a:xfrm>
            <a:off x="5228191" y="2895604"/>
            <a:ext cx="3931920" cy="292608"/>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「GW中に転職活動を始めよう」</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 name="Text 17">
            <a:extLst>
              <a:ext uri="{FF2B5EF4-FFF2-40B4-BE49-F238E27FC236}">
                <a16:creationId xmlns:a16="http://schemas.microsoft.com/office/drawing/2014/main" id="{2F5CBA0E-C68D-2D85-8F64-5D9ED46DE52D}"/>
              </a:ext>
            </a:extLst>
          </p:cNvPr>
          <p:cNvSpPr/>
          <p:nvPr/>
        </p:nvSpPr>
        <p:spPr>
          <a:xfrm>
            <a:off x="5228191" y="3215644"/>
            <a:ext cx="3931920" cy="749808"/>
          </a:xfrm>
          <a:prstGeom prst="rect">
            <a:avLst/>
          </a:prstGeom>
          <a:noFill/>
          <a:ln/>
        </p:spPr>
        <p:txBody>
          <a:bodyPr wrap="square" lIns="0" tIns="0" rIns="0" bIns="0" rtlCol="0" anchor="ctr"/>
          <a:lstStyle/>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err="1">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連休中に将来を考えるホワイトカラーが多い</a:t>
            </a: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a:t>
            </a: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err="1">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暇×焦りが転職意欲を高める時期</a:t>
            </a: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施策：GW前にLINE配信「休み中に読む転職マニュアル」PDF特典を展開。</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0" name="Shape 18">
            <a:extLst>
              <a:ext uri="{FF2B5EF4-FFF2-40B4-BE49-F238E27FC236}">
                <a16:creationId xmlns:a16="http://schemas.microsoft.com/office/drawing/2014/main" id="{7EF6A367-39C2-356A-9B47-3D3671D8D918}"/>
              </a:ext>
            </a:extLst>
          </p:cNvPr>
          <p:cNvSpPr/>
          <p:nvPr/>
        </p:nvSpPr>
        <p:spPr>
          <a:xfrm>
            <a:off x="5228191" y="4011172"/>
            <a:ext cx="3931920" cy="228600"/>
          </a:xfrm>
          <a:prstGeom prst="roundRect">
            <a:avLst>
              <a:gd name="adj" fmla="val 16000"/>
            </a:avLst>
          </a:prstGeom>
          <a:solidFill>
            <a:srgbClr val="F4F7FF"/>
          </a:solidFill>
          <a:ln w="12700">
            <a:solidFill>
              <a:srgbClr val="D1D9F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 name="Text 19">
            <a:extLst>
              <a:ext uri="{FF2B5EF4-FFF2-40B4-BE49-F238E27FC236}">
                <a16:creationId xmlns:a16="http://schemas.microsoft.com/office/drawing/2014/main" id="{5E166AEE-8473-61AD-BC51-7204C60ECFE2}"/>
              </a:ext>
            </a:extLst>
          </p:cNvPr>
          <p:cNvSpPr/>
          <p:nvPr/>
        </p:nvSpPr>
        <p:spPr>
          <a:xfrm>
            <a:off x="5228191" y="4011172"/>
            <a:ext cx="3931920" cy="228600"/>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cs typeface="Calibri" pitchFamily="34" charset="-120"/>
              </a:rPr>
              <a:t>KPI目標：LINE登録数 ピーク月比 +20%</a:t>
            </a:r>
            <a:endParaRPr kumimoji="0" lang="en-US" sz="850" b="0"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endParaRPr>
          </a:p>
        </p:txBody>
      </p:sp>
      <p:sp>
        <p:nvSpPr>
          <p:cNvPr id="22" name="Shape 20">
            <a:extLst>
              <a:ext uri="{FF2B5EF4-FFF2-40B4-BE49-F238E27FC236}">
                <a16:creationId xmlns:a16="http://schemas.microsoft.com/office/drawing/2014/main" id="{487B2061-6B88-0A18-0E57-12185B834CCF}"/>
              </a:ext>
            </a:extLst>
          </p:cNvPr>
          <p:cNvSpPr/>
          <p:nvPr/>
        </p:nvSpPr>
        <p:spPr>
          <a:xfrm>
            <a:off x="683623" y="4495804"/>
            <a:ext cx="4206240" cy="1920240"/>
          </a:xfrm>
          <a:prstGeom prst="roundRect">
            <a:avLst>
              <a:gd name="adj" fmla="val 5714"/>
            </a:avLst>
          </a:prstGeom>
          <a:solidFill>
            <a:srgbClr val="FFFFFF"/>
          </a:solidFill>
          <a:ln w="12700">
            <a:solidFill>
              <a:schemeClr val="accent1"/>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 name="Shape 21">
            <a:extLst>
              <a:ext uri="{FF2B5EF4-FFF2-40B4-BE49-F238E27FC236}">
                <a16:creationId xmlns:a16="http://schemas.microsoft.com/office/drawing/2014/main" id="{D80051DD-55DD-DDC4-1C20-FA43FB837AEB}"/>
              </a:ext>
            </a:extLst>
          </p:cNvPr>
          <p:cNvSpPr/>
          <p:nvPr/>
        </p:nvSpPr>
        <p:spPr>
          <a:xfrm>
            <a:off x="793351" y="4587244"/>
            <a:ext cx="658368" cy="292608"/>
          </a:xfrm>
          <a:prstGeom prst="roundRect">
            <a:avLst>
              <a:gd name="adj" fmla="val 18750"/>
            </a:avLst>
          </a:prstGeom>
          <a:solidFill>
            <a:schemeClr val="accent1"/>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 name="Text 22">
            <a:extLst>
              <a:ext uri="{FF2B5EF4-FFF2-40B4-BE49-F238E27FC236}">
                <a16:creationId xmlns:a16="http://schemas.microsoft.com/office/drawing/2014/main" id="{166D040C-5E3C-D384-1752-F340D729E508}"/>
              </a:ext>
            </a:extLst>
          </p:cNvPr>
          <p:cNvSpPr/>
          <p:nvPr/>
        </p:nvSpPr>
        <p:spPr>
          <a:xfrm>
            <a:off x="793351" y="4587244"/>
            <a:ext cx="658368" cy="292608"/>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9-10月</a:t>
            </a:r>
            <a:endParaRPr kumimoji="0" lang="en-US" sz="10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 name="Shape 23">
            <a:extLst>
              <a:ext uri="{FF2B5EF4-FFF2-40B4-BE49-F238E27FC236}">
                <a16:creationId xmlns:a16="http://schemas.microsoft.com/office/drawing/2014/main" id="{E1D75AA6-DC2D-C974-1F8F-EA3764B5E2B1}"/>
              </a:ext>
            </a:extLst>
          </p:cNvPr>
          <p:cNvSpPr/>
          <p:nvPr/>
        </p:nvSpPr>
        <p:spPr>
          <a:xfrm>
            <a:off x="1506583" y="4605532"/>
            <a:ext cx="1005840" cy="256032"/>
          </a:xfrm>
          <a:prstGeom prst="roundRect">
            <a:avLst>
              <a:gd name="adj" fmla="val 14286"/>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 name="Text 24">
            <a:extLst>
              <a:ext uri="{FF2B5EF4-FFF2-40B4-BE49-F238E27FC236}">
                <a16:creationId xmlns:a16="http://schemas.microsoft.com/office/drawing/2014/main" id="{2C81E4D3-7404-C45A-3360-2888B2C16CEC}"/>
              </a:ext>
            </a:extLst>
          </p:cNvPr>
          <p:cNvSpPr/>
          <p:nvPr/>
        </p:nvSpPr>
        <p:spPr>
          <a:xfrm>
            <a:off x="1506583" y="4605532"/>
            <a:ext cx="1005840" cy="256032"/>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秋の転職期</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 name="Text 25">
            <a:extLst>
              <a:ext uri="{FF2B5EF4-FFF2-40B4-BE49-F238E27FC236}">
                <a16:creationId xmlns:a16="http://schemas.microsoft.com/office/drawing/2014/main" id="{D74753E2-5389-A4C0-99DF-F1EBD9F21486}"/>
              </a:ext>
            </a:extLst>
          </p:cNvPr>
          <p:cNvSpPr/>
          <p:nvPr/>
        </p:nvSpPr>
        <p:spPr>
          <a:xfrm>
            <a:off x="793351" y="4953004"/>
            <a:ext cx="3931920" cy="292608"/>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「下半期スタートダッシュ転職フェア」</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 name="Text 26">
            <a:extLst>
              <a:ext uri="{FF2B5EF4-FFF2-40B4-BE49-F238E27FC236}">
                <a16:creationId xmlns:a16="http://schemas.microsoft.com/office/drawing/2014/main" id="{15421AF9-EA34-4D6D-A17B-353040384108}"/>
              </a:ext>
            </a:extLst>
          </p:cNvPr>
          <p:cNvSpPr/>
          <p:nvPr/>
        </p:nvSpPr>
        <p:spPr>
          <a:xfrm>
            <a:off x="793351" y="5273044"/>
            <a:ext cx="3931920" cy="749808"/>
          </a:xfrm>
          <a:prstGeom prst="rect">
            <a:avLst/>
          </a:prstGeom>
          <a:noFill/>
          <a:ln/>
        </p:spPr>
        <p:txBody>
          <a:bodyPr wrap="square" lIns="0" tIns="0" rIns="0" bIns="0" rtlCol="0" anchor="ctr"/>
          <a:lstStyle/>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9月は企業の採用活動が再活性化する時期。</a:t>
            </a: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err="1">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求人数が増えるため転職成功率も上がる</a:t>
            </a: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施策：「秋限定・非公開求人100件公開」をLINEで先行案内。希少性で友だち追加を促進。</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 name="Shape 27">
            <a:extLst>
              <a:ext uri="{FF2B5EF4-FFF2-40B4-BE49-F238E27FC236}">
                <a16:creationId xmlns:a16="http://schemas.microsoft.com/office/drawing/2014/main" id="{5BE67E13-AD4F-4228-9F1A-8B4E0CCBEBBE}"/>
              </a:ext>
            </a:extLst>
          </p:cNvPr>
          <p:cNvSpPr/>
          <p:nvPr/>
        </p:nvSpPr>
        <p:spPr>
          <a:xfrm>
            <a:off x="793351" y="6068572"/>
            <a:ext cx="3931920" cy="228600"/>
          </a:xfrm>
          <a:prstGeom prst="roundRect">
            <a:avLst>
              <a:gd name="adj" fmla="val 16000"/>
            </a:avLst>
          </a:prstGeom>
          <a:solidFill>
            <a:srgbClr val="F4F7FF"/>
          </a:solidFill>
          <a:ln w="12700">
            <a:solidFill>
              <a:srgbClr val="D1D9F0"/>
            </a:solidFill>
            <a:prstDash val="solid"/>
          </a:ln>
        </p:spPr>
        <p:txBody>
          <a:bodyPr/>
          <a:lstStyle/>
          <a:p>
            <a:endParaRPr kumimoji="0" lang="ja-JP" altLang="en-US">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0" name="Text 28">
            <a:extLst>
              <a:ext uri="{FF2B5EF4-FFF2-40B4-BE49-F238E27FC236}">
                <a16:creationId xmlns:a16="http://schemas.microsoft.com/office/drawing/2014/main" id="{9E653D90-A148-4540-DAAB-BDE1AE7D11F9}"/>
              </a:ext>
            </a:extLst>
          </p:cNvPr>
          <p:cNvSpPr/>
          <p:nvPr/>
        </p:nvSpPr>
        <p:spPr>
          <a:xfrm>
            <a:off x="793351" y="6068572"/>
            <a:ext cx="3931920" cy="228600"/>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cs typeface="Calibri" pitchFamily="34" charset="-120"/>
              </a:rPr>
              <a:t>KPI目標：非公開求人経由成約率 計測開始</a:t>
            </a:r>
            <a:endParaRPr kumimoji="0" lang="en-US" sz="850" b="0"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endParaRPr>
          </a:p>
        </p:txBody>
      </p:sp>
      <p:sp>
        <p:nvSpPr>
          <p:cNvPr id="31" name="Shape 29">
            <a:extLst>
              <a:ext uri="{FF2B5EF4-FFF2-40B4-BE49-F238E27FC236}">
                <a16:creationId xmlns:a16="http://schemas.microsoft.com/office/drawing/2014/main" id="{9A903725-E0FA-B7ED-BE7F-3E870C011999}"/>
              </a:ext>
            </a:extLst>
          </p:cNvPr>
          <p:cNvSpPr/>
          <p:nvPr/>
        </p:nvSpPr>
        <p:spPr>
          <a:xfrm>
            <a:off x="5118463" y="4495804"/>
            <a:ext cx="4206240" cy="1920240"/>
          </a:xfrm>
          <a:prstGeom prst="roundRect">
            <a:avLst>
              <a:gd name="adj" fmla="val 5714"/>
            </a:avLst>
          </a:prstGeom>
          <a:solidFill>
            <a:srgbClr val="FFFFFF"/>
          </a:solidFill>
          <a:ln w="12700">
            <a:solidFill>
              <a:schemeClr val="tx2">
                <a:lumMod val="50000"/>
              </a:schemeClr>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 name="Shape 30">
            <a:extLst>
              <a:ext uri="{FF2B5EF4-FFF2-40B4-BE49-F238E27FC236}">
                <a16:creationId xmlns:a16="http://schemas.microsoft.com/office/drawing/2014/main" id="{E560804C-2AD2-34CF-80F2-47723D89B9EE}"/>
              </a:ext>
            </a:extLst>
          </p:cNvPr>
          <p:cNvSpPr/>
          <p:nvPr/>
        </p:nvSpPr>
        <p:spPr>
          <a:xfrm>
            <a:off x="5228191" y="4587244"/>
            <a:ext cx="658368" cy="292608"/>
          </a:xfrm>
          <a:prstGeom prst="roundRect">
            <a:avLst>
              <a:gd name="adj" fmla="val 18750"/>
            </a:avLst>
          </a:prstGeom>
          <a:solidFill>
            <a:schemeClr val="tx2">
              <a:lumMod val="50000"/>
            </a:schemeClr>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 name="Text 31">
            <a:extLst>
              <a:ext uri="{FF2B5EF4-FFF2-40B4-BE49-F238E27FC236}">
                <a16:creationId xmlns:a16="http://schemas.microsoft.com/office/drawing/2014/main" id="{0D3AA494-1CCC-455B-FD0B-69A03482B0B2}"/>
              </a:ext>
            </a:extLst>
          </p:cNvPr>
          <p:cNvSpPr/>
          <p:nvPr/>
        </p:nvSpPr>
        <p:spPr>
          <a:xfrm>
            <a:off x="5228191" y="4587244"/>
            <a:ext cx="658368" cy="292608"/>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12月</a:t>
            </a:r>
            <a:endParaRPr kumimoji="0" lang="en-US" sz="10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 name="Shape 32">
            <a:extLst>
              <a:ext uri="{FF2B5EF4-FFF2-40B4-BE49-F238E27FC236}">
                <a16:creationId xmlns:a16="http://schemas.microsoft.com/office/drawing/2014/main" id="{7CE7A172-10BE-1E65-8E12-21F725E375E4}"/>
              </a:ext>
            </a:extLst>
          </p:cNvPr>
          <p:cNvSpPr/>
          <p:nvPr/>
        </p:nvSpPr>
        <p:spPr>
          <a:xfrm>
            <a:off x="5941423" y="4605532"/>
            <a:ext cx="1005840" cy="256032"/>
          </a:xfrm>
          <a:prstGeom prst="roundRect">
            <a:avLst>
              <a:gd name="adj" fmla="val 14286"/>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 name="Text 33">
            <a:extLst>
              <a:ext uri="{FF2B5EF4-FFF2-40B4-BE49-F238E27FC236}">
                <a16:creationId xmlns:a16="http://schemas.microsoft.com/office/drawing/2014/main" id="{6FF1A96D-D52E-0E30-532A-ECE831BE9605}"/>
              </a:ext>
            </a:extLst>
          </p:cNvPr>
          <p:cNvSpPr/>
          <p:nvPr/>
        </p:nvSpPr>
        <p:spPr>
          <a:xfrm>
            <a:off x="5941423" y="4605532"/>
            <a:ext cx="1005840" cy="256032"/>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年末</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 name="Text 34">
            <a:extLst>
              <a:ext uri="{FF2B5EF4-FFF2-40B4-BE49-F238E27FC236}">
                <a16:creationId xmlns:a16="http://schemas.microsoft.com/office/drawing/2014/main" id="{6B191EBD-ED99-BB14-8C62-5B0BA0590745}"/>
              </a:ext>
            </a:extLst>
          </p:cNvPr>
          <p:cNvSpPr/>
          <p:nvPr/>
        </p:nvSpPr>
        <p:spPr>
          <a:xfrm>
            <a:off x="5228191" y="4953004"/>
            <a:ext cx="3931920" cy="292608"/>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「来年こそ転職を決める人へ」」</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 name="Text 35">
            <a:extLst>
              <a:ext uri="{FF2B5EF4-FFF2-40B4-BE49-F238E27FC236}">
                <a16:creationId xmlns:a16="http://schemas.microsoft.com/office/drawing/2014/main" id="{13B90534-5D2F-7E51-02AE-C33CF568ED2E}"/>
              </a:ext>
            </a:extLst>
          </p:cNvPr>
          <p:cNvSpPr/>
          <p:nvPr/>
        </p:nvSpPr>
        <p:spPr>
          <a:xfrm>
            <a:off x="5228191" y="5273044"/>
            <a:ext cx="3931920" cy="749808"/>
          </a:xfrm>
          <a:prstGeom prst="rect">
            <a:avLst/>
          </a:prstGeom>
          <a:noFill/>
          <a:ln/>
        </p:spPr>
        <p:txBody>
          <a:bodyPr wrap="square" lIns="0" tIns="0" rIns="0" bIns="0" rtlCol="0" anchor="ctr"/>
          <a:lstStyle/>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err="1">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年末は「来年こそ」という決意が高まるタイミング</a:t>
            </a: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a:t>
            </a: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err="1">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競合が少なく広告効率が良い穴場期間</a:t>
            </a: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施策：LINE配信「2026年転職市場予測レポート」先行配布。年明けの面談予約を先に獲得。</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 name="Shape 36">
            <a:extLst>
              <a:ext uri="{FF2B5EF4-FFF2-40B4-BE49-F238E27FC236}">
                <a16:creationId xmlns:a16="http://schemas.microsoft.com/office/drawing/2014/main" id="{985D5473-A6B2-6E6C-69A6-536638C669C1}"/>
              </a:ext>
            </a:extLst>
          </p:cNvPr>
          <p:cNvSpPr/>
          <p:nvPr/>
        </p:nvSpPr>
        <p:spPr>
          <a:xfrm>
            <a:off x="5228191" y="6068572"/>
            <a:ext cx="3931920" cy="228600"/>
          </a:xfrm>
          <a:prstGeom prst="roundRect">
            <a:avLst>
              <a:gd name="adj" fmla="val 16000"/>
            </a:avLst>
          </a:prstGeom>
          <a:solidFill>
            <a:srgbClr val="F4F7FF"/>
          </a:solidFill>
          <a:ln w="12700">
            <a:solidFill>
              <a:srgbClr val="D1D9F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 name="Text 37">
            <a:extLst>
              <a:ext uri="{FF2B5EF4-FFF2-40B4-BE49-F238E27FC236}">
                <a16:creationId xmlns:a16="http://schemas.microsoft.com/office/drawing/2014/main" id="{665AB6CB-040B-F5AE-5EDC-FD4A6C6C841A}"/>
              </a:ext>
            </a:extLst>
          </p:cNvPr>
          <p:cNvSpPr/>
          <p:nvPr/>
        </p:nvSpPr>
        <p:spPr>
          <a:xfrm>
            <a:off x="5228191" y="6068572"/>
            <a:ext cx="3931920" cy="228600"/>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cs typeface="Calibri" pitchFamily="34" charset="-120"/>
              </a:rPr>
              <a:t>KPI目標：1月面談予約の先行獲得率</a:t>
            </a:r>
            <a:endParaRPr kumimoji="0" lang="en-US" sz="850" b="0"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endParaRPr>
          </a:p>
        </p:txBody>
      </p:sp>
      <p:sp>
        <p:nvSpPr>
          <p:cNvPr id="42" name="Shape 2">
            <a:extLst>
              <a:ext uri="{FF2B5EF4-FFF2-40B4-BE49-F238E27FC236}">
                <a16:creationId xmlns:a16="http://schemas.microsoft.com/office/drawing/2014/main" id="{22BE1ADA-BF01-A520-0D77-972E7821FCE2}"/>
              </a:ext>
            </a:extLst>
          </p:cNvPr>
          <p:cNvSpPr/>
          <p:nvPr/>
        </p:nvSpPr>
        <p:spPr>
          <a:xfrm>
            <a:off x="683623" y="1900213"/>
            <a:ext cx="8646160" cy="457200"/>
          </a:xfrm>
          <a:prstGeom prst="roundRect">
            <a:avLst>
              <a:gd name="adj" fmla="val 16000"/>
            </a:avLst>
          </a:prstGeom>
          <a:solidFill>
            <a:srgbClr val="F4F7FF"/>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3" name="Text 3">
            <a:extLst>
              <a:ext uri="{FF2B5EF4-FFF2-40B4-BE49-F238E27FC236}">
                <a16:creationId xmlns:a16="http://schemas.microsoft.com/office/drawing/2014/main" id="{F90B8BB4-8425-50C4-639B-16BEF90627DF}"/>
              </a:ext>
            </a:extLst>
          </p:cNvPr>
          <p:cNvSpPr/>
          <p:nvPr/>
        </p:nvSpPr>
        <p:spPr>
          <a:xfrm>
            <a:off x="866503" y="1900213"/>
            <a:ext cx="8458200" cy="457200"/>
          </a:xfrm>
          <a:prstGeom prst="rect">
            <a:avLst/>
          </a:prstGeom>
          <a:noFill/>
          <a:ln/>
        </p:spPr>
        <p:txBody>
          <a:bodyPr wrap="square" rtlCol="0" anchor="ctr"/>
          <a:lstStyle/>
          <a:p>
            <a:pPr marL="0" indent="0">
              <a:buNone/>
            </a:pPr>
            <a:r>
              <a:rPr lang="ja-JP" altLang="en-US" sz="1100" b="1" dirty="0">
                <a:solidFill>
                  <a:srgbClr val="1E2761"/>
                </a:solidFill>
                <a:latin typeface="メイリオ" panose="020B0604030504040204" pitchFamily="50" charset="-128"/>
                <a:ea typeface="メイリオ" panose="020B0604030504040204" pitchFamily="50" charset="-128"/>
                <a:cs typeface="Calibri" pitchFamily="34" charset="-120"/>
              </a:rPr>
              <a:t>よくある</a:t>
            </a:r>
            <a:r>
              <a:rPr lang="en-US" sz="1100" b="1" dirty="0" err="1">
                <a:solidFill>
                  <a:srgbClr val="1E2761"/>
                </a:solidFill>
                <a:latin typeface="メイリオ" panose="020B0604030504040204" pitchFamily="50" charset="-128"/>
                <a:ea typeface="メイリオ" panose="020B0604030504040204" pitchFamily="50" charset="-128"/>
                <a:cs typeface="Calibri" pitchFamily="34" charset="-120"/>
              </a:rPr>
              <a:t>目的</a:t>
            </a:r>
            <a:r>
              <a:rPr lang="ja-JP" altLang="en-US" sz="1100" b="1" dirty="0">
                <a:solidFill>
                  <a:srgbClr val="1E2761"/>
                </a:solidFill>
                <a:latin typeface="メイリオ" panose="020B0604030504040204" pitchFamily="50" charset="-128"/>
                <a:ea typeface="メイリオ" panose="020B0604030504040204" pitchFamily="50" charset="-128"/>
                <a:cs typeface="Calibri" pitchFamily="34" charset="-120"/>
              </a:rPr>
              <a:t>・季節・年齢などのデータから、各ユーザー層に反応率の高い投稿クリエイティブを、企画～設計～運用。</a:t>
            </a:r>
            <a:endParaRPr lang="en-US" sz="1100" dirty="0">
              <a:latin typeface="メイリオ" panose="020B0604030504040204" pitchFamily="50" charset="-128"/>
              <a:ea typeface="メイリオ" panose="020B0604030504040204" pitchFamily="50" charset="-128"/>
            </a:endParaRPr>
          </a:p>
        </p:txBody>
      </p:sp>
      <p:sp>
        <p:nvSpPr>
          <p:cNvPr id="47" name="正方形/長方形 46">
            <a:extLst>
              <a:ext uri="{FF2B5EF4-FFF2-40B4-BE49-F238E27FC236}">
                <a16:creationId xmlns:a16="http://schemas.microsoft.com/office/drawing/2014/main" id="{8517C2D8-2B96-60F6-B4C8-41F2D3663705}"/>
              </a:ext>
            </a:extLst>
          </p:cNvPr>
          <p:cNvSpPr/>
          <p:nvPr/>
        </p:nvSpPr>
        <p:spPr>
          <a:xfrm>
            <a:off x="139337" y="1733006"/>
            <a:ext cx="9570720" cy="4772299"/>
          </a:xfrm>
          <a:prstGeom prst="rect">
            <a:avLst/>
          </a:prstGeom>
          <a:solidFill>
            <a:schemeClr val="bg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正方形/長方形 43">
            <a:extLst>
              <a:ext uri="{FF2B5EF4-FFF2-40B4-BE49-F238E27FC236}">
                <a16:creationId xmlns:a16="http://schemas.microsoft.com/office/drawing/2014/main" id="{F12EE9E2-9122-74C3-0A3B-F81EEC972BBE}"/>
              </a:ext>
            </a:extLst>
          </p:cNvPr>
          <p:cNvSpPr/>
          <p:nvPr/>
        </p:nvSpPr>
        <p:spPr>
          <a:xfrm>
            <a:off x="4940121" y="59287"/>
            <a:ext cx="2597727" cy="41563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人材</a:t>
            </a:r>
            <a:r>
              <a:rPr kumimoji="1" lang="en-US" altLang="ja-JP" sz="1200" dirty="0">
                <a:solidFill>
                  <a:schemeClr val="bg1"/>
                </a:solidFill>
                <a:latin typeface="メイリオ" panose="020B0604030504040204" pitchFamily="50" charset="-128"/>
                <a:ea typeface="メイリオ" panose="020B0604030504040204" pitchFamily="50" charset="-128"/>
              </a:rPr>
              <a:t>(</a:t>
            </a:r>
            <a:r>
              <a:rPr kumimoji="1" lang="ja-JP" altLang="en-US" sz="1200" dirty="0">
                <a:solidFill>
                  <a:schemeClr val="bg1"/>
                </a:solidFill>
                <a:latin typeface="メイリオ" panose="020B0604030504040204" pitchFamily="50" charset="-128"/>
                <a:ea typeface="メイリオ" panose="020B0604030504040204" pitchFamily="50" charset="-128"/>
              </a:rPr>
              <a:t>転職</a:t>
            </a:r>
            <a:r>
              <a:rPr kumimoji="1" lang="en-US" altLang="ja-JP" sz="1200" dirty="0">
                <a:solidFill>
                  <a:schemeClr val="bg1"/>
                </a:solidFill>
                <a:latin typeface="メイリオ" panose="020B0604030504040204" pitchFamily="50" charset="-128"/>
                <a:ea typeface="メイリオ" panose="020B0604030504040204" pitchFamily="50" charset="-128"/>
              </a:rPr>
              <a:t>)</a:t>
            </a:r>
            <a:r>
              <a:rPr kumimoji="1" lang="ja-JP" altLang="en-US" sz="1200" dirty="0">
                <a:solidFill>
                  <a:schemeClr val="bg1"/>
                </a:solidFill>
                <a:latin typeface="メイリオ" panose="020B0604030504040204" pitchFamily="50" charset="-128"/>
                <a:ea typeface="メイリオ" panose="020B0604030504040204" pitchFamily="50" charset="-128"/>
              </a:rPr>
              <a:t>業界の例</a:t>
            </a:r>
          </a:p>
        </p:txBody>
      </p:sp>
    </p:spTree>
    <p:extLst>
      <p:ext uri="{BB962C8B-B14F-4D97-AF65-F5344CB8AC3E}">
        <p14:creationId xmlns:p14="http://schemas.microsoft.com/office/powerpoint/2010/main" val="218530597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AE1A8-B06F-74B4-1E2A-7416EDA4E827}"/>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B77D6B5-FA2F-ED51-FB47-E8DC14B8ADE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具体施策（友だち追加～休眠等の長期施策）</a:t>
            </a:r>
          </a:p>
        </p:txBody>
      </p:sp>
      <p:sp>
        <p:nvSpPr>
          <p:cNvPr id="2" name="Google Shape;752;p28">
            <a:extLst>
              <a:ext uri="{FF2B5EF4-FFF2-40B4-BE49-F238E27FC236}">
                <a16:creationId xmlns:a16="http://schemas.microsoft.com/office/drawing/2014/main" id="{A8DDF192-E20B-6A12-DAA4-2904850388D2}"/>
              </a:ext>
            </a:extLst>
          </p:cNvPr>
          <p:cNvSpPr txBox="1"/>
          <p:nvPr/>
        </p:nvSpPr>
        <p:spPr>
          <a:xfrm>
            <a:off x="309397" y="655107"/>
            <a:ext cx="9330992" cy="584735"/>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友だち追加からすぐ</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しないユーザーに対しては、最適な</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MSG</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配信を実現するため、</a:t>
            </a:r>
            <a:endPar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endParaRPr>
          </a:p>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　　　心理ハードルの低い</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性格診断</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“経験談アンケート</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等を通じて追客施策の強弱を決定。</a:t>
            </a:r>
            <a:endPar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80" name="Text 3">
            <a:extLst>
              <a:ext uri="{FF2B5EF4-FFF2-40B4-BE49-F238E27FC236}">
                <a16:creationId xmlns:a16="http://schemas.microsoft.com/office/drawing/2014/main" id="{2F1CF158-D3B8-740E-7BB9-7BA2711D5A86}"/>
              </a:ext>
            </a:extLst>
          </p:cNvPr>
          <p:cNvSpPr/>
          <p:nvPr/>
        </p:nvSpPr>
        <p:spPr>
          <a:xfrm>
            <a:off x="430467" y="2806337"/>
            <a:ext cx="3997841" cy="274320"/>
          </a:xfrm>
          <a:prstGeom prst="rect">
            <a:avLst/>
          </a:prstGeom>
          <a:noFill/>
          <a:ln/>
        </p:spPr>
        <p:txBody>
          <a:bodyPr wrap="squar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診断設問（4問・各5択）</a:t>
            </a:r>
            <a:endParaRPr kumimoji="0" lang="en-US" sz="12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1" name="Shape 4">
            <a:extLst>
              <a:ext uri="{FF2B5EF4-FFF2-40B4-BE49-F238E27FC236}">
                <a16:creationId xmlns:a16="http://schemas.microsoft.com/office/drawing/2014/main" id="{D0D52073-224A-0961-D46B-A0D0A35577C1}"/>
              </a:ext>
            </a:extLst>
          </p:cNvPr>
          <p:cNvSpPr/>
          <p:nvPr/>
        </p:nvSpPr>
        <p:spPr>
          <a:xfrm>
            <a:off x="404949" y="3144665"/>
            <a:ext cx="4297679" cy="301752"/>
          </a:xfrm>
          <a:prstGeom prst="roundRect">
            <a:avLst>
              <a:gd name="adj" fmla="val 15152"/>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2" name="Text 5">
            <a:extLst>
              <a:ext uri="{FF2B5EF4-FFF2-40B4-BE49-F238E27FC236}">
                <a16:creationId xmlns:a16="http://schemas.microsoft.com/office/drawing/2014/main" id="{45D645B7-F48E-7853-EBC0-8E0C5EF81708}"/>
              </a:ext>
            </a:extLst>
          </p:cNvPr>
          <p:cNvSpPr/>
          <p:nvPr/>
        </p:nvSpPr>
        <p:spPr>
          <a:xfrm>
            <a:off x="559121" y="3144665"/>
            <a:ext cx="4097787" cy="301752"/>
          </a:xfrm>
          <a:prstGeom prst="rect">
            <a:avLst/>
          </a:prstGeom>
          <a:noFill/>
          <a:ln/>
        </p:spPr>
        <p:txBody>
          <a:bodyPr wrap="squar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Q1  「仕事のことを考えると、日曜の夜に憂鬱になりますか？」</a:t>
            </a:r>
            <a:endParaRPr kumimoji="0" lang="en-US" sz="9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3" name="Shape 6">
            <a:extLst>
              <a:ext uri="{FF2B5EF4-FFF2-40B4-BE49-F238E27FC236}">
                <a16:creationId xmlns:a16="http://schemas.microsoft.com/office/drawing/2014/main" id="{6791C392-1A7B-7AE0-A33F-16F51A18C75D}"/>
              </a:ext>
            </a:extLst>
          </p:cNvPr>
          <p:cNvSpPr/>
          <p:nvPr/>
        </p:nvSpPr>
        <p:spPr>
          <a:xfrm>
            <a:off x="404949" y="3510425"/>
            <a:ext cx="4297679" cy="301752"/>
          </a:xfrm>
          <a:prstGeom prst="roundRect">
            <a:avLst>
              <a:gd name="adj" fmla="val 15152"/>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4" name="Text 7">
            <a:extLst>
              <a:ext uri="{FF2B5EF4-FFF2-40B4-BE49-F238E27FC236}">
                <a16:creationId xmlns:a16="http://schemas.microsoft.com/office/drawing/2014/main" id="{E67E7D97-92DF-6373-F0A3-CF953F46FBAE}"/>
              </a:ext>
            </a:extLst>
          </p:cNvPr>
          <p:cNvSpPr/>
          <p:nvPr/>
        </p:nvSpPr>
        <p:spPr>
          <a:xfrm>
            <a:off x="559121" y="3510425"/>
            <a:ext cx="4097787" cy="301752"/>
          </a:xfrm>
          <a:prstGeom prst="rect">
            <a:avLst/>
          </a:prstGeom>
          <a:noFill/>
          <a:ln/>
        </p:spPr>
        <p:txBody>
          <a:bodyPr wrap="squar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Q2  「給与明細を見て『こんなものか』と思ったことがありますか？」</a:t>
            </a:r>
            <a:endParaRPr kumimoji="0" lang="en-US" sz="9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5" name="Shape 8">
            <a:extLst>
              <a:ext uri="{FF2B5EF4-FFF2-40B4-BE49-F238E27FC236}">
                <a16:creationId xmlns:a16="http://schemas.microsoft.com/office/drawing/2014/main" id="{1EEAB261-7048-6C4C-10D7-6CA60C396F31}"/>
              </a:ext>
            </a:extLst>
          </p:cNvPr>
          <p:cNvSpPr/>
          <p:nvPr/>
        </p:nvSpPr>
        <p:spPr>
          <a:xfrm>
            <a:off x="404949" y="3876185"/>
            <a:ext cx="4297679" cy="301752"/>
          </a:xfrm>
          <a:prstGeom prst="roundRect">
            <a:avLst>
              <a:gd name="adj" fmla="val 15152"/>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6" name="Text 9">
            <a:extLst>
              <a:ext uri="{FF2B5EF4-FFF2-40B4-BE49-F238E27FC236}">
                <a16:creationId xmlns:a16="http://schemas.microsoft.com/office/drawing/2014/main" id="{D0B754F8-CEA6-0F61-4B75-EC0D7AB0BBDC}"/>
              </a:ext>
            </a:extLst>
          </p:cNvPr>
          <p:cNvSpPr/>
          <p:nvPr/>
        </p:nvSpPr>
        <p:spPr>
          <a:xfrm>
            <a:off x="559121" y="3876185"/>
            <a:ext cx="4097787" cy="301752"/>
          </a:xfrm>
          <a:prstGeom prst="rect">
            <a:avLst/>
          </a:prstGeom>
          <a:noFill/>
          <a:ln/>
        </p:spPr>
        <p:txBody>
          <a:bodyPr wrap="squar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Q3  「5年後、今の会社にいる自分の姿が想像できますか？」</a:t>
            </a:r>
            <a:endParaRPr kumimoji="0" lang="en-US" sz="9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7" name="Shape 10">
            <a:extLst>
              <a:ext uri="{FF2B5EF4-FFF2-40B4-BE49-F238E27FC236}">
                <a16:creationId xmlns:a16="http://schemas.microsoft.com/office/drawing/2014/main" id="{FF427501-423E-6CDF-014B-ED232F961BFB}"/>
              </a:ext>
            </a:extLst>
          </p:cNvPr>
          <p:cNvSpPr/>
          <p:nvPr/>
        </p:nvSpPr>
        <p:spPr>
          <a:xfrm>
            <a:off x="404949" y="4241945"/>
            <a:ext cx="4297679" cy="301752"/>
          </a:xfrm>
          <a:prstGeom prst="roundRect">
            <a:avLst>
              <a:gd name="adj" fmla="val 15152"/>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8" name="Text 11">
            <a:extLst>
              <a:ext uri="{FF2B5EF4-FFF2-40B4-BE49-F238E27FC236}">
                <a16:creationId xmlns:a16="http://schemas.microsoft.com/office/drawing/2014/main" id="{DB910A08-DF58-32FA-2432-5C0AF3C83C53}"/>
              </a:ext>
            </a:extLst>
          </p:cNvPr>
          <p:cNvSpPr/>
          <p:nvPr/>
        </p:nvSpPr>
        <p:spPr>
          <a:xfrm>
            <a:off x="559121" y="4241945"/>
            <a:ext cx="4097787" cy="301752"/>
          </a:xfrm>
          <a:prstGeom prst="rect">
            <a:avLst/>
          </a:prstGeom>
          <a:noFill/>
          <a:ln/>
        </p:spPr>
        <p:txBody>
          <a:bodyPr wrap="squar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Q4  「上司・同僚と話す際に本音を言えていると感じますか？」</a:t>
            </a:r>
            <a:endParaRPr kumimoji="0" lang="en-US" sz="9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9" name="Text 12">
            <a:extLst>
              <a:ext uri="{FF2B5EF4-FFF2-40B4-BE49-F238E27FC236}">
                <a16:creationId xmlns:a16="http://schemas.microsoft.com/office/drawing/2014/main" id="{49C9DDEC-B91F-B9F3-D8EE-6DA3BF2758CE}"/>
              </a:ext>
            </a:extLst>
          </p:cNvPr>
          <p:cNvSpPr/>
          <p:nvPr/>
        </p:nvSpPr>
        <p:spPr>
          <a:xfrm>
            <a:off x="5177853" y="2810806"/>
            <a:ext cx="4297680" cy="274320"/>
          </a:xfrm>
          <a:prstGeom prst="rect">
            <a:avLst/>
          </a:prstGeom>
          <a:noFill/>
          <a:ln/>
        </p:spPr>
        <p:txBody>
          <a:bodyPr wrap="squar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診断結果 4パターン＋追客方針</a:t>
            </a:r>
            <a:endParaRPr kumimoji="0" lang="en-US" sz="12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0" name="Shape 13">
            <a:extLst>
              <a:ext uri="{FF2B5EF4-FFF2-40B4-BE49-F238E27FC236}">
                <a16:creationId xmlns:a16="http://schemas.microsoft.com/office/drawing/2014/main" id="{7D9279AB-DA4C-865E-1BFC-B99D3C6C3C3F}"/>
              </a:ext>
            </a:extLst>
          </p:cNvPr>
          <p:cNvSpPr/>
          <p:nvPr/>
        </p:nvSpPr>
        <p:spPr>
          <a:xfrm>
            <a:off x="5177853" y="3149134"/>
            <a:ext cx="4297680" cy="621792"/>
          </a:xfrm>
          <a:prstGeom prst="roundRect">
            <a:avLst>
              <a:gd name="adj" fmla="val 11765"/>
            </a:avLst>
          </a:prstGeom>
          <a:solidFill>
            <a:srgbClr val="FFFFFF"/>
          </a:solidFill>
          <a:ln w="12700">
            <a:solidFill>
              <a:schemeClr val="tx2"/>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1" name="Shape 14">
            <a:extLst>
              <a:ext uri="{FF2B5EF4-FFF2-40B4-BE49-F238E27FC236}">
                <a16:creationId xmlns:a16="http://schemas.microsoft.com/office/drawing/2014/main" id="{FE25EE99-D7D8-85CF-09FC-6465111BFB2C}"/>
              </a:ext>
            </a:extLst>
          </p:cNvPr>
          <p:cNvSpPr/>
          <p:nvPr/>
        </p:nvSpPr>
        <p:spPr>
          <a:xfrm>
            <a:off x="5251005" y="3222286"/>
            <a:ext cx="1005840" cy="256032"/>
          </a:xfrm>
          <a:prstGeom prst="roundRect">
            <a:avLst>
              <a:gd name="adj" fmla="val 14286"/>
            </a:avLst>
          </a:prstGeom>
          <a:solidFill>
            <a:schemeClr val="tx2">
              <a:lumMod val="75000"/>
            </a:schemeClr>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2" name="Text 15">
            <a:extLst>
              <a:ext uri="{FF2B5EF4-FFF2-40B4-BE49-F238E27FC236}">
                <a16:creationId xmlns:a16="http://schemas.microsoft.com/office/drawing/2014/main" id="{F2BB4149-C773-D448-ED22-0664FCDF9177}"/>
              </a:ext>
            </a:extLst>
          </p:cNvPr>
          <p:cNvSpPr/>
          <p:nvPr/>
        </p:nvSpPr>
        <p:spPr>
          <a:xfrm>
            <a:off x="5251005" y="3222286"/>
            <a:ext cx="1005840" cy="256032"/>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即転職型</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3" name="Shape 16">
            <a:extLst>
              <a:ext uri="{FF2B5EF4-FFF2-40B4-BE49-F238E27FC236}">
                <a16:creationId xmlns:a16="http://schemas.microsoft.com/office/drawing/2014/main" id="{95E60EE8-0A0B-1609-55AE-E84B1C214243}"/>
              </a:ext>
            </a:extLst>
          </p:cNvPr>
          <p:cNvSpPr/>
          <p:nvPr/>
        </p:nvSpPr>
        <p:spPr>
          <a:xfrm>
            <a:off x="6320853" y="3240574"/>
            <a:ext cx="822960" cy="219456"/>
          </a:xfrm>
          <a:prstGeom prst="roundRect">
            <a:avLst>
              <a:gd name="adj" fmla="val 16667"/>
            </a:avLst>
          </a:prstGeom>
          <a:solidFill>
            <a:srgbClr val="F4F7FF"/>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4" name="Text 17">
            <a:extLst>
              <a:ext uri="{FF2B5EF4-FFF2-40B4-BE49-F238E27FC236}">
                <a16:creationId xmlns:a16="http://schemas.microsoft.com/office/drawing/2014/main" id="{72D5F163-FCBF-2136-41BC-77594BF1877E}"/>
              </a:ext>
            </a:extLst>
          </p:cNvPr>
          <p:cNvSpPr/>
          <p:nvPr/>
        </p:nvSpPr>
        <p:spPr>
          <a:xfrm>
            <a:off x="6320853" y="3240574"/>
            <a:ext cx="822960" cy="219456"/>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高スコア</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5" name="Text 18">
            <a:extLst>
              <a:ext uri="{FF2B5EF4-FFF2-40B4-BE49-F238E27FC236}">
                <a16:creationId xmlns:a16="http://schemas.microsoft.com/office/drawing/2014/main" id="{10AA3820-1E64-09EE-B24B-B91B9B0E3954}"/>
              </a:ext>
            </a:extLst>
          </p:cNvPr>
          <p:cNvSpPr/>
          <p:nvPr/>
        </p:nvSpPr>
        <p:spPr>
          <a:xfrm>
            <a:off x="7207821" y="3240574"/>
            <a:ext cx="1280160" cy="219456"/>
          </a:xfrm>
          <a:prstGeom prst="rect">
            <a:avLst/>
          </a:prstGeom>
          <a:noFill/>
          <a:ln>
            <a:noFill/>
          </a:ln>
        </p:spPr>
        <p:txBody>
          <a:bodyPr wrap="square" rtlCol="0" anchor="ct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E05A5A"/>
                </a:solidFill>
                <a:effectLst/>
                <a:uLnTx/>
                <a:uFillTx/>
                <a:latin typeface="メイリオ" panose="020B0604030504040204" pitchFamily="50" charset="-128"/>
                <a:ea typeface="メイリオ" panose="020B0604030504040204" pitchFamily="50" charset="-128"/>
                <a:cs typeface="Calibri" pitchFamily="34" charset="-120"/>
              </a:rPr>
              <a:t>→ ホットリスト</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6" name="Text 19">
            <a:extLst>
              <a:ext uri="{FF2B5EF4-FFF2-40B4-BE49-F238E27FC236}">
                <a16:creationId xmlns:a16="http://schemas.microsoft.com/office/drawing/2014/main" id="{3DDA72DF-D996-0751-2316-45B75A6606C6}"/>
              </a:ext>
            </a:extLst>
          </p:cNvPr>
          <p:cNvSpPr/>
          <p:nvPr/>
        </p:nvSpPr>
        <p:spPr>
          <a:xfrm>
            <a:off x="5251005" y="3496606"/>
            <a:ext cx="4114800" cy="246888"/>
          </a:xfrm>
          <a:prstGeom prst="rect">
            <a:avLst/>
          </a:prstGeom>
          <a:noFill/>
          <a:ln>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面談オファーを即座に配信。限定枠・期限を明示したクロージングメッセージ</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7" name="Shape 20">
            <a:extLst>
              <a:ext uri="{FF2B5EF4-FFF2-40B4-BE49-F238E27FC236}">
                <a16:creationId xmlns:a16="http://schemas.microsoft.com/office/drawing/2014/main" id="{011CB3D1-C7A5-7956-3BAA-69C2CB905B6A}"/>
              </a:ext>
            </a:extLst>
          </p:cNvPr>
          <p:cNvSpPr/>
          <p:nvPr/>
        </p:nvSpPr>
        <p:spPr>
          <a:xfrm>
            <a:off x="5177853" y="3834934"/>
            <a:ext cx="4297680" cy="621792"/>
          </a:xfrm>
          <a:prstGeom prst="roundRect">
            <a:avLst>
              <a:gd name="adj" fmla="val 11765"/>
            </a:avLst>
          </a:prstGeom>
          <a:solidFill>
            <a:srgbClr val="FFFFFF"/>
          </a:solidFill>
          <a:ln w="12700">
            <a:solidFill>
              <a:schemeClr val="tx2"/>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8" name="Shape 21">
            <a:extLst>
              <a:ext uri="{FF2B5EF4-FFF2-40B4-BE49-F238E27FC236}">
                <a16:creationId xmlns:a16="http://schemas.microsoft.com/office/drawing/2014/main" id="{4C69AF05-15A8-3F8C-8F51-AD3439C14622}"/>
              </a:ext>
            </a:extLst>
          </p:cNvPr>
          <p:cNvSpPr/>
          <p:nvPr/>
        </p:nvSpPr>
        <p:spPr>
          <a:xfrm>
            <a:off x="5251005" y="3908086"/>
            <a:ext cx="1005840" cy="256032"/>
          </a:xfrm>
          <a:prstGeom prst="roundRect">
            <a:avLst>
              <a:gd name="adj" fmla="val 14286"/>
            </a:avLst>
          </a:prstGeom>
          <a:solidFill>
            <a:schemeClr val="tx2"/>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9" name="Text 22">
            <a:extLst>
              <a:ext uri="{FF2B5EF4-FFF2-40B4-BE49-F238E27FC236}">
                <a16:creationId xmlns:a16="http://schemas.microsoft.com/office/drawing/2014/main" id="{FF31A922-59CE-9653-E310-5F8646A1A6DD}"/>
              </a:ext>
            </a:extLst>
          </p:cNvPr>
          <p:cNvSpPr/>
          <p:nvPr/>
        </p:nvSpPr>
        <p:spPr>
          <a:xfrm>
            <a:off x="5251005" y="3908086"/>
            <a:ext cx="1005840" cy="256032"/>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慎重検討型</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0" name="Shape 23">
            <a:extLst>
              <a:ext uri="{FF2B5EF4-FFF2-40B4-BE49-F238E27FC236}">
                <a16:creationId xmlns:a16="http://schemas.microsoft.com/office/drawing/2014/main" id="{BF532CBE-24FC-8551-A3EA-4F3D1688FA51}"/>
              </a:ext>
            </a:extLst>
          </p:cNvPr>
          <p:cNvSpPr/>
          <p:nvPr/>
        </p:nvSpPr>
        <p:spPr>
          <a:xfrm>
            <a:off x="6320853" y="3926374"/>
            <a:ext cx="822960" cy="219456"/>
          </a:xfrm>
          <a:prstGeom prst="roundRect">
            <a:avLst>
              <a:gd name="adj" fmla="val 16667"/>
            </a:avLst>
          </a:prstGeom>
          <a:solidFill>
            <a:srgbClr val="F4F7FF"/>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1" name="Text 24">
            <a:extLst>
              <a:ext uri="{FF2B5EF4-FFF2-40B4-BE49-F238E27FC236}">
                <a16:creationId xmlns:a16="http://schemas.microsoft.com/office/drawing/2014/main" id="{6B81A3BF-2D14-0A6E-58E2-41F6C95FFF9D}"/>
              </a:ext>
            </a:extLst>
          </p:cNvPr>
          <p:cNvSpPr/>
          <p:nvPr/>
        </p:nvSpPr>
        <p:spPr>
          <a:xfrm>
            <a:off x="6320853" y="3926374"/>
            <a:ext cx="822960" cy="219456"/>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中高スコア</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2" name="Text 25">
            <a:extLst>
              <a:ext uri="{FF2B5EF4-FFF2-40B4-BE49-F238E27FC236}">
                <a16:creationId xmlns:a16="http://schemas.microsoft.com/office/drawing/2014/main" id="{A7F23C91-1AC9-92C8-0444-0C2A7B7900FB}"/>
              </a:ext>
            </a:extLst>
          </p:cNvPr>
          <p:cNvSpPr/>
          <p:nvPr/>
        </p:nvSpPr>
        <p:spPr>
          <a:xfrm>
            <a:off x="7207821" y="3926374"/>
            <a:ext cx="1280160" cy="219456"/>
          </a:xfrm>
          <a:prstGeom prst="rect">
            <a:avLst/>
          </a:prstGeom>
          <a:noFill/>
          <a:ln>
            <a:noFill/>
          </a:ln>
        </p:spPr>
        <p:txBody>
          <a:bodyPr wrap="square" rtlCol="0" anchor="ct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E8A838"/>
                </a:solidFill>
                <a:effectLst/>
                <a:uLnTx/>
                <a:uFillTx/>
                <a:latin typeface="メイリオ" panose="020B0604030504040204" pitchFamily="50" charset="-128"/>
                <a:ea typeface="メイリオ" panose="020B0604030504040204" pitchFamily="50" charset="-128"/>
                <a:cs typeface="Calibri" pitchFamily="34" charset="-120"/>
              </a:rPr>
              <a:t>→ ウォームリスト</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3" name="Text 26">
            <a:extLst>
              <a:ext uri="{FF2B5EF4-FFF2-40B4-BE49-F238E27FC236}">
                <a16:creationId xmlns:a16="http://schemas.microsoft.com/office/drawing/2014/main" id="{4901DF11-6A92-B335-2D97-90FF2A2F3B7E}"/>
              </a:ext>
            </a:extLst>
          </p:cNvPr>
          <p:cNvSpPr/>
          <p:nvPr/>
        </p:nvSpPr>
        <p:spPr>
          <a:xfrm>
            <a:off x="5251005" y="4182406"/>
            <a:ext cx="4114800" cy="246888"/>
          </a:xfrm>
          <a:prstGeom prst="rect">
            <a:avLst/>
          </a:prstGeom>
          <a:noFill/>
          <a:ln>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転職成功事例・年収比較データを週1配信。3〜4週間かけて温める</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4" name="Shape 27">
            <a:extLst>
              <a:ext uri="{FF2B5EF4-FFF2-40B4-BE49-F238E27FC236}">
                <a16:creationId xmlns:a16="http://schemas.microsoft.com/office/drawing/2014/main" id="{20D444BB-26DB-74C1-2095-C4CECE5DD870}"/>
              </a:ext>
            </a:extLst>
          </p:cNvPr>
          <p:cNvSpPr/>
          <p:nvPr/>
        </p:nvSpPr>
        <p:spPr>
          <a:xfrm>
            <a:off x="5177853" y="4520734"/>
            <a:ext cx="4297680" cy="621792"/>
          </a:xfrm>
          <a:prstGeom prst="roundRect">
            <a:avLst>
              <a:gd name="adj" fmla="val 11765"/>
            </a:avLst>
          </a:prstGeom>
          <a:solidFill>
            <a:srgbClr val="FFFFFF"/>
          </a:solidFill>
          <a:ln w="12700">
            <a:solidFill>
              <a:schemeClr val="tx2"/>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5" name="Shape 28">
            <a:extLst>
              <a:ext uri="{FF2B5EF4-FFF2-40B4-BE49-F238E27FC236}">
                <a16:creationId xmlns:a16="http://schemas.microsoft.com/office/drawing/2014/main" id="{B7739C89-3CB4-FFD4-5878-8E37F4F17031}"/>
              </a:ext>
            </a:extLst>
          </p:cNvPr>
          <p:cNvSpPr/>
          <p:nvPr/>
        </p:nvSpPr>
        <p:spPr>
          <a:xfrm>
            <a:off x="5251005" y="4593886"/>
            <a:ext cx="1005840" cy="256032"/>
          </a:xfrm>
          <a:prstGeom prst="roundRect">
            <a:avLst>
              <a:gd name="adj" fmla="val 14286"/>
            </a:avLst>
          </a:prstGeom>
          <a:solidFill>
            <a:schemeClr val="tx2">
              <a:lumMod val="60000"/>
              <a:lumOff val="40000"/>
            </a:schemeClr>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6" name="Text 29">
            <a:extLst>
              <a:ext uri="{FF2B5EF4-FFF2-40B4-BE49-F238E27FC236}">
                <a16:creationId xmlns:a16="http://schemas.microsoft.com/office/drawing/2014/main" id="{86C5CCD4-DADF-8B0D-5331-4D81B5C903BC}"/>
              </a:ext>
            </a:extLst>
          </p:cNvPr>
          <p:cNvSpPr/>
          <p:nvPr/>
        </p:nvSpPr>
        <p:spPr>
          <a:xfrm>
            <a:off x="5251005" y="4593886"/>
            <a:ext cx="1005840" cy="256032"/>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情報収集型</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7" name="Shape 30">
            <a:extLst>
              <a:ext uri="{FF2B5EF4-FFF2-40B4-BE49-F238E27FC236}">
                <a16:creationId xmlns:a16="http://schemas.microsoft.com/office/drawing/2014/main" id="{4F2323BE-47BE-D53C-98B3-4B403E562891}"/>
              </a:ext>
            </a:extLst>
          </p:cNvPr>
          <p:cNvSpPr/>
          <p:nvPr/>
        </p:nvSpPr>
        <p:spPr>
          <a:xfrm>
            <a:off x="6320853" y="4612174"/>
            <a:ext cx="822960" cy="219456"/>
          </a:xfrm>
          <a:prstGeom prst="roundRect">
            <a:avLst>
              <a:gd name="adj" fmla="val 16667"/>
            </a:avLst>
          </a:prstGeom>
          <a:solidFill>
            <a:srgbClr val="F4F7FF"/>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8" name="Text 31">
            <a:extLst>
              <a:ext uri="{FF2B5EF4-FFF2-40B4-BE49-F238E27FC236}">
                <a16:creationId xmlns:a16="http://schemas.microsoft.com/office/drawing/2014/main" id="{5812A64F-2CCF-7FF6-0B3F-E39A36A21562}"/>
              </a:ext>
            </a:extLst>
          </p:cNvPr>
          <p:cNvSpPr/>
          <p:nvPr/>
        </p:nvSpPr>
        <p:spPr>
          <a:xfrm>
            <a:off x="6320853" y="4612174"/>
            <a:ext cx="822960" cy="219456"/>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中スコア</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9" name="Text 32">
            <a:extLst>
              <a:ext uri="{FF2B5EF4-FFF2-40B4-BE49-F238E27FC236}">
                <a16:creationId xmlns:a16="http://schemas.microsoft.com/office/drawing/2014/main" id="{E0F8F83C-84BB-D4BE-225A-E9D41ECDEA76}"/>
              </a:ext>
            </a:extLst>
          </p:cNvPr>
          <p:cNvSpPr/>
          <p:nvPr/>
        </p:nvSpPr>
        <p:spPr>
          <a:xfrm>
            <a:off x="7207821" y="4612174"/>
            <a:ext cx="1280160" cy="219456"/>
          </a:xfrm>
          <a:prstGeom prst="rect">
            <a:avLst/>
          </a:prstGeom>
          <a:noFill/>
          <a:ln>
            <a:noFill/>
          </a:ln>
        </p:spPr>
        <p:txBody>
          <a:bodyPr wrap="square" rtlCol="0" anchor="ct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0D9488"/>
                </a:solidFill>
                <a:effectLst/>
                <a:uLnTx/>
                <a:uFillTx/>
                <a:latin typeface="メイリオ" panose="020B0604030504040204" pitchFamily="50" charset="-128"/>
                <a:ea typeface="メイリオ" panose="020B0604030504040204" pitchFamily="50" charset="-128"/>
                <a:cs typeface="Calibri" pitchFamily="34" charset="-120"/>
              </a:rPr>
              <a:t>→ ミドルリスト</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0" name="Text 33">
            <a:extLst>
              <a:ext uri="{FF2B5EF4-FFF2-40B4-BE49-F238E27FC236}">
                <a16:creationId xmlns:a16="http://schemas.microsoft.com/office/drawing/2014/main" id="{88DC7D4E-3340-9B35-991E-96ED00531893}"/>
              </a:ext>
            </a:extLst>
          </p:cNvPr>
          <p:cNvSpPr/>
          <p:nvPr/>
        </p:nvSpPr>
        <p:spPr>
          <a:xfrm>
            <a:off x="5251005" y="4868206"/>
            <a:ext cx="4114800" cy="246888"/>
          </a:xfrm>
          <a:prstGeom prst="rect">
            <a:avLst/>
          </a:prstGeom>
          <a:noFill/>
          <a:ln>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業界動向・スキルアップ情報を提供。半年スパンで関係構築</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1" name="Shape 34">
            <a:extLst>
              <a:ext uri="{FF2B5EF4-FFF2-40B4-BE49-F238E27FC236}">
                <a16:creationId xmlns:a16="http://schemas.microsoft.com/office/drawing/2014/main" id="{966CBC37-CF13-58B0-5CD8-1E77836F7F29}"/>
              </a:ext>
            </a:extLst>
          </p:cNvPr>
          <p:cNvSpPr/>
          <p:nvPr/>
        </p:nvSpPr>
        <p:spPr>
          <a:xfrm>
            <a:off x="5177853" y="5206534"/>
            <a:ext cx="4297680" cy="621792"/>
          </a:xfrm>
          <a:prstGeom prst="roundRect">
            <a:avLst>
              <a:gd name="adj" fmla="val 11765"/>
            </a:avLst>
          </a:prstGeom>
          <a:solidFill>
            <a:srgbClr val="FFFFFF"/>
          </a:solidFill>
          <a:ln w="12700">
            <a:solidFill>
              <a:schemeClr val="tx2"/>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2" name="Shape 35">
            <a:extLst>
              <a:ext uri="{FF2B5EF4-FFF2-40B4-BE49-F238E27FC236}">
                <a16:creationId xmlns:a16="http://schemas.microsoft.com/office/drawing/2014/main" id="{100CDE3F-E390-202C-287F-515D436D1ADB}"/>
              </a:ext>
            </a:extLst>
          </p:cNvPr>
          <p:cNvSpPr/>
          <p:nvPr/>
        </p:nvSpPr>
        <p:spPr>
          <a:xfrm>
            <a:off x="5251005" y="5279686"/>
            <a:ext cx="1005840" cy="256032"/>
          </a:xfrm>
          <a:prstGeom prst="roundRect">
            <a:avLst>
              <a:gd name="adj" fmla="val 14286"/>
            </a:avLst>
          </a:prstGeom>
          <a:solidFill>
            <a:schemeClr val="tx2">
              <a:lumMod val="20000"/>
              <a:lumOff val="80000"/>
            </a:schemeClr>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3" name="Text 36">
            <a:extLst>
              <a:ext uri="{FF2B5EF4-FFF2-40B4-BE49-F238E27FC236}">
                <a16:creationId xmlns:a16="http://schemas.microsoft.com/office/drawing/2014/main" id="{0D886FBA-D1FA-1F1D-4774-F731872AEE33}"/>
              </a:ext>
            </a:extLst>
          </p:cNvPr>
          <p:cNvSpPr/>
          <p:nvPr/>
        </p:nvSpPr>
        <p:spPr>
          <a:xfrm>
            <a:off x="5251005" y="5279686"/>
            <a:ext cx="1005840" cy="256032"/>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現状維持型</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4" name="Shape 37">
            <a:extLst>
              <a:ext uri="{FF2B5EF4-FFF2-40B4-BE49-F238E27FC236}">
                <a16:creationId xmlns:a16="http://schemas.microsoft.com/office/drawing/2014/main" id="{0A8BE876-C3E9-5C00-CA0A-659FF0188ECF}"/>
              </a:ext>
            </a:extLst>
          </p:cNvPr>
          <p:cNvSpPr/>
          <p:nvPr/>
        </p:nvSpPr>
        <p:spPr>
          <a:xfrm>
            <a:off x="6320853" y="5297974"/>
            <a:ext cx="822960" cy="219456"/>
          </a:xfrm>
          <a:prstGeom prst="roundRect">
            <a:avLst>
              <a:gd name="adj" fmla="val 16667"/>
            </a:avLst>
          </a:prstGeom>
          <a:solidFill>
            <a:srgbClr val="F4F7FF"/>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5" name="Text 38">
            <a:extLst>
              <a:ext uri="{FF2B5EF4-FFF2-40B4-BE49-F238E27FC236}">
                <a16:creationId xmlns:a16="http://schemas.microsoft.com/office/drawing/2014/main" id="{BB5CADDA-DE23-AF11-67EE-438A0E4F573B}"/>
              </a:ext>
            </a:extLst>
          </p:cNvPr>
          <p:cNvSpPr/>
          <p:nvPr/>
        </p:nvSpPr>
        <p:spPr>
          <a:xfrm>
            <a:off x="6320853" y="5297974"/>
            <a:ext cx="822960" cy="219456"/>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低スコア</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6" name="Text 39">
            <a:extLst>
              <a:ext uri="{FF2B5EF4-FFF2-40B4-BE49-F238E27FC236}">
                <a16:creationId xmlns:a16="http://schemas.microsoft.com/office/drawing/2014/main" id="{CDEDD963-E8C1-C16E-2022-546114A75A76}"/>
              </a:ext>
            </a:extLst>
          </p:cNvPr>
          <p:cNvSpPr/>
          <p:nvPr/>
        </p:nvSpPr>
        <p:spPr>
          <a:xfrm>
            <a:off x="7207821" y="5297974"/>
            <a:ext cx="1280160" cy="219456"/>
          </a:xfrm>
          <a:prstGeom prst="rect">
            <a:avLst/>
          </a:prstGeom>
          <a:noFill/>
          <a:ln>
            <a:noFill/>
          </a:ln>
        </p:spPr>
        <p:txBody>
          <a:bodyPr wrap="square" rtlCol="0" anchor="ct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 コールドリスト</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7" name="Text 40">
            <a:extLst>
              <a:ext uri="{FF2B5EF4-FFF2-40B4-BE49-F238E27FC236}">
                <a16:creationId xmlns:a16="http://schemas.microsoft.com/office/drawing/2014/main" id="{00198631-8657-65B3-0A0A-7C5220C5C5A7}"/>
              </a:ext>
            </a:extLst>
          </p:cNvPr>
          <p:cNvSpPr/>
          <p:nvPr/>
        </p:nvSpPr>
        <p:spPr>
          <a:xfrm>
            <a:off x="5251005" y="5554006"/>
            <a:ext cx="4114800" cy="246888"/>
          </a:xfrm>
          <a:prstGeom prst="rect">
            <a:avLst/>
          </a:prstGeom>
          <a:noFill/>
          <a:ln>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無理にアプローチせず月1配信。「環境変化」で再燃を待つ長期戦略</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8" name="Shape 2">
            <a:extLst>
              <a:ext uri="{FF2B5EF4-FFF2-40B4-BE49-F238E27FC236}">
                <a16:creationId xmlns:a16="http://schemas.microsoft.com/office/drawing/2014/main" id="{EED969DB-6090-3801-B39E-93C24360A11A}"/>
              </a:ext>
            </a:extLst>
          </p:cNvPr>
          <p:cNvSpPr/>
          <p:nvPr/>
        </p:nvSpPr>
        <p:spPr>
          <a:xfrm>
            <a:off x="775063" y="2010373"/>
            <a:ext cx="8412480" cy="457200"/>
          </a:xfrm>
          <a:prstGeom prst="roundRect">
            <a:avLst>
              <a:gd name="adj" fmla="val 16000"/>
            </a:avLst>
          </a:prstGeom>
          <a:solidFill>
            <a:srgbClr val="F4F7FF"/>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119" name="Text 3">
            <a:extLst>
              <a:ext uri="{FF2B5EF4-FFF2-40B4-BE49-F238E27FC236}">
                <a16:creationId xmlns:a16="http://schemas.microsoft.com/office/drawing/2014/main" id="{4BD93F70-A1A4-6B20-298D-BE3F4D258BE9}"/>
              </a:ext>
            </a:extLst>
          </p:cNvPr>
          <p:cNvSpPr/>
          <p:nvPr/>
        </p:nvSpPr>
        <p:spPr>
          <a:xfrm>
            <a:off x="957943" y="2010373"/>
            <a:ext cx="8229600" cy="457200"/>
          </a:xfrm>
          <a:prstGeom prst="rect">
            <a:avLst/>
          </a:prstGeom>
          <a:noFill/>
          <a:ln/>
        </p:spPr>
        <p:txBody>
          <a:bodyPr wrap="square" rtlCol="0" anchor="ctr"/>
          <a:lstStyle/>
          <a:p>
            <a:pPr marL="0" indent="0">
              <a:buNone/>
            </a:pPr>
            <a:r>
              <a:rPr lang="en-US" sz="1100" b="1" dirty="0" err="1">
                <a:solidFill>
                  <a:srgbClr val="1E2761"/>
                </a:solidFill>
                <a:latin typeface="メイリオ" panose="020B0604030504040204" pitchFamily="50" charset="-128"/>
                <a:ea typeface="メイリオ" panose="020B0604030504040204" pitchFamily="50" charset="-128"/>
                <a:cs typeface="Calibri" pitchFamily="34" charset="-120"/>
              </a:rPr>
              <a:t>目的</a:t>
            </a:r>
            <a:r>
              <a:rPr lang="en-US" sz="1100" b="1" dirty="0">
                <a:solidFill>
                  <a:srgbClr val="1E2761"/>
                </a:solidFill>
                <a:latin typeface="メイリオ" panose="020B0604030504040204" pitchFamily="50" charset="-128"/>
                <a:ea typeface="メイリオ" panose="020B0604030504040204" pitchFamily="50" charset="-128"/>
                <a:cs typeface="Calibri" pitchFamily="34" charset="-120"/>
              </a:rPr>
              <a:t>：</a:t>
            </a:r>
            <a:r>
              <a:rPr lang="ja-JP" altLang="en-US" sz="1100" b="1" dirty="0">
                <a:solidFill>
                  <a:srgbClr val="1E2761"/>
                </a:solidFill>
                <a:latin typeface="メイリオ" panose="020B0604030504040204" pitchFamily="50" charset="-128"/>
                <a:ea typeface="メイリオ" panose="020B0604030504040204" pitchFamily="50" charset="-128"/>
                <a:cs typeface="Calibri" pitchFamily="34" charset="-120"/>
              </a:rPr>
              <a:t>登録から時間がかかったユーザーに対して、あなたの診断（ハードル：低）→現状可視化→セグメント追客を実施</a:t>
            </a:r>
            <a:endParaRPr lang="en-US" sz="1100"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BDC8374B-5F7F-A61F-169C-C54DCD7D51C0}"/>
              </a:ext>
            </a:extLst>
          </p:cNvPr>
          <p:cNvSpPr/>
          <p:nvPr/>
        </p:nvSpPr>
        <p:spPr>
          <a:xfrm>
            <a:off x="195943" y="1649952"/>
            <a:ext cx="9570720" cy="4772299"/>
          </a:xfrm>
          <a:prstGeom prst="rect">
            <a:avLst/>
          </a:prstGeom>
          <a:solidFill>
            <a:schemeClr val="bg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DEEE7D10-E257-A9D8-F6D6-AF0A9A41DDC4}"/>
              </a:ext>
            </a:extLst>
          </p:cNvPr>
          <p:cNvSpPr txBox="1"/>
          <p:nvPr/>
        </p:nvSpPr>
        <p:spPr>
          <a:xfrm>
            <a:off x="3872439" y="1317985"/>
            <a:ext cx="5767950" cy="230832"/>
          </a:xfrm>
          <a:prstGeom prst="rect">
            <a:avLst/>
          </a:prstGeom>
          <a:noFill/>
        </p:spPr>
        <p:txBody>
          <a:bodyPr wrap="square">
            <a:spAutoFit/>
          </a:bodyPr>
          <a:lstStyle/>
          <a:p>
            <a:r>
              <a:rPr lang="en-US" altLang="ja-JP" sz="900" dirty="0">
                <a:solidFill>
                  <a:schemeClr val="bg1">
                    <a:lumMod val="50000"/>
                  </a:schemeClr>
                </a:solidFill>
                <a:latin typeface="メイリオ" panose="020B0604030504040204" pitchFamily="50" charset="-128"/>
                <a:ea typeface="メイリオ" panose="020B0604030504040204" pitchFamily="50" charset="-128"/>
                <a:cs typeface="Meiryo"/>
                <a:sym typeface="Meiryo"/>
              </a:rPr>
              <a:t>“</a:t>
            </a:r>
            <a:r>
              <a:rPr lang="ja-JP" altLang="en-US" sz="900" dirty="0">
                <a:solidFill>
                  <a:schemeClr val="bg1">
                    <a:lumMod val="50000"/>
                  </a:schemeClr>
                </a:solidFill>
                <a:latin typeface="メイリオ" panose="020B0604030504040204" pitchFamily="50" charset="-128"/>
                <a:ea typeface="メイリオ" panose="020B0604030504040204" pitchFamily="50" charset="-128"/>
                <a:cs typeface="Meiryo"/>
                <a:sym typeface="Meiryo"/>
              </a:rPr>
              <a:t>サービス説明に繋げられるけど、サービスの直接的な宣伝は忌避される</a:t>
            </a:r>
            <a:r>
              <a:rPr lang="en-US" altLang="ja-JP" sz="900" dirty="0">
                <a:solidFill>
                  <a:schemeClr val="bg1">
                    <a:lumMod val="50000"/>
                  </a:schemeClr>
                </a:solidFill>
                <a:latin typeface="メイリオ" panose="020B0604030504040204" pitchFamily="50" charset="-128"/>
                <a:ea typeface="メイリオ" panose="020B0604030504040204" pitchFamily="50" charset="-128"/>
                <a:cs typeface="Meiryo"/>
                <a:sym typeface="Meiryo"/>
              </a:rPr>
              <a:t>” </a:t>
            </a:r>
            <a:r>
              <a:rPr lang="ja-JP" altLang="en-US" sz="900" dirty="0">
                <a:solidFill>
                  <a:schemeClr val="bg1">
                    <a:lumMod val="50000"/>
                  </a:schemeClr>
                </a:solidFill>
                <a:latin typeface="メイリオ" panose="020B0604030504040204" pitchFamily="50" charset="-128"/>
                <a:ea typeface="メイリオ" panose="020B0604030504040204" pitchFamily="50" charset="-128"/>
                <a:cs typeface="Meiryo"/>
                <a:sym typeface="Meiryo"/>
              </a:rPr>
              <a:t>ユーザー層のセグメント化に活用</a:t>
            </a:r>
            <a:endParaRPr lang="ja-JP" altLang="en-US" sz="900" dirty="0">
              <a:solidFill>
                <a:schemeClr val="bg1">
                  <a:lumMod val="50000"/>
                </a:schemeClr>
              </a:solidFill>
            </a:endParaRPr>
          </a:p>
        </p:txBody>
      </p:sp>
      <p:sp>
        <p:nvSpPr>
          <p:cNvPr id="5" name="矢印: 右 4">
            <a:extLst>
              <a:ext uri="{FF2B5EF4-FFF2-40B4-BE49-F238E27FC236}">
                <a16:creationId xmlns:a16="http://schemas.microsoft.com/office/drawing/2014/main" id="{31E96465-A2D8-BAD2-908E-13EA6B2BA2F0}"/>
              </a:ext>
            </a:extLst>
          </p:cNvPr>
          <p:cNvSpPr/>
          <p:nvPr/>
        </p:nvSpPr>
        <p:spPr>
          <a:xfrm>
            <a:off x="4769313" y="3151795"/>
            <a:ext cx="375557" cy="530249"/>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22173E9D-47C1-7D4E-1D0D-EC3756179319}"/>
              </a:ext>
            </a:extLst>
          </p:cNvPr>
          <p:cNvSpPr/>
          <p:nvPr/>
        </p:nvSpPr>
        <p:spPr>
          <a:xfrm>
            <a:off x="4940121" y="59287"/>
            <a:ext cx="2597727" cy="41563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人材</a:t>
            </a:r>
            <a:r>
              <a:rPr kumimoji="1" lang="en-US" altLang="ja-JP" sz="1200" dirty="0">
                <a:solidFill>
                  <a:schemeClr val="bg1"/>
                </a:solidFill>
                <a:latin typeface="メイリオ" panose="020B0604030504040204" pitchFamily="50" charset="-128"/>
                <a:ea typeface="メイリオ" panose="020B0604030504040204" pitchFamily="50" charset="-128"/>
              </a:rPr>
              <a:t>(</a:t>
            </a:r>
            <a:r>
              <a:rPr kumimoji="1" lang="ja-JP" altLang="en-US" sz="1200" dirty="0">
                <a:solidFill>
                  <a:schemeClr val="bg1"/>
                </a:solidFill>
                <a:latin typeface="メイリオ" panose="020B0604030504040204" pitchFamily="50" charset="-128"/>
                <a:ea typeface="メイリオ" panose="020B0604030504040204" pitchFamily="50" charset="-128"/>
              </a:rPr>
              <a:t>転職</a:t>
            </a:r>
            <a:r>
              <a:rPr kumimoji="1" lang="en-US" altLang="ja-JP" sz="1200" dirty="0">
                <a:solidFill>
                  <a:schemeClr val="bg1"/>
                </a:solidFill>
                <a:latin typeface="メイリオ" panose="020B0604030504040204" pitchFamily="50" charset="-128"/>
                <a:ea typeface="メイリオ" panose="020B0604030504040204" pitchFamily="50" charset="-128"/>
              </a:rPr>
              <a:t>)</a:t>
            </a:r>
            <a:r>
              <a:rPr kumimoji="1" lang="ja-JP" altLang="en-US" sz="1200" dirty="0">
                <a:solidFill>
                  <a:schemeClr val="bg1"/>
                </a:solidFill>
                <a:latin typeface="メイリオ" panose="020B0604030504040204" pitchFamily="50" charset="-128"/>
                <a:ea typeface="メイリオ" panose="020B0604030504040204" pitchFamily="50" charset="-128"/>
              </a:rPr>
              <a:t>業界の例</a:t>
            </a:r>
          </a:p>
        </p:txBody>
      </p:sp>
    </p:spTree>
    <p:extLst>
      <p:ext uri="{BB962C8B-B14F-4D97-AF65-F5344CB8AC3E}">
        <p14:creationId xmlns:p14="http://schemas.microsoft.com/office/powerpoint/2010/main" val="193266448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5"/>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1">
              <a:spcBef>
                <a:spcPct val="20000"/>
              </a:spcBef>
            </a:pPr>
            <a:r>
              <a:rPr lang="ja-JP" altLang="en-US" sz="831" b="1" dirty="0">
                <a:latin typeface="メイリオ"/>
                <a:ea typeface="メイリオ"/>
                <a:cs typeface="メイリオ"/>
              </a:rPr>
              <a:t>株式会社</a:t>
            </a:r>
            <a:r>
              <a:rPr lang="en-US" altLang="ja-JP" sz="831" b="1" dirty="0">
                <a:latin typeface="メイリオ"/>
                <a:ea typeface="メイリオ"/>
                <a:cs typeface="メイリオ"/>
              </a:rPr>
              <a:t>DYM</a:t>
            </a:r>
            <a:r>
              <a:rPr lang="ja-JP" altLang="en-US" sz="831" b="1" dirty="0">
                <a:latin typeface="メイリオ"/>
                <a:ea typeface="メイリオ"/>
                <a:cs typeface="メイリオ"/>
              </a:rPr>
              <a:t>　〒</a:t>
            </a:r>
            <a:r>
              <a:rPr lang="en-US" altLang="ja-JP" sz="831" b="1" dirty="0">
                <a:latin typeface="メイリオ"/>
                <a:ea typeface="メイリオ"/>
                <a:cs typeface="メイリオ"/>
              </a:rPr>
              <a:t>141-0032</a:t>
            </a:r>
            <a:r>
              <a:rPr lang="ja-JP" altLang="en-US" sz="831" b="1" dirty="0">
                <a:latin typeface="メイリオ"/>
                <a:ea typeface="メイリオ"/>
                <a:cs typeface="メイリオ"/>
              </a:rPr>
              <a:t>　東京都品川区大崎</a:t>
            </a:r>
            <a:r>
              <a:rPr lang="en-US" altLang="ja-JP" sz="831" b="1" dirty="0">
                <a:latin typeface="メイリオ"/>
                <a:ea typeface="メイリオ"/>
                <a:cs typeface="メイリオ"/>
              </a:rPr>
              <a:t>1-11-2</a:t>
            </a:r>
            <a:r>
              <a:rPr lang="ja-JP" altLang="en-US" sz="831" b="1" dirty="0">
                <a:latin typeface="メイリオ"/>
                <a:ea typeface="メイリオ"/>
                <a:cs typeface="メイリオ"/>
              </a:rPr>
              <a:t>　ゲートシティ大崎イーストタワー</a:t>
            </a:r>
            <a:r>
              <a:rPr lang="en-US" altLang="ja-JP" sz="831" b="1" dirty="0">
                <a:latin typeface="メイリオ"/>
                <a:ea typeface="メイリオ"/>
                <a:cs typeface="メイリオ"/>
              </a:rPr>
              <a:t>10</a:t>
            </a:r>
            <a:r>
              <a:rPr lang="ja-JP" altLang="en-US" sz="831" b="1" dirty="0">
                <a:latin typeface="メイリオ"/>
                <a:ea typeface="メイリオ"/>
                <a:cs typeface="メイリオ"/>
              </a:rPr>
              <a:t>階</a:t>
            </a:r>
            <a:endParaRPr lang="en-US" altLang="ja-JP" sz="831" b="1" dirty="0">
              <a:latin typeface="メイリオ"/>
              <a:ea typeface="メイリオ"/>
              <a:cs typeface="メイリオ"/>
            </a:endParaRPr>
          </a:p>
          <a:p>
            <a:pPr lvl="1">
              <a:spcBef>
                <a:spcPct val="20000"/>
              </a:spcBef>
            </a:pPr>
            <a:r>
              <a:rPr lang="en-US" altLang="ja-JP" sz="831" b="1" dirty="0">
                <a:latin typeface="メイリオ"/>
                <a:ea typeface="メイリオ"/>
                <a:cs typeface="メイリオ"/>
              </a:rPr>
              <a:t>TEL: 03-5745-0200</a:t>
            </a:r>
            <a:r>
              <a:rPr lang="ja-JP" altLang="en-US" sz="831" b="1" dirty="0">
                <a:latin typeface="メイリオ"/>
                <a:ea typeface="メイリオ"/>
                <a:cs typeface="メイリオ"/>
              </a:rPr>
              <a:t>　</a:t>
            </a:r>
            <a:r>
              <a:rPr lang="en-US" altLang="ja-JP" sz="831" b="1" dirty="0">
                <a:latin typeface="メイリオ"/>
                <a:ea typeface="メイリオ"/>
                <a:cs typeface="メイリオ"/>
              </a:rPr>
              <a:t>FAX: 03-3779-8720 </a:t>
            </a:r>
            <a:r>
              <a:rPr lang="ja-JP" altLang="en-US" sz="831" b="1" dirty="0">
                <a:latin typeface="メイリオ"/>
                <a:ea typeface="メイリオ"/>
                <a:cs typeface="メイリオ"/>
              </a:rPr>
              <a:t>　</a:t>
            </a:r>
            <a:r>
              <a:rPr lang="en-US" altLang="ja-JP" sz="831" b="1" dirty="0">
                <a:latin typeface="メイリオ"/>
                <a:ea typeface="メイリオ"/>
                <a:cs typeface="メイリオ"/>
              </a:rPr>
              <a:t>http://dym.asia   </a:t>
            </a:r>
            <a:r>
              <a:rPr lang="ja-JP" altLang="en-US" sz="831" b="1" dirty="0">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6" y="5888351"/>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1" y="5597769"/>
            <a:ext cx="184731" cy="237116"/>
          </a:xfrm>
          <a:prstGeom prst="rect">
            <a:avLst/>
          </a:prstGeom>
          <a:noFill/>
        </p:spPr>
        <p:txBody>
          <a:bodyPr wrap="none" rtlCol="0">
            <a:spAutoFit/>
          </a:bodyPr>
          <a:lstStyle/>
          <a:p>
            <a:endParaRPr lang="ja-JP" altLang="en-US" sz="941"/>
          </a:p>
        </p:txBody>
      </p:sp>
      <p:sp>
        <p:nvSpPr>
          <p:cNvPr id="18" name="正方形/長方形 17"/>
          <p:cNvSpPr/>
          <p:nvPr/>
        </p:nvSpPr>
        <p:spPr>
          <a:xfrm>
            <a:off x="2170038" y="989685"/>
            <a:ext cx="5565924" cy="400110"/>
          </a:xfrm>
          <a:prstGeom prst="rect">
            <a:avLst/>
          </a:prstGeom>
        </p:spPr>
        <p:txBody>
          <a:bodyPr wrap="square">
            <a:spAutoFit/>
          </a:bodyPr>
          <a:lstStyle/>
          <a:p>
            <a:pPr algn="ctr">
              <a:spcBef>
                <a:spcPct val="20000"/>
              </a:spcBef>
            </a:pPr>
            <a:r>
              <a:rPr lang="ja-JP" altLang="en-US" sz="2000" b="1" dirty="0">
                <a:latin typeface="メイリオ" charset="0"/>
                <a:ea typeface="メイリオ" charset="0"/>
                <a:cs typeface="メイリオ" charset="0"/>
              </a:rPr>
              <a:t>貴社の明るい未来に必ず貢献いたします。</a:t>
            </a:r>
          </a:p>
        </p:txBody>
      </p:sp>
      <p:pic>
        <p:nvPicPr>
          <p:cNvPr id="4" name="図 3">
            <a:extLst>
              <a:ext uri="{FF2B5EF4-FFF2-40B4-BE49-F238E27FC236}">
                <a16:creationId xmlns:a16="http://schemas.microsoft.com/office/drawing/2014/main" id="{73E0B742-FF70-F384-96EE-87A574CE828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1520" y="1988426"/>
            <a:ext cx="4274042" cy="2849361"/>
          </a:xfrm>
          <a:prstGeom prst="rect">
            <a:avLst/>
          </a:prstGeom>
        </p:spPr>
      </p:pic>
      <p:pic>
        <p:nvPicPr>
          <p:cNvPr id="8" name="図 7">
            <a:extLst>
              <a:ext uri="{FF2B5EF4-FFF2-40B4-BE49-F238E27FC236}">
                <a16:creationId xmlns:a16="http://schemas.microsoft.com/office/drawing/2014/main" id="{CBB7E89C-70F0-E399-7C21-45FBF93562E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198076" y="1988426"/>
            <a:ext cx="2326924" cy="1551282"/>
          </a:xfrm>
          <a:prstGeom prst="rect">
            <a:avLst/>
          </a:prstGeom>
        </p:spPr>
      </p:pic>
      <p:pic>
        <p:nvPicPr>
          <p:cNvPr id="6" name="図 5" descr="スーツを着た男性と文字&#10;&#10;低い精度で自動的に生成された説明">
            <a:extLst>
              <a:ext uri="{FF2B5EF4-FFF2-40B4-BE49-F238E27FC236}">
                <a16:creationId xmlns:a16="http://schemas.microsoft.com/office/drawing/2014/main" id="{DCA0A1E3-BE99-513C-E589-1E8C035070E8}"/>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7512" r="10622" b="20845"/>
          <a:stretch/>
        </p:blipFill>
        <p:spPr>
          <a:xfrm>
            <a:off x="7413236" y="3287967"/>
            <a:ext cx="2111765" cy="1551282"/>
          </a:xfrm>
          <a:prstGeom prst="rect">
            <a:avLst/>
          </a:prstGeom>
        </p:spPr>
      </p:pic>
      <p:pic>
        <p:nvPicPr>
          <p:cNvPr id="17" name="図 16" descr="白い壁の前に立っている子供たち&#10;&#10;AI によって生成されたコンテンツは間違っている可能性があります。">
            <a:extLst>
              <a:ext uri="{FF2B5EF4-FFF2-40B4-BE49-F238E27FC236}">
                <a16:creationId xmlns:a16="http://schemas.microsoft.com/office/drawing/2014/main" id="{3F5A2749-D4AC-2F37-FC68-2734BC439C6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644097" y="1988426"/>
            <a:ext cx="2615823" cy="1471836"/>
          </a:xfrm>
          <a:prstGeom prst="rect">
            <a:avLst/>
          </a:prstGeom>
        </p:spPr>
      </p:pic>
      <p:pic>
        <p:nvPicPr>
          <p:cNvPr id="7" name="図 6">
            <a:extLst>
              <a:ext uri="{FF2B5EF4-FFF2-40B4-BE49-F238E27FC236}">
                <a16:creationId xmlns:a16="http://schemas.microsoft.com/office/drawing/2014/main" id="{30C14A8F-514C-87B6-098E-D307672976B0}"/>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643655" y="3286280"/>
            <a:ext cx="2769580" cy="1554659"/>
          </a:xfrm>
          <a:prstGeom prst="rect">
            <a:avLst/>
          </a:prstGeom>
        </p:spPr>
      </p:pic>
    </p:spTree>
    <p:extLst>
      <p:ext uri="{BB962C8B-B14F-4D97-AF65-F5344CB8AC3E}">
        <p14:creationId xmlns:p14="http://schemas.microsoft.com/office/powerpoint/2010/main" val="3074123847"/>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144887</TotalTime>
  <Words>9949</Words>
  <Application>Microsoft Office PowerPoint</Application>
  <PresentationFormat>A4 210 x 297 mm</PresentationFormat>
  <Paragraphs>2141</Paragraphs>
  <Slides>62</Slides>
  <Notes>11</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62</vt:i4>
      </vt:variant>
    </vt:vector>
  </HeadingPairs>
  <TitlesOfParts>
    <vt:vector size="69" baseType="lpstr">
      <vt:lpstr>メイリオ</vt: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1915</cp:revision>
  <cp:lastPrinted>2022-11-01T11:38:14Z</cp:lastPrinted>
  <dcterms:created xsi:type="dcterms:W3CDTF">2015-09-04T09:21:15Z</dcterms:created>
  <dcterms:modified xsi:type="dcterms:W3CDTF">2026-10-16T05:39:16Z</dcterms:modified>
</cp:coreProperties>
</file>