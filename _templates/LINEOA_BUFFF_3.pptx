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721" r:id="rId4"/>
    <p:sldId id="2723" r:id="rId5"/>
    <p:sldId id="2714" r:id="rId6"/>
    <p:sldId id="2761" r:id="rId7"/>
    <p:sldId id="2935" r:id="rId8"/>
    <p:sldId id="2919" r:id="rId9"/>
    <p:sldId id="2519" r:id="rId10"/>
    <p:sldId id="2931" r:id="rId11"/>
    <p:sldId id="2952" r:id="rId12"/>
    <p:sldId id="2956" r:id="rId13"/>
    <p:sldId id="2749" r:id="rId14"/>
    <p:sldId id="2736" r:id="rId15"/>
    <p:sldId id="2908" r:id="rId16"/>
    <p:sldId id="2950" r:id="rId17"/>
    <p:sldId id="2762" r:id="rId18"/>
    <p:sldId id="2937" r:id="rId19"/>
    <p:sldId id="2939" r:id="rId20"/>
    <p:sldId id="2966" r:id="rId21"/>
    <p:sldId id="2962" r:id="rId22"/>
    <p:sldId id="2942" r:id="rId23"/>
    <p:sldId id="2941" r:id="rId24"/>
    <p:sldId id="2943" r:id="rId25"/>
    <p:sldId id="2944" r:id="rId26"/>
    <p:sldId id="2737" r:id="rId27"/>
    <p:sldId id="2563" r:id="rId28"/>
    <p:sldId id="2959" r:id="rId29"/>
    <p:sldId id="2970" r:id="rId30"/>
    <p:sldId id="2968" r:id="rId31"/>
    <p:sldId id="2969" r:id="rId32"/>
    <p:sldId id="2639" r:id="rId33"/>
    <p:sldId id="2575" r:id="rId34"/>
    <p:sldId id="2910" r:id="rId35"/>
    <p:sldId id="2957" r:id="rId36"/>
    <p:sldId id="2839" r:id="rId37"/>
    <p:sldId id="2740" r:id="rId38"/>
    <p:sldId id="2755" r:id="rId39"/>
    <p:sldId id="2951" r:id="rId40"/>
    <p:sldId id="2841" r:id="rId41"/>
    <p:sldId id="2724" r:id="rId42"/>
    <p:sldId id="2734" r:id="rId43"/>
    <p:sldId id="2595" r:id="rId44"/>
    <p:sldId id="2566" r:id="rId45"/>
    <p:sldId id="2569" r:id="rId46"/>
    <p:sldId id="2915" r:id="rId47"/>
    <p:sldId id="2619" r:id="rId48"/>
    <p:sldId id="2913" r:id="rId49"/>
    <p:sldId id="2961" r:id="rId50"/>
    <p:sldId id="2849" r:id="rId51"/>
    <p:sldId id="2904" r:id="rId52"/>
    <p:sldId id="2905" r:id="rId53"/>
    <p:sldId id="2906" r:id="rId54"/>
    <p:sldId id="2907" r:id="rId55"/>
    <p:sldId id="2967" r:id="rId56"/>
    <p:sldId id="2946" r:id="rId57"/>
    <p:sldId id="2947" r:id="rId58"/>
    <p:sldId id="2948" r:id="rId59"/>
    <p:sldId id="2958" r:id="rId60"/>
    <p:sldId id="2954" r:id="rId61"/>
    <p:sldId id="2953" r:id="rId62"/>
    <p:sldId id="2955" r:id="rId63"/>
    <p:sldId id="1169" r:id="rId64"/>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78"/>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handoutMaster" Target="handoutMasters/handoutMaster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2026/9/28</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9746031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33726571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42520229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27020095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3250212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62</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8" Type="http://schemas.openxmlformats.org/officeDocument/2006/relationships/image" Target="../media/image15.jpe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5" Type="http://schemas.openxmlformats.org/officeDocument/2006/relationships/image" Target="../media/image31.jpeg"/><Relationship Id="rId4" Type="http://schemas.openxmlformats.org/officeDocument/2006/relationships/image" Target="../media/image30.png"/></Relationships>
</file>

<file path=ppt/slides/_rels/slide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2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3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jpeg"/><Relationship Id="rId7" Type="http://schemas.openxmlformats.org/officeDocument/2006/relationships/image" Target="../media/image48.png"/><Relationship Id="rId2" Type="http://schemas.openxmlformats.org/officeDocument/2006/relationships/image" Target="../media/image43.jpeg"/><Relationship Id="rId1" Type="http://schemas.openxmlformats.org/officeDocument/2006/relationships/slideLayout" Target="../slideLayouts/slideLayout2.xml"/><Relationship Id="rId6" Type="http://schemas.openxmlformats.org/officeDocument/2006/relationships/image" Target="../media/image47.jpeg"/><Relationship Id="rId5" Type="http://schemas.openxmlformats.org/officeDocument/2006/relationships/image" Target="../media/image46.png"/><Relationship Id="rId10" Type="http://schemas.openxmlformats.org/officeDocument/2006/relationships/image" Target="../media/image51.jpeg"/><Relationship Id="rId4" Type="http://schemas.openxmlformats.org/officeDocument/2006/relationships/image" Target="../media/image45.png"/><Relationship Id="rId9" Type="http://schemas.openxmlformats.org/officeDocument/2006/relationships/image" Target="../media/image5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 Id="rId5" Type="http://schemas.openxmlformats.org/officeDocument/2006/relationships/image" Target="../media/image58.jpeg"/><Relationship Id="rId4" Type="http://schemas.openxmlformats.org/officeDocument/2006/relationships/image" Target="../media/image57.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8" Type="http://schemas.openxmlformats.org/officeDocument/2006/relationships/image" Target="../media/image64.png"/><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62.png"/><Relationship Id="rId5" Type="http://schemas.openxmlformats.org/officeDocument/2006/relationships/image" Target="../media/image61.png"/><Relationship Id="rId10" Type="http://schemas.openxmlformats.org/officeDocument/2006/relationships/image" Target="../media/image66.png"/><Relationship Id="rId4" Type="http://schemas.openxmlformats.org/officeDocument/2006/relationships/image" Target="../media/image60.png"/><Relationship Id="rId9" Type="http://schemas.openxmlformats.org/officeDocument/2006/relationships/image" Target="../media/image65.png"/></Relationships>
</file>

<file path=ppt/slides/_rels/slide4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44.xml.rels><?xml version="1.0" encoding="UTF-8" standalone="yes"?>
<Relationships xmlns="http://schemas.openxmlformats.org/package/2006/relationships"><Relationship Id="rId3" Type="http://schemas.openxmlformats.org/officeDocument/2006/relationships/image" Target="../media/image69.jpeg"/><Relationship Id="rId7" Type="http://schemas.openxmlformats.org/officeDocument/2006/relationships/image" Target="../media/image7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70.jpeg"/></Relationships>
</file>

<file path=ppt/slides/_rels/slide45.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74.png"/><Relationship Id="rId7" Type="http://schemas.openxmlformats.org/officeDocument/2006/relationships/image" Target="../media/image78.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77.png"/><Relationship Id="rId5" Type="http://schemas.openxmlformats.org/officeDocument/2006/relationships/image" Target="../media/image76.png"/><Relationship Id="rId4" Type="http://schemas.openxmlformats.org/officeDocument/2006/relationships/image" Target="../media/image75.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81.png"/><Relationship Id="rId7" Type="http://schemas.openxmlformats.org/officeDocument/2006/relationships/image" Target="../media/image85.png"/><Relationship Id="rId2" Type="http://schemas.openxmlformats.org/officeDocument/2006/relationships/image" Target="../media/image80.png"/><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50.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 Id="rId4" Type="http://schemas.openxmlformats.org/officeDocument/2006/relationships/image" Target="../media/image88.png"/></Relationships>
</file>

<file path=ppt/slides/_rels/slide51.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8" Type="http://schemas.openxmlformats.org/officeDocument/2006/relationships/image" Target="../media/image96.jpeg"/><Relationship Id="rId3" Type="http://schemas.openxmlformats.org/officeDocument/2006/relationships/image" Target="../media/image3.emf"/><Relationship Id="rId7" Type="http://schemas.openxmlformats.org/officeDocument/2006/relationships/image" Target="../media/image95.jpe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94.jpeg"/><Relationship Id="rId5" Type="http://schemas.openxmlformats.org/officeDocument/2006/relationships/image" Target="../media/image93.jpeg"/><Relationship Id="rId4" Type="http://schemas.openxmlformats.org/officeDocument/2006/relationships/image" Target="../media/image9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公式アカウントの取扱社数は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60ACD608-62E1-EDDE-99C7-355D55B75F7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014222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他</a:t>
            </a:r>
            <a:r>
              <a:rPr kumimoji="1" lang="en-US" altLang="ja-JP" sz="1000" b="1" dirty="0">
                <a:solidFill>
                  <a:schemeClr val="tx1"/>
                </a:solidFill>
                <a:latin typeface="メイリオ" panose="020B0604030504040204" pitchFamily="50" charset="-128"/>
                <a:ea typeface="メイリオ" panose="020B0604030504040204" pitchFamily="50" charset="-128"/>
              </a:rPr>
              <a:t>CRM</a:t>
            </a:r>
            <a:r>
              <a:rPr kumimoji="1" lang="ja-JP" altLang="en-US" sz="1000" b="1"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73664"/>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84166"/>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659089"/>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15948"/>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694453"/>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73664"/>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79400"/>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694711"/>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09164"/>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646331"/>
          </a:xfrm>
          <a:prstGeom prst="rect">
            <a:avLst/>
          </a:prstGeom>
          <a:noFill/>
        </p:spPr>
        <p:txBody>
          <a:bodyPr wrap="square">
            <a:spAutoFit/>
          </a:bodyPr>
          <a:lstStyle/>
          <a:p>
            <a:pPr algn="ct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646331"/>
          </a:xfrm>
          <a:prstGeom prst="rect">
            <a:avLst/>
          </a:prstGeom>
          <a:noFill/>
        </p:spPr>
        <p:txBody>
          <a:bodyPr wrap="square">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646331"/>
          </a:xfrm>
          <a:prstGeom prst="rect">
            <a:avLst/>
          </a:prstGeom>
          <a:noFill/>
        </p:spPr>
        <p:txBody>
          <a:bodyPr wrap="square">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285978"/>
            <a:ext cx="4311647" cy="461665"/>
          </a:xfrm>
          <a:prstGeom prst="rect">
            <a:avLst/>
          </a:prstGeom>
          <a:noFill/>
        </p:spPr>
        <p:txBody>
          <a:bodyPr wrap="square" anchor="ctr">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683522"/>
            <a:ext cx="9005456" cy="86946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600" b="1"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600" b="1" dirty="0">
                <a:solidFill>
                  <a:schemeClr val="tx1"/>
                </a:solidFill>
                <a:latin typeface="メイリオ" panose="020B0604030504040204" pitchFamily="50" charset="-128"/>
                <a:ea typeface="メイリオ" panose="020B0604030504040204" pitchFamily="50" charset="-128"/>
              </a:rPr>
              <a:t>LINEOA</a:t>
            </a:r>
            <a:r>
              <a:rPr lang="ja-JP" altLang="en-US" sz="1600" b="1"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ja-JP" altLang="en-US" sz="1600" b="1" dirty="0">
                <a:solidFill>
                  <a:schemeClr val="tx1"/>
                </a:solidFill>
                <a:latin typeface="メイリオ" panose="020B0604030504040204" pitchFamily="50" charset="-128"/>
                <a:ea typeface="メイリオ" panose="020B0604030504040204" pitchFamily="50" charset="-128"/>
              </a:rPr>
              <a:t>貴社社内運用部隊と連携して、一部業務の委託についてもご相談いただけます。</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en-US" altLang="ja-JP" sz="1200" b="1" dirty="0">
                <a:solidFill>
                  <a:srgbClr val="FF0000"/>
                </a:solidFill>
                <a:latin typeface="メイリオ" panose="020B0604030504040204" pitchFamily="50" charset="-128"/>
                <a:ea typeface="メイリオ" panose="020B0604030504040204" pitchFamily="50" charset="-128"/>
              </a:rPr>
              <a:t>※</a:t>
            </a:r>
            <a:r>
              <a:rPr lang="ja-JP" altLang="en-US" sz="1200" b="1"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600" b="1" dirty="0">
              <a:solidFill>
                <a:srgbClr val="FF0000"/>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2932612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p:cNvPicPr>
            <a:picLocks noChangeAspect="1"/>
          </p:cNvPicPr>
          <p:nvPr/>
        </p:nvPicPr>
        <p:blipFill rotWithShape="1">
          <a:blip r:embed="rId2"/>
          <a:srcRect t="756" b="22252"/>
          <a:stretch>
            <a:fillRect/>
          </a:stretch>
        </p:blipFill>
        <p:spPr>
          <a:xfrm>
            <a:off x="295975" y="1723516"/>
            <a:ext cx="9387073" cy="3876095"/>
          </a:xfrm>
          <a:prstGeom prst="rect">
            <a:avLst/>
          </a:prstGeom>
        </p:spPr>
      </p:pic>
      <p:sp>
        <p:nvSpPr>
          <p:cNvPr id="4" name="Google Shape;752;p28">
            <a:extLst>
              <a:ext uri="{FF2B5EF4-FFF2-40B4-BE49-F238E27FC236}">
                <a16:creationId xmlns:a16="http://schemas.microsoft.com/office/drawing/2014/main" id="{FDC206AF-704B-C667-AC7C-8A98250C47F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弊社の強み</a:t>
            </a:r>
          </a:p>
        </p:txBody>
      </p:sp>
      <p:sp>
        <p:nvSpPr>
          <p:cNvPr id="7" name="正方形/長方形 6">
            <a:extLst>
              <a:ext uri="{FF2B5EF4-FFF2-40B4-BE49-F238E27FC236}">
                <a16:creationId xmlns:a16="http://schemas.microsoft.com/office/drawing/2014/main" id="{5B599DE5-990B-7CA4-B34C-8BC9D9739CAB}"/>
              </a:ext>
            </a:extLst>
          </p:cNvPr>
          <p:cNvSpPr/>
          <p:nvPr/>
        </p:nvSpPr>
        <p:spPr>
          <a:xfrm>
            <a:off x="486784" y="613850"/>
            <a:ext cx="9005456" cy="6777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600" b="1" dirty="0">
                <a:solidFill>
                  <a:schemeClr val="tx1"/>
                </a:solidFill>
                <a:latin typeface="メイリオ" panose="020B0604030504040204" pitchFamily="50" charset="-128"/>
                <a:ea typeface="メイリオ" panose="020B0604030504040204" pitchFamily="50" charset="-128"/>
              </a:rPr>
              <a:t>プランニング</a:t>
            </a:r>
            <a:r>
              <a:rPr lang="en-US" altLang="ja-JP" sz="1600" b="1" dirty="0">
                <a:solidFill>
                  <a:schemeClr val="tx1"/>
                </a:solidFill>
                <a:latin typeface="メイリオ" panose="020B0604030504040204" pitchFamily="50" charset="-128"/>
                <a:ea typeface="メイリオ" panose="020B0604030504040204" pitchFamily="50" charset="-128"/>
              </a:rPr>
              <a:t>~</a:t>
            </a:r>
            <a:r>
              <a:rPr lang="ja-JP" altLang="en-US" sz="1600" b="1" dirty="0">
                <a:solidFill>
                  <a:schemeClr val="tx1"/>
                </a:solidFill>
                <a:latin typeface="メイリオ" panose="020B0604030504040204" pitchFamily="50" charset="-128"/>
                <a:ea typeface="メイリオ" panose="020B0604030504040204" pitchFamily="50" charset="-128"/>
              </a:rPr>
              <a:t>運用・クリエイティブを一気通貫で行うことで、成果にコミットしやすい体制。</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ja-JP" altLang="en-US" sz="1600" b="1" dirty="0">
                <a:solidFill>
                  <a:schemeClr val="tx1"/>
                </a:solidFill>
                <a:latin typeface="メイリオ" panose="020B0604030504040204" pitchFamily="50" charset="-128"/>
                <a:ea typeface="メイリオ" panose="020B0604030504040204" pitchFamily="50" charset="-128"/>
              </a:rPr>
              <a:t>貴社としても窓口・依頼の工数を大きく削減しながらの施策スタートが可能です。</a:t>
            </a:r>
          </a:p>
        </p:txBody>
      </p:sp>
    </p:spTree>
    <p:extLst>
      <p:ext uri="{BB962C8B-B14F-4D97-AF65-F5344CB8AC3E}">
        <p14:creationId xmlns:p14="http://schemas.microsoft.com/office/powerpoint/2010/main" val="16457041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53296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99384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38402223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4476818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26346019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94AA7-C0BE-82BB-F1F1-CEB94F822CA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ABB44D3-A8C8-D843-B486-737497FA1A64}"/>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6F594ACC-9E5E-8997-2C6C-AA5F11FCBEAE}"/>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集客動線</a:t>
            </a:r>
          </a:p>
        </p:txBody>
      </p:sp>
      <p:sp>
        <p:nvSpPr>
          <p:cNvPr id="3" name="Google Shape;752;p28">
            <a:extLst>
              <a:ext uri="{FF2B5EF4-FFF2-40B4-BE49-F238E27FC236}">
                <a16:creationId xmlns:a16="http://schemas.microsoft.com/office/drawing/2014/main" id="{DCCD6385-FF71-7870-2318-7AF6966C1540}"/>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商品・サービス利用の動線を８段階に分け、ユーザー動線における課題を明確化</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貴社課題に合わせて施策の組み合わせを変えながら施策効果を最大化します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7" name="テキスト ボックス 36">
            <a:extLst>
              <a:ext uri="{FF2B5EF4-FFF2-40B4-BE49-F238E27FC236}">
                <a16:creationId xmlns:a16="http://schemas.microsoft.com/office/drawing/2014/main" id="{5950A71D-C6DB-F4A6-D312-894E2978D27C}"/>
              </a:ext>
            </a:extLst>
          </p:cNvPr>
          <p:cNvSpPr txBox="1"/>
          <p:nvPr/>
        </p:nvSpPr>
        <p:spPr>
          <a:xfrm>
            <a:off x="422130" y="1861196"/>
            <a:ext cx="2352196" cy="446111"/>
          </a:xfrm>
          <a:prstGeom prst="rect">
            <a:avLst/>
          </a:prstGeom>
          <a:solidFill>
            <a:schemeClr val="accent6">
              <a:lumMod val="40000"/>
              <a:lumOff val="60000"/>
              <a:alpha val="30000"/>
            </a:schemeClr>
          </a:solidFill>
        </p:spPr>
        <p:txBody>
          <a:bodyPr wrap="square">
            <a:spAutoFit/>
          </a:bodyPr>
          <a:lstStyle/>
          <a:p>
            <a:pPr>
              <a:buNone/>
            </a:pPr>
            <a:r>
              <a:rPr lang="ja-JP" altLang="ja-JP" sz="1200" b="1" dirty="0">
                <a:latin typeface="メイリオ" panose="020B0604030504040204" pitchFamily="50" charset="-128"/>
                <a:ea typeface="メイリオ" panose="020B0604030504040204" pitchFamily="50" charset="-128"/>
              </a:rPr>
              <a:t>① 接触（認知・流入）</a:t>
            </a:r>
          </a:p>
        </p:txBody>
      </p:sp>
      <p:sp>
        <p:nvSpPr>
          <p:cNvPr id="38" name="テキスト ボックス 37">
            <a:extLst>
              <a:ext uri="{FF2B5EF4-FFF2-40B4-BE49-F238E27FC236}">
                <a16:creationId xmlns:a16="http://schemas.microsoft.com/office/drawing/2014/main" id="{D8DE6E29-4F5E-F233-C70B-BC6230369D79}"/>
              </a:ext>
            </a:extLst>
          </p:cNvPr>
          <p:cNvSpPr txBox="1"/>
          <p:nvPr/>
        </p:nvSpPr>
        <p:spPr>
          <a:xfrm>
            <a:off x="422130" y="2931848"/>
            <a:ext cx="2352196" cy="446111"/>
          </a:xfrm>
          <a:prstGeom prst="rect">
            <a:avLst/>
          </a:prstGeom>
          <a:solidFill>
            <a:schemeClr val="accent6">
              <a:lumMod val="40000"/>
              <a:lumOff val="60000"/>
              <a:alpha val="30000"/>
            </a:schemeClr>
          </a:solidFill>
        </p:spPr>
        <p:txBody>
          <a:bodyPr wrap="square">
            <a:spAutoFit/>
          </a:bodyPr>
          <a:lstStyle/>
          <a:p>
            <a:pPr>
              <a:buNone/>
            </a:pPr>
            <a:r>
              <a:rPr lang="ja-JP" altLang="ja-JP" sz="1200" b="1" dirty="0">
                <a:latin typeface="メイリオ" panose="020B0604030504040204" pitchFamily="50" charset="-128"/>
                <a:ea typeface="メイリオ" panose="020B0604030504040204" pitchFamily="50" charset="-128"/>
              </a:rPr>
              <a:t>③ 育成（興味</a:t>
            </a:r>
            <a:r>
              <a:rPr lang="ja-JP" altLang="en-US" sz="1200" b="1" dirty="0">
                <a:latin typeface="メイリオ" panose="020B0604030504040204" pitchFamily="50" charset="-128"/>
                <a:ea typeface="メイリオ" panose="020B0604030504040204" pitchFamily="50" charset="-128"/>
              </a:rPr>
              <a:t>喚起</a:t>
            </a:r>
            <a:r>
              <a:rPr lang="ja-JP" altLang="ja-JP" sz="1200" b="1" dirty="0">
                <a:latin typeface="メイリオ" panose="020B0604030504040204" pitchFamily="50" charset="-128"/>
                <a:ea typeface="メイリオ" panose="020B0604030504040204" pitchFamily="50" charset="-128"/>
              </a:rPr>
              <a:t>）</a:t>
            </a:r>
          </a:p>
        </p:txBody>
      </p:sp>
      <p:sp>
        <p:nvSpPr>
          <p:cNvPr id="39" name="テキスト ボックス 38">
            <a:extLst>
              <a:ext uri="{FF2B5EF4-FFF2-40B4-BE49-F238E27FC236}">
                <a16:creationId xmlns:a16="http://schemas.microsoft.com/office/drawing/2014/main" id="{5235B826-02CF-2A4C-FAC3-9AE8C5C82594}"/>
              </a:ext>
            </a:extLst>
          </p:cNvPr>
          <p:cNvSpPr txBox="1"/>
          <p:nvPr/>
        </p:nvSpPr>
        <p:spPr>
          <a:xfrm>
            <a:off x="422130" y="2396522"/>
            <a:ext cx="2352196" cy="446111"/>
          </a:xfrm>
          <a:prstGeom prst="rect">
            <a:avLst/>
          </a:prstGeom>
          <a:solidFill>
            <a:schemeClr val="accent6">
              <a:lumMod val="40000"/>
              <a:lumOff val="60000"/>
              <a:alpha val="30000"/>
            </a:schemeClr>
          </a:solidFill>
        </p:spPr>
        <p:txBody>
          <a:bodyPr wrap="square">
            <a:spAutoFit/>
          </a:bodyPr>
          <a:lstStyle/>
          <a:p>
            <a:pPr>
              <a:buNone/>
            </a:pPr>
            <a:r>
              <a:rPr lang="ja-JP" altLang="ja-JP" sz="1200" b="1" dirty="0">
                <a:latin typeface="メイリオ" panose="020B0604030504040204" pitchFamily="50" charset="-128"/>
                <a:ea typeface="メイリオ" panose="020B0604030504040204" pitchFamily="50" charset="-128"/>
              </a:rPr>
              <a:t>② サイト離脱</a:t>
            </a:r>
            <a:r>
              <a:rPr lang="ja-JP" altLang="en-US" sz="1200" b="1" dirty="0">
                <a:latin typeface="メイリオ" panose="020B0604030504040204" pitchFamily="50" charset="-128"/>
                <a:ea typeface="メイリオ" panose="020B0604030504040204" pitchFamily="50" charset="-128"/>
              </a:rPr>
              <a:t>（対策）</a:t>
            </a:r>
            <a:endParaRPr lang="ja-JP" altLang="ja-JP"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CBA0ED60-8608-E11C-FD26-CEB9F9A06F00}"/>
              </a:ext>
            </a:extLst>
          </p:cNvPr>
          <p:cNvSpPr txBox="1"/>
          <p:nvPr/>
        </p:nvSpPr>
        <p:spPr>
          <a:xfrm>
            <a:off x="422130" y="3467174"/>
            <a:ext cx="2352196" cy="446111"/>
          </a:xfrm>
          <a:prstGeom prst="rect">
            <a:avLst/>
          </a:prstGeom>
          <a:solidFill>
            <a:schemeClr val="accent6">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④リード獲得 </a:t>
            </a:r>
            <a:r>
              <a:rPr lang="en-US" altLang="ja-JP" sz="1000" b="1" dirty="0">
                <a:latin typeface="メイリオ" panose="020B0604030504040204" pitchFamily="50" charset="-128"/>
                <a:ea typeface="メイリオ" panose="020B0604030504040204" pitchFamily="50" charset="-128"/>
              </a:rPr>
              <a:t>(web/LINE)</a:t>
            </a:r>
            <a:endParaRPr lang="ja-JP" altLang="ja-JP" sz="1100" b="1"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33E93FC4-79F4-4C9E-10EB-0D8A9E1F783E}"/>
              </a:ext>
            </a:extLst>
          </p:cNvPr>
          <p:cNvSpPr txBox="1"/>
          <p:nvPr/>
        </p:nvSpPr>
        <p:spPr>
          <a:xfrm>
            <a:off x="422130" y="4407025"/>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⑤ リード有効化</a:t>
            </a:r>
            <a:endParaRPr lang="ja-JP" altLang="ja-JP" sz="1200" b="1" dirty="0">
              <a:latin typeface="メイリオ" panose="020B0604030504040204" pitchFamily="50" charset="-128"/>
              <a:ea typeface="メイリオ" panose="020B0604030504040204" pitchFamily="50" charset="-128"/>
            </a:endParaRPr>
          </a:p>
        </p:txBody>
      </p:sp>
      <p:sp>
        <p:nvSpPr>
          <p:cNvPr id="42" name="テキスト ボックス 41">
            <a:extLst>
              <a:ext uri="{FF2B5EF4-FFF2-40B4-BE49-F238E27FC236}">
                <a16:creationId xmlns:a16="http://schemas.microsoft.com/office/drawing/2014/main" id="{EC4FDFD3-BDC4-42AF-4DCC-A1E534D15FC4}"/>
              </a:ext>
            </a:extLst>
          </p:cNvPr>
          <p:cNvSpPr txBox="1"/>
          <p:nvPr/>
        </p:nvSpPr>
        <p:spPr>
          <a:xfrm>
            <a:off x="422130" y="5477677"/>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⑦マネタイズ</a:t>
            </a:r>
            <a:r>
              <a:rPr lang="en-US" altLang="ja-JP" sz="1050" b="1" dirty="0">
                <a:latin typeface="メイリオ" panose="020B0604030504040204" pitchFamily="50" charset="-128"/>
                <a:ea typeface="メイリオ" panose="020B0604030504040204" pitchFamily="50" charset="-128"/>
              </a:rPr>
              <a:t>(</a:t>
            </a:r>
            <a:r>
              <a:rPr lang="ja-JP" altLang="en-US" sz="1050" b="1" dirty="0">
                <a:latin typeface="メイリオ" panose="020B0604030504040204" pitchFamily="50" charset="-128"/>
                <a:ea typeface="メイリオ" panose="020B0604030504040204" pitchFamily="50" charset="-128"/>
              </a:rPr>
              <a:t>成約</a:t>
            </a:r>
            <a:r>
              <a:rPr lang="en-US" altLang="ja-JP" sz="1050" b="1" dirty="0">
                <a:latin typeface="メイリオ" panose="020B0604030504040204" pitchFamily="50" charset="-128"/>
                <a:ea typeface="メイリオ" panose="020B0604030504040204" pitchFamily="50" charset="-128"/>
              </a:rPr>
              <a:t>/</a:t>
            </a:r>
            <a:r>
              <a:rPr lang="ja-JP" altLang="en-US" sz="1050" b="1" dirty="0">
                <a:latin typeface="メイリオ" panose="020B0604030504040204" pitchFamily="50" charset="-128"/>
                <a:ea typeface="メイリオ" panose="020B0604030504040204" pitchFamily="50" charset="-128"/>
              </a:rPr>
              <a:t>購入</a:t>
            </a:r>
            <a:r>
              <a:rPr lang="en-US" altLang="ja-JP" sz="1050" b="1" dirty="0">
                <a:latin typeface="メイリオ" panose="020B0604030504040204" pitchFamily="50" charset="-128"/>
                <a:ea typeface="メイリオ" panose="020B0604030504040204" pitchFamily="50" charset="-128"/>
              </a:rPr>
              <a:t>)</a:t>
            </a:r>
            <a:endParaRPr lang="ja-JP" altLang="ja-JP" sz="12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B60C3938-78F2-CFFC-9D21-EAE5CC32FD65}"/>
              </a:ext>
            </a:extLst>
          </p:cNvPr>
          <p:cNvSpPr txBox="1"/>
          <p:nvPr/>
        </p:nvSpPr>
        <p:spPr>
          <a:xfrm>
            <a:off x="422130" y="4942351"/>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⑥ 有効リードの再育成</a:t>
            </a:r>
            <a:endParaRPr lang="ja-JP" altLang="ja-JP" sz="1200" b="1" dirty="0">
              <a:latin typeface="メイリオ" panose="020B0604030504040204" pitchFamily="50" charset="-128"/>
              <a:ea typeface="メイリオ" panose="020B0604030504040204" pitchFamily="50" charset="-128"/>
            </a:endParaRPr>
          </a:p>
        </p:txBody>
      </p:sp>
      <p:sp>
        <p:nvSpPr>
          <p:cNvPr id="44" name="テキスト ボックス 43">
            <a:extLst>
              <a:ext uri="{FF2B5EF4-FFF2-40B4-BE49-F238E27FC236}">
                <a16:creationId xmlns:a16="http://schemas.microsoft.com/office/drawing/2014/main" id="{88223CC4-587E-529F-4981-31D2131A6B24}"/>
              </a:ext>
            </a:extLst>
          </p:cNvPr>
          <p:cNvSpPr txBox="1"/>
          <p:nvPr/>
        </p:nvSpPr>
        <p:spPr>
          <a:xfrm>
            <a:off x="422130" y="6013005"/>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⑧</a:t>
            </a:r>
            <a:r>
              <a:rPr lang="en-US" altLang="ja-JP" sz="1200" b="1" dirty="0">
                <a:latin typeface="メイリオ" panose="020B0604030504040204" pitchFamily="50" charset="-128"/>
                <a:ea typeface="メイリオ" panose="020B0604030504040204" pitchFamily="50" charset="-128"/>
              </a:rPr>
              <a:t>LTV</a:t>
            </a:r>
            <a:r>
              <a:rPr lang="ja-JP" altLang="en-US" sz="1200" b="1" dirty="0">
                <a:latin typeface="メイリオ" panose="020B0604030504040204" pitchFamily="50" charset="-128"/>
                <a:ea typeface="メイリオ" panose="020B0604030504040204" pitchFamily="50" charset="-128"/>
              </a:rPr>
              <a:t>最大化・紹介</a:t>
            </a:r>
            <a:endParaRPr lang="ja-JP" altLang="ja-JP" sz="1200" b="1" dirty="0">
              <a:latin typeface="メイリオ" panose="020B0604030504040204" pitchFamily="50" charset="-128"/>
              <a:ea typeface="メイリオ" panose="020B0604030504040204" pitchFamily="50" charset="-128"/>
            </a:endParaRPr>
          </a:p>
        </p:txBody>
      </p:sp>
      <p:cxnSp>
        <p:nvCxnSpPr>
          <p:cNvPr id="45" name="直線矢印コネクタ 44">
            <a:extLst>
              <a:ext uri="{FF2B5EF4-FFF2-40B4-BE49-F238E27FC236}">
                <a16:creationId xmlns:a16="http://schemas.microsoft.com/office/drawing/2014/main" id="{87E98574-2837-4FC8-E748-526D33474E4D}"/>
              </a:ext>
            </a:extLst>
          </p:cNvPr>
          <p:cNvCxnSpPr>
            <a:cxnSpLocks/>
          </p:cNvCxnSpPr>
          <p:nvPr/>
        </p:nvCxnSpPr>
        <p:spPr>
          <a:xfrm>
            <a:off x="725974" y="3916591"/>
            <a:ext cx="0" cy="63120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aphicFrame>
        <p:nvGraphicFramePr>
          <p:cNvPr id="5" name="表 4">
            <a:extLst>
              <a:ext uri="{FF2B5EF4-FFF2-40B4-BE49-F238E27FC236}">
                <a16:creationId xmlns:a16="http://schemas.microsoft.com/office/drawing/2014/main" id="{51D69C3C-8A78-71C1-CC10-FBFA86CD06DF}"/>
              </a:ext>
            </a:extLst>
          </p:cNvPr>
          <p:cNvGraphicFramePr>
            <a:graphicFrameLocks noGrp="1"/>
          </p:cNvGraphicFramePr>
          <p:nvPr>
            <p:extLst>
              <p:ext uri="{D42A27DB-BD31-4B8C-83A1-F6EECF244321}">
                <p14:modId xmlns:p14="http://schemas.microsoft.com/office/powerpoint/2010/main" val="4178443583"/>
              </p:ext>
            </p:extLst>
          </p:nvPr>
        </p:nvGraphicFramePr>
        <p:xfrm>
          <a:off x="2865120" y="1644532"/>
          <a:ext cx="6818810" cy="2311492"/>
        </p:xfrm>
        <a:graphic>
          <a:graphicData uri="http://schemas.openxmlformats.org/drawingml/2006/table">
            <a:tbl>
              <a:tblPr/>
              <a:tblGrid>
                <a:gridCol w="3365127">
                  <a:extLst>
                    <a:ext uri="{9D8B030D-6E8A-4147-A177-3AD203B41FA5}">
                      <a16:colId xmlns:a16="http://schemas.microsoft.com/office/drawing/2014/main" val="545601848"/>
                    </a:ext>
                  </a:extLst>
                </a:gridCol>
                <a:gridCol w="3453683">
                  <a:extLst>
                    <a:ext uri="{9D8B030D-6E8A-4147-A177-3AD203B41FA5}">
                      <a16:colId xmlns:a16="http://schemas.microsoft.com/office/drawing/2014/main" val="3902416673"/>
                    </a:ext>
                  </a:extLst>
                </a:gridCol>
              </a:tblGrid>
              <a:tr h="203612">
                <a:tc>
                  <a:txBody>
                    <a:bodyPr/>
                    <a:lstStyle/>
                    <a:p>
                      <a:pPr marL="0" indent="0" algn="ctr">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ユーザーの行動・心理</a:t>
                      </a:r>
                      <a:endParaRPr lang="en-US" sz="7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solidFill>
                      <a:srgbClr val="1E2761"/>
                    </a:solidFill>
                  </a:tcPr>
                </a:tc>
                <a:tc>
                  <a:txBody>
                    <a:bodyPr/>
                    <a:lstStyle/>
                    <a:p>
                      <a:pPr marL="0" indent="0" algn="ctr">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企業側の具体的施策</a:t>
                      </a:r>
                      <a:endParaRPr lang="en-US" sz="7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solidFill>
                      <a:srgbClr val="1E2761"/>
                    </a:solidFill>
                  </a:tcPr>
                </a:tc>
                <a:extLst>
                  <a:ext uri="{0D108BD9-81ED-4DB2-BD59-A6C34878D82A}">
                    <a16:rowId xmlns:a16="http://schemas.microsoft.com/office/drawing/2014/main" val="3084329450"/>
                  </a:ext>
                </a:extLst>
              </a:tr>
              <a:tr h="526970">
                <a:tc>
                  <a:txBody>
                    <a:bodyPr/>
                    <a:lstStyle/>
                    <a:p>
                      <a:pPr marL="0" indent="0">
                        <a:buNone/>
                      </a:pPr>
                      <a:r>
                        <a:rPr lang="en-US" sz="900" dirty="0">
                          <a:solidFill>
                            <a:srgbClr val="000000"/>
                          </a:solidFill>
                          <a:latin typeface="メイリオ" panose="020B0604030504040204" pitchFamily="50" charset="-128"/>
                          <a:ea typeface="メイリオ" panose="020B0604030504040204" pitchFamily="50" charset="-128"/>
                          <a:cs typeface="Calibri" pitchFamily="34" charset="-120"/>
                        </a:rPr>
                        <a:t>「転職したい」「</a:t>
                      </a: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今の職場が限界」という検索行動</a:t>
                      </a:r>
                      <a:endParaRPr lang="en-US" sz="900" dirty="0">
                        <a:solidFill>
                          <a:srgbClr val="000000"/>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比較サイト・SNS広告・口コミ経由が主流</a:t>
                      </a:r>
                      <a:endParaRPr lang="en-US" sz="9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tcPr>
                </a:tc>
                <a:tc>
                  <a:txBody>
                    <a:bodyPr/>
                    <a:lstStyle/>
                    <a:p>
                      <a:pPr marL="0" indent="0">
                        <a:buNone/>
                      </a:pPr>
                      <a:r>
                        <a:rPr lang="en-US" sz="900" dirty="0">
                          <a:solidFill>
                            <a:srgbClr val="000000"/>
                          </a:solidFill>
                          <a:latin typeface="メイリオ" panose="020B0604030504040204" pitchFamily="50" charset="-128"/>
                          <a:ea typeface="メイリオ" panose="020B0604030504040204" pitchFamily="50" charset="-128"/>
                          <a:cs typeface="Calibri" pitchFamily="34" charset="-120"/>
                        </a:rPr>
                        <a:t>MEO/SEO強化、Meta広告（23-32歳ターゲ</a:t>
                      </a:r>
                    </a:p>
                    <a:p>
                      <a:pPr marL="0" indent="0">
                        <a:buNone/>
                      </a:pP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Indeed掲載、LINEの友だち追加ボタンをLP最上部に設置</a:t>
                      </a:r>
                      <a:endParaRPr lang="en-US" sz="9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tcPr>
                </a:tc>
                <a:extLst>
                  <a:ext uri="{0D108BD9-81ED-4DB2-BD59-A6C34878D82A}">
                    <a16:rowId xmlns:a16="http://schemas.microsoft.com/office/drawing/2014/main" val="1021500690"/>
                  </a:ext>
                </a:extLst>
              </a:tr>
              <a:tr h="526970">
                <a:tc>
                  <a:txBody>
                    <a:bodyPr/>
                    <a:lstStyle/>
                    <a:p>
                      <a:pPr marL="0" indent="0">
                        <a:buNone/>
                      </a:pP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LPを一読するが登録せず離脱</a:t>
                      </a:r>
                      <a:endParaRPr lang="en-US" sz="900" dirty="0">
                        <a:solidFill>
                          <a:srgbClr val="000000"/>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900" dirty="0">
                          <a:solidFill>
                            <a:srgbClr val="000000"/>
                          </a:solidFill>
                          <a:latin typeface="メイリオ" panose="020B0604030504040204" pitchFamily="50" charset="-128"/>
                          <a:ea typeface="メイリオ" panose="020B0604030504040204" pitchFamily="50" charset="-128"/>
                          <a:cs typeface="Calibri" pitchFamily="34" charset="-120"/>
                        </a:rPr>
                        <a:t>「まだ本気じゃない」「怪しい」心理</a:t>
                      </a:r>
                      <a:endParaRPr lang="en-US" sz="9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tcPr>
                </a:tc>
                <a:tc>
                  <a:txBody>
                    <a:bodyPr/>
                    <a:lstStyle/>
                    <a:p>
                      <a:pPr marL="0" indent="0">
                        <a:buNone/>
                      </a:pP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リタゲ広告＋LINEブロック防止コピ</a:t>
                      </a:r>
                      <a:r>
                        <a:rPr lang="en-US" sz="900" dirty="0">
                          <a:solidFill>
                            <a:srgbClr val="000000"/>
                          </a:solidFill>
                          <a:latin typeface="メイリオ" panose="020B0604030504040204" pitchFamily="50" charset="-128"/>
                          <a:ea typeface="メイリオ" panose="020B0604030504040204" pitchFamily="50" charset="-128"/>
                          <a:cs typeface="Calibri" pitchFamily="34" charset="-120"/>
                        </a:rPr>
                        <a:t>ー</a:t>
                      </a:r>
                    </a:p>
                    <a:p>
                      <a:pPr marL="0" indent="0">
                        <a:buNone/>
                      </a:pPr>
                      <a:r>
                        <a:rPr lang="en-US" sz="900" dirty="0">
                          <a:solidFill>
                            <a:srgbClr val="000000"/>
                          </a:solidFill>
                          <a:latin typeface="メイリオ" panose="020B0604030504040204" pitchFamily="50" charset="-128"/>
                          <a:ea typeface="メイリオ" panose="020B0604030504040204" pitchFamily="50" charset="-128"/>
                          <a:cs typeface="Calibri" pitchFamily="34" charset="-120"/>
                        </a:rPr>
                        <a:t>「登録=営業電話ではない」を明記したLPテスト</a:t>
                      </a:r>
                      <a:endParaRPr lang="en-US" sz="9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tcPr>
                </a:tc>
                <a:extLst>
                  <a:ext uri="{0D108BD9-81ED-4DB2-BD59-A6C34878D82A}">
                    <a16:rowId xmlns:a16="http://schemas.microsoft.com/office/drawing/2014/main" val="267448599"/>
                  </a:ext>
                </a:extLst>
              </a:tr>
              <a:tr h="526970">
                <a:tc>
                  <a:txBody>
                    <a:bodyPr/>
                    <a:lstStyle/>
                    <a:p>
                      <a:pPr marL="0" indent="0">
                        <a:buNone/>
                      </a:pPr>
                      <a:r>
                        <a:rPr lang="en-US" sz="900" dirty="0">
                          <a:solidFill>
                            <a:srgbClr val="000000"/>
                          </a:solidFill>
                          <a:latin typeface="メイリオ" panose="020B0604030504040204" pitchFamily="50" charset="-128"/>
                          <a:ea typeface="メイリオ" panose="020B0604030504040204" pitchFamily="50" charset="-128"/>
                          <a:cs typeface="Calibri" pitchFamily="34" charset="-120"/>
                        </a:rPr>
                        <a:t>情報収集フェーズ。転職成功事例・年収UP実績に関心</a:t>
                      </a:r>
                      <a:endParaRPr lang="en-US" sz="9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tcPr>
                </a:tc>
                <a:tc>
                  <a:txBody>
                    <a:bodyPr/>
                    <a:lstStyle/>
                    <a:p>
                      <a:pPr marL="0" indent="0">
                        <a:buNone/>
                      </a:pPr>
                      <a:r>
                        <a:rPr lang="en-US" sz="900" dirty="0">
                          <a:solidFill>
                            <a:srgbClr val="000000"/>
                          </a:solidFill>
                          <a:latin typeface="メイリオ" panose="020B0604030504040204" pitchFamily="50" charset="-128"/>
                          <a:ea typeface="メイリオ" panose="020B0604030504040204" pitchFamily="50" charset="-128"/>
                          <a:cs typeface="Calibri" pitchFamily="34" charset="-120"/>
                        </a:rPr>
                        <a:t>SNS/</a:t>
                      </a: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ブログで「転職失敗談→成功」ストーリーを</a:t>
                      </a:r>
                      <a:r>
                        <a:rPr lang="ja-JP" altLang="en-US" sz="900" dirty="0">
                          <a:solidFill>
                            <a:srgbClr val="000000"/>
                          </a:solidFill>
                          <a:latin typeface="メイリオ" panose="020B0604030504040204" pitchFamily="50" charset="-128"/>
                          <a:ea typeface="メイリオ" panose="020B0604030504040204" pitchFamily="50" charset="-128"/>
                          <a:cs typeface="Calibri" pitchFamily="34" charset="-120"/>
                        </a:rPr>
                        <a:t>発信</a:t>
                      </a:r>
                      <a:endParaRPr lang="en-US" sz="900" dirty="0">
                        <a:solidFill>
                          <a:srgbClr val="000000"/>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LINE登録で特典（非公開求人リスト等）訴求</a:t>
                      </a:r>
                      <a:endParaRPr lang="en-US" sz="9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tcPr>
                </a:tc>
                <a:extLst>
                  <a:ext uri="{0D108BD9-81ED-4DB2-BD59-A6C34878D82A}">
                    <a16:rowId xmlns:a16="http://schemas.microsoft.com/office/drawing/2014/main" val="3177953868"/>
                  </a:ext>
                </a:extLst>
              </a:tr>
              <a:tr h="526970">
                <a:tc>
                  <a:txBody>
                    <a:bodyPr/>
                    <a:lstStyle/>
                    <a:p>
                      <a:pPr marL="0" indent="0">
                        <a:buNone/>
                      </a:pPr>
                      <a:r>
                        <a:rPr lang="en-US" sz="900" dirty="0">
                          <a:solidFill>
                            <a:srgbClr val="000000"/>
                          </a:solidFill>
                          <a:latin typeface="メイリオ" panose="020B0604030504040204" pitchFamily="50" charset="-128"/>
                          <a:ea typeface="メイリオ" panose="020B0604030504040204" pitchFamily="50" charset="-128"/>
                          <a:cs typeface="Calibri" pitchFamily="34" charset="-120"/>
                        </a:rPr>
                        <a:t>「</a:t>
                      </a: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登録しようかな」の直前</a:t>
                      </a:r>
                      <a:endParaRPr lang="en-US" sz="900" dirty="0">
                        <a:solidFill>
                          <a:srgbClr val="000000"/>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フォーム入力の心理ハードル</a:t>
                      </a:r>
                      <a:endParaRPr lang="en-US" sz="9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tcPr>
                </a:tc>
                <a:tc>
                  <a:txBody>
                    <a:bodyPr/>
                    <a:lstStyle/>
                    <a:p>
                      <a:pPr marL="0" indent="0">
                        <a:buNone/>
                      </a:pP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LINE登録のほうがWEBフォームより離脱率が低い仮説</a:t>
                      </a:r>
                      <a:endParaRPr lang="en-US" sz="900" dirty="0">
                        <a:solidFill>
                          <a:srgbClr val="000000"/>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900" dirty="0">
                          <a:solidFill>
                            <a:srgbClr val="000000"/>
                          </a:solidFill>
                          <a:latin typeface="メイリオ" panose="020B0604030504040204" pitchFamily="50" charset="-128"/>
                          <a:ea typeface="メイリオ" panose="020B0604030504040204" pitchFamily="50" charset="-128"/>
                          <a:cs typeface="Calibri" pitchFamily="34" charset="-120"/>
                        </a:rPr>
                        <a:t>→</a:t>
                      </a: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ABテスト推奨</a:t>
                      </a:r>
                      <a:r>
                        <a:rPr lang="ja-JP" altLang="en-US" sz="900" dirty="0">
                          <a:solidFill>
                            <a:srgbClr val="000000"/>
                          </a:solidFill>
                          <a:latin typeface="メイリオ" panose="020B0604030504040204" pitchFamily="50" charset="-128"/>
                          <a:ea typeface="メイリオ" panose="020B0604030504040204" pitchFamily="50" charset="-128"/>
                          <a:cs typeface="Calibri" pitchFamily="34" charset="-120"/>
                        </a:rPr>
                        <a:t>　</a:t>
                      </a: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入力項目は最小限（名前・年齢・現職のみ</a:t>
                      </a:r>
                      <a:r>
                        <a:rPr lang="en-US" sz="900" dirty="0">
                          <a:solidFill>
                            <a:srgbClr val="000000"/>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tcPr>
                </a:tc>
                <a:extLst>
                  <a:ext uri="{0D108BD9-81ED-4DB2-BD59-A6C34878D82A}">
                    <a16:rowId xmlns:a16="http://schemas.microsoft.com/office/drawing/2014/main" val="2442422374"/>
                  </a:ext>
                </a:extLst>
              </a:tr>
            </a:tbl>
          </a:graphicData>
        </a:graphic>
      </p:graphicFrame>
      <p:graphicFrame>
        <p:nvGraphicFramePr>
          <p:cNvPr id="7" name="表 6">
            <a:extLst>
              <a:ext uri="{FF2B5EF4-FFF2-40B4-BE49-F238E27FC236}">
                <a16:creationId xmlns:a16="http://schemas.microsoft.com/office/drawing/2014/main" id="{483A0D42-0D68-9487-6275-D3AAF7E74F8A}"/>
              </a:ext>
            </a:extLst>
          </p:cNvPr>
          <p:cNvGraphicFramePr>
            <a:graphicFrameLocks noGrp="1"/>
          </p:cNvGraphicFramePr>
          <p:nvPr>
            <p:extLst>
              <p:ext uri="{D42A27DB-BD31-4B8C-83A1-F6EECF244321}">
                <p14:modId xmlns:p14="http://schemas.microsoft.com/office/powerpoint/2010/main" val="1710858454"/>
              </p:ext>
            </p:extLst>
          </p:nvPr>
        </p:nvGraphicFramePr>
        <p:xfrm>
          <a:off x="2865120" y="4153076"/>
          <a:ext cx="6818810" cy="2311492"/>
        </p:xfrm>
        <a:graphic>
          <a:graphicData uri="http://schemas.openxmlformats.org/drawingml/2006/table">
            <a:tbl>
              <a:tblPr/>
              <a:tblGrid>
                <a:gridCol w="3365127">
                  <a:extLst>
                    <a:ext uri="{9D8B030D-6E8A-4147-A177-3AD203B41FA5}">
                      <a16:colId xmlns:a16="http://schemas.microsoft.com/office/drawing/2014/main" val="4215076806"/>
                    </a:ext>
                  </a:extLst>
                </a:gridCol>
                <a:gridCol w="3453683">
                  <a:extLst>
                    <a:ext uri="{9D8B030D-6E8A-4147-A177-3AD203B41FA5}">
                      <a16:colId xmlns:a16="http://schemas.microsoft.com/office/drawing/2014/main" val="680030098"/>
                    </a:ext>
                  </a:extLst>
                </a:gridCol>
              </a:tblGrid>
              <a:tr h="203612">
                <a:tc>
                  <a:txBody>
                    <a:bodyPr/>
                    <a:lstStyle/>
                    <a:p>
                      <a:pPr marL="0" indent="0" algn="ctr">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ユーザーの行動・心理</a:t>
                      </a:r>
                      <a:endParaRPr lang="en-US" sz="7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solidFill>
                      <a:srgbClr val="1E2761"/>
                    </a:solidFill>
                  </a:tcPr>
                </a:tc>
                <a:tc>
                  <a:txBody>
                    <a:bodyPr/>
                    <a:lstStyle/>
                    <a:p>
                      <a:pPr marL="0" indent="0" algn="ctr">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企業側の具体的施策</a:t>
                      </a:r>
                      <a:endParaRPr lang="en-US" sz="7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solidFill>
                      <a:srgbClr val="1E2761"/>
                    </a:solidFill>
                  </a:tcPr>
                </a:tc>
                <a:extLst>
                  <a:ext uri="{0D108BD9-81ED-4DB2-BD59-A6C34878D82A}">
                    <a16:rowId xmlns:a16="http://schemas.microsoft.com/office/drawing/2014/main" val="3955716671"/>
                  </a:ext>
                </a:extLst>
              </a:tr>
              <a:tr h="526970">
                <a:tc>
                  <a:txBody>
                    <a:bodyPr/>
                    <a:lstStyle/>
                    <a:p>
                      <a:pPr marL="0" indent="0">
                        <a:buNone/>
                      </a:pPr>
                      <a:r>
                        <a:rPr lang="en-US" sz="900" dirty="0">
                          <a:solidFill>
                            <a:srgbClr val="000000"/>
                          </a:solidFill>
                          <a:latin typeface="メイリオ" panose="020B0604030504040204" pitchFamily="50" charset="-128"/>
                          <a:ea typeface="メイリオ" panose="020B0604030504040204" pitchFamily="50" charset="-128"/>
                          <a:cs typeface="Calibri" pitchFamily="34" charset="-120"/>
                        </a:rPr>
                        <a:t>登録直後。本気度・転職時期・希望条件のスクリーニング</a:t>
                      </a:r>
                      <a:endParaRPr lang="en-US" sz="9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tcPr>
                </a:tc>
                <a:tc>
                  <a:txBody>
                    <a:bodyPr/>
                    <a:lstStyle/>
                    <a:p>
                      <a:pPr marL="0" indent="0">
                        <a:buNone/>
                      </a:pP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LINE登録直後にアンケート配信</a:t>
                      </a:r>
                      <a:endParaRPr lang="en-US" sz="900" dirty="0">
                        <a:solidFill>
                          <a:srgbClr val="000000"/>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900" dirty="0">
                          <a:solidFill>
                            <a:srgbClr val="000000"/>
                          </a:solidFill>
                          <a:latin typeface="メイリオ" panose="020B0604030504040204" pitchFamily="50" charset="-128"/>
                          <a:ea typeface="メイリオ" panose="020B0604030504040204" pitchFamily="50" charset="-128"/>
                          <a:cs typeface="Calibri" pitchFamily="34" charset="-120"/>
                        </a:rPr>
                        <a:t>「3ヶ月以内に転職希望」層を即座にセグメント分け</a:t>
                      </a:r>
                      <a:endParaRPr lang="en-US" sz="9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tcPr>
                </a:tc>
                <a:extLst>
                  <a:ext uri="{0D108BD9-81ED-4DB2-BD59-A6C34878D82A}">
                    <a16:rowId xmlns:a16="http://schemas.microsoft.com/office/drawing/2014/main" val="3435062903"/>
                  </a:ext>
                </a:extLst>
              </a:tr>
              <a:tr h="526970">
                <a:tc>
                  <a:txBody>
                    <a:bodyPr/>
                    <a:lstStyle/>
                    <a:p>
                      <a:pPr marL="0" indent="0">
                        <a:buNone/>
                      </a:pPr>
                      <a:r>
                        <a:rPr lang="en-US" sz="900" dirty="0">
                          <a:solidFill>
                            <a:srgbClr val="000000"/>
                          </a:solidFill>
                          <a:latin typeface="メイリオ" panose="020B0604030504040204" pitchFamily="50" charset="-128"/>
                          <a:ea typeface="メイリオ" panose="020B0604030504040204" pitchFamily="50" charset="-128"/>
                          <a:cs typeface="Calibri" pitchFamily="34" charset="-120"/>
                        </a:rPr>
                        <a:t>「転職を具体化したい」が「踏み出せない」層が多い</a:t>
                      </a:r>
                      <a:endParaRPr lang="en-US" sz="9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tcPr>
                </a:tc>
                <a:tc>
                  <a:txBody>
                    <a:bodyPr/>
                    <a:lstStyle/>
                    <a:p>
                      <a:pPr marL="0" indent="0">
                        <a:buNone/>
                      </a:pPr>
                      <a:r>
                        <a:rPr lang="en-US" sz="900" dirty="0">
                          <a:solidFill>
                            <a:srgbClr val="000000"/>
                          </a:solidFill>
                          <a:latin typeface="メイリオ" panose="020B0604030504040204" pitchFamily="50" charset="-128"/>
                          <a:ea typeface="メイリオ" panose="020B0604030504040204" pitchFamily="50" charset="-128"/>
                          <a:cs typeface="Calibri" pitchFamily="34" charset="-120"/>
                        </a:rPr>
                        <a:t>週1-2回のステップ配信</a:t>
                      </a:r>
                    </a:p>
                    <a:p>
                      <a:pPr marL="0" indent="0">
                        <a:buNone/>
                      </a:pP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年収交渉術・業界動向・面接対策コンテンツで信頼醸成</a:t>
                      </a:r>
                      <a:endParaRPr lang="en-US" sz="9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tcPr>
                </a:tc>
                <a:extLst>
                  <a:ext uri="{0D108BD9-81ED-4DB2-BD59-A6C34878D82A}">
                    <a16:rowId xmlns:a16="http://schemas.microsoft.com/office/drawing/2014/main" val="4063541763"/>
                  </a:ext>
                </a:extLst>
              </a:tr>
              <a:tr h="526970">
                <a:tc>
                  <a:txBody>
                    <a:bodyPr/>
                    <a:lstStyle/>
                    <a:p>
                      <a:pPr marL="0" indent="0">
                        <a:buNone/>
                      </a:pPr>
                      <a:r>
                        <a:rPr lang="en-US" sz="900" dirty="0">
                          <a:solidFill>
                            <a:srgbClr val="000000"/>
                          </a:solidFill>
                          <a:latin typeface="メイリオ" panose="020B0604030504040204" pitchFamily="50" charset="-128"/>
                          <a:ea typeface="メイリオ" panose="020B0604030504040204" pitchFamily="50" charset="-128"/>
                          <a:cs typeface="Calibri" pitchFamily="34" charset="-120"/>
                        </a:rPr>
                        <a:t>「この会社なら安心」と感じたタイミングで商談・面談へ</a:t>
                      </a:r>
                      <a:endParaRPr lang="en-US" sz="9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tcPr>
                </a:tc>
                <a:tc>
                  <a:txBody>
                    <a:bodyPr/>
                    <a:lstStyle/>
                    <a:p>
                      <a:pPr marL="0" indent="0">
                        <a:buNone/>
                      </a:pP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個別面談オファーのLINEメッセージ</a:t>
                      </a:r>
                      <a:endParaRPr lang="en-US" sz="900" dirty="0">
                        <a:solidFill>
                          <a:srgbClr val="000000"/>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スカウト型オファーを模倣したコピーで開封率向上</a:t>
                      </a:r>
                      <a:endParaRPr lang="en-US" sz="9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tcPr>
                </a:tc>
                <a:extLst>
                  <a:ext uri="{0D108BD9-81ED-4DB2-BD59-A6C34878D82A}">
                    <a16:rowId xmlns:a16="http://schemas.microsoft.com/office/drawing/2014/main" val="1188033087"/>
                  </a:ext>
                </a:extLst>
              </a:tr>
              <a:tr h="526970">
                <a:tc>
                  <a:txBody>
                    <a:bodyPr/>
                    <a:lstStyle/>
                    <a:p>
                      <a:pPr marL="0" indent="0">
                        <a:buNone/>
                      </a:pPr>
                      <a:r>
                        <a:rPr lang="en-US" sz="900" dirty="0">
                          <a:solidFill>
                            <a:srgbClr val="000000"/>
                          </a:solidFill>
                          <a:latin typeface="メイリオ" panose="020B0604030504040204" pitchFamily="50" charset="-128"/>
                          <a:ea typeface="メイリオ" panose="020B0604030504040204" pitchFamily="50" charset="-128"/>
                          <a:cs typeface="Calibri" pitchFamily="34" charset="-120"/>
                        </a:rPr>
                        <a:t>転職成功後も「次の転職」「友人紹介」の可能性</a:t>
                      </a:r>
                      <a:endParaRPr lang="en-US" sz="9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tcPr>
                </a:tc>
                <a:tc>
                  <a:txBody>
                    <a:bodyPr/>
                    <a:lstStyle/>
                    <a:p>
                      <a:pPr marL="0" indent="0">
                        <a:buNone/>
                      </a:pP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転職成功者向け限定コミュニティ招待</a:t>
                      </a:r>
                      <a:endParaRPr lang="en-US" sz="900" dirty="0">
                        <a:solidFill>
                          <a:srgbClr val="000000"/>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900" dirty="0" err="1">
                          <a:solidFill>
                            <a:srgbClr val="000000"/>
                          </a:solidFill>
                          <a:latin typeface="メイリオ" panose="020B0604030504040204" pitchFamily="50" charset="-128"/>
                          <a:ea typeface="メイリオ" panose="020B0604030504040204" pitchFamily="50" charset="-128"/>
                          <a:cs typeface="Calibri" pitchFamily="34" charset="-120"/>
                        </a:rPr>
                        <a:t>友人紹介キャンペーン（Amazonギフト等</a:t>
                      </a:r>
                      <a:r>
                        <a:rPr lang="en-US" sz="900" dirty="0">
                          <a:solidFill>
                            <a:srgbClr val="000000"/>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cs typeface="Calibri" charset="0"/>
                      </a:endParaRPr>
                    </a:p>
                  </a:txBody>
                  <a:tcPr>
                    <a:lnL w="6350" cap="flat" cmpd="sng" algn="ctr">
                      <a:solidFill>
                        <a:srgbClr val="D1D9F0"/>
                      </a:solidFill>
                      <a:prstDash val="solid"/>
                      <a:round/>
                      <a:headEnd type="none" w="med" len="med"/>
                      <a:tailEnd type="none" w="med" len="med"/>
                    </a:lnL>
                    <a:lnR w="6350" cap="flat" cmpd="sng" algn="ctr">
                      <a:solidFill>
                        <a:srgbClr val="D1D9F0"/>
                      </a:solidFill>
                      <a:prstDash val="solid"/>
                      <a:round/>
                      <a:headEnd type="none" w="med" len="med"/>
                      <a:tailEnd type="none" w="med" len="med"/>
                    </a:lnR>
                    <a:lnT w="6350" cap="flat" cmpd="sng" algn="ctr">
                      <a:solidFill>
                        <a:srgbClr val="D1D9F0"/>
                      </a:solidFill>
                      <a:prstDash val="solid"/>
                      <a:round/>
                      <a:headEnd type="none" w="med" len="med"/>
                      <a:tailEnd type="none" w="med" len="med"/>
                    </a:lnT>
                    <a:lnB w="6350" cap="flat" cmpd="sng" algn="ctr">
                      <a:solidFill>
                        <a:srgbClr val="D1D9F0"/>
                      </a:solidFill>
                      <a:prstDash val="solid"/>
                      <a:round/>
                      <a:headEnd type="none" w="med" len="med"/>
                      <a:tailEnd type="none" w="med" len="med"/>
                    </a:lnB>
                  </a:tcPr>
                </a:tc>
                <a:extLst>
                  <a:ext uri="{0D108BD9-81ED-4DB2-BD59-A6C34878D82A}">
                    <a16:rowId xmlns:a16="http://schemas.microsoft.com/office/drawing/2014/main" val="1366811623"/>
                  </a:ext>
                </a:extLst>
              </a:tr>
            </a:tbl>
          </a:graphicData>
        </a:graphic>
      </p:graphicFrame>
    </p:spTree>
    <p:extLst>
      <p:ext uri="{BB962C8B-B14F-4D97-AF65-F5344CB8AC3E}">
        <p14:creationId xmlns:p14="http://schemas.microsoft.com/office/powerpoint/2010/main" val="27198884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endParaRPr lang="en-US" altLang="ja-JP" sz="1600" b="1" dirty="0">
              <a:latin typeface="メイリオ" panose="020B0604030504040204" pitchFamily="50" charset="-128"/>
              <a:ea typeface="メイリオ" panose="020B0604030504040204" pitchFamily="50" charset="-128"/>
              <a:cs typeface="Meiryo"/>
              <a:sym typeface="Meiryo"/>
            </a:endParaRP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F2ACC73-0643-27D8-F1B3-1B871FCEF141}"/>
              </a:ext>
            </a:extLst>
          </p:cNvPr>
          <p:cNvCxnSpPr>
            <a:cxnSpLocks/>
          </p:cNvCxnSpPr>
          <p:nvPr/>
        </p:nvCxnSpPr>
        <p:spPr>
          <a:xfrm>
            <a:off x="334303" y="3515795"/>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69C05BA8-18F6-F344-3C54-A5E03AFE2368}"/>
              </a:ext>
            </a:extLst>
          </p:cNvPr>
          <p:cNvCxnSpPr>
            <a:cxnSpLocks/>
          </p:cNvCxnSpPr>
          <p:nvPr/>
        </p:nvCxnSpPr>
        <p:spPr>
          <a:xfrm>
            <a:off x="3122098" y="4928015"/>
            <a:ext cx="6619128"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E77786FC-857A-BA29-36E6-9A41C2E99F31}"/>
              </a:ext>
            </a:extLst>
          </p:cNvPr>
          <p:cNvSpPr txBox="1"/>
          <p:nvPr/>
        </p:nvSpPr>
        <p:spPr>
          <a:xfrm>
            <a:off x="1268358" y="3383509"/>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6" name="テキスト ボックス 25">
            <a:extLst>
              <a:ext uri="{FF2B5EF4-FFF2-40B4-BE49-F238E27FC236}">
                <a16:creationId xmlns:a16="http://schemas.microsoft.com/office/drawing/2014/main" id="{5B6D9466-EC9E-4057-AB18-8974D147F3E8}"/>
              </a:ext>
            </a:extLst>
          </p:cNvPr>
          <p:cNvSpPr txBox="1"/>
          <p:nvPr/>
        </p:nvSpPr>
        <p:spPr>
          <a:xfrm>
            <a:off x="5558554" y="4804166"/>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27" name="直線矢印コネクタ 26">
            <a:extLst>
              <a:ext uri="{FF2B5EF4-FFF2-40B4-BE49-F238E27FC236}">
                <a16:creationId xmlns:a16="http://schemas.microsoft.com/office/drawing/2014/main" id="{C2DCC080-98CE-945F-96A2-C42DE7E0C936}"/>
              </a:ext>
            </a:extLst>
          </p:cNvPr>
          <p:cNvCxnSpPr>
            <a:cxnSpLocks/>
          </p:cNvCxnSpPr>
          <p:nvPr/>
        </p:nvCxnSpPr>
        <p:spPr>
          <a:xfrm>
            <a:off x="3609975" y="3504789"/>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EA293A6D-CB27-A495-B2B6-10D3182B0B70}"/>
              </a:ext>
            </a:extLst>
          </p:cNvPr>
          <p:cNvSpPr txBox="1"/>
          <p:nvPr/>
        </p:nvSpPr>
        <p:spPr>
          <a:xfrm>
            <a:off x="3908480" y="3397243"/>
            <a:ext cx="1913269" cy="234537"/>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オフライン→</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3" name="正方形/長方形 32">
            <a:extLst>
              <a:ext uri="{FF2B5EF4-FFF2-40B4-BE49-F238E27FC236}">
                <a16:creationId xmlns:a16="http://schemas.microsoft.com/office/drawing/2014/main" id="{BF6CFDE9-CDE8-1133-47F9-90F22773AF32}"/>
              </a:ext>
            </a:extLst>
          </p:cNvPr>
          <p:cNvSpPr/>
          <p:nvPr/>
        </p:nvSpPr>
        <p:spPr>
          <a:xfrm>
            <a:off x="315939" y="3613966"/>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WEB</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a:t>
            </a:r>
          </a:p>
        </p:txBody>
      </p:sp>
      <p:sp>
        <p:nvSpPr>
          <p:cNvPr id="34" name="正方形/長方形 33">
            <a:extLst>
              <a:ext uri="{FF2B5EF4-FFF2-40B4-BE49-F238E27FC236}">
                <a16:creationId xmlns:a16="http://schemas.microsoft.com/office/drawing/2014/main" id="{39DCB4B6-9411-CC10-0D34-9F40EC11AD82}"/>
              </a:ext>
            </a:extLst>
          </p:cNvPr>
          <p:cNvSpPr/>
          <p:nvPr/>
        </p:nvSpPr>
        <p:spPr>
          <a:xfrm>
            <a:off x="3122098" y="505122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→反響）</a:t>
            </a:r>
          </a:p>
        </p:txBody>
      </p:sp>
      <p:cxnSp>
        <p:nvCxnSpPr>
          <p:cNvPr id="35" name="直線矢印コネクタ 34">
            <a:extLst>
              <a:ext uri="{FF2B5EF4-FFF2-40B4-BE49-F238E27FC236}">
                <a16:creationId xmlns:a16="http://schemas.microsoft.com/office/drawing/2014/main" id="{B94F8848-87A6-4A24-C2DE-D4A5BD2787D7}"/>
              </a:ext>
            </a:extLst>
          </p:cNvPr>
          <p:cNvCxnSpPr>
            <a:cxnSpLocks/>
          </p:cNvCxnSpPr>
          <p:nvPr/>
        </p:nvCxnSpPr>
        <p:spPr>
          <a:xfrm>
            <a:off x="484665" y="396479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13A35DD7-3CE1-ABA2-45A4-29A5F6D013E2}"/>
              </a:ext>
            </a:extLst>
          </p:cNvPr>
          <p:cNvSpPr txBox="1"/>
          <p:nvPr/>
        </p:nvSpPr>
        <p:spPr>
          <a:xfrm>
            <a:off x="853704" y="3860734"/>
            <a:ext cx="822746"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cs typeface="Meiryo"/>
                <a:sym typeface="Meiryo"/>
              </a:rPr>
              <a:t>CPF</a:t>
            </a:r>
            <a:r>
              <a:rPr lang="ja-JP" altLang="en-US" sz="1000" b="1" dirty="0">
                <a:latin typeface="メイリオ" panose="020B0604030504040204" pitchFamily="50" charset="-128"/>
                <a:ea typeface="メイリオ" panose="020B0604030504040204" pitchFamily="50" charset="-128"/>
                <a:cs typeface="Meiryo"/>
                <a:sym typeface="Meiryo"/>
              </a:rPr>
              <a:t>広告</a:t>
            </a:r>
            <a:endParaRPr lang="ja-JP" altLang="en-US" sz="1000" b="1" dirty="0"/>
          </a:p>
        </p:txBody>
      </p:sp>
      <p:cxnSp>
        <p:nvCxnSpPr>
          <p:cNvPr id="37" name="直線矢印コネクタ 36">
            <a:extLst>
              <a:ext uri="{FF2B5EF4-FFF2-40B4-BE49-F238E27FC236}">
                <a16:creationId xmlns:a16="http://schemas.microsoft.com/office/drawing/2014/main" id="{4DD36FC2-6468-F5B5-EFB8-BBFB2CF7F452}"/>
              </a:ext>
            </a:extLst>
          </p:cNvPr>
          <p:cNvCxnSpPr>
            <a:cxnSpLocks/>
          </p:cNvCxnSpPr>
          <p:nvPr/>
        </p:nvCxnSpPr>
        <p:spPr>
          <a:xfrm>
            <a:off x="3442595" y="43324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52205788-B1CC-5FF9-ED78-B6DD32267E17}"/>
              </a:ext>
            </a:extLst>
          </p:cNvPr>
          <p:cNvSpPr txBox="1"/>
          <p:nvPr/>
        </p:nvSpPr>
        <p:spPr>
          <a:xfrm>
            <a:off x="3811634" y="41986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39" name="直線矢印コネクタ 38">
            <a:extLst>
              <a:ext uri="{FF2B5EF4-FFF2-40B4-BE49-F238E27FC236}">
                <a16:creationId xmlns:a16="http://schemas.microsoft.com/office/drawing/2014/main" id="{923E43E2-8157-8C38-4A7C-C186793E6650}"/>
              </a:ext>
            </a:extLst>
          </p:cNvPr>
          <p:cNvCxnSpPr>
            <a:cxnSpLocks/>
          </p:cNvCxnSpPr>
          <p:nvPr/>
        </p:nvCxnSpPr>
        <p:spPr>
          <a:xfrm>
            <a:off x="3442595" y="458569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9B46B511-7630-9D21-552D-BAD1DCEC8387}"/>
              </a:ext>
            </a:extLst>
          </p:cNvPr>
          <p:cNvSpPr txBox="1"/>
          <p:nvPr/>
        </p:nvSpPr>
        <p:spPr>
          <a:xfrm>
            <a:off x="3811634" y="4451915"/>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41" name="直線矢印コネクタ 40">
            <a:extLst>
              <a:ext uri="{FF2B5EF4-FFF2-40B4-BE49-F238E27FC236}">
                <a16:creationId xmlns:a16="http://schemas.microsoft.com/office/drawing/2014/main" id="{64D8562C-014D-DFB4-2D01-7479448659D1}"/>
              </a:ext>
            </a:extLst>
          </p:cNvPr>
          <p:cNvCxnSpPr>
            <a:cxnSpLocks/>
          </p:cNvCxnSpPr>
          <p:nvPr/>
        </p:nvCxnSpPr>
        <p:spPr>
          <a:xfrm>
            <a:off x="1351697" y="415316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540E1D19-5457-9319-2789-430F63EC5A42}"/>
              </a:ext>
            </a:extLst>
          </p:cNvPr>
          <p:cNvSpPr txBox="1"/>
          <p:nvPr/>
        </p:nvSpPr>
        <p:spPr>
          <a:xfrm>
            <a:off x="1720736" y="4019384"/>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3" name="直線矢印コネクタ 42">
            <a:extLst>
              <a:ext uri="{FF2B5EF4-FFF2-40B4-BE49-F238E27FC236}">
                <a16:creationId xmlns:a16="http://schemas.microsoft.com/office/drawing/2014/main" id="{490155E9-25FB-3090-382A-CA0B7F87F965}"/>
              </a:ext>
            </a:extLst>
          </p:cNvPr>
          <p:cNvCxnSpPr>
            <a:cxnSpLocks/>
          </p:cNvCxnSpPr>
          <p:nvPr/>
        </p:nvCxnSpPr>
        <p:spPr>
          <a:xfrm>
            <a:off x="1351697" y="438431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a16:creationId xmlns:a16="http://schemas.microsoft.com/office/drawing/2014/main" id="{08D35021-E114-E4DF-FF22-BF7BE0CDF4D8}"/>
              </a:ext>
            </a:extLst>
          </p:cNvPr>
          <p:cNvSpPr txBox="1"/>
          <p:nvPr/>
        </p:nvSpPr>
        <p:spPr>
          <a:xfrm>
            <a:off x="1720736" y="4250529"/>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サイト動線の整備</a:t>
            </a:r>
          </a:p>
        </p:txBody>
      </p:sp>
      <p:cxnSp>
        <p:nvCxnSpPr>
          <p:cNvPr id="45" name="直線矢印コネクタ 44">
            <a:extLst>
              <a:ext uri="{FF2B5EF4-FFF2-40B4-BE49-F238E27FC236}">
                <a16:creationId xmlns:a16="http://schemas.microsoft.com/office/drawing/2014/main" id="{6840C346-E790-A413-26C5-79129D6F5FB7}"/>
              </a:ext>
            </a:extLst>
          </p:cNvPr>
          <p:cNvCxnSpPr>
            <a:cxnSpLocks/>
          </p:cNvCxnSpPr>
          <p:nvPr/>
        </p:nvCxnSpPr>
        <p:spPr>
          <a:xfrm>
            <a:off x="3900757" y="402215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715CC99E-9A08-159E-0120-31020FC33D0F}"/>
              </a:ext>
            </a:extLst>
          </p:cNvPr>
          <p:cNvSpPr txBox="1"/>
          <p:nvPr/>
        </p:nvSpPr>
        <p:spPr>
          <a:xfrm>
            <a:off x="4269796" y="388836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cxnSp>
        <p:nvCxnSpPr>
          <p:cNvPr id="47" name="直線矢印コネクタ 46">
            <a:extLst>
              <a:ext uri="{FF2B5EF4-FFF2-40B4-BE49-F238E27FC236}">
                <a16:creationId xmlns:a16="http://schemas.microsoft.com/office/drawing/2014/main" id="{C26FDFF8-ECDB-0D20-5A53-4F74EF6D93F8}"/>
              </a:ext>
            </a:extLst>
          </p:cNvPr>
          <p:cNvCxnSpPr>
            <a:cxnSpLocks/>
          </p:cNvCxnSpPr>
          <p:nvPr/>
        </p:nvCxnSpPr>
        <p:spPr>
          <a:xfrm>
            <a:off x="5494489" y="432853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テキスト ボックス 47">
            <a:extLst>
              <a:ext uri="{FF2B5EF4-FFF2-40B4-BE49-F238E27FC236}">
                <a16:creationId xmlns:a16="http://schemas.microsoft.com/office/drawing/2014/main" id="{03517788-8A00-3CE9-B8A0-DC9904CB9E29}"/>
              </a:ext>
            </a:extLst>
          </p:cNvPr>
          <p:cNvSpPr txBox="1"/>
          <p:nvPr/>
        </p:nvSpPr>
        <p:spPr>
          <a:xfrm>
            <a:off x="5863528" y="419474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9" name="直線矢印コネクタ 48">
            <a:extLst>
              <a:ext uri="{FF2B5EF4-FFF2-40B4-BE49-F238E27FC236}">
                <a16:creationId xmlns:a16="http://schemas.microsoft.com/office/drawing/2014/main" id="{8A08B47D-236B-D58F-E880-0E520352BC81}"/>
              </a:ext>
            </a:extLst>
          </p:cNvPr>
          <p:cNvCxnSpPr>
            <a:cxnSpLocks/>
          </p:cNvCxnSpPr>
          <p:nvPr/>
        </p:nvCxnSpPr>
        <p:spPr>
          <a:xfrm>
            <a:off x="5494489" y="45913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8376E216-AB77-BC34-74BE-9C14746155C3}"/>
              </a:ext>
            </a:extLst>
          </p:cNvPr>
          <p:cNvSpPr txBox="1"/>
          <p:nvPr/>
        </p:nvSpPr>
        <p:spPr>
          <a:xfrm>
            <a:off x="5863528" y="44575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51" name="直線矢印コネクタ 50">
            <a:extLst>
              <a:ext uri="{FF2B5EF4-FFF2-40B4-BE49-F238E27FC236}">
                <a16:creationId xmlns:a16="http://schemas.microsoft.com/office/drawing/2014/main" id="{D6F7AD1E-A403-6C2E-4207-BA25C2D7BCC6}"/>
              </a:ext>
            </a:extLst>
          </p:cNvPr>
          <p:cNvCxnSpPr>
            <a:cxnSpLocks/>
          </p:cNvCxnSpPr>
          <p:nvPr/>
        </p:nvCxnSpPr>
        <p:spPr>
          <a:xfrm>
            <a:off x="751071" y="4630661"/>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D798DBD-5393-6131-8034-EC789105D05B}"/>
              </a:ext>
            </a:extLst>
          </p:cNvPr>
          <p:cNvSpPr txBox="1"/>
          <p:nvPr/>
        </p:nvSpPr>
        <p:spPr>
          <a:xfrm>
            <a:off x="983946" y="4526600"/>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53" name="直線矢印コネクタ 52">
            <a:extLst>
              <a:ext uri="{FF2B5EF4-FFF2-40B4-BE49-F238E27FC236}">
                <a16:creationId xmlns:a16="http://schemas.microsoft.com/office/drawing/2014/main" id="{527AED14-C910-4D3E-987F-EA62ABD18D90}"/>
              </a:ext>
            </a:extLst>
          </p:cNvPr>
          <p:cNvCxnSpPr>
            <a:cxnSpLocks/>
          </p:cNvCxnSpPr>
          <p:nvPr/>
        </p:nvCxnSpPr>
        <p:spPr>
          <a:xfrm>
            <a:off x="747965" y="4897406"/>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テキスト ボックス 53">
            <a:extLst>
              <a:ext uri="{FF2B5EF4-FFF2-40B4-BE49-F238E27FC236}">
                <a16:creationId xmlns:a16="http://schemas.microsoft.com/office/drawing/2014/main" id="{9644DD32-D05B-DE83-7791-37895274BDE9}"/>
              </a:ext>
            </a:extLst>
          </p:cNvPr>
          <p:cNvSpPr txBox="1"/>
          <p:nvPr/>
        </p:nvSpPr>
        <p:spPr>
          <a:xfrm>
            <a:off x="969834" y="4806108"/>
            <a:ext cx="1117086" cy="191105"/>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55" name="直線矢印コネクタ 54">
            <a:extLst>
              <a:ext uri="{FF2B5EF4-FFF2-40B4-BE49-F238E27FC236}">
                <a16:creationId xmlns:a16="http://schemas.microsoft.com/office/drawing/2014/main" id="{D3D532EE-6712-DE63-E452-E8BEAA167260}"/>
              </a:ext>
            </a:extLst>
          </p:cNvPr>
          <p:cNvCxnSpPr>
            <a:cxnSpLocks/>
          </p:cNvCxnSpPr>
          <p:nvPr/>
        </p:nvCxnSpPr>
        <p:spPr>
          <a:xfrm>
            <a:off x="7259810" y="444458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テキスト ボックス 55">
            <a:extLst>
              <a:ext uri="{FF2B5EF4-FFF2-40B4-BE49-F238E27FC236}">
                <a16:creationId xmlns:a16="http://schemas.microsoft.com/office/drawing/2014/main" id="{DCDD6E46-B8C3-8536-41F9-F39EB73CBD24}"/>
              </a:ext>
            </a:extLst>
          </p:cNvPr>
          <p:cNvSpPr txBox="1"/>
          <p:nvPr/>
        </p:nvSpPr>
        <p:spPr>
          <a:xfrm>
            <a:off x="7740673" y="4310804"/>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1000" b="1" dirty="0">
              <a:solidFill>
                <a:schemeClr val="tx1">
                  <a:lumMod val="50000"/>
                  <a:lumOff val="50000"/>
                </a:schemeClr>
              </a:solidFill>
            </a:endParaRPr>
          </a:p>
        </p:txBody>
      </p:sp>
      <p:cxnSp>
        <p:nvCxnSpPr>
          <p:cNvPr id="57" name="直線矢印コネクタ 56">
            <a:extLst>
              <a:ext uri="{FF2B5EF4-FFF2-40B4-BE49-F238E27FC236}">
                <a16:creationId xmlns:a16="http://schemas.microsoft.com/office/drawing/2014/main" id="{B9C84515-E6C9-A256-421E-9C3EFEBBFF17}"/>
              </a:ext>
            </a:extLst>
          </p:cNvPr>
          <p:cNvCxnSpPr>
            <a:cxnSpLocks/>
          </p:cNvCxnSpPr>
          <p:nvPr/>
        </p:nvCxnSpPr>
        <p:spPr>
          <a:xfrm>
            <a:off x="7697737" y="549519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7E002B77-EFC0-55F3-D3E6-100837F9B195}"/>
              </a:ext>
            </a:extLst>
          </p:cNvPr>
          <p:cNvSpPr txBox="1"/>
          <p:nvPr/>
        </p:nvSpPr>
        <p:spPr>
          <a:xfrm>
            <a:off x="8178600" y="536140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1000" b="1" dirty="0">
              <a:solidFill>
                <a:schemeClr val="tx1">
                  <a:lumMod val="50000"/>
                  <a:lumOff val="50000"/>
                </a:schemeClr>
              </a:solidFill>
            </a:endParaRPr>
          </a:p>
        </p:txBody>
      </p:sp>
      <p:cxnSp>
        <p:nvCxnSpPr>
          <p:cNvPr id="67" name="直線矢印コネクタ 66">
            <a:extLst>
              <a:ext uri="{FF2B5EF4-FFF2-40B4-BE49-F238E27FC236}">
                <a16:creationId xmlns:a16="http://schemas.microsoft.com/office/drawing/2014/main" id="{03BD82C1-8BEC-3E49-C1DA-A1C214DB1C8C}"/>
              </a:ext>
            </a:extLst>
          </p:cNvPr>
          <p:cNvCxnSpPr>
            <a:cxnSpLocks/>
          </p:cNvCxnSpPr>
          <p:nvPr/>
        </p:nvCxnSpPr>
        <p:spPr>
          <a:xfrm>
            <a:off x="4519454" y="549372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1" name="テキスト ボックス 80">
            <a:extLst>
              <a:ext uri="{FF2B5EF4-FFF2-40B4-BE49-F238E27FC236}">
                <a16:creationId xmlns:a16="http://schemas.microsoft.com/office/drawing/2014/main" id="{919F797F-1B6A-876C-B468-E147B3D97E8A}"/>
              </a:ext>
            </a:extLst>
          </p:cNvPr>
          <p:cNvSpPr txBox="1"/>
          <p:nvPr/>
        </p:nvSpPr>
        <p:spPr>
          <a:xfrm>
            <a:off x="5267281" y="535993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ja-JP" altLang="en-US" sz="1000" b="1" dirty="0"/>
          </a:p>
        </p:txBody>
      </p:sp>
      <p:cxnSp>
        <p:nvCxnSpPr>
          <p:cNvPr id="86" name="直線矢印コネクタ 85">
            <a:extLst>
              <a:ext uri="{FF2B5EF4-FFF2-40B4-BE49-F238E27FC236}">
                <a16:creationId xmlns:a16="http://schemas.microsoft.com/office/drawing/2014/main" id="{C96E67E6-B364-7DED-CDB8-DDCEEFB96AD2}"/>
              </a:ext>
            </a:extLst>
          </p:cNvPr>
          <p:cNvCxnSpPr>
            <a:cxnSpLocks/>
          </p:cNvCxnSpPr>
          <p:nvPr/>
        </p:nvCxnSpPr>
        <p:spPr>
          <a:xfrm>
            <a:off x="4519295" y="576683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91" name="テキスト ボックス 90">
            <a:extLst>
              <a:ext uri="{FF2B5EF4-FFF2-40B4-BE49-F238E27FC236}">
                <a16:creationId xmlns:a16="http://schemas.microsoft.com/office/drawing/2014/main" id="{335DB4AB-DEFA-E356-751F-7106100F929E}"/>
              </a:ext>
            </a:extLst>
          </p:cNvPr>
          <p:cNvSpPr txBox="1"/>
          <p:nvPr/>
        </p:nvSpPr>
        <p:spPr>
          <a:xfrm>
            <a:off x="5267122" y="5633055"/>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企画配信</a:t>
            </a:r>
            <a:endParaRPr lang="ja-JP" altLang="en-US" sz="1000" b="1" dirty="0"/>
          </a:p>
        </p:txBody>
      </p:sp>
      <p:cxnSp>
        <p:nvCxnSpPr>
          <p:cNvPr id="100" name="直線矢印コネクタ 99">
            <a:extLst>
              <a:ext uri="{FF2B5EF4-FFF2-40B4-BE49-F238E27FC236}">
                <a16:creationId xmlns:a16="http://schemas.microsoft.com/office/drawing/2014/main" id="{7884810E-3E89-4CCB-C00C-B386A34717E4}"/>
              </a:ext>
            </a:extLst>
          </p:cNvPr>
          <p:cNvCxnSpPr>
            <a:cxnSpLocks/>
          </p:cNvCxnSpPr>
          <p:nvPr/>
        </p:nvCxnSpPr>
        <p:spPr>
          <a:xfrm>
            <a:off x="3798688" y="5981626"/>
            <a:ext cx="2464861"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1" name="テキスト ボックス 100">
            <a:extLst>
              <a:ext uri="{FF2B5EF4-FFF2-40B4-BE49-F238E27FC236}">
                <a16:creationId xmlns:a16="http://schemas.microsoft.com/office/drawing/2014/main" id="{6FD45AC0-2372-776F-6D16-846C0FB7AC64}"/>
              </a:ext>
            </a:extLst>
          </p:cNvPr>
          <p:cNvSpPr txBox="1"/>
          <p:nvPr/>
        </p:nvSpPr>
        <p:spPr>
          <a:xfrm>
            <a:off x="4258152" y="5863519"/>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アンケート回収</a:t>
            </a:r>
            <a:endParaRPr lang="ja-JP" altLang="en-US" sz="1000" b="1" dirty="0"/>
          </a:p>
        </p:txBody>
      </p:sp>
      <p:cxnSp>
        <p:nvCxnSpPr>
          <p:cNvPr id="102" name="直線矢印コネクタ 101">
            <a:extLst>
              <a:ext uri="{FF2B5EF4-FFF2-40B4-BE49-F238E27FC236}">
                <a16:creationId xmlns:a16="http://schemas.microsoft.com/office/drawing/2014/main" id="{5BF3558A-EBED-81EE-B158-28A7CA5D6693}"/>
              </a:ext>
            </a:extLst>
          </p:cNvPr>
          <p:cNvCxnSpPr>
            <a:cxnSpLocks/>
          </p:cNvCxnSpPr>
          <p:nvPr/>
        </p:nvCxnSpPr>
        <p:spPr>
          <a:xfrm>
            <a:off x="3797428" y="6223951"/>
            <a:ext cx="2452867"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0" name="テキスト ボックス 109">
            <a:extLst>
              <a:ext uri="{FF2B5EF4-FFF2-40B4-BE49-F238E27FC236}">
                <a16:creationId xmlns:a16="http://schemas.microsoft.com/office/drawing/2014/main" id="{001266CB-AC56-8914-0ACE-8B554DB19B76}"/>
              </a:ext>
            </a:extLst>
          </p:cNvPr>
          <p:cNvSpPr txBox="1"/>
          <p:nvPr/>
        </p:nvSpPr>
        <p:spPr>
          <a:xfrm>
            <a:off x="4273398" y="613356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スコアリング等</a:t>
            </a:r>
            <a:endParaRPr lang="ja-JP" altLang="en-US" sz="1000" b="1" dirty="0"/>
          </a:p>
        </p:txBody>
      </p:sp>
      <p:cxnSp>
        <p:nvCxnSpPr>
          <p:cNvPr id="111" name="直線矢印コネクタ 110">
            <a:extLst>
              <a:ext uri="{FF2B5EF4-FFF2-40B4-BE49-F238E27FC236}">
                <a16:creationId xmlns:a16="http://schemas.microsoft.com/office/drawing/2014/main" id="{1B403718-ABF2-11BC-1A05-A9E208B7C0F7}"/>
              </a:ext>
            </a:extLst>
          </p:cNvPr>
          <p:cNvCxnSpPr>
            <a:cxnSpLocks/>
          </p:cNvCxnSpPr>
          <p:nvPr/>
        </p:nvCxnSpPr>
        <p:spPr>
          <a:xfrm>
            <a:off x="7118366" y="598554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6" name="テキスト ボックス 115">
            <a:extLst>
              <a:ext uri="{FF2B5EF4-FFF2-40B4-BE49-F238E27FC236}">
                <a16:creationId xmlns:a16="http://schemas.microsoft.com/office/drawing/2014/main" id="{B9061E8E-8F76-24D8-6F4C-BBBCDEB37FE0}"/>
              </a:ext>
            </a:extLst>
          </p:cNvPr>
          <p:cNvSpPr txBox="1"/>
          <p:nvPr/>
        </p:nvSpPr>
        <p:spPr>
          <a:xfrm>
            <a:off x="7397140" y="5871116"/>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1000" b="1" dirty="0">
              <a:solidFill>
                <a:schemeClr val="tx1">
                  <a:lumMod val="50000"/>
                  <a:lumOff val="50000"/>
                </a:schemeClr>
              </a:solidFill>
            </a:endParaRPr>
          </a:p>
        </p:txBody>
      </p:sp>
      <p:cxnSp>
        <p:nvCxnSpPr>
          <p:cNvPr id="117" name="直線矢印コネクタ 116">
            <a:extLst>
              <a:ext uri="{FF2B5EF4-FFF2-40B4-BE49-F238E27FC236}">
                <a16:creationId xmlns:a16="http://schemas.microsoft.com/office/drawing/2014/main" id="{B31EBA12-BB45-627B-A1FD-F44E077537B1}"/>
              </a:ext>
            </a:extLst>
          </p:cNvPr>
          <p:cNvCxnSpPr>
            <a:cxnSpLocks/>
          </p:cNvCxnSpPr>
          <p:nvPr/>
        </p:nvCxnSpPr>
        <p:spPr>
          <a:xfrm>
            <a:off x="7048606" y="62430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8" name="テキスト ボックス 117">
            <a:extLst>
              <a:ext uri="{FF2B5EF4-FFF2-40B4-BE49-F238E27FC236}">
                <a16:creationId xmlns:a16="http://schemas.microsoft.com/office/drawing/2014/main" id="{B0C05E5D-44B4-DA5D-7C04-0BDC8A4602CE}"/>
              </a:ext>
            </a:extLst>
          </p:cNvPr>
          <p:cNvSpPr txBox="1"/>
          <p:nvPr/>
        </p:nvSpPr>
        <p:spPr>
          <a:xfrm>
            <a:off x="7336089" y="6137342"/>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1000" b="1" dirty="0">
              <a:solidFill>
                <a:schemeClr val="tx1">
                  <a:lumMod val="50000"/>
                  <a:lumOff val="50000"/>
                </a:schemeClr>
              </a:solidFill>
            </a:endParaRPr>
          </a:p>
        </p:txBody>
      </p:sp>
      <p:pic>
        <p:nvPicPr>
          <p:cNvPr id="119" name="図 118">
            <a:extLst>
              <a:ext uri="{FF2B5EF4-FFF2-40B4-BE49-F238E27FC236}">
                <a16:creationId xmlns:a16="http://schemas.microsoft.com/office/drawing/2014/main" id="{2F4B65BB-B8AA-5045-2074-C574F9423E61}"/>
              </a:ext>
            </a:extLst>
          </p:cNvPr>
          <p:cNvPicPr>
            <a:picLocks noChangeAspect="1"/>
          </p:cNvPicPr>
          <p:nvPr/>
        </p:nvPicPr>
        <p:blipFill>
          <a:blip r:embed="rId2" cstate="print">
            <a:extLst>
              <a:ext uri="{28A0092B-C50C-407E-A947-70E740481C1C}">
                <a14:useLocalDpi xmlns:a14="http://schemas.microsoft.com/office/drawing/2010/main" val="0"/>
              </a:ext>
            </a:extLst>
          </a:blip>
          <a:srcRect t="4981" b="4075"/>
          <a:stretch>
            <a:fillRect/>
          </a:stretch>
        </p:blipFill>
        <p:spPr>
          <a:xfrm>
            <a:off x="3005614" y="5048188"/>
            <a:ext cx="703970" cy="1385346"/>
          </a:xfrm>
          <a:prstGeom prst="rect">
            <a:avLst/>
          </a:prstGeom>
        </p:spPr>
      </p:pic>
      <p:sp>
        <p:nvSpPr>
          <p:cNvPr id="66" name="正方形/長方形 65">
            <a:extLst>
              <a:ext uri="{FF2B5EF4-FFF2-40B4-BE49-F238E27FC236}">
                <a16:creationId xmlns:a16="http://schemas.microsoft.com/office/drawing/2014/main" id="{D22C9FBF-7B93-079A-E87E-A4C967CD0194}"/>
              </a:ext>
            </a:extLst>
          </p:cNvPr>
          <p:cNvSpPr/>
          <p:nvPr/>
        </p:nvSpPr>
        <p:spPr>
          <a:xfrm>
            <a:off x="3908480" y="533637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89B35388-9C44-6C01-ACAA-2E691617E119}"/>
              </a:ext>
            </a:extLst>
          </p:cNvPr>
          <p:cNvSpPr txBox="1"/>
          <p:nvPr/>
        </p:nvSpPr>
        <p:spPr>
          <a:xfrm>
            <a:off x="5723341" y="630303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6762304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施策における重要ポイントについて</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8313163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9709585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5110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8898-91A3-9BC1-3966-7771C36E7509}"/>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2ECE7535-75B5-FD71-5DE8-AB1B855FFED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公式アカウントにおける対策領域について</a:t>
            </a:r>
          </a:p>
        </p:txBody>
      </p:sp>
      <p:sp>
        <p:nvSpPr>
          <p:cNvPr id="4" name="正方形/長方形 3">
            <a:extLst>
              <a:ext uri="{FF2B5EF4-FFF2-40B4-BE49-F238E27FC236}">
                <a16:creationId xmlns:a16="http://schemas.microsoft.com/office/drawing/2014/main" id="{91D529F5-1969-8F22-8508-5967D82F7783}"/>
              </a:ext>
            </a:extLst>
          </p:cNvPr>
          <p:cNvSpPr/>
          <p:nvPr/>
        </p:nvSpPr>
        <p:spPr>
          <a:xfrm>
            <a:off x="379908" y="1835393"/>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379908" y="4397170"/>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C7E38EC2-DE76-A5FE-A6B8-3B48F7BD7B46}"/>
              </a:ext>
            </a:extLst>
          </p:cNvPr>
          <p:cNvSpPr txBox="1"/>
          <p:nvPr/>
        </p:nvSpPr>
        <p:spPr>
          <a:xfrm>
            <a:off x="379908" y="1527022"/>
            <a:ext cx="4963884" cy="307777"/>
          </a:xfrm>
          <a:prstGeom prst="rect">
            <a:avLst/>
          </a:prstGeom>
          <a:noFill/>
        </p:spPr>
        <p:txBody>
          <a:bodyPr wrap="square">
            <a:spAutoFit/>
          </a:body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テキスト ボックス 8">
            <a:extLst>
              <a:ext uri="{FF2B5EF4-FFF2-40B4-BE49-F238E27FC236}">
                <a16:creationId xmlns:a16="http://schemas.microsoft.com/office/drawing/2014/main" id="{315E4FD7-BF96-305B-4DFF-0204D305BAAE}"/>
              </a:ext>
            </a:extLst>
          </p:cNvPr>
          <p:cNvSpPr txBox="1"/>
          <p:nvPr/>
        </p:nvSpPr>
        <p:spPr>
          <a:xfrm>
            <a:off x="379908" y="4089393"/>
            <a:ext cx="4963884" cy="307777"/>
          </a:xfrm>
          <a:prstGeom prst="rect">
            <a:avLst/>
          </a:prstGeom>
          <a:noFill/>
        </p:spPr>
        <p:txBody>
          <a:bodyPr wrap="square">
            <a:spAutoFit/>
          </a:body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12" name="正方形/長方形 11">
            <a:extLst>
              <a:ext uri="{FF2B5EF4-FFF2-40B4-BE49-F238E27FC236}">
                <a16:creationId xmlns:a16="http://schemas.microsoft.com/office/drawing/2014/main" id="{72450FBF-2EA8-4582-869E-9B2A7C4946D7}"/>
              </a:ext>
            </a:extLst>
          </p:cNvPr>
          <p:cNvSpPr/>
          <p:nvPr/>
        </p:nvSpPr>
        <p:spPr>
          <a:xfrm>
            <a:off x="548883" y="2060461"/>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6891C2D7-8AEF-98E4-337B-283DC4374AFC}"/>
              </a:ext>
            </a:extLst>
          </p:cNvPr>
          <p:cNvSpPr/>
          <p:nvPr/>
        </p:nvSpPr>
        <p:spPr>
          <a:xfrm>
            <a:off x="548883" y="2322497"/>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3670DE23-5EB2-C1E6-9ED3-6176C87DDEA9}"/>
              </a:ext>
            </a:extLst>
          </p:cNvPr>
          <p:cNvSpPr/>
          <p:nvPr/>
        </p:nvSpPr>
        <p:spPr>
          <a:xfrm>
            <a:off x="548883" y="2659935"/>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98C708B2-F546-DE85-AA3B-2C7B33013111}"/>
              </a:ext>
            </a:extLst>
          </p:cNvPr>
          <p:cNvSpPr/>
          <p:nvPr/>
        </p:nvSpPr>
        <p:spPr>
          <a:xfrm>
            <a:off x="548883" y="2997373"/>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7" name="正方形/長方形 16">
            <a:extLst>
              <a:ext uri="{FF2B5EF4-FFF2-40B4-BE49-F238E27FC236}">
                <a16:creationId xmlns:a16="http://schemas.microsoft.com/office/drawing/2014/main" id="{812C768D-D601-2E13-45FD-BFE5BA587BC6}"/>
              </a:ext>
            </a:extLst>
          </p:cNvPr>
          <p:cNvSpPr/>
          <p:nvPr/>
        </p:nvSpPr>
        <p:spPr>
          <a:xfrm>
            <a:off x="548883" y="3672249"/>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8" name="正方形/長方形 17">
            <a:extLst>
              <a:ext uri="{FF2B5EF4-FFF2-40B4-BE49-F238E27FC236}">
                <a16:creationId xmlns:a16="http://schemas.microsoft.com/office/drawing/2014/main" id="{13127993-BF51-568A-20FB-A9FB1DB6C913}"/>
              </a:ext>
            </a:extLst>
          </p:cNvPr>
          <p:cNvSpPr/>
          <p:nvPr/>
        </p:nvSpPr>
        <p:spPr>
          <a:xfrm>
            <a:off x="8170812" y="2408570"/>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2E81D74A-E79F-C90A-80AF-4F6BDF853777}"/>
              </a:ext>
            </a:extLst>
          </p:cNvPr>
          <p:cNvSpPr/>
          <p:nvPr/>
        </p:nvSpPr>
        <p:spPr>
          <a:xfrm>
            <a:off x="548883" y="3334811"/>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45" name="正方形/長方形 44">
            <a:extLst>
              <a:ext uri="{FF2B5EF4-FFF2-40B4-BE49-F238E27FC236}">
                <a16:creationId xmlns:a16="http://schemas.microsoft.com/office/drawing/2014/main" id="{346217DB-3E59-DD17-6353-BB21863AB6A4}"/>
              </a:ext>
            </a:extLst>
          </p:cNvPr>
          <p:cNvSpPr/>
          <p:nvPr/>
        </p:nvSpPr>
        <p:spPr>
          <a:xfrm>
            <a:off x="1950234" y="2999032"/>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47" name="正方形/長方形 46">
            <a:extLst>
              <a:ext uri="{FF2B5EF4-FFF2-40B4-BE49-F238E27FC236}">
                <a16:creationId xmlns:a16="http://schemas.microsoft.com/office/drawing/2014/main" id="{85B73343-1515-8075-50D7-828D2C7D0482}"/>
              </a:ext>
            </a:extLst>
          </p:cNvPr>
          <p:cNvSpPr/>
          <p:nvPr/>
        </p:nvSpPr>
        <p:spPr>
          <a:xfrm>
            <a:off x="1939622" y="2149679"/>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2" name="コネクタ: カギ線 51">
            <a:extLst>
              <a:ext uri="{FF2B5EF4-FFF2-40B4-BE49-F238E27FC236}">
                <a16:creationId xmlns:a16="http://schemas.microsoft.com/office/drawing/2014/main" id="{10A164B9-404C-F131-0FB7-4A7EC00628C8}"/>
              </a:ext>
            </a:extLst>
          </p:cNvPr>
          <p:cNvCxnSpPr>
            <a:cxnSpLocks/>
            <a:stCxn id="14" idx="3"/>
          </p:cNvCxnSpPr>
          <p:nvPr/>
        </p:nvCxnSpPr>
        <p:spPr>
          <a:xfrm flipV="1">
            <a:off x="1904163" y="2540793"/>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0" name="正方形/長方形 79">
            <a:extLst>
              <a:ext uri="{FF2B5EF4-FFF2-40B4-BE49-F238E27FC236}">
                <a16:creationId xmlns:a16="http://schemas.microsoft.com/office/drawing/2014/main" id="{AB39E10C-FA5C-42F3-51FF-A98C96D3A9FE}"/>
              </a:ext>
            </a:extLst>
          </p:cNvPr>
          <p:cNvSpPr/>
          <p:nvPr/>
        </p:nvSpPr>
        <p:spPr>
          <a:xfrm>
            <a:off x="8170812" y="2124073"/>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130" name="正方形/長方形 129">
            <a:extLst>
              <a:ext uri="{FF2B5EF4-FFF2-40B4-BE49-F238E27FC236}">
                <a16:creationId xmlns:a16="http://schemas.microsoft.com/office/drawing/2014/main" id="{68999E51-25BF-ABC0-E768-EB439414D6AA}"/>
              </a:ext>
            </a:extLst>
          </p:cNvPr>
          <p:cNvSpPr/>
          <p:nvPr/>
        </p:nvSpPr>
        <p:spPr>
          <a:xfrm>
            <a:off x="486784" y="713253"/>
            <a:ext cx="9005456" cy="6532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離脱リード→新規で引上げ、顧客リード→効率化及びリピート化 等、</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公式アカウントで対策できるポイントが非常に多く、課題に応じた施策展開が可能。</a:t>
            </a:r>
            <a:endParaRPr lang="ja-JP" altLang="en-US" sz="1400" dirty="0">
              <a:solidFill>
                <a:srgbClr val="FF0000"/>
              </a:solidFill>
              <a:latin typeface="メイリオ" panose="020B0604030504040204" pitchFamily="50" charset="-128"/>
              <a:ea typeface="メイリオ" panose="020B0604030504040204" pitchFamily="50" charset="-128"/>
            </a:endParaRPr>
          </a:p>
        </p:txBody>
      </p:sp>
      <p:sp>
        <p:nvSpPr>
          <p:cNvPr id="133" name="正方形/長方形 132">
            <a:extLst>
              <a:ext uri="{FF2B5EF4-FFF2-40B4-BE49-F238E27FC236}">
                <a16:creationId xmlns:a16="http://schemas.microsoft.com/office/drawing/2014/main" id="{EF3EB03D-B886-80C5-4DDF-AD318BB1E8CB}"/>
              </a:ext>
            </a:extLst>
          </p:cNvPr>
          <p:cNvSpPr/>
          <p:nvPr/>
        </p:nvSpPr>
        <p:spPr>
          <a:xfrm>
            <a:off x="6444618" y="4938641"/>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134" name="正方形/長方形 133">
            <a:extLst>
              <a:ext uri="{FF2B5EF4-FFF2-40B4-BE49-F238E27FC236}">
                <a16:creationId xmlns:a16="http://schemas.microsoft.com/office/drawing/2014/main" id="{8185B158-D6FD-FC9A-D842-E0184FC04A2F}"/>
              </a:ext>
            </a:extLst>
          </p:cNvPr>
          <p:cNvSpPr/>
          <p:nvPr/>
        </p:nvSpPr>
        <p:spPr>
          <a:xfrm>
            <a:off x="6444618" y="5207075"/>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35" name="正方形/長方形 134">
            <a:extLst>
              <a:ext uri="{FF2B5EF4-FFF2-40B4-BE49-F238E27FC236}">
                <a16:creationId xmlns:a16="http://schemas.microsoft.com/office/drawing/2014/main" id="{CAF16DCF-7CE0-97CD-A1FD-09B08149FF7B}"/>
              </a:ext>
            </a:extLst>
          </p:cNvPr>
          <p:cNvSpPr/>
          <p:nvPr/>
        </p:nvSpPr>
        <p:spPr>
          <a:xfrm>
            <a:off x="6444617" y="5743943"/>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136" name="正方形/長方形 135">
            <a:extLst>
              <a:ext uri="{FF2B5EF4-FFF2-40B4-BE49-F238E27FC236}">
                <a16:creationId xmlns:a16="http://schemas.microsoft.com/office/drawing/2014/main" id="{DE164E19-C9CA-ADE8-FE9B-4A4096DD13BE}"/>
              </a:ext>
            </a:extLst>
          </p:cNvPr>
          <p:cNvSpPr/>
          <p:nvPr/>
        </p:nvSpPr>
        <p:spPr>
          <a:xfrm>
            <a:off x="6444617" y="5475509"/>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137" name="正方形/長方形 136">
            <a:extLst>
              <a:ext uri="{FF2B5EF4-FFF2-40B4-BE49-F238E27FC236}">
                <a16:creationId xmlns:a16="http://schemas.microsoft.com/office/drawing/2014/main" id="{FF9A810E-B53B-2631-3BD5-00395512E9C0}"/>
              </a:ext>
            </a:extLst>
          </p:cNvPr>
          <p:cNvSpPr/>
          <p:nvPr/>
        </p:nvSpPr>
        <p:spPr>
          <a:xfrm>
            <a:off x="6444617" y="6012377"/>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145" name="正方形/長方形 144">
            <a:extLst>
              <a:ext uri="{FF2B5EF4-FFF2-40B4-BE49-F238E27FC236}">
                <a16:creationId xmlns:a16="http://schemas.microsoft.com/office/drawing/2014/main" id="{1DF80BB2-F1C3-A39C-D441-B75E4795CC5B}"/>
              </a:ext>
            </a:extLst>
          </p:cNvPr>
          <p:cNvSpPr/>
          <p:nvPr/>
        </p:nvSpPr>
        <p:spPr>
          <a:xfrm>
            <a:off x="6444617" y="4746848"/>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49" name="正方形/長方形 48">
            <a:extLst>
              <a:ext uri="{FF2B5EF4-FFF2-40B4-BE49-F238E27FC236}">
                <a16:creationId xmlns:a16="http://schemas.microsoft.com/office/drawing/2014/main" id="{CABD8985-CFB7-BFB4-C5CA-334F6DD3C337}"/>
              </a:ext>
            </a:extLst>
          </p:cNvPr>
          <p:cNvSpPr/>
          <p:nvPr/>
        </p:nvSpPr>
        <p:spPr>
          <a:xfrm>
            <a:off x="3634802" y="1986633"/>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0" name="正方形/長方形 49">
            <a:extLst>
              <a:ext uri="{FF2B5EF4-FFF2-40B4-BE49-F238E27FC236}">
                <a16:creationId xmlns:a16="http://schemas.microsoft.com/office/drawing/2014/main" id="{498D1E1C-883A-4348-5898-29B2849E59E6}"/>
              </a:ext>
            </a:extLst>
          </p:cNvPr>
          <p:cNvSpPr/>
          <p:nvPr/>
        </p:nvSpPr>
        <p:spPr>
          <a:xfrm>
            <a:off x="3802223" y="2418821"/>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51" name="コネクタ: カギ線 50">
            <a:extLst>
              <a:ext uri="{FF2B5EF4-FFF2-40B4-BE49-F238E27FC236}">
                <a16:creationId xmlns:a16="http://schemas.microsoft.com/office/drawing/2014/main" id="{2981AEA5-C263-1A76-AF6F-7D4F94F3AC3F}"/>
              </a:ext>
            </a:extLst>
          </p:cNvPr>
          <p:cNvCxnSpPr>
            <a:cxnSpLocks/>
          </p:cNvCxnSpPr>
          <p:nvPr/>
        </p:nvCxnSpPr>
        <p:spPr>
          <a:xfrm flipV="1">
            <a:off x="3492137" y="2540793"/>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3" name="コネクタ: カギ線 52">
            <a:extLst>
              <a:ext uri="{FF2B5EF4-FFF2-40B4-BE49-F238E27FC236}">
                <a16:creationId xmlns:a16="http://schemas.microsoft.com/office/drawing/2014/main" id="{6898DA80-B20A-0E45-B382-62A8490927C1}"/>
              </a:ext>
            </a:extLst>
          </p:cNvPr>
          <p:cNvCxnSpPr>
            <a:cxnSpLocks/>
          </p:cNvCxnSpPr>
          <p:nvPr/>
        </p:nvCxnSpPr>
        <p:spPr>
          <a:xfrm flipV="1">
            <a:off x="3483428" y="2540793"/>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4194983F-AFC0-FB2F-1207-1AF108AFDA19}"/>
              </a:ext>
            </a:extLst>
          </p:cNvPr>
          <p:cNvCxnSpPr>
            <a:cxnSpLocks/>
          </p:cNvCxnSpPr>
          <p:nvPr/>
        </p:nvCxnSpPr>
        <p:spPr>
          <a:xfrm>
            <a:off x="3483428" y="2297265"/>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20DB094-045E-2E0D-7026-B0BFFA8F2374}"/>
              </a:ext>
            </a:extLst>
          </p:cNvPr>
          <p:cNvSpPr/>
          <p:nvPr/>
        </p:nvSpPr>
        <p:spPr>
          <a:xfrm>
            <a:off x="5319694" y="2122076"/>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56" name="正方形/長方形 55">
            <a:extLst>
              <a:ext uri="{FF2B5EF4-FFF2-40B4-BE49-F238E27FC236}">
                <a16:creationId xmlns:a16="http://schemas.microsoft.com/office/drawing/2014/main" id="{960DE889-CA21-9C03-FD30-9F8BA1C11BE0}"/>
              </a:ext>
            </a:extLst>
          </p:cNvPr>
          <p:cNvSpPr/>
          <p:nvPr/>
        </p:nvSpPr>
        <p:spPr>
          <a:xfrm>
            <a:off x="5319694" y="2387671"/>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64" name="正方形/長方形 63">
            <a:extLst>
              <a:ext uri="{FF2B5EF4-FFF2-40B4-BE49-F238E27FC236}">
                <a16:creationId xmlns:a16="http://schemas.microsoft.com/office/drawing/2014/main" id="{B0198902-7C67-1321-611C-A528F8B056D6}"/>
              </a:ext>
            </a:extLst>
          </p:cNvPr>
          <p:cNvSpPr/>
          <p:nvPr/>
        </p:nvSpPr>
        <p:spPr>
          <a:xfrm>
            <a:off x="5319694" y="2653266"/>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67" name="正方形/長方形 66">
            <a:extLst>
              <a:ext uri="{FF2B5EF4-FFF2-40B4-BE49-F238E27FC236}">
                <a16:creationId xmlns:a16="http://schemas.microsoft.com/office/drawing/2014/main" id="{EC9DC48F-C12B-8A2A-8E49-C82DF8C2398F}"/>
              </a:ext>
            </a:extLst>
          </p:cNvPr>
          <p:cNvSpPr/>
          <p:nvPr/>
        </p:nvSpPr>
        <p:spPr>
          <a:xfrm>
            <a:off x="3883318" y="2695245"/>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68" name="テキスト ボックス 67">
            <a:extLst>
              <a:ext uri="{FF2B5EF4-FFF2-40B4-BE49-F238E27FC236}">
                <a16:creationId xmlns:a16="http://schemas.microsoft.com/office/drawing/2014/main" id="{7FD4C92A-1BF4-DC29-74E5-5DDCAEC47D74}"/>
              </a:ext>
            </a:extLst>
          </p:cNvPr>
          <p:cNvSpPr txBox="1"/>
          <p:nvPr/>
        </p:nvSpPr>
        <p:spPr>
          <a:xfrm>
            <a:off x="3894226" y="2879422"/>
            <a:ext cx="1274185" cy="954107"/>
          </a:xfrm>
          <a:prstGeom prst="rect">
            <a:avLst/>
          </a:prstGeom>
          <a:noFill/>
        </p:spPr>
        <p:txBody>
          <a:bodyPr wrap="square">
            <a:spAutoFit/>
          </a:body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69" name="正方形/長方形 68">
            <a:extLst>
              <a:ext uri="{FF2B5EF4-FFF2-40B4-BE49-F238E27FC236}">
                <a16:creationId xmlns:a16="http://schemas.microsoft.com/office/drawing/2014/main" id="{3C7CD555-05D0-53EC-B6D5-ED734EBA27DF}"/>
              </a:ext>
            </a:extLst>
          </p:cNvPr>
          <p:cNvSpPr/>
          <p:nvPr/>
        </p:nvSpPr>
        <p:spPr>
          <a:xfrm>
            <a:off x="5326708" y="2918861"/>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74" name="正方形/長方形 73">
            <a:extLst>
              <a:ext uri="{FF2B5EF4-FFF2-40B4-BE49-F238E27FC236}">
                <a16:creationId xmlns:a16="http://schemas.microsoft.com/office/drawing/2014/main" id="{64296BD6-7E19-AF65-3C1F-3AA68F3DB296}"/>
              </a:ext>
            </a:extLst>
          </p:cNvPr>
          <p:cNvSpPr/>
          <p:nvPr/>
        </p:nvSpPr>
        <p:spPr>
          <a:xfrm>
            <a:off x="5326708" y="3450051"/>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75" name="正方形/長方形 74">
            <a:extLst>
              <a:ext uri="{FF2B5EF4-FFF2-40B4-BE49-F238E27FC236}">
                <a16:creationId xmlns:a16="http://schemas.microsoft.com/office/drawing/2014/main" id="{2B391CFB-A763-8F28-0B80-C4699C620787}"/>
              </a:ext>
            </a:extLst>
          </p:cNvPr>
          <p:cNvSpPr/>
          <p:nvPr/>
        </p:nvSpPr>
        <p:spPr>
          <a:xfrm>
            <a:off x="5326708" y="3184456"/>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78BE8892-FE50-BF73-B15E-567C1CFD9A8A}"/>
              </a:ext>
            </a:extLst>
          </p:cNvPr>
          <p:cNvSpPr/>
          <p:nvPr/>
        </p:nvSpPr>
        <p:spPr>
          <a:xfrm>
            <a:off x="6487455" y="2655306"/>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77" name="正方形/長方形 76">
            <a:extLst>
              <a:ext uri="{FF2B5EF4-FFF2-40B4-BE49-F238E27FC236}">
                <a16:creationId xmlns:a16="http://schemas.microsoft.com/office/drawing/2014/main" id="{5FB8C9E8-13C6-54AE-CC6C-E66EB44BEE66}"/>
              </a:ext>
            </a:extLst>
          </p:cNvPr>
          <p:cNvSpPr/>
          <p:nvPr/>
        </p:nvSpPr>
        <p:spPr>
          <a:xfrm>
            <a:off x="5319693" y="3715648"/>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78" name="コネクタ: カギ線 77">
            <a:extLst>
              <a:ext uri="{FF2B5EF4-FFF2-40B4-BE49-F238E27FC236}">
                <a16:creationId xmlns:a16="http://schemas.microsoft.com/office/drawing/2014/main" id="{A0B29E3B-5447-4104-E77E-C26EB1CB0F8A}"/>
              </a:ext>
            </a:extLst>
          </p:cNvPr>
          <p:cNvCxnSpPr>
            <a:cxnSpLocks/>
            <a:stCxn id="77" idx="3"/>
          </p:cNvCxnSpPr>
          <p:nvPr/>
        </p:nvCxnSpPr>
        <p:spPr>
          <a:xfrm flipV="1">
            <a:off x="7612378" y="2246045"/>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79" name="コネクタ: カギ線 78">
            <a:extLst>
              <a:ext uri="{FF2B5EF4-FFF2-40B4-BE49-F238E27FC236}">
                <a16:creationId xmlns:a16="http://schemas.microsoft.com/office/drawing/2014/main" id="{6F60DF78-AC16-9662-17BD-3EBCD4677BB3}"/>
              </a:ext>
            </a:extLst>
          </p:cNvPr>
          <p:cNvCxnSpPr>
            <a:cxnSpLocks/>
            <a:stCxn id="74" idx="3"/>
          </p:cNvCxnSpPr>
          <p:nvPr/>
        </p:nvCxnSpPr>
        <p:spPr>
          <a:xfrm flipV="1">
            <a:off x="7619393" y="2530542"/>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82" name="コネクタ: カギ線 81">
            <a:extLst>
              <a:ext uri="{FF2B5EF4-FFF2-40B4-BE49-F238E27FC236}">
                <a16:creationId xmlns:a16="http://schemas.microsoft.com/office/drawing/2014/main" id="{9ACE7516-910E-229D-8D61-02389EE1209F}"/>
              </a:ext>
            </a:extLst>
          </p:cNvPr>
          <p:cNvCxnSpPr>
            <a:cxnSpLocks/>
            <a:stCxn id="75" idx="3"/>
          </p:cNvCxnSpPr>
          <p:nvPr/>
        </p:nvCxnSpPr>
        <p:spPr>
          <a:xfrm flipV="1">
            <a:off x="7619393" y="2530542"/>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83" name="コネクタ: カギ線 82">
            <a:extLst>
              <a:ext uri="{FF2B5EF4-FFF2-40B4-BE49-F238E27FC236}">
                <a16:creationId xmlns:a16="http://schemas.microsoft.com/office/drawing/2014/main" id="{CFEF0AA5-73C6-3E02-7EDB-57BE374DCDBF}"/>
              </a:ext>
            </a:extLst>
          </p:cNvPr>
          <p:cNvCxnSpPr>
            <a:cxnSpLocks/>
            <a:stCxn id="69" idx="3"/>
          </p:cNvCxnSpPr>
          <p:nvPr/>
        </p:nvCxnSpPr>
        <p:spPr>
          <a:xfrm flipV="1">
            <a:off x="7619393" y="2530542"/>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84" name="コネクタ: カギ線 83">
            <a:extLst>
              <a:ext uri="{FF2B5EF4-FFF2-40B4-BE49-F238E27FC236}">
                <a16:creationId xmlns:a16="http://schemas.microsoft.com/office/drawing/2014/main" id="{994CBAF5-3A55-5F8D-2FE3-7E89A4D5C622}"/>
              </a:ext>
            </a:extLst>
          </p:cNvPr>
          <p:cNvCxnSpPr>
            <a:cxnSpLocks/>
            <a:stCxn id="76" idx="3"/>
          </p:cNvCxnSpPr>
          <p:nvPr/>
        </p:nvCxnSpPr>
        <p:spPr>
          <a:xfrm flipV="1">
            <a:off x="7612379" y="2530542"/>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85" name="コネクタ: カギ線 84">
            <a:extLst>
              <a:ext uri="{FF2B5EF4-FFF2-40B4-BE49-F238E27FC236}">
                <a16:creationId xmlns:a16="http://schemas.microsoft.com/office/drawing/2014/main" id="{95AFF09E-E9EC-B83D-758F-AB3E03B91C26}"/>
              </a:ext>
            </a:extLst>
          </p:cNvPr>
          <p:cNvCxnSpPr>
            <a:cxnSpLocks/>
            <a:stCxn id="56" idx="3"/>
          </p:cNvCxnSpPr>
          <p:nvPr/>
        </p:nvCxnSpPr>
        <p:spPr>
          <a:xfrm>
            <a:off x="7612379" y="2498555"/>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87" name="コネクタ: カギ線 86">
            <a:extLst>
              <a:ext uri="{FF2B5EF4-FFF2-40B4-BE49-F238E27FC236}">
                <a16:creationId xmlns:a16="http://schemas.microsoft.com/office/drawing/2014/main" id="{81E043B6-4E27-2700-F284-741B1F2B6E99}"/>
              </a:ext>
            </a:extLst>
          </p:cNvPr>
          <p:cNvCxnSpPr>
            <a:cxnSpLocks/>
            <a:stCxn id="55" idx="3"/>
          </p:cNvCxnSpPr>
          <p:nvPr/>
        </p:nvCxnSpPr>
        <p:spPr>
          <a:xfrm>
            <a:off x="7612379" y="2232960"/>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8" name="左中かっこ 87">
            <a:extLst>
              <a:ext uri="{FF2B5EF4-FFF2-40B4-BE49-F238E27FC236}">
                <a16:creationId xmlns:a16="http://schemas.microsoft.com/office/drawing/2014/main" id="{3EB6A587-08D7-7B0D-8BB4-704F3A9413A8}"/>
              </a:ext>
            </a:extLst>
          </p:cNvPr>
          <p:cNvSpPr/>
          <p:nvPr/>
        </p:nvSpPr>
        <p:spPr>
          <a:xfrm>
            <a:off x="5156221" y="2086266"/>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90" name="正方形/長方形 89">
            <a:extLst>
              <a:ext uri="{FF2B5EF4-FFF2-40B4-BE49-F238E27FC236}">
                <a16:creationId xmlns:a16="http://schemas.microsoft.com/office/drawing/2014/main" id="{13F6801A-CC8C-370B-47CD-0E9A8F78DA92}"/>
              </a:ext>
            </a:extLst>
          </p:cNvPr>
          <p:cNvSpPr/>
          <p:nvPr/>
        </p:nvSpPr>
        <p:spPr>
          <a:xfrm>
            <a:off x="468899" y="4586771"/>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EBF6537D-D75B-DA5C-78EC-88D8F874BA82}"/>
              </a:ext>
            </a:extLst>
          </p:cNvPr>
          <p:cNvSpPr/>
          <p:nvPr/>
        </p:nvSpPr>
        <p:spPr>
          <a:xfrm>
            <a:off x="2207057" y="6002525"/>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93" name="正方形/長方形 92">
            <a:extLst>
              <a:ext uri="{FF2B5EF4-FFF2-40B4-BE49-F238E27FC236}">
                <a16:creationId xmlns:a16="http://schemas.microsoft.com/office/drawing/2014/main" id="{1A52527A-0CF0-029E-8E86-430BD9DEAAA1}"/>
              </a:ext>
            </a:extLst>
          </p:cNvPr>
          <p:cNvSpPr/>
          <p:nvPr/>
        </p:nvSpPr>
        <p:spPr>
          <a:xfrm>
            <a:off x="548883" y="4704947"/>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95" name="コネクタ: カギ線 94">
            <a:extLst>
              <a:ext uri="{FF2B5EF4-FFF2-40B4-BE49-F238E27FC236}">
                <a16:creationId xmlns:a16="http://schemas.microsoft.com/office/drawing/2014/main" id="{898B747D-663D-3118-8C11-74EB0324AD5C}"/>
              </a:ext>
            </a:extLst>
          </p:cNvPr>
          <p:cNvCxnSpPr>
            <a:stCxn id="93" idx="0"/>
          </p:cNvCxnSpPr>
          <p:nvPr/>
        </p:nvCxnSpPr>
        <p:spPr>
          <a:xfrm rot="5400000" flipH="1" flipV="1">
            <a:off x="3855271" y="-288234"/>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a16:creationId xmlns:a16="http://schemas.microsoft.com/office/drawing/2014/main" id="{CA244CA5-B309-FA6E-284D-7CBC7CC2508F}"/>
              </a:ext>
            </a:extLst>
          </p:cNvPr>
          <p:cNvCxnSpPr>
            <a:cxnSpLocks/>
            <a:stCxn id="93" idx="2"/>
            <a:endCxn id="92" idx="1"/>
          </p:cNvCxnSpPr>
          <p:nvPr/>
        </p:nvCxnSpPr>
        <p:spPr>
          <a:xfrm rot="16200000" flipH="1">
            <a:off x="972986" y="4890426"/>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正方形/長方形 97">
            <a:extLst>
              <a:ext uri="{FF2B5EF4-FFF2-40B4-BE49-F238E27FC236}">
                <a16:creationId xmlns:a16="http://schemas.microsoft.com/office/drawing/2014/main" id="{B6490177-CFF0-A875-7C56-F0FC8CA2C530}"/>
              </a:ext>
            </a:extLst>
          </p:cNvPr>
          <p:cNvSpPr/>
          <p:nvPr/>
        </p:nvSpPr>
        <p:spPr>
          <a:xfrm>
            <a:off x="562021" y="58195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99" name="正方形/長方形 98">
            <a:extLst>
              <a:ext uri="{FF2B5EF4-FFF2-40B4-BE49-F238E27FC236}">
                <a16:creationId xmlns:a16="http://schemas.microsoft.com/office/drawing/2014/main" id="{6D76C720-225A-6A92-8A49-A13770789615}"/>
              </a:ext>
            </a:extLst>
          </p:cNvPr>
          <p:cNvSpPr/>
          <p:nvPr/>
        </p:nvSpPr>
        <p:spPr>
          <a:xfrm>
            <a:off x="562021" y="6084246"/>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101" name="正方形/長方形 100">
            <a:extLst>
              <a:ext uri="{FF2B5EF4-FFF2-40B4-BE49-F238E27FC236}">
                <a16:creationId xmlns:a16="http://schemas.microsoft.com/office/drawing/2014/main" id="{9927067B-793F-D21C-B90A-7C7E46812D7F}"/>
              </a:ext>
            </a:extLst>
          </p:cNvPr>
          <p:cNvSpPr/>
          <p:nvPr/>
        </p:nvSpPr>
        <p:spPr>
          <a:xfrm>
            <a:off x="3713703" y="4731321"/>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102" name="正方形/長方形 101">
            <a:extLst>
              <a:ext uri="{FF2B5EF4-FFF2-40B4-BE49-F238E27FC236}">
                <a16:creationId xmlns:a16="http://schemas.microsoft.com/office/drawing/2014/main" id="{BD2E83D5-3372-C439-208D-783F428C9D84}"/>
              </a:ext>
            </a:extLst>
          </p:cNvPr>
          <p:cNvSpPr/>
          <p:nvPr/>
        </p:nvSpPr>
        <p:spPr>
          <a:xfrm>
            <a:off x="3713703" y="4996916"/>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104" name="正方形/長方形 103">
            <a:extLst>
              <a:ext uri="{FF2B5EF4-FFF2-40B4-BE49-F238E27FC236}">
                <a16:creationId xmlns:a16="http://schemas.microsoft.com/office/drawing/2014/main" id="{087D59E0-E0CE-3934-C1B4-0EF4D82E0B2E}"/>
              </a:ext>
            </a:extLst>
          </p:cNvPr>
          <p:cNvSpPr/>
          <p:nvPr/>
        </p:nvSpPr>
        <p:spPr>
          <a:xfrm>
            <a:off x="3713703" y="5262511"/>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5" name="正方形/長方形 104">
            <a:extLst>
              <a:ext uri="{FF2B5EF4-FFF2-40B4-BE49-F238E27FC236}">
                <a16:creationId xmlns:a16="http://schemas.microsoft.com/office/drawing/2014/main" id="{78BB80E0-2482-846A-E4FE-C1770384E88E}"/>
              </a:ext>
            </a:extLst>
          </p:cNvPr>
          <p:cNvSpPr/>
          <p:nvPr/>
        </p:nvSpPr>
        <p:spPr>
          <a:xfrm>
            <a:off x="3720717" y="5528106"/>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111" name="正方形/長方形 110">
            <a:extLst>
              <a:ext uri="{FF2B5EF4-FFF2-40B4-BE49-F238E27FC236}">
                <a16:creationId xmlns:a16="http://schemas.microsoft.com/office/drawing/2014/main" id="{C885333E-56CE-B011-72B9-07B332849355}"/>
              </a:ext>
            </a:extLst>
          </p:cNvPr>
          <p:cNvSpPr/>
          <p:nvPr/>
        </p:nvSpPr>
        <p:spPr>
          <a:xfrm>
            <a:off x="4881464" y="5264551"/>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112" name="コネクタ: カギ線 111">
            <a:extLst>
              <a:ext uri="{FF2B5EF4-FFF2-40B4-BE49-F238E27FC236}">
                <a16:creationId xmlns:a16="http://schemas.microsoft.com/office/drawing/2014/main" id="{BDA83037-5C06-C2D0-EF8B-90AE0F4336B5}"/>
              </a:ext>
            </a:extLst>
          </p:cNvPr>
          <p:cNvCxnSpPr>
            <a:cxnSpLocks/>
            <a:stCxn id="93" idx="3"/>
            <a:endCxn id="101" idx="1"/>
          </p:cNvCxnSpPr>
          <p:nvPr/>
        </p:nvCxnSpPr>
        <p:spPr>
          <a:xfrm>
            <a:off x="1280160" y="4826919"/>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15" name="コネクタ: カギ線 114">
            <a:extLst>
              <a:ext uri="{FF2B5EF4-FFF2-40B4-BE49-F238E27FC236}">
                <a16:creationId xmlns:a16="http://schemas.microsoft.com/office/drawing/2014/main" id="{BA23D5BC-C7EC-06D4-215C-2852A68F0F9B}"/>
              </a:ext>
            </a:extLst>
          </p:cNvPr>
          <p:cNvCxnSpPr>
            <a:cxnSpLocks/>
            <a:stCxn id="93" idx="3"/>
            <a:endCxn id="102" idx="1"/>
          </p:cNvCxnSpPr>
          <p:nvPr/>
        </p:nvCxnSpPr>
        <p:spPr>
          <a:xfrm>
            <a:off x="1280160" y="4826919"/>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16" name="コネクタ: カギ線 115">
            <a:extLst>
              <a:ext uri="{FF2B5EF4-FFF2-40B4-BE49-F238E27FC236}">
                <a16:creationId xmlns:a16="http://schemas.microsoft.com/office/drawing/2014/main" id="{F8AA6994-29BC-2C26-DE5F-C0C21F502236}"/>
              </a:ext>
            </a:extLst>
          </p:cNvPr>
          <p:cNvCxnSpPr>
            <a:cxnSpLocks/>
            <a:stCxn id="93" idx="3"/>
            <a:endCxn id="104" idx="1"/>
          </p:cNvCxnSpPr>
          <p:nvPr/>
        </p:nvCxnSpPr>
        <p:spPr>
          <a:xfrm>
            <a:off x="1280160" y="4826919"/>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18" name="コネクタ: カギ線 117">
            <a:extLst>
              <a:ext uri="{FF2B5EF4-FFF2-40B4-BE49-F238E27FC236}">
                <a16:creationId xmlns:a16="http://schemas.microsoft.com/office/drawing/2014/main" id="{3AE4A3D0-6C1F-7BCD-3ED2-5F066684CE21}"/>
              </a:ext>
            </a:extLst>
          </p:cNvPr>
          <p:cNvCxnSpPr>
            <a:cxnSpLocks/>
            <a:stCxn id="93" idx="3"/>
            <a:endCxn id="105" idx="1"/>
          </p:cNvCxnSpPr>
          <p:nvPr/>
        </p:nvCxnSpPr>
        <p:spPr>
          <a:xfrm>
            <a:off x="1280160" y="4826919"/>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9" name="正方形/長方形 118">
            <a:extLst>
              <a:ext uri="{FF2B5EF4-FFF2-40B4-BE49-F238E27FC236}">
                <a16:creationId xmlns:a16="http://schemas.microsoft.com/office/drawing/2014/main" id="{F922E2DE-5C74-6CAA-736C-BAC94D2952DF}"/>
              </a:ext>
            </a:extLst>
          </p:cNvPr>
          <p:cNvSpPr/>
          <p:nvPr/>
        </p:nvSpPr>
        <p:spPr>
          <a:xfrm>
            <a:off x="3713703" y="5792944"/>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1" name="正方形/長方形 120">
            <a:extLst>
              <a:ext uri="{FF2B5EF4-FFF2-40B4-BE49-F238E27FC236}">
                <a16:creationId xmlns:a16="http://schemas.microsoft.com/office/drawing/2014/main" id="{03175683-57AB-6FFA-0F27-7E81645CA47B}"/>
              </a:ext>
            </a:extLst>
          </p:cNvPr>
          <p:cNvSpPr/>
          <p:nvPr/>
        </p:nvSpPr>
        <p:spPr>
          <a:xfrm>
            <a:off x="3720717" y="6061629"/>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122" name="コネクタ: カギ線 121">
            <a:extLst>
              <a:ext uri="{FF2B5EF4-FFF2-40B4-BE49-F238E27FC236}">
                <a16:creationId xmlns:a16="http://schemas.microsoft.com/office/drawing/2014/main" id="{30FE3CED-649C-7946-1117-B1E2FD2D7F26}"/>
              </a:ext>
            </a:extLst>
          </p:cNvPr>
          <p:cNvCxnSpPr>
            <a:cxnSpLocks/>
          </p:cNvCxnSpPr>
          <p:nvPr/>
        </p:nvCxnSpPr>
        <p:spPr>
          <a:xfrm rot="5400000" flipH="1" flipV="1">
            <a:off x="1605206" y="3681433"/>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4" name="正方形/長方形 123">
            <a:extLst>
              <a:ext uri="{FF2B5EF4-FFF2-40B4-BE49-F238E27FC236}">
                <a16:creationId xmlns:a16="http://schemas.microsoft.com/office/drawing/2014/main" id="{5EB01514-8877-C931-E7AA-81B28EB77681}"/>
              </a:ext>
            </a:extLst>
          </p:cNvPr>
          <p:cNvSpPr/>
          <p:nvPr/>
        </p:nvSpPr>
        <p:spPr>
          <a:xfrm>
            <a:off x="6986937" y="1517116"/>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342701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5B1FD88-3B25-D76E-99D7-CDD7E800E78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709B81B2-1251-DE55-B4B3-220553E132F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1E8D898A-0AF4-2505-8EE3-9F12824F6A59}"/>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施策においては、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動線</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が重要。</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011C5FFF-B61A-EB8E-326E-072A0E269233}"/>
              </a:ext>
            </a:extLst>
          </p:cNvPr>
          <p:cNvSpPr/>
          <p:nvPr/>
        </p:nvSpPr>
        <p:spPr>
          <a:xfrm>
            <a:off x="3587358" y="1747110"/>
            <a:ext cx="860817" cy="143296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初期</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（初動）</a:t>
            </a:r>
            <a:endParaRPr kumimoji="1" lang="ja-JP" altLang="en-US" sz="12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1F32D58-29FF-60A6-17B5-A41ACCBE9449}"/>
              </a:ext>
            </a:extLst>
          </p:cNvPr>
          <p:cNvSpPr/>
          <p:nvPr/>
        </p:nvSpPr>
        <p:spPr>
          <a:xfrm>
            <a:off x="3587358" y="3321847"/>
            <a:ext cx="860817" cy="292127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月次</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（定例）</a:t>
            </a:r>
            <a:endParaRPr kumimoji="1" lang="ja-JP" altLang="en-US" sz="1200" b="1" dirty="0">
              <a:latin typeface="メイリオ" panose="020B0604030504040204" pitchFamily="50" charset="-128"/>
              <a:ea typeface="メイリオ" panose="020B0604030504040204" pitchFamily="50" charset="-128"/>
            </a:endParaRPr>
          </a:p>
        </p:txBody>
      </p:sp>
      <p:sp>
        <p:nvSpPr>
          <p:cNvPr id="8" name="四角形: 角を丸くする 7">
            <a:extLst>
              <a:ext uri="{FF2B5EF4-FFF2-40B4-BE49-F238E27FC236}">
                <a16:creationId xmlns:a16="http://schemas.microsoft.com/office/drawing/2014/main" id="{22EC6943-AA14-49EA-30CF-5D813BA45BFD}"/>
              </a:ext>
            </a:extLst>
          </p:cNvPr>
          <p:cNvSpPr/>
          <p:nvPr/>
        </p:nvSpPr>
        <p:spPr>
          <a:xfrm>
            <a:off x="336942" y="172938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離脱防止・ポップアップ</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HP/LP</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滞在時に、条件を満たすと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ポップアップバナーを表示する</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0" name="四角形: 角を丸くする 9">
            <a:extLst>
              <a:ext uri="{FF2B5EF4-FFF2-40B4-BE49-F238E27FC236}">
                <a16:creationId xmlns:a16="http://schemas.microsoft.com/office/drawing/2014/main" id="{3436AF3F-C2E7-3494-0B01-4BC00578C5FF}"/>
              </a:ext>
            </a:extLst>
          </p:cNvPr>
          <p:cNvSpPr/>
          <p:nvPr/>
        </p:nvSpPr>
        <p:spPr>
          <a:xfrm>
            <a:off x="336942" y="2642195"/>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通知メッセージ</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ユーザーアクション時に</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API</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連携で</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にメッセ送付</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1" name="四角形: 角を丸くする 10">
            <a:extLst>
              <a:ext uri="{FF2B5EF4-FFF2-40B4-BE49-F238E27FC236}">
                <a16:creationId xmlns:a16="http://schemas.microsoft.com/office/drawing/2014/main" id="{6B8D9E5A-638C-EACC-4E99-235D769FBAB5}"/>
              </a:ext>
            </a:extLst>
          </p:cNvPr>
          <p:cNvSpPr/>
          <p:nvPr/>
        </p:nvSpPr>
        <p:spPr>
          <a:xfrm>
            <a:off x="336942" y="3555007"/>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サンクス</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誘導ツール</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WEB</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サイトの</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CV</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ページから</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入力情報を引き継ぎ</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へ自動遷移</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340447B4-FBD9-E81D-7902-7B3BF84ED83A}"/>
              </a:ext>
            </a:extLst>
          </p:cNvPr>
          <p:cNvSpPr/>
          <p:nvPr/>
        </p:nvSpPr>
        <p:spPr>
          <a:xfrm>
            <a:off x="336942" y="445829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ログイン・</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ID</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連携等</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ログインに</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 </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を使用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サイトユーザー</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と</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を連携</a:t>
            </a:r>
            <a:endParaRPr kumimoji="1" lang="ja-JP" altLang="en-US" sz="105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四角形: 角を丸くする 13">
            <a:extLst>
              <a:ext uri="{FF2B5EF4-FFF2-40B4-BE49-F238E27FC236}">
                <a16:creationId xmlns:a16="http://schemas.microsoft.com/office/drawing/2014/main" id="{BD6C1FC9-285C-AE02-A175-C7061E1A753F}"/>
              </a:ext>
            </a:extLst>
          </p:cNvPr>
          <p:cNvSpPr/>
          <p:nvPr/>
        </p:nvSpPr>
        <p:spPr>
          <a:xfrm>
            <a:off x="336942" y="5361315"/>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CPF</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広告</a:t>
            </a:r>
            <a:endPar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四角形: 角を丸くする 14">
            <a:extLst>
              <a:ext uri="{FF2B5EF4-FFF2-40B4-BE49-F238E27FC236}">
                <a16:creationId xmlns:a16="http://schemas.microsoft.com/office/drawing/2014/main" id="{74F6F515-C9A5-F22C-3E1C-CF4380DB9991}"/>
              </a:ext>
            </a:extLst>
          </p:cNvPr>
          <p:cNvSpPr/>
          <p:nvPr/>
        </p:nvSpPr>
        <p:spPr>
          <a:xfrm>
            <a:off x="336942" y="5829843"/>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スタンプ・</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Pt</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施策</a:t>
            </a:r>
          </a:p>
        </p:txBody>
      </p:sp>
      <p:sp>
        <p:nvSpPr>
          <p:cNvPr id="16" name="正方形/長方形 15">
            <a:extLst>
              <a:ext uri="{FF2B5EF4-FFF2-40B4-BE49-F238E27FC236}">
                <a16:creationId xmlns:a16="http://schemas.microsoft.com/office/drawing/2014/main" id="{0156D598-0831-CD8B-6A89-EE3DAF51A5E9}"/>
              </a:ext>
            </a:extLst>
          </p:cNvPr>
          <p:cNvSpPr/>
          <p:nvPr/>
        </p:nvSpPr>
        <p:spPr>
          <a:xfrm>
            <a:off x="4482711" y="1756635"/>
            <a:ext cx="3233084" cy="143296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・リッチメニュー</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・プロフ動線</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・あいさつ</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MSG</a:t>
            </a: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KW</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自動応答設定</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・友だち登録直後アンケート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・再引上げ</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・ステップ配信</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：特定アクション後◯日での自動配信</a:t>
            </a:r>
            <a:endParaRPr kumimoji="1" lang="ja-JP" altLang="en-US" sz="12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24F01906-5193-F098-3B58-BDCC26D568EA}"/>
              </a:ext>
            </a:extLst>
          </p:cNvPr>
          <p:cNvSpPr/>
          <p:nvPr/>
        </p:nvSpPr>
        <p:spPr>
          <a:xfrm>
            <a:off x="4482711" y="3331372"/>
            <a:ext cx="3233084" cy="29212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新規</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ja-JP" altLang="en-US" sz="1200" b="1" dirty="0">
                <a:solidFill>
                  <a:srgbClr val="FF0000"/>
                </a:solidFill>
                <a:latin typeface="メイリオ" panose="020B0604030504040204" pitchFamily="50" charset="-128"/>
                <a:ea typeface="メイリオ" panose="020B0604030504040204" pitchFamily="50" charset="-128"/>
              </a:rPr>
              <a:t>→ 月間投稿数</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・イベント配信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・クーポン配信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・企画配信（特定ターゲット）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・診断型配信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・お役立ちコラム・コンテンツ配信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・季節／時事ネタ配信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a:t>
            </a:r>
          </a:p>
          <a:p>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調整</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・アンケート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・自動応答</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QA</a:t>
            </a: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集</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・リッチメニュー</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・ステップ配信</a:t>
            </a:r>
          </a:p>
        </p:txBody>
      </p:sp>
      <p:sp>
        <p:nvSpPr>
          <p:cNvPr id="19" name="左大かっこ 18">
            <a:extLst>
              <a:ext uri="{FF2B5EF4-FFF2-40B4-BE49-F238E27FC236}">
                <a16:creationId xmlns:a16="http://schemas.microsoft.com/office/drawing/2014/main" id="{B9FF3DCE-9B05-09FE-7C2F-B104CD0105BE}"/>
              </a:ext>
            </a:extLst>
          </p:cNvPr>
          <p:cNvSpPr/>
          <p:nvPr/>
        </p:nvSpPr>
        <p:spPr>
          <a:xfrm>
            <a:off x="3210542" y="1800836"/>
            <a:ext cx="215932" cy="4398089"/>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4" name="左大かっこ 23">
            <a:extLst>
              <a:ext uri="{FF2B5EF4-FFF2-40B4-BE49-F238E27FC236}">
                <a16:creationId xmlns:a16="http://schemas.microsoft.com/office/drawing/2014/main" id="{61357E78-5BD2-BBD8-1F18-B1985600E22B}"/>
              </a:ext>
            </a:extLst>
          </p:cNvPr>
          <p:cNvSpPr/>
          <p:nvPr/>
        </p:nvSpPr>
        <p:spPr>
          <a:xfrm flipH="1">
            <a:off x="2892035" y="1756635"/>
            <a:ext cx="215932" cy="4486491"/>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pic>
        <p:nvPicPr>
          <p:cNvPr id="26" name="図 25">
            <a:extLst>
              <a:ext uri="{FF2B5EF4-FFF2-40B4-BE49-F238E27FC236}">
                <a16:creationId xmlns:a16="http://schemas.microsoft.com/office/drawing/2014/main" id="{56E6CFC0-FB45-E508-C7ED-E0F29C95F377}"/>
              </a:ext>
            </a:extLst>
          </p:cNvPr>
          <p:cNvPicPr>
            <a:picLocks noChangeAspect="1"/>
          </p:cNvPicPr>
          <p:nvPr/>
        </p:nvPicPr>
        <p:blipFill>
          <a:blip r:embed="rId2"/>
          <a:stretch>
            <a:fillRect/>
          </a:stretch>
        </p:blipFill>
        <p:spPr>
          <a:xfrm>
            <a:off x="2862090" y="2173993"/>
            <a:ext cx="582602" cy="543237"/>
          </a:xfrm>
          <a:prstGeom prst="rect">
            <a:avLst/>
          </a:prstGeom>
        </p:spPr>
      </p:pic>
      <p:cxnSp>
        <p:nvCxnSpPr>
          <p:cNvPr id="27" name="直線矢印コネクタ 26">
            <a:extLst>
              <a:ext uri="{FF2B5EF4-FFF2-40B4-BE49-F238E27FC236}">
                <a16:creationId xmlns:a16="http://schemas.microsoft.com/office/drawing/2014/main" id="{38D782E3-91EF-D26A-1906-21A51865A939}"/>
              </a:ext>
            </a:extLst>
          </p:cNvPr>
          <p:cNvCxnSpPr>
            <a:cxnSpLocks/>
          </p:cNvCxnSpPr>
          <p:nvPr/>
        </p:nvCxnSpPr>
        <p:spPr>
          <a:xfrm>
            <a:off x="231756" y="1521490"/>
            <a:ext cx="2654192" cy="0"/>
          </a:xfrm>
          <a:prstGeom prst="straightConnector1">
            <a:avLst/>
          </a:prstGeom>
          <a:ln w="28575">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39D8C8E0-0854-5217-A7F3-DBD2104BDFAF}"/>
              </a:ext>
            </a:extLst>
          </p:cNvPr>
          <p:cNvSpPr txBox="1"/>
          <p:nvPr/>
        </p:nvSpPr>
        <p:spPr>
          <a:xfrm>
            <a:off x="857833" y="1390138"/>
            <a:ext cx="1306788" cy="261610"/>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友だちの新規追加</a:t>
            </a:r>
            <a:endParaRPr lang="ja-JP" altLang="en-US" sz="1050" dirty="0"/>
          </a:p>
        </p:txBody>
      </p:sp>
      <p:cxnSp>
        <p:nvCxnSpPr>
          <p:cNvPr id="29" name="直線矢印コネクタ 28">
            <a:extLst>
              <a:ext uri="{FF2B5EF4-FFF2-40B4-BE49-F238E27FC236}">
                <a16:creationId xmlns:a16="http://schemas.microsoft.com/office/drawing/2014/main" id="{745F1B07-4D2C-4794-DAEA-D76D3E0CA8CF}"/>
              </a:ext>
            </a:extLst>
          </p:cNvPr>
          <p:cNvCxnSpPr>
            <a:cxnSpLocks/>
          </p:cNvCxnSpPr>
          <p:nvPr/>
        </p:nvCxnSpPr>
        <p:spPr>
          <a:xfrm>
            <a:off x="3248447" y="1521490"/>
            <a:ext cx="6173147" cy="0"/>
          </a:xfrm>
          <a:prstGeom prst="straightConnector1">
            <a:avLst/>
          </a:prstGeom>
          <a:ln w="28575">
            <a:solidFill>
              <a:schemeClr val="accent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D5E48196-7DAD-4F3E-ADDE-E36FAC475508}"/>
              </a:ext>
            </a:extLst>
          </p:cNvPr>
          <p:cNvSpPr txBox="1"/>
          <p:nvPr/>
        </p:nvSpPr>
        <p:spPr>
          <a:xfrm>
            <a:off x="5411256" y="1390138"/>
            <a:ext cx="1913269" cy="253916"/>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a:t>
            </a:r>
            <a:r>
              <a:rPr lang="ja-JP" altLang="en-US" sz="1050" b="1" dirty="0">
                <a:latin typeface="メイリオ" panose="020B0604030504040204" pitchFamily="50" charset="-128"/>
                <a:ea typeface="メイリオ" panose="020B0604030504040204" pitchFamily="50" charset="-128"/>
                <a:cs typeface="Meiryo"/>
                <a:sym typeface="Meiryo"/>
              </a:rPr>
              <a:t>友だちの育成・</a:t>
            </a:r>
            <a:r>
              <a:rPr lang="en-US" altLang="ja-JP" sz="1050" b="1" dirty="0">
                <a:latin typeface="メイリオ" panose="020B0604030504040204" pitchFamily="50" charset="-128"/>
                <a:ea typeface="メイリオ" panose="020B0604030504040204" pitchFamily="50" charset="-128"/>
                <a:cs typeface="Meiryo"/>
                <a:sym typeface="Meiryo"/>
              </a:rPr>
              <a:t>CV</a:t>
            </a:r>
            <a:r>
              <a:rPr lang="ja-JP" altLang="en-US" sz="1050" b="1" dirty="0">
                <a:latin typeface="メイリオ" panose="020B0604030504040204" pitchFamily="50" charset="-128"/>
                <a:ea typeface="メイリオ" panose="020B0604030504040204" pitchFamily="50" charset="-128"/>
                <a:cs typeface="Meiryo"/>
                <a:sym typeface="Meiryo"/>
              </a:rPr>
              <a:t>化</a:t>
            </a:r>
            <a:endParaRPr lang="en-US" altLang="ja-JP" sz="1050" b="1" dirty="0">
              <a:latin typeface="メイリオ" panose="020B0604030504040204" pitchFamily="50" charset="-128"/>
              <a:ea typeface="メイリオ" panose="020B0604030504040204" pitchFamily="50" charset="-128"/>
              <a:cs typeface="Meiryo"/>
              <a:sym typeface="Meiryo"/>
            </a:endParaRPr>
          </a:p>
        </p:txBody>
      </p:sp>
      <p:sp>
        <p:nvSpPr>
          <p:cNvPr id="32" name="正方形/長方形 31">
            <a:extLst>
              <a:ext uri="{FF2B5EF4-FFF2-40B4-BE49-F238E27FC236}">
                <a16:creationId xmlns:a16="http://schemas.microsoft.com/office/drawing/2014/main" id="{4EA6E8F1-E33D-1FB9-E4AA-6AD1A2F6B651}"/>
              </a:ext>
            </a:extLst>
          </p:cNvPr>
          <p:cNvSpPr/>
          <p:nvPr/>
        </p:nvSpPr>
        <p:spPr>
          <a:xfrm>
            <a:off x="7750331" y="1748432"/>
            <a:ext cx="1818728" cy="4494694"/>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200" b="1" dirty="0">
                <a:solidFill>
                  <a:schemeClr val="tx1"/>
                </a:solidFill>
                <a:latin typeface="メイリオ" panose="020B0604030504040204" pitchFamily="50" charset="-128"/>
                <a:ea typeface="メイリオ" panose="020B0604030504040204" pitchFamily="50" charset="-128"/>
              </a:rPr>
              <a:t>[</a:t>
            </a:r>
            <a:r>
              <a:rPr kumimoji="1" lang="ja-JP" altLang="en-US" sz="1200" b="1" dirty="0">
                <a:solidFill>
                  <a:schemeClr val="tx1"/>
                </a:solidFill>
                <a:latin typeface="メイリオ" panose="020B0604030504040204" pitchFamily="50" charset="-128"/>
                <a:ea typeface="メイリオ" panose="020B0604030504040204" pitchFamily="50" charset="-128"/>
              </a:rPr>
              <a:t>ターゲット設定</a:t>
            </a:r>
            <a:r>
              <a:rPr lang="en-US" altLang="ja-JP" sz="1200" b="1" dirty="0">
                <a:solidFill>
                  <a:schemeClr val="tx1"/>
                </a:solidFill>
                <a:latin typeface="メイリオ" panose="020B0604030504040204" pitchFamily="50" charset="-128"/>
                <a:ea typeface="メイリオ" panose="020B0604030504040204" pitchFamily="50" charset="-128"/>
              </a:rPr>
              <a:t>]</a:t>
            </a: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r>
              <a:rPr kumimoji="1" lang="en-US" altLang="ja-JP" sz="1200" b="1" dirty="0">
                <a:solidFill>
                  <a:schemeClr val="tx1"/>
                </a:solidFill>
                <a:latin typeface="メイリオ" panose="020B0604030504040204" pitchFamily="50" charset="-128"/>
                <a:ea typeface="メイリオ" panose="020B0604030504040204" pitchFamily="50" charset="-128"/>
              </a:rPr>
              <a:t>LINEOA</a:t>
            </a:r>
            <a:r>
              <a:rPr kumimoji="1" lang="ja-JP" altLang="en-US" sz="1200" b="1" dirty="0">
                <a:solidFill>
                  <a:schemeClr val="tx1"/>
                </a:solidFill>
                <a:latin typeface="メイリオ" panose="020B0604030504040204" pitchFamily="50" charset="-128"/>
                <a:ea typeface="メイリオ" panose="020B0604030504040204" pitchFamily="50" charset="-128"/>
              </a:rPr>
              <a:t>オーガニック</a:t>
            </a:r>
            <a:endParaRPr kumimoji="1" lang="en-US" altLang="ja-JP" sz="120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年齢</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性別</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地域</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(MSG</a:t>
            </a:r>
            <a:r>
              <a:rPr lang="ja-JP" altLang="en-US" sz="1050" dirty="0">
                <a:solidFill>
                  <a:schemeClr val="tx1"/>
                </a:solidFill>
                <a:latin typeface="メイリオ" panose="020B0604030504040204" pitchFamily="50" charset="-128"/>
                <a:ea typeface="メイリオ" panose="020B0604030504040204" pitchFamily="50" charset="-128"/>
              </a:rPr>
              <a:t>の</a:t>
            </a:r>
            <a:r>
              <a:rPr lang="en-US" altLang="ja-JP" sz="1050" dirty="0" err="1">
                <a:solidFill>
                  <a:schemeClr val="tx1"/>
                </a:solidFill>
                <a:latin typeface="メイリオ" panose="020B0604030504040204" pitchFamily="50" charset="-128"/>
                <a:ea typeface="メイリオ" panose="020B0604030504040204" pitchFamily="50" charset="-128"/>
              </a:rPr>
              <a:t>Imp,Click</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700" dirty="0">
              <a:solidFill>
                <a:schemeClr val="tx1"/>
              </a:solidFill>
              <a:latin typeface="メイリオ" panose="020B0604030504040204" pitchFamily="50" charset="-128"/>
              <a:ea typeface="メイリオ" panose="020B0604030504040204" pitchFamily="50" charset="-128"/>
            </a:endParaRPr>
          </a:p>
          <a:p>
            <a:r>
              <a:rPr lang="en-US" altLang="ja-JP" sz="1200" b="1" dirty="0">
                <a:solidFill>
                  <a:schemeClr val="tx1"/>
                </a:solidFill>
                <a:latin typeface="メイリオ" panose="020B0604030504040204" pitchFamily="50" charset="-128"/>
                <a:ea typeface="メイリオ" panose="020B0604030504040204" pitchFamily="50" charset="-128"/>
              </a:rPr>
              <a:t>LINE_API</a:t>
            </a:r>
            <a:r>
              <a:rPr lang="ja-JP" altLang="en-US" sz="1200" b="1" dirty="0">
                <a:solidFill>
                  <a:schemeClr val="tx1"/>
                </a:solidFill>
                <a:latin typeface="メイリオ" panose="020B0604030504040204" pitchFamily="50" charset="-128"/>
                <a:ea typeface="メイリオ" panose="020B0604030504040204" pitchFamily="50" charset="-128"/>
              </a:rPr>
              <a:t>ツール</a:t>
            </a:r>
            <a:r>
              <a:rPr lang="ja-JP" altLang="en-US" sz="900" b="1" dirty="0">
                <a:solidFill>
                  <a:schemeClr val="tx1"/>
                </a:solidFill>
                <a:latin typeface="メイリオ" panose="020B0604030504040204" pitchFamily="50" charset="-128"/>
                <a:ea typeface="メイリオ" panose="020B0604030504040204" pitchFamily="50" charset="-128"/>
              </a:rPr>
              <a:t> </a:t>
            </a:r>
            <a:r>
              <a:rPr lang="en-US" altLang="ja-JP" sz="900" b="1" dirty="0">
                <a:solidFill>
                  <a:srgbClr val="FF0000"/>
                </a:solidFill>
                <a:latin typeface="メイリオ" panose="020B0604030504040204" pitchFamily="50" charset="-128"/>
                <a:ea typeface="メイリオ" panose="020B0604030504040204" pitchFamily="50" charset="-128"/>
              </a:rPr>
              <a:t>※</a:t>
            </a:r>
            <a:r>
              <a:rPr lang="ja-JP" altLang="en-US" sz="900" b="1" dirty="0">
                <a:solidFill>
                  <a:srgbClr val="FF0000"/>
                </a:solidFill>
                <a:latin typeface="メイリオ" panose="020B0604030504040204" pitchFamily="50" charset="-128"/>
                <a:ea typeface="メイリオ" panose="020B0604030504040204" pitchFamily="50" charset="-128"/>
              </a:rPr>
              <a:t>有料</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アンケート結果）</a:t>
            </a:r>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(WEB</a:t>
            </a:r>
            <a:r>
              <a:rPr lang="ja-JP" altLang="en-US" sz="1050" dirty="0">
                <a:solidFill>
                  <a:schemeClr val="tx1"/>
                </a:solidFill>
                <a:latin typeface="メイリオ" panose="020B0604030504040204" pitchFamily="50" charset="-128"/>
                <a:ea typeface="メイリオ" panose="020B0604030504040204" pitchFamily="50" charset="-128"/>
              </a:rPr>
              <a:t>サイトアクション</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リマインド</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再通知</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連携した情報ベース</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ユーザー一覧を取得</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a:t>
            </a:r>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アップロード</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地点別スコアリング</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b="1" dirty="0">
                <a:solidFill>
                  <a:schemeClr val="tx1"/>
                </a:solidFill>
                <a:latin typeface="メイリオ" panose="020B0604030504040204" pitchFamily="50" charset="-128"/>
                <a:ea typeface="メイリオ" panose="020B0604030504040204" pitchFamily="50" charset="-128"/>
              </a:rPr>
              <a:t>※MA</a:t>
            </a:r>
            <a:r>
              <a:rPr lang="ja-JP" altLang="en-US" sz="1050" b="1" dirty="0">
                <a:solidFill>
                  <a:schemeClr val="tx1"/>
                </a:solidFill>
                <a:latin typeface="メイリオ" panose="020B0604030504040204" pitchFamily="50" charset="-128"/>
                <a:ea typeface="メイリオ" panose="020B0604030504040204" pitchFamily="50" charset="-128"/>
              </a:rPr>
              <a:t>、</a:t>
            </a:r>
            <a:r>
              <a:rPr lang="en-US" altLang="ja-JP" sz="1050" b="1" dirty="0">
                <a:solidFill>
                  <a:schemeClr val="tx1"/>
                </a:solidFill>
                <a:latin typeface="メイリオ" panose="020B0604030504040204" pitchFamily="50" charset="-128"/>
                <a:ea typeface="メイリオ" panose="020B0604030504040204" pitchFamily="50" charset="-128"/>
              </a:rPr>
              <a:t>CRM</a:t>
            </a:r>
            <a:r>
              <a:rPr lang="ja-JP" altLang="en-US" sz="1050" b="1" dirty="0">
                <a:solidFill>
                  <a:schemeClr val="tx1"/>
                </a:solidFill>
                <a:latin typeface="メイリオ" panose="020B0604030504040204" pitchFamily="50" charset="-128"/>
                <a:ea typeface="メイリオ" panose="020B0604030504040204" pitchFamily="50" charset="-128"/>
              </a:rPr>
              <a:t>との連携</a:t>
            </a:r>
            <a:endParaRPr lang="en-US" altLang="ja-JP" sz="105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購入・リードデータ</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ユーザー情報</a:t>
            </a:r>
            <a:r>
              <a:rPr lang="ja-JP" altLang="en-US" sz="900" dirty="0">
                <a:solidFill>
                  <a:schemeClr val="tx1"/>
                </a:solidFill>
                <a:latin typeface="メイリオ" panose="020B0604030504040204" pitchFamily="50" charset="-128"/>
                <a:ea typeface="メイリオ" panose="020B0604030504040204" pitchFamily="50" charset="-128"/>
              </a:rPr>
              <a:t> </a:t>
            </a: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詳細</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36" name="テキスト ボックス 35">
            <a:extLst>
              <a:ext uri="{FF2B5EF4-FFF2-40B4-BE49-F238E27FC236}">
                <a16:creationId xmlns:a16="http://schemas.microsoft.com/office/drawing/2014/main" id="{F47CAADD-ECBD-1DCC-19D6-6433C921622E}"/>
              </a:ext>
            </a:extLst>
          </p:cNvPr>
          <p:cNvSpPr txBox="1"/>
          <p:nvPr/>
        </p:nvSpPr>
        <p:spPr>
          <a:xfrm>
            <a:off x="2178040" y="2694449"/>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7" name="テキスト ボックス 46">
            <a:extLst>
              <a:ext uri="{FF2B5EF4-FFF2-40B4-BE49-F238E27FC236}">
                <a16:creationId xmlns:a16="http://schemas.microsoft.com/office/drawing/2014/main" id="{00802062-F552-1DFA-430A-41800E76A220}"/>
              </a:ext>
            </a:extLst>
          </p:cNvPr>
          <p:cNvSpPr txBox="1"/>
          <p:nvPr/>
        </p:nvSpPr>
        <p:spPr>
          <a:xfrm>
            <a:off x="2370382" y="177323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9" name="テキスト ボックス 48">
            <a:extLst>
              <a:ext uri="{FF2B5EF4-FFF2-40B4-BE49-F238E27FC236}">
                <a16:creationId xmlns:a16="http://schemas.microsoft.com/office/drawing/2014/main" id="{CDCAB868-C79D-2212-70C3-9EF559F32C21}"/>
              </a:ext>
            </a:extLst>
          </p:cNvPr>
          <p:cNvSpPr txBox="1"/>
          <p:nvPr/>
        </p:nvSpPr>
        <p:spPr>
          <a:xfrm>
            <a:off x="2456844" y="3619396"/>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1" name="テキスト ボックス 50">
            <a:extLst>
              <a:ext uri="{FF2B5EF4-FFF2-40B4-BE49-F238E27FC236}">
                <a16:creationId xmlns:a16="http://schemas.microsoft.com/office/drawing/2014/main" id="{E2ECFC3F-A285-F105-30CE-9144EBB24A11}"/>
              </a:ext>
            </a:extLst>
          </p:cNvPr>
          <p:cNvSpPr txBox="1"/>
          <p:nvPr/>
        </p:nvSpPr>
        <p:spPr>
          <a:xfrm>
            <a:off x="2518621" y="457656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3" name="テキスト ボックス 52">
            <a:extLst>
              <a:ext uri="{FF2B5EF4-FFF2-40B4-BE49-F238E27FC236}">
                <a16:creationId xmlns:a16="http://schemas.microsoft.com/office/drawing/2014/main" id="{39AB193A-8274-ABE1-CD3D-54790C3264F6}"/>
              </a:ext>
            </a:extLst>
          </p:cNvPr>
          <p:cNvSpPr txBox="1"/>
          <p:nvPr/>
        </p:nvSpPr>
        <p:spPr>
          <a:xfrm>
            <a:off x="2210158" y="5478733"/>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6" name="テキスト ボックス 55">
            <a:extLst>
              <a:ext uri="{FF2B5EF4-FFF2-40B4-BE49-F238E27FC236}">
                <a16:creationId xmlns:a16="http://schemas.microsoft.com/office/drawing/2014/main" id="{096A37B9-CA3D-92C9-1405-86C6FFCD8C5A}"/>
              </a:ext>
            </a:extLst>
          </p:cNvPr>
          <p:cNvSpPr txBox="1"/>
          <p:nvPr/>
        </p:nvSpPr>
        <p:spPr>
          <a:xfrm>
            <a:off x="2214724" y="5963211"/>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8" name="テキスト ボックス 57">
            <a:extLst>
              <a:ext uri="{FF2B5EF4-FFF2-40B4-BE49-F238E27FC236}">
                <a16:creationId xmlns:a16="http://schemas.microsoft.com/office/drawing/2014/main" id="{AA71FB07-E583-8196-5077-2EAA10A61A0F}"/>
              </a:ext>
            </a:extLst>
          </p:cNvPr>
          <p:cNvSpPr txBox="1"/>
          <p:nvPr/>
        </p:nvSpPr>
        <p:spPr>
          <a:xfrm>
            <a:off x="285223" y="6291679"/>
            <a:ext cx="2547258" cy="215444"/>
          </a:xfrm>
          <a:prstGeom prst="rect">
            <a:avLst/>
          </a:prstGeom>
          <a:noFill/>
        </p:spPr>
        <p:txBody>
          <a:bodyPr wrap="square">
            <a:spAutoFit/>
          </a:bodyPr>
          <a:lstStyle/>
          <a:p>
            <a:pPr algn="ct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その他</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WEB</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サイト動線整備、プレスリリース等</a:t>
            </a:r>
            <a:endParaRPr lang="ja-JP" altLang="en-US" sz="800" dirty="0">
              <a:solidFill>
                <a:schemeClr val="bg1">
                  <a:lumMod val="50000"/>
                </a:schemeClr>
              </a:solidFill>
            </a:endParaRPr>
          </a:p>
        </p:txBody>
      </p:sp>
      <p:sp>
        <p:nvSpPr>
          <p:cNvPr id="6" name="テキスト ボックス 5">
            <a:extLst>
              <a:ext uri="{FF2B5EF4-FFF2-40B4-BE49-F238E27FC236}">
                <a16:creationId xmlns:a16="http://schemas.microsoft.com/office/drawing/2014/main" id="{F3BE3835-FB68-0C7D-7CED-C40A02A19AB2}"/>
              </a:ext>
            </a:extLst>
          </p:cNvPr>
          <p:cNvSpPr txBox="1"/>
          <p:nvPr/>
        </p:nvSpPr>
        <p:spPr>
          <a:xfrm>
            <a:off x="6149585" y="3424747"/>
            <a:ext cx="1174939"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数量により変動</a:t>
            </a:r>
            <a:endParaRPr lang="ja-JP" altLang="en-US" sz="800" dirty="0"/>
          </a:p>
        </p:txBody>
      </p:sp>
      <p:sp>
        <p:nvSpPr>
          <p:cNvPr id="7" name="テキスト ボックス 6">
            <a:extLst>
              <a:ext uri="{FF2B5EF4-FFF2-40B4-BE49-F238E27FC236}">
                <a16:creationId xmlns:a16="http://schemas.microsoft.com/office/drawing/2014/main" id="{F47E1216-C9D3-60D3-B3E8-43E38B5791F4}"/>
              </a:ext>
            </a:extLst>
          </p:cNvPr>
          <p:cNvSpPr txBox="1"/>
          <p:nvPr/>
        </p:nvSpPr>
        <p:spPr>
          <a:xfrm>
            <a:off x="3587357" y="6286698"/>
            <a:ext cx="4128437" cy="215444"/>
          </a:xfrm>
          <a:prstGeom prst="rect">
            <a:avLst/>
          </a:prstGeom>
          <a:noFill/>
        </p:spPr>
        <p:txBody>
          <a:bodyPr wrap="square">
            <a:spAutoFit/>
          </a:bodyPr>
          <a:lstStyle/>
          <a:p>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　</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クリエイティブ費用は基本的に内包、開発費用は別途見積もりとなります。</a:t>
            </a:r>
            <a:endParaRPr lang="ja-JP" altLang="en-US" sz="800" dirty="0">
              <a:solidFill>
                <a:schemeClr val="bg1">
                  <a:lumMod val="50000"/>
                </a:schemeClr>
              </a:solidFill>
            </a:endParaRPr>
          </a:p>
        </p:txBody>
      </p:sp>
      <p:sp>
        <p:nvSpPr>
          <p:cNvPr id="13" name="正方形/長方形 12">
            <a:extLst>
              <a:ext uri="{FF2B5EF4-FFF2-40B4-BE49-F238E27FC236}">
                <a16:creationId xmlns:a16="http://schemas.microsoft.com/office/drawing/2014/main" id="{9256C170-205B-2224-D69D-D964BF991C26}"/>
              </a:ext>
            </a:extLst>
          </p:cNvPr>
          <p:cNvSpPr/>
          <p:nvPr/>
        </p:nvSpPr>
        <p:spPr>
          <a:xfrm>
            <a:off x="7664076" y="1733928"/>
            <a:ext cx="1904982" cy="4562295"/>
          </a:xfrm>
          <a:prstGeom prst="rect">
            <a:avLst/>
          </a:prstGeom>
          <a:solidFill>
            <a:schemeClr val="bg1">
              <a:alpha val="5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solidFill>
            </a:endParaRPr>
          </a:p>
        </p:txBody>
      </p:sp>
    </p:spTree>
    <p:extLst>
      <p:ext uri="{BB962C8B-B14F-4D97-AF65-F5344CB8AC3E}">
        <p14:creationId xmlns:p14="http://schemas.microsoft.com/office/powerpoint/2010/main" val="13354487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8856EBE-32D8-42F5-9D61-C53BF60EF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A6340BD7-9269-59A1-EA69-7426F07778B6}"/>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7C701305-F75E-4087-21C2-FA3CCCA8FB67}"/>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着地</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の動線が重要。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企画投稿（毎月）とステップ配信（定常的に運営）を組み合わせて最適動線に。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5" name="正方形/長方形 24">
            <a:extLst>
              <a:ext uri="{FF2B5EF4-FFF2-40B4-BE49-F238E27FC236}">
                <a16:creationId xmlns:a16="http://schemas.microsoft.com/office/drawing/2014/main" id="{1A40E6EC-1B5E-5E46-EF89-1167C08649BA}"/>
              </a:ext>
            </a:extLst>
          </p:cNvPr>
          <p:cNvSpPr/>
          <p:nvPr/>
        </p:nvSpPr>
        <p:spPr>
          <a:xfrm>
            <a:off x="963202" y="3662763"/>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友だち追加後</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1" name="図 30">
            <a:extLst>
              <a:ext uri="{FF2B5EF4-FFF2-40B4-BE49-F238E27FC236}">
                <a16:creationId xmlns:a16="http://schemas.microsoft.com/office/drawing/2014/main" id="{2FE26F6B-D35B-6A6B-42D2-794437452752}"/>
              </a:ext>
            </a:extLst>
          </p:cNvPr>
          <p:cNvPicPr>
            <a:picLocks noChangeAspect="1"/>
          </p:cNvPicPr>
          <p:nvPr/>
        </p:nvPicPr>
        <p:blipFill>
          <a:blip r:embed="rId2"/>
          <a:stretch>
            <a:fillRect/>
          </a:stretch>
        </p:blipFill>
        <p:spPr>
          <a:xfrm>
            <a:off x="776401" y="3566663"/>
            <a:ext cx="582602" cy="543237"/>
          </a:xfrm>
          <a:prstGeom prst="rect">
            <a:avLst/>
          </a:prstGeom>
        </p:spPr>
      </p:pic>
      <p:sp>
        <p:nvSpPr>
          <p:cNvPr id="34" name="正方形/長方形 33">
            <a:extLst>
              <a:ext uri="{FF2B5EF4-FFF2-40B4-BE49-F238E27FC236}">
                <a16:creationId xmlns:a16="http://schemas.microsoft.com/office/drawing/2014/main" id="{39403F1B-B20A-C75C-8FCB-74AAD1581A2F}"/>
              </a:ext>
            </a:extLst>
          </p:cNvPr>
          <p:cNvSpPr/>
          <p:nvPr/>
        </p:nvSpPr>
        <p:spPr>
          <a:xfrm>
            <a:off x="686977" y="2019915"/>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LP</a:t>
            </a: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HP</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5" name="図 34" descr="lpデザインイラスト｜無料イラスト・フリー素材なら「イラストAC」">
            <a:extLst>
              <a:ext uri="{FF2B5EF4-FFF2-40B4-BE49-F238E27FC236}">
                <a16:creationId xmlns:a16="http://schemas.microsoft.com/office/drawing/2014/main" id="{EA2CF7EC-851A-10FF-17B6-E422C43BD10B}"/>
              </a:ext>
            </a:extLst>
          </p:cNvPr>
          <p:cNvPicPr>
            <a:picLocks noChangeAspect="1"/>
          </p:cNvPicPr>
          <p:nvPr/>
        </p:nvPicPr>
        <p:blipFill>
          <a:blip r:embed="rId3"/>
          <a:stretch>
            <a:fillRect/>
          </a:stretch>
        </p:blipFill>
        <p:spPr>
          <a:xfrm>
            <a:off x="272658" y="1875286"/>
            <a:ext cx="853665" cy="640720"/>
          </a:xfrm>
          <a:prstGeom prst="rect">
            <a:avLst/>
          </a:prstGeom>
        </p:spPr>
      </p:pic>
      <p:sp>
        <p:nvSpPr>
          <p:cNvPr id="40" name="矢印: 下 39">
            <a:extLst>
              <a:ext uri="{FF2B5EF4-FFF2-40B4-BE49-F238E27FC236}">
                <a16:creationId xmlns:a16="http://schemas.microsoft.com/office/drawing/2014/main" id="{0D54B1A9-3944-66DE-F219-BB4192EDE144}"/>
              </a:ext>
            </a:extLst>
          </p:cNvPr>
          <p:cNvSpPr/>
          <p:nvPr/>
        </p:nvSpPr>
        <p:spPr>
          <a:xfrm>
            <a:off x="3290805"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矢印: 下 40">
            <a:extLst>
              <a:ext uri="{FF2B5EF4-FFF2-40B4-BE49-F238E27FC236}">
                <a16:creationId xmlns:a16="http://schemas.microsoft.com/office/drawing/2014/main" id="{781A5984-3599-DC05-2E88-6BB61F188EB3}"/>
              </a:ext>
            </a:extLst>
          </p:cNvPr>
          <p:cNvSpPr/>
          <p:nvPr/>
        </p:nvSpPr>
        <p:spPr>
          <a:xfrm>
            <a:off x="5657443"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矢印: 下 41">
            <a:extLst>
              <a:ext uri="{FF2B5EF4-FFF2-40B4-BE49-F238E27FC236}">
                <a16:creationId xmlns:a16="http://schemas.microsoft.com/office/drawing/2014/main" id="{1C76D7C3-BFEE-8DA3-57FA-033BD7E35285}"/>
              </a:ext>
            </a:extLst>
          </p:cNvPr>
          <p:cNvSpPr/>
          <p:nvPr/>
        </p:nvSpPr>
        <p:spPr>
          <a:xfrm>
            <a:off x="5657443" y="201991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矢印: 下 42">
            <a:extLst>
              <a:ext uri="{FF2B5EF4-FFF2-40B4-BE49-F238E27FC236}">
                <a16:creationId xmlns:a16="http://schemas.microsoft.com/office/drawing/2014/main" id="{4E9F9DC2-BA49-A440-DA89-D45BC9E52C3A}"/>
              </a:ext>
            </a:extLst>
          </p:cNvPr>
          <p:cNvSpPr/>
          <p:nvPr/>
        </p:nvSpPr>
        <p:spPr>
          <a:xfrm>
            <a:off x="3290805" y="5241933"/>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矢印: 下 43">
            <a:extLst>
              <a:ext uri="{FF2B5EF4-FFF2-40B4-BE49-F238E27FC236}">
                <a16:creationId xmlns:a16="http://schemas.microsoft.com/office/drawing/2014/main" id="{6915D3B6-2B4C-5707-CB40-2696B722BA40}"/>
              </a:ext>
            </a:extLst>
          </p:cNvPr>
          <p:cNvSpPr/>
          <p:nvPr/>
        </p:nvSpPr>
        <p:spPr>
          <a:xfrm>
            <a:off x="5657443" y="5241933"/>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正方形/長方形 45">
            <a:extLst>
              <a:ext uri="{FF2B5EF4-FFF2-40B4-BE49-F238E27FC236}">
                <a16:creationId xmlns:a16="http://schemas.microsoft.com/office/drawing/2014/main" id="{D988BB36-5119-99B1-DF59-D4B80D30745C}"/>
              </a:ext>
            </a:extLst>
          </p:cNvPr>
          <p:cNvSpPr/>
          <p:nvPr/>
        </p:nvSpPr>
        <p:spPr>
          <a:xfrm>
            <a:off x="963202" y="5305611"/>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具体アクション</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48" name="図 47">
            <a:extLst>
              <a:ext uri="{FF2B5EF4-FFF2-40B4-BE49-F238E27FC236}">
                <a16:creationId xmlns:a16="http://schemas.microsoft.com/office/drawing/2014/main" id="{FE05BA15-FE69-7259-F5B1-7935A92DDFC1}"/>
              </a:ext>
            </a:extLst>
          </p:cNvPr>
          <p:cNvPicPr>
            <a:picLocks noChangeAspect="1"/>
          </p:cNvPicPr>
          <p:nvPr/>
        </p:nvPicPr>
        <p:blipFill>
          <a:blip r:embed="rId2"/>
          <a:stretch>
            <a:fillRect/>
          </a:stretch>
        </p:blipFill>
        <p:spPr>
          <a:xfrm>
            <a:off x="776401" y="5203250"/>
            <a:ext cx="582602" cy="543237"/>
          </a:xfrm>
          <a:prstGeom prst="rect">
            <a:avLst/>
          </a:prstGeom>
        </p:spPr>
      </p:pic>
      <p:sp>
        <p:nvSpPr>
          <p:cNvPr id="68" name="矢印: 下 67">
            <a:extLst>
              <a:ext uri="{FF2B5EF4-FFF2-40B4-BE49-F238E27FC236}">
                <a16:creationId xmlns:a16="http://schemas.microsoft.com/office/drawing/2014/main" id="{552BBE13-4EF3-7D14-9401-EE47B669E0A1}"/>
              </a:ext>
            </a:extLst>
          </p:cNvPr>
          <p:cNvSpPr/>
          <p:nvPr/>
        </p:nvSpPr>
        <p:spPr>
          <a:xfrm>
            <a:off x="8023941" y="3630924"/>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矢印: 下 68">
            <a:extLst>
              <a:ext uri="{FF2B5EF4-FFF2-40B4-BE49-F238E27FC236}">
                <a16:creationId xmlns:a16="http://schemas.microsoft.com/office/drawing/2014/main" id="{1CE2AD45-B81D-8C9E-9BEA-EE8F41408D09}"/>
              </a:ext>
            </a:extLst>
          </p:cNvPr>
          <p:cNvSpPr/>
          <p:nvPr/>
        </p:nvSpPr>
        <p:spPr>
          <a:xfrm>
            <a:off x="8023941" y="5241933"/>
            <a:ext cx="792480" cy="1246418"/>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矢印: 下 69">
            <a:extLst>
              <a:ext uri="{FF2B5EF4-FFF2-40B4-BE49-F238E27FC236}">
                <a16:creationId xmlns:a16="http://schemas.microsoft.com/office/drawing/2014/main" id="{841F38E6-682B-0593-E7F1-B970924D2312}"/>
              </a:ext>
            </a:extLst>
          </p:cNvPr>
          <p:cNvSpPr/>
          <p:nvPr/>
        </p:nvSpPr>
        <p:spPr>
          <a:xfrm>
            <a:off x="8007886" y="202849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正方形/長方形 71">
            <a:extLst>
              <a:ext uri="{FF2B5EF4-FFF2-40B4-BE49-F238E27FC236}">
                <a16:creationId xmlns:a16="http://schemas.microsoft.com/office/drawing/2014/main" id="{EB9A5047-E824-A278-1DE7-38BCB5F653E4}"/>
              </a:ext>
            </a:extLst>
          </p:cNvPr>
          <p:cNvSpPr/>
          <p:nvPr/>
        </p:nvSpPr>
        <p:spPr>
          <a:xfrm>
            <a:off x="2835604" y="2013850"/>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その他動線</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pSp>
        <p:nvGrpSpPr>
          <p:cNvPr id="18" name="グループ化 17">
            <a:extLst>
              <a:ext uri="{FF2B5EF4-FFF2-40B4-BE49-F238E27FC236}">
                <a16:creationId xmlns:a16="http://schemas.microsoft.com/office/drawing/2014/main" id="{D0BB931D-9C48-0F74-78B7-B39FB7567FB3}"/>
              </a:ext>
            </a:extLst>
          </p:cNvPr>
          <p:cNvGrpSpPr/>
          <p:nvPr/>
        </p:nvGrpSpPr>
        <p:grpSpPr>
          <a:xfrm>
            <a:off x="2497445" y="1791214"/>
            <a:ext cx="885030" cy="827297"/>
            <a:chOff x="2497445" y="1791214"/>
            <a:chExt cx="885030" cy="827297"/>
          </a:xfrm>
        </p:grpSpPr>
        <p:pic>
          <p:nvPicPr>
            <p:cNvPr id="73" name="図 72">
              <a:extLst>
                <a:ext uri="{FF2B5EF4-FFF2-40B4-BE49-F238E27FC236}">
                  <a16:creationId xmlns:a16="http://schemas.microsoft.com/office/drawing/2014/main" id="{95316F7A-1FC1-3A66-5456-79F5F636388C}"/>
                </a:ext>
              </a:extLst>
            </p:cNvPr>
            <p:cNvPicPr>
              <a:picLocks noChangeAspect="1"/>
            </p:cNvPicPr>
            <p:nvPr/>
          </p:nvPicPr>
          <p:blipFill>
            <a:blip r:embed="rId4"/>
            <a:stretch>
              <a:fillRect/>
            </a:stretch>
          </p:blipFill>
          <p:spPr>
            <a:xfrm>
              <a:off x="2497445" y="1791214"/>
              <a:ext cx="420559" cy="556499"/>
            </a:xfrm>
            <a:prstGeom prst="rect">
              <a:avLst/>
            </a:prstGeom>
          </p:spPr>
        </p:pic>
        <p:pic>
          <p:nvPicPr>
            <p:cNvPr id="74" name="図 73" descr="生活・その他】SNSとスマホのかわいいフリーイラスト | フタバのフリーイラスト">
              <a:extLst>
                <a:ext uri="{FF2B5EF4-FFF2-40B4-BE49-F238E27FC236}">
                  <a16:creationId xmlns:a16="http://schemas.microsoft.com/office/drawing/2014/main" id="{425A3C52-3D63-0CC5-2649-471F74876F03}"/>
                </a:ext>
              </a:extLst>
            </p:cNvPr>
            <p:cNvPicPr>
              <a:picLocks noChangeAspect="1"/>
            </p:cNvPicPr>
            <p:nvPr/>
          </p:nvPicPr>
          <p:blipFill>
            <a:blip r:embed="rId5"/>
            <a:stretch>
              <a:fillRect/>
            </a:stretch>
          </p:blipFill>
          <p:spPr>
            <a:xfrm>
              <a:off x="2610493" y="1846529"/>
              <a:ext cx="771982" cy="771982"/>
            </a:xfrm>
            <a:prstGeom prst="rect">
              <a:avLst/>
            </a:prstGeom>
          </p:spPr>
        </p:pic>
      </p:grpSp>
      <p:sp>
        <p:nvSpPr>
          <p:cNvPr id="76" name="テキスト ボックス 75">
            <a:extLst>
              <a:ext uri="{FF2B5EF4-FFF2-40B4-BE49-F238E27FC236}">
                <a16:creationId xmlns:a16="http://schemas.microsoft.com/office/drawing/2014/main" id="{A26D9D0D-8E50-52D9-7E65-8B19393671D2}"/>
              </a:ext>
            </a:extLst>
          </p:cNvPr>
          <p:cNvSpPr txBox="1"/>
          <p:nvPr/>
        </p:nvSpPr>
        <p:spPr>
          <a:xfrm>
            <a:off x="4820619" y="2013850"/>
            <a:ext cx="2466126"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友だち追加によるメリット提示</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✓限定クーポン　✓限定特典</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上でのコミュニケーション誘導</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LINE</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で査定　✓</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LINE</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で相談</a:t>
            </a:r>
            <a:endParaRPr lang="ja-JP" altLang="en-US" sz="1000" dirty="0">
              <a:solidFill>
                <a:schemeClr val="bg1">
                  <a:lumMod val="50000"/>
                </a:schemeClr>
              </a:solidFill>
            </a:endParaRPr>
          </a:p>
        </p:txBody>
      </p:sp>
      <p:sp>
        <p:nvSpPr>
          <p:cNvPr id="77" name="テキスト ボックス 76">
            <a:extLst>
              <a:ext uri="{FF2B5EF4-FFF2-40B4-BE49-F238E27FC236}">
                <a16:creationId xmlns:a16="http://schemas.microsoft.com/office/drawing/2014/main" id="{CFFD44FF-E632-A42A-AFD2-C978D5EB4382}"/>
              </a:ext>
            </a:extLst>
          </p:cNvPr>
          <p:cNvSpPr txBox="1"/>
          <p:nvPr/>
        </p:nvSpPr>
        <p:spPr>
          <a:xfrm>
            <a:off x="7498219" y="2013850"/>
            <a:ext cx="1852837"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でのナーチャリング</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✓アンケート回答</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で診断</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✓おすすめプランの提示</a:t>
            </a:r>
            <a:endParaRPr lang="ja-JP" altLang="en-US" sz="1000" dirty="0">
              <a:solidFill>
                <a:schemeClr val="bg1">
                  <a:lumMod val="50000"/>
                </a:schemeClr>
              </a:solidFill>
            </a:endParaRPr>
          </a:p>
        </p:txBody>
      </p:sp>
      <p:sp>
        <p:nvSpPr>
          <p:cNvPr id="78" name="テキスト ボックス 77">
            <a:extLst>
              <a:ext uri="{FF2B5EF4-FFF2-40B4-BE49-F238E27FC236}">
                <a16:creationId xmlns:a16="http://schemas.microsoft.com/office/drawing/2014/main" id="{2A92B9D2-AE81-B8F1-2775-9BABDBB2FB72}"/>
              </a:ext>
            </a:extLst>
          </p:cNvPr>
          <p:cNvSpPr txBox="1"/>
          <p:nvPr/>
        </p:nvSpPr>
        <p:spPr>
          <a:xfrm>
            <a:off x="4820619" y="3575596"/>
            <a:ext cx="2466126"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◯企画投稿</a:t>
            </a: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（月間投稿数）</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✓〇〇の季節、〇〇の日にちなんだ</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年齢→ライフイベント、よくある悩み</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アンケ回答例→学習コンテンツ</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79" name="テキスト ボックス 78">
            <a:extLst>
              <a:ext uri="{FF2B5EF4-FFF2-40B4-BE49-F238E27FC236}">
                <a16:creationId xmlns:a16="http://schemas.microsoft.com/office/drawing/2014/main" id="{3F5D2439-D550-34BB-53D6-091E9B32BF3C}"/>
              </a:ext>
            </a:extLst>
          </p:cNvPr>
          <p:cNvSpPr txBox="1"/>
          <p:nvPr/>
        </p:nvSpPr>
        <p:spPr>
          <a:xfrm>
            <a:off x="7303671" y="3575596"/>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✓友だち追加後◯日で</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（前後検索ニーズを調査）</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✓学習が進行する導線設計</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特典等</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興味</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共感</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信頼</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オファー</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p>
        </p:txBody>
      </p:sp>
      <p:sp>
        <p:nvSpPr>
          <p:cNvPr id="82" name="テキスト ボックス 81">
            <a:extLst>
              <a:ext uri="{FF2B5EF4-FFF2-40B4-BE49-F238E27FC236}">
                <a16:creationId xmlns:a16="http://schemas.microsoft.com/office/drawing/2014/main" id="{F966D387-7E84-4F68-9C81-89F870210C79}"/>
              </a:ext>
            </a:extLst>
          </p:cNvPr>
          <p:cNvSpPr txBox="1"/>
          <p:nvPr/>
        </p:nvSpPr>
        <p:spPr>
          <a:xfrm>
            <a:off x="2772451" y="3575596"/>
            <a:ext cx="1852837"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◯あいさつメッセージ</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情報収集</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配信セグメントに活用</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◯プロフ・リッチメニュー</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sp>
        <p:nvSpPr>
          <p:cNvPr id="83" name="テキスト ボックス 82">
            <a:extLst>
              <a:ext uri="{FF2B5EF4-FFF2-40B4-BE49-F238E27FC236}">
                <a16:creationId xmlns:a16="http://schemas.microsoft.com/office/drawing/2014/main" id="{DCCA9A41-7AF8-A7E5-C05D-3CCE4D53D056}"/>
              </a:ext>
            </a:extLst>
          </p:cNvPr>
          <p:cNvSpPr txBox="1"/>
          <p:nvPr/>
        </p:nvSpPr>
        <p:spPr>
          <a:xfrm>
            <a:off x="7493762" y="5192489"/>
            <a:ext cx="1852837" cy="969496"/>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アフター</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フォロー</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✓よくある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QA</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集の自動化</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✓チャット定型文の作成</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7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◯友だち紹介斡旋</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✓紹介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CP</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などに誘導</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4" name="テキスト ボックス 83">
            <a:extLst>
              <a:ext uri="{FF2B5EF4-FFF2-40B4-BE49-F238E27FC236}">
                <a16:creationId xmlns:a16="http://schemas.microsoft.com/office/drawing/2014/main" id="{51666C25-34AB-775A-D360-970178A01029}"/>
              </a:ext>
            </a:extLst>
          </p:cNvPr>
          <p:cNvSpPr txBox="1"/>
          <p:nvPr/>
        </p:nvSpPr>
        <p:spPr>
          <a:xfrm>
            <a:off x="5015076" y="5197869"/>
            <a:ext cx="2038121"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◯アクション済</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✓応答メッセージ等で満足度↑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sym typeface="Meiryo"/>
              </a:rPr>
              <a:t>◯再購入・クロスセル</a:t>
            </a:r>
            <a:endParaRPr lang="en-US" altLang="ja-JP" sz="1000" b="1"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65000"/>
                  </a:schemeClr>
                </a:solidFill>
                <a:latin typeface="メイリオ" panose="020B0604030504040204" pitchFamily="50" charset="-128"/>
                <a:ea typeface="メイリオ" panose="020B0604030504040204" pitchFamily="50" charset="-128"/>
                <a:sym typeface="Meiryo"/>
              </a:rPr>
              <a:t>✓再購入時期、併売商品を設定</a:t>
            </a:r>
            <a:endParaRPr lang="en-US" altLang="ja-JP" sz="1000" dirty="0">
              <a:solidFill>
                <a:schemeClr val="bg1">
                  <a:lumMod val="65000"/>
                </a:schemeClr>
              </a:solidFill>
              <a:latin typeface="メイリオ" panose="020B0604030504040204" pitchFamily="50" charset="-128"/>
              <a:ea typeface="メイリオ" panose="020B0604030504040204" pitchFamily="50" charset="-128"/>
              <a:sym typeface="Meiryo"/>
            </a:endParaRPr>
          </a:p>
        </p:txBody>
      </p:sp>
      <p:sp>
        <p:nvSpPr>
          <p:cNvPr id="85" name="テキスト ボックス 84">
            <a:extLst>
              <a:ext uri="{FF2B5EF4-FFF2-40B4-BE49-F238E27FC236}">
                <a16:creationId xmlns:a16="http://schemas.microsoft.com/office/drawing/2014/main" id="{E36E01A8-5E8D-6868-5242-258854A6C11E}"/>
              </a:ext>
            </a:extLst>
          </p:cNvPr>
          <p:cNvSpPr txBox="1"/>
          <p:nvPr/>
        </p:nvSpPr>
        <p:spPr>
          <a:xfrm>
            <a:off x="2577903" y="5197869"/>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◯再・簡易アンケート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診断</a:t>
            </a:r>
            <a:r>
              <a:rPr lang="en-US" altLang="ja-JP" sz="1000" b="1" dirty="0">
                <a:latin typeface="メイリオ" panose="020B0604030504040204" pitchFamily="50" charset="-128"/>
                <a:ea typeface="メイリオ" panose="020B0604030504040204" pitchFamily="50" charset="-128"/>
                <a:cs typeface="Meiryo"/>
                <a:sym typeface="Meiryo"/>
              </a:rPr>
              <a:t>)</a:t>
            </a: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✓休眠層に対して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サービス軸と異なる診断軸を用意</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◯商品訴求を再押し</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✓再度サービス訴求を実施</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 name="矢印: 下 7">
            <a:extLst>
              <a:ext uri="{FF2B5EF4-FFF2-40B4-BE49-F238E27FC236}">
                <a16:creationId xmlns:a16="http://schemas.microsoft.com/office/drawing/2014/main" id="{BE6FB710-6D0D-A062-5DC4-E7437CE5BDE1}"/>
              </a:ext>
            </a:extLst>
          </p:cNvPr>
          <p:cNvSpPr/>
          <p:nvPr/>
        </p:nvSpPr>
        <p:spPr>
          <a:xfrm>
            <a:off x="8045609" y="1409403"/>
            <a:ext cx="871728" cy="395993"/>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92FDFDEB-CB5F-8A45-29AB-C10FC6580A7C}"/>
              </a:ext>
            </a:extLst>
          </p:cNvPr>
          <p:cNvSpPr/>
          <p:nvPr/>
        </p:nvSpPr>
        <p:spPr>
          <a:xfrm>
            <a:off x="8919666" y="1412851"/>
            <a:ext cx="871728" cy="395993"/>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矢印: 下 10">
            <a:extLst>
              <a:ext uri="{FF2B5EF4-FFF2-40B4-BE49-F238E27FC236}">
                <a16:creationId xmlns:a16="http://schemas.microsoft.com/office/drawing/2014/main" id="{218212FE-3645-DB9F-3397-0748130F1AF8}"/>
              </a:ext>
            </a:extLst>
          </p:cNvPr>
          <p:cNvSpPr/>
          <p:nvPr/>
        </p:nvSpPr>
        <p:spPr>
          <a:xfrm>
            <a:off x="7180483" y="1412851"/>
            <a:ext cx="871728" cy="395993"/>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2D2D0860-25E1-93CE-4600-A1274BD77509}"/>
              </a:ext>
            </a:extLst>
          </p:cNvPr>
          <p:cNvSpPr txBox="1"/>
          <p:nvPr/>
        </p:nvSpPr>
        <p:spPr>
          <a:xfrm>
            <a:off x="7180483" y="1445284"/>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cs typeface="Meiryo"/>
                <a:sym typeface="Meiryo"/>
              </a:rPr>
              <a:t>企画</a:t>
            </a:r>
            <a:endParaRPr lang="en-US" altLang="ja-JP" sz="800" dirty="0">
              <a:latin typeface="メイリオ" panose="020B0604030504040204" pitchFamily="50" charset="-128"/>
              <a:ea typeface="メイリオ" panose="020B0604030504040204" pitchFamily="50" charset="-128"/>
              <a:cs typeface="Meiryo"/>
              <a:sym typeface="Meiryo"/>
            </a:endParaRPr>
          </a:p>
          <a:p>
            <a:pPr algn="ctr"/>
            <a:r>
              <a:rPr lang="ja-JP" altLang="en-US" sz="800" dirty="0">
                <a:latin typeface="メイリオ" panose="020B0604030504040204" pitchFamily="50" charset="-128"/>
                <a:ea typeface="メイリオ" panose="020B0604030504040204" pitchFamily="50" charset="-128"/>
                <a:sym typeface="Meiryo"/>
              </a:rPr>
              <a:t>投稿</a:t>
            </a:r>
            <a:endParaRPr lang="ja-JP" altLang="en-US" sz="800" dirty="0"/>
          </a:p>
        </p:txBody>
      </p:sp>
      <p:sp>
        <p:nvSpPr>
          <p:cNvPr id="13" name="テキスト ボックス 12">
            <a:extLst>
              <a:ext uri="{FF2B5EF4-FFF2-40B4-BE49-F238E27FC236}">
                <a16:creationId xmlns:a16="http://schemas.microsoft.com/office/drawing/2014/main" id="{A87B802C-245D-9C6E-1C33-7190F3073124}"/>
              </a:ext>
            </a:extLst>
          </p:cNvPr>
          <p:cNvSpPr txBox="1"/>
          <p:nvPr/>
        </p:nvSpPr>
        <p:spPr>
          <a:xfrm>
            <a:off x="8050075" y="1452197"/>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ステップ</a:t>
            </a:r>
            <a:endParaRPr lang="en-US" altLang="ja-JP" sz="800" dirty="0">
              <a:latin typeface="メイリオ" panose="020B0604030504040204" pitchFamily="50" charset="-128"/>
              <a:ea typeface="メイリオ" panose="020B0604030504040204" pitchFamily="50" charset="-128"/>
            </a:endParaRPr>
          </a:p>
          <a:p>
            <a:pPr algn="ctr"/>
            <a:r>
              <a:rPr lang="ja-JP" altLang="en-US" sz="800" dirty="0">
                <a:latin typeface="メイリオ" panose="020B0604030504040204" pitchFamily="50" charset="-128"/>
                <a:ea typeface="メイリオ" panose="020B0604030504040204" pitchFamily="50" charset="-128"/>
              </a:rPr>
              <a:t>配信</a:t>
            </a:r>
          </a:p>
        </p:txBody>
      </p:sp>
      <p:sp>
        <p:nvSpPr>
          <p:cNvPr id="14" name="テキスト ボックス 13">
            <a:extLst>
              <a:ext uri="{FF2B5EF4-FFF2-40B4-BE49-F238E27FC236}">
                <a16:creationId xmlns:a16="http://schemas.microsoft.com/office/drawing/2014/main" id="{D775BACA-B985-5029-1E70-8D28879E88EC}"/>
              </a:ext>
            </a:extLst>
          </p:cNvPr>
          <p:cNvSpPr txBox="1"/>
          <p:nvPr/>
        </p:nvSpPr>
        <p:spPr>
          <a:xfrm>
            <a:off x="8910735" y="1438122"/>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貴社対応</a:t>
            </a:r>
            <a:endParaRPr lang="en-US" altLang="ja-JP" sz="800" dirty="0">
              <a:latin typeface="メイリオ" panose="020B0604030504040204" pitchFamily="50" charset="-128"/>
              <a:ea typeface="メイリオ" panose="020B0604030504040204" pitchFamily="50" charset="-128"/>
            </a:endParaRPr>
          </a:p>
          <a:p>
            <a:pPr algn="ctr"/>
            <a:r>
              <a:rPr lang="en-US" altLang="ja-JP" sz="800" dirty="0">
                <a:latin typeface="メイリオ" panose="020B0604030504040204" pitchFamily="50" charset="-128"/>
                <a:ea typeface="メイリオ" panose="020B0604030504040204" pitchFamily="50" charset="-128"/>
              </a:rPr>
              <a:t>※</a:t>
            </a:r>
            <a:r>
              <a:rPr lang="ja-JP" altLang="en-US" sz="800" dirty="0">
                <a:latin typeface="メイリオ" panose="020B0604030504040204" pitchFamily="50" charset="-128"/>
                <a:ea typeface="メイリオ" panose="020B0604030504040204" pitchFamily="50" charset="-128"/>
              </a:rPr>
              <a:t>軽減</a:t>
            </a:r>
          </a:p>
        </p:txBody>
      </p:sp>
      <p:sp>
        <p:nvSpPr>
          <p:cNvPr id="15" name="正方形/長方形 14">
            <a:extLst>
              <a:ext uri="{FF2B5EF4-FFF2-40B4-BE49-F238E27FC236}">
                <a16:creationId xmlns:a16="http://schemas.microsoft.com/office/drawing/2014/main" id="{B0439D32-FABC-CA34-F07C-587F509AEF1D}"/>
              </a:ext>
            </a:extLst>
          </p:cNvPr>
          <p:cNvSpPr/>
          <p:nvPr/>
        </p:nvSpPr>
        <p:spPr>
          <a:xfrm>
            <a:off x="7116723" y="1367434"/>
            <a:ext cx="2725750" cy="483252"/>
          </a:xfrm>
          <a:prstGeom prst="rect">
            <a:avLst/>
          </a:prstGeom>
          <a:no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コネクタ: カギ線 19">
            <a:extLst>
              <a:ext uri="{FF2B5EF4-FFF2-40B4-BE49-F238E27FC236}">
                <a16:creationId xmlns:a16="http://schemas.microsoft.com/office/drawing/2014/main" id="{B6880BFB-9CE8-682D-5E73-400E7A9D4984}"/>
              </a:ext>
            </a:extLst>
          </p:cNvPr>
          <p:cNvCxnSpPr>
            <a:cxnSpLocks/>
            <a:stCxn id="74" idx="2"/>
            <a:endCxn id="25" idx="0"/>
          </p:cNvCxnSpPr>
          <p:nvPr/>
        </p:nvCxnSpPr>
        <p:spPr>
          <a:xfrm rot="5400000">
            <a:off x="1884437" y="2550716"/>
            <a:ext cx="1044252" cy="1179842"/>
          </a:xfrm>
          <a:prstGeom prst="bentConnector3">
            <a:avLst>
              <a:gd name="adj1" fmla="val 50000"/>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コネクタ: カギ線 26">
            <a:extLst>
              <a:ext uri="{FF2B5EF4-FFF2-40B4-BE49-F238E27FC236}">
                <a16:creationId xmlns:a16="http://schemas.microsoft.com/office/drawing/2014/main" id="{EF07FDA7-6FC7-C204-99A4-DB47A6724969}"/>
              </a:ext>
            </a:extLst>
          </p:cNvPr>
          <p:cNvCxnSpPr>
            <a:cxnSpLocks/>
            <a:endCxn id="25" idx="0"/>
          </p:cNvCxnSpPr>
          <p:nvPr/>
        </p:nvCxnSpPr>
        <p:spPr>
          <a:xfrm rot="16200000" flipH="1">
            <a:off x="693395" y="2539516"/>
            <a:ext cx="1138050" cy="1108444"/>
          </a:xfrm>
          <a:prstGeom prst="bentConnector3">
            <a:avLst>
              <a:gd name="adj1" fmla="val 54185"/>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B79B5748-0A9B-B2A8-36EE-9B6743393A50}"/>
              </a:ext>
            </a:extLst>
          </p:cNvPr>
          <p:cNvCxnSpPr>
            <a:stCxn id="25" idx="2"/>
            <a:endCxn id="46" idx="0"/>
          </p:cNvCxnSpPr>
          <p:nvPr/>
        </p:nvCxnSpPr>
        <p:spPr>
          <a:xfrm>
            <a:off x="1816642" y="4001277"/>
            <a:ext cx="0" cy="1304334"/>
          </a:xfrm>
          <a:prstGeom prst="straightConnector1">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38656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55786A2-F100-6AA6-4BA2-C612ABD2107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友だち追加～</a:t>
            </a:r>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日を境に大きくアクティブ率が下がる（ブロック率が上がる）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為、追加から</a:t>
            </a:r>
            <a:r>
              <a:rPr lang="en-US" altLang="ja-JP" sz="1600" b="1" dirty="0">
                <a:latin typeface="メイリオ" panose="020B0604030504040204" pitchFamily="50" charset="-128"/>
                <a:ea typeface="メイリオ" panose="020B0604030504040204" pitchFamily="50" charset="-128"/>
                <a:cs typeface="Meiryo"/>
                <a:sym typeface="Meiryo"/>
              </a:rPr>
              <a:t>20‐30</a:t>
            </a:r>
            <a:r>
              <a:rPr lang="ja-JP" altLang="en-US" sz="1600" b="1" dirty="0">
                <a:latin typeface="メイリオ" panose="020B0604030504040204" pitchFamily="50" charset="-128"/>
                <a:ea typeface="メイリオ" panose="020B0604030504040204" pitchFamily="50" charset="-128"/>
                <a:cs typeface="Meiryo"/>
                <a:sym typeface="Meiryo"/>
              </a:rPr>
              <a:t>日間のステップ配信構築とユーザビリティの改善が必要に。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bg1"/>
                </a:solidFill>
                <a:latin typeface="メイリオ" panose="020B0604030504040204" pitchFamily="50" charset="-128"/>
                <a:ea typeface="メイリオ" panose="020B0604030504040204" pitchFamily="50" charset="-128"/>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15</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30</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FF0000"/>
                </a:solidFill>
                <a:latin typeface="メイリオ" panose="020B0604030504040204" pitchFamily="50" charset="-128"/>
                <a:ea typeface="メイリオ" panose="020B0604030504040204" pitchFamily="50" charset="-128"/>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065560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a:t>
            </a: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を軸に配信戦略を組み立てることでユーザーのアクティブ率を保った状態で運用。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1" name="テキスト ボックス 10">
            <a:extLst>
              <a:ext uri="{FF2B5EF4-FFF2-40B4-BE49-F238E27FC236}">
                <a16:creationId xmlns:a16="http://schemas.microsoft.com/office/drawing/2014/main" id="{1CD1533E-1582-9E17-EE6F-EA2F4BE96D58}"/>
              </a:ext>
            </a:extLst>
          </p:cNvPr>
          <p:cNvSpPr txBox="1"/>
          <p:nvPr/>
        </p:nvSpPr>
        <p:spPr>
          <a:xfrm>
            <a:off x="422130" y="1861195"/>
            <a:ext cx="2352196" cy="446111"/>
          </a:xfrm>
          <a:prstGeom prst="rect">
            <a:avLst/>
          </a:prstGeom>
          <a:solidFill>
            <a:schemeClr val="accent6">
              <a:lumMod val="40000"/>
              <a:lumOff val="60000"/>
              <a:alpha val="30000"/>
            </a:schemeClr>
          </a:solidFill>
        </p:spPr>
        <p:txBody>
          <a:bodyPr wrap="square">
            <a:spAutoFit/>
          </a:bodyPr>
          <a:lstStyle/>
          <a:p>
            <a:pPr>
              <a:buNone/>
            </a:pPr>
            <a:r>
              <a:rPr lang="ja-JP" altLang="ja-JP" sz="1200" b="1" dirty="0">
                <a:latin typeface="メイリオ" panose="020B0604030504040204" pitchFamily="50" charset="-128"/>
                <a:ea typeface="メイリオ" panose="020B0604030504040204" pitchFamily="50" charset="-128"/>
              </a:rPr>
              <a:t>① 接触（認知・流入）</a:t>
            </a:r>
          </a:p>
        </p:txBody>
      </p:sp>
      <p:sp>
        <p:nvSpPr>
          <p:cNvPr id="12" name="テキスト ボックス 11">
            <a:extLst>
              <a:ext uri="{FF2B5EF4-FFF2-40B4-BE49-F238E27FC236}">
                <a16:creationId xmlns:a16="http://schemas.microsoft.com/office/drawing/2014/main" id="{2C43BB1A-3D6A-04B9-F8ED-26CB7DCA3735}"/>
              </a:ext>
            </a:extLst>
          </p:cNvPr>
          <p:cNvSpPr txBox="1"/>
          <p:nvPr/>
        </p:nvSpPr>
        <p:spPr>
          <a:xfrm>
            <a:off x="422130" y="2931847"/>
            <a:ext cx="2352196" cy="446111"/>
          </a:xfrm>
          <a:prstGeom prst="rect">
            <a:avLst/>
          </a:prstGeom>
          <a:solidFill>
            <a:schemeClr val="accent6">
              <a:lumMod val="40000"/>
              <a:lumOff val="60000"/>
              <a:alpha val="30000"/>
            </a:schemeClr>
          </a:solidFill>
        </p:spPr>
        <p:txBody>
          <a:bodyPr wrap="square">
            <a:spAutoFit/>
          </a:bodyPr>
          <a:lstStyle/>
          <a:p>
            <a:pPr>
              <a:buNone/>
            </a:pPr>
            <a:r>
              <a:rPr lang="ja-JP" altLang="ja-JP" sz="1200" b="1" dirty="0">
                <a:latin typeface="メイリオ" panose="020B0604030504040204" pitchFamily="50" charset="-128"/>
                <a:ea typeface="メイリオ" panose="020B0604030504040204" pitchFamily="50" charset="-128"/>
              </a:rPr>
              <a:t>③ 育成（興味</a:t>
            </a:r>
            <a:r>
              <a:rPr lang="ja-JP" altLang="en-US" sz="1200" b="1" dirty="0">
                <a:latin typeface="メイリオ" panose="020B0604030504040204" pitchFamily="50" charset="-128"/>
                <a:ea typeface="メイリオ" panose="020B0604030504040204" pitchFamily="50" charset="-128"/>
              </a:rPr>
              <a:t>喚起</a:t>
            </a:r>
            <a:r>
              <a:rPr lang="ja-JP" altLang="ja-JP" sz="1200" b="1" dirty="0">
                <a:latin typeface="メイリオ" panose="020B0604030504040204" pitchFamily="50" charset="-128"/>
                <a:ea typeface="メイリオ" panose="020B0604030504040204" pitchFamily="50" charset="-128"/>
              </a:rPr>
              <a:t>）</a:t>
            </a:r>
          </a:p>
        </p:txBody>
      </p:sp>
      <p:sp>
        <p:nvSpPr>
          <p:cNvPr id="15" name="テキスト ボックス 14">
            <a:extLst>
              <a:ext uri="{FF2B5EF4-FFF2-40B4-BE49-F238E27FC236}">
                <a16:creationId xmlns:a16="http://schemas.microsoft.com/office/drawing/2014/main" id="{BCB10DC8-82CD-0C69-034B-7642E1296837}"/>
              </a:ext>
            </a:extLst>
          </p:cNvPr>
          <p:cNvSpPr txBox="1"/>
          <p:nvPr/>
        </p:nvSpPr>
        <p:spPr>
          <a:xfrm>
            <a:off x="422130" y="2396521"/>
            <a:ext cx="2352196" cy="446111"/>
          </a:xfrm>
          <a:prstGeom prst="rect">
            <a:avLst/>
          </a:prstGeom>
          <a:solidFill>
            <a:schemeClr val="accent6">
              <a:lumMod val="40000"/>
              <a:lumOff val="60000"/>
              <a:alpha val="30000"/>
            </a:schemeClr>
          </a:solidFill>
        </p:spPr>
        <p:txBody>
          <a:bodyPr wrap="square">
            <a:spAutoFit/>
          </a:bodyPr>
          <a:lstStyle/>
          <a:p>
            <a:pPr>
              <a:buNone/>
            </a:pPr>
            <a:r>
              <a:rPr lang="ja-JP" altLang="ja-JP" sz="1200" b="1" dirty="0">
                <a:latin typeface="メイリオ" panose="020B0604030504040204" pitchFamily="50" charset="-128"/>
                <a:ea typeface="メイリオ" panose="020B0604030504040204" pitchFamily="50" charset="-128"/>
              </a:rPr>
              <a:t>② サイト離脱</a:t>
            </a:r>
            <a:r>
              <a:rPr lang="ja-JP" altLang="en-US" sz="1200" b="1" dirty="0">
                <a:latin typeface="メイリオ" panose="020B0604030504040204" pitchFamily="50" charset="-128"/>
                <a:ea typeface="メイリオ" panose="020B0604030504040204" pitchFamily="50" charset="-128"/>
              </a:rPr>
              <a:t>（対策）</a:t>
            </a:r>
            <a:endParaRPr lang="ja-JP" altLang="ja-JP" sz="12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15AFA19-CD5F-9379-AE26-44B78C354860}"/>
              </a:ext>
            </a:extLst>
          </p:cNvPr>
          <p:cNvSpPr txBox="1"/>
          <p:nvPr/>
        </p:nvSpPr>
        <p:spPr>
          <a:xfrm>
            <a:off x="422130" y="3467172"/>
            <a:ext cx="2352196" cy="446111"/>
          </a:xfrm>
          <a:prstGeom prst="rect">
            <a:avLst/>
          </a:prstGeom>
          <a:solidFill>
            <a:schemeClr val="accent6">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④リード獲得 </a:t>
            </a:r>
            <a:r>
              <a:rPr lang="en-US" altLang="ja-JP" sz="1000" b="1" dirty="0">
                <a:latin typeface="メイリオ" panose="020B0604030504040204" pitchFamily="50" charset="-128"/>
                <a:ea typeface="メイリオ" panose="020B0604030504040204" pitchFamily="50" charset="-128"/>
              </a:rPr>
              <a:t>(web)</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22062743-7DD1-C474-56DE-C86161967F49}"/>
              </a:ext>
            </a:extLst>
          </p:cNvPr>
          <p:cNvSpPr txBox="1"/>
          <p:nvPr/>
        </p:nvSpPr>
        <p:spPr>
          <a:xfrm>
            <a:off x="422130" y="4407024"/>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⑤ リード有効化</a:t>
            </a:r>
            <a:endParaRPr lang="ja-JP" altLang="ja-JP" sz="12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B3F98235-7ECD-D5F4-08BE-76857355ABFA}"/>
              </a:ext>
            </a:extLst>
          </p:cNvPr>
          <p:cNvSpPr txBox="1"/>
          <p:nvPr/>
        </p:nvSpPr>
        <p:spPr>
          <a:xfrm>
            <a:off x="422130" y="5477676"/>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⑦マネタイズ</a:t>
            </a:r>
            <a:r>
              <a:rPr lang="en-US" altLang="ja-JP" sz="1050" b="1" dirty="0">
                <a:latin typeface="メイリオ" panose="020B0604030504040204" pitchFamily="50" charset="-128"/>
                <a:ea typeface="メイリオ" panose="020B0604030504040204" pitchFamily="50" charset="-128"/>
              </a:rPr>
              <a:t>(</a:t>
            </a:r>
            <a:r>
              <a:rPr lang="ja-JP" altLang="en-US" sz="1050" b="1" dirty="0">
                <a:latin typeface="メイリオ" panose="020B0604030504040204" pitchFamily="50" charset="-128"/>
                <a:ea typeface="メイリオ" panose="020B0604030504040204" pitchFamily="50" charset="-128"/>
              </a:rPr>
              <a:t>成約</a:t>
            </a:r>
            <a:r>
              <a:rPr lang="en-US" altLang="ja-JP" sz="1050" b="1" dirty="0">
                <a:latin typeface="メイリオ" panose="020B0604030504040204" pitchFamily="50" charset="-128"/>
                <a:ea typeface="メイリオ" panose="020B0604030504040204" pitchFamily="50" charset="-128"/>
              </a:rPr>
              <a:t>/</a:t>
            </a:r>
            <a:r>
              <a:rPr lang="ja-JP" altLang="en-US" sz="1050" b="1" dirty="0">
                <a:latin typeface="メイリオ" panose="020B0604030504040204" pitchFamily="50" charset="-128"/>
                <a:ea typeface="メイリオ" panose="020B0604030504040204" pitchFamily="50" charset="-128"/>
              </a:rPr>
              <a:t>購入</a:t>
            </a:r>
            <a:r>
              <a:rPr lang="en-US" altLang="ja-JP" sz="1050" b="1" dirty="0">
                <a:latin typeface="メイリオ" panose="020B0604030504040204" pitchFamily="50" charset="-128"/>
                <a:ea typeface="メイリオ" panose="020B0604030504040204" pitchFamily="50" charset="-128"/>
              </a:rPr>
              <a:t>)</a:t>
            </a:r>
            <a:endParaRPr lang="ja-JP" altLang="ja-JP" sz="1200" b="1"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999F747F-6C0D-0BDB-B5B7-8266514B8949}"/>
              </a:ext>
            </a:extLst>
          </p:cNvPr>
          <p:cNvSpPr txBox="1"/>
          <p:nvPr/>
        </p:nvSpPr>
        <p:spPr>
          <a:xfrm>
            <a:off x="422130" y="4942350"/>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⑥ 有効リードの再育成</a:t>
            </a:r>
            <a:endParaRPr lang="ja-JP" altLang="ja-JP" sz="12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A2277771-01BE-2A4E-C621-929D69C54177}"/>
              </a:ext>
            </a:extLst>
          </p:cNvPr>
          <p:cNvSpPr txBox="1"/>
          <p:nvPr/>
        </p:nvSpPr>
        <p:spPr>
          <a:xfrm>
            <a:off x="422130" y="6013004"/>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⑧</a:t>
            </a:r>
            <a:r>
              <a:rPr lang="en-US" altLang="ja-JP" sz="1200" b="1" dirty="0">
                <a:latin typeface="メイリオ" panose="020B0604030504040204" pitchFamily="50" charset="-128"/>
                <a:ea typeface="メイリオ" panose="020B0604030504040204" pitchFamily="50" charset="-128"/>
              </a:rPr>
              <a:t>LTV</a:t>
            </a:r>
            <a:r>
              <a:rPr lang="ja-JP" altLang="en-US" sz="1200" b="1" dirty="0">
                <a:latin typeface="メイリオ" panose="020B0604030504040204" pitchFamily="50" charset="-128"/>
                <a:ea typeface="メイリオ" panose="020B0604030504040204" pitchFamily="50" charset="-128"/>
              </a:rPr>
              <a:t>最大化・紹介</a:t>
            </a:r>
            <a:endParaRPr lang="ja-JP" altLang="ja-JP" sz="1200" b="1" dirty="0">
              <a:latin typeface="メイリオ" panose="020B0604030504040204" pitchFamily="50" charset="-128"/>
              <a:ea typeface="メイリオ" panose="020B0604030504040204" pitchFamily="50" charset="-128"/>
            </a:endParaRPr>
          </a:p>
        </p:txBody>
      </p:sp>
      <p:cxnSp>
        <p:nvCxnSpPr>
          <p:cNvPr id="21" name="直線矢印コネクタ 20">
            <a:extLst>
              <a:ext uri="{FF2B5EF4-FFF2-40B4-BE49-F238E27FC236}">
                <a16:creationId xmlns:a16="http://schemas.microsoft.com/office/drawing/2014/main" id="{9CD79024-49B9-DF89-8EE9-633017761437}"/>
              </a:ext>
            </a:extLst>
          </p:cNvPr>
          <p:cNvCxnSpPr>
            <a:cxnSpLocks/>
          </p:cNvCxnSpPr>
          <p:nvPr/>
        </p:nvCxnSpPr>
        <p:spPr>
          <a:xfrm>
            <a:off x="725974" y="3934112"/>
            <a:ext cx="0" cy="474234"/>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2" name="テキスト ボックス 31">
            <a:extLst>
              <a:ext uri="{FF2B5EF4-FFF2-40B4-BE49-F238E27FC236}">
                <a16:creationId xmlns:a16="http://schemas.microsoft.com/office/drawing/2014/main" id="{3707324A-CA31-10C7-B6B8-E3A9A53CC3A2}"/>
              </a:ext>
            </a:extLst>
          </p:cNvPr>
          <p:cNvSpPr txBox="1"/>
          <p:nvPr/>
        </p:nvSpPr>
        <p:spPr>
          <a:xfrm>
            <a:off x="5143202" y="1861195"/>
            <a:ext cx="2352196" cy="446111"/>
          </a:xfrm>
          <a:prstGeom prst="rect">
            <a:avLst/>
          </a:prstGeom>
          <a:solidFill>
            <a:schemeClr val="accent6">
              <a:lumMod val="40000"/>
              <a:lumOff val="60000"/>
              <a:alpha val="30000"/>
            </a:schemeClr>
          </a:solidFill>
        </p:spPr>
        <p:txBody>
          <a:bodyPr wrap="square">
            <a:spAutoFit/>
          </a:bodyPr>
          <a:lstStyle/>
          <a:p>
            <a:pPr>
              <a:buNone/>
            </a:pPr>
            <a:r>
              <a:rPr lang="ja-JP" altLang="ja-JP" sz="1200" b="1" dirty="0">
                <a:latin typeface="メイリオ" panose="020B0604030504040204" pitchFamily="50" charset="-128"/>
                <a:ea typeface="メイリオ" panose="020B0604030504040204" pitchFamily="50" charset="-128"/>
              </a:rPr>
              <a:t>① 接触（認知・流入）</a:t>
            </a:r>
          </a:p>
        </p:txBody>
      </p:sp>
      <p:sp>
        <p:nvSpPr>
          <p:cNvPr id="34" name="テキスト ボックス 33">
            <a:extLst>
              <a:ext uri="{FF2B5EF4-FFF2-40B4-BE49-F238E27FC236}">
                <a16:creationId xmlns:a16="http://schemas.microsoft.com/office/drawing/2014/main" id="{2ADFDD2E-A723-2916-4648-0F5E903278F3}"/>
              </a:ext>
            </a:extLst>
          </p:cNvPr>
          <p:cNvSpPr txBox="1"/>
          <p:nvPr/>
        </p:nvSpPr>
        <p:spPr>
          <a:xfrm>
            <a:off x="5143202" y="2931847"/>
            <a:ext cx="2352196" cy="446111"/>
          </a:xfrm>
          <a:prstGeom prst="rect">
            <a:avLst/>
          </a:prstGeom>
          <a:solidFill>
            <a:schemeClr val="accent6">
              <a:lumMod val="40000"/>
              <a:lumOff val="60000"/>
              <a:alpha val="30000"/>
            </a:schemeClr>
          </a:solidFill>
        </p:spPr>
        <p:txBody>
          <a:bodyPr wrap="square">
            <a:spAutoFit/>
          </a:bodyPr>
          <a:lstStyle/>
          <a:p>
            <a:pPr>
              <a:buNone/>
            </a:pPr>
            <a:r>
              <a:rPr lang="ja-JP" altLang="ja-JP" sz="1200" b="1" dirty="0">
                <a:latin typeface="メイリオ" panose="020B0604030504040204" pitchFamily="50" charset="-128"/>
                <a:ea typeface="メイリオ" panose="020B0604030504040204" pitchFamily="50" charset="-128"/>
              </a:rPr>
              <a:t>③ 育成（興味</a:t>
            </a:r>
            <a:r>
              <a:rPr lang="ja-JP" altLang="en-US" sz="1200" b="1" dirty="0">
                <a:latin typeface="メイリオ" panose="020B0604030504040204" pitchFamily="50" charset="-128"/>
                <a:ea typeface="メイリオ" panose="020B0604030504040204" pitchFamily="50" charset="-128"/>
              </a:rPr>
              <a:t>喚起</a:t>
            </a:r>
            <a:r>
              <a:rPr lang="ja-JP" altLang="ja-JP" sz="1200" b="1" dirty="0">
                <a:latin typeface="メイリオ" panose="020B0604030504040204" pitchFamily="50" charset="-128"/>
                <a:ea typeface="メイリオ" panose="020B0604030504040204" pitchFamily="50" charset="-128"/>
              </a:rPr>
              <a:t>）</a:t>
            </a:r>
          </a:p>
        </p:txBody>
      </p:sp>
      <p:sp>
        <p:nvSpPr>
          <p:cNvPr id="35" name="テキスト ボックス 34">
            <a:extLst>
              <a:ext uri="{FF2B5EF4-FFF2-40B4-BE49-F238E27FC236}">
                <a16:creationId xmlns:a16="http://schemas.microsoft.com/office/drawing/2014/main" id="{B895B974-A656-2669-0CE1-C27F2B4B20BE}"/>
              </a:ext>
            </a:extLst>
          </p:cNvPr>
          <p:cNvSpPr txBox="1"/>
          <p:nvPr/>
        </p:nvSpPr>
        <p:spPr>
          <a:xfrm>
            <a:off x="5143202" y="2396521"/>
            <a:ext cx="2352196" cy="446111"/>
          </a:xfrm>
          <a:prstGeom prst="rect">
            <a:avLst/>
          </a:prstGeom>
          <a:solidFill>
            <a:schemeClr val="accent6">
              <a:lumMod val="40000"/>
              <a:lumOff val="60000"/>
              <a:alpha val="30000"/>
            </a:schemeClr>
          </a:solidFill>
        </p:spPr>
        <p:txBody>
          <a:bodyPr wrap="square">
            <a:spAutoFit/>
          </a:bodyPr>
          <a:lstStyle/>
          <a:p>
            <a:pPr>
              <a:buNone/>
            </a:pPr>
            <a:r>
              <a:rPr lang="ja-JP" altLang="ja-JP" sz="1200" b="1" dirty="0">
                <a:latin typeface="メイリオ" panose="020B0604030504040204" pitchFamily="50" charset="-128"/>
                <a:ea typeface="メイリオ" panose="020B0604030504040204" pitchFamily="50" charset="-128"/>
              </a:rPr>
              <a:t>② サイト離脱</a:t>
            </a:r>
            <a:r>
              <a:rPr lang="ja-JP" altLang="en-US" sz="1200" b="1" dirty="0">
                <a:latin typeface="メイリオ" panose="020B0604030504040204" pitchFamily="50" charset="-128"/>
                <a:ea typeface="メイリオ" panose="020B0604030504040204" pitchFamily="50" charset="-128"/>
              </a:rPr>
              <a:t>（対策）</a:t>
            </a:r>
            <a:endParaRPr lang="ja-JP" altLang="ja-JP" sz="1200" b="1" dirty="0">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A07117C9-502D-4C6F-AA2E-1C1E7CF7B4C6}"/>
              </a:ext>
            </a:extLst>
          </p:cNvPr>
          <p:cNvSpPr txBox="1"/>
          <p:nvPr/>
        </p:nvSpPr>
        <p:spPr>
          <a:xfrm>
            <a:off x="5143202" y="3467173"/>
            <a:ext cx="2352196" cy="446111"/>
          </a:xfrm>
          <a:prstGeom prst="rect">
            <a:avLst/>
          </a:prstGeom>
          <a:solidFill>
            <a:schemeClr val="accent6">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④リード獲得 </a:t>
            </a:r>
            <a:r>
              <a:rPr lang="en-US" altLang="ja-JP" sz="1000" b="1" dirty="0">
                <a:latin typeface="メイリオ" panose="020B0604030504040204" pitchFamily="50" charset="-128"/>
                <a:ea typeface="メイリオ" panose="020B0604030504040204" pitchFamily="50" charset="-128"/>
              </a:rPr>
              <a:t>(web/LINE)</a:t>
            </a:r>
            <a:endParaRPr lang="ja-JP" altLang="ja-JP" sz="1100" b="1" dirty="0">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56761199-CD70-153F-E94B-20E5E833D7A7}"/>
              </a:ext>
            </a:extLst>
          </p:cNvPr>
          <p:cNvSpPr txBox="1"/>
          <p:nvPr/>
        </p:nvSpPr>
        <p:spPr>
          <a:xfrm>
            <a:off x="5143202" y="4407024"/>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⑤ リード有効化</a:t>
            </a:r>
            <a:endParaRPr lang="ja-JP" altLang="ja-JP"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72CCB353-50A1-FF17-E933-B1158BEE91E4}"/>
              </a:ext>
            </a:extLst>
          </p:cNvPr>
          <p:cNvSpPr txBox="1"/>
          <p:nvPr/>
        </p:nvSpPr>
        <p:spPr>
          <a:xfrm>
            <a:off x="5143202" y="5477676"/>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⑦マネタイズ</a:t>
            </a:r>
            <a:r>
              <a:rPr lang="en-US" altLang="ja-JP" sz="1050" b="1" dirty="0">
                <a:latin typeface="メイリオ" panose="020B0604030504040204" pitchFamily="50" charset="-128"/>
                <a:ea typeface="メイリオ" panose="020B0604030504040204" pitchFamily="50" charset="-128"/>
              </a:rPr>
              <a:t>(</a:t>
            </a:r>
            <a:r>
              <a:rPr lang="ja-JP" altLang="en-US" sz="1050" b="1" dirty="0">
                <a:latin typeface="メイリオ" panose="020B0604030504040204" pitchFamily="50" charset="-128"/>
                <a:ea typeface="メイリオ" panose="020B0604030504040204" pitchFamily="50" charset="-128"/>
              </a:rPr>
              <a:t>成約</a:t>
            </a:r>
            <a:r>
              <a:rPr lang="en-US" altLang="ja-JP" sz="1050" b="1" dirty="0">
                <a:latin typeface="メイリオ" panose="020B0604030504040204" pitchFamily="50" charset="-128"/>
                <a:ea typeface="メイリオ" panose="020B0604030504040204" pitchFamily="50" charset="-128"/>
              </a:rPr>
              <a:t>/</a:t>
            </a:r>
            <a:r>
              <a:rPr lang="ja-JP" altLang="en-US" sz="1050" b="1" dirty="0">
                <a:latin typeface="メイリオ" panose="020B0604030504040204" pitchFamily="50" charset="-128"/>
                <a:ea typeface="メイリオ" panose="020B0604030504040204" pitchFamily="50" charset="-128"/>
              </a:rPr>
              <a:t>購入</a:t>
            </a:r>
            <a:r>
              <a:rPr lang="en-US" altLang="ja-JP" sz="1050" b="1" dirty="0">
                <a:latin typeface="メイリオ" panose="020B0604030504040204" pitchFamily="50" charset="-128"/>
                <a:ea typeface="メイリオ" panose="020B0604030504040204" pitchFamily="50" charset="-128"/>
              </a:rPr>
              <a:t>)</a:t>
            </a:r>
            <a:endParaRPr lang="ja-JP" altLang="ja-JP" sz="1200" b="1" dirty="0">
              <a:latin typeface="メイリオ" panose="020B0604030504040204" pitchFamily="50" charset="-128"/>
              <a:ea typeface="メイリオ" panose="020B0604030504040204" pitchFamily="50" charset="-128"/>
            </a:endParaRPr>
          </a:p>
        </p:txBody>
      </p:sp>
      <p:sp>
        <p:nvSpPr>
          <p:cNvPr id="42" name="テキスト ボックス 41">
            <a:extLst>
              <a:ext uri="{FF2B5EF4-FFF2-40B4-BE49-F238E27FC236}">
                <a16:creationId xmlns:a16="http://schemas.microsoft.com/office/drawing/2014/main" id="{44A347FC-9BE7-316C-5F13-B7762E412092}"/>
              </a:ext>
            </a:extLst>
          </p:cNvPr>
          <p:cNvSpPr txBox="1"/>
          <p:nvPr/>
        </p:nvSpPr>
        <p:spPr>
          <a:xfrm>
            <a:off x="5143202" y="4942350"/>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⑥ 有効リードの再育成</a:t>
            </a:r>
            <a:endParaRPr lang="ja-JP" altLang="ja-JP" sz="1200" b="1" dirty="0">
              <a:latin typeface="メイリオ" panose="020B0604030504040204" pitchFamily="50" charset="-128"/>
              <a:ea typeface="メイリオ" panose="020B0604030504040204" pitchFamily="50" charset="-128"/>
            </a:endParaRPr>
          </a:p>
        </p:txBody>
      </p:sp>
      <p:sp>
        <p:nvSpPr>
          <p:cNvPr id="44" name="テキスト ボックス 43">
            <a:extLst>
              <a:ext uri="{FF2B5EF4-FFF2-40B4-BE49-F238E27FC236}">
                <a16:creationId xmlns:a16="http://schemas.microsoft.com/office/drawing/2014/main" id="{31750602-2370-CB79-F23B-20E4B2FC9A45}"/>
              </a:ext>
            </a:extLst>
          </p:cNvPr>
          <p:cNvSpPr txBox="1"/>
          <p:nvPr/>
        </p:nvSpPr>
        <p:spPr>
          <a:xfrm>
            <a:off x="5143202" y="6013004"/>
            <a:ext cx="2352196" cy="446111"/>
          </a:xfrm>
          <a:prstGeom prst="rect">
            <a:avLst/>
          </a:prstGeom>
          <a:solidFill>
            <a:schemeClr val="tx2">
              <a:lumMod val="40000"/>
              <a:lumOff val="60000"/>
              <a:alpha val="30000"/>
            </a:schemeClr>
          </a:solidFill>
        </p:spPr>
        <p:txBody>
          <a:bodyPr wrap="square">
            <a:spAutoFit/>
          </a:bodyPr>
          <a:lstStyle/>
          <a:p>
            <a:pPr>
              <a:buNone/>
            </a:pPr>
            <a:r>
              <a:rPr lang="ja-JP" altLang="en-US" sz="1200" b="1" dirty="0">
                <a:latin typeface="メイリオ" panose="020B0604030504040204" pitchFamily="50" charset="-128"/>
                <a:ea typeface="メイリオ" panose="020B0604030504040204" pitchFamily="50" charset="-128"/>
              </a:rPr>
              <a:t>⑧</a:t>
            </a:r>
            <a:r>
              <a:rPr lang="en-US" altLang="ja-JP" sz="1200" b="1" dirty="0">
                <a:latin typeface="メイリオ" panose="020B0604030504040204" pitchFamily="50" charset="-128"/>
                <a:ea typeface="メイリオ" panose="020B0604030504040204" pitchFamily="50" charset="-128"/>
              </a:rPr>
              <a:t>LTV</a:t>
            </a:r>
            <a:r>
              <a:rPr lang="ja-JP" altLang="en-US" sz="1200" b="1" dirty="0">
                <a:latin typeface="メイリオ" panose="020B0604030504040204" pitchFamily="50" charset="-128"/>
                <a:ea typeface="メイリオ" panose="020B0604030504040204" pitchFamily="50" charset="-128"/>
              </a:rPr>
              <a:t>最大化・紹介</a:t>
            </a:r>
            <a:endParaRPr lang="ja-JP" altLang="ja-JP" sz="1200" b="1" dirty="0">
              <a:latin typeface="メイリオ" panose="020B0604030504040204" pitchFamily="50" charset="-128"/>
              <a:ea typeface="メイリオ" panose="020B0604030504040204" pitchFamily="50" charset="-128"/>
            </a:endParaRPr>
          </a:p>
        </p:txBody>
      </p:sp>
      <p:cxnSp>
        <p:nvCxnSpPr>
          <p:cNvPr id="46" name="直線矢印コネクタ 45">
            <a:extLst>
              <a:ext uri="{FF2B5EF4-FFF2-40B4-BE49-F238E27FC236}">
                <a16:creationId xmlns:a16="http://schemas.microsoft.com/office/drawing/2014/main" id="{7398214A-9BC3-94A2-1B44-ABFB6EF10A95}"/>
              </a:ext>
            </a:extLst>
          </p:cNvPr>
          <p:cNvCxnSpPr>
            <a:cxnSpLocks/>
          </p:cNvCxnSpPr>
          <p:nvPr/>
        </p:nvCxnSpPr>
        <p:spPr>
          <a:xfrm>
            <a:off x="5447046" y="3934112"/>
            <a:ext cx="0" cy="474234"/>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50" name="図 49">
            <a:extLst>
              <a:ext uri="{FF2B5EF4-FFF2-40B4-BE49-F238E27FC236}">
                <a16:creationId xmlns:a16="http://schemas.microsoft.com/office/drawing/2014/main" id="{BC82B682-A1BD-AF78-6196-B1E02CC1F3FB}"/>
              </a:ext>
            </a:extLst>
          </p:cNvPr>
          <p:cNvPicPr>
            <a:picLocks noChangeAspect="1"/>
          </p:cNvPicPr>
          <p:nvPr/>
        </p:nvPicPr>
        <p:blipFill>
          <a:blip r:embed="rId2"/>
          <a:stretch>
            <a:fillRect/>
          </a:stretch>
        </p:blipFill>
        <p:spPr>
          <a:xfrm>
            <a:off x="2277117" y="2386532"/>
            <a:ext cx="481489" cy="448956"/>
          </a:xfrm>
          <a:prstGeom prst="rect">
            <a:avLst/>
          </a:prstGeom>
        </p:spPr>
      </p:pic>
      <p:pic>
        <p:nvPicPr>
          <p:cNvPr id="54" name="図 53">
            <a:extLst>
              <a:ext uri="{FF2B5EF4-FFF2-40B4-BE49-F238E27FC236}">
                <a16:creationId xmlns:a16="http://schemas.microsoft.com/office/drawing/2014/main" id="{13BFB52F-AE2C-2214-E223-63E053D9FE07}"/>
              </a:ext>
            </a:extLst>
          </p:cNvPr>
          <p:cNvPicPr>
            <a:picLocks noChangeAspect="1"/>
          </p:cNvPicPr>
          <p:nvPr/>
        </p:nvPicPr>
        <p:blipFill>
          <a:blip r:embed="rId2"/>
          <a:stretch>
            <a:fillRect/>
          </a:stretch>
        </p:blipFill>
        <p:spPr>
          <a:xfrm>
            <a:off x="7114089" y="3453958"/>
            <a:ext cx="481489" cy="448956"/>
          </a:xfrm>
          <a:prstGeom prst="rect">
            <a:avLst/>
          </a:prstGeom>
        </p:spPr>
      </p:pic>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pic>
        <p:nvPicPr>
          <p:cNvPr id="70" name="図 69">
            <a:extLst>
              <a:ext uri="{FF2B5EF4-FFF2-40B4-BE49-F238E27FC236}">
                <a16:creationId xmlns:a16="http://schemas.microsoft.com/office/drawing/2014/main" id="{B5C916EA-56BA-12E3-B0EE-D83A8EC90585}"/>
              </a:ext>
            </a:extLst>
          </p:cNvPr>
          <p:cNvPicPr>
            <a:picLocks noChangeAspect="1"/>
          </p:cNvPicPr>
          <p:nvPr/>
        </p:nvPicPr>
        <p:blipFill>
          <a:blip r:embed="rId3"/>
          <a:stretch>
            <a:fillRect/>
          </a:stretch>
        </p:blipFill>
        <p:spPr>
          <a:xfrm>
            <a:off x="7595578" y="3298969"/>
            <a:ext cx="2167546" cy="2688917"/>
          </a:xfrm>
          <a:prstGeom prst="rect">
            <a:avLst/>
          </a:prstGeom>
        </p:spPr>
      </p:pic>
      <p:pic>
        <p:nvPicPr>
          <p:cNvPr id="826" name="図 825">
            <a:extLst>
              <a:ext uri="{FF2B5EF4-FFF2-40B4-BE49-F238E27FC236}">
                <a16:creationId xmlns:a16="http://schemas.microsoft.com/office/drawing/2014/main" id="{2D4E7AC1-305D-07DC-9608-BFD7502EFD59}"/>
              </a:ext>
            </a:extLst>
          </p:cNvPr>
          <p:cNvPicPr>
            <a:picLocks noChangeAspect="1"/>
          </p:cNvPicPr>
          <p:nvPr/>
        </p:nvPicPr>
        <p:blipFill>
          <a:blip r:embed="rId4"/>
          <a:stretch>
            <a:fillRect/>
          </a:stretch>
        </p:blipFill>
        <p:spPr>
          <a:xfrm>
            <a:off x="2758613" y="2386532"/>
            <a:ext cx="2101635" cy="2379328"/>
          </a:xfrm>
          <a:prstGeom prst="rect">
            <a:avLst/>
          </a:prstGeom>
        </p:spPr>
      </p:pic>
    </p:spTree>
    <p:extLst>
      <p:ext uri="{BB962C8B-B14F-4D97-AF65-F5344CB8AC3E}">
        <p14:creationId xmlns:p14="http://schemas.microsoft.com/office/powerpoint/2010/main" val="22993589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AA7E1F7-0824-AE94-5B85-AB7CDE6A394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改善モデル①</a:t>
            </a:r>
          </a:p>
        </p:txBody>
      </p:sp>
      <p:sp>
        <p:nvSpPr>
          <p:cNvPr id="9" name="正方形/長方形 8">
            <a:extLst>
              <a:ext uri="{FF2B5EF4-FFF2-40B4-BE49-F238E27FC236}">
                <a16:creationId xmlns:a16="http://schemas.microsoft.com/office/drawing/2014/main" id="{C0FCF3C4-80C9-827F-1385-EBD6AE02077C}"/>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3" name="Google Shape;752;p28">
            <a:extLst>
              <a:ext uri="{FF2B5EF4-FFF2-40B4-BE49-F238E27FC236}">
                <a16:creationId xmlns:a16="http://schemas.microsoft.com/office/drawing/2014/main" id="{C5064B01-7057-EF97-C2C2-7EA1400AE06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施策を通じて貴社に送ることが出来る個人情報を最大化する。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7" name="テキスト ボックス 26">
            <a:extLst>
              <a:ext uri="{FF2B5EF4-FFF2-40B4-BE49-F238E27FC236}">
                <a16:creationId xmlns:a16="http://schemas.microsoft.com/office/drawing/2014/main" id="{6AB9A59D-5D83-F4A0-8E07-0F2D6665420A}"/>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77440BBB-52A3-1900-D18A-8AF25E970934}"/>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A50DC53-429F-39BB-C171-6F57EE64F0C2}"/>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cxnSp>
        <p:nvCxnSpPr>
          <p:cNvPr id="32" name="コネクタ: カギ線 31">
            <a:extLst>
              <a:ext uri="{FF2B5EF4-FFF2-40B4-BE49-F238E27FC236}">
                <a16:creationId xmlns:a16="http://schemas.microsoft.com/office/drawing/2014/main" id="{A2FE37DB-7FF9-8AA6-3138-A9AA0818706B}"/>
              </a:ext>
            </a:extLst>
          </p:cNvPr>
          <p:cNvCxnSpPr>
            <a:cxnSpLocks/>
            <a:endCxn id="6" idx="2"/>
          </p:cNvCxnSpPr>
          <p:nvPr/>
        </p:nvCxnSpPr>
        <p:spPr>
          <a:xfrm rot="5400000" flipH="1" flipV="1">
            <a:off x="4284885" y="1729027"/>
            <a:ext cx="218990"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60AD3EC5-397C-F2E1-06DA-B35AA3F6DA3B}"/>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A916BF7B-2A5E-9585-D6BF-4545B58F8CDA}"/>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0CF33E8B-8A1D-B1FB-4244-9F0AFB92429B}"/>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16C11C4-F5B8-BBD3-EE11-4BBAC85EFEF6}"/>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900F58B-9BD8-36E8-2837-7D435FEE306F}"/>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1" name="正方形/長方形 10">
            <a:extLst>
              <a:ext uri="{FF2B5EF4-FFF2-40B4-BE49-F238E27FC236}">
                <a16:creationId xmlns:a16="http://schemas.microsoft.com/office/drawing/2014/main" id="{94AA99B3-016F-5352-F0F9-97BF2EF9495B}"/>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正方形/長方形 11">
            <a:extLst>
              <a:ext uri="{FF2B5EF4-FFF2-40B4-BE49-F238E27FC236}">
                <a16:creationId xmlns:a16="http://schemas.microsoft.com/office/drawing/2014/main" id="{A045185E-6C2C-A6FD-00A8-0A9C05295D96}"/>
              </a:ext>
            </a:extLst>
          </p:cNvPr>
          <p:cNvSpPr/>
          <p:nvPr/>
        </p:nvSpPr>
        <p:spPr>
          <a:xfrm>
            <a:off x="8382000" y="898654"/>
            <a:ext cx="1223554" cy="260090"/>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成果報酬：可</a:t>
            </a:r>
          </a:p>
        </p:txBody>
      </p:sp>
      <p:sp>
        <p:nvSpPr>
          <p:cNvPr id="15" name="正方形/長方形 14">
            <a:extLst>
              <a:ext uri="{FF2B5EF4-FFF2-40B4-BE49-F238E27FC236}">
                <a16:creationId xmlns:a16="http://schemas.microsoft.com/office/drawing/2014/main" id="{EDFACFC7-1B18-419B-64DD-5EB407E04E3D}"/>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7" name="テキスト ボックス 16">
            <a:extLst>
              <a:ext uri="{FF2B5EF4-FFF2-40B4-BE49-F238E27FC236}">
                <a16:creationId xmlns:a16="http://schemas.microsoft.com/office/drawing/2014/main" id="{F808170B-2E7D-DA91-C855-5B0F96687E57}"/>
              </a:ext>
            </a:extLst>
          </p:cNvPr>
          <p:cNvSpPr txBox="1"/>
          <p:nvPr/>
        </p:nvSpPr>
        <p:spPr>
          <a:xfrm>
            <a:off x="3136468" y="2021330"/>
            <a:ext cx="1868111" cy="348203"/>
          </a:xfrm>
          <a:prstGeom prst="rect">
            <a:avLst/>
          </a:prstGeom>
          <a:solidFill>
            <a:srgbClr val="2080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④リード獲得 </a:t>
            </a:r>
            <a:r>
              <a:rPr lang="en-US" altLang="ja-JP" sz="900" b="1" dirty="0">
                <a:solidFill>
                  <a:schemeClr val="bg1"/>
                </a:solidFill>
                <a:latin typeface="メイリオ" panose="020B0604030504040204" pitchFamily="50" charset="-128"/>
                <a:ea typeface="メイリオ" panose="020B0604030504040204" pitchFamily="50" charset="-128"/>
              </a:rPr>
              <a:t>(web/LINE)</a:t>
            </a:r>
            <a:endParaRPr lang="ja-JP" altLang="ja-JP" sz="1050" b="1" dirty="0">
              <a:solidFill>
                <a:schemeClr val="bg1"/>
              </a:solidFill>
              <a:latin typeface="メイリオ" panose="020B0604030504040204" pitchFamily="50" charset="-128"/>
              <a:ea typeface="メイリオ" panose="020B0604030504040204" pitchFamily="50" charset="-128"/>
            </a:endParaRPr>
          </a:p>
        </p:txBody>
      </p:sp>
      <p:sp>
        <p:nvSpPr>
          <p:cNvPr id="215" name="正方形/長方形 214">
            <a:extLst>
              <a:ext uri="{FF2B5EF4-FFF2-40B4-BE49-F238E27FC236}">
                <a16:creationId xmlns:a16="http://schemas.microsoft.com/office/drawing/2014/main" id="{0D93F268-2976-E24C-FFDF-A52C518BD95E}"/>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広告・集客の成果地点として</a:t>
            </a:r>
            <a:r>
              <a:rPr kumimoji="1" lang="en-US" altLang="ja-JP" sz="1050" b="1" dirty="0">
                <a:latin typeface="メイリオ" panose="020B0604030504040204" pitchFamily="50" charset="-128"/>
                <a:ea typeface="メイリオ" panose="020B0604030504040204" pitchFamily="50" charset="-128"/>
              </a:rPr>
              <a:t>LINE</a:t>
            </a:r>
            <a:r>
              <a:rPr kumimoji="1" lang="ja-JP" altLang="en-US" sz="1050" b="1" dirty="0">
                <a:latin typeface="メイリオ" panose="020B0604030504040204" pitchFamily="50" charset="-128"/>
                <a:ea typeface="メイリオ" panose="020B0604030504040204" pitchFamily="50" charset="-128"/>
              </a:rPr>
              <a:t>を追加する</a:t>
            </a:r>
          </a:p>
        </p:txBody>
      </p:sp>
      <p:sp>
        <p:nvSpPr>
          <p:cNvPr id="217" name="正方形/長方形 216">
            <a:extLst>
              <a:ext uri="{FF2B5EF4-FFF2-40B4-BE49-F238E27FC236}">
                <a16:creationId xmlns:a16="http://schemas.microsoft.com/office/drawing/2014/main" id="{EFE9DDC0-6FAF-EE1E-D2F6-1599D9760DFE}"/>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a:latin typeface="メイリオ" panose="020B0604030504040204" pitchFamily="50" charset="-128"/>
                <a:ea typeface="メイリオ" panose="020B0604030504040204" pitchFamily="50" charset="-128"/>
              </a:rPr>
              <a:t>LINE</a:t>
            </a:r>
            <a:r>
              <a:rPr lang="ja-JP" altLang="en-US" sz="1050" b="1" dirty="0">
                <a:latin typeface="メイリオ" panose="020B0604030504040204" pitchFamily="50" charset="-128"/>
                <a:ea typeface="メイリオ" panose="020B0604030504040204" pitchFamily="50" charset="-128"/>
              </a:rPr>
              <a:t>の特典・メリットを適切なタイミングで提示し</a:t>
            </a:r>
            <a:r>
              <a:rPr lang="en-US" altLang="ja-JP" sz="1050" b="1" dirty="0">
                <a:latin typeface="メイリオ" panose="020B0604030504040204" pitchFamily="50" charset="-128"/>
                <a:ea typeface="メイリオ" panose="020B0604030504040204" pitchFamily="50" charset="-128"/>
              </a:rPr>
              <a:t>CV</a:t>
            </a:r>
            <a:r>
              <a:rPr lang="ja-JP" altLang="en-US" sz="1050" b="1" dirty="0">
                <a:latin typeface="メイリオ" panose="020B0604030504040204" pitchFamily="50" charset="-128"/>
                <a:ea typeface="メイリオ" panose="020B0604030504040204" pitchFamily="50" charset="-128"/>
              </a:rPr>
              <a:t>へ</a:t>
            </a:r>
          </a:p>
        </p:txBody>
      </p:sp>
      <p:sp>
        <p:nvSpPr>
          <p:cNvPr id="265" name="Shape 59">
            <a:extLst>
              <a:ext uri="{FF2B5EF4-FFF2-40B4-BE49-F238E27FC236}">
                <a16:creationId xmlns:a16="http://schemas.microsoft.com/office/drawing/2014/main" id="{2B92E1A5-40B4-D866-C1EB-8ACEB8EE470D}"/>
              </a:ext>
            </a:extLst>
          </p:cNvPr>
          <p:cNvSpPr/>
          <p:nvPr/>
        </p:nvSpPr>
        <p:spPr>
          <a:xfrm>
            <a:off x="265419" y="4842285"/>
            <a:ext cx="4541216" cy="1600804"/>
          </a:xfrm>
          <a:prstGeom prst="roundRect">
            <a:avLst>
              <a:gd name="adj" fmla="val 5263"/>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7" name="Shape 63">
            <a:extLst>
              <a:ext uri="{FF2B5EF4-FFF2-40B4-BE49-F238E27FC236}">
                <a16:creationId xmlns:a16="http://schemas.microsoft.com/office/drawing/2014/main" id="{986279D3-31B7-AFE5-0997-A2CDC716E6CD}"/>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9" name="Text 64">
            <a:extLst>
              <a:ext uri="{FF2B5EF4-FFF2-40B4-BE49-F238E27FC236}">
                <a16:creationId xmlns:a16="http://schemas.microsoft.com/office/drawing/2014/main" id="{314E4055-2D3D-DC19-BD60-79D095DBA6D9}"/>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1" name="Text 65">
            <a:extLst>
              <a:ext uri="{FF2B5EF4-FFF2-40B4-BE49-F238E27FC236}">
                <a16:creationId xmlns:a16="http://schemas.microsoft.com/office/drawing/2014/main" id="{2259F17B-A9B0-7F43-8907-87383FCBF6CE}"/>
              </a:ext>
            </a:extLst>
          </p:cNvPr>
          <p:cNvSpPr/>
          <p:nvPr/>
        </p:nvSpPr>
        <p:spPr>
          <a:xfrm>
            <a:off x="1545579"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LINE広告（CPF）完結型 × LINE内チャットボット</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3" name="Text 66">
            <a:extLst>
              <a:ext uri="{FF2B5EF4-FFF2-40B4-BE49-F238E27FC236}">
                <a16:creationId xmlns:a16="http://schemas.microsoft.com/office/drawing/2014/main" id="{98D6C858-0A51-D469-C857-32114CFA96FE}"/>
              </a:ext>
            </a:extLst>
          </p:cNvPr>
          <p:cNvSpPr/>
          <p:nvPr/>
        </p:nvSpPr>
        <p:spPr>
          <a:xfrm>
            <a:off x="356859" y="5226333"/>
            <a:ext cx="4449774" cy="457200"/>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広告の</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CPF</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を利用して、興味関心</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商圏でのリード保有数を最大化。</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LINE完結で</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WEBに遷移させないため離脱ゼロ</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でのステップ配信・有効リードの育成へ。</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5" name="Shape 68">
            <a:extLst>
              <a:ext uri="{FF2B5EF4-FFF2-40B4-BE49-F238E27FC236}">
                <a16:creationId xmlns:a16="http://schemas.microsoft.com/office/drawing/2014/main" id="{CFA7D9BB-A1E1-31FD-946A-B75B944AADA7}"/>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7" name="Text 69">
            <a:extLst>
              <a:ext uri="{FF2B5EF4-FFF2-40B4-BE49-F238E27FC236}">
                <a16:creationId xmlns:a16="http://schemas.microsoft.com/office/drawing/2014/main" id="{94B27B5E-13D7-A4CA-7352-4BBEA8C99224}"/>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9" name="Text 70">
            <a:extLst>
              <a:ext uri="{FF2B5EF4-FFF2-40B4-BE49-F238E27FC236}">
                <a16:creationId xmlns:a16="http://schemas.microsoft.com/office/drawing/2014/main" id="{02B4B046-1456-2549-8D2A-03FE8B9434D4}"/>
              </a:ext>
            </a:extLst>
          </p:cNvPr>
          <p:cNvSpPr/>
          <p:nvPr/>
        </p:nvSpPr>
        <p:spPr>
          <a:xfrm>
            <a:off x="363197" y="5687343"/>
            <a:ext cx="4053598" cy="146304"/>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8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8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1" name="Shape 71">
            <a:extLst>
              <a:ext uri="{FF2B5EF4-FFF2-40B4-BE49-F238E27FC236}">
                <a16:creationId xmlns:a16="http://schemas.microsoft.com/office/drawing/2014/main" id="{69A5DB50-D061-75F2-9683-580DA89DA5BD}"/>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3" name="Shape 72">
            <a:extLst>
              <a:ext uri="{FF2B5EF4-FFF2-40B4-BE49-F238E27FC236}">
                <a16:creationId xmlns:a16="http://schemas.microsoft.com/office/drawing/2014/main" id="{1E18DB25-A307-005D-2220-B5D1CB74EDBF}"/>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5" name="Text 73">
            <a:extLst>
              <a:ext uri="{FF2B5EF4-FFF2-40B4-BE49-F238E27FC236}">
                <a16:creationId xmlns:a16="http://schemas.microsoft.com/office/drawing/2014/main" id="{453E45E2-53B3-3123-A567-3CDA891BBEEF}"/>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7" name="Text 74">
            <a:extLst>
              <a:ext uri="{FF2B5EF4-FFF2-40B4-BE49-F238E27FC236}">
                <a16:creationId xmlns:a16="http://schemas.microsoft.com/office/drawing/2014/main" id="{35068314-9221-6665-F236-3F5B1A8773D8}"/>
              </a:ext>
            </a:extLst>
          </p:cNvPr>
          <p:cNvSpPr/>
          <p:nvPr/>
        </p:nvSpPr>
        <p:spPr>
          <a:xfrm>
            <a:off x="6311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CPF広告タップ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9" name="Text 75">
            <a:extLst>
              <a:ext uri="{FF2B5EF4-FFF2-40B4-BE49-F238E27FC236}">
                <a16:creationId xmlns:a16="http://schemas.microsoft.com/office/drawing/2014/main" id="{9E831384-FBA1-9ABC-D5C4-E9D07BF92DC1}"/>
              </a:ext>
            </a:extLst>
          </p:cNvPr>
          <p:cNvSpPr/>
          <p:nvPr/>
        </p:nvSpPr>
        <p:spPr>
          <a:xfrm>
            <a:off x="4117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即・友だち追加</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1" name="Text 76">
            <a:extLst>
              <a:ext uri="{FF2B5EF4-FFF2-40B4-BE49-F238E27FC236}">
                <a16:creationId xmlns:a16="http://schemas.microsoft.com/office/drawing/2014/main" id="{B609F64E-3A86-7ABF-C056-68CBD7347946}"/>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3" name="Shape 77">
            <a:extLst>
              <a:ext uri="{FF2B5EF4-FFF2-40B4-BE49-F238E27FC236}">
                <a16:creationId xmlns:a16="http://schemas.microsoft.com/office/drawing/2014/main" id="{A42E7FC8-693A-903C-101F-881077D3912E}"/>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5" name="Shape 78">
            <a:extLst>
              <a:ext uri="{FF2B5EF4-FFF2-40B4-BE49-F238E27FC236}">
                <a16:creationId xmlns:a16="http://schemas.microsoft.com/office/drawing/2014/main" id="{5D77DB8F-3255-B8FA-09A1-BA76AB1E30EC}"/>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7" name="Text 79">
            <a:extLst>
              <a:ext uri="{FF2B5EF4-FFF2-40B4-BE49-F238E27FC236}">
                <a16:creationId xmlns:a16="http://schemas.microsoft.com/office/drawing/2014/main" id="{AE657B72-3339-BAE3-9DA8-C9C378371C9D}"/>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9" name="Text 80">
            <a:extLst>
              <a:ext uri="{FF2B5EF4-FFF2-40B4-BE49-F238E27FC236}">
                <a16:creationId xmlns:a16="http://schemas.microsoft.com/office/drawing/2014/main" id="{582D1F5A-1093-8B0B-EC93-6F3E17DF1674}"/>
              </a:ext>
            </a:extLst>
          </p:cNvPr>
          <p:cNvSpPr/>
          <p:nvPr/>
        </p:nvSpPr>
        <p:spPr>
          <a:xfrm>
            <a:off x="2041211" y="5957091"/>
            <a:ext cx="98036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応答、ステップ起動</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1" name="Text 81">
            <a:extLst>
              <a:ext uri="{FF2B5EF4-FFF2-40B4-BE49-F238E27FC236}">
                <a16:creationId xmlns:a16="http://schemas.microsoft.com/office/drawing/2014/main" id="{267A8E72-34E2-AC1E-E783-02748F2A3058}"/>
              </a:ext>
            </a:extLst>
          </p:cNvPr>
          <p:cNvSpPr/>
          <p:nvPr/>
        </p:nvSpPr>
        <p:spPr>
          <a:xfrm>
            <a:off x="1819899"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ステップ配信が</a:t>
            </a:r>
            <a:r>
              <a:rPr kumimoji="0" lang="en-US" sz="7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起動</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3" name="Text 82">
            <a:extLst>
              <a:ext uri="{FF2B5EF4-FFF2-40B4-BE49-F238E27FC236}">
                <a16:creationId xmlns:a16="http://schemas.microsoft.com/office/drawing/2014/main" id="{9B65E420-0374-979E-BAA2-48722980545C}"/>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5" name="Shape 83">
            <a:extLst>
              <a:ext uri="{FF2B5EF4-FFF2-40B4-BE49-F238E27FC236}">
                <a16:creationId xmlns:a16="http://schemas.microsoft.com/office/drawing/2014/main" id="{7C0C6D93-01E9-C895-1E2E-400951DA4B8E}"/>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7" name="Shape 84">
            <a:extLst>
              <a:ext uri="{FF2B5EF4-FFF2-40B4-BE49-F238E27FC236}">
                <a16:creationId xmlns:a16="http://schemas.microsoft.com/office/drawing/2014/main" id="{6B131D82-5FD9-9308-3AF2-032B378170E3}"/>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9" name="Text 85">
            <a:extLst>
              <a:ext uri="{FF2B5EF4-FFF2-40B4-BE49-F238E27FC236}">
                <a16:creationId xmlns:a16="http://schemas.microsoft.com/office/drawing/2014/main" id="{A04EEFDD-332F-12BD-7677-D9DE3938B356}"/>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1" name="Text 86">
            <a:extLst>
              <a:ext uri="{FF2B5EF4-FFF2-40B4-BE49-F238E27FC236}">
                <a16:creationId xmlns:a16="http://schemas.microsoft.com/office/drawing/2014/main" id="{32928D0D-3150-AD73-9242-387FEEFEB4E7}"/>
              </a:ext>
            </a:extLst>
          </p:cNvPr>
          <p:cNvSpPr/>
          <p:nvPr/>
        </p:nvSpPr>
        <p:spPr>
          <a:xfrm>
            <a:off x="3447531"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リードデータ取得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3" name="Text 87">
            <a:extLst>
              <a:ext uri="{FF2B5EF4-FFF2-40B4-BE49-F238E27FC236}">
                <a16:creationId xmlns:a16="http://schemas.microsoft.com/office/drawing/2014/main" id="{155A8DAC-6178-45E5-B78E-ED5968433C87}"/>
              </a:ext>
            </a:extLst>
          </p:cNvPr>
          <p:cNvSpPr/>
          <p:nvPr/>
        </p:nvSpPr>
        <p:spPr>
          <a:xfrm>
            <a:off x="3228075"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LINE内で完結</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5" name="Shape 88">
            <a:extLst>
              <a:ext uri="{FF2B5EF4-FFF2-40B4-BE49-F238E27FC236}">
                <a16:creationId xmlns:a16="http://schemas.microsoft.com/office/drawing/2014/main" id="{65FD4E02-C70C-2DC3-6107-3854D0C99B17}"/>
              </a:ext>
            </a:extLst>
          </p:cNvPr>
          <p:cNvSpPr/>
          <p:nvPr/>
        </p:nvSpPr>
        <p:spPr>
          <a:xfrm>
            <a:off x="5099366" y="2999769"/>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9" name="Shape 113">
            <a:extLst>
              <a:ext uri="{FF2B5EF4-FFF2-40B4-BE49-F238E27FC236}">
                <a16:creationId xmlns:a16="http://schemas.microsoft.com/office/drawing/2014/main" id="{11234610-A1AC-AA19-B005-775FD3F8A3B3}"/>
              </a:ext>
            </a:extLst>
          </p:cNvPr>
          <p:cNvSpPr/>
          <p:nvPr/>
        </p:nvSpPr>
        <p:spPr>
          <a:xfrm>
            <a:off x="5099366" y="4842285"/>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1" name="Shape 117">
            <a:extLst>
              <a:ext uri="{FF2B5EF4-FFF2-40B4-BE49-F238E27FC236}">
                <a16:creationId xmlns:a16="http://schemas.microsoft.com/office/drawing/2014/main" id="{53B1A122-71EF-1F9B-0702-A1A1393823D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3" name="Text 118">
            <a:extLst>
              <a:ext uri="{FF2B5EF4-FFF2-40B4-BE49-F238E27FC236}">
                <a16:creationId xmlns:a16="http://schemas.microsoft.com/office/drawing/2014/main" id="{841897D7-C412-EE47-0B0D-746DD32E330E}"/>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KW自動応答</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5" name="Text 119">
            <a:extLst>
              <a:ext uri="{FF2B5EF4-FFF2-40B4-BE49-F238E27FC236}">
                <a16:creationId xmlns:a16="http://schemas.microsoft.com/office/drawing/2014/main" id="{EBE6ADAD-9C3A-4E30-E6A7-BF0CDE4B5719}"/>
              </a:ext>
            </a:extLst>
          </p:cNvPr>
          <p:cNvSpPr/>
          <p:nvPr/>
        </p:nvSpPr>
        <p:spPr>
          <a:xfrm>
            <a:off x="6379527"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短期</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KW自動応答でFAQ即解消→</a:t>
            </a:r>
            <a:r>
              <a:rPr kumimoji="0" lang="en-US" altLang="ja-JP"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へ誘導</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7" name="Text 120">
            <a:extLst>
              <a:ext uri="{FF2B5EF4-FFF2-40B4-BE49-F238E27FC236}">
                <a16:creationId xmlns:a16="http://schemas.microsoft.com/office/drawing/2014/main" id="{9BC9F586-F4C8-69D1-0AB3-84BC5D46528A}"/>
              </a:ext>
            </a:extLst>
          </p:cNvPr>
          <p:cNvSpPr/>
          <p:nvPr/>
        </p:nvSpPr>
        <p:spPr>
          <a:xfrm>
            <a:off x="5190807" y="5226333"/>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ステップ配信と並行して、</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にて代表的な</a:t>
            </a:r>
            <a:r>
              <a:rPr kumimoji="0" lang="en-US" altLang="ja-JP"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Q</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に自動返答＋CV</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動線へ誘導</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24時間対応で「試しに聞いてみた」</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層</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をそのまま申込フォームへ転換</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9" name="Shape 121">
            <a:extLst>
              <a:ext uri="{FF2B5EF4-FFF2-40B4-BE49-F238E27FC236}">
                <a16:creationId xmlns:a16="http://schemas.microsoft.com/office/drawing/2014/main" id="{879C697E-7DA8-CA7E-D00D-C9CADF55302E}"/>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1" name="Shape 122">
            <a:extLst>
              <a:ext uri="{FF2B5EF4-FFF2-40B4-BE49-F238E27FC236}">
                <a16:creationId xmlns:a16="http://schemas.microsoft.com/office/drawing/2014/main" id="{E0FE3AAB-EEAF-8F74-4288-38540089361D}"/>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3" name="Text 123">
            <a:extLst>
              <a:ext uri="{FF2B5EF4-FFF2-40B4-BE49-F238E27FC236}">
                <a16:creationId xmlns:a16="http://schemas.microsoft.com/office/drawing/2014/main" id="{31A73E53-E872-D735-0EE5-02CFC5ED076F}"/>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5" name="Text 124">
            <a:extLst>
              <a:ext uri="{FF2B5EF4-FFF2-40B4-BE49-F238E27FC236}">
                <a16:creationId xmlns:a16="http://schemas.microsoft.com/office/drawing/2014/main" id="{014A61FB-ACC2-FA78-238A-10F112F08313}"/>
              </a:ext>
            </a:extLst>
          </p:cNvPr>
          <p:cNvSpPr/>
          <p:nvPr/>
        </p:nvSpPr>
        <p:spPr>
          <a:xfrm>
            <a:off x="5447079" y="5957091"/>
            <a:ext cx="1020168"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ステップ配信・</a:t>
            </a:r>
            <a:r>
              <a:rPr kumimoji="0" lang="en-US" altLang="ja-JP"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QA</a:t>
            </a: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7" name="Text 125">
            <a:extLst>
              <a:ext uri="{FF2B5EF4-FFF2-40B4-BE49-F238E27FC236}">
                <a16:creationId xmlns:a16="http://schemas.microsoft.com/office/drawing/2014/main" id="{61B557F9-9683-D913-1D65-DD25D26B2695}"/>
              </a:ext>
            </a:extLst>
          </p:cNvPr>
          <p:cNvSpPr/>
          <p:nvPr/>
        </p:nvSpPr>
        <p:spPr>
          <a:xfrm>
            <a:off x="5245671"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追加～</a:t>
            </a:r>
            <a:r>
              <a:rPr kumimoji="0" lang="en-US" altLang="ja-JP"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15</a:t>
            </a: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日で</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9" name="Text 126">
            <a:extLst>
              <a:ext uri="{FF2B5EF4-FFF2-40B4-BE49-F238E27FC236}">
                <a16:creationId xmlns:a16="http://schemas.microsoft.com/office/drawing/2014/main" id="{F117171D-C47B-261C-85AC-F680EF28CB19}"/>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1" name="Shape 127">
            <a:extLst>
              <a:ext uri="{FF2B5EF4-FFF2-40B4-BE49-F238E27FC236}">
                <a16:creationId xmlns:a16="http://schemas.microsoft.com/office/drawing/2014/main" id="{4BEE9167-F8E5-7442-64A8-E9F7D39F09D7}"/>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3" name="Shape 128">
            <a:extLst>
              <a:ext uri="{FF2B5EF4-FFF2-40B4-BE49-F238E27FC236}">
                <a16:creationId xmlns:a16="http://schemas.microsoft.com/office/drawing/2014/main" id="{9C2642A1-2BDB-C49F-7691-85BD71CF126B}"/>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5" name="Text 129">
            <a:extLst>
              <a:ext uri="{FF2B5EF4-FFF2-40B4-BE49-F238E27FC236}">
                <a16:creationId xmlns:a16="http://schemas.microsoft.com/office/drawing/2014/main" id="{B9E7F4F1-E140-0A15-9900-349580A383C4}"/>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7" name="Text 130">
            <a:extLst>
              <a:ext uri="{FF2B5EF4-FFF2-40B4-BE49-F238E27FC236}">
                <a16:creationId xmlns:a16="http://schemas.microsoft.com/office/drawing/2014/main" id="{538141D0-5353-E1AE-4CCC-4B7FBADE0E74}"/>
              </a:ext>
            </a:extLst>
          </p:cNvPr>
          <p:cNvSpPr/>
          <p:nvPr/>
        </p:nvSpPr>
        <p:spPr>
          <a:xfrm>
            <a:off x="6873303"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自動即返答</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9" name="Text 131">
            <a:extLst>
              <a:ext uri="{FF2B5EF4-FFF2-40B4-BE49-F238E27FC236}">
                <a16:creationId xmlns:a16="http://schemas.microsoft.com/office/drawing/2014/main" id="{507C3FBA-63F5-86D8-66C6-6318F2F8EDA2}"/>
              </a:ext>
            </a:extLst>
          </p:cNvPr>
          <p:cNvSpPr/>
          <p:nvPr/>
        </p:nvSpPr>
        <p:spPr>
          <a:xfrm>
            <a:off x="6653847"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FAQ解消＋LP URL送付</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1" name="Text 132">
            <a:extLst>
              <a:ext uri="{FF2B5EF4-FFF2-40B4-BE49-F238E27FC236}">
                <a16:creationId xmlns:a16="http://schemas.microsoft.com/office/drawing/2014/main" id="{6C6ED810-1D06-F9BD-D3C9-03D6BF6C14DA}"/>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3" name="Shape 133">
            <a:extLst>
              <a:ext uri="{FF2B5EF4-FFF2-40B4-BE49-F238E27FC236}">
                <a16:creationId xmlns:a16="http://schemas.microsoft.com/office/drawing/2014/main" id="{032FF15A-215D-CE84-EF89-D93E09191819}"/>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5" name="Shape 134">
            <a:extLst>
              <a:ext uri="{FF2B5EF4-FFF2-40B4-BE49-F238E27FC236}">
                <a16:creationId xmlns:a16="http://schemas.microsoft.com/office/drawing/2014/main" id="{4111E6D0-ABE0-6AC4-2D12-6FEF3F3EFA73}"/>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7" name="Text 135">
            <a:extLst>
              <a:ext uri="{FF2B5EF4-FFF2-40B4-BE49-F238E27FC236}">
                <a16:creationId xmlns:a16="http://schemas.microsoft.com/office/drawing/2014/main" id="{CF3AE303-2971-F53C-A610-F98F99E3189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9" name="Text 136">
            <a:extLst>
              <a:ext uri="{FF2B5EF4-FFF2-40B4-BE49-F238E27FC236}">
                <a16:creationId xmlns:a16="http://schemas.microsoft.com/office/drawing/2014/main" id="{F73C430F-E961-93C3-213B-0963BAC20CD3}"/>
              </a:ext>
            </a:extLst>
          </p:cNvPr>
          <p:cNvSpPr/>
          <p:nvPr/>
        </p:nvSpPr>
        <p:spPr>
          <a:xfrm>
            <a:off x="82814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申込フォームCV</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1" name="Text 137">
            <a:extLst>
              <a:ext uri="{FF2B5EF4-FFF2-40B4-BE49-F238E27FC236}">
                <a16:creationId xmlns:a16="http://schemas.microsoft.com/office/drawing/2014/main" id="{88FD7181-FD44-C0BF-B9A5-5C5C104EC047}"/>
              </a:ext>
            </a:extLst>
          </p:cNvPr>
          <p:cNvSpPr/>
          <p:nvPr/>
        </p:nvSpPr>
        <p:spPr>
          <a:xfrm>
            <a:off x="80620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24時間・スタッフ不要</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3" name="Shape 36">
            <a:extLst>
              <a:ext uri="{FF2B5EF4-FFF2-40B4-BE49-F238E27FC236}">
                <a16:creationId xmlns:a16="http://schemas.microsoft.com/office/drawing/2014/main" id="{D62EC5F5-FA90-2741-4644-800F1639B9D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7" name="Shape 36">
            <a:extLst>
              <a:ext uri="{FF2B5EF4-FFF2-40B4-BE49-F238E27FC236}">
                <a16:creationId xmlns:a16="http://schemas.microsoft.com/office/drawing/2014/main" id="{3ABA6325-0C4D-ADBB-5C93-9AB0A04C8F15}"/>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3" name="Shape 36">
            <a:extLst>
              <a:ext uri="{FF2B5EF4-FFF2-40B4-BE49-F238E27FC236}">
                <a16:creationId xmlns:a16="http://schemas.microsoft.com/office/drawing/2014/main" id="{0BB2AEB8-7FA8-EBC7-04FD-AD5A5B8538F8}"/>
              </a:ext>
            </a:extLst>
          </p:cNvPr>
          <p:cNvSpPr/>
          <p:nvPr/>
        </p:nvSpPr>
        <p:spPr>
          <a:xfrm>
            <a:off x="5207551" y="3082504"/>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5" name="Shape 38">
            <a:extLst>
              <a:ext uri="{FF2B5EF4-FFF2-40B4-BE49-F238E27FC236}">
                <a16:creationId xmlns:a16="http://schemas.microsoft.com/office/drawing/2014/main" id="{3976CA87-D608-B478-0B7F-76C239579767}"/>
              </a:ext>
            </a:extLst>
          </p:cNvPr>
          <p:cNvSpPr/>
          <p:nvPr/>
        </p:nvSpPr>
        <p:spPr>
          <a:xfrm>
            <a:off x="5536735" y="3100792"/>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57" name="Text 39">
            <a:extLst>
              <a:ext uri="{FF2B5EF4-FFF2-40B4-BE49-F238E27FC236}">
                <a16:creationId xmlns:a16="http://schemas.microsoft.com/office/drawing/2014/main" id="{00B73596-25FE-7BEA-B356-6BA40FA3B1A1}"/>
              </a:ext>
            </a:extLst>
          </p:cNvPr>
          <p:cNvSpPr/>
          <p:nvPr/>
        </p:nvSpPr>
        <p:spPr>
          <a:xfrm>
            <a:off x="5536735" y="3100792"/>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kern="0" dirty="0">
                <a:solidFill>
                  <a:srgbClr val="1565C0"/>
                </a:solidFill>
                <a:latin typeface="メイリオ" panose="020B0604030504040204" pitchFamily="50" charset="-128"/>
                <a:ea typeface="メイリオ" panose="020B0604030504040204" pitchFamily="50" charset="-128"/>
                <a:cs typeface="Calibri" pitchFamily="34" charset="-120"/>
              </a:rPr>
              <a:t>低ハードル</a:t>
            </a:r>
            <a:r>
              <a:rPr kumimoji="0" lang="en-US" altLang="ja-JP" sz="750" b="1" kern="0" dirty="0">
                <a:solidFill>
                  <a:srgbClr val="1565C0"/>
                </a:solidFill>
                <a:latin typeface="メイリオ" panose="020B0604030504040204" pitchFamily="50" charset="-128"/>
                <a:ea typeface="メイリオ" panose="020B0604030504040204" pitchFamily="50" charset="-128"/>
                <a:cs typeface="Calibri" pitchFamily="34" charset="-120"/>
              </a:rPr>
              <a:t>CV</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59" name="Text 40">
            <a:extLst>
              <a:ext uri="{FF2B5EF4-FFF2-40B4-BE49-F238E27FC236}">
                <a16:creationId xmlns:a16="http://schemas.microsoft.com/office/drawing/2014/main" id="{8E8E8572-E4BF-C131-AD4E-7DE59476C19F}"/>
              </a:ext>
            </a:extLst>
          </p:cNvPr>
          <p:cNvSpPr/>
          <p:nvPr/>
        </p:nvSpPr>
        <p:spPr>
          <a:xfrm>
            <a:off x="6396271" y="3073360"/>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簡易</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LINE登録</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1" name="Text 41">
            <a:extLst>
              <a:ext uri="{FF2B5EF4-FFF2-40B4-BE49-F238E27FC236}">
                <a16:creationId xmlns:a16="http://schemas.microsoft.com/office/drawing/2014/main" id="{A02D25CE-9C9B-6858-9645-3D054403B80F}"/>
              </a:ext>
            </a:extLst>
          </p:cNvPr>
          <p:cNvSpPr/>
          <p:nvPr/>
        </p:nvSpPr>
        <p:spPr>
          <a:xfrm>
            <a:off x="5207551" y="3375112"/>
            <a:ext cx="4449774" cy="493776"/>
          </a:xfrm>
          <a:prstGeom prst="rect">
            <a:avLst/>
          </a:prstGeom>
          <a:noFill/>
          <a:ln/>
        </p:spPr>
        <p:txBody>
          <a:bodyPr wrap="square" lIns="0" tIns="0" rIns="0" bIns="0" rtlCol="0" anchor="ctr"/>
          <a:lstStyle/>
          <a:p>
            <a:pPr lvl="0">
              <a:lnSpc>
                <a:spcPct val="135000"/>
              </a:lnSpc>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シミュレーター、簡易診断を</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受け取る</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簡易的な</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を作成し</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友だち追加そのままステップ配信へ移行</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CVR</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％前後</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5</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10</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％」に引上げてリード最大化。</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3" name="Shape 42">
            <a:extLst>
              <a:ext uri="{FF2B5EF4-FFF2-40B4-BE49-F238E27FC236}">
                <a16:creationId xmlns:a16="http://schemas.microsoft.com/office/drawing/2014/main" id="{A9C5DE92-D696-84FB-0338-A45B2163E84E}"/>
              </a:ext>
            </a:extLst>
          </p:cNvPr>
          <p:cNvSpPr/>
          <p:nvPr/>
        </p:nvSpPr>
        <p:spPr>
          <a:xfrm>
            <a:off x="5207551"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5" name="Shape 43">
            <a:extLst>
              <a:ext uri="{FF2B5EF4-FFF2-40B4-BE49-F238E27FC236}">
                <a16:creationId xmlns:a16="http://schemas.microsoft.com/office/drawing/2014/main" id="{7A414BE8-8C56-464D-5646-C8428426E154}"/>
              </a:ext>
            </a:extLst>
          </p:cNvPr>
          <p:cNvSpPr/>
          <p:nvPr/>
        </p:nvSpPr>
        <p:spPr>
          <a:xfrm>
            <a:off x="5262415"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7" name="Text 44">
            <a:extLst>
              <a:ext uri="{FF2B5EF4-FFF2-40B4-BE49-F238E27FC236}">
                <a16:creationId xmlns:a16="http://schemas.microsoft.com/office/drawing/2014/main" id="{71F14BEE-D634-88A2-56B2-296177E648B8}"/>
              </a:ext>
            </a:extLst>
          </p:cNvPr>
          <p:cNvSpPr/>
          <p:nvPr/>
        </p:nvSpPr>
        <p:spPr>
          <a:xfrm>
            <a:off x="5262415"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9" name="Text 45">
            <a:extLst>
              <a:ext uri="{FF2B5EF4-FFF2-40B4-BE49-F238E27FC236}">
                <a16:creationId xmlns:a16="http://schemas.microsoft.com/office/drawing/2014/main" id="{38EAA9FF-3D6F-9893-A6AC-492E1F8D9ED2}"/>
              </a:ext>
            </a:extLst>
          </p:cNvPr>
          <p:cNvSpPr/>
          <p:nvPr/>
        </p:nvSpPr>
        <p:spPr>
          <a:xfrm>
            <a:off x="5481871"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超簡易</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1" name="Text 46">
            <a:extLst>
              <a:ext uri="{FF2B5EF4-FFF2-40B4-BE49-F238E27FC236}">
                <a16:creationId xmlns:a16="http://schemas.microsoft.com/office/drawing/2014/main" id="{76F9D806-0316-8040-BBC1-059EC4037026}"/>
              </a:ext>
            </a:extLst>
          </p:cNvPr>
          <p:cNvSpPr/>
          <p:nvPr/>
        </p:nvSpPr>
        <p:spPr>
          <a:xfrm>
            <a:off x="5262415"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リード獲得</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3" name="Text 47">
            <a:extLst>
              <a:ext uri="{FF2B5EF4-FFF2-40B4-BE49-F238E27FC236}">
                <a16:creationId xmlns:a16="http://schemas.microsoft.com/office/drawing/2014/main" id="{A91D1983-BD63-6B03-7992-4EBA1D20A7ED}"/>
              </a:ext>
            </a:extLst>
          </p:cNvPr>
          <p:cNvSpPr/>
          <p:nvPr/>
        </p:nvSpPr>
        <p:spPr>
          <a:xfrm>
            <a:off x="6487711"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5" name="Shape 48">
            <a:extLst>
              <a:ext uri="{FF2B5EF4-FFF2-40B4-BE49-F238E27FC236}">
                <a16:creationId xmlns:a16="http://schemas.microsoft.com/office/drawing/2014/main" id="{1B608CB6-10B1-7849-F676-C778EAF32793}"/>
              </a:ext>
            </a:extLst>
          </p:cNvPr>
          <p:cNvSpPr/>
          <p:nvPr/>
        </p:nvSpPr>
        <p:spPr>
          <a:xfrm>
            <a:off x="6615727"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7" name="Shape 49">
            <a:extLst>
              <a:ext uri="{FF2B5EF4-FFF2-40B4-BE49-F238E27FC236}">
                <a16:creationId xmlns:a16="http://schemas.microsoft.com/office/drawing/2014/main" id="{C6FD4C21-79ED-9901-73BB-36FADC629074}"/>
              </a:ext>
            </a:extLst>
          </p:cNvPr>
          <p:cNvSpPr/>
          <p:nvPr/>
        </p:nvSpPr>
        <p:spPr>
          <a:xfrm>
            <a:off x="6670591"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9" name="Text 50">
            <a:extLst>
              <a:ext uri="{FF2B5EF4-FFF2-40B4-BE49-F238E27FC236}">
                <a16:creationId xmlns:a16="http://schemas.microsoft.com/office/drawing/2014/main" id="{3AF7109C-EDE8-F8BE-01DA-9C306F9D4491}"/>
              </a:ext>
            </a:extLst>
          </p:cNvPr>
          <p:cNvSpPr/>
          <p:nvPr/>
        </p:nvSpPr>
        <p:spPr>
          <a:xfrm>
            <a:off x="6670591"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1" name="Text 51">
            <a:extLst>
              <a:ext uri="{FF2B5EF4-FFF2-40B4-BE49-F238E27FC236}">
                <a16:creationId xmlns:a16="http://schemas.microsoft.com/office/drawing/2014/main" id="{6A7C6314-C31C-2B4B-7A8D-E8DECD286DE8}"/>
              </a:ext>
            </a:extLst>
          </p:cNvPr>
          <p:cNvSpPr/>
          <p:nvPr/>
        </p:nvSpPr>
        <p:spPr>
          <a:xfrm>
            <a:off x="6887872" y="4105870"/>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誘導</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3" name="Text 52">
            <a:extLst>
              <a:ext uri="{FF2B5EF4-FFF2-40B4-BE49-F238E27FC236}">
                <a16:creationId xmlns:a16="http://schemas.microsoft.com/office/drawing/2014/main" id="{0C3AD28D-E803-BC04-74B7-651CDCD70000}"/>
              </a:ext>
            </a:extLst>
          </p:cNvPr>
          <p:cNvSpPr/>
          <p:nvPr/>
        </p:nvSpPr>
        <p:spPr>
          <a:xfrm>
            <a:off x="6621208" y="4316182"/>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上で受取</a:t>
            </a:r>
            <a:r>
              <a:rPr kumimoji="0" lang="ja-JP" altLang="en-US" sz="750" kern="0" dirty="0">
                <a:solidFill>
                  <a:srgbClr val="4A4A6A"/>
                </a:solidFill>
                <a:latin typeface="メイリオ" panose="020B0604030504040204" pitchFamily="50" charset="-128"/>
                <a:ea typeface="メイリオ" panose="020B0604030504040204" pitchFamily="50" charset="-128"/>
                <a:cs typeface="Calibri" pitchFamily="34" charset="-120"/>
              </a:rPr>
              <a:t>として友だちに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5" name="Text 53">
            <a:extLst>
              <a:ext uri="{FF2B5EF4-FFF2-40B4-BE49-F238E27FC236}">
                <a16:creationId xmlns:a16="http://schemas.microsoft.com/office/drawing/2014/main" id="{2FB8B884-DB13-49DB-D682-50EB7789C9A4}"/>
              </a:ext>
            </a:extLst>
          </p:cNvPr>
          <p:cNvSpPr/>
          <p:nvPr/>
        </p:nvSpPr>
        <p:spPr>
          <a:xfrm>
            <a:off x="7895887"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7" name="Shape 54">
            <a:extLst>
              <a:ext uri="{FF2B5EF4-FFF2-40B4-BE49-F238E27FC236}">
                <a16:creationId xmlns:a16="http://schemas.microsoft.com/office/drawing/2014/main" id="{710A2000-BA3B-1AFB-FCE0-644E6898DD03}"/>
              </a:ext>
            </a:extLst>
          </p:cNvPr>
          <p:cNvSpPr/>
          <p:nvPr/>
        </p:nvSpPr>
        <p:spPr>
          <a:xfrm>
            <a:off x="8023903" y="4069294"/>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89" name="Shape 55">
            <a:extLst>
              <a:ext uri="{FF2B5EF4-FFF2-40B4-BE49-F238E27FC236}">
                <a16:creationId xmlns:a16="http://schemas.microsoft.com/office/drawing/2014/main" id="{1037F87F-5E4D-E3F5-E197-701DC444F492}"/>
              </a:ext>
            </a:extLst>
          </p:cNvPr>
          <p:cNvSpPr/>
          <p:nvPr/>
        </p:nvSpPr>
        <p:spPr>
          <a:xfrm>
            <a:off x="8078767" y="4124158"/>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91" name="Text 56">
            <a:extLst>
              <a:ext uri="{FF2B5EF4-FFF2-40B4-BE49-F238E27FC236}">
                <a16:creationId xmlns:a16="http://schemas.microsoft.com/office/drawing/2014/main" id="{B168640B-7EB6-045C-32D4-9F60E9C4069A}"/>
              </a:ext>
            </a:extLst>
          </p:cNvPr>
          <p:cNvSpPr/>
          <p:nvPr/>
        </p:nvSpPr>
        <p:spPr>
          <a:xfrm>
            <a:off x="8078767"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3" name="Text 57">
            <a:extLst>
              <a:ext uri="{FF2B5EF4-FFF2-40B4-BE49-F238E27FC236}">
                <a16:creationId xmlns:a16="http://schemas.microsoft.com/office/drawing/2014/main" id="{E14BC7E9-3708-9505-AC4A-060665171BCD}"/>
              </a:ext>
            </a:extLst>
          </p:cNvPr>
          <p:cNvSpPr/>
          <p:nvPr/>
        </p:nvSpPr>
        <p:spPr>
          <a:xfrm>
            <a:off x="8298223"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5" name="Text 58">
            <a:extLst>
              <a:ext uri="{FF2B5EF4-FFF2-40B4-BE49-F238E27FC236}">
                <a16:creationId xmlns:a16="http://schemas.microsoft.com/office/drawing/2014/main" id="{5677227D-7522-18E3-CFF0-A01DE3054B96}"/>
              </a:ext>
            </a:extLst>
          </p:cNvPr>
          <p:cNvSpPr/>
          <p:nvPr/>
        </p:nvSpPr>
        <p:spPr>
          <a:xfrm>
            <a:off x="8078767"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err="1">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ステップ配信</a:t>
            </a:r>
            <a:r>
              <a:rPr kumimoji="0" lang="ja-JP" altLang="en-US" sz="750" kern="0" dirty="0">
                <a:solidFill>
                  <a:srgbClr val="D0E8FF"/>
                </a:solidFill>
                <a:latin typeface="メイリオ" panose="020B0604030504040204" pitchFamily="50" charset="-128"/>
                <a:ea typeface="メイリオ" panose="020B0604030504040204" pitchFamily="50" charset="-128"/>
                <a:cs typeface="Calibri" pitchFamily="34" charset="-120"/>
              </a:rPr>
              <a:t>対象に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3" name="Shape 88">
            <a:extLst>
              <a:ext uri="{FF2B5EF4-FFF2-40B4-BE49-F238E27FC236}">
                <a16:creationId xmlns:a16="http://schemas.microsoft.com/office/drawing/2014/main" id="{E0F73C02-327E-D244-0ABD-F19F91EB24DD}"/>
              </a:ext>
            </a:extLst>
          </p:cNvPr>
          <p:cNvSpPr/>
          <p:nvPr/>
        </p:nvSpPr>
        <p:spPr>
          <a:xfrm>
            <a:off x="261702" y="2995754"/>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5" name="Shape 36">
            <a:extLst>
              <a:ext uri="{FF2B5EF4-FFF2-40B4-BE49-F238E27FC236}">
                <a16:creationId xmlns:a16="http://schemas.microsoft.com/office/drawing/2014/main" id="{845DFC42-70E6-B496-30C2-C44315D85C79}"/>
              </a:ext>
            </a:extLst>
          </p:cNvPr>
          <p:cNvSpPr/>
          <p:nvPr/>
        </p:nvSpPr>
        <p:spPr>
          <a:xfrm>
            <a:off x="369887" y="307848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547" name="Shape 38">
            <a:extLst>
              <a:ext uri="{FF2B5EF4-FFF2-40B4-BE49-F238E27FC236}">
                <a16:creationId xmlns:a16="http://schemas.microsoft.com/office/drawing/2014/main" id="{2DBF8816-E4F7-4E6B-6AB6-19DEA2101114}"/>
              </a:ext>
            </a:extLst>
          </p:cNvPr>
          <p:cNvSpPr/>
          <p:nvPr/>
        </p:nvSpPr>
        <p:spPr>
          <a:xfrm>
            <a:off x="699071" y="309677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9" name="Text 39">
            <a:extLst>
              <a:ext uri="{FF2B5EF4-FFF2-40B4-BE49-F238E27FC236}">
                <a16:creationId xmlns:a16="http://schemas.microsoft.com/office/drawing/2014/main" id="{27DB11BF-957B-1CEF-3AC8-18BF5DCF40D9}"/>
              </a:ext>
            </a:extLst>
          </p:cNvPr>
          <p:cNvSpPr/>
          <p:nvPr/>
        </p:nvSpPr>
        <p:spPr>
          <a:xfrm>
            <a:off x="699071" y="309677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CV</a:t>
            </a:r>
            <a:r>
              <a:rPr kumimoji="0" lang="ja-JP" alt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地点追加</a:t>
            </a:r>
            <a:endParaRPr kumimoji="0" 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endParaRPr>
          </a:p>
        </p:txBody>
      </p:sp>
      <p:sp>
        <p:nvSpPr>
          <p:cNvPr id="551" name="Text 40">
            <a:extLst>
              <a:ext uri="{FF2B5EF4-FFF2-40B4-BE49-F238E27FC236}">
                <a16:creationId xmlns:a16="http://schemas.microsoft.com/office/drawing/2014/main" id="{C23E771B-F34E-1D51-1F7F-E37507CCE586}"/>
              </a:ext>
            </a:extLst>
          </p:cNvPr>
          <p:cNvSpPr/>
          <p:nvPr/>
        </p:nvSpPr>
        <p:spPr>
          <a:xfrm>
            <a:off x="1558607" y="306934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追加をそもそも集客成果の</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1</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地点に追加</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3" name="Text 41">
            <a:extLst>
              <a:ext uri="{FF2B5EF4-FFF2-40B4-BE49-F238E27FC236}">
                <a16:creationId xmlns:a16="http://schemas.microsoft.com/office/drawing/2014/main" id="{2C88C715-1A68-D7F9-6C3C-2E4E657F87BC}"/>
              </a:ext>
            </a:extLst>
          </p:cNvPr>
          <p:cNvSpPr/>
          <p:nvPr/>
        </p:nvSpPr>
        <p:spPr>
          <a:xfrm>
            <a:off x="369887" y="3371097"/>
            <a:ext cx="4449774" cy="493776"/>
          </a:xfrm>
          <a:prstGeom prst="rect">
            <a:avLst/>
          </a:prstGeom>
          <a:noFill/>
          <a:ln/>
        </p:spPr>
        <p:txBody>
          <a:bodyPr wrap="square" lIns="0" tIns="0" rIns="0" bIns="0" rtlCol="0" anchor="ctr"/>
          <a:lstStyle/>
          <a:p>
            <a:pPr lvl="0">
              <a:lnSpc>
                <a:spcPct val="135000"/>
              </a:lnSpc>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メール、電話を中心とした集客動線では、個人情報としてのハードルが高いため、</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lvl="0">
              <a:lnSpc>
                <a:spcPct val="135000"/>
              </a:lnSpc>
              <a:defRPr/>
            </a:pP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集客実施内でのリード獲得単価を抑制できる上、反応率が高い</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LINE</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を動線の</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1</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つに。</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5" name="Shape 42">
            <a:extLst>
              <a:ext uri="{FF2B5EF4-FFF2-40B4-BE49-F238E27FC236}">
                <a16:creationId xmlns:a16="http://schemas.microsoft.com/office/drawing/2014/main" id="{113510A9-9BDD-9FAD-90F6-0D1EC0BCB699}"/>
              </a:ext>
            </a:extLst>
          </p:cNvPr>
          <p:cNvSpPr/>
          <p:nvPr/>
        </p:nvSpPr>
        <p:spPr>
          <a:xfrm>
            <a:off x="369887"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7" name="Shape 43">
            <a:extLst>
              <a:ext uri="{FF2B5EF4-FFF2-40B4-BE49-F238E27FC236}">
                <a16:creationId xmlns:a16="http://schemas.microsoft.com/office/drawing/2014/main" id="{4E4A9CB8-BC81-64F6-260F-5F493122A66C}"/>
              </a:ext>
            </a:extLst>
          </p:cNvPr>
          <p:cNvSpPr/>
          <p:nvPr/>
        </p:nvSpPr>
        <p:spPr>
          <a:xfrm>
            <a:off x="424751"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9" name="Text 44">
            <a:extLst>
              <a:ext uri="{FF2B5EF4-FFF2-40B4-BE49-F238E27FC236}">
                <a16:creationId xmlns:a16="http://schemas.microsoft.com/office/drawing/2014/main" id="{1140FDA8-6C5C-AE0C-F98C-11C8C0A073FE}"/>
              </a:ext>
            </a:extLst>
          </p:cNvPr>
          <p:cNvSpPr/>
          <p:nvPr/>
        </p:nvSpPr>
        <p:spPr>
          <a:xfrm>
            <a:off x="424751"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1" name="Text 45">
            <a:extLst>
              <a:ext uri="{FF2B5EF4-FFF2-40B4-BE49-F238E27FC236}">
                <a16:creationId xmlns:a16="http://schemas.microsoft.com/office/drawing/2014/main" id="{A22E630F-5396-9B90-711A-C5DCE95E1469}"/>
              </a:ext>
            </a:extLst>
          </p:cNvPr>
          <p:cNvSpPr/>
          <p:nvPr/>
        </p:nvSpPr>
        <p:spPr>
          <a:xfrm>
            <a:off x="644207"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広告・</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SEO</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SNS</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3" name="Text 46">
            <a:extLst>
              <a:ext uri="{FF2B5EF4-FFF2-40B4-BE49-F238E27FC236}">
                <a16:creationId xmlns:a16="http://schemas.microsoft.com/office/drawing/2014/main" id="{963027FB-D92E-2D7B-6655-63BA79599E4C}"/>
              </a:ext>
            </a:extLst>
          </p:cNvPr>
          <p:cNvSpPr/>
          <p:nvPr/>
        </p:nvSpPr>
        <p:spPr>
          <a:xfrm>
            <a:off x="424751"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流入チャネル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5" name="Text 47">
            <a:extLst>
              <a:ext uri="{FF2B5EF4-FFF2-40B4-BE49-F238E27FC236}">
                <a16:creationId xmlns:a16="http://schemas.microsoft.com/office/drawing/2014/main" id="{74B99422-CBF5-9B4D-0494-5C4443B23CDC}"/>
              </a:ext>
            </a:extLst>
          </p:cNvPr>
          <p:cNvSpPr/>
          <p:nvPr/>
        </p:nvSpPr>
        <p:spPr>
          <a:xfrm>
            <a:off x="1650047"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7" name="Shape 48">
            <a:extLst>
              <a:ext uri="{FF2B5EF4-FFF2-40B4-BE49-F238E27FC236}">
                <a16:creationId xmlns:a16="http://schemas.microsoft.com/office/drawing/2014/main" id="{8B8CFEAA-9314-449D-1074-EF75AFDAC19A}"/>
              </a:ext>
            </a:extLst>
          </p:cNvPr>
          <p:cNvSpPr/>
          <p:nvPr/>
        </p:nvSpPr>
        <p:spPr>
          <a:xfrm>
            <a:off x="1778063"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69" name="Shape 49">
            <a:extLst>
              <a:ext uri="{FF2B5EF4-FFF2-40B4-BE49-F238E27FC236}">
                <a16:creationId xmlns:a16="http://schemas.microsoft.com/office/drawing/2014/main" id="{C950146B-431E-366D-1457-E0150725DAB8}"/>
              </a:ext>
            </a:extLst>
          </p:cNvPr>
          <p:cNvSpPr/>
          <p:nvPr/>
        </p:nvSpPr>
        <p:spPr>
          <a:xfrm>
            <a:off x="1832927"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71" name="Text 50">
            <a:extLst>
              <a:ext uri="{FF2B5EF4-FFF2-40B4-BE49-F238E27FC236}">
                <a16:creationId xmlns:a16="http://schemas.microsoft.com/office/drawing/2014/main" id="{2812D2BF-5313-2DA8-B2ED-115987FDA314}"/>
              </a:ext>
            </a:extLst>
          </p:cNvPr>
          <p:cNvSpPr/>
          <p:nvPr/>
        </p:nvSpPr>
        <p:spPr>
          <a:xfrm>
            <a:off x="1832927"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3" name="Text 51">
            <a:extLst>
              <a:ext uri="{FF2B5EF4-FFF2-40B4-BE49-F238E27FC236}">
                <a16:creationId xmlns:a16="http://schemas.microsoft.com/office/drawing/2014/main" id="{61B9DBCC-02E6-6237-0DAD-ED9142171120}"/>
              </a:ext>
            </a:extLst>
          </p:cNvPr>
          <p:cNvSpPr/>
          <p:nvPr/>
        </p:nvSpPr>
        <p:spPr>
          <a:xfrm>
            <a:off x="2050208" y="4101855"/>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・ポップアップ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5" name="Text 52">
            <a:extLst>
              <a:ext uri="{FF2B5EF4-FFF2-40B4-BE49-F238E27FC236}">
                <a16:creationId xmlns:a16="http://schemas.microsoft.com/office/drawing/2014/main" id="{1CF9536A-5A56-D77B-3F08-8BACCB3B4827}"/>
              </a:ext>
            </a:extLst>
          </p:cNvPr>
          <p:cNvSpPr/>
          <p:nvPr/>
        </p:nvSpPr>
        <p:spPr>
          <a:xfrm>
            <a:off x="1783544" y="4312167"/>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やポップアップでの動線に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7" name="Text 53">
            <a:extLst>
              <a:ext uri="{FF2B5EF4-FFF2-40B4-BE49-F238E27FC236}">
                <a16:creationId xmlns:a16="http://schemas.microsoft.com/office/drawing/2014/main" id="{6C4945AC-3CDA-2080-CEF1-36A24E6529F2}"/>
              </a:ext>
            </a:extLst>
          </p:cNvPr>
          <p:cNvSpPr/>
          <p:nvPr/>
        </p:nvSpPr>
        <p:spPr>
          <a:xfrm>
            <a:off x="3058223"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9" name="Shape 54">
            <a:extLst>
              <a:ext uri="{FF2B5EF4-FFF2-40B4-BE49-F238E27FC236}">
                <a16:creationId xmlns:a16="http://schemas.microsoft.com/office/drawing/2014/main" id="{FB4A19A3-2EF9-47D2-F075-70F2D5D6B076}"/>
              </a:ext>
            </a:extLst>
          </p:cNvPr>
          <p:cNvSpPr/>
          <p:nvPr/>
        </p:nvSpPr>
        <p:spPr>
          <a:xfrm>
            <a:off x="3186239" y="406527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1" name="Shape 55">
            <a:extLst>
              <a:ext uri="{FF2B5EF4-FFF2-40B4-BE49-F238E27FC236}">
                <a16:creationId xmlns:a16="http://schemas.microsoft.com/office/drawing/2014/main" id="{6B43E1E4-2A7D-AD40-67F5-6B516A71860E}"/>
              </a:ext>
            </a:extLst>
          </p:cNvPr>
          <p:cNvSpPr/>
          <p:nvPr/>
        </p:nvSpPr>
        <p:spPr>
          <a:xfrm>
            <a:off x="3241103" y="412014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3" name="Text 56">
            <a:extLst>
              <a:ext uri="{FF2B5EF4-FFF2-40B4-BE49-F238E27FC236}">
                <a16:creationId xmlns:a16="http://schemas.microsoft.com/office/drawing/2014/main" id="{2E67F49B-16BE-07E6-9262-E50D4D3A8F60}"/>
              </a:ext>
            </a:extLst>
          </p:cNvPr>
          <p:cNvSpPr/>
          <p:nvPr/>
        </p:nvSpPr>
        <p:spPr>
          <a:xfrm>
            <a:off x="3241103"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5" name="Text 57">
            <a:extLst>
              <a:ext uri="{FF2B5EF4-FFF2-40B4-BE49-F238E27FC236}">
                <a16:creationId xmlns:a16="http://schemas.microsoft.com/office/drawing/2014/main" id="{AA931AD0-7A16-05D2-D8C7-AB50301B6C53}"/>
              </a:ext>
            </a:extLst>
          </p:cNvPr>
          <p:cNvSpPr/>
          <p:nvPr/>
        </p:nvSpPr>
        <p:spPr>
          <a:xfrm>
            <a:off x="3460559"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7" name="Text 58">
            <a:extLst>
              <a:ext uri="{FF2B5EF4-FFF2-40B4-BE49-F238E27FC236}">
                <a16:creationId xmlns:a16="http://schemas.microsoft.com/office/drawing/2014/main" id="{54B49D2D-4FC3-300F-AAB4-B1D6ACEDA33A}"/>
              </a:ext>
            </a:extLst>
          </p:cNvPr>
          <p:cNvSpPr/>
          <p:nvPr/>
        </p:nvSpPr>
        <p:spPr>
          <a:xfrm>
            <a:off x="3241103"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9571587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8CB184C-78E9-D432-060D-EA3167991AB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改善モデル②</a:t>
            </a:r>
          </a:p>
        </p:txBody>
      </p:sp>
      <p:sp>
        <p:nvSpPr>
          <p:cNvPr id="27" name="テキスト ボックス 26">
            <a:extLst>
              <a:ext uri="{FF2B5EF4-FFF2-40B4-BE49-F238E27FC236}">
                <a16:creationId xmlns:a16="http://schemas.microsoft.com/office/drawing/2014/main" id="{CD5B9619-DF62-5A09-8786-F83CA0529EF7}"/>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4FBA5686-1B33-AF5C-E6BC-2E0C88B24352}"/>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D27D1FC0-FB35-21DC-CE25-F2D2125F242E}"/>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212DB55-F234-8FD7-C030-3F285C1EC16D}"/>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72B04E50-7661-9621-AE78-3522F8E664CF}"/>
              </a:ext>
            </a:extLst>
          </p:cNvPr>
          <p:cNvCxnSpPr>
            <a:cxnSpLocks/>
            <a:stCxn id="30" idx="0"/>
          </p:cNvCxnSpPr>
          <p:nvPr/>
        </p:nvCxnSpPr>
        <p:spPr>
          <a:xfrm rot="5400000" flipH="1" flipV="1">
            <a:off x="4270984" y="1681932"/>
            <a:ext cx="246792" cy="44239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323ECFC3-BA42-FBB4-E25E-F72CFED142D3}"/>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E9E0720-3E3A-6F6F-EF58-0D05A19D436C}"/>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08A18FCF-114F-90AD-1C87-48385A2F1077}"/>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6534C85A-CAF2-CB68-930A-76AF50820018}"/>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3DC92EFA-89CD-05D2-4375-F2DE5BE5DDE6}"/>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1" name="Google Shape;752;p28">
            <a:extLst>
              <a:ext uri="{FF2B5EF4-FFF2-40B4-BE49-F238E27FC236}">
                <a16:creationId xmlns:a16="http://schemas.microsoft.com/office/drawing/2014/main" id="{9920090D-60BB-935F-AD0B-B7717467EA77}"/>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獲得されたリードを</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接触</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商談</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などの直リーチができる状態に引き上げる。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 name="正方形/長方形 5">
            <a:extLst>
              <a:ext uri="{FF2B5EF4-FFF2-40B4-BE49-F238E27FC236}">
                <a16:creationId xmlns:a16="http://schemas.microsoft.com/office/drawing/2014/main" id="{E9F5C7F3-E9F1-D740-6953-AD8AB98C4502}"/>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AD26C97A-E96F-4F7B-9B0B-D735414D6034}"/>
              </a:ext>
            </a:extLst>
          </p:cNvPr>
          <p:cNvSpPr txBox="1"/>
          <p:nvPr/>
        </p:nvSpPr>
        <p:spPr>
          <a:xfrm>
            <a:off x="3542139" y="1396711"/>
            <a:ext cx="2352196" cy="38302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リード有効化</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796E80A6-B5BB-3A8B-412E-06EE28AF0C99}"/>
              </a:ext>
            </a:extLst>
          </p:cNvPr>
          <p:cNvSpPr txBox="1"/>
          <p:nvPr/>
        </p:nvSpPr>
        <p:spPr>
          <a:xfrm>
            <a:off x="4830776" y="1593660"/>
            <a:ext cx="2352196" cy="379232"/>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⑥ 有効リードの再育成</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7CC6A546-6A9E-3367-D71C-1DB3BEF66AA8}"/>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rgbClr val="FFC000"/>
                </a:solidFill>
                <a:latin typeface="メイリオ" panose="020B0604030504040204" pitchFamily="50" charset="-128"/>
                <a:ea typeface="メイリオ" panose="020B0604030504040204" pitchFamily="50" charset="-128"/>
              </a:rPr>
              <a:t>短期：</a:t>
            </a:r>
            <a:r>
              <a:rPr kumimoji="1" lang="ja-JP" altLang="en-US" sz="1050" b="1" dirty="0">
                <a:latin typeface="メイリオ" panose="020B0604030504040204" pitchFamily="50" charset="-128"/>
                <a:ea typeface="メイリオ" panose="020B0604030504040204" pitchFamily="50" charset="-128"/>
              </a:rPr>
              <a:t>ナーチャリングにより、情報収集→実来店・直面談の機会設定</a:t>
            </a:r>
          </a:p>
        </p:txBody>
      </p:sp>
      <p:sp>
        <p:nvSpPr>
          <p:cNvPr id="15" name="正方形/長方形 14">
            <a:extLst>
              <a:ext uri="{FF2B5EF4-FFF2-40B4-BE49-F238E27FC236}">
                <a16:creationId xmlns:a16="http://schemas.microsoft.com/office/drawing/2014/main" id="{400321D5-E759-A2AB-D632-D8852C5C2531}"/>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rgbClr val="FFC000"/>
                </a:solidFill>
                <a:latin typeface="メイリオ" panose="020B0604030504040204" pitchFamily="50" charset="-128"/>
                <a:ea typeface="メイリオ" panose="020B0604030504040204" pitchFamily="50" charset="-128"/>
              </a:rPr>
              <a:t>長期：</a:t>
            </a:r>
            <a:r>
              <a:rPr lang="ja-JP" altLang="en-US" sz="1050" b="1" dirty="0">
                <a:latin typeface="メイリオ" panose="020B0604030504040204" pitchFamily="50" charset="-128"/>
                <a:ea typeface="メイリオ" panose="020B0604030504040204" pitchFamily="50" charset="-128"/>
              </a:rPr>
              <a:t>休眠顧客リスト、すぐすぐ以外の層に再度接点を</a:t>
            </a:r>
          </a:p>
        </p:txBody>
      </p:sp>
      <p:sp>
        <p:nvSpPr>
          <p:cNvPr id="19" name="Shape 34">
            <a:extLst>
              <a:ext uri="{FF2B5EF4-FFF2-40B4-BE49-F238E27FC236}">
                <a16:creationId xmlns:a16="http://schemas.microsoft.com/office/drawing/2014/main" id="{E40C1293-6205-BD09-C870-AB694054FE21}"/>
              </a:ext>
            </a:extLst>
          </p:cNvPr>
          <p:cNvSpPr/>
          <p:nvPr/>
        </p:nvSpPr>
        <p:spPr>
          <a:xfrm>
            <a:off x="265419" y="2999768"/>
            <a:ext cx="4541216" cy="1600805"/>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 name="Shape 36">
            <a:extLst>
              <a:ext uri="{FF2B5EF4-FFF2-40B4-BE49-F238E27FC236}">
                <a16:creationId xmlns:a16="http://schemas.microsoft.com/office/drawing/2014/main" id="{016D3DBA-827E-69AE-84A8-B5FA4B627604}"/>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Shape 38">
            <a:extLst>
              <a:ext uri="{FF2B5EF4-FFF2-40B4-BE49-F238E27FC236}">
                <a16:creationId xmlns:a16="http://schemas.microsoft.com/office/drawing/2014/main" id="{890CC249-519E-F80A-D737-4911D36F86B6}"/>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 name="Text 39">
            <a:extLst>
              <a:ext uri="{FF2B5EF4-FFF2-40B4-BE49-F238E27FC236}">
                <a16:creationId xmlns:a16="http://schemas.microsoft.com/office/drawing/2014/main" id="{006785A7-ADAB-E382-C3A3-3F5FA13C51E7}"/>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ステップ配信</a:t>
            </a:r>
          </a:p>
        </p:txBody>
      </p:sp>
      <p:sp>
        <p:nvSpPr>
          <p:cNvPr id="31" name="Text 40">
            <a:extLst>
              <a:ext uri="{FF2B5EF4-FFF2-40B4-BE49-F238E27FC236}">
                <a16:creationId xmlns:a16="http://schemas.microsoft.com/office/drawing/2014/main" id="{560BDF4C-A3DE-DDCD-85B8-65A392B6CE01}"/>
              </a:ext>
            </a:extLst>
          </p:cNvPr>
          <p:cNvSpPr/>
          <p:nvPr/>
        </p:nvSpPr>
        <p:spPr>
          <a:xfrm>
            <a:off x="1545579" y="308206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ステップ配信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限定面談オファーで商談化</a:t>
            </a:r>
          </a:p>
        </p:txBody>
      </p:sp>
      <p:sp>
        <p:nvSpPr>
          <p:cNvPr id="34" name="Text 41">
            <a:extLst>
              <a:ext uri="{FF2B5EF4-FFF2-40B4-BE49-F238E27FC236}">
                <a16:creationId xmlns:a16="http://schemas.microsoft.com/office/drawing/2014/main" id="{99B219D6-3C6C-5799-528B-587E37059F99}"/>
              </a:ext>
            </a:extLst>
          </p:cNvPr>
          <p:cNvSpPr/>
          <p:nvPr/>
        </p:nvSpPr>
        <p:spPr>
          <a:xfrm>
            <a:off x="356859" y="3383817"/>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資料→</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Day3</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よくある質問→</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Day7</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事例紹介→</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Day10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「今月限定・無料個別相談を○名様に」。「今すぐ買って」ではなく「まず話を聞くだけ」という低ハードル面談設定が鍵。限定性・数量制限で動機付け。</a:t>
            </a:r>
          </a:p>
        </p:txBody>
      </p:sp>
      <p:sp>
        <p:nvSpPr>
          <p:cNvPr id="36" name="Shape 42">
            <a:extLst>
              <a:ext uri="{FF2B5EF4-FFF2-40B4-BE49-F238E27FC236}">
                <a16:creationId xmlns:a16="http://schemas.microsoft.com/office/drawing/2014/main" id="{B511359D-C466-1D8A-5E4D-5C77E951F93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 name="Shape 43">
            <a:extLst>
              <a:ext uri="{FF2B5EF4-FFF2-40B4-BE49-F238E27FC236}">
                <a16:creationId xmlns:a16="http://schemas.microsoft.com/office/drawing/2014/main" id="{CB296A78-8B99-D908-AF84-F6571FA229F6}"/>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0" name="Text 44">
            <a:extLst>
              <a:ext uri="{FF2B5EF4-FFF2-40B4-BE49-F238E27FC236}">
                <a16:creationId xmlns:a16="http://schemas.microsoft.com/office/drawing/2014/main" id="{AA71EAAC-4F67-049F-5CB3-013124E72A38}"/>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2" name="Text 45">
            <a:extLst>
              <a:ext uri="{FF2B5EF4-FFF2-40B4-BE49-F238E27FC236}">
                <a16:creationId xmlns:a16="http://schemas.microsoft.com/office/drawing/2014/main" id="{42A6B48D-4266-BBC8-D43E-C90410471214}"/>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Day0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資料送付</a:t>
            </a:r>
            <a:endParaRPr lang="en-US" altLang="ja-JP" sz="850" dirty="0">
              <a:latin typeface="メイリオ" panose="020B0604030504040204" pitchFamily="50" charset="-128"/>
              <a:ea typeface="メイリオ" panose="020B0604030504040204" pitchFamily="50" charset="-128"/>
            </a:endParaRPr>
          </a:p>
        </p:txBody>
      </p:sp>
      <p:sp>
        <p:nvSpPr>
          <p:cNvPr id="44" name="Text 46">
            <a:extLst>
              <a:ext uri="{FF2B5EF4-FFF2-40B4-BE49-F238E27FC236}">
                <a16:creationId xmlns:a16="http://schemas.microsoft.com/office/drawing/2014/main" id="{2E529A7C-08F8-B965-8436-D648196C6289}"/>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即時価値提供</a:t>
            </a:r>
            <a:endParaRPr lang="en-US" altLang="ja-JP" sz="750" dirty="0">
              <a:latin typeface="メイリオ" panose="020B0604030504040204" pitchFamily="50" charset="-128"/>
              <a:ea typeface="メイリオ" panose="020B0604030504040204" pitchFamily="50" charset="-128"/>
            </a:endParaRPr>
          </a:p>
        </p:txBody>
      </p:sp>
      <p:sp>
        <p:nvSpPr>
          <p:cNvPr id="46" name="Text 47">
            <a:extLst>
              <a:ext uri="{FF2B5EF4-FFF2-40B4-BE49-F238E27FC236}">
                <a16:creationId xmlns:a16="http://schemas.microsoft.com/office/drawing/2014/main" id="{A451AFAF-0FA1-3FD6-C1D3-3C9BFFAAC97A}"/>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 name="Shape 48">
            <a:extLst>
              <a:ext uri="{FF2B5EF4-FFF2-40B4-BE49-F238E27FC236}">
                <a16:creationId xmlns:a16="http://schemas.microsoft.com/office/drawing/2014/main" id="{5210973B-C00E-2564-6A70-0A7CEC5FC41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0" name="Shape 49">
            <a:extLst>
              <a:ext uri="{FF2B5EF4-FFF2-40B4-BE49-F238E27FC236}">
                <a16:creationId xmlns:a16="http://schemas.microsoft.com/office/drawing/2014/main" id="{7F26AFE2-607A-7519-13A7-AE894D5EE528}"/>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2" name="Text 50">
            <a:extLst>
              <a:ext uri="{FF2B5EF4-FFF2-40B4-BE49-F238E27FC236}">
                <a16:creationId xmlns:a16="http://schemas.microsoft.com/office/drawing/2014/main" id="{265C8DF0-C86B-C86C-3E73-66465F4B1369}"/>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 name="Text 51">
            <a:extLst>
              <a:ext uri="{FF2B5EF4-FFF2-40B4-BE49-F238E27FC236}">
                <a16:creationId xmlns:a16="http://schemas.microsoft.com/office/drawing/2014/main" id="{A95F52FD-E9C5-4730-028B-AF50835B0B2E}"/>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Day7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事例配信</a:t>
            </a:r>
            <a:endParaRPr lang="en-US" altLang="ja-JP" sz="850" dirty="0">
              <a:latin typeface="メイリオ" panose="020B0604030504040204" pitchFamily="50" charset="-128"/>
              <a:ea typeface="メイリオ" panose="020B0604030504040204" pitchFamily="50" charset="-128"/>
            </a:endParaRPr>
          </a:p>
        </p:txBody>
      </p:sp>
      <p:sp>
        <p:nvSpPr>
          <p:cNvPr id="56" name="Text 52">
            <a:extLst>
              <a:ext uri="{FF2B5EF4-FFF2-40B4-BE49-F238E27FC236}">
                <a16:creationId xmlns:a16="http://schemas.microsoft.com/office/drawing/2014/main" id="{5856973E-600C-9F69-B73B-7CF0931A980E}"/>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信頼醸成</a:t>
            </a:r>
            <a:endParaRPr lang="en-US" altLang="ja-JP" sz="750" dirty="0">
              <a:latin typeface="メイリオ" panose="020B0604030504040204" pitchFamily="50" charset="-128"/>
              <a:ea typeface="メイリオ" panose="020B0604030504040204" pitchFamily="50" charset="-128"/>
            </a:endParaRPr>
          </a:p>
        </p:txBody>
      </p:sp>
      <p:sp>
        <p:nvSpPr>
          <p:cNvPr id="58" name="Text 53">
            <a:extLst>
              <a:ext uri="{FF2B5EF4-FFF2-40B4-BE49-F238E27FC236}">
                <a16:creationId xmlns:a16="http://schemas.microsoft.com/office/drawing/2014/main" id="{758EA0D7-BE56-1F06-1A23-C564494322D2}"/>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0" name="Shape 54">
            <a:extLst>
              <a:ext uri="{FF2B5EF4-FFF2-40B4-BE49-F238E27FC236}">
                <a16:creationId xmlns:a16="http://schemas.microsoft.com/office/drawing/2014/main" id="{464D5640-6F1D-C6E1-393C-A5458B5A22C9}"/>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2" name="Shape 55">
            <a:extLst>
              <a:ext uri="{FF2B5EF4-FFF2-40B4-BE49-F238E27FC236}">
                <a16:creationId xmlns:a16="http://schemas.microsoft.com/office/drawing/2014/main" id="{89FC4EAE-E7E8-DC03-5DFF-37074D8D82B6}"/>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4" name="Text 56">
            <a:extLst>
              <a:ext uri="{FF2B5EF4-FFF2-40B4-BE49-F238E27FC236}">
                <a16:creationId xmlns:a16="http://schemas.microsoft.com/office/drawing/2014/main" id="{B33A9BF0-EC24-F583-5FA0-A5880F0E6A12}"/>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6" name="Text 57">
            <a:extLst>
              <a:ext uri="{FF2B5EF4-FFF2-40B4-BE49-F238E27FC236}">
                <a16:creationId xmlns:a16="http://schemas.microsoft.com/office/drawing/2014/main" id="{38746766-2598-E7FF-013F-7AF41C0BF589}"/>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Day10 </a:t>
            </a:r>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オファ</a:t>
            </a:r>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ー</a:t>
            </a:r>
            <a:endParaRPr lang="en-US" altLang="ja-JP" sz="850" dirty="0">
              <a:latin typeface="メイリオ" panose="020B0604030504040204" pitchFamily="50" charset="-128"/>
              <a:ea typeface="メイリオ" panose="020B0604030504040204" pitchFamily="50" charset="-128"/>
            </a:endParaRPr>
          </a:p>
        </p:txBody>
      </p:sp>
      <p:sp>
        <p:nvSpPr>
          <p:cNvPr id="68" name="Text 58">
            <a:extLst>
              <a:ext uri="{FF2B5EF4-FFF2-40B4-BE49-F238E27FC236}">
                <a16:creationId xmlns:a16="http://schemas.microsoft.com/office/drawing/2014/main" id="{EE1DF143-F3CF-E063-7DA2-53A3D0BCB28D}"/>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限定・数量制限</a:t>
            </a:r>
            <a:endParaRPr lang="en-US" altLang="ja-JP" sz="750" dirty="0">
              <a:latin typeface="メイリオ" panose="020B0604030504040204" pitchFamily="50" charset="-128"/>
              <a:ea typeface="メイリオ" panose="020B0604030504040204" pitchFamily="50" charset="-128"/>
            </a:endParaRPr>
          </a:p>
        </p:txBody>
      </p:sp>
      <p:sp>
        <p:nvSpPr>
          <p:cNvPr id="70" name="Shape 59">
            <a:extLst>
              <a:ext uri="{FF2B5EF4-FFF2-40B4-BE49-F238E27FC236}">
                <a16:creationId xmlns:a16="http://schemas.microsoft.com/office/drawing/2014/main" id="{ED1F64AB-43E6-3EF4-E22A-1C2B3A1EAFE6}"/>
              </a:ext>
            </a:extLst>
          </p:cNvPr>
          <p:cNvSpPr/>
          <p:nvPr/>
        </p:nvSpPr>
        <p:spPr>
          <a:xfrm>
            <a:off x="265419" y="4842285"/>
            <a:ext cx="4541216" cy="1600804"/>
          </a:xfrm>
          <a:prstGeom prst="roundRect">
            <a:avLst>
              <a:gd name="adj" fmla="val 5263"/>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2" name="Shape 63">
            <a:extLst>
              <a:ext uri="{FF2B5EF4-FFF2-40B4-BE49-F238E27FC236}">
                <a16:creationId xmlns:a16="http://schemas.microsoft.com/office/drawing/2014/main" id="{38B1441B-4C63-5D92-EC3A-90F6C29F7A30}"/>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4" name="Text 64">
            <a:extLst>
              <a:ext uri="{FF2B5EF4-FFF2-40B4-BE49-F238E27FC236}">
                <a16:creationId xmlns:a16="http://schemas.microsoft.com/office/drawing/2014/main" id="{57430ED0-462D-34B1-A475-D78F816729F5}"/>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76" name="Text 65">
            <a:extLst>
              <a:ext uri="{FF2B5EF4-FFF2-40B4-BE49-F238E27FC236}">
                <a16:creationId xmlns:a16="http://schemas.microsoft.com/office/drawing/2014/main" id="{B7DB943B-00E9-7974-CDB8-CF2D59CC61D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アンケート</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スコアリングで商談自動振り分け</a:t>
            </a:r>
            <a:endParaRPr lang="en-US" altLang="ja-JP" sz="1100" dirty="0">
              <a:latin typeface="メイリオ" panose="020B0604030504040204" pitchFamily="50" charset="-128"/>
              <a:ea typeface="メイリオ" panose="020B0604030504040204" pitchFamily="50" charset="-128"/>
            </a:endParaRPr>
          </a:p>
        </p:txBody>
      </p:sp>
      <p:sp>
        <p:nvSpPr>
          <p:cNvPr id="78" name="Text 66">
            <a:extLst>
              <a:ext uri="{FF2B5EF4-FFF2-40B4-BE49-F238E27FC236}">
                <a16:creationId xmlns:a16="http://schemas.microsoft.com/office/drawing/2014/main" id="{4EFBD6ED-AC70-7247-939C-182C24C7C8EB}"/>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現在の状況を3問で教えてください」をLINEで配信。「3ヶ月以内に検討」「他社比較中」の回答者を自動でホットリードとして抽出しスタッフが即日連絡。全リードにスタッフ対応せず、温度感の高い層だけに集中する。</a:t>
            </a:r>
            <a:endParaRPr lang="en-US" altLang="ja-JP" sz="850" dirty="0">
              <a:latin typeface="メイリオ" panose="020B0604030504040204" pitchFamily="50" charset="-128"/>
              <a:ea typeface="メイリオ" panose="020B0604030504040204" pitchFamily="50" charset="-128"/>
            </a:endParaRPr>
          </a:p>
        </p:txBody>
      </p:sp>
      <p:sp>
        <p:nvSpPr>
          <p:cNvPr id="80" name="Shape 68">
            <a:extLst>
              <a:ext uri="{FF2B5EF4-FFF2-40B4-BE49-F238E27FC236}">
                <a16:creationId xmlns:a16="http://schemas.microsoft.com/office/drawing/2014/main" id="{A878F7AF-2951-6346-AC7C-117CEAD65882}"/>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2" name="Text 69">
            <a:extLst>
              <a:ext uri="{FF2B5EF4-FFF2-40B4-BE49-F238E27FC236}">
                <a16:creationId xmlns:a16="http://schemas.microsoft.com/office/drawing/2014/main" id="{51BC50E4-D2C2-FB3A-BADF-2405ED305FFC}"/>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4" name="Text 70">
            <a:extLst>
              <a:ext uri="{FF2B5EF4-FFF2-40B4-BE49-F238E27FC236}">
                <a16:creationId xmlns:a16="http://schemas.microsoft.com/office/drawing/2014/main" id="{C0DB247B-6B3F-9051-4404-63FBF132961F}"/>
              </a:ext>
            </a:extLst>
          </p:cNvPr>
          <p:cNvSpPr/>
          <p:nvPr/>
        </p:nvSpPr>
        <p:spPr>
          <a:xfrm>
            <a:off x="2671467" y="5559265"/>
            <a:ext cx="2022453" cy="158716"/>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7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7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6" name="Shape 71">
            <a:extLst>
              <a:ext uri="{FF2B5EF4-FFF2-40B4-BE49-F238E27FC236}">
                <a16:creationId xmlns:a16="http://schemas.microsoft.com/office/drawing/2014/main" id="{E782C278-7AB5-1A6B-D371-D48C786DEC22}"/>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8" name="Shape 72">
            <a:extLst>
              <a:ext uri="{FF2B5EF4-FFF2-40B4-BE49-F238E27FC236}">
                <a16:creationId xmlns:a16="http://schemas.microsoft.com/office/drawing/2014/main" id="{F8BD45B3-63BC-CCCC-A02C-22292B165914}"/>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0" name="Text 73">
            <a:extLst>
              <a:ext uri="{FF2B5EF4-FFF2-40B4-BE49-F238E27FC236}">
                <a16:creationId xmlns:a16="http://schemas.microsoft.com/office/drawing/2014/main" id="{7C72A4DB-C3F4-16C9-6A51-D60CB4DF1517}"/>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2" name="Text 74">
            <a:extLst>
              <a:ext uri="{FF2B5EF4-FFF2-40B4-BE49-F238E27FC236}">
                <a16:creationId xmlns:a16="http://schemas.microsoft.com/office/drawing/2014/main" id="{BE7ADCA5-3612-7BC6-AA8D-040022EE1617}"/>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3問アンケート配信</a:t>
            </a:r>
            <a:endParaRPr lang="en-US" altLang="ja-JP" sz="850" dirty="0">
              <a:latin typeface="メイリオ" panose="020B0604030504040204" pitchFamily="50" charset="-128"/>
              <a:ea typeface="メイリオ" panose="020B0604030504040204" pitchFamily="50" charset="-128"/>
            </a:endParaRPr>
          </a:p>
        </p:txBody>
      </p:sp>
      <p:sp>
        <p:nvSpPr>
          <p:cNvPr id="94" name="Text 75">
            <a:extLst>
              <a:ext uri="{FF2B5EF4-FFF2-40B4-BE49-F238E27FC236}">
                <a16:creationId xmlns:a16="http://schemas.microsoft.com/office/drawing/2014/main" id="{F0DD5913-5DC7-A93B-7D58-6F8AE9356AB0}"/>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タップ式・即回答</a:t>
            </a:r>
            <a:endParaRPr lang="en-US" altLang="ja-JP" sz="750" dirty="0">
              <a:latin typeface="メイリオ" panose="020B0604030504040204" pitchFamily="50" charset="-128"/>
              <a:ea typeface="メイリオ" panose="020B0604030504040204" pitchFamily="50" charset="-128"/>
            </a:endParaRPr>
          </a:p>
        </p:txBody>
      </p:sp>
      <p:sp>
        <p:nvSpPr>
          <p:cNvPr id="96" name="Text 76">
            <a:extLst>
              <a:ext uri="{FF2B5EF4-FFF2-40B4-BE49-F238E27FC236}">
                <a16:creationId xmlns:a16="http://schemas.microsoft.com/office/drawing/2014/main" id="{8841F69C-C2EB-F428-9C29-1835C7671985}"/>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8" name="Shape 77">
            <a:extLst>
              <a:ext uri="{FF2B5EF4-FFF2-40B4-BE49-F238E27FC236}">
                <a16:creationId xmlns:a16="http://schemas.microsoft.com/office/drawing/2014/main" id="{3D4B0674-1BDF-A06F-3031-1D2C3CFCAFCB}"/>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0" name="Shape 78">
            <a:extLst>
              <a:ext uri="{FF2B5EF4-FFF2-40B4-BE49-F238E27FC236}">
                <a16:creationId xmlns:a16="http://schemas.microsoft.com/office/drawing/2014/main" id="{A6BF8401-0185-4740-65BD-3B25BF274C5D}"/>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2" name="Text 79">
            <a:extLst>
              <a:ext uri="{FF2B5EF4-FFF2-40B4-BE49-F238E27FC236}">
                <a16:creationId xmlns:a16="http://schemas.microsoft.com/office/drawing/2014/main" id="{60ECC73C-CE71-5B5F-BE35-36A110A9273A}"/>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4" name="Text 80">
            <a:extLst>
              <a:ext uri="{FF2B5EF4-FFF2-40B4-BE49-F238E27FC236}">
                <a16:creationId xmlns:a16="http://schemas.microsoft.com/office/drawing/2014/main" id="{96428CFC-DE5B-2C59-73AD-050998F19ECE}"/>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自動スコアリング</a:t>
            </a:r>
            <a:endParaRPr lang="en-US" altLang="ja-JP" sz="850" dirty="0">
              <a:latin typeface="メイリオ" panose="020B0604030504040204" pitchFamily="50" charset="-128"/>
              <a:ea typeface="メイリオ" panose="020B0604030504040204" pitchFamily="50" charset="-128"/>
            </a:endParaRPr>
          </a:p>
        </p:txBody>
      </p:sp>
      <p:sp>
        <p:nvSpPr>
          <p:cNvPr id="106" name="Text 81">
            <a:extLst>
              <a:ext uri="{FF2B5EF4-FFF2-40B4-BE49-F238E27FC236}">
                <a16:creationId xmlns:a16="http://schemas.microsoft.com/office/drawing/2014/main" id="{A4C856B7-9917-9F3B-C6EC-F2AB00761D3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ホットリード特定</a:t>
            </a:r>
            <a:endParaRPr lang="en-US" altLang="ja-JP" sz="750" dirty="0">
              <a:latin typeface="メイリオ" panose="020B0604030504040204" pitchFamily="50" charset="-128"/>
              <a:ea typeface="メイリオ" panose="020B0604030504040204" pitchFamily="50" charset="-128"/>
            </a:endParaRPr>
          </a:p>
        </p:txBody>
      </p:sp>
      <p:sp>
        <p:nvSpPr>
          <p:cNvPr id="108" name="Text 82">
            <a:extLst>
              <a:ext uri="{FF2B5EF4-FFF2-40B4-BE49-F238E27FC236}">
                <a16:creationId xmlns:a16="http://schemas.microsoft.com/office/drawing/2014/main" id="{E3396CCE-6D05-BB63-89D2-AFEC3888A603}"/>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0" name="Shape 83">
            <a:extLst>
              <a:ext uri="{FF2B5EF4-FFF2-40B4-BE49-F238E27FC236}">
                <a16:creationId xmlns:a16="http://schemas.microsoft.com/office/drawing/2014/main" id="{E0F59D7C-4363-A525-B16C-695512C79C58}"/>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2" name="Shape 84">
            <a:extLst>
              <a:ext uri="{FF2B5EF4-FFF2-40B4-BE49-F238E27FC236}">
                <a16:creationId xmlns:a16="http://schemas.microsoft.com/office/drawing/2014/main" id="{9E2F0FE0-EA67-CDB7-9CF3-64EDD1E5E81A}"/>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4" name="Text 85">
            <a:extLst>
              <a:ext uri="{FF2B5EF4-FFF2-40B4-BE49-F238E27FC236}">
                <a16:creationId xmlns:a16="http://schemas.microsoft.com/office/drawing/2014/main" id="{E836FDF6-8AA3-5464-F9B5-FFD8960B35B5}"/>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6" name="Text 86">
            <a:extLst>
              <a:ext uri="{FF2B5EF4-FFF2-40B4-BE49-F238E27FC236}">
                <a16:creationId xmlns:a16="http://schemas.microsoft.com/office/drawing/2014/main" id="{FEF48462-734A-1272-13A3-E0A1A2C1A704}"/>
              </a:ext>
            </a:extLst>
          </p:cNvPr>
          <p:cNvSpPr/>
          <p:nvPr/>
        </p:nvSpPr>
        <p:spPr>
          <a:xfrm>
            <a:off x="3447531" y="5957091"/>
            <a:ext cx="914400" cy="182880"/>
          </a:xfrm>
          <a:prstGeom prst="rect">
            <a:avLst/>
          </a:prstGeom>
          <a:noFill/>
          <a:ln/>
        </p:spPr>
        <p:txBody>
          <a:bodyPr wrap="square" lIns="0" tIns="0" rIns="0" bIns="0" rtlCol="0" anchor="ctr"/>
          <a:lstStyle/>
          <a:p>
            <a:r>
              <a:rPr lang="ja-JP" altLang="en-US" sz="850" b="1" dirty="0">
                <a:solidFill>
                  <a:srgbClr val="FFFFFF"/>
                </a:solidFill>
                <a:latin typeface="メイリオ" panose="020B0604030504040204" pitchFamily="50" charset="-128"/>
                <a:ea typeface="メイリオ" panose="020B0604030504040204" pitchFamily="50" charset="-128"/>
                <a:cs typeface="Calibri" pitchFamily="34" charset="-120"/>
              </a:rPr>
              <a:t>トスアップ</a:t>
            </a:r>
            <a:endParaRPr lang="en-US" altLang="ja-JP" sz="850" dirty="0">
              <a:latin typeface="メイリオ" panose="020B0604030504040204" pitchFamily="50" charset="-128"/>
              <a:ea typeface="メイリオ" panose="020B0604030504040204" pitchFamily="50" charset="-128"/>
            </a:endParaRPr>
          </a:p>
        </p:txBody>
      </p:sp>
      <p:sp>
        <p:nvSpPr>
          <p:cNvPr id="118" name="Text 87">
            <a:extLst>
              <a:ext uri="{FF2B5EF4-FFF2-40B4-BE49-F238E27FC236}">
                <a16:creationId xmlns:a16="http://schemas.microsoft.com/office/drawing/2014/main" id="{7A5801BF-BB1C-CA06-2ADD-8917D3F321CF}"/>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商談化70%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改善事例も</a:t>
            </a:r>
            <a:endParaRPr lang="en-US" altLang="ja-JP" sz="750" dirty="0">
              <a:latin typeface="メイリオ" panose="020B0604030504040204" pitchFamily="50" charset="-128"/>
              <a:ea typeface="メイリオ" panose="020B0604030504040204" pitchFamily="50" charset="-128"/>
            </a:endParaRPr>
          </a:p>
        </p:txBody>
      </p:sp>
      <p:sp>
        <p:nvSpPr>
          <p:cNvPr id="120" name="Shape 88">
            <a:extLst>
              <a:ext uri="{FF2B5EF4-FFF2-40B4-BE49-F238E27FC236}">
                <a16:creationId xmlns:a16="http://schemas.microsoft.com/office/drawing/2014/main" id="{1022B804-29BA-C16F-59BF-7116998459A1}"/>
              </a:ext>
            </a:extLst>
          </p:cNvPr>
          <p:cNvSpPr/>
          <p:nvPr/>
        </p:nvSpPr>
        <p:spPr>
          <a:xfrm>
            <a:off x="5099366" y="2999769"/>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2" name="Shape 92">
            <a:extLst>
              <a:ext uri="{FF2B5EF4-FFF2-40B4-BE49-F238E27FC236}">
                <a16:creationId xmlns:a16="http://schemas.microsoft.com/office/drawing/2014/main" id="{C083C52C-3E3D-EE4D-FA9C-B0A718669F53}"/>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4" name="Text 93">
            <a:extLst>
              <a:ext uri="{FF2B5EF4-FFF2-40B4-BE49-F238E27FC236}">
                <a16:creationId xmlns:a16="http://schemas.microsoft.com/office/drawing/2014/main" id="{1BBE6434-6048-9866-D279-EBE9D835E91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企画配信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26" name="Text 94">
            <a:extLst>
              <a:ext uri="{FF2B5EF4-FFF2-40B4-BE49-F238E27FC236}">
                <a16:creationId xmlns:a16="http://schemas.microsoft.com/office/drawing/2014/main" id="{F578845C-26D5-3691-D376-1CA844A61B98}"/>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季節・業界イベント連動配信で休眠リストを起こす</a:t>
            </a:r>
            <a:endParaRPr lang="en-US" altLang="ja-JP" sz="1100" dirty="0">
              <a:latin typeface="メイリオ" panose="020B0604030504040204" pitchFamily="50" charset="-128"/>
              <a:ea typeface="メイリオ" panose="020B0604030504040204" pitchFamily="50" charset="-128"/>
            </a:endParaRPr>
          </a:p>
        </p:txBody>
      </p:sp>
      <p:sp>
        <p:nvSpPr>
          <p:cNvPr id="128" name="Text 95">
            <a:extLst>
              <a:ext uri="{FF2B5EF4-FFF2-40B4-BE49-F238E27FC236}">
                <a16:creationId xmlns:a16="http://schemas.microsoft.com/office/drawing/2014/main" id="{06D9F55B-7232-7A4D-8F5C-1AB4E0C70FBD}"/>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「年末の〇〇に向けて、今から準備を始めるお客様が増えています」という業界固有モーメントに乗せた再接触配信。悩みのピーク2〜3週前に配信することがCVR最大化のコツ。「</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売り込み」ではなく「タイミングの案内」として届ける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30" name="Shape 96">
            <a:extLst>
              <a:ext uri="{FF2B5EF4-FFF2-40B4-BE49-F238E27FC236}">
                <a16:creationId xmlns:a16="http://schemas.microsoft.com/office/drawing/2014/main" id="{069D4174-4F64-8276-0A34-474428B42A09}"/>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2" name="Shape 97">
            <a:extLst>
              <a:ext uri="{FF2B5EF4-FFF2-40B4-BE49-F238E27FC236}">
                <a16:creationId xmlns:a16="http://schemas.microsoft.com/office/drawing/2014/main" id="{D9EBB717-A542-13FE-924C-50E4D9047DE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4" name="Text 98">
            <a:extLst>
              <a:ext uri="{FF2B5EF4-FFF2-40B4-BE49-F238E27FC236}">
                <a16:creationId xmlns:a16="http://schemas.microsoft.com/office/drawing/2014/main" id="{5701D322-E6AC-4743-3BF0-3D2C916AA73A}"/>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6" name="Text 99">
            <a:extLst>
              <a:ext uri="{FF2B5EF4-FFF2-40B4-BE49-F238E27FC236}">
                <a16:creationId xmlns:a16="http://schemas.microsoft.com/office/drawing/2014/main" id="{CA2962DC-C768-875A-D569-10ECD1DEB616}"/>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モーメント特定</a:t>
            </a:r>
            <a:endParaRPr lang="en-US" altLang="ja-JP" sz="850" dirty="0">
              <a:latin typeface="メイリオ" panose="020B0604030504040204" pitchFamily="50" charset="-128"/>
              <a:ea typeface="メイリオ" panose="020B0604030504040204" pitchFamily="50" charset="-128"/>
            </a:endParaRPr>
          </a:p>
        </p:txBody>
      </p:sp>
      <p:sp>
        <p:nvSpPr>
          <p:cNvPr id="138" name="Text 100">
            <a:extLst>
              <a:ext uri="{FF2B5EF4-FFF2-40B4-BE49-F238E27FC236}">
                <a16:creationId xmlns:a16="http://schemas.microsoft.com/office/drawing/2014/main" id="{C3D786F9-91FC-82F5-3763-A658668EED4C}"/>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ピーク2〜3週前</a:t>
            </a:r>
            <a:endParaRPr lang="en-US" altLang="ja-JP" sz="750" dirty="0">
              <a:latin typeface="メイリオ" panose="020B0604030504040204" pitchFamily="50" charset="-128"/>
              <a:ea typeface="メイリオ" panose="020B0604030504040204" pitchFamily="50" charset="-128"/>
            </a:endParaRPr>
          </a:p>
        </p:txBody>
      </p:sp>
      <p:sp>
        <p:nvSpPr>
          <p:cNvPr id="140" name="Text 101">
            <a:extLst>
              <a:ext uri="{FF2B5EF4-FFF2-40B4-BE49-F238E27FC236}">
                <a16:creationId xmlns:a16="http://schemas.microsoft.com/office/drawing/2014/main" id="{C1EEB04D-625F-17CE-C89D-4B08395FBAFC}"/>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2" name="Shape 102">
            <a:extLst>
              <a:ext uri="{FF2B5EF4-FFF2-40B4-BE49-F238E27FC236}">
                <a16:creationId xmlns:a16="http://schemas.microsoft.com/office/drawing/2014/main" id="{50E9AED5-D9C7-D6C3-65D6-3119987A999C}"/>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4" name="Shape 103">
            <a:extLst>
              <a:ext uri="{FF2B5EF4-FFF2-40B4-BE49-F238E27FC236}">
                <a16:creationId xmlns:a16="http://schemas.microsoft.com/office/drawing/2014/main" id="{C74365D2-79DD-46D0-F7E6-AB9A53F69C2C}"/>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6" name="Text 104">
            <a:extLst>
              <a:ext uri="{FF2B5EF4-FFF2-40B4-BE49-F238E27FC236}">
                <a16:creationId xmlns:a16="http://schemas.microsoft.com/office/drawing/2014/main" id="{6E4E920B-459D-A400-22E8-BABF2781E2BA}"/>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8" name="Text 105">
            <a:extLst>
              <a:ext uri="{FF2B5EF4-FFF2-40B4-BE49-F238E27FC236}">
                <a16:creationId xmlns:a16="http://schemas.microsoft.com/office/drawing/2014/main" id="{A09DCB92-8255-C6E6-87C7-473321C80234}"/>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コンテンツ配信</a:t>
            </a:r>
            <a:endParaRPr lang="en-US" altLang="ja-JP" sz="850" dirty="0">
              <a:latin typeface="メイリオ" panose="020B0604030504040204" pitchFamily="50" charset="-128"/>
              <a:ea typeface="メイリオ" panose="020B0604030504040204" pitchFamily="50" charset="-128"/>
            </a:endParaRPr>
          </a:p>
        </p:txBody>
      </p:sp>
      <p:sp>
        <p:nvSpPr>
          <p:cNvPr id="150" name="Text 106">
            <a:extLst>
              <a:ext uri="{FF2B5EF4-FFF2-40B4-BE49-F238E27FC236}">
                <a16:creationId xmlns:a16="http://schemas.microsoft.com/office/drawing/2014/main" id="{09AC34DD-AAEC-BF91-CB1D-5545FE79C4D2}"/>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今だから」訴求</a:t>
            </a:r>
            <a:endParaRPr lang="en-US" altLang="ja-JP" sz="750" dirty="0">
              <a:latin typeface="メイリオ" panose="020B0604030504040204" pitchFamily="50" charset="-128"/>
              <a:ea typeface="メイリオ" panose="020B0604030504040204" pitchFamily="50" charset="-128"/>
            </a:endParaRPr>
          </a:p>
        </p:txBody>
      </p:sp>
      <p:sp>
        <p:nvSpPr>
          <p:cNvPr id="152" name="Text 107">
            <a:extLst>
              <a:ext uri="{FF2B5EF4-FFF2-40B4-BE49-F238E27FC236}">
                <a16:creationId xmlns:a16="http://schemas.microsoft.com/office/drawing/2014/main" id="{BF81408E-47F9-9F16-013B-45DCB0A4C212}"/>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54" name="Shape 108">
            <a:extLst>
              <a:ext uri="{FF2B5EF4-FFF2-40B4-BE49-F238E27FC236}">
                <a16:creationId xmlns:a16="http://schemas.microsoft.com/office/drawing/2014/main" id="{503FF76B-C744-3397-71C4-D41BA4685B17}"/>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6" name="Shape 109">
            <a:extLst>
              <a:ext uri="{FF2B5EF4-FFF2-40B4-BE49-F238E27FC236}">
                <a16:creationId xmlns:a16="http://schemas.microsoft.com/office/drawing/2014/main" id="{A6B21F29-F9B0-9369-C7F9-877467F07918}"/>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8" name="Text 110">
            <a:extLst>
              <a:ext uri="{FF2B5EF4-FFF2-40B4-BE49-F238E27FC236}">
                <a16:creationId xmlns:a16="http://schemas.microsoft.com/office/drawing/2014/main" id="{27C2769D-257A-7368-2C8C-D5AC1F474DEE}"/>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60" name="Text 111">
            <a:extLst>
              <a:ext uri="{FF2B5EF4-FFF2-40B4-BE49-F238E27FC236}">
                <a16:creationId xmlns:a16="http://schemas.microsoft.com/office/drawing/2014/main" id="{38FBDAAB-A07A-E8C4-47B0-D464E78D6F27}"/>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休眠リスト再CV</a:t>
            </a:r>
            <a:endParaRPr lang="en-US" altLang="ja-JP" sz="850" dirty="0">
              <a:latin typeface="メイリオ" panose="020B0604030504040204" pitchFamily="50" charset="-128"/>
              <a:ea typeface="メイリオ" panose="020B0604030504040204" pitchFamily="50" charset="-128"/>
            </a:endParaRPr>
          </a:p>
        </p:txBody>
      </p:sp>
      <p:sp>
        <p:nvSpPr>
          <p:cNvPr id="162" name="Text 112">
            <a:extLst>
              <a:ext uri="{FF2B5EF4-FFF2-40B4-BE49-F238E27FC236}">
                <a16:creationId xmlns:a16="http://schemas.microsoft.com/office/drawing/2014/main" id="{D3F04975-0A5A-781C-2B9E-C31F7695748A}"/>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再CV率3〜8%</a:t>
            </a:r>
            <a:endParaRPr lang="en-US" altLang="ja-JP" sz="750" dirty="0">
              <a:latin typeface="メイリオ" panose="020B0604030504040204" pitchFamily="50" charset="-128"/>
              <a:ea typeface="メイリオ" panose="020B0604030504040204" pitchFamily="50" charset="-128"/>
            </a:endParaRPr>
          </a:p>
        </p:txBody>
      </p:sp>
      <p:sp>
        <p:nvSpPr>
          <p:cNvPr id="164" name="Shape 113">
            <a:extLst>
              <a:ext uri="{FF2B5EF4-FFF2-40B4-BE49-F238E27FC236}">
                <a16:creationId xmlns:a16="http://schemas.microsoft.com/office/drawing/2014/main" id="{B8A7F8E0-2D9E-4F58-B45C-445490BAD2A6}"/>
              </a:ext>
            </a:extLst>
          </p:cNvPr>
          <p:cNvSpPr/>
          <p:nvPr/>
        </p:nvSpPr>
        <p:spPr>
          <a:xfrm>
            <a:off x="5099366" y="4842285"/>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6" name="Shape 117">
            <a:extLst>
              <a:ext uri="{FF2B5EF4-FFF2-40B4-BE49-F238E27FC236}">
                <a16:creationId xmlns:a16="http://schemas.microsoft.com/office/drawing/2014/main" id="{405D8489-0824-1FFD-1B67-B3B0A50D960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8" name="Text 118">
            <a:extLst>
              <a:ext uri="{FF2B5EF4-FFF2-40B4-BE49-F238E27FC236}">
                <a16:creationId xmlns:a16="http://schemas.microsoft.com/office/drawing/2014/main" id="{FE9A5096-9CFE-5412-810F-0F2F5A6CF1D7}"/>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再スクリーニング</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70" name="Text 119">
            <a:extLst>
              <a:ext uri="{FF2B5EF4-FFF2-40B4-BE49-F238E27FC236}">
                <a16:creationId xmlns:a16="http://schemas.microsoft.com/office/drawing/2014/main" id="{64A72FA9-D385-9A82-A7FF-CCA964EA228C}"/>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その後いかが</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配信で失注リストを再活性化</a:t>
            </a:r>
            <a:endParaRPr lang="en-US" altLang="ja-JP" sz="1100" dirty="0">
              <a:latin typeface="メイリオ" panose="020B0604030504040204" pitchFamily="50" charset="-128"/>
              <a:ea typeface="メイリオ" panose="020B0604030504040204" pitchFamily="50" charset="-128"/>
            </a:endParaRPr>
          </a:p>
        </p:txBody>
      </p:sp>
      <p:sp>
        <p:nvSpPr>
          <p:cNvPr id="172" name="Text 120">
            <a:extLst>
              <a:ext uri="{FF2B5EF4-FFF2-40B4-BE49-F238E27FC236}">
                <a16:creationId xmlns:a16="http://schemas.microsoft.com/office/drawing/2014/main" id="{CBDC21B9-7A24-59D8-C78B-DA02EFBD1EE5}"/>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失注・辞退から3〜6ヶ月後に「ご状況が変わっていれば改めてご案内できます」と自然なトーンで再接触。失注理由別でシナリオを分岐：「</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予算NG」層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新プランができました</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タイミングNG」層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またご都合のよい時期に</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74" name="Shape 121">
            <a:extLst>
              <a:ext uri="{FF2B5EF4-FFF2-40B4-BE49-F238E27FC236}">
                <a16:creationId xmlns:a16="http://schemas.microsoft.com/office/drawing/2014/main" id="{8F2AD48D-D152-8DDF-689E-38F793A7A035}"/>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6" name="Shape 122">
            <a:extLst>
              <a:ext uri="{FF2B5EF4-FFF2-40B4-BE49-F238E27FC236}">
                <a16:creationId xmlns:a16="http://schemas.microsoft.com/office/drawing/2014/main" id="{62E05E15-51AF-4DED-F35A-E0341BEEDB6E}"/>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8" name="Text 123">
            <a:extLst>
              <a:ext uri="{FF2B5EF4-FFF2-40B4-BE49-F238E27FC236}">
                <a16:creationId xmlns:a16="http://schemas.microsoft.com/office/drawing/2014/main" id="{E6A90B54-8A00-3600-E1D6-0F35C45F9544}"/>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0" name="Text 124">
            <a:extLst>
              <a:ext uri="{FF2B5EF4-FFF2-40B4-BE49-F238E27FC236}">
                <a16:creationId xmlns:a16="http://schemas.microsoft.com/office/drawing/2014/main" id="{5CE65D75-4BC1-519E-F76F-6A0757C1EC53}"/>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失注後3〜6ヶ月</a:t>
            </a:r>
            <a:endParaRPr lang="en-US" altLang="ja-JP" sz="850" dirty="0">
              <a:latin typeface="メイリオ" panose="020B0604030504040204" pitchFamily="50" charset="-128"/>
              <a:ea typeface="メイリオ" panose="020B0604030504040204" pitchFamily="50" charset="-128"/>
            </a:endParaRPr>
          </a:p>
        </p:txBody>
      </p:sp>
      <p:sp>
        <p:nvSpPr>
          <p:cNvPr id="182" name="Text 125">
            <a:extLst>
              <a:ext uri="{FF2B5EF4-FFF2-40B4-BE49-F238E27FC236}">
                <a16:creationId xmlns:a16="http://schemas.microsoft.com/office/drawing/2014/main" id="{321D2CBF-DB5B-0A56-8946-401A4AD2CC5C}"/>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自動配信</a:t>
            </a: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（ステップ）</a:t>
            </a:r>
            <a:endParaRPr lang="en-US" altLang="ja-JP" sz="750" dirty="0">
              <a:latin typeface="メイリオ" panose="020B0604030504040204" pitchFamily="50" charset="-128"/>
              <a:ea typeface="メイリオ" panose="020B0604030504040204" pitchFamily="50" charset="-128"/>
            </a:endParaRPr>
          </a:p>
        </p:txBody>
      </p:sp>
      <p:sp>
        <p:nvSpPr>
          <p:cNvPr id="184" name="Text 126">
            <a:extLst>
              <a:ext uri="{FF2B5EF4-FFF2-40B4-BE49-F238E27FC236}">
                <a16:creationId xmlns:a16="http://schemas.microsoft.com/office/drawing/2014/main" id="{06401F8E-C60A-CA49-A807-0A6452BDC118}"/>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6" name="Shape 127">
            <a:extLst>
              <a:ext uri="{FF2B5EF4-FFF2-40B4-BE49-F238E27FC236}">
                <a16:creationId xmlns:a16="http://schemas.microsoft.com/office/drawing/2014/main" id="{AE3CA431-0C8F-8EF0-2ED8-A83CCA602B3E}"/>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88" name="Shape 128">
            <a:extLst>
              <a:ext uri="{FF2B5EF4-FFF2-40B4-BE49-F238E27FC236}">
                <a16:creationId xmlns:a16="http://schemas.microsoft.com/office/drawing/2014/main" id="{1AD820F2-8E91-97A5-8E0A-B1C6BFB331A1}"/>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90" name="Text 129">
            <a:extLst>
              <a:ext uri="{FF2B5EF4-FFF2-40B4-BE49-F238E27FC236}">
                <a16:creationId xmlns:a16="http://schemas.microsoft.com/office/drawing/2014/main" id="{8D818818-A3AE-555E-7011-4F3D90379688}"/>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2" name="Text 130">
            <a:extLst>
              <a:ext uri="{FF2B5EF4-FFF2-40B4-BE49-F238E27FC236}">
                <a16:creationId xmlns:a16="http://schemas.microsoft.com/office/drawing/2014/main" id="{4EF9A98F-AC88-0728-EFD8-0C772A79587A}"/>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失注理由別分岐</a:t>
            </a:r>
            <a:endParaRPr lang="en-US" altLang="ja-JP" sz="850" dirty="0">
              <a:latin typeface="メイリオ" panose="020B0604030504040204" pitchFamily="50" charset="-128"/>
              <a:ea typeface="メイリオ" panose="020B0604030504040204" pitchFamily="50" charset="-128"/>
            </a:endParaRPr>
          </a:p>
        </p:txBody>
      </p:sp>
      <p:sp>
        <p:nvSpPr>
          <p:cNvPr id="194" name="Text 131">
            <a:extLst>
              <a:ext uri="{FF2B5EF4-FFF2-40B4-BE49-F238E27FC236}">
                <a16:creationId xmlns:a16="http://schemas.microsoft.com/office/drawing/2014/main" id="{AA3268CA-2C22-0C62-160E-0C0216963E5F}"/>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シナリオカスタマイズ</a:t>
            </a:r>
            <a:endParaRPr lang="en-US" altLang="ja-JP" sz="750" dirty="0">
              <a:latin typeface="メイリオ" panose="020B0604030504040204" pitchFamily="50" charset="-128"/>
              <a:ea typeface="メイリオ" panose="020B0604030504040204" pitchFamily="50" charset="-128"/>
            </a:endParaRPr>
          </a:p>
        </p:txBody>
      </p:sp>
      <p:sp>
        <p:nvSpPr>
          <p:cNvPr id="196" name="Text 132">
            <a:extLst>
              <a:ext uri="{FF2B5EF4-FFF2-40B4-BE49-F238E27FC236}">
                <a16:creationId xmlns:a16="http://schemas.microsoft.com/office/drawing/2014/main" id="{2F00F7D4-1087-A7FE-323B-EE40BA03BBC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8" name="Shape 133">
            <a:extLst>
              <a:ext uri="{FF2B5EF4-FFF2-40B4-BE49-F238E27FC236}">
                <a16:creationId xmlns:a16="http://schemas.microsoft.com/office/drawing/2014/main" id="{48973DFD-52B9-D288-5F88-EBA671150D93}"/>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0" name="Shape 134">
            <a:extLst>
              <a:ext uri="{FF2B5EF4-FFF2-40B4-BE49-F238E27FC236}">
                <a16:creationId xmlns:a16="http://schemas.microsoft.com/office/drawing/2014/main" id="{E611469B-B55C-8664-CADB-DF4675853BF0}"/>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2" name="Text 135">
            <a:extLst>
              <a:ext uri="{FF2B5EF4-FFF2-40B4-BE49-F238E27FC236}">
                <a16:creationId xmlns:a16="http://schemas.microsoft.com/office/drawing/2014/main" id="{F56AD707-B2E2-F152-960D-3E43770D8634}"/>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04" name="Text 136">
            <a:extLst>
              <a:ext uri="{FF2B5EF4-FFF2-40B4-BE49-F238E27FC236}">
                <a16:creationId xmlns:a16="http://schemas.microsoft.com/office/drawing/2014/main" id="{44EA5DE9-1C7B-2119-EC2E-A8BE9873034E}"/>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再CV獲得</a:t>
            </a:r>
            <a:endParaRPr lang="en-US" altLang="ja-JP" sz="850" dirty="0">
              <a:latin typeface="メイリオ" panose="020B0604030504040204" pitchFamily="50" charset="-128"/>
              <a:ea typeface="メイリオ" panose="020B0604030504040204" pitchFamily="50" charset="-128"/>
            </a:endParaRPr>
          </a:p>
        </p:txBody>
      </p:sp>
      <p:sp>
        <p:nvSpPr>
          <p:cNvPr id="206" name="Text 137">
            <a:extLst>
              <a:ext uri="{FF2B5EF4-FFF2-40B4-BE49-F238E27FC236}">
                <a16:creationId xmlns:a16="http://schemas.microsoft.com/office/drawing/2014/main" id="{8096588A-C237-8806-3F2E-41D5083C6A97}"/>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コストゼロ受注</a:t>
            </a:r>
            <a:endParaRPr lang="en-US" altLang="ja-JP" sz="750" dirty="0">
              <a:latin typeface="メイリオ" panose="020B0604030504040204" pitchFamily="50" charset="-128"/>
              <a:ea typeface="メイリオ" panose="020B0604030504040204" pitchFamily="50" charset="-128"/>
            </a:endParaRPr>
          </a:p>
        </p:txBody>
      </p:sp>
      <p:sp>
        <p:nvSpPr>
          <p:cNvPr id="208" name="Shape 36">
            <a:extLst>
              <a:ext uri="{FF2B5EF4-FFF2-40B4-BE49-F238E27FC236}">
                <a16:creationId xmlns:a16="http://schemas.microsoft.com/office/drawing/2014/main" id="{A5FC7E14-B018-D022-4C5B-B6CBBCAE473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0" name="Shape 36">
            <a:extLst>
              <a:ext uri="{FF2B5EF4-FFF2-40B4-BE49-F238E27FC236}">
                <a16:creationId xmlns:a16="http://schemas.microsoft.com/office/drawing/2014/main" id="{6310D41F-AA25-B595-2E67-274ED86E8EE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2" name="Shape 36">
            <a:extLst>
              <a:ext uri="{FF2B5EF4-FFF2-40B4-BE49-F238E27FC236}">
                <a16:creationId xmlns:a16="http://schemas.microsoft.com/office/drawing/2014/main" id="{04FC39D4-AF33-9A13-B4BB-7BF38704EB41}"/>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568268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0881644-71DA-0FD5-31A8-50845CB45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改善モデル⓷</a:t>
            </a:r>
          </a:p>
        </p:txBody>
      </p:sp>
      <p:sp>
        <p:nvSpPr>
          <p:cNvPr id="27" name="テキスト ボックス 26">
            <a:extLst>
              <a:ext uri="{FF2B5EF4-FFF2-40B4-BE49-F238E27FC236}">
                <a16:creationId xmlns:a16="http://schemas.microsoft.com/office/drawing/2014/main" id="{3E754129-4E82-ADF0-7762-6DB3D6C37869}"/>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90A62F05-90DB-BEFF-2CA5-AB5CBFB875BB}"/>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FEA37072-D446-4372-FBCF-FF05EAA5FFDB}"/>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68555E4-10E4-ED78-186D-F8BBA4ECA773}"/>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C655AFC2-F818-8CFC-48E3-29591E6CCBA4}"/>
              </a:ext>
            </a:extLst>
          </p:cNvPr>
          <p:cNvCxnSpPr>
            <a:cxnSpLocks/>
            <a:stCxn id="30" idx="0"/>
          </p:cNvCxnSpPr>
          <p:nvPr/>
        </p:nvCxnSpPr>
        <p:spPr>
          <a:xfrm rot="5400000" flipH="1" flipV="1">
            <a:off x="4270984" y="1720322"/>
            <a:ext cx="246792"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AE0E605C-24DB-D0F6-408E-DC91DFF126F2}"/>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024124EA-8A11-9089-D195-BFB58DD5068D}"/>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B87E9823-A3D2-CC28-7E59-EE124DBE7CAD}"/>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0E616C55-41AE-4E89-AA73-D23C6063BAC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4F6D876E-0365-432F-46BA-A5401006C46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3EE31941-0F5E-1E7C-269A-8F9D019765CF}"/>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5" name="Google Shape;752;p28">
            <a:extLst>
              <a:ext uri="{FF2B5EF4-FFF2-40B4-BE49-F238E27FC236}">
                <a16:creationId xmlns:a16="http://schemas.microsoft.com/office/drawing/2014/main" id="{98886420-FB53-2FB8-A09E-EB3FDE7308E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成約、購入等、企業としての売上・利益につなげる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5A50B78-E73B-4B44-EA42-3D987F8E8733}"/>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EDBFCB04-05B4-E4AC-12A0-CD0E81A2DC3C}"/>
              </a:ext>
            </a:extLst>
          </p:cNvPr>
          <p:cNvSpPr txBox="1"/>
          <p:nvPr/>
        </p:nvSpPr>
        <p:spPr>
          <a:xfrm>
            <a:off x="6119413" y="1832804"/>
            <a:ext cx="2352196" cy="34820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⑦マネタイズ</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成約</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7ACD6D34-5B12-71B8-0225-D9C053F55ED2}"/>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実際の購入・契約に関わるハードルを下げる</a:t>
            </a:r>
          </a:p>
        </p:txBody>
      </p:sp>
      <p:sp>
        <p:nvSpPr>
          <p:cNvPr id="214" name="正方形/長方形 213">
            <a:extLst>
              <a:ext uri="{FF2B5EF4-FFF2-40B4-BE49-F238E27FC236}">
                <a16:creationId xmlns:a16="http://schemas.microsoft.com/office/drawing/2014/main" id="{9B22DD71-4656-D5C5-DBDF-22BB0DC5C6FA}"/>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17BC1EF4-21DA-CE94-283E-846B9F001F36}"/>
              </a:ext>
            </a:extLst>
          </p:cNvPr>
          <p:cNvSpPr/>
          <p:nvPr/>
        </p:nvSpPr>
        <p:spPr>
          <a:xfrm>
            <a:off x="265419" y="2999768"/>
            <a:ext cx="4541216" cy="1600805"/>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B139C33D-7A13-4B90-506A-BD3D89DCB343}"/>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2D290F22-1E3B-8151-C419-A64914BDF65F}"/>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19C3AE76-E5E9-46FF-E31E-15492F60B623}"/>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不安解消</a:t>
            </a:r>
            <a:r>
              <a:rPr kumimoji="0" lang="en-US" altLang="ja-JP"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BOT</a:t>
            </a:r>
          </a:p>
        </p:txBody>
      </p:sp>
      <p:sp>
        <p:nvSpPr>
          <p:cNvPr id="224" name="Text 40">
            <a:extLst>
              <a:ext uri="{FF2B5EF4-FFF2-40B4-BE49-F238E27FC236}">
                <a16:creationId xmlns:a16="http://schemas.microsoft.com/office/drawing/2014/main" id="{F72D9597-CBE6-7729-EBB8-42A4EB56D3AC}"/>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チャットBOT</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申込前の不安をリアルタイム解消</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D4867974-A5DB-62BF-B56C-7B48EBD4FCD6}"/>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申込ページを複数回閲覧しているが踏み切れない層に「ご不明な点はありますか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とLINEからプッシュ</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解約できる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返金保証は</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効果はいつ出る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など頻出の不安をKW自動応答で即解消し申込フォームへ誘導</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28" name="Shape 42">
            <a:extLst>
              <a:ext uri="{FF2B5EF4-FFF2-40B4-BE49-F238E27FC236}">
                <a16:creationId xmlns:a16="http://schemas.microsoft.com/office/drawing/2014/main" id="{131B059A-8308-F9A4-4B71-FDED85A0F30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763DFBBD-2B1A-7385-B3C6-41AF5556E607}"/>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426BE58B-62E2-01C7-74C9-694E2A9CD289}"/>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A698A3A9-032A-DEE2-0FD2-AAF7EC37F195}"/>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複数LP閲覧を検知</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6CD14118-9279-776C-30F3-C63B5F00B503}"/>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確度：高として認定</a:t>
            </a:r>
            <a:endPar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endParaRPr>
          </a:p>
        </p:txBody>
      </p:sp>
      <p:sp>
        <p:nvSpPr>
          <p:cNvPr id="238" name="Text 47">
            <a:extLst>
              <a:ext uri="{FF2B5EF4-FFF2-40B4-BE49-F238E27FC236}">
                <a16:creationId xmlns:a16="http://schemas.microsoft.com/office/drawing/2014/main" id="{E675B87B-4A8E-ADF8-DADF-AA406110BF3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7E2CC952-E8D7-ECD4-395A-BE9452A2A487}"/>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AE59EEF6-CC45-015B-A9E5-8A7A937B56CA}"/>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C754A20D-10B5-62BF-4DDB-DE8127CF6F40}"/>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D244FC3B-C26B-1060-3973-384C3CC08ADD}"/>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不安ありますか</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9C10D7EA-6A29-74A3-5046-A7A5BA81CFEB}"/>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LINEからプッシュ</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9EC056C0-654F-C52F-62E6-8D47A6551C13}"/>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834935BC-F5E7-BAED-6E85-E07CBFE19550}"/>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6327123E-240D-2DFD-89A6-C68864B84618}"/>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0395E968-804F-D503-B217-5E6877EED965}"/>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1F68B74A-B629-3DFC-2CEE-48823841BEF3}"/>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KW自動応答→CV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31AA167F-1838-719F-81AA-E6D277EA6DCC}"/>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段階式自動応答で</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CV</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まで</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58EC588-B65C-48B3-4271-EDA2EA270201}"/>
              </a:ext>
            </a:extLst>
          </p:cNvPr>
          <p:cNvSpPr/>
          <p:nvPr/>
        </p:nvSpPr>
        <p:spPr>
          <a:xfrm>
            <a:off x="265419" y="4842285"/>
            <a:ext cx="4541216" cy="1600804"/>
          </a:xfrm>
          <a:prstGeom prst="roundRect">
            <a:avLst>
              <a:gd name="adj" fmla="val 5263"/>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1DCC50EF-FB92-09C8-A8AA-7A7EDB9B0146}"/>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46B3B6C-4902-BBA2-7F54-3C24433597F1}"/>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日程自動化</a:t>
            </a:r>
          </a:p>
        </p:txBody>
      </p:sp>
      <p:sp>
        <p:nvSpPr>
          <p:cNvPr id="268" name="Text 65">
            <a:extLst>
              <a:ext uri="{FF2B5EF4-FFF2-40B4-BE49-F238E27FC236}">
                <a16:creationId xmlns:a16="http://schemas.microsoft.com/office/drawing/2014/main" id="{43250F18-B2EB-58ED-89E5-9D277C0A5794}"/>
              </a:ext>
            </a:extLst>
          </p:cNvPr>
          <p:cNvSpPr/>
          <p:nvPr/>
        </p:nvSpPr>
        <p:spPr>
          <a:xfrm>
            <a:off x="1545579" y="4924581"/>
            <a:ext cx="3319066"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日程調整自動化で、検討前に商談確定</a:t>
            </a:r>
          </a:p>
        </p:txBody>
      </p:sp>
      <p:sp>
        <p:nvSpPr>
          <p:cNvPr id="270" name="Text 66">
            <a:extLst>
              <a:ext uri="{FF2B5EF4-FFF2-40B4-BE49-F238E27FC236}">
                <a16:creationId xmlns:a16="http://schemas.microsoft.com/office/drawing/2014/main" id="{251E5163-4BD4-2320-E1D0-DC825BC643E2}"/>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面談を希望します」と入力した瞬間にカレンダー連携で候補日程を自動提示→タップで選択→確定通知＋リマインドを自動送付。「後で連絡します」のやり取りで冷めるのを防ぎ、温度感が高いまま商談へ。</a:t>
            </a:r>
          </a:p>
        </p:txBody>
      </p:sp>
      <p:sp>
        <p:nvSpPr>
          <p:cNvPr id="272" name="Shape 68">
            <a:extLst>
              <a:ext uri="{FF2B5EF4-FFF2-40B4-BE49-F238E27FC236}">
                <a16:creationId xmlns:a16="http://schemas.microsoft.com/office/drawing/2014/main" id="{971EF85D-2530-7E85-695D-21576E3399C6}"/>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C61543A0-6CA4-B8A9-BABF-E3F296767C9F}"/>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711A428D-8DE9-E0B6-1327-82CC5DEC5364}"/>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A6F2A656-9918-5CCF-081B-90932FB7B31A}"/>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939DCB1A-68BA-D577-ECE4-D4DFF019EA70}"/>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85D30E2A-FEB3-5FD0-BE47-D36B7C7ADC4B}"/>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面談希望」入力</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1D748291-A5CD-A534-775B-B4EBF567F665}"/>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即・日程提示</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6D85AEBA-8759-4590-2BD5-991827894447}"/>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32D27DAD-D2AF-DBAD-F818-E996C478DEC9}"/>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638800F5-D582-38D9-A3E4-C35550FAF43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4FE98861-5470-BC0D-C54A-2F4F47BBE9E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12FEA545-2A73-5AFD-1BD2-9F4325BD29F7}"/>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タップで日程確定</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092A8A0A-B8FB-B1A7-1FCB-9EA219E6BFDE}"/>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メール往復ゼロ</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95A046B-C53A-FDCE-5111-F5834D0CA584}"/>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19A246E9-D30A-1092-6D5A-555407259AB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9CFB5A33-6601-FA88-5E14-AD083E8A974F}"/>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115C0B2B-98C8-8B25-3BBF-1156626D6C87}"/>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A407CA47-3CF8-760D-6BA8-0DF95F970630}"/>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リマインド自動送付</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4168941F-0BBB-6115-B5E7-6928BD42FC99}"/>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ドタキャン率低下</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25BA7DFC-080F-45BC-1CEB-0E2FA1036911}"/>
              </a:ext>
            </a:extLst>
          </p:cNvPr>
          <p:cNvSpPr/>
          <p:nvPr/>
        </p:nvSpPr>
        <p:spPr>
          <a:xfrm>
            <a:off x="5099366" y="2999769"/>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05737E4A-7E87-3F90-A1F5-285284CA80FB}"/>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29C5B70-F57E-D134-7E8F-7689219DE10A}"/>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体験談配信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FCC6DF42-A77D-8CE5-0ECF-48B3E50916B0}"/>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利用イメージ</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で利用想起</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C1491931-3BA8-2594-BE3C-4EBDCD6864BF}"/>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申込を迷っているユーザーに「〇〇を始めて3ヶ月の方の今」「先輩ユーザーの1週間スケジュール」などリアルな体験談をLINEで定期配信。「</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買った後どうなるか」の不安を、実際のユーザー事例で解消する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9114BF09-7036-90AC-D9C8-0C172510E7C2}"/>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1382F6BB-3947-2399-C34B-C78B6937D2D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7CAD0DE0-345C-F621-25D3-89CEBC9C59EB}"/>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488ED467-36DE-30E3-BF80-C9BE8B1CF783}"/>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体験談コンテンツ</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49A04842-DDE9-37E6-1E8D-79BF82BE9FA9}"/>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写真・動画・レポート</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5E2DEEEF-3ABB-D51C-CB78-AD0E64E26029}"/>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583FCA0F-3FAB-2529-936B-557E5CDD8BFF}"/>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46DA626B-859D-0A40-A6EC-EBD75A52A80D}"/>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751B80C7-91E9-70BD-A17B-7A4E723D4D8C}"/>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A7ABE51D-147A-4B8A-9A19-112FACBFFA1D}"/>
              </a:ext>
            </a:extLst>
          </p:cNvPr>
          <p:cNvSpPr/>
          <p:nvPr/>
        </p:nvSpPr>
        <p:spPr>
          <a:xfrm>
            <a:off x="6873303" y="4114575"/>
            <a:ext cx="914400" cy="182880"/>
          </a:xfrm>
          <a:prstGeom prst="rect">
            <a:avLst/>
          </a:prstGeom>
          <a:noFill/>
          <a:ln/>
        </p:spPr>
        <p:txBody>
          <a:bodyPr wrap="square" lIns="0" tIns="0" rIns="0" bIns="0" rtlCol="0" anchor="ctr"/>
          <a:lstStyle/>
          <a:p>
            <a:r>
              <a:rPr lang="ja-JP" altLang="en-US" sz="850" dirty="0">
                <a:latin typeface="メイリオ" panose="020B0604030504040204" pitchFamily="50" charset="-128"/>
                <a:ea typeface="メイリオ" panose="020B0604030504040204" pitchFamily="50" charset="-128"/>
              </a:rPr>
              <a:t>不安払しょく</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318494AB-2707-1129-BA71-E24AAAEEA5FA}"/>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購入後イメージ醸成</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D2A81EF1-BC58-1253-ECD2-53DF3B40891F}"/>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0417CEED-7C17-F2CD-95E5-6BA2C686EE12}"/>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BE5D8431-CA60-5904-8740-E1668BC7E91C}"/>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DE57ABB2-07C3-A007-67C2-E95C551B1B58}"/>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94D9AB7C-B1F7-BB2D-6801-2EC11474714E}"/>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申込前ユーザーCV</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FD2DA1A7-F345-DFC3-8751-889A3BEA99AB}"/>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安心して申込めた</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A3968D0A-D5A3-B6DF-A4E1-5C8230BDD229}"/>
              </a:ext>
            </a:extLst>
          </p:cNvPr>
          <p:cNvSpPr/>
          <p:nvPr/>
        </p:nvSpPr>
        <p:spPr>
          <a:xfrm>
            <a:off x="5099366" y="4842285"/>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D69FAC34-5229-FB00-C4A2-B94AD64E02AC}"/>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2DF5057F-5690-994B-B840-B9A70C3615E5}"/>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C6CDBA0C-C4AB-DB49-4D97-5F4E1FADE225}"/>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フロー事前案内でキャンセル率を激減させる</a:t>
            </a:r>
            <a:endParaRPr lang="en-US" altLang="ja-JP" sz="1100" dirty="0">
              <a:latin typeface="メイリオ" panose="020B0604030504040204" pitchFamily="50" charset="-128"/>
              <a:ea typeface="メイリオ" panose="020B0604030504040204" pitchFamily="50" charset="-128"/>
            </a:endParaRPr>
          </a:p>
        </p:txBody>
      </p:sp>
      <p:sp>
        <p:nvSpPr>
          <p:cNvPr id="362" name="Text 120">
            <a:extLst>
              <a:ext uri="{FF2B5EF4-FFF2-40B4-BE49-F238E27FC236}">
                <a16:creationId xmlns:a16="http://schemas.microsoft.com/office/drawing/2014/main" id="{BD5402DC-C1D0-29CE-40A9-BA86E6FF6BAD}"/>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完了後すぐにLINEで「当日の流れをお伝えします」を送付。所要時間・準備するもの・スタッフの到着時間・終了後の対応まで全て事前案内する。不安が解消されると「楽しみに待てる」状態になりキャンセル・ドタキャンが激減。</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EC4E379D-5E50-776A-B55F-BD46A9652992}"/>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46F28470-9DDC-A1C0-44ED-C1A38232636F}"/>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6E320849-A3F7-A150-79AA-9261937FECF2}"/>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16CF1DC5-D3CD-E50F-B7D5-B1647AD8426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申込完了直後</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13B785A9-AE07-65EA-5E5C-8F6B908562CF}"/>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当日フロー自動送付</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396E4066-71DA-8649-8C5F-BDFFC56B7F3A}"/>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9B006DA7-6196-F8F6-970F-DC9C2663876A}"/>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6F508C7C-1181-D6F1-04E3-871D86B1A7F3}"/>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50E830AA-3612-B666-F090-99534DF142A9}"/>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CAB1B380-D7B7-197D-641E-1FDD0F2113B6}"/>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不安ゼロで待機</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0ED63B1C-3E6C-4055-2FDE-C901EA2E281E}"/>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アフターフォロー期待</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A7504597-DAE8-7BD5-E427-59FE3F3330B0}"/>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57656A25-7392-A4F8-42FF-0AAD35DAB96A}"/>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01509C7-F9AC-D612-CC39-58640601C006}"/>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4BF6839F-2873-F373-446B-2181CDBE0B5C}"/>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0E9F188B-90C4-31AB-2701-03D1FF2CC694}"/>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C8404977-9DAC-F0B8-336A-CAD39A2D9574}"/>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E1A706A9-2858-6B94-F554-D7AF99876505}"/>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4310345B-A0A0-5528-0149-1158E742747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1F298478-02C0-26AD-DD18-2A5F883779BB}"/>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7743960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D1EA046-6B24-6F8B-072F-C58606586D2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改善モデル④</a:t>
            </a:r>
          </a:p>
        </p:txBody>
      </p:sp>
      <p:sp>
        <p:nvSpPr>
          <p:cNvPr id="9" name="正方形/長方形 8">
            <a:extLst>
              <a:ext uri="{FF2B5EF4-FFF2-40B4-BE49-F238E27FC236}">
                <a16:creationId xmlns:a16="http://schemas.microsoft.com/office/drawing/2014/main" id="{4CC6B560-F63A-0124-FC5F-88DB86F5E043}"/>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5D31B060-8732-8226-E996-E5CD8768DC86}"/>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リピート率、クロスセル率、客単価を改善し、</a:t>
            </a:r>
            <a:r>
              <a:rPr lang="en-US" altLang="ja-JP" sz="1600" b="1" dirty="0">
                <a:latin typeface="メイリオ" panose="020B0604030504040204" pitchFamily="50" charset="-128"/>
                <a:ea typeface="メイリオ" panose="020B0604030504040204" pitchFamily="50" charset="-128"/>
                <a:cs typeface="Meiryo"/>
                <a:sym typeface="Meiryo"/>
              </a:rPr>
              <a:t>LTV</a:t>
            </a:r>
            <a:r>
              <a:rPr lang="ja-JP" altLang="en-US" sz="1600" b="1" dirty="0">
                <a:latin typeface="メイリオ" panose="020B0604030504040204" pitchFamily="50" charset="-128"/>
                <a:ea typeface="メイリオ" panose="020B0604030504040204" pitchFamily="50" charset="-128"/>
                <a:cs typeface="Meiryo"/>
                <a:sym typeface="Meiryo"/>
              </a:rPr>
              <a:t>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1" name="テキスト ボックス 20">
            <a:extLst>
              <a:ext uri="{FF2B5EF4-FFF2-40B4-BE49-F238E27FC236}">
                <a16:creationId xmlns:a16="http://schemas.microsoft.com/office/drawing/2014/main" id="{A963DBCC-3129-4694-2516-D42EB1CB36A7}"/>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640F53FA-21E2-6B03-27CB-8DE09650F7F7}"/>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CD6F3969-7970-ED78-97A1-E18A646DC413}"/>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DE48F05F-518B-8B69-CAE4-9FC447A9510C}"/>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D5D38C1D-8C53-09C4-237B-4FFBFD65D619}"/>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13FD3000-99FD-4540-2B87-0D726E46FCA6}"/>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27A03507-5C3E-DF3F-18DA-D429C2C2869A}"/>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3A508995-2791-7443-0604-9D0C327CA4C2}"/>
              </a:ext>
            </a:extLst>
          </p:cNvPr>
          <p:cNvCxnSpPr>
            <a:cxnSpLocks/>
            <a:stCxn id="30" idx="0"/>
            <a:endCxn id="21" idx="2"/>
          </p:cNvCxnSpPr>
          <p:nvPr/>
        </p:nvCxnSpPr>
        <p:spPr>
          <a:xfrm rot="5400000" flipH="1" flipV="1">
            <a:off x="4282287" y="178957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a16:creationId xmlns:a16="http://schemas.microsoft.com/office/drawing/2014/main" id="{83A147CB-7405-2DCF-1F21-0B8337012B0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F635E64C-0D36-F30F-0A02-3BAB66350C2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E52B63D-D41D-D127-AC66-256E2241FC5B}"/>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0" name="テキスト ボックス 9">
            <a:extLst>
              <a:ext uri="{FF2B5EF4-FFF2-40B4-BE49-F238E27FC236}">
                <a16:creationId xmlns:a16="http://schemas.microsoft.com/office/drawing/2014/main" id="{94C6D99A-720E-C67C-F0D7-BCC4F523B05A}"/>
              </a:ext>
            </a:extLst>
          </p:cNvPr>
          <p:cNvSpPr txBox="1"/>
          <p:nvPr/>
        </p:nvSpPr>
        <p:spPr>
          <a:xfrm>
            <a:off x="7408050" y="2033054"/>
            <a:ext cx="2352196" cy="400110"/>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a:t>
            </a:r>
            <a:r>
              <a:rPr lang="en-US" altLang="ja-JP" sz="1100" b="1" dirty="0">
                <a:solidFill>
                  <a:schemeClr val="bg1"/>
                </a:solidFill>
                <a:latin typeface="メイリオ" panose="020B0604030504040204" pitchFamily="50" charset="-128"/>
                <a:ea typeface="メイリオ" panose="020B0604030504040204" pitchFamily="50" charset="-128"/>
              </a:rPr>
              <a:t>LTV</a:t>
            </a:r>
            <a:r>
              <a:rPr lang="ja-JP" altLang="en-US" sz="1100" b="1" dirty="0">
                <a:solidFill>
                  <a:schemeClr val="bg1"/>
                </a:solidFill>
                <a:latin typeface="メイリオ" panose="020B0604030504040204" pitchFamily="50" charset="-128"/>
                <a:ea typeface="メイリオ" panose="020B0604030504040204" pitchFamily="50" charset="-128"/>
              </a:rPr>
              <a:t>最大化・紹介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endParaRPr lang="ja-JP" altLang="ja-JP" sz="9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EBFE876B-88B7-8368-241B-4213AC327DEF}"/>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latin typeface="メイリオ" panose="020B0604030504040204" pitchFamily="50" charset="-128"/>
                <a:ea typeface="メイリオ" panose="020B0604030504040204" pitchFamily="50" charset="-128"/>
              </a:rPr>
              <a:t>属性把握により最適なタイミング・サービスラインを提示</a:t>
            </a:r>
          </a:p>
        </p:txBody>
      </p:sp>
      <p:sp>
        <p:nvSpPr>
          <p:cNvPr id="214" name="正方形/長方形 213">
            <a:extLst>
              <a:ext uri="{FF2B5EF4-FFF2-40B4-BE49-F238E27FC236}">
                <a16:creationId xmlns:a16="http://schemas.microsoft.com/office/drawing/2014/main" id="{BC37FCD9-3298-5435-6B9C-3FDC96F4BED5}"/>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031543C4-0BBC-6209-20D0-2EFA2FCEF86D}"/>
              </a:ext>
            </a:extLst>
          </p:cNvPr>
          <p:cNvSpPr/>
          <p:nvPr/>
        </p:nvSpPr>
        <p:spPr>
          <a:xfrm>
            <a:off x="265419" y="2999768"/>
            <a:ext cx="4541216" cy="1600805"/>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101BD496-9F8B-4FB2-A6BB-61070F561E0B}"/>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C11A3E69-9E4D-9846-409E-E9A711BD995E}"/>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9A2D9F28-CC07-BFBF-1F09-849BDDAE374B}"/>
              </a:ext>
            </a:extLst>
          </p:cNvPr>
          <p:cNvSpPr/>
          <p:nvPr/>
        </p:nvSpPr>
        <p:spPr>
          <a:xfrm>
            <a:off x="686043" y="3109497"/>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クロスセル配信</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24" name="Text 40">
            <a:extLst>
              <a:ext uri="{FF2B5EF4-FFF2-40B4-BE49-F238E27FC236}">
                <a16:creationId xmlns:a16="http://schemas.microsoft.com/office/drawing/2014/main" id="{E07A6550-E043-DAC7-D1DE-2F58496625C9}"/>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アップグレード提案で客単価を向上</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8B380EA5-B628-C9F7-AB4A-470FADCA002E}"/>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利用量・頻度タグを活用して「よく使っている層」に上位プラン・関連サービスを自動配信。「今のプランより月〇〇円で〇〇が追加できます」という具体的メリット提示が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CVR</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を高める。満足度が高い購入後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3</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ヶ月が最適タイミング。</a:t>
            </a:r>
          </a:p>
        </p:txBody>
      </p:sp>
      <p:sp>
        <p:nvSpPr>
          <p:cNvPr id="228" name="Shape 42">
            <a:extLst>
              <a:ext uri="{FF2B5EF4-FFF2-40B4-BE49-F238E27FC236}">
                <a16:creationId xmlns:a16="http://schemas.microsoft.com/office/drawing/2014/main" id="{9B4B4FC2-ABA9-EE54-2AE8-6D8B446B20FF}"/>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B6DB6636-0D01-AC92-D361-5BB4DD706048}"/>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AA004DDF-312A-3679-2F4A-C0D702FDE201}"/>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8C971CE9-8DC5-3C5A-C74E-473D1EEF0A37}"/>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利用状況タグ付与</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BDCB6CBA-6BE0-0029-00B8-F3E8C622531C}"/>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高頻度ユーザー特定</a:t>
            </a:r>
            <a:endParaRPr lang="en-US" altLang="ja-JP" sz="750" dirty="0">
              <a:latin typeface="メイリオ" panose="020B0604030504040204" pitchFamily="50" charset="-128"/>
              <a:ea typeface="メイリオ" panose="020B0604030504040204" pitchFamily="50" charset="-128"/>
            </a:endParaRPr>
          </a:p>
        </p:txBody>
      </p:sp>
      <p:sp>
        <p:nvSpPr>
          <p:cNvPr id="238" name="Text 47">
            <a:extLst>
              <a:ext uri="{FF2B5EF4-FFF2-40B4-BE49-F238E27FC236}">
                <a16:creationId xmlns:a16="http://schemas.microsoft.com/office/drawing/2014/main" id="{1D84C63C-EF83-B3FE-DA12-C6FED620F69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0BE03B95-9AB7-E6ED-2E78-10CF317A876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1E6CCFE3-96DE-0131-BB9B-0F2313B82CFB}"/>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5E69FB79-6A36-8814-5961-E84046021AAC}"/>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4EBEE041-7A21-6197-B2AC-4D081A8E8AD0}"/>
              </a:ext>
            </a:extLst>
          </p:cNvPr>
          <p:cNvSpPr/>
          <p:nvPr/>
        </p:nvSpPr>
        <p:spPr>
          <a:xfrm>
            <a:off x="2039355" y="4114575"/>
            <a:ext cx="914400" cy="182880"/>
          </a:xfrm>
          <a:prstGeom prst="rect">
            <a:avLst/>
          </a:prstGeom>
          <a:noFill/>
          <a:ln/>
        </p:spPr>
        <p:txBody>
          <a:bodyPr wrap="square" lIns="0" tIns="0" rIns="0" bIns="0" rtlCol="0" anchor="ctr"/>
          <a:lstStyle/>
          <a:p>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アップセル</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提案</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07AD15D9-CD6F-2D3C-CC15-71235D18482D}"/>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具体的金額＋メリット</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8ECA8D7C-C4A5-C970-D4A6-A16EF6F3350C}"/>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B12A5926-50A5-13EB-6415-C90901191CBD}"/>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2700C358-B913-5B66-30B3-A247A5CFA965}"/>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25DAB092-6EC6-4374-F29D-D2E43E4B9FEB}"/>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9DFA3811-543F-B130-C558-9F98D1BDCE28}"/>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7A46B590-0C64-FEE3-0E7C-7EA298F486A3}"/>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客単価</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 -- %向上</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7831C21-2DE0-1603-B120-3BAF591E685E}"/>
              </a:ext>
            </a:extLst>
          </p:cNvPr>
          <p:cNvSpPr/>
          <p:nvPr/>
        </p:nvSpPr>
        <p:spPr>
          <a:xfrm>
            <a:off x="265419" y="4842285"/>
            <a:ext cx="4541216" cy="1600804"/>
          </a:xfrm>
          <a:prstGeom prst="roundRect">
            <a:avLst>
              <a:gd name="adj" fmla="val 5263"/>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E0489255-B5B1-35CB-C8E0-D92F3D34C15B}"/>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5D18941-826F-30A6-3AA3-251341CB9EB1}"/>
              </a:ext>
            </a:extLst>
          </p:cNvPr>
          <p:cNvSpPr/>
          <p:nvPr/>
        </p:nvSpPr>
        <p:spPr>
          <a:xfrm>
            <a:off x="686043" y="4952013"/>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紹介キャンペーン</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68" name="Text 65">
            <a:extLst>
              <a:ext uri="{FF2B5EF4-FFF2-40B4-BE49-F238E27FC236}">
                <a16:creationId xmlns:a16="http://schemas.microsoft.com/office/drawing/2014/main" id="{46A7ADAB-7FB3-0E5E-A98A-5FA74D2FF19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紹介キャンペーン</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の誘導</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設計でゼロコスト新規獲得</a:t>
            </a:r>
            <a:endParaRPr lang="en-US" altLang="ja-JP" sz="1100" dirty="0">
              <a:latin typeface="メイリオ" panose="020B0604030504040204" pitchFamily="50" charset="-128"/>
              <a:ea typeface="メイリオ" panose="020B0604030504040204" pitchFamily="50" charset="-128"/>
            </a:endParaRPr>
          </a:p>
        </p:txBody>
      </p:sp>
      <p:sp>
        <p:nvSpPr>
          <p:cNvPr id="270" name="Text 66">
            <a:extLst>
              <a:ext uri="{FF2B5EF4-FFF2-40B4-BE49-F238E27FC236}">
                <a16:creationId xmlns:a16="http://schemas.microsoft.com/office/drawing/2014/main" id="{730ECA19-26DA-232F-404E-DBF02F6BA8B1}"/>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お友達をご紹介いただいた方にAmazonギフト</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○○円プレゼント」をLINEで配信。満足度が最も高い利用開始3ヶ月後が最適タイミング。紹介ユーザーのLTVは通常ユーザーの1.5〜2倍で広告比CPA1/5〜1/10。</a:t>
            </a:r>
            <a:endParaRPr lang="en-US" altLang="ja-JP" sz="850" dirty="0">
              <a:latin typeface="メイリオ" panose="020B0604030504040204" pitchFamily="50" charset="-128"/>
              <a:ea typeface="メイリオ" panose="020B0604030504040204" pitchFamily="50" charset="-128"/>
            </a:endParaRPr>
          </a:p>
        </p:txBody>
      </p:sp>
      <p:sp>
        <p:nvSpPr>
          <p:cNvPr id="272" name="Shape 68">
            <a:extLst>
              <a:ext uri="{FF2B5EF4-FFF2-40B4-BE49-F238E27FC236}">
                <a16:creationId xmlns:a16="http://schemas.microsoft.com/office/drawing/2014/main" id="{462FA3CD-674C-EF8C-8AE8-10A144147A63}"/>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11F7B611-A14B-627C-5FBB-0170B886D5EA}"/>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C99449D4-E546-985F-BE72-933F1694A4F7}"/>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164235F1-23EF-1248-60B7-999A0B29AA4D}"/>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12B0160C-FE2A-C7A4-E0AD-74F3D0F9BB4B}"/>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5E79EB16-FC89-25AD-ABF7-33918A2FDFC6}"/>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紹介特典を配信</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64C81502-47D8-FD41-CAA1-246D2A7C55F4}"/>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満足度高い3ヶ月後</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DDBCEA73-1ED9-CA4D-8311-CAF89AE71249}"/>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4A9CE2B6-4FF8-B0CB-C568-0E29CCB25364}"/>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FB713A24-D0F7-6DC1-B787-27EFB8E42CD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37FF5E38-4F70-1C68-3580-FD6C0D20C5D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5C71A4A8-6960-FBE7-CE24-A77A0C89DFFD}"/>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LINEシェア</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F823702E-E3FF-CBCE-0A20-E5381533CBF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心理ハードル最低</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83E74AB-BECE-59CE-D634-A3A5C9A361C9}"/>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B99E233A-6870-51BA-7438-99DBD2BE03C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14136A19-FB98-4163-504D-27BC3C347109}"/>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B1261818-8213-92C4-5F69-CDB1FEED7D6B}"/>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2F5670AB-004B-F8FE-78FA-0194BCE83E05}"/>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紹介経由＋特典付与</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DC6BE138-921D-A694-0DAC-F5A995A4F15D}"/>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ツール連携で自動追跡</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00EA83A8-D640-D726-5B4E-5B7E5CC8BB06}"/>
              </a:ext>
            </a:extLst>
          </p:cNvPr>
          <p:cNvSpPr/>
          <p:nvPr/>
        </p:nvSpPr>
        <p:spPr>
          <a:xfrm>
            <a:off x="5099366" y="2999769"/>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2ED50188-C3E8-671B-437B-FE9D09CB0C8A}"/>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6E39E70-FE8A-DE23-0A39-4AE1241BE1A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再接触</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2B080416-8CAA-F775-2812-CDE294817703}"/>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長期離脱</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層</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へコンテンツ型ギフトで関係再構築</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56FA365B-5BDE-ED2F-4006-8ED9F6DCA2CB}"/>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6ヶ月以上アクションなしのユーザーに「ご無沙汰しています。最近こんな情報があります」という業界ニュース・役立つコンテンツ型で再接触。最初の2〜3回は純粋にギフトとして届け、関係を再構築してからCV訴求する。</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1E05EEB3-91EB-E94B-2D69-D35527B446BF}"/>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BA904CD8-501F-A1E3-D3ED-D2CCD783E4DC}"/>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35DBBF69-D787-B899-0A91-599E4F6F88FD}"/>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571F5D58-D9F5-DDDB-BBA8-754874B6BA6A}"/>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役立つ情報のみ</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ED413E21-4A95-D38C-61A6-621C9118C6E5}"/>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売り込みゼロ×2〜3回</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CCFB2388-34C1-5BB1-7989-946A3B745B6A}"/>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F8446415-1501-E693-C4B3-EB8C32C67E45}"/>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A98E62F3-DFAB-3380-0063-854CD3B54274}"/>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415DB8B7-F668-AC7A-CE33-494F03854BD4}"/>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FA1DC66E-AF0D-0985-0802-20D85E926CA0}"/>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関係再構築完了</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4D8603BB-BC34-BD19-18F7-38CF49867740}"/>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ブロック率を抑制</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588E7835-072B-748B-58F3-CA6AFC64CEFD}"/>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4F170C42-630C-8D4B-FBB8-27015876762A}"/>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4949CD92-D7C3-604E-24C2-5DF64D165947}"/>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89D2F0E4-B8EC-3B98-9281-44E80C6C2F05}"/>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86FADA7D-7380-B2D4-BB29-67FA3FF02D03}"/>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自然な形でCV訴求</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281ABCCF-C22A-E77A-4B67-210FD1F78104}"/>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再購入率10%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前後</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971278A0-D337-07E8-607D-BF93BE0DD844}"/>
              </a:ext>
            </a:extLst>
          </p:cNvPr>
          <p:cNvSpPr/>
          <p:nvPr/>
        </p:nvSpPr>
        <p:spPr>
          <a:xfrm>
            <a:off x="5099366" y="4842285"/>
            <a:ext cx="4526075" cy="1600806"/>
          </a:xfrm>
          <a:prstGeom prst="roundRect">
            <a:avLst>
              <a:gd name="adj" fmla="val 8000"/>
            </a:avLst>
          </a:prstGeom>
          <a:solidFill>
            <a:srgbClr val="F5F5F8"/>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F47773F9-0CEF-F0E1-89AB-B3B4EFC203DB}"/>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5E262051-72BB-2E2F-38AC-EAC107F4BF2D}"/>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E3B15F81-AADD-9921-7172-C1CD99BDF110}"/>
              </a:ext>
            </a:extLst>
          </p:cNvPr>
          <p:cNvSpPr/>
          <p:nvPr/>
        </p:nvSpPr>
        <p:spPr>
          <a:xfrm>
            <a:off x="6379526" y="4924581"/>
            <a:ext cx="3480635"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誕生日記念日タグ </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パーソナライズ配信で</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LTV</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向上</a:t>
            </a:r>
          </a:p>
        </p:txBody>
      </p:sp>
      <p:sp>
        <p:nvSpPr>
          <p:cNvPr id="362" name="Text 120">
            <a:extLst>
              <a:ext uri="{FF2B5EF4-FFF2-40B4-BE49-F238E27FC236}">
                <a16:creationId xmlns:a16="http://schemas.microsoft.com/office/drawing/2014/main" id="{5D40B60F-5F09-DB2E-8DFF-C187AC234EEE}"/>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誕生日・入会記念日を記念日タグとして登録し</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様、今日はご誕生日おめでとうございます。特別クーポンをお贈りします」を自動配信</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。「自分のことを覚えてくれている」体験がロイヤリティを高め年間LTVを平均20%向上。</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6D87E532-2B58-F1E3-5364-68322B8546E8}"/>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D091E1D9-CAC7-E7FA-4AE7-10C04B5FA5B7}"/>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91206034-9E2C-FBA8-B2C3-24856EE4B44C}"/>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96A70C8C-D3D2-8BAD-7C6C-DDACC0B79B3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記念日タグを設定</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C7DCCB91-2446-504F-DB21-38DC9E40A99E}"/>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誕生日・入会日等</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1F4F8BB1-7C46-CFAC-4A82-3A92CFDC15EE}"/>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2D872CE0-C558-B33C-59A0-3B8B41F4DCBB}"/>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356DDE33-7381-CEF0-7015-298C11EB34FA}"/>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EE6BBEAB-1160-1953-0E09-D30313ED9406}"/>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F035AA22-D856-8317-F313-F0B2385E993B}"/>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特別オファ</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ー</a:t>
            </a:r>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5E7101A0-55A9-D99A-CD95-05335CAC2992}"/>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完全自動・スタッフゼロ</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EB31AD4D-43BF-8F45-39CD-B0337D31809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9D865312-D619-1BB5-483D-A496A7C19C36}"/>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6902040-0093-C584-7CD4-3A8474835775}"/>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FB44CA82-5B08-B387-57C3-88F14FCA18B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85A4EC17-97B2-BCD7-FCE3-303E8114491D}"/>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F48F4888-D926-9901-DE92-103FA2FF00EB}"/>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0734E444-168A-89C6-D964-38759E540BCB}"/>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B45D359F-4CA9-C051-F58B-E1296B6FBFE4}"/>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8EA02CFD-BE47-AC79-7F8B-5F9B8FB2B494}"/>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7255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1FAE-54F0-68FB-0777-049A7824330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0D2538F-E1B8-8AE5-0CD4-42EA268B5DF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DYM</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によるご提供プラン</a:t>
            </a:r>
          </a:p>
        </p:txBody>
      </p:sp>
      <p:pic>
        <p:nvPicPr>
          <p:cNvPr id="12" name="図 11" descr="アイコン が含まれている画像&#10;&#10;AI 生成コンテンツは誤りを含む可能性があります。">
            <a:extLst>
              <a:ext uri="{FF2B5EF4-FFF2-40B4-BE49-F238E27FC236}">
                <a16:creationId xmlns:a16="http://schemas.microsoft.com/office/drawing/2014/main" id="{DA698D6F-CD58-6385-1BCA-1E3129DEE1B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3108" y="1416099"/>
            <a:ext cx="1106285" cy="737523"/>
          </a:xfrm>
          <a:prstGeom prst="rect">
            <a:avLst/>
          </a:prstGeom>
        </p:spPr>
      </p:pic>
      <p:sp>
        <p:nvSpPr>
          <p:cNvPr id="41" name="正方形/長方形 40">
            <a:extLst>
              <a:ext uri="{FF2B5EF4-FFF2-40B4-BE49-F238E27FC236}">
                <a16:creationId xmlns:a16="http://schemas.microsoft.com/office/drawing/2014/main" id="{83976F76-8A4B-AFB5-EE98-67FE261517F3}"/>
              </a:ext>
            </a:extLst>
          </p:cNvPr>
          <p:cNvSpPr/>
          <p:nvPr/>
        </p:nvSpPr>
        <p:spPr>
          <a:xfrm>
            <a:off x="1123324" y="1813322"/>
            <a:ext cx="3368922" cy="134091"/>
          </a:xfrm>
          <a:prstGeom prst="rect">
            <a:avLst/>
          </a:prstGeom>
          <a:solidFill>
            <a:schemeClr val="tx2">
              <a:lumMod val="60000"/>
              <a:lumOff val="40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Google Shape;752;p28">
            <a:extLst>
              <a:ext uri="{FF2B5EF4-FFF2-40B4-BE49-F238E27FC236}">
                <a16:creationId xmlns:a16="http://schemas.microsoft.com/office/drawing/2014/main" id="{8185E67B-5C3A-B719-9811-C4C631E8B2F4}"/>
              </a:ext>
            </a:extLst>
          </p:cNvPr>
          <p:cNvSpPr txBox="1"/>
          <p:nvPr/>
        </p:nvSpPr>
        <p:spPr>
          <a:xfrm>
            <a:off x="1147590" y="1615603"/>
            <a:ext cx="483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DYM</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よりご提供できるプラン一覧</a:t>
            </a:r>
          </a:p>
        </p:txBody>
      </p:sp>
      <p:sp>
        <p:nvSpPr>
          <p:cNvPr id="2" name="Google Shape;752;p28">
            <a:extLst>
              <a:ext uri="{FF2B5EF4-FFF2-40B4-BE49-F238E27FC236}">
                <a16:creationId xmlns:a16="http://schemas.microsoft.com/office/drawing/2014/main" id="{9D5A302D-F00E-0C43-E9D8-F1DB17CF4EC0}"/>
              </a:ext>
            </a:extLst>
          </p:cNvPr>
          <p:cNvSpPr txBox="1"/>
          <p:nvPr/>
        </p:nvSpPr>
        <p:spPr>
          <a:xfrm>
            <a:off x="661098" y="824235"/>
            <a:ext cx="8437327" cy="307736"/>
          </a:xfrm>
          <a:prstGeom prst="rect">
            <a:avLst/>
          </a:prstGeom>
          <a:noFill/>
          <a:ln>
            <a:noFill/>
          </a:ln>
        </p:spPr>
        <p:txBody>
          <a:bodyPr spcFirstLastPara="1" wrap="square" lIns="91425" tIns="45700" rIns="91425" bIns="45700" anchor="ctr" anchorCtr="0">
            <a:spAutoFit/>
          </a:bodyPr>
          <a:lstStyle/>
          <a:p>
            <a:pPr lvl="0" algn="ct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貴社課題感・予算感・施策規模感に合わせて、複数のプランでの提案が可能です。</a:t>
            </a:r>
            <a:endPar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8D454AA9-AD97-90CA-946B-22BBC421527A}"/>
              </a:ext>
            </a:extLst>
          </p:cNvPr>
          <p:cNvSpPr/>
          <p:nvPr/>
        </p:nvSpPr>
        <p:spPr>
          <a:xfrm>
            <a:off x="506322" y="2770359"/>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コンサル基本プラン</a:t>
            </a:r>
          </a:p>
        </p:txBody>
      </p:sp>
      <p:sp>
        <p:nvSpPr>
          <p:cNvPr id="5" name="正方形/長方形 4">
            <a:extLst>
              <a:ext uri="{FF2B5EF4-FFF2-40B4-BE49-F238E27FC236}">
                <a16:creationId xmlns:a16="http://schemas.microsoft.com/office/drawing/2014/main" id="{EEC8E70F-A694-0D6C-4FF1-315A6E9F733E}"/>
              </a:ext>
            </a:extLst>
          </p:cNvPr>
          <p:cNvSpPr/>
          <p:nvPr/>
        </p:nvSpPr>
        <p:spPr>
          <a:xfrm>
            <a:off x="506322" y="4666973"/>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初動設計</a:t>
            </a:r>
            <a:r>
              <a:rPr lang="ja-JP" altLang="en-US" sz="1400" dirty="0">
                <a:latin typeface="メイリオ" panose="020B0604030504040204" pitchFamily="50" charset="-128"/>
                <a:ea typeface="メイリオ" panose="020B0604030504040204" pitchFamily="50" charset="-128"/>
              </a:rPr>
              <a:t>のみ</a:t>
            </a:r>
            <a:r>
              <a:rPr kumimoji="1" lang="ja-JP" altLang="en-US" sz="1400" dirty="0">
                <a:latin typeface="メイリオ" panose="020B0604030504040204" pitchFamily="50" charset="-128"/>
                <a:ea typeface="メイリオ" panose="020B0604030504040204" pitchFamily="50" charset="-128"/>
              </a:rPr>
              <a:t>プラン</a:t>
            </a:r>
          </a:p>
        </p:txBody>
      </p:sp>
      <p:sp>
        <p:nvSpPr>
          <p:cNvPr id="6" name="正方形/長方形 5">
            <a:extLst>
              <a:ext uri="{FF2B5EF4-FFF2-40B4-BE49-F238E27FC236}">
                <a16:creationId xmlns:a16="http://schemas.microsoft.com/office/drawing/2014/main" id="{951ADC50-2D6D-823F-2EEF-A053535442BE}"/>
              </a:ext>
            </a:extLst>
          </p:cNvPr>
          <p:cNvSpPr/>
          <p:nvPr/>
        </p:nvSpPr>
        <p:spPr>
          <a:xfrm>
            <a:off x="506322" y="5615281"/>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運用代行・効率改善プラン</a:t>
            </a:r>
          </a:p>
        </p:txBody>
      </p:sp>
      <p:sp>
        <p:nvSpPr>
          <p:cNvPr id="7" name="正方形/長方形 6">
            <a:extLst>
              <a:ext uri="{FF2B5EF4-FFF2-40B4-BE49-F238E27FC236}">
                <a16:creationId xmlns:a16="http://schemas.microsoft.com/office/drawing/2014/main" id="{ED866F59-8FC1-9200-5700-DE2EEF3AF79A}"/>
              </a:ext>
            </a:extLst>
          </p:cNvPr>
          <p:cNvSpPr/>
          <p:nvPr/>
        </p:nvSpPr>
        <p:spPr>
          <a:xfrm>
            <a:off x="506322" y="3718666"/>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成果報酬型プラン</a:t>
            </a:r>
            <a:endParaRPr kumimoji="1" lang="ja-JP" altLang="en-US" sz="14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D7A43CC0-345F-22EA-1EA2-259B21EA4E19}"/>
              </a:ext>
            </a:extLst>
          </p:cNvPr>
          <p:cNvSpPr/>
          <p:nvPr/>
        </p:nvSpPr>
        <p:spPr>
          <a:xfrm>
            <a:off x="3477934" y="2602078"/>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設定内容により変動</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B41ABFD0-4DA0-5335-346F-E7FA981B5FD9}"/>
              </a:ext>
            </a:extLst>
          </p:cNvPr>
          <p:cNvSpPr/>
          <p:nvPr/>
        </p:nvSpPr>
        <p:spPr>
          <a:xfrm>
            <a:off x="3477934" y="4498692"/>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solidFill>
              <a:latin typeface="メイリオ" panose="020B0604030504040204" pitchFamily="50" charset="-128"/>
              <a:ea typeface="メイリオ" panose="020B0604030504040204" pitchFamily="50" charset="-128"/>
            </a:endParaRPr>
          </a:p>
          <a:p>
            <a:pPr algn="ctr"/>
            <a:r>
              <a:rPr lang="en-US" altLang="ja-JP" sz="1200" dirty="0">
                <a:solidFill>
                  <a:schemeClr val="tx1"/>
                </a:solidFill>
                <a:latin typeface="メイリオ" panose="020B0604030504040204" pitchFamily="50" charset="-128"/>
                <a:ea typeface="メイリオ" panose="020B0604030504040204" pitchFamily="50" charset="-128"/>
              </a:rPr>
              <a:t>GA</a:t>
            </a:r>
            <a:r>
              <a:rPr lang="ja-JP" altLang="en-US" sz="1200" dirty="0">
                <a:solidFill>
                  <a:schemeClr val="tx1"/>
                </a:solidFill>
                <a:latin typeface="メイリオ" panose="020B0604030504040204" pitchFamily="50" charset="-128"/>
                <a:ea typeface="メイリオ" panose="020B0604030504040204" pitchFamily="50" charset="-128"/>
              </a:rPr>
              <a:t>計測、ステップ配信を構築します</a:t>
            </a:r>
            <a:endParaRPr lang="en-US" altLang="ja-JP" sz="105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AD61DD43-5145-183F-4944-CF28902E2BB5}"/>
              </a:ext>
            </a:extLst>
          </p:cNvPr>
          <p:cNvSpPr/>
          <p:nvPr/>
        </p:nvSpPr>
        <p:spPr>
          <a:xfrm>
            <a:off x="3477934" y="5447000"/>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5</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投稿数により変動</a:t>
            </a:r>
            <a:r>
              <a:rPr lang="en-US" altLang="ja-JP" sz="1050" dirty="0">
                <a:solidFill>
                  <a:schemeClr val="tx1"/>
                </a:solidFill>
                <a:latin typeface="メイリオ" panose="020B0604030504040204" pitchFamily="50" charset="-128"/>
                <a:ea typeface="メイリオ" panose="020B0604030504040204" pitchFamily="50" charset="-128"/>
              </a:rPr>
              <a:t>(3</a:t>
            </a:r>
            <a:r>
              <a:rPr lang="ja-JP" altLang="en-US" sz="1050" dirty="0">
                <a:solidFill>
                  <a:schemeClr val="tx1"/>
                </a:solidFill>
                <a:latin typeface="メイリオ" panose="020B0604030504040204" pitchFamily="50" charset="-128"/>
                <a:ea typeface="メイリオ" panose="020B0604030504040204" pitchFamily="50" charset="-128"/>
              </a:rPr>
              <a:t>投稿</a:t>
            </a:r>
            <a:r>
              <a:rPr lang="en-US" altLang="ja-JP" sz="1050" dirty="0">
                <a:solidFill>
                  <a:schemeClr val="tx1"/>
                </a:solidFill>
                <a:latin typeface="メイリオ" panose="020B0604030504040204" pitchFamily="50" charset="-128"/>
                <a:ea typeface="メイリオ" panose="020B0604030504040204" pitchFamily="50" charset="-128"/>
              </a:rPr>
              <a:t>〜/10</a:t>
            </a:r>
            <a:r>
              <a:rPr lang="ja-JP" altLang="en-US" sz="1050" dirty="0">
                <a:solidFill>
                  <a:schemeClr val="tx1"/>
                </a:solidFill>
                <a:latin typeface="メイリオ" panose="020B0604030504040204" pitchFamily="50" charset="-128"/>
                <a:ea typeface="メイリオ" panose="020B0604030504040204" pitchFamily="50" charset="-128"/>
              </a:rPr>
              <a:t>万円</a:t>
            </a:r>
            <a:r>
              <a:rPr lang="en-US" altLang="ja-JP" sz="1050" dirty="0">
                <a:solidFill>
                  <a:schemeClr val="tx1"/>
                </a:solidFill>
                <a:latin typeface="メイリオ" panose="020B0604030504040204" pitchFamily="50" charset="-128"/>
                <a:ea typeface="メイリオ" panose="020B0604030504040204" pitchFamily="50" charset="-128"/>
              </a:rPr>
              <a:t>6</a:t>
            </a:r>
            <a:r>
              <a:rPr lang="ja-JP" altLang="en-US" sz="1050" dirty="0">
                <a:solidFill>
                  <a:schemeClr val="tx1"/>
                </a:solidFill>
                <a:latin typeface="メイリオ" panose="020B0604030504040204" pitchFamily="50" charset="-128"/>
                <a:ea typeface="メイリオ" panose="020B0604030504040204" pitchFamily="50" charset="-128"/>
              </a:rPr>
              <a:t>投稿</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11" name="正方形/長方形 10">
            <a:extLst>
              <a:ext uri="{FF2B5EF4-FFF2-40B4-BE49-F238E27FC236}">
                <a16:creationId xmlns:a16="http://schemas.microsoft.com/office/drawing/2014/main" id="{AEBE1332-3E19-248E-DB59-7DA92679932C}"/>
              </a:ext>
            </a:extLst>
          </p:cNvPr>
          <p:cNvSpPr/>
          <p:nvPr/>
        </p:nvSpPr>
        <p:spPr>
          <a:xfrm>
            <a:off x="3477934" y="3550385"/>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設定内容により変動</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2A0C2CFB-F02A-8049-96FD-FD6CF42B0E7A}"/>
              </a:ext>
            </a:extLst>
          </p:cNvPr>
          <p:cNvSpPr/>
          <p:nvPr/>
        </p:nvSpPr>
        <p:spPr>
          <a:xfrm>
            <a:off x="6517118" y="2602078"/>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20</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400" dirty="0">
                <a:solidFill>
                  <a:schemeClr val="tx1">
                    <a:lumMod val="65000"/>
                    <a:lumOff val="35000"/>
                  </a:schemeClr>
                </a:solidFill>
                <a:latin typeface="メイリオ" panose="020B0604030504040204" pitchFamily="50" charset="-128"/>
                <a:ea typeface="メイリオ" panose="020B0604030504040204" pitchFamily="50" charset="-128"/>
              </a:rPr>
              <a:t>投稿数により変動</a:t>
            </a:r>
            <a:r>
              <a:rPr lang="en-US" altLang="ja-JP" sz="1100" dirty="0">
                <a:solidFill>
                  <a:schemeClr val="tx1">
                    <a:lumMod val="65000"/>
                    <a:lumOff val="35000"/>
                  </a:schemeClr>
                </a:solidFill>
                <a:latin typeface="メイリオ" panose="020B0604030504040204" pitchFamily="50" charset="-128"/>
                <a:ea typeface="メイリオ" panose="020B0604030504040204" pitchFamily="50" charset="-128"/>
              </a:rPr>
              <a:t>(3</a:t>
            </a: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10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4" name="正方形/長方形 13">
            <a:extLst>
              <a:ext uri="{FF2B5EF4-FFF2-40B4-BE49-F238E27FC236}">
                <a16:creationId xmlns:a16="http://schemas.microsoft.com/office/drawing/2014/main" id="{E6CA090D-A0FE-B83F-F9D4-7F2081B321AC}"/>
              </a:ext>
            </a:extLst>
          </p:cNvPr>
          <p:cNvSpPr/>
          <p:nvPr/>
        </p:nvSpPr>
        <p:spPr>
          <a:xfrm>
            <a:off x="6517118" y="4498692"/>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0</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アカウント費用のみ発生</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75000"/>
                  </a:schemeClr>
                </a:solidFill>
                <a:latin typeface="メイリオ" panose="020B0604030504040204" pitchFamily="50" charset="-128"/>
                <a:ea typeface="メイリオ" panose="020B0604030504040204" pitchFamily="50" charset="-128"/>
              </a:rPr>
              <a:t>※</a:t>
            </a:r>
            <a:r>
              <a:rPr lang="ja-JP" altLang="en-US" sz="1050" dirty="0">
                <a:solidFill>
                  <a:schemeClr val="bg1">
                    <a:lumMod val="75000"/>
                  </a:schemeClr>
                </a:solidFill>
                <a:latin typeface="メイリオ" panose="020B0604030504040204" pitchFamily="50" charset="-128"/>
                <a:ea typeface="メイリオ" panose="020B0604030504040204" pitchFamily="50" charset="-128"/>
              </a:rPr>
              <a:t>機能導入の場合は別途費用（</a:t>
            </a:r>
            <a:r>
              <a:rPr lang="en-US" altLang="ja-JP" sz="1050" dirty="0">
                <a:solidFill>
                  <a:schemeClr val="bg1">
                    <a:lumMod val="75000"/>
                  </a:schemeClr>
                </a:solidFill>
                <a:latin typeface="メイリオ" panose="020B0604030504040204" pitchFamily="50" charset="-128"/>
                <a:ea typeface="メイリオ" panose="020B0604030504040204" pitchFamily="50" charset="-128"/>
              </a:rPr>
              <a:t>Fee</a:t>
            </a:r>
            <a:r>
              <a:rPr lang="ja-JP" altLang="en-US" sz="1050" dirty="0">
                <a:solidFill>
                  <a:schemeClr val="bg1">
                    <a:lumMod val="75000"/>
                  </a:schemeClr>
                </a:solidFill>
                <a:latin typeface="メイリオ" panose="020B0604030504040204" pitchFamily="50" charset="-128"/>
                <a:ea typeface="メイリオ" panose="020B0604030504040204" pitchFamily="50" charset="-128"/>
              </a:rPr>
              <a:t>）が発生</a:t>
            </a:r>
            <a:endParaRPr lang="en-US" altLang="ja-JP" sz="1050"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EE3D57F9-87AE-6E15-36E0-FB1FCC357320}"/>
              </a:ext>
            </a:extLst>
          </p:cNvPr>
          <p:cNvSpPr/>
          <p:nvPr/>
        </p:nvSpPr>
        <p:spPr>
          <a:xfrm>
            <a:off x="6517118" y="5447000"/>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5</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投稿数により変動</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(3</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〜/10</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6</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6" name="正方形/長方形 15">
            <a:extLst>
              <a:ext uri="{FF2B5EF4-FFF2-40B4-BE49-F238E27FC236}">
                <a16:creationId xmlns:a16="http://schemas.microsoft.com/office/drawing/2014/main" id="{CA00712D-E4EC-DEB7-454F-CD087FC64AB8}"/>
              </a:ext>
            </a:extLst>
          </p:cNvPr>
          <p:cNvSpPr/>
          <p:nvPr/>
        </p:nvSpPr>
        <p:spPr>
          <a:xfrm>
            <a:off x="6517118" y="3550385"/>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単価</a:t>
            </a:r>
            <a:r>
              <a:rPr lang="en-US" altLang="ja-JP" b="1"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成果数により変動</a:t>
            </a:r>
            <a:endParaRPr lang="en-US" altLang="ja-JP" sz="12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アカウント費とツール費は発生します</a:t>
            </a:r>
            <a:endParaRPr lang="en-US" altLang="ja-JP" sz="7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B3C94D54-28FD-BEBF-AEF0-979D8BE80231}"/>
              </a:ext>
            </a:extLst>
          </p:cNvPr>
          <p:cNvSpPr txBox="1"/>
          <p:nvPr/>
        </p:nvSpPr>
        <p:spPr>
          <a:xfrm>
            <a:off x="3569145" y="2256270"/>
            <a:ext cx="2800460" cy="261610"/>
          </a:xfrm>
          <a:prstGeom prst="rect">
            <a:avLst/>
          </a:prstGeom>
          <a:noFill/>
        </p:spPr>
        <p:txBody>
          <a:bodyPr wrap="square">
            <a:spAutoFit/>
          </a:bodyPr>
          <a:lstStyle/>
          <a:p>
            <a:pPr algn="ct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&lt;</a:t>
            </a:r>
            <a:r>
              <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rPr>
              <a:t>初期費用</a:t>
            </a: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&gt;</a:t>
            </a:r>
            <a:endPar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91B5A2B5-E8BF-32E8-3229-6262A8849DFA}"/>
              </a:ext>
            </a:extLst>
          </p:cNvPr>
          <p:cNvSpPr txBox="1"/>
          <p:nvPr/>
        </p:nvSpPr>
        <p:spPr>
          <a:xfrm>
            <a:off x="6608329" y="2256270"/>
            <a:ext cx="2800460" cy="261610"/>
          </a:xfrm>
          <a:prstGeom prst="rect">
            <a:avLst/>
          </a:prstGeom>
          <a:noFill/>
        </p:spPr>
        <p:txBody>
          <a:bodyPr wrap="square">
            <a:spAutoFit/>
          </a:bodyPr>
          <a:lstStyle/>
          <a:p>
            <a:pPr algn="ct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&lt;</a:t>
            </a:r>
            <a:r>
              <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rPr>
              <a:t>月額費用</a:t>
            </a: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&gt;</a:t>
            </a:r>
            <a:endPar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F2E30823-4A97-1E61-22CA-60C942910619}"/>
              </a:ext>
            </a:extLst>
          </p:cNvPr>
          <p:cNvSpPr txBox="1"/>
          <p:nvPr/>
        </p:nvSpPr>
        <p:spPr>
          <a:xfrm>
            <a:off x="4864912" y="1516791"/>
            <a:ext cx="4294201" cy="276999"/>
          </a:xfrm>
          <a:prstGeom prst="rect">
            <a:avLst/>
          </a:prstGeom>
          <a:noFill/>
        </p:spPr>
        <p:txBody>
          <a:bodyPr wrap="square">
            <a:spAutoFit/>
          </a:bodyPr>
          <a:lstStyle/>
          <a:p>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いずれも</a:t>
            </a:r>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6</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か月</a:t>
            </a:r>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の契約となります。</a:t>
            </a:r>
            <a:endParaRPr lang="ja-JP" altLang="en-US" sz="1200" b="1" dirty="0">
              <a:solidFill>
                <a:srgbClr val="FF0000"/>
              </a:solidFill>
            </a:endParaRPr>
          </a:p>
        </p:txBody>
      </p:sp>
      <p:sp>
        <p:nvSpPr>
          <p:cNvPr id="25" name="テキスト ボックス 24">
            <a:extLst>
              <a:ext uri="{FF2B5EF4-FFF2-40B4-BE49-F238E27FC236}">
                <a16:creationId xmlns:a16="http://schemas.microsoft.com/office/drawing/2014/main" id="{D33F2179-B983-907C-4091-A1C6C62D52D4}"/>
              </a:ext>
            </a:extLst>
          </p:cNvPr>
          <p:cNvSpPr txBox="1"/>
          <p:nvPr/>
        </p:nvSpPr>
        <p:spPr>
          <a:xfrm>
            <a:off x="4879760" y="1751891"/>
            <a:ext cx="4294201" cy="276999"/>
          </a:xfrm>
          <a:prstGeom prst="rect">
            <a:avLst/>
          </a:prstGeom>
          <a:noFill/>
        </p:spPr>
        <p:txBody>
          <a:bodyPr wrap="square">
            <a:spAutoFit/>
          </a:bodyPr>
          <a:lstStyle/>
          <a:p>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開発やツール導入の場合は別途費用が発生します。</a:t>
            </a:r>
            <a:endParaRPr lang="ja-JP" altLang="en-US" sz="1200" b="1" dirty="0">
              <a:solidFill>
                <a:srgbClr val="FF0000"/>
              </a:solidFill>
            </a:endParaRPr>
          </a:p>
        </p:txBody>
      </p:sp>
      <p:sp>
        <p:nvSpPr>
          <p:cNvPr id="18" name="正方形/長方形 17">
            <a:extLst>
              <a:ext uri="{FF2B5EF4-FFF2-40B4-BE49-F238E27FC236}">
                <a16:creationId xmlns:a16="http://schemas.microsoft.com/office/drawing/2014/main" id="{6C7D4DA1-1231-53FE-3BA9-7E10A6828C3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extLst>
      <p:ext uri="{BB962C8B-B14F-4D97-AF65-F5344CB8AC3E}">
        <p14:creationId xmlns:p14="http://schemas.microsoft.com/office/powerpoint/2010/main" val="21829766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28F20-05AF-7B34-5B14-225CADFA40E5}"/>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CBC79D5-B48C-EA1F-E7C8-2470B18780C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D61F0D43-1EC8-C807-64DC-BE9799A02F79}"/>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コンサル基本プラン</a:t>
            </a:r>
          </a:p>
        </p:txBody>
      </p:sp>
      <p:sp>
        <p:nvSpPr>
          <p:cNvPr id="3" name="Google Shape;752;p28">
            <a:extLst>
              <a:ext uri="{FF2B5EF4-FFF2-40B4-BE49-F238E27FC236}">
                <a16:creationId xmlns:a16="http://schemas.microsoft.com/office/drawing/2014/main" id="{690D08B2-6972-E80D-2DA1-D0B4EE8CE831}"/>
              </a:ext>
            </a:extLst>
          </p:cNvPr>
          <p:cNvSpPr txBox="1"/>
          <p:nvPr/>
        </p:nvSpPr>
        <p:spPr>
          <a:xfrm>
            <a:off x="2914650" y="859443"/>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latin typeface="メイリオ" panose="020B0604030504040204" pitchFamily="50" charset="-128"/>
                <a:ea typeface="メイリオ" panose="020B0604030504040204" pitchFamily="50" charset="-128"/>
                <a:cs typeface="Meiryo"/>
                <a:sym typeface="Meiryo"/>
              </a:rPr>
              <a:t>オーソドックスなコンサルプラン。月間企画数により費用を設定。</a:t>
            </a:r>
          </a:p>
        </p:txBody>
      </p:sp>
      <p:sp>
        <p:nvSpPr>
          <p:cNvPr id="7" name="正方形/長方形 6">
            <a:extLst>
              <a:ext uri="{FF2B5EF4-FFF2-40B4-BE49-F238E27FC236}">
                <a16:creationId xmlns:a16="http://schemas.microsoft.com/office/drawing/2014/main" id="{9640D725-6CB1-3362-4D55-D2D874EE3245}"/>
              </a:ext>
            </a:extLst>
          </p:cNvPr>
          <p:cNvSpPr/>
          <p:nvPr/>
        </p:nvSpPr>
        <p:spPr>
          <a:xfrm>
            <a:off x="548883" y="3587932"/>
            <a:ext cx="8859613" cy="288253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aphicFrame>
        <p:nvGraphicFramePr>
          <p:cNvPr id="10" name="表 9">
            <a:extLst>
              <a:ext uri="{FF2B5EF4-FFF2-40B4-BE49-F238E27FC236}">
                <a16:creationId xmlns:a16="http://schemas.microsoft.com/office/drawing/2014/main" id="{C9C27775-D0B4-87CE-2D50-752D4FF8706F}"/>
              </a:ext>
            </a:extLst>
          </p:cNvPr>
          <p:cNvGraphicFramePr>
            <a:graphicFrameLocks noGrp="1"/>
          </p:cNvGraphicFramePr>
          <p:nvPr/>
        </p:nvGraphicFramePr>
        <p:xfrm>
          <a:off x="706726" y="3963057"/>
          <a:ext cx="8543925" cy="2454494"/>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175321">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8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アカウント開設</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2032470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プロフィール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246626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リッチメニュー</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180495"/>
                  </a:ext>
                </a:extLst>
              </a:tr>
              <a:tr h="175321">
                <a:tc>
                  <a:txBody>
                    <a:bodyPr/>
                    <a:lstStyle/>
                    <a:p>
                      <a:pPr algn="ctr" fontAlgn="ctr">
                        <a:buNone/>
                      </a:pPr>
                      <a:r>
                        <a:rPr lang="ja-JP" altLang="en-US" sz="800" b="0" i="0" u="none" strike="noStrike">
                          <a:solidFill>
                            <a:srgbClr val="000000"/>
                          </a:solidFill>
                          <a:effectLst/>
                          <a:highlight>
                            <a:srgbClr val="FFFF00"/>
                          </a:highlight>
                          <a:latin typeface="メイリオ" panose="020B0604030504040204" pitchFamily="50" charset="-128"/>
                          <a:ea typeface="メイリオ" panose="020B0604030504040204" pitchFamily="50" charset="-128"/>
                        </a:rPr>
                        <a:t>あいさつメッセージ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¥600,000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956199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初期アンケート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98230469"/>
                  </a:ext>
                </a:extLst>
              </a:tr>
              <a:tr h="175321">
                <a:tc>
                  <a:txBody>
                    <a:bodyPr/>
                    <a:lstStyle/>
                    <a:p>
                      <a:pPr algn="ctr" fontAlgn="ctr">
                        <a:buNone/>
                      </a:pPr>
                      <a:r>
                        <a:rPr 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KW</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の自動応答</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3055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ステップ配信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l-GR" sz="800" b="0" i="0" u="none" strike="noStrike">
                          <a:solidFill>
                            <a:schemeClr val="bg1">
                              <a:lumMod val="75000"/>
                            </a:schemeClr>
                          </a:solidFill>
                          <a:effectLst/>
                          <a:latin typeface="メイリオ" panose="020B0604030504040204" pitchFamily="50" charset="-128"/>
                          <a:ea typeface="メイリオ" panose="020B0604030504040204" pitchFamily="50" charset="-128"/>
                        </a:rPr>
                        <a:t>¥100,000+α</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1113508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セグメント配信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3,5</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手数料</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89714401"/>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チャットタグ管理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予約管理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60214931"/>
                  </a:ext>
                </a:extLst>
              </a:tr>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チャット対応</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多店舗管理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19396613"/>
                  </a:ext>
                </a:extLst>
              </a:tr>
              <a:tr h="175321">
                <a:tc>
                  <a:txBody>
                    <a:bodyPr/>
                    <a:lstStyle/>
                    <a:p>
                      <a:pPr algn="ctr" fontAlgn="ctr">
                        <a:buNone/>
                      </a:pPr>
                      <a:r>
                        <a:rPr lang="en-US" altLang="ja-JP"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GA(CRM)</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レポート連携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0232177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クリエイティブ</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離脱防止ツール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98905920"/>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定例会</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サンクス</a:t>
                      </a: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誘導ツール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17655704"/>
                  </a:ext>
                </a:extLst>
              </a:tr>
            </a:tbl>
          </a:graphicData>
        </a:graphic>
      </p:graphicFrame>
      <p:sp>
        <p:nvSpPr>
          <p:cNvPr id="12" name="テキスト ボックス 11">
            <a:extLst>
              <a:ext uri="{FF2B5EF4-FFF2-40B4-BE49-F238E27FC236}">
                <a16:creationId xmlns:a16="http://schemas.microsoft.com/office/drawing/2014/main" id="{78F7A265-899D-CCF4-2C14-ED5BB94EA90E}"/>
              </a:ext>
            </a:extLst>
          </p:cNvPr>
          <p:cNvSpPr txBox="1"/>
          <p:nvPr/>
        </p:nvSpPr>
        <p:spPr>
          <a:xfrm>
            <a:off x="706726" y="3644690"/>
            <a:ext cx="4963884" cy="261610"/>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20" name="表 19">
            <a:extLst>
              <a:ext uri="{FF2B5EF4-FFF2-40B4-BE49-F238E27FC236}">
                <a16:creationId xmlns:a16="http://schemas.microsoft.com/office/drawing/2014/main" id="{35A17481-69F7-B4A9-E021-97EE397EC507}"/>
              </a:ext>
            </a:extLst>
          </p:cNvPr>
          <p:cNvGraphicFramePr>
            <a:graphicFrameLocks noGrp="1"/>
          </p:cNvGraphicFramePr>
          <p:nvPr/>
        </p:nvGraphicFramePr>
        <p:xfrm>
          <a:off x="5052177" y="3697199"/>
          <a:ext cx="1236867" cy="175321"/>
        </p:xfrm>
        <a:graphic>
          <a:graphicData uri="http://schemas.openxmlformats.org/drawingml/2006/table">
            <a:tbl>
              <a:tblPr/>
              <a:tblGrid>
                <a:gridCol w="1236867">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運用時、基本付帯する</a:t>
                      </a:r>
                    </a:p>
                  </a:txBody>
                  <a:tcPr marL="8241" marR="8241"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21" name="表 20">
            <a:extLst>
              <a:ext uri="{FF2B5EF4-FFF2-40B4-BE49-F238E27FC236}">
                <a16:creationId xmlns:a16="http://schemas.microsoft.com/office/drawing/2014/main" id="{389502D4-BA2A-6A1C-BF6C-A371B6D109FD}"/>
              </a:ext>
            </a:extLst>
          </p:cNvPr>
          <p:cNvGraphicFramePr>
            <a:graphicFrameLocks noGrp="1"/>
          </p:cNvGraphicFramePr>
          <p:nvPr/>
        </p:nvGraphicFramePr>
        <p:xfrm>
          <a:off x="7891522" y="3697199"/>
          <a:ext cx="1249236" cy="15396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53961">
                <a:tc>
                  <a:txBody>
                    <a:bodyPr/>
                    <a:lstStyle/>
                    <a:p>
                      <a:pPr algn="ctr" fontAlgn="ctr">
                        <a:buNone/>
                      </a:pPr>
                      <a:r>
                        <a:rPr lang="ja-JP" altLang="en-US" sz="800" b="0" i="0" u="none" strike="noStrike" dirty="0">
                          <a:solidFill>
                            <a:srgbClr val="000000"/>
                          </a:solidFill>
                          <a:effectLst/>
                          <a:highlight>
                            <a:srgbClr val="C0C0C0"/>
                          </a:highlight>
                          <a:latin typeface="メイリオ" panose="020B0604030504040204" pitchFamily="50" charset="-128"/>
                          <a:ea typeface="メイリオ" panose="020B0604030504040204" pitchFamily="50" charset="-128"/>
                        </a:rPr>
                        <a:t>対応しない領域</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22" name="表 21">
            <a:extLst>
              <a:ext uri="{FF2B5EF4-FFF2-40B4-BE49-F238E27FC236}">
                <a16:creationId xmlns:a16="http://schemas.microsoft.com/office/drawing/2014/main" id="{1AEA4D62-5A51-5D4C-668D-F5733449D649}"/>
              </a:ext>
            </a:extLst>
          </p:cNvPr>
          <p:cNvGraphicFramePr>
            <a:graphicFrameLocks noGrp="1"/>
          </p:cNvGraphicFramePr>
          <p:nvPr/>
        </p:nvGraphicFramePr>
        <p:xfrm>
          <a:off x="6465665" y="3697198"/>
          <a:ext cx="1249236" cy="17532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貴社にて対応</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sp>
        <p:nvSpPr>
          <p:cNvPr id="2" name="正方形/長方形 1">
            <a:extLst>
              <a:ext uri="{FF2B5EF4-FFF2-40B4-BE49-F238E27FC236}">
                <a16:creationId xmlns:a16="http://schemas.microsoft.com/office/drawing/2014/main" id="{C482A5B9-1B77-7CB2-3577-651B908CC4DA}"/>
              </a:ext>
            </a:extLst>
          </p:cNvPr>
          <p:cNvSpPr/>
          <p:nvPr/>
        </p:nvSpPr>
        <p:spPr>
          <a:xfrm>
            <a:off x="706726" y="1556872"/>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メイリオ" panose="020B0604030504040204" pitchFamily="50" charset="-128"/>
                <a:ea typeface="メイリオ" panose="020B0604030504040204" pitchFamily="50" charset="-128"/>
              </a:rPr>
              <a:t>20</a:t>
            </a:r>
            <a:r>
              <a:rPr kumimoji="1" lang="ja-JP" altLang="en-US" sz="1600" b="1" dirty="0">
                <a:solidFill>
                  <a:schemeClr val="tx1"/>
                </a:solidFill>
                <a:latin typeface="メイリオ" panose="020B0604030504040204" pitchFamily="50" charset="-128"/>
                <a:ea typeface="メイリオ" panose="020B0604030504040204" pitchFamily="50" charset="-128"/>
              </a:rPr>
              <a:t>万円</a:t>
            </a:r>
            <a:r>
              <a:rPr kumimoji="1" lang="ja-JP" altLang="en-US" sz="1400" b="1" dirty="0">
                <a:solidFill>
                  <a:schemeClr val="tx1"/>
                </a:solidFill>
                <a:latin typeface="メイリオ" panose="020B0604030504040204" pitchFamily="50" charset="-128"/>
                <a:ea typeface="メイリオ" panose="020B0604030504040204" pitchFamily="50" charset="-128"/>
              </a:rPr>
              <a:t> </a:t>
            </a:r>
            <a:r>
              <a:rPr kumimoji="1"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74AE0EC-48BF-DC77-08FD-383C4B76F73E}"/>
              </a:ext>
            </a:extLst>
          </p:cNvPr>
          <p:cNvSpPr/>
          <p:nvPr/>
        </p:nvSpPr>
        <p:spPr>
          <a:xfrm>
            <a:off x="706726" y="2183457"/>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30</a:t>
            </a:r>
            <a:r>
              <a:rPr lang="ja-JP" altLang="en-US" sz="1600" b="1" dirty="0">
                <a:solidFill>
                  <a:schemeClr val="tx1"/>
                </a:solidFill>
                <a:latin typeface="メイリオ" panose="020B0604030504040204" pitchFamily="50" charset="-128"/>
                <a:ea typeface="メイリオ" panose="020B0604030504040204" pitchFamily="50" charset="-128"/>
              </a:rPr>
              <a:t>万円</a:t>
            </a:r>
            <a:r>
              <a:rPr lang="ja-JP" altLang="en-US" sz="1400" b="1" dirty="0">
                <a:solidFill>
                  <a:schemeClr val="tx1"/>
                </a:solidFill>
                <a:latin typeface="メイリオ" panose="020B0604030504040204" pitchFamily="50" charset="-128"/>
                <a:ea typeface="メイリオ" panose="020B0604030504040204" pitchFamily="50" charset="-128"/>
              </a:rPr>
              <a:t> </a:t>
            </a:r>
            <a:r>
              <a:rPr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p>
        </p:txBody>
      </p:sp>
      <p:sp>
        <p:nvSpPr>
          <p:cNvPr id="6" name="正方形/長方形 5">
            <a:extLst>
              <a:ext uri="{FF2B5EF4-FFF2-40B4-BE49-F238E27FC236}">
                <a16:creationId xmlns:a16="http://schemas.microsoft.com/office/drawing/2014/main" id="{89600F16-6DFB-0370-C7A6-875494596D74}"/>
              </a:ext>
            </a:extLst>
          </p:cNvPr>
          <p:cNvSpPr/>
          <p:nvPr/>
        </p:nvSpPr>
        <p:spPr>
          <a:xfrm>
            <a:off x="706726" y="2815389"/>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50</a:t>
            </a:r>
            <a:r>
              <a:rPr lang="ja-JP" altLang="en-US" sz="1600" b="1" dirty="0">
                <a:solidFill>
                  <a:schemeClr val="tx1"/>
                </a:solidFill>
                <a:latin typeface="メイリオ" panose="020B0604030504040204" pitchFamily="50" charset="-128"/>
                <a:ea typeface="メイリオ" panose="020B0604030504040204" pitchFamily="50" charset="-128"/>
              </a:rPr>
              <a:t>万円</a:t>
            </a:r>
            <a:r>
              <a:rPr lang="ja-JP" altLang="en-US" sz="1400" b="1" dirty="0">
                <a:solidFill>
                  <a:schemeClr val="tx1"/>
                </a:solidFill>
                <a:latin typeface="メイリオ" panose="020B0604030504040204" pitchFamily="50" charset="-128"/>
                <a:ea typeface="メイリオ" panose="020B0604030504040204" pitchFamily="50" charset="-128"/>
              </a:rPr>
              <a:t> </a:t>
            </a:r>
            <a:r>
              <a:rPr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p>
        </p:txBody>
      </p:sp>
      <p:sp>
        <p:nvSpPr>
          <p:cNvPr id="11" name="正方形/長方形 10">
            <a:extLst>
              <a:ext uri="{FF2B5EF4-FFF2-40B4-BE49-F238E27FC236}">
                <a16:creationId xmlns:a16="http://schemas.microsoft.com/office/drawing/2014/main" id="{81506C69-8126-9C2B-FABF-119E315AF939}"/>
              </a:ext>
            </a:extLst>
          </p:cNvPr>
          <p:cNvSpPr/>
          <p:nvPr/>
        </p:nvSpPr>
        <p:spPr>
          <a:xfrm>
            <a:off x="3088448" y="1556872"/>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３</a:t>
            </a:r>
            <a:r>
              <a:rPr kumimoji="1" lang="ja-JP" altLang="en-US" sz="2000" dirty="0">
                <a:solidFill>
                  <a:schemeClr val="tx1"/>
                </a:solidFill>
                <a:latin typeface="メイリオ" panose="020B0604030504040204" pitchFamily="50" charset="-128"/>
                <a:ea typeface="メイリオ" panose="020B0604030504040204" pitchFamily="50" charset="-128"/>
              </a:rPr>
              <a:t>投稿</a:t>
            </a:r>
            <a:r>
              <a:rPr kumimoji="1" lang="ja-JP" altLang="en-US" sz="1200" dirty="0">
                <a:solidFill>
                  <a:schemeClr val="tx1"/>
                </a:solidFill>
                <a:latin typeface="メイリオ" panose="020B0604030504040204" pitchFamily="50" charset="-128"/>
                <a:ea typeface="メイリオ" panose="020B0604030504040204" pitchFamily="50" charset="-128"/>
              </a:rPr>
              <a:t> </a:t>
            </a:r>
            <a:r>
              <a:rPr kumimoji="1"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B15A40AA-7F6C-2AC4-1C14-0AC66212601F}"/>
              </a:ext>
            </a:extLst>
          </p:cNvPr>
          <p:cNvSpPr/>
          <p:nvPr/>
        </p:nvSpPr>
        <p:spPr>
          <a:xfrm>
            <a:off x="3088448" y="2183457"/>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５投稿</a:t>
            </a:r>
            <a:r>
              <a:rPr lang="ja-JP" altLang="en-US" sz="1200" dirty="0">
                <a:solidFill>
                  <a:schemeClr val="tx1"/>
                </a:solidFill>
                <a:latin typeface="メイリオ" panose="020B0604030504040204" pitchFamily="50" charset="-128"/>
                <a:ea typeface="メイリオ" panose="020B0604030504040204" pitchFamily="50" charset="-128"/>
              </a:rPr>
              <a:t> </a:t>
            </a:r>
            <a:r>
              <a:rPr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p>
        </p:txBody>
      </p:sp>
      <p:sp>
        <p:nvSpPr>
          <p:cNvPr id="15" name="正方形/長方形 14">
            <a:extLst>
              <a:ext uri="{FF2B5EF4-FFF2-40B4-BE49-F238E27FC236}">
                <a16:creationId xmlns:a16="http://schemas.microsoft.com/office/drawing/2014/main" id="{83D790EB-0222-5E5B-FEEC-80F16C159B19}"/>
              </a:ext>
            </a:extLst>
          </p:cNvPr>
          <p:cNvSpPr/>
          <p:nvPr/>
        </p:nvSpPr>
        <p:spPr>
          <a:xfrm>
            <a:off x="3088448" y="2815389"/>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９投稿</a:t>
            </a:r>
            <a:r>
              <a:rPr lang="ja-JP" altLang="en-US" sz="1200" dirty="0">
                <a:solidFill>
                  <a:schemeClr val="tx1"/>
                </a:solidFill>
                <a:latin typeface="メイリオ" panose="020B0604030504040204" pitchFamily="50" charset="-128"/>
                <a:ea typeface="メイリオ" panose="020B0604030504040204" pitchFamily="50" charset="-128"/>
              </a:rPr>
              <a:t> </a:t>
            </a:r>
            <a:r>
              <a:rPr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p>
        </p:txBody>
      </p:sp>
      <p:sp>
        <p:nvSpPr>
          <p:cNvPr id="16" name="正方形/長方形 15">
            <a:extLst>
              <a:ext uri="{FF2B5EF4-FFF2-40B4-BE49-F238E27FC236}">
                <a16:creationId xmlns:a16="http://schemas.microsoft.com/office/drawing/2014/main" id="{584F8FA8-652A-A0F8-874C-3E9B80EB3F4B}"/>
              </a:ext>
            </a:extLst>
          </p:cNvPr>
          <p:cNvSpPr/>
          <p:nvPr/>
        </p:nvSpPr>
        <p:spPr>
          <a:xfrm>
            <a:off x="5107595" y="1550011"/>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chemeClr val="tx1"/>
                </a:solidFill>
                <a:latin typeface="メイリオ" panose="020B0604030504040204" pitchFamily="50" charset="-128"/>
                <a:ea typeface="メイリオ" panose="020B0604030504040204" pitchFamily="50" charset="-128"/>
              </a:rPr>
              <a:t>レポート対応：有 </a:t>
            </a:r>
            <a:r>
              <a:rPr lang="en-US" altLang="ja-JP" sz="1050" b="1" dirty="0">
                <a:solidFill>
                  <a:schemeClr val="tx1"/>
                </a:solidFill>
                <a:latin typeface="メイリオ" panose="020B0604030504040204" pitchFamily="50" charset="-128"/>
                <a:ea typeface="メイリオ" panose="020B0604030504040204" pitchFamily="50" charset="-128"/>
              </a:rPr>
              <a:t>/ </a:t>
            </a:r>
            <a:r>
              <a:rPr lang="ja-JP" altLang="en-US" sz="1050" b="1" dirty="0">
                <a:solidFill>
                  <a:schemeClr val="tx1"/>
                </a:solidFill>
                <a:latin typeface="メイリオ" panose="020B0604030504040204" pitchFamily="50" charset="-128"/>
                <a:ea typeface="メイリオ" panose="020B0604030504040204" pitchFamily="50" charset="-128"/>
              </a:rPr>
              <a:t>定例会：</a:t>
            </a:r>
            <a:r>
              <a:rPr lang="en-US" altLang="ja-JP" sz="1050" b="1" dirty="0">
                <a:solidFill>
                  <a:schemeClr val="tx1"/>
                </a:solidFill>
                <a:latin typeface="メイリオ" panose="020B0604030504040204" pitchFamily="50" charset="-128"/>
                <a:ea typeface="メイリオ" panose="020B0604030504040204" pitchFamily="50" charset="-128"/>
              </a:rPr>
              <a:t>3</a:t>
            </a:r>
            <a:r>
              <a:rPr lang="ja-JP" altLang="en-US" sz="1050" b="1" dirty="0">
                <a:solidFill>
                  <a:schemeClr val="tx1"/>
                </a:solidFill>
                <a:latin typeface="メイリオ" panose="020B0604030504040204" pitchFamily="50" charset="-128"/>
                <a:ea typeface="メイリオ" panose="020B0604030504040204" pitchFamily="50" charset="-128"/>
              </a:rPr>
              <a:t>か月に</a:t>
            </a:r>
            <a:r>
              <a:rPr lang="en-US" altLang="ja-JP" sz="1050" b="1" dirty="0">
                <a:solidFill>
                  <a:schemeClr val="tx1"/>
                </a:solidFill>
                <a:latin typeface="メイリオ" panose="020B0604030504040204" pitchFamily="50" charset="-128"/>
                <a:ea typeface="メイリオ" panose="020B0604030504040204" pitchFamily="50" charset="-128"/>
              </a:rPr>
              <a:t>1</a:t>
            </a:r>
            <a:r>
              <a:rPr lang="ja-JP" altLang="en-US" sz="1050" b="1" dirty="0">
                <a:solidFill>
                  <a:schemeClr val="tx1"/>
                </a:solidFill>
                <a:latin typeface="メイリオ" panose="020B0604030504040204" pitchFamily="50" charset="-128"/>
                <a:ea typeface="メイリオ" panose="020B0604030504040204" pitchFamily="50" charset="-128"/>
              </a:rPr>
              <a:t>回。</a:t>
            </a:r>
            <a:endParaRPr lang="en-US" altLang="ja-JP" sz="1050" b="1" dirty="0">
              <a:solidFill>
                <a:schemeClr val="tx1"/>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4076E51B-9B1D-9885-A1EF-A14722C86109}"/>
              </a:ext>
            </a:extLst>
          </p:cNvPr>
          <p:cNvSpPr/>
          <p:nvPr/>
        </p:nvSpPr>
        <p:spPr>
          <a:xfrm>
            <a:off x="5107595" y="2176596"/>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rgbClr val="FF0000"/>
                </a:solidFill>
                <a:latin typeface="メイリオ" panose="020B0604030504040204" pitchFamily="50" charset="-128"/>
                <a:ea typeface="メイリオ" panose="020B0604030504040204" pitchFamily="50" charset="-128"/>
              </a:rPr>
              <a:t>レポート対応：有 </a:t>
            </a:r>
            <a:r>
              <a:rPr lang="en-US" altLang="ja-JP" sz="1050" b="1" dirty="0">
                <a:solidFill>
                  <a:srgbClr val="FF0000"/>
                </a:solidFill>
                <a:latin typeface="メイリオ" panose="020B0604030504040204" pitchFamily="50" charset="-128"/>
                <a:ea typeface="メイリオ" panose="020B0604030504040204" pitchFamily="50" charset="-128"/>
              </a:rPr>
              <a:t>/ </a:t>
            </a:r>
            <a:r>
              <a:rPr lang="ja-JP" altLang="en-US" sz="1050" b="1" dirty="0">
                <a:solidFill>
                  <a:srgbClr val="FF0000"/>
                </a:solidFill>
                <a:latin typeface="メイリオ" panose="020B0604030504040204" pitchFamily="50" charset="-128"/>
                <a:ea typeface="メイリオ" panose="020B0604030504040204" pitchFamily="50" charset="-128"/>
              </a:rPr>
              <a:t>定例会：</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か月に</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回。</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0CD9CFCA-70E9-24BE-9FC5-7AA490583C16}"/>
              </a:ext>
            </a:extLst>
          </p:cNvPr>
          <p:cNvSpPr/>
          <p:nvPr/>
        </p:nvSpPr>
        <p:spPr>
          <a:xfrm>
            <a:off x="5107595" y="2808528"/>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rgbClr val="FF0000"/>
                </a:solidFill>
                <a:latin typeface="メイリオ" panose="020B0604030504040204" pitchFamily="50" charset="-128"/>
                <a:ea typeface="メイリオ" panose="020B0604030504040204" pitchFamily="50" charset="-128"/>
              </a:rPr>
              <a:t>レポート対応：有 </a:t>
            </a:r>
            <a:r>
              <a:rPr lang="en-US" altLang="ja-JP" sz="1050" b="1" dirty="0">
                <a:solidFill>
                  <a:srgbClr val="FF0000"/>
                </a:solidFill>
                <a:latin typeface="メイリオ" panose="020B0604030504040204" pitchFamily="50" charset="-128"/>
                <a:ea typeface="メイリオ" panose="020B0604030504040204" pitchFamily="50" charset="-128"/>
              </a:rPr>
              <a:t>/ </a:t>
            </a:r>
            <a:r>
              <a:rPr lang="ja-JP" altLang="en-US" sz="1050" b="1" dirty="0">
                <a:solidFill>
                  <a:srgbClr val="FF0000"/>
                </a:solidFill>
                <a:latin typeface="メイリオ" panose="020B0604030504040204" pitchFamily="50" charset="-128"/>
                <a:ea typeface="メイリオ" panose="020B0604030504040204" pitchFamily="50" charset="-128"/>
              </a:rPr>
              <a:t>定例会：</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か月に</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回。</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AD5DC77C-BB7C-1DC7-BA4A-AF3ECCC137A1}"/>
              </a:ext>
            </a:extLst>
          </p:cNvPr>
          <p:cNvSpPr/>
          <p:nvPr/>
        </p:nvSpPr>
        <p:spPr>
          <a:xfrm>
            <a:off x="548881" y="1405687"/>
            <a:ext cx="8859613"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CD3409E3-7B2F-6541-B533-69689AE3B73B}"/>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extLst>
      <p:ext uri="{BB962C8B-B14F-4D97-AF65-F5344CB8AC3E}">
        <p14:creationId xmlns:p14="http://schemas.microsoft.com/office/powerpoint/2010/main" val="15543086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76251-095F-A186-E17A-8A0E4C5D95A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成果報酬型プラン</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914650" y="859443"/>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8" name="正方形/長方形 7">
            <a:extLst>
              <a:ext uri="{FF2B5EF4-FFF2-40B4-BE49-F238E27FC236}">
                <a16:creationId xmlns:a16="http://schemas.microsoft.com/office/drawing/2014/main" id="{FFB1B171-05E1-F3C6-1EBE-EBC6AA97A939}"/>
              </a:ext>
            </a:extLst>
          </p:cNvPr>
          <p:cNvSpPr/>
          <p:nvPr/>
        </p:nvSpPr>
        <p:spPr>
          <a:xfrm>
            <a:off x="548883" y="3587932"/>
            <a:ext cx="8859613" cy="288253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2DE66FC-7E13-76D6-A2AE-003C514A6B15}"/>
              </a:ext>
            </a:extLst>
          </p:cNvPr>
          <p:cNvSpPr txBox="1"/>
          <p:nvPr/>
        </p:nvSpPr>
        <p:spPr>
          <a:xfrm>
            <a:off x="706726" y="3644690"/>
            <a:ext cx="4963884" cy="261610"/>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1" name="表 10">
            <a:extLst>
              <a:ext uri="{FF2B5EF4-FFF2-40B4-BE49-F238E27FC236}">
                <a16:creationId xmlns:a16="http://schemas.microsoft.com/office/drawing/2014/main" id="{AB699F68-6D67-CD60-1CF9-54BD45B04FBA}"/>
              </a:ext>
            </a:extLst>
          </p:cNvPr>
          <p:cNvGraphicFramePr>
            <a:graphicFrameLocks noGrp="1"/>
          </p:cNvGraphicFramePr>
          <p:nvPr/>
        </p:nvGraphicFramePr>
        <p:xfrm>
          <a:off x="706726" y="3963057"/>
          <a:ext cx="8543925" cy="2454494"/>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175321">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8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アカウント開設</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API</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ツール導入</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20324702"/>
                  </a:ext>
                </a:extLst>
              </a:tr>
              <a:tr h="175321">
                <a:tc>
                  <a:txBody>
                    <a:bodyPr/>
                    <a:lstStyle/>
                    <a:p>
                      <a:pPr algn="ctr" fontAlgn="ctr">
                        <a:buNone/>
                      </a:pPr>
                      <a:r>
                        <a:rPr lang="ja-JP" altLang="en-US" sz="800" b="0" i="0" u="none" strike="noStrike">
                          <a:solidFill>
                            <a:srgbClr val="000000"/>
                          </a:solidFill>
                          <a:effectLst/>
                          <a:highlight>
                            <a:srgbClr val="FFFF00"/>
                          </a:highlight>
                          <a:latin typeface="メイリオ" panose="020B0604030504040204" pitchFamily="50" charset="-128"/>
                          <a:ea typeface="メイリオ" panose="020B0604030504040204" pitchFamily="50" charset="-128"/>
                        </a:rPr>
                        <a:t>プロフィール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246626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リッチメニュー</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180495"/>
                  </a:ext>
                </a:extLst>
              </a:tr>
              <a:tr h="175321">
                <a:tc>
                  <a:txBody>
                    <a:bodyPr/>
                    <a:lstStyle/>
                    <a:p>
                      <a:pPr algn="ctr" fontAlgn="ctr">
                        <a:buNone/>
                      </a:pPr>
                      <a:r>
                        <a:rPr lang="ja-JP" altLang="en-US" sz="800" b="0" i="0" u="none" strike="noStrike">
                          <a:solidFill>
                            <a:srgbClr val="000000"/>
                          </a:solidFill>
                          <a:effectLst/>
                          <a:highlight>
                            <a:srgbClr val="FFFF00"/>
                          </a:highlight>
                          <a:latin typeface="メイリオ" panose="020B0604030504040204" pitchFamily="50" charset="-128"/>
                          <a:ea typeface="メイリオ" panose="020B0604030504040204" pitchFamily="50" charset="-128"/>
                        </a:rPr>
                        <a:t>あいさつメッセージ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¥600,000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956199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初期アンケート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98230469"/>
                  </a:ext>
                </a:extLst>
              </a:tr>
              <a:tr h="175321">
                <a:tc>
                  <a:txBody>
                    <a:bodyPr/>
                    <a:lstStyle/>
                    <a:p>
                      <a:pPr algn="ctr" fontAlgn="ctr">
                        <a:buNone/>
                      </a:pPr>
                      <a:r>
                        <a:rPr 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KW</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の自動応答</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3055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ステップ配信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l-GR" sz="800" b="0" i="0" u="none" strike="noStrike">
                          <a:solidFill>
                            <a:schemeClr val="bg1">
                              <a:lumMod val="75000"/>
                            </a:schemeClr>
                          </a:solidFill>
                          <a:effectLst/>
                          <a:latin typeface="メイリオ" panose="020B0604030504040204" pitchFamily="50" charset="-128"/>
                          <a:ea typeface="メイリオ" panose="020B0604030504040204" pitchFamily="50" charset="-128"/>
                        </a:rPr>
                        <a:t>¥100,000+α</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1113508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セグメント配信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3,5</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手数料</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89714401"/>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チャットタグ管理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予約管理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60214931"/>
                  </a:ext>
                </a:extLst>
              </a:tr>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チャット対応</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多店舗管理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19396613"/>
                  </a:ext>
                </a:extLst>
              </a:tr>
              <a:tr h="175321">
                <a:tc>
                  <a:txBody>
                    <a:bodyPr/>
                    <a:lstStyle/>
                    <a:p>
                      <a:pPr algn="ctr" fontAlgn="ctr">
                        <a:buNone/>
                      </a:pPr>
                      <a:r>
                        <a:rPr lang="en-US" altLang="ja-JP"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GA(CRM)</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レポート連携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0232177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クリエイティブ</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離脱防止ツール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98905920"/>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定例会</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サンクス</a:t>
                      </a: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誘導ツール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17655704"/>
                  </a:ext>
                </a:extLst>
              </a:tr>
            </a:tbl>
          </a:graphicData>
        </a:graphic>
      </p:graphicFrame>
      <p:graphicFrame>
        <p:nvGraphicFramePr>
          <p:cNvPr id="12" name="表 11">
            <a:extLst>
              <a:ext uri="{FF2B5EF4-FFF2-40B4-BE49-F238E27FC236}">
                <a16:creationId xmlns:a16="http://schemas.microsoft.com/office/drawing/2014/main" id="{F91A02FC-5E04-6D49-4A4E-97104D3E348C}"/>
              </a:ext>
            </a:extLst>
          </p:cNvPr>
          <p:cNvGraphicFramePr>
            <a:graphicFrameLocks noGrp="1"/>
          </p:cNvGraphicFramePr>
          <p:nvPr/>
        </p:nvGraphicFramePr>
        <p:xfrm>
          <a:off x="5052177" y="3697199"/>
          <a:ext cx="1236867" cy="175321"/>
        </p:xfrm>
        <a:graphic>
          <a:graphicData uri="http://schemas.openxmlformats.org/drawingml/2006/table">
            <a:tbl>
              <a:tblPr/>
              <a:tblGrid>
                <a:gridCol w="1236867">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運用時、基本付帯する</a:t>
                      </a:r>
                    </a:p>
                  </a:txBody>
                  <a:tcPr marL="8241" marR="8241"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13" name="表 12">
            <a:extLst>
              <a:ext uri="{FF2B5EF4-FFF2-40B4-BE49-F238E27FC236}">
                <a16:creationId xmlns:a16="http://schemas.microsoft.com/office/drawing/2014/main" id="{C2727225-26CE-D16E-9C5D-1FBD426B841E}"/>
              </a:ext>
            </a:extLst>
          </p:cNvPr>
          <p:cNvGraphicFramePr>
            <a:graphicFrameLocks noGrp="1"/>
          </p:cNvGraphicFramePr>
          <p:nvPr/>
        </p:nvGraphicFramePr>
        <p:xfrm>
          <a:off x="7891522" y="3697199"/>
          <a:ext cx="1249236" cy="15396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53961">
                <a:tc>
                  <a:txBody>
                    <a:bodyPr/>
                    <a:lstStyle/>
                    <a:p>
                      <a:pPr algn="ctr" fontAlgn="ctr">
                        <a:buNone/>
                      </a:pPr>
                      <a:r>
                        <a:rPr lang="ja-JP" altLang="en-US" sz="800" b="0" i="0" u="none" strike="noStrike" dirty="0">
                          <a:solidFill>
                            <a:srgbClr val="000000"/>
                          </a:solidFill>
                          <a:effectLst/>
                          <a:highlight>
                            <a:srgbClr val="C0C0C0"/>
                          </a:highlight>
                          <a:latin typeface="メイリオ" panose="020B0604030504040204" pitchFamily="50" charset="-128"/>
                          <a:ea typeface="メイリオ" panose="020B0604030504040204" pitchFamily="50" charset="-128"/>
                        </a:rPr>
                        <a:t>対応しない領域</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14" name="表 13">
            <a:extLst>
              <a:ext uri="{FF2B5EF4-FFF2-40B4-BE49-F238E27FC236}">
                <a16:creationId xmlns:a16="http://schemas.microsoft.com/office/drawing/2014/main" id="{6568ED1F-4ADB-05EB-EAF7-6D88C325C7BB}"/>
              </a:ext>
            </a:extLst>
          </p:cNvPr>
          <p:cNvGraphicFramePr>
            <a:graphicFrameLocks noGrp="1"/>
          </p:cNvGraphicFramePr>
          <p:nvPr/>
        </p:nvGraphicFramePr>
        <p:xfrm>
          <a:off x="6465665" y="3697198"/>
          <a:ext cx="1249236" cy="17532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貴社にて対応</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rPr>
              <a:t>成果件数 </a:t>
            </a:r>
            <a:r>
              <a:rPr lang="en-US" altLang="ja-JP" sz="1400" b="1" dirty="0">
                <a:solidFill>
                  <a:schemeClr val="tx1"/>
                </a:solidFill>
                <a:latin typeface="メイリオ" panose="020B0604030504040204" pitchFamily="50" charset="-128"/>
                <a:ea typeface="メイリオ" panose="020B0604030504040204" pitchFamily="50" charset="-128"/>
              </a:rPr>
              <a:t>× </a:t>
            </a:r>
            <a:r>
              <a:rPr lang="ja-JP" altLang="en-US" sz="1400" b="1" dirty="0">
                <a:solidFill>
                  <a:schemeClr val="tx1"/>
                </a:solidFill>
                <a:latin typeface="メイリオ" panose="020B0604030504040204" pitchFamily="50" charset="-128"/>
                <a:ea typeface="メイリオ" panose="020B0604030504040204" pitchFamily="50" charset="-128"/>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アカウント費</a:t>
            </a:r>
            <a:endParaRPr lang="en-US" altLang="ja-JP" sz="12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a:t>
            </a:r>
            <a:endParaRPr lang="en-US" altLang="ja-JP" sz="12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ツール費</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rPr>
              <a:t>＋</a:t>
            </a:r>
            <a:endParaRPr lang="en-US" altLang="ja-JP" sz="2800" b="1" dirty="0">
              <a:solidFill>
                <a:schemeClr val="tx1"/>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rPr>
              <a:t> ☑ 複数の</a:t>
            </a: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数を増加。 </a:t>
            </a:r>
            <a:endParaRPr lang="en-US" altLang="ja-JP" sz="1100" dirty="0">
              <a:solidFill>
                <a:schemeClr val="tx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2750968"/>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導入ツールに応じて費用発生</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上限通数を設定して運営可能</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成果件数は</a:t>
            </a:r>
            <a:r>
              <a:rPr lang="en-US" altLang="ja-JP" sz="800" dirty="0">
                <a:solidFill>
                  <a:srgbClr val="FF0000"/>
                </a:solidFill>
                <a:latin typeface="メイリオ" panose="020B0604030504040204" pitchFamily="50" charset="-128"/>
                <a:ea typeface="メイリオ" panose="020B0604030504040204" pitchFamily="50" charset="-128"/>
              </a:rPr>
              <a:t>GA</a:t>
            </a:r>
            <a:r>
              <a:rPr lang="ja-JP" altLang="en-US" sz="800" dirty="0">
                <a:solidFill>
                  <a:srgbClr val="FF0000"/>
                </a:solidFill>
                <a:latin typeface="メイリオ" panose="020B0604030504040204" pitchFamily="50" charset="-128"/>
                <a:ea typeface="メイリオ" panose="020B0604030504040204" pitchFamily="50" charset="-128"/>
              </a:rPr>
              <a:t>、他ツールでの計測</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成果報酬単価は広告</a:t>
            </a:r>
            <a:r>
              <a:rPr lang="en-US" altLang="ja-JP" sz="800" dirty="0">
                <a:solidFill>
                  <a:srgbClr val="FF0000"/>
                </a:solidFill>
                <a:latin typeface="メイリオ" panose="020B0604030504040204" pitchFamily="50" charset="-128"/>
                <a:ea typeface="メイリオ" panose="020B0604030504040204" pitchFamily="50" charset="-128"/>
              </a:rPr>
              <a:t>CPA</a:t>
            </a:r>
            <a:r>
              <a:rPr lang="ja-JP" altLang="en-US" sz="800" dirty="0">
                <a:solidFill>
                  <a:srgbClr val="FF0000"/>
                </a:solidFill>
                <a:latin typeface="メイリオ" panose="020B0604030504040204" pitchFamily="50" charset="-128"/>
                <a:ea typeface="メイリオ" panose="020B0604030504040204" pitchFamily="50" charset="-128"/>
              </a:rPr>
              <a:t>に基づき設定</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80A369CB-95D9-6607-0494-7E11C05DB30B}"/>
              </a:ext>
            </a:extLst>
          </p:cNvPr>
          <p:cNvSpPr/>
          <p:nvPr/>
        </p:nvSpPr>
        <p:spPr>
          <a:xfrm>
            <a:off x="5186487" y="1789945"/>
            <a:ext cx="843230" cy="166616"/>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bg1"/>
                </a:solidFill>
                <a:latin typeface="メイリオ" panose="020B0604030504040204" pitchFamily="50" charset="-128"/>
                <a:ea typeface="メイリオ" panose="020B0604030504040204" pitchFamily="50" charset="-128"/>
              </a:rPr>
              <a:t>離脱防止</a:t>
            </a:r>
          </a:p>
        </p:txBody>
      </p:sp>
      <p:sp>
        <p:nvSpPr>
          <p:cNvPr id="20" name="正方形/長方形 19">
            <a:extLst>
              <a:ext uri="{FF2B5EF4-FFF2-40B4-BE49-F238E27FC236}">
                <a16:creationId xmlns:a16="http://schemas.microsoft.com/office/drawing/2014/main" id="{EC40B420-994F-D333-3411-E864E0430DDC}"/>
              </a:ext>
            </a:extLst>
          </p:cNvPr>
          <p:cNvSpPr/>
          <p:nvPr/>
        </p:nvSpPr>
        <p:spPr>
          <a:xfrm>
            <a:off x="5186487" y="2204881"/>
            <a:ext cx="843230" cy="166616"/>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900" dirty="0">
                <a:solidFill>
                  <a:schemeClr val="bg1"/>
                </a:solidFill>
                <a:latin typeface="メイリオ" panose="020B0604030504040204" pitchFamily="50" charset="-128"/>
                <a:ea typeface="メイリオ" panose="020B0604030504040204" pitchFamily="50" charset="-128"/>
              </a:rPr>
              <a:t>CPF</a:t>
            </a:r>
            <a:r>
              <a:rPr lang="ja-JP" altLang="en-US" sz="900" dirty="0">
                <a:solidFill>
                  <a:schemeClr val="bg1"/>
                </a:solidFill>
                <a:latin typeface="メイリオ" panose="020B0604030504040204" pitchFamily="50" charset="-128"/>
                <a:ea typeface="メイリオ" panose="020B0604030504040204" pitchFamily="50" charset="-128"/>
              </a:rPr>
              <a:t>広告</a:t>
            </a:r>
            <a:endParaRPr kumimoji="1"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3036028"/>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endParaRPr>
          </a:p>
        </p:txBody>
      </p:sp>
      <p:cxnSp>
        <p:nvCxnSpPr>
          <p:cNvPr id="41" name="直線矢印コネクタ 40">
            <a:extLst>
              <a:ext uri="{FF2B5EF4-FFF2-40B4-BE49-F238E27FC236}">
                <a16:creationId xmlns:a16="http://schemas.microsoft.com/office/drawing/2014/main" id="{3C75F8CA-AB1D-7749-481F-57570BE4B193}"/>
              </a:ext>
            </a:extLst>
          </p:cNvPr>
          <p:cNvCxnSpPr>
            <a:cxnSpLocks/>
            <a:stCxn id="16" idx="3"/>
          </p:cNvCxnSpPr>
          <p:nvPr/>
        </p:nvCxnSpPr>
        <p:spPr>
          <a:xfrm>
            <a:off x="6029717" y="1873253"/>
            <a:ext cx="2472656" cy="0"/>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C7C50C22-3D43-6C8E-7118-95F98A2DC0F9}"/>
              </a:ext>
            </a:extLst>
          </p:cNvPr>
          <p:cNvSpPr/>
          <p:nvPr/>
        </p:nvSpPr>
        <p:spPr>
          <a:xfrm>
            <a:off x="8502373" y="1789945"/>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10</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50" name="正方形/長方形 49">
            <a:extLst>
              <a:ext uri="{FF2B5EF4-FFF2-40B4-BE49-F238E27FC236}">
                <a16:creationId xmlns:a16="http://schemas.microsoft.com/office/drawing/2014/main" id="{D2356226-E20C-9118-F99F-C9E163470ACF}"/>
              </a:ext>
            </a:extLst>
          </p:cNvPr>
          <p:cNvSpPr/>
          <p:nvPr/>
        </p:nvSpPr>
        <p:spPr>
          <a:xfrm>
            <a:off x="7302164" y="1986273"/>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bg1"/>
                </a:solidFill>
                <a:latin typeface="メイリオ" panose="020B0604030504040204" pitchFamily="50" charset="-128"/>
                <a:ea typeface="メイリオ" panose="020B0604030504040204" pitchFamily="50" charset="-128"/>
              </a:rPr>
              <a:t>未回答</a:t>
            </a:r>
          </a:p>
        </p:txBody>
      </p:sp>
      <p:sp>
        <p:nvSpPr>
          <p:cNvPr id="51" name="正方形/長方形 50">
            <a:extLst>
              <a:ext uri="{FF2B5EF4-FFF2-40B4-BE49-F238E27FC236}">
                <a16:creationId xmlns:a16="http://schemas.microsoft.com/office/drawing/2014/main" id="{B78951B1-4D17-2544-74F5-B18E0BD48A94}"/>
              </a:ext>
            </a:extLst>
          </p:cNvPr>
          <p:cNvSpPr/>
          <p:nvPr/>
        </p:nvSpPr>
        <p:spPr>
          <a:xfrm>
            <a:off x="8502373" y="1980991"/>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600" dirty="0">
                <a:solidFill>
                  <a:schemeClr val="bg1"/>
                </a:solidFill>
                <a:latin typeface="メイリオ" panose="020B0604030504040204" pitchFamily="50" charset="-128"/>
                <a:ea typeface="メイリオ" panose="020B0604030504040204" pitchFamily="50" charset="-128"/>
              </a:rPr>
              <a:t>未回答</a:t>
            </a:r>
            <a:endParaRPr kumimoji="1" lang="ja-JP" altLang="en-US" sz="600" dirty="0">
              <a:solidFill>
                <a:schemeClr val="bg1"/>
              </a:solidFill>
              <a:latin typeface="メイリオ" panose="020B0604030504040204" pitchFamily="50" charset="-128"/>
              <a:ea typeface="メイリオ" panose="020B0604030504040204" pitchFamily="50" charset="-128"/>
            </a:endParaRPr>
          </a:p>
        </p:txBody>
      </p:sp>
      <p:cxnSp>
        <p:nvCxnSpPr>
          <p:cNvPr id="54" name="コネクタ: カギ線 53">
            <a:extLst>
              <a:ext uri="{FF2B5EF4-FFF2-40B4-BE49-F238E27FC236}">
                <a16:creationId xmlns:a16="http://schemas.microsoft.com/office/drawing/2014/main" id="{9AAF7DE6-A4BF-3A79-F5FB-1D24DC5D4A56}"/>
              </a:ext>
            </a:extLst>
          </p:cNvPr>
          <p:cNvCxnSpPr>
            <a:stCxn id="16" idx="3"/>
            <a:endCxn id="50" idx="1"/>
          </p:cNvCxnSpPr>
          <p:nvPr/>
        </p:nvCxnSpPr>
        <p:spPr>
          <a:xfrm>
            <a:off x="6029717" y="1873253"/>
            <a:ext cx="1272447" cy="196328"/>
          </a:xfrm>
          <a:prstGeom prst="bentConnector3">
            <a:avLst>
              <a:gd name="adj1" fmla="val 7021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7" name="コネクタ: カギ線 56">
            <a:extLst>
              <a:ext uri="{FF2B5EF4-FFF2-40B4-BE49-F238E27FC236}">
                <a16:creationId xmlns:a16="http://schemas.microsoft.com/office/drawing/2014/main" id="{76ACAA41-83DB-CA83-5B7D-33F8FDF68E1F}"/>
              </a:ext>
            </a:extLst>
          </p:cNvPr>
          <p:cNvCxnSpPr>
            <a:cxnSpLocks/>
            <a:stCxn id="16" idx="3"/>
            <a:endCxn id="51" idx="1"/>
          </p:cNvCxnSpPr>
          <p:nvPr/>
        </p:nvCxnSpPr>
        <p:spPr>
          <a:xfrm>
            <a:off x="6029717" y="1873253"/>
            <a:ext cx="2472656" cy="191046"/>
          </a:xfrm>
          <a:prstGeom prst="bentConnector3">
            <a:avLst>
              <a:gd name="adj1" fmla="val 80239"/>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1" name="正方形/長方形 60">
            <a:extLst>
              <a:ext uri="{FF2B5EF4-FFF2-40B4-BE49-F238E27FC236}">
                <a16:creationId xmlns:a16="http://schemas.microsoft.com/office/drawing/2014/main" id="{C1825D74-634C-9E36-9ECC-717EDC08D01D}"/>
              </a:ext>
            </a:extLst>
          </p:cNvPr>
          <p:cNvSpPr/>
          <p:nvPr/>
        </p:nvSpPr>
        <p:spPr>
          <a:xfrm>
            <a:off x="7302164" y="1795227"/>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2" name="正方形/長方形 61">
            <a:extLst>
              <a:ext uri="{FF2B5EF4-FFF2-40B4-BE49-F238E27FC236}">
                <a16:creationId xmlns:a16="http://schemas.microsoft.com/office/drawing/2014/main" id="{5151ACBE-C823-12BC-893C-27BAE6932995}"/>
              </a:ext>
            </a:extLst>
          </p:cNvPr>
          <p:cNvSpPr/>
          <p:nvPr/>
        </p:nvSpPr>
        <p:spPr>
          <a:xfrm>
            <a:off x="6101955" y="1792712"/>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600" dirty="0">
                <a:solidFill>
                  <a:schemeClr val="bg1"/>
                </a:solidFill>
                <a:latin typeface="メイリオ" panose="020B0604030504040204" pitchFamily="50" charset="-128"/>
                <a:ea typeface="メイリオ" panose="020B0604030504040204" pitchFamily="50" charset="-128"/>
              </a:rPr>
              <a:t>3</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cxnSp>
        <p:nvCxnSpPr>
          <p:cNvPr id="63" name="直線矢印コネクタ 62">
            <a:extLst>
              <a:ext uri="{FF2B5EF4-FFF2-40B4-BE49-F238E27FC236}">
                <a16:creationId xmlns:a16="http://schemas.microsoft.com/office/drawing/2014/main" id="{4579CA69-5B2F-0843-0A27-914CF103589C}"/>
              </a:ext>
            </a:extLst>
          </p:cNvPr>
          <p:cNvCxnSpPr>
            <a:cxnSpLocks/>
          </p:cNvCxnSpPr>
          <p:nvPr/>
        </p:nvCxnSpPr>
        <p:spPr>
          <a:xfrm>
            <a:off x="6029717" y="2297422"/>
            <a:ext cx="2472656" cy="0"/>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8F57977B-34B8-7FE2-E800-D3FDB3F4B342}"/>
              </a:ext>
            </a:extLst>
          </p:cNvPr>
          <p:cNvCxnSpPr>
            <a:cxnSpLocks/>
          </p:cNvCxnSpPr>
          <p:nvPr/>
        </p:nvCxnSpPr>
        <p:spPr>
          <a:xfrm>
            <a:off x="6029717" y="2297422"/>
            <a:ext cx="2472656" cy="191046"/>
          </a:xfrm>
          <a:prstGeom prst="bentConnector3">
            <a:avLst>
              <a:gd name="adj1" fmla="val 80239"/>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B4580F79-A6B6-6CB7-42C9-9E72234E928E}"/>
              </a:ext>
            </a:extLst>
          </p:cNvPr>
          <p:cNvSpPr/>
          <p:nvPr/>
        </p:nvSpPr>
        <p:spPr>
          <a:xfrm>
            <a:off x="6101955" y="2207648"/>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600" dirty="0">
                <a:solidFill>
                  <a:schemeClr val="bg1"/>
                </a:solidFill>
                <a:latin typeface="メイリオ" panose="020B0604030504040204" pitchFamily="50" charset="-128"/>
                <a:ea typeface="メイリオ" panose="020B0604030504040204" pitchFamily="50" charset="-128"/>
              </a:rPr>
              <a:t>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7" name="正方形/長方形 66">
            <a:extLst>
              <a:ext uri="{FF2B5EF4-FFF2-40B4-BE49-F238E27FC236}">
                <a16:creationId xmlns:a16="http://schemas.microsoft.com/office/drawing/2014/main" id="{1AE63C1F-BD64-D8ED-A701-8ADCA2511466}"/>
              </a:ext>
            </a:extLst>
          </p:cNvPr>
          <p:cNvSpPr/>
          <p:nvPr/>
        </p:nvSpPr>
        <p:spPr>
          <a:xfrm>
            <a:off x="7302164" y="2210163"/>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15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8" name="正方形/長方形 67">
            <a:extLst>
              <a:ext uri="{FF2B5EF4-FFF2-40B4-BE49-F238E27FC236}">
                <a16:creationId xmlns:a16="http://schemas.microsoft.com/office/drawing/2014/main" id="{64057BAB-625B-5994-36D5-E83BE7E59586}"/>
              </a:ext>
            </a:extLst>
          </p:cNvPr>
          <p:cNvSpPr/>
          <p:nvPr/>
        </p:nvSpPr>
        <p:spPr>
          <a:xfrm>
            <a:off x="8502373" y="2204881"/>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30</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9" name="正方形/長方形 68">
            <a:extLst>
              <a:ext uri="{FF2B5EF4-FFF2-40B4-BE49-F238E27FC236}">
                <a16:creationId xmlns:a16="http://schemas.microsoft.com/office/drawing/2014/main" id="{878D4A23-0BCD-1E38-061D-650AD132E3D9}"/>
              </a:ext>
            </a:extLst>
          </p:cNvPr>
          <p:cNvSpPr/>
          <p:nvPr/>
        </p:nvSpPr>
        <p:spPr>
          <a:xfrm>
            <a:off x="8502373" y="2394616"/>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600" dirty="0">
                <a:solidFill>
                  <a:schemeClr val="bg1"/>
                </a:solidFill>
                <a:latin typeface="メイリオ" panose="020B0604030504040204" pitchFamily="50" charset="-128"/>
                <a:ea typeface="メイリオ" panose="020B0604030504040204" pitchFamily="50" charset="-128"/>
              </a:rPr>
              <a:t>未回答</a:t>
            </a:r>
            <a:endParaRPr kumimoji="1" lang="ja-JP" altLang="en-US" sz="600" dirty="0">
              <a:solidFill>
                <a:schemeClr val="bg1"/>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extLst>
      <p:ext uri="{BB962C8B-B14F-4D97-AF65-F5344CB8AC3E}">
        <p14:creationId xmlns:p14="http://schemas.microsoft.com/office/powerpoint/2010/main" val="409828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転職ユーザーのカスタマージャーニー（8フェーズ）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接触〜リピートまでの動線設計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Tree>
    <p:extLst>
      <p:ext uri="{BB962C8B-B14F-4D97-AF65-F5344CB8AC3E}">
        <p14:creationId xmlns:p14="http://schemas.microsoft.com/office/powerpoint/2010/main" val="23693530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A005E-6EDE-75AF-3702-D659FA2E02B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EB36E0B-BE06-5BCE-4458-BBF8CF4DBEB4}"/>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前提整理（費用感と市場相場感）</a:t>
            </a:r>
          </a:p>
        </p:txBody>
      </p:sp>
      <p:pic>
        <p:nvPicPr>
          <p:cNvPr id="12" name="図 11" descr="アイコン が含まれている画像&#10;&#10;AI 生成コンテンツは誤りを含む可能性があります。">
            <a:extLst>
              <a:ext uri="{FF2B5EF4-FFF2-40B4-BE49-F238E27FC236}">
                <a16:creationId xmlns:a16="http://schemas.microsoft.com/office/drawing/2014/main" id="{948F2ADE-2051-CBCE-BFA5-9D302E96EF9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3108" y="1416099"/>
            <a:ext cx="1106285" cy="737523"/>
          </a:xfrm>
          <a:prstGeom prst="rect">
            <a:avLst/>
          </a:prstGeom>
        </p:spPr>
      </p:pic>
      <p:sp>
        <p:nvSpPr>
          <p:cNvPr id="18" name="正方形/長方形 17">
            <a:extLst>
              <a:ext uri="{FF2B5EF4-FFF2-40B4-BE49-F238E27FC236}">
                <a16:creationId xmlns:a16="http://schemas.microsoft.com/office/drawing/2014/main" id="{5A82ED73-CFB4-5856-F1C2-89DFDAD093DF}"/>
              </a:ext>
            </a:extLst>
          </p:cNvPr>
          <p:cNvSpPr/>
          <p:nvPr/>
        </p:nvSpPr>
        <p:spPr>
          <a:xfrm>
            <a:off x="383783" y="1416099"/>
            <a:ext cx="9153917" cy="2612975"/>
          </a:xfrm>
          <a:prstGeom prst="rect">
            <a:avLst/>
          </a:prstGeom>
          <a:no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712484CE-6B39-BC8A-404D-A519F420F8FC}"/>
              </a:ext>
            </a:extLst>
          </p:cNvPr>
          <p:cNvSpPr/>
          <p:nvPr/>
        </p:nvSpPr>
        <p:spPr>
          <a:xfrm>
            <a:off x="386990" y="4067489"/>
            <a:ext cx="4557909" cy="2424973"/>
          </a:xfrm>
          <a:prstGeom prst="rect">
            <a:avLst/>
          </a:prstGeom>
          <a:no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EC816DE2-9FB5-3652-FB09-74A729C405CD}"/>
              </a:ext>
            </a:extLst>
          </p:cNvPr>
          <p:cNvSpPr/>
          <p:nvPr/>
        </p:nvSpPr>
        <p:spPr>
          <a:xfrm>
            <a:off x="4979791" y="4067489"/>
            <a:ext cx="4557909" cy="2424973"/>
          </a:xfrm>
          <a:prstGeom prst="rect">
            <a:avLst/>
          </a:prstGeom>
          <a:no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 name="図 25" descr="グラフィカル ユーザー インターフェイス, アプリケーション&#10;&#10;AI 生成コンテンツは誤りを含む可能性があります。">
            <a:extLst>
              <a:ext uri="{FF2B5EF4-FFF2-40B4-BE49-F238E27FC236}">
                <a16:creationId xmlns:a16="http://schemas.microsoft.com/office/drawing/2014/main" id="{6412670A-1409-2B4C-31A2-5A1345AB47B5}"/>
              </a:ext>
            </a:extLst>
          </p:cNvPr>
          <p:cNvPicPr>
            <a:picLocks noChangeAspect="1"/>
          </p:cNvPicPr>
          <p:nvPr/>
        </p:nvPicPr>
        <p:blipFill>
          <a:blip r:embed="rId3">
            <a:extLst>
              <a:ext uri="{28A0092B-C50C-407E-A947-70E740481C1C}">
                <a14:useLocalDpi xmlns:a14="http://schemas.microsoft.com/office/drawing/2010/main" val="0"/>
              </a:ext>
            </a:extLst>
          </a:blip>
          <a:srcRect l="22645" t="9147" b="4386"/>
          <a:stretch>
            <a:fillRect/>
          </a:stretch>
        </p:blipFill>
        <p:spPr>
          <a:xfrm>
            <a:off x="498508" y="1676386"/>
            <a:ext cx="4758010" cy="2194830"/>
          </a:xfrm>
          <a:prstGeom prst="rect">
            <a:avLst/>
          </a:prstGeom>
        </p:spPr>
      </p:pic>
      <p:sp>
        <p:nvSpPr>
          <p:cNvPr id="30" name="テキスト ボックス 29">
            <a:extLst>
              <a:ext uri="{FF2B5EF4-FFF2-40B4-BE49-F238E27FC236}">
                <a16:creationId xmlns:a16="http://schemas.microsoft.com/office/drawing/2014/main" id="{80D3BEE1-2A27-3976-DAAB-7396732CD793}"/>
              </a:ext>
            </a:extLst>
          </p:cNvPr>
          <p:cNvSpPr txBox="1"/>
          <p:nvPr/>
        </p:nvSpPr>
        <p:spPr>
          <a:xfrm>
            <a:off x="5620249" y="1753351"/>
            <a:ext cx="3617668" cy="600164"/>
          </a:xfrm>
          <a:prstGeom prst="rect">
            <a:avLst/>
          </a:prstGeom>
          <a:noFill/>
        </p:spPr>
        <p:txBody>
          <a:bodyPr wrap="square">
            <a:spAutoFit/>
          </a:bodyPr>
          <a:lstStyle/>
          <a:p>
            <a:r>
              <a:rPr lang="en-US" altLang="ja-JP" sz="1100" dirty="0">
                <a:latin typeface="メイリオ" panose="020B0604030504040204" pitchFamily="50" charset="-128"/>
                <a:ea typeface="メイリオ" panose="020B0604030504040204" pitchFamily="50" charset="-128"/>
              </a:rPr>
              <a:t>50,000</a:t>
            </a:r>
            <a:r>
              <a:rPr lang="ja-JP" altLang="en-US" sz="1100" dirty="0">
                <a:latin typeface="メイリオ" panose="020B0604030504040204" pitchFamily="50" charset="-128"/>
                <a:ea typeface="メイリオ" panose="020B0604030504040204" pitchFamily="50" charset="-128"/>
              </a:rPr>
              <a:t>通</a:t>
            </a:r>
            <a:r>
              <a:rPr lang="en-US" altLang="ja-JP" sz="1100" dirty="0">
                <a:latin typeface="メイリオ" panose="020B0604030504040204" pitchFamily="50" charset="-128"/>
                <a:ea typeface="メイリオ" panose="020B0604030504040204" pitchFamily="50" charset="-128"/>
              </a:rPr>
              <a:t>~</a:t>
            </a:r>
            <a:r>
              <a:rPr lang="ja-JP" altLang="en-US" sz="1100" dirty="0">
                <a:latin typeface="メイリオ" panose="020B0604030504040204" pitchFamily="50" charset="-128"/>
                <a:ea typeface="メイリオ" panose="020B0604030504040204" pitchFamily="50" charset="-128"/>
              </a:rPr>
              <a:t>：</a:t>
            </a:r>
            <a:r>
              <a:rPr lang="en-US" altLang="ja-JP" sz="1100" dirty="0">
                <a:latin typeface="メイリオ" panose="020B0604030504040204" pitchFamily="50" charset="-128"/>
                <a:ea typeface="メイリオ" panose="020B0604030504040204" pitchFamily="50" charset="-128"/>
              </a:rPr>
              <a:t>2.8</a:t>
            </a:r>
            <a:r>
              <a:rPr lang="ja-JP" altLang="en-US" sz="1100" dirty="0">
                <a:latin typeface="メイリオ" panose="020B0604030504040204" pitchFamily="50" charset="-128"/>
                <a:ea typeface="メイリオ" panose="020B0604030504040204" pitchFamily="50" charset="-128"/>
              </a:rPr>
              <a:t>円</a:t>
            </a:r>
            <a:r>
              <a:rPr lang="en-US" altLang="ja-JP" sz="1100" dirty="0">
                <a:latin typeface="メイリオ" panose="020B0604030504040204" pitchFamily="50" charset="-128"/>
                <a:ea typeface="メイリオ" panose="020B0604030504040204" pitchFamily="50" charset="-128"/>
              </a:rPr>
              <a:t>/</a:t>
            </a:r>
            <a:r>
              <a:rPr lang="ja-JP" altLang="en-US" sz="1100" dirty="0">
                <a:latin typeface="メイリオ" panose="020B0604030504040204" pitchFamily="50" charset="-128"/>
                <a:ea typeface="メイリオ" panose="020B0604030504040204" pitchFamily="50" charset="-128"/>
              </a:rPr>
              <a:t>通 </a:t>
            </a:r>
            <a:r>
              <a:rPr lang="en-US" altLang="ja-JP" sz="1100" dirty="0">
                <a:latin typeface="メイリオ" panose="020B0604030504040204" pitchFamily="50" charset="-128"/>
                <a:ea typeface="メイリオ" panose="020B0604030504040204" pitchFamily="50" charset="-128"/>
              </a:rPr>
              <a:t>100,000</a:t>
            </a:r>
            <a:r>
              <a:rPr lang="ja-JP" altLang="en-US" sz="1100" dirty="0">
                <a:latin typeface="メイリオ" panose="020B0604030504040204" pitchFamily="50" charset="-128"/>
                <a:ea typeface="メイリオ" panose="020B0604030504040204" pitchFamily="50" charset="-128"/>
              </a:rPr>
              <a:t>通</a:t>
            </a:r>
            <a:r>
              <a:rPr lang="en-US" altLang="ja-JP" sz="1100" dirty="0">
                <a:latin typeface="メイリオ" panose="020B0604030504040204" pitchFamily="50" charset="-128"/>
                <a:ea typeface="メイリオ" panose="020B0604030504040204" pitchFamily="50" charset="-128"/>
              </a:rPr>
              <a:t>~</a:t>
            </a:r>
            <a:r>
              <a:rPr lang="ja-JP" altLang="en-US" sz="1100" dirty="0">
                <a:latin typeface="メイリオ" panose="020B0604030504040204" pitchFamily="50" charset="-128"/>
                <a:ea typeface="メイリオ" panose="020B0604030504040204" pitchFamily="50" charset="-128"/>
              </a:rPr>
              <a:t>：</a:t>
            </a:r>
            <a:r>
              <a:rPr lang="en-US" altLang="ja-JP" sz="1100" dirty="0">
                <a:latin typeface="メイリオ" panose="020B0604030504040204" pitchFamily="50" charset="-128"/>
                <a:ea typeface="メイリオ" panose="020B0604030504040204" pitchFamily="50" charset="-128"/>
              </a:rPr>
              <a:t>2.6</a:t>
            </a:r>
            <a:r>
              <a:rPr lang="ja-JP" altLang="en-US" sz="1100" dirty="0">
                <a:latin typeface="メイリオ" panose="020B0604030504040204" pitchFamily="50" charset="-128"/>
                <a:ea typeface="メイリオ" panose="020B0604030504040204" pitchFamily="50" charset="-128"/>
              </a:rPr>
              <a:t>円</a:t>
            </a:r>
            <a:r>
              <a:rPr lang="en-US" altLang="ja-JP" sz="1100" dirty="0">
                <a:latin typeface="メイリオ" panose="020B0604030504040204" pitchFamily="50" charset="-128"/>
                <a:ea typeface="メイリオ" panose="020B0604030504040204" pitchFamily="50" charset="-128"/>
              </a:rPr>
              <a:t>/</a:t>
            </a:r>
            <a:r>
              <a:rPr lang="ja-JP" altLang="en-US" sz="1100" dirty="0">
                <a:latin typeface="メイリオ" panose="020B0604030504040204" pitchFamily="50" charset="-128"/>
                <a:ea typeface="メイリオ" panose="020B0604030504040204" pitchFamily="50" charset="-128"/>
              </a:rPr>
              <a:t>通</a:t>
            </a:r>
            <a:endParaRPr lang="en-US" altLang="ja-JP" sz="1100" dirty="0">
              <a:latin typeface="メイリオ" panose="020B0604030504040204" pitchFamily="50" charset="-128"/>
              <a:ea typeface="メイリオ" panose="020B0604030504040204" pitchFamily="50" charset="-128"/>
            </a:endParaRPr>
          </a:p>
          <a:p>
            <a:r>
              <a:rPr lang="en-US" altLang="ja-JP" sz="1100" dirty="0">
                <a:latin typeface="メイリオ" panose="020B0604030504040204" pitchFamily="50" charset="-128"/>
                <a:ea typeface="メイリオ" panose="020B0604030504040204" pitchFamily="50" charset="-128"/>
              </a:rPr>
              <a:t>200,000</a:t>
            </a:r>
            <a:r>
              <a:rPr lang="ja-JP" altLang="en-US" sz="1100" dirty="0">
                <a:latin typeface="メイリオ" panose="020B0604030504040204" pitchFamily="50" charset="-128"/>
                <a:ea typeface="メイリオ" panose="020B0604030504040204" pitchFamily="50" charset="-128"/>
              </a:rPr>
              <a:t>通</a:t>
            </a:r>
            <a:r>
              <a:rPr lang="en-US" altLang="ja-JP" sz="1100" dirty="0">
                <a:latin typeface="メイリオ" panose="020B0604030504040204" pitchFamily="50" charset="-128"/>
                <a:ea typeface="メイリオ" panose="020B0604030504040204" pitchFamily="50" charset="-128"/>
              </a:rPr>
              <a:t>~</a:t>
            </a:r>
            <a:r>
              <a:rPr lang="ja-JP" altLang="en-US" sz="1100" dirty="0">
                <a:latin typeface="メイリオ" panose="020B0604030504040204" pitchFamily="50" charset="-128"/>
                <a:ea typeface="メイリオ" panose="020B0604030504040204" pitchFamily="50" charset="-128"/>
              </a:rPr>
              <a:t>：</a:t>
            </a:r>
            <a:r>
              <a:rPr lang="en-US" altLang="ja-JP" sz="1100" dirty="0">
                <a:latin typeface="メイリオ" panose="020B0604030504040204" pitchFamily="50" charset="-128"/>
                <a:ea typeface="メイリオ" panose="020B0604030504040204" pitchFamily="50" charset="-128"/>
              </a:rPr>
              <a:t>2.4</a:t>
            </a:r>
            <a:r>
              <a:rPr lang="ja-JP" altLang="en-US" sz="1100" dirty="0">
                <a:latin typeface="メイリオ" panose="020B0604030504040204" pitchFamily="50" charset="-128"/>
                <a:ea typeface="メイリオ" panose="020B0604030504040204" pitchFamily="50" charset="-128"/>
              </a:rPr>
              <a:t>円</a:t>
            </a:r>
            <a:r>
              <a:rPr lang="en-US" altLang="ja-JP" sz="1100" dirty="0">
                <a:latin typeface="メイリオ" panose="020B0604030504040204" pitchFamily="50" charset="-128"/>
                <a:ea typeface="メイリオ" panose="020B0604030504040204" pitchFamily="50" charset="-128"/>
              </a:rPr>
              <a:t>/</a:t>
            </a:r>
            <a:r>
              <a:rPr lang="ja-JP" altLang="en-US" sz="1100" dirty="0">
                <a:latin typeface="メイリオ" panose="020B0604030504040204" pitchFamily="50" charset="-128"/>
                <a:ea typeface="メイリオ" panose="020B0604030504040204" pitchFamily="50" charset="-128"/>
              </a:rPr>
              <a:t>通 </a:t>
            </a:r>
            <a:r>
              <a:rPr lang="en-US" altLang="ja-JP" sz="1100" dirty="0">
                <a:latin typeface="メイリオ" panose="020B0604030504040204" pitchFamily="50" charset="-128"/>
                <a:ea typeface="メイリオ" panose="020B0604030504040204" pitchFamily="50" charset="-128"/>
              </a:rPr>
              <a:t>300,000</a:t>
            </a:r>
            <a:r>
              <a:rPr lang="ja-JP" altLang="en-US" sz="1100" dirty="0">
                <a:latin typeface="メイリオ" panose="020B0604030504040204" pitchFamily="50" charset="-128"/>
                <a:ea typeface="メイリオ" panose="020B0604030504040204" pitchFamily="50" charset="-128"/>
              </a:rPr>
              <a:t>通</a:t>
            </a:r>
            <a:r>
              <a:rPr lang="en-US" altLang="ja-JP" sz="1100" dirty="0">
                <a:latin typeface="メイリオ" panose="020B0604030504040204" pitchFamily="50" charset="-128"/>
                <a:ea typeface="メイリオ" panose="020B0604030504040204" pitchFamily="50" charset="-128"/>
              </a:rPr>
              <a:t>~</a:t>
            </a:r>
            <a:r>
              <a:rPr lang="ja-JP" altLang="en-US" sz="1100" dirty="0">
                <a:latin typeface="メイリオ" panose="020B0604030504040204" pitchFamily="50" charset="-128"/>
                <a:ea typeface="メイリオ" panose="020B0604030504040204" pitchFamily="50" charset="-128"/>
              </a:rPr>
              <a:t>：</a:t>
            </a:r>
            <a:r>
              <a:rPr lang="en-US" altLang="ja-JP" sz="1100" dirty="0">
                <a:latin typeface="メイリオ" panose="020B0604030504040204" pitchFamily="50" charset="-128"/>
                <a:ea typeface="メイリオ" panose="020B0604030504040204" pitchFamily="50" charset="-128"/>
              </a:rPr>
              <a:t>2.2</a:t>
            </a:r>
            <a:r>
              <a:rPr lang="ja-JP" altLang="en-US" sz="1100" dirty="0">
                <a:latin typeface="メイリオ" panose="020B0604030504040204" pitchFamily="50" charset="-128"/>
                <a:ea typeface="メイリオ" panose="020B0604030504040204" pitchFamily="50" charset="-128"/>
              </a:rPr>
              <a:t>円</a:t>
            </a:r>
            <a:r>
              <a:rPr lang="en-US" altLang="ja-JP" sz="1100" dirty="0">
                <a:latin typeface="メイリオ" panose="020B0604030504040204" pitchFamily="50" charset="-128"/>
                <a:ea typeface="メイリオ" panose="020B0604030504040204" pitchFamily="50" charset="-128"/>
              </a:rPr>
              <a:t>/</a:t>
            </a:r>
            <a:r>
              <a:rPr lang="ja-JP" altLang="en-US" sz="1100" dirty="0">
                <a:latin typeface="メイリオ" panose="020B0604030504040204" pitchFamily="50" charset="-128"/>
                <a:ea typeface="メイリオ" panose="020B0604030504040204" pitchFamily="50" charset="-128"/>
              </a:rPr>
              <a:t>通</a:t>
            </a:r>
            <a:endParaRPr lang="en-US" altLang="ja-JP" sz="1100" dirty="0">
              <a:latin typeface="メイリオ" panose="020B0604030504040204" pitchFamily="50" charset="-128"/>
              <a:ea typeface="メイリオ" panose="020B0604030504040204" pitchFamily="50" charset="-128"/>
            </a:endParaRPr>
          </a:p>
          <a:p>
            <a:r>
              <a:rPr lang="en-US" altLang="ja-JP" sz="1100" dirty="0">
                <a:latin typeface="メイリオ" panose="020B0604030504040204" pitchFamily="50" charset="-128"/>
                <a:ea typeface="メイリオ" panose="020B0604030504040204" pitchFamily="50" charset="-128"/>
              </a:rPr>
              <a:t>400,000</a:t>
            </a:r>
            <a:r>
              <a:rPr lang="ja-JP" altLang="en-US" sz="1100" dirty="0">
                <a:latin typeface="メイリオ" panose="020B0604030504040204" pitchFamily="50" charset="-128"/>
                <a:ea typeface="メイリオ" panose="020B0604030504040204" pitchFamily="50" charset="-128"/>
              </a:rPr>
              <a:t>通</a:t>
            </a:r>
            <a:r>
              <a:rPr lang="en-US" altLang="ja-JP" sz="1100" dirty="0">
                <a:latin typeface="メイリオ" panose="020B0604030504040204" pitchFamily="50" charset="-128"/>
                <a:ea typeface="メイリオ" panose="020B0604030504040204" pitchFamily="50" charset="-128"/>
              </a:rPr>
              <a:t>~</a:t>
            </a:r>
            <a:r>
              <a:rPr lang="ja-JP" altLang="en-US" sz="1100" dirty="0">
                <a:latin typeface="メイリオ" panose="020B0604030504040204" pitchFamily="50" charset="-128"/>
                <a:ea typeface="メイリオ" panose="020B0604030504040204" pitchFamily="50" charset="-128"/>
              </a:rPr>
              <a:t>：</a:t>
            </a:r>
            <a:r>
              <a:rPr lang="en-US" altLang="ja-JP" sz="1100" dirty="0">
                <a:latin typeface="メイリオ" panose="020B0604030504040204" pitchFamily="50" charset="-128"/>
                <a:ea typeface="メイリオ" panose="020B0604030504040204" pitchFamily="50" charset="-128"/>
              </a:rPr>
              <a:t>2.0</a:t>
            </a:r>
            <a:r>
              <a:rPr lang="ja-JP" altLang="en-US" sz="1100" dirty="0">
                <a:latin typeface="メイリオ" panose="020B0604030504040204" pitchFamily="50" charset="-128"/>
                <a:ea typeface="メイリオ" panose="020B0604030504040204" pitchFamily="50" charset="-128"/>
              </a:rPr>
              <a:t>円</a:t>
            </a:r>
            <a:r>
              <a:rPr lang="en-US" altLang="ja-JP" sz="1100" dirty="0">
                <a:latin typeface="メイリオ" panose="020B0604030504040204" pitchFamily="50" charset="-128"/>
                <a:ea typeface="メイリオ" panose="020B0604030504040204" pitchFamily="50" charset="-128"/>
              </a:rPr>
              <a:t>/</a:t>
            </a:r>
            <a:r>
              <a:rPr lang="ja-JP" altLang="en-US" sz="1100" dirty="0">
                <a:latin typeface="メイリオ" panose="020B0604030504040204" pitchFamily="50" charset="-128"/>
                <a:ea typeface="メイリオ" panose="020B0604030504040204" pitchFamily="50" charset="-128"/>
              </a:rPr>
              <a:t>通 </a:t>
            </a:r>
            <a:r>
              <a:rPr lang="en-US" altLang="ja-JP" sz="1100" dirty="0">
                <a:latin typeface="メイリオ" panose="020B0604030504040204" pitchFamily="50" charset="-128"/>
                <a:ea typeface="メイリオ" panose="020B0604030504040204" pitchFamily="50" charset="-128"/>
              </a:rPr>
              <a:t>500,000</a:t>
            </a:r>
            <a:r>
              <a:rPr lang="ja-JP" altLang="en-US" sz="1100" dirty="0">
                <a:latin typeface="メイリオ" panose="020B0604030504040204" pitchFamily="50" charset="-128"/>
                <a:ea typeface="メイリオ" panose="020B0604030504040204" pitchFamily="50" charset="-128"/>
              </a:rPr>
              <a:t>通</a:t>
            </a:r>
            <a:r>
              <a:rPr lang="en-US" altLang="ja-JP" sz="1100" dirty="0">
                <a:latin typeface="メイリオ" panose="020B0604030504040204" pitchFamily="50" charset="-128"/>
                <a:ea typeface="メイリオ" panose="020B0604030504040204" pitchFamily="50" charset="-128"/>
              </a:rPr>
              <a:t>~</a:t>
            </a:r>
            <a:r>
              <a:rPr lang="ja-JP" altLang="en-US" sz="1100" dirty="0">
                <a:latin typeface="メイリオ" panose="020B0604030504040204" pitchFamily="50" charset="-128"/>
                <a:ea typeface="メイリオ" panose="020B0604030504040204" pitchFamily="50" charset="-128"/>
              </a:rPr>
              <a:t>：</a:t>
            </a:r>
            <a:r>
              <a:rPr lang="en-US" altLang="ja-JP" sz="1100" dirty="0">
                <a:latin typeface="メイリオ" panose="020B0604030504040204" pitchFamily="50" charset="-128"/>
                <a:ea typeface="メイリオ" panose="020B0604030504040204" pitchFamily="50" charset="-128"/>
              </a:rPr>
              <a:t>1.8</a:t>
            </a:r>
            <a:r>
              <a:rPr lang="ja-JP" altLang="en-US" sz="1100" dirty="0">
                <a:latin typeface="メイリオ" panose="020B0604030504040204" pitchFamily="50" charset="-128"/>
                <a:ea typeface="メイリオ" panose="020B0604030504040204" pitchFamily="50" charset="-128"/>
              </a:rPr>
              <a:t>円</a:t>
            </a:r>
            <a:r>
              <a:rPr lang="en-US" altLang="ja-JP" sz="1100" dirty="0">
                <a:latin typeface="メイリオ" panose="020B0604030504040204" pitchFamily="50" charset="-128"/>
                <a:ea typeface="メイリオ" panose="020B0604030504040204" pitchFamily="50" charset="-128"/>
              </a:rPr>
              <a:t>/</a:t>
            </a:r>
            <a:r>
              <a:rPr lang="ja-JP" altLang="en-US" sz="1100" dirty="0">
                <a:latin typeface="メイリオ" panose="020B0604030504040204" pitchFamily="50" charset="-128"/>
                <a:ea typeface="メイリオ" panose="020B0604030504040204" pitchFamily="50" charset="-128"/>
              </a:rPr>
              <a:t>通  等</a:t>
            </a:r>
          </a:p>
        </p:txBody>
      </p:sp>
      <p:sp>
        <p:nvSpPr>
          <p:cNvPr id="31" name="Google Shape;752;p28">
            <a:extLst>
              <a:ext uri="{FF2B5EF4-FFF2-40B4-BE49-F238E27FC236}">
                <a16:creationId xmlns:a16="http://schemas.microsoft.com/office/drawing/2014/main" id="{60A6E521-86B4-C76A-F476-E7045650FC5B}"/>
              </a:ext>
            </a:extLst>
          </p:cNvPr>
          <p:cNvSpPr txBox="1"/>
          <p:nvPr/>
        </p:nvSpPr>
        <p:spPr>
          <a:xfrm>
            <a:off x="5620249" y="1545047"/>
            <a:ext cx="3069239" cy="261570"/>
          </a:xfrm>
          <a:prstGeom prst="rect">
            <a:avLst/>
          </a:prstGeom>
          <a:noFill/>
          <a:ln>
            <a:noFill/>
          </a:ln>
        </p:spPr>
        <p:txBody>
          <a:bodyPr spcFirstLastPara="1" wrap="square" lIns="91425" tIns="45700" rIns="91425" bIns="45700" anchor="ctr" anchorCtr="0">
            <a:spAutoFit/>
          </a:bodyPr>
          <a:lstStyle/>
          <a:p>
            <a:pPr lvl="0"/>
            <a:r>
              <a:rPr lang="en-US" altLang="ja-JP" sz="1100" b="1" dirty="0">
                <a:solidFill>
                  <a:srgbClr val="323366"/>
                </a:solidFill>
                <a:latin typeface="メイリオ" panose="020B0604030504040204" pitchFamily="50" charset="-128"/>
                <a:ea typeface="メイリオ" panose="020B0604030504040204" pitchFamily="50" charset="-128"/>
                <a:cs typeface="Meiryo"/>
                <a:sym typeface="Meiryo"/>
              </a:rPr>
              <a:t>&lt;</a:t>
            </a:r>
            <a:r>
              <a:rPr lang="ja-JP" altLang="en-US" sz="1100" b="1" dirty="0">
                <a:solidFill>
                  <a:srgbClr val="323366"/>
                </a:solidFill>
                <a:latin typeface="メイリオ" panose="020B0604030504040204" pitchFamily="50" charset="-128"/>
                <a:ea typeface="メイリオ" panose="020B0604030504040204" pitchFamily="50" charset="-128"/>
                <a:cs typeface="Meiryo"/>
                <a:sym typeface="Meiryo"/>
              </a:rPr>
              <a:t>現行プラン </a:t>
            </a:r>
            <a:r>
              <a:rPr lang="en-US" altLang="ja-JP" sz="1100" b="1" dirty="0">
                <a:solidFill>
                  <a:srgbClr val="323366"/>
                </a:solidFill>
                <a:latin typeface="メイリオ" panose="020B0604030504040204" pitchFamily="50" charset="-128"/>
                <a:ea typeface="メイリオ" panose="020B0604030504040204" pitchFamily="50" charset="-128"/>
                <a:cs typeface="Meiryo"/>
                <a:sym typeface="Meiryo"/>
              </a:rPr>
              <a:t>※</a:t>
            </a:r>
            <a:r>
              <a:rPr lang="ja-JP" altLang="en-US" sz="1100" b="1" dirty="0">
                <a:solidFill>
                  <a:srgbClr val="323366"/>
                </a:solidFill>
                <a:latin typeface="メイリオ" panose="020B0604030504040204" pitchFamily="50" charset="-128"/>
                <a:ea typeface="メイリオ" panose="020B0604030504040204" pitchFamily="50" charset="-128"/>
                <a:cs typeface="Meiryo"/>
                <a:sym typeface="Meiryo"/>
              </a:rPr>
              <a:t>追加メッセージ</a:t>
            </a:r>
            <a:r>
              <a:rPr lang="en-US" altLang="ja-JP" sz="1100" b="1" dirty="0">
                <a:solidFill>
                  <a:srgbClr val="323366"/>
                </a:solidFill>
                <a:latin typeface="メイリオ" panose="020B0604030504040204" pitchFamily="50" charset="-128"/>
                <a:ea typeface="メイリオ" panose="020B0604030504040204" pitchFamily="50" charset="-128"/>
                <a:cs typeface="Meiryo"/>
                <a:sym typeface="Meiryo"/>
              </a:rPr>
              <a:t>&gt;</a:t>
            </a:r>
            <a:endParaRPr lang="ja-JP" altLang="en-US" sz="11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3" name="Google Shape;752;p28">
            <a:extLst>
              <a:ext uri="{FF2B5EF4-FFF2-40B4-BE49-F238E27FC236}">
                <a16:creationId xmlns:a16="http://schemas.microsoft.com/office/drawing/2014/main" id="{4C292373-E21B-4223-45D6-F3EF2A39A309}"/>
              </a:ext>
            </a:extLst>
          </p:cNvPr>
          <p:cNvSpPr txBox="1"/>
          <p:nvPr/>
        </p:nvSpPr>
        <p:spPr>
          <a:xfrm>
            <a:off x="5620249" y="2491590"/>
            <a:ext cx="3069239" cy="261570"/>
          </a:xfrm>
          <a:prstGeom prst="rect">
            <a:avLst/>
          </a:prstGeom>
          <a:noFill/>
          <a:ln>
            <a:noFill/>
          </a:ln>
        </p:spPr>
        <p:txBody>
          <a:bodyPr spcFirstLastPara="1" wrap="square" lIns="91425" tIns="45700" rIns="91425" bIns="45700" anchor="ctr" anchorCtr="0">
            <a:spAutoFit/>
          </a:bodyPr>
          <a:lstStyle/>
          <a:p>
            <a:pPr lvl="0"/>
            <a:r>
              <a:rPr lang="en-US" altLang="ja-JP" sz="1100" b="1" dirty="0">
                <a:solidFill>
                  <a:srgbClr val="323366"/>
                </a:solidFill>
                <a:latin typeface="メイリオ" panose="020B0604030504040204" pitchFamily="50" charset="-128"/>
                <a:ea typeface="メイリオ" panose="020B0604030504040204" pitchFamily="50" charset="-128"/>
                <a:cs typeface="Meiryo"/>
                <a:sym typeface="Meiryo"/>
              </a:rPr>
              <a:t>&lt;2026</a:t>
            </a:r>
            <a:r>
              <a:rPr lang="ja-JP" altLang="en-US" sz="1100" b="1" dirty="0">
                <a:solidFill>
                  <a:srgbClr val="323366"/>
                </a:solidFill>
                <a:latin typeface="メイリオ" panose="020B0604030504040204" pitchFamily="50" charset="-128"/>
                <a:ea typeface="メイリオ" panose="020B0604030504040204" pitchFamily="50" charset="-128"/>
                <a:cs typeface="Meiryo"/>
                <a:sym typeface="Meiryo"/>
              </a:rPr>
              <a:t>年</a:t>
            </a:r>
            <a:r>
              <a:rPr lang="en-US" altLang="ja-JP" sz="1100" b="1" dirty="0">
                <a:solidFill>
                  <a:srgbClr val="323366"/>
                </a:solidFill>
                <a:latin typeface="メイリオ" panose="020B0604030504040204" pitchFamily="50" charset="-128"/>
                <a:ea typeface="メイリオ" panose="020B0604030504040204" pitchFamily="50" charset="-128"/>
                <a:cs typeface="Meiryo"/>
                <a:sym typeface="Meiryo"/>
              </a:rPr>
              <a:t>10</a:t>
            </a:r>
            <a:r>
              <a:rPr lang="ja-JP" altLang="en-US" sz="1100" b="1" dirty="0">
                <a:solidFill>
                  <a:srgbClr val="323366"/>
                </a:solidFill>
                <a:latin typeface="メイリオ" panose="020B0604030504040204" pitchFamily="50" charset="-128"/>
                <a:ea typeface="メイリオ" panose="020B0604030504040204" pitchFamily="50" charset="-128"/>
                <a:cs typeface="Meiryo"/>
                <a:sym typeface="Meiryo"/>
              </a:rPr>
              <a:t>月以降の新プラン</a:t>
            </a:r>
            <a:r>
              <a:rPr lang="en-US" altLang="ja-JP" sz="1100" b="1" dirty="0">
                <a:solidFill>
                  <a:srgbClr val="323366"/>
                </a:solidFill>
                <a:latin typeface="メイリオ" panose="020B0604030504040204" pitchFamily="50" charset="-128"/>
                <a:ea typeface="メイリオ" panose="020B0604030504040204" pitchFamily="50" charset="-128"/>
                <a:cs typeface="Meiryo"/>
                <a:sym typeface="Meiryo"/>
              </a:rPr>
              <a:t>&gt;</a:t>
            </a:r>
            <a:endParaRPr lang="ja-JP" altLang="en-US" sz="11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5" name="テキスト ボックス 34">
            <a:extLst>
              <a:ext uri="{FF2B5EF4-FFF2-40B4-BE49-F238E27FC236}">
                <a16:creationId xmlns:a16="http://schemas.microsoft.com/office/drawing/2014/main" id="{5EF745E7-6AB5-E3F0-E54B-199E8D88B64F}"/>
              </a:ext>
            </a:extLst>
          </p:cNvPr>
          <p:cNvSpPr txBox="1"/>
          <p:nvPr/>
        </p:nvSpPr>
        <p:spPr>
          <a:xfrm>
            <a:off x="5620249" y="2699893"/>
            <a:ext cx="3069239" cy="430887"/>
          </a:xfrm>
          <a:prstGeom prst="rect">
            <a:avLst/>
          </a:prstGeom>
          <a:noFill/>
        </p:spPr>
        <p:txBody>
          <a:bodyPr wrap="square">
            <a:spAutoFit/>
          </a:bodyPr>
          <a:lstStyle/>
          <a:p>
            <a:r>
              <a:rPr lang="ja-JP" altLang="en-US" sz="1100" dirty="0">
                <a:latin typeface="メイリオ" panose="020B0604030504040204" pitchFamily="50" charset="-128"/>
                <a:ea typeface="メイリオ" panose="020B0604030504040204" pitchFamily="50" charset="-128"/>
              </a:rPr>
              <a:t>20万通/月まで: 1通3円</a:t>
            </a:r>
            <a:endParaRPr lang="en-US" altLang="ja-JP" sz="1100" dirty="0">
              <a:latin typeface="メイリオ" panose="020B0604030504040204" pitchFamily="50" charset="-128"/>
              <a:ea typeface="メイリオ" panose="020B0604030504040204" pitchFamily="50" charset="-128"/>
            </a:endParaRPr>
          </a:p>
          <a:p>
            <a:r>
              <a:rPr lang="ja-JP" altLang="en-US" sz="1100" dirty="0">
                <a:latin typeface="メイリオ" panose="020B0604030504040204" pitchFamily="50" charset="-128"/>
                <a:ea typeface="メイリオ" panose="020B0604030504040204" pitchFamily="50" charset="-128"/>
              </a:rPr>
              <a:t>20万通超過分: 1通2.5円</a:t>
            </a:r>
          </a:p>
        </p:txBody>
      </p:sp>
      <p:sp>
        <p:nvSpPr>
          <p:cNvPr id="36" name="Google Shape;752;p28">
            <a:extLst>
              <a:ext uri="{FF2B5EF4-FFF2-40B4-BE49-F238E27FC236}">
                <a16:creationId xmlns:a16="http://schemas.microsoft.com/office/drawing/2014/main" id="{B2356822-13C0-5F98-0FEE-79BBF00408BB}"/>
              </a:ext>
            </a:extLst>
          </p:cNvPr>
          <p:cNvSpPr txBox="1"/>
          <p:nvPr/>
        </p:nvSpPr>
        <p:spPr>
          <a:xfrm>
            <a:off x="5620249" y="3218796"/>
            <a:ext cx="3069239" cy="261570"/>
          </a:xfrm>
          <a:prstGeom prst="rect">
            <a:avLst/>
          </a:prstGeom>
          <a:noFill/>
          <a:ln>
            <a:noFill/>
          </a:ln>
        </p:spPr>
        <p:txBody>
          <a:bodyPr spcFirstLastPara="1" wrap="square" lIns="91425" tIns="45700" rIns="91425" bIns="45700" anchor="ctr" anchorCtr="0">
            <a:spAutoFit/>
          </a:bodyPr>
          <a:lstStyle/>
          <a:p>
            <a:pPr lvl="0"/>
            <a:r>
              <a:rPr lang="en-US" altLang="ja-JP" sz="1100" b="1" dirty="0">
                <a:solidFill>
                  <a:srgbClr val="323366"/>
                </a:solidFill>
                <a:latin typeface="メイリオ" panose="020B0604030504040204" pitchFamily="50" charset="-128"/>
                <a:ea typeface="メイリオ" panose="020B0604030504040204" pitchFamily="50" charset="-128"/>
                <a:cs typeface="Meiryo"/>
                <a:sym typeface="Meiryo"/>
              </a:rPr>
              <a:t>&lt;</a:t>
            </a:r>
            <a:r>
              <a:rPr lang="ja-JP" altLang="en-US" sz="1100" b="1" dirty="0">
                <a:solidFill>
                  <a:srgbClr val="323366"/>
                </a:solidFill>
                <a:latin typeface="メイリオ" panose="020B0604030504040204" pitchFamily="50" charset="-128"/>
                <a:ea typeface="メイリオ" panose="020B0604030504040204" pitchFamily="50" charset="-128"/>
                <a:cs typeface="Meiryo"/>
                <a:sym typeface="Meiryo"/>
              </a:rPr>
              <a:t>その他代表的なプラン設計</a:t>
            </a:r>
            <a:r>
              <a:rPr lang="en-US" altLang="ja-JP" sz="1100" b="1" dirty="0">
                <a:solidFill>
                  <a:srgbClr val="323366"/>
                </a:solidFill>
                <a:latin typeface="メイリオ" panose="020B0604030504040204" pitchFamily="50" charset="-128"/>
                <a:ea typeface="メイリオ" panose="020B0604030504040204" pitchFamily="50" charset="-128"/>
                <a:cs typeface="Meiryo"/>
                <a:sym typeface="Meiryo"/>
              </a:rPr>
              <a:t>&gt;</a:t>
            </a:r>
            <a:endParaRPr lang="ja-JP" altLang="en-US" sz="11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7" name="テキスト ボックス 36">
            <a:extLst>
              <a:ext uri="{FF2B5EF4-FFF2-40B4-BE49-F238E27FC236}">
                <a16:creationId xmlns:a16="http://schemas.microsoft.com/office/drawing/2014/main" id="{D63B651D-2345-9624-4A7C-1666CE93303B}"/>
              </a:ext>
            </a:extLst>
          </p:cNvPr>
          <p:cNvSpPr txBox="1"/>
          <p:nvPr/>
        </p:nvSpPr>
        <p:spPr>
          <a:xfrm>
            <a:off x="5620249" y="3427099"/>
            <a:ext cx="3901968" cy="400110"/>
          </a:xfrm>
          <a:prstGeom prst="rect">
            <a:avLst/>
          </a:prstGeom>
          <a:noFill/>
        </p:spPr>
        <p:txBody>
          <a:bodyPr wrap="square">
            <a:spAutoFit/>
          </a:bodyPr>
          <a:lstStyle/>
          <a:p>
            <a:r>
              <a:rPr lang="ja-JP" altLang="en-US" sz="1000" dirty="0">
                <a:solidFill>
                  <a:srgbClr val="FF0000"/>
                </a:solidFill>
                <a:latin typeface="メイリオ" panose="020B0604030504040204" pitchFamily="50" charset="-128"/>
                <a:ea typeface="メイリオ" panose="020B0604030504040204" pitchFamily="50" charset="-128"/>
              </a:rPr>
              <a:t>エキスパンションプラン</a:t>
            </a:r>
            <a:r>
              <a:rPr lang="ja-JP" altLang="en-US" sz="800" dirty="0">
                <a:solidFill>
                  <a:srgbClr val="FF0000"/>
                </a:solidFill>
                <a:latin typeface="メイリオ" panose="020B0604030504040204" pitchFamily="50" charset="-128"/>
                <a:ea typeface="メイリオ" panose="020B0604030504040204" pitchFamily="50" charset="-128"/>
              </a:rPr>
              <a:t> </a:t>
            </a:r>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前月対比</a:t>
            </a:r>
            <a:r>
              <a:rPr lang="en-US" altLang="ja-JP" sz="800" dirty="0">
                <a:solidFill>
                  <a:srgbClr val="FF0000"/>
                </a:solidFill>
                <a:latin typeface="メイリオ" panose="020B0604030504040204" pitchFamily="50" charset="-128"/>
                <a:ea typeface="メイリオ" panose="020B0604030504040204" pitchFamily="50" charset="-128"/>
              </a:rPr>
              <a:t>30</a:t>
            </a:r>
            <a:r>
              <a:rPr lang="ja-JP" altLang="en-US" sz="800" dirty="0">
                <a:solidFill>
                  <a:srgbClr val="FF0000"/>
                </a:solidFill>
                <a:latin typeface="メイリオ" panose="020B0604030504040204" pitchFamily="50" charset="-128"/>
                <a:ea typeface="メイリオ" panose="020B0604030504040204" pitchFamily="50" charset="-128"/>
              </a:rPr>
              <a:t>％伸長コミット</a:t>
            </a:r>
            <a:endParaRPr lang="en-US" altLang="ja-JP" sz="800" dirty="0">
              <a:solidFill>
                <a:srgbClr val="FF0000"/>
              </a:solidFill>
              <a:latin typeface="メイリオ" panose="020B0604030504040204" pitchFamily="50" charset="-128"/>
              <a:ea typeface="メイリオ" panose="020B0604030504040204" pitchFamily="50" charset="-128"/>
            </a:endParaRPr>
          </a:p>
          <a:p>
            <a:r>
              <a:rPr lang="ja-JP" altLang="en-US" sz="1000" dirty="0">
                <a:latin typeface="メイリオ" panose="020B0604030504040204" pitchFamily="50" charset="-128"/>
                <a:ea typeface="メイリオ" panose="020B0604030504040204" pitchFamily="50" charset="-128"/>
              </a:rPr>
              <a:t>特別プラン </a:t>
            </a:r>
            <a:r>
              <a:rPr lang="en-US" altLang="ja-JP" sz="800" dirty="0">
                <a:latin typeface="メイリオ" panose="020B0604030504040204" pitchFamily="50" charset="-128"/>
                <a:ea typeface="メイリオ" panose="020B0604030504040204" pitchFamily="50" charset="-128"/>
              </a:rPr>
              <a:t>※</a:t>
            </a:r>
            <a:r>
              <a:rPr lang="ja-JP" altLang="en-US" sz="800" dirty="0">
                <a:latin typeface="メイリオ" panose="020B0604030504040204" pitchFamily="50" charset="-128"/>
                <a:ea typeface="メイリオ" panose="020B0604030504040204" pitchFamily="50" charset="-128"/>
              </a:rPr>
              <a:t>その他</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ヤフー社から提示しているもの</a:t>
            </a:r>
            <a:endParaRPr lang="en-US" altLang="ja-JP" sz="600" dirty="0">
              <a:latin typeface="メイリオ" panose="020B0604030504040204" pitchFamily="50" charset="-128"/>
              <a:ea typeface="メイリオ" panose="020B0604030504040204" pitchFamily="50" charset="-128"/>
            </a:endParaRPr>
          </a:p>
        </p:txBody>
      </p:sp>
      <p:sp>
        <p:nvSpPr>
          <p:cNvPr id="41" name="正方形/長方形 40">
            <a:extLst>
              <a:ext uri="{FF2B5EF4-FFF2-40B4-BE49-F238E27FC236}">
                <a16:creationId xmlns:a16="http://schemas.microsoft.com/office/drawing/2014/main" id="{E1874F38-FA96-92AA-DD78-56523763C349}"/>
              </a:ext>
            </a:extLst>
          </p:cNvPr>
          <p:cNvSpPr/>
          <p:nvPr/>
        </p:nvSpPr>
        <p:spPr>
          <a:xfrm>
            <a:off x="1107930" y="1813322"/>
            <a:ext cx="1298864" cy="134091"/>
          </a:xfrm>
          <a:prstGeom prst="rect">
            <a:avLst/>
          </a:prstGeom>
          <a:solidFill>
            <a:schemeClr val="tx2">
              <a:lumMod val="60000"/>
              <a:lumOff val="40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正方形/長方形 41">
            <a:extLst>
              <a:ext uri="{FF2B5EF4-FFF2-40B4-BE49-F238E27FC236}">
                <a16:creationId xmlns:a16="http://schemas.microsoft.com/office/drawing/2014/main" id="{5DF189C4-BE43-797B-06FE-DF9F02E1220D}"/>
              </a:ext>
            </a:extLst>
          </p:cNvPr>
          <p:cNvSpPr/>
          <p:nvPr/>
        </p:nvSpPr>
        <p:spPr>
          <a:xfrm>
            <a:off x="1166560" y="4307351"/>
            <a:ext cx="1651792" cy="134091"/>
          </a:xfrm>
          <a:prstGeom prst="rect">
            <a:avLst/>
          </a:prstGeom>
          <a:solidFill>
            <a:schemeClr val="tx2">
              <a:lumMod val="60000"/>
              <a:lumOff val="40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正方形/長方形 42">
            <a:extLst>
              <a:ext uri="{FF2B5EF4-FFF2-40B4-BE49-F238E27FC236}">
                <a16:creationId xmlns:a16="http://schemas.microsoft.com/office/drawing/2014/main" id="{F431E6E6-4275-19E0-0A47-BDD067949F8C}"/>
              </a:ext>
            </a:extLst>
          </p:cNvPr>
          <p:cNvSpPr/>
          <p:nvPr/>
        </p:nvSpPr>
        <p:spPr>
          <a:xfrm>
            <a:off x="5683908" y="4307351"/>
            <a:ext cx="1901667" cy="134091"/>
          </a:xfrm>
          <a:prstGeom prst="rect">
            <a:avLst/>
          </a:prstGeom>
          <a:solidFill>
            <a:schemeClr val="tx2">
              <a:lumMod val="60000"/>
              <a:lumOff val="40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Google Shape;752;p28">
            <a:extLst>
              <a:ext uri="{FF2B5EF4-FFF2-40B4-BE49-F238E27FC236}">
                <a16:creationId xmlns:a16="http://schemas.microsoft.com/office/drawing/2014/main" id="{33B156F6-45B0-A871-AE63-6BDD77E372DE}"/>
              </a:ext>
            </a:extLst>
          </p:cNvPr>
          <p:cNvSpPr txBox="1"/>
          <p:nvPr/>
        </p:nvSpPr>
        <p:spPr>
          <a:xfrm>
            <a:off x="1147590" y="1615603"/>
            <a:ext cx="1452736"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ベース料金</a:t>
            </a:r>
          </a:p>
        </p:txBody>
      </p:sp>
      <p:sp>
        <p:nvSpPr>
          <p:cNvPr id="45" name="Google Shape;752;p28">
            <a:extLst>
              <a:ext uri="{FF2B5EF4-FFF2-40B4-BE49-F238E27FC236}">
                <a16:creationId xmlns:a16="http://schemas.microsoft.com/office/drawing/2014/main" id="{9FDB2489-BC5C-5902-A92D-99353EA829B4}"/>
              </a:ext>
            </a:extLst>
          </p:cNvPr>
          <p:cNvSpPr txBox="1"/>
          <p:nvPr/>
        </p:nvSpPr>
        <p:spPr>
          <a:xfrm>
            <a:off x="1147589" y="4131503"/>
            <a:ext cx="333868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機能拡充（別途）</a:t>
            </a:r>
          </a:p>
        </p:txBody>
      </p:sp>
      <p:sp>
        <p:nvSpPr>
          <p:cNvPr id="46" name="Google Shape;752;p28">
            <a:extLst>
              <a:ext uri="{FF2B5EF4-FFF2-40B4-BE49-F238E27FC236}">
                <a16:creationId xmlns:a16="http://schemas.microsoft.com/office/drawing/2014/main" id="{DF63868A-9A5A-1C35-4BB4-092655E5A4EC}"/>
              </a:ext>
            </a:extLst>
          </p:cNvPr>
          <p:cNvSpPr txBox="1"/>
          <p:nvPr/>
        </p:nvSpPr>
        <p:spPr>
          <a:xfrm>
            <a:off x="5759740" y="4131503"/>
            <a:ext cx="333868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コンサル領域</a:t>
            </a:r>
          </a:p>
        </p:txBody>
      </p:sp>
      <p:sp>
        <p:nvSpPr>
          <p:cNvPr id="48" name="テキスト ボックス 47">
            <a:extLst>
              <a:ext uri="{FF2B5EF4-FFF2-40B4-BE49-F238E27FC236}">
                <a16:creationId xmlns:a16="http://schemas.microsoft.com/office/drawing/2014/main" id="{6C374105-0594-8249-88B1-08FB6C833955}"/>
              </a:ext>
            </a:extLst>
          </p:cNvPr>
          <p:cNvSpPr txBox="1"/>
          <p:nvPr/>
        </p:nvSpPr>
        <p:spPr>
          <a:xfrm>
            <a:off x="462028" y="4726013"/>
            <a:ext cx="4490972" cy="261610"/>
          </a:xfrm>
          <a:prstGeom prst="rect">
            <a:avLst/>
          </a:prstGeom>
          <a:noFill/>
        </p:spPr>
        <p:txBody>
          <a:bodyPr wrap="square">
            <a:spAutoFit/>
          </a:bodyPr>
          <a:lstStyle/>
          <a:p>
            <a:r>
              <a:rPr lang="ja-JP" altLang="en-US" sz="1100" dirty="0">
                <a:latin typeface="メイリオ" panose="020B0604030504040204" pitchFamily="50" charset="-128"/>
                <a:ea typeface="メイリオ" panose="020B0604030504040204" pitchFamily="50" charset="-128"/>
              </a:rPr>
              <a:t>通知メッセージ</a:t>
            </a:r>
            <a:r>
              <a:rPr lang="ja-JP" altLang="en-US" sz="1100" b="1" dirty="0">
                <a:latin typeface="メイリオ" panose="020B0604030504040204" pitchFamily="50" charset="-128"/>
                <a:ea typeface="メイリオ" panose="020B0604030504040204" pitchFamily="50" charset="-128"/>
              </a:rPr>
              <a:t>（</a:t>
            </a:r>
            <a:r>
              <a:rPr lang="en-US" altLang="ja-JP" sz="1100" b="1" dirty="0">
                <a:latin typeface="メイリオ" panose="020B0604030504040204" pitchFamily="50" charset="-128"/>
                <a:ea typeface="メイリオ" panose="020B0604030504040204" pitchFamily="50" charset="-128"/>
              </a:rPr>
              <a:t>60</a:t>
            </a:r>
            <a:r>
              <a:rPr lang="ja-JP" altLang="en-US" sz="1100" b="1" dirty="0">
                <a:latin typeface="メイリオ" panose="020B0604030504040204" pitchFamily="50" charset="-128"/>
                <a:ea typeface="メイリオ" panose="020B0604030504040204" pitchFamily="50" charset="-128"/>
              </a:rPr>
              <a:t>万円</a:t>
            </a:r>
            <a:r>
              <a:rPr lang="en-US" altLang="ja-JP" sz="1100" b="1" dirty="0">
                <a:latin typeface="メイリオ" panose="020B0604030504040204" pitchFamily="50" charset="-128"/>
                <a:ea typeface="メイリオ" panose="020B0604030504040204" pitchFamily="50" charset="-128"/>
              </a:rPr>
              <a:t>~ / </a:t>
            </a:r>
            <a:r>
              <a:rPr lang="ja-JP" altLang="en-US" sz="1100" b="1" dirty="0">
                <a:latin typeface="メイリオ" panose="020B0604030504040204" pitchFamily="50" charset="-128"/>
                <a:ea typeface="メイリオ" panose="020B0604030504040204" pitchFamily="50" charset="-128"/>
              </a:rPr>
              <a:t>月）</a:t>
            </a:r>
            <a:endParaRPr lang="ja-JP" altLang="en-US" sz="1100" b="1" dirty="0"/>
          </a:p>
        </p:txBody>
      </p:sp>
      <p:sp>
        <p:nvSpPr>
          <p:cNvPr id="49" name="テキスト ボックス 48">
            <a:extLst>
              <a:ext uri="{FF2B5EF4-FFF2-40B4-BE49-F238E27FC236}">
                <a16:creationId xmlns:a16="http://schemas.microsoft.com/office/drawing/2014/main" id="{10EB4FEE-4067-9B1F-827C-886BF78A32B9}"/>
              </a:ext>
            </a:extLst>
          </p:cNvPr>
          <p:cNvSpPr txBox="1"/>
          <p:nvPr/>
        </p:nvSpPr>
        <p:spPr>
          <a:xfrm>
            <a:off x="462028" y="4987623"/>
            <a:ext cx="4490972" cy="261610"/>
          </a:xfrm>
          <a:prstGeom prst="rect">
            <a:avLst/>
          </a:prstGeom>
          <a:noFill/>
        </p:spPr>
        <p:txBody>
          <a:bodyPr wrap="square">
            <a:spAutoFit/>
          </a:bodyPr>
          <a:lstStyle/>
          <a:p>
            <a:r>
              <a:rPr lang="ja-JP" altLang="en-US" sz="1100" dirty="0">
                <a:latin typeface="メイリオ" panose="020B0604030504040204" pitchFamily="50" charset="-128"/>
                <a:ea typeface="メイリオ" panose="020B0604030504040204" pitchFamily="50" charset="-128"/>
              </a:rPr>
              <a:t>タグ操作の上限機能解放</a:t>
            </a:r>
            <a:r>
              <a:rPr lang="ja-JP" altLang="en-US" sz="1100" b="1" dirty="0">
                <a:latin typeface="メイリオ" panose="020B0604030504040204" pitchFamily="50" charset="-128"/>
                <a:ea typeface="メイリオ" panose="020B0604030504040204" pitchFamily="50" charset="-128"/>
              </a:rPr>
              <a:t>（</a:t>
            </a:r>
            <a:r>
              <a:rPr lang="en-US" altLang="ja-JP" sz="1100" b="1" dirty="0">
                <a:latin typeface="メイリオ" panose="020B0604030504040204" pitchFamily="50" charset="-128"/>
                <a:ea typeface="メイリオ" panose="020B0604030504040204" pitchFamily="50" charset="-128"/>
              </a:rPr>
              <a:t>3,000</a:t>
            </a:r>
            <a:r>
              <a:rPr lang="ja-JP" altLang="en-US" sz="1100" b="1" dirty="0">
                <a:latin typeface="メイリオ" panose="020B0604030504040204" pitchFamily="50" charset="-128"/>
                <a:ea typeface="メイリオ" panose="020B0604030504040204" pitchFamily="50" charset="-128"/>
              </a:rPr>
              <a:t>円 </a:t>
            </a:r>
            <a:r>
              <a:rPr lang="en-US" altLang="ja-JP" sz="1100" b="1" dirty="0">
                <a:latin typeface="メイリオ" panose="020B0604030504040204" pitchFamily="50" charset="-128"/>
                <a:ea typeface="メイリオ" panose="020B0604030504040204" pitchFamily="50" charset="-128"/>
              </a:rPr>
              <a:t>/ </a:t>
            </a:r>
            <a:r>
              <a:rPr lang="ja-JP" altLang="en-US" sz="1100" b="1" dirty="0">
                <a:latin typeface="メイリオ" panose="020B0604030504040204" pitchFamily="50" charset="-128"/>
                <a:ea typeface="メイリオ" panose="020B0604030504040204" pitchFamily="50" charset="-128"/>
              </a:rPr>
              <a:t>月）</a:t>
            </a:r>
            <a:endParaRPr lang="ja-JP" altLang="en-US" sz="1100" b="1" dirty="0"/>
          </a:p>
        </p:txBody>
      </p:sp>
      <p:sp>
        <p:nvSpPr>
          <p:cNvPr id="50" name="テキスト ボックス 49">
            <a:extLst>
              <a:ext uri="{FF2B5EF4-FFF2-40B4-BE49-F238E27FC236}">
                <a16:creationId xmlns:a16="http://schemas.microsoft.com/office/drawing/2014/main" id="{23A5199F-67B5-24D3-9654-26AAC5F8C7CC}"/>
              </a:ext>
            </a:extLst>
          </p:cNvPr>
          <p:cNvSpPr txBox="1"/>
          <p:nvPr/>
        </p:nvSpPr>
        <p:spPr>
          <a:xfrm>
            <a:off x="462028" y="5249233"/>
            <a:ext cx="4490972" cy="261610"/>
          </a:xfrm>
          <a:prstGeom prst="rect">
            <a:avLst/>
          </a:prstGeom>
          <a:noFill/>
        </p:spPr>
        <p:txBody>
          <a:bodyPr wrap="square">
            <a:spAutoFit/>
          </a:bodyPr>
          <a:lstStyle/>
          <a:p>
            <a:r>
              <a:rPr lang="ja-JP" altLang="en-US" sz="1100" dirty="0">
                <a:latin typeface="メイリオ" panose="020B0604030504040204" pitchFamily="50" charset="-128"/>
                <a:ea typeface="メイリオ" panose="020B0604030504040204" pitchFamily="50" charset="-128"/>
              </a:rPr>
              <a:t>汎用性の高い</a:t>
            </a:r>
            <a:r>
              <a:rPr lang="en-US" altLang="ja-JP" sz="1100" dirty="0">
                <a:latin typeface="メイリオ" panose="020B0604030504040204" pitchFamily="50" charset="-128"/>
                <a:ea typeface="メイリオ" panose="020B0604030504040204" pitchFamily="50" charset="-128"/>
              </a:rPr>
              <a:t>API</a:t>
            </a:r>
            <a:r>
              <a:rPr lang="ja-JP" altLang="en-US" sz="1100" dirty="0">
                <a:latin typeface="メイリオ" panose="020B0604030504040204" pitchFamily="50" charset="-128"/>
                <a:ea typeface="メイリオ" panose="020B0604030504040204" pitchFamily="50" charset="-128"/>
              </a:rPr>
              <a:t>ツール導入</a:t>
            </a:r>
            <a:r>
              <a:rPr lang="ja-JP" altLang="en-US" sz="1100" b="1" dirty="0">
                <a:latin typeface="メイリオ" panose="020B0604030504040204" pitchFamily="50" charset="-128"/>
                <a:ea typeface="メイリオ" panose="020B0604030504040204" pitchFamily="50" charset="-128"/>
              </a:rPr>
              <a:t>（初期 </a:t>
            </a:r>
            <a:r>
              <a:rPr lang="en-US" altLang="ja-JP" sz="1100" b="1" dirty="0">
                <a:latin typeface="メイリオ" panose="020B0604030504040204" pitchFamily="50" charset="-128"/>
                <a:ea typeface="メイリオ" panose="020B0604030504040204" pitchFamily="50" charset="-128"/>
              </a:rPr>
              <a:t>5</a:t>
            </a:r>
            <a:r>
              <a:rPr lang="ja-JP" altLang="en-US" sz="1100" b="1" dirty="0">
                <a:latin typeface="メイリオ" panose="020B0604030504040204" pitchFamily="50" charset="-128"/>
                <a:ea typeface="メイリオ" panose="020B0604030504040204" pitchFamily="50" charset="-128"/>
              </a:rPr>
              <a:t>万円</a:t>
            </a:r>
            <a:r>
              <a:rPr lang="en-US" altLang="ja-JP" sz="1100" b="1" dirty="0">
                <a:latin typeface="メイリオ" panose="020B0604030504040204" pitchFamily="50" charset="-128"/>
                <a:ea typeface="メイリオ" panose="020B0604030504040204" pitchFamily="50" charset="-128"/>
              </a:rPr>
              <a:t>~ / </a:t>
            </a:r>
            <a:r>
              <a:rPr lang="ja-JP" altLang="en-US" sz="1100" b="1" dirty="0">
                <a:latin typeface="メイリオ" panose="020B0604030504040204" pitchFamily="50" charset="-128"/>
                <a:ea typeface="メイリオ" panose="020B0604030504040204" pitchFamily="50" charset="-128"/>
              </a:rPr>
              <a:t>月額 </a:t>
            </a:r>
            <a:r>
              <a:rPr lang="en-US" altLang="ja-JP" sz="1100" b="1" dirty="0">
                <a:latin typeface="メイリオ" panose="020B0604030504040204" pitchFamily="50" charset="-128"/>
                <a:ea typeface="メイリオ" panose="020B0604030504040204" pitchFamily="50" charset="-128"/>
              </a:rPr>
              <a:t>3</a:t>
            </a:r>
            <a:r>
              <a:rPr lang="ja-JP" altLang="en-US" sz="1100" b="1" dirty="0">
                <a:latin typeface="メイリオ" panose="020B0604030504040204" pitchFamily="50" charset="-128"/>
                <a:ea typeface="メイリオ" panose="020B0604030504040204" pitchFamily="50" charset="-128"/>
              </a:rPr>
              <a:t>万円</a:t>
            </a:r>
            <a:r>
              <a:rPr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a:t>
            </a:r>
            <a:endParaRPr lang="ja-JP" altLang="en-US" sz="1100" b="1" dirty="0"/>
          </a:p>
        </p:txBody>
      </p:sp>
      <p:sp>
        <p:nvSpPr>
          <p:cNvPr id="51" name="テキスト ボックス 50">
            <a:extLst>
              <a:ext uri="{FF2B5EF4-FFF2-40B4-BE49-F238E27FC236}">
                <a16:creationId xmlns:a16="http://schemas.microsoft.com/office/drawing/2014/main" id="{C657D6AB-D459-5BAB-196C-28641FEA0BE7}"/>
              </a:ext>
            </a:extLst>
          </p:cNvPr>
          <p:cNvSpPr txBox="1"/>
          <p:nvPr/>
        </p:nvSpPr>
        <p:spPr>
          <a:xfrm>
            <a:off x="5166710" y="4719718"/>
            <a:ext cx="4358893" cy="261610"/>
          </a:xfrm>
          <a:prstGeom prst="rect">
            <a:avLst/>
          </a:prstGeom>
          <a:noFill/>
        </p:spPr>
        <p:txBody>
          <a:bodyPr wrap="square">
            <a:spAutoFit/>
          </a:bodyPr>
          <a:lstStyle/>
          <a:p>
            <a:r>
              <a:rPr lang="ja-JP" altLang="en-US" sz="1100" dirty="0">
                <a:latin typeface="メイリオ" panose="020B0604030504040204" pitchFamily="50" charset="-128"/>
                <a:ea typeface="メイリオ" panose="020B0604030504040204" pitchFamily="50" charset="-128"/>
              </a:rPr>
              <a:t>運用代行費用 </a:t>
            </a:r>
            <a:r>
              <a:rPr lang="ja-JP" altLang="en-US" sz="1100" b="1" dirty="0">
                <a:latin typeface="メイリオ" panose="020B0604030504040204" pitchFamily="50" charset="-128"/>
                <a:ea typeface="メイリオ" panose="020B0604030504040204" pitchFamily="50" charset="-128"/>
              </a:rPr>
              <a:t>（</a:t>
            </a:r>
            <a:r>
              <a:rPr lang="en-US" altLang="ja-JP" sz="1100" b="1" dirty="0">
                <a:latin typeface="メイリオ" panose="020B0604030504040204" pitchFamily="50" charset="-128"/>
                <a:ea typeface="メイリオ" panose="020B0604030504040204" pitchFamily="50" charset="-128"/>
              </a:rPr>
              <a:t>20</a:t>
            </a:r>
            <a:r>
              <a:rPr lang="ja-JP" altLang="en-US" sz="1100" b="1" dirty="0">
                <a:latin typeface="メイリオ" panose="020B0604030504040204" pitchFamily="50" charset="-128"/>
                <a:ea typeface="メイリオ" panose="020B0604030504040204" pitchFamily="50" charset="-128"/>
              </a:rPr>
              <a:t>万円 </a:t>
            </a:r>
            <a:r>
              <a:rPr lang="en-US" altLang="ja-JP" sz="1100" b="1" dirty="0">
                <a:latin typeface="メイリオ" panose="020B0604030504040204" pitchFamily="50" charset="-128"/>
                <a:ea typeface="メイリオ" panose="020B0604030504040204" pitchFamily="50" charset="-128"/>
              </a:rPr>
              <a:t>/ </a:t>
            </a:r>
            <a:r>
              <a:rPr lang="ja-JP" altLang="en-US" sz="1100" b="1" dirty="0">
                <a:latin typeface="メイリオ" panose="020B0604030504040204" pitchFamily="50" charset="-128"/>
                <a:ea typeface="メイリオ" panose="020B0604030504040204" pitchFamily="50" charset="-128"/>
              </a:rPr>
              <a:t>月 </a:t>
            </a:r>
            <a:r>
              <a:rPr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a:t>
            </a:r>
            <a:endParaRPr lang="ja-JP" altLang="en-US" sz="1100" b="1" dirty="0"/>
          </a:p>
        </p:txBody>
      </p:sp>
      <p:sp>
        <p:nvSpPr>
          <p:cNvPr id="52" name="テキスト ボックス 51">
            <a:extLst>
              <a:ext uri="{FF2B5EF4-FFF2-40B4-BE49-F238E27FC236}">
                <a16:creationId xmlns:a16="http://schemas.microsoft.com/office/drawing/2014/main" id="{9B4AA4F1-C558-4474-0075-3323ED7BB26E}"/>
              </a:ext>
            </a:extLst>
          </p:cNvPr>
          <p:cNvSpPr txBox="1"/>
          <p:nvPr/>
        </p:nvSpPr>
        <p:spPr>
          <a:xfrm>
            <a:off x="5166710" y="4981328"/>
            <a:ext cx="4358893" cy="261610"/>
          </a:xfrm>
          <a:prstGeom prst="rect">
            <a:avLst/>
          </a:prstGeom>
          <a:noFill/>
        </p:spPr>
        <p:txBody>
          <a:bodyPr wrap="square">
            <a:spAutoFit/>
          </a:bodyPr>
          <a:lstStyle/>
          <a:p>
            <a:r>
              <a:rPr lang="ja-JP" altLang="en-US" sz="1100" dirty="0">
                <a:latin typeface="メイリオ" panose="020B0604030504040204" pitchFamily="50" charset="-128"/>
                <a:ea typeface="メイリオ" panose="020B0604030504040204" pitchFamily="50" charset="-128"/>
              </a:rPr>
              <a:t>企画・レポーティング費用 </a:t>
            </a:r>
            <a:r>
              <a:rPr lang="ja-JP" altLang="en-US" sz="1100" b="1" dirty="0">
                <a:latin typeface="メイリオ" panose="020B0604030504040204" pitchFamily="50" charset="-128"/>
                <a:ea typeface="メイリオ" panose="020B0604030504040204" pitchFamily="50" charset="-128"/>
              </a:rPr>
              <a:t>（</a:t>
            </a:r>
            <a:r>
              <a:rPr lang="en-US" altLang="ja-JP" sz="1100" b="1" dirty="0">
                <a:latin typeface="メイリオ" panose="020B0604030504040204" pitchFamily="50" charset="-128"/>
                <a:ea typeface="メイリオ" panose="020B0604030504040204" pitchFamily="50" charset="-128"/>
              </a:rPr>
              <a:t>10</a:t>
            </a:r>
            <a:r>
              <a:rPr lang="ja-JP" altLang="en-US" sz="1100" b="1" dirty="0">
                <a:latin typeface="メイリオ" panose="020B0604030504040204" pitchFamily="50" charset="-128"/>
                <a:ea typeface="メイリオ" panose="020B0604030504040204" pitchFamily="50" charset="-128"/>
              </a:rPr>
              <a:t>万円 </a:t>
            </a:r>
            <a:r>
              <a:rPr lang="en-US" altLang="ja-JP" sz="1100" b="1" dirty="0">
                <a:latin typeface="メイリオ" panose="020B0604030504040204" pitchFamily="50" charset="-128"/>
                <a:ea typeface="メイリオ" panose="020B0604030504040204" pitchFamily="50" charset="-128"/>
              </a:rPr>
              <a:t>/ </a:t>
            </a:r>
            <a:r>
              <a:rPr lang="ja-JP" altLang="en-US" sz="1100" b="1" dirty="0">
                <a:latin typeface="メイリオ" panose="020B0604030504040204" pitchFamily="50" charset="-128"/>
                <a:ea typeface="メイリオ" panose="020B0604030504040204" pitchFamily="50" charset="-128"/>
              </a:rPr>
              <a:t>月 </a:t>
            </a:r>
            <a:r>
              <a:rPr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a:t>
            </a:r>
            <a:endParaRPr lang="ja-JP" altLang="en-US" sz="1100" b="1" dirty="0"/>
          </a:p>
        </p:txBody>
      </p:sp>
      <p:sp>
        <p:nvSpPr>
          <p:cNvPr id="53" name="テキスト ボックス 52">
            <a:extLst>
              <a:ext uri="{FF2B5EF4-FFF2-40B4-BE49-F238E27FC236}">
                <a16:creationId xmlns:a16="http://schemas.microsoft.com/office/drawing/2014/main" id="{EBAD9F18-E167-9327-E7BE-1C8A9779E192}"/>
              </a:ext>
            </a:extLst>
          </p:cNvPr>
          <p:cNvSpPr txBox="1"/>
          <p:nvPr/>
        </p:nvSpPr>
        <p:spPr>
          <a:xfrm>
            <a:off x="5166710" y="5242938"/>
            <a:ext cx="4358893" cy="261610"/>
          </a:xfrm>
          <a:prstGeom prst="rect">
            <a:avLst/>
          </a:prstGeom>
          <a:noFill/>
        </p:spPr>
        <p:txBody>
          <a:bodyPr wrap="square">
            <a:spAutoFit/>
          </a:bodyPr>
          <a:lstStyle/>
          <a:p>
            <a:r>
              <a:rPr lang="ja-JP" altLang="en-US" sz="1100" dirty="0">
                <a:latin typeface="メイリオ" panose="020B0604030504040204" pitchFamily="50" charset="-128"/>
                <a:ea typeface="メイリオ" panose="020B0604030504040204" pitchFamily="50" charset="-128"/>
              </a:rPr>
              <a:t>保守・管理費用</a:t>
            </a:r>
            <a:r>
              <a:rPr lang="ja-JP" altLang="en-US" sz="1100" b="1" dirty="0">
                <a:latin typeface="メイリオ" panose="020B0604030504040204" pitchFamily="50" charset="-128"/>
                <a:ea typeface="メイリオ" panose="020B0604030504040204" pitchFamily="50" charset="-128"/>
              </a:rPr>
              <a:t>（</a:t>
            </a:r>
            <a:r>
              <a:rPr lang="en-US" altLang="ja-JP" sz="1100" b="1" dirty="0">
                <a:latin typeface="メイリオ" panose="020B0604030504040204" pitchFamily="50" charset="-128"/>
                <a:ea typeface="メイリオ" panose="020B0604030504040204" pitchFamily="50" charset="-128"/>
              </a:rPr>
              <a:t>5</a:t>
            </a:r>
            <a:r>
              <a:rPr lang="ja-JP" altLang="en-US" sz="1100" b="1" dirty="0">
                <a:latin typeface="メイリオ" panose="020B0604030504040204" pitchFamily="50" charset="-128"/>
                <a:ea typeface="メイリオ" panose="020B0604030504040204" pitchFamily="50" charset="-128"/>
              </a:rPr>
              <a:t>万円 </a:t>
            </a:r>
            <a:r>
              <a:rPr lang="en-US" altLang="ja-JP" sz="1100" b="1" dirty="0">
                <a:latin typeface="メイリオ" panose="020B0604030504040204" pitchFamily="50" charset="-128"/>
                <a:ea typeface="メイリオ" panose="020B0604030504040204" pitchFamily="50" charset="-128"/>
              </a:rPr>
              <a:t>/ </a:t>
            </a:r>
            <a:r>
              <a:rPr lang="ja-JP" altLang="en-US" sz="1100" b="1" dirty="0">
                <a:latin typeface="メイリオ" panose="020B0604030504040204" pitchFamily="50" charset="-128"/>
                <a:ea typeface="メイリオ" panose="020B0604030504040204" pitchFamily="50" charset="-128"/>
              </a:rPr>
              <a:t>月 </a:t>
            </a:r>
            <a:r>
              <a:rPr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a:t>
            </a:r>
            <a:endParaRPr lang="ja-JP" altLang="en-US" sz="1100" b="1" dirty="0"/>
          </a:p>
        </p:txBody>
      </p:sp>
      <p:sp>
        <p:nvSpPr>
          <p:cNvPr id="55" name="テキスト ボックス 54">
            <a:extLst>
              <a:ext uri="{FF2B5EF4-FFF2-40B4-BE49-F238E27FC236}">
                <a16:creationId xmlns:a16="http://schemas.microsoft.com/office/drawing/2014/main" id="{3D00887D-7B59-5A25-DEFA-0688034CAC7D}"/>
              </a:ext>
            </a:extLst>
          </p:cNvPr>
          <p:cNvSpPr txBox="1"/>
          <p:nvPr/>
        </p:nvSpPr>
        <p:spPr>
          <a:xfrm>
            <a:off x="5160117" y="5618848"/>
            <a:ext cx="4358893" cy="261610"/>
          </a:xfrm>
          <a:prstGeom prst="rect">
            <a:avLst/>
          </a:prstGeom>
          <a:noFill/>
        </p:spPr>
        <p:txBody>
          <a:bodyPr wrap="square">
            <a:spAutoFit/>
          </a:bodyPr>
          <a:lstStyle/>
          <a:p>
            <a:r>
              <a:rPr lang="ja-JP" altLang="en-US" sz="1100" dirty="0">
                <a:latin typeface="メイリオ" panose="020B0604030504040204" pitchFamily="50" charset="-128"/>
                <a:ea typeface="メイリオ" panose="020B0604030504040204" pitchFamily="50" charset="-128"/>
              </a:rPr>
              <a:t>初期構築費用</a:t>
            </a:r>
            <a:r>
              <a:rPr lang="ja-JP" altLang="en-US" sz="1100" b="1" dirty="0">
                <a:latin typeface="メイリオ" panose="020B0604030504040204" pitchFamily="50" charset="-128"/>
                <a:ea typeface="メイリオ" panose="020B0604030504040204" pitchFamily="50" charset="-128"/>
              </a:rPr>
              <a:t>（</a:t>
            </a:r>
            <a:r>
              <a:rPr lang="en-US" altLang="ja-JP" sz="1100" b="1" dirty="0">
                <a:latin typeface="メイリオ" panose="020B0604030504040204" pitchFamily="50" charset="-128"/>
                <a:ea typeface="メイリオ" panose="020B0604030504040204" pitchFamily="50" charset="-128"/>
              </a:rPr>
              <a:t>20</a:t>
            </a:r>
            <a:r>
              <a:rPr lang="ja-JP" altLang="en-US" sz="1100" b="1" dirty="0">
                <a:latin typeface="メイリオ" panose="020B0604030504040204" pitchFamily="50" charset="-128"/>
                <a:ea typeface="メイリオ" panose="020B0604030504040204" pitchFamily="50" charset="-128"/>
              </a:rPr>
              <a:t>万円 </a:t>
            </a:r>
            <a:r>
              <a:rPr lang="en-US" altLang="ja-JP" sz="1100" b="1" dirty="0">
                <a:latin typeface="メイリオ" panose="020B0604030504040204" pitchFamily="50" charset="-128"/>
                <a:ea typeface="メイリオ" panose="020B0604030504040204" pitchFamily="50" charset="-128"/>
              </a:rPr>
              <a:t>/ </a:t>
            </a:r>
            <a:r>
              <a:rPr lang="ja-JP" altLang="en-US" sz="1100" b="1" dirty="0">
                <a:latin typeface="メイリオ" panose="020B0604030504040204" pitchFamily="50" charset="-128"/>
                <a:ea typeface="メイリオ" panose="020B0604030504040204" pitchFamily="50" charset="-128"/>
              </a:rPr>
              <a:t>回 </a:t>
            </a:r>
            <a:r>
              <a:rPr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a:t>
            </a:r>
            <a:endParaRPr lang="ja-JP" altLang="en-US" sz="1100" b="1" dirty="0"/>
          </a:p>
        </p:txBody>
      </p:sp>
      <p:sp>
        <p:nvSpPr>
          <p:cNvPr id="56" name="テキスト ボックス 55">
            <a:extLst>
              <a:ext uri="{FF2B5EF4-FFF2-40B4-BE49-F238E27FC236}">
                <a16:creationId xmlns:a16="http://schemas.microsoft.com/office/drawing/2014/main" id="{534CDE64-DD2C-7385-C303-9764D54CA0B3}"/>
              </a:ext>
            </a:extLst>
          </p:cNvPr>
          <p:cNvSpPr txBox="1"/>
          <p:nvPr/>
        </p:nvSpPr>
        <p:spPr>
          <a:xfrm>
            <a:off x="5166710" y="5886611"/>
            <a:ext cx="4358893" cy="261610"/>
          </a:xfrm>
          <a:prstGeom prst="rect">
            <a:avLst/>
          </a:prstGeom>
          <a:noFill/>
        </p:spPr>
        <p:txBody>
          <a:bodyPr wrap="square">
            <a:spAutoFit/>
          </a:bodyPr>
          <a:lstStyle/>
          <a:p>
            <a:r>
              <a:rPr lang="ja-JP" altLang="en-US" sz="1100" dirty="0">
                <a:latin typeface="メイリオ" panose="020B0604030504040204" pitchFamily="50" charset="-128"/>
                <a:ea typeface="メイリオ" panose="020B0604030504040204" pitchFamily="50" charset="-128"/>
              </a:rPr>
              <a:t>開発・実装費用</a:t>
            </a:r>
            <a:r>
              <a:rPr lang="ja-JP" altLang="en-US" sz="1100" b="1" dirty="0">
                <a:latin typeface="メイリオ" panose="020B0604030504040204" pitchFamily="50" charset="-128"/>
                <a:ea typeface="メイリオ" panose="020B0604030504040204" pitchFamily="50" charset="-128"/>
              </a:rPr>
              <a:t>（</a:t>
            </a:r>
            <a:r>
              <a:rPr lang="en-US" altLang="ja-JP" sz="1100" b="1" dirty="0">
                <a:latin typeface="メイリオ" panose="020B0604030504040204" pitchFamily="50" charset="-128"/>
                <a:ea typeface="メイリオ" panose="020B0604030504040204" pitchFamily="50" charset="-128"/>
              </a:rPr>
              <a:t>30</a:t>
            </a:r>
            <a:r>
              <a:rPr lang="ja-JP" altLang="en-US" sz="1100" b="1" dirty="0">
                <a:latin typeface="メイリオ" panose="020B0604030504040204" pitchFamily="50" charset="-128"/>
                <a:ea typeface="メイリオ" panose="020B0604030504040204" pitchFamily="50" charset="-128"/>
              </a:rPr>
              <a:t>万円 </a:t>
            </a:r>
            <a:r>
              <a:rPr lang="en-US" altLang="ja-JP" sz="1100" b="1" dirty="0">
                <a:latin typeface="メイリオ" panose="020B0604030504040204" pitchFamily="50" charset="-128"/>
                <a:ea typeface="メイリオ" panose="020B0604030504040204" pitchFamily="50" charset="-128"/>
              </a:rPr>
              <a:t>/ </a:t>
            </a:r>
            <a:r>
              <a:rPr lang="ja-JP" altLang="en-US" sz="1100" b="1" dirty="0">
                <a:latin typeface="メイリオ" panose="020B0604030504040204" pitchFamily="50" charset="-128"/>
                <a:ea typeface="メイリオ" panose="020B0604030504040204" pitchFamily="50" charset="-128"/>
              </a:rPr>
              <a:t>回 </a:t>
            </a:r>
            <a:r>
              <a:rPr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a:t>
            </a:r>
            <a:endParaRPr lang="ja-JP" altLang="en-US" sz="1100" b="1" dirty="0"/>
          </a:p>
        </p:txBody>
      </p:sp>
      <p:sp>
        <p:nvSpPr>
          <p:cNvPr id="57" name="テキスト ボックス 56">
            <a:extLst>
              <a:ext uri="{FF2B5EF4-FFF2-40B4-BE49-F238E27FC236}">
                <a16:creationId xmlns:a16="http://schemas.microsoft.com/office/drawing/2014/main" id="{A5839810-49E5-9459-649C-C5CE9BBE0501}"/>
              </a:ext>
            </a:extLst>
          </p:cNvPr>
          <p:cNvSpPr txBox="1"/>
          <p:nvPr/>
        </p:nvSpPr>
        <p:spPr>
          <a:xfrm>
            <a:off x="5160116" y="6154374"/>
            <a:ext cx="4358893" cy="261610"/>
          </a:xfrm>
          <a:prstGeom prst="rect">
            <a:avLst/>
          </a:prstGeom>
          <a:noFill/>
        </p:spPr>
        <p:txBody>
          <a:bodyPr wrap="square">
            <a:spAutoFit/>
          </a:bodyPr>
          <a:lstStyle/>
          <a:p>
            <a:r>
              <a:rPr lang="ja-JP" altLang="en-US" sz="1100" dirty="0">
                <a:latin typeface="メイリオ" panose="020B0604030504040204" pitchFamily="50" charset="-128"/>
                <a:ea typeface="メイリオ" panose="020B0604030504040204" pitchFamily="50" charset="-128"/>
              </a:rPr>
              <a:t>クリエイティブ制作費用</a:t>
            </a:r>
            <a:r>
              <a:rPr lang="ja-JP" altLang="en-US" sz="1100" b="1" dirty="0">
                <a:latin typeface="メイリオ" panose="020B0604030504040204" pitchFamily="50" charset="-128"/>
                <a:ea typeface="メイリオ" panose="020B0604030504040204" pitchFamily="50" charset="-128"/>
              </a:rPr>
              <a:t>（</a:t>
            </a:r>
            <a:r>
              <a:rPr lang="en-US" altLang="ja-JP" sz="1100" b="1" dirty="0">
                <a:latin typeface="メイリオ" panose="020B0604030504040204" pitchFamily="50" charset="-128"/>
                <a:ea typeface="メイリオ" panose="020B0604030504040204" pitchFamily="50" charset="-128"/>
              </a:rPr>
              <a:t>5</a:t>
            </a:r>
            <a:r>
              <a:rPr lang="ja-JP" altLang="en-US" sz="1100" b="1" dirty="0">
                <a:latin typeface="メイリオ" panose="020B0604030504040204" pitchFamily="50" charset="-128"/>
                <a:ea typeface="メイリオ" panose="020B0604030504040204" pitchFamily="50" charset="-128"/>
              </a:rPr>
              <a:t>万円 </a:t>
            </a:r>
            <a:r>
              <a:rPr lang="en-US" altLang="ja-JP" sz="1100" b="1" dirty="0">
                <a:latin typeface="メイリオ" panose="020B0604030504040204" pitchFamily="50" charset="-128"/>
                <a:ea typeface="メイリオ" panose="020B0604030504040204" pitchFamily="50" charset="-128"/>
              </a:rPr>
              <a:t>/ </a:t>
            </a:r>
            <a:r>
              <a:rPr lang="ja-JP" altLang="en-US" sz="1100" b="1" dirty="0">
                <a:latin typeface="メイリオ" panose="020B0604030504040204" pitchFamily="50" charset="-128"/>
                <a:ea typeface="メイリオ" panose="020B0604030504040204" pitchFamily="50" charset="-128"/>
              </a:rPr>
              <a:t>月 </a:t>
            </a:r>
            <a:r>
              <a:rPr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a:t>
            </a:r>
            <a:endParaRPr lang="ja-JP" altLang="en-US" sz="1100" b="1" dirty="0"/>
          </a:p>
        </p:txBody>
      </p:sp>
      <p:sp>
        <p:nvSpPr>
          <p:cNvPr id="58" name="テキスト ボックス 57">
            <a:extLst>
              <a:ext uri="{FF2B5EF4-FFF2-40B4-BE49-F238E27FC236}">
                <a16:creationId xmlns:a16="http://schemas.microsoft.com/office/drawing/2014/main" id="{A2340A02-3B55-DEE6-FE6F-EF9664598B26}"/>
              </a:ext>
            </a:extLst>
          </p:cNvPr>
          <p:cNvSpPr txBox="1"/>
          <p:nvPr/>
        </p:nvSpPr>
        <p:spPr>
          <a:xfrm>
            <a:off x="453927" y="5515342"/>
            <a:ext cx="4490972" cy="261610"/>
          </a:xfrm>
          <a:prstGeom prst="rect">
            <a:avLst/>
          </a:prstGeom>
          <a:noFill/>
        </p:spPr>
        <p:txBody>
          <a:bodyPr wrap="square">
            <a:spAutoFit/>
          </a:bodyPr>
          <a:lstStyle/>
          <a:p>
            <a:r>
              <a:rPr lang="ja-JP" altLang="en-US" sz="1100" dirty="0">
                <a:latin typeface="メイリオ" panose="020B0604030504040204" pitchFamily="50" charset="-128"/>
                <a:ea typeface="メイリオ" panose="020B0604030504040204" pitchFamily="50" charset="-128"/>
              </a:rPr>
              <a:t>業界特化型の</a:t>
            </a:r>
            <a:r>
              <a:rPr lang="en-US" altLang="ja-JP" sz="1100" dirty="0">
                <a:latin typeface="メイリオ" panose="020B0604030504040204" pitchFamily="50" charset="-128"/>
                <a:ea typeface="メイリオ" panose="020B0604030504040204" pitchFamily="50" charset="-128"/>
              </a:rPr>
              <a:t>API</a:t>
            </a:r>
            <a:r>
              <a:rPr lang="ja-JP" altLang="en-US" sz="1100" dirty="0">
                <a:latin typeface="メイリオ" panose="020B0604030504040204" pitchFamily="50" charset="-128"/>
                <a:ea typeface="メイリオ" panose="020B0604030504040204" pitchFamily="50" charset="-128"/>
              </a:rPr>
              <a:t>ツール導入</a:t>
            </a:r>
            <a:r>
              <a:rPr lang="ja-JP" altLang="en-US" sz="1100" b="1" dirty="0">
                <a:latin typeface="メイリオ" panose="020B0604030504040204" pitchFamily="50" charset="-128"/>
                <a:ea typeface="メイリオ" panose="020B0604030504040204" pitchFamily="50" charset="-128"/>
              </a:rPr>
              <a:t>（初期 </a:t>
            </a:r>
            <a:r>
              <a:rPr lang="en-US" altLang="ja-JP" sz="1100" b="1" dirty="0">
                <a:latin typeface="メイリオ" panose="020B0604030504040204" pitchFamily="50" charset="-128"/>
                <a:ea typeface="メイリオ" panose="020B0604030504040204" pitchFamily="50" charset="-128"/>
              </a:rPr>
              <a:t>30</a:t>
            </a:r>
            <a:r>
              <a:rPr lang="ja-JP" altLang="en-US" sz="1100" b="1" dirty="0">
                <a:latin typeface="メイリオ" panose="020B0604030504040204" pitchFamily="50" charset="-128"/>
                <a:ea typeface="メイリオ" panose="020B0604030504040204" pitchFamily="50" charset="-128"/>
              </a:rPr>
              <a:t>万円</a:t>
            </a:r>
            <a:r>
              <a:rPr lang="en-US" altLang="ja-JP" sz="1100" b="1" dirty="0">
                <a:latin typeface="メイリオ" panose="020B0604030504040204" pitchFamily="50" charset="-128"/>
                <a:ea typeface="メイリオ" panose="020B0604030504040204" pitchFamily="50" charset="-128"/>
              </a:rPr>
              <a:t>~ / </a:t>
            </a:r>
            <a:r>
              <a:rPr lang="ja-JP" altLang="en-US" sz="1100" b="1" dirty="0">
                <a:latin typeface="メイリオ" panose="020B0604030504040204" pitchFamily="50" charset="-128"/>
                <a:ea typeface="メイリオ" panose="020B0604030504040204" pitchFamily="50" charset="-128"/>
              </a:rPr>
              <a:t>月額 </a:t>
            </a:r>
            <a:r>
              <a:rPr lang="en-US" altLang="ja-JP" sz="1100" b="1" dirty="0">
                <a:latin typeface="メイリオ" panose="020B0604030504040204" pitchFamily="50" charset="-128"/>
                <a:ea typeface="メイリオ" panose="020B0604030504040204" pitchFamily="50" charset="-128"/>
              </a:rPr>
              <a:t>20</a:t>
            </a:r>
            <a:r>
              <a:rPr lang="ja-JP" altLang="en-US" sz="1100" b="1" dirty="0">
                <a:latin typeface="メイリオ" panose="020B0604030504040204" pitchFamily="50" charset="-128"/>
                <a:ea typeface="メイリオ" panose="020B0604030504040204" pitchFamily="50" charset="-128"/>
              </a:rPr>
              <a:t>万円</a:t>
            </a:r>
            <a:r>
              <a:rPr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a:t>
            </a:r>
            <a:endParaRPr lang="ja-JP" altLang="en-US" sz="1100" b="1" dirty="0"/>
          </a:p>
        </p:txBody>
      </p:sp>
      <p:sp>
        <p:nvSpPr>
          <p:cNvPr id="59" name="テキスト ボックス 58">
            <a:extLst>
              <a:ext uri="{FF2B5EF4-FFF2-40B4-BE49-F238E27FC236}">
                <a16:creationId xmlns:a16="http://schemas.microsoft.com/office/drawing/2014/main" id="{2B4F27C1-EB31-DBE5-DA0A-648DE9AA6C20}"/>
              </a:ext>
            </a:extLst>
          </p:cNvPr>
          <p:cNvSpPr txBox="1"/>
          <p:nvPr/>
        </p:nvSpPr>
        <p:spPr>
          <a:xfrm>
            <a:off x="453927" y="5907757"/>
            <a:ext cx="4490972" cy="261610"/>
          </a:xfrm>
          <a:prstGeom prst="rect">
            <a:avLst/>
          </a:prstGeom>
          <a:noFill/>
        </p:spPr>
        <p:txBody>
          <a:bodyPr wrap="square">
            <a:spAutoFit/>
          </a:bodyPr>
          <a:lstStyle/>
          <a:p>
            <a:r>
              <a:rPr lang="ja-JP" altLang="en-US" sz="1100" dirty="0">
                <a:latin typeface="メイリオ" panose="020B0604030504040204" pitchFamily="50" charset="-128"/>
                <a:ea typeface="メイリオ" panose="020B0604030504040204" pitchFamily="50" charset="-128"/>
              </a:rPr>
              <a:t>外部</a:t>
            </a:r>
            <a:r>
              <a:rPr lang="en-US" altLang="ja-JP" sz="1100" dirty="0">
                <a:latin typeface="メイリオ" panose="020B0604030504040204" pitchFamily="50" charset="-128"/>
                <a:ea typeface="メイリオ" panose="020B0604030504040204" pitchFamily="50" charset="-128"/>
              </a:rPr>
              <a:t>CRM</a:t>
            </a:r>
            <a:r>
              <a:rPr lang="ja-JP" altLang="en-US" sz="1100" dirty="0">
                <a:latin typeface="メイリオ" panose="020B0604030504040204" pitchFamily="50" charset="-128"/>
                <a:ea typeface="メイリオ" panose="020B0604030504040204" pitchFamily="50" charset="-128"/>
              </a:rPr>
              <a:t>ツールを利用したセグメント配信</a:t>
            </a:r>
            <a:r>
              <a:rPr lang="ja-JP" altLang="en-US" sz="1100" b="1" dirty="0">
                <a:latin typeface="メイリオ" panose="020B0604030504040204" pitchFamily="50" charset="-128"/>
                <a:ea typeface="メイリオ" panose="020B0604030504040204" pitchFamily="50" charset="-128"/>
              </a:rPr>
              <a:t>（</a:t>
            </a:r>
            <a:r>
              <a:rPr lang="en-US" altLang="ja-JP" sz="1100" b="1" dirty="0">
                <a:latin typeface="メイリオ" panose="020B0604030504040204" pitchFamily="50" charset="-128"/>
                <a:ea typeface="メイリオ" panose="020B0604030504040204" pitchFamily="50" charset="-128"/>
              </a:rPr>
              <a:t>10</a:t>
            </a:r>
            <a:r>
              <a:rPr lang="ja-JP" altLang="en-US" sz="1100" b="1" dirty="0">
                <a:latin typeface="メイリオ" panose="020B0604030504040204" pitchFamily="50" charset="-128"/>
                <a:ea typeface="メイリオ" panose="020B0604030504040204" pitchFamily="50" charset="-128"/>
              </a:rPr>
              <a:t>円～ </a:t>
            </a:r>
            <a:r>
              <a:rPr lang="en-US" altLang="ja-JP" sz="1100" b="1" dirty="0">
                <a:latin typeface="メイリオ" panose="020B0604030504040204" pitchFamily="50" charset="-128"/>
                <a:ea typeface="メイリオ" panose="020B0604030504040204" pitchFamily="50" charset="-128"/>
              </a:rPr>
              <a:t>/ </a:t>
            </a:r>
            <a:r>
              <a:rPr lang="ja-JP" altLang="en-US" sz="1100" b="1" dirty="0">
                <a:latin typeface="メイリオ" panose="020B0604030504040204" pitchFamily="50" charset="-128"/>
                <a:ea typeface="メイリオ" panose="020B0604030504040204" pitchFamily="50" charset="-128"/>
              </a:rPr>
              <a:t>通）</a:t>
            </a:r>
            <a:endParaRPr lang="ja-JP" altLang="en-US" sz="1100" b="1" dirty="0"/>
          </a:p>
        </p:txBody>
      </p:sp>
      <p:sp>
        <p:nvSpPr>
          <p:cNvPr id="60" name="テキスト ボックス 59">
            <a:extLst>
              <a:ext uri="{FF2B5EF4-FFF2-40B4-BE49-F238E27FC236}">
                <a16:creationId xmlns:a16="http://schemas.microsoft.com/office/drawing/2014/main" id="{068DABDD-F9DC-6C5F-1BA0-2E1A986C89DA}"/>
              </a:ext>
            </a:extLst>
          </p:cNvPr>
          <p:cNvSpPr txBox="1"/>
          <p:nvPr/>
        </p:nvSpPr>
        <p:spPr>
          <a:xfrm>
            <a:off x="452503" y="6173866"/>
            <a:ext cx="4490972" cy="261610"/>
          </a:xfrm>
          <a:prstGeom prst="rect">
            <a:avLst/>
          </a:prstGeom>
          <a:noFill/>
        </p:spPr>
        <p:txBody>
          <a:bodyPr wrap="square">
            <a:spAutoFit/>
          </a:bodyPr>
          <a:lstStyle/>
          <a:p>
            <a:r>
              <a:rPr lang="en-US" altLang="ja-JP" sz="1100" dirty="0">
                <a:latin typeface="メイリオ" panose="020B0604030504040204" pitchFamily="50" charset="-128"/>
                <a:ea typeface="メイリオ" panose="020B0604030504040204" pitchFamily="50" charset="-128"/>
              </a:rPr>
              <a:t>LINE</a:t>
            </a:r>
            <a:r>
              <a:rPr lang="ja-JP" altLang="en-US" sz="1100" dirty="0">
                <a:latin typeface="メイリオ" panose="020B0604030504040204" pitchFamily="50" charset="-128"/>
                <a:ea typeface="メイリオ" panose="020B0604030504040204" pitchFamily="50" charset="-128"/>
              </a:rPr>
              <a:t>ログイン導入</a:t>
            </a:r>
            <a:r>
              <a:rPr lang="ja-JP" altLang="en-US" sz="1100" b="1" dirty="0">
                <a:latin typeface="メイリオ" panose="020B0604030504040204" pitchFamily="50" charset="-128"/>
                <a:ea typeface="メイリオ" panose="020B0604030504040204" pitchFamily="50" charset="-128"/>
              </a:rPr>
              <a:t>（初期 </a:t>
            </a:r>
            <a:r>
              <a:rPr lang="en-US" altLang="ja-JP" sz="1100" b="1" dirty="0">
                <a:latin typeface="メイリオ" panose="020B0604030504040204" pitchFamily="50" charset="-128"/>
                <a:ea typeface="メイリオ" panose="020B0604030504040204" pitchFamily="50" charset="-128"/>
              </a:rPr>
              <a:t>10</a:t>
            </a:r>
            <a:r>
              <a:rPr lang="ja-JP" altLang="en-US" sz="1100" b="1" dirty="0">
                <a:latin typeface="メイリオ" panose="020B0604030504040204" pitchFamily="50" charset="-128"/>
                <a:ea typeface="メイリオ" panose="020B0604030504040204" pitchFamily="50" charset="-128"/>
              </a:rPr>
              <a:t>万円</a:t>
            </a:r>
            <a:r>
              <a:rPr lang="en-US" altLang="ja-JP" sz="1100" b="1" dirty="0">
                <a:latin typeface="メイリオ" panose="020B0604030504040204" pitchFamily="50" charset="-128"/>
                <a:ea typeface="メイリオ" panose="020B0604030504040204" pitchFamily="50" charset="-128"/>
              </a:rPr>
              <a:t>~ / </a:t>
            </a:r>
            <a:r>
              <a:rPr lang="ja-JP" altLang="en-US" sz="1100" b="1" dirty="0">
                <a:latin typeface="メイリオ" panose="020B0604030504040204" pitchFamily="50" charset="-128"/>
                <a:ea typeface="メイリオ" panose="020B0604030504040204" pitchFamily="50" charset="-128"/>
              </a:rPr>
              <a:t>月額 </a:t>
            </a:r>
            <a:r>
              <a:rPr lang="en-US" altLang="ja-JP" sz="1100" b="1" dirty="0">
                <a:latin typeface="メイリオ" panose="020B0604030504040204" pitchFamily="50" charset="-128"/>
                <a:ea typeface="メイリオ" panose="020B0604030504040204" pitchFamily="50" charset="-128"/>
              </a:rPr>
              <a:t>5</a:t>
            </a:r>
            <a:r>
              <a:rPr lang="ja-JP" altLang="en-US" sz="1100" b="1" dirty="0">
                <a:latin typeface="メイリオ" panose="020B0604030504040204" pitchFamily="50" charset="-128"/>
                <a:ea typeface="メイリオ" panose="020B0604030504040204" pitchFamily="50" charset="-128"/>
              </a:rPr>
              <a:t>万円</a:t>
            </a:r>
            <a:r>
              <a:rPr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a:t>
            </a:r>
            <a:endParaRPr lang="ja-JP" altLang="en-US" sz="1100" b="1" dirty="0"/>
          </a:p>
        </p:txBody>
      </p:sp>
      <p:pic>
        <p:nvPicPr>
          <p:cNvPr id="2053" name="図 2052" descr="アイコン&#10;&#10;AI 生成コンテンツは誤りを含む可能性があります。">
            <a:extLst>
              <a:ext uri="{FF2B5EF4-FFF2-40B4-BE49-F238E27FC236}">
                <a16:creationId xmlns:a16="http://schemas.microsoft.com/office/drawing/2014/main" id="{45D2599F-DD07-FBB7-CB4E-7FF38D08EC2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58499" y="4118099"/>
            <a:ext cx="530667" cy="530667"/>
          </a:xfrm>
          <a:prstGeom prst="rect">
            <a:avLst/>
          </a:prstGeom>
        </p:spPr>
      </p:pic>
      <p:pic>
        <p:nvPicPr>
          <p:cNvPr id="2056" name="図 2055" descr="アイコン&#10;&#10;AI 生成コンテンツは誤りを含む可能性があります。">
            <a:extLst>
              <a:ext uri="{FF2B5EF4-FFF2-40B4-BE49-F238E27FC236}">
                <a16:creationId xmlns:a16="http://schemas.microsoft.com/office/drawing/2014/main" id="{14F4A368-0C52-1E20-CE90-B84BC8508A4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073802" y="4119733"/>
            <a:ext cx="489299" cy="489299"/>
          </a:xfrm>
          <a:prstGeom prst="rect">
            <a:avLst/>
          </a:prstGeom>
        </p:spPr>
      </p:pic>
      <p:sp>
        <p:nvSpPr>
          <p:cNvPr id="2" name="Google Shape;752;p28">
            <a:extLst>
              <a:ext uri="{FF2B5EF4-FFF2-40B4-BE49-F238E27FC236}">
                <a16:creationId xmlns:a16="http://schemas.microsoft.com/office/drawing/2014/main" id="{F4B42A5D-E279-9392-2C1A-8FFFED867BEE}"/>
              </a:ext>
            </a:extLst>
          </p:cNvPr>
          <p:cNvSpPr txBox="1"/>
          <p:nvPr/>
        </p:nvSpPr>
        <p:spPr>
          <a:xfrm>
            <a:off x="661098" y="716513"/>
            <a:ext cx="8437327"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1400"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公式アカウントの運用における業界平均的な金額感をおまとめ。</a:t>
            </a:r>
            <a:endParaRPr lang="en-US" altLang="ja-JP" sz="1400"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endParaRPr>
          </a:p>
          <a:p>
            <a:pPr lvl="0" algn="ctr"/>
            <a:r>
              <a:rPr lang="ja-JP" altLang="en-US" sz="1400"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配信通数に係る費用に加えて、外注・機能導入に対してもコストが発生する形。</a:t>
            </a:r>
          </a:p>
        </p:txBody>
      </p:sp>
      <p:sp>
        <p:nvSpPr>
          <p:cNvPr id="54" name="正方形/長方形 53">
            <a:extLst>
              <a:ext uri="{FF2B5EF4-FFF2-40B4-BE49-F238E27FC236}">
                <a16:creationId xmlns:a16="http://schemas.microsoft.com/office/drawing/2014/main" id="{5B374BA5-AFD5-5B7A-EC35-D4C4F93D84B0}"/>
              </a:ext>
            </a:extLst>
          </p:cNvPr>
          <p:cNvSpPr/>
          <p:nvPr/>
        </p:nvSpPr>
        <p:spPr>
          <a:xfrm>
            <a:off x="3996942" y="122215"/>
            <a:ext cx="2083719" cy="320757"/>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外注費相場</a:t>
            </a:r>
          </a:p>
        </p:txBody>
      </p:sp>
      <p:sp>
        <p:nvSpPr>
          <p:cNvPr id="3" name="テキスト ボックス 2">
            <a:extLst>
              <a:ext uri="{FF2B5EF4-FFF2-40B4-BE49-F238E27FC236}">
                <a16:creationId xmlns:a16="http://schemas.microsoft.com/office/drawing/2014/main" id="{4004E69C-B6F0-093C-681E-2EE35395C269}"/>
              </a:ext>
            </a:extLst>
          </p:cNvPr>
          <p:cNvSpPr txBox="1"/>
          <p:nvPr/>
        </p:nvSpPr>
        <p:spPr>
          <a:xfrm>
            <a:off x="248130" y="1267859"/>
            <a:ext cx="9424762" cy="5262979"/>
          </a:xfrm>
          <a:prstGeom prst="rect">
            <a:avLst/>
          </a:prstGeom>
          <a:solidFill>
            <a:schemeClr val="bg1">
              <a:alpha val="30000"/>
            </a:schemeClr>
          </a:solidFill>
        </p:spPr>
        <p:txBody>
          <a:bodyPr wrap="square">
            <a:spAutoFit/>
          </a:bodyPr>
          <a:lstStyle/>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en-US" altLang="ja-JP" sz="1050" b="1" dirty="0">
              <a:latin typeface="メイリオ" panose="020B0604030504040204" pitchFamily="50" charset="-128"/>
              <a:ea typeface="メイリオ" panose="020B0604030504040204" pitchFamily="50" charset="-128"/>
            </a:endParaRPr>
          </a:p>
          <a:p>
            <a:pPr>
              <a:buNone/>
            </a:pPr>
            <a:endParaRPr lang="ja-JP" altLang="ja-JP" sz="105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412688770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計測環境の構築</a:t>
            </a:r>
            <a:endParaRPr kumimoji="1" lang="ja-JP" altLang="en-US" sz="1600" b="1" dirty="0">
              <a:latin typeface="メイリオ" panose="020B0604030504040204" pitchFamily="50" charset="-128"/>
              <a:ea typeface="メイリオ" panose="020B0604030504040204" pitchFamily="50" charset="-128"/>
            </a:endParaRPr>
          </a:p>
        </p:txBody>
      </p:sp>
      <p:cxnSp>
        <p:nvCxnSpPr>
          <p:cNvPr id="5" name="直線コネクタ 4"/>
          <p:cNvCxnSpPr/>
          <p:nvPr/>
        </p:nvCxnSpPr>
        <p:spPr>
          <a:xfrm>
            <a:off x="466638" y="1802924"/>
            <a:ext cx="8987082"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Google Shape;156;p7"/>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7" name="正方形/長方形 6"/>
          <p:cNvSpPr/>
          <p:nvPr/>
        </p:nvSpPr>
        <p:spPr>
          <a:xfrm>
            <a:off x="390709" y="1971785"/>
            <a:ext cx="8988624" cy="27778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200" b="1" dirty="0">
                <a:latin typeface="メイリオ" panose="020B0604030504040204" pitchFamily="50" charset="-128"/>
                <a:ea typeface="メイリオ" panose="020B0604030504040204" pitchFamily="50" charset="-128"/>
              </a:rPr>
              <a:t>設定イメージ</a:t>
            </a:r>
            <a:endParaRPr kumimoji="1" lang="ja-JP" altLang="en-US" sz="1200" b="1" dirty="0">
              <a:latin typeface="メイリオ" panose="020B0604030504040204" pitchFamily="50" charset="-128"/>
              <a:ea typeface="メイリオ" panose="020B0604030504040204" pitchFamily="50" charset="-128"/>
            </a:endParaRPr>
          </a:p>
        </p:txBody>
      </p:sp>
      <p:graphicFrame>
        <p:nvGraphicFramePr>
          <p:cNvPr id="8" name="表 7"/>
          <p:cNvGraphicFramePr>
            <a:graphicFrameLocks noGrp="1"/>
          </p:cNvGraphicFramePr>
          <p:nvPr/>
        </p:nvGraphicFramePr>
        <p:xfrm>
          <a:off x="394861" y="2273528"/>
          <a:ext cx="8988618" cy="1631076"/>
        </p:xfrm>
        <a:graphic>
          <a:graphicData uri="http://schemas.openxmlformats.org/drawingml/2006/table">
            <a:tbl>
              <a:tblPr/>
              <a:tblGrid>
                <a:gridCol w="616271">
                  <a:extLst>
                    <a:ext uri="{9D8B030D-6E8A-4147-A177-3AD203B41FA5}">
                      <a16:colId xmlns:a16="http://schemas.microsoft.com/office/drawing/2014/main" val="1670584577"/>
                    </a:ext>
                  </a:extLst>
                </a:gridCol>
                <a:gridCol w="584117">
                  <a:extLst>
                    <a:ext uri="{9D8B030D-6E8A-4147-A177-3AD203B41FA5}">
                      <a16:colId xmlns:a16="http://schemas.microsoft.com/office/drawing/2014/main" val="783239229"/>
                    </a:ext>
                  </a:extLst>
                </a:gridCol>
                <a:gridCol w="594835">
                  <a:extLst>
                    <a:ext uri="{9D8B030D-6E8A-4147-A177-3AD203B41FA5}">
                      <a16:colId xmlns:a16="http://schemas.microsoft.com/office/drawing/2014/main" val="2882545821"/>
                    </a:ext>
                  </a:extLst>
                </a:gridCol>
                <a:gridCol w="594835">
                  <a:extLst>
                    <a:ext uri="{9D8B030D-6E8A-4147-A177-3AD203B41FA5}">
                      <a16:colId xmlns:a16="http://schemas.microsoft.com/office/drawing/2014/main" val="1085754342"/>
                    </a:ext>
                  </a:extLst>
                </a:gridCol>
                <a:gridCol w="594835">
                  <a:extLst>
                    <a:ext uri="{9D8B030D-6E8A-4147-A177-3AD203B41FA5}">
                      <a16:colId xmlns:a16="http://schemas.microsoft.com/office/drawing/2014/main" val="3609874806"/>
                    </a:ext>
                  </a:extLst>
                </a:gridCol>
                <a:gridCol w="594835">
                  <a:extLst>
                    <a:ext uri="{9D8B030D-6E8A-4147-A177-3AD203B41FA5}">
                      <a16:colId xmlns:a16="http://schemas.microsoft.com/office/drawing/2014/main" val="1613786001"/>
                    </a:ext>
                  </a:extLst>
                </a:gridCol>
                <a:gridCol w="594835">
                  <a:extLst>
                    <a:ext uri="{9D8B030D-6E8A-4147-A177-3AD203B41FA5}">
                      <a16:colId xmlns:a16="http://schemas.microsoft.com/office/drawing/2014/main" val="2234954468"/>
                    </a:ext>
                  </a:extLst>
                </a:gridCol>
                <a:gridCol w="594835">
                  <a:extLst>
                    <a:ext uri="{9D8B030D-6E8A-4147-A177-3AD203B41FA5}">
                      <a16:colId xmlns:a16="http://schemas.microsoft.com/office/drawing/2014/main" val="1983969397"/>
                    </a:ext>
                  </a:extLst>
                </a:gridCol>
                <a:gridCol w="594835">
                  <a:extLst>
                    <a:ext uri="{9D8B030D-6E8A-4147-A177-3AD203B41FA5}">
                      <a16:colId xmlns:a16="http://schemas.microsoft.com/office/drawing/2014/main" val="38530890"/>
                    </a:ext>
                  </a:extLst>
                </a:gridCol>
                <a:gridCol w="594835">
                  <a:extLst>
                    <a:ext uri="{9D8B030D-6E8A-4147-A177-3AD203B41FA5}">
                      <a16:colId xmlns:a16="http://schemas.microsoft.com/office/drawing/2014/main" val="4265005170"/>
                    </a:ext>
                  </a:extLst>
                </a:gridCol>
                <a:gridCol w="594835">
                  <a:extLst>
                    <a:ext uri="{9D8B030D-6E8A-4147-A177-3AD203B41FA5}">
                      <a16:colId xmlns:a16="http://schemas.microsoft.com/office/drawing/2014/main" val="2342412426"/>
                    </a:ext>
                  </a:extLst>
                </a:gridCol>
                <a:gridCol w="594835">
                  <a:extLst>
                    <a:ext uri="{9D8B030D-6E8A-4147-A177-3AD203B41FA5}">
                      <a16:colId xmlns:a16="http://schemas.microsoft.com/office/drawing/2014/main" val="1958758615"/>
                    </a:ext>
                  </a:extLst>
                </a:gridCol>
                <a:gridCol w="650210">
                  <a:extLst>
                    <a:ext uri="{9D8B030D-6E8A-4147-A177-3AD203B41FA5}">
                      <a16:colId xmlns:a16="http://schemas.microsoft.com/office/drawing/2014/main" val="3616243268"/>
                    </a:ext>
                  </a:extLst>
                </a:gridCol>
                <a:gridCol w="594835">
                  <a:extLst>
                    <a:ext uri="{9D8B030D-6E8A-4147-A177-3AD203B41FA5}">
                      <a16:colId xmlns:a16="http://schemas.microsoft.com/office/drawing/2014/main" val="689028932"/>
                    </a:ext>
                  </a:extLst>
                </a:gridCol>
                <a:gridCol w="594835">
                  <a:extLst>
                    <a:ext uri="{9D8B030D-6E8A-4147-A177-3AD203B41FA5}">
                      <a16:colId xmlns:a16="http://schemas.microsoft.com/office/drawing/2014/main" val="3105858647"/>
                    </a:ext>
                  </a:extLst>
                </a:gridCol>
              </a:tblGrid>
              <a:tr h="135923">
                <a:tc gridSpan="2">
                  <a:txBody>
                    <a:bodyPr/>
                    <a:lstStyle/>
                    <a:p>
                      <a:pPr algn="l" fontAlgn="ctr"/>
                      <a:r>
                        <a:rPr lang="ja-JP" altLang="en-US" sz="600" b="1" i="0" u="none" strike="noStrike">
                          <a:solidFill>
                            <a:srgbClr val="000000"/>
                          </a:solidFill>
                          <a:effectLst/>
                          <a:latin typeface="メイリオ" panose="020B0604030504040204" pitchFamily="50" charset="-128"/>
                          <a:ea typeface="メイリオ" panose="020B0604030504040204" pitchFamily="50" charset="-128"/>
                        </a:rPr>
                        <a:t>■月間の</a:t>
                      </a: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KPI</a:t>
                      </a:r>
                      <a:r>
                        <a:rPr lang="ja-JP" altLang="en-US" sz="600" b="1" i="0" u="none" strike="noStrike">
                          <a:solidFill>
                            <a:srgbClr val="000000"/>
                          </a:solidFill>
                          <a:effectLst/>
                          <a:latin typeface="メイリオ" panose="020B0604030504040204" pitchFamily="50" charset="-128"/>
                          <a:ea typeface="メイリオ" panose="020B0604030504040204" pitchFamily="50" charset="-128"/>
                        </a:rPr>
                        <a:t>（ご提案時）</a:t>
                      </a:r>
                    </a:p>
                  </a:txBody>
                  <a:tcPr marL="5106" marR="5106" marT="5106" marB="0" anchor="ctr">
                    <a:lnL>
                      <a:noFill/>
                    </a:lnL>
                    <a:lnR>
                      <a:noFill/>
                    </a:lnR>
                    <a:lnT>
                      <a:noFill/>
                    </a:lnT>
                    <a:lnB>
                      <a:noFill/>
                    </a:lnB>
                  </a:tcPr>
                </a:tc>
                <a:tc hMerge="1">
                  <a:txBody>
                    <a:bodyPr/>
                    <a:lstStyle/>
                    <a:p>
                      <a:endParaRPr kumimoji="1" lang="ja-JP" altLang="en-US"/>
                    </a:p>
                  </a:txBody>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extLst>
                  <a:ext uri="{0D108BD9-81ED-4DB2-BD59-A6C34878D82A}">
                    <a16:rowId xmlns:a16="http://schemas.microsoft.com/office/drawing/2014/main" val="759026655"/>
                  </a:ext>
                </a:extLst>
              </a:tr>
              <a:tr h="135923">
                <a:tc>
                  <a:txBody>
                    <a:bodyPr/>
                    <a:lstStyle/>
                    <a:p>
                      <a:pPr algn="ctr" fontAlgn="ctr"/>
                      <a:r>
                        <a:rPr lang="ja-JP" altLang="en-US" sz="600" b="1" i="0" u="none" strike="noStrike" dirty="0">
                          <a:solidFill>
                            <a:srgbClr val="FFFFFF"/>
                          </a:solidFill>
                          <a:effectLst/>
                          <a:latin typeface="メイリオ" panose="020B0604030504040204" pitchFamily="50" charset="-128"/>
                          <a:ea typeface="メイリオ" panose="020B0604030504040204" pitchFamily="50" charset="-128"/>
                        </a:rPr>
                        <a:t>期間</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友だち数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ブロック率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コスト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配信メッセ数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開封率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クリック率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その他流入</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流入単価</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GA_CV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CV_</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 </a:t>
                      </a:r>
                      <a:r>
                        <a:rPr lang="en-US" altLang="ja-JP" sz="600" b="1" i="0" u="none" strike="noStrike">
                          <a:solidFill>
                            <a:srgbClr val="FFFFFF"/>
                          </a:solidFill>
                          <a:effectLst/>
                          <a:latin typeface="メイリオ" panose="020B0604030504040204" pitchFamily="50" charset="-128"/>
                          <a:ea typeface="メイリオ" panose="020B0604030504040204" pitchFamily="50" charset="-128"/>
                        </a:rPr>
                        <a:t>※</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仮</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3A3838"/>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CPA</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extLst>
                  <a:ext uri="{0D108BD9-81ED-4DB2-BD59-A6C34878D82A}">
                    <a16:rowId xmlns:a16="http://schemas.microsoft.com/office/drawing/2014/main" val="2732671633"/>
                  </a:ext>
                </a:extLst>
              </a:tr>
              <a:tr h="135923">
                <a:tc>
                  <a:txBody>
                    <a:bodyPr/>
                    <a:lstStyle/>
                    <a:p>
                      <a:pPr algn="ctr" fontAlgn="ctr"/>
                      <a:r>
                        <a:rPr lang="ja-JP" altLang="en-US" sz="600" b="0" i="0" u="none" strike="noStrike">
                          <a:solidFill>
                            <a:srgbClr val="000000"/>
                          </a:solidFill>
                          <a:effectLst/>
                          <a:latin typeface="メイリオ" panose="020B0604030504040204" pitchFamily="50" charset="-128"/>
                          <a:ea typeface="メイリオ" panose="020B0604030504040204" pitchFamily="50" charset="-128"/>
                        </a:rPr>
                        <a:t>ご提案時</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ja-JP" altLang="en-US" sz="600" b="0" i="0" u="none" strike="noStrike">
                          <a:solidFill>
                            <a:srgbClr val="000000"/>
                          </a:solidFill>
                          <a:effectLst/>
                          <a:latin typeface="メイリオ" panose="020B0604030504040204" pitchFamily="50" charset="-128"/>
                          <a:ea typeface="メイリオ" panose="020B0604030504040204" pitchFamily="50" charset="-128"/>
                        </a:rPr>
                        <a:t>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2,200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647146513"/>
                  </a:ext>
                </a:extLst>
              </a:tr>
              <a:tr h="135923">
                <a:tc gridSpan="2">
                  <a:txBody>
                    <a:bodyPr/>
                    <a:lstStyle/>
                    <a:p>
                      <a:pPr algn="l" fontAlgn="ctr"/>
                      <a:r>
                        <a:rPr lang="ja-JP" altLang="en-US" sz="600" b="1" i="0" u="none" strike="noStrike" dirty="0">
                          <a:solidFill>
                            <a:srgbClr val="000000"/>
                          </a:solidFill>
                          <a:effectLst/>
                          <a:latin typeface="メイリオ" panose="020B0604030504040204" pitchFamily="50" charset="-128"/>
                          <a:ea typeface="メイリオ" panose="020B0604030504040204" pitchFamily="50" charset="-128"/>
                        </a:rPr>
                        <a:t>■月次データ（概要）</a:t>
                      </a: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hMerge="1">
                  <a:txBody>
                    <a:bodyPr/>
                    <a:lstStyle/>
                    <a:p>
                      <a:endParaRPr kumimoji="1" lang="ja-JP" altLang="en-US"/>
                    </a:p>
                  </a:txBody>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extLst>
                  <a:ext uri="{0D108BD9-81ED-4DB2-BD59-A6C34878D82A}">
                    <a16:rowId xmlns:a16="http://schemas.microsoft.com/office/drawing/2014/main" val="2623514694"/>
                  </a:ext>
                </a:extLst>
              </a:tr>
              <a:tr h="135923">
                <a:tc>
                  <a:txBody>
                    <a:bodyPr/>
                    <a:lstStyle/>
                    <a:p>
                      <a:pPr algn="ctr" fontAlgn="ctr"/>
                      <a:r>
                        <a:rPr lang="ja-JP" altLang="en-US" sz="600" b="1" i="0" u="none" strike="noStrike" dirty="0">
                          <a:solidFill>
                            <a:srgbClr val="FFFFFF"/>
                          </a:solidFill>
                          <a:effectLst/>
                          <a:latin typeface="メイリオ" panose="020B0604030504040204" pitchFamily="50" charset="-128"/>
                          <a:ea typeface="メイリオ" panose="020B0604030504040204" pitchFamily="50" charset="-128"/>
                        </a:rPr>
                        <a:t>期間</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変換用</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友だち数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ブロック率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コスト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配信メッセ数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開封率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クリック率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その他流入</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流入単価</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GA_CV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F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CV_</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 </a:t>
                      </a:r>
                      <a:r>
                        <a:rPr lang="en-US" altLang="ja-JP" sz="600" b="1" i="0" u="none" strike="noStrike">
                          <a:solidFill>
                            <a:srgbClr val="FFFFFF"/>
                          </a:solidFill>
                          <a:effectLst/>
                          <a:latin typeface="メイリオ" panose="020B0604030504040204" pitchFamily="50" charset="-128"/>
                          <a:ea typeface="メイリオ" panose="020B0604030504040204" pitchFamily="50" charset="-128"/>
                        </a:rPr>
                        <a:t>※</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仮</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3A3838"/>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CPA</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extLst>
                  <a:ext uri="{0D108BD9-81ED-4DB2-BD59-A6C34878D82A}">
                    <a16:rowId xmlns:a16="http://schemas.microsoft.com/office/drawing/2014/main" val="2368346719"/>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2025/1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20250101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184,548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22,901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77.0%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¥659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32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¥14,063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018188146"/>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20241201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181,780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82,916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47.8%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1,865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22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¥20,455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242232307"/>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20241101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179,053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53,464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57.7%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¥28,125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491418966"/>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20241001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176,367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82,279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53.2%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1,868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¥37,500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705770834"/>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20240901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173,722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24,240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617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¥1,159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¥40,909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2777529875"/>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20240801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171,116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39,665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86.0%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1,064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¥699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¥45,000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532772668"/>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20240701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168,549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74,478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44.6%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1,321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dirty="0">
                          <a:solidFill>
                            <a:srgbClr val="FF0000"/>
                          </a:solidFill>
                          <a:effectLst/>
                          <a:latin typeface="メイリオ" panose="020B0604030504040204" pitchFamily="50" charset="-128"/>
                          <a:ea typeface="メイリオ" panose="020B0604030504040204" pitchFamily="50" charset="-128"/>
                        </a:rPr>
                        <a:t>¥56,250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1526691278"/>
                  </a:ext>
                </a:extLst>
              </a:tr>
            </a:tbl>
          </a:graphicData>
        </a:graphic>
      </p:graphicFrame>
      <p:sp>
        <p:nvSpPr>
          <p:cNvPr id="9" name="正方形/長方形 8"/>
          <p:cNvSpPr/>
          <p:nvPr/>
        </p:nvSpPr>
        <p:spPr>
          <a:xfrm>
            <a:off x="5164183" y="2352739"/>
            <a:ext cx="4219296" cy="1762616"/>
          </a:xfrm>
          <a:prstGeom prst="rect">
            <a:avLst/>
          </a:prstGeom>
          <a:noFill/>
          <a:ln>
            <a:solidFill>
              <a:schemeClr val="tx2">
                <a:alpha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p:cNvSpPr/>
          <p:nvPr/>
        </p:nvSpPr>
        <p:spPr>
          <a:xfrm>
            <a:off x="7192964" y="3902953"/>
            <a:ext cx="2206519" cy="209848"/>
          </a:xfrm>
          <a:prstGeom prst="rect">
            <a:avLst/>
          </a:prstGeom>
        </p:spPr>
        <p:txBody>
          <a:bodyPr wrap="none">
            <a:spAutoFit/>
          </a:bodyPr>
          <a:lstStyle/>
          <a:p>
            <a:r>
              <a:rPr lang="en-US" altLang="ja-JP" sz="1050" b="1" dirty="0">
                <a:solidFill>
                  <a:schemeClr val="tx1">
                    <a:lumMod val="65000"/>
                    <a:lumOff val="35000"/>
                  </a:schemeClr>
                </a:solidFill>
                <a:latin typeface="Meiryo"/>
                <a:ea typeface="Meiryo"/>
                <a:cs typeface="Meiryo"/>
                <a:sym typeface="Meiryo"/>
              </a:rPr>
              <a:t>GA</a:t>
            </a:r>
            <a:r>
              <a:rPr lang="ja-JP" altLang="en-US" sz="1050" b="1" dirty="0">
                <a:solidFill>
                  <a:schemeClr val="tx1">
                    <a:lumMod val="65000"/>
                    <a:lumOff val="35000"/>
                  </a:schemeClr>
                </a:solidFill>
                <a:latin typeface="Meiryo"/>
                <a:ea typeface="Meiryo"/>
                <a:cs typeface="Meiryo"/>
                <a:sym typeface="Meiryo"/>
              </a:rPr>
              <a:t>管理画面上で計測し、数値反映</a:t>
            </a:r>
            <a:endParaRPr lang="ja-JP" altLang="en-US" sz="1050" dirty="0"/>
          </a:p>
        </p:txBody>
      </p:sp>
      <p:sp>
        <p:nvSpPr>
          <p:cNvPr id="16" name="右矢印 15"/>
          <p:cNvSpPr/>
          <p:nvPr/>
        </p:nvSpPr>
        <p:spPr>
          <a:xfrm>
            <a:off x="4570905" y="4720337"/>
            <a:ext cx="717764" cy="680165"/>
          </a:xfrm>
          <a:prstGeom prst="rightArrow">
            <a:avLst>
              <a:gd name="adj1" fmla="val 65364"/>
              <a:gd name="adj2" fmla="val 5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7" name="図 1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61717" y="4408755"/>
            <a:ext cx="1685243" cy="2001227"/>
          </a:xfrm>
          <a:prstGeom prst="rect">
            <a:avLst/>
          </a:prstGeom>
        </p:spPr>
      </p:pic>
      <p:pic>
        <p:nvPicPr>
          <p:cNvPr id="18" name="図 17"/>
          <p:cNvPicPr>
            <a:picLocks noChangeAspect="1"/>
          </p:cNvPicPr>
          <p:nvPr/>
        </p:nvPicPr>
        <p:blipFill rotWithShape="1">
          <a:blip r:embed="rId4" cstate="print">
            <a:extLst>
              <a:ext uri="{28A0092B-C50C-407E-A947-70E740481C1C}">
                <a14:useLocalDpi xmlns:a14="http://schemas.microsoft.com/office/drawing/2010/main" val="0"/>
              </a:ext>
            </a:extLst>
          </a:blip>
          <a:srcRect r="4805" b="31533"/>
          <a:stretch/>
        </p:blipFill>
        <p:spPr>
          <a:xfrm>
            <a:off x="934688" y="5400502"/>
            <a:ext cx="1403563" cy="1009480"/>
          </a:xfrm>
          <a:prstGeom prst="rect">
            <a:avLst/>
          </a:prstGeom>
        </p:spPr>
      </p:pic>
      <p:pic>
        <p:nvPicPr>
          <p:cNvPr id="19" name="図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486163" y="4408755"/>
            <a:ext cx="1685243" cy="2001227"/>
          </a:xfrm>
          <a:prstGeom prst="rect">
            <a:avLst/>
          </a:prstGeom>
        </p:spPr>
      </p:pic>
      <p:pic>
        <p:nvPicPr>
          <p:cNvPr id="21" name="図 20"/>
          <p:cNvPicPr>
            <a:picLocks noChangeAspect="1"/>
          </p:cNvPicPr>
          <p:nvPr/>
        </p:nvPicPr>
        <p:blipFill>
          <a:blip r:embed="rId5"/>
          <a:stretch>
            <a:fillRect/>
          </a:stretch>
        </p:blipFill>
        <p:spPr>
          <a:xfrm>
            <a:off x="5535676" y="4826463"/>
            <a:ext cx="1309023" cy="542766"/>
          </a:xfrm>
          <a:prstGeom prst="rect">
            <a:avLst/>
          </a:prstGeom>
        </p:spPr>
      </p:pic>
      <p:sp>
        <p:nvSpPr>
          <p:cNvPr id="22" name="楕円 21"/>
          <p:cNvSpPr/>
          <p:nvPr/>
        </p:nvSpPr>
        <p:spPr>
          <a:xfrm>
            <a:off x="7644705" y="5440910"/>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売上</a:t>
            </a:r>
          </a:p>
        </p:txBody>
      </p:sp>
      <p:sp>
        <p:nvSpPr>
          <p:cNvPr id="24" name="楕円 23"/>
          <p:cNvSpPr/>
          <p:nvPr/>
        </p:nvSpPr>
        <p:spPr>
          <a:xfrm>
            <a:off x="6613630" y="5424347"/>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CV</a:t>
            </a:r>
            <a:endParaRPr kumimoji="1" lang="ja-JP" altLang="en-US"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5" name="楕円 24"/>
          <p:cNvSpPr/>
          <p:nvPr/>
        </p:nvSpPr>
        <p:spPr>
          <a:xfrm>
            <a:off x="5459174" y="5424348"/>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有効（</a:t>
            </a:r>
            <a:r>
              <a:rPr lang="en-US" altLang="ja-JP" sz="1100" dirty="0">
                <a:solidFill>
                  <a:schemeClr val="tx1">
                    <a:lumMod val="65000"/>
                    <a:lumOff val="35000"/>
                  </a:schemeClr>
                </a:solidFill>
                <a:latin typeface="メイリオ" panose="020B0604030504040204" pitchFamily="50" charset="-128"/>
                <a:ea typeface="メイリオ" panose="020B0604030504040204" pitchFamily="50" charset="-128"/>
              </a:rPr>
              <a:t>mcv</a:t>
            </a: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6" name="正方形/長方形 25"/>
          <p:cNvSpPr/>
          <p:nvPr/>
        </p:nvSpPr>
        <p:spPr>
          <a:xfrm>
            <a:off x="6785986" y="5037438"/>
            <a:ext cx="2492990" cy="276999"/>
          </a:xfrm>
          <a:prstGeom prst="rect">
            <a:avLst/>
          </a:prstGeom>
        </p:spPr>
        <p:txBody>
          <a:bodyPr wrap="none">
            <a:spAutoFit/>
          </a:bodyPr>
          <a:lstStyle/>
          <a:p>
            <a:r>
              <a:rPr lang="ja-JP" altLang="en-US" sz="1200" b="1" dirty="0">
                <a:latin typeface="Meiryo"/>
                <a:ea typeface="Meiryo"/>
                <a:cs typeface="Meiryo"/>
                <a:sym typeface="Meiryo"/>
              </a:rPr>
              <a:t>管理画面を成果としてレポート化</a:t>
            </a:r>
            <a:endParaRPr lang="ja-JP" altLang="en-US" sz="1200" b="1" dirty="0"/>
          </a:p>
        </p:txBody>
      </p:sp>
      <p:sp>
        <p:nvSpPr>
          <p:cNvPr id="27" name="正方形/長方形 26"/>
          <p:cNvSpPr/>
          <p:nvPr/>
        </p:nvSpPr>
        <p:spPr>
          <a:xfrm>
            <a:off x="5895888" y="6013913"/>
            <a:ext cx="2762295" cy="261610"/>
          </a:xfrm>
          <a:prstGeom prst="rect">
            <a:avLst/>
          </a:prstGeom>
        </p:spPr>
        <p:txBody>
          <a:bodyPr wrap="none">
            <a:spAutoFit/>
          </a:bodyPr>
          <a:lstStyle/>
          <a:p>
            <a:r>
              <a:rPr lang="en-US" altLang="ja-JP" sz="1100" dirty="0">
                <a:solidFill>
                  <a:schemeClr val="tx1">
                    <a:lumMod val="50000"/>
                    <a:lumOff val="50000"/>
                  </a:schemeClr>
                </a:solidFill>
                <a:latin typeface="Meiryo"/>
                <a:ea typeface="Meiryo"/>
                <a:sym typeface="Meiryo"/>
              </a:rPr>
              <a:t>※</a:t>
            </a:r>
            <a:r>
              <a:rPr lang="en-US" altLang="ja-JP" sz="1100" dirty="0" err="1">
                <a:solidFill>
                  <a:schemeClr val="tx1">
                    <a:lumMod val="50000"/>
                    <a:lumOff val="50000"/>
                  </a:schemeClr>
                </a:solidFill>
                <a:latin typeface="Meiryo"/>
                <a:ea typeface="Meiryo"/>
                <a:sym typeface="Meiryo"/>
              </a:rPr>
              <a:t>AdEbis</a:t>
            </a:r>
            <a:r>
              <a:rPr lang="ja-JP" altLang="en-US" sz="1100" dirty="0">
                <a:solidFill>
                  <a:schemeClr val="tx1">
                    <a:lumMod val="50000"/>
                    <a:lumOff val="50000"/>
                  </a:schemeClr>
                </a:solidFill>
                <a:latin typeface="Meiryo"/>
                <a:ea typeface="Meiryo"/>
                <a:sym typeface="Meiryo"/>
              </a:rPr>
              <a:t>等の外部ツールの対応も可能。</a:t>
            </a:r>
            <a:endParaRPr lang="ja-JP" altLang="en-US" sz="1100" dirty="0">
              <a:solidFill>
                <a:schemeClr val="tx1">
                  <a:lumMod val="50000"/>
                  <a:lumOff val="50000"/>
                </a:schemeClr>
              </a:solidFill>
            </a:endParaRPr>
          </a:p>
        </p:txBody>
      </p:sp>
      <p:sp>
        <p:nvSpPr>
          <p:cNvPr id="28" name="正方形/長方形 27"/>
          <p:cNvSpPr/>
          <p:nvPr/>
        </p:nvSpPr>
        <p:spPr>
          <a:xfrm>
            <a:off x="390709" y="4227706"/>
            <a:ext cx="4219296" cy="277788"/>
          </a:xfrm>
          <a:prstGeom prst="rect">
            <a:avLst/>
          </a:prstGeom>
          <a:solidFill>
            <a:srgbClr val="00C0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アプリ上</a:t>
            </a:r>
            <a:endParaRPr kumimoji="1" lang="ja-JP" altLang="en-US" sz="1200" b="1" dirty="0">
              <a:latin typeface="メイリオ" panose="020B0604030504040204" pitchFamily="50" charset="-128"/>
              <a:ea typeface="メイリオ" panose="020B0604030504040204" pitchFamily="50" charset="-128"/>
            </a:endParaRPr>
          </a:p>
        </p:txBody>
      </p:sp>
      <p:pic>
        <p:nvPicPr>
          <p:cNvPr id="1034" name="Picture 10" descr="Illustrazione Stock クリック,チェック,注目,選ぶ,指,押す,注意,決定,タッチ,おすすめ,案内,重要,選択,発見,検索,ピクトグラム,カーソル,ポインター,マウス,指す,記号,マーク,ワンポイント,シンボル,サイン,タップ,スワイプ,ポイント,手,人差し指,ゆび,イチ押し,スライド,アイコン,広告,ひらめき,チラシ,シンプル,プッシュ,開く,イラスト | Adobe Stock"/>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rot="13670773">
            <a:off x="1882803" y="6009237"/>
            <a:ext cx="542505" cy="38294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0" descr="Illustrazione Stock クリック,チェック,注目,選ぶ,指,押す,注意,決定,タッチ,おすすめ,案内,重要,選択,発見,検索,ピクトグラム,カーソル,ポインター,マウス,指す,記号,マーク,ワンポイント,シンボル,サイン,タップ,スワイプ,ポイント,手,人差し指,ゆび,イチ押し,スライド,アイコン,広告,ひらめき,チラシ,シンプル,プッシュ,開く,イラスト | Adobe Stock"/>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rot="13670773">
            <a:off x="3827252" y="6144220"/>
            <a:ext cx="542505" cy="382945"/>
          </a:xfrm>
          <a:prstGeom prst="rect">
            <a:avLst/>
          </a:prstGeom>
          <a:noFill/>
          <a:extLst>
            <a:ext uri="{909E8E84-426E-40DD-AFC4-6F175D3DCCD1}">
              <a14:hiddenFill xmlns:a14="http://schemas.microsoft.com/office/drawing/2010/main">
                <a:solidFill>
                  <a:srgbClr val="FFFFFF"/>
                </a:solidFill>
              </a14:hiddenFill>
            </a:ext>
          </a:extLst>
        </p:spPr>
      </p:pic>
      <p:grpSp>
        <p:nvGrpSpPr>
          <p:cNvPr id="41" name="グループ化 40"/>
          <p:cNvGrpSpPr/>
          <p:nvPr/>
        </p:nvGrpSpPr>
        <p:grpSpPr>
          <a:xfrm>
            <a:off x="1802228" y="5899367"/>
            <a:ext cx="125343" cy="138465"/>
            <a:chOff x="4245087" y="1539805"/>
            <a:chExt cx="325106" cy="269830"/>
          </a:xfrm>
        </p:grpSpPr>
        <p:sp>
          <p:nvSpPr>
            <p:cNvPr id="42" name="二等辺三角形 41"/>
            <p:cNvSpPr/>
            <p:nvPr/>
          </p:nvSpPr>
          <p:spPr>
            <a:xfrm rot="7826235">
              <a:off x="4335416" y="1595821"/>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二等辺三角形 42"/>
            <p:cNvSpPr/>
            <p:nvPr/>
          </p:nvSpPr>
          <p:spPr>
            <a:xfrm rot="9540823">
              <a:off x="4394543" y="1541914"/>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二等辺三角形 43"/>
            <p:cNvSpPr/>
            <p:nvPr/>
          </p:nvSpPr>
          <p:spPr>
            <a:xfrm rot="10800000">
              <a:off x="4483129" y="1539805"/>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4" name="グループ化 53"/>
          <p:cNvGrpSpPr/>
          <p:nvPr/>
        </p:nvGrpSpPr>
        <p:grpSpPr>
          <a:xfrm>
            <a:off x="3722470" y="6025641"/>
            <a:ext cx="125343" cy="138465"/>
            <a:chOff x="4245087" y="1539805"/>
            <a:chExt cx="325106" cy="269830"/>
          </a:xfrm>
        </p:grpSpPr>
        <p:sp>
          <p:nvSpPr>
            <p:cNvPr id="55" name="二等辺三角形 54"/>
            <p:cNvSpPr/>
            <p:nvPr/>
          </p:nvSpPr>
          <p:spPr>
            <a:xfrm rot="7826235">
              <a:off x="4335416" y="1595821"/>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二等辺三角形 55"/>
            <p:cNvSpPr/>
            <p:nvPr/>
          </p:nvSpPr>
          <p:spPr>
            <a:xfrm rot="9540823">
              <a:off x="4394543" y="1541914"/>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二等辺三角形 56"/>
            <p:cNvSpPr/>
            <p:nvPr/>
          </p:nvSpPr>
          <p:spPr>
            <a:xfrm rot="10800000">
              <a:off x="4483129" y="1539805"/>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3" name="正方形/長方形 32"/>
          <p:cNvSpPr/>
          <p:nvPr/>
        </p:nvSpPr>
        <p:spPr>
          <a:xfrm>
            <a:off x="5180187" y="4221922"/>
            <a:ext cx="4219296" cy="27778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200" b="1" dirty="0">
                <a:latin typeface="メイリオ" panose="020B0604030504040204" pitchFamily="50" charset="-128"/>
                <a:ea typeface="メイリオ" panose="020B0604030504040204" pitchFamily="50" charset="-128"/>
              </a:rPr>
              <a:t>WEB</a:t>
            </a:r>
            <a:r>
              <a:rPr lang="ja-JP" altLang="en-US" sz="1200" b="1" dirty="0">
                <a:latin typeface="メイリオ" panose="020B0604030504040204" pitchFamily="50" charset="-128"/>
                <a:ea typeface="メイリオ" panose="020B0604030504040204" pitchFamily="50" charset="-128"/>
              </a:rPr>
              <a:t>サイト上</a:t>
            </a:r>
            <a:endParaRPr kumimoji="1" lang="ja-JP" altLang="en-US" sz="1200" b="1" dirty="0">
              <a:latin typeface="メイリオ" panose="020B0604030504040204" pitchFamily="50" charset="-128"/>
              <a:ea typeface="メイリオ" panose="020B0604030504040204" pitchFamily="50" charset="-128"/>
            </a:endParaRPr>
          </a:p>
        </p:txBody>
      </p:sp>
      <p:pic>
        <p:nvPicPr>
          <p:cNvPr id="10" name="図 9"/>
          <p:cNvPicPr>
            <a:picLocks noChangeAspect="1"/>
          </p:cNvPicPr>
          <p:nvPr/>
        </p:nvPicPr>
        <p:blipFill>
          <a:blip r:embed="rId7"/>
          <a:stretch>
            <a:fillRect/>
          </a:stretch>
        </p:blipFill>
        <p:spPr>
          <a:xfrm>
            <a:off x="2758013" y="4552453"/>
            <a:ext cx="1379725" cy="919257"/>
          </a:xfrm>
          <a:prstGeom prst="rect">
            <a:avLst/>
          </a:prstGeom>
        </p:spPr>
      </p:pic>
      <p:sp>
        <p:nvSpPr>
          <p:cNvPr id="11" name="正方形/長方形 10">
            <a:extLst>
              <a:ext uri="{FF2B5EF4-FFF2-40B4-BE49-F238E27FC236}">
                <a16:creationId xmlns:a16="http://schemas.microsoft.com/office/drawing/2014/main" id="{22778390-5C65-8A0B-FBCC-331F4769C279}"/>
              </a:ext>
            </a:extLst>
          </p:cNvPr>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2" name="Google Shape;156;p7">
            <a:extLst>
              <a:ext uri="{FF2B5EF4-FFF2-40B4-BE49-F238E27FC236}">
                <a16:creationId xmlns:a16="http://schemas.microsoft.com/office/drawing/2014/main" id="{6FA8B775-64BA-CC75-EC39-92A06C7D5702}"/>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29946349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実例紹介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弊社実績について</a:t>
            </a:r>
          </a:p>
        </p:txBody>
      </p:sp>
      <p:graphicFrame>
        <p:nvGraphicFramePr>
          <p:cNvPr id="3" name="表 2">
            <a:extLst>
              <a:ext uri="{FF2B5EF4-FFF2-40B4-BE49-F238E27FC236}">
                <a16:creationId xmlns:a16="http://schemas.microsoft.com/office/drawing/2014/main" id="{9A6B81D2-7F85-D98D-ED15-FD61A8068EF9}"/>
              </a:ext>
            </a:extLst>
          </p:cNvPr>
          <p:cNvGraphicFramePr>
            <a:graphicFrameLocks noGrp="1"/>
          </p:cNvGraphicFramePr>
          <p:nvPr/>
        </p:nvGraphicFramePr>
        <p:xfrm>
          <a:off x="381000" y="809625"/>
          <a:ext cx="9191625" cy="5485142"/>
        </p:xfrm>
        <a:graphic>
          <a:graphicData uri="http://schemas.openxmlformats.org/drawingml/2006/table">
            <a:tbl>
              <a:tblPr/>
              <a:tblGrid>
                <a:gridCol w="1819275">
                  <a:extLst>
                    <a:ext uri="{9D8B030D-6E8A-4147-A177-3AD203B41FA5}">
                      <a16:colId xmlns:a16="http://schemas.microsoft.com/office/drawing/2014/main" val="1856077232"/>
                    </a:ext>
                  </a:extLst>
                </a:gridCol>
                <a:gridCol w="828675">
                  <a:extLst>
                    <a:ext uri="{9D8B030D-6E8A-4147-A177-3AD203B41FA5}">
                      <a16:colId xmlns:a16="http://schemas.microsoft.com/office/drawing/2014/main" val="2505763101"/>
                    </a:ext>
                  </a:extLst>
                </a:gridCol>
                <a:gridCol w="2856379">
                  <a:extLst>
                    <a:ext uri="{9D8B030D-6E8A-4147-A177-3AD203B41FA5}">
                      <a16:colId xmlns:a16="http://schemas.microsoft.com/office/drawing/2014/main" val="415261329"/>
                    </a:ext>
                  </a:extLst>
                </a:gridCol>
                <a:gridCol w="3687296">
                  <a:extLst>
                    <a:ext uri="{9D8B030D-6E8A-4147-A177-3AD203B41FA5}">
                      <a16:colId xmlns:a16="http://schemas.microsoft.com/office/drawing/2014/main" val="2991975434"/>
                    </a:ext>
                  </a:extLst>
                </a:gridCol>
              </a:tblGrid>
              <a:tr h="371475">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業界</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運用期間</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施策インパクト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施策内容</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extLst>
                  <a:ext uri="{0D108BD9-81ED-4DB2-BD59-A6C34878D82A}">
                    <a16:rowId xmlns:a16="http://schemas.microsoft.com/office/drawing/2014/main" val="369463423"/>
                  </a:ext>
                </a:extLst>
              </a:tr>
              <a:tr h="1028103">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人材</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（資格職・専門職転職）</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■月間求人応募数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4</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br>
                        <a:rPr lang="en-US" altLang="ja-JP" sz="18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30</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¥145,000 → ¥102,000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ユーザーセグメントの取得</a:t>
                      </a:r>
                      <a:b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400" b="1" i="0" u="sng" strike="noStrike" dirty="0">
                          <a:solidFill>
                            <a:srgbClr val="C00000"/>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・セグメント配信による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パーソナライズされた追客</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34378025"/>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不動産</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（住宅メーカー）</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10</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■月間来場・資料請求件数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による友だち増加促進</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ペルソナに合わせた動線・クリエイティブ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の設計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09117311"/>
                  </a:ext>
                </a:extLst>
              </a:tr>
              <a:tr h="1021391">
                <a:tc>
                  <a:txBody>
                    <a:bodyPr/>
                    <a:lstStyle/>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a:t>
                      </a: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総合</a:t>
                      </a: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離脱防止バナーと</a:t>
                      </a:r>
                      <a: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t>CPF</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を活用した友だち増加</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・アンケートを実施し、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カゴ落ちユーザーを中心に</a:t>
                      </a:r>
                      <a:b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1200" b="0" i="0" u="none" strike="noStrike" dirty="0">
                          <a:solidFill>
                            <a:srgbClr val="C00000"/>
                          </a:solidFill>
                          <a:effectLst/>
                          <a:latin typeface="メイリオ" panose="020B0604030504040204" pitchFamily="50" charset="-128"/>
                          <a:ea typeface="メイリオ" panose="020B0604030504040204" pitchFamily="50" charset="-128"/>
                        </a:rPr>
                        <a:t>　</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期間限定商品・高単価商品の情報を配信</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030092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（美肌治療）</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a:solidFill>
                            <a:schemeClr val="tx1">
                              <a:lumMod val="65000"/>
                              <a:lumOff val="35000"/>
                            </a:schemeClr>
                          </a:solidFill>
                          <a:effectLst/>
                          <a:latin typeface="メイリオ" panose="020B0604030504040204" pitchFamily="50" charset="-128"/>
                          <a:ea typeface="メイリオ" panose="020B0604030504040204" pitchFamily="50" charset="-128"/>
                        </a:rPr>
                        <a:t>年</a:t>
                      </a:r>
                      <a:endPar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63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¥32,000 → ¥12,000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個別メッセージを利用したユーザー個々への追客</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651158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（痩身）</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45</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件</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万円台</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 → ¥10,700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・アンケート動線を設定し、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悩み別のシナリオを用意</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47929865"/>
                  </a:ext>
                </a:extLst>
              </a:tr>
            </a:tbl>
          </a:graphicData>
        </a:graphic>
      </p:graphicFrame>
    </p:spTree>
    <p:extLst>
      <p:ext uri="{BB962C8B-B14F-4D97-AF65-F5344CB8AC3E}">
        <p14:creationId xmlns:p14="http://schemas.microsoft.com/office/powerpoint/2010/main" val="219783967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3834758" y="3038203"/>
            <a:ext cx="223651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その他機能</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834758" y="3038203"/>
            <a:ext cx="223651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その他機能</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a:t>
            </a:r>
          </a:p>
        </p:txBody>
      </p:sp>
      <p:sp>
        <p:nvSpPr>
          <p:cNvPr id="245" name="Shape 8">
            <a:extLst>
              <a:ext uri="{FF2B5EF4-FFF2-40B4-BE49-F238E27FC236}">
                <a16:creationId xmlns:a16="http://schemas.microsoft.com/office/drawing/2014/main" id="{50B34EBB-32AA-4AD8-2936-6751081DDE7C}"/>
              </a:ext>
            </a:extLst>
          </p:cNvPr>
          <p:cNvSpPr/>
          <p:nvPr/>
        </p:nvSpPr>
        <p:spPr>
          <a:xfrm>
            <a:off x="603747" y="219432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2177352"/>
            <a:ext cx="4023360" cy="237744"/>
          </a:xfrm>
          <a:prstGeom prst="rect">
            <a:avLst/>
          </a:prstGeom>
          <a:noFill/>
          <a:ln/>
        </p:spPr>
        <p:txBody>
          <a:bodyPr wrap="square" lIns="0" tIns="0" rIns="0" bIns="0" rtlCol="0" anchor="ctr"/>
          <a:lstStyle/>
          <a:p>
            <a:pPr marL="0" indent="0">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2181269"/>
            <a:ext cx="2178492" cy="182880"/>
          </a:xfrm>
          <a:prstGeom prst="rect">
            <a:avLst/>
          </a:prstGeom>
          <a:noFill/>
          <a:ln/>
        </p:spPr>
        <p:txBody>
          <a:bodyPr wrap="square" lIns="0" tIns="0" rIns="0" bIns="0" rtlCol="0" anchor="ctr"/>
          <a:lstStyle/>
          <a:p>
            <a:pPr marL="0" indent="0">
              <a:buNone/>
            </a:pPr>
            <a:r>
              <a:rPr lang="en-US" sz="7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219432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2177352"/>
            <a:ext cx="4023360" cy="237744"/>
          </a:xfrm>
          <a:prstGeom prst="rect">
            <a:avLst/>
          </a:prstGeom>
          <a:noFill/>
          <a:ln/>
        </p:spPr>
        <p:txBody>
          <a:bodyPr wrap="square" lIns="0" tIns="0" rIns="0" bIns="0" rtlCol="0" anchor="ctr"/>
          <a:lstStyle/>
          <a:p>
            <a:pPr marL="0" indent="0">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2181269"/>
            <a:ext cx="2178492" cy="182880"/>
          </a:xfrm>
          <a:prstGeom prst="rect">
            <a:avLst/>
          </a:prstGeom>
          <a:noFill/>
          <a:ln/>
        </p:spPr>
        <p:txBody>
          <a:bodyPr wrap="square" lIns="0" tIns="0" rIns="0" bIns="0" rtlCol="0" anchor="ctr"/>
          <a:lstStyle/>
          <a:p>
            <a:pPr marL="0" indent="0">
              <a:buNone/>
            </a:pPr>
            <a:r>
              <a:rPr lang="en-US" sz="7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260527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269671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2696718"/>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2724150"/>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269671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3025902"/>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3373374"/>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3373374"/>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346481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3464814"/>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3373374"/>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3373374"/>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346481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3464814"/>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3373374"/>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3373374"/>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603747" y="38488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9403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940302"/>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967734"/>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940302"/>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4269486"/>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616958"/>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616958"/>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708398"/>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708398"/>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616958"/>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616958"/>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708398"/>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708398"/>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616958"/>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616958"/>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509244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518388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5183886"/>
            <a:ext cx="274320" cy="274320"/>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5211318"/>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518388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513070"/>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860542"/>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860542"/>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95198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951982"/>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860542"/>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860542"/>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95198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951982"/>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860542"/>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860542"/>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260527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269671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2696718"/>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04931" y="2724150"/>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269671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3025902"/>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3373374"/>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3373374"/>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346481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3464814"/>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3373374"/>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3373374"/>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346481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3464814"/>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3373374"/>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3373374"/>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8488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9403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940302"/>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940302"/>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4269486"/>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616958"/>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616958"/>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708398"/>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708398"/>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616958"/>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616958"/>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708398"/>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708398"/>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616958"/>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616958"/>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509244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518388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5183886"/>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Text 110">
            <a:extLst>
              <a:ext uri="{FF2B5EF4-FFF2-40B4-BE49-F238E27FC236}">
                <a16:creationId xmlns:a16="http://schemas.microsoft.com/office/drawing/2014/main" id="{1BBCFD40-F618-5A41-391D-5947D86BCCA5}"/>
              </a:ext>
            </a:extLst>
          </p:cNvPr>
          <p:cNvSpPr/>
          <p:nvPr/>
        </p:nvSpPr>
        <p:spPr>
          <a:xfrm>
            <a:off x="5504931" y="5211318"/>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サンクスLINE誘導</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5183886"/>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513070"/>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860542"/>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860542"/>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95198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951982"/>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860542"/>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860542"/>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95198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951982"/>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860542"/>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860542"/>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2741125"/>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2741125"/>
            <a:ext cx="859536" cy="201168"/>
          </a:xfrm>
          <a:prstGeom prst="rect">
            <a:avLst/>
          </a:prstGeom>
          <a:noFill/>
          <a:ln/>
        </p:spPr>
        <p:txBody>
          <a:bodyPr wrap="square" lIns="0" tIns="0" rIns="0" bIns="0" rtlCol="0" anchor="ctr"/>
          <a:lstStyle/>
          <a:p>
            <a:pPr algn="ctr"/>
            <a:r>
              <a:rPr lang="en-US" altLang="ja-JP" sz="7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984709"/>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984709"/>
            <a:ext cx="859536" cy="201168"/>
          </a:xfrm>
          <a:prstGeom prst="rect">
            <a:avLst/>
          </a:prstGeom>
          <a:solidFill>
            <a:schemeClr val="tx2"/>
          </a:solidFill>
          <a:ln/>
        </p:spPr>
        <p:txBody>
          <a:bodyPr wrap="square" lIns="0" tIns="0" rIns="0" bIns="0" rtlCol="0" anchor="ctr"/>
          <a:lstStyle/>
          <a:p>
            <a:pPr marL="0" indent="0" algn="ctr">
              <a:buNone/>
            </a:pPr>
            <a:r>
              <a:rPr lang="ja-JP" altLang="en-US" sz="700" dirty="0">
                <a:solidFill>
                  <a:srgbClr val="FDFDFD"/>
                </a:solidFill>
                <a:latin typeface="メイリオ" panose="020B0604030504040204" pitchFamily="50" charset="-128"/>
                <a:ea typeface="メイリオ" panose="020B0604030504040204" pitchFamily="50" charset="-128"/>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5228293"/>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04931" y="3984709"/>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04931" y="5228293"/>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3" name="Text 110">
            <a:extLst>
              <a:ext uri="{FF2B5EF4-FFF2-40B4-BE49-F238E27FC236}">
                <a16:creationId xmlns:a16="http://schemas.microsoft.com/office/drawing/2014/main" id="{EDD9FC5D-F103-9D3F-47C3-8F954172AE95}"/>
              </a:ext>
            </a:extLst>
          </p:cNvPr>
          <p:cNvSpPr/>
          <p:nvPr/>
        </p:nvSpPr>
        <p:spPr>
          <a:xfrm>
            <a:off x="5504931" y="5228293"/>
            <a:ext cx="859536" cy="201168"/>
          </a:xfrm>
          <a:prstGeom prst="rect">
            <a:avLst/>
          </a:prstGeom>
          <a:solidFill>
            <a:schemeClr val="tx2"/>
          </a:solidFill>
          <a:ln/>
        </p:spPr>
        <p:txBody>
          <a:bodyPr wrap="square" lIns="0" tIns="0" rIns="0" bIns="0" rtlCol="0" anchor="ctr"/>
          <a:lstStyle/>
          <a:p>
            <a:pPr marL="0" indent="0" algn="ctr">
              <a:buNone/>
            </a:pPr>
            <a:r>
              <a:rPr lang="ja-JP" altLang="en-US" sz="700" b="1" dirty="0">
                <a:solidFill>
                  <a:srgbClr val="FDFDFD"/>
                </a:solidFill>
                <a:latin typeface="メイリオ" panose="020B0604030504040204" pitchFamily="50" charset="-128"/>
                <a:ea typeface="メイリオ" panose="020B0604030504040204" pitchFamily="50" charset="-128"/>
                <a:cs typeface="Calibri" pitchFamily="34" charset="-120"/>
              </a:rPr>
              <a:t>サンクス</a:t>
            </a:r>
            <a:r>
              <a:rPr lang="en-US" altLang="ja-JP" sz="7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700" b="1" dirty="0">
                <a:solidFill>
                  <a:srgbClr val="FDFDFD"/>
                </a:solidFill>
                <a:latin typeface="メイリオ" panose="020B0604030504040204" pitchFamily="50" charset="-128"/>
                <a:ea typeface="メイリオ" panose="020B0604030504040204" pitchFamily="50" charset="-128"/>
                <a:cs typeface="Calibri" pitchFamily="34" charset="-120"/>
              </a:rPr>
              <a:t>誘導</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5" name="Text 110">
            <a:extLst>
              <a:ext uri="{FF2B5EF4-FFF2-40B4-BE49-F238E27FC236}">
                <a16:creationId xmlns:a16="http://schemas.microsoft.com/office/drawing/2014/main" id="{E8EED7F4-BAE1-D41E-67C4-68F570C48388}"/>
              </a:ext>
            </a:extLst>
          </p:cNvPr>
          <p:cNvSpPr/>
          <p:nvPr/>
        </p:nvSpPr>
        <p:spPr>
          <a:xfrm>
            <a:off x="5504931" y="3993853"/>
            <a:ext cx="859536" cy="201168"/>
          </a:xfrm>
          <a:prstGeom prst="rect">
            <a:avLst/>
          </a:prstGeom>
          <a:solidFill>
            <a:schemeClr val="tx2"/>
          </a:solidFill>
          <a:ln/>
        </p:spPr>
        <p:txBody>
          <a:bodyPr wrap="square" lIns="0" tIns="0" rIns="0" bIns="0" rtlCol="0" anchor="ctr"/>
          <a:lstStyle/>
          <a:p>
            <a:pPr marL="0" indent="0" algn="ctr">
              <a:buNone/>
            </a:pPr>
            <a:r>
              <a:rPr lang="ja-JP" altLang="en-US" sz="7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5226218"/>
            <a:ext cx="859536" cy="201168"/>
          </a:xfrm>
          <a:prstGeom prst="rect">
            <a:avLst/>
          </a:prstGeom>
          <a:solidFill>
            <a:schemeClr val="tx2"/>
          </a:solidFill>
          <a:ln/>
        </p:spPr>
        <p:txBody>
          <a:bodyPr wrap="square" lIns="0" tIns="0" rIns="0" bIns="0" rtlCol="0" anchor="ctr"/>
          <a:lstStyle/>
          <a:p>
            <a:pPr marL="0" indent="0" algn="ctr">
              <a:buNone/>
            </a:pPr>
            <a:r>
              <a:rPr lang="en-US" altLang="ja-JP" sz="7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7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9" name="Text 38">
            <a:extLst>
              <a:ext uri="{FF2B5EF4-FFF2-40B4-BE49-F238E27FC236}">
                <a16:creationId xmlns:a16="http://schemas.microsoft.com/office/drawing/2014/main" id="{0AAF9C38-B88A-AA3E-E296-3AB0BC76B93B}"/>
              </a:ext>
            </a:extLst>
          </p:cNvPr>
          <p:cNvSpPr/>
          <p:nvPr/>
        </p:nvSpPr>
        <p:spPr>
          <a:xfrm>
            <a:off x="1060947" y="2739050"/>
            <a:ext cx="859536" cy="201168"/>
          </a:xfrm>
          <a:prstGeom prst="rect">
            <a:avLst/>
          </a:prstGeom>
          <a:solidFill>
            <a:schemeClr val="tx2"/>
          </a:solidFill>
          <a:ln/>
        </p:spPr>
        <p:txBody>
          <a:bodyPr wrap="square" lIns="0" tIns="0" rIns="0" bIns="0" rtlCol="0" anchor="ctr"/>
          <a:lstStyle/>
          <a:p>
            <a:pPr marL="0" indent="0" algn="ctr">
              <a:buNone/>
            </a:pPr>
            <a:r>
              <a:rPr lang="ja-JP" altLang="en-US" sz="700" dirty="0">
                <a:solidFill>
                  <a:srgbClr val="FDFDFD"/>
                </a:solidFill>
                <a:latin typeface="メイリオ" panose="020B0604030504040204" pitchFamily="50" charset="-128"/>
                <a:ea typeface="メイリオ" panose="020B0604030504040204" pitchFamily="50" charset="-128"/>
              </a:rPr>
              <a:t>流入</a:t>
            </a:r>
            <a:r>
              <a:rPr lang="en-US" altLang="ja-JP" sz="700" dirty="0">
                <a:solidFill>
                  <a:srgbClr val="FDFDFD"/>
                </a:solidFill>
                <a:latin typeface="メイリオ" panose="020B0604030504040204" pitchFamily="50" charset="-128"/>
                <a:ea typeface="メイリオ" panose="020B0604030504040204" pitchFamily="50" charset="-128"/>
              </a:rPr>
              <a:t>/</a:t>
            </a:r>
            <a:r>
              <a:rPr lang="ja-JP" altLang="en-US" sz="700" dirty="0">
                <a:solidFill>
                  <a:srgbClr val="FDFDFD"/>
                </a:solidFill>
                <a:latin typeface="メイリオ" panose="020B0604030504040204" pitchFamily="50" charset="-128"/>
                <a:ea typeface="メイリオ" panose="020B0604030504040204" pitchFamily="50" charset="-128"/>
              </a:rPr>
              <a:t>集客チャネル</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04931" y="2741125"/>
            <a:ext cx="859536" cy="201168"/>
          </a:xfrm>
          <a:prstGeom prst="rect">
            <a:avLst/>
          </a:prstGeom>
          <a:solidFill>
            <a:schemeClr val="tx2"/>
          </a:solidFill>
          <a:ln/>
        </p:spPr>
        <p:txBody>
          <a:bodyPr wrap="square" lIns="0" tIns="0" rIns="0" bIns="0" rtlCol="0" anchor="ctr"/>
          <a:lstStyle/>
          <a:p>
            <a:pPr marL="0" indent="0" algn="ctr">
              <a:buNone/>
            </a:pPr>
            <a:r>
              <a:rPr lang="ja-JP" altLang="en-US" sz="700" dirty="0">
                <a:solidFill>
                  <a:srgbClr val="FDFDFD"/>
                </a:solidFill>
                <a:latin typeface="メイリオ" panose="020B0604030504040204" pitchFamily="50" charset="-128"/>
                <a:ea typeface="メイリオ" panose="020B0604030504040204" pitchFamily="50" charset="-128"/>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2204952"/>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2187977"/>
            <a:ext cx="4023360" cy="237744"/>
          </a:xfrm>
          <a:prstGeom prst="rect">
            <a:avLst/>
          </a:prstGeom>
          <a:noFill/>
          <a:ln/>
        </p:spPr>
        <p:txBody>
          <a:bodyPr wrap="square" lIns="0" tIns="0" rIns="0" bIns="0" rtlCol="0" anchor="ctr"/>
          <a:lstStyle/>
          <a:p>
            <a:pPr marL="0" indent="0">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2224556"/>
            <a:ext cx="1669123" cy="182880"/>
          </a:xfrm>
          <a:prstGeom prst="rect">
            <a:avLst/>
          </a:prstGeom>
          <a:noFill/>
          <a:ln/>
        </p:spPr>
        <p:txBody>
          <a:bodyPr wrap="square" lIns="0" tIns="0" rIns="0" bIns="0" rtlCol="0" anchor="ctr"/>
          <a:lstStyle/>
          <a:p>
            <a:pPr marL="0" indent="0">
              <a:buNone/>
            </a:pPr>
            <a:r>
              <a:rPr lang="en-US" sz="7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2204952"/>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2187977"/>
            <a:ext cx="4023360" cy="237744"/>
          </a:xfrm>
          <a:prstGeom prst="rect">
            <a:avLst/>
          </a:prstGeom>
          <a:noFill/>
          <a:ln/>
        </p:spPr>
        <p:txBody>
          <a:bodyPr wrap="square" lIns="0" tIns="0" rIns="0" bIns="0" rtlCol="0" anchor="ctr"/>
          <a:lstStyle/>
          <a:p>
            <a:pPr marL="0" indent="0">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2224556"/>
            <a:ext cx="1669123" cy="182880"/>
          </a:xfrm>
          <a:prstGeom prst="rect">
            <a:avLst/>
          </a:prstGeom>
          <a:noFill/>
          <a:ln/>
        </p:spPr>
        <p:txBody>
          <a:bodyPr wrap="square" lIns="0" tIns="0" rIns="0" bIns="0" rtlCol="0" anchor="ctr"/>
          <a:lstStyle/>
          <a:p>
            <a:pPr marL="0" indent="0">
              <a:buNone/>
            </a:pPr>
            <a:r>
              <a:rPr lang="ja-JP" altLang="en-US" sz="7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7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2622253"/>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271369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2713693"/>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2741125"/>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2741125"/>
            <a:ext cx="859536" cy="201168"/>
          </a:xfrm>
          <a:prstGeom prst="rect">
            <a:avLst/>
          </a:prstGeom>
          <a:noFill/>
          <a:ln/>
        </p:spPr>
        <p:txBody>
          <a:bodyPr wrap="square" lIns="0" tIns="0" rIns="0" bIns="0" rtlCol="0" anchor="ctr"/>
          <a:lstStyle/>
          <a:p>
            <a:pPr algn="ctr"/>
            <a:r>
              <a:rPr lang="en-US" altLang="ja-JP" sz="7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271369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3042877"/>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3390349"/>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3390349"/>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348178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3481789"/>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3390349"/>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3390349"/>
            <a:ext cx="1274064" cy="329184"/>
          </a:xfrm>
          <a:prstGeom prst="rect">
            <a:avLst/>
          </a:prstGeom>
          <a:noFill/>
          <a:ln/>
        </p:spPr>
        <p:txBody>
          <a:bodyPr wrap="square" lIns="0" tIns="0" rIns="0" bIns="0" rtlCol="0" anchor="ctr"/>
          <a:lstStyle/>
          <a:p>
            <a:pPr marL="0" indent="0" algn="ctr">
              <a:lnSpc>
                <a:spcPct val="115000"/>
              </a:lnSpc>
              <a:buNone/>
            </a:pPr>
            <a:r>
              <a:rPr lang="en-US" sz="60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348178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3481789"/>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3390349"/>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88488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97632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976327"/>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4003759"/>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4003759"/>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976327"/>
            <a:ext cx="2907792"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4305511"/>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652983"/>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65298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74442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744423"/>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652983"/>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74442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744423"/>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652983"/>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5147521"/>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5238961"/>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5238961"/>
            <a:ext cx="274320" cy="274320"/>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5266393"/>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343" name="Text 57">
            <a:extLst>
              <a:ext uri="{FF2B5EF4-FFF2-40B4-BE49-F238E27FC236}">
                <a16:creationId xmlns:a16="http://schemas.microsoft.com/office/drawing/2014/main" id="{3D038977-48FB-088C-1A4C-879420FF6CE5}"/>
              </a:ext>
            </a:extLst>
          </p:cNvPr>
          <p:cNvSpPr/>
          <p:nvPr/>
        </p:nvSpPr>
        <p:spPr>
          <a:xfrm>
            <a:off x="1975347" y="5238961"/>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568145"/>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915617"/>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915617"/>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6007057"/>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6007057"/>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915617"/>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915617"/>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6007057"/>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6007057"/>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915617"/>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915617"/>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2622253"/>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271369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2713693"/>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2741125"/>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2741125"/>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2713693"/>
            <a:ext cx="3017520"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0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3042877"/>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3390349"/>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3390349"/>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348178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3481789"/>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3390349"/>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348178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3481789"/>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3390349"/>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3390349"/>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88488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97632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976327"/>
            <a:ext cx="274320" cy="274320"/>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4003759"/>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976327"/>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4305511"/>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652983"/>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65298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74442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744423"/>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652983"/>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65298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74442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744423"/>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652983"/>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65298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5147521"/>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5238961"/>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5238961"/>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5266393"/>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5266393"/>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5238961"/>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568145"/>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915617"/>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915617"/>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6007057"/>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6007057"/>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915617"/>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6007057"/>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6007057"/>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915617"/>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915617"/>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4012903"/>
            <a:ext cx="859536" cy="201168"/>
          </a:xfrm>
          <a:prstGeom prst="rect">
            <a:avLst/>
          </a:prstGeom>
          <a:solidFill>
            <a:schemeClr val="tx2"/>
          </a:solidFill>
          <a:ln/>
        </p:spPr>
        <p:txBody>
          <a:bodyPr wrap="square" lIns="0" tIns="0" rIns="0" bIns="0" rtlCol="0" anchor="ctr"/>
          <a:lstStyle/>
          <a:p>
            <a:pPr marL="0" indent="0" algn="ctr">
              <a:buNone/>
            </a:pPr>
            <a:r>
              <a:rPr lang="ja-JP" altLang="en-US" sz="7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Text 110">
            <a:extLst>
              <a:ext uri="{FF2B5EF4-FFF2-40B4-BE49-F238E27FC236}">
                <a16:creationId xmlns:a16="http://schemas.microsoft.com/office/drawing/2014/main" id="{842F8CC1-6BB0-E2D8-D691-F619A1535EB4}"/>
              </a:ext>
            </a:extLst>
          </p:cNvPr>
          <p:cNvSpPr/>
          <p:nvPr/>
        </p:nvSpPr>
        <p:spPr>
          <a:xfrm>
            <a:off x="1060947" y="5264318"/>
            <a:ext cx="859536" cy="201168"/>
          </a:xfrm>
          <a:prstGeom prst="rect">
            <a:avLst/>
          </a:prstGeom>
          <a:solidFill>
            <a:schemeClr val="tx2"/>
          </a:solidFill>
          <a:ln/>
        </p:spPr>
        <p:txBody>
          <a:bodyPr wrap="square" lIns="0" tIns="0" rIns="0" bIns="0" rtlCol="0" anchor="ctr"/>
          <a:lstStyle/>
          <a:p>
            <a:pPr marL="0" indent="0" algn="ctr">
              <a:buNone/>
            </a:pPr>
            <a:r>
              <a:rPr lang="ja-JP" altLang="en-US" sz="700" b="1" dirty="0">
                <a:solidFill>
                  <a:srgbClr val="FDFDFD"/>
                </a:solidFill>
                <a:latin typeface="メイリオ" panose="020B0604030504040204" pitchFamily="50" charset="-128"/>
                <a:ea typeface="メイリオ" panose="020B0604030504040204" pitchFamily="50" charset="-128"/>
                <a:cs typeface="Calibri" pitchFamily="34" charset="-120"/>
              </a:rPr>
              <a:t>再スクリーニング</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2739050"/>
            <a:ext cx="859536" cy="201168"/>
          </a:xfrm>
          <a:prstGeom prst="rect">
            <a:avLst/>
          </a:prstGeom>
          <a:solidFill>
            <a:schemeClr val="tx2"/>
          </a:solidFill>
          <a:ln/>
        </p:spPr>
        <p:txBody>
          <a:bodyPr wrap="square" lIns="0" tIns="0" rIns="0" bIns="0" rtlCol="0" anchor="ctr"/>
          <a:lstStyle/>
          <a:p>
            <a:pPr marL="0" indent="0" algn="ctr">
              <a:buNone/>
            </a:pPr>
            <a:r>
              <a:rPr lang="ja-JP" altLang="en-US" sz="7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219562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2178652"/>
            <a:ext cx="4023360" cy="237744"/>
          </a:xfrm>
          <a:prstGeom prst="rect">
            <a:avLst/>
          </a:prstGeom>
          <a:noFill/>
          <a:ln/>
        </p:spPr>
        <p:txBody>
          <a:bodyPr wrap="square" lIns="0" tIns="0" rIns="0" bIns="0" rtlCol="0" anchor="ctr"/>
          <a:lstStyle/>
          <a:p>
            <a:pPr marL="0" indent="0">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2189103"/>
            <a:ext cx="2177234" cy="182880"/>
          </a:xfrm>
          <a:prstGeom prst="rect">
            <a:avLst/>
          </a:prstGeom>
          <a:noFill/>
          <a:ln/>
        </p:spPr>
        <p:txBody>
          <a:bodyPr wrap="square" lIns="0" tIns="0" rIns="0" bIns="0" rtlCol="0" anchor="ctr"/>
          <a:lstStyle/>
          <a:p>
            <a:pPr marL="0" indent="0">
              <a:buNone/>
            </a:pPr>
            <a:r>
              <a:rPr lang="en-US" sz="7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219562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2178652"/>
            <a:ext cx="4023360" cy="237744"/>
          </a:xfrm>
          <a:prstGeom prst="rect">
            <a:avLst/>
          </a:prstGeom>
          <a:noFill/>
          <a:ln/>
        </p:spPr>
        <p:txBody>
          <a:bodyPr wrap="square" lIns="0" tIns="0" rIns="0" bIns="0" rtlCol="0" anchor="ctr"/>
          <a:lstStyle/>
          <a:p>
            <a:pPr marL="0" indent="0">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2189103"/>
            <a:ext cx="2177234" cy="182880"/>
          </a:xfrm>
          <a:prstGeom prst="rect">
            <a:avLst/>
          </a:prstGeom>
          <a:noFill/>
          <a:ln/>
        </p:spPr>
        <p:txBody>
          <a:bodyPr wrap="square" lIns="0" tIns="0" rIns="0" bIns="0" rtlCol="0" anchor="ctr"/>
          <a:lstStyle/>
          <a:p>
            <a:pPr marL="0" indent="0">
              <a:buNone/>
            </a:pPr>
            <a:r>
              <a:rPr lang="en-US" sz="7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26131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27045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2704549"/>
            <a:ext cx="274320" cy="274320"/>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79235" y="27319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265" name="Text 20">
            <a:extLst>
              <a:ext uri="{FF2B5EF4-FFF2-40B4-BE49-F238E27FC236}">
                <a16:creationId xmlns:a16="http://schemas.microsoft.com/office/drawing/2014/main" id="{B823E9DA-260C-1603-CA04-ED130644314C}"/>
              </a:ext>
            </a:extLst>
          </p:cNvPr>
          <p:cNvSpPr/>
          <p:nvPr/>
        </p:nvSpPr>
        <p:spPr>
          <a:xfrm>
            <a:off x="1079235" y="2731981"/>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アフターフォロー</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7" name="Text 21">
            <a:extLst>
              <a:ext uri="{FF2B5EF4-FFF2-40B4-BE49-F238E27FC236}">
                <a16:creationId xmlns:a16="http://schemas.microsoft.com/office/drawing/2014/main" id="{FCE3B029-FE9D-7576-7B05-2585AB5A66B1}"/>
              </a:ext>
            </a:extLst>
          </p:cNvPr>
          <p:cNvSpPr/>
          <p:nvPr/>
        </p:nvSpPr>
        <p:spPr>
          <a:xfrm>
            <a:off x="1993635" y="2704549"/>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3033733"/>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338120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3472645"/>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3472645"/>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3381205"/>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3381205"/>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3472645"/>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3472645"/>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338120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3381205"/>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875743"/>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96718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967183"/>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299" name="Shape 37">
            <a:extLst>
              <a:ext uri="{FF2B5EF4-FFF2-40B4-BE49-F238E27FC236}">
                <a16:creationId xmlns:a16="http://schemas.microsoft.com/office/drawing/2014/main" id="{8370F2F6-B57B-6CE2-C1D8-99B62C8BD5CA}"/>
              </a:ext>
            </a:extLst>
          </p:cNvPr>
          <p:cNvSpPr/>
          <p:nvPr/>
        </p:nvSpPr>
        <p:spPr>
          <a:xfrm>
            <a:off x="1079235" y="3994615"/>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79235" y="3994615"/>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96718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4296367"/>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643839"/>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643839"/>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73527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735279"/>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643839"/>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643839"/>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73527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735279"/>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643839"/>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643839"/>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513837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522981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5229817"/>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79235" y="5257249"/>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37" name="Text 56">
            <a:extLst>
              <a:ext uri="{FF2B5EF4-FFF2-40B4-BE49-F238E27FC236}">
                <a16:creationId xmlns:a16="http://schemas.microsoft.com/office/drawing/2014/main" id="{8DC1BB15-70BD-88F4-1430-70391985EBFC}"/>
              </a:ext>
            </a:extLst>
          </p:cNvPr>
          <p:cNvSpPr/>
          <p:nvPr/>
        </p:nvSpPr>
        <p:spPr>
          <a:xfrm>
            <a:off x="1079235" y="5257249"/>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紹介キャンペーン</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39" name="Text 57">
            <a:extLst>
              <a:ext uri="{FF2B5EF4-FFF2-40B4-BE49-F238E27FC236}">
                <a16:creationId xmlns:a16="http://schemas.microsoft.com/office/drawing/2014/main" id="{863EF515-E441-C008-46FD-E8772A47BE9A}"/>
              </a:ext>
            </a:extLst>
          </p:cNvPr>
          <p:cNvSpPr/>
          <p:nvPr/>
        </p:nvSpPr>
        <p:spPr>
          <a:xfrm>
            <a:off x="1993635" y="5229817"/>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559001"/>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906473"/>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90647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99791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997913"/>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906473"/>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90647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99791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997913"/>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906473"/>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26131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27045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2704549"/>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27319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2731981"/>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2704549"/>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3033733"/>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338120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3381205"/>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3472645"/>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3472645"/>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338120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3472645"/>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3472645"/>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338120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875743"/>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96718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967183"/>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994615"/>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994615"/>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96718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4296367"/>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643839"/>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643839"/>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73527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735279"/>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643839"/>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73527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735279"/>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643839"/>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643839"/>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513837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522981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5229817"/>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5257249"/>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5257249"/>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5229817"/>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559001"/>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906473"/>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90647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99791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997913"/>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906473"/>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90647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99791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997913"/>
            <a:ext cx="91440" cy="146304"/>
          </a:xfrm>
          <a:prstGeom prst="rect">
            <a:avLst/>
          </a:prstGeom>
          <a:noFill/>
          <a:ln/>
        </p:spPr>
        <p:txBody>
          <a:bodyPr wrap="square" lIns="0" tIns="0" rIns="0" bIns="0" rtlCol="0" anchor="ctr"/>
          <a:lstStyle/>
          <a:p>
            <a:pPr marL="0" indent="0" algn="ctr">
              <a:buNone/>
            </a:pPr>
            <a:r>
              <a:rPr lang="en-US" sz="4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906473"/>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906473"/>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220949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2192516"/>
            <a:ext cx="4023360" cy="237744"/>
          </a:xfrm>
          <a:prstGeom prst="rect">
            <a:avLst/>
          </a:prstGeom>
          <a:noFill/>
          <a:ln/>
        </p:spPr>
        <p:txBody>
          <a:bodyPr wrap="square" lIns="0" tIns="0" rIns="0" bIns="0" rtlCol="0" anchor="ctr"/>
          <a:lstStyle/>
          <a:p>
            <a:pPr marL="0" indent="0">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0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2202968"/>
            <a:ext cx="2361009" cy="182880"/>
          </a:xfrm>
          <a:prstGeom prst="rect">
            <a:avLst/>
          </a:prstGeom>
          <a:noFill/>
          <a:ln/>
        </p:spPr>
        <p:txBody>
          <a:bodyPr wrap="square" lIns="0" tIns="0" rIns="0" bIns="0" rtlCol="0" anchor="ctr"/>
          <a:lstStyle/>
          <a:p>
            <a:pPr marL="0" indent="0">
              <a:buNone/>
            </a:pPr>
            <a:r>
              <a:rPr lang="en-US" sz="7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7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220949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2192516"/>
            <a:ext cx="4023360" cy="237744"/>
          </a:xfrm>
          <a:prstGeom prst="rect">
            <a:avLst/>
          </a:prstGeom>
          <a:noFill/>
          <a:ln/>
        </p:spPr>
        <p:txBody>
          <a:bodyPr wrap="square" lIns="0" tIns="0" rIns="0" bIns="0" rtlCol="0" anchor="ctr"/>
          <a:lstStyle/>
          <a:p>
            <a:pPr marL="0" indent="0">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0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874674" y="2202968"/>
            <a:ext cx="2361009" cy="182880"/>
          </a:xfrm>
          <a:prstGeom prst="rect">
            <a:avLst/>
          </a:prstGeom>
          <a:noFill/>
          <a:ln/>
        </p:spPr>
        <p:txBody>
          <a:bodyPr wrap="square" lIns="0" tIns="0" rIns="0" bIns="0" rtlCol="0" anchor="ctr"/>
          <a:lstStyle/>
          <a:p>
            <a:pPr marL="0" indent="0">
              <a:buNone/>
            </a:pPr>
            <a:r>
              <a:rPr lang="en-US" sz="7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7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262044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271188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2711882"/>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1079235" y="273931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1079235" y="2739314"/>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2711882"/>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0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3041066"/>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6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3388538"/>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70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3479978"/>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3479978"/>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3388538"/>
            <a:ext cx="1274064" cy="329184"/>
          </a:xfrm>
          <a:prstGeom prst="roundRect">
            <a:avLst>
              <a:gd name="adj" fmla="val 16667"/>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3388538"/>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70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3479978"/>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3479978"/>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3388538"/>
            <a:ext cx="1274064" cy="329184"/>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70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70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88307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31763" y="397451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31763" y="3974516"/>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1079235" y="4001948"/>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79235" y="4001948"/>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1993635" y="39745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0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4303700"/>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6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651172"/>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70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74261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742612"/>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651172"/>
            <a:ext cx="1274064" cy="329184"/>
          </a:xfrm>
          <a:prstGeom prst="roundRect">
            <a:avLst>
              <a:gd name="adj" fmla="val 16667"/>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651172"/>
            <a:ext cx="1274064" cy="329184"/>
          </a:xfrm>
          <a:prstGeom prst="rect">
            <a:avLst/>
          </a:prstGeom>
          <a:noFill/>
          <a:ln>
            <a:noFill/>
          </a:ln>
        </p:spPr>
        <p:txBody>
          <a:bodyPr wrap="square" lIns="0" tIns="0" rIns="0" bIns="0" rtlCol="0" anchor="ctr"/>
          <a:lstStyle/>
          <a:p>
            <a:pPr marL="0" indent="0" algn="ctr">
              <a:lnSpc>
                <a:spcPct val="115000"/>
              </a:lnSpc>
              <a:buNone/>
            </a:pPr>
            <a:r>
              <a:rPr lang="en-US" sz="8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8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74261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742612"/>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651172"/>
            <a:ext cx="1274064" cy="329184"/>
          </a:xfrm>
          <a:prstGeom prst="roundRect">
            <a:avLst>
              <a:gd name="adj" fmla="val 16667"/>
            </a:avLst>
          </a:prstGeom>
          <a:solidFill>
            <a:schemeClr val="tx1"/>
          </a:solidFill>
          <a:ln w="12700">
            <a:no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651172"/>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70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514571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31763" y="523715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31763" y="5237150"/>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1079235" y="526458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5264582"/>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1993635" y="5237150"/>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0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566334"/>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6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913806"/>
            <a:ext cx="1274064" cy="329184"/>
          </a:xfrm>
          <a:prstGeom prst="roundRect">
            <a:avLst>
              <a:gd name="adj" fmla="val 16667"/>
            </a:avLst>
          </a:prstGeom>
          <a:solidFill>
            <a:schemeClr val="tx1"/>
          </a:solidFill>
          <a:ln w="12700">
            <a:no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913806"/>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7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913806"/>
            <a:ext cx="1274064" cy="329184"/>
          </a:xfrm>
          <a:prstGeom prst="roundRect">
            <a:avLst>
              <a:gd name="adj" fmla="val 16667"/>
            </a:avLst>
          </a:prstGeom>
          <a:solidFill>
            <a:schemeClr val="tx1"/>
          </a:solidFill>
          <a:ln w="12700">
            <a:no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913806"/>
            <a:ext cx="1274064" cy="329184"/>
          </a:xfrm>
          <a:prstGeom prst="rect">
            <a:avLst/>
          </a:prstGeom>
          <a:noFill/>
          <a:ln>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7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913806"/>
            <a:ext cx="1274064" cy="329184"/>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7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7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262044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271188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2711882"/>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273931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523219" y="2739314"/>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2711882"/>
            <a:ext cx="298094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高スコアユーザーを自動でスタッフにアラート通知</a:t>
            </a:r>
            <a:endParaRPr lang="en-US" sz="10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3041066"/>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6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3388538"/>
            <a:ext cx="1274064" cy="329184"/>
          </a:xfrm>
          <a:prstGeom prst="roundRect">
            <a:avLst>
              <a:gd name="adj" fmla="val 16667"/>
            </a:avLst>
          </a:prstGeom>
          <a:solidFill>
            <a:schemeClr val="tx1"/>
          </a:solidFill>
          <a:ln w="12700">
            <a:no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3388538"/>
            <a:ext cx="1274064" cy="329184"/>
          </a:xfrm>
          <a:prstGeom prst="rect">
            <a:avLst/>
          </a:prstGeom>
          <a:noFill/>
          <a:ln/>
        </p:spPr>
        <p:txBody>
          <a:bodyPr wrap="square" lIns="0" tIns="0" rIns="0" bIns="0" rtlCol="0" anchor="ctr"/>
          <a:lstStyle/>
          <a:p>
            <a:pPr marL="0" indent="0" algn="ctr">
              <a:lnSpc>
                <a:spcPct val="115000"/>
              </a:lnSpc>
              <a:buNone/>
            </a:pPr>
            <a:r>
              <a:rPr lang="en-US" sz="70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70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3479978"/>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3479978"/>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3388538"/>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70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3479978"/>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3479978"/>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3388538"/>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70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スタッフにアラート</a:t>
            </a:r>
            <a:endParaRPr lang="en-US" altLang="ja-JP" sz="70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88307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75747" y="397451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75747" y="3974516"/>
            <a:ext cx="274320" cy="274320"/>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23219" y="4001948"/>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523219" y="4001948"/>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37619" y="39745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BOT初期対応→温度感に応じて人に切り替える</a:t>
            </a:r>
            <a:endParaRPr lang="en-US" sz="10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4303700"/>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6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651172"/>
            <a:ext cx="1274064" cy="329184"/>
          </a:xfrm>
          <a:prstGeom prst="roundRect">
            <a:avLst>
              <a:gd name="adj" fmla="val 16667"/>
            </a:avLst>
          </a:prstGeom>
          <a:solidFill>
            <a:schemeClr val="tx1"/>
          </a:solidFill>
          <a:ln w="12700">
            <a:no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651172"/>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70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74261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742612"/>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651172"/>
            <a:ext cx="1274064" cy="329184"/>
          </a:xfrm>
          <a:prstGeom prst="roundRect">
            <a:avLst>
              <a:gd name="adj" fmla="val 16667"/>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651172"/>
            <a:ext cx="1274064" cy="329184"/>
          </a:xfrm>
          <a:prstGeom prst="rect">
            <a:avLst/>
          </a:prstGeom>
          <a:noFill/>
          <a:ln>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70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74261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742612"/>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651172"/>
            <a:ext cx="1274064" cy="329184"/>
          </a:xfrm>
          <a:prstGeom prst="roundRect">
            <a:avLst>
              <a:gd name="adj" fmla="val 16667"/>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651172"/>
            <a:ext cx="1274064" cy="329184"/>
          </a:xfrm>
          <a:prstGeom prst="rect">
            <a:avLst/>
          </a:prstGeom>
          <a:noFill/>
          <a:ln>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70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514571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75747" y="523715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75747" y="5237150"/>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23219" y="5264582"/>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523219" y="5264582"/>
            <a:ext cx="859536" cy="201168"/>
          </a:xfrm>
          <a:prstGeom prst="rect">
            <a:avLst/>
          </a:prstGeom>
          <a:solidFill>
            <a:schemeClr val="tx2"/>
          </a:solid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7619" y="5237150"/>
            <a:ext cx="305472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0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0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566334"/>
            <a:ext cx="4059936" cy="310896"/>
          </a:xfrm>
          <a:prstGeom prst="rect">
            <a:avLst/>
          </a:prstGeom>
          <a:noFill/>
          <a:ln/>
        </p:spPr>
        <p:txBody>
          <a:bodyPr wrap="square" lIns="0" tIns="0" rIns="0" bIns="0" rtlCol="0" anchor="ctr"/>
          <a:lstStyle/>
          <a:p>
            <a:pPr marL="0" indent="0">
              <a:lnSpc>
                <a:spcPct val="140000"/>
              </a:lnSpc>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6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913806"/>
            <a:ext cx="1274064" cy="329184"/>
          </a:xfrm>
          <a:prstGeom prst="roundRect">
            <a:avLst>
              <a:gd name="adj" fmla="val 16667"/>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913806"/>
            <a:ext cx="1274064" cy="329184"/>
          </a:xfrm>
          <a:prstGeom prst="rect">
            <a:avLst/>
          </a:prstGeom>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7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913806"/>
            <a:ext cx="1274064" cy="329184"/>
          </a:xfrm>
          <a:prstGeom prst="roundRect">
            <a:avLst>
              <a:gd name="adj" fmla="val 16667"/>
            </a:avLst>
          </a:prstGeom>
          <a:solidFill>
            <a:schemeClr val="tx1"/>
          </a:solidFill>
          <a:ln w="12700">
            <a:no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913806"/>
            <a:ext cx="1274064" cy="329184"/>
          </a:xfrm>
          <a:prstGeom prst="rect">
            <a:avLst/>
          </a:prstGeom>
          <a:noFill/>
          <a:ln>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7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913806"/>
            <a:ext cx="1274064" cy="329184"/>
          </a:xfrm>
          <a:prstGeom prst="roundRect">
            <a:avLst>
              <a:gd name="adj" fmla="val 16667"/>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913806"/>
            <a:ext cx="1274064" cy="329184"/>
          </a:xfrm>
          <a:prstGeom prst="rect">
            <a:avLst/>
          </a:prstGeom>
          <a:noFill/>
          <a:ln>
            <a:noFill/>
          </a:ln>
        </p:spPr>
        <p:txBody>
          <a:bodyPr wrap="square" lIns="0" tIns="0" rIns="0" bIns="0" rtlCol="0" anchor="ctr"/>
          <a:lstStyle/>
          <a:p>
            <a:pPr marL="0" indent="0" algn="ctr">
              <a:lnSpc>
                <a:spcPct val="115000"/>
              </a:lnSpc>
              <a:buNone/>
            </a:pPr>
            <a:r>
              <a:rPr lang="en-US" sz="7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7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602658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6026582"/>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6026582"/>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6026582"/>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600205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6002059"/>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6002059"/>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6002059"/>
            <a:ext cx="91440" cy="146304"/>
          </a:xfrm>
          <a:prstGeom prst="rect">
            <a:avLst/>
          </a:prstGeom>
          <a:noFill/>
          <a:ln/>
        </p:spPr>
        <p:txBody>
          <a:bodyPr wrap="square" lIns="0" tIns="0" rIns="0" bIns="0" rtlCol="0" anchor="ctr"/>
          <a:lstStyle/>
          <a:p>
            <a:pPr marL="0" indent="0" algn="ctr">
              <a:buNone/>
            </a:pPr>
            <a:r>
              <a:rPr lang="en-US" sz="6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4070-0F2B-474C-0AD3-89D288BF8607}"/>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5E6F5D8-69FF-EC49-F89A-79FBF097914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具体施策（友だち追加～短期施策）</a:t>
            </a:r>
          </a:p>
        </p:txBody>
      </p:sp>
      <p:sp>
        <p:nvSpPr>
          <p:cNvPr id="2" name="Google Shape;752;p28">
            <a:extLst>
              <a:ext uri="{FF2B5EF4-FFF2-40B4-BE49-F238E27FC236}">
                <a16:creationId xmlns:a16="http://schemas.microsoft.com/office/drawing/2014/main" id="{8DA9D746-57D8-A7F9-7048-09DA5704460D}"/>
              </a:ext>
            </a:extLst>
          </p:cNvPr>
          <p:cNvSpPr txBox="1"/>
          <p:nvPr/>
        </p:nvSpPr>
        <p:spPr>
          <a:xfrm>
            <a:off x="309397" y="655107"/>
            <a:ext cx="9330992" cy="584735"/>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友だち追加直後の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直近利用・契約可能性が高い</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とされるユーザーに対しては</a:t>
            </a:r>
            <a:endPar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endParaRPr>
          </a:p>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トリガーとなる不安の払拭、条件面の精査を</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15-30</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日で設定しタッチポイントを増やす</a:t>
            </a:r>
          </a:p>
        </p:txBody>
      </p:sp>
      <p:sp>
        <p:nvSpPr>
          <p:cNvPr id="41" name="Shape 2">
            <a:extLst>
              <a:ext uri="{FF2B5EF4-FFF2-40B4-BE49-F238E27FC236}">
                <a16:creationId xmlns:a16="http://schemas.microsoft.com/office/drawing/2014/main" id="{72992F6A-FF2A-7ECF-0D33-F6529A528B57}"/>
              </a:ext>
            </a:extLst>
          </p:cNvPr>
          <p:cNvSpPr/>
          <p:nvPr/>
        </p:nvSpPr>
        <p:spPr>
          <a:xfrm>
            <a:off x="775063" y="2010373"/>
            <a:ext cx="8412480" cy="457200"/>
          </a:xfrm>
          <a:prstGeom prst="roundRect">
            <a:avLst>
              <a:gd name="adj" fmla="val 16000"/>
            </a:avLst>
          </a:prstGeom>
          <a:solidFill>
            <a:srgbClr val="F4F7FF"/>
          </a:solidFill>
          <a:ln w="12700">
            <a:solidFill>
              <a:srgbClr val="4A90D9"/>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Text 3">
            <a:extLst>
              <a:ext uri="{FF2B5EF4-FFF2-40B4-BE49-F238E27FC236}">
                <a16:creationId xmlns:a16="http://schemas.microsoft.com/office/drawing/2014/main" id="{190E6A1A-C1DD-4C8E-3197-5AD6F8426871}"/>
              </a:ext>
            </a:extLst>
          </p:cNvPr>
          <p:cNvSpPr/>
          <p:nvPr/>
        </p:nvSpPr>
        <p:spPr>
          <a:xfrm>
            <a:off x="957943" y="2010373"/>
            <a:ext cx="8229600" cy="457200"/>
          </a:xfrm>
          <a:prstGeom prst="rect">
            <a:avLst/>
          </a:prstGeom>
          <a:noFill/>
          <a:ln/>
        </p:spPr>
        <p:txBody>
          <a:bodyPr wrap="square" rtlCol="0" anchor="ctr"/>
          <a:lstStyle/>
          <a:p>
            <a:pPr marL="0" indent="0">
              <a:buNone/>
            </a:pPr>
            <a:r>
              <a:rPr lang="en-US" sz="1100" b="1" dirty="0">
                <a:solidFill>
                  <a:srgbClr val="1E2761"/>
                </a:solidFill>
                <a:latin typeface="メイリオ" panose="020B0604030504040204" pitchFamily="50" charset="-128"/>
                <a:ea typeface="メイリオ" panose="020B0604030504040204" pitchFamily="50" charset="-128"/>
                <a:cs typeface="Calibri" pitchFamily="34" charset="-120"/>
              </a:rPr>
              <a:t>目的：登録直後の本気度スクリーニング → 即アプローチ対象（⑤リード有効化）の特定</a:t>
            </a:r>
            <a:endParaRPr lang="en-US" sz="1100" dirty="0">
              <a:latin typeface="メイリオ" panose="020B0604030504040204" pitchFamily="50" charset="-128"/>
              <a:ea typeface="メイリオ" panose="020B0604030504040204" pitchFamily="50" charset="-128"/>
            </a:endParaRPr>
          </a:p>
        </p:txBody>
      </p:sp>
      <p:sp>
        <p:nvSpPr>
          <p:cNvPr id="43" name="Shape 4">
            <a:extLst>
              <a:ext uri="{FF2B5EF4-FFF2-40B4-BE49-F238E27FC236}">
                <a16:creationId xmlns:a16="http://schemas.microsoft.com/office/drawing/2014/main" id="{D015C19B-5468-998D-251F-6B1B6959CE07}"/>
              </a:ext>
            </a:extLst>
          </p:cNvPr>
          <p:cNvSpPr/>
          <p:nvPr/>
        </p:nvSpPr>
        <p:spPr>
          <a:xfrm>
            <a:off x="775063" y="2604733"/>
            <a:ext cx="8412480" cy="621792"/>
          </a:xfrm>
          <a:prstGeom prst="roundRect">
            <a:avLst>
              <a:gd name="adj" fmla="val 10294"/>
            </a:avLst>
          </a:prstGeom>
          <a:solidFill>
            <a:srgbClr val="F4F7FF"/>
          </a:solidFill>
          <a:ln w="12700">
            <a:solidFill>
              <a:srgbClr val="D1D9F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5">
            <a:extLst>
              <a:ext uri="{FF2B5EF4-FFF2-40B4-BE49-F238E27FC236}">
                <a16:creationId xmlns:a16="http://schemas.microsoft.com/office/drawing/2014/main" id="{414FEA14-8392-6B62-876D-80318C415543}"/>
              </a:ext>
            </a:extLst>
          </p:cNvPr>
          <p:cNvSpPr/>
          <p:nvPr/>
        </p:nvSpPr>
        <p:spPr>
          <a:xfrm>
            <a:off x="848215" y="2714461"/>
            <a:ext cx="329184" cy="329184"/>
          </a:xfrm>
          <a:prstGeom prst="ellipse">
            <a:avLst/>
          </a:prstGeom>
          <a:solidFill>
            <a:srgbClr val="4A90D9"/>
          </a:solidFill>
          <a:ln w="12700">
            <a:solidFill>
              <a:srgbClr val="4A90D9"/>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6">
            <a:extLst>
              <a:ext uri="{FF2B5EF4-FFF2-40B4-BE49-F238E27FC236}">
                <a16:creationId xmlns:a16="http://schemas.microsoft.com/office/drawing/2014/main" id="{F75BBB7C-7CE8-CD05-76B4-8EAB532092DA}"/>
              </a:ext>
            </a:extLst>
          </p:cNvPr>
          <p:cNvSpPr/>
          <p:nvPr/>
        </p:nvSpPr>
        <p:spPr>
          <a:xfrm>
            <a:off x="848215" y="2714461"/>
            <a:ext cx="329184" cy="329184"/>
          </a:xfrm>
          <a:prstGeom prst="rect">
            <a:avLst/>
          </a:prstGeom>
          <a:noFill/>
          <a:ln/>
        </p:spPr>
        <p:txBody>
          <a:bodyPr wrap="square"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6" name="Text 7">
            <a:extLst>
              <a:ext uri="{FF2B5EF4-FFF2-40B4-BE49-F238E27FC236}">
                <a16:creationId xmlns:a16="http://schemas.microsoft.com/office/drawing/2014/main" id="{1A4AA2AA-6FF8-3D30-B16C-44EC5F2961CD}"/>
              </a:ext>
            </a:extLst>
          </p:cNvPr>
          <p:cNvSpPr/>
          <p:nvPr/>
        </p:nvSpPr>
        <p:spPr>
          <a:xfrm>
            <a:off x="1250551" y="2650453"/>
            <a:ext cx="5303520" cy="256032"/>
          </a:xfrm>
          <a:prstGeom prst="rect">
            <a:avLst/>
          </a:prstGeom>
          <a:noFill/>
          <a:ln/>
        </p:spPr>
        <p:txBody>
          <a:bodyPr wrap="square" lIns="0" tIns="0" rIns="0" bIns="0" rtlCol="0" anchor="ctr"/>
          <a:lstStyle/>
          <a:p>
            <a:pPr marL="0" indent="0">
              <a:buNone/>
            </a:pPr>
            <a:r>
              <a:rPr lang="en-US" sz="1100" b="1" dirty="0">
                <a:solidFill>
                  <a:srgbClr val="1E2761"/>
                </a:solidFill>
                <a:latin typeface="メイリオ" panose="020B0604030504040204" pitchFamily="50" charset="-128"/>
                <a:ea typeface="メイリオ" panose="020B0604030504040204" pitchFamily="50" charset="-128"/>
                <a:cs typeface="Calibri" pitchFamily="34" charset="-120"/>
              </a:rPr>
              <a:t>Q1. 転職を検討し始めた理由は？</a:t>
            </a:r>
            <a:endParaRPr lang="en-US" sz="1100" dirty="0">
              <a:latin typeface="メイリオ" panose="020B0604030504040204" pitchFamily="50" charset="-128"/>
              <a:ea typeface="メイリオ" panose="020B0604030504040204" pitchFamily="50" charset="-128"/>
            </a:endParaRPr>
          </a:p>
        </p:txBody>
      </p:sp>
      <p:sp>
        <p:nvSpPr>
          <p:cNvPr id="47" name="Text 8">
            <a:extLst>
              <a:ext uri="{FF2B5EF4-FFF2-40B4-BE49-F238E27FC236}">
                <a16:creationId xmlns:a16="http://schemas.microsoft.com/office/drawing/2014/main" id="{7A1F59F1-0B49-73D0-38BD-9948F9A63985}"/>
              </a:ext>
            </a:extLst>
          </p:cNvPr>
          <p:cNvSpPr/>
          <p:nvPr/>
        </p:nvSpPr>
        <p:spPr>
          <a:xfrm>
            <a:off x="1250551" y="2915629"/>
            <a:ext cx="5029200" cy="237744"/>
          </a:xfrm>
          <a:prstGeom prst="rect">
            <a:avLst/>
          </a:prstGeom>
          <a:noFill/>
          <a:ln/>
        </p:spPr>
        <p:txBody>
          <a:bodyPr wrap="square" lIns="0" tIns="0" rIns="0" bIns="0" rtlCol="0" anchor="ctr"/>
          <a:lstStyle/>
          <a:p>
            <a:pPr marL="0" indent="0">
              <a:buNone/>
            </a:pPr>
            <a:r>
              <a:rPr lang="en-US" sz="850" dirty="0">
                <a:solidFill>
                  <a:srgbClr val="64748B"/>
                </a:solidFill>
                <a:latin typeface="メイリオ" panose="020B0604030504040204" pitchFamily="50" charset="-128"/>
                <a:ea typeface="メイリオ" panose="020B0604030504040204" pitchFamily="50" charset="-128"/>
                <a:cs typeface="Calibri" pitchFamily="34" charset="-120"/>
              </a:rPr>
              <a:t>A) 年収アップ　B) 人間関係　C) キャリアアップ　D) 会社の将来性　E) ライフスタイル変化</a:t>
            </a:r>
            <a:endParaRPr lang="en-US" sz="850" dirty="0">
              <a:latin typeface="メイリオ" panose="020B0604030504040204" pitchFamily="50" charset="-128"/>
              <a:ea typeface="メイリオ" panose="020B0604030504040204" pitchFamily="50" charset="-128"/>
            </a:endParaRPr>
          </a:p>
        </p:txBody>
      </p:sp>
      <p:sp>
        <p:nvSpPr>
          <p:cNvPr id="48" name="Shape 9">
            <a:extLst>
              <a:ext uri="{FF2B5EF4-FFF2-40B4-BE49-F238E27FC236}">
                <a16:creationId xmlns:a16="http://schemas.microsoft.com/office/drawing/2014/main" id="{03F3B165-CA3D-3804-AA50-7C78C7C7EB79}"/>
              </a:ext>
            </a:extLst>
          </p:cNvPr>
          <p:cNvSpPr/>
          <p:nvPr/>
        </p:nvSpPr>
        <p:spPr>
          <a:xfrm>
            <a:off x="6444343" y="2677885"/>
            <a:ext cx="2743200" cy="457200"/>
          </a:xfrm>
          <a:prstGeom prst="roundRect">
            <a:avLst>
              <a:gd name="adj" fmla="val 10000"/>
            </a:avLst>
          </a:prstGeom>
          <a:solidFill>
            <a:srgbClr val="FFF8E8"/>
          </a:solidFill>
          <a:ln w="12700">
            <a:solidFill>
              <a:srgbClr val="E8A838"/>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9" name="Text 10">
            <a:extLst>
              <a:ext uri="{FF2B5EF4-FFF2-40B4-BE49-F238E27FC236}">
                <a16:creationId xmlns:a16="http://schemas.microsoft.com/office/drawing/2014/main" id="{DF68B239-8CBC-8341-BA16-8510179A4777}"/>
              </a:ext>
            </a:extLst>
          </p:cNvPr>
          <p:cNvSpPr/>
          <p:nvPr/>
        </p:nvSpPr>
        <p:spPr>
          <a:xfrm>
            <a:off x="6490063" y="2677885"/>
            <a:ext cx="2651760" cy="457200"/>
          </a:xfrm>
          <a:prstGeom prst="rect">
            <a:avLst/>
          </a:prstGeom>
          <a:noFill/>
          <a:ln/>
        </p:spPr>
        <p:txBody>
          <a:bodyPr wrap="square" rtlCol="0" anchor="ctr"/>
          <a:lstStyle/>
          <a:p>
            <a:pPr marL="0" indent="0">
              <a:lnSpc>
                <a:spcPct val="120000"/>
              </a:lnSpc>
              <a:buNone/>
            </a:pPr>
            <a:r>
              <a:rPr lang="en-US" sz="850" dirty="0" err="1">
                <a:solidFill>
                  <a:srgbClr val="7A5200"/>
                </a:solidFill>
                <a:latin typeface="メイリオ" panose="020B0604030504040204" pitchFamily="50" charset="-128"/>
                <a:ea typeface="メイリオ" panose="020B0604030504040204" pitchFamily="50" charset="-128"/>
                <a:cs typeface="Calibri" pitchFamily="34" charset="-120"/>
              </a:rPr>
              <a:t>セグメント分けの最重要設問。回答別に配信内容を変える</a:t>
            </a:r>
            <a:endParaRPr lang="en-US" sz="850" dirty="0">
              <a:latin typeface="メイリオ" panose="020B0604030504040204" pitchFamily="50" charset="-128"/>
              <a:ea typeface="メイリオ" panose="020B0604030504040204" pitchFamily="50" charset="-128"/>
            </a:endParaRPr>
          </a:p>
        </p:txBody>
      </p:sp>
      <p:sp>
        <p:nvSpPr>
          <p:cNvPr id="50" name="Shape 11">
            <a:extLst>
              <a:ext uri="{FF2B5EF4-FFF2-40B4-BE49-F238E27FC236}">
                <a16:creationId xmlns:a16="http://schemas.microsoft.com/office/drawing/2014/main" id="{CEC57A7B-58B4-1F60-CC69-2D9C22413BEF}"/>
              </a:ext>
            </a:extLst>
          </p:cNvPr>
          <p:cNvSpPr/>
          <p:nvPr/>
        </p:nvSpPr>
        <p:spPr>
          <a:xfrm>
            <a:off x="775063" y="3290533"/>
            <a:ext cx="8412480" cy="621792"/>
          </a:xfrm>
          <a:prstGeom prst="roundRect">
            <a:avLst>
              <a:gd name="adj" fmla="val 10294"/>
            </a:avLst>
          </a:prstGeom>
          <a:solidFill>
            <a:srgbClr val="FFFFFF"/>
          </a:solidFill>
          <a:ln w="12700">
            <a:solidFill>
              <a:srgbClr val="D1D9F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1" name="Shape 12">
            <a:extLst>
              <a:ext uri="{FF2B5EF4-FFF2-40B4-BE49-F238E27FC236}">
                <a16:creationId xmlns:a16="http://schemas.microsoft.com/office/drawing/2014/main" id="{0FF9816E-5F43-9459-6349-51431111FD45}"/>
              </a:ext>
            </a:extLst>
          </p:cNvPr>
          <p:cNvSpPr/>
          <p:nvPr/>
        </p:nvSpPr>
        <p:spPr>
          <a:xfrm>
            <a:off x="848215" y="3400261"/>
            <a:ext cx="329184" cy="329184"/>
          </a:xfrm>
          <a:prstGeom prst="ellipse">
            <a:avLst/>
          </a:prstGeom>
          <a:solidFill>
            <a:srgbClr val="4A90D9"/>
          </a:solidFill>
          <a:ln w="12700">
            <a:solidFill>
              <a:srgbClr val="4A90D9"/>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13">
            <a:extLst>
              <a:ext uri="{FF2B5EF4-FFF2-40B4-BE49-F238E27FC236}">
                <a16:creationId xmlns:a16="http://schemas.microsoft.com/office/drawing/2014/main" id="{2BF8E88C-4FC5-B1C2-A8E8-D33029A55D78}"/>
              </a:ext>
            </a:extLst>
          </p:cNvPr>
          <p:cNvSpPr/>
          <p:nvPr/>
        </p:nvSpPr>
        <p:spPr>
          <a:xfrm>
            <a:off x="848215" y="3400261"/>
            <a:ext cx="329184" cy="329184"/>
          </a:xfrm>
          <a:prstGeom prst="rect">
            <a:avLst/>
          </a:prstGeom>
          <a:noFill/>
          <a:ln/>
        </p:spPr>
        <p:txBody>
          <a:bodyPr wrap="square"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3" name="Text 14">
            <a:extLst>
              <a:ext uri="{FF2B5EF4-FFF2-40B4-BE49-F238E27FC236}">
                <a16:creationId xmlns:a16="http://schemas.microsoft.com/office/drawing/2014/main" id="{4AB095EB-AFFB-C1EB-53C1-4C882C450F66}"/>
              </a:ext>
            </a:extLst>
          </p:cNvPr>
          <p:cNvSpPr/>
          <p:nvPr/>
        </p:nvSpPr>
        <p:spPr>
          <a:xfrm>
            <a:off x="1250551" y="3336253"/>
            <a:ext cx="5303520" cy="256032"/>
          </a:xfrm>
          <a:prstGeom prst="rect">
            <a:avLst/>
          </a:prstGeom>
          <a:noFill/>
          <a:ln/>
        </p:spPr>
        <p:txBody>
          <a:bodyPr wrap="square" lIns="0" tIns="0" rIns="0" bIns="0" rtlCol="0" anchor="ctr"/>
          <a:lstStyle/>
          <a:p>
            <a:pPr marL="0" indent="0">
              <a:buNone/>
            </a:pPr>
            <a:r>
              <a:rPr lang="en-US" sz="1100" b="1" dirty="0">
                <a:solidFill>
                  <a:srgbClr val="1E2761"/>
                </a:solidFill>
                <a:latin typeface="メイリオ" panose="020B0604030504040204" pitchFamily="50" charset="-128"/>
                <a:ea typeface="メイリオ" panose="020B0604030504040204" pitchFamily="50" charset="-128"/>
                <a:cs typeface="Calibri" pitchFamily="34" charset="-120"/>
              </a:rPr>
              <a:t>Q2. 転職希望時期はいつ頃ですか？</a:t>
            </a:r>
            <a:endParaRPr lang="en-US" sz="1100" dirty="0">
              <a:latin typeface="メイリオ" panose="020B0604030504040204" pitchFamily="50" charset="-128"/>
              <a:ea typeface="メイリオ" panose="020B0604030504040204" pitchFamily="50" charset="-128"/>
            </a:endParaRPr>
          </a:p>
        </p:txBody>
      </p:sp>
      <p:sp>
        <p:nvSpPr>
          <p:cNvPr id="54" name="Text 15">
            <a:extLst>
              <a:ext uri="{FF2B5EF4-FFF2-40B4-BE49-F238E27FC236}">
                <a16:creationId xmlns:a16="http://schemas.microsoft.com/office/drawing/2014/main" id="{C6FBF75D-9A2C-AB9C-797C-A65992057C82}"/>
              </a:ext>
            </a:extLst>
          </p:cNvPr>
          <p:cNvSpPr/>
          <p:nvPr/>
        </p:nvSpPr>
        <p:spPr>
          <a:xfrm>
            <a:off x="1250551" y="3601429"/>
            <a:ext cx="5029200" cy="237744"/>
          </a:xfrm>
          <a:prstGeom prst="rect">
            <a:avLst/>
          </a:prstGeom>
          <a:noFill/>
          <a:ln/>
        </p:spPr>
        <p:txBody>
          <a:bodyPr wrap="square" lIns="0" tIns="0" rIns="0" bIns="0" rtlCol="0" anchor="ctr"/>
          <a:lstStyle/>
          <a:p>
            <a:pPr marL="0" indent="0">
              <a:buNone/>
            </a:pPr>
            <a:r>
              <a:rPr lang="en-US" sz="850" dirty="0">
                <a:solidFill>
                  <a:srgbClr val="64748B"/>
                </a:solidFill>
                <a:latin typeface="メイリオ" panose="020B0604030504040204" pitchFamily="50" charset="-128"/>
                <a:ea typeface="メイリオ" panose="020B0604030504040204" pitchFamily="50" charset="-128"/>
                <a:cs typeface="Calibri" pitchFamily="34" charset="-120"/>
              </a:rPr>
              <a:t>A) 1ヶ月以内　B) 3ヶ月以内　C) 半年以内　D) まだ決めていない</a:t>
            </a:r>
            <a:endParaRPr lang="en-US" sz="850" dirty="0">
              <a:latin typeface="メイリオ" panose="020B0604030504040204" pitchFamily="50" charset="-128"/>
              <a:ea typeface="メイリオ" panose="020B0604030504040204" pitchFamily="50" charset="-128"/>
            </a:endParaRPr>
          </a:p>
        </p:txBody>
      </p:sp>
      <p:sp>
        <p:nvSpPr>
          <p:cNvPr id="55" name="Shape 16">
            <a:extLst>
              <a:ext uri="{FF2B5EF4-FFF2-40B4-BE49-F238E27FC236}">
                <a16:creationId xmlns:a16="http://schemas.microsoft.com/office/drawing/2014/main" id="{8B4031C1-8F8E-5381-AAC9-77A14A56B7F6}"/>
              </a:ext>
            </a:extLst>
          </p:cNvPr>
          <p:cNvSpPr/>
          <p:nvPr/>
        </p:nvSpPr>
        <p:spPr>
          <a:xfrm>
            <a:off x="6444343" y="3363685"/>
            <a:ext cx="2743200" cy="457200"/>
          </a:xfrm>
          <a:prstGeom prst="roundRect">
            <a:avLst>
              <a:gd name="adj" fmla="val 10000"/>
            </a:avLst>
          </a:prstGeom>
          <a:solidFill>
            <a:srgbClr val="FFF8E8"/>
          </a:solidFill>
          <a:ln w="12700">
            <a:solidFill>
              <a:srgbClr val="E8A838"/>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6" name="Text 17">
            <a:extLst>
              <a:ext uri="{FF2B5EF4-FFF2-40B4-BE49-F238E27FC236}">
                <a16:creationId xmlns:a16="http://schemas.microsoft.com/office/drawing/2014/main" id="{35FE734F-4C1A-3B7B-8AA4-C2546973E56B}"/>
              </a:ext>
            </a:extLst>
          </p:cNvPr>
          <p:cNvSpPr/>
          <p:nvPr/>
        </p:nvSpPr>
        <p:spPr>
          <a:xfrm>
            <a:off x="6490063" y="3363685"/>
            <a:ext cx="2651760" cy="457200"/>
          </a:xfrm>
          <a:prstGeom prst="rect">
            <a:avLst/>
          </a:prstGeom>
          <a:noFill/>
          <a:ln/>
        </p:spPr>
        <p:txBody>
          <a:bodyPr wrap="square" rtlCol="0" anchor="ctr"/>
          <a:lstStyle/>
          <a:p>
            <a:pPr marL="0" indent="0">
              <a:lnSpc>
                <a:spcPct val="120000"/>
              </a:lnSpc>
              <a:buNone/>
            </a:pPr>
            <a:r>
              <a:rPr lang="en-US" sz="850" dirty="0">
                <a:solidFill>
                  <a:srgbClr val="7A5200"/>
                </a:solidFill>
                <a:latin typeface="メイリオ" panose="020B0604030504040204" pitchFamily="50" charset="-128"/>
                <a:ea typeface="メイリオ" panose="020B0604030504040204" pitchFamily="50" charset="-128"/>
                <a:cs typeface="Calibri" pitchFamily="34" charset="-120"/>
              </a:rPr>
              <a:t>「1〜3ヶ月以内」をホットリードとして即面談オファー対象に</a:t>
            </a:r>
            <a:endParaRPr lang="en-US" sz="850" dirty="0">
              <a:latin typeface="メイリオ" panose="020B0604030504040204" pitchFamily="50" charset="-128"/>
              <a:ea typeface="メイリオ" panose="020B0604030504040204" pitchFamily="50" charset="-128"/>
            </a:endParaRPr>
          </a:p>
        </p:txBody>
      </p:sp>
      <p:sp>
        <p:nvSpPr>
          <p:cNvPr id="57" name="Shape 18">
            <a:extLst>
              <a:ext uri="{FF2B5EF4-FFF2-40B4-BE49-F238E27FC236}">
                <a16:creationId xmlns:a16="http://schemas.microsoft.com/office/drawing/2014/main" id="{77F0529F-1B78-5C45-07C3-2B6DD4A77258}"/>
              </a:ext>
            </a:extLst>
          </p:cNvPr>
          <p:cNvSpPr/>
          <p:nvPr/>
        </p:nvSpPr>
        <p:spPr>
          <a:xfrm>
            <a:off x="775063" y="3976333"/>
            <a:ext cx="8412480" cy="621792"/>
          </a:xfrm>
          <a:prstGeom prst="roundRect">
            <a:avLst>
              <a:gd name="adj" fmla="val 10294"/>
            </a:avLst>
          </a:prstGeom>
          <a:solidFill>
            <a:srgbClr val="F4F7FF"/>
          </a:solidFill>
          <a:ln w="12700">
            <a:solidFill>
              <a:srgbClr val="D1D9F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8" name="Shape 19">
            <a:extLst>
              <a:ext uri="{FF2B5EF4-FFF2-40B4-BE49-F238E27FC236}">
                <a16:creationId xmlns:a16="http://schemas.microsoft.com/office/drawing/2014/main" id="{5CB9124D-3C60-302E-AD9D-68ADA9CED3C8}"/>
              </a:ext>
            </a:extLst>
          </p:cNvPr>
          <p:cNvSpPr/>
          <p:nvPr/>
        </p:nvSpPr>
        <p:spPr>
          <a:xfrm>
            <a:off x="848215" y="4086061"/>
            <a:ext cx="329184" cy="329184"/>
          </a:xfrm>
          <a:prstGeom prst="ellipse">
            <a:avLst/>
          </a:prstGeom>
          <a:solidFill>
            <a:srgbClr val="4A90D9"/>
          </a:solidFill>
          <a:ln w="12700">
            <a:solidFill>
              <a:srgbClr val="4A90D9"/>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9" name="Text 20">
            <a:extLst>
              <a:ext uri="{FF2B5EF4-FFF2-40B4-BE49-F238E27FC236}">
                <a16:creationId xmlns:a16="http://schemas.microsoft.com/office/drawing/2014/main" id="{DD06F576-0404-24E3-3484-9A5F77A77D7A}"/>
              </a:ext>
            </a:extLst>
          </p:cNvPr>
          <p:cNvSpPr/>
          <p:nvPr/>
        </p:nvSpPr>
        <p:spPr>
          <a:xfrm>
            <a:off x="848215" y="4086061"/>
            <a:ext cx="329184" cy="329184"/>
          </a:xfrm>
          <a:prstGeom prst="rect">
            <a:avLst/>
          </a:prstGeom>
          <a:noFill/>
          <a:ln/>
        </p:spPr>
        <p:txBody>
          <a:bodyPr wrap="square"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0" name="Text 21">
            <a:extLst>
              <a:ext uri="{FF2B5EF4-FFF2-40B4-BE49-F238E27FC236}">
                <a16:creationId xmlns:a16="http://schemas.microsoft.com/office/drawing/2014/main" id="{362B56FE-0308-5ACA-794F-33A473A74E16}"/>
              </a:ext>
            </a:extLst>
          </p:cNvPr>
          <p:cNvSpPr/>
          <p:nvPr/>
        </p:nvSpPr>
        <p:spPr>
          <a:xfrm>
            <a:off x="1250551" y="4022053"/>
            <a:ext cx="5303520" cy="256032"/>
          </a:xfrm>
          <a:prstGeom prst="rect">
            <a:avLst/>
          </a:prstGeom>
          <a:noFill/>
          <a:ln/>
        </p:spPr>
        <p:txBody>
          <a:bodyPr wrap="square" lIns="0" tIns="0" rIns="0" bIns="0" rtlCol="0" anchor="ctr"/>
          <a:lstStyle/>
          <a:p>
            <a:pPr marL="0" indent="0">
              <a:buNone/>
            </a:pPr>
            <a:r>
              <a:rPr lang="en-US" sz="1100" b="1" dirty="0">
                <a:solidFill>
                  <a:srgbClr val="1E2761"/>
                </a:solidFill>
                <a:latin typeface="メイリオ" panose="020B0604030504040204" pitchFamily="50" charset="-128"/>
                <a:ea typeface="メイリオ" panose="020B0604030504040204" pitchFamily="50" charset="-128"/>
                <a:cs typeface="Calibri" pitchFamily="34" charset="-120"/>
              </a:rPr>
              <a:t>Q3. 現在の年収（税込）を教えてください</a:t>
            </a:r>
            <a:endParaRPr lang="en-US" sz="1100" dirty="0">
              <a:latin typeface="メイリオ" panose="020B0604030504040204" pitchFamily="50" charset="-128"/>
              <a:ea typeface="メイリオ" panose="020B0604030504040204" pitchFamily="50" charset="-128"/>
            </a:endParaRPr>
          </a:p>
        </p:txBody>
      </p:sp>
      <p:sp>
        <p:nvSpPr>
          <p:cNvPr id="61" name="Text 22">
            <a:extLst>
              <a:ext uri="{FF2B5EF4-FFF2-40B4-BE49-F238E27FC236}">
                <a16:creationId xmlns:a16="http://schemas.microsoft.com/office/drawing/2014/main" id="{CECF4E63-76E9-FEA5-7805-491752940936}"/>
              </a:ext>
            </a:extLst>
          </p:cNvPr>
          <p:cNvSpPr/>
          <p:nvPr/>
        </p:nvSpPr>
        <p:spPr>
          <a:xfrm>
            <a:off x="1250551" y="4287229"/>
            <a:ext cx="5029200" cy="237744"/>
          </a:xfrm>
          <a:prstGeom prst="rect">
            <a:avLst/>
          </a:prstGeom>
          <a:noFill/>
          <a:ln/>
        </p:spPr>
        <p:txBody>
          <a:bodyPr wrap="square" lIns="0" tIns="0" rIns="0" bIns="0" rtlCol="0" anchor="ctr"/>
          <a:lstStyle/>
          <a:p>
            <a:pPr marL="0" indent="0">
              <a:buNone/>
            </a:pPr>
            <a:r>
              <a:rPr lang="en-US" sz="850" dirty="0">
                <a:solidFill>
                  <a:srgbClr val="64748B"/>
                </a:solidFill>
                <a:latin typeface="メイリオ" panose="020B0604030504040204" pitchFamily="50" charset="-128"/>
                <a:ea typeface="メイリオ" panose="020B0604030504040204" pitchFamily="50" charset="-128"/>
                <a:cs typeface="Calibri" pitchFamily="34" charset="-120"/>
              </a:rPr>
              <a:t>A) 〜300万　B) 300〜500万　C) 500〜700万　D) 700万〜</a:t>
            </a:r>
            <a:endParaRPr lang="en-US" sz="850" dirty="0">
              <a:latin typeface="メイリオ" panose="020B0604030504040204" pitchFamily="50" charset="-128"/>
              <a:ea typeface="メイリオ" panose="020B0604030504040204" pitchFamily="50" charset="-128"/>
            </a:endParaRPr>
          </a:p>
        </p:txBody>
      </p:sp>
      <p:sp>
        <p:nvSpPr>
          <p:cNvPr id="62" name="Shape 23">
            <a:extLst>
              <a:ext uri="{FF2B5EF4-FFF2-40B4-BE49-F238E27FC236}">
                <a16:creationId xmlns:a16="http://schemas.microsoft.com/office/drawing/2014/main" id="{DBA9622A-FDA2-1DDD-FBA3-73C50D3AB695}"/>
              </a:ext>
            </a:extLst>
          </p:cNvPr>
          <p:cNvSpPr/>
          <p:nvPr/>
        </p:nvSpPr>
        <p:spPr>
          <a:xfrm>
            <a:off x="6444343" y="4049485"/>
            <a:ext cx="2743200" cy="457200"/>
          </a:xfrm>
          <a:prstGeom prst="roundRect">
            <a:avLst>
              <a:gd name="adj" fmla="val 10000"/>
            </a:avLst>
          </a:prstGeom>
          <a:solidFill>
            <a:srgbClr val="FFF8E8"/>
          </a:solidFill>
          <a:ln w="12700">
            <a:solidFill>
              <a:srgbClr val="E8A838"/>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3" name="Text 24">
            <a:extLst>
              <a:ext uri="{FF2B5EF4-FFF2-40B4-BE49-F238E27FC236}">
                <a16:creationId xmlns:a16="http://schemas.microsoft.com/office/drawing/2014/main" id="{C60B9780-970F-8551-EE91-8044786C7B7C}"/>
              </a:ext>
            </a:extLst>
          </p:cNvPr>
          <p:cNvSpPr/>
          <p:nvPr/>
        </p:nvSpPr>
        <p:spPr>
          <a:xfrm>
            <a:off x="6490063" y="4049485"/>
            <a:ext cx="2651760" cy="457200"/>
          </a:xfrm>
          <a:prstGeom prst="rect">
            <a:avLst/>
          </a:prstGeom>
          <a:noFill/>
          <a:ln/>
        </p:spPr>
        <p:txBody>
          <a:bodyPr wrap="square" rtlCol="0" anchor="ctr"/>
          <a:lstStyle/>
          <a:p>
            <a:pPr marL="0" indent="0">
              <a:lnSpc>
                <a:spcPct val="120000"/>
              </a:lnSpc>
              <a:buNone/>
            </a:pPr>
            <a:r>
              <a:rPr lang="en-US" sz="850" dirty="0" err="1">
                <a:solidFill>
                  <a:srgbClr val="7A5200"/>
                </a:solidFill>
                <a:latin typeface="メイリオ" panose="020B0604030504040204" pitchFamily="50" charset="-128"/>
                <a:ea typeface="メイリオ" panose="020B0604030504040204" pitchFamily="50" charset="-128"/>
                <a:cs typeface="Calibri" pitchFamily="34" charset="-120"/>
              </a:rPr>
              <a:t>サービス対象層の絞り込みと、訴求する年収UP幅の設定に活用</a:t>
            </a:r>
            <a:endParaRPr lang="en-US" sz="850" dirty="0">
              <a:latin typeface="メイリオ" panose="020B0604030504040204" pitchFamily="50" charset="-128"/>
              <a:ea typeface="メイリオ" panose="020B0604030504040204" pitchFamily="50" charset="-128"/>
            </a:endParaRPr>
          </a:p>
        </p:txBody>
      </p:sp>
      <p:sp>
        <p:nvSpPr>
          <p:cNvPr id="64" name="Shape 25">
            <a:extLst>
              <a:ext uri="{FF2B5EF4-FFF2-40B4-BE49-F238E27FC236}">
                <a16:creationId xmlns:a16="http://schemas.microsoft.com/office/drawing/2014/main" id="{E6646D0D-AC17-9974-8BF6-E0C26901E16D}"/>
              </a:ext>
            </a:extLst>
          </p:cNvPr>
          <p:cNvSpPr/>
          <p:nvPr/>
        </p:nvSpPr>
        <p:spPr>
          <a:xfrm>
            <a:off x="775063" y="4662133"/>
            <a:ext cx="8412480" cy="621792"/>
          </a:xfrm>
          <a:prstGeom prst="roundRect">
            <a:avLst>
              <a:gd name="adj" fmla="val 10294"/>
            </a:avLst>
          </a:prstGeom>
          <a:solidFill>
            <a:srgbClr val="FFFFFF"/>
          </a:solidFill>
          <a:ln w="12700">
            <a:solidFill>
              <a:srgbClr val="D1D9F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5" name="Shape 26">
            <a:extLst>
              <a:ext uri="{FF2B5EF4-FFF2-40B4-BE49-F238E27FC236}">
                <a16:creationId xmlns:a16="http://schemas.microsoft.com/office/drawing/2014/main" id="{86330F7C-C512-505C-521A-A5D1453510E6}"/>
              </a:ext>
            </a:extLst>
          </p:cNvPr>
          <p:cNvSpPr/>
          <p:nvPr/>
        </p:nvSpPr>
        <p:spPr>
          <a:xfrm>
            <a:off x="848215" y="4771861"/>
            <a:ext cx="329184" cy="329184"/>
          </a:xfrm>
          <a:prstGeom prst="ellipse">
            <a:avLst/>
          </a:prstGeom>
          <a:solidFill>
            <a:srgbClr val="4A90D9"/>
          </a:solidFill>
          <a:ln w="12700">
            <a:solidFill>
              <a:srgbClr val="4A90D9"/>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6" name="Text 27">
            <a:extLst>
              <a:ext uri="{FF2B5EF4-FFF2-40B4-BE49-F238E27FC236}">
                <a16:creationId xmlns:a16="http://schemas.microsoft.com/office/drawing/2014/main" id="{8A40057C-798D-FCB7-8B6B-C2507589C664}"/>
              </a:ext>
            </a:extLst>
          </p:cNvPr>
          <p:cNvSpPr/>
          <p:nvPr/>
        </p:nvSpPr>
        <p:spPr>
          <a:xfrm>
            <a:off x="848215" y="4771861"/>
            <a:ext cx="329184" cy="329184"/>
          </a:xfrm>
          <a:prstGeom prst="rect">
            <a:avLst/>
          </a:prstGeom>
          <a:noFill/>
          <a:ln/>
        </p:spPr>
        <p:txBody>
          <a:bodyPr wrap="square"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67" name="Text 28">
            <a:extLst>
              <a:ext uri="{FF2B5EF4-FFF2-40B4-BE49-F238E27FC236}">
                <a16:creationId xmlns:a16="http://schemas.microsoft.com/office/drawing/2014/main" id="{FB185C3E-B3C3-8368-764A-0E889BE9E1DC}"/>
              </a:ext>
            </a:extLst>
          </p:cNvPr>
          <p:cNvSpPr/>
          <p:nvPr/>
        </p:nvSpPr>
        <p:spPr>
          <a:xfrm>
            <a:off x="1250551" y="4707853"/>
            <a:ext cx="5303520" cy="256032"/>
          </a:xfrm>
          <a:prstGeom prst="rect">
            <a:avLst/>
          </a:prstGeom>
          <a:noFill/>
          <a:ln/>
        </p:spPr>
        <p:txBody>
          <a:bodyPr wrap="square" lIns="0" tIns="0" rIns="0" bIns="0" rtlCol="0" anchor="ctr"/>
          <a:lstStyle/>
          <a:p>
            <a:pPr marL="0" indent="0">
              <a:buNone/>
            </a:pPr>
            <a:r>
              <a:rPr lang="en-US" sz="1100" b="1" dirty="0">
                <a:solidFill>
                  <a:srgbClr val="1E2761"/>
                </a:solidFill>
                <a:latin typeface="メイリオ" panose="020B0604030504040204" pitchFamily="50" charset="-128"/>
                <a:ea typeface="メイリオ" panose="020B0604030504040204" pitchFamily="50" charset="-128"/>
                <a:cs typeface="Calibri" pitchFamily="34" charset="-120"/>
              </a:rPr>
              <a:t>Q4. 今、転職活動で一番困っていることは？</a:t>
            </a:r>
            <a:endParaRPr lang="en-US" sz="1100" dirty="0">
              <a:latin typeface="メイリオ" panose="020B0604030504040204" pitchFamily="50" charset="-128"/>
              <a:ea typeface="メイリオ" panose="020B0604030504040204" pitchFamily="50" charset="-128"/>
            </a:endParaRPr>
          </a:p>
        </p:txBody>
      </p:sp>
      <p:sp>
        <p:nvSpPr>
          <p:cNvPr id="68" name="Text 29">
            <a:extLst>
              <a:ext uri="{FF2B5EF4-FFF2-40B4-BE49-F238E27FC236}">
                <a16:creationId xmlns:a16="http://schemas.microsoft.com/office/drawing/2014/main" id="{83A0111B-6C16-924D-2F24-F3322312058F}"/>
              </a:ext>
            </a:extLst>
          </p:cNvPr>
          <p:cNvSpPr/>
          <p:nvPr/>
        </p:nvSpPr>
        <p:spPr>
          <a:xfrm>
            <a:off x="1250551" y="4973029"/>
            <a:ext cx="5029200" cy="237744"/>
          </a:xfrm>
          <a:prstGeom prst="rect">
            <a:avLst/>
          </a:prstGeom>
          <a:noFill/>
          <a:ln/>
        </p:spPr>
        <p:txBody>
          <a:bodyPr wrap="square" lIns="0" tIns="0" rIns="0" bIns="0" rtlCol="0" anchor="ctr"/>
          <a:lstStyle/>
          <a:p>
            <a:pPr marL="0" indent="0">
              <a:buNone/>
            </a:pPr>
            <a:r>
              <a:rPr lang="en-US" sz="850" dirty="0">
                <a:solidFill>
                  <a:srgbClr val="64748B"/>
                </a:solidFill>
                <a:latin typeface="メイリオ" panose="020B0604030504040204" pitchFamily="50" charset="-128"/>
                <a:ea typeface="メイリオ" panose="020B0604030504040204" pitchFamily="50" charset="-128"/>
                <a:cs typeface="Calibri" pitchFamily="34" charset="-120"/>
              </a:rPr>
              <a:t>A) 求人の探し方がわからない　B) 職務経歴書の書き方　C) 面接が不安　D) 年収交渉が怖い</a:t>
            </a:r>
            <a:endParaRPr lang="en-US" sz="850" dirty="0">
              <a:latin typeface="メイリオ" panose="020B0604030504040204" pitchFamily="50" charset="-128"/>
              <a:ea typeface="メイリオ" panose="020B0604030504040204" pitchFamily="50" charset="-128"/>
            </a:endParaRPr>
          </a:p>
        </p:txBody>
      </p:sp>
      <p:sp>
        <p:nvSpPr>
          <p:cNvPr id="69" name="Shape 30">
            <a:extLst>
              <a:ext uri="{FF2B5EF4-FFF2-40B4-BE49-F238E27FC236}">
                <a16:creationId xmlns:a16="http://schemas.microsoft.com/office/drawing/2014/main" id="{B12A9147-2862-DE3E-8AA5-154403D7E2E5}"/>
              </a:ext>
            </a:extLst>
          </p:cNvPr>
          <p:cNvSpPr/>
          <p:nvPr/>
        </p:nvSpPr>
        <p:spPr>
          <a:xfrm>
            <a:off x="6444343" y="4735285"/>
            <a:ext cx="2743200" cy="457200"/>
          </a:xfrm>
          <a:prstGeom prst="roundRect">
            <a:avLst>
              <a:gd name="adj" fmla="val 10000"/>
            </a:avLst>
          </a:prstGeom>
          <a:solidFill>
            <a:srgbClr val="FFF8E8"/>
          </a:solidFill>
          <a:ln w="12700">
            <a:solidFill>
              <a:srgbClr val="E8A838"/>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Text 31">
            <a:extLst>
              <a:ext uri="{FF2B5EF4-FFF2-40B4-BE49-F238E27FC236}">
                <a16:creationId xmlns:a16="http://schemas.microsoft.com/office/drawing/2014/main" id="{B1610132-9C94-4121-0174-5C4B56C1E9C4}"/>
              </a:ext>
            </a:extLst>
          </p:cNvPr>
          <p:cNvSpPr/>
          <p:nvPr/>
        </p:nvSpPr>
        <p:spPr>
          <a:xfrm>
            <a:off x="6490063" y="4735285"/>
            <a:ext cx="2651760" cy="457200"/>
          </a:xfrm>
          <a:prstGeom prst="rect">
            <a:avLst/>
          </a:prstGeom>
          <a:noFill/>
          <a:ln/>
        </p:spPr>
        <p:txBody>
          <a:bodyPr wrap="square" rtlCol="0" anchor="ctr"/>
          <a:lstStyle/>
          <a:p>
            <a:pPr marL="0" indent="0">
              <a:lnSpc>
                <a:spcPct val="120000"/>
              </a:lnSpc>
              <a:buNone/>
            </a:pPr>
            <a:r>
              <a:rPr lang="en-US" sz="850" dirty="0" err="1">
                <a:solidFill>
                  <a:srgbClr val="7A5200"/>
                </a:solidFill>
                <a:latin typeface="メイリオ" panose="020B0604030504040204" pitchFamily="50" charset="-128"/>
                <a:ea typeface="メイリオ" panose="020B0604030504040204" pitchFamily="50" charset="-128"/>
                <a:cs typeface="Calibri" pitchFamily="34" charset="-120"/>
              </a:rPr>
              <a:t>ナーチャリングコンテンツの優先順位を決める設問</a:t>
            </a:r>
            <a:endParaRPr lang="en-US" sz="850" dirty="0">
              <a:latin typeface="メイリオ" panose="020B0604030504040204" pitchFamily="50" charset="-128"/>
              <a:ea typeface="メイリオ" panose="020B0604030504040204" pitchFamily="50" charset="-128"/>
            </a:endParaRPr>
          </a:p>
        </p:txBody>
      </p:sp>
      <p:sp>
        <p:nvSpPr>
          <p:cNvPr id="71" name="Shape 32">
            <a:extLst>
              <a:ext uri="{FF2B5EF4-FFF2-40B4-BE49-F238E27FC236}">
                <a16:creationId xmlns:a16="http://schemas.microsoft.com/office/drawing/2014/main" id="{5E0CF565-2E70-3594-94E3-B92DBA09CE1D}"/>
              </a:ext>
            </a:extLst>
          </p:cNvPr>
          <p:cNvSpPr/>
          <p:nvPr/>
        </p:nvSpPr>
        <p:spPr>
          <a:xfrm>
            <a:off x="775063" y="5347933"/>
            <a:ext cx="8412480" cy="621792"/>
          </a:xfrm>
          <a:prstGeom prst="roundRect">
            <a:avLst>
              <a:gd name="adj" fmla="val 10294"/>
            </a:avLst>
          </a:prstGeom>
          <a:solidFill>
            <a:srgbClr val="F4F7FF"/>
          </a:solidFill>
          <a:ln w="12700">
            <a:solidFill>
              <a:srgbClr val="D1D9F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Shape 33">
            <a:extLst>
              <a:ext uri="{FF2B5EF4-FFF2-40B4-BE49-F238E27FC236}">
                <a16:creationId xmlns:a16="http://schemas.microsoft.com/office/drawing/2014/main" id="{C3888C1F-7E31-5CB5-DB8C-6376B4A23075}"/>
              </a:ext>
            </a:extLst>
          </p:cNvPr>
          <p:cNvSpPr/>
          <p:nvPr/>
        </p:nvSpPr>
        <p:spPr>
          <a:xfrm>
            <a:off x="848215" y="5457661"/>
            <a:ext cx="329184" cy="329184"/>
          </a:xfrm>
          <a:prstGeom prst="ellipse">
            <a:avLst/>
          </a:prstGeom>
          <a:solidFill>
            <a:srgbClr val="4A90D9"/>
          </a:solidFill>
          <a:ln w="12700">
            <a:solidFill>
              <a:srgbClr val="4A90D9"/>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3" name="Text 34">
            <a:extLst>
              <a:ext uri="{FF2B5EF4-FFF2-40B4-BE49-F238E27FC236}">
                <a16:creationId xmlns:a16="http://schemas.microsoft.com/office/drawing/2014/main" id="{59588FF7-10F6-8141-4359-836B851E5424}"/>
              </a:ext>
            </a:extLst>
          </p:cNvPr>
          <p:cNvSpPr/>
          <p:nvPr/>
        </p:nvSpPr>
        <p:spPr>
          <a:xfrm>
            <a:off x="848215" y="5457661"/>
            <a:ext cx="329184" cy="329184"/>
          </a:xfrm>
          <a:prstGeom prst="rect">
            <a:avLst/>
          </a:prstGeom>
          <a:noFill/>
          <a:ln/>
        </p:spPr>
        <p:txBody>
          <a:bodyPr wrap="square"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5</a:t>
            </a:r>
            <a:endParaRPr lang="en-US" sz="1100" dirty="0">
              <a:latin typeface="メイリオ" panose="020B0604030504040204" pitchFamily="50" charset="-128"/>
              <a:ea typeface="メイリオ" panose="020B0604030504040204" pitchFamily="50" charset="-128"/>
            </a:endParaRPr>
          </a:p>
        </p:txBody>
      </p:sp>
      <p:sp>
        <p:nvSpPr>
          <p:cNvPr id="74" name="Text 35">
            <a:extLst>
              <a:ext uri="{FF2B5EF4-FFF2-40B4-BE49-F238E27FC236}">
                <a16:creationId xmlns:a16="http://schemas.microsoft.com/office/drawing/2014/main" id="{C5CFC561-6A8F-BACD-E02C-A277E8A3063E}"/>
              </a:ext>
            </a:extLst>
          </p:cNvPr>
          <p:cNvSpPr/>
          <p:nvPr/>
        </p:nvSpPr>
        <p:spPr>
          <a:xfrm>
            <a:off x="1250551" y="5393653"/>
            <a:ext cx="5303520" cy="256032"/>
          </a:xfrm>
          <a:prstGeom prst="rect">
            <a:avLst/>
          </a:prstGeom>
          <a:noFill/>
          <a:ln/>
        </p:spPr>
        <p:txBody>
          <a:bodyPr wrap="square" lIns="0" tIns="0" rIns="0" bIns="0" rtlCol="0" anchor="ctr"/>
          <a:lstStyle/>
          <a:p>
            <a:pPr marL="0" indent="0">
              <a:buNone/>
            </a:pPr>
            <a:r>
              <a:rPr lang="en-US" sz="1100" b="1" dirty="0">
                <a:solidFill>
                  <a:srgbClr val="1E2761"/>
                </a:solidFill>
                <a:latin typeface="メイリオ" panose="020B0604030504040204" pitchFamily="50" charset="-128"/>
                <a:ea typeface="メイリオ" panose="020B0604030504040204" pitchFamily="50" charset="-128"/>
                <a:cs typeface="Calibri" pitchFamily="34" charset="-120"/>
              </a:rPr>
              <a:t>Q5. 転職エージェントの利用経験はありますか？</a:t>
            </a:r>
            <a:endParaRPr lang="en-US" sz="1100" dirty="0">
              <a:latin typeface="メイリオ" panose="020B0604030504040204" pitchFamily="50" charset="-128"/>
              <a:ea typeface="メイリオ" panose="020B0604030504040204" pitchFamily="50" charset="-128"/>
            </a:endParaRPr>
          </a:p>
        </p:txBody>
      </p:sp>
      <p:sp>
        <p:nvSpPr>
          <p:cNvPr id="75" name="Text 36">
            <a:extLst>
              <a:ext uri="{FF2B5EF4-FFF2-40B4-BE49-F238E27FC236}">
                <a16:creationId xmlns:a16="http://schemas.microsoft.com/office/drawing/2014/main" id="{BE1F2F6E-238F-21D4-40A5-BD1CB63C8953}"/>
              </a:ext>
            </a:extLst>
          </p:cNvPr>
          <p:cNvSpPr/>
          <p:nvPr/>
        </p:nvSpPr>
        <p:spPr>
          <a:xfrm>
            <a:off x="1250551" y="5658829"/>
            <a:ext cx="5029200" cy="237744"/>
          </a:xfrm>
          <a:prstGeom prst="rect">
            <a:avLst/>
          </a:prstGeom>
          <a:noFill/>
          <a:ln/>
        </p:spPr>
        <p:txBody>
          <a:bodyPr wrap="square" lIns="0" tIns="0" rIns="0" bIns="0" rtlCol="0" anchor="ctr"/>
          <a:lstStyle/>
          <a:p>
            <a:pPr marL="0" indent="0">
              <a:buNone/>
            </a:pPr>
            <a:r>
              <a:rPr lang="en-US" sz="850" dirty="0">
                <a:solidFill>
                  <a:srgbClr val="64748B"/>
                </a:solidFill>
                <a:latin typeface="メイリオ" panose="020B0604030504040204" pitchFamily="50" charset="-128"/>
                <a:ea typeface="メイリオ" panose="020B0604030504040204" pitchFamily="50" charset="-128"/>
                <a:cs typeface="Calibri" pitchFamily="34" charset="-120"/>
              </a:rPr>
              <a:t>A) はじめて　B) 使ったことがある（満足）　C) 使ったことがある（不満）</a:t>
            </a:r>
            <a:endParaRPr lang="en-US" sz="850" dirty="0">
              <a:latin typeface="メイリオ" panose="020B0604030504040204" pitchFamily="50" charset="-128"/>
              <a:ea typeface="メイリオ" panose="020B0604030504040204" pitchFamily="50" charset="-128"/>
            </a:endParaRPr>
          </a:p>
        </p:txBody>
      </p:sp>
      <p:sp>
        <p:nvSpPr>
          <p:cNvPr id="76" name="Shape 37">
            <a:extLst>
              <a:ext uri="{FF2B5EF4-FFF2-40B4-BE49-F238E27FC236}">
                <a16:creationId xmlns:a16="http://schemas.microsoft.com/office/drawing/2014/main" id="{E835EF93-AE65-C080-A583-076B9485CC6B}"/>
              </a:ext>
            </a:extLst>
          </p:cNvPr>
          <p:cNvSpPr/>
          <p:nvPr/>
        </p:nvSpPr>
        <p:spPr>
          <a:xfrm>
            <a:off x="6444343" y="5421085"/>
            <a:ext cx="2743200" cy="457200"/>
          </a:xfrm>
          <a:prstGeom prst="roundRect">
            <a:avLst>
              <a:gd name="adj" fmla="val 10000"/>
            </a:avLst>
          </a:prstGeom>
          <a:solidFill>
            <a:srgbClr val="FFF8E8"/>
          </a:solidFill>
          <a:ln w="12700">
            <a:solidFill>
              <a:srgbClr val="E8A838"/>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7" name="Text 38">
            <a:extLst>
              <a:ext uri="{FF2B5EF4-FFF2-40B4-BE49-F238E27FC236}">
                <a16:creationId xmlns:a16="http://schemas.microsoft.com/office/drawing/2014/main" id="{4E76941A-97E1-A80A-F7B6-9B05D68E1AA2}"/>
              </a:ext>
            </a:extLst>
          </p:cNvPr>
          <p:cNvSpPr/>
          <p:nvPr/>
        </p:nvSpPr>
        <p:spPr>
          <a:xfrm>
            <a:off x="6490063" y="5421085"/>
            <a:ext cx="2651760" cy="457200"/>
          </a:xfrm>
          <a:prstGeom prst="rect">
            <a:avLst/>
          </a:prstGeom>
          <a:noFill/>
          <a:ln/>
        </p:spPr>
        <p:txBody>
          <a:bodyPr wrap="square" rtlCol="0" anchor="ctr"/>
          <a:lstStyle/>
          <a:p>
            <a:pPr marL="0" indent="0">
              <a:lnSpc>
                <a:spcPct val="120000"/>
              </a:lnSpc>
              <a:buNone/>
            </a:pPr>
            <a:r>
              <a:rPr lang="en-US" sz="850" dirty="0">
                <a:solidFill>
                  <a:srgbClr val="7A5200"/>
                </a:solidFill>
                <a:latin typeface="メイリオ" panose="020B0604030504040204" pitchFamily="50" charset="-128"/>
                <a:ea typeface="メイリオ" panose="020B0604030504040204" pitchFamily="50" charset="-128"/>
                <a:cs typeface="Calibri" pitchFamily="34" charset="-120"/>
              </a:rPr>
              <a:t>「不満あり」層には競合差別化コンテンツを優先配信</a:t>
            </a:r>
            <a:endParaRPr lang="en-US" sz="850"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B080DFA3-5E6A-7CB9-A83C-9D87074C7C62}"/>
              </a:ext>
            </a:extLst>
          </p:cNvPr>
          <p:cNvSpPr/>
          <p:nvPr/>
        </p:nvSpPr>
        <p:spPr>
          <a:xfrm>
            <a:off x="167640" y="1572768"/>
            <a:ext cx="9570720" cy="4772299"/>
          </a:xfrm>
          <a:prstGeom prst="rect">
            <a:avLst/>
          </a:prstGeom>
          <a:solidFill>
            <a:schemeClr val="bg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FDC81EE9-FE25-DEA2-3BE6-5D4BC6729956}"/>
              </a:ext>
            </a:extLst>
          </p:cNvPr>
          <p:cNvSpPr/>
          <p:nvPr/>
        </p:nvSpPr>
        <p:spPr>
          <a:xfrm>
            <a:off x="4940121" y="59287"/>
            <a:ext cx="2597727" cy="41563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人材</a:t>
            </a:r>
            <a:r>
              <a:rPr kumimoji="1" lang="en-US" altLang="ja-JP" sz="1200" dirty="0">
                <a:solidFill>
                  <a:schemeClr val="bg1"/>
                </a:solidFill>
                <a:latin typeface="メイリオ" panose="020B0604030504040204" pitchFamily="50" charset="-128"/>
                <a:ea typeface="メイリオ" panose="020B0604030504040204" pitchFamily="50" charset="-128"/>
              </a:rPr>
              <a:t>(</a:t>
            </a:r>
            <a:r>
              <a:rPr kumimoji="1" lang="ja-JP" altLang="en-US" sz="1200" dirty="0">
                <a:solidFill>
                  <a:schemeClr val="bg1"/>
                </a:solidFill>
                <a:latin typeface="メイリオ" panose="020B0604030504040204" pitchFamily="50" charset="-128"/>
                <a:ea typeface="メイリオ" panose="020B0604030504040204" pitchFamily="50" charset="-128"/>
              </a:rPr>
              <a:t>転職</a:t>
            </a:r>
            <a:r>
              <a:rPr kumimoji="1" lang="en-US" altLang="ja-JP" sz="1200" dirty="0">
                <a:solidFill>
                  <a:schemeClr val="bg1"/>
                </a:solidFill>
                <a:latin typeface="メイリオ" panose="020B0604030504040204" pitchFamily="50" charset="-128"/>
                <a:ea typeface="メイリオ" panose="020B0604030504040204" pitchFamily="50" charset="-128"/>
              </a:rPr>
              <a:t>)</a:t>
            </a:r>
            <a:r>
              <a:rPr kumimoji="1" lang="ja-JP" altLang="en-US" sz="1200" dirty="0">
                <a:solidFill>
                  <a:schemeClr val="bg1"/>
                </a:solidFill>
                <a:latin typeface="メイリオ" panose="020B0604030504040204" pitchFamily="50" charset="-128"/>
                <a:ea typeface="メイリオ" panose="020B0604030504040204" pitchFamily="50" charset="-128"/>
              </a:rPr>
              <a:t>業界の例</a:t>
            </a:r>
          </a:p>
        </p:txBody>
      </p:sp>
    </p:spTree>
    <p:extLst>
      <p:ext uri="{BB962C8B-B14F-4D97-AF65-F5344CB8AC3E}">
        <p14:creationId xmlns:p14="http://schemas.microsoft.com/office/powerpoint/2010/main" val="90106357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3825-9171-A79A-31F7-FBB36FFE7BA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CD327D4-877A-97BF-5A3D-BA2BFF89C5D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具体施策（友だち追加～休眠等の長期施策）</a:t>
            </a:r>
          </a:p>
        </p:txBody>
      </p:sp>
      <p:sp>
        <p:nvSpPr>
          <p:cNvPr id="2" name="Google Shape;752;p28">
            <a:extLst>
              <a:ext uri="{FF2B5EF4-FFF2-40B4-BE49-F238E27FC236}">
                <a16:creationId xmlns:a16="http://schemas.microsoft.com/office/drawing/2014/main" id="{344F9C81-17B8-CD75-7943-C74785EA9326}"/>
              </a:ext>
            </a:extLst>
          </p:cNvPr>
          <p:cNvSpPr txBox="1"/>
          <p:nvPr/>
        </p:nvSpPr>
        <p:spPr>
          <a:xfrm>
            <a:off x="309397" y="655107"/>
            <a:ext cx="9330992" cy="584735"/>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想定：検索ボリューム推移などの情報からスケジューリング。運用実績案件ベースで</a:t>
            </a:r>
            <a:endPar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endParaRPr>
          </a:p>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　　 「〇〇の日」「検討アクションが活発化する期間」「</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CVR</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が高い期間」を抽出し企画作成。</a:t>
            </a:r>
          </a:p>
        </p:txBody>
      </p:sp>
      <p:sp>
        <p:nvSpPr>
          <p:cNvPr id="3" name="Shape 2">
            <a:extLst>
              <a:ext uri="{FF2B5EF4-FFF2-40B4-BE49-F238E27FC236}">
                <a16:creationId xmlns:a16="http://schemas.microsoft.com/office/drawing/2014/main" id="{C60A8489-6BE4-3B93-2131-E11F42129098}"/>
              </a:ext>
            </a:extLst>
          </p:cNvPr>
          <p:cNvSpPr/>
          <p:nvPr/>
        </p:nvSpPr>
        <p:spPr>
          <a:xfrm>
            <a:off x="683623" y="2438404"/>
            <a:ext cx="4206240" cy="1920240"/>
          </a:xfrm>
          <a:prstGeom prst="roundRect">
            <a:avLst>
              <a:gd name="adj" fmla="val 5714"/>
            </a:avLst>
          </a:prstGeom>
          <a:solidFill>
            <a:srgbClr val="FFFFFF"/>
          </a:solidFill>
          <a:ln w="12700">
            <a:solidFill>
              <a:srgbClr val="4A90D9"/>
            </a:solidFill>
            <a:prstDash val="solid"/>
          </a:ln>
          <a:effectLst>
            <a:outerShdw blurRad="101600" dist="25400" dir="2700000" algn="bl" rotWithShape="0">
              <a:srgbClr val="000000">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 name="Shape 3">
            <a:extLst>
              <a:ext uri="{FF2B5EF4-FFF2-40B4-BE49-F238E27FC236}">
                <a16:creationId xmlns:a16="http://schemas.microsoft.com/office/drawing/2014/main" id="{D946CD2D-A79C-A7B7-15A1-A1837415507A}"/>
              </a:ext>
            </a:extLst>
          </p:cNvPr>
          <p:cNvSpPr/>
          <p:nvPr/>
        </p:nvSpPr>
        <p:spPr>
          <a:xfrm>
            <a:off x="793351" y="2529844"/>
            <a:ext cx="658368" cy="292608"/>
          </a:xfrm>
          <a:prstGeom prst="roundRect">
            <a:avLst>
              <a:gd name="adj" fmla="val 18750"/>
            </a:avLst>
          </a:prstGeom>
          <a:solidFill>
            <a:srgbClr val="4A90D9"/>
          </a:solidFill>
          <a:ln w="12700">
            <a:solidFill>
              <a:srgbClr val="4A90D9"/>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 name="Text 4">
            <a:extLst>
              <a:ext uri="{FF2B5EF4-FFF2-40B4-BE49-F238E27FC236}">
                <a16:creationId xmlns:a16="http://schemas.microsoft.com/office/drawing/2014/main" id="{AB03F4F1-34EC-318B-44DB-813F9A260ADC}"/>
              </a:ext>
            </a:extLst>
          </p:cNvPr>
          <p:cNvSpPr/>
          <p:nvPr/>
        </p:nvSpPr>
        <p:spPr>
          <a:xfrm>
            <a:off x="793351" y="2529844"/>
            <a:ext cx="658368" cy="292608"/>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1-3月</a:t>
            </a:r>
            <a:endParaRPr kumimoji="0" lang="en-US" sz="10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7" name="Shape 5">
            <a:extLst>
              <a:ext uri="{FF2B5EF4-FFF2-40B4-BE49-F238E27FC236}">
                <a16:creationId xmlns:a16="http://schemas.microsoft.com/office/drawing/2014/main" id="{C1B56B7E-2C3F-30E8-B262-184104348BC9}"/>
              </a:ext>
            </a:extLst>
          </p:cNvPr>
          <p:cNvSpPr/>
          <p:nvPr/>
        </p:nvSpPr>
        <p:spPr>
          <a:xfrm>
            <a:off x="1506583" y="2548132"/>
            <a:ext cx="1005840" cy="256032"/>
          </a:xfrm>
          <a:prstGeom prst="roundRect">
            <a:avLst>
              <a:gd name="adj" fmla="val 14286"/>
            </a:avLst>
          </a:prstGeom>
          <a:solidFill>
            <a:srgbClr val="F4F7FF"/>
          </a:solidFill>
          <a:ln w="12700">
            <a:solidFill>
              <a:srgbClr val="E8EDF8"/>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 name="Text 6">
            <a:extLst>
              <a:ext uri="{FF2B5EF4-FFF2-40B4-BE49-F238E27FC236}">
                <a16:creationId xmlns:a16="http://schemas.microsoft.com/office/drawing/2014/main" id="{A84711DF-BA77-8F0A-2104-C18090ED3CC4}"/>
              </a:ext>
            </a:extLst>
          </p:cNvPr>
          <p:cNvSpPr/>
          <p:nvPr/>
        </p:nvSpPr>
        <p:spPr>
          <a:xfrm>
            <a:off x="1506583" y="2548132"/>
            <a:ext cx="1005840" cy="256032"/>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転職最繁忙期</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 name="Text 7">
            <a:extLst>
              <a:ext uri="{FF2B5EF4-FFF2-40B4-BE49-F238E27FC236}">
                <a16:creationId xmlns:a16="http://schemas.microsoft.com/office/drawing/2014/main" id="{F76CECB1-59BF-1E7A-094C-226743CD5D1F}"/>
              </a:ext>
            </a:extLst>
          </p:cNvPr>
          <p:cNvSpPr/>
          <p:nvPr/>
        </p:nvSpPr>
        <p:spPr>
          <a:xfrm>
            <a:off x="793351" y="2895604"/>
            <a:ext cx="3931920" cy="292608"/>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「年度末キャリア見直しキャンペーン」</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 name="Text 8">
            <a:extLst>
              <a:ext uri="{FF2B5EF4-FFF2-40B4-BE49-F238E27FC236}">
                <a16:creationId xmlns:a16="http://schemas.microsoft.com/office/drawing/2014/main" id="{E9330544-7DE3-4156-FDB0-0068C25C7D92}"/>
              </a:ext>
            </a:extLst>
          </p:cNvPr>
          <p:cNvSpPr/>
          <p:nvPr/>
        </p:nvSpPr>
        <p:spPr>
          <a:xfrm>
            <a:off x="793351" y="3215644"/>
            <a:ext cx="3931920" cy="749808"/>
          </a:xfrm>
          <a:prstGeom prst="rect">
            <a:avLst/>
          </a:prstGeom>
          <a:noFill/>
          <a:ln/>
        </p:spPr>
        <p:txBody>
          <a:bodyPr wrap="square" lIns="0" tIns="0" rIns="0" bIns="0" rtlCol="0" anchor="ctr"/>
          <a:lstStyle/>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1月〜3月は転職相談数が最大化する時期。</a:t>
            </a:r>
          </a:p>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「3月末退職→4月入社」を目指す層が急増。</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施策：無料個別面談の枠を期間限定で倍増。LINEで「残り○名」のカウントダウン配信。</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 name="Shape 9">
            <a:extLst>
              <a:ext uri="{FF2B5EF4-FFF2-40B4-BE49-F238E27FC236}">
                <a16:creationId xmlns:a16="http://schemas.microsoft.com/office/drawing/2014/main" id="{6C89C044-CC81-F526-4C28-8C8818A84AC8}"/>
              </a:ext>
            </a:extLst>
          </p:cNvPr>
          <p:cNvSpPr/>
          <p:nvPr/>
        </p:nvSpPr>
        <p:spPr>
          <a:xfrm>
            <a:off x="793351" y="4011172"/>
            <a:ext cx="3931920" cy="228600"/>
          </a:xfrm>
          <a:prstGeom prst="roundRect">
            <a:avLst>
              <a:gd name="adj" fmla="val 16000"/>
            </a:avLst>
          </a:prstGeom>
          <a:solidFill>
            <a:srgbClr val="F4F7FF"/>
          </a:solidFill>
          <a:ln w="12700">
            <a:solidFill>
              <a:srgbClr val="D1D9F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 name="Text 10">
            <a:extLst>
              <a:ext uri="{FF2B5EF4-FFF2-40B4-BE49-F238E27FC236}">
                <a16:creationId xmlns:a16="http://schemas.microsoft.com/office/drawing/2014/main" id="{EBB9FD63-B2E1-8ED6-289B-17E75D53D0CF}"/>
              </a:ext>
            </a:extLst>
          </p:cNvPr>
          <p:cNvSpPr/>
          <p:nvPr/>
        </p:nvSpPr>
        <p:spPr>
          <a:xfrm>
            <a:off x="793351" y="4011172"/>
            <a:ext cx="3931920" cy="228600"/>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chemeClr val="tx1">
                    <a:lumMod val="50000"/>
                    <a:lumOff val="50000"/>
                  </a:schemeClr>
                </a:solidFill>
                <a:effectLst/>
                <a:uLnTx/>
                <a:uFillTx/>
                <a:latin typeface="メイリオ" panose="020B0604030504040204" pitchFamily="50" charset="-128"/>
                <a:ea typeface="メイリオ" panose="020B0604030504040204" pitchFamily="50" charset="-128"/>
                <a:cs typeface="Calibri" pitchFamily="34" charset="-120"/>
              </a:rPr>
              <a:t>KPI目標：面談予約率 +30% 目標</a:t>
            </a:r>
            <a:endParaRPr kumimoji="0" lang="en-US" sz="850" b="0" i="0" u="none" strike="noStrike" kern="0" cap="none" spc="0" normalizeH="0" baseline="0" noProof="0" dirty="0">
              <a:ln>
                <a:noFill/>
              </a:ln>
              <a:solidFill>
                <a:schemeClr val="tx1">
                  <a:lumMod val="50000"/>
                  <a:lumOff val="50000"/>
                </a:schemeClr>
              </a:solidFill>
              <a:effectLst/>
              <a:uLnTx/>
              <a:uFillTx/>
              <a:latin typeface="メイリオ" panose="020B0604030504040204" pitchFamily="50" charset="-128"/>
              <a:ea typeface="メイリオ" panose="020B0604030504040204" pitchFamily="50" charset="-128"/>
            </a:endParaRPr>
          </a:p>
        </p:txBody>
      </p:sp>
      <p:sp>
        <p:nvSpPr>
          <p:cNvPr id="13" name="Shape 11">
            <a:extLst>
              <a:ext uri="{FF2B5EF4-FFF2-40B4-BE49-F238E27FC236}">
                <a16:creationId xmlns:a16="http://schemas.microsoft.com/office/drawing/2014/main" id="{718FE43C-F46C-BAA4-F102-48BC91B9077E}"/>
              </a:ext>
            </a:extLst>
          </p:cNvPr>
          <p:cNvSpPr/>
          <p:nvPr/>
        </p:nvSpPr>
        <p:spPr>
          <a:xfrm>
            <a:off x="5118463" y="2438404"/>
            <a:ext cx="4206240" cy="1920240"/>
          </a:xfrm>
          <a:prstGeom prst="roundRect">
            <a:avLst>
              <a:gd name="adj" fmla="val 5714"/>
            </a:avLst>
          </a:prstGeom>
          <a:solidFill>
            <a:srgbClr val="FFFFFF"/>
          </a:solidFill>
          <a:ln w="12700">
            <a:solidFill>
              <a:schemeClr val="accent1">
                <a:lumMod val="60000"/>
                <a:lumOff val="40000"/>
              </a:schemeClr>
            </a:solidFill>
            <a:prstDash val="solid"/>
          </a:ln>
          <a:effectLst>
            <a:outerShdw blurRad="101600" dist="25400" dir="2700000" algn="bl" rotWithShape="0">
              <a:srgbClr val="000000">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 name="Shape 12">
            <a:extLst>
              <a:ext uri="{FF2B5EF4-FFF2-40B4-BE49-F238E27FC236}">
                <a16:creationId xmlns:a16="http://schemas.microsoft.com/office/drawing/2014/main" id="{BCFAF28F-3A41-62B7-ED14-2C88314DE693}"/>
              </a:ext>
            </a:extLst>
          </p:cNvPr>
          <p:cNvSpPr/>
          <p:nvPr/>
        </p:nvSpPr>
        <p:spPr>
          <a:xfrm>
            <a:off x="5228191" y="2529844"/>
            <a:ext cx="658368" cy="292608"/>
          </a:xfrm>
          <a:prstGeom prst="roundRect">
            <a:avLst>
              <a:gd name="adj" fmla="val 18750"/>
            </a:avLst>
          </a:prstGeom>
          <a:solidFill>
            <a:schemeClr val="accent1">
              <a:lumMod val="40000"/>
              <a:lumOff val="60000"/>
            </a:schemeClr>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 name="Text 13">
            <a:extLst>
              <a:ext uri="{FF2B5EF4-FFF2-40B4-BE49-F238E27FC236}">
                <a16:creationId xmlns:a16="http://schemas.microsoft.com/office/drawing/2014/main" id="{5636307B-10AB-ADC3-1727-AB8FC5831143}"/>
              </a:ext>
            </a:extLst>
          </p:cNvPr>
          <p:cNvSpPr/>
          <p:nvPr/>
        </p:nvSpPr>
        <p:spPr>
          <a:xfrm>
            <a:off x="5228191" y="2529844"/>
            <a:ext cx="658368" cy="292608"/>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4-5月</a:t>
            </a:r>
            <a:endParaRPr kumimoji="0" lang="en-US" sz="10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6" name="Shape 14">
            <a:extLst>
              <a:ext uri="{FF2B5EF4-FFF2-40B4-BE49-F238E27FC236}">
                <a16:creationId xmlns:a16="http://schemas.microsoft.com/office/drawing/2014/main" id="{4D4B9A45-FCB5-6DB2-B02F-57FFE5D56691}"/>
              </a:ext>
            </a:extLst>
          </p:cNvPr>
          <p:cNvSpPr/>
          <p:nvPr/>
        </p:nvSpPr>
        <p:spPr>
          <a:xfrm>
            <a:off x="5941423" y="2548132"/>
            <a:ext cx="1005840" cy="256032"/>
          </a:xfrm>
          <a:prstGeom prst="roundRect">
            <a:avLst>
              <a:gd name="adj" fmla="val 14286"/>
            </a:avLst>
          </a:prstGeom>
          <a:solidFill>
            <a:srgbClr val="F4F7FF"/>
          </a:solidFill>
          <a:ln w="12700">
            <a:solidFill>
              <a:srgbClr val="E8EDF8"/>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 name="Text 15">
            <a:extLst>
              <a:ext uri="{FF2B5EF4-FFF2-40B4-BE49-F238E27FC236}">
                <a16:creationId xmlns:a16="http://schemas.microsoft.com/office/drawing/2014/main" id="{5AB9A477-5190-5925-BA00-7C28E41E2AE9}"/>
              </a:ext>
            </a:extLst>
          </p:cNvPr>
          <p:cNvSpPr/>
          <p:nvPr/>
        </p:nvSpPr>
        <p:spPr>
          <a:xfrm>
            <a:off x="5941423" y="2548132"/>
            <a:ext cx="1005840" cy="256032"/>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GW前後</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 name="Text 16">
            <a:extLst>
              <a:ext uri="{FF2B5EF4-FFF2-40B4-BE49-F238E27FC236}">
                <a16:creationId xmlns:a16="http://schemas.microsoft.com/office/drawing/2014/main" id="{F0DF4241-0F34-404F-9C8A-0C5C0B3F7B0B}"/>
              </a:ext>
            </a:extLst>
          </p:cNvPr>
          <p:cNvSpPr/>
          <p:nvPr/>
        </p:nvSpPr>
        <p:spPr>
          <a:xfrm>
            <a:off x="5228191" y="2895604"/>
            <a:ext cx="3931920" cy="292608"/>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「GW中に転職活動を始めよう」</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 name="Text 17">
            <a:extLst>
              <a:ext uri="{FF2B5EF4-FFF2-40B4-BE49-F238E27FC236}">
                <a16:creationId xmlns:a16="http://schemas.microsoft.com/office/drawing/2014/main" id="{2F5CBA0E-C68D-2D85-8F64-5D9ED46DE52D}"/>
              </a:ext>
            </a:extLst>
          </p:cNvPr>
          <p:cNvSpPr/>
          <p:nvPr/>
        </p:nvSpPr>
        <p:spPr>
          <a:xfrm>
            <a:off x="5228191" y="3215644"/>
            <a:ext cx="3931920" cy="749808"/>
          </a:xfrm>
          <a:prstGeom prst="rect">
            <a:avLst/>
          </a:prstGeom>
          <a:noFill/>
          <a:ln/>
        </p:spPr>
        <p:txBody>
          <a:bodyPr wrap="square" lIns="0" tIns="0" rIns="0" bIns="0" rtlCol="0" anchor="ctr"/>
          <a:lstStyle/>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err="1">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連休中に将来を考えるホワイトカラーが多い</a:t>
            </a: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a:t>
            </a:r>
          </a:p>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err="1">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暇×焦りが転職意欲を高める時期</a:t>
            </a: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施策：GW前にLINE配信「休み中に読む転職マニュアル」PDF特典を展開。</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0" name="Shape 18">
            <a:extLst>
              <a:ext uri="{FF2B5EF4-FFF2-40B4-BE49-F238E27FC236}">
                <a16:creationId xmlns:a16="http://schemas.microsoft.com/office/drawing/2014/main" id="{7EF6A367-39C2-356A-9B47-3D3671D8D918}"/>
              </a:ext>
            </a:extLst>
          </p:cNvPr>
          <p:cNvSpPr/>
          <p:nvPr/>
        </p:nvSpPr>
        <p:spPr>
          <a:xfrm>
            <a:off x="5228191" y="4011172"/>
            <a:ext cx="3931920" cy="228600"/>
          </a:xfrm>
          <a:prstGeom prst="roundRect">
            <a:avLst>
              <a:gd name="adj" fmla="val 16000"/>
            </a:avLst>
          </a:prstGeom>
          <a:solidFill>
            <a:srgbClr val="F4F7FF"/>
          </a:solidFill>
          <a:ln w="12700">
            <a:solidFill>
              <a:srgbClr val="D1D9F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 name="Text 19">
            <a:extLst>
              <a:ext uri="{FF2B5EF4-FFF2-40B4-BE49-F238E27FC236}">
                <a16:creationId xmlns:a16="http://schemas.microsoft.com/office/drawing/2014/main" id="{5E166AEE-8473-61AD-BC51-7204C60ECFE2}"/>
              </a:ext>
            </a:extLst>
          </p:cNvPr>
          <p:cNvSpPr/>
          <p:nvPr/>
        </p:nvSpPr>
        <p:spPr>
          <a:xfrm>
            <a:off x="5228191" y="4011172"/>
            <a:ext cx="3931920" cy="228600"/>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chemeClr val="tx1">
                    <a:lumMod val="50000"/>
                    <a:lumOff val="50000"/>
                  </a:schemeClr>
                </a:solidFill>
                <a:effectLst/>
                <a:uLnTx/>
                <a:uFillTx/>
                <a:latin typeface="メイリオ" panose="020B0604030504040204" pitchFamily="50" charset="-128"/>
                <a:ea typeface="メイリオ" panose="020B0604030504040204" pitchFamily="50" charset="-128"/>
                <a:cs typeface="Calibri" pitchFamily="34" charset="-120"/>
              </a:rPr>
              <a:t>KPI目標：LINE登録数 ピーク月比 +20%</a:t>
            </a:r>
            <a:endParaRPr kumimoji="0" lang="en-US" sz="850" b="0" i="0" u="none" strike="noStrike" kern="0" cap="none" spc="0" normalizeH="0" baseline="0" noProof="0" dirty="0">
              <a:ln>
                <a:noFill/>
              </a:ln>
              <a:solidFill>
                <a:schemeClr val="tx1">
                  <a:lumMod val="50000"/>
                  <a:lumOff val="50000"/>
                </a:schemeClr>
              </a:solidFill>
              <a:effectLst/>
              <a:uLnTx/>
              <a:uFillTx/>
              <a:latin typeface="メイリオ" panose="020B0604030504040204" pitchFamily="50" charset="-128"/>
              <a:ea typeface="メイリオ" panose="020B0604030504040204" pitchFamily="50" charset="-128"/>
            </a:endParaRPr>
          </a:p>
        </p:txBody>
      </p:sp>
      <p:sp>
        <p:nvSpPr>
          <p:cNvPr id="22" name="Shape 20">
            <a:extLst>
              <a:ext uri="{FF2B5EF4-FFF2-40B4-BE49-F238E27FC236}">
                <a16:creationId xmlns:a16="http://schemas.microsoft.com/office/drawing/2014/main" id="{487B2061-6B88-0A18-0E57-12185B834CCF}"/>
              </a:ext>
            </a:extLst>
          </p:cNvPr>
          <p:cNvSpPr/>
          <p:nvPr/>
        </p:nvSpPr>
        <p:spPr>
          <a:xfrm>
            <a:off x="683623" y="4495804"/>
            <a:ext cx="4206240" cy="1920240"/>
          </a:xfrm>
          <a:prstGeom prst="roundRect">
            <a:avLst>
              <a:gd name="adj" fmla="val 5714"/>
            </a:avLst>
          </a:prstGeom>
          <a:solidFill>
            <a:srgbClr val="FFFFFF"/>
          </a:solidFill>
          <a:ln w="12700">
            <a:solidFill>
              <a:schemeClr val="accent1"/>
            </a:solidFill>
            <a:prstDash val="solid"/>
          </a:ln>
          <a:effectLst>
            <a:outerShdw blurRad="101600" dist="25400" dir="2700000" algn="bl" rotWithShape="0">
              <a:srgbClr val="000000">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 name="Shape 21">
            <a:extLst>
              <a:ext uri="{FF2B5EF4-FFF2-40B4-BE49-F238E27FC236}">
                <a16:creationId xmlns:a16="http://schemas.microsoft.com/office/drawing/2014/main" id="{D80051DD-55DD-DDC4-1C20-FA43FB837AEB}"/>
              </a:ext>
            </a:extLst>
          </p:cNvPr>
          <p:cNvSpPr/>
          <p:nvPr/>
        </p:nvSpPr>
        <p:spPr>
          <a:xfrm>
            <a:off x="793351" y="4587244"/>
            <a:ext cx="658368" cy="292608"/>
          </a:xfrm>
          <a:prstGeom prst="roundRect">
            <a:avLst>
              <a:gd name="adj" fmla="val 18750"/>
            </a:avLst>
          </a:prstGeom>
          <a:solidFill>
            <a:schemeClr val="accent1"/>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 name="Text 22">
            <a:extLst>
              <a:ext uri="{FF2B5EF4-FFF2-40B4-BE49-F238E27FC236}">
                <a16:creationId xmlns:a16="http://schemas.microsoft.com/office/drawing/2014/main" id="{166D040C-5E3C-D384-1752-F340D729E508}"/>
              </a:ext>
            </a:extLst>
          </p:cNvPr>
          <p:cNvSpPr/>
          <p:nvPr/>
        </p:nvSpPr>
        <p:spPr>
          <a:xfrm>
            <a:off x="793351" y="4587244"/>
            <a:ext cx="658368" cy="292608"/>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9-10月</a:t>
            </a:r>
            <a:endParaRPr kumimoji="0" lang="en-US" sz="10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 name="Shape 23">
            <a:extLst>
              <a:ext uri="{FF2B5EF4-FFF2-40B4-BE49-F238E27FC236}">
                <a16:creationId xmlns:a16="http://schemas.microsoft.com/office/drawing/2014/main" id="{E1D75AA6-DC2D-C974-1F8F-EA3764B5E2B1}"/>
              </a:ext>
            </a:extLst>
          </p:cNvPr>
          <p:cNvSpPr/>
          <p:nvPr/>
        </p:nvSpPr>
        <p:spPr>
          <a:xfrm>
            <a:off x="1506583" y="4605532"/>
            <a:ext cx="1005840" cy="256032"/>
          </a:xfrm>
          <a:prstGeom prst="roundRect">
            <a:avLst>
              <a:gd name="adj" fmla="val 14286"/>
            </a:avLst>
          </a:prstGeom>
          <a:solidFill>
            <a:srgbClr val="F4F7FF"/>
          </a:solidFill>
          <a:ln w="12700">
            <a:solidFill>
              <a:srgbClr val="E8EDF8"/>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 name="Text 24">
            <a:extLst>
              <a:ext uri="{FF2B5EF4-FFF2-40B4-BE49-F238E27FC236}">
                <a16:creationId xmlns:a16="http://schemas.microsoft.com/office/drawing/2014/main" id="{2C81E4D3-7404-C45A-3360-2888B2C16CEC}"/>
              </a:ext>
            </a:extLst>
          </p:cNvPr>
          <p:cNvSpPr/>
          <p:nvPr/>
        </p:nvSpPr>
        <p:spPr>
          <a:xfrm>
            <a:off x="1506583" y="4605532"/>
            <a:ext cx="1005840" cy="256032"/>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秋の転職期</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 name="Text 25">
            <a:extLst>
              <a:ext uri="{FF2B5EF4-FFF2-40B4-BE49-F238E27FC236}">
                <a16:creationId xmlns:a16="http://schemas.microsoft.com/office/drawing/2014/main" id="{D74753E2-5389-A4C0-99DF-F1EBD9F21486}"/>
              </a:ext>
            </a:extLst>
          </p:cNvPr>
          <p:cNvSpPr/>
          <p:nvPr/>
        </p:nvSpPr>
        <p:spPr>
          <a:xfrm>
            <a:off x="793351" y="4953004"/>
            <a:ext cx="3931920" cy="292608"/>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「下半期スタートダッシュ転職フェア」</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 name="Text 26">
            <a:extLst>
              <a:ext uri="{FF2B5EF4-FFF2-40B4-BE49-F238E27FC236}">
                <a16:creationId xmlns:a16="http://schemas.microsoft.com/office/drawing/2014/main" id="{15421AF9-EA34-4D6D-A17B-353040384108}"/>
              </a:ext>
            </a:extLst>
          </p:cNvPr>
          <p:cNvSpPr/>
          <p:nvPr/>
        </p:nvSpPr>
        <p:spPr>
          <a:xfrm>
            <a:off x="793351" y="5273044"/>
            <a:ext cx="3931920" cy="749808"/>
          </a:xfrm>
          <a:prstGeom prst="rect">
            <a:avLst/>
          </a:prstGeom>
          <a:noFill/>
          <a:ln/>
        </p:spPr>
        <p:txBody>
          <a:bodyPr wrap="square" lIns="0" tIns="0" rIns="0" bIns="0" rtlCol="0" anchor="ctr"/>
          <a:lstStyle/>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9月は企業の採用活動が再活性化する時期。</a:t>
            </a:r>
          </a:p>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err="1">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求人数が増えるため転職成功率も上がる</a:t>
            </a: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施策：「秋限定・非公開求人100件公開」をLINEで先行案内。希少性で友だち追加を促進。</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 name="Shape 27">
            <a:extLst>
              <a:ext uri="{FF2B5EF4-FFF2-40B4-BE49-F238E27FC236}">
                <a16:creationId xmlns:a16="http://schemas.microsoft.com/office/drawing/2014/main" id="{5BE67E13-AD4F-4228-9F1A-8B4E0CCBEBBE}"/>
              </a:ext>
            </a:extLst>
          </p:cNvPr>
          <p:cNvSpPr/>
          <p:nvPr/>
        </p:nvSpPr>
        <p:spPr>
          <a:xfrm>
            <a:off x="793351" y="6068572"/>
            <a:ext cx="3931920" cy="228600"/>
          </a:xfrm>
          <a:prstGeom prst="roundRect">
            <a:avLst>
              <a:gd name="adj" fmla="val 16000"/>
            </a:avLst>
          </a:prstGeom>
          <a:solidFill>
            <a:srgbClr val="F4F7FF"/>
          </a:solidFill>
          <a:ln w="12700">
            <a:solidFill>
              <a:srgbClr val="D1D9F0"/>
            </a:solidFill>
            <a:prstDash val="solid"/>
          </a:ln>
        </p:spPr>
        <p:txBody>
          <a:bodyPr/>
          <a:lstStyle/>
          <a:p>
            <a:endParaRPr kumimoji="0" lang="ja-JP" altLang="en-US">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0" name="Text 28">
            <a:extLst>
              <a:ext uri="{FF2B5EF4-FFF2-40B4-BE49-F238E27FC236}">
                <a16:creationId xmlns:a16="http://schemas.microsoft.com/office/drawing/2014/main" id="{9E653D90-A148-4540-DAAB-BDE1AE7D11F9}"/>
              </a:ext>
            </a:extLst>
          </p:cNvPr>
          <p:cNvSpPr/>
          <p:nvPr/>
        </p:nvSpPr>
        <p:spPr>
          <a:xfrm>
            <a:off x="793351" y="6068572"/>
            <a:ext cx="3931920" cy="228600"/>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chemeClr val="tx1">
                    <a:lumMod val="50000"/>
                    <a:lumOff val="50000"/>
                  </a:schemeClr>
                </a:solidFill>
                <a:effectLst/>
                <a:uLnTx/>
                <a:uFillTx/>
                <a:latin typeface="メイリオ" panose="020B0604030504040204" pitchFamily="50" charset="-128"/>
                <a:ea typeface="メイリオ" panose="020B0604030504040204" pitchFamily="50" charset="-128"/>
                <a:cs typeface="Calibri" pitchFamily="34" charset="-120"/>
              </a:rPr>
              <a:t>KPI目標：非公開求人経由成約率 計測開始</a:t>
            </a:r>
            <a:endParaRPr kumimoji="0" lang="en-US" sz="850" b="0" i="0" u="none" strike="noStrike" kern="0" cap="none" spc="0" normalizeH="0" baseline="0" noProof="0" dirty="0">
              <a:ln>
                <a:noFill/>
              </a:ln>
              <a:solidFill>
                <a:schemeClr val="tx1">
                  <a:lumMod val="50000"/>
                  <a:lumOff val="50000"/>
                </a:schemeClr>
              </a:solidFill>
              <a:effectLst/>
              <a:uLnTx/>
              <a:uFillTx/>
              <a:latin typeface="メイリオ" panose="020B0604030504040204" pitchFamily="50" charset="-128"/>
              <a:ea typeface="メイリオ" panose="020B0604030504040204" pitchFamily="50" charset="-128"/>
            </a:endParaRPr>
          </a:p>
        </p:txBody>
      </p:sp>
      <p:sp>
        <p:nvSpPr>
          <p:cNvPr id="31" name="Shape 29">
            <a:extLst>
              <a:ext uri="{FF2B5EF4-FFF2-40B4-BE49-F238E27FC236}">
                <a16:creationId xmlns:a16="http://schemas.microsoft.com/office/drawing/2014/main" id="{9A903725-E0FA-B7ED-BE7F-3E870C011999}"/>
              </a:ext>
            </a:extLst>
          </p:cNvPr>
          <p:cNvSpPr/>
          <p:nvPr/>
        </p:nvSpPr>
        <p:spPr>
          <a:xfrm>
            <a:off x="5118463" y="4495804"/>
            <a:ext cx="4206240" cy="1920240"/>
          </a:xfrm>
          <a:prstGeom prst="roundRect">
            <a:avLst>
              <a:gd name="adj" fmla="val 5714"/>
            </a:avLst>
          </a:prstGeom>
          <a:solidFill>
            <a:srgbClr val="FFFFFF"/>
          </a:solidFill>
          <a:ln w="12700">
            <a:solidFill>
              <a:schemeClr val="tx2">
                <a:lumMod val="50000"/>
              </a:schemeClr>
            </a:solidFill>
            <a:prstDash val="solid"/>
          </a:ln>
          <a:effectLst>
            <a:outerShdw blurRad="101600" dist="25400" dir="2700000" algn="bl" rotWithShape="0">
              <a:srgbClr val="000000">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 name="Shape 30">
            <a:extLst>
              <a:ext uri="{FF2B5EF4-FFF2-40B4-BE49-F238E27FC236}">
                <a16:creationId xmlns:a16="http://schemas.microsoft.com/office/drawing/2014/main" id="{E560804C-2AD2-34CF-80F2-47723D89B9EE}"/>
              </a:ext>
            </a:extLst>
          </p:cNvPr>
          <p:cNvSpPr/>
          <p:nvPr/>
        </p:nvSpPr>
        <p:spPr>
          <a:xfrm>
            <a:off x="5228191" y="4587244"/>
            <a:ext cx="658368" cy="292608"/>
          </a:xfrm>
          <a:prstGeom prst="roundRect">
            <a:avLst>
              <a:gd name="adj" fmla="val 18750"/>
            </a:avLst>
          </a:prstGeom>
          <a:solidFill>
            <a:schemeClr val="tx2">
              <a:lumMod val="50000"/>
            </a:schemeClr>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 name="Text 31">
            <a:extLst>
              <a:ext uri="{FF2B5EF4-FFF2-40B4-BE49-F238E27FC236}">
                <a16:creationId xmlns:a16="http://schemas.microsoft.com/office/drawing/2014/main" id="{0D3AA494-1CCC-455B-FD0B-69A03482B0B2}"/>
              </a:ext>
            </a:extLst>
          </p:cNvPr>
          <p:cNvSpPr/>
          <p:nvPr/>
        </p:nvSpPr>
        <p:spPr>
          <a:xfrm>
            <a:off x="5228191" y="4587244"/>
            <a:ext cx="658368" cy="292608"/>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12月</a:t>
            </a:r>
            <a:endParaRPr kumimoji="0" lang="en-US" sz="10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 name="Shape 32">
            <a:extLst>
              <a:ext uri="{FF2B5EF4-FFF2-40B4-BE49-F238E27FC236}">
                <a16:creationId xmlns:a16="http://schemas.microsoft.com/office/drawing/2014/main" id="{7CE7A172-10BE-1E65-8E12-21F725E375E4}"/>
              </a:ext>
            </a:extLst>
          </p:cNvPr>
          <p:cNvSpPr/>
          <p:nvPr/>
        </p:nvSpPr>
        <p:spPr>
          <a:xfrm>
            <a:off x="5941423" y="4605532"/>
            <a:ext cx="1005840" cy="256032"/>
          </a:xfrm>
          <a:prstGeom prst="roundRect">
            <a:avLst>
              <a:gd name="adj" fmla="val 14286"/>
            </a:avLst>
          </a:prstGeom>
          <a:solidFill>
            <a:srgbClr val="F4F7FF"/>
          </a:solidFill>
          <a:ln w="12700">
            <a:solidFill>
              <a:srgbClr val="E8EDF8"/>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 name="Text 33">
            <a:extLst>
              <a:ext uri="{FF2B5EF4-FFF2-40B4-BE49-F238E27FC236}">
                <a16:creationId xmlns:a16="http://schemas.microsoft.com/office/drawing/2014/main" id="{6FF1A96D-D52E-0E30-532A-ECE831BE9605}"/>
              </a:ext>
            </a:extLst>
          </p:cNvPr>
          <p:cNvSpPr/>
          <p:nvPr/>
        </p:nvSpPr>
        <p:spPr>
          <a:xfrm>
            <a:off x="5941423" y="4605532"/>
            <a:ext cx="1005840" cy="256032"/>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年末</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 name="Text 34">
            <a:extLst>
              <a:ext uri="{FF2B5EF4-FFF2-40B4-BE49-F238E27FC236}">
                <a16:creationId xmlns:a16="http://schemas.microsoft.com/office/drawing/2014/main" id="{6B191EBD-ED99-BB14-8C62-5B0BA0590745}"/>
              </a:ext>
            </a:extLst>
          </p:cNvPr>
          <p:cNvSpPr/>
          <p:nvPr/>
        </p:nvSpPr>
        <p:spPr>
          <a:xfrm>
            <a:off x="5228191" y="4953004"/>
            <a:ext cx="3931920" cy="292608"/>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「来年こそ転職を決める人へ」」</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 name="Text 35">
            <a:extLst>
              <a:ext uri="{FF2B5EF4-FFF2-40B4-BE49-F238E27FC236}">
                <a16:creationId xmlns:a16="http://schemas.microsoft.com/office/drawing/2014/main" id="{13B90534-5D2F-7E51-02AE-C33CF568ED2E}"/>
              </a:ext>
            </a:extLst>
          </p:cNvPr>
          <p:cNvSpPr/>
          <p:nvPr/>
        </p:nvSpPr>
        <p:spPr>
          <a:xfrm>
            <a:off x="5228191" y="5273044"/>
            <a:ext cx="3931920" cy="749808"/>
          </a:xfrm>
          <a:prstGeom prst="rect">
            <a:avLst/>
          </a:prstGeom>
          <a:noFill/>
          <a:ln/>
        </p:spPr>
        <p:txBody>
          <a:bodyPr wrap="square" lIns="0" tIns="0" rIns="0" bIns="0" rtlCol="0" anchor="ctr"/>
          <a:lstStyle/>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err="1">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年末は「来年こそ」という決意が高まるタイミング</a:t>
            </a: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a:t>
            </a:r>
          </a:p>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err="1">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競合が少なく広告効率が良い穴場期間</a:t>
            </a: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a:p>
            <a:pPr marL="0" marR="0" lvl="0" indent="0" defTabSz="914400" eaLnBrk="1" fontAlgn="auto" latinLnBrk="0" hangingPunct="1">
              <a:lnSpc>
                <a:spcPct val="13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施策：LINE配信「2026年転職市場予測レポート」先行配布。年明けの面談予約を先に獲得。</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 name="Shape 36">
            <a:extLst>
              <a:ext uri="{FF2B5EF4-FFF2-40B4-BE49-F238E27FC236}">
                <a16:creationId xmlns:a16="http://schemas.microsoft.com/office/drawing/2014/main" id="{985D5473-A6B2-6E6C-69A6-536638C669C1}"/>
              </a:ext>
            </a:extLst>
          </p:cNvPr>
          <p:cNvSpPr/>
          <p:nvPr/>
        </p:nvSpPr>
        <p:spPr>
          <a:xfrm>
            <a:off x="5228191" y="6068572"/>
            <a:ext cx="3931920" cy="228600"/>
          </a:xfrm>
          <a:prstGeom prst="roundRect">
            <a:avLst>
              <a:gd name="adj" fmla="val 16000"/>
            </a:avLst>
          </a:prstGeom>
          <a:solidFill>
            <a:srgbClr val="F4F7FF"/>
          </a:solidFill>
          <a:ln w="12700">
            <a:solidFill>
              <a:srgbClr val="D1D9F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 name="Text 37">
            <a:extLst>
              <a:ext uri="{FF2B5EF4-FFF2-40B4-BE49-F238E27FC236}">
                <a16:creationId xmlns:a16="http://schemas.microsoft.com/office/drawing/2014/main" id="{665AB6CB-040B-F5AE-5EDC-FD4A6C6C841A}"/>
              </a:ext>
            </a:extLst>
          </p:cNvPr>
          <p:cNvSpPr/>
          <p:nvPr/>
        </p:nvSpPr>
        <p:spPr>
          <a:xfrm>
            <a:off x="5228191" y="6068572"/>
            <a:ext cx="3931920" cy="228600"/>
          </a:xfrm>
          <a:prstGeom prst="rect">
            <a:avLst/>
          </a:prstGeom>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chemeClr val="tx1">
                    <a:lumMod val="50000"/>
                    <a:lumOff val="50000"/>
                  </a:schemeClr>
                </a:solidFill>
                <a:effectLst/>
                <a:uLnTx/>
                <a:uFillTx/>
                <a:latin typeface="メイリオ" panose="020B0604030504040204" pitchFamily="50" charset="-128"/>
                <a:ea typeface="メイリオ" panose="020B0604030504040204" pitchFamily="50" charset="-128"/>
                <a:cs typeface="Calibri" pitchFamily="34" charset="-120"/>
              </a:rPr>
              <a:t>KPI目標：1月面談予約の先行獲得率</a:t>
            </a:r>
            <a:endParaRPr kumimoji="0" lang="en-US" sz="850" b="0" i="0" u="none" strike="noStrike" kern="0" cap="none" spc="0" normalizeH="0" baseline="0" noProof="0" dirty="0">
              <a:ln>
                <a:noFill/>
              </a:ln>
              <a:solidFill>
                <a:schemeClr val="tx1">
                  <a:lumMod val="50000"/>
                  <a:lumOff val="50000"/>
                </a:schemeClr>
              </a:solidFill>
              <a:effectLst/>
              <a:uLnTx/>
              <a:uFillTx/>
              <a:latin typeface="メイリオ" panose="020B0604030504040204" pitchFamily="50" charset="-128"/>
              <a:ea typeface="メイリオ" panose="020B0604030504040204" pitchFamily="50" charset="-128"/>
            </a:endParaRPr>
          </a:p>
        </p:txBody>
      </p:sp>
      <p:sp>
        <p:nvSpPr>
          <p:cNvPr id="42" name="Shape 2">
            <a:extLst>
              <a:ext uri="{FF2B5EF4-FFF2-40B4-BE49-F238E27FC236}">
                <a16:creationId xmlns:a16="http://schemas.microsoft.com/office/drawing/2014/main" id="{22BE1ADA-BF01-A520-0D77-972E7821FCE2}"/>
              </a:ext>
            </a:extLst>
          </p:cNvPr>
          <p:cNvSpPr/>
          <p:nvPr/>
        </p:nvSpPr>
        <p:spPr>
          <a:xfrm>
            <a:off x="683623" y="1900213"/>
            <a:ext cx="8646160" cy="457200"/>
          </a:xfrm>
          <a:prstGeom prst="roundRect">
            <a:avLst>
              <a:gd name="adj" fmla="val 16000"/>
            </a:avLst>
          </a:prstGeom>
          <a:solidFill>
            <a:srgbClr val="F4F7FF"/>
          </a:solidFill>
          <a:ln w="12700">
            <a:solidFill>
              <a:srgbClr val="4A90D9"/>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Text 3">
            <a:extLst>
              <a:ext uri="{FF2B5EF4-FFF2-40B4-BE49-F238E27FC236}">
                <a16:creationId xmlns:a16="http://schemas.microsoft.com/office/drawing/2014/main" id="{F90B8BB4-8425-50C4-639B-16BEF90627DF}"/>
              </a:ext>
            </a:extLst>
          </p:cNvPr>
          <p:cNvSpPr/>
          <p:nvPr/>
        </p:nvSpPr>
        <p:spPr>
          <a:xfrm>
            <a:off x="866503" y="1900213"/>
            <a:ext cx="8458200" cy="457200"/>
          </a:xfrm>
          <a:prstGeom prst="rect">
            <a:avLst/>
          </a:prstGeom>
          <a:noFill/>
          <a:ln/>
        </p:spPr>
        <p:txBody>
          <a:bodyPr wrap="square" rtlCol="0" anchor="ctr"/>
          <a:lstStyle/>
          <a:p>
            <a:pPr marL="0" indent="0">
              <a:buNone/>
            </a:pPr>
            <a:r>
              <a:rPr lang="ja-JP" altLang="en-US" sz="1100" b="1" dirty="0">
                <a:solidFill>
                  <a:srgbClr val="1E2761"/>
                </a:solidFill>
                <a:latin typeface="メイリオ" panose="020B0604030504040204" pitchFamily="50" charset="-128"/>
                <a:ea typeface="メイリオ" panose="020B0604030504040204" pitchFamily="50" charset="-128"/>
                <a:cs typeface="Calibri" pitchFamily="34" charset="-120"/>
              </a:rPr>
              <a:t>よくある</a:t>
            </a:r>
            <a:r>
              <a:rPr lang="en-US" sz="1100" b="1" dirty="0" err="1">
                <a:solidFill>
                  <a:srgbClr val="1E2761"/>
                </a:solidFill>
                <a:latin typeface="メイリオ" panose="020B0604030504040204" pitchFamily="50" charset="-128"/>
                <a:ea typeface="メイリオ" panose="020B0604030504040204" pitchFamily="50" charset="-128"/>
                <a:cs typeface="Calibri" pitchFamily="34" charset="-120"/>
              </a:rPr>
              <a:t>目的</a:t>
            </a:r>
            <a:r>
              <a:rPr lang="ja-JP" altLang="en-US" sz="1100" b="1" dirty="0">
                <a:solidFill>
                  <a:srgbClr val="1E2761"/>
                </a:solidFill>
                <a:latin typeface="メイリオ" panose="020B0604030504040204" pitchFamily="50" charset="-128"/>
                <a:ea typeface="メイリオ" panose="020B0604030504040204" pitchFamily="50" charset="-128"/>
                <a:cs typeface="Calibri" pitchFamily="34" charset="-120"/>
              </a:rPr>
              <a:t>・季節・年齢などのデータから、各ユーザー層に反応率の高い投稿クリエイティブを、企画～設計～運用。</a:t>
            </a:r>
            <a:endParaRPr lang="en-US" sz="1100" dirty="0">
              <a:latin typeface="メイリオ" panose="020B0604030504040204" pitchFamily="50" charset="-128"/>
              <a:ea typeface="メイリオ" panose="020B0604030504040204" pitchFamily="50" charset="-128"/>
            </a:endParaRPr>
          </a:p>
        </p:txBody>
      </p:sp>
      <p:sp>
        <p:nvSpPr>
          <p:cNvPr id="47" name="正方形/長方形 46">
            <a:extLst>
              <a:ext uri="{FF2B5EF4-FFF2-40B4-BE49-F238E27FC236}">
                <a16:creationId xmlns:a16="http://schemas.microsoft.com/office/drawing/2014/main" id="{8517C2D8-2B96-60F6-B4C8-41F2D3663705}"/>
              </a:ext>
            </a:extLst>
          </p:cNvPr>
          <p:cNvSpPr/>
          <p:nvPr/>
        </p:nvSpPr>
        <p:spPr>
          <a:xfrm>
            <a:off x="139337" y="1733006"/>
            <a:ext cx="9570720" cy="4772299"/>
          </a:xfrm>
          <a:prstGeom prst="rect">
            <a:avLst/>
          </a:prstGeom>
          <a:solidFill>
            <a:schemeClr val="bg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正方形/長方形 43">
            <a:extLst>
              <a:ext uri="{FF2B5EF4-FFF2-40B4-BE49-F238E27FC236}">
                <a16:creationId xmlns:a16="http://schemas.microsoft.com/office/drawing/2014/main" id="{F12EE9E2-9122-74C3-0A3B-F81EEC972BBE}"/>
              </a:ext>
            </a:extLst>
          </p:cNvPr>
          <p:cNvSpPr/>
          <p:nvPr/>
        </p:nvSpPr>
        <p:spPr>
          <a:xfrm>
            <a:off x="4940121" y="59287"/>
            <a:ext cx="2597727" cy="41563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人材</a:t>
            </a:r>
            <a:r>
              <a:rPr kumimoji="1" lang="en-US" altLang="ja-JP" sz="1200" dirty="0">
                <a:solidFill>
                  <a:schemeClr val="bg1"/>
                </a:solidFill>
                <a:latin typeface="メイリオ" panose="020B0604030504040204" pitchFamily="50" charset="-128"/>
                <a:ea typeface="メイリオ" panose="020B0604030504040204" pitchFamily="50" charset="-128"/>
              </a:rPr>
              <a:t>(</a:t>
            </a:r>
            <a:r>
              <a:rPr kumimoji="1" lang="ja-JP" altLang="en-US" sz="1200" dirty="0">
                <a:solidFill>
                  <a:schemeClr val="bg1"/>
                </a:solidFill>
                <a:latin typeface="メイリオ" panose="020B0604030504040204" pitchFamily="50" charset="-128"/>
                <a:ea typeface="メイリオ" panose="020B0604030504040204" pitchFamily="50" charset="-128"/>
              </a:rPr>
              <a:t>転職</a:t>
            </a:r>
            <a:r>
              <a:rPr kumimoji="1" lang="en-US" altLang="ja-JP" sz="1200" dirty="0">
                <a:solidFill>
                  <a:schemeClr val="bg1"/>
                </a:solidFill>
                <a:latin typeface="メイリオ" panose="020B0604030504040204" pitchFamily="50" charset="-128"/>
                <a:ea typeface="メイリオ" panose="020B0604030504040204" pitchFamily="50" charset="-128"/>
              </a:rPr>
              <a:t>)</a:t>
            </a:r>
            <a:r>
              <a:rPr kumimoji="1" lang="ja-JP" altLang="en-US" sz="1200" dirty="0">
                <a:solidFill>
                  <a:schemeClr val="bg1"/>
                </a:solidFill>
                <a:latin typeface="メイリオ" panose="020B0604030504040204" pitchFamily="50" charset="-128"/>
                <a:ea typeface="メイリオ" panose="020B0604030504040204" pitchFamily="50" charset="-128"/>
              </a:rPr>
              <a:t>業界の例</a:t>
            </a:r>
          </a:p>
        </p:txBody>
      </p:sp>
    </p:spTree>
    <p:extLst>
      <p:ext uri="{BB962C8B-B14F-4D97-AF65-F5344CB8AC3E}">
        <p14:creationId xmlns:p14="http://schemas.microsoft.com/office/powerpoint/2010/main" val="21853059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AE1A8-B06F-74B4-1E2A-7416EDA4E827}"/>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B77D6B5-FA2F-ED51-FB47-E8DC14B8ADE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具体施策（友だち追加～休眠等の長期施策）</a:t>
            </a:r>
          </a:p>
        </p:txBody>
      </p:sp>
      <p:sp>
        <p:nvSpPr>
          <p:cNvPr id="2" name="Google Shape;752;p28">
            <a:extLst>
              <a:ext uri="{FF2B5EF4-FFF2-40B4-BE49-F238E27FC236}">
                <a16:creationId xmlns:a16="http://schemas.microsoft.com/office/drawing/2014/main" id="{A8DDF192-E20B-6A12-DAA4-2904850388D2}"/>
              </a:ext>
            </a:extLst>
          </p:cNvPr>
          <p:cNvSpPr txBox="1"/>
          <p:nvPr/>
        </p:nvSpPr>
        <p:spPr>
          <a:xfrm>
            <a:off x="309397" y="655107"/>
            <a:ext cx="9330992" cy="584735"/>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友だち追加からすぐ</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しないユーザーに対しては、最適な</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MSG</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配信を実現するため、</a:t>
            </a:r>
            <a:endPar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endParaRPr>
          </a:p>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　　　心理ハードルの低い</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性格診断</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“経験談アンケート</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等を通じて追客施策の強弱を決定。</a:t>
            </a:r>
            <a:endPar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80" name="Text 3">
            <a:extLst>
              <a:ext uri="{FF2B5EF4-FFF2-40B4-BE49-F238E27FC236}">
                <a16:creationId xmlns:a16="http://schemas.microsoft.com/office/drawing/2014/main" id="{2F1CF158-D3B8-740E-7BB9-7BA2711D5A86}"/>
              </a:ext>
            </a:extLst>
          </p:cNvPr>
          <p:cNvSpPr/>
          <p:nvPr/>
        </p:nvSpPr>
        <p:spPr>
          <a:xfrm>
            <a:off x="430467" y="2806337"/>
            <a:ext cx="3997841" cy="274320"/>
          </a:xfrm>
          <a:prstGeom prst="rect">
            <a:avLst/>
          </a:prstGeom>
          <a:noFill/>
          <a:ln/>
        </p:spPr>
        <p:txBody>
          <a:bodyPr wrap="square"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診断設問（4問・各5択）</a:t>
            </a:r>
            <a:endParaRPr kumimoji="0" lang="en-US" sz="12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1" name="Shape 4">
            <a:extLst>
              <a:ext uri="{FF2B5EF4-FFF2-40B4-BE49-F238E27FC236}">
                <a16:creationId xmlns:a16="http://schemas.microsoft.com/office/drawing/2014/main" id="{D0D52073-224A-0961-D46B-A0D0A35577C1}"/>
              </a:ext>
            </a:extLst>
          </p:cNvPr>
          <p:cNvSpPr/>
          <p:nvPr/>
        </p:nvSpPr>
        <p:spPr>
          <a:xfrm>
            <a:off x="404949" y="3144665"/>
            <a:ext cx="4297679" cy="301752"/>
          </a:xfrm>
          <a:prstGeom prst="roundRect">
            <a:avLst>
              <a:gd name="adj" fmla="val 15152"/>
            </a:avLst>
          </a:prstGeom>
          <a:solidFill>
            <a:srgbClr val="F4F7FF"/>
          </a:solidFill>
          <a:ln w="12700">
            <a:solidFill>
              <a:srgbClr val="E8EDF8"/>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2" name="Text 5">
            <a:extLst>
              <a:ext uri="{FF2B5EF4-FFF2-40B4-BE49-F238E27FC236}">
                <a16:creationId xmlns:a16="http://schemas.microsoft.com/office/drawing/2014/main" id="{45D645B7-F48E-7853-EBC0-8E0C5EF81708}"/>
              </a:ext>
            </a:extLst>
          </p:cNvPr>
          <p:cNvSpPr/>
          <p:nvPr/>
        </p:nvSpPr>
        <p:spPr>
          <a:xfrm>
            <a:off x="559121" y="3144665"/>
            <a:ext cx="4097787" cy="301752"/>
          </a:xfrm>
          <a:prstGeom prst="rect">
            <a:avLst/>
          </a:prstGeom>
          <a:noFill/>
          <a:ln/>
        </p:spPr>
        <p:txBody>
          <a:bodyPr wrap="square"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95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Q1  「仕事のことを考えると、日曜の夜に憂鬱になりますか？」</a:t>
            </a:r>
            <a:endParaRPr kumimoji="0" lang="en-US" sz="9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3" name="Shape 6">
            <a:extLst>
              <a:ext uri="{FF2B5EF4-FFF2-40B4-BE49-F238E27FC236}">
                <a16:creationId xmlns:a16="http://schemas.microsoft.com/office/drawing/2014/main" id="{6791C392-1A7B-7AE0-A33F-16F51A18C75D}"/>
              </a:ext>
            </a:extLst>
          </p:cNvPr>
          <p:cNvSpPr/>
          <p:nvPr/>
        </p:nvSpPr>
        <p:spPr>
          <a:xfrm>
            <a:off x="404949" y="3510425"/>
            <a:ext cx="4297679" cy="301752"/>
          </a:xfrm>
          <a:prstGeom prst="roundRect">
            <a:avLst>
              <a:gd name="adj" fmla="val 15152"/>
            </a:avLst>
          </a:prstGeom>
          <a:solidFill>
            <a:srgbClr val="F4F7FF"/>
          </a:solidFill>
          <a:ln w="12700">
            <a:solidFill>
              <a:srgbClr val="E8EDF8"/>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4" name="Text 7">
            <a:extLst>
              <a:ext uri="{FF2B5EF4-FFF2-40B4-BE49-F238E27FC236}">
                <a16:creationId xmlns:a16="http://schemas.microsoft.com/office/drawing/2014/main" id="{E67E7D97-92DF-6373-F0A3-CF953F46FBAE}"/>
              </a:ext>
            </a:extLst>
          </p:cNvPr>
          <p:cNvSpPr/>
          <p:nvPr/>
        </p:nvSpPr>
        <p:spPr>
          <a:xfrm>
            <a:off x="559121" y="3510425"/>
            <a:ext cx="4097787" cy="301752"/>
          </a:xfrm>
          <a:prstGeom prst="rect">
            <a:avLst/>
          </a:prstGeom>
          <a:noFill/>
          <a:ln/>
        </p:spPr>
        <p:txBody>
          <a:bodyPr wrap="square"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95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Q2  「給与明細を見て『こんなものか』と思ったことがありますか？」</a:t>
            </a:r>
            <a:endParaRPr kumimoji="0" lang="en-US" sz="9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5" name="Shape 8">
            <a:extLst>
              <a:ext uri="{FF2B5EF4-FFF2-40B4-BE49-F238E27FC236}">
                <a16:creationId xmlns:a16="http://schemas.microsoft.com/office/drawing/2014/main" id="{1EEAB261-7048-6C4C-10D7-6CA60C396F31}"/>
              </a:ext>
            </a:extLst>
          </p:cNvPr>
          <p:cNvSpPr/>
          <p:nvPr/>
        </p:nvSpPr>
        <p:spPr>
          <a:xfrm>
            <a:off x="404949" y="3876185"/>
            <a:ext cx="4297679" cy="301752"/>
          </a:xfrm>
          <a:prstGeom prst="roundRect">
            <a:avLst>
              <a:gd name="adj" fmla="val 15152"/>
            </a:avLst>
          </a:prstGeom>
          <a:solidFill>
            <a:srgbClr val="F4F7FF"/>
          </a:solidFill>
          <a:ln w="12700">
            <a:solidFill>
              <a:srgbClr val="E8EDF8"/>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6" name="Text 9">
            <a:extLst>
              <a:ext uri="{FF2B5EF4-FFF2-40B4-BE49-F238E27FC236}">
                <a16:creationId xmlns:a16="http://schemas.microsoft.com/office/drawing/2014/main" id="{D0B754F8-CEA6-0F61-4B75-EC0D7AB0BBDC}"/>
              </a:ext>
            </a:extLst>
          </p:cNvPr>
          <p:cNvSpPr/>
          <p:nvPr/>
        </p:nvSpPr>
        <p:spPr>
          <a:xfrm>
            <a:off x="559121" y="3876185"/>
            <a:ext cx="4097787" cy="301752"/>
          </a:xfrm>
          <a:prstGeom prst="rect">
            <a:avLst/>
          </a:prstGeom>
          <a:noFill/>
          <a:ln/>
        </p:spPr>
        <p:txBody>
          <a:bodyPr wrap="square"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95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Q3  「5年後、今の会社にいる自分の姿が想像できますか？」</a:t>
            </a:r>
            <a:endParaRPr kumimoji="0" lang="en-US" sz="9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7" name="Shape 10">
            <a:extLst>
              <a:ext uri="{FF2B5EF4-FFF2-40B4-BE49-F238E27FC236}">
                <a16:creationId xmlns:a16="http://schemas.microsoft.com/office/drawing/2014/main" id="{FF427501-423E-6CDF-014B-ED232F961BFB}"/>
              </a:ext>
            </a:extLst>
          </p:cNvPr>
          <p:cNvSpPr/>
          <p:nvPr/>
        </p:nvSpPr>
        <p:spPr>
          <a:xfrm>
            <a:off x="404949" y="4241945"/>
            <a:ext cx="4297679" cy="301752"/>
          </a:xfrm>
          <a:prstGeom prst="roundRect">
            <a:avLst>
              <a:gd name="adj" fmla="val 15152"/>
            </a:avLst>
          </a:prstGeom>
          <a:solidFill>
            <a:srgbClr val="F4F7FF"/>
          </a:solidFill>
          <a:ln w="12700">
            <a:solidFill>
              <a:srgbClr val="E8EDF8"/>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8" name="Text 11">
            <a:extLst>
              <a:ext uri="{FF2B5EF4-FFF2-40B4-BE49-F238E27FC236}">
                <a16:creationId xmlns:a16="http://schemas.microsoft.com/office/drawing/2014/main" id="{DB910A08-DF58-32FA-2432-5C0AF3C83C53}"/>
              </a:ext>
            </a:extLst>
          </p:cNvPr>
          <p:cNvSpPr/>
          <p:nvPr/>
        </p:nvSpPr>
        <p:spPr>
          <a:xfrm>
            <a:off x="559121" y="4241945"/>
            <a:ext cx="4097787" cy="301752"/>
          </a:xfrm>
          <a:prstGeom prst="rect">
            <a:avLst/>
          </a:prstGeom>
          <a:noFill/>
          <a:ln/>
        </p:spPr>
        <p:txBody>
          <a:bodyPr wrap="square"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95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Q4  「上司・同僚と話す際に本音を言えていると感じますか？」</a:t>
            </a:r>
            <a:endParaRPr kumimoji="0" lang="en-US" sz="9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9" name="Text 12">
            <a:extLst>
              <a:ext uri="{FF2B5EF4-FFF2-40B4-BE49-F238E27FC236}">
                <a16:creationId xmlns:a16="http://schemas.microsoft.com/office/drawing/2014/main" id="{49C9DDEC-B91F-B9F3-D8EE-6DA3BF2758CE}"/>
              </a:ext>
            </a:extLst>
          </p:cNvPr>
          <p:cNvSpPr/>
          <p:nvPr/>
        </p:nvSpPr>
        <p:spPr>
          <a:xfrm>
            <a:off x="5177853" y="2810806"/>
            <a:ext cx="4297680" cy="274320"/>
          </a:xfrm>
          <a:prstGeom prst="rect">
            <a:avLst/>
          </a:prstGeom>
          <a:noFill/>
          <a:ln/>
        </p:spPr>
        <p:txBody>
          <a:bodyPr wrap="square"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診断結果 4パターン＋追客方針</a:t>
            </a:r>
            <a:endParaRPr kumimoji="0" lang="en-US" sz="12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0" name="Shape 13">
            <a:extLst>
              <a:ext uri="{FF2B5EF4-FFF2-40B4-BE49-F238E27FC236}">
                <a16:creationId xmlns:a16="http://schemas.microsoft.com/office/drawing/2014/main" id="{7D9279AB-DA4C-865E-1BFC-B99D3C6C3C3F}"/>
              </a:ext>
            </a:extLst>
          </p:cNvPr>
          <p:cNvSpPr/>
          <p:nvPr/>
        </p:nvSpPr>
        <p:spPr>
          <a:xfrm>
            <a:off x="5177853" y="3149134"/>
            <a:ext cx="4297680" cy="621792"/>
          </a:xfrm>
          <a:prstGeom prst="roundRect">
            <a:avLst>
              <a:gd name="adj" fmla="val 11765"/>
            </a:avLst>
          </a:prstGeom>
          <a:solidFill>
            <a:srgbClr val="FFFFFF"/>
          </a:solidFill>
          <a:ln w="12700">
            <a:solidFill>
              <a:schemeClr val="tx2"/>
            </a:solidFill>
            <a:prstDash val="solid"/>
          </a:ln>
          <a:effectLst>
            <a:outerShdw blurRad="101600" dist="25400" dir="2700000" algn="bl" rotWithShape="0">
              <a:srgbClr val="000000">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1" name="Shape 14">
            <a:extLst>
              <a:ext uri="{FF2B5EF4-FFF2-40B4-BE49-F238E27FC236}">
                <a16:creationId xmlns:a16="http://schemas.microsoft.com/office/drawing/2014/main" id="{FE25EE99-D7D8-85CF-09FC-6465111BFB2C}"/>
              </a:ext>
            </a:extLst>
          </p:cNvPr>
          <p:cNvSpPr/>
          <p:nvPr/>
        </p:nvSpPr>
        <p:spPr>
          <a:xfrm>
            <a:off x="5251005" y="3222286"/>
            <a:ext cx="1005840" cy="256032"/>
          </a:xfrm>
          <a:prstGeom prst="roundRect">
            <a:avLst>
              <a:gd name="adj" fmla="val 14286"/>
            </a:avLst>
          </a:prstGeom>
          <a:solidFill>
            <a:schemeClr val="tx2">
              <a:lumMod val="75000"/>
            </a:schemeClr>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2" name="Text 15">
            <a:extLst>
              <a:ext uri="{FF2B5EF4-FFF2-40B4-BE49-F238E27FC236}">
                <a16:creationId xmlns:a16="http://schemas.microsoft.com/office/drawing/2014/main" id="{F2BB4149-C773-D448-ED22-0664FCDF9177}"/>
              </a:ext>
            </a:extLst>
          </p:cNvPr>
          <p:cNvSpPr/>
          <p:nvPr/>
        </p:nvSpPr>
        <p:spPr>
          <a:xfrm>
            <a:off x="5251005" y="3222286"/>
            <a:ext cx="1005840" cy="256032"/>
          </a:xfrm>
          <a:prstGeom prst="rect">
            <a:avLst/>
          </a:prstGeom>
          <a:noFill/>
          <a:ln>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即転職型</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3" name="Shape 16">
            <a:extLst>
              <a:ext uri="{FF2B5EF4-FFF2-40B4-BE49-F238E27FC236}">
                <a16:creationId xmlns:a16="http://schemas.microsoft.com/office/drawing/2014/main" id="{95E60EE8-0A0B-1609-55AE-E84B1C214243}"/>
              </a:ext>
            </a:extLst>
          </p:cNvPr>
          <p:cNvSpPr/>
          <p:nvPr/>
        </p:nvSpPr>
        <p:spPr>
          <a:xfrm>
            <a:off x="6320853" y="3240574"/>
            <a:ext cx="822960" cy="219456"/>
          </a:xfrm>
          <a:prstGeom prst="roundRect">
            <a:avLst>
              <a:gd name="adj" fmla="val 16667"/>
            </a:avLst>
          </a:prstGeom>
          <a:solidFill>
            <a:srgbClr val="F4F7FF"/>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4" name="Text 17">
            <a:extLst>
              <a:ext uri="{FF2B5EF4-FFF2-40B4-BE49-F238E27FC236}">
                <a16:creationId xmlns:a16="http://schemas.microsoft.com/office/drawing/2014/main" id="{72D5F163-FCBF-2136-41BC-77594BF1877E}"/>
              </a:ext>
            </a:extLst>
          </p:cNvPr>
          <p:cNvSpPr/>
          <p:nvPr/>
        </p:nvSpPr>
        <p:spPr>
          <a:xfrm>
            <a:off x="6320853" y="3240574"/>
            <a:ext cx="822960" cy="219456"/>
          </a:xfrm>
          <a:prstGeom prst="rect">
            <a:avLst/>
          </a:prstGeom>
          <a:noFill/>
          <a:ln>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高スコア</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5" name="Text 18">
            <a:extLst>
              <a:ext uri="{FF2B5EF4-FFF2-40B4-BE49-F238E27FC236}">
                <a16:creationId xmlns:a16="http://schemas.microsoft.com/office/drawing/2014/main" id="{10AA3820-1E64-09EE-B24B-B91B9B0E3954}"/>
              </a:ext>
            </a:extLst>
          </p:cNvPr>
          <p:cNvSpPr/>
          <p:nvPr/>
        </p:nvSpPr>
        <p:spPr>
          <a:xfrm>
            <a:off x="7207821" y="3240574"/>
            <a:ext cx="1280160" cy="219456"/>
          </a:xfrm>
          <a:prstGeom prst="rect">
            <a:avLst/>
          </a:prstGeom>
          <a:noFill/>
          <a:ln>
            <a:noFill/>
          </a:ln>
        </p:spPr>
        <p:txBody>
          <a:bodyPr wrap="square" rtlCol="0" anchor="ct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E05A5A"/>
                </a:solidFill>
                <a:effectLst/>
                <a:uLnTx/>
                <a:uFillTx/>
                <a:latin typeface="メイリオ" panose="020B0604030504040204" pitchFamily="50" charset="-128"/>
                <a:ea typeface="メイリオ" panose="020B0604030504040204" pitchFamily="50" charset="-128"/>
                <a:cs typeface="Calibri" pitchFamily="34" charset="-120"/>
              </a:rPr>
              <a:t>→ ホットリスト</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6" name="Text 19">
            <a:extLst>
              <a:ext uri="{FF2B5EF4-FFF2-40B4-BE49-F238E27FC236}">
                <a16:creationId xmlns:a16="http://schemas.microsoft.com/office/drawing/2014/main" id="{3DDA72DF-D996-0751-2316-45B75A6606C6}"/>
              </a:ext>
            </a:extLst>
          </p:cNvPr>
          <p:cNvSpPr/>
          <p:nvPr/>
        </p:nvSpPr>
        <p:spPr>
          <a:xfrm>
            <a:off x="5251005" y="3496606"/>
            <a:ext cx="4114800" cy="246888"/>
          </a:xfrm>
          <a:prstGeom prst="rect">
            <a:avLst/>
          </a:prstGeom>
          <a:noFill/>
          <a:ln>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面談オファーを即座に配信。限定枠・期限を明示したクロージングメッセージ</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7" name="Shape 20">
            <a:extLst>
              <a:ext uri="{FF2B5EF4-FFF2-40B4-BE49-F238E27FC236}">
                <a16:creationId xmlns:a16="http://schemas.microsoft.com/office/drawing/2014/main" id="{011CB3D1-C7A5-7956-3BAA-69C2CB905B6A}"/>
              </a:ext>
            </a:extLst>
          </p:cNvPr>
          <p:cNvSpPr/>
          <p:nvPr/>
        </p:nvSpPr>
        <p:spPr>
          <a:xfrm>
            <a:off x="5177853" y="3834934"/>
            <a:ext cx="4297680" cy="621792"/>
          </a:xfrm>
          <a:prstGeom prst="roundRect">
            <a:avLst>
              <a:gd name="adj" fmla="val 11765"/>
            </a:avLst>
          </a:prstGeom>
          <a:solidFill>
            <a:srgbClr val="FFFFFF"/>
          </a:solidFill>
          <a:ln w="12700">
            <a:solidFill>
              <a:schemeClr val="tx2"/>
            </a:solidFill>
            <a:prstDash val="solid"/>
          </a:ln>
          <a:effectLst>
            <a:outerShdw blurRad="101600" dist="25400" dir="2700000" algn="bl" rotWithShape="0">
              <a:srgbClr val="000000">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8" name="Shape 21">
            <a:extLst>
              <a:ext uri="{FF2B5EF4-FFF2-40B4-BE49-F238E27FC236}">
                <a16:creationId xmlns:a16="http://schemas.microsoft.com/office/drawing/2014/main" id="{4C69AF05-15A8-3F8C-8F51-AD3439C14622}"/>
              </a:ext>
            </a:extLst>
          </p:cNvPr>
          <p:cNvSpPr/>
          <p:nvPr/>
        </p:nvSpPr>
        <p:spPr>
          <a:xfrm>
            <a:off x="5251005" y="3908086"/>
            <a:ext cx="1005840" cy="256032"/>
          </a:xfrm>
          <a:prstGeom prst="roundRect">
            <a:avLst>
              <a:gd name="adj" fmla="val 14286"/>
            </a:avLst>
          </a:prstGeom>
          <a:solidFill>
            <a:schemeClr val="tx2"/>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9" name="Text 22">
            <a:extLst>
              <a:ext uri="{FF2B5EF4-FFF2-40B4-BE49-F238E27FC236}">
                <a16:creationId xmlns:a16="http://schemas.microsoft.com/office/drawing/2014/main" id="{FF31A922-59CE-9653-E310-5F8646A1A6DD}"/>
              </a:ext>
            </a:extLst>
          </p:cNvPr>
          <p:cNvSpPr/>
          <p:nvPr/>
        </p:nvSpPr>
        <p:spPr>
          <a:xfrm>
            <a:off x="5251005" y="3908086"/>
            <a:ext cx="1005840" cy="256032"/>
          </a:xfrm>
          <a:prstGeom prst="rect">
            <a:avLst/>
          </a:prstGeom>
          <a:noFill/>
          <a:ln>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慎重検討型</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0" name="Shape 23">
            <a:extLst>
              <a:ext uri="{FF2B5EF4-FFF2-40B4-BE49-F238E27FC236}">
                <a16:creationId xmlns:a16="http://schemas.microsoft.com/office/drawing/2014/main" id="{BF532CBE-24FC-8551-A3EA-4F3D1688FA51}"/>
              </a:ext>
            </a:extLst>
          </p:cNvPr>
          <p:cNvSpPr/>
          <p:nvPr/>
        </p:nvSpPr>
        <p:spPr>
          <a:xfrm>
            <a:off x="6320853" y="3926374"/>
            <a:ext cx="822960" cy="219456"/>
          </a:xfrm>
          <a:prstGeom prst="roundRect">
            <a:avLst>
              <a:gd name="adj" fmla="val 16667"/>
            </a:avLst>
          </a:prstGeom>
          <a:solidFill>
            <a:srgbClr val="F4F7FF"/>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1" name="Text 24">
            <a:extLst>
              <a:ext uri="{FF2B5EF4-FFF2-40B4-BE49-F238E27FC236}">
                <a16:creationId xmlns:a16="http://schemas.microsoft.com/office/drawing/2014/main" id="{6B81A3BF-2D14-0A6E-58E2-41F6C95FFF9D}"/>
              </a:ext>
            </a:extLst>
          </p:cNvPr>
          <p:cNvSpPr/>
          <p:nvPr/>
        </p:nvSpPr>
        <p:spPr>
          <a:xfrm>
            <a:off x="6320853" y="3926374"/>
            <a:ext cx="822960" cy="219456"/>
          </a:xfrm>
          <a:prstGeom prst="rect">
            <a:avLst/>
          </a:prstGeom>
          <a:noFill/>
          <a:ln>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中高スコア</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2" name="Text 25">
            <a:extLst>
              <a:ext uri="{FF2B5EF4-FFF2-40B4-BE49-F238E27FC236}">
                <a16:creationId xmlns:a16="http://schemas.microsoft.com/office/drawing/2014/main" id="{A7F23C91-1AC9-92C8-0444-0C2A7B7900FB}"/>
              </a:ext>
            </a:extLst>
          </p:cNvPr>
          <p:cNvSpPr/>
          <p:nvPr/>
        </p:nvSpPr>
        <p:spPr>
          <a:xfrm>
            <a:off x="7207821" y="3926374"/>
            <a:ext cx="1280160" cy="219456"/>
          </a:xfrm>
          <a:prstGeom prst="rect">
            <a:avLst/>
          </a:prstGeom>
          <a:noFill/>
          <a:ln>
            <a:noFill/>
          </a:ln>
        </p:spPr>
        <p:txBody>
          <a:bodyPr wrap="square" rtlCol="0" anchor="ct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E8A838"/>
                </a:solidFill>
                <a:effectLst/>
                <a:uLnTx/>
                <a:uFillTx/>
                <a:latin typeface="メイリオ" panose="020B0604030504040204" pitchFamily="50" charset="-128"/>
                <a:ea typeface="メイリオ" panose="020B0604030504040204" pitchFamily="50" charset="-128"/>
                <a:cs typeface="Calibri" pitchFamily="34" charset="-120"/>
              </a:rPr>
              <a:t>→ ウォームリスト</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3" name="Text 26">
            <a:extLst>
              <a:ext uri="{FF2B5EF4-FFF2-40B4-BE49-F238E27FC236}">
                <a16:creationId xmlns:a16="http://schemas.microsoft.com/office/drawing/2014/main" id="{4901DF11-6A92-B335-2D97-90FF2A2F3B7E}"/>
              </a:ext>
            </a:extLst>
          </p:cNvPr>
          <p:cNvSpPr/>
          <p:nvPr/>
        </p:nvSpPr>
        <p:spPr>
          <a:xfrm>
            <a:off x="5251005" y="4182406"/>
            <a:ext cx="4114800" cy="246888"/>
          </a:xfrm>
          <a:prstGeom prst="rect">
            <a:avLst/>
          </a:prstGeom>
          <a:noFill/>
          <a:ln>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転職成功事例・年収比較データを週1配信。3〜4週間かけて温める</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4" name="Shape 27">
            <a:extLst>
              <a:ext uri="{FF2B5EF4-FFF2-40B4-BE49-F238E27FC236}">
                <a16:creationId xmlns:a16="http://schemas.microsoft.com/office/drawing/2014/main" id="{20D444BB-26DB-74C1-2095-C4CECE5DD870}"/>
              </a:ext>
            </a:extLst>
          </p:cNvPr>
          <p:cNvSpPr/>
          <p:nvPr/>
        </p:nvSpPr>
        <p:spPr>
          <a:xfrm>
            <a:off x="5177853" y="4520734"/>
            <a:ext cx="4297680" cy="621792"/>
          </a:xfrm>
          <a:prstGeom prst="roundRect">
            <a:avLst>
              <a:gd name="adj" fmla="val 11765"/>
            </a:avLst>
          </a:prstGeom>
          <a:solidFill>
            <a:srgbClr val="FFFFFF"/>
          </a:solidFill>
          <a:ln w="12700">
            <a:solidFill>
              <a:schemeClr val="tx2"/>
            </a:solidFill>
            <a:prstDash val="solid"/>
          </a:ln>
          <a:effectLst>
            <a:outerShdw blurRad="101600" dist="25400" dir="2700000" algn="bl" rotWithShape="0">
              <a:srgbClr val="000000">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5" name="Shape 28">
            <a:extLst>
              <a:ext uri="{FF2B5EF4-FFF2-40B4-BE49-F238E27FC236}">
                <a16:creationId xmlns:a16="http://schemas.microsoft.com/office/drawing/2014/main" id="{B7739C89-3CB4-FFD4-5878-8E37F4F17031}"/>
              </a:ext>
            </a:extLst>
          </p:cNvPr>
          <p:cNvSpPr/>
          <p:nvPr/>
        </p:nvSpPr>
        <p:spPr>
          <a:xfrm>
            <a:off x="5251005" y="4593886"/>
            <a:ext cx="1005840" cy="256032"/>
          </a:xfrm>
          <a:prstGeom prst="roundRect">
            <a:avLst>
              <a:gd name="adj" fmla="val 14286"/>
            </a:avLst>
          </a:prstGeom>
          <a:solidFill>
            <a:schemeClr val="tx2">
              <a:lumMod val="60000"/>
              <a:lumOff val="40000"/>
            </a:schemeClr>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6" name="Text 29">
            <a:extLst>
              <a:ext uri="{FF2B5EF4-FFF2-40B4-BE49-F238E27FC236}">
                <a16:creationId xmlns:a16="http://schemas.microsoft.com/office/drawing/2014/main" id="{86C5CCD4-DADF-8B0D-5331-4D81B5C903BC}"/>
              </a:ext>
            </a:extLst>
          </p:cNvPr>
          <p:cNvSpPr/>
          <p:nvPr/>
        </p:nvSpPr>
        <p:spPr>
          <a:xfrm>
            <a:off x="5251005" y="4593886"/>
            <a:ext cx="1005840" cy="256032"/>
          </a:xfrm>
          <a:prstGeom prst="rect">
            <a:avLst/>
          </a:prstGeom>
          <a:noFill/>
          <a:ln>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情報収集型</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7" name="Shape 30">
            <a:extLst>
              <a:ext uri="{FF2B5EF4-FFF2-40B4-BE49-F238E27FC236}">
                <a16:creationId xmlns:a16="http://schemas.microsoft.com/office/drawing/2014/main" id="{4F2323BE-47BE-D53C-98B3-4B403E562891}"/>
              </a:ext>
            </a:extLst>
          </p:cNvPr>
          <p:cNvSpPr/>
          <p:nvPr/>
        </p:nvSpPr>
        <p:spPr>
          <a:xfrm>
            <a:off x="6320853" y="4612174"/>
            <a:ext cx="822960" cy="219456"/>
          </a:xfrm>
          <a:prstGeom prst="roundRect">
            <a:avLst>
              <a:gd name="adj" fmla="val 16667"/>
            </a:avLst>
          </a:prstGeom>
          <a:solidFill>
            <a:srgbClr val="F4F7FF"/>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8" name="Text 31">
            <a:extLst>
              <a:ext uri="{FF2B5EF4-FFF2-40B4-BE49-F238E27FC236}">
                <a16:creationId xmlns:a16="http://schemas.microsoft.com/office/drawing/2014/main" id="{5812A64F-2CCF-7FF6-0B3F-E39A36A21562}"/>
              </a:ext>
            </a:extLst>
          </p:cNvPr>
          <p:cNvSpPr/>
          <p:nvPr/>
        </p:nvSpPr>
        <p:spPr>
          <a:xfrm>
            <a:off x="6320853" y="4612174"/>
            <a:ext cx="822960" cy="219456"/>
          </a:xfrm>
          <a:prstGeom prst="rect">
            <a:avLst/>
          </a:prstGeom>
          <a:noFill/>
          <a:ln>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中スコア</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9" name="Text 32">
            <a:extLst>
              <a:ext uri="{FF2B5EF4-FFF2-40B4-BE49-F238E27FC236}">
                <a16:creationId xmlns:a16="http://schemas.microsoft.com/office/drawing/2014/main" id="{E0F8F83C-84BB-D4BE-225A-E9D41ECDEA76}"/>
              </a:ext>
            </a:extLst>
          </p:cNvPr>
          <p:cNvSpPr/>
          <p:nvPr/>
        </p:nvSpPr>
        <p:spPr>
          <a:xfrm>
            <a:off x="7207821" y="4612174"/>
            <a:ext cx="1280160" cy="219456"/>
          </a:xfrm>
          <a:prstGeom prst="rect">
            <a:avLst/>
          </a:prstGeom>
          <a:noFill/>
          <a:ln>
            <a:noFill/>
          </a:ln>
        </p:spPr>
        <p:txBody>
          <a:bodyPr wrap="square" rtlCol="0" anchor="ct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0D9488"/>
                </a:solidFill>
                <a:effectLst/>
                <a:uLnTx/>
                <a:uFillTx/>
                <a:latin typeface="メイリオ" panose="020B0604030504040204" pitchFamily="50" charset="-128"/>
                <a:ea typeface="メイリオ" panose="020B0604030504040204" pitchFamily="50" charset="-128"/>
                <a:cs typeface="Calibri" pitchFamily="34" charset="-120"/>
              </a:rPr>
              <a:t>→ ミドルリスト</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0" name="Text 33">
            <a:extLst>
              <a:ext uri="{FF2B5EF4-FFF2-40B4-BE49-F238E27FC236}">
                <a16:creationId xmlns:a16="http://schemas.microsoft.com/office/drawing/2014/main" id="{88DC7D4E-3340-9B35-991E-96ED00531893}"/>
              </a:ext>
            </a:extLst>
          </p:cNvPr>
          <p:cNvSpPr/>
          <p:nvPr/>
        </p:nvSpPr>
        <p:spPr>
          <a:xfrm>
            <a:off x="5251005" y="4868206"/>
            <a:ext cx="4114800" cy="246888"/>
          </a:xfrm>
          <a:prstGeom prst="rect">
            <a:avLst/>
          </a:prstGeom>
          <a:noFill/>
          <a:ln>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業界動向・スキルアップ情報を提供。半年スパンで関係構築</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1" name="Shape 34">
            <a:extLst>
              <a:ext uri="{FF2B5EF4-FFF2-40B4-BE49-F238E27FC236}">
                <a16:creationId xmlns:a16="http://schemas.microsoft.com/office/drawing/2014/main" id="{966CBC37-CF13-58B0-5CD8-1E77836F7F29}"/>
              </a:ext>
            </a:extLst>
          </p:cNvPr>
          <p:cNvSpPr/>
          <p:nvPr/>
        </p:nvSpPr>
        <p:spPr>
          <a:xfrm>
            <a:off x="5177853" y="5206534"/>
            <a:ext cx="4297680" cy="621792"/>
          </a:xfrm>
          <a:prstGeom prst="roundRect">
            <a:avLst>
              <a:gd name="adj" fmla="val 11765"/>
            </a:avLst>
          </a:prstGeom>
          <a:solidFill>
            <a:srgbClr val="FFFFFF"/>
          </a:solidFill>
          <a:ln w="12700">
            <a:solidFill>
              <a:schemeClr val="tx2"/>
            </a:solidFill>
            <a:prstDash val="solid"/>
          </a:ln>
          <a:effectLst>
            <a:outerShdw blurRad="101600" dist="25400" dir="2700000" algn="bl" rotWithShape="0">
              <a:srgbClr val="000000">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2" name="Shape 35">
            <a:extLst>
              <a:ext uri="{FF2B5EF4-FFF2-40B4-BE49-F238E27FC236}">
                <a16:creationId xmlns:a16="http://schemas.microsoft.com/office/drawing/2014/main" id="{100CDE3F-E390-202C-287F-515D436D1ADB}"/>
              </a:ext>
            </a:extLst>
          </p:cNvPr>
          <p:cNvSpPr/>
          <p:nvPr/>
        </p:nvSpPr>
        <p:spPr>
          <a:xfrm>
            <a:off x="5251005" y="5279686"/>
            <a:ext cx="1005840" cy="256032"/>
          </a:xfrm>
          <a:prstGeom prst="roundRect">
            <a:avLst>
              <a:gd name="adj" fmla="val 14286"/>
            </a:avLst>
          </a:prstGeom>
          <a:solidFill>
            <a:schemeClr val="tx2">
              <a:lumMod val="20000"/>
              <a:lumOff val="80000"/>
            </a:schemeClr>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3" name="Text 36">
            <a:extLst>
              <a:ext uri="{FF2B5EF4-FFF2-40B4-BE49-F238E27FC236}">
                <a16:creationId xmlns:a16="http://schemas.microsoft.com/office/drawing/2014/main" id="{0D886FBA-D1FA-1F1D-4774-F731872AEE33}"/>
              </a:ext>
            </a:extLst>
          </p:cNvPr>
          <p:cNvSpPr/>
          <p:nvPr/>
        </p:nvSpPr>
        <p:spPr>
          <a:xfrm>
            <a:off x="5251005" y="5279686"/>
            <a:ext cx="1005840" cy="256032"/>
          </a:xfrm>
          <a:prstGeom prst="rect">
            <a:avLst/>
          </a:prstGeom>
          <a:noFill/>
          <a:ln>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現状維持型</a:t>
            </a:r>
            <a:endParaRPr kumimoji="0" lang="en-US" sz="9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4" name="Shape 37">
            <a:extLst>
              <a:ext uri="{FF2B5EF4-FFF2-40B4-BE49-F238E27FC236}">
                <a16:creationId xmlns:a16="http://schemas.microsoft.com/office/drawing/2014/main" id="{0A8BE876-C3E9-5C00-CA0A-659FF0188ECF}"/>
              </a:ext>
            </a:extLst>
          </p:cNvPr>
          <p:cNvSpPr/>
          <p:nvPr/>
        </p:nvSpPr>
        <p:spPr>
          <a:xfrm>
            <a:off x="6320853" y="5297974"/>
            <a:ext cx="822960" cy="219456"/>
          </a:xfrm>
          <a:prstGeom prst="roundRect">
            <a:avLst>
              <a:gd name="adj" fmla="val 16667"/>
            </a:avLst>
          </a:prstGeom>
          <a:solidFill>
            <a:srgbClr val="F4F7FF"/>
          </a:solidFill>
          <a:ln w="12700">
            <a:no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5" name="Text 38">
            <a:extLst>
              <a:ext uri="{FF2B5EF4-FFF2-40B4-BE49-F238E27FC236}">
                <a16:creationId xmlns:a16="http://schemas.microsoft.com/office/drawing/2014/main" id="{BB5CADDA-DE23-AF11-67EE-438A0E4F573B}"/>
              </a:ext>
            </a:extLst>
          </p:cNvPr>
          <p:cNvSpPr/>
          <p:nvPr/>
        </p:nvSpPr>
        <p:spPr>
          <a:xfrm>
            <a:off x="6320853" y="5297974"/>
            <a:ext cx="822960" cy="219456"/>
          </a:xfrm>
          <a:prstGeom prst="rect">
            <a:avLst/>
          </a:prstGeom>
          <a:noFill/>
          <a:ln>
            <a:noFill/>
          </a:ln>
        </p:spPr>
        <p:txBody>
          <a:bodyPr wrap="squar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1E2761"/>
                </a:solidFill>
                <a:effectLst/>
                <a:uLnTx/>
                <a:uFillTx/>
                <a:latin typeface="メイリオ" panose="020B0604030504040204" pitchFamily="50" charset="-128"/>
                <a:ea typeface="メイリオ" panose="020B0604030504040204" pitchFamily="50" charset="-128"/>
                <a:cs typeface="Calibri" pitchFamily="34" charset="-120"/>
              </a:rPr>
              <a:t>低スコア</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6" name="Text 39">
            <a:extLst>
              <a:ext uri="{FF2B5EF4-FFF2-40B4-BE49-F238E27FC236}">
                <a16:creationId xmlns:a16="http://schemas.microsoft.com/office/drawing/2014/main" id="{CDEDD963-E8C1-C16E-2022-546114A75A76}"/>
              </a:ext>
            </a:extLst>
          </p:cNvPr>
          <p:cNvSpPr/>
          <p:nvPr/>
        </p:nvSpPr>
        <p:spPr>
          <a:xfrm>
            <a:off x="7207821" y="5297974"/>
            <a:ext cx="1280160" cy="219456"/>
          </a:xfrm>
          <a:prstGeom prst="rect">
            <a:avLst/>
          </a:prstGeom>
          <a:noFill/>
          <a:ln>
            <a:noFill/>
          </a:ln>
        </p:spPr>
        <p:txBody>
          <a:bodyPr wrap="square" rtlCol="0" anchor="ct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 コールドリスト</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7" name="Text 40">
            <a:extLst>
              <a:ext uri="{FF2B5EF4-FFF2-40B4-BE49-F238E27FC236}">
                <a16:creationId xmlns:a16="http://schemas.microsoft.com/office/drawing/2014/main" id="{00198631-8657-65B3-0A0A-7C5220C5C5A7}"/>
              </a:ext>
            </a:extLst>
          </p:cNvPr>
          <p:cNvSpPr/>
          <p:nvPr/>
        </p:nvSpPr>
        <p:spPr>
          <a:xfrm>
            <a:off x="5251005" y="5554006"/>
            <a:ext cx="4114800" cy="246888"/>
          </a:xfrm>
          <a:prstGeom prst="rect">
            <a:avLst/>
          </a:prstGeom>
          <a:noFill/>
          <a:ln>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64748B"/>
                </a:solidFill>
                <a:effectLst/>
                <a:uLnTx/>
                <a:uFillTx/>
                <a:latin typeface="メイリオ" panose="020B0604030504040204" pitchFamily="50" charset="-128"/>
                <a:ea typeface="メイリオ" panose="020B0604030504040204" pitchFamily="50" charset="-128"/>
                <a:cs typeface="Calibri" pitchFamily="34" charset="-120"/>
              </a:rPr>
              <a:t>無理にアプローチせず月1配信。「環境変化」で再燃を待つ長期戦略</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8" name="Shape 2">
            <a:extLst>
              <a:ext uri="{FF2B5EF4-FFF2-40B4-BE49-F238E27FC236}">
                <a16:creationId xmlns:a16="http://schemas.microsoft.com/office/drawing/2014/main" id="{EED969DB-6090-3801-B39E-93C24360A11A}"/>
              </a:ext>
            </a:extLst>
          </p:cNvPr>
          <p:cNvSpPr/>
          <p:nvPr/>
        </p:nvSpPr>
        <p:spPr>
          <a:xfrm>
            <a:off x="775063" y="2010373"/>
            <a:ext cx="8412480" cy="457200"/>
          </a:xfrm>
          <a:prstGeom prst="roundRect">
            <a:avLst>
              <a:gd name="adj" fmla="val 16000"/>
            </a:avLst>
          </a:prstGeom>
          <a:solidFill>
            <a:srgbClr val="F4F7FF"/>
          </a:solidFill>
          <a:ln w="12700">
            <a:solidFill>
              <a:srgbClr val="4A90D9"/>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9" name="Text 3">
            <a:extLst>
              <a:ext uri="{FF2B5EF4-FFF2-40B4-BE49-F238E27FC236}">
                <a16:creationId xmlns:a16="http://schemas.microsoft.com/office/drawing/2014/main" id="{4BD93F70-A1A4-6B20-298D-BE3F4D258BE9}"/>
              </a:ext>
            </a:extLst>
          </p:cNvPr>
          <p:cNvSpPr/>
          <p:nvPr/>
        </p:nvSpPr>
        <p:spPr>
          <a:xfrm>
            <a:off x="957943" y="2010373"/>
            <a:ext cx="8229600" cy="457200"/>
          </a:xfrm>
          <a:prstGeom prst="rect">
            <a:avLst/>
          </a:prstGeom>
          <a:noFill/>
          <a:ln/>
        </p:spPr>
        <p:txBody>
          <a:bodyPr wrap="square" rtlCol="0" anchor="ctr"/>
          <a:lstStyle/>
          <a:p>
            <a:pPr marL="0" indent="0">
              <a:buNone/>
            </a:pPr>
            <a:r>
              <a:rPr lang="en-US" sz="1100" b="1" dirty="0" err="1">
                <a:solidFill>
                  <a:srgbClr val="1E2761"/>
                </a:solidFill>
                <a:latin typeface="メイリオ" panose="020B0604030504040204" pitchFamily="50" charset="-128"/>
                <a:ea typeface="メイリオ" panose="020B0604030504040204" pitchFamily="50" charset="-128"/>
                <a:cs typeface="Calibri" pitchFamily="34" charset="-120"/>
              </a:rPr>
              <a:t>目的</a:t>
            </a:r>
            <a:r>
              <a:rPr lang="en-US" sz="1100" b="1" dirty="0">
                <a:solidFill>
                  <a:srgbClr val="1E2761"/>
                </a:solidFill>
                <a:latin typeface="メイリオ" panose="020B0604030504040204" pitchFamily="50" charset="-128"/>
                <a:ea typeface="メイリオ" panose="020B0604030504040204" pitchFamily="50" charset="-128"/>
                <a:cs typeface="Calibri" pitchFamily="34" charset="-120"/>
              </a:rPr>
              <a:t>：</a:t>
            </a:r>
            <a:r>
              <a:rPr lang="ja-JP" altLang="en-US" sz="1100" b="1" dirty="0">
                <a:solidFill>
                  <a:srgbClr val="1E2761"/>
                </a:solidFill>
                <a:latin typeface="メイリオ" panose="020B0604030504040204" pitchFamily="50" charset="-128"/>
                <a:ea typeface="メイリオ" panose="020B0604030504040204" pitchFamily="50" charset="-128"/>
                <a:cs typeface="Calibri" pitchFamily="34" charset="-120"/>
              </a:rPr>
              <a:t>登録から時間がかかったユーザーに対して、あなたの診断（ハードル：低）→現状可視化→セグメント追客を実施</a:t>
            </a:r>
            <a:endParaRPr lang="en-US" sz="1100"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BDC8374B-5F7F-A61F-169C-C54DCD7D51C0}"/>
              </a:ext>
            </a:extLst>
          </p:cNvPr>
          <p:cNvSpPr/>
          <p:nvPr/>
        </p:nvSpPr>
        <p:spPr>
          <a:xfrm>
            <a:off x="195943" y="1649952"/>
            <a:ext cx="9570720" cy="4772299"/>
          </a:xfrm>
          <a:prstGeom prst="rect">
            <a:avLst/>
          </a:prstGeom>
          <a:solidFill>
            <a:schemeClr val="bg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EEE7D10-E257-A9D8-F6D6-AF0A9A41DDC4}"/>
              </a:ext>
            </a:extLst>
          </p:cNvPr>
          <p:cNvSpPr txBox="1"/>
          <p:nvPr/>
        </p:nvSpPr>
        <p:spPr>
          <a:xfrm>
            <a:off x="3872439" y="1317985"/>
            <a:ext cx="5767950" cy="230832"/>
          </a:xfrm>
          <a:prstGeom prst="rect">
            <a:avLst/>
          </a:prstGeom>
          <a:noFill/>
        </p:spPr>
        <p:txBody>
          <a:bodyPr wrap="square">
            <a:spAutoFit/>
          </a:bodyPr>
          <a:lstStyle/>
          <a:p>
            <a:r>
              <a:rPr lang="en-US" altLang="ja-JP" sz="900" dirty="0">
                <a:solidFill>
                  <a:schemeClr val="bg1">
                    <a:lumMod val="50000"/>
                  </a:schemeClr>
                </a:solidFill>
                <a:latin typeface="メイリオ" panose="020B0604030504040204" pitchFamily="50" charset="-128"/>
                <a:ea typeface="メイリオ" panose="020B0604030504040204" pitchFamily="50" charset="-128"/>
                <a:cs typeface="Meiryo"/>
                <a:sym typeface="Meiryo"/>
              </a:rPr>
              <a:t>“</a:t>
            </a:r>
            <a:r>
              <a:rPr lang="ja-JP" altLang="en-US" sz="900" dirty="0">
                <a:solidFill>
                  <a:schemeClr val="bg1">
                    <a:lumMod val="50000"/>
                  </a:schemeClr>
                </a:solidFill>
                <a:latin typeface="メイリオ" panose="020B0604030504040204" pitchFamily="50" charset="-128"/>
                <a:ea typeface="メイリオ" panose="020B0604030504040204" pitchFamily="50" charset="-128"/>
                <a:cs typeface="Meiryo"/>
                <a:sym typeface="Meiryo"/>
              </a:rPr>
              <a:t>サービス説明に繋げられるけど、サービスの直接的な宣伝は忌避される</a:t>
            </a:r>
            <a:r>
              <a:rPr lang="en-US" altLang="ja-JP" sz="900" dirty="0">
                <a:solidFill>
                  <a:schemeClr val="bg1">
                    <a:lumMod val="50000"/>
                  </a:schemeClr>
                </a:solidFill>
                <a:latin typeface="メイリオ" panose="020B0604030504040204" pitchFamily="50" charset="-128"/>
                <a:ea typeface="メイリオ" panose="020B0604030504040204" pitchFamily="50" charset="-128"/>
                <a:cs typeface="Meiryo"/>
                <a:sym typeface="Meiryo"/>
              </a:rPr>
              <a:t>” </a:t>
            </a:r>
            <a:r>
              <a:rPr lang="ja-JP" altLang="en-US" sz="900" dirty="0">
                <a:solidFill>
                  <a:schemeClr val="bg1">
                    <a:lumMod val="50000"/>
                  </a:schemeClr>
                </a:solidFill>
                <a:latin typeface="メイリオ" panose="020B0604030504040204" pitchFamily="50" charset="-128"/>
                <a:ea typeface="メイリオ" panose="020B0604030504040204" pitchFamily="50" charset="-128"/>
                <a:cs typeface="Meiryo"/>
                <a:sym typeface="Meiryo"/>
              </a:rPr>
              <a:t>ユーザー層のセグメント化に活用</a:t>
            </a:r>
            <a:endParaRPr lang="ja-JP" altLang="en-US" sz="900" dirty="0">
              <a:solidFill>
                <a:schemeClr val="bg1">
                  <a:lumMod val="50000"/>
                </a:schemeClr>
              </a:solidFill>
            </a:endParaRPr>
          </a:p>
        </p:txBody>
      </p:sp>
      <p:sp>
        <p:nvSpPr>
          <p:cNvPr id="5" name="矢印: 右 4">
            <a:extLst>
              <a:ext uri="{FF2B5EF4-FFF2-40B4-BE49-F238E27FC236}">
                <a16:creationId xmlns:a16="http://schemas.microsoft.com/office/drawing/2014/main" id="{31E96465-A2D8-BAD2-908E-13EA6B2BA2F0}"/>
              </a:ext>
            </a:extLst>
          </p:cNvPr>
          <p:cNvSpPr/>
          <p:nvPr/>
        </p:nvSpPr>
        <p:spPr>
          <a:xfrm>
            <a:off x="4769313" y="3151795"/>
            <a:ext cx="375557" cy="530249"/>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22173E9D-47C1-7D4E-1D0D-EC3756179319}"/>
              </a:ext>
            </a:extLst>
          </p:cNvPr>
          <p:cNvSpPr/>
          <p:nvPr/>
        </p:nvSpPr>
        <p:spPr>
          <a:xfrm>
            <a:off x="4940121" y="59287"/>
            <a:ext cx="2597727" cy="41563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人材</a:t>
            </a:r>
            <a:r>
              <a:rPr kumimoji="1" lang="en-US" altLang="ja-JP" sz="1200" dirty="0">
                <a:solidFill>
                  <a:schemeClr val="bg1"/>
                </a:solidFill>
                <a:latin typeface="メイリオ" panose="020B0604030504040204" pitchFamily="50" charset="-128"/>
                <a:ea typeface="メイリオ" panose="020B0604030504040204" pitchFamily="50" charset="-128"/>
              </a:rPr>
              <a:t>(</a:t>
            </a:r>
            <a:r>
              <a:rPr kumimoji="1" lang="ja-JP" altLang="en-US" sz="1200" dirty="0">
                <a:solidFill>
                  <a:schemeClr val="bg1"/>
                </a:solidFill>
                <a:latin typeface="メイリオ" panose="020B0604030504040204" pitchFamily="50" charset="-128"/>
                <a:ea typeface="メイリオ" panose="020B0604030504040204" pitchFamily="50" charset="-128"/>
              </a:rPr>
              <a:t>転職</a:t>
            </a:r>
            <a:r>
              <a:rPr kumimoji="1" lang="en-US" altLang="ja-JP" sz="1200" dirty="0">
                <a:solidFill>
                  <a:schemeClr val="bg1"/>
                </a:solidFill>
                <a:latin typeface="メイリオ" panose="020B0604030504040204" pitchFamily="50" charset="-128"/>
                <a:ea typeface="メイリオ" panose="020B0604030504040204" pitchFamily="50" charset="-128"/>
              </a:rPr>
              <a:t>)</a:t>
            </a:r>
            <a:r>
              <a:rPr kumimoji="1" lang="ja-JP" altLang="en-US" sz="1200" dirty="0">
                <a:solidFill>
                  <a:schemeClr val="bg1"/>
                </a:solidFill>
                <a:latin typeface="メイリオ" panose="020B0604030504040204" pitchFamily="50" charset="-128"/>
                <a:ea typeface="メイリオ" panose="020B0604030504040204" pitchFamily="50" charset="-128"/>
              </a:rPr>
              <a:t>業界の例</a:t>
            </a:r>
          </a:p>
        </p:txBody>
      </p:sp>
    </p:spTree>
    <p:extLst>
      <p:ext uri="{BB962C8B-B14F-4D97-AF65-F5344CB8AC3E}">
        <p14:creationId xmlns:p14="http://schemas.microsoft.com/office/powerpoint/2010/main" val="193266448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144885</TotalTime>
  <Words>9951</Words>
  <Application>Microsoft Office PowerPoint</Application>
  <PresentationFormat>A4 210 x 297 mm</PresentationFormat>
  <Paragraphs>2143</Paragraphs>
  <Slides>62</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62</vt:i4>
      </vt:variant>
    </vt:vector>
  </HeadingPairs>
  <TitlesOfParts>
    <vt:vector size="69"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1914</cp:revision>
  <cp:lastPrinted>2022-11-01T11:38:14Z</cp:lastPrinted>
  <dcterms:created xsi:type="dcterms:W3CDTF">2015-09-04T09:21:15Z</dcterms:created>
  <dcterms:modified xsi:type="dcterms:W3CDTF">2026-09-30T08:57:18Z</dcterms:modified>
</cp:coreProperties>
</file>