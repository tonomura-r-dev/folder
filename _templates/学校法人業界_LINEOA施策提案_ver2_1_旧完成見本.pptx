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3"/>
  </p:notesMasterIdLst>
  <p:handoutMasterIdLst>
    <p:handoutMasterId r:id="rId44"/>
  </p:handoutMasterIdLst>
  <p:sldIdLst>
    <p:sldId id="2363" r:id="rId3"/>
    <p:sldId id="2935" r:id="rId4"/>
    <p:sldId id="2956" r:id="rId5"/>
    <p:sldId id="2988" r:id="rId6"/>
    <p:sldId id="2972" r:id="rId7"/>
    <p:sldId id="2993" r:id="rId8"/>
    <p:sldId id="2977" r:id="rId9"/>
    <p:sldId id="2974" r:id="rId10"/>
    <p:sldId id="2975" r:id="rId11"/>
    <p:sldId id="2992" r:id="rId12"/>
    <p:sldId id="2998" r:id="rId13"/>
    <p:sldId id="2982" r:id="rId14"/>
    <p:sldId id="2736" r:id="rId15"/>
    <p:sldId id="2983" r:id="rId16"/>
    <p:sldId id="2994" r:id="rId17"/>
    <p:sldId id="2996" r:id="rId18"/>
    <p:sldId id="2989" r:id="rId19"/>
    <p:sldId id="2984" r:id="rId20"/>
    <p:sldId id="2985" r:id="rId21"/>
    <p:sldId id="2986" r:id="rId22"/>
    <p:sldId id="2908" r:id="rId23"/>
    <p:sldId id="2950" r:id="rId24"/>
    <p:sldId id="2937" r:id="rId25"/>
    <p:sldId id="2966" r:id="rId26"/>
    <p:sldId id="2939" r:id="rId27"/>
    <p:sldId id="2962" r:id="rId28"/>
    <p:sldId id="2997" r:id="rId29"/>
    <p:sldId id="2942" r:id="rId30"/>
    <p:sldId id="2941" r:id="rId31"/>
    <p:sldId id="2943" r:id="rId32"/>
    <p:sldId id="2944" r:id="rId33"/>
    <p:sldId id="2995" r:id="rId34"/>
    <p:sldId id="2990" r:id="rId35"/>
    <p:sldId id="2991" r:id="rId36"/>
    <p:sldId id="2967" r:id="rId37"/>
    <p:sldId id="2946" r:id="rId38"/>
    <p:sldId id="2947" r:id="rId39"/>
    <p:sldId id="2948" r:id="rId40"/>
    <p:sldId id="2958" r:id="rId41"/>
    <p:sldId id="1169" r:id="rId4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94" autoAdjust="0"/>
    <p:restoredTop sz="94424" autoAdjust="0"/>
  </p:normalViewPr>
  <p:slideViewPr>
    <p:cSldViewPr snapToGrid="0">
      <p:cViewPr varScale="1">
        <p:scale>
          <a:sx n="74" d="100"/>
          <a:sy n="74" d="100"/>
        </p:scale>
        <p:origin x="6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0" u="none" strike="noStrike" kern="1200" spc="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r>
              <a:rPr lang="ja-JP" altLang="en-US" sz="1100" b="1" dirty="0">
                <a:latin typeface="メイリオ" panose="020B0604030504040204" pitchFamily="50" charset="-128"/>
                <a:ea typeface="メイリオ" panose="020B0604030504040204" pitchFamily="50" charset="-128"/>
              </a:rPr>
              <a:t>全業界平均</a:t>
            </a:r>
            <a:r>
              <a:rPr lang="en-US" altLang="ja-JP" sz="1100" b="1" dirty="0">
                <a:latin typeface="メイリオ" panose="020B0604030504040204" pitchFamily="50" charset="-128"/>
                <a:ea typeface="メイリオ" panose="020B0604030504040204" pitchFamily="50" charset="-128"/>
              </a:rPr>
              <a:t>CPC</a:t>
            </a:r>
            <a:r>
              <a:rPr lang="ja-JP" altLang="en-US" sz="1100" b="1" dirty="0">
                <a:latin typeface="メイリオ" panose="020B0604030504040204" pitchFamily="50" charset="-128"/>
                <a:ea typeface="メイリオ" panose="020B0604030504040204" pitchFamily="50" charset="-128"/>
              </a:rPr>
              <a:t>推移</a:t>
            </a:r>
            <a:endParaRPr lang="en-US" altLang="ja-JP" sz="1100" b="1" dirty="0">
              <a:latin typeface="メイリオ" panose="020B0604030504040204" pitchFamily="50" charset="-128"/>
              <a:ea typeface="メイリオ" panose="020B0604030504040204" pitchFamily="50" charset="-128"/>
            </a:endParaRPr>
          </a:p>
        </c:rich>
      </c:tx>
      <c:overlay val="0"/>
      <c:spPr>
        <a:noFill/>
        <a:ln>
          <a:noFill/>
        </a:ln>
        <a:effectLst/>
      </c:spPr>
      <c:txPr>
        <a:bodyPr rot="0" spcFirstLastPara="1" vertOverflow="ellipsis" vert="horz" wrap="square" anchor="ctr" anchorCtr="1"/>
        <a:lstStyle/>
        <a:p>
          <a:pPr>
            <a:defRPr sz="1100" b="1" i="0" u="none" strike="noStrike" kern="1200" spc="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en-US" altLang="ja-JP"/>
        </a:p>
      </c:txPr>
    </c:title>
    <c:autoTitleDeleted val="0"/>
    <c:plotArea>
      <c:layout/>
      <c:barChart>
        <c:barDir val="col"/>
        <c:grouping val="clustered"/>
        <c:varyColors val="0"/>
        <c:dLbls>
          <c:showLegendKey val="0"/>
          <c:showVal val="0"/>
          <c:showCatName val="0"/>
          <c:showSerName val="0"/>
          <c:showPercent val="0"/>
          <c:showBubbleSize val="0"/>
        </c:dLbls>
        <c:gapWidth val="219"/>
        <c:overlap val="-27"/>
        <c:axId val="613844591"/>
        <c:axId val="613845071"/>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列1</c:v>
                      </c:pt>
                    </c:strCache>
                  </c:strRef>
                </c:tx>
                <c:spPr>
                  <a:solidFill>
                    <a:schemeClr val="accent1"/>
                  </a:solidFill>
                  <a:ln>
                    <a:noFill/>
                  </a:ln>
                  <a:effectLst/>
                </c:spPr>
                <c:invertIfNegative val="0"/>
                <c:cat>
                  <c:numRef>
                    <c:extLst>
                      <c:ext uri="{02D57815-91ED-43cb-92C2-25804820EDAC}">
                        <c15:formulaRef>
                          <c15:sqref>Sheet1!$A$2:$A$5</c15:sqref>
                        </c15:formulaRef>
                      </c:ext>
                    </c:extLst>
                    <c:numCache>
                      <c:formatCode>General</c:formatCode>
                      <c:ptCount val="3"/>
                      <c:pt idx="0">
                        <c:v>2023</c:v>
                      </c:pt>
                      <c:pt idx="1">
                        <c:v>2024</c:v>
                      </c:pt>
                      <c:pt idx="2">
                        <c:v>2025</c:v>
                      </c:pt>
                    </c:numCache>
                  </c:numRef>
                </c:cat>
                <c:val>
                  <c:numRef>
                    <c:extLst>
                      <c:ext uri="{02D57815-91ED-43cb-92C2-25804820EDAC}">
                        <c15:formulaRef>
                          <c15:sqref>Sheet1!$B$2:$B$5</c15:sqref>
                        </c15:formulaRef>
                      </c:ext>
                    </c:extLst>
                    <c:numCache>
                      <c:formatCode>General</c:formatCode>
                      <c:ptCount val="3"/>
                    </c:numCache>
                  </c:numRef>
                </c:val>
                <c:extLst>
                  <c:ext xmlns:c16="http://schemas.microsoft.com/office/drawing/2014/chart" uri="{C3380CC4-5D6E-409C-BE32-E72D297353CC}">
                    <c16:uniqueId val="{00000001-335C-474F-A41A-28537628ECF9}"/>
                  </c:ext>
                </c:extLst>
              </c15:ser>
            </c15:filteredBarSeries>
            <c15:filteredBarSeries>
              <c15:ser>
                <c:idx val="1"/>
                <c:order val="1"/>
                <c:tx>
                  <c:strRef>
                    <c:extLst xmlns:c15="http://schemas.microsoft.com/office/drawing/2012/chart">
                      <c:ext xmlns:c15="http://schemas.microsoft.com/office/drawing/2012/chart" uri="{02D57815-91ED-43cb-92C2-25804820EDAC}">
                        <c15:formulaRef>
                          <c15:sqref>Sheet1!$C$1</c15:sqref>
                        </c15:formulaRef>
                      </c:ext>
                    </c:extLst>
                    <c:strCache>
                      <c:ptCount val="1"/>
                      <c:pt idx="0">
                        <c:v>系列 2</c:v>
                      </c:pt>
                    </c:strCache>
                  </c:strRef>
                </c:tx>
                <c:spPr>
                  <a:solidFill>
                    <a:schemeClr val="accent2"/>
                  </a:solidFill>
                  <a:ln>
                    <a:noFill/>
                  </a:ln>
                  <a:effectLst/>
                </c:spPr>
                <c:invertIfNegative val="0"/>
                <c:cat>
                  <c:numRef>
                    <c:extLst xmlns:c15="http://schemas.microsoft.com/office/drawing/2012/chart">
                      <c:ext xmlns:c15="http://schemas.microsoft.com/office/drawing/2012/chart" uri="{02D57815-91ED-43cb-92C2-25804820EDAC}">
                        <c15:formulaRef>
                          <c15:sqref>Sheet1!$A$2:$A$5</c15:sqref>
                        </c15:formulaRef>
                      </c:ext>
                    </c:extLst>
                    <c:numCache>
                      <c:formatCode>General</c:formatCode>
                      <c:ptCount val="3"/>
                      <c:pt idx="0">
                        <c:v>2023</c:v>
                      </c:pt>
                      <c:pt idx="1">
                        <c:v>2024</c:v>
                      </c:pt>
                      <c:pt idx="2">
                        <c:v>2025</c:v>
                      </c:pt>
                    </c:numCache>
                  </c:numRef>
                </c:cat>
                <c:val>
                  <c:numRef>
                    <c:extLst xmlns:c15="http://schemas.microsoft.com/office/drawing/2012/chart">
                      <c:ext xmlns:c15="http://schemas.microsoft.com/office/drawing/2012/chart" uri="{02D57815-91ED-43cb-92C2-25804820EDAC}">
                        <c15:formulaRef>
                          <c15:sqref>Sheet1!$C$2:$C$5</c15:sqref>
                        </c15:formulaRef>
                      </c:ext>
                    </c:extLst>
                    <c:numCache>
                      <c:formatCode>General</c:formatCode>
                      <c:ptCount val="3"/>
                    </c:numCache>
                  </c:numRef>
                </c:val>
                <c:extLst xmlns:c15="http://schemas.microsoft.com/office/drawing/2012/chart">
                  <c:ext xmlns:c16="http://schemas.microsoft.com/office/drawing/2014/chart" uri="{C3380CC4-5D6E-409C-BE32-E72D297353CC}">
                    <c16:uniqueId val="{00000002-335C-474F-A41A-28537628ECF9}"/>
                  </c:ext>
                </c:extLst>
              </c15:ser>
            </c15:filteredBarSeries>
          </c:ext>
        </c:extLst>
      </c:barChart>
      <c:lineChart>
        <c:grouping val="standard"/>
        <c:varyColors val="0"/>
        <c:ser>
          <c:idx val="2"/>
          <c:order val="2"/>
          <c:tx>
            <c:strRef>
              <c:f>Sheet1!$D$1</c:f>
              <c:strCache>
                <c:ptCount val="1"/>
                <c:pt idx="0">
                  <c:v>CPC</c:v>
                </c:pt>
              </c:strCache>
            </c:strRef>
          </c:tx>
          <c:spPr>
            <a:ln w="28575" cap="rnd">
              <a:solidFill>
                <a:schemeClr val="accent3"/>
              </a:solidFill>
              <a:round/>
            </a:ln>
            <a:effectLst/>
          </c:spPr>
          <c:marker>
            <c:symbol val="none"/>
          </c:marker>
          <c:cat>
            <c:numRef>
              <c:f>Sheet1!$A$2:$A$5</c:f>
              <c:numCache>
                <c:formatCode>General</c:formatCode>
                <c:ptCount val="3"/>
                <c:pt idx="0">
                  <c:v>2023</c:v>
                </c:pt>
                <c:pt idx="1">
                  <c:v>2024</c:v>
                </c:pt>
                <c:pt idx="2">
                  <c:v>2025</c:v>
                </c:pt>
              </c:numCache>
              <c:extLst/>
            </c:numRef>
          </c:cat>
          <c:val>
            <c:numRef>
              <c:f>Sheet1!$D$2:$D$5</c:f>
              <c:numCache>
                <c:formatCode>\$#,##0.00_);[Red]\(\$#,##0.00\)</c:formatCode>
                <c:ptCount val="3"/>
                <c:pt idx="0">
                  <c:v>4.22</c:v>
                </c:pt>
                <c:pt idx="1">
                  <c:v>4.66</c:v>
                </c:pt>
                <c:pt idx="2">
                  <c:v>5.26</c:v>
                </c:pt>
              </c:numCache>
              <c:extLst/>
            </c:numRef>
          </c:val>
          <c:smooth val="0"/>
          <c:extLst>
            <c:ext xmlns:c16="http://schemas.microsoft.com/office/drawing/2014/chart" uri="{C3380CC4-5D6E-409C-BE32-E72D297353CC}">
              <c16:uniqueId val="{00000000-335C-474F-A41A-28537628ECF9}"/>
            </c:ext>
          </c:extLst>
        </c:ser>
        <c:dLbls>
          <c:showLegendKey val="0"/>
          <c:showVal val="0"/>
          <c:showCatName val="0"/>
          <c:showSerName val="0"/>
          <c:showPercent val="0"/>
          <c:showBubbleSize val="0"/>
        </c:dLbls>
        <c:marker val="1"/>
        <c:smooth val="0"/>
        <c:axId val="613844591"/>
        <c:axId val="613845071"/>
      </c:lineChart>
      <c:catAx>
        <c:axId val="6138445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crossAx val="613845071"/>
        <c:crosses val="autoZero"/>
        <c:auto val="1"/>
        <c:lblAlgn val="ctr"/>
        <c:lblOffset val="100"/>
        <c:noMultiLvlLbl val="0"/>
      </c:catAx>
      <c:valAx>
        <c:axId val="613845071"/>
        <c:scaling>
          <c:orientation val="minMax"/>
          <c:min val="4"/>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ja-JP"/>
          </a:p>
        </c:txPr>
        <c:crossAx val="6138445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31358-5359-73C9-5456-7FDD6F1757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4300674-1CDB-B9C3-A112-B682EADD22F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06E74F-04CE-DC56-828C-9681532B27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47246-7F2B-5A40-F4E7-147CCEAD5693}"/>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424212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9F146-374F-81F1-CB80-287DAF5178E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95E10B-2063-37D3-2735-BC317D3EC03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D9CCAB-304B-B422-8396-456CEC92B86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70366E3-573E-5CEF-BAE1-E661C8E0282A}"/>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2283743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FEA07-BE7C-4CEF-3077-2450E1D42F1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4484C8-A385-E9CB-2850-B251B3F204E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0E2B2E-9EB9-E7BA-DDE0-76F08E8E77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F922C6E-7195-61D2-DB8C-F4A2F20DFB87}"/>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4254917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40</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3.emf"/><Relationship Id="rId7"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2664000" y="4341752"/>
            <a:ext cx="457200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業界：学校法人（大学・専門学校）</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電話・フォームでの資料請求に“ハードルが高い”と感じる高校生・保護者が増えている状況。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LINEで学校を知る &gt;&gt; 資料請求・オープンキャンパス の導線設計でハードルを抑えた運営が可能。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2501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「LINEで資料請求」にて</a:t>
            </a:r>
            <a:endParaRPr lang="en-US" altLang="ja-JP" sz="900" b="1" dirty="0">
              <a:solidFill>
                <a:schemeClr val="bg1"/>
              </a:solidFill>
              <a:latin typeface="メイリオ" panose="020B0604030504040204" pitchFamily="50" charset="-128"/>
              <a:ea typeface="メイリオ" panose="020B0604030504040204" pitchFamily="50" charset="-128"/>
            </a:endParaRPr>
          </a:p>
          <a:p>
            <a:pPr algn="ctr"/>
            <a:r>
              <a:rPr lang="en-US" altLang="ja-JP" sz="900" b="1" dirty="0">
                <a:solidFill>
                  <a:schemeClr val="bg1"/>
                </a:solidFill>
                <a:latin typeface="メイリオ" panose="020B0604030504040204" pitchFamily="50" charset="-128"/>
                <a:ea typeface="メイリオ" panose="020B0604030504040204" pitchFamily="50" charset="-128"/>
              </a:rPr>
              <a:t>LINEリードを獲得</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176742"/>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オープンキャンパス参加</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出願・入学　に繋げる</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※進路診断・パンフDL → 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55205" y="3677135"/>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受験学年・志望分野</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を確認</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rgbClr val="343434"/>
                </a:solidFill>
                <a:latin typeface="メイリオ" panose="020B0604030504040204" pitchFamily="50" charset="-128"/>
                <a:ea typeface="メイリオ" panose="020B0604030504040204" pitchFamily="50" charset="-128"/>
              </a:rPr>
              <a:t>※ヒヤリングの上、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不足施策を明示</a:t>
            </a: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59" name="TextBox 58"/>
          <p:cNvSpPr txBox="1"/>
          <p:nvPr/>
        </p:nvSpPr>
        <p:spPr>
          <a:xfrm>
            <a:off x="360000" y="6443999"/>
            <a:ext cx="9216000" cy="216000"/>
          </a:xfrm>
          <a:prstGeom prst="rect">
            <a:avLst/>
          </a:prstGeom>
          <a:noFill/>
        </p:spPr>
        <p:txBody>
          <a:bodyPr wrap="square">
            <a:spAutoFit/>
          </a:bodyPr>
          <a:lstStyle/>
          <a:p>
            <a:r>
              <a:rPr sz="800">
                <a:solidFill>
                  <a:srgbClr val="404040"/>
                </a:solidFill>
                <a:latin typeface="メイリオ"/>
                <a:ea typeface="メイリオ"/>
              </a:rPr>
              <a:t>※ 実例でも明文化：新東京歯科技工士学校・衛生士学校（滋慶学園G）は導入背景を「資料請求の個人情報入力が高校生に重荷」と公表（Liny事例）。</a:t>
            </a:r>
          </a:p>
        </p:txBody>
      </p:sp>
    </p:spTree>
    <p:extLst>
      <p:ext uri="{BB962C8B-B14F-4D97-AF65-F5344CB8AC3E}">
        <p14:creationId xmlns:p14="http://schemas.microsoft.com/office/powerpoint/2010/main" val="9938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紙パンフ・配布物QR</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6"/>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オープンキャンパス【CV②】</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⑦出願・入学【CV③】</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個別相談・再来訪</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⑧入学手続き・入学後の接点</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弟妹・友人への紹介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④資料請求(web/LINE)【CV①】</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32171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学校法人（大学・専門学校）の場合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2" name="四角形: 角を丸くする 1">
            <a:extLst>
              <a:ext uri="{FF2B5EF4-FFF2-40B4-BE49-F238E27FC236}">
                <a16:creationId xmlns:a16="http://schemas.microsoft.com/office/drawing/2014/main" id="{8DB65287-EE7D-6E80-6710-59C2602270C8}"/>
              </a:ext>
            </a:extLst>
          </p:cNvPr>
          <p:cNvSpPr/>
          <p:nvPr/>
        </p:nvSpPr>
        <p:spPr>
          <a:xfrm>
            <a:off x="1587260" y="5924765"/>
            <a:ext cx="8172985" cy="599077"/>
          </a:xfrm>
          <a:prstGeom prst="roundRect">
            <a:avLst/>
          </a:prstGeom>
          <a:solidFill>
            <a:srgbClr val="04FA0A">
              <a:alpha val="8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LINE</a:t>
            </a:r>
            <a:r>
              <a:rPr kumimoji="1" lang="ja-JP" altLang="en-US" dirty="0"/>
              <a:t>での取り組み期間</a:t>
            </a:r>
          </a:p>
        </p:txBody>
      </p:sp>
    </p:spTree>
    <p:extLst>
      <p:ext uri="{BB962C8B-B14F-4D97-AF65-F5344CB8AC3E}">
        <p14:creationId xmlns:p14="http://schemas.microsoft.com/office/powerpoint/2010/main" val="3509480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「仕事&amp;教育」カテゴリのCPCは2023→2025で約2.3倍と、全業界平均（約1.23倍）を大きく上回る上昇。</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→早期タッチポイントの設定とリード有効化、施策全体におけるCVR改善の２点は非常に施策重要度が高い状態。</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741470"/>
            <a:ext cx="5512524" cy="530915"/>
          </a:xfrm>
          <a:prstGeom prst="rect">
            <a:avLst/>
          </a:prstGeom>
          <a:noFill/>
        </p:spPr>
        <p:txBody>
          <a:bodyPr wrap="square">
            <a:spAutoFit/>
          </a:bodyPr>
          <a:lstStyle/>
          <a:p>
            <a:r>
              <a:rPr lang="ja-JP" altLang="en-US" sz="105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050" b="1" i="0" dirty="0">
                <a:solidFill>
                  <a:srgbClr val="525860"/>
                </a:solidFill>
                <a:effectLst/>
                <a:latin typeface="メイリオ" panose="020B0604030504040204" pitchFamily="50" charset="-128"/>
                <a:ea typeface="メイリオ" panose="020B0604030504040204" pitchFamily="50" charset="-128"/>
              </a:rPr>
              <a:t>CPC</a:t>
            </a:r>
            <a:r>
              <a:rPr lang="ja-JP" altLang="en-US" sz="1050" b="1" i="0" dirty="0">
                <a:solidFill>
                  <a:srgbClr val="525860"/>
                </a:solidFill>
                <a:effectLst/>
                <a:latin typeface="メイリオ" panose="020B0604030504040204" pitchFamily="50" charset="-128"/>
                <a:ea typeface="メイリオ" panose="020B0604030504040204" pitchFamily="50" charset="-128"/>
              </a:rPr>
              <a:t>の推移</a:t>
            </a:r>
            <a:br>
              <a:rPr lang="ja-JP" altLang="ja-JP" b="1" dirty="0">
                <a:latin typeface="メイリオ" panose="020B0604030504040204" pitchFamily="50" charset="-128"/>
                <a:ea typeface="メイリオ" panose="020B0604030504040204" pitchFamily="50" charset="-128"/>
              </a:rPr>
            </a:br>
            <a:endParaRPr lang="ja-JP" altLang="en-US"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6C884B8-5140-2AFF-15DD-138629C82DCB}"/>
              </a:ext>
            </a:extLst>
          </p:cNvPr>
          <p:cNvSpPr/>
          <p:nvPr/>
        </p:nvSpPr>
        <p:spPr>
          <a:xfrm>
            <a:off x="283029" y="2163446"/>
            <a:ext cx="9117874" cy="574766"/>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需要構造・経済環境・媒体仕様の三層要因により検索広告の</a:t>
            </a:r>
            <a:r>
              <a:rPr lang="en-US" altLang="ja-JP" sz="1400" b="1" dirty="0">
                <a:solidFill>
                  <a:schemeClr val="tx1"/>
                </a:solidFill>
                <a:latin typeface="メイリオ" panose="020B0604030504040204" pitchFamily="50" charset="-128"/>
                <a:ea typeface="メイリオ" panose="020B0604030504040204" pitchFamily="50" charset="-128"/>
              </a:rPr>
              <a:t>CPC</a:t>
            </a:r>
            <a:r>
              <a:rPr lang="ja-JP" altLang="en-US" sz="1400" b="1" dirty="0">
                <a:solidFill>
                  <a:schemeClr val="tx1"/>
                </a:solidFill>
                <a:latin typeface="メイリオ" panose="020B0604030504040204" pitchFamily="50" charset="-128"/>
                <a:ea typeface="メイリオ" panose="020B0604030504040204" pitchFamily="50" charset="-128"/>
              </a:rPr>
              <a:t>は構造的に上昇している</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dirty="0">
                <a:solidFill>
                  <a:schemeClr val="tx1"/>
                </a:solidFill>
                <a:latin typeface="メイリオ" panose="020B0604030504040204" pitchFamily="50" charset="-128"/>
                <a:ea typeface="メイリオ" panose="020B0604030504040204" pitchFamily="50" charset="-128"/>
              </a:rPr>
              <a:t>→同一成果を維持するための広告費は年々増加しており、費用対効果の改善には検索依存からの脱却が不可欠</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5AF5451E-53A3-FB12-1B70-368E81E5724E}"/>
              </a:ext>
            </a:extLst>
          </p:cNvPr>
          <p:cNvSpPr/>
          <p:nvPr/>
        </p:nvSpPr>
        <p:spPr>
          <a:xfrm>
            <a:off x="283029" y="3054973"/>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市場競争要因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参入企業の増加</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LTV</a:t>
            </a: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前提の過剰入札</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“比較サイト化”による競争集中</a:t>
            </a:r>
          </a:p>
        </p:txBody>
      </p:sp>
      <p:sp>
        <p:nvSpPr>
          <p:cNvPr id="11" name="正方形/長方形 10">
            <a:extLst>
              <a:ext uri="{FF2B5EF4-FFF2-40B4-BE49-F238E27FC236}">
                <a16:creationId xmlns:a16="http://schemas.microsoft.com/office/drawing/2014/main" id="{CD688CD6-06D4-183B-FAB6-7FAAE7B2E63E}"/>
              </a:ext>
            </a:extLst>
          </p:cNvPr>
          <p:cNvSpPr/>
          <p:nvPr/>
        </p:nvSpPr>
        <p:spPr>
          <a:xfrm>
            <a:off x="283029" y="5240301"/>
            <a:ext cx="3744686" cy="10435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マクロ経済要因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広告費のデジタルシフト</a:t>
            </a:r>
            <a:endParaRPr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インフレによる</a:t>
            </a:r>
            <a:r>
              <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CPA</a:t>
            </a: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許容値上昇</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低金利→投資マネー流入</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F564AF1C-D233-CAC0-8959-610D7489C2D8}"/>
              </a:ext>
            </a:extLst>
          </p:cNvPr>
          <p:cNvSpPr/>
          <p:nvPr/>
        </p:nvSpPr>
        <p:spPr>
          <a:xfrm>
            <a:off x="283029" y="4147637"/>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媒体・技術要因</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自動入札アルゴリズムの普及</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広告枠の実質減少</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右中かっこ 14">
            <a:extLst>
              <a:ext uri="{FF2B5EF4-FFF2-40B4-BE49-F238E27FC236}">
                <a16:creationId xmlns:a16="http://schemas.microsoft.com/office/drawing/2014/main" id="{C2943848-5BD0-2838-D62F-51572D5DB8C0}"/>
              </a:ext>
            </a:extLst>
          </p:cNvPr>
          <p:cNvSpPr/>
          <p:nvPr/>
        </p:nvSpPr>
        <p:spPr>
          <a:xfrm>
            <a:off x="4239240" y="3054972"/>
            <a:ext cx="286696" cy="3225087"/>
          </a:xfrm>
          <a:prstGeom prst="rightBrace">
            <a:avLst>
              <a:gd name="adj1" fmla="val 50859"/>
              <a:gd name="adj2" fmla="val 11010"/>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9FABDC4-2C00-F5C7-B85D-477CCDFC4CEF}"/>
              </a:ext>
            </a:extLst>
          </p:cNvPr>
          <p:cNvSpPr/>
          <p:nvPr/>
        </p:nvSpPr>
        <p:spPr>
          <a:xfrm>
            <a:off x="4769525" y="3048097"/>
            <a:ext cx="4631377" cy="62965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latin typeface="メイリオ" panose="020B0604030504040204" pitchFamily="50" charset="-128"/>
                <a:ea typeface="メイリオ" panose="020B0604030504040204" pitchFamily="50" charset="-128"/>
              </a:rPr>
              <a:t>CPC</a:t>
            </a:r>
            <a:r>
              <a:rPr lang="ja-JP" altLang="en-US" sz="1200" b="1" dirty="0">
                <a:solidFill>
                  <a:schemeClr val="tx1"/>
                </a:solidFill>
                <a:latin typeface="メイリオ" panose="020B0604030504040204" pitchFamily="50" charset="-128"/>
                <a:ea typeface="メイリオ" panose="020B0604030504040204" pitchFamily="50" charset="-128"/>
              </a:rPr>
              <a:t>は構造的に上昇傾向</a:t>
            </a:r>
            <a:r>
              <a:rPr lang="en-US" altLang="ja-JP" sz="1200" b="1" dirty="0">
                <a:solidFill>
                  <a:schemeClr val="tx1"/>
                </a:solidFill>
                <a:latin typeface="メイリオ" panose="020B0604030504040204" pitchFamily="50" charset="-128"/>
                <a:ea typeface="メイリオ" panose="020B0604030504040204" pitchFamily="50" charset="-128"/>
              </a:rPr>
              <a:t>  /  </a:t>
            </a:r>
            <a:r>
              <a:rPr kumimoji="1" lang="ja-JP" altLang="en-US" sz="1200" b="1" dirty="0">
                <a:solidFill>
                  <a:schemeClr val="tx1"/>
                </a:solidFill>
                <a:latin typeface="メイリオ" panose="020B0604030504040204" pitchFamily="50" charset="-128"/>
                <a:ea typeface="メイリオ" panose="020B0604030504040204" pitchFamily="50" charset="-128"/>
              </a:rPr>
              <a:t>検索ボリュームは伸び悩み</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graphicFrame>
        <p:nvGraphicFramePr>
          <p:cNvPr id="19" name="グラフ 18">
            <a:extLst>
              <a:ext uri="{FF2B5EF4-FFF2-40B4-BE49-F238E27FC236}">
                <a16:creationId xmlns:a16="http://schemas.microsoft.com/office/drawing/2014/main" id="{5EA7F6E2-FBD6-2741-2B81-44C2000E63B4}"/>
              </a:ext>
            </a:extLst>
          </p:cNvPr>
          <p:cNvGraphicFramePr/>
          <p:nvPr>
            <p:extLst>
              <p:ext uri="{D42A27DB-BD31-4B8C-83A1-F6EECF244321}">
                <p14:modId xmlns:p14="http://schemas.microsoft.com/office/powerpoint/2010/main" val="2371059319"/>
              </p:ext>
            </p:extLst>
          </p:nvPr>
        </p:nvGraphicFramePr>
        <p:xfrm>
          <a:off x="4855027" y="3736504"/>
          <a:ext cx="2159726" cy="2543145"/>
        </p:xfrm>
        <a:graphic>
          <a:graphicData uri="http://schemas.openxmlformats.org/drawingml/2006/chart">
            <c:chart xmlns:c="http://schemas.openxmlformats.org/drawingml/2006/chart" xmlns:r="http://schemas.openxmlformats.org/officeDocument/2006/relationships" r:id="rId3"/>
          </a:graphicData>
        </a:graphic>
      </p:graphicFrame>
      <p:sp>
        <p:nvSpPr>
          <p:cNvPr id="21" name="テキスト ボックス 20">
            <a:extLst>
              <a:ext uri="{FF2B5EF4-FFF2-40B4-BE49-F238E27FC236}">
                <a16:creationId xmlns:a16="http://schemas.microsoft.com/office/drawing/2014/main" id="{9841DBEB-4FEB-CEA2-AFE8-D557C1258B6F}"/>
              </a:ext>
            </a:extLst>
          </p:cNvPr>
          <p:cNvSpPr txBox="1"/>
          <p:nvPr/>
        </p:nvSpPr>
        <p:spPr>
          <a:xfrm>
            <a:off x="4855027" y="5654374"/>
            <a:ext cx="450764" cy="215444"/>
          </a:xfrm>
          <a:prstGeom prst="rect">
            <a:avLst/>
          </a:prstGeom>
          <a:noFill/>
        </p:spPr>
        <p:txBody>
          <a:bodyPr wrap="square" rtlCol="0">
            <a:spAutoFit/>
          </a:bodyPr>
          <a:lstStyle/>
          <a:p>
            <a:r>
              <a:rPr kumimoji="1" lang="en-US" altLang="ja-JP" sz="8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800" dirty="0">
                <a:solidFill>
                  <a:schemeClr val="tx1">
                    <a:lumMod val="75000"/>
                    <a:lumOff val="25000"/>
                  </a:schemeClr>
                </a:solidFill>
                <a:latin typeface="メイリオ" panose="020B0604030504040204" pitchFamily="50" charset="-128"/>
                <a:ea typeface="メイリオ" panose="020B0604030504040204" pitchFamily="50" charset="-128"/>
              </a:rPr>
              <a:t>)</a:t>
            </a:r>
            <a:endParaRPr kumimoji="1" lang="ja-JP" altLang="en-US" sz="8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FE7F5D08-3889-C262-3F9F-B5524E38C4ED}"/>
              </a:ext>
            </a:extLst>
          </p:cNvPr>
          <p:cNvSpPr/>
          <p:nvPr/>
        </p:nvSpPr>
        <p:spPr>
          <a:xfrm>
            <a:off x="7014753" y="3736504"/>
            <a:ext cx="2299750" cy="253879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75000"/>
                    <a:lumOff val="25000"/>
                  </a:schemeClr>
                </a:solidFill>
                <a:latin typeface="名色"/>
                <a:ea typeface="メイリオ" panose="020B0604030504040204" pitchFamily="50" charset="-128"/>
              </a:rPr>
              <a:t>【仕事&amp;教育 CPC 2023→2025】</a:t>
            </a:r>
          </a:p>
          <a:p>
            <a:pPr algn="ctr"/>
            <a:r>
              <a:rPr lang="ja-JP" altLang="en-US" sz="1050" dirty="0">
                <a:solidFill>
                  <a:schemeClr val="tx1">
                    <a:lumMod val="75000"/>
                    <a:lumOff val="25000"/>
                  </a:schemeClr>
                </a:solidFill>
                <a:latin typeface="名色"/>
                <a:ea typeface="メイリオ" panose="020B0604030504040204" pitchFamily="50" charset="-128"/>
              </a:rPr>
              <a:t>140 → 192 → 317</a:t>
            </a:r>
            <a:endParaRPr lang="en-US" altLang="ja-JP" sz="1050" dirty="0">
              <a:solidFill>
                <a:schemeClr val="tx1">
                  <a:lumMod val="75000"/>
                  <a:lumOff val="25000"/>
                </a:schemeClr>
              </a:solidFill>
              <a:latin typeface="名色"/>
              <a:ea typeface="メイリオ" panose="020B0604030504040204" pitchFamily="50" charset="-128"/>
            </a:endParaRPr>
          </a:p>
          <a:p>
            <a:pPr algn="ctr"/>
            <a:r>
              <a:rPr sz="1000">
                <a:latin typeface="メイリオ"/>
                <a:ea typeface="メイリオ"/>
              </a:rPr>
              <a:t>約2.3倍（全業界平均 約1.23倍）</a:t>
            </a:r>
            <a:endParaRPr lang="en-US" altLang="ja-JP" sz="1050" dirty="0">
              <a:solidFill>
                <a:schemeClr val="tx1">
                  <a:lumMod val="75000"/>
                  <a:lumOff val="25000"/>
                </a:schemeClr>
              </a:solidFill>
              <a:latin typeface="名色"/>
              <a:ea typeface="メイリオ" panose="020B0604030504040204" pitchFamily="50" charset="-128"/>
            </a:endParaRPr>
          </a:p>
          <a:p>
            <a:pPr algn="ctr"/>
            <a:r>
              <a:rPr kumimoji="1" lang="en-US" altLang="ja-JP" sz="1050" dirty="0">
                <a:solidFill>
                  <a:schemeClr val="tx1">
                    <a:lumMod val="75000"/>
                    <a:lumOff val="25000"/>
                  </a:schemeClr>
                </a:solidFill>
                <a:latin typeface="名色"/>
                <a:ea typeface="メイリオ" panose="020B0604030504040204" pitchFamily="50" charset="-128"/>
              </a:rPr>
              <a:t>【2025年 検索流入】</a:t>
            </a:r>
          </a:p>
          <a:p>
            <a:pPr algn="ctr"/>
            <a:r>
              <a:rPr lang="ja-JP" altLang="en-US" sz="1050" dirty="0">
                <a:solidFill>
                  <a:schemeClr val="tx1">
                    <a:lumMod val="75000"/>
                    <a:lumOff val="25000"/>
                  </a:schemeClr>
                </a:solidFill>
                <a:latin typeface="名色"/>
                <a:ea typeface="メイリオ" panose="020B0604030504040204" pitchFamily="50" charset="-128"/>
              </a:rPr>
              <a:t>前年比＋0.4%（横ばい）</a:t>
            </a:r>
            <a:endParaRPr lang="en-US" altLang="ja-JP" sz="1050" dirty="0">
              <a:solidFill>
                <a:schemeClr val="tx1">
                  <a:lumMod val="75000"/>
                  <a:lumOff val="25000"/>
                </a:schemeClr>
              </a:solidFill>
              <a:latin typeface="名色"/>
              <a:ea typeface="メイリオ" panose="020B0604030504040204" pitchFamily="50" charset="-128"/>
            </a:endParaRPr>
          </a:p>
          <a:p>
            <a:pPr algn="ctr"/>
            <a:r>
              <a:rPr sz="1000">
                <a:latin typeface="メイリオ"/>
                <a:ea typeface="メイリオ"/>
              </a:rPr>
              <a:t>⇊</a:t>
            </a:r>
            <a:endParaRPr lang="en-US" altLang="ja-JP" sz="1050" dirty="0">
              <a:solidFill>
                <a:schemeClr val="tx1">
                  <a:lumMod val="75000"/>
                  <a:lumOff val="25000"/>
                </a:schemeClr>
              </a:solidFill>
              <a:latin typeface="名色"/>
              <a:ea typeface="メイリオ" panose="020B0604030504040204" pitchFamily="50" charset="-128"/>
            </a:endParaRPr>
          </a:p>
          <a:p>
            <a:pPr algn="ctr"/>
            <a:r>
              <a:rPr lang="ja-JP" altLang="en-US" sz="1050" dirty="0">
                <a:solidFill>
                  <a:schemeClr val="tx1">
                    <a:lumMod val="75000"/>
                    <a:lumOff val="25000"/>
                  </a:schemeClr>
                </a:solidFill>
                <a:latin typeface="名色"/>
                <a:ea typeface="メイリオ" panose="020B0604030504040204" pitchFamily="50" charset="-128"/>
              </a:rPr>
              <a:t>需要が伸びない中で</a:t>
            </a:r>
          </a:p>
          <a:p>
            <a:pPr algn="ctr"/>
            <a:r>
              <a:rPr lang="ja-JP" altLang="en-US" sz="1050" dirty="0">
                <a:solidFill>
                  <a:schemeClr val="tx1">
                    <a:lumMod val="75000"/>
                    <a:lumOff val="25000"/>
                  </a:schemeClr>
                </a:solidFill>
                <a:latin typeface="名色"/>
                <a:ea typeface="メイリオ" panose="020B0604030504040204" pitchFamily="50" charset="-128"/>
              </a:rPr>
              <a:t>単価だけが上がっている</a:t>
            </a:r>
            <a:endParaRPr lang="en-US" altLang="ja-JP" sz="1050" dirty="0">
              <a:solidFill>
                <a:schemeClr val="tx1">
                  <a:lumMod val="75000"/>
                  <a:lumOff val="25000"/>
                </a:schemeClr>
              </a:solidFill>
              <a:latin typeface="名色"/>
              <a:ea typeface="メイリオ" panose="020B0604030504040204" pitchFamily="50" charset="-128"/>
            </a:endParaRPr>
          </a:p>
          <a:p>
            <a:pPr algn="ctr"/>
            <a:endParaRPr lang="en-US" altLang="ja-JP" sz="1050" dirty="0">
              <a:solidFill>
                <a:schemeClr val="tx1">
                  <a:lumMod val="75000"/>
                  <a:lumOff val="25000"/>
                </a:schemeClr>
              </a:solidFill>
              <a:latin typeface="名色"/>
              <a:ea typeface="メイリオ" panose="020B0604030504040204" pitchFamily="50" charset="-128"/>
            </a:endParaRPr>
          </a:p>
          <a:p>
            <a:pPr algn="ctr"/>
            <a:endParaRPr lang="en-US" altLang="ja-JP" sz="1050" dirty="0">
              <a:solidFill>
                <a:schemeClr val="tx1">
                  <a:lumMod val="75000"/>
                  <a:lumOff val="25000"/>
                </a:schemeClr>
              </a:solidFill>
              <a:latin typeface="名色"/>
              <a:ea typeface="メイリオ" panose="020B0604030504040204" pitchFamily="50" charset="-128"/>
            </a:endParaRPr>
          </a:p>
          <a:p>
            <a:pPr algn="ctr"/>
            <a:endParaRPr lang="en-US" altLang="ja-JP" sz="1050" b="1" dirty="0">
              <a:solidFill>
                <a:schemeClr val="tx1">
                  <a:lumMod val="75000"/>
                  <a:lumOff val="25000"/>
                </a:schemeClr>
              </a:solidFill>
              <a:latin typeface="名色"/>
              <a:ea typeface="メイリオ" panose="020B0604030504040204" pitchFamily="50" charset="-128"/>
            </a:endParaRPr>
          </a:p>
        </p:txBody>
      </p:sp>
      <p:cxnSp>
        <p:nvCxnSpPr>
          <p:cNvPr id="26" name="直線矢印コネクタ 25">
            <a:extLst>
              <a:ext uri="{FF2B5EF4-FFF2-40B4-BE49-F238E27FC236}">
                <a16:creationId xmlns:a16="http://schemas.microsoft.com/office/drawing/2014/main" id="{F2ED569F-B88F-268D-C92E-3B1A33C6FC2C}"/>
              </a:ext>
            </a:extLst>
          </p:cNvPr>
          <p:cNvCxnSpPr/>
          <p:nvPr/>
        </p:nvCxnSpPr>
        <p:spPr>
          <a:xfrm flipV="1">
            <a:off x="5503817" y="4147637"/>
            <a:ext cx="1001486" cy="858262"/>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8" name="四角形: 角を丸くする 27">
            <a:extLst>
              <a:ext uri="{FF2B5EF4-FFF2-40B4-BE49-F238E27FC236}">
                <a16:creationId xmlns:a16="http://schemas.microsoft.com/office/drawing/2014/main" id="{5E9B660E-A4CD-9923-72EA-226C228A8CCD}"/>
              </a:ext>
            </a:extLst>
          </p:cNvPr>
          <p:cNvSpPr/>
          <p:nvPr/>
        </p:nvSpPr>
        <p:spPr>
          <a:xfrm>
            <a:off x="5381802" y="4430651"/>
            <a:ext cx="709750" cy="236864"/>
          </a:xfrm>
          <a:prstGeom prst="roundRect">
            <a:avLst/>
          </a:prstGeom>
          <a:solidFill>
            <a:schemeClr val="bg1"/>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rgbClr val="FF0000"/>
                </a:solidFill>
                <a:latin typeface="メイリオ" panose="020B0604030504040204" pitchFamily="50" charset="-128"/>
                <a:ea typeface="メイリオ" panose="020B0604030504040204" pitchFamily="50" charset="-128"/>
              </a:rPr>
              <a:t>1.23</a:t>
            </a:r>
            <a:r>
              <a:rPr kumimoji="1" lang="ja-JP" altLang="en-US" sz="1050" dirty="0">
                <a:solidFill>
                  <a:srgbClr val="FF0000"/>
                </a:solidFill>
                <a:latin typeface="メイリオ" panose="020B0604030504040204" pitchFamily="50" charset="-128"/>
                <a:ea typeface="メイリオ" panose="020B0604030504040204" pitchFamily="50" charset="-128"/>
              </a:rPr>
              <a:t>倍</a:t>
            </a:r>
          </a:p>
        </p:txBody>
      </p:sp>
      <p:sp>
        <p:nvSpPr>
          <p:cNvPr id="93" name="TextBox 92"/>
          <p:cNvSpPr txBox="1"/>
          <p:nvPr/>
        </p:nvSpPr>
        <p:spPr>
          <a:xfrm>
            <a:off x="350000" y="6372000"/>
            <a:ext cx="9200000" cy="280000"/>
          </a:xfrm>
          <a:prstGeom prst="rect">
            <a:avLst/>
          </a:prstGeom>
          <a:noFill/>
        </p:spPr>
        <p:txBody>
          <a:bodyPr wrap="square">
            <a:spAutoFit/>
          </a:bodyPr>
          <a:lstStyle/>
          <a:p>
            <a:r>
              <a:rPr sz="900">
                <a:solidFill>
                  <a:srgbClr val="555555"/>
                </a:solidFill>
                <a:latin typeface="メイリオ"/>
              </a:rPr>
              <a:t>※ CPC推移・業界別上昇率は社内資料「SNS広告×LINE OA CRMによる成果最大化」（2026年）より。一次出典の表記は最終版で明記予定。</a:t>
            </a:r>
          </a:p>
        </p:txBody>
      </p:sp>
    </p:spTree>
    <p:extLst>
      <p:ext uri="{BB962C8B-B14F-4D97-AF65-F5344CB8AC3E}">
        <p14:creationId xmlns:p14="http://schemas.microsoft.com/office/powerpoint/2010/main" val="118759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リターゲティング広告はCookie規制で母数35〜50%減・追跡率約3割に縮小し、「追って刈り取る」型が困難に。</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 離脱後に追跡するのではなく、離脱前にLINE友だちとして接点を資産化する構造への転換が有効。</a:t>
            </a: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LINE公式アカウントを検討する背景</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57006A34-E0FD-C2ED-2162-46ECD9FAEE3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7" name="矢印: 五方向 1">
            <a:extLst>
              <a:ext uri="{FF2B5EF4-FFF2-40B4-BE49-F238E27FC236}">
                <a16:creationId xmlns:a16="http://schemas.microsoft.com/office/drawing/2014/main" id="{9E2C887A-6004-B598-5C94-48C744757CD0}"/>
              </a:ext>
            </a:extLst>
          </p:cNvPr>
          <p:cNvSpPr/>
          <p:nvPr/>
        </p:nvSpPr>
        <p:spPr>
          <a:xfrm>
            <a:off x="7691846" y="2203273"/>
            <a:ext cx="1628503" cy="531223"/>
          </a:xfrm>
          <a:prstGeom prst="homePlate">
            <a:avLst/>
          </a:prstGeom>
          <a:solidFill>
            <a:schemeClr val="tx1">
              <a:lumMod val="50000"/>
              <a:lumOff val="5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strike="sngStrike" dirty="0">
                <a:solidFill>
                  <a:schemeClr val="bg1"/>
                </a:solidFill>
              </a:rPr>
              <a:t>再訪問・</a:t>
            </a:r>
            <a:r>
              <a:rPr lang="en-US" altLang="ja-JP" sz="1400" b="1" strike="sngStrike" dirty="0">
                <a:solidFill>
                  <a:schemeClr val="bg1"/>
                </a:solidFill>
              </a:rPr>
              <a:t>CV</a:t>
            </a:r>
            <a:endParaRPr kumimoji="1" lang="ja-JP" altLang="en-US" sz="1400" b="1" strike="sngStrike" dirty="0">
              <a:solidFill>
                <a:schemeClr val="bg1"/>
              </a:solidFill>
            </a:endParaRPr>
          </a:p>
        </p:txBody>
      </p:sp>
      <p:sp>
        <p:nvSpPr>
          <p:cNvPr id="48" name="矢印: 五方向 2">
            <a:extLst>
              <a:ext uri="{FF2B5EF4-FFF2-40B4-BE49-F238E27FC236}">
                <a16:creationId xmlns:a16="http://schemas.microsoft.com/office/drawing/2014/main" id="{7987BA50-0335-E26D-6ED9-2004D9916E03}"/>
              </a:ext>
            </a:extLst>
          </p:cNvPr>
          <p:cNvSpPr/>
          <p:nvPr/>
        </p:nvSpPr>
        <p:spPr>
          <a:xfrm>
            <a:off x="5685555" y="2203273"/>
            <a:ext cx="2154338" cy="531223"/>
          </a:xfrm>
          <a:prstGeom prst="homePlate">
            <a:avLst/>
          </a:prstGeom>
          <a:solidFill>
            <a:schemeClr val="tx1">
              <a:lumMod val="50000"/>
              <a:lumOff val="5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strike="sngStrike" dirty="0">
                <a:solidFill>
                  <a:schemeClr val="bg1"/>
                </a:solidFill>
              </a:rPr>
              <a:t>RM</a:t>
            </a:r>
            <a:r>
              <a:rPr kumimoji="1" lang="ja-JP" altLang="en-US" sz="1400" b="1" strike="sngStrike" dirty="0">
                <a:solidFill>
                  <a:schemeClr val="bg1"/>
                </a:solidFill>
              </a:rPr>
              <a:t>広告配信</a:t>
            </a:r>
          </a:p>
        </p:txBody>
      </p:sp>
      <p:sp>
        <p:nvSpPr>
          <p:cNvPr id="49" name="矢印: 五方向 3">
            <a:extLst>
              <a:ext uri="{FF2B5EF4-FFF2-40B4-BE49-F238E27FC236}">
                <a16:creationId xmlns:a16="http://schemas.microsoft.com/office/drawing/2014/main" id="{B57692B6-E6EC-FD8C-632F-7711444EFB97}"/>
              </a:ext>
            </a:extLst>
          </p:cNvPr>
          <p:cNvSpPr/>
          <p:nvPr/>
        </p:nvSpPr>
        <p:spPr>
          <a:xfrm>
            <a:off x="3938452" y="2203273"/>
            <a:ext cx="1881051" cy="531223"/>
          </a:xfrm>
          <a:prstGeom prst="homePlate">
            <a:avLst/>
          </a:prstGeom>
          <a:solidFill>
            <a:schemeClr val="tx1">
              <a:lumMod val="50000"/>
              <a:lumOff val="5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strike="sngStrike" dirty="0">
                <a:solidFill>
                  <a:schemeClr val="bg1"/>
                </a:solidFill>
              </a:rPr>
              <a:t>外部行動の追跡</a:t>
            </a:r>
            <a:endParaRPr lang="en-US" altLang="ja-JP" sz="1400" b="1" strike="sngStrike" dirty="0">
              <a:solidFill>
                <a:schemeClr val="bg1"/>
              </a:solidFill>
            </a:endParaRPr>
          </a:p>
          <a:p>
            <a:pPr algn="ctr"/>
            <a:r>
              <a:rPr kumimoji="1" lang="en-US" altLang="ja-JP" sz="1100" strike="sngStrike" dirty="0">
                <a:solidFill>
                  <a:schemeClr val="bg1"/>
                </a:solidFill>
              </a:rPr>
              <a:t>※</a:t>
            </a:r>
            <a:r>
              <a:rPr kumimoji="1" lang="ja-JP" altLang="en-US" sz="1100" strike="sngStrike" dirty="0">
                <a:solidFill>
                  <a:schemeClr val="bg1"/>
                </a:solidFill>
              </a:rPr>
              <a:t>追跡率は約</a:t>
            </a:r>
            <a:r>
              <a:rPr kumimoji="1" lang="en-US" altLang="ja-JP" sz="1100" strike="sngStrike" dirty="0">
                <a:solidFill>
                  <a:schemeClr val="bg1"/>
                </a:solidFill>
              </a:rPr>
              <a:t>3</a:t>
            </a:r>
            <a:r>
              <a:rPr kumimoji="1" lang="ja-JP" altLang="en-US" sz="1100" strike="sngStrike" dirty="0">
                <a:solidFill>
                  <a:schemeClr val="bg1"/>
                </a:solidFill>
              </a:rPr>
              <a:t>割</a:t>
            </a:r>
          </a:p>
        </p:txBody>
      </p:sp>
      <p:sp>
        <p:nvSpPr>
          <p:cNvPr id="5" name="矢印: 五方向 4">
            <a:extLst>
              <a:ext uri="{FF2B5EF4-FFF2-40B4-BE49-F238E27FC236}">
                <a16:creationId xmlns:a16="http://schemas.microsoft.com/office/drawing/2014/main" id="{A77D8A9E-ADF1-6E40-0940-D26D083C382D}"/>
              </a:ext>
            </a:extLst>
          </p:cNvPr>
          <p:cNvSpPr/>
          <p:nvPr/>
        </p:nvSpPr>
        <p:spPr>
          <a:xfrm>
            <a:off x="2501538" y="2203273"/>
            <a:ext cx="1593668" cy="531223"/>
          </a:xfrm>
          <a:prstGeom prst="homePlate">
            <a:avLst/>
          </a:prstGeom>
          <a:solidFill>
            <a:schemeClr val="tx1">
              <a:lumMod val="50000"/>
              <a:lumOff val="5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strike="sngStrike" dirty="0">
                <a:solidFill>
                  <a:schemeClr val="bg1"/>
                </a:solidFill>
              </a:rPr>
              <a:t>Cookie</a:t>
            </a:r>
            <a:r>
              <a:rPr kumimoji="1" lang="ja-JP" altLang="en-US" sz="1400" b="1" strike="sngStrike" dirty="0">
                <a:solidFill>
                  <a:schemeClr val="bg1"/>
                </a:solidFill>
              </a:rPr>
              <a:t>付与</a:t>
            </a:r>
          </a:p>
        </p:txBody>
      </p:sp>
      <p:sp>
        <p:nvSpPr>
          <p:cNvPr id="9" name="矢印: 五方向 8">
            <a:extLst>
              <a:ext uri="{FF2B5EF4-FFF2-40B4-BE49-F238E27FC236}">
                <a16:creationId xmlns:a16="http://schemas.microsoft.com/office/drawing/2014/main" id="{B6B2B643-1D82-A0AA-55E8-CEB256E01311}"/>
              </a:ext>
            </a:extLst>
          </p:cNvPr>
          <p:cNvSpPr/>
          <p:nvPr/>
        </p:nvSpPr>
        <p:spPr>
          <a:xfrm>
            <a:off x="1186543" y="2203273"/>
            <a:ext cx="1436914" cy="531223"/>
          </a:xfrm>
          <a:prstGeom prst="homePlate">
            <a:avLst/>
          </a:prstGeom>
          <a:solidFill>
            <a:schemeClr val="tx1">
              <a:lumMod val="50000"/>
              <a:lumOff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サイト訪問</a:t>
            </a:r>
          </a:p>
        </p:txBody>
      </p:sp>
      <p:sp>
        <p:nvSpPr>
          <p:cNvPr id="10" name="正方形/長方形 9">
            <a:extLst>
              <a:ext uri="{FF2B5EF4-FFF2-40B4-BE49-F238E27FC236}">
                <a16:creationId xmlns:a16="http://schemas.microsoft.com/office/drawing/2014/main" id="{5F5F81A1-4FA1-07E4-3A0B-A76238977B9A}"/>
              </a:ext>
            </a:extLst>
          </p:cNvPr>
          <p:cNvSpPr/>
          <p:nvPr/>
        </p:nvSpPr>
        <p:spPr>
          <a:xfrm>
            <a:off x="409303" y="1863637"/>
            <a:ext cx="418011" cy="2476004"/>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kumimoji="1" lang="en-US" altLang="ja-JP" sz="1600" b="1" dirty="0">
                <a:solidFill>
                  <a:schemeClr val="bg1"/>
                </a:solidFill>
                <a:latin typeface="+mj-ea"/>
                <a:ea typeface="+mj-ea"/>
              </a:rPr>
              <a:t>RM</a:t>
            </a:r>
            <a:r>
              <a:rPr kumimoji="1" lang="ja-JP" altLang="en-US" sz="1600" b="1" dirty="0">
                <a:solidFill>
                  <a:schemeClr val="bg1"/>
                </a:solidFill>
                <a:latin typeface="+mj-ea"/>
                <a:ea typeface="+mj-ea"/>
              </a:rPr>
              <a:t>広告</a:t>
            </a:r>
          </a:p>
        </p:txBody>
      </p:sp>
      <p:sp>
        <p:nvSpPr>
          <p:cNvPr id="11" name="矢印: 下カーブ 10">
            <a:extLst>
              <a:ext uri="{FF2B5EF4-FFF2-40B4-BE49-F238E27FC236}">
                <a16:creationId xmlns:a16="http://schemas.microsoft.com/office/drawing/2014/main" id="{29E541B1-86F8-E931-2F46-65BEA8DA7DCC}"/>
              </a:ext>
            </a:extLst>
          </p:cNvPr>
          <p:cNvSpPr/>
          <p:nvPr/>
        </p:nvSpPr>
        <p:spPr>
          <a:xfrm rot="10800000" flipH="1">
            <a:off x="3573780" y="2756266"/>
            <a:ext cx="729343" cy="374469"/>
          </a:xfrm>
          <a:prstGeom prst="curvedDownArrow">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テキスト ボックス 11">
            <a:extLst>
              <a:ext uri="{FF2B5EF4-FFF2-40B4-BE49-F238E27FC236}">
                <a16:creationId xmlns:a16="http://schemas.microsoft.com/office/drawing/2014/main" id="{BA37AC94-4758-294E-5F0C-F3D8EADBD32D}"/>
              </a:ext>
            </a:extLst>
          </p:cNvPr>
          <p:cNvSpPr txBox="1"/>
          <p:nvPr/>
        </p:nvSpPr>
        <p:spPr>
          <a:xfrm>
            <a:off x="2871727" y="1919166"/>
            <a:ext cx="595035" cy="338554"/>
          </a:xfrm>
          <a:prstGeom prst="rect">
            <a:avLst/>
          </a:prstGeom>
          <a:noFill/>
        </p:spPr>
        <p:txBody>
          <a:bodyPr wrap="none" rtlCol="0">
            <a:spAutoFit/>
          </a:bodyPr>
          <a:lstStyle/>
          <a:p>
            <a:r>
              <a:rPr kumimoji="1" lang="ja-JP" altLang="en-US" sz="1600" b="1" dirty="0">
                <a:solidFill>
                  <a:schemeClr val="accent2">
                    <a:lumMod val="75000"/>
                  </a:schemeClr>
                </a:solidFill>
              </a:rPr>
              <a:t>規制</a:t>
            </a:r>
          </a:p>
        </p:txBody>
      </p:sp>
      <p:sp>
        <p:nvSpPr>
          <p:cNvPr id="13" name="テキスト ボックス 12">
            <a:extLst>
              <a:ext uri="{FF2B5EF4-FFF2-40B4-BE49-F238E27FC236}">
                <a16:creationId xmlns:a16="http://schemas.microsoft.com/office/drawing/2014/main" id="{9298D8FD-ED7E-DA69-6673-9F0E56B08D3B}"/>
              </a:ext>
            </a:extLst>
          </p:cNvPr>
          <p:cNvSpPr txBox="1"/>
          <p:nvPr/>
        </p:nvSpPr>
        <p:spPr>
          <a:xfrm>
            <a:off x="4343476" y="1919166"/>
            <a:ext cx="1005403" cy="338554"/>
          </a:xfrm>
          <a:prstGeom prst="rect">
            <a:avLst/>
          </a:prstGeom>
          <a:noFill/>
        </p:spPr>
        <p:txBody>
          <a:bodyPr wrap="none" rtlCol="0">
            <a:spAutoFit/>
          </a:bodyPr>
          <a:lstStyle/>
          <a:p>
            <a:r>
              <a:rPr kumimoji="1" lang="ja-JP" altLang="en-US" sz="1600" b="1" dirty="0">
                <a:solidFill>
                  <a:schemeClr val="accent2">
                    <a:lumMod val="75000"/>
                  </a:schemeClr>
                </a:solidFill>
              </a:rPr>
              <a:t>追跡不可</a:t>
            </a:r>
          </a:p>
        </p:txBody>
      </p:sp>
      <p:sp>
        <p:nvSpPr>
          <p:cNvPr id="14" name="テキスト ボックス 13">
            <a:extLst>
              <a:ext uri="{FF2B5EF4-FFF2-40B4-BE49-F238E27FC236}">
                <a16:creationId xmlns:a16="http://schemas.microsoft.com/office/drawing/2014/main" id="{E24403EF-CB79-5FDC-963A-76E595D421B9}"/>
              </a:ext>
            </a:extLst>
          </p:cNvPr>
          <p:cNvSpPr txBox="1"/>
          <p:nvPr/>
        </p:nvSpPr>
        <p:spPr>
          <a:xfrm>
            <a:off x="5660516" y="1916973"/>
            <a:ext cx="1866217" cy="338554"/>
          </a:xfrm>
          <a:prstGeom prst="rect">
            <a:avLst/>
          </a:prstGeom>
          <a:noFill/>
        </p:spPr>
        <p:txBody>
          <a:bodyPr wrap="none" rtlCol="0">
            <a:spAutoFit/>
          </a:bodyPr>
          <a:lstStyle/>
          <a:p>
            <a:r>
              <a:rPr kumimoji="1" lang="en-US" altLang="ja-JP" sz="1600" b="1" dirty="0">
                <a:solidFill>
                  <a:schemeClr val="accent2">
                    <a:lumMod val="75000"/>
                  </a:schemeClr>
                </a:solidFill>
              </a:rPr>
              <a:t>RM</a:t>
            </a:r>
            <a:r>
              <a:rPr kumimoji="1" lang="ja-JP" altLang="en-US" sz="1600" b="1" dirty="0">
                <a:solidFill>
                  <a:schemeClr val="accent2">
                    <a:lumMod val="75000"/>
                  </a:schemeClr>
                </a:solidFill>
              </a:rPr>
              <a:t>母数</a:t>
            </a:r>
            <a:r>
              <a:rPr kumimoji="1" lang="en-US" altLang="ja-JP" sz="1600" b="1" u="sng" dirty="0">
                <a:solidFill>
                  <a:schemeClr val="accent2">
                    <a:lumMod val="75000"/>
                  </a:schemeClr>
                </a:solidFill>
              </a:rPr>
              <a:t>35</a:t>
            </a:r>
            <a:r>
              <a:rPr kumimoji="1" lang="ja-JP" altLang="en-US" sz="1600" b="1" u="sng" dirty="0">
                <a:solidFill>
                  <a:schemeClr val="accent2">
                    <a:lumMod val="75000"/>
                  </a:schemeClr>
                </a:solidFill>
              </a:rPr>
              <a:t>～</a:t>
            </a:r>
            <a:r>
              <a:rPr kumimoji="1" lang="en-US" altLang="ja-JP" sz="1600" b="1" u="sng" dirty="0">
                <a:solidFill>
                  <a:schemeClr val="accent2">
                    <a:lumMod val="75000"/>
                  </a:schemeClr>
                </a:solidFill>
              </a:rPr>
              <a:t>50%</a:t>
            </a:r>
            <a:r>
              <a:rPr kumimoji="1" lang="ja-JP" altLang="en-US" sz="1600" b="1" dirty="0">
                <a:solidFill>
                  <a:schemeClr val="accent2">
                    <a:lumMod val="75000"/>
                  </a:schemeClr>
                </a:solidFill>
              </a:rPr>
              <a:t>減</a:t>
            </a:r>
          </a:p>
        </p:txBody>
      </p:sp>
      <p:sp>
        <p:nvSpPr>
          <p:cNvPr id="15" name="テキスト ボックス 14">
            <a:extLst>
              <a:ext uri="{FF2B5EF4-FFF2-40B4-BE49-F238E27FC236}">
                <a16:creationId xmlns:a16="http://schemas.microsoft.com/office/drawing/2014/main" id="{40C1442E-59E7-6DA4-6FB2-C6EE7B0F0169}"/>
              </a:ext>
            </a:extLst>
          </p:cNvPr>
          <p:cNvSpPr txBox="1"/>
          <p:nvPr/>
        </p:nvSpPr>
        <p:spPr>
          <a:xfrm>
            <a:off x="8098776" y="1916973"/>
            <a:ext cx="620683" cy="338554"/>
          </a:xfrm>
          <a:prstGeom prst="rect">
            <a:avLst/>
          </a:prstGeom>
          <a:noFill/>
        </p:spPr>
        <p:txBody>
          <a:bodyPr wrap="none" rtlCol="0">
            <a:spAutoFit/>
          </a:bodyPr>
          <a:lstStyle/>
          <a:p>
            <a:r>
              <a:rPr kumimoji="1" lang="en-US" altLang="ja-JP" sz="1600" b="1" dirty="0">
                <a:solidFill>
                  <a:schemeClr val="accent2">
                    <a:lumMod val="75000"/>
                  </a:schemeClr>
                </a:solidFill>
              </a:rPr>
              <a:t>CV</a:t>
            </a:r>
            <a:r>
              <a:rPr lang="ja-JP" altLang="en-US" sz="1600" b="1" dirty="0">
                <a:solidFill>
                  <a:schemeClr val="accent2">
                    <a:lumMod val="75000"/>
                  </a:schemeClr>
                </a:solidFill>
              </a:rPr>
              <a:t>減</a:t>
            </a:r>
            <a:endParaRPr kumimoji="1" lang="ja-JP" altLang="en-US" sz="1600" b="1" dirty="0">
              <a:solidFill>
                <a:schemeClr val="accent2">
                  <a:lumMod val="75000"/>
                </a:schemeClr>
              </a:solidFill>
            </a:endParaRPr>
          </a:p>
        </p:txBody>
      </p:sp>
      <p:sp>
        <p:nvSpPr>
          <p:cNvPr id="16" name="矢印: 下カーブ 15">
            <a:extLst>
              <a:ext uri="{FF2B5EF4-FFF2-40B4-BE49-F238E27FC236}">
                <a16:creationId xmlns:a16="http://schemas.microsoft.com/office/drawing/2014/main" id="{8D985B23-7E91-5EBC-6A41-49045A3F6321}"/>
              </a:ext>
            </a:extLst>
          </p:cNvPr>
          <p:cNvSpPr/>
          <p:nvPr/>
        </p:nvSpPr>
        <p:spPr>
          <a:xfrm rot="10800000" flipH="1">
            <a:off x="5342133" y="2760011"/>
            <a:ext cx="729343" cy="374469"/>
          </a:xfrm>
          <a:prstGeom prst="curvedDownArrow">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矢印: 下カーブ 16">
            <a:extLst>
              <a:ext uri="{FF2B5EF4-FFF2-40B4-BE49-F238E27FC236}">
                <a16:creationId xmlns:a16="http://schemas.microsoft.com/office/drawing/2014/main" id="{B20D3187-79C2-9C19-C224-F6A258698578}"/>
              </a:ext>
            </a:extLst>
          </p:cNvPr>
          <p:cNvSpPr/>
          <p:nvPr/>
        </p:nvSpPr>
        <p:spPr>
          <a:xfrm rot="10800000" flipH="1">
            <a:off x="7344589" y="2751373"/>
            <a:ext cx="729343" cy="374469"/>
          </a:xfrm>
          <a:prstGeom prst="curvedDownArrow">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1" name="四角形: 角を丸くする 20">
            <a:extLst>
              <a:ext uri="{FF2B5EF4-FFF2-40B4-BE49-F238E27FC236}">
                <a16:creationId xmlns:a16="http://schemas.microsoft.com/office/drawing/2014/main" id="{0515FC12-1D11-C188-A20D-E411E12B33B4}"/>
              </a:ext>
            </a:extLst>
          </p:cNvPr>
          <p:cNvSpPr/>
          <p:nvPr/>
        </p:nvSpPr>
        <p:spPr>
          <a:xfrm>
            <a:off x="1351589" y="3187104"/>
            <a:ext cx="2866208" cy="1162591"/>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75000"/>
                    <a:lumOff val="25000"/>
                  </a:schemeClr>
                </a:solidFill>
              </a:rPr>
              <a:t>Cookie</a:t>
            </a:r>
            <a:r>
              <a:rPr kumimoji="1" lang="ja-JP" altLang="en-US" sz="1200" dirty="0">
                <a:solidFill>
                  <a:schemeClr val="tx1">
                    <a:lumMod val="75000"/>
                    <a:lumOff val="25000"/>
                  </a:schemeClr>
                </a:solidFill>
              </a:rPr>
              <a:t>規制によりユーザー識別が困難</a:t>
            </a:r>
            <a:endParaRPr kumimoji="1" lang="en-US" altLang="ja-JP" sz="1200" dirty="0">
              <a:solidFill>
                <a:schemeClr val="tx1">
                  <a:lumMod val="75000"/>
                  <a:lumOff val="25000"/>
                </a:schemeClr>
              </a:solidFill>
            </a:endParaRPr>
          </a:p>
          <a:p>
            <a:pPr algn="ctr"/>
            <a:r>
              <a:rPr lang="ja-JP" altLang="en-US" sz="1200" dirty="0">
                <a:solidFill>
                  <a:schemeClr val="tx1">
                    <a:lumMod val="75000"/>
                    <a:lumOff val="25000"/>
                  </a:schemeClr>
                </a:solidFill>
              </a:rPr>
              <a:t>クロスデバイス追跡が不安定</a:t>
            </a:r>
            <a:endParaRPr lang="en-US" altLang="ja-JP" sz="1200" dirty="0">
              <a:solidFill>
                <a:schemeClr val="tx1">
                  <a:lumMod val="75000"/>
                  <a:lumOff val="25000"/>
                </a:schemeClr>
              </a:solidFill>
            </a:endParaRPr>
          </a:p>
          <a:p>
            <a:pPr algn="ctr"/>
            <a:r>
              <a:rPr kumimoji="1" lang="ja-JP" altLang="en-US" sz="1200" dirty="0">
                <a:solidFill>
                  <a:schemeClr val="tx1">
                    <a:lumMod val="75000"/>
                    <a:lumOff val="25000"/>
                  </a:schemeClr>
                </a:solidFill>
              </a:rPr>
              <a:t>⇊</a:t>
            </a:r>
            <a:endParaRPr kumimoji="1" lang="en-US" altLang="ja-JP" sz="1200" dirty="0">
              <a:solidFill>
                <a:schemeClr val="tx1">
                  <a:lumMod val="75000"/>
                  <a:lumOff val="25000"/>
                </a:schemeClr>
              </a:solidFill>
            </a:endParaRPr>
          </a:p>
          <a:p>
            <a:pPr algn="ctr"/>
            <a:r>
              <a:rPr lang="ja-JP" altLang="en-US" sz="1400" b="1" dirty="0">
                <a:solidFill>
                  <a:schemeClr val="tx1">
                    <a:lumMod val="75000"/>
                    <a:lumOff val="25000"/>
                  </a:schemeClr>
                </a:solidFill>
              </a:rPr>
              <a:t>再配信の精度低下</a:t>
            </a:r>
            <a:endParaRPr kumimoji="1" lang="ja-JP" altLang="en-US" sz="1400" b="1" dirty="0">
              <a:solidFill>
                <a:schemeClr val="tx1">
                  <a:lumMod val="75000"/>
                  <a:lumOff val="25000"/>
                </a:schemeClr>
              </a:solidFill>
            </a:endParaRPr>
          </a:p>
        </p:txBody>
      </p:sp>
      <p:sp>
        <p:nvSpPr>
          <p:cNvPr id="22" name="四角形: 角を丸くする 21">
            <a:extLst>
              <a:ext uri="{FF2B5EF4-FFF2-40B4-BE49-F238E27FC236}">
                <a16:creationId xmlns:a16="http://schemas.microsoft.com/office/drawing/2014/main" id="{86D912D3-05C2-52B3-F21A-65F638AEECD4}"/>
              </a:ext>
            </a:extLst>
          </p:cNvPr>
          <p:cNvSpPr/>
          <p:nvPr/>
        </p:nvSpPr>
        <p:spPr>
          <a:xfrm>
            <a:off x="4613875" y="3187105"/>
            <a:ext cx="2185857" cy="1162591"/>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75000"/>
                    <a:lumOff val="25000"/>
                  </a:schemeClr>
                </a:solidFill>
              </a:rPr>
              <a:t>追跡可能ユーザー減少</a:t>
            </a:r>
            <a:endParaRPr kumimoji="1" lang="en-US" altLang="ja-JP" sz="1200" dirty="0">
              <a:solidFill>
                <a:schemeClr val="tx1">
                  <a:lumMod val="75000"/>
                  <a:lumOff val="25000"/>
                </a:schemeClr>
              </a:solidFill>
            </a:endParaRPr>
          </a:p>
          <a:p>
            <a:pPr algn="ctr"/>
            <a:r>
              <a:rPr lang="en-US" altLang="ja-JP" sz="1200" dirty="0">
                <a:solidFill>
                  <a:schemeClr val="tx1">
                    <a:lumMod val="75000"/>
                    <a:lumOff val="25000"/>
                  </a:schemeClr>
                </a:solidFill>
              </a:rPr>
              <a:t>RM</a:t>
            </a:r>
            <a:r>
              <a:rPr lang="ja-JP" altLang="en-US" sz="1200" dirty="0">
                <a:solidFill>
                  <a:schemeClr val="tx1">
                    <a:lumMod val="75000"/>
                    <a:lumOff val="25000"/>
                  </a:schemeClr>
                </a:solidFill>
              </a:rPr>
              <a:t>リストのスケール不足</a:t>
            </a:r>
            <a:endParaRPr lang="en-US" altLang="ja-JP" sz="1200" dirty="0">
              <a:solidFill>
                <a:schemeClr val="tx1">
                  <a:lumMod val="75000"/>
                  <a:lumOff val="25000"/>
                </a:schemeClr>
              </a:solidFill>
            </a:endParaRPr>
          </a:p>
          <a:p>
            <a:pPr algn="ctr"/>
            <a:r>
              <a:rPr kumimoji="1" lang="ja-JP" altLang="en-US" sz="1200" dirty="0">
                <a:solidFill>
                  <a:schemeClr val="tx1">
                    <a:lumMod val="75000"/>
                    <a:lumOff val="25000"/>
                  </a:schemeClr>
                </a:solidFill>
              </a:rPr>
              <a:t>⇊</a:t>
            </a:r>
            <a:endParaRPr kumimoji="1" lang="en-US" altLang="ja-JP" sz="1200" dirty="0">
              <a:solidFill>
                <a:schemeClr val="tx1">
                  <a:lumMod val="75000"/>
                  <a:lumOff val="25000"/>
                </a:schemeClr>
              </a:solidFill>
            </a:endParaRPr>
          </a:p>
          <a:p>
            <a:pPr algn="ctr"/>
            <a:r>
              <a:rPr lang="ja-JP" altLang="en-US" sz="1400" b="1" dirty="0">
                <a:solidFill>
                  <a:schemeClr val="tx1">
                    <a:lumMod val="75000"/>
                    <a:lumOff val="25000"/>
                  </a:schemeClr>
                </a:solidFill>
              </a:rPr>
              <a:t>刈り取り機会の減少</a:t>
            </a:r>
            <a:endParaRPr kumimoji="1" lang="en-US" altLang="ja-JP" sz="1400" b="1" dirty="0">
              <a:solidFill>
                <a:schemeClr val="tx1">
                  <a:lumMod val="75000"/>
                  <a:lumOff val="25000"/>
                </a:schemeClr>
              </a:solidFill>
            </a:endParaRPr>
          </a:p>
        </p:txBody>
      </p:sp>
      <p:sp>
        <p:nvSpPr>
          <p:cNvPr id="23" name="四角形: 角を丸くする 22">
            <a:extLst>
              <a:ext uri="{FF2B5EF4-FFF2-40B4-BE49-F238E27FC236}">
                <a16:creationId xmlns:a16="http://schemas.microsoft.com/office/drawing/2014/main" id="{2E7420D7-D66B-54EC-F9AC-4252BC7F0396}"/>
              </a:ext>
            </a:extLst>
          </p:cNvPr>
          <p:cNvSpPr/>
          <p:nvPr/>
        </p:nvSpPr>
        <p:spPr>
          <a:xfrm>
            <a:off x="7195810" y="3187105"/>
            <a:ext cx="2300889" cy="1162591"/>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75000"/>
                    <a:lumOff val="25000"/>
                  </a:schemeClr>
                </a:solidFill>
              </a:rPr>
              <a:t>離脱後の追跡が前提</a:t>
            </a:r>
            <a:endParaRPr kumimoji="1" lang="en-US" altLang="ja-JP" sz="1200" dirty="0">
              <a:solidFill>
                <a:schemeClr val="tx1">
                  <a:lumMod val="75000"/>
                  <a:lumOff val="25000"/>
                </a:schemeClr>
              </a:solidFill>
            </a:endParaRPr>
          </a:p>
          <a:p>
            <a:pPr algn="ctr"/>
            <a:r>
              <a:rPr kumimoji="1" lang="ja-JP" altLang="en-US" sz="1200" dirty="0">
                <a:solidFill>
                  <a:schemeClr val="tx1">
                    <a:lumMod val="75000"/>
                    <a:lumOff val="25000"/>
                  </a:schemeClr>
                </a:solidFill>
              </a:rPr>
              <a:t>検討温度が下がった後の配信</a:t>
            </a:r>
            <a:endParaRPr kumimoji="1" lang="en-US" altLang="ja-JP" sz="1200" dirty="0">
              <a:solidFill>
                <a:schemeClr val="tx1">
                  <a:lumMod val="75000"/>
                  <a:lumOff val="25000"/>
                </a:schemeClr>
              </a:solidFill>
            </a:endParaRPr>
          </a:p>
          <a:p>
            <a:pPr algn="ctr"/>
            <a:r>
              <a:rPr kumimoji="1" lang="ja-JP" altLang="en-US" sz="1200" dirty="0">
                <a:solidFill>
                  <a:schemeClr val="tx1">
                    <a:lumMod val="75000"/>
                    <a:lumOff val="25000"/>
                  </a:schemeClr>
                </a:solidFill>
              </a:rPr>
              <a:t>⇊</a:t>
            </a:r>
            <a:endParaRPr kumimoji="1" lang="en-US" altLang="ja-JP" sz="1200" dirty="0">
              <a:solidFill>
                <a:schemeClr val="tx1">
                  <a:lumMod val="75000"/>
                  <a:lumOff val="25000"/>
                </a:schemeClr>
              </a:solidFill>
            </a:endParaRPr>
          </a:p>
          <a:p>
            <a:pPr algn="ctr"/>
            <a:r>
              <a:rPr lang="en-US" altLang="ja-JP" sz="1400" b="1" dirty="0">
                <a:solidFill>
                  <a:schemeClr val="tx1">
                    <a:lumMod val="75000"/>
                    <a:lumOff val="25000"/>
                  </a:schemeClr>
                </a:solidFill>
              </a:rPr>
              <a:t>CV</a:t>
            </a:r>
            <a:r>
              <a:rPr lang="ja-JP" altLang="en-US" sz="1400" b="1" dirty="0">
                <a:solidFill>
                  <a:schemeClr val="tx1">
                    <a:lumMod val="75000"/>
                    <a:lumOff val="25000"/>
                  </a:schemeClr>
                </a:solidFill>
              </a:rPr>
              <a:t>効率の低下</a:t>
            </a:r>
            <a:endParaRPr kumimoji="1" lang="en-US" altLang="ja-JP" sz="1600" b="1" dirty="0">
              <a:solidFill>
                <a:schemeClr val="tx1">
                  <a:lumMod val="75000"/>
                  <a:lumOff val="25000"/>
                </a:schemeClr>
              </a:solidFill>
            </a:endParaRPr>
          </a:p>
        </p:txBody>
      </p:sp>
      <p:sp>
        <p:nvSpPr>
          <p:cNvPr id="32" name="矢印: 五方向 31">
            <a:extLst>
              <a:ext uri="{FF2B5EF4-FFF2-40B4-BE49-F238E27FC236}">
                <a16:creationId xmlns:a16="http://schemas.microsoft.com/office/drawing/2014/main" id="{1C8AB911-0BDA-FBCB-D16E-8F64EC40EDEC}"/>
              </a:ext>
            </a:extLst>
          </p:cNvPr>
          <p:cNvSpPr/>
          <p:nvPr/>
        </p:nvSpPr>
        <p:spPr>
          <a:xfrm>
            <a:off x="8073932" y="5044964"/>
            <a:ext cx="1514206" cy="531223"/>
          </a:xfrm>
          <a:prstGeom prst="homePlate">
            <a:avLst/>
          </a:prstGeom>
          <a:solidFill>
            <a:schemeClr val="tx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u="sng" dirty="0">
                <a:solidFill>
                  <a:schemeClr val="bg1"/>
                </a:solidFill>
              </a:rPr>
              <a:t>LTV</a:t>
            </a:r>
            <a:r>
              <a:rPr lang="ja-JP" altLang="en-US" sz="1400" b="1" u="sng" dirty="0">
                <a:solidFill>
                  <a:schemeClr val="bg1"/>
                </a:solidFill>
              </a:rPr>
              <a:t>最大化</a:t>
            </a:r>
            <a:endParaRPr kumimoji="1" lang="ja-JP" altLang="en-US" sz="1400" b="1" u="sng" dirty="0">
              <a:solidFill>
                <a:schemeClr val="bg1"/>
              </a:solidFill>
            </a:endParaRPr>
          </a:p>
        </p:txBody>
      </p:sp>
      <p:sp>
        <p:nvSpPr>
          <p:cNvPr id="33" name="矢印: 五方向 32">
            <a:extLst>
              <a:ext uri="{FF2B5EF4-FFF2-40B4-BE49-F238E27FC236}">
                <a16:creationId xmlns:a16="http://schemas.microsoft.com/office/drawing/2014/main" id="{252F60E5-4482-A950-EDD0-2A0396B2549C}"/>
              </a:ext>
            </a:extLst>
          </p:cNvPr>
          <p:cNvSpPr/>
          <p:nvPr/>
        </p:nvSpPr>
        <p:spPr>
          <a:xfrm>
            <a:off x="6799732" y="5044964"/>
            <a:ext cx="1412451" cy="531223"/>
          </a:xfrm>
          <a:prstGeom prst="homePlate">
            <a:avLst/>
          </a:prstGeom>
          <a:solidFill>
            <a:schemeClr val="tx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bg1"/>
                </a:solidFill>
              </a:rPr>
              <a:t>CV</a:t>
            </a:r>
            <a:endParaRPr kumimoji="1" lang="ja-JP" altLang="en-US" sz="1400" b="1" dirty="0">
              <a:solidFill>
                <a:schemeClr val="bg1"/>
              </a:solidFill>
            </a:endParaRPr>
          </a:p>
        </p:txBody>
      </p:sp>
      <p:sp>
        <p:nvSpPr>
          <p:cNvPr id="35" name="矢印: 五方向 34">
            <a:extLst>
              <a:ext uri="{FF2B5EF4-FFF2-40B4-BE49-F238E27FC236}">
                <a16:creationId xmlns:a16="http://schemas.microsoft.com/office/drawing/2014/main" id="{1B28E5FB-922F-579F-8581-0F08BE3151BA}"/>
              </a:ext>
            </a:extLst>
          </p:cNvPr>
          <p:cNvSpPr/>
          <p:nvPr/>
        </p:nvSpPr>
        <p:spPr>
          <a:xfrm>
            <a:off x="4095206" y="5044964"/>
            <a:ext cx="2866208" cy="531223"/>
          </a:xfrm>
          <a:prstGeom prst="homePlate">
            <a:avLst/>
          </a:prstGeom>
          <a:solidFill>
            <a:schemeClr val="tx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bg1"/>
                </a:solidFill>
              </a:rPr>
              <a:t>CRM</a:t>
            </a:r>
            <a:r>
              <a:rPr lang="ja-JP" altLang="en-US" sz="1400" b="1" dirty="0">
                <a:solidFill>
                  <a:schemeClr val="bg1"/>
                </a:solidFill>
              </a:rPr>
              <a:t>育成</a:t>
            </a:r>
            <a:endParaRPr kumimoji="1" lang="ja-JP" altLang="en-US" sz="1400" b="1" dirty="0">
              <a:solidFill>
                <a:schemeClr val="bg1"/>
              </a:solidFill>
            </a:endParaRPr>
          </a:p>
        </p:txBody>
      </p:sp>
      <p:sp>
        <p:nvSpPr>
          <p:cNvPr id="36" name="矢印: 五方向 35">
            <a:extLst>
              <a:ext uri="{FF2B5EF4-FFF2-40B4-BE49-F238E27FC236}">
                <a16:creationId xmlns:a16="http://schemas.microsoft.com/office/drawing/2014/main" id="{F5A4C31D-DB3A-9B87-478E-8FCD2C688E4D}"/>
              </a:ext>
            </a:extLst>
          </p:cNvPr>
          <p:cNvSpPr/>
          <p:nvPr/>
        </p:nvSpPr>
        <p:spPr>
          <a:xfrm>
            <a:off x="1550127" y="5044964"/>
            <a:ext cx="2708365" cy="531223"/>
          </a:xfrm>
          <a:prstGeom prst="homePlate">
            <a:avLst/>
          </a:prstGeom>
          <a:solidFill>
            <a:schemeClr val="tx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接点取得</a:t>
            </a:r>
          </a:p>
        </p:txBody>
      </p:sp>
      <p:sp>
        <p:nvSpPr>
          <p:cNvPr id="37" name="矢印: 五方向 36">
            <a:extLst>
              <a:ext uri="{FF2B5EF4-FFF2-40B4-BE49-F238E27FC236}">
                <a16:creationId xmlns:a16="http://schemas.microsoft.com/office/drawing/2014/main" id="{6B13E2D3-72A1-2B5C-D89A-3122E1AB5873}"/>
              </a:ext>
            </a:extLst>
          </p:cNvPr>
          <p:cNvSpPr/>
          <p:nvPr/>
        </p:nvSpPr>
        <p:spPr>
          <a:xfrm>
            <a:off x="409304" y="5044964"/>
            <a:ext cx="1284515" cy="531223"/>
          </a:xfrm>
          <a:prstGeom prst="homePlate">
            <a:avLst/>
          </a:prstGeom>
          <a:solidFill>
            <a:schemeClr val="tx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訪問</a:t>
            </a:r>
          </a:p>
        </p:txBody>
      </p:sp>
      <p:sp>
        <p:nvSpPr>
          <p:cNvPr id="38" name="正方形/長方形 37">
            <a:extLst>
              <a:ext uri="{FF2B5EF4-FFF2-40B4-BE49-F238E27FC236}">
                <a16:creationId xmlns:a16="http://schemas.microsoft.com/office/drawing/2014/main" id="{285C055C-6291-792B-CC6D-E57F0316483E}"/>
              </a:ext>
            </a:extLst>
          </p:cNvPr>
          <p:cNvSpPr/>
          <p:nvPr/>
        </p:nvSpPr>
        <p:spPr>
          <a:xfrm>
            <a:off x="1569847" y="5570753"/>
            <a:ext cx="2429692" cy="700703"/>
          </a:xfrm>
          <a:prstGeom prst="rect">
            <a:avLst/>
          </a:prstGeom>
          <a:solidFill>
            <a:schemeClr val="tx2">
              <a:lumMod val="20000"/>
              <a:lumOff val="8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75000"/>
                    <a:lumOff val="25000"/>
                  </a:schemeClr>
                </a:solidFill>
              </a:rPr>
              <a:t>離脱前に接点取得</a:t>
            </a:r>
            <a:endParaRPr kumimoji="1" lang="en-US" altLang="ja-JP" sz="1200" dirty="0">
              <a:solidFill>
                <a:schemeClr val="tx1">
                  <a:lumMod val="75000"/>
                  <a:lumOff val="25000"/>
                </a:schemeClr>
              </a:solidFill>
            </a:endParaRPr>
          </a:p>
          <a:p>
            <a:pPr algn="ctr"/>
            <a:r>
              <a:rPr lang="en-US" altLang="ja-JP" sz="1400" b="1" dirty="0">
                <a:solidFill>
                  <a:schemeClr val="tx1">
                    <a:lumMod val="75000"/>
                    <a:lumOff val="25000"/>
                  </a:schemeClr>
                </a:solidFill>
              </a:rPr>
              <a:t>Cookie</a:t>
            </a:r>
            <a:r>
              <a:rPr lang="ja-JP" altLang="en-US" sz="1400" b="1" dirty="0">
                <a:solidFill>
                  <a:schemeClr val="tx1">
                    <a:lumMod val="75000"/>
                    <a:lumOff val="25000"/>
                  </a:schemeClr>
                </a:solidFill>
              </a:rPr>
              <a:t>不要の追客</a:t>
            </a:r>
            <a:endParaRPr kumimoji="1" lang="ja-JP" altLang="en-US" sz="1400" b="1" dirty="0">
              <a:solidFill>
                <a:schemeClr val="tx1">
                  <a:lumMod val="75000"/>
                  <a:lumOff val="25000"/>
                </a:schemeClr>
              </a:solidFill>
            </a:endParaRPr>
          </a:p>
        </p:txBody>
      </p:sp>
      <p:sp>
        <p:nvSpPr>
          <p:cNvPr id="39" name="正方形/長方形 38">
            <a:extLst>
              <a:ext uri="{FF2B5EF4-FFF2-40B4-BE49-F238E27FC236}">
                <a16:creationId xmlns:a16="http://schemas.microsoft.com/office/drawing/2014/main" id="{BAB21DC5-984E-010A-B659-3327FA9F21D7}"/>
              </a:ext>
            </a:extLst>
          </p:cNvPr>
          <p:cNvSpPr/>
          <p:nvPr/>
        </p:nvSpPr>
        <p:spPr>
          <a:xfrm>
            <a:off x="4198872" y="5751540"/>
            <a:ext cx="2429692" cy="349996"/>
          </a:xfrm>
          <a:prstGeom prst="rect">
            <a:avLst/>
          </a:prstGeom>
          <a:solidFill>
            <a:schemeClr val="tx2">
              <a:lumMod val="20000"/>
              <a:lumOff val="8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rPr>
              <a:t>検討温度が高い状態で囲う</a:t>
            </a:r>
            <a:endParaRPr kumimoji="1" lang="en-US" altLang="ja-JP" sz="1200" b="1" dirty="0">
              <a:solidFill>
                <a:schemeClr val="tx1">
                  <a:lumMod val="75000"/>
                  <a:lumOff val="25000"/>
                </a:schemeClr>
              </a:solidFill>
            </a:endParaRPr>
          </a:p>
        </p:txBody>
      </p:sp>
      <p:sp>
        <p:nvSpPr>
          <p:cNvPr id="40" name="正方形/長方形 39">
            <a:extLst>
              <a:ext uri="{FF2B5EF4-FFF2-40B4-BE49-F238E27FC236}">
                <a16:creationId xmlns:a16="http://schemas.microsoft.com/office/drawing/2014/main" id="{28FD9104-B5F1-6E48-A720-89DC3A6C8531}"/>
              </a:ext>
            </a:extLst>
          </p:cNvPr>
          <p:cNvSpPr/>
          <p:nvPr/>
        </p:nvSpPr>
        <p:spPr>
          <a:xfrm>
            <a:off x="6890657" y="5751185"/>
            <a:ext cx="2429692" cy="349996"/>
          </a:xfrm>
          <a:prstGeom prst="rect">
            <a:avLst/>
          </a:prstGeom>
          <a:solidFill>
            <a:schemeClr val="tx2">
              <a:lumMod val="20000"/>
              <a:lumOff val="8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75000"/>
                    <a:lumOff val="25000"/>
                  </a:schemeClr>
                </a:solidFill>
              </a:rPr>
              <a:t>広告依存からの脱却</a:t>
            </a:r>
            <a:endParaRPr kumimoji="1" lang="ja-JP" altLang="en-US" sz="1200" b="1" dirty="0">
              <a:solidFill>
                <a:schemeClr val="tx1">
                  <a:lumMod val="75000"/>
                  <a:lumOff val="25000"/>
                </a:schemeClr>
              </a:solidFill>
            </a:endParaRPr>
          </a:p>
        </p:txBody>
      </p:sp>
      <p:sp>
        <p:nvSpPr>
          <p:cNvPr id="41" name="矢印: 下 40">
            <a:extLst>
              <a:ext uri="{FF2B5EF4-FFF2-40B4-BE49-F238E27FC236}">
                <a16:creationId xmlns:a16="http://schemas.microsoft.com/office/drawing/2014/main" id="{C0571EBB-FB2B-C155-B58B-45231130F3E5}"/>
              </a:ext>
            </a:extLst>
          </p:cNvPr>
          <p:cNvSpPr/>
          <p:nvPr/>
        </p:nvSpPr>
        <p:spPr>
          <a:xfrm>
            <a:off x="3769723" y="4537166"/>
            <a:ext cx="2366554" cy="374470"/>
          </a:xfrm>
          <a:prstGeom prst="down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DC709EF-8F36-5A87-7829-DD298A28008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6AC72BA-0FDB-65F6-F7C5-C7F7CBB66E3E}"/>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学校法人の集客は「時期 × 対象（本人・保護者）× 訴求」の出し分けが設計の核。入試カレンダーに沿って組む。</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CV地点は 資料請求→オープンキャンパス→出願 の3段。実績数値（CPC/CVR/CPA）は社内データ確認後に差込。</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39EB113-7B09-7996-7FBB-B34C856CBCC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90" name="Text 22">
            <a:extLst>
              <a:ext uri="{FF2B5EF4-FFF2-40B4-BE49-F238E27FC236}">
                <a16:creationId xmlns:a16="http://schemas.microsoft.com/office/drawing/2014/main" id="{1389A796-B845-887E-D54B-16DCC75361E0}"/>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A66A2D24-D49A-2FD7-CA11-EF7C8D631F70}"/>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051870B5-8B63-8F32-9E3E-2906547978E5}"/>
              </a:ext>
            </a:extLst>
          </p:cNvPr>
          <p:cNvSpPr txBox="1"/>
          <p:nvPr/>
        </p:nvSpPr>
        <p:spPr>
          <a:xfrm>
            <a:off x="422366" y="1741470"/>
            <a:ext cx="5512524" cy="530915"/>
          </a:xfrm>
          <a:prstGeom prst="rect">
            <a:avLst/>
          </a:prstGeom>
          <a:no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　時期別の配信・広告設計（対象 × 訴求 × CV）</a:t>
            </a:r>
            <a:br>
              <a:rPr lang="ja-JP" altLang="ja-JP" b="1" dirty="0">
                <a:latin typeface="メイリオ" panose="020B0604030504040204" pitchFamily="50" charset="-128"/>
                <a:ea typeface="メイリオ" panose="020B0604030504040204" pitchFamily="50" charset="-128"/>
              </a:rPr>
            </a:br>
            <a:endParaRPr lang="ja-JP" altLang="en-US" b="1" dirty="0">
              <a:latin typeface="メイリオ" panose="020B0604030504040204" pitchFamily="50" charset="-128"/>
              <a:ea typeface="メイリオ" panose="020B0604030504040204" pitchFamily="50" charset="-128"/>
            </a:endParaRPr>
          </a:p>
        </p:txBody>
      </p:sp>
      <p:graphicFrame>
        <p:nvGraphicFramePr>
          <p:cNvPr id="93" name="Table 92"/>
          <p:cNvGraphicFramePr>
            <a:graphicFrameLocks noGrp="1"/>
          </p:cNvGraphicFramePr>
          <p:nvPr/>
        </p:nvGraphicFramePr>
        <p:xfrm>
          <a:off x="550000" y="2450000"/>
          <a:ext cx="8783999" cy="3456000"/>
        </p:xfrm>
        <a:graphic>
          <a:graphicData uri="http://schemas.openxmlformats.org/drawingml/2006/table">
            <a:tbl>
              <a:tblPr firstRow="1" bandRow="1">
                <a:tableStyleId>{5C22544A-7EE6-4342-B048-85BDC9FD1C3A}</a:tableStyleId>
              </a:tblPr>
              <a:tblGrid>
                <a:gridCol w="1152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655999">
                  <a:extLst>
                    <a:ext uri="{9D8B030D-6E8A-4147-A177-3AD203B41FA5}">
                      <a16:colId xmlns:a16="http://schemas.microsoft.com/office/drawing/2014/main" val="20002"/>
                    </a:ext>
                  </a:extLst>
                </a:gridCol>
                <a:gridCol w="2232000">
                  <a:extLst>
                    <a:ext uri="{9D8B030D-6E8A-4147-A177-3AD203B41FA5}">
                      <a16:colId xmlns:a16="http://schemas.microsoft.com/office/drawing/2014/main" val="20003"/>
                    </a:ext>
                  </a:extLst>
                </a:gridCol>
                <a:gridCol w="1368000">
                  <a:extLst>
                    <a:ext uri="{9D8B030D-6E8A-4147-A177-3AD203B41FA5}">
                      <a16:colId xmlns:a16="http://schemas.microsoft.com/office/drawing/2014/main" val="20004"/>
                    </a:ext>
                  </a:extLst>
                </a:gridCol>
                <a:gridCol w="936000">
                  <a:extLst>
                    <a:ext uri="{9D8B030D-6E8A-4147-A177-3AD203B41FA5}">
                      <a16:colId xmlns:a16="http://schemas.microsoft.com/office/drawing/2014/main" val="20005"/>
                    </a:ext>
                  </a:extLst>
                </a:gridCol>
              </a:tblGrid>
              <a:tr h="360000">
                <a:tc>
                  <a:txBody>
                    <a:bodyPr/>
                    <a:lstStyle/>
                    <a:p>
                      <a:pPr algn="l"/>
                      <a:r>
                        <a:rPr sz="1050" b="1">
                          <a:solidFill>
                            <a:srgbClr val="FFFFFF"/>
                          </a:solidFill>
                          <a:latin typeface="メイリオ"/>
                        </a:rPr>
                        <a:t>時期</a:t>
                      </a:r>
                    </a:p>
                  </a:txBody>
                  <a:tcPr>
                    <a:solidFill>
                      <a:srgbClr val="24345A"/>
                    </a:solidFill>
                  </a:tcPr>
                </a:tc>
                <a:tc>
                  <a:txBody>
                    <a:bodyPr/>
                    <a:lstStyle/>
                    <a:p>
                      <a:pPr algn="l"/>
                      <a:r>
                        <a:rPr sz="1050" b="1">
                          <a:solidFill>
                            <a:srgbClr val="FFFFFF"/>
                          </a:solidFill>
                          <a:latin typeface="メイリオ"/>
                        </a:rPr>
                        <a:t>主な対象</a:t>
                      </a:r>
                    </a:p>
                  </a:txBody>
                  <a:tcPr>
                    <a:solidFill>
                      <a:srgbClr val="24345A"/>
                    </a:solidFill>
                  </a:tcPr>
                </a:tc>
                <a:tc>
                  <a:txBody>
                    <a:bodyPr/>
                    <a:lstStyle/>
                    <a:p>
                      <a:pPr algn="l"/>
                      <a:r>
                        <a:rPr sz="1050" b="1">
                          <a:solidFill>
                            <a:srgbClr val="FFFFFF"/>
                          </a:solidFill>
                          <a:latin typeface="メイリオ"/>
                        </a:rPr>
                        <a:t>ユーザーの状態</a:t>
                      </a:r>
                    </a:p>
                  </a:txBody>
                  <a:tcPr>
                    <a:solidFill>
                      <a:srgbClr val="24345A"/>
                    </a:solidFill>
                  </a:tcPr>
                </a:tc>
                <a:tc>
                  <a:txBody>
                    <a:bodyPr/>
                    <a:lstStyle/>
                    <a:p>
                      <a:pPr algn="l"/>
                      <a:r>
                        <a:rPr sz="1050" b="1">
                          <a:solidFill>
                            <a:srgbClr val="FFFFFF"/>
                          </a:solidFill>
                          <a:latin typeface="メイリオ"/>
                        </a:rPr>
                        <a:t>訴求・配信内容</a:t>
                      </a:r>
                    </a:p>
                  </a:txBody>
                  <a:tcPr>
                    <a:solidFill>
                      <a:srgbClr val="24345A"/>
                    </a:solidFill>
                  </a:tcPr>
                </a:tc>
                <a:tc>
                  <a:txBody>
                    <a:bodyPr/>
                    <a:lstStyle/>
                    <a:p>
                      <a:pPr algn="l"/>
                      <a:r>
                        <a:rPr sz="1050" b="1">
                          <a:solidFill>
                            <a:srgbClr val="FFFFFF"/>
                          </a:solidFill>
                          <a:latin typeface="メイリオ"/>
                        </a:rPr>
                        <a:t>広告・入口</a:t>
                      </a:r>
                    </a:p>
                  </a:txBody>
                  <a:tcPr>
                    <a:solidFill>
                      <a:srgbClr val="24345A"/>
                    </a:solidFill>
                  </a:tcPr>
                </a:tc>
                <a:tc>
                  <a:txBody>
                    <a:bodyPr/>
                    <a:lstStyle/>
                    <a:p>
                      <a:pPr algn="l"/>
                      <a:r>
                        <a:rPr sz="1050" b="1">
                          <a:solidFill>
                            <a:srgbClr val="FFFFFF"/>
                          </a:solidFill>
                          <a:latin typeface="メイリオ"/>
                        </a:rPr>
                        <a:t>CV地点</a:t>
                      </a:r>
                    </a:p>
                  </a:txBody>
                  <a:tcPr>
                    <a:solidFill>
                      <a:srgbClr val="24345A"/>
                    </a:solidFill>
                  </a:tcPr>
                </a:tc>
                <a:extLst>
                  <a:ext uri="{0D108BD9-81ED-4DB2-BD59-A6C34878D82A}">
                    <a16:rowId xmlns:a16="http://schemas.microsoft.com/office/drawing/2014/main" val="10000"/>
                  </a:ext>
                </a:extLst>
              </a:tr>
              <a:tr h="774000">
                <a:tc>
                  <a:txBody>
                    <a:bodyPr/>
                    <a:lstStyle/>
                    <a:p>
                      <a:pPr algn="l"/>
                      <a:r>
                        <a:rPr sz="900" b="1">
                          <a:solidFill>
                            <a:srgbClr val="1F3A5F"/>
                          </a:solidFill>
                          <a:latin typeface="メイリオ"/>
                        </a:rPr>
                        <a:t>3〜4月
新学年</a:t>
                      </a:r>
                    </a:p>
                  </a:txBody>
                  <a:tcPr>
                    <a:solidFill>
                      <a:srgbClr val="FFFFFF"/>
                    </a:solidFill>
                  </a:tcPr>
                </a:tc>
                <a:tc>
                  <a:txBody>
                    <a:bodyPr/>
                    <a:lstStyle/>
                    <a:p>
                      <a:pPr algn="l"/>
                      <a:r>
                        <a:rPr sz="900" b="0">
                          <a:solidFill>
                            <a:srgbClr val="555555"/>
                          </a:solidFill>
                          <a:latin typeface="メイリオ"/>
                        </a:rPr>
                        <a:t>新高3・高1・2
（本人中心）</a:t>
                      </a:r>
                    </a:p>
                  </a:txBody>
                  <a:tcPr>
                    <a:solidFill>
                      <a:srgbClr val="FFFFFF"/>
                    </a:solidFill>
                  </a:tcPr>
                </a:tc>
                <a:tc>
                  <a:txBody>
                    <a:bodyPr/>
                    <a:lstStyle/>
                    <a:p>
                      <a:pPr algn="l"/>
                      <a:r>
                        <a:rPr sz="900" b="0">
                          <a:solidFill>
                            <a:srgbClr val="555555"/>
                          </a:solidFill>
                          <a:latin typeface="メイリオ"/>
                        </a:rPr>
                        <a:t>志望校さがしの初動
情報収集スタート</a:t>
                      </a:r>
                    </a:p>
                  </a:txBody>
                  <a:tcPr>
                    <a:solidFill>
                      <a:srgbClr val="FFFFFF"/>
                    </a:solidFill>
                  </a:tcPr>
                </a:tc>
                <a:tc>
                  <a:txBody>
                    <a:bodyPr/>
                    <a:lstStyle/>
                    <a:p>
                      <a:pPr algn="l"/>
                      <a:r>
                        <a:rPr sz="900" b="0">
                          <a:solidFill>
                            <a:srgbClr val="555555"/>
                          </a:solidFill>
                          <a:latin typeface="メイリオ"/>
                        </a:rPr>
                        <a:t>学部・分野の選び方／進路タイプ診断／デジタルパンフ</a:t>
                      </a:r>
                    </a:p>
                  </a:txBody>
                  <a:tcPr>
                    <a:solidFill>
                      <a:srgbClr val="FFFFFF"/>
                    </a:solidFill>
                  </a:tcPr>
                </a:tc>
                <a:tc>
                  <a:txBody>
                    <a:bodyPr/>
                    <a:lstStyle/>
                    <a:p>
                      <a:pPr algn="l"/>
                      <a:r>
                        <a:rPr sz="900" b="0">
                          <a:solidFill>
                            <a:srgbClr val="555555"/>
                          </a:solidFill>
                          <a:latin typeface="メイリオ"/>
                        </a:rPr>
                        <a:t>検索広告＋CPF広告で友だち化</a:t>
                      </a:r>
                    </a:p>
                  </a:txBody>
                  <a:tcPr>
                    <a:solidFill>
                      <a:srgbClr val="FFFFFF"/>
                    </a:solidFill>
                  </a:tcPr>
                </a:tc>
                <a:tc>
                  <a:txBody>
                    <a:bodyPr/>
                    <a:lstStyle/>
                    <a:p>
                      <a:pPr algn="l"/>
                      <a:r>
                        <a:rPr sz="900" b="0">
                          <a:solidFill>
                            <a:srgbClr val="555555"/>
                          </a:solidFill>
                          <a:latin typeface="メイリオ"/>
                        </a:rPr>
                        <a:t>資料請求
【CV①】</a:t>
                      </a:r>
                    </a:p>
                  </a:txBody>
                  <a:tcPr>
                    <a:solidFill>
                      <a:srgbClr val="FFFFFF"/>
                    </a:solidFill>
                  </a:tcPr>
                </a:tc>
                <a:extLst>
                  <a:ext uri="{0D108BD9-81ED-4DB2-BD59-A6C34878D82A}">
                    <a16:rowId xmlns:a16="http://schemas.microsoft.com/office/drawing/2014/main" val="10001"/>
                  </a:ext>
                </a:extLst>
              </a:tr>
              <a:tr h="774000">
                <a:tc>
                  <a:txBody>
                    <a:bodyPr/>
                    <a:lstStyle/>
                    <a:p>
                      <a:pPr algn="l"/>
                      <a:r>
                        <a:rPr sz="900" b="1">
                          <a:solidFill>
                            <a:srgbClr val="1F3A5F"/>
                          </a:solidFill>
                          <a:latin typeface="メイリオ"/>
                        </a:rPr>
                        <a:t>5〜8月
OC最盛期</a:t>
                      </a:r>
                    </a:p>
                  </a:txBody>
                  <a:tcPr>
                    <a:solidFill>
                      <a:srgbClr val="F2F5F9"/>
                    </a:solidFill>
                  </a:tcPr>
                </a:tc>
                <a:tc>
                  <a:txBody>
                    <a:bodyPr/>
                    <a:lstStyle/>
                    <a:p>
                      <a:pPr algn="l"/>
                      <a:r>
                        <a:rPr sz="900" b="0">
                          <a:solidFill>
                            <a:srgbClr val="555555"/>
                          </a:solidFill>
                          <a:latin typeface="メイリオ"/>
                        </a:rPr>
                        <a:t>本人＋保護者
（同伴来場）</a:t>
                      </a:r>
                    </a:p>
                  </a:txBody>
                  <a:tcPr>
                    <a:solidFill>
                      <a:srgbClr val="F2F5F9"/>
                    </a:solidFill>
                  </a:tcPr>
                </a:tc>
                <a:tc>
                  <a:txBody>
                    <a:bodyPr/>
                    <a:lstStyle/>
                    <a:p>
                      <a:pPr algn="l"/>
                      <a:r>
                        <a:rPr sz="900" b="0">
                          <a:solidFill>
                            <a:srgbClr val="555555"/>
                          </a:solidFill>
                          <a:latin typeface="メイリオ"/>
                        </a:rPr>
                        <a:t>学校比較・オープン
キャンパス参加検討</a:t>
                      </a:r>
                    </a:p>
                  </a:txBody>
                  <a:tcPr>
                    <a:solidFill>
                      <a:srgbClr val="F2F5F9"/>
                    </a:solidFill>
                  </a:tcPr>
                </a:tc>
                <a:tc>
                  <a:txBody>
                    <a:bodyPr/>
                    <a:lstStyle/>
                    <a:p>
                      <a:pPr algn="l"/>
                      <a:r>
                        <a:rPr sz="900" b="0">
                          <a:solidFill>
                            <a:srgbClr val="555555"/>
                          </a:solidFill>
                          <a:latin typeface="メイリオ"/>
                        </a:rPr>
                        <a:t>OC日程・見どころ／来場特典・ポイント制／在校生の声</a:t>
                      </a:r>
                    </a:p>
                  </a:txBody>
                  <a:tcPr>
                    <a:solidFill>
                      <a:srgbClr val="F2F5F9"/>
                    </a:solidFill>
                  </a:tcPr>
                </a:tc>
                <a:tc>
                  <a:txBody>
                    <a:bodyPr/>
                    <a:lstStyle/>
                    <a:p>
                      <a:pPr algn="l"/>
                      <a:r>
                        <a:rPr sz="900" b="0">
                          <a:solidFill>
                            <a:srgbClr val="555555"/>
                          </a:solidFill>
                          <a:latin typeface="メイリオ"/>
                        </a:rPr>
                        <a:t>離脱防止ポップアップ／OC予約リマインド</a:t>
                      </a:r>
                    </a:p>
                  </a:txBody>
                  <a:tcPr>
                    <a:solidFill>
                      <a:srgbClr val="F2F5F9"/>
                    </a:solidFill>
                  </a:tcPr>
                </a:tc>
                <a:tc>
                  <a:txBody>
                    <a:bodyPr/>
                    <a:lstStyle/>
                    <a:p>
                      <a:pPr algn="l"/>
                      <a:r>
                        <a:rPr sz="900" b="0">
                          <a:solidFill>
                            <a:srgbClr val="555555"/>
                          </a:solidFill>
                          <a:latin typeface="メイリオ"/>
                        </a:rPr>
                        <a:t>OC予約・参加
【CV②】</a:t>
                      </a:r>
                    </a:p>
                  </a:txBody>
                  <a:tcPr>
                    <a:solidFill>
                      <a:srgbClr val="F2F5F9"/>
                    </a:solidFill>
                  </a:tcPr>
                </a:tc>
                <a:extLst>
                  <a:ext uri="{0D108BD9-81ED-4DB2-BD59-A6C34878D82A}">
                    <a16:rowId xmlns:a16="http://schemas.microsoft.com/office/drawing/2014/main" val="10002"/>
                  </a:ext>
                </a:extLst>
              </a:tr>
              <a:tr h="774000">
                <a:tc>
                  <a:txBody>
                    <a:bodyPr/>
                    <a:lstStyle/>
                    <a:p>
                      <a:pPr algn="l"/>
                      <a:r>
                        <a:rPr sz="900" b="1">
                          <a:solidFill>
                            <a:srgbClr val="1F3A5F"/>
                          </a:solidFill>
                          <a:latin typeface="メイリオ"/>
                        </a:rPr>
                        <a:t>9〜11月
総合型・推薦</a:t>
                      </a:r>
                    </a:p>
                  </a:txBody>
                  <a:tcPr>
                    <a:solidFill>
                      <a:srgbClr val="FFFFFF"/>
                    </a:solidFill>
                  </a:tcPr>
                </a:tc>
                <a:tc>
                  <a:txBody>
                    <a:bodyPr/>
                    <a:lstStyle/>
                    <a:p>
                      <a:pPr algn="l"/>
                      <a:r>
                        <a:rPr sz="900" b="0">
                          <a:solidFill>
                            <a:srgbClr val="555555"/>
                          </a:solidFill>
                          <a:latin typeface="メイリオ"/>
                        </a:rPr>
                        <a:t>高3本人＋保護者
（意思決定）</a:t>
                      </a:r>
                    </a:p>
                  </a:txBody>
                  <a:tcPr>
                    <a:solidFill>
                      <a:srgbClr val="FFFFFF"/>
                    </a:solidFill>
                  </a:tcPr>
                </a:tc>
                <a:tc>
                  <a:txBody>
                    <a:bodyPr/>
                    <a:lstStyle/>
                    <a:p>
                      <a:pPr algn="l"/>
                      <a:r>
                        <a:rPr sz="900" b="0">
                          <a:solidFill>
                            <a:srgbClr val="555555"/>
                          </a:solidFill>
                          <a:latin typeface="メイリオ"/>
                        </a:rPr>
                        <a:t>出願校の絞り込み
入試方式の確認</a:t>
                      </a:r>
                    </a:p>
                  </a:txBody>
                  <a:tcPr>
                    <a:solidFill>
                      <a:srgbClr val="FFFFFF"/>
                    </a:solidFill>
                  </a:tcPr>
                </a:tc>
                <a:tc>
                  <a:txBody>
                    <a:bodyPr/>
                    <a:lstStyle/>
                    <a:p>
                      <a:pPr algn="l"/>
                      <a:r>
                        <a:rPr sz="900" b="0">
                          <a:solidFill>
                            <a:srgbClr val="555555"/>
                          </a:solidFill>
                          <a:latin typeface="メイリオ"/>
                        </a:rPr>
                        <a:t>入試方式・日程解説／出願締切カウントダウン／個別相談案内</a:t>
                      </a:r>
                    </a:p>
                  </a:txBody>
                  <a:tcPr>
                    <a:solidFill>
                      <a:srgbClr val="FFFFFF"/>
                    </a:solidFill>
                  </a:tcPr>
                </a:tc>
                <a:tc>
                  <a:txBody>
                    <a:bodyPr/>
                    <a:lstStyle/>
                    <a:p>
                      <a:pPr algn="l"/>
                      <a:r>
                        <a:rPr sz="900" b="0">
                          <a:solidFill>
                            <a:srgbClr val="555555"/>
                          </a:solidFill>
                          <a:latin typeface="メイリオ"/>
                        </a:rPr>
                        <a:t>通知メッセ／検討度別セグメント配信</a:t>
                      </a:r>
                    </a:p>
                  </a:txBody>
                  <a:tcPr>
                    <a:solidFill>
                      <a:srgbClr val="FFFFFF"/>
                    </a:solidFill>
                  </a:tcPr>
                </a:tc>
                <a:tc>
                  <a:txBody>
                    <a:bodyPr/>
                    <a:lstStyle/>
                    <a:p>
                      <a:pPr algn="l"/>
                      <a:r>
                        <a:rPr sz="900" b="0">
                          <a:solidFill>
                            <a:srgbClr val="555555"/>
                          </a:solidFill>
                          <a:latin typeface="メイリオ"/>
                        </a:rPr>
                        <a:t>出願
【CV③】</a:t>
                      </a:r>
                    </a:p>
                  </a:txBody>
                  <a:tcPr>
                    <a:solidFill>
                      <a:srgbClr val="FFFFFF"/>
                    </a:solidFill>
                  </a:tcPr>
                </a:tc>
                <a:extLst>
                  <a:ext uri="{0D108BD9-81ED-4DB2-BD59-A6C34878D82A}">
                    <a16:rowId xmlns:a16="http://schemas.microsoft.com/office/drawing/2014/main" val="10003"/>
                  </a:ext>
                </a:extLst>
              </a:tr>
              <a:tr h="774000">
                <a:tc>
                  <a:txBody>
                    <a:bodyPr/>
                    <a:lstStyle/>
                    <a:p>
                      <a:pPr algn="l"/>
                      <a:r>
                        <a:rPr sz="900" b="1">
                          <a:solidFill>
                            <a:srgbClr val="1F3A5F"/>
                          </a:solidFill>
                          <a:latin typeface="メイリオ"/>
                        </a:rPr>
                        <a:t>12〜2月
一般・共テ</a:t>
                      </a:r>
                    </a:p>
                  </a:txBody>
                  <a:tcPr>
                    <a:solidFill>
                      <a:srgbClr val="F2F5F9"/>
                    </a:solidFill>
                  </a:tcPr>
                </a:tc>
                <a:tc>
                  <a:txBody>
                    <a:bodyPr/>
                    <a:lstStyle/>
                    <a:p>
                      <a:pPr algn="l"/>
                      <a:r>
                        <a:rPr sz="900" b="0">
                          <a:solidFill>
                            <a:srgbClr val="555555"/>
                          </a:solidFill>
                          <a:latin typeface="メイリオ"/>
                        </a:rPr>
                        <a:t>高3本人＋保護者
／高1・2</a:t>
                      </a:r>
                    </a:p>
                  </a:txBody>
                  <a:tcPr>
                    <a:solidFill>
                      <a:srgbClr val="F2F5F9"/>
                    </a:solidFill>
                  </a:tcPr>
                </a:tc>
                <a:tc>
                  <a:txBody>
                    <a:bodyPr/>
                    <a:lstStyle/>
                    <a:p>
                      <a:pPr algn="l"/>
                      <a:r>
                        <a:rPr sz="900" b="0">
                          <a:solidFill>
                            <a:srgbClr val="555555"/>
                          </a:solidFill>
                          <a:latin typeface="メイリオ"/>
                        </a:rPr>
                        <a:t>併願検討・最終決定
次学年は情報収集</a:t>
                      </a:r>
                    </a:p>
                  </a:txBody>
                  <a:tcPr>
                    <a:solidFill>
                      <a:srgbClr val="F2F5F9"/>
                    </a:solidFill>
                  </a:tcPr>
                </a:tc>
                <a:tc>
                  <a:txBody>
                    <a:bodyPr/>
                    <a:lstStyle/>
                    <a:p>
                      <a:pPr algn="l"/>
                      <a:r>
                        <a:rPr sz="900" b="0">
                          <a:solidFill>
                            <a:srgbClr val="555555"/>
                          </a:solidFill>
                          <a:latin typeface="メイリオ"/>
                        </a:rPr>
                        <a:t>併願提案・出願サポート／高1・2向け進路コンテンツ</a:t>
                      </a:r>
                    </a:p>
                  </a:txBody>
                  <a:tcPr>
                    <a:solidFill>
                      <a:srgbClr val="F2F5F9"/>
                    </a:solidFill>
                  </a:tcPr>
                </a:tc>
                <a:tc>
                  <a:txBody>
                    <a:bodyPr/>
                    <a:lstStyle/>
                    <a:p>
                      <a:pPr algn="l"/>
                      <a:r>
                        <a:rPr sz="900" b="0">
                          <a:solidFill>
                            <a:srgbClr val="555555"/>
                          </a:solidFill>
                          <a:latin typeface="メイリオ"/>
                        </a:rPr>
                        <a:t>リマインド配信／高1・2の早期友だち化</a:t>
                      </a:r>
                    </a:p>
                  </a:txBody>
                  <a:tcPr>
                    <a:solidFill>
                      <a:srgbClr val="F2F5F9"/>
                    </a:solidFill>
                  </a:tcPr>
                </a:tc>
                <a:tc>
                  <a:txBody>
                    <a:bodyPr/>
                    <a:lstStyle/>
                    <a:p>
                      <a:pPr algn="l"/>
                      <a:r>
                        <a:rPr sz="900" b="0">
                          <a:solidFill>
                            <a:srgbClr val="555555"/>
                          </a:solidFill>
                          <a:latin typeface="メイリオ"/>
                        </a:rPr>
                        <a:t>出願【CV③】
次年度リード</a:t>
                      </a:r>
                    </a:p>
                  </a:txBody>
                  <a:tcPr>
                    <a:solidFill>
                      <a:srgbClr val="F2F5F9"/>
                    </a:solidFill>
                  </a:tcPr>
                </a:tc>
                <a:extLst>
                  <a:ext uri="{0D108BD9-81ED-4DB2-BD59-A6C34878D82A}">
                    <a16:rowId xmlns:a16="http://schemas.microsoft.com/office/drawing/2014/main" val="10004"/>
                  </a:ext>
                </a:extLst>
              </a:tr>
            </a:tbl>
          </a:graphicData>
        </a:graphic>
      </p:graphicFrame>
      <p:sp>
        <p:nvSpPr>
          <p:cNvPr id="94" name="TextBox 93"/>
          <p:cNvSpPr txBox="1"/>
          <p:nvPr/>
        </p:nvSpPr>
        <p:spPr>
          <a:xfrm>
            <a:off x="550000" y="5940000"/>
            <a:ext cx="8784000" cy="468000"/>
          </a:xfrm>
          <a:prstGeom prst="rect">
            <a:avLst/>
          </a:prstGeom>
          <a:noFill/>
        </p:spPr>
        <p:txBody>
          <a:bodyPr wrap="square">
            <a:spAutoFit/>
          </a:bodyPr>
          <a:lstStyle/>
          <a:p>
            <a:r>
              <a:rPr sz="900" dirty="0">
                <a:solidFill>
                  <a:srgbClr val="555555"/>
                </a:solidFill>
                <a:latin typeface="メイリオ"/>
              </a:rPr>
              <a:t>※ 広告実績（CV地点別のCPC/CVR/CPA）は社内データ確認後に差込予定。参考：進学情報メディア案件で資料請求CVを成果単価¥2,800に設計した事例あり（2026年7月・社内提案値／実績値ではありません）。時期区分は一般的な入試日程に基づく想定。</a:t>
            </a:r>
            <a:endParaRPr lang="en-US" sz="900" dirty="0">
              <a:solidFill>
                <a:srgbClr val="555555"/>
              </a:solidFill>
              <a:latin typeface="メイリオ"/>
            </a:endParaRPr>
          </a:p>
          <a:p>
            <a:endParaRPr lang="en-US" sz="900" dirty="0">
              <a:solidFill>
                <a:srgbClr val="555555"/>
              </a:solidFill>
              <a:latin typeface="メイリオ"/>
            </a:endParaRPr>
          </a:p>
        </p:txBody>
      </p:sp>
    </p:spTree>
    <p:extLst>
      <p:ext uri="{BB962C8B-B14F-4D97-AF65-F5344CB8AC3E}">
        <p14:creationId xmlns:p14="http://schemas.microsoft.com/office/powerpoint/2010/main" val="466478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検索は年間行事連動の「カレンダー型」。OC=8月中旬が年間最大、大学入試=1月と秋、専門学校=通年需要。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ピーク期は入札集中で単価が上がる＝6月の立ち上がり期に低単価で友だち化し、ピークはLINE配信で刈り取る。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ニーズ調査（シーズナリティ）</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57006A34-E0FD-C2ED-2162-46ECD9FAEE3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pic>
        <p:nvPicPr>
          <p:cNvPr id="46" name="Picture 45" descr="スクリーンショット 2026-07-27 093008.png"/>
          <p:cNvPicPr>
            <a:picLocks noChangeAspect="1"/>
          </p:cNvPicPr>
          <p:nvPr/>
        </p:nvPicPr>
        <p:blipFill>
          <a:blip r:embed="rId3"/>
          <a:stretch>
            <a:fillRect/>
          </a:stretch>
        </p:blipFill>
        <p:spPr>
          <a:xfrm>
            <a:off x="396000" y="1458000"/>
            <a:ext cx="8280000" cy="3496098"/>
          </a:xfrm>
          <a:prstGeom prst="rect">
            <a:avLst/>
          </a:prstGeom>
        </p:spPr>
      </p:pic>
      <p:sp>
        <p:nvSpPr>
          <p:cNvPr id="15" name="四角形: 角を丸くする 14">
            <a:extLst>
              <a:ext uri="{FF2B5EF4-FFF2-40B4-BE49-F238E27FC236}">
                <a16:creationId xmlns:a16="http://schemas.microsoft.com/office/drawing/2014/main" id="{425CD62E-F90D-153A-FA40-A6EE9C287578}"/>
              </a:ext>
            </a:extLst>
          </p:cNvPr>
          <p:cNvSpPr/>
          <p:nvPr/>
        </p:nvSpPr>
        <p:spPr>
          <a:xfrm>
            <a:off x="3405299" y="3405194"/>
            <a:ext cx="1593158" cy="123027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①</a:t>
            </a:r>
          </a:p>
        </p:txBody>
      </p:sp>
      <p:sp>
        <p:nvSpPr>
          <p:cNvPr id="47" name="四角形: 角を丸くする 14">
            <a:extLst>
              <a:ext uri="{FF2B5EF4-FFF2-40B4-BE49-F238E27FC236}">
                <a16:creationId xmlns:a16="http://schemas.microsoft.com/office/drawing/2014/main" id="{425CD62E-F90D-153A-FA40-A6EE9C287578}"/>
              </a:ext>
            </a:extLst>
          </p:cNvPr>
          <p:cNvSpPr/>
          <p:nvPr/>
        </p:nvSpPr>
        <p:spPr>
          <a:xfrm>
            <a:off x="816416" y="3405194"/>
            <a:ext cx="619561" cy="123027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②</a:t>
            </a:r>
          </a:p>
        </p:txBody>
      </p:sp>
      <p:sp>
        <p:nvSpPr>
          <p:cNvPr id="48" name="四角形: 角を丸くする 14">
            <a:extLst>
              <a:ext uri="{FF2B5EF4-FFF2-40B4-BE49-F238E27FC236}">
                <a16:creationId xmlns:a16="http://schemas.microsoft.com/office/drawing/2014/main" id="{425CD62E-F90D-153A-FA40-A6EE9C287578}"/>
              </a:ext>
            </a:extLst>
          </p:cNvPr>
          <p:cNvSpPr/>
          <p:nvPr/>
        </p:nvSpPr>
        <p:spPr>
          <a:xfrm>
            <a:off x="5029436" y="3405194"/>
            <a:ext cx="2106509" cy="123027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②</a:t>
            </a:r>
          </a:p>
        </p:txBody>
      </p:sp>
      <p:sp>
        <p:nvSpPr>
          <p:cNvPr id="49" name="四角形: 角を丸くする 14">
            <a:extLst>
              <a:ext uri="{FF2B5EF4-FFF2-40B4-BE49-F238E27FC236}">
                <a16:creationId xmlns:a16="http://schemas.microsoft.com/office/drawing/2014/main" id="{425CD62E-F90D-153A-FA40-A6EE9C287578}"/>
              </a:ext>
            </a:extLst>
          </p:cNvPr>
          <p:cNvSpPr/>
          <p:nvPr/>
        </p:nvSpPr>
        <p:spPr>
          <a:xfrm>
            <a:off x="2807865" y="4414194"/>
            <a:ext cx="951469" cy="34075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③</a:t>
            </a:r>
          </a:p>
        </p:txBody>
      </p:sp>
      <p:sp>
        <p:nvSpPr>
          <p:cNvPr id="22" name="四角形: 角を丸くする 21">
            <a:extLst>
              <a:ext uri="{FF2B5EF4-FFF2-40B4-BE49-F238E27FC236}">
                <a16:creationId xmlns:a16="http://schemas.microsoft.com/office/drawing/2014/main" id="{9DE09A3B-B9C2-758C-D928-E318F47A0007}"/>
              </a:ext>
            </a:extLst>
          </p:cNvPr>
          <p:cNvSpPr/>
          <p:nvPr/>
        </p:nvSpPr>
        <p:spPr>
          <a:xfrm>
            <a:off x="8748000" y="1944000"/>
            <a:ext cx="1080000" cy="2519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注目ゾーン</a:t>
            </a: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5976000" y="4968000"/>
            <a:ext cx="360000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※Googleトレンドより（日本・2025年・4KW・相対値）</a:t>
            </a:r>
            <a:endParaRPr lang="ja-JP" altLang="en-US" sz="1400" dirty="0">
              <a:solidFill>
                <a:schemeClr val="bg1">
                  <a:lumMod val="65000"/>
                </a:schemeClr>
              </a:solidFill>
            </a:endParaRPr>
          </a:p>
        </p:txBody>
      </p:sp>
      <p:sp>
        <p:nvSpPr>
          <p:cNvPr id="6" name="テキスト ボックス 5">
            <a:extLst>
              <a:ext uri="{FF2B5EF4-FFF2-40B4-BE49-F238E27FC236}">
                <a16:creationId xmlns:a16="http://schemas.microsoft.com/office/drawing/2014/main" id="{D447E872-5F62-5D67-8DD8-C92326EB572D}"/>
              </a:ext>
            </a:extLst>
          </p:cNvPr>
          <p:cNvSpPr txBox="1"/>
          <p:nvPr/>
        </p:nvSpPr>
        <p:spPr>
          <a:xfrm>
            <a:off x="396000" y="5058000"/>
            <a:ext cx="9216000" cy="1368000"/>
          </a:xfrm>
          <a:prstGeom prst="rect">
            <a:avLst/>
          </a:prstGeom>
          <a:noFill/>
        </p:spPr>
        <p:txBody>
          <a:bodyPr wrap="square">
            <a:spAutoFit/>
          </a:bodyPr>
          <a:lstStyle/>
          <a:p>
            <a:pPr>
              <a:buNone/>
            </a:pPr>
            <a:r>
              <a:rPr lang="en-US" altLang="ja-JP" sz="1050" b="1" dirty="0">
                <a:latin typeface="メイリオ" panose="020B0604030504040204" pitchFamily="50" charset="-128"/>
                <a:ea typeface="メイリオ" panose="020B0604030504040204" pitchFamily="50" charset="-128"/>
              </a:rPr>
              <a:t>1. 夏のオープンキャンパス一極集中（青）＝①</a:t>
            </a:r>
          </a:p>
          <a:p>
            <a:pPr>
              <a:buNone/>
            </a:pPr>
            <a:r>
              <a:rPr lang="ja-JP" altLang="en-US" sz="1000" b="0" dirty="0">
                <a:latin typeface="メイリオ" panose="020B0604030504040204" pitchFamily="50" charset="-128"/>
                <a:ea typeface="メイリオ" panose="020B0604030504040204" pitchFamily="50" charset="-128"/>
              </a:rPr>
              <a:t>　6月に立ち上がり8月中旬に年間最大（100）。仕込みは6月＝単価が上がる8月ピークはLINE配信で刈り取る。</a:t>
            </a:r>
          </a:p>
          <a:p>
            <a:pPr>
              <a:buNone/>
            </a:pPr>
            <a:endParaRPr lang="ja-JP" altLang="en-US" sz="1050" b="1" dirty="0">
              <a:latin typeface="メイリオ" panose="020B0604030504040204" pitchFamily="50" charset="-128"/>
              <a:ea typeface="メイリオ" panose="020B0604030504040204" pitchFamily="50" charset="-128"/>
            </a:endParaRPr>
          </a:p>
          <a:p>
            <a:pPr>
              <a:buNone/>
            </a:pPr>
            <a:r>
              <a:rPr lang="en-US" altLang="ja-JP" sz="1050" b="1" dirty="0">
                <a:latin typeface="メイリオ" panose="020B0604030504040204" pitchFamily="50" charset="-128"/>
                <a:ea typeface="メイリオ" panose="020B0604030504040204" pitchFamily="50" charset="-128"/>
              </a:rPr>
              <a:t>2. 入試検索は「秋の年内入試」と「1月の共通テスト」の二山（緑）＝②</a:t>
            </a:r>
          </a:p>
          <a:p>
            <a:pPr>
              <a:buNone/>
            </a:pPr>
            <a:r>
              <a:rPr lang="ja-JP" altLang="en-US" sz="1000" b="0" dirty="0">
                <a:latin typeface="メイリオ" panose="020B0604030504040204" pitchFamily="50" charset="-128"/>
                <a:ea typeface="メイリオ" panose="020B0604030504040204" pitchFamily="50" charset="-128"/>
              </a:rPr>
              <a:t>　9→12月にじわ上昇（総合型・推薦シフト）→1月中旬に急峰。秋ナーチャリング＋直前リマインドが効く。</a:t>
            </a:r>
          </a:p>
          <a:p>
            <a:pPr>
              <a:buNone/>
            </a:pPr>
            <a:endParaRPr lang="ja-JP" altLang="en-US" sz="1050" b="1" dirty="0">
              <a:latin typeface="メイリオ" panose="020B0604030504040204" pitchFamily="50" charset="-128"/>
              <a:ea typeface="メイリオ" panose="020B0604030504040204" pitchFamily="50" charset="-128"/>
            </a:endParaRPr>
          </a:p>
          <a:p>
            <a:pPr>
              <a:buNone/>
            </a:pPr>
            <a:r>
              <a:rPr lang="en-US" altLang="ja-JP" sz="1050" b="1" dirty="0">
                <a:latin typeface="メイリオ" panose="020B0604030504040204" pitchFamily="50" charset="-128"/>
                <a:ea typeface="メイリオ" panose="020B0604030504040204" pitchFamily="50" charset="-128"/>
              </a:rPr>
              <a:t>3. 「大学 資料請求」は検索されない＝年間ほぼ0（赤）＝③</a:t>
            </a:r>
          </a:p>
          <a:p>
            <a:pPr>
              <a:buNone/>
            </a:pPr>
            <a:r>
              <a:rPr lang="ja-JP" altLang="en-US" sz="1000" b="0" dirty="0">
                <a:latin typeface="メイリオ" panose="020B0604030504040204" pitchFamily="50" charset="-128"/>
                <a:ea typeface="メイリオ" panose="020B0604030504040204" pitchFamily="50" charset="-128"/>
              </a:rPr>
              <a:t>　資料請求は検索語ではなくサイト到達後のCV。流入後の離脱防止→LINE化で受け皿を作る設計が必須。</a:t>
            </a:r>
            <a:endParaRPr lang="ja-JP" altLang="ja-JP" sz="1050" dirty="0">
              <a:latin typeface="メイリオ" panose="020B0604030504040204" pitchFamily="50" charset="-128"/>
              <a:ea typeface="メイリオ" panose="020B0604030504040204" pitchFamily="50" charset="-128"/>
            </a:endParaRPr>
          </a:p>
          <a:p>
            <a:pPr>
              <a:buNone/>
            </a:pPr>
            <a:r>
              <a:rPr lang="ja-JP" altLang="en-US" sz="900" b="0" dirty="0">
                <a:latin typeface="メイリオ" panose="020B0604030504040204" pitchFamily="50" charset="-128"/>
                <a:ea typeface="メイリオ" panose="020B0604030504040204" pitchFamily="50" charset="-128"/>
              </a:rPr>
              <a:t>※専門学校（黄）は通年40〜50（平均45・4KW中最大）＝通年運用と4月の新学期接点が有効。</a:t>
            </a:r>
            <a:endParaRPr lang="ja-JP" altLang="ja-JP" sz="105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2908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sp>
        <p:nvSpPr>
          <p:cNvPr id="10" name="正方形/長方形 9">
            <a:extLst>
              <a:ext uri="{FF2B5EF4-FFF2-40B4-BE49-F238E27FC236}">
                <a16:creationId xmlns:a16="http://schemas.microsoft.com/office/drawing/2014/main" id="{3A99C536-4301-F569-61F1-54067CA4AE75}"/>
              </a:ext>
            </a:extLst>
          </p:cNvPr>
          <p:cNvSpPr/>
          <p:nvPr/>
        </p:nvSpPr>
        <p:spPr>
          <a:xfrm>
            <a:off x="902545" y="5352031"/>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2" name="正方形/長方形 11">
            <a:extLst>
              <a:ext uri="{FF2B5EF4-FFF2-40B4-BE49-F238E27FC236}">
                <a16:creationId xmlns:a16="http://schemas.microsoft.com/office/drawing/2014/main" id="{5B08C2C6-BF88-EDFE-9307-526D7AB38942}"/>
              </a:ext>
            </a:extLst>
          </p:cNvPr>
          <p:cNvSpPr/>
          <p:nvPr/>
        </p:nvSpPr>
        <p:spPr>
          <a:xfrm>
            <a:off x="4921550" y="5352031"/>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1" name="テキスト ボックス 20">
            <a:extLst>
              <a:ext uri="{FF2B5EF4-FFF2-40B4-BE49-F238E27FC236}">
                <a16:creationId xmlns:a16="http://schemas.microsoft.com/office/drawing/2014/main" id="{160D2D1C-9CD0-28D0-3138-8C01E5B887B5}"/>
              </a:ext>
            </a:extLst>
          </p:cNvPr>
          <p:cNvSpPr txBox="1"/>
          <p:nvPr/>
        </p:nvSpPr>
        <p:spPr>
          <a:xfrm>
            <a:off x="1963218" y="790037"/>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732291" y="766575"/>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東京国際大学</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47" name="TextBox 46"/>
          <p:cNvSpPr txBox="1"/>
          <p:nvPr/>
        </p:nvSpPr>
        <p:spPr>
          <a:xfrm>
            <a:off x="372641" y="5677875"/>
            <a:ext cx="9216000" cy="646331"/>
          </a:xfrm>
          <a:prstGeom prst="rect">
            <a:avLst/>
          </a:prstGeom>
          <a:noFill/>
        </p:spPr>
        <p:txBody>
          <a:bodyPr wrap="square">
            <a:spAutoFit/>
          </a:bodyPr>
          <a:lstStyle/>
          <a:p>
            <a:r>
              <a:rPr sz="1200" dirty="0" err="1">
                <a:solidFill>
                  <a:srgbClr val="333333"/>
                </a:solidFill>
                <a:latin typeface="メイリオ"/>
              </a:rPr>
              <a:t>前＝東洋大・MARCHなど</a:t>
            </a:r>
            <a:r>
              <a:rPr lang="ja-JP" altLang="en-US" sz="1200" dirty="0">
                <a:solidFill>
                  <a:srgbClr val="333333"/>
                </a:solidFill>
                <a:latin typeface="メイリオ"/>
              </a:rPr>
              <a:t>、</a:t>
            </a:r>
            <a:r>
              <a:rPr sz="1200" dirty="0" err="1">
                <a:solidFill>
                  <a:srgbClr val="333333"/>
                </a:solidFill>
                <a:latin typeface="メイリオ" panose="020B0604030504040204" pitchFamily="50" charset="-128"/>
                <a:ea typeface="メイリオ" panose="020B0604030504040204" pitchFamily="50" charset="-128"/>
              </a:rPr>
              <a:t>上位</a:t>
            </a:r>
            <a:r>
              <a:rPr lang="ja-JP" altLang="en-US" sz="1200" dirty="0">
                <a:solidFill>
                  <a:srgbClr val="333333"/>
                </a:solidFill>
                <a:latin typeface="メイリオ" panose="020B0604030504040204" pitchFamily="50" charset="-128"/>
                <a:ea typeface="メイリオ" panose="020B0604030504040204" pitchFamily="50" charset="-128"/>
              </a:rPr>
              <a:t>有名</a:t>
            </a:r>
            <a:r>
              <a:rPr sz="1200" dirty="0" err="1">
                <a:solidFill>
                  <a:srgbClr val="333333"/>
                </a:solidFill>
                <a:latin typeface="メイリオ" panose="020B0604030504040204" pitchFamily="50" charset="-128"/>
                <a:ea typeface="メイリオ" panose="020B0604030504040204" pitchFamily="50" charset="-128"/>
              </a:rPr>
              <a:t>校と偏差値を見比べ</a:t>
            </a:r>
            <a:r>
              <a:rPr sz="1200" dirty="0">
                <a:solidFill>
                  <a:srgbClr val="333333"/>
                </a:solidFill>
                <a:latin typeface="メイリオ" panose="020B0604030504040204" pitchFamily="50" charset="-128"/>
                <a:ea typeface="メイリオ" panose="020B0604030504040204" pitchFamily="50" charset="-128"/>
              </a:rPr>
              <a:t> </a:t>
            </a:r>
            <a:r>
              <a:rPr sz="1200" dirty="0">
                <a:solidFill>
                  <a:srgbClr val="333333"/>
                </a:solidFill>
                <a:latin typeface="メイリオ"/>
              </a:rPr>
              <a:t>→ 0〜3日＝指名と同時に県内の同格私大を比較 → </a:t>
            </a:r>
            <a:r>
              <a:rPr sz="1200" dirty="0" err="1">
                <a:solidFill>
                  <a:srgbClr val="333333"/>
                </a:solidFill>
                <a:latin typeface="メイリオ"/>
              </a:rPr>
              <a:t>後＝拓殖・武蔵野学院など併願先</a:t>
            </a:r>
            <a:r>
              <a:rPr lang="ja-JP" altLang="en-US" sz="1200" dirty="0">
                <a:solidFill>
                  <a:srgbClr val="333333"/>
                </a:solidFill>
                <a:latin typeface="メイリオ"/>
              </a:rPr>
              <a:t>、</a:t>
            </a:r>
            <a:r>
              <a:rPr lang="ja-JP" altLang="en-US" sz="1200" dirty="0">
                <a:solidFill>
                  <a:srgbClr val="333333"/>
                </a:solidFill>
                <a:latin typeface="メイリオ" panose="020B0604030504040204" pitchFamily="50" charset="-128"/>
                <a:ea typeface="メイリオ" panose="020B0604030504040204" pitchFamily="50" charset="-128"/>
              </a:rPr>
              <a:t>今後の行動</a:t>
            </a:r>
            <a:r>
              <a:rPr sz="1200" dirty="0" err="1">
                <a:solidFill>
                  <a:srgbClr val="333333"/>
                </a:solidFill>
                <a:latin typeface="メイリオ"/>
              </a:rPr>
              <a:t>へ拡散</a:t>
            </a:r>
            <a:endParaRPr sz="1200" dirty="0">
              <a:solidFill>
                <a:srgbClr val="333333"/>
              </a:solidFill>
              <a:latin typeface="メイリオ"/>
            </a:endParaRPr>
          </a:p>
          <a:p>
            <a:r>
              <a:rPr sz="1200" b="1" dirty="0">
                <a:solidFill>
                  <a:srgbClr val="1F3A5F"/>
                </a:solidFill>
                <a:latin typeface="メイリオ"/>
              </a:rPr>
              <a:t>⇒ 指名検索は終点ではなく併願検討の入口。0日にLINE友だち化し、拡散する15日間を自校コンテンツで埋める</a:t>
            </a:r>
          </a:p>
        </p:txBody>
      </p:sp>
      <p:pic>
        <p:nvPicPr>
          <p:cNvPr id="4" name="図 3">
            <a:extLst>
              <a:ext uri="{FF2B5EF4-FFF2-40B4-BE49-F238E27FC236}">
                <a16:creationId xmlns:a16="http://schemas.microsoft.com/office/drawing/2014/main" id="{86D6980F-5750-59ED-916B-AD9565DE6C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0938" y="1218016"/>
            <a:ext cx="7833942" cy="4104608"/>
          </a:xfrm>
          <a:prstGeom prst="rect">
            <a:avLst/>
          </a:prstGeom>
        </p:spPr>
      </p:pic>
      <p:sp>
        <p:nvSpPr>
          <p:cNvPr id="31" name="四角形: 角を丸くする 30">
            <a:extLst>
              <a:ext uri="{FF2B5EF4-FFF2-40B4-BE49-F238E27FC236}">
                <a16:creationId xmlns:a16="http://schemas.microsoft.com/office/drawing/2014/main" id="{9AD361F6-370A-CDD8-7AEF-EB40F67A3BBF}"/>
              </a:ext>
            </a:extLst>
          </p:cNvPr>
          <p:cNvSpPr/>
          <p:nvPr/>
        </p:nvSpPr>
        <p:spPr>
          <a:xfrm>
            <a:off x="8294350" y="1567963"/>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同格・併願校</a:t>
            </a:r>
          </a:p>
        </p:txBody>
      </p:sp>
      <p:sp>
        <p:nvSpPr>
          <p:cNvPr id="33" name="四角形: 角を丸くする 32">
            <a:extLst>
              <a:ext uri="{FF2B5EF4-FFF2-40B4-BE49-F238E27FC236}">
                <a16:creationId xmlns:a16="http://schemas.microsoft.com/office/drawing/2014/main" id="{0B123AE6-777C-7350-7358-F0D545DFA021}"/>
              </a:ext>
            </a:extLst>
          </p:cNvPr>
          <p:cNvSpPr/>
          <p:nvPr/>
        </p:nvSpPr>
        <p:spPr>
          <a:xfrm>
            <a:off x="8294350" y="1862998"/>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OC・学部・学費</a:t>
            </a:r>
          </a:p>
        </p:txBody>
      </p:sp>
      <p:sp>
        <p:nvSpPr>
          <p:cNvPr id="35" name="四角形: 角を丸くする 34">
            <a:extLst>
              <a:ext uri="{FF2B5EF4-FFF2-40B4-BE49-F238E27FC236}">
                <a16:creationId xmlns:a16="http://schemas.microsoft.com/office/drawing/2014/main" id="{CA6D63DC-3D58-46D6-9E32-877A5C994DEA}"/>
              </a:ext>
            </a:extLst>
          </p:cNvPr>
          <p:cNvSpPr/>
          <p:nvPr/>
        </p:nvSpPr>
        <p:spPr>
          <a:xfrm>
            <a:off x="8294350" y="983805"/>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上位校・偏差値</a:t>
            </a:r>
          </a:p>
        </p:txBody>
      </p:sp>
      <p:sp>
        <p:nvSpPr>
          <p:cNvPr id="37" name="四角形: 角を丸くする 36">
            <a:extLst>
              <a:ext uri="{FF2B5EF4-FFF2-40B4-BE49-F238E27FC236}">
                <a16:creationId xmlns:a16="http://schemas.microsoft.com/office/drawing/2014/main" id="{DC3BA3B8-AC83-B1A8-CAB7-577C9DDB3EBF}"/>
              </a:ext>
            </a:extLst>
          </p:cNvPr>
          <p:cNvSpPr/>
          <p:nvPr/>
        </p:nvSpPr>
        <p:spPr>
          <a:xfrm>
            <a:off x="8294350" y="1278840"/>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学校名（指名）</a:t>
            </a:r>
          </a:p>
        </p:txBody>
      </p:sp>
      <p:cxnSp>
        <p:nvCxnSpPr>
          <p:cNvPr id="14" name="直線矢印コネクタ 13">
            <a:extLst>
              <a:ext uri="{FF2B5EF4-FFF2-40B4-BE49-F238E27FC236}">
                <a16:creationId xmlns:a16="http://schemas.microsoft.com/office/drawing/2014/main" id="{56C657A1-149E-41EE-730E-3EAE4C3BA201}"/>
              </a:ext>
            </a:extLst>
          </p:cNvPr>
          <p:cNvCxnSpPr>
            <a:cxnSpLocks/>
          </p:cNvCxnSpPr>
          <p:nvPr/>
        </p:nvCxnSpPr>
        <p:spPr>
          <a:xfrm flipV="1">
            <a:off x="619910" y="1007996"/>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61282C12-CDD9-56A4-5995-69F2F2EFEB00}"/>
              </a:ext>
            </a:extLst>
          </p:cNvPr>
          <p:cNvSpPr txBox="1"/>
          <p:nvPr/>
        </p:nvSpPr>
        <p:spPr>
          <a:xfrm>
            <a:off x="548883" y="1145220"/>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pic>
        <p:nvPicPr>
          <p:cNvPr id="48" name="Picture 47" descr="image.png"/>
          <p:cNvPicPr>
            <a:picLocks noChangeAspect="1"/>
          </p:cNvPicPr>
          <p:nvPr/>
        </p:nvPicPr>
        <p:blipFill>
          <a:blip r:embed="rId4"/>
          <a:stretch>
            <a:fillRect/>
          </a:stretch>
        </p:blipFill>
        <p:spPr>
          <a:xfrm>
            <a:off x="5434970" y="800988"/>
            <a:ext cx="432000" cy="432000"/>
          </a:xfrm>
          <a:prstGeom prst="rect">
            <a:avLst/>
          </a:prstGeom>
        </p:spPr>
      </p:pic>
      <p:sp>
        <p:nvSpPr>
          <p:cNvPr id="16" name="テキスト ボックス 15">
            <a:extLst>
              <a:ext uri="{FF2B5EF4-FFF2-40B4-BE49-F238E27FC236}">
                <a16:creationId xmlns:a16="http://schemas.microsoft.com/office/drawing/2014/main" id="{4D41DEC4-E5DE-B6BA-3284-9E7C11FF0A49}"/>
              </a:ext>
            </a:extLst>
          </p:cNvPr>
          <p:cNvSpPr txBox="1"/>
          <p:nvPr/>
        </p:nvSpPr>
        <p:spPr>
          <a:xfrm>
            <a:off x="4876970" y="1253617"/>
            <a:ext cx="1548000"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123" name="四角形: 角を丸くする 122">
            <a:extLst>
              <a:ext uri="{FF2B5EF4-FFF2-40B4-BE49-F238E27FC236}">
                <a16:creationId xmlns:a16="http://schemas.microsoft.com/office/drawing/2014/main" id="{E1FA5751-86A8-3E5E-33A9-DA0915F8105C}"/>
              </a:ext>
            </a:extLst>
          </p:cNvPr>
          <p:cNvSpPr/>
          <p:nvPr/>
        </p:nvSpPr>
        <p:spPr>
          <a:xfrm>
            <a:off x="5715934" y="2727094"/>
            <a:ext cx="486650" cy="9736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29" name="四角形: 角を丸くする 128">
            <a:extLst>
              <a:ext uri="{FF2B5EF4-FFF2-40B4-BE49-F238E27FC236}">
                <a16:creationId xmlns:a16="http://schemas.microsoft.com/office/drawing/2014/main" id="{125945AA-6A56-2A02-86CF-8B0772E77810}"/>
              </a:ext>
            </a:extLst>
          </p:cNvPr>
          <p:cNvSpPr/>
          <p:nvPr/>
        </p:nvSpPr>
        <p:spPr>
          <a:xfrm>
            <a:off x="5655117" y="3317805"/>
            <a:ext cx="875383" cy="362990"/>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2" name="四角形: 角を丸くする 31">
            <a:extLst>
              <a:ext uri="{FF2B5EF4-FFF2-40B4-BE49-F238E27FC236}">
                <a16:creationId xmlns:a16="http://schemas.microsoft.com/office/drawing/2014/main" id="{D002BFA5-249B-4860-5866-32775EDDFEE5}"/>
              </a:ext>
            </a:extLst>
          </p:cNvPr>
          <p:cNvSpPr/>
          <p:nvPr/>
        </p:nvSpPr>
        <p:spPr>
          <a:xfrm>
            <a:off x="6055970" y="4095663"/>
            <a:ext cx="639631" cy="339967"/>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6" name="四角形: 角を丸くする 35">
            <a:extLst>
              <a:ext uri="{FF2B5EF4-FFF2-40B4-BE49-F238E27FC236}">
                <a16:creationId xmlns:a16="http://schemas.microsoft.com/office/drawing/2014/main" id="{993196A8-7632-73E1-8B21-8E142D290171}"/>
              </a:ext>
            </a:extLst>
          </p:cNvPr>
          <p:cNvSpPr/>
          <p:nvPr/>
        </p:nvSpPr>
        <p:spPr>
          <a:xfrm>
            <a:off x="1130300" y="1278164"/>
            <a:ext cx="3504481" cy="2477988"/>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9" name="四角形: 角を丸くする 38">
            <a:extLst>
              <a:ext uri="{FF2B5EF4-FFF2-40B4-BE49-F238E27FC236}">
                <a16:creationId xmlns:a16="http://schemas.microsoft.com/office/drawing/2014/main" id="{3A825B11-1DE7-AEBF-5B58-9F0655498709}"/>
              </a:ext>
            </a:extLst>
          </p:cNvPr>
          <p:cNvSpPr/>
          <p:nvPr/>
        </p:nvSpPr>
        <p:spPr>
          <a:xfrm>
            <a:off x="2620492" y="4017588"/>
            <a:ext cx="2007307" cy="418041"/>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3" name="四角形: 角を丸くする 42">
            <a:extLst>
              <a:ext uri="{FF2B5EF4-FFF2-40B4-BE49-F238E27FC236}">
                <a16:creationId xmlns:a16="http://schemas.microsoft.com/office/drawing/2014/main" id="{C6C4A425-15E0-2626-91AF-C23BEF980012}"/>
              </a:ext>
            </a:extLst>
          </p:cNvPr>
          <p:cNvSpPr/>
          <p:nvPr/>
        </p:nvSpPr>
        <p:spPr>
          <a:xfrm>
            <a:off x="6375785" y="3780515"/>
            <a:ext cx="687955" cy="208201"/>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6" name="四角形: 角を丸くする 45">
            <a:extLst>
              <a:ext uri="{FF2B5EF4-FFF2-40B4-BE49-F238E27FC236}">
                <a16:creationId xmlns:a16="http://schemas.microsoft.com/office/drawing/2014/main" id="{2DC0B391-5783-E2A7-A016-525688223892}"/>
              </a:ext>
            </a:extLst>
          </p:cNvPr>
          <p:cNvSpPr/>
          <p:nvPr/>
        </p:nvSpPr>
        <p:spPr>
          <a:xfrm>
            <a:off x="6773610" y="4175185"/>
            <a:ext cx="1185818" cy="353055"/>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0" name="四角形: 角を丸くする 49">
            <a:extLst>
              <a:ext uri="{FF2B5EF4-FFF2-40B4-BE49-F238E27FC236}">
                <a16:creationId xmlns:a16="http://schemas.microsoft.com/office/drawing/2014/main" id="{DC85A2C2-6DC5-FFD2-79A1-DA3A57875179}"/>
              </a:ext>
            </a:extLst>
          </p:cNvPr>
          <p:cNvSpPr/>
          <p:nvPr/>
        </p:nvSpPr>
        <p:spPr>
          <a:xfrm>
            <a:off x="4705808" y="2510570"/>
            <a:ext cx="919783" cy="247798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17" name="四角形: 角を丸くする 116">
            <a:extLst>
              <a:ext uri="{FF2B5EF4-FFF2-40B4-BE49-F238E27FC236}">
                <a16:creationId xmlns:a16="http://schemas.microsoft.com/office/drawing/2014/main" id="{201EC3B8-849A-8F71-8AC7-63DB41720D4D}"/>
              </a:ext>
            </a:extLst>
          </p:cNvPr>
          <p:cNvSpPr/>
          <p:nvPr/>
        </p:nvSpPr>
        <p:spPr>
          <a:xfrm>
            <a:off x="4779949" y="1507533"/>
            <a:ext cx="885769" cy="950720"/>
          </a:xfrm>
          <a:prstGeom prst="roundRect">
            <a:avLst>
              <a:gd name="adj" fmla="val 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2" name="四角形: 角を丸くする 51">
            <a:extLst>
              <a:ext uri="{FF2B5EF4-FFF2-40B4-BE49-F238E27FC236}">
                <a16:creationId xmlns:a16="http://schemas.microsoft.com/office/drawing/2014/main" id="{12D1BC20-CC9C-EF12-69A8-664EE36204E5}"/>
              </a:ext>
            </a:extLst>
          </p:cNvPr>
          <p:cNvSpPr/>
          <p:nvPr/>
        </p:nvSpPr>
        <p:spPr>
          <a:xfrm>
            <a:off x="4280346" y="3745407"/>
            <a:ext cx="917045" cy="151141"/>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6" name="四角形: 角を丸くする 55">
            <a:extLst>
              <a:ext uri="{FF2B5EF4-FFF2-40B4-BE49-F238E27FC236}">
                <a16:creationId xmlns:a16="http://schemas.microsoft.com/office/drawing/2014/main" id="{1DF7621F-C58E-A77C-16A1-E59E899A8DF8}"/>
              </a:ext>
            </a:extLst>
          </p:cNvPr>
          <p:cNvSpPr/>
          <p:nvPr/>
        </p:nvSpPr>
        <p:spPr>
          <a:xfrm>
            <a:off x="5415278" y="2869072"/>
            <a:ext cx="1358331" cy="208201"/>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782CDAB8-8723-D310-2390-907A0D3A9573}"/>
              </a:ext>
            </a:extLst>
          </p:cNvPr>
          <p:cNvSpPr/>
          <p:nvPr/>
        </p:nvSpPr>
        <p:spPr>
          <a:xfrm>
            <a:off x="4780201" y="1769226"/>
            <a:ext cx="486650" cy="620303"/>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38123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31747-1CCA-0E60-4A82-31EE81D41B6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C26E367-3F09-8712-1D7B-93B5C05B00E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D0396A-E784-CE01-45A4-95BC982BCFA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87A7F74-23D6-2345-090E-4097D57A4D51}"/>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sp>
        <p:nvSpPr>
          <p:cNvPr id="10" name="正方形/長方形 9">
            <a:extLst>
              <a:ext uri="{FF2B5EF4-FFF2-40B4-BE49-F238E27FC236}">
                <a16:creationId xmlns:a16="http://schemas.microsoft.com/office/drawing/2014/main" id="{76B0AA74-DC92-7D07-8779-08845550C607}"/>
              </a:ext>
            </a:extLst>
          </p:cNvPr>
          <p:cNvSpPr/>
          <p:nvPr/>
        </p:nvSpPr>
        <p:spPr>
          <a:xfrm>
            <a:off x="902545" y="533868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2" name="正方形/長方形 11">
            <a:extLst>
              <a:ext uri="{FF2B5EF4-FFF2-40B4-BE49-F238E27FC236}">
                <a16:creationId xmlns:a16="http://schemas.microsoft.com/office/drawing/2014/main" id="{8E33F495-92B1-9E14-019D-916A2AC3749A}"/>
              </a:ext>
            </a:extLst>
          </p:cNvPr>
          <p:cNvSpPr/>
          <p:nvPr/>
        </p:nvSpPr>
        <p:spPr>
          <a:xfrm>
            <a:off x="4921550" y="533868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14" name="直線矢印コネクタ 13">
            <a:extLst>
              <a:ext uri="{FF2B5EF4-FFF2-40B4-BE49-F238E27FC236}">
                <a16:creationId xmlns:a16="http://schemas.microsoft.com/office/drawing/2014/main" id="{3FA1EAF4-FFC8-190E-571F-F3DFFE61115F}"/>
              </a:ext>
            </a:extLst>
          </p:cNvPr>
          <p:cNvCxnSpPr>
            <a:cxnSpLocks/>
          </p:cNvCxnSpPr>
          <p:nvPr/>
        </p:nvCxnSpPr>
        <p:spPr>
          <a:xfrm flipV="1">
            <a:off x="619910" y="99464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30CCC30-3058-E45F-34A7-1A26CB1C6EE0}"/>
              </a:ext>
            </a:extLst>
          </p:cNvPr>
          <p:cNvSpPr txBox="1"/>
          <p:nvPr/>
        </p:nvSpPr>
        <p:spPr>
          <a:xfrm>
            <a:off x="2027945" y="77741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A3415409-EAE9-9E52-5EE5-39957199A004}"/>
              </a:ext>
            </a:extLst>
          </p:cNvPr>
          <p:cNvSpPr/>
          <p:nvPr/>
        </p:nvSpPr>
        <p:spPr>
          <a:xfrm>
            <a:off x="619910" y="753226"/>
            <a:ext cx="1576251"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デザイン　専門学校</a:t>
            </a:r>
          </a:p>
        </p:txBody>
      </p:sp>
      <p:sp>
        <p:nvSpPr>
          <p:cNvPr id="47" name="TextBox 46"/>
          <p:cNvSpPr txBox="1"/>
          <p:nvPr/>
        </p:nvSpPr>
        <p:spPr>
          <a:xfrm>
            <a:off x="360000" y="5770616"/>
            <a:ext cx="9216000" cy="646331"/>
          </a:xfrm>
          <a:prstGeom prst="rect">
            <a:avLst/>
          </a:prstGeom>
          <a:noFill/>
        </p:spPr>
        <p:txBody>
          <a:bodyPr wrap="square">
            <a:spAutoFit/>
          </a:bodyPr>
          <a:lstStyle/>
          <a:p>
            <a:r>
              <a:rPr sz="1200" dirty="0" err="1">
                <a:solidFill>
                  <a:srgbClr val="333333"/>
                </a:solidFill>
                <a:latin typeface="メイリオ"/>
              </a:rPr>
              <a:t>前＝</a:t>
            </a:r>
            <a:r>
              <a:rPr sz="1200" dirty="0" err="1">
                <a:solidFill>
                  <a:srgbClr val="333333"/>
                </a:solidFill>
                <a:latin typeface="メイリオ" panose="020B0604030504040204" pitchFamily="50" charset="-128"/>
                <a:ea typeface="メイリオ" panose="020B0604030504040204" pitchFamily="50" charset="-128"/>
              </a:rPr>
              <a:t>分野の全体像を把握（校名は未確定</a:t>
            </a:r>
            <a:r>
              <a:rPr sz="1200" dirty="0">
                <a:solidFill>
                  <a:srgbClr val="333333"/>
                </a:solidFill>
                <a:latin typeface="メイリオ" panose="020B0604030504040204" pitchFamily="50" charset="-128"/>
                <a:ea typeface="メイリオ" panose="020B0604030504040204" pitchFamily="50" charset="-128"/>
              </a:rPr>
              <a:t>） → 0〜3日＝多摩美・東京芸大など代表校を認知 → </a:t>
            </a:r>
            <a:r>
              <a:rPr sz="1200" dirty="0" err="1">
                <a:solidFill>
                  <a:srgbClr val="333333"/>
                </a:solidFill>
                <a:latin typeface="メイリオ" panose="020B0604030504040204" pitchFamily="50" charset="-128"/>
                <a:ea typeface="メイリオ" panose="020B0604030504040204" pitchFamily="50" charset="-128"/>
              </a:rPr>
              <a:t>後＝女子美・武蔵美や専門学校へ拡大、職業・資格</a:t>
            </a:r>
            <a:r>
              <a:rPr lang="ja-JP" altLang="en-US" sz="1200" dirty="0">
                <a:solidFill>
                  <a:srgbClr val="333333"/>
                </a:solidFill>
                <a:latin typeface="メイリオ" panose="020B0604030504040204" pitchFamily="50" charset="-128"/>
                <a:ea typeface="メイリオ" panose="020B0604030504040204" pitchFamily="50" charset="-128"/>
              </a:rPr>
              <a:t>といった将来の進路を</a:t>
            </a:r>
            <a:r>
              <a:rPr sz="1200" dirty="0" err="1">
                <a:solidFill>
                  <a:srgbClr val="333333"/>
                </a:solidFill>
                <a:latin typeface="メイリオ" panose="020B0604030504040204" pitchFamily="50" charset="-128"/>
                <a:ea typeface="メイリオ" panose="020B0604030504040204" pitchFamily="50" charset="-128"/>
              </a:rPr>
              <a:t>確認</a:t>
            </a:r>
            <a:endParaRPr sz="1200" dirty="0">
              <a:solidFill>
                <a:srgbClr val="333333"/>
              </a:solidFill>
              <a:latin typeface="メイリオ" panose="020B0604030504040204" pitchFamily="50" charset="-128"/>
              <a:ea typeface="メイリオ" panose="020B0604030504040204" pitchFamily="50" charset="-128"/>
            </a:endParaRPr>
          </a:p>
          <a:p>
            <a:r>
              <a:rPr sz="1200" b="1" dirty="0">
                <a:solidFill>
                  <a:srgbClr val="1F3A5F"/>
                </a:solidFill>
                <a:latin typeface="メイリオ"/>
              </a:rPr>
              <a:t>⇒ </a:t>
            </a:r>
            <a:r>
              <a:rPr sz="1200" b="1" dirty="0" err="1">
                <a:solidFill>
                  <a:srgbClr val="1F3A5F"/>
                </a:solidFill>
                <a:latin typeface="メイリオ"/>
              </a:rPr>
              <a:t>校名を知らない段階で友だち化できる唯一のゾーン。分野コンテンツ（大学と専門の違い・学費・就職）で指名を作る</a:t>
            </a:r>
            <a:endParaRPr sz="1200" b="1" dirty="0">
              <a:solidFill>
                <a:srgbClr val="1F3A5F"/>
              </a:solidFill>
              <a:latin typeface="メイリオ"/>
            </a:endParaRPr>
          </a:p>
        </p:txBody>
      </p:sp>
      <p:pic>
        <p:nvPicPr>
          <p:cNvPr id="4" name="図 3">
            <a:extLst>
              <a:ext uri="{FF2B5EF4-FFF2-40B4-BE49-F238E27FC236}">
                <a16:creationId xmlns:a16="http://schemas.microsoft.com/office/drawing/2014/main" id="{96108315-21EB-E189-F5A3-B919C9FE6D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062" y="1146565"/>
            <a:ext cx="7851877" cy="4182292"/>
          </a:xfrm>
          <a:prstGeom prst="rect">
            <a:avLst/>
          </a:prstGeom>
        </p:spPr>
      </p:pic>
      <p:sp>
        <p:nvSpPr>
          <p:cNvPr id="35" name="テキスト ボックス 34">
            <a:extLst>
              <a:ext uri="{FF2B5EF4-FFF2-40B4-BE49-F238E27FC236}">
                <a16:creationId xmlns:a16="http://schemas.microsoft.com/office/drawing/2014/main" id="{B09A8CEE-08C8-FA74-13CC-E7CDF2442483}"/>
              </a:ext>
            </a:extLst>
          </p:cNvPr>
          <p:cNvSpPr txBox="1"/>
          <p:nvPr/>
        </p:nvSpPr>
        <p:spPr>
          <a:xfrm>
            <a:off x="548883" y="1131871"/>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4D41DEC4-E5DE-B6BA-3284-9E7C11FF0A49}"/>
              </a:ext>
            </a:extLst>
          </p:cNvPr>
          <p:cNvSpPr txBox="1"/>
          <p:nvPr/>
        </p:nvSpPr>
        <p:spPr>
          <a:xfrm>
            <a:off x="4811336" y="1760362"/>
            <a:ext cx="1548000"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pic>
        <p:nvPicPr>
          <p:cNvPr id="156" name="Picture 155" descr="image.png"/>
          <p:cNvPicPr>
            <a:picLocks noChangeAspect="1"/>
          </p:cNvPicPr>
          <p:nvPr/>
        </p:nvPicPr>
        <p:blipFill>
          <a:blip r:embed="rId4"/>
          <a:stretch>
            <a:fillRect/>
          </a:stretch>
        </p:blipFill>
        <p:spPr>
          <a:xfrm>
            <a:off x="5688351" y="1303407"/>
            <a:ext cx="432000" cy="432000"/>
          </a:xfrm>
          <a:prstGeom prst="rect">
            <a:avLst/>
          </a:prstGeom>
        </p:spPr>
      </p:pic>
      <p:sp>
        <p:nvSpPr>
          <p:cNvPr id="37" name="四角形: 角を丸くする 36">
            <a:extLst>
              <a:ext uri="{FF2B5EF4-FFF2-40B4-BE49-F238E27FC236}">
                <a16:creationId xmlns:a16="http://schemas.microsoft.com/office/drawing/2014/main" id="{634D9C4D-854D-D279-B738-CD47C3260CE0}"/>
              </a:ext>
            </a:extLst>
          </p:cNvPr>
          <p:cNvSpPr/>
          <p:nvPr/>
        </p:nvSpPr>
        <p:spPr>
          <a:xfrm>
            <a:off x="8294350" y="126549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美大・芸大</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9" name="四角形: 角を丸くする 38">
            <a:extLst>
              <a:ext uri="{FF2B5EF4-FFF2-40B4-BE49-F238E27FC236}">
                <a16:creationId xmlns:a16="http://schemas.microsoft.com/office/drawing/2014/main" id="{4EA5DFB2-CBE5-913A-CD42-88E0BA1CDC80}"/>
              </a:ext>
            </a:extLst>
          </p:cNvPr>
          <p:cNvSpPr/>
          <p:nvPr/>
        </p:nvSpPr>
        <p:spPr>
          <a:xfrm>
            <a:off x="8294350" y="1554614"/>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専門学校・他大</a:t>
            </a:r>
            <a:endParaRPr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41" name="四角形: 角を丸くする 40">
            <a:extLst>
              <a:ext uri="{FF2B5EF4-FFF2-40B4-BE49-F238E27FC236}">
                <a16:creationId xmlns:a16="http://schemas.microsoft.com/office/drawing/2014/main" id="{916D3B08-1552-5D7B-5F9D-F1606F5628DA}"/>
              </a:ext>
            </a:extLst>
          </p:cNvPr>
          <p:cNvSpPr/>
          <p:nvPr/>
        </p:nvSpPr>
        <p:spPr>
          <a:xfrm>
            <a:off x="8294350" y="184964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職業・資格</a:t>
            </a:r>
          </a:p>
        </p:txBody>
      </p:sp>
      <p:sp>
        <p:nvSpPr>
          <p:cNvPr id="43" name="四角形: 角を丸くする 42">
            <a:extLst>
              <a:ext uri="{FF2B5EF4-FFF2-40B4-BE49-F238E27FC236}">
                <a16:creationId xmlns:a16="http://schemas.microsoft.com/office/drawing/2014/main" id="{3DB43549-E4B9-4919-87CF-7240CAB93DC0}"/>
              </a:ext>
            </a:extLst>
          </p:cNvPr>
          <p:cNvSpPr/>
          <p:nvPr/>
        </p:nvSpPr>
        <p:spPr>
          <a:xfrm>
            <a:off x="8294350" y="970456"/>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分野ランキング</a:t>
            </a:r>
          </a:p>
        </p:txBody>
      </p:sp>
      <p:sp>
        <p:nvSpPr>
          <p:cNvPr id="29" name="四角形: 角を丸くする 28">
            <a:extLst>
              <a:ext uri="{FF2B5EF4-FFF2-40B4-BE49-F238E27FC236}">
                <a16:creationId xmlns:a16="http://schemas.microsoft.com/office/drawing/2014/main" id="{87060E1E-9200-1060-E487-87BF812AFA4C}"/>
              </a:ext>
            </a:extLst>
          </p:cNvPr>
          <p:cNvSpPr/>
          <p:nvPr/>
        </p:nvSpPr>
        <p:spPr>
          <a:xfrm>
            <a:off x="4625998" y="1146565"/>
            <a:ext cx="3165451" cy="907355"/>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3" name="四角形: 角を丸くする 32">
            <a:extLst>
              <a:ext uri="{FF2B5EF4-FFF2-40B4-BE49-F238E27FC236}">
                <a16:creationId xmlns:a16="http://schemas.microsoft.com/office/drawing/2014/main" id="{AB35EDAD-E90D-D017-25FC-61200DD2C13C}"/>
              </a:ext>
            </a:extLst>
          </p:cNvPr>
          <p:cNvSpPr/>
          <p:nvPr/>
        </p:nvSpPr>
        <p:spPr>
          <a:xfrm>
            <a:off x="7299451" y="4674165"/>
            <a:ext cx="1332639" cy="325245"/>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44" name="四角形: 角を丸くする 43">
            <a:extLst>
              <a:ext uri="{FF2B5EF4-FFF2-40B4-BE49-F238E27FC236}">
                <a16:creationId xmlns:a16="http://schemas.microsoft.com/office/drawing/2014/main" id="{FA9F237D-4EC6-D5AE-DD02-0C8E053BCB91}"/>
              </a:ext>
            </a:extLst>
          </p:cNvPr>
          <p:cNvSpPr/>
          <p:nvPr/>
        </p:nvSpPr>
        <p:spPr>
          <a:xfrm>
            <a:off x="2177821" y="4400016"/>
            <a:ext cx="908279" cy="16563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0" name="四角形: 角を丸くする 39">
            <a:extLst>
              <a:ext uri="{FF2B5EF4-FFF2-40B4-BE49-F238E27FC236}">
                <a16:creationId xmlns:a16="http://schemas.microsoft.com/office/drawing/2014/main" id="{1598699C-2214-B91E-4228-E2361E8A3F18}"/>
              </a:ext>
            </a:extLst>
          </p:cNvPr>
          <p:cNvSpPr/>
          <p:nvPr/>
        </p:nvSpPr>
        <p:spPr>
          <a:xfrm>
            <a:off x="4559684" y="3275082"/>
            <a:ext cx="822214" cy="153918"/>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8" name="四角形: 角を丸くする 47">
            <a:extLst>
              <a:ext uri="{FF2B5EF4-FFF2-40B4-BE49-F238E27FC236}">
                <a16:creationId xmlns:a16="http://schemas.microsoft.com/office/drawing/2014/main" id="{775A2F07-B1AE-4957-8DB6-5A82BBD42F40}"/>
              </a:ext>
            </a:extLst>
          </p:cNvPr>
          <p:cNvSpPr/>
          <p:nvPr/>
        </p:nvSpPr>
        <p:spPr>
          <a:xfrm>
            <a:off x="4658017" y="2970237"/>
            <a:ext cx="1030334" cy="225767"/>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2" name="四角形: 角を丸くする 51">
            <a:extLst>
              <a:ext uri="{FF2B5EF4-FFF2-40B4-BE49-F238E27FC236}">
                <a16:creationId xmlns:a16="http://schemas.microsoft.com/office/drawing/2014/main" id="{19E77465-856D-01B2-8484-B01BEF0EC0DE}"/>
              </a:ext>
            </a:extLst>
          </p:cNvPr>
          <p:cNvSpPr/>
          <p:nvPr/>
        </p:nvSpPr>
        <p:spPr>
          <a:xfrm>
            <a:off x="4718532" y="3538918"/>
            <a:ext cx="3072917" cy="89983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4" name="四角形: 角を丸くする 53">
            <a:extLst>
              <a:ext uri="{FF2B5EF4-FFF2-40B4-BE49-F238E27FC236}">
                <a16:creationId xmlns:a16="http://schemas.microsoft.com/office/drawing/2014/main" id="{19375DEF-B389-B1DF-AE77-2419153A1B92}"/>
              </a:ext>
            </a:extLst>
          </p:cNvPr>
          <p:cNvSpPr/>
          <p:nvPr/>
        </p:nvSpPr>
        <p:spPr>
          <a:xfrm>
            <a:off x="4450835" y="4124193"/>
            <a:ext cx="1185818" cy="791323"/>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6" name="四角形: 角を丸くする 55">
            <a:extLst>
              <a:ext uri="{FF2B5EF4-FFF2-40B4-BE49-F238E27FC236}">
                <a16:creationId xmlns:a16="http://schemas.microsoft.com/office/drawing/2014/main" id="{52C65793-3EEA-94BD-AB24-9695E62494FF}"/>
              </a:ext>
            </a:extLst>
          </p:cNvPr>
          <p:cNvSpPr/>
          <p:nvPr/>
        </p:nvSpPr>
        <p:spPr>
          <a:xfrm>
            <a:off x="7791449" y="3912537"/>
            <a:ext cx="735842" cy="71325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8" name="四角形: 角を丸くする 57">
            <a:extLst>
              <a:ext uri="{FF2B5EF4-FFF2-40B4-BE49-F238E27FC236}">
                <a16:creationId xmlns:a16="http://schemas.microsoft.com/office/drawing/2014/main" id="{01EE7FD0-78CF-3765-4527-359DA04AC245}"/>
              </a:ext>
            </a:extLst>
          </p:cNvPr>
          <p:cNvSpPr/>
          <p:nvPr/>
        </p:nvSpPr>
        <p:spPr>
          <a:xfrm>
            <a:off x="4658017" y="2783202"/>
            <a:ext cx="978635" cy="18703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39084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E4871-10D3-7DD9-C062-588E92555ED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13F37F8D-AB67-D7F2-FD0D-FDE5D3D841C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436A77DD-50AB-770D-B0FE-835FE6583A81}"/>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sp>
        <p:nvSpPr>
          <p:cNvPr id="10" name="正方形/長方形 9">
            <a:extLst>
              <a:ext uri="{FF2B5EF4-FFF2-40B4-BE49-F238E27FC236}">
                <a16:creationId xmlns:a16="http://schemas.microsoft.com/office/drawing/2014/main" id="{2D1E2563-6431-F5D9-6489-337DE5C0C015}"/>
              </a:ext>
            </a:extLst>
          </p:cNvPr>
          <p:cNvSpPr/>
          <p:nvPr/>
        </p:nvSpPr>
        <p:spPr>
          <a:xfrm>
            <a:off x="902545" y="5432835"/>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2" name="正方形/長方形 11">
            <a:extLst>
              <a:ext uri="{FF2B5EF4-FFF2-40B4-BE49-F238E27FC236}">
                <a16:creationId xmlns:a16="http://schemas.microsoft.com/office/drawing/2014/main" id="{23F0EA12-977A-A572-EB5F-8F496DF54BDD}"/>
              </a:ext>
            </a:extLst>
          </p:cNvPr>
          <p:cNvSpPr/>
          <p:nvPr/>
        </p:nvSpPr>
        <p:spPr>
          <a:xfrm>
            <a:off x="4921550" y="5432835"/>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14" name="直線矢印コネクタ 13">
            <a:extLst>
              <a:ext uri="{FF2B5EF4-FFF2-40B4-BE49-F238E27FC236}">
                <a16:creationId xmlns:a16="http://schemas.microsoft.com/office/drawing/2014/main" id="{6E286B71-B806-37E3-A7F2-44679053D880}"/>
              </a:ext>
            </a:extLst>
          </p:cNvPr>
          <p:cNvCxnSpPr>
            <a:cxnSpLocks/>
          </p:cNvCxnSpPr>
          <p:nvPr/>
        </p:nvCxnSpPr>
        <p:spPr>
          <a:xfrm flipV="1">
            <a:off x="619910" y="1088800"/>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181F52C6-BC98-56A5-6FA8-3511713AED55}"/>
              </a:ext>
            </a:extLst>
          </p:cNvPr>
          <p:cNvSpPr txBox="1"/>
          <p:nvPr/>
        </p:nvSpPr>
        <p:spPr>
          <a:xfrm>
            <a:off x="2358843" y="847620"/>
            <a:ext cx="1576252"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12DA9903-11AC-A561-362F-0A0906338F89}"/>
              </a:ext>
            </a:extLst>
          </p:cNvPr>
          <p:cNvSpPr/>
          <p:nvPr/>
        </p:nvSpPr>
        <p:spPr>
          <a:xfrm>
            <a:off x="619910" y="847379"/>
            <a:ext cx="1750000"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rPr>
              <a:t>東京柔道整復専門学校</a:t>
            </a:r>
          </a:p>
        </p:txBody>
      </p:sp>
      <p:sp>
        <p:nvSpPr>
          <p:cNvPr id="47" name="TextBox 46">
            <a:extLst>
              <a:ext uri="{FF2B5EF4-FFF2-40B4-BE49-F238E27FC236}">
                <a16:creationId xmlns:a16="http://schemas.microsoft.com/office/drawing/2014/main" id="{10ADBD2C-4F32-7E33-DF6F-D41522601EC3}"/>
              </a:ext>
            </a:extLst>
          </p:cNvPr>
          <p:cNvSpPr txBox="1"/>
          <p:nvPr/>
        </p:nvSpPr>
        <p:spPr>
          <a:xfrm>
            <a:off x="313550" y="5766026"/>
            <a:ext cx="9216000" cy="646331"/>
          </a:xfrm>
          <a:prstGeom prst="rect">
            <a:avLst/>
          </a:prstGeom>
          <a:noFill/>
        </p:spPr>
        <p:txBody>
          <a:bodyPr wrap="square">
            <a:spAutoFit/>
          </a:bodyPr>
          <a:lstStyle/>
          <a:p>
            <a:r>
              <a:rPr sz="1200" dirty="0">
                <a:solidFill>
                  <a:srgbClr val="333333"/>
                </a:solidFill>
                <a:latin typeface="メイリオ"/>
              </a:rPr>
              <a:t>前＝「</a:t>
            </a:r>
            <a:r>
              <a:rPr sz="1200" dirty="0" err="1">
                <a:solidFill>
                  <a:srgbClr val="333333"/>
                </a:solidFill>
                <a:latin typeface="メイリオ"/>
              </a:rPr>
              <a:t>柔道整復師</a:t>
            </a:r>
            <a:r>
              <a:rPr sz="1200" dirty="0">
                <a:solidFill>
                  <a:srgbClr val="333333"/>
                </a:solidFill>
                <a:latin typeface="メイリオ"/>
              </a:rPr>
              <a:t>」＝</a:t>
            </a:r>
            <a:r>
              <a:rPr sz="1200" dirty="0" err="1">
                <a:solidFill>
                  <a:srgbClr val="333333"/>
                </a:solidFill>
                <a:latin typeface="メイリオ"/>
              </a:rPr>
              <a:t>資格起点、大学ルートも並行検討</a:t>
            </a:r>
            <a:r>
              <a:rPr sz="1200" dirty="0">
                <a:solidFill>
                  <a:srgbClr val="333333"/>
                </a:solidFill>
                <a:latin typeface="メイリオ"/>
              </a:rPr>
              <a:t> → 0〜3日＝指名と同時に他の医療系専門校を比較 → </a:t>
            </a:r>
            <a:r>
              <a:rPr sz="1200" dirty="0" err="1">
                <a:solidFill>
                  <a:srgbClr val="333333"/>
                </a:solidFill>
                <a:latin typeface="メイリオ"/>
              </a:rPr>
              <a:t>後＝年収・合格率・隣接資格を確認</a:t>
            </a:r>
            <a:endParaRPr sz="1200" dirty="0">
              <a:solidFill>
                <a:srgbClr val="333333"/>
              </a:solidFill>
              <a:latin typeface="メイリオ"/>
            </a:endParaRPr>
          </a:p>
          <a:p>
            <a:r>
              <a:rPr sz="1200" b="1" dirty="0">
                <a:solidFill>
                  <a:srgbClr val="1F3A5F"/>
                </a:solidFill>
                <a:latin typeface="メイリオ"/>
              </a:rPr>
              <a:t>⇒ </a:t>
            </a:r>
            <a:r>
              <a:rPr sz="1200" b="1" dirty="0" err="1">
                <a:solidFill>
                  <a:srgbClr val="1F3A5F"/>
                </a:solidFill>
                <a:latin typeface="メイリオ"/>
              </a:rPr>
              <a:t>資料請求時にLINE接点を確保し、合格率・就職先・年収・学費</a:t>
            </a:r>
            <a:r>
              <a:rPr sz="1200" b="1" dirty="0">
                <a:solidFill>
                  <a:srgbClr val="1F3A5F"/>
                </a:solidFill>
                <a:latin typeface="メイリオ"/>
              </a:rPr>
              <a:t>/</a:t>
            </a:r>
            <a:r>
              <a:rPr sz="1200" b="1" dirty="0" err="1">
                <a:solidFill>
                  <a:srgbClr val="1F3A5F"/>
                </a:solidFill>
                <a:latin typeface="メイリオ"/>
              </a:rPr>
              <a:t>奨学金を配信して出口不安を先回りで潰す</a:t>
            </a:r>
            <a:endParaRPr sz="1200" b="1" dirty="0">
              <a:solidFill>
                <a:srgbClr val="1F3A5F"/>
              </a:solidFill>
              <a:latin typeface="メイリオ"/>
            </a:endParaRPr>
          </a:p>
        </p:txBody>
      </p:sp>
      <p:pic>
        <p:nvPicPr>
          <p:cNvPr id="7" name="図 6">
            <a:extLst>
              <a:ext uri="{FF2B5EF4-FFF2-40B4-BE49-F238E27FC236}">
                <a16:creationId xmlns:a16="http://schemas.microsoft.com/office/drawing/2014/main" id="{929887B5-C764-A9C2-62C1-3C792FF9D5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7489" y="1208604"/>
            <a:ext cx="7822882" cy="4198029"/>
          </a:xfrm>
          <a:prstGeom prst="rect">
            <a:avLst/>
          </a:prstGeom>
        </p:spPr>
      </p:pic>
      <p:sp>
        <p:nvSpPr>
          <p:cNvPr id="16" name="テキスト ボックス 15">
            <a:extLst>
              <a:ext uri="{FF2B5EF4-FFF2-40B4-BE49-F238E27FC236}">
                <a16:creationId xmlns:a16="http://schemas.microsoft.com/office/drawing/2014/main" id="{20A6592A-2A06-F7E8-5EA3-3EAC9010ADC4}"/>
              </a:ext>
            </a:extLst>
          </p:cNvPr>
          <p:cNvSpPr txBox="1"/>
          <p:nvPr/>
        </p:nvSpPr>
        <p:spPr>
          <a:xfrm>
            <a:off x="4060201" y="1754898"/>
            <a:ext cx="1548000"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pic>
        <p:nvPicPr>
          <p:cNvPr id="156" name="Picture 155" descr="image.png">
            <a:extLst>
              <a:ext uri="{FF2B5EF4-FFF2-40B4-BE49-F238E27FC236}">
                <a16:creationId xmlns:a16="http://schemas.microsoft.com/office/drawing/2014/main" id="{0F35C2B0-55B6-4665-EA78-6179DA95D903}"/>
              </a:ext>
            </a:extLst>
          </p:cNvPr>
          <p:cNvPicPr>
            <a:picLocks noChangeAspect="1"/>
          </p:cNvPicPr>
          <p:nvPr/>
        </p:nvPicPr>
        <p:blipFill>
          <a:blip r:embed="rId4"/>
          <a:stretch>
            <a:fillRect/>
          </a:stretch>
        </p:blipFill>
        <p:spPr>
          <a:xfrm>
            <a:off x="4528201" y="1322898"/>
            <a:ext cx="432000" cy="432000"/>
          </a:xfrm>
          <a:prstGeom prst="rect">
            <a:avLst/>
          </a:prstGeom>
        </p:spPr>
      </p:pic>
      <p:sp>
        <p:nvSpPr>
          <p:cNvPr id="37" name="四角形: 角を丸くする 36">
            <a:extLst>
              <a:ext uri="{FF2B5EF4-FFF2-40B4-BE49-F238E27FC236}">
                <a16:creationId xmlns:a16="http://schemas.microsoft.com/office/drawing/2014/main" id="{2B10F95F-B70C-1961-7E61-1EF39D550C88}"/>
              </a:ext>
            </a:extLst>
          </p:cNvPr>
          <p:cNvSpPr/>
          <p:nvPr/>
        </p:nvSpPr>
        <p:spPr>
          <a:xfrm>
            <a:off x="8294350" y="1359644"/>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専門学校</a:t>
            </a:r>
          </a:p>
        </p:txBody>
      </p:sp>
      <p:sp>
        <p:nvSpPr>
          <p:cNvPr id="39" name="四角形: 角を丸くする 38">
            <a:extLst>
              <a:ext uri="{FF2B5EF4-FFF2-40B4-BE49-F238E27FC236}">
                <a16:creationId xmlns:a16="http://schemas.microsoft.com/office/drawing/2014/main" id="{D02674E6-6F34-3C34-968C-7192620F0D32}"/>
              </a:ext>
            </a:extLst>
          </p:cNvPr>
          <p:cNvSpPr/>
          <p:nvPr/>
        </p:nvSpPr>
        <p:spPr>
          <a:xfrm>
            <a:off x="8294350" y="1648767"/>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大学・他分野校</a:t>
            </a:r>
            <a:endParaRPr kumimoji="1"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41" name="四角形: 角を丸くする 40">
            <a:extLst>
              <a:ext uri="{FF2B5EF4-FFF2-40B4-BE49-F238E27FC236}">
                <a16:creationId xmlns:a16="http://schemas.microsoft.com/office/drawing/2014/main" id="{83A1A1B2-2396-8C2D-A194-4F7AC1413457}"/>
              </a:ext>
            </a:extLst>
          </p:cNvPr>
          <p:cNvSpPr/>
          <p:nvPr/>
        </p:nvSpPr>
        <p:spPr>
          <a:xfrm>
            <a:off x="8294350" y="1943802"/>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合格率・</a:t>
            </a:r>
            <a:r>
              <a:rPr lang="ja-JP" altLang="en-US" sz="1000" dirty="0">
                <a:solidFill>
                  <a:schemeClr val="tx1"/>
                </a:solidFill>
                <a:latin typeface="メイリオ" panose="020B0604030504040204" pitchFamily="50" charset="-128"/>
                <a:ea typeface="メイリオ" panose="020B0604030504040204" pitchFamily="50" charset="-128"/>
              </a:rPr>
              <a:t>将来</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3" name="四角形: 角を丸くする 42">
            <a:extLst>
              <a:ext uri="{FF2B5EF4-FFF2-40B4-BE49-F238E27FC236}">
                <a16:creationId xmlns:a16="http://schemas.microsoft.com/office/drawing/2014/main" id="{4A4102F5-3970-E5A0-29F4-C3959C3CF107}"/>
              </a:ext>
            </a:extLst>
          </p:cNvPr>
          <p:cNvSpPr/>
          <p:nvPr/>
        </p:nvSpPr>
        <p:spPr>
          <a:xfrm>
            <a:off x="8294350" y="106460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資格・国家試験</a:t>
            </a:r>
          </a:p>
        </p:txBody>
      </p:sp>
      <p:sp>
        <p:nvSpPr>
          <p:cNvPr id="35" name="テキスト ボックス 34">
            <a:extLst>
              <a:ext uri="{FF2B5EF4-FFF2-40B4-BE49-F238E27FC236}">
                <a16:creationId xmlns:a16="http://schemas.microsoft.com/office/drawing/2014/main" id="{44E92CB0-7336-02E0-5F5E-D626F4A32DCC}"/>
              </a:ext>
            </a:extLst>
          </p:cNvPr>
          <p:cNvSpPr txBox="1"/>
          <p:nvPr/>
        </p:nvSpPr>
        <p:spPr>
          <a:xfrm>
            <a:off x="548883" y="1226024"/>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71B2DCB2-FF9A-CBB7-9882-9301C691B795}"/>
              </a:ext>
            </a:extLst>
          </p:cNvPr>
          <p:cNvSpPr/>
          <p:nvPr/>
        </p:nvSpPr>
        <p:spPr>
          <a:xfrm>
            <a:off x="4578930" y="3995090"/>
            <a:ext cx="875720" cy="134445"/>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46B370E4-1DC6-3D39-44C5-A2F32DD1E9CB}"/>
              </a:ext>
            </a:extLst>
          </p:cNvPr>
          <p:cNvSpPr/>
          <p:nvPr/>
        </p:nvSpPr>
        <p:spPr>
          <a:xfrm>
            <a:off x="7014411" y="3797131"/>
            <a:ext cx="566255"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13" name="四角形: 角を丸くする 12">
            <a:extLst>
              <a:ext uri="{FF2B5EF4-FFF2-40B4-BE49-F238E27FC236}">
                <a16:creationId xmlns:a16="http://schemas.microsoft.com/office/drawing/2014/main" id="{5656A3E4-966B-5E98-34DD-2F9C24EFB97F}"/>
              </a:ext>
            </a:extLst>
          </p:cNvPr>
          <p:cNvSpPr/>
          <p:nvPr/>
        </p:nvSpPr>
        <p:spPr>
          <a:xfrm>
            <a:off x="7014411" y="4798483"/>
            <a:ext cx="1185818" cy="15595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7" name="四角形: 角を丸くする 16">
            <a:extLst>
              <a:ext uri="{FF2B5EF4-FFF2-40B4-BE49-F238E27FC236}">
                <a16:creationId xmlns:a16="http://schemas.microsoft.com/office/drawing/2014/main" id="{9C58C803-B298-38BD-C487-65D58BF5B10C}"/>
              </a:ext>
            </a:extLst>
          </p:cNvPr>
          <p:cNvSpPr/>
          <p:nvPr/>
        </p:nvSpPr>
        <p:spPr>
          <a:xfrm>
            <a:off x="2319056" y="1245093"/>
            <a:ext cx="506278" cy="217427"/>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AFFA8DA7-85D2-09E6-54D4-08E7FE0F6E49}"/>
              </a:ext>
            </a:extLst>
          </p:cNvPr>
          <p:cNvSpPr/>
          <p:nvPr/>
        </p:nvSpPr>
        <p:spPr>
          <a:xfrm>
            <a:off x="4596180" y="4645315"/>
            <a:ext cx="858470" cy="206085"/>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3" name="四角形: 角を丸くする 22">
            <a:extLst>
              <a:ext uri="{FF2B5EF4-FFF2-40B4-BE49-F238E27FC236}">
                <a16:creationId xmlns:a16="http://schemas.microsoft.com/office/drawing/2014/main" id="{AB95498C-AC30-0748-514C-8E9A63DF0565}"/>
              </a:ext>
            </a:extLst>
          </p:cNvPr>
          <p:cNvSpPr/>
          <p:nvPr/>
        </p:nvSpPr>
        <p:spPr>
          <a:xfrm>
            <a:off x="4578930" y="3845105"/>
            <a:ext cx="1185818" cy="140435"/>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5" name="四角形: 角を丸くする 24">
            <a:extLst>
              <a:ext uri="{FF2B5EF4-FFF2-40B4-BE49-F238E27FC236}">
                <a16:creationId xmlns:a16="http://schemas.microsoft.com/office/drawing/2014/main" id="{A75AE4D9-2565-D32C-03F3-4B354DFB52DD}"/>
              </a:ext>
            </a:extLst>
          </p:cNvPr>
          <p:cNvSpPr/>
          <p:nvPr/>
        </p:nvSpPr>
        <p:spPr>
          <a:xfrm>
            <a:off x="7838439" y="4231772"/>
            <a:ext cx="699509" cy="15595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 name="四角形: 角を丸くする 26">
            <a:extLst>
              <a:ext uri="{FF2B5EF4-FFF2-40B4-BE49-F238E27FC236}">
                <a16:creationId xmlns:a16="http://schemas.microsoft.com/office/drawing/2014/main" id="{6B1EF983-B8E8-1660-6771-00F59A83A92B}"/>
              </a:ext>
            </a:extLst>
          </p:cNvPr>
          <p:cNvSpPr/>
          <p:nvPr/>
        </p:nvSpPr>
        <p:spPr>
          <a:xfrm>
            <a:off x="1269074" y="3267807"/>
            <a:ext cx="876037"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31" name="四角形: 角を丸くする 30">
            <a:extLst>
              <a:ext uri="{FF2B5EF4-FFF2-40B4-BE49-F238E27FC236}">
                <a16:creationId xmlns:a16="http://schemas.microsoft.com/office/drawing/2014/main" id="{48BE0E53-E89A-109D-1032-F598DB5B474F}"/>
              </a:ext>
            </a:extLst>
          </p:cNvPr>
          <p:cNvSpPr/>
          <p:nvPr/>
        </p:nvSpPr>
        <p:spPr>
          <a:xfrm>
            <a:off x="2260600" y="4319629"/>
            <a:ext cx="2164080" cy="706873"/>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33" name="四角形: 角を丸くする 32">
            <a:extLst>
              <a:ext uri="{FF2B5EF4-FFF2-40B4-BE49-F238E27FC236}">
                <a16:creationId xmlns:a16="http://schemas.microsoft.com/office/drawing/2014/main" id="{9F194E47-BEBE-C56D-708F-9B3E7389BFD1}"/>
              </a:ext>
            </a:extLst>
          </p:cNvPr>
          <p:cNvSpPr/>
          <p:nvPr/>
        </p:nvSpPr>
        <p:spPr>
          <a:xfrm>
            <a:off x="4596180" y="5063604"/>
            <a:ext cx="1185818" cy="180327"/>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36" name="四角形: 角を丸くする 35">
            <a:extLst>
              <a:ext uri="{FF2B5EF4-FFF2-40B4-BE49-F238E27FC236}">
                <a16:creationId xmlns:a16="http://schemas.microsoft.com/office/drawing/2014/main" id="{855E5AFA-5CB7-EA65-2EBD-74296B04BF4D}"/>
              </a:ext>
            </a:extLst>
          </p:cNvPr>
          <p:cNvSpPr/>
          <p:nvPr/>
        </p:nvSpPr>
        <p:spPr>
          <a:xfrm>
            <a:off x="4578930" y="2569495"/>
            <a:ext cx="948494"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0" name="四角形: 角を丸くする 39">
            <a:extLst>
              <a:ext uri="{FF2B5EF4-FFF2-40B4-BE49-F238E27FC236}">
                <a16:creationId xmlns:a16="http://schemas.microsoft.com/office/drawing/2014/main" id="{5CD746CF-4FF8-7643-03B2-3B2BF5E5C0AE}"/>
              </a:ext>
            </a:extLst>
          </p:cNvPr>
          <p:cNvSpPr/>
          <p:nvPr/>
        </p:nvSpPr>
        <p:spPr>
          <a:xfrm>
            <a:off x="1164786" y="2470515"/>
            <a:ext cx="948494"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4" name="四角形: 角を丸くする 43">
            <a:extLst>
              <a:ext uri="{FF2B5EF4-FFF2-40B4-BE49-F238E27FC236}">
                <a16:creationId xmlns:a16="http://schemas.microsoft.com/office/drawing/2014/main" id="{B96344EF-8D1C-D167-233A-4FE8DCC7E59E}"/>
              </a:ext>
            </a:extLst>
          </p:cNvPr>
          <p:cNvSpPr/>
          <p:nvPr/>
        </p:nvSpPr>
        <p:spPr>
          <a:xfrm>
            <a:off x="2260600" y="5026503"/>
            <a:ext cx="645160" cy="217427"/>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8" name="四角形: 角を丸くする 47">
            <a:extLst>
              <a:ext uri="{FF2B5EF4-FFF2-40B4-BE49-F238E27FC236}">
                <a16:creationId xmlns:a16="http://schemas.microsoft.com/office/drawing/2014/main" id="{1A58EFA8-99A1-B439-C232-5524AEA2BC90}"/>
              </a:ext>
            </a:extLst>
          </p:cNvPr>
          <p:cNvSpPr/>
          <p:nvPr/>
        </p:nvSpPr>
        <p:spPr>
          <a:xfrm>
            <a:off x="4596180" y="4881335"/>
            <a:ext cx="1185818" cy="18226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0" name="四角形: 角を丸くする 49">
            <a:extLst>
              <a:ext uri="{FF2B5EF4-FFF2-40B4-BE49-F238E27FC236}">
                <a16:creationId xmlns:a16="http://schemas.microsoft.com/office/drawing/2014/main" id="{5290CCC5-1DD7-3E82-1A54-B0118F732DB0}"/>
              </a:ext>
            </a:extLst>
          </p:cNvPr>
          <p:cNvSpPr/>
          <p:nvPr/>
        </p:nvSpPr>
        <p:spPr>
          <a:xfrm>
            <a:off x="4662952" y="4433111"/>
            <a:ext cx="764157" cy="140435"/>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2" name="四角形: 角を丸くする 51">
            <a:extLst>
              <a:ext uri="{FF2B5EF4-FFF2-40B4-BE49-F238E27FC236}">
                <a16:creationId xmlns:a16="http://schemas.microsoft.com/office/drawing/2014/main" id="{37F5B4B0-8482-14B1-707D-3E32606DA7FE}"/>
              </a:ext>
            </a:extLst>
          </p:cNvPr>
          <p:cNvSpPr/>
          <p:nvPr/>
        </p:nvSpPr>
        <p:spPr>
          <a:xfrm>
            <a:off x="4662953" y="3138975"/>
            <a:ext cx="1185818" cy="64517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4" name="四角形: 角を丸くする 53">
            <a:extLst>
              <a:ext uri="{FF2B5EF4-FFF2-40B4-BE49-F238E27FC236}">
                <a16:creationId xmlns:a16="http://schemas.microsoft.com/office/drawing/2014/main" id="{359A1FAF-DCF8-E0CE-CFE2-4D345BE570D5}"/>
              </a:ext>
            </a:extLst>
          </p:cNvPr>
          <p:cNvSpPr/>
          <p:nvPr/>
        </p:nvSpPr>
        <p:spPr>
          <a:xfrm>
            <a:off x="1830152" y="2188721"/>
            <a:ext cx="566255"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21720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356CEC6-1AE2-70AC-4ACA-400B9D728A79}"/>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99DA5A8-E206-903E-A096-E705AFAFE56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大学・専門学校ともLINE公式アカウントを受験生接点として運用（page.line.me 2026年7月22日調査）。</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大学上位は数十万友だち規模。「入口」×「継続接点」の設計を確認し、後発でも型で追いつく。</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5F2670A-819F-8FEC-6F6A-76B4A93BE2A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635BF88-F676-4A66-FA76-C66B8210C36B}"/>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sp>
        <p:nvSpPr>
          <p:cNvPr id="47" name="TextBox 46"/>
          <p:cNvSpPr txBox="1"/>
          <p:nvPr/>
        </p:nvSpPr>
        <p:spPr>
          <a:xfrm>
            <a:off x="4899672" y="1560000"/>
            <a:ext cx="4750328" cy="300000"/>
          </a:xfrm>
          <a:prstGeom prst="rect">
            <a:avLst/>
          </a:prstGeom>
          <a:noFill/>
        </p:spPr>
        <p:txBody>
          <a:bodyPr wrap="square">
            <a:spAutoFit/>
          </a:bodyPr>
          <a:lstStyle/>
          <a:p>
            <a:pPr algn="l"/>
            <a:r>
              <a:rPr sz="1250" b="1">
                <a:solidFill>
                  <a:srgbClr val="1F3A5F"/>
                </a:solidFill>
                <a:latin typeface="メイリオ"/>
              </a:rPr>
              <a:t>友だち数（2026/7/22時点・大学の例）</a:t>
            </a:r>
          </a:p>
        </p:txBody>
      </p:sp>
      <p:sp>
        <p:nvSpPr>
          <p:cNvPr id="48" name="TextBox 47"/>
          <p:cNvSpPr txBox="1"/>
          <p:nvPr/>
        </p:nvSpPr>
        <p:spPr>
          <a:xfrm>
            <a:off x="4899672" y="1980000"/>
            <a:ext cx="1500000" cy="260000"/>
          </a:xfrm>
          <a:prstGeom prst="rect">
            <a:avLst/>
          </a:prstGeom>
          <a:noFill/>
        </p:spPr>
        <p:txBody>
          <a:bodyPr wrap="square">
            <a:spAutoFit/>
          </a:bodyPr>
          <a:lstStyle/>
          <a:p>
            <a:pPr algn="l"/>
            <a:r>
              <a:rPr sz="1000" b="1">
                <a:solidFill>
                  <a:srgbClr val="333333"/>
                </a:solidFill>
                <a:latin typeface="メイリオ"/>
              </a:rPr>
              <a:t>明治大学入学センター</a:t>
            </a:r>
          </a:p>
        </p:txBody>
      </p:sp>
      <p:sp>
        <p:nvSpPr>
          <p:cNvPr id="50" name="TextBox 49"/>
          <p:cNvSpPr txBox="1"/>
          <p:nvPr/>
        </p:nvSpPr>
        <p:spPr>
          <a:xfrm>
            <a:off x="7902000" y="1980000"/>
            <a:ext cx="1500000" cy="260000"/>
          </a:xfrm>
          <a:prstGeom prst="rect">
            <a:avLst/>
          </a:prstGeom>
          <a:noFill/>
        </p:spPr>
        <p:txBody>
          <a:bodyPr wrap="square">
            <a:spAutoFit/>
          </a:bodyPr>
          <a:lstStyle/>
          <a:p>
            <a:pPr algn="l"/>
            <a:r>
              <a:rPr sz="950" b="0">
                <a:solidFill>
                  <a:srgbClr val="555555"/>
                </a:solidFill>
                <a:latin typeface="メイリオ"/>
              </a:rPr>
              <a:t>389,897</a:t>
            </a:r>
          </a:p>
        </p:txBody>
      </p:sp>
      <p:sp>
        <p:nvSpPr>
          <p:cNvPr id="51" name="TextBox 50"/>
          <p:cNvSpPr txBox="1"/>
          <p:nvPr/>
        </p:nvSpPr>
        <p:spPr>
          <a:xfrm>
            <a:off x="4899672" y="2380000"/>
            <a:ext cx="1500000" cy="260000"/>
          </a:xfrm>
          <a:prstGeom prst="rect">
            <a:avLst/>
          </a:prstGeom>
          <a:noFill/>
        </p:spPr>
        <p:txBody>
          <a:bodyPr wrap="square">
            <a:spAutoFit/>
          </a:bodyPr>
          <a:lstStyle/>
          <a:p>
            <a:pPr algn="l"/>
            <a:r>
              <a:rPr sz="1000" b="1">
                <a:solidFill>
                  <a:srgbClr val="333333"/>
                </a:solidFill>
                <a:latin typeface="メイリオ"/>
              </a:rPr>
              <a:t>近畿大学</a:t>
            </a:r>
          </a:p>
        </p:txBody>
      </p:sp>
      <p:sp>
        <p:nvSpPr>
          <p:cNvPr id="53" name="TextBox 52"/>
          <p:cNvSpPr txBox="1"/>
          <p:nvPr/>
        </p:nvSpPr>
        <p:spPr>
          <a:xfrm>
            <a:off x="6950909" y="2380000"/>
            <a:ext cx="1500000" cy="260000"/>
          </a:xfrm>
          <a:prstGeom prst="rect">
            <a:avLst/>
          </a:prstGeom>
          <a:noFill/>
        </p:spPr>
        <p:txBody>
          <a:bodyPr wrap="square">
            <a:spAutoFit/>
          </a:bodyPr>
          <a:lstStyle/>
          <a:p>
            <a:pPr algn="l"/>
            <a:r>
              <a:rPr sz="950" b="0">
                <a:solidFill>
                  <a:srgbClr val="555555"/>
                </a:solidFill>
                <a:latin typeface="メイリオ"/>
              </a:rPr>
              <a:t>132,378</a:t>
            </a:r>
          </a:p>
        </p:txBody>
      </p:sp>
      <p:sp>
        <p:nvSpPr>
          <p:cNvPr id="54" name="TextBox 53"/>
          <p:cNvSpPr txBox="1"/>
          <p:nvPr/>
        </p:nvSpPr>
        <p:spPr>
          <a:xfrm>
            <a:off x="4899672" y="2780000"/>
            <a:ext cx="1500000" cy="260000"/>
          </a:xfrm>
          <a:prstGeom prst="rect">
            <a:avLst/>
          </a:prstGeom>
          <a:noFill/>
        </p:spPr>
        <p:txBody>
          <a:bodyPr wrap="square">
            <a:spAutoFit/>
          </a:bodyPr>
          <a:lstStyle/>
          <a:p>
            <a:pPr algn="l"/>
            <a:r>
              <a:rPr sz="1000" b="1">
                <a:solidFill>
                  <a:srgbClr val="333333"/>
                </a:solidFill>
                <a:latin typeface="メイリオ"/>
              </a:rPr>
              <a:t>法政大学入学センター</a:t>
            </a:r>
          </a:p>
        </p:txBody>
      </p:sp>
      <p:sp>
        <p:nvSpPr>
          <p:cNvPr id="56" name="TextBox 55"/>
          <p:cNvSpPr txBox="1"/>
          <p:nvPr/>
        </p:nvSpPr>
        <p:spPr>
          <a:xfrm>
            <a:off x="6839183" y="2780000"/>
            <a:ext cx="1500000" cy="260000"/>
          </a:xfrm>
          <a:prstGeom prst="rect">
            <a:avLst/>
          </a:prstGeom>
          <a:noFill/>
        </p:spPr>
        <p:txBody>
          <a:bodyPr wrap="square">
            <a:spAutoFit/>
          </a:bodyPr>
          <a:lstStyle/>
          <a:p>
            <a:pPr algn="l"/>
            <a:r>
              <a:rPr sz="950" b="0">
                <a:solidFill>
                  <a:srgbClr val="555555"/>
                </a:solidFill>
                <a:latin typeface="メイリオ"/>
              </a:rPr>
              <a:t>102,127</a:t>
            </a:r>
          </a:p>
        </p:txBody>
      </p:sp>
      <p:sp>
        <p:nvSpPr>
          <p:cNvPr id="57" name="TextBox 56"/>
          <p:cNvSpPr txBox="1"/>
          <p:nvPr/>
        </p:nvSpPr>
        <p:spPr>
          <a:xfrm>
            <a:off x="4899672" y="3180000"/>
            <a:ext cx="1500000" cy="260000"/>
          </a:xfrm>
          <a:prstGeom prst="rect">
            <a:avLst/>
          </a:prstGeom>
          <a:noFill/>
        </p:spPr>
        <p:txBody>
          <a:bodyPr wrap="square">
            <a:spAutoFit/>
          </a:bodyPr>
          <a:lstStyle/>
          <a:p>
            <a:pPr algn="l"/>
            <a:r>
              <a:rPr sz="1000" b="1">
                <a:solidFill>
                  <a:srgbClr val="333333"/>
                </a:solidFill>
                <a:latin typeface="メイリオ"/>
              </a:rPr>
              <a:t>中央大学入学センター</a:t>
            </a:r>
          </a:p>
        </p:txBody>
      </p:sp>
      <p:sp>
        <p:nvSpPr>
          <p:cNvPr id="59" name="TextBox 58"/>
          <p:cNvSpPr txBox="1"/>
          <p:nvPr/>
        </p:nvSpPr>
        <p:spPr>
          <a:xfrm>
            <a:off x="6704859" y="3180000"/>
            <a:ext cx="1500000" cy="260000"/>
          </a:xfrm>
          <a:prstGeom prst="rect">
            <a:avLst/>
          </a:prstGeom>
          <a:noFill/>
        </p:spPr>
        <p:txBody>
          <a:bodyPr wrap="square">
            <a:spAutoFit/>
          </a:bodyPr>
          <a:lstStyle/>
          <a:p>
            <a:pPr algn="l"/>
            <a:r>
              <a:rPr sz="950" b="0">
                <a:solidFill>
                  <a:srgbClr val="555555"/>
                </a:solidFill>
                <a:latin typeface="メイリオ"/>
              </a:rPr>
              <a:t>65,757</a:t>
            </a:r>
          </a:p>
        </p:txBody>
      </p:sp>
      <p:sp>
        <p:nvSpPr>
          <p:cNvPr id="60" name="TextBox 59"/>
          <p:cNvSpPr txBox="1"/>
          <p:nvPr/>
        </p:nvSpPr>
        <p:spPr>
          <a:xfrm>
            <a:off x="4899672" y="3580000"/>
            <a:ext cx="1500000" cy="260000"/>
          </a:xfrm>
          <a:prstGeom prst="rect">
            <a:avLst/>
          </a:prstGeom>
          <a:noFill/>
        </p:spPr>
        <p:txBody>
          <a:bodyPr wrap="square">
            <a:spAutoFit/>
          </a:bodyPr>
          <a:lstStyle/>
          <a:p>
            <a:pPr algn="l"/>
            <a:r>
              <a:rPr sz="1000" b="1">
                <a:solidFill>
                  <a:srgbClr val="333333"/>
                </a:solidFill>
                <a:latin typeface="メイリオ"/>
              </a:rPr>
              <a:t>日本大学 入学課</a:t>
            </a:r>
          </a:p>
        </p:txBody>
      </p:sp>
      <p:sp>
        <p:nvSpPr>
          <p:cNvPr id="62" name="TextBox 61"/>
          <p:cNvSpPr txBox="1"/>
          <p:nvPr/>
        </p:nvSpPr>
        <p:spPr>
          <a:xfrm>
            <a:off x="6563003" y="3580000"/>
            <a:ext cx="1500000" cy="260000"/>
          </a:xfrm>
          <a:prstGeom prst="rect">
            <a:avLst/>
          </a:prstGeom>
          <a:noFill/>
        </p:spPr>
        <p:txBody>
          <a:bodyPr wrap="square">
            <a:spAutoFit/>
          </a:bodyPr>
          <a:lstStyle/>
          <a:p>
            <a:pPr algn="l"/>
            <a:r>
              <a:rPr sz="950" b="0">
                <a:solidFill>
                  <a:srgbClr val="555555"/>
                </a:solidFill>
                <a:latin typeface="メイリオ"/>
              </a:rPr>
              <a:t>27,348</a:t>
            </a:r>
          </a:p>
        </p:txBody>
      </p:sp>
      <p:sp>
        <p:nvSpPr>
          <p:cNvPr id="49" name="Rounded Rectangle 48"/>
          <p:cNvSpPr/>
          <p:nvPr/>
        </p:nvSpPr>
        <p:spPr>
          <a:xfrm>
            <a:off x="6408000" y="2000000"/>
            <a:ext cx="1440000" cy="2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6408000" y="2400000"/>
            <a:ext cx="488909" cy="2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6408000" y="2800000"/>
            <a:ext cx="377183" cy="22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6408000" y="3200000"/>
            <a:ext cx="242859" cy="220000"/>
          </a:xfrm>
          <a:prstGeom prst="roundRect">
            <a:avLst/>
          </a:prstGeom>
          <a:solidFill>
            <a:srgbClr val="7F8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6408000" y="3600000"/>
            <a:ext cx="101003" cy="220000"/>
          </a:xfrm>
          <a:prstGeom prst="roundRect">
            <a:avLst/>
          </a:prstGeom>
          <a:solidFill>
            <a:srgbClr val="7F8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4899672" y="4100000"/>
            <a:ext cx="4550328" cy="15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60000" rIns="90000" rtlCol="0" anchor="t"/>
          <a:lstStyle/>
          <a:p>
            <a:pPr algn="ctr"/>
            <a:r>
              <a:rPr sz="1600" b="1" u="none" dirty="0" err="1">
                <a:solidFill>
                  <a:srgbClr val="1F3A5F"/>
                </a:solidFill>
                <a:latin typeface="メイリオ"/>
              </a:rPr>
              <a:t>大学のLINE活用は標準化。伸ばし方は2通り：</a:t>
            </a:r>
            <a:endParaRPr sz="1600" b="1" dirty="0">
              <a:solidFill>
                <a:srgbClr val="1F3A5F"/>
              </a:solidFill>
              <a:latin typeface="メイリオ"/>
            </a:endParaRPr>
          </a:p>
          <a:p>
            <a:pPr algn="ctr"/>
            <a:r>
              <a:rPr sz="1200" b="0" u="none" dirty="0" err="1">
                <a:solidFill>
                  <a:srgbClr val="333333"/>
                </a:solidFill>
                <a:latin typeface="メイリオ"/>
              </a:rPr>
              <a:t>広告型＝明治（17万→38.9万人・2年で2.3倍、CPC7〜8円）</a:t>
            </a:r>
            <a:endParaRPr sz="1200" b="0" dirty="0">
              <a:solidFill>
                <a:srgbClr val="333333"/>
              </a:solidFill>
              <a:latin typeface="メイリオ"/>
            </a:endParaRPr>
          </a:p>
          <a:p>
            <a:pPr algn="ctr"/>
            <a:r>
              <a:rPr sz="1200" b="0" u="none" dirty="0" err="1">
                <a:solidFill>
                  <a:srgbClr val="333333"/>
                </a:solidFill>
                <a:latin typeface="メイリオ"/>
              </a:rPr>
              <a:t>蓄積型＝法政（2015年6月開設・約10年で10万人超）</a:t>
            </a:r>
          </a:p>
          <a:p>
            <a:pPr algn="ctr"/>
            <a:r>
              <a:rPr sz="1200" b="0" u="none" dirty="0" err="1">
                <a:solidFill>
                  <a:srgbClr val="333333"/>
                </a:solidFill>
                <a:latin typeface="メイリオ"/>
              </a:rPr>
              <a:t>大手は特典なしでも指名流入で自然増＝ブランドの器。</a:t>
            </a:r>
          </a:p>
          <a:p>
            <a:pPr algn="ctr"/>
            <a:r>
              <a:rPr sz="1200" b="0" u="none" dirty="0" err="1">
                <a:solidFill>
                  <a:srgbClr val="333333"/>
                </a:solidFill>
                <a:latin typeface="メイリオ"/>
              </a:rPr>
              <a:t>後発が追うなら、広告×CPFで「時間を買う」のが定石。</a:t>
            </a:r>
          </a:p>
        </p:txBody>
      </p:sp>
      <p:pic>
        <p:nvPicPr>
          <p:cNvPr id="65" name="Picture 64" descr="line_meiji.png"/>
          <p:cNvPicPr>
            <a:picLocks noChangeAspect="1"/>
          </p:cNvPicPr>
          <p:nvPr/>
        </p:nvPicPr>
        <p:blipFill>
          <a:blip r:embed="rId3"/>
          <a:stretch>
            <a:fillRect/>
          </a:stretch>
        </p:blipFill>
        <p:spPr>
          <a:xfrm>
            <a:off x="324000" y="1584000"/>
            <a:ext cx="2050775" cy="4428000"/>
          </a:xfrm>
          <a:prstGeom prst="rect">
            <a:avLst/>
          </a:prstGeom>
        </p:spPr>
      </p:pic>
      <p:pic>
        <p:nvPicPr>
          <p:cNvPr id="66" name="Picture 65" descr="line_kogakuin.png"/>
          <p:cNvPicPr>
            <a:picLocks noChangeAspect="1"/>
          </p:cNvPicPr>
          <p:nvPr/>
        </p:nvPicPr>
        <p:blipFill>
          <a:blip r:embed="rId4"/>
          <a:stretch>
            <a:fillRect/>
          </a:stretch>
        </p:blipFill>
        <p:spPr>
          <a:xfrm>
            <a:off x="2464775" y="1584000"/>
            <a:ext cx="2050775" cy="4428000"/>
          </a:xfrm>
          <a:prstGeom prst="rect">
            <a:avLst/>
          </a:prstGeom>
        </p:spPr>
      </p:pic>
      <p:sp>
        <p:nvSpPr>
          <p:cNvPr id="67" name="TextBox 66"/>
          <p:cNvSpPr txBox="1"/>
          <p:nvPr/>
        </p:nvSpPr>
        <p:spPr>
          <a:xfrm>
            <a:off x="324000" y="6048000"/>
            <a:ext cx="4284000" cy="432000"/>
          </a:xfrm>
          <a:prstGeom prst="rect">
            <a:avLst/>
          </a:prstGeom>
          <a:noFill/>
        </p:spPr>
        <p:txBody>
          <a:bodyPr wrap="square">
            <a:spAutoFit/>
          </a:bodyPr>
          <a:lstStyle/>
          <a:p>
            <a:r>
              <a:rPr sz="800">
                <a:latin typeface="メイリオ"/>
                <a:ea typeface="メイリオ"/>
              </a:rPr>
              <a:t>左：明治大学入学センター（友だち389,897）／右：日本工学院（友だち39,589）</a:t>
            </a:r>
          </a:p>
          <a:p>
            <a:r>
              <a:rPr sz="800">
                <a:latin typeface="メイリオ"/>
                <a:ea typeface="メイリオ"/>
              </a:rPr>
              <a:t>page.line.me 2026年7月22日取得</a:t>
            </a:r>
          </a:p>
          <a:p>
            <a:r>
              <a:rPr sz="800">
                <a:solidFill>
                  <a:srgbClr val="404040"/>
                </a:solidFill>
                <a:latin typeface="メイリオ"/>
                <a:ea typeface="メイリオ"/>
              </a:rPr>
              <a:t>※明治大の2024年数値・CPC/CTRはLINEヤフー公式導入事例、法政大の開設時期は大学プレスリリース（2015年6月）より</a:t>
            </a:r>
          </a:p>
        </p:txBody>
      </p:sp>
    </p:spTree>
    <p:extLst>
      <p:ext uri="{BB962C8B-B14F-4D97-AF65-F5344CB8AC3E}">
        <p14:creationId xmlns:p14="http://schemas.microsoft.com/office/powerpoint/2010/main" val="653866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高校生本人と保護者では「知りたいこと」も「決め手」も異なる。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立場×時期で配信を出し分け、資料請求 → オープンキャンパス → 出願・入学 へ運ぶ。</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想定のユーザーニーズ・インサイトの変化と施策方針</a:t>
            </a:r>
            <a:endParaRPr sz="1600" b="1" dirty="0">
              <a:solidFill>
                <a:srgbClr val="002060"/>
              </a:solidFill>
              <a:latin typeface="Meiryo"/>
              <a:ea typeface="Meiryo"/>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オープンキャンパス【CV②】</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⑦出願・入学【CV③】</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個別相談・再来訪</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⑧入学手続き・入学後の接点</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弟妹・友人への紹介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④資料請求(web/LINE)【CV①】</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 --- 学校法人（大学・専門学校）の場合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655999" y="4860000"/>
            <a:ext cx="7848000" cy="648000"/>
          </a:xfrm>
          <a:prstGeom prst="rect">
            <a:avLst/>
          </a:prstGeom>
          <a:noFill/>
        </p:spPr>
        <p:txBody>
          <a:bodyPr wrap="square">
            <a:spAutoFit/>
          </a:bodyPr>
          <a:lstStyle/>
          <a:p>
            <a:r>
              <a:rPr sz="1050" b="0">
                <a:solidFill>
                  <a:srgbClr val="333333"/>
                </a:solidFill>
                <a:latin typeface="メイリオ"/>
                <a:ea typeface="メイリオ"/>
              </a:rPr>
              <a:t>学校・学部/分野を知りたい　→　オープンキャンパスの日程・雰囲気を知りたい　→　学費・奨学金・就職実績で比べたい　→　入試方式・出願日程を確かめたい</a:t>
            </a:r>
          </a:p>
        </p:txBody>
      </p:sp>
      <p:sp>
        <p:nvSpPr>
          <p:cNvPr id="74" name="TextBox 73"/>
          <p:cNvSpPr txBox="1"/>
          <p:nvPr/>
        </p:nvSpPr>
        <p:spPr>
          <a:xfrm>
            <a:off x="1655999" y="5544000"/>
            <a:ext cx="7848000" cy="720000"/>
          </a:xfrm>
          <a:prstGeom prst="rect">
            <a:avLst/>
          </a:prstGeom>
          <a:noFill/>
        </p:spPr>
        <p:txBody>
          <a:bodyPr wrap="square">
            <a:spAutoFit/>
          </a:bodyPr>
          <a:lstStyle/>
          <a:p>
            <a:r>
              <a:rPr sz="1050" b="0">
                <a:solidFill>
                  <a:srgbClr val="333333"/>
                </a:solidFill>
                <a:latin typeface="メイリオ"/>
                <a:ea typeface="メイリオ"/>
              </a:rPr>
              <a:t>本人：校風・キャンパスライフ・友人の動向で気持ちが動く（スマホ完結・電話は避けたい）　／　保護者：学費・就職・通学圏で現実を確認（意思決定に強く関与）</a:t>
            </a:r>
          </a:p>
          <a:p>
            <a:r>
              <a:rPr sz="1050" b="0">
                <a:solidFill>
                  <a:srgbClr val="333333"/>
                </a:solidFill>
                <a:latin typeface="メイリオ"/>
                <a:ea typeface="メイリオ"/>
              </a:rPr>
              <a:t>→ 施策方針：本人・保護者で訴求を出し分け、「受験学年 × 志望分野」セグメントで時期に合わせて配信テーマを切替</a:t>
            </a:r>
          </a:p>
        </p:txBody>
      </p:sp>
    </p:spTree>
    <p:extLst>
      <p:ext uri="{BB962C8B-B14F-4D97-AF65-F5344CB8AC3E}">
        <p14:creationId xmlns:p14="http://schemas.microsoft.com/office/powerpoint/2010/main" val="406932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前後検索のインサイトを「離脱防止コンテンツ（LINE追加率UP）」と「リード有効化のステップ配信」に変換する。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57006A34-E0FD-C2ED-2162-46ECD9FAEE3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1116000" y="1584000"/>
            <a:ext cx="7596000" cy="1872000"/>
          </a:xfrm>
          <a:prstGeom prst="roundRect">
            <a:avLst/>
          </a:prstGeom>
          <a:noFill/>
          <a:ln w="19050">
            <a:solidFill>
              <a:srgbClr val="1F3864"/>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3864"/>
                </a:solidFill>
                <a:latin typeface="メイリオ"/>
                <a:ea typeface="メイリオ"/>
              </a:rPr>
              <a:t>検索前後データ × 友だち追加想定ポイント（LINEヤフー媒体資料 取得後に差込）</a:t>
            </a:r>
          </a:p>
          <a:p>
            <a:pPr algn="ctr"/>
            <a:r>
              <a:rPr sz="1000" b="0">
                <a:solidFill>
                  <a:srgbClr val="1F3864"/>
                </a:solidFill>
                <a:latin typeface="メイリオ"/>
                <a:ea typeface="メイリオ"/>
              </a:rPr>
              <a:t>※前2枚のインサイト（仮説）を、下のコンテンツ設計に変換</a:t>
            </a:r>
          </a:p>
        </p:txBody>
      </p:sp>
      <p:sp>
        <p:nvSpPr>
          <p:cNvPr id="483" name="四角形: 角を丸くする 482">
            <a:extLst>
              <a:ext uri="{FF2B5EF4-FFF2-40B4-BE49-F238E27FC236}">
                <a16:creationId xmlns:a16="http://schemas.microsoft.com/office/drawing/2014/main" id="{91FD3245-1969-91B2-8CAC-ABF9610E9111}"/>
              </a:ext>
            </a:extLst>
          </p:cNvPr>
          <p:cNvSpPr/>
          <p:nvPr/>
        </p:nvSpPr>
        <p:spPr>
          <a:xfrm>
            <a:off x="720000" y="3671999"/>
            <a:ext cx="3096000" cy="251999"/>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rPr>
              <a:t>LINE追加率を上げるコンテンツとして…。</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63" name="Rounded Rectangle 47">
            <a:extLst>
              <a:ext uri="{FF2B5EF4-FFF2-40B4-BE49-F238E27FC236}">
                <a16:creationId xmlns:a16="http://schemas.microsoft.com/office/drawing/2014/main" id="{CDE0B279-5917-179F-369E-CB1B519BB9B0}"/>
              </a:ext>
            </a:extLst>
          </p:cNvPr>
          <p:cNvSpPr/>
          <p:nvPr/>
        </p:nvSpPr>
        <p:spPr>
          <a:xfrm>
            <a:off x="900000" y="4031999"/>
            <a:ext cx="1296000" cy="972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850" b="0" dirty="0">
                <a:solidFill>
                  <a:srgbClr val="FFFFFF"/>
                </a:solidFill>
                <a:latin typeface="メイリオ"/>
              </a:rPr>
              <a:t>離脱防止で…。</a:t>
            </a:r>
            <a:endParaRPr lang="en-US" altLang="ja-JP" sz="850" b="0" dirty="0">
              <a:solidFill>
                <a:srgbClr val="FFFFFF"/>
              </a:solidFill>
              <a:latin typeface="メイリオ"/>
            </a:endParaRPr>
          </a:p>
          <a:p>
            <a:pPr algn="ctr"/>
            <a:r>
              <a:rPr sz="1000">
                <a:latin typeface="メイリオ"/>
                <a:ea typeface="メイリオ"/>
              </a:rPr>
              <a:t>オープンキャンパス情報</a:t>
            </a:r>
            <a:endParaRPr lang="en-US" altLang="ja-JP" sz="850" b="0" dirty="0">
              <a:solidFill>
                <a:srgbClr val="FFFFFF"/>
              </a:solidFill>
              <a:latin typeface="メイリオ"/>
            </a:endParaRPr>
          </a:p>
          <a:p>
            <a:pPr algn="ctr"/>
            <a:r>
              <a:rPr lang="ja-JP" altLang="en-US" sz="850" dirty="0">
                <a:solidFill>
                  <a:srgbClr val="FFFFFF"/>
                </a:solidFill>
                <a:latin typeface="メイリオ"/>
              </a:rPr>
              <a:t>在校生の声・進路実績</a:t>
            </a:r>
            <a:endParaRPr lang="en-US" altLang="ja-JP" sz="850" b="0" dirty="0">
              <a:solidFill>
                <a:srgbClr val="FFFFFF"/>
              </a:solidFill>
              <a:latin typeface="メイリオ"/>
            </a:endParaRPr>
          </a:p>
          <a:p>
            <a:pPr algn="ctr"/>
            <a:endParaRPr lang="en-US" sz="850" b="0" dirty="0">
              <a:solidFill>
                <a:srgbClr val="FFFFFF"/>
              </a:solidFill>
              <a:latin typeface="メイリオ"/>
            </a:endParaRPr>
          </a:p>
        </p:txBody>
      </p:sp>
      <p:sp>
        <p:nvSpPr>
          <p:cNvPr id="465" name="Rounded Rectangle 49">
            <a:extLst>
              <a:ext uri="{FF2B5EF4-FFF2-40B4-BE49-F238E27FC236}">
                <a16:creationId xmlns:a16="http://schemas.microsoft.com/office/drawing/2014/main" id="{8CA9823E-08BE-7F33-923D-9D9E1D29A6D9}"/>
              </a:ext>
            </a:extLst>
          </p:cNvPr>
          <p:cNvSpPr/>
          <p:nvPr/>
        </p:nvSpPr>
        <p:spPr>
          <a:xfrm>
            <a:off x="2340000" y="4031999"/>
            <a:ext cx="1296000" cy="972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dirty="0">
                <a:solidFill>
                  <a:srgbClr val="FFFFFF"/>
                </a:solidFill>
                <a:latin typeface="メイリオ"/>
              </a:rPr>
              <a:t>この機会に</a:t>
            </a:r>
            <a:endParaRPr lang="en-US" altLang="ja-JP" sz="900" dirty="0">
              <a:solidFill>
                <a:srgbClr val="FFFFFF"/>
              </a:solidFill>
              <a:latin typeface="メイリオ"/>
            </a:endParaRPr>
          </a:p>
          <a:p>
            <a:pPr algn="ctr"/>
            <a:r>
              <a:rPr lang="ja-JP" altLang="en-US" sz="900" dirty="0">
                <a:solidFill>
                  <a:srgbClr val="FFFFFF"/>
                </a:solidFill>
                <a:latin typeface="メイリオ"/>
              </a:rPr>
              <a:t>LINEで資料請求</a:t>
            </a:r>
            <a:endParaRPr lang="en-US" altLang="ja-JP" sz="900" dirty="0">
              <a:solidFill>
                <a:srgbClr val="FFFFFF"/>
              </a:solidFill>
              <a:latin typeface="メイリオ"/>
            </a:endParaRPr>
          </a:p>
          <a:p>
            <a:pPr algn="ctr"/>
            <a:r>
              <a:rPr lang="ja-JP" altLang="en-US" sz="900" dirty="0">
                <a:solidFill>
                  <a:srgbClr val="FFFFFF"/>
                </a:solidFill>
                <a:latin typeface="メイリオ"/>
              </a:rPr>
              <a:t>しませんか？</a:t>
            </a:r>
            <a:endParaRPr lang="en-US" altLang="ja-JP" sz="900" dirty="0">
              <a:solidFill>
                <a:srgbClr val="FFFFFF"/>
              </a:solidFill>
              <a:latin typeface="メイリオ"/>
            </a:endParaRPr>
          </a:p>
        </p:txBody>
      </p:sp>
      <p:sp>
        <p:nvSpPr>
          <p:cNvPr id="509" name="Rounded Rectangle 47">
            <a:extLst>
              <a:ext uri="{FF2B5EF4-FFF2-40B4-BE49-F238E27FC236}">
                <a16:creationId xmlns:a16="http://schemas.microsoft.com/office/drawing/2014/main" id="{41275B32-0EBC-C4D4-E7C9-7949128091ED}"/>
              </a:ext>
            </a:extLst>
          </p:cNvPr>
          <p:cNvSpPr/>
          <p:nvPr/>
        </p:nvSpPr>
        <p:spPr>
          <a:xfrm>
            <a:off x="900000" y="5112000"/>
            <a:ext cx="1296000" cy="612000"/>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850" b="0" dirty="0">
                <a:solidFill>
                  <a:schemeClr val="tx1"/>
                </a:solidFill>
                <a:latin typeface="メイリオ"/>
              </a:rPr>
              <a:t>「行けば決まる」層の</a:t>
            </a:r>
            <a:endParaRPr lang="en-US" altLang="ja-JP" sz="850" b="0" dirty="0">
              <a:solidFill>
                <a:schemeClr val="tx1"/>
              </a:solidFill>
              <a:latin typeface="メイリオ"/>
            </a:endParaRPr>
          </a:p>
          <a:p>
            <a:pPr algn="ctr"/>
            <a:r>
              <a:rPr lang="ja-JP" altLang="en-US" sz="850" dirty="0">
                <a:solidFill>
                  <a:schemeClr val="tx1"/>
                </a:solidFill>
                <a:latin typeface="メイリオ"/>
              </a:rPr>
              <a:t>背中押しに</a:t>
            </a:r>
            <a:endParaRPr lang="en-US" altLang="ja-JP" sz="850" dirty="0">
              <a:solidFill>
                <a:schemeClr val="tx1"/>
              </a:solidFill>
              <a:latin typeface="メイリオ"/>
            </a:endParaRPr>
          </a:p>
        </p:txBody>
      </p:sp>
      <p:sp>
        <p:nvSpPr>
          <p:cNvPr id="511" name="Rounded Rectangle 49">
            <a:extLst>
              <a:ext uri="{FF2B5EF4-FFF2-40B4-BE49-F238E27FC236}">
                <a16:creationId xmlns:a16="http://schemas.microsoft.com/office/drawing/2014/main" id="{51E3021D-7BDD-08BD-115E-DFAB6AC1418F}"/>
              </a:ext>
            </a:extLst>
          </p:cNvPr>
          <p:cNvSpPr/>
          <p:nvPr/>
        </p:nvSpPr>
        <p:spPr>
          <a:xfrm>
            <a:off x="2340000" y="5112000"/>
            <a:ext cx="1296000" cy="612000"/>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800" dirty="0">
                <a:solidFill>
                  <a:schemeClr val="tx1"/>
                </a:solidFill>
                <a:latin typeface="メイリオ"/>
              </a:rPr>
              <a:t>資料請求のハードルを</a:t>
            </a:r>
            <a:endParaRPr lang="en-US" altLang="ja-JP" sz="800" dirty="0">
              <a:solidFill>
                <a:schemeClr val="tx1"/>
              </a:solidFill>
              <a:latin typeface="メイリオ"/>
            </a:endParaRPr>
          </a:p>
          <a:p>
            <a:pPr algn="ctr"/>
            <a:r>
              <a:rPr lang="ja-JP" altLang="en-US" sz="800" dirty="0">
                <a:solidFill>
                  <a:schemeClr val="tx1"/>
                </a:solidFill>
                <a:latin typeface="メイリオ"/>
              </a:rPr>
              <a:t>下げる（LINE完結）</a:t>
            </a:r>
            <a:endParaRPr lang="en-US" altLang="ja-JP" sz="800" dirty="0">
              <a:solidFill>
                <a:schemeClr val="tx1"/>
              </a:solidFill>
              <a:latin typeface="メイリオ"/>
            </a:endParaRPr>
          </a:p>
          <a:p>
            <a:pPr algn="ctr"/>
            <a:endParaRPr lang="en-US" altLang="ja-JP" sz="800" dirty="0">
              <a:solidFill>
                <a:schemeClr val="tx1"/>
              </a:solidFill>
              <a:latin typeface="メイリオ"/>
            </a:endParaRPr>
          </a:p>
        </p:txBody>
      </p:sp>
      <p:sp>
        <p:nvSpPr>
          <p:cNvPr id="485" name="四角形: 角を丸くする 484">
            <a:extLst>
              <a:ext uri="{FF2B5EF4-FFF2-40B4-BE49-F238E27FC236}">
                <a16:creationId xmlns:a16="http://schemas.microsoft.com/office/drawing/2014/main" id="{7D64F185-E715-0CD9-6299-C64C849BB3C0}"/>
              </a:ext>
            </a:extLst>
          </p:cNvPr>
          <p:cNvSpPr/>
          <p:nvPr/>
        </p:nvSpPr>
        <p:spPr>
          <a:xfrm>
            <a:off x="4068000" y="3671999"/>
            <a:ext cx="5580000" cy="251999"/>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rPr>
              <a:t>LINEでのリード有効化率を上げるコンテンツとして…。</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7" name="Rounded Rectangle 51">
            <a:extLst>
              <a:ext uri="{FF2B5EF4-FFF2-40B4-BE49-F238E27FC236}">
                <a16:creationId xmlns:a16="http://schemas.microsoft.com/office/drawing/2014/main" id="{2B62F190-D7DD-DB58-1916-C8BBBAFC5980}"/>
              </a:ext>
            </a:extLst>
          </p:cNvPr>
          <p:cNvSpPr/>
          <p:nvPr/>
        </p:nvSpPr>
        <p:spPr>
          <a:xfrm>
            <a:off x="4392000" y="4031999"/>
            <a:ext cx="1188000" cy="1512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rPr>
              <a:t>2日目</a:t>
            </a:r>
          </a:p>
          <a:p>
            <a:pPr algn="ctr"/>
            <a:r>
              <a:rPr sz="1000">
                <a:latin typeface="メイリオ"/>
                <a:ea typeface="メイリオ"/>
              </a:rPr>
              <a:t>学部・分野の</a:t>
            </a:r>
            <a:endParaRPr sz="1050" b="1" dirty="0">
              <a:solidFill>
                <a:srgbClr val="FFFFFF"/>
              </a:solidFill>
              <a:latin typeface="メイリオ"/>
            </a:endParaRPr>
          </a:p>
          <a:p>
            <a:pPr algn="ctr"/>
            <a:r>
              <a:rPr lang="ja-JP" altLang="en-US" sz="850" b="0" dirty="0">
                <a:solidFill>
                  <a:srgbClr val="FFFFFF"/>
                </a:solidFill>
                <a:latin typeface="メイリオ"/>
              </a:rPr>
              <a:t>選び方（啓蒙）</a:t>
            </a:r>
            <a:endParaRPr lang="en-US" altLang="ja-JP" sz="850" b="0" dirty="0">
              <a:solidFill>
                <a:srgbClr val="FFFFFF"/>
              </a:solidFill>
              <a:latin typeface="メイリオ"/>
            </a:endParaRPr>
          </a:p>
          <a:p>
            <a:pPr algn="ctr"/>
            <a:endParaRPr sz="850" b="0" dirty="0">
              <a:solidFill>
                <a:srgbClr val="FFFFFF"/>
              </a:solidFill>
              <a:latin typeface="メイリオ"/>
            </a:endParaRPr>
          </a:p>
        </p:txBody>
      </p:sp>
      <p:sp>
        <p:nvSpPr>
          <p:cNvPr id="495" name="Rounded Rectangle 53">
            <a:extLst>
              <a:ext uri="{FF2B5EF4-FFF2-40B4-BE49-F238E27FC236}">
                <a16:creationId xmlns:a16="http://schemas.microsoft.com/office/drawing/2014/main" id="{F966B151-4239-FABF-9197-C691249632B7}"/>
              </a:ext>
            </a:extLst>
          </p:cNvPr>
          <p:cNvSpPr/>
          <p:nvPr/>
        </p:nvSpPr>
        <p:spPr>
          <a:xfrm>
            <a:off x="5724000" y="4031999"/>
            <a:ext cx="1188000" cy="1512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err="1">
                <a:solidFill>
                  <a:srgbClr val="FFFFFF"/>
                </a:solidFill>
                <a:latin typeface="メイリオ"/>
              </a:rPr>
              <a:t>４日目</a:t>
            </a:r>
            <a:endParaRPr sz="1050" b="1" dirty="0">
              <a:solidFill>
                <a:srgbClr val="FFFFFF"/>
              </a:solidFill>
              <a:latin typeface="メイリオ"/>
            </a:endParaRPr>
          </a:p>
          <a:p>
            <a:pPr algn="ctr"/>
            <a:r>
              <a:rPr sz="1000">
                <a:latin typeface="メイリオ"/>
                <a:ea typeface="メイリオ"/>
              </a:rPr>
              <a:t>資料請求オファー</a:t>
            </a:r>
            <a:endParaRPr sz="1050" b="1" dirty="0">
              <a:solidFill>
                <a:srgbClr val="FFFFFF"/>
              </a:solidFill>
              <a:latin typeface="メイリオ"/>
            </a:endParaRPr>
          </a:p>
          <a:p>
            <a:pPr algn="ctr"/>
            <a:r>
              <a:rPr sz="850" b="0" dirty="0" err="1">
                <a:solidFill>
                  <a:srgbClr val="FFFFFF"/>
                </a:solidFill>
                <a:latin typeface="メイリオ"/>
              </a:rPr>
              <a:t>【CV①】</a:t>
            </a:r>
          </a:p>
        </p:txBody>
      </p:sp>
      <p:sp>
        <p:nvSpPr>
          <p:cNvPr id="497" name="Rounded Rectangle 55">
            <a:extLst>
              <a:ext uri="{FF2B5EF4-FFF2-40B4-BE49-F238E27FC236}">
                <a16:creationId xmlns:a16="http://schemas.microsoft.com/office/drawing/2014/main" id="{E2F99808-6AFE-D850-D2B7-5C6D6D294E79}"/>
              </a:ext>
            </a:extLst>
          </p:cNvPr>
          <p:cNvSpPr/>
          <p:nvPr/>
        </p:nvSpPr>
        <p:spPr>
          <a:xfrm>
            <a:off x="7056000" y="4031999"/>
            <a:ext cx="1188000" cy="1512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err="1">
                <a:solidFill>
                  <a:srgbClr val="FFFFFF"/>
                </a:solidFill>
                <a:latin typeface="メイリオ"/>
              </a:rPr>
              <a:t>５日目</a:t>
            </a:r>
            <a:endParaRPr sz="1050" b="1" dirty="0">
              <a:solidFill>
                <a:srgbClr val="FFFFFF"/>
              </a:solidFill>
              <a:latin typeface="メイリオ"/>
            </a:endParaRPr>
          </a:p>
          <a:p>
            <a:pPr algn="ctr"/>
            <a:r>
              <a:rPr sz="1000">
                <a:latin typeface="メイリオ"/>
                <a:ea typeface="メイリオ"/>
              </a:rPr>
              <a:t>オープンキャンパス</a:t>
            </a:r>
            <a:endParaRPr sz="1050" b="1" dirty="0">
              <a:solidFill>
                <a:srgbClr val="FFFFFF"/>
              </a:solidFill>
              <a:latin typeface="メイリオ"/>
            </a:endParaRPr>
          </a:p>
          <a:p>
            <a:pPr algn="ctr"/>
            <a:r>
              <a:rPr lang="ja-JP" altLang="en-US" sz="850" b="0" dirty="0">
                <a:solidFill>
                  <a:srgbClr val="FFFFFF"/>
                </a:solidFill>
                <a:latin typeface="メイリオ"/>
              </a:rPr>
              <a:t>日程・見どころ</a:t>
            </a:r>
            <a:endParaRPr lang="en-US" altLang="ja-JP" sz="850" b="0" dirty="0">
              <a:solidFill>
                <a:srgbClr val="FFFFFF"/>
              </a:solidFill>
              <a:latin typeface="メイリオ"/>
            </a:endParaRPr>
          </a:p>
          <a:p>
            <a:pPr algn="ctr"/>
            <a:endParaRPr sz="850" b="0" dirty="0">
              <a:solidFill>
                <a:srgbClr val="FFFFFF"/>
              </a:solidFill>
              <a:latin typeface="メイリオ"/>
            </a:endParaRPr>
          </a:p>
        </p:txBody>
      </p:sp>
      <p:sp>
        <p:nvSpPr>
          <p:cNvPr id="499" name="Rounded Rectangle 57">
            <a:extLst>
              <a:ext uri="{FF2B5EF4-FFF2-40B4-BE49-F238E27FC236}">
                <a16:creationId xmlns:a16="http://schemas.microsoft.com/office/drawing/2014/main" id="{15FBCDBF-B211-773D-E571-14A464C8AF2F}"/>
              </a:ext>
            </a:extLst>
          </p:cNvPr>
          <p:cNvSpPr/>
          <p:nvPr/>
        </p:nvSpPr>
        <p:spPr>
          <a:xfrm>
            <a:off x="8388000" y="4031999"/>
            <a:ext cx="1188000" cy="1512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rPr>
              <a:t>8日目〜</a:t>
            </a:r>
          </a:p>
          <a:p>
            <a:pPr algn="ctr"/>
            <a:r>
              <a:rPr sz="1000">
                <a:latin typeface="メイリオ"/>
                <a:ea typeface="メイリオ"/>
              </a:rPr>
              <a:t>OC予約オファー</a:t>
            </a:r>
            <a:endParaRPr sz="1050" b="1" dirty="0">
              <a:solidFill>
                <a:srgbClr val="FFFFFF"/>
              </a:solidFill>
              <a:latin typeface="メイリオ"/>
            </a:endParaRPr>
          </a:p>
          <a:p>
            <a:pPr algn="ctr"/>
            <a:r>
              <a:rPr lang="ja-JP" altLang="en-US" sz="850" b="0" dirty="0">
                <a:solidFill>
                  <a:srgbClr val="FFFFFF"/>
                </a:solidFill>
                <a:latin typeface="メイリオ"/>
              </a:rPr>
              <a:t>【CV②】限定特典</a:t>
            </a:r>
            <a:endParaRPr lang="en-US" altLang="ja-JP" sz="850" b="0" dirty="0">
              <a:solidFill>
                <a:srgbClr val="FFFFFF"/>
              </a:solidFill>
              <a:latin typeface="メイリオ"/>
            </a:endParaRPr>
          </a:p>
          <a:p>
            <a:pPr algn="ctr"/>
            <a:endParaRPr sz="850" b="0" dirty="0">
              <a:solidFill>
                <a:srgbClr val="FFFFFF"/>
              </a:solidFill>
              <a:latin typeface="メイリオ"/>
            </a:endParaRPr>
          </a:p>
        </p:txBody>
      </p:sp>
      <p:sp>
        <p:nvSpPr>
          <p:cNvPr id="512" name="TextBox 511"/>
          <p:cNvSpPr txBox="1"/>
          <p:nvPr/>
        </p:nvSpPr>
        <p:spPr>
          <a:xfrm>
            <a:off x="360000" y="6372000"/>
            <a:ext cx="9216000" cy="288000"/>
          </a:xfrm>
          <a:prstGeom prst="rect">
            <a:avLst/>
          </a:prstGeom>
          <a:noFill/>
        </p:spPr>
        <p:txBody>
          <a:bodyPr wrap="square">
            <a:spAutoFit/>
          </a:bodyPr>
          <a:lstStyle/>
          <a:p>
            <a:r>
              <a:rPr sz="900" b="0">
                <a:solidFill>
                  <a:srgbClr val="404040"/>
                </a:solidFill>
                <a:latin typeface="メイリオ"/>
                <a:ea typeface="メイリオ"/>
              </a:rPr>
              <a:t>※ 配信テーマ・順序は前後検索データ（LINEヤフー媒体資料）取得後に最適化します。日数・CV地点は運用の中で調整。</a:t>
            </a:r>
          </a:p>
        </p:txBody>
      </p:sp>
    </p:spTree>
    <p:extLst>
      <p:ext uri="{BB962C8B-B14F-4D97-AF65-F5344CB8AC3E}">
        <p14:creationId xmlns:p14="http://schemas.microsoft.com/office/powerpoint/2010/main" val="142908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DC709EF-8F36-5A87-7829-DD298A28008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6AC72BA-0FDB-65F6-F7C5-C7F7CBB66E3E}"/>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登録直後の2〜3問で「学年×志望分野×検討度」をタグ化し、資料請求（CV①）／OC予約（CV②）へ柔軟に着地させる。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※設問・選択肢は貴校の学部構成に合わせて設計。回答タグは配信セグメントに使用（保護者は保護者向けへ分岐）。</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39EB113-7B09-7996-7FBB-B34C856CBCC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友だち登録後のアンケート（LINE画面イメージ）</a:t>
            </a:r>
            <a:endParaRPr sz="1600" b="1" dirty="0">
              <a:solidFill>
                <a:srgbClr val="002060"/>
              </a:solidFill>
              <a:latin typeface="Meiryo"/>
              <a:ea typeface="Meiryo"/>
              <a:cs typeface="Meiryo"/>
              <a:sym typeface="Meiryo"/>
            </a:endParaRPr>
          </a:p>
        </p:txBody>
      </p:sp>
      <p:sp>
        <p:nvSpPr>
          <p:cNvPr id="46" name="Rounded Rectangle 45"/>
          <p:cNvSpPr/>
          <p:nvPr/>
        </p:nvSpPr>
        <p:spPr>
          <a:xfrm>
            <a:off x="330000" y="1560000"/>
            <a:ext cx="2850000" cy="4880000"/>
          </a:xfrm>
          <a:prstGeom prst="roundRect">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330000" y="1560000"/>
            <a:ext cx="2850000" cy="3950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425000" y="1640000"/>
            <a:ext cx="235000" cy="235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10000" y="1620000"/>
            <a:ext cx="2390000" cy="275000"/>
          </a:xfrm>
          <a:prstGeom prst="rect">
            <a:avLst/>
          </a:prstGeom>
          <a:noFill/>
        </p:spPr>
        <p:txBody>
          <a:bodyPr wrap="none" tIns="0" bIns="0" anchor="ctr">
            <a:spAutoFit/>
          </a:bodyPr>
          <a:lstStyle/>
          <a:p>
            <a:r>
              <a:rPr sz="1000" b="1">
                <a:solidFill>
                  <a:srgbClr val="FFFFFF"/>
                </a:solidFill>
                <a:latin typeface="メイリオ"/>
              </a:rPr>
              <a:t>〇〇学園 公式（例）</a:t>
            </a:r>
          </a:p>
        </p:txBody>
      </p:sp>
      <p:sp>
        <p:nvSpPr>
          <p:cNvPr id="50" name="Rectangle 49"/>
          <p:cNvSpPr/>
          <p:nvPr/>
        </p:nvSpPr>
        <p:spPr>
          <a:xfrm>
            <a:off x="350000" y="1955000"/>
            <a:ext cx="2810000" cy="4465000"/>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480000" y="1990000"/>
            <a:ext cx="1980000" cy="5400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l"/>
            <a:r>
              <a:rPr sz="950" b="0">
                <a:solidFill>
                  <a:srgbClr val="333333"/>
                </a:solidFill>
                <a:latin typeface="メイリオ"/>
              </a:rPr>
              <a:t>はじめまして！進路さがしをお手伝いします。</a:t>
            </a:r>
          </a:p>
        </p:txBody>
      </p:sp>
      <p:sp>
        <p:nvSpPr>
          <p:cNvPr id="52" name="Rounded Rectangle 51"/>
          <p:cNvSpPr/>
          <p:nvPr/>
        </p:nvSpPr>
        <p:spPr>
          <a:xfrm>
            <a:off x="480000" y="2640000"/>
            <a:ext cx="1980000" cy="5400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l"/>
            <a:r>
              <a:rPr sz="950" b="0">
                <a:solidFill>
                  <a:srgbClr val="333333"/>
                </a:solidFill>
                <a:latin typeface="メイリオ"/>
              </a:rPr>
              <a:t>まずは学年を教えてください</a:t>
            </a:r>
          </a:p>
        </p:txBody>
      </p:sp>
      <p:sp>
        <p:nvSpPr>
          <p:cNvPr id="53" name="Rounded Rectangle 52"/>
          <p:cNvSpPr/>
          <p:nvPr/>
        </p:nvSpPr>
        <p:spPr>
          <a:xfrm>
            <a:off x="480000" y="3290000"/>
            <a:ext cx="1110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高3</a:t>
            </a:r>
          </a:p>
        </p:txBody>
      </p:sp>
      <p:sp>
        <p:nvSpPr>
          <p:cNvPr id="54" name="Rounded Rectangle 53"/>
          <p:cNvSpPr/>
          <p:nvPr/>
        </p:nvSpPr>
        <p:spPr>
          <a:xfrm>
            <a:off x="1660000" y="3290000"/>
            <a:ext cx="530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高2</a:t>
            </a:r>
          </a:p>
        </p:txBody>
      </p:sp>
      <p:sp>
        <p:nvSpPr>
          <p:cNvPr id="55" name="Rounded Rectangle 54"/>
          <p:cNvSpPr/>
          <p:nvPr/>
        </p:nvSpPr>
        <p:spPr>
          <a:xfrm>
            <a:off x="2260000" y="3290000"/>
            <a:ext cx="530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高1</a:t>
            </a:r>
          </a:p>
        </p:txBody>
      </p:sp>
      <p:sp>
        <p:nvSpPr>
          <p:cNvPr id="56" name="Rounded Rectangle 55"/>
          <p:cNvSpPr/>
          <p:nvPr/>
        </p:nvSpPr>
        <p:spPr>
          <a:xfrm>
            <a:off x="480000" y="3640000"/>
            <a:ext cx="530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中学生</a:t>
            </a:r>
          </a:p>
        </p:txBody>
      </p:sp>
      <p:sp>
        <p:nvSpPr>
          <p:cNvPr id="57" name="Rounded Rectangle 56"/>
          <p:cNvSpPr/>
          <p:nvPr/>
        </p:nvSpPr>
        <p:spPr>
          <a:xfrm>
            <a:off x="1080000" y="3640000"/>
            <a:ext cx="965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保護者</a:t>
            </a:r>
          </a:p>
        </p:txBody>
      </p:sp>
      <p:sp>
        <p:nvSpPr>
          <p:cNvPr id="58" name="Rounded Rectangle 57"/>
          <p:cNvSpPr/>
          <p:nvPr/>
        </p:nvSpPr>
        <p:spPr>
          <a:xfrm>
            <a:off x="480000" y="3970000"/>
            <a:ext cx="965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その他</a:t>
            </a:r>
          </a:p>
        </p:txBody>
      </p:sp>
      <p:sp>
        <p:nvSpPr>
          <p:cNvPr id="59" name="Rounded Rectangle 58"/>
          <p:cNvSpPr/>
          <p:nvPr/>
        </p:nvSpPr>
        <p:spPr>
          <a:xfrm>
            <a:off x="2300000" y="4320000"/>
            <a:ext cx="730000" cy="33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950" b="0">
                <a:solidFill>
                  <a:srgbClr val="FFFFFF"/>
                </a:solidFill>
                <a:latin typeface="メイリオ"/>
              </a:rPr>
              <a:t>高3</a:t>
            </a:r>
          </a:p>
        </p:txBody>
      </p:sp>
      <p:sp>
        <p:nvSpPr>
          <p:cNvPr id="60" name="Rounded Rectangle 59"/>
          <p:cNvSpPr/>
          <p:nvPr/>
        </p:nvSpPr>
        <p:spPr>
          <a:xfrm>
            <a:off x="3528000" y="1560000"/>
            <a:ext cx="2850000" cy="4880000"/>
          </a:xfrm>
          <a:prstGeom prst="roundRect">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3528000" y="1560000"/>
            <a:ext cx="2850000" cy="3950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3623000" y="1640000"/>
            <a:ext cx="235000" cy="235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908000" y="1620000"/>
            <a:ext cx="2390000" cy="275000"/>
          </a:xfrm>
          <a:prstGeom prst="rect">
            <a:avLst/>
          </a:prstGeom>
          <a:noFill/>
        </p:spPr>
        <p:txBody>
          <a:bodyPr wrap="none" tIns="0" bIns="0" anchor="ctr">
            <a:spAutoFit/>
          </a:bodyPr>
          <a:lstStyle/>
          <a:p>
            <a:r>
              <a:rPr sz="1000" b="1">
                <a:solidFill>
                  <a:srgbClr val="FFFFFF"/>
                </a:solidFill>
                <a:latin typeface="メイリオ"/>
              </a:rPr>
              <a:t>〇〇学園 公式（例）</a:t>
            </a:r>
          </a:p>
        </p:txBody>
      </p:sp>
      <p:sp>
        <p:nvSpPr>
          <p:cNvPr id="64" name="Rectangle 63"/>
          <p:cNvSpPr/>
          <p:nvPr/>
        </p:nvSpPr>
        <p:spPr>
          <a:xfrm>
            <a:off x="3548000" y="1955000"/>
            <a:ext cx="2810000" cy="4465000"/>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3678000" y="1990000"/>
            <a:ext cx="1980000" cy="3300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l"/>
            <a:r>
              <a:rPr sz="950" b="0">
                <a:solidFill>
                  <a:srgbClr val="333333"/>
                </a:solidFill>
                <a:latin typeface="メイリオ"/>
              </a:rPr>
              <a:t>高3ですね！興味のある分野は？</a:t>
            </a:r>
          </a:p>
        </p:txBody>
      </p:sp>
      <p:sp>
        <p:nvSpPr>
          <p:cNvPr id="66" name="Rounded Rectangle 65"/>
          <p:cNvSpPr/>
          <p:nvPr/>
        </p:nvSpPr>
        <p:spPr>
          <a:xfrm>
            <a:off x="3671999" y="2430000"/>
            <a:ext cx="792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〇〇学部</a:t>
            </a:r>
          </a:p>
        </p:txBody>
      </p:sp>
      <p:sp>
        <p:nvSpPr>
          <p:cNvPr id="67" name="Rounded Rectangle 66"/>
          <p:cNvSpPr/>
          <p:nvPr/>
        </p:nvSpPr>
        <p:spPr>
          <a:xfrm>
            <a:off x="4536000" y="2430000"/>
            <a:ext cx="792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△△学部</a:t>
            </a:r>
          </a:p>
        </p:txBody>
      </p:sp>
      <p:sp>
        <p:nvSpPr>
          <p:cNvPr id="68" name="Rounded Rectangle 67"/>
          <p:cNvSpPr/>
          <p:nvPr/>
        </p:nvSpPr>
        <p:spPr>
          <a:xfrm>
            <a:off x="5400000" y="2430000"/>
            <a:ext cx="792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□□学部</a:t>
            </a:r>
          </a:p>
        </p:txBody>
      </p:sp>
      <p:sp>
        <p:nvSpPr>
          <p:cNvPr id="69" name="Rounded Rectangle 68"/>
          <p:cNvSpPr/>
          <p:nvPr/>
        </p:nvSpPr>
        <p:spPr>
          <a:xfrm>
            <a:off x="3671999" y="2780000"/>
            <a:ext cx="792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◇◇学部</a:t>
            </a:r>
          </a:p>
        </p:txBody>
      </p:sp>
      <p:sp>
        <p:nvSpPr>
          <p:cNvPr id="70" name="Rounded Rectangle 69"/>
          <p:cNvSpPr/>
          <p:nvPr/>
        </p:nvSpPr>
        <p:spPr>
          <a:xfrm>
            <a:off x="4536000" y="2780000"/>
            <a:ext cx="540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未定</a:t>
            </a:r>
          </a:p>
        </p:txBody>
      </p:sp>
      <p:sp>
        <p:nvSpPr>
          <p:cNvPr id="71" name="Rounded Rectangle 70"/>
          <p:cNvSpPr/>
          <p:nvPr/>
        </p:nvSpPr>
        <p:spPr>
          <a:xfrm>
            <a:off x="5148000" y="2780000"/>
            <a:ext cx="648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その他</a:t>
            </a:r>
          </a:p>
        </p:txBody>
      </p:sp>
      <p:sp>
        <p:nvSpPr>
          <p:cNvPr id="72" name="Rounded Rectangle 71"/>
          <p:cNvSpPr/>
          <p:nvPr/>
        </p:nvSpPr>
        <p:spPr>
          <a:xfrm>
            <a:off x="5400000" y="3130000"/>
            <a:ext cx="864000" cy="33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950" b="0">
                <a:solidFill>
                  <a:srgbClr val="FFFFFF"/>
                </a:solidFill>
                <a:latin typeface="メイリオ"/>
              </a:rPr>
              <a:t>〇〇学部</a:t>
            </a:r>
          </a:p>
        </p:txBody>
      </p:sp>
      <p:sp>
        <p:nvSpPr>
          <p:cNvPr id="73" name="Rounded Rectangle 72"/>
          <p:cNvSpPr/>
          <p:nvPr/>
        </p:nvSpPr>
        <p:spPr>
          <a:xfrm>
            <a:off x="3678000" y="3570000"/>
            <a:ext cx="1980000" cy="3300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l"/>
            <a:r>
              <a:rPr sz="950" b="0">
                <a:solidFill>
                  <a:srgbClr val="333333"/>
                </a:solidFill>
                <a:latin typeface="メイリオ"/>
              </a:rPr>
              <a:t>検討状況を教えてください</a:t>
            </a:r>
          </a:p>
        </p:txBody>
      </p:sp>
      <p:sp>
        <p:nvSpPr>
          <p:cNvPr id="74" name="Rounded Rectangle 73"/>
          <p:cNvSpPr/>
          <p:nvPr/>
        </p:nvSpPr>
        <p:spPr>
          <a:xfrm>
            <a:off x="3671999" y="4010000"/>
            <a:ext cx="756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第一志望</a:t>
            </a:r>
          </a:p>
        </p:txBody>
      </p:sp>
      <p:sp>
        <p:nvSpPr>
          <p:cNvPr id="75" name="Rounded Rectangle 74"/>
          <p:cNvSpPr/>
          <p:nvPr/>
        </p:nvSpPr>
        <p:spPr>
          <a:xfrm>
            <a:off x="4500000" y="4010000"/>
            <a:ext cx="827999"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比較検討中</a:t>
            </a:r>
          </a:p>
        </p:txBody>
      </p:sp>
      <p:sp>
        <p:nvSpPr>
          <p:cNvPr id="76" name="Rounded Rectangle 75"/>
          <p:cNvSpPr/>
          <p:nvPr/>
        </p:nvSpPr>
        <p:spPr>
          <a:xfrm>
            <a:off x="5364000" y="4010000"/>
            <a:ext cx="864000" cy="290000"/>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850" b="0">
                <a:solidFill>
                  <a:srgbClr val="06C755"/>
                </a:solidFill>
                <a:latin typeface="メイリオ"/>
              </a:rPr>
              <a:t>情報収集中</a:t>
            </a:r>
          </a:p>
        </p:txBody>
      </p:sp>
      <p:sp>
        <p:nvSpPr>
          <p:cNvPr id="77" name="Rounded Rectangle 76"/>
          <p:cNvSpPr/>
          <p:nvPr/>
        </p:nvSpPr>
        <p:spPr>
          <a:xfrm>
            <a:off x="5364000" y="4360000"/>
            <a:ext cx="900000" cy="33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950" b="0">
                <a:solidFill>
                  <a:srgbClr val="FFFFFF"/>
                </a:solidFill>
                <a:latin typeface="メイリオ"/>
              </a:rPr>
              <a:t>比較検討中</a:t>
            </a:r>
          </a:p>
        </p:txBody>
      </p:sp>
      <p:sp>
        <p:nvSpPr>
          <p:cNvPr id="78" name="Rounded Rectangle 77"/>
          <p:cNvSpPr/>
          <p:nvPr/>
        </p:nvSpPr>
        <p:spPr>
          <a:xfrm>
            <a:off x="6726000" y="1560000"/>
            <a:ext cx="2850000" cy="4880000"/>
          </a:xfrm>
          <a:prstGeom prst="roundRect">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6726000" y="1560000"/>
            <a:ext cx="2850000" cy="3950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ounded Rectangle 79"/>
          <p:cNvSpPr/>
          <p:nvPr/>
        </p:nvSpPr>
        <p:spPr>
          <a:xfrm>
            <a:off x="6821000" y="1640000"/>
            <a:ext cx="235000" cy="235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106000" y="1620000"/>
            <a:ext cx="2390000" cy="275000"/>
          </a:xfrm>
          <a:prstGeom prst="rect">
            <a:avLst/>
          </a:prstGeom>
          <a:noFill/>
        </p:spPr>
        <p:txBody>
          <a:bodyPr wrap="none" tIns="0" bIns="0" anchor="ctr">
            <a:spAutoFit/>
          </a:bodyPr>
          <a:lstStyle/>
          <a:p>
            <a:r>
              <a:rPr sz="1000" b="1">
                <a:solidFill>
                  <a:srgbClr val="FFFFFF"/>
                </a:solidFill>
                <a:latin typeface="メイリオ"/>
              </a:rPr>
              <a:t>〇〇学園 公式（例）</a:t>
            </a:r>
          </a:p>
        </p:txBody>
      </p:sp>
      <p:sp>
        <p:nvSpPr>
          <p:cNvPr id="82" name="Rectangle 81"/>
          <p:cNvSpPr/>
          <p:nvPr/>
        </p:nvSpPr>
        <p:spPr>
          <a:xfrm>
            <a:off x="6746000" y="1955000"/>
            <a:ext cx="2810000" cy="4465000"/>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6876000" y="1990000"/>
            <a:ext cx="1980000" cy="5400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l"/>
            <a:r>
              <a:rPr sz="950" b="0">
                <a:solidFill>
                  <a:srgbClr val="333333"/>
                </a:solidFill>
                <a:latin typeface="メイリオ"/>
              </a:rPr>
              <a:t>〇〇学部志望・検討中のあなたへ！</a:t>
            </a:r>
          </a:p>
        </p:txBody>
      </p:sp>
      <p:sp>
        <p:nvSpPr>
          <p:cNvPr id="84" name="Rounded Rectangle 83"/>
          <p:cNvSpPr/>
          <p:nvPr/>
        </p:nvSpPr>
        <p:spPr>
          <a:xfrm>
            <a:off x="6876000" y="2640000"/>
            <a:ext cx="1980000" cy="12300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6916000" y="2680000"/>
            <a:ext cx="1900000" cy="430000"/>
          </a:xfrm>
          <a:prstGeom prst="rect">
            <a:avLst/>
          </a:prstGeom>
          <a:solidFill>
            <a:srgbClr val="C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916000" y="2680000"/>
            <a:ext cx="1900000" cy="430000"/>
          </a:xfrm>
          <a:prstGeom prst="rect">
            <a:avLst/>
          </a:prstGeom>
          <a:noFill/>
        </p:spPr>
        <p:txBody>
          <a:bodyPr wrap="none" anchor="ctr">
            <a:spAutoFit/>
          </a:bodyPr>
          <a:lstStyle/>
          <a:p>
            <a:pPr algn="ctr"/>
            <a:r>
              <a:rPr sz="900">
                <a:solidFill>
                  <a:srgbClr val="555555"/>
                </a:solidFill>
                <a:latin typeface="メイリオ"/>
              </a:rPr>
              <a:t>学部・キャンパス紹介</a:t>
            </a:r>
          </a:p>
        </p:txBody>
      </p:sp>
      <p:sp>
        <p:nvSpPr>
          <p:cNvPr id="87" name="TextBox 86"/>
          <p:cNvSpPr txBox="1"/>
          <p:nvPr/>
        </p:nvSpPr>
        <p:spPr>
          <a:xfrm>
            <a:off x="6926000" y="3140000"/>
            <a:ext cx="1880000" cy="300000"/>
          </a:xfrm>
          <a:prstGeom prst="rect">
            <a:avLst/>
          </a:prstGeom>
          <a:noFill/>
        </p:spPr>
        <p:txBody>
          <a:bodyPr wrap="none">
            <a:spAutoFit/>
          </a:bodyPr>
          <a:lstStyle/>
          <a:p>
            <a:r>
              <a:rPr sz="1050" b="1">
                <a:solidFill>
                  <a:srgbClr val="333333"/>
                </a:solidFill>
                <a:latin typeface="メイリオ"/>
              </a:rPr>
              <a:t>オープンキャンパス 8/2(日)開催（例）</a:t>
            </a:r>
          </a:p>
        </p:txBody>
      </p:sp>
      <p:sp>
        <p:nvSpPr>
          <p:cNvPr id="88" name="Rounded Rectangle 87"/>
          <p:cNvSpPr/>
          <p:nvPr/>
        </p:nvSpPr>
        <p:spPr>
          <a:xfrm>
            <a:off x="7026000" y="3470000"/>
            <a:ext cx="1680000" cy="33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sz="1000" b="1">
                <a:solidFill>
                  <a:srgbClr val="FFFFFF"/>
                </a:solidFill>
                <a:latin typeface="メイリオ"/>
              </a:rPr>
              <a:t>OCを予約する【CV②】</a:t>
            </a:r>
          </a:p>
        </p:txBody>
      </p:sp>
      <p:sp>
        <p:nvSpPr>
          <p:cNvPr id="89" name="Rounded Rectangle 88"/>
          <p:cNvSpPr/>
          <p:nvPr/>
        </p:nvSpPr>
        <p:spPr>
          <a:xfrm>
            <a:off x="6876000" y="3980000"/>
            <a:ext cx="1980000" cy="54000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l"/>
            <a:r>
              <a:rPr sz="950" b="0">
                <a:solidFill>
                  <a:srgbClr val="333333"/>
                </a:solidFill>
                <a:latin typeface="メイリオ"/>
              </a:rPr>
              <a:t>まずは資料でじっくり検討したい方はこちら</a:t>
            </a:r>
          </a:p>
        </p:txBody>
      </p:sp>
      <p:sp>
        <p:nvSpPr>
          <p:cNvPr id="90" name="Rounded Rectangle 89"/>
          <p:cNvSpPr/>
          <p:nvPr/>
        </p:nvSpPr>
        <p:spPr>
          <a:xfrm>
            <a:off x="6876000" y="4630000"/>
            <a:ext cx="1980000" cy="36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25000" rIns="70000" bIns="25000" rtlCol="0" anchor="ctr"/>
          <a:lstStyle/>
          <a:p>
            <a:pPr algn="ctr"/>
            <a:r>
              <a:rPr lang="ja-JP" altLang="en-US" sz="1000" b="1" dirty="0">
                <a:solidFill>
                  <a:srgbClr val="FFFFFF"/>
                </a:solidFill>
                <a:latin typeface="メイリオ"/>
              </a:rPr>
              <a:t>パンフを受け取る【CV①】</a:t>
            </a:r>
            <a:endParaRPr lang="en-US" altLang="ja-JP" sz="1000" b="1" dirty="0">
              <a:solidFill>
                <a:srgbClr val="FFFFFF"/>
              </a:solidFill>
              <a:latin typeface="メイリオ"/>
            </a:endParaRPr>
          </a:p>
        </p:txBody>
      </p:sp>
    </p:spTree>
    <p:extLst>
      <p:ext uri="{BB962C8B-B14F-4D97-AF65-F5344CB8AC3E}">
        <p14:creationId xmlns:p14="http://schemas.microsoft.com/office/powerpoint/2010/main" val="466478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75C79-C4F6-BEFE-5E35-3EF88BE1859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A616BDA-5617-AEAB-F367-654E26403C50}"/>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C61DE46-EA67-75A4-B1E7-F20CE7C3D966}"/>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友だち追加後は「知る→惹かれる→安心する→動く」の順で不安を消し、オープンキャンパス予約（CV②）へ運ぶ。</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本人・保護者・受験学年で配信を出し分け。</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F522178-05C0-54D1-2D19-4FAB788AB12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6FACA905-6967-76D2-45C8-85ED0D8535C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具体企画のブレスト</a:t>
            </a:r>
            <a:endParaRPr sz="1600" b="1" dirty="0">
              <a:solidFill>
                <a:srgbClr val="002060"/>
              </a:solidFill>
              <a:latin typeface="Meiryo"/>
              <a:ea typeface="Meiryo"/>
              <a:cs typeface="Meiryo"/>
              <a:sym typeface="Meiryo"/>
            </a:endParaRPr>
          </a:p>
        </p:txBody>
      </p:sp>
      <p:sp>
        <p:nvSpPr>
          <p:cNvPr id="46" name="Rounded Rectangle 45"/>
          <p:cNvSpPr/>
          <p:nvPr/>
        </p:nvSpPr>
        <p:spPr>
          <a:xfrm>
            <a:off x="350000" y="2050000"/>
            <a:ext cx="1185714"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rPr>
              <a:t>1日目</a:t>
            </a:r>
          </a:p>
          <a:p>
            <a:pPr algn="ctr"/>
            <a:r>
              <a:rPr sz="1000">
                <a:latin typeface="メイリオ"/>
                <a:ea typeface="メイリオ"/>
              </a:rPr>
              <a:t>あいさつ＋</a:t>
            </a:r>
            <a:endParaRPr sz="1050" b="1">
              <a:solidFill>
                <a:srgbClr val="FFFFFF"/>
              </a:solidFill>
              <a:latin typeface="メイリオ"/>
            </a:endParaRPr>
          </a:p>
          <a:p>
            <a:pPr algn="ctr"/>
            <a:r>
              <a:rPr sz="850" b="0">
                <a:solidFill>
                  <a:srgbClr val="FFFFFF"/>
                </a:solidFill>
                <a:latin typeface="メイリオ"/>
              </a:rPr>
              <a:t>パンフ・紹介動画</a:t>
            </a:r>
          </a:p>
        </p:txBody>
      </p:sp>
      <p:sp>
        <p:nvSpPr>
          <p:cNvPr id="48" name="Rounded Rectangle 47"/>
          <p:cNvSpPr/>
          <p:nvPr/>
        </p:nvSpPr>
        <p:spPr>
          <a:xfrm>
            <a:off x="1685714" y="2050000"/>
            <a:ext cx="1185714"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rPr>
              <a:t>2日目</a:t>
            </a:r>
          </a:p>
          <a:p>
            <a:pPr algn="ctr"/>
            <a:r>
              <a:rPr sz="1000">
                <a:latin typeface="メイリオ"/>
                <a:ea typeface="メイリオ"/>
              </a:rPr>
              <a:t>学部・学科と</a:t>
            </a:r>
            <a:endParaRPr sz="1050" b="1">
              <a:solidFill>
                <a:srgbClr val="FFFFFF"/>
              </a:solidFill>
              <a:latin typeface="メイリオ"/>
            </a:endParaRPr>
          </a:p>
          <a:p>
            <a:pPr algn="ctr"/>
            <a:r>
              <a:rPr sz="850" b="0">
                <a:solidFill>
                  <a:srgbClr val="FFFFFF"/>
                </a:solidFill>
                <a:latin typeface="メイリオ"/>
              </a:rPr>
              <a:t>めざせる仕事</a:t>
            </a:r>
          </a:p>
        </p:txBody>
      </p:sp>
      <p:sp>
        <p:nvSpPr>
          <p:cNvPr id="50" name="Rounded Rectangle 49"/>
          <p:cNvSpPr/>
          <p:nvPr/>
        </p:nvSpPr>
        <p:spPr>
          <a:xfrm>
            <a:off x="3021428" y="2050000"/>
            <a:ext cx="1185714"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rPr>
              <a:t>3日目</a:t>
            </a:r>
          </a:p>
          <a:p>
            <a:pPr algn="ctr"/>
            <a:r>
              <a:rPr sz="1000">
                <a:latin typeface="メイリオ"/>
                <a:ea typeface="メイリオ"/>
              </a:rPr>
              <a:t>キャンパスライフ</a:t>
            </a:r>
            <a:endParaRPr sz="1050" b="1">
              <a:solidFill>
                <a:srgbClr val="FFFFFF"/>
              </a:solidFill>
              <a:latin typeface="メイリオ"/>
            </a:endParaRPr>
          </a:p>
          <a:p>
            <a:pPr algn="ctr"/>
            <a:r>
              <a:rPr sz="850" b="0">
                <a:solidFill>
                  <a:srgbClr val="FFFFFF"/>
                </a:solidFill>
                <a:latin typeface="メイリオ"/>
              </a:rPr>
              <a:t>在校生の声</a:t>
            </a:r>
          </a:p>
        </p:txBody>
      </p:sp>
      <p:sp>
        <p:nvSpPr>
          <p:cNvPr id="52" name="Rounded Rectangle 51"/>
          <p:cNvSpPr/>
          <p:nvPr/>
        </p:nvSpPr>
        <p:spPr>
          <a:xfrm>
            <a:off x="4357142" y="2050000"/>
            <a:ext cx="1185714"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rPr>
              <a:t>5日目</a:t>
            </a:r>
          </a:p>
          <a:p>
            <a:pPr algn="ctr"/>
            <a:r>
              <a:rPr sz="1000">
                <a:latin typeface="メイリオ"/>
                <a:ea typeface="メイリオ"/>
              </a:rPr>
              <a:t>就職実績・資格</a:t>
            </a:r>
            <a:endParaRPr sz="1050" b="1">
              <a:solidFill>
                <a:srgbClr val="FFFFFF"/>
              </a:solidFill>
              <a:latin typeface="メイリオ"/>
            </a:endParaRPr>
          </a:p>
          <a:p>
            <a:pPr algn="ctr"/>
            <a:r>
              <a:rPr sz="850" b="0">
                <a:solidFill>
                  <a:srgbClr val="FFFFFF"/>
                </a:solidFill>
                <a:latin typeface="メイリオ"/>
              </a:rPr>
              <a:t>学費・奨学金</a:t>
            </a:r>
          </a:p>
        </p:txBody>
      </p:sp>
      <p:sp>
        <p:nvSpPr>
          <p:cNvPr id="54" name="Rounded Rectangle 53"/>
          <p:cNvSpPr/>
          <p:nvPr/>
        </p:nvSpPr>
        <p:spPr>
          <a:xfrm>
            <a:off x="5692857" y="2050000"/>
            <a:ext cx="1185714"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rPr>
              <a:t>7日目</a:t>
            </a:r>
          </a:p>
          <a:p>
            <a:pPr algn="ctr"/>
            <a:r>
              <a:rPr sz="1000">
                <a:latin typeface="メイリオ"/>
                <a:ea typeface="メイリオ"/>
              </a:rPr>
              <a:t>オープンキャンパス</a:t>
            </a:r>
            <a:endParaRPr sz="1050" b="1">
              <a:solidFill>
                <a:srgbClr val="FFFFFF"/>
              </a:solidFill>
              <a:latin typeface="メイリオ"/>
            </a:endParaRPr>
          </a:p>
          <a:p>
            <a:pPr algn="ctr"/>
            <a:r>
              <a:rPr sz="850" b="0">
                <a:solidFill>
                  <a:srgbClr val="FFFFFF"/>
                </a:solidFill>
                <a:latin typeface="メイリオ"/>
              </a:rPr>
              <a:t>予約オファー【CV②】</a:t>
            </a:r>
          </a:p>
        </p:txBody>
      </p:sp>
      <p:sp>
        <p:nvSpPr>
          <p:cNvPr id="56" name="Rounded Rectangle 55"/>
          <p:cNvSpPr/>
          <p:nvPr/>
        </p:nvSpPr>
        <p:spPr>
          <a:xfrm>
            <a:off x="7028571" y="2050000"/>
            <a:ext cx="1185714"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rPr>
              <a:t>10日目</a:t>
            </a:r>
          </a:p>
          <a:p>
            <a:pPr algn="ctr"/>
            <a:r>
              <a:rPr sz="1000">
                <a:latin typeface="メイリオ"/>
                <a:ea typeface="メイリオ"/>
              </a:rPr>
              <a:t>入試方式・日程</a:t>
            </a:r>
            <a:endParaRPr sz="1050" b="1">
              <a:solidFill>
                <a:srgbClr val="FFFFFF"/>
              </a:solidFill>
              <a:latin typeface="メイリオ"/>
            </a:endParaRPr>
          </a:p>
          <a:p>
            <a:pPr algn="ctr"/>
            <a:r>
              <a:rPr sz="850" b="0">
                <a:solidFill>
                  <a:srgbClr val="FFFFFF"/>
                </a:solidFill>
                <a:latin typeface="メイリオ"/>
              </a:rPr>
              <a:t>まるわかり解説</a:t>
            </a:r>
          </a:p>
        </p:txBody>
      </p:sp>
      <p:sp>
        <p:nvSpPr>
          <p:cNvPr id="58" name="Rounded Rectangle 57"/>
          <p:cNvSpPr/>
          <p:nvPr/>
        </p:nvSpPr>
        <p:spPr>
          <a:xfrm>
            <a:off x="8364285" y="2050000"/>
            <a:ext cx="1185714"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rPr>
              <a:t>14日目〜</a:t>
            </a:r>
          </a:p>
          <a:p>
            <a:pPr algn="ctr"/>
            <a:r>
              <a:rPr sz="1000">
                <a:latin typeface="メイリオ"/>
                <a:ea typeface="メイリオ"/>
              </a:rPr>
              <a:t>個別相談・</a:t>
            </a:r>
            <a:endParaRPr sz="1050" b="1">
              <a:solidFill>
                <a:srgbClr val="FFFFFF"/>
              </a:solidFill>
              <a:latin typeface="メイリオ"/>
            </a:endParaRPr>
          </a:p>
          <a:p>
            <a:pPr algn="ctr"/>
            <a:r>
              <a:rPr sz="850" b="0">
                <a:solidFill>
                  <a:srgbClr val="FFFFFF"/>
                </a:solidFill>
                <a:latin typeface="メイリオ"/>
              </a:rPr>
              <a:t>出願サポート【CV③】</a:t>
            </a:r>
          </a:p>
        </p:txBody>
      </p:sp>
      <p:sp>
        <p:nvSpPr>
          <p:cNvPr id="47" name="Right Arrow 46"/>
          <p:cNvSpPr/>
          <p:nvPr/>
        </p:nvSpPr>
        <p:spPr>
          <a:xfrm>
            <a:off x="1543714" y="2670000"/>
            <a:ext cx="134000" cy="26000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ight Arrow 48"/>
          <p:cNvSpPr/>
          <p:nvPr/>
        </p:nvSpPr>
        <p:spPr>
          <a:xfrm>
            <a:off x="2879428" y="2670000"/>
            <a:ext cx="134000" cy="26000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ight Arrow 50"/>
          <p:cNvSpPr/>
          <p:nvPr/>
        </p:nvSpPr>
        <p:spPr>
          <a:xfrm>
            <a:off x="4215142" y="2670000"/>
            <a:ext cx="134000" cy="26000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ight Arrow 52"/>
          <p:cNvSpPr/>
          <p:nvPr/>
        </p:nvSpPr>
        <p:spPr>
          <a:xfrm>
            <a:off x="5550857" y="2670000"/>
            <a:ext cx="134000" cy="26000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ight Arrow 54"/>
          <p:cNvSpPr/>
          <p:nvPr/>
        </p:nvSpPr>
        <p:spPr>
          <a:xfrm>
            <a:off x="6886571" y="2670000"/>
            <a:ext cx="134000" cy="26000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ight Arrow 56"/>
          <p:cNvSpPr/>
          <p:nvPr/>
        </p:nvSpPr>
        <p:spPr>
          <a:xfrm>
            <a:off x="8222285" y="2670000"/>
            <a:ext cx="134000" cy="26000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50000" y="3750000"/>
            <a:ext cx="9200000" cy="300000"/>
          </a:xfrm>
          <a:prstGeom prst="rect">
            <a:avLst/>
          </a:prstGeom>
          <a:noFill/>
        </p:spPr>
        <p:txBody>
          <a:bodyPr wrap="square">
            <a:spAutoFit/>
          </a:bodyPr>
          <a:lstStyle/>
          <a:p>
            <a:pPr algn="l"/>
            <a:r>
              <a:rPr sz="950" b="0">
                <a:solidFill>
                  <a:srgbClr val="555555"/>
                </a:solidFill>
                <a:latin typeface="メイリオ"/>
              </a:rPr>
              <a:t>※ 資料請求（CV①）後のユーザーを想定した例。前後検索・アンケート回答に合わせて配信テーマ・順序を最適化。</a:t>
            </a:r>
          </a:p>
        </p:txBody>
      </p:sp>
    </p:spTree>
    <p:extLst>
      <p:ext uri="{BB962C8B-B14F-4D97-AF65-F5344CB8AC3E}">
        <p14:creationId xmlns:p14="http://schemas.microsoft.com/office/powerpoint/2010/main" val="272903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進学検討の年間サイクルに合わせた企画配信で、資料請求・オープンキャンパス予約のピークを創出する。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具体企画のブレスト</a:t>
            </a:r>
            <a:endParaRPr sz="1600" b="1" dirty="0">
              <a:solidFill>
                <a:srgbClr val="002060"/>
              </a:solidFill>
              <a:latin typeface="Meiryo"/>
              <a:ea typeface="Meiryo"/>
              <a:cs typeface="Meiryo"/>
              <a:sym typeface="Meiryo"/>
            </a:endParaRPr>
          </a:p>
        </p:txBody>
      </p:sp>
      <p:sp>
        <p:nvSpPr>
          <p:cNvPr id="7" name="Rounded Rectangle 6"/>
          <p:cNvSpPr/>
          <p:nvPr/>
        </p:nvSpPr>
        <p:spPr>
          <a:xfrm>
            <a:off x="350000" y="1900000"/>
            <a:ext cx="75200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3月</a:t>
            </a:r>
          </a:p>
        </p:txBody>
      </p:sp>
      <p:sp>
        <p:nvSpPr>
          <p:cNvPr id="8" name="Rounded Rectangle 7"/>
          <p:cNvSpPr/>
          <p:nvPr/>
        </p:nvSpPr>
        <p:spPr>
          <a:xfrm>
            <a:off x="1116000" y="1900000"/>
            <a:ext cx="75200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4月</a:t>
            </a:r>
          </a:p>
        </p:txBody>
      </p:sp>
      <p:sp>
        <p:nvSpPr>
          <p:cNvPr id="9" name="Rounded Rectangle 8"/>
          <p:cNvSpPr/>
          <p:nvPr/>
        </p:nvSpPr>
        <p:spPr>
          <a:xfrm>
            <a:off x="1882000" y="1900000"/>
            <a:ext cx="752000" cy="42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5月</a:t>
            </a:r>
          </a:p>
        </p:txBody>
      </p:sp>
      <p:sp>
        <p:nvSpPr>
          <p:cNvPr id="10" name="Rounded Rectangle 9"/>
          <p:cNvSpPr/>
          <p:nvPr/>
        </p:nvSpPr>
        <p:spPr>
          <a:xfrm>
            <a:off x="2648000" y="1900000"/>
            <a:ext cx="752000" cy="42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6月</a:t>
            </a:r>
          </a:p>
        </p:txBody>
      </p:sp>
      <p:sp>
        <p:nvSpPr>
          <p:cNvPr id="11" name="Rounded Rectangle 10"/>
          <p:cNvSpPr/>
          <p:nvPr/>
        </p:nvSpPr>
        <p:spPr>
          <a:xfrm>
            <a:off x="3414000" y="1900000"/>
            <a:ext cx="752000" cy="42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7月</a:t>
            </a:r>
          </a:p>
        </p:txBody>
      </p:sp>
      <p:sp>
        <p:nvSpPr>
          <p:cNvPr id="12" name="Rounded Rectangle 11"/>
          <p:cNvSpPr/>
          <p:nvPr/>
        </p:nvSpPr>
        <p:spPr>
          <a:xfrm>
            <a:off x="4180000" y="1900000"/>
            <a:ext cx="752000" cy="42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8月</a:t>
            </a:r>
          </a:p>
        </p:txBody>
      </p:sp>
      <p:sp>
        <p:nvSpPr>
          <p:cNvPr id="13" name="Rounded Rectangle 12"/>
          <p:cNvSpPr/>
          <p:nvPr/>
        </p:nvSpPr>
        <p:spPr>
          <a:xfrm>
            <a:off x="4946000" y="1900000"/>
            <a:ext cx="75200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9月</a:t>
            </a:r>
          </a:p>
        </p:txBody>
      </p:sp>
      <p:sp>
        <p:nvSpPr>
          <p:cNvPr id="14" name="Rounded Rectangle 13"/>
          <p:cNvSpPr/>
          <p:nvPr/>
        </p:nvSpPr>
        <p:spPr>
          <a:xfrm>
            <a:off x="5712000" y="1900000"/>
            <a:ext cx="75200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10月</a:t>
            </a:r>
          </a:p>
        </p:txBody>
      </p:sp>
      <p:sp>
        <p:nvSpPr>
          <p:cNvPr id="15" name="Rounded Rectangle 14"/>
          <p:cNvSpPr/>
          <p:nvPr/>
        </p:nvSpPr>
        <p:spPr>
          <a:xfrm>
            <a:off x="6478000" y="1900000"/>
            <a:ext cx="75200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11月</a:t>
            </a:r>
          </a:p>
        </p:txBody>
      </p:sp>
      <p:sp>
        <p:nvSpPr>
          <p:cNvPr id="16" name="Rounded Rectangle 15"/>
          <p:cNvSpPr/>
          <p:nvPr/>
        </p:nvSpPr>
        <p:spPr>
          <a:xfrm>
            <a:off x="7244000" y="1900000"/>
            <a:ext cx="75200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12月</a:t>
            </a:r>
          </a:p>
        </p:txBody>
      </p:sp>
      <p:sp>
        <p:nvSpPr>
          <p:cNvPr id="17" name="Rounded Rectangle 16"/>
          <p:cNvSpPr/>
          <p:nvPr/>
        </p:nvSpPr>
        <p:spPr>
          <a:xfrm>
            <a:off x="8010000" y="1900000"/>
            <a:ext cx="75200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1月</a:t>
            </a:r>
          </a:p>
        </p:txBody>
      </p:sp>
      <p:sp>
        <p:nvSpPr>
          <p:cNvPr id="18" name="Rounded Rectangle 17"/>
          <p:cNvSpPr/>
          <p:nvPr/>
        </p:nvSpPr>
        <p:spPr>
          <a:xfrm>
            <a:off x="8776000" y="1900000"/>
            <a:ext cx="75200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FFFFFF"/>
                </a:solidFill>
                <a:latin typeface="メイリオ"/>
              </a:rPr>
              <a:t>2月</a:t>
            </a:r>
          </a:p>
        </p:txBody>
      </p:sp>
      <p:sp>
        <p:nvSpPr>
          <p:cNvPr id="19" name="Rounded Rectangle 18"/>
          <p:cNvSpPr/>
          <p:nvPr/>
        </p:nvSpPr>
        <p:spPr>
          <a:xfrm>
            <a:off x="360000" y="2400000"/>
            <a:ext cx="1530000" cy="19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100" b="1">
                <a:solidFill>
                  <a:srgbClr val="1F3A5F"/>
                </a:solidFill>
                <a:latin typeface="メイリオ"/>
              </a:rPr>
              <a:t>3〜4月　進路検討スタート</a:t>
            </a:r>
          </a:p>
          <a:p>
            <a:pPr algn="l"/>
            <a:r>
              <a:rPr sz="950" b="0">
                <a:solidFill>
                  <a:srgbClr val="333333"/>
                </a:solidFill>
                <a:latin typeface="メイリオ"/>
              </a:rPr>
              <a:t>・新高3の志望校さがし</a:t>
            </a:r>
          </a:p>
          <a:p>
            <a:pPr algn="l"/>
            <a:r>
              <a:rPr sz="950" b="0">
                <a:solidFill>
                  <a:srgbClr val="333333"/>
                </a:solidFill>
                <a:latin typeface="メイリオ"/>
              </a:rPr>
              <a:t>・春のオープンキャンパス</a:t>
            </a:r>
          </a:p>
          <a:p>
            <a:pPr algn="l"/>
            <a:r>
              <a:rPr sz="950" b="0">
                <a:solidFill>
                  <a:srgbClr val="333333"/>
                </a:solidFill>
                <a:latin typeface="メイリオ"/>
              </a:rPr>
              <a:t>・保護者向け：学費・無償化の情報需要</a:t>
            </a:r>
          </a:p>
        </p:txBody>
      </p:sp>
      <p:sp>
        <p:nvSpPr>
          <p:cNvPr id="20" name="Rounded Rectangle 19"/>
          <p:cNvSpPr/>
          <p:nvPr/>
        </p:nvSpPr>
        <p:spPr>
          <a:xfrm>
            <a:off x="1925999" y="2400000"/>
            <a:ext cx="3006000" cy="19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100" b="1">
                <a:solidFill>
                  <a:srgbClr val="06C755"/>
                </a:solidFill>
                <a:latin typeface="メイリオ"/>
              </a:rPr>
              <a:t>5〜8月　情報収集・OC最盛期</a:t>
            </a:r>
          </a:p>
          <a:p>
            <a:pPr algn="l"/>
            <a:r>
              <a:rPr sz="950" b="0">
                <a:solidFill>
                  <a:srgbClr val="333333"/>
                </a:solidFill>
                <a:latin typeface="メイリオ"/>
              </a:rPr>
              <a:t>・学部研究・学校比較の配信</a:t>
            </a:r>
          </a:p>
          <a:p>
            <a:pPr algn="l"/>
            <a:r>
              <a:rPr sz="950" b="0">
                <a:solidFill>
                  <a:srgbClr val="333333"/>
                </a:solidFill>
                <a:latin typeface="メイリオ"/>
              </a:rPr>
              <a:t>・オープンキャンパス予約/参加</a:t>
            </a:r>
          </a:p>
          <a:p>
            <a:pPr algn="l"/>
            <a:r>
              <a:rPr sz="950" b="0">
                <a:solidFill>
                  <a:srgbClr val="333333"/>
                </a:solidFill>
                <a:latin typeface="メイリオ"/>
              </a:rPr>
              <a:t>・OC検索は8月中旬が年間最大（6月に仕込み）</a:t>
            </a:r>
          </a:p>
        </p:txBody>
      </p:sp>
      <p:sp>
        <p:nvSpPr>
          <p:cNvPr id="21" name="Rounded Rectangle 20"/>
          <p:cNvSpPr/>
          <p:nvPr/>
        </p:nvSpPr>
        <p:spPr>
          <a:xfrm>
            <a:off x="4968000" y="2400000"/>
            <a:ext cx="2268000" cy="19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100" b="1">
                <a:solidFill>
                  <a:srgbClr val="24345A"/>
                </a:solidFill>
                <a:latin typeface="メイリオ"/>
              </a:rPr>
              <a:t>9〜11月　総合型・推薦 出願期</a:t>
            </a:r>
          </a:p>
          <a:p>
            <a:pPr algn="l"/>
            <a:r>
              <a:rPr sz="950" b="0">
                <a:solidFill>
                  <a:srgbClr val="333333"/>
                </a:solidFill>
                <a:latin typeface="メイリオ"/>
              </a:rPr>
              <a:t>・総合型選抜（9月〜）</a:t>
            </a:r>
          </a:p>
          <a:p>
            <a:pPr algn="l"/>
            <a:r>
              <a:rPr sz="950" b="0">
                <a:solidFill>
                  <a:srgbClr val="333333"/>
                </a:solidFill>
                <a:latin typeface="メイリオ"/>
              </a:rPr>
              <a:t>・学校推薦型（11月〜）</a:t>
            </a:r>
          </a:p>
          <a:p>
            <a:pPr algn="l"/>
            <a:r>
              <a:rPr sz="950" b="0">
                <a:solidFill>
                  <a:srgbClr val="333333"/>
                </a:solidFill>
                <a:latin typeface="メイリオ"/>
              </a:rPr>
              <a:t>・出願リマインド配信</a:t>
            </a:r>
          </a:p>
        </p:txBody>
      </p:sp>
      <p:sp>
        <p:nvSpPr>
          <p:cNvPr id="22" name="TextBox 21"/>
          <p:cNvSpPr txBox="1"/>
          <p:nvPr/>
        </p:nvSpPr>
        <p:spPr>
          <a:xfrm>
            <a:off x="350000" y="6372000"/>
            <a:ext cx="9200000" cy="280000"/>
          </a:xfrm>
          <a:prstGeom prst="rect">
            <a:avLst/>
          </a:prstGeom>
          <a:noFill/>
        </p:spPr>
        <p:txBody>
          <a:bodyPr wrap="square">
            <a:spAutoFit/>
          </a:bodyPr>
          <a:lstStyle/>
          <a:p>
            <a:r>
              <a:rPr sz="900">
                <a:solidFill>
                  <a:srgbClr val="555555"/>
                </a:solidFill>
                <a:latin typeface="メイリオ"/>
              </a:rPr>
              <a:t>※ 入試日程およびGoogleトレンド（日本・2025年）の検索動向に基づく。貴校の日程・実データに合わせて最適化します。</a:t>
            </a:r>
          </a:p>
        </p:txBody>
      </p:sp>
      <p:sp>
        <p:nvSpPr>
          <p:cNvPr id="23" name="TextBox 22"/>
          <p:cNvSpPr txBox="1"/>
          <p:nvPr/>
        </p:nvSpPr>
        <p:spPr>
          <a:xfrm>
            <a:off x="350000" y="4480000"/>
            <a:ext cx="6000000" cy="300000"/>
          </a:xfrm>
          <a:prstGeom prst="rect">
            <a:avLst/>
          </a:prstGeom>
          <a:noFill/>
        </p:spPr>
        <p:txBody>
          <a:bodyPr wrap="square">
            <a:spAutoFit/>
          </a:bodyPr>
          <a:lstStyle/>
          <a:p>
            <a:r>
              <a:rPr sz="1200" b="1">
                <a:solidFill>
                  <a:srgbClr val="1F3A5F"/>
                </a:solidFill>
                <a:latin typeface="メイリオ"/>
              </a:rPr>
              <a:t>配信運用のリズム（システム化：いつ・何を投稿するか）</a:t>
            </a:r>
          </a:p>
        </p:txBody>
      </p:sp>
      <p:sp>
        <p:nvSpPr>
          <p:cNvPr id="24" name="Rounded Rectangle 23"/>
          <p:cNvSpPr/>
          <p:nvPr/>
        </p:nvSpPr>
        <p:spPr>
          <a:xfrm>
            <a:off x="35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lang="ja-JP" altLang="en-US" sz="1050" b="1" dirty="0">
                <a:solidFill>
                  <a:srgbClr val="1F3A5F"/>
                </a:solidFill>
                <a:latin typeface="メイリオ"/>
              </a:rPr>
              <a:t>月</a:t>
            </a:r>
            <a:r>
              <a:rPr lang="en-US" altLang="ja-JP" sz="1050" b="1" dirty="0">
                <a:solidFill>
                  <a:srgbClr val="1F3A5F"/>
                </a:solidFill>
                <a:latin typeface="メイリオ"/>
              </a:rPr>
              <a:t>4</a:t>
            </a:r>
            <a:r>
              <a:rPr sz="1050" b="1" dirty="0">
                <a:solidFill>
                  <a:srgbClr val="1F3A5F"/>
                </a:solidFill>
                <a:latin typeface="メイリオ"/>
              </a:rPr>
              <a:t>回：定期投稿</a:t>
            </a:r>
          </a:p>
          <a:p>
            <a:pPr algn="l"/>
            <a:endParaRPr sz="1050" b="1" dirty="0">
              <a:solidFill>
                <a:srgbClr val="1F3A5F"/>
              </a:solidFill>
              <a:latin typeface="メイリオ"/>
            </a:endParaRPr>
          </a:p>
          <a:p>
            <a:pPr algn="l"/>
            <a:r>
              <a:rPr sz="900" b="0" dirty="0" err="1">
                <a:solidFill>
                  <a:srgbClr val="333333"/>
                </a:solidFill>
                <a:latin typeface="メイリオ"/>
              </a:rPr>
              <a:t>月次プランで「いつ・何を」を事前確定し、システム化して運用</a:t>
            </a:r>
            <a:endParaRPr sz="900" b="0" dirty="0">
              <a:solidFill>
                <a:srgbClr val="333333"/>
              </a:solidFill>
              <a:latin typeface="メイリオ"/>
            </a:endParaRPr>
          </a:p>
        </p:txBody>
      </p:sp>
      <p:sp>
        <p:nvSpPr>
          <p:cNvPr id="25" name="Rounded Rectangle 24"/>
          <p:cNvSpPr/>
          <p:nvPr/>
        </p:nvSpPr>
        <p:spPr>
          <a:xfrm>
            <a:off x="268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1F3A5F"/>
                </a:solidFill>
                <a:latin typeface="メイリオ"/>
              </a:rPr>
              <a:t>時期・時事の特別配信</a:t>
            </a:r>
          </a:p>
          <a:p>
            <a:pPr algn="l"/>
            <a:r>
              <a:rPr sz="1000">
                <a:solidFill>
                  <a:srgbClr val="404040"/>
                </a:solidFill>
                <a:latin typeface="メイリオ"/>
                <a:ea typeface="メイリオ"/>
              </a:rPr>
              <a:t>出願期リマインド、入試ニュースに連動した配信を追加</a:t>
            </a:r>
            <a:endParaRPr sz="1050" b="1">
              <a:solidFill>
                <a:srgbClr val="1F3A5F"/>
              </a:solidFill>
              <a:latin typeface="メイリオ"/>
            </a:endParaRPr>
          </a:p>
          <a:p>
            <a:pPr algn="l"/>
            <a:endParaRPr sz="1050" b="1">
              <a:solidFill>
                <a:srgbClr val="1F3A5F"/>
              </a:solidFill>
              <a:latin typeface="メイリオ"/>
            </a:endParaRPr>
          </a:p>
        </p:txBody>
      </p:sp>
      <p:sp>
        <p:nvSpPr>
          <p:cNvPr id="26" name="Rounded Rectangle 25"/>
          <p:cNvSpPr/>
          <p:nvPr/>
        </p:nvSpPr>
        <p:spPr>
          <a:xfrm>
            <a:off x="501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1F3A5F"/>
                </a:solidFill>
                <a:latin typeface="メイリオ"/>
              </a:rPr>
              <a:t>ステップ配信は全自動</a:t>
            </a:r>
          </a:p>
          <a:p>
            <a:pPr algn="l"/>
            <a:endParaRPr sz="1050" b="1">
              <a:solidFill>
                <a:srgbClr val="1F3A5F"/>
              </a:solidFill>
              <a:latin typeface="メイリオ"/>
            </a:endParaRPr>
          </a:p>
          <a:p>
            <a:pPr algn="l"/>
            <a:r>
              <a:rPr sz="900" b="0">
                <a:solidFill>
                  <a:srgbClr val="333333"/>
                </a:solidFill>
                <a:latin typeface="メイリオ"/>
              </a:rPr>
              <a:t>友だち追加後の育成配信はシナリオで常時稼働</a:t>
            </a:r>
          </a:p>
        </p:txBody>
      </p:sp>
      <p:sp>
        <p:nvSpPr>
          <p:cNvPr id="27" name="Rounded Rectangle 26"/>
          <p:cNvSpPr/>
          <p:nvPr/>
        </p:nvSpPr>
        <p:spPr>
          <a:xfrm>
            <a:off x="7340000" y="4850000"/>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1F3A5F"/>
                </a:solidFill>
                <a:latin typeface="メイリオ"/>
              </a:rPr>
              <a:t>クリエイティブABテスト</a:t>
            </a:r>
          </a:p>
          <a:p>
            <a:pPr algn="l"/>
            <a:r>
              <a:rPr sz="1000">
                <a:solidFill>
                  <a:srgbClr val="404040"/>
                </a:solidFill>
                <a:latin typeface="メイリオ"/>
                <a:ea typeface="メイリオ"/>
              </a:rPr>
              <a:t>学部×訴求×時期でテストし、勝ちパターンを更新</a:t>
            </a:r>
            <a:endParaRPr sz="1050" b="1">
              <a:solidFill>
                <a:srgbClr val="1F3A5F"/>
              </a:solidFill>
              <a:latin typeface="メイリオ"/>
            </a:endParaRPr>
          </a:p>
          <a:p>
            <a:pPr algn="l"/>
            <a:endParaRPr sz="1050" b="1">
              <a:solidFill>
                <a:srgbClr val="1F3A5F"/>
              </a:solidFill>
              <a:latin typeface="メイリオ"/>
            </a:endParaRPr>
          </a:p>
        </p:txBody>
      </p:sp>
      <p:sp>
        <p:nvSpPr>
          <p:cNvPr id="28" name="Rounded Rectangle 20"/>
          <p:cNvSpPr/>
          <p:nvPr/>
        </p:nvSpPr>
        <p:spPr>
          <a:xfrm>
            <a:off x="7272000" y="2400000"/>
            <a:ext cx="2250000" cy="19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100" b="1">
                <a:solidFill>
                  <a:srgbClr val="24345A"/>
                </a:solidFill>
                <a:latin typeface="メイリオ"/>
              </a:rPr>
              <a:t>12〜2月　一般選抜・共テ期</a:t>
            </a:r>
          </a:p>
          <a:p>
            <a:pPr algn="l"/>
            <a:r>
              <a:rPr sz="950" b="0">
                <a:solidFill>
                  <a:srgbClr val="333333"/>
                </a:solidFill>
                <a:latin typeface="メイリオ"/>
              </a:rPr>
              <a:t>・共通テスト（1月）前後の発信</a:t>
            </a:r>
          </a:p>
          <a:p>
            <a:pPr algn="l"/>
            <a:r>
              <a:rPr sz="950" b="0">
                <a:solidFill>
                  <a:srgbClr val="333333"/>
                </a:solidFill>
                <a:latin typeface="メイリオ"/>
              </a:rPr>
              <a:t>・一般選抜・併願校の検討</a:t>
            </a:r>
          </a:p>
          <a:p>
            <a:pPr algn="l"/>
            <a:r>
              <a:rPr sz="950" b="0">
                <a:solidFill>
                  <a:srgbClr val="333333"/>
                </a:solidFill>
                <a:latin typeface="メイリオ"/>
              </a:rPr>
              <a:t>・出願締切カウントダウン</a:t>
            </a:r>
          </a:p>
        </p:txBody>
      </p:sp>
    </p:spTree>
    <p:extLst>
      <p:ext uri="{BB962C8B-B14F-4D97-AF65-F5344CB8AC3E}">
        <p14:creationId xmlns:p14="http://schemas.microsoft.com/office/powerpoint/2010/main" val="3225074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非友だち・保有リスト（過去の資料請求者 等）にも通知メッセで接点を作り、参加型の企画で友だちとCVを両取りする。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具体企画のブレスト</a:t>
            </a:r>
            <a:endParaRPr sz="1600" b="1" dirty="0">
              <a:solidFill>
                <a:srgbClr val="002060"/>
              </a:solidFill>
              <a:latin typeface="Meiryo"/>
              <a:ea typeface="Meiryo"/>
              <a:cs typeface="Meiryo"/>
              <a:sym typeface="Meiryo"/>
            </a:endParaRPr>
          </a:p>
        </p:txBody>
      </p:sp>
      <p:sp>
        <p:nvSpPr>
          <p:cNvPr id="7" name="TextBox 6"/>
          <p:cNvSpPr txBox="1"/>
          <p:nvPr/>
        </p:nvSpPr>
        <p:spPr>
          <a:xfrm>
            <a:off x="350000" y="1650000"/>
            <a:ext cx="4400000" cy="280000"/>
          </a:xfrm>
          <a:prstGeom prst="rect">
            <a:avLst/>
          </a:prstGeom>
          <a:noFill/>
        </p:spPr>
        <p:txBody>
          <a:bodyPr wrap="square">
            <a:spAutoFit/>
          </a:bodyPr>
          <a:lstStyle/>
          <a:p>
            <a:pPr algn="l"/>
            <a:r>
              <a:rPr sz="1100" b="1">
                <a:solidFill>
                  <a:srgbClr val="1F3A5F"/>
                </a:solidFill>
                <a:latin typeface="メイリオ"/>
              </a:rPr>
              <a:t>■ 通知メッセージ 利用シーン</a:t>
            </a:r>
          </a:p>
        </p:txBody>
      </p:sp>
      <p:sp>
        <p:nvSpPr>
          <p:cNvPr id="12" name="TextBox 11"/>
          <p:cNvSpPr txBox="1"/>
          <p:nvPr/>
        </p:nvSpPr>
        <p:spPr>
          <a:xfrm>
            <a:off x="350000" y="3200000"/>
            <a:ext cx="4400000" cy="280000"/>
          </a:xfrm>
          <a:prstGeom prst="rect">
            <a:avLst/>
          </a:prstGeom>
          <a:noFill/>
        </p:spPr>
        <p:txBody>
          <a:bodyPr wrap="square">
            <a:spAutoFit/>
          </a:bodyPr>
          <a:lstStyle/>
          <a:p>
            <a:pPr algn="l"/>
            <a:r>
              <a:rPr sz="1100" b="1">
                <a:solidFill>
                  <a:srgbClr val="1F3A5F"/>
                </a:solidFill>
                <a:latin typeface="メイリオ"/>
              </a:rPr>
              <a:t>■ 飛び道具（奇抜な企画軸）</a:t>
            </a:r>
          </a:p>
        </p:txBody>
      </p:sp>
      <p:sp>
        <p:nvSpPr>
          <p:cNvPr id="8" name="Rounded Rectangle 7"/>
          <p:cNvSpPr/>
          <p:nvPr/>
        </p:nvSpPr>
        <p:spPr>
          <a:xfrm>
            <a:off x="35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rPr>
              <a:t>資料発送のお知らせ</a:t>
            </a:r>
          </a:p>
          <a:p>
            <a:pPr algn="ctr"/>
            <a:r>
              <a:rPr sz="1000">
                <a:solidFill>
                  <a:srgbClr val="404040"/>
                </a:solidFill>
                <a:latin typeface="メイリオ"/>
                <a:ea typeface="メイリオ"/>
              </a:rPr>
              <a:t>到着に合わせOC予約(CV②)へ</a:t>
            </a:r>
            <a:endParaRPr sz="1000" b="1">
              <a:solidFill>
                <a:srgbClr val="1F3A5F"/>
              </a:solidFill>
              <a:latin typeface="メイリオ"/>
            </a:endParaRPr>
          </a:p>
          <a:p>
            <a:pPr algn="ctr"/>
            <a:endParaRPr sz="1000" b="1">
              <a:solidFill>
                <a:srgbClr val="1F3A5F"/>
              </a:solidFill>
              <a:latin typeface="メイリオ"/>
            </a:endParaRPr>
          </a:p>
        </p:txBody>
      </p:sp>
      <p:sp>
        <p:nvSpPr>
          <p:cNvPr id="9" name="Rounded Rectangle 8"/>
          <p:cNvSpPr/>
          <p:nvPr/>
        </p:nvSpPr>
        <p:spPr>
          <a:xfrm>
            <a:off x="273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rPr>
              <a:t>OC前日リマインド</a:t>
            </a:r>
          </a:p>
          <a:p>
            <a:pPr algn="ctr"/>
            <a:r>
              <a:rPr sz="1000">
                <a:solidFill>
                  <a:srgbClr val="404040"/>
                </a:solidFill>
                <a:latin typeface="メイリオ"/>
                <a:ea typeface="メイリオ"/>
              </a:rPr>
              <a:t>持ち物・アクセス案内で参加率UP</a:t>
            </a:r>
            <a:endParaRPr sz="1000" b="1">
              <a:solidFill>
                <a:srgbClr val="1F3A5F"/>
              </a:solidFill>
              <a:latin typeface="メイリオ"/>
            </a:endParaRPr>
          </a:p>
          <a:p>
            <a:pPr algn="ctr"/>
            <a:endParaRPr sz="1000" b="1">
              <a:solidFill>
                <a:srgbClr val="1F3A5F"/>
              </a:solidFill>
              <a:latin typeface="メイリオ"/>
            </a:endParaRPr>
          </a:p>
        </p:txBody>
      </p:sp>
      <p:sp>
        <p:nvSpPr>
          <p:cNvPr id="10" name="Rounded Rectangle 9"/>
          <p:cNvSpPr/>
          <p:nvPr/>
        </p:nvSpPr>
        <p:spPr>
          <a:xfrm>
            <a:off x="511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rPr>
              <a:t>出願受付開始・締切前通知</a:t>
            </a:r>
          </a:p>
          <a:p>
            <a:pPr algn="ctr"/>
            <a:r>
              <a:rPr sz="1000">
                <a:solidFill>
                  <a:srgbClr val="404040"/>
                </a:solidFill>
                <a:latin typeface="メイリオ"/>
                <a:ea typeface="メイリオ"/>
              </a:rPr>
              <a:t>出願(CV③)の取りこぼし防止</a:t>
            </a:r>
            <a:endParaRPr sz="1000" b="1">
              <a:solidFill>
                <a:srgbClr val="1F3A5F"/>
              </a:solidFill>
              <a:latin typeface="メイリオ"/>
            </a:endParaRPr>
          </a:p>
          <a:p>
            <a:pPr algn="ctr"/>
            <a:endParaRPr sz="1000" b="1">
              <a:solidFill>
                <a:srgbClr val="1F3A5F"/>
              </a:solidFill>
              <a:latin typeface="メイリオ"/>
            </a:endParaRPr>
          </a:p>
        </p:txBody>
      </p:sp>
      <p:sp>
        <p:nvSpPr>
          <p:cNvPr id="11" name="Rounded Rectangle 10"/>
          <p:cNvSpPr/>
          <p:nvPr/>
        </p:nvSpPr>
        <p:spPr>
          <a:xfrm>
            <a:off x="7490000" y="2000000"/>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00" b="1">
                <a:solidFill>
                  <a:srgbClr val="1F3A5F"/>
                </a:solidFill>
                <a:latin typeface="メイリオ"/>
              </a:rPr>
              <a:t>合格・入学手続き案内</a:t>
            </a:r>
          </a:p>
          <a:p>
            <a:pPr algn="ctr"/>
            <a:r>
              <a:rPr sz="1000">
                <a:solidFill>
                  <a:srgbClr val="404040"/>
                </a:solidFill>
                <a:latin typeface="メイリオ"/>
                <a:ea typeface="メイリオ"/>
              </a:rPr>
              <a:t>入学金・書類締切案内で辞退防止</a:t>
            </a:r>
            <a:endParaRPr sz="1000" b="1">
              <a:solidFill>
                <a:srgbClr val="1F3A5F"/>
              </a:solidFill>
              <a:latin typeface="メイリオ"/>
            </a:endParaRPr>
          </a:p>
          <a:p>
            <a:pPr algn="ctr"/>
            <a:endParaRPr sz="1000" b="1">
              <a:solidFill>
                <a:srgbClr val="1F3A5F"/>
              </a:solidFill>
              <a:latin typeface="メイリオ"/>
            </a:endParaRPr>
          </a:p>
        </p:txBody>
      </p:sp>
      <p:sp>
        <p:nvSpPr>
          <p:cNvPr id="13" name="Rounded Rectangle 12"/>
          <p:cNvSpPr/>
          <p:nvPr/>
        </p:nvSpPr>
        <p:spPr>
          <a:xfrm>
            <a:off x="35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rPr>
              <a:t>① 30秒 進路タイプ診断</a:t>
            </a:r>
          </a:p>
          <a:p>
            <a:pPr algn="ctr"/>
            <a:r>
              <a:rPr sz="1000">
                <a:latin typeface="メイリオ"/>
                <a:ea typeface="メイリオ"/>
              </a:rPr>
              <a:t>学部・分野診断で友だち獲得</a:t>
            </a:r>
            <a:endParaRPr sz="950" b="1">
              <a:solidFill>
                <a:srgbClr val="FFFFFF"/>
              </a:solidFill>
              <a:latin typeface="メイリオ"/>
            </a:endParaRPr>
          </a:p>
          <a:p>
            <a:pPr algn="ctr"/>
            <a:endParaRPr sz="950" b="1">
              <a:solidFill>
                <a:srgbClr val="FFFFFF"/>
              </a:solidFill>
              <a:latin typeface="メイリオ"/>
            </a:endParaRPr>
          </a:p>
        </p:txBody>
      </p:sp>
      <p:sp>
        <p:nvSpPr>
          <p:cNvPr id="14" name="Rounded Rectangle 13"/>
          <p:cNvSpPr/>
          <p:nvPr/>
        </p:nvSpPr>
        <p:spPr>
          <a:xfrm>
            <a:off x="273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rPr>
              <a:t>② 在校生に聞ける先輩トーク</a:t>
            </a:r>
          </a:p>
          <a:p>
            <a:pPr algn="ctr"/>
            <a:r>
              <a:rPr sz="1000">
                <a:latin typeface="メイリオ"/>
                <a:ea typeface="メイリオ"/>
              </a:rPr>
              <a:t>質問箱・座談会で不安解消</a:t>
            </a:r>
            <a:endParaRPr sz="950" b="1">
              <a:solidFill>
                <a:srgbClr val="FFFFFF"/>
              </a:solidFill>
              <a:latin typeface="メイリオ"/>
            </a:endParaRPr>
          </a:p>
          <a:p>
            <a:pPr algn="ctr"/>
            <a:endParaRPr sz="950" b="1">
              <a:solidFill>
                <a:srgbClr val="FFFFFF"/>
              </a:solidFill>
              <a:latin typeface="メイリオ"/>
            </a:endParaRPr>
          </a:p>
        </p:txBody>
      </p:sp>
      <p:sp>
        <p:nvSpPr>
          <p:cNvPr id="15" name="Rounded Rectangle 14"/>
          <p:cNvSpPr/>
          <p:nvPr/>
        </p:nvSpPr>
        <p:spPr>
          <a:xfrm>
            <a:off x="511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rPr>
              <a:t>③ 保護者向け 学費・奨学金便り</a:t>
            </a:r>
          </a:p>
          <a:p>
            <a:pPr algn="ctr"/>
            <a:r>
              <a:rPr sz="1000">
                <a:latin typeface="メイリオ"/>
                <a:ea typeface="メイリオ"/>
              </a:rPr>
              <a:t>意思決定に効く保護者接点</a:t>
            </a:r>
            <a:endParaRPr sz="950" b="1">
              <a:solidFill>
                <a:srgbClr val="FFFFFF"/>
              </a:solidFill>
              <a:latin typeface="メイリオ"/>
            </a:endParaRPr>
          </a:p>
          <a:p>
            <a:pPr algn="ctr"/>
            <a:endParaRPr sz="950" b="1">
              <a:solidFill>
                <a:srgbClr val="FFFFFF"/>
              </a:solidFill>
              <a:latin typeface="メイリオ"/>
            </a:endParaRPr>
          </a:p>
        </p:txBody>
      </p:sp>
      <p:sp>
        <p:nvSpPr>
          <p:cNvPr id="16" name="Rounded Rectangle 15"/>
          <p:cNvSpPr/>
          <p:nvPr/>
        </p:nvSpPr>
        <p:spPr>
          <a:xfrm>
            <a:off x="7490000" y="3550000"/>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950" b="1">
                <a:solidFill>
                  <a:srgbClr val="FFFFFF"/>
                </a:solidFill>
                <a:latin typeface="メイリオ"/>
              </a:rPr>
              <a:t>④ 来場ポイント制（実例あり）</a:t>
            </a:r>
          </a:p>
          <a:p>
            <a:pPr algn="ctr"/>
            <a:r>
              <a:rPr sz="1000">
                <a:latin typeface="メイリオ"/>
                <a:ea typeface="メイリオ"/>
              </a:rPr>
              <a:t>OC参加・保護者同伴・次回予約に加点</a:t>
            </a:r>
            <a:endParaRPr sz="950" b="1">
              <a:solidFill>
                <a:srgbClr val="FFFFFF"/>
              </a:solidFill>
              <a:latin typeface="メイリオ"/>
            </a:endParaRPr>
          </a:p>
          <a:p>
            <a:pPr algn="ctr"/>
            <a:endParaRPr sz="950" b="1">
              <a:solidFill>
                <a:srgbClr val="FFFFFF"/>
              </a:solidFill>
              <a:latin typeface="メイリオ"/>
            </a:endParaRPr>
          </a:p>
        </p:txBody>
      </p:sp>
      <p:sp>
        <p:nvSpPr>
          <p:cNvPr id="17" name="TextBox 16"/>
          <p:cNvSpPr txBox="1"/>
          <p:nvPr/>
        </p:nvSpPr>
        <p:spPr>
          <a:xfrm>
            <a:off x="360000" y="4824000"/>
            <a:ext cx="9216000" cy="288000"/>
          </a:xfrm>
          <a:prstGeom prst="rect">
            <a:avLst/>
          </a:prstGeom>
          <a:noFill/>
        </p:spPr>
        <p:txBody>
          <a:bodyPr wrap="square">
            <a:spAutoFit/>
          </a:bodyPr>
          <a:lstStyle/>
          <a:p>
            <a:r>
              <a:rPr sz="800">
                <a:solidFill>
                  <a:srgbClr val="404040"/>
                </a:solidFill>
                <a:latin typeface="メイリオ"/>
                <a:ea typeface="メイリオ"/>
              </a:rPr>
              <a:t>※ 実例：河原ビューティモード専門学校（公式LINEページ）— OC参加2pt・保護者同伴1pt・次回予約1pt、5ptで特典進呈。OC予約は「希望日をトークで送るだけ」。</a:t>
            </a:r>
          </a:p>
        </p:txBody>
      </p:sp>
    </p:spTree>
    <p:extLst>
      <p:ext uri="{BB962C8B-B14F-4D97-AF65-F5344CB8AC3E}">
        <p14:creationId xmlns:p14="http://schemas.microsoft.com/office/powerpoint/2010/main" val="4224870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専門学校の友だち数は1,600〜4万人規模（2026年7月・5校調査）で、大学勢（2.7万〜39万人）より小規模。</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運用の型はこれから確立される段階＝早期に「入口×継続接点」を整えれば上位を狙えるポジション。</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sp>
        <p:nvSpPr>
          <p:cNvPr id="47" name="TextBox 46"/>
          <p:cNvSpPr txBox="1"/>
          <p:nvPr/>
        </p:nvSpPr>
        <p:spPr>
          <a:xfrm>
            <a:off x="350000" y="5150000"/>
            <a:ext cx="9200000" cy="230832"/>
          </a:xfrm>
          <a:prstGeom prst="rect">
            <a:avLst/>
          </a:prstGeom>
          <a:noFill/>
        </p:spPr>
        <p:txBody>
          <a:bodyPr wrap="square">
            <a:spAutoFit/>
          </a:bodyPr>
          <a:lstStyle/>
          <a:p>
            <a:pPr algn="l"/>
            <a:r>
              <a:rPr sz="900" b="0" dirty="0">
                <a:solidFill>
                  <a:srgbClr val="555555"/>
                </a:solidFill>
                <a:latin typeface="メイリオ"/>
              </a:rPr>
              <a:t>※ 友だち数は各校LINE公式アカウントページ（page.line.me）2026年7月22日取得の公表値（大原の相談専用アカ「O-hara進路相談スタッフ」は7月27日取得・51,151人）。（仮説）表記の運用内容はプロフィール記載および一般的な運用からの推定。</a:t>
            </a:r>
          </a:p>
        </p:txBody>
      </p:sp>
      <p:graphicFrame>
        <p:nvGraphicFramePr>
          <p:cNvPr id="48" name="Table 47"/>
          <p:cNvGraphicFramePr>
            <a:graphicFrameLocks noGrp="1"/>
          </p:cNvGraphicFramePr>
          <p:nvPr/>
        </p:nvGraphicFramePr>
        <p:xfrm>
          <a:off x="350000" y="1700000"/>
          <a:ext cx="9200000" cy="3300000"/>
        </p:xfrm>
        <a:graphic>
          <a:graphicData uri="http://schemas.openxmlformats.org/drawingml/2006/table">
            <a:tbl>
              <a:tblPr firstRow="1" bandRow="1">
                <a:tableStyleId>{5C22544A-7EE6-4342-B048-85BDC9FD1C3A}</a:tableStyleId>
              </a:tblPr>
              <a:tblGrid>
                <a:gridCol w="165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3100000">
                  <a:extLst>
                    <a:ext uri="{9D8B030D-6E8A-4147-A177-3AD203B41FA5}">
                      <a16:colId xmlns:a16="http://schemas.microsoft.com/office/drawing/2014/main" val="20002"/>
                    </a:ext>
                  </a:extLst>
                </a:gridCol>
                <a:gridCol w="3100000">
                  <a:extLst>
                    <a:ext uri="{9D8B030D-6E8A-4147-A177-3AD203B41FA5}">
                      <a16:colId xmlns:a16="http://schemas.microsoft.com/office/drawing/2014/main" val="20003"/>
                    </a:ext>
                  </a:extLst>
                </a:gridCol>
              </a:tblGrid>
              <a:tr h="550000">
                <a:tc>
                  <a:txBody>
                    <a:bodyPr/>
                    <a:lstStyle/>
                    <a:p>
                      <a:pPr algn="l"/>
                      <a:r>
                        <a:rPr sz="1000" b="1">
                          <a:solidFill>
                            <a:srgbClr val="FFFFFF"/>
                          </a:solidFill>
                          <a:latin typeface="メイリオ"/>
                        </a:rPr>
                        <a:t>競合（専門学校の例）</a:t>
                      </a:r>
                    </a:p>
                  </a:txBody>
                  <a:tcPr>
                    <a:solidFill>
                      <a:srgbClr val="24345A"/>
                    </a:solidFill>
                  </a:tcPr>
                </a:tc>
                <a:tc>
                  <a:txBody>
                    <a:bodyPr/>
                    <a:lstStyle/>
                    <a:p>
                      <a:pPr algn="l"/>
                      <a:r>
                        <a:rPr sz="1000" b="1">
                          <a:solidFill>
                            <a:srgbClr val="FFFFFF"/>
                          </a:solidFill>
                          <a:latin typeface="メイリオ"/>
                        </a:rPr>
                        <a:t>友だち数※</a:t>
                      </a:r>
                    </a:p>
                  </a:txBody>
                  <a:tcPr>
                    <a:solidFill>
                      <a:srgbClr val="24345A"/>
                    </a:solidFill>
                  </a:tcPr>
                </a:tc>
                <a:tc>
                  <a:txBody>
                    <a:bodyPr/>
                    <a:lstStyle/>
                    <a:p>
                      <a:pPr algn="l"/>
                      <a:r>
                        <a:rPr sz="1000" b="1">
                          <a:solidFill>
                            <a:srgbClr val="FFFFFF"/>
                          </a:solidFill>
                          <a:latin typeface="メイリオ"/>
                        </a:rPr>
                        <a:t>入口（登録導線）</a:t>
                      </a:r>
                    </a:p>
                  </a:txBody>
                  <a:tcPr>
                    <a:solidFill>
                      <a:srgbClr val="24345A"/>
                    </a:solidFill>
                  </a:tcPr>
                </a:tc>
                <a:tc>
                  <a:txBody>
                    <a:bodyPr/>
                    <a:lstStyle/>
                    <a:p>
                      <a:pPr algn="l"/>
                      <a:r>
                        <a:rPr sz="1000" b="1">
                          <a:solidFill>
                            <a:srgbClr val="FFFFFF"/>
                          </a:solidFill>
                          <a:latin typeface="メイリオ"/>
                        </a:rPr>
                        <a:t>継続接点（投稿・企画）</a:t>
                      </a:r>
                    </a:p>
                  </a:txBody>
                  <a:tcPr>
                    <a:solidFill>
                      <a:srgbClr val="24345A"/>
                    </a:solidFill>
                  </a:tcPr>
                </a:tc>
                <a:extLst>
                  <a:ext uri="{0D108BD9-81ED-4DB2-BD59-A6C34878D82A}">
                    <a16:rowId xmlns:a16="http://schemas.microsoft.com/office/drawing/2014/main" val="10000"/>
                  </a:ext>
                </a:extLst>
              </a:tr>
              <a:tr h="550000">
                <a:tc>
                  <a:txBody>
                    <a:bodyPr/>
                    <a:lstStyle/>
                    <a:p>
                      <a:pPr algn="l"/>
                      <a:r>
                        <a:rPr sz="950" b="1">
                          <a:solidFill>
                            <a:srgbClr val="1F3A5F"/>
                          </a:solidFill>
                          <a:latin typeface="メイリオ"/>
                        </a:rPr>
                        <a:t>日本工学院</a:t>
                      </a:r>
                    </a:p>
                  </a:txBody>
                  <a:tcPr>
                    <a:solidFill>
                      <a:srgbClr val="FFFFFF"/>
                    </a:solidFill>
                  </a:tcPr>
                </a:tc>
                <a:tc>
                  <a:txBody>
                    <a:bodyPr/>
                    <a:lstStyle/>
                    <a:p>
                      <a:pPr algn="l"/>
                      <a:r>
                        <a:rPr sz="950" b="0">
                          <a:solidFill>
                            <a:srgbClr val="555555"/>
                          </a:solidFill>
                          <a:latin typeface="メイリオ"/>
                        </a:rPr>
                        <a:t>39,589</a:t>
                      </a:r>
                    </a:p>
                  </a:txBody>
                  <a:tcPr>
                    <a:solidFill>
                      <a:srgbClr val="FFFFFF"/>
                    </a:solidFill>
                  </a:tcPr>
                </a:tc>
                <a:tc>
                  <a:txBody>
                    <a:bodyPr/>
                    <a:lstStyle/>
                    <a:p>
                      <a:pPr algn="l"/>
                      <a:r>
                        <a:rPr sz="950" b="0">
                          <a:solidFill>
                            <a:srgbClr val="555555"/>
                          </a:solidFill>
                          <a:latin typeface="メイリオ"/>
                        </a:rPr>
                        <a:t>公式サイトに友だち追加リンクを常設（確認済）</a:t>
                      </a:r>
                    </a:p>
                  </a:txBody>
                  <a:tcPr>
                    <a:solidFill>
                      <a:srgbClr val="FFFFFF"/>
                    </a:solidFill>
                  </a:tcPr>
                </a:tc>
                <a:tc>
                  <a:txBody>
                    <a:bodyPr/>
                    <a:lstStyle/>
                    <a:p>
                      <a:pPr algn="l"/>
                      <a:r>
                        <a:rPr sz="950" b="0">
                          <a:solidFill>
                            <a:srgbClr val="555555"/>
                          </a:solidFill>
                          <a:latin typeface="メイリオ"/>
                        </a:rPr>
                        <a:t>プロフィールで体験入学・OC情報の配信を明言（確認済）</a:t>
                      </a:r>
                    </a:p>
                  </a:txBody>
                  <a:tcPr>
                    <a:solidFill>
                      <a:srgbClr val="FFFFFF"/>
                    </a:solidFill>
                  </a:tcPr>
                </a:tc>
                <a:extLst>
                  <a:ext uri="{0D108BD9-81ED-4DB2-BD59-A6C34878D82A}">
                    <a16:rowId xmlns:a16="http://schemas.microsoft.com/office/drawing/2014/main" val="10001"/>
                  </a:ext>
                </a:extLst>
              </a:tr>
              <a:tr h="550000">
                <a:tc>
                  <a:txBody>
                    <a:bodyPr/>
                    <a:lstStyle/>
                    <a:p>
                      <a:pPr algn="l"/>
                      <a:r>
                        <a:rPr sz="950" b="1">
                          <a:solidFill>
                            <a:srgbClr val="1F3A5F"/>
                          </a:solidFill>
                          <a:latin typeface="メイリオ"/>
                        </a:rPr>
                        <a:t>大原学園</a:t>
                      </a:r>
                    </a:p>
                  </a:txBody>
                  <a:tcPr>
                    <a:solidFill>
                      <a:srgbClr val="F2F5F9"/>
                    </a:solidFill>
                  </a:tcPr>
                </a:tc>
                <a:tc>
                  <a:txBody>
                    <a:bodyPr/>
                    <a:lstStyle/>
                    <a:p>
                      <a:pPr algn="l"/>
                      <a:r>
                        <a:rPr sz="950" b="0">
                          <a:solidFill>
                            <a:srgbClr val="555555"/>
                          </a:solidFill>
                          <a:latin typeface="メイリオ"/>
                        </a:rPr>
                        <a:t>24,180</a:t>
                      </a:r>
                    </a:p>
                  </a:txBody>
                  <a:tcPr>
                    <a:solidFill>
                      <a:srgbClr val="F2F5F9"/>
                    </a:solidFill>
                  </a:tcPr>
                </a:tc>
                <a:tc>
                  <a:txBody>
                    <a:bodyPr/>
                    <a:lstStyle/>
                    <a:p>
                      <a:pPr algn="l"/>
                      <a:r>
                        <a:rPr sz="950" b="0">
                          <a:solidFill>
                            <a:srgbClr val="555555"/>
                          </a:solidFill>
                          <a:latin typeface="メイリオ"/>
                        </a:rPr>
                        <a:t>本部＋相談専用の2アカウント分割運用（確認済）</a:t>
                      </a:r>
                    </a:p>
                  </a:txBody>
                  <a:tcPr>
                    <a:solidFill>
                      <a:srgbClr val="F2F5F9"/>
                    </a:solidFill>
                  </a:tcPr>
                </a:tc>
                <a:tc>
                  <a:txBody>
                    <a:bodyPr/>
                    <a:lstStyle/>
                    <a:p>
                      <a:pPr algn="l"/>
                      <a:r>
                        <a:rPr sz="950" b="0">
                          <a:solidFill>
                            <a:srgbClr val="555555"/>
                          </a:solidFill>
                          <a:latin typeface="メイリオ"/>
                        </a:rPr>
                        <a:t>相談専用アカは5.1万人と本部の2倍超（7/27時点）</a:t>
                      </a:r>
                    </a:p>
                  </a:txBody>
                  <a:tcPr>
                    <a:solidFill>
                      <a:srgbClr val="F2F5F9"/>
                    </a:solidFill>
                  </a:tcPr>
                </a:tc>
                <a:extLst>
                  <a:ext uri="{0D108BD9-81ED-4DB2-BD59-A6C34878D82A}">
                    <a16:rowId xmlns:a16="http://schemas.microsoft.com/office/drawing/2014/main" val="10002"/>
                  </a:ext>
                </a:extLst>
              </a:tr>
              <a:tr h="550000">
                <a:tc>
                  <a:txBody>
                    <a:bodyPr/>
                    <a:lstStyle/>
                    <a:p>
                      <a:pPr algn="l"/>
                      <a:r>
                        <a:rPr sz="950" b="1">
                          <a:solidFill>
                            <a:srgbClr val="1F3A5F"/>
                          </a:solidFill>
                          <a:latin typeface="メイリオ"/>
                        </a:rPr>
                        <a:t>HAL東京</a:t>
                      </a:r>
                    </a:p>
                  </a:txBody>
                  <a:tcPr>
                    <a:solidFill>
                      <a:srgbClr val="FFFFFF"/>
                    </a:solidFill>
                  </a:tcPr>
                </a:tc>
                <a:tc>
                  <a:txBody>
                    <a:bodyPr/>
                    <a:lstStyle/>
                    <a:p>
                      <a:pPr algn="l"/>
                      <a:r>
                        <a:rPr sz="950" b="0">
                          <a:solidFill>
                            <a:srgbClr val="555555"/>
                          </a:solidFill>
                          <a:latin typeface="メイリオ"/>
                        </a:rPr>
                        <a:t>13,505</a:t>
                      </a:r>
                    </a:p>
                  </a:txBody>
                  <a:tcPr>
                    <a:solidFill>
                      <a:srgbClr val="FFFFFF"/>
                    </a:solidFill>
                  </a:tcPr>
                </a:tc>
                <a:tc>
                  <a:txBody>
                    <a:bodyPr/>
                    <a:lstStyle/>
                    <a:p>
                      <a:pPr algn="l"/>
                      <a:r>
                        <a:rPr sz="950" b="0">
                          <a:solidFill>
                            <a:srgbClr val="555555"/>
                          </a:solidFill>
                          <a:latin typeface="メイリオ"/>
                        </a:rPr>
                        <a:t>プロフィールでOC・毎日実施の学校見学を訴求</a:t>
                      </a:r>
                    </a:p>
                  </a:txBody>
                  <a:tcPr>
                    <a:solidFill>
                      <a:srgbClr val="FFFFFF"/>
                    </a:solidFill>
                  </a:tcPr>
                </a:tc>
                <a:tc>
                  <a:txBody>
                    <a:bodyPr/>
                    <a:lstStyle/>
                    <a:p>
                      <a:pPr algn="l"/>
                      <a:r>
                        <a:rPr sz="950" b="0">
                          <a:solidFill>
                            <a:srgbClr val="555555"/>
                          </a:solidFill>
                          <a:latin typeface="メイリオ"/>
                        </a:rPr>
                        <a:t>（仮説）作品・就職実績の発信</a:t>
                      </a:r>
                    </a:p>
                  </a:txBody>
                  <a:tcPr>
                    <a:solidFill>
                      <a:srgbClr val="FFFFFF"/>
                    </a:solidFill>
                  </a:tcPr>
                </a:tc>
                <a:extLst>
                  <a:ext uri="{0D108BD9-81ED-4DB2-BD59-A6C34878D82A}">
                    <a16:rowId xmlns:a16="http://schemas.microsoft.com/office/drawing/2014/main" val="10003"/>
                  </a:ext>
                </a:extLst>
              </a:tr>
              <a:tr h="550000">
                <a:tc>
                  <a:txBody>
                    <a:bodyPr/>
                    <a:lstStyle/>
                    <a:p>
                      <a:pPr algn="l"/>
                      <a:r>
                        <a:rPr sz="950" b="1">
                          <a:solidFill>
                            <a:srgbClr val="1F3A5F"/>
                          </a:solidFill>
                          <a:latin typeface="メイリオ"/>
                        </a:rPr>
                        <a:t>東京モード学園</a:t>
                      </a:r>
                    </a:p>
                  </a:txBody>
                  <a:tcPr>
                    <a:solidFill>
                      <a:srgbClr val="F2F5F9"/>
                    </a:solidFill>
                  </a:tcPr>
                </a:tc>
                <a:tc>
                  <a:txBody>
                    <a:bodyPr/>
                    <a:lstStyle/>
                    <a:p>
                      <a:pPr algn="l"/>
                      <a:r>
                        <a:rPr sz="950" b="0">
                          <a:solidFill>
                            <a:srgbClr val="555555"/>
                          </a:solidFill>
                          <a:latin typeface="メイリオ"/>
                        </a:rPr>
                        <a:t>8,108</a:t>
                      </a:r>
                    </a:p>
                  </a:txBody>
                  <a:tcPr>
                    <a:solidFill>
                      <a:srgbClr val="F2F5F9"/>
                    </a:solidFill>
                  </a:tcPr>
                </a:tc>
                <a:tc>
                  <a:txBody>
                    <a:bodyPr/>
                    <a:lstStyle/>
                    <a:p>
                      <a:pPr algn="l"/>
                      <a:r>
                        <a:rPr sz="950" b="0">
                          <a:solidFill>
                            <a:srgbClr val="555555"/>
                          </a:solidFill>
                          <a:latin typeface="メイリオ"/>
                        </a:rPr>
                        <a:t>（仮説）OC予約・LINE相談導線</a:t>
                      </a:r>
                    </a:p>
                  </a:txBody>
                  <a:tcPr>
                    <a:solidFill>
                      <a:srgbClr val="F2F5F9"/>
                    </a:solidFill>
                  </a:tcPr>
                </a:tc>
                <a:tc>
                  <a:txBody>
                    <a:bodyPr/>
                    <a:lstStyle/>
                    <a:p>
                      <a:pPr algn="l"/>
                      <a:r>
                        <a:rPr sz="950" b="0">
                          <a:solidFill>
                            <a:srgbClr val="555555"/>
                          </a:solidFill>
                          <a:latin typeface="メイリオ"/>
                        </a:rPr>
                        <a:t>（仮説）イベント・入試日程の告知</a:t>
                      </a:r>
                    </a:p>
                  </a:txBody>
                  <a:tcPr>
                    <a:solidFill>
                      <a:srgbClr val="F2F5F9"/>
                    </a:solidFill>
                  </a:tcPr>
                </a:tc>
                <a:extLst>
                  <a:ext uri="{0D108BD9-81ED-4DB2-BD59-A6C34878D82A}">
                    <a16:rowId xmlns:a16="http://schemas.microsoft.com/office/drawing/2014/main" val="10004"/>
                  </a:ext>
                </a:extLst>
              </a:tr>
              <a:tr h="550000">
                <a:tc>
                  <a:txBody>
                    <a:bodyPr/>
                    <a:lstStyle/>
                    <a:p>
                      <a:pPr algn="l"/>
                      <a:r>
                        <a:rPr sz="950" b="1">
                          <a:solidFill>
                            <a:srgbClr val="1F3A5F"/>
                          </a:solidFill>
                          <a:latin typeface="メイリオ"/>
                        </a:rPr>
                        <a:t>ECC国際外語専門学校</a:t>
                      </a:r>
                    </a:p>
                  </a:txBody>
                  <a:tcPr>
                    <a:solidFill>
                      <a:srgbClr val="FFFFFF"/>
                    </a:solidFill>
                  </a:tcPr>
                </a:tc>
                <a:tc>
                  <a:txBody>
                    <a:bodyPr/>
                    <a:lstStyle/>
                    <a:p>
                      <a:pPr algn="l"/>
                      <a:r>
                        <a:rPr sz="950" b="0">
                          <a:solidFill>
                            <a:srgbClr val="555555"/>
                          </a:solidFill>
                          <a:latin typeface="メイリオ"/>
                        </a:rPr>
                        <a:t>1,617</a:t>
                      </a:r>
                    </a:p>
                  </a:txBody>
                  <a:tcPr>
                    <a:solidFill>
                      <a:srgbClr val="FFFFFF"/>
                    </a:solidFill>
                  </a:tcPr>
                </a:tc>
                <a:tc>
                  <a:txBody>
                    <a:bodyPr/>
                    <a:lstStyle/>
                    <a:p>
                      <a:pPr algn="l"/>
                      <a:r>
                        <a:rPr sz="950" b="0">
                          <a:solidFill>
                            <a:srgbClr val="555555"/>
                          </a:solidFill>
                          <a:latin typeface="メイリオ"/>
                        </a:rPr>
                        <a:t>（仮説）資料請求・来校予約導線</a:t>
                      </a:r>
                    </a:p>
                  </a:txBody>
                  <a:tcPr>
                    <a:solidFill>
                      <a:srgbClr val="FFFFFF"/>
                    </a:solidFill>
                  </a:tcPr>
                </a:tc>
                <a:tc>
                  <a:txBody>
                    <a:bodyPr/>
                    <a:lstStyle/>
                    <a:p>
                      <a:pPr algn="l"/>
                      <a:r>
                        <a:rPr sz="950" b="0">
                          <a:solidFill>
                            <a:srgbClr val="555555"/>
                          </a:solidFill>
                          <a:latin typeface="メイリオ"/>
                        </a:rPr>
                        <a:t>（仮説）語学・進路コンテンツ配信</a:t>
                      </a:r>
                    </a:p>
                  </a:txBody>
                  <a:tcPr>
                    <a:solidFill>
                      <a:srgbClr val="FFFFFF"/>
                    </a:solidFill>
                  </a:tcPr>
                </a:tc>
                <a:extLst>
                  <a:ext uri="{0D108BD9-81ED-4DB2-BD59-A6C34878D82A}">
                    <a16:rowId xmlns:a16="http://schemas.microsoft.com/office/drawing/2014/main" val="10005"/>
                  </a:ext>
                </a:extLst>
              </a:tr>
            </a:tbl>
          </a:graphicData>
        </a:graphic>
      </p:graphicFrame>
      <p:sp>
        <p:nvSpPr>
          <p:cNvPr id="49" name="Rounded Rectangle 48"/>
          <p:cNvSpPr/>
          <p:nvPr/>
        </p:nvSpPr>
        <p:spPr>
          <a:xfrm>
            <a:off x="350000" y="5520000"/>
            <a:ext cx="4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1F3A5F"/>
                </a:solidFill>
                <a:latin typeface="メイリオ"/>
              </a:rPr>
              <a:t>調査から見える状況（友だち数は事実／（仮説）表記は推定）</a:t>
            </a:r>
          </a:p>
          <a:p>
            <a:pPr algn="l"/>
            <a:r>
              <a:rPr sz="900" b="0">
                <a:solidFill>
                  <a:srgbClr val="333333"/>
                </a:solidFill>
                <a:latin typeface="メイリオ"/>
              </a:rPr>
              <a:t>・配信アカは数千〜4万規模。ただし大原の「相談専用」は5.1万人</a:t>
            </a:r>
          </a:p>
          <a:p>
            <a:pPr algn="l"/>
            <a:r>
              <a:rPr sz="900" b="0">
                <a:solidFill>
                  <a:srgbClr val="333333"/>
                </a:solidFill>
                <a:latin typeface="メイリオ"/>
              </a:rPr>
              <a:t>　＝配信型本部の2倍超。進路選びは「調べる」より「聞きたい」</a:t>
            </a:r>
          </a:p>
          <a:p>
            <a:pPr algn="l"/>
            <a:r>
              <a:rPr sz="900" b="0">
                <a:solidFill>
                  <a:srgbClr val="333333"/>
                </a:solidFill>
                <a:latin typeface="メイリオ"/>
              </a:rPr>
              <a:t>・プロフィールにOC・見学導線を常設（HAL東京・日本工学院）</a:t>
            </a:r>
          </a:p>
        </p:txBody>
      </p:sp>
      <p:sp>
        <p:nvSpPr>
          <p:cNvPr id="50" name="Right Arrow 49"/>
          <p:cNvSpPr/>
          <p:nvPr/>
        </p:nvSpPr>
        <p:spPr>
          <a:xfrm>
            <a:off x="4620000" y="5880000"/>
            <a:ext cx="330000" cy="28000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5020000" y="5520000"/>
            <a:ext cx="4530000" cy="10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050" b="1">
                <a:solidFill>
                  <a:srgbClr val="FFFFFF"/>
                </a:solidFill>
                <a:latin typeface="メイリオ"/>
              </a:rPr>
              <a:t>DYMの打ち手（強み）</a:t>
            </a:r>
          </a:p>
          <a:p>
            <a:pPr algn="l"/>
            <a:r>
              <a:rPr sz="900" b="0">
                <a:solidFill>
                  <a:srgbClr val="FFFFFF"/>
                </a:solidFill>
                <a:latin typeface="メイリオ"/>
              </a:rPr>
              <a:t>「受験学年×志望分野」の二軸アンケートで属性を取得し、</a:t>
            </a:r>
          </a:p>
          <a:p>
            <a:pPr algn="l"/>
            <a:r>
              <a:rPr sz="900" b="0">
                <a:solidFill>
                  <a:srgbClr val="FFFFFF"/>
                </a:solidFill>
                <a:latin typeface="メイリオ"/>
              </a:rPr>
              <a:t>本人・保護者に合わせたセグメント配信でブロック率を抑制。</a:t>
            </a:r>
          </a:p>
          <a:p>
            <a:pPr algn="l"/>
            <a:r>
              <a:rPr sz="900" b="0">
                <a:solidFill>
                  <a:srgbClr val="FFFFFF"/>
                </a:solidFill>
                <a:latin typeface="メイリオ"/>
              </a:rPr>
              <a:t>配信はステップ化で出願期まで全自動運用が可能。</a:t>
            </a:r>
          </a:p>
        </p:txBody>
      </p:sp>
    </p:spTree>
    <p:extLst>
      <p:ext uri="{BB962C8B-B14F-4D97-AF65-F5344CB8AC3E}">
        <p14:creationId xmlns:p14="http://schemas.microsoft.com/office/powerpoint/2010/main" val="1772806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誘導から最大３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特典(進路診断・パンフ) 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480000"/>
            <a:ext cx="9200000" cy="280000"/>
          </a:xfrm>
          <a:prstGeom prst="rect">
            <a:avLst/>
          </a:prstGeom>
          <a:noFill/>
        </p:spPr>
        <p:txBody>
          <a:bodyPr wrap="square">
            <a:spAutoFit/>
          </a:bodyPr>
          <a:lstStyle/>
          <a:p>
            <a:r>
              <a:rPr sz="900">
                <a:solidFill>
                  <a:srgbClr val="555555"/>
                </a:solidFill>
                <a:latin typeface="メイリオ"/>
              </a:rPr>
              <a:t>※ 「最大3%」は業態平均として共有されている水準（出典確認中）。保証値ではありません。</a:t>
            </a:r>
          </a:p>
        </p:txBody>
      </p:sp>
    </p:spTree>
    <p:extLst>
      <p:ext uri="{BB962C8B-B14F-4D97-AF65-F5344CB8AC3E}">
        <p14:creationId xmlns:p14="http://schemas.microsoft.com/office/powerpoint/2010/main" val="125110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1335448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68615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◯LINE友だち追加によるメリット提示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✓デジタルパンフ　✓入試直前情報</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400" dirty="0">
                <a:solidFill>
                  <a:srgbClr val="343434"/>
                </a:solidFill>
                <a:latin typeface="メイリオ" panose="020B0604030504040204" pitchFamily="50" charset="-128"/>
                <a:ea typeface="メイリオ" panose="020B0604030504040204" pitchFamily="50" charset="-128"/>
              </a:rPr>
              <a:t>◯LINE上でのコミュニケーション誘導</a:t>
            </a: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✓LINEでOC予約　✓LINEで進路相談</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年齢→ライフイベント、よくある悩み</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✓再購入時期、併売商品を設定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65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④資料請求(LINE)</a:t>
            </a: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オープンキャンパス【CV②】</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⑦出願・入学【CV③】</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個別相談・再来訪</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⑧入学手続き・入学後の接点</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弟妹・友人への紹介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④資料請求(WEB)</a:t>
            </a: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オープンキャンパス【CV②】</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⑦出願・入学【CV③】</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個別相談・再来訪</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⑧入学手続き・入学後の接点</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弟妹・友人への紹介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2" name="正方形/長方形 101">
            <a:extLst>
              <a:ext uri="{FF2B5EF4-FFF2-40B4-BE49-F238E27FC236}">
                <a16:creationId xmlns:a16="http://schemas.microsoft.com/office/drawing/2014/main" id="{9EE14D7E-45A2-36AE-530E-59E20992B5AF}"/>
              </a:ext>
            </a:extLst>
          </p:cNvPr>
          <p:cNvSpPr/>
          <p:nvPr/>
        </p:nvSpPr>
        <p:spPr>
          <a:xfrm>
            <a:off x="2774325" y="3091274"/>
            <a:ext cx="2235130" cy="3387195"/>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③ 挨拶→アンケートでセグメント付与、ステップ配信</a:t>
            </a:r>
            <a:endParaRPr lang="en-US" altLang="ja-JP" sz="1400" b="1" dirty="0">
              <a:solidFill>
                <a:schemeClr val="tx1"/>
              </a:solidFill>
              <a:latin typeface="メイリオ" panose="020B0604030504040204" pitchFamily="50" charset="-128"/>
              <a:ea typeface="メイリオ" panose="020B0604030504040204" pitchFamily="50" charset="-128"/>
            </a:endParaRPr>
          </a:p>
          <a:p>
            <a:r>
              <a:rPr kumimoji="1" lang="ja-JP" altLang="en-US" sz="1400" b="1" dirty="0">
                <a:solidFill>
                  <a:schemeClr val="tx1"/>
                </a:solidFill>
                <a:latin typeface="メイリオ" panose="020B0604030504040204" pitchFamily="50" charset="-128"/>
                <a:ea typeface="メイリオ" panose="020B0604030504040204" pitchFamily="50" charset="-128"/>
              </a:rPr>
              <a:t>④ 資料請求</a:t>
            </a:r>
            <a:r>
              <a:rPr kumimoji="1" lang="en-US" altLang="ja-JP" sz="1400" b="1" dirty="0">
                <a:solidFill>
                  <a:schemeClr val="tx1"/>
                </a:solidFill>
                <a:latin typeface="メイリオ" panose="020B0604030504040204" pitchFamily="50" charset="-128"/>
                <a:ea typeface="メイリオ" panose="020B0604030504040204" pitchFamily="50" charset="-128"/>
              </a:rPr>
              <a:t>(LINE</a:t>
            </a:r>
            <a:r>
              <a:rPr kumimoji="1" lang="ja-JP" altLang="en-US" sz="1400" b="1" dirty="0">
                <a:solidFill>
                  <a:schemeClr val="tx1"/>
                </a:solidFill>
                <a:latin typeface="メイリオ" panose="020B0604030504040204" pitchFamily="50" charset="-128"/>
                <a:ea typeface="メイリオ" panose="020B0604030504040204" pitchFamily="50" charset="-128"/>
              </a:rPr>
              <a:t>上・</a:t>
            </a:r>
            <a:r>
              <a:rPr kumimoji="1" lang="en-US" altLang="ja-JP" sz="1400" b="1" dirty="0">
                <a:solidFill>
                  <a:schemeClr val="tx1"/>
                </a:solidFill>
                <a:latin typeface="メイリオ" panose="020B0604030504040204" pitchFamily="50" charset="-128"/>
                <a:ea typeface="メイリオ" panose="020B0604030504040204" pitchFamily="50" charset="-128"/>
              </a:rPr>
              <a:t>CV①)</a:t>
            </a:r>
          </a:p>
          <a:p>
            <a:r>
              <a:rPr kumimoji="1" lang="ja-JP" altLang="en-US" sz="1400" b="1" dirty="0">
                <a:solidFill>
                  <a:schemeClr val="tx1"/>
                </a:solidFill>
                <a:latin typeface="メイリオ" panose="020B0604030504040204" pitchFamily="50" charset="-128"/>
                <a:ea typeface="メイリオ" panose="020B0604030504040204" pitchFamily="50" charset="-128"/>
              </a:rPr>
              <a:t>→リッチメニュー常設</a:t>
            </a:r>
            <a:endParaRPr kumimoji="1"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b="1" dirty="0">
                <a:solidFill>
                  <a:schemeClr val="tx1"/>
                </a:solidFill>
                <a:latin typeface="メイリオ" panose="020B0604030504040204" pitchFamily="50" charset="-128"/>
                <a:ea typeface="メイリオ" panose="020B0604030504040204" pitchFamily="50" charset="-128"/>
              </a:rPr>
              <a:t>⑤ </a:t>
            </a:r>
            <a:r>
              <a:rPr lang="en-US" altLang="ja-JP" sz="1400" b="1" dirty="0">
                <a:solidFill>
                  <a:schemeClr val="tx1"/>
                </a:solidFill>
                <a:latin typeface="メイリオ" panose="020B0604030504040204" pitchFamily="50" charset="-128"/>
                <a:ea typeface="メイリオ" panose="020B0604030504040204" pitchFamily="50" charset="-128"/>
              </a:rPr>
              <a:t>OC(CV</a:t>
            </a:r>
            <a:r>
              <a:rPr lang="ja-JP" altLang="en-US" sz="1400" b="1" dirty="0">
                <a:solidFill>
                  <a:schemeClr val="tx1"/>
                </a:solidFill>
                <a:latin typeface="メイリオ" panose="020B0604030504040204" pitchFamily="50" charset="-128"/>
                <a:ea typeface="メイリオ" panose="020B0604030504040204" pitchFamily="50" charset="-128"/>
              </a:rPr>
              <a:t>②</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→学部・学科別で日程訴求、予約、リマインドでキャンセルの抑制</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b="1" dirty="0">
                <a:solidFill>
                  <a:schemeClr val="tx1"/>
                </a:solidFill>
                <a:latin typeface="メイリオ" panose="020B0604030504040204" pitchFamily="50" charset="-128"/>
                <a:ea typeface="メイリオ" panose="020B0604030504040204" pitchFamily="50" charset="-128"/>
              </a:rPr>
              <a:t>⑥ 個別相談・再来訪→参加の人→個別相談へ</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b="1" dirty="0">
                <a:solidFill>
                  <a:schemeClr val="tx1"/>
                </a:solidFill>
                <a:latin typeface="メイリオ" panose="020B0604030504040204" pitchFamily="50" charset="-128"/>
                <a:ea typeface="メイリオ" panose="020B0604030504040204" pitchFamily="50" charset="-128"/>
              </a:rPr>
              <a:t>⑦ 出願・入学</a:t>
            </a:r>
            <a:r>
              <a:rPr lang="en-US" altLang="ja-JP" sz="1400" b="1" dirty="0">
                <a:solidFill>
                  <a:schemeClr val="tx1"/>
                </a:solidFill>
                <a:latin typeface="メイリオ" panose="020B0604030504040204" pitchFamily="50" charset="-128"/>
                <a:ea typeface="メイリオ" panose="020B0604030504040204" pitchFamily="50" charset="-128"/>
              </a:rPr>
              <a:t>(CV</a:t>
            </a:r>
            <a:r>
              <a:rPr lang="ja-JP" altLang="en-US" sz="1400" b="1" dirty="0">
                <a:solidFill>
                  <a:schemeClr val="tx1"/>
                </a:solidFill>
                <a:latin typeface="メイリオ" panose="020B0604030504040204" pitchFamily="50" charset="-128"/>
                <a:ea typeface="メイリオ" panose="020B0604030504040204" pitchFamily="50" charset="-128"/>
              </a:rPr>
              <a:t>③</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→出願期間・締切の配信</a:t>
            </a:r>
            <a:br>
              <a:rPr lang="en-US" altLang="ja-JP" sz="1400" b="1" dirty="0">
                <a:solidFill>
                  <a:schemeClr val="tx1"/>
                </a:solidFill>
                <a:latin typeface="メイリオ" panose="020B0604030504040204" pitchFamily="50" charset="-128"/>
                <a:ea typeface="メイリオ" panose="020B0604030504040204" pitchFamily="50" charset="-128"/>
              </a:rPr>
            </a:br>
            <a:r>
              <a:rPr lang="ja-JP" altLang="en-US" sz="1400" b="1" dirty="0">
                <a:solidFill>
                  <a:schemeClr val="tx1"/>
                </a:solidFill>
                <a:latin typeface="メイリオ" panose="020B0604030504040204" pitchFamily="50" charset="-128"/>
                <a:ea typeface="メイリオ" panose="020B0604030504040204" pitchFamily="50" charset="-128"/>
              </a:rPr>
              <a:t>⑧ 入学後→入学手続きの配信、弟妹・友人の紹介</a:t>
            </a: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752383" y="2672904"/>
            <a:ext cx="2279014" cy="415498"/>
          </a:xfrm>
          <a:prstGeom prst="rect">
            <a:avLst/>
          </a:prstGeom>
          <a:noFill/>
        </p:spPr>
        <p:txBody>
          <a:bodyPr wrap="square">
            <a:spAutoFit/>
          </a:bodyPr>
          <a:lstStyle/>
          <a:p>
            <a:r>
              <a:rPr lang="en-US" altLang="ja-JP" sz="1050" b="1" dirty="0">
                <a:solidFill>
                  <a:srgbClr val="FF0000"/>
                </a:solidFill>
                <a:latin typeface="メイリオ" panose="020B0604030504040204" pitchFamily="50" charset="-128"/>
                <a:ea typeface="メイリオ" panose="020B0604030504040204" pitchFamily="50" charset="-128"/>
                <a:sym typeface="Meiryo"/>
              </a:rPr>
              <a:t>[LINEで資料請求] </a:t>
            </a:r>
            <a:r>
              <a:rPr lang="en-US" altLang="ja-JP" sz="1050" b="1" dirty="0" err="1">
                <a:solidFill>
                  <a:srgbClr val="FF0000"/>
                </a:solidFill>
                <a:latin typeface="メイリオ" panose="020B0604030504040204" pitchFamily="50" charset="-128"/>
                <a:ea typeface="メイリオ" panose="020B0604030504040204" pitchFamily="50" charset="-128"/>
                <a:sym typeface="Meiryo"/>
              </a:rPr>
              <a:t>から</a:t>
            </a:r>
            <a:endParaRPr lang="en-US" altLang="ja-JP" sz="1050" b="1" dirty="0">
              <a:solidFill>
                <a:srgbClr val="FF0000"/>
              </a:solidFill>
              <a:latin typeface="メイリオ" panose="020B0604030504040204" pitchFamily="50" charset="-128"/>
              <a:ea typeface="メイリオ" panose="020B0604030504040204" pitchFamily="50" charset="-128"/>
              <a:sym typeface="Meiryo"/>
            </a:endParaRPr>
          </a:p>
          <a:p>
            <a:r>
              <a:rPr lang="ja-JP" altLang="en-US" sz="1050" b="1" dirty="0">
                <a:solidFill>
                  <a:srgbClr val="FF0000"/>
                </a:solidFill>
                <a:latin typeface="メイリオ" panose="020B0604030504040204" pitchFamily="50" charset="-128"/>
                <a:ea typeface="メイリオ" panose="020B0604030504040204" pitchFamily="50" charset="-128"/>
                <a:sym typeface="Meiryo"/>
              </a:rPr>
              <a:t>→数重視</a:t>
            </a:r>
            <a:endParaRPr lang="en-US" altLang="ja-JP" sz="1050" b="1" dirty="0">
              <a:solidFill>
                <a:srgbClr val="FF0000"/>
              </a:solidFill>
              <a:latin typeface="メイリオ" panose="020B0604030504040204" pitchFamily="50" charset="-128"/>
              <a:ea typeface="メイリオ" panose="020B0604030504040204" pitchFamily="50" charset="-128"/>
              <a:sym typeface="Meiryo"/>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29015" y="3342357"/>
            <a:ext cx="2234109" cy="415498"/>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sym typeface="Meiryo"/>
              </a:rPr>
              <a:t>資料請求・OC参加後 から</a:t>
            </a:r>
            <a:endParaRPr lang="en-US" altLang="ja-JP" sz="1050" b="1" dirty="0">
              <a:solidFill>
                <a:srgbClr val="FF0000"/>
              </a:solidFill>
              <a:latin typeface="メイリオ" panose="020B0604030504040204" pitchFamily="50" charset="-128"/>
              <a:ea typeface="メイリオ" panose="020B0604030504040204" pitchFamily="50" charset="-128"/>
              <a:sym typeface="Meiryo"/>
            </a:endParaRPr>
          </a:p>
          <a:p>
            <a:r>
              <a:rPr lang="ja-JP" altLang="en-US" sz="1050" b="1" dirty="0">
                <a:solidFill>
                  <a:srgbClr val="FF0000"/>
                </a:solidFill>
                <a:latin typeface="メイリオ" panose="020B0604030504040204" pitchFamily="50" charset="-128"/>
                <a:ea typeface="メイリオ" panose="020B0604030504040204" pitchFamily="50" charset="-128"/>
                <a:sym typeface="Meiryo"/>
              </a:rPr>
              <a:t>→質重視</a:t>
            </a:r>
            <a:endParaRPr lang="en-US" altLang="ja-JP" sz="1050" b="1" dirty="0">
              <a:solidFill>
                <a:srgbClr val="FF0000"/>
              </a:solidFill>
              <a:latin typeface="メイリオ" panose="020B0604030504040204" pitchFamily="50" charset="-128"/>
              <a:ea typeface="メイリオ" panose="020B0604030504040204" pitchFamily="50" charset="-128"/>
              <a:sym typeface="Meiryo"/>
            </a:endParaRPr>
          </a:p>
        </p:txBody>
      </p:sp>
      <p:sp>
        <p:nvSpPr>
          <p:cNvPr id="104" name="正方形/長方形 103">
            <a:extLst>
              <a:ext uri="{FF2B5EF4-FFF2-40B4-BE49-F238E27FC236}">
                <a16:creationId xmlns:a16="http://schemas.microsoft.com/office/drawing/2014/main" id="{FEDCBEDF-3AA0-5304-246A-9DE0FEF053CC}"/>
              </a:ext>
            </a:extLst>
          </p:cNvPr>
          <p:cNvSpPr/>
          <p:nvPr/>
        </p:nvSpPr>
        <p:spPr>
          <a:xfrm>
            <a:off x="7361651" y="3638349"/>
            <a:ext cx="2544349" cy="2840121"/>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solidFill>
                <a:latin typeface="メイリオ" panose="020B0604030504040204" pitchFamily="50" charset="-128"/>
                <a:ea typeface="メイリオ" panose="020B0604030504040204" pitchFamily="50" charset="-128"/>
              </a:rPr>
              <a:t>友達追加導線</a:t>
            </a:r>
            <a:r>
              <a:rPr lang="ja-JP" altLang="en-US" sz="1200" dirty="0">
                <a:solidFill>
                  <a:schemeClr val="tx1"/>
                </a:solidFill>
                <a:latin typeface="メイリオ" panose="020B0604030504040204" pitchFamily="50" charset="-128"/>
                <a:ea typeface="メイリオ" panose="020B0604030504040204" pitchFamily="50" charset="-128"/>
              </a:rPr>
              <a:t>：</a:t>
            </a:r>
            <a:r>
              <a:rPr kumimoji="1" lang="ja-JP" altLang="en-US" sz="1200" dirty="0">
                <a:solidFill>
                  <a:schemeClr val="tx1"/>
                </a:solidFill>
                <a:latin typeface="メイリオ" panose="020B0604030504040204" pitchFamily="50" charset="-128"/>
                <a:ea typeface="メイリオ" panose="020B0604030504040204" pitchFamily="50" charset="-128"/>
              </a:rPr>
              <a:t>資料請求ページ、</a:t>
            </a:r>
            <a:r>
              <a:rPr kumimoji="1" lang="en-US" altLang="ja-JP" sz="1200" dirty="0">
                <a:solidFill>
                  <a:schemeClr val="tx1"/>
                </a:solidFill>
                <a:latin typeface="メイリオ" panose="020B0604030504040204" pitchFamily="50" charset="-128"/>
                <a:ea typeface="メイリオ" panose="020B0604030504040204" pitchFamily="50" charset="-128"/>
              </a:rPr>
              <a:t>OC</a:t>
            </a:r>
            <a:r>
              <a:rPr kumimoji="1" lang="ja-JP" altLang="en-US" sz="1200" dirty="0">
                <a:solidFill>
                  <a:schemeClr val="tx1"/>
                </a:solidFill>
                <a:latin typeface="メイリオ" panose="020B0604030504040204" pitchFamily="50" charset="-128"/>
                <a:ea typeface="メイリオ" panose="020B0604030504040204" pitchFamily="50" charset="-128"/>
              </a:rPr>
              <a:t>受付</a:t>
            </a:r>
            <a:r>
              <a:rPr kumimoji="1" lang="en-US" altLang="ja-JP" sz="1200" dirty="0">
                <a:solidFill>
                  <a:schemeClr val="tx1"/>
                </a:solidFill>
                <a:latin typeface="メイリオ" panose="020B0604030504040204" pitchFamily="50" charset="-128"/>
                <a:ea typeface="メイリオ" panose="020B0604030504040204" pitchFamily="50" charset="-128"/>
              </a:rPr>
              <a:t>QR</a:t>
            </a:r>
            <a:r>
              <a:rPr lang="ja-JP" altLang="en-US" sz="1200" dirty="0">
                <a:solidFill>
                  <a:schemeClr val="tx1"/>
                </a:solidFill>
                <a:latin typeface="メイリオ" panose="020B0604030504040204" pitchFamily="50" charset="-128"/>
                <a:ea typeface="メイリオ" panose="020B0604030504040204" pitchFamily="50" charset="-128"/>
              </a:rPr>
              <a:t>に</a:t>
            </a:r>
            <a:r>
              <a:rPr kumimoji="1" lang="ja-JP" altLang="en-US" sz="1200" dirty="0">
                <a:solidFill>
                  <a:schemeClr val="tx1"/>
                </a:solidFill>
                <a:latin typeface="メイリオ" panose="020B0604030504040204" pitchFamily="50" charset="-128"/>
                <a:ea typeface="メイリオ" panose="020B0604030504040204" pitchFamily="50" charset="-128"/>
              </a:rPr>
              <a:t>明記</a:t>
            </a:r>
            <a:endParaRPr kumimoji="1" lang="en-US" altLang="ja-JP" sz="1200" dirty="0">
              <a:solidFill>
                <a:schemeClr val="tx1"/>
              </a:solidFill>
              <a:latin typeface="メイリオ" panose="020B0604030504040204" pitchFamily="50" charset="-128"/>
              <a:ea typeface="メイリオ" panose="020B0604030504040204" pitchFamily="50" charset="-128"/>
            </a:endParaRPr>
          </a:p>
          <a:p>
            <a:r>
              <a:rPr lang="ja-JP" altLang="en-US" sz="1200" dirty="0">
                <a:solidFill>
                  <a:schemeClr val="tx1"/>
                </a:solidFill>
                <a:latin typeface="メイリオ" panose="020B0604030504040204" pitchFamily="50" charset="-128"/>
                <a:ea typeface="メイリオ" panose="020B0604030504040204" pitchFamily="50" charset="-128"/>
              </a:rPr>
              <a:t>⑤ </a:t>
            </a:r>
            <a:r>
              <a:rPr lang="en-US" altLang="ja-JP" sz="1200" dirty="0">
                <a:solidFill>
                  <a:schemeClr val="tx1"/>
                </a:solidFill>
                <a:latin typeface="メイリオ" panose="020B0604030504040204" pitchFamily="50" charset="-128"/>
                <a:ea typeface="メイリオ" panose="020B0604030504040204" pitchFamily="50" charset="-128"/>
              </a:rPr>
              <a:t>OC(CV</a:t>
            </a:r>
            <a:r>
              <a:rPr lang="ja-JP" altLang="en-US" sz="1200" dirty="0">
                <a:solidFill>
                  <a:schemeClr val="tx1"/>
                </a:solidFill>
                <a:latin typeface="メイリオ" panose="020B0604030504040204" pitchFamily="50" charset="-128"/>
                <a:ea typeface="メイリオ" panose="020B0604030504040204" pitchFamily="50" charset="-128"/>
              </a:rPr>
              <a:t>②</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：学部・学科別で日程訴求、予約、リマインドでキャンセルの抑制</a:t>
            </a:r>
            <a:endParaRPr lang="en-US" altLang="ja-JP" sz="1200" dirty="0">
              <a:solidFill>
                <a:schemeClr val="tx1"/>
              </a:solidFill>
              <a:latin typeface="メイリオ" panose="020B0604030504040204" pitchFamily="50" charset="-128"/>
              <a:ea typeface="メイリオ" panose="020B0604030504040204" pitchFamily="50" charset="-128"/>
            </a:endParaRPr>
          </a:p>
          <a:p>
            <a:r>
              <a:rPr lang="ja-JP" altLang="en-US" sz="1200" dirty="0">
                <a:solidFill>
                  <a:schemeClr val="tx1"/>
                </a:solidFill>
                <a:latin typeface="メイリオ" panose="020B0604030504040204" pitchFamily="50" charset="-128"/>
                <a:ea typeface="メイリオ" panose="020B0604030504040204" pitchFamily="50" charset="-128"/>
              </a:rPr>
              <a:t>⑥ 個別相談・再来訪：参加の人→個別相談へ</a:t>
            </a:r>
            <a:endParaRPr lang="en-US" altLang="ja-JP" sz="1200" dirty="0">
              <a:solidFill>
                <a:schemeClr val="tx1"/>
              </a:solidFill>
              <a:latin typeface="メイリオ" panose="020B0604030504040204" pitchFamily="50" charset="-128"/>
              <a:ea typeface="メイリオ" panose="020B0604030504040204" pitchFamily="50" charset="-128"/>
            </a:endParaRPr>
          </a:p>
          <a:p>
            <a:r>
              <a:rPr lang="ja-JP" altLang="en-US" sz="1200" dirty="0">
                <a:solidFill>
                  <a:schemeClr val="tx1"/>
                </a:solidFill>
                <a:latin typeface="メイリオ" panose="020B0604030504040204" pitchFamily="50" charset="-128"/>
                <a:ea typeface="メイリオ" panose="020B0604030504040204" pitchFamily="50" charset="-128"/>
              </a:rPr>
              <a:t>⑦ 出願・入学</a:t>
            </a:r>
            <a:r>
              <a:rPr lang="en-US" altLang="ja-JP" sz="1200" dirty="0">
                <a:solidFill>
                  <a:schemeClr val="tx1"/>
                </a:solidFill>
                <a:latin typeface="メイリオ" panose="020B0604030504040204" pitchFamily="50" charset="-128"/>
                <a:ea typeface="メイリオ" panose="020B0604030504040204" pitchFamily="50" charset="-128"/>
              </a:rPr>
              <a:t>(CV</a:t>
            </a:r>
            <a:r>
              <a:rPr lang="ja-JP" altLang="en-US" sz="1200" dirty="0">
                <a:solidFill>
                  <a:schemeClr val="tx1"/>
                </a:solidFill>
                <a:latin typeface="メイリオ" panose="020B0604030504040204" pitchFamily="50" charset="-128"/>
                <a:ea typeface="メイリオ" panose="020B0604030504040204" pitchFamily="50" charset="-128"/>
              </a:rPr>
              <a:t>③</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→出願期間・締切の配信</a:t>
            </a:r>
            <a:endParaRPr lang="en-US" altLang="ja-JP" sz="1200" dirty="0">
              <a:solidFill>
                <a:schemeClr val="tx1"/>
              </a:solidFill>
              <a:latin typeface="メイリオ" panose="020B0604030504040204" pitchFamily="50" charset="-128"/>
              <a:ea typeface="メイリオ" panose="020B0604030504040204" pitchFamily="50" charset="-128"/>
            </a:endParaRPr>
          </a:p>
          <a:p>
            <a:r>
              <a:rPr lang="ja-JP" altLang="en-US" sz="1200" dirty="0">
                <a:solidFill>
                  <a:schemeClr val="tx1"/>
                </a:solidFill>
                <a:latin typeface="メイリオ" panose="020B0604030504040204" pitchFamily="50" charset="-128"/>
                <a:ea typeface="メイリオ" panose="020B0604030504040204" pitchFamily="50" charset="-128"/>
              </a:rPr>
              <a:t>⑧ 入学後→入学手続きの配信、弟妹・友人の紹介</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DC709EF-8F36-5A87-7829-DD298A28008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6AC72BA-0FDB-65F6-F7C5-C7F7CBB66E3E}"/>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全部やる、ではなく「学校法人で実証・適合している施策」から入れる。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◎＝実例・根拠あり ／ ○＝条件付きで有効 ／ △＝学校法人では優先度低。</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39EB113-7B09-7996-7FBB-B34C856CBCC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施策の優先度（学校法人での効き方）</a:t>
            </a:r>
            <a:endParaRPr sz="1600" b="1" dirty="0">
              <a:solidFill>
                <a:srgbClr val="002060"/>
              </a:solidFill>
              <a:latin typeface="Meiryo"/>
              <a:ea typeface="Meiryo"/>
              <a:cs typeface="Meiryo"/>
              <a:sym typeface="Meiryo"/>
            </a:endParaRPr>
          </a:p>
        </p:txBody>
      </p:sp>
      <p:sp>
        <p:nvSpPr>
          <p:cNvPr id="46" name="Rounded Rectangle 45"/>
          <p:cNvSpPr/>
          <p:nvPr/>
        </p:nvSpPr>
        <p:spPr>
          <a:xfrm>
            <a:off x="360000" y="1620000"/>
            <a:ext cx="2988000" cy="2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a:solidFill>
                  <a:srgbClr val="1F3A5F"/>
                </a:solidFill>
                <a:latin typeface="メイリオ"/>
              </a:rPr>
              <a:t>◎ まず入れる（実例・根拠あり）</a:t>
            </a:r>
          </a:p>
        </p:txBody>
      </p:sp>
      <p:sp>
        <p:nvSpPr>
          <p:cNvPr id="47" name="Rounded Rectangle 46"/>
          <p:cNvSpPr/>
          <p:nvPr/>
        </p:nvSpPr>
        <p:spPr>
          <a:xfrm>
            <a:off x="360000" y="2015999"/>
            <a:ext cx="2988000" cy="4104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・離脱防止 → LINE登録</a:t>
            </a:r>
          </a:p>
          <a:p>
            <a:pPr algn="l"/>
            <a:r>
              <a:rPr sz="950" b="0">
                <a:solidFill>
                  <a:srgbClr val="333333"/>
                </a:solidFill>
                <a:latin typeface="メイリオ"/>
              </a:rPr>
              <a:t>　入力の重荷を解消（滋慶学園Gが公表）</a:t>
            </a:r>
          </a:p>
          <a:p>
            <a:pPr algn="l"/>
            <a:r>
              <a:rPr sz="900" b="0">
                <a:solidFill>
                  <a:srgbClr val="555555"/>
                </a:solidFill>
                <a:latin typeface="メイリオ"/>
              </a:rPr>
              <a:t>・登録直後アンケート → セグメント</a:t>
            </a:r>
          </a:p>
          <a:p>
            <a:pPr algn="l"/>
            <a:r>
              <a:rPr sz="900" b="0">
                <a:solidFill>
                  <a:srgbClr val="555555"/>
                </a:solidFill>
                <a:latin typeface="メイリオ"/>
              </a:rPr>
              <a:t>　学年×分野×検討度をタグ化（滋慶学園G実例）</a:t>
            </a:r>
          </a:p>
          <a:p>
            <a:pPr algn="l"/>
            <a:r>
              <a:rPr sz="900" b="0">
                <a:solidFill>
                  <a:srgbClr val="555555"/>
                </a:solidFill>
                <a:latin typeface="メイリオ"/>
              </a:rPr>
              <a:t>・OC予約のトーク完結＋前日リマインド</a:t>
            </a:r>
          </a:p>
          <a:p>
            <a:pPr algn="l"/>
            <a:r>
              <a:rPr sz="900" b="0">
                <a:solidFill>
                  <a:srgbClr val="555555"/>
                </a:solidFill>
                <a:latin typeface="メイリオ"/>
              </a:rPr>
              <a:t>　河原BM実例。参加率と歩留まりに直結</a:t>
            </a:r>
          </a:p>
          <a:p>
            <a:pPr algn="l"/>
            <a:r>
              <a:rPr sz="900" b="0">
                <a:solidFill>
                  <a:srgbClr val="555555"/>
                </a:solidFill>
                <a:latin typeface="メイリオ"/>
              </a:rPr>
              <a:t>・出願締切リマインド</a:t>
            </a:r>
          </a:p>
          <a:p>
            <a:pPr algn="l"/>
            <a:r>
              <a:rPr sz="900" b="0">
                <a:solidFill>
                  <a:srgbClr val="555555"/>
                </a:solidFill>
                <a:latin typeface="メイリオ"/>
              </a:rPr>
              <a:t>　機会損失・辞退の防止。実装コスト小</a:t>
            </a:r>
          </a:p>
          <a:p>
            <a:pPr algn="l"/>
            <a:r>
              <a:rPr sz="900" b="0">
                <a:solidFill>
                  <a:srgbClr val="555555"/>
                </a:solidFill>
                <a:latin typeface="メイリオ"/>
              </a:rPr>
              <a:t>・LINE個別相談窓口（1:1トーク）</a:t>
            </a:r>
          </a:p>
          <a:p>
            <a:pPr algn="l"/>
            <a:r>
              <a:rPr sz="900" b="0">
                <a:solidFill>
                  <a:srgbClr val="555555"/>
                </a:solidFill>
                <a:latin typeface="メイリオ"/>
              </a:rPr>
              <a:t>　大原は相談専用アカが配信型の2倍超（5.1万人）</a:t>
            </a:r>
          </a:p>
        </p:txBody>
      </p:sp>
      <p:sp>
        <p:nvSpPr>
          <p:cNvPr id="49" name="Rounded Rectangle 45"/>
          <p:cNvSpPr/>
          <p:nvPr/>
        </p:nvSpPr>
        <p:spPr>
          <a:xfrm>
            <a:off x="3510000" y="1620000"/>
            <a:ext cx="2988000" cy="2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a:solidFill>
                  <a:srgbClr val="1F3A5F"/>
                </a:solidFill>
                <a:latin typeface="メイリオ"/>
              </a:rPr>
              <a:t>○ 条件付きで有効</a:t>
            </a:r>
          </a:p>
        </p:txBody>
      </p:sp>
      <p:sp>
        <p:nvSpPr>
          <p:cNvPr id="50" name="Rounded Rectangle 46"/>
          <p:cNvSpPr/>
          <p:nvPr/>
        </p:nvSpPr>
        <p:spPr>
          <a:xfrm>
            <a:off x="3510000" y="2015999"/>
            <a:ext cx="2988000" cy="4104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・CPF広告（友だち追加広告）</a:t>
            </a:r>
          </a:p>
          <a:p>
            <a:pPr algn="l"/>
            <a:r>
              <a:rPr sz="950" b="0">
                <a:solidFill>
                  <a:srgbClr val="333333"/>
                </a:solidFill>
                <a:latin typeface="メイリオ"/>
              </a:rPr>
              <a:t>　明治大はCPC7〜8円。予算と制作体制が前提</a:t>
            </a:r>
          </a:p>
          <a:p>
            <a:pPr algn="l"/>
            <a:r>
              <a:rPr sz="900" b="0">
                <a:solidFill>
                  <a:srgbClr val="555555"/>
                </a:solidFill>
                <a:latin typeface="メイリオ"/>
              </a:rPr>
              <a:t>・通知メッセージ</a:t>
            </a:r>
          </a:p>
          <a:p>
            <a:pPr algn="l"/>
            <a:r>
              <a:rPr sz="900" b="0">
                <a:solidFill>
                  <a:srgbClr val="555555"/>
                </a:solidFill>
                <a:latin typeface="メイリオ"/>
              </a:rPr>
              <a:t>　過去の資料請求者など保有リストの量に依存</a:t>
            </a:r>
          </a:p>
          <a:p>
            <a:pPr algn="l"/>
            <a:r>
              <a:rPr sz="900" b="0">
                <a:solidFill>
                  <a:srgbClr val="555555"/>
                </a:solidFill>
                <a:latin typeface="メイリオ"/>
              </a:rPr>
              <a:t>・来場ポイント制</a:t>
            </a:r>
          </a:p>
          <a:p>
            <a:pPr algn="l"/>
            <a:r>
              <a:rPr sz="900" b="0">
                <a:solidFill>
                  <a:srgbClr val="555555"/>
                </a:solidFill>
                <a:latin typeface="メイリオ"/>
              </a:rPr>
              <a:t>　河原BM実例。特典原資と運用設計が必要</a:t>
            </a:r>
          </a:p>
          <a:p>
            <a:pPr algn="l"/>
            <a:r>
              <a:rPr sz="900" b="0">
                <a:solidFill>
                  <a:srgbClr val="555555"/>
                </a:solidFill>
                <a:latin typeface="メイリオ"/>
              </a:rPr>
              <a:t>・在校生・先輩コンテンツ</a:t>
            </a:r>
          </a:p>
          <a:p>
            <a:pPr algn="l"/>
            <a:r>
              <a:rPr sz="900" b="0">
                <a:solidFill>
                  <a:srgbClr val="555555"/>
                </a:solidFill>
                <a:latin typeface="メイリオ"/>
              </a:rPr>
              <a:t>　撮影・学内調整の協力体制が前提</a:t>
            </a:r>
          </a:p>
        </p:txBody>
      </p:sp>
      <p:sp>
        <p:nvSpPr>
          <p:cNvPr id="51" name="Rounded Rectangle 45"/>
          <p:cNvSpPr/>
          <p:nvPr/>
        </p:nvSpPr>
        <p:spPr>
          <a:xfrm>
            <a:off x="6660000" y="1620000"/>
            <a:ext cx="2988000" cy="2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a:solidFill>
                  <a:srgbClr val="1F3A5F"/>
                </a:solidFill>
                <a:latin typeface="メイリオ"/>
              </a:rPr>
              <a:t>△ 学校法人では優先度低</a:t>
            </a:r>
          </a:p>
        </p:txBody>
      </p:sp>
      <p:sp>
        <p:nvSpPr>
          <p:cNvPr id="52" name="Rounded Rectangle 46"/>
          <p:cNvSpPr/>
          <p:nvPr/>
        </p:nvSpPr>
        <p:spPr>
          <a:xfrm>
            <a:off x="6660000" y="2015999"/>
            <a:ext cx="2988000" cy="4104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・値引き型クーポンの乱発</a:t>
            </a:r>
          </a:p>
          <a:p>
            <a:pPr algn="l"/>
            <a:r>
              <a:rPr sz="950" b="0">
                <a:solidFill>
                  <a:srgbClr val="333333"/>
                </a:solidFill>
                <a:latin typeface="メイリオ"/>
              </a:rPr>
              <a:t>　学費に値引き文化がなくブランド毀損リスク</a:t>
            </a:r>
          </a:p>
          <a:p>
            <a:pPr algn="l"/>
            <a:r>
              <a:rPr sz="900" b="0">
                <a:solidFill>
                  <a:srgbClr val="555555"/>
                </a:solidFill>
                <a:latin typeface="メイリオ"/>
              </a:rPr>
              <a:t>・ミニアプリ・ID連携などの開発型</a:t>
            </a:r>
          </a:p>
          <a:p>
            <a:pPr algn="l"/>
            <a:r>
              <a:rPr sz="900" b="0">
                <a:solidFill>
                  <a:srgbClr val="555555"/>
                </a:solidFill>
                <a:latin typeface="メイリオ"/>
              </a:rPr>
              <a:t>　初期投資大。募集フェーズには過剰</a:t>
            </a:r>
          </a:p>
          <a:p>
            <a:pPr algn="l"/>
            <a:r>
              <a:rPr sz="900" b="0">
                <a:solidFill>
                  <a:srgbClr val="555555"/>
                </a:solidFill>
                <a:latin typeface="メイリオ"/>
              </a:rPr>
              <a:t>・高頻度の一斉配信</a:t>
            </a:r>
          </a:p>
          <a:p>
            <a:pPr algn="l"/>
            <a:r>
              <a:rPr sz="900" b="0">
                <a:solidFill>
                  <a:srgbClr val="555555"/>
                </a:solidFill>
                <a:latin typeface="メイリオ"/>
              </a:rPr>
              <a:t>　受験生は必要情報のみ。ブロック率が上昇</a:t>
            </a:r>
          </a:p>
          <a:p>
            <a:pPr algn="l"/>
            <a:r>
              <a:rPr sz="900" b="0">
                <a:solidFill>
                  <a:srgbClr val="555555"/>
                </a:solidFill>
                <a:latin typeface="メイリオ"/>
              </a:rPr>
              <a:t>・汎用EC型のリピート施策の直輸入</a:t>
            </a:r>
          </a:p>
          <a:p>
            <a:pPr algn="l"/>
            <a:r>
              <a:rPr sz="900" b="0">
                <a:solidFill>
                  <a:srgbClr val="555555"/>
                </a:solidFill>
                <a:latin typeface="メイリオ"/>
              </a:rPr>
              <a:t>　購買サイクルがない業界には不適合</a:t>
            </a:r>
          </a:p>
        </p:txBody>
      </p:sp>
      <p:sp>
        <p:nvSpPr>
          <p:cNvPr id="48" name="TextBox 47"/>
          <p:cNvSpPr txBox="1"/>
          <p:nvPr/>
        </p:nvSpPr>
        <p:spPr>
          <a:xfrm>
            <a:off x="360000" y="6336000"/>
            <a:ext cx="9216000" cy="288000"/>
          </a:xfrm>
          <a:prstGeom prst="rect">
            <a:avLst/>
          </a:prstGeom>
          <a:noFill/>
        </p:spPr>
        <p:txBody>
          <a:bodyPr wrap="square">
            <a:spAutoFit/>
          </a:bodyPr>
          <a:lstStyle/>
          <a:p>
            <a:r>
              <a:rPr sz="800">
                <a:solidFill>
                  <a:srgbClr val="404040"/>
                </a:solidFill>
                <a:latin typeface="メイリオ"/>
                <a:ea typeface="メイリオ"/>
              </a:rPr>
              <a:t>※ ◎○△は公開事例・当社調査（page.line.me 2026/7）に基づくDYM見解。貴校の体制・予算・保有リストに合わせて初回ヒアリングで確定します。</a:t>
            </a:r>
          </a:p>
        </p:txBody>
      </p:sp>
    </p:spTree>
    <p:extLst>
      <p:ext uri="{BB962C8B-B14F-4D97-AF65-F5344CB8AC3E}">
        <p14:creationId xmlns:p14="http://schemas.microsoft.com/office/powerpoint/2010/main" val="466478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LINE広告のCPFを利用して、進学興味×通学圏でのリード保有数を最大化。</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LINE完結で、WEBに遷移させないため離脱ゼロでのステップ配信・有効リードの育成へ。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「デジタルパンフ・進路診断を受け取る」簡易LPを作成し、WEBリード＋友だち追加をセットで獲得しそのままステップ配信へ移行。フォーム完結型よりCVRを引き上げてリードを最大化。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獲得したリード（資料請求者）を[来校][個別相談]へつなげる状態に引き上げる。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短期：ナーチャリングで、情報収集→来校・個別相談の機会を設定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長期：過去の資料請求者など「今すぐ以外」の層に再度接点を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 来校オファーでOC予約化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デジタルパンフ→Day3学部・学科紹介→Day7在校生の声→Day10「オープンキャンパス限定特典のご案内」。「今すぐ出願」ではなく「まず見に来るだけ」の低ハードルな来校設定が鍵。限定性・特典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在校生の声</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 × スコアリングで個別案内を自動振り分け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「受験学年・志望分野・検討度」を3問アンケートで取得。「高3・オープンキャンパス検討中」の回答者を自動でホットリードとして抽出し、入試広報担当から個別案内。温度感の高い層に集中する。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個別案内へ接続</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オープンキャンパス開催2〜3週前」「出願受付開始の直前」など進学カレンダー固有のモーメントに乗せた再接触配信。悩みのピーク前に届けることがCVR最大化のコツ。「売り込み」ではなく「タイミングの案内」として届ける。</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休眠リストの再CV</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資料請求のみで来校に至っていない層に「その後、進路検討はいかがですか？」と自然なトーンで再接触。回答別にシナリオ分岐：「志望変更」層→別学部・分野の案内／「時期未定」層→高1・高2向けの長期育成へ</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改善モデル⓷</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出願・入学という最終CVへの歩留まりを最大化する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出願・入学手続きに関わるハードルを下げる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入学後のイメージ・当日の流れを見える化する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入試ページを何度も見ているが踏み切れない層に「ご不明な点はありますか？」とLINEからプッシュ。「学費は？」「奨学金は使える？」「入試方式の違いは？」など頻出の不安をKW自動応答で即解消し、OC予約・出願へ誘導。</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日程調整自動化で、迷う前に来校予約を確定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「入学後イメージ」コンテンツで進学想起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出願を迷っている受験生に「入学3ヶ月の先輩の今」「在校生の1週間」などリアルな学生生活をLINEで定期配信。「入学後どうなるか」の不安を、実際の学生の姿で解消する。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OC予約・出願の直後にLINEで「当日の流れ／手続きの流れ」を自動送付。所要時間・持ち物・締切・次のステップまで事前案内する。不安が解消されると歩留まりが上がり、無断キャンセル・出願辞退が減少。</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合格後の辞退防止と、次学年・きょうだい・友人への接点拡大まで設計する。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志望・時期の把握で最適なタイミング・学部提案を実現</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時期を逃さない接点・リマインドを設計する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学部・併設校提案</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志望分野タグ × 近接学部レコメンドで検討の幅を拡大</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志望分野タグを活用して、近接分野の学部・併設校・系列校を自動レコメンド。「この学部を見た人は〇〇学部も検討しています」という具体提示が検討の幅を広げ、出願機会を増やす。</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追加請求CV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併願・回遊を促進</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在校生・保護者向けに「後輩・きょうだい紹介」をLINEで告知・管理。「友だちと一緒にオープンキャンパス」など学校ならではの同伴企画が、自然な紹介と新規接点を生む。</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高1・高2の早期登録者に「進路の考え方」「学部研究」コンテンツを定期配信。売り込みではなくギフトとして届け、受験学年になったときに第一想起される状態を作る（長期ナーチャリング）。</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再請求・再来訪を喚起</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入試日程タグ × カウントダウン配信で辞退防止</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出願締切・共通テスト・合格発表・入学手続き締切を「日付タグ」として登録し、カウントダウン・リマインドを自動配信。「うっかり忘れ」による機会損失と入学辞退を防ぐ。</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締切前リマインド</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LINEは募集で終わらない。在学生向けは特典ゼロでも1カ月で約25%が登録（駒澤大）＝「必要」で使われる。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募集〜在学〜卒業まで1つの友だち資産を使い回し、業務効率化・退学防止まで効かせられる。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入学後のLINE活用（公開事例）</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57006A34-E0FD-C2ED-2162-46ECD9FAEE3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360000" y="1584000"/>
            <a:ext cx="4284000" cy="2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a:solidFill>
                  <a:srgbClr val="1F3A5F"/>
                </a:solidFill>
                <a:latin typeface="メイリオ"/>
              </a:rPr>
              <a:t>公開事例：入学後のLINE活用</a:t>
            </a:r>
          </a:p>
        </p:txBody>
      </p:sp>
      <p:sp>
        <p:nvSpPr>
          <p:cNvPr id="47" name="Rounded Rectangle 46"/>
          <p:cNvSpPr/>
          <p:nvPr/>
        </p:nvSpPr>
        <p:spPr>
          <a:xfrm>
            <a:off x="360000" y="1980000"/>
            <a:ext cx="4284000" cy="1404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駒澤大学 教務部（LINEヤフー公式導入事例）</a:t>
            </a:r>
          </a:p>
          <a:p>
            <a:pPr algn="l"/>
            <a:r>
              <a:rPr sz="950" b="0">
                <a:solidFill>
                  <a:srgbClr val="333333"/>
                </a:solidFill>
                <a:latin typeface="メイリオ"/>
              </a:rPr>
              <a:t>・2カ月で友だち3,844人＝1カ月で在学生の約25%が登録（特典なし）</a:t>
            </a:r>
          </a:p>
          <a:p>
            <a:pPr algn="l"/>
            <a:r>
              <a:rPr sz="900" b="0">
                <a:solidFill>
                  <a:srgbClr val="555555"/>
                </a:solidFill>
                <a:latin typeface="メイリオ"/>
              </a:rPr>
              <a:t>・Q&amp;Aボット7本、履修期は1日1,000件超を自動応答</a:t>
            </a:r>
          </a:p>
          <a:p>
            <a:pPr algn="l"/>
            <a:r>
              <a:rPr sz="900" b="0">
                <a:solidFill>
                  <a:srgbClr val="555555"/>
                </a:solidFill>
                <a:latin typeface="メイリオ"/>
              </a:rPr>
              <a:t>・窓口問い合わせの約8割は「資料に載っている内容」だった</a:t>
            </a:r>
          </a:p>
        </p:txBody>
      </p:sp>
      <p:sp>
        <p:nvSpPr>
          <p:cNvPr id="55" name="Rounded Rectangle 46"/>
          <p:cNvSpPr/>
          <p:nvPr/>
        </p:nvSpPr>
        <p:spPr>
          <a:xfrm>
            <a:off x="360000" y="3491999"/>
            <a:ext cx="4284000" cy="1188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阪南大学Info（KANAMETO導入事例）</a:t>
            </a:r>
          </a:p>
          <a:p>
            <a:pPr algn="l"/>
            <a:r>
              <a:rPr sz="950" b="0">
                <a:solidFill>
                  <a:srgbClr val="333333"/>
                </a:solidFill>
                <a:latin typeface="メイリオ"/>
              </a:rPr>
              <a:t>・友だちの学生:保護者比≒1:1、学生用／保護者用の2種リッチメニュー</a:t>
            </a:r>
          </a:p>
          <a:p>
            <a:pPr algn="l"/>
            <a:r>
              <a:rPr sz="900" b="0">
                <a:solidFill>
                  <a:srgbClr val="555555"/>
                </a:solidFill>
                <a:latin typeface="メイリオ"/>
              </a:rPr>
              <a:t>・学部・学年セグメント配信で怠学・退学防止に活用</a:t>
            </a:r>
          </a:p>
        </p:txBody>
      </p:sp>
      <p:sp>
        <p:nvSpPr>
          <p:cNvPr id="56" name="Rounded Rectangle 46"/>
          <p:cNvSpPr/>
          <p:nvPr/>
        </p:nvSpPr>
        <p:spPr>
          <a:xfrm>
            <a:off x="360000" y="4788000"/>
            <a:ext cx="4284000" cy="1044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事例から言えること</a:t>
            </a:r>
          </a:p>
          <a:p>
            <a:pPr algn="l"/>
            <a:r>
              <a:rPr sz="950" b="0">
                <a:solidFill>
                  <a:srgbClr val="333333"/>
                </a:solidFill>
                <a:latin typeface="メイリオ"/>
              </a:rPr>
              <a:t>・募集は「得」で集まり、在学は「必要」で集まる</a:t>
            </a:r>
          </a:p>
          <a:p>
            <a:pPr algn="l"/>
            <a:r>
              <a:rPr sz="900" b="0">
                <a:solidFill>
                  <a:srgbClr val="555555"/>
                </a:solidFill>
                <a:latin typeface="メイリオ"/>
              </a:rPr>
              <a:t>・入学後は特典不要＝価値の中心はQ&amp;A自動化と確実な連絡</a:t>
            </a:r>
          </a:p>
        </p:txBody>
      </p:sp>
      <p:sp>
        <p:nvSpPr>
          <p:cNvPr id="50" name="Rounded Rectangle 49"/>
          <p:cNvSpPr/>
          <p:nvPr/>
        </p:nvSpPr>
        <p:spPr>
          <a:xfrm>
            <a:off x="4860000" y="1584000"/>
            <a:ext cx="4716000" cy="2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a:solidFill>
                  <a:srgbClr val="1F3A5F"/>
                </a:solidFill>
                <a:latin typeface="メイリオ"/>
              </a:rPr>
              <a:t>貴校への提案：募集で終わらないLINE</a:t>
            </a:r>
          </a:p>
        </p:txBody>
      </p:sp>
      <p:sp>
        <p:nvSpPr>
          <p:cNvPr id="51" name="Rounded Rectangle 50"/>
          <p:cNvSpPr/>
          <p:nvPr/>
        </p:nvSpPr>
        <p:spPr>
          <a:xfrm>
            <a:off x="4860000" y="1980000"/>
            <a:ext cx="4716000" cy="1584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500" b="1">
                <a:solidFill>
                  <a:srgbClr val="FFFFFF"/>
                </a:solidFill>
                <a:latin typeface="メイリオ"/>
              </a:rPr>
              <a:t>募集で作った友だち資産を、入学後にそのまま転用</a:t>
            </a:r>
          </a:p>
          <a:p>
            <a:pPr algn="l"/>
            <a:r>
              <a:rPr sz="1000" b="0">
                <a:solidFill>
                  <a:srgbClr val="FFFFFF"/>
                </a:solidFill>
                <a:latin typeface="メイリオ"/>
              </a:rPr>
              <a:t>入学前：資料請求→オープンキャンパス→出願【CV①〜③】</a:t>
            </a:r>
          </a:p>
          <a:p>
            <a:pPr algn="l"/>
            <a:r>
              <a:rPr sz="900" b="0">
                <a:solidFill>
                  <a:srgbClr val="FFFFFF"/>
                </a:solidFill>
                <a:latin typeface="メイリオ"/>
              </a:rPr>
              <a:t>入学後：教務連絡・Q&amp;A自動化・保護者連携</a:t>
            </a:r>
          </a:p>
          <a:p>
            <a:pPr algn="l"/>
            <a:r>
              <a:rPr sz="900" b="0">
                <a:solidFill>
                  <a:srgbClr val="FFFFFF"/>
                </a:solidFill>
                <a:latin typeface="メイリオ"/>
              </a:rPr>
              <a:t>卒業後：同窓接点・弟妹/後輩の紹介へ</a:t>
            </a:r>
          </a:p>
        </p:txBody>
      </p:sp>
      <p:sp>
        <p:nvSpPr>
          <p:cNvPr id="53" name="Rounded Rectangle 52"/>
          <p:cNvSpPr/>
          <p:nvPr/>
        </p:nvSpPr>
        <p:spPr>
          <a:xfrm>
            <a:off x="4860000" y="3671999"/>
            <a:ext cx="4716000" cy="1188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150" b="1">
                <a:solidFill>
                  <a:srgbClr val="1F3A5F"/>
                </a:solidFill>
                <a:latin typeface="メイリオ"/>
              </a:rPr>
              <a:t>事務局（決裁者）に効く2つの公表数値</a:t>
            </a:r>
          </a:p>
          <a:p>
            <a:pPr algn="l"/>
            <a:r>
              <a:rPr sz="950" b="0">
                <a:solidFill>
                  <a:srgbClr val="333333"/>
                </a:solidFill>
                <a:latin typeface="メイリオ"/>
              </a:rPr>
              <a:t>・窓口問い合わせの約8割は自動化余地（駒澤大の公表値）</a:t>
            </a:r>
          </a:p>
          <a:p>
            <a:pPr algn="l"/>
            <a:r>
              <a:rPr sz="950" b="0">
                <a:solidFill>
                  <a:srgbClr val="333333"/>
                </a:solidFill>
                <a:latin typeface="メイリオ"/>
              </a:rPr>
              <a:t>・保護者が友だちの半分を占め得る＝学費決裁者との常時接点（阪南大）</a:t>
            </a:r>
          </a:p>
        </p:txBody>
      </p:sp>
      <p:sp>
        <p:nvSpPr>
          <p:cNvPr id="57" name="Rounded Rectangle 52"/>
          <p:cNvSpPr/>
          <p:nvPr/>
        </p:nvSpPr>
        <p:spPr>
          <a:xfrm>
            <a:off x="4860000" y="4968000"/>
            <a:ext cx="4716000" cy="864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150" b="1">
                <a:solidFill>
                  <a:srgbClr val="1F3A5F"/>
                </a:solidFill>
                <a:latin typeface="メイリオ"/>
              </a:rPr>
              <a:t>効果：学生募集の投資が、在学サポートの業務効率化・退学防止まで回収</a:t>
            </a:r>
          </a:p>
          <a:p>
            <a:pPr algn="l"/>
            <a:r>
              <a:rPr sz="950" b="0">
                <a:solidFill>
                  <a:srgbClr val="333333"/>
                </a:solidFill>
                <a:latin typeface="メイリオ"/>
              </a:rPr>
              <a:t>＝アカウントを「募集専用」で終わらせない拡張提案が可能</a:t>
            </a:r>
          </a:p>
          <a:p>
            <a:pPr algn="l"/>
            <a:endParaRPr sz="950" b="0">
              <a:solidFill>
                <a:srgbClr val="333333"/>
              </a:solidFill>
              <a:latin typeface="メイリオ"/>
            </a:endParaRPr>
          </a:p>
        </p:txBody>
      </p:sp>
      <p:sp>
        <p:nvSpPr>
          <p:cNvPr id="54" name="TextBox 53"/>
          <p:cNvSpPr txBox="1"/>
          <p:nvPr/>
        </p:nvSpPr>
        <p:spPr>
          <a:xfrm>
            <a:off x="360000" y="6372000"/>
            <a:ext cx="9216000" cy="288000"/>
          </a:xfrm>
          <a:prstGeom prst="rect">
            <a:avLst/>
          </a:prstGeom>
          <a:noFill/>
        </p:spPr>
        <p:txBody>
          <a:bodyPr wrap="square">
            <a:spAutoFit/>
          </a:bodyPr>
          <a:lstStyle/>
          <a:p>
            <a:r>
              <a:rPr sz="800">
                <a:solidFill>
                  <a:srgbClr val="404040"/>
                </a:solidFill>
                <a:latin typeface="メイリオ"/>
                <a:ea typeface="メイリオ"/>
              </a:rPr>
              <a:t>※ 駒澤大学＝LINEヤフー公式導入事例／阪南大学＝KANAMETO導入事例（いずれも公開情報・数値は各公表時点）。</a:t>
            </a:r>
          </a:p>
        </p:txBody>
      </p:sp>
    </p:spTree>
    <p:extLst>
      <p:ext uri="{BB962C8B-B14F-4D97-AF65-F5344CB8AC3E}">
        <p14:creationId xmlns:p14="http://schemas.microsoft.com/office/powerpoint/2010/main" val="1429089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6DCF1698-6349-3ED2-41E3-8206E46BC234}"/>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200" b="0" dirty="0">
                <a:solidFill>
                  <a:srgbClr val="333333"/>
                </a:solidFill>
                <a:latin typeface="メイリオ"/>
              </a:rPr>
              <a:t>「ターゲット × ステップ」を軸にした構成。◯の数は貴校の学部数・募集規模に合わせて確定します。</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ご提供プラン（運用構成）</a:t>
            </a:r>
            <a:endParaRPr sz="1600" b="1" dirty="0">
              <a:solidFill>
                <a:srgbClr val="002060"/>
              </a:solidFill>
              <a:latin typeface="Meiryo"/>
              <a:ea typeface="Meiryo"/>
              <a:cs typeface="Meiryo"/>
              <a:sym typeface="Meiryo"/>
            </a:endParaRPr>
          </a:p>
        </p:txBody>
      </p:sp>
      <p:sp>
        <p:nvSpPr>
          <p:cNvPr id="46" name="Rounded Rectangle 45"/>
          <p:cNvSpPr/>
          <p:nvPr/>
        </p:nvSpPr>
        <p:spPr>
          <a:xfrm>
            <a:off x="350000" y="1560000"/>
            <a:ext cx="4300000" cy="30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a:solidFill>
                  <a:srgbClr val="1F3A5F"/>
                </a:solidFill>
                <a:latin typeface="メイリオ"/>
              </a:rPr>
              <a:t>運用構成（貴社に合わせて確定）</a:t>
            </a:r>
          </a:p>
        </p:txBody>
      </p:sp>
      <p:sp>
        <p:nvSpPr>
          <p:cNvPr id="47" name="Rounded Rectangle 46"/>
          <p:cNvSpPr/>
          <p:nvPr/>
        </p:nvSpPr>
        <p:spPr>
          <a:xfrm>
            <a:off x="350000" y="1930000"/>
            <a:ext cx="43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ターゲット：◯ 個</a:t>
            </a:r>
          </a:p>
          <a:p>
            <a:pPr algn="l"/>
            <a:r>
              <a:rPr sz="950" b="0">
                <a:solidFill>
                  <a:srgbClr val="333333"/>
                </a:solidFill>
                <a:latin typeface="メイリオ"/>
              </a:rPr>
              <a:t>二軸アンケート（受験学年×志望分野）で分類</a:t>
            </a:r>
          </a:p>
          <a:p>
            <a:pPr algn="l"/>
            <a:r>
              <a:rPr sz="900" b="0">
                <a:solidFill>
                  <a:srgbClr val="555555"/>
                </a:solidFill>
                <a:latin typeface="メイリオ"/>
              </a:rPr>
              <a:t>例：3個｜「高3・検討度高／OC参加済／高1・2 情報収集」</a:t>
            </a:r>
          </a:p>
          <a:p>
            <a:r>
              <a:rPr sz="800">
                <a:solidFill>
                  <a:srgbClr val="404040"/>
                </a:solidFill>
                <a:latin typeface="メイリオ"/>
                <a:ea typeface="メイリオ"/>
              </a:rPr>
              <a:t>※実例：滋慶学園Gは「第一希望/比較検討中」タグで出し分け（Liny事例）</a:t>
            </a:r>
          </a:p>
        </p:txBody>
      </p:sp>
      <p:sp>
        <p:nvSpPr>
          <p:cNvPr id="48" name="Rounded Rectangle 47"/>
          <p:cNvSpPr/>
          <p:nvPr/>
        </p:nvSpPr>
        <p:spPr>
          <a:xfrm>
            <a:off x="350000" y="3080000"/>
            <a:ext cx="43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ステップ配信：各◯ 通 × ◯ セット</a:t>
            </a:r>
          </a:p>
          <a:p>
            <a:pPr algn="l"/>
            <a:r>
              <a:rPr sz="950" b="0">
                <a:solidFill>
                  <a:srgbClr val="333333"/>
                </a:solidFill>
                <a:latin typeface="メイリオ"/>
              </a:rPr>
              <a:t>ターゲット別シナリオを全自動で稼働</a:t>
            </a:r>
          </a:p>
          <a:p>
            <a:pPr algn="l"/>
            <a:r>
              <a:rPr sz="900" b="0">
                <a:solidFill>
                  <a:srgbClr val="555555"/>
                </a:solidFill>
                <a:latin typeface="メイリオ"/>
              </a:rPr>
              <a:t>例：6通×3セット＝18通</a:t>
            </a:r>
          </a:p>
        </p:txBody>
      </p:sp>
      <p:sp>
        <p:nvSpPr>
          <p:cNvPr id="49" name="Rounded Rectangle 48"/>
          <p:cNvSpPr/>
          <p:nvPr/>
        </p:nvSpPr>
        <p:spPr>
          <a:xfrm>
            <a:off x="350000" y="4230000"/>
            <a:ext cx="43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300" b="1">
                <a:solidFill>
                  <a:srgbClr val="1F3A5F"/>
                </a:solidFill>
                <a:latin typeface="メイリオ"/>
              </a:rPr>
              <a:t>企画投稿：月◯ 本</a:t>
            </a:r>
          </a:p>
          <a:p>
            <a:pPr algn="l"/>
            <a:r>
              <a:rPr sz="950" b="0">
                <a:solidFill>
                  <a:srgbClr val="333333"/>
                </a:solidFill>
                <a:latin typeface="メイリオ"/>
              </a:rPr>
              <a:t>週1回の定期投稿＋入試日程連動の特別配信</a:t>
            </a:r>
          </a:p>
          <a:p>
            <a:pPr algn="l"/>
            <a:r>
              <a:rPr sz="900" b="0">
                <a:solidFill>
                  <a:srgbClr val="555555"/>
                </a:solidFill>
                <a:latin typeface="メイリオ"/>
              </a:rPr>
              <a:t>例：月4本（週1回）</a:t>
            </a:r>
          </a:p>
        </p:txBody>
      </p:sp>
      <p:sp>
        <p:nvSpPr>
          <p:cNvPr id="50" name="Rounded Rectangle 49"/>
          <p:cNvSpPr/>
          <p:nvPr/>
        </p:nvSpPr>
        <p:spPr>
          <a:xfrm>
            <a:off x="4850000" y="1560000"/>
            <a:ext cx="4700000" cy="30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a:solidFill>
                  <a:srgbClr val="1F3A5F"/>
                </a:solidFill>
                <a:latin typeface="メイリオ"/>
              </a:rPr>
              <a:t>費用・ツール・運営（標準）</a:t>
            </a:r>
          </a:p>
        </p:txBody>
      </p:sp>
      <p:sp>
        <p:nvSpPr>
          <p:cNvPr id="51" name="Rounded Rectangle 50"/>
          <p:cNvSpPr/>
          <p:nvPr/>
        </p:nvSpPr>
        <p:spPr>
          <a:xfrm>
            <a:off x="4850000" y="1930000"/>
            <a:ext cx="4700000" cy="118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500" b="1">
                <a:solidFill>
                  <a:srgbClr val="FFFFFF"/>
                </a:solidFill>
                <a:latin typeface="メイリオ"/>
              </a:rPr>
              <a:t>月額 25万円〜（3投稿〜）</a:t>
            </a:r>
          </a:p>
          <a:p>
            <a:pPr algn="l"/>
            <a:r>
              <a:rPr sz="1000" b="0">
                <a:solidFill>
                  <a:srgbClr val="FFFFFF"/>
                </a:solidFill>
                <a:latin typeface="メイリオ"/>
              </a:rPr>
              <a:t>初期費用 10万円〜 ／ 6か月〜契約</a:t>
            </a:r>
          </a:p>
          <a:p>
            <a:pPr algn="l"/>
            <a:r>
              <a:rPr sz="900" b="0">
                <a:solidFill>
                  <a:srgbClr val="FFFFFF"/>
                </a:solidFill>
                <a:latin typeface="メイリオ"/>
              </a:rPr>
              <a:t>※投稿数・セット数に応じて変動</a:t>
            </a:r>
          </a:p>
        </p:txBody>
      </p:sp>
      <p:sp>
        <p:nvSpPr>
          <p:cNvPr id="53" name="Rounded Rectangle 52"/>
          <p:cNvSpPr/>
          <p:nvPr/>
        </p:nvSpPr>
        <p:spPr>
          <a:xfrm>
            <a:off x="4850000" y="4230000"/>
            <a:ext cx="4700000" cy="103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150" b="1">
                <a:solidFill>
                  <a:srgbClr val="1F3A5F"/>
                </a:solidFill>
                <a:latin typeface="メイリオ"/>
              </a:rPr>
              <a:t>個別チャット運営</a:t>
            </a:r>
          </a:p>
          <a:p>
            <a:pPr algn="l"/>
            <a:r>
              <a:rPr sz="950" b="0">
                <a:solidFill>
                  <a:srgbClr val="333333"/>
                </a:solidFill>
                <a:latin typeface="メイリオ"/>
              </a:rPr>
              <a:t>よくある質問＝KW自動応答／受付時間内は有人対応</a:t>
            </a:r>
          </a:p>
          <a:p>
            <a:pPr algn="l"/>
            <a:r>
              <a:rPr sz="950" b="0">
                <a:solidFill>
                  <a:srgbClr val="333333"/>
                </a:solidFill>
                <a:latin typeface="メイリオ"/>
              </a:rPr>
              <a:t>入試の個別質問はチャット受付 → 入試広報担当へ連携</a:t>
            </a:r>
          </a:p>
        </p:txBody>
      </p:sp>
      <p:sp>
        <p:nvSpPr>
          <p:cNvPr id="54" name="Rounded Rectangle 53"/>
          <p:cNvSpPr/>
          <p:nvPr/>
        </p:nvSpPr>
        <p:spPr>
          <a:xfrm>
            <a:off x="4850000" y="3230000"/>
            <a:ext cx="4700000" cy="98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pPr algn="ctr"/>
            <a:r>
              <a:rPr sz="1150" b="1">
                <a:solidFill>
                  <a:srgbClr val="1F3A5F"/>
                </a:solidFill>
                <a:latin typeface="メイリオ"/>
              </a:rPr>
              <a:t>導入ツール：役割別に選定</a:t>
            </a:r>
          </a:p>
          <a:p>
            <a:r>
              <a:rPr sz="900" b="1">
                <a:solidFill>
                  <a:srgbClr val="333333"/>
                </a:solidFill>
                <a:latin typeface="メイリオ"/>
              </a:rPr>
              <a:t>入口＝Sitelead（離脱防止ポップアップ）※別途費用</a:t>
            </a:r>
          </a:p>
          <a:p>
            <a:r>
              <a:rPr sz="900" b="0">
                <a:solidFill>
                  <a:srgbClr val="333333"/>
                </a:solidFill>
                <a:latin typeface="メイリオ"/>
              </a:rPr>
              <a:t>配信＝Lstep または Hachidori のどちらか一方を要件で選定</a:t>
            </a:r>
          </a:p>
          <a:p>
            <a:r>
              <a:rPr sz="900" b="0">
                <a:solidFill>
                  <a:srgbClr val="333333"/>
                </a:solidFill>
                <a:latin typeface="メイリオ"/>
              </a:rPr>
              <a:t>　Lstep＝タグ・セグメント・ステップ自動化／Hachidori＝通知メッセ・保有リスト活用</a:t>
            </a:r>
          </a:p>
          <a:p>
            <a:r>
              <a:rPr sz="850" b="0">
                <a:solidFill>
                  <a:srgbClr val="555555"/>
                </a:solidFill>
                <a:latin typeface="メイリオ"/>
              </a:rPr>
              <a:t>既存の出願システム・CRMとのAPI連携も対応（特定ツールに依存しない）</a:t>
            </a:r>
          </a:p>
        </p:txBody>
      </p:sp>
    </p:spTree>
    <p:extLst>
      <p:ext uri="{BB962C8B-B14F-4D97-AF65-F5344CB8AC3E}">
        <p14:creationId xmlns:p14="http://schemas.microsoft.com/office/powerpoint/2010/main" val="394375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フォーム入力より低ハードルなLINE登録をCV地点に変更。大学の公式事例ではLINE広告CPC7〜8円・CTR最大3.2%（明治大・LINEヤフー公式）と、進路情報は低単価で友だち化できる。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603747"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96773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518388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518388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04931"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デジタルパンフ・入試ガイドを即時配布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「登録するだけでもらえる」特典で登録動機を明確化。デジタルパンフ・入試日程早見表・学費/奨学金ガイドなど、進学検討にすぐ役立つコンテンツが最も登録率が高い。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「30秒進路タイプ診断」でゲーム感覚の登録動線を設計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「あなたに合う学部・分野診断」など自分ごと化できる診断をLINE登録特典に設定。結果表示→そのまま学部紹介・オープンキャンパス案内の育成配信へ移行。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518388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Text 110">
            <a:extLst>
              <a:ext uri="{FF2B5EF4-FFF2-40B4-BE49-F238E27FC236}">
                <a16:creationId xmlns:a16="http://schemas.microsoft.com/office/drawing/2014/main" id="{1BBCFD40-F618-5A41-391D-5947D86BCCA5}"/>
              </a:ext>
            </a:extLst>
          </p:cNvPr>
          <p:cNvSpPr/>
          <p:nvPr/>
        </p:nvSpPr>
        <p:spPr>
          <a:xfrm>
            <a:off x="5504931"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サンクスLINE誘導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5183886"/>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資料請求・OC予約のサンクスページにLINE追加QRを設置。「資料の発送状況・オープンキャンパス最新情報をLINEでお知らせします」という理由付けで登録率を高める。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98470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984709"/>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52282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04931" y="398470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04931" y="52282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3" name="Text 110">
            <a:extLst>
              <a:ext uri="{FF2B5EF4-FFF2-40B4-BE49-F238E27FC236}">
                <a16:creationId xmlns:a16="http://schemas.microsoft.com/office/drawing/2014/main" id="{EDD9FC5D-F103-9D3F-47C3-8F954172AE95}"/>
              </a:ext>
            </a:extLst>
          </p:cNvPr>
          <p:cNvSpPr/>
          <p:nvPr/>
        </p:nvSpPr>
        <p:spPr>
          <a:xfrm>
            <a:off x="5504931" y="522829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a:t>
            </a: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5" name="Text 110">
            <a:extLst>
              <a:ext uri="{FF2B5EF4-FFF2-40B4-BE49-F238E27FC236}">
                <a16:creationId xmlns:a16="http://schemas.microsoft.com/office/drawing/2014/main" id="{E8EED7F4-BAE1-D41E-67C4-68F570C48388}"/>
              </a:ext>
            </a:extLst>
          </p:cNvPr>
          <p:cNvSpPr/>
          <p:nvPr/>
        </p:nvSpPr>
        <p:spPr>
          <a:xfrm>
            <a:off x="5504931" y="399385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5226218"/>
            <a:ext cx="859536" cy="201168"/>
          </a:xfrm>
          <a:prstGeom prst="rect">
            <a:avLst/>
          </a:prstGeom>
          <a:solidFill>
            <a:schemeClr val="tx2"/>
          </a:solidFill>
          <a:ln/>
        </p:spPr>
        <p:txBody>
          <a:bodyPr wrap="square" lIns="0" tIns="0" rIns="0" bIns="0" rtlCol="0" anchor="ctr"/>
          <a:lstStyle/>
          <a:p>
            <a:pPr marL="0" indent="0" algn="ctr">
              <a:buNone/>
            </a:pP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9" name="Text 38">
            <a:extLst>
              <a:ext uri="{FF2B5EF4-FFF2-40B4-BE49-F238E27FC236}">
                <a16:creationId xmlns:a16="http://schemas.microsoft.com/office/drawing/2014/main" id="{0AAF9C38-B88A-AA3E-E296-3AB0BC76B93B}"/>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流入</a:t>
            </a:r>
            <a:r>
              <a:rPr lang="en-US" altLang="ja-JP" sz="700" dirty="0">
                <a:solidFill>
                  <a:srgbClr val="FDFDFD"/>
                </a:solidFill>
                <a:latin typeface="メイリオ" panose="020B0604030504040204" pitchFamily="50" charset="-128"/>
                <a:ea typeface="メイリオ" panose="020B0604030504040204" pitchFamily="50" charset="-128"/>
              </a:rPr>
              <a:t>/</a:t>
            </a:r>
            <a:r>
              <a:rPr lang="ja-JP" altLang="en-US" sz="700" dirty="0">
                <a:solidFill>
                  <a:srgbClr val="FDFDFD"/>
                </a:solidFill>
                <a:latin typeface="メイリオ" panose="020B0604030504040204" pitchFamily="50" charset="-128"/>
                <a:ea typeface="メイリオ" panose="020B0604030504040204" pitchFamily="50" charset="-128"/>
              </a:rPr>
              <a:t>集客チャネル</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2224556"/>
            <a:ext cx="1669123"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2224556"/>
            <a:ext cx="1669123" cy="182880"/>
          </a:xfrm>
          <a:prstGeom prst="rect">
            <a:avLst/>
          </a:prstGeom>
          <a:noFill/>
          <a:ln/>
        </p:spPr>
        <p:txBody>
          <a:bodyPr wrap="square" lIns="0" tIns="0" rIns="0" bIns="0" rtlCol="0" anchor="ctr"/>
          <a:lstStyle/>
          <a:p>
            <a:pPr marL="0" indent="0">
              <a:buNone/>
            </a:pPr>
            <a:r>
              <a:rPr lang="ja-JP" altLang="en-US" sz="7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7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271369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過去の資料請求者・OC参加者・進学イベント名簿にLINE移行キャンペーンを配信。「LINE登録で入試直前情報をお届け」等の特典で現役リストに転換し、再ナーチャリングを開始する。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3390349"/>
            <a:ext cx="1274064" cy="329184"/>
          </a:xfrm>
          <a:prstGeom prst="rect">
            <a:avLst/>
          </a:prstGeom>
          <a:noFill/>
          <a:ln/>
        </p:spPr>
        <p:txBody>
          <a:bodyPr wrap="square" lIns="0" tIns="0" rIns="0" bIns="0" rtlCol="0" anchor="ctr"/>
          <a:lstStyle/>
          <a:p>
            <a:pPr marL="0" indent="0" algn="ctr">
              <a:lnSpc>
                <a:spcPct val="115000"/>
              </a:lnSpc>
              <a:buNone/>
            </a:pPr>
            <a:r>
              <a:rPr lang="en-US" sz="60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97632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400375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400375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976327"/>
            <a:ext cx="2907792"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OC・出願期に合わせた限定配信でCV喚起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「オープンキャンパス開催前」「出願受付開始」「共通テスト後の出願校追加」など、受験生が動くタイミングに合わせて配信。「今だから」の理由付けが未アクション層を動かす。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5238961"/>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52663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343" name="Text 57">
            <a:extLst>
              <a:ext uri="{FF2B5EF4-FFF2-40B4-BE49-F238E27FC236}">
                <a16:creationId xmlns:a16="http://schemas.microsoft.com/office/drawing/2014/main" id="{3D038977-48FB-088C-1A4C-879420FF6CE5}"/>
              </a:ext>
            </a:extLst>
          </p:cNvPr>
          <p:cNvSpPr/>
          <p:nvPr/>
        </p:nvSpPr>
        <p:spPr>
          <a:xfrm>
            <a:off x="1975347"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2741125"/>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2713693"/>
            <a:ext cx="3017520"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資料請求のみで来校・出願に至っていない層に、時期を見て再接触。「新設学部のご案内」「新しい入試方式・特待制度」という切り口が再CVに有効。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976327"/>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400375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97632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資料請求のみ層へのリマインド配信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資料請求のみでOC予約に至っていない層に特化したステップ配信を設計。「次回オープンキャンパス〇/〇開催」「個別相談受付中」等のCTAで背中を押す。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5238961"/>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52663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5266393"/>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半年以上反応のない高1・高2層に「進路の考え方」など役立つコンテンツから再接触。新学期など学年が切り替わるタイミングで、本格的な志望校さがしへ誘導する。</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915617"/>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401290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Text 110">
            <a:extLst>
              <a:ext uri="{FF2B5EF4-FFF2-40B4-BE49-F238E27FC236}">
                <a16:creationId xmlns:a16="http://schemas.microsoft.com/office/drawing/2014/main" id="{842F8CC1-6BB0-E2D8-D691-F619A1535EB4}"/>
              </a:ext>
            </a:extLst>
          </p:cNvPr>
          <p:cNvSpPr/>
          <p:nvPr/>
        </p:nvSpPr>
        <p:spPr>
          <a:xfrm>
            <a:off x="1060947" y="5264318"/>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再スクリーニング</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想定：オープンキャンパス再来訪・併願検討・入学手続きまでを計画的にフォロー</a:t>
            </a:r>
          </a:p>
        </p:txBody>
      </p:sp>
      <p:sp>
        <p:nvSpPr>
          <p:cNvPr id="243" name="Shape 8">
            <a:extLst>
              <a:ext uri="{FF2B5EF4-FFF2-40B4-BE49-F238E27FC236}">
                <a16:creationId xmlns:a16="http://schemas.microsoft.com/office/drawing/2014/main" id="{25BEC70F-1CF8-F07A-EA93-FC6E8D940E95}"/>
              </a:ext>
            </a:extLst>
          </p:cNvPr>
          <p:cNvSpPr/>
          <p:nvPr/>
        </p:nvSpPr>
        <p:spPr>
          <a:xfrm>
            <a:off x="622035"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再来訪・継続接点</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OC参加者を出願・入学まで運ぶ設計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回遊・紹介施策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学部横断・併設校・紹介への展開設計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2704549"/>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79235"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265" name="Text 20">
            <a:extLst>
              <a:ext uri="{FF2B5EF4-FFF2-40B4-BE49-F238E27FC236}">
                <a16:creationId xmlns:a16="http://schemas.microsoft.com/office/drawing/2014/main" id="{B823E9DA-260C-1603-CA04-ED130644314C}"/>
              </a:ext>
            </a:extLst>
          </p:cNvPr>
          <p:cNvSpPr/>
          <p:nvPr/>
        </p:nvSpPr>
        <p:spPr>
          <a:xfrm>
            <a:off x="1079235"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アフターフォロー</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7" name="Text 21">
            <a:extLst>
              <a:ext uri="{FF2B5EF4-FFF2-40B4-BE49-F238E27FC236}">
                <a16:creationId xmlns:a16="http://schemas.microsoft.com/office/drawing/2014/main" id="{FCE3B029-FE9D-7576-7B05-2585AB5A66B1}"/>
              </a:ext>
            </a:extLst>
          </p:cNvPr>
          <p:cNvSpPr/>
          <p:nvPr/>
        </p:nvSpPr>
        <p:spPr>
          <a:xfrm>
            <a:off x="1993635"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オープンキャンパス参加の当日夜・3日後・1週間後に自動フォロー配信。「見学した学部はいかがでしたか？」「次回は模擬授業も体験できます」と再来訪・個別相談を自然に促す。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OC参加</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3381205"/>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当日夜/3日後/1週間後</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299" name="Shape 37">
            <a:extLst>
              <a:ext uri="{FF2B5EF4-FFF2-40B4-BE49-F238E27FC236}">
                <a16:creationId xmlns:a16="http://schemas.microsoft.com/office/drawing/2014/main" id="{8370F2F6-B57B-6CE2-C1D8-99B62C8BD5CA}"/>
              </a:ext>
            </a:extLst>
          </p:cNvPr>
          <p:cNvSpPr/>
          <p:nvPr/>
        </p:nvSpPr>
        <p:spPr>
          <a:xfrm>
            <a:off x="1079235"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79235"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出願締切・入試日程に連動したカウントダウン配信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出願締切・共通テスト・合格発表を日付タグとして登録し、締切前に自動配信。「あと〇日」の可視化が先延ばしを防ぎ、出願率を高める。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入試日程タグ設定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締切前リマインド</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出願CV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79235"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37" name="Text 56">
            <a:extLst>
              <a:ext uri="{FF2B5EF4-FFF2-40B4-BE49-F238E27FC236}">
                <a16:creationId xmlns:a16="http://schemas.microsoft.com/office/drawing/2014/main" id="{8DC1BB15-70BD-88F4-1430-70391985EBFC}"/>
              </a:ext>
            </a:extLst>
          </p:cNvPr>
          <p:cNvSpPr/>
          <p:nvPr/>
        </p:nvSpPr>
        <p:spPr>
          <a:xfrm>
            <a:off x="1079235"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紹介キャンペーン</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39" name="Text 57">
            <a:extLst>
              <a:ext uri="{FF2B5EF4-FFF2-40B4-BE49-F238E27FC236}">
                <a16:creationId xmlns:a16="http://schemas.microsoft.com/office/drawing/2014/main" id="{863EF515-E441-C008-46FD-E8772A47BE9A}"/>
              </a:ext>
            </a:extLst>
          </p:cNvPr>
          <p:cNvSpPr/>
          <p:nvPr/>
        </p:nvSpPr>
        <p:spPr>
          <a:xfrm>
            <a:off x="1993635"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在校生・保護者・受験生からの「友だち・きょうだい紹介」をLINEで告知・管理。「友だちと一緒にオープンキャンパス」等の同伴企画が参加ハードルを下げる。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OC参加後・合格後</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90647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2704549"/>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志望分野連動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志望分野に応じた学部・コースのレコメンド</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志望分野タグを活用して、近接分野の学部・コース・キャンパスを自動レコメンド。「この学部を見た人は〇〇学部も検討しています」という具体提示が検討の幅を広げる。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志望分野タグ付与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近接学部レコメンド</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追加の資料請求CV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併設・系列校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併設校・系列校・専攻科への回遊配信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「〇〇学科が気になる方へ：併設の△△校・専攻科進学という選択肢も」という形で系列内を案内。タグセグメントで対象を絞り、過剰アプローチを防ぐ。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志望カテゴリ特定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64383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併設・系列校案内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追加請求CV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入試カレンダーに合わせた情報の先出し配信</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受験生が次に動く前に情報を先出しする。「夏のオープンキャンパスに向けて見学準備はお済みですか？」のようにシーズン2〜3週前に配信するとCVRが高い。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進学情報の先出し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想定：チャット対応を自動化しつつ、温度感の高い受験生・保護者を入試広報へトスアップしCVに繋げる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0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7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0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874674"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温度感が高まったユーザーを入試広報に自動連携する</a:t>
            </a:r>
            <a:endParaRPr lang="en-US" sz="7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1079235" y="273931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1079235" y="273931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271188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0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「学費は？」「オープンキャンパスを予約したい」などの頻出キーワードをLINEに登録し自動返答。24時間365日対応が可能になり、電話・メール対応の負担を大幅削減できる。</a:t>
            </a:r>
            <a:endParaRPr lang="en-US" sz="6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70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3388538"/>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70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3388538"/>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70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31763"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31763" y="397451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1079235" y="4001948"/>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79235" y="400194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1993635"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個別相談・OC予約の日程調整をLINEで完結させる</a:t>
            </a:r>
            <a:endParaRPr lang="en-US" sz="10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「個別相談を希望する」と入力した受験生・保護者に日程候補を自動提示→選択→確定までLINE内で完結。電話折り返し・メール往復ゼロで相談設定の工数を大幅削減できる。</a:t>
            </a:r>
            <a:endParaRPr lang="en-US" sz="6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651172"/>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70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651172"/>
            <a:ext cx="1274064" cy="329184"/>
          </a:xfrm>
          <a:prstGeom prst="rect">
            <a:avLst/>
          </a:prstGeom>
          <a:noFill/>
          <a:ln>
            <a:noFill/>
          </a:ln>
        </p:spPr>
        <p:txBody>
          <a:bodyPr wrap="square" lIns="0" tIns="0" rIns="0" bIns="0" rtlCol="0" anchor="ctr"/>
          <a:lstStyle/>
          <a:p>
            <a:pPr marL="0" indent="0" algn="ctr">
              <a:lnSpc>
                <a:spcPct val="115000"/>
              </a:lnSpc>
              <a:buNone/>
            </a:pPr>
            <a:r>
              <a:rPr lang="en-US" sz="8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8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70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31763"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31763"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1079235" y="526458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5264582"/>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1993635" y="5237150"/>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0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リッチメニューに「よくある質問」「学費・奨学金」「入試日程」等のボタンを設置し、タップするだけで回答が届く設計にする。スタッフが答える前に自己解決を促す。</a:t>
            </a:r>
            <a:endParaRPr lang="en-US" sz="6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7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7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913806"/>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7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273931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523219" y="2739314"/>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2711882"/>
            <a:ext cx="298094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高スコアユーザーを自動で入試広報にアラート通知</a:t>
            </a:r>
            <a:endParaRPr lang="en-US" sz="10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アンケート回答・入試ページの複数回閲覧など、出願に近いアクションを検知した際に入試広報担当へ自動アラート。個別フォローのタイミングを逃さない。</a:t>
            </a:r>
            <a:endParaRPr lang="en-US" sz="6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3388538"/>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70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70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スタッフにアラート</a:t>
            </a:r>
            <a:endParaRPr lang="en-US" altLang="ja-JP" sz="70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75747"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75747" y="397451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23219" y="4001948"/>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523219" y="4001948"/>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37619"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BOT初期対応→温度感に応じて人に切り替える</a:t>
            </a:r>
            <a:endParaRPr lang="en-US" sz="10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6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70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70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70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75747"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75747"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23219" y="5264582"/>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523219" y="5264582"/>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7619" y="5237150"/>
            <a:ext cx="305472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出願・申込前の検討ユーザーへ自動フォロー</a:t>
            </a:r>
            <a:endParaRPr lang="en-US" sz="10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出願ページを複数回閲覧・資料請求のみ等をトリガーに「ご不明な点はありますか？」とLINEから自動チャット誘導し、最後の一押しをする。</a:t>
            </a:r>
            <a:endParaRPr lang="en-US" sz="6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7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7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7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142365</TotalTime>
  <Words>7378</Words>
  <Application>Microsoft Office PowerPoint</Application>
  <PresentationFormat>A4 210 x 297 mm</PresentationFormat>
  <Paragraphs>1424</Paragraphs>
  <Slides>40</Slides>
  <Notes>15</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40</vt:i4>
      </vt:variant>
    </vt:vector>
  </HeadingPairs>
  <TitlesOfParts>
    <vt:vector size="49" baseType="lpstr">
      <vt:lpstr>ＭＳ Ｐゴシック</vt:lpstr>
      <vt:lpstr>メイリオ</vt:lpstr>
      <vt:lpstr>メイリオ</vt:lpstr>
      <vt:lpstr>名色</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1937</cp:revision>
  <cp:lastPrinted>2022-11-01T11:38:14Z</cp:lastPrinted>
  <dcterms:created xsi:type="dcterms:W3CDTF">2015-09-04T09:21:15Z</dcterms:created>
  <dcterms:modified xsi:type="dcterms:W3CDTF">2026-07-29T09:17:25Z</dcterms:modified>
</cp:coreProperties>
</file>