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2978" r:id="rId17"/>
    <p:sldId id="2981" r:id="rId18"/>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2755" r:id="rId39"/>
    <p:sldId id="3002" r:id="rId40"/>
    <p:sldId id="2951" r:id="rId41"/>
    <p:sldId id="2841" r:id="rId42"/>
    <p:sldId id="2734" r:id="rId43"/>
    <p:sldId id="2595" r:id="rId44"/>
    <p:sldId id="2566" r:id="rId45"/>
    <p:sldId id="2915" r:id="rId46"/>
    <p:sldId id="2619" r:id="rId47"/>
    <p:sldId id="2761" r:id="rId48"/>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eg"/><Relationship Id="rId7" Type="http://schemas.openxmlformats.org/officeDocument/2006/relationships/image" Target="../media/image31.pn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png"/><Relationship Id="rId10" Type="http://schemas.openxmlformats.org/officeDocument/2006/relationships/image" Target="../media/image34.jpeg"/><Relationship Id="rId4" Type="http://schemas.openxmlformats.org/officeDocument/2006/relationships/image" Target="../media/image28.png"/><Relationship Id="rId9"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61.sv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83.jpeg"/><Relationship Id="rId3" Type="http://schemas.openxmlformats.org/officeDocument/2006/relationships/image" Target="../media/image3.emf"/><Relationship Id="rId7" Type="http://schemas.openxmlformats.org/officeDocument/2006/relationships/image" Target="../media/image82.jpe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rgbClr val="FF00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メイリオ" panose="020B0604030504040204" pitchFamily="50" charset="-128"/>
                <a:ea typeface="メイリオ" panose="020B0604030504040204" pitchFamily="50" charset="-128"/>
              </a:rPr>
              <a:t>貴社ご提案用資料</a:t>
            </a:r>
          </a:p>
        </p:txBody>
      </p:sp>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一般社団法人優良ストック住宅推進協議会 御中</a:t>
            </a:r>
            <a:endParaRPr lang="ja-JP" altLang="en-US" sz="1050" dirty="0"/>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査定</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契約（売却）</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rPr>
              <a:t>&lt;</a:t>
            </a:r>
            <a:r>
              <a:rPr lang="ja-JP" altLang="en-US" sz="1050" b="1" dirty="0">
                <a:latin typeface="メイリオ" panose="020B0604030504040204" pitchFamily="50" charset="-128"/>
                <a:ea typeface="メイリオ" panose="020B0604030504040204" pitchFamily="50" charset="-128"/>
              </a:rPr>
              <a:t>貴社のユーザー動線イメージ</a:t>
            </a:r>
            <a:r>
              <a:rPr lang="en-US" altLang="ja-JP" sz="1050" b="1" dirty="0">
                <a:latin typeface="メイリオ" panose="020B0604030504040204" pitchFamily="50" charset="-128"/>
                <a:ea typeface="メイリオ" panose="020B0604030504040204" pitchFamily="50" charset="-128"/>
              </a:rPr>
              <a:t>&gt;</a:t>
            </a:r>
            <a:endParaRPr lang="ja-JP" altLang="en-US" sz="105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rPr>
              <a:t>相談</a:t>
            </a:r>
            <a:endParaRPr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a:t>
            </a:r>
            <a:r>
              <a:rPr lang="en-US" altLang="ja-JP" sz="1100" dirty="0">
                <a:latin typeface="メイリオ" panose="020B0604030504040204" pitchFamily="50" charset="-128"/>
                <a:ea typeface="メイリオ" panose="020B0604030504040204" pitchFamily="50" charset="-128"/>
              </a:rPr>
              <a:t>LTV</a:t>
            </a:r>
            <a:r>
              <a:rPr lang="ja-JP" altLang="en-US" sz="1100" dirty="0">
                <a:latin typeface="メイリオ" panose="020B0604030504040204" pitchFamily="50" charset="-128"/>
                <a:ea typeface="メイリオ" panose="020B0604030504040204" pitchFamily="50" charset="-128"/>
              </a:rPr>
              <a:t>最大化・紹介</a:t>
            </a:r>
            <a:endParaRPr lang="en-US" altLang="ja-JP" sz="1100" dirty="0">
              <a:latin typeface="メイリオ" panose="020B0604030504040204" pitchFamily="50" charset="-128"/>
              <a:ea typeface="メイリオ" panose="020B0604030504040204" pitchFamily="50" charset="-128"/>
            </a:endParaRPr>
          </a:p>
          <a:p>
            <a:pPr>
              <a:buNone/>
            </a:pPr>
            <a:endParaRPr lang="ja-JP" altLang="ja-JP" sz="9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サイト離脱</a:t>
            </a:r>
            <a:r>
              <a:rPr lang="ja-JP" altLang="en-US" sz="1100" dirty="0">
                <a:latin typeface="メイリオ" panose="020B0604030504040204" pitchFamily="50" charset="-128"/>
                <a:ea typeface="メイリオ" panose="020B0604030504040204" pitchFamily="50" charset="-128"/>
              </a:rPr>
              <a:t>（対策）</a:t>
            </a:r>
            <a:endParaRPr lang="ja-JP" altLang="ja-JP" sz="11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接触から紹介まで</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8</a:t>
            </a: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フェーズの動線を可視化し、各フェーズで発生する</a:t>
            </a:r>
            <a:endPar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離脱要因と</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LINE</a:t>
            </a:r>
            <a:r>
              <a:rPr lang="ja-JP"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施策の打ち手を整理する。</a:t>
            </a:r>
            <a:endParaRPr lang="ja-JP" altLang="ja-JP" sz="1100" dirty="0">
              <a:effectLst/>
              <a:latin typeface="Times New Roman" panose="02020603050405020304" pitchFamily="18" charset="0"/>
              <a:ea typeface="游明朝" panose="02020400000000000000" pitchFamily="18"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endParaRPr>
          </a:p>
          <a:p>
            <a:endParaRPr kumimoji="1" lang="en-US" altLang="ja-JP" sz="6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検討時期が長い</a:t>
            </a:r>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dirty="0">
                <a:solidFill>
                  <a:schemeClr val="tx1"/>
                </a:solidFill>
                <a:latin typeface="メイリオ" panose="020B0604030504040204" pitchFamily="50" charset="-128"/>
                <a:ea typeface="メイリオ" panose="020B0604030504040204" pitchFamily="50" charset="-128"/>
              </a:rPr>
              <a:t>： 生活環境に関わる上にコスト的なプラス・マイナスが大きいため</a:t>
            </a:r>
            <a:endParaRPr kumimoji="1" lang="en-US" altLang="ja-JP" sz="12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他社比較（特に査定業者が増えている影響で）の社数が増加</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複数社の比較検討を行い最大額の査定で契約する可能性</a:t>
            </a:r>
            <a:endParaRPr kumimoji="1" lang="en-US" altLang="ja-JP" sz="12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早期のタッチポイント作成</a:t>
            </a: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AI</a:t>
            </a:r>
            <a:r>
              <a:rPr lang="ja-JP" altLang="en-US" sz="1200" dirty="0">
                <a:solidFill>
                  <a:schemeClr val="tx1"/>
                </a:solidFill>
                <a:latin typeface="メイリオ" panose="020B0604030504040204" pitchFamily="50" charset="-128"/>
                <a:ea typeface="メイリオ" panose="020B0604030504040204" pitchFamily="50" charset="-128"/>
              </a:rPr>
              <a:t>による一次審査のような形で、住所</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築年数</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坪数</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部屋間取り などで簡易査定をする動線も。</a:t>
            </a:r>
            <a:endParaRPr lang="en-US" altLang="ja-JP" sz="1200" dirty="0">
              <a:solidFill>
                <a:schemeClr val="tx1"/>
              </a:solidFill>
              <a:latin typeface="メイリオ" panose="020B0604030504040204" pitchFamily="50" charset="-128"/>
              <a:ea typeface="メイリオ" panose="020B0604030504040204" pitchFamily="50" charset="-128"/>
            </a:endParaRPr>
          </a:p>
          <a:p>
            <a:endParaRPr lang="en-US" altLang="ja-JP" sz="6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ハウスメーカー</a:t>
            </a:r>
            <a:r>
              <a:rPr lang="en-US" altLang="ja-JP" sz="1200" b="1" dirty="0">
                <a:solidFill>
                  <a:schemeClr val="tx1"/>
                </a:solidFill>
                <a:latin typeface="メイリオ" panose="020B0604030504040204" pitchFamily="50" charset="-128"/>
                <a:ea typeface="メイリオ" panose="020B0604030504040204" pitchFamily="50" charset="-128"/>
              </a:rPr>
              <a:t>10</a:t>
            </a:r>
            <a:r>
              <a:rPr lang="ja-JP" altLang="en-US" sz="1200" b="1" dirty="0">
                <a:solidFill>
                  <a:schemeClr val="tx1"/>
                </a:solidFill>
                <a:latin typeface="メイリオ" panose="020B0604030504040204" pitchFamily="50" charset="-128"/>
                <a:ea typeface="メイリオ" panose="020B0604030504040204" pitchFamily="50" charset="-128"/>
              </a:rPr>
              <a:t>社が担当の物件のみに限定</a:t>
            </a:r>
            <a:r>
              <a:rPr lang="en-US" altLang="ja-JP" sz="1200" b="1" dirty="0">
                <a:solidFill>
                  <a:schemeClr val="tx1"/>
                </a:solidFill>
                <a:latin typeface="メイリオ" panose="020B0604030504040204" pitchFamily="50" charset="-128"/>
                <a:ea typeface="メイリオ" panose="020B0604030504040204" pitchFamily="50" charset="-128"/>
              </a:rPr>
              <a:t>】</a:t>
            </a:r>
          </a:p>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担当メーカーが査定するため従来価格に近しい査定品質</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ja-JP" altLang="en-US" sz="1200" dirty="0">
                <a:solidFill>
                  <a:schemeClr val="tx1"/>
                </a:solidFill>
                <a:latin typeface="メイリオ" panose="020B0604030504040204" pitchFamily="50" charset="-128"/>
                <a:ea typeface="メイリオ" panose="020B0604030504040204" pitchFamily="50" charset="-128"/>
              </a:rPr>
              <a:t>という唯一のポジショニングを取っており、</a:t>
            </a:r>
            <a:r>
              <a:rPr lang="ja-JP" altLang="en-US" sz="1200" b="1" dirty="0">
                <a:solidFill>
                  <a:srgbClr val="FF0000"/>
                </a:solidFill>
                <a:latin typeface="メイリオ" panose="020B0604030504040204" pitchFamily="50" charset="-128"/>
                <a:ea typeface="メイリオ" panose="020B0604030504040204" pitchFamily="50" charset="-128"/>
              </a:rPr>
              <a:t>ターゲットのユーザーに対して、中長期接点を持っていくこと</a:t>
            </a:r>
            <a:r>
              <a:rPr lang="ja-JP" altLang="en-US" sz="1200" dirty="0">
                <a:solidFill>
                  <a:schemeClr val="tx1"/>
                </a:solidFill>
                <a:latin typeface="メイリオ" panose="020B0604030504040204" pitchFamily="50" charset="-128"/>
                <a:ea typeface="メイリオ" panose="020B0604030504040204" pitchFamily="50" charset="-128"/>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a:t>
            </a:r>
            <a:r>
              <a:rPr lang="en-US" altLang="ja-JP" sz="1100" dirty="0">
                <a:latin typeface="メイリオ" panose="020B0604030504040204" pitchFamily="50" charset="-128"/>
                <a:ea typeface="メイリオ" panose="020B0604030504040204" pitchFamily="50" charset="-128"/>
              </a:rPr>
              <a:t>LTV</a:t>
            </a:r>
            <a:r>
              <a:rPr lang="ja-JP" altLang="en-US" sz="1100" dirty="0">
                <a:latin typeface="メイリオ" panose="020B0604030504040204" pitchFamily="50" charset="-128"/>
                <a:ea typeface="メイリオ" panose="020B0604030504040204" pitchFamily="50" charset="-128"/>
              </a:rPr>
              <a:t>最大化・紹介</a:t>
            </a:r>
            <a:endParaRPr lang="en-US" altLang="ja-JP" sz="1100" dirty="0">
              <a:latin typeface="メイリオ" panose="020B0604030504040204" pitchFamily="50" charset="-128"/>
              <a:ea typeface="メイリオ" panose="020B0604030504040204" pitchFamily="50" charset="-128"/>
            </a:endParaRPr>
          </a:p>
          <a:p>
            <a:pPr>
              <a:buNone/>
            </a:pPr>
            <a:endParaRPr lang="ja-JP" altLang="ja-JP" sz="9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サイト離脱</a:t>
            </a:r>
            <a:r>
              <a:rPr lang="ja-JP" altLang="en-US" sz="1100" dirty="0">
                <a:latin typeface="メイリオ" panose="020B0604030504040204" pitchFamily="50" charset="-128"/>
                <a:ea typeface="メイリオ" panose="020B0604030504040204" pitchFamily="50" charset="-128"/>
              </a:rPr>
              <a:t>（対策）</a:t>
            </a:r>
            <a:endParaRPr lang="ja-JP" altLang="ja-JP" sz="11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79976" y="3258501"/>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20000"/>
                    </a:ext>
                  </a:extLst>
                </a:gridCol>
                <a:gridCol w="2344812">
                  <a:extLst>
                    <a:ext uri="{9D8B030D-6E8A-4147-A177-3AD203B41FA5}">
                      <a16:colId xmlns:a16="http://schemas.microsoft.com/office/drawing/2014/main" val="20001"/>
                    </a:ext>
                  </a:extLst>
                </a:gridCol>
                <a:gridCol w="2344812">
                  <a:extLst>
                    <a:ext uri="{9D8B030D-6E8A-4147-A177-3AD203B41FA5}">
                      <a16:colId xmlns:a16="http://schemas.microsoft.com/office/drawing/2014/main" val="20002"/>
                    </a:ext>
                  </a:extLst>
                </a:gridCol>
                <a:gridCol w="2344812">
                  <a:extLst>
                    <a:ext uri="{9D8B030D-6E8A-4147-A177-3AD203B41FA5}">
                      <a16:colId xmlns:a16="http://schemas.microsoft.com/office/drawing/2014/main" val="20003"/>
                    </a:ext>
                  </a:extLst>
                </a:gridCol>
              </a:tblGrid>
              <a:tr h="300109">
                <a:tc>
                  <a:txBody>
                    <a:bodyPr/>
                    <a:lstStyle/>
                    <a:p>
                      <a:pPr algn="ctr"/>
                      <a:r>
                        <a:rPr sz="900" b="1" dirty="0" err="1">
                          <a:solidFill>
                            <a:srgbClr val="FFFFFF"/>
                          </a:solidFill>
                          <a:latin typeface="メイリオ"/>
                        </a:rPr>
                        <a:t>フェーズ</a:t>
                      </a:r>
                      <a:endParaRPr sz="900" b="1" dirty="0">
                        <a:solidFill>
                          <a:srgbClr val="FFFFFF"/>
                        </a:solidFill>
                        <a:latin typeface="メイリオ"/>
                      </a:endParaRPr>
                    </a:p>
                  </a:txBody>
                  <a:tcPr marT="37785" marB="37785">
                    <a:solidFill>
                      <a:srgbClr val="1F2A5C"/>
                    </a:solidFill>
                  </a:tcPr>
                </a:tc>
                <a:tc>
                  <a:txBody>
                    <a:bodyPr/>
                    <a:lstStyle/>
                    <a:p>
                      <a:pPr algn="ctr"/>
                      <a:r>
                        <a:rPr sz="900" b="1" dirty="0" err="1">
                          <a:solidFill>
                            <a:srgbClr val="FFFFFF"/>
                          </a:solidFill>
                          <a:latin typeface="メイリオ"/>
                        </a:rPr>
                        <a:t>ユーザー状態・心理</a:t>
                      </a:r>
                      <a:endParaRPr sz="900" b="1" dirty="0">
                        <a:solidFill>
                          <a:srgbClr val="FFFFFF"/>
                        </a:solidFill>
                        <a:latin typeface="メイリオ"/>
                      </a:endParaRPr>
                    </a:p>
                  </a:txBody>
                  <a:tcPr marT="37785" marB="37785">
                    <a:solidFill>
                      <a:srgbClr val="1F2A5C"/>
                    </a:solidFill>
                  </a:tcPr>
                </a:tc>
                <a:tc>
                  <a:txBody>
                    <a:bodyPr/>
                    <a:lstStyle/>
                    <a:p>
                      <a:pPr algn="ctr"/>
                      <a:r>
                        <a:rPr sz="900" b="1" dirty="0" err="1">
                          <a:solidFill>
                            <a:srgbClr val="FFFFFF"/>
                          </a:solidFill>
                          <a:latin typeface="メイリオ"/>
                        </a:rPr>
                        <a:t>離脱・停滞の課題</a:t>
                      </a:r>
                      <a:endParaRPr sz="900" b="1" dirty="0">
                        <a:solidFill>
                          <a:srgbClr val="FFFFFF"/>
                        </a:solidFill>
                        <a:latin typeface="メイリオ"/>
                      </a:endParaRPr>
                    </a:p>
                  </a:txBody>
                  <a:tcPr marT="37785" marB="37785">
                    <a:solidFill>
                      <a:srgbClr val="1F2A5C"/>
                    </a:solidFill>
                  </a:tcPr>
                </a:tc>
                <a:tc>
                  <a:txBody>
                    <a:bodyPr/>
                    <a:lstStyle/>
                    <a:p>
                      <a:pPr algn="ctr"/>
                      <a:r>
                        <a:rPr sz="900" b="1" dirty="0">
                          <a:solidFill>
                            <a:srgbClr val="FFFFFF"/>
                          </a:solidFill>
                          <a:latin typeface="メイリオ"/>
                        </a:rPr>
                        <a:t>LINE </a:t>
                      </a:r>
                      <a:r>
                        <a:rPr sz="900" b="1" dirty="0" err="1">
                          <a:solidFill>
                            <a:srgbClr val="FFFFFF"/>
                          </a:solidFill>
                          <a:latin typeface="メイリオ"/>
                        </a:rPr>
                        <a:t>OAの役割・施策</a:t>
                      </a:r>
                      <a:endParaRPr sz="900" b="1" dirty="0">
                        <a:solidFill>
                          <a:srgbClr val="FFFFFF"/>
                        </a:solidFill>
                        <a:latin typeface="メイリオ"/>
                      </a:endParaRPr>
                    </a:p>
                  </a:txBody>
                  <a:tcPr marT="37785" marB="37785">
                    <a:solidFill>
                      <a:srgbClr val="1F2A5C"/>
                    </a:solidFill>
                  </a:tcPr>
                </a:tc>
                <a:extLst>
                  <a:ext uri="{0D108BD9-81ED-4DB2-BD59-A6C34878D82A}">
                    <a16:rowId xmlns:a16="http://schemas.microsoft.com/office/drawing/2014/main" val="10000"/>
                  </a:ext>
                </a:extLst>
              </a:tr>
              <a:tr h="300109">
                <a:tc>
                  <a:txBody>
                    <a:bodyPr/>
                    <a:lstStyle/>
                    <a:p>
                      <a:pPr algn="l"/>
                      <a:r>
                        <a:rPr sz="800" b="1">
                          <a:solidFill>
                            <a:srgbClr val="333333"/>
                          </a:solidFill>
                          <a:latin typeface="メイリオ"/>
                        </a:rPr>
                        <a:t>①接触</a:t>
                      </a:r>
                    </a:p>
                  </a:txBody>
                  <a:tcPr marT="37785" marB="37785">
                    <a:solidFill>
                      <a:srgbClr val="FFFFFF"/>
                    </a:solidFill>
                  </a:tcPr>
                </a:tc>
                <a:tc>
                  <a:txBody>
                    <a:bodyPr/>
                    <a:lstStyle/>
                    <a:p>
                      <a:pPr algn="ctr"/>
                      <a:r>
                        <a:rPr sz="800" b="0" dirty="0" err="1">
                          <a:solidFill>
                            <a:srgbClr val="333333"/>
                          </a:solidFill>
                          <a:latin typeface="メイリオ"/>
                        </a:rPr>
                        <a:t>相場を知りたいが検討度は浅い</a:t>
                      </a:r>
                      <a:endParaRPr sz="800" b="0" dirty="0">
                        <a:solidFill>
                          <a:srgbClr val="333333"/>
                        </a:solidFill>
                        <a:latin typeface="メイリオ"/>
                      </a:endParaRPr>
                    </a:p>
                  </a:txBody>
                  <a:tcPr marT="37785" marB="37785">
                    <a:solidFill>
                      <a:srgbClr val="FFFFFF"/>
                    </a:solidFill>
                  </a:tcPr>
                </a:tc>
                <a:tc>
                  <a:txBody>
                    <a:bodyPr/>
                    <a:lstStyle/>
                    <a:p>
                      <a:pPr algn="ctr"/>
                      <a:r>
                        <a:rPr sz="800" b="0">
                          <a:solidFill>
                            <a:srgbClr val="333333"/>
                          </a:solidFill>
                          <a:latin typeface="メイリオ"/>
                        </a:rPr>
                        <a:t>フォーム入力の負担で離脱</a:t>
                      </a:r>
                    </a:p>
                  </a:txBody>
                  <a:tcPr marT="37785" marB="37785">
                    <a:solidFill>
                      <a:srgbClr val="FFFFFF"/>
                    </a:solidFill>
                  </a:tcPr>
                </a:tc>
                <a:tc>
                  <a:txBody>
                    <a:bodyPr/>
                    <a:lstStyle/>
                    <a:p>
                      <a:pPr algn="ctr"/>
                      <a:r>
                        <a:rPr sz="800" b="0">
                          <a:solidFill>
                            <a:srgbClr val="333333"/>
                          </a:solidFill>
                          <a:latin typeface="メイリオ"/>
                        </a:rPr>
                        <a:t>離脱防止ポップアップ（10秒簡易相場ガイド）</a:t>
                      </a:r>
                    </a:p>
                  </a:txBody>
                  <a:tcPr marT="37785" marB="37785">
                    <a:solidFill>
                      <a:srgbClr val="FFFFFF"/>
                    </a:solidFill>
                  </a:tcPr>
                </a:tc>
                <a:extLst>
                  <a:ext uri="{0D108BD9-81ED-4DB2-BD59-A6C34878D82A}">
                    <a16:rowId xmlns:a16="http://schemas.microsoft.com/office/drawing/2014/main" val="10001"/>
                  </a:ext>
                </a:extLst>
              </a:tr>
              <a:tr h="300109">
                <a:tc>
                  <a:txBody>
                    <a:bodyPr/>
                    <a:lstStyle/>
                    <a:p>
                      <a:pPr algn="l"/>
                      <a:r>
                        <a:rPr sz="800" b="1" dirty="0">
                          <a:solidFill>
                            <a:srgbClr val="333333"/>
                          </a:solidFill>
                          <a:latin typeface="メイリオ"/>
                        </a:rPr>
                        <a:t>②</a:t>
                      </a:r>
                      <a:r>
                        <a:rPr sz="800" b="1" dirty="0" err="1">
                          <a:solidFill>
                            <a:srgbClr val="333333"/>
                          </a:solidFill>
                          <a:latin typeface="メイリオ"/>
                        </a:rPr>
                        <a:t>サイト離脱</a:t>
                      </a:r>
                      <a:endParaRPr sz="800" b="1" dirty="0">
                        <a:solidFill>
                          <a:srgbClr val="333333"/>
                        </a:solidFill>
                        <a:latin typeface="メイリオ"/>
                      </a:endParaRPr>
                    </a:p>
                  </a:txBody>
                  <a:tcPr marT="37785" marB="37785">
                    <a:solidFill>
                      <a:srgbClr val="F5F7FA"/>
                    </a:solidFill>
                  </a:tcPr>
                </a:tc>
                <a:tc>
                  <a:txBody>
                    <a:bodyPr/>
                    <a:lstStyle/>
                    <a:p>
                      <a:pPr algn="ctr"/>
                      <a:r>
                        <a:rPr sz="800" b="0">
                          <a:solidFill>
                            <a:srgbClr val="333333"/>
                          </a:solidFill>
                          <a:latin typeface="メイリオ"/>
                        </a:rPr>
                        <a:t>まだ売ると決めていない</a:t>
                      </a:r>
                    </a:p>
                  </a:txBody>
                  <a:tcPr marT="37785" marB="37785">
                    <a:solidFill>
                      <a:srgbClr val="F5F7FA"/>
                    </a:solidFill>
                  </a:tcPr>
                </a:tc>
                <a:tc>
                  <a:txBody>
                    <a:bodyPr/>
                    <a:lstStyle/>
                    <a:p>
                      <a:pPr algn="ctr"/>
                      <a:r>
                        <a:rPr sz="800" b="0">
                          <a:solidFill>
                            <a:srgbClr val="333333"/>
                          </a:solidFill>
                          <a:latin typeface="メイリオ"/>
                        </a:rPr>
                        <a:t>再訪問のきっかけ喪失</a:t>
                      </a:r>
                    </a:p>
                  </a:txBody>
                  <a:tcPr marT="37785" marB="37785">
                    <a:solidFill>
                      <a:srgbClr val="F5F7FA"/>
                    </a:solidFill>
                  </a:tcPr>
                </a:tc>
                <a:tc>
                  <a:txBody>
                    <a:bodyPr/>
                    <a:lstStyle/>
                    <a:p>
                      <a:pPr algn="ctr"/>
                      <a:r>
                        <a:rPr sz="800" b="0">
                          <a:solidFill>
                            <a:srgbClr val="333333"/>
                          </a:solidFill>
                          <a:latin typeface="メイリオ"/>
                        </a:rPr>
                        <a:t>10秒アンケート特典でLINE友だち化</a:t>
                      </a:r>
                    </a:p>
                  </a:txBody>
                  <a:tcPr marT="37785" marB="37785">
                    <a:solidFill>
                      <a:srgbClr val="F5F7FA"/>
                    </a:solidFill>
                  </a:tcPr>
                </a:tc>
                <a:extLst>
                  <a:ext uri="{0D108BD9-81ED-4DB2-BD59-A6C34878D82A}">
                    <a16:rowId xmlns:a16="http://schemas.microsoft.com/office/drawing/2014/main" val="10002"/>
                  </a:ext>
                </a:extLst>
              </a:tr>
              <a:tr h="300109">
                <a:tc>
                  <a:txBody>
                    <a:bodyPr/>
                    <a:lstStyle/>
                    <a:p>
                      <a:pPr algn="l"/>
                      <a:r>
                        <a:rPr sz="800" b="1" dirty="0">
                          <a:solidFill>
                            <a:srgbClr val="333333"/>
                          </a:solidFill>
                          <a:latin typeface="メイリオ"/>
                        </a:rPr>
                        <a:t>③</a:t>
                      </a:r>
                      <a:r>
                        <a:rPr sz="800" b="1" dirty="0" err="1">
                          <a:solidFill>
                            <a:srgbClr val="333333"/>
                          </a:solidFill>
                          <a:latin typeface="メイリオ"/>
                        </a:rPr>
                        <a:t>育成追加直後</a:t>
                      </a:r>
                      <a:endParaRPr sz="800" b="1" dirty="0">
                        <a:solidFill>
                          <a:srgbClr val="333333"/>
                        </a:solidFill>
                        <a:latin typeface="メイリオ"/>
                      </a:endParaRPr>
                    </a:p>
                  </a:txBody>
                  <a:tcPr marT="37785" marB="37785">
                    <a:solidFill>
                      <a:srgbClr val="FFFFFF"/>
                    </a:solidFill>
                  </a:tcPr>
                </a:tc>
                <a:tc>
                  <a:txBody>
                    <a:bodyPr/>
                    <a:lstStyle/>
                    <a:p>
                      <a:pPr algn="ctr"/>
                      <a:r>
                        <a:rPr sz="800" b="0">
                          <a:solidFill>
                            <a:srgbClr val="333333"/>
                          </a:solidFill>
                          <a:latin typeface="メイリオ"/>
                        </a:rPr>
                        <a:t>しつこい営業への不安</a:t>
                      </a:r>
                    </a:p>
                  </a:txBody>
                  <a:tcPr marT="37785" marB="37785">
                    <a:solidFill>
                      <a:srgbClr val="FFFFFF"/>
                    </a:solidFill>
                  </a:tcPr>
                </a:tc>
                <a:tc>
                  <a:txBody>
                    <a:bodyPr/>
                    <a:lstStyle/>
                    <a:p>
                      <a:pPr algn="ctr"/>
                      <a:r>
                        <a:rPr sz="800" b="0">
                          <a:solidFill>
                            <a:srgbClr val="333333"/>
                          </a:solidFill>
                          <a:latin typeface="メイリオ"/>
                        </a:rPr>
                        <a:t>不信感による即ブロック</a:t>
                      </a:r>
                    </a:p>
                  </a:txBody>
                  <a:tcPr marT="37785" marB="37785">
                    <a:solidFill>
                      <a:srgbClr val="FFFFFF"/>
                    </a:solidFill>
                  </a:tcPr>
                </a:tc>
                <a:tc>
                  <a:txBody>
                    <a:bodyPr/>
                    <a:lstStyle/>
                    <a:p>
                      <a:pPr algn="ctr"/>
                      <a:r>
                        <a:rPr sz="800" b="0" dirty="0" err="1">
                          <a:solidFill>
                            <a:srgbClr val="333333"/>
                          </a:solidFill>
                          <a:latin typeface="メイリオ"/>
                        </a:rPr>
                        <a:t>実績等の信頼性訴求</a:t>
                      </a:r>
                      <a:endParaRPr sz="8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10003"/>
                  </a:ext>
                </a:extLst>
              </a:tr>
              <a:tr h="300109">
                <a:tc>
                  <a:txBody>
                    <a:bodyPr/>
                    <a:lstStyle/>
                    <a:p>
                      <a:pPr algn="l"/>
                      <a:r>
                        <a:rPr sz="800" b="1" dirty="0">
                          <a:solidFill>
                            <a:srgbClr val="333333"/>
                          </a:solidFill>
                          <a:latin typeface="メイリオ"/>
                        </a:rPr>
                        <a:t>④</a:t>
                      </a:r>
                      <a:r>
                        <a:rPr sz="800" b="1" dirty="0" err="1">
                          <a:solidFill>
                            <a:srgbClr val="333333"/>
                          </a:solidFill>
                          <a:latin typeface="メイリオ"/>
                        </a:rPr>
                        <a:t>リード獲得</a:t>
                      </a:r>
                      <a:endParaRPr sz="800" b="1" dirty="0">
                        <a:solidFill>
                          <a:srgbClr val="333333"/>
                        </a:solidFill>
                        <a:latin typeface="メイリオ"/>
                      </a:endParaRPr>
                    </a:p>
                  </a:txBody>
                  <a:tcPr marT="37785" marB="37785">
                    <a:solidFill>
                      <a:srgbClr val="F5F7FA"/>
                    </a:solidFill>
                  </a:tcPr>
                </a:tc>
                <a:tc>
                  <a:txBody>
                    <a:bodyPr/>
                    <a:lstStyle/>
                    <a:p>
                      <a:pPr algn="ctr"/>
                      <a:r>
                        <a:rPr sz="800" b="0">
                          <a:solidFill>
                            <a:srgbClr val="333333"/>
                          </a:solidFill>
                          <a:latin typeface="メイリオ"/>
                        </a:rPr>
                        <a:t>自分に合う情報が欲しい</a:t>
                      </a:r>
                    </a:p>
                  </a:txBody>
                  <a:tcPr marT="37785" marB="37785">
                    <a:solidFill>
                      <a:srgbClr val="F5F7FA"/>
                    </a:solidFill>
                  </a:tcPr>
                </a:tc>
                <a:tc>
                  <a:txBody>
                    <a:bodyPr/>
                    <a:lstStyle/>
                    <a:p>
                      <a:pPr algn="ctr"/>
                      <a:r>
                        <a:rPr sz="800" b="0">
                          <a:solidFill>
                            <a:srgbClr val="333333"/>
                          </a:solidFill>
                          <a:latin typeface="メイリオ"/>
                        </a:rPr>
                        <a:t>手続きの煩雑さ</a:t>
                      </a:r>
                    </a:p>
                  </a:txBody>
                  <a:tcPr marT="37785" marB="37785">
                    <a:solidFill>
                      <a:srgbClr val="F5F7FA"/>
                    </a:solidFill>
                  </a:tcPr>
                </a:tc>
                <a:tc>
                  <a:txBody>
                    <a:bodyPr/>
                    <a:lstStyle/>
                    <a:p>
                      <a:pPr algn="ctr"/>
                      <a:r>
                        <a:rPr sz="800" b="0" dirty="0">
                          <a:solidFill>
                            <a:srgbClr val="333333"/>
                          </a:solidFill>
                          <a:latin typeface="メイリオ"/>
                        </a:rPr>
                        <a:t>3問タップ式アンケート（売却理由別）</a:t>
                      </a:r>
                    </a:p>
                  </a:txBody>
                  <a:tcPr marT="37785" marB="37785">
                    <a:solidFill>
                      <a:srgbClr val="F5F7FA"/>
                    </a:solidFill>
                  </a:tcPr>
                </a:tc>
                <a:extLst>
                  <a:ext uri="{0D108BD9-81ED-4DB2-BD59-A6C34878D82A}">
                    <a16:rowId xmlns:a16="http://schemas.microsoft.com/office/drawing/2014/main" val="10004"/>
                  </a:ext>
                </a:extLst>
              </a:tr>
            </a:tbl>
          </a:graphicData>
        </a:graphic>
      </p:graphicFrame>
      <p:graphicFrame>
        <p:nvGraphicFramePr>
          <p:cNvPr id="20" name="表 19">
            <a:extLst>
              <a:ext uri="{FF2B5EF4-FFF2-40B4-BE49-F238E27FC236}">
                <a16:creationId xmlns:a16="http://schemas.microsoft.com/office/drawing/2014/main" id="{F99FC55E-F86A-8534-0A69-D3D3F64ACAC5}"/>
              </a:ext>
            </a:extLst>
          </p:cNvPr>
          <p:cNvGraphicFramePr>
            <a:graphicFrameLocks noGrp="1"/>
          </p:cNvGraphicFramePr>
          <p:nvPr>
            <p:extLst>
              <p:ext uri="{D42A27DB-BD31-4B8C-83A1-F6EECF244321}">
                <p14:modId xmlns:p14="http://schemas.microsoft.com/office/powerpoint/2010/main" val="176684519"/>
              </p:ext>
            </p:extLst>
          </p:nvPr>
        </p:nvGraphicFramePr>
        <p:xfrm>
          <a:off x="379976" y="4831768"/>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628559368"/>
                    </a:ext>
                  </a:extLst>
                </a:gridCol>
                <a:gridCol w="2344812">
                  <a:extLst>
                    <a:ext uri="{9D8B030D-6E8A-4147-A177-3AD203B41FA5}">
                      <a16:colId xmlns:a16="http://schemas.microsoft.com/office/drawing/2014/main" val="912500275"/>
                    </a:ext>
                  </a:extLst>
                </a:gridCol>
                <a:gridCol w="2344812">
                  <a:extLst>
                    <a:ext uri="{9D8B030D-6E8A-4147-A177-3AD203B41FA5}">
                      <a16:colId xmlns:a16="http://schemas.microsoft.com/office/drawing/2014/main" val="1953274320"/>
                    </a:ext>
                  </a:extLst>
                </a:gridCol>
                <a:gridCol w="2344812">
                  <a:extLst>
                    <a:ext uri="{9D8B030D-6E8A-4147-A177-3AD203B41FA5}">
                      <a16:colId xmlns:a16="http://schemas.microsoft.com/office/drawing/2014/main" val="2467207296"/>
                    </a:ext>
                  </a:extLst>
                </a:gridCol>
              </a:tblGrid>
              <a:tr h="300109">
                <a:tc>
                  <a:txBody>
                    <a:bodyPr/>
                    <a:lstStyle/>
                    <a:p>
                      <a:pPr algn="ctr"/>
                      <a:r>
                        <a:rPr sz="1000" b="1" dirty="0" err="1">
                          <a:solidFill>
                            <a:srgbClr val="FFFFFF"/>
                          </a:solidFill>
                          <a:latin typeface="メイリオ"/>
                        </a:rPr>
                        <a:t>フェーズ</a:t>
                      </a:r>
                      <a:endParaRPr sz="1000" b="1" dirty="0">
                        <a:solidFill>
                          <a:srgbClr val="FFFFFF"/>
                        </a:solidFill>
                        <a:latin typeface="メイリオ"/>
                      </a:endParaRPr>
                    </a:p>
                  </a:txBody>
                  <a:tcPr marT="37785" marB="37785">
                    <a:solidFill>
                      <a:srgbClr val="173559"/>
                    </a:solidFill>
                  </a:tcPr>
                </a:tc>
                <a:tc>
                  <a:txBody>
                    <a:bodyPr/>
                    <a:lstStyle/>
                    <a:p>
                      <a:pPr algn="ctr"/>
                      <a:r>
                        <a:rPr sz="1000" b="1" dirty="0" err="1">
                          <a:solidFill>
                            <a:srgbClr val="FFFFFF"/>
                          </a:solidFill>
                          <a:latin typeface="メイリオ"/>
                        </a:rPr>
                        <a:t>ユーザー状態・心理</a:t>
                      </a:r>
                      <a:endParaRPr sz="1000" b="1" dirty="0">
                        <a:solidFill>
                          <a:srgbClr val="FFFFFF"/>
                        </a:solidFill>
                        <a:latin typeface="メイリオ"/>
                      </a:endParaRPr>
                    </a:p>
                  </a:txBody>
                  <a:tcPr marT="37785" marB="37785">
                    <a:solidFill>
                      <a:srgbClr val="173559"/>
                    </a:solidFill>
                  </a:tcPr>
                </a:tc>
                <a:tc>
                  <a:txBody>
                    <a:bodyPr/>
                    <a:lstStyle/>
                    <a:p>
                      <a:pPr algn="ctr"/>
                      <a:r>
                        <a:rPr sz="1000" b="1" dirty="0" err="1">
                          <a:solidFill>
                            <a:srgbClr val="FFFFFF"/>
                          </a:solidFill>
                          <a:latin typeface="メイリオ"/>
                        </a:rPr>
                        <a:t>離脱・停滞の課題</a:t>
                      </a:r>
                      <a:endParaRPr sz="1000" b="1" dirty="0">
                        <a:solidFill>
                          <a:srgbClr val="FFFFFF"/>
                        </a:solidFill>
                        <a:latin typeface="メイリオ"/>
                      </a:endParaRPr>
                    </a:p>
                  </a:txBody>
                  <a:tcPr marT="37785" marB="37785">
                    <a:solidFill>
                      <a:srgbClr val="173559"/>
                    </a:solidFill>
                  </a:tcPr>
                </a:tc>
                <a:tc>
                  <a:txBody>
                    <a:bodyPr/>
                    <a:lstStyle/>
                    <a:p>
                      <a:pPr algn="ctr"/>
                      <a:r>
                        <a:rPr sz="1000" b="1" dirty="0">
                          <a:solidFill>
                            <a:srgbClr val="FFFFFF"/>
                          </a:solidFill>
                          <a:latin typeface="メイリオ"/>
                        </a:rPr>
                        <a:t>LINE </a:t>
                      </a:r>
                      <a:r>
                        <a:rPr sz="1000" b="1" dirty="0" err="1">
                          <a:solidFill>
                            <a:srgbClr val="FFFFFF"/>
                          </a:solidFill>
                          <a:latin typeface="メイリオ"/>
                        </a:rPr>
                        <a:t>OAの役割・施策</a:t>
                      </a:r>
                      <a:endParaRPr sz="1000" b="1" dirty="0">
                        <a:solidFill>
                          <a:srgbClr val="FFFFFF"/>
                        </a:solidFill>
                        <a:latin typeface="メイリオ"/>
                      </a:endParaRPr>
                    </a:p>
                  </a:txBody>
                  <a:tcPr marT="37785" marB="37785">
                    <a:solidFill>
                      <a:srgbClr val="173559"/>
                    </a:solidFill>
                  </a:tcPr>
                </a:tc>
                <a:extLst>
                  <a:ext uri="{0D108BD9-81ED-4DB2-BD59-A6C34878D82A}">
                    <a16:rowId xmlns:a16="http://schemas.microsoft.com/office/drawing/2014/main" val="2874929456"/>
                  </a:ext>
                </a:extLst>
              </a:tr>
              <a:tr h="300109">
                <a:tc>
                  <a:txBody>
                    <a:bodyPr/>
                    <a:lstStyle/>
                    <a:p>
                      <a:pPr algn="l"/>
                      <a:r>
                        <a:rPr sz="900" b="1" dirty="0">
                          <a:solidFill>
                            <a:srgbClr val="333333"/>
                          </a:solidFill>
                          <a:latin typeface="メイリオ"/>
                        </a:rPr>
                        <a:t>⑤</a:t>
                      </a:r>
                      <a:r>
                        <a:rPr sz="900" b="1" dirty="0" err="1">
                          <a:solidFill>
                            <a:srgbClr val="333333"/>
                          </a:solidFill>
                          <a:latin typeface="メイリオ"/>
                        </a:rPr>
                        <a:t>リード有効化</a:t>
                      </a:r>
                      <a:endParaRPr sz="900" b="1" dirty="0">
                        <a:solidFill>
                          <a:srgbClr val="333333"/>
                        </a:solidFill>
                        <a:latin typeface="メイリオ"/>
                      </a:endParaRPr>
                    </a:p>
                  </a:txBody>
                  <a:tcPr marT="37785" marB="37785">
                    <a:solidFill>
                      <a:srgbClr val="FFFFFF"/>
                    </a:solidFill>
                  </a:tcPr>
                </a:tc>
                <a:tc>
                  <a:txBody>
                    <a:bodyPr/>
                    <a:lstStyle/>
                    <a:p>
                      <a:pPr algn="ctr"/>
                      <a:r>
                        <a:rPr sz="900" b="0" dirty="0" err="1">
                          <a:solidFill>
                            <a:srgbClr val="333333"/>
                          </a:solidFill>
                          <a:latin typeface="メイリオ"/>
                        </a:rPr>
                        <a:t>検討時期・ニーズが明確化</a:t>
                      </a:r>
                      <a:endParaRPr sz="900" b="0" dirty="0">
                        <a:solidFill>
                          <a:srgbClr val="333333"/>
                        </a:solidFill>
                        <a:latin typeface="メイリオ"/>
                      </a:endParaRPr>
                    </a:p>
                  </a:txBody>
                  <a:tcPr marT="37785" marB="37785">
                    <a:solidFill>
                      <a:srgbClr val="FFFFFF"/>
                    </a:solidFill>
                  </a:tcPr>
                </a:tc>
                <a:tc>
                  <a:txBody>
                    <a:bodyPr/>
                    <a:lstStyle/>
                    <a:p>
                      <a:pPr algn="ctr"/>
                      <a:r>
                        <a:rPr sz="900" b="0">
                          <a:solidFill>
                            <a:srgbClr val="333333"/>
                          </a:solidFill>
                          <a:latin typeface="メイリオ"/>
                        </a:rPr>
                        <a:t>一斉配信で自分事化されない</a:t>
                      </a:r>
                    </a:p>
                  </a:txBody>
                  <a:tcPr marT="37785" marB="37785">
                    <a:solidFill>
                      <a:srgbClr val="FFFFFF"/>
                    </a:solidFill>
                  </a:tcPr>
                </a:tc>
                <a:tc>
                  <a:txBody>
                    <a:bodyPr/>
                    <a:lstStyle/>
                    <a:p>
                      <a:pPr algn="ctr"/>
                      <a:r>
                        <a:rPr sz="900" b="0" dirty="0" err="1">
                          <a:solidFill>
                            <a:srgbClr val="333333"/>
                          </a:solidFill>
                          <a:latin typeface="メイリオ"/>
                        </a:rPr>
                        <a:t>売却理由別の自動セグメント分類</a:t>
                      </a:r>
                      <a:endParaRPr sz="9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1911423498"/>
                  </a:ext>
                </a:extLst>
              </a:tr>
              <a:tr h="300109">
                <a:tc>
                  <a:txBody>
                    <a:bodyPr/>
                    <a:lstStyle/>
                    <a:p>
                      <a:pPr algn="l"/>
                      <a:r>
                        <a:rPr sz="900" b="1" dirty="0">
                          <a:solidFill>
                            <a:srgbClr val="333333"/>
                          </a:solidFill>
                          <a:latin typeface="メイリオ"/>
                        </a:rPr>
                        <a:t>⑥</a:t>
                      </a:r>
                      <a:r>
                        <a:rPr sz="900" b="1" dirty="0" err="1">
                          <a:solidFill>
                            <a:srgbClr val="333333"/>
                          </a:solidFill>
                          <a:latin typeface="メイリオ"/>
                        </a:rPr>
                        <a:t>再育成</a:t>
                      </a:r>
                      <a:endParaRPr sz="900" b="1" dirty="0">
                        <a:solidFill>
                          <a:srgbClr val="333333"/>
                        </a:solidFill>
                        <a:latin typeface="メイリオ"/>
                      </a:endParaRPr>
                    </a:p>
                  </a:txBody>
                  <a:tcPr marT="37785" marB="37785">
                    <a:solidFill>
                      <a:srgbClr val="F5F7FA"/>
                    </a:solidFill>
                  </a:tcPr>
                </a:tc>
                <a:tc>
                  <a:txBody>
                    <a:bodyPr/>
                    <a:lstStyle/>
                    <a:p>
                      <a:pPr algn="ctr"/>
                      <a:r>
                        <a:rPr sz="900" b="0" dirty="0" err="1">
                          <a:solidFill>
                            <a:srgbClr val="333333"/>
                          </a:solidFill>
                          <a:latin typeface="メイリオ"/>
                        </a:rPr>
                        <a:t>税金・諸費用の壁で検討停滞</a:t>
                      </a:r>
                      <a:endParaRPr sz="900" b="0" dirty="0">
                        <a:solidFill>
                          <a:srgbClr val="333333"/>
                        </a:solidFill>
                        <a:latin typeface="メイリオ"/>
                      </a:endParaRPr>
                    </a:p>
                  </a:txBody>
                  <a:tcPr marT="37785" marB="37785">
                    <a:solidFill>
                      <a:srgbClr val="F5F7FA"/>
                    </a:solidFill>
                  </a:tcPr>
                </a:tc>
                <a:tc>
                  <a:txBody>
                    <a:bodyPr/>
                    <a:lstStyle/>
                    <a:p>
                      <a:pPr algn="ctr"/>
                      <a:r>
                        <a:rPr sz="900" b="0">
                          <a:solidFill>
                            <a:srgbClr val="333333"/>
                          </a:solidFill>
                          <a:latin typeface="メイリオ"/>
                        </a:rPr>
                        <a:t>知識不足による意思決定遅延</a:t>
                      </a:r>
                    </a:p>
                  </a:txBody>
                  <a:tcPr marT="37785" marB="37785">
                    <a:solidFill>
                      <a:srgbClr val="F5F7FA"/>
                    </a:solidFill>
                  </a:tcPr>
                </a:tc>
                <a:tc>
                  <a:txBody>
                    <a:bodyPr/>
                    <a:lstStyle/>
                    <a:p>
                      <a:pPr algn="ctr"/>
                      <a:r>
                        <a:rPr sz="900" b="0" dirty="0">
                          <a:solidFill>
                            <a:srgbClr val="333333"/>
                          </a:solidFill>
                          <a:latin typeface="メイリオ"/>
                        </a:rPr>
                        <a:t>15〜30日ステップ配信</a:t>
                      </a:r>
                      <a:r>
                        <a:rPr sz="700" b="0" dirty="0">
                          <a:solidFill>
                            <a:srgbClr val="333333"/>
                          </a:solidFill>
                          <a:latin typeface="メイリオ"/>
                        </a:rPr>
                        <a:t>（控除・手順・事例）</a:t>
                      </a:r>
                      <a:endParaRPr sz="900" b="0" dirty="0">
                        <a:solidFill>
                          <a:srgbClr val="333333"/>
                        </a:solidFill>
                        <a:latin typeface="メイリオ"/>
                      </a:endParaRPr>
                    </a:p>
                  </a:txBody>
                  <a:tcPr marT="37785" marB="37785">
                    <a:solidFill>
                      <a:srgbClr val="F5F7FA"/>
                    </a:solidFill>
                  </a:tcPr>
                </a:tc>
                <a:extLst>
                  <a:ext uri="{0D108BD9-81ED-4DB2-BD59-A6C34878D82A}">
                    <a16:rowId xmlns:a16="http://schemas.microsoft.com/office/drawing/2014/main" val="2419379682"/>
                  </a:ext>
                </a:extLst>
              </a:tr>
              <a:tr h="300109">
                <a:tc>
                  <a:txBody>
                    <a:bodyPr/>
                    <a:lstStyle/>
                    <a:p>
                      <a:pPr algn="l"/>
                      <a:r>
                        <a:rPr sz="900" b="1" dirty="0">
                          <a:solidFill>
                            <a:srgbClr val="333333"/>
                          </a:solidFill>
                          <a:latin typeface="メイリオ"/>
                        </a:rPr>
                        <a:t>⑦</a:t>
                      </a:r>
                      <a:r>
                        <a:rPr sz="900" b="1" dirty="0" err="1">
                          <a:solidFill>
                            <a:srgbClr val="333333"/>
                          </a:solidFill>
                          <a:latin typeface="メイリオ"/>
                        </a:rPr>
                        <a:t>マネタイズ</a:t>
                      </a:r>
                      <a:endParaRPr sz="900" b="1" dirty="0">
                        <a:solidFill>
                          <a:srgbClr val="333333"/>
                        </a:solidFill>
                        <a:latin typeface="メイリオ"/>
                      </a:endParaRPr>
                    </a:p>
                  </a:txBody>
                  <a:tcPr marT="37785" marB="37785">
                    <a:solidFill>
                      <a:srgbClr val="FFFFFF"/>
                    </a:solidFill>
                  </a:tcPr>
                </a:tc>
                <a:tc>
                  <a:txBody>
                    <a:bodyPr/>
                    <a:lstStyle/>
                    <a:p>
                      <a:pPr algn="ctr"/>
                      <a:r>
                        <a:rPr sz="900" b="0">
                          <a:solidFill>
                            <a:srgbClr val="333333"/>
                          </a:solidFill>
                          <a:latin typeface="メイリオ"/>
                        </a:rPr>
                        <a:t>具体的な売却額を知りたい</a:t>
                      </a:r>
                    </a:p>
                  </a:txBody>
                  <a:tcPr marT="37785" marB="37785">
                    <a:solidFill>
                      <a:srgbClr val="FFFFFF"/>
                    </a:solidFill>
                  </a:tcPr>
                </a:tc>
                <a:tc>
                  <a:txBody>
                    <a:bodyPr/>
                    <a:lstStyle/>
                    <a:p>
                      <a:pPr algn="ctr"/>
                      <a:r>
                        <a:rPr sz="900" b="0" dirty="0" err="1">
                          <a:solidFill>
                            <a:srgbClr val="333333"/>
                          </a:solidFill>
                          <a:latin typeface="メイリオ"/>
                        </a:rPr>
                        <a:t>訪問査定への心理的ハードル</a:t>
                      </a:r>
                      <a:endParaRPr sz="900" b="0" dirty="0">
                        <a:solidFill>
                          <a:srgbClr val="333333"/>
                        </a:solidFill>
                        <a:latin typeface="メイリオ"/>
                      </a:endParaRPr>
                    </a:p>
                  </a:txBody>
                  <a:tcPr marT="37785" marB="37785">
                    <a:solidFill>
                      <a:srgbClr val="FFFFFF"/>
                    </a:solidFill>
                  </a:tcPr>
                </a:tc>
                <a:tc>
                  <a:txBody>
                    <a:bodyPr/>
                    <a:lstStyle/>
                    <a:p>
                      <a:pPr algn="ctr"/>
                      <a:r>
                        <a:rPr sz="900" b="0" dirty="0" err="1">
                          <a:solidFill>
                            <a:srgbClr val="333333"/>
                          </a:solidFill>
                          <a:latin typeface="メイリオ"/>
                        </a:rPr>
                        <a:t>無料訪問査定トリガ</a:t>
                      </a:r>
                      <a:r>
                        <a:rPr sz="900" b="0" dirty="0">
                          <a:solidFill>
                            <a:srgbClr val="333333"/>
                          </a:solidFill>
                          <a:latin typeface="メイリオ"/>
                        </a:rPr>
                        <a:t>ー</a:t>
                      </a:r>
                      <a:r>
                        <a:rPr sz="700" b="0" dirty="0">
                          <a:solidFill>
                            <a:srgbClr val="333333"/>
                          </a:solidFill>
                          <a:latin typeface="メイリオ"/>
                        </a:rPr>
                        <a:t>（</a:t>
                      </a:r>
                      <a:r>
                        <a:rPr sz="700" b="0" dirty="0" err="1">
                          <a:solidFill>
                            <a:srgbClr val="333333"/>
                          </a:solidFill>
                          <a:latin typeface="メイリオ"/>
                        </a:rPr>
                        <a:t>レポート・特典</a:t>
                      </a:r>
                      <a:r>
                        <a:rPr sz="700" b="0" dirty="0">
                          <a:solidFill>
                            <a:srgbClr val="333333"/>
                          </a:solidFill>
                          <a:latin typeface="メイリオ"/>
                        </a:rPr>
                        <a:t>）</a:t>
                      </a:r>
                      <a:endParaRPr sz="900" b="0" dirty="0">
                        <a:solidFill>
                          <a:srgbClr val="333333"/>
                        </a:solidFill>
                        <a:latin typeface="メイリオ"/>
                      </a:endParaRPr>
                    </a:p>
                  </a:txBody>
                  <a:tcPr marT="37785" marB="37785">
                    <a:solidFill>
                      <a:srgbClr val="FFFFFF"/>
                    </a:solidFill>
                  </a:tcPr>
                </a:tc>
                <a:extLst>
                  <a:ext uri="{0D108BD9-81ED-4DB2-BD59-A6C34878D82A}">
                    <a16:rowId xmlns:a16="http://schemas.microsoft.com/office/drawing/2014/main" val="250688175"/>
                  </a:ext>
                </a:extLst>
              </a:tr>
              <a:tr h="300109">
                <a:tc>
                  <a:txBody>
                    <a:bodyPr/>
                    <a:lstStyle/>
                    <a:p>
                      <a:pPr algn="l"/>
                      <a:r>
                        <a:rPr sz="900" b="0" dirty="0">
                          <a:solidFill>
                            <a:srgbClr val="333333"/>
                          </a:solidFill>
                          <a:latin typeface="メイリオ"/>
                        </a:rPr>
                        <a:t>⑧</a:t>
                      </a:r>
                      <a:r>
                        <a:rPr sz="900" b="0" dirty="0" err="1">
                          <a:solidFill>
                            <a:srgbClr val="333333"/>
                          </a:solidFill>
                          <a:latin typeface="メイリオ"/>
                        </a:rPr>
                        <a:t>ファン化</a:t>
                      </a:r>
                      <a:r>
                        <a:rPr sz="900" b="0" dirty="0">
                          <a:solidFill>
                            <a:srgbClr val="333333"/>
                          </a:solidFill>
                          <a:latin typeface="メイリオ"/>
                        </a:rPr>
                        <a:t>/</a:t>
                      </a:r>
                      <a:r>
                        <a:rPr sz="900" b="0" dirty="0" err="1">
                          <a:solidFill>
                            <a:srgbClr val="333333"/>
                          </a:solidFill>
                          <a:latin typeface="メイリオ"/>
                        </a:rPr>
                        <a:t>紹介</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rPr>
                        <a:t>媒介契約・成約完了</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rPr>
                        <a:t>売却後の接点喪失</a:t>
                      </a:r>
                      <a:endParaRPr sz="900" b="0" dirty="0">
                        <a:solidFill>
                          <a:srgbClr val="333333"/>
                        </a:solidFill>
                        <a:latin typeface="メイリオ"/>
                      </a:endParaRPr>
                    </a:p>
                  </a:txBody>
                  <a:tcPr marT="37785" marB="37785">
                    <a:solidFill>
                      <a:schemeClr val="bg1">
                        <a:lumMod val="75000"/>
                      </a:schemeClr>
                    </a:solidFill>
                  </a:tcPr>
                </a:tc>
                <a:tc>
                  <a:txBody>
                    <a:bodyPr/>
                    <a:lstStyle/>
                    <a:p>
                      <a:pPr algn="ctr"/>
                      <a:r>
                        <a:rPr lang="ja-JP" altLang="en-US" sz="900" b="0" dirty="0">
                          <a:solidFill>
                            <a:srgbClr val="333333"/>
                          </a:solidFill>
                          <a:latin typeface="メイリオ"/>
                        </a:rPr>
                        <a:t>口コミ投稿など</a:t>
                      </a:r>
                      <a:endParaRPr sz="900" b="0" dirty="0">
                        <a:solidFill>
                          <a:srgbClr val="333333"/>
                        </a:solidFill>
                        <a:latin typeface="メイリオ"/>
                      </a:endParaRPr>
                    </a:p>
                  </a:txBody>
                  <a:tcPr marT="37785" marB="37785">
                    <a:solidFill>
                      <a:schemeClr val="bg1">
                        <a:lumMod val="75000"/>
                      </a:schemeClr>
                    </a:solidFill>
                  </a:tcPr>
                </a:tc>
                <a:extLst>
                  <a:ext uri="{0D108BD9-81ED-4DB2-BD59-A6C34878D82A}">
                    <a16:rowId xmlns:a16="http://schemas.microsoft.com/office/drawing/2014/main" val="1510260062"/>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Times New Roman" panose="02020603050405020304" pitchFamily="18" charset="0"/>
              <a:ea typeface="游明朝" panose="02020400000000000000" pitchFamily="18" charset="-128"/>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広告費を投下しており、</a:t>
            </a:r>
            <a:r>
              <a:rPr lang="en-US" altLang="ja-JP" sz="1050" dirty="0">
                <a:latin typeface="メイリオ" panose="020B0604030504040204" pitchFamily="50" charset="-128"/>
                <a:ea typeface="メイリオ" panose="020B0604030504040204" pitchFamily="50" charset="-128"/>
              </a:rPr>
              <a:t>CPA</a:t>
            </a:r>
            <a:r>
              <a:rPr lang="ja-JP" altLang="en-US" sz="1050" dirty="0">
                <a:latin typeface="メイリオ" panose="020B0604030504040204" pitchFamily="50" charset="-128"/>
                <a:ea typeface="メイリオ" panose="020B0604030504040204" pitchFamily="50" charset="-128"/>
              </a:rPr>
              <a:t>効率は大きく改善し安定している。</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solidFill>
                  <a:srgbClr val="FF0000"/>
                </a:solidFill>
                <a:latin typeface="メイリオ" panose="020B0604030504040204" pitchFamily="50" charset="-128"/>
                <a:ea typeface="メイリオ" panose="020B0604030504040204" pitchFamily="50" charset="-128"/>
              </a:rPr>
              <a:t>ただ大手</a:t>
            </a:r>
            <a:r>
              <a:rPr lang="en-US" altLang="ja-JP" sz="1050" dirty="0">
                <a:solidFill>
                  <a:srgbClr val="FF0000"/>
                </a:solidFill>
                <a:latin typeface="メイリオ" panose="020B0604030504040204" pitchFamily="50" charset="-128"/>
                <a:ea typeface="メイリオ" panose="020B0604030504040204" pitchFamily="50" charset="-128"/>
              </a:rPr>
              <a:t>10</a:t>
            </a:r>
            <a:r>
              <a:rPr lang="ja-JP" altLang="en-US" sz="1050" dirty="0">
                <a:solidFill>
                  <a:srgbClr val="FF0000"/>
                </a:solidFill>
                <a:latin typeface="メイリオ" panose="020B0604030504040204" pitchFamily="50" charset="-128"/>
                <a:ea typeface="メイリオ" panose="020B0604030504040204" pitchFamily="50" charset="-128"/>
              </a:rPr>
              <a:t>社のハウスメーカーの既存住宅に限定される。</a:t>
            </a:r>
            <a:endParaRPr lang="en-US" altLang="ja-JP" sz="1050" dirty="0">
              <a:solidFill>
                <a:srgbClr val="FF0000"/>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現状広告アカウントとして使用する</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アカウントのみ保有している状況。</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169277"/>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現状広告用アカウントとして存在</a:t>
            </a: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うち広告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80,000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200</a:t>
            </a:r>
            <a:r>
              <a:rPr lang="ja-JP" altLang="en-US" sz="1000" b="1" dirty="0">
                <a:latin typeface="メイリオ" panose="020B0604030504040204" pitchFamily="50" charset="-128"/>
                <a:ea typeface="メイリオ" panose="020B0604030504040204" pitchFamily="50" charset="-128"/>
              </a:rPr>
              <a:t>万～</a:t>
            </a:r>
            <a:r>
              <a:rPr lang="en-US" altLang="ja-JP" sz="1000" b="1" dirty="0">
                <a:latin typeface="メイリオ" panose="020B0604030504040204" pitchFamily="50" charset="-128"/>
                <a:ea typeface="メイリオ" panose="020B0604030504040204" pitchFamily="50" charset="-128"/>
              </a:rPr>
              <a:t>300</a:t>
            </a:r>
            <a:r>
              <a:rPr lang="ja-JP" altLang="en-US" sz="1000" b="1" dirty="0">
                <a:latin typeface="メイリオ" panose="020B0604030504040204" pitchFamily="50" charset="-128"/>
                <a:ea typeface="メイリオ" panose="020B0604030504040204" pitchFamily="50" charset="-128"/>
              </a:rPr>
              <a:t>万</a:t>
            </a:r>
            <a:endParaRPr lang="en-US" altLang="ja-JP" sz="1000" b="1" dirty="0">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AD,SEO</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IG</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100</a:t>
            </a:r>
            <a:r>
              <a:rPr lang="ja-JP" altLang="en-US" sz="1000" b="1" dirty="0">
                <a:latin typeface="メイリオ" panose="020B0604030504040204" pitchFamily="50" charset="-128"/>
                <a:ea typeface="メイリオ" panose="020B0604030504040204" pitchFamily="50" charset="-128"/>
              </a:rPr>
              <a:t>前後</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売却</a:t>
            </a:r>
            <a:r>
              <a:rPr lang="ja-JP" altLang="en-US" sz="1000" b="1" dirty="0">
                <a:solidFill>
                  <a:srgbClr val="FF0000"/>
                </a:solidFill>
                <a:latin typeface="メイリオ" panose="020B0604030504040204" pitchFamily="50" charset="-128"/>
                <a:ea typeface="メイリオ" panose="020B0604030504040204" pitchFamily="50" charset="-128"/>
              </a:rPr>
              <a:t>（査定依頼）</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なし</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pic>
        <p:nvPicPr>
          <p:cNvPr id="10" name="図 9">
            <a:extLst>
              <a:ext uri="{FF2B5EF4-FFF2-40B4-BE49-F238E27FC236}">
                <a16:creationId xmlns:a16="http://schemas.microsoft.com/office/drawing/2014/main" id="{478032FE-43C7-6C0D-EF00-3521B190AE87}"/>
              </a:ext>
            </a:extLst>
          </p:cNvPr>
          <p:cNvPicPr>
            <a:picLocks noChangeAspect="1"/>
          </p:cNvPicPr>
          <p:nvPr/>
        </p:nvPicPr>
        <p:blipFill>
          <a:blip r:embed="rId4"/>
          <a:stretch>
            <a:fillRect/>
          </a:stretch>
        </p:blipFill>
        <p:spPr>
          <a:xfrm>
            <a:off x="507335" y="2008790"/>
            <a:ext cx="1557206" cy="316282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トレンドより</a:t>
            </a:r>
            <a:endParaRPr lang="ja-JP" altLang="en-US" sz="1400" dirty="0">
              <a:solidFill>
                <a:schemeClr val="bg1">
                  <a:lumMod val="65000"/>
                </a:schemeClr>
              </a:solidFill>
            </a:endParaRPr>
          </a:p>
        </p:txBody>
      </p:sp>
      <p:pic>
        <p:nvPicPr>
          <p:cNvPr id="7" name="図 6">
            <a:extLst>
              <a:ext uri="{FF2B5EF4-FFF2-40B4-BE49-F238E27FC236}">
                <a16:creationId xmlns:a16="http://schemas.microsoft.com/office/drawing/2014/main" id="{653D2432-B824-52F8-FB3F-BF980E3887E3}"/>
              </a:ext>
            </a:extLst>
          </p:cNvPr>
          <p:cNvPicPr>
            <a:picLocks noChangeAspect="1"/>
          </p:cNvPicPr>
          <p:nvPr/>
        </p:nvPicPr>
        <p:blipFill>
          <a:blip r:embed="rId3"/>
          <a:stretch>
            <a:fillRect/>
          </a:stretch>
        </p:blipFill>
        <p:spPr>
          <a:xfrm>
            <a:off x="220588" y="1688676"/>
            <a:ext cx="9464824" cy="3461599"/>
          </a:xfrm>
          <a:prstGeom prst="rect">
            <a:avLst/>
          </a:prstGeom>
        </p:spPr>
      </p:pic>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Times New Roman" panose="02020603050405020304" pitchFamily="18" charset="0"/>
              <a:ea typeface="游明朝" panose="02020400000000000000" pitchFamily="18" charset="-128"/>
            </a:endParaRPr>
          </a:p>
        </p:txBody>
      </p:sp>
      <p:sp>
        <p:nvSpPr>
          <p:cNvPr id="6" name="四角形: 角を丸くする 5">
            <a:extLst>
              <a:ext uri="{FF2B5EF4-FFF2-40B4-BE49-F238E27FC236}">
                <a16:creationId xmlns:a16="http://schemas.microsoft.com/office/drawing/2014/main" id="{1EF695EC-A0EE-54CE-E6A4-B10385490FBD}"/>
              </a:ext>
            </a:extLst>
          </p:cNvPr>
          <p:cNvSpPr/>
          <p:nvPr/>
        </p:nvSpPr>
        <p:spPr>
          <a:xfrm>
            <a:off x="454751" y="3534862"/>
            <a:ext cx="1783624" cy="1913413"/>
          </a:xfrm>
          <a:prstGeom prst="roundRect">
            <a:avLst>
              <a:gd name="adj" fmla="val 9812"/>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053643F-387C-73DB-6445-07F7F05BED00}"/>
              </a:ext>
            </a:extLst>
          </p:cNvPr>
          <p:cNvSpPr/>
          <p:nvPr/>
        </p:nvSpPr>
        <p:spPr>
          <a:xfrm>
            <a:off x="5436326" y="3534861"/>
            <a:ext cx="2297974" cy="1913413"/>
          </a:xfrm>
          <a:prstGeom prst="roundRect">
            <a:avLst>
              <a:gd name="adj" fmla="val 9812"/>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383E281D-4C0B-7458-9C34-899F6E84235D}"/>
              </a:ext>
            </a:extLst>
          </p:cNvPr>
          <p:cNvSpPr txBox="1"/>
          <p:nvPr/>
        </p:nvSpPr>
        <p:spPr>
          <a:xfrm>
            <a:off x="6334560" y="5183858"/>
            <a:ext cx="1399740" cy="230832"/>
          </a:xfrm>
          <a:prstGeom prst="rect">
            <a:avLst/>
          </a:prstGeom>
          <a:noFill/>
        </p:spPr>
        <p:txBody>
          <a:bodyPr wrap="square">
            <a:spAutoFit/>
          </a:bodyPr>
          <a:lstStyle/>
          <a:p>
            <a:pPr algn="r"/>
            <a:r>
              <a:rPr lang="ja-JP" altLang="en-US" sz="900" b="1" dirty="0">
                <a:solidFill>
                  <a:schemeClr val="bg1">
                    <a:lumMod val="65000"/>
                  </a:schemeClr>
                </a:solidFill>
                <a:latin typeface="メイリオ" panose="020B0604030504040204" pitchFamily="50" charset="-128"/>
                <a:ea typeface="メイリオ" panose="020B0604030504040204" pitchFamily="50" charset="-128"/>
              </a:rPr>
              <a:t>やや繁忙期</a:t>
            </a:r>
            <a:endParaRPr lang="ja-JP" altLang="en-US" sz="1400" b="1" dirty="0">
              <a:solidFill>
                <a:schemeClr val="bg1">
                  <a:lumMod val="65000"/>
                </a:schemeClr>
              </a:solidFill>
            </a:endParaRPr>
          </a:p>
        </p:txBody>
      </p:sp>
      <p:sp>
        <p:nvSpPr>
          <p:cNvPr id="15" name="テキスト ボックス 14">
            <a:extLst>
              <a:ext uri="{FF2B5EF4-FFF2-40B4-BE49-F238E27FC236}">
                <a16:creationId xmlns:a16="http://schemas.microsoft.com/office/drawing/2014/main" id="{EEA69B17-3F89-528F-ABB8-55F52A48ED38}"/>
              </a:ext>
            </a:extLst>
          </p:cNvPr>
          <p:cNvSpPr txBox="1"/>
          <p:nvPr/>
        </p:nvSpPr>
        <p:spPr>
          <a:xfrm>
            <a:off x="838635" y="5183858"/>
            <a:ext cx="1399740" cy="230832"/>
          </a:xfrm>
          <a:prstGeom prst="rect">
            <a:avLst/>
          </a:prstGeom>
          <a:noFill/>
        </p:spPr>
        <p:txBody>
          <a:bodyPr wrap="square">
            <a:spAutoFit/>
          </a:bodyPr>
          <a:lstStyle/>
          <a:p>
            <a:pPr algn="r"/>
            <a:r>
              <a:rPr lang="ja-JP" altLang="en-US" sz="900" b="1" dirty="0">
                <a:solidFill>
                  <a:schemeClr val="bg1">
                    <a:lumMod val="65000"/>
                  </a:schemeClr>
                </a:solidFill>
                <a:latin typeface="メイリオ" panose="020B0604030504040204" pitchFamily="50" charset="-128"/>
                <a:ea typeface="メイリオ" panose="020B0604030504040204" pitchFamily="50" charset="-128"/>
              </a:rPr>
              <a:t>やや繁忙期</a:t>
            </a:r>
            <a:endParaRPr lang="ja-JP" altLang="en-US" sz="1400" b="1" dirty="0">
              <a:solidFill>
                <a:schemeClr val="bg1">
                  <a:lumMod val="65000"/>
                </a:schemeClr>
              </a:solidFill>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不動産売却</a:t>
            </a:r>
          </a:p>
        </p:txBody>
      </p:sp>
      <p:pic>
        <p:nvPicPr>
          <p:cNvPr id="4" name="図 3">
            <a:extLst>
              <a:ext uri="{FF2B5EF4-FFF2-40B4-BE49-F238E27FC236}">
                <a16:creationId xmlns:a16="http://schemas.microsoft.com/office/drawing/2014/main" id="{530683B6-6908-71A2-8A5A-CC93FAB9B9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2605" y="1893604"/>
            <a:ext cx="7223640" cy="4213792"/>
          </a:xfrm>
          <a:prstGeom prst="rect">
            <a:avLst/>
          </a:prstGeom>
        </p:spPr>
      </p:pic>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ja-JP" altLang="en-US" sz="1200" dirty="0"/>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Times New Roman" panose="02020603050405020304" pitchFamily="18" charset="0"/>
              <a:ea typeface="游明朝" panose="02020400000000000000" pitchFamily="18" charset="-128"/>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 name="四角形: 角を丸くする 28">
            <a:extLst>
              <a:ext uri="{FF2B5EF4-FFF2-40B4-BE49-F238E27FC236}">
                <a16:creationId xmlns:a16="http://schemas.microsoft.com/office/drawing/2014/main" id="{D5124019-64A5-C030-C0AE-B31297CA7C37}"/>
              </a:ext>
            </a:extLst>
          </p:cNvPr>
          <p:cNvSpPr/>
          <p:nvPr/>
        </p:nvSpPr>
        <p:spPr>
          <a:xfrm>
            <a:off x="5061180" y="2688521"/>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A9064006-DF8F-634B-A98B-5DC1EA3FAD6E}"/>
              </a:ext>
            </a:extLst>
          </p:cNvPr>
          <p:cNvSpPr/>
          <p:nvPr/>
        </p:nvSpPr>
        <p:spPr>
          <a:xfrm>
            <a:off x="6412615" y="3098516"/>
            <a:ext cx="502904"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5" name="四角形: 角を丸くする 34">
            <a:extLst>
              <a:ext uri="{FF2B5EF4-FFF2-40B4-BE49-F238E27FC236}">
                <a16:creationId xmlns:a16="http://schemas.microsoft.com/office/drawing/2014/main" id="{8930A87F-B351-6F3D-2A4C-EB93EE39FE8C}"/>
              </a:ext>
            </a:extLst>
          </p:cNvPr>
          <p:cNvSpPr/>
          <p:nvPr/>
        </p:nvSpPr>
        <p:spPr>
          <a:xfrm>
            <a:off x="4961029" y="2779960"/>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7" name="四角形: 角を丸くする 36">
            <a:extLst>
              <a:ext uri="{FF2B5EF4-FFF2-40B4-BE49-F238E27FC236}">
                <a16:creationId xmlns:a16="http://schemas.microsoft.com/office/drawing/2014/main" id="{A5A5AD8D-59C7-AC05-842B-E8D56914A815}"/>
              </a:ext>
            </a:extLst>
          </p:cNvPr>
          <p:cNvSpPr/>
          <p:nvPr/>
        </p:nvSpPr>
        <p:spPr>
          <a:xfrm>
            <a:off x="5013332" y="3132662"/>
            <a:ext cx="66936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9" name="四角形: 角を丸くする 38">
            <a:extLst>
              <a:ext uri="{FF2B5EF4-FFF2-40B4-BE49-F238E27FC236}">
                <a16:creationId xmlns:a16="http://schemas.microsoft.com/office/drawing/2014/main" id="{14341416-5D36-B6B2-CA95-0717932BDC20}"/>
              </a:ext>
            </a:extLst>
          </p:cNvPr>
          <p:cNvSpPr/>
          <p:nvPr/>
        </p:nvSpPr>
        <p:spPr>
          <a:xfrm>
            <a:off x="4935447" y="3842411"/>
            <a:ext cx="50290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11F0F24E-AC95-9B22-4408-E8DE2AFD8339}"/>
              </a:ext>
            </a:extLst>
          </p:cNvPr>
          <p:cNvSpPr/>
          <p:nvPr/>
        </p:nvSpPr>
        <p:spPr>
          <a:xfrm>
            <a:off x="6345746" y="3933848"/>
            <a:ext cx="66936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3E822D61-5CAE-06C7-3E4D-2C82BD913B98}"/>
              </a:ext>
            </a:extLst>
          </p:cNvPr>
          <p:cNvSpPr/>
          <p:nvPr/>
        </p:nvSpPr>
        <p:spPr>
          <a:xfrm>
            <a:off x="6464678" y="4068830"/>
            <a:ext cx="736300"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6" name="四角形: 角を丸くする 45">
            <a:extLst>
              <a:ext uri="{FF2B5EF4-FFF2-40B4-BE49-F238E27FC236}">
                <a16:creationId xmlns:a16="http://schemas.microsoft.com/office/drawing/2014/main" id="{89CDB11D-257A-6364-20C4-247C85C46536}"/>
              </a:ext>
            </a:extLst>
          </p:cNvPr>
          <p:cNvSpPr/>
          <p:nvPr/>
        </p:nvSpPr>
        <p:spPr>
          <a:xfrm>
            <a:off x="6655231" y="3376496"/>
            <a:ext cx="1078017"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8" name="四角形: 角を丸くする 47">
            <a:extLst>
              <a:ext uri="{FF2B5EF4-FFF2-40B4-BE49-F238E27FC236}">
                <a16:creationId xmlns:a16="http://schemas.microsoft.com/office/drawing/2014/main" id="{9B7360F7-62F2-4688-09E5-BBD1F2837115}"/>
              </a:ext>
            </a:extLst>
          </p:cNvPr>
          <p:cNvSpPr/>
          <p:nvPr/>
        </p:nvSpPr>
        <p:spPr>
          <a:xfrm>
            <a:off x="7730364" y="3703071"/>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17091C5E-FDF2-F1C2-29F4-410AA3C5690F}"/>
              </a:ext>
            </a:extLst>
          </p:cNvPr>
          <p:cNvSpPr/>
          <p:nvPr/>
        </p:nvSpPr>
        <p:spPr>
          <a:xfrm>
            <a:off x="7677547" y="4325736"/>
            <a:ext cx="809930"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2" name="四角形: 角を丸くする 51">
            <a:extLst>
              <a:ext uri="{FF2B5EF4-FFF2-40B4-BE49-F238E27FC236}">
                <a16:creationId xmlns:a16="http://schemas.microsoft.com/office/drawing/2014/main" id="{F5E8BDF1-DA0B-9174-AD9D-273CA86818FB}"/>
              </a:ext>
            </a:extLst>
          </p:cNvPr>
          <p:cNvSpPr/>
          <p:nvPr/>
        </p:nvSpPr>
        <p:spPr>
          <a:xfrm>
            <a:off x="6387372" y="4669730"/>
            <a:ext cx="89092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4" name="四角形: 角を丸くする 53">
            <a:extLst>
              <a:ext uri="{FF2B5EF4-FFF2-40B4-BE49-F238E27FC236}">
                <a16:creationId xmlns:a16="http://schemas.microsoft.com/office/drawing/2014/main" id="{D6A96021-B5B9-6C61-FB1F-731BC07AE80C}"/>
              </a:ext>
            </a:extLst>
          </p:cNvPr>
          <p:cNvSpPr/>
          <p:nvPr/>
        </p:nvSpPr>
        <p:spPr>
          <a:xfrm>
            <a:off x="5016420" y="4523615"/>
            <a:ext cx="41562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8" name="四角形: 角を丸くする 57">
            <a:extLst>
              <a:ext uri="{FF2B5EF4-FFF2-40B4-BE49-F238E27FC236}">
                <a16:creationId xmlns:a16="http://schemas.microsoft.com/office/drawing/2014/main" id="{DD984151-EA44-30A6-D73F-8582FFA946D6}"/>
              </a:ext>
            </a:extLst>
          </p:cNvPr>
          <p:cNvSpPr/>
          <p:nvPr/>
        </p:nvSpPr>
        <p:spPr>
          <a:xfrm>
            <a:off x="6573820" y="4252405"/>
            <a:ext cx="415623"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0" name="四角形: 角を丸くする 59">
            <a:extLst>
              <a:ext uri="{FF2B5EF4-FFF2-40B4-BE49-F238E27FC236}">
                <a16:creationId xmlns:a16="http://schemas.microsoft.com/office/drawing/2014/main" id="{5685CC18-07F2-3B7D-8946-FF2DEA83DDB4}"/>
              </a:ext>
            </a:extLst>
          </p:cNvPr>
          <p:cNvSpPr/>
          <p:nvPr/>
        </p:nvSpPr>
        <p:spPr>
          <a:xfrm>
            <a:off x="6827143" y="4378678"/>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2" name="四角形: 角を丸くする 61">
            <a:extLst>
              <a:ext uri="{FF2B5EF4-FFF2-40B4-BE49-F238E27FC236}">
                <a16:creationId xmlns:a16="http://schemas.microsoft.com/office/drawing/2014/main" id="{A45E249F-AD72-F0D6-9681-BE360D0ED310}"/>
              </a:ext>
            </a:extLst>
          </p:cNvPr>
          <p:cNvSpPr/>
          <p:nvPr/>
        </p:nvSpPr>
        <p:spPr>
          <a:xfrm>
            <a:off x="5769046" y="3773430"/>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4" name="四角形: 角を丸くする 63">
            <a:extLst>
              <a:ext uri="{FF2B5EF4-FFF2-40B4-BE49-F238E27FC236}">
                <a16:creationId xmlns:a16="http://schemas.microsoft.com/office/drawing/2014/main" id="{0CD7D0B7-2842-D70F-E05D-B84A1364FD41}"/>
              </a:ext>
            </a:extLst>
          </p:cNvPr>
          <p:cNvSpPr/>
          <p:nvPr/>
        </p:nvSpPr>
        <p:spPr>
          <a:xfrm>
            <a:off x="4972204" y="2941761"/>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6" name="四角形: 角を丸くする 65">
            <a:extLst>
              <a:ext uri="{FF2B5EF4-FFF2-40B4-BE49-F238E27FC236}">
                <a16:creationId xmlns:a16="http://schemas.microsoft.com/office/drawing/2014/main" id="{5E037393-6455-1DB4-7FAA-C41B66D26A8F}"/>
              </a:ext>
            </a:extLst>
          </p:cNvPr>
          <p:cNvSpPr/>
          <p:nvPr/>
        </p:nvSpPr>
        <p:spPr>
          <a:xfrm>
            <a:off x="4965867" y="1901119"/>
            <a:ext cx="809930" cy="209848"/>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8" name="四角形: 角を丸くする 67">
            <a:extLst>
              <a:ext uri="{FF2B5EF4-FFF2-40B4-BE49-F238E27FC236}">
                <a16:creationId xmlns:a16="http://schemas.microsoft.com/office/drawing/2014/main" id="{203FE1B0-63FC-F930-18FF-9B12F68A7148}"/>
              </a:ext>
            </a:extLst>
          </p:cNvPr>
          <p:cNvSpPr/>
          <p:nvPr/>
        </p:nvSpPr>
        <p:spPr>
          <a:xfrm>
            <a:off x="2389339" y="2493888"/>
            <a:ext cx="415623"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0" name="四角形: 角を丸くする 69">
            <a:extLst>
              <a:ext uri="{FF2B5EF4-FFF2-40B4-BE49-F238E27FC236}">
                <a16:creationId xmlns:a16="http://schemas.microsoft.com/office/drawing/2014/main" id="{8A9BE3D9-7E37-7455-6D82-4D5FF14ADBD1}"/>
              </a:ext>
            </a:extLst>
          </p:cNvPr>
          <p:cNvSpPr/>
          <p:nvPr/>
        </p:nvSpPr>
        <p:spPr>
          <a:xfrm>
            <a:off x="2633945" y="3456185"/>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2" name="四角形: 角を丸くする 71">
            <a:extLst>
              <a:ext uri="{FF2B5EF4-FFF2-40B4-BE49-F238E27FC236}">
                <a16:creationId xmlns:a16="http://schemas.microsoft.com/office/drawing/2014/main" id="{E3FA16D7-2E5A-2DF1-A321-9D2B238A80B3}"/>
              </a:ext>
            </a:extLst>
          </p:cNvPr>
          <p:cNvSpPr/>
          <p:nvPr/>
        </p:nvSpPr>
        <p:spPr>
          <a:xfrm>
            <a:off x="2601483" y="3260238"/>
            <a:ext cx="80993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4" name="四角形: 角を丸くする 73">
            <a:extLst>
              <a:ext uri="{FF2B5EF4-FFF2-40B4-BE49-F238E27FC236}">
                <a16:creationId xmlns:a16="http://schemas.microsoft.com/office/drawing/2014/main" id="{618691EC-0617-8705-7CB7-45C0B08F05CD}"/>
              </a:ext>
            </a:extLst>
          </p:cNvPr>
          <p:cNvSpPr/>
          <p:nvPr/>
        </p:nvSpPr>
        <p:spPr>
          <a:xfrm>
            <a:off x="1755149" y="3847124"/>
            <a:ext cx="502904"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6" name="四角形: 角を丸くする 75">
            <a:extLst>
              <a:ext uri="{FF2B5EF4-FFF2-40B4-BE49-F238E27FC236}">
                <a16:creationId xmlns:a16="http://schemas.microsoft.com/office/drawing/2014/main" id="{838F965F-8CC2-8245-B1F6-6304477A1A28}"/>
              </a:ext>
            </a:extLst>
          </p:cNvPr>
          <p:cNvSpPr/>
          <p:nvPr/>
        </p:nvSpPr>
        <p:spPr>
          <a:xfrm>
            <a:off x="2047131" y="4332545"/>
            <a:ext cx="980015"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8" name="四角形: 角を丸くする 77">
            <a:extLst>
              <a:ext uri="{FF2B5EF4-FFF2-40B4-BE49-F238E27FC236}">
                <a16:creationId xmlns:a16="http://schemas.microsoft.com/office/drawing/2014/main" id="{B87EFC22-7384-3354-D8F2-D60B2BA95C3F}"/>
              </a:ext>
            </a:extLst>
          </p:cNvPr>
          <p:cNvSpPr/>
          <p:nvPr/>
        </p:nvSpPr>
        <p:spPr>
          <a:xfrm>
            <a:off x="4527061" y="3788809"/>
            <a:ext cx="50290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0" name="四角形: 角を丸くする 79">
            <a:extLst>
              <a:ext uri="{FF2B5EF4-FFF2-40B4-BE49-F238E27FC236}">
                <a16:creationId xmlns:a16="http://schemas.microsoft.com/office/drawing/2014/main" id="{89D72690-C892-745B-996D-C0BE243E8135}"/>
              </a:ext>
            </a:extLst>
          </p:cNvPr>
          <p:cNvSpPr/>
          <p:nvPr/>
        </p:nvSpPr>
        <p:spPr>
          <a:xfrm>
            <a:off x="2036630" y="3251496"/>
            <a:ext cx="377839"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2" name="四角形: 角を丸くする 81">
            <a:extLst>
              <a:ext uri="{FF2B5EF4-FFF2-40B4-BE49-F238E27FC236}">
                <a16:creationId xmlns:a16="http://schemas.microsoft.com/office/drawing/2014/main" id="{20EB32AF-D436-F353-E7A4-95B291DE8078}"/>
              </a:ext>
            </a:extLst>
          </p:cNvPr>
          <p:cNvSpPr/>
          <p:nvPr/>
        </p:nvSpPr>
        <p:spPr>
          <a:xfrm>
            <a:off x="3363121" y="3203597"/>
            <a:ext cx="502904"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 name="四角形: 角を丸くする 83">
            <a:extLst>
              <a:ext uri="{FF2B5EF4-FFF2-40B4-BE49-F238E27FC236}">
                <a16:creationId xmlns:a16="http://schemas.microsoft.com/office/drawing/2014/main" id="{94365392-C41B-8CC1-4627-D762F59B9A7A}"/>
              </a:ext>
            </a:extLst>
          </p:cNvPr>
          <p:cNvSpPr/>
          <p:nvPr/>
        </p:nvSpPr>
        <p:spPr>
          <a:xfrm>
            <a:off x="3477027" y="4305182"/>
            <a:ext cx="669364"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6" name="四角形: 角を丸くする 85">
            <a:extLst>
              <a:ext uri="{FF2B5EF4-FFF2-40B4-BE49-F238E27FC236}">
                <a16:creationId xmlns:a16="http://schemas.microsoft.com/office/drawing/2014/main" id="{CA503DAB-739C-ED24-7B44-19BD54F86E8B}"/>
              </a:ext>
            </a:extLst>
          </p:cNvPr>
          <p:cNvSpPr/>
          <p:nvPr/>
        </p:nvSpPr>
        <p:spPr>
          <a:xfrm>
            <a:off x="3196161" y="4130815"/>
            <a:ext cx="55319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8" name="四角形: 角を丸くする 87">
            <a:extLst>
              <a:ext uri="{FF2B5EF4-FFF2-40B4-BE49-F238E27FC236}">
                <a16:creationId xmlns:a16="http://schemas.microsoft.com/office/drawing/2014/main" id="{526C9938-44E0-635A-516B-72889C222427}"/>
              </a:ext>
            </a:extLst>
          </p:cNvPr>
          <p:cNvSpPr/>
          <p:nvPr/>
        </p:nvSpPr>
        <p:spPr>
          <a:xfrm>
            <a:off x="5999416" y="3525569"/>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0" name="四角形: 角を丸くする 89">
            <a:extLst>
              <a:ext uri="{FF2B5EF4-FFF2-40B4-BE49-F238E27FC236}">
                <a16:creationId xmlns:a16="http://schemas.microsoft.com/office/drawing/2014/main" id="{027B892D-AA0D-5CC1-2147-06929D05546D}"/>
              </a:ext>
            </a:extLst>
          </p:cNvPr>
          <p:cNvSpPr/>
          <p:nvPr/>
        </p:nvSpPr>
        <p:spPr>
          <a:xfrm>
            <a:off x="4968004" y="3930273"/>
            <a:ext cx="890923"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2" name="四角形: 角を丸くする 91">
            <a:extLst>
              <a:ext uri="{FF2B5EF4-FFF2-40B4-BE49-F238E27FC236}">
                <a16:creationId xmlns:a16="http://schemas.microsoft.com/office/drawing/2014/main" id="{06F3D4C2-583B-A1F2-5D32-A3585481946D}"/>
              </a:ext>
            </a:extLst>
          </p:cNvPr>
          <p:cNvSpPr/>
          <p:nvPr/>
        </p:nvSpPr>
        <p:spPr>
          <a:xfrm>
            <a:off x="5050732" y="4039128"/>
            <a:ext cx="890923"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4" name="四角形: 角を丸くする 93">
            <a:extLst>
              <a:ext uri="{FF2B5EF4-FFF2-40B4-BE49-F238E27FC236}">
                <a16:creationId xmlns:a16="http://schemas.microsoft.com/office/drawing/2014/main" id="{FBE8AAC9-1D44-370A-41FD-618D41ACC4A8}"/>
              </a:ext>
            </a:extLst>
          </p:cNvPr>
          <p:cNvSpPr/>
          <p:nvPr/>
        </p:nvSpPr>
        <p:spPr>
          <a:xfrm>
            <a:off x="4126122" y="4427485"/>
            <a:ext cx="809930"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8" name="四角形: 角を丸くする 97">
            <a:extLst>
              <a:ext uri="{FF2B5EF4-FFF2-40B4-BE49-F238E27FC236}">
                <a16:creationId xmlns:a16="http://schemas.microsoft.com/office/drawing/2014/main" id="{6B443D85-3A31-22AF-ACAB-27E71D8904B2}"/>
              </a:ext>
            </a:extLst>
          </p:cNvPr>
          <p:cNvSpPr/>
          <p:nvPr/>
        </p:nvSpPr>
        <p:spPr>
          <a:xfrm>
            <a:off x="2127031" y="4483409"/>
            <a:ext cx="608513"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0" name="四角形: 角を丸くする 99">
            <a:extLst>
              <a:ext uri="{FF2B5EF4-FFF2-40B4-BE49-F238E27FC236}">
                <a16:creationId xmlns:a16="http://schemas.microsoft.com/office/drawing/2014/main" id="{A77654E6-B216-FB61-710A-5811E5AFAD5B}"/>
              </a:ext>
            </a:extLst>
          </p:cNvPr>
          <p:cNvSpPr/>
          <p:nvPr/>
        </p:nvSpPr>
        <p:spPr>
          <a:xfrm>
            <a:off x="4205163" y="4323836"/>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不動産査定</a:t>
            </a:r>
          </a:p>
        </p:txBody>
      </p:sp>
      <p:pic>
        <p:nvPicPr>
          <p:cNvPr id="9" name="図 8">
            <a:extLst>
              <a:ext uri="{FF2B5EF4-FFF2-40B4-BE49-F238E27FC236}">
                <a16:creationId xmlns:a16="http://schemas.microsoft.com/office/drawing/2014/main" id="{F098BBD1-2CAE-1F9A-9A3D-8FFA9ACB1D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6465" y="1895415"/>
            <a:ext cx="7152121" cy="4172070"/>
          </a:xfrm>
          <a:prstGeom prst="rect">
            <a:avLst/>
          </a:prstGeom>
        </p:spPr>
      </p:pic>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Times New Roman" panose="02020603050405020304" pitchFamily="18" charset="0"/>
              <a:ea typeface="游明朝" panose="02020400000000000000" pitchFamily="18" charset="-128"/>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rPr>
              <a:t>お金周り</a:t>
            </a: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5" name="四角形: 角を丸くする 24">
            <a:extLst>
              <a:ext uri="{FF2B5EF4-FFF2-40B4-BE49-F238E27FC236}">
                <a16:creationId xmlns:a16="http://schemas.microsoft.com/office/drawing/2014/main" id="{A2FB34E3-6B6F-301F-1757-75DBF330388C}"/>
              </a:ext>
            </a:extLst>
          </p:cNvPr>
          <p:cNvSpPr/>
          <p:nvPr/>
        </p:nvSpPr>
        <p:spPr>
          <a:xfrm>
            <a:off x="4917079" y="3394279"/>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46CE3A52-0DF8-AC86-02CF-9B9B30C70DBD}"/>
              </a:ext>
            </a:extLst>
          </p:cNvPr>
          <p:cNvSpPr/>
          <p:nvPr/>
        </p:nvSpPr>
        <p:spPr>
          <a:xfrm>
            <a:off x="4978090" y="3485716"/>
            <a:ext cx="66936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四角形: 角を丸くする 33">
            <a:extLst>
              <a:ext uri="{FF2B5EF4-FFF2-40B4-BE49-F238E27FC236}">
                <a16:creationId xmlns:a16="http://schemas.microsoft.com/office/drawing/2014/main" id="{28498B5E-4F66-5999-90AA-3C1121B845DA}"/>
              </a:ext>
            </a:extLst>
          </p:cNvPr>
          <p:cNvSpPr/>
          <p:nvPr/>
        </p:nvSpPr>
        <p:spPr>
          <a:xfrm>
            <a:off x="4583482" y="3568283"/>
            <a:ext cx="66936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8" name="四角形: 角を丸くする 37">
            <a:extLst>
              <a:ext uri="{FF2B5EF4-FFF2-40B4-BE49-F238E27FC236}">
                <a16:creationId xmlns:a16="http://schemas.microsoft.com/office/drawing/2014/main" id="{D562C23D-B362-EA03-DBB6-6F8F1D9249BF}"/>
              </a:ext>
            </a:extLst>
          </p:cNvPr>
          <p:cNvSpPr/>
          <p:nvPr/>
        </p:nvSpPr>
        <p:spPr>
          <a:xfrm>
            <a:off x="5545214" y="3820862"/>
            <a:ext cx="41562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1" name="四角形: 角を丸くする 40">
            <a:extLst>
              <a:ext uri="{FF2B5EF4-FFF2-40B4-BE49-F238E27FC236}">
                <a16:creationId xmlns:a16="http://schemas.microsoft.com/office/drawing/2014/main" id="{EA2AE35F-F58E-6AF4-6807-64E7E7D8F4E2}"/>
              </a:ext>
            </a:extLst>
          </p:cNvPr>
          <p:cNvSpPr/>
          <p:nvPr/>
        </p:nvSpPr>
        <p:spPr>
          <a:xfrm>
            <a:off x="4961146" y="4069058"/>
            <a:ext cx="66936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3" name="四角形: 角を丸くする 42">
            <a:extLst>
              <a:ext uri="{FF2B5EF4-FFF2-40B4-BE49-F238E27FC236}">
                <a16:creationId xmlns:a16="http://schemas.microsoft.com/office/drawing/2014/main" id="{A10A15D6-A410-ECAB-2156-7DDAFBF4AB70}"/>
              </a:ext>
            </a:extLst>
          </p:cNvPr>
          <p:cNvSpPr/>
          <p:nvPr/>
        </p:nvSpPr>
        <p:spPr>
          <a:xfrm>
            <a:off x="4969797" y="4256294"/>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6" name="四角形: 角を丸くする 45">
            <a:extLst>
              <a:ext uri="{FF2B5EF4-FFF2-40B4-BE49-F238E27FC236}">
                <a16:creationId xmlns:a16="http://schemas.microsoft.com/office/drawing/2014/main" id="{5A2B31F1-E090-8B4D-64C6-D33FB8EE5AF2}"/>
              </a:ext>
            </a:extLst>
          </p:cNvPr>
          <p:cNvSpPr/>
          <p:nvPr/>
        </p:nvSpPr>
        <p:spPr>
          <a:xfrm>
            <a:off x="4583482" y="4521398"/>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48" name="四角形: 角を丸くする 47">
            <a:extLst>
              <a:ext uri="{FF2B5EF4-FFF2-40B4-BE49-F238E27FC236}">
                <a16:creationId xmlns:a16="http://schemas.microsoft.com/office/drawing/2014/main" id="{011446AD-1AAB-02D2-86CC-3DEFBB7A30CF}"/>
              </a:ext>
            </a:extLst>
          </p:cNvPr>
          <p:cNvSpPr/>
          <p:nvPr/>
        </p:nvSpPr>
        <p:spPr>
          <a:xfrm>
            <a:off x="4010137" y="4691216"/>
            <a:ext cx="736300"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0" name="四角形: 角を丸くする 49">
            <a:extLst>
              <a:ext uri="{FF2B5EF4-FFF2-40B4-BE49-F238E27FC236}">
                <a16:creationId xmlns:a16="http://schemas.microsoft.com/office/drawing/2014/main" id="{8A995AA7-E93B-9428-7FA1-90C831F2EB30}"/>
              </a:ext>
            </a:extLst>
          </p:cNvPr>
          <p:cNvSpPr/>
          <p:nvPr/>
        </p:nvSpPr>
        <p:spPr>
          <a:xfrm>
            <a:off x="3850090" y="4956830"/>
            <a:ext cx="89092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2" name="四角形: 角を丸くする 51">
            <a:extLst>
              <a:ext uri="{FF2B5EF4-FFF2-40B4-BE49-F238E27FC236}">
                <a16:creationId xmlns:a16="http://schemas.microsoft.com/office/drawing/2014/main" id="{A11F69C5-DD73-F8F9-2467-42FCBE7C0300}"/>
              </a:ext>
            </a:extLst>
          </p:cNvPr>
          <p:cNvSpPr/>
          <p:nvPr/>
        </p:nvSpPr>
        <p:spPr>
          <a:xfrm>
            <a:off x="6295367" y="4517046"/>
            <a:ext cx="41562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4" name="四角形: 角を丸くする 53">
            <a:extLst>
              <a:ext uri="{FF2B5EF4-FFF2-40B4-BE49-F238E27FC236}">
                <a16:creationId xmlns:a16="http://schemas.microsoft.com/office/drawing/2014/main" id="{CE3C4E7D-EEF0-BAFD-D7EA-6B0021DAB9F4}"/>
              </a:ext>
            </a:extLst>
          </p:cNvPr>
          <p:cNvSpPr/>
          <p:nvPr/>
        </p:nvSpPr>
        <p:spPr>
          <a:xfrm>
            <a:off x="7413763" y="3728919"/>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6" name="四角形: 角を丸くする 55">
            <a:extLst>
              <a:ext uri="{FF2B5EF4-FFF2-40B4-BE49-F238E27FC236}">
                <a16:creationId xmlns:a16="http://schemas.microsoft.com/office/drawing/2014/main" id="{649707E4-C7CC-E812-7562-A4FC002BE01D}"/>
              </a:ext>
            </a:extLst>
          </p:cNvPr>
          <p:cNvSpPr/>
          <p:nvPr/>
        </p:nvSpPr>
        <p:spPr>
          <a:xfrm>
            <a:off x="3491091" y="3863902"/>
            <a:ext cx="50290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58" name="四角形: 角を丸くする 57">
            <a:extLst>
              <a:ext uri="{FF2B5EF4-FFF2-40B4-BE49-F238E27FC236}">
                <a16:creationId xmlns:a16="http://schemas.microsoft.com/office/drawing/2014/main" id="{B4DBBAB9-D9A5-9997-FA0C-B82CB4CE4304}"/>
              </a:ext>
            </a:extLst>
          </p:cNvPr>
          <p:cNvSpPr/>
          <p:nvPr/>
        </p:nvSpPr>
        <p:spPr>
          <a:xfrm>
            <a:off x="1923096" y="3494424"/>
            <a:ext cx="1078017"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0" name="四角形: 角を丸くする 59">
            <a:extLst>
              <a:ext uri="{FF2B5EF4-FFF2-40B4-BE49-F238E27FC236}">
                <a16:creationId xmlns:a16="http://schemas.microsoft.com/office/drawing/2014/main" id="{C9A10F7E-632A-FC1C-597B-1BB026EB3DA0}"/>
              </a:ext>
            </a:extLst>
          </p:cNvPr>
          <p:cNvSpPr/>
          <p:nvPr/>
        </p:nvSpPr>
        <p:spPr>
          <a:xfrm>
            <a:off x="1946613" y="1918418"/>
            <a:ext cx="377839" cy="190771"/>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2" name="四角形: 角を丸くする 61">
            <a:extLst>
              <a:ext uri="{FF2B5EF4-FFF2-40B4-BE49-F238E27FC236}">
                <a16:creationId xmlns:a16="http://schemas.microsoft.com/office/drawing/2014/main" id="{A45F1921-7AE4-7E7B-5485-CF50562089C4}"/>
              </a:ext>
            </a:extLst>
          </p:cNvPr>
          <p:cNvSpPr/>
          <p:nvPr/>
        </p:nvSpPr>
        <p:spPr>
          <a:xfrm>
            <a:off x="1583078" y="2059705"/>
            <a:ext cx="608513" cy="14332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4" name="四角形: 角を丸くする 63">
            <a:extLst>
              <a:ext uri="{FF2B5EF4-FFF2-40B4-BE49-F238E27FC236}">
                <a16:creationId xmlns:a16="http://schemas.microsoft.com/office/drawing/2014/main" id="{AEC230B2-2ABD-9690-79D5-167FE62E1075}"/>
              </a:ext>
            </a:extLst>
          </p:cNvPr>
          <p:cNvSpPr/>
          <p:nvPr/>
        </p:nvSpPr>
        <p:spPr>
          <a:xfrm>
            <a:off x="4026405" y="3494423"/>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6" name="四角形: 角を丸くする 65">
            <a:extLst>
              <a:ext uri="{FF2B5EF4-FFF2-40B4-BE49-F238E27FC236}">
                <a16:creationId xmlns:a16="http://schemas.microsoft.com/office/drawing/2014/main" id="{45CEAD18-1E80-C556-1B70-768C557A1058}"/>
              </a:ext>
            </a:extLst>
          </p:cNvPr>
          <p:cNvSpPr/>
          <p:nvPr/>
        </p:nvSpPr>
        <p:spPr>
          <a:xfrm>
            <a:off x="6434589" y="3379605"/>
            <a:ext cx="736300"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68" name="四角形: 角を丸くする 67">
            <a:extLst>
              <a:ext uri="{FF2B5EF4-FFF2-40B4-BE49-F238E27FC236}">
                <a16:creationId xmlns:a16="http://schemas.microsoft.com/office/drawing/2014/main" id="{25B4C600-71F2-8363-6BE1-BEF26F8C8401}"/>
              </a:ext>
            </a:extLst>
          </p:cNvPr>
          <p:cNvSpPr/>
          <p:nvPr/>
        </p:nvSpPr>
        <p:spPr>
          <a:xfrm>
            <a:off x="6659990" y="4092975"/>
            <a:ext cx="553194"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0" name="四角形: 角を丸くする 69">
            <a:extLst>
              <a:ext uri="{FF2B5EF4-FFF2-40B4-BE49-F238E27FC236}">
                <a16:creationId xmlns:a16="http://schemas.microsoft.com/office/drawing/2014/main" id="{35216D18-1D14-2633-0DC3-F729E8DF8E3C}"/>
              </a:ext>
            </a:extLst>
          </p:cNvPr>
          <p:cNvSpPr/>
          <p:nvPr/>
        </p:nvSpPr>
        <p:spPr>
          <a:xfrm>
            <a:off x="6111239" y="3957989"/>
            <a:ext cx="736300"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2" name="四角形: 角を丸くする 71">
            <a:extLst>
              <a:ext uri="{FF2B5EF4-FFF2-40B4-BE49-F238E27FC236}">
                <a16:creationId xmlns:a16="http://schemas.microsoft.com/office/drawing/2014/main" id="{95853CEF-D9DD-6FB5-7E76-AC983FFF927A}"/>
              </a:ext>
            </a:extLst>
          </p:cNvPr>
          <p:cNvSpPr/>
          <p:nvPr/>
        </p:nvSpPr>
        <p:spPr>
          <a:xfrm>
            <a:off x="4463038" y="3804989"/>
            <a:ext cx="553194" cy="157662"/>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4" name="四角形: 角を丸くする 73">
            <a:extLst>
              <a:ext uri="{FF2B5EF4-FFF2-40B4-BE49-F238E27FC236}">
                <a16:creationId xmlns:a16="http://schemas.microsoft.com/office/drawing/2014/main" id="{274B776C-43C4-BF4B-D515-3936FEF9A311}"/>
              </a:ext>
            </a:extLst>
          </p:cNvPr>
          <p:cNvSpPr/>
          <p:nvPr/>
        </p:nvSpPr>
        <p:spPr>
          <a:xfrm>
            <a:off x="5316588" y="3918818"/>
            <a:ext cx="457185"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6" name="四角形: 角を丸くする 75">
            <a:extLst>
              <a:ext uri="{FF2B5EF4-FFF2-40B4-BE49-F238E27FC236}">
                <a16:creationId xmlns:a16="http://schemas.microsoft.com/office/drawing/2014/main" id="{B2D4B08C-C84E-469A-026B-007FEE6A3E36}"/>
              </a:ext>
            </a:extLst>
          </p:cNvPr>
          <p:cNvSpPr/>
          <p:nvPr/>
        </p:nvSpPr>
        <p:spPr>
          <a:xfrm>
            <a:off x="3971955" y="4167009"/>
            <a:ext cx="890923"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78" name="四角形: 角を丸くする 77">
            <a:extLst>
              <a:ext uri="{FF2B5EF4-FFF2-40B4-BE49-F238E27FC236}">
                <a16:creationId xmlns:a16="http://schemas.microsoft.com/office/drawing/2014/main" id="{C53772F0-3BB7-8E79-11E8-98DCF1A338B2}"/>
              </a:ext>
            </a:extLst>
          </p:cNvPr>
          <p:cNvSpPr/>
          <p:nvPr/>
        </p:nvSpPr>
        <p:spPr>
          <a:xfrm>
            <a:off x="3383059" y="4197486"/>
            <a:ext cx="736300"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2" name="四角形: 角を丸くする 81">
            <a:extLst>
              <a:ext uri="{FF2B5EF4-FFF2-40B4-BE49-F238E27FC236}">
                <a16:creationId xmlns:a16="http://schemas.microsoft.com/office/drawing/2014/main" id="{F773CD31-6F20-2F39-75BB-982E75BC9308}"/>
              </a:ext>
            </a:extLst>
          </p:cNvPr>
          <p:cNvSpPr/>
          <p:nvPr/>
        </p:nvSpPr>
        <p:spPr>
          <a:xfrm>
            <a:off x="1740722" y="3727219"/>
            <a:ext cx="415623"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 name="四角形: 角を丸くする 83">
            <a:extLst>
              <a:ext uri="{FF2B5EF4-FFF2-40B4-BE49-F238E27FC236}">
                <a16:creationId xmlns:a16="http://schemas.microsoft.com/office/drawing/2014/main" id="{E90BB2AB-9346-DC6C-E389-B8F8CE686160}"/>
              </a:ext>
            </a:extLst>
          </p:cNvPr>
          <p:cNvSpPr/>
          <p:nvPr/>
        </p:nvSpPr>
        <p:spPr>
          <a:xfrm>
            <a:off x="2862243" y="4158299"/>
            <a:ext cx="502904"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6" name="四角形: 角を丸くする 85">
            <a:extLst>
              <a:ext uri="{FF2B5EF4-FFF2-40B4-BE49-F238E27FC236}">
                <a16:creationId xmlns:a16="http://schemas.microsoft.com/office/drawing/2014/main" id="{85AAED8F-BD7A-2734-3A6D-61F10B4A3362}"/>
              </a:ext>
            </a:extLst>
          </p:cNvPr>
          <p:cNvSpPr/>
          <p:nvPr/>
        </p:nvSpPr>
        <p:spPr>
          <a:xfrm>
            <a:off x="1804621" y="4098184"/>
            <a:ext cx="608513"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8" name="四角形: 角を丸くする 87">
            <a:extLst>
              <a:ext uri="{FF2B5EF4-FFF2-40B4-BE49-F238E27FC236}">
                <a16:creationId xmlns:a16="http://schemas.microsoft.com/office/drawing/2014/main" id="{085C1039-F2FB-3964-D12E-692576871613}"/>
              </a:ext>
            </a:extLst>
          </p:cNvPr>
          <p:cNvSpPr/>
          <p:nvPr/>
        </p:nvSpPr>
        <p:spPr>
          <a:xfrm>
            <a:off x="7984353" y="4098233"/>
            <a:ext cx="55319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4" name="四角形: 角を丸くする 93">
            <a:extLst>
              <a:ext uri="{FF2B5EF4-FFF2-40B4-BE49-F238E27FC236}">
                <a16:creationId xmlns:a16="http://schemas.microsoft.com/office/drawing/2014/main" id="{87D4468C-52E6-377D-98D1-FD396B7C9B18}"/>
              </a:ext>
            </a:extLst>
          </p:cNvPr>
          <p:cNvSpPr/>
          <p:nvPr/>
        </p:nvSpPr>
        <p:spPr>
          <a:xfrm>
            <a:off x="6045813" y="3830673"/>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6" name="四角形: 角を丸くする 95">
            <a:extLst>
              <a:ext uri="{FF2B5EF4-FFF2-40B4-BE49-F238E27FC236}">
                <a16:creationId xmlns:a16="http://schemas.microsoft.com/office/drawing/2014/main" id="{6921371D-5EC0-ECE3-523B-73EE66717EB2}"/>
              </a:ext>
            </a:extLst>
          </p:cNvPr>
          <p:cNvSpPr/>
          <p:nvPr/>
        </p:nvSpPr>
        <p:spPr>
          <a:xfrm>
            <a:off x="7446853" y="3521517"/>
            <a:ext cx="1078017"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98" name="四角形: 角を丸くする 97">
            <a:extLst>
              <a:ext uri="{FF2B5EF4-FFF2-40B4-BE49-F238E27FC236}">
                <a16:creationId xmlns:a16="http://schemas.microsoft.com/office/drawing/2014/main" id="{6B2DEE3C-A408-CA59-4B79-56049471CD26}"/>
              </a:ext>
            </a:extLst>
          </p:cNvPr>
          <p:cNvSpPr/>
          <p:nvPr/>
        </p:nvSpPr>
        <p:spPr>
          <a:xfrm>
            <a:off x="5577992" y="2672927"/>
            <a:ext cx="553194"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0" name="四角形: 角を丸くする 99">
            <a:extLst>
              <a:ext uri="{FF2B5EF4-FFF2-40B4-BE49-F238E27FC236}">
                <a16:creationId xmlns:a16="http://schemas.microsoft.com/office/drawing/2014/main" id="{4DA9B7F2-14AB-A31A-83DF-58AA0BEBD3A6}"/>
              </a:ext>
            </a:extLst>
          </p:cNvPr>
          <p:cNvSpPr/>
          <p:nvPr/>
        </p:nvSpPr>
        <p:spPr>
          <a:xfrm>
            <a:off x="5062087" y="2555357"/>
            <a:ext cx="80993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2" name="四角形: 角を丸くする 101">
            <a:extLst>
              <a:ext uri="{FF2B5EF4-FFF2-40B4-BE49-F238E27FC236}">
                <a16:creationId xmlns:a16="http://schemas.microsoft.com/office/drawing/2014/main" id="{3F7504E5-2FCA-01BD-9B0E-9DFAD4C7635E}"/>
              </a:ext>
            </a:extLst>
          </p:cNvPr>
          <p:cNvSpPr/>
          <p:nvPr/>
        </p:nvSpPr>
        <p:spPr>
          <a:xfrm>
            <a:off x="3590899" y="2516164"/>
            <a:ext cx="608513"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4" name="四角形: 角を丸くする 103">
            <a:extLst>
              <a:ext uri="{FF2B5EF4-FFF2-40B4-BE49-F238E27FC236}">
                <a16:creationId xmlns:a16="http://schemas.microsoft.com/office/drawing/2014/main" id="{95A219E3-41EC-50A7-7446-2E4ABD01E9F3}"/>
              </a:ext>
            </a:extLst>
          </p:cNvPr>
          <p:cNvSpPr/>
          <p:nvPr/>
        </p:nvSpPr>
        <p:spPr>
          <a:xfrm>
            <a:off x="1542504" y="2853431"/>
            <a:ext cx="608513"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6" name="四角形: 角を丸くする 105">
            <a:extLst>
              <a:ext uri="{FF2B5EF4-FFF2-40B4-BE49-F238E27FC236}">
                <a16:creationId xmlns:a16="http://schemas.microsoft.com/office/drawing/2014/main" id="{F3624444-0D6C-BD68-67B8-55670D50C75E}"/>
              </a:ext>
            </a:extLst>
          </p:cNvPr>
          <p:cNvSpPr/>
          <p:nvPr/>
        </p:nvSpPr>
        <p:spPr>
          <a:xfrm>
            <a:off x="1695588" y="3231910"/>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08" name="四角形: 角を丸くする 107">
            <a:extLst>
              <a:ext uri="{FF2B5EF4-FFF2-40B4-BE49-F238E27FC236}">
                <a16:creationId xmlns:a16="http://schemas.microsoft.com/office/drawing/2014/main" id="{6502B050-A367-1A6D-7580-BC62D29FF91C}"/>
              </a:ext>
            </a:extLst>
          </p:cNvPr>
          <p:cNvSpPr/>
          <p:nvPr/>
        </p:nvSpPr>
        <p:spPr>
          <a:xfrm>
            <a:off x="1758140" y="2549381"/>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0" name="四角形: 角を丸くする 109">
            <a:extLst>
              <a:ext uri="{FF2B5EF4-FFF2-40B4-BE49-F238E27FC236}">
                <a16:creationId xmlns:a16="http://schemas.microsoft.com/office/drawing/2014/main" id="{04F5B1B6-DEB4-4B69-CD26-2AA814565860}"/>
              </a:ext>
            </a:extLst>
          </p:cNvPr>
          <p:cNvSpPr/>
          <p:nvPr/>
        </p:nvSpPr>
        <p:spPr>
          <a:xfrm>
            <a:off x="2614351" y="3956255"/>
            <a:ext cx="736300"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2" name="四角形: 角を丸くする 111">
            <a:extLst>
              <a:ext uri="{FF2B5EF4-FFF2-40B4-BE49-F238E27FC236}">
                <a16:creationId xmlns:a16="http://schemas.microsoft.com/office/drawing/2014/main" id="{F92D2FDF-6DDA-5BA0-0C71-583A6458356B}"/>
              </a:ext>
            </a:extLst>
          </p:cNvPr>
          <p:cNvSpPr/>
          <p:nvPr/>
        </p:nvSpPr>
        <p:spPr>
          <a:xfrm>
            <a:off x="1865086" y="3919607"/>
            <a:ext cx="669364"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4" name="四角形: 角を丸くする 113">
            <a:extLst>
              <a:ext uri="{FF2B5EF4-FFF2-40B4-BE49-F238E27FC236}">
                <a16:creationId xmlns:a16="http://schemas.microsoft.com/office/drawing/2014/main" id="{A448B366-4994-ECE7-9724-1241FAAF6264}"/>
              </a:ext>
            </a:extLst>
          </p:cNvPr>
          <p:cNvSpPr/>
          <p:nvPr/>
        </p:nvSpPr>
        <p:spPr>
          <a:xfrm>
            <a:off x="3654938" y="3958214"/>
            <a:ext cx="980015"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6" name="四角形: 角を丸くする 115">
            <a:extLst>
              <a:ext uri="{FF2B5EF4-FFF2-40B4-BE49-F238E27FC236}">
                <a16:creationId xmlns:a16="http://schemas.microsoft.com/office/drawing/2014/main" id="{94C98C72-EB55-BD98-B947-243B81594981}"/>
              </a:ext>
            </a:extLst>
          </p:cNvPr>
          <p:cNvSpPr/>
          <p:nvPr/>
        </p:nvSpPr>
        <p:spPr>
          <a:xfrm>
            <a:off x="5682996" y="4353207"/>
            <a:ext cx="669364"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18" name="四角形: 角を丸くする 117">
            <a:extLst>
              <a:ext uri="{FF2B5EF4-FFF2-40B4-BE49-F238E27FC236}">
                <a16:creationId xmlns:a16="http://schemas.microsoft.com/office/drawing/2014/main" id="{6DBA42D8-5D56-7192-6C19-14E582648D33}"/>
              </a:ext>
            </a:extLst>
          </p:cNvPr>
          <p:cNvSpPr/>
          <p:nvPr/>
        </p:nvSpPr>
        <p:spPr>
          <a:xfrm>
            <a:off x="4662685" y="4386297"/>
            <a:ext cx="834471"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20" name="四角形: 角を丸くする 119">
            <a:extLst>
              <a:ext uri="{FF2B5EF4-FFF2-40B4-BE49-F238E27FC236}">
                <a16:creationId xmlns:a16="http://schemas.microsoft.com/office/drawing/2014/main" id="{4680D4B4-3371-1944-FA8C-C4C580D762ED}"/>
              </a:ext>
            </a:extLst>
          </p:cNvPr>
          <p:cNvSpPr/>
          <p:nvPr/>
        </p:nvSpPr>
        <p:spPr>
          <a:xfrm>
            <a:off x="1909513" y="4227760"/>
            <a:ext cx="377839"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22" name="四角形: 角を丸くする 121">
            <a:extLst>
              <a:ext uri="{FF2B5EF4-FFF2-40B4-BE49-F238E27FC236}">
                <a16:creationId xmlns:a16="http://schemas.microsoft.com/office/drawing/2014/main" id="{073AD34A-1FC3-3888-7042-B204A25338B1}"/>
              </a:ext>
            </a:extLst>
          </p:cNvPr>
          <p:cNvSpPr/>
          <p:nvPr/>
        </p:nvSpPr>
        <p:spPr>
          <a:xfrm>
            <a:off x="2965444" y="4791480"/>
            <a:ext cx="809930"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24" name="四角形: 角を丸くする 123">
            <a:extLst>
              <a:ext uri="{FF2B5EF4-FFF2-40B4-BE49-F238E27FC236}">
                <a16:creationId xmlns:a16="http://schemas.microsoft.com/office/drawing/2014/main" id="{C7A02EEE-BA8F-C84B-B718-EA1A5AF8BDEC}"/>
              </a:ext>
            </a:extLst>
          </p:cNvPr>
          <p:cNvSpPr/>
          <p:nvPr/>
        </p:nvSpPr>
        <p:spPr>
          <a:xfrm>
            <a:off x="1918035" y="4517155"/>
            <a:ext cx="736300"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26" name="四角形: 角を丸くする 125">
            <a:extLst>
              <a:ext uri="{FF2B5EF4-FFF2-40B4-BE49-F238E27FC236}">
                <a16:creationId xmlns:a16="http://schemas.microsoft.com/office/drawing/2014/main" id="{6905F173-FF68-6419-8174-8603C797597E}"/>
              </a:ext>
            </a:extLst>
          </p:cNvPr>
          <p:cNvSpPr/>
          <p:nvPr/>
        </p:nvSpPr>
        <p:spPr>
          <a:xfrm>
            <a:off x="7647520" y="4695678"/>
            <a:ext cx="415623" cy="130299"/>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30" name="四角形: 角を丸くする 129">
            <a:extLst>
              <a:ext uri="{FF2B5EF4-FFF2-40B4-BE49-F238E27FC236}">
                <a16:creationId xmlns:a16="http://schemas.microsoft.com/office/drawing/2014/main" id="{A5440DF1-C28E-A121-1E2B-5AA1AA53366D}"/>
              </a:ext>
            </a:extLst>
          </p:cNvPr>
          <p:cNvSpPr/>
          <p:nvPr/>
        </p:nvSpPr>
        <p:spPr>
          <a:xfrm>
            <a:off x="8097002" y="4674691"/>
            <a:ext cx="377839" cy="157662"/>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32" name="四角形: 角を丸くする 131">
            <a:extLst>
              <a:ext uri="{FF2B5EF4-FFF2-40B4-BE49-F238E27FC236}">
                <a16:creationId xmlns:a16="http://schemas.microsoft.com/office/drawing/2014/main" id="{E9A6C7CC-926C-755E-4A5B-7793867AD2B8}"/>
              </a:ext>
            </a:extLst>
          </p:cNvPr>
          <p:cNvSpPr/>
          <p:nvPr/>
        </p:nvSpPr>
        <p:spPr>
          <a:xfrm>
            <a:off x="7960281" y="4840033"/>
            <a:ext cx="502904" cy="130299"/>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ja-JP" altLang="en-US" sz="1200" dirty="0"/>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「家 売る」「マンション 売却」</a:t>
            </a:r>
          </a:p>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「相続登記」「住宅ローン」</a:t>
            </a:r>
          </a:p>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→教育テーマ「なぜ今が売り時か」へ変換</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「不動産売却」「不動産査定」</a:t>
            </a:r>
          </a:p>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検索ボリューム急増</a:t>
            </a:r>
          </a:p>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pPr>
            <a:endPar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endParaRP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C8102E"/>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sym typeface="Arial"/>
              </a:rPr>
              <a:t>検索「後」クエリ（</a:t>
            </a:r>
            <a:r>
              <a:rPr kumimoji="0" lang="en-US" altLang="ja-JP"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sym typeface="Arial"/>
              </a:rPr>
              <a:t>1〜15</a:t>
            </a: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sym typeface="Arial"/>
              </a:rPr>
              <a:t>日</a:t>
            </a:r>
            <a:r>
              <a:rPr kumimoji="0" lang="en-US" altLang="ja-JP"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sym typeface="Arial"/>
              </a:rPr>
              <a:t>〜</a:t>
            </a: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marR="0" lvl="0" indent="-171450" algn="l" defTabSz="914400" rtl="0" eaLnBrk="1" fontAlgn="auto" latinLnBrk="0" hangingPunct="1">
              <a:lnSpc>
                <a:spcPct val="100000"/>
              </a:lnSpc>
              <a:spcBef>
                <a:spcPts val="200"/>
              </a:spcBef>
              <a:spcAft>
                <a:spcPts val="0"/>
              </a:spcAft>
              <a:buClr>
                <a:srgbClr val="C8102E"/>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「不動産売却 税金」「仲介手数料」</a:t>
            </a:r>
          </a:p>
          <a:p>
            <a:pPr marL="171450" marR="0" lvl="0" indent="-171450" algn="l" defTabSz="914400" rtl="0" eaLnBrk="1" fontAlgn="auto" latinLnBrk="0" hangingPunct="1">
              <a:lnSpc>
                <a:spcPct val="100000"/>
              </a:lnSpc>
              <a:spcBef>
                <a:spcPts val="200"/>
              </a:spcBef>
              <a:spcAft>
                <a:spcPts val="0"/>
              </a:spcAft>
              <a:buClr>
                <a:srgbClr val="C8102E"/>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「専任媒介契約」「各社 評判」</a:t>
            </a:r>
          </a:p>
          <a:p>
            <a:pPr marL="171450" marR="0" lvl="0" indent="-171450" algn="l" defTabSz="914400" rtl="0" eaLnBrk="1" fontAlgn="auto" latinLnBrk="0" hangingPunct="1">
              <a:lnSpc>
                <a:spcPct val="100000"/>
              </a:lnSpc>
              <a:spcBef>
                <a:spcPts val="200"/>
              </a:spcBef>
              <a:spcAft>
                <a:spcPts val="0"/>
              </a:spcAft>
              <a:buClr>
                <a:srgbClr val="C8102E"/>
              </a:buClr>
              <a:buSzTx/>
              <a:buFont typeface="Arial"/>
              <a:buChar char="•"/>
              <a:tabLst/>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a:t>
            </a:r>
            <a:r>
              <a:rPr kumimoji="0" lang="en-US" altLang="ja-JP"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15〜30</a:t>
            </a: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sym typeface="Arial"/>
              </a:rPr>
              <a:t>日ステップ配信テーマへ変換</a:t>
            </a:r>
          </a:p>
        </p:txBody>
      </p:sp>
      <p:sp>
        <p:nvSpPr>
          <p:cNvPr id="19" name="TextBox 109">
            <a:extLst>
              <a:ext uri="{FF2B5EF4-FFF2-40B4-BE49-F238E27FC236}">
                <a16:creationId xmlns:a16="http://schemas.microsoft.com/office/drawing/2014/main" id="{6CE014AF-FFE4-7B71-31D6-C1EBB4E5A78D}"/>
              </a:ext>
            </a:extLst>
          </p:cNvPr>
          <p:cNvSpPr txBox="1"/>
          <p:nvPr/>
        </p:nvSpPr>
        <p:spPr>
          <a:xfrm>
            <a:off x="2499360" y="3429000"/>
            <a:ext cx="7154091" cy="246221"/>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000" b="1" dirty="0">
                <a:solidFill>
                  <a:srgbClr val="5A6378"/>
                </a:solidFill>
                <a:latin typeface="メイリオ" panose="020B0604030504040204" pitchFamily="50" charset="-128"/>
                <a:ea typeface="メイリオ" panose="020B0604030504040204" pitchFamily="50" charset="-128"/>
              </a:rPr>
              <a:t>※繁忙期（1〜3月／9〜10月）の1ヶ月前（12月・8月）より先行して「早割・査定事前相談キャンペーン」をLINE配信</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ja-JP" altLang="en-US" sz="1200" dirty="0"/>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Meiryo"/>
                <a:ea typeface="Meiryo"/>
                <a:cs typeface="Meiryo"/>
                <a:sym typeface="Meiryo"/>
              </a:rPr>
              <a:t>⇨ステップ配信がスタート。</a:t>
            </a:r>
            <a:endParaRPr lang="ja-JP" altLang="en-US" sz="1200" dirty="0"/>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Times New Roman"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Times New Roman"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Times New Roman" panose="02020603050405020304" pitchFamily="18" charset="0"/>
              <a:ea typeface="游明朝" panose="02020400000000000000" pitchFamily="18" charset="-128"/>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ニーズ調査（業界</a:t>
            </a:r>
            <a:r>
              <a:rPr lang="en-US" altLang="ja-JP" sz="1600" b="1" dirty="0">
                <a:solidFill>
                  <a:srgbClr val="002060"/>
                </a:solidFill>
                <a:latin typeface="Meiryo"/>
                <a:ea typeface="Meiryo"/>
                <a:cs typeface="Meiryo"/>
                <a:sym typeface="Meiryo"/>
              </a:rPr>
              <a:t>STUDY</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771525" y="6049228"/>
            <a:ext cx="4681081" cy="230832"/>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rPr>
              <a:t>※ https://prtimes.jp/main/html/rd/p/000000068.000014788.html</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より</a:t>
            </a:r>
            <a:endParaRPr lang="ja-JP" altLang="en-US" sz="1400" dirty="0">
              <a:solidFill>
                <a:schemeClr val="bg1">
                  <a:lumMod val="65000"/>
                </a:schemeClr>
              </a:solidFill>
            </a:endParaRPr>
          </a:p>
        </p:txBody>
      </p:sp>
      <p:sp>
        <p:nvSpPr>
          <p:cNvPr id="10" name="テキスト ボックス 9">
            <a:extLst>
              <a:ext uri="{FF2B5EF4-FFF2-40B4-BE49-F238E27FC236}">
                <a16:creationId xmlns:a16="http://schemas.microsoft.com/office/drawing/2014/main" id="{0285F56B-947A-7B70-20FA-F7E4DEEED107}"/>
              </a:ext>
            </a:extLst>
          </p:cNvPr>
          <p:cNvSpPr txBox="1"/>
          <p:nvPr/>
        </p:nvSpPr>
        <p:spPr>
          <a:xfrm>
            <a:off x="6196148" y="6049228"/>
            <a:ext cx="3253606" cy="230832"/>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rPr>
              <a:t>※ https://sumai-step.com/column/article/34113/</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より</a:t>
            </a:r>
            <a:endParaRPr lang="ja-JP" altLang="en-US" sz="1400" dirty="0">
              <a:solidFill>
                <a:schemeClr val="bg1">
                  <a:lumMod val="65000"/>
                </a:schemeClr>
              </a:solidFill>
            </a:endParaRPr>
          </a:p>
        </p:txBody>
      </p:sp>
      <p:pic>
        <p:nvPicPr>
          <p:cNvPr id="9" name="図 8" descr="アンケート調査結果】不動産売却における不動産会社の決め手 | 株式会社Speeeのプレスリリース">
            <a:extLst>
              <a:ext uri="{FF2B5EF4-FFF2-40B4-BE49-F238E27FC236}">
                <a16:creationId xmlns:a16="http://schemas.microsoft.com/office/drawing/2014/main" id="{075FEB56-F485-4B0A-706C-CDC727A8200B}"/>
              </a:ext>
            </a:extLst>
          </p:cNvPr>
          <p:cNvPicPr>
            <a:picLocks noChangeAspect="1"/>
          </p:cNvPicPr>
          <p:nvPr/>
        </p:nvPicPr>
        <p:blipFill>
          <a:blip r:embed="rId3"/>
          <a:stretch>
            <a:fillRect/>
          </a:stretch>
        </p:blipFill>
        <p:spPr>
          <a:xfrm>
            <a:off x="642938" y="3538812"/>
            <a:ext cx="4809668" cy="2308641"/>
          </a:xfrm>
          <a:prstGeom prst="rect">
            <a:avLst/>
          </a:prstGeom>
        </p:spPr>
      </p:pic>
      <p:pic>
        <p:nvPicPr>
          <p:cNvPr id="16" name="図 15" descr="不動産売却に関するアンケート』の調査結果│安心の不動産売却・査定なら「すまいステップ」">
            <a:extLst>
              <a:ext uri="{FF2B5EF4-FFF2-40B4-BE49-F238E27FC236}">
                <a16:creationId xmlns:a16="http://schemas.microsoft.com/office/drawing/2014/main" id="{21A2E055-AAE7-F6D2-398A-D4BB49D2311E}"/>
              </a:ext>
            </a:extLst>
          </p:cNvPr>
          <p:cNvPicPr>
            <a:picLocks noChangeAspect="1"/>
          </p:cNvPicPr>
          <p:nvPr/>
        </p:nvPicPr>
        <p:blipFill>
          <a:blip r:embed="rId4"/>
          <a:stretch>
            <a:fillRect/>
          </a:stretch>
        </p:blipFill>
        <p:spPr>
          <a:xfrm>
            <a:off x="5638800" y="3538812"/>
            <a:ext cx="3571875" cy="2009775"/>
          </a:xfrm>
          <a:prstGeom prst="rect">
            <a:avLst/>
          </a:prstGeom>
        </p:spPr>
      </p:pic>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rPr>
              <a:t>心理的ハードル</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「しつこい電話営業をされそう」という警戒感</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「売却を強制されそう」という不安</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rPr>
              <a:t>金銭的ハードル</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仲介手数料の負担が不透明</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譲渡所得税・解体費など諸費用への懸念</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rPr>
              <a:t>手続き・検討ハードル</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相続手続き・名義変更の専門知識不足</a:t>
            </a: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住宅ローン残債処理への不安</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完全匿名・電話番号不要の「10秒AI相場診断」</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営業電話なしで概算相場のみ確認できる訴求</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LINE限定「売却手取り額＆特別控除チェック」</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税金・手数料を自動計算し手元資金を可視化</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売却理由別（住替え/相続/処分）フローチャート</a:t>
            </a:r>
          </a:p>
          <a:p>
            <a:pPr marL="171450" indent="-171450">
              <a:spcBef>
                <a:spcPts val="200"/>
              </a:spcBef>
              <a:buClr>
                <a:srgbClr val="C8102E"/>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rPr>
              <a:t>「次にやるべき1ステップ」を明確化</a:t>
            </a:r>
          </a:p>
          <a:p>
            <a:pPr marL="171450" indent="-171450">
              <a:spcBef>
                <a:spcPts val="200"/>
              </a:spcBef>
              <a:buClr>
                <a:srgbClr val="C8102E"/>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ニーズ調査（業界</a:t>
            </a:r>
            <a:r>
              <a:rPr lang="en-US" altLang="ja-JP" sz="1600" b="1" dirty="0">
                <a:solidFill>
                  <a:srgbClr val="002060"/>
                </a:solidFill>
                <a:latin typeface="Meiryo"/>
                <a:ea typeface="Meiryo"/>
                <a:cs typeface="Meiryo"/>
                <a:sym typeface="Meiryo"/>
              </a:rPr>
              <a:t>STUDY</a:t>
            </a:r>
            <a:r>
              <a:rPr lang="ja-JP" altLang="en-US" sz="1600" b="1" dirty="0">
                <a:solidFill>
                  <a:srgbClr val="002060"/>
                </a:solidFill>
                <a:latin typeface="Meiryo"/>
                <a:ea typeface="Meiryo"/>
                <a:cs typeface="Meiryo"/>
                <a:sym typeface="Meiryo"/>
              </a:rPr>
              <a:t>）　＞　貴社施策内で検討の訴求軸</a:t>
            </a:r>
            <a:endParaRPr sz="1600" b="1" dirty="0">
              <a:solidFill>
                <a:srgbClr val="002060"/>
              </a:solidFill>
              <a:latin typeface="Meiryo"/>
              <a:ea typeface="Meiryo"/>
              <a:cs typeface="Meiryo"/>
              <a:sym typeface="Meiryo"/>
            </a:endParaRPr>
          </a:p>
        </p:txBody>
      </p:sp>
      <p:pic>
        <p:nvPicPr>
          <p:cNvPr id="4" name="図 3" descr="不動産売却経験者にアンケート調査！】売却時に重要視したことは？ | クラモア">
            <a:extLst>
              <a:ext uri="{FF2B5EF4-FFF2-40B4-BE49-F238E27FC236}">
                <a16:creationId xmlns:a16="http://schemas.microsoft.com/office/drawing/2014/main" id="{6AA137B2-C270-5AF8-4892-0CEB9AA5822B}"/>
              </a:ext>
            </a:extLst>
          </p:cNvPr>
          <p:cNvPicPr>
            <a:picLocks noChangeAspect="1"/>
          </p:cNvPicPr>
          <p:nvPr/>
        </p:nvPicPr>
        <p:blipFill>
          <a:blip r:embed="rId3"/>
          <a:stretch>
            <a:fillRect/>
          </a:stretch>
        </p:blipFill>
        <p:spPr>
          <a:xfrm>
            <a:off x="780858" y="2265155"/>
            <a:ext cx="3729442" cy="3871161"/>
          </a:xfrm>
          <a:prstGeom prst="rect">
            <a:avLst/>
          </a:prstGeom>
        </p:spPr>
      </p:pic>
      <p:pic>
        <p:nvPicPr>
          <p:cNvPr id="6" name="図 5" descr="不動産売却経験者にアンケート調査！】売却時に重要視したことは？ | クラモア">
            <a:extLst>
              <a:ext uri="{FF2B5EF4-FFF2-40B4-BE49-F238E27FC236}">
                <a16:creationId xmlns:a16="http://schemas.microsoft.com/office/drawing/2014/main" id="{DF228945-5E7B-524A-0E85-BB100AB9C256}"/>
              </a:ext>
            </a:extLst>
          </p:cNvPr>
          <p:cNvPicPr>
            <a:picLocks noChangeAspect="1"/>
          </p:cNvPicPr>
          <p:nvPr/>
        </p:nvPicPr>
        <p:blipFill>
          <a:blip r:embed="rId4"/>
          <a:stretch>
            <a:fillRect/>
          </a:stretch>
        </p:blipFill>
        <p:spPr>
          <a:xfrm>
            <a:off x="4798501" y="2265155"/>
            <a:ext cx="3924496" cy="2931599"/>
          </a:xfrm>
          <a:prstGeom prst="rect">
            <a:avLst/>
          </a:prstGeom>
        </p:spPr>
      </p:pic>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rPr>
              <a:t>独自性・信頼性</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三井住友トラストグループの圧倒的ブランド力</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コンプライアンス体制による安心感</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rPr>
              <a:t>実績</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契約実績5年連続No.1</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（信託銀行系不動産仲介会社）</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rPr>
              <a:t>トータルサポート</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売却だけでなく相続・税金対応も一括</a:t>
            </a: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資金計画・住み替えまでワンストップ</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1183003" y="6049228"/>
            <a:ext cx="3253606" cy="230832"/>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rPr>
              <a:t>※ https://kuramore.jp/article/930/</a:t>
            </a:r>
            <a:r>
              <a:rPr lang="ja-JP" altLang="en-US" sz="900" b="1" dirty="0">
                <a:solidFill>
                  <a:schemeClr val="bg1">
                    <a:lumMod val="65000"/>
                  </a:schemeClr>
                </a:solidFill>
                <a:latin typeface="メイリオ" panose="020B0604030504040204" pitchFamily="50" charset="-128"/>
                <a:ea typeface="メイリオ" panose="020B0604030504040204" pitchFamily="50" charset="-128"/>
              </a:rPr>
              <a:t>より</a:t>
            </a:r>
            <a:endParaRPr lang="ja-JP" altLang="en-US" sz="1400" b="1" dirty="0">
              <a:solidFill>
                <a:schemeClr val="bg1">
                  <a:lumMod val="65000"/>
                </a:schemeClr>
              </a:solidFill>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6196148" y="6049228"/>
            <a:ext cx="3253606" cy="230832"/>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rPr>
              <a:t>※ https://kuramore.jp/article/930/</a:t>
            </a:r>
            <a:r>
              <a:rPr lang="ja-JP" altLang="en-US" sz="900" b="1" dirty="0">
                <a:solidFill>
                  <a:schemeClr val="bg1">
                    <a:lumMod val="65000"/>
                  </a:schemeClr>
                </a:solidFill>
                <a:latin typeface="メイリオ" panose="020B0604030504040204" pitchFamily="50" charset="-128"/>
                <a:ea typeface="メイリオ" panose="020B0604030504040204" pitchFamily="50" charset="-128"/>
              </a:rPr>
              <a:t>より</a:t>
            </a:r>
            <a:endParaRPr lang="ja-JP" altLang="en-US" sz="1400" b="1" dirty="0">
              <a:solidFill>
                <a:schemeClr val="bg1">
                  <a:lumMod val="65000"/>
                </a:schemeClr>
              </a:solidFill>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b="1" dirty="0">
                <a:solidFill>
                  <a:srgbClr val="333333"/>
                </a:solidFill>
                <a:latin typeface="メイリオ"/>
                <a:ea typeface="メイリオ"/>
              </a:rPr>
              <a:t>LINE</a:t>
            </a:r>
            <a:r>
              <a:rPr lang="en-US" altLang="ja-JP" b="1" dirty="0">
                <a:solidFill>
                  <a:srgbClr val="333333"/>
                </a:solidFill>
                <a:latin typeface="メイリオ"/>
                <a:ea typeface="メイリオ"/>
              </a:rPr>
              <a:t>OA</a:t>
            </a:r>
            <a:r>
              <a:rPr lang="ja-JP" altLang="en-US" b="1" dirty="0">
                <a:solidFill>
                  <a:srgbClr val="333333"/>
                </a:solidFill>
                <a:latin typeface="メイリオ"/>
                <a:ea typeface="メイリオ"/>
              </a:rPr>
              <a:t> を軸にした「リード獲得→育成→活性化」設計で広告投資効果を最大化</a:t>
            </a:r>
            <a:endPar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・前後検索クエリ（実際の検索ニーズ推移）に対応したステップ構築</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弊社の豊富な実績や市場調査を活かし、正確なターゲット層の抽出、獲得の伸びる媒体の選定</a:t>
            </a:r>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・アンケート構造を活用したセグメント構築</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多様化するニーズに合わせてアンケート動線を活用し、ニーズ別配信を実現。</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・友だち追加動線の整備による「長期追いリスト」の拡大</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施策として</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・過去リード獲得情報を活用した再活性化配信の構築</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過去リード情報を保有している場合（電話番号にて）、該当リストを活用した配信が可能に。</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・サンクスページ到達ユーザーに対しての施策追加</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通知メッセージ</a:t>
            </a:r>
            <a:r>
              <a:rPr lang="en-US" altLang="ja-JP"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or</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サンクス</a:t>
            </a:r>
            <a:r>
              <a:rPr lang="en-US" altLang="ja-JP"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rPr>
              <a:t>半年で有効友だち数9,254件・LINE経由CV</a:t>
            </a:r>
            <a:r>
              <a:rPr lang="en-US" altLang="ja-JP" sz="1400" b="1" dirty="0">
                <a:solidFill>
                  <a:srgbClr val="1F2A5C"/>
                </a:solidFill>
                <a:latin typeface="メイリオ" panose="020B0604030504040204" pitchFamily="50" charset="-128"/>
                <a:ea typeface="メイリオ" panose="020B0604030504040204" pitchFamily="50" charset="-128"/>
              </a:rPr>
              <a:t>70</a:t>
            </a:r>
            <a:r>
              <a:rPr lang="ja-JP" sz="1400" b="1" dirty="0">
                <a:solidFill>
                  <a:srgbClr val="1F2A5C"/>
                </a:solidFill>
                <a:latin typeface="メイリオ" panose="020B0604030504040204" pitchFamily="50" charset="-128"/>
                <a:ea typeface="メイリオ" panose="020B0604030504040204" pitchFamily="50" charset="-128"/>
              </a:rPr>
              <a:t>件を見込む。休眠リード5.5万件を含む全顧客接点を</a:t>
            </a:r>
            <a:endParaRPr lang="en-US" altLang="ja-JP" sz="1400" b="1" dirty="0">
              <a:solidFill>
                <a:srgbClr val="1F2A5C"/>
              </a:solidFill>
              <a:latin typeface="メイリオ" panose="020B0604030504040204" pitchFamily="50" charset="-128"/>
              <a:ea typeface="メイリオ" panose="020B0604030504040204" pitchFamily="50" charset="-128"/>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rPr>
              <a:t>LINE上で</a:t>
            </a:r>
            <a:r>
              <a:rPr lang="ja-JP" altLang="en-US" sz="1400" b="1">
                <a:solidFill>
                  <a:srgbClr val="1F2A5C"/>
                </a:solidFill>
                <a:latin typeface="メイリオ" panose="020B0604030504040204" pitchFamily="50" charset="-128"/>
                <a:ea typeface="メイリオ" panose="020B0604030504040204" pitchFamily="50" charset="-128"/>
              </a:rPr>
              <a:t>も追加</a:t>
            </a:r>
            <a:r>
              <a:rPr lang="ja-JP" sz="1400" b="1">
                <a:solidFill>
                  <a:srgbClr val="1F2A5C"/>
                </a:solidFill>
                <a:latin typeface="メイリオ" panose="020B0604030504040204" pitchFamily="50" charset="-128"/>
                <a:ea typeface="メイリオ" panose="020B0604030504040204" pitchFamily="50" charset="-128"/>
              </a:rPr>
              <a:t>し</a:t>
            </a:r>
            <a:r>
              <a:rPr lang="ja-JP" sz="1400" b="1" dirty="0">
                <a:solidFill>
                  <a:srgbClr val="1F2A5C"/>
                </a:solidFill>
                <a:latin typeface="メイリオ" panose="020B0604030504040204" pitchFamily="50" charset="-128"/>
                <a:ea typeface="メイリオ" panose="020B0604030504040204" pitchFamily="50" charset="-128"/>
              </a:rPr>
              <a:t>、CPAを抑制しながら査定・成約への導線を強化する。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rPr>
              <a:t>補足ポイント</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rPr>
              <a:t>01 友だち基盤の急速構築</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rPr>
              <a:t>離脱防止ポップアップ＋通知メッセージで半年後に9,254件の有効友だちを獲得。</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rPr>
              <a:t>02 査定移行率の向上</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rPr>
              <a:t>売却理由別ナーチャリングにより追加CV293件を創出。</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C8102E"/>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C8102E"/>
                </a:solidFill>
                <a:latin typeface="メイリオ" panose="020B0604030504040204" pitchFamily="50" charset="-128"/>
                <a:ea typeface="メイリオ" panose="020B0604030504040204" pitchFamily="50" charset="-128"/>
              </a:rPr>
              <a:t>03 安全性・CPA両立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rPr>
              <a:t>国際認証・厳格な運用ルールで安全性を担保しつつ、CPAを継続的に抑制。</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離脱防止ポップアップでPVの0.5%を引き上げ</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55,000件の通知メッセージで友だち基盤を急速構築</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rPr>
              <a:t>レバー②CVR向上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初期アンケートによる売却理由別ナーチャリング</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査定移行率を大幅に向上</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rPr>
              <a:t>レバー③CPA低減</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高額なWeb広告への依存を軽減</a:t>
            </a: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LINE蓄積リストから継続的にCVを創出</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rPr>
              <a:t>20</a:t>
            </a:r>
            <a:r>
              <a:rPr kumimoji="1" lang="ja-JP" altLang="en-US" sz="3200" b="1" dirty="0">
                <a:solidFill>
                  <a:schemeClr val="tx1"/>
                </a:solidFill>
                <a:latin typeface="メイリオ" panose="020B0604030504040204" pitchFamily="50" charset="-128"/>
                <a:ea typeface="メイリオ" panose="020B0604030504040204" pitchFamily="50" charset="-128"/>
              </a:rPr>
              <a:t>万円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rPr>
              <a:t>2</a:t>
            </a:r>
            <a:r>
              <a:rPr lang="en-US" altLang="ja-JP" sz="3200" b="1" dirty="0">
                <a:solidFill>
                  <a:schemeClr val="tx1"/>
                </a:solidFill>
                <a:latin typeface="メイリオ" panose="020B0604030504040204" pitchFamily="50" charset="-128"/>
                <a:ea typeface="メイリオ" panose="020B0604030504040204" pitchFamily="50" charset="-128"/>
              </a:rPr>
              <a:t>5</a:t>
            </a:r>
            <a:r>
              <a:rPr kumimoji="1" lang="ja-JP" altLang="en-US" sz="3200" b="1" dirty="0">
                <a:solidFill>
                  <a:schemeClr val="tx1"/>
                </a:solidFill>
                <a:latin typeface="メイリオ" panose="020B0604030504040204" pitchFamily="50" charset="-128"/>
                <a:ea typeface="メイリオ" panose="020B0604030504040204" pitchFamily="50" charset="-128"/>
              </a:rPr>
              <a:t>万円</a:t>
            </a:r>
            <a:r>
              <a:rPr kumimoji="1" lang="en-US" altLang="ja-JP" sz="3200" b="1" dirty="0">
                <a:solidFill>
                  <a:schemeClr val="tx1"/>
                </a:solidFill>
                <a:latin typeface="メイリオ" panose="020B0604030504040204" pitchFamily="50" charset="-128"/>
                <a:ea typeface="メイリオ" panose="020B0604030504040204" pitchFamily="50" charset="-128"/>
              </a:rPr>
              <a:t>~</a:t>
            </a:r>
            <a:endParaRPr kumimoji="1" lang="ja-JP" altLang="en-US" sz="3200" b="1"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月次投稿</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panose="020B0604030504040204" pitchFamily="50" charset="-128"/>
                <a:ea typeface="メイリオ" panose="020B0604030504040204" pitchFamily="50" charset="-128"/>
              </a:rPr>
              <a:t>４件</a:t>
            </a: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Step</a:t>
            </a:r>
            <a:r>
              <a:rPr lang="ja-JP" altLang="en-US" sz="1050" dirty="0">
                <a:solidFill>
                  <a:schemeClr val="bg1"/>
                </a:solidFill>
                <a:latin typeface="メイリオ" panose="020B0604030504040204" pitchFamily="50" charset="-128"/>
                <a:ea typeface="メイリオ" panose="020B0604030504040204" pitchFamily="50" charset="-128"/>
              </a:rPr>
              <a:t>修正</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随時</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rPr>
              <a:t>Step</a:t>
            </a:r>
            <a:r>
              <a:rPr lang="ja-JP" altLang="en-US" sz="1050" dirty="0">
                <a:solidFill>
                  <a:schemeClr val="bg1"/>
                </a:solidFill>
                <a:latin typeface="メイリオ" panose="020B0604030504040204" pitchFamily="50" charset="-128"/>
                <a:ea typeface="メイリオ" panose="020B0604030504040204" pitchFamily="50" charset="-128"/>
              </a:rPr>
              <a:t>配信</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メニュー修正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r>
              <a:rPr lang="en-US" altLang="ja-JP" sz="1050" b="1" dirty="0">
                <a:solidFill>
                  <a:schemeClr val="tx1"/>
                </a:solidFill>
                <a:latin typeface="メイリオ" panose="020B0604030504040204" pitchFamily="50" charset="-128"/>
                <a:ea typeface="メイリオ" panose="020B0604030504040204" pitchFamily="50" charset="-128"/>
              </a:rPr>
              <a:t>10</a:t>
            </a:r>
            <a:r>
              <a:rPr lang="ja-JP" altLang="en-US" sz="1050" b="1" dirty="0">
                <a:solidFill>
                  <a:schemeClr val="tx1"/>
                </a:solidFill>
                <a:latin typeface="メイリオ" panose="020B0604030504040204" pitchFamily="50" charset="-128"/>
                <a:ea typeface="メイリオ" panose="020B0604030504040204" pitchFamily="50" charset="-128"/>
              </a:rPr>
              <a:t>本程度想定）</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ツール保守</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ツール契約</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従量課金</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有（代行）</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負担</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rPr>
              <a:t>タグ・</a:t>
            </a:r>
            <a:r>
              <a:rPr lang="en-US" altLang="ja-JP" sz="1050" dirty="0">
                <a:solidFill>
                  <a:schemeClr val="bg1"/>
                </a:solidFill>
                <a:latin typeface="メイリオ" panose="020B0604030504040204" pitchFamily="50" charset="-128"/>
                <a:ea typeface="メイリオ" panose="020B0604030504040204" pitchFamily="50" charset="-128"/>
              </a:rPr>
              <a:t>GA</a:t>
            </a:r>
            <a:r>
              <a:rPr lang="ja-JP" altLang="en-US" sz="1050" dirty="0">
                <a:solidFill>
                  <a:schemeClr val="bg1"/>
                </a:solidFill>
                <a:latin typeface="メイリオ" panose="020B0604030504040204" pitchFamily="50" charset="-128"/>
                <a:ea typeface="メイリオ" panose="020B0604030504040204" pitchFamily="50" charset="-128"/>
              </a:rPr>
              <a:t>設定</a:t>
            </a:r>
            <a:endParaRPr kumimoji="1" lang="ja-JP" altLang="en-US" sz="1050" dirty="0">
              <a:solidFill>
                <a:schemeClr val="bg1"/>
              </a:solidFill>
              <a:latin typeface="メイリオ" panose="020B0604030504040204" pitchFamily="50" charset="-128"/>
              <a:ea typeface="メイリオ" panose="020B0604030504040204" pitchFamily="50" charset="-128"/>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panose="020B0604030504040204" pitchFamily="50" charset="-128"/>
                <a:ea typeface="メイリオ" panose="020B0604030504040204" pitchFamily="50" charset="-128"/>
              </a:rPr>
              <a:t>対応なし</a:t>
            </a:r>
            <a:r>
              <a:rPr kumimoji="1" lang="ja-JP" altLang="en-US" sz="1050" b="1" dirty="0">
                <a:solidFill>
                  <a:schemeClr val="tx1"/>
                </a:solidFill>
                <a:latin typeface="メイリオ" panose="020B0604030504040204" pitchFamily="50" charset="-128"/>
                <a:ea typeface="メイリオ" panose="020B0604030504040204" pitchFamily="50" charset="-128"/>
              </a:rPr>
              <a:t> </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貴社対応</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rPr>
              <a:t>通知メッセ開発</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アクティブ数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月次流入</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前後</a:t>
            </a: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人程度</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程度</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月次</a:t>
            </a: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件</a:t>
            </a:r>
          </a:p>
        </p:txBody>
      </p:sp>
    </p:spTree>
    <p:extLst>
      <p:ext uri="{BB962C8B-B14F-4D97-AF65-F5344CB8AC3E}">
        <p14:creationId xmlns:p14="http://schemas.microsoft.com/office/powerpoint/2010/main" val="329722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想定の費用対効果（詳細）</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Meiryo"/>
                <a:ea typeface="Meiryo"/>
                <a:cs typeface="Meiryo"/>
                <a:sym typeface="Meiryo"/>
              </a:rPr>
              <a:t>想定の費用対効果（詳細）</a:t>
            </a:r>
            <a:endParaRPr sz="1200" dirty="0">
              <a:solidFill>
                <a:schemeClr val="tx2"/>
              </a:solidFill>
              <a:latin typeface="Meiryo"/>
              <a:ea typeface="Meiryo"/>
              <a:cs typeface="Meiryo"/>
              <a:sym typeface="Meiryo"/>
            </a:endParaRPr>
          </a:p>
        </p:txBody>
      </p:sp>
    </p:spTree>
    <p:extLst>
      <p:ext uri="{BB962C8B-B14F-4D97-AF65-F5344CB8AC3E}">
        <p14:creationId xmlns:p14="http://schemas.microsoft.com/office/powerpoint/2010/main" val="387995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15</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日後</a:t>
            </a:r>
            <a:endParaRPr lang="ja-JP" altLang="en-US" sz="1200" dirty="0">
              <a:solidFill>
                <a:srgbClr val="FF0000"/>
              </a:solidFill>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有効化</a:t>
            </a:r>
            <a:endParaRPr lang="ja-JP" altLang="ja-JP" sz="1100" b="1"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再育成</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リード</a:t>
            </a:r>
            <a:endParaRPr lang="ja-JP" altLang="ja-JP" sz="1050" b="1" dirty="0">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rPr>
              <a:t>⑧ 紹介</a:t>
            </a:r>
            <a:endParaRPr lang="en-US" altLang="ja-JP" sz="110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rPr>
              <a:t>② </a:t>
            </a:r>
            <a:r>
              <a:rPr lang="ja-JP" altLang="en-US" sz="1100" dirty="0">
                <a:latin typeface="メイリオ" panose="020B0604030504040204" pitchFamily="50" charset="-128"/>
                <a:ea typeface="メイリオ" panose="020B0604030504040204" pitchFamily="50" charset="-128"/>
              </a:rPr>
              <a:t>離脱</a:t>
            </a:r>
            <a:endParaRPr lang="ja-JP" altLang="ja-JP" sz="1100" dirty="0">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離</a:t>
            </a: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rPr>
              <a:t>脱</a:t>
            </a: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rPr>
              <a:t>防</a:t>
            </a: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rPr>
              <a:t>止</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SIM</a:t>
            </a:r>
            <a:r>
              <a:rPr kumimoji="1" lang="ja-JP" altLang="en-US" sz="1000" dirty="0">
                <a:solidFill>
                  <a:schemeClr val="tx1"/>
                </a:solidFill>
                <a:latin typeface="メイリオ" panose="020B0604030504040204" pitchFamily="50" charset="-128"/>
                <a:ea typeface="メイリオ" panose="020B0604030504040204" pitchFamily="50" charset="-128"/>
              </a:rPr>
              <a:t>完了</a:t>
            </a: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rPr>
              <a:t>サンクス</a:t>
            </a:r>
            <a:endParaRPr lang="en-US" altLang="ja-JP" sz="1000" b="1" dirty="0">
              <a:solidFill>
                <a:schemeClr val="tx1"/>
              </a:solidFill>
              <a:latin typeface="メイリオ" panose="020B0604030504040204" pitchFamily="50" charset="-128"/>
              <a:ea typeface="メイリオ" panose="020B0604030504040204" pitchFamily="50" charset="-128"/>
            </a:endParaRPr>
          </a:p>
          <a:p>
            <a:pPr algn="ctr"/>
            <a:r>
              <a:rPr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誘導</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rPr>
              <a:t>友だち</a:t>
            </a:r>
            <a:endParaRPr lang="en-US" altLang="ja-JP" sz="1000" b="1" dirty="0">
              <a:solidFill>
                <a:schemeClr val="tx1"/>
              </a:solidFill>
              <a:latin typeface="メイリオ" panose="020B0604030504040204" pitchFamily="50" charset="-128"/>
              <a:ea typeface="メイリオ" panose="020B0604030504040204" pitchFamily="50" charset="-128"/>
            </a:endParaRPr>
          </a:p>
          <a:p>
            <a:pPr algn="ctr"/>
            <a:r>
              <a:rPr lang="ja-JP" altLang="en-US" sz="1000" b="1" dirty="0">
                <a:solidFill>
                  <a:schemeClr val="tx1"/>
                </a:solidFill>
                <a:latin typeface="メイリオ" panose="020B0604030504040204" pitchFamily="50" charset="-128"/>
                <a:ea typeface="メイリオ" panose="020B0604030504040204" pitchFamily="50" charset="-128"/>
              </a:rPr>
              <a:t>追加誘導</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rPr>
              <a:t>・アンケート</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latin typeface="メイリオ" panose="020B0604030504040204" pitchFamily="50" charset="-128"/>
                <a:ea typeface="メイリオ" panose="020B0604030504040204" pitchFamily="50" charset="-128"/>
              </a:rPr>
              <a:t>・診断</a:t>
            </a:r>
            <a:endParaRPr lang="en-US" altLang="ja-JP" sz="1000" b="1" dirty="0">
              <a:solidFill>
                <a:schemeClr val="tx1"/>
              </a:solidFill>
              <a:latin typeface="メイリオ" panose="020B0604030504040204" pitchFamily="50" charset="-128"/>
              <a:ea typeface="メイリオ" panose="020B0604030504040204" pitchFamily="50" charset="-128"/>
            </a:endParaRPr>
          </a:p>
          <a:p>
            <a:r>
              <a:rPr lang="ja-JP" altLang="en-US" sz="1000" b="1" dirty="0">
                <a:solidFill>
                  <a:schemeClr val="tx1"/>
                </a:solidFill>
                <a:latin typeface="メイリオ" panose="020B0604030504040204" pitchFamily="50" charset="-128"/>
                <a:ea typeface="メイリオ" panose="020B0604030504040204" pitchFamily="50" charset="-128"/>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SIM</a:t>
            </a:r>
            <a:r>
              <a:rPr kumimoji="1" lang="ja-JP" altLang="en-US" sz="1000" dirty="0">
                <a:solidFill>
                  <a:schemeClr val="tx1"/>
                </a:solidFill>
                <a:latin typeface="メイリオ" panose="020B0604030504040204" pitchFamily="50" charset="-128"/>
                <a:ea typeface="メイリオ" panose="020B0604030504040204" pitchFamily="50" charset="-128"/>
              </a:rPr>
              <a:t>完了</a:t>
            </a: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rPr>
              <a:t>成約</a:t>
            </a:r>
            <a:endParaRPr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rPr>
              <a:t>査定</a:t>
            </a:r>
            <a:endParaRPr lang="en-US" altLang="ja-JP" sz="1000" b="1" dirty="0">
              <a:solidFill>
                <a:schemeClr val="bg1"/>
              </a:solidFill>
              <a:latin typeface="メイリオ" panose="020B0604030504040204" pitchFamily="50" charset="-128"/>
              <a:ea typeface="メイリオ" panose="020B0604030504040204" pitchFamily="50" charset="-128"/>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chemeClr val="tx1"/>
                </a:solidFill>
                <a:latin typeface="メイリオ" panose="020B0604030504040204" pitchFamily="50" charset="-128"/>
                <a:ea typeface="メイリオ" panose="020B0604030504040204" pitchFamily="50" charset="-128"/>
              </a:rPr>
              <a:t>SEO</a:t>
            </a: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chemeClr val="tx1"/>
                </a:solidFill>
                <a:latin typeface="メイリオ" panose="020B0604030504040204" pitchFamily="50" charset="-128"/>
                <a:ea typeface="メイリオ" panose="020B0604030504040204" pitchFamily="50" charset="-128"/>
              </a:rPr>
              <a:t>SNS</a:t>
            </a: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rPr>
              <a:t>長期施策の</a:t>
            </a:r>
            <a:endParaRPr lang="en-US" altLang="ja-JP" sz="1000" b="1" dirty="0">
              <a:solidFill>
                <a:schemeClr val="tx1"/>
              </a:solidFill>
              <a:latin typeface="メイリオ" panose="020B0604030504040204" pitchFamily="50" charset="-128"/>
              <a:ea typeface="メイリオ" panose="020B0604030504040204" pitchFamily="50" charset="-128"/>
            </a:endParaRPr>
          </a:p>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rPr>
              <a:t>期間展開 </a:t>
            </a:r>
            <a:endParaRPr lang="en-US" altLang="ja-JP" sz="1000" b="1" dirty="0">
              <a:solidFill>
                <a:schemeClr val="tx1"/>
              </a:solidFill>
              <a:latin typeface="メイリオ" panose="020B0604030504040204" pitchFamily="50" charset="-128"/>
              <a:ea typeface="メイリオ" panose="020B0604030504040204" pitchFamily="50" charset="-128"/>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rPr>
              <a:t>離脱</a:t>
            </a:r>
            <a:endParaRPr kumimoji="1" lang="en-US" altLang="ja-JP" sz="900" dirty="0">
              <a:solidFill>
                <a:srgbClr val="FF0000"/>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●査定後フォローアップ</a:t>
            </a:r>
            <a:endParaRPr kumimoji="1" lang="en-US" altLang="ja-JP" sz="1000" dirty="0">
              <a:solidFill>
                <a:schemeClr val="tx1"/>
              </a:solidFill>
              <a:latin typeface="メイリオ" panose="020B0604030504040204" pitchFamily="50" charset="-128"/>
              <a:ea typeface="メイリオ" panose="020B0604030504040204" pitchFamily="50" charset="-128"/>
            </a:endParaRPr>
          </a:p>
          <a:p>
            <a:pPr algn="ctr"/>
            <a:r>
              <a:rPr lang="ja-JP" altLang="en-US" sz="1000" dirty="0">
                <a:solidFill>
                  <a:schemeClr val="tx1"/>
                </a:solidFill>
                <a:latin typeface="メイリオ" panose="020B0604030504040204" pitchFamily="50" charset="-128"/>
                <a:ea typeface="メイリオ" panose="020B0604030504040204" pitchFamily="50" charset="-128"/>
              </a:rPr>
              <a:t>●成約後のメディア</a:t>
            </a:r>
            <a:endParaRPr lang="en-US" altLang="ja-JP" sz="1000" dirty="0">
              <a:solidFill>
                <a:schemeClr val="tx1"/>
              </a:solidFill>
              <a:latin typeface="メイリオ" panose="020B0604030504040204" pitchFamily="50" charset="-128"/>
              <a:ea typeface="メイリオ" panose="020B0604030504040204" pitchFamily="50" charset="-128"/>
            </a:endParaRPr>
          </a:p>
          <a:p>
            <a:pPr algn="ctr"/>
            <a:r>
              <a:rPr lang="ja-JP" altLang="en-US" sz="1000" dirty="0">
                <a:solidFill>
                  <a:schemeClr val="tx1"/>
                </a:solidFill>
                <a:latin typeface="メイリオ" panose="020B0604030504040204" pitchFamily="50" charset="-128"/>
                <a:ea typeface="メイリオ" panose="020B0604030504040204" pitchFamily="50" charset="-128"/>
              </a:rPr>
              <a:t>としての活用等も可能です</a:t>
            </a:r>
            <a:endParaRPr lang="en-US" altLang="ja-JP" sz="1000" dirty="0">
              <a:solidFill>
                <a:schemeClr val="tx1"/>
              </a:solidFill>
              <a:latin typeface="メイリオ" panose="020B0604030504040204" pitchFamily="50" charset="-128"/>
              <a:ea typeface="メイリオ" panose="020B0604030504040204" pitchFamily="50" charset="-128"/>
            </a:endParaRPr>
          </a:p>
          <a:p>
            <a:pPr algn="ctr"/>
            <a:endParaRPr lang="en-US" altLang="ja-JP" sz="1000" dirty="0">
              <a:solidFill>
                <a:schemeClr val="tx1"/>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個別チャット対応は効率化のみで基本貴社対応</a:t>
            </a:r>
            <a:endParaRPr lang="en-US" altLang="ja-JP" sz="10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想定の費用対効果（詳細）</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Arial"/>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短期ニーズ層（すぐ客）</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検索直後、検討度が高い状態からのスタート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情報収集をある程度終えている場合が多い</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Arial"/>
              <a:sym typeface="Arial"/>
            </a:endParaRP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1F2A5C"/>
              </a:buClr>
              <a:buFont typeface="Arial"/>
              <a:buChar char="•"/>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の圧縮設計で早期に査定申込へ誘導できる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Arial"/>
              <a:sym typeface="Arial"/>
            </a:endParaRP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対応が遅れると熱量が急速に低下するリスク</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長期ニーズ層（比較検討層）</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アンケートで「時期未定」等を選択、またはまだ検討初期</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即時オファーへの反応は期待しにくい</a:t>
            </a:r>
          </a:p>
          <a:p>
            <a:pPr>
              <a:spcBef>
                <a:spcPts val="600"/>
              </a:spcBef>
              <a:buClr>
                <a:srgbClr val="000000"/>
              </a:buClr>
              <a:buFont typeface="Arial"/>
              <a:buNone/>
            </a:pPr>
            <a:endParaRPr kumimoji="0" lang="en-US" altLang="ja-JP" sz="1200" b="1" kern="0" dirty="0">
              <a:solidFill>
                <a:srgbClr val="C8102E"/>
              </a:solidFill>
              <a:latin typeface="メイリオ" panose="020B0604030504040204" pitchFamily="50" charset="-128"/>
              <a:ea typeface="メイリオ" panose="020B0604030504040204" pitchFamily="50" charset="-128"/>
              <a:cs typeface="Arial"/>
              <a:sym typeface="Arial"/>
            </a:endParaRP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シーズナリティ連動配信で離脱させず中長期で育成できる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繁忙期前のトリガー配信で再活性化が可能</a:t>
            </a:r>
          </a:p>
          <a:p>
            <a:pPr>
              <a:spcBef>
                <a:spcPts val="600"/>
              </a:spcBef>
              <a:buClr>
                <a:srgbClr val="000000"/>
              </a:buClr>
              <a:buFont typeface="Arial"/>
              <a:buNone/>
            </a:pPr>
            <a:endParaRPr kumimoji="0" lang="en-US" altLang="ja-JP" sz="1200" b="1" kern="0" dirty="0">
              <a:solidFill>
                <a:srgbClr val="C8102E"/>
              </a:solidFill>
              <a:latin typeface="メイリオ" panose="020B0604030504040204" pitchFamily="50" charset="-128"/>
              <a:ea typeface="メイリオ" panose="020B0604030504040204" pitchFamily="50" charset="-128"/>
              <a:cs typeface="Arial"/>
              <a:sym typeface="Arial"/>
            </a:endParaRP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成果化まで時間がかかる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アンケートで自動判定し、短期は</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日以内の圧縮設計、</a:t>
            </a:r>
            <a:endPar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endParaRPr>
          </a:p>
          <a:p>
            <a:pPr>
              <a:spcBef>
                <a:spcPts val="200"/>
              </a:spcBef>
              <a:buClr>
                <a:srgbClr val="000000"/>
              </a:buClr>
              <a:buFont typeface="Arial"/>
              <a:buNone/>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長期は検索</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Vol</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の季節性に連動した再アプローチで、両トラックとも取りこぼさない設計とする</a:t>
            </a: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想定の費用対効果（詳細）</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Arial"/>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短期ニーズ層（すぐ客）</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検索直後、検討度が高い状態からのスタート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情報収集をある程度終えている場合が多い</a:t>
            </a: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1F2A5C"/>
              </a:buClr>
              <a:buFont typeface="Arial"/>
              <a:buChar char="•"/>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の圧縮設計で早期に査定申込へ誘導できる</a:t>
            </a: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対応が遅れると熱量が急速に低下するリスク</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長期ニーズ層（比較検討層）</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アンケートで「時期未定」等を選択、またはまだ検討初期</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即時オファーへの反応は期待しにくい</a:t>
            </a: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シーズナリティ連動配信で離脱させず中長期で育成できる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繁忙期前のトリガー配信で再活性化が可能</a:t>
            </a: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成果化まで時間がかかる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アンケートで自動判定し、短期は</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日以内の圧縮設計、長期は検索</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Vol</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の季節性に連動した再アプローチで、両トラックとも取りこぼさない設計とする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33554"/>
            <a:ext cx="4757057" cy="4248121"/>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5581675"/>
            <a:ext cx="9143999" cy="84046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rPr>
              <a:t>15</a:t>
            </a:r>
            <a:r>
              <a:rPr lang="ja-JP" altLang="en-US" sz="1600" b="1" dirty="0">
                <a:solidFill>
                  <a:srgbClr val="1F2A5C"/>
                </a:solidFill>
                <a:latin typeface="メイリオ" panose="020B0604030504040204" pitchFamily="50" charset="-128"/>
                <a:ea typeface="メイリオ" panose="020B0604030504040204" pitchFamily="50" charset="-128"/>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rPr>
              <a:t>検索直後の疑問に即応し、</a:t>
            </a:r>
            <a:r>
              <a:rPr lang="en-US" altLang="ja-JP" sz="1400" b="1" dirty="0">
                <a:solidFill>
                  <a:srgbClr val="FF0000"/>
                </a:solidFill>
                <a:latin typeface="メイリオ"/>
                <a:ea typeface="メイリオ"/>
              </a:rPr>
              <a:t>15</a:t>
            </a:r>
            <a:r>
              <a:rPr lang="ja-JP" altLang="en-US" sz="1400" b="1" dirty="0">
                <a:solidFill>
                  <a:srgbClr val="FF0000"/>
                </a:solidFill>
                <a:latin typeface="メイリオ"/>
                <a:ea typeface="メイリオ"/>
              </a:rPr>
              <a:t>日以内で査定申込へ誘導</a:t>
            </a:r>
            <a:r>
              <a:rPr lang="ja-JP" altLang="en-US" sz="1400" dirty="0">
                <a:solidFill>
                  <a:srgbClr val="5A6378"/>
                </a:solidFill>
                <a:latin typeface="メイリオ"/>
                <a:ea typeface="メイリオ"/>
              </a:rPr>
              <a:t>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（すぐ売却／相場だけ／相続で悩み）</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税金の疑問解消</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税金はいくら？</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プロが教える3大特例</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「3,000万円特別控除」等を紹介し</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手残り額への不安を解消</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手残り額シミュレーター</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手続きハードル下げ</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必要書類は</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これだけ！</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査定〜引き渡しの流れを4ステップで図解</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チェックリストPDFを進呈</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図解ガイドを見る</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他社比較・選び方</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一括査定と</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個別相談どちらが？</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不動産会社選びの正しい基準を提示し</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自社の強み（USP）を訴求</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事例・ユーザーの声</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C8102E"/>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今の我が家の</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価値を知る</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秘密厳守・無料の机上査定へ誘導</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LINE限定特典で後押し</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C8102E"/>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無料査定を申し込む</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追加直後は「不動産売却時の税金」「固定資産税」「仲介手数料」の検索</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Vol</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が急増</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「名義変更」「権利証」「法務局」「譲渡所得」など、実務面の難しさに直面する検索が増加</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「イエウール」「センチュリー</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21</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」「東急リバブル」「三井不動産リアルティ」等のブランド比較検索が発生</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追加</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15</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日後には「確定申告」「契約書」など実際の行動に移る層と、離脱する層に分かれる</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rPr>
              <a:t>アンケート回答から「すぐすぐニーズがあるか」を判断</a:t>
            </a:r>
            <a:endParaRPr lang="en-US" altLang="ja-JP" sz="1400" b="1" u="sng" dirty="0">
              <a:solidFill>
                <a:schemeClr val="tx2"/>
              </a:solidFill>
              <a:latin typeface="メイリオ"/>
              <a:ea typeface="メイリオ"/>
            </a:endParaRPr>
          </a:p>
          <a:p>
            <a:r>
              <a:rPr lang="ja-JP" altLang="en-US" sz="1400" dirty="0">
                <a:solidFill>
                  <a:schemeClr val="tx2"/>
                </a:solidFill>
                <a:latin typeface="メイリオ"/>
                <a:ea typeface="メイリオ"/>
              </a:rPr>
              <a:t>↓</a:t>
            </a:r>
            <a:endParaRPr lang="en-US" altLang="ja-JP" sz="1400" dirty="0">
              <a:solidFill>
                <a:schemeClr val="tx2"/>
              </a:solidFill>
              <a:latin typeface="メイリオ"/>
              <a:ea typeface="メイリオ"/>
            </a:endParaRPr>
          </a:p>
          <a:p>
            <a:r>
              <a:rPr lang="ja-JP" altLang="en-US" sz="1400" b="1" dirty="0">
                <a:solidFill>
                  <a:schemeClr val="tx2"/>
                </a:solidFill>
                <a:highlight>
                  <a:srgbClr val="FFFF00"/>
                </a:highlight>
                <a:latin typeface="メイリオ"/>
                <a:ea typeface="メイリオ"/>
              </a:rPr>
              <a:t>①</a:t>
            </a:r>
            <a:r>
              <a:rPr lang="ja-JP" altLang="en-US" sz="1400" dirty="0">
                <a:solidFill>
                  <a:schemeClr val="tx2"/>
                </a:solidFill>
                <a:latin typeface="メイリオ"/>
                <a:ea typeface="メイリオ"/>
              </a:rPr>
              <a:t>ニーズあり</a:t>
            </a:r>
            <a:r>
              <a:rPr lang="ja-JP" altLang="en-US" sz="1400" b="1" dirty="0">
                <a:solidFill>
                  <a:schemeClr val="tx2"/>
                </a:solidFill>
                <a:latin typeface="メイリオ"/>
                <a:ea typeface="メイリオ"/>
              </a:rPr>
              <a:t>（次ページに以降）</a:t>
            </a:r>
            <a:endParaRPr lang="en-US" altLang="ja-JP" sz="1400" b="1" dirty="0">
              <a:solidFill>
                <a:schemeClr val="tx2"/>
              </a:solidFill>
              <a:latin typeface="メイリオ"/>
              <a:ea typeface="メイリオ"/>
            </a:endParaRPr>
          </a:p>
          <a:p>
            <a:r>
              <a:rPr lang="ja-JP" altLang="en-US" sz="1400" b="1" dirty="0">
                <a:solidFill>
                  <a:schemeClr val="tx2"/>
                </a:solidFill>
                <a:highlight>
                  <a:srgbClr val="FFFF00"/>
                </a:highlight>
                <a:latin typeface="メイリオ"/>
                <a:ea typeface="メイリオ"/>
              </a:rPr>
              <a:t>②</a:t>
            </a:r>
            <a:r>
              <a:rPr lang="ja-JP" altLang="en-US" sz="1400" dirty="0">
                <a:solidFill>
                  <a:schemeClr val="tx2"/>
                </a:solidFill>
                <a:latin typeface="メイリオ"/>
                <a:ea typeface="メイリオ"/>
              </a:rPr>
              <a:t>ニーズなし</a:t>
            </a:r>
            <a:r>
              <a:rPr lang="ja-JP" altLang="en-US" sz="1400" b="1" dirty="0">
                <a:solidFill>
                  <a:schemeClr val="tx2"/>
                </a:solidFill>
                <a:latin typeface="メイリオ"/>
                <a:ea typeface="メイリオ"/>
              </a:rPr>
              <a:t>（長期追客施策に移行）</a:t>
            </a:r>
            <a:endParaRPr lang="ja-JP" altLang="en-US" b="1" dirty="0">
              <a:solidFill>
                <a:schemeClr val="tx2"/>
              </a:solidFill>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rPr>
              <a:t>【</a:t>
            </a:r>
            <a:r>
              <a:rPr lang="ja-JP" altLang="en-US" sz="1100" b="1" dirty="0">
                <a:solidFill>
                  <a:srgbClr val="333333"/>
                </a:solidFill>
                <a:latin typeface="メイリオ"/>
                <a:ea typeface="メイリオ"/>
              </a:rPr>
              <a:t>その他セグメント配信の活用に関して</a:t>
            </a:r>
            <a:r>
              <a:rPr lang="en-US" altLang="ja-JP" sz="1100" b="1" dirty="0">
                <a:solidFill>
                  <a:srgbClr val="333333"/>
                </a:solidFill>
                <a:latin typeface="メイリオ"/>
                <a:ea typeface="メイリオ"/>
              </a:rPr>
              <a:t>】</a:t>
            </a:r>
          </a:p>
          <a:p>
            <a:pPr marL="228600" lvl="1">
              <a:lnSpc>
                <a:spcPts val="2000"/>
              </a:lnSpc>
              <a:spcAft>
                <a:spcPts val="200"/>
              </a:spcAft>
              <a:buClr>
                <a:srgbClr val="1F2A5C"/>
              </a:buClr>
            </a:pPr>
            <a:r>
              <a:rPr lang="ja-JP" altLang="en-US" sz="1100" dirty="0">
                <a:solidFill>
                  <a:srgbClr val="333333"/>
                </a:solidFill>
                <a:latin typeface="メイリオ"/>
                <a:ea typeface="メイリオ"/>
              </a:rPr>
              <a:t>Day0のアンケートで「相続」を選んだユーザーには、相続税や遺産分割協議に関するコンテンツを優先。</a:t>
            </a:r>
          </a:p>
          <a:p>
            <a:pPr marL="228600" lvl="1">
              <a:lnSpc>
                <a:spcPts val="2000"/>
              </a:lnSpc>
              <a:spcAft>
                <a:spcPts val="200"/>
              </a:spcAft>
              <a:buClr>
                <a:srgbClr val="1F2A5C"/>
              </a:buClr>
            </a:pPr>
            <a:r>
              <a:rPr lang="ja-JP" altLang="en-US" sz="1100" dirty="0">
                <a:solidFill>
                  <a:srgbClr val="333333"/>
                </a:solidFill>
                <a:latin typeface="メイリオ"/>
                <a:ea typeface="メイリオ"/>
              </a:rPr>
              <a:t>ニーズ別に配信を最適化することで、CVR（成約率）を大幅に向上させることができる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rPr>
              <a:t>15</a:t>
            </a:r>
            <a:r>
              <a:rPr lang="ja-JP" altLang="en-US" sz="1600" b="1" dirty="0">
                <a:solidFill>
                  <a:srgbClr val="1F2A5C"/>
                </a:solidFill>
                <a:latin typeface="メイリオ" panose="020B0604030504040204" pitchFamily="50" charset="-128"/>
                <a:ea typeface="メイリオ" panose="020B0604030504040204" pitchFamily="50" charset="-128"/>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rPr>
              <a:t>検索直後の疑問に即応し、</a:t>
            </a:r>
            <a:r>
              <a:rPr lang="en-US" altLang="ja-JP" sz="1400" b="1" dirty="0">
                <a:solidFill>
                  <a:srgbClr val="FF0000"/>
                </a:solidFill>
                <a:latin typeface="メイリオ"/>
                <a:ea typeface="メイリオ"/>
              </a:rPr>
              <a:t>15</a:t>
            </a:r>
            <a:r>
              <a:rPr lang="ja-JP" altLang="en-US" sz="1400" b="1" dirty="0">
                <a:solidFill>
                  <a:srgbClr val="FF0000"/>
                </a:solidFill>
                <a:latin typeface="メイリオ"/>
                <a:ea typeface="メイリオ"/>
              </a:rPr>
              <a:t>日以内で査定申込へ誘導</a:t>
            </a:r>
            <a:r>
              <a:rPr lang="ja-JP" altLang="en-US" sz="1400" dirty="0">
                <a:solidFill>
                  <a:srgbClr val="5A6378"/>
                </a:solidFill>
                <a:latin typeface="メイリオ"/>
                <a:ea typeface="メイリオ"/>
              </a:rPr>
              <a:t>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（すぐ売却／相場だけ／相続で悩み）</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税金の疑問解消</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税金はいくら？</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プロが教える3大特例</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「3,000万円特別控除」等を紹介し</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手残り額への不安を解消</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 </a:t>
            </a:r>
            <a:r>
              <a:rPr kumimoji="0" sz="950" b="1"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sym typeface="Arial"/>
              </a:rPr>
              <a:t>手残り額</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endParaRP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sym typeface="Arial"/>
              </a:rPr>
              <a:t>シミュレータ</a:t>
            </a: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ー</a:t>
            </a: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手続きハードル下げ</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必要書類は</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これだけ！</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査定〜引き渡しの流れを4ステップで図解</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チェックリストPDFを進呈</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図解ガイドを見る</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他社比較・選び方</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一括査定と</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個別相談どちらが？</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不動産会社選びの正しい基準を提示し</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自社の強み（USP）を訴求</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事例・ユーザーの声</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C8102E"/>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今の我が家の</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Arial"/>
                <a:sym typeface="Arial"/>
              </a:rPr>
              <a:t>価値を知る</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秘密厳守・無料の机上査定へ誘導</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Arial"/>
                <a:sym typeface="Arial"/>
              </a:rPr>
              <a:t>LINE限定特典で後押し</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C8102E"/>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sym typeface="Arial"/>
              </a:rPr>
              <a:t>🎁 無料査定を申し込む</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追加直後は「不動産売却時の税金」「固定資産税」「仲介手数料」の検索</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Vol</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が急増</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「名義変更」「権利証」「法務局」「譲渡所得」など、実務面の難しさに直面する検索が増加</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「イエウール」「センチュリー</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21</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」「東急リバブル」「三井不動産リアルティ」等のブランド比較検索が発生</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検索データ</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追加</a:t>
            </a: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15</a:t>
            </a: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Arial"/>
                <a:sym typeface="Arial"/>
              </a:rPr>
              <a:t>日後には「確定申告」「契約書」など実際の行動に移る層と、離脱する層に分かれる</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想定の費用対効果（詳細）</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Arial"/>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短期ニーズ層（すぐ客）</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検索直後、検討度が高い状態からのスタート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情報収集をある程度終えている場合が多い</a:t>
            </a: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1F2A5C"/>
              </a:buClr>
              <a:buFont typeface="Arial"/>
              <a:buChar char="•"/>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の圧縮設計で早期に査定申込へ誘導できる</a:t>
            </a:r>
          </a:p>
          <a:p>
            <a:pPr>
              <a:spcBef>
                <a:spcPts val="600"/>
              </a:spcBef>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対応が遅れると熱量が急速に低下するリスク</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Arial"/>
                <a:sym typeface="Arial"/>
              </a:rPr>
              <a:t>長期ニーズ層（比較検討層）</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アンケートで「時期未定」等を選択、またはまだ検討初期</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即時オファーへの反応は期待しにくい</a:t>
            </a: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シーズナリティ連動配信で離脱させず中長期で育成できる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繁忙期前のトリガー配信で再活性化が可能</a:t>
            </a:r>
          </a:p>
          <a:p>
            <a:pPr>
              <a:spcBef>
                <a:spcPts val="600"/>
              </a:spcBef>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Arial"/>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成果化まで時間がかかる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Arial"/>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Day0</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アンケートで自動判定し、短期は</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7</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日以内の圧縮設計、</a:t>
            </a:r>
            <a:endPar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endParaRPr>
          </a:p>
          <a:p>
            <a:pPr>
              <a:spcBef>
                <a:spcPts val="200"/>
              </a:spcBef>
              <a:buClr>
                <a:srgbClr val="000000"/>
              </a:buClr>
              <a:buFont typeface="Arial"/>
              <a:buNone/>
            </a:pP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長期は検索</a:t>
            </a:r>
            <a:r>
              <a:rPr kumimoji="0" lang="en-US" altLang="ja-JP" sz="1200" kern="0" dirty="0">
                <a:solidFill>
                  <a:srgbClr val="333333"/>
                </a:solidFill>
                <a:latin typeface="メイリオ" panose="020B0604030504040204" pitchFamily="50" charset="-128"/>
                <a:ea typeface="メイリオ" panose="020B0604030504040204" pitchFamily="50" charset="-128"/>
                <a:cs typeface="Arial"/>
                <a:sym typeface="Arial"/>
              </a:rPr>
              <a:t>Vol</a:t>
            </a:r>
            <a:r>
              <a:rPr kumimoji="0" lang="ja-JP" altLang="en-US" sz="1200" kern="0" dirty="0">
                <a:solidFill>
                  <a:srgbClr val="333333"/>
                </a:solidFill>
                <a:latin typeface="メイリオ" panose="020B0604030504040204" pitchFamily="50" charset="-128"/>
                <a:ea typeface="メイリオ" panose="020B0604030504040204" pitchFamily="50" charset="-128"/>
                <a:cs typeface="Arial"/>
                <a:sym typeface="Arial"/>
              </a:rPr>
              <a:t>の季節性に連動した再アプローチで、両トラックとも取りこぼさない設計とする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485962"/>
            <a:ext cx="4757057" cy="39789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5581675"/>
            <a:ext cx="9143999" cy="84046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休眠リード開拓と査定後フォローアップ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55,000件</a:t>
            </a:r>
          </a:p>
          <a:p>
            <a:pPr algn="ctr"/>
            <a:r>
              <a:rPr sz="950">
                <a:solidFill>
                  <a:srgbClr val="FFFFFF"/>
                </a:solidFill>
                <a:latin typeface="メイリオ"/>
              </a:rPr>
              <a:t>保有休眠リスト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ハッシュ化</a:t>
            </a:r>
          </a:p>
          <a:p>
            <a:pPr algn="ctr"/>
            <a:r>
              <a:rPr sz="950">
                <a:solidFill>
                  <a:srgbClr val="FFFFFF"/>
                </a:solidFill>
                <a:latin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友だち化</a:t>
            </a:r>
          </a:p>
          <a:p>
            <a:pPr algn="ctr"/>
            <a:r>
              <a:rPr sz="950">
                <a:solidFill>
                  <a:srgbClr val="FFFFFF"/>
                </a:solidFill>
                <a:latin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Day0合流</a:t>
            </a:r>
          </a:p>
          <a:p>
            <a:pPr algn="ctr"/>
            <a:r>
              <a:rPr sz="950">
                <a:solidFill>
                  <a:srgbClr val="FFFFFF"/>
                </a:solidFill>
                <a:latin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rPr>
              <a:t>B</a:t>
            </a:r>
            <a:r>
              <a:rPr sz="1400" b="1" dirty="0">
                <a:solidFill>
                  <a:srgbClr val="1F2A5C"/>
                </a:solidFill>
                <a:latin typeface="メイリオ" panose="020B0604030504040204" pitchFamily="50" charset="-128"/>
                <a:ea typeface="メイリオ" panose="020B0604030504040204" pitchFamily="50" charset="-128"/>
              </a:rPr>
              <a:t>. </a:t>
            </a:r>
            <a:r>
              <a:rPr lang="ja-JP" altLang="en-US" sz="1400" b="1" dirty="0">
                <a:solidFill>
                  <a:srgbClr val="1F2A5C"/>
                </a:solidFill>
                <a:latin typeface="メイリオ" panose="020B0604030504040204" pitchFamily="50" charset="-128"/>
                <a:ea typeface="メイリオ" panose="020B0604030504040204" pitchFamily="50" charset="-128"/>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休眠リード開拓と査定後フォローアップ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1F2A5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1F2A5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1F2A5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C8102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1F2A5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1F2A5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C8102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rPr>
              <a:t>■ ネイビー＝繁忙期（</a:t>
            </a:r>
            <a:r>
              <a:rPr lang="en-US" altLang="ja-JP" sz="1150" b="0" dirty="0">
                <a:solidFill>
                  <a:srgbClr val="5A6378"/>
                </a:solidFill>
                <a:latin typeface="メイリオ" panose="020B0604030504040204" pitchFamily="50" charset="-128"/>
                <a:ea typeface="メイリオ" panose="020B0604030504040204" pitchFamily="50" charset="-128"/>
              </a:rPr>
              <a:t>1〜3</a:t>
            </a:r>
            <a:r>
              <a:rPr lang="ja-JP" altLang="en-US" sz="1150" b="0" dirty="0">
                <a:solidFill>
                  <a:srgbClr val="5A6378"/>
                </a:solidFill>
                <a:latin typeface="メイリオ" panose="020B0604030504040204" pitchFamily="50" charset="-128"/>
                <a:ea typeface="メイリオ" panose="020B0604030504040204" pitchFamily="50" charset="-128"/>
              </a:rPr>
              <a:t>月／</a:t>
            </a:r>
            <a:r>
              <a:rPr lang="en-US" altLang="ja-JP" sz="1150" b="0" dirty="0">
                <a:solidFill>
                  <a:srgbClr val="5A6378"/>
                </a:solidFill>
                <a:latin typeface="メイリオ" panose="020B0604030504040204" pitchFamily="50" charset="-128"/>
                <a:ea typeface="メイリオ" panose="020B0604030504040204" pitchFamily="50" charset="-128"/>
              </a:rPr>
              <a:t>9〜10</a:t>
            </a:r>
            <a:r>
              <a:rPr lang="ja-JP" altLang="en-US" sz="1150" b="0" dirty="0">
                <a:solidFill>
                  <a:srgbClr val="5A6378"/>
                </a:solidFill>
                <a:latin typeface="メイリオ" panose="020B0604030504040204" pitchFamily="50" charset="-128"/>
                <a:ea typeface="メイリオ" panose="020B0604030504040204" pitchFamily="50" charset="-128"/>
              </a:rPr>
              <a:t>月）　■ レッド＝トリガー配信月（</a:t>
            </a:r>
            <a:r>
              <a:rPr lang="en-US" altLang="ja-JP" sz="1150" b="0" dirty="0">
                <a:solidFill>
                  <a:srgbClr val="5A6378"/>
                </a:solidFill>
                <a:latin typeface="メイリオ" panose="020B0604030504040204" pitchFamily="50" charset="-128"/>
                <a:ea typeface="メイリオ" panose="020B0604030504040204" pitchFamily="50" charset="-128"/>
              </a:rPr>
              <a:t>12</a:t>
            </a:r>
            <a:r>
              <a:rPr lang="ja-JP" altLang="en-US" sz="1150" b="0" dirty="0">
                <a:solidFill>
                  <a:srgbClr val="5A6378"/>
                </a:solidFill>
                <a:latin typeface="メイリオ" panose="020B0604030504040204" pitchFamily="50" charset="-128"/>
                <a:ea typeface="メイリオ" panose="020B0604030504040204" pitchFamily="50" charset="-128"/>
              </a:rPr>
              <a:t>月・</a:t>
            </a:r>
            <a:r>
              <a:rPr lang="en-US" altLang="ja-JP" sz="1150" b="0" dirty="0">
                <a:solidFill>
                  <a:srgbClr val="5A6378"/>
                </a:solidFill>
                <a:latin typeface="メイリオ" panose="020B0604030504040204" pitchFamily="50" charset="-128"/>
                <a:ea typeface="メイリオ" panose="020B0604030504040204" pitchFamily="50" charset="-128"/>
              </a:rPr>
              <a:t>8</a:t>
            </a:r>
            <a:r>
              <a:rPr lang="ja-JP" altLang="en-US" sz="1150" b="0" dirty="0">
                <a:solidFill>
                  <a:srgbClr val="5A6378"/>
                </a:solidFill>
                <a:latin typeface="メイリオ" panose="020B0604030504040204" pitchFamily="50" charset="-128"/>
                <a:ea typeface="メイリオ" panose="020B0604030504040204" pitchFamily="50" charset="-128"/>
              </a:rPr>
              <a:t>月）
繁忙期の</a:t>
            </a:r>
            <a:r>
              <a:rPr lang="en-US" altLang="ja-JP" sz="1150" b="0" dirty="0">
                <a:solidFill>
                  <a:srgbClr val="5A6378"/>
                </a:solidFill>
                <a:latin typeface="メイリオ" panose="020B0604030504040204" pitchFamily="50" charset="-128"/>
                <a:ea typeface="メイリオ" panose="020B0604030504040204" pitchFamily="50" charset="-128"/>
              </a:rPr>
              <a:t>1</a:t>
            </a:r>
            <a:r>
              <a:rPr lang="ja-JP" altLang="en-US" sz="1150" b="0" dirty="0">
                <a:solidFill>
                  <a:srgbClr val="5A6378"/>
                </a:solidFill>
                <a:latin typeface="メイリオ" panose="020B0604030504040204" pitchFamily="50" charset="-128"/>
                <a:ea typeface="メイリオ" panose="020B0604030504040204" pitchFamily="50" charset="-128"/>
              </a:rPr>
              <a:t>ヶ月前にトリガー配信を自動発火し、検索</a:t>
            </a:r>
            <a:r>
              <a:rPr lang="en-US" altLang="ja-JP" sz="1150" b="0" dirty="0">
                <a:solidFill>
                  <a:srgbClr val="5A6378"/>
                </a:solidFill>
                <a:latin typeface="メイリオ" panose="020B0604030504040204" pitchFamily="50" charset="-128"/>
                <a:ea typeface="メイリオ" panose="020B0604030504040204" pitchFamily="50" charset="-128"/>
              </a:rPr>
              <a:t>Vol</a:t>
            </a:r>
            <a:r>
              <a:rPr lang="ja-JP" altLang="en-US" sz="1150" b="0" dirty="0">
                <a:solidFill>
                  <a:srgbClr val="5A6378"/>
                </a:solidFill>
                <a:latin typeface="メイリオ" panose="020B0604030504040204" pitchFamily="50" charset="-128"/>
                <a:ea typeface="メイリオ" panose="020B0604030504040204" pitchFamily="50" charset="-128"/>
              </a:rPr>
              <a:t>推移をもとに再アンケートで温度感を再判定する</a:t>
            </a:r>
            <a:endParaRPr lang="en-US" altLang="ja-JP" sz="1150" b="0" dirty="0">
              <a:solidFill>
                <a:srgbClr val="5A637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C8102E"/>
                </a:solidFill>
                <a:latin typeface="メイリオ"/>
              </a:rPr>
              <a:t>D. 査定後フォローアップ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査定直後</a:t>
            </a:r>
          </a:p>
          <a:p>
            <a:pPr algn="ctr"/>
            <a:r>
              <a:rPr sz="1000">
                <a:solidFill>
                  <a:srgbClr val="FFFFFF"/>
                </a:solidFill>
                <a:latin typeface="メイリオ"/>
              </a:rPr>
              <a:t>「査定書の見方ガイド」動画配信</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rPr>
              <a:t>査定後30〜60日</a:t>
            </a:r>
          </a:p>
          <a:p>
            <a:pPr algn="ctr"/>
            <a:r>
              <a:rPr sz="1000">
                <a:solidFill>
                  <a:srgbClr val="FFFFFF"/>
                </a:solidFill>
                <a:latin typeface="メイリオ"/>
              </a:rPr>
              <a:t>成約事例レポート送付で締結後押し</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Meiryo"/>
                <a:ea typeface="Meiryo"/>
                <a:cs typeface="Meiryo"/>
                <a:sym typeface="Meiryo"/>
              </a:rPr>
              <a:t>↓</a:t>
            </a:r>
            <a:endParaRPr lang="en-US" altLang="ja-JP" sz="1000" b="1" dirty="0">
              <a:solidFill>
                <a:schemeClr val="bg1"/>
              </a:solidFill>
              <a:latin typeface="Meiryo"/>
              <a:ea typeface="Meiryo"/>
              <a:cs typeface="Meiryo"/>
              <a:sym typeface="Meiryo"/>
            </a:endParaRPr>
          </a:p>
          <a:p>
            <a:pPr algn="ctr"/>
            <a:r>
              <a:rPr lang="ja-JP" altLang="en-US" sz="1000" b="1" dirty="0">
                <a:solidFill>
                  <a:schemeClr val="bg1"/>
                </a:solidFill>
                <a:latin typeface="Meiryo"/>
                <a:ea typeface="Meiryo"/>
                <a:sym typeface="Meiryo"/>
              </a:rPr>
              <a:t>簡易</a:t>
            </a:r>
            <a:r>
              <a:rPr lang="en-US" altLang="ja-JP" sz="1000" b="1" dirty="0">
                <a:solidFill>
                  <a:schemeClr val="bg1"/>
                </a:solidFill>
                <a:latin typeface="Meiryo"/>
                <a:ea typeface="Meiryo"/>
                <a:sym typeface="Meiryo"/>
              </a:rPr>
              <a:t>SIM</a:t>
            </a:r>
            <a:r>
              <a:rPr lang="ja-JP" altLang="en-US" sz="1000" b="1" dirty="0">
                <a:solidFill>
                  <a:schemeClr val="bg1"/>
                </a:solidFill>
                <a:latin typeface="Meiryo"/>
                <a:ea typeface="Meiryo"/>
                <a:sym typeface="Meiryo"/>
              </a:rPr>
              <a:t>へ</a:t>
            </a:r>
            <a:endParaRPr lang="ja-JP" altLang="en-US" sz="1050" b="1" dirty="0">
              <a:solidFill>
                <a:schemeClr val="bg1"/>
              </a:solidFill>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Meiryo"/>
                <a:ea typeface="Meiryo"/>
                <a:cs typeface="Meiryo"/>
                <a:sym typeface="Meiryo"/>
              </a:rPr>
              <a:t>↓</a:t>
            </a:r>
            <a:endParaRPr lang="en-US" altLang="ja-JP" sz="1000" b="1" dirty="0">
              <a:solidFill>
                <a:schemeClr val="bg1"/>
              </a:solidFill>
              <a:latin typeface="Meiryo"/>
              <a:ea typeface="Meiryo"/>
              <a:cs typeface="Meiryo"/>
              <a:sym typeface="Meiryo"/>
            </a:endParaRPr>
          </a:p>
          <a:p>
            <a:pPr algn="ctr"/>
            <a:r>
              <a:rPr lang="en-US" altLang="ja-JP" sz="1000" b="1" dirty="0">
                <a:solidFill>
                  <a:schemeClr val="bg1"/>
                </a:solidFill>
                <a:latin typeface="Meiryo"/>
                <a:ea typeface="Meiryo"/>
                <a:sym typeface="Meiryo"/>
              </a:rPr>
              <a:t>LINE</a:t>
            </a:r>
            <a:r>
              <a:rPr lang="ja-JP" altLang="en-US" sz="1000" b="1" dirty="0">
                <a:solidFill>
                  <a:schemeClr val="bg1"/>
                </a:solidFill>
                <a:latin typeface="Meiryo"/>
                <a:ea typeface="Meiryo"/>
                <a:sym typeface="Meiryo"/>
              </a:rPr>
              <a:t>追加へ</a:t>
            </a:r>
            <a:endParaRPr lang="ja-JP" altLang="en-US" sz="1050" b="1" dirty="0">
              <a:solidFill>
                <a:schemeClr val="bg1"/>
              </a:solidFill>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Meiryo"/>
                <a:ea typeface="Meiryo"/>
                <a:cs typeface="Meiryo"/>
                <a:sym typeface="Meiryo"/>
              </a:rPr>
              <a:t>+</a:t>
            </a:r>
            <a:r>
              <a:rPr lang="ja-JP" altLang="en-US" sz="1050" b="1" dirty="0">
                <a:solidFill>
                  <a:srgbClr val="FF0000"/>
                </a:solidFill>
                <a:latin typeface="Meiryo"/>
                <a:ea typeface="Meiryo"/>
                <a:cs typeface="Meiryo"/>
                <a:sym typeface="Meiryo"/>
              </a:rPr>
              <a:t>設定地点追加</a:t>
            </a:r>
            <a:endParaRPr sz="1050" b="1" i="0" u="none" strike="noStrike" cap="none" dirty="0">
              <a:solidFill>
                <a:srgbClr val="FF00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rPr>
              <a:t>WEB</a:t>
            </a:r>
            <a:r>
              <a:rPr kumimoji="1" lang="ja-JP" altLang="en-US" sz="1100" b="1" dirty="0">
                <a:solidFill>
                  <a:schemeClr val="tx1"/>
                </a:solidFill>
                <a:latin typeface="メイリオ" panose="020B0604030504040204" pitchFamily="50" charset="-128"/>
                <a:ea typeface="メイリオ" panose="020B0604030504040204" pitchFamily="50" charset="-128"/>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B434BFFF-B81C-A758-D586-1D50BE3F94D1}"/>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Meiryo"/>
                <a:ea typeface="Meiryo"/>
                <a:cs typeface="Meiryo"/>
                <a:sym typeface="Meiryo"/>
              </a:rPr>
              <a:t>+</a:t>
            </a:r>
            <a:r>
              <a:rPr lang="ja-JP" altLang="en-US" sz="1050" b="1" dirty="0">
                <a:solidFill>
                  <a:srgbClr val="FF0000"/>
                </a:solidFill>
                <a:latin typeface="Meiryo"/>
                <a:ea typeface="Meiryo"/>
                <a:cs typeface="Meiryo"/>
                <a:sym typeface="Meiryo"/>
              </a:rPr>
              <a:t>設定地点追加</a:t>
            </a:r>
            <a:endParaRPr sz="1050" b="1" i="0" u="none" strike="noStrike" cap="none" dirty="0">
              <a:solidFill>
                <a:srgbClr val="FF0000"/>
              </a:solidFill>
              <a:latin typeface="Meiryo"/>
              <a:ea typeface="Meiryo"/>
              <a:cs typeface="Meiryo"/>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sp>
        <p:nvSpPr>
          <p:cNvPr id="51" name="正方形/長方形 50">
            <a:extLst>
              <a:ext uri="{FF2B5EF4-FFF2-40B4-BE49-F238E27FC236}">
                <a16:creationId xmlns:a16="http://schemas.microsoft.com/office/drawing/2014/main" id="{988A63FC-B094-5D0A-91B3-925316D9D3BD}"/>
              </a:ext>
            </a:extLst>
          </p:cNvPr>
          <p:cNvSpPr/>
          <p:nvPr/>
        </p:nvSpPr>
        <p:spPr>
          <a:xfrm>
            <a:off x="7939529" y="2665147"/>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FFF00"/>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rPr>
              <a:t>非友だち　：　友だち追加</a:t>
            </a:r>
            <a:r>
              <a:rPr lang="en-US" altLang="ja-JP" sz="1400" b="1" dirty="0">
                <a:latin typeface="メイリオ" panose="020B0604030504040204" pitchFamily="50" charset="-128"/>
                <a:ea typeface="メイリオ" panose="020B0604030504040204" pitchFamily="50" charset="-128"/>
              </a:rPr>
              <a:t>CTA</a:t>
            </a:r>
          </a:p>
          <a:p>
            <a:pPr algn="ctr"/>
            <a:r>
              <a:rPr lang="ja-JP" altLang="en-US" sz="1400" b="1" dirty="0">
                <a:latin typeface="メイリオ" panose="020B0604030504040204" pitchFamily="50" charset="-128"/>
                <a:ea typeface="メイリオ" panose="020B0604030504040204" pitchFamily="50" charset="-128"/>
              </a:rPr>
              <a:t>友だち　：　入力項目</a:t>
            </a:r>
            <a:endParaRPr lang="en-US" altLang="ja-JP" sz="1400" b="1" dirty="0">
              <a:latin typeface="メイリオ" panose="020B0604030504040204" pitchFamily="50" charset="-128"/>
              <a:ea typeface="メイリオ" panose="020B0604030504040204" pitchFamily="50" charset="-128"/>
            </a:endParaRPr>
          </a:p>
          <a:p>
            <a:pPr algn="ctr"/>
            <a:r>
              <a:rPr lang="ja-JP" altLang="en-US" sz="1400" b="1" dirty="0">
                <a:latin typeface="メイリオ" panose="020B0604030504040204" pitchFamily="50" charset="-128"/>
                <a:ea typeface="メイリオ" panose="020B0604030504040204" pitchFamily="50" charset="-128"/>
              </a:rPr>
              <a:t>↓</a:t>
            </a:r>
            <a:endParaRPr lang="en-US" altLang="ja-JP" sz="1400" b="1" dirty="0">
              <a:latin typeface="メイリオ" panose="020B0604030504040204" pitchFamily="50" charset="-128"/>
              <a:ea typeface="メイリオ" panose="020B0604030504040204" pitchFamily="50" charset="-128"/>
            </a:endParaRPr>
          </a:p>
          <a:p>
            <a:pPr algn="ctr"/>
            <a:r>
              <a:rPr kumimoji="1" lang="ja-JP" altLang="en-US" sz="1400" b="1" dirty="0">
                <a:solidFill>
                  <a:srgbClr val="FF0000"/>
                </a:solidFill>
                <a:latin typeface="メイリオ" panose="020B0604030504040204" pitchFamily="50" charset="-128"/>
                <a:ea typeface="メイリオ" panose="020B0604030504040204" pitchFamily="50" charset="-128"/>
              </a:rPr>
              <a:t>配信セグメントとして活用</a:t>
            </a:r>
            <a:endParaRPr kumimoji="1"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簡易</a:t>
            </a: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SIM</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⇨アンケ完了</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査定依頼</a:t>
            </a:r>
          </a:p>
        </p:txBody>
      </p:sp>
      <p:pic>
        <p:nvPicPr>
          <p:cNvPr id="1028" name="図 1027">
            <a:extLst>
              <a:ext uri="{FF2B5EF4-FFF2-40B4-BE49-F238E27FC236}">
                <a16:creationId xmlns:a16="http://schemas.microsoft.com/office/drawing/2014/main" id="{2E97B7B8-72E9-0E0E-034B-77BCB03A4632}"/>
              </a:ext>
            </a:extLst>
          </p:cNvPr>
          <p:cNvPicPr>
            <a:picLocks noChangeAspect="1"/>
          </p:cNvPicPr>
          <p:nvPr/>
        </p:nvPicPr>
        <p:blipFill>
          <a:blip r:embed="rId4"/>
          <a:stretch>
            <a:fillRect/>
          </a:stretch>
        </p:blipFill>
        <p:spPr>
          <a:xfrm>
            <a:off x="598364" y="2610452"/>
            <a:ext cx="1075862" cy="2185169"/>
          </a:xfrm>
          <a:prstGeom prst="rect">
            <a:avLst/>
          </a:prstGeom>
        </p:spPr>
      </p:pic>
      <p:pic>
        <p:nvPicPr>
          <p:cNvPr id="1031" name="図 1030">
            <a:extLst>
              <a:ext uri="{FF2B5EF4-FFF2-40B4-BE49-F238E27FC236}">
                <a16:creationId xmlns:a16="http://schemas.microsoft.com/office/drawing/2014/main" id="{FF433959-F83A-2A51-0F17-31EBD778CB4A}"/>
              </a:ext>
            </a:extLst>
          </p:cNvPr>
          <p:cNvPicPr>
            <a:picLocks noChangeAspect="1"/>
          </p:cNvPicPr>
          <p:nvPr/>
        </p:nvPicPr>
        <p:blipFill>
          <a:blip r:embed="rId5"/>
          <a:stretch>
            <a:fillRect/>
          </a:stretch>
        </p:blipFill>
        <p:spPr>
          <a:xfrm>
            <a:off x="1682197" y="2851209"/>
            <a:ext cx="1075862" cy="2185169"/>
          </a:xfrm>
          <a:prstGeom prst="rect">
            <a:avLst/>
          </a:prstGeom>
        </p:spPr>
      </p:pic>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シミュレーション結果</a:t>
            </a:r>
            <a:r>
              <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アンケ回答</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ステップ配信が開始（パターン②）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依頼内容の登録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ステップ配信が開始（パターン⓷）</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pic>
        <p:nvPicPr>
          <p:cNvPr id="1049" name="図 1048">
            <a:extLst>
              <a:ext uri="{FF2B5EF4-FFF2-40B4-BE49-F238E27FC236}">
                <a16:creationId xmlns:a16="http://schemas.microsoft.com/office/drawing/2014/main" id="{3A5943E7-B0A7-24E2-6573-514EDECCA798}"/>
              </a:ext>
            </a:extLst>
          </p:cNvPr>
          <p:cNvPicPr>
            <a:picLocks noChangeAspect="1"/>
          </p:cNvPicPr>
          <p:nvPr/>
        </p:nvPicPr>
        <p:blipFill>
          <a:blip r:embed="rId6"/>
          <a:stretch>
            <a:fillRect/>
          </a:stretch>
        </p:blipFill>
        <p:spPr>
          <a:xfrm>
            <a:off x="3462796" y="2590927"/>
            <a:ext cx="1252807" cy="2544560"/>
          </a:xfrm>
          <a:prstGeom prst="rect">
            <a:avLst/>
          </a:prstGeom>
        </p:spPr>
      </p:pic>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弊社想定シミュレーション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成果報酬プラン</a:t>
            </a:r>
            <a:endParaRPr kumimoji="1" lang="ja-JP" altLang="en-US" sz="1400" b="1"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友だち追加施策として「離脱防止」を実施。</a:t>
            </a:r>
          </a:p>
        </p:txBody>
      </p:sp>
      <p:graphicFrame>
        <p:nvGraphicFramePr>
          <p:cNvPr id="10" name="表 9">
            <a:extLst>
              <a:ext uri="{FF2B5EF4-FFF2-40B4-BE49-F238E27FC236}">
                <a16:creationId xmlns:a16="http://schemas.microsoft.com/office/drawing/2014/main" id="{373BB3E3-90D5-C9C7-977E-47D9526D91C0}"/>
              </a:ext>
            </a:extLst>
          </p:cNvPr>
          <p:cNvGraphicFramePr>
            <a:graphicFrameLocks noGrp="1"/>
          </p:cNvGraphicFramePr>
          <p:nvPr>
            <p:extLst>
              <p:ext uri="{D42A27DB-BD31-4B8C-83A1-F6EECF244321}">
                <p14:modId xmlns:p14="http://schemas.microsoft.com/office/powerpoint/2010/main" val="2015453067"/>
              </p:ext>
            </p:extLst>
          </p:nvPr>
        </p:nvGraphicFramePr>
        <p:xfrm>
          <a:off x="373644" y="1512320"/>
          <a:ext cx="9160881" cy="4384560"/>
        </p:xfrm>
        <a:graphic>
          <a:graphicData uri="http://schemas.openxmlformats.org/drawingml/2006/table">
            <a:tbl>
              <a:tblPr/>
              <a:tblGrid>
                <a:gridCol w="850771">
                  <a:extLst>
                    <a:ext uri="{9D8B030D-6E8A-4147-A177-3AD203B41FA5}">
                      <a16:colId xmlns:a16="http://schemas.microsoft.com/office/drawing/2014/main" val="3867224301"/>
                    </a:ext>
                  </a:extLst>
                </a:gridCol>
                <a:gridCol w="1817254">
                  <a:extLst>
                    <a:ext uri="{9D8B030D-6E8A-4147-A177-3AD203B41FA5}">
                      <a16:colId xmlns:a16="http://schemas.microsoft.com/office/drawing/2014/main" val="2056063786"/>
                    </a:ext>
                  </a:extLst>
                </a:gridCol>
                <a:gridCol w="345351">
                  <a:extLst>
                    <a:ext uri="{9D8B030D-6E8A-4147-A177-3AD203B41FA5}">
                      <a16:colId xmlns:a16="http://schemas.microsoft.com/office/drawing/2014/main" val="1012593074"/>
                    </a:ext>
                  </a:extLst>
                </a:gridCol>
                <a:gridCol w="878215">
                  <a:extLst>
                    <a:ext uri="{9D8B030D-6E8A-4147-A177-3AD203B41FA5}">
                      <a16:colId xmlns:a16="http://schemas.microsoft.com/office/drawing/2014/main" val="2172484671"/>
                    </a:ext>
                  </a:extLst>
                </a:gridCol>
                <a:gridCol w="878215">
                  <a:extLst>
                    <a:ext uri="{9D8B030D-6E8A-4147-A177-3AD203B41FA5}">
                      <a16:colId xmlns:a16="http://schemas.microsoft.com/office/drawing/2014/main" val="1153368013"/>
                    </a:ext>
                  </a:extLst>
                </a:gridCol>
                <a:gridCol w="878215">
                  <a:extLst>
                    <a:ext uri="{9D8B030D-6E8A-4147-A177-3AD203B41FA5}">
                      <a16:colId xmlns:a16="http://schemas.microsoft.com/office/drawing/2014/main" val="2957558946"/>
                    </a:ext>
                  </a:extLst>
                </a:gridCol>
                <a:gridCol w="878215">
                  <a:extLst>
                    <a:ext uri="{9D8B030D-6E8A-4147-A177-3AD203B41FA5}">
                      <a16:colId xmlns:a16="http://schemas.microsoft.com/office/drawing/2014/main" val="1694855242"/>
                    </a:ext>
                  </a:extLst>
                </a:gridCol>
                <a:gridCol w="878215">
                  <a:extLst>
                    <a:ext uri="{9D8B030D-6E8A-4147-A177-3AD203B41FA5}">
                      <a16:colId xmlns:a16="http://schemas.microsoft.com/office/drawing/2014/main" val="1514979199"/>
                    </a:ext>
                  </a:extLst>
                </a:gridCol>
                <a:gridCol w="878215">
                  <a:extLst>
                    <a:ext uri="{9D8B030D-6E8A-4147-A177-3AD203B41FA5}">
                      <a16:colId xmlns:a16="http://schemas.microsoft.com/office/drawing/2014/main" val="2507566632"/>
                    </a:ext>
                  </a:extLst>
                </a:gridCol>
                <a:gridCol w="878215">
                  <a:extLst>
                    <a:ext uri="{9D8B030D-6E8A-4147-A177-3AD203B41FA5}">
                      <a16:colId xmlns:a16="http://schemas.microsoft.com/office/drawing/2014/main" val="710882296"/>
                    </a:ext>
                  </a:extLst>
                </a:gridCol>
              </a:tblGrid>
              <a:tr h="153092">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rPr>
                        <a:t>項目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p>
                  </a:txBody>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※↓現状数値</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1か月目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2か月目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3か月目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4か月目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5か月目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6か月目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498939455"/>
                  </a:ext>
                </a:extLst>
              </a:tr>
              <a:tr h="159216">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WEBサイト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UU全体</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8738628"/>
                  </a:ext>
                </a:extLst>
              </a:tr>
              <a:tr h="159216">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UU(うち広告)</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52,632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331908"/>
                  </a:ext>
                </a:extLst>
              </a:tr>
              <a:tr h="159216">
                <a:tc v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CV（別施策） ※想定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469365"/>
                  </a:ext>
                </a:extLst>
              </a:tr>
              <a:tr h="153092">
                <a:tc rowSpan="5">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施策</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dirty="0">
                          <a:solidFill>
                            <a:srgbClr val="A6A6A6"/>
                          </a:solidFill>
                          <a:effectLst/>
                          <a:latin typeface="メイリオ" panose="020B0604030504040204" pitchFamily="50" charset="-128"/>
                          <a:ea typeface="メイリオ" panose="020B0604030504040204" pitchFamily="50" charset="-128"/>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1821568"/>
                  </a:ext>
                </a:extLst>
              </a:tr>
              <a:tr h="153092">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離脱防止</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4871047"/>
                  </a:ext>
                </a:extLst>
              </a:tr>
              <a:tr h="153092">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423221"/>
                  </a:ext>
                </a:extLst>
              </a:tr>
              <a:tr h="153092">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354505"/>
                  </a:ext>
                </a:extLst>
              </a:tr>
              <a:tr h="153092">
                <a:tc vMerge="1">
                  <a:txBody>
                    <a:bodyPr/>
                    <a:lstStyle/>
                    <a:p>
                      <a:endParaRPr kumimoji="1" lang="ja-JP" altLang="en-US"/>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rPr>
                        <a:t>通知メッセージ_既存リスト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kumimoji="1" lang="ja-JP" altLang="en-US" sz="800" b="0" i="0" u="none" strike="noStrike" kern="1200" cap="none" spc="0" normalizeH="0" baseline="0" noProof="0" dirty="0">
                          <a:ln>
                            <a:noFill/>
                          </a:ln>
                          <a:solidFill>
                            <a:srgbClr val="000000"/>
                          </a:solidFill>
                          <a:effectLst/>
                          <a:highlight>
                            <a:srgbClr val="FFFF00"/>
                          </a:highlight>
                          <a:uLnTx/>
                          <a:uFillTx/>
                          <a:latin typeface="メイリオ" panose="020B0604030504040204" pitchFamily="50" charset="-128"/>
                          <a:ea typeface="メイリオ" panose="020B0604030504040204" pitchFamily="50" charset="-128"/>
                          <a:cs typeface="+mn-cs"/>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1213545"/>
                  </a:ext>
                </a:extLst>
              </a:tr>
              <a:tr h="153092">
                <a:tc rowSpan="4">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施策増分</a:t>
                      </a:r>
                      <a:br>
                        <a:rPr lang="ja-JP" sz="800" b="0" i="0" u="none" strike="noStrike" dirty="0">
                          <a:solidFill>
                            <a:srgbClr val="000000"/>
                          </a:solidFill>
                          <a:effectLst/>
                          <a:latin typeface="メイリオ" panose="020B0604030504040204" pitchFamily="50" charset="-128"/>
                          <a:ea typeface="メイリオ" panose="020B0604030504040204" pitchFamily="50" charset="-128"/>
                        </a:rPr>
                      </a:br>
                      <a:r>
                        <a:rPr lang="ja-JP" sz="800" b="0" i="0" u="none" strike="noStrike" dirty="0">
                          <a:solidFill>
                            <a:srgbClr val="000000"/>
                          </a:solidFill>
                          <a:effectLst/>
                          <a:latin typeface="メイリオ" panose="020B0604030504040204" pitchFamily="50" charset="-128"/>
                          <a:ea typeface="メイリオ" panose="020B0604030504040204" pitchFamily="50" charset="-128"/>
                        </a:rPr>
                        <a:t>※友だち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946824"/>
                  </a:ext>
                </a:extLst>
              </a:tr>
              <a:tr h="159216">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離脱防止</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3615"/>
                  </a:ext>
                </a:extLst>
              </a:tr>
              <a:tr h="159216">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132676"/>
                  </a:ext>
                </a:extLst>
              </a:tr>
              <a:tr h="159216">
                <a:tc v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3815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友だち数_増加数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1,816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1,649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1,649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1,649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1,649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1,649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07182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ブロック率</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42.50%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43.56%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44.65%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45.77%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46.91%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48.08%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88580"/>
                  </a:ext>
                </a:extLst>
              </a:tr>
              <a:tr h="159216">
                <a:tc gridSpan="2">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友だち数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1,816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3,465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FF0000"/>
                          </a:solidFill>
                          <a:effectLst/>
                          <a:latin typeface="メイリオ" panose="020B0604030504040204" pitchFamily="50" charset="-128"/>
                          <a:ea typeface="メイリオ" panose="020B0604030504040204" pitchFamily="50" charset="-128"/>
                        </a:rPr>
                        <a:t>5,113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6,762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8,410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10,059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443437"/>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ターゲット数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1,044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1,955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2,830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3,667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4,465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5,222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68212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企画投稿数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7265859"/>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企画投稿からの流入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295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442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539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7735899"/>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ステップ配信本数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9159928"/>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ステップ配信からの流入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749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1,402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2,104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2,562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2,996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16042"/>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配信数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8,354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15,643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22,641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23,469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28,575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33,421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57089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想定Click数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1,858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3,480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5,036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5,220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6,356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7,434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473668"/>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新規CV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査定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1092775"/>
                  </a:ext>
                </a:extLst>
              </a:tr>
              <a:tr h="153092">
                <a:tc vMerge="1">
                  <a:txBody>
                    <a:bodyPr/>
                    <a:lstStyle/>
                    <a:p>
                      <a:endParaRPr kumimoji="1" lang="ja-JP" altLang="en-US"/>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相談予約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9209465"/>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リピートCV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rPr>
                        <a:t>査定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456770"/>
                  </a:ext>
                </a:extLst>
              </a:tr>
              <a:tr h="153092">
                <a:tc vMerge="1">
                  <a:txBody>
                    <a:bodyPr/>
                    <a:lstStyle/>
                    <a:p>
                      <a:endParaRPr kumimoji="1" lang="ja-JP" altLang="en-US"/>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相談予約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FF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994309"/>
                  </a:ext>
                </a:extLst>
              </a:tr>
              <a:tr h="153092">
                <a:tc gridSpan="2">
                  <a:txBody>
                    <a:bodyPr/>
                    <a:lstStyle/>
                    <a:p>
                      <a:pPr algn="ct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rPr>
                        <a:t>合計CV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ct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rPr>
                        <a:t>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63053220"/>
                  </a:ext>
                </a:extLst>
              </a:tr>
            </a:tbl>
          </a:graphicData>
        </a:graphic>
      </p:graphicFrame>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D388-F98E-03E5-C3D4-A6C1A062AAF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BDD7ED3-F444-10FE-EBC9-57BAFAF299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弊社想定シミュレーション</a:t>
            </a:r>
          </a:p>
        </p:txBody>
      </p:sp>
      <p:sp>
        <p:nvSpPr>
          <p:cNvPr id="9" name="正方形/長方形 8">
            <a:extLst>
              <a:ext uri="{FF2B5EF4-FFF2-40B4-BE49-F238E27FC236}">
                <a16:creationId xmlns:a16="http://schemas.microsoft.com/office/drawing/2014/main" id="{FBD4AB07-F6DD-682F-94F2-55F9EF92D92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rPr>
              <a:t>成果報酬プラン</a:t>
            </a:r>
          </a:p>
        </p:txBody>
      </p:sp>
      <p:sp>
        <p:nvSpPr>
          <p:cNvPr id="5" name="Google Shape;752;p28">
            <a:extLst>
              <a:ext uri="{FF2B5EF4-FFF2-40B4-BE49-F238E27FC236}">
                <a16:creationId xmlns:a16="http://schemas.microsoft.com/office/drawing/2014/main" id="{FE9C6D1D-72D5-15BC-F9E9-124AE1A23AAA}"/>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友だち追加施策として「離脱防止」を実施。</a:t>
            </a:r>
          </a:p>
        </p:txBody>
      </p:sp>
      <p:graphicFrame>
        <p:nvGraphicFramePr>
          <p:cNvPr id="10" name="表 9">
            <a:extLst>
              <a:ext uri="{FF2B5EF4-FFF2-40B4-BE49-F238E27FC236}">
                <a16:creationId xmlns:a16="http://schemas.microsoft.com/office/drawing/2014/main" id="{C4DD1A48-7C8F-25E8-16FC-3282274F0B93}"/>
              </a:ext>
            </a:extLst>
          </p:cNvPr>
          <p:cNvGraphicFramePr>
            <a:graphicFrameLocks noGrp="1"/>
          </p:cNvGraphicFramePr>
          <p:nvPr/>
        </p:nvGraphicFramePr>
        <p:xfrm>
          <a:off x="704124" y="1803590"/>
          <a:ext cx="1367245" cy="462575"/>
        </p:xfrm>
        <a:graphic>
          <a:graphicData uri="http://schemas.openxmlformats.org/drawingml/2006/table">
            <a:tbl>
              <a:tblPr/>
              <a:tblGrid>
                <a:gridCol w="1367245">
                  <a:extLst>
                    <a:ext uri="{9D8B030D-6E8A-4147-A177-3AD203B41FA5}">
                      <a16:colId xmlns:a16="http://schemas.microsoft.com/office/drawing/2014/main" val="3858994572"/>
                    </a:ext>
                  </a:extLst>
                </a:gridCol>
              </a:tblGrid>
              <a:tr h="462575">
                <a:tc>
                  <a:txBody>
                    <a:bodyPr/>
                    <a:lstStyle/>
                    <a:p>
                      <a:pPr algn="ctr"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初期費用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51909190"/>
                  </a:ext>
                </a:extLst>
              </a:tr>
            </a:tbl>
          </a:graphicData>
        </a:graphic>
      </p:graphicFrame>
      <p:graphicFrame>
        <p:nvGraphicFramePr>
          <p:cNvPr id="12" name="表 11">
            <a:extLst>
              <a:ext uri="{FF2B5EF4-FFF2-40B4-BE49-F238E27FC236}">
                <a16:creationId xmlns:a16="http://schemas.microsoft.com/office/drawing/2014/main" id="{CE0D5AE9-9962-57E0-8896-BE0E4756FA85}"/>
              </a:ext>
            </a:extLst>
          </p:cNvPr>
          <p:cNvGraphicFramePr>
            <a:graphicFrameLocks noGrp="1"/>
          </p:cNvGraphicFramePr>
          <p:nvPr>
            <p:extLst>
              <p:ext uri="{D42A27DB-BD31-4B8C-83A1-F6EECF244321}">
                <p14:modId xmlns:p14="http://schemas.microsoft.com/office/powerpoint/2010/main" val="3967744387"/>
              </p:ext>
            </p:extLst>
          </p:nvPr>
        </p:nvGraphicFramePr>
        <p:xfrm>
          <a:off x="2145635" y="1803590"/>
          <a:ext cx="2712478" cy="462575"/>
        </p:xfrm>
        <a:graphic>
          <a:graphicData uri="http://schemas.openxmlformats.org/drawingml/2006/table">
            <a:tbl>
              <a:tblPr/>
              <a:tblGrid>
                <a:gridCol w="2712478">
                  <a:extLst>
                    <a:ext uri="{9D8B030D-6E8A-4147-A177-3AD203B41FA5}">
                      <a16:colId xmlns:a16="http://schemas.microsoft.com/office/drawing/2014/main" val="3858994572"/>
                    </a:ext>
                  </a:extLst>
                </a:gridCol>
              </a:tblGrid>
              <a:tr h="462575">
                <a:tc>
                  <a:txBody>
                    <a:bodyPr/>
                    <a:lstStyle/>
                    <a:p>
                      <a:pPr algn="ctr" fontAlgn="ctr">
                        <a:buNone/>
                      </a:pP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1800" b="1" i="0" u="none" strike="noStrike" dirty="0">
                          <a:solidFill>
                            <a:srgbClr val="000000"/>
                          </a:solidFill>
                          <a:effectLst/>
                          <a:latin typeface="メイリオ" panose="020B0604030504040204" pitchFamily="50" charset="-128"/>
                          <a:ea typeface="メイリオ" panose="020B0604030504040204" pitchFamily="50" charset="-128"/>
                        </a:rPr>
                        <a:t>200,000</a:t>
                      </a:r>
                      <a:endParaRPr lang="ja-JP" altLang="en-US" sz="1800" b="1" i="0" u="none" strike="noStrike" dirty="0">
                        <a:solidFill>
                          <a:srgbClr val="00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909190"/>
                  </a:ext>
                </a:extLst>
              </a:tr>
            </a:tbl>
          </a:graphicData>
        </a:graphic>
      </p:graphicFrame>
      <p:graphicFrame>
        <p:nvGraphicFramePr>
          <p:cNvPr id="14" name="表 13">
            <a:extLst>
              <a:ext uri="{FF2B5EF4-FFF2-40B4-BE49-F238E27FC236}">
                <a16:creationId xmlns:a16="http://schemas.microsoft.com/office/drawing/2014/main" id="{24842E98-5066-43A6-D03A-1A8E52DABE7E}"/>
              </a:ext>
            </a:extLst>
          </p:cNvPr>
          <p:cNvGraphicFramePr>
            <a:graphicFrameLocks noGrp="1"/>
          </p:cNvGraphicFramePr>
          <p:nvPr>
            <p:extLst>
              <p:ext uri="{D42A27DB-BD31-4B8C-83A1-F6EECF244321}">
                <p14:modId xmlns:p14="http://schemas.microsoft.com/office/powerpoint/2010/main" val="779732373"/>
              </p:ext>
            </p:extLst>
          </p:nvPr>
        </p:nvGraphicFramePr>
        <p:xfrm>
          <a:off x="2145635" y="2361128"/>
          <a:ext cx="2712478" cy="462575"/>
        </p:xfrm>
        <a:graphic>
          <a:graphicData uri="http://schemas.openxmlformats.org/drawingml/2006/table">
            <a:tbl>
              <a:tblPr/>
              <a:tblGrid>
                <a:gridCol w="2712478">
                  <a:extLst>
                    <a:ext uri="{9D8B030D-6E8A-4147-A177-3AD203B41FA5}">
                      <a16:colId xmlns:a16="http://schemas.microsoft.com/office/drawing/2014/main" val="813940788"/>
                    </a:ext>
                  </a:extLst>
                </a:gridCol>
              </a:tblGrid>
              <a:tr h="462575">
                <a:tc>
                  <a:txBody>
                    <a:bodyPr/>
                    <a:lstStyle/>
                    <a:p>
                      <a:pPr algn="ctr" fontAlgn="ctr">
                        <a:buNone/>
                      </a:pP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1600" b="1" i="0" u="none" strike="noStrike" dirty="0">
                          <a:solidFill>
                            <a:srgbClr val="000000"/>
                          </a:solidFill>
                          <a:effectLst/>
                          <a:latin typeface="メイリオ" panose="020B0604030504040204" pitchFamily="50" charset="-128"/>
                          <a:ea typeface="メイリオ" panose="020B0604030504040204" pitchFamily="50" charset="-128"/>
                        </a:rPr>
                        <a:t>210,000</a:t>
                      </a:r>
                      <a:r>
                        <a:rPr lang="en-US" altLang="ja-JP" sz="1100" b="1" i="0" u="none" strike="noStrike" dirty="0">
                          <a:solidFill>
                            <a:srgbClr val="000000"/>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000000"/>
                          </a:solidFill>
                          <a:effectLst/>
                          <a:latin typeface="メイリオ" panose="020B0604030504040204" pitchFamily="50" charset="-128"/>
                          <a:ea typeface="メイリオ" panose="020B0604030504040204" pitchFamily="50" charset="-128"/>
                        </a:rPr>
                        <a:t>660,000</a:t>
                      </a:r>
                    </a:p>
                    <a:p>
                      <a:pPr algn="ctr" fontAlgn="ctr">
                        <a:buNone/>
                      </a:pPr>
                      <a:r>
                        <a:rPr lang="en-US" altLang="ja-JP" sz="9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900" b="0" i="0" u="none" strike="noStrike" dirty="0">
                          <a:solidFill>
                            <a:srgbClr val="FF0000"/>
                          </a:solidFill>
                          <a:effectLst/>
                          <a:latin typeface="メイリオ" panose="020B0604030504040204" pitchFamily="50" charset="-128"/>
                          <a:ea typeface="メイリオ" panose="020B0604030504040204" pitchFamily="50" charset="-128"/>
                        </a:rPr>
                        <a:t>査定 </a:t>
                      </a:r>
                      <a:r>
                        <a:rPr lang="en-US" altLang="ja-JP" sz="900" b="0" i="0" u="none" strike="noStrike" dirty="0">
                          <a:solidFill>
                            <a:srgbClr val="FF0000"/>
                          </a:solidFill>
                          <a:effectLst/>
                          <a:latin typeface="メイリオ" panose="020B0604030504040204" pitchFamily="50" charset="-128"/>
                          <a:ea typeface="メイリオ" panose="020B0604030504040204" pitchFamily="50" charset="-128"/>
                        </a:rPr>
                        <a:t>25,000</a:t>
                      </a:r>
                      <a:r>
                        <a:rPr lang="ja-JP" altLang="en-US" sz="900" b="0" i="0" u="none" strike="noStrike" dirty="0">
                          <a:solidFill>
                            <a:srgbClr val="FF0000"/>
                          </a:solidFill>
                          <a:effectLst/>
                          <a:latin typeface="メイリオ" panose="020B0604030504040204" pitchFamily="50" charset="-128"/>
                          <a:ea typeface="メイリオ" panose="020B0604030504040204" pitchFamily="50" charset="-128"/>
                        </a:rPr>
                        <a:t>円、相談予約 </a:t>
                      </a:r>
                      <a:r>
                        <a:rPr lang="en-US" altLang="ja-JP" sz="900" b="0" i="0" u="none" strike="noStrike" dirty="0">
                          <a:solidFill>
                            <a:srgbClr val="FF0000"/>
                          </a:solidFill>
                          <a:effectLst/>
                          <a:latin typeface="メイリオ" panose="020B0604030504040204" pitchFamily="50" charset="-128"/>
                          <a:ea typeface="メイリオ" panose="020B0604030504040204" pitchFamily="50" charset="-128"/>
                        </a:rPr>
                        <a:t>40,000</a:t>
                      </a:r>
                      <a:r>
                        <a:rPr lang="ja-JP" altLang="en-US" sz="900" b="0" i="0" u="none" strike="noStrike" dirty="0">
                          <a:solidFill>
                            <a:srgbClr val="FF0000"/>
                          </a:solidFill>
                          <a:effectLst/>
                          <a:latin typeface="メイリオ" panose="020B0604030504040204" pitchFamily="50" charset="-128"/>
                          <a:ea typeface="メイリオ" panose="020B0604030504040204" pitchFamily="50" charset="-128"/>
                        </a:rPr>
                        <a:t>円で設定</a:t>
                      </a:r>
                      <a:endParaRPr lang="en-US" altLang="ja-JP" sz="14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02775794"/>
                  </a:ext>
                </a:extLst>
              </a:tr>
            </a:tbl>
          </a:graphicData>
        </a:graphic>
      </p:graphicFrame>
      <p:graphicFrame>
        <p:nvGraphicFramePr>
          <p:cNvPr id="16" name="表 15">
            <a:extLst>
              <a:ext uri="{FF2B5EF4-FFF2-40B4-BE49-F238E27FC236}">
                <a16:creationId xmlns:a16="http://schemas.microsoft.com/office/drawing/2014/main" id="{284C90C0-98C2-324A-C6EB-3A49C0F3E12D}"/>
              </a:ext>
            </a:extLst>
          </p:cNvPr>
          <p:cNvGraphicFramePr>
            <a:graphicFrameLocks noGrp="1"/>
          </p:cNvGraphicFramePr>
          <p:nvPr>
            <p:extLst>
              <p:ext uri="{D42A27DB-BD31-4B8C-83A1-F6EECF244321}">
                <p14:modId xmlns:p14="http://schemas.microsoft.com/office/powerpoint/2010/main" val="617717068"/>
              </p:ext>
            </p:extLst>
          </p:nvPr>
        </p:nvGraphicFramePr>
        <p:xfrm>
          <a:off x="711699" y="2361128"/>
          <a:ext cx="1367245" cy="462575"/>
        </p:xfrm>
        <a:graphic>
          <a:graphicData uri="http://schemas.openxmlformats.org/drawingml/2006/table">
            <a:tbl>
              <a:tblPr/>
              <a:tblGrid>
                <a:gridCol w="1367245">
                  <a:extLst>
                    <a:ext uri="{9D8B030D-6E8A-4147-A177-3AD203B41FA5}">
                      <a16:colId xmlns:a16="http://schemas.microsoft.com/office/drawing/2014/main" val="813940788"/>
                    </a:ext>
                  </a:extLst>
                </a:gridCol>
              </a:tblGrid>
              <a:tr h="46257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月額費用</a:t>
                      </a:r>
                      <a:endParaRPr lang="en-US" altLang="ja-JP" sz="1100" b="1" i="0" u="none" strike="noStrike" dirty="0">
                        <a:solidFill>
                          <a:srgbClr val="FFFFFF"/>
                        </a:solidFill>
                        <a:effectLst/>
                        <a:latin typeface="メイリオ" panose="020B0604030504040204" pitchFamily="50" charset="-128"/>
                        <a:ea typeface="メイリオ" panose="020B0604030504040204" pitchFamily="50" charset="-128"/>
                      </a:endParaRPr>
                    </a:p>
                    <a:p>
                      <a:pPr algn="ctr" fontAlgn="ctr">
                        <a:buNone/>
                      </a:pPr>
                      <a:r>
                        <a:rPr lang="en-US" altLang="ja-JP" sz="800" b="1" i="0" u="none" strike="noStrike" dirty="0">
                          <a:solidFill>
                            <a:srgbClr val="FFFFFF"/>
                          </a:solidFill>
                          <a:effectLst/>
                          <a:latin typeface="メイリオ" panose="020B0604030504040204" pitchFamily="50" charset="-128"/>
                          <a:ea typeface="メイリオ" panose="020B0604030504040204" pitchFamily="50" charset="-128"/>
                        </a:rPr>
                        <a:t>※</a:t>
                      </a: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成果報酬プラン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802775794"/>
                  </a:ext>
                </a:extLst>
              </a:tr>
            </a:tbl>
          </a:graphicData>
        </a:graphic>
      </p:graphicFrame>
      <p:graphicFrame>
        <p:nvGraphicFramePr>
          <p:cNvPr id="2" name="表 1">
            <a:extLst>
              <a:ext uri="{FF2B5EF4-FFF2-40B4-BE49-F238E27FC236}">
                <a16:creationId xmlns:a16="http://schemas.microsoft.com/office/drawing/2014/main" id="{B3660FD1-8EDB-14B0-55FB-1134D75E1E18}"/>
              </a:ext>
            </a:extLst>
          </p:cNvPr>
          <p:cNvGraphicFramePr>
            <a:graphicFrameLocks noGrp="1"/>
          </p:cNvGraphicFramePr>
          <p:nvPr>
            <p:extLst>
              <p:ext uri="{D42A27DB-BD31-4B8C-83A1-F6EECF244321}">
                <p14:modId xmlns:p14="http://schemas.microsoft.com/office/powerpoint/2010/main" val="1019166198"/>
              </p:ext>
            </p:extLst>
          </p:nvPr>
        </p:nvGraphicFramePr>
        <p:xfrm>
          <a:off x="681037" y="3077158"/>
          <a:ext cx="9081274" cy="2165400"/>
        </p:xfrm>
        <a:graphic>
          <a:graphicData uri="http://schemas.openxmlformats.org/drawingml/2006/table">
            <a:tbl>
              <a:tblPr/>
              <a:tblGrid>
                <a:gridCol w="843040">
                  <a:extLst>
                    <a:ext uri="{9D8B030D-6E8A-4147-A177-3AD203B41FA5}">
                      <a16:colId xmlns:a16="http://schemas.microsoft.com/office/drawing/2014/main" val="3722053567"/>
                    </a:ext>
                  </a:extLst>
                </a:gridCol>
                <a:gridCol w="1276346">
                  <a:extLst>
                    <a:ext uri="{9D8B030D-6E8A-4147-A177-3AD203B41FA5}">
                      <a16:colId xmlns:a16="http://schemas.microsoft.com/office/drawing/2014/main" val="950157771"/>
                    </a:ext>
                  </a:extLst>
                </a:gridCol>
                <a:gridCol w="870236">
                  <a:extLst>
                    <a:ext uri="{9D8B030D-6E8A-4147-A177-3AD203B41FA5}">
                      <a16:colId xmlns:a16="http://schemas.microsoft.com/office/drawing/2014/main" val="1828844380"/>
                    </a:ext>
                  </a:extLst>
                </a:gridCol>
                <a:gridCol w="870236">
                  <a:extLst>
                    <a:ext uri="{9D8B030D-6E8A-4147-A177-3AD203B41FA5}">
                      <a16:colId xmlns:a16="http://schemas.microsoft.com/office/drawing/2014/main" val="1109507576"/>
                    </a:ext>
                  </a:extLst>
                </a:gridCol>
                <a:gridCol w="870236">
                  <a:extLst>
                    <a:ext uri="{9D8B030D-6E8A-4147-A177-3AD203B41FA5}">
                      <a16:colId xmlns:a16="http://schemas.microsoft.com/office/drawing/2014/main" val="1003411805"/>
                    </a:ext>
                  </a:extLst>
                </a:gridCol>
                <a:gridCol w="870236">
                  <a:extLst>
                    <a:ext uri="{9D8B030D-6E8A-4147-A177-3AD203B41FA5}">
                      <a16:colId xmlns:a16="http://schemas.microsoft.com/office/drawing/2014/main" val="317879950"/>
                    </a:ext>
                  </a:extLst>
                </a:gridCol>
                <a:gridCol w="870236">
                  <a:extLst>
                    <a:ext uri="{9D8B030D-6E8A-4147-A177-3AD203B41FA5}">
                      <a16:colId xmlns:a16="http://schemas.microsoft.com/office/drawing/2014/main" val="1722450559"/>
                    </a:ext>
                  </a:extLst>
                </a:gridCol>
                <a:gridCol w="870236">
                  <a:extLst>
                    <a:ext uri="{9D8B030D-6E8A-4147-A177-3AD203B41FA5}">
                      <a16:colId xmlns:a16="http://schemas.microsoft.com/office/drawing/2014/main" val="1085201297"/>
                    </a:ext>
                  </a:extLst>
                </a:gridCol>
                <a:gridCol w="870236">
                  <a:extLst>
                    <a:ext uri="{9D8B030D-6E8A-4147-A177-3AD203B41FA5}">
                      <a16:colId xmlns:a16="http://schemas.microsoft.com/office/drawing/2014/main" val="2042819757"/>
                    </a:ext>
                  </a:extLst>
                </a:gridCol>
                <a:gridCol w="870236">
                  <a:extLst>
                    <a:ext uri="{9D8B030D-6E8A-4147-A177-3AD203B41FA5}">
                      <a16:colId xmlns:a16="http://schemas.microsoft.com/office/drawing/2014/main" val="3405569139"/>
                    </a:ext>
                  </a:extLst>
                </a:gridCol>
              </a:tblGrid>
              <a:tr h="240600">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■成果報酬運営</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現状数値</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初期</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1865101"/>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従量課金</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rPr>
                        <a:t>¥10,264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213383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コスト想定(固定費)</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¥200,000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¥54,800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¥54,800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¥54,800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¥54,800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¥54,800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¥65,064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499569"/>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友だち獲得単価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4367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CPC想定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¥113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¥67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¥89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3536617"/>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CVR想定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0.23%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0.24%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0.24%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1317927"/>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CPA想定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¥41,960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¥37,475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¥37,756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¥36,138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¥36,653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rPr>
                        <a:t>¥36,685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5297114"/>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成果報酬_費用発生</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¥155,000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¥245,000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¥285,000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¥415,000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¥585,000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3273649"/>
                  </a:ext>
                </a:extLst>
              </a:tr>
              <a:tr h="24060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rPr>
                        <a:t>総計コスト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p>
                  </a:txBody>
                  <a:tcPr/>
                </a:tc>
                <a:tc>
                  <a:txBody>
                    <a:bodyPr/>
                    <a:lstStyle/>
                    <a:p>
                      <a:pPr algn="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¥200,000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¥209,800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¥299,800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¥339,800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rPr>
                        <a:t>¥469,800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¥549,800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rPr>
                        <a:t>¥660,329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5297540"/>
                  </a:ext>
                </a:extLst>
              </a:tr>
            </a:tbl>
          </a:graphicData>
        </a:graphic>
      </p:graphicFrame>
    </p:spTree>
    <p:extLst>
      <p:ext uri="{BB962C8B-B14F-4D97-AF65-F5344CB8AC3E}">
        <p14:creationId xmlns:p14="http://schemas.microsoft.com/office/powerpoint/2010/main" val="42155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rPr>
              <a:t>不動産・高額商材領域における導入実績</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rPr>
              <a:t>大手不動産仲介（売却・査定）</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rPr>
              <a:t>1.8倍</a:t>
            </a:r>
          </a:p>
          <a:p>
            <a:pPr algn="ctr"/>
            <a:r>
              <a:rPr sz="800">
                <a:solidFill>
                  <a:srgbClr val="FFFFFF"/>
                </a:solidFill>
                <a:latin typeface="メイリオ" panose="020B0604030504040204" pitchFamily="50" charset="-128"/>
                <a:ea typeface="メイリオ" panose="020B0604030504040204" pitchFamily="50" charset="-128"/>
              </a:rPr>
              <a:t>月間友だち
獲得数</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rPr>
              <a:t>+35%</a:t>
            </a:r>
          </a:p>
          <a:p>
            <a:pPr algn="ctr"/>
            <a:r>
              <a:rPr sz="800">
                <a:solidFill>
                  <a:srgbClr val="FFFFFF"/>
                </a:solidFill>
                <a:latin typeface="メイリオ" panose="020B0604030504040204" pitchFamily="50" charset="-128"/>
                <a:ea typeface="メイリオ" panose="020B0604030504040204" pitchFamily="50" charset="-128"/>
              </a:rPr>
              <a:t>LINE経由
査定申込数</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C8102E"/>
                </a:solidFill>
                <a:latin typeface="メイリオ" panose="020B0604030504040204" pitchFamily="50" charset="-128"/>
                <a:ea typeface="メイリオ" panose="020B0604030504040204" pitchFamily="50" charset="-128"/>
              </a:rPr>
              <a:t>高額商材・BtoC D2C領域</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rPr>
              <a:t>40%→25%</a:t>
            </a:r>
          </a:p>
          <a:p>
            <a:pPr algn="ctr"/>
            <a:r>
              <a:rPr sz="800" dirty="0" err="1">
                <a:solidFill>
                  <a:srgbClr val="FFFFFF"/>
                </a:solidFill>
                <a:latin typeface="メイリオ" panose="020B0604030504040204" pitchFamily="50" charset="-128"/>
                <a:ea typeface="メイリオ" panose="020B0604030504040204" pitchFamily="50" charset="-128"/>
              </a:rPr>
              <a:t>ブロック率の改善</a:t>
            </a:r>
            <a:endParaRPr sz="800" dirty="0">
              <a:solidFill>
                <a:srgbClr val="FFFFFF"/>
              </a:solidFill>
              <a:latin typeface="メイリオ" panose="020B0604030504040204" pitchFamily="50" charset="-128"/>
              <a:ea typeface="メイリオ" panose="020B0604030504040204" pitchFamily="50" charset="-128"/>
            </a:endParaRP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rPr>
              <a:t>22%</a:t>
            </a:r>
          </a:p>
          <a:p>
            <a:pPr algn="ctr"/>
            <a:r>
              <a:rPr sz="800">
                <a:solidFill>
                  <a:srgbClr val="FFFFFF"/>
                </a:solidFill>
                <a:latin typeface="メイリオ" panose="020B0604030504040204" pitchFamily="50" charset="-128"/>
                <a:ea typeface="メイリオ" panose="020B0604030504040204" pitchFamily="50" charset="-128"/>
              </a:rPr>
              <a:t>休眠リストの
友だち化率</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rPr>
              <a:t>2.6倍</a:t>
            </a:r>
          </a:p>
          <a:p>
            <a:pPr algn="ctr"/>
            <a:r>
              <a:rPr sz="800" dirty="0" err="1">
                <a:solidFill>
                  <a:srgbClr val="FFFFFF"/>
                </a:solidFill>
                <a:latin typeface="メイリオ" panose="020B0604030504040204" pitchFamily="50" charset="-128"/>
                <a:ea typeface="メイリオ" panose="020B0604030504040204" pitchFamily="50" charset="-128"/>
              </a:rPr>
              <a:t>再アクティブ化</a:t>
            </a:r>
            <a:r>
              <a:rPr sz="800" dirty="0">
                <a:solidFill>
                  <a:srgbClr val="FFFFFF"/>
                </a:solidFill>
                <a:latin typeface="メイリオ" panose="020B0604030504040204" pitchFamily="50" charset="-128"/>
                <a:ea typeface="メイリオ" panose="020B0604030504040204" pitchFamily="50" charset="-128"/>
              </a:rPr>
              <a:t>
CVR</a:t>
            </a:r>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