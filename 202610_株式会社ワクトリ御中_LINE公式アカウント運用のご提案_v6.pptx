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25"/>
    <p:sldId id="3175" r:id="rId26"/>
    <p:sldId id="3176" r:id="rId27"/>
    <p:sldId id="2728" r:id="rId28"/>
    <p:sldId id="3160" r:id="rId29"/>
    <p:sldId id="3161" r:id="rId30"/>
    <p:sldId id="3162" r:id="rId31"/>
    <p:sldId id="3163" r:id="rId32"/>
    <p:sldId id="3164" r:id="rId33"/>
    <p:sldId id="3165" r:id="rId34"/>
    <p:sldId id="3166" r:id="rId35"/>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notesMaster" Target="notesMasters/notesMaster1.xml"/><Relationship Id="rId59" Type="http://schemas.openxmlformats.org/officeDocument/2006/relationships/handoutMaster" Target="handoutMasters/handout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jpg"/><Relationship Id="rId3" Type="http://schemas.openxmlformats.org/officeDocument/2006/relationships/image" Target="../media/image57.jp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jpeg"/><Relationship Id="rId8" Type="http://schemas.openxmlformats.org/officeDocument/2006/relationships/image" Target="../media/image62.jp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hyperlink" Target="https://youtube.com/shorts/0qI4QgrOppQ"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8.jpeg"/><Relationship Id="rId5" Type="http://schemas.openxmlformats.org/officeDocument/2006/relationships/image" Target="../media/image69.jpeg"/><Relationship Id="rId6" Type="http://schemas.openxmlformats.org/officeDocument/2006/relationships/image" Target="../media/image70.jpeg"/><Relationship Id="rId7" Type="http://schemas.openxmlformats.org/officeDocument/2006/relationships/image" Target="../media/image71.jpeg"/><Relationship Id="rId8" Type="http://schemas.openxmlformats.org/officeDocument/2006/relationships/image" Target="../media/image7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他社は、追加の直後から登録・相談へつないでいる。リゾートバイトの集客で、LINEは必須の接点になっている。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69" name="Rectangle 58"/>
          <p:cNvSpPr/>
          <p:nvPr/>
        </p:nvSpPr>
        <p:spPr>
          <a:xfrm>
            <a:off x="384048" y="1828800"/>
            <a:ext cx="20574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70" name="Rectangle 59"/>
          <p:cNvSpPr/>
          <p:nvPr/>
        </p:nvSpPr>
        <p:spPr>
          <a:xfrm>
            <a:off x="2478024" y="1828800"/>
            <a:ext cx="30632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71" name="Rectangle 59"/>
          <p:cNvSpPr/>
          <p:nvPr/>
        </p:nvSpPr>
        <p:spPr>
          <a:xfrm>
            <a:off x="5577840" y="1828800"/>
            <a:ext cx="16459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ワクトリの今</a:t>
            </a:r>
          </a:p>
        </p:txBody>
      </p:sp>
      <p:sp>
        <p:nvSpPr>
          <p:cNvPr id="72" name="Rectangle 59"/>
          <p:cNvSpPr/>
          <p:nvPr/>
        </p:nvSpPr>
        <p:spPr>
          <a:xfrm>
            <a:off x="7260336" y="1828800"/>
            <a:ext cx="2267712"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ご提案での打ち手</a:t>
            </a:r>
          </a:p>
        </p:txBody>
      </p:sp>
      <p:sp>
        <p:nvSpPr>
          <p:cNvPr id="73" name="Rectangle 60"/>
          <p:cNvSpPr/>
          <p:nvPr/>
        </p:nvSpPr>
        <p:spPr>
          <a:xfrm>
            <a:off x="384048" y="2231136"/>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a:t>
            </a:r>
          </a:p>
          <a:p>
            <a:pPr algn="l">
              <a:lnSpc>
                <a:spcPct val="110000"/>
              </a:lnSpc>
              <a:spcAft>
                <a:spcPts val="0"/>
              </a:spcAft>
            </a:pPr>
            <a:r>
              <a:rPr sz="1250" b="1">
                <a:solidFill>
                  <a:srgbClr val="1F2A5C"/>
                </a:solidFill>
                <a:latin typeface="メイリオ"/>
                <a:ea typeface="メイリオ"/>
                <a:cs typeface="メイリオ"/>
              </a:rPr>
              <a:t>登録・相談へ誘導する</a:t>
            </a:r>
          </a:p>
        </p:txBody>
      </p:sp>
      <p:sp>
        <p:nvSpPr>
          <p:cNvPr id="74" name="Rectangle 61"/>
          <p:cNvSpPr/>
          <p:nvPr/>
        </p:nvSpPr>
        <p:spPr>
          <a:xfrm>
            <a:off x="2478024" y="2231136"/>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a:t>
            </a:r>
          </a:p>
          <a:p>
            <a:pPr algn="l">
              <a:lnSpc>
                <a:spcPct val="110000"/>
              </a:lnSpc>
              <a:spcAft>
                <a:spcPts val="0"/>
              </a:spcAft>
            </a:pPr>
            <a:r>
              <a:rPr sz="1250" b="0">
                <a:solidFill>
                  <a:srgbClr val="333333"/>
                </a:solidFill>
                <a:latin typeface="メイリオ"/>
                <a:ea typeface="メイリオ"/>
                <a:cs typeface="メイリオ"/>
              </a:rPr>
              <a:t>リゾバ.com／アルファリゾート</a:t>
            </a:r>
          </a:p>
        </p:txBody>
      </p:sp>
      <p:sp>
        <p:nvSpPr>
          <p:cNvPr id="75" name="Rectangle 61"/>
          <p:cNvSpPr/>
          <p:nvPr/>
        </p:nvSpPr>
        <p:spPr>
          <a:xfrm>
            <a:off x="5577840" y="2231136"/>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翌日に</a:t>
            </a:r>
          </a:p>
          <a:p>
            <a:pPr algn="l">
              <a:lnSpc>
                <a:spcPct val="110000"/>
              </a:lnSpc>
              <a:spcAft>
                <a:spcPts val="0"/>
              </a:spcAft>
            </a:pPr>
            <a:r>
              <a:rPr sz="1250" b="0">
                <a:solidFill>
                  <a:srgbClr val="333333"/>
                </a:solidFill>
                <a:latin typeface="メイリオ"/>
                <a:ea typeface="メイリオ"/>
                <a:cs typeface="メイリオ"/>
              </a:rPr>
              <a:t>ENTRYの案内</a:t>
            </a:r>
          </a:p>
        </p:txBody>
      </p:sp>
      <p:sp>
        <p:nvSpPr>
          <p:cNvPr id="76" name="Rectangle 61"/>
          <p:cNvSpPr/>
          <p:nvPr/>
        </p:nvSpPr>
        <p:spPr>
          <a:xfrm>
            <a:off x="7260336" y="2231136"/>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追加直後からの</a:t>
            </a:r>
          </a:p>
          <a:p>
            <a:pPr algn="l">
              <a:lnSpc>
                <a:spcPct val="110000"/>
              </a:lnSpc>
              <a:spcAft>
                <a:spcPts val="0"/>
              </a:spcAft>
            </a:pPr>
            <a:r>
              <a:rPr sz="1250" b="0">
                <a:solidFill>
                  <a:srgbClr val="333333"/>
                </a:solidFill>
                <a:latin typeface="メイリオ"/>
                <a:ea typeface="メイリオ"/>
                <a:cs typeface="メイリオ"/>
              </a:rPr>
              <a:t>ステップ配信（P30）</a:t>
            </a:r>
          </a:p>
        </p:txBody>
      </p:sp>
      <p:sp>
        <p:nvSpPr>
          <p:cNvPr id="77" name="Rectangle 60"/>
          <p:cNvSpPr/>
          <p:nvPr/>
        </p:nvSpPr>
        <p:spPr>
          <a:xfrm>
            <a:off x="384048" y="2926080"/>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a:t>
            </a:r>
          </a:p>
          <a:p>
            <a:pPr algn="l">
              <a:lnSpc>
                <a:spcPct val="110000"/>
              </a:lnSpc>
              <a:spcAft>
                <a:spcPts val="0"/>
              </a:spcAft>
            </a:pPr>
            <a:r>
              <a:rPr sz="1250" b="1">
                <a:solidFill>
                  <a:srgbClr val="1F2A5C"/>
                </a:solidFill>
                <a:latin typeface="メイリオ"/>
                <a:ea typeface="メイリオ"/>
                <a:cs typeface="メイリオ"/>
              </a:rPr>
              <a:t>毎日配信する会社もある</a:t>
            </a:r>
          </a:p>
        </p:txBody>
      </p:sp>
      <p:sp>
        <p:nvSpPr>
          <p:cNvPr id="78" name="Rectangle 61"/>
          <p:cNvSpPr/>
          <p:nvPr/>
        </p:nvSpPr>
        <p:spPr>
          <a:xfrm>
            <a:off x="2478024" y="2926080"/>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a:t>
            </a:r>
          </a:p>
          <a:p>
            <a:pPr algn="l">
              <a:lnSpc>
                <a:spcPct val="110000"/>
              </a:lnSpc>
              <a:spcAft>
                <a:spcPts val="0"/>
              </a:spcAft>
            </a:pPr>
            <a:r>
              <a:rPr sz="1250" b="0">
                <a:solidFill>
                  <a:srgbClr val="333333"/>
                </a:solidFill>
                <a:latin typeface="メイリオ"/>
                <a:ea typeface="メイリオ"/>
                <a:cs typeface="メイリオ"/>
              </a:rPr>
              <a:t>リゾバ.com（1日2通）</a:t>
            </a:r>
          </a:p>
        </p:txBody>
      </p:sp>
      <p:sp>
        <p:nvSpPr>
          <p:cNvPr id="79" name="Rectangle 61"/>
          <p:cNvSpPr/>
          <p:nvPr/>
        </p:nvSpPr>
        <p:spPr>
          <a:xfrm>
            <a:off x="5577840" y="2926080"/>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週1回の企画配信</a:t>
            </a:r>
          </a:p>
        </p:txBody>
      </p:sp>
      <p:sp>
        <p:nvSpPr>
          <p:cNvPr id="80" name="Rectangle 61"/>
          <p:cNvSpPr/>
          <p:nvPr/>
        </p:nvSpPr>
        <p:spPr>
          <a:xfrm>
            <a:off x="7260336" y="2926080"/>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追加後15日の</a:t>
            </a:r>
          </a:p>
          <a:p>
            <a:pPr algn="l">
              <a:lnSpc>
                <a:spcPct val="110000"/>
              </a:lnSpc>
              <a:spcAft>
                <a:spcPts val="0"/>
              </a:spcAft>
            </a:pPr>
            <a:r>
              <a:rPr sz="1250" b="0">
                <a:solidFill>
                  <a:srgbClr val="333333"/>
                </a:solidFill>
                <a:latin typeface="メイリオ"/>
                <a:ea typeface="メイリオ"/>
                <a:cs typeface="メイリオ"/>
              </a:rPr>
              <a:t>ステップ配信</a:t>
            </a:r>
          </a:p>
          <a:p>
            <a:pPr algn="l">
              <a:lnSpc>
                <a:spcPct val="110000"/>
              </a:lnSpc>
              <a:spcAft>
                <a:spcPts val="0"/>
              </a:spcAft>
            </a:pPr>
            <a:r>
              <a:rPr sz="1250" b="0">
                <a:solidFill>
                  <a:srgbClr val="333333"/>
                </a:solidFill>
                <a:latin typeface="メイリオ"/>
                <a:ea typeface="メイリオ"/>
                <a:cs typeface="メイリオ"/>
              </a:rPr>
              <a:t>（P24・P30）</a:t>
            </a:r>
          </a:p>
        </p:txBody>
      </p:sp>
      <p:sp>
        <p:nvSpPr>
          <p:cNvPr id="81" name="Rectangle 60"/>
          <p:cNvSpPr/>
          <p:nvPr/>
        </p:nvSpPr>
        <p:spPr>
          <a:xfrm>
            <a:off x="384048" y="3621024"/>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a:t>
            </a:r>
          </a:p>
          <a:p>
            <a:pPr algn="l">
              <a:lnSpc>
                <a:spcPct val="110000"/>
              </a:lnSpc>
              <a:spcAft>
                <a:spcPts val="0"/>
              </a:spcAft>
            </a:pPr>
            <a:r>
              <a:rPr sz="1250" b="1">
                <a:solidFill>
                  <a:srgbClr val="1F2A5C"/>
                </a:solidFill>
                <a:latin typeface="メイリオ"/>
                <a:ea typeface="メイリオ"/>
                <a:cs typeface="メイリオ"/>
              </a:rPr>
              <a:t>合う求人を出し分ける</a:t>
            </a:r>
          </a:p>
        </p:txBody>
      </p:sp>
      <p:sp>
        <p:nvSpPr>
          <p:cNvPr id="82" name="Rectangle 61"/>
          <p:cNvSpPr/>
          <p:nvPr/>
        </p:nvSpPr>
        <p:spPr>
          <a:xfrm>
            <a:off x="2478024" y="3621024"/>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リゾバ.com（経験・タイプ別）／</a:t>
            </a:r>
          </a:p>
          <a:p>
            <a:pPr algn="l">
              <a:lnSpc>
                <a:spcPct val="110000"/>
              </a:lnSpc>
              <a:spcAft>
                <a:spcPts val="0"/>
              </a:spcAft>
            </a:pPr>
            <a:r>
              <a:rPr sz="1250" b="0">
                <a:solidFill>
                  <a:srgbClr val="333333"/>
                </a:solidFill>
                <a:latin typeface="メイリオ"/>
                <a:ea typeface="メイリオ"/>
                <a:cs typeface="メイリオ"/>
              </a:rPr>
              <a:t>リゾートバイト.com（アンケート）</a:t>
            </a:r>
          </a:p>
        </p:txBody>
      </p:sp>
      <p:sp>
        <p:nvSpPr>
          <p:cNvPr id="83" name="Rectangle 61"/>
          <p:cNvSpPr/>
          <p:nvPr/>
        </p:nvSpPr>
        <p:spPr>
          <a:xfrm>
            <a:off x="5577840" y="3621024"/>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アンケート3問で</a:t>
            </a:r>
          </a:p>
          <a:p>
            <a:pPr algn="l">
              <a:lnSpc>
                <a:spcPct val="110000"/>
              </a:lnSpc>
              <a:spcAft>
                <a:spcPts val="0"/>
              </a:spcAft>
            </a:pPr>
            <a:r>
              <a:rPr sz="1250" b="0">
                <a:solidFill>
                  <a:srgbClr val="333333"/>
                </a:solidFill>
                <a:latin typeface="メイリオ"/>
                <a:ea typeface="メイリオ"/>
                <a:cs typeface="メイリオ"/>
              </a:rPr>
              <a:t>開始時期と</a:t>
            </a:r>
          </a:p>
          <a:p>
            <a:pPr algn="l">
              <a:lnSpc>
                <a:spcPct val="110000"/>
              </a:lnSpc>
              <a:spcAft>
                <a:spcPts val="0"/>
              </a:spcAft>
            </a:pPr>
            <a:r>
              <a:rPr sz="1250" b="0">
                <a:solidFill>
                  <a:srgbClr val="333333"/>
                </a:solidFill>
                <a:latin typeface="メイリオ"/>
                <a:ea typeface="メイリオ"/>
                <a:cs typeface="メイリオ"/>
              </a:rPr>
              <a:t>エリアを伺う</a:t>
            </a:r>
          </a:p>
        </p:txBody>
      </p:sp>
      <p:sp>
        <p:nvSpPr>
          <p:cNvPr id="84" name="Rectangle 61"/>
          <p:cNvSpPr/>
          <p:nvPr/>
        </p:nvSpPr>
        <p:spPr>
          <a:xfrm>
            <a:off x="7260336" y="3621024"/>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適正バイト診断と</a:t>
            </a:r>
          </a:p>
          <a:p>
            <a:pPr algn="l">
              <a:lnSpc>
                <a:spcPct val="110000"/>
              </a:lnSpc>
              <a:spcAft>
                <a:spcPts val="0"/>
              </a:spcAft>
            </a:pPr>
            <a:r>
              <a:rPr sz="1250" b="0">
                <a:solidFill>
                  <a:srgbClr val="333333"/>
                </a:solidFill>
                <a:latin typeface="メイリオ"/>
                <a:ea typeface="メイリオ"/>
                <a:cs typeface="メイリオ"/>
              </a:rPr>
              <a:t>開始時期・エリア別の配信</a:t>
            </a:r>
          </a:p>
          <a:p>
            <a:pPr algn="l">
              <a:lnSpc>
                <a:spcPct val="110000"/>
              </a:lnSpc>
              <a:spcAft>
                <a:spcPts val="0"/>
              </a:spcAft>
            </a:pPr>
            <a:r>
              <a:rPr sz="1250" b="0">
                <a:solidFill>
                  <a:srgbClr val="333333"/>
                </a:solidFill>
                <a:latin typeface="メイリオ"/>
                <a:ea typeface="メイリオ"/>
                <a:cs typeface="メイリオ"/>
              </a:rPr>
              <a:t>（P29・P31）</a:t>
            </a:r>
          </a:p>
        </p:txBody>
      </p:sp>
      <p:sp>
        <p:nvSpPr>
          <p:cNvPr id="85" name="Rectangle 60"/>
          <p:cNvSpPr/>
          <p:nvPr/>
        </p:nvSpPr>
        <p:spPr>
          <a:xfrm>
            <a:off x="384048" y="4315968"/>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a:t>
            </a:r>
          </a:p>
          <a:p>
            <a:pPr algn="l">
              <a:lnSpc>
                <a:spcPct val="110000"/>
              </a:lnSpc>
              <a:spcAft>
                <a:spcPts val="0"/>
              </a:spcAft>
            </a:pPr>
            <a:r>
              <a:rPr sz="1250" b="1">
                <a:solidFill>
                  <a:srgbClr val="1F2A5C"/>
                </a:solidFill>
                <a:latin typeface="メイリオ"/>
                <a:ea typeface="メイリオ"/>
                <a:cs typeface="メイリオ"/>
              </a:rPr>
              <a:t>開始月別の求人を置く</a:t>
            </a:r>
          </a:p>
        </p:txBody>
      </p:sp>
      <p:sp>
        <p:nvSpPr>
          <p:cNvPr id="86" name="Rectangle 61"/>
          <p:cNvSpPr/>
          <p:nvPr/>
        </p:nvSpPr>
        <p:spPr>
          <a:xfrm>
            <a:off x="2478024" y="4315968"/>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
        <p:nvSpPr>
          <p:cNvPr id="87" name="Rectangle 61"/>
          <p:cNvSpPr/>
          <p:nvPr/>
        </p:nvSpPr>
        <p:spPr>
          <a:xfrm>
            <a:off x="5577840" y="4315968"/>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11月開始の求人と</a:t>
            </a:r>
          </a:p>
          <a:p>
            <a:pPr algn="l">
              <a:lnSpc>
                <a:spcPct val="110000"/>
              </a:lnSpc>
              <a:spcAft>
                <a:spcPts val="0"/>
              </a:spcAft>
            </a:pPr>
            <a:r>
              <a:rPr sz="1250" b="0">
                <a:solidFill>
                  <a:srgbClr val="333333"/>
                </a:solidFill>
                <a:latin typeface="メイリオ"/>
                <a:ea typeface="メイリオ"/>
                <a:cs typeface="メイリオ"/>
              </a:rPr>
              <a:t>スキー特集の入口</a:t>
            </a:r>
          </a:p>
        </p:txBody>
      </p:sp>
      <p:sp>
        <p:nvSpPr>
          <p:cNvPr id="88" name="Rectangle 61"/>
          <p:cNvSpPr/>
          <p:nvPr/>
        </p:nvSpPr>
        <p:spPr>
          <a:xfrm>
            <a:off x="7260336" y="4315968"/>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上段に開始月別の求人</a:t>
            </a:r>
          </a:p>
          <a:p>
            <a:pPr algn="l">
              <a:lnSpc>
                <a:spcPct val="110000"/>
              </a:lnSpc>
              <a:spcAft>
                <a:spcPts val="0"/>
              </a:spcAft>
            </a:pPr>
            <a:r>
              <a:rPr sz="1250" b="0">
                <a:solidFill>
                  <a:srgbClr val="333333"/>
                </a:solidFill>
                <a:latin typeface="メイリオ"/>
                <a:ea typeface="メイリオ"/>
                <a:cs typeface="メイリオ"/>
              </a:rPr>
              <a:t>（P32）</a:t>
            </a:r>
          </a:p>
        </p:txBody>
      </p:sp>
      <p:sp>
        <p:nvSpPr>
          <p:cNvPr id="89" name="Rectangle 60"/>
          <p:cNvSpPr/>
          <p:nvPr/>
        </p:nvSpPr>
        <p:spPr>
          <a:xfrm>
            <a:off x="384048" y="5010912"/>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5. 相談の入口を、</a:t>
            </a:r>
          </a:p>
          <a:p>
            <a:pPr algn="l">
              <a:lnSpc>
                <a:spcPct val="110000"/>
              </a:lnSpc>
              <a:spcAft>
                <a:spcPts val="0"/>
              </a:spcAft>
            </a:pPr>
            <a:r>
              <a:rPr sz="1250" b="1">
                <a:solidFill>
                  <a:srgbClr val="1F2A5C"/>
                </a:solidFill>
                <a:latin typeface="メイリオ"/>
                <a:ea typeface="メイリオ"/>
                <a:cs typeface="メイリオ"/>
              </a:rPr>
              <a:t>最初から見せる</a:t>
            </a:r>
          </a:p>
        </p:txBody>
      </p:sp>
      <p:sp>
        <p:nvSpPr>
          <p:cNvPr id="90" name="Rectangle 61"/>
          <p:cNvSpPr/>
          <p:nvPr/>
        </p:nvSpPr>
        <p:spPr>
          <a:xfrm>
            <a:off x="2478024" y="5010912"/>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リゾートバイトダイブ（電話15分）／</a:t>
            </a:r>
          </a:p>
          <a:p>
            <a:pPr algn="l">
              <a:lnSpc>
                <a:spcPct val="110000"/>
              </a:lnSpc>
              <a:spcAft>
                <a:spcPts val="0"/>
              </a:spcAft>
            </a:pPr>
            <a:r>
              <a:rPr sz="1250" b="0">
                <a:solidFill>
                  <a:srgbClr val="333333"/>
                </a:solidFill>
                <a:latin typeface="メイリオ"/>
                <a:ea typeface="メイリオ"/>
                <a:cs typeface="メイリオ"/>
              </a:rPr>
              <a:t>リゾバ.com・アルファリゾート</a:t>
            </a:r>
          </a:p>
          <a:p>
            <a:pPr algn="l">
              <a:lnSpc>
                <a:spcPct val="110000"/>
              </a:lnSpc>
              <a:spcAft>
                <a:spcPts val="0"/>
              </a:spcAft>
            </a:pPr>
            <a:r>
              <a:rPr sz="1250" b="0">
                <a:solidFill>
                  <a:srgbClr val="333333"/>
                </a:solidFill>
                <a:latin typeface="メイリオ"/>
                <a:ea typeface="メイリオ"/>
                <a:cs typeface="メイリオ"/>
              </a:rPr>
              <a:t>（チャット）</a:t>
            </a:r>
          </a:p>
        </p:txBody>
      </p:sp>
      <p:sp>
        <p:nvSpPr>
          <p:cNvPr id="91" name="Rectangle 61"/>
          <p:cNvSpPr/>
          <p:nvPr/>
        </p:nvSpPr>
        <p:spPr>
          <a:xfrm>
            <a:off x="5577840" y="5010912"/>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専属エージェント</a:t>
            </a:r>
          </a:p>
          <a:p>
            <a:pPr algn="l">
              <a:lnSpc>
                <a:spcPct val="110000"/>
              </a:lnSpc>
              <a:spcAft>
                <a:spcPts val="0"/>
              </a:spcAft>
            </a:pPr>
            <a:r>
              <a:rPr sz="1250" b="0">
                <a:solidFill>
                  <a:srgbClr val="333333"/>
                </a:solidFill>
                <a:latin typeface="メイリオ"/>
                <a:ea typeface="メイリオ"/>
                <a:cs typeface="メイリオ"/>
              </a:rPr>
              <a:t>（ENTRYの後）</a:t>
            </a:r>
          </a:p>
        </p:txBody>
      </p:sp>
      <p:sp>
        <p:nvSpPr>
          <p:cNvPr id="92" name="Rectangle 61"/>
          <p:cNvSpPr/>
          <p:nvPr/>
        </p:nvSpPr>
        <p:spPr>
          <a:xfrm>
            <a:off x="7260336" y="5010912"/>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ステップ配信と</a:t>
            </a:r>
          </a:p>
          <a:p>
            <a:pPr algn="l">
              <a:lnSpc>
                <a:spcPct val="110000"/>
              </a:lnSpc>
              <a:spcAft>
                <a:spcPts val="0"/>
              </a:spcAft>
            </a:pPr>
            <a:r>
              <a:rPr sz="1250" b="0">
                <a:solidFill>
                  <a:srgbClr val="333333"/>
                </a:solidFill>
                <a:latin typeface="メイリオ"/>
                <a:ea typeface="メイリオ"/>
                <a:cs typeface="メイリオ"/>
              </a:rPr>
              <a:t>リッチメニューに</a:t>
            </a:r>
          </a:p>
          <a:p>
            <a:pPr algn="l">
              <a:lnSpc>
                <a:spcPct val="110000"/>
              </a:lnSpc>
              <a:spcAft>
                <a:spcPts val="0"/>
              </a:spcAft>
            </a:pPr>
            <a:r>
              <a:rPr sz="1250" b="0">
                <a:solidFill>
                  <a:srgbClr val="333333"/>
                </a:solidFill>
                <a:latin typeface="メイリオ"/>
                <a:ea typeface="メイリオ"/>
                <a:cs typeface="メイリオ"/>
              </a:rPr>
              <a:t>相談の入口（P24・P32）</a:t>
            </a:r>
          </a:p>
        </p:txBody>
      </p:sp>
      <p:sp>
        <p:nvSpPr>
          <p:cNvPr id="93" name="Rectangle 92"/>
          <p:cNvSpPr/>
          <p:nvPr/>
        </p:nvSpPr>
        <p:spPr>
          <a:xfrm>
            <a:off x="384048" y="5815584"/>
            <a:ext cx="9144000" cy="457200"/>
          </a:xfrm>
          <a:prstGeom prst="rect">
            <a:avLst/>
          </a:prstGeom>
          <a:solidFill>
            <a:srgbClr val="F2F2F2"/>
          </a:solidFill>
          <a:ln>
            <a:noFill/>
          </a:ln>
          <a:effectLst/>
        </p:spPr>
        <p:txBody>
          <a:bodyPr rtlCol="0" anchor="ctr" wrap="square" lIns="137160" rIns="137160"/>
          <a:lstStyle/>
          <a:p>
            <a:pPr algn="ctr"/>
            <a:r>
              <a:rPr sz="1300" b="1">
                <a:solidFill>
                  <a:srgbClr val="1F2A5C"/>
                </a:solidFill>
                <a:latin typeface="メイリオ"/>
                <a:ea typeface="メイリオ"/>
                <a:cs typeface="メイリオ"/>
              </a:rPr>
              <a:t>アンケートで希望を聞けているため、その分析を用いた配信が重要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「派遣会社」「単発バイト」</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「リゾートバイト」などを検索。</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 2025」</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「国民健康保険料」など、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 おすすめ企業」</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「バイトル」「エン派遣」など、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「派遣 職場見学 落ちる確率」</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「履歴書 書き方」など、</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　求人を、開始時期・エリアで出し分け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pic>
        <p:nvPicPr>
          <p:cNvPr id="86" name="Picture 85" descr="demo_p27.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87" name="TextBox 86"/>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1" name="四角形: 角を丸くする 15">
            <a:extLst>
              <a:ext uri="{FF2B5EF4-FFF2-40B4-BE49-F238E27FC236}">
                <a16:creationId xmlns:a16="http://schemas.microsoft.com/office/drawing/2014/main" id="{D8CB4BBB-DB36-4D1D-81B3-0D31B056245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四角形: 角を丸くする 15">
            <a:extLst>
              <a:ext uri="{FF2B5EF4-FFF2-40B4-BE49-F238E27FC236}">
                <a16:creationId xmlns:a16="http://schemas.microsoft.com/office/drawing/2014/main" id="{D8CB4BBB-DB36-4D1D-81B3-0D31B056245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TextBox 87"/>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SNSのプロフィール・投稿や</a:t>
            </a:r>
          </a:p>
          <a:p>
            <a:r>
              <a:rPr sz="1200" b="0">
                <a:solidFill>
                  <a:srgbClr val="333333"/>
                </a:solidFill>
                <a:latin typeface="メイリオ"/>
                <a:ea typeface="メイリオ"/>
                <a:cs typeface="メイリオ"/>
              </a:rPr>
              <a:t>体験談のページにも入口を置く</a:t>
            </a:r>
          </a:p>
        </p:txBody>
      </p:sp>
      <p:sp>
        <p:nvSpPr>
          <p:cNvPr id="89" name="TextBox 88"/>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入口ごとにURLを分けて記録し、</a:t>
            </a:r>
          </a:p>
          <a:p>
            <a:r>
              <a:rPr sz="1200" b="0">
                <a:solidFill>
                  <a:srgbClr val="333333"/>
                </a:solidFill>
                <a:latin typeface="メイリオ"/>
                <a:ea typeface="メイリオ"/>
                <a:cs typeface="メイリオ"/>
              </a:rPr>
              <a:t>あいさつの文面を出し分ける</a:t>
            </a:r>
          </a:p>
        </p:txBody>
      </p:sp>
      <p:sp>
        <p:nvSpPr>
          <p:cNvPr id="90" name="TextBox 89"/>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追加の特典に「寮生活の</a:t>
            </a:r>
          </a:p>
          <a:p>
            <a:r>
              <a:rPr sz="1200" b="0">
                <a:solidFill>
                  <a:srgbClr val="333333"/>
                </a:solidFill>
                <a:latin typeface="メイリオ"/>
                <a:ea typeface="メイリオ"/>
                <a:cs typeface="メイリオ"/>
              </a:rPr>
              <a:t>持ち物リスト」などを届ける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pic>
        <p:nvPicPr>
          <p:cNvPr id="86" name="Picture 85" descr="demo_p28.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87" name="TextBox 86"/>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1" name="四角形: 角を丸くする 15">
            <a:extLst>
              <a:ext uri="{FF2B5EF4-FFF2-40B4-BE49-F238E27FC236}">
                <a16:creationId xmlns:a16="http://schemas.microsoft.com/office/drawing/2014/main" id="{D8CB4BBB-DB36-4D1D-81B3-0D31B056245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四角形: 角を丸くする 15">
            <a:extLst>
              <a:ext uri="{FF2B5EF4-FFF2-40B4-BE49-F238E27FC236}">
                <a16:creationId xmlns:a16="http://schemas.microsoft.com/office/drawing/2014/main" id="{D8CB4BBB-DB36-4D1D-81B3-0D31B056245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TextBox 87"/>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離れるときだけでなく、</a:t>
            </a:r>
          </a:p>
          <a:p>
            <a:r>
              <a:rPr sz="1200" b="0">
                <a:solidFill>
                  <a:srgbClr val="333333"/>
                </a:solidFill>
                <a:latin typeface="メイリオ"/>
                <a:ea typeface="メイリオ"/>
                <a:cs typeface="メイリオ"/>
              </a:rPr>
              <a:t>スクロールや滞在時間でも表示</a:t>
            </a:r>
          </a:p>
        </p:txBody>
      </p:sp>
      <p:sp>
        <p:nvSpPr>
          <p:cNvPr id="89" name="TextBox 88"/>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表示したページ（スキー場・海）</a:t>
            </a:r>
          </a:p>
          <a:p>
            <a:r>
              <a:rPr sz="1200" b="0">
                <a:solidFill>
                  <a:srgbClr val="333333"/>
                </a:solidFill>
                <a:latin typeface="メイリオ"/>
                <a:ea typeface="メイリオ"/>
                <a:cs typeface="メイリオ"/>
              </a:rPr>
              <a:t>で、追加後の求人を出し分ける</a:t>
            </a:r>
          </a:p>
        </p:txBody>
      </p:sp>
      <p:sp>
        <p:nvSpPr>
          <p:cNvPr id="90" name="TextBox 89"/>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「この求人に似た求人」や</a:t>
            </a:r>
          </a:p>
          <a:p>
            <a:r>
              <a:rPr sz="1200" b="0">
                <a:solidFill>
                  <a:srgbClr val="333333"/>
                </a:solidFill>
                <a:latin typeface="メイリオ"/>
                <a:ea typeface="メイリオ"/>
                <a:cs typeface="メイリオ"/>
              </a:rPr>
              <a:t>締切が近い求人を届ける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今のアンケート3問の答えで、合う求人を出す</a:t>
            </a:r>
          </a:p>
        </p:txBody>
      </p:sp>
      <p:pic>
        <p:nvPicPr>
          <p:cNvPr id="109" name="Picture 108" descr="demo_p29.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10" name="TextBox 109"/>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4" name="四角形: 角を丸くする 6">
            <a:extLst>
              <a:ext uri="{FF2B5EF4-FFF2-40B4-BE49-F238E27FC236}">
                <a16:creationId xmlns:a16="http://schemas.microsoft.com/office/drawing/2014/main" id="{0BC92DCD-F746-7AC5-0C7C-F6039EE861BE}"/>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四角形: 角を丸くする 6">
            <a:extLst>
              <a:ext uri="{FF2B5EF4-FFF2-40B4-BE49-F238E27FC236}">
                <a16:creationId xmlns:a16="http://schemas.microsoft.com/office/drawing/2014/main" id="{0BC92DCD-F746-7AC5-0C7C-F6039EE861BE}"/>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TextBox 110"/>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リッチメニューや配信から、</a:t>
            </a:r>
          </a:p>
          <a:p>
            <a:r>
              <a:rPr sz="1200" b="0">
                <a:solidFill>
                  <a:srgbClr val="333333"/>
                </a:solidFill>
                <a:latin typeface="メイリオ"/>
                <a:ea typeface="メイリオ"/>
                <a:cs typeface="メイリオ"/>
              </a:rPr>
              <a:t>いつでも診断をやり直せる</a:t>
            </a:r>
          </a:p>
        </p:txBody>
      </p:sp>
      <p:sp>
        <p:nvSpPr>
          <p:cNvPr id="112" name="TextBox 111"/>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重視したいポイント（立地・</a:t>
            </a:r>
          </a:p>
          <a:p>
            <a:r>
              <a:rPr sz="1200" b="0">
                <a:solidFill>
                  <a:srgbClr val="333333"/>
                </a:solidFill>
                <a:latin typeface="メイリオ"/>
                <a:ea typeface="メイリオ"/>
                <a:cs typeface="メイリオ"/>
              </a:rPr>
              <a:t>稼げる・出会い・住環境）も聞く</a:t>
            </a:r>
          </a:p>
        </p:txBody>
      </p:sp>
      <p:sp>
        <p:nvSpPr>
          <p:cNvPr id="113" name="TextBox 112"/>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結果に合う働き方のタイプと</a:t>
            </a:r>
          </a:p>
          <a:p>
            <a:r>
              <a:rPr sz="1200" b="0">
                <a:solidFill>
                  <a:srgbClr val="333333"/>
                </a:solidFill>
                <a:latin typeface="メイリオ"/>
                <a:ea typeface="メイリオ"/>
                <a:cs typeface="メイリオ"/>
              </a:rPr>
              <a:t>体験談を一緒に届ける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pic>
        <p:nvPicPr>
          <p:cNvPr id="105" name="Picture 104" descr="demo_p30.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6">
            <a:extLst>
              <a:ext uri="{FF2B5EF4-FFF2-40B4-BE49-F238E27FC236}">
                <a16:creationId xmlns:a16="http://schemas.microsoft.com/office/drawing/2014/main" id="{B0607C34-BCAC-36D4-6E5B-D4E83859DFE4}"/>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6">
            <a:extLst>
              <a:ext uri="{FF2B5EF4-FFF2-40B4-BE49-F238E27FC236}">
                <a16:creationId xmlns:a16="http://schemas.microsoft.com/office/drawing/2014/main" id="{B0607C34-BCAC-36D4-6E5B-D4E83859DFE4}"/>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診断に答えていない方には、</a:t>
            </a:r>
          </a:p>
          <a:p>
            <a:r>
              <a:rPr sz="1200" b="0">
                <a:solidFill>
                  <a:srgbClr val="333333"/>
                </a:solidFill>
                <a:latin typeface="メイリオ"/>
                <a:ea typeface="メイリオ"/>
                <a:cs typeface="メイリオ"/>
              </a:rPr>
              <a:t>翌日に答えるお願いを届ける</a:t>
            </a:r>
          </a:p>
        </p:txBody>
      </p:sp>
      <p:sp>
        <p:nvSpPr>
          <p:cNvPr id="108" name="TextBox 107"/>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押した内容（お金・寮など）で</a:t>
            </a:r>
          </a:p>
          <a:p>
            <a:r>
              <a:rPr sz="1200" b="0">
                <a:solidFill>
                  <a:srgbClr val="333333"/>
                </a:solidFill>
                <a:latin typeface="メイリオ"/>
                <a:ea typeface="メイリオ"/>
                <a:cs typeface="メイリオ"/>
              </a:rPr>
              <a:t>タグを付け、次の配信を変える</a:t>
            </a:r>
          </a:p>
        </p:txBody>
      </p:sp>
      <p:sp>
        <p:nvSpPr>
          <p:cNvPr id="109" name="TextBox 108"/>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寮の写真や1日の流れなど、</a:t>
            </a:r>
          </a:p>
          <a:p>
            <a:r>
              <a:rPr sz="1200" b="0">
                <a:solidFill>
                  <a:srgbClr val="333333"/>
                </a:solidFill>
                <a:latin typeface="メイリオ"/>
                <a:ea typeface="メイリオ"/>
                <a:cs typeface="メイリオ"/>
              </a:rPr>
              <a:t>不安ごとの配信を足す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pic>
        <p:nvPicPr>
          <p:cNvPr id="105" name="Picture 104" descr="demo_p31.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9">
            <a:extLst>
              <a:ext uri="{FF2B5EF4-FFF2-40B4-BE49-F238E27FC236}">
                <a16:creationId xmlns:a16="http://schemas.microsoft.com/office/drawing/2014/main" id="{EF085179-F637-C078-F968-9B03AFE0C41E}"/>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9">
            <a:extLst>
              <a:ext uri="{FF2B5EF4-FFF2-40B4-BE49-F238E27FC236}">
                <a16:creationId xmlns:a16="http://schemas.microsoft.com/office/drawing/2014/main" id="{EF085179-F637-C078-F968-9B03AFE0C41E}"/>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特集から、リッチメニューの</a:t>
            </a:r>
          </a:p>
          <a:p>
            <a:r>
              <a:rPr sz="1200" b="0">
                <a:solidFill>
                  <a:srgbClr val="333333"/>
                </a:solidFill>
                <a:latin typeface="メイリオ"/>
                <a:ea typeface="メイリオ"/>
                <a:cs typeface="メイリオ"/>
              </a:rPr>
              <a:t>開始月別の求人へつなげる</a:t>
            </a:r>
          </a:p>
        </p:txBody>
      </p:sp>
      <p:sp>
        <p:nvSpPr>
          <p:cNvPr id="108" name="TextBox 107"/>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開始時期が近づいたら、</a:t>
            </a:r>
          </a:p>
          <a:p>
            <a:r>
              <a:rPr sz="1200" b="0">
                <a:solidFill>
                  <a:srgbClr val="333333"/>
                </a:solidFill>
                <a:latin typeface="メイリオ"/>
                <a:ea typeface="メイリオ"/>
                <a:cs typeface="メイリオ"/>
              </a:rPr>
              <a:t>自動で特集を届ける</a:t>
            </a:r>
          </a:p>
        </p:txBody>
      </p:sp>
      <p:sp>
        <p:nvSpPr>
          <p:cNvPr id="109" name="TextBox 108"/>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「LINE友だち限定」の先行公開や</a:t>
            </a:r>
          </a:p>
          <a:p>
            <a:r>
              <a:rPr sz="1200" b="0">
                <a:solidFill>
                  <a:srgbClr val="333333"/>
                </a:solidFill>
                <a:latin typeface="メイリオ"/>
                <a:ea typeface="メイリオ"/>
                <a:cs typeface="メイリオ"/>
              </a:rPr>
              <a:t>締切が近い求人の特集</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pic>
        <p:nvPicPr>
          <p:cNvPr id="90" name="Picture 89" descr="demo_p32.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91" name="TextBox 90"/>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5" name="四角形: 角を丸くする 9">
            <a:extLst>
              <a:ext uri="{FF2B5EF4-FFF2-40B4-BE49-F238E27FC236}">
                <a16:creationId xmlns:a16="http://schemas.microsoft.com/office/drawing/2014/main" id="{354330A3-6E6E-081D-CE86-E6E991D271E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四角形: 角を丸くする 9">
            <a:extLst>
              <a:ext uri="{FF2B5EF4-FFF2-40B4-BE49-F238E27FC236}">
                <a16:creationId xmlns:a16="http://schemas.microsoft.com/office/drawing/2014/main" id="{354330A3-6E6E-081D-CE86-E6E991D271E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TextBox 91"/>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応募（ENTRY）の前と後で、</a:t>
            </a:r>
          </a:p>
          <a:p>
            <a:r>
              <a:rPr sz="1200" b="0">
                <a:solidFill>
                  <a:srgbClr val="333333"/>
                </a:solidFill>
                <a:latin typeface="メイリオ"/>
                <a:ea typeface="メイリオ"/>
                <a:cs typeface="メイリオ"/>
              </a:rPr>
              <a:t>メニューを切り替える</a:t>
            </a:r>
          </a:p>
        </p:txBody>
      </p:sp>
      <p:sp>
        <p:nvSpPr>
          <p:cNvPr id="93" name="TextBox 92"/>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押した項目をタグにして、</a:t>
            </a:r>
          </a:p>
          <a:p>
            <a:r>
              <a:rPr sz="1200" b="0">
                <a:solidFill>
                  <a:srgbClr val="333333"/>
                </a:solidFill>
                <a:latin typeface="メイリオ"/>
                <a:ea typeface="メイリオ"/>
                <a:cs typeface="メイリオ"/>
              </a:rPr>
              <a:t>関心に合う配信につなげる</a:t>
            </a:r>
          </a:p>
        </p:txBody>
      </p:sp>
      <p:sp>
        <p:nvSpPr>
          <p:cNvPr id="94" name="TextBox 93"/>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季節ごとに特集の枠を入れ替える</a:t>
            </a:r>
          </a:p>
          <a:p>
            <a:r>
              <a:rPr sz="1200" b="0">
                <a:solidFill>
                  <a:srgbClr val="333333"/>
                </a:solidFill>
                <a:latin typeface="メイリオ"/>
                <a:ea typeface="メイリオ"/>
                <a:cs typeface="メイリオ"/>
              </a:rPr>
              <a:t>（冬はスキー場、夏は海）</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pic>
        <p:nvPicPr>
          <p:cNvPr id="105" name="Picture 104" descr="demo_p33.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7">
            <a:extLst>
              <a:ext uri="{FF2B5EF4-FFF2-40B4-BE49-F238E27FC236}">
                <a16:creationId xmlns:a16="http://schemas.microsoft.com/office/drawing/2014/main" id="{06A126BE-8D6C-B00B-4224-DD59072FF345}"/>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7">
            <a:extLst>
              <a:ext uri="{FF2B5EF4-FFF2-40B4-BE49-F238E27FC236}">
                <a16:creationId xmlns:a16="http://schemas.microsoft.com/office/drawing/2014/main" id="{06A126BE-8D6C-B00B-4224-DD59072FF345}"/>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1947671"/>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ほかの案｜入口</a:t>
            </a:r>
          </a:p>
          <a:p>
            <a:r>
              <a:rPr sz="1200" b="0">
                <a:solidFill>
                  <a:srgbClr val="333333"/>
                </a:solidFill>
                <a:latin typeface="メイリオ"/>
                <a:ea typeface="メイリオ"/>
                <a:cs typeface="メイリオ"/>
              </a:rPr>
              <a:t>お問い合わせなど、ほかの</a:t>
            </a:r>
          </a:p>
          <a:p>
            <a:r>
              <a:rPr sz="1200" b="0">
                <a:solidFill>
                  <a:srgbClr val="333333"/>
                </a:solidFill>
                <a:latin typeface="メイリオ"/>
                <a:ea typeface="メイリオ"/>
                <a:cs typeface="メイリオ"/>
              </a:rPr>
              <a:t>フォームの完了画面にも置く</a:t>
            </a:r>
          </a:p>
        </p:txBody>
      </p:sp>
      <p:sp>
        <p:nvSpPr>
          <p:cNvPr id="108" name="TextBox 107"/>
          <p:cNvSpPr txBox="1"/>
          <p:nvPr/>
        </p:nvSpPr>
        <p:spPr>
          <a:xfrm>
            <a:off x="6371607" y="3432048"/>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ほかの案｜LINEの仕組み</a:t>
            </a:r>
          </a:p>
          <a:p>
            <a:r>
              <a:rPr sz="1200" b="0">
                <a:solidFill>
                  <a:srgbClr val="333333"/>
                </a:solidFill>
                <a:latin typeface="メイリオ"/>
                <a:ea typeface="メイリオ"/>
                <a:cs typeface="メイリオ"/>
              </a:rPr>
              <a:t>ENTRYで伺った内容と同じ質問は</a:t>
            </a:r>
          </a:p>
          <a:p>
            <a:r>
              <a:rPr sz="1200" b="0">
                <a:solidFill>
                  <a:srgbClr val="333333"/>
                </a:solidFill>
                <a:latin typeface="メイリオ"/>
                <a:ea typeface="メイリオ"/>
                <a:cs typeface="メイリオ"/>
              </a:rPr>
              <a:t>省いて、診断を短くする</a:t>
            </a:r>
          </a:p>
        </p:txBody>
      </p:sp>
      <p:sp>
        <p:nvSpPr>
          <p:cNvPr id="109" name="TextBox 108"/>
          <p:cNvSpPr txBox="1"/>
          <p:nvPr/>
        </p:nvSpPr>
        <p:spPr>
          <a:xfrm>
            <a:off x="6371607" y="4916424"/>
            <a:ext cx="3161770" cy="1210056"/>
          </a:xfrm>
          <a:prstGeom prst="rect">
            <a:avLst/>
          </a:prstGeom>
          <a:noFill/>
        </p:spPr>
        <p:txBody>
          <a:bodyPr wrap="square" anchor="ctr">
            <a:spAutoFit/>
          </a:bodyPr>
          <a:lstStyle/>
          <a:p>
            <a:pPr>
              <a:spcAft>
                <a:spcPts val="400"/>
              </a:spcAft>
            </a:pPr>
            <a:r>
              <a:rPr sz="1350" b="1">
                <a:solidFill>
                  <a:srgbClr val="1F2A5C"/>
                </a:solidFill>
                <a:latin typeface="メイリオ"/>
                <a:ea typeface="メイリオ"/>
                <a:cs typeface="メイリオ"/>
              </a:rPr>
              <a:t>ほかの案｜配信内容</a:t>
            </a:r>
          </a:p>
          <a:p>
            <a:r>
              <a:rPr sz="1200" b="0">
                <a:solidFill>
                  <a:srgbClr val="333333"/>
                </a:solidFill>
                <a:latin typeface="メイリオ"/>
                <a:ea typeface="メイリオ"/>
                <a:cs typeface="メイリオ"/>
              </a:rPr>
              <a:t>面談・お仕事開始までの流れ、</a:t>
            </a:r>
          </a:p>
          <a:p>
            <a:r>
              <a:rPr sz="1200" b="0">
                <a:solidFill>
                  <a:srgbClr val="333333"/>
                </a:solidFill>
                <a:latin typeface="メイリオ"/>
                <a:ea typeface="メイリオ"/>
                <a:cs typeface="メイリオ"/>
              </a:rPr>
              <a:t>持ち物・よくある質問を届ける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a:t>
            </a:r>
            <a:br>
              <a:rPr lang="ja-JP" sz="1200" b="0" u="none" strike="noStrike">
                <a:solidFill>
                  <a:schemeClr val="lt1"/>
                </a:solidFill>
                <a:effectLst/>
                <a:uFillTx/>
                <a:latin typeface="メイリオ"/>
                <a:ea typeface="メイリオ"/>
              </a:rPr>
            </a:br>
            <a:r>
              <a:rPr lang="ja-JP" sz="1200" b="0" u="none" strike="noStrike">
                <a:solidFill>
                  <a:schemeClr val="lt1"/>
                </a:solidFill>
                <a:effectLst/>
                <a:uFillTx/>
                <a:latin typeface="メイリオ"/>
                <a:ea typeface="メイリオ"/>
              </a:rPr>
              <a:t>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a:t>
            </a:r>
            <a:br>
              <a:rPr lang="ja-JP" sz="1300" b="0" u="none" strike="noStrike">
                <a:solidFill>
                  <a:schemeClr val="dk1"/>
                </a:solidFill>
                <a:effectLst/>
                <a:uFillTx/>
                <a:latin typeface="メイリオ"/>
                <a:ea typeface="メイリオ"/>
              </a:rPr>
            </a:br>
            <a:r>
              <a:rPr lang="ja-JP" sz="1300" b="0" u="none" strike="noStrike">
                <a:solidFill>
                  <a:schemeClr val="dk1"/>
                </a:solidFill>
                <a:effectLst/>
                <a:uFillTx/>
                <a:latin typeface="メイリオ"/>
                <a:ea typeface="メイリオ"/>
              </a:rPr>
              <a:t>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anchor="t" lIns="36000" rIns="36000" tIns="10800" bIns="10800">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a:t>
            </a:r>
            <a:br>
              <a:rPr sz="900" b="0">
                <a:solidFill>
                  <a:srgbClr val="595959"/>
                </a:solidFill>
                <a:latin typeface="メイリオ"/>
                <a:ea typeface="メイリオ"/>
                <a:cs typeface="メイリオ"/>
              </a:rPr>
            </a:br>
            <a:r>
              <a:rPr sz="900" b="0">
                <a:solidFill>
                  <a:srgbClr val="595959"/>
                </a:solidFill>
                <a:latin typeface="メイリオ"/>
                <a:ea typeface="メイリオ"/>
                <a:cs typeface="メイリオ"/>
              </a:rPr>
              <a:t>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145414</TotalTime>
  <Words>5134</Words>
  <Application>Microsoft Office PowerPoint</Application>
  <PresentationFormat>A4 210 x 297 mm</PresentationFormat>
  <Paragraphs>1238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1985</cp:revision>
  <cp:lastPrinted>2022-11-01T11:38:14Z</cp:lastPrinted>
  <dcterms:created xsi:type="dcterms:W3CDTF">2015-09-04T09:21:15Z</dcterms:created>
  <dcterms:modified xsi:type="dcterms:W3CDTF">2026-10-28T11:27:28Z</dcterms:modified>
</cp:coreProperties>
</file>