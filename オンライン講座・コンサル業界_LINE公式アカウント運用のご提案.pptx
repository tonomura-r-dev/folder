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8.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3"/>
  </p:notesMasterIdLst>
  <p:handoutMasterIdLst>
    <p:handoutMasterId r:id="rId64"/>
  </p:handoutMasterIdLst>
  <p:sldIdLst>
    <p:sldId id="2363" r:id="rId3"/>
    <p:sldId id="2988" r:id="rId4"/>
    <p:sldId id="2972" r:id="rId6"/>
    <p:sldId id="2736" r:id="rId7"/>
    <p:sldId id="2976" r:id="rId8"/>
    <p:sldId id="3033" r:id="rId9"/>
    <p:sldId id="3026" r:id="rId10"/>
    <p:sldId id="2986" r:id="rId11"/>
    <p:sldId id="2761" r:id="rId12"/>
    <p:sldId id="3021" r:id="rId13"/>
    <p:sldId id="3008" r:id="rId14"/>
    <p:sldId id="2737" r:id="rId15"/>
    <p:sldId id="2979" r:id="rId16"/>
    <p:sldId id="3006" r:id="rId17"/>
    <p:sldId id="3027" r:id="rId18"/>
    <p:sldId id="2989" r:id="rId19"/>
    <p:sldId id="3035" r:id="rId69"/>
    <p:sldId id="3015" r:id="rId20"/>
    <p:sldId id="2957" r:id="rId21"/>
    <p:sldId id="3023" r:id="rId24"/>
    <p:sldId id="3024" r:id="rId25"/>
    <p:sldId id="3032" r:id="rId27"/>
    <p:sldId id="3028" r:id="rId28"/>
    <p:sldId id="2970" r:id="rId29"/>
    <p:sldId id="2959" r:id="rId30"/>
    <p:sldId id="3025" r:id="rId31"/>
    <p:sldId id="3034" r:id="rId32"/>
    <p:sldId id="2966" r:id="rId33"/>
    <p:sldId id="3036" r:id="rId70"/>
    <p:sldId id="3037" r:id="rId71"/>
    <p:sldId id="3038" r:id="rId72"/>
    <p:sldId id="3039" r:id="rId73"/>
    <p:sldId id="3011" r:id="rId36"/>
    <p:sldId id="2734" r:id="rId37"/>
    <p:sldId id="2595" r:id="rId38"/>
    <p:sldId id="2566" r:id="rId39"/>
    <p:sldId id="2915" r:id="rId40"/>
    <p:sldId id="2619" r:id="rId41"/>
    <p:sldId id="1169" r:id="rId42"/>
    <p:sldId id="2961" r:id="rId43"/>
    <p:sldId id="2908" r:id="rId44"/>
    <p:sldId id="2935" r:id="rId45"/>
    <p:sldId id="2919" r:id="rId46"/>
    <p:sldId id="2519" r:id="rId47"/>
    <p:sldId id="2931" r:id="rId48"/>
    <p:sldId id="2749" r:id="rId49"/>
    <p:sldId id="2950" r:id="rId50"/>
    <p:sldId id="2563" r:id="rId51"/>
    <p:sldId id="2968" r:id="rId52"/>
    <p:sldId id="2969" r:id="rId53"/>
    <p:sldId id="2951" r:id="rId54"/>
    <p:sldId id="2841" r:id="rId55"/>
    <p:sldId id="2849" r:id="rId56"/>
    <p:sldId id="2904" r:id="rId57"/>
    <p:sldId id="2905" r:id="rId58"/>
    <p:sldId id="2906" r:id="rId59"/>
    <p:sldId id="2907" r:id="rId60"/>
    <p:sldId id="2575" r:id="rId61"/>
    <p:sldId id="2910" r:id="rId6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9.xml"/><Relationship Id="rId21" Type="http://schemas.openxmlformats.org/officeDocument/2006/relationships/slide" Target="slides/slide20.xml"/><Relationship Id="rId24" Type="http://schemas.openxmlformats.org/officeDocument/2006/relationships/slide" Target="slides/slide23.xml"/><Relationship Id="rId25" Type="http://schemas.openxmlformats.org/officeDocument/2006/relationships/slide" Target="slides/slide24.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slide" Target="slides/slide39.xml"/><Relationship Id="rId39" Type="http://schemas.openxmlformats.org/officeDocument/2006/relationships/slide" Target="slides/slide40.xml"/><Relationship Id="rId40" Type="http://schemas.openxmlformats.org/officeDocument/2006/relationships/slide" Target="slides/slide41.xml"/><Relationship Id="rId41" Type="http://schemas.openxmlformats.org/officeDocument/2006/relationships/slide" Target="slides/slide42.xml"/><Relationship Id="rId42" Type="http://schemas.openxmlformats.org/officeDocument/2006/relationships/slide" Target="slides/slide43.xml"/><Relationship Id="rId43" Type="http://schemas.openxmlformats.org/officeDocument/2006/relationships/slide" Target="slides/slide44.xml"/><Relationship Id="rId44" Type="http://schemas.openxmlformats.org/officeDocument/2006/relationships/slide" Target="slides/slide45.xml"/><Relationship Id="rId45" Type="http://schemas.openxmlformats.org/officeDocument/2006/relationships/slide" Target="slides/slide46.xml"/><Relationship Id="rId46" Type="http://schemas.openxmlformats.org/officeDocument/2006/relationships/slide" Target="slides/slide47.xml"/><Relationship Id="rId47" Type="http://schemas.openxmlformats.org/officeDocument/2006/relationships/slide" Target="slides/slide48.xml"/><Relationship Id="rId48" Type="http://schemas.openxmlformats.org/officeDocument/2006/relationships/slide" Target="slides/slide49.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openxmlformats.org/officeDocument/2006/relationships/slide" Target="slides/slide18.xml"/><Relationship Id="rId70" Type="http://schemas.openxmlformats.org/officeDocument/2006/relationships/slide" Target="slides/slide33.xml"/><Relationship Id="rId71" Type="http://schemas.openxmlformats.org/officeDocument/2006/relationships/slide" Target="slides/slide34.xml"/><Relationship Id="rId72" Type="http://schemas.openxmlformats.org/officeDocument/2006/relationships/slide" Target="slides/slide35.xml"/><Relationship Id="rId73"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40</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jpeg"/><Relationship Id="rId8" Type="http://schemas.openxmlformats.org/officeDocument/2006/relationships/image" Target="../media/image20.jp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hyperlink" Target="https://youtube.com/shorts/0qI4QgrOppQ"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7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40.jpeg"/><Relationship Id="rId5" Type="http://schemas.openxmlformats.org/officeDocument/2006/relationships/image" Target="../media/image41.jpeg"/><Relationship Id="rId6" Type="http://schemas.openxmlformats.org/officeDocument/2006/relationships/image" Target="../media/image42.jpeg"/><Relationship Id="rId7" Type="http://schemas.openxmlformats.org/officeDocument/2006/relationships/image" Target="../media/image43.jpeg"/><Relationship Id="rId8" Type="http://schemas.openxmlformats.org/officeDocument/2006/relationships/image" Target="../media/image44.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5.svg"/><Relationship Id="rId4" Type="http://schemas.openxmlformats.org/officeDocument/2006/relationships/image" Target="../media/image46.svg"/><Relationship Id="rId5" Type="http://schemas.openxmlformats.org/officeDocument/2006/relationships/image" Target="../media/image47.svg"/><Relationship Id="rId6" Type="http://schemas.openxmlformats.org/officeDocument/2006/relationships/image" Target="../media/image48.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次のセミナー参加・講座の入会へ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オンライン講座・コンサル業界向け</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4042977"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業界の構造</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532648"/>
            <a:ext cx="3640831"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次回のセミナー・講座の入会へつなげる動線を、8フェーズで整理する。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：お仕事で成果を上げたい方・お金や暮らしを学びたい方</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セミナー参加の段階では費用の不安は小さく、金額の判断は講座・サロンの入会の段階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：セミナー・説明会の間の時期にも、継続して情報を届けることが重要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という特性があり、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集めた方と、次のセミナー参加・入会まで接点を持ち続けることが重要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1A845779-79CA-4072-2A28-CD9E201361F3}"/>
              </a:ext>
            </a:extLst>
          </p:cNvPr>
          <p:cNvSpPr txBox="1"/>
          <p:nvPr/>
        </p:nvSpPr>
        <p:spPr>
          <a:xfrm>
            <a:off x="6381559" y="3815834"/>
            <a:ext cx="2202588"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研修・学びの市場：学びのニーズが伸びている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21985"/>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429415095"/>
              </p:ext>
            </p:extLst>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a:t>
                      </a:r>
                      <a:endParaRPr lang="ja-JP" altLang="en-US" sz="1200" dirty="0"/>
                    </a:p>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　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LINEの利用者</a:t>
                      </a:r>
                      <a:endParaRPr lang="en-US" altLang="ja-JP" sz="1200" b="1" dirty="0">
                        <a:solidFill>
                          <a:srgbClr val="1F2A5C"/>
                        </a:solidFill>
                        <a:latin typeface="メイリオ" panose="020B0604030504040204" pitchFamily="50" charset="-128"/>
                        <a:ea typeface="メイリオ" panose="020B0604030504040204" pitchFamily="50" charset="-128"/>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LINEの国内月間利用者数は1億人（2025年12月時点）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学びの案内も、LINEで届けられる相手が多い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32556337"/>
                  </a:ext>
                </a:extLst>
              </a:tr>
            </a:tbl>
          </a:graphicData>
        </a:graphic>
      </p:graphicFrame>
      <p:sp>
        <p:nvSpPr>
          <p:cNvPr id="52" name="示唆"/>
          <p:cNvSpPr/>
          <p:nvPr/>
        </p:nvSpPr>
        <p:spPr>
          <a:xfrm>
            <a:off x="420624" y="446735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学びたい方が増えている。そのため、セミナーで出会った方とLINEでつながり、次のセミナー・講座の入会まで</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案内を続ける場を整えることが重要。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ミック経済研究所）／LINEの利用者：LINEヤフー発表（2026年1月29日。2025年12月時点の国内月間利用者数）</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お金への関心は高まる一方で、学ぶ機会が少ない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55516"/>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122004456"/>
              </p:ext>
            </p:extLst>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学ぶ機会が少なく、</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学びたいというニーズは大きい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76197571"/>
                  </a:ext>
                </a:extLst>
              </a:tr>
            </a:tbl>
          </a:graphicData>
        </a:graphic>
      </p:graphicFrame>
      <p:sp>
        <p:nvSpPr>
          <p:cNvPr id="52" name="示唆"/>
          <p:cNvSpPr/>
          <p:nvPr/>
        </p:nvSpPr>
        <p:spPr>
          <a:xfrm>
            <a:off x="420624" y="466547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お金への関心が高まる一方で、学ぶ機会が少ない。お金・資産形成のセミナーや講座は、学びたい方の受け皿になれる。LINEで次回の案内を続けられる。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ターゲット：お仕事で学ぶ方と、ご自身のために学ぶ方</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726247305"/>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お仕事で成果を上げたい方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ご自身のために学びたい方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仕事の成果（集客・営業・時間の使い方）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資産形成・お金の知識・副業</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無料セミナー → 講座・オンラインサロン</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a:t>
                      </a:r>
                      <a:endParaRPr lang="ja-JP" altLang="en-US" sz="1300" dirty="0">
                        <a:latin typeface="メイリオ"/>
                        <a:ea typeface="メイリオ"/>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講座・サロンのご案内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お仕事向けのLPから友だち追加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2" name="示唆"/>
          <p:cNvSpPr/>
          <p:nvPr/>
        </p:nvSpPr>
        <p:spPr>
          <a:xfrm>
            <a:off x="420624" y="4526280"/>
            <a:ext cx="9052560"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一般の方向けセミナーの参加者には、お仕事向けの講座への入会を前提にした案内はしない。</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競合調査：貴社施策内で検討の訴求軸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同じ業界の他社も、LINEで特典や学びを届けている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extLst>
              <p:ext uri="{D42A27DB-BD31-4B8C-83A1-F6EECF244321}">
                <p14:modId xmlns:p14="http://schemas.microsoft.com/office/powerpoint/2010/main" val="3478589760"/>
              </p:ext>
            </p:extLst>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A社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お仕事向けの講座（月2回）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B社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お仕事向けの無料の学習サービス</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参加後は、講座・サロンの入会へつなげる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A社のあいさつ（LINE公式アカウント）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※A社：LINE公式アカウント（2026年10月19日確認）・公式サイト（2026年10月18日確認）より。画面の名前とパスワードは伏せている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※B社：プレスリリースより。</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
        <p:nvSpPr>
          <p:cNvPr id="8" name="Rectangle 7"/>
          <p:cNvSpPr/>
          <p:nvPr/>
        </p:nvSpPr>
        <p:spPr>
          <a:xfrm>
            <a:off x="502920" y="1828800"/>
            <a:ext cx="3520440" cy="192024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9" name="Rectangle 8"/>
          <p:cNvSpPr/>
          <p:nvPr/>
        </p:nvSpPr>
        <p:spPr>
          <a:xfrm>
            <a:off x="502920" y="1463040"/>
            <a:ext cx="3520440" cy="365760"/>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広告</a:t>
            </a:r>
          </a:p>
        </p:txBody>
      </p:sp>
      <p:sp>
        <p:nvSpPr>
          <p:cNvPr id="10" name="TextBox 9"/>
          <p:cNvSpPr txBox="1"/>
          <p:nvPr/>
        </p:nvSpPr>
        <p:spPr>
          <a:xfrm>
            <a:off x="594360" y="19019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0">
                <a:solidFill>
                  <a:srgbClr val="333333"/>
                </a:solidFill>
                <a:latin typeface="メイリオ"/>
                <a:ea typeface="メイリオ"/>
                <a:cs typeface="メイリオ"/>
              </a:rPr>
              <a:t>新しい見込み客との接点を獲得する</a:t>
            </a:r>
          </a:p>
        </p:txBody>
      </p:sp>
      <p:cxnSp>
        <p:nvCxnSpPr>
          <p:cNvPr id="11" name="Connector 10"/>
          <p:cNvCxnSpPr/>
          <p:nvPr/>
        </p:nvCxnSpPr>
        <p:spPr>
          <a:xfrm>
            <a:off x="640080" y="23317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594360" y="23591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0">
                <a:solidFill>
                  <a:srgbClr val="333333"/>
                </a:solidFill>
                <a:latin typeface="メイリオ"/>
                <a:ea typeface="メイリオ"/>
                <a:cs typeface="メイリオ"/>
              </a:rPr>
              <a:t>まだつながっていない方</a:t>
            </a:r>
          </a:p>
        </p:txBody>
      </p:sp>
      <p:cxnSp>
        <p:nvCxnSpPr>
          <p:cNvPr id="13" name="Connector 12"/>
          <p:cNvCxnSpPr/>
          <p:nvPr/>
        </p:nvCxnSpPr>
        <p:spPr>
          <a:xfrm>
            <a:off x="640080" y="27889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4360" y="28163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0">
                <a:solidFill>
                  <a:srgbClr val="333333"/>
                </a:solidFill>
                <a:latin typeface="メイリオ"/>
                <a:ea typeface="メイリオ"/>
                <a:cs typeface="メイリオ"/>
              </a:rPr>
              <a:t>広告を配信している期間</a:t>
            </a:r>
          </a:p>
        </p:txBody>
      </p:sp>
      <p:cxnSp>
        <p:nvCxnSpPr>
          <p:cNvPr id="15" name="Connector 14"/>
          <p:cNvCxnSpPr/>
          <p:nvPr/>
        </p:nvCxnSpPr>
        <p:spPr>
          <a:xfrm>
            <a:off x="640080" y="32461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94360" y="32735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0">
                <a:solidFill>
                  <a:srgbClr val="333333"/>
                </a:solidFill>
                <a:latin typeface="メイリオ"/>
                <a:ea typeface="メイリオ"/>
                <a:cs typeface="メイリオ"/>
              </a:rPr>
              <a:t>セミナー予約などの反響</a:t>
            </a:r>
          </a:p>
        </p:txBody>
      </p:sp>
      <p:sp>
        <p:nvSpPr>
          <p:cNvPr id="17" name="Rectangle 16"/>
          <p:cNvSpPr/>
          <p:nvPr/>
        </p:nvSpPr>
        <p:spPr>
          <a:xfrm>
            <a:off x="4846320" y="1828800"/>
            <a:ext cx="4553712" cy="1920240"/>
          </a:xfrm>
          <a:prstGeom prst="rect">
            <a:avLst/>
          </a:prstGeom>
          <a:solidFill>
            <a:srgbClr val="F4F7FF"/>
          </a:solidFill>
          <a:ln w="1587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8" name="Rectangle 17"/>
          <p:cNvSpPr/>
          <p:nvPr/>
        </p:nvSpPr>
        <p:spPr>
          <a:xfrm>
            <a:off x="4846320" y="1463040"/>
            <a:ext cx="4553712" cy="36576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LINE公式アカウント</a:t>
            </a:r>
          </a:p>
        </p:txBody>
      </p:sp>
      <p:sp>
        <p:nvSpPr>
          <p:cNvPr id="19" name="TextBox 18"/>
          <p:cNvSpPr txBox="1"/>
          <p:nvPr/>
        </p:nvSpPr>
        <p:spPr>
          <a:xfrm>
            <a:off x="4937760" y="19019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1">
                <a:solidFill>
                  <a:srgbClr val="1F285A"/>
                </a:solidFill>
                <a:latin typeface="メイリオ"/>
                <a:ea typeface="メイリオ"/>
                <a:cs typeface="メイリオ"/>
              </a:rPr>
              <a:t>一度つながった見込み客に、継続して情報を届ける</a:t>
            </a:r>
          </a:p>
        </p:txBody>
      </p:sp>
      <p:cxnSp>
        <p:nvCxnSpPr>
          <p:cNvPr id="20" name="Connector 19"/>
          <p:cNvCxnSpPr/>
          <p:nvPr/>
        </p:nvCxnSpPr>
        <p:spPr>
          <a:xfrm>
            <a:off x="4983480" y="23317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4937760" y="23591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1">
                <a:solidFill>
                  <a:srgbClr val="1F285A"/>
                </a:solidFill>
                <a:latin typeface="メイリオ"/>
                <a:ea typeface="メイリオ"/>
                <a:cs typeface="メイリオ"/>
              </a:rPr>
              <a:t>友だち追加した方</a:t>
            </a:r>
          </a:p>
        </p:txBody>
      </p:sp>
      <p:cxnSp>
        <p:nvCxnSpPr>
          <p:cNvPr id="22" name="Connector 21"/>
          <p:cNvCxnSpPr/>
          <p:nvPr/>
        </p:nvCxnSpPr>
        <p:spPr>
          <a:xfrm>
            <a:off x="4983480" y="27889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4937760" y="28163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1">
                <a:solidFill>
                  <a:srgbClr val="1F285A"/>
                </a:solidFill>
                <a:latin typeface="メイリオ"/>
                <a:ea typeface="メイリオ"/>
                <a:cs typeface="メイリオ"/>
              </a:rPr>
              <a:t>開催月も、開催のない月も</a:t>
            </a:r>
          </a:p>
        </p:txBody>
      </p:sp>
      <p:cxnSp>
        <p:nvCxnSpPr>
          <p:cNvPr id="24" name="Connector 23"/>
          <p:cNvCxnSpPr/>
          <p:nvPr/>
        </p:nvCxnSpPr>
        <p:spPr>
          <a:xfrm>
            <a:off x="4983480" y="32461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937760" y="32735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1">
                <a:solidFill>
                  <a:srgbClr val="1F285A"/>
                </a:solidFill>
                <a:latin typeface="メイリオ"/>
                <a:ea typeface="メイリオ"/>
                <a:cs typeface="メイリオ"/>
              </a:rPr>
              <a:t>友だち（次回以降も案内できる相手）</a:t>
            </a:r>
          </a:p>
        </p:txBody>
      </p:sp>
      <p:sp>
        <p:nvSpPr>
          <p:cNvPr id="26" name="TextBox 25"/>
          <p:cNvSpPr txBox="1"/>
          <p:nvPr/>
        </p:nvSpPr>
        <p:spPr>
          <a:xfrm>
            <a:off x="4023360" y="2286000"/>
            <a:ext cx="822960" cy="274320"/>
          </a:xfrm>
          <a:prstGeom prst="rect">
            <a:avLst/>
          </a:prstGeom>
          <a:noFill/>
        </p:spPr>
        <p:txBody>
          <a:bodyPr wrap="square" anchor="b" lIns="36000" rIns="36000" tIns="10800" bIns="10800">
            <a:spAutoFit/>
          </a:bodyPr>
          <a:lstStyle/>
          <a:p>
            <a:pPr algn="ctr">
              <a:lnSpc>
                <a:spcPct val="105000"/>
              </a:lnSpc>
              <a:spcAft>
                <a:spcPts val="200"/>
              </a:spcAft>
            </a:pPr>
            <a:r>
              <a:rPr sz="1000" b="1">
                <a:solidFill>
                  <a:srgbClr val="1F285A"/>
                </a:solidFill>
                <a:latin typeface="メイリオ"/>
                <a:ea typeface="メイリオ"/>
                <a:cs typeface="メイリオ"/>
              </a:rPr>
              <a:t>友だち追加</a:t>
            </a:r>
          </a:p>
        </p:txBody>
      </p:sp>
      <p:sp>
        <p:nvSpPr>
          <p:cNvPr id="27" name="Right Arrow 26"/>
          <p:cNvSpPr/>
          <p:nvPr/>
        </p:nvSpPr>
        <p:spPr>
          <a:xfrm>
            <a:off x="4133088" y="2606039"/>
            <a:ext cx="603504" cy="365760"/>
          </a:xfrm>
          <a:prstGeom prst="rightArrow">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338554"/>
          </a:xfrm>
          <a:prstGeom prst="rect">
            <a:avLst/>
          </a:prstGeom>
          <a:noFill/>
        </p:spPr>
        <p:txBody>
          <a:bodyPr wrap="square">
            <a:spAutoFit/>
          </a:bodyPr>
          <a:lstStyle/>
          <a:p>
            <a:pPr marL="228600">
              <a:spcAft>
                <a:spcPts val="800"/>
              </a:spcAft>
              <a:buNone/>
            </a:pPr>
            <a:r>
              <a:rPr lang="ja-JP" altLang="ja-JP" sz="1600" dirty="0">
                <a:effectLst/>
                <a:latin typeface="メイリオ" panose="02020603050405020304" pitchFamily="18" charset="0"/>
                <a:ea typeface="メイリオ" panose="020B0604030504040204" pitchFamily="50" charset="-128"/>
                <a:cs typeface="メイリオ" panose="020B0604030504040204" pitchFamily="50" charset="-128"/>
              </a:rPr>
              <a:t>保険・イベント集客の事例</a:t>
            </a:r>
            <a:endParaRPr lang="en-US" altLang="ja-JP" sz="16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extLst>
              <p:ext uri="{D42A27DB-BD31-4B8C-83A1-F6EECF244321}">
                <p14:modId xmlns:p14="http://schemas.microsoft.com/office/powerpoint/2010/main" val="1259239623"/>
              </p:ext>
            </p:extLst>
          </p:nvPr>
        </p:nvGraphicFramePr>
        <p:xfrm>
          <a:off x="420624" y="1783080"/>
          <a:ext cx="9052560" cy="3767328"/>
        </p:xfrm>
        <a:graphic>
          <a:graphicData uri="http://schemas.openxmlformats.org/drawingml/2006/table">
            <a:tbl>
              <a:tblPr/>
              <a:tblGrid>
                <a:gridCol w="1600200">
                  <a:extLst>
                    <a:ext uri="{9D8B030D-6E8A-4147-A177-3AD203B41FA5}">
                      <a16:colId xmlns:a16="http://schemas.microsoft.com/office/drawing/2014/main" val="20000"/>
                    </a:ext>
                  </a:extLst>
                </a:gridCol>
                <a:gridCol w="2307336">
                  <a:extLst>
                    <a:ext uri="{9D8B030D-6E8A-4147-A177-3AD203B41FA5}">
                      <a16:colId xmlns:a16="http://schemas.microsoft.com/office/drawing/2014/main" val="20001"/>
                    </a:ext>
                  </a:extLst>
                </a:gridCol>
                <a:gridCol w="2673531">
                  <a:extLst>
                    <a:ext uri="{9D8B030D-6E8A-4147-A177-3AD203B41FA5}">
                      <a16:colId xmlns:a16="http://schemas.microsoft.com/office/drawing/2014/main" val="20002"/>
                    </a:ext>
                  </a:extLst>
                </a:gridCol>
                <a:gridCol w="2471493">
                  <a:extLst>
                    <a:ext uri="{9D8B030D-6E8A-4147-A177-3AD203B41FA5}">
                      <a16:colId xmlns:a16="http://schemas.microsoft.com/office/drawing/2014/main" val="20003"/>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配信を届け続ける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講座・サロンの入会を案内</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1196334290"/>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次回セミナーへの参加と講座・サロンへの入会を増やす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6か月（セミナー開催月と開催のない月で、配信内容と工数が変わる）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友だちを増やし、ブロック率を抑えながら、セミナー参加・入会につなげる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離脱防止ポップアップ（推奨）で、LPを離れる方を対象に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友だち追加直後・予約した方・参加後の段階ごとで、案内を変える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開催のない月は月1〜2回、開催月は月4〜5回の企画配信で、つながりを保つ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講座・サロンの申込み完了ページからのLINE誘導（サンクスLINE誘導）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イベント開催時だけでない時期にも継続して情報を届ける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2678730967"/>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開催月・開催のない月</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それぞれに合わせて届ける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・参加後に、振り返りと講座・サロンを案内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セミナーの内容を知り、予約につなげる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参加後の振り返り・講座・サロンの内容紹介・入会のご案内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想定動線（フェーズごとのLINEの役割）①〜④</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⑦マネタイズ</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r>
              <a:rPr lang="ja-JP" altLang="en-US" sz="1000" b="1" dirty="0">
                <a:solidFill>
                  <a:srgbClr val="BFBFBF"/>
                </a:solidFill>
                <a:latin typeface="メイリオ" panose="020B0604030504040204" pitchFamily="50" charset="-128"/>
                <a:ea typeface="メイリオ" panose="020B0604030504040204" pitchFamily="50" charset="-128"/>
                <a:cs typeface="メイリオ"/>
              </a:rPr>
              <a:t>成約</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r>
              <a:rPr lang="ja-JP" altLang="en-US" sz="1000" b="1" dirty="0">
                <a:solidFill>
                  <a:srgbClr val="BFBFBF"/>
                </a:solidFill>
                <a:latin typeface="メイリオ" panose="020B0604030504040204" pitchFamily="50" charset="-128"/>
                <a:ea typeface="メイリオ" panose="020B0604030504040204" pitchFamily="50" charset="-128"/>
                <a:cs typeface="メイリオ"/>
              </a:rPr>
              <a:t>購入</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solidFill>
                  <a:srgbClr val="BFBFBF"/>
                </a:solidFill>
                <a:latin typeface="メイリオ" panose="020B0604030504040204" pitchFamily="50" charset="-128"/>
                <a:ea typeface="メイリオ" panose="020B0604030504040204" pitchFamily="50" charset="-128"/>
                <a:cs typeface="メイリオ"/>
              </a:rPr>
              <a:t>⑧</a:t>
            </a:r>
            <a:r>
              <a:rPr lang="en-US" altLang="ja-JP" sz="1100" dirty="0">
                <a:solidFill>
                  <a:srgbClr val="BFBFBF"/>
                </a:solidFill>
                <a:latin typeface="メイリオ" panose="020B0604030504040204" pitchFamily="50" charset="-128"/>
                <a:ea typeface="メイリオ" panose="020B0604030504040204" pitchFamily="50" charset="-128"/>
                <a:cs typeface="メイリオ"/>
              </a:rPr>
              <a:t>LTV</a:t>
            </a:r>
            <a:r>
              <a:rPr lang="ja-JP" altLang="en-US" sz="1100" dirty="0">
                <a:solidFill>
                  <a:srgbClr val="BFBFBF"/>
                </a:solidFill>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LPを離れる方を友だちにし、セミナーの予約・参加までつなげる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Rectangle 45"/>
          <p:cNvSpPr/>
          <p:nvPr/>
        </p:nvSpPr>
        <p:spPr>
          <a:xfrm>
            <a:off x="384048"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① 接触</a:t>
            </a:r>
          </a:p>
          <a:p>
            <a:pPr algn="ctr">
              <a:lnSpc>
                <a:spcPct val="110000"/>
              </a:lnSpc>
              <a:spcAft>
                <a:spcPts val="0"/>
              </a:spcAft>
            </a:pPr>
            <a:r>
              <a:rPr sz="1050" b="1">
                <a:solidFill>
                  <a:srgbClr val="1F285A"/>
                </a:solidFill>
                <a:latin typeface="メイリオ"/>
                <a:ea typeface="メイリオ"/>
                <a:cs typeface="メイリオ"/>
              </a:rPr>
              <a:t>（認知・流入）</a:t>
            </a:r>
          </a:p>
        </p:txBody>
      </p:sp>
      <p:sp>
        <p:nvSpPr>
          <p:cNvPr id="47" name="Isosceles Triangle 46"/>
          <p:cNvSpPr/>
          <p:nvPr/>
        </p:nvSpPr>
        <p:spPr>
          <a:xfrm rot="5400000">
            <a:off x="2587751"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TextBox 47"/>
          <p:cNvSpPr txBox="1"/>
          <p:nvPr/>
        </p:nvSpPr>
        <p:spPr>
          <a:xfrm>
            <a:off x="384048"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49" name="TextBox 48"/>
          <p:cNvSpPr txBox="1"/>
          <p:nvPr/>
        </p:nvSpPr>
        <p:spPr>
          <a:xfrm>
            <a:off x="384048"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成果を上げたい・</a:t>
            </a:r>
          </a:p>
          <a:p>
            <a:pPr algn="l">
              <a:lnSpc>
                <a:spcPct val="105000"/>
              </a:lnSpc>
              <a:spcAft>
                <a:spcPts val="200"/>
              </a:spcAft>
            </a:pPr>
            <a:r>
              <a:rPr sz="1300" b="0">
                <a:solidFill>
                  <a:srgbClr val="333333"/>
                </a:solidFill>
                <a:latin typeface="メイリオ"/>
                <a:ea typeface="メイリオ"/>
                <a:cs typeface="メイリオ"/>
              </a:rPr>
              <a:t>情報収集中</a:t>
            </a:r>
          </a:p>
        </p:txBody>
      </p:sp>
      <p:cxnSp>
        <p:nvCxnSpPr>
          <p:cNvPr id="50" name="Connector 49"/>
          <p:cNvCxnSpPr/>
          <p:nvPr/>
        </p:nvCxnSpPr>
        <p:spPr>
          <a:xfrm>
            <a:off x="429768"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1" name="Rectangle 50"/>
          <p:cNvSpPr/>
          <p:nvPr/>
        </p:nvSpPr>
        <p:spPr>
          <a:xfrm>
            <a:off x="384048"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離脱防止ポップアップ</a:t>
            </a:r>
          </a:p>
          <a:p>
            <a:pPr algn="l">
              <a:lnSpc>
                <a:spcPct val="110000"/>
              </a:lnSpc>
              <a:spcAft>
                <a:spcPts val="0"/>
              </a:spcAft>
            </a:pPr>
            <a:r>
              <a:rPr sz="1300" b="1">
                <a:solidFill>
                  <a:srgbClr val="1F285A"/>
                </a:solidFill>
                <a:latin typeface="メイリオ"/>
                <a:ea typeface="メイリオ"/>
                <a:cs typeface="メイリオ"/>
              </a:rPr>
              <a:t>（推奨）</a:t>
            </a:r>
          </a:p>
        </p:txBody>
      </p:sp>
      <p:sp>
        <p:nvSpPr>
          <p:cNvPr id="52" name="Rectangle 51"/>
          <p:cNvSpPr/>
          <p:nvPr/>
        </p:nvSpPr>
        <p:spPr>
          <a:xfrm>
            <a:off x="2798063"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② サイト離脱</a:t>
            </a:r>
          </a:p>
          <a:p>
            <a:pPr algn="ctr">
              <a:lnSpc>
                <a:spcPct val="110000"/>
              </a:lnSpc>
              <a:spcAft>
                <a:spcPts val="0"/>
              </a:spcAft>
            </a:pPr>
            <a:r>
              <a:rPr sz="1050" b="1">
                <a:solidFill>
                  <a:srgbClr val="1F285A"/>
                </a:solidFill>
                <a:latin typeface="メイリオ"/>
                <a:ea typeface="メイリオ"/>
                <a:cs typeface="メイリオ"/>
              </a:rPr>
              <a:t>（対策）</a:t>
            </a:r>
          </a:p>
        </p:txBody>
      </p:sp>
      <p:sp>
        <p:nvSpPr>
          <p:cNvPr id="53" name="Isosceles Triangle 52"/>
          <p:cNvSpPr/>
          <p:nvPr/>
        </p:nvSpPr>
        <p:spPr>
          <a:xfrm rot="5400000">
            <a:off x="5001768"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4" name="TextBox 53"/>
          <p:cNvSpPr txBox="1"/>
          <p:nvPr/>
        </p:nvSpPr>
        <p:spPr>
          <a:xfrm>
            <a:off x="2798063"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55" name="TextBox 54"/>
          <p:cNvSpPr txBox="1"/>
          <p:nvPr/>
        </p:nvSpPr>
        <p:spPr>
          <a:xfrm>
            <a:off x="2798063"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今回は申し込まない</a:t>
            </a:r>
          </a:p>
        </p:txBody>
      </p:sp>
      <p:cxnSp>
        <p:nvCxnSpPr>
          <p:cNvPr id="56" name="Connector 55"/>
          <p:cNvCxnSpPr/>
          <p:nvPr/>
        </p:nvCxnSpPr>
        <p:spPr>
          <a:xfrm>
            <a:off x="2843783"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7" name="Rectangle 56"/>
          <p:cNvSpPr/>
          <p:nvPr/>
        </p:nvSpPr>
        <p:spPr>
          <a:xfrm>
            <a:off x="2798063"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ポップアップから</a:t>
            </a:r>
          </a:p>
          <a:p>
            <a:pPr algn="l">
              <a:lnSpc>
                <a:spcPct val="110000"/>
              </a:lnSpc>
              <a:spcAft>
                <a:spcPts val="0"/>
              </a:spcAft>
            </a:pPr>
            <a:r>
              <a:rPr sz="1300" b="1">
                <a:solidFill>
                  <a:srgbClr val="1F285A"/>
                </a:solidFill>
                <a:latin typeface="メイリオ"/>
                <a:ea typeface="メイリオ"/>
                <a:cs typeface="メイリオ"/>
              </a:rPr>
              <a:t>LINE友だち化</a:t>
            </a:r>
          </a:p>
        </p:txBody>
      </p:sp>
      <p:sp>
        <p:nvSpPr>
          <p:cNvPr id="58" name="Rectangle 57"/>
          <p:cNvSpPr/>
          <p:nvPr/>
        </p:nvSpPr>
        <p:spPr>
          <a:xfrm>
            <a:off x="5212079"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③ 育成</a:t>
            </a:r>
          </a:p>
          <a:p>
            <a:pPr algn="ctr">
              <a:lnSpc>
                <a:spcPct val="110000"/>
              </a:lnSpc>
              <a:spcAft>
                <a:spcPts val="0"/>
              </a:spcAft>
            </a:pPr>
            <a:r>
              <a:rPr sz="1050" b="1">
                <a:solidFill>
                  <a:srgbClr val="1F285A"/>
                </a:solidFill>
                <a:latin typeface="メイリオ"/>
                <a:ea typeface="メイリオ"/>
                <a:cs typeface="メイリオ"/>
              </a:rPr>
              <a:t>（興味喚起）</a:t>
            </a:r>
          </a:p>
        </p:txBody>
      </p:sp>
      <p:sp>
        <p:nvSpPr>
          <p:cNvPr id="59" name="Isosceles Triangle 58"/>
          <p:cNvSpPr/>
          <p:nvPr/>
        </p:nvSpPr>
        <p:spPr>
          <a:xfrm rot="5400000">
            <a:off x="7415784"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60" name="TextBox 59"/>
          <p:cNvSpPr txBox="1"/>
          <p:nvPr/>
        </p:nvSpPr>
        <p:spPr>
          <a:xfrm>
            <a:off x="5212079"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1" name="TextBox 60"/>
          <p:cNvSpPr txBox="1"/>
          <p:nvPr/>
        </p:nvSpPr>
        <p:spPr>
          <a:xfrm>
            <a:off x="5212079"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どんなセミナーか</a:t>
            </a:r>
          </a:p>
          <a:p>
            <a:pPr algn="l">
              <a:lnSpc>
                <a:spcPct val="105000"/>
              </a:lnSpc>
              <a:spcAft>
                <a:spcPts val="200"/>
              </a:spcAft>
            </a:pPr>
            <a:r>
              <a:rPr sz="1300" b="0">
                <a:solidFill>
                  <a:srgbClr val="333333"/>
                </a:solidFill>
                <a:latin typeface="メイリオ"/>
                <a:ea typeface="メイリオ"/>
                <a:cs typeface="メイリオ"/>
              </a:rPr>
              <a:t>分からない</a:t>
            </a:r>
          </a:p>
        </p:txBody>
      </p:sp>
      <p:cxnSp>
        <p:nvCxnSpPr>
          <p:cNvPr id="62" name="Connector 61"/>
          <p:cNvCxnSpPr/>
          <p:nvPr/>
        </p:nvCxnSpPr>
        <p:spPr>
          <a:xfrm>
            <a:off x="5257799" y="4572000"/>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3" name="Rectangle 62"/>
          <p:cNvSpPr/>
          <p:nvPr/>
        </p:nvSpPr>
        <p:spPr>
          <a:xfrm>
            <a:off x="5212079"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見どころ・特典を</a:t>
            </a:r>
          </a:p>
          <a:p>
            <a:pPr algn="l">
              <a:lnSpc>
                <a:spcPct val="110000"/>
              </a:lnSpc>
              <a:spcAft>
                <a:spcPts val="0"/>
              </a:spcAft>
            </a:pPr>
            <a:r>
              <a:rPr sz="1300" b="1">
                <a:solidFill>
                  <a:srgbClr val="1F285A"/>
                </a:solidFill>
                <a:latin typeface="メイリオ"/>
                <a:ea typeface="メイリオ"/>
                <a:cs typeface="メイリオ"/>
              </a:rPr>
              <a:t>ステップ配信</a:t>
            </a:r>
          </a:p>
        </p:txBody>
      </p:sp>
      <p:sp>
        <p:nvSpPr>
          <p:cNvPr id="64" name="Rectangle 63"/>
          <p:cNvSpPr/>
          <p:nvPr/>
        </p:nvSpPr>
        <p:spPr>
          <a:xfrm>
            <a:off x="7626095"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④ リード獲得</a:t>
            </a:r>
          </a:p>
          <a:p>
            <a:pPr algn="ctr">
              <a:lnSpc>
                <a:spcPct val="110000"/>
              </a:lnSpc>
              <a:spcAft>
                <a:spcPts val="0"/>
              </a:spcAft>
            </a:pPr>
            <a:r>
              <a:rPr sz="1050" b="1">
                <a:solidFill>
                  <a:srgbClr val="1F285A"/>
                </a:solidFill>
                <a:latin typeface="メイリオ"/>
                <a:ea typeface="メイリオ"/>
                <a:cs typeface="メイリオ"/>
              </a:rPr>
              <a:t>(web/LINE)</a:t>
            </a:r>
          </a:p>
        </p:txBody>
      </p:sp>
      <p:sp>
        <p:nvSpPr>
          <p:cNvPr id="65" name="TextBox 64"/>
          <p:cNvSpPr txBox="1"/>
          <p:nvPr/>
        </p:nvSpPr>
        <p:spPr>
          <a:xfrm>
            <a:off x="7626095"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6" name="TextBox 65"/>
          <p:cNvSpPr txBox="1"/>
          <p:nvPr/>
        </p:nvSpPr>
        <p:spPr>
          <a:xfrm>
            <a:off x="7626095"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セミナーを予約した</a:t>
            </a:r>
          </a:p>
        </p:txBody>
      </p:sp>
      <p:cxnSp>
        <p:nvCxnSpPr>
          <p:cNvPr id="67" name="Connector 66"/>
          <p:cNvCxnSpPr/>
          <p:nvPr/>
        </p:nvCxnSpPr>
        <p:spPr>
          <a:xfrm>
            <a:off x="7671816"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7626095"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予約後の友だち追加・</a:t>
            </a:r>
          </a:p>
          <a:p>
            <a:pPr algn="l">
              <a:lnSpc>
                <a:spcPct val="110000"/>
              </a:lnSpc>
              <a:spcAft>
                <a:spcPts val="0"/>
              </a:spcAft>
            </a:pPr>
            <a:r>
              <a:rPr sz="1300" b="1">
                <a:solidFill>
                  <a:srgbClr val="1F285A"/>
                </a:solidFill>
                <a:latin typeface="メイリオ"/>
                <a:ea typeface="メイリオ"/>
                <a:cs typeface="メイリオ"/>
              </a:rPr>
              <a:t>前日の案内</a:t>
            </a:r>
          </a:p>
        </p:txBody>
      </p:sp>
    </p:spTree>
    <p:extLst>
      <p:ext uri="{BB962C8B-B14F-4D97-AF65-F5344CB8AC3E}">
        <p14:creationId xmlns:p14="http://schemas.microsoft.com/office/powerpoint/2010/main" val="3571272317"/>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想定動線（フェーズごとのLINEの役割）⑤〜⑧</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solidFill>
                  <a:srgbClr val="BFBFBF"/>
                </a:solidFill>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solidFill>
                  <a:srgbClr val="BFBFBF"/>
                </a:solidFill>
                <a:latin typeface="メイリオ" panose="020B0604030504040204" pitchFamily="50" charset="-128"/>
                <a:ea typeface="メイリオ" panose="020B0604030504040204" pitchFamily="50" charset="-128"/>
                <a:cs typeface="メイリオ"/>
              </a:rPr>
              <a:t>② サイト離脱</a:t>
            </a:r>
            <a:r>
              <a:rPr lang="ja-JP" altLang="en-US" sz="1100" dirty="0">
                <a:solidFill>
                  <a:srgbClr val="BFBFBF"/>
                </a:solidFill>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solidFill>
                  <a:srgbClr val="BFBFBF"/>
                </a:solidFill>
                <a:latin typeface="メイリオ" panose="020B0604030504040204" pitchFamily="50" charset="-128"/>
                <a:ea typeface="メイリオ" panose="020B0604030504040204" pitchFamily="50" charset="-128"/>
                <a:cs typeface="メイリオ"/>
              </a:rPr>
              <a:t>③ 育成（興味</a:t>
            </a:r>
            <a:r>
              <a:rPr lang="ja-JP" altLang="en-US" sz="1100" b="1" dirty="0">
                <a:solidFill>
                  <a:srgbClr val="BFBFBF"/>
                </a:solidFill>
                <a:latin typeface="メイリオ" panose="020B0604030504040204" pitchFamily="50" charset="-128"/>
                <a:ea typeface="メイリオ" panose="020B0604030504040204" pitchFamily="50" charset="-128"/>
                <a:cs typeface="メイリオ"/>
              </a:rPr>
              <a:t>喚起</a:t>
            </a:r>
            <a:r>
              <a:rPr lang="ja-JP" altLang="ja-JP" sz="1100" b="1" dirty="0">
                <a:solidFill>
                  <a:srgbClr val="BFBFBF"/>
                </a:solidFill>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④リード獲得 </a:t>
            </a:r>
            <a:r>
              <a:rPr lang="en-US" altLang="ja-JP" sz="900" b="1" dirty="0">
                <a:solidFill>
                  <a:srgbClr val="BFBFBF"/>
                </a:solidFill>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参加後の関心が高いうちに入会を案内し、次のイベント・紹介までつなげる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Rectangle 45"/>
          <p:cNvSpPr/>
          <p:nvPr/>
        </p:nvSpPr>
        <p:spPr>
          <a:xfrm>
            <a:off x="384048"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⑤ リード有効化</a:t>
            </a:r>
          </a:p>
        </p:txBody>
      </p:sp>
      <p:sp>
        <p:nvSpPr>
          <p:cNvPr id="47" name="Isosceles Triangle 46"/>
          <p:cNvSpPr/>
          <p:nvPr/>
        </p:nvSpPr>
        <p:spPr>
          <a:xfrm rot="5400000">
            <a:off x="2587751"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TextBox 47"/>
          <p:cNvSpPr txBox="1"/>
          <p:nvPr/>
        </p:nvSpPr>
        <p:spPr>
          <a:xfrm>
            <a:off x="384048"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49" name="TextBox 48"/>
          <p:cNvSpPr txBox="1"/>
          <p:nvPr/>
        </p:nvSpPr>
        <p:spPr>
          <a:xfrm>
            <a:off x="384048"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参加して</a:t>
            </a:r>
          </a:p>
          <a:p>
            <a:pPr algn="l">
              <a:lnSpc>
                <a:spcPct val="105000"/>
              </a:lnSpc>
              <a:spcAft>
                <a:spcPts val="200"/>
              </a:spcAft>
            </a:pPr>
            <a:r>
              <a:rPr sz="1300" b="0">
                <a:solidFill>
                  <a:srgbClr val="333333"/>
                </a:solidFill>
                <a:latin typeface="メイリオ"/>
                <a:ea typeface="メイリオ"/>
                <a:cs typeface="メイリオ"/>
              </a:rPr>
              <a:t>関心が高まっている</a:t>
            </a:r>
          </a:p>
        </p:txBody>
      </p:sp>
      <p:cxnSp>
        <p:nvCxnSpPr>
          <p:cNvPr id="50" name="Connector 49"/>
          <p:cNvCxnSpPr/>
          <p:nvPr/>
        </p:nvCxnSpPr>
        <p:spPr>
          <a:xfrm>
            <a:off x="429768"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1" name="Rectangle 50"/>
          <p:cNvSpPr/>
          <p:nvPr/>
        </p:nvSpPr>
        <p:spPr>
          <a:xfrm>
            <a:off x="384048"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参加直後に講座・サロンを案内</a:t>
            </a:r>
          </a:p>
        </p:txBody>
      </p:sp>
      <p:sp>
        <p:nvSpPr>
          <p:cNvPr id="52" name="Rectangle 51"/>
          <p:cNvSpPr/>
          <p:nvPr/>
        </p:nvSpPr>
        <p:spPr>
          <a:xfrm>
            <a:off x="2798063"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⑥ 有効リードの再育成</a:t>
            </a:r>
          </a:p>
        </p:txBody>
      </p:sp>
      <p:sp>
        <p:nvSpPr>
          <p:cNvPr id="53" name="Isosceles Triangle 52"/>
          <p:cNvSpPr/>
          <p:nvPr/>
        </p:nvSpPr>
        <p:spPr>
          <a:xfrm rot="5400000">
            <a:off x="5001768"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4" name="TextBox 53"/>
          <p:cNvSpPr txBox="1"/>
          <p:nvPr/>
        </p:nvSpPr>
        <p:spPr>
          <a:xfrm>
            <a:off x="2798063"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55" name="TextBox 54"/>
          <p:cNvSpPr txBox="1"/>
          <p:nvPr/>
        </p:nvSpPr>
        <p:spPr>
          <a:xfrm>
            <a:off x="2798063"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未入会／予約したが不参加</a:t>
            </a:r>
          </a:p>
        </p:txBody>
      </p:sp>
      <p:cxnSp>
        <p:nvCxnSpPr>
          <p:cNvPr id="56" name="Connector 55"/>
          <p:cNvCxnSpPr/>
          <p:nvPr/>
        </p:nvCxnSpPr>
        <p:spPr>
          <a:xfrm>
            <a:off x="2843783"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7" name="Rectangle 56"/>
          <p:cNvSpPr/>
          <p:nvPr/>
        </p:nvSpPr>
        <p:spPr>
          <a:xfrm>
            <a:off x="2798063"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月1〜2回の配信で次回へ</a:t>
            </a:r>
          </a:p>
        </p:txBody>
      </p:sp>
      <p:sp>
        <p:nvSpPr>
          <p:cNvPr id="58" name="Rectangle 57"/>
          <p:cNvSpPr/>
          <p:nvPr/>
        </p:nvSpPr>
        <p:spPr>
          <a:xfrm>
            <a:off x="5212079"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⑦ マネタイズ</a:t>
            </a:r>
          </a:p>
          <a:p>
            <a:pPr algn="ctr">
              <a:lnSpc>
                <a:spcPct val="110000"/>
              </a:lnSpc>
              <a:spcAft>
                <a:spcPts val="0"/>
              </a:spcAft>
            </a:pPr>
            <a:r>
              <a:rPr sz="1050" b="1">
                <a:solidFill>
                  <a:srgbClr val="1F285A"/>
                </a:solidFill>
                <a:latin typeface="メイリオ"/>
                <a:ea typeface="メイリオ"/>
                <a:cs typeface="メイリオ"/>
              </a:rPr>
              <a:t>(成約/購入)</a:t>
            </a:r>
          </a:p>
        </p:txBody>
      </p:sp>
      <p:sp>
        <p:nvSpPr>
          <p:cNvPr id="59" name="Isosceles Triangle 58"/>
          <p:cNvSpPr/>
          <p:nvPr/>
        </p:nvSpPr>
        <p:spPr>
          <a:xfrm rot="5400000">
            <a:off x="7415784"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60" name="TextBox 59"/>
          <p:cNvSpPr txBox="1"/>
          <p:nvPr/>
        </p:nvSpPr>
        <p:spPr>
          <a:xfrm>
            <a:off x="5212079"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1" name="TextBox 60"/>
          <p:cNvSpPr txBox="1"/>
          <p:nvPr/>
        </p:nvSpPr>
        <p:spPr>
          <a:xfrm>
            <a:off x="5212079"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講座・サロンの入会を検討</a:t>
            </a:r>
          </a:p>
        </p:txBody>
      </p:sp>
      <p:cxnSp>
        <p:nvCxnSpPr>
          <p:cNvPr id="62" name="Connector 61"/>
          <p:cNvCxnSpPr/>
          <p:nvPr/>
        </p:nvCxnSpPr>
        <p:spPr>
          <a:xfrm>
            <a:off x="5257799" y="4572000"/>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3" name="Rectangle 62"/>
          <p:cNvSpPr/>
          <p:nvPr/>
        </p:nvSpPr>
        <p:spPr>
          <a:xfrm>
            <a:off x="5212079"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入会した方の声を配信</a:t>
            </a:r>
          </a:p>
        </p:txBody>
      </p:sp>
      <p:sp>
        <p:nvSpPr>
          <p:cNvPr id="64" name="Rectangle 63"/>
          <p:cNvSpPr/>
          <p:nvPr/>
        </p:nvSpPr>
        <p:spPr>
          <a:xfrm>
            <a:off x="7626095"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⑧ LTV最大化・紹介</a:t>
            </a:r>
          </a:p>
        </p:txBody>
      </p:sp>
      <p:sp>
        <p:nvSpPr>
          <p:cNvPr id="65" name="TextBox 64"/>
          <p:cNvSpPr txBox="1"/>
          <p:nvPr/>
        </p:nvSpPr>
        <p:spPr>
          <a:xfrm>
            <a:off x="7626095"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6" name="TextBox 65"/>
          <p:cNvSpPr txBox="1"/>
          <p:nvPr/>
        </p:nvSpPr>
        <p:spPr>
          <a:xfrm>
            <a:off x="7626095"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講座・サロンに入会</a:t>
            </a:r>
          </a:p>
        </p:txBody>
      </p:sp>
      <p:cxnSp>
        <p:nvCxnSpPr>
          <p:cNvPr id="67" name="Connector 66"/>
          <p:cNvCxnSpPr/>
          <p:nvPr/>
        </p:nvCxnSpPr>
        <p:spPr>
          <a:xfrm>
            <a:off x="7671816"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7626095"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イベント案内・紹介</a:t>
            </a:r>
          </a:p>
          <a:p>
            <a:pPr algn="l">
              <a:lnSpc>
                <a:spcPct val="110000"/>
              </a:lnSpc>
              <a:spcAft>
                <a:spcPts val="0"/>
              </a:spcAft>
            </a:pPr>
            <a:r>
              <a:rPr sz="1300" b="1">
                <a:solidFill>
                  <a:srgbClr val="1F285A"/>
                </a:solidFill>
                <a:latin typeface="メイリオ"/>
                <a:ea typeface="メイリオ"/>
                <a:cs typeface="メイリオ"/>
              </a:rPr>
              <a:t>（中長期）</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a:t>
            </a:r>
            <a:r>
              <a:rPr lang="ja-JP" altLang="en-US" sz="1000" b="1" dirty="0">
                <a:latin typeface="メイリオ" panose="020B0604030504040204" pitchFamily="50" charset="-128"/>
                <a:ea typeface="メイリオ" panose="020B0604030504040204" pitchFamily="50" charset="-128"/>
                <a:cs typeface="メイリオ"/>
              </a:rPr>
              <a:t>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・見どころ配信</a:t>
            </a:r>
            <a:endParaRPr lang="en-US" altLang="ja-JP" sz="1000" b="1" dirty="0">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・参加者の声</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開催のない月の配信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●イベント直後に、講座・サロンの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err="1">
                <a:solidFill>
                  <a:srgbClr val="1F2A5C"/>
                </a:solidFill>
                <a:latin typeface="メイリオ" panose="020B0604030504040204" pitchFamily="50" charset="-128"/>
                <a:ea typeface="メイリオ" panose="020B0604030504040204" pitchFamily="50" charset="-128"/>
                <a:cs typeface="メイリオ"/>
              </a:rPr>
              <a:t>個別チャットは貴社で対応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4214720398"/>
              </p:ext>
            </p:extLst>
          </p:nvPr>
        </p:nvGraphicFramePr>
        <p:xfrm>
          <a:off x="381000" y="1484376"/>
          <a:ext cx="9144000" cy="2746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定期運用（月3回程度）</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定期運用（月5回程度）</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115,000円〜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115,000円〜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115,000円〜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30,000円〜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230,000円〜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330,000円〜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bl>
          </a:graphicData>
        </a:graphic>
      </p:graphicFrame>
      <p:sp>
        <p:nvSpPr>
          <p:cNvPr id="640" name="TextBox 639"/>
          <p:cNvSpPr txBox="1"/>
          <p:nvPr/>
        </p:nvSpPr>
        <p:spPr>
          <a:xfrm>
            <a:off x="457200" y="4367784"/>
            <a:ext cx="8961120" cy="640079"/>
          </a:xfrm>
          <a:prstGeom prst="rect">
            <a:avLst/>
          </a:prstGeom>
          <a:noFill/>
        </p:spPr>
        <p:txBody>
          <a:bodyPr wrap="square" anchor="t" lIns="36000" rIns="36000" tIns="10800" bIns="10800">
            <a:spAutoFit/>
          </a:bodyPr>
          <a:lstStyle/>
          <a:p>
            <a:pPr algn="l">
              <a:lnSpc>
                <a:spcPct val="105000"/>
              </a:lnSpc>
              <a:spcAft>
                <a:spcPts val="200"/>
              </a:spcAft>
            </a:pPr>
            <a:r>
              <a:rPr sz="900" b="0">
                <a:solidFill>
                  <a:srgbClr val="595959"/>
                </a:solidFill>
                <a:latin typeface="メイリオ"/>
                <a:ea typeface="メイリオ"/>
                <a:cs typeface="メイリオ"/>
              </a:rPr>
              <a:t>※初期費用＝運用設計・構築 100,000円〜＋ポップアップ 15,000円。LINE公式アカウントの利用料は別（配信数による）。契約期間は6か月〜</a:t>
            </a:r>
          </a:p>
          <a:p>
            <a:pPr algn="l">
              <a:lnSpc>
                <a:spcPct val="105000"/>
              </a:lnSpc>
              <a:spcAft>
                <a:spcPts val="200"/>
              </a:spcAft>
            </a:pPr>
            <a:r>
              <a:rPr sz="900" b="0">
                <a:solidFill>
                  <a:srgbClr val="595959"/>
                </a:solidFill>
                <a:latin typeface="メイリオ"/>
                <a:ea typeface="メイリオ"/>
                <a:cs typeface="メイリオ"/>
              </a:rPr>
              <a:t>※サンクスLINE誘導はオプション（初期150,000円・月額30,000円〜）</a:t>
            </a:r>
          </a:p>
          <a:p>
            <a:pPr algn="l">
              <a:lnSpc>
                <a:spcPct val="105000"/>
              </a:lnSpc>
              <a:spcAft>
                <a:spcPts val="200"/>
              </a:spcAft>
            </a:pPr>
            <a:r>
              <a:rPr sz="900" b="0">
                <a:solidFill>
                  <a:srgbClr val="595959"/>
                </a:solidFill>
                <a:latin typeface="メイリオ"/>
                <a:ea typeface="メイリオ"/>
                <a:cs typeface="メイリオ"/>
              </a:rPr>
              <a:t>※施策内容・配信本数・連携範囲等により、費用は個別にお見積もりいたします。</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1470470243"/>
              </p:ext>
            </p:extLst>
          </p:nvPr>
        </p:nvGraphicFramePr>
        <p:xfrm>
          <a:off x="381000" y="1490760"/>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定期運用（月3回程度）</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定期運用（月5回程度）</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8通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8通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8通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月3回程度</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月5回程度</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a:t>
                      </a:r>
                      <a:endParaRPr lang="en-US" altLang="ja-JP" sz="1300" b="1" dirty="0">
                        <a:solidFill>
                          <a:srgbClr val="1F285A"/>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extLst>
              <p:ext uri="{D42A27DB-BD31-4B8C-83A1-F6EECF244321}">
                <p14:modId xmlns:p14="http://schemas.microsoft.com/office/powerpoint/2010/main" val="101222327"/>
              </p:ext>
            </p:extLst>
          </p:nvPr>
        </p:nvGraphicFramePr>
        <p:xfrm>
          <a:off x="420624" y="1600200"/>
          <a:ext cx="9052560" cy="3931920"/>
        </p:xfrm>
        <a:graphic>
          <a:graphicData uri="http://schemas.openxmlformats.org/drawingml/2006/table">
            <a:tbl>
              <a:tblPr/>
              <a:tblGrid>
                <a:gridCol w="170027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3123184">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離脱防止ポップアップ（推奨）／予約完了後の友だち追加：サンクスLINE誘導（追加オプション）または通常の</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（診断で、関心に合わせて出し分け）</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講座・サロンの内容紹介・入会のご案内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配信の内容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前後検索「投資セミナー」：当日にセミナーを比べ、その後は始め方を調べる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検討期間の約2週間の接点が、セミナー予約を左右する</a:t>
            </a:r>
            <a:endParaRPr lang="en-US" sz="1400" b="1" u="none" strike="noStrike" dirty="0">
              <a:effectLst/>
              <a:uFillTx/>
              <a:latin typeface="メイリオ"/>
            </a:endParaRPr>
          </a:p>
        </p:txBody>
      </p:sp>
      <p:pic>
        <p:nvPicPr>
          <p:cNvPr id="7" name="前後検索 投資セミナー（色分け）" descr="tanaka_zengo_chumon_color.png"/>
          <p:cNvPicPr>
            <a:picLocks noChangeAspect="1"/>
          </p:cNvPicPr>
          <p:nvPr/>
        </p:nvPicPr>
        <p:blipFill>
          <a:blip r:embed="rId3"/>
          <a:stretch>
            <a:fillRect/>
          </a:stretch>
        </p:blipFill>
        <p:spPr>
          <a:xfrm>
            <a:off x="502920" y="1600200"/>
            <a:ext cx="5943600" cy="3468090"/>
          </a:xfrm>
          <a:prstGeom prst="rect">
            <a:avLst/>
          </a:prstGeom>
        </p:spPr>
      </p:pic>
      <p:sp>
        <p:nvSpPr>
          <p:cNvPr id="8" name="LINE追加の時期"/>
          <p:cNvSpPr/>
          <p:nvPr/>
        </p:nvSpPr>
        <p:spPr>
          <a:xfrm>
            <a:off x="3563874" y="1644777"/>
            <a:ext cx="695401" cy="323926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54374" y="5104866"/>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ほかのセミナーと比べる</a:t>
            </a:r>
            <a:endParaRPr lang="ja-JP" altLang="en-US" sz="1200" dirty="0"/>
          </a:p>
        </p:txBody>
      </p:sp>
      <p:sp>
        <p:nvSpPr>
          <p:cNvPr id="12" name="凡例の色"/>
          <p:cNvSpPr/>
          <p:nvPr/>
        </p:nvSpPr>
        <p:spPr>
          <a:xfrm>
            <a:off x="6629400" y="1901952"/>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不安を確かめる</a:t>
            </a:r>
            <a:endParaRPr lang="ja-JP" altLang="en-US" sz="1200" dirty="0"/>
          </a:p>
        </p:txBody>
      </p:sp>
      <p:sp>
        <p:nvSpPr>
          <p:cNvPr id="14" name="凡例の色"/>
          <p:cNvSpPr/>
          <p:nvPr/>
        </p:nvSpPr>
        <p:spPr>
          <a:xfrm>
            <a:off x="6629400" y="2148840"/>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自分で始める</a:t>
            </a:r>
            <a:endParaRPr lang="ja-JP" altLang="en-US" sz="1200" dirty="0"/>
          </a:p>
        </p:txBody>
      </p:sp>
      <p:sp>
        <p:nvSpPr>
          <p:cNvPr id="18" name="分析 当日"/>
          <p:cNvSpPr/>
          <p:nvPr/>
        </p:nvSpPr>
        <p:spPr>
          <a:xfrm>
            <a:off x="6629400" y="240487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629400" y="2679191"/>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セミナーを比べ、不安を確かめる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投資セミナー 東京・資産運用セミナー。投資詐欺・金融庁も</a:t>
            </a:r>
            <a:endParaRPr lang="ja-JP" altLang="en-US" sz="1200" dirty="0"/>
          </a:p>
        </p:txBody>
      </p:sp>
      <p:sp>
        <p:nvSpPr>
          <p:cNvPr id="20" name="分析 1〜7日後"/>
          <p:cNvSpPr/>
          <p:nvPr/>
        </p:nvSpPr>
        <p:spPr>
          <a:xfrm>
            <a:off x="6629400" y="3447288"/>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1〜4日後</a:t>
            </a:r>
            <a:endParaRPr lang="ja-JP" altLang="en-US" sz="1200" dirty="0"/>
          </a:p>
        </p:txBody>
      </p:sp>
      <p:sp>
        <p:nvSpPr>
          <p:cNvPr id="21" name="分析 1〜7日後 本文"/>
          <p:cNvSpPr/>
          <p:nvPr/>
        </p:nvSpPr>
        <p:spPr>
          <a:xfrm>
            <a:off x="6629400" y="3721608"/>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始め方を調べる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口座開設・ポートフォリオ・etfとは・nisa つみたて投資枠</a:t>
            </a:r>
            <a:endParaRPr lang="ja-JP" altLang="en-US" sz="1200" dirty="0"/>
          </a:p>
        </p:txBody>
      </p:sp>
      <p:sp>
        <p:nvSpPr>
          <p:cNvPr id="22" name="分析 7〜15日後"/>
          <p:cNvSpPr/>
          <p:nvPr/>
        </p:nvSpPr>
        <p:spPr>
          <a:xfrm>
            <a:off x="6629400" y="4489704"/>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629400" y="4764024"/>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学びの検索が続く</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インデックスファンド・インカムゲインとは など</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セミナーを比べる → 不安を確かめる → 始め方 の順に、約2週間かけて検討が進む</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※LINEヤフー社の前後検索データより。「投資セミナー」を検索した方が、前後15日間に検索した言葉（縦軸＝検索した人数）。</a:t>
            </a:r>
            <a:endParaRPr lang="ja-JP" altLang="en-US" sz="12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セミナーを探した直後から不安を順に解消し、</a:t>
            </a:r>
          </a:p>
          <a:p>
            <a:r>
              <a:rPr lang="ja-JP" altLang="en-US" sz="1600" b="1" dirty="0">
                <a:latin typeface="メイリオ" panose="020B0604030504040204" pitchFamily="50" charset="-128"/>
                <a:ea typeface="メイリオ" panose="020B0604030504040204" pitchFamily="50" charset="-128"/>
                <a:cs typeface="Meiryo"/>
                <a:sym typeface="Meiryo"/>
              </a:rPr>
              <a:t>15日以内にCV（セミナー予約）へつなげる配信を設計。</a:t>
            </a:r>
          </a:p>
        </p:txBody>
      </p:sp>
      <p:sp>
        <p:nvSpPr>
          <p:cNvPr id="11" name="Rectangle 10"/>
          <p:cNvSpPr/>
          <p:nvPr/>
        </p:nvSpPr>
        <p:spPr>
          <a:xfrm>
            <a:off x="384048" y="1481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2" name="Rectangle 11"/>
          <p:cNvSpPr/>
          <p:nvPr/>
        </p:nvSpPr>
        <p:spPr>
          <a:xfrm>
            <a:off x="384048" y="1481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0日目</a:t>
            </a:r>
          </a:p>
          <a:p>
            <a:pPr algn="ctr">
              <a:lnSpc>
                <a:spcPct val="110000"/>
              </a:lnSpc>
              <a:spcAft>
                <a:spcPts val="0"/>
              </a:spcAft>
            </a:pPr>
            <a:r>
              <a:rPr sz="1050" b="0">
                <a:solidFill>
                  <a:srgbClr val="FFFFFF"/>
                </a:solidFill>
                <a:latin typeface="メイリオ"/>
                <a:ea typeface="メイリオ"/>
                <a:cs typeface="メイリオ"/>
              </a:rPr>
              <a:t>追加直後：診断</a:t>
            </a:r>
          </a:p>
        </p:txBody>
      </p:sp>
      <p:sp>
        <p:nvSpPr>
          <p:cNvPr id="13" name="Rectangle 12"/>
          <p:cNvSpPr/>
          <p:nvPr/>
        </p:nvSpPr>
        <p:spPr>
          <a:xfrm>
            <a:off x="457200" y="1975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ご登録ありがとう</a:t>
            </a:r>
          </a:p>
          <a:p>
            <a:pPr algn="ctr">
              <a:lnSpc>
                <a:spcPct val="110000"/>
              </a:lnSpc>
              <a:spcAft>
                <a:spcPts val="0"/>
              </a:spcAft>
            </a:pPr>
            <a:r>
              <a:rPr sz="1200" b="1">
                <a:solidFill>
                  <a:srgbClr val="1F2A5C"/>
                </a:solidFill>
                <a:latin typeface="メイリオ"/>
                <a:ea typeface="メイリオ"/>
                <a:cs typeface="メイリオ"/>
              </a:rPr>
              <a:t>ございます！</a:t>
            </a:r>
          </a:p>
        </p:txBody>
      </p:sp>
      <p:sp>
        <p:nvSpPr>
          <p:cNvPr id="14" name="Rectangle 13"/>
          <p:cNvSpPr/>
          <p:nvPr/>
        </p:nvSpPr>
        <p:spPr>
          <a:xfrm>
            <a:off x="457200" y="2432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参加特典のご案内</a:t>
            </a:r>
          </a:p>
          <a:p>
            <a:pPr algn="ctr">
              <a:lnSpc>
                <a:spcPct val="110000"/>
              </a:lnSpc>
              <a:spcAft>
                <a:spcPts val="0"/>
              </a:spcAft>
            </a:pPr>
            <a:r>
              <a:rPr sz="1100" b="0">
                <a:solidFill>
                  <a:srgbClr val="333333"/>
                </a:solidFill>
                <a:latin typeface="メイリオ"/>
                <a:ea typeface="メイリオ"/>
                <a:cs typeface="メイリオ"/>
              </a:rPr>
              <a:t>2問の診断で関心を確認</a:t>
            </a:r>
          </a:p>
        </p:txBody>
      </p:sp>
      <p:sp>
        <p:nvSpPr>
          <p:cNvPr id="15" name="Rectangle 14"/>
          <p:cNvSpPr/>
          <p:nvPr/>
        </p:nvSpPr>
        <p:spPr>
          <a:xfrm>
            <a:off x="475488" y="2816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—（診断の答えで出し分け）</a:t>
            </a:r>
          </a:p>
        </p:txBody>
      </p:sp>
      <p:sp>
        <p:nvSpPr>
          <p:cNvPr id="16" name="Rectangle 15"/>
          <p:cNvSpPr/>
          <p:nvPr/>
        </p:nvSpPr>
        <p:spPr>
          <a:xfrm>
            <a:off x="612647" y="3328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参加特典</a:t>
            </a:r>
          </a:p>
        </p:txBody>
      </p:sp>
      <p:sp>
        <p:nvSpPr>
          <p:cNvPr id="17" name="Rectangle 16"/>
          <p:cNvSpPr/>
          <p:nvPr/>
        </p:nvSpPr>
        <p:spPr>
          <a:xfrm>
            <a:off x="2688336" y="1481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8" name="Rectangle 17"/>
          <p:cNvSpPr/>
          <p:nvPr/>
        </p:nvSpPr>
        <p:spPr>
          <a:xfrm>
            <a:off x="2688336" y="1481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2日目</a:t>
            </a:r>
          </a:p>
          <a:p>
            <a:pPr algn="ctr">
              <a:lnSpc>
                <a:spcPct val="110000"/>
              </a:lnSpc>
              <a:spcAft>
                <a:spcPts val="0"/>
              </a:spcAft>
            </a:pPr>
            <a:r>
              <a:rPr sz="1050" b="0">
                <a:solidFill>
                  <a:srgbClr val="FFFFFF"/>
                </a:solidFill>
                <a:latin typeface="メイリオ"/>
                <a:ea typeface="メイリオ"/>
                <a:cs typeface="メイリオ"/>
              </a:rPr>
              <a:t>比べる</a:t>
            </a:r>
          </a:p>
        </p:txBody>
      </p:sp>
      <p:sp>
        <p:nvSpPr>
          <p:cNvPr id="19" name="Rectangle 18"/>
          <p:cNvSpPr/>
          <p:nvPr/>
        </p:nvSpPr>
        <p:spPr>
          <a:xfrm>
            <a:off x="2761488" y="1975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ほかのセミナーと、</a:t>
            </a:r>
          </a:p>
          <a:p>
            <a:pPr algn="ctr">
              <a:lnSpc>
                <a:spcPct val="110000"/>
              </a:lnSpc>
              <a:spcAft>
                <a:spcPts val="0"/>
              </a:spcAft>
            </a:pPr>
            <a:r>
              <a:rPr sz="1200" b="1">
                <a:solidFill>
                  <a:srgbClr val="1F2A5C"/>
                </a:solidFill>
                <a:latin typeface="メイリオ"/>
                <a:ea typeface="メイリオ"/>
                <a:cs typeface="メイリオ"/>
              </a:rPr>
              <a:t>ここが違います</a:t>
            </a:r>
          </a:p>
        </p:txBody>
      </p:sp>
      <p:sp>
        <p:nvSpPr>
          <p:cNvPr id="20" name="Rectangle 19"/>
          <p:cNvSpPr/>
          <p:nvPr/>
        </p:nvSpPr>
        <p:spPr>
          <a:xfrm>
            <a:off x="2761488" y="2432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講座の考え方と</a:t>
            </a:r>
          </a:p>
          <a:p>
            <a:pPr algn="ctr">
              <a:lnSpc>
                <a:spcPct val="110000"/>
              </a:lnSpc>
              <a:spcAft>
                <a:spcPts val="0"/>
              </a:spcAft>
            </a:pPr>
            <a:r>
              <a:rPr sz="1100" b="0">
                <a:solidFill>
                  <a:srgbClr val="333333"/>
                </a:solidFill>
                <a:latin typeface="メイリオ"/>
                <a:ea typeface="メイリオ"/>
                <a:cs typeface="メイリオ"/>
              </a:rPr>
              <a:t>特徴を動画で紹介</a:t>
            </a:r>
          </a:p>
        </p:txBody>
      </p:sp>
      <p:sp>
        <p:nvSpPr>
          <p:cNvPr id="21" name="Rectangle 20"/>
          <p:cNvSpPr/>
          <p:nvPr/>
        </p:nvSpPr>
        <p:spPr>
          <a:xfrm>
            <a:off x="2779776" y="2816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検索した日に「投資セミナー 東京」「資産運用セミナー」と比べている</a:t>
            </a:r>
          </a:p>
        </p:txBody>
      </p:sp>
      <p:sp>
        <p:nvSpPr>
          <p:cNvPr id="22" name="Rectangle 21"/>
          <p:cNvSpPr/>
          <p:nvPr/>
        </p:nvSpPr>
        <p:spPr>
          <a:xfrm>
            <a:off x="2916936" y="3328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セミナー予約</a:t>
            </a:r>
          </a:p>
        </p:txBody>
      </p:sp>
      <p:sp>
        <p:nvSpPr>
          <p:cNvPr id="23" name="Rectangle 22"/>
          <p:cNvSpPr/>
          <p:nvPr/>
        </p:nvSpPr>
        <p:spPr>
          <a:xfrm>
            <a:off x="4992624" y="1481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24" name="Rectangle 23"/>
          <p:cNvSpPr/>
          <p:nvPr/>
        </p:nvSpPr>
        <p:spPr>
          <a:xfrm>
            <a:off x="4992624" y="1481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4日目</a:t>
            </a:r>
          </a:p>
          <a:p>
            <a:pPr algn="ctr">
              <a:lnSpc>
                <a:spcPct val="110000"/>
              </a:lnSpc>
              <a:spcAft>
                <a:spcPts val="0"/>
              </a:spcAft>
            </a:pPr>
            <a:r>
              <a:rPr sz="1050" b="0">
                <a:solidFill>
                  <a:srgbClr val="FFFFFF"/>
                </a:solidFill>
                <a:latin typeface="メイリオ"/>
                <a:ea typeface="メイリオ"/>
                <a:cs typeface="メイリオ"/>
              </a:rPr>
              <a:t>確かめる</a:t>
            </a:r>
          </a:p>
        </p:txBody>
      </p:sp>
      <p:sp>
        <p:nvSpPr>
          <p:cNvPr id="25" name="Rectangle 24"/>
          <p:cNvSpPr/>
          <p:nvPr/>
        </p:nvSpPr>
        <p:spPr>
          <a:xfrm>
            <a:off x="5065776" y="1975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安心してご参加ください</a:t>
            </a:r>
          </a:p>
        </p:txBody>
      </p:sp>
      <p:sp>
        <p:nvSpPr>
          <p:cNvPr id="26" name="Rectangle 25"/>
          <p:cNvSpPr/>
          <p:nvPr/>
        </p:nvSpPr>
        <p:spPr>
          <a:xfrm>
            <a:off x="5065776" y="2432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講師の経歴と実績</a:t>
            </a:r>
          </a:p>
          <a:p>
            <a:pPr algn="ctr">
              <a:lnSpc>
                <a:spcPct val="110000"/>
              </a:lnSpc>
              <a:spcAft>
                <a:spcPts val="0"/>
              </a:spcAft>
            </a:pPr>
            <a:r>
              <a:rPr sz="1100" b="0">
                <a:solidFill>
                  <a:srgbClr val="333333"/>
                </a:solidFill>
                <a:latin typeface="メイリオ"/>
                <a:ea typeface="メイリオ"/>
                <a:cs typeface="メイリオ"/>
              </a:rPr>
              <a:t>参加は無料</a:t>
            </a:r>
          </a:p>
        </p:txBody>
      </p:sp>
      <p:sp>
        <p:nvSpPr>
          <p:cNvPr id="27" name="Rectangle 26"/>
          <p:cNvSpPr/>
          <p:nvPr/>
        </p:nvSpPr>
        <p:spPr>
          <a:xfrm>
            <a:off x="5084064" y="2816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検索した日に「投資詐欺」「金融庁」で不安を確かめている</a:t>
            </a:r>
          </a:p>
        </p:txBody>
      </p:sp>
      <p:sp>
        <p:nvSpPr>
          <p:cNvPr id="28" name="Rectangle 27"/>
          <p:cNvSpPr/>
          <p:nvPr/>
        </p:nvSpPr>
        <p:spPr>
          <a:xfrm>
            <a:off x="5221224" y="3328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講師紹介</a:t>
            </a:r>
          </a:p>
        </p:txBody>
      </p:sp>
      <p:sp>
        <p:nvSpPr>
          <p:cNvPr id="29" name="Rectangle 28"/>
          <p:cNvSpPr/>
          <p:nvPr/>
        </p:nvSpPr>
        <p:spPr>
          <a:xfrm>
            <a:off x="7296912" y="1481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30" name="Rectangle 29"/>
          <p:cNvSpPr/>
          <p:nvPr/>
        </p:nvSpPr>
        <p:spPr>
          <a:xfrm>
            <a:off x="7296912" y="1481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6日目</a:t>
            </a:r>
          </a:p>
          <a:p>
            <a:pPr algn="ctr">
              <a:lnSpc>
                <a:spcPct val="110000"/>
              </a:lnSpc>
              <a:spcAft>
                <a:spcPts val="0"/>
              </a:spcAft>
            </a:pPr>
            <a:r>
              <a:rPr sz="1050" b="0">
                <a:solidFill>
                  <a:srgbClr val="FFFFFF"/>
                </a:solidFill>
                <a:latin typeface="メイリオ"/>
                <a:ea typeface="メイリオ"/>
                <a:cs typeface="メイリオ"/>
              </a:rPr>
              <a:t>始める</a:t>
            </a:r>
          </a:p>
        </p:txBody>
      </p:sp>
      <p:sp>
        <p:nvSpPr>
          <p:cNvPr id="31" name="Rectangle 30"/>
          <p:cNvSpPr/>
          <p:nvPr/>
        </p:nvSpPr>
        <p:spPr>
          <a:xfrm>
            <a:off x="7370064" y="1975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セミナーで持ち帰れること</a:t>
            </a:r>
          </a:p>
        </p:txBody>
      </p:sp>
      <p:sp>
        <p:nvSpPr>
          <p:cNvPr id="32" name="Rectangle 31"/>
          <p:cNvSpPr/>
          <p:nvPr/>
        </p:nvSpPr>
        <p:spPr>
          <a:xfrm>
            <a:off x="7370064" y="2432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セミナーで学べる</a:t>
            </a:r>
          </a:p>
          <a:p>
            <a:pPr algn="ctr">
              <a:lnSpc>
                <a:spcPct val="110000"/>
              </a:lnSpc>
              <a:spcAft>
                <a:spcPts val="0"/>
              </a:spcAft>
            </a:pPr>
            <a:r>
              <a:rPr sz="1100" b="0">
                <a:solidFill>
                  <a:srgbClr val="333333"/>
                </a:solidFill>
                <a:latin typeface="メイリオ"/>
                <a:ea typeface="メイリオ"/>
                <a:cs typeface="メイリオ"/>
              </a:rPr>
              <a:t>要点3つ</a:t>
            </a:r>
          </a:p>
        </p:txBody>
      </p:sp>
      <p:sp>
        <p:nvSpPr>
          <p:cNvPr id="33" name="Rectangle 32"/>
          <p:cNvSpPr/>
          <p:nvPr/>
        </p:nvSpPr>
        <p:spPr>
          <a:xfrm>
            <a:off x="7388352" y="2816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1〜4日後に「口座開設」「nisa つみたて投資枠」など始め方を検索</a:t>
            </a:r>
          </a:p>
        </p:txBody>
      </p:sp>
      <p:sp>
        <p:nvSpPr>
          <p:cNvPr id="34" name="Rectangle 33"/>
          <p:cNvSpPr/>
          <p:nvPr/>
        </p:nvSpPr>
        <p:spPr>
          <a:xfrm>
            <a:off x="7525512" y="3328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セミナー予約</a:t>
            </a:r>
          </a:p>
        </p:txBody>
      </p:sp>
      <p:sp>
        <p:nvSpPr>
          <p:cNvPr id="35" name="Rectangle 34"/>
          <p:cNvSpPr/>
          <p:nvPr/>
        </p:nvSpPr>
        <p:spPr>
          <a:xfrm>
            <a:off x="384048" y="3767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36" name="Rectangle 35"/>
          <p:cNvSpPr/>
          <p:nvPr/>
        </p:nvSpPr>
        <p:spPr>
          <a:xfrm>
            <a:off x="384048" y="3767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8日目</a:t>
            </a:r>
          </a:p>
          <a:p>
            <a:pPr algn="ctr">
              <a:lnSpc>
                <a:spcPct val="110000"/>
              </a:lnSpc>
              <a:spcAft>
                <a:spcPts val="0"/>
              </a:spcAft>
            </a:pPr>
            <a:r>
              <a:rPr sz="1050" b="0">
                <a:solidFill>
                  <a:srgbClr val="FFFFFF"/>
                </a:solidFill>
                <a:latin typeface="メイリオ"/>
                <a:ea typeface="メイリオ"/>
                <a:cs typeface="メイリオ"/>
              </a:rPr>
              <a:t>受講生の声</a:t>
            </a:r>
          </a:p>
        </p:txBody>
      </p:sp>
      <p:sp>
        <p:nvSpPr>
          <p:cNvPr id="37" name="Rectangle 36"/>
          <p:cNvSpPr/>
          <p:nvPr/>
        </p:nvSpPr>
        <p:spPr>
          <a:xfrm>
            <a:off x="457200" y="4261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同じ悩みから、</a:t>
            </a:r>
          </a:p>
          <a:p>
            <a:pPr algn="ctr">
              <a:lnSpc>
                <a:spcPct val="110000"/>
              </a:lnSpc>
              <a:spcAft>
                <a:spcPts val="0"/>
              </a:spcAft>
            </a:pPr>
            <a:r>
              <a:rPr sz="1200" b="1">
                <a:solidFill>
                  <a:srgbClr val="1F2A5C"/>
                </a:solidFill>
                <a:latin typeface="メイリオ"/>
                <a:ea typeface="メイリオ"/>
                <a:cs typeface="メイリオ"/>
              </a:rPr>
              <a:t>成果を出した方の声</a:t>
            </a:r>
          </a:p>
        </p:txBody>
      </p:sp>
      <p:sp>
        <p:nvSpPr>
          <p:cNvPr id="38" name="Rectangle 37"/>
          <p:cNvSpPr/>
          <p:nvPr/>
        </p:nvSpPr>
        <p:spPr>
          <a:xfrm>
            <a:off x="457200" y="4718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診断の答えに合わせる</a:t>
            </a:r>
          </a:p>
          <a:p>
            <a:pPr algn="ctr">
              <a:lnSpc>
                <a:spcPct val="110000"/>
              </a:lnSpc>
              <a:spcAft>
                <a:spcPts val="0"/>
              </a:spcAft>
            </a:pPr>
            <a:r>
              <a:rPr sz="1100" b="0">
                <a:solidFill>
                  <a:srgbClr val="333333"/>
                </a:solidFill>
                <a:latin typeface="メイリオ"/>
                <a:ea typeface="メイリオ"/>
                <a:cs typeface="メイリオ"/>
              </a:rPr>
              <a:t>（目的別）</a:t>
            </a:r>
          </a:p>
        </p:txBody>
      </p:sp>
      <p:sp>
        <p:nvSpPr>
          <p:cNvPr id="39" name="Rectangle 38"/>
          <p:cNvSpPr/>
          <p:nvPr/>
        </p:nvSpPr>
        <p:spPr>
          <a:xfrm>
            <a:off x="475488" y="5102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—（診断の答えで出し分け）</a:t>
            </a:r>
          </a:p>
        </p:txBody>
      </p:sp>
      <p:sp>
        <p:nvSpPr>
          <p:cNvPr id="40" name="Rectangle 39"/>
          <p:cNvSpPr/>
          <p:nvPr/>
        </p:nvSpPr>
        <p:spPr>
          <a:xfrm>
            <a:off x="612647" y="5614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受講生の声</a:t>
            </a:r>
          </a:p>
        </p:txBody>
      </p:sp>
      <p:sp>
        <p:nvSpPr>
          <p:cNvPr id="41" name="Rectangle 40"/>
          <p:cNvSpPr/>
          <p:nvPr/>
        </p:nvSpPr>
        <p:spPr>
          <a:xfrm>
            <a:off x="2688336" y="3767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2" name="Rectangle 41"/>
          <p:cNvSpPr/>
          <p:nvPr/>
        </p:nvSpPr>
        <p:spPr>
          <a:xfrm>
            <a:off x="2688336" y="3767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10日目</a:t>
            </a:r>
          </a:p>
          <a:p>
            <a:pPr algn="ctr">
              <a:lnSpc>
                <a:spcPct val="110000"/>
              </a:lnSpc>
              <a:spcAft>
                <a:spcPts val="0"/>
              </a:spcAft>
            </a:pPr>
            <a:r>
              <a:rPr sz="1050" b="0">
                <a:solidFill>
                  <a:srgbClr val="FFFFFF"/>
                </a:solidFill>
                <a:latin typeface="メイリオ"/>
                <a:ea typeface="メイリオ"/>
                <a:cs typeface="メイリオ"/>
              </a:rPr>
              <a:t>よくある質問</a:t>
            </a:r>
          </a:p>
        </p:txBody>
      </p:sp>
      <p:sp>
        <p:nvSpPr>
          <p:cNvPr id="43" name="Rectangle 42"/>
          <p:cNvSpPr/>
          <p:nvPr/>
        </p:nvSpPr>
        <p:spPr>
          <a:xfrm>
            <a:off x="2761488" y="4261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参加前のよくある質問</a:t>
            </a:r>
          </a:p>
        </p:txBody>
      </p:sp>
      <p:sp>
        <p:nvSpPr>
          <p:cNvPr id="44" name="Rectangle 43"/>
          <p:cNvSpPr/>
          <p:nvPr/>
        </p:nvSpPr>
        <p:spPr>
          <a:xfrm>
            <a:off x="2761488" y="4718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オンラインで参加できる</a:t>
            </a:r>
          </a:p>
          <a:p>
            <a:pPr algn="ctr">
              <a:lnSpc>
                <a:spcPct val="110000"/>
              </a:lnSpc>
              <a:spcAft>
                <a:spcPts val="0"/>
              </a:spcAft>
            </a:pPr>
            <a:r>
              <a:rPr sz="1100" b="0">
                <a:solidFill>
                  <a:srgbClr val="333333"/>
                </a:solidFill>
                <a:latin typeface="メイリオ"/>
                <a:ea typeface="メイリオ"/>
                <a:cs typeface="メイリオ"/>
              </a:rPr>
              <a:t>初心者でも分かる</a:t>
            </a:r>
          </a:p>
        </p:txBody>
      </p:sp>
      <p:sp>
        <p:nvSpPr>
          <p:cNvPr id="45" name="Rectangle 44"/>
          <p:cNvSpPr/>
          <p:nvPr/>
        </p:nvSpPr>
        <p:spPr>
          <a:xfrm>
            <a:off x="2779776" y="5102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7〜15日後も「インデックスファンド」など学びの検索が続く</a:t>
            </a:r>
          </a:p>
        </p:txBody>
      </p:sp>
      <p:sp>
        <p:nvSpPr>
          <p:cNvPr id="46" name="Rectangle 45"/>
          <p:cNvSpPr/>
          <p:nvPr/>
        </p:nvSpPr>
        <p:spPr>
          <a:xfrm>
            <a:off x="2916936" y="5614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よくある質問</a:t>
            </a:r>
          </a:p>
        </p:txBody>
      </p:sp>
      <p:sp>
        <p:nvSpPr>
          <p:cNvPr id="47" name="Rectangle 46"/>
          <p:cNvSpPr/>
          <p:nvPr/>
        </p:nvSpPr>
        <p:spPr>
          <a:xfrm>
            <a:off x="4992624" y="3767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Rectangle 47"/>
          <p:cNvSpPr/>
          <p:nvPr/>
        </p:nvSpPr>
        <p:spPr>
          <a:xfrm>
            <a:off x="4992624" y="3767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12日目</a:t>
            </a:r>
          </a:p>
          <a:p>
            <a:pPr algn="ctr">
              <a:lnSpc>
                <a:spcPct val="110000"/>
              </a:lnSpc>
              <a:spcAft>
                <a:spcPts val="0"/>
              </a:spcAft>
            </a:pPr>
            <a:r>
              <a:rPr sz="1050" b="0">
                <a:solidFill>
                  <a:srgbClr val="FFFFFF"/>
                </a:solidFill>
                <a:latin typeface="メイリオ"/>
                <a:ea typeface="メイリオ"/>
                <a:cs typeface="メイリオ"/>
              </a:rPr>
              <a:t>予約</a:t>
            </a:r>
          </a:p>
        </p:txBody>
      </p:sp>
      <p:sp>
        <p:nvSpPr>
          <p:cNvPr id="49" name="Rectangle 48"/>
          <p:cNvSpPr/>
          <p:nvPr/>
        </p:nvSpPr>
        <p:spPr>
          <a:xfrm>
            <a:off x="5065776" y="4261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次回セミナーのご案内</a:t>
            </a:r>
          </a:p>
        </p:txBody>
      </p:sp>
      <p:sp>
        <p:nvSpPr>
          <p:cNvPr id="50" name="Rectangle 49"/>
          <p:cNvSpPr/>
          <p:nvPr/>
        </p:nvSpPr>
        <p:spPr>
          <a:xfrm>
            <a:off x="5065776" y="4718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開催日程</a:t>
            </a:r>
          </a:p>
          <a:p>
            <a:pPr algn="ctr">
              <a:lnSpc>
                <a:spcPct val="110000"/>
              </a:lnSpc>
              <a:spcAft>
                <a:spcPts val="0"/>
              </a:spcAft>
            </a:pPr>
            <a:r>
              <a:rPr sz="1100" b="0">
                <a:solidFill>
                  <a:srgbClr val="333333"/>
                </a:solidFill>
                <a:latin typeface="メイリオ"/>
                <a:ea typeface="メイリオ"/>
                <a:cs typeface="メイリオ"/>
              </a:rPr>
              <a:t>予約ページ</a:t>
            </a:r>
          </a:p>
        </p:txBody>
      </p:sp>
      <p:sp>
        <p:nvSpPr>
          <p:cNvPr id="51" name="Rectangle 50"/>
          <p:cNvSpPr/>
          <p:nvPr/>
        </p:nvSpPr>
        <p:spPr>
          <a:xfrm>
            <a:off x="5084064" y="5102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—（募集期間に合わせて配信）</a:t>
            </a:r>
          </a:p>
        </p:txBody>
      </p:sp>
      <p:sp>
        <p:nvSpPr>
          <p:cNvPr id="52" name="Rectangle 51"/>
          <p:cNvSpPr/>
          <p:nvPr/>
        </p:nvSpPr>
        <p:spPr>
          <a:xfrm>
            <a:off x="5221224" y="5614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セミナー予約</a:t>
            </a:r>
          </a:p>
        </p:txBody>
      </p:sp>
      <p:sp>
        <p:nvSpPr>
          <p:cNvPr id="53" name="Rectangle 52"/>
          <p:cNvSpPr/>
          <p:nvPr/>
        </p:nvSpPr>
        <p:spPr>
          <a:xfrm>
            <a:off x="7296912" y="3767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4" name="Rectangle 53"/>
          <p:cNvSpPr/>
          <p:nvPr/>
        </p:nvSpPr>
        <p:spPr>
          <a:xfrm>
            <a:off x="7296912" y="3767328"/>
            <a:ext cx="2194560" cy="45720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14日目</a:t>
            </a:r>
          </a:p>
          <a:p>
            <a:pPr algn="ctr">
              <a:lnSpc>
                <a:spcPct val="110000"/>
              </a:lnSpc>
              <a:spcAft>
                <a:spcPts val="0"/>
              </a:spcAft>
            </a:pPr>
            <a:r>
              <a:rPr sz="1050" b="0">
                <a:solidFill>
                  <a:srgbClr val="FFFFFF"/>
                </a:solidFill>
                <a:latin typeface="メイリオ"/>
                <a:ea typeface="メイリオ"/>
                <a:cs typeface="メイリオ"/>
              </a:rPr>
              <a:t>締切</a:t>
            </a:r>
          </a:p>
        </p:txBody>
      </p:sp>
      <p:sp>
        <p:nvSpPr>
          <p:cNvPr id="55" name="Rectangle 54"/>
          <p:cNvSpPr/>
          <p:nvPr/>
        </p:nvSpPr>
        <p:spPr>
          <a:xfrm>
            <a:off x="7370064" y="4261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予約の締切が</a:t>
            </a:r>
          </a:p>
          <a:p>
            <a:pPr algn="ctr">
              <a:lnSpc>
                <a:spcPct val="110000"/>
              </a:lnSpc>
              <a:spcAft>
                <a:spcPts val="0"/>
              </a:spcAft>
            </a:pPr>
            <a:r>
              <a:rPr sz="1200" b="1">
                <a:solidFill>
                  <a:srgbClr val="1F2A5C"/>
                </a:solidFill>
                <a:latin typeface="メイリオ"/>
                <a:ea typeface="メイリオ"/>
                <a:cs typeface="メイリオ"/>
              </a:rPr>
              <a:t>近づいています</a:t>
            </a:r>
          </a:p>
        </p:txBody>
      </p:sp>
      <p:sp>
        <p:nvSpPr>
          <p:cNvPr id="56" name="Rectangle 55"/>
          <p:cNvSpPr/>
          <p:nvPr/>
        </p:nvSpPr>
        <p:spPr>
          <a:xfrm>
            <a:off x="7370064" y="4718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締切日のお知らせ</a:t>
            </a:r>
          </a:p>
          <a:p>
            <a:pPr algn="ctr">
              <a:lnSpc>
                <a:spcPct val="110000"/>
              </a:lnSpc>
              <a:spcAft>
                <a:spcPts val="0"/>
              </a:spcAft>
            </a:pPr>
            <a:r>
              <a:rPr sz="1100" b="0">
                <a:solidFill>
                  <a:srgbClr val="333333"/>
                </a:solidFill>
                <a:latin typeface="メイリオ"/>
                <a:ea typeface="メイリオ"/>
                <a:cs typeface="メイリオ"/>
              </a:rPr>
              <a:t>予約ページ</a:t>
            </a:r>
          </a:p>
        </p:txBody>
      </p:sp>
      <p:sp>
        <p:nvSpPr>
          <p:cNvPr id="57" name="Rectangle 56"/>
          <p:cNvSpPr/>
          <p:nvPr/>
        </p:nvSpPr>
        <p:spPr>
          <a:xfrm>
            <a:off x="7388352" y="5102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—（募集期間に合わせて配信）</a:t>
            </a:r>
          </a:p>
        </p:txBody>
      </p:sp>
      <p:sp>
        <p:nvSpPr>
          <p:cNvPr id="58" name="Rectangle 57"/>
          <p:cNvSpPr/>
          <p:nvPr/>
        </p:nvSpPr>
        <p:spPr>
          <a:xfrm>
            <a:off x="7525512" y="5614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セミナー予約</a:t>
            </a:r>
          </a:p>
        </p:txBody>
      </p:sp>
      <p:sp>
        <p:nvSpPr>
          <p:cNvPr id="59" name="TextBox 58"/>
          <p:cNvSpPr txBox="1"/>
          <p:nvPr/>
        </p:nvSpPr>
        <p:spPr>
          <a:xfrm>
            <a:off x="420624" y="6016752"/>
            <a:ext cx="9052560" cy="457200"/>
          </a:xfrm>
          <a:prstGeom prst="rect">
            <a:avLst/>
          </a:prstGeom>
          <a:noFill/>
        </p:spPr>
        <p:txBody>
          <a:bodyPr wrap="square" anchor="t"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※募集期間外は、次回の案内開始時に届ける。入口（離脱防止ポップアップ／通常の友だち追加）で、0日目のあいさつの言葉を変える</a:t>
            </a:r>
          </a:p>
          <a:p>
            <a:pPr algn="l">
              <a:lnSpc>
                <a:spcPct val="105000"/>
              </a:lnSpc>
              <a:spcAft>
                <a:spcPts val="200"/>
              </a:spcAft>
            </a:pPr>
            <a:r>
              <a:rPr sz="900" b="0">
                <a:solidFill>
                  <a:srgbClr val="777777"/>
                </a:solidFill>
                <a:latin typeface="メイリオ"/>
                <a:ea typeface="メイリオ"/>
                <a:cs typeface="メイリオ"/>
              </a:rPr>
              <a:t>※一般の方には一般の方向けの案内を中心に配信。配信内容は、貴社LPの「セミナーの特徴」「受講生の声」「よくある質問」「講師紹介」をもとにした例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15日を過ぎた友だちには回数を絞ってつながりを保ち、</a:t>
            </a:r>
          </a:p>
          <a:p>
            <a:r>
              <a:rPr lang="ja-JP" altLang="en-US" sz="1600" b="1" dirty="0">
                <a:latin typeface="メイリオ" panose="020B0604030504040204" pitchFamily="50" charset="-128"/>
                <a:ea typeface="メイリオ" panose="020B0604030504040204" pitchFamily="50" charset="-128"/>
                <a:cs typeface="Meiryo"/>
                <a:sym typeface="Meiryo"/>
              </a:rPr>
              <a:t>開催月は企画配信で、予約・参加まで後押しする。</a:t>
            </a:r>
          </a:p>
        </p:txBody>
      </p:sp>
      <p:sp>
        <p:nvSpPr>
          <p:cNvPr id="11" name="Rectangle 10"/>
          <p:cNvSpPr/>
          <p:nvPr/>
        </p:nvSpPr>
        <p:spPr>
          <a:xfrm>
            <a:off x="420624" y="2011680"/>
            <a:ext cx="1600200" cy="128015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200"/>
              </a:spcAft>
            </a:pPr>
            <a:r>
              <a:rPr sz="1300" b="1">
                <a:solidFill>
                  <a:srgbClr val="FFFFFF"/>
                </a:solidFill>
                <a:latin typeface="メイリオ"/>
                <a:ea typeface="メイリオ"/>
                <a:cs typeface="メイリオ"/>
              </a:rPr>
              <a:t>開催のない月</a:t>
            </a:r>
          </a:p>
          <a:p>
            <a:pPr algn="ctr">
              <a:lnSpc>
                <a:spcPct val="110000"/>
              </a:lnSpc>
              <a:spcAft>
                <a:spcPts val="0"/>
              </a:spcAft>
            </a:pPr>
            <a:r>
              <a:rPr sz="1200" b="0">
                <a:solidFill>
                  <a:srgbClr val="FFFFFF"/>
                </a:solidFill>
                <a:latin typeface="メイリオ"/>
                <a:ea typeface="メイリオ"/>
                <a:cs typeface="メイリオ"/>
              </a:rPr>
              <a:t>月1〜2回</a:t>
            </a:r>
          </a:p>
        </p:txBody>
      </p:sp>
      <p:sp>
        <p:nvSpPr>
          <p:cNvPr id="12" name="Rectangle 11"/>
          <p:cNvSpPr/>
          <p:nvPr/>
        </p:nvSpPr>
        <p:spPr>
          <a:xfrm>
            <a:off x="2157984" y="2011680"/>
            <a:ext cx="2292096"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講師のコラム</a:t>
            </a:r>
          </a:p>
          <a:p>
            <a:pPr algn="ctr">
              <a:lnSpc>
                <a:spcPct val="110000"/>
              </a:lnSpc>
              <a:spcAft>
                <a:spcPts val="0"/>
              </a:spcAft>
            </a:pPr>
            <a:r>
              <a:rPr sz="1200" b="0">
                <a:solidFill>
                  <a:srgbClr val="333333"/>
                </a:solidFill>
                <a:latin typeface="メイリオ"/>
                <a:ea typeface="メイリオ"/>
                <a:cs typeface="メイリオ"/>
              </a:rPr>
              <a:t>学びのヒントを届ける</a:t>
            </a:r>
          </a:p>
        </p:txBody>
      </p:sp>
      <p:sp>
        <p:nvSpPr>
          <p:cNvPr id="13" name="TextBox 12"/>
          <p:cNvSpPr txBox="1"/>
          <p:nvPr/>
        </p:nvSpPr>
        <p:spPr>
          <a:xfrm>
            <a:off x="4450080" y="201168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14" name="Rectangle 13"/>
          <p:cNvSpPr/>
          <p:nvPr/>
        </p:nvSpPr>
        <p:spPr>
          <a:xfrm>
            <a:off x="4669535" y="2011680"/>
            <a:ext cx="2292096"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受講生の声</a:t>
            </a:r>
          </a:p>
          <a:p>
            <a:pPr algn="ctr">
              <a:lnSpc>
                <a:spcPct val="110000"/>
              </a:lnSpc>
              <a:spcAft>
                <a:spcPts val="0"/>
              </a:spcAft>
            </a:pPr>
            <a:r>
              <a:rPr sz="1200" b="0">
                <a:solidFill>
                  <a:srgbClr val="333333"/>
                </a:solidFill>
                <a:latin typeface="メイリオ"/>
                <a:ea typeface="メイリオ"/>
                <a:cs typeface="メイリオ"/>
              </a:rPr>
              <a:t>成果が出た方の話</a:t>
            </a:r>
          </a:p>
        </p:txBody>
      </p:sp>
      <p:sp>
        <p:nvSpPr>
          <p:cNvPr id="15" name="TextBox 14"/>
          <p:cNvSpPr txBox="1"/>
          <p:nvPr/>
        </p:nvSpPr>
        <p:spPr>
          <a:xfrm>
            <a:off x="6961631" y="201168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16" name="Rectangle 15"/>
          <p:cNvSpPr/>
          <p:nvPr/>
        </p:nvSpPr>
        <p:spPr>
          <a:xfrm>
            <a:off x="7181087" y="2011680"/>
            <a:ext cx="2292096"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次回の予告</a:t>
            </a:r>
          </a:p>
          <a:p>
            <a:pPr algn="ctr">
              <a:lnSpc>
                <a:spcPct val="110000"/>
              </a:lnSpc>
              <a:spcAft>
                <a:spcPts val="0"/>
              </a:spcAft>
            </a:pPr>
            <a:r>
              <a:rPr sz="1200" b="0">
                <a:solidFill>
                  <a:srgbClr val="333333"/>
                </a:solidFill>
                <a:latin typeface="メイリオ"/>
                <a:ea typeface="メイリオ"/>
                <a:cs typeface="メイリオ"/>
              </a:rPr>
              <a:t>次のセミナーの時期</a:t>
            </a:r>
          </a:p>
        </p:txBody>
      </p:sp>
      <p:sp>
        <p:nvSpPr>
          <p:cNvPr id="17" name="Rectangle 16"/>
          <p:cNvSpPr/>
          <p:nvPr/>
        </p:nvSpPr>
        <p:spPr>
          <a:xfrm>
            <a:off x="420624" y="3566160"/>
            <a:ext cx="1600200" cy="128015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200"/>
              </a:spcAft>
            </a:pPr>
            <a:r>
              <a:rPr sz="1300" b="1">
                <a:solidFill>
                  <a:srgbClr val="FFFFFF"/>
                </a:solidFill>
                <a:latin typeface="メイリオ"/>
                <a:ea typeface="メイリオ"/>
                <a:cs typeface="メイリオ"/>
              </a:rPr>
              <a:t>開催月</a:t>
            </a:r>
          </a:p>
          <a:p>
            <a:pPr algn="ctr">
              <a:lnSpc>
                <a:spcPct val="110000"/>
              </a:lnSpc>
              <a:spcAft>
                <a:spcPts val="0"/>
              </a:spcAft>
            </a:pPr>
            <a:r>
              <a:rPr sz="1200" b="0">
                <a:solidFill>
                  <a:srgbClr val="FFFFFF"/>
                </a:solidFill>
                <a:latin typeface="メイリオ"/>
                <a:ea typeface="メイリオ"/>
                <a:cs typeface="メイリオ"/>
              </a:rPr>
              <a:t>月4〜5回</a:t>
            </a:r>
          </a:p>
        </p:txBody>
      </p:sp>
      <p:sp>
        <p:nvSpPr>
          <p:cNvPr id="18" name="Rectangle 17"/>
          <p:cNvSpPr/>
          <p:nvPr/>
        </p:nvSpPr>
        <p:spPr>
          <a:xfrm>
            <a:off x="2157984" y="3566160"/>
            <a:ext cx="1287475"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開催のご案内</a:t>
            </a:r>
          </a:p>
          <a:p>
            <a:pPr algn="ctr">
              <a:lnSpc>
                <a:spcPct val="110000"/>
              </a:lnSpc>
              <a:spcAft>
                <a:spcPts val="0"/>
              </a:spcAft>
            </a:pPr>
            <a:r>
              <a:rPr sz="1200" b="0">
                <a:solidFill>
                  <a:srgbClr val="333333"/>
                </a:solidFill>
                <a:latin typeface="メイリオ"/>
                <a:ea typeface="メイリオ"/>
                <a:cs typeface="メイリオ"/>
              </a:rPr>
              <a:t>日程と予約ページ</a:t>
            </a:r>
          </a:p>
        </p:txBody>
      </p:sp>
      <p:sp>
        <p:nvSpPr>
          <p:cNvPr id="19" name="TextBox 18"/>
          <p:cNvSpPr txBox="1"/>
          <p:nvPr/>
        </p:nvSpPr>
        <p:spPr>
          <a:xfrm>
            <a:off x="3445459" y="356616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20" name="Rectangle 19"/>
          <p:cNvSpPr/>
          <p:nvPr/>
        </p:nvSpPr>
        <p:spPr>
          <a:xfrm>
            <a:off x="3664915" y="3566160"/>
            <a:ext cx="1287475"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見どころ</a:t>
            </a:r>
          </a:p>
          <a:p>
            <a:pPr algn="ctr">
              <a:lnSpc>
                <a:spcPct val="110000"/>
              </a:lnSpc>
              <a:spcAft>
                <a:spcPts val="0"/>
              </a:spcAft>
            </a:pPr>
            <a:r>
              <a:rPr sz="1200" b="0">
                <a:solidFill>
                  <a:srgbClr val="333333"/>
                </a:solidFill>
                <a:latin typeface="メイリオ"/>
                <a:ea typeface="メイリオ"/>
                <a:cs typeface="メイリオ"/>
              </a:rPr>
              <a:t>動画・受講生の声</a:t>
            </a:r>
          </a:p>
        </p:txBody>
      </p:sp>
      <p:sp>
        <p:nvSpPr>
          <p:cNvPr id="21" name="TextBox 20"/>
          <p:cNvSpPr txBox="1"/>
          <p:nvPr/>
        </p:nvSpPr>
        <p:spPr>
          <a:xfrm>
            <a:off x="4952390" y="356616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22" name="Rectangle 21"/>
          <p:cNvSpPr/>
          <p:nvPr/>
        </p:nvSpPr>
        <p:spPr>
          <a:xfrm>
            <a:off x="5171846" y="3566160"/>
            <a:ext cx="1287475"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予約締切</a:t>
            </a:r>
          </a:p>
          <a:p>
            <a:pPr algn="ctr">
              <a:lnSpc>
                <a:spcPct val="110000"/>
              </a:lnSpc>
              <a:spcAft>
                <a:spcPts val="0"/>
              </a:spcAft>
            </a:pPr>
            <a:r>
              <a:rPr sz="1200" b="0">
                <a:solidFill>
                  <a:srgbClr val="333333"/>
                </a:solidFill>
                <a:latin typeface="メイリオ"/>
                <a:ea typeface="メイリオ"/>
                <a:cs typeface="メイリオ"/>
              </a:rPr>
              <a:t>締切をお知らせ</a:t>
            </a:r>
          </a:p>
        </p:txBody>
      </p:sp>
      <p:sp>
        <p:nvSpPr>
          <p:cNvPr id="23" name="TextBox 22"/>
          <p:cNvSpPr txBox="1"/>
          <p:nvPr/>
        </p:nvSpPr>
        <p:spPr>
          <a:xfrm>
            <a:off x="6459321" y="356616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24" name="Rectangle 23"/>
          <p:cNvSpPr/>
          <p:nvPr/>
        </p:nvSpPr>
        <p:spPr>
          <a:xfrm>
            <a:off x="6678777" y="3566160"/>
            <a:ext cx="1287475"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前日・当日</a:t>
            </a:r>
          </a:p>
          <a:p>
            <a:pPr algn="ctr">
              <a:lnSpc>
                <a:spcPct val="110000"/>
              </a:lnSpc>
              <a:spcAft>
                <a:spcPts val="0"/>
              </a:spcAft>
            </a:pPr>
            <a:r>
              <a:rPr sz="1200" b="0">
                <a:solidFill>
                  <a:srgbClr val="333333"/>
                </a:solidFill>
                <a:latin typeface="メイリオ"/>
                <a:ea typeface="メイリオ"/>
                <a:cs typeface="メイリオ"/>
              </a:rPr>
              <a:t>予約した方へ</a:t>
            </a:r>
          </a:p>
          <a:p>
            <a:pPr algn="ctr">
              <a:lnSpc>
                <a:spcPct val="110000"/>
              </a:lnSpc>
              <a:spcAft>
                <a:spcPts val="0"/>
              </a:spcAft>
            </a:pPr>
            <a:r>
              <a:rPr sz="1200" b="0">
                <a:solidFill>
                  <a:srgbClr val="333333"/>
                </a:solidFill>
                <a:latin typeface="メイリオ"/>
                <a:ea typeface="メイリオ"/>
                <a:cs typeface="メイリオ"/>
              </a:rPr>
              <a:t>リマインド</a:t>
            </a:r>
          </a:p>
        </p:txBody>
      </p:sp>
      <p:sp>
        <p:nvSpPr>
          <p:cNvPr id="25" name="TextBox 24"/>
          <p:cNvSpPr txBox="1"/>
          <p:nvPr/>
        </p:nvSpPr>
        <p:spPr>
          <a:xfrm>
            <a:off x="7966252" y="356616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26" name="Rectangle 25"/>
          <p:cNvSpPr/>
          <p:nvPr/>
        </p:nvSpPr>
        <p:spPr>
          <a:xfrm>
            <a:off x="8185708" y="3566160"/>
            <a:ext cx="1287475"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参加後</a:t>
            </a:r>
          </a:p>
          <a:p>
            <a:pPr algn="ctr">
              <a:lnSpc>
                <a:spcPct val="110000"/>
              </a:lnSpc>
              <a:spcAft>
                <a:spcPts val="0"/>
              </a:spcAft>
            </a:pPr>
            <a:r>
              <a:rPr sz="1200" b="0">
                <a:solidFill>
                  <a:srgbClr val="333333"/>
                </a:solidFill>
                <a:latin typeface="メイリオ"/>
                <a:ea typeface="メイリオ"/>
                <a:cs typeface="メイリオ"/>
              </a:rPr>
              <a:t>講座・サロンのご案内</a:t>
            </a:r>
          </a:p>
          <a:p>
            <a:pPr algn="ctr">
              <a:lnSpc>
                <a:spcPct val="110000"/>
              </a:lnSpc>
              <a:spcAft>
                <a:spcPts val="0"/>
              </a:spcAft>
            </a:pPr>
            <a:r>
              <a:rPr sz="1200" b="0">
                <a:solidFill>
                  <a:srgbClr val="333333"/>
                </a:solidFill>
                <a:latin typeface="メイリオ"/>
                <a:ea typeface="メイリオ"/>
                <a:cs typeface="メイリオ"/>
              </a:rPr>
              <a:t>（次のページ）</a:t>
            </a:r>
          </a:p>
        </p:txBody>
      </p:sp>
      <p:sp>
        <p:nvSpPr>
          <p:cNvPr id="27" name="TextBox 26"/>
          <p:cNvSpPr txBox="1"/>
          <p:nvPr/>
        </p:nvSpPr>
        <p:spPr>
          <a:xfrm>
            <a:off x="420624" y="5029200"/>
            <a:ext cx="9052560" cy="274320"/>
          </a:xfrm>
          <a:prstGeom prst="rect">
            <a:avLst/>
          </a:prstGeom>
          <a:noFill/>
        </p:spPr>
        <p:txBody>
          <a:bodyPr wrap="square" anchor="t"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※前日・当日のリマインドと参加後のフォローは、予約・参加した方を特定できる範囲で実施（予約システム等との連携は、可否を確認のうえ設計）</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5669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7772400"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診断：回答でセグメントを分け、配信の精度を高める</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診断の答えでタグを付け、配信の出し分けに使う</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施策の考え方</a:t>
            </a:r>
            <a:endParaRPr lang="ja-JP" altLang="en-US" sz="1100" dirty="0"/>
          </a:p>
        </p:txBody>
      </p:sp>
      <p:sp>
        <p:nvSpPr>
          <p:cNvPr id="39" name="Rounded Rectangle 36">
            <a:extLst>
              <a:ext uri="{FF2B5EF4-FFF2-40B4-BE49-F238E27FC236}">
                <a16:creationId xmlns:a16="http://schemas.microsoft.com/office/drawing/2014/main" id="{EB89F4C5-3674-C37F-0213-9BCB6D7C0FCB}"/>
              </a:ext>
            </a:extLst>
          </p:cNvPr>
          <p:cNvSpPr/>
          <p:nvPr/>
        </p:nvSpPr>
        <p:spPr>
          <a:xfrm>
            <a:off x="502920" y="1812629"/>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557784" y="2003406"/>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914400" y="1918113"/>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友だち追加ありがとうございます！参加特典は…</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612648" y="24240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914400" y="2471397"/>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あてはまる方は？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914400" y="2789790"/>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自分のため</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1426464" y="2789790"/>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仕事で</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2468880" y="2789790"/>
            <a:ext cx="457200" cy="237744"/>
          </a:xfrm>
          <a:prstGeom prst="round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612648" y="3173838"/>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914400" y="3168567"/>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【8日目】受講生の声</a:t>
            </a:r>
          </a:p>
        </p:txBody>
      </p:sp>
      <p:sp>
        <p:nvSpPr>
          <p:cNvPr id="50" name="Oval 49">
            <a:extLst>
              <a:ext uri="{FF2B5EF4-FFF2-40B4-BE49-F238E27FC236}">
                <a16:creationId xmlns:a16="http://schemas.microsoft.com/office/drawing/2014/main" id="{D7FC1F60-741B-1216-E3C2-B9A9825969FD}"/>
              </a:ext>
            </a:extLst>
          </p:cNvPr>
          <p:cNvSpPr/>
          <p:nvPr/>
        </p:nvSpPr>
        <p:spPr>
          <a:xfrm>
            <a:off x="612648" y="374991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914400" y="374463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【今月】次回セミナーのご案内</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1737360" y="4234542"/>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日程を教えて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612648" y="452715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914400" y="4544763"/>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次回の日程はこちらです→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557784" y="4864608"/>
            <a:ext cx="2404872" cy="768096"/>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571500" y="4882896"/>
            <a:ext cx="786384" cy="356616"/>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セミナー予約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1376172" y="4882896"/>
            <a:ext cx="786384" cy="356616"/>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よくある質問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2180844" y="4882896"/>
            <a:ext cx="786384" cy="356616"/>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参加特典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71500" y="5257800"/>
            <a:ext cx="786384" cy="356616"/>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講師紹介</a:t>
            </a:r>
          </a:p>
        </p:txBody>
      </p:sp>
      <p:sp>
        <p:nvSpPr>
          <p:cNvPr id="60" name="Rectangle 58">
            <a:extLst>
              <a:ext uri="{FF2B5EF4-FFF2-40B4-BE49-F238E27FC236}">
                <a16:creationId xmlns:a16="http://schemas.microsoft.com/office/drawing/2014/main" id="{985C54A4-91FC-0879-5A7C-BF14447F2D4C}"/>
              </a:ext>
            </a:extLst>
          </p:cNvPr>
          <p:cNvSpPr/>
          <p:nvPr/>
        </p:nvSpPr>
        <p:spPr>
          <a:xfrm>
            <a:off x="1376172" y="5257800"/>
            <a:ext cx="786384" cy="356616"/>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受講生の声</a:t>
            </a:r>
          </a:p>
        </p:txBody>
      </p:sp>
      <p:sp>
        <p:nvSpPr>
          <p:cNvPr id="60" name="Rectangle 58">
            <a:extLst>
              <a:ext uri="{FF2B5EF4-FFF2-40B4-BE49-F238E27FC236}">
                <a16:creationId xmlns:a16="http://schemas.microsoft.com/office/drawing/2014/main" id="{985C54A4-91FC-0879-5A7C-BF14447F2D4C}"/>
              </a:ext>
            </a:extLst>
          </p:cNvPr>
          <p:cNvSpPr/>
          <p:nvPr/>
        </p:nvSpPr>
        <p:spPr>
          <a:xfrm>
            <a:off x="2180844" y="5257800"/>
            <a:ext cx="786384" cy="356616"/>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お問い合わせ</a:t>
            </a:r>
          </a:p>
        </p:txBody>
      </p:sp>
      <p:sp>
        <p:nvSpPr>
          <p:cNvPr id="91" name="Rectangle 37">
            <a:extLst>
              <a:ext uri="{FF2B5EF4-FFF2-40B4-BE49-F238E27FC236}">
                <a16:creationId xmlns:a16="http://schemas.microsoft.com/office/drawing/2014/main" id="{815B0ED0-A740-600B-6C02-0EA2C830954C}"/>
              </a:ext>
            </a:extLst>
          </p:cNvPr>
          <p:cNvSpPr/>
          <p:nvPr/>
        </p:nvSpPr>
        <p:spPr>
          <a:xfrm>
            <a:off x="807059" y="1705904"/>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3" name="Oval 39">
            <a:extLst>
              <a:ext uri="{FF2B5EF4-FFF2-40B4-BE49-F238E27FC236}">
                <a16:creationId xmlns:a16="http://schemas.microsoft.com/office/drawing/2014/main" id="{BD5572D2-C987-F20B-3DAE-F41EEAF2F9EC}"/>
              </a:ext>
            </a:extLst>
          </p:cNvPr>
          <p:cNvSpPr/>
          <p:nvPr/>
        </p:nvSpPr>
        <p:spPr>
          <a:xfrm>
            <a:off x="612648" y="192111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94" name="Rectangle 93"/>
          <p:cNvSpPr/>
          <p:nvPr/>
        </p:nvSpPr>
        <p:spPr>
          <a:xfrm>
            <a:off x="3291840" y="1810512"/>
            <a:ext cx="16002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質問</a:t>
            </a:r>
          </a:p>
        </p:txBody>
      </p:sp>
      <p:sp>
        <p:nvSpPr>
          <p:cNvPr id="95" name="Rectangle 94"/>
          <p:cNvSpPr/>
          <p:nvPr/>
        </p:nvSpPr>
        <p:spPr>
          <a:xfrm>
            <a:off x="4919472" y="1810512"/>
            <a:ext cx="459028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選択肢（お悩みタイプ診断・2問・30秒）</a:t>
            </a:r>
          </a:p>
        </p:txBody>
      </p:sp>
      <p:sp>
        <p:nvSpPr>
          <p:cNvPr id="96" name="Rectangle 95"/>
          <p:cNvSpPr/>
          <p:nvPr/>
        </p:nvSpPr>
        <p:spPr>
          <a:xfrm>
            <a:off x="3291840" y="2203704"/>
            <a:ext cx="1600200" cy="50292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1">
                <a:solidFill>
                  <a:srgbClr val="1F2A5C"/>
                </a:solidFill>
                <a:latin typeface="メイリオ"/>
                <a:ea typeface="メイリオ"/>
                <a:cs typeface="メイリオ"/>
              </a:rPr>
              <a:t>1問目</a:t>
            </a:r>
          </a:p>
          <a:p>
            <a:pPr algn="l">
              <a:lnSpc>
                <a:spcPct val="110000"/>
              </a:lnSpc>
              <a:spcAft>
                <a:spcPts val="0"/>
              </a:spcAft>
            </a:pPr>
            <a:r>
              <a:rPr sz="1200" b="1">
                <a:solidFill>
                  <a:srgbClr val="1F2A5C"/>
                </a:solidFill>
                <a:latin typeface="メイリオ"/>
                <a:ea typeface="メイリオ"/>
                <a:cs typeface="メイリオ"/>
              </a:rPr>
              <a:t>あてはまる方は？</a:t>
            </a:r>
          </a:p>
        </p:txBody>
      </p:sp>
      <p:sp>
        <p:nvSpPr>
          <p:cNvPr id="97" name="Rectangle 96"/>
          <p:cNvSpPr/>
          <p:nvPr/>
        </p:nvSpPr>
        <p:spPr>
          <a:xfrm>
            <a:off x="4919472" y="2203704"/>
            <a:ext cx="4590288" cy="50292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0">
                <a:solidFill>
                  <a:srgbClr val="333333"/>
                </a:solidFill>
                <a:latin typeface="メイリオ"/>
                <a:ea typeface="メイリオ"/>
                <a:cs typeface="メイリオ"/>
              </a:rPr>
              <a:t>お仕事で活かしたい方／ご自身のために学びたい方</a:t>
            </a:r>
          </a:p>
        </p:txBody>
      </p:sp>
      <p:sp>
        <p:nvSpPr>
          <p:cNvPr id="98" name="Rectangle 97"/>
          <p:cNvSpPr/>
          <p:nvPr/>
        </p:nvSpPr>
        <p:spPr>
          <a:xfrm>
            <a:off x="3291840" y="2734056"/>
            <a:ext cx="1600200" cy="103327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1">
                <a:solidFill>
                  <a:srgbClr val="1F2A5C"/>
                </a:solidFill>
                <a:latin typeface="メイリオ"/>
                <a:ea typeface="メイリオ"/>
                <a:cs typeface="メイリオ"/>
              </a:rPr>
              <a:t>2問目</a:t>
            </a:r>
          </a:p>
          <a:p>
            <a:pPr algn="l">
              <a:lnSpc>
                <a:spcPct val="110000"/>
              </a:lnSpc>
              <a:spcAft>
                <a:spcPts val="0"/>
              </a:spcAft>
            </a:pPr>
            <a:r>
              <a:rPr sz="1200" b="1">
                <a:solidFill>
                  <a:srgbClr val="1F2A5C"/>
                </a:solidFill>
                <a:latin typeface="メイリオ"/>
                <a:ea typeface="メイリオ"/>
                <a:cs typeface="メイリオ"/>
              </a:rPr>
              <a:t>いちばんの関心は？</a:t>
            </a:r>
          </a:p>
        </p:txBody>
      </p:sp>
      <p:sp>
        <p:nvSpPr>
          <p:cNvPr id="99" name="Rectangle 98"/>
          <p:cNvSpPr/>
          <p:nvPr/>
        </p:nvSpPr>
        <p:spPr>
          <a:xfrm>
            <a:off x="4919472" y="2734056"/>
            <a:ext cx="4590288" cy="50292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0">
                <a:solidFill>
                  <a:srgbClr val="333333"/>
                </a:solidFill>
                <a:latin typeface="メイリオ"/>
                <a:ea typeface="メイリオ"/>
                <a:cs typeface="メイリオ"/>
              </a:rPr>
              <a:t>お仕事の方：成果を上げたい／働く時間を減らしたい</a:t>
            </a:r>
          </a:p>
        </p:txBody>
      </p:sp>
      <p:sp>
        <p:nvSpPr>
          <p:cNvPr id="100" name="Rectangle 99"/>
          <p:cNvSpPr/>
          <p:nvPr/>
        </p:nvSpPr>
        <p:spPr>
          <a:xfrm>
            <a:off x="4919472" y="3264408"/>
            <a:ext cx="4590288" cy="50292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0">
                <a:solidFill>
                  <a:srgbClr val="333333"/>
                </a:solidFill>
                <a:latin typeface="メイリオ"/>
                <a:ea typeface="メイリオ"/>
                <a:cs typeface="メイリオ"/>
              </a:rPr>
              <a:t>ご自身のため：資産形成を始めたい／副業・スキルを身につけたい</a:t>
            </a:r>
          </a:p>
        </p:txBody>
      </p:sp>
      <p:sp>
        <p:nvSpPr>
          <p:cNvPr id="101" name="Rectangle 100"/>
          <p:cNvSpPr/>
          <p:nvPr/>
        </p:nvSpPr>
        <p:spPr>
          <a:xfrm>
            <a:off x="3291840" y="3913632"/>
            <a:ext cx="2103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結果のタイプ</a:t>
            </a:r>
          </a:p>
        </p:txBody>
      </p:sp>
      <p:sp>
        <p:nvSpPr>
          <p:cNvPr id="102" name="Rectangle 101"/>
          <p:cNvSpPr/>
          <p:nvPr/>
        </p:nvSpPr>
        <p:spPr>
          <a:xfrm>
            <a:off x="5422392" y="3913632"/>
            <a:ext cx="40873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その後に届ける内容</a:t>
            </a:r>
          </a:p>
        </p:txBody>
      </p:sp>
      <p:sp>
        <p:nvSpPr>
          <p:cNvPr id="103" name="Rectangle 102"/>
          <p:cNvSpPr/>
          <p:nvPr/>
        </p:nvSpPr>
        <p:spPr>
          <a:xfrm>
            <a:off x="3291840" y="4306824"/>
            <a:ext cx="2103120" cy="45720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1">
                <a:solidFill>
                  <a:srgbClr val="1F2A5C"/>
                </a:solidFill>
                <a:latin typeface="メイリオ"/>
                <a:ea typeface="メイリオ"/>
                <a:cs typeface="メイリオ"/>
              </a:rPr>
              <a:t>成果タイプ</a:t>
            </a:r>
          </a:p>
          <a:p>
            <a:pPr algn="l">
              <a:lnSpc>
                <a:spcPct val="110000"/>
              </a:lnSpc>
              <a:spcAft>
                <a:spcPts val="0"/>
              </a:spcAft>
            </a:pPr>
            <a:r>
              <a:rPr sz="1200" b="1">
                <a:solidFill>
                  <a:srgbClr val="1F2A5C"/>
                </a:solidFill>
                <a:latin typeface="メイリオ"/>
                <a:ea typeface="メイリオ"/>
                <a:cs typeface="メイリオ"/>
              </a:rPr>
              <a:t>成果を上げたい方</a:t>
            </a:r>
          </a:p>
        </p:txBody>
      </p:sp>
      <p:sp>
        <p:nvSpPr>
          <p:cNvPr id="104" name="Rectangle 103"/>
          <p:cNvSpPr/>
          <p:nvPr/>
        </p:nvSpPr>
        <p:spPr>
          <a:xfrm>
            <a:off x="5422392" y="4306824"/>
            <a:ext cx="4087368" cy="4572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0">
                <a:solidFill>
                  <a:srgbClr val="333333"/>
                </a:solidFill>
                <a:latin typeface="メイリオ"/>
                <a:ea typeface="メイリオ"/>
                <a:cs typeface="メイリオ"/>
              </a:rPr>
              <a:t>成果が変わった受講生の声</a:t>
            </a:r>
          </a:p>
          <a:p>
            <a:pPr algn="l">
              <a:lnSpc>
                <a:spcPct val="110000"/>
              </a:lnSpc>
              <a:spcAft>
                <a:spcPts val="0"/>
              </a:spcAft>
            </a:pPr>
            <a:r>
              <a:rPr sz="1200" b="0">
                <a:solidFill>
                  <a:srgbClr val="333333"/>
                </a:solidFill>
                <a:latin typeface="メイリオ"/>
                <a:ea typeface="メイリオ"/>
                <a:cs typeface="メイリオ"/>
              </a:rPr>
              <a:t>講座の見どころ</a:t>
            </a:r>
          </a:p>
        </p:txBody>
      </p:sp>
      <p:sp>
        <p:nvSpPr>
          <p:cNvPr id="105" name="Rectangle 104"/>
          <p:cNvSpPr/>
          <p:nvPr/>
        </p:nvSpPr>
        <p:spPr>
          <a:xfrm>
            <a:off x="3291840" y="4791456"/>
            <a:ext cx="2103120" cy="45720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1">
                <a:solidFill>
                  <a:srgbClr val="1F2A5C"/>
                </a:solidFill>
                <a:latin typeface="メイリオ"/>
                <a:ea typeface="メイリオ"/>
                <a:cs typeface="メイリオ"/>
              </a:rPr>
              <a:t>時間タイプ</a:t>
            </a:r>
          </a:p>
          <a:p>
            <a:pPr algn="l">
              <a:lnSpc>
                <a:spcPct val="110000"/>
              </a:lnSpc>
              <a:spcAft>
                <a:spcPts val="0"/>
              </a:spcAft>
            </a:pPr>
            <a:r>
              <a:rPr sz="1200" b="1">
                <a:solidFill>
                  <a:srgbClr val="1F2A5C"/>
                </a:solidFill>
                <a:latin typeface="メイリオ"/>
                <a:ea typeface="メイリオ"/>
                <a:cs typeface="メイリオ"/>
              </a:rPr>
              <a:t>働く時間を減らしたい方</a:t>
            </a:r>
          </a:p>
        </p:txBody>
      </p:sp>
      <p:sp>
        <p:nvSpPr>
          <p:cNvPr id="106" name="Rectangle 105"/>
          <p:cNvSpPr/>
          <p:nvPr/>
        </p:nvSpPr>
        <p:spPr>
          <a:xfrm>
            <a:off x="5422392" y="4791456"/>
            <a:ext cx="4087368" cy="4572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0">
                <a:solidFill>
                  <a:srgbClr val="333333"/>
                </a:solidFill>
                <a:latin typeface="メイリオ"/>
                <a:ea typeface="メイリオ"/>
                <a:cs typeface="メイリオ"/>
              </a:rPr>
              <a:t>講師紹介（講師の実績）</a:t>
            </a:r>
          </a:p>
          <a:p>
            <a:pPr algn="l">
              <a:lnSpc>
                <a:spcPct val="110000"/>
              </a:lnSpc>
              <a:spcAft>
                <a:spcPts val="0"/>
              </a:spcAft>
            </a:pPr>
            <a:r>
              <a:rPr sz="1200" b="0">
                <a:solidFill>
                  <a:srgbClr val="333333"/>
                </a:solidFill>
                <a:latin typeface="メイリオ"/>
                <a:ea typeface="メイリオ"/>
                <a:cs typeface="メイリオ"/>
              </a:rPr>
              <a:t>講師メッセージ（時間の使い方）</a:t>
            </a:r>
          </a:p>
        </p:txBody>
      </p:sp>
      <p:sp>
        <p:nvSpPr>
          <p:cNvPr id="107" name="Rectangle 106"/>
          <p:cNvSpPr/>
          <p:nvPr/>
        </p:nvSpPr>
        <p:spPr>
          <a:xfrm>
            <a:off x="3291840" y="5276088"/>
            <a:ext cx="2103120" cy="45720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1">
                <a:solidFill>
                  <a:srgbClr val="1F2A5C"/>
                </a:solidFill>
                <a:latin typeface="メイリオ"/>
                <a:ea typeface="メイリオ"/>
                <a:cs typeface="メイリオ"/>
              </a:rPr>
              <a:t>一般の方</a:t>
            </a:r>
          </a:p>
        </p:txBody>
      </p:sp>
      <p:sp>
        <p:nvSpPr>
          <p:cNvPr id="108" name="Rectangle 107"/>
          <p:cNvSpPr/>
          <p:nvPr/>
        </p:nvSpPr>
        <p:spPr>
          <a:xfrm>
            <a:off x="5422392" y="5276088"/>
            <a:ext cx="4087368" cy="4572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0">
                <a:solidFill>
                  <a:srgbClr val="333333"/>
                </a:solidFill>
                <a:latin typeface="メイリオ"/>
                <a:ea typeface="メイリオ"/>
                <a:cs typeface="メイリオ"/>
              </a:rPr>
              <a:t>一般の方向けのセミナー（マネー・副業など）のご案内</a:t>
            </a:r>
          </a:p>
        </p:txBody>
      </p:sp>
      <p:sp>
        <p:nvSpPr>
          <p:cNvPr id="109" name="TextBox 108"/>
          <p:cNvSpPr txBox="1"/>
          <p:nvPr/>
        </p:nvSpPr>
        <p:spPr>
          <a:xfrm>
            <a:off x="420624" y="5833872"/>
            <a:ext cx="9052560" cy="274320"/>
          </a:xfrm>
          <a:prstGeom prst="rect">
            <a:avLst/>
          </a:prstGeom>
          <a:noFill/>
        </p:spPr>
        <p:txBody>
          <a:bodyPr wrap="square" anchor="t"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※答えはボタンで選ぶ形。押したボタンでタグを付け、その後の配信を分ける</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参加直後と参加後30〜60日に、講座・サロンの内容と入会方法をお届けする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関心が高いうちに、講座・サロンをご案内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同じ悩みから始めて、成果が出た方の声</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講座・サロンのご案内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入会した方だけが受けられる内容</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続け方の工夫と、出た成果</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講師が、この講座で伝えたいこと</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オンラインで参加できる・初心者でも分かる・参加は無料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講師の経歴と実績</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597471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ります</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LINEステップ配信シナリオ（8通）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診断によるセグメント分け（2問）</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セミナー開催月・開催のない月の企画配信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開催月は月4〜5回、開催のない月は月1〜2回の配信案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142343</TotalTime>
  <Words>7487</Words>
  <Application>Microsoft Office PowerPoint</Application>
  <PresentationFormat>A4 210 x 297 mm</PresentationFormat>
  <Paragraphs>1325</Paragraphs>
  <Slides>60</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60</vt:i4>
      </vt:variant>
    </vt:vector>
  </HeadingPairs>
  <TitlesOfParts>
    <vt:vector size="66"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1956</cp:revision>
  <cp:lastPrinted>2022-11-01T11:38:14Z</cp:lastPrinted>
  <dcterms:created xsi:type="dcterms:W3CDTF">2015-09-04T09:21:15Z</dcterms:created>
  <dcterms:modified xsi:type="dcterms:W3CDTF">2026-10-22T05:59:23Z</dcterms:modified>
</cp:coreProperties>
</file>