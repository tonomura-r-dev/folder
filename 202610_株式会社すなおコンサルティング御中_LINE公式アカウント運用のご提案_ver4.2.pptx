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media/image58.svg" ContentType="image/svg+xml"/>
  <Override PartName="/ppt/media/image60.svg" ContentType="image/svg+xml"/>
  <Override PartName="/ppt/media/image61.svg" ContentType="image/svg+xml"/>
  <Override PartName="/ppt/media/image62.svg" ContentType="image/svg+xml"/>
  <Override PartName="/ppt/media/image6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7" r:id="rId2"/>
  </p:sldMasterIdLst>
  <p:notesMasterIdLst>
    <p:notesMasterId r:id="rId66"/>
  </p:notesMasterIdLst>
  <p:handoutMasterIdLst>
    <p:handoutMasterId r:id="rId67"/>
  </p:handoutMasterIdLst>
  <p:sldIdLst>
    <p:sldId id="2363" r:id="rId3"/>
    <p:sldId id="2988" r:id="rId4"/>
    <p:sldId id="2972" r:id="rId5"/>
    <p:sldId id="2989" r:id="rId6"/>
    <p:sldId id="2971" r:id="rId7"/>
    <p:sldId id="2974" r:id="rId8"/>
    <p:sldId id="2975" r:id="rId9"/>
    <p:sldId id="2985" r:id="rId10"/>
    <p:sldId id="3004" r:id="rId11"/>
    <p:sldId id="2976" r:id="rId12"/>
    <p:sldId id="2986" r:id="rId13"/>
    <p:sldId id="2736" r:id="rId14"/>
    <p:sldId id="2979" r:id="rId15"/>
    <p:sldId id="3006" r:id="rId16"/>
    <p:sldId id="2978" r:id="rId17"/>
    <p:sldId id="2981" r:id="rId18"/>
    <p:sldId id="2908" r:id="rId19"/>
    <p:sldId id="2966" r:id="rId20"/>
    <p:sldId id="3015" r:id="rId21"/>
    <p:sldId id="3013" r:id="rId22"/>
    <p:sldId id="3009" r:id="rId23"/>
    <p:sldId id="3018" r:id="rId24"/>
    <p:sldId id="3010" r:id="rId25"/>
    <p:sldId id="3014" r:id="rId26"/>
    <p:sldId id="3012" r:id="rId27"/>
    <p:sldId id="3017" r:id="rId28"/>
    <p:sldId id="3011" r:id="rId29"/>
    <p:sldId id="2737" r:id="rId30"/>
    <p:sldId id="2563" r:id="rId31"/>
    <p:sldId id="2970" r:id="rId32"/>
    <p:sldId id="2959" r:id="rId33"/>
    <p:sldId id="2639" r:id="rId34"/>
    <p:sldId id="3016" r:id="rId35"/>
    <p:sldId id="2968" r:id="rId36"/>
    <p:sldId id="2969" r:id="rId37"/>
    <p:sldId id="2957" r:id="rId38"/>
    <p:sldId id="2755" r:id="rId39"/>
    <p:sldId id="3002" r:id="rId40"/>
    <p:sldId id="3019" r:id="rId72"/>
    <p:sldId id="2951" r:id="rId41"/>
    <p:sldId id="3020" r:id="rId73"/>
    <p:sldId id="2841" r:id="rId42"/>
    <p:sldId id="2734" r:id="rId43"/>
    <p:sldId id="2595" r:id="rId44"/>
    <p:sldId id="2566" r:id="rId45"/>
    <p:sldId id="2915" r:id="rId46"/>
    <p:sldId id="2619" r:id="rId47"/>
    <p:sldId id="2761" r:id="rId48"/>
    <p:sldId id="3021" r:id="rId74"/>
    <p:sldId id="2935" r:id="rId49"/>
    <p:sldId id="2919" r:id="rId50"/>
    <p:sldId id="2519" r:id="rId51"/>
    <p:sldId id="2931" r:id="rId52"/>
    <p:sldId id="2749" r:id="rId53"/>
    <p:sldId id="2950" r:id="rId54"/>
    <p:sldId id="2961" r:id="rId55"/>
    <p:sldId id="2849" r:id="rId56"/>
    <p:sldId id="2904" r:id="rId57"/>
    <p:sldId id="2905" r:id="rId58"/>
    <p:sldId id="2906" r:id="rId59"/>
    <p:sldId id="2907" r:id="rId60"/>
    <p:sldId id="2575" r:id="rId61"/>
    <p:sldId id="2910" r:id="rId62"/>
    <p:sldId id="3007" r:id="rId63"/>
    <p:sldId id="3008" r:id="rId64"/>
    <p:sldId id="1169" r:id="rId65"/>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58" userDrawn="1">
          <p15:clr>
            <a:srgbClr val="A4A3A4"/>
          </p15:clr>
        </p15:guide>
        <p15:guide id="2" pos="30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FA0A"/>
    <a:srgbClr val="FDFDFD"/>
    <a:srgbClr val="173559"/>
    <a:srgbClr val="2080FF"/>
    <a:srgbClr val="1D8DFF"/>
    <a:srgbClr val="515457"/>
    <a:srgbClr val="F6A454"/>
    <a:srgbClr val="EAEEF4"/>
    <a:srgbClr val="2D6CB9"/>
    <a:srgbClr val="D1D9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157" autoAdjust="0"/>
    <p:restoredTop sz="94424" autoAdjust="0"/>
  </p:normalViewPr>
  <p:slideViewPr>
    <p:cSldViewPr snapToGrid="0">
      <p:cViewPr varScale="1">
        <p:scale>
          <a:sx n="106" d="100"/>
          <a:sy n="106" d="100"/>
        </p:scale>
        <p:origin x="498" y="90"/>
      </p:cViewPr>
      <p:guideLst>
        <p:guide orient="horz" pos="3158"/>
        <p:guide pos="308"/>
      </p:guideLst>
    </p:cSldViewPr>
  </p:slideViewPr>
  <p:notesTextViewPr>
    <p:cViewPr>
      <p:scale>
        <a:sx n="1" d="1"/>
        <a:sy n="1" d="1"/>
      </p:scale>
      <p:origin x="0" y="0"/>
    </p:cViewPr>
  </p:notesTextViewPr>
  <p:sorterViewPr>
    <p:cViewPr>
      <p:scale>
        <a:sx n="100" d="100"/>
        <a:sy n="100" d="100"/>
      </p:scale>
      <p:origin x="0" y="-3072"/>
    </p:cViewPr>
  </p:sorterViewPr>
  <p:notesViewPr>
    <p:cSldViewPr snapToGrid="0">
      <p:cViewPr varScale="1">
        <p:scale>
          <a:sx n="79" d="100"/>
          <a:sy n="79" d="100"/>
        </p:scale>
        <p:origin x="4014" y="102"/>
      </p:cViewPr>
      <p:guideLst/>
    </p:cSldViewPr>
  </p:notesViewPr>
  <p:gridSpacing cx="1080001" cy="1080001"/>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slide" Target="slides/slide40.xml"/><Relationship Id="rId42" Type="http://schemas.openxmlformats.org/officeDocument/2006/relationships/slide" Target="slides/slide42.xml"/><Relationship Id="rId43" Type="http://schemas.openxmlformats.org/officeDocument/2006/relationships/slide" Target="slides/slide43.xml"/><Relationship Id="rId44" Type="http://schemas.openxmlformats.org/officeDocument/2006/relationships/slide" Target="slides/slide44.xml"/><Relationship Id="rId45" Type="http://schemas.openxmlformats.org/officeDocument/2006/relationships/slide" Target="slides/slide45.xml"/><Relationship Id="rId46" Type="http://schemas.openxmlformats.org/officeDocument/2006/relationships/slide" Target="slides/slide46.xml"/><Relationship Id="rId47" Type="http://schemas.openxmlformats.org/officeDocument/2006/relationships/slide" Target="slides/slide47.xml"/><Relationship Id="rId48" Type="http://schemas.openxmlformats.org/officeDocument/2006/relationships/slide" Target="slides/slide48.xml"/><Relationship Id="rId49" Type="http://schemas.openxmlformats.org/officeDocument/2006/relationships/slide" Target="slides/slide50.xml"/><Relationship Id="rId50" Type="http://schemas.openxmlformats.org/officeDocument/2006/relationships/slide" Target="slides/slide51.xml"/><Relationship Id="rId51" Type="http://schemas.openxmlformats.org/officeDocument/2006/relationships/slide" Target="slides/slide52.xml"/><Relationship Id="rId52" Type="http://schemas.openxmlformats.org/officeDocument/2006/relationships/slide" Target="slides/slide53.xml"/><Relationship Id="rId53" Type="http://schemas.openxmlformats.org/officeDocument/2006/relationships/slide" Target="slides/slide54.xml"/><Relationship Id="rId54" Type="http://schemas.openxmlformats.org/officeDocument/2006/relationships/slide" Target="slides/slide55.xml"/><Relationship Id="rId55" Type="http://schemas.openxmlformats.org/officeDocument/2006/relationships/slide" Target="slides/slide56.xml"/><Relationship Id="rId56" Type="http://schemas.openxmlformats.org/officeDocument/2006/relationships/slide" Target="slides/slide57.xml"/><Relationship Id="rId57" Type="http://schemas.openxmlformats.org/officeDocument/2006/relationships/slide" Target="slides/slide58.xml"/><Relationship Id="rId58" Type="http://schemas.openxmlformats.org/officeDocument/2006/relationships/slide" Target="slides/slide59.xml"/><Relationship Id="rId59" Type="http://schemas.openxmlformats.org/officeDocument/2006/relationships/slide" Target="slides/slide60.xml"/><Relationship Id="rId60" Type="http://schemas.openxmlformats.org/officeDocument/2006/relationships/slide" Target="slides/slide61.xml"/><Relationship Id="rId61" Type="http://schemas.openxmlformats.org/officeDocument/2006/relationships/slide" Target="slides/slide62.xml"/><Relationship Id="rId62" Type="http://schemas.openxmlformats.org/officeDocument/2006/relationships/slide" Target="slides/slide63.xml"/><Relationship Id="rId63" Type="http://schemas.openxmlformats.org/officeDocument/2006/relationships/slide" Target="slides/slide64.xml"/><Relationship Id="rId64" Type="http://schemas.openxmlformats.org/officeDocument/2006/relationships/slide" Target="slides/slide65.xml"/><Relationship Id="rId65" Type="http://schemas.openxmlformats.org/officeDocument/2006/relationships/slide" Target="slides/slide66.xml"/><Relationship Id="rId66" Type="http://schemas.openxmlformats.org/officeDocument/2006/relationships/notesMaster" Target="notesMasters/notesMaster1.xml"/><Relationship Id="rId67" Type="http://schemas.openxmlformats.org/officeDocument/2006/relationships/handoutMaster" Target="handoutMasters/handoutMaster1.xml"/><Relationship Id="rId68" Type="http://schemas.openxmlformats.org/officeDocument/2006/relationships/presProps" Target="presProps.xml"/><Relationship Id="rId69" Type="http://schemas.openxmlformats.org/officeDocument/2006/relationships/viewProps" Target="viewProps.xml"/><Relationship Id="rId70" Type="http://schemas.openxmlformats.org/officeDocument/2006/relationships/theme" Target="theme/theme1.xml"/><Relationship Id="rId71" Type="http://schemas.openxmlformats.org/officeDocument/2006/relationships/tableStyles" Target="tableStyles.xml"/><Relationship Id="rId72" Type="http://schemas.openxmlformats.org/officeDocument/2006/relationships/slide" Target="slides/slide39.xml"/><Relationship Id="rId73" Type="http://schemas.openxmlformats.org/officeDocument/2006/relationships/slide" Target="slides/slide41.xml"/><Relationship Id="rId74" Type="http://schemas.openxmlformats.org/officeDocument/2006/relationships/slide" Target="slides/slide49.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フッター プレースホルダー 3"/>
          <p:cNvSpPr>
            <a:spLocks noGrp="1"/>
          </p:cNvSpPr>
          <p:nvPr>
            <p:ph type="ftr" sz="quarter" idx="2"/>
          </p:nvPr>
        </p:nvSpPr>
        <p:spPr>
          <a:xfrm>
            <a:off x="0" y="9441662"/>
            <a:ext cx="2949420" cy="497676"/>
          </a:xfrm>
          <a:prstGeom prst="rect">
            <a:avLst/>
          </a:prstGeom>
        </p:spPr>
        <p:txBody>
          <a:bodyPr vert="horz" lIns="90561" tIns="45280" rIns="90561" bIns="4528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6210" y="9441662"/>
            <a:ext cx="2949420" cy="497676"/>
          </a:xfrm>
          <a:prstGeom prst="rect">
            <a:avLst/>
          </a:prstGeom>
        </p:spPr>
        <p:txBody>
          <a:bodyPr vert="horz" lIns="90561" tIns="45280" rIns="90561" bIns="45280" rtlCol="0" anchor="b"/>
          <a:lstStyle>
            <a:lvl1pPr algn="r">
              <a:defRPr sz="1200"/>
            </a:lvl1pPr>
          </a:lstStyle>
          <a:p>
            <a:fld id="{7B45B759-5475-4693-BFD4-53BF6401E48A}" type="slidenum">
              <a:rPr kumimoji="1" lang="ja-JP" altLang="en-US" smtClean="0"/>
              <a:t>‹#›</a:t>
            </a:fld>
            <a:endParaRPr kumimoji="1" lang="ja-JP" altLang="en-US"/>
          </a:p>
        </p:txBody>
      </p:sp>
    </p:spTree>
    <p:extLst>
      <p:ext uri="{BB962C8B-B14F-4D97-AF65-F5344CB8AC3E}">
        <p14:creationId xmlns:p14="http://schemas.microsoft.com/office/powerpoint/2010/main" val="3259530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2"/>
            <a:ext cx="2950528" cy="497524"/>
          </a:xfrm>
          <a:prstGeom prst="rect">
            <a:avLst/>
          </a:prstGeom>
        </p:spPr>
        <p:txBody>
          <a:bodyPr vert="horz" lIns="91529" tIns="45765" rIns="91529" bIns="45765"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082" y="2"/>
            <a:ext cx="2950528" cy="497524"/>
          </a:xfrm>
          <a:prstGeom prst="rect">
            <a:avLst/>
          </a:prstGeom>
        </p:spPr>
        <p:txBody>
          <a:bodyPr vert="horz" lIns="91529" tIns="45765" rIns="91529" bIns="45765" rtlCol="0"/>
          <a:lstStyle>
            <a:lvl1pPr algn="r">
              <a:defRPr sz="1200"/>
            </a:lvl1pPr>
          </a:lstStyle>
          <a:p>
            <a:fld id="{6AF8158D-F6B1-45E0-9831-E70689DC8490}" type="datetimeFigureOut">
              <a:rPr kumimoji="1" lang="ja-JP" altLang="en-US" smtClean="0"/>
              <a:t>2026/7/29</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529" tIns="45765" rIns="91529" bIns="45765" rtlCol="0" anchor="ctr"/>
          <a:lstStyle/>
          <a:p>
            <a:endParaRPr lang="ja-JP" altLang="en-US"/>
          </a:p>
        </p:txBody>
      </p:sp>
      <p:sp>
        <p:nvSpPr>
          <p:cNvPr id="5" name="ノート プレースホルダー 4"/>
          <p:cNvSpPr>
            <a:spLocks noGrp="1"/>
          </p:cNvSpPr>
          <p:nvPr>
            <p:ph type="body" sz="quarter" idx="3"/>
          </p:nvPr>
        </p:nvSpPr>
        <p:spPr>
          <a:xfrm>
            <a:off x="680402" y="4782901"/>
            <a:ext cx="5446396" cy="3913426"/>
          </a:xfrm>
          <a:prstGeom prst="rect">
            <a:avLst/>
          </a:prstGeom>
        </p:spPr>
        <p:txBody>
          <a:bodyPr vert="horz" lIns="91529" tIns="45765" rIns="91529" bIns="45765"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441817"/>
            <a:ext cx="2950528" cy="497524"/>
          </a:xfrm>
          <a:prstGeom prst="rect">
            <a:avLst/>
          </a:prstGeom>
        </p:spPr>
        <p:txBody>
          <a:bodyPr vert="horz" lIns="91529" tIns="45765" rIns="91529" bIns="45765"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082" y="9441817"/>
            <a:ext cx="2950528" cy="497524"/>
          </a:xfrm>
          <a:prstGeom prst="rect">
            <a:avLst/>
          </a:prstGeom>
        </p:spPr>
        <p:txBody>
          <a:bodyPr vert="horz" lIns="91529" tIns="45765" rIns="91529" bIns="45765" rtlCol="0" anchor="b"/>
          <a:lstStyle>
            <a:lvl1pPr algn="r">
              <a:defRPr sz="1200"/>
            </a:lvl1pPr>
          </a:lstStyle>
          <a:p>
            <a:fld id="{022E43C0-6795-4B13-B37C-259C826D4B6A}" type="slidenum">
              <a:rPr kumimoji="1" lang="ja-JP" altLang="en-US" smtClean="0"/>
              <a:t>‹#›</a:t>
            </a:fld>
            <a:endParaRPr kumimoji="1" lang="ja-JP" altLang="en-US"/>
          </a:p>
        </p:txBody>
      </p:sp>
    </p:spTree>
    <p:extLst>
      <p:ext uri="{BB962C8B-B14F-4D97-AF65-F5344CB8AC3E}">
        <p14:creationId xmlns:p14="http://schemas.microsoft.com/office/powerpoint/2010/main" val="64091890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681540-B398-8C02-E1F2-1F1C4798CC2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A82C74D-328C-FB0E-E710-C92A52BEF4B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75EB1E7-3A4C-2E0A-CA67-686800FA87A8}"/>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2173A52D-F6CC-DC20-5CFE-D4EBA25ECCBC}"/>
              </a:ext>
            </a:extLst>
          </p:cNvPr>
          <p:cNvSpPr>
            <a:spLocks noGrp="1"/>
          </p:cNvSpPr>
          <p:nvPr>
            <p:ph type="sldNum" sz="quarter" idx="10"/>
          </p:nvPr>
        </p:nvSpPr>
        <p:spPr/>
        <p:txBody>
          <a:bodyPr/>
          <a:lstStyle/>
          <a:p>
            <a:fld id="{022E43C0-6795-4B13-B37C-259C826D4B6A}" type="slidenum">
              <a:rPr kumimoji="1" lang="ja-JP" altLang="en-US" smtClean="0"/>
              <a:t>3</a:t>
            </a:fld>
            <a:endParaRPr kumimoji="1" lang="ja-JP" altLang="en-US"/>
          </a:p>
        </p:txBody>
      </p:sp>
    </p:spTree>
    <p:extLst>
      <p:ext uri="{BB962C8B-B14F-4D97-AF65-F5344CB8AC3E}">
        <p14:creationId xmlns:p14="http://schemas.microsoft.com/office/powerpoint/2010/main" val="27379868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866AA4-1AC1-0B6A-8DD3-54899EB2E28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F4BF6DE-3BFF-29D8-3037-FBBE63C7FD8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B3F9493-7009-9A31-DAE6-BB1112CC20A3}"/>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D6E5153-623E-955A-9E75-0EA3C02F1D85}"/>
              </a:ext>
            </a:extLst>
          </p:cNvPr>
          <p:cNvSpPr>
            <a:spLocks noGrp="1"/>
          </p:cNvSpPr>
          <p:nvPr>
            <p:ph type="sldNum" sz="quarter" idx="10"/>
          </p:nvPr>
        </p:nvSpPr>
        <p:spPr/>
        <p:txBody>
          <a:bodyPr/>
          <a:lstStyle/>
          <a:p>
            <a:fld id="{022E43C0-6795-4B13-B37C-259C826D4B6A}" type="slidenum">
              <a:rPr kumimoji="1" lang="ja-JP" altLang="en-US" smtClean="0"/>
              <a:t>4</a:t>
            </a:fld>
            <a:endParaRPr kumimoji="1" lang="ja-JP" altLang="en-US"/>
          </a:p>
        </p:txBody>
      </p:sp>
    </p:spTree>
    <p:extLst>
      <p:ext uri="{BB962C8B-B14F-4D97-AF65-F5344CB8AC3E}">
        <p14:creationId xmlns:p14="http://schemas.microsoft.com/office/powerpoint/2010/main" val="2027802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15D0A-BA72-DE45-32FA-363803F140C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7D2F8A3-D4B3-B9E6-A613-A157696B87F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33FBD4A-B575-3375-091A-F6A24B5A9BD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CAEAEB9-E37C-569F-CBB7-45D65E2A0906}"/>
              </a:ext>
            </a:extLst>
          </p:cNvPr>
          <p:cNvSpPr>
            <a:spLocks noGrp="1"/>
          </p:cNvSpPr>
          <p:nvPr>
            <p:ph type="sldNum" sz="quarter" idx="10"/>
          </p:nvPr>
        </p:nvSpPr>
        <p:spPr/>
        <p:txBody>
          <a:bodyPr/>
          <a:lstStyle/>
          <a:p>
            <a:fld id="{022E43C0-6795-4B13-B37C-259C826D4B6A}" type="slidenum">
              <a:rPr kumimoji="1" lang="ja-JP" altLang="en-US" smtClean="0"/>
              <a:t>5</a:t>
            </a:fld>
            <a:endParaRPr kumimoji="1" lang="ja-JP" altLang="en-US"/>
          </a:p>
        </p:txBody>
      </p:sp>
    </p:spTree>
    <p:extLst>
      <p:ext uri="{BB962C8B-B14F-4D97-AF65-F5344CB8AC3E}">
        <p14:creationId xmlns:p14="http://schemas.microsoft.com/office/powerpoint/2010/main" val="11238476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2B3E24-A18E-3FB1-1BEB-F78B7876B61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3BD67E3-1B96-BBBF-6E58-9F584C1E421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415CA0F-593B-424A-AB1E-372C80A5306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DC1FAE7-9B14-4C23-B5D8-2C06D3E82C52}"/>
              </a:ext>
            </a:extLst>
          </p:cNvPr>
          <p:cNvSpPr>
            <a:spLocks noGrp="1"/>
          </p:cNvSpPr>
          <p:nvPr>
            <p:ph type="sldNum" sz="quarter" idx="10"/>
          </p:nvPr>
        </p:nvSpPr>
        <p:spPr/>
        <p:txBody>
          <a:bodyPr/>
          <a:lstStyle/>
          <a:p>
            <a:fld id="{022E43C0-6795-4B13-B37C-259C826D4B6A}" type="slidenum">
              <a:rPr kumimoji="1" lang="ja-JP" altLang="en-US" smtClean="0"/>
              <a:t>6</a:t>
            </a:fld>
            <a:endParaRPr kumimoji="1" lang="ja-JP" altLang="en-US"/>
          </a:p>
        </p:txBody>
      </p:sp>
    </p:spTree>
    <p:extLst>
      <p:ext uri="{BB962C8B-B14F-4D97-AF65-F5344CB8AC3E}">
        <p14:creationId xmlns:p14="http://schemas.microsoft.com/office/powerpoint/2010/main" val="40534932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068803-9F0E-9C31-9560-2094718579F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09DBAC0-C8E1-8C5B-7FC3-E2F967DE37D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C9E6ECD-81E8-9621-C097-7F38D3F575C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0567096-EE1C-9444-DCCA-A268D8AAC4E0}"/>
              </a:ext>
            </a:extLst>
          </p:cNvPr>
          <p:cNvSpPr>
            <a:spLocks noGrp="1"/>
          </p:cNvSpPr>
          <p:nvPr>
            <p:ph type="sldNum" sz="quarter" idx="10"/>
          </p:nvPr>
        </p:nvSpPr>
        <p:spPr/>
        <p:txBody>
          <a:bodyPr/>
          <a:lstStyle/>
          <a:p>
            <a:fld id="{022E43C0-6795-4B13-B37C-259C826D4B6A}" type="slidenum">
              <a:rPr kumimoji="1" lang="ja-JP" altLang="en-US" smtClean="0"/>
              <a:t>7</a:t>
            </a:fld>
            <a:endParaRPr kumimoji="1" lang="ja-JP" altLang="en-US"/>
          </a:p>
        </p:txBody>
      </p:sp>
    </p:spTree>
    <p:extLst>
      <p:ext uri="{BB962C8B-B14F-4D97-AF65-F5344CB8AC3E}">
        <p14:creationId xmlns:p14="http://schemas.microsoft.com/office/powerpoint/2010/main" val="16860848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2B93DA-F068-C7F5-5FEB-7A94DD8867B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0B680EF-CF86-D787-518D-CA5960A5648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DA54E59-6FD5-42C5-308A-B0701935BFB7}"/>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4931D7D-5F42-F5B5-3683-5A2F0031C5B6}"/>
              </a:ext>
            </a:extLst>
          </p:cNvPr>
          <p:cNvSpPr>
            <a:spLocks noGrp="1"/>
          </p:cNvSpPr>
          <p:nvPr>
            <p:ph type="sldNum" sz="quarter" idx="10"/>
          </p:nvPr>
        </p:nvSpPr>
        <p:spPr/>
        <p:txBody>
          <a:bodyPr/>
          <a:lstStyle/>
          <a:p>
            <a:fld id="{022E43C0-6795-4B13-B37C-259C826D4B6A}" type="slidenum">
              <a:rPr kumimoji="1" lang="ja-JP" altLang="en-US" smtClean="0"/>
              <a:t>8</a:t>
            </a:fld>
            <a:endParaRPr kumimoji="1" lang="ja-JP" altLang="en-US"/>
          </a:p>
        </p:txBody>
      </p:sp>
    </p:spTree>
    <p:extLst>
      <p:ext uri="{BB962C8B-B14F-4D97-AF65-F5344CB8AC3E}">
        <p14:creationId xmlns:p14="http://schemas.microsoft.com/office/powerpoint/2010/main" val="21802663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0F8966-D000-6EA3-BAC7-8246A8124FB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03751AD-7833-5352-F3CD-93BF48718DA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3713479-1F1B-7F88-B85D-7A35CA426505}"/>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CD17977F-8BEB-2B1C-1C7A-1D7AA1F05039}"/>
              </a:ext>
            </a:extLst>
          </p:cNvPr>
          <p:cNvSpPr>
            <a:spLocks noGrp="1"/>
          </p:cNvSpPr>
          <p:nvPr>
            <p:ph type="sldNum" sz="quarter" idx="10"/>
          </p:nvPr>
        </p:nvSpPr>
        <p:spPr/>
        <p:txBody>
          <a:bodyPr/>
          <a:lstStyle/>
          <a:p>
            <a:fld id="{022E43C0-6795-4B13-B37C-259C826D4B6A}" type="slidenum">
              <a:rPr kumimoji="1" lang="ja-JP" altLang="en-US" smtClean="0"/>
              <a:t>9</a:t>
            </a:fld>
            <a:endParaRPr kumimoji="1" lang="ja-JP" altLang="en-US"/>
          </a:p>
        </p:txBody>
      </p:sp>
    </p:spTree>
    <p:extLst>
      <p:ext uri="{BB962C8B-B14F-4D97-AF65-F5344CB8AC3E}">
        <p14:creationId xmlns:p14="http://schemas.microsoft.com/office/powerpoint/2010/main" val="42789626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A4272-5DA9-3CCF-23F3-9466DBC1B84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AFD5C72-277A-86ED-D54E-FE626540E2B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F71F2ED-0463-0DB8-0277-A35A864B316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1D54FEC3-6CD7-0B2F-7F8F-E9EA265B8458}"/>
              </a:ext>
            </a:extLst>
          </p:cNvPr>
          <p:cNvSpPr>
            <a:spLocks noGrp="1"/>
          </p:cNvSpPr>
          <p:nvPr>
            <p:ph type="sldNum" sz="quarter" idx="10"/>
          </p:nvPr>
        </p:nvSpPr>
        <p:spPr/>
        <p:txBody>
          <a:bodyPr/>
          <a:lstStyle/>
          <a:p>
            <a:fld id="{022E43C0-6795-4B13-B37C-259C826D4B6A}" type="slidenum">
              <a:rPr kumimoji="1" lang="ja-JP" altLang="en-US" smtClean="0"/>
              <a:t>10</a:t>
            </a:fld>
            <a:endParaRPr kumimoji="1" lang="ja-JP" altLang="en-US"/>
          </a:p>
        </p:txBody>
      </p:sp>
    </p:spTree>
    <p:extLst>
      <p:ext uri="{BB962C8B-B14F-4D97-AF65-F5344CB8AC3E}">
        <p14:creationId xmlns:p14="http://schemas.microsoft.com/office/powerpoint/2010/main" val="35530082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E720E-DA68-EF51-102C-8A8F426BC2A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CF3953B-7C5E-F4EE-4A6B-ED8A375555F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1937431-13FD-3E05-9A43-DCB7C90B899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2A18B0F-EA65-28D1-0695-DBC0FCD085B9}"/>
              </a:ext>
            </a:extLst>
          </p:cNvPr>
          <p:cNvSpPr>
            <a:spLocks noGrp="1"/>
          </p:cNvSpPr>
          <p:nvPr>
            <p:ph type="sldNum" sz="quarter" idx="10"/>
          </p:nvPr>
        </p:nvSpPr>
        <p:spPr/>
        <p:txBody>
          <a:bodyPr/>
          <a:lstStyle/>
          <a:p>
            <a:fld id="{022E43C0-6795-4B13-B37C-259C826D4B6A}" type="slidenum">
              <a:rPr kumimoji="1" lang="ja-JP" altLang="en-US" smtClean="0"/>
              <a:t>11</a:t>
            </a:fld>
            <a:endParaRPr kumimoji="1" lang="ja-JP" altLang="en-US"/>
          </a:p>
        </p:txBody>
      </p:sp>
    </p:spTree>
    <p:extLst>
      <p:ext uri="{BB962C8B-B14F-4D97-AF65-F5344CB8AC3E}">
        <p14:creationId xmlns:p14="http://schemas.microsoft.com/office/powerpoint/2010/main" val="5089330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1E9D4-0876-C25C-8529-8B74AB559B8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CF43F49-5B7A-3752-251E-82690E66FE6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5863D13-39F9-D392-9C29-D9EAD3D1EA4D}"/>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73CE111-A992-AC9F-119C-E1210F4D3DD7}"/>
              </a:ext>
            </a:extLst>
          </p:cNvPr>
          <p:cNvSpPr>
            <a:spLocks noGrp="1"/>
          </p:cNvSpPr>
          <p:nvPr>
            <p:ph type="sldNum" sz="quarter" idx="10"/>
          </p:nvPr>
        </p:nvSpPr>
        <p:spPr/>
        <p:txBody>
          <a:bodyPr/>
          <a:lstStyle/>
          <a:p>
            <a:fld id="{022E43C0-6795-4B13-B37C-259C826D4B6A}" type="slidenum">
              <a:rPr kumimoji="1" lang="ja-JP" altLang="en-US" smtClean="0"/>
              <a:t>13</a:t>
            </a:fld>
            <a:endParaRPr kumimoji="1" lang="ja-JP" altLang="en-US"/>
          </a:p>
        </p:txBody>
      </p:sp>
    </p:spTree>
    <p:extLst>
      <p:ext uri="{BB962C8B-B14F-4D97-AF65-F5344CB8AC3E}">
        <p14:creationId xmlns:p14="http://schemas.microsoft.com/office/powerpoint/2010/main" val="18865823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A3B6B0-6587-3186-12B6-A952A7A5D12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DBB0FD4-EC87-837C-B6C4-420DF35669C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70D00E3-9072-6B26-2C54-100B09DEBA1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BF5CD577-5D30-A22F-CC79-63E4DE657085}"/>
              </a:ext>
            </a:extLst>
          </p:cNvPr>
          <p:cNvSpPr>
            <a:spLocks noGrp="1"/>
          </p:cNvSpPr>
          <p:nvPr>
            <p:ph type="sldNum" sz="quarter" idx="10"/>
          </p:nvPr>
        </p:nvSpPr>
        <p:spPr/>
        <p:txBody>
          <a:bodyPr/>
          <a:lstStyle/>
          <a:p>
            <a:fld id="{022E43C0-6795-4B13-B37C-259C826D4B6A}" type="slidenum">
              <a:rPr kumimoji="1" lang="ja-JP" altLang="en-US" smtClean="0"/>
              <a:t>14</a:t>
            </a:fld>
            <a:endParaRPr kumimoji="1" lang="ja-JP" altLang="en-US"/>
          </a:p>
        </p:txBody>
      </p:sp>
    </p:spTree>
    <p:extLst>
      <p:ext uri="{BB962C8B-B14F-4D97-AF65-F5344CB8AC3E}">
        <p14:creationId xmlns:p14="http://schemas.microsoft.com/office/powerpoint/2010/main" val="32093741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7FF2DF-2549-03DE-BF99-3816DBF1427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608DAE1-5EDB-4906-5B89-172988954E2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AF08AA4-BBDC-950C-3480-F13DD87CF933}"/>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572BACB-FF67-5073-CAB4-B7DC30D31CAB}"/>
              </a:ext>
            </a:extLst>
          </p:cNvPr>
          <p:cNvSpPr>
            <a:spLocks noGrp="1"/>
          </p:cNvSpPr>
          <p:nvPr>
            <p:ph type="sldNum" sz="quarter" idx="10"/>
          </p:nvPr>
        </p:nvSpPr>
        <p:spPr/>
        <p:txBody>
          <a:bodyPr/>
          <a:lstStyle/>
          <a:p>
            <a:fld id="{022E43C0-6795-4B13-B37C-259C826D4B6A}" type="slidenum">
              <a:rPr kumimoji="1" lang="ja-JP" altLang="en-US" smtClean="0"/>
              <a:t>15</a:t>
            </a:fld>
            <a:endParaRPr kumimoji="1" lang="ja-JP" altLang="en-US"/>
          </a:p>
        </p:txBody>
      </p:sp>
    </p:spTree>
    <p:extLst>
      <p:ext uri="{BB962C8B-B14F-4D97-AF65-F5344CB8AC3E}">
        <p14:creationId xmlns:p14="http://schemas.microsoft.com/office/powerpoint/2010/main" val="28182318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061853-A06F-5F84-C9BD-FD3C831F106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18F11A9-3277-9CCC-6B16-F30C009E900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02EAD73-C8B8-7737-AAA7-B04564EA1AC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D3FC8CC-7C65-1140-F528-0EC0756BD55C}"/>
              </a:ext>
            </a:extLst>
          </p:cNvPr>
          <p:cNvSpPr>
            <a:spLocks noGrp="1"/>
          </p:cNvSpPr>
          <p:nvPr>
            <p:ph type="sldNum" sz="quarter" idx="10"/>
          </p:nvPr>
        </p:nvSpPr>
        <p:spPr/>
        <p:txBody>
          <a:bodyPr/>
          <a:lstStyle/>
          <a:p>
            <a:fld id="{022E43C0-6795-4B13-B37C-259C826D4B6A}" type="slidenum">
              <a:rPr kumimoji="1" lang="ja-JP" altLang="en-US" smtClean="0"/>
              <a:t>16</a:t>
            </a:fld>
            <a:endParaRPr kumimoji="1" lang="ja-JP" altLang="en-US"/>
          </a:p>
        </p:txBody>
      </p:sp>
    </p:spTree>
    <p:extLst>
      <p:ext uri="{BB962C8B-B14F-4D97-AF65-F5344CB8AC3E}">
        <p14:creationId xmlns:p14="http://schemas.microsoft.com/office/powerpoint/2010/main" val="28049444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B192C0-1B1B-AD3F-B0C2-F33DAD8A2DF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133AE9E-C7C9-D146-DD36-5849B111FD7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58A3C9A-42D2-B5D7-5F81-0F1CAB8FD4B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11D8EFF-3CFC-7207-CD2B-A2DC20DEDF1D}"/>
              </a:ext>
            </a:extLst>
          </p:cNvPr>
          <p:cNvSpPr>
            <a:spLocks noGrp="1"/>
          </p:cNvSpPr>
          <p:nvPr>
            <p:ph type="sldNum" sz="quarter" idx="10"/>
          </p:nvPr>
        </p:nvSpPr>
        <p:spPr/>
        <p:txBody>
          <a:bodyPr/>
          <a:lstStyle/>
          <a:p>
            <a:fld id="{022E43C0-6795-4B13-B37C-259C826D4B6A}" type="slidenum">
              <a:rPr kumimoji="1" lang="ja-JP" altLang="en-US" smtClean="0"/>
              <a:t>20</a:t>
            </a:fld>
            <a:endParaRPr kumimoji="1" lang="ja-JP" altLang="en-US"/>
          </a:p>
        </p:txBody>
      </p:sp>
    </p:spTree>
    <p:extLst>
      <p:ext uri="{BB962C8B-B14F-4D97-AF65-F5344CB8AC3E}">
        <p14:creationId xmlns:p14="http://schemas.microsoft.com/office/powerpoint/2010/main" val="33123719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E0D83-D1C7-371D-612C-5E2B8A2DC5D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24F9AF6-8FF2-E4BE-9495-E434005E973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7C3C1C0-5C88-C938-5991-AFEF7FA0B541}"/>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6B98213-D486-73D4-8B33-4E68F0DB5A42}"/>
              </a:ext>
            </a:extLst>
          </p:cNvPr>
          <p:cNvSpPr>
            <a:spLocks noGrp="1"/>
          </p:cNvSpPr>
          <p:nvPr>
            <p:ph type="sldNum" sz="quarter" idx="10"/>
          </p:nvPr>
        </p:nvSpPr>
        <p:spPr/>
        <p:txBody>
          <a:bodyPr/>
          <a:lstStyle/>
          <a:p>
            <a:fld id="{022E43C0-6795-4B13-B37C-259C826D4B6A}" type="slidenum">
              <a:rPr kumimoji="1" lang="ja-JP" altLang="en-US" smtClean="0"/>
              <a:t>21</a:t>
            </a:fld>
            <a:endParaRPr kumimoji="1" lang="ja-JP" altLang="en-US"/>
          </a:p>
        </p:txBody>
      </p:sp>
    </p:spTree>
    <p:extLst>
      <p:ext uri="{BB962C8B-B14F-4D97-AF65-F5344CB8AC3E}">
        <p14:creationId xmlns:p14="http://schemas.microsoft.com/office/powerpoint/2010/main" val="8092732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D4971-08F2-4B39-6251-91FF17C71A5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2A3A369-82C3-3BA3-1453-124787BB830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D260C15-0FB7-94D9-5A66-FACADA45FA2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CF967B2E-769F-AAB3-0187-A5DBA3C1F9EE}"/>
              </a:ext>
            </a:extLst>
          </p:cNvPr>
          <p:cNvSpPr>
            <a:spLocks noGrp="1"/>
          </p:cNvSpPr>
          <p:nvPr>
            <p:ph type="sldNum" sz="quarter" idx="10"/>
          </p:nvPr>
        </p:nvSpPr>
        <p:spPr/>
        <p:txBody>
          <a:bodyPr/>
          <a:lstStyle/>
          <a:p>
            <a:fld id="{022E43C0-6795-4B13-B37C-259C826D4B6A}" type="slidenum">
              <a:rPr kumimoji="1" lang="ja-JP" altLang="en-US" smtClean="0"/>
              <a:t>22</a:t>
            </a:fld>
            <a:endParaRPr kumimoji="1" lang="ja-JP" altLang="en-US"/>
          </a:p>
        </p:txBody>
      </p:sp>
    </p:spTree>
    <p:extLst>
      <p:ext uri="{BB962C8B-B14F-4D97-AF65-F5344CB8AC3E}">
        <p14:creationId xmlns:p14="http://schemas.microsoft.com/office/powerpoint/2010/main" val="6557338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58EC97-39D9-E5D0-9E35-FF17E8EF288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5F0D4AD-6A7D-C0A6-AF78-D64A5A03BC0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89205B9-3B2F-6D1D-76E7-8AEC50707A8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A59932D-C299-8379-9E3A-2A2E77C4AB13}"/>
              </a:ext>
            </a:extLst>
          </p:cNvPr>
          <p:cNvSpPr>
            <a:spLocks noGrp="1"/>
          </p:cNvSpPr>
          <p:nvPr>
            <p:ph type="sldNum" sz="quarter" idx="10"/>
          </p:nvPr>
        </p:nvSpPr>
        <p:spPr/>
        <p:txBody>
          <a:bodyPr/>
          <a:lstStyle/>
          <a:p>
            <a:fld id="{022E43C0-6795-4B13-B37C-259C826D4B6A}" type="slidenum">
              <a:rPr kumimoji="1" lang="ja-JP" altLang="en-US" smtClean="0"/>
              <a:t>23</a:t>
            </a:fld>
            <a:endParaRPr kumimoji="1" lang="ja-JP" altLang="en-US"/>
          </a:p>
        </p:txBody>
      </p:sp>
    </p:spTree>
    <p:extLst>
      <p:ext uri="{BB962C8B-B14F-4D97-AF65-F5344CB8AC3E}">
        <p14:creationId xmlns:p14="http://schemas.microsoft.com/office/powerpoint/2010/main" val="264228422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D0DA80-4FFC-BE6A-0F8C-9D3C51A14AD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D3592DA-D539-E02E-8A31-2B4B05FAC6D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BA2163B-5447-527F-4607-2F8C469E7B2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B0AEB180-59BA-CD0E-B3CD-681F6E4331A8}"/>
              </a:ext>
            </a:extLst>
          </p:cNvPr>
          <p:cNvSpPr>
            <a:spLocks noGrp="1"/>
          </p:cNvSpPr>
          <p:nvPr>
            <p:ph type="sldNum" sz="quarter" idx="10"/>
          </p:nvPr>
        </p:nvSpPr>
        <p:spPr/>
        <p:txBody>
          <a:bodyPr/>
          <a:lstStyle/>
          <a:p>
            <a:fld id="{022E43C0-6795-4B13-B37C-259C826D4B6A}" type="slidenum">
              <a:rPr kumimoji="1" lang="ja-JP" altLang="en-US" smtClean="0"/>
              <a:t>24</a:t>
            </a:fld>
            <a:endParaRPr kumimoji="1" lang="ja-JP" altLang="en-US"/>
          </a:p>
        </p:txBody>
      </p:sp>
    </p:spTree>
    <p:extLst>
      <p:ext uri="{BB962C8B-B14F-4D97-AF65-F5344CB8AC3E}">
        <p14:creationId xmlns:p14="http://schemas.microsoft.com/office/powerpoint/2010/main" val="26265401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3D34F8-D5DE-5179-FB63-ACF6B24F946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8ED13EE-96CF-E04C-89AF-5315DD6E5C8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9A78F30-2C87-75E8-2A08-D40FBB1058E1}"/>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B0E083C2-6F16-0966-8829-EE2A75C429A5}"/>
              </a:ext>
            </a:extLst>
          </p:cNvPr>
          <p:cNvSpPr>
            <a:spLocks noGrp="1"/>
          </p:cNvSpPr>
          <p:nvPr>
            <p:ph type="sldNum" sz="quarter" idx="10"/>
          </p:nvPr>
        </p:nvSpPr>
        <p:spPr/>
        <p:txBody>
          <a:bodyPr/>
          <a:lstStyle/>
          <a:p>
            <a:fld id="{022E43C0-6795-4B13-B37C-259C826D4B6A}" type="slidenum">
              <a:rPr kumimoji="1" lang="ja-JP" altLang="en-US" smtClean="0"/>
              <a:t>25</a:t>
            </a:fld>
            <a:endParaRPr kumimoji="1" lang="ja-JP" altLang="en-US"/>
          </a:p>
        </p:txBody>
      </p:sp>
    </p:spTree>
    <p:extLst>
      <p:ext uri="{BB962C8B-B14F-4D97-AF65-F5344CB8AC3E}">
        <p14:creationId xmlns:p14="http://schemas.microsoft.com/office/powerpoint/2010/main" val="372253466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06C9A2-E4AC-C61B-66CE-46E597D4701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41A5492-F3BD-D4EC-3E43-F8324C031E8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425DF75-FC25-81EF-5110-9702A79930C4}"/>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3D426DDF-F568-D18F-F35E-DAF91882FDC6}"/>
              </a:ext>
            </a:extLst>
          </p:cNvPr>
          <p:cNvSpPr>
            <a:spLocks noGrp="1"/>
          </p:cNvSpPr>
          <p:nvPr>
            <p:ph type="sldNum" sz="quarter" idx="10"/>
          </p:nvPr>
        </p:nvSpPr>
        <p:spPr/>
        <p:txBody>
          <a:bodyPr/>
          <a:lstStyle/>
          <a:p>
            <a:fld id="{022E43C0-6795-4B13-B37C-259C826D4B6A}" type="slidenum">
              <a:rPr kumimoji="1" lang="ja-JP" altLang="en-US" smtClean="0"/>
              <a:t>26</a:t>
            </a:fld>
            <a:endParaRPr kumimoji="1" lang="ja-JP" altLang="en-US"/>
          </a:p>
        </p:txBody>
      </p:sp>
    </p:spTree>
    <p:extLst>
      <p:ext uri="{BB962C8B-B14F-4D97-AF65-F5344CB8AC3E}">
        <p14:creationId xmlns:p14="http://schemas.microsoft.com/office/powerpoint/2010/main" val="165233540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87073-46E4-97E2-AA29-34C04E4216C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716C4E1-C336-7022-85BD-D0261416B80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2802BD2-A4F7-3ACB-C314-CC3BD50FC00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5C9B1FE-F22D-0B70-94D0-AC959C46242D}"/>
              </a:ext>
            </a:extLst>
          </p:cNvPr>
          <p:cNvSpPr>
            <a:spLocks noGrp="1"/>
          </p:cNvSpPr>
          <p:nvPr>
            <p:ph type="sldNum" sz="quarter" idx="10"/>
          </p:nvPr>
        </p:nvSpPr>
        <p:spPr/>
        <p:txBody>
          <a:bodyPr/>
          <a:lstStyle/>
          <a:p>
            <a:fld id="{022E43C0-6795-4B13-B37C-259C826D4B6A}" type="slidenum">
              <a:rPr kumimoji="1" lang="ja-JP" altLang="en-US" smtClean="0"/>
              <a:t>27</a:t>
            </a:fld>
            <a:endParaRPr kumimoji="1" lang="ja-JP" altLang="en-US"/>
          </a:p>
        </p:txBody>
      </p:sp>
    </p:spTree>
    <p:extLst>
      <p:ext uri="{BB962C8B-B14F-4D97-AF65-F5344CB8AC3E}">
        <p14:creationId xmlns:p14="http://schemas.microsoft.com/office/powerpoint/2010/main" val="288896505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solidFill>
                <a:schemeClr val="tx1">
                  <a:lumMod val="65000"/>
                  <a:lumOff val="35000"/>
                </a:schemeClr>
              </a:solidFill>
            </a:endParaRPr>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42</a:t>
            </a:fld>
            <a:endParaRPr kumimoji="1" lang="ja-JP" altLang="en-US"/>
          </a:p>
        </p:txBody>
      </p:sp>
    </p:spTree>
    <p:extLst>
      <p:ext uri="{BB962C8B-B14F-4D97-AF65-F5344CB8AC3E}">
        <p14:creationId xmlns:p14="http://schemas.microsoft.com/office/powerpoint/2010/main" val="152232489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43</a:t>
            </a:fld>
            <a:endParaRPr kumimoji="1" lang="ja-JP" altLang="en-US"/>
          </a:p>
        </p:txBody>
      </p:sp>
    </p:spTree>
    <p:extLst>
      <p:ext uri="{BB962C8B-B14F-4D97-AF65-F5344CB8AC3E}">
        <p14:creationId xmlns:p14="http://schemas.microsoft.com/office/powerpoint/2010/main" val="183506441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B6ADA-9EE0-91AA-01F0-865797FB336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48D7824-B497-EEC9-3C27-6A309145FC0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893DCE5-B0D5-3EB2-202E-F260807F710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8AE7A32-4756-AD3E-9E41-6DB0BE31AC45}"/>
              </a:ext>
            </a:extLst>
          </p:cNvPr>
          <p:cNvSpPr>
            <a:spLocks noGrp="1"/>
          </p:cNvSpPr>
          <p:nvPr>
            <p:ph type="sldNum" sz="quarter" idx="10"/>
          </p:nvPr>
        </p:nvSpPr>
        <p:spPr/>
        <p:txBody>
          <a:bodyPr/>
          <a:lstStyle/>
          <a:p>
            <a:fld id="{022E43C0-6795-4B13-B37C-259C826D4B6A}" type="slidenum">
              <a:rPr kumimoji="1" lang="ja-JP" altLang="en-US" smtClean="0"/>
              <a:t>44</a:t>
            </a:fld>
            <a:endParaRPr kumimoji="1" lang="ja-JP" altLang="en-US"/>
          </a:p>
        </p:txBody>
      </p:sp>
    </p:spTree>
    <p:extLst>
      <p:ext uri="{BB962C8B-B14F-4D97-AF65-F5344CB8AC3E}">
        <p14:creationId xmlns:p14="http://schemas.microsoft.com/office/powerpoint/2010/main" val="322614683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45</a:t>
            </a:fld>
            <a:endParaRPr kumimoji="1" lang="ja-JP" altLang="en-US"/>
          </a:p>
        </p:txBody>
      </p:sp>
    </p:spTree>
    <p:extLst>
      <p:ext uri="{BB962C8B-B14F-4D97-AF65-F5344CB8AC3E}">
        <p14:creationId xmlns:p14="http://schemas.microsoft.com/office/powerpoint/2010/main" val="371762245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E855B-5535-79F7-D3A0-C0A506787C8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C6FB8FB-0888-2275-ABE8-A13FDAA10E3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D71EA6C-9577-A559-064D-4DE5700FB2F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1C4F904-4503-6BD1-FC32-6AA038134FF0}"/>
              </a:ext>
            </a:extLst>
          </p:cNvPr>
          <p:cNvSpPr>
            <a:spLocks noGrp="1"/>
          </p:cNvSpPr>
          <p:nvPr>
            <p:ph type="sldNum" sz="quarter" idx="10"/>
          </p:nvPr>
        </p:nvSpPr>
        <p:spPr/>
        <p:txBody>
          <a:bodyPr/>
          <a:lstStyle/>
          <a:p>
            <a:fld id="{022E43C0-6795-4B13-B37C-259C826D4B6A}" type="slidenum">
              <a:rPr kumimoji="1" lang="ja-JP" altLang="en-US" smtClean="0"/>
              <a:t>47</a:t>
            </a:fld>
            <a:endParaRPr kumimoji="1" lang="ja-JP" altLang="en-US"/>
          </a:p>
        </p:txBody>
      </p:sp>
    </p:spTree>
    <p:extLst>
      <p:ext uri="{BB962C8B-B14F-4D97-AF65-F5344CB8AC3E}">
        <p14:creationId xmlns:p14="http://schemas.microsoft.com/office/powerpoint/2010/main" val="24795380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48</a:t>
            </a:fld>
            <a:endParaRPr kumimoji="1" lang="ja-JP" altLang="en-US"/>
          </a:p>
        </p:txBody>
      </p:sp>
    </p:spTree>
    <p:extLst>
      <p:ext uri="{BB962C8B-B14F-4D97-AF65-F5344CB8AC3E}">
        <p14:creationId xmlns:p14="http://schemas.microsoft.com/office/powerpoint/2010/main" val="298542484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49</a:t>
            </a:fld>
            <a:endParaRPr kumimoji="1" lang="ja-JP" altLang="en-US"/>
          </a:p>
        </p:txBody>
      </p:sp>
    </p:spTree>
    <p:extLst>
      <p:ext uri="{BB962C8B-B14F-4D97-AF65-F5344CB8AC3E}">
        <p14:creationId xmlns:p14="http://schemas.microsoft.com/office/powerpoint/2010/main" val="237052644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BED428-D571-14FF-D396-D7175DA0FB5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271AB2A-80AE-D1AA-E70B-86CDF935054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C0C2926-5D95-6624-6AD9-E45C5528979C}"/>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B6DFD87-0439-882A-B65E-9CEE51F20332}"/>
              </a:ext>
            </a:extLst>
          </p:cNvPr>
          <p:cNvSpPr>
            <a:spLocks noGrp="1"/>
          </p:cNvSpPr>
          <p:nvPr>
            <p:ph type="sldNum" sz="quarter" idx="10"/>
          </p:nvPr>
        </p:nvSpPr>
        <p:spPr/>
        <p:txBody>
          <a:bodyPr/>
          <a:lstStyle/>
          <a:p>
            <a:fld id="{022E43C0-6795-4B13-B37C-259C826D4B6A}" type="slidenum">
              <a:rPr kumimoji="1" lang="ja-JP" altLang="en-US" smtClean="0"/>
              <a:t>50</a:t>
            </a:fld>
            <a:endParaRPr kumimoji="1" lang="ja-JP" altLang="en-US"/>
          </a:p>
        </p:txBody>
      </p:sp>
    </p:spTree>
    <p:extLst>
      <p:ext uri="{BB962C8B-B14F-4D97-AF65-F5344CB8AC3E}">
        <p14:creationId xmlns:p14="http://schemas.microsoft.com/office/powerpoint/2010/main" val="110140536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7E86F-A6D1-E87A-0CDF-967B15A6E03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EB2A411-33D2-6528-1C93-D186B198494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6218984-9375-B358-47D3-58B36CCF8DA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1F039DC-7BEC-8764-B0DE-E4A154E5A1A8}"/>
              </a:ext>
            </a:extLst>
          </p:cNvPr>
          <p:cNvSpPr>
            <a:spLocks noGrp="1"/>
          </p:cNvSpPr>
          <p:nvPr>
            <p:ph type="sldNum" sz="quarter" idx="10"/>
          </p:nvPr>
        </p:nvSpPr>
        <p:spPr/>
        <p:txBody>
          <a:bodyPr/>
          <a:lstStyle/>
          <a:p>
            <a:fld id="{022E43C0-6795-4B13-B37C-259C826D4B6A}" type="slidenum">
              <a:rPr kumimoji="1" lang="ja-JP" altLang="en-US" smtClean="0"/>
              <a:t>52</a:t>
            </a:fld>
            <a:endParaRPr kumimoji="1" lang="ja-JP" altLang="en-US"/>
          </a:p>
        </p:txBody>
      </p:sp>
    </p:spTree>
    <p:extLst>
      <p:ext uri="{BB962C8B-B14F-4D97-AF65-F5344CB8AC3E}">
        <p14:creationId xmlns:p14="http://schemas.microsoft.com/office/powerpoint/2010/main" val="239023445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フッター プレースホルダー 3"/>
          <p:cNvSpPr>
            <a:spLocks noGrp="1"/>
          </p:cNvSpPr>
          <p:nvPr>
            <p:ph type="ftr" sz="quarter" idx="10"/>
          </p:nvPr>
        </p:nvSpPr>
        <p:spPr/>
        <p:txBody>
          <a:bodyPr/>
          <a:lstStyle/>
          <a:p>
            <a:pPr defTabSz="956886">
              <a:defRPr/>
            </a:pPr>
            <a:endParaRPr lang="ja-JP" altLang="en-US">
              <a:solidFill>
                <a:prstClr val="black"/>
              </a:solidFill>
              <a:latin typeface="Calibri"/>
              <a:ea typeface="ＭＳ Ｐゴシック" panose="020B0600070205080204" pitchFamily="50" charset="-128"/>
            </a:endParaRPr>
          </a:p>
        </p:txBody>
      </p:sp>
      <p:sp>
        <p:nvSpPr>
          <p:cNvPr id="5" name="スライド番号プレースホルダー 4"/>
          <p:cNvSpPr>
            <a:spLocks noGrp="1"/>
          </p:cNvSpPr>
          <p:nvPr>
            <p:ph type="sldNum" sz="quarter" idx="11"/>
          </p:nvPr>
        </p:nvSpPr>
        <p:spPr/>
        <p:txBody>
          <a:bodyPr/>
          <a:lstStyle/>
          <a:p>
            <a:pPr defTabSz="956886">
              <a:defRPr/>
            </a:pPr>
            <a:fld id="{929202D6-C1F5-472A-A72F-285F233F82C2}" type="slidenum">
              <a:rPr lang="ja-JP" altLang="en-US">
                <a:solidFill>
                  <a:prstClr val="black"/>
                </a:solidFill>
                <a:latin typeface="Calibri"/>
                <a:ea typeface="ＭＳ Ｐゴシック" panose="020B0600070205080204" pitchFamily="50" charset="-128"/>
              </a:rPr>
              <a:pPr defTabSz="956886">
                <a:defRPr/>
              </a:pPr>
              <a:t>63</a:t>
            </a:fld>
            <a:endParaRPr lang="ja-JP" altLang="en-US">
              <a:solidFill>
                <a:prstClr val="black"/>
              </a:solidFill>
              <a:latin typeface="Calibri"/>
              <a:ea typeface="ＭＳ Ｐゴシック" panose="020B0600070205080204" pitchFamily="50" charset="-128"/>
            </a:endParaRPr>
          </a:p>
        </p:txBody>
      </p:sp>
    </p:spTree>
    <p:extLst>
      <p:ext uri="{BB962C8B-B14F-4D97-AF65-F5344CB8AC3E}">
        <p14:creationId xmlns:p14="http://schemas.microsoft.com/office/powerpoint/2010/main" val="37920873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2" name="正方形/長方形 1"/>
          <p:cNvSpPr/>
          <p:nvPr userDrawn="1"/>
        </p:nvSpPr>
        <p:spPr>
          <a:xfrm>
            <a:off x="9398000" y="6591300"/>
            <a:ext cx="419100" cy="2667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58107768"/>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cxnSp>
        <p:nvCxnSpPr>
          <p:cNvPr id="5" name="直線コネクタ 4"/>
          <p:cNvCxnSpPr/>
          <p:nvPr/>
        </p:nvCxnSpPr>
        <p:spPr>
          <a:xfrm>
            <a:off x="0" y="548680"/>
            <a:ext cx="9906000" cy="0"/>
          </a:xfrm>
          <a:prstGeom prst="line">
            <a:avLst/>
          </a:prstGeom>
          <a:ln>
            <a:solidFill>
              <a:srgbClr val="191F54"/>
            </a:solidFill>
          </a:ln>
          <a:effectLst/>
        </p:spPr>
        <p:style>
          <a:lnRef idx="2">
            <a:schemeClr val="accent1"/>
          </a:lnRef>
          <a:fillRef idx="0">
            <a:schemeClr val="accent1"/>
          </a:fillRef>
          <a:effectRef idx="1">
            <a:schemeClr val="accent1"/>
          </a:effectRef>
          <a:fontRef idx="minor">
            <a:schemeClr val="tx1"/>
          </a:fontRef>
        </p:style>
      </p:cxnSp>
      <p:sp>
        <p:nvSpPr>
          <p:cNvPr id="7" name="正方形/長方形 6"/>
          <p:cNvSpPr/>
          <p:nvPr/>
        </p:nvSpPr>
        <p:spPr>
          <a:xfrm>
            <a:off x="0" y="0"/>
            <a:ext cx="451204"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Tree>
    <p:extLst>
      <p:ext uri="{BB962C8B-B14F-4D97-AF65-F5344CB8AC3E}">
        <p14:creationId xmlns:p14="http://schemas.microsoft.com/office/powerpoint/2010/main" val="1958189266"/>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521234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png"/><Relationship Id="rId6"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3.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図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1357" y="72255"/>
            <a:ext cx="1598627" cy="424153"/>
          </a:xfrm>
          <a:prstGeom prst="rect">
            <a:avLst/>
          </a:prstGeom>
        </p:spPr>
      </p:pic>
      <p:pic>
        <p:nvPicPr>
          <p:cNvPr id="5" name="図 4"/>
          <p:cNvPicPr>
            <a:picLocks noChangeAspect="1"/>
          </p:cNvPicPr>
          <p:nvPr/>
        </p:nvPicPr>
        <p:blipFill>
          <a:blip r:embed="rId6"/>
          <a:stretch>
            <a:fillRect/>
          </a:stretch>
        </p:blipFill>
        <p:spPr>
          <a:xfrm>
            <a:off x="8151355" y="32333"/>
            <a:ext cx="1653069" cy="635796"/>
          </a:xfrm>
          <a:prstGeom prst="rect">
            <a:avLst/>
          </a:prstGeom>
        </p:spPr>
      </p:pic>
      <p:sp>
        <p:nvSpPr>
          <p:cNvPr id="6" name="正方形/長方形 5"/>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
        <p:nvSpPr>
          <p:cNvPr id="8" name="スライド番号プレースホルダ 1"/>
          <p:cNvSpPr txBox="1">
            <a:spLocks/>
          </p:cNvSpPr>
          <p:nvPr/>
        </p:nvSpPr>
        <p:spPr>
          <a:xfrm>
            <a:off x="7594600" y="6552729"/>
            <a:ext cx="2311400" cy="365125"/>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b="1"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pPr algn="r"/>
              <a:t>‹#›</a:t>
            </a:fld>
            <a:endParaRPr lang="ja-JP" altLang="en-US" sz="14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p:cNvSpPr txBox="1">
            <a:spLocks noChangeArrowheads="1"/>
          </p:cNvSpPr>
          <p:nvPr userDrawn="1"/>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schemeClr val="bg1"/>
                </a:solidFill>
                <a:latin typeface="メイリオ"/>
                <a:ea typeface="メイリオ"/>
                <a:cs typeface="メイリオ"/>
              </a:rPr>
              <a:t>Copyright(c) DYM Co., Ltd</a:t>
            </a:r>
            <a:r>
              <a:rPr lang="ja-JP" altLang="en-US" sz="800" b="1" dirty="0" err="1">
                <a:solidFill>
                  <a:schemeClr val="bg1"/>
                </a:solidFill>
                <a:latin typeface="メイリオ"/>
                <a:ea typeface="メイリオ"/>
                <a:cs typeface="メイリオ"/>
              </a:rPr>
              <a:t>．</a:t>
            </a:r>
            <a:r>
              <a:rPr lang="en-US" altLang="ja-JP" sz="800" b="1" dirty="0">
                <a:solidFill>
                  <a:schemeClr val="bg1"/>
                </a:solidFill>
                <a:latin typeface="メイリオ"/>
                <a:ea typeface="メイリオ"/>
                <a:cs typeface="メイリオ"/>
              </a:rPr>
              <a:t> All Rights Reserved.</a:t>
            </a:r>
          </a:p>
        </p:txBody>
      </p:sp>
    </p:spTree>
    <p:extLst>
      <p:ext uri="{BB962C8B-B14F-4D97-AF65-F5344CB8AC3E}">
        <p14:creationId xmlns:p14="http://schemas.microsoft.com/office/powerpoint/2010/main" val="345870335"/>
      </p:ext>
    </p:extLst>
  </p:cSld>
  <p:clrMap bg1="lt1" tx1="dk1" bg2="lt2" tx2="dk2" accent1="accent1" accent2="accent2" accent3="accent3" accent4="accent4" accent5="accent5" accent6="accent6" hlink="hlink" folHlink="folHlink"/>
  <p:sldLayoutIdLst>
    <p:sldLayoutId id="2147483676" r:id="rId1"/>
    <p:sldLayoutId id="2147483683" r:id="rId2"/>
    <p:sldLayoutId id="2147483689" r:id="rId3"/>
  </p:sldLayoutIdLst>
  <p:hf hdr="0" dt="0"/>
  <p:txStyles>
    <p:titleStyle>
      <a:lvl1pPr algn="ctr" rtl="0" eaLnBrk="1" fontAlgn="base" hangingPunct="1">
        <a:spcBef>
          <a:spcPct val="0"/>
        </a:spcBef>
        <a:spcAft>
          <a:spcPct val="0"/>
        </a:spcAft>
        <a:defRPr kumimoji="1" sz="4400" kern="1200">
          <a:solidFill>
            <a:schemeClr val="tx1"/>
          </a:solidFill>
          <a:latin typeface="+mj-lt"/>
          <a:ea typeface="+mj-ea"/>
          <a:cs typeface="+mj-cs"/>
        </a:defRPr>
      </a:lvl1pPr>
      <a:lvl2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2pPr>
      <a:lvl3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3pPr>
      <a:lvl4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4pPr>
      <a:lvl5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5pPr>
      <a:lvl6pPr marL="4572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6pPr>
      <a:lvl7pPr marL="9144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7pPr>
      <a:lvl8pPr marL="13716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8pPr>
      <a:lvl9pPr marL="18288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9pPr>
    </p:titleStyle>
    <p:bodyStyle>
      <a:lvl1pPr marL="342900" indent="-342900" algn="l" rtl="0" eaLnBrk="1" fontAlgn="base" hangingPunct="1">
        <a:spcBef>
          <a:spcPct val="20000"/>
        </a:spcBef>
        <a:spcAft>
          <a:spcPct val="0"/>
        </a:spcAft>
        <a:buFont typeface="Arial" charset="0"/>
        <a:buChar char="•"/>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正方形/長方形 4"/>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sp>
        <p:nvSpPr>
          <p:cNvPr id="10" name="テキスト ボックス 9"/>
          <p:cNvSpPr txBox="1">
            <a:spLocks noChangeArrowheads="1"/>
          </p:cNvSpPr>
          <p:nvPr/>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prstClr val="white"/>
                </a:solidFill>
                <a:latin typeface="メイリオ"/>
                <a:ea typeface="メイリオ"/>
                <a:cs typeface="メイリオ"/>
              </a:rPr>
              <a:t>Copyright(c) DYM Co., </a:t>
            </a:r>
            <a:r>
              <a:rPr lang="en-US" altLang="ja-JP" sz="800" b="1" dirty="0" err="1">
                <a:solidFill>
                  <a:prstClr val="white"/>
                </a:solidFill>
                <a:latin typeface="メイリオ"/>
                <a:ea typeface="メイリオ"/>
                <a:cs typeface="メイリオ"/>
              </a:rPr>
              <a:t>Ltd.All</a:t>
            </a:r>
            <a:r>
              <a:rPr lang="en-US" altLang="ja-JP" sz="800" b="1" dirty="0">
                <a:solidFill>
                  <a:prstClr val="white"/>
                </a:solidFill>
                <a:latin typeface="メイリオ"/>
                <a:ea typeface="メイリオ"/>
                <a:cs typeface="メイリオ"/>
              </a:rPr>
              <a:t> Rights Reserved.</a:t>
            </a:r>
          </a:p>
        </p:txBody>
      </p:sp>
      <p:sp>
        <p:nvSpPr>
          <p:cNvPr id="8" name="正方形/長方形 7"/>
          <p:cNvSpPr/>
          <p:nvPr/>
        </p:nvSpPr>
        <p:spPr>
          <a:xfrm>
            <a:off x="0" y="0"/>
            <a:ext cx="416496"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cxnSp>
        <p:nvCxnSpPr>
          <p:cNvPr id="4" name="直線コネクタ 3"/>
          <p:cNvCxnSpPr/>
          <p:nvPr/>
        </p:nvCxnSpPr>
        <p:spPr>
          <a:xfrm>
            <a:off x="0" y="548680"/>
            <a:ext cx="9906000" cy="0"/>
          </a:xfrm>
          <a:prstGeom prst="line">
            <a:avLst/>
          </a:prstGeom>
          <a:ln>
            <a:solidFill>
              <a:srgbClr val="00324B"/>
            </a:solidFill>
          </a:ln>
          <a:effectLst/>
        </p:spPr>
        <p:style>
          <a:lnRef idx="2">
            <a:schemeClr val="accent1"/>
          </a:lnRef>
          <a:fillRef idx="0">
            <a:schemeClr val="accent1"/>
          </a:fillRef>
          <a:effectRef idx="1">
            <a:schemeClr val="accent1"/>
          </a:effectRef>
          <a:fontRef idx="minor">
            <a:schemeClr val="tx1"/>
          </a:fontRef>
        </p:style>
      </p:cxnSp>
      <p:pic>
        <p:nvPicPr>
          <p:cNvPr id="9" name="図 1"/>
          <p:cNvPicPr>
            <a:picLocks/>
          </p:cNvPicPr>
          <p:nvPr userDrawn="1"/>
        </p:nvPicPr>
        <p:blipFill rotWithShape="1">
          <a:blip r:embed="rId2" cstate="hqprint">
            <a:extLst>
              <a:ext uri="{28A0092B-C50C-407E-A947-70E740481C1C}">
                <a14:useLocalDpi xmlns:a14="http://schemas.microsoft.com/office/drawing/2010/main" val="0"/>
              </a:ext>
            </a:extLst>
          </a:blip>
          <a:srcRect l="-1647" r="-11171"/>
          <a:stretch/>
        </p:blipFill>
        <p:spPr bwMode="auto">
          <a:xfrm>
            <a:off x="8619408" y="161057"/>
            <a:ext cx="1192729" cy="263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スライド番号プレースホルダ 1"/>
          <p:cNvSpPr txBox="1">
            <a:spLocks/>
          </p:cNvSpPr>
          <p:nvPr userDrawn="1"/>
        </p:nvSpPr>
        <p:spPr>
          <a:xfrm>
            <a:off x="7545288" y="6571255"/>
            <a:ext cx="2133600" cy="216000"/>
          </a:xfrm>
          <a:prstGeom prst="rect">
            <a:avLst/>
          </a:prstGeom>
        </p:spPr>
        <p:txBody>
          <a:bodyPr tIns="2520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i="1" smtClean="0">
                <a:solidFill>
                  <a:prstClr val="white"/>
                </a:solidFill>
                <a:latin typeface="Century Gothic" panose="020B0502020202020204" pitchFamily="34" charset="0"/>
              </a:rPr>
              <a:pPr algn="r"/>
              <a:t>‹#›</a:t>
            </a:fld>
            <a:endParaRPr lang="ja-JP" altLang="en-US" sz="1400" i="1" dirty="0">
              <a:solidFill>
                <a:prstClr val="white"/>
              </a:solidFill>
              <a:latin typeface="Century Gothic" panose="020B0502020202020204" pitchFamily="34" charset="0"/>
            </a:endParaRPr>
          </a:p>
        </p:txBody>
      </p:sp>
    </p:spTree>
    <p:extLst>
      <p:ext uri="{BB962C8B-B14F-4D97-AF65-F5344CB8AC3E}">
        <p14:creationId xmlns:p14="http://schemas.microsoft.com/office/powerpoint/2010/main" val="611138245"/>
      </p:ext>
    </p:extLst>
  </p:cSld>
  <p:clrMap bg1="lt1" tx1="dk1" bg2="lt2" tx2="dk2" accent1="accent1" accent2="accent2" accent3="accent3" accent4="accent4" accent5="accent5" accent6="accent6" hlink="hlink" folHlink="folHlink"/>
  <p:hf hdr="0" dt="0"/>
  <p:txStyles>
    <p:titleStyle>
      <a:lvl1pPr algn="ctr" defTabSz="457200" rtl="0" eaLnBrk="1" fontAlgn="base" hangingPunct="1">
        <a:spcBef>
          <a:spcPct val="0"/>
        </a:spcBef>
        <a:spcAft>
          <a:spcPct val="0"/>
        </a:spcAft>
        <a:defRPr kumimoji="1" sz="4400" kern="1200">
          <a:solidFill>
            <a:schemeClr val="tx1"/>
          </a:solidFill>
          <a:latin typeface="+mj-lt"/>
          <a:ea typeface="+mj-ea"/>
          <a:cs typeface="ＭＳ Ｐゴシック" charset="0"/>
        </a:defRPr>
      </a:lvl1pPr>
      <a:lvl2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2pPr>
      <a:lvl3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3pPr>
      <a:lvl4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4pPr>
      <a:lvl5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5pPr>
      <a:lvl6pPr marL="4572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6pPr>
      <a:lvl7pPr marL="9144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7pPr>
      <a:lvl8pPr marL="13716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8pPr>
      <a:lvl9pPr marL="18288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9pPr>
    </p:titleStyle>
    <p:bodyStyle>
      <a:lvl1pPr marL="342900" indent="-342900" algn="l" defTabSz="457200" rtl="0" eaLnBrk="1" fontAlgn="base" hangingPunct="1">
        <a:spcBef>
          <a:spcPct val="20000"/>
        </a:spcBef>
        <a:spcAft>
          <a:spcPct val="0"/>
        </a:spcAft>
        <a:buFont typeface="Arial" charset="0"/>
        <a:buChar char="•"/>
        <a:defRPr kumimoji="1" sz="3200" kern="1200">
          <a:solidFill>
            <a:schemeClr val="tx1"/>
          </a:solidFill>
          <a:latin typeface="+mn-lt"/>
          <a:ea typeface="+mn-ea"/>
          <a:cs typeface="ＭＳ Ｐゴシック" charset="0"/>
        </a:defRPr>
      </a:lvl1pPr>
      <a:lvl2pPr marL="742950" indent="-285750" algn="l" defTabSz="457200"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defTabSz="457200"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1.png"/><Relationship Id="rId4" Type="http://schemas.openxmlformats.org/officeDocument/2006/relationships/image" Target="../media/image12.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3.jpeg"/><Relationship Id="rId4" Type="http://schemas.openxmlformats.org/officeDocument/2006/relationships/image" Target="../media/image14.jpeg"/><Relationship Id="rId5" Type="http://schemas.openxmlformats.org/officeDocument/2006/relationships/image" Target="../media/image8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19.jpe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image" Target="../media/image2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6.jpeg"/><Relationship Id="rId3" Type="http://schemas.openxmlformats.org/officeDocument/2006/relationships/image" Target="../media/image27.jpeg"/><Relationship Id="rId4"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image" Target="../media/image30.jpeg"/><Relationship Id="rId7" Type="http://schemas.openxmlformats.org/officeDocument/2006/relationships/image" Target="../media/image31.png"/><Relationship Id="rId8" Type="http://schemas.openxmlformats.org/officeDocument/2006/relationships/image" Target="../media/image32.png"/><Relationship Id="rId9" Type="http://schemas.openxmlformats.org/officeDocument/2006/relationships/image" Target="../media/image33.png"/><Relationship Id="rId10" Type="http://schemas.openxmlformats.org/officeDocument/2006/relationships/image" Target="../media/image34.jpe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7.jpeg"/><Relationship Id="rId3" Type="http://schemas.openxmlformats.org/officeDocument/2006/relationships/image" Target="../media/image29.png"/><Relationship Id="rId4" Type="http://schemas.openxmlformats.org/officeDocument/2006/relationships/image" Target="../media/image35.png"/><Relationship Id="rId5" Type="http://schemas.openxmlformats.org/officeDocument/2006/relationships/image" Target="../media/image36.png"/><Relationship Id="rId6" Type="http://schemas.openxmlformats.org/officeDocument/2006/relationships/image" Target="../media/image3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8.png"/><Relationship Id="rId3" Type="http://schemas.openxmlformats.org/officeDocument/2006/relationships/image" Target="../media/image39.png"/><Relationship Id="rId4" Type="http://schemas.openxmlformats.org/officeDocument/2006/relationships/image" Target="../media/image40.png"/><Relationship Id="rId5" Type="http://schemas.openxmlformats.org/officeDocument/2006/relationships/image" Target="../media/image41.png"/><Relationship Id="rId6" Type="http://schemas.openxmlformats.org/officeDocument/2006/relationships/image" Target="../media/image4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44.png"/><Relationship Id="rId4" Type="http://schemas.openxmlformats.org/officeDocument/2006/relationships/image" Target="../media/image45.png"/><Relationship Id="rId5" Type="http://schemas.openxmlformats.org/officeDocument/2006/relationships/image" Target="../media/image46.png"/><Relationship Id="rId6" Type="http://schemas.openxmlformats.org/officeDocument/2006/relationships/image" Target="../media/image47.png"/><Relationship Id="rId7" Type="http://schemas.openxmlformats.org/officeDocument/2006/relationships/image" Target="../media/image48.png"/><Relationship Id="rId8" Type="http://schemas.openxmlformats.org/officeDocument/2006/relationships/image" Target="../media/image49.png"/><Relationship Id="rId9" Type="http://schemas.openxmlformats.org/officeDocument/2006/relationships/image" Target="../media/image50.png"/><Relationship Id="rId10" Type="http://schemas.openxmlformats.org/officeDocument/2006/relationships/image" Target="../media/image5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52.png"/><Relationship Id="rId4" Type="http://schemas.openxmlformats.org/officeDocument/2006/relationships/image" Target="../media/image53.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54.png"/><Relationship Id="rId4" Type="http://schemas.openxmlformats.org/officeDocument/2006/relationships/image" Target="../media/image55.png"/><Relationship Id="rId5" Type="http://schemas.openxmlformats.org/officeDocument/2006/relationships/image" Target="../media/image56.png"/><Relationship Id="rId6" Type="http://schemas.openxmlformats.org/officeDocument/2006/relationships/image" Target="../media/image57.png"/><Relationship Id="rId7" Type="http://schemas.openxmlformats.org/officeDocument/2006/relationships/image" Target="../media/image58.svg"/><Relationship Id="rId8" Type="http://schemas.openxmlformats.org/officeDocument/2006/relationships/image" Target="../media/image59.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60.svg"/><Relationship Id="rId4" Type="http://schemas.openxmlformats.org/officeDocument/2006/relationships/image" Target="../media/image61.svg"/><Relationship Id="rId5" Type="http://schemas.openxmlformats.org/officeDocument/2006/relationships/image" Target="../media/image62.svg"/><Relationship Id="rId6" Type="http://schemas.openxmlformats.org/officeDocument/2006/relationships/image" Target="../media/image63.sv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4.png"/><Relationship Id="rId3" Type="http://schemas.openxmlformats.org/officeDocument/2006/relationships/image" Target="../media/image65.png"/><Relationship Id="rId4" Type="http://schemas.openxmlformats.org/officeDocument/2006/relationships/image" Target="../media/image66.png"/><Relationship Id="rId5" Type="http://schemas.openxmlformats.org/officeDocument/2006/relationships/image" Target="../media/image67.png"/><Relationship Id="rId6" Type="http://schemas.openxmlformats.org/officeDocument/2006/relationships/image" Target="../media/image68.png"/><Relationship Id="rId7" Type="http://schemas.openxmlformats.org/officeDocument/2006/relationships/image" Target="../media/image69.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0.png"/><Relationship Id="rId3" Type="http://schemas.openxmlformats.org/officeDocument/2006/relationships/image" Target="../media/image71.png"/><Relationship Id="rId4" Type="http://schemas.openxmlformats.org/officeDocument/2006/relationships/image" Target="../media/image72.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3.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4.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5.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6.png"/><Relationship Id="rId3" Type="http://schemas.openxmlformats.org/officeDocument/2006/relationships/image" Target="../media/image77.png"/><Relationship Id="rId4" Type="http://schemas.openxmlformats.org/officeDocument/2006/relationships/image" Target="../media/image78.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3.emf"/><Relationship Id="rId4" Type="http://schemas.openxmlformats.org/officeDocument/2006/relationships/image" Target="../media/image79.jpeg"/><Relationship Id="rId5" Type="http://schemas.openxmlformats.org/officeDocument/2006/relationships/image" Target="../media/image80.jpeg"/><Relationship Id="rId6" Type="http://schemas.openxmlformats.org/officeDocument/2006/relationships/image" Target="../media/image81.jpeg"/><Relationship Id="rId7" Type="http://schemas.openxmlformats.org/officeDocument/2006/relationships/image" Target="../media/image82.jpeg"/><Relationship Id="rId8" Type="http://schemas.openxmlformats.org/officeDocument/2006/relationships/image" Target="../media/image8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69A0322D-BA5F-9122-1E12-FB7AC2AF15A5}"/>
              </a:ext>
            </a:extLst>
          </p:cNvPr>
          <p:cNvSpPr/>
          <p:nvPr/>
        </p:nvSpPr>
        <p:spPr>
          <a:xfrm>
            <a:off x="1665887" y="3038203"/>
            <a:ext cx="6574236" cy="584775"/>
          </a:xfrm>
          <a:prstGeom prst="rect">
            <a:avLst/>
          </a:prstGeom>
        </p:spPr>
        <p:txBody>
          <a:bodyPr wrap="none">
            <a:spAutoFit/>
          </a:bodyPr>
          <a:lstStyle/>
          <a:p>
            <a:pPr algn="ctr"/>
            <a:r>
              <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公式アカウント運用のご提案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正方形/長方形 5">
            <a:extLst>
              <a:ext uri="{FF2B5EF4-FFF2-40B4-BE49-F238E27FC236}">
                <a16:creationId xmlns:a16="http://schemas.microsoft.com/office/drawing/2014/main" id="{3CC59398-53B4-E01E-A60C-6C13628FCBFB}"/>
              </a:ext>
            </a:extLst>
          </p:cNvPr>
          <p:cNvSpPr/>
          <p:nvPr/>
        </p:nvSpPr>
        <p:spPr>
          <a:xfrm>
            <a:off x="1613481" y="2331720"/>
            <a:ext cx="6626632" cy="658368"/>
          </a:xfrm>
          <a:prstGeom prst="rect">
            <a:avLst/>
          </a:prstGeom>
        </p:spPr>
        <p:txBody>
          <a:bodyPr wrap="square">
            <a:spAutoFit/>
          </a:bodyPr>
          <a:lstStyle/>
          <a:p>
            <a:pPr algn="ctr"/>
            <a:r>
              <a:rPr lang="ja-JP" altLang="en-US" sz="1600" dirty="0">
                <a:solidFill>
                  <a:schemeClr val="tx1">
                    <a:lumMod val="50000"/>
                    <a:lumOff val="50000"/>
                  </a:schemeClr>
                </a:solidFill>
                <a:latin typeface="メイリオ" panose="020B0604030504040204" pitchFamily="34" charset="-128"/>
                <a:ea typeface="メイリオ" panose="020B0604030504040204" pitchFamily="34" charset="-128"/>
                <a:cs typeface="メイリオ"/>
              </a:rPr>
              <a:t>広告で集めた方をLINEでナーチャリングをし、</a:t>
            </a:r>
          </a:p>
          <a:p>
            <a:pPr algn="ctr"/>
            <a:r>
              <a:rPr lang="ja-JP" altLang="en-US" sz="1600" dirty="0">
                <a:solidFill>
                  <a:schemeClr val="tx1">
                    <a:lumMod val="50000"/>
                    <a:lumOff val="50000"/>
                  </a:schemeClr>
                </a:solidFill>
                <a:latin typeface="メイリオ" panose="020B0604030504040204" pitchFamily="34" charset="-128"/>
                <a:ea typeface="メイリオ" panose="020B0604030504040204" pitchFamily="34" charset="-128"/>
                <a:cs typeface="メイリオ"/>
              </a:rPr>
              <a:t>セミナー参加・入会へ</a:t>
            </a:r>
          </a:p>
        </p:txBody>
      </p:sp>
      <p:cxnSp>
        <p:nvCxnSpPr>
          <p:cNvPr id="5" name="直線コネクタ 4">
            <a:extLst>
              <a:ext uri="{FF2B5EF4-FFF2-40B4-BE49-F238E27FC236}">
                <a16:creationId xmlns:a16="http://schemas.microsoft.com/office/drawing/2014/main" id="{B532C1C8-7FE6-8830-B27C-27941421F5F9}"/>
              </a:ext>
            </a:extLst>
          </p:cNvPr>
          <p:cNvCxnSpPr>
            <a:cxnSpLocks/>
          </p:cNvCxnSpPr>
          <p:nvPr/>
        </p:nvCxnSpPr>
        <p:spPr>
          <a:xfrm>
            <a:off x="1337175" y="3705064"/>
            <a:ext cx="7231660"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9" name="図 8" descr="背景パターン&#10;&#10;AI 生成コンテンツは誤りを含む可能性があります。">
            <a:extLst>
              <a:ext uri="{FF2B5EF4-FFF2-40B4-BE49-F238E27FC236}">
                <a16:creationId xmlns:a16="http://schemas.microsoft.com/office/drawing/2014/main" id="{FFE022E1-8FF6-B4B4-B955-17E7CFA96460}"/>
              </a:ext>
            </a:extLst>
          </p:cNvPr>
          <p:cNvPicPr>
            <a:picLocks noChangeAspect="1"/>
          </p:cNvPicPr>
          <p:nvPr/>
        </p:nvPicPr>
        <p:blipFill>
          <a:blip r:embed="rId2"/>
          <a:stretch>
            <a:fillRect/>
          </a:stretch>
        </p:blipFill>
        <p:spPr>
          <a:xfrm>
            <a:off x="-1" y="0"/>
            <a:ext cx="8159931" cy="766354"/>
          </a:xfrm>
          <a:prstGeom prst="rect">
            <a:avLst/>
          </a:prstGeom>
        </p:spPr>
      </p:pic>
      <p:pic>
        <p:nvPicPr>
          <p:cNvPr id="10" name="図 9" descr="背景パターン&#10;&#10;AI 生成コンテンツは誤りを含む可能性があります。">
            <a:extLst>
              <a:ext uri="{FF2B5EF4-FFF2-40B4-BE49-F238E27FC236}">
                <a16:creationId xmlns:a16="http://schemas.microsoft.com/office/drawing/2014/main" id="{0F2999B3-5873-C495-70F5-12487911C618}"/>
              </a:ext>
            </a:extLst>
          </p:cNvPr>
          <p:cNvPicPr>
            <a:picLocks noChangeAspect="1"/>
          </p:cNvPicPr>
          <p:nvPr/>
        </p:nvPicPr>
        <p:blipFill>
          <a:blip r:embed="rId2"/>
          <a:stretch>
            <a:fillRect/>
          </a:stretch>
        </p:blipFill>
        <p:spPr>
          <a:xfrm>
            <a:off x="7863840" y="494114"/>
            <a:ext cx="2042161" cy="272239"/>
          </a:xfrm>
          <a:prstGeom prst="rect">
            <a:avLst/>
          </a:prstGeom>
        </p:spPr>
      </p:pic>
      <p:sp>
        <p:nvSpPr>
          <p:cNvPr id="7" name="テキスト ボックス 6">
            <a:extLst>
              <a:ext uri="{FF2B5EF4-FFF2-40B4-BE49-F238E27FC236}">
                <a16:creationId xmlns:a16="http://schemas.microsoft.com/office/drawing/2014/main" id="{A461DC58-6517-316F-E5FE-0F7AB1043C43}"/>
              </a:ext>
            </a:extLst>
          </p:cNvPr>
          <p:cNvSpPr txBox="1"/>
          <p:nvPr/>
        </p:nvSpPr>
        <p:spPr>
          <a:xfrm>
            <a:off x="365759" y="216290"/>
            <a:ext cx="5233851" cy="338554"/>
          </a:xfrm>
          <a:prstGeom prst="rect">
            <a:avLst/>
          </a:prstGeom>
          <a:noFill/>
        </p:spPr>
        <p:txBody>
          <a:bodyPr wrap="square">
            <a:spAutoFit/>
          </a:bodyPr>
          <a:lstStyle/>
          <a:p>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株式会社すなおコンサルティング 御中</a:t>
            </a:r>
            <a:endParaRPr lang="ja-JP" altLang="en-US" sz="1050" dirty="0">
              <a:latin typeface="メイリオ"/>
              <a:ea typeface="メイリオ"/>
              <a:cs typeface="メイリオ"/>
            </a:endParaRPr>
          </a:p>
        </p:txBody>
      </p:sp>
    </p:spTree>
    <p:extLst>
      <p:ext uri="{BB962C8B-B14F-4D97-AF65-F5344CB8AC3E}">
        <p14:creationId xmlns:p14="http://schemas.microsoft.com/office/powerpoint/2010/main" val="3944598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6A891A-F874-A527-E24E-39C71E4366CF}"/>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1ADD4630-B4FB-1ED5-AA03-7B456BE4B71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2930638E-A234-B57F-602E-9D9732D57A7B}"/>
              </a:ext>
            </a:extLst>
          </p:cNvPr>
          <p:cNvSpPr/>
          <p:nvPr/>
        </p:nvSpPr>
        <p:spPr>
          <a:xfrm>
            <a:off x="2808841" y="3038203"/>
            <a:ext cx="4288353"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現状ステータスの整理</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6314323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E5221-666F-DE20-B9E8-FDFC607CC22D}"/>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49FC28CD-401F-CB33-EA18-1071AD4C7D1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想定動線</a:t>
            </a:r>
            <a:endParaRPr sz="1600" b="1" dirty="0">
              <a:solidFill>
                <a:srgbClr val="002060"/>
              </a:solidFill>
              <a:latin typeface="メイリオ"/>
              <a:ea typeface="メイリオ"/>
              <a:cs typeface="メイリオ"/>
              <a:sym typeface="Meiryo"/>
            </a:endParaRPr>
          </a:p>
        </p:txBody>
      </p:sp>
      <p:cxnSp>
        <p:nvCxnSpPr>
          <p:cNvPr id="2"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6" name="テキスト ボックス 5">
            <a:extLst>
              <a:ext uri="{FF2B5EF4-FFF2-40B4-BE49-F238E27FC236}">
                <a16:creationId xmlns:a16="http://schemas.microsoft.com/office/drawing/2014/main" id="{EC0D1AEC-5D54-2359-450D-84430B2857C0}"/>
              </a:ext>
            </a:extLst>
          </p:cNvPr>
          <p:cNvSpPr txBox="1"/>
          <p:nvPr/>
        </p:nvSpPr>
        <p:spPr>
          <a:xfrm>
            <a:off x="3542139" y="2019663"/>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⑤ リード有効化</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7" name="テキスト ボックス 6">
            <a:extLst>
              <a:ext uri="{FF2B5EF4-FFF2-40B4-BE49-F238E27FC236}">
                <a16:creationId xmlns:a16="http://schemas.microsoft.com/office/drawing/2014/main" id="{BE746261-2A92-C9B9-6034-451CF233AB9D}"/>
              </a:ext>
            </a:extLst>
          </p:cNvPr>
          <p:cNvSpPr txBox="1"/>
          <p:nvPr/>
        </p:nvSpPr>
        <p:spPr>
          <a:xfrm>
            <a:off x="6119413" y="2428821"/>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⑦マネタイズ</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成約</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購入</a:t>
            </a:r>
            <a:r>
              <a:rPr lang="en-US" altLang="ja-JP" sz="1000" b="1" dirty="0">
                <a:latin typeface="メイリオ" panose="020B0604030504040204" pitchFamily="50" charset="-128"/>
                <a:ea typeface="メイリオ" panose="020B0604030504040204" pitchFamily="50" charset="-128"/>
                <a:cs typeface="メイリオ"/>
              </a:rPr>
              <a:t>)</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8" name="テキスト ボックス 7">
            <a:extLst>
              <a:ext uri="{FF2B5EF4-FFF2-40B4-BE49-F238E27FC236}">
                <a16:creationId xmlns:a16="http://schemas.microsoft.com/office/drawing/2014/main" id="{8948BAF3-ECB9-2FF9-8B0D-50EE1A62E7C4}"/>
              </a:ext>
            </a:extLst>
          </p:cNvPr>
          <p:cNvSpPr txBox="1"/>
          <p:nvPr/>
        </p:nvSpPr>
        <p:spPr>
          <a:xfrm>
            <a:off x="4830776" y="2224242"/>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⑥ 有効リードの再育成</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12" name="テキスト ボックス 11">
            <a:extLst>
              <a:ext uri="{FF2B5EF4-FFF2-40B4-BE49-F238E27FC236}">
                <a16:creationId xmlns:a16="http://schemas.microsoft.com/office/drawing/2014/main" id="{12C4F8BA-6552-4B16-FBC5-C62D2917BFE8}"/>
              </a:ext>
            </a:extLst>
          </p:cNvPr>
          <p:cNvSpPr txBox="1"/>
          <p:nvPr/>
        </p:nvSpPr>
        <p:spPr>
          <a:xfrm>
            <a:off x="2202413" y="2430519"/>
            <a:ext cx="1868111" cy="383023"/>
          </a:xfrm>
          <a:prstGeom prst="rect">
            <a:avLst/>
          </a:prstGeom>
          <a:solidFill>
            <a:srgbClr val="F2F2F2"/>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cs typeface="メイリオ"/>
              </a:rPr>
              <a:t>③ 育成（興味</a:t>
            </a:r>
            <a:r>
              <a:rPr lang="ja-JP" altLang="en-US" sz="1100" b="1" dirty="0">
                <a:latin typeface="メイリオ" panose="020B0604030504040204" pitchFamily="50" charset="-128"/>
                <a:ea typeface="メイリオ" panose="020B0604030504040204" pitchFamily="50" charset="-128"/>
                <a:cs typeface="メイリオ"/>
              </a:rPr>
              <a:t>喚起</a:t>
            </a:r>
            <a:r>
              <a:rPr lang="ja-JP" altLang="ja-JP" sz="1100" b="1" dirty="0">
                <a:latin typeface="メイリオ" panose="020B0604030504040204" pitchFamily="50" charset="-128"/>
                <a:ea typeface="メイリオ" panose="020B0604030504040204" pitchFamily="50" charset="-128"/>
                <a:cs typeface="メイリオ"/>
              </a:rPr>
              <a:t>）</a:t>
            </a:r>
          </a:p>
        </p:txBody>
      </p:sp>
      <p:sp>
        <p:nvSpPr>
          <p:cNvPr id="13" name="テキスト ボックス 12">
            <a:extLst>
              <a:ext uri="{FF2B5EF4-FFF2-40B4-BE49-F238E27FC236}">
                <a16:creationId xmlns:a16="http://schemas.microsoft.com/office/drawing/2014/main" id="{BD16F021-165B-ADE2-A377-D74CBC854B23}"/>
              </a:ext>
            </a:extLst>
          </p:cNvPr>
          <p:cNvSpPr txBox="1"/>
          <p:nvPr/>
        </p:nvSpPr>
        <p:spPr>
          <a:xfrm>
            <a:off x="3136468" y="2626872"/>
            <a:ext cx="1868111" cy="383023"/>
          </a:xfrm>
          <a:prstGeom prst="rect">
            <a:avLst/>
          </a:prstGeom>
          <a:solidFill>
            <a:srgbClr val="F2F2F2"/>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④リード獲得 </a:t>
            </a:r>
            <a:r>
              <a:rPr lang="en-US" altLang="ja-JP" sz="900" b="1" dirty="0">
                <a:latin typeface="メイリオ" panose="020B0604030504040204" pitchFamily="50" charset="-128"/>
                <a:ea typeface="メイリオ" panose="020B0604030504040204" pitchFamily="50" charset="-128"/>
                <a:cs typeface="メイリオ"/>
              </a:rPr>
              <a:t>(web/LINE)</a:t>
            </a:r>
            <a:endParaRPr lang="ja-JP" altLang="ja-JP" sz="1050" b="1" dirty="0">
              <a:latin typeface="メイリオ" panose="020B0604030504040204" pitchFamily="50" charset="-128"/>
              <a:ea typeface="メイリオ" panose="020B0604030504040204" pitchFamily="50" charset="-128"/>
              <a:cs typeface="メイリオ"/>
            </a:endParaRPr>
          </a:p>
        </p:txBody>
      </p:sp>
      <p:cxnSp>
        <p:nvCxnSpPr>
          <p:cNvPr id="14" name="コネクタ: カギ線 13">
            <a:extLst>
              <a:ext uri="{FF2B5EF4-FFF2-40B4-BE49-F238E27FC236}">
                <a16:creationId xmlns:a16="http://schemas.microsoft.com/office/drawing/2014/main" id="{B116237D-8580-3F61-2B2F-766C3CCF8BF6}"/>
              </a:ext>
            </a:extLst>
          </p:cNvPr>
          <p:cNvCxnSpPr>
            <a:cxnSpLocks/>
            <a:stCxn id="13" idx="0"/>
            <a:endCxn id="6" idx="2"/>
          </p:cNvCxnSpPr>
          <p:nvPr/>
        </p:nvCxnSpPr>
        <p:spPr>
          <a:xfrm rot="5400000" flipH="1" flipV="1">
            <a:off x="4282287" y="2389919"/>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5" name="正方形/長方形 14">
            <a:extLst>
              <a:ext uri="{FF2B5EF4-FFF2-40B4-BE49-F238E27FC236}">
                <a16:creationId xmlns:a16="http://schemas.microsoft.com/office/drawing/2014/main" id="{55D1671E-E029-A7B0-F0FE-5B3AEA581FA7}"/>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6" name="直線矢印コネクタ 15">
            <a:extLst>
              <a:ext uri="{FF2B5EF4-FFF2-40B4-BE49-F238E27FC236}">
                <a16:creationId xmlns:a16="http://schemas.microsoft.com/office/drawing/2014/main" id="{9C9A66C9-6F0C-720F-D33F-5A677E31CE55}"/>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E0FFD56C-A8BF-1D7F-B9F0-7A4C2CF517A7}"/>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sym typeface="Meiryo"/>
              </a:rPr>
              <a:t>カスタマージャーニーマップ</a:t>
            </a:r>
            <a:endParaRPr lang="ja-JP" altLang="en-US" sz="1050" dirty="0">
              <a:latin typeface="メイリオ"/>
              <a:ea typeface="メイリオ"/>
              <a:cs typeface="メイリオ"/>
            </a:endParaRPr>
          </a:p>
        </p:txBody>
      </p:sp>
      <p:sp>
        <p:nvSpPr>
          <p:cNvPr id="28" name="正方形/長方形 27">
            <a:extLst>
              <a:ext uri="{FF2B5EF4-FFF2-40B4-BE49-F238E27FC236}">
                <a16:creationId xmlns:a16="http://schemas.microsoft.com/office/drawing/2014/main" id="{985D0F3D-E958-2764-0030-33A43FBBB844}"/>
              </a:ext>
            </a:extLst>
          </p:cNvPr>
          <p:cNvSpPr/>
          <p:nvPr/>
        </p:nvSpPr>
        <p:spPr>
          <a:xfrm>
            <a:off x="377495" y="3168907"/>
            <a:ext cx="9425943" cy="12803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2" name="テキスト ボックス 31">
            <a:extLst>
              <a:ext uri="{FF2B5EF4-FFF2-40B4-BE49-F238E27FC236}">
                <a16:creationId xmlns:a16="http://schemas.microsoft.com/office/drawing/2014/main" id="{62DFAD71-5EA4-2410-A3B7-8926C38B8C15}"/>
              </a:ext>
            </a:extLst>
          </p:cNvPr>
          <p:cNvSpPr txBox="1"/>
          <p:nvPr/>
        </p:nvSpPr>
        <p:spPr>
          <a:xfrm>
            <a:off x="3136470" y="3386385"/>
            <a:ext cx="1868110"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cs typeface="メイリオ"/>
              </a:rPr>
              <a:t>セミナー予約</a:t>
            </a:r>
            <a:endParaRPr lang="en-US" altLang="ja-JP" sz="11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36" name="テキスト ボックス 35">
            <a:extLst>
              <a:ext uri="{FF2B5EF4-FFF2-40B4-BE49-F238E27FC236}">
                <a16:creationId xmlns:a16="http://schemas.microsoft.com/office/drawing/2014/main" id="{38132008-D8F9-19F3-2653-AEF9F6C09DC2}"/>
              </a:ext>
            </a:extLst>
          </p:cNvPr>
          <p:cNvSpPr txBox="1"/>
          <p:nvPr/>
        </p:nvSpPr>
        <p:spPr>
          <a:xfrm>
            <a:off x="6119414" y="3941570"/>
            <a:ext cx="2352195"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cs typeface="メイリオ"/>
              </a:rPr>
              <a:t>サロン入会</a:t>
            </a:r>
            <a:endParaRPr lang="en-US" altLang="ja-JP" sz="11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38" name="テキスト ボックス 37">
            <a:extLst>
              <a:ext uri="{FF2B5EF4-FFF2-40B4-BE49-F238E27FC236}">
                <a16:creationId xmlns:a16="http://schemas.microsoft.com/office/drawing/2014/main" id="{8423A7FD-A6C6-EFD2-582C-90B8E121BC79}"/>
              </a:ext>
            </a:extLst>
          </p:cNvPr>
          <p:cNvSpPr txBox="1"/>
          <p:nvPr/>
        </p:nvSpPr>
        <p:spPr>
          <a:xfrm>
            <a:off x="330435" y="3170605"/>
            <a:ext cx="2157994" cy="253916"/>
          </a:xfrm>
          <a:prstGeom prst="rect">
            <a:avLst/>
          </a:prstGeom>
          <a:noFill/>
        </p:spPr>
        <p:txBody>
          <a:bodyPr wrap="square">
            <a:spAutoFit/>
          </a:bodyPr>
          <a:lstStyle/>
          <a:p>
            <a:pPr algn="ctr"/>
            <a:r>
              <a:rPr lang="en-US" altLang="ja-JP" sz="1050" b="1" dirty="0">
                <a:latin typeface="メイリオ" panose="020B0604030504040204" pitchFamily="50" charset="-128"/>
                <a:ea typeface="メイリオ" panose="020B0604030504040204" pitchFamily="50" charset="-128"/>
                <a:cs typeface="メイリオ"/>
              </a:rPr>
              <a:t>&lt;</a:t>
            </a:r>
            <a:r>
              <a:rPr lang="ja-JP" altLang="en-US" sz="1050" b="1" dirty="0">
                <a:latin typeface="メイリオ" panose="020B0604030504040204" pitchFamily="50" charset="-128"/>
                <a:ea typeface="メイリオ" panose="020B0604030504040204" pitchFamily="50" charset="-128"/>
                <a:cs typeface="メイリオ"/>
              </a:rPr>
              <a:t>貴社のユーザー動線イメージ</a:t>
            </a:r>
            <a:r>
              <a:rPr lang="en-US" altLang="ja-JP" sz="1050" b="1" dirty="0">
                <a:latin typeface="メイリオ" panose="020B0604030504040204" pitchFamily="50" charset="-128"/>
                <a:ea typeface="メイリオ" panose="020B0604030504040204" pitchFamily="50" charset="-128"/>
                <a:cs typeface="メイリオ"/>
              </a:rPr>
              <a:t>&gt;</a:t>
            </a:r>
            <a:endParaRPr lang="ja-JP" altLang="en-US" sz="1050" b="1" dirty="0">
              <a:latin typeface="メイリオ" panose="020B0604030504040204" pitchFamily="50" charset="-128"/>
              <a:ea typeface="メイリオ" panose="020B0604030504040204" pitchFamily="50" charset="-128"/>
              <a:cs typeface="メイリオ"/>
            </a:endParaRPr>
          </a:p>
        </p:txBody>
      </p:sp>
      <p:sp>
        <p:nvSpPr>
          <p:cNvPr id="24" name="テキスト ボックス 23">
            <a:extLst>
              <a:ext uri="{FF2B5EF4-FFF2-40B4-BE49-F238E27FC236}">
                <a16:creationId xmlns:a16="http://schemas.microsoft.com/office/drawing/2014/main" id="{86D765FE-5D14-B727-20F8-7C773D684C03}"/>
              </a:ext>
            </a:extLst>
          </p:cNvPr>
          <p:cNvSpPr txBox="1"/>
          <p:nvPr/>
        </p:nvSpPr>
        <p:spPr>
          <a:xfrm>
            <a:off x="3542137" y="3670478"/>
            <a:ext cx="2352195"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cs typeface="メイリオ"/>
              </a:rPr>
              <a:t>セミナー参加</a:t>
            </a:r>
            <a:endParaRPr lang="en-US" altLang="ja-JP" sz="11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9" name="テキスト ボックス 18">
            <a:extLst>
              <a:ext uri="{FF2B5EF4-FFF2-40B4-BE49-F238E27FC236}">
                <a16:creationId xmlns:a16="http://schemas.microsoft.com/office/drawing/2014/main" id="{54872F58-9C7B-BF3F-8FD6-90758592757B}"/>
              </a:ext>
            </a:extLst>
          </p:cNvPr>
          <p:cNvSpPr txBox="1"/>
          <p:nvPr/>
        </p:nvSpPr>
        <p:spPr>
          <a:xfrm>
            <a:off x="7408050" y="2633400"/>
            <a:ext cx="2352196" cy="400110"/>
          </a:xfrm>
          <a:prstGeom prst="rect">
            <a:avLst/>
          </a:prstGeom>
          <a:solidFill>
            <a:schemeClr val="tx1">
              <a:lumMod val="50000"/>
              <a:lumOff val="50000"/>
              <a:alpha val="30000"/>
            </a:schemeClr>
          </a:solidFill>
        </p:spPr>
        <p:txBody>
          <a:bodyPr wrap="square">
            <a:spAutoFit/>
          </a:bodyPr>
          <a:lstStyle/>
          <a:p>
            <a:pPr>
              <a:buNone/>
            </a:pPr>
            <a:r>
              <a:rPr lang="ja-JP" altLang="en-US" sz="1100" dirty="0">
                <a:latin typeface="メイリオ" panose="020B0604030504040204" pitchFamily="50" charset="-128"/>
                <a:ea typeface="メイリオ" panose="020B0604030504040204" pitchFamily="50" charset="-128"/>
                <a:cs typeface="メイリオ"/>
              </a:rPr>
              <a:t>⑧</a:t>
            </a:r>
            <a:r>
              <a:rPr lang="en-US" altLang="ja-JP" sz="1100" dirty="0">
                <a:latin typeface="メイリオ" panose="020B0604030504040204" pitchFamily="50" charset="-128"/>
                <a:ea typeface="メイリオ" panose="020B0604030504040204" pitchFamily="50" charset="-128"/>
                <a:cs typeface="メイリオ"/>
              </a:rPr>
              <a:t>LTV</a:t>
            </a:r>
            <a:r>
              <a:rPr lang="ja-JP" altLang="en-US" sz="1100" dirty="0">
                <a:latin typeface="メイリオ" panose="020B0604030504040204" pitchFamily="50" charset="-128"/>
                <a:ea typeface="メイリオ" panose="020B0604030504040204" pitchFamily="50" charset="-128"/>
                <a:cs typeface="メイリオ"/>
              </a:rPr>
              <a:t>最大化・紹介</a:t>
            </a:r>
            <a:endParaRPr lang="en-US" altLang="ja-JP" sz="1100" dirty="0">
              <a:latin typeface="メイリオ" panose="020B0604030504040204" pitchFamily="50" charset="-128"/>
              <a:ea typeface="メイリオ" panose="020B0604030504040204" pitchFamily="50" charset="-128"/>
              <a:cs typeface="メイリオ"/>
            </a:endParaRPr>
          </a:p>
          <a:p>
            <a:pPr>
              <a:buNone/>
            </a:pPr>
            <a:endParaRPr lang="ja-JP" altLang="ja-JP" sz="900" dirty="0">
              <a:latin typeface="メイリオ" panose="020B0604030504040204" pitchFamily="50" charset="-128"/>
              <a:ea typeface="メイリオ" panose="020B0604030504040204" pitchFamily="50" charset="-128"/>
              <a:cs typeface="メイリオ"/>
            </a:endParaRPr>
          </a:p>
        </p:txBody>
      </p:sp>
      <p:sp>
        <p:nvSpPr>
          <p:cNvPr id="21" name="テキスト ボックス 20">
            <a:extLst>
              <a:ext uri="{FF2B5EF4-FFF2-40B4-BE49-F238E27FC236}">
                <a16:creationId xmlns:a16="http://schemas.microsoft.com/office/drawing/2014/main" id="{71A37862-DC0D-FFB9-A4C0-DFCD839440E7}"/>
              </a:ext>
            </a:extLst>
          </p:cNvPr>
          <p:cNvSpPr txBox="1"/>
          <p:nvPr/>
        </p:nvSpPr>
        <p:spPr>
          <a:xfrm>
            <a:off x="334303" y="2025996"/>
            <a:ext cx="1868111" cy="348203"/>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① 接触（認知・流入）</a:t>
            </a:r>
          </a:p>
        </p:txBody>
      </p:sp>
      <p:sp>
        <p:nvSpPr>
          <p:cNvPr id="23" name="テキスト ボックス 22">
            <a:extLst>
              <a:ext uri="{FF2B5EF4-FFF2-40B4-BE49-F238E27FC236}">
                <a16:creationId xmlns:a16="http://schemas.microsoft.com/office/drawing/2014/main" id="{687CD251-15DA-69B7-5940-0B47AE7838C7}"/>
              </a:ext>
            </a:extLst>
          </p:cNvPr>
          <p:cNvSpPr txBox="1"/>
          <p:nvPr/>
        </p:nvSpPr>
        <p:spPr>
          <a:xfrm>
            <a:off x="1268358" y="2236658"/>
            <a:ext cx="1868111" cy="348203"/>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② サイト離脱</a:t>
            </a:r>
            <a:r>
              <a:rPr lang="ja-JP" altLang="en-US" sz="1100" dirty="0">
                <a:latin typeface="メイリオ" panose="020B0604030504040204" pitchFamily="50" charset="-128"/>
                <a:ea typeface="メイリオ" panose="020B0604030504040204" pitchFamily="50" charset="-128"/>
                <a:cs typeface="メイリオ"/>
              </a:rPr>
              <a:t>（対策）</a:t>
            </a:r>
            <a:endParaRPr lang="ja-JP" altLang="ja-JP" sz="1100" dirty="0">
              <a:latin typeface="メイリオ" panose="020B0604030504040204" pitchFamily="50" charset="-128"/>
              <a:ea typeface="メイリオ" panose="020B0604030504040204" pitchFamily="50" charset="-128"/>
              <a:cs typeface="メイリオ"/>
            </a:endParaRPr>
          </a:p>
        </p:txBody>
      </p:sp>
      <p:sp>
        <p:nvSpPr>
          <p:cNvPr id="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広告からサロン入会まで8フェーズの動線を可視化し、各フェーズで発生する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離脱要因とLINE施策の打ち手を整理する。</a:t>
            </a:r>
            <a:endParaRPr lang="ja-JP" altLang="ja-JP" sz="1100" dirty="0">
              <a:effectLst/>
              <a:latin typeface="メイリオ" panose="02020603050405020304" pitchFamily="18" charset="0"/>
              <a:ea typeface="メイリオ" panose="02020400000000000000" pitchFamily="18" charset="-128"/>
              <a:cs typeface="メイリオ"/>
            </a:endParaRPr>
          </a:p>
        </p:txBody>
      </p:sp>
      <p:sp>
        <p:nvSpPr>
          <p:cNvPr id="10" name="正方形/長方形 9">
            <a:extLst>
              <a:ext uri="{FF2B5EF4-FFF2-40B4-BE49-F238E27FC236}">
                <a16:creationId xmlns:a16="http://schemas.microsoft.com/office/drawing/2014/main" id="{BC3DB233-2109-75A0-E58B-5975C2C6368D}"/>
              </a:ext>
            </a:extLst>
          </p:cNvPr>
          <p:cNvSpPr/>
          <p:nvPr/>
        </p:nvSpPr>
        <p:spPr>
          <a:xfrm>
            <a:off x="377494" y="4506549"/>
            <a:ext cx="9425943" cy="1842000"/>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ja-JP" altLang="en-US" sz="1200" dirty="0">
                <a:solidFill>
                  <a:schemeClr val="tx1"/>
                </a:solidFill>
                <a:latin typeface="メイリオ" panose="020B0604030504040204" pitchFamily="50" charset="-128"/>
                <a:ea typeface="メイリオ" panose="020B0604030504040204" pitchFamily="50" charset="-128"/>
                <a:cs typeface="メイリオ"/>
              </a:rPr>
              <a:t>・またサービス特性として、</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endParaRPr kumimoji="1" lang="en-US" altLang="ja-JP" sz="6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【対象は保険営業の方】</a:t>
            </a:r>
            <a:r>
              <a:rPr lang="ja-JP" altLang="en-US" sz="1200" dirty="0">
                <a:solidFill>
                  <a:schemeClr val="tx1"/>
                </a:solidFill>
                <a:latin typeface="メイリオ" panose="020B0604030504040204" pitchFamily="50" charset="-128"/>
                <a:ea typeface="メイリオ" panose="020B0604030504040204" pitchFamily="50" charset="-128"/>
                <a:cs typeface="メイリオ"/>
              </a:rPr>
              <a:t>： 一般の方向けではなく、保険営業の方の営業力向上を目的としたセミナー・サロン</a:t>
            </a:r>
            <a:endParaRPr kumimoji="1" lang="en-US" altLang="ja-JP" sz="12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【セミナーは無料・オンライン】</a:t>
            </a:r>
            <a:r>
              <a:rPr lang="ja-JP" altLang="en-US" sz="1200" dirty="0">
                <a:solidFill>
                  <a:schemeClr val="tx1"/>
                </a:solidFill>
                <a:latin typeface="メイリオ" panose="020B0604030504040204" pitchFamily="50" charset="-128"/>
                <a:ea typeface="メイリオ" panose="020B0604030504040204" pitchFamily="50" charset="-128"/>
                <a:cs typeface="メイリオ"/>
              </a:rPr>
              <a:t>： セミナー参加の段階では費用の不安は小さく、金額の判断はサロン入会の段階</a:t>
            </a:r>
            <a:endParaRPr kumimoji="1" lang="en-US" altLang="ja-JP" sz="12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【イベントは年4回】</a:t>
            </a:r>
            <a:r>
              <a:rPr lang="ja-JP" altLang="en-US" sz="1200" dirty="0">
                <a:solidFill>
                  <a:schemeClr val="tx1"/>
                </a:solidFill>
                <a:latin typeface="メイリオ" panose="020B0604030504040204" pitchFamily="50" charset="-128"/>
                <a:ea typeface="メイリオ" panose="020B0604030504040204" pitchFamily="50" charset="-128"/>
                <a:cs typeface="メイリオ"/>
              </a:rPr>
              <a:t>： イベントとイベントの間の時期は、集めた方との接点が切れやすい</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endParaRPr lang="en-US" altLang="ja-JP" sz="600" dirty="0">
              <a:solidFill>
                <a:schemeClr val="tx1"/>
              </a:solidFill>
              <a:latin typeface="メイリオ" panose="020B0604030504040204" pitchFamily="50" charset="-128"/>
              <a:ea typeface="メイリオ" panose="020B0604030504040204" pitchFamily="50" charset="-128"/>
              <a:cs typeface="メイリオ"/>
            </a:endParaRPr>
          </a:p>
          <a:p>
            <a:r>
              <a:rPr lang="ja-JP" altLang="en-US" sz="1200" dirty="0">
                <a:solidFill>
                  <a:schemeClr val="tx1"/>
                </a:solidFill>
                <a:latin typeface="メイリオ" panose="020B0604030504040204" pitchFamily="50" charset="-128"/>
                <a:ea typeface="メイリオ" panose="020B0604030504040204" pitchFamily="50" charset="-128"/>
                <a:cs typeface="メイリオ"/>
              </a:rPr>
              <a:t>・貴社サービスとして</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【広告で、1回のイベントで81件のセミナー予約を集めている】</a:t>
            </a: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【セミナーの参加後に、サロンの入会を案内できる】</a:t>
            </a:r>
          </a:p>
          <a:p>
            <a:endParaRPr lang="en-US" altLang="ja-JP" sz="700" dirty="0">
              <a:solidFill>
                <a:schemeClr val="tx1"/>
              </a:solidFill>
              <a:latin typeface="メイリオ" panose="020B0604030504040204" pitchFamily="50" charset="-128"/>
              <a:ea typeface="メイリオ" panose="020B0604030504040204" pitchFamily="50" charset="-128"/>
              <a:cs typeface="メイリオ"/>
            </a:endParaRPr>
          </a:p>
          <a:p>
            <a:r>
              <a:rPr lang="ja-JP" altLang="en-US" sz="1200" dirty="0">
                <a:solidFill>
                  <a:schemeClr val="tx1"/>
                </a:solidFill>
                <a:latin typeface="メイリオ" panose="020B0604030504040204" pitchFamily="50" charset="-128"/>
                <a:ea typeface="メイリオ" panose="020B0604030504040204" pitchFamily="50" charset="-128"/>
                <a:cs typeface="メイリオ"/>
              </a:rPr>
              <a:t>という強みを持っており、</a:t>
            </a:r>
            <a:r>
              <a:rPr lang="ja-JP" altLang="en-US" sz="1200" b="1" dirty="0">
                <a:solidFill>
                  <a:srgbClr val="1F2A5C"/>
                </a:solidFill>
                <a:latin typeface="メイリオ" panose="020B0604030504040204" pitchFamily="50" charset="-128"/>
                <a:ea typeface="メイリオ" panose="020B0604030504040204" pitchFamily="50" charset="-128"/>
                <a:cs typeface="メイリオ"/>
              </a:rPr>
              <a:t>集めた方と、次のイベント・入会まで接点を持ち続けること</a:t>
            </a:r>
            <a:r>
              <a:rPr lang="ja-JP" altLang="en-US" sz="1200" dirty="0">
                <a:solidFill>
                  <a:schemeClr val="tx1"/>
                </a:solidFill>
                <a:latin typeface="メイリオ" panose="020B0604030504040204" pitchFamily="50" charset="-128"/>
                <a:ea typeface="メイリオ" panose="020B0604030504040204" pitchFamily="50" charset="-128"/>
                <a:cs typeface="メイリオ"/>
              </a:rPr>
              <a:t>はメリットにつながる想定。</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17159093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4642A8-3E67-5B74-44A3-2319A4429A95}"/>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82672B0F-F237-F0AD-0406-3F0B4D837466}"/>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6E4BBB3A-0D38-BEFA-41CE-475A3AD94E4B}"/>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F6061EA3-81DF-F127-35ED-8E76CB9BA87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想定動線</a:t>
            </a:r>
            <a:endParaRPr sz="1600" b="1" dirty="0">
              <a:solidFill>
                <a:srgbClr val="002060"/>
              </a:solidFill>
              <a:latin typeface="メイリオ"/>
              <a:ea typeface="メイリオ"/>
              <a:cs typeface="メイリオ"/>
              <a:sym typeface="Meiryo"/>
            </a:endParaRPr>
          </a:p>
        </p:txBody>
      </p:sp>
      <p:cxnSp>
        <p:nvCxnSpPr>
          <p:cNvPr id="2" name="直線コネクタ 1">
            <a:extLst>
              <a:ext uri="{FF2B5EF4-FFF2-40B4-BE49-F238E27FC236}">
                <a16:creationId xmlns:a16="http://schemas.microsoft.com/office/drawing/2014/main" id="{4DFF8E60-181C-F552-91AA-8D421878A5E4}"/>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6" name="テキスト ボックス 5">
            <a:extLst>
              <a:ext uri="{FF2B5EF4-FFF2-40B4-BE49-F238E27FC236}">
                <a16:creationId xmlns:a16="http://schemas.microsoft.com/office/drawing/2014/main" id="{C90C3361-4E73-2E37-B42D-7BEC4ACEF81B}"/>
              </a:ext>
            </a:extLst>
          </p:cNvPr>
          <p:cNvSpPr txBox="1"/>
          <p:nvPr/>
        </p:nvSpPr>
        <p:spPr>
          <a:xfrm>
            <a:off x="3542139" y="2019663"/>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⑤ リード有効化</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7" name="テキスト ボックス 6">
            <a:extLst>
              <a:ext uri="{FF2B5EF4-FFF2-40B4-BE49-F238E27FC236}">
                <a16:creationId xmlns:a16="http://schemas.microsoft.com/office/drawing/2014/main" id="{FFD30C49-34B0-02C4-AF70-B2CDE69444A5}"/>
              </a:ext>
            </a:extLst>
          </p:cNvPr>
          <p:cNvSpPr txBox="1"/>
          <p:nvPr/>
        </p:nvSpPr>
        <p:spPr>
          <a:xfrm>
            <a:off x="6119413" y="2428821"/>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⑦マネタイズ</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成約</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購入</a:t>
            </a:r>
            <a:r>
              <a:rPr lang="en-US" altLang="ja-JP" sz="1000" b="1" dirty="0">
                <a:latin typeface="メイリオ" panose="020B0604030504040204" pitchFamily="50" charset="-128"/>
                <a:ea typeface="メイリオ" panose="020B0604030504040204" pitchFamily="50" charset="-128"/>
                <a:cs typeface="メイリオ"/>
              </a:rPr>
              <a:t>)</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8" name="テキスト ボックス 7">
            <a:extLst>
              <a:ext uri="{FF2B5EF4-FFF2-40B4-BE49-F238E27FC236}">
                <a16:creationId xmlns:a16="http://schemas.microsoft.com/office/drawing/2014/main" id="{48603E9D-0741-5356-E71D-C1FC418F0477}"/>
              </a:ext>
            </a:extLst>
          </p:cNvPr>
          <p:cNvSpPr txBox="1"/>
          <p:nvPr/>
        </p:nvSpPr>
        <p:spPr>
          <a:xfrm>
            <a:off x="4830776" y="2224242"/>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⑥ 有効リードの再育成</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9" name="テキスト ボックス 8">
            <a:extLst>
              <a:ext uri="{FF2B5EF4-FFF2-40B4-BE49-F238E27FC236}">
                <a16:creationId xmlns:a16="http://schemas.microsoft.com/office/drawing/2014/main" id="{5510780C-7296-C3F4-8C4C-3E6051AD3A79}"/>
              </a:ext>
            </a:extLst>
          </p:cNvPr>
          <p:cNvSpPr txBox="1"/>
          <p:nvPr/>
        </p:nvSpPr>
        <p:spPr>
          <a:xfrm>
            <a:off x="7408050" y="2633400"/>
            <a:ext cx="2352196" cy="400110"/>
          </a:xfrm>
          <a:prstGeom prst="rect">
            <a:avLst/>
          </a:prstGeom>
          <a:solidFill>
            <a:schemeClr val="bg1">
              <a:lumMod val="65000"/>
              <a:alpha val="30000"/>
            </a:schemeClr>
          </a:solidFill>
        </p:spPr>
        <p:txBody>
          <a:bodyPr wrap="square">
            <a:spAutoFit/>
          </a:bodyPr>
          <a:lstStyle/>
          <a:p>
            <a:pPr>
              <a:buNone/>
            </a:pPr>
            <a:r>
              <a:rPr lang="ja-JP" altLang="en-US" sz="1100" dirty="0">
                <a:latin typeface="メイリオ" panose="020B0604030504040204" pitchFamily="50" charset="-128"/>
                <a:ea typeface="メイリオ" panose="020B0604030504040204" pitchFamily="50" charset="-128"/>
                <a:cs typeface="メイリオ"/>
              </a:rPr>
              <a:t>⑧</a:t>
            </a:r>
            <a:r>
              <a:rPr lang="en-US" altLang="ja-JP" sz="1100" dirty="0">
                <a:latin typeface="メイリオ" panose="020B0604030504040204" pitchFamily="50" charset="-128"/>
                <a:ea typeface="メイリオ" panose="020B0604030504040204" pitchFamily="50" charset="-128"/>
                <a:cs typeface="メイリオ"/>
              </a:rPr>
              <a:t>LTV</a:t>
            </a:r>
            <a:r>
              <a:rPr lang="ja-JP" altLang="en-US" sz="1100" dirty="0">
                <a:latin typeface="メイリオ" panose="020B0604030504040204" pitchFamily="50" charset="-128"/>
                <a:ea typeface="メイリオ" panose="020B0604030504040204" pitchFamily="50" charset="-128"/>
                <a:cs typeface="メイリオ"/>
              </a:rPr>
              <a:t>最大化・紹介</a:t>
            </a:r>
            <a:endParaRPr lang="en-US" altLang="ja-JP" sz="1100" dirty="0">
              <a:latin typeface="メイリオ" panose="020B0604030504040204" pitchFamily="50" charset="-128"/>
              <a:ea typeface="メイリオ" panose="020B0604030504040204" pitchFamily="50" charset="-128"/>
              <a:cs typeface="メイリオ"/>
            </a:endParaRPr>
          </a:p>
          <a:p>
            <a:pPr>
              <a:buNone/>
            </a:pPr>
            <a:endParaRPr lang="ja-JP" altLang="ja-JP" sz="900" dirty="0">
              <a:latin typeface="メイリオ" panose="020B0604030504040204" pitchFamily="50" charset="-128"/>
              <a:ea typeface="メイリオ" panose="020B0604030504040204" pitchFamily="50" charset="-128"/>
              <a:cs typeface="メイリオ"/>
            </a:endParaRPr>
          </a:p>
        </p:txBody>
      </p:sp>
      <p:sp>
        <p:nvSpPr>
          <p:cNvPr id="10" name="テキスト ボックス 9">
            <a:extLst>
              <a:ext uri="{FF2B5EF4-FFF2-40B4-BE49-F238E27FC236}">
                <a16:creationId xmlns:a16="http://schemas.microsoft.com/office/drawing/2014/main" id="{22893D84-2009-2D10-A58D-4D15D44E30A4}"/>
              </a:ext>
            </a:extLst>
          </p:cNvPr>
          <p:cNvSpPr txBox="1"/>
          <p:nvPr/>
        </p:nvSpPr>
        <p:spPr>
          <a:xfrm>
            <a:off x="334303" y="2025996"/>
            <a:ext cx="1868111" cy="348203"/>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① 接触（認知・流入）</a:t>
            </a:r>
          </a:p>
        </p:txBody>
      </p:sp>
      <p:sp>
        <p:nvSpPr>
          <p:cNvPr id="11" name="テキスト ボックス 10">
            <a:extLst>
              <a:ext uri="{FF2B5EF4-FFF2-40B4-BE49-F238E27FC236}">
                <a16:creationId xmlns:a16="http://schemas.microsoft.com/office/drawing/2014/main" id="{23C7633E-5748-2D3A-84BA-79804E06BD11}"/>
              </a:ext>
            </a:extLst>
          </p:cNvPr>
          <p:cNvSpPr txBox="1"/>
          <p:nvPr/>
        </p:nvSpPr>
        <p:spPr>
          <a:xfrm>
            <a:off x="1268358" y="2236658"/>
            <a:ext cx="1868111" cy="348203"/>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② サイト離脱</a:t>
            </a:r>
            <a:r>
              <a:rPr lang="ja-JP" altLang="en-US" sz="1100" dirty="0">
                <a:latin typeface="メイリオ" panose="020B0604030504040204" pitchFamily="50" charset="-128"/>
                <a:ea typeface="メイリオ" panose="020B0604030504040204" pitchFamily="50" charset="-128"/>
                <a:cs typeface="メイリオ"/>
              </a:rPr>
              <a:t>（対策）</a:t>
            </a:r>
            <a:endParaRPr lang="ja-JP" altLang="ja-JP" sz="1100" dirty="0">
              <a:latin typeface="メイリオ" panose="020B0604030504040204" pitchFamily="50" charset="-128"/>
              <a:ea typeface="メイリオ" panose="020B0604030504040204" pitchFamily="50" charset="-128"/>
              <a:cs typeface="メイリオ"/>
            </a:endParaRPr>
          </a:p>
        </p:txBody>
      </p:sp>
      <p:sp>
        <p:nvSpPr>
          <p:cNvPr id="12" name="テキスト ボックス 11">
            <a:extLst>
              <a:ext uri="{FF2B5EF4-FFF2-40B4-BE49-F238E27FC236}">
                <a16:creationId xmlns:a16="http://schemas.microsoft.com/office/drawing/2014/main" id="{0FF28B09-D075-F525-81E8-9E46FD2E18CC}"/>
              </a:ext>
            </a:extLst>
          </p:cNvPr>
          <p:cNvSpPr txBox="1"/>
          <p:nvPr/>
        </p:nvSpPr>
        <p:spPr>
          <a:xfrm>
            <a:off x="2202413" y="2430519"/>
            <a:ext cx="1868111" cy="383023"/>
          </a:xfrm>
          <a:prstGeom prst="rect">
            <a:avLst/>
          </a:prstGeom>
          <a:solidFill>
            <a:srgbClr val="F2F2F2"/>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cs typeface="メイリオ"/>
              </a:rPr>
              <a:t>③ 育成（興味</a:t>
            </a:r>
            <a:r>
              <a:rPr lang="ja-JP" altLang="en-US" sz="1100" b="1" dirty="0">
                <a:latin typeface="メイリオ" panose="020B0604030504040204" pitchFamily="50" charset="-128"/>
                <a:ea typeface="メイリオ" panose="020B0604030504040204" pitchFamily="50" charset="-128"/>
                <a:cs typeface="メイリオ"/>
              </a:rPr>
              <a:t>喚起</a:t>
            </a:r>
            <a:r>
              <a:rPr lang="ja-JP" altLang="ja-JP" sz="1100" b="1" dirty="0">
                <a:latin typeface="メイリオ" panose="020B0604030504040204" pitchFamily="50" charset="-128"/>
                <a:ea typeface="メイリオ" panose="020B0604030504040204" pitchFamily="50" charset="-128"/>
                <a:cs typeface="メイリオ"/>
              </a:rPr>
              <a:t>）</a:t>
            </a:r>
          </a:p>
        </p:txBody>
      </p:sp>
      <p:sp>
        <p:nvSpPr>
          <p:cNvPr id="13" name="テキスト ボックス 12">
            <a:extLst>
              <a:ext uri="{FF2B5EF4-FFF2-40B4-BE49-F238E27FC236}">
                <a16:creationId xmlns:a16="http://schemas.microsoft.com/office/drawing/2014/main" id="{16BD59AA-351D-314F-6C74-5744411BB09A}"/>
              </a:ext>
            </a:extLst>
          </p:cNvPr>
          <p:cNvSpPr txBox="1"/>
          <p:nvPr/>
        </p:nvSpPr>
        <p:spPr>
          <a:xfrm>
            <a:off x="3136468" y="2626872"/>
            <a:ext cx="1868111" cy="383023"/>
          </a:xfrm>
          <a:prstGeom prst="rect">
            <a:avLst/>
          </a:prstGeom>
          <a:solidFill>
            <a:srgbClr val="F2F2F2"/>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④リード獲得 </a:t>
            </a:r>
            <a:r>
              <a:rPr lang="en-US" altLang="ja-JP" sz="900" b="1" dirty="0">
                <a:latin typeface="メイリオ" panose="020B0604030504040204" pitchFamily="50" charset="-128"/>
                <a:ea typeface="メイリオ" panose="020B0604030504040204" pitchFamily="50" charset="-128"/>
                <a:cs typeface="メイリオ"/>
              </a:rPr>
              <a:t>(web/LINE)</a:t>
            </a:r>
            <a:endParaRPr lang="ja-JP" altLang="ja-JP" sz="1050" b="1" dirty="0">
              <a:latin typeface="メイリオ" panose="020B0604030504040204" pitchFamily="50" charset="-128"/>
              <a:ea typeface="メイリオ" panose="020B0604030504040204" pitchFamily="50" charset="-128"/>
              <a:cs typeface="メイリオ"/>
            </a:endParaRPr>
          </a:p>
        </p:txBody>
      </p:sp>
      <p:cxnSp>
        <p:nvCxnSpPr>
          <p:cNvPr id="14" name="コネクタ: カギ線 13">
            <a:extLst>
              <a:ext uri="{FF2B5EF4-FFF2-40B4-BE49-F238E27FC236}">
                <a16:creationId xmlns:a16="http://schemas.microsoft.com/office/drawing/2014/main" id="{7CD2930D-6317-C65A-EBFA-3A24A7BB98EE}"/>
              </a:ext>
            </a:extLst>
          </p:cNvPr>
          <p:cNvCxnSpPr>
            <a:cxnSpLocks/>
            <a:stCxn id="13" idx="0"/>
            <a:endCxn id="6" idx="2"/>
          </p:cNvCxnSpPr>
          <p:nvPr/>
        </p:nvCxnSpPr>
        <p:spPr>
          <a:xfrm rot="5400000" flipH="1" flipV="1">
            <a:off x="4282287" y="2389919"/>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5" name="正方形/長方形 14">
            <a:extLst>
              <a:ext uri="{FF2B5EF4-FFF2-40B4-BE49-F238E27FC236}">
                <a16:creationId xmlns:a16="http://schemas.microsoft.com/office/drawing/2014/main" id="{FB4E9283-AFFE-D736-E74D-1988664432CA}"/>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6" name="直線矢印コネクタ 15">
            <a:extLst>
              <a:ext uri="{FF2B5EF4-FFF2-40B4-BE49-F238E27FC236}">
                <a16:creationId xmlns:a16="http://schemas.microsoft.com/office/drawing/2014/main" id="{A823DE0C-5E87-D9B3-1B01-A8A108957A34}"/>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F10F5A5D-3ADF-7E9F-1184-B3E6D3B235ED}"/>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sym typeface="Meiryo"/>
              </a:rPr>
              <a:t>カスタマージャーニーマップ</a:t>
            </a:r>
            <a:endParaRPr lang="ja-JP" altLang="en-US" sz="1050" dirty="0">
              <a:latin typeface="メイリオ"/>
              <a:ea typeface="メイリオ"/>
              <a:cs typeface="メイリオ"/>
            </a:endParaRPr>
          </a:p>
        </p:txBody>
      </p:sp>
      <p:graphicFrame>
        <p:nvGraphicFramePr>
          <p:cNvPr id="18" name="Table 2">
            <a:extLst>
              <a:ext uri="{FF2B5EF4-FFF2-40B4-BE49-F238E27FC236}">
                <a16:creationId xmlns:a16="http://schemas.microsoft.com/office/drawing/2014/main" id="{89845608-F0C2-67EC-D03E-3B68C6BD5068}"/>
              </a:ext>
            </a:extLst>
          </p:cNvPr>
          <p:cNvGraphicFramePr>
            <a:graphicFrameLocks noGrp="1"/>
          </p:cNvGraphicFramePr>
          <p:nvPr>
            <p:extLst>
              <p:ext uri="{D42A27DB-BD31-4B8C-83A1-F6EECF244321}">
                <p14:modId xmlns:p14="http://schemas.microsoft.com/office/powerpoint/2010/main" val="3163375250"/>
              </p:ext>
            </p:extLst>
          </p:nvPr>
        </p:nvGraphicFramePr>
        <p:xfrm>
          <a:off x="384048" y="3200400"/>
          <a:ext cx="9381744" cy="2962656"/>
        </p:xfrm>
        <a:graphic>
          <a:graphicData uri="http://schemas.openxmlformats.org/drawingml/2006/table">
            <a:tbl>
              <a:tblPr firstRow="1" bandRow="1">
                <a:tableStyleId>{5C22544A-7EE6-4342-B048-85BDC9FD1C3A}</a:tableStyleId>
              </a:tblPr>
              <a:tblGrid>
                <a:gridCol w="1783080">
                  <a:extLst>
                    <a:ext uri="{9D8B030D-6E8A-4147-A177-3AD203B41FA5}">
                      <a16:colId xmlns:a16="http://schemas.microsoft.com/office/drawing/2014/main" val="20000"/>
                    </a:ext>
                  </a:extLst>
                </a:gridCol>
                <a:gridCol w="2532888">
                  <a:extLst>
                    <a:ext uri="{9D8B030D-6E8A-4147-A177-3AD203B41FA5}">
                      <a16:colId xmlns:a16="http://schemas.microsoft.com/office/drawing/2014/main" val="20001"/>
                    </a:ext>
                  </a:extLst>
                </a:gridCol>
                <a:gridCol w="2532888">
                  <a:extLst>
                    <a:ext uri="{9D8B030D-6E8A-4147-A177-3AD203B41FA5}">
                      <a16:colId xmlns:a16="http://schemas.microsoft.com/office/drawing/2014/main" val="20002"/>
                    </a:ext>
                  </a:extLst>
                </a:gridCol>
                <a:gridCol w="2532888">
                  <a:extLst>
                    <a:ext uri="{9D8B030D-6E8A-4147-A177-3AD203B41FA5}">
                      <a16:colId xmlns:a16="http://schemas.microsoft.com/office/drawing/2014/main" val="20003"/>
                    </a:ext>
                  </a:extLst>
                </a:gridCol>
              </a:tblGrid>
              <a:tr h="329184">
                <a:tc>
                  <a:txBody>
                    <a:bodyPr/>
                    <a:lstStyle/>
                    <a:p>
                      <a:pPr algn="ctr"/>
                      <a:r>
                        <a:rPr lang="ja-JP" sz="1200" b="1">
                          <a:solidFill>
                            <a:srgbClr val="FFFFFF"/>
                          </a:solidFill>
                          <a:latin typeface="メイリオ"/>
                          <a:ea typeface="メイリオ"/>
                          <a:cs typeface="メイリオ"/>
                        </a:rPr>
                        <a:t>フェーズ</a:t>
                      </a:r>
                    </a:p>
                  </a:txBody>
                  <a:tcPr marL="91440" marR="73152" marT="45720" marB="45720" anchor="ctr">
                    <a:solidFill>
                      <a:srgbClr val="1F2A5C"/>
                    </a:solidFill>
                  </a:tcPr>
                </a:tc>
                <a:tc>
                  <a:txBody>
                    <a:bodyPr/>
                    <a:lstStyle/>
                    <a:p>
                      <a:pPr algn="ctr"/>
                      <a:r>
                        <a:rPr lang="ja-JP" sz="1200" b="1">
                          <a:solidFill>
                            <a:srgbClr val="FFFFFF"/>
                          </a:solidFill>
                          <a:latin typeface="メイリオ"/>
                          <a:ea typeface="メイリオ"/>
                          <a:cs typeface="メイリオ"/>
                        </a:rPr>
                        <a:t>ユーザー状態・心理</a:t>
                      </a:r>
                    </a:p>
                  </a:txBody>
                  <a:tcPr marL="91440" marR="73152" marT="45720" marB="45720" anchor="ctr">
                    <a:solidFill>
                      <a:srgbClr val="1F2A5C"/>
                    </a:solidFill>
                  </a:tcPr>
                </a:tc>
                <a:tc>
                  <a:txBody>
                    <a:bodyPr/>
                    <a:lstStyle/>
                    <a:p>
                      <a:pPr algn="ctr"/>
                      <a:r>
                        <a:rPr lang="ja-JP" sz="1200" b="1">
                          <a:solidFill>
                            <a:srgbClr val="FFFFFF"/>
                          </a:solidFill>
                          <a:latin typeface="メイリオ"/>
                          <a:ea typeface="メイリオ"/>
                          <a:cs typeface="メイリオ"/>
                        </a:rPr>
                        <a:t>離脱・停滞の課題</a:t>
                      </a:r>
                    </a:p>
                  </a:txBody>
                  <a:tcPr marL="91440" marR="73152" marT="45720" marB="45720" anchor="ctr">
                    <a:solidFill>
                      <a:srgbClr val="1F2A5C"/>
                    </a:solidFill>
                  </a:tcPr>
                </a:tc>
                <a:tc>
                  <a:txBody>
                    <a:bodyPr/>
                    <a:lstStyle/>
                    <a:p>
                      <a:pPr algn="ctr"/>
                      <a:r>
                        <a:rPr lang="ja-JP" sz="1200" b="1">
                          <a:solidFill>
                            <a:srgbClr val="FFFFFF"/>
                          </a:solidFill>
                          <a:latin typeface="メイリオ"/>
                          <a:ea typeface="メイリオ"/>
                          <a:cs typeface="メイリオ"/>
                        </a:rPr>
                        <a:t>LINE OAの役割・施策</a:t>
                      </a:r>
                    </a:p>
                  </a:txBody>
                  <a:tcPr marL="91440" marR="73152" marT="45720" marB="45720" anchor="ctr">
                    <a:solidFill>
                      <a:srgbClr val="1F2A5C"/>
                    </a:solidFill>
                  </a:tcPr>
                </a:tc>
                <a:extLst>
                  <a:ext uri="{0D108BD9-81ED-4DB2-BD59-A6C34878D82A}">
                    <a16:rowId xmlns:a16="http://schemas.microsoft.com/office/drawing/2014/main" val="10000"/>
                  </a:ext>
                </a:extLst>
              </a:tr>
              <a:tr h="329184">
                <a:tc>
                  <a:txBody>
                    <a:bodyPr/>
                    <a:lstStyle/>
                    <a:p>
                      <a:pPr algn="l"/>
                      <a:r>
                        <a:rPr lang="ja-JP" sz="1200" b="1">
                          <a:solidFill>
                            <a:srgbClr val="1F2A5C"/>
                          </a:solidFill>
                          <a:latin typeface="メイリオ"/>
                          <a:ea typeface="メイリオ"/>
                          <a:cs typeface="メイリオ"/>
                        </a:rPr>
                        <a:t>① 接触</a:t>
                      </a:r>
                    </a:p>
                  </a:txBody>
                  <a:tcPr marL="91440" marR="73152" marT="45720" marB="45720" anchor="ctr">
                    <a:solidFill>
                      <a:srgbClr val="FFFFFF"/>
                    </a:solidFill>
                  </a:tcPr>
                </a:tc>
                <a:tc>
                  <a:txBody>
                    <a:bodyPr/>
                    <a:lstStyle/>
                    <a:p>
                      <a:pPr algn="l"/>
                      <a:r>
                        <a:rPr lang="ja-JP" sz="1200" b="0">
                          <a:solidFill>
                            <a:srgbClr val="333333"/>
                          </a:solidFill>
                          <a:latin typeface="メイリオ"/>
                          <a:ea typeface="メイリオ"/>
                          <a:cs typeface="メイリオ"/>
                        </a:rPr>
                        <a:t>営業力を上げたい・情報収集中</a:t>
                      </a:r>
                    </a:p>
                  </a:txBody>
                  <a:tcPr marL="91440" marR="73152" marT="45720" marB="45720" anchor="ctr">
                    <a:solidFill>
                      <a:srgbClr val="FFFFFF"/>
                    </a:solidFill>
                  </a:tcPr>
                </a:tc>
                <a:tc>
                  <a:txBody>
                    <a:bodyPr/>
                    <a:lstStyle/>
                    <a:p>
                      <a:pPr algn="l"/>
                      <a:r>
                        <a:rPr lang="ja-JP" sz="1200" b="0">
                          <a:solidFill>
                            <a:srgbClr val="333333"/>
                          </a:solidFill>
                          <a:latin typeface="メイリオ"/>
                          <a:ea typeface="メイリオ"/>
                          <a:cs typeface="メイリオ"/>
                        </a:rPr>
                        <a:t>日程が合わず、申し込まない</a:t>
                      </a:r>
                    </a:p>
                  </a:txBody>
                  <a:tcPr marL="91440" marR="73152" marT="45720" marB="45720" anchor="ctr">
                    <a:solidFill>
                      <a:srgbClr val="FFFFFF"/>
                    </a:solidFill>
                  </a:tcPr>
                </a:tc>
                <a:tc>
                  <a:txBody>
                    <a:bodyPr/>
                    <a:lstStyle/>
                    <a:p>
                      <a:pPr algn="l"/>
                      <a:r>
                        <a:rPr lang="ja-JP" sz="1200" b="0">
                          <a:solidFill>
                            <a:srgbClr val="333333"/>
                          </a:solidFill>
                          <a:latin typeface="メイリオ"/>
                          <a:ea typeface="メイリオ"/>
                          <a:cs typeface="メイリオ"/>
                        </a:rPr>
                        <a:t>離脱防止ポップアップを表示</a:t>
                      </a:r>
                    </a:p>
                  </a:txBody>
                  <a:tcPr marL="91440" marR="73152" marT="45720" marB="45720" anchor="ctr">
                    <a:solidFill>
                      <a:srgbClr val="FFFFFF"/>
                    </a:solidFill>
                  </a:tcPr>
                </a:tc>
                <a:extLst>
                  <a:ext uri="{0D108BD9-81ED-4DB2-BD59-A6C34878D82A}">
                    <a16:rowId xmlns:a16="http://schemas.microsoft.com/office/drawing/2014/main" val="10001"/>
                  </a:ext>
                </a:extLst>
              </a:tr>
              <a:tr h="329184">
                <a:tc>
                  <a:txBody>
                    <a:bodyPr/>
                    <a:lstStyle/>
                    <a:p>
                      <a:pPr algn="l"/>
                      <a:r>
                        <a:rPr lang="ja-JP" sz="1200" b="1">
                          <a:solidFill>
                            <a:srgbClr val="1F2A5C"/>
                          </a:solidFill>
                          <a:latin typeface="メイリオ"/>
                          <a:ea typeface="メイリオ"/>
                          <a:cs typeface="メイリオ"/>
                        </a:rPr>
                        <a:t>② サイト離脱</a:t>
                      </a:r>
                    </a:p>
                  </a:txBody>
                  <a:tcPr marL="91440" marR="73152" marT="45720" marB="45720" anchor="ctr">
                    <a:solidFill>
                      <a:srgbClr val="F5F7FA"/>
                    </a:solidFill>
                  </a:tcPr>
                </a:tc>
                <a:tc>
                  <a:txBody>
                    <a:bodyPr/>
                    <a:lstStyle/>
                    <a:p>
                      <a:pPr algn="l"/>
                      <a:r>
                        <a:rPr lang="ja-JP" sz="1200" b="0">
                          <a:solidFill>
                            <a:srgbClr val="333333"/>
                          </a:solidFill>
                          <a:latin typeface="メイリオ"/>
                          <a:ea typeface="メイリオ"/>
                          <a:cs typeface="メイリオ"/>
                        </a:rPr>
                        <a:t>今回は申し込まない</a:t>
                      </a:r>
                    </a:p>
                  </a:txBody>
                  <a:tcPr marL="91440" marR="73152" marT="45720" marB="45720" anchor="ctr">
                    <a:solidFill>
                      <a:srgbClr val="F5F7FA"/>
                    </a:solidFill>
                  </a:tcPr>
                </a:tc>
                <a:tc>
                  <a:txBody>
                    <a:bodyPr/>
                    <a:lstStyle/>
                    <a:p>
                      <a:pPr algn="l"/>
                      <a:r>
                        <a:rPr lang="ja-JP" sz="1200" b="0">
                          <a:solidFill>
                            <a:srgbClr val="333333"/>
                          </a:solidFill>
                          <a:latin typeface="メイリオ"/>
                          <a:ea typeface="メイリオ"/>
                          <a:cs typeface="メイリオ"/>
                        </a:rPr>
                        <a:t>次の案内を届ける手段が無い</a:t>
                      </a:r>
                    </a:p>
                  </a:txBody>
                  <a:tcPr marL="91440" marR="73152" marT="45720" marB="45720" anchor="ctr">
                    <a:solidFill>
                      <a:srgbClr val="F5F7FA"/>
                    </a:solidFill>
                  </a:tcPr>
                </a:tc>
                <a:tc>
                  <a:txBody>
                    <a:bodyPr/>
                    <a:lstStyle/>
                    <a:p>
                      <a:pPr algn="l"/>
                      <a:r>
                        <a:rPr lang="ja-JP" sz="1200" b="0">
                          <a:solidFill>
                            <a:srgbClr val="333333"/>
                          </a:solidFill>
                          <a:latin typeface="メイリオ"/>
                          <a:ea typeface="メイリオ"/>
                          <a:cs typeface="メイリオ"/>
                        </a:rPr>
                        <a:t>ポップアップからLINE友だち化</a:t>
                      </a:r>
                    </a:p>
                  </a:txBody>
                  <a:tcPr marL="91440" marR="73152" marT="45720" marB="45720" anchor="ctr">
                    <a:solidFill>
                      <a:srgbClr val="F5F7FA"/>
                    </a:solidFill>
                  </a:tcPr>
                </a:tc>
                <a:extLst>
                  <a:ext uri="{0D108BD9-81ED-4DB2-BD59-A6C34878D82A}">
                    <a16:rowId xmlns:a16="http://schemas.microsoft.com/office/drawing/2014/main" val="10002"/>
                  </a:ext>
                </a:extLst>
              </a:tr>
              <a:tr h="329184">
                <a:tc>
                  <a:txBody>
                    <a:bodyPr/>
                    <a:lstStyle/>
                    <a:p>
                      <a:pPr algn="l"/>
                      <a:r>
                        <a:rPr lang="ja-JP" sz="1200" b="1">
                          <a:solidFill>
                            <a:srgbClr val="1F2A5C"/>
                          </a:solidFill>
                          <a:latin typeface="メイリオ"/>
                          <a:ea typeface="メイリオ"/>
                          <a:cs typeface="メイリオ"/>
                        </a:rPr>
                        <a:t>③ 育成（追加直後）</a:t>
                      </a:r>
                    </a:p>
                  </a:txBody>
                  <a:tcPr marL="91440" marR="73152" marT="45720" marB="45720" anchor="ctr">
                    <a:solidFill>
                      <a:srgbClr val="FFFFFF"/>
                    </a:solidFill>
                  </a:tcPr>
                </a:tc>
                <a:tc>
                  <a:txBody>
                    <a:bodyPr/>
                    <a:lstStyle/>
                    <a:p>
                      <a:pPr algn="l"/>
                      <a:r>
                        <a:rPr lang="ja-JP" sz="1200" b="0">
                          <a:solidFill>
                            <a:srgbClr val="333333"/>
                          </a:solidFill>
                          <a:latin typeface="メイリオ"/>
                          <a:ea typeface="メイリオ"/>
                          <a:cs typeface="メイリオ"/>
                        </a:rPr>
                        <a:t>どんなセミナーか分からない</a:t>
                      </a:r>
                    </a:p>
                  </a:txBody>
                  <a:tcPr marL="91440" marR="73152" marT="45720" marB="45720" anchor="ctr">
                    <a:solidFill>
                      <a:srgbClr val="FFFFFF"/>
                    </a:solidFill>
                  </a:tcPr>
                </a:tc>
                <a:tc>
                  <a:txBody>
                    <a:bodyPr/>
                    <a:lstStyle/>
                    <a:p>
                      <a:pPr algn="l"/>
                      <a:r>
                        <a:rPr lang="ja-JP" sz="1200" b="0">
                          <a:solidFill>
                            <a:srgbClr val="333333"/>
                          </a:solidFill>
                          <a:latin typeface="メイリオ"/>
                          <a:ea typeface="メイリオ"/>
                          <a:cs typeface="メイリオ"/>
                        </a:rPr>
                        <a:t>中身が見えず、予約に進まない</a:t>
                      </a:r>
                    </a:p>
                  </a:txBody>
                  <a:tcPr marL="91440" marR="73152" marT="45720" marB="45720" anchor="ctr">
                    <a:solidFill>
                      <a:srgbClr val="FFFFFF"/>
                    </a:solidFill>
                  </a:tcPr>
                </a:tc>
                <a:tc>
                  <a:txBody>
                    <a:bodyPr/>
                    <a:lstStyle/>
                    <a:p>
                      <a:pPr algn="l"/>
                      <a:r>
                        <a:rPr lang="ja-JP" sz="1200" b="0">
                          <a:solidFill>
                            <a:srgbClr val="333333"/>
                          </a:solidFill>
                          <a:latin typeface="メイリオ"/>
                          <a:ea typeface="メイリオ"/>
                          <a:cs typeface="メイリオ"/>
                        </a:rPr>
                        <a:t>見どころ・特典をステップ配信</a:t>
                      </a:r>
                    </a:p>
                  </a:txBody>
                  <a:tcPr marL="91440" marR="73152" marT="45720" marB="45720" anchor="ctr">
                    <a:solidFill>
                      <a:srgbClr val="FFFFFF"/>
                    </a:solidFill>
                  </a:tcPr>
                </a:tc>
                <a:extLst>
                  <a:ext uri="{0D108BD9-81ED-4DB2-BD59-A6C34878D82A}">
                    <a16:rowId xmlns:a16="http://schemas.microsoft.com/office/drawing/2014/main" val="10003"/>
                  </a:ext>
                </a:extLst>
              </a:tr>
              <a:tr h="329184">
                <a:tc>
                  <a:txBody>
                    <a:bodyPr/>
                    <a:lstStyle/>
                    <a:p>
                      <a:pPr algn="l"/>
                      <a:r>
                        <a:rPr lang="ja-JP" sz="1200" b="1">
                          <a:solidFill>
                            <a:srgbClr val="1F2A5C"/>
                          </a:solidFill>
                          <a:latin typeface="メイリオ"/>
                          <a:ea typeface="メイリオ"/>
                          <a:cs typeface="メイリオ"/>
                        </a:rPr>
                        <a:t>④ リード獲得</a:t>
                      </a:r>
                    </a:p>
                  </a:txBody>
                  <a:tcPr marL="91440" marR="73152" marT="45720" marB="45720" anchor="ctr">
                    <a:solidFill>
                      <a:srgbClr val="F5F7FA"/>
                    </a:solidFill>
                  </a:tcPr>
                </a:tc>
                <a:tc>
                  <a:txBody>
                    <a:bodyPr/>
                    <a:lstStyle/>
                    <a:p>
                      <a:pPr algn="l"/>
                      <a:r>
                        <a:rPr lang="ja-JP" sz="1200" b="0">
                          <a:solidFill>
                            <a:srgbClr val="333333"/>
                          </a:solidFill>
                          <a:latin typeface="メイリオ"/>
                          <a:ea typeface="メイリオ"/>
                          <a:cs typeface="メイリオ"/>
                        </a:rPr>
                        <a:t>セミナーを予約した</a:t>
                      </a:r>
                    </a:p>
                  </a:txBody>
                  <a:tcPr marL="91440" marR="73152" marT="45720" marB="45720" anchor="ctr">
                    <a:solidFill>
                      <a:srgbClr val="F5F7FA"/>
                    </a:solidFill>
                  </a:tcPr>
                </a:tc>
                <a:tc>
                  <a:txBody>
                    <a:bodyPr/>
                    <a:lstStyle/>
                    <a:p>
                      <a:pPr algn="l"/>
                      <a:r>
                        <a:rPr lang="ja-JP" sz="1200" b="0">
                          <a:solidFill>
                            <a:srgbClr val="333333"/>
                          </a:solidFill>
                          <a:latin typeface="メイリオ"/>
                          <a:ea typeface="メイリオ"/>
                          <a:cs typeface="メイリオ"/>
                        </a:rPr>
                        <a:t>日が空き、参加を忘れる</a:t>
                      </a:r>
                    </a:p>
                  </a:txBody>
                  <a:tcPr marL="91440" marR="73152" marT="45720" marB="45720" anchor="ctr">
                    <a:solidFill>
                      <a:srgbClr val="F5F7FA"/>
                    </a:solidFill>
                  </a:tcPr>
                </a:tc>
                <a:tc>
                  <a:txBody>
                    <a:bodyPr/>
                    <a:lstStyle/>
                    <a:p>
                      <a:pPr algn="l"/>
                      <a:r>
                        <a:rPr lang="ja-JP" sz="1200" b="0">
                          <a:solidFill>
                            <a:srgbClr val="333333"/>
                          </a:solidFill>
                          <a:latin typeface="メイリオ"/>
                          <a:ea typeface="メイリオ"/>
                          <a:cs typeface="メイリオ"/>
                        </a:rPr>
                        <a:t>サンクスLINE誘導・前日の案内</a:t>
                      </a:r>
                    </a:p>
                  </a:txBody>
                  <a:tcPr marL="91440" marR="73152" marT="45720" marB="45720" anchor="ctr">
                    <a:solidFill>
                      <a:srgbClr val="F5F7FA"/>
                    </a:solidFill>
                  </a:tcPr>
                </a:tc>
                <a:extLst>
                  <a:ext uri="{0D108BD9-81ED-4DB2-BD59-A6C34878D82A}">
                    <a16:rowId xmlns:a16="http://schemas.microsoft.com/office/drawing/2014/main" val="10004"/>
                  </a:ext>
                </a:extLst>
              </a:tr>
              <a:tr h="329184">
                <a:tc>
                  <a:txBody>
                    <a:bodyPr/>
                    <a:lstStyle/>
                    <a:p>
                      <a:pPr algn="l"/>
                      <a:r>
                        <a:rPr lang="ja-JP" sz="1200" b="1">
                          <a:solidFill>
                            <a:srgbClr val="1F2A5C"/>
                          </a:solidFill>
                          <a:latin typeface="メイリオ"/>
                          <a:ea typeface="メイリオ"/>
                          <a:cs typeface="メイリオ"/>
                        </a:rPr>
                        <a:t>⑤ リード有効化</a:t>
                      </a:r>
                    </a:p>
                  </a:txBody>
                  <a:tcPr marL="91440" marR="73152" marT="45720" marB="45720" anchor="ctr">
                    <a:solidFill>
                      <a:srgbClr val="FFFFFF"/>
                    </a:solidFill>
                  </a:tcPr>
                </a:tc>
                <a:tc>
                  <a:txBody>
                    <a:bodyPr/>
                    <a:lstStyle/>
                    <a:p>
                      <a:pPr algn="l"/>
                      <a:r>
                        <a:rPr lang="ja-JP" sz="1200" b="0">
                          <a:solidFill>
                            <a:srgbClr val="333333"/>
                          </a:solidFill>
                          <a:latin typeface="メイリオ"/>
                          <a:ea typeface="メイリオ"/>
                          <a:cs typeface="メイリオ"/>
                        </a:rPr>
                        <a:t>参加して関心が高まっている</a:t>
                      </a:r>
                    </a:p>
                  </a:txBody>
                  <a:tcPr marL="91440" marR="73152" marT="45720" marB="45720" anchor="ctr">
                    <a:solidFill>
                      <a:srgbClr val="FFFFFF"/>
                    </a:solidFill>
                  </a:tcPr>
                </a:tc>
                <a:tc>
                  <a:txBody>
                    <a:bodyPr/>
                    <a:lstStyle/>
                    <a:p>
                      <a:pPr algn="l"/>
                      <a:r>
                        <a:rPr lang="ja-JP" sz="1200" b="0">
                          <a:solidFill>
                            <a:srgbClr val="333333"/>
                          </a:solidFill>
                          <a:latin typeface="メイリオ"/>
                          <a:ea typeface="メイリオ"/>
                          <a:cs typeface="メイリオ"/>
                        </a:rPr>
                        <a:t>入会を迷ったまま時間が経つ</a:t>
                      </a:r>
                    </a:p>
                  </a:txBody>
                  <a:tcPr marL="91440" marR="73152" marT="45720" marB="45720" anchor="ctr">
                    <a:solidFill>
                      <a:srgbClr val="FFFFFF"/>
                    </a:solidFill>
                  </a:tcPr>
                </a:tc>
                <a:tc>
                  <a:txBody>
                    <a:bodyPr/>
                    <a:lstStyle/>
                    <a:p>
                      <a:pPr algn="l"/>
                      <a:r>
                        <a:rPr lang="ja-JP" sz="1200" b="0">
                          <a:solidFill>
                            <a:srgbClr val="333333"/>
                          </a:solidFill>
                          <a:latin typeface="メイリオ"/>
                          <a:ea typeface="メイリオ"/>
                          <a:cs typeface="メイリオ"/>
                        </a:rPr>
                        <a:t>参加直後にサロンを案内</a:t>
                      </a:r>
                    </a:p>
                  </a:txBody>
                  <a:tcPr marL="91440" marR="73152" marT="45720" marB="45720" anchor="ctr">
                    <a:solidFill>
                      <a:srgbClr val="FFFFFF"/>
                    </a:solidFill>
                  </a:tcPr>
                </a:tc>
                <a:extLst>
                  <a:ext uri="{0D108BD9-81ED-4DB2-BD59-A6C34878D82A}">
                    <a16:rowId xmlns:a16="http://schemas.microsoft.com/office/drawing/2014/main" val="10005"/>
                  </a:ext>
                </a:extLst>
              </a:tr>
              <a:tr h="329184">
                <a:tc>
                  <a:txBody>
                    <a:bodyPr/>
                    <a:lstStyle/>
                    <a:p>
                      <a:pPr algn="l"/>
                      <a:r>
                        <a:rPr lang="ja-JP" sz="1200" b="1">
                          <a:solidFill>
                            <a:srgbClr val="1F2A5C"/>
                          </a:solidFill>
                          <a:latin typeface="メイリオ"/>
                          <a:ea typeface="メイリオ"/>
                          <a:cs typeface="メイリオ"/>
                        </a:rPr>
                        <a:t>⑥ 再育成</a:t>
                      </a:r>
                    </a:p>
                  </a:txBody>
                  <a:tcPr marL="91440" marR="73152" marT="45720" marB="45720" anchor="ctr">
                    <a:solidFill>
                      <a:srgbClr val="F5F7FA"/>
                    </a:solidFill>
                  </a:tcPr>
                </a:tc>
                <a:tc>
                  <a:txBody>
                    <a:bodyPr/>
                    <a:lstStyle/>
                    <a:p>
                      <a:pPr algn="l"/>
                      <a:r>
                        <a:rPr lang="ja-JP" sz="1200" b="0">
                          <a:solidFill>
                            <a:srgbClr val="333333"/>
                          </a:solidFill>
                          <a:latin typeface="メイリオ"/>
                          <a:ea typeface="メイリオ"/>
                          <a:cs typeface="メイリオ"/>
                        </a:rPr>
                        <a:t>未入会／予約したが不参加</a:t>
                      </a:r>
                    </a:p>
                  </a:txBody>
                  <a:tcPr marL="91440" marR="73152" marT="45720" marB="45720" anchor="ctr">
                    <a:solidFill>
                      <a:srgbClr val="F5F7FA"/>
                    </a:solidFill>
                  </a:tcPr>
                </a:tc>
                <a:tc>
                  <a:txBody>
                    <a:bodyPr/>
                    <a:lstStyle/>
                    <a:p>
                      <a:pPr algn="l"/>
                      <a:r>
                        <a:rPr lang="ja-JP" sz="1200" b="0">
                          <a:solidFill>
                            <a:srgbClr val="333333"/>
                          </a:solidFill>
                          <a:latin typeface="メイリオ"/>
                          <a:ea typeface="メイリオ"/>
                          <a:cs typeface="メイリオ"/>
                        </a:rPr>
                        <a:t>次のイベントまで接点が無い</a:t>
                      </a:r>
                    </a:p>
                  </a:txBody>
                  <a:tcPr marL="91440" marR="73152" marT="45720" marB="45720" anchor="ctr">
                    <a:solidFill>
                      <a:srgbClr val="F5F7FA"/>
                    </a:solidFill>
                  </a:tcPr>
                </a:tc>
                <a:tc>
                  <a:txBody>
                    <a:bodyPr/>
                    <a:lstStyle/>
                    <a:p>
                      <a:pPr algn="l"/>
                      <a:r>
                        <a:rPr lang="ja-JP" sz="1200" b="0">
                          <a:solidFill>
                            <a:srgbClr val="333333"/>
                          </a:solidFill>
                          <a:latin typeface="メイリオ"/>
                          <a:ea typeface="メイリオ"/>
                          <a:cs typeface="メイリオ"/>
                        </a:rPr>
                        <a:t>月2回の配信で次のイベントへ</a:t>
                      </a:r>
                    </a:p>
                  </a:txBody>
                  <a:tcPr marL="91440" marR="73152" marT="45720" marB="45720" anchor="ctr">
                    <a:solidFill>
                      <a:srgbClr val="F5F7FA"/>
                    </a:solidFill>
                  </a:tcPr>
                </a:tc>
                <a:extLst>
                  <a:ext uri="{0D108BD9-81ED-4DB2-BD59-A6C34878D82A}">
                    <a16:rowId xmlns:a16="http://schemas.microsoft.com/office/drawing/2014/main" val="10006"/>
                  </a:ext>
                </a:extLst>
              </a:tr>
              <a:tr h="329184">
                <a:tc>
                  <a:txBody>
                    <a:bodyPr/>
                    <a:lstStyle/>
                    <a:p>
                      <a:pPr algn="l"/>
                      <a:r>
                        <a:rPr lang="ja-JP" sz="1200" b="1">
                          <a:solidFill>
                            <a:srgbClr val="1F2A5C"/>
                          </a:solidFill>
                          <a:latin typeface="メイリオ"/>
                          <a:ea typeface="メイリオ"/>
                          <a:cs typeface="メイリオ"/>
                        </a:rPr>
                        <a:t>⑦ マネタイズ</a:t>
                      </a:r>
                    </a:p>
                  </a:txBody>
                  <a:tcPr marL="91440" marR="73152" marT="45720" marB="45720" anchor="ctr">
                    <a:solidFill>
                      <a:srgbClr val="FFFFFF"/>
                    </a:solidFill>
                  </a:tcPr>
                </a:tc>
                <a:tc>
                  <a:txBody>
                    <a:bodyPr/>
                    <a:lstStyle/>
                    <a:p>
                      <a:pPr algn="l"/>
                      <a:r>
                        <a:rPr lang="ja-JP" sz="1200" b="0">
                          <a:solidFill>
                            <a:srgbClr val="333333"/>
                          </a:solidFill>
                          <a:latin typeface="メイリオ"/>
                          <a:ea typeface="メイリオ"/>
                          <a:cs typeface="メイリオ"/>
                        </a:rPr>
                        <a:t>サロンの入会を検討</a:t>
                      </a:r>
                    </a:p>
                  </a:txBody>
                  <a:tcPr marL="91440" marR="73152" marT="45720" marB="45720" anchor="ctr">
                    <a:solidFill>
                      <a:srgbClr val="FFFFFF"/>
                    </a:solidFill>
                  </a:tcPr>
                </a:tc>
                <a:tc>
                  <a:txBody>
                    <a:bodyPr/>
                    <a:lstStyle/>
                    <a:p>
                      <a:pPr algn="l"/>
                      <a:r>
                        <a:rPr lang="ja-JP" sz="1200" b="0">
                          <a:solidFill>
                            <a:srgbClr val="333333"/>
                          </a:solidFill>
                          <a:latin typeface="メイリオ"/>
                          <a:ea typeface="メイリオ"/>
                          <a:cs typeface="メイリオ"/>
                        </a:rPr>
                        <a:t>入会後の中身・成果が見えない</a:t>
                      </a:r>
                    </a:p>
                  </a:txBody>
                  <a:tcPr marL="91440" marR="73152" marT="45720" marB="45720" anchor="ctr">
                    <a:solidFill>
                      <a:srgbClr val="FFFFFF"/>
                    </a:solidFill>
                  </a:tcPr>
                </a:tc>
                <a:tc>
                  <a:txBody>
                    <a:bodyPr/>
                    <a:lstStyle/>
                    <a:p>
                      <a:pPr algn="l"/>
                      <a:r>
                        <a:rPr lang="ja-JP" sz="1200" b="0">
                          <a:solidFill>
                            <a:srgbClr val="333333"/>
                          </a:solidFill>
                          <a:latin typeface="メイリオ"/>
                          <a:ea typeface="メイリオ"/>
                          <a:cs typeface="メイリオ"/>
                        </a:rPr>
                        <a:t>入会した方の声を配信</a:t>
                      </a:r>
                    </a:p>
                  </a:txBody>
                  <a:tcPr marL="91440" marR="73152" marT="45720" marB="45720" anchor="ctr">
                    <a:solidFill>
                      <a:srgbClr val="FFFFFF"/>
                    </a:solidFill>
                  </a:tcPr>
                </a:tc>
                <a:extLst>
                  <a:ext uri="{0D108BD9-81ED-4DB2-BD59-A6C34878D82A}">
                    <a16:rowId xmlns:a16="http://schemas.microsoft.com/office/drawing/2014/main" val="10007"/>
                  </a:ext>
                </a:extLst>
              </a:tr>
              <a:tr h="329184">
                <a:tc>
                  <a:txBody>
                    <a:bodyPr/>
                    <a:lstStyle/>
                    <a:p>
                      <a:pPr algn="l"/>
                      <a:r>
                        <a:rPr lang="ja-JP" sz="1200" b="1">
                          <a:solidFill>
                            <a:srgbClr val="1F2A5C"/>
                          </a:solidFill>
                          <a:latin typeface="メイリオ"/>
                          <a:ea typeface="メイリオ"/>
                          <a:cs typeface="メイリオ"/>
                        </a:rPr>
                        <a:t>⑧ ファン化・紹介</a:t>
                      </a:r>
                    </a:p>
                  </a:txBody>
                  <a:tcPr marL="91440" marR="73152" marT="45720" marB="45720" anchor="ctr">
                    <a:solidFill>
                      <a:srgbClr val="F5F7FA"/>
                    </a:solidFill>
                  </a:tcPr>
                </a:tc>
                <a:tc>
                  <a:txBody>
                    <a:bodyPr/>
                    <a:lstStyle/>
                    <a:p>
                      <a:pPr algn="l"/>
                      <a:r>
                        <a:rPr lang="ja-JP" sz="1200" b="0">
                          <a:solidFill>
                            <a:srgbClr val="333333"/>
                          </a:solidFill>
                          <a:latin typeface="メイリオ"/>
                          <a:ea typeface="メイリオ"/>
                          <a:cs typeface="メイリオ"/>
                        </a:rPr>
                        <a:t>サロンに入会</a:t>
                      </a:r>
                    </a:p>
                  </a:txBody>
                  <a:tcPr marL="91440" marR="73152" marT="45720" marB="45720" anchor="ctr">
                    <a:solidFill>
                      <a:srgbClr val="F5F7FA"/>
                    </a:solidFill>
                  </a:tcPr>
                </a:tc>
                <a:tc>
                  <a:txBody>
                    <a:bodyPr/>
                    <a:lstStyle/>
                    <a:p>
                      <a:pPr algn="l"/>
                      <a:r>
                        <a:rPr lang="ja-JP" sz="1200" b="0">
                          <a:solidFill>
                            <a:srgbClr val="333333"/>
                          </a:solidFill>
                          <a:latin typeface="メイリオ"/>
                          <a:ea typeface="メイリオ"/>
                          <a:cs typeface="メイリオ"/>
                        </a:rPr>
                        <a:t>--</a:t>
                      </a:r>
                    </a:p>
                  </a:txBody>
                  <a:tcPr marL="91440" marR="73152" marT="45720" marB="45720" anchor="ctr">
                    <a:solidFill>
                      <a:srgbClr val="F5F7FA"/>
                    </a:solidFill>
                  </a:tcPr>
                </a:tc>
                <a:tc>
                  <a:txBody>
                    <a:bodyPr/>
                    <a:lstStyle/>
                    <a:p>
                      <a:pPr algn="l"/>
                      <a:r>
                        <a:rPr lang="ja-JP" sz="1200" b="0">
                          <a:solidFill>
                            <a:srgbClr val="333333"/>
                          </a:solidFill>
                          <a:latin typeface="メイリオ"/>
                          <a:ea typeface="メイリオ"/>
                          <a:cs typeface="メイリオ"/>
                        </a:rPr>
                        <a:t>次のイベントの案内・紹介</a:t>
                      </a:r>
                    </a:p>
                  </a:txBody>
                  <a:tcPr marL="91440" marR="73152" marT="45720" marB="45720" anchor="ctr">
                    <a:solidFill>
                      <a:srgbClr val="F5F7FA"/>
                    </a:solidFill>
                  </a:tcPr>
                </a:tc>
                <a:extLst>
                  <a:ext uri="{0D108BD9-81ED-4DB2-BD59-A6C34878D82A}">
                    <a16:rowId xmlns:a16="http://schemas.microsoft.com/office/drawing/2014/main" val="10008"/>
                  </a:ext>
                </a:extLst>
              </a:tr>
            </a:tbl>
          </a:graphicData>
        </a:graphic>
      </p:graphicFrame>
      <p:sp>
        <p:nvSpPr>
          <p:cNvPr id="19" name="テキスト ボックス 18">
            <a:extLst>
              <a:ext uri="{FF2B5EF4-FFF2-40B4-BE49-F238E27FC236}">
                <a16:creationId xmlns:a16="http://schemas.microsoft.com/office/drawing/2014/main" id="{66008B0A-0A1F-2AD8-1A0D-BF496D4F453D}"/>
              </a:ext>
            </a:extLst>
          </p:cNvPr>
          <p:cNvSpPr txBox="1"/>
          <p:nvPr/>
        </p:nvSpPr>
        <p:spPr>
          <a:xfrm>
            <a:off x="181151" y="707743"/>
            <a:ext cx="9476706" cy="307777"/>
          </a:xfrm>
          <a:prstGeom prst="rect">
            <a:avLst/>
          </a:prstGeom>
          <a:noFill/>
        </p:spPr>
        <p:txBody>
          <a:bodyPr wrap="square">
            <a:spAutoFit/>
          </a:bodyPr>
          <a:lstStyle/>
          <a:p>
            <a:pPr marL="228600">
              <a:spcAft>
                <a:spcPts val="800"/>
              </a:spcAft>
              <a:buNone/>
            </a:pPr>
            <a:r>
              <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rPr>
              <a:t>8</a:t>
            </a: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フェーズごとのユーザー心理・離脱課題・</a:t>
            </a:r>
            <a:r>
              <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rPr>
              <a:t>LINE OA</a:t>
            </a: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の役割を一覧化し、以降の施策設計の土台とする。</a:t>
            </a:r>
            <a:endParaRPr lang="ja-JP" altLang="ja-JP" sz="1100" dirty="0">
              <a:effectLst/>
              <a:latin typeface="メイリオ" panose="02020603050405020304" pitchFamily="18" charset="0"/>
              <a:ea typeface="メイリオ" panose="02020400000000000000" pitchFamily="18" charset="-128"/>
              <a:cs typeface="メイリオ"/>
            </a:endParaRPr>
          </a:p>
        </p:txBody>
      </p:sp>
    </p:spTree>
    <p:extLst>
      <p:ext uri="{BB962C8B-B14F-4D97-AF65-F5344CB8AC3E}">
        <p14:creationId xmlns:p14="http://schemas.microsoft.com/office/powerpoint/2010/main" val="35712723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A8E8E-25CB-4B86-C4F6-E5A7023586F7}"/>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82750B4B-A121-360C-93EE-1C576646E633}"/>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9AF57BBF-9E24-A5DD-4EBD-626AA56926E3}"/>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5" name="直線コネクタ 4">
            <a:extLst>
              <a:ext uri="{FF2B5EF4-FFF2-40B4-BE49-F238E27FC236}">
                <a16:creationId xmlns:a16="http://schemas.microsoft.com/office/drawing/2014/main" id="{2F558483-DBE8-2E46-BAD9-E7186808666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0954E864-E162-A524-FB6F-26FF53B70221}"/>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現状把握</a:t>
            </a:r>
            <a:endParaRPr sz="1600" b="1" dirty="0">
              <a:solidFill>
                <a:srgbClr val="002060"/>
              </a:solidFill>
              <a:latin typeface="メイリオ"/>
              <a:ea typeface="メイリオ"/>
              <a:cs typeface="メイリオ"/>
              <a:sym typeface="Meiryo"/>
            </a:endParaRPr>
          </a:p>
        </p:txBody>
      </p:sp>
      <p:sp>
        <p:nvSpPr>
          <p:cNvPr id="29" name="テキスト ボックス 28">
            <a:extLst>
              <a:ext uri="{FF2B5EF4-FFF2-40B4-BE49-F238E27FC236}">
                <a16:creationId xmlns:a16="http://schemas.microsoft.com/office/drawing/2014/main" id="{89944725-A636-ECEB-0A63-635C9AC8D442}"/>
              </a:ext>
            </a:extLst>
          </p:cNvPr>
          <p:cNvSpPr txBox="1"/>
          <p:nvPr/>
        </p:nvSpPr>
        <p:spPr>
          <a:xfrm>
            <a:off x="4801044" y="1595900"/>
            <a:ext cx="4492485" cy="276999"/>
          </a:xfrm>
          <a:prstGeom prst="rect">
            <a:avLst/>
          </a:prstGeom>
          <a:solidFill>
            <a:srgbClr val="04FA0A"/>
          </a:solidFill>
        </p:spPr>
        <p:txBody>
          <a:bodyPr wrap="square">
            <a:spAutoFit/>
          </a:bodyPr>
          <a:lstStyle/>
          <a:p>
            <a:pPr algn="ctr"/>
            <a:r>
              <a:rPr lang="en-US" altLang="ja-JP" sz="12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1200" b="1" dirty="0">
                <a:solidFill>
                  <a:schemeClr val="bg1"/>
                </a:solidFill>
                <a:latin typeface="メイリオ" panose="020B0604030504040204" pitchFamily="50" charset="-128"/>
                <a:ea typeface="メイリオ" panose="020B0604030504040204" pitchFamily="50" charset="-128"/>
                <a:cs typeface="メイリオ"/>
              </a:rPr>
              <a:t>ステータス</a:t>
            </a:r>
            <a:endParaRPr lang="ja-JP" altLang="en-US" sz="1200" b="1" dirty="0">
              <a:solidFill>
                <a:schemeClr val="bg1"/>
              </a:solidFill>
              <a:latin typeface="メイリオ"/>
              <a:ea typeface="メイリオ"/>
              <a:cs typeface="メイリオ"/>
            </a:endParaRPr>
          </a:p>
        </p:txBody>
      </p:sp>
      <p:sp>
        <p:nvSpPr>
          <p:cNvPr id="31" name="テキスト ボックス 30">
            <a:extLst>
              <a:ext uri="{FF2B5EF4-FFF2-40B4-BE49-F238E27FC236}">
                <a16:creationId xmlns:a16="http://schemas.microsoft.com/office/drawing/2014/main" id="{4084F56D-F327-A822-5987-1D40EC17F819}"/>
              </a:ext>
            </a:extLst>
          </p:cNvPr>
          <p:cNvSpPr txBox="1"/>
          <p:nvPr/>
        </p:nvSpPr>
        <p:spPr>
          <a:xfrm>
            <a:off x="548883" y="1595900"/>
            <a:ext cx="4084077" cy="276999"/>
          </a:xfrm>
          <a:prstGeom prst="rect">
            <a:avLst/>
          </a:prstGeom>
          <a:solidFill>
            <a:schemeClr val="tx1"/>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cs typeface="メイリオ"/>
              </a:rPr>
              <a:t>LP（セミナー申込みページ）ステータス</a:t>
            </a:r>
            <a:endParaRPr lang="ja-JP" altLang="en-US" sz="1200" dirty="0">
              <a:solidFill>
                <a:schemeClr val="bg1"/>
              </a:solidFill>
              <a:latin typeface="メイリオ"/>
              <a:ea typeface="メイリオ"/>
              <a:cs typeface="メイリオ"/>
            </a:endParaRPr>
          </a:p>
        </p:txBody>
      </p:sp>
      <p:sp>
        <p:nvSpPr>
          <p:cNvPr id="43" name="テキスト ボックス 42">
            <a:extLst>
              <a:ext uri="{FF2B5EF4-FFF2-40B4-BE49-F238E27FC236}">
                <a16:creationId xmlns:a16="http://schemas.microsoft.com/office/drawing/2014/main" id="{DF252064-AA26-BA2E-6A97-4DB09F013416}"/>
              </a:ext>
            </a:extLst>
          </p:cNvPr>
          <p:cNvSpPr txBox="1"/>
          <p:nvPr/>
        </p:nvSpPr>
        <p:spPr>
          <a:xfrm>
            <a:off x="548882" y="5699170"/>
            <a:ext cx="4084077" cy="415498"/>
          </a:xfrm>
          <a:prstGeom prst="rect">
            <a:avLst/>
          </a:prstGeom>
          <a:solidFill>
            <a:schemeClr val="bg1">
              <a:lumMod val="95000"/>
            </a:schemeClr>
          </a:solidFill>
        </p:spPr>
        <p:txBody>
          <a:bodyPr wrap="square">
            <a:spAutoFit/>
          </a:bodyPr>
          <a:lstStyle/>
          <a:p>
            <a:pPr algn="ctr"/>
            <a:r>
              <a:rPr lang="ja-JP" altLang="en-US" sz="1050" dirty="0">
                <a:latin typeface="メイリオ" panose="020B0604030504040204" pitchFamily="50" charset="-128"/>
                <a:ea typeface="メイリオ" panose="020B0604030504040204" pitchFamily="50" charset="-128"/>
                <a:cs typeface="メイリオ"/>
              </a:rPr>
              <a:t>広告でセミナー予約を獲得（1回 81件・CPA 26,043円）。</a:t>
            </a:r>
            <a:endParaRPr lang="en-US" altLang="ja-JP" sz="1050" dirty="0">
              <a:latin typeface="メイリオ" panose="020B0604030504040204" pitchFamily="50" charset="-128"/>
              <a:ea typeface="メイリオ" panose="020B0604030504040204" pitchFamily="50" charset="-128"/>
              <a:cs typeface="メイリオ"/>
            </a:endParaRPr>
          </a:p>
          <a:p>
            <a:pPr algn="ctr"/>
            <a:r>
              <a:rPr lang="ja-JP" altLang="en-US" sz="1050" dirty="0">
                <a:solidFill>
                  <a:srgbClr val="1F2A5C"/>
                </a:solidFill>
                <a:latin typeface="メイリオ" panose="020B0604030504040204" pitchFamily="50" charset="-128"/>
                <a:ea typeface="メイリオ" panose="020B0604030504040204" pitchFamily="50" charset="-128"/>
                <a:cs typeface="メイリオ"/>
              </a:rPr>
              <a:t>申し込まずに離れた方を、次のイベントまで案内する手段が無い。</a:t>
            </a:r>
            <a:endParaRPr lang="en-US" altLang="ja-JP" sz="105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53" name="テキスト ボックス 52">
            <a:extLst>
              <a:ext uri="{FF2B5EF4-FFF2-40B4-BE49-F238E27FC236}">
                <a16:creationId xmlns:a16="http://schemas.microsoft.com/office/drawing/2014/main" id="{A9D49B02-3153-70EA-C9DA-F1F7EE54CE44}"/>
              </a:ext>
            </a:extLst>
          </p:cNvPr>
          <p:cNvSpPr txBox="1"/>
          <p:nvPr/>
        </p:nvSpPr>
        <p:spPr>
          <a:xfrm>
            <a:off x="4801043" y="5699170"/>
            <a:ext cx="4492485" cy="415498"/>
          </a:xfrm>
          <a:prstGeom prst="rect">
            <a:avLst/>
          </a:prstGeom>
          <a:solidFill>
            <a:schemeClr val="bg1">
              <a:lumMod val="95000"/>
            </a:schemeClr>
          </a:solidFill>
        </p:spPr>
        <p:txBody>
          <a:bodyPr wrap="square">
            <a:spAutoFit/>
          </a:bodyPr>
          <a:lstStyle/>
          <a:p>
            <a:pPr algn="ctr"/>
            <a:r>
              <a:rPr lang="ja-JP" altLang="en-US" sz="1050" dirty="0">
                <a:latin typeface="メイリオ" panose="020B0604030504040204" pitchFamily="50" charset="-128"/>
                <a:ea typeface="メイリオ" panose="020B0604030504040204" pitchFamily="50" charset="-128"/>
                <a:cs typeface="メイリオ"/>
              </a:rPr>
              <a:t>参加して入会していない方へ、</a:t>
            </a:r>
            <a:endParaRPr lang="en-US" altLang="ja-JP" sz="1050" dirty="0">
              <a:latin typeface="メイリオ" panose="020B0604030504040204" pitchFamily="50" charset="-128"/>
              <a:ea typeface="メイリオ" panose="020B0604030504040204" pitchFamily="50" charset="-128"/>
              <a:cs typeface="メイリオ"/>
            </a:endParaRPr>
          </a:p>
          <a:p>
            <a:pPr algn="ctr"/>
            <a:r>
              <a:rPr lang="ja-JP" altLang="en-US" sz="1050" dirty="0">
                <a:latin typeface="メイリオ" panose="020B0604030504040204" pitchFamily="50" charset="-128"/>
                <a:ea typeface="メイリオ" panose="020B0604030504040204" pitchFamily="50" charset="-128"/>
                <a:cs typeface="メイリオ"/>
              </a:rPr>
              <a:t>入会まで案内を続ける手段が無い状況。</a:t>
            </a:r>
            <a:endParaRPr lang="en-US" altLang="ja-JP" sz="1050" dirty="0">
              <a:latin typeface="メイリオ" panose="020B0604030504040204" pitchFamily="50" charset="-128"/>
              <a:ea typeface="メイリオ" panose="020B0604030504040204" pitchFamily="50" charset="-128"/>
              <a:cs typeface="メイリオ"/>
            </a:endParaRPr>
          </a:p>
        </p:txBody>
      </p:sp>
      <p:pic>
        <p:nvPicPr>
          <p:cNvPr id="55" name="図 54">
            <a:extLst>
              <a:ext uri="{FF2B5EF4-FFF2-40B4-BE49-F238E27FC236}">
                <a16:creationId xmlns:a16="http://schemas.microsoft.com/office/drawing/2014/main" id="{A0055F99-5527-C0F0-D670-596AA96C9DB0}"/>
              </a:ext>
            </a:extLst>
          </p:cNvPr>
          <p:cNvPicPr>
            <a:picLocks noChangeAspect="1"/>
          </p:cNvPicPr>
          <p:nvPr/>
        </p:nvPicPr>
        <p:blipFill>
          <a:blip r:embed="rId3"/>
          <a:stretch>
            <a:fillRect/>
          </a:stretch>
        </p:blipFill>
        <p:spPr>
          <a:xfrm>
            <a:off x="4801043" y="2013911"/>
            <a:ext cx="1732686" cy="3519238"/>
          </a:xfrm>
          <a:prstGeom prst="rect">
            <a:avLst/>
          </a:prstGeom>
        </p:spPr>
      </p:pic>
      <p:sp>
        <p:nvSpPr>
          <p:cNvPr id="61" name="テキスト ボックス 60">
            <a:extLst>
              <a:ext uri="{FF2B5EF4-FFF2-40B4-BE49-F238E27FC236}">
                <a16:creationId xmlns:a16="http://schemas.microsoft.com/office/drawing/2014/main" id="{B2CAE599-CD63-C0C4-6166-4C1744AE2DDD}"/>
              </a:ext>
            </a:extLst>
          </p:cNvPr>
          <p:cNvSpPr txBox="1"/>
          <p:nvPr/>
        </p:nvSpPr>
        <p:spPr>
          <a:xfrm>
            <a:off x="4891820" y="2275406"/>
            <a:ext cx="1543813" cy="2862322"/>
          </a:xfrm>
          <a:prstGeom prst="rect">
            <a:avLst/>
          </a:prstGeom>
          <a:solidFill>
            <a:schemeClr val="bg1"/>
          </a:solidFill>
        </p:spPr>
        <p:txBody>
          <a:bodyPr wrap="square">
            <a:spAutoFit/>
          </a:bodyPr>
          <a:lstStyle/>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p:txBody>
      </p:sp>
      <p:sp>
        <p:nvSpPr>
          <p:cNvPr id="65" name="テキスト ボックス 64">
            <a:extLst>
              <a:ext uri="{FF2B5EF4-FFF2-40B4-BE49-F238E27FC236}">
                <a16:creationId xmlns:a16="http://schemas.microsoft.com/office/drawing/2014/main" id="{C742707A-0EFE-C959-2429-B7F41C6A6533}"/>
              </a:ext>
            </a:extLst>
          </p:cNvPr>
          <p:cNvSpPr txBox="1"/>
          <p:nvPr/>
        </p:nvSpPr>
        <p:spPr>
          <a:xfrm>
            <a:off x="2134777" y="2013910"/>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LP UU</a:t>
            </a:r>
          </a:p>
        </p:txBody>
      </p:sp>
      <p:sp>
        <p:nvSpPr>
          <p:cNvPr id="67" name="テキスト ボックス 66">
            <a:extLst>
              <a:ext uri="{FF2B5EF4-FFF2-40B4-BE49-F238E27FC236}">
                <a16:creationId xmlns:a16="http://schemas.microsoft.com/office/drawing/2014/main" id="{F4B640EE-F406-8C64-40BB-99B4F8666757}"/>
              </a:ext>
            </a:extLst>
          </p:cNvPr>
          <p:cNvSpPr txBox="1"/>
          <p:nvPr/>
        </p:nvSpPr>
        <p:spPr>
          <a:xfrm>
            <a:off x="2137430" y="4908654"/>
            <a:ext cx="2183307" cy="369332"/>
          </a:xfrm>
          <a:prstGeom prst="rect">
            <a:avLst/>
          </a:prstGeom>
          <a:noFill/>
        </p:spPr>
        <p:txBody>
          <a:bodyPr wrap="square">
            <a:spAutoFit/>
          </a:bodyPr>
          <a:lstStyle/>
          <a:p>
            <a:r>
              <a:rPr lang="en-US" altLang="ja-JP" sz="900" dirty="0">
                <a:solidFill>
                  <a:schemeClr val="bg1">
                    <a:lumMod val="65000"/>
                  </a:schemeClr>
                </a:solidFill>
                <a:latin typeface="メイリオ" panose="020B0604030504040204" pitchFamily="50" charset="-128"/>
                <a:ea typeface="メイリオ" panose="020B0604030504040204" pitchFamily="50" charset="-128"/>
                <a:cs typeface="メイリオ"/>
              </a:rPr>
              <a:t>※1回のイベントの数値。LP UUは</a:t>
            </a:r>
            <a:endParaRPr lang="en-US" altLang="ja-JP" sz="900" dirty="0">
              <a:solidFill>
                <a:schemeClr val="bg1">
                  <a:lumMod val="65000"/>
                </a:schemeClr>
              </a:solidFill>
              <a:latin typeface="メイリオ" panose="020B0604030504040204" pitchFamily="50" charset="-128"/>
              <a:ea typeface="メイリオ" panose="020B0604030504040204" pitchFamily="50" charset="-128"/>
              <a:cs typeface="メイリオ"/>
            </a:endParaRPr>
          </a:p>
          <a:p>
            <a:r>
              <a:rPr lang="ja-JP" altLang="en-US" sz="900" dirty="0">
                <a:solidFill>
                  <a:schemeClr val="bg1">
                    <a:lumMod val="65000"/>
                  </a:schemeClr>
                </a:solidFill>
                <a:latin typeface="メイリオ" panose="020B0604030504040204" pitchFamily="50" charset="-128"/>
                <a:ea typeface="メイリオ" panose="020B0604030504040204" pitchFamily="50" charset="-128"/>
                <a:cs typeface="メイリオ"/>
              </a:rPr>
              <a:t>　広告のクリック数からの想定数値。</a:t>
            </a:r>
            <a:endParaRPr lang="ja-JP" altLang="en-US" sz="1400" dirty="0">
              <a:solidFill>
                <a:schemeClr val="bg1">
                  <a:lumMod val="65000"/>
                </a:schemeClr>
              </a:solidFill>
              <a:latin typeface="メイリオ"/>
              <a:ea typeface="メイリオ"/>
              <a:cs typeface="メイリオ"/>
            </a:endParaRPr>
          </a:p>
        </p:txBody>
      </p:sp>
      <p:sp>
        <p:nvSpPr>
          <p:cNvPr id="69" name="テキスト ボックス 68">
            <a:extLst>
              <a:ext uri="{FF2B5EF4-FFF2-40B4-BE49-F238E27FC236}">
                <a16:creationId xmlns:a16="http://schemas.microsoft.com/office/drawing/2014/main" id="{005CE4EC-9DAD-614D-EF21-189AC4A54B8B}"/>
              </a:ext>
            </a:extLst>
          </p:cNvPr>
          <p:cNvSpPr txBox="1"/>
          <p:nvPr/>
        </p:nvSpPr>
        <p:spPr>
          <a:xfrm>
            <a:off x="2134777" y="2329936"/>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うち広告</a:t>
            </a:r>
            <a:r>
              <a:rPr lang="en-US" altLang="ja-JP" sz="1000" dirty="0">
                <a:solidFill>
                  <a:schemeClr val="bg1"/>
                </a:solidFill>
                <a:latin typeface="メイリオ" panose="020B0604030504040204" pitchFamily="50" charset="-128"/>
                <a:ea typeface="メイリオ" panose="020B0604030504040204" pitchFamily="50" charset="-128"/>
                <a:cs typeface="メイリオ"/>
              </a:rPr>
              <a:t>UU</a:t>
            </a:r>
          </a:p>
        </p:txBody>
      </p:sp>
      <p:sp>
        <p:nvSpPr>
          <p:cNvPr id="71" name="テキスト ボックス 70">
            <a:extLst>
              <a:ext uri="{FF2B5EF4-FFF2-40B4-BE49-F238E27FC236}">
                <a16:creationId xmlns:a16="http://schemas.microsoft.com/office/drawing/2014/main" id="{E9F2E720-D964-9A60-45CD-5C6E8BAA9807}"/>
              </a:ext>
            </a:extLst>
          </p:cNvPr>
          <p:cNvSpPr txBox="1"/>
          <p:nvPr/>
        </p:nvSpPr>
        <p:spPr>
          <a:xfrm>
            <a:off x="2134777" y="2645962"/>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広告費用</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73" name="テキスト ボックス 72">
            <a:extLst>
              <a:ext uri="{FF2B5EF4-FFF2-40B4-BE49-F238E27FC236}">
                <a16:creationId xmlns:a16="http://schemas.microsoft.com/office/drawing/2014/main" id="{C569673A-D559-A164-179E-003DC44124E7}"/>
              </a:ext>
            </a:extLst>
          </p:cNvPr>
          <p:cNvSpPr txBox="1"/>
          <p:nvPr/>
        </p:nvSpPr>
        <p:spPr>
          <a:xfrm>
            <a:off x="2117317" y="4550976"/>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メイン流入元</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75" name="テキスト ボックス 74">
            <a:extLst>
              <a:ext uri="{FF2B5EF4-FFF2-40B4-BE49-F238E27FC236}">
                <a16:creationId xmlns:a16="http://schemas.microsoft.com/office/drawing/2014/main" id="{5DF15628-8396-5390-0708-F6E808EFAAFF}"/>
              </a:ext>
            </a:extLst>
          </p:cNvPr>
          <p:cNvSpPr txBox="1"/>
          <p:nvPr/>
        </p:nvSpPr>
        <p:spPr>
          <a:xfrm>
            <a:off x="2117317" y="4234950"/>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他</a:t>
            </a:r>
            <a:r>
              <a:rPr lang="en-US" altLang="ja-JP" sz="1000" dirty="0">
                <a:solidFill>
                  <a:schemeClr val="bg1"/>
                </a:solidFill>
                <a:latin typeface="メイリオ" panose="020B0604030504040204" pitchFamily="50" charset="-128"/>
                <a:ea typeface="メイリオ" panose="020B0604030504040204" pitchFamily="50" charset="-128"/>
                <a:cs typeface="メイリオ"/>
              </a:rPr>
              <a:t>SNS</a:t>
            </a:r>
          </a:p>
        </p:txBody>
      </p:sp>
      <p:sp>
        <p:nvSpPr>
          <p:cNvPr id="76" name="テキスト ボックス 75">
            <a:extLst>
              <a:ext uri="{FF2B5EF4-FFF2-40B4-BE49-F238E27FC236}">
                <a16:creationId xmlns:a16="http://schemas.microsoft.com/office/drawing/2014/main" id="{4C5B2CB3-9726-166D-3753-A503CCEF0A26}"/>
              </a:ext>
            </a:extLst>
          </p:cNvPr>
          <p:cNvSpPr txBox="1"/>
          <p:nvPr/>
        </p:nvSpPr>
        <p:spPr>
          <a:xfrm>
            <a:off x="2117317" y="3918924"/>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リード保有数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78" name="テキスト ボックス 77">
            <a:extLst>
              <a:ext uri="{FF2B5EF4-FFF2-40B4-BE49-F238E27FC236}">
                <a16:creationId xmlns:a16="http://schemas.microsoft.com/office/drawing/2014/main" id="{DC4812CB-3D04-2C5B-A271-41DFEDCAB4C8}"/>
              </a:ext>
            </a:extLst>
          </p:cNvPr>
          <p:cNvSpPr txBox="1"/>
          <p:nvPr/>
        </p:nvSpPr>
        <p:spPr>
          <a:xfrm>
            <a:off x="2134777" y="2961988"/>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CV数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80" name="テキスト ボックス 79">
            <a:extLst>
              <a:ext uri="{FF2B5EF4-FFF2-40B4-BE49-F238E27FC236}">
                <a16:creationId xmlns:a16="http://schemas.microsoft.com/office/drawing/2014/main" id="{0482930D-56AE-298D-A6EB-FFBDE40ECC00}"/>
              </a:ext>
            </a:extLst>
          </p:cNvPr>
          <p:cNvSpPr txBox="1"/>
          <p:nvPr/>
        </p:nvSpPr>
        <p:spPr>
          <a:xfrm>
            <a:off x="2134777" y="3278014"/>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cs typeface="メイリオ"/>
              </a:rPr>
              <a:t>CV</a:t>
            </a:r>
            <a:r>
              <a:rPr lang="ja-JP" altLang="en-US" sz="1000" dirty="0">
                <a:solidFill>
                  <a:schemeClr val="bg1"/>
                </a:solidFill>
                <a:latin typeface="メイリオ" panose="020B0604030504040204" pitchFamily="50" charset="-128"/>
                <a:ea typeface="メイリオ" panose="020B0604030504040204" pitchFamily="50" charset="-128"/>
                <a:cs typeface="メイリオ"/>
              </a:rPr>
              <a:t>地点</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82" name="テキスト ボックス 81">
            <a:extLst>
              <a:ext uri="{FF2B5EF4-FFF2-40B4-BE49-F238E27FC236}">
                <a16:creationId xmlns:a16="http://schemas.microsoft.com/office/drawing/2014/main" id="{3C4E2BA0-63A7-25D9-1A97-5C69DFD79C77}"/>
              </a:ext>
            </a:extLst>
          </p:cNvPr>
          <p:cNvSpPr txBox="1"/>
          <p:nvPr/>
        </p:nvSpPr>
        <p:spPr>
          <a:xfrm>
            <a:off x="2134777" y="3594040"/>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cs typeface="メイリオ"/>
              </a:rPr>
              <a:t>LINE</a:t>
            </a:r>
            <a:r>
              <a:rPr lang="ja-JP" altLang="en-US" sz="1000" dirty="0">
                <a:solidFill>
                  <a:schemeClr val="bg1"/>
                </a:solidFill>
                <a:latin typeface="メイリオ" panose="020B0604030504040204" pitchFamily="50" charset="-128"/>
                <a:ea typeface="メイリオ" panose="020B0604030504040204" pitchFamily="50" charset="-128"/>
                <a:cs typeface="メイリオ"/>
              </a:rPr>
              <a:t>動線</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86" name="テキスト ボックス 85">
            <a:extLst>
              <a:ext uri="{FF2B5EF4-FFF2-40B4-BE49-F238E27FC236}">
                <a16:creationId xmlns:a16="http://schemas.microsoft.com/office/drawing/2014/main" id="{EE72F3BF-6AE9-F7CC-CE6A-1536B8F8A660}"/>
              </a:ext>
            </a:extLst>
          </p:cNvPr>
          <p:cNvSpPr txBox="1"/>
          <p:nvPr/>
        </p:nvSpPr>
        <p:spPr>
          <a:xfrm>
            <a:off x="6624506" y="2019331"/>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友だち数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88" name="テキスト ボックス 87">
            <a:extLst>
              <a:ext uri="{FF2B5EF4-FFF2-40B4-BE49-F238E27FC236}">
                <a16:creationId xmlns:a16="http://schemas.microsoft.com/office/drawing/2014/main" id="{01CD0233-3F13-52A2-0BD2-A107006D060A}"/>
              </a:ext>
            </a:extLst>
          </p:cNvPr>
          <p:cNvSpPr txBox="1"/>
          <p:nvPr/>
        </p:nvSpPr>
        <p:spPr>
          <a:xfrm>
            <a:off x="6624506" y="2335357"/>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アクティブ数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90" name="テキスト ボックス 89">
            <a:extLst>
              <a:ext uri="{FF2B5EF4-FFF2-40B4-BE49-F238E27FC236}">
                <a16:creationId xmlns:a16="http://schemas.microsoft.com/office/drawing/2014/main" id="{E7B4DAA3-597E-9850-4FC5-7AEEE3895876}"/>
              </a:ext>
            </a:extLst>
          </p:cNvPr>
          <p:cNvSpPr txBox="1"/>
          <p:nvPr/>
        </p:nvSpPr>
        <p:spPr>
          <a:xfrm>
            <a:off x="6624506" y="2651383"/>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ブロック率</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92" name="テキスト ボックス 91">
            <a:extLst>
              <a:ext uri="{FF2B5EF4-FFF2-40B4-BE49-F238E27FC236}">
                <a16:creationId xmlns:a16="http://schemas.microsoft.com/office/drawing/2014/main" id="{88937895-903D-2714-B911-64B989A6665C}"/>
              </a:ext>
            </a:extLst>
          </p:cNvPr>
          <p:cNvSpPr txBox="1"/>
          <p:nvPr/>
        </p:nvSpPr>
        <p:spPr>
          <a:xfrm>
            <a:off x="6624506" y="4863565"/>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cs typeface="メイリオ"/>
              </a:rPr>
              <a:t>※</a:t>
            </a:r>
          </a:p>
        </p:txBody>
      </p:sp>
      <p:sp>
        <p:nvSpPr>
          <p:cNvPr id="94" name="テキスト ボックス 93">
            <a:extLst>
              <a:ext uri="{FF2B5EF4-FFF2-40B4-BE49-F238E27FC236}">
                <a16:creationId xmlns:a16="http://schemas.microsoft.com/office/drawing/2014/main" id="{C4822FE9-074B-EE00-9A49-F386569EF4E6}"/>
              </a:ext>
            </a:extLst>
          </p:cNvPr>
          <p:cNvSpPr txBox="1"/>
          <p:nvPr/>
        </p:nvSpPr>
        <p:spPr>
          <a:xfrm>
            <a:off x="6624506" y="4547539"/>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ツール</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96" name="テキスト ボックス 95">
            <a:extLst>
              <a:ext uri="{FF2B5EF4-FFF2-40B4-BE49-F238E27FC236}">
                <a16:creationId xmlns:a16="http://schemas.microsoft.com/office/drawing/2014/main" id="{E79733FB-6A51-DF26-D629-AE6F7073025B}"/>
              </a:ext>
            </a:extLst>
          </p:cNvPr>
          <p:cNvSpPr txBox="1"/>
          <p:nvPr/>
        </p:nvSpPr>
        <p:spPr>
          <a:xfrm>
            <a:off x="6624506" y="4231513"/>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想定コスト</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98" name="テキスト ボックス 97">
            <a:extLst>
              <a:ext uri="{FF2B5EF4-FFF2-40B4-BE49-F238E27FC236}">
                <a16:creationId xmlns:a16="http://schemas.microsoft.com/office/drawing/2014/main" id="{0B4493A0-88F0-89E9-9CBF-885AEEBFF9AC}"/>
              </a:ext>
            </a:extLst>
          </p:cNvPr>
          <p:cNvSpPr txBox="1"/>
          <p:nvPr/>
        </p:nvSpPr>
        <p:spPr>
          <a:xfrm>
            <a:off x="6624506" y="2967409"/>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月間投稿数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0" name="テキスト ボックス 99">
            <a:extLst>
              <a:ext uri="{FF2B5EF4-FFF2-40B4-BE49-F238E27FC236}">
                <a16:creationId xmlns:a16="http://schemas.microsoft.com/office/drawing/2014/main" id="{EE73B576-3B41-B994-1FCA-9ED3BC1A3172}"/>
              </a:ext>
            </a:extLst>
          </p:cNvPr>
          <p:cNvSpPr txBox="1"/>
          <p:nvPr/>
        </p:nvSpPr>
        <p:spPr>
          <a:xfrm>
            <a:off x="6624506" y="3283435"/>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ステップ実施</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2" name="テキスト ボックス 101">
            <a:extLst>
              <a:ext uri="{FF2B5EF4-FFF2-40B4-BE49-F238E27FC236}">
                <a16:creationId xmlns:a16="http://schemas.microsoft.com/office/drawing/2014/main" id="{F2C9EB15-683C-4B0A-1EE1-C4245240F17A}"/>
              </a:ext>
            </a:extLst>
          </p:cNvPr>
          <p:cNvSpPr txBox="1"/>
          <p:nvPr/>
        </p:nvSpPr>
        <p:spPr>
          <a:xfrm>
            <a:off x="6624506" y="3599461"/>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アンケート実施</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4" name="テキスト ボックス 103">
            <a:extLst>
              <a:ext uri="{FF2B5EF4-FFF2-40B4-BE49-F238E27FC236}">
                <a16:creationId xmlns:a16="http://schemas.microsoft.com/office/drawing/2014/main" id="{AABDA6DE-2BAF-ADF7-0424-50D388AC01E5}"/>
              </a:ext>
            </a:extLst>
          </p:cNvPr>
          <p:cNvSpPr txBox="1"/>
          <p:nvPr/>
        </p:nvSpPr>
        <p:spPr>
          <a:xfrm>
            <a:off x="6624506" y="3915487"/>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プロフ動線</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6" name="テキスト ボックス 105">
            <a:extLst>
              <a:ext uri="{FF2B5EF4-FFF2-40B4-BE49-F238E27FC236}">
                <a16:creationId xmlns:a16="http://schemas.microsoft.com/office/drawing/2014/main" id="{6C91CF70-D90C-4141-8B26-5B1DD07D7D1D}"/>
              </a:ext>
            </a:extLst>
          </p:cNvPr>
          <p:cNvSpPr txBox="1"/>
          <p:nvPr/>
        </p:nvSpPr>
        <p:spPr>
          <a:xfrm>
            <a:off x="3229084" y="2019331"/>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3,000</a:t>
            </a:r>
          </a:p>
        </p:txBody>
      </p:sp>
      <p:sp>
        <p:nvSpPr>
          <p:cNvPr id="108" name="テキスト ボックス 107">
            <a:extLst>
              <a:ext uri="{FF2B5EF4-FFF2-40B4-BE49-F238E27FC236}">
                <a16:creationId xmlns:a16="http://schemas.microsoft.com/office/drawing/2014/main" id="{2786C9AD-9375-AA46-5333-046CCBB18FE2}"/>
              </a:ext>
            </a:extLst>
          </p:cNvPr>
          <p:cNvSpPr txBox="1"/>
          <p:nvPr/>
        </p:nvSpPr>
        <p:spPr>
          <a:xfrm>
            <a:off x="3229084" y="2335357"/>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約2,760</a:t>
            </a:r>
          </a:p>
        </p:txBody>
      </p:sp>
      <p:sp>
        <p:nvSpPr>
          <p:cNvPr id="110" name="テキスト ボックス 109">
            <a:extLst>
              <a:ext uri="{FF2B5EF4-FFF2-40B4-BE49-F238E27FC236}">
                <a16:creationId xmlns:a16="http://schemas.microsoft.com/office/drawing/2014/main" id="{813069E4-69E1-66A2-90C2-822AF2276F64}"/>
              </a:ext>
            </a:extLst>
          </p:cNvPr>
          <p:cNvSpPr txBox="1"/>
          <p:nvPr/>
        </p:nvSpPr>
        <p:spPr>
          <a:xfrm>
            <a:off x="3229084" y="2651383"/>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約211万円</a:t>
            </a:r>
            <a:endParaRPr lang="en-US" altLang="ja-JP" sz="1000" b="1" dirty="0">
              <a:latin typeface="メイリオ" panose="020B0604030504040204" pitchFamily="50" charset="-128"/>
              <a:ea typeface="メイリオ" panose="020B0604030504040204" pitchFamily="50" charset="-128"/>
              <a:cs typeface="メイリオ"/>
            </a:endParaRPr>
          </a:p>
        </p:txBody>
      </p:sp>
      <p:sp>
        <p:nvSpPr>
          <p:cNvPr id="112" name="テキスト ボックス 111">
            <a:extLst>
              <a:ext uri="{FF2B5EF4-FFF2-40B4-BE49-F238E27FC236}">
                <a16:creationId xmlns:a16="http://schemas.microsoft.com/office/drawing/2014/main" id="{9864CA39-A311-2EB8-804E-4F1BBDF74575}"/>
              </a:ext>
            </a:extLst>
          </p:cNvPr>
          <p:cNvSpPr txBox="1"/>
          <p:nvPr/>
        </p:nvSpPr>
        <p:spPr>
          <a:xfrm>
            <a:off x="3211624" y="4556397"/>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広告</a:t>
            </a:r>
          </a:p>
        </p:txBody>
      </p:sp>
      <p:sp>
        <p:nvSpPr>
          <p:cNvPr id="114" name="テキスト ボックス 113">
            <a:extLst>
              <a:ext uri="{FF2B5EF4-FFF2-40B4-BE49-F238E27FC236}">
                <a16:creationId xmlns:a16="http://schemas.microsoft.com/office/drawing/2014/main" id="{EDFB7A90-75B8-B37D-145F-272542CA021E}"/>
              </a:ext>
            </a:extLst>
          </p:cNvPr>
          <p:cNvSpPr txBox="1"/>
          <p:nvPr/>
        </p:nvSpPr>
        <p:spPr>
          <a:xfrm>
            <a:off x="3211624" y="4240371"/>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a:t>
            </a:r>
          </a:p>
        </p:txBody>
      </p:sp>
      <p:sp>
        <p:nvSpPr>
          <p:cNvPr id="116" name="テキスト ボックス 115">
            <a:extLst>
              <a:ext uri="{FF2B5EF4-FFF2-40B4-BE49-F238E27FC236}">
                <a16:creationId xmlns:a16="http://schemas.microsoft.com/office/drawing/2014/main" id="{EFFD1CA4-9630-0E9F-4C5E-ED52F6370CB1}"/>
              </a:ext>
            </a:extLst>
          </p:cNvPr>
          <p:cNvSpPr txBox="1"/>
          <p:nvPr/>
        </p:nvSpPr>
        <p:spPr>
          <a:xfrm>
            <a:off x="3211624" y="3924345"/>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a:t>
            </a:r>
          </a:p>
        </p:txBody>
      </p:sp>
      <p:sp>
        <p:nvSpPr>
          <p:cNvPr id="118" name="テキスト ボックス 117">
            <a:extLst>
              <a:ext uri="{FF2B5EF4-FFF2-40B4-BE49-F238E27FC236}">
                <a16:creationId xmlns:a16="http://schemas.microsoft.com/office/drawing/2014/main" id="{550EE59A-47D1-9367-09B0-1A6F7E0AE0E3}"/>
              </a:ext>
            </a:extLst>
          </p:cNvPr>
          <p:cNvSpPr txBox="1"/>
          <p:nvPr/>
        </p:nvSpPr>
        <p:spPr>
          <a:xfrm>
            <a:off x="3229084" y="2971256"/>
            <a:ext cx="1360330" cy="246221"/>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81件</a:t>
            </a:r>
            <a:endParaRPr lang="en-US" altLang="ja-JP" sz="1000" b="1" dirty="0">
              <a:latin typeface="メイリオ" panose="020B0604030504040204" pitchFamily="50" charset="-128"/>
              <a:ea typeface="メイリオ" panose="020B0604030504040204" pitchFamily="50" charset="-128"/>
              <a:cs typeface="メイリオ"/>
            </a:endParaRPr>
          </a:p>
        </p:txBody>
      </p:sp>
      <p:sp>
        <p:nvSpPr>
          <p:cNvPr id="120" name="テキスト ボックス 119">
            <a:extLst>
              <a:ext uri="{FF2B5EF4-FFF2-40B4-BE49-F238E27FC236}">
                <a16:creationId xmlns:a16="http://schemas.microsoft.com/office/drawing/2014/main" id="{23698D91-4F04-ED85-ACCD-AD4A9AC48A1B}"/>
              </a:ext>
            </a:extLst>
          </p:cNvPr>
          <p:cNvSpPr txBox="1"/>
          <p:nvPr/>
        </p:nvSpPr>
        <p:spPr>
          <a:xfrm>
            <a:off x="3229084" y="3283435"/>
            <a:ext cx="1360330" cy="246221"/>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cs typeface="メイリオ"/>
              </a:rPr>
              <a:t>セミナー予約</a:t>
            </a:r>
            <a:endParaRPr lang="en-US" altLang="ja-JP" sz="10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22" name="テキスト ボックス 121">
            <a:extLst>
              <a:ext uri="{FF2B5EF4-FFF2-40B4-BE49-F238E27FC236}">
                <a16:creationId xmlns:a16="http://schemas.microsoft.com/office/drawing/2014/main" id="{5E8D7F39-4F6F-4AF2-4196-C2EA1FC38898}"/>
              </a:ext>
            </a:extLst>
          </p:cNvPr>
          <p:cNvSpPr txBox="1"/>
          <p:nvPr/>
        </p:nvSpPr>
        <p:spPr>
          <a:xfrm>
            <a:off x="3229084" y="3599461"/>
            <a:ext cx="1360330" cy="253916"/>
          </a:xfrm>
          <a:prstGeom prst="rect">
            <a:avLst/>
          </a:prstGeom>
          <a:solidFill>
            <a:schemeClr val="bg1">
              <a:lumMod val="95000"/>
            </a:schemeClr>
          </a:solidFill>
        </p:spPr>
        <p:txBody>
          <a:bodyPr wrap="square" anchor="ctr">
            <a:spAutoFit/>
          </a:bodyPr>
          <a:lstStyle/>
          <a:p>
            <a:pPr algn="ctr"/>
            <a:r>
              <a:rPr lang="ja-JP" altLang="en-US" sz="1000" b="1" dirty="0">
                <a:solidFill>
                  <a:srgbClr val="1F2A5C"/>
                </a:solidFill>
                <a:latin typeface="メイリオ" panose="020B0604030504040204" pitchFamily="50" charset="-128"/>
                <a:ea typeface="メイリオ" panose="020B0604030504040204" pitchFamily="50" charset="-128"/>
                <a:cs typeface="メイリオ"/>
              </a:rPr>
              <a:t>なし</a:t>
            </a:r>
            <a:endParaRPr lang="en-US" altLang="ja-JP" sz="10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69" name="テキスト ボックス 168">
            <a:extLst>
              <a:ext uri="{FF2B5EF4-FFF2-40B4-BE49-F238E27FC236}">
                <a16:creationId xmlns:a16="http://schemas.microsoft.com/office/drawing/2014/main" id="{7D910DD2-60FF-DE1D-244F-84DABD92D62C}"/>
              </a:ext>
            </a:extLst>
          </p:cNvPr>
          <p:cNvSpPr txBox="1"/>
          <p:nvPr/>
        </p:nvSpPr>
        <p:spPr>
          <a:xfrm>
            <a:off x="6624505" y="5184313"/>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cs typeface="メイリオ"/>
              </a:rPr>
              <a:t>※</a:t>
            </a:r>
          </a:p>
        </p:txBody>
      </p:sp>
      <p:sp>
        <p:nvSpPr>
          <p:cNvPr id="171" name="テキスト ボックス 170">
            <a:extLst>
              <a:ext uri="{FF2B5EF4-FFF2-40B4-BE49-F238E27FC236}">
                <a16:creationId xmlns:a16="http://schemas.microsoft.com/office/drawing/2014/main" id="{C08B973B-E807-9696-E35D-A7AFE85B05D4}"/>
              </a:ext>
            </a:extLst>
          </p:cNvPr>
          <p:cNvSpPr txBox="1"/>
          <p:nvPr/>
        </p:nvSpPr>
        <p:spPr>
          <a:xfrm>
            <a:off x="7754601" y="2021490"/>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a:t>
            </a:r>
          </a:p>
        </p:txBody>
      </p:sp>
      <p:sp>
        <p:nvSpPr>
          <p:cNvPr id="173" name="テキスト ボックス 172">
            <a:extLst>
              <a:ext uri="{FF2B5EF4-FFF2-40B4-BE49-F238E27FC236}">
                <a16:creationId xmlns:a16="http://schemas.microsoft.com/office/drawing/2014/main" id="{20E8600C-74F6-D8CE-13DD-E436F6712689}"/>
              </a:ext>
            </a:extLst>
          </p:cNvPr>
          <p:cNvSpPr txBox="1"/>
          <p:nvPr/>
        </p:nvSpPr>
        <p:spPr>
          <a:xfrm>
            <a:off x="7754601" y="2337516"/>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a:t>
            </a:r>
          </a:p>
        </p:txBody>
      </p:sp>
      <p:sp>
        <p:nvSpPr>
          <p:cNvPr id="175" name="テキスト ボックス 174">
            <a:extLst>
              <a:ext uri="{FF2B5EF4-FFF2-40B4-BE49-F238E27FC236}">
                <a16:creationId xmlns:a16="http://schemas.microsoft.com/office/drawing/2014/main" id="{A09F1BA2-66AE-1801-55BA-97DAABCF1F8A}"/>
              </a:ext>
            </a:extLst>
          </p:cNvPr>
          <p:cNvSpPr txBox="1"/>
          <p:nvPr/>
        </p:nvSpPr>
        <p:spPr>
          <a:xfrm>
            <a:off x="7754601" y="2653542"/>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a:t>
            </a:r>
          </a:p>
        </p:txBody>
      </p:sp>
      <p:sp>
        <p:nvSpPr>
          <p:cNvPr id="177" name="テキスト ボックス 176">
            <a:extLst>
              <a:ext uri="{FF2B5EF4-FFF2-40B4-BE49-F238E27FC236}">
                <a16:creationId xmlns:a16="http://schemas.microsoft.com/office/drawing/2014/main" id="{14E58E5E-2D77-90E6-91E8-9955CA80F448}"/>
              </a:ext>
            </a:extLst>
          </p:cNvPr>
          <p:cNvSpPr txBox="1"/>
          <p:nvPr/>
        </p:nvSpPr>
        <p:spPr>
          <a:xfrm>
            <a:off x="7754601" y="4865724"/>
            <a:ext cx="1493286" cy="253916"/>
          </a:xfrm>
          <a:prstGeom prst="rect">
            <a:avLst/>
          </a:prstGeom>
          <a:solidFill>
            <a:schemeClr val="bg1">
              <a:lumMod val="95000"/>
            </a:schemeClr>
          </a:solidFill>
        </p:spPr>
        <p:txBody>
          <a:bodyPr wrap="square">
            <a:spAutoFit/>
          </a:bodyPr>
          <a:lstStyle/>
          <a:p>
            <a:pPr algn="ctr"/>
            <a:r>
              <a:rPr lang="en-US" altLang="ja-JP" sz="1000" dirty="0">
                <a:latin typeface="メイリオ" panose="020B0604030504040204" pitchFamily="50" charset="-128"/>
                <a:ea typeface="メイリオ" panose="020B0604030504040204" pitchFamily="50" charset="-128"/>
                <a:cs typeface="メイリオ"/>
              </a:rPr>
              <a:t>※</a:t>
            </a:r>
          </a:p>
        </p:txBody>
      </p:sp>
      <p:sp>
        <p:nvSpPr>
          <p:cNvPr id="179" name="テキスト ボックス 178">
            <a:extLst>
              <a:ext uri="{FF2B5EF4-FFF2-40B4-BE49-F238E27FC236}">
                <a16:creationId xmlns:a16="http://schemas.microsoft.com/office/drawing/2014/main" id="{6C59D28E-FF8E-2297-95D2-CE45250AC0A3}"/>
              </a:ext>
            </a:extLst>
          </p:cNvPr>
          <p:cNvSpPr txBox="1"/>
          <p:nvPr/>
        </p:nvSpPr>
        <p:spPr>
          <a:xfrm>
            <a:off x="7754601" y="4549698"/>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a:t>
            </a:r>
          </a:p>
        </p:txBody>
      </p:sp>
      <p:sp>
        <p:nvSpPr>
          <p:cNvPr id="181" name="テキスト ボックス 180">
            <a:extLst>
              <a:ext uri="{FF2B5EF4-FFF2-40B4-BE49-F238E27FC236}">
                <a16:creationId xmlns:a16="http://schemas.microsoft.com/office/drawing/2014/main" id="{47410AFA-018D-A9C2-B086-8AF69BAA4489}"/>
              </a:ext>
            </a:extLst>
          </p:cNvPr>
          <p:cNvSpPr txBox="1"/>
          <p:nvPr/>
        </p:nvSpPr>
        <p:spPr>
          <a:xfrm>
            <a:off x="7754601" y="4233672"/>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a:t>
            </a:r>
          </a:p>
        </p:txBody>
      </p:sp>
      <p:sp>
        <p:nvSpPr>
          <p:cNvPr id="183" name="テキスト ボックス 182">
            <a:extLst>
              <a:ext uri="{FF2B5EF4-FFF2-40B4-BE49-F238E27FC236}">
                <a16:creationId xmlns:a16="http://schemas.microsoft.com/office/drawing/2014/main" id="{165EBB6B-ADB3-3E8C-14D2-AB834625C2FE}"/>
              </a:ext>
            </a:extLst>
          </p:cNvPr>
          <p:cNvSpPr txBox="1"/>
          <p:nvPr/>
        </p:nvSpPr>
        <p:spPr>
          <a:xfrm>
            <a:off x="7754601" y="2969568"/>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a:t>
            </a:r>
          </a:p>
        </p:txBody>
      </p:sp>
      <p:sp>
        <p:nvSpPr>
          <p:cNvPr id="185" name="テキスト ボックス 184">
            <a:extLst>
              <a:ext uri="{FF2B5EF4-FFF2-40B4-BE49-F238E27FC236}">
                <a16:creationId xmlns:a16="http://schemas.microsoft.com/office/drawing/2014/main" id="{3A3BFABF-D395-60F7-F2BD-02619745DF45}"/>
              </a:ext>
            </a:extLst>
          </p:cNvPr>
          <p:cNvSpPr txBox="1"/>
          <p:nvPr/>
        </p:nvSpPr>
        <p:spPr>
          <a:xfrm>
            <a:off x="7754601" y="3285594"/>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a:t>
            </a:r>
          </a:p>
        </p:txBody>
      </p:sp>
      <p:sp>
        <p:nvSpPr>
          <p:cNvPr id="187" name="テキスト ボックス 186">
            <a:extLst>
              <a:ext uri="{FF2B5EF4-FFF2-40B4-BE49-F238E27FC236}">
                <a16:creationId xmlns:a16="http://schemas.microsoft.com/office/drawing/2014/main" id="{231C25BF-5B10-E199-7FC9-7E0D6694588F}"/>
              </a:ext>
            </a:extLst>
          </p:cNvPr>
          <p:cNvSpPr txBox="1"/>
          <p:nvPr/>
        </p:nvSpPr>
        <p:spPr>
          <a:xfrm>
            <a:off x="7754601" y="3601620"/>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a:t>
            </a:r>
          </a:p>
        </p:txBody>
      </p:sp>
      <p:sp>
        <p:nvSpPr>
          <p:cNvPr id="189" name="テキスト ボックス 188">
            <a:extLst>
              <a:ext uri="{FF2B5EF4-FFF2-40B4-BE49-F238E27FC236}">
                <a16:creationId xmlns:a16="http://schemas.microsoft.com/office/drawing/2014/main" id="{CDB65BA8-4992-8A6F-6949-F0D9E6297210}"/>
              </a:ext>
            </a:extLst>
          </p:cNvPr>
          <p:cNvSpPr txBox="1"/>
          <p:nvPr/>
        </p:nvSpPr>
        <p:spPr>
          <a:xfrm>
            <a:off x="7754601" y="3917646"/>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a:t>
            </a:r>
          </a:p>
        </p:txBody>
      </p:sp>
      <p:sp>
        <p:nvSpPr>
          <p:cNvPr id="191" name="テキスト ボックス 190">
            <a:extLst>
              <a:ext uri="{FF2B5EF4-FFF2-40B4-BE49-F238E27FC236}">
                <a16:creationId xmlns:a16="http://schemas.microsoft.com/office/drawing/2014/main" id="{18879675-133C-898A-AB5B-286927352D72}"/>
              </a:ext>
            </a:extLst>
          </p:cNvPr>
          <p:cNvSpPr txBox="1"/>
          <p:nvPr/>
        </p:nvSpPr>
        <p:spPr>
          <a:xfrm>
            <a:off x="7754600" y="5186472"/>
            <a:ext cx="1493286" cy="253916"/>
          </a:xfrm>
          <a:prstGeom prst="rect">
            <a:avLst/>
          </a:prstGeom>
          <a:solidFill>
            <a:schemeClr val="bg1">
              <a:lumMod val="95000"/>
            </a:schemeClr>
          </a:solidFill>
        </p:spPr>
        <p:txBody>
          <a:bodyPr wrap="square">
            <a:spAutoFit/>
          </a:bodyPr>
          <a:lstStyle/>
          <a:p>
            <a:pPr algn="ctr"/>
            <a:r>
              <a:rPr lang="en-US" altLang="ja-JP" sz="1000" dirty="0">
                <a:latin typeface="メイリオ" panose="020B0604030504040204" pitchFamily="50" charset="-128"/>
                <a:ea typeface="メイリオ" panose="020B0604030504040204" pitchFamily="50" charset="-128"/>
                <a:cs typeface="メイリオ"/>
              </a:rPr>
              <a:t>※</a:t>
            </a:r>
          </a:p>
        </p:txBody>
      </p:sp>
      <p:sp>
        <p:nvSpPr>
          <p:cNvPr id="192" name="差し込み LPの画面"/>
          <p:cNvSpPr/>
          <p:nvPr/>
        </p:nvSpPr>
        <p:spPr>
          <a:xfrm>
            <a:off x="507335" y="2008789"/>
            <a:ext cx="1557206" cy="3162823"/>
          </a:xfrm>
          <a:prstGeom prst="rect">
            <a:avLst/>
          </a:prstGeom>
          <a:noFill/>
          <a:ln w="9525">
            <a:solidFill>
              <a:srgbClr val="7F7F7F"/>
            </a:solidFill>
            <a:prstDash val="dash"/>
          </a:ln>
        </p:spPr>
        <p:txBody>
          <a:bodyPr wrap="square" lIns="73152" tIns="36576" rIns="73152" bIns="36576" rtlCol="0" anchor="ctr">
            <a:noAutofit/>
          </a:bodyPr>
          <a:lstStyle/>
          <a:p>
            <a:pPr algn="ctr">
              <a:buNone/>
            </a:pPr>
            <a:r>
              <a:rPr lang="ja-JP" altLang="en-US" sz="1200" b="1" dirty="0">
                <a:solidFill>
                  <a:srgbClr val="7F7F7F"/>
                </a:solidFill>
                <a:latin typeface="メイリオ" panose="020B0604030504040204" pitchFamily="50" charset="-128"/>
                <a:ea typeface="メイリオ" panose="020B0604030504040204" pitchFamily="50" charset="-128"/>
                <a:cs typeface="メイリオ"/>
              </a:rPr>
              <a:t>LPの画面</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23784845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E2D860-D20C-DFFA-89EA-A46B82A5DB11}"/>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D30ACD85-15EC-FC5A-B63C-42D277C5A6A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1DC17654-F65C-A9D9-21EB-8D05BBE86AC8}"/>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04DC6DE6-9A8D-0047-2FAE-67250D9E5F43}"/>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ニーズ調査（シーズナリティ）</a:t>
            </a:r>
            <a:endParaRPr sz="1600" b="1" dirty="0">
              <a:solidFill>
                <a:srgbClr val="002060"/>
              </a:solidFill>
              <a:latin typeface="メイリオ"/>
              <a:ea typeface="メイリオ"/>
              <a:cs typeface="メイリオ"/>
              <a:sym typeface="Meiryo"/>
            </a:endParaRPr>
          </a:p>
        </p:txBody>
      </p:sp>
      <p:sp>
        <p:nvSpPr>
          <p:cNvPr id="8" name="テキスト ボックス 7">
            <a:extLst>
              <a:ext uri="{FF2B5EF4-FFF2-40B4-BE49-F238E27FC236}">
                <a16:creationId xmlns:a16="http://schemas.microsoft.com/office/drawing/2014/main" id="{AB3D5176-7A86-8B1D-B537-7482C61F2830}"/>
              </a:ext>
            </a:extLst>
          </p:cNvPr>
          <p:cNvSpPr txBox="1"/>
          <p:nvPr/>
        </p:nvSpPr>
        <p:spPr>
          <a:xfrm>
            <a:off x="8133806" y="5351907"/>
            <a:ext cx="1458360" cy="230832"/>
          </a:xfrm>
          <a:prstGeom prst="rect">
            <a:avLst/>
          </a:prstGeom>
          <a:noFill/>
        </p:spPr>
        <p:txBody>
          <a:bodyPr wrap="square">
            <a:spAutoFit/>
          </a:bodyPr>
          <a:lstStyle/>
          <a:p>
            <a:r>
              <a:rPr lang="en-US" altLang="ja-JP" sz="900" dirty="0">
                <a:solidFill>
                  <a:schemeClr val="bg1">
                    <a:lumMod val="65000"/>
                  </a:schemeClr>
                </a:solidFill>
                <a:latin typeface="メイリオ" panose="020B0604030504040204" pitchFamily="50" charset="-128"/>
                <a:ea typeface="メイリオ" panose="020B0604030504040204" pitchFamily="50" charset="-128"/>
                <a:cs typeface="メイリオ"/>
              </a:rPr>
              <a:t>※Google</a:t>
            </a:r>
            <a:r>
              <a:rPr lang="ja-JP" altLang="en-US" sz="900" dirty="0">
                <a:solidFill>
                  <a:schemeClr val="bg1">
                    <a:lumMod val="65000"/>
                  </a:schemeClr>
                </a:solidFill>
                <a:latin typeface="メイリオ" panose="020B0604030504040204" pitchFamily="50" charset="-128"/>
                <a:ea typeface="メイリオ" panose="020B0604030504040204" pitchFamily="50" charset="-128"/>
                <a:cs typeface="メイリオ"/>
              </a:rPr>
              <a:t>トレンドより</a:t>
            </a:r>
            <a:endParaRPr lang="ja-JP" altLang="en-US" sz="1400" dirty="0">
              <a:solidFill>
                <a:schemeClr val="bg1">
                  <a:lumMod val="65000"/>
                </a:schemeClr>
              </a:solidFill>
              <a:latin typeface="メイリオ"/>
              <a:ea typeface="メイリオ"/>
              <a:cs typeface="メイリオ"/>
            </a:endParaRPr>
          </a:p>
        </p:txBody>
      </p:sp>
      <p:sp>
        <p:nvSpPr>
          <p:cNvPr id="5" name="テキスト ボックス 4">
            <a:extLst>
              <a:ext uri="{FF2B5EF4-FFF2-40B4-BE49-F238E27FC236}">
                <a16:creationId xmlns:a16="http://schemas.microsoft.com/office/drawing/2014/main" id="{922D6823-FF2A-C1F7-974B-0F8BF7DDC41B}"/>
              </a:ext>
            </a:extLst>
          </p:cNvPr>
          <p:cNvSpPr txBox="1"/>
          <p:nvPr/>
        </p:nvSpPr>
        <p:spPr>
          <a:xfrm>
            <a:off x="181151" y="707743"/>
            <a:ext cx="9476706" cy="307777"/>
          </a:xfrm>
          <a:prstGeom prst="rect">
            <a:avLst/>
          </a:prstGeom>
          <a:noFill/>
        </p:spPr>
        <p:txBody>
          <a:bodyPr wrap="square">
            <a:spAutoFit/>
          </a:bodyPr>
          <a:lstStyle/>
          <a:p>
            <a:pPr marL="228600">
              <a:spcAft>
                <a:spcPts val="800"/>
              </a:spcAft>
              <a:buNone/>
            </a:pP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検索ボリュームの季節変動を把握し、繁忙期に先行した配信設計の根拠に。</a:t>
            </a:r>
            <a:endParaRPr lang="ja-JP" altLang="ja-JP" sz="1100" dirty="0">
              <a:effectLst/>
              <a:latin typeface="メイリオ" panose="02020603050405020304" pitchFamily="18" charset="0"/>
              <a:ea typeface="メイリオ" panose="02020400000000000000" pitchFamily="18" charset="-128"/>
              <a:cs typeface="メイリオ"/>
            </a:endParaRPr>
          </a:p>
        </p:txBody>
      </p:sp>
      <p:sp>
        <p:nvSpPr>
          <p:cNvPr id="46" name="差し込み Googleトレンドの画像（保険営業の方の検索の季節変動）"/>
          <p:cNvSpPr/>
          <p:nvPr/>
        </p:nvSpPr>
        <p:spPr>
          <a:xfrm>
            <a:off x="220588" y="1688676"/>
            <a:ext cx="9464824" cy="3461599"/>
          </a:xfrm>
          <a:prstGeom prst="rect">
            <a:avLst/>
          </a:prstGeom>
          <a:noFill/>
          <a:ln w="9525">
            <a:solidFill>
              <a:srgbClr val="7F7F7F"/>
            </a:solidFill>
            <a:prstDash val="dash"/>
          </a:ln>
        </p:spPr>
        <p:txBody>
          <a:bodyPr wrap="square" lIns="73152" tIns="36576" rIns="73152" bIns="36576" rtlCol="0" anchor="ctr">
            <a:noAutofit/>
          </a:bodyPr>
          <a:lstStyle/>
          <a:p>
            <a:pPr algn="ctr">
              <a:buNone/>
            </a:pPr>
            <a:r>
              <a:rPr lang="ja-JP" altLang="en-US" sz="1200" b="1" dirty="0">
                <a:solidFill>
                  <a:srgbClr val="7F7F7F"/>
                </a:solidFill>
                <a:latin typeface="メイリオ" panose="020B0604030504040204" pitchFamily="50" charset="-128"/>
                <a:ea typeface="メイリオ" panose="020B0604030504040204" pitchFamily="50" charset="-128"/>
                <a:cs typeface="メイリオ"/>
              </a:rPr>
              <a:t>Googleトレンドの画像（保険営業の方の検索の季節変動）</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1429089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9E4664-0791-AB23-9ACF-A79FA4D2CD12}"/>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598A5F44-4DAD-79B8-2CEA-267E86DC8605}"/>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198BB5E6-49E8-E304-2236-96ED9AF800A4}"/>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ニーズ調査（前後検索）</a:t>
            </a:r>
            <a:endParaRPr sz="1600" b="1" dirty="0">
              <a:solidFill>
                <a:srgbClr val="002060"/>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88303E2C-F4EF-F0AA-1EF9-E0A01EDFC0ED}"/>
              </a:ext>
            </a:extLst>
          </p:cNvPr>
          <p:cNvSpPr txBox="1"/>
          <p:nvPr/>
        </p:nvSpPr>
        <p:spPr>
          <a:xfrm>
            <a:off x="3030583" y="184284"/>
            <a:ext cx="2351314" cy="246221"/>
          </a:xfrm>
          <a:prstGeom prst="rect">
            <a:avLst/>
          </a:prstGeom>
          <a:noFill/>
        </p:spPr>
        <p:txBody>
          <a:bodyPr wrap="square">
            <a:spAutoFit/>
          </a:bodyPr>
          <a:lstStyle/>
          <a:p>
            <a:r>
              <a:rPr lang="en-US" altLang="ja-JP" sz="1000" dirty="0">
                <a:solidFill>
                  <a:srgbClr val="1F2A5C"/>
                </a:solidFill>
                <a:latin typeface="メイリオ"/>
                <a:ea typeface="メイリオ"/>
                <a:cs typeface="メイリオ"/>
                <a:sym typeface="Meiryo"/>
              </a:rPr>
              <a:t>※LINE</a:t>
            </a:r>
            <a:r>
              <a:rPr lang="ja-JP" altLang="en-US" sz="1000" dirty="0">
                <a:solidFill>
                  <a:srgbClr val="1F2A5C"/>
                </a:solidFill>
                <a:latin typeface="メイリオ"/>
                <a:ea typeface="メイリオ"/>
                <a:cs typeface="メイリオ"/>
                <a:sym typeface="Meiryo"/>
              </a:rPr>
              <a:t>ヤフーの媒体情報を参考に</a:t>
            </a:r>
            <a:endParaRPr lang="ja-JP" altLang="en-US" sz="1050" dirty="0">
              <a:solidFill>
                <a:srgbClr val="1F2A5C"/>
              </a:solidFill>
              <a:latin typeface="メイリオ"/>
              <a:ea typeface="メイリオ"/>
              <a:cs typeface="メイリオ"/>
            </a:endParaRPr>
          </a:p>
        </p:txBody>
      </p:sp>
      <p:cxnSp>
        <p:nvCxnSpPr>
          <p:cNvPr id="6" name="直線コネクタ 5">
            <a:extLst>
              <a:ext uri="{FF2B5EF4-FFF2-40B4-BE49-F238E27FC236}">
                <a16:creationId xmlns:a16="http://schemas.microsoft.com/office/drawing/2014/main" id="{513D5E39-C6C9-D6C0-5819-C587AA1C507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21" name="テキスト ボックス 20">
            <a:extLst>
              <a:ext uri="{FF2B5EF4-FFF2-40B4-BE49-F238E27FC236}">
                <a16:creationId xmlns:a16="http://schemas.microsoft.com/office/drawing/2014/main" id="{160D2D1C-9CD0-28D0-3138-8C01E5B887B5}"/>
              </a:ext>
            </a:extLst>
          </p:cNvPr>
          <p:cNvSpPr txBox="1"/>
          <p:nvPr/>
        </p:nvSpPr>
        <p:spPr>
          <a:xfrm>
            <a:off x="2151017" y="1491943"/>
            <a:ext cx="1576252" cy="253916"/>
          </a:xfrm>
          <a:prstGeom prst="rect">
            <a:avLst/>
          </a:prstGeom>
          <a:no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rPr>
              <a:t>の検索前後データ</a:t>
            </a:r>
            <a:endParaRPr kumimoji="1" lang="ja-JP" altLang="en-US" sz="105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22" name="正方形/長方形 21">
            <a:extLst>
              <a:ext uri="{FF2B5EF4-FFF2-40B4-BE49-F238E27FC236}">
                <a16:creationId xmlns:a16="http://schemas.microsoft.com/office/drawing/2014/main" id="{13B630D1-4FF6-F9C6-E36E-F82FF8BB2858}"/>
              </a:ext>
            </a:extLst>
          </p:cNvPr>
          <p:cNvSpPr/>
          <p:nvPr/>
        </p:nvSpPr>
        <p:spPr>
          <a:xfrm>
            <a:off x="920090" y="1468481"/>
            <a:ext cx="1397216" cy="28342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キーワード</a:t>
            </a:r>
          </a:p>
        </p:txBody>
      </p:sp>
      <p:sp>
        <p:nvSpPr>
          <p:cNvPr id="11" name="正方形/長方形 10">
            <a:extLst>
              <a:ext uri="{FF2B5EF4-FFF2-40B4-BE49-F238E27FC236}">
                <a16:creationId xmlns:a16="http://schemas.microsoft.com/office/drawing/2014/main" id="{3A99C536-4301-F569-61F1-54067CA4AE75}"/>
              </a:ext>
            </a:extLst>
          </p:cNvPr>
          <p:cNvSpPr/>
          <p:nvPr/>
        </p:nvSpPr>
        <p:spPr>
          <a:xfrm>
            <a:off x="1090344" y="6053937"/>
            <a:ext cx="3908791"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該当ワードの検索</a:t>
            </a:r>
            <a:r>
              <a:rPr kumimoji="1" lang="en-US" altLang="ja-JP" sz="1050" b="1" dirty="0">
                <a:solidFill>
                  <a:schemeClr val="tx1"/>
                </a:solidFill>
                <a:latin typeface="メイリオ" panose="020B0604030504040204" pitchFamily="50" charset="-128"/>
                <a:ea typeface="メイリオ" panose="020B0604030504040204" pitchFamily="50" charset="-128"/>
                <a:cs typeface="メイリオ"/>
              </a:rPr>
              <a:t>”</a:t>
            </a: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前</a:t>
            </a:r>
            <a:r>
              <a:rPr kumimoji="1" lang="en-US" altLang="ja-JP" sz="1050" b="1" dirty="0">
                <a:solidFill>
                  <a:schemeClr val="tx1"/>
                </a:solidFill>
                <a:latin typeface="メイリオ" panose="020B0604030504040204" pitchFamily="50" charset="-128"/>
                <a:ea typeface="メイリオ" panose="020B0604030504040204" pitchFamily="50" charset="-128"/>
                <a:cs typeface="メイリオ"/>
              </a:rPr>
              <a:t>”15</a:t>
            </a: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日</a:t>
            </a:r>
          </a:p>
        </p:txBody>
      </p:sp>
      <p:sp>
        <p:nvSpPr>
          <p:cNvPr id="13" name="正方形/長方形 12">
            <a:extLst>
              <a:ext uri="{FF2B5EF4-FFF2-40B4-BE49-F238E27FC236}">
                <a16:creationId xmlns:a16="http://schemas.microsoft.com/office/drawing/2014/main" id="{5B08C2C6-BF88-EDFE-9307-526D7AB38942}"/>
              </a:ext>
            </a:extLst>
          </p:cNvPr>
          <p:cNvSpPr/>
          <p:nvPr/>
        </p:nvSpPr>
        <p:spPr>
          <a:xfrm>
            <a:off x="5109349" y="6053937"/>
            <a:ext cx="3908791"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cs typeface="メイリオ"/>
              </a:rPr>
              <a:t>該当ワードの検索</a:t>
            </a:r>
            <a:r>
              <a:rPr lang="en-US" altLang="ja-JP" sz="1050" b="1" dirty="0">
                <a:solidFill>
                  <a:schemeClr val="tx1"/>
                </a:solidFill>
                <a:latin typeface="メイリオ" panose="020B0604030504040204" pitchFamily="50" charset="-128"/>
                <a:ea typeface="メイリオ" panose="020B0604030504040204" pitchFamily="50" charset="-128"/>
                <a:cs typeface="メイリオ"/>
              </a:rPr>
              <a:t>”</a:t>
            </a:r>
            <a:r>
              <a:rPr lang="ja-JP" altLang="en-US" sz="1050" b="1" dirty="0">
                <a:solidFill>
                  <a:schemeClr val="tx1"/>
                </a:solidFill>
                <a:latin typeface="メイリオ" panose="020B0604030504040204" pitchFamily="50" charset="-128"/>
                <a:ea typeface="メイリオ" panose="020B0604030504040204" pitchFamily="50" charset="-128"/>
                <a:cs typeface="メイリオ"/>
              </a:rPr>
              <a:t>後</a:t>
            </a:r>
            <a:r>
              <a:rPr lang="en-US" altLang="ja-JP" sz="1050" b="1" dirty="0">
                <a:solidFill>
                  <a:schemeClr val="tx1"/>
                </a:solidFill>
                <a:latin typeface="メイリオ" panose="020B0604030504040204" pitchFamily="50" charset="-128"/>
                <a:ea typeface="メイリオ" panose="020B0604030504040204" pitchFamily="50" charset="-128"/>
                <a:cs typeface="メイリオ"/>
              </a:rPr>
              <a:t>”15</a:t>
            </a:r>
            <a:r>
              <a:rPr lang="ja-JP" altLang="en-US" sz="1050" b="1" dirty="0">
                <a:solidFill>
                  <a:schemeClr val="tx1"/>
                </a:solidFill>
                <a:latin typeface="メイリオ" panose="020B0604030504040204" pitchFamily="50" charset="-128"/>
                <a:ea typeface="メイリオ" panose="020B0604030504040204" pitchFamily="50" charset="-128"/>
                <a:cs typeface="メイリオ"/>
              </a:rPr>
              <a:t>日</a:t>
            </a:r>
          </a:p>
        </p:txBody>
      </p:sp>
      <p:cxnSp>
        <p:nvCxnSpPr>
          <p:cNvPr id="15" name="直線矢印コネクタ 14">
            <a:extLst>
              <a:ext uri="{FF2B5EF4-FFF2-40B4-BE49-F238E27FC236}">
                <a16:creationId xmlns:a16="http://schemas.microsoft.com/office/drawing/2014/main" id="{56C657A1-149E-41EE-730E-3EAE4C3BA201}"/>
              </a:ext>
            </a:extLst>
          </p:cNvPr>
          <p:cNvCxnSpPr>
            <a:cxnSpLocks/>
          </p:cNvCxnSpPr>
          <p:nvPr/>
        </p:nvCxnSpPr>
        <p:spPr>
          <a:xfrm flipV="1">
            <a:off x="807709" y="1709902"/>
            <a:ext cx="0" cy="4562932"/>
          </a:xfrm>
          <a:prstGeom prst="straightConnector1">
            <a:avLst/>
          </a:prstGeom>
          <a:ln w="15875">
            <a:solidFill>
              <a:schemeClr val="tx1">
                <a:lumMod val="65000"/>
                <a:lumOff val="35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6" name="テキスト ボックス 15">
            <a:extLst>
              <a:ext uri="{FF2B5EF4-FFF2-40B4-BE49-F238E27FC236}">
                <a16:creationId xmlns:a16="http://schemas.microsoft.com/office/drawing/2014/main" id="{E4FE3AE9-35AF-85CD-C2CC-E0CD16851957}"/>
              </a:ext>
            </a:extLst>
          </p:cNvPr>
          <p:cNvSpPr txBox="1"/>
          <p:nvPr/>
        </p:nvSpPr>
        <p:spPr>
          <a:xfrm>
            <a:off x="736682" y="1847126"/>
            <a:ext cx="1079863" cy="253916"/>
          </a:xfrm>
          <a:prstGeom prst="rect">
            <a:avLst/>
          </a:prstGeom>
          <a:noFill/>
        </p:spPr>
        <p:txBody>
          <a:bodyPr wrap="square">
            <a:spAutoFit/>
          </a:bodyPr>
          <a:lstStyle/>
          <a:p>
            <a:r>
              <a:rPr lang="ja-JP" altLang="en-US" sz="1050" b="1" dirty="0">
                <a:solidFill>
                  <a:srgbClr val="1F2A5C"/>
                </a:solidFill>
                <a:latin typeface="メイリオ" panose="020B0604030504040204" pitchFamily="50" charset="-128"/>
                <a:ea typeface="メイリオ" panose="020B0604030504040204" pitchFamily="50" charset="-128"/>
                <a:cs typeface="メイリオ"/>
              </a:rPr>
              <a:t>検索</a:t>
            </a:r>
            <a:r>
              <a:rPr lang="en-US" altLang="ja-JP" sz="1050" b="1" dirty="0">
                <a:solidFill>
                  <a:srgbClr val="1F2A5C"/>
                </a:solidFill>
                <a:latin typeface="メイリオ" panose="020B0604030504040204" pitchFamily="50" charset="-128"/>
                <a:ea typeface="メイリオ" panose="020B0604030504040204" pitchFamily="50" charset="-128"/>
                <a:cs typeface="メイリオ"/>
              </a:rPr>
              <a:t>Vol:</a:t>
            </a:r>
            <a:r>
              <a:rPr lang="ja-JP" altLang="en-US" sz="1050" b="1" dirty="0">
                <a:solidFill>
                  <a:srgbClr val="1F2A5C"/>
                </a:solidFill>
                <a:latin typeface="メイリオ" panose="020B0604030504040204" pitchFamily="50" charset="-128"/>
                <a:ea typeface="メイリオ" panose="020B0604030504040204" pitchFamily="50" charset="-128"/>
                <a:cs typeface="メイリオ"/>
              </a:rPr>
              <a:t>多</a:t>
            </a:r>
            <a:endParaRPr kumimoji="1" lang="ja-JP" altLang="en-US" sz="105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7" name="正方形/長方形 6">
            <a:extLst>
              <a:ext uri="{FF2B5EF4-FFF2-40B4-BE49-F238E27FC236}">
                <a16:creationId xmlns:a16="http://schemas.microsoft.com/office/drawing/2014/main" id="{7F3169DD-B4D2-C3B3-E898-796DA8E0ABBE}"/>
              </a:ext>
            </a:extLst>
          </p:cNvPr>
          <p:cNvSpPr/>
          <p:nvPr/>
        </p:nvSpPr>
        <p:spPr>
          <a:xfrm>
            <a:off x="5182016" y="1536888"/>
            <a:ext cx="1079863" cy="4472105"/>
          </a:xfrm>
          <a:prstGeom prst="rect">
            <a:avLst/>
          </a:prstGeom>
          <a:solidFill>
            <a:srgbClr val="04FA0A">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9" name="図 8" descr="LINE公式アカウントのロゴを活用しよう！注意点やNG例も合わせて解説 - LINEマーケティングツールFANVO">
            <a:extLst>
              <a:ext uri="{FF2B5EF4-FFF2-40B4-BE49-F238E27FC236}">
                <a16:creationId xmlns:a16="http://schemas.microsoft.com/office/drawing/2014/main" id="{7499D9A1-145E-E266-83BC-3570D5C46C13}"/>
              </a:ext>
            </a:extLst>
          </p:cNvPr>
          <p:cNvPicPr>
            <a:picLocks noChangeAspect="1"/>
          </p:cNvPicPr>
          <p:nvPr/>
        </p:nvPicPr>
        <p:blipFill>
          <a:blip r:embed="rId4"/>
          <a:stretch>
            <a:fillRect/>
          </a:stretch>
        </p:blipFill>
        <p:spPr>
          <a:xfrm>
            <a:off x="4972346" y="1415224"/>
            <a:ext cx="419340" cy="418460"/>
          </a:xfrm>
          <a:prstGeom prst="rect">
            <a:avLst/>
          </a:prstGeom>
        </p:spPr>
      </p:pic>
      <p:sp>
        <p:nvSpPr>
          <p:cNvPr id="12" name="テキスト ボックス 11">
            <a:extLst>
              <a:ext uri="{FF2B5EF4-FFF2-40B4-BE49-F238E27FC236}">
                <a16:creationId xmlns:a16="http://schemas.microsoft.com/office/drawing/2014/main" id="{D510765C-D91E-3EF4-4A1A-9BF832DC8A4C}"/>
              </a:ext>
            </a:extLst>
          </p:cNvPr>
          <p:cNvSpPr txBox="1"/>
          <p:nvPr/>
        </p:nvSpPr>
        <p:spPr>
          <a:xfrm>
            <a:off x="5301604" y="1579097"/>
            <a:ext cx="1079863" cy="261610"/>
          </a:xfrm>
          <a:prstGeom prst="rect">
            <a:avLst/>
          </a:prstGeom>
          <a:noFill/>
        </p:spPr>
        <p:txBody>
          <a:bodyPr wrap="square">
            <a:spAutoFit/>
          </a:bodyPr>
          <a:lstStyle/>
          <a:p>
            <a:r>
              <a:rPr lang="en-US" altLang="ja-JP" sz="1100" b="1" dirty="0">
                <a:latin typeface="メイリオ"/>
                <a:ea typeface="メイリオ"/>
                <a:cs typeface="メイリオ"/>
                <a:sym typeface="Meiryo"/>
              </a:rPr>
              <a:t>OA</a:t>
            </a:r>
            <a:r>
              <a:rPr lang="ja-JP" altLang="en-US" sz="1100" b="1" dirty="0">
                <a:latin typeface="メイリオ"/>
                <a:ea typeface="メイリオ"/>
                <a:cs typeface="メイリオ"/>
                <a:sym typeface="Meiryo"/>
              </a:rPr>
              <a:t>追加想定</a:t>
            </a:r>
            <a:endParaRPr lang="ja-JP" altLang="en-US" sz="1200" dirty="0">
              <a:latin typeface="メイリオ"/>
              <a:ea typeface="メイリオ"/>
              <a:cs typeface="メイリオ"/>
            </a:endParaRPr>
          </a:p>
        </p:txBody>
      </p:sp>
      <p:sp>
        <p:nvSpPr>
          <p:cNvPr id="8" name="テキスト ボックス 7">
            <a:extLst>
              <a:ext uri="{FF2B5EF4-FFF2-40B4-BE49-F238E27FC236}">
                <a16:creationId xmlns:a16="http://schemas.microsoft.com/office/drawing/2014/main" id="{2D224931-6ECA-9763-63E9-7DD9B080E440}"/>
              </a:ext>
            </a:extLst>
          </p:cNvPr>
          <p:cNvSpPr txBox="1"/>
          <p:nvPr/>
        </p:nvSpPr>
        <p:spPr>
          <a:xfrm>
            <a:off x="181151" y="707743"/>
            <a:ext cx="9476706" cy="307777"/>
          </a:xfrm>
          <a:prstGeom prst="rect">
            <a:avLst/>
          </a:prstGeom>
          <a:noFill/>
        </p:spPr>
        <p:txBody>
          <a:bodyPr wrap="square">
            <a:spAutoFit/>
          </a:bodyPr>
          <a:lstStyle/>
          <a:p>
            <a:pPr marL="228600">
              <a:spcAft>
                <a:spcPts val="800"/>
              </a:spcAft>
              <a:buNone/>
            </a:pP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短期のステップ配信の配信コンテンツ作成に利用。</a:t>
            </a:r>
            <a:endParaRPr lang="ja-JP" altLang="ja-JP" sz="1100" dirty="0">
              <a:effectLst/>
              <a:latin typeface="メイリオ" panose="02020603050405020304" pitchFamily="18" charset="0"/>
              <a:ea typeface="メイリオ" panose="02020400000000000000" pitchFamily="18" charset="-128"/>
              <a:cs typeface="メイリオ"/>
            </a:endParaRPr>
          </a:p>
        </p:txBody>
      </p:sp>
      <p:sp>
        <p:nvSpPr>
          <p:cNvPr id="10" name="四角形: 角を丸くする 9">
            <a:extLst>
              <a:ext uri="{FF2B5EF4-FFF2-40B4-BE49-F238E27FC236}">
                <a16:creationId xmlns:a16="http://schemas.microsoft.com/office/drawing/2014/main" id="{F6D71787-DACF-D927-0AC0-7D5E99A64F29}"/>
              </a:ext>
            </a:extLst>
          </p:cNvPr>
          <p:cNvSpPr/>
          <p:nvPr/>
        </p:nvSpPr>
        <p:spPr>
          <a:xfrm>
            <a:off x="8482149" y="1685711"/>
            <a:ext cx="1185818" cy="253916"/>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ブランド名</a:t>
            </a:r>
          </a:p>
        </p:txBody>
      </p:sp>
      <p:sp>
        <p:nvSpPr>
          <p:cNvPr id="19" name="四角形: 角を丸くする 18">
            <a:extLst>
              <a:ext uri="{FF2B5EF4-FFF2-40B4-BE49-F238E27FC236}">
                <a16:creationId xmlns:a16="http://schemas.microsoft.com/office/drawing/2014/main" id="{FCA279C4-C296-61EC-C9D3-DAE41B033D78}"/>
              </a:ext>
            </a:extLst>
          </p:cNvPr>
          <p:cNvSpPr/>
          <p:nvPr/>
        </p:nvSpPr>
        <p:spPr>
          <a:xfrm>
            <a:off x="8482149" y="1980746"/>
            <a:ext cx="1185818" cy="253916"/>
          </a:xfrm>
          <a:prstGeom prst="roundRect">
            <a:avLst/>
          </a:prstGeom>
          <a:solidFill>
            <a:srgbClr val="1F2A5C">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solidFill>
                  <a:schemeClr val="tx1"/>
                </a:solidFill>
                <a:latin typeface="メイリオ" panose="020B0604030504040204" pitchFamily="50" charset="-128"/>
                <a:ea typeface="メイリオ" panose="020B0604030504040204" pitchFamily="50" charset="-128"/>
                <a:cs typeface="メイリオ"/>
              </a:rPr>
              <a:t>お金周り</a:t>
            </a:r>
          </a:p>
        </p:txBody>
      </p:sp>
      <p:sp>
        <p:nvSpPr>
          <p:cNvPr id="25" name="四角形: 角を丸くする 24">
            <a:extLst>
              <a:ext uri="{FF2B5EF4-FFF2-40B4-BE49-F238E27FC236}">
                <a16:creationId xmlns:a16="http://schemas.microsoft.com/office/drawing/2014/main" id="{F1163350-C485-703A-6504-08D7D75EE71A}"/>
              </a:ext>
            </a:extLst>
          </p:cNvPr>
          <p:cNvSpPr/>
          <p:nvPr/>
        </p:nvSpPr>
        <p:spPr>
          <a:xfrm>
            <a:off x="8482149" y="2269869"/>
            <a:ext cx="1185818" cy="253916"/>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a:solidFill>
                  <a:schemeClr val="tx1"/>
                </a:solidFill>
                <a:latin typeface="メイリオ" panose="020B0604030504040204" pitchFamily="50" charset="-128"/>
                <a:ea typeface="メイリオ" panose="020B0604030504040204" pitchFamily="50" charset="-128"/>
                <a:cs typeface="メイリオ"/>
              </a:rPr>
              <a:t>ライフイベント</a:t>
            </a:r>
            <a:endParaRPr lang="ja-JP" altLang="en-US"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27" name="四角形: 角を丸くする 26">
            <a:extLst>
              <a:ext uri="{FF2B5EF4-FFF2-40B4-BE49-F238E27FC236}">
                <a16:creationId xmlns:a16="http://schemas.microsoft.com/office/drawing/2014/main" id="{575B5195-33B9-6FF0-63AF-D3B0017CCCC2}"/>
              </a:ext>
            </a:extLst>
          </p:cNvPr>
          <p:cNvSpPr/>
          <p:nvPr/>
        </p:nvSpPr>
        <p:spPr>
          <a:xfrm>
            <a:off x="8482149" y="2564904"/>
            <a:ext cx="1185818" cy="253916"/>
          </a:xfrm>
          <a:prstGeom prst="round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46" name="差し込み 前後検索の画像"/>
          <p:cNvSpPr/>
          <p:nvPr/>
        </p:nvSpPr>
        <p:spPr>
          <a:xfrm>
            <a:off x="1312605" y="1893604"/>
            <a:ext cx="7223640" cy="4213792"/>
          </a:xfrm>
          <a:prstGeom prst="rect">
            <a:avLst/>
          </a:prstGeom>
          <a:noFill/>
          <a:ln w="9525">
            <a:solidFill>
              <a:srgbClr val="7F7F7F"/>
            </a:solidFill>
            <a:prstDash val="dash"/>
          </a:ln>
        </p:spPr>
        <p:txBody>
          <a:bodyPr wrap="square" lIns="73152" tIns="36576" rIns="73152" bIns="36576" rtlCol="0" anchor="ctr">
            <a:noAutofit/>
          </a:bodyPr>
          <a:lstStyle/>
          <a:p>
            <a:pPr algn="ctr">
              <a:buNone/>
            </a:pPr>
            <a:r>
              <a:rPr lang="ja-JP" altLang="en-US" sz="1200" b="1" dirty="0">
                <a:solidFill>
                  <a:srgbClr val="7F7F7F"/>
                </a:solidFill>
                <a:latin typeface="メイリオ" panose="020B0604030504040204" pitchFamily="50" charset="-128"/>
                <a:ea typeface="メイリオ" panose="020B0604030504040204" pitchFamily="50" charset="-128"/>
                <a:cs typeface="メイリオ"/>
              </a:rPr>
              <a:t>前後検索の画像</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14381237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033BA2-CF45-0DF9-CBDD-A5830E2CF0BA}"/>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9F42532B-D77B-6AC3-A328-689E2FC45F97}"/>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5D33EAB5-3104-05B5-E501-BBD7DE6AC9F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ニーズ調査（前後検索）</a:t>
            </a:r>
            <a:endParaRPr sz="1600" b="1" dirty="0">
              <a:solidFill>
                <a:srgbClr val="002060"/>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D6F2AE0B-CB02-A8CD-4FB4-B3F45A0A747C}"/>
              </a:ext>
            </a:extLst>
          </p:cNvPr>
          <p:cNvSpPr txBox="1"/>
          <p:nvPr/>
        </p:nvSpPr>
        <p:spPr>
          <a:xfrm>
            <a:off x="3030583" y="184284"/>
            <a:ext cx="2351314" cy="246221"/>
          </a:xfrm>
          <a:prstGeom prst="rect">
            <a:avLst/>
          </a:prstGeom>
          <a:noFill/>
        </p:spPr>
        <p:txBody>
          <a:bodyPr wrap="square">
            <a:spAutoFit/>
          </a:bodyPr>
          <a:lstStyle/>
          <a:p>
            <a:r>
              <a:rPr lang="en-US" altLang="ja-JP" sz="1000" dirty="0">
                <a:solidFill>
                  <a:srgbClr val="1F2A5C"/>
                </a:solidFill>
                <a:latin typeface="メイリオ"/>
                <a:ea typeface="メイリオ"/>
                <a:cs typeface="メイリオ"/>
                <a:sym typeface="Meiryo"/>
              </a:rPr>
              <a:t>※LINE</a:t>
            </a:r>
            <a:r>
              <a:rPr lang="ja-JP" altLang="en-US" sz="1000" dirty="0">
                <a:solidFill>
                  <a:srgbClr val="1F2A5C"/>
                </a:solidFill>
                <a:latin typeface="メイリオ"/>
                <a:ea typeface="メイリオ"/>
                <a:cs typeface="メイリオ"/>
                <a:sym typeface="Meiryo"/>
              </a:rPr>
              <a:t>ヤフーの媒体情報を参考に</a:t>
            </a:r>
            <a:endParaRPr lang="ja-JP" altLang="en-US" sz="1050" dirty="0">
              <a:solidFill>
                <a:srgbClr val="1F2A5C"/>
              </a:solidFill>
              <a:latin typeface="メイリオ"/>
              <a:ea typeface="メイリオ"/>
              <a:cs typeface="メイリオ"/>
            </a:endParaRPr>
          </a:p>
        </p:txBody>
      </p:sp>
      <p:cxnSp>
        <p:nvCxnSpPr>
          <p:cNvPr id="6" name="直線コネクタ 5">
            <a:extLst>
              <a:ext uri="{FF2B5EF4-FFF2-40B4-BE49-F238E27FC236}">
                <a16:creationId xmlns:a16="http://schemas.microsoft.com/office/drawing/2014/main" id="{BA92233F-6BFD-0359-EEDA-BE51C1C483C4}"/>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cxnSp>
        <p:nvCxnSpPr>
          <p:cNvPr id="14" name="直線矢印コネクタ 13">
            <a:extLst>
              <a:ext uri="{FF2B5EF4-FFF2-40B4-BE49-F238E27FC236}">
                <a16:creationId xmlns:a16="http://schemas.microsoft.com/office/drawing/2014/main" id="{8F8E1B34-1AC7-E92D-4681-D5F6A71CFBF4}"/>
              </a:ext>
            </a:extLst>
          </p:cNvPr>
          <p:cNvCxnSpPr>
            <a:cxnSpLocks/>
          </p:cNvCxnSpPr>
          <p:nvPr/>
        </p:nvCxnSpPr>
        <p:spPr>
          <a:xfrm flipV="1">
            <a:off x="807709" y="1709902"/>
            <a:ext cx="0" cy="4562932"/>
          </a:xfrm>
          <a:prstGeom prst="straightConnector1">
            <a:avLst/>
          </a:prstGeom>
          <a:ln w="15875">
            <a:solidFill>
              <a:schemeClr val="tx1">
                <a:lumMod val="65000"/>
                <a:lumOff val="35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1" name="テキスト ボックス 20">
            <a:extLst>
              <a:ext uri="{FF2B5EF4-FFF2-40B4-BE49-F238E27FC236}">
                <a16:creationId xmlns:a16="http://schemas.microsoft.com/office/drawing/2014/main" id="{79E5C2B4-5B91-6669-DA9D-9C6100822D80}"/>
              </a:ext>
            </a:extLst>
          </p:cNvPr>
          <p:cNvSpPr txBox="1"/>
          <p:nvPr/>
        </p:nvSpPr>
        <p:spPr>
          <a:xfrm>
            <a:off x="2151017" y="1491943"/>
            <a:ext cx="1576252" cy="253916"/>
          </a:xfrm>
          <a:prstGeom prst="rect">
            <a:avLst/>
          </a:prstGeom>
          <a:no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rPr>
              <a:t>の検索前後データ</a:t>
            </a:r>
            <a:endParaRPr kumimoji="1" lang="ja-JP" altLang="en-US" sz="105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22" name="正方形/長方形 21">
            <a:extLst>
              <a:ext uri="{FF2B5EF4-FFF2-40B4-BE49-F238E27FC236}">
                <a16:creationId xmlns:a16="http://schemas.microsoft.com/office/drawing/2014/main" id="{F784DCA2-0206-476A-CC2D-15EA1A5F9515}"/>
              </a:ext>
            </a:extLst>
          </p:cNvPr>
          <p:cNvSpPr/>
          <p:nvPr/>
        </p:nvSpPr>
        <p:spPr>
          <a:xfrm>
            <a:off x="920090" y="1468481"/>
            <a:ext cx="1397216" cy="28342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キーワード</a:t>
            </a:r>
          </a:p>
        </p:txBody>
      </p:sp>
      <p:sp>
        <p:nvSpPr>
          <p:cNvPr id="13" name="正方形/長方形 12">
            <a:extLst>
              <a:ext uri="{FF2B5EF4-FFF2-40B4-BE49-F238E27FC236}">
                <a16:creationId xmlns:a16="http://schemas.microsoft.com/office/drawing/2014/main" id="{61C146B2-09C1-EAF2-AA90-D6921017547B}"/>
              </a:ext>
            </a:extLst>
          </p:cNvPr>
          <p:cNvSpPr/>
          <p:nvPr/>
        </p:nvSpPr>
        <p:spPr>
          <a:xfrm>
            <a:off x="1090344" y="6053937"/>
            <a:ext cx="3908791"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該当ワードの検索</a:t>
            </a:r>
            <a:r>
              <a:rPr kumimoji="1" lang="en-US" altLang="ja-JP" sz="1050" b="1" dirty="0">
                <a:solidFill>
                  <a:schemeClr val="tx1"/>
                </a:solidFill>
                <a:latin typeface="メイリオ" panose="020B0604030504040204" pitchFamily="50" charset="-128"/>
                <a:ea typeface="メイリオ" panose="020B0604030504040204" pitchFamily="50" charset="-128"/>
                <a:cs typeface="メイリオ"/>
              </a:rPr>
              <a:t>”</a:t>
            </a: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前</a:t>
            </a:r>
            <a:r>
              <a:rPr kumimoji="1" lang="en-US" altLang="ja-JP" sz="1050" b="1" dirty="0">
                <a:solidFill>
                  <a:schemeClr val="tx1"/>
                </a:solidFill>
                <a:latin typeface="メイリオ" panose="020B0604030504040204" pitchFamily="50" charset="-128"/>
                <a:ea typeface="メイリオ" panose="020B0604030504040204" pitchFamily="50" charset="-128"/>
                <a:cs typeface="メイリオ"/>
              </a:rPr>
              <a:t>”15</a:t>
            </a: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日</a:t>
            </a:r>
          </a:p>
        </p:txBody>
      </p:sp>
      <p:sp>
        <p:nvSpPr>
          <p:cNvPr id="16" name="正方形/長方形 15">
            <a:extLst>
              <a:ext uri="{FF2B5EF4-FFF2-40B4-BE49-F238E27FC236}">
                <a16:creationId xmlns:a16="http://schemas.microsoft.com/office/drawing/2014/main" id="{59D3B460-577D-4DA5-3627-A3FE3F8ED9DC}"/>
              </a:ext>
            </a:extLst>
          </p:cNvPr>
          <p:cNvSpPr/>
          <p:nvPr/>
        </p:nvSpPr>
        <p:spPr>
          <a:xfrm>
            <a:off x="5109349" y="6053937"/>
            <a:ext cx="3908791"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cs typeface="メイリオ"/>
              </a:rPr>
              <a:t>該当ワードの検索</a:t>
            </a:r>
            <a:r>
              <a:rPr lang="en-US" altLang="ja-JP" sz="1050" b="1" dirty="0">
                <a:solidFill>
                  <a:schemeClr val="tx1"/>
                </a:solidFill>
                <a:latin typeface="メイリオ" panose="020B0604030504040204" pitchFamily="50" charset="-128"/>
                <a:ea typeface="メイリオ" panose="020B0604030504040204" pitchFamily="50" charset="-128"/>
                <a:cs typeface="メイリオ"/>
              </a:rPr>
              <a:t>”</a:t>
            </a:r>
            <a:r>
              <a:rPr lang="ja-JP" altLang="en-US" sz="1050" b="1" dirty="0">
                <a:solidFill>
                  <a:schemeClr val="tx1"/>
                </a:solidFill>
                <a:latin typeface="メイリオ" panose="020B0604030504040204" pitchFamily="50" charset="-128"/>
                <a:ea typeface="メイリオ" panose="020B0604030504040204" pitchFamily="50" charset="-128"/>
                <a:cs typeface="メイリオ"/>
              </a:rPr>
              <a:t>後</a:t>
            </a:r>
            <a:r>
              <a:rPr lang="en-US" altLang="ja-JP" sz="1050" b="1" dirty="0">
                <a:solidFill>
                  <a:schemeClr val="tx1"/>
                </a:solidFill>
                <a:latin typeface="メイリオ" panose="020B0604030504040204" pitchFamily="50" charset="-128"/>
                <a:ea typeface="メイリオ" panose="020B0604030504040204" pitchFamily="50" charset="-128"/>
                <a:cs typeface="メイリオ"/>
              </a:rPr>
              <a:t>”15</a:t>
            </a:r>
            <a:r>
              <a:rPr lang="ja-JP" altLang="en-US" sz="1050" b="1" dirty="0">
                <a:solidFill>
                  <a:schemeClr val="tx1"/>
                </a:solidFill>
                <a:latin typeface="メイリオ" panose="020B0604030504040204" pitchFamily="50" charset="-128"/>
                <a:ea typeface="メイリオ" panose="020B0604030504040204" pitchFamily="50" charset="-128"/>
                <a:cs typeface="メイリオ"/>
              </a:rPr>
              <a:t>日</a:t>
            </a:r>
          </a:p>
        </p:txBody>
      </p:sp>
      <p:sp>
        <p:nvSpPr>
          <p:cNvPr id="18" name="テキスト ボックス 17">
            <a:extLst>
              <a:ext uri="{FF2B5EF4-FFF2-40B4-BE49-F238E27FC236}">
                <a16:creationId xmlns:a16="http://schemas.microsoft.com/office/drawing/2014/main" id="{D8D61203-B4E8-EA26-11E7-042F4CC7854D}"/>
              </a:ext>
            </a:extLst>
          </p:cNvPr>
          <p:cNvSpPr txBox="1"/>
          <p:nvPr/>
        </p:nvSpPr>
        <p:spPr>
          <a:xfrm>
            <a:off x="736682" y="1847126"/>
            <a:ext cx="1079863" cy="253916"/>
          </a:xfrm>
          <a:prstGeom prst="rect">
            <a:avLst/>
          </a:prstGeom>
          <a:noFill/>
        </p:spPr>
        <p:txBody>
          <a:bodyPr wrap="square">
            <a:spAutoFit/>
          </a:bodyPr>
          <a:lstStyle/>
          <a:p>
            <a:r>
              <a:rPr lang="ja-JP" altLang="en-US" sz="1050" b="1" dirty="0">
                <a:solidFill>
                  <a:srgbClr val="1F2A5C"/>
                </a:solidFill>
                <a:latin typeface="メイリオ" panose="020B0604030504040204" pitchFamily="50" charset="-128"/>
                <a:ea typeface="メイリオ" panose="020B0604030504040204" pitchFamily="50" charset="-128"/>
                <a:cs typeface="メイリオ"/>
              </a:rPr>
              <a:t>検索</a:t>
            </a:r>
            <a:r>
              <a:rPr lang="en-US" altLang="ja-JP" sz="1050" b="1" dirty="0">
                <a:solidFill>
                  <a:srgbClr val="1F2A5C"/>
                </a:solidFill>
                <a:latin typeface="メイリオ" panose="020B0604030504040204" pitchFamily="50" charset="-128"/>
                <a:ea typeface="メイリオ" panose="020B0604030504040204" pitchFamily="50" charset="-128"/>
                <a:cs typeface="メイリオ"/>
              </a:rPr>
              <a:t>Vol:</a:t>
            </a:r>
            <a:r>
              <a:rPr lang="ja-JP" altLang="en-US" sz="1050" b="1" dirty="0">
                <a:solidFill>
                  <a:srgbClr val="1F2A5C"/>
                </a:solidFill>
                <a:latin typeface="メイリオ" panose="020B0604030504040204" pitchFamily="50" charset="-128"/>
                <a:ea typeface="メイリオ" panose="020B0604030504040204" pitchFamily="50" charset="-128"/>
                <a:cs typeface="メイリオ"/>
              </a:rPr>
              <a:t>多</a:t>
            </a:r>
            <a:endParaRPr kumimoji="1" lang="ja-JP" altLang="en-US" sz="105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0" name="テキスト ボックス 9">
            <a:extLst>
              <a:ext uri="{FF2B5EF4-FFF2-40B4-BE49-F238E27FC236}">
                <a16:creationId xmlns:a16="http://schemas.microsoft.com/office/drawing/2014/main" id="{63FD9650-CF2E-C04B-71DA-C5C32192D256}"/>
              </a:ext>
            </a:extLst>
          </p:cNvPr>
          <p:cNvSpPr txBox="1"/>
          <p:nvPr/>
        </p:nvSpPr>
        <p:spPr>
          <a:xfrm>
            <a:off x="181151" y="707743"/>
            <a:ext cx="9476706" cy="307777"/>
          </a:xfrm>
          <a:prstGeom prst="rect">
            <a:avLst/>
          </a:prstGeom>
          <a:noFill/>
        </p:spPr>
        <p:txBody>
          <a:bodyPr wrap="square">
            <a:spAutoFit/>
          </a:bodyPr>
          <a:lstStyle/>
          <a:p>
            <a:pPr marL="228600">
              <a:spcAft>
                <a:spcPts val="800"/>
              </a:spcAft>
              <a:buNone/>
            </a:pP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短期のステップ配信の配信コンテンツ作成に利用。</a:t>
            </a:r>
            <a:endParaRPr lang="ja-JP" altLang="ja-JP" sz="1100" dirty="0">
              <a:effectLst/>
              <a:latin typeface="メイリオ" panose="02020603050405020304" pitchFamily="18" charset="0"/>
              <a:ea typeface="メイリオ" panose="02020400000000000000" pitchFamily="18" charset="-128"/>
              <a:cs typeface="メイリオ"/>
            </a:endParaRPr>
          </a:p>
        </p:txBody>
      </p:sp>
      <p:sp>
        <p:nvSpPr>
          <p:cNvPr id="11" name="四角形: 角を丸くする 10">
            <a:extLst>
              <a:ext uri="{FF2B5EF4-FFF2-40B4-BE49-F238E27FC236}">
                <a16:creationId xmlns:a16="http://schemas.microsoft.com/office/drawing/2014/main" id="{9698CAAA-C7D0-DE8C-1937-135259153DF5}"/>
              </a:ext>
            </a:extLst>
          </p:cNvPr>
          <p:cNvSpPr/>
          <p:nvPr/>
        </p:nvSpPr>
        <p:spPr>
          <a:xfrm>
            <a:off x="8482149" y="1685711"/>
            <a:ext cx="1185818" cy="253916"/>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ブランド名</a:t>
            </a:r>
          </a:p>
        </p:txBody>
      </p:sp>
      <p:sp>
        <p:nvSpPr>
          <p:cNvPr id="15" name="四角形: 角を丸くする 14">
            <a:extLst>
              <a:ext uri="{FF2B5EF4-FFF2-40B4-BE49-F238E27FC236}">
                <a16:creationId xmlns:a16="http://schemas.microsoft.com/office/drawing/2014/main" id="{D484CC40-8F93-841D-9C65-D77C9FDB28E9}"/>
              </a:ext>
            </a:extLst>
          </p:cNvPr>
          <p:cNvSpPr/>
          <p:nvPr/>
        </p:nvSpPr>
        <p:spPr>
          <a:xfrm>
            <a:off x="8482149" y="1980746"/>
            <a:ext cx="1185818" cy="253916"/>
          </a:xfrm>
          <a:prstGeom prst="roundRect">
            <a:avLst/>
          </a:prstGeom>
          <a:solidFill>
            <a:srgbClr val="1F2A5C">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a:solidFill>
                  <a:schemeClr val="tx1"/>
                </a:solidFill>
                <a:latin typeface="メイリオ" panose="020B0604030504040204" pitchFamily="50" charset="-128"/>
                <a:ea typeface="メイリオ" panose="020B0604030504040204" pitchFamily="50" charset="-128"/>
                <a:cs typeface="メイリオ"/>
              </a:rPr>
              <a:t>お金周り</a:t>
            </a:r>
            <a:endParaRPr lang="ja-JP" altLang="en-US"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9" name="四角形: 角を丸くする 18">
            <a:extLst>
              <a:ext uri="{FF2B5EF4-FFF2-40B4-BE49-F238E27FC236}">
                <a16:creationId xmlns:a16="http://schemas.microsoft.com/office/drawing/2014/main" id="{14477AFE-E2AB-A03A-8102-B7565C7E8967}"/>
              </a:ext>
            </a:extLst>
          </p:cNvPr>
          <p:cNvSpPr/>
          <p:nvPr/>
        </p:nvSpPr>
        <p:spPr>
          <a:xfrm>
            <a:off x="8482149" y="2269869"/>
            <a:ext cx="1185818" cy="253916"/>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a:solidFill>
                  <a:schemeClr val="tx1"/>
                </a:solidFill>
                <a:latin typeface="メイリオ" panose="020B0604030504040204" pitchFamily="50" charset="-128"/>
                <a:ea typeface="メイリオ" panose="020B0604030504040204" pitchFamily="50" charset="-128"/>
                <a:cs typeface="メイリオ"/>
              </a:rPr>
              <a:t>ライフイベント</a:t>
            </a:r>
            <a:endParaRPr lang="ja-JP" altLang="en-US"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23" name="四角形: 角を丸くする 22">
            <a:extLst>
              <a:ext uri="{FF2B5EF4-FFF2-40B4-BE49-F238E27FC236}">
                <a16:creationId xmlns:a16="http://schemas.microsoft.com/office/drawing/2014/main" id="{9E775032-FD1B-EA57-EF1F-2E939977DBF0}"/>
              </a:ext>
            </a:extLst>
          </p:cNvPr>
          <p:cNvSpPr/>
          <p:nvPr/>
        </p:nvSpPr>
        <p:spPr>
          <a:xfrm>
            <a:off x="8482149" y="2564904"/>
            <a:ext cx="1185818" cy="253916"/>
          </a:xfrm>
          <a:prstGeom prst="round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34" name="正方形/長方形 133">
            <a:extLst>
              <a:ext uri="{FF2B5EF4-FFF2-40B4-BE49-F238E27FC236}">
                <a16:creationId xmlns:a16="http://schemas.microsoft.com/office/drawing/2014/main" id="{E1DBE2B9-1B8A-7D74-6827-B277538B2E74}"/>
              </a:ext>
            </a:extLst>
          </p:cNvPr>
          <p:cNvSpPr/>
          <p:nvPr/>
        </p:nvSpPr>
        <p:spPr>
          <a:xfrm>
            <a:off x="5173309" y="1536888"/>
            <a:ext cx="1079863" cy="4472105"/>
          </a:xfrm>
          <a:prstGeom prst="rect">
            <a:avLst/>
          </a:prstGeom>
          <a:solidFill>
            <a:srgbClr val="04FA0A">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136" name="図 135" descr="LINE公式アカウントのロゴを活用しよう！注意点やNG例も合わせて解説 - LINEマーケティングツールFANVO">
            <a:extLst>
              <a:ext uri="{FF2B5EF4-FFF2-40B4-BE49-F238E27FC236}">
                <a16:creationId xmlns:a16="http://schemas.microsoft.com/office/drawing/2014/main" id="{7292D2B2-006C-20F1-069A-EA07DB9040FF}"/>
              </a:ext>
            </a:extLst>
          </p:cNvPr>
          <p:cNvPicPr>
            <a:picLocks noChangeAspect="1"/>
          </p:cNvPicPr>
          <p:nvPr/>
        </p:nvPicPr>
        <p:blipFill>
          <a:blip r:embed="rId4"/>
          <a:stretch>
            <a:fillRect/>
          </a:stretch>
        </p:blipFill>
        <p:spPr>
          <a:xfrm>
            <a:off x="4963639" y="1415224"/>
            <a:ext cx="419340" cy="418460"/>
          </a:xfrm>
          <a:prstGeom prst="rect">
            <a:avLst/>
          </a:prstGeom>
        </p:spPr>
      </p:pic>
      <p:sp>
        <p:nvSpPr>
          <p:cNvPr id="138" name="テキスト ボックス 137">
            <a:extLst>
              <a:ext uri="{FF2B5EF4-FFF2-40B4-BE49-F238E27FC236}">
                <a16:creationId xmlns:a16="http://schemas.microsoft.com/office/drawing/2014/main" id="{3825EFF3-DD91-80CA-5C34-6956639E0AF6}"/>
              </a:ext>
            </a:extLst>
          </p:cNvPr>
          <p:cNvSpPr txBox="1"/>
          <p:nvPr/>
        </p:nvSpPr>
        <p:spPr>
          <a:xfrm>
            <a:off x="5319022" y="1579097"/>
            <a:ext cx="1079863" cy="261610"/>
          </a:xfrm>
          <a:prstGeom prst="rect">
            <a:avLst/>
          </a:prstGeom>
          <a:noFill/>
        </p:spPr>
        <p:txBody>
          <a:bodyPr wrap="square">
            <a:spAutoFit/>
          </a:bodyPr>
          <a:lstStyle/>
          <a:p>
            <a:r>
              <a:rPr lang="en-US" altLang="ja-JP" sz="1100" b="1" dirty="0">
                <a:latin typeface="メイリオ"/>
                <a:ea typeface="メイリオ"/>
                <a:cs typeface="メイリオ"/>
                <a:sym typeface="Meiryo"/>
              </a:rPr>
              <a:t>OA</a:t>
            </a:r>
            <a:r>
              <a:rPr lang="ja-JP" altLang="en-US" sz="1100" b="1" dirty="0">
                <a:latin typeface="メイリオ"/>
                <a:ea typeface="メイリオ"/>
                <a:cs typeface="メイリオ"/>
                <a:sym typeface="Meiryo"/>
              </a:rPr>
              <a:t>追加想定</a:t>
            </a:r>
            <a:endParaRPr lang="ja-JP" altLang="en-US" sz="1200" dirty="0">
              <a:latin typeface="メイリオ"/>
              <a:ea typeface="メイリオ"/>
              <a:cs typeface="メイリオ"/>
            </a:endParaRPr>
          </a:p>
        </p:txBody>
      </p:sp>
      <p:sp>
        <p:nvSpPr>
          <p:cNvPr id="139" name="差し込み 前後検索の画像"/>
          <p:cNvSpPr/>
          <p:nvPr/>
        </p:nvSpPr>
        <p:spPr>
          <a:xfrm>
            <a:off x="1386465" y="1895415"/>
            <a:ext cx="7152121" cy="4172069"/>
          </a:xfrm>
          <a:prstGeom prst="rect">
            <a:avLst/>
          </a:prstGeom>
          <a:noFill/>
          <a:ln w="9525">
            <a:solidFill>
              <a:srgbClr val="7F7F7F"/>
            </a:solidFill>
            <a:prstDash val="dash"/>
          </a:ln>
        </p:spPr>
        <p:txBody>
          <a:bodyPr wrap="square" lIns="73152" tIns="36576" rIns="73152" bIns="36576" rtlCol="0" anchor="ctr">
            <a:noAutofit/>
          </a:bodyPr>
          <a:lstStyle/>
          <a:p>
            <a:pPr algn="ctr">
              <a:buNone/>
            </a:pPr>
            <a:r>
              <a:rPr lang="ja-JP" altLang="en-US" sz="1200" b="1" dirty="0">
                <a:solidFill>
                  <a:srgbClr val="7F7F7F"/>
                </a:solidFill>
                <a:latin typeface="メイリオ" panose="020B0604030504040204" pitchFamily="50" charset="-128"/>
                <a:ea typeface="メイリオ" panose="020B0604030504040204" pitchFamily="50" charset="-128"/>
                <a:cs typeface="メイリオ"/>
              </a:rPr>
              <a:t>前後検索の画像</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12673468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445661-D170-7F4D-B8A8-8C3B4D5EF476}"/>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90F2A605-8BE9-543D-C379-8ADC172A2B5B}"/>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87FB6EC3-4D6F-6C45-86B8-DAD6CBB0E53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ニーズ調査（前後検索）</a:t>
            </a:r>
            <a:endParaRPr sz="1600" b="1" dirty="0">
              <a:solidFill>
                <a:srgbClr val="002060"/>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72B83C2C-8DD1-B131-625E-DC1B80BAE95D}"/>
              </a:ext>
            </a:extLst>
          </p:cNvPr>
          <p:cNvSpPr txBox="1"/>
          <p:nvPr/>
        </p:nvSpPr>
        <p:spPr>
          <a:xfrm>
            <a:off x="3030583" y="184284"/>
            <a:ext cx="2351314" cy="246221"/>
          </a:xfrm>
          <a:prstGeom prst="rect">
            <a:avLst/>
          </a:prstGeom>
          <a:noFill/>
        </p:spPr>
        <p:txBody>
          <a:bodyPr wrap="square">
            <a:spAutoFit/>
          </a:bodyPr>
          <a:lstStyle/>
          <a:p>
            <a:r>
              <a:rPr lang="en-US" altLang="ja-JP" sz="1000" dirty="0">
                <a:solidFill>
                  <a:srgbClr val="1F2A5C"/>
                </a:solidFill>
                <a:latin typeface="メイリオ"/>
                <a:ea typeface="メイリオ"/>
                <a:cs typeface="メイリオ"/>
                <a:sym typeface="Meiryo"/>
              </a:rPr>
              <a:t>※LINE</a:t>
            </a:r>
            <a:r>
              <a:rPr lang="ja-JP" altLang="en-US" sz="1000" dirty="0">
                <a:solidFill>
                  <a:srgbClr val="1F2A5C"/>
                </a:solidFill>
                <a:latin typeface="メイリオ"/>
                <a:ea typeface="メイリオ"/>
                <a:cs typeface="メイリオ"/>
                <a:sym typeface="Meiryo"/>
              </a:rPr>
              <a:t>ヤフーの媒体情報を参考に</a:t>
            </a:r>
            <a:endParaRPr lang="ja-JP" altLang="en-US" sz="1050" dirty="0">
              <a:solidFill>
                <a:srgbClr val="1F2A5C"/>
              </a:solidFill>
              <a:latin typeface="メイリオ"/>
              <a:ea typeface="メイリオ"/>
              <a:cs typeface="メイリオ"/>
            </a:endParaRPr>
          </a:p>
        </p:txBody>
      </p:sp>
      <p:cxnSp>
        <p:nvCxnSpPr>
          <p:cNvPr id="6" name="直線コネクタ 5">
            <a:extLst>
              <a:ext uri="{FF2B5EF4-FFF2-40B4-BE49-F238E27FC236}">
                <a16:creationId xmlns:a16="http://schemas.microsoft.com/office/drawing/2014/main" id="{F9E4E4A3-0061-C7DF-4A07-669885EC9040}"/>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 name="Card1_Title">
            <a:extLst>
              <a:ext uri="{FF2B5EF4-FFF2-40B4-BE49-F238E27FC236}">
                <a16:creationId xmlns:a16="http://schemas.microsoft.com/office/drawing/2014/main" id="{8E31DAD6-1621-DBDA-E670-9EC6437B61A2}"/>
              </a:ext>
            </a:extLst>
          </p:cNvPr>
          <p:cNvSpPr txBox="1"/>
          <p:nvPr/>
        </p:nvSpPr>
        <p:spPr>
          <a:xfrm>
            <a:off x="441960" y="1709511"/>
            <a:ext cx="2921000" cy="457200"/>
          </a:xfrm>
          <a:prstGeom prst="rect">
            <a:avLst/>
          </a:prstGeom>
          <a:solidFill>
            <a:srgbClr val="FFFFFF"/>
          </a:solidFill>
          <a:ln w="6350">
            <a:solidFill>
              <a:srgbClr val="1F2A5C"/>
            </a:solidFill>
          </a:ln>
        </p:spPr>
        <p:txBody>
          <a:bodyPr wrap="square" lIns="177800" tIns="101600" rIns="177800" bIns="10160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lang="ja-JP" altLang="en-US"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検索「前」クエリ（</a:t>
            </a:r>
            <a:r>
              <a:rPr kumimoji="0" lang="en-US" altLang="ja-JP"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〜-1</a:t>
            </a:r>
            <a:r>
              <a:rPr kumimoji="0" lang="ja-JP" altLang="en-US"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日）</a:t>
            </a:r>
          </a:p>
        </p:txBody>
      </p:sp>
      <p:sp>
        <p:nvSpPr>
          <p:cNvPr id="7" name="Card1_Body">
            <a:extLst>
              <a:ext uri="{FF2B5EF4-FFF2-40B4-BE49-F238E27FC236}">
                <a16:creationId xmlns:a16="http://schemas.microsoft.com/office/drawing/2014/main" id="{D3A10FAB-A215-96CD-4586-4D95A31E157D}"/>
              </a:ext>
            </a:extLst>
          </p:cNvPr>
          <p:cNvSpPr txBox="1"/>
          <p:nvPr/>
        </p:nvSpPr>
        <p:spPr>
          <a:xfrm>
            <a:off x="441960" y="2203410"/>
            <a:ext cx="2921000" cy="1445481"/>
          </a:xfrm>
          <a:prstGeom prst="rect">
            <a:avLst/>
          </a:prstGeom>
          <a:solidFill>
            <a:srgbClr val="F5F7FA"/>
          </a:solidFill>
          <a:ln w="6350">
            <a:solidFill>
              <a:srgbClr val="D1D8E0"/>
            </a:solidFill>
          </a:ln>
        </p:spPr>
        <p:txBody>
          <a:bodyPr wrap="square" lIns="177800" tIns="152400" rIns="177800" bIns="15240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171450" marR="0" lvl="0" indent="-171450" algn="l" defTabSz="914400" rtl="0" eaLnBrk="1" fontAlgn="auto" latinLnBrk="0" hangingPunct="1">
              <a:lnSpc>
                <a:spcPct val="100000"/>
              </a:lnSpc>
              <a:spcBef>
                <a:spcPts val="200"/>
              </a:spcBef>
              <a:spcAft>
                <a:spcPts val="0"/>
              </a:spcAft>
              <a:buClr>
                <a:srgbClr val="1F2A5C"/>
              </a:buClr>
              <a:buSzTx/>
              <a:buFont typeface="Arial"/>
              <a:buChar char="•"/>
              <a:tabLst/>
              <a:defRPr>
                <a:latin typeface="メイリオ"/>
                <a:ea typeface="メイリオ"/>
                <a:cs typeface="メイリオ"/>
              </a:defRPr>
            </a:pPr>
            <a:r>
              <a:rPr kumimoji="0" lang="ja-JP" altLang="en-US" sz="1200" b="0" i="0" u="none" strike="noStrike" kern="0" cap="none" spc="0" normalizeH="0" baseline="0" noProof="0" dirty="0">
                <a:ln>
                  <a:noFill/>
                </a:ln>
                <a:solidFill>
                  <a:srgbClr val="333333"/>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0" name="Card2_Title">
            <a:extLst>
              <a:ext uri="{FF2B5EF4-FFF2-40B4-BE49-F238E27FC236}">
                <a16:creationId xmlns:a16="http://schemas.microsoft.com/office/drawing/2014/main" id="{AF3F627C-CA5A-EA6E-EB31-14D66576A08E}"/>
              </a:ext>
            </a:extLst>
          </p:cNvPr>
          <p:cNvSpPr txBox="1"/>
          <p:nvPr/>
        </p:nvSpPr>
        <p:spPr>
          <a:xfrm>
            <a:off x="3553460" y="1709511"/>
            <a:ext cx="2921000" cy="457200"/>
          </a:xfrm>
          <a:prstGeom prst="rect">
            <a:avLst/>
          </a:prstGeom>
          <a:solidFill>
            <a:srgbClr val="FFFFFF"/>
          </a:solidFill>
          <a:ln w="6350">
            <a:solidFill>
              <a:srgbClr val="4A6FA5"/>
            </a:solidFill>
          </a:ln>
        </p:spPr>
        <p:txBody>
          <a:bodyPr wrap="square" lIns="177800" tIns="101600" rIns="177800" bIns="10160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lang="ja-JP" altLang="en-US" sz="1200" b="1" i="0" u="none" strike="noStrike" kern="0" cap="none" spc="0" normalizeH="0" baseline="0" noProof="0" dirty="0">
                <a:ln>
                  <a:noFill/>
                </a:ln>
                <a:solidFill>
                  <a:srgbClr val="4A6FA5"/>
                </a:solidFill>
                <a:effectLst/>
                <a:uLnTx/>
                <a:uFillTx/>
                <a:latin typeface="メイリオ" panose="020B0604030504040204" pitchFamily="50" charset="-128"/>
                <a:ea typeface="メイリオ" panose="020B0604030504040204" pitchFamily="50" charset="-128"/>
                <a:cs typeface="メイリオ"/>
                <a:sym typeface="Arial"/>
              </a:rPr>
              <a:t>検索「起点」（</a:t>
            </a:r>
            <a:r>
              <a:rPr kumimoji="0" lang="en-US" altLang="ja-JP" sz="1200" b="1" i="0" u="none" strike="noStrike" kern="0" cap="none" spc="0" normalizeH="0" baseline="0" noProof="0" dirty="0">
                <a:ln>
                  <a:noFill/>
                </a:ln>
                <a:solidFill>
                  <a:srgbClr val="4A6FA5"/>
                </a:solidFill>
                <a:effectLst/>
                <a:uLnTx/>
                <a:uFillTx/>
                <a:latin typeface="メイリオ" panose="020B0604030504040204" pitchFamily="50" charset="-128"/>
                <a:ea typeface="メイリオ" panose="020B0604030504040204" pitchFamily="50" charset="-128"/>
                <a:cs typeface="メイリオ"/>
                <a:sym typeface="Arial"/>
              </a:rPr>
              <a:t>0</a:t>
            </a:r>
            <a:r>
              <a:rPr kumimoji="0" lang="ja-JP" altLang="en-US" sz="1200" b="1" i="0" u="none" strike="noStrike" kern="0" cap="none" spc="0" normalizeH="0" baseline="0" noProof="0" dirty="0">
                <a:ln>
                  <a:noFill/>
                </a:ln>
                <a:solidFill>
                  <a:srgbClr val="4A6FA5"/>
                </a:solidFill>
                <a:effectLst/>
                <a:uLnTx/>
                <a:uFillTx/>
                <a:latin typeface="メイリオ" panose="020B0604030504040204" pitchFamily="50" charset="-128"/>
                <a:ea typeface="メイリオ" panose="020B0604030504040204" pitchFamily="50" charset="-128"/>
                <a:cs typeface="メイリオ"/>
                <a:sym typeface="Arial"/>
              </a:rPr>
              <a:t>日）</a:t>
            </a:r>
          </a:p>
        </p:txBody>
      </p:sp>
      <p:sp>
        <p:nvSpPr>
          <p:cNvPr id="11" name="Card2_Body">
            <a:extLst>
              <a:ext uri="{FF2B5EF4-FFF2-40B4-BE49-F238E27FC236}">
                <a16:creationId xmlns:a16="http://schemas.microsoft.com/office/drawing/2014/main" id="{071EA822-5DE7-F7FC-CE53-C2441B6BA07A}"/>
              </a:ext>
            </a:extLst>
          </p:cNvPr>
          <p:cNvSpPr txBox="1"/>
          <p:nvPr/>
        </p:nvSpPr>
        <p:spPr>
          <a:xfrm>
            <a:off x="3553460" y="2203410"/>
            <a:ext cx="2921000" cy="1445481"/>
          </a:xfrm>
          <a:prstGeom prst="rect">
            <a:avLst/>
          </a:prstGeom>
          <a:solidFill>
            <a:srgbClr val="F5F7FA"/>
          </a:solidFill>
          <a:ln w="6350">
            <a:solidFill>
              <a:srgbClr val="D1D8E0"/>
            </a:solidFill>
          </a:ln>
        </p:spPr>
        <p:txBody>
          <a:bodyPr wrap="square" lIns="177800" tIns="152400" rIns="177800" bIns="15240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171450" marR="0" lvl="0" indent="-171450" algn="l" defTabSz="914400" rtl="0" eaLnBrk="1" fontAlgn="auto" latinLnBrk="0" hangingPunct="1">
              <a:lnSpc>
                <a:spcPct val="100000"/>
              </a:lnSpc>
              <a:spcBef>
                <a:spcPts val="200"/>
              </a:spcBef>
              <a:spcAft>
                <a:spcPts val="0"/>
              </a:spcAft>
              <a:buClr>
                <a:srgbClr val="4A6FA5"/>
              </a:buClr>
              <a:buSzTx/>
              <a:buFont typeface="Arial"/>
              <a:buChar char="•"/>
              <a:tabLst/>
              <a:defRPr>
                <a:latin typeface="メイリオ"/>
                <a:ea typeface="メイリオ"/>
                <a:cs typeface="メイリオ"/>
              </a:defRPr>
            </a:pPr>
            <a:r>
              <a:rPr kumimoji="0" lang="ja-JP" altLang="en-US" sz="1200" b="0" i="0" u="none" strike="noStrike" kern="0" cap="none" spc="0" normalizeH="0" baseline="0" noProof="0" dirty="0">
                <a:ln>
                  <a:noFill/>
                </a:ln>
                <a:solidFill>
                  <a:srgbClr val="333333"/>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5" name="Card3_Title">
            <a:extLst>
              <a:ext uri="{FF2B5EF4-FFF2-40B4-BE49-F238E27FC236}">
                <a16:creationId xmlns:a16="http://schemas.microsoft.com/office/drawing/2014/main" id="{8D47B4FA-63E9-2461-A89D-BE48099D1CEF}"/>
              </a:ext>
            </a:extLst>
          </p:cNvPr>
          <p:cNvSpPr txBox="1"/>
          <p:nvPr/>
        </p:nvSpPr>
        <p:spPr>
          <a:xfrm>
            <a:off x="6664960" y="1709511"/>
            <a:ext cx="2921000" cy="457200"/>
          </a:xfrm>
          <a:prstGeom prst="rect">
            <a:avLst/>
          </a:prstGeom>
          <a:solidFill>
            <a:srgbClr val="FFFFFF"/>
          </a:solidFill>
          <a:ln w="6350">
            <a:solidFill>
              <a:srgbClr val="1F2A5C"/>
            </a:solidFill>
          </a:ln>
        </p:spPr>
        <p:txBody>
          <a:bodyPr wrap="square" lIns="177800" tIns="101600" rIns="177800" bIns="10160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lang="ja-JP" altLang="en-US"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検索「後」クエリ（</a:t>
            </a:r>
            <a:r>
              <a:rPr kumimoji="0" lang="en-US" altLang="ja-JP"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1〜15</a:t>
            </a:r>
            <a:r>
              <a:rPr kumimoji="0" lang="ja-JP" altLang="en-US"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日</a:t>
            </a:r>
            <a:r>
              <a:rPr kumimoji="0" lang="en-US" altLang="ja-JP"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a:t>
            </a:r>
            <a:r>
              <a:rPr kumimoji="0" lang="ja-JP" altLang="en-US"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7" name="Card3_Body">
            <a:extLst>
              <a:ext uri="{FF2B5EF4-FFF2-40B4-BE49-F238E27FC236}">
                <a16:creationId xmlns:a16="http://schemas.microsoft.com/office/drawing/2014/main" id="{0F35057D-2CE3-9DDA-8E94-282A37275B5F}"/>
              </a:ext>
            </a:extLst>
          </p:cNvPr>
          <p:cNvSpPr txBox="1"/>
          <p:nvPr/>
        </p:nvSpPr>
        <p:spPr>
          <a:xfrm>
            <a:off x="6664960" y="2203410"/>
            <a:ext cx="2921000" cy="1445481"/>
          </a:xfrm>
          <a:prstGeom prst="rect">
            <a:avLst/>
          </a:prstGeom>
          <a:solidFill>
            <a:srgbClr val="F5F7FA"/>
          </a:solidFill>
          <a:ln w="6350">
            <a:solidFill>
              <a:srgbClr val="D1D8E0"/>
            </a:solidFill>
          </a:ln>
        </p:spPr>
        <p:txBody>
          <a:bodyPr wrap="square" lIns="177800" tIns="152400" rIns="177800" bIns="15240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171450" marR="0" lvl="0" indent="-171450" algn="l" defTabSz="914400" rtl="0" eaLnBrk="1" fontAlgn="auto" latinLnBrk="0" hangingPunct="1">
              <a:lnSpc>
                <a:spcPct val="100000"/>
              </a:lnSpc>
              <a:spcBef>
                <a:spcPts val="200"/>
              </a:spcBef>
              <a:spcAft>
                <a:spcPts val="0"/>
              </a:spcAft>
              <a:buClr>
                <a:srgbClr val="1F2A5C"/>
              </a:buClr>
              <a:buSzTx/>
              <a:buFont typeface="Arial"/>
              <a:buChar char="•"/>
              <a:tabLst/>
              <a:defRPr>
                <a:latin typeface="メイリオ"/>
                <a:ea typeface="メイリオ"/>
                <a:cs typeface="メイリオ"/>
              </a:defRPr>
            </a:pPr>
            <a:r>
              <a:rPr kumimoji="0" lang="ja-JP" altLang="en-US" sz="1200" b="0" i="0" u="none" strike="noStrike" kern="0" cap="none" spc="0" normalizeH="0" baseline="0" noProof="0" dirty="0">
                <a:ln>
                  <a:noFill/>
                </a:ln>
                <a:solidFill>
                  <a:srgbClr val="333333"/>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2" name="テキスト ボックス 11">
            <a:extLst>
              <a:ext uri="{FF2B5EF4-FFF2-40B4-BE49-F238E27FC236}">
                <a16:creationId xmlns:a16="http://schemas.microsoft.com/office/drawing/2014/main" id="{DCF84225-84DA-E8B0-FCCE-46A1376BC209}"/>
              </a:ext>
            </a:extLst>
          </p:cNvPr>
          <p:cNvSpPr txBox="1"/>
          <p:nvPr/>
        </p:nvSpPr>
        <p:spPr>
          <a:xfrm>
            <a:off x="5286079" y="4595204"/>
            <a:ext cx="1079863" cy="261610"/>
          </a:xfrm>
          <a:prstGeom prst="rect">
            <a:avLst/>
          </a:prstGeom>
          <a:noFill/>
        </p:spPr>
        <p:txBody>
          <a:bodyPr wrap="square">
            <a:spAutoFit/>
          </a:bodyPr>
          <a:lstStyle/>
          <a:p>
            <a:r>
              <a:rPr lang="en-US" altLang="ja-JP" sz="1100" b="1" dirty="0">
                <a:latin typeface="メイリオ"/>
                <a:ea typeface="メイリオ"/>
                <a:cs typeface="メイリオ"/>
                <a:sym typeface="Meiryo"/>
              </a:rPr>
              <a:t>OA</a:t>
            </a:r>
            <a:r>
              <a:rPr lang="ja-JP" altLang="en-US" sz="1100" b="1" dirty="0">
                <a:latin typeface="メイリオ"/>
                <a:ea typeface="メイリオ"/>
                <a:cs typeface="メイリオ"/>
                <a:sym typeface="Meiryo"/>
              </a:rPr>
              <a:t>追加想定</a:t>
            </a:r>
            <a:endParaRPr lang="ja-JP" altLang="en-US" sz="1200" dirty="0">
              <a:latin typeface="メイリオ"/>
              <a:ea typeface="メイリオ"/>
              <a:cs typeface="メイリオ"/>
            </a:endParaRPr>
          </a:p>
        </p:txBody>
      </p:sp>
      <p:sp>
        <p:nvSpPr>
          <p:cNvPr id="13" name="矢印: 下 12">
            <a:extLst>
              <a:ext uri="{FF2B5EF4-FFF2-40B4-BE49-F238E27FC236}">
                <a16:creationId xmlns:a16="http://schemas.microsoft.com/office/drawing/2014/main" id="{D61D535A-38C6-7BB0-0D6E-34AB306808A8}"/>
              </a:ext>
            </a:extLst>
          </p:cNvPr>
          <p:cNvSpPr/>
          <p:nvPr/>
        </p:nvSpPr>
        <p:spPr>
          <a:xfrm>
            <a:off x="5036442" y="3737247"/>
            <a:ext cx="1097280" cy="20900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6" name="Card1_Title">
            <a:extLst>
              <a:ext uri="{FF2B5EF4-FFF2-40B4-BE49-F238E27FC236}">
                <a16:creationId xmlns:a16="http://schemas.microsoft.com/office/drawing/2014/main" id="{EA1CCC1E-91FF-5127-259C-24170B827EFB}"/>
              </a:ext>
            </a:extLst>
          </p:cNvPr>
          <p:cNvSpPr txBox="1"/>
          <p:nvPr/>
        </p:nvSpPr>
        <p:spPr>
          <a:xfrm>
            <a:off x="4470369" y="3994007"/>
            <a:ext cx="2194591" cy="457200"/>
          </a:xfrm>
          <a:prstGeom prst="rect">
            <a:avLst/>
          </a:prstGeom>
          <a:solidFill>
            <a:schemeClr val="accent1">
              <a:lumMod val="20000"/>
              <a:lumOff val="80000"/>
            </a:schemeClr>
          </a:solidFill>
          <a:ln w="6350">
            <a:solidFill>
              <a:srgbClr val="1F2A5C"/>
            </a:solidFill>
          </a:ln>
        </p:spPr>
        <p:txBody>
          <a:bodyPr wrap="square" lIns="177800" tIns="101600" rIns="177800" bIns="10160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lang="ja-JP" altLang="en-US"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離脱防止</a:t>
            </a:r>
          </a:p>
        </p:txBody>
      </p:sp>
      <p:cxnSp>
        <p:nvCxnSpPr>
          <p:cNvPr id="20" name="直線コネクタ 19">
            <a:extLst>
              <a:ext uri="{FF2B5EF4-FFF2-40B4-BE49-F238E27FC236}">
                <a16:creationId xmlns:a16="http://schemas.microsoft.com/office/drawing/2014/main" id="{5BE55DA4-D366-93E9-818A-C5CB316D61F6}"/>
              </a:ext>
            </a:extLst>
          </p:cNvPr>
          <p:cNvCxnSpPr/>
          <p:nvPr/>
        </p:nvCxnSpPr>
        <p:spPr>
          <a:xfrm>
            <a:off x="5094517" y="4709762"/>
            <a:ext cx="0" cy="1292023"/>
          </a:xfrm>
          <a:prstGeom prst="line">
            <a:avLst/>
          </a:prstGeom>
          <a:ln>
            <a:solidFill>
              <a:srgbClr val="04FA0A"/>
            </a:solidFill>
          </a:ln>
        </p:spPr>
        <p:style>
          <a:lnRef idx="1">
            <a:schemeClr val="accent1"/>
          </a:lnRef>
          <a:fillRef idx="0">
            <a:schemeClr val="accent1"/>
          </a:fillRef>
          <a:effectRef idx="0">
            <a:schemeClr val="accent1"/>
          </a:effectRef>
          <a:fontRef idx="minor">
            <a:schemeClr val="tx1"/>
          </a:fontRef>
        </p:style>
      </p:cxnSp>
      <p:pic>
        <p:nvPicPr>
          <p:cNvPr id="22" name="図 21" descr="LINE公式アカウントのロゴを活用しよう！注意点やNG例も合わせて解説 - LINEマーケティングツールFANVO">
            <a:extLst>
              <a:ext uri="{FF2B5EF4-FFF2-40B4-BE49-F238E27FC236}">
                <a16:creationId xmlns:a16="http://schemas.microsoft.com/office/drawing/2014/main" id="{4DC60E86-0524-E40F-7236-4D8A38BD333B}"/>
              </a:ext>
            </a:extLst>
          </p:cNvPr>
          <p:cNvPicPr>
            <a:picLocks noChangeAspect="1"/>
          </p:cNvPicPr>
          <p:nvPr/>
        </p:nvPicPr>
        <p:blipFill>
          <a:blip r:embed="rId3"/>
          <a:stretch>
            <a:fillRect/>
          </a:stretch>
        </p:blipFill>
        <p:spPr>
          <a:xfrm>
            <a:off x="4866739" y="4519050"/>
            <a:ext cx="419340" cy="418460"/>
          </a:xfrm>
          <a:prstGeom prst="rect">
            <a:avLst/>
          </a:prstGeom>
        </p:spPr>
      </p:pic>
      <p:sp>
        <p:nvSpPr>
          <p:cNvPr id="24" name="テキスト ボックス 23">
            <a:extLst>
              <a:ext uri="{FF2B5EF4-FFF2-40B4-BE49-F238E27FC236}">
                <a16:creationId xmlns:a16="http://schemas.microsoft.com/office/drawing/2014/main" id="{8F0B071A-7C5B-F060-B690-5A7A3AFEC0DD}"/>
              </a:ext>
            </a:extLst>
          </p:cNvPr>
          <p:cNvSpPr txBox="1"/>
          <p:nvPr/>
        </p:nvSpPr>
        <p:spPr>
          <a:xfrm>
            <a:off x="5268638" y="5094163"/>
            <a:ext cx="3857945" cy="261610"/>
          </a:xfrm>
          <a:prstGeom prst="rect">
            <a:avLst/>
          </a:prstGeom>
          <a:noFill/>
        </p:spPr>
        <p:txBody>
          <a:bodyPr wrap="square">
            <a:spAutoFit/>
          </a:bodyPr>
          <a:lstStyle/>
          <a:p>
            <a:r>
              <a:rPr lang="ja-JP" altLang="en-US" sz="1100" b="1" dirty="0">
                <a:latin typeface="メイリオ"/>
                <a:ea typeface="メイリオ"/>
                <a:cs typeface="メイリオ"/>
                <a:sym typeface="Meiryo"/>
              </a:rPr>
              <a:t>⇨ステップ配信がスタート。</a:t>
            </a:r>
            <a:endParaRPr lang="ja-JP" altLang="en-US" sz="1200" dirty="0">
              <a:latin typeface="メイリオ"/>
              <a:ea typeface="メイリオ"/>
              <a:cs typeface="メイリオ"/>
            </a:endParaRPr>
          </a:p>
        </p:txBody>
      </p:sp>
      <p:sp>
        <p:nvSpPr>
          <p:cNvPr id="26" name="テキスト ボックス 25">
            <a:extLst>
              <a:ext uri="{FF2B5EF4-FFF2-40B4-BE49-F238E27FC236}">
                <a16:creationId xmlns:a16="http://schemas.microsoft.com/office/drawing/2014/main" id="{70592E01-ABF8-E8A1-7E8A-7A1556DFA756}"/>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前後検索を各カテゴリ別</a:t>
            </a:r>
            <a:r>
              <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rPr>
              <a:t>×</a:t>
            </a: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ニーズ大小別で棲み分け、最適なタイミングで</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a:p>
            <a:pPr marL="228600">
              <a:spcAft>
                <a:spcPts val="800"/>
              </a:spcAft>
              <a:buNone/>
            </a:pP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ステップ配信のコンテンツ出し分けに活用。</a:t>
            </a:r>
            <a:endParaRPr lang="ja-JP" altLang="ja-JP" sz="1100" dirty="0">
              <a:effectLst/>
              <a:latin typeface="メイリオ" panose="02020603050405020304" pitchFamily="18" charset="0"/>
              <a:ea typeface="メイリオ" panose="02020400000000000000" pitchFamily="18" charset="-128"/>
              <a:cs typeface="メイリオ"/>
            </a:endParaRPr>
          </a:p>
        </p:txBody>
      </p:sp>
    </p:spTree>
    <p:extLst>
      <p:ext uri="{BB962C8B-B14F-4D97-AF65-F5344CB8AC3E}">
        <p14:creationId xmlns:p14="http://schemas.microsoft.com/office/powerpoint/2010/main" val="5356465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B8DBEE-A033-E538-7B67-FCA6549C3DF9}"/>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E88D946F-DA36-B087-C6F8-FF4EC57BC7C4}"/>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73A3A993-1ECB-4CB5-EF51-73494E022DA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ニーズ調査（業界</a:t>
            </a:r>
            <a:r>
              <a:rPr lang="en-US" altLang="ja-JP" sz="1600" b="1" dirty="0">
                <a:solidFill>
                  <a:srgbClr val="002060"/>
                </a:solidFill>
                <a:latin typeface="メイリオ"/>
                <a:ea typeface="メイリオ"/>
                <a:cs typeface="メイリオ"/>
                <a:sym typeface="Meiryo"/>
              </a:rPr>
              <a:t>STUDY</a:t>
            </a:r>
            <a:r>
              <a:rPr lang="ja-JP" altLang="en-US" sz="1600" b="1" dirty="0">
                <a:solidFill>
                  <a:srgbClr val="002060"/>
                </a:solidFill>
                <a:latin typeface="メイリオ"/>
                <a:ea typeface="メイリオ"/>
                <a:cs typeface="メイリオ"/>
                <a:sym typeface="Meiryo"/>
              </a:rPr>
              <a:t>）</a:t>
            </a:r>
            <a:endParaRPr sz="1600" b="1" dirty="0">
              <a:solidFill>
                <a:srgbClr val="002060"/>
              </a:solidFill>
              <a:latin typeface="メイリオ"/>
              <a:ea typeface="メイリオ"/>
              <a:cs typeface="メイリオ"/>
              <a:sym typeface="Meiryo"/>
            </a:endParaRPr>
          </a:p>
        </p:txBody>
      </p:sp>
      <p:sp>
        <p:nvSpPr>
          <p:cNvPr id="8" name="テキスト ボックス 7">
            <a:extLst>
              <a:ext uri="{FF2B5EF4-FFF2-40B4-BE49-F238E27FC236}">
                <a16:creationId xmlns:a16="http://schemas.microsoft.com/office/drawing/2014/main" id="{8AC0F8FD-EDCC-5FCF-2FF3-71604C94B29B}"/>
              </a:ext>
            </a:extLst>
          </p:cNvPr>
          <p:cNvSpPr txBox="1"/>
          <p:nvPr/>
        </p:nvSpPr>
        <p:spPr>
          <a:xfrm>
            <a:off x="384048" y="5943600"/>
            <a:ext cx="9098280" cy="384048"/>
          </a:xfrm>
          <a:prstGeom prst="rect">
            <a:avLst/>
          </a:prstGeom>
          <a:noFill/>
        </p:spPr>
        <p:txBody>
          <a:bodyPr wrap="square">
            <a:spAutoFit/>
          </a:bodyPr>
          <a:lstStyle/>
          <a:p>
            <a:pPr algn="r"/>
            <a:r>
              <a:rPr lang="en-US" altLang="ja-JP" sz="900" dirty="0">
                <a:solidFill>
                  <a:schemeClr val="bg1">
                    <a:lumMod val="65000"/>
                  </a:schemeClr>
                </a:solidFill>
                <a:latin typeface="メイリオ" panose="020B0604030504040204" pitchFamily="50" charset="-128"/>
                <a:ea typeface="メイリオ" panose="020B0604030504040204" pitchFamily="50" charset="-128"/>
                <a:cs typeface="メイリオ"/>
              </a:rPr>
              <a:t>※営業職員数：生命保険協会「2025年版 生命保険の動向」／加入経路：生命保険文化センター「2024（令和6）年度 生命保険に関する全国実態調査」</a:t>
            </a:r>
            <a:endParaRPr lang="ja-JP" altLang="en-US" sz="1400" dirty="0">
              <a:solidFill>
                <a:schemeClr val="bg1">
                  <a:lumMod val="65000"/>
                </a:schemeClr>
              </a:solidFill>
              <a:latin typeface="メイリオ"/>
              <a:ea typeface="メイリオ"/>
              <a:cs typeface="メイリオ"/>
            </a:endParaRPr>
          </a:p>
          <a:p>
            <a:pPr algn="r"/>
            <a:r>
              <a:rPr lang="en-US" altLang="ja-JP" sz="900" dirty="0">
                <a:solidFill>
                  <a:schemeClr val="bg1">
                    <a:lumMod val="65000"/>
                  </a:schemeClr>
                </a:solidFill>
                <a:latin typeface="メイリオ" panose="020B0604030504040204" pitchFamily="50" charset="-128"/>
                <a:ea typeface="メイリオ" panose="020B0604030504040204" pitchFamily="50" charset="-128"/>
                <a:cs typeface="メイリオ"/>
              </a:rPr>
              <a:t>※接触回数：矢野経済研究所「生命保険の営業職員アンケート調査」（2023年4〜6月、生命保険の営業職員400名）</a:t>
            </a:r>
            <a:endParaRPr lang="ja-JP" altLang="en-US" sz="1400" dirty="0">
              <a:solidFill>
                <a:schemeClr val="bg1">
                  <a:lumMod val="65000"/>
                </a:schemeClr>
              </a:solidFill>
              <a:latin typeface="メイリオ"/>
              <a:ea typeface="メイリオ"/>
              <a:cs typeface="メイリオ"/>
            </a:endParaRPr>
          </a:p>
        </p:txBody>
      </p:sp>
      <p:sp>
        <p:nvSpPr>
          <p:cNvPr id="22" name="Card1_Title">
            <a:extLst>
              <a:ext uri="{FF2B5EF4-FFF2-40B4-BE49-F238E27FC236}">
                <a16:creationId xmlns:a16="http://schemas.microsoft.com/office/drawing/2014/main" id="{F09D273B-3EB8-1C59-CFC4-7013E4A1F363}"/>
              </a:ext>
            </a:extLst>
          </p:cNvPr>
          <p:cNvSpPr txBox="1"/>
          <p:nvPr/>
        </p:nvSpPr>
        <p:spPr>
          <a:xfrm>
            <a:off x="381000" y="755465"/>
            <a:ext cx="2921000" cy="457200"/>
          </a:xfrm>
          <a:prstGeom prst="rect">
            <a:avLst/>
          </a:prstGeom>
          <a:solidFill>
            <a:srgbClr val="FFFFFF"/>
          </a:solidFill>
          <a:ln w="6350">
            <a:solidFill>
              <a:srgbClr val="1F2A5C"/>
            </a:solidFill>
          </a:ln>
        </p:spPr>
        <p:txBody>
          <a:bodyPr wrap="square" lIns="177800" tIns="101600" rIns="177800" bIns="101600" anchor="ctr"/>
          <a:lstStyle/>
          <a:p>
            <a:pPr>
              <a:buNone/>
            </a:pPr>
            <a:r>
              <a:rPr lang="ja-JP" sz="1400" b="1" dirty="0">
                <a:solidFill>
                  <a:srgbClr val="1F2A5C"/>
                </a:solidFill>
                <a:latin typeface="メイリオ" panose="020B0604030504040204" pitchFamily="50" charset="-128"/>
                <a:ea typeface="メイリオ" panose="020B0604030504040204" pitchFamily="50" charset="-128"/>
                <a:cs typeface="メイリオ"/>
              </a:rPr>
              <a:t>営業職員数</a:t>
            </a:r>
          </a:p>
        </p:txBody>
      </p:sp>
      <p:sp>
        <p:nvSpPr>
          <p:cNvPr id="24" name="Card1_Body">
            <a:extLst>
              <a:ext uri="{FF2B5EF4-FFF2-40B4-BE49-F238E27FC236}">
                <a16:creationId xmlns:a16="http://schemas.microsoft.com/office/drawing/2014/main" id="{C4D4BD62-2E83-C234-FD58-451256FC8C12}"/>
              </a:ext>
            </a:extLst>
          </p:cNvPr>
          <p:cNvSpPr txBox="1"/>
          <p:nvPr/>
        </p:nvSpPr>
        <p:spPr>
          <a:xfrm>
            <a:off x="381000" y="1247501"/>
            <a:ext cx="2921000" cy="973185"/>
          </a:xfrm>
          <a:prstGeom prst="rect">
            <a:avLst/>
          </a:prstGeom>
          <a:solidFill>
            <a:srgbClr val="F5F7FA"/>
          </a:solidFill>
          <a:ln w="6350">
            <a:solidFill>
              <a:srgbClr val="D1D8E0"/>
            </a:solidFill>
          </a:ln>
        </p:spPr>
        <p:txBody>
          <a:bodyPr wrap="square" lIns="177800" tIns="152400" rIns="177800" bIns="152400" anchor="t"/>
          <a:lstStyle/>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約24万人で横ばい（2020〜2024年度）</a:t>
            </a:r>
          </a:p>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生命保険の営業職員（各年度末）</a:t>
            </a:r>
          </a:p>
          <a:p>
            <a:pPr marL="171450" indent="-171450">
              <a:spcBef>
                <a:spcPts val="200"/>
              </a:spcBef>
              <a:buClr>
                <a:srgbClr val="1F2A5C"/>
              </a:buClr>
              <a:buFont typeface="Arial"/>
              <a:buChar char="•"/>
            </a:pPr>
            <a:endParaRPr lang="ja-JP" sz="1200" dirty="0">
              <a:solidFill>
                <a:srgbClr val="333333"/>
              </a:solidFill>
              <a:latin typeface="メイリオ" panose="020B0604030504040204" pitchFamily="50" charset="-128"/>
              <a:ea typeface="メイリオ" panose="020B0604030504040204" pitchFamily="50" charset="-128"/>
              <a:cs typeface="メイリオ"/>
            </a:endParaRPr>
          </a:p>
        </p:txBody>
      </p:sp>
      <p:sp>
        <p:nvSpPr>
          <p:cNvPr id="26" name="Card2_Title">
            <a:extLst>
              <a:ext uri="{FF2B5EF4-FFF2-40B4-BE49-F238E27FC236}">
                <a16:creationId xmlns:a16="http://schemas.microsoft.com/office/drawing/2014/main" id="{A353F2E6-73D0-7C02-26E1-1B6C2DBCE0B3}"/>
              </a:ext>
            </a:extLst>
          </p:cNvPr>
          <p:cNvSpPr txBox="1"/>
          <p:nvPr/>
        </p:nvSpPr>
        <p:spPr>
          <a:xfrm>
            <a:off x="3492500" y="755465"/>
            <a:ext cx="2921000" cy="457200"/>
          </a:xfrm>
          <a:prstGeom prst="rect">
            <a:avLst/>
          </a:prstGeom>
          <a:solidFill>
            <a:srgbClr val="FFFFFF"/>
          </a:solidFill>
          <a:ln w="6350">
            <a:solidFill>
              <a:srgbClr val="4A6FA5"/>
            </a:solidFill>
          </a:ln>
        </p:spPr>
        <p:txBody>
          <a:bodyPr wrap="square" lIns="177800" tIns="101600" rIns="177800" bIns="101600" anchor="ctr"/>
          <a:lstStyle/>
          <a:p>
            <a:pPr>
              <a:buNone/>
            </a:pPr>
            <a:r>
              <a:rPr lang="ja-JP" sz="1400" b="1" dirty="0">
                <a:solidFill>
                  <a:srgbClr val="4A6FA5"/>
                </a:solidFill>
                <a:latin typeface="メイリオ" panose="020B0604030504040204" pitchFamily="50" charset="-128"/>
                <a:ea typeface="メイリオ" panose="020B0604030504040204" pitchFamily="50" charset="-128"/>
                <a:cs typeface="メイリオ"/>
              </a:rPr>
              <a:t>保険の加入経路</a:t>
            </a:r>
          </a:p>
        </p:txBody>
      </p:sp>
      <p:sp>
        <p:nvSpPr>
          <p:cNvPr id="28" name="Card2_Body">
            <a:extLst>
              <a:ext uri="{FF2B5EF4-FFF2-40B4-BE49-F238E27FC236}">
                <a16:creationId xmlns:a16="http://schemas.microsoft.com/office/drawing/2014/main" id="{E6278C61-2C8E-CFD2-1633-C4571ED6A510}"/>
              </a:ext>
            </a:extLst>
          </p:cNvPr>
          <p:cNvSpPr txBox="1"/>
          <p:nvPr/>
        </p:nvSpPr>
        <p:spPr>
          <a:xfrm>
            <a:off x="3492500" y="1247501"/>
            <a:ext cx="2921000" cy="973185"/>
          </a:xfrm>
          <a:prstGeom prst="rect">
            <a:avLst/>
          </a:prstGeom>
          <a:solidFill>
            <a:srgbClr val="F5F7FA"/>
          </a:solidFill>
          <a:ln w="6350">
            <a:solidFill>
              <a:srgbClr val="D1D8E0"/>
            </a:solidFill>
          </a:ln>
        </p:spPr>
        <p:txBody>
          <a:bodyPr wrap="square" lIns="177800" tIns="152400" rIns="177800" bIns="152400" anchor="t"/>
          <a:lstStyle/>
          <a:p>
            <a:pPr marL="171450" indent="-171450">
              <a:spcBef>
                <a:spcPts val="200"/>
              </a:spcBef>
              <a:buClr>
                <a:srgbClr val="4A6FA5"/>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加入経路のうち「生命保険会社の営業職員」が56.7%（2024年調査）</a:t>
            </a:r>
          </a:p>
          <a:p>
            <a:pPr marL="171450" indent="-171450">
              <a:spcBef>
                <a:spcPts val="200"/>
              </a:spcBef>
              <a:buClr>
                <a:srgbClr val="4A6FA5"/>
              </a:buClr>
              <a:buFont typeface="Arial"/>
              <a:buChar char="•"/>
            </a:pPr>
          </a:p>
        </p:txBody>
      </p:sp>
      <p:sp>
        <p:nvSpPr>
          <p:cNvPr id="30" name="Card3_Title">
            <a:extLst>
              <a:ext uri="{FF2B5EF4-FFF2-40B4-BE49-F238E27FC236}">
                <a16:creationId xmlns:a16="http://schemas.microsoft.com/office/drawing/2014/main" id="{0B941908-3223-5564-217F-FA5805E7C3CC}"/>
              </a:ext>
            </a:extLst>
          </p:cNvPr>
          <p:cNvSpPr txBox="1"/>
          <p:nvPr/>
        </p:nvSpPr>
        <p:spPr>
          <a:xfrm>
            <a:off x="6604000" y="755465"/>
            <a:ext cx="2921000" cy="457200"/>
          </a:xfrm>
          <a:prstGeom prst="rect">
            <a:avLst/>
          </a:prstGeom>
          <a:solidFill>
            <a:srgbClr val="FFFFFF"/>
          </a:solidFill>
          <a:ln w="6350">
            <a:solidFill>
              <a:srgbClr val="1F2A5C"/>
            </a:solidFill>
          </a:ln>
        </p:spPr>
        <p:txBody>
          <a:bodyPr wrap="square" lIns="177800" tIns="101600" rIns="177800" bIns="101600" anchor="ctr"/>
          <a:lstStyle/>
          <a:p>
            <a:pPr>
              <a:buNone/>
            </a:pPr>
            <a:r>
              <a:rPr lang="ja-JP" sz="1400" b="1" dirty="0">
                <a:solidFill>
                  <a:srgbClr val="1F2A5C"/>
                </a:solidFill>
                <a:latin typeface="メイリオ" panose="020B0604030504040204" pitchFamily="50" charset="-128"/>
                <a:ea typeface="メイリオ" panose="020B0604030504040204" pitchFamily="50" charset="-128"/>
                <a:cs typeface="メイリオ"/>
              </a:rPr>
              <a:t>お客様との接触回数</a:t>
            </a:r>
          </a:p>
        </p:txBody>
      </p:sp>
      <p:sp>
        <p:nvSpPr>
          <p:cNvPr id="32" name="Card3_Body">
            <a:extLst>
              <a:ext uri="{FF2B5EF4-FFF2-40B4-BE49-F238E27FC236}">
                <a16:creationId xmlns:a16="http://schemas.microsoft.com/office/drawing/2014/main" id="{3A759964-4FD9-35ED-7557-01B7E8C5068B}"/>
              </a:ext>
            </a:extLst>
          </p:cNvPr>
          <p:cNvSpPr txBox="1"/>
          <p:nvPr/>
        </p:nvSpPr>
        <p:spPr>
          <a:xfrm>
            <a:off x="6604000" y="1247501"/>
            <a:ext cx="2921000" cy="973185"/>
          </a:xfrm>
          <a:prstGeom prst="rect">
            <a:avLst/>
          </a:prstGeom>
          <a:solidFill>
            <a:srgbClr val="F5F7FA"/>
          </a:solidFill>
          <a:ln w="6350">
            <a:solidFill>
              <a:srgbClr val="D1D8E0"/>
            </a:solidFill>
          </a:ln>
        </p:spPr>
        <p:txBody>
          <a:bodyPr wrap="square" lIns="177800" tIns="152400" rIns="177800" bIns="152400" anchor="t"/>
          <a:lstStyle/>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コロナ前と比べ、接触回数が「減少した」営業職員が55.5%（2023年調査）</a:t>
            </a:r>
          </a:p>
          <a:p>
            <a:pPr marL="171450" indent="-171450">
              <a:spcBef>
                <a:spcPts val="200"/>
              </a:spcBef>
              <a:buClr>
                <a:srgbClr val="1F2A5C"/>
              </a:buClr>
              <a:buFont typeface="Arial"/>
              <a:buChar char="•"/>
            </a:pPr>
          </a:p>
        </p:txBody>
      </p:sp>
      <p:sp>
        <p:nvSpPr>
          <p:cNvPr id="34" name="Card1_Body">
            <a:extLst>
              <a:ext uri="{FF2B5EF4-FFF2-40B4-BE49-F238E27FC236}">
                <a16:creationId xmlns:a16="http://schemas.microsoft.com/office/drawing/2014/main" id="{4D793872-6303-5CAB-0032-0CF8F2E827B9}"/>
              </a:ext>
            </a:extLst>
          </p:cNvPr>
          <p:cNvSpPr txBox="1"/>
          <p:nvPr/>
        </p:nvSpPr>
        <p:spPr>
          <a:xfrm>
            <a:off x="381000" y="2309947"/>
            <a:ext cx="2921000" cy="1066800"/>
          </a:xfrm>
          <a:prstGeom prst="rect">
            <a:avLst/>
          </a:prstGeom>
          <a:solidFill>
            <a:schemeClr val="accent1">
              <a:lumMod val="20000"/>
              <a:lumOff val="80000"/>
            </a:schemeClr>
          </a:solidFill>
          <a:ln w="6350">
            <a:solidFill>
              <a:srgbClr val="D1D8E0"/>
            </a:solidFill>
          </a:ln>
        </p:spPr>
        <p:txBody>
          <a:bodyPr wrap="square" lIns="177800" tIns="152400" rIns="177800" bIns="152400" anchor="t"/>
          <a:lstStyle/>
          <a:p>
            <a:pPr marL="171450" indent="-171450">
              <a:spcBef>
                <a:spcPts val="200"/>
              </a:spcBef>
              <a:buClr>
                <a:srgbClr val="1F2A5C"/>
              </a:buClr>
              <a:buFont typeface="Arial"/>
              <a:buChar char="•"/>
            </a:pPr>
            <a:r>
              <a:rPr lang="ja-JP" sz="1200" b="1" dirty="0">
                <a:solidFill>
                  <a:srgbClr val="333333"/>
                </a:solidFill>
                <a:latin typeface="メイリオ" panose="020B0604030504040204" pitchFamily="50" charset="-128"/>
                <a:ea typeface="メイリオ" panose="020B0604030504040204" pitchFamily="50" charset="-128"/>
                <a:cs typeface="メイリオ"/>
              </a:rPr>
              <a:t>毎年ほぼ同じ規模の方が、営業を続けている</a:t>
            </a:r>
          </a:p>
          <a:p>
            <a:pPr marL="171450" indent="-171450">
              <a:spcBef>
                <a:spcPts val="200"/>
              </a:spcBef>
              <a:buClr>
                <a:srgbClr val="1F2A5C"/>
              </a:buClr>
              <a:buFont typeface="Arial"/>
              <a:buChar char="•"/>
            </a:pPr>
            <a:r>
              <a:rPr lang="ja-JP" sz="1200" b="1" dirty="0">
                <a:solidFill>
                  <a:srgbClr val="333333"/>
                </a:solidFill>
                <a:latin typeface="メイリオ" panose="020B0604030504040204" pitchFamily="50" charset="-128"/>
                <a:ea typeface="メイリオ" panose="020B0604030504040204" pitchFamily="50" charset="-128"/>
                <a:cs typeface="メイリオ"/>
              </a:rPr>
              <a:t>一度つながった方に、次のイベントも届けられる</a:t>
            </a:r>
          </a:p>
          <a:p>
            <a:pPr marL="171450" indent="-171450">
              <a:spcBef>
                <a:spcPts val="200"/>
              </a:spcBef>
              <a:buClr>
                <a:srgbClr val="1F2A5C"/>
              </a:buClr>
              <a:buFont typeface="Arial"/>
              <a:buChar char="•"/>
            </a:pPr>
            <a:endParaRPr lang="ja-JP" sz="1200" b="1" dirty="0">
              <a:solidFill>
                <a:srgbClr val="333333"/>
              </a:solidFill>
              <a:latin typeface="メイリオ" panose="020B0604030504040204" pitchFamily="50" charset="-128"/>
              <a:ea typeface="メイリオ" panose="020B0604030504040204" pitchFamily="50" charset="-128"/>
              <a:cs typeface="メイリオ"/>
            </a:endParaRPr>
          </a:p>
        </p:txBody>
      </p:sp>
      <p:sp>
        <p:nvSpPr>
          <p:cNvPr id="36" name="Card2_Body">
            <a:extLst>
              <a:ext uri="{FF2B5EF4-FFF2-40B4-BE49-F238E27FC236}">
                <a16:creationId xmlns:a16="http://schemas.microsoft.com/office/drawing/2014/main" id="{FBD69C87-50C1-1FB7-B8EB-D2F245D2012C}"/>
              </a:ext>
            </a:extLst>
          </p:cNvPr>
          <p:cNvSpPr txBox="1"/>
          <p:nvPr/>
        </p:nvSpPr>
        <p:spPr>
          <a:xfrm>
            <a:off x="3492500" y="2309947"/>
            <a:ext cx="2921000" cy="1066800"/>
          </a:xfrm>
          <a:prstGeom prst="rect">
            <a:avLst/>
          </a:prstGeom>
          <a:solidFill>
            <a:schemeClr val="accent1">
              <a:lumMod val="20000"/>
              <a:lumOff val="80000"/>
            </a:schemeClr>
          </a:solidFill>
          <a:ln w="6350">
            <a:solidFill>
              <a:srgbClr val="D1D8E0"/>
            </a:solidFill>
          </a:ln>
        </p:spPr>
        <p:txBody>
          <a:bodyPr wrap="square" lIns="177800" tIns="152400" rIns="177800" bIns="152400" anchor="t"/>
          <a:lstStyle/>
          <a:p>
            <a:pPr marL="171450" indent="-171450">
              <a:spcBef>
                <a:spcPts val="200"/>
              </a:spcBef>
              <a:buClr>
                <a:srgbClr val="4A6FA5"/>
              </a:buClr>
              <a:buFont typeface="Arial"/>
              <a:buChar char="•"/>
            </a:pPr>
            <a:r>
              <a:rPr lang="ja-JP" sz="1200" b="1" dirty="0">
                <a:solidFill>
                  <a:srgbClr val="333333"/>
                </a:solidFill>
                <a:latin typeface="メイリオ" panose="020B0604030504040204" pitchFamily="50" charset="-128"/>
                <a:ea typeface="メイリオ" panose="020B0604030504040204" pitchFamily="50" charset="-128"/>
                <a:cs typeface="メイリオ"/>
              </a:rPr>
              <a:t>保険の加入は、今も営業職員が中心</a:t>
            </a:r>
          </a:p>
          <a:p>
            <a:pPr marL="171450" indent="-171450">
              <a:spcBef>
                <a:spcPts val="200"/>
              </a:spcBef>
              <a:buClr>
                <a:srgbClr val="4A6FA5"/>
              </a:buClr>
              <a:buFont typeface="Arial"/>
              <a:buChar char="•"/>
            </a:pPr>
            <a:r>
              <a:rPr lang="ja-JP" sz="1200" b="1" dirty="0">
                <a:solidFill>
                  <a:srgbClr val="333333"/>
                </a:solidFill>
                <a:latin typeface="メイリオ" panose="020B0604030504040204" pitchFamily="50" charset="-128"/>
                <a:ea typeface="メイリオ" panose="020B0604030504040204" pitchFamily="50" charset="-128"/>
                <a:cs typeface="メイリオ"/>
              </a:rPr>
              <a:t>営業力を上げたいニーズは続く</a:t>
            </a:r>
          </a:p>
          <a:p>
            <a:pPr marL="171450" indent="-171450">
              <a:spcBef>
                <a:spcPts val="200"/>
              </a:spcBef>
              <a:buClr>
                <a:srgbClr val="4A6FA5"/>
              </a:buClr>
              <a:buFont typeface="Arial"/>
              <a:buChar char="•"/>
            </a:pPr>
            <a:endParaRPr lang="ja-JP" sz="1200" b="1" dirty="0">
              <a:solidFill>
                <a:srgbClr val="333333"/>
              </a:solidFill>
              <a:latin typeface="メイリオ" panose="020B0604030504040204" pitchFamily="50" charset="-128"/>
              <a:ea typeface="メイリオ" panose="020B0604030504040204" pitchFamily="50" charset="-128"/>
              <a:cs typeface="メイリオ"/>
            </a:endParaRPr>
          </a:p>
        </p:txBody>
      </p:sp>
      <p:sp>
        <p:nvSpPr>
          <p:cNvPr id="38" name="Card3_Body">
            <a:extLst>
              <a:ext uri="{FF2B5EF4-FFF2-40B4-BE49-F238E27FC236}">
                <a16:creationId xmlns:a16="http://schemas.microsoft.com/office/drawing/2014/main" id="{A5C634F4-8754-3DE6-64E2-704CF74E07EF}"/>
              </a:ext>
            </a:extLst>
          </p:cNvPr>
          <p:cNvSpPr txBox="1"/>
          <p:nvPr/>
        </p:nvSpPr>
        <p:spPr>
          <a:xfrm>
            <a:off x="6604000" y="2309947"/>
            <a:ext cx="2921000" cy="1066800"/>
          </a:xfrm>
          <a:prstGeom prst="rect">
            <a:avLst/>
          </a:prstGeom>
          <a:solidFill>
            <a:schemeClr val="accent1">
              <a:lumMod val="20000"/>
              <a:lumOff val="80000"/>
            </a:schemeClr>
          </a:solidFill>
          <a:ln w="6350">
            <a:solidFill>
              <a:srgbClr val="D1D8E0"/>
            </a:solidFill>
          </a:ln>
        </p:spPr>
        <p:txBody>
          <a:bodyPr wrap="square" lIns="177800" tIns="152400" rIns="177800" bIns="152400" anchor="t"/>
          <a:lstStyle/>
          <a:p>
            <a:pPr marL="171450" indent="-171450">
              <a:spcBef>
                <a:spcPts val="200"/>
              </a:spcBef>
              <a:buClr>
                <a:srgbClr val="1F2A5C"/>
              </a:buClr>
              <a:buFont typeface="Arial"/>
              <a:buChar char="•"/>
            </a:pPr>
            <a:r>
              <a:rPr lang="ja-JP" sz="1200" b="1" dirty="0">
                <a:solidFill>
                  <a:srgbClr val="333333"/>
                </a:solidFill>
                <a:latin typeface="メイリオ" panose="020B0604030504040204" pitchFamily="50" charset="-128"/>
                <a:ea typeface="メイリオ" panose="020B0604030504040204" pitchFamily="50" charset="-128"/>
                <a:cs typeface="メイリオ"/>
              </a:rPr>
              <a:t>お客様と会える回数が減っている</a:t>
            </a:r>
          </a:p>
          <a:p>
            <a:pPr marL="171450" indent="-171450">
              <a:spcBef>
                <a:spcPts val="200"/>
              </a:spcBef>
              <a:buClr>
                <a:srgbClr val="1F2A5C"/>
              </a:buClr>
              <a:buFont typeface="Arial"/>
              <a:buChar char="•"/>
            </a:pPr>
            <a:r>
              <a:rPr lang="ja-JP" sz="1200" b="1" dirty="0">
                <a:solidFill>
                  <a:srgbClr val="333333"/>
                </a:solidFill>
                <a:latin typeface="メイリオ" panose="020B0604030504040204" pitchFamily="50" charset="-128"/>
                <a:ea typeface="メイリオ" panose="020B0604030504040204" pitchFamily="50" charset="-128"/>
                <a:cs typeface="メイリオ"/>
              </a:rPr>
              <a:t>成果を出す営業のやり方が求められている</a:t>
            </a:r>
          </a:p>
          <a:p>
            <a:pPr marL="171450" indent="-171450">
              <a:spcBef>
                <a:spcPts val="200"/>
              </a:spcBef>
              <a:buClr>
                <a:srgbClr val="1F2A5C"/>
              </a:buClr>
              <a:buFont typeface="Arial"/>
              <a:buChar char="•"/>
            </a:pPr>
            <a:endParaRPr lang="ja-JP" sz="1200" b="1" dirty="0">
              <a:solidFill>
                <a:srgbClr val="333333"/>
              </a:solidFill>
              <a:latin typeface="メイリオ" panose="020B0604030504040204" pitchFamily="50" charset="-128"/>
              <a:ea typeface="メイリオ" panose="020B0604030504040204" pitchFamily="50" charset="-128"/>
              <a:cs typeface="メイリオ"/>
            </a:endParaRPr>
          </a:p>
        </p:txBody>
      </p:sp>
      <p:sp>
        <p:nvSpPr>
          <p:cNvPr id="39" name="矢印: 下 38">
            <a:extLst>
              <a:ext uri="{FF2B5EF4-FFF2-40B4-BE49-F238E27FC236}">
                <a16:creationId xmlns:a16="http://schemas.microsoft.com/office/drawing/2014/main" id="{BA24D6FA-F12D-EEEA-58E0-4E8D7E5B054F}"/>
              </a:ext>
            </a:extLst>
          </p:cNvPr>
          <p:cNvSpPr/>
          <p:nvPr/>
        </p:nvSpPr>
        <p:spPr>
          <a:xfrm>
            <a:off x="1297577" y="2159726"/>
            <a:ext cx="1097280" cy="182880"/>
          </a:xfrm>
          <a:prstGeom prst="downArrow">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1" name="矢印: 下 40">
            <a:extLst>
              <a:ext uri="{FF2B5EF4-FFF2-40B4-BE49-F238E27FC236}">
                <a16:creationId xmlns:a16="http://schemas.microsoft.com/office/drawing/2014/main" id="{142BC3DE-B10E-3A60-51E8-71FB62C8E8FE}"/>
              </a:ext>
            </a:extLst>
          </p:cNvPr>
          <p:cNvSpPr/>
          <p:nvPr/>
        </p:nvSpPr>
        <p:spPr>
          <a:xfrm>
            <a:off x="4404360" y="2159726"/>
            <a:ext cx="1097280" cy="182880"/>
          </a:xfrm>
          <a:prstGeom prst="downArrow">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3" name="矢印: 下 42">
            <a:extLst>
              <a:ext uri="{FF2B5EF4-FFF2-40B4-BE49-F238E27FC236}">
                <a16:creationId xmlns:a16="http://schemas.microsoft.com/office/drawing/2014/main" id="{E8BF74FD-3839-8A1C-870B-B0506D93B9EE}"/>
              </a:ext>
            </a:extLst>
          </p:cNvPr>
          <p:cNvSpPr/>
          <p:nvPr/>
        </p:nvSpPr>
        <p:spPr>
          <a:xfrm>
            <a:off x="7515860" y="2159726"/>
            <a:ext cx="1097280" cy="182880"/>
          </a:xfrm>
          <a:prstGeom prst="downArrow">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6" name="グラフの見出し"/>
          <p:cNvSpPr/>
          <p:nvPr/>
        </p:nvSpPr>
        <p:spPr>
          <a:xfrm>
            <a:off x="640080" y="3566160"/>
            <a:ext cx="8595360" cy="274320"/>
          </a:xfrm>
          <a:prstGeom prst="rect">
            <a:avLst/>
          </a:prstGeom>
          <a:noFill/>
          <a:ln>
            <a:noFill/>
          </a:ln>
        </p:spPr>
        <p:txBody>
          <a:bodyPr wrap="square" lIns="0" tIns="0" rIns="0" bIns="0" rtlCol="0" anchor="ctr">
            <a:noAutofit/>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生命保険の営業職員数（各年度末・名）</a:t>
            </a:r>
            <a:endParaRPr lang="ja-JP" altLang="en-US" sz="1200" dirty="0">
              <a:latin typeface="メイリオ"/>
              <a:ea typeface="メイリオ"/>
              <a:cs typeface="メイリオ"/>
            </a:endParaRPr>
          </a:p>
        </p:txBody>
      </p:sp>
      <p:sp>
        <p:nvSpPr>
          <p:cNvPr id="47" name="棒 2020年度"/>
          <p:cNvSpPr/>
          <p:nvPr/>
        </p:nvSpPr>
        <p:spPr>
          <a:xfrm>
            <a:off x="1051560" y="4168707"/>
            <a:ext cx="1005840" cy="1454852"/>
          </a:xfrm>
          <a:prstGeom prst="rect">
            <a:avLst/>
          </a:prstGeom>
          <a:solidFill>
            <a:srgbClr val="1F2A5C"/>
          </a:solidFill>
          <a:ln>
            <a:noFill/>
          </a:ln>
        </p:spPr>
        <p:txBody>
          <a:bodyPr wrap="square" lIns="73152" tIns="36576" rIns="73152" bIns="36576" rtlCol="0" anchor="ctr">
            <a:noAutofit/>
          </a:bodyPr>
          <a:lstStyle/>
          <a:p>
            <a:pPr algn="l">
              <a:buNone/>
            </a:pPr>
            <a:endParaRPr lang="ja-JP" altLang="en-US" sz="1200" dirty="0">
              <a:latin typeface="メイリオ"/>
              <a:ea typeface="メイリオ"/>
              <a:cs typeface="メイリオ"/>
            </a:endParaRPr>
          </a:p>
        </p:txBody>
      </p:sp>
      <p:sp>
        <p:nvSpPr>
          <p:cNvPr id="48" name="値 2020年度"/>
          <p:cNvSpPr/>
          <p:nvPr/>
        </p:nvSpPr>
        <p:spPr>
          <a:xfrm>
            <a:off x="868680" y="3894387"/>
            <a:ext cx="1371600" cy="256032"/>
          </a:xfrm>
          <a:prstGeom prst="rect">
            <a:avLst/>
          </a:prstGeom>
          <a:noFill/>
          <a:ln>
            <a:noFill/>
          </a:ln>
        </p:spPr>
        <p:txBody>
          <a:bodyPr wrap="square" lIns="0" tIns="0" rIns="0" bIns="0" rtlCol="0" anchor="b">
            <a:noAutofit/>
          </a:bodyPr>
          <a:lstStyle/>
          <a:p>
            <a:pPr algn="ctr">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248,601</a:t>
            </a:r>
            <a:endParaRPr lang="ja-JP" altLang="en-US" sz="1200" dirty="0">
              <a:latin typeface="メイリオ"/>
              <a:ea typeface="メイリオ"/>
              <a:cs typeface="メイリオ"/>
            </a:endParaRPr>
          </a:p>
        </p:txBody>
      </p:sp>
      <p:sp>
        <p:nvSpPr>
          <p:cNvPr id="49" name="年度 2020年度"/>
          <p:cNvSpPr/>
          <p:nvPr/>
        </p:nvSpPr>
        <p:spPr>
          <a:xfrm>
            <a:off x="868680" y="5650992"/>
            <a:ext cx="1371600" cy="228600"/>
          </a:xfrm>
          <a:prstGeom prst="rect">
            <a:avLst/>
          </a:prstGeom>
          <a:noFill/>
          <a:ln>
            <a:noFill/>
          </a:ln>
        </p:spPr>
        <p:txBody>
          <a:bodyPr wrap="square" lIns="0" tIns="0" rIns="0" bIns="0" rtlCol="0" anchor="t">
            <a:noAutofit/>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cs typeface="メイリオ"/>
              </a:rPr>
              <a:t>2020年度</a:t>
            </a:r>
            <a:endParaRPr lang="ja-JP" altLang="en-US" sz="1200" dirty="0">
              <a:latin typeface="メイリオ"/>
              <a:ea typeface="メイリオ"/>
              <a:cs typeface="メイリオ"/>
            </a:endParaRPr>
          </a:p>
        </p:txBody>
      </p:sp>
      <p:sp>
        <p:nvSpPr>
          <p:cNvPr id="50" name="棒 2021年度"/>
          <p:cNvSpPr/>
          <p:nvPr/>
        </p:nvSpPr>
        <p:spPr>
          <a:xfrm>
            <a:off x="2743200" y="4201795"/>
            <a:ext cx="1005840" cy="1421764"/>
          </a:xfrm>
          <a:prstGeom prst="rect">
            <a:avLst/>
          </a:prstGeom>
          <a:solidFill>
            <a:srgbClr val="1F2A5C"/>
          </a:solidFill>
          <a:ln>
            <a:noFill/>
          </a:ln>
        </p:spPr>
        <p:txBody>
          <a:bodyPr wrap="square" lIns="73152" tIns="36576" rIns="73152" bIns="36576" rtlCol="0" anchor="ctr">
            <a:noAutofit/>
          </a:bodyPr>
          <a:lstStyle/>
          <a:p>
            <a:pPr algn="l">
              <a:buNone/>
            </a:pPr>
            <a:endParaRPr lang="ja-JP" altLang="en-US" sz="1200" dirty="0">
              <a:latin typeface="メイリオ"/>
              <a:ea typeface="メイリオ"/>
              <a:cs typeface="メイリオ"/>
            </a:endParaRPr>
          </a:p>
        </p:txBody>
      </p:sp>
      <p:sp>
        <p:nvSpPr>
          <p:cNvPr id="51" name="値 2021年度"/>
          <p:cNvSpPr/>
          <p:nvPr/>
        </p:nvSpPr>
        <p:spPr>
          <a:xfrm>
            <a:off x="2560320" y="3927475"/>
            <a:ext cx="1371600" cy="256032"/>
          </a:xfrm>
          <a:prstGeom prst="rect">
            <a:avLst/>
          </a:prstGeom>
          <a:noFill/>
          <a:ln>
            <a:noFill/>
          </a:ln>
        </p:spPr>
        <p:txBody>
          <a:bodyPr wrap="square" lIns="0" tIns="0" rIns="0" bIns="0" rtlCol="0" anchor="b">
            <a:noAutofit/>
          </a:bodyPr>
          <a:lstStyle/>
          <a:p>
            <a:pPr algn="ctr">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242,947</a:t>
            </a:r>
            <a:endParaRPr lang="ja-JP" altLang="en-US" sz="1200" dirty="0">
              <a:latin typeface="メイリオ"/>
              <a:ea typeface="メイリオ"/>
              <a:cs typeface="メイリオ"/>
            </a:endParaRPr>
          </a:p>
        </p:txBody>
      </p:sp>
      <p:sp>
        <p:nvSpPr>
          <p:cNvPr id="52" name="年度 2021年度"/>
          <p:cNvSpPr/>
          <p:nvPr/>
        </p:nvSpPr>
        <p:spPr>
          <a:xfrm>
            <a:off x="2560320" y="5650992"/>
            <a:ext cx="1371600" cy="228600"/>
          </a:xfrm>
          <a:prstGeom prst="rect">
            <a:avLst/>
          </a:prstGeom>
          <a:noFill/>
          <a:ln>
            <a:noFill/>
          </a:ln>
        </p:spPr>
        <p:txBody>
          <a:bodyPr wrap="square" lIns="0" tIns="0" rIns="0" bIns="0" rtlCol="0" anchor="t">
            <a:noAutofit/>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cs typeface="メイリオ"/>
              </a:rPr>
              <a:t>2021年度</a:t>
            </a:r>
            <a:endParaRPr lang="ja-JP" altLang="en-US" sz="1200" dirty="0">
              <a:latin typeface="メイリオ"/>
              <a:ea typeface="メイリオ"/>
              <a:cs typeface="メイリオ"/>
            </a:endParaRPr>
          </a:p>
        </p:txBody>
      </p:sp>
      <p:sp>
        <p:nvSpPr>
          <p:cNvPr id="53" name="棒 2022年度"/>
          <p:cNvSpPr/>
          <p:nvPr/>
        </p:nvSpPr>
        <p:spPr>
          <a:xfrm>
            <a:off x="4434840" y="4177602"/>
            <a:ext cx="1005840" cy="1445957"/>
          </a:xfrm>
          <a:prstGeom prst="rect">
            <a:avLst/>
          </a:prstGeom>
          <a:solidFill>
            <a:srgbClr val="1F2A5C"/>
          </a:solidFill>
          <a:ln>
            <a:noFill/>
          </a:ln>
        </p:spPr>
        <p:txBody>
          <a:bodyPr wrap="square" lIns="73152" tIns="36576" rIns="73152" bIns="36576" rtlCol="0" anchor="ctr">
            <a:noAutofit/>
          </a:bodyPr>
          <a:lstStyle/>
          <a:p>
            <a:pPr algn="l">
              <a:buNone/>
            </a:pPr>
            <a:endParaRPr lang="ja-JP" altLang="en-US" sz="1200" dirty="0">
              <a:latin typeface="メイリオ"/>
              <a:ea typeface="メイリオ"/>
              <a:cs typeface="メイリオ"/>
            </a:endParaRPr>
          </a:p>
        </p:txBody>
      </p:sp>
      <p:sp>
        <p:nvSpPr>
          <p:cNvPr id="54" name="値 2022年度"/>
          <p:cNvSpPr/>
          <p:nvPr/>
        </p:nvSpPr>
        <p:spPr>
          <a:xfrm>
            <a:off x="4251960" y="3903282"/>
            <a:ext cx="1371600" cy="256032"/>
          </a:xfrm>
          <a:prstGeom prst="rect">
            <a:avLst/>
          </a:prstGeom>
          <a:noFill/>
          <a:ln>
            <a:noFill/>
          </a:ln>
        </p:spPr>
        <p:txBody>
          <a:bodyPr wrap="square" lIns="0" tIns="0" rIns="0" bIns="0" rtlCol="0" anchor="b">
            <a:noAutofit/>
          </a:bodyPr>
          <a:lstStyle/>
          <a:p>
            <a:pPr algn="ctr">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247,081</a:t>
            </a:r>
            <a:endParaRPr lang="ja-JP" altLang="en-US" sz="1200" dirty="0">
              <a:latin typeface="メイリオ"/>
              <a:ea typeface="メイリオ"/>
              <a:cs typeface="メイリオ"/>
            </a:endParaRPr>
          </a:p>
        </p:txBody>
      </p:sp>
      <p:sp>
        <p:nvSpPr>
          <p:cNvPr id="55" name="年度 2022年度"/>
          <p:cNvSpPr/>
          <p:nvPr/>
        </p:nvSpPr>
        <p:spPr>
          <a:xfrm>
            <a:off x="4251960" y="5650992"/>
            <a:ext cx="1371600" cy="228600"/>
          </a:xfrm>
          <a:prstGeom prst="rect">
            <a:avLst/>
          </a:prstGeom>
          <a:noFill/>
          <a:ln>
            <a:noFill/>
          </a:ln>
        </p:spPr>
        <p:txBody>
          <a:bodyPr wrap="square" lIns="0" tIns="0" rIns="0" bIns="0" rtlCol="0" anchor="t">
            <a:noAutofit/>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cs typeface="メイリオ"/>
              </a:rPr>
              <a:t>2022年度</a:t>
            </a:r>
            <a:endParaRPr lang="ja-JP" altLang="en-US" sz="1200" dirty="0">
              <a:latin typeface="メイリオ"/>
              <a:ea typeface="メイリオ"/>
              <a:cs typeface="メイリオ"/>
            </a:endParaRPr>
          </a:p>
        </p:txBody>
      </p:sp>
      <p:sp>
        <p:nvSpPr>
          <p:cNvPr id="56" name="棒 2023年度"/>
          <p:cNvSpPr/>
          <p:nvPr/>
        </p:nvSpPr>
        <p:spPr>
          <a:xfrm>
            <a:off x="6126480" y="4213757"/>
            <a:ext cx="1005840" cy="1409802"/>
          </a:xfrm>
          <a:prstGeom prst="rect">
            <a:avLst/>
          </a:prstGeom>
          <a:solidFill>
            <a:srgbClr val="1F2A5C"/>
          </a:solidFill>
          <a:ln>
            <a:noFill/>
          </a:ln>
        </p:spPr>
        <p:txBody>
          <a:bodyPr wrap="square" lIns="73152" tIns="36576" rIns="73152" bIns="36576" rtlCol="0" anchor="ctr">
            <a:noAutofit/>
          </a:bodyPr>
          <a:lstStyle/>
          <a:p>
            <a:pPr algn="l">
              <a:buNone/>
            </a:pPr>
            <a:endParaRPr lang="ja-JP" altLang="en-US" sz="1200" dirty="0">
              <a:latin typeface="メイリオ"/>
              <a:ea typeface="メイリオ"/>
              <a:cs typeface="メイリオ"/>
            </a:endParaRPr>
          </a:p>
        </p:txBody>
      </p:sp>
      <p:sp>
        <p:nvSpPr>
          <p:cNvPr id="57" name="値 2023年度"/>
          <p:cNvSpPr/>
          <p:nvPr/>
        </p:nvSpPr>
        <p:spPr>
          <a:xfrm>
            <a:off x="5943600" y="3939437"/>
            <a:ext cx="1371600" cy="256032"/>
          </a:xfrm>
          <a:prstGeom prst="rect">
            <a:avLst/>
          </a:prstGeom>
          <a:noFill/>
          <a:ln>
            <a:noFill/>
          </a:ln>
        </p:spPr>
        <p:txBody>
          <a:bodyPr wrap="square" lIns="0" tIns="0" rIns="0" bIns="0" rtlCol="0" anchor="b">
            <a:noAutofit/>
          </a:bodyPr>
          <a:lstStyle/>
          <a:p>
            <a:pPr algn="ctr">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240,903</a:t>
            </a:r>
            <a:endParaRPr lang="ja-JP" altLang="en-US" sz="1200" dirty="0">
              <a:latin typeface="メイリオ"/>
              <a:ea typeface="メイリオ"/>
              <a:cs typeface="メイリオ"/>
            </a:endParaRPr>
          </a:p>
        </p:txBody>
      </p:sp>
      <p:sp>
        <p:nvSpPr>
          <p:cNvPr id="58" name="年度 2023年度"/>
          <p:cNvSpPr/>
          <p:nvPr/>
        </p:nvSpPr>
        <p:spPr>
          <a:xfrm>
            <a:off x="5943600" y="5650992"/>
            <a:ext cx="1371600" cy="228600"/>
          </a:xfrm>
          <a:prstGeom prst="rect">
            <a:avLst/>
          </a:prstGeom>
          <a:noFill/>
          <a:ln>
            <a:noFill/>
          </a:ln>
        </p:spPr>
        <p:txBody>
          <a:bodyPr wrap="square" lIns="0" tIns="0" rIns="0" bIns="0" rtlCol="0" anchor="t">
            <a:noAutofit/>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cs typeface="メイリオ"/>
              </a:rPr>
              <a:t>2023年度</a:t>
            </a:r>
            <a:endParaRPr lang="ja-JP" altLang="en-US" sz="1200" dirty="0">
              <a:latin typeface="メイリオ"/>
              <a:ea typeface="メイリオ"/>
              <a:cs typeface="メイリオ"/>
            </a:endParaRPr>
          </a:p>
        </p:txBody>
      </p:sp>
      <p:sp>
        <p:nvSpPr>
          <p:cNvPr id="59" name="棒 2024年度"/>
          <p:cNvSpPr/>
          <p:nvPr/>
        </p:nvSpPr>
        <p:spPr>
          <a:xfrm>
            <a:off x="7818120" y="4210222"/>
            <a:ext cx="1005840" cy="1413337"/>
          </a:xfrm>
          <a:prstGeom prst="rect">
            <a:avLst/>
          </a:prstGeom>
          <a:solidFill>
            <a:srgbClr val="1F2A5C"/>
          </a:solidFill>
          <a:ln>
            <a:noFill/>
          </a:ln>
        </p:spPr>
        <p:txBody>
          <a:bodyPr wrap="square" lIns="73152" tIns="36576" rIns="73152" bIns="36576" rtlCol="0" anchor="ctr">
            <a:noAutofit/>
          </a:bodyPr>
          <a:lstStyle/>
          <a:p>
            <a:pPr algn="l">
              <a:buNone/>
            </a:pPr>
            <a:endParaRPr lang="ja-JP" altLang="en-US" sz="1200" dirty="0">
              <a:latin typeface="メイリオ"/>
              <a:ea typeface="メイリオ"/>
              <a:cs typeface="メイリオ"/>
            </a:endParaRPr>
          </a:p>
        </p:txBody>
      </p:sp>
      <p:sp>
        <p:nvSpPr>
          <p:cNvPr id="60" name="値 2024年度"/>
          <p:cNvSpPr/>
          <p:nvPr/>
        </p:nvSpPr>
        <p:spPr>
          <a:xfrm>
            <a:off x="7635240" y="3935902"/>
            <a:ext cx="1371600" cy="256032"/>
          </a:xfrm>
          <a:prstGeom prst="rect">
            <a:avLst/>
          </a:prstGeom>
          <a:noFill/>
          <a:ln>
            <a:noFill/>
          </a:ln>
        </p:spPr>
        <p:txBody>
          <a:bodyPr wrap="square" lIns="0" tIns="0" rIns="0" bIns="0" rtlCol="0" anchor="b">
            <a:noAutofit/>
          </a:bodyPr>
          <a:lstStyle/>
          <a:p>
            <a:pPr algn="ctr">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241,507</a:t>
            </a:r>
            <a:endParaRPr lang="ja-JP" altLang="en-US" sz="1200" dirty="0">
              <a:latin typeface="メイリオ"/>
              <a:ea typeface="メイリオ"/>
              <a:cs typeface="メイリオ"/>
            </a:endParaRPr>
          </a:p>
        </p:txBody>
      </p:sp>
      <p:sp>
        <p:nvSpPr>
          <p:cNvPr id="61" name="年度 2024年度"/>
          <p:cNvSpPr/>
          <p:nvPr/>
        </p:nvSpPr>
        <p:spPr>
          <a:xfrm>
            <a:off x="7635240" y="5650992"/>
            <a:ext cx="1371600" cy="228600"/>
          </a:xfrm>
          <a:prstGeom prst="rect">
            <a:avLst/>
          </a:prstGeom>
          <a:noFill/>
          <a:ln>
            <a:noFill/>
          </a:ln>
        </p:spPr>
        <p:txBody>
          <a:bodyPr wrap="square" lIns="0" tIns="0" rIns="0" bIns="0" rtlCol="0" anchor="t">
            <a:noAutofit/>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cs typeface="メイリオ"/>
              </a:rPr>
              <a:t>2024年度</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25447284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E3E23-EB7F-D169-38DE-98B27F305DB6}"/>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C62F92F0-EE46-60C0-E453-43E26B4DBD66}"/>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ニーズ調査（業界</a:t>
            </a:r>
            <a:r>
              <a:rPr lang="en-US" altLang="ja-JP" sz="1600" b="1" dirty="0">
                <a:solidFill>
                  <a:srgbClr val="002060"/>
                </a:solidFill>
                <a:latin typeface="メイリオ"/>
                <a:ea typeface="メイリオ"/>
                <a:cs typeface="メイリオ"/>
                <a:sym typeface="Meiryo"/>
              </a:rPr>
              <a:t>STUDY</a:t>
            </a:r>
            <a:r>
              <a:rPr lang="ja-JP" altLang="en-US" sz="1600" b="1" dirty="0">
                <a:solidFill>
                  <a:srgbClr val="002060"/>
                </a:solidFill>
                <a:latin typeface="メイリオ"/>
                <a:ea typeface="メイリオ"/>
                <a:cs typeface="メイリオ"/>
                <a:sym typeface="Meiryo"/>
              </a:rPr>
              <a:t>）　＞　貴社施策内で検討の訴求軸</a:t>
            </a:r>
            <a:endParaRPr sz="1600" b="1" dirty="0">
              <a:solidFill>
                <a:srgbClr val="002060"/>
              </a:solidFill>
              <a:latin typeface="メイリオ"/>
              <a:ea typeface="メイリオ"/>
              <a:cs typeface="メイリオ"/>
              <a:sym typeface="Meiryo"/>
            </a:endParaRPr>
          </a:p>
        </p:txBody>
      </p:sp>
      <p:sp>
        <p:nvSpPr>
          <p:cNvPr id="7" name="Card1_Title">
            <a:extLst>
              <a:ext uri="{FF2B5EF4-FFF2-40B4-BE49-F238E27FC236}">
                <a16:creationId xmlns:a16="http://schemas.microsoft.com/office/drawing/2014/main" id="{1BFDD1F8-BBF3-4DF7-5884-297BE569EC3E}"/>
              </a:ext>
            </a:extLst>
          </p:cNvPr>
          <p:cNvSpPr txBox="1"/>
          <p:nvPr/>
        </p:nvSpPr>
        <p:spPr>
          <a:xfrm>
            <a:off x="381000" y="677092"/>
            <a:ext cx="2921000" cy="457200"/>
          </a:xfrm>
          <a:prstGeom prst="rect">
            <a:avLst/>
          </a:prstGeom>
          <a:solidFill>
            <a:schemeClr val="accent1">
              <a:lumMod val="20000"/>
              <a:lumOff val="80000"/>
            </a:schemeClr>
          </a:solidFill>
          <a:ln w="6350">
            <a:solidFill>
              <a:srgbClr val="1F2A5C"/>
            </a:solidFill>
          </a:ln>
        </p:spPr>
        <p:txBody>
          <a:bodyPr wrap="square" lIns="177800" tIns="101600" rIns="177800" bIns="101600" anchor="ctr"/>
          <a:lstStyle/>
          <a:p>
            <a:pPr>
              <a:buNone/>
            </a:pPr>
            <a:r>
              <a:rPr lang="ja-JP" sz="1400" b="1" dirty="0">
                <a:solidFill>
                  <a:srgbClr val="1F2A5C"/>
                </a:solidFill>
                <a:latin typeface="メイリオ" panose="020B0604030504040204" pitchFamily="50" charset="-128"/>
                <a:ea typeface="メイリオ" panose="020B0604030504040204" pitchFamily="50" charset="-128"/>
                <a:cs typeface="メイリオ"/>
              </a:rPr>
              <a:t>野沢塾</a:t>
            </a:r>
          </a:p>
        </p:txBody>
      </p:sp>
      <p:sp>
        <p:nvSpPr>
          <p:cNvPr id="12" name="Card1_Body">
            <a:extLst>
              <a:ext uri="{FF2B5EF4-FFF2-40B4-BE49-F238E27FC236}">
                <a16:creationId xmlns:a16="http://schemas.microsoft.com/office/drawing/2014/main" id="{5B59792A-DE46-0634-56D9-2B8FBF96C379}"/>
              </a:ext>
            </a:extLst>
          </p:cNvPr>
          <p:cNvSpPr txBox="1"/>
          <p:nvPr/>
        </p:nvSpPr>
        <p:spPr>
          <a:xfrm>
            <a:off x="381000" y="1186543"/>
            <a:ext cx="2921000" cy="1066800"/>
          </a:xfrm>
          <a:prstGeom prst="rect">
            <a:avLst/>
          </a:prstGeom>
          <a:solidFill>
            <a:schemeClr val="bg1">
              <a:lumMod val="95000"/>
            </a:schemeClr>
          </a:solidFill>
          <a:ln w="6350">
            <a:solidFill>
              <a:srgbClr val="D1D8E0"/>
            </a:solidFill>
          </a:ln>
        </p:spPr>
        <p:txBody>
          <a:bodyPr wrap="square" lIns="177800" tIns="152400" rIns="177800" bIns="152400" anchor="t"/>
          <a:lstStyle/>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保険営業の方向けの講座（月2回）</a:t>
            </a:r>
          </a:p>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サイトのボタンから友だち追加</a:t>
            </a:r>
          </a:p>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あいさつで特典の動画を届ける</a:t>
            </a:r>
            <a:endParaRPr lang="ja-JP" sz="1200" dirty="0">
              <a:solidFill>
                <a:srgbClr val="333333"/>
              </a:solidFill>
              <a:latin typeface="メイリオ" panose="020B0604030504040204" pitchFamily="50" charset="-128"/>
              <a:ea typeface="メイリオ" panose="020B0604030504040204" pitchFamily="50" charset="-128"/>
              <a:cs typeface="メイリオ"/>
            </a:endParaRPr>
          </a:p>
        </p:txBody>
      </p:sp>
      <p:sp>
        <p:nvSpPr>
          <p:cNvPr id="14" name="Card2_Title">
            <a:extLst>
              <a:ext uri="{FF2B5EF4-FFF2-40B4-BE49-F238E27FC236}">
                <a16:creationId xmlns:a16="http://schemas.microsoft.com/office/drawing/2014/main" id="{B77B5039-F6BC-E3F9-574B-5813CDB633F9}"/>
              </a:ext>
            </a:extLst>
          </p:cNvPr>
          <p:cNvSpPr txBox="1"/>
          <p:nvPr/>
        </p:nvSpPr>
        <p:spPr>
          <a:xfrm>
            <a:off x="3492500" y="677092"/>
            <a:ext cx="2921000" cy="457200"/>
          </a:xfrm>
          <a:prstGeom prst="rect">
            <a:avLst/>
          </a:prstGeom>
          <a:solidFill>
            <a:schemeClr val="accent1">
              <a:lumMod val="20000"/>
              <a:lumOff val="80000"/>
            </a:schemeClr>
          </a:solidFill>
          <a:ln w="6350">
            <a:solidFill>
              <a:srgbClr val="4A6FA5"/>
            </a:solidFill>
          </a:ln>
        </p:spPr>
        <p:txBody>
          <a:bodyPr wrap="square" lIns="177800" tIns="101600" rIns="177800" bIns="101600" anchor="ctr"/>
          <a:lstStyle/>
          <a:p>
            <a:pPr>
              <a:buNone/>
            </a:pPr>
            <a:r>
              <a:rPr lang="ja-JP" sz="1400" b="1" dirty="0">
                <a:solidFill>
                  <a:srgbClr val="4A6FA5"/>
                </a:solidFill>
                <a:latin typeface="メイリオ" panose="020B0604030504040204" pitchFamily="50" charset="-128"/>
                <a:ea typeface="メイリオ" panose="020B0604030504040204" pitchFamily="50" charset="-128"/>
                <a:cs typeface="メイリオ"/>
              </a:rPr>
              <a:t>R&amp;C保険営業ラボ</a:t>
            </a:r>
          </a:p>
        </p:txBody>
      </p:sp>
      <p:sp>
        <p:nvSpPr>
          <p:cNvPr id="16" name="Card2_Body">
            <a:extLst>
              <a:ext uri="{FF2B5EF4-FFF2-40B4-BE49-F238E27FC236}">
                <a16:creationId xmlns:a16="http://schemas.microsoft.com/office/drawing/2014/main" id="{31AB5D72-3A3C-E445-05CF-4BE9AAB4B3C3}"/>
              </a:ext>
            </a:extLst>
          </p:cNvPr>
          <p:cNvSpPr txBox="1"/>
          <p:nvPr/>
        </p:nvSpPr>
        <p:spPr>
          <a:xfrm>
            <a:off x="3492500" y="1186543"/>
            <a:ext cx="2921000" cy="1066800"/>
          </a:xfrm>
          <a:prstGeom prst="rect">
            <a:avLst/>
          </a:prstGeom>
          <a:solidFill>
            <a:schemeClr val="bg1">
              <a:lumMod val="95000"/>
            </a:schemeClr>
          </a:solidFill>
          <a:ln w="6350">
            <a:solidFill>
              <a:srgbClr val="D1D8E0"/>
            </a:solidFill>
          </a:ln>
        </p:spPr>
        <p:txBody>
          <a:bodyPr wrap="square" lIns="177800" tIns="152400" rIns="177800" bIns="152400" anchor="t"/>
          <a:lstStyle/>
          <a:p>
            <a:pPr marL="171450" indent="-171450">
              <a:spcBef>
                <a:spcPts val="200"/>
              </a:spcBef>
              <a:buClr>
                <a:srgbClr val="4A6FA5"/>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保険営業の方向けの無料の学習サービス（2026年9月開始）</a:t>
            </a:r>
          </a:p>
          <a:p>
            <a:pPr marL="171450" indent="-171450">
              <a:spcBef>
                <a:spcPts val="200"/>
              </a:spcBef>
              <a:buClr>
                <a:srgbClr val="4A6FA5"/>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登録時の5問のアンケートに合わせて、資料・動画を段階的に配信</a:t>
            </a:r>
          </a:p>
          <a:p>
            <a:pPr marL="171450" indent="-171450">
              <a:spcBef>
                <a:spcPts val="200"/>
              </a:spcBef>
              <a:buClr>
                <a:srgbClr val="4A6FA5"/>
              </a:buClr>
              <a:buFont typeface="Arial"/>
              <a:buChar char="•"/>
            </a:pPr>
            <a:endParaRPr lang="ja-JP" sz="1200" dirty="0">
              <a:solidFill>
                <a:srgbClr val="333333"/>
              </a:solidFill>
              <a:latin typeface="メイリオ" panose="020B0604030504040204" pitchFamily="50" charset="-128"/>
              <a:ea typeface="メイリオ" panose="020B0604030504040204" pitchFamily="50" charset="-128"/>
              <a:cs typeface="メイリオ"/>
            </a:endParaRPr>
          </a:p>
        </p:txBody>
      </p:sp>
      <p:sp>
        <p:nvSpPr>
          <p:cNvPr id="18" name="Card3_Title">
            <a:extLst>
              <a:ext uri="{FF2B5EF4-FFF2-40B4-BE49-F238E27FC236}">
                <a16:creationId xmlns:a16="http://schemas.microsoft.com/office/drawing/2014/main" id="{8EC5AF78-5D13-EC67-F0AD-F54E096AA397}"/>
              </a:ext>
            </a:extLst>
          </p:cNvPr>
          <p:cNvSpPr txBox="1"/>
          <p:nvPr/>
        </p:nvSpPr>
        <p:spPr>
          <a:xfrm>
            <a:off x="6604000" y="677092"/>
            <a:ext cx="2921000" cy="457200"/>
          </a:xfrm>
          <a:prstGeom prst="rect">
            <a:avLst/>
          </a:prstGeom>
          <a:solidFill>
            <a:schemeClr val="accent1">
              <a:lumMod val="20000"/>
              <a:lumOff val="80000"/>
            </a:schemeClr>
          </a:solidFill>
          <a:ln w="6350">
            <a:solidFill>
              <a:srgbClr val="1F2A5C"/>
            </a:solidFill>
          </a:ln>
        </p:spPr>
        <p:txBody>
          <a:bodyPr wrap="square" lIns="177800" tIns="101600" rIns="177800" bIns="101600" anchor="ctr"/>
          <a:lstStyle/>
          <a:p>
            <a:pPr>
              <a:buNone/>
            </a:pPr>
            <a:r>
              <a:rPr lang="ja-JP" sz="1400" b="1" dirty="0">
                <a:solidFill>
                  <a:srgbClr val="1F2A5C"/>
                </a:solidFill>
                <a:latin typeface="メイリオ" panose="020B0604030504040204" pitchFamily="50" charset="-128"/>
                <a:ea typeface="メイリオ" panose="020B0604030504040204" pitchFamily="50" charset="-128"/>
                <a:cs typeface="メイリオ"/>
              </a:rPr>
              <a:t>貴社の訴求軸</a:t>
            </a:r>
          </a:p>
        </p:txBody>
      </p:sp>
      <p:sp>
        <p:nvSpPr>
          <p:cNvPr id="20" name="Card3_Body">
            <a:extLst>
              <a:ext uri="{FF2B5EF4-FFF2-40B4-BE49-F238E27FC236}">
                <a16:creationId xmlns:a16="http://schemas.microsoft.com/office/drawing/2014/main" id="{72AF2293-D8B8-25E7-3F3D-40F12C1E03B3}"/>
              </a:ext>
            </a:extLst>
          </p:cNvPr>
          <p:cNvSpPr txBox="1"/>
          <p:nvPr/>
        </p:nvSpPr>
        <p:spPr>
          <a:xfrm>
            <a:off x="6604000" y="1186543"/>
            <a:ext cx="2921000" cy="1066800"/>
          </a:xfrm>
          <a:prstGeom prst="rect">
            <a:avLst/>
          </a:prstGeom>
          <a:solidFill>
            <a:schemeClr val="bg1">
              <a:lumMod val="95000"/>
            </a:schemeClr>
          </a:solidFill>
          <a:ln w="6350">
            <a:solidFill>
              <a:srgbClr val="D1D8E0"/>
            </a:solidFill>
          </a:ln>
        </p:spPr>
        <p:txBody>
          <a:bodyPr wrap="square" lIns="177800" tIns="152400" rIns="177800" bIns="152400" anchor="t"/>
          <a:lstStyle/>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イベントの予約・参加に合わせた案内</a:t>
            </a:r>
          </a:p>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参加後、サロンの入会へつなげる</a:t>
            </a:r>
          </a:p>
          <a:p>
            <a:pPr marL="171450" indent="-171450">
              <a:spcBef>
                <a:spcPts val="200"/>
              </a:spcBef>
              <a:buClr>
                <a:srgbClr val="1F2A5C"/>
              </a:buClr>
              <a:buFont typeface="Arial"/>
              <a:buChar char="•"/>
            </a:pPr>
            <a:endParaRPr lang="ja-JP" sz="1200" dirty="0">
              <a:solidFill>
                <a:srgbClr val="333333"/>
              </a:solidFill>
              <a:latin typeface="メイリオ" panose="020B0604030504040204" pitchFamily="50" charset="-128"/>
              <a:ea typeface="メイリオ" panose="020B0604030504040204" pitchFamily="50" charset="-128"/>
              <a:cs typeface="メイリオ"/>
            </a:endParaRPr>
          </a:p>
        </p:txBody>
      </p:sp>
      <p:sp>
        <p:nvSpPr>
          <p:cNvPr id="22" name="テキスト ボックス 21">
            <a:extLst>
              <a:ext uri="{FF2B5EF4-FFF2-40B4-BE49-F238E27FC236}">
                <a16:creationId xmlns:a16="http://schemas.microsoft.com/office/drawing/2014/main" id="{4CCBCA82-D6DB-24F4-C957-F66DF547D94E}"/>
              </a:ext>
            </a:extLst>
          </p:cNvPr>
          <p:cNvSpPr txBox="1"/>
          <p:nvPr/>
        </p:nvSpPr>
        <p:spPr>
          <a:xfrm>
            <a:off x="384048" y="5943600"/>
            <a:ext cx="9098280" cy="219456"/>
          </a:xfrm>
          <a:prstGeom prst="rect">
            <a:avLst/>
          </a:prstGeom>
          <a:noFill/>
        </p:spPr>
        <p:txBody>
          <a:bodyPr wrap="square">
            <a:spAutoFit/>
          </a:bodyPr>
          <a:lstStyle/>
          <a:p>
            <a:pPr algn="r"/>
            <a:r>
              <a:rPr lang="en-US" altLang="ja-JP" sz="900" b="1" dirty="0">
                <a:solidFill>
                  <a:schemeClr val="bg1">
                    <a:lumMod val="65000"/>
                  </a:schemeClr>
                </a:solidFill>
                <a:latin typeface="メイリオ" panose="020B0604030504040204" pitchFamily="50" charset="-128"/>
                <a:ea typeface="メイリオ" panose="020B0604030504040204" pitchFamily="50" charset="-128"/>
                <a:cs typeface="メイリオ"/>
              </a:rPr>
              <a:t>※野沢塾：LINE公式アカウント（2026年10月19日確認）・公式サイト（2026年10月18日確認）より。画面の名前とパスワードは伏せている</a:t>
            </a:r>
            <a:endParaRPr lang="ja-JP" altLang="en-US" sz="1400" b="1" dirty="0">
              <a:solidFill>
                <a:schemeClr val="bg1">
                  <a:lumMod val="65000"/>
                </a:schemeClr>
              </a:solidFill>
              <a:latin typeface="メイリオ"/>
              <a:ea typeface="メイリオ"/>
              <a:cs typeface="メイリオ"/>
            </a:endParaRPr>
          </a:p>
        </p:txBody>
      </p:sp>
      <p:sp>
        <p:nvSpPr>
          <p:cNvPr id="24" name="テキスト ボックス 23">
            <a:extLst>
              <a:ext uri="{FF2B5EF4-FFF2-40B4-BE49-F238E27FC236}">
                <a16:creationId xmlns:a16="http://schemas.microsoft.com/office/drawing/2014/main" id="{CC601D0D-5305-FCEB-BD05-F88C9C00ADE3}"/>
              </a:ext>
            </a:extLst>
          </p:cNvPr>
          <p:cNvSpPr txBox="1"/>
          <p:nvPr/>
        </p:nvSpPr>
        <p:spPr>
          <a:xfrm>
            <a:off x="384048" y="6163056"/>
            <a:ext cx="9098280" cy="219456"/>
          </a:xfrm>
          <a:prstGeom prst="rect">
            <a:avLst/>
          </a:prstGeom>
          <a:noFill/>
        </p:spPr>
        <p:txBody>
          <a:bodyPr wrap="square">
            <a:spAutoFit/>
          </a:bodyPr>
          <a:lstStyle/>
          <a:p>
            <a:pPr algn="r"/>
            <a:r>
              <a:rPr lang="en-US" altLang="ja-JP" sz="900" b="1" dirty="0">
                <a:solidFill>
                  <a:schemeClr val="bg1">
                    <a:lumMod val="65000"/>
                  </a:schemeClr>
                </a:solidFill>
                <a:latin typeface="メイリオ" panose="020B0604030504040204" pitchFamily="50" charset="-128"/>
                <a:ea typeface="メイリオ" panose="020B0604030504040204" pitchFamily="50" charset="-128"/>
                <a:cs typeface="メイリオ"/>
              </a:rPr>
              <a:t>※R&amp;C保険営業ラボ：R&amp;C株式会社のプレスリリースより。招待制のため、画面は未掲載</a:t>
            </a:r>
            <a:endParaRPr lang="ja-JP" altLang="en-US" sz="1400" b="1" dirty="0">
              <a:solidFill>
                <a:schemeClr val="bg1">
                  <a:lumMod val="65000"/>
                </a:schemeClr>
              </a:solidFill>
              <a:latin typeface="メイリオ"/>
              <a:ea typeface="メイリオ"/>
              <a:cs typeface="メイリオ"/>
            </a:endParaRPr>
          </a:p>
        </p:txBody>
      </p:sp>
      <p:pic>
        <p:nvPicPr>
          <p:cNvPr id="46" name="Picture 45" descr="image.png"/>
          <p:cNvPicPr>
            <a:picLocks noChangeAspect="1"/>
          </p:cNvPicPr>
          <p:nvPr/>
        </p:nvPicPr>
        <p:blipFill>
          <a:blip r:embed="rId5"/>
          <a:stretch>
            <a:fillRect/>
          </a:stretch>
        </p:blipFill>
        <p:spPr>
          <a:xfrm>
            <a:off x="1920845" y="2265155"/>
            <a:ext cx="1449467" cy="3139641"/>
          </a:xfrm>
          <a:prstGeom prst="rect">
            <a:avLst/>
          </a:prstGeom>
        </p:spPr>
      </p:pic>
      <p:sp>
        <p:nvSpPr>
          <p:cNvPr id="47" name="画像の説明"/>
          <p:cNvSpPr/>
          <p:nvPr/>
        </p:nvSpPr>
        <p:spPr>
          <a:xfrm>
            <a:off x="780858" y="5450516"/>
            <a:ext cx="3729441" cy="256032"/>
          </a:xfrm>
          <a:prstGeom prst="rect">
            <a:avLst/>
          </a:prstGeom>
          <a:noFill/>
          <a:ln>
            <a:noFill/>
          </a:ln>
        </p:spPr>
        <p:txBody>
          <a:bodyPr wrap="square" lIns="0" tIns="0" rIns="0" bIns="0" rtlCol="0" anchor="t">
            <a:noAutofit/>
          </a:bodyPr>
          <a:lstStyle/>
          <a:p>
            <a:pPr algn="ctr">
              <a:buNone/>
            </a:pPr>
            <a:r>
              <a:rPr lang="ja-JP" altLang="en-US" sz="1000" b="0" dirty="0">
                <a:solidFill>
                  <a:srgbClr val="7F7F7F"/>
                </a:solidFill>
                <a:latin typeface="メイリオ" panose="020B0604030504040204" pitchFamily="50" charset="-128"/>
                <a:ea typeface="メイリオ" panose="020B0604030504040204" pitchFamily="50" charset="-128"/>
                <a:cs typeface="メイリオ"/>
              </a:rPr>
              <a:t>野沢塾のあいさつ（LINE公式アカウント）</a:t>
            </a:r>
            <a:endParaRPr lang="ja-JP" altLang="en-US" sz="1200" dirty="0">
              <a:latin typeface="メイリオ"/>
              <a:ea typeface="メイリオ"/>
              <a:cs typeface="メイリオ"/>
            </a:endParaRPr>
          </a:p>
        </p:txBody>
      </p:sp>
      <p:sp>
        <p:nvSpPr>
          <p:cNvPr id="48" name="他社のまとめ"/>
          <p:cNvSpPr/>
          <p:nvPr/>
        </p:nvSpPr>
        <p:spPr>
          <a:xfrm>
            <a:off x="4800600" y="2377440"/>
            <a:ext cx="4480560" cy="1188720"/>
          </a:xfrm>
          <a:prstGeom prst="rect">
            <a:avLst/>
          </a:prstGeom>
          <a:solidFill>
            <a:srgbClr val="E5E8EE"/>
          </a:solidFill>
          <a:ln>
            <a:noFill/>
          </a:ln>
        </p:spPr>
        <p:txBody>
          <a:bodyPr wrap="square" lIns="73152" tIns="36576" rIns="73152" bIns="36576" rtlCol="0" anchor="ctr">
            <a:noAutofit/>
          </a:bodyPr>
          <a:lstStyle/>
          <a:p>
            <a:pPr algn="ctr">
              <a:lnSpc>
                <a:spcPct val="120000"/>
              </a:lnSpc>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保険営業の方向けの他社も、LINEで特典を渡し、</a:t>
            </a:r>
            <a:endParaRPr lang="ja-JP" altLang="en-US" sz="1200" dirty="0">
              <a:latin typeface="メイリオ"/>
              <a:ea typeface="メイリオ"/>
              <a:cs typeface="メイリオ"/>
            </a:endParaRPr>
          </a:p>
          <a:p>
            <a:pPr algn="ctr">
              <a:lnSpc>
                <a:spcPct val="120000"/>
              </a:lnSpc>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友だちに学びを届けている</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18614068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D501E-4538-865B-06FF-B4530B24F06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3D3533E4-0377-76E5-495C-9BA89161C5A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602C552F-05B3-B0A8-5D9C-EEE4787A9537}"/>
              </a:ext>
            </a:extLst>
          </p:cNvPr>
          <p:cNvSpPr/>
          <p:nvPr/>
        </p:nvSpPr>
        <p:spPr>
          <a:xfrm>
            <a:off x="2193285" y="3038203"/>
            <a:ext cx="551946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施策の詳細（配信の効率化）</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1128037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82CEA-3068-C260-29FA-52D10FA7F467}"/>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52E0E886-3FF7-1177-80B0-EC2CDD9EFAAC}"/>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8B2265A6-2819-27E8-AA87-ACBFF2D49AD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要件定義</a:t>
            </a:r>
            <a:endParaRPr sz="1600" b="1" dirty="0">
              <a:solidFill>
                <a:srgbClr val="002060"/>
              </a:solidFill>
              <a:latin typeface="メイリオ"/>
              <a:ea typeface="メイリオ"/>
              <a:cs typeface="メイリオ"/>
              <a:sym typeface="Meiryo"/>
            </a:endParaRPr>
          </a:p>
        </p:txBody>
      </p:sp>
      <p:sp>
        <p:nvSpPr>
          <p:cNvPr id="26" name="正方形/長方形 25">
            <a:extLst>
              <a:ext uri="{FF2B5EF4-FFF2-40B4-BE49-F238E27FC236}">
                <a16:creationId xmlns:a16="http://schemas.microsoft.com/office/drawing/2014/main" id="{C4E20CB5-EE4A-545E-031C-B0FF76AEE517}"/>
              </a:ext>
            </a:extLst>
          </p:cNvPr>
          <p:cNvSpPr/>
          <p:nvPr/>
        </p:nvSpPr>
        <p:spPr>
          <a:xfrm>
            <a:off x="503966" y="775227"/>
            <a:ext cx="8898070" cy="297590"/>
          </a:xfrm>
          <a:prstGeom prst="rect">
            <a:avLst/>
          </a:prstGeom>
          <a:solidFill>
            <a:schemeClr val="tx2">
              <a:lumMod val="75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tIns="90000"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indent="173038"/>
            <a:r>
              <a:rPr lang="ja-JP" altLang="en-US" b="1" dirty="0">
                <a:effectLst/>
                <a:latin typeface="メイリオ" panose="020B0604030504040204" pitchFamily="50" charset="-128"/>
                <a:ea typeface="メイリオ" panose="020B0604030504040204" pitchFamily="50" charset="-128"/>
                <a:cs typeface="メイリオ" panose="020B0604030504040204" pitchFamily="50" charset="-128"/>
              </a:rPr>
              <a:t>プロモーション目的</a:t>
            </a:r>
          </a:p>
        </p:txBody>
      </p:sp>
      <p:sp>
        <p:nvSpPr>
          <p:cNvPr id="27" name="正方形/長方形 26">
            <a:extLst>
              <a:ext uri="{FF2B5EF4-FFF2-40B4-BE49-F238E27FC236}">
                <a16:creationId xmlns:a16="http://schemas.microsoft.com/office/drawing/2014/main" id="{A773DE68-F51A-B2B7-A85F-DDEF158DE1E8}"/>
              </a:ext>
            </a:extLst>
          </p:cNvPr>
          <p:cNvSpPr/>
          <p:nvPr/>
        </p:nvSpPr>
        <p:spPr>
          <a:xfrm>
            <a:off x="503967" y="1090870"/>
            <a:ext cx="8898070" cy="525365"/>
          </a:xfrm>
          <a:prstGeom prst="rect">
            <a:avLst/>
          </a:prstGeom>
          <a:no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ja-JP" altLang="en-US" b="1" dirty="0" sz="1600">
                <a:solidFill>
                  <a:srgbClr val="333333"/>
                </a:solidFill>
                <a:latin typeface="メイリオ"/>
                <a:ea typeface="メイリオ"/>
                <a:cs typeface="メイリオ"/>
              </a:rPr>
              <a:t>広告で集めた方をLINEにため、次のイベント参加数・入会数を伸ばし、LTVを最大化する</a:t>
            </a:r>
            <a:endParaRPr lang="en-US" altLang="ja-JP" b="1" dirty="0">
              <a:solidFill>
                <a:srgbClr val="1F2A5C"/>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0" name="正方形/長方形 29">
            <a:extLst>
              <a:ext uri="{FF2B5EF4-FFF2-40B4-BE49-F238E27FC236}">
                <a16:creationId xmlns:a16="http://schemas.microsoft.com/office/drawing/2014/main" id="{FAB8E792-C2AE-2097-2C3E-326F4730D6FF}"/>
              </a:ext>
            </a:extLst>
          </p:cNvPr>
          <p:cNvSpPr/>
          <p:nvPr/>
        </p:nvSpPr>
        <p:spPr>
          <a:xfrm>
            <a:off x="503965" y="3316813"/>
            <a:ext cx="8898070" cy="366112"/>
          </a:xfrm>
          <a:prstGeom prst="rect">
            <a:avLst/>
          </a:prstGeom>
          <a:solidFill>
            <a:schemeClr val="accent1">
              <a:lumMod val="20000"/>
              <a:lumOff val="80000"/>
            </a:schemeClr>
          </a:solidFill>
          <a:ln>
            <a:solidFill>
              <a:schemeClr val="accent1">
                <a:lumMod val="60000"/>
                <a:lumOff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tIns="90000"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indent="173038"/>
            <a:r>
              <a:rPr lang="ja-JP" altLang="en-US" b="1" dirty="0">
                <a:solidFill>
                  <a:schemeClr val="accent1">
                    <a:lumMod val="75000"/>
                  </a:schemeClr>
                </a:solidFill>
                <a:effectLst/>
                <a:latin typeface="メイリオ" panose="020B0604030504040204" pitchFamily="50" charset="-128"/>
                <a:ea typeface="メイリオ" panose="020B0604030504040204" pitchFamily="50" charset="-128"/>
                <a:cs typeface="メイリオ" panose="020B0604030504040204" pitchFamily="50" charset="-128"/>
              </a:rPr>
              <a:t>手法</a:t>
            </a:r>
          </a:p>
        </p:txBody>
      </p:sp>
      <p:sp>
        <p:nvSpPr>
          <p:cNvPr id="32" name="正方形/長方形 31">
            <a:extLst>
              <a:ext uri="{FF2B5EF4-FFF2-40B4-BE49-F238E27FC236}">
                <a16:creationId xmlns:a16="http://schemas.microsoft.com/office/drawing/2014/main" id="{6CB99AAC-0BEA-E7FB-6909-1C7C68EDF323}"/>
              </a:ext>
            </a:extLst>
          </p:cNvPr>
          <p:cNvSpPr/>
          <p:nvPr/>
        </p:nvSpPr>
        <p:spPr>
          <a:xfrm>
            <a:off x="503965" y="3761653"/>
            <a:ext cx="8898070" cy="2704296"/>
          </a:xfrm>
          <a:prstGeom prst="rect">
            <a:avLst/>
          </a:prstGeom>
          <a:no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lang="ja-JP" altLang="en-US"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・ポップアップツールとサンクスLINE誘導で、友だちを集める</a:t>
            </a:r>
            <a:endParaRPr lang="en-US" altLang="ja-JP"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6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LPを離れる方と、セミナーを予約した方を、次のイベントまで追える友だちに。</a:t>
            </a:r>
            <a:endParaRPr lang="en-US" altLang="ja-JP" sz="16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・興味あり・予約・参加の段階ごとに、案内を変える</a:t>
            </a:r>
            <a:endParaRPr lang="en-US" altLang="ja-JP"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見どころ動画・参加特典 → 前日・当日のお知らせ → サロンの申込みフォーム。</a:t>
            </a:r>
            <a:endParaRPr lang="en-US" altLang="ja-JP"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・平常期の配信で、次のイベントまでつながりを保つ</a:t>
            </a:r>
            <a:endParaRPr lang="en-US" altLang="ja-JP"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イベントの無い時期は月2回に絞り、ブロックを抑えながら追える人数を積み上げる。</a:t>
            </a:r>
            <a:endParaRPr lang="en-US" altLang="ja-JP"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＋α施策として…。</a:t>
            </a:r>
            <a:endParaRPr lang="en-US" altLang="ja-JP"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・過去のセミナー予約者・参加者へのご案内</a:t>
            </a:r>
            <a:r>
              <a:rPr lang="ja-JP" altLang="en-US" sz="1200" b="1" dirty="0">
                <a:solidFill>
                  <a:srgbClr val="1F2A5C"/>
                </a:solidFill>
                <a:latin typeface="メイリオ" panose="020B0604030504040204" pitchFamily="50" charset="-128"/>
                <a:ea typeface="メイリオ" panose="020B0604030504040204" pitchFamily="50" charset="-128"/>
                <a:cs typeface="メイリオ" panose="020B0604030504040204" pitchFamily="50" charset="-128"/>
              </a:rPr>
              <a:t>　※通知メッセージ</a:t>
            </a:r>
            <a:endParaRPr lang="ja-JP" altLang="en-US" sz="12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過去の予約者の情報（電話番号）を保有している場合、リストを活用した配信が可能。</a:t>
            </a:r>
            <a:endParaRPr lang="en-US" altLang="ja-JP"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・サロンの申込み完了ページからのLINE誘導</a:t>
            </a:r>
            <a:r>
              <a:rPr lang="ja-JP" altLang="en-US" sz="1200" b="1" dirty="0">
                <a:solidFill>
                  <a:srgbClr val="1F2A5C"/>
                </a:solidFill>
                <a:latin typeface="メイリオ" panose="020B0604030504040204" pitchFamily="50" charset="-128"/>
                <a:ea typeface="メイリオ" panose="020B0604030504040204" pitchFamily="50" charset="-128"/>
                <a:cs typeface="メイリオ" panose="020B0604030504040204" pitchFamily="50" charset="-128"/>
              </a:rPr>
              <a:t>　※サンクスLINE誘導</a:t>
            </a:r>
          </a:p>
        </p:txBody>
      </p:sp>
      <p:sp>
        <p:nvSpPr>
          <p:cNvPr id="33" name="正方形/長方形 32">
            <a:extLst>
              <a:ext uri="{FF2B5EF4-FFF2-40B4-BE49-F238E27FC236}">
                <a16:creationId xmlns:a16="http://schemas.microsoft.com/office/drawing/2014/main" id="{ADCEEB55-8D79-5D37-18D6-691241A3FC15}"/>
              </a:ext>
            </a:extLst>
          </p:cNvPr>
          <p:cNvSpPr/>
          <p:nvPr/>
        </p:nvSpPr>
        <p:spPr>
          <a:xfrm>
            <a:off x="503965" y="1675570"/>
            <a:ext cx="8898070" cy="386003"/>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tIns="90000"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indent="173038"/>
            <a:r>
              <a:rPr lang="ja-JP" altLang="en-US" b="1" dirty="0">
                <a:effectLst/>
                <a:latin typeface="メイリオ" panose="020B0604030504040204" pitchFamily="50" charset="-128"/>
                <a:ea typeface="メイリオ" panose="020B0604030504040204" pitchFamily="50" charset="-128"/>
                <a:cs typeface="メイリオ" panose="020B0604030504040204" pitchFamily="50" charset="-128"/>
              </a:rPr>
              <a:t>配信目標</a:t>
            </a:r>
          </a:p>
        </p:txBody>
      </p:sp>
      <p:sp>
        <p:nvSpPr>
          <p:cNvPr id="46" name="MainMessage">
            <a:extLst>
              <a:ext uri="{FF2B5EF4-FFF2-40B4-BE49-F238E27FC236}">
                <a16:creationId xmlns:a16="http://schemas.microsoft.com/office/drawing/2014/main" id="{B60D9D01-8FD5-9835-8DEB-82316620ED03}"/>
              </a:ext>
            </a:extLst>
          </p:cNvPr>
          <p:cNvSpPr txBox="1"/>
          <p:nvPr/>
        </p:nvSpPr>
        <p:spPr>
          <a:xfrm>
            <a:off x="503965" y="2120908"/>
            <a:ext cx="8898070" cy="750567"/>
          </a:xfrm>
          <a:prstGeom prst="rect">
            <a:avLst/>
          </a:prstGeom>
          <a:solidFill>
            <a:srgbClr val="F0F2F7"/>
          </a:solidFill>
          <a:ln w="9525">
            <a:solidFill>
              <a:srgbClr val="1F2A5C"/>
            </a:solidFill>
          </a:ln>
        </p:spPr>
        <p:txBody>
          <a:bodyPr wrap="square" lIns="91440" tIns="45720" rIns="91440" bIns="45720" anchor="t"/>
          <a:lstStyle/>
          <a:p>
            <a:pPr algn="ctr">
              <a:lnSpc>
                <a:spcPct val="140000"/>
              </a:lnSpc>
            </a:pPr>
            <a:r>
              <a:rPr lang="ja-JP" sz="1400" b="1" dirty="0">
                <a:solidFill>
                  <a:srgbClr val="1F2A5C"/>
                </a:solidFill>
                <a:latin typeface="メイリオ" panose="020B0604030504040204" pitchFamily="50" charset="-128"/>
                <a:ea typeface="メイリオ" panose="020B0604030504040204" pitchFamily="50" charset="-128"/>
                <a:cs typeface="メイリオ"/>
              </a:rPr>
              <a:t>6か月目に追える人数90人（ブロックされずに届く友だち）を目指す。</a:t>
            </a:r>
            <a:endParaRPr lang="en-US" altLang="ja-JP" sz="1400" b="1" dirty="0">
              <a:solidFill>
                <a:srgbClr val="1F2A5C"/>
              </a:solidFill>
              <a:latin typeface="メイリオ" panose="020B0604030504040204" pitchFamily="50" charset="-128"/>
              <a:ea typeface="メイリオ" panose="020B0604030504040204" pitchFamily="50" charset="-128"/>
              <a:cs typeface="メイリオ"/>
            </a:endParaRPr>
          </a:p>
          <a:p>
            <a:pPr algn="ctr">
              <a:lnSpc>
                <a:spcPct val="140000"/>
              </a:lnSpc>
            </a:pPr>
            <a:r>
              <a:rPr lang="ja-JP" sz="1400" b="1">
                <a:solidFill>
                  <a:srgbClr val="1F2A5C"/>
                </a:solidFill>
                <a:latin typeface="メイリオ" panose="020B0604030504040204" pitchFamily="50" charset="-128"/>
                <a:ea typeface="メイリオ" panose="020B0604030504040204" pitchFamily="50" charset="-128"/>
                <a:cs typeface="メイリオ"/>
              </a:rPr>
              <a:t>イベント期はセミナー予約・参加、イベントの後はサロン入会へつなげる。</a:t>
            </a:r>
          </a:p>
        </p:txBody>
      </p:sp>
      <p:sp>
        <p:nvSpPr>
          <p:cNvPr id="62" name="二等辺三角形 61">
            <a:extLst>
              <a:ext uri="{FF2B5EF4-FFF2-40B4-BE49-F238E27FC236}">
                <a16:creationId xmlns:a16="http://schemas.microsoft.com/office/drawing/2014/main" id="{BDCBA122-1D1B-AA97-B52C-2A548E75BE5F}"/>
              </a:ext>
            </a:extLst>
          </p:cNvPr>
          <p:cNvSpPr/>
          <p:nvPr/>
        </p:nvSpPr>
        <p:spPr>
          <a:xfrm rot="10800000">
            <a:off x="1013700" y="2923543"/>
            <a:ext cx="7965031" cy="486852"/>
          </a:xfrm>
          <a:prstGeom prst="triangle">
            <a:avLst>
              <a:gd name="adj" fmla="val 49365"/>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dirty="0">
              <a:latin typeface="メイリオ" panose="020B0604030504040204" pitchFamily="50" charset="-128"/>
              <a:ea typeface="メイリオ" panose="020B0604030504040204" pitchFamily="50" charset="-128"/>
              <a:cs typeface="メイリオ"/>
            </a:endParaRPr>
          </a:p>
        </p:txBody>
      </p:sp>
      <p:sp>
        <p:nvSpPr>
          <p:cNvPr id="64" name="テキスト ボックス 4">
            <a:extLst>
              <a:ext uri="{FF2B5EF4-FFF2-40B4-BE49-F238E27FC236}">
                <a16:creationId xmlns:a16="http://schemas.microsoft.com/office/drawing/2014/main" id="{BF9B56DF-9875-62DA-48F0-98868F99F5FE}"/>
              </a:ext>
            </a:extLst>
          </p:cNvPr>
          <p:cNvSpPr txBox="1"/>
          <p:nvPr/>
        </p:nvSpPr>
        <p:spPr>
          <a:xfrm>
            <a:off x="3893204" y="2960246"/>
            <a:ext cx="2236946" cy="369332"/>
          </a:xfrm>
          <a:prstGeom prst="rect">
            <a:avLst/>
          </a:prstGeom>
          <a:noFill/>
        </p:spPr>
        <p:txBody>
          <a:bodyPr wrap="square" rtlCol="0">
            <a:spAutoFit/>
          </a:bodyPr>
          <a:lstStyle>
            <a:defPPr>
              <a:defRPr lang="ja-JP">
                <a:latin typeface="メイリオ"/>
                <a:ea typeface="メイリオ"/>
                <a:cs typeface="メイリオ"/>
              </a:defRPr>
            </a:defPPr>
            <a:lvl1pPr marL="0" algn="l" defTabSz="914400" rtl="0" eaLnBrk="1" latinLnBrk="0" hangingPunct="1">
              <a:defRPr kumimoji="1" sz="1800" kern="1200">
                <a:solidFill>
                  <a:schemeClr val="tx1"/>
                </a:solidFill>
                <a:latin typeface="メイリオ"/>
                <a:ea typeface="メイリオ"/>
                <a:cs typeface="メイリオ"/>
              </a:defRPr>
            </a:lvl1pPr>
            <a:lvl2pPr marL="457200" algn="l" defTabSz="914400" rtl="0" eaLnBrk="1" latinLnBrk="0" hangingPunct="1">
              <a:defRPr kumimoji="1" sz="1800" kern="1200">
                <a:solidFill>
                  <a:schemeClr val="tx1"/>
                </a:solidFill>
                <a:latin typeface="メイリオ"/>
                <a:ea typeface="メイリオ"/>
                <a:cs typeface="メイリオ"/>
              </a:defRPr>
            </a:lvl2pPr>
            <a:lvl3pPr marL="914400" algn="l" defTabSz="914400" rtl="0" eaLnBrk="1" latinLnBrk="0" hangingPunct="1">
              <a:defRPr kumimoji="1" sz="1800" kern="1200">
                <a:solidFill>
                  <a:schemeClr val="tx1"/>
                </a:solidFill>
                <a:latin typeface="メイリオ"/>
                <a:ea typeface="メイリオ"/>
                <a:cs typeface="メイリオ"/>
              </a:defRPr>
            </a:lvl3pPr>
            <a:lvl4pPr marL="1371600" algn="l" defTabSz="914400" rtl="0" eaLnBrk="1" latinLnBrk="0" hangingPunct="1">
              <a:defRPr kumimoji="1" sz="1800" kern="1200">
                <a:solidFill>
                  <a:schemeClr val="tx1"/>
                </a:solidFill>
                <a:latin typeface="メイリオ"/>
                <a:ea typeface="メイリオ"/>
                <a:cs typeface="メイリオ"/>
              </a:defRPr>
            </a:lvl4pPr>
            <a:lvl5pPr marL="1828800" algn="l" defTabSz="914400" rtl="0" eaLnBrk="1" latinLnBrk="0" hangingPunct="1">
              <a:defRPr kumimoji="1" sz="1800" kern="1200">
                <a:solidFill>
                  <a:schemeClr val="tx1"/>
                </a:solidFill>
                <a:latin typeface="メイリオ"/>
                <a:ea typeface="メイリオ"/>
                <a:cs typeface="メイリオ"/>
              </a:defRPr>
            </a:lvl5pPr>
            <a:lvl6pPr marL="2286000" algn="l" defTabSz="914400" rtl="0" eaLnBrk="1" latinLnBrk="0" hangingPunct="1">
              <a:defRPr kumimoji="1" sz="1800" kern="1200">
                <a:solidFill>
                  <a:schemeClr val="tx1"/>
                </a:solidFill>
                <a:latin typeface="メイリオ"/>
                <a:ea typeface="メイリオ"/>
                <a:cs typeface="メイリオ"/>
              </a:defRPr>
            </a:lvl6pPr>
            <a:lvl7pPr marL="2743200" algn="l" defTabSz="914400" rtl="0" eaLnBrk="1" latinLnBrk="0" hangingPunct="1">
              <a:defRPr kumimoji="1" sz="1800" kern="1200">
                <a:solidFill>
                  <a:schemeClr val="tx1"/>
                </a:solidFill>
                <a:latin typeface="メイリオ"/>
                <a:ea typeface="メイリオ"/>
                <a:cs typeface="メイリオ"/>
              </a:defRPr>
            </a:lvl7pPr>
            <a:lvl8pPr marL="3200400" algn="l" defTabSz="914400" rtl="0" eaLnBrk="1" latinLnBrk="0" hangingPunct="1">
              <a:defRPr kumimoji="1" sz="1800" kern="1200">
                <a:solidFill>
                  <a:schemeClr val="tx1"/>
                </a:solidFill>
                <a:latin typeface="メイリオ"/>
                <a:ea typeface="メイリオ"/>
                <a:cs typeface="メイリオ"/>
              </a:defRPr>
            </a:lvl8pPr>
            <a:lvl9pPr marL="3657600" algn="l" defTabSz="914400" rtl="0" eaLnBrk="1" latinLnBrk="0" hangingPunct="1">
              <a:defRPr kumimoji="1" sz="1800" kern="1200">
                <a:solidFill>
                  <a:schemeClr val="tx1"/>
                </a:solidFill>
                <a:latin typeface="メイリオ"/>
                <a:ea typeface="メイリオ"/>
                <a:cs typeface="メイリオ"/>
              </a:defRPr>
            </a:lvl9pPr>
          </a:lstStyle>
          <a:p>
            <a:pPr algn="ctr"/>
            <a:r>
              <a:rPr lang="ja-JP" altLang="en-US"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t>弊社からのご提案</a:t>
            </a:r>
            <a:endParaRPr kumimoji="1" lang="ja-JP" altLang="en-US"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1366202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7BE316-B5A0-8BF0-8055-8F5EB8BA81E4}"/>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11E1262C-B08E-666E-F81E-61EAC1407B87}"/>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7D9E611B-4E41-7D55-FDAA-59D5455231E1}"/>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要件定義</a:t>
            </a:r>
            <a:endParaRPr sz="1600" b="1" dirty="0">
              <a:solidFill>
                <a:srgbClr val="002060"/>
              </a:solidFill>
              <a:latin typeface="メイリオ"/>
              <a:ea typeface="メイリオ"/>
              <a:cs typeface="メイリオ"/>
              <a:sym typeface="Meiryo"/>
            </a:endParaRPr>
          </a:p>
        </p:txBody>
      </p:sp>
      <p:sp>
        <p:nvSpPr>
          <p:cNvPr id="8" name="PointsHeader">
            <a:extLst>
              <a:ext uri="{FF2B5EF4-FFF2-40B4-BE49-F238E27FC236}">
                <a16:creationId xmlns:a16="http://schemas.microsoft.com/office/drawing/2014/main" id="{615C4560-11D3-77B5-6718-3703C15CA5D8}"/>
              </a:ext>
            </a:extLst>
          </p:cNvPr>
          <p:cNvSpPr txBox="1"/>
          <p:nvPr/>
        </p:nvSpPr>
        <p:spPr>
          <a:xfrm>
            <a:off x="522756" y="1009344"/>
            <a:ext cx="9144000" cy="279400"/>
          </a:xfrm>
          <a:prstGeom prst="rect">
            <a:avLst/>
          </a:prstGeom>
          <a:noFill/>
          <a:ln>
            <a:noFill/>
          </a:ln>
        </p:spPr>
        <p:txBody>
          <a:bodyPr wrap="square" lIns="91440" tIns="45720" rIns="91440" bIns="45720" anchor="t"/>
          <a:lstStyle/>
          <a:p>
            <a:r>
              <a:rPr lang="ja-JP" sz="1400" b="1" dirty="0">
                <a:solidFill>
                  <a:srgbClr val="1F2A5C"/>
                </a:solidFill>
                <a:latin typeface="メイリオ" panose="020B0604030504040204" pitchFamily="50" charset="-128"/>
                <a:ea typeface="メイリオ" panose="020B0604030504040204" pitchFamily="50" charset="-128"/>
                <a:cs typeface="メイリオ"/>
              </a:rPr>
              <a:t>本質課題：イベントが終わると、集めた方との接点が切れる</a:t>
            </a:r>
          </a:p>
        </p:txBody>
      </p:sp>
      <p:sp>
        <p:nvSpPr>
          <p:cNvPr id="10" name="PointBar1">
            <a:extLst>
              <a:ext uri="{FF2B5EF4-FFF2-40B4-BE49-F238E27FC236}">
                <a16:creationId xmlns:a16="http://schemas.microsoft.com/office/drawing/2014/main" id="{C7DEC4BE-D769-656F-80D1-A073D7D39B14}"/>
              </a:ext>
            </a:extLst>
          </p:cNvPr>
          <p:cNvSpPr txBox="1"/>
          <p:nvPr/>
        </p:nvSpPr>
        <p:spPr>
          <a:xfrm>
            <a:off x="522756" y="1364944"/>
            <a:ext cx="457200" cy="50800"/>
          </a:xfrm>
          <a:prstGeom prst="rect">
            <a:avLst/>
          </a:prstGeom>
          <a:solidFill>
            <a:srgbClr val="1F2A5C"/>
          </a:solidFill>
          <a:ln>
            <a:noFill/>
          </a:ln>
        </p:spPr>
        <p:txBody>
          <a:bodyPr wrap="square" lIns="91440" tIns="45720" rIns="91440" bIns="45720" anchor="t"/>
          <a:lstStyle/>
          <a:p>
            <a:endParaRPr lang="ja-JP">
              <a:latin typeface="メイリオ" panose="020B0604030504040204" pitchFamily="50" charset="-128"/>
              <a:ea typeface="メイリオ" panose="020B0604030504040204" pitchFamily="50" charset="-128"/>
              <a:cs typeface="メイリオ"/>
            </a:endParaRPr>
          </a:p>
        </p:txBody>
      </p:sp>
      <p:sp>
        <p:nvSpPr>
          <p:cNvPr id="12" name="PointText1">
            <a:extLst>
              <a:ext uri="{FF2B5EF4-FFF2-40B4-BE49-F238E27FC236}">
                <a16:creationId xmlns:a16="http://schemas.microsoft.com/office/drawing/2014/main" id="{2033FE09-931A-0BF7-9C77-FCBD753258FB}"/>
              </a:ext>
            </a:extLst>
          </p:cNvPr>
          <p:cNvSpPr txBox="1"/>
          <p:nvPr/>
        </p:nvSpPr>
        <p:spPr>
          <a:xfrm>
            <a:off x="522756" y="1491944"/>
            <a:ext cx="2921000" cy="1778000"/>
          </a:xfrm>
          <a:prstGeom prst="rect">
            <a:avLst/>
          </a:prstGeom>
          <a:noFill/>
          <a:ln>
            <a:noFill/>
          </a:ln>
        </p:spPr>
        <p:txBody>
          <a:bodyPr wrap="square" lIns="91440" tIns="45720" rIns="91440" bIns="45720" anchor="t"/>
          <a:lstStyle/>
          <a:p>
            <a:pPr>
              <a:lnSpc>
                <a:spcPct val="130000"/>
              </a:lnSpc>
              <a:spcAft>
                <a:spcPts val="600"/>
              </a:spcAft>
            </a:pPr>
            <a:r>
              <a:rPr lang="ja-JP" sz="1400" b="1" dirty="0">
                <a:solidFill>
                  <a:srgbClr val="1F2A5C"/>
                </a:solidFill>
                <a:latin typeface="メイリオ" panose="020B0604030504040204" pitchFamily="50" charset="-128"/>
                <a:ea typeface="メイリオ" panose="020B0604030504040204" pitchFamily="50" charset="-128"/>
                <a:cs typeface="メイリオ"/>
              </a:rPr>
              <a:t>01 集める</a:t>
            </a:r>
          </a:p>
          <a:p>
            <a:pPr>
              <a:lnSpc>
                <a:spcPct val="140000"/>
              </a:lnSpc>
            </a:pPr>
            <a:r>
              <a:rPr lang="ja-JP" sz="1400" dirty="0">
                <a:solidFill>
                  <a:srgbClr val="333333"/>
                </a:solidFill>
                <a:latin typeface="メイリオ" panose="020B0604030504040204" pitchFamily="50" charset="-128"/>
                <a:ea typeface="メイリオ" panose="020B0604030504040204" pitchFamily="50" charset="-128"/>
                <a:cs typeface="メイリオ"/>
              </a:rPr>
              <a:t>離れる方・予約した方を、友だちにする手段が無い。</a:t>
            </a:r>
          </a:p>
        </p:txBody>
      </p:sp>
      <p:sp>
        <p:nvSpPr>
          <p:cNvPr id="14" name="PointBar2">
            <a:extLst>
              <a:ext uri="{FF2B5EF4-FFF2-40B4-BE49-F238E27FC236}">
                <a16:creationId xmlns:a16="http://schemas.microsoft.com/office/drawing/2014/main" id="{DB62AD08-1E7E-F83F-C786-B77729A3E5C3}"/>
              </a:ext>
            </a:extLst>
          </p:cNvPr>
          <p:cNvSpPr txBox="1"/>
          <p:nvPr/>
        </p:nvSpPr>
        <p:spPr>
          <a:xfrm>
            <a:off x="3634256" y="1364944"/>
            <a:ext cx="457200" cy="50800"/>
          </a:xfrm>
          <a:prstGeom prst="rect">
            <a:avLst/>
          </a:prstGeom>
          <a:solidFill>
            <a:srgbClr val="4A6FA5"/>
          </a:solidFill>
          <a:ln>
            <a:noFill/>
          </a:ln>
        </p:spPr>
        <p:txBody>
          <a:bodyPr wrap="square" lIns="91440" tIns="45720" rIns="91440" bIns="45720" anchor="t"/>
          <a:lstStyle/>
          <a:p>
            <a:endParaRPr lang="ja-JP">
              <a:latin typeface="メイリオ" panose="020B0604030504040204" pitchFamily="50" charset="-128"/>
              <a:ea typeface="メイリオ" panose="020B0604030504040204" pitchFamily="50" charset="-128"/>
              <a:cs typeface="メイリオ"/>
            </a:endParaRPr>
          </a:p>
        </p:txBody>
      </p:sp>
      <p:sp>
        <p:nvSpPr>
          <p:cNvPr id="16" name="PointText2">
            <a:extLst>
              <a:ext uri="{FF2B5EF4-FFF2-40B4-BE49-F238E27FC236}">
                <a16:creationId xmlns:a16="http://schemas.microsoft.com/office/drawing/2014/main" id="{42A785C2-DABF-0508-2085-C2DDBECB7EFE}"/>
              </a:ext>
            </a:extLst>
          </p:cNvPr>
          <p:cNvSpPr txBox="1"/>
          <p:nvPr/>
        </p:nvSpPr>
        <p:spPr>
          <a:xfrm>
            <a:off x="3634256" y="1491944"/>
            <a:ext cx="2921000" cy="1778000"/>
          </a:xfrm>
          <a:prstGeom prst="rect">
            <a:avLst/>
          </a:prstGeom>
          <a:noFill/>
          <a:ln>
            <a:noFill/>
          </a:ln>
        </p:spPr>
        <p:txBody>
          <a:bodyPr wrap="square" lIns="91440" tIns="45720" rIns="91440" bIns="45720" anchor="t"/>
          <a:lstStyle/>
          <a:p>
            <a:pPr>
              <a:lnSpc>
                <a:spcPct val="130000"/>
              </a:lnSpc>
              <a:spcAft>
                <a:spcPts val="600"/>
              </a:spcAft>
            </a:pPr>
            <a:r>
              <a:rPr lang="ja-JP" sz="1400" b="1" dirty="0">
                <a:solidFill>
                  <a:srgbClr val="4A6FA5"/>
                </a:solidFill>
                <a:latin typeface="メイリオ" panose="020B0604030504040204" pitchFamily="50" charset="-128"/>
                <a:ea typeface="メイリオ" panose="020B0604030504040204" pitchFamily="50" charset="-128"/>
                <a:cs typeface="メイリオ"/>
              </a:rPr>
              <a:t>02 追う</a:t>
            </a:r>
          </a:p>
          <a:p>
            <a:pPr>
              <a:lnSpc>
                <a:spcPct val="140000"/>
              </a:lnSpc>
            </a:pPr>
            <a:r>
              <a:rPr lang="ja-JP" sz="1400" dirty="0">
                <a:solidFill>
                  <a:srgbClr val="333333"/>
                </a:solidFill>
                <a:latin typeface="メイリオ" panose="020B0604030504040204" pitchFamily="50" charset="-128"/>
                <a:ea typeface="メイリオ" panose="020B0604030504040204" pitchFamily="50" charset="-128"/>
                <a:cs typeface="メイリオ"/>
              </a:rPr>
              <a:t>次のイベントまで、情報を届ける手段が無い。</a:t>
            </a:r>
          </a:p>
        </p:txBody>
      </p:sp>
      <p:sp>
        <p:nvSpPr>
          <p:cNvPr id="18" name="PointBar3">
            <a:extLst>
              <a:ext uri="{FF2B5EF4-FFF2-40B4-BE49-F238E27FC236}">
                <a16:creationId xmlns:a16="http://schemas.microsoft.com/office/drawing/2014/main" id="{1118F87F-BACD-735A-EBEC-11186FDE8BB4}"/>
              </a:ext>
            </a:extLst>
          </p:cNvPr>
          <p:cNvSpPr txBox="1"/>
          <p:nvPr/>
        </p:nvSpPr>
        <p:spPr>
          <a:xfrm>
            <a:off x="6745756" y="1364944"/>
            <a:ext cx="457200" cy="50800"/>
          </a:xfrm>
          <a:prstGeom prst="rect">
            <a:avLst/>
          </a:prstGeom>
          <a:solidFill>
            <a:srgbClr val="F2F2F2"/>
          </a:solidFill>
          <a:ln>
            <a:noFill/>
          </a:ln>
        </p:spPr>
        <p:txBody>
          <a:bodyPr wrap="square" lIns="91440" tIns="45720" rIns="91440" bIns="45720" anchor="t"/>
          <a:lstStyle/>
          <a:p>
            <a:endParaRPr lang="ja-JP">
              <a:latin typeface="メイリオ" panose="020B0604030504040204" pitchFamily="50" charset="-128"/>
              <a:ea typeface="メイリオ" panose="020B0604030504040204" pitchFamily="50" charset="-128"/>
              <a:cs typeface="メイリオ"/>
            </a:endParaRPr>
          </a:p>
        </p:txBody>
      </p:sp>
      <p:sp>
        <p:nvSpPr>
          <p:cNvPr id="20" name="PointText3">
            <a:extLst>
              <a:ext uri="{FF2B5EF4-FFF2-40B4-BE49-F238E27FC236}">
                <a16:creationId xmlns:a16="http://schemas.microsoft.com/office/drawing/2014/main" id="{BCC9596F-D039-3698-8BF4-96F93A100013}"/>
              </a:ext>
            </a:extLst>
          </p:cNvPr>
          <p:cNvSpPr txBox="1"/>
          <p:nvPr/>
        </p:nvSpPr>
        <p:spPr>
          <a:xfrm>
            <a:off x="6745756" y="1491944"/>
            <a:ext cx="2921000" cy="1778000"/>
          </a:xfrm>
          <a:prstGeom prst="rect">
            <a:avLst/>
          </a:prstGeom>
          <a:noFill/>
          <a:ln>
            <a:noFill/>
          </a:ln>
        </p:spPr>
        <p:txBody>
          <a:bodyPr wrap="square" lIns="91440" tIns="45720" rIns="91440" bIns="45720" anchor="t"/>
          <a:lstStyle/>
          <a:p>
            <a:pPr>
              <a:lnSpc>
                <a:spcPct val="130000"/>
              </a:lnSpc>
              <a:spcAft>
                <a:spcPts val="600"/>
              </a:spcAft>
            </a:pPr>
            <a:r>
              <a:rPr lang="ja-JP" sz="1400" b="1" dirty="0">
                <a:solidFill>
                  <a:srgbClr val="1F2A5C"/>
                </a:solidFill>
                <a:latin typeface="メイリオ" panose="020B0604030504040204" pitchFamily="50" charset="-128"/>
                <a:ea typeface="メイリオ" panose="020B0604030504040204" pitchFamily="50" charset="-128"/>
                <a:cs typeface="メイリオ"/>
              </a:rPr>
              <a:t>03 つなげる</a:t>
            </a:r>
          </a:p>
          <a:p>
            <a:pPr>
              <a:lnSpc>
                <a:spcPct val="140000"/>
              </a:lnSpc>
            </a:pPr>
            <a:r>
              <a:rPr lang="ja-JP" sz="1400" dirty="0">
                <a:solidFill>
                  <a:srgbClr val="333333"/>
                </a:solidFill>
                <a:latin typeface="メイリオ" panose="020B0604030504040204" pitchFamily="50" charset="-128"/>
                <a:ea typeface="メイリオ" panose="020B0604030504040204" pitchFamily="50" charset="-128"/>
                <a:cs typeface="メイリオ"/>
              </a:rPr>
              <a:t>参加した方に、入会を案内する手段が無い。</a:t>
            </a:r>
          </a:p>
        </p:txBody>
      </p:sp>
      <p:sp>
        <p:nvSpPr>
          <p:cNvPr id="22" name="Card1_Title">
            <a:extLst>
              <a:ext uri="{FF2B5EF4-FFF2-40B4-BE49-F238E27FC236}">
                <a16:creationId xmlns:a16="http://schemas.microsoft.com/office/drawing/2014/main" id="{158619A4-8A31-BE94-703F-4958B5725C84}"/>
              </a:ext>
            </a:extLst>
          </p:cNvPr>
          <p:cNvSpPr txBox="1"/>
          <p:nvPr/>
        </p:nvSpPr>
        <p:spPr>
          <a:xfrm>
            <a:off x="522756" y="3130857"/>
            <a:ext cx="2921000" cy="457200"/>
          </a:xfrm>
          <a:prstGeom prst="rect">
            <a:avLst/>
          </a:prstGeom>
          <a:solidFill>
            <a:srgbClr val="FFFFFF"/>
          </a:solidFill>
          <a:ln w="6350">
            <a:solidFill>
              <a:srgbClr val="1F2A5C"/>
            </a:solidFill>
          </a:ln>
        </p:spPr>
        <p:txBody>
          <a:bodyPr wrap="square" lIns="177800" tIns="101600" rIns="177800" bIns="101600" anchor="ctr"/>
          <a:lstStyle/>
          <a:p>
            <a:pPr>
              <a:buNone/>
            </a:pPr>
            <a:r>
              <a:rPr lang="ja-JP" sz="1400" b="1" dirty="0">
                <a:solidFill>
                  <a:srgbClr val="1F2A5C"/>
                </a:solidFill>
                <a:latin typeface="メイリオ" panose="020B0604030504040204" pitchFamily="50" charset="-128"/>
                <a:ea typeface="メイリオ" panose="020B0604030504040204" pitchFamily="50" charset="-128"/>
                <a:cs typeface="メイリオ"/>
              </a:rPr>
              <a:t>レバー①友だち獲得</a:t>
            </a:r>
          </a:p>
        </p:txBody>
      </p:sp>
      <p:sp>
        <p:nvSpPr>
          <p:cNvPr id="24" name="Card1_Body">
            <a:extLst>
              <a:ext uri="{FF2B5EF4-FFF2-40B4-BE49-F238E27FC236}">
                <a16:creationId xmlns:a16="http://schemas.microsoft.com/office/drawing/2014/main" id="{0591B75C-4032-FF85-1619-85480346C68B}"/>
              </a:ext>
            </a:extLst>
          </p:cNvPr>
          <p:cNvSpPr txBox="1"/>
          <p:nvPr/>
        </p:nvSpPr>
        <p:spPr>
          <a:xfrm>
            <a:off x="522756" y="3654732"/>
            <a:ext cx="2921000" cy="1183968"/>
          </a:xfrm>
          <a:prstGeom prst="rect">
            <a:avLst/>
          </a:prstGeom>
          <a:solidFill>
            <a:srgbClr val="F5F7FA"/>
          </a:solidFill>
          <a:ln w="6350">
            <a:solidFill>
              <a:srgbClr val="D1D8E0"/>
            </a:solidFill>
          </a:ln>
        </p:spPr>
        <p:txBody>
          <a:bodyPr wrap="square" lIns="177800" tIns="152400" rIns="177800" bIns="152400" anchor="t"/>
          <a:lstStyle/>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ポップアップツールで、LPを離れる方を友だちに</a:t>
            </a:r>
          </a:p>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サンクスLINE誘導で、予約した方を友だちに</a:t>
            </a:r>
          </a:p>
          <a:p>
            <a:pPr marL="171450" indent="-171450">
              <a:spcBef>
                <a:spcPts val="200"/>
              </a:spcBef>
              <a:buClr>
                <a:srgbClr val="1F2A5C"/>
              </a:buClr>
              <a:buFont typeface="Arial"/>
              <a:buChar char="•"/>
            </a:pPr>
            <a:endParaRPr lang="ja-JP" sz="1200" dirty="0">
              <a:solidFill>
                <a:srgbClr val="333333"/>
              </a:solidFill>
              <a:latin typeface="メイリオ" panose="020B0604030504040204" pitchFamily="50" charset="-128"/>
              <a:ea typeface="メイリオ" panose="020B0604030504040204" pitchFamily="50" charset="-128"/>
              <a:cs typeface="メイリオ"/>
            </a:endParaRPr>
          </a:p>
        </p:txBody>
      </p:sp>
      <p:sp>
        <p:nvSpPr>
          <p:cNvPr id="28" name="Card2_Title">
            <a:extLst>
              <a:ext uri="{FF2B5EF4-FFF2-40B4-BE49-F238E27FC236}">
                <a16:creationId xmlns:a16="http://schemas.microsoft.com/office/drawing/2014/main" id="{FBA18ADF-68C9-3C6A-AF9F-C0983A9FA610}"/>
              </a:ext>
            </a:extLst>
          </p:cNvPr>
          <p:cNvSpPr txBox="1"/>
          <p:nvPr/>
        </p:nvSpPr>
        <p:spPr>
          <a:xfrm>
            <a:off x="3634256" y="3130857"/>
            <a:ext cx="2921000" cy="457200"/>
          </a:xfrm>
          <a:prstGeom prst="rect">
            <a:avLst/>
          </a:prstGeom>
          <a:solidFill>
            <a:srgbClr val="FFFFFF"/>
          </a:solidFill>
          <a:ln w="6350">
            <a:solidFill>
              <a:srgbClr val="4A6FA5"/>
            </a:solidFill>
          </a:ln>
        </p:spPr>
        <p:txBody>
          <a:bodyPr wrap="square" lIns="177800" tIns="101600" rIns="177800" bIns="101600" anchor="ctr"/>
          <a:lstStyle/>
          <a:p>
            <a:pPr>
              <a:buNone/>
            </a:pPr>
            <a:r>
              <a:rPr lang="ja-JP" sz="1400" b="1" dirty="0">
                <a:solidFill>
                  <a:srgbClr val="4A6FA5"/>
                </a:solidFill>
                <a:latin typeface="メイリオ" panose="020B0604030504040204" pitchFamily="50" charset="-128"/>
                <a:ea typeface="メイリオ" panose="020B0604030504040204" pitchFamily="50" charset="-128"/>
                <a:cs typeface="メイリオ"/>
              </a:rPr>
              <a:t>レバー②予約・参加の向上</a:t>
            </a:r>
          </a:p>
        </p:txBody>
      </p:sp>
      <p:sp>
        <p:nvSpPr>
          <p:cNvPr id="31" name="Card2_Body">
            <a:extLst>
              <a:ext uri="{FF2B5EF4-FFF2-40B4-BE49-F238E27FC236}">
                <a16:creationId xmlns:a16="http://schemas.microsoft.com/office/drawing/2014/main" id="{C6C8B9B3-D69C-0AD1-CB41-2692B3F564E3}"/>
              </a:ext>
            </a:extLst>
          </p:cNvPr>
          <p:cNvSpPr txBox="1"/>
          <p:nvPr/>
        </p:nvSpPr>
        <p:spPr>
          <a:xfrm>
            <a:off x="3634256" y="3654732"/>
            <a:ext cx="2921000" cy="1183968"/>
          </a:xfrm>
          <a:prstGeom prst="rect">
            <a:avLst/>
          </a:prstGeom>
          <a:solidFill>
            <a:srgbClr val="F5F7FA"/>
          </a:solidFill>
          <a:ln w="6350">
            <a:solidFill>
              <a:srgbClr val="D1D8E0"/>
            </a:solidFill>
          </a:ln>
        </p:spPr>
        <p:txBody>
          <a:bodyPr wrap="square" lIns="177800" tIns="152400" rIns="177800" bIns="152400" anchor="t"/>
          <a:lstStyle/>
          <a:p>
            <a:pPr marL="171450" indent="-171450">
              <a:spcBef>
                <a:spcPts val="200"/>
              </a:spcBef>
              <a:buClr>
                <a:srgbClr val="4A6FA5"/>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見どころ動画・参加特典で、予約へ</a:t>
            </a:r>
          </a:p>
          <a:p>
            <a:pPr marL="171450" indent="-171450">
              <a:spcBef>
                <a:spcPts val="200"/>
              </a:spcBef>
              <a:buClr>
                <a:srgbClr val="4A6FA5"/>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前日・当日のお知らせで、当日の参加へ</a:t>
            </a:r>
          </a:p>
          <a:p>
            <a:pPr marL="171450" indent="-171450">
              <a:spcBef>
                <a:spcPts val="200"/>
              </a:spcBef>
              <a:buClr>
                <a:srgbClr val="4A6FA5"/>
              </a:buClr>
              <a:buFont typeface="Arial"/>
              <a:buChar char="•"/>
            </a:pPr>
            <a:endParaRPr lang="ja-JP" sz="1200" dirty="0">
              <a:solidFill>
                <a:srgbClr val="333333"/>
              </a:solidFill>
              <a:latin typeface="メイリオ" panose="020B0604030504040204" pitchFamily="50" charset="-128"/>
              <a:ea typeface="メイリオ" panose="020B0604030504040204" pitchFamily="50" charset="-128"/>
              <a:cs typeface="メイリオ"/>
            </a:endParaRPr>
          </a:p>
        </p:txBody>
      </p:sp>
      <p:sp>
        <p:nvSpPr>
          <p:cNvPr id="35" name="Card3_Title">
            <a:extLst>
              <a:ext uri="{FF2B5EF4-FFF2-40B4-BE49-F238E27FC236}">
                <a16:creationId xmlns:a16="http://schemas.microsoft.com/office/drawing/2014/main" id="{08BFDF2D-75D7-62F5-F661-0B055C86365E}"/>
              </a:ext>
            </a:extLst>
          </p:cNvPr>
          <p:cNvSpPr txBox="1"/>
          <p:nvPr/>
        </p:nvSpPr>
        <p:spPr>
          <a:xfrm>
            <a:off x="6745756" y="3130857"/>
            <a:ext cx="2921000" cy="457200"/>
          </a:xfrm>
          <a:prstGeom prst="rect">
            <a:avLst/>
          </a:prstGeom>
          <a:solidFill>
            <a:srgbClr val="FFFFFF"/>
          </a:solidFill>
          <a:ln w="6350">
            <a:solidFill>
              <a:srgbClr val="1F2A5C"/>
            </a:solidFill>
          </a:ln>
        </p:spPr>
        <p:txBody>
          <a:bodyPr wrap="square" lIns="177800" tIns="101600" rIns="177800" bIns="101600" anchor="ctr"/>
          <a:lstStyle/>
          <a:p>
            <a:pPr>
              <a:buNone/>
            </a:pPr>
            <a:r>
              <a:rPr lang="ja-JP" sz="1400" b="1" dirty="0">
                <a:solidFill>
                  <a:srgbClr val="1F2A5C"/>
                </a:solidFill>
                <a:latin typeface="メイリオ" panose="020B0604030504040204" pitchFamily="50" charset="-128"/>
                <a:ea typeface="メイリオ" panose="020B0604030504040204" pitchFamily="50" charset="-128"/>
                <a:cs typeface="メイリオ"/>
              </a:rPr>
              <a:t>レバー③入会の向上</a:t>
            </a:r>
          </a:p>
        </p:txBody>
      </p:sp>
      <p:sp>
        <p:nvSpPr>
          <p:cNvPr id="37" name="Card3_Body">
            <a:extLst>
              <a:ext uri="{FF2B5EF4-FFF2-40B4-BE49-F238E27FC236}">
                <a16:creationId xmlns:a16="http://schemas.microsoft.com/office/drawing/2014/main" id="{6FB492E1-4B54-CC21-DF0B-BC7C63ED2C23}"/>
              </a:ext>
            </a:extLst>
          </p:cNvPr>
          <p:cNvSpPr txBox="1"/>
          <p:nvPr/>
        </p:nvSpPr>
        <p:spPr>
          <a:xfrm>
            <a:off x="6745756" y="3654732"/>
            <a:ext cx="2921000" cy="1183968"/>
          </a:xfrm>
          <a:prstGeom prst="rect">
            <a:avLst/>
          </a:prstGeom>
          <a:solidFill>
            <a:srgbClr val="F5F7FA"/>
          </a:solidFill>
          <a:ln w="6350">
            <a:solidFill>
              <a:srgbClr val="D1D8E0"/>
            </a:solidFill>
          </a:ln>
        </p:spPr>
        <p:txBody>
          <a:bodyPr wrap="square" lIns="177800" tIns="152400" rIns="177800" bIns="152400" anchor="t"/>
          <a:lstStyle/>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イベント直後に、サロンの申込みフォームを案内</a:t>
            </a:r>
          </a:p>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平常期の配信で、次のイベントまでつながる</a:t>
            </a:r>
          </a:p>
          <a:p>
            <a:pPr marL="171450" indent="-171450">
              <a:spcBef>
                <a:spcPts val="200"/>
              </a:spcBef>
              <a:buClr>
                <a:srgbClr val="1F2A5C"/>
              </a:buClr>
              <a:buFont typeface="Arial"/>
              <a:buChar char="•"/>
            </a:pPr>
            <a:endParaRPr lang="ja-JP" sz="1200" dirty="0">
              <a:solidFill>
                <a:srgbClr val="333333"/>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5729555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55A3DF-C10C-8FE5-7F9E-31ABEE07B259}"/>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90EE3F49-35DE-76F6-E16B-C52951514707}"/>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D5F65FCA-9F11-3F13-D2F2-A6E61F220801}"/>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0ED16010-4596-5D53-EEA4-CE60ADBA0ED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想定の費用対効果</a:t>
            </a:r>
            <a:endParaRPr sz="1600" b="1" dirty="0">
              <a:solidFill>
                <a:srgbClr val="002060"/>
              </a:solidFill>
              <a:latin typeface="メイリオ"/>
              <a:ea typeface="メイリオ"/>
              <a:cs typeface="メイリオ"/>
              <a:sym typeface="Meiryo"/>
            </a:endParaRPr>
          </a:p>
        </p:txBody>
      </p:sp>
      <p:cxnSp>
        <p:nvCxnSpPr>
          <p:cNvPr id="2" name="直線コネクタ 1">
            <a:extLst>
              <a:ext uri="{FF2B5EF4-FFF2-40B4-BE49-F238E27FC236}">
                <a16:creationId xmlns:a16="http://schemas.microsoft.com/office/drawing/2014/main" id="{FAC7DBDD-AB66-4379-9061-7EE7673C8D36}"/>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5" name="正方形/長方形 4">
            <a:extLst>
              <a:ext uri="{FF2B5EF4-FFF2-40B4-BE49-F238E27FC236}">
                <a16:creationId xmlns:a16="http://schemas.microsoft.com/office/drawing/2014/main" id="{57B12960-F95F-F815-42F4-98678B7CBC86}"/>
              </a:ext>
            </a:extLst>
          </p:cNvPr>
          <p:cNvSpPr/>
          <p:nvPr/>
        </p:nvSpPr>
        <p:spPr>
          <a:xfrm>
            <a:off x="261257" y="1672045"/>
            <a:ext cx="2899954" cy="40930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latin typeface="メイリオ" panose="020B0604030504040204" pitchFamily="50" charset="-128"/>
                <a:ea typeface="メイリオ" panose="020B0604030504040204" pitchFamily="50" charset="-128"/>
                <a:cs typeface="メイリオ"/>
              </a:rPr>
              <a:t>初期</a:t>
            </a:r>
          </a:p>
        </p:txBody>
      </p:sp>
      <p:sp>
        <p:nvSpPr>
          <p:cNvPr id="7" name="正方形/長方形 6">
            <a:extLst>
              <a:ext uri="{FF2B5EF4-FFF2-40B4-BE49-F238E27FC236}">
                <a16:creationId xmlns:a16="http://schemas.microsoft.com/office/drawing/2014/main" id="{2D73F25E-11E1-6B69-BF72-02319EB2875A}"/>
              </a:ext>
            </a:extLst>
          </p:cNvPr>
          <p:cNvSpPr/>
          <p:nvPr/>
        </p:nvSpPr>
        <p:spPr>
          <a:xfrm>
            <a:off x="3337560" y="1672045"/>
            <a:ext cx="2899954" cy="40930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latin typeface="メイリオ" panose="020B0604030504040204" pitchFamily="50" charset="-128"/>
                <a:ea typeface="メイリオ" panose="020B0604030504040204" pitchFamily="50" charset="-128"/>
                <a:cs typeface="メイリオ"/>
              </a:rPr>
              <a:t>月次</a:t>
            </a:r>
          </a:p>
        </p:txBody>
      </p:sp>
      <p:sp>
        <p:nvSpPr>
          <p:cNvPr id="8" name="正方形/長方形 7">
            <a:extLst>
              <a:ext uri="{FF2B5EF4-FFF2-40B4-BE49-F238E27FC236}">
                <a16:creationId xmlns:a16="http://schemas.microsoft.com/office/drawing/2014/main" id="{199847F9-D2D7-C50C-BB87-1E906E928D4B}"/>
              </a:ext>
            </a:extLst>
          </p:cNvPr>
          <p:cNvSpPr/>
          <p:nvPr/>
        </p:nvSpPr>
        <p:spPr>
          <a:xfrm>
            <a:off x="261257" y="2158065"/>
            <a:ext cx="2899954" cy="90735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3200" b="1" dirty="0">
                <a:solidFill>
                  <a:schemeClr val="tx1"/>
                </a:solidFill>
                <a:latin typeface="メイリオ" panose="020B0604030504040204" pitchFamily="50" charset="-128"/>
                <a:ea typeface="メイリオ" panose="020B0604030504040204" pitchFamily="50" charset="-128"/>
                <a:cs typeface="メイリオ"/>
              </a:rPr>
              <a:t>295,000円</a:t>
            </a:r>
          </a:p>
        </p:txBody>
      </p:sp>
      <p:sp>
        <p:nvSpPr>
          <p:cNvPr id="10" name="正方形/長方形 9">
            <a:extLst>
              <a:ext uri="{FF2B5EF4-FFF2-40B4-BE49-F238E27FC236}">
                <a16:creationId xmlns:a16="http://schemas.microsoft.com/office/drawing/2014/main" id="{63A7B228-99E2-EBCF-6198-F3D1FAD9898F}"/>
              </a:ext>
            </a:extLst>
          </p:cNvPr>
          <p:cNvSpPr/>
          <p:nvPr/>
        </p:nvSpPr>
        <p:spPr>
          <a:xfrm>
            <a:off x="3337560" y="2158065"/>
            <a:ext cx="2899954" cy="90735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600" b="1" dirty="0">
                <a:solidFill>
                  <a:schemeClr val="tx1"/>
                </a:solidFill>
                <a:latin typeface="メイリオ" panose="020B0604030504040204" pitchFamily="50" charset="-128"/>
                <a:ea typeface="メイリオ" panose="020B0604030504040204" pitchFamily="50" charset="-128"/>
                <a:cs typeface="メイリオ"/>
              </a:rPr>
              <a:t>イベント期 365,000円〜</a:t>
            </a:r>
            <a:endParaRPr kumimoji="1" lang="ja-JP" altLang="en-US" sz="32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en-US" altLang="ja-JP" sz="1600" b="1" dirty="0">
                <a:solidFill>
                  <a:schemeClr val="tx1"/>
                </a:solidFill>
                <a:latin typeface="メイリオ" panose="020B0604030504040204" pitchFamily="50" charset="-128"/>
                <a:ea typeface="メイリオ" panose="020B0604030504040204" pitchFamily="50" charset="-128"/>
                <a:cs typeface="メイリオ"/>
              </a:rPr>
              <a:t>平常期 165,000円〜</a:t>
            </a:r>
            <a:endParaRPr kumimoji="1" lang="ja-JP" altLang="en-US" sz="32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15" name="矢印: 右 14">
            <a:extLst>
              <a:ext uri="{FF2B5EF4-FFF2-40B4-BE49-F238E27FC236}">
                <a16:creationId xmlns:a16="http://schemas.microsoft.com/office/drawing/2014/main" id="{C9D5333B-E781-F21F-8A3E-D6FE2FD21602}"/>
              </a:ext>
            </a:extLst>
          </p:cNvPr>
          <p:cNvSpPr/>
          <p:nvPr/>
        </p:nvSpPr>
        <p:spPr>
          <a:xfrm>
            <a:off x="6379031" y="2281645"/>
            <a:ext cx="365760" cy="2795449"/>
          </a:xfrm>
          <a:prstGeom prst="rightArrow">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7" name="正方形/長方形 16">
            <a:extLst>
              <a:ext uri="{FF2B5EF4-FFF2-40B4-BE49-F238E27FC236}">
                <a16:creationId xmlns:a16="http://schemas.microsoft.com/office/drawing/2014/main" id="{EEF41587-0DB5-E870-CE7C-9CC369CE0FEE}"/>
              </a:ext>
            </a:extLst>
          </p:cNvPr>
          <p:cNvSpPr/>
          <p:nvPr/>
        </p:nvSpPr>
        <p:spPr>
          <a:xfrm>
            <a:off x="6744791" y="1672044"/>
            <a:ext cx="2899952" cy="40930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bg1"/>
                </a:solidFill>
                <a:latin typeface="メイリオ" panose="020B0604030504040204" pitchFamily="50" charset="-128"/>
                <a:ea typeface="メイリオ" panose="020B0604030504040204" pitchFamily="50" charset="-128"/>
                <a:cs typeface="メイリオ"/>
              </a:rPr>
              <a:t>6</a:t>
            </a:r>
            <a:r>
              <a:rPr kumimoji="1" lang="ja-JP" altLang="en-US" sz="1200" dirty="0">
                <a:solidFill>
                  <a:schemeClr val="bg1"/>
                </a:solidFill>
                <a:latin typeface="メイリオ" panose="020B0604030504040204" pitchFamily="50" charset="-128"/>
                <a:ea typeface="メイリオ" panose="020B0604030504040204" pitchFamily="50" charset="-128"/>
                <a:cs typeface="メイリオ"/>
              </a:rPr>
              <a:t>か月後</a:t>
            </a:r>
          </a:p>
        </p:txBody>
      </p:sp>
      <p:sp>
        <p:nvSpPr>
          <p:cNvPr id="19" name="テキスト ボックス 18">
            <a:extLst>
              <a:ext uri="{FF2B5EF4-FFF2-40B4-BE49-F238E27FC236}">
                <a16:creationId xmlns:a16="http://schemas.microsoft.com/office/drawing/2014/main" id="{310A0391-C27F-47EB-C4DA-F30ADEFF5697}"/>
              </a:ext>
            </a:extLst>
          </p:cNvPr>
          <p:cNvSpPr txBox="1"/>
          <p:nvPr/>
        </p:nvSpPr>
        <p:spPr>
          <a:xfrm>
            <a:off x="444137" y="3186837"/>
            <a:ext cx="2534194" cy="276999"/>
          </a:xfrm>
          <a:prstGeom prst="rect">
            <a:avLst/>
          </a:prstGeom>
          <a:noFill/>
        </p:spPr>
        <p:txBody>
          <a:bodyPr wrap="square">
            <a:spAutoFit/>
          </a:bodyPr>
          <a:lstStyle/>
          <a:p>
            <a:pPr algn="ctr"/>
            <a:r>
              <a:rPr kumimoji="1" lang="en-US" altLang="ja-JP" sz="1200" dirty="0">
                <a:solidFill>
                  <a:schemeClr val="tx1"/>
                </a:solidFill>
                <a:latin typeface="メイリオ" panose="020B0604030504040204" pitchFamily="50" charset="-128"/>
                <a:ea typeface="メイリオ" panose="020B0604030504040204" pitchFamily="50" charset="-128"/>
                <a:cs typeface="メイリオ"/>
              </a:rPr>
              <a:t>&lt;</a:t>
            </a:r>
            <a:r>
              <a:rPr kumimoji="1" lang="ja-JP" altLang="en-US" sz="1200" dirty="0">
                <a:solidFill>
                  <a:schemeClr val="tx1"/>
                </a:solidFill>
                <a:latin typeface="メイリオ" panose="020B0604030504040204" pitchFamily="50" charset="-128"/>
                <a:ea typeface="メイリオ" panose="020B0604030504040204" pitchFamily="50" charset="-128"/>
                <a:cs typeface="メイリオ"/>
              </a:rPr>
              <a:t>実施内容</a:t>
            </a:r>
            <a:r>
              <a:rPr kumimoji="1" lang="en-US" altLang="ja-JP" sz="1200" dirty="0">
                <a:solidFill>
                  <a:schemeClr val="tx1"/>
                </a:solidFill>
                <a:latin typeface="メイリオ" panose="020B0604030504040204" pitchFamily="50" charset="-128"/>
                <a:ea typeface="メイリオ" panose="020B0604030504040204" pitchFamily="50" charset="-128"/>
                <a:cs typeface="メイリオ"/>
              </a:rPr>
              <a:t>&gt;</a:t>
            </a:r>
            <a:endParaRPr kumimoji="1" lang="ja-JP" altLang="en-US" sz="12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21" name="テキスト ボックス 20">
            <a:extLst>
              <a:ext uri="{FF2B5EF4-FFF2-40B4-BE49-F238E27FC236}">
                <a16:creationId xmlns:a16="http://schemas.microsoft.com/office/drawing/2014/main" id="{A604517E-5D11-7843-773C-E3FD1B8C7C60}"/>
              </a:ext>
            </a:extLst>
          </p:cNvPr>
          <p:cNvSpPr txBox="1"/>
          <p:nvPr/>
        </p:nvSpPr>
        <p:spPr>
          <a:xfrm>
            <a:off x="3503024" y="3186837"/>
            <a:ext cx="2534194" cy="276999"/>
          </a:xfrm>
          <a:prstGeom prst="rect">
            <a:avLst/>
          </a:prstGeom>
          <a:noFill/>
        </p:spPr>
        <p:txBody>
          <a:bodyPr wrap="square">
            <a:spAutoFit/>
          </a:bodyPr>
          <a:lstStyle/>
          <a:p>
            <a:pPr algn="ctr"/>
            <a:r>
              <a:rPr kumimoji="1" lang="en-US" altLang="ja-JP" sz="1200" dirty="0">
                <a:solidFill>
                  <a:schemeClr val="tx1"/>
                </a:solidFill>
                <a:latin typeface="メイリオ" panose="020B0604030504040204" pitchFamily="50" charset="-128"/>
                <a:ea typeface="メイリオ" panose="020B0604030504040204" pitchFamily="50" charset="-128"/>
                <a:cs typeface="メイリオ"/>
              </a:rPr>
              <a:t>&lt;</a:t>
            </a:r>
            <a:r>
              <a:rPr kumimoji="1" lang="ja-JP" altLang="en-US" sz="1200" dirty="0">
                <a:solidFill>
                  <a:schemeClr val="tx1"/>
                </a:solidFill>
                <a:latin typeface="メイリオ" panose="020B0604030504040204" pitchFamily="50" charset="-128"/>
                <a:ea typeface="メイリオ" panose="020B0604030504040204" pitchFamily="50" charset="-128"/>
                <a:cs typeface="メイリオ"/>
              </a:rPr>
              <a:t>実施内容</a:t>
            </a:r>
            <a:r>
              <a:rPr kumimoji="1" lang="en-US" altLang="ja-JP" sz="1200" dirty="0">
                <a:solidFill>
                  <a:schemeClr val="tx1"/>
                </a:solidFill>
                <a:latin typeface="メイリオ" panose="020B0604030504040204" pitchFamily="50" charset="-128"/>
                <a:ea typeface="メイリオ" panose="020B0604030504040204" pitchFamily="50" charset="-128"/>
                <a:cs typeface="メイリオ"/>
              </a:rPr>
              <a:t>&gt;</a:t>
            </a:r>
            <a:endParaRPr kumimoji="1" lang="ja-JP" altLang="en-US" sz="12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23" name="正方形/長方形 22">
            <a:extLst>
              <a:ext uri="{FF2B5EF4-FFF2-40B4-BE49-F238E27FC236}">
                <a16:creationId xmlns:a16="http://schemas.microsoft.com/office/drawing/2014/main" id="{C4A8FBD8-A5AF-984F-36F3-947AA6D25DE9}"/>
              </a:ext>
            </a:extLst>
          </p:cNvPr>
          <p:cNvSpPr/>
          <p:nvPr/>
        </p:nvSpPr>
        <p:spPr>
          <a:xfrm>
            <a:off x="332016" y="3478699"/>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dirty="0">
                <a:solidFill>
                  <a:schemeClr val="bg1"/>
                </a:solidFill>
                <a:latin typeface="メイリオ" panose="020B0604030504040204" pitchFamily="50" charset="-128"/>
                <a:ea typeface="メイリオ" panose="020B0604030504040204" pitchFamily="50" charset="-128"/>
                <a:cs typeface="メイリオ"/>
              </a:rPr>
              <a:t>プロフ設定</a:t>
            </a:r>
          </a:p>
        </p:txBody>
      </p:sp>
      <p:sp>
        <p:nvSpPr>
          <p:cNvPr id="25" name="正方形/長方形 24">
            <a:extLst>
              <a:ext uri="{FF2B5EF4-FFF2-40B4-BE49-F238E27FC236}">
                <a16:creationId xmlns:a16="http://schemas.microsoft.com/office/drawing/2014/main" id="{873C1A32-DE1E-D85A-180C-1A75241C4F24}"/>
              </a:ext>
            </a:extLst>
          </p:cNvPr>
          <p:cNvSpPr/>
          <p:nvPr/>
        </p:nvSpPr>
        <p:spPr>
          <a:xfrm>
            <a:off x="3408319" y="3478699"/>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bg1"/>
                </a:solidFill>
                <a:latin typeface="メイリオ" panose="020B0604030504040204" pitchFamily="50" charset="-128"/>
                <a:ea typeface="メイリオ" panose="020B0604030504040204" pitchFamily="50" charset="-128"/>
                <a:cs typeface="メイリオ"/>
              </a:rPr>
              <a:t>イベント期の配信</a:t>
            </a:r>
          </a:p>
        </p:txBody>
      </p:sp>
      <p:sp>
        <p:nvSpPr>
          <p:cNvPr id="27" name="正方形/長方形 26">
            <a:extLst>
              <a:ext uri="{FF2B5EF4-FFF2-40B4-BE49-F238E27FC236}">
                <a16:creationId xmlns:a16="http://schemas.microsoft.com/office/drawing/2014/main" id="{C25D5024-5D6E-0D20-5084-D887C5FBCAB9}"/>
              </a:ext>
            </a:extLst>
          </p:cNvPr>
          <p:cNvSpPr/>
          <p:nvPr/>
        </p:nvSpPr>
        <p:spPr>
          <a:xfrm>
            <a:off x="1581160" y="3478699"/>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有</a:t>
            </a:r>
          </a:p>
        </p:txBody>
      </p:sp>
      <p:sp>
        <p:nvSpPr>
          <p:cNvPr id="29" name="正方形/長方形 28">
            <a:extLst>
              <a:ext uri="{FF2B5EF4-FFF2-40B4-BE49-F238E27FC236}">
                <a16:creationId xmlns:a16="http://schemas.microsoft.com/office/drawing/2014/main" id="{E77B38CC-6FB3-2601-37C4-A87B4DFC868D}"/>
              </a:ext>
            </a:extLst>
          </p:cNvPr>
          <p:cNvSpPr/>
          <p:nvPr/>
        </p:nvSpPr>
        <p:spPr>
          <a:xfrm>
            <a:off x="4657463" y="3478699"/>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rgbClr val="1F2A5C"/>
                </a:solidFill>
                <a:latin typeface="メイリオ" panose="020B0604030504040204" pitchFamily="50" charset="-128"/>
                <a:ea typeface="メイリオ" panose="020B0604030504040204" pitchFamily="50" charset="-128"/>
                <a:cs typeface="メイリオ"/>
              </a:rPr>
              <a:t>月4件</a:t>
            </a:r>
          </a:p>
        </p:txBody>
      </p:sp>
      <p:sp>
        <p:nvSpPr>
          <p:cNvPr id="31" name="正方形/長方形 30">
            <a:extLst>
              <a:ext uri="{FF2B5EF4-FFF2-40B4-BE49-F238E27FC236}">
                <a16:creationId xmlns:a16="http://schemas.microsoft.com/office/drawing/2014/main" id="{115A9264-B39A-757E-8405-E65513F35674}"/>
              </a:ext>
            </a:extLst>
          </p:cNvPr>
          <p:cNvSpPr/>
          <p:nvPr/>
        </p:nvSpPr>
        <p:spPr>
          <a:xfrm>
            <a:off x="332016" y="3905336"/>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dirty="0">
                <a:solidFill>
                  <a:schemeClr val="bg1"/>
                </a:solidFill>
                <a:latin typeface="メイリオ" panose="020B0604030504040204" pitchFamily="50" charset="-128"/>
                <a:ea typeface="メイリオ" panose="020B0604030504040204" pitchFamily="50" charset="-128"/>
                <a:cs typeface="メイリオ"/>
              </a:rPr>
              <a:t>挨拶メッセ</a:t>
            </a:r>
            <a:endParaRPr kumimoji="1" lang="ja-JP" altLang="en-US" sz="1050" dirty="0">
              <a:solidFill>
                <a:schemeClr val="bg1"/>
              </a:solidFill>
              <a:latin typeface="メイリオ" panose="020B0604030504040204" pitchFamily="50" charset="-128"/>
              <a:ea typeface="メイリオ" panose="020B0604030504040204" pitchFamily="50" charset="-128"/>
              <a:cs typeface="メイリオ"/>
            </a:endParaRPr>
          </a:p>
        </p:txBody>
      </p:sp>
      <p:sp>
        <p:nvSpPr>
          <p:cNvPr id="33" name="正方形/長方形 32">
            <a:extLst>
              <a:ext uri="{FF2B5EF4-FFF2-40B4-BE49-F238E27FC236}">
                <a16:creationId xmlns:a16="http://schemas.microsoft.com/office/drawing/2014/main" id="{4B713AEE-1C5C-F6A9-5475-72211BDE4D2B}"/>
              </a:ext>
            </a:extLst>
          </p:cNvPr>
          <p:cNvSpPr/>
          <p:nvPr/>
        </p:nvSpPr>
        <p:spPr>
          <a:xfrm>
            <a:off x="3408319" y="3905336"/>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dirty="0">
                <a:solidFill>
                  <a:schemeClr val="bg1"/>
                </a:solidFill>
                <a:latin typeface="メイリオ" panose="020B0604030504040204" pitchFamily="50" charset="-128"/>
                <a:ea typeface="メイリオ" panose="020B0604030504040204" pitchFamily="50" charset="-128"/>
                <a:cs typeface="メイリオ"/>
              </a:rPr>
              <a:t>平常期の配信</a:t>
            </a:r>
            <a:endParaRPr kumimoji="1" lang="ja-JP" altLang="en-US" sz="1050" dirty="0">
              <a:solidFill>
                <a:schemeClr val="bg1"/>
              </a:solidFill>
              <a:latin typeface="メイリオ" panose="020B0604030504040204" pitchFamily="50" charset="-128"/>
              <a:ea typeface="メイリオ" panose="020B0604030504040204" pitchFamily="50" charset="-128"/>
              <a:cs typeface="メイリオ"/>
            </a:endParaRPr>
          </a:p>
        </p:txBody>
      </p:sp>
      <p:sp>
        <p:nvSpPr>
          <p:cNvPr id="35" name="正方形/長方形 34">
            <a:extLst>
              <a:ext uri="{FF2B5EF4-FFF2-40B4-BE49-F238E27FC236}">
                <a16:creationId xmlns:a16="http://schemas.microsoft.com/office/drawing/2014/main" id="{BCAB041C-BD21-54BB-4B86-45F9272A0766}"/>
              </a:ext>
            </a:extLst>
          </p:cNvPr>
          <p:cNvSpPr/>
          <p:nvPr/>
        </p:nvSpPr>
        <p:spPr>
          <a:xfrm>
            <a:off x="1581160" y="3905336"/>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cs typeface="メイリオ"/>
              </a:rPr>
              <a:t>有</a:t>
            </a:r>
          </a:p>
        </p:txBody>
      </p:sp>
      <p:sp>
        <p:nvSpPr>
          <p:cNvPr id="37" name="正方形/長方形 36">
            <a:extLst>
              <a:ext uri="{FF2B5EF4-FFF2-40B4-BE49-F238E27FC236}">
                <a16:creationId xmlns:a16="http://schemas.microsoft.com/office/drawing/2014/main" id="{421C035C-EA8F-E32B-4A4F-7F063B546AE6}"/>
              </a:ext>
            </a:extLst>
          </p:cNvPr>
          <p:cNvSpPr/>
          <p:nvPr/>
        </p:nvSpPr>
        <p:spPr>
          <a:xfrm>
            <a:off x="4657463" y="3905336"/>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月2件</a:t>
            </a:r>
          </a:p>
        </p:txBody>
      </p:sp>
      <p:sp>
        <p:nvSpPr>
          <p:cNvPr id="39" name="正方形/長方形 38">
            <a:extLst>
              <a:ext uri="{FF2B5EF4-FFF2-40B4-BE49-F238E27FC236}">
                <a16:creationId xmlns:a16="http://schemas.microsoft.com/office/drawing/2014/main" id="{3F01B448-7A1E-6B78-D0F5-86106D6EACBD}"/>
              </a:ext>
            </a:extLst>
          </p:cNvPr>
          <p:cNvSpPr/>
          <p:nvPr/>
        </p:nvSpPr>
        <p:spPr>
          <a:xfrm>
            <a:off x="332016" y="4331973"/>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50" dirty="0">
                <a:solidFill>
                  <a:schemeClr val="bg1"/>
                </a:solidFill>
                <a:latin typeface="メイリオ" panose="020B0604030504040204" pitchFamily="50" charset="-128"/>
                <a:ea typeface="メイリオ" panose="020B0604030504040204" pitchFamily="50" charset="-128"/>
                <a:cs typeface="メイリオ"/>
              </a:rPr>
              <a:t>Step配信</a:t>
            </a:r>
            <a:endParaRPr kumimoji="1" lang="ja-JP" altLang="en-US" sz="1050" dirty="0">
              <a:solidFill>
                <a:schemeClr val="bg1"/>
              </a:solidFill>
              <a:latin typeface="メイリオ" panose="020B0604030504040204" pitchFamily="50" charset="-128"/>
              <a:ea typeface="メイリオ" panose="020B0604030504040204" pitchFamily="50" charset="-128"/>
              <a:cs typeface="メイリオ"/>
            </a:endParaRPr>
          </a:p>
        </p:txBody>
      </p:sp>
      <p:sp>
        <p:nvSpPr>
          <p:cNvPr id="41" name="正方形/長方形 40">
            <a:extLst>
              <a:ext uri="{FF2B5EF4-FFF2-40B4-BE49-F238E27FC236}">
                <a16:creationId xmlns:a16="http://schemas.microsoft.com/office/drawing/2014/main" id="{9BA75733-C506-7AAF-689C-0566D38B8516}"/>
              </a:ext>
            </a:extLst>
          </p:cNvPr>
          <p:cNvSpPr/>
          <p:nvPr/>
        </p:nvSpPr>
        <p:spPr>
          <a:xfrm>
            <a:off x="3408319" y="4331973"/>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bg1"/>
                </a:solidFill>
                <a:latin typeface="メイリオ" panose="020B0604030504040204" pitchFamily="50" charset="-128"/>
                <a:ea typeface="メイリオ" panose="020B0604030504040204" pitchFamily="50" charset="-128"/>
                <a:cs typeface="メイリオ"/>
              </a:rPr>
              <a:t>Step修正</a:t>
            </a:r>
          </a:p>
        </p:txBody>
      </p:sp>
      <p:sp>
        <p:nvSpPr>
          <p:cNvPr id="43" name="正方形/長方形 42">
            <a:extLst>
              <a:ext uri="{FF2B5EF4-FFF2-40B4-BE49-F238E27FC236}">
                <a16:creationId xmlns:a16="http://schemas.microsoft.com/office/drawing/2014/main" id="{CA10D951-0E85-C8B0-A660-1CFDD75944A1}"/>
              </a:ext>
            </a:extLst>
          </p:cNvPr>
          <p:cNvSpPr/>
          <p:nvPr/>
        </p:nvSpPr>
        <p:spPr>
          <a:xfrm>
            <a:off x="1581160" y="4331973"/>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cs typeface="メイリオ"/>
              </a:rPr>
              <a:t>有（5本）</a:t>
            </a:r>
          </a:p>
        </p:txBody>
      </p:sp>
      <p:sp>
        <p:nvSpPr>
          <p:cNvPr id="46" name="正方形/長方形 45">
            <a:extLst>
              <a:ext uri="{FF2B5EF4-FFF2-40B4-BE49-F238E27FC236}">
                <a16:creationId xmlns:a16="http://schemas.microsoft.com/office/drawing/2014/main" id="{5CB780A3-73E3-5BDA-9BFB-9390DF84F0D0}"/>
              </a:ext>
            </a:extLst>
          </p:cNvPr>
          <p:cNvSpPr/>
          <p:nvPr/>
        </p:nvSpPr>
        <p:spPr>
          <a:xfrm>
            <a:off x="4657463" y="4331973"/>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cs typeface="メイリオ"/>
              </a:rPr>
              <a:t>随時</a:t>
            </a:r>
          </a:p>
        </p:txBody>
      </p:sp>
      <p:sp>
        <p:nvSpPr>
          <p:cNvPr id="48" name="正方形/長方形 47">
            <a:extLst>
              <a:ext uri="{FF2B5EF4-FFF2-40B4-BE49-F238E27FC236}">
                <a16:creationId xmlns:a16="http://schemas.microsoft.com/office/drawing/2014/main" id="{E59FEFFB-8267-7E04-F67D-CEB5CB6CCE4A}"/>
              </a:ext>
            </a:extLst>
          </p:cNvPr>
          <p:cNvSpPr/>
          <p:nvPr/>
        </p:nvSpPr>
        <p:spPr>
          <a:xfrm>
            <a:off x="332016" y="4758610"/>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bg1"/>
                </a:solidFill>
                <a:latin typeface="メイリオ" panose="020B0604030504040204" pitchFamily="50" charset="-128"/>
                <a:ea typeface="メイリオ" panose="020B0604030504040204" pitchFamily="50" charset="-128"/>
                <a:cs typeface="メイリオ"/>
              </a:rPr>
              <a:t>リッチメニュー</a:t>
            </a:r>
          </a:p>
        </p:txBody>
      </p:sp>
      <p:sp>
        <p:nvSpPr>
          <p:cNvPr id="50" name="正方形/長方形 49">
            <a:extLst>
              <a:ext uri="{FF2B5EF4-FFF2-40B4-BE49-F238E27FC236}">
                <a16:creationId xmlns:a16="http://schemas.microsoft.com/office/drawing/2014/main" id="{9A17F9B0-0885-311C-7DC8-7C9FF52B6FF3}"/>
              </a:ext>
            </a:extLst>
          </p:cNvPr>
          <p:cNvSpPr/>
          <p:nvPr/>
        </p:nvSpPr>
        <p:spPr>
          <a:xfrm>
            <a:off x="3408319" y="4758610"/>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dirty="0">
                <a:solidFill>
                  <a:schemeClr val="bg1"/>
                </a:solidFill>
                <a:latin typeface="メイリオ" panose="020B0604030504040204" pitchFamily="50" charset="-128"/>
                <a:ea typeface="メイリオ" panose="020B0604030504040204" pitchFamily="50" charset="-128"/>
                <a:cs typeface="メイリオ"/>
              </a:rPr>
              <a:t>メニュー修正</a:t>
            </a:r>
          </a:p>
        </p:txBody>
      </p:sp>
      <p:sp>
        <p:nvSpPr>
          <p:cNvPr id="52" name="正方形/長方形 51">
            <a:extLst>
              <a:ext uri="{FF2B5EF4-FFF2-40B4-BE49-F238E27FC236}">
                <a16:creationId xmlns:a16="http://schemas.microsoft.com/office/drawing/2014/main" id="{F6370A2A-1C3A-FB9F-5AA2-1D633B4A8081}"/>
              </a:ext>
            </a:extLst>
          </p:cNvPr>
          <p:cNvSpPr/>
          <p:nvPr/>
        </p:nvSpPr>
        <p:spPr>
          <a:xfrm>
            <a:off x="1581160" y="4758610"/>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cs typeface="メイリオ"/>
              </a:rPr>
              <a:t>有</a:t>
            </a:r>
          </a:p>
        </p:txBody>
      </p:sp>
      <p:sp>
        <p:nvSpPr>
          <p:cNvPr id="54" name="正方形/長方形 53">
            <a:extLst>
              <a:ext uri="{FF2B5EF4-FFF2-40B4-BE49-F238E27FC236}">
                <a16:creationId xmlns:a16="http://schemas.microsoft.com/office/drawing/2014/main" id="{F4669313-6B42-E8D5-C8B6-A97BB8BC94F4}"/>
              </a:ext>
            </a:extLst>
          </p:cNvPr>
          <p:cNvSpPr/>
          <p:nvPr/>
        </p:nvSpPr>
        <p:spPr>
          <a:xfrm>
            <a:off x="4657463" y="4758610"/>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随時</a:t>
            </a:r>
          </a:p>
        </p:txBody>
      </p:sp>
      <p:sp>
        <p:nvSpPr>
          <p:cNvPr id="56" name="正方形/長方形 55">
            <a:extLst>
              <a:ext uri="{FF2B5EF4-FFF2-40B4-BE49-F238E27FC236}">
                <a16:creationId xmlns:a16="http://schemas.microsoft.com/office/drawing/2014/main" id="{570C1A4B-626E-BC19-A80A-EBC829E90447}"/>
              </a:ext>
            </a:extLst>
          </p:cNvPr>
          <p:cNvSpPr/>
          <p:nvPr/>
        </p:nvSpPr>
        <p:spPr>
          <a:xfrm>
            <a:off x="332016" y="5185247"/>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dirty="0">
                <a:solidFill>
                  <a:schemeClr val="bg1"/>
                </a:solidFill>
                <a:latin typeface="メイリオ" panose="020B0604030504040204" pitchFamily="50" charset="-128"/>
                <a:ea typeface="メイリオ" panose="020B0604030504040204" pitchFamily="50" charset="-128"/>
                <a:cs typeface="メイリオ"/>
              </a:rPr>
              <a:t>ツール導入</a:t>
            </a:r>
          </a:p>
        </p:txBody>
      </p:sp>
      <p:sp>
        <p:nvSpPr>
          <p:cNvPr id="58" name="正方形/長方形 57">
            <a:extLst>
              <a:ext uri="{FF2B5EF4-FFF2-40B4-BE49-F238E27FC236}">
                <a16:creationId xmlns:a16="http://schemas.microsoft.com/office/drawing/2014/main" id="{698C9C70-FB31-54F8-9443-6462495BED4A}"/>
              </a:ext>
            </a:extLst>
          </p:cNvPr>
          <p:cNvSpPr/>
          <p:nvPr/>
        </p:nvSpPr>
        <p:spPr>
          <a:xfrm>
            <a:off x="3408319" y="5185247"/>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bg1"/>
                </a:solidFill>
                <a:latin typeface="メイリオ" panose="020B0604030504040204" pitchFamily="50" charset="-128"/>
                <a:ea typeface="メイリオ" panose="020B0604030504040204" pitchFamily="50" charset="-128"/>
                <a:cs typeface="メイリオ"/>
              </a:rPr>
              <a:t>ツール保守</a:t>
            </a:r>
          </a:p>
        </p:txBody>
      </p:sp>
      <p:sp>
        <p:nvSpPr>
          <p:cNvPr id="60" name="正方形/長方形 59">
            <a:extLst>
              <a:ext uri="{FF2B5EF4-FFF2-40B4-BE49-F238E27FC236}">
                <a16:creationId xmlns:a16="http://schemas.microsoft.com/office/drawing/2014/main" id="{DB72ABBD-91D1-F375-5833-50505F586EBE}"/>
              </a:ext>
            </a:extLst>
          </p:cNvPr>
          <p:cNvSpPr/>
          <p:nvPr/>
        </p:nvSpPr>
        <p:spPr>
          <a:xfrm>
            <a:off x="1581160" y="5185247"/>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cs typeface="メイリオ"/>
              </a:rPr>
              <a:t>有（2種）</a:t>
            </a:r>
          </a:p>
        </p:txBody>
      </p:sp>
      <p:sp>
        <p:nvSpPr>
          <p:cNvPr id="62" name="正方形/長方形 61">
            <a:extLst>
              <a:ext uri="{FF2B5EF4-FFF2-40B4-BE49-F238E27FC236}">
                <a16:creationId xmlns:a16="http://schemas.microsoft.com/office/drawing/2014/main" id="{45C7D931-8FBA-8147-09CA-92E32FE63F69}"/>
              </a:ext>
            </a:extLst>
          </p:cNvPr>
          <p:cNvSpPr/>
          <p:nvPr/>
        </p:nvSpPr>
        <p:spPr>
          <a:xfrm>
            <a:off x="4657463" y="5185247"/>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有</a:t>
            </a:r>
          </a:p>
        </p:txBody>
      </p:sp>
      <p:sp>
        <p:nvSpPr>
          <p:cNvPr id="64" name="正方形/長方形 63">
            <a:extLst>
              <a:ext uri="{FF2B5EF4-FFF2-40B4-BE49-F238E27FC236}">
                <a16:creationId xmlns:a16="http://schemas.microsoft.com/office/drawing/2014/main" id="{2BD353F9-D019-DB64-0304-683FC1AECA74}"/>
              </a:ext>
            </a:extLst>
          </p:cNvPr>
          <p:cNvSpPr/>
          <p:nvPr/>
        </p:nvSpPr>
        <p:spPr>
          <a:xfrm>
            <a:off x="332016" y="5611884"/>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dirty="0">
                <a:solidFill>
                  <a:schemeClr val="bg1"/>
                </a:solidFill>
                <a:latin typeface="メイリオ" panose="020B0604030504040204" pitchFamily="50" charset="-128"/>
                <a:ea typeface="メイリオ" panose="020B0604030504040204" pitchFamily="50" charset="-128"/>
                <a:cs typeface="メイリオ"/>
              </a:rPr>
              <a:t>タグ・GA設定</a:t>
            </a:r>
            <a:endParaRPr kumimoji="1" lang="ja-JP" altLang="en-US" sz="1050" dirty="0">
              <a:solidFill>
                <a:schemeClr val="bg1"/>
              </a:solidFill>
              <a:latin typeface="メイリオ" panose="020B0604030504040204" pitchFamily="50" charset="-128"/>
              <a:ea typeface="メイリオ" panose="020B0604030504040204" pitchFamily="50" charset="-128"/>
              <a:cs typeface="メイリオ"/>
            </a:endParaRPr>
          </a:p>
        </p:txBody>
      </p:sp>
      <p:sp>
        <p:nvSpPr>
          <p:cNvPr id="66" name="正方形/長方形 65">
            <a:extLst>
              <a:ext uri="{FF2B5EF4-FFF2-40B4-BE49-F238E27FC236}">
                <a16:creationId xmlns:a16="http://schemas.microsoft.com/office/drawing/2014/main" id="{FE41AB20-AB68-BF5F-43C9-2A5086821C68}"/>
              </a:ext>
            </a:extLst>
          </p:cNvPr>
          <p:cNvSpPr/>
          <p:nvPr/>
        </p:nvSpPr>
        <p:spPr>
          <a:xfrm>
            <a:off x="3408319" y="5611884"/>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bg1"/>
                </a:solidFill>
                <a:latin typeface="メイリオ" panose="020B0604030504040204" pitchFamily="50" charset="-128"/>
                <a:ea typeface="メイリオ" panose="020B0604030504040204" pitchFamily="50" charset="-128"/>
                <a:cs typeface="メイリオ"/>
              </a:rPr>
              <a:t>個別チャット</a:t>
            </a:r>
          </a:p>
        </p:txBody>
      </p:sp>
      <p:sp>
        <p:nvSpPr>
          <p:cNvPr id="68" name="正方形/長方形 67">
            <a:extLst>
              <a:ext uri="{FF2B5EF4-FFF2-40B4-BE49-F238E27FC236}">
                <a16:creationId xmlns:a16="http://schemas.microsoft.com/office/drawing/2014/main" id="{0C362F7C-F32D-EBD7-B8B5-3AD580B3464A}"/>
              </a:ext>
            </a:extLst>
          </p:cNvPr>
          <p:cNvSpPr/>
          <p:nvPr/>
        </p:nvSpPr>
        <p:spPr>
          <a:xfrm>
            <a:off x="1581160" y="5611884"/>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cs typeface="メイリオ"/>
              </a:rPr>
              <a:t>有</a:t>
            </a:r>
          </a:p>
        </p:txBody>
      </p:sp>
      <p:sp>
        <p:nvSpPr>
          <p:cNvPr id="70" name="正方形/長方形 69">
            <a:extLst>
              <a:ext uri="{FF2B5EF4-FFF2-40B4-BE49-F238E27FC236}">
                <a16:creationId xmlns:a16="http://schemas.microsoft.com/office/drawing/2014/main" id="{F5281D63-B2A2-FEAB-75B0-2FFB9F84A7A2}"/>
              </a:ext>
            </a:extLst>
          </p:cNvPr>
          <p:cNvSpPr/>
          <p:nvPr/>
        </p:nvSpPr>
        <p:spPr>
          <a:xfrm>
            <a:off x="4657463" y="5611884"/>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rgbClr val="1F2A5C"/>
                </a:solidFill>
                <a:latin typeface="メイリオ" panose="020B0604030504040204" pitchFamily="50" charset="-128"/>
                <a:ea typeface="メイリオ" panose="020B0604030504040204" pitchFamily="50" charset="-128"/>
                <a:cs typeface="メイリオ"/>
              </a:rPr>
              <a:t>対応なし ※貴社対応</a:t>
            </a:r>
            <a:endParaRPr kumimoji="1" lang="en-US" altLang="ja-JP" sz="105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72" name="正方形/長方形 71">
            <a:extLst>
              <a:ext uri="{FF2B5EF4-FFF2-40B4-BE49-F238E27FC236}">
                <a16:creationId xmlns:a16="http://schemas.microsoft.com/office/drawing/2014/main" id="{41EA0EB1-4DF0-53BD-91A2-2862011C9F87}"/>
              </a:ext>
            </a:extLst>
          </p:cNvPr>
          <p:cNvSpPr/>
          <p:nvPr/>
        </p:nvSpPr>
        <p:spPr>
          <a:xfrm>
            <a:off x="332016" y="6038523"/>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bg1"/>
                </a:solidFill>
                <a:latin typeface="メイリオ" panose="020B0604030504040204" pitchFamily="50" charset="-128"/>
                <a:ea typeface="メイリオ" panose="020B0604030504040204" pitchFamily="50" charset="-128"/>
                <a:cs typeface="メイリオ"/>
              </a:rPr>
              <a:t>アカウント開設</a:t>
            </a:r>
          </a:p>
        </p:txBody>
      </p:sp>
      <p:sp>
        <p:nvSpPr>
          <p:cNvPr id="76" name="正方形/長方形 75">
            <a:extLst>
              <a:ext uri="{FF2B5EF4-FFF2-40B4-BE49-F238E27FC236}">
                <a16:creationId xmlns:a16="http://schemas.microsoft.com/office/drawing/2014/main" id="{5E4F37C9-A2B1-A6BD-C3F8-B77AD0EDEFFA}"/>
              </a:ext>
            </a:extLst>
          </p:cNvPr>
          <p:cNvSpPr/>
          <p:nvPr/>
        </p:nvSpPr>
        <p:spPr>
          <a:xfrm>
            <a:off x="1581160" y="6038523"/>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cs typeface="メイリオ"/>
              </a:rPr>
              <a:t>有</a:t>
            </a:r>
          </a:p>
        </p:txBody>
      </p:sp>
      <p:sp>
        <p:nvSpPr>
          <p:cNvPr id="80" name="正方形/長方形 79">
            <a:extLst>
              <a:ext uri="{FF2B5EF4-FFF2-40B4-BE49-F238E27FC236}">
                <a16:creationId xmlns:a16="http://schemas.microsoft.com/office/drawing/2014/main" id="{86997BA3-366F-8070-9874-EFC0BCA759C0}"/>
              </a:ext>
            </a:extLst>
          </p:cNvPr>
          <p:cNvSpPr/>
          <p:nvPr/>
        </p:nvSpPr>
        <p:spPr>
          <a:xfrm>
            <a:off x="6886308" y="2281645"/>
            <a:ext cx="1218110" cy="36115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b="1" dirty="0">
                <a:solidFill>
                  <a:schemeClr val="bg1"/>
                </a:solidFill>
                <a:latin typeface="メイリオ" panose="020B0604030504040204" pitchFamily="50" charset="-128"/>
                <a:ea typeface="メイリオ" panose="020B0604030504040204" pitchFamily="50" charset="-128"/>
                <a:cs typeface="メイリオ"/>
              </a:rPr>
              <a:t>友だち数</a:t>
            </a:r>
            <a:endParaRPr kumimoji="1" lang="ja-JP" altLang="en-US" sz="12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82" name="正方形/長方形 81">
            <a:extLst>
              <a:ext uri="{FF2B5EF4-FFF2-40B4-BE49-F238E27FC236}">
                <a16:creationId xmlns:a16="http://schemas.microsoft.com/office/drawing/2014/main" id="{C030D946-0A5B-51B8-4D2E-5BECA1C1AE9E}"/>
              </a:ext>
            </a:extLst>
          </p:cNvPr>
          <p:cNvSpPr/>
          <p:nvPr/>
        </p:nvSpPr>
        <p:spPr>
          <a:xfrm>
            <a:off x="6886308" y="2708282"/>
            <a:ext cx="1218110" cy="36115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ブロック率</a:t>
            </a:r>
          </a:p>
        </p:txBody>
      </p:sp>
      <p:sp>
        <p:nvSpPr>
          <p:cNvPr id="84" name="正方形/長方形 83">
            <a:extLst>
              <a:ext uri="{FF2B5EF4-FFF2-40B4-BE49-F238E27FC236}">
                <a16:creationId xmlns:a16="http://schemas.microsoft.com/office/drawing/2014/main" id="{83345E18-97D5-E0ED-7743-080BEDECAE73}"/>
              </a:ext>
            </a:extLst>
          </p:cNvPr>
          <p:cNvSpPr/>
          <p:nvPr/>
        </p:nvSpPr>
        <p:spPr>
          <a:xfrm>
            <a:off x="6886308" y="3134919"/>
            <a:ext cx="1218110" cy="36115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b="1" dirty="0">
                <a:solidFill>
                  <a:schemeClr val="bg1"/>
                </a:solidFill>
                <a:latin typeface="メイリオ" panose="020B0604030504040204" pitchFamily="50" charset="-128"/>
                <a:ea typeface="メイリオ" panose="020B0604030504040204" pitchFamily="50" charset="-128"/>
                <a:cs typeface="メイリオ"/>
              </a:rPr>
              <a:t>追える人数</a:t>
            </a:r>
            <a:endParaRPr kumimoji="1" lang="ja-JP" altLang="en-US" sz="12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86" name="正方形/長方形 85">
            <a:extLst>
              <a:ext uri="{FF2B5EF4-FFF2-40B4-BE49-F238E27FC236}">
                <a16:creationId xmlns:a16="http://schemas.microsoft.com/office/drawing/2014/main" id="{C8115FEC-D115-724E-119C-CA4DA501F779}"/>
              </a:ext>
            </a:extLst>
          </p:cNvPr>
          <p:cNvSpPr/>
          <p:nvPr/>
        </p:nvSpPr>
        <p:spPr>
          <a:xfrm>
            <a:off x="6886308" y="3561556"/>
            <a:ext cx="1218110" cy="36115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セミナー予約</a:t>
            </a:r>
          </a:p>
        </p:txBody>
      </p:sp>
      <p:sp>
        <p:nvSpPr>
          <p:cNvPr id="9" name="正方形/長方形 8">
            <a:extLst>
              <a:ext uri="{FF2B5EF4-FFF2-40B4-BE49-F238E27FC236}">
                <a16:creationId xmlns:a16="http://schemas.microsoft.com/office/drawing/2014/main" id="{2AA6A633-D9B9-B37F-7C1A-014FB813FA06}"/>
              </a:ext>
            </a:extLst>
          </p:cNvPr>
          <p:cNvSpPr/>
          <p:nvPr/>
        </p:nvSpPr>
        <p:spPr>
          <a:xfrm>
            <a:off x="8164301" y="2281645"/>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dirty="0">
                <a:solidFill>
                  <a:schemeClr val="tx1"/>
                </a:solidFill>
                <a:latin typeface="メイリオ" panose="020B0604030504040204" pitchFamily="50" charset="-128"/>
                <a:ea typeface="メイリオ" panose="020B0604030504040204" pitchFamily="50" charset="-128"/>
                <a:cs typeface="メイリオ"/>
              </a:rPr>
              <a:t>131人</a:t>
            </a:r>
            <a:endParaRPr kumimoji="1" lang="ja-JP" altLang="en-US" sz="105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2" name="正方形/長方形 11">
            <a:extLst>
              <a:ext uri="{FF2B5EF4-FFF2-40B4-BE49-F238E27FC236}">
                <a16:creationId xmlns:a16="http://schemas.microsoft.com/office/drawing/2014/main" id="{CC94D28D-94E4-A4B2-0E17-AC880DFFC3F2}"/>
              </a:ext>
            </a:extLst>
          </p:cNvPr>
          <p:cNvSpPr/>
          <p:nvPr/>
        </p:nvSpPr>
        <p:spPr>
          <a:xfrm>
            <a:off x="8164301" y="2708282"/>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solidFill>
                <a:latin typeface="メイリオ" panose="020B0604030504040204" pitchFamily="50" charset="-128"/>
                <a:ea typeface="メイリオ" panose="020B0604030504040204" pitchFamily="50" charset="-128"/>
                <a:cs typeface="メイリオ"/>
              </a:rPr>
              <a:t>31%</a:t>
            </a:r>
          </a:p>
        </p:txBody>
      </p:sp>
      <p:sp>
        <p:nvSpPr>
          <p:cNvPr id="14" name="正方形/長方形 13">
            <a:extLst>
              <a:ext uri="{FF2B5EF4-FFF2-40B4-BE49-F238E27FC236}">
                <a16:creationId xmlns:a16="http://schemas.microsoft.com/office/drawing/2014/main" id="{FA9E580B-2203-AF06-37ED-22A323C4D7E0}"/>
              </a:ext>
            </a:extLst>
          </p:cNvPr>
          <p:cNvSpPr/>
          <p:nvPr/>
        </p:nvSpPr>
        <p:spPr>
          <a:xfrm>
            <a:off x="8164301" y="3134919"/>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solidFill>
                <a:latin typeface="メイリオ" panose="020B0604030504040204" pitchFamily="50" charset="-128"/>
                <a:ea typeface="メイリオ" panose="020B0604030504040204" pitchFamily="50" charset="-128"/>
                <a:cs typeface="メイリオ"/>
              </a:rPr>
              <a:t>90人</a:t>
            </a:r>
          </a:p>
        </p:txBody>
      </p:sp>
      <p:sp>
        <p:nvSpPr>
          <p:cNvPr id="18" name="正方形/長方形 17">
            <a:extLst>
              <a:ext uri="{FF2B5EF4-FFF2-40B4-BE49-F238E27FC236}">
                <a16:creationId xmlns:a16="http://schemas.microsoft.com/office/drawing/2014/main" id="{D8257CDF-9FD5-0F74-81D6-DB4083EEF9B6}"/>
              </a:ext>
            </a:extLst>
          </p:cNvPr>
          <p:cNvSpPr/>
          <p:nvPr/>
        </p:nvSpPr>
        <p:spPr>
          <a:xfrm>
            <a:off x="8164301" y="3561556"/>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solidFill>
                <a:latin typeface="メイリオ" panose="020B0604030504040204" pitchFamily="50" charset="-128"/>
                <a:ea typeface="メイリオ" panose="020B0604030504040204" pitchFamily="50" charset="-128"/>
                <a:cs typeface="メイリオ"/>
              </a:rPr>
              <a:t>11件（6か月・うちリピート2件）</a:t>
            </a:r>
          </a:p>
        </p:txBody>
      </p:sp>
      <p:sp>
        <p:nvSpPr>
          <p:cNvPr id="22" name="正方形/長方形 21">
            <a:extLst>
              <a:ext uri="{FF2B5EF4-FFF2-40B4-BE49-F238E27FC236}">
                <a16:creationId xmlns:a16="http://schemas.microsoft.com/office/drawing/2014/main" id="{E9D6EF79-2762-E3E7-C4FF-8ABEB3AF0D2E}"/>
              </a:ext>
            </a:extLst>
          </p:cNvPr>
          <p:cNvSpPr/>
          <p:nvPr/>
        </p:nvSpPr>
        <p:spPr>
          <a:xfrm>
            <a:off x="6886308" y="3988193"/>
            <a:ext cx="1218110" cy="36115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サロン入会</a:t>
            </a:r>
            <a:endParaRPr kumimoji="1" lang="ja-JP" altLang="en-US" sz="12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26" name="正方形/長方形 25">
            <a:extLst>
              <a:ext uri="{FF2B5EF4-FFF2-40B4-BE49-F238E27FC236}">
                <a16:creationId xmlns:a16="http://schemas.microsoft.com/office/drawing/2014/main" id="{EBA283C4-73C8-787D-46CC-5D51614694C7}"/>
              </a:ext>
            </a:extLst>
          </p:cNvPr>
          <p:cNvSpPr/>
          <p:nvPr/>
        </p:nvSpPr>
        <p:spPr>
          <a:xfrm>
            <a:off x="8164301" y="3988193"/>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solidFill>
                <a:latin typeface="メイリオ" panose="020B0604030504040204" pitchFamily="50" charset="-128"/>
                <a:ea typeface="メイリオ" panose="020B0604030504040204" pitchFamily="50" charset="-128"/>
                <a:cs typeface="メイリオ"/>
              </a:rPr>
              <a:t>4件（6か月）</a:t>
            </a:r>
          </a:p>
        </p:txBody>
      </p:sp>
    </p:spTree>
    <p:extLst>
      <p:ext uri="{BB962C8B-B14F-4D97-AF65-F5344CB8AC3E}">
        <p14:creationId xmlns:p14="http://schemas.microsoft.com/office/powerpoint/2010/main" val="32972215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494BEB-009A-B205-F056-C0A4A7EC74B4}"/>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98B053BE-8B30-9364-6C34-EB1FF63BBC95}"/>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930D2F66-9C3F-E63B-8E95-4CC2E04B5A4C}"/>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131B7CF5-2776-F770-3C36-63F4D43AD11F}"/>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想定の費用対効果（詳細）</a:t>
            </a:r>
            <a:endParaRPr sz="1600" b="1" dirty="0">
              <a:solidFill>
                <a:srgbClr val="002060"/>
              </a:solidFill>
              <a:latin typeface="メイリオ"/>
              <a:ea typeface="メイリオ"/>
              <a:cs typeface="メイリオ"/>
              <a:sym typeface="Meiryo"/>
            </a:endParaRPr>
          </a:p>
        </p:txBody>
      </p:sp>
      <p:cxnSp>
        <p:nvCxnSpPr>
          <p:cNvPr id="2" name="直線コネクタ 1">
            <a:extLst>
              <a:ext uri="{FF2B5EF4-FFF2-40B4-BE49-F238E27FC236}">
                <a16:creationId xmlns:a16="http://schemas.microsoft.com/office/drawing/2014/main" id="{E60BE6AA-B4D9-CEF6-2EB7-4D6A8F9D8FE2}"/>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6" name="Google Shape;156;p7">
            <a:extLst>
              <a:ext uri="{FF2B5EF4-FFF2-40B4-BE49-F238E27FC236}">
                <a16:creationId xmlns:a16="http://schemas.microsoft.com/office/drawing/2014/main" id="{EF605292-259C-008C-231D-F2C24748CB5F}"/>
              </a:ext>
            </a:extLst>
          </p:cNvPr>
          <p:cNvSpPr txBox="1"/>
          <p:nvPr/>
        </p:nvSpPr>
        <p:spPr>
          <a:xfrm>
            <a:off x="474859" y="1618534"/>
            <a:ext cx="6514857" cy="276959"/>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200" dirty="0">
                <a:solidFill>
                  <a:schemeClr val="tx2"/>
                </a:solidFill>
                <a:latin typeface="メイリオ"/>
                <a:ea typeface="メイリオ"/>
                <a:cs typeface="メイリオ"/>
                <a:sym typeface="Meiryo"/>
              </a:rPr>
              <a:t>想定の費用対効果（月ごと）</a:t>
            </a:r>
            <a:endParaRPr sz="1200" dirty="0">
              <a:solidFill>
                <a:schemeClr val="tx2"/>
              </a:solidFill>
              <a:latin typeface="メイリオ"/>
              <a:ea typeface="メイリオ"/>
              <a:cs typeface="メイリオ"/>
              <a:sym typeface="Meiryo"/>
            </a:endParaRPr>
          </a:p>
        </p:txBody>
      </p:sp>
      <p:sp>
        <p:nvSpPr>
          <p:cNvPr id="46" name="テキスト ボックス 18"/>
          <p:cNvSpPr txBox="1"/>
          <p:nvPr/>
        </p:nvSpPr>
        <p:spPr>
          <a:xfrm>
            <a:off x="181151" y="707743"/>
            <a:ext cx="9476706" cy="307777"/>
          </a:xfrm>
          <a:prstGeom prst="rect">
            <a:avLst/>
          </a:prstGeom>
          <a:noFill/>
        </p:spPr>
        <p:txBody>
          <a:bodyPr wrap="square">
            <a:spAutoFit/>
          </a:bodyPr>
          <a:lstStyle/>
          <a:p>
            <a:pPr marL="228600">
              <a:spcAft>
                <a:spcPts val="800"/>
              </a:spcAft>
              <a:buNone/>
            </a:pPr>
            <a:r>
              <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rPr>
              <a:t>月ごとの友だち数・追える人数・セミナー予約・サロン入会と、費用の見込み。</a:t>
            </a:r>
            <a:endParaRPr lang="ja-JP" altLang="ja-JP" sz="1100" dirty="0">
              <a:effectLst/>
              <a:latin typeface="メイリオ" panose="02020603050405020304" pitchFamily="18" charset="0"/>
              <a:ea typeface="メイリオ" panose="02020400000000000000" pitchFamily="18" charset="-128"/>
              <a:cs typeface="メイリオ"/>
            </a:endParaRPr>
          </a:p>
        </p:txBody>
      </p:sp>
      <p:graphicFrame>
        <p:nvGraphicFramePr>
          <p:cNvPr id="47" name="月ごとの見込み 46"/>
          <p:cNvGraphicFramePr>
            <a:graphicFrameLocks noGrp="1"/>
          </p:cNvGraphicFramePr>
          <p:nvPr/>
        </p:nvGraphicFramePr>
        <p:xfrm>
          <a:off x="457200" y="2011680"/>
          <a:ext cx="8897112" cy="3730752"/>
        </p:xfrm>
        <a:graphic>
          <a:graphicData uri="http://schemas.openxmlformats.org/drawingml/2006/table">
            <a:tbl>
              <a:tblPr/>
              <a:tblGrid>
                <a:gridCol w="1417320"/>
                <a:gridCol w="1005840"/>
                <a:gridCol w="1078992"/>
                <a:gridCol w="1078992"/>
                <a:gridCol w="1078992"/>
                <a:gridCol w="1078992"/>
                <a:gridCol w="1078992"/>
                <a:gridCol w="1078992"/>
              </a:tblGrid>
              <a:tr h="310896">
                <a:tc>
                  <a:txBody>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cs typeface="メイリオ"/>
                        </a:rPr>
                        <a:t>項目</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A5C"/>
                    </a:solidFill>
                  </a:tcPr>
                </a:tc>
                <a:tc>
                  <a:txBody>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cs typeface="メイリオ"/>
                        </a:rPr>
                        <a:t>初期</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A5C"/>
                    </a:solidFill>
                  </a:tcPr>
                </a:tc>
                <a:tc>
                  <a:txBody>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cs typeface="メイリオ"/>
                        </a:rPr>
                        <a:t>1か月目</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A5C"/>
                    </a:solidFill>
                  </a:tcPr>
                </a:tc>
                <a:tc>
                  <a:txBody>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cs typeface="メイリオ"/>
                        </a:rPr>
                        <a:t>2か月目</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A5C"/>
                    </a:solidFill>
                  </a:tcPr>
                </a:tc>
                <a:tc>
                  <a:txBody>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cs typeface="メイリオ"/>
                        </a:rPr>
                        <a:t>3か月目</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A5C"/>
                    </a:solidFill>
                  </a:tcPr>
                </a:tc>
                <a:tc>
                  <a:txBody>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cs typeface="メイリオ"/>
                        </a:rPr>
                        <a:t>4か月目</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A5C"/>
                    </a:solidFill>
                  </a:tcPr>
                </a:tc>
                <a:tc>
                  <a:txBody>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cs typeface="メイリオ"/>
                        </a:rPr>
                        <a:t>5か月目</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A5C"/>
                    </a:solidFill>
                  </a:tcPr>
                </a:tc>
                <a:tc>
                  <a:txBody>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cs typeface="メイリオ"/>
                        </a:rPr>
                        <a:t>6か月目</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A5C"/>
                    </a:solidFill>
                  </a:tcPr>
                </a:tc>
              </a:tr>
              <a:tr h="310896">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時期</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2F2F2"/>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イベント期</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平常期</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平常期</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イベント期</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平常期</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平常期</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r>
              <a:tr h="310896">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LP UU</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2F2F2"/>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3,000</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300</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300</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3,000</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300</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300</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r>
              <a:tr h="310896">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友だちの増加</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2F2F2"/>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59人</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3人</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3人</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59人</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3人</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3人</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r>
              <a:tr h="310896">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友だち数</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2F2F2"/>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59人</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62人</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65人</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125人</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128人</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131人</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r>
              <a:tr h="310896">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ブロック率</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2F2F2"/>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28.0%</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29.0%</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29.5%</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30.0%</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30.5%</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31.0%</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r>
              <a:tr h="310896">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追える人数</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2F2F2"/>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43人</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44人</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46人</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87人</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89人</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90人</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r>
              <a:tr h="310896">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クリック数</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2F2F2"/>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109</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21</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21</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130</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31</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31</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r>
              <a:tr h="310896">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セミナー予約</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2F2F2"/>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3件</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0件</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1件</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4件</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0件</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1件</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r>
              <a:tr h="310896">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サロン入会</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2F2F2"/>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1件</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1件</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0件</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1件</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1件</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0件</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r>
              <a:tr h="310896">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リピート予約</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2F2F2"/>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0件</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0件</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0件</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2件</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0件</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0件</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r>
              <a:tr h="310896">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費用（税抜）</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2F2F2"/>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295,000円</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365,000円</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165,000円</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165,000円</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365,000円</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165,000円</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165,000円</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r>
            </a:tbl>
          </a:graphicData>
        </a:graphic>
      </p:graphicFrame>
      <p:sp>
        <p:nvSpPr>
          <p:cNvPr id="48" name="注記"/>
          <p:cNvSpPr/>
          <p:nvPr/>
        </p:nvSpPr>
        <p:spPr>
          <a:xfrm>
            <a:off x="457200" y="5833872"/>
            <a:ext cx="9052560" cy="41148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※LP UUは、広告のクリック数から置いた想定数値（イベント期＝1回のイベント／平常期＝少量の広告）。友だちの増加＝ポップアップツール＋サンクスLINE誘導。追える人数＝ブロックされずに届く友だちの数</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38799512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5A5A4-75AD-516A-9D25-18F8EF002C9C}"/>
            </a:ext>
          </a:extLst>
        </p:cNvPr>
        <p:cNvGrpSpPr/>
        <p:nvPr/>
      </p:nvGrpSpPr>
      <p:grpSpPr>
        <a:xfrm>
          <a:off x="0" y="0"/>
          <a:ext cx="0" cy="0"/>
          <a:chOff x="0" y="0"/>
          <a:chExt cx="0" cy="0"/>
        </a:xfrm>
      </p:grpSpPr>
      <p:sp>
        <p:nvSpPr>
          <p:cNvPr id="6" name="Google Shape;752;p28">
            <a:extLst>
              <a:ext uri="{FF2B5EF4-FFF2-40B4-BE49-F238E27FC236}">
                <a16:creationId xmlns:a16="http://schemas.microsoft.com/office/drawing/2014/main" id="{0308A94D-067F-5D10-BF02-6777DD32E821}"/>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chemeClr val="tx1">
                    <a:lumMod val="50000"/>
                    <a:lumOff val="50000"/>
                  </a:schemeClr>
                </a:solidFill>
                <a:latin typeface="メイリオ"/>
                <a:ea typeface="メイリオ"/>
                <a:cs typeface="メイリオ"/>
                <a:sym typeface="Meiryo"/>
              </a:rPr>
              <a:t>LINE</a:t>
            </a:r>
            <a:r>
              <a:rPr lang="ja-JP" altLang="en-US" sz="1600" b="1" dirty="0">
                <a:solidFill>
                  <a:schemeClr val="tx1">
                    <a:lumMod val="50000"/>
                    <a:lumOff val="50000"/>
                  </a:schemeClr>
                </a:solidFill>
                <a:latin typeface="メイリオ"/>
                <a:ea typeface="メイリオ"/>
                <a:cs typeface="メイリオ"/>
                <a:sym typeface="Meiryo"/>
              </a:rPr>
              <a:t>施策における重要な考え方</a:t>
            </a:r>
            <a:endParaRPr lang="en-US" altLang="ja-JP" sz="1600" b="1" dirty="0">
              <a:solidFill>
                <a:schemeClr val="tx1">
                  <a:lumMod val="50000"/>
                  <a:lumOff val="50000"/>
                </a:schemeClr>
              </a:solidFill>
              <a:latin typeface="メイリオ"/>
              <a:ea typeface="メイリオ"/>
              <a:cs typeface="メイリオ"/>
              <a:sym typeface="Meiryo"/>
            </a:endParaRPr>
          </a:p>
        </p:txBody>
      </p:sp>
      <p:sp>
        <p:nvSpPr>
          <p:cNvPr id="7" name="正方形/長方形 6">
            <a:extLst>
              <a:ext uri="{FF2B5EF4-FFF2-40B4-BE49-F238E27FC236}">
                <a16:creationId xmlns:a16="http://schemas.microsoft.com/office/drawing/2014/main" id="{31489518-639C-6F8B-3CC2-E3A3D82066B2}"/>
              </a:ext>
            </a:extLst>
          </p:cNvPr>
          <p:cNvSpPr/>
          <p:nvPr/>
        </p:nvSpPr>
        <p:spPr>
          <a:xfrm>
            <a:off x="275003" y="1728082"/>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既存友だち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のメッセージ配信を拡大＆検証し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課金対効果を向上する</a:t>
            </a:r>
          </a:p>
        </p:txBody>
      </p:sp>
      <p:sp>
        <p:nvSpPr>
          <p:cNvPr id="9" name="正方形/長方形 8">
            <a:extLst>
              <a:ext uri="{FF2B5EF4-FFF2-40B4-BE49-F238E27FC236}">
                <a16:creationId xmlns:a16="http://schemas.microsoft.com/office/drawing/2014/main" id="{DD339252-F691-EA9D-983C-6241C7AABA77}"/>
              </a:ext>
            </a:extLst>
          </p:cNvPr>
          <p:cNvSpPr/>
          <p:nvPr/>
        </p:nvSpPr>
        <p:spPr>
          <a:xfrm>
            <a:off x="275003" y="3221875"/>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新規友だち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の追加動線を拡大</a:t>
            </a: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&amp;</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整備し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見込みの高いユーザーのリードを獲得する</a:t>
            </a:r>
          </a:p>
        </p:txBody>
      </p:sp>
      <p:cxnSp>
        <p:nvCxnSpPr>
          <p:cNvPr id="10" name="直線コネクタ 9">
            <a:extLst>
              <a:ext uri="{FF2B5EF4-FFF2-40B4-BE49-F238E27FC236}">
                <a16:creationId xmlns:a16="http://schemas.microsoft.com/office/drawing/2014/main" id="{71A329C6-D6CA-D19E-C8A2-D6D234F2FA53}"/>
              </a:ext>
            </a:extLst>
          </p:cNvPr>
          <p:cNvCxnSpPr/>
          <p:nvPr/>
        </p:nvCxnSpPr>
        <p:spPr>
          <a:xfrm>
            <a:off x="1519747" y="1452035"/>
            <a:ext cx="657899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3" name="楕円 12">
            <a:extLst>
              <a:ext uri="{FF2B5EF4-FFF2-40B4-BE49-F238E27FC236}">
                <a16:creationId xmlns:a16="http://schemas.microsoft.com/office/drawing/2014/main" id="{718487F9-9129-0E91-A220-B2EF077840F3}"/>
              </a:ext>
            </a:extLst>
          </p:cNvPr>
          <p:cNvSpPr/>
          <p:nvPr/>
        </p:nvSpPr>
        <p:spPr>
          <a:xfrm>
            <a:off x="3756183" y="751045"/>
            <a:ext cx="2022158" cy="589765"/>
          </a:xfrm>
          <a:prstGeom prst="ellipse">
            <a:avLst/>
          </a:prstGeom>
          <a:solidFill>
            <a:schemeClr val="accent1">
              <a:lumMod val="40000"/>
              <a:lumOff val="60000"/>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a:solidFill>
                <a:schemeClr val="tx1">
                  <a:lumMod val="50000"/>
                  <a:lumOff val="50000"/>
                </a:schemeClr>
              </a:solidFill>
              <a:latin typeface="メイリオ"/>
              <a:ea typeface="メイリオ"/>
              <a:cs typeface="メイリオ"/>
            </a:endParaRPr>
          </a:p>
        </p:txBody>
      </p:sp>
      <p:sp>
        <p:nvSpPr>
          <p:cNvPr id="14" name="正方形/長方形 13">
            <a:extLst>
              <a:ext uri="{FF2B5EF4-FFF2-40B4-BE49-F238E27FC236}">
                <a16:creationId xmlns:a16="http://schemas.microsoft.com/office/drawing/2014/main" id="{D2F1E1CA-9D65-A02D-917C-CB72A01459A6}"/>
              </a:ext>
            </a:extLst>
          </p:cNvPr>
          <p:cNvSpPr/>
          <p:nvPr/>
        </p:nvSpPr>
        <p:spPr>
          <a:xfrm>
            <a:off x="1502508" y="842812"/>
            <a:ext cx="6647975" cy="461665"/>
          </a:xfrm>
          <a:prstGeom prst="rect">
            <a:avLst/>
          </a:prstGeom>
        </p:spPr>
        <p:txBody>
          <a:bodyPr wrap="none">
            <a:spAutoFit/>
          </a:bodyPr>
          <a:lstStyle>
            <a:defPPr>
              <a:defRPr lang="ja-JP">
                <a:latin typeface="メイリオ"/>
                <a:ea typeface="メイリオ"/>
                <a:cs typeface="メイリオ"/>
              </a:defRPr>
            </a:defPPr>
            <a:lvl1pPr marL="0" algn="l" defTabSz="914400" rtl="0" eaLnBrk="1" latinLnBrk="0" hangingPunct="1">
              <a:defRPr kumimoji="1" sz="1800" kern="1200">
                <a:solidFill>
                  <a:schemeClr val="tx1"/>
                </a:solidFill>
                <a:latin typeface="メイリオ"/>
                <a:ea typeface="メイリオ"/>
                <a:cs typeface="メイリオ"/>
              </a:defRPr>
            </a:lvl1pPr>
            <a:lvl2pPr marL="457200" algn="l" defTabSz="914400" rtl="0" eaLnBrk="1" latinLnBrk="0" hangingPunct="1">
              <a:defRPr kumimoji="1" sz="1800" kern="1200">
                <a:solidFill>
                  <a:schemeClr val="tx1"/>
                </a:solidFill>
                <a:latin typeface="メイリオ"/>
                <a:ea typeface="メイリオ"/>
                <a:cs typeface="メイリオ"/>
              </a:defRPr>
            </a:lvl2pPr>
            <a:lvl3pPr marL="914400" algn="l" defTabSz="914400" rtl="0" eaLnBrk="1" latinLnBrk="0" hangingPunct="1">
              <a:defRPr kumimoji="1" sz="1800" kern="1200">
                <a:solidFill>
                  <a:schemeClr val="tx1"/>
                </a:solidFill>
                <a:latin typeface="メイリオ"/>
                <a:ea typeface="メイリオ"/>
                <a:cs typeface="メイリオ"/>
              </a:defRPr>
            </a:lvl3pPr>
            <a:lvl4pPr marL="1371600" algn="l" defTabSz="914400" rtl="0" eaLnBrk="1" latinLnBrk="0" hangingPunct="1">
              <a:defRPr kumimoji="1" sz="1800" kern="1200">
                <a:solidFill>
                  <a:schemeClr val="tx1"/>
                </a:solidFill>
                <a:latin typeface="メイリオ"/>
                <a:ea typeface="メイリオ"/>
                <a:cs typeface="メイリオ"/>
              </a:defRPr>
            </a:lvl4pPr>
            <a:lvl5pPr marL="1828800" algn="l" defTabSz="914400" rtl="0" eaLnBrk="1" latinLnBrk="0" hangingPunct="1">
              <a:defRPr kumimoji="1" sz="1800" kern="1200">
                <a:solidFill>
                  <a:schemeClr val="tx1"/>
                </a:solidFill>
                <a:latin typeface="メイリオ"/>
                <a:ea typeface="メイリオ"/>
                <a:cs typeface="メイリオ"/>
              </a:defRPr>
            </a:lvl5pPr>
            <a:lvl6pPr marL="2286000" algn="l" defTabSz="914400" rtl="0" eaLnBrk="1" latinLnBrk="0" hangingPunct="1">
              <a:defRPr kumimoji="1" sz="1800" kern="1200">
                <a:solidFill>
                  <a:schemeClr val="tx1"/>
                </a:solidFill>
                <a:latin typeface="メイリオ"/>
                <a:ea typeface="メイリオ"/>
                <a:cs typeface="メイリオ"/>
              </a:defRPr>
            </a:lvl6pPr>
            <a:lvl7pPr marL="2743200" algn="l" defTabSz="914400" rtl="0" eaLnBrk="1" latinLnBrk="0" hangingPunct="1">
              <a:defRPr kumimoji="1" sz="1800" kern="1200">
                <a:solidFill>
                  <a:schemeClr val="tx1"/>
                </a:solidFill>
                <a:latin typeface="メイリオ"/>
                <a:ea typeface="メイリオ"/>
                <a:cs typeface="メイリオ"/>
              </a:defRPr>
            </a:lvl7pPr>
            <a:lvl8pPr marL="3200400" algn="l" defTabSz="914400" rtl="0" eaLnBrk="1" latinLnBrk="0" hangingPunct="1">
              <a:defRPr kumimoji="1" sz="1800" kern="1200">
                <a:solidFill>
                  <a:schemeClr val="tx1"/>
                </a:solidFill>
                <a:latin typeface="メイリオ"/>
                <a:ea typeface="メイリオ"/>
                <a:cs typeface="メイリオ"/>
              </a:defRPr>
            </a:lvl8pPr>
            <a:lvl9pPr marL="3657600" algn="l" defTabSz="914400" rtl="0" eaLnBrk="1" latinLnBrk="0" hangingPunct="1">
              <a:defRPr kumimoji="1" sz="1800" kern="1200">
                <a:solidFill>
                  <a:schemeClr val="tx1"/>
                </a:solidFill>
                <a:latin typeface="メイリオ"/>
                <a:ea typeface="メイリオ"/>
                <a:cs typeface="メイリオ"/>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アカウント効果を</a:t>
            </a:r>
            <a:r>
              <a:rPr lang="ja-JP" altLang="en-US" sz="2400" b="1" dirty="0">
                <a:latin typeface="メイリオ" panose="020B0604030504040204" pitchFamily="50" charset="-128"/>
                <a:ea typeface="メイリオ" panose="020B0604030504040204" pitchFamily="50" charset="-128"/>
                <a:cs typeface="メイリオ"/>
              </a:rPr>
              <a:t>最大化する</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ためには・・・？</a:t>
            </a:r>
          </a:p>
        </p:txBody>
      </p:sp>
      <p:sp>
        <p:nvSpPr>
          <p:cNvPr id="15" name="下矢印 1">
            <a:extLst>
              <a:ext uri="{FF2B5EF4-FFF2-40B4-BE49-F238E27FC236}">
                <a16:creationId xmlns:a16="http://schemas.microsoft.com/office/drawing/2014/main" id="{453026E5-FC32-AC14-0437-B9F8A5DB717B}"/>
              </a:ext>
            </a:extLst>
          </p:cNvPr>
          <p:cNvSpPr/>
          <p:nvPr/>
        </p:nvSpPr>
        <p:spPr>
          <a:xfrm>
            <a:off x="3379742" y="4715668"/>
            <a:ext cx="3196046" cy="421640"/>
          </a:xfrm>
          <a:prstGeom prst="downArrow">
            <a:avLst>
              <a:gd name="adj1" fmla="val 50000"/>
              <a:gd name="adj2" fmla="val 52758"/>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a:solidFill>
                <a:schemeClr val="tx1">
                  <a:lumMod val="50000"/>
                  <a:lumOff val="50000"/>
                </a:schemeClr>
              </a:solidFill>
              <a:latin typeface="メイリオ"/>
              <a:ea typeface="メイリオ"/>
              <a:cs typeface="メイリオ"/>
            </a:endParaRPr>
          </a:p>
        </p:txBody>
      </p:sp>
      <p:sp>
        <p:nvSpPr>
          <p:cNvPr id="19" name="正方形/長方形 18">
            <a:extLst>
              <a:ext uri="{FF2B5EF4-FFF2-40B4-BE49-F238E27FC236}">
                <a16:creationId xmlns:a16="http://schemas.microsoft.com/office/drawing/2014/main" id="{ED0D0284-90AC-92C0-335B-D83B919080B0}"/>
              </a:ext>
            </a:extLst>
          </p:cNvPr>
          <p:cNvSpPr/>
          <p:nvPr/>
        </p:nvSpPr>
        <p:spPr>
          <a:xfrm>
            <a:off x="275003" y="5239812"/>
            <a:ext cx="9355994" cy="867143"/>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WEB</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サイト上情報と連携させ、配信効果を数値化する</a:t>
            </a:r>
          </a:p>
        </p:txBody>
      </p:sp>
    </p:spTree>
    <p:extLst>
      <p:ext uri="{BB962C8B-B14F-4D97-AF65-F5344CB8AC3E}">
        <p14:creationId xmlns:p14="http://schemas.microsoft.com/office/powerpoint/2010/main" val="9709585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67DEB-0D7B-8670-6390-E396B1D536B5}"/>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E9062440-B6A0-85EE-461D-E9A5F53310B0}"/>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LINEOA</a:t>
            </a:r>
            <a:r>
              <a:rPr kumimoji="1" lang="ja-JP" altLang="en-US" sz="1400" dirty="0">
                <a:latin typeface="メイリオ" panose="020B0604030504040204" pitchFamily="50" charset="-128"/>
                <a:ea typeface="メイリオ" panose="020B0604030504040204" pitchFamily="50" charset="-128"/>
                <a:cs typeface="メイリオ"/>
              </a:rPr>
              <a:t>施策</a:t>
            </a:r>
          </a:p>
        </p:txBody>
      </p:sp>
      <p:sp>
        <p:nvSpPr>
          <p:cNvPr id="3" name="Google Shape;752;p28">
            <a:extLst>
              <a:ext uri="{FF2B5EF4-FFF2-40B4-BE49-F238E27FC236}">
                <a16:creationId xmlns:a16="http://schemas.microsoft.com/office/drawing/2014/main" id="{CCEADF0C-2806-160C-2545-0CBF2DE16851}"/>
              </a:ext>
            </a:extLst>
          </p:cNvPr>
          <p:cNvSpPr txBox="1"/>
          <p:nvPr/>
        </p:nvSpPr>
        <p:spPr>
          <a:xfrm>
            <a:off x="1988819" y="736332"/>
            <a:ext cx="7917181" cy="584735"/>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メイリオ"/>
                <a:sym typeface="Meiryo"/>
              </a:rPr>
              <a:t>LINE友だち追加～15日を境に大きくアクティブ率が下がる（ブロック率が上がる）</a:t>
            </a:r>
            <a:endParaRPr lang="en-US" altLang="ja-JP" sz="1600" b="1" dirty="0">
              <a:latin typeface="メイリオ" panose="020B0604030504040204" pitchFamily="50" charset="-128"/>
              <a:ea typeface="メイリオ" panose="020B0604030504040204" pitchFamily="50" charset="-128"/>
              <a:cs typeface="メイリオ"/>
              <a:sym typeface="Meiryo"/>
            </a:endParaRPr>
          </a:p>
          <a:p>
            <a:r>
              <a:rPr lang="ja-JP" altLang="en-US" sz="1600" b="1" dirty="0">
                <a:latin typeface="メイリオ" panose="020B0604030504040204" pitchFamily="50" charset="-128"/>
                <a:ea typeface="メイリオ" panose="020B0604030504040204" pitchFamily="50" charset="-128"/>
                <a:cs typeface="メイリオ"/>
                <a:sym typeface="Meiryo"/>
              </a:rPr>
              <a:t>為、段階に合わせて配信を変え、イベントの無い時期は回数を絞る。</a:t>
            </a:r>
            <a:endParaRPr lang="en-US" altLang="ja-JP" sz="1600" b="1" dirty="0">
              <a:latin typeface="メイリオ" panose="020B0604030504040204" pitchFamily="50" charset="-128"/>
              <a:ea typeface="メイリオ" panose="020B0604030504040204" pitchFamily="50" charset="-128"/>
              <a:cs typeface="メイリオ"/>
              <a:sym typeface="Meiryo"/>
            </a:endParaRPr>
          </a:p>
        </p:txBody>
      </p:sp>
      <p:pic>
        <p:nvPicPr>
          <p:cNvPr id="5" name="図 4">
            <a:extLst>
              <a:ext uri="{FF2B5EF4-FFF2-40B4-BE49-F238E27FC236}">
                <a16:creationId xmlns:a16="http://schemas.microsoft.com/office/drawing/2014/main" id="{599FD372-1931-8AF9-6FBE-007F188CE892}"/>
              </a:ext>
            </a:extLst>
          </p:cNvPr>
          <p:cNvPicPr>
            <a:picLocks noChangeAspect="1"/>
          </p:cNvPicPr>
          <p:nvPr/>
        </p:nvPicPr>
        <p:blipFill>
          <a:blip r:embed="rId2"/>
          <a:stretch>
            <a:fillRect/>
          </a:stretch>
        </p:blipFill>
        <p:spPr>
          <a:xfrm>
            <a:off x="1394710" y="1746287"/>
            <a:ext cx="582602" cy="543237"/>
          </a:xfrm>
          <a:prstGeom prst="rect">
            <a:avLst/>
          </a:prstGeom>
        </p:spPr>
      </p:pic>
      <p:sp>
        <p:nvSpPr>
          <p:cNvPr id="6" name="正方形/長方形 5">
            <a:extLst>
              <a:ext uri="{FF2B5EF4-FFF2-40B4-BE49-F238E27FC236}">
                <a16:creationId xmlns:a16="http://schemas.microsoft.com/office/drawing/2014/main" id="{70DDBD12-962F-75E1-F777-2A8CB1A1A43C}"/>
              </a:ext>
            </a:extLst>
          </p:cNvPr>
          <p:cNvSpPr/>
          <p:nvPr/>
        </p:nvSpPr>
        <p:spPr>
          <a:xfrm>
            <a:off x="2232491" y="1817608"/>
            <a:ext cx="5694068" cy="400594"/>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bg1"/>
                </a:solidFill>
                <a:latin typeface="メイリオ" panose="020B0604030504040204" pitchFamily="50" charset="-128"/>
                <a:ea typeface="メイリオ" panose="020B0604030504040204" pitchFamily="50" charset="-128"/>
                <a:cs typeface="メイリオ"/>
              </a:rPr>
              <a:t>公式アカウントを友だち追加！</a:t>
            </a:r>
          </a:p>
        </p:txBody>
      </p:sp>
      <p:sp>
        <p:nvSpPr>
          <p:cNvPr id="16" name="矢印: 下 15">
            <a:extLst>
              <a:ext uri="{FF2B5EF4-FFF2-40B4-BE49-F238E27FC236}">
                <a16:creationId xmlns:a16="http://schemas.microsoft.com/office/drawing/2014/main" id="{96A68A56-39E1-8BAC-2C49-CC19FBEC68F7}"/>
              </a:ext>
            </a:extLst>
          </p:cNvPr>
          <p:cNvSpPr/>
          <p:nvPr/>
        </p:nvSpPr>
        <p:spPr>
          <a:xfrm>
            <a:off x="6666282" y="2317059"/>
            <a:ext cx="470263" cy="1837509"/>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9" name="直線コネクタ 18">
            <a:extLst>
              <a:ext uri="{FF2B5EF4-FFF2-40B4-BE49-F238E27FC236}">
                <a16:creationId xmlns:a16="http://schemas.microsoft.com/office/drawing/2014/main" id="{499B7760-FDC6-B260-9507-F94BFB256854}"/>
              </a:ext>
            </a:extLst>
          </p:cNvPr>
          <p:cNvCxnSpPr>
            <a:cxnSpLocks/>
          </p:cNvCxnSpPr>
          <p:nvPr/>
        </p:nvCxnSpPr>
        <p:spPr>
          <a:xfrm>
            <a:off x="1603884" y="4293068"/>
            <a:ext cx="6889823" cy="0"/>
          </a:xfrm>
          <a:prstGeom prst="line">
            <a:avLst/>
          </a:prstGeom>
          <a:ln w="6350">
            <a:solidFill>
              <a:srgbClr val="1F2A5C"/>
            </a:solidFill>
            <a:prstDash val="sysDash"/>
          </a:ln>
        </p:spPr>
        <p:style>
          <a:lnRef idx="1">
            <a:schemeClr val="accent1"/>
          </a:lnRef>
          <a:fillRef idx="0">
            <a:schemeClr val="accent1"/>
          </a:fillRef>
          <a:effectRef idx="0">
            <a:schemeClr val="accent1"/>
          </a:effectRef>
          <a:fontRef idx="minor">
            <a:schemeClr val="tx1"/>
          </a:fontRef>
        </p:style>
      </p:cxnSp>
      <p:sp>
        <p:nvSpPr>
          <p:cNvPr id="22" name="矢印: 下 21">
            <a:extLst>
              <a:ext uri="{FF2B5EF4-FFF2-40B4-BE49-F238E27FC236}">
                <a16:creationId xmlns:a16="http://schemas.microsoft.com/office/drawing/2014/main" id="{57EAA642-99EB-D59A-CA2D-CF128F520650}"/>
              </a:ext>
            </a:extLst>
          </p:cNvPr>
          <p:cNvSpPr/>
          <p:nvPr/>
        </p:nvSpPr>
        <p:spPr>
          <a:xfrm>
            <a:off x="6666281" y="4376126"/>
            <a:ext cx="470263" cy="880030"/>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23" name="直線コネクタ 22">
            <a:extLst>
              <a:ext uri="{FF2B5EF4-FFF2-40B4-BE49-F238E27FC236}">
                <a16:creationId xmlns:a16="http://schemas.microsoft.com/office/drawing/2014/main" id="{FC84D888-2F3B-56B2-6D8B-43495766B724}"/>
              </a:ext>
            </a:extLst>
          </p:cNvPr>
          <p:cNvCxnSpPr>
            <a:cxnSpLocks/>
          </p:cNvCxnSpPr>
          <p:nvPr/>
        </p:nvCxnSpPr>
        <p:spPr>
          <a:xfrm>
            <a:off x="1603884" y="5394656"/>
            <a:ext cx="6889823" cy="0"/>
          </a:xfrm>
          <a:prstGeom prst="line">
            <a:avLst/>
          </a:prstGeom>
          <a:ln w="63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26" name="テキスト ボックス 25">
            <a:extLst>
              <a:ext uri="{FF2B5EF4-FFF2-40B4-BE49-F238E27FC236}">
                <a16:creationId xmlns:a16="http://schemas.microsoft.com/office/drawing/2014/main" id="{2DDEE958-B9A4-B3B7-0AB5-40E083E922F6}"/>
              </a:ext>
            </a:extLst>
          </p:cNvPr>
          <p:cNvSpPr txBox="1"/>
          <p:nvPr/>
        </p:nvSpPr>
        <p:spPr>
          <a:xfrm>
            <a:off x="887729" y="4154568"/>
            <a:ext cx="4963884" cy="276999"/>
          </a:xfrm>
          <a:prstGeom prst="rect">
            <a:avLst/>
          </a:prstGeom>
          <a:noFill/>
        </p:spPr>
        <p:txBody>
          <a:bodyPr wrap="square">
            <a:spAutoFit/>
          </a:bodyPr>
          <a:lstStyle/>
          <a:p>
            <a:r>
              <a:rPr lang="en-US" altLang="ja-JP" sz="1200" b="1" dirty="0">
                <a:solidFill>
                  <a:srgbClr val="1F2A5C"/>
                </a:solidFill>
                <a:latin typeface="メイリオ" panose="020B0604030504040204" pitchFamily="50" charset="-128"/>
                <a:ea typeface="メイリオ" panose="020B0604030504040204" pitchFamily="50" charset="-128"/>
                <a:cs typeface="メイリオ"/>
                <a:sym typeface="Meiryo"/>
              </a:rPr>
              <a:t>15</a:t>
            </a:r>
            <a:r>
              <a:rPr lang="ja-JP" altLang="en-US" sz="1200" b="1" dirty="0">
                <a:solidFill>
                  <a:srgbClr val="1F2A5C"/>
                </a:solidFill>
                <a:latin typeface="メイリオ" panose="020B0604030504040204" pitchFamily="50" charset="-128"/>
                <a:ea typeface="メイリオ" panose="020B0604030504040204" pitchFamily="50" charset="-128"/>
                <a:cs typeface="メイリオ"/>
                <a:sym typeface="Meiryo"/>
              </a:rPr>
              <a:t>日後</a:t>
            </a:r>
            <a:endParaRPr lang="ja-JP" altLang="en-US" sz="1200" dirty="0">
              <a:solidFill>
                <a:srgbClr val="1F2A5C"/>
              </a:solidFill>
              <a:latin typeface="メイリオ"/>
              <a:ea typeface="メイリオ"/>
              <a:cs typeface="メイリオ"/>
            </a:endParaRPr>
          </a:p>
        </p:txBody>
      </p:sp>
      <p:sp>
        <p:nvSpPr>
          <p:cNvPr id="29" name="テキスト ボックス 28">
            <a:extLst>
              <a:ext uri="{FF2B5EF4-FFF2-40B4-BE49-F238E27FC236}">
                <a16:creationId xmlns:a16="http://schemas.microsoft.com/office/drawing/2014/main" id="{99B2BE93-6AC1-B592-319F-2D44EB64DCDF}"/>
              </a:ext>
            </a:extLst>
          </p:cNvPr>
          <p:cNvSpPr txBox="1"/>
          <p:nvPr/>
        </p:nvSpPr>
        <p:spPr>
          <a:xfrm>
            <a:off x="887729" y="5258075"/>
            <a:ext cx="4963884" cy="276999"/>
          </a:xfrm>
          <a:prstGeom prst="rect">
            <a:avLst/>
          </a:prstGeom>
          <a:noFill/>
        </p:spPr>
        <p:txBody>
          <a:bodyPr wrap="square">
            <a:spAutoFit/>
          </a:bodyPr>
          <a:lstStyle/>
          <a:p>
            <a:r>
              <a:rPr lang="en-US" altLang="ja-JP" sz="1200" b="1" dirty="0">
                <a:latin typeface="メイリオ" panose="020B0604030504040204" pitchFamily="50" charset="-128"/>
                <a:ea typeface="メイリオ" panose="020B0604030504040204" pitchFamily="50" charset="-128"/>
                <a:cs typeface="メイリオ"/>
                <a:sym typeface="Meiryo"/>
              </a:rPr>
              <a:t>30</a:t>
            </a:r>
            <a:r>
              <a:rPr lang="ja-JP" altLang="en-US" sz="1200" b="1" dirty="0">
                <a:latin typeface="メイリオ" panose="020B0604030504040204" pitchFamily="50" charset="-128"/>
                <a:ea typeface="メイリオ" panose="020B0604030504040204" pitchFamily="50" charset="-128"/>
                <a:cs typeface="メイリオ"/>
                <a:sym typeface="Meiryo"/>
              </a:rPr>
              <a:t>日後</a:t>
            </a:r>
            <a:endParaRPr lang="ja-JP" altLang="en-US" sz="1200" dirty="0">
              <a:latin typeface="メイリオ"/>
              <a:ea typeface="メイリオ"/>
              <a:cs typeface="メイリオ"/>
            </a:endParaRPr>
          </a:p>
        </p:txBody>
      </p:sp>
      <p:sp>
        <p:nvSpPr>
          <p:cNvPr id="32" name="矢印: 下 31">
            <a:extLst>
              <a:ext uri="{FF2B5EF4-FFF2-40B4-BE49-F238E27FC236}">
                <a16:creationId xmlns:a16="http://schemas.microsoft.com/office/drawing/2014/main" id="{F0BAD90B-19DF-C716-880C-57948735A10E}"/>
              </a:ext>
            </a:extLst>
          </p:cNvPr>
          <p:cNvSpPr/>
          <p:nvPr/>
        </p:nvSpPr>
        <p:spPr>
          <a:xfrm>
            <a:off x="6666281" y="5477713"/>
            <a:ext cx="470263" cy="880030"/>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3" name="直角三角形 32">
            <a:extLst>
              <a:ext uri="{FF2B5EF4-FFF2-40B4-BE49-F238E27FC236}">
                <a16:creationId xmlns:a16="http://schemas.microsoft.com/office/drawing/2014/main" id="{21D9755D-523C-2A6A-B045-29C102846ABF}"/>
              </a:ext>
            </a:extLst>
          </p:cNvPr>
          <p:cNvSpPr/>
          <p:nvPr/>
        </p:nvSpPr>
        <p:spPr>
          <a:xfrm flipV="1">
            <a:off x="7837714" y="2289524"/>
            <a:ext cx="1244098" cy="3105132"/>
          </a:xfrm>
          <a:prstGeom prst="rtTriangle">
            <a:avLst/>
          </a:prstGeom>
          <a:solidFill>
            <a:srgbClr val="1F2A5C">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1F2A5C"/>
              </a:solidFill>
              <a:latin typeface="メイリオ"/>
              <a:ea typeface="メイリオ"/>
              <a:cs typeface="メイリオ"/>
            </a:endParaRPr>
          </a:p>
        </p:txBody>
      </p:sp>
      <p:sp>
        <p:nvSpPr>
          <p:cNvPr id="38" name="テキスト ボックス 37">
            <a:extLst>
              <a:ext uri="{FF2B5EF4-FFF2-40B4-BE49-F238E27FC236}">
                <a16:creationId xmlns:a16="http://schemas.microsoft.com/office/drawing/2014/main" id="{D6796F30-9C92-1751-9461-7D96ED3FD472}"/>
              </a:ext>
            </a:extLst>
          </p:cNvPr>
          <p:cNvSpPr txBox="1"/>
          <p:nvPr/>
        </p:nvSpPr>
        <p:spPr>
          <a:xfrm>
            <a:off x="7376370" y="2507385"/>
            <a:ext cx="2104595" cy="261610"/>
          </a:xfrm>
          <a:prstGeom prst="rect">
            <a:avLst/>
          </a:prstGeom>
          <a:noFill/>
        </p:spPr>
        <p:txBody>
          <a:bodyPr wrap="square">
            <a:spAutoFit/>
          </a:bodyPr>
          <a:lstStyle/>
          <a:p>
            <a:pPr algn="ctr"/>
            <a:r>
              <a:rPr lang="ja-JP" altLang="en-US" sz="1050" b="1" dirty="0">
                <a:solidFill>
                  <a:srgbClr val="1F2A5C"/>
                </a:solidFill>
                <a:latin typeface="メイリオ" panose="020B0604030504040204" pitchFamily="50" charset="-128"/>
                <a:ea typeface="メイリオ" panose="020B0604030504040204" pitchFamily="50" charset="-128"/>
                <a:cs typeface="メイリオ"/>
              </a:rPr>
              <a:t>アクティブ率：高</a:t>
            </a:r>
          </a:p>
        </p:txBody>
      </p:sp>
      <p:sp>
        <p:nvSpPr>
          <p:cNvPr id="45" name="直角三角形 44">
            <a:extLst>
              <a:ext uri="{FF2B5EF4-FFF2-40B4-BE49-F238E27FC236}">
                <a16:creationId xmlns:a16="http://schemas.microsoft.com/office/drawing/2014/main" id="{70153691-BF19-7E23-69C7-A1735ED95D0B}"/>
              </a:ext>
            </a:extLst>
          </p:cNvPr>
          <p:cNvSpPr/>
          <p:nvPr/>
        </p:nvSpPr>
        <p:spPr>
          <a:xfrm flipV="1">
            <a:off x="7837713" y="5403361"/>
            <a:ext cx="399367" cy="946289"/>
          </a:xfrm>
          <a:prstGeom prst="rtTriangle">
            <a:avLst/>
          </a:prstGeom>
          <a:solidFill>
            <a:srgbClr val="1F2A5C">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1F2A5C"/>
              </a:solidFill>
              <a:latin typeface="メイリオ"/>
              <a:ea typeface="メイリオ"/>
              <a:cs typeface="メイリオ"/>
            </a:endParaRPr>
          </a:p>
        </p:txBody>
      </p:sp>
      <p:sp>
        <p:nvSpPr>
          <p:cNvPr id="49" name="テキスト ボックス 48">
            <a:extLst>
              <a:ext uri="{FF2B5EF4-FFF2-40B4-BE49-F238E27FC236}">
                <a16:creationId xmlns:a16="http://schemas.microsoft.com/office/drawing/2014/main" id="{39E95A0F-F089-7BBE-05C6-60749997D8B5}"/>
              </a:ext>
            </a:extLst>
          </p:cNvPr>
          <p:cNvSpPr txBox="1"/>
          <p:nvPr/>
        </p:nvSpPr>
        <p:spPr>
          <a:xfrm>
            <a:off x="7376370" y="4777647"/>
            <a:ext cx="2104595" cy="261610"/>
          </a:xfrm>
          <a:prstGeom prst="rect">
            <a:avLst/>
          </a:prstGeom>
          <a:noFill/>
        </p:spPr>
        <p:txBody>
          <a:bodyPr wrap="square">
            <a:spAutoFit/>
          </a:bodyPr>
          <a:lstStyle/>
          <a:p>
            <a:pPr algn="ctr"/>
            <a:r>
              <a:rPr lang="ja-JP" altLang="en-US" sz="1050" dirty="0">
                <a:solidFill>
                  <a:srgbClr val="1F2A5C"/>
                </a:solidFill>
                <a:latin typeface="メイリオ" panose="020B0604030504040204" pitchFamily="50" charset="-128"/>
                <a:ea typeface="メイリオ" panose="020B0604030504040204" pitchFamily="50" charset="-128"/>
                <a:cs typeface="メイリオ"/>
              </a:rPr>
              <a:t>アクティブ率：低</a:t>
            </a:r>
          </a:p>
        </p:txBody>
      </p:sp>
      <p:sp>
        <p:nvSpPr>
          <p:cNvPr id="51" name="正方形/長方形 50">
            <a:extLst>
              <a:ext uri="{FF2B5EF4-FFF2-40B4-BE49-F238E27FC236}">
                <a16:creationId xmlns:a16="http://schemas.microsoft.com/office/drawing/2014/main" id="{6E8EECEE-A26C-FE65-851C-D89DA2943DDA}"/>
              </a:ext>
            </a:extLst>
          </p:cNvPr>
          <p:cNvSpPr/>
          <p:nvPr/>
        </p:nvSpPr>
        <p:spPr>
          <a:xfrm>
            <a:off x="4822207" y="3086837"/>
            <a:ext cx="1653346" cy="2173142"/>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1F2A5C"/>
                </a:solidFill>
                <a:latin typeface="メイリオ" panose="020B0604030504040204" pitchFamily="50" charset="-128"/>
                <a:ea typeface="メイリオ" panose="020B0604030504040204" pitchFamily="50" charset="-128"/>
                <a:cs typeface="メイリオ"/>
              </a:rPr>
              <a:t>ステップ配信</a:t>
            </a:r>
          </a:p>
        </p:txBody>
      </p:sp>
      <p:sp>
        <p:nvSpPr>
          <p:cNvPr id="53" name="正方形/長方形 52">
            <a:extLst>
              <a:ext uri="{FF2B5EF4-FFF2-40B4-BE49-F238E27FC236}">
                <a16:creationId xmlns:a16="http://schemas.microsoft.com/office/drawing/2014/main" id="{81454DD3-4503-BFE5-0C14-038581D067FE}"/>
              </a:ext>
            </a:extLst>
          </p:cNvPr>
          <p:cNvSpPr/>
          <p:nvPr/>
        </p:nvSpPr>
        <p:spPr>
          <a:xfrm>
            <a:off x="2232491" y="2685169"/>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1F2A5C"/>
                </a:solidFill>
                <a:latin typeface="メイリオ" panose="020B0604030504040204" pitchFamily="50" charset="-128"/>
                <a:ea typeface="メイリオ" panose="020B0604030504040204" pitchFamily="50" charset="-128"/>
                <a:cs typeface="メイリオ"/>
              </a:rPr>
              <a:t>アンケート</a:t>
            </a:r>
          </a:p>
        </p:txBody>
      </p:sp>
      <p:sp>
        <p:nvSpPr>
          <p:cNvPr id="55" name="正方形/長方形 54">
            <a:extLst>
              <a:ext uri="{FF2B5EF4-FFF2-40B4-BE49-F238E27FC236}">
                <a16:creationId xmlns:a16="http://schemas.microsoft.com/office/drawing/2014/main" id="{50620861-661B-61FD-CF03-A1B419A375AE}"/>
              </a:ext>
            </a:extLst>
          </p:cNvPr>
          <p:cNvSpPr/>
          <p:nvPr/>
        </p:nvSpPr>
        <p:spPr>
          <a:xfrm>
            <a:off x="2326221" y="3086838"/>
            <a:ext cx="2411242" cy="2173142"/>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solidFill>
                <a:latin typeface="メイリオ" panose="020B0604030504040204" pitchFamily="50" charset="-128"/>
                <a:ea typeface="メイリオ" panose="020B0604030504040204" pitchFamily="50" charset="-128"/>
                <a:cs typeface="メイリオ"/>
              </a:rPr>
              <a:t>企画配信</a:t>
            </a:r>
          </a:p>
        </p:txBody>
      </p:sp>
      <p:sp>
        <p:nvSpPr>
          <p:cNvPr id="57" name="正方形/長方形 56">
            <a:extLst>
              <a:ext uri="{FF2B5EF4-FFF2-40B4-BE49-F238E27FC236}">
                <a16:creationId xmlns:a16="http://schemas.microsoft.com/office/drawing/2014/main" id="{4459A76C-C890-8CC0-17D9-2EF08525C001}"/>
              </a:ext>
            </a:extLst>
          </p:cNvPr>
          <p:cNvSpPr/>
          <p:nvPr/>
        </p:nvSpPr>
        <p:spPr>
          <a:xfrm>
            <a:off x="2232491" y="5442735"/>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モーメント配信</a:t>
            </a:r>
          </a:p>
        </p:txBody>
      </p:sp>
      <p:sp>
        <p:nvSpPr>
          <p:cNvPr id="65" name="正方形/長方形 64">
            <a:extLst>
              <a:ext uri="{FF2B5EF4-FFF2-40B4-BE49-F238E27FC236}">
                <a16:creationId xmlns:a16="http://schemas.microsoft.com/office/drawing/2014/main" id="{A8F1D398-BD32-DDD8-1642-E52C2B235BA4}"/>
              </a:ext>
            </a:extLst>
          </p:cNvPr>
          <p:cNvSpPr/>
          <p:nvPr/>
        </p:nvSpPr>
        <p:spPr>
          <a:xfrm>
            <a:off x="2232491" y="2302562"/>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1F2A5C"/>
                </a:solidFill>
                <a:latin typeface="メイリオ" panose="020B0604030504040204" pitchFamily="50" charset="-128"/>
                <a:ea typeface="メイリオ" panose="020B0604030504040204" pitchFamily="50" charset="-128"/>
                <a:cs typeface="メイリオ"/>
              </a:rPr>
              <a:t>挨拶メッセージ・リッチメニュー</a:t>
            </a:r>
          </a:p>
        </p:txBody>
      </p:sp>
      <p:sp>
        <p:nvSpPr>
          <p:cNvPr id="67" name="正方形/長方形 66">
            <a:extLst>
              <a:ext uri="{FF2B5EF4-FFF2-40B4-BE49-F238E27FC236}">
                <a16:creationId xmlns:a16="http://schemas.microsoft.com/office/drawing/2014/main" id="{F991B595-167D-EE44-3530-4DCE8C7B208F}"/>
              </a:ext>
            </a:extLst>
          </p:cNvPr>
          <p:cNvSpPr/>
          <p:nvPr/>
        </p:nvSpPr>
        <p:spPr>
          <a:xfrm>
            <a:off x="4822207" y="5838470"/>
            <a:ext cx="1653346" cy="489785"/>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75" name="正方形/長方形 74">
            <a:extLst>
              <a:ext uri="{FF2B5EF4-FFF2-40B4-BE49-F238E27FC236}">
                <a16:creationId xmlns:a16="http://schemas.microsoft.com/office/drawing/2014/main" id="{16B28472-CB01-9D89-509B-26D59B4BA089}"/>
              </a:ext>
            </a:extLst>
          </p:cNvPr>
          <p:cNvSpPr/>
          <p:nvPr/>
        </p:nvSpPr>
        <p:spPr>
          <a:xfrm>
            <a:off x="2326221" y="5838471"/>
            <a:ext cx="2411242" cy="489785"/>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81" name="正方形/長方形 80">
            <a:extLst>
              <a:ext uri="{FF2B5EF4-FFF2-40B4-BE49-F238E27FC236}">
                <a16:creationId xmlns:a16="http://schemas.microsoft.com/office/drawing/2014/main" id="{A5ED7B27-E5A3-1AD6-2F12-1265E4591B60}"/>
              </a:ext>
            </a:extLst>
          </p:cNvPr>
          <p:cNvSpPr/>
          <p:nvPr/>
        </p:nvSpPr>
        <p:spPr>
          <a:xfrm>
            <a:off x="115726" y="6285606"/>
            <a:ext cx="7578805" cy="999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7" name="Google Shape;752;p28">
            <a:extLst>
              <a:ext uri="{FF2B5EF4-FFF2-40B4-BE49-F238E27FC236}">
                <a16:creationId xmlns:a16="http://schemas.microsoft.com/office/drawing/2014/main" id="{A711D9CD-A0E9-90A0-722C-36249BABF896}"/>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chemeClr val="tx1">
                    <a:lumMod val="50000"/>
                    <a:lumOff val="50000"/>
                  </a:schemeClr>
                </a:solidFill>
                <a:latin typeface="メイリオ"/>
                <a:ea typeface="メイリオ"/>
                <a:cs typeface="メイリオ"/>
                <a:sym typeface="Meiryo"/>
              </a:rPr>
              <a:t>LINE</a:t>
            </a:r>
            <a:r>
              <a:rPr lang="ja-JP" altLang="en-US" sz="1600" b="1" dirty="0">
                <a:solidFill>
                  <a:schemeClr val="tx1">
                    <a:lumMod val="50000"/>
                    <a:lumOff val="50000"/>
                  </a:schemeClr>
                </a:solidFill>
                <a:latin typeface="メイリオ"/>
                <a:ea typeface="メイリオ"/>
                <a:cs typeface="メイリオ"/>
                <a:sym typeface="Meiryo"/>
              </a:rPr>
              <a:t>施策における重要な考え方</a:t>
            </a:r>
            <a:endParaRPr lang="en-US" altLang="ja-JP" sz="1600" b="1" dirty="0">
              <a:solidFill>
                <a:schemeClr val="tx1">
                  <a:lumMod val="50000"/>
                  <a:lumOff val="50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1065560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FD3B1F-7F7B-6271-9DE8-D3CECB4AEE7A}"/>
            </a:ext>
          </a:extLst>
        </p:cNvPr>
        <p:cNvGrpSpPr/>
        <p:nvPr/>
      </p:nvGrpSpPr>
      <p:grpSpPr>
        <a:xfrm>
          <a:off x="0" y="0"/>
          <a:ext cx="0" cy="0"/>
          <a:chOff x="0" y="0"/>
          <a:chExt cx="0" cy="0"/>
        </a:xfrm>
      </p:grpSpPr>
      <p:sp>
        <p:nvSpPr>
          <p:cNvPr id="6" name="Google Shape;752;p28">
            <a:extLst>
              <a:ext uri="{FF2B5EF4-FFF2-40B4-BE49-F238E27FC236}">
                <a16:creationId xmlns:a16="http://schemas.microsoft.com/office/drawing/2014/main" id="{8421BF1B-3828-BADE-4033-28B8258FFCB2}"/>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全体設計</a:t>
            </a:r>
          </a:p>
        </p:txBody>
      </p:sp>
      <p:sp>
        <p:nvSpPr>
          <p:cNvPr id="3" name="テキスト ボックス 2">
            <a:extLst>
              <a:ext uri="{FF2B5EF4-FFF2-40B4-BE49-F238E27FC236}">
                <a16:creationId xmlns:a16="http://schemas.microsoft.com/office/drawing/2014/main" id="{EDD3D979-9EEB-6B18-F888-A17F98CFB00B}"/>
              </a:ext>
            </a:extLst>
          </p:cNvPr>
          <p:cNvSpPr txBox="1"/>
          <p:nvPr/>
        </p:nvSpPr>
        <p:spPr>
          <a:xfrm>
            <a:off x="4630780" y="1385918"/>
            <a:ext cx="1285343" cy="2616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⑤ 有効化</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4" name="テキスト ボックス 3">
            <a:extLst>
              <a:ext uri="{FF2B5EF4-FFF2-40B4-BE49-F238E27FC236}">
                <a16:creationId xmlns:a16="http://schemas.microsoft.com/office/drawing/2014/main" id="{74A29E67-E629-D5BB-0BF0-30595AA3A156}"/>
              </a:ext>
            </a:extLst>
          </p:cNvPr>
          <p:cNvSpPr txBox="1"/>
          <p:nvPr/>
        </p:nvSpPr>
        <p:spPr>
          <a:xfrm>
            <a:off x="7269500" y="1385918"/>
            <a:ext cx="1285341" cy="2616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⑦  </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成約</a:t>
            </a:r>
            <a:r>
              <a:rPr lang="en-US" altLang="ja-JP" sz="1000" b="1" dirty="0">
                <a:latin typeface="メイリオ" panose="020B0604030504040204" pitchFamily="50" charset="-128"/>
                <a:ea typeface="メイリオ" panose="020B0604030504040204" pitchFamily="50" charset="-128"/>
                <a:cs typeface="メイリオ"/>
              </a:rPr>
              <a:t>)</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5" name="テキスト ボックス 4">
            <a:extLst>
              <a:ext uri="{FF2B5EF4-FFF2-40B4-BE49-F238E27FC236}">
                <a16:creationId xmlns:a16="http://schemas.microsoft.com/office/drawing/2014/main" id="{C8FAABE7-2498-0A19-8EFA-AE3DAED1CE38}"/>
              </a:ext>
            </a:extLst>
          </p:cNvPr>
          <p:cNvSpPr txBox="1"/>
          <p:nvPr/>
        </p:nvSpPr>
        <p:spPr>
          <a:xfrm>
            <a:off x="5950140" y="1385918"/>
            <a:ext cx="1285341" cy="2616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⑥ 再育成</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8" name="テキスト ボックス 7">
            <a:extLst>
              <a:ext uri="{FF2B5EF4-FFF2-40B4-BE49-F238E27FC236}">
                <a16:creationId xmlns:a16="http://schemas.microsoft.com/office/drawing/2014/main" id="{7A77BB20-672A-267B-1278-73B82EFDB35A}"/>
              </a:ext>
            </a:extLst>
          </p:cNvPr>
          <p:cNvSpPr txBox="1"/>
          <p:nvPr/>
        </p:nvSpPr>
        <p:spPr>
          <a:xfrm>
            <a:off x="2435404" y="1385918"/>
            <a:ext cx="1063671" cy="261610"/>
          </a:xfrm>
          <a:prstGeom prst="rect">
            <a:avLst/>
          </a:prstGeom>
          <a:solidFill>
            <a:srgbClr val="F2F2F2"/>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cs typeface="メイリオ"/>
              </a:rPr>
              <a:t>③ 育成</a:t>
            </a:r>
          </a:p>
        </p:txBody>
      </p:sp>
      <p:sp>
        <p:nvSpPr>
          <p:cNvPr id="11" name="テキスト ボックス 10">
            <a:extLst>
              <a:ext uri="{FF2B5EF4-FFF2-40B4-BE49-F238E27FC236}">
                <a16:creationId xmlns:a16="http://schemas.microsoft.com/office/drawing/2014/main" id="{757FA4CB-2B6D-1C58-A1D7-FBC3E968719E}"/>
              </a:ext>
            </a:extLst>
          </p:cNvPr>
          <p:cNvSpPr txBox="1"/>
          <p:nvPr/>
        </p:nvSpPr>
        <p:spPr>
          <a:xfrm>
            <a:off x="3533092" y="1385918"/>
            <a:ext cx="1063671" cy="261610"/>
          </a:xfrm>
          <a:prstGeom prst="rect">
            <a:avLst/>
          </a:prstGeom>
          <a:solidFill>
            <a:srgbClr val="F2F2F2"/>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④ リード</a:t>
            </a:r>
            <a:endParaRPr lang="ja-JP" altLang="ja-JP" sz="1050" b="1" dirty="0">
              <a:latin typeface="メイリオ" panose="020B0604030504040204" pitchFamily="50" charset="-128"/>
              <a:ea typeface="メイリオ" panose="020B0604030504040204" pitchFamily="50" charset="-128"/>
              <a:cs typeface="メイリオ"/>
            </a:endParaRPr>
          </a:p>
        </p:txBody>
      </p:sp>
      <p:sp>
        <p:nvSpPr>
          <p:cNvPr id="16" name="正方形/長方形 15">
            <a:extLst>
              <a:ext uri="{FF2B5EF4-FFF2-40B4-BE49-F238E27FC236}">
                <a16:creationId xmlns:a16="http://schemas.microsoft.com/office/drawing/2014/main" id="{9F1496A9-1AA6-8C00-6027-75BA16E87457}"/>
              </a:ext>
            </a:extLst>
          </p:cNvPr>
          <p:cNvSpPr/>
          <p:nvPr/>
        </p:nvSpPr>
        <p:spPr>
          <a:xfrm>
            <a:off x="240028" y="773977"/>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7" name="直線矢印コネクタ 16">
            <a:extLst>
              <a:ext uri="{FF2B5EF4-FFF2-40B4-BE49-F238E27FC236}">
                <a16:creationId xmlns:a16="http://schemas.microsoft.com/office/drawing/2014/main" id="{0B8C27AC-9240-5C32-389B-1F46C1A17D15}"/>
              </a:ext>
            </a:extLst>
          </p:cNvPr>
          <p:cNvCxnSpPr>
            <a:cxnSpLocks/>
          </p:cNvCxnSpPr>
          <p:nvPr/>
        </p:nvCxnSpPr>
        <p:spPr>
          <a:xfrm>
            <a:off x="323367" y="1003861"/>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8" name="テキスト ボックス 17">
            <a:extLst>
              <a:ext uri="{FF2B5EF4-FFF2-40B4-BE49-F238E27FC236}">
                <a16:creationId xmlns:a16="http://schemas.microsoft.com/office/drawing/2014/main" id="{9BA284C9-F4DC-DB06-4BAF-EC4EB7A246B5}"/>
              </a:ext>
            </a:extLst>
          </p:cNvPr>
          <p:cNvSpPr txBox="1"/>
          <p:nvPr/>
        </p:nvSpPr>
        <p:spPr>
          <a:xfrm>
            <a:off x="3972228" y="875991"/>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sym typeface="Meiryo"/>
              </a:rPr>
              <a:t>カスタマージャーニーマップ</a:t>
            </a:r>
            <a:endParaRPr lang="ja-JP" altLang="en-US" sz="1050" dirty="0">
              <a:latin typeface="メイリオ"/>
              <a:ea typeface="メイリオ"/>
              <a:cs typeface="メイリオ"/>
            </a:endParaRPr>
          </a:p>
        </p:txBody>
      </p:sp>
      <p:sp>
        <p:nvSpPr>
          <p:cNvPr id="20" name="テキスト ボックス 19">
            <a:extLst>
              <a:ext uri="{FF2B5EF4-FFF2-40B4-BE49-F238E27FC236}">
                <a16:creationId xmlns:a16="http://schemas.microsoft.com/office/drawing/2014/main" id="{5717FF50-BC66-88D1-6E63-63A2832D9840}"/>
              </a:ext>
            </a:extLst>
          </p:cNvPr>
          <p:cNvSpPr txBox="1"/>
          <p:nvPr/>
        </p:nvSpPr>
        <p:spPr>
          <a:xfrm>
            <a:off x="8588858" y="1385918"/>
            <a:ext cx="1339302" cy="261610"/>
          </a:xfrm>
          <a:prstGeom prst="rect">
            <a:avLst/>
          </a:prstGeom>
          <a:solidFill>
            <a:schemeClr val="tx1">
              <a:lumMod val="50000"/>
              <a:lumOff val="50000"/>
              <a:alpha val="30000"/>
            </a:schemeClr>
          </a:solidFill>
        </p:spPr>
        <p:txBody>
          <a:bodyPr wrap="square">
            <a:spAutoFit/>
          </a:bodyPr>
          <a:lstStyle/>
          <a:p>
            <a:pPr>
              <a:buNone/>
            </a:pPr>
            <a:r>
              <a:rPr lang="ja-JP" altLang="en-US" sz="1100" dirty="0">
                <a:latin typeface="メイリオ" panose="020B0604030504040204" pitchFamily="50" charset="-128"/>
                <a:ea typeface="メイリオ" panose="020B0604030504040204" pitchFamily="50" charset="-128"/>
                <a:cs typeface="メイリオ"/>
              </a:rPr>
              <a:t>⑧ 紹介</a:t>
            </a:r>
            <a:endParaRPr lang="en-US" altLang="ja-JP" sz="1100" dirty="0">
              <a:latin typeface="メイリオ" panose="020B0604030504040204" pitchFamily="50" charset="-128"/>
              <a:ea typeface="メイリオ" panose="020B0604030504040204" pitchFamily="50" charset="-128"/>
              <a:cs typeface="メイリオ"/>
            </a:endParaRPr>
          </a:p>
        </p:txBody>
      </p:sp>
      <p:sp>
        <p:nvSpPr>
          <p:cNvPr id="21" name="テキスト ボックス 20">
            <a:extLst>
              <a:ext uri="{FF2B5EF4-FFF2-40B4-BE49-F238E27FC236}">
                <a16:creationId xmlns:a16="http://schemas.microsoft.com/office/drawing/2014/main" id="{46D32A0E-F7DE-9D8C-2548-B53782ECD867}"/>
              </a:ext>
            </a:extLst>
          </p:cNvPr>
          <p:cNvSpPr txBox="1"/>
          <p:nvPr/>
        </p:nvSpPr>
        <p:spPr>
          <a:xfrm>
            <a:off x="240028" y="1385918"/>
            <a:ext cx="1063671" cy="261610"/>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① 接触</a:t>
            </a:r>
          </a:p>
        </p:txBody>
      </p:sp>
      <p:sp>
        <p:nvSpPr>
          <p:cNvPr id="22" name="テキスト ボックス 21">
            <a:extLst>
              <a:ext uri="{FF2B5EF4-FFF2-40B4-BE49-F238E27FC236}">
                <a16:creationId xmlns:a16="http://schemas.microsoft.com/office/drawing/2014/main" id="{38E909FA-CB5E-B051-BA39-70C6E514BC74}"/>
              </a:ext>
            </a:extLst>
          </p:cNvPr>
          <p:cNvSpPr txBox="1"/>
          <p:nvPr/>
        </p:nvSpPr>
        <p:spPr>
          <a:xfrm>
            <a:off x="1337716" y="1385918"/>
            <a:ext cx="1063671" cy="261610"/>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② </a:t>
            </a:r>
            <a:r>
              <a:rPr lang="ja-JP" altLang="en-US" sz="1100" dirty="0">
                <a:latin typeface="メイリオ" panose="020B0604030504040204" pitchFamily="50" charset="-128"/>
                <a:ea typeface="メイリオ" panose="020B0604030504040204" pitchFamily="50" charset="-128"/>
                <a:cs typeface="メイリオ"/>
              </a:rPr>
              <a:t>離脱</a:t>
            </a:r>
            <a:endParaRPr lang="ja-JP" altLang="ja-JP" sz="1100" dirty="0">
              <a:latin typeface="メイリオ" panose="020B0604030504040204" pitchFamily="50" charset="-128"/>
              <a:ea typeface="メイリオ" panose="020B0604030504040204" pitchFamily="50" charset="-128"/>
              <a:cs typeface="メイリオ"/>
            </a:endParaRPr>
          </a:p>
        </p:txBody>
      </p:sp>
      <p:sp>
        <p:nvSpPr>
          <p:cNvPr id="39" name="正方形/長方形 38">
            <a:extLst>
              <a:ext uri="{FF2B5EF4-FFF2-40B4-BE49-F238E27FC236}">
                <a16:creationId xmlns:a16="http://schemas.microsoft.com/office/drawing/2014/main" id="{0387F7F8-78A2-5984-62D7-5E0BC6139087}"/>
              </a:ext>
            </a:extLst>
          </p:cNvPr>
          <p:cNvSpPr/>
          <p:nvPr/>
        </p:nvSpPr>
        <p:spPr>
          <a:xfrm>
            <a:off x="1587355" y="2875302"/>
            <a:ext cx="697117" cy="75632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離</a:t>
            </a:r>
            <a:endParaRPr kumimoji="1"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脱</a:t>
            </a:r>
            <a:endParaRPr kumimoji="1"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防</a:t>
            </a:r>
            <a:endParaRPr kumimoji="1"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止</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41" name="正方形/長方形 40">
            <a:extLst>
              <a:ext uri="{FF2B5EF4-FFF2-40B4-BE49-F238E27FC236}">
                <a16:creationId xmlns:a16="http://schemas.microsoft.com/office/drawing/2014/main" id="{4EA0C91B-78C6-BBBB-2C69-9BB0F2452933}"/>
              </a:ext>
            </a:extLst>
          </p:cNvPr>
          <p:cNvSpPr/>
          <p:nvPr/>
        </p:nvSpPr>
        <p:spPr>
          <a:xfrm>
            <a:off x="2618680" y="3637979"/>
            <a:ext cx="697117" cy="30479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cs typeface="メイリオ"/>
              </a:rPr>
              <a:t>予約完了</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43" name="正方形/長方形 42">
            <a:extLst>
              <a:ext uri="{FF2B5EF4-FFF2-40B4-BE49-F238E27FC236}">
                <a16:creationId xmlns:a16="http://schemas.microsoft.com/office/drawing/2014/main" id="{16F18994-DA2E-D80B-5B66-954D59885119}"/>
              </a:ext>
            </a:extLst>
          </p:cNvPr>
          <p:cNvSpPr/>
          <p:nvPr/>
        </p:nvSpPr>
        <p:spPr>
          <a:xfrm>
            <a:off x="3554602" y="3544936"/>
            <a:ext cx="1020649" cy="490881"/>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tx1"/>
                </a:solidFill>
                <a:latin typeface="メイリオ" panose="020B0604030504040204" pitchFamily="50" charset="-128"/>
                <a:ea typeface="メイリオ" panose="020B0604030504040204" pitchFamily="50" charset="-128"/>
                <a:cs typeface="メイリオ"/>
              </a:rPr>
              <a:t>サンクス</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lang="en-US" altLang="ja-JP" sz="100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1000" b="1" dirty="0">
                <a:solidFill>
                  <a:schemeClr val="tx1"/>
                </a:solidFill>
                <a:latin typeface="メイリオ" panose="020B0604030504040204" pitchFamily="50" charset="-128"/>
                <a:ea typeface="メイリオ" panose="020B0604030504040204" pitchFamily="50" charset="-128"/>
                <a:cs typeface="メイリオ"/>
              </a:rPr>
              <a:t>誘導</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44" name="直線矢印コネクタ 43">
            <a:extLst>
              <a:ext uri="{FF2B5EF4-FFF2-40B4-BE49-F238E27FC236}">
                <a16:creationId xmlns:a16="http://schemas.microsoft.com/office/drawing/2014/main" id="{EB54D42B-999A-C988-8087-353D7313BC5D}"/>
              </a:ext>
            </a:extLst>
          </p:cNvPr>
          <p:cNvCxnSpPr>
            <a:cxnSpLocks/>
          </p:cNvCxnSpPr>
          <p:nvPr/>
        </p:nvCxnSpPr>
        <p:spPr>
          <a:xfrm>
            <a:off x="3332019" y="3790376"/>
            <a:ext cx="198486" cy="0"/>
          </a:xfrm>
          <a:prstGeom prst="straightConnector1">
            <a:avLst/>
          </a:prstGeom>
          <a:ln w="22225">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48" name="正方形/長方形 47">
            <a:extLst>
              <a:ext uri="{FF2B5EF4-FFF2-40B4-BE49-F238E27FC236}">
                <a16:creationId xmlns:a16="http://schemas.microsoft.com/office/drawing/2014/main" id="{98DC54E6-D786-24C4-0A98-CF27487E94A5}"/>
              </a:ext>
            </a:extLst>
          </p:cNvPr>
          <p:cNvSpPr/>
          <p:nvPr/>
        </p:nvSpPr>
        <p:spPr>
          <a:xfrm>
            <a:off x="2628833" y="4890712"/>
            <a:ext cx="843512" cy="490881"/>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tx1"/>
                </a:solidFill>
                <a:latin typeface="メイリオ" panose="020B0604030504040204" pitchFamily="50" charset="-128"/>
                <a:ea typeface="メイリオ" panose="020B0604030504040204" pitchFamily="50" charset="-128"/>
                <a:cs typeface="メイリオ"/>
              </a:rPr>
              <a:t>友だち</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1000" b="1" dirty="0">
                <a:solidFill>
                  <a:schemeClr val="tx1"/>
                </a:solidFill>
                <a:latin typeface="メイリオ" panose="020B0604030504040204" pitchFamily="50" charset="-128"/>
                <a:ea typeface="メイリオ" panose="020B0604030504040204" pitchFamily="50" charset="-128"/>
                <a:cs typeface="メイリオ"/>
              </a:rPr>
              <a:t>追加誘導</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49" name="直線矢印コネクタ 48">
            <a:extLst>
              <a:ext uri="{FF2B5EF4-FFF2-40B4-BE49-F238E27FC236}">
                <a16:creationId xmlns:a16="http://schemas.microsoft.com/office/drawing/2014/main" id="{D6140142-DD1A-809C-DE27-D2CD7D992B51}"/>
              </a:ext>
            </a:extLst>
          </p:cNvPr>
          <p:cNvCxnSpPr>
            <a:cxnSpLocks/>
          </p:cNvCxnSpPr>
          <p:nvPr/>
        </p:nvCxnSpPr>
        <p:spPr>
          <a:xfrm>
            <a:off x="3572613" y="5136153"/>
            <a:ext cx="1974603" cy="1512"/>
          </a:xfrm>
          <a:prstGeom prst="straightConnector1">
            <a:avLst/>
          </a:prstGeom>
          <a:ln w="57150">
            <a:solidFill>
              <a:srgbClr val="04FA0A"/>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56" name="左中かっこ 55">
            <a:extLst>
              <a:ext uri="{FF2B5EF4-FFF2-40B4-BE49-F238E27FC236}">
                <a16:creationId xmlns:a16="http://schemas.microsoft.com/office/drawing/2014/main" id="{9F7871CB-0948-ED66-262E-E4668DAEA788}"/>
              </a:ext>
            </a:extLst>
          </p:cNvPr>
          <p:cNvSpPr/>
          <p:nvPr/>
        </p:nvSpPr>
        <p:spPr>
          <a:xfrm>
            <a:off x="3306385" y="5445071"/>
            <a:ext cx="165959" cy="752529"/>
          </a:xfrm>
          <a:prstGeom prst="leftBrace">
            <a:avLst>
              <a:gd name="adj1" fmla="val 8333"/>
              <a:gd name="adj2" fmla="val 10247"/>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solidFill>
                <a:schemeClr val="tx1">
                  <a:lumMod val="65000"/>
                  <a:lumOff val="35000"/>
                </a:schemeClr>
              </a:solidFill>
              <a:latin typeface="メイリオ"/>
              <a:ea typeface="メイリオ"/>
              <a:cs typeface="メイリオ"/>
            </a:endParaRPr>
          </a:p>
        </p:txBody>
      </p:sp>
      <p:sp>
        <p:nvSpPr>
          <p:cNvPr id="58" name="テキスト ボックス 57">
            <a:extLst>
              <a:ext uri="{FF2B5EF4-FFF2-40B4-BE49-F238E27FC236}">
                <a16:creationId xmlns:a16="http://schemas.microsoft.com/office/drawing/2014/main" id="{524DFC21-9336-5CCC-A46E-6B03A60F8CD8}"/>
              </a:ext>
            </a:extLst>
          </p:cNvPr>
          <p:cNvSpPr txBox="1"/>
          <p:nvPr/>
        </p:nvSpPr>
        <p:spPr>
          <a:xfrm>
            <a:off x="3472344" y="5451968"/>
            <a:ext cx="1307291" cy="553998"/>
          </a:xfrm>
          <a:prstGeom prst="rect">
            <a:avLst/>
          </a:prstGeom>
          <a:noFill/>
        </p:spPr>
        <p:txBody>
          <a:bodyPr wrap="square">
            <a:spAutoFit/>
          </a:bodyPr>
          <a:lstStyle/>
          <a:p>
            <a:r>
              <a:rPr lang="ja-JP" altLang="en-US" sz="1000" b="1" dirty="0">
                <a:solidFill>
                  <a:schemeClr val="tx1"/>
                </a:solidFill>
                <a:latin typeface="メイリオ" panose="020B0604030504040204" pitchFamily="50" charset="-128"/>
                <a:ea typeface="メイリオ" panose="020B0604030504040204" pitchFamily="50" charset="-128"/>
                <a:cs typeface="メイリオ"/>
              </a:rPr>
              <a:t>・見どころ動画</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r>
              <a:rPr lang="ja-JP" altLang="en-US" sz="1000" b="1" dirty="0">
                <a:latin typeface="メイリオ" panose="020B0604030504040204" pitchFamily="50" charset="-128"/>
                <a:ea typeface="メイリオ" panose="020B0604030504040204" pitchFamily="50" charset="-128"/>
                <a:cs typeface="メイリオ"/>
              </a:rPr>
              <a:t>・参加特典</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r>
              <a:rPr lang="ja-JP" altLang="en-US" sz="1000" b="1" dirty="0">
                <a:solidFill>
                  <a:schemeClr val="tx1"/>
                </a:solidFill>
                <a:latin typeface="メイリオ" panose="020B0604030504040204" pitchFamily="50" charset="-128"/>
                <a:ea typeface="メイリオ" panose="020B0604030504040204" pitchFamily="50" charset="-128"/>
                <a:cs typeface="メイリオ"/>
              </a:rPr>
              <a:t>・ステップ配信</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60" name="左中かっこ 59">
            <a:extLst>
              <a:ext uri="{FF2B5EF4-FFF2-40B4-BE49-F238E27FC236}">
                <a16:creationId xmlns:a16="http://schemas.microsoft.com/office/drawing/2014/main" id="{6D1FBEB7-0DA2-6BD0-D8E5-5287AABE463D}"/>
              </a:ext>
            </a:extLst>
          </p:cNvPr>
          <p:cNvSpPr/>
          <p:nvPr/>
        </p:nvSpPr>
        <p:spPr>
          <a:xfrm>
            <a:off x="4341554" y="4064872"/>
            <a:ext cx="165959" cy="681427"/>
          </a:xfrm>
          <a:prstGeom prst="leftBrace">
            <a:avLst>
              <a:gd name="adj1" fmla="val 8333"/>
              <a:gd name="adj2" fmla="val 10247"/>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solidFill>
                <a:schemeClr val="tx1">
                  <a:lumMod val="65000"/>
                  <a:lumOff val="35000"/>
                </a:schemeClr>
              </a:solidFill>
              <a:latin typeface="メイリオ"/>
              <a:ea typeface="メイリオ"/>
              <a:cs typeface="メイリオ"/>
            </a:endParaRPr>
          </a:p>
        </p:txBody>
      </p:sp>
      <p:sp>
        <p:nvSpPr>
          <p:cNvPr id="62" name="テキスト ボックス 61">
            <a:extLst>
              <a:ext uri="{FF2B5EF4-FFF2-40B4-BE49-F238E27FC236}">
                <a16:creationId xmlns:a16="http://schemas.microsoft.com/office/drawing/2014/main" id="{23E526DD-37E7-611C-2660-347E6E25E45B}"/>
              </a:ext>
            </a:extLst>
          </p:cNvPr>
          <p:cNvSpPr txBox="1"/>
          <p:nvPr/>
        </p:nvSpPr>
        <p:spPr>
          <a:xfrm>
            <a:off x="4507513" y="4071769"/>
            <a:ext cx="1307291" cy="246221"/>
          </a:xfrm>
          <a:prstGeom prst="rect">
            <a:avLst/>
          </a:prstGeom>
          <a:noFill/>
        </p:spPr>
        <p:txBody>
          <a:bodyPr wrap="square">
            <a:spAutoFit/>
          </a:bodyPr>
          <a:lstStyle/>
          <a:p>
            <a:r>
              <a:rPr lang="ja-JP" altLang="en-US" sz="1000" b="1" dirty="0">
                <a:solidFill>
                  <a:schemeClr val="tx1"/>
                </a:solidFill>
                <a:latin typeface="メイリオ" panose="020B0604030504040204" pitchFamily="50" charset="-128"/>
                <a:ea typeface="メイリオ" panose="020B0604030504040204" pitchFamily="50" charset="-128"/>
                <a:cs typeface="メイリオ"/>
              </a:rPr>
              <a:t>・前日のお知らせ</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65" name="直線矢印コネクタ 64">
            <a:extLst>
              <a:ext uri="{FF2B5EF4-FFF2-40B4-BE49-F238E27FC236}">
                <a16:creationId xmlns:a16="http://schemas.microsoft.com/office/drawing/2014/main" id="{92F8C127-A45A-8F56-9D6E-7D83C0CD059C}"/>
              </a:ext>
            </a:extLst>
          </p:cNvPr>
          <p:cNvCxnSpPr>
            <a:cxnSpLocks/>
          </p:cNvCxnSpPr>
          <p:nvPr/>
        </p:nvCxnSpPr>
        <p:spPr>
          <a:xfrm>
            <a:off x="4702245" y="3762641"/>
            <a:ext cx="761292" cy="1512"/>
          </a:xfrm>
          <a:prstGeom prst="straightConnector1">
            <a:avLst/>
          </a:prstGeom>
          <a:ln w="57150">
            <a:solidFill>
              <a:srgbClr val="04FA0A"/>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78" name="直線矢印コネクタ 77">
            <a:extLst>
              <a:ext uri="{FF2B5EF4-FFF2-40B4-BE49-F238E27FC236}">
                <a16:creationId xmlns:a16="http://schemas.microsoft.com/office/drawing/2014/main" id="{18BC9B61-1AB1-C280-3AB3-0A3065C47874}"/>
              </a:ext>
            </a:extLst>
          </p:cNvPr>
          <p:cNvCxnSpPr>
            <a:cxnSpLocks/>
          </p:cNvCxnSpPr>
          <p:nvPr/>
        </p:nvCxnSpPr>
        <p:spPr>
          <a:xfrm flipV="1">
            <a:off x="879791" y="2657573"/>
            <a:ext cx="4546592" cy="0"/>
          </a:xfrm>
          <a:prstGeom prst="straightConnector1">
            <a:avLst/>
          </a:prstGeom>
          <a:ln w="22225">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86" name="直線矢印コネクタ 85">
            <a:extLst>
              <a:ext uri="{FF2B5EF4-FFF2-40B4-BE49-F238E27FC236}">
                <a16:creationId xmlns:a16="http://schemas.microsoft.com/office/drawing/2014/main" id="{0C63AA03-27C4-0484-5A97-8C858F657C28}"/>
              </a:ext>
            </a:extLst>
          </p:cNvPr>
          <p:cNvCxnSpPr>
            <a:cxnSpLocks/>
          </p:cNvCxnSpPr>
          <p:nvPr/>
        </p:nvCxnSpPr>
        <p:spPr>
          <a:xfrm flipV="1">
            <a:off x="1120433" y="3147854"/>
            <a:ext cx="434566" cy="0"/>
          </a:xfrm>
          <a:prstGeom prst="straightConnector1">
            <a:avLst/>
          </a:prstGeom>
          <a:ln w="28575">
            <a:solidFill>
              <a:schemeClr val="bg1">
                <a:lumMod val="6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87" name="テキスト ボックス 86">
            <a:extLst>
              <a:ext uri="{FF2B5EF4-FFF2-40B4-BE49-F238E27FC236}">
                <a16:creationId xmlns:a16="http://schemas.microsoft.com/office/drawing/2014/main" id="{91706F5F-C2C9-CFA6-A6DA-6320D8935BA3}"/>
              </a:ext>
            </a:extLst>
          </p:cNvPr>
          <p:cNvSpPr txBox="1"/>
          <p:nvPr/>
        </p:nvSpPr>
        <p:spPr>
          <a:xfrm>
            <a:off x="968181" y="2932648"/>
            <a:ext cx="671035" cy="230832"/>
          </a:xfrm>
          <a:prstGeom prst="rect">
            <a:avLst/>
          </a:prstGeom>
          <a:noFill/>
        </p:spPr>
        <p:txBody>
          <a:bodyPr wrap="square">
            <a:spAutoFit/>
          </a:bodyPr>
          <a:lstStyle/>
          <a:p>
            <a:pPr algn="ctr"/>
            <a:r>
              <a:rPr kumimoji="1" lang="ja-JP" altLang="en-US" sz="900" dirty="0">
                <a:solidFill>
                  <a:srgbClr val="1F2A5C"/>
                </a:solidFill>
                <a:latin typeface="メイリオ" panose="020B0604030504040204" pitchFamily="50" charset="-128"/>
                <a:ea typeface="メイリオ" panose="020B0604030504040204" pitchFamily="50" charset="-128"/>
                <a:cs typeface="メイリオ"/>
              </a:rPr>
              <a:t>離脱</a:t>
            </a:r>
            <a:endParaRPr kumimoji="1" lang="en-US" altLang="ja-JP" sz="900" dirty="0">
              <a:solidFill>
                <a:srgbClr val="1F2A5C"/>
              </a:solidFill>
              <a:latin typeface="メイリオ" panose="020B0604030504040204" pitchFamily="50" charset="-128"/>
              <a:ea typeface="メイリオ" panose="020B0604030504040204" pitchFamily="50" charset="-128"/>
              <a:cs typeface="メイリオ"/>
            </a:endParaRPr>
          </a:p>
        </p:txBody>
      </p:sp>
      <p:cxnSp>
        <p:nvCxnSpPr>
          <p:cNvPr id="88" name="直線矢印コネクタ 87">
            <a:extLst>
              <a:ext uri="{FF2B5EF4-FFF2-40B4-BE49-F238E27FC236}">
                <a16:creationId xmlns:a16="http://schemas.microsoft.com/office/drawing/2014/main" id="{826F5558-E52E-4955-ECF0-22B6B8A29748}"/>
              </a:ext>
            </a:extLst>
          </p:cNvPr>
          <p:cNvCxnSpPr>
            <a:cxnSpLocks/>
          </p:cNvCxnSpPr>
          <p:nvPr/>
        </p:nvCxnSpPr>
        <p:spPr>
          <a:xfrm flipV="1">
            <a:off x="2290047" y="3020133"/>
            <a:ext cx="434566" cy="0"/>
          </a:xfrm>
          <a:prstGeom prst="straightConnector1">
            <a:avLst/>
          </a:prstGeom>
          <a:ln w="28575">
            <a:solidFill>
              <a:schemeClr val="bg1">
                <a:lumMod val="6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89" name="テキスト ボックス 88">
            <a:extLst>
              <a:ext uri="{FF2B5EF4-FFF2-40B4-BE49-F238E27FC236}">
                <a16:creationId xmlns:a16="http://schemas.microsoft.com/office/drawing/2014/main" id="{C87D3212-5CA7-479B-A73E-22643A6E1B0C}"/>
              </a:ext>
            </a:extLst>
          </p:cNvPr>
          <p:cNvSpPr txBox="1"/>
          <p:nvPr/>
        </p:nvSpPr>
        <p:spPr>
          <a:xfrm>
            <a:off x="2137795" y="2804927"/>
            <a:ext cx="671035" cy="230832"/>
          </a:xfrm>
          <a:prstGeom prst="rect">
            <a:avLst/>
          </a:prstGeom>
          <a:noFill/>
        </p:spPr>
        <p:txBody>
          <a:bodyPr wrap="square">
            <a:spAutoFit/>
          </a:bodyPr>
          <a:lstStyle/>
          <a:p>
            <a:pPr algn="ctr"/>
            <a:r>
              <a:rPr kumimoji="1" lang="ja-JP" altLang="en-US" sz="900" dirty="0">
                <a:solidFill>
                  <a:srgbClr val="1F2A5C"/>
                </a:solidFill>
                <a:latin typeface="メイリオ" panose="020B0604030504040204" pitchFamily="50" charset="-128"/>
                <a:ea typeface="メイリオ" panose="020B0604030504040204" pitchFamily="50" charset="-128"/>
                <a:cs typeface="メイリオ"/>
              </a:rPr>
              <a:t>離脱</a:t>
            </a:r>
            <a:endParaRPr kumimoji="1" lang="en-US" altLang="ja-JP" sz="900" dirty="0">
              <a:solidFill>
                <a:srgbClr val="1F2A5C"/>
              </a:solidFill>
              <a:latin typeface="メイリオ" panose="020B0604030504040204" pitchFamily="50" charset="-128"/>
              <a:ea typeface="メイリオ" panose="020B0604030504040204" pitchFamily="50" charset="-128"/>
              <a:cs typeface="メイリオ"/>
            </a:endParaRPr>
          </a:p>
        </p:txBody>
      </p:sp>
      <p:cxnSp>
        <p:nvCxnSpPr>
          <p:cNvPr id="91" name="コネクタ: カギ線 90">
            <a:extLst>
              <a:ext uri="{FF2B5EF4-FFF2-40B4-BE49-F238E27FC236}">
                <a16:creationId xmlns:a16="http://schemas.microsoft.com/office/drawing/2014/main" id="{E092BAF5-1123-4B1D-F3A5-6BB3C08065DE}"/>
              </a:ext>
            </a:extLst>
          </p:cNvPr>
          <p:cNvCxnSpPr>
            <a:stCxn id="39" idx="3"/>
            <a:endCxn id="41" idx="1"/>
          </p:cNvCxnSpPr>
          <p:nvPr/>
        </p:nvCxnSpPr>
        <p:spPr>
          <a:xfrm>
            <a:off x="2284472" y="3253466"/>
            <a:ext cx="334208" cy="536912"/>
          </a:xfrm>
          <a:prstGeom prst="bentConnector3">
            <a:avLst/>
          </a:prstGeom>
          <a:ln w="1905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5" name="コネクタ: カギ線 94">
            <a:extLst>
              <a:ext uri="{FF2B5EF4-FFF2-40B4-BE49-F238E27FC236}">
                <a16:creationId xmlns:a16="http://schemas.microsoft.com/office/drawing/2014/main" id="{368BF7F4-176E-2B84-4610-9F916AC5F605}"/>
              </a:ext>
            </a:extLst>
          </p:cNvPr>
          <p:cNvCxnSpPr>
            <a:cxnSpLocks/>
            <a:stCxn id="39" idx="3"/>
            <a:endCxn id="48" idx="1"/>
          </p:cNvCxnSpPr>
          <p:nvPr/>
        </p:nvCxnSpPr>
        <p:spPr>
          <a:xfrm>
            <a:off x="2284472" y="3253466"/>
            <a:ext cx="344361" cy="1882687"/>
          </a:xfrm>
          <a:prstGeom prst="bentConnector3">
            <a:avLst>
              <a:gd name="adj1" fmla="val 50000"/>
            </a:avLst>
          </a:prstGeom>
          <a:ln w="1905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8" name="直線矢印コネクタ 97">
            <a:extLst>
              <a:ext uri="{FF2B5EF4-FFF2-40B4-BE49-F238E27FC236}">
                <a16:creationId xmlns:a16="http://schemas.microsoft.com/office/drawing/2014/main" id="{81E1473F-6265-659C-CC0B-C6FE85BCA3EC}"/>
              </a:ext>
            </a:extLst>
          </p:cNvPr>
          <p:cNvCxnSpPr>
            <a:cxnSpLocks/>
          </p:cNvCxnSpPr>
          <p:nvPr/>
        </p:nvCxnSpPr>
        <p:spPr>
          <a:xfrm>
            <a:off x="1018332" y="2261854"/>
            <a:ext cx="6368884" cy="0"/>
          </a:xfrm>
          <a:prstGeom prst="straightConnector1">
            <a:avLst/>
          </a:prstGeom>
          <a:ln w="22225">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99" name="正方形/長方形 98">
            <a:extLst>
              <a:ext uri="{FF2B5EF4-FFF2-40B4-BE49-F238E27FC236}">
                <a16:creationId xmlns:a16="http://schemas.microsoft.com/office/drawing/2014/main" id="{71342B33-5F5E-5ACC-6866-024BDB2FCF99}"/>
              </a:ext>
            </a:extLst>
          </p:cNvPr>
          <p:cNvSpPr/>
          <p:nvPr/>
        </p:nvSpPr>
        <p:spPr>
          <a:xfrm>
            <a:off x="2618679" y="2095601"/>
            <a:ext cx="697117" cy="30479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cs typeface="メイリオ"/>
              </a:rPr>
              <a:t>予約完了</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01" name="正方形/長方形 100">
            <a:extLst>
              <a:ext uri="{FF2B5EF4-FFF2-40B4-BE49-F238E27FC236}">
                <a16:creationId xmlns:a16="http://schemas.microsoft.com/office/drawing/2014/main" id="{47073071-D09C-A372-757E-07EDFC1B4691}"/>
              </a:ext>
            </a:extLst>
          </p:cNvPr>
          <p:cNvSpPr/>
          <p:nvPr/>
        </p:nvSpPr>
        <p:spPr>
          <a:xfrm>
            <a:off x="7490414" y="2123310"/>
            <a:ext cx="843512" cy="277088"/>
          </a:xfrm>
          <a:prstGeom prst="rect">
            <a:avLst/>
          </a:prstGeom>
          <a:solidFill>
            <a:srgbClr val="1F2A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bg1"/>
                </a:solidFill>
                <a:latin typeface="メイリオ" panose="020B0604030504040204" pitchFamily="50" charset="-128"/>
                <a:ea typeface="メイリオ" panose="020B0604030504040204" pitchFamily="50" charset="-128"/>
                <a:cs typeface="メイリオ"/>
              </a:rPr>
              <a:t>サロン入会</a:t>
            </a:r>
            <a:endParaRPr lang="en-US" altLang="ja-JP" sz="10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3" name="正方形/長方形 102">
            <a:extLst>
              <a:ext uri="{FF2B5EF4-FFF2-40B4-BE49-F238E27FC236}">
                <a16:creationId xmlns:a16="http://schemas.microsoft.com/office/drawing/2014/main" id="{362FF045-6EC3-A2C7-23A8-F82F6C32CA62}"/>
              </a:ext>
            </a:extLst>
          </p:cNvPr>
          <p:cNvSpPr/>
          <p:nvPr/>
        </p:nvSpPr>
        <p:spPr>
          <a:xfrm>
            <a:off x="5151597" y="2099217"/>
            <a:ext cx="843512" cy="304064"/>
          </a:xfrm>
          <a:prstGeom prst="rect">
            <a:avLst/>
          </a:prstGeom>
          <a:solidFill>
            <a:srgbClr val="1F2A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bg1"/>
                </a:solidFill>
                <a:latin typeface="メイリオ" panose="020B0604030504040204" pitchFamily="50" charset="-128"/>
                <a:ea typeface="メイリオ" panose="020B0604030504040204" pitchFamily="50" charset="-128"/>
                <a:cs typeface="メイリオ"/>
              </a:rPr>
              <a:t>参加</a:t>
            </a:r>
            <a:endParaRPr lang="en-US" altLang="ja-JP" sz="1000" b="1" dirty="0">
              <a:solidFill>
                <a:schemeClr val="bg1"/>
              </a:solidFill>
              <a:latin typeface="メイリオ" panose="020B0604030504040204" pitchFamily="50" charset="-128"/>
              <a:ea typeface="メイリオ" panose="020B0604030504040204" pitchFamily="50" charset="-128"/>
              <a:cs typeface="メイリオ"/>
            </a:endParaRPr>
          </a:p>
        </p:txBody>
      </p:sp>
      <p:cxnSp>
        <p:nvCxnSpPr>
          <p:cNvPr id="104" name="直線矢印コネクタ 103">
            <a:extLst>
              <a:ext uri="{FF2B5EF4-FFF2-40B4-BE49-F238E27FC236}">
                <a16:creationId xmlns:a16="http://schemas.microsoft.com/office/drawing/2014/main" id="{B2BEB3B0-AB21-E350-31D0-2459E72A227A}"/>
              </a:ext>
            </a:extLst>
          </p:cNvPr>
          <p:cNvCxnSpPr>
            <a:cxnSpLocks/>
          </p:cNvCxnSpPr>
          <p:nvPr/>
        </p:nvCxnSpPr>
        <p:spPr>
          <a:xfrm rot="16200000">
            <a:off x="4316154" y="3825356"/>
            <a:ext cx="2628196" cy="2483"/>
          </a:xfrm>
          <a:prstGeom prst="straightConnector1">
            <a:avLst/>
          </a:prstGeom>
          <a:ln w="57150">
            <a:solidFill>
              <a:srgbClr val="1F2A5C"/>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106" name="正方形/長方形 105">
            <a:extLst>
              <a:ext uri="{FF2B5EF4-FFF2-40B4-BE49-F238E27FC236}">
                <a16:creationId xmlns:a16="http://schemas.microsoft.com/office/drawing/2014/main" id="{294E5883-9E5C-CC39-B584-0348ED134790}"/>
              </a:ext>
            </a:extLst>
          </p:cNvPr>
          <p:cNvSpPr/>
          <p:nvPr/>
        </p:nvSpPr>
        <p:spPr>
          <a:xfrm>
            <a:off x="425513" y="1810959"/>
            <a:ext cx="697117" cy="4644153"/>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cs typeface="メイリオ"/>
              </a:rPr>
              <a:t>AD</a:t>
            </a:r>
          </a:p>
          <a:p>
            <a:pPr algn="ct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p>
          <a:p>
            <a:pPr algn="ct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p>
          <a:p>
            <a:pPr algn="ct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08" name="正方形/長方形 107">
            <a:extLst>
              <a:ext uri="{FF2B5EF4-FFF2-40B4-BE49-F238E27FC236}">
                <a16:creationId xmlns:a16="http://schemas.microsoft.com/office/drawing/2014/main" id="{BF61B903-1FDC-8BAE-D2B9-3470F4804967}"/>
              </a:ext>
            </a:extLst>
          </p:cNvPr>
          <p:cNvSpPr/>
          <p:nvPr/>
        </p:nvSpPr>
        <p:spPr>
          <a:xfrm>
            <a:off x="5088255" y="5754882"/>
            <a:ext cx="1135687" cy="490881"/>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lgn="ctr">
              <a:buFontTx/>
              <a:buChar char="-"/>
            </a:pPr>
            <a:r>
              <a:rPr lang="ja-JP" altLang="en-US" sz="1000" b="1" dirty="0">
                <a:solidFill>
                  <a:schemeClr val="tx1"/>
                </a:solidFill>
                <a:latin typeface="メイリオ" panose="020B0604030504040204" pitchFamily="50" charset="-128"/>
                <a:ea typeface="メイリオ" panose="020B0604030504040204" pitchFamily="50" charset="-128"/>
                <a:cs typeface="メイリオ"/>
              </a:rPr>
              <a:t>平常期の配信</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2" name="直線矢印コネクタ 1">
            <a:extLst>
              <a:ext uri="{FF2B5EF4-FFF2-40B4-BE49-F238E27FC236}">
                <a16:creationId xmlns:a16="http://schemas.microsoft.com/office/drawing/2014/main" id="{BE373B3A-392A-272B-09F4-3EDF2F42A980}"/>
              </a:ext>
            </a:extLst>
          </p:cNvPr>
          <p:cNvCxnSpPr>
            <a:cxnSpLocks/>
          </p:cNvCxnSpPr>
          <p:nvPr/>
        </p:nvCxnSpPr>
        <p:spPr>
          <a:xfrm flipV="1">
            <a:off x="5137316" y="5576055"/>
            <a:ext cx="434566" cy="0"/>
          </a:xfrm>
          <a:prstGeom prst="straightConnector1">
            <a:avLst/>
          </a:prstGeom>
          <a:ln w="28575">
            <a:solidFill>
              <a:schemeClr val="bg1">
                <a:lumMod val="6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7" name="テキスト ボックス 6">
            <a:extLst>
              <a:ext uri="{FF2B5EF4-FFF2-40B4-BE49-F238E27FC236}">
                <a16:creationId xmlns:a16="http://schemas.microsoft.com/office/drawing/2014/main" id="{DB9BD1D1-C76F-12F8-B85E-165B4A6C8BFD}"/>
              </a:ext>
            </a:extLst>
          </p:cNvPr>
          <p:cNvSpPr txBox="1"/>
          <p:nvPr/>
        </p:nvSpPr>
        <p:spPr>
          <a:xfrm>
            <a:off x="4985064" y="5360849"/>
            <a:ext cx="671035" cy="230832"/>
          </a:xfrm>
          <a:prstGeom prst="rect">
            <a:avLst/>
          </a:prstGeom>
          <a:noFill/>
        </p:spPr>
        <p:txBody>
          <a:bodyPr wrap="square">
            <a:spAutoFit/>
          </a:bodyPr>
          <a:lstStyle/>
          <a:p>
            <a:pPr algn="ctr"/>
            <a:r>
              <a:rPr kumimoji="1" lang="ja-JP" altLang="en-US" sz="900" dirty="0">
                <a:solidFill>
                  <a:srgbClr val="1F2A5C"/>
                </a:solidFill>
                <a:latin typeface="メイリオ" panose="020B0604030504040204" pitchFamily="50" charset="-128"/>
                <a:ea typeface="メイリオ" panose="020B0604030504040204" pitchFamily="50" charset="-128"/>
                <a:cs typeface="メイリオ"/>
              </a:rPr>
              <a:t>離脱</a:t>
            </a:r>
            <a:endParaRPr kumimoji="1" lang="en-US" altLang="ja-JP" sz="9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0" name="正方形/長方形 9">
            <a:extLst>
              <a:ext uri="{FF2B5EF4-FFF2-40B4-BE49-F238E27FC236}">
                <a16:creationId xmlns:a16="http://schemas.microsoft.com/office/drawing/2014/main" id="{452A1327-261D-FFA5-8AB0-FBC92A2407B8}"/>
              </a:ext>
            </a:extLst>
          </p:cNvPr>
          <p:cNvSpPr/>
          <p:nvPr/>
        </p:nvSpPr>
        <p:spPr>
          <a:xfrm>
            <a:off x="5995109" y="2633366"/>
            <a:ext cx="3273814" cy="14024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●イベント直後に、サロンの</a:t>
            </a: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申込みフォームを案内</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（申込みはいつでも可能）</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r>
              <a:rPr lang="en-US" altLang="ja-JP" sz="1000" dirty="0">
                <a:solidFill>
                  <a:srgbClr val="1F2A5C"/>
                </a:solidFill>
                <a:latin typeface="メイリオ" panose="020B0604030504040204" pitchFamily="50" charset="-128"/>
                <a:ea typeface="メイリオ" panose="020B0604030504040204" pitchFamily="50" charset="-128"/>
                <a:cs typeface="メイリオ"/>
              </a:rPr>
              <a:t>※</a:t>
            </a:r>
            <a:r>
              <a:rPr lang="en-US" altLang="ja-JP" sz="1000" dirty="0">
                <a:solidFill>
                  <a:srgbClr val="1F2A5C"/>
                </a:solidFill>
                <a:latin typeface="メイリオ" panose="020B0604030504040204" pitchFamily="50" charset="-128"/>
                <a:ea typeface="メイリオ" panose="020B0604030504040204" pitchFamily="50" charset="-128"/>
                <a:cs typeface="メイリオ"/>
              </a:rPr>
              <a:t>個別チャット対応は効率化のみで基本貴社対応</a:t>
            </a:r>
            <a:endParaRPr lang="en-US" altLang="ja-JP" sz="1000" dirty="0">
              <a:solidFill>
                <a:srgbClr val="1F2A5C"/>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39474872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A337D-17CA-E6E5-D505-2573F42DF1AE}"/>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764D8A5C-7B4A-390C-FB5B-FB3131C930AD}"/>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EEFB8B0A-6EC5-1DE8-1B6D-A4065AE6AEA0}"/>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414EC833-F0FA-AEDA-4F48-B979DDE04109}"/>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想定の費用対効果（詳細）</a:t>
            </a:r>
            <a:endParaRPr sz="1600" b="1" dirty="0">
              <a:solidFill>
                <a:srgbClr val="002060"/>
              </a:solidFill>
              <a:latin typeface="メイリオ"/>
              <a:ea typeface="メイリオ"/>
              <a:cs typeface="メイリオ"/>
              <a:sym typeface="Meiryo"/>
            </a:endParaRPr>
          </a:p>
        </p:txBody>
      </p:sp>
      <p:sp>
        <p:nvSpPr>
          <p:cNvPr id="5" name="Heading">
            <a:extLst>
              <a:ext uri="{FF2B5EF4-FFF2-40B4-BE49-F238E27FC236}">
                <a16:creationId xmlns:a16="http://schemas.microsoft.com/office/drawing/2014/main" id="{C7E6A42B-1136-E29F-50E6-B072A610CB01}"/>
              </a:ext>
            </a:extLst>
          </p:cNvPr>
          <p:cNvSpPr txBox="1"/>
          <p:nvPr/>
        </p:nvSpPr>
        <p:spPr>
          <a:xfrm>
            <a:off x="381000" y="1181608"/>
            <a:ext cx="9144000" cy="279400"/>
          </a:xfrm>
          <a:prstGeom prst="rect">
            <a:avLst/>
          </a:prstGeom>
          <a:noFill/>
          <a:ln>
            <a:noFill/>
          </a:ln>
        </p:spPr>
        <p:txBody>
          <a:bodyPr wrap="square" lIns="101600" tIns="76200" rIns="101600" bIns="76200" anchor="t"/>
          <a:lstStyle/>
          <a:p>
            <a:pPr>
              <a:buClr>
                <a:srgbClr val="000000"/>
              </a:buClr>
              <a:buFont typeface="Arial"/>
              <a:buNone/>
            </a:pPr>
            <a:r>
              <a:rPr kumimoji="0" lang="ja-JP" altLang="en-US" sz="1400" b="1" kern="0" dirty="0">
                <a:solidFill>
                  <a:srgbClr val="1F2A5C"/>
                </a:solidFill>
                <a:latin typeface="メイリオ" panose="020B0604030504040204" pitchFamily="50" charset="-128"/>
                <a:ea typeface="メイリオ" panose="020B0604030504040204" pitchFamily="50" charset="-128"/>
                <a:cs typeface="メイリオ"/>
                <a:sym typeface="Arial"/>
              </a:rPr>
              <a:t>トラック分岐の設計思想</a:t>
            </a:r>
          </a:p>
        </p:txBody>
      </p:sp>
      <p:sp>
        <p:nvSpPr>
          <p:cNvPr id="6" name="LeftHeader">
            <a:extLst>
              <a:ext uri="{FF2B5EF4-FFF2-40B4-BE49-F238E27FC236}">
                <a16:creationId xmlns:a16="http://schemas.microsoft.com/office/drawing/2014/main" id="{88B8ADE6-2320-90DE-4B5D-0E825050A440}"/>
              </a:ext>
            </a:extLst>
          </p:cNvPr>
          <p:cNvSpPr txBox="1"/>
          <p:nvPr/>
        </p:nvSpPr>
        <p:spPr>
          <a:xfrm>
            <a:off x="381000" y="1562607"/>
            <a:ext cx="4445000" cy="380999"/>
          </a:xfrm>
          <a:prstGeom prst="rect">
            <a:avLst/>
          </a:prstGeom>
          <a:solidFill>
            <a:srgbClr val="1F2A5C"/>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メイリオ"/>
                <a:sym typeface="Arial"/>
              </a:rPr>
              <a:t>イベント期の層（予約した方）</a:t>
            </a:r>
          </a:p>
        </p:txBody>
      </p:sp>
      <p:sp>
        <p:nvSpPr>
          <p:cNvPr id="7" name="LeftBody">
            <a:extLst>
              <a:ext uri="{FF2B5EF4-FFF2-40B4-BE49-F238E27FC236}">
                <a16:creationId xmlns:a16="http://schemas.microsoft.com/office/drawing/2014/main" id="{04B17781-2CE9-1794-B996-D203F2127177}"/>
              </a:ext>
            </a:extLst>
          </p:cNvPr>
          <p:cNvSpPr txBox="1"/>
          <p:nvPr/>
        </p:nvSpPr>
        <p:spPr>
          <a:xfrm>
            <a:off x="381000" y="1943607"/>
            <a:ext cx="4445000" cy="2423763"/>
          </a:xfrm>
          <a:prstGeom prst="rect">
            <a:avLst/>
          </a:prstGeom>
          <a:solidFill>
            <a:srgbClr val="F5F7FA"/>
          </a:solidFill>
          <a:ln w="6350">
            <a:solidFill>
              <a:srgbClr val="D1D8E0"/>
            </a:solidFill>
          </a:ln>
        </p:spPr>
        <p:txBody>
          <a:bodyPr wrap="square" lIns="177800" tIns="152400" rIns="177800" bIns="1524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特徴</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セミナーを予約済み・参加の意思がある</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当日までに日が空く</a:t>
            </a:r>
          </a:p>
          <a:p>
            <a:pPr>
              <a:spcBef>
                <a:spcPts val="600"/>
              </a:spcBef>
              <a:buClr>
                <a:srgbClr val="000000"/>
              </a:buClr>
              <a:buFont typeface="Arial"/>
              <a:buNone/>
            </a:pPr>
            <a:endParaRPr kumimoji="0" lang="en-US" altLang="ja-JP" sz="1200" b="1" kern="0" dirty="0">
              <a:solidFill>
                <a:srgbClr val="1F2A5C"/>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日程ごとの前日・当日のお知らせで、当日の参加につなげられる</a:t>
            </a:r>
          </a:p>
          <a:p>
            <a:pPr>
              <a:spcBef>
                <a:spcPts val="600"/>
              </a:spcBef>
              <a:buClr>
                <a:srgbClr val="000000"/>
              </a:buClr>
              <a:buFont typeface="Arial"/>
              <a:buNone/>
            </a:pPr>
            <a:endParaRPr kumimoji="0" lang="en-US" altLang="ja-JP" sz="1200" b="1" kern="0" dirty="0">
              <a:solidFill>
                <a:srgbClr val="1F2A5C"/>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デメリット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当日に参加しないと、そのまま離れやすい</a:t>
            </a:r>
          </a:p>
        </p:txBody>
      </p:sp>
      <p:sp>
        <p:nvSpPr>
          <p:cNvPr id="9" name="RightHeader">
            <a:extLst>
              <a:ext uri="{FF2B5EF4-FFF2-40B4-BE49-F238E27FC236}">
                <a16:creationId xmlns:a16="http://schemas.microsoft.com/office/drawing/2014/main" id="{83D7B48F-F108-1D28-80D9-9B07405A3AF3}"/>
              </a:ext>
            </a:extLst>
          </p:cNvPr>
          <p:cNvSpPr txBox="1"/>
          <p:nvPr/>
        </p:nvSpPr>
        <p:spPr>
          <a:xfrm>
            <a:off x="5080000" y="1562607"/>
            <a:ext cx="4445000" cy="380999"/>
          </a:xfrm>
          <a:prstGeom prst="rect">
            <a:avLst/>
          </a:prstGeom>
          <a:solidFill>
            <a:srgbClr val="1F2A5C"/>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メイリオ"/>
                <a:sym typeface="Arial"/>
              </a:rPr>
              <a:t>平常期の層（予約していない方）</a:t>
            </a:r>
          </a:p>
        </p:txBody>
      </p:sp>
      <p:sp>
        <p:nvSpPr>
          <p:cNvPr id="11" name="RightBody">
            <a:extLst>
              <a:ext uri="{FF2B5EF4-FFF2-40B4-BE49-F238E27FC236}">
                <a16:creationId xmlns:a16="http://schemas.microsoft.com/office/drawing/2014/main" id="{854968D2-9B97-28FB-49F7-CCBD26E2F10D}"/>
              </a:ext>
            </a:extLst>
          </p:cNvPr>
          <p:cNvSpPr txBox="1"/>
          <p:nvPr/>
        </p:nvSpPr>
        <p:spPr>
          <a:xfrm>
            <a:off x="5080000" y="1943607"/>
            <a:ext cx="4445000" cy="2423763"/>
          </a:xfrm>
          <a:prstGeom prst="rect">
            <a:avLst/>
          </a:prstGeom>
          <a:solidFill>
            <a:srgbClr val="FFFFFF"/>
          </a:solidFill>
          <a:ln w="12700">
            <a:solidFill>
              <a:srgbClr val="1F2A5C"/>
            </a:solidFill>
          </a:ln>
        </p:spPr>
        <p:txBody>
          <a:bodyPr wrap="square" lIns="177800" tIns="152400" rIns="177800" bIns="1524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特徴</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LPを見たが、今回は申し込んでいない</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次のイベントまで間がある</a:t>
            </a:r>
          </a:p>
          <a:p>
            <a:pPr>
              <a:spcBef>
                <a:spcPts val="600"/>
              </a:spcBef>
              <a:buClr>
                <a:srgbClr val="000000"/>
              </a:buClr>
              <a:buFont typeface="Arial"/>
              <a:buNone/>
            </a:pPr>
            <a:endParaRPr kumimoji="0" lang="en-US" altLang="ja-JP" sz="1200" b="1" kern="0" dirty="0">
              <a:solidFill>
                <a:srgbClr val="1F2A5C"/>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平常期の配信で、次のイベントまでつながりを保てる</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次のイベントの案内を、広告より先に届けられる</a:t>
            </a:r>
          </a:p>
          <a:p>
            <a:pPr>
              <a:spcBef>
                <a:spcPts val="600"/>
              </a:spcBef>
              <a:buClr>
                <a:srgbClr val="000000"/>
              </a:buClr>
              <a:buFont typeface="Arial"/>
              <a:buNone/>
            </a:pPr>
            <a:endParaRPr kumimoji="0" lang="en-US" altLang="ja-JP" sz="1200" b="1" kern="0" dirty="0">
              <a:solidFill>
                <a:srgbClr val="1F2A5C"/>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デメリット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予約・入会まで時間がかかる</a:t>
            </a:r>
          </a:p>
        </p:txBody>
      </p:sp>
      <p:sp>
        <p:nvSpPr>
          <p:cNvPr id="13" name="Conclusion">
            <a:extLst>
              <a:ext uri="{FF2B5EF4-FFF2-40B4-BE49-F238E27FC236}">
                <a16:creationId xmlns:a16="http://schemas.microsoft.com/office/drawing/2014/main" id="{C13E0556-1137-A003-99B5-1CC8EE085C44}"/>
              </a:ext>
            </a:extLst>
          </p:cNvPr>
          <p:cNvSpPr txBox="1"/>
          <p:nvPr/>
        </p:nvSpPr>
        <p:spPr>
          <a:xfrm>
            <a:off x="381000" y="4554727"/>
            <a:ext cx="9144000" cy="812800"/>
          </a:xfrm>
          <a:prstGeom prst="rect">
            <a:avLst/>
          </a:prstGeom>
          <a:solidFill>
            <a:srgbClr val="F0F2F7"/>
          </a:solidFill>
          <a:ln>
            <a:noFill/>
          </a:ln>
        </p:spPr>
        <p:txBody>
          <a:bodyPr wrap="square" lIns="177800" tIns="127000" rIns="177800" bIns="1270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結論・推奨</a:t>
            </a:r>
          </a:p>
          <a:p>
            <a:pPr>
              <a:spcBef>
                <a:spcPts val="200"/>
              </a:spcBef>
              <a:buClr>
                <a:srgbClr val="000000"/>
              </a:buClr>
              <a:buFont typeface="Arial"/>
              <a:buNone/>
            </a:pPr>
            <a:r>
              <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rPr>
              <a:t>友だちの入口（ポップアップツール／サンクスLINE誘導）で自動で分け、予約した方は当日の参加へ、</a:t>
            </a:r>
            <a:endPar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endParaRPr>
          </a:p>
          <a:p>
            <a:pPr>
              <a:spcBef>
                <a:spcPts val="200"/>
              </a:spcBef>
              <a:buClr>
                <a:srgbClr val="000000"/>
              </a:buClr>
              <a:buFont typeface="Arial"/>
              <a:buNone/>
            </a:pPr>
            <a:r>
              <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rPr>
              <a:t>予約していない方は平常期の配信で次のイベントへつなげる。</a:t>
            </a:r>
            <a:endPar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endParaRPr>
          </a:p>
        </p:txBody>
      </p:sp>
    </p:spTree>
    <p:extLst>
      <p:ext uri="{BB962C8B-B14F-4D97-AF65-F5344CB8AC3E}">
        <p14:creationId xmlns:p14="http://schemas.microsoft.com/office/powerpoint/2010/main" val="3203648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914F9B-288C-F1D2-7B0B-67E191377D02}"/>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FF87629C-3642-C49D-F0B1-C713D8B98B2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BF1FF577-F7FC-8D65-AD79-624C8A98E39D}"/>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E6E21DDA-5638-FE3D-5AC9-43FF46984EB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想定の費用対効果（詳細）</a:t>
            </a:r>
            <a:endParaRPr sz="1600" b="1" dirty="0">
              <a:solidFill>
                <a:srgbClr val="002060"/>
              </a:solidFill>
              <a:latin typeface="メイリオ"/>
              <a:ea typeface="メイリオ"/>
              <a:cs typeface="メイリオ"/>
              <a:sym typeface="Meiryo"/>
            </a:endParaRPr>
          </a:p>
        </p:txBody>
      </p:sp>
      <p:sp>
        <p:nvSpPr>
          <p:cNvPr id="5" name="Heading">
            <a:extLst>
              <a:ext uri="{FF2B5EF4-FFF2-40B4-BE49-F238E27FC236}">
                <a16:creationId xmlns:a16="http://schemas.microsoft.com/office/drawing/2014/main" id="{CC2D2B1E-CBEB-3614-77A0-5702C0FFED68}"/>
              </a:ext>
            </a:extLst>
          </p:cNvPr>
          <p:cNvSpPr txBox="1"/>
          <p:nvPr/>
        </p:nvSpPr>
        <p:spPr>
          <a:xfrm>
            <a:off x="381000" y="1181608"/>
            <a:ext cx="9144000" cy="279400"/>
          </a:xfrm>
          <a:prstGeom prst="rect">
            <a:avLst/>
          </a:prstGeom>
          <a:noFill/>
          <a:ln>
            <a:noFill/>
          </a:ln>
        </p:spPr>
        <p:txBody>
          <a:bodyPr wrap="square" lIns="101600" tIns="76200" rIns="101600" bIns="76200" anchor="t"/>
          <a:lstStyle/>
          <a:p>
            <a:pPr>
              <a:buClr>
                <a:srgbClr val="000000"/>
              </a:buClr>
              <a:buFont typeface="Arial"/>
              <a:buNone/>
            </a:pPr>
            <a:r>
              <a:rPr kumimoji="0" lang="ja-JP" altLang="en-US" sz="1400" b="1" kern="0" dirty="0">
                <a:solidFill>
                  <a:srgbClr val="1F2A5C"/>
                </a:solidFill>
                <a:latin typeface="メイリオ" panose="020B0604030504040204" pitchFamily="50" charset="-128"/>
                <a:ea typeface="メイリオ" panose="020B0604030504040204" pitchFamily="50" charset="-128"/>
                <a:cs typeface="メイリオ"/>
                <a:sym typeface="Arial"/>
              </a:rPr>
              <a:t>トラック分岐の設計思想</a:t>
            </a:r>
          </a:p>
        </p:txBody>
      </p:sp>
      <p:sp>
        <p:nvSpPr>
          <p:cNvPr id="6" name="LeftHeader">
            <a:extLst>
              <a:ext uri="{FF2B5EF4-FFF2-40B4-BE49-F238E27FC236}">
                <a16:creationId xmlns:a16="http://schemas.microsoft.com/office/drawing/2014/main" id="{8B06F5F7-D7C2-4206-459C-6FDD885B9F2C}"/>
              </a:ext>
            </a:extLst>
          </p:cNvPr>
          <p:cNvSpPr txBox="1"/>
          <p:nvPr/>
        </p:nvSpPr>
        <p:spPr>
          <a:xfrm>
            <a:off x="381000" y="1562607"/>
            <a:ext cx="4445000" cy="380999"/>
          </a:xfrm>
          <a:prstGeom prst="rect">
            <a:avLst/>
          </a:prstGeom>
          <a:solidFill>
            <a:srgbClr val="1F2A5C"/>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メイリオ"/>
                <a:sym typeface="Arial"/>
              </a:rPr>
              <a:t>イベント期の層（予約した方）</a:t>
            </a:r>
          </a:p>
        </p:txBody>
      </p:sp>
      <p:sp>
        <p:nvSpPr>
          <p:cNvPr id="7" name="LeftBody">
            <a:extLst>
              <a:ext uri="{FF2B5EF4-FFF2-40B4-BE49-F238E27FC236}">
                <a16:creationId xmlns:a16="http://schemas.microsoft.com/office/drawing/2014/main" id="{F773B430-56E4-0521-D716-A07C918C24AE}"/>
              </a:ext>
            </a:extLst>
          </p:cNvPr>
          <p:cNvSpPr txBox="1"/>
          <p:nvPr/>
        </p:nvSpPr>
        <p:spPr>
          <a:xfrm>
            <a:off x="381000" y="1943607"/>
            <a:ext cx="4445000" cy="2423763"/>
          </a:xfrm>
          <a:prstGeom prst="rect">
            <a:avLst/>
          </a:prstGeom>
          <a:solidFill>
            <a:srgbClr val="F5F7FA"/>
          </a:solidFill>
          <a:ln w="6350">
            <a:solidFill>
              <a:srgbClr val="D1D8E0"/>
            </a:solidFill>
          </a:ln>
        </p:spPr>
        <p:txBody>
          <a:bodyPr wrap="square" lIns="177800" tIns="152400" rIns="177800" bIns="1524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特徴</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セミナーを予約済み・参加の意思がある</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当日までに日が空く</a:t>
            </a:r>
          </a:p>
          <a:p>
            <a:pPr>
              <a:buClr>
                <a:srgbClr val="000000"/>
              </a:buClr>
              <a:buFont typeface="Arial"/>
              <a:buNone/>
            </a:p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日程ごとの前日・当日のお知らせで、当日の参加につなげられる</a:t>
            </a:r>
          </a:p>
          <a:p>
            <a:pPr>
              <a:buClr>
                <a:srgbClr val="000000"/>
              </a:buClr>
              <a:buFont typeface="Arial"/>
              <a:buNone/>
            </a:p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デメリット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当日に参加しないと、そのまま離れやすい</a:t>
            </a:r>
          </a:p>
        </p:txBody>
      </p:sp>
      <p:sp>
        <p:nvSpPr>
          <p:cNvPr id="9" name="RightHeader">
            <a:extLst>
              <a:ext uri="{FF2B5EF4-FFF2-40B4-BE49-F238E27FC236}">
                <a16:creationId xmlns:a16="http://schemas.microsoft.com/office/drawing/2014/main" id="{A47125D1-5D5B-577F-CCF0-A99B2F298330}"/>
              </a:ext>
            </a:extLst>
          </p:cNvPr>
          <p:cNvSpPr txBox="1"/>
          <p:nvPr/>
        </p:nvSpPr>
        <p:spPr>
          <a:xfrm>
            <a:off x="5080000" y="1562607"/>
            <a:ext cx="4445000" cy="380999"/>
          </a:xfrm>
          <a:prstGeom prst="rect">
            <a:avLst/>
          </a:prstGeom>
          <a:solidFill>
            <a:srgbClr val="1F2A5C"/>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メイリオ"/>
                <a:sym typeface="Arial"/>
              </a:rPr>
              <a:t>平常期の層（予約していない方）</a:t>
            </a:r>
          </a:p>
        </p:txBody>
      </p:sp>
      <p:sp>
        <p:nvSpPr>
          <p:cNvPr id="11" name="RightBody">
            <a:extLst>
              <a:ext uri="{FF2B5EF4-FFF2-40B4-BE49-F238E27FC236}">
                <a16:creationId xmlns:a16="http://schemas.microsoft.com/office/drawing/2014/main" id="{ECF77B04-EFBD-D6B8-E01D-1461AF2766FF}"/>
              </a:ext>
            </a:extLst>
          </p:cNvPr>
          <p:cNvSpPr txBox="1"/>
          <p:nvPr/>
        </p:nvSpPr>
        <p:spPr>
          <a:xfrm>
            <a:off x="5080000" y="1943607"/>
            <a:ext cx="4445000" cy="2423763"/>
          </a:xfrm>
          <a:prstGeom prst="rect">
            <a:avLst/>
          </a:prstGeom>
          <a:solidFill>
            <a:srgbClr val="FFFFFF"/>
          </a:solidFill>
          <a:ln w="12700">
            <a:solidFill>
              <a:srgbClr val="1F2A5C"/>
            </a:solidFill>
          </a:ln>
        </p:spPr>
        <p:txBody>
          <a:bodyPr wrap="square" lIns="177800" tIns="152400" rIns="177800" bIns="1524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特徴</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LPを見たが、今回は申し込んでいない</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次のイベントまで間がある</a:t>
            </a:r>
          </a:p>
          <a:p>
            <a:pPr>
              <a:buClr>
                <a:srgbClr val="000000"/>
              </a:buClr>
              <a:buFont typeface="Arial"/>
              <a:buNone/>
            </a:p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平常期の配信で、次のイベントまでつながりを保てる</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次のイベントの案内を、広告より先に届けられる</a:t>
            </a:r>
          </a:p>
          <a:p>
            <a:pPr>
              <a:buClr>
                <a:srgbClr val="000000"/>
              </a:buClr>
              <a:buFont typeface="Arial"/>
              <a:buNone/>
            </a:p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デメリット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予約・入会まで時間がかかる</a:t>
            </a:r>
          </a:p>
        </p:txBody>
      </p:sp>
      <p:sp>
        <p:nvSpPr>
          <p:cNvPr id="13" name="Conclusion">
            <a:extLst>
              <a:ext uri="{FF2B5EF4-FFF2-40B4-BE49-F238E27FC236}">
                <a16:creationId xmlns:a16="http://schemas.microsoft.com/office/drawing/2014/main" id="{A7CDFABA-1683-4E04-F3EC-BFB5175BB3D7}"/>
              </a:ext>
            </a:extLst>
          </p:cNvPr>
          <p:cNvSpPr txBox="1"/>
          <p:nvPr/>
        </p:nvSpPr>
        <p:spPr>
          <a:xfrm>
            <a:off x="381000" y="4554727"/>
            <a:ext cx="9144000" cy="812800"/>
          </a:xfrm>
          <a:prstGeom prst="rect">
            <a:avLst/>
          </a:prstGeom>
          <a:solidFill>
            <a:srgbClr val="F0F2F7"/>
          </a:solidFill>
          <a:ln>
            <a:noFill/>
          </a:ln>
        </p:spPr>
        <p:txBody>
          <a:bodyPr wrap="square" lIns="177800" tIns="127000" rIns="177800" bIns="1270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結論・推奨</a:t>
            </a:r>
          </a:p>
          <a:p>
            <a:pPr>
              <a:spcBef>
                <a:spcPts val="200"/>
              </a:spcBef>
              <a:buClr>
                <a:srgbClr val="000000"/>
              </a:buClr>
              <a:buFont typeface="Arial"/>
              <a:buNone/>
            </a:pPr>
            <a:r>
              <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rPr>
              <a:t>友だちの入口（ポップアップツール／サンクスLINE誘導）で自動で分け、予約した方は当日の参加へ、</a:t>
            </a:r>
          </a:p>
          <a:p>
            <a:pPr>
              <a:spcBef>
                <a:spcPts val="200"/>
              </a:spcBef>
              <a:buClr>
                <a:srgbClr val="000000"/>
              </a:buClr>
              <a:buFont typeface="Arial"/>
              <a:buNone/>
            </a:pPr>
            <a:r>
              <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rPr>
              <a:t>予約していない方は平常期の配信で次のイベントへつなげる。</a:t>
            </a:r>
          </a:p>
        </p:txBody>
      </p:sp>
      <p:sp>
        <p:nvSpPr>
          <p:cNvPr id="2" name="正方形/長方形 1">
            <a:extLst>
              <a:ext uri="{FF2B5EF4-FFF2-40B4-BE49-F238E27FC236}">
                <a16:creationId xmlns:a16="http://schemas.microsoft.com/office/drawing/2014/main" id="{2BCDAE55-2DB6-D959-BB7A-FFA05547CCF8}"/>
              </a:ext>
            </a:extLst>
          </p:cNvPr>
          <p:cNvSpPr/>
          <p:nvPr/>
        </p:nvSpPr>
        <p:spPr>
          <a:xfrm>
            <a:off x="4953000" y="1397561"/>
            <a:ext cx="4757057" cy="3149513"/>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0" name="正方形/長方形 9">
            <a:extLst>
              <a:ext uri="{FF2B5EF4-FFF2-40B4-BE49-F238E27FC236}">
                <a16:creationId xmlns:a16="http://schemas.microsoft.com/office/drawing/2014/main" id="{62794B8A-D6DE-D702-A17A-E1DE9074FE08}"/>
              </a:ext>
            </a:extLst>
          </p:cNvPr>
          <p:cNvSpPr/>
          <p:nvPr/>
        </p:nvSpPr>
        <p:spPr>
          <a:xfrm>
            <a:off x="379975" y="4547075"/>
            <a:ext cx="9143999" cy="841795"/>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Tree>
    <p:extLst>
      <p:ext uri="{BB962C8B-B14F-4D97-AF65-F5344CB8AC3E}">
        <p14:creationId xmlns:p14="http://schemas.microsoft.com/office/powerpoint/2010/main" val="25156139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605D1-944D-0389-D7CD-C5AB8DD983F5}"/>
            </a:ext>
          </a:extLst>
        </p:cNvPr>
        <p:cNvGrpSpPr/>
        <p:nvPr/>
      </p:nvGrpSpPr>
      <p:grpSpPr>
        <a:xfrm>
          <a:off x="0" y="0"/>
          <a:ext cx="0" cy="0"/>
          <a:chOff x="0" y="0"/>
          <a:chExt cx="0" cy="0"/>
        </a:xfrm>
      </p:grpSpPr>
      <p:sp>
        <p:nvSpPr>
          <p:cNvPr id="8" name="テキスト ボックス 47">
            <a:extLst>
              <a:ext uri="{FF2B5EF4-FFF2-40B4-BE49-F238E27FC236}">
                <a16:creationId xmlns:a16="http://schemas.microsoft.com/office/drawing/2014/main" id="{83BB2C20-D0AA-36FF-470A-E7F0DAEAB26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cs typeface="メイリオ"/>
              </a:defRPr>
            </a:lvl2pPr>
            <a:lvl3pPr>
              <a:defRPr kumimoji="1" sz="2400">
                <a:solidFill>
                  <a:schemeClr val="tx1"/>
                </a:solidFill>
                <a:latin typeface="メイリオ" charset="0"/>
                <a:ea typeface="メイリオ" charset="0"/>
                <a:cs typeface="メイリオ"/>
              </a:defRPr>
            </a:lvl3pPr>
            <a:lvl4pPr>
              <a:defRPr kumimoji="1" sz="2000">
                <a:solidFill>
                  <a:schemeClr val="tx1"/>
                </a:solidFill>
                <a:latin typeface="メイリオ" charset="0"/>
                <a:ea typeface="メイリオ" charset="0"/>
                <a:cs typeface="メイリオ"/>
              </a:defRPr>
            </a:lvl4pPr>
            <a:lvl5pPr>
              <a:defRPr kumimoji="1" sz="2000">
                <a:solidFill>
                  <a:schemeClr val="tx1"/>
                </a:solidFill>
                <a:latin typeface="メイリオ" charset="0"/>
                <a:ea typeface="メイリオ" charset="0"/>
                <a:cs typeface="メイリオ"/>
              </a:defRPr>
            </a:lvl5pPr>
            <a:lvl6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6pPr>
            <a:lvl7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7pPr>
            <a:lvl8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8pPr>
            <a:lvl9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cs typeface="メイリオ"/>
              </a:rPr>
              <a:t>短期ニーズトラック：Day0〜</a:t>
            </a:r>
            <a:r>
              <a:rPr lang="en-US" altLang="ja-JP" sz="1600" b="1" dirty="0">
                <a:solidFill>
                  <a:srgbClr val="1F2A5C"/>
                </a:solidFill>
                <a:latin typeface="メイリオ" panose="020B0604030504040204" pitchFamily="50" charset="-128"/>
                <a:ea typeface="メイリオ" panose="020B0604030504040204" pitchFamily="50" charset="-128"/>
                <a:cs typeface="メイリオ"/>
              </a:rPr>
              <a:t>15</a:t>
            </a:r>
            <a:r>
              <a:rPr lang="ja-JP" altLang="en-US" sz="1600" b="1" dirty="0">
                <a:solidFill>
                  <a:srgbClr val="1F2A5C"/>
                </a:solidFill>
                <a:latin typeface="メイリオ" panose="020B0604030504040204" pitchFamily="50" charset="-128"/>
                <a:ea typeface="メイリオ" panose="020B0604030504040204" pitchFamily="50" charset="-128"/>
                <a:cs typeface="メイリオ"/>
              </a:rPr>
              <a:t>の圧縮設計</a:t>
            </a:r>
          </a:p>
        </p:txBody>
      </p:sp>
      <p:sp>
        <p:nvSpPr>
          <p:cNvPr id="12" name="Lead">
            <a:extLst>
              <a:ext uri="{FF2B5EF4-FFF2-40B4-BE49-F238E27FC236}">
                <a16:creationId xmlns:a16="http://schemas.microsoft.com/office/drawing/2014/main" id="{95FE0356-B15A-D93F-BA83-FD0B43311C26}"/>
              </a:ext>
            </a:extLst>
          </p:cNvPr>
          <p:cNvSpPr txBox="1"/>
          <p:nvPr/>
        </p:nvSpPr>
        <p:spPr>
          <a:xfrm>
            <a:off x="274320" y="847623"/>
            <a:ext cx="6667500" cy="285750"/>
          </a:xfrm>
          <a:prstGeom prst="rect">
            <a:avLst/>
          </a:prstGeom>
          <a:noFill/>
        </p:spPr>
        <p:txBody>
          <a:bodyPr wrap="square" lIns="0" tIns="0" rIns="0" bIns="0" anchor="t"/>
          <a:lstStyle/>
          <a:p>
            <a:pPr>
              <a:buNone/>
            </a:pPr>
            <a:r>
              <a:rPr lang="ja-JP" altLang="en-US" sz="1400" dirty="0">
                <a:solidFill>
                  <a:srgbClr val="5A6378"/>
                </a:solidFill>
                <a:latin typeface="メイリオ"/>
                <a:ea typeface="メイリオ"/>
                <a:cs typeface="メイリオ"/>
              </a:rPr>
              <a:t>検索直後の疑問に即応し、15日以内でセミナー予約へ誘導する</a:t>
            </a:r>
          </a:p>
        </p:txBody>
      </p:sp>
      <p:sp>
        <p:nvSpPr>
          <p:cNvPr id="2" name="Rounded Rectangle 2">
            <a:extLst>
              <a:ext uri="{FF2B5EF4-FFF2-40B4-BE49-F238E27FC236}">
                <a16:creationId xmlns:a16="http://schemas.microsoft.com/office/drawing/2014/main" id="{32D5DB1A-2D31-4285-1013-68B5CBC6F7AA}"/>
              </a:ext>
            </a:extLst>
          </p:cNvPr>
          <p:cNvSpPr/>
          <p:nvPr/>
        </p:nvSpPr>
        <p:spPr>
          <a:xfrm>
            <a:off x="274320"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3" name="Rounded Rectangle 3">
            <a:extLst>
              <a:ext uri="{FF2B5EF4-FFF2-40B4-BE49-F238E27FC236}">
                <a16:creationId xmlns:a16="http://schemas.microsoft.com/office/drawing/2014/main" id="{4905A8F7-DA37-EDDB-D4A0-A8C338EA048F}"/>
              </a:ext>
            </a:extLst>
          </p:cNvPr>
          <p:cNvSpPr/>
          <p:nvPr/>
        </p:nvSpPr>
        <p:spPr>
          <a:xfrm>
            <a:off x="274320" y="1560362"/>
            <a:ext cx="1786737" cy="566928"/>
          </a:xfrm>
          <a:prstGeom prst="roundRect">
            <a:avLst>
              <a:gd name="adj" fmla="val 12000"/>
            </a:avLst>
          </a:prstGeom>
          <a:solidFill>
            <a:srgbClr val="1F2A5C"/>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Day0</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追加直後：診断</a:t>
            </a:r>
          </a:p>
        </p:txBody>
      </p:sp>
      <p:sp>
        <p:nvSpPr>
          <p:cNvPr id="4" name="TextBox 4">
            <a:extLst>
              <a:ext uri="{FF2B5EF4-FFF2-40B4-BE49-F238E27FC236}">
                <a16:creationId xmlns:a16="http://schemas.microsoft.com/office/drawing/2014/main" id="{AF54DDF1-0A58-67B0-D606-FE72C8B6BAD4}"/>
              </a:ext>
            </a:extLst>
          </p:cNvPr>
          <p:cNvSpPr txBox="1"/>
          <p:nvPr/>
        </p:nvSpPr>
        <p:spPr>
          <a:xfrm>
            <a:off x="384048"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ご追加ありがとう</a:t>
            </a:r>
          </a:p>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ございます！</a:t>
            </a:r>
          </a:p>
        </p:txBody>
      </p:sp>
      <p:sp>
        <p:nvSpPr>
          <p:cNvPr id="5" name="TextBox 5">
            <a:extLst>
              <a:ext uri="{FF2B5EF4-FFF2-40B4-BE49-F238E27FC236}">
                <a16:creationId xmlns:a16="http://schemas.microsoft.com/office/drawing/2014/main" id="{942DBFF1-8E8E-E0F6-C4D8-936FB7D63294}"/>
              </a:ext>
            </a:extLst>
          </p:cNvPr>
          <p:cNvSpPr txBox="1"/>
          <p:nvPr/>
        </p:nvSpPr>
        <p:spPr>
          <a:xfrm>
            <a:off x="384048" y="2968538"/>
            <a:ext cx="1567281" cy="764825"/>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3問タップで検討段階を分岐・タグ付け</a:t>
            </a:r>
          </a:p>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6" name="Rounded Rectangle 6">
            <a:extLst>
              <a:ext uri="{FF2B5EF4-FFF2-40B4-BE49-F238E27FC236}">
                <a16:creationId xmlns:a16="http://schemas.microsoft.com/office/drawing/2014/main" id="{7FF56F22-467D-9E6B-D894-69A2DC8FAD69}"/>
              </a:ext>
            </a:extLst>
          </p:cNvPr>
          <p:cNvSpPr/>
          <p:nvPr/>
        </p:nvSpPr>
        <p:spPr>
          <a:xfrm>
            <a:off x="384048" y="5217962"/>
            <a:ext cx="1567281" cy="384048"/>
          </a:xfrm>
          <a:prstGeom prst="roundRect">
            <a:avLst>
              <a:gd name="adj" fmla="val 50000"/>
            </a:avLst>
          </a:prstGeom>
          <a:solidFill>
            <a:srgbClr val="1F2A5C"/>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 3択タップで診断</a:t>
            </a:r>
          </a:p>
        </p:txBody>
      </p:sp>
      <p:sp>
        <p:nvSpPr>
          <p:cNvPr id="7" name="Rounded Rectangle 7">
            <a:extLst>
              <a:ext uri="{FF2B5EF4-FFF2-40B4-BE49-F238E27FC236}">
                <a16:creationId xmlns:a16="http://schemas.microsoft.com/office/drawing/2014/main" id="{8D18F66D-12A2-B97F-13EE-FA13362C28BE}"/>
              </a:ext>
            </a:extLst>
          </p:cNvPr>
          <p:cNvSpPr/>
          <p:nvPr/>
        </p:nvSpPr>
        <p:spPr>
          <a:xfrm>
            <a:off x="2170785"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9" name="Rounded Rectangle 8">
            <a:extLst>
              <a:ext uri="{FF2B5EF4-FFF2-40B4-BE49-F238E27FC236}">
                <a16:creationId xmlns:a16="http://schemas.microsoft.com/office/drawing/2014/main" id="{FA0D0844-6CF2-A00A-7B79-F4A826D90EEE}"/>
              </a:ext>
            </a:extLst>
          </p:cNvPr>
          <p:cNvSpPr/>
          <p:nvPr/>
        </p:nvSpPr>
        <p:spPr>
          <a:xfrm>
            <a:off x="2170785" y="1560362"/>
            <a:ext cx="1786737" cy="566928"/>
          </a:xfrm>
          <a:prstGeom prst="roundRect">
            <a:avLst>
              <a:gd name="adj" fmla="val 12000"/>
            </a:avLst>
          </a:prstGeom>
          <a:solidFill>
            <a:srgbClr val="4A6FA5"/>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Day1〜2</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0" name="TextBox 9">
            <a:extLst>
              <a:ext uri="{FF2B5EF4-FFF2-40B4-BE49-F238E27FC236}">
                <a16:creationId xmlns:a16="http://schemas.microsoft.com/office/drawing/2014/main" id="{9361AE1C-AC5D-8B9C-86D1-EC657FC3A8B7}"/>
              </a:ext>
            </a:extLst>
          </p:cNvPr>
          <p:cNvSpPr txBox="1"/>
          <p:nvPr/>
        </p:nvSpPr>
        <p:spPr>
          <a:xfrm>
            <a:off x="2280513"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a:t>
            </a:r>
          </a:p>
        </p:txBody>
      </p:sp>
      <p:sp>
        <p:nvSpPr>
          <p:cNvPr id="11" name="TextBox 10">
            <a:extLst>
              <a:ext uri="{FF2B5EF4-FFF2-40B4-BE49-F238E27FC236}">
                <a16:creationId xmlns:a16="http://schemas.microsoft.com/office/drawing/2014/main" id="{2C26C064-3099-1C6E-BD1F-7E4B6508C6C0}"/>
              </a:ext>
            </a:extLst>
          </p:cNvPr>
          <p:cNvSpPr txBox="1"/>
          <p:nvPr/>
        </p:nvSpPr>
        <p:spPr>
          <a:xfrm>
            <a:off x="2280513" y="2968538"/>
            <a:ext cx="1567281" cy="596702"/>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13" name="Rounded Rectangle 11">
            <a:extLst>
              <a:ext uri="{FF2B5EF4-FFF2-40B4-BE49-F238E27FC236}">
                <a16:creationId xmlns:a16="http://schemas.microsoft.com/office/drawing/2014/main" id="{4B3A754B-1435-5A8E-96AE-4037A27AF116}"/>
              </a:ext>
            </a:extLst>
          </p:cNvPr>
          <p:cNvSpPr/>
          <p:nvPr/>
        </p:nvSpPr>
        <p:spPr>
          <a:xfrm>
            <a:off x="2280513" y="5217962"/>
            <a:ext cx="1567281" cy="384048"/>
          </a:xfrm>
          <a:prstGeom prst="roundRect">
            <a:avLst>
              <a:gd name="adj" fmla="val 50000"/>
            </a:avLst>
          </a:prstGeom>
          <a:solidFill>
            <a:srgbClr val="4A6FA5"/>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4" name="Rounded Rectangle 12">
            <a:extLst>
              <a:ext uri="{FF2B5EF4-FFF2-40B4-BE49-F238E27FC236}">
                <a16:creationId xmlns:a16="http://schemas.microsoft.com/office/drawing/2014/main" id="{36C2CEAA-8727-1541-A261-38D2B8EE8479}"/>
              </a:ext>
            </a:extLst>
          </p:cNvPr>
          <p:cNvSpPr/>
          <p:nvPr/>
        </p:nvSpPr>
        <p:spPr>
          <a:xfrm>
            <a:off x="4067250"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16" name="Rounded Rectangle 13">
            <a:extLst>
              <a:ext uri="{FF2B5EF4-FFF2-40B4-BE49-F238E27FC236}">
                <a16:creationId xmlns:a16="http://schemas.microsoft.com/office/drawing/2014/main" id="{93204242-A97B-3F81-AC83-1DDA22FFC0D0}"/>
              </a:ext>
            </a:extLst>
          </p:cNvPr>
          <p:cNvSpPr/>
          <p:nvPr/>
        </p:nvSpPr>
        <p:spPr>
          <a:xfrm>
            <a:off x="4067250" y="1560362"/>
            <a:ext cx="1786737" cy="566928"/>
          </a:xfrm>
          <a:prstGeom prst="roundRect">
            <a:avLst>
              <a:gd name="adj" fmla="val 12000"/>
            </a:avLst>
          </a:prstGeom>
          <a:solidFill>
            <a:srgbClr val="4A6FA5"/>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Day4〜5</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8" name="TextBox 14">
            <a:extLst>
              <a:ext uri="{FF2B5EF4-FFF2-40B4-BE49-F238E27FC236}">
                <a16:creationId xmlns:a16="http://schemas.microsoft.com/office/drawing/2014/main" id="{6AD6AF8B-2C4A-933F-0193-F19C291F13B1}"/>
              </a:ext>
            </a:extLst>
          </p:cNvPr>
          <p:cNvSpPr txBox="1"/>
          <p:nvPr/>
        </p:nvSpPr>
        <p:spPr>
          <a:xfrm>
            <a:off x="4176978"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a:t>
            </a:r>
          </a:p>
        </p:txBody>
      </p:sp>
      <p:sp>
        <p:nvSpPr>
          <p:cNvPr id="20" name="TextBox 15">
            <a:extLst>
              <a:ext uri="{FF2B5EF4-FFF2-40B4-BE49-F238E27FC236}">
                <a16:creationId xmlns:a16="http://schemas.microsoft.com/office/drawing/2014/main" id="{31A7EE41-522A-6587-5E29-2C573127F3C3}"/>
              </a:ext>
            </a:extLst>
          </p:cNvPr>
          <p:cNvSpPr txBox="1"/>
          <p:nvPr/>
        </p:nvSpPr>
        <p:spPr>
          <a:xfrm>
            <a:off x="4176978" y="2968538"/>
            <a:ext cx="1567281" cy="764825"/>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22" name="Rounded Rectangle 16">
            <a:extLst>
              <a:ext uri="{FF2B5EF4-FFF2-40B4-BE49-F238E27FC236}">
                <a16:creationId xmlns:a16="http://schemas.microsoft.com/office/drawing/2014/main" id="{C7E8BDA3-8CEC-774B-B965-F3AF39B914E4}"/>
              </a:ext>
            </a:extLst>
          </p:cNvPr>
          <p:cNvSpPr/>
          <p:nvPr/>
        </p:nvSpPr>
        <p:spPr>
          <a:xfrm>
            <a:off x="4176978" y="5217962"/>
            <a:ext cx="1567281" cy="384048"/>
          </a:xfrm>
          <a:prstGeom prst="roundRect">
            <a:avLst>
              <a:gd name="adj" fmla="val 50000"/>
            </a:avLst>
          </a:prstGeom>
          <a:solidFill>
            <a:srgbClr val="4A6FA5"/>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24" name="Rounded Rectangle 17">
            <a:extLst>
              <a:ext uri="{FF2B5EF4-FFF2-40B4-BE49-F238E27FC236}">
                <a16:creationId xmlns:a16="http://schemas.microsoft.com/office/drawing/2014/main" id="{E541336C-EC2C-FA47-DF86-0449EEE6EC01}"/>
              </a:ext>
            </a:extLst>
          </p:cNvPr>
          <p:cNvSpPr/>
          <p:nvPr/>
        </p:nvSpPr>
        <p:spPr>
          <a:xfrm>
            <a:off x="5963715"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26" name="Rounded Rectangle 18">
            <a:extLst>
              <a:ext uri="{FF2B5EF4-FFF2-40B4-BE49-F238E27FC236}">
                <a16:creationId xmlns:a16="http://schemas.microsoft.com/office/drawing/2014/main" id="{BC2869C0-256F-8186-2F32-62ABEBFDB974}"/>
              </a:ext>
            </a:extLst>
          </p:cNvPr>
          <p:cNvSpPr/>
          <p:nvPr/>
        </p:nvSpPr>
        <p:spPr>
          <a:xfrm>
            <a:off x="5963715" y="1560362"/>
            <a:ext cx="1786737" cy="566928"/>
          </a:xfrm>
          <a:prstGeom prst="roundRect">
            <a:avLst>
              <a:gd name="adj" fmla="val 12000"/>
            </a:avLst>
          </a:prstGeom>
          <a:solidFill>
            <a:srgbClr val="5A6378"/>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Day8〜9</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28" name="TextBox 19">
            <a:extLst>
              <a:ext uri="{FF2B5EF4-FFF2-40B4-BE49-F238E27FC236}">
                <a16:creationId xmlns:a16="http://schemas.microsoft.com/office/drawing/2014/main" id="{A3128BAC-3AA2-D6CD-E5B1-139EF73DE7E5}"/>
              </a:ext>
            </a:extLst>
          </p:cNvPr>
          <p:cNvSpPr txBox="1"/>
          <p:nvPr/>
        </p:nvSpPr>
        <p:spPr>
          <a:xfrm>
            <a:off x="6073443"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a:t>
            </a:r>
          </a:p>
        </p:txBody>
      </p:sp>
      <p:sp>
        <p:nvSpPr>
          <p:cNvPr id="30" name="TextBox 20">
            <a:extLst>
              <a:ext uri="{FF2B5EF4-FFF2-40B4-BE49-F238E27FC236}">
                <a16:creationId xmlns:a16="http://schemas.microsoft.com/office/drawing/2014/main" id="{69E0D836-774F-8844-0B7E-FEC8CAEAA930}"/>
              </a:ext>
            </a:extLst>
          </p:cNvPr>
          <p:cNvSpPr txBox="1"/>
          <p:nvPr/>
        </p:nvSpPr>
        <p:spPr>
          <a:xfrm>
            <a:off x="6073443" y="2968538"/>
            <a:ext cx="1567281" cy="764825"/>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32" name="Rounded Rectangle 21">
            <a:extLst>
              <a:ext uri="{FF2B5EF4-FFF2-40B4-BE49-F238E27FC236}">
                <a16:creationId xmlns:a16="http://schemas.microsoft.com/office/drawing/2014/main" id="{3CD9E7C8-AEDB-1B24-169E-B4E2FCC3BF0B}"/>
              </a:ext>
            </a:extLst>
          </p:cNvPr>
          <p:cNvSpPr/>
          <p:nvPr/>
        </p:nvSpPr>
        <p:spPr>
          <a:xfrm>
            <a:off x="6073443" y="5217962"/>
            <a:ext cx="1567281" cy="384048"/>
          </a:xfrm>
          <a:prstGeom prst="roundRect">
            <a:avLst>
              <a:gd name="adj" fmla="val 50000"/>
            </a:avLst>
          </a:prstGeom>
          <a:solidFill>
            <a:srgbClr val="5A6378"/>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34" name="Rounded Rectangle 22">
            <a:extLst>
              <a:ext uri="{FF2B5EF4-FFF2-40B4-BE49-F238E27FC236}">
                <a16:creationId xmlns:a16="http://schemas.microsoft.com/office/drawing/2014/main" id="{F9794684-1FF1-3263-6A5B-55F2FABDADE2}"/>
              </a:ext>
            </a:extLst>
          </p:cNvPr>
          <p:cNvSpPr/>
          <p:nvPr/>
        </p:nvSpPr>
        <p:spPr>
          <a:xfrm>
            <a:off x="7860180"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36" name="Rounded Rectangle 23">
            <a:extLst>
              <a:ext uri="{FF2B5EF4-FFF2-40B4-BE49-F238E27FC236}">
                <a16:creationId xmlns:a16="http://schemas.microsoft.com/office/drawing/2014/main" id="{5270596D-D709-5039-F2B0-A37C3BC91FB1}"/>
              </a:ext>
            </a:extLst>
          </p:cNvPr>
          <p:cNvSpPr/>
          <p:nvPr/>
        </p:nvSpPr>
        <p:spPr>
          <a:xfrm>
            <a:off x="7860180" y="1560362"/>
            <a:ext cx="1786737" cy="566928"/>
          </a:xfrm>
          <a:prstGeom prst="roundRect">
            <a:avLst>
              <a:gd name="adj" fmla="val 12000"/>
            </a:avLst>
          </a:prstGeom>
          <a:solidFill>
            <a:srgbClr val="1F2A5C"/>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Day12〜15</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オファー</a:t>
            </a:r>
          </a:p>
        </p:txBody>
      </p:sp>
      <p:sp>
        <p:nvSpPr>
          <p:cNvPr id="38" name="TextBox 24">
            <a:extLst>
              <a:ext uri="{FF2B5EF4-FFF2-40B4-BE49-F238E27FC236}">
                <a16:creationId xmlns:a16="http://schemas.microsoft.com/office/drawing/2014/main" id="{BDC9515A-B6AE-4419-9471-C1CACD5E3EC1}"/>
              </a:ext>
            </a:extLst>
          </p:cNvPr>
          <p:cNvSpPr txBox="1"/>
          <p:nvPr/>
        </p:nvSpPr>
        <p:spPr>
          <a:xfrm>
            <a:off x="7969908"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a:t>
            </a:r>
          </a:p>
        </p:txBody>
      </p:sp>
      <p:sp>
        <p:nvSpPr>
          <p:cNvPr id="39" name="TextBox 25">
            <a:extLst>
              <a:ext uri="{FF2B5EF4-FFF2-40B4-BE49-F238E27FC236}">
                <a16:creationId xmlns:a16="http://schemas.microsoft.com/office/drawing/2014/main" id="{77631336-7324-364D-DAFA-3CED8F639C61}"/>
              </a:ext>
            </a:extLst>
          </p:cNvPr>
          <p:cNvSpPr txBox="1"/>
          <p:nvPr/>
        </p:nvSpPr>
        <p:spPr>
          <a:xfrm>
            <a:off x="7969908" y="2968538"/>
            <a:ext cx="1567281" cy="596702"/>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40" name="Rounded Rectangle 26">
            <a:extLst>
              <a:ext uri="{FF2B5EF4-FFF2-40B4-BE49-F238E27FC236}">
                <a16:creationId xmlns:a16="http://schemas.microsoft.com/office/drawing/2014/main" id="{84EB3BAF-CB06-3354-471B-18BB2B84211F}"/>
              </a:ext>
            </a:extLst>
          </p:cNvPr>
          <p:cNvSpPr/>
          <p:nvPr/>
        </p:nvSpPr>
        <p:spPr>
          <a:xfrm>
            <a:off x="7969908" y="5217962"/>
            <a:ext cx="1567281" cy="384048"/>
          </a:xfrm>
          <a:prstGeom prst="roundRect">
            <a:avLst>
              <a:gd name="adj" fmla="val 50000"/>
            </a:avLst>
          </a:prstGeom>
          <a:solidFill>
            <a:srgbClr val="1F2A5C"/>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41" name="TextBox 27">
            <a:extLst>
              <a:ext uri="{FF2B5EF4-FFF2-40B4-BE49-F238E27FC236}">
                <a16:creationId xmlns:a16="http://schemas.microsoft.com/office/drawing/2014/main" id="{4801341B-D8FB-80D0-9999-2FE19D3EE1E8}"/>
              </a:ext>
            </a:extLst>
          </p:cNvPr>
          <p:cNvSpPr txBox="1"/>
          <p:nvPr/>
        </p:nvSpPr>
        <p:spPr>
          <a:xfrm>
            <a:off x="274320" y="5858042"/>
            <a:ext cx="9372600" cy="508216"/>
          </a:xfrm>
          <a:prstGeom prst="rect">
            <a:avLst/>
          </a:prstGeom>
          <a:noFill/>
        </p:spPr>
        <p:txBody>
          <a:bodyPr wrap="square">
            <a:spAutoFit/>
          </a:bodyPr>
          <a:lstStyle/>
          <a:p>
            <a:pPr>
              <a:lnSpc>
                <a:spcPct val="120000"/>
              </a:lnSpc>
              <a:buClr>
                <a:srgbClr val="000000"/>
              </a:buClr>
              <a:buFont typeface="Arial"/>
              <a:buNone/>
            </a:pPr>
            <a:r>
              <a:rPr kumimoji="0" sz="1150" kern="0" dirty="0">
                <a:solidFill>
                  <a:srgbClr val="5A6378"/>
                </a:solidFill>
                <a:latin typeface="メイリオ" panose="020B0604030504040204" pitchFamily="50" charset="-128"/>
                <a:ea typeface="メイリオ" panose="020B0604030504040204" pitchFamily="50" charset="-128"/>
                <a:cs typeface="メイリオ"/>
                <a:sym typeface="Arial"/>
              </a:rPr>
              <a:t>--</a:t>
            </a:r>
            <a:endParaRPr kumimoji="0" lang="en-US" sz="1150" kern="0" dirty="0">
              <a:solidFill>
                <a:srgbClr val="5A6378"/>
              </a:solidFill>
              <a:latin typeface="メイリオ" panose="020B0604030504040204" pitchFamily="50" charset="-128"/>
              <a:ea typeface="メイリオ" panose="020B0604030504040204" pitchFamily="50" charset="-128"/>
              <a:cs typeface="メイリオ"/>
              <a:sym typeface="Arial"/>
            </a:endParaRPr>
          </a:p>
        </p:txBody>
      </p:sp>
      <p:sp>
        <p:nvSpPr>
          <p:cNvPr id="43" name="TextBox 5">
            <a:extLst>
              <a:ext uri="{FF2B5EF4-FFF2-40B4-BE49-F238E27FC236}">
                <a16:creationId xmlns:a16="http://schemas.microsoft.com/office/drawing/2014/main" id="{EA39FE5A-F88E-6BA9-436B-1C7ACA9EFDF7}"/>
              </a:ext>
            </a:extLst>
          </p:cNvPr>
          <p:cNvSpPr txBox="1"/>
          <p:nvPr/>
        </p:nvSpPr>
        <p:spPr>
          <a:xfrm>
            <a:off x="384048" y="3898197"/>
            <a:ext cx="1567281" cy="428579"/>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altLang="ja-JP"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p>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endParaRPr kumimoji="0"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endParaRPr>
          </a:p>
        </p:txBody>
      </p:sp>
      <p:sp>
        <p:nvSpPr>
          <p:cNvPr id="45" name="TextBox 10">
            <a:extLst>
              <a:ext uri="{FF2B5EF4-FFF2-40B4-BE49-F238E27FC236}">
                <a16:creationId xmlns:a16="http://schemas.microsoft.com/office/drawing/2014/main" id="{20FC8A71-901A-1650-523A-DB40DB5BE8B2}"/>
              </a:ext>
            </a:extLst>
          </p:cNvPr>
          <p:cNvSpPr txBox="1"/>
          <p:nvPr/>
        </p:nvSpPr>
        <p:spPr>
          <a:xfrm>
            <a:off x="2280513" y="3898197"/>
            <a:ext cx="1567281" cy="932948"/>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altLang="ja-JP"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endPar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endParaRP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p>
        </p:txBody>
      </p:sp>
      <p:sp>
        <p:nvSpPr>
          <p:cNvPr id="47" name="TextBox 15">
            <a:extLst>
              <a:ext uri="{FF2B5EF4-FFF2-40B4-BE49-F238E27FC236}">
                <a16:creationId xmlns:a16="http://schemas.microsoft.com/office/drawing/2014/main" id="{760B245B-F336-095B-944B-703D8196FB74}"/>
              </a:ext>
            </a:extLst>
          </p:cNvPr>
          <p:cNvSpPr txBox="1"/>
          <p:nvPr/>
        </p:nvSpPr>
        <p:spPr>
          <a:xfrm>
            <a:off x="4176978" y="3898197"/>
            <a:ext cx="1567281" cy="932948"/>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p>
        </p:txBody>
      </p:sp>
      <p:sp>
        <p:nvSpPr>
          <p:cNvPr id="49" name="TextBox 20">
            <a:extLst>
              <a:ext uri="{FF2B5EF4-FFF2-40B4-BE49-F238E27FC236}">
                <a16:creationId xmlns:a16="http://schemas.microsoft.com/office/drawing/2014/main" id="{DE95B638-E657-FEBB-0117-64BD0F935CE8}"/>
              </a:ext>
            </a:extLst>
          </p:cNvPr>
          <p:cNvSpPr txBox="1"/>
          <p:nvPr/>
        </p:nvSpPr>
        <p:spPr>
          <a:xfrm>
            <a:off x="6073443" y="3898197"/>
            <a:ext cx="1567281" cy="1101071"/>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p>
        </p:txBody>
      </p:sp>
      <p:sp>
        <p:nvSpPr>
          <p:cNvPr id="51" name="TextBox 25">
            <a:extLst>
              <a:ext uri="{FF2B5EF4-FFF2-40B4-BE49-F238E27FC236}">
                <a16:creationId xmlns:a16="http://schemas.microsoft.com/office/drawing/2014/main" id="{9EEAEFD9-8EF2-001C-D44A-2B0332CF7F41}"/>
              </a:ext>
            </a:extLst>
          </p:cNvPr>
          <p:cNvSpPr txBox="1"/>
          <p:nvPr/>
        </p:nvSpPr>
        <p:spPr>
          <a:xfrm>
            <a:off x="7969908" y="3898197"/>
            <a:ext cx="1567281" cy="932948"/>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p>
        </p:txBody>
      </p:sp>
      <p:sp>
        <p:nvSpPr>
          <p:cNvPr id="15" name="正方形/長方形 14">
            <a:extLst>
              <a:ext uri="{FF2B5EF4-FFF2-40B4-BE49-F238E27FC236}">
                <a16:creationId xmlns:a16="http://schemas.microsoft.com/office/drawing/2014/main" id="{555B77A1-60D1-23C1-F985-F9E05AB9B915}"/>
              </a:ext>
            </a:extLst>
          </p:cNvPr>
          <p:cNvSpPr/>
          <p:nvPr/>
        </p:nvSpPr>
        <p:spPr>
          <a:xfrm>
            <a:off x="2134573" y="1466661"/>
            <a:ext cx="7585863" cy="4327557"/>
          </a:xfrm>
          <a:prstGeom prst="rect">
            <a:avLst/>
          </a:prstGeom>
          <a:solidFill>
            <a:schemeClr val="bg1">
              <a:alpha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28600" lvl="1">
              <a:lnSpc>
                <a:spcPts val="2000"/>
              </a:lnSpc>
              <a:spcAft>
                <a:spcPts val="200"/>
              </a:spcAft>
              <a:buClr>
                <a:srgbClr val="1F2A5C"/>
              </a:buClr>
            </a:pPr>
            <a:endParaRPr lang="ja-JP" altLang="en-US" sz="1400" dirty="0">
              <a:solidFill>
                <a:srgbClr val="333333"/>
              </a:solidFill>
              <a:latin typeface="メイリオ"/>
              <a:ea typeface="メイリオ"/>
              <a:cs typeface="メイリオ"/>
            </a:endParaRPr>
          </a:p>
        </p:txBody>
      </p:sp>
      <p:sp>
        <p:nvSpPr>
          <p:cNvPr id="23" name="テキスト ボックス 22">
            <a:extLst>
              <a:ext uri="{FF2B5EF4-FFF2-40B4-BE49-F238E27FC236}">
                <a16:creationId xmlns:a16="http://schemas.microsoft.com/office/drawing/2014/main" id="{B2C5803B-DB2E-0AE1-BE31-89D5755B4FE1}"/>
              </a:ext>
            </a:extLst>
          </p:cNvPr>
          <p:cNvSpPr txBox="1"/>
          <p:nvPr/>
        </p:nvSpPr>
        <p:spPr>
          <a:xfrm>
            <a:off x="2234941" y="1921426"/>
            <a:ext cx="4965824" cy="954107"/>
          </a:xfrm>
          <a:prstGeom prst="rect">
            <a:avLst/>
          </a:prstGeom>
          <a:noFill/>
        </p:spPr>
        <p:txBody>
          <a:bodyPr wrap="square">
            <a:spAutoFit/>
          </a:bodyPr>
          <a:lstStyle/>
          <a:p>
            <a:r>
              <a:rPr lang="ja-JP" altLang="en-US" sz="1400" b="1" u="sng" dirty="0">
                <a:solidFill>
                  <a:schemeClr val="tx2"/>
                </a:solidFill>
                <a:latin typeface="メイリオ"/>
                <a:ea typeface="メイリオ"/>
                <a:cs typeface="メイリオ"/>
              </a:rPr>
              <a:t>アンケート回答から「すぐすぐニーズがあるか」を判断</a:t>
            </a:r>
            <a:endParaRPr lang="en-US" altLang="ja-JP" sz="1400" b="1" u="sng" dirty="0">
              <a:solidFill>
                <a:schemeClr val="tx2"/>
              </a:solidFill>
              <a:latin typeface="メイリオ"/>
              <a:ea typeface="メイリオ"/>
              <a:cs typeface="メイリオ"/>
            </a:endParaRPr>
          </a:p>
          <a:p>
            <a:r>
              <a:rPr lang="ja-JP" altLang="en-US" sz="1400" dirty="0">
                <a:solidFill>
                  <a:schemeClr val="tx2"/>
                </a:solidFill>
                <a:latin typeface="メイリオ"/>
                <a:ea typeface="メイリオ"/>
                <a:cs typeface="メイリオ"/>
              </a:rPr>
              <a:t>↓</a:t>
            </a:r>
            <a:endParaRPr lang="en-US" altLang="ja-JP" sz="1400" dirty="0">
              <a:solidFill>
                <a:schemeClr val="tx2"/>
              </a:solidFill>
              <a:latin typeface="メイリオ"/>
              <a:ea typeface="メイリオ"/>
              <a:cs typeface="メイリオ"/>
            </a:endParaRPr>
          </a:p>
          <a:p>
            <a:r>
              <a:rPr lang="ja-JP" altLang="en-US" sz="1400" b="1" dirty="0">
                <a:solidFill>
                  <a:schemeClr val="tx2"/>
                </a:solidFill>
                <a:latin typeface="メイリオ"/>
                <a:ea typeface="メイリオ"/>
                <a:cs typeface="メイリオ"/>
              </a:rPr>
              <a:t>①</a:t>
            </a:r>
            <a:r>
              <a:rPr lang="ja-JP" altLang="en-US" sz="1400" dirty="0">
                <a:solidFill>
                  <a:schemeClr val="tx2"/>
                </a:solidFill>
                <a:latin typeface="メイリオ"/>
                <a:ea typeface="メイリオ"/>
                <a:cs typeface="メイリオ"/>
              </a:rPr>
              <a:t>ニーズあり</a:t>
            </a:r>
            <a:r>
              <a:rPr lang="ja-JP" altLang="en-US" sz="1400" b="1" dirty="0">
                <a:solidFill>
                  <a:schemeClr val="tx2"/>
                </a:solidFill>
                <a:latin typeface="メイリオ"/>
                <a:ea typeface="メイリオ"/>
                <a:cs typeface="メイリオ"/>
              </a:rPr>
              <a:t>（次ページに以降）</a:t>
            </a:r>
            <a:endParaRPr lang="en-US" altLang="ja-JP" sz="1400" b="1" dirty="0">
              <a:solidFill>
                <a:schemeClr val="tx2"/>
              </a:solidFill>
              <a:latin typeface="メイリオ"/>
              <a:ea typeface="メイリオ"/>
              <a:cs typeface="メイリオ"/>
            </a:endParaRPr>
          </a:p>
          <a:p>
            <a:r>
              <a:rPr lang="ja-JP" altLang="en-US" sz="1400" b="1" dirty="0">
                <a:solidFill>
                  <a:schemeClr val="tx2"/>
                </a:solidFill>
                <a:latin typeface="メイリオ"/>
                <a:ea typeface="メイリオ"/>
                <a:cs typeface="メイリオ"/>
              </a:rPr>
              <a:t>②</a:t>
            </a:r>
            <a:r>
              <a:rPr lang="ja-JP" altLang="en-US" sz="1400" dirty="0">
                <a:solidFill>
                  <a:schemeClr val="tx2"/>
                </a:solidFill>
                <a:latin typeface="メイリオ"/>
                <a:ea typeface="メイリオ"/>
                <a:cs typeface="メイリオ"/>
              </a:rPr>
              <a:t>ニーズなし</a:t>
            </a:r>
            <a:r>
              <a:rPr lang="ja-JP" altLang="en-US" sz="1400" b="1" dirty="0">
                <a:solidFill>
                  <a:schemeClr val="tx2"/>
                </a:solidFill>
                <a:latin typeface="メイリオ"/>
                <a:ea typeface="メイリオ"/>
                <a:cs typeface="メイリオ"/>
              </a:rPr>
              <a:t>（長期追客施策に移行）</a:t>
            </a:r>
            <a:endParaRPr lang="ja-JP" altLang="en-US" b="1" dirty="0">
              <a:solidFill>
                <a:schemeClr val="tx2"/>
              </a:solidFill>
              <a:latin typeface="メイリオ"/>
              <a:ea typeface="メイリオ"/>
              <a:cs typeface="メイリオ"/>
            </a:endParaRPr>
          </a:p>
        </p:txBody>
      </p:sp>
      <p:sp>
        <p:nvSpPr>
          <p:cNvPr id="27" name="テキスト ボックス 26">
            <a:extLst>
              <a:ext uri="{FF2B5EF4-FFF2-40B4-BE49-F238E27FC236}">
                <a16:creationId xmlns:a16="http://schemas.microsoft.com/office/drawing/2014/main" id="{0FFF471B-76C5-A9EE-BF1F-9F210906F1DA}"/>
              </a:ext>
            </a:extLst>
          </p:cNvPr>
          <p:cNvSpPr txBox="1"/>
          <p:nvPr/>
        </p:nvSpPr>
        <p:spPr>
          <a:xfrm>
            <a:off x="1951329" y="2985261"/>
            <a:ext cx="7570623" cy="891270"/>
          </a:xfrm>
          <a:prstGeom prst="rect">
            <a:avLst/>
          </a:prstGeom>
          <a:noFill/>
        </p:spPr>
        <p:txBody>
          <a:bodyPr wrap="square">
            <a:spAutoFit/>
          </a:bodyPr>
          <a:lstStyle/>
          <a:p>
            <a:pPr marL="228600" lvl="1">
              <a:lnSpc>
                <a:spcPts val="2000"/>
              </a:lnSpc>
              <a:spcAft>
                <a:spcPts val="200"/>
              </a:spcAft>
              <a:buClr>
                <a:srgbClr val="1F2A5C"/>
              </a:buClr>
            </a:pPr>
            <a:r>
              <a:rPr lang="en-US" altLang="ja-JP" sz="1100" b="1" dirty="0">
                <a:solidFill>
                  <a:srgbClr val="333333"/>
                </a:solidFill>
                <a:latin typeface="メイリオ"/>
                <a:ea typeface="メイリオ"/>
                <a:cs typeface="メイリオ"/>
              </a:rPr>
              <a:t>【その他セグメント配信の活用に関して】</a:t>
            </a:r>
          </a:p>
          <a:p>
            <a:pPr marL="228600" lvl="1">
              <a:lnSpc>
                <a:spcPts val="2000"/>
              </a:lnSpc>
              <a:spcAft>
                <a:spcPts val="200"/>
              </a:spcAft>
              <a:buClr>
                <a:srgbClr val="1F2A5C"/>
              </a:buClr>
            </a:pPr>
            <a:r>
              <a:rPr lang="ja-JP" altLang="en-US" sz="1100" dirty="0">
                <a:solidFill>
                  <a:srgbClr val="333333"/>
                </a:solidFill>
                <a:latin typeface="メイリオ"/>
                <a:ea typeface="メイリオ"/>
                <a:cs typeface="メイリオ"/>
              </a:rPr>
              <a:t>Day0のアンケートの回答に合わせて、配信の中身を出し分ける。</a:t>
            </a:r>
          </a:p>
        </p:txBody>
      </p:sp>
    </p:spTree>
    <p:extLst>
      <p:ext uri="{BB962C8B-B14F-4D97-AF65-F5344CB8AC3E}">
        <p14:creationId xmlns:p14="http://schemas.microsoft.com/office/powerpoint/2010/main" val="42945684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D93614-B1C8-8488-6AA6-9C0120B0F016}"/>
            </a:ext>
          </a:extLst>
        </p:cNvPr>
        <p:cNvGrpSpPr/>
        <p:nvPr/>
      </p:nvGrpSpPr>
      <p:grpSpPr>
        <a:xfrm>
          <a:off x="0" y="0"/>
          <a:ext cx="0" cy="0"/>
          <a:chOff x="0" y="0"/>
          <a:chExt cx="0" cy="0"/>
        </a:xfrm>
      </p:grpSpPr>
      <p:sp>
        <p:nvSpPr>
          <p:cNvPr id="8" name="テキスト ボックス 47">
            <a:extLst>
              <a:ext uri="{FF2B5EF4-FFF2-40B4-BE49-F238E27FC236}">
                <a16:creationId xmlns:a16="http://schemas.microsoft.com/office/drawing/2014/main" id="{C1A46CA4-B62C-129C-2265-6EC1BE8C6EFA}"/>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cs typeface="メイリオ"/>
              </a:defRPr>
            </a:lvl2pPr>
            <a:lvl3pPr>
              <a:defRPr kumimoji="1" sz="2400">
                <a:solidFill>
                  <a:schemeClr val="tx1"/>
                </a:solidFill>
                <a:latin typeface="メイリオ" charset="0"/>
                <a:ea typeface="メイリオ" charset="0"/>
                <a:cs typeface="メイリオ"/>
              </a:defRPr>
            </a:lvl3pPr>
            <a:lvl4pPr>
              <a:defRPr kumimoji="1" sz="2000">
                <a:solidFill>
                  <a:schemeClr val="tx1"/>
                </a:solidFill>
                <a:latin typeface="メイリオ" charset="0"/>
                <a:ea typeface="メイリオ" charset="0"/>
                <a:cs typeface="メイリオ"/>
              </a:defRPr>
            </a:lvl4pPr>
            <a:lvl5pPr>
              <a:defRPr kumimoji="1" sz="2000">
                <a:solidFill>
                  <a:schemeClr val="tx1"/>
                </a:solidFill>
                <a:latin typeface="メイリオ" charset="0"/>
                <a:ea typeface="メイリオ" charset="0"/>
                <a:cs typeface="メイリオ"/>
              </a:defRPr>
            </a:lvl5pPr>
            <a:lvl6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6pPr>
            <a:lvl7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7pPr>
            <a:lvl8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8pPr>
            <a:lvl9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cs typeface="メイリオ"/>
              </a:rPr>
              <a:t>短期ニーズトラック：Day0〜</a:t>
            </a:r>
            <a:r>
              <a:rPr lang="en-US" altLang="ja-JP" sz="1600" b="1" dirty="0">
                <a:solidFill>
                  <a:srgbClr val="1F2A5C"/>
                </a:solidFill>
                <a:latin typeface="メイリオ" panose="020B0604030504040204" pitchFamily="50" charset="-128"/>
                <a:ea typeface="メイリオ" panose="020B0604030504040204" pitchFamily="50" charset="-128"/>
                <a:cs typeface="メイリオ"/>
              </a:rPr>
              <a:t>15</a:t>
            </a:r>
            <a:r>
              <a:rPr lang="ja-JP" altLang="en-US" sz="1600" b="1" dirty="0">
                <a:solidFill>
                  <a:srgbClr val="1F2A5C"/>
                </a:solidFill>
                <a:latin typeface="メイリオ" panose="020B0604030504040204" pitchFamily="50" charset="-128"/>
                <a:ea typeface="メイリオ" panose="020B0604030504040204" pitchFamily="50" charset="-128"/>
                <a:cs typeface="メイリオ"/>
              </a:rPr>
              <a:t>の圧縮設計</a:t>
            </a:r>
          </a:p>
        </p:txBody>
      </p:sp>
      <p:sp>
        <p:nvSpPr>
          <p:cNvPr id="12" name="Lead">
            <a:extLst>
              <a:ext uri="{FF2B5EF4-FFF2-40B4-BE49-F238E27FC236}">
                <a16:creationId xmlns:a16="http://schemas.microsoft.com/office/drawing/2014/main" id="{E15018B3-87F2-6365-2D71-C92B5436710C}"/>
              </a:ext>
            </a:extLst>
          </p:cNvPr>
          <p:cNvSpPr txBox="1"/>
          <p:nvPr/>
        </p:nvSpPr>
        <p:spPr>
          <a:xfrm>
            <a:off x="274320" y="847623"/>
            <a:ext cx="6667500" cy="285750"/>
          </a:xfrm>
          <a:prstGeom prst="rect">
            <a:avLst/>
          </a:prstGeom>
          <a:noFill/>
        </p:spPr>
        <p:txBody>
          <a:bodyPr wrap="square" lIns="0" tIns="0" rIns="0" bIns="0" anchor="t"/>
          <a:lstStyle/>
          <a:p>
            <a:pPr>
              <a:buNone/>
            </a:pPr>
            <a:r>
              <a:rPr lang="ja-JP" altLang="en-US" sz="1400" dirty="0">
                <a:solidFill>
                  <a:srgbClr val="5A6378"/>
                </a:solidFill>
                <a:latin typeface="メイリオ"/>
                <a:ea typeface="メイリオ"/>
                <a:cs typeface="メイリオ"/>
              </a:rPr>
              <a:t>検索直後の疑問に即応し、15日以内でセミナー予約へ誘導する</a:t>
            </a:r>
          </a:p>
        </p:txBody>
      </p:sp>
      <p:sp>
        <p:nvSpPr>
          <p:cNvPr id="2" name="Rounded Rectangle 2">
            <a:extLst>
              <a:ext uri="{FF2B5EF4-FFF2-40B4-BE49-F238E27FC236}">
                <a16:creationId xmlns:a16="http://schemas.microsoft.com/office/drawing/2014/main" id="{325EC11C-A4CA-5313-D5BA-D47635B1A838}"/>
              </a:ext>
            </a:extLst>
          </p:cNvPr>
          <p:cNvSpPr/>
          <p:nvPr/>
        </p:nvSpPr>
        <p:spPr>
          <a:xfrm>
            <a:off x="274320"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3" name="Rounded Rectangle 3">
            <a:extLst>
              <a:ext uri="{FF2B5EF4-FFF2-40B4-BE49-F238E27FC236}">
                <a16:creationId xmlns:a16="http://schemas.microsoft.com/office/drawing/2014/main" id="{9A057208-E511-9F3B-B133-9BDFEC60A969}"/>
              </a:ext>
            </a:extLst>
          </p:cNvPr>
          <p:cNvSpPr/>
          <p:nvPr/>
        </p:nvSpPr>
        <p:spPr>
          <a:xfrm>
            <a:off x="274320" y="1560362"/>
            <a:ext cx="1786737" cy="566928"/>
          </a:xfrm>
          <a:prstGeom prst="roundRect">
            <a:avLst>
              <a:gd name="adj" fmla="val 12000"/>
            </a:avLst>
          </a:prstGeom>
          <a:solidFill>
            <a:srgbClr val="1F2A5C"/>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Day0</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追加直後：診断</a:t>
            </a:r>
          </a:p>
        </p:txBody>
      </p:sp>
      <p:sp>
        <p:nvSpPr>
          <p:cNvPr id="4" name="TextBox 4">
            <a:extLst>
              <a:ext uri="{FF2B5EF4-FFF2-40B4-BE49-F238E27FC236}">
                <a16:creationId xmlns:a16="http://schemas.microsoft.com/office/drawing/2014/main" id="{88CC95EE-B0F1-3644-6F82-76DE8FCEACEC}"/>
              </a:ext>
            </a:extLst>
          </p:cNvPr>
          <p:cNvSpPr txBox="1"/>
          <p:nvPr/>
        </p:nvSpPr>
        <p:spPr>
          <a:xfrm>
            <a:off x="384048"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ご追加ありがとう</a:t>
            </a:r>
          </a:p>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ございます！</a:t>
            </a:r>
          </a:p>
        </p:txBody>
      </p:sp>
      <p:sp>
        <p:nvSpPr>
          <p:cNvPr id="5" name="TextBox 5">
            <a:extLst>
              <a:ext uri="{FF2B5EF4-FFF2-40B4-BE49-F238E27FC236}">
                <a16:creationId xmlns:a16="http://schemas.microsoft.com/office/drawing/2014/main" id="{73C4E07D-0DF4-42A9-7298-CE1B2CB8E02C}"/>
              </a:ext>
            </a:extLst>
          </p:cNvPr>
          <p:cNvSpPr txBox="1"/>
          <p:nvPr/>
        </p:nvSpPr>
        <p:spPr>
          <a:xfrm>
            <a:off x="384048" y="2968538"/>
            <a:ext cx="1567281" cy="764825"/>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3問タップで検討段階を分岐・タグ付け</a:t>
            </a:r>
          </a:p>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6" name="Rounded Rectangle 6">
            <a:extLst>
              <a:ext uri="{FF2B5EF4-FFF2-40B4-BE49-F238E27FC236}">
                <a16:creationId xmlns:a16="http://schemas.microsoft.com/office/drawing/2014/main" id="{7A93EFB6-EBEF-0F4B-3781-F0E86D241E63}"/>
              </a:ext>
            </a:extLst>
          </p:cNvPr>
          <p:cNvSpPr/>
          <p:nvPr/>
        </p:nvSpPr>
        <p:spPr>
          <a:xfrm>
            <a:off x="384048" y="5217962"/>
            <a:ext cx="1567281" cy="384048"/>
          </a:xfrm>
          <a:prstGeom prst="roundRect">
            <a:avLst>
              <a:gd name="adj" fmla="val 50000"/>
            </a:avLst>
          </a:prstGeom>
          <a:solidFill>
            <a:srgbClr val="1F2A5C"/>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 3択タップで診断</a:t>
            </a:r>
          </a:p>
        </p:txBody>
      </p:sp>
      <p:sp>
        <p:nvSpPr>
          <p:cNvPr id="7" name="Rounded Rectangle 7">
            <a:extLst>
              <a:ext uri="{FF2B5EF4-FFF2-40B4-BE49-F238E27FC236}">
                <a16:creationId xmlns:a16="http://schemas.microsoft.com/office/drawing/2014/main" id="{32B3653D-6D1F-20F4-8671-385FAFF851FD}"/>
              </a:ext>
            </a:extLst>
          </p:cNvPr>
          <p:cNvSpPr/>
          <p:nvPr/>
        </p:nvSpPr>
        <p:spPr>
          <a:xfrm>
            <a:off x="2170785"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9" name="Rounded Rectangle 8">
            <a:extLst>
              <a:ext uri="{FF2B5EF4-FFF2-40B4-BE49-F238E27FC236}">
                <a16:creationId xmlns:a16="http://schemas.microsoft.com/office/drawing/2014/main" id="{8D16CA1B-AEBC-A5FA-8024-3F23496134C9}"/>
              </a:ext>
            </a:extLst>
          </p:cNvPr>
          <p:cNvSpPr/>
          <p:nvPr/>
        </p:nvSpPr>
        <p:spPr>
          <a:xfrm>
            <a:off x="2170785" y="1560362"/>
            <a:ext cx="1786737" cy="566928"/>
          </a:xfrm>
          <a:prstGeom prst="roundRect">
            <a:avLst>
              <a:gd name="adj" fmla="val 12000"/>
            </a:avLst>
          </a:prstGeom>
          <a:solidFill>
            <a:srgbClr val="4A6FA5"/>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Day1〜2</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0" name="TextBox 9">
            <a:extLst>
              <a:ext uri="{FF2B5EF4-FFF2-40B4-BE49-F238E27FC236}">
                <a16:creationId xmlns:a16="http://schemas.microsoft.com/office/drawing/2014/main" id="{ED3C0554-9244-5E70-C3F2-82AD432D9891}"/>
              </a:ext>
            </a:extLst>
          </p:cNvPr>
          <p:cNvSpPr txBox="1"/>
          <p:nvPr/>
        </p:nvSpPr>
        <p:spPr>
          <a:xfrm>
            <a:off x="2280513"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a:t>
            </a:r>
          </a:p>
        </p:txBody>
      </p:sp>
      <p:sp>
        <p:nvSpPr>
          <p:cNvPr id="11" name="TextBox 10">
            <a:extLst>
              <a:ext uri="{FF2B5EF4-FFF2-40B4-BE49-F238E27FC236}">
                <a16:creationId xmlns:a16="http://schemas.microsoft.com/office/drawing/2014/main" id="{731AE54A-29F4-E5A3-1183-48ED689B8ACC}"/>
              </a:ext>
            </a:extLst>
          </p:cNvPr>
          <p:cNvSpPr txBox="1"/>
          <p:nvPr/>
        </p:nvSpPr>
        <p:spPr>
          <a:xfrm>
            <a:off x="2280513" y="2968538"/>
            <a:ext cx="1567281" cy="596702"/>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13" name="Rounded Rectangle 11">
            <a:extLst>
              <a:ext uri="{FF2B5EF4-FFF2-40B4-BE49-F238E27FC236}">
                <a16:creationId xmlns:a16="http://schemas.microsoft.com/office/drawing/2014/main" id="{C26D2D8C-ABF2-0F03-0567-F772D753D0E8}"/>
              </a:ext>
            </a:extLst>
          </p:cNvPr>
          <p:cNvSpPr/>
          <p:nvPr/>
        </p:nvSpPr>
        <p:spPr>
          <a:xfrm>
            <a:off x="2280513" y="5217962"/>
            <a:ext cx="1567281" cy="384048"/>
          </a:xfrm>
          <a:prstGeom prst="roundRect">
            <a:avLst>
              <a:gd name="adj" fmla="val 50000"/>
            </a:avLst>
          </a:prstGeom>
          <a:solidFill>
            <a:srgbClr val="4A6FA5"/>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endParaRPr kumimoji="0" lang="en-US" sz="95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14" name="Rounded Rectangle 12">
            <a:extLst>
              <a:ext uri="{FF2B5EF4-FFF2-40B4-BE49-F238E27FC236}">
                <a16:creationId xmlns:a16="http://schemas.microsoft.com/office/drawing/2014/main" id="{4A1B016C-3BCC-82D6-634C-F49AAE31CA00}"/>
              </a:ext>
            </a:extLst>
          </p:cNvPr>
          <p:cNvSpPr/>
          <p:nvPr/>
        </p:nvSpPr>
        <p:spPr>
          <a:xfrm>
            <a:off x="4067250"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16" name="Rounded Rectangle 13">
            <a:extLst>
              <a:ext uri="{FF2B5EF4-FFF2-40B4-BE49-F238E27FC236}">
                <a16:creationId xmlns:a16="http://schemas.microsoft.com/office/drawing/2014/main" id="{FEA91215-4671-8F7B-948E-885B87ADC67B}"/>
              </a:ext>
            </a:extLst>
          </p:cNvPr>
          <p:cNvSpPr/>
          <p:nvPr/>
        </p:nvSpPr>
        <p:spPr>
          <a:xfrm>
            <a:off x="4067250" y="1560362"/>
            <a:ext cx="1786737" cy="566928"/>
          </a:xfrm>
          <a:prstGeom prst="roundRect">
            <a:avLst>
              <a:gd name="adj" fmla="val 12000"/>
            </a:avLst>
          </a:prstGeom>
          <a:solidFill>
            <a:srgbClr val="4A6FA5"/>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Day4〜5</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8" name="TextBox 14">
            <a:extLst>
              <a:ext uri="{FF2B5EF4-FFF2-40B4-BE49-F238E27FC236}">
                <a16:creationId xmlns:a16="http://schemas.microsoft.com/office/drawing/2014/main" id="{8D211078-EBAD-209F-4F3F-0C349BF4FD82}"/>
              </a:ext>
            </a:extLst>
          </p:cNvPr>
          <p:cNvSpPr txBox="1"/>
          <p:nvPr/>
        </p:nvSpPr>
        <p:spPr>
          <a:xfrm>
            <a:off x="4176978"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a:t>
            </a:r>
          </a:p>
        </p:txBody>
      </p:sp>
      <p:sp>
        <p:nvSpPr>
          <p:cNvPr id="20" name="TextBox 15">
            <a:extLst>
              <a:ext uri="{FF2B5EF4-FFF2-40B4-BE49-F238E27FC236}">
                <a16:creationId xmlns:a16="http://schemas.microsoft.com/office/drawing/2014/main" id="{365832DB-68FC-D672-D52E-8442D3CB553A}"/>
              </a:ext>
            </a:extLst>
          </p:cNvPr>
          <p:cNvSpPr txBox="1"/>
          <p:nvPr/>
        </p:nvSpPr>
        <p:spPr>
          <a:xfrm>
            <a:off x="4176978" y="2968538"/>
            <a:ext cx="1567281" cy="764825"/>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22" name="Rounded Rectangle 16">
            <a:extLst>
              <a:ext uri="{FF2B5EF4-FFF2-40B4-BE49-F238E27FC236}">
                <a16:creationId xmlns:a16="http://schemas.microsoft.com/office/drawing/2014/main" id="{06C50741-6FE4-CFDC-C843-4251AC11BC48}"/>
              </a:ext>
            </a:extLst>
          </p:cNvPr>
          <p:cNvSpPr/>
          <p:nvPr/>
        </p:nvSpPr>
        <p:spPr>
          <a:xfrm>
            <a:off x="4176978" y="5217962"/>
            <a:ext cx="1567281" cy="384048"/>
          </a:xfrm>
          <a:prstGeom prst="roundRect">
            <a:avLst>
              <a:gd name="adj" fmla="val 50000"/>
            </a:avLst>
          </a:prstGeom>
          <a:solidFill>
            <a:srgbClr val="4A6FA5"/>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24" name="Rounded Rectangle 17">
            <a:extLst>
              <a:ext uri="{FF2B5EF4-FFF2-40B4-BE49-F238E27FC236}">
                <a16:creationId xmlns:a16="http://schemas.microsoft.com/office/drawing/2014/main" id="{5E61CC1A-5313-8BA8-A36D-461E68D47515}"/>
              </a:ext>
            </a:extLst>
          </p:cNvPr>
          <p:cNvSpPr/>
          <p:nvPr/>
        </p:nvSpPr>
        <p:spPr>
          <a:xfrm>
            <a:off x="5963715"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26" name="Rounded Rectangle 18">
            <a:extLst>
              <a:ext uri="{FF2B5EF4-FFF2-40B4-BE49-F238E27FC236}">
                <a16:creationId xmlns:a16="http://schemas.microsoft.com/office/drawing/2014/main" id="{CF0F0823-8E61-35DF-0019-982187079423}"/>
              </a:ext>
            </a:extLst>
          </p:cNvPr>
          <p:cNvSpPr/>
          <p:nvPr/>
        </p:nvSpPr>
        <p:spPr>
          <a:xfrm>
            <a:off x="5963715" y="1560362"/>
            <a:ext cx="1786737" cy="566928"/>
          </a:xfrm>
          <a:prstGeom prst="roundRect">
            <a:avLst>
              <a:gd name="adj" fmla="val 12000"/>
            </a:avLst>
          </a:prstGeom>
          <a:solidFill>
            <a:srgbClr val="5A6378"/>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Day8〜9</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28" name="TextBox 19">
            <a:extLst>
              <a:ext uri="{FF2B5EF4-FFF2-40B4-BE49-F238E27FC236}">
                <a16:creationId xmlns:a16="http://schemas.microsoft.com/office/drawing/2014/main" id="{1E77E8ED-9C7B-F76F-EC10-4B949FB21FD1}"/>
              </a:ext>
            </a:extLst>
          </p:cNvPr>
          <p:cNvSpPr txBox="1"/>
          <p:nvPr/>
        </p:nvSpPr>
        <p:spPr>
          <a:xfrm>
            <a:off x="6073443"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a:t>
            </a:r>
          </a:p>
        </p:txBody>
      </p:sp>
      <p:sp>
        <p:nvSpPr>
          <p:cNvPr id="30" name="TextBox 20">
            <a:extLst>
              <a:ext uri="{FF2B5EF4-FFF2-40B4-BE49-F238E27FC236}">
                <a16:creationId xmlns:a16="http://schemas.microsoft.com/office/drawing/2014/main" id="{1BD34B43-6F7A-FF6A-770E-72D31542F706}"/>
              </a:ext>
            </a:extLst>
          </p:cNvPr>
          <p:cNvSpPr txBox="1"/>
          <p:nvPr/>
        </p:nvSpPr>
        <p:spPr>
          <a:xfrm>
            <a:off x="6073443" y="2968538"/>
            <a:ext cx="1567281" cy="764825"/>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32" name="Rounded Rectangle 21">
            <a:extLst>
              <a:ext uri="{FF2B5EF4-FFF2-40B4-BE49-F238E27FC236}">
                <a16:creationId xmlns:a16="http://schemas.microsoft.com/office/drawing/2014/main" id="{AF1930A0-66AA-5FA0-A37F-0CABADFA0C3B}"/>
              </a:ext>
            </a:extLst>
          </p:cNvPr>
          <p:cNvSpPr/>
          <p:nvPr/>
        </p:nvSpPr>
        <p:spPr>
          <a:xfrm>
            <a:off x="6073443" y="5217962"/>
            <a:ext cx="1567281" cy="384048"/>
          </a:xfrm>
          <a:prstGeom prst="roundRect">
            <a:avLst>
              <a:gd name="adj" fmla="val 50000"/>
            </a:avLst>
          </a:prstGeom>
          <a:solidFill>
            <a:srgbClr val="5A6378"/>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34" name="Rounded Rectangle 22">
            <a:extLst>
              <a:ext uri="{FF2B5EF4-FFF2-40B4-BE49-F238E27FC236}">
                <a16:creationId xmlns:a16="http://schemas.microsoft.com/office/drawing/2014/main" id="{F2C88914-14C1-0891-4CF0-9944C3A3D969}"/>
              </a:ext>
            </a:extLst>
          </p:cNvPr>
          <p:cNvSpPr/>
          <p:nvPr/>
        </p:nvSpPr>
        <p:spPr>
          <a:xfrm>
            <a:off x="7860180"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36" name="Rounded Rectangle 23">
            <a:extLst>
              <a:ext uri="{FF2B5EF4-FFF2-40B4-BE49-F238E27FC236}">
                <a16:creationId xmlns:a16="http://schemas.microsoft.com/office/drawing/2014/main" id="{550A2935-2D5F-71AA-03EA-89DCD709158A}"/>
              </a:ext>
            </a:extLst>
          </p:cNvPr>
          <p:cNvSpPr/>
          <p:nvPr/>
        </p:nvSpPr>
        <p:spPr>
          <a:xfrm>
            <a:off x="7860180" y="1560362"/>
            <a:ext cx="1786737" cy="566928"/>
          </a:xfrm>
          <a:prstGeom prst="roundRect">
            <a:avLst>
              <a:gd name="adj" fmla="val 12000"/>
            </a:avLst>
          </a:prstGeom>
          <a:solidFill>
            <a:srgbClr val="1F2A5C"/>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Day1</a:t>
            </a:r>
            <a:r>
              <a:rPr kumimoji="0" lang="en-US" altLang="ja-JP" sz="15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0</a:t>
            </a:r>
            <a:r>
              <a:rPr kumimoji="0" sz="15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〜15</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dirty="0" err="1">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オファ</a:t>
            </a:r>
            <a:r>
              <a:rPr kumimoji="0" sz="900" b="0"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ー</a:t>
            </a:r>
          </a:p>
        </p:txBody>
      </p:sp>
      <p:sp>
        <p:nvSpPr>
          <p:cNvPr id="38" name="TextBox 24">
            <a:extLst>
              <a:ext uri="{FF2B5EF4-FFF2-40B4-BE49-F238E27FC236}">
                <a16:creationId xmlns:a16="http://schemas.microsoft.com/office/drawing/2014/main" id="{C6884821-BFCB-BFA3-A7F3-7B83095EE162}"/>
              </a:ext>
            </a:extLst>
          </p:cNvPr>
          <p:cNvSpPr txBox="1"/>
          <p:nvPr/>
        </p:nvSpPr>
        <p:spPr>
          <a:xfrm>
            <a:off x="7969908"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a:t>
            </a:r>
          </a:p>
        </p:txBody>
      </p:sp>
      <p:sp>
        <p:nvSpPr>
          <p:cNvPr id="39" name="TextBox 25">
            <a:extLst>
              <a:ext uri="{FF2B5EF4-FFF2-40B4-BE49-F238E27FC236}">
                <a16:creationId xmlns:a16="http://schemas.microsoft.com/office/drawing/2014/main" id="{C5D41C5B-DA02-D594-6EF3-1CB8B850F14A}"/>
              </a:ext>
            </a:extLst>
          </p:cNvPr>
          <p:cNvSpPr txBox="1"/>
          <p:nvPr/>
        </p:nvSpPr>
        <p:spPr>
          <a:xfrm>
            <a:off x="7969908" y="2968538"/>
            <a:ext cx="1567281" cy="596702"/>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40" name="Rounded Rectangle 26">
            <a:extLst>
              <a:ext uri="{FF2B5EF4-FFF2-40B4-BE49-F238E27FC236}">
                <a16:creationId xmlns:a16="http://schemas.microsoft.com/office/drawing/2014/main" id="{A067CDE1-ED9A-E718-EE0A-DA2AEB873FF1}"/>
              </a:ext>
            </a:extLst>
          </p:cNvPr>
          <p:cNvSpPr/>
          <p:nvPr/>
        </p:nvSpPr>
        <p:spPr>
          <a:xfrm>
            <a:off x="7969908" y="5217962"/>
            <a:ext cx="1567281" cy="384048"/>
          </a:xfrm>
          <a:prstGeom prst="roundRect">
            <a:avLst>
              <a:gd name="adj" fmla="val 50000"/>
            </a:avLst>
          </a:prstGeom>
          <a:solidFill>
            <a:srgbClr val="1F2A5C"/>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41" name="TextBox 27">
            <a:extLst>
              <a:ext uri="{FF2B5EF4-FFF2-40B4-BE49-F238E27FC236}">
                <a16:creationId xmlns:a16="http://schemas.microsoft.com/office/drawing/2014/main" id="{BFE4A287-10A0-75D3-A1CE-D799E1EFC13D}"/>
              </a:ext>
            </a:extLst>
          </p:cNvPr>
          <p:cNvSpPr txBox="1"/>
          <p:nvPr/>
        </p:nvSpPr>
        <p:spPr>
          <a:xfrm>
            <a:off x="274320" y="5858042"/>
            <a:ext cx="9372600" cy="508216"/>
          </a:xfrm>
          <a:prstGeom prst="rect">
            <a:avLst/>
          </a:prstGeom>
          <a:noFill/>
        </p:spPr>
        <p:txBody>
          <a:bodyPr wrap="square">
            <a:spAutoFit/>
          </a:bodyPr>
          <a:lstStyle/>
          <a:p>
            <a:pPr>
              <a:lnSpc>
                <a:spcPct val="120000"/>
              </a:lnSpc>
              <a:buClr>
                <a:srgbClr val="000000"/>
              </a:buClr>
              <a:buFont typeface="Arial"/>
              <a:buNone/>
            </a:pPr>
            <a:r>
              <a:rPr kumimoji="0" sz="1150" kern="0" dirty="0">
                <a:solidFill>
                  <a:srgbClr val="5A6378"/>
                </a:solidFill>
                <a:latin typeface="メイリオ" panose="020B0604030504040204" pitchFamily="50" charset="-128"/>
                <a:ea typeface="メイリオ" panose="020B0604030504040204" pitchFamily="50" charset="-128"/>
                <a:cs typeface="メイリオ"/>
                <a:sym typeface="Arial"/>
              </a:rPr>
              <a:t>--</a:t>
            </a:r>
            <a:endParaRPr kumimoji="0" lang="en-US" sz="1150" kern="0" dirty="0">
              <a:solidFill>
                <a:srgbClr val="5A6378"/>
              </a:solidFill>
              <a:latin typeface="メイリオ" panose="020B0604030504040204" pitchFamily="50" charset="-128"/>
              <a:ea typeface="メイリオ" panose="020B0604030504040204" pitchFamily="50" charset="-128"/>
              <a:cs typeface="メイリオ"/>
              <a:sym typeface="Arial"/>
            </a:endParaRPr>
          </a:p>
        </p:txBody>
      </p:sp>
      <p:sp>
        <p:nvSpPr>
          <p:cNvPr id="43" name="TextBox 5">
            <a:extLst>
              <a:ext uri="{FF2B5EF4-FFF2-40B4-BE49-F238E27FC236}">
                <a16:creationId xmlns:a16="http://schemas.microsoft.com/office/drawing/2014/main" id="{5186B2E3-B6EE-E2B1-37D8-54314195DE6A}"/>
              </a:ext>
            </a:extLst>
          </p:cNvPr>
          <p:cNvSpPr txBox="1"/>
          <p:nvPr/>
        </p:nvSpPr>
        <p:spPr>
          <a:xfrm>
            <a:off x="384048" y="3898197"/>
            <a:ext cx="1567281" cy="428579"/>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altLang="ja-JP"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p>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endParaRPr kumimoji="0"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endParaRPr>
          </a:p>
        </p:txBody>
      </p:sp>
      <p:sp>
        <p:nvSpPr>
          <p:cNvPr id="45" name="TextBox 10">
            <a:extLst>
              <a:ext uri="{FF2B5EF4-FFF2-40B4-BE49-F238E27FC236}">
                <a16:creationId xmlns:a16="http://schemas.microsoft.com/office/drawing/2014/main" id="{21407363-BE74-F527-3AD4-32DCABC777CE}"/>
              </a:ext>
            </a:extLst>
          </p:cNvPr>
          <p:cNvSpPr txBox="1"/>
          <p:nvPr/>
        </p:nvSpPr>
        <p:spPr>
          <a:xfrm>
            <a:off x="2280513" y="3898197"/>
            <a:ext cx="1567281" cy="932948"/>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altLang="ja-JP"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endPar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endParaRP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p>
        </p:txBody>
      </p:sp>
      <p:sp>
        <p:nvSpPr>
          <p:cNvPr id="47" name="TextBox 15">
            <a:extLst>
              <a:ext uri="{FF2B5EF4-FFF2-40B4-BE49-F238E27FC236}">
                <a16:creationId xmlns:a16="http://schemas.microsoft.com/office/drawing/2014/main" id="{C78B27A0-4402-41C9-F91E-C34A734A9324}"/>
              </a:ext>
            </a:extLst>
          </p:cNvPr>
          <p:cNvSpPr txBox="1"/>
          <p:nvPr/>
        </p:nvSpPr>
        <p:spPr>
          <a:xfrm>
            <a:off x="4176978" y="3898197"/>
            <a:ext cx="1567281" cy="932948"/>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p>
        </p:txBody>
      </p:sp>
      <p:sp>
        <p:nvSpPr>
          <p:cNvPr id="49" name="TextBox 20">
            <a:extLst>
              <a:ext uri="{FF2B5EF4-FFF2-40B4-BE49-F238E27FC236}">
                <a16:creationId xmlns:a16="http://schemas.microsoft.com/office/drawing/2014/main" id="{ED838C3F-CC60-6AF7-B602-BDF9E60442DC}"/>
              </a:ext>
            </a:extLst>
          </p:cNvPr>
          <p:cNvSpPr txBox="1"/>
          <p:nvPr/>
        </p:nvSpPr>
        <p:spPr>
          <a:xfrm>
            <a:off x="6073443" y="3898197"/>
            <a:ext cx="1567281" cy="1101071"/>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p>
        </p:txBody>
      </p:sp>
      <p:sp>
        <p:nvSpPr>
          <p:cNvPr id="51" name="TextBox 25">
            <a:extLst>
              <a:ext uri="{FF2B5EF4-FFF2-40B4-BE49-F238E27FC236}">
                <a16:creationId xmlns:a16="http://schemas.microsoft.com/office/drawing/2014/main" id="{0457EFFA-CEE7-8B18-D5C7-92FBBA486972}"/>
              </a:ext>
            </a:extLst>
          </p:cNvPr>
          <p:cNvSpPr txBox="1"/>
          <p:nvPr/>
        </p:nvSpPr>
        <p:spPr>
          <a:xfrm>
            <a:off x="7969908" y="3898197"/>
            <a:ext cx="1567281" cy="932948"/>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p>
        </p:txBody>
      </p:sp>
    </p:spTree>
    <p:extLst>
      <p:ext uri="{BB962C8B-B14F-4D97-AF65-F5344CB8AC3E}">
        <p14:creationId xmlns:p14="http://schemas.microsoft.com/office/powerpoint/2010/main" val="1050774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4A247A-425B-CA18-88F5-CBC38492F701}"/>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0905C2E3-B47A-8C1A-D463-CDA5864BF5B3}"/>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12B93E0B-3589-44A0-B6C1-7C389DC3B2F5}"/>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B867582A-814C-8A7B-A5C3-39ECB2F24763}"/>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想定の費用対効果（詳細）</a:t>
            </a:r>
            <a:endParaRPr sz="1600" b="1" dirty="0">
              <a:solidFill>
                <a:srgbClr val="002060"/>
              </a:solidFill>
              <a:latin typeface="メイリオ"/>
              <a:ea typeface="メイリオ"/>
              <a:cs typeface="メイリオ"/>
              <a:sym typeface="Meiryo"/>
            </a:endParaRPr>
          </a:p>
        </p:txBody>
      </p:sp>
      <p:sp>
        <p:nvSpPr>
          <p:cNvPr id="5" name="Heading">
            <a:extLst>
              <a:ext uri="{FF2B5EF4-FFF2-40B4-BE49-F238E27FC236}">
                <a16:creationId xmlns:a16="http://schemas.microsoft.com/office/drawing/2014/main" id="{6E3DABA0-77D6-C7E1-6372-98872981A825}"/>
              </a:ext>
            </a:extLst>
          </p:cNvPr>
          <p:cNvSpPr txBox="1"/>
          <p:nvPr/>
        </p:nvSpPr>
        <p:spPr>
          <a:xfrm>
            <a:off x="381000" y="1181608"/>
            <a:ext cx="9144000" cy="279400"/>
          </a:xfrm>
          <a:prstGeom prst="rect">
            <a:avLst/>
          </a:prstGeom>
          <a:noFill/>
          <a:ln>
            <a:noFill/>
          </a:ln>
        </p:spPr>
        <p:txBody>
          <a:bodyPr wrap="square" lIns="101600" tIns="76200" rIns="101600" bIns="76200" anchor="t"/>
          <a:lstStyle/>
          <a:p>
            <a:pPr>
              <a:buClr>
                <a:srgbClr val="000000"/>
              </a:buClr>
              <a:buFont typeface="Arial"/>
              <a:buNone/>
            </a:pPr>
            <a:r>
              <a:rPr kumimoji="0" lang="ja-JP" altLang="en-US" sz="1400" b="1" kern="0" dirty="0">
                <a:solidFill>
                  <a:srgbClr val="1F2A5C"/>
                </a:solidFill>
                <a:latin typeface="メイリオ" panose="020B0604030504040204" pitchFamily="50" charset="-128"/>
                <a:ea typeface="メイリオ" panose="020B0604030504040204" pitchFamily="50" charset="-128"/>
                <a:cs typeface="メイリオ"/>
                <a:sym typeface="Arial"/>
              </a:rPr>
              <a:t>トラック分岐の設計思想</a:t>
            </a:r>
          </a:p>
        </p:txBody>
      </p:sp>
      <p:sp>
        <p:nvSpPr>
          <p:cNvPr id="6" name="LeftHeader">
            <a:extLst>
              <a:ext uri="{FF2B5EF4-FFF2-40B4-BE49-F238E27FC236}">
                <a16:creationId xmlns:a16="http://schemas.microsoft.com/office/drawing/2014/main" id="{A6C62775-6562-D5CC-92F7-DD62EEBC744F}"/>
              </a:ext>
            </a:extLst>
          </p:cNvPr>
          <p:cNvSpPr txBox="1"/>
          <p:nvPr/>
        </p:nvSpPr>
        <p:spPr>
          <a:xfrm>
            <a:off x="381000" y="1562607"/>
            <a:ext cx="4445000" cy="380999"/>
          </a:xfrm>
          <a:prstGeom prst="rect">
            <a:avLst/>
          </a:prstGeom>
          <a:solidFill>
            <a:srgbClr val="1F2A5C"/>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メイリオ"/>
                <a:sym typeface="Arial"/>
              </a:rPr>
              <a:t>イベント期の層（予約した方）</a:t>
            </a:r>
          </a:p>
        </p:txBody>
      </p:sp>
      <p:sp>
        <p:nvSpPr>
          <p:cNvPr id="7" name="LeftBody">
            <a:extLst>
              <a:ext uri="{FF2B5EF4-FFF2-40B4-BE49-F238E27FC236}">
                <a16:creationId xmlns:a16="http://schemas.microsoft.com/office/drawing/2014/main" id="{DD6A368E-576C-29EC-7AEC-6F417FD64F2E}"/>
              </a:ext>
            </a:extLst>
          </p:cNvPr>
          <p:cNvSpPr txBox="1"/>
          <p:nvPr/>
        </p:nvSpPr>
        <p:spPr>
          <a:xfrm>
            <a:off x="381000" y="1943607"/>
            <a:ext cx="4445000" cy="2423763"/>
          </a:xfrm>
          <a:prstGeom prst="rect">
            <a:avLst/>
          </a:prstGeom>
          <a:solidFill>
            <a:srgbClr val="F5F7FA"/>
          </a:solidFill>
          <a:ln w="6350">
            <a:solidFill>
              <a:srgbClr val="D1D8E0"/>
            </a:solidFill>
          </a:ln>
        </p:spPr>
        <p:txBody>
          <a:bodyPr wrap="square" lIns="177800" tIns="152400" rIns="177800" bIns="1524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特徴</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セミナーを予約済み・参加の意思がある</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当日までに日が空く</a:t>
            </a:r>
          </a:p>
          <a:p>
            <a:pPr>
              <a:buClr>
                <a:srgbClr val="000000"/>
              </a:buClr>
              <a:buFont typeface="Arial"/>
              <a:buNone/>
            </a:p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日程ごとの前日・当日のお知らせで、当日の参加につなげられる</a:t>
            </a:r>
          </a:p>
          <a:p>
            <a:pPr>
              <a:buClr>
                <a:srgbClr val="000000"/>
              </a:buClr>
              <a:buFont typeface="Arial"/>
              <a:buNone/>
            </a:p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デメリット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当日に参加しないと、そのまま離れやすい</a:t>
            </a:r>
          </a:p>
        </p:txBody>
      </p:sp>
      <p:sp>
        <p:nvSpPr>
          <p:cNvPr id="9" name="RightHeader">
            <a:extLst>
              <a:ext uri="{FF2B5EF4-FFF2-40B4-BE49-F238E27FC236}">
                <a16:creationId xmlns:a16="http://schemas.microsoft.com/office/drawing/2014/main" id="{285534EC-0A05-D7BE-EBC2-EA588B18E931}"/>
              </a:ext>
            </a:extLst>
          </p:cNvPr>
          <p:cNvSpPr txBox="1"/>
          <p:nvPr/>
        </p:nvSpPr>
        <p:spPr>
          <a:xfrm>
            <a:off x="5080000" y="1562607"/>
            <a:ext cx="4445000" cy="380999"/>
          </a:xfrm>
          <a:prstGeom prst="rect">
            <a:avLst/>
          </a:prstGeom>
          <a:solidFill>
            <a:srgbClr val="1F2A5C"/>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メイリオ"/>
                <a:sym typeface="Arial"/>
              </a:rPr>
              <a:t>平常期の層（予約していない方）</a:t>
            </a:r>
          </a:p>
        </p:txBody>
      </p:sp>
      <p:sp>
        <p:nvSpPr>
          <p:cNvPr id="11" name="RightBody">
            <a:extLst>
              <a:ext uri="{FF2B5EF4-FFF2-40B4-BE49-F238E27FC236}">
                <a16:creationId xmlns:a16="http://schemas.microsoft.com/office/drawing/2014/main" id="{27AAF778-ED13-4BF7-35CB-BDA3D2A9FF91}"/>
              </a:ext>
            </a:extLst>
          </p:cNvPr>
          <p:cNvSpPr txBox="1"/>
          <p:nvPr/>
        </p:nvSpPr>
        <p:spPr>
          <a:xfrm>
            <a:off x="5080000" y="1943607"/>
            <a:ext cx="4445000" cy="2423763"/>
          </a:xfrm>
          <a:prstGeom prst="rect">
            <a:avLst/>
          </a:prstGeom>
          <a:solidFill>
            <a:srgbClr val="FFFFFF"/>
          </a:solidFill>
          <a:ln w="12700">
            <a:solidFill>
              <a:srgbClr val="1F2A5C"/>
            </a:solidFill>
          </a:ln>
        </p:spPr>
        <p:txBody>
          <a:bodyPr wrap="square" lIns="177800" tIns="152400" rIns="177800" bIns="1524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特徴</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LPを見たが、今回は申し込んでいない</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次のイベントまで間がある</a:t>
            </a:r>
          </a:p>
          <a:p>
            <a:pPr>
              <a:buClr>
                <a:srgbClr val="000000"/>
              </a:buClr>
              <a:buFont typeface="Arial"/>
              <a:buNone/>
            </a:p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平常期の配信で、次のイベントまでつながりを保てる</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次のイベントの案内を、広告より先に届けられる</a:t>
            </a:r>
          </a:p>
          <a:p>
            <a:pPr>
              <a:buClr>
                <a:srgbClr val="000000"/>
              </a:buClr>
              <a:buFont typeface="Arial"/>
              <a:buNone/>
            </a:p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デメリット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予約・入会まで時間がかかる</a:t>
            </a:r>
          </a:p>
        </p:txBody>
      </p:sp>
      <p:sp>
        <p:nvSpPr>
          <p:cNvPr id="13" name="Conclusion">
            <a:extLst>
              <a:ext uri="{FF2B5EF4-FFF2-40B4-BE49-F238E27FC236}">
                <a16:creationId xmlns:a16="http://schemas.microsoft.com/office/drawing/2014/main" id="{6D432096-7298-F609-05CC-7A87E38C98F4}"/>
              </a:ext>
            </a:extLst>
          </p:cNvPr>
          <p:cNvSpPr txBox="1"/>
          <p:nvPr/>
        </p:nvSpPr>
        <p:spPr>
          <a:xfrm>
            <a:off x="381000" y="4554727"/>
            <a:ext cx="9144000" cy="812800"/>
          </a:xfrm>
          <a:prstGeom prst="rect">
            <a:avLst/>
          </a:prstGeom>
          <a:solidFill>
            <a:srgbClr val="F0F2F7"/>
          </a:solidFill>
          <a:ln>
            <a:noFill/>
          </a:ln>
        </p:spPr>
        <p:txBody>
          <a:bodyPr wrap="square" lIns="177800" tIns="127000" rIns="177800" bIns="1270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結論・推奨</a:t>
            </a:r>
          </a:p>
          <a:p>
            <a:pPr>
              <a:spcBef>
                <a:spcPts val="200"/>
              </a:spcBef>
              <a:buClr>
                <a:srgbClr val="000000"/>
              </a:buClr>
              <a:buFont typeface="Arial"/>
              <a:buNone/>
            </a:pPr>
            <a:r>
              <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rPr>
              <a:t>友だちの入口（ポップアップツール／サンクスLINE誘導）で自動で分け、予約した方は当日の参加へ、</a:t>
            </a:r>
            <a:endPar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endParaRPr>
          </a:p>
          <a:p>
            <a:pPr>
              <a:spcBef>
                <a:spcPts val="200"/>
              </a:spcBef>
              <a:buClr>
                <a:srgbClr val="000000"/>
              </a:buClr>
              <a:buFont typeface="Arial"/>
              <a:buNone/>
            </a:pPr>
            <a:r>
              <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rPr>
              <a:t>予約していない方は平常期の配信で次のイベントへつなげる。</a:t>
            </a:r>
            <a:endPar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endParaRPr>
          </a:p>
        </p:txBody>
      </p:sp>
      <p:sp>
        <p:nvSpPr>
          <p:cNvPr id="8" name="正方形/長方形 7">
            <a:extLst>
              <a:ext uri="{FF2B5EF4-FFF2-40B4-BE49-F238E27FC236}">
                <a16:creationId xmlns:a16="http://schemas.microsoft.com/office/drawing/2014/main" id="{2B282CB3-BF1E-586C-2C28-1C71F5FCA804}"/>
              </a:ext>
            </a:extLst>
          </p:cNvPr>
          <p:cNvSpPr/>
          <p:nvPr/>
        </p:nvSpPr>
        <p:spPr>
          <a:xfrm>
            <a:off x="224971" y="1549970"/>
            <a:ext cx="4757057" cy="2851149"/>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2" name="正方形/長方形 11">
            <a:extLst>
              <a:ext uri="{FF2B5EF4-FFF2-40B4-BE49-F238E27FC236}">
                <a16:creationId xmlns:a16="http://schemas.microsoft.com/office/drawing/2014/main" id="{1FECCBA2-AC74-A2AF-3521-2B2FF4D4D290}"/>
              </a:ext>
            </a:extLst>
          </p:cNvPr>
          <p:cNvSpPr/>
          <p:nvPr/>
        </p:nvSpPr>
        <p:spPr>
          <a:xfrm>
            <a:off x="379975" y="4547075"/>
            <a:ext cx="9143999" cy="841795"/>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Tree>
    <p:extLst>
      <p:ext uri="{BB962C8B-B14F-4D97-AF65-F5344CB8AC3E}">
        <p14:creationId xmlns:p14="http://schemas.microsoft.com/office/powerpoint/2010/main" val="15169176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D74F9F-F8CE-54D5-B025-489FE860A6A8}"/>
            </a:ext>
          </a:extLst>
        </p:cNvPr>
        <p:cNvGrpSpPr/>
        <p:nvPr/>
      </p:nvGrpSpPr>
      <p:grpSpPr>
        <a:xfrm>
          <a:off x="0" y="0"/>
          <a:ext cx="0" cy="0"/>
          <a:chOff x="0" y="0"/>
          <a:chExt cx="0" cy="0"/>
        </a:xfrm>
      </p:grpSpPr>
      <p:sp>
        <p:nvSpPr>
          <p:cNvPr id="4" name="テキスト ボックス 47">
            <a:extLst>
              <a:ext uri="{FF2B5EF4-FFF2-40B4-BE49-F238E27FC236}">
                <a16:creationId xmlns:a16="http://schemas.microsoft.com/office/drawing/2014/main" id="{EE4D7325-B8B2-BB52-63C7-88C454517059}"/>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cs typeface="メイリオ"/>
              </a:defRPr>
            </a:lvl2pPr>
            <a:lvl3pPr>
              <a:defRPr kumimoji="1" sz="2400">
                <a:solidFill>
                  <a:schemeClr val="tx1"/>
                </a:solidFill>
                <a:latin typeface="メイリオ" charset="0"/>
                <a:ea typeface="メイリオ" charset="0"/>
                <a:cs typeface="メイリオ"/>
              </a:defRPr>
            </a:lvl3pPr>
            <a:lvl4pPr>
              <a:defRPr kumimoji="1" sz="2000">
                <a:solidFill>
                  <a:schemeClr val="tx1"/>
                </a:solidFill>
                <a:latin typeface="メイリオ" charset="0"/>
                <a:ea typeface="メイリオ" charset="0"/>
                <a:cs typeface="メイリオ"/>
              </a:defRPr>
            </a:lvl4pPr>
            <a:lvl5pPr>
              <a:defRPr kumimoji="1" sz="2000">
                <a:solidFill>
                  <a:schemeClr val="tx1"/>
                </a:solidFill>
                <a:latin typeface="メイリオ" charset="0"/>
                <a:ea typeface="メイリオ" charset="0"/>
                <a:cs typeface="メイリオ"/>
              </a:defRPr>
            </a:lvl5pPr>
            <a:lvl6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6pPr>
            <a:lvl7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7pPr>
            <a:lvl8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8pPr>
            <a:lvl9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cs typeface="メイリオ"/>
              </a:rPr>
              <a:t>休眠リード開拓と参加後フォローアップ</a:t>
            </a:r>
          </a:p>
        </p:txBody>
      </p:sp>
      <p:sp>
        <p:nvSpPr>
          <p:cNvPr id="8" name="Lead">
            <a:extLst>
              <a:ext uri="{FF2B5EF4-FFF2-40B4-BE49-F238E27FC236}">
                <a16:creationId xmlns:a16="http://schemas.microsoft.com/office/drawing/2014/main" id="{D9FCD3C6-ACF7-5D09-5F1C-DE149D83848E}"/>
              </a:ext>
            </a:extLst>
          </p:cNvPr>
          <p:cNvSpPr txBox="1"/>
          <p:nvPr/>
        </p:nvSpPr>
        <p:spPr>
          <a:xfrm>
            <a:off x="342900" y="711200"/>
            <a:ext cx="6667500" cy="285750"/>
          </a:xfrm>
          <a:prstGeom prst="rect">
            <a:avLst/>
          </a:prstGeom>
          <a:noFill/>
        </p:spPr>
        <p:txBody>
          <a:bodyPr wrap="square" lIns="0" tIns="0" rIns="0" bIns="0" anchor="t"/>
          <a:lstStyle/>
          <a:p>
            <a:pPr>
              <a:buNone/>
            </a:pPr>
            <a:r>
              <a:rPr lang="ja-JP" altLang="en-US" sz="1400" dirty="0">
                <a:solidFill>
                  <a:srgbClr val="5A6378"/>
                </a:solidFill>
                <a:latin typeface="メイリオ"/>
                <a:ea typeface="メイリオ"/>
                <a:cs typeface="メイリオ"/>
              </a:rPr>
              <a:t>検索起点シナリオに乗らない既存リストへの並走施策</a:t>
            </a:r>
          </a:p>
        </p:txBody>
      </p:sp>
      <p:sp>
        <p:nvSpPr>
          <p:cNvPr id="14" name="TextBox 2001">
            <a:extLst>
              <a:ext uri="{FF2B5EF4-FFF2-40B4-BE49-F238E27FC236}">
                <a16:creationId xmlns:a16="http://schemas.microsoft.com/office/drawing/2014/main" id="{1456DACD-3900-B1CF-8DDF-966688299A92}"/>
              </a:ext>
            </a:extLst>
          </p:cNvPr>
          <p:cNvSpPr txBox="1"/>
          <p:nvPr/>
        </p:nvSpPr>
        <p:spPr>
          <a:xfrm>
            <a:off x="456501" y="3879413"/>
            <a:ext cx="9052560" cy="320040"/>
          </a:xfrm>
          <a:prstGeom prst="rect">
            <a:avLst/>
          </a:prstGeom>
          <a:noFill/>
        </p:spPr>
        <p:txBody>
          <a:bodyPr wrap="square">
            <a:spAutoFit/>
          </a:bodyPr>
          <a:lstStyle/>
          <a:p>
            <a:pPr algn="l"/>
            <a:r>
              <a:rPr sz="1400" b="1">
                <a:solidFill>
                  <a:srgbClr val="1F2A5C"/>
                </a:solidFill>
                <a:latin typeface="メイリオ"/>
                <a:ea typeface="メイリオ"/>
                <a:cs typeface="メイリオ"/>
              </a:rPr>
              <a:t>C. 休眠リード開拓施策</a:t>
            </a:r>
          </a:p>
        </p:txBody>
      </p:sp>
      <p:sp>
        <p:nvSpPr>
          <p:cNvPr id="17" name="Chevron 2002">
            <a:extLst>
              <a:ext uri="{FF2B5EF4-FFF2-40B4-BE49-F238E27FC236}">
                <a16:creationId xmlns:a16="http://schemas.microsoft.com/office/drawing/2014/main" id="{D8C58E61-1ED0-F016-1DBE-2E247D5EC8B6}"/>
              </a:ext>
            </a:extLst>
          </p:cNvPr>
          <p:cNvSpPr/>
          <p:nvPr/>
        </p:nvSpPr>
        <p:spPr>
          <a:xfrm>
            <a:off x="456501" y="4245173"/>
            <a:ext cx="2180844" cy="685800"/>
          </a:xfrm>
          <a:prstGeom prst="chevron">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ea typeface="メイリオ"/>
                <a:cs typeface="メイリオ"/>
              </a:rPr>
              <a:t>--件</a:t>
            </a:r>
          </a:p>
          <a:p>
            <a:pPr algn="ctr"/>
            <a:r>
              <a:rPr sz="950">
                <a:solidFill>
                  <a:srgbClr val="FFFFFF"/>
                </a:solidFill>
                <a:latin typeface="メイリオ"/>
                <a:ea typeface="メイリオ"/>
                <a:cs typeface="メイリオ"/>
              </a:rPr>
              <a:t>保有リスト</a:t>
            </a:r>
          </a:p>
        </p:txBody>
      </p:sp>
      <p:sp>
        <p:nvSpPr>
          <p:cNvPr id="19" name="Chevron 2003">
            <a:extLst>
              <a:ext uri="{FF2B5EF4-FFF2-40B4-BE49-F238E27FC236}">
                <a16:creationId xmlns:a16="http://schemas.microsoft.com/office/drawing/2014/main" id="{C25E4C3B-7F41-E2E9-8338-BEA9E51E3B73}"/>
              </a:ext>
            </a:extLst>
          </p:cNvPr>
          <p:cNvSpPr/>
          <p:nvPr/>
        </p:nvSpPr>
        <p:spPr>
          <a:xfrm>
            <a:off x="2747073" y="4245173"/>
            <a:ext cx="2180844" cy="685800"/>
          </a:xfrm>
          <a:prstGeom prst="chevron">
            <a:avLst/>
          </a:prstGeom>
          <a:solidFill>
            <a:srgbClr val="4A6FA5"/>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ea typeface="メイリオ"/>
                <a:cs typeface="メイリオ"/>
              </a:rPr>
              <a:t>ハッシュ化</a:t>
            </a:r>
          </a:p>
          <a:p>
            <a:pPr algn="ctr"/>
            <a:r>
              <a:rPr sz="950">
                <a:solidFill>
                  <a:srgbClr val="FFFFFF"/>
                </a:solidFill>
                <a:latin typeface="メイリオ"/>
                <a:ea typeface="メイリオ"/>
                <a:cs typeface="メイリオ"/>
              </a:rPr>
              <a:t>LINEヤフーAPI照合</a:t>
            </a:r>
          </a:p>
        </p:txBody>
      </p:sp>
      <p:sp>
        <p:nvSpPr>
          <p:cNvPr id="22" name="Chevron 2004">
            <a:extLst>
              <a:ext uri="{FF2B5EF4-FFF2-40B4-BE49-F238E27FC236}">
                <a16:creationId xmlns:a16="http://schemas.microsoft.com/office/drawing/2014/main" id="{9840FDFC-40F8-2732-4B52-3774EEECF41F}"/>
              </a:ext>
            </a:extLst>
          </p:cNvPr>
          <p:cNvSpPr/>
          <p:nvPr/>
        </p:nvSpPr>
        <p:spPr>
          <a:xfrm>
            <a:off x="5037645" y="4245173"/>
            <a:ext cx="2180844" cy="685800"/>
          </a:xfrm>
          <a:prstGeom prst="chevron">
            <a:avLst/>
          </a:prstGeom>
          <a:solidFill>
            <a:srgbClr val="4A6FA5"/>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ea typeface="メイリオ"/>
                <a:cs typeface="メイリオ"/>
              </a:rPr>
              <a:t>友だち化</a:t>
            </a:r>
          </a:p>
          <a:p>
            <a:pPr algn="ctr"/>
            <a:r>
              <a:rPr sz="950">
                <a:solidFill>
                  <a:srgbClr val="FFFFFF"/>
                </a:solidFill>
                <a:latin typeface="メイリオ"/>
                <a:ea typeface="メイリオ"/>
                <a:cs typeface="メイリオ"/>
              </a:rPr>
              <a:t>休眠リードをLINE化</a:t>
            </a:r>
          </a:p>
        </p:txBody>
      </p:sp>
      <p:sp>
        <p:nvSpPr>
          <p:cNvPr id="25" name="Chevron 2005">
            <a:extLst>
              <a:ext uri="{FF2B5EF4-FFF2-40B4-BE49-F238E27FC236}">
                <a16:creationId xmlns:a16="http://schemas.microsoft.com/office/drawing/2014/main" id="{E4A2AA24-7F5A-B469-896A-08719D7E75D1}"/>
              </a:ext>
            </a:extLst>
          </p:cNvPr>
          <p:cNvSpPr/>
          <p:nvPr/>
        </p:nvSpPr>
        <p:spPr>
          <a:xfrm>
            <a:off x="7328217" y="4245173"/>
            <a:ext cx="2180844" cy="685800"/>
          </a:xfrm>
          <a:prstGeom prst="chevron">
            <a:avLst/>
          </a:prstGeom>
          <a:solidFill>
            <a:srgbClr val="5A6378"/>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ea typeface="メイリオ"/>
                <a:cs typeface="メイリオ"/>
              </a:rPr>
              <a:t>Day0合流</a:t>
            </a:r>
          </a:p>
          <a:p>
            <a:pPr algn="ctr"/>
            <a:r>
              <a:rPr sz="950">
                <a:solidFill>
                  <a:srgbClr val="FFFFFF"/>
                </a:solidFill>
                <a:latin typeface="メイリオ"/>
                <a:ea typeface="メイリオ"/>
                <a:cs typeface="メイリオ"/>
              </a:rPr>
              <a:t>短期／長期へ通常分岐</a:t>
            </a:r>
          </a:p>
        </p:txBody>
      </p:sp>
      <p:sp>
        <p:nvSpPr>
          <p:cNvPr id="24" name="Chevron 2001">
            <a:extLst>
              <a:ext uri="{FF2B5EF4-FFF2-40B4-BE49-F238E27FC236}">
                <a16:creationId xmlns:a16="http://schemas.microsoft.com/office/drawing/2014/main" id="{91FF439D-D4E2-C04E-9A1B-1318FF9A16D9}"/>
              </a:ext>
            </a:extLst>
          </p:cNvPr>
          <p:cNvSpPr/>
          <p:nvPr/>
        </p:nvSpPr>
        <p:spPr>
          <a:xfrm>
            <a:off x="456501" y="1839817"/>
            <a:ext cx="2926080" cy="548640"/>
          </a:xfrm>
          <a:prstGeom prst="chevron">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400" b="1">
                <a:solidFill>
                  <a:srgbClr val="FFFFFF"/>
                </a:solidFill>
                <a:latin typeface="メイリオ"/>
                <a:ea typeface="メイリオ"/>
                <a:cs typeface="メイリオ"/>
              </a:rPr>
              <a:t>Day0</a:t>
            </a:r>
          </a:p>
        </p:txBody>
      </p:sp>
      <p:sp>
        <p:nvSpPr>
          <p:cNvPr id="28" name="TextBox 2002">
            <a:extLst>
              <a:ext uri="{FF2B5EF4-FFF2-40B4-BE49-F238E27FC236}">
                <a16:creationId xmlns:a16="http://schemas.microsoft.com/office/drawing/2014/main" id="{855ED89F-D224-EAF6-03A3-EC8F0E9111F8}"/>
              </a:ext>
            </a:extLst>
          </p:cNvPr>
          <p:cNvSpPr txBox="1"/>
          <p:nvPr/>
        </p:nvSpPr>
        <p:spPr>
          <a:xfrm>
            <a:off x="456501" y="2479897"/>
            <a:ext cx="2926080" cy="640080"/>
          </a:xfrm>
          <a:prstGeom prst="rect">
            <a:avLst/>
          </a:prstGeom>
          <a:noFill/>
        </p:spPr>
        <p:txBody>
          <a:bodyPr wrap="square">
            <a:spAutoFit/>
          </a:bodyPr>
          <a:lstStyle/>
          <a:p>
            <a:pPr algn="ctr"/>
            <a:r>
              <a:rPr sz="1100" b="0">
                <a:solidFill>
                  <a:srgbClr val="333333"/>
                </a:solidFill>
                <a:latin typeface="メイリオ"/>
                <a:ea typeface="メイリオ"/>
                <a:cs typeface="メイリオ"/>
              </a:rPr>
              <a:t>アンケートで長期
ニーズ層と判定</a:t>
            </a:r>
          </a:p>
        </p:txBody>
      </p:sp>
      <p:sp>
        <p:nvSpPr>
          <p:cNvPr id="31" name="Chevron 2003">
            <a:extLst>
              <a:ext uri="{FF2B5EF4-FFF2-40B4-BE49-F238E27FC236}">
                <a16:creationId xmlns:a16="http://schemas.microsoft.com/office/drawing/2014/main" id="{EF9C8636-6B09-9263-5A67-DB781AB0B8A7}"/>
              </a:ext>
            </a:extLst>
          </p:cNvPr>
          <p:cNvSpPr/>
          <p:nvPr/>
        </p:nvSpPr>
        <p:spPr>
          <a:xfrm>
            <a:off x="3519741" y="1839817"/>
            <a:ext cx="2926080" cy="548640"/>
          </a:xfrm>
          <a:prstGeom prst="chevron">
            <a:avLst/>
          </a:prstGeom>
          <a:solidFill>
            <a:srgbClr val="4A6FA5"/>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400" b="1">
                <a:solidFill>
                  <a:srgbClr val="FFFFFF"/>
                </a:solidFill>
                <a:latin typeface="メイリオ"/>
                <a:ea typeface="メイリオ"/>
                <a:cs typeface="メイリオ"/>
              </a:rPr>
              <a:t>Day1〜15</a:t>
            </a:r>
          </a:p>
        </p:txBody>
      </p:sp>
      <p:sp>
        <p:nvSpPr>
          <p:cNvPr id="34" name="TextBox 2004">
            <a:extLst>
              <a:ext uri="{FF2B5EF4-FFF2-40B4-BE49-F238E27FC236}">
                <a16:creationId xmlns:a16="http://schemas.microsoft.com/office/drawing/2014/main" id="{7B195B2D-D5DD-A6AF-1787-BE50FD77FA3F}"/>
              </a:ext>
            </a:extLst>
          </p:cNvPr>
          <p:cNvSpPr txBox="1"/>
          <p:nvPr/>
        </p:nvSpPr>
        <p:spPr>
          <a:xfrm>
            <a:off x="3519741" y="2479897"/>
            <a:ext cx="2926080" cy="640080"/>
          </a:xfrm>
          <a:prstGeom prst="rect">
            <a:avLst/>
          </a:prstGeom>
          <a:noFill/>
        </p:spPr>
        <p:txBody>
          <a:bodyPr wrap="square">
            <a:spAutoFit/>
          </a:bodyPr>
          <a:lstStyle/>
          <a:p>
            <a:pPr algn="ctr"/>
            <a:r>
              <a:rPr sz="1100" b="0">
                <a:solidFill>
                  <a:srgbClr val="333333"/>
                </a:solidFill>
                <a:latin typeface="メイリオ"/>
                <a:ea typeface="メイリオ"/>
                <a:cs typeface="メイリオ"/>
              </a:rPr>
              <a:t>隔週ペースで
基礎知識を教育配信</a:t>
            </a:r>
          </a:p>
        </p:txBody>
      </p:sp>
      <p:sp>
        <p:nvSpPr>
          <p:cNvPr id="36" name="Chevron 2005">
            <a:extLst>
              <a:ext uri="{FF2B5EF4-FFF2-40B4-BE49-F238E27FC236}">
                <a16:creationId xmlns:a16="http://schemas.microsoft.com/office/drawing/2014/main" id="{72262D61-75E5-1BAE-CB4A-36BFCB69D825}"/>
              </a:ext>
            </a:extLst>
          </p:cNvPr>
          <p:cNvSpPr/>
          <p:nvPr/>
        </p:nvSpPr>
        <p:spPr>
          <a:xfrm>
            <a:off x="6582981" y="1839817"/>
            <a:ext cx="2926080" cy="548640"/>
          </a:xfrm>
          <a:prstGeom prst="chevron">
            <a:avLst/>
          </a:prstGeom>
          <a:solidFill>
            <a:srgbClr val="5A6378"/>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400" b="1">
                <a:solidFill>
                  <a:srgbClr val="FFFFFF"/>
                </a:solidFill>
                <a:latin typeface="メイリオ"/>
                <a:ea typeface="メイリオ"/>
                <a:cs typeface="メイリオ"/>
              </a:rPr>
              <a:t>反応時</a:t>
            </a:r>
          </a:p>
        </p:txBody>
      </p:sp>
      <p:sp>
        <p:nvSpPr>
          <p:cNvPr id="38" name="TextBox 2006">
            <a:extLst>
              <a:ext uri="{FF2B5EF4-FFF2-40B4-BE49-F238E27FC236}">
                <a16:creationId xmlns:a16="http://schemas.microsoft.com/office/drawing/2014/main" id="{C1A521F2-6CE9-E966-9A4F-48DD8B913AF9}"/>
              </a:ext>
            </a:extLst>
          </p:cNvPr>
          <p:cNvSpPr txBox="1"/>
          <p:nvPr/>
        </p:nvSpPr>
        <p:spPr>
          <a:xfrm>
            <a:off x="6582981" y="2479897"/>
            <a:ext cx="2926080" cy="640080"/>
          </a:xfrm>
          <a:prstGeom prst="rect">
            <a:avLst/>
          </a:prstGeom>
          <a:noFill/>
        </p:spPr>
        <p:txBody>
          <a:bodyPr wrap="square">
            <a:spAutoFit/>
          </a:bodyPr>
          <a:lstStyle/>
          <a:p>
            <a:pPr algn="ctr"/>
            <a:r>
              <a:rPr sz="1100" b="0">
                <a:solidFill>
                  <a:srgbClr val="333333"/>
                </a:solidFill>
                <a:latin typeface="メイリオ"/>
                <a:ea typeface="メイリオ"/>
                <a:cs typeface="メイリオ"/>
              </a:rPr>
              <a:t>短期トラックへ
自動フォールバック</a:t>
            </a:r>
          </a:p>
        </p:txBody>
      </p:sp>
      <p:sp>
        <p:nvSpPr>
          <p:cNvPr id="40" name="TextBox 2001">
            <a:extLst>
              <a:ext uri="{FF2B5EF4-FFF2-40B4-BE49-F238E27FC236}">
                <a16:creationId xmlns:a16="http://schemas.microsoft.com/office/drawing/2014/main" id="{04DDCAB8-88EA-D3FB-5D2A-9C531B903959}"/>
              </a:ext>
            </a:extLst>
          </p:cNvPr>
          <p:cNvSpPr txBox="1"/>
          <p:nvPr/>
        </p:nvSpPr>
        <p:spPr>
          <a:xfrm>
            <a:off x="456501" y="1474057"/>
            <a:ext cx="9052560" cy="320040"/>
          </a:xfrm>
          <a:prstGeom prst="rect">
            <a:avLst/>
          </a:prstGeom>
          <a:noFill/>
        </p:spPr>
        <p:txBody>
          <a:bodyPr wrap="square">
            <a:spAutoFit/>
          </a:bodyPr>
          <a:lstStyle/>
          <a:p>
            <a:pPr algn="l"/>
            <a:r>
              <a:rPr lang="en-US" sz="1400" b="1" dirty="0">
                <a:solidFill>
                  <a:srgbClr val="1F2A5C"/>
                </a:solidFill>
                <a:latin typeface="メイリオ" panose="020B0604030504040204" pitchFamily="50" charset="-128"/>
                <a:ea typeface="メイリオ" panose="020B0604030504040204" pitchFamily="50" charset="-128"/>
                <a:cs typeface="メイリオ"/>
              </a:rPr>
              <a:t>B</a:t>
            </a:r>
            <a:r>
              <a:rPr sz="1400" b="1" dirty="0">
                <a:solidFill>
                  <a:srgbClr val="1F2A5C"/>
                </a:solidFill>
                <a:latin typeface="メイリオ" panose="020B0604030504040204" pitchFamily="50" charset="-128"/>
                <a:ea typeface="メイリオ" panose="020B0604030504040204" pitchFamily="50" charset="-128"/>
                <a:cs typeface="メイリオ"/>
              </a:rPr>
              <a:t>. </a:t>
            </a:r>
            <a:r>
              <a:rPr lang="ja-JP" altLang="en-US" sz="1400" b="1" dirty="0">
                <a:solidFill>
                  <a:srgbClr val="1F2A5C"/>
                </a:solidFill>
                <a:latin typeface="メイリオ" panose="020B0604030504040204" pitchFamily="50" charset="-128"/>
                <a:ea typeface="メイリオ" panose="020B0604030504040204" pitchFamily="50" charset="-128"/>
                <a:cs typeface="メイリオ"/>
              </a:rPr>
              <a:t>アンケート回答結果に基づく</a:t>
            </a:r>
            <a:endParaRPr sz="1400" b="1" dirty="0">
              <a:solidFill>
                <a:srgbClr val="1F2A5C"/>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14796137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5DB548-D486-3EA8-8B0A-6AB1F4024AFD}"/>
            </a:ext>
          </a:extLst>
        </p:cNvPr>
        <p:cNvGrpSpPr/>
        <p:nvPr/>
      </p:nvGrpSpPr>
      <p:grpSpPr>
        <a:xfrm>
          <a:off x="0" y="0"/>
          <a:ext cx="0" cy="0"/>
          <a:chOff x="0" y="0"/>
          <a:chExt cx="0" cy="0"/>
        </a:xfrm>
      </p:grpSpPr>
      <p:sp>
        <p:nvSpPr>
          <p:cNvPr id="4" name="テキスト ボックス 47">
            <a:extLst>
              <a:ext uri="{FF2B5EF4-FFF2-40B4-BE49-F238E27FC236}">
                <a16:creationId xmlns:a16="http://schemas.microsoft.com/office/drawing/2014/main" id="{B5E1738D-F77B-5CA6-8CD0-9A9EC26F9BDC}"/>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cs typeface="メイリオ"/>
              </a:defRPr>
            </a:lvl2pPr>
            <a:lvl3pPr>
              <a:defRPr kumimoji="1" sz="2400">
                <a:solidFill>
                  <a:schemeClr val="tx1"/>
                </a:solidFill>
                <a:latin typeface="メイリオ" charset="0"/>
                <a:ea typeface="メイリオ" charset="0"/>
                <a:cs typeface="メイリオ"/>
              </a:defRPr>
            </a:lvl3pPr>
            <a:lvl4pPr>
              <a:defRPr kumimoji="1" sz="2000">
                <a:solidFill>
                  <a:schemeClr val="tx1"/>
                </a:solidFill>
                <a:latin typeface="メイリオ" charset="0"/>
                <a:ea typeface="メイリオ" charset="0"/>
                <a:cs typeface="メイリオ"/>
              </a:defRPr>
            </a:lvl4pPr>
            <a:lvl5pPr>
              <a:defRPr kumimoji="1" sz="2000">
                <a:solidFill>
                  <a:schemeClr val="tx1"/>
                </a:solidFill>
                <a:latin typeface="メイリオ" charset="0"/>
                <a:ea typeface="メイリオ" charset="0"/>
                <a:cs typeface="メイリオ"/>
              </a:defRPr>
            </a:lvl5pPr>
            <a:lvl6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6pPr>
            <a:lvl7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7pPr>
            <a:lvl8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8pPr>
            <a:lvl9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cs typeface="メイリオ"/>
              </a:rPr>
              <a:t>休眠リード開拓と参加後フォローアップ</a:t>
            </a:r>
          </a:p>
        </p:txBody>
      </p:sp>
      <p:sp>
        <p:nvSpPr>
          <p:cNvPr id="8" name="Lead">
            <a:extLst>
              <a:ext uri="{FF2B5EF4-FFF2-40B4-BE49-F238E27FC236}">
                <a16:creationId xmlns:a16="http://schemas.microsoft.com/office/drawing/2014/main" id="{AE20F162-D6DD-162B-1177-CA089E539DF1}"/>
              </a:ext>
            </a:extLst>
          </p:cNvPr>
          <p:cNvSpPr txBox="1"/>
          <p:nvPr/>
        </p:nvSpPr>
        <p:spPr>
          <a:xfrm>
            <a:off x="342900" y="711200"/>
            <a:ext cx="6667500" cy="285750"/>
          </a:xfrm>
          <a:prstGeom prst="rect">
            <a:avLst/>
          </a:prstGeom>
          <a:noFill/>
        </p:spPr>
        <p:txBody>
          <a:bodyPr wrap="square" lIns="0" tIns="0" rIns="0" bIns="0" anchor="t"/>
          <a:lstStyle/>
          <a:p>
            <a:pPr>
              <a:buNone/>
            </a:pPr>
            <a:r>
              <a:rPr lang="ja-JP" altLang="en-US" sz="1400" dirty="0">
                <a:solidFill>
                  <a:srgbClr val="5A6378"/>
                </a:solidFill>
                <a:latin typeface="メイリオ"/>
                <a:ea typeface="メイリオ"/>
                <a:cs typeface="メイリオ"/>
              </a:rPr>
              <a:t>検索起点シナリオに乗らない既存リストへの並走施策</a:t>
            </a:r>
          </a:p>
        </p:txBody>
      </p:sp>
      <p:sp>
        <p:nvSpPr>
          <p:cNvPr id="3" name="TextBox 2007">
            <a:extLst>
              <a:ext uri="{FF2B5EF4-FFF2-40B4-BE49-F238E27FC236}">
                <a16:creationId xmlns:a16="http://schemas.microsoft.com/office/drawing/2014/main" id="{E78531AA-9C5C-93A7-DEAB-957B5A74E584}"/>
              </a:ext>
            </a:extLst>
          </p:cNvPr>
          <p:cNvSpPr txBox="1"/>
          <p:nvPr/>
        </p:nvSpPr>
        <p:spPr>
          <a:xfrm>
            <a:off x="365760" y="1226239"/>
            <a:ext cx="9052560" cy="320040"/>
          </a:xfrm>
          <a:prstGeom prst="rect">
            <a:avLst/>
          </a:prstGeom>
          <a:noFill/>
        </p:spPr>
        <p:txBody>
          <a:bodyPr wrap="square">
            <a:spAutoFit/>
          </a:bodyPr>
          <a:lstStyle/>
          <a:p>
            <a:pPr algn="l"/>
            <a:r>
              <a:rPr sz="1300" b="1">
                <a:solidFill>
                  <a:srgbClr val="1F2A5C"/>
                </a:solidFill>
                <a:latin typeface="メイリオ"/>
                <a:ea typeface="メイリオ"/>
                <a:cs typeface="メイリオ"/>
              </a:rPr>
              <a:t>シーズナリティ連動トリガー（検索Volの季節性に合わせて再アプローチ）</a:t>
            </a:r>
          </a:p>
        </p:txBody>
      </p:sp>
      <p:sp>
        <p:nvSpPr>
          <p:cNvPr id="6" name="Rectangle 2008">
            <a:extLst>
              <a:ext uri="{FF2B5EF4-FFF2-40B4-BE49-F238E27FC236}">
                <a16:creationId xmlns:a16="http://schemas.microsoft.com/office/drawing/2014/main" id="{945E129C-F21B-0AE2-657B-28AE81F17F18}"/>
              </a:ext>
            </a:extLst>
          </p:cNvPr>
          <p:cNvSpPr/>
          <p:nvPr/>
        </p:nvSpPr>
        <p:spPr>
          <a:xfrm>
            <a:off x="365760"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5A6378"/>
                </a:solidFill>
                <a:latin typeface="メイリオ"/>
                <a:ea typeface="メイリオ"/>
                <a:cs typeface="メイリオ"/>
              </a:rPr>
              <a:t>1月</a:t>
            </a:r>
          </a:p>
        </p:txBody>
      </p:sp>
      <p:sp>
        <p:nvSpPr>
          <p:cNvPr id="9" name="Rectangle 2009">
            <a:extLst>
              <a:ext uri="{FF2B5EF4-FFF2-40B4-BE49-F238E27FC236}">
                <a16:creationId xmlns:a16="http://schemas.microsoft.com/office/drawing/2014/main" id="{C7632AEE-6947-EFAB-5C48-764A058D5F0C}"/>
              </a:ext>
            </a:extLst>
          </p:cNvPr>
          <p:cNvSpPr/>
          <p:nvPr/>
        </p:nvSpPr>
        <p:spPr>
          <a:xfrm>
            <a:off x="1122256"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5A6378"/>
                </a:solidFill>
                <a:latin typeface="メイリオ"/>
                <a:ea typeface="メイリオ"/>
                <a:cs typeface="メイリオ"/>
              </a:rPr>
              <a:t>2月</a:t>
            </a:r>
          </a:p>
        </p:txBody>
      </p:sp>
      <p:sp>
        <p:nvSpPr>
          <p:cNvPr id="11" name="Rectangle 2010">
            <a:extLst>
              <a:ext uri="{FF2B5EF4-FFF2-40B4-BE49-F238E27FC236}">
                <a16:creationId xmlns:a16="http://schemas.microsoft.com/office/drawing/2014/main" id="{F1F7980F-B34E-8E0A-A779-DEC816D8E76C}"/>
              </a:ext>
            </a:extLst>
          </p:cNvPr>
          <p:cNvSpPr/>
          <p:nvPr/>
        </p:nvSpPr>
        <p:spPr>
          <a:xfrm>
            <a:off x="1878752"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5A6378"/>
                </a:solidFill>
                <a:latin typeface="メイリオ"/>
                <a:ea typeface="メイリオ"/>
                <a:cs typeface="メイリオ"/>
              </a:rPr>
              <a:t>3月</a:t>
            </a:r>
          </a:p>
        </p:txBody>
      </p:sp>
      <p:sp>
        <p:nvSpPr>
          <p:cNvPr id="13" name="Rectangle 2011">
            <a:extLst>
              <a:ext uri="{FF2B5EF4-FFF2-40B4-BE49-F238E27FC236}">
                <a16:creationId xmlns:a16="http://schemas.microsoft.com/office/drawing/2014/main" id="{E063EBB9-78F7-A4D4-F999-4C5AC7691AEC}"/>
              </a:ext>
            </a:extLst>
          </p:cNvPr>
          <p:cNvSpPr/>
          <p:nvPr/>
        </p:nvSpPr>
        <p:spPr>
          <a:xfrm>
            <a:off x="2635248"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ea typeface="メイリオ"/>
                <a:cs typeface="メイリオ"/>
              </a:rPr>
              <a:t>4月</a:t>
            </a:r>
          </a:p>
        </p:txBody>
      </p:sp>
      <p:sp>
        <p:nvSpPr>
          <p:cNvPr id="16" name="Rectangle 2012">
            <a:extLst>
              <a:ext uri="{FF2B5EF4-FFF2-40B4-BE49-F238E27FC236}">
                <a16:creationId xmlns:a16="http://schemas.microsoft.com/office/drawing/2014/main" id="{9D5C35C5-AFBD-1E16-34BD-FEA820687F12}"/>
              </a:ext>
            </a:extLst>
          </p:cNvPr>
          <p:cNvSpPr/>
          <p:nvPr/>
        </p:nvSpPr>
        <p:spPr>
          <a:xfrm>
            <a:off x="3391744"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ea typeface="メイリオ"/>
                <a:cs typeface="メイリオ"/>
              </a:rPr>
              <a:t>5月</a:t>
            </a:r>
          </a:p>
        </p:txBody>
      </p:sp>
      <p:sp>
        <p:nvSpPr>
          <p:cNvPr id="20" name="Rectangle 2013">
            <a:extLst>
              <a:ext uri="{FF2B5EF4-FFF2-40B4-BE49-F238E27FC236}">
                <a16:creationId xmlns:a16="http://schemas.microsoft.com/office/drawing/2014/main" id="{AF46E364-2991-EF4B-B9B4-F07ED66BFC8E}"/>
              </a:ext>
            </a:extLst>
          </p:cNvPr>
          <p:cNvSpPr/>
          <p:nvPr/>
        </p:nvSpPr>
        <p:spPr>
          <a:xfrm>
            <a:off x="4148240"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ea typeface="メイリオ"/>
                <a:cs typeface="メイリオ"/>
              </a:rPr>
              <a:t>6月</a:t>
            </a:r>
          </a:p>
        </p:txBody>
      </p:sp>
      <p:sp>
        <p:nvSpPr>
          <p:cNvPr id="23" name="Rectangle 2014">
            <a:extLst>
              <a:ext uri="{FF2B5EF4-FFF2-40B4-BE49-F238E27FC236}">
                <a16:creationId xmlns:a16="http://schemas.microsoft.com/office/drawing/2014/main" id="{3505044C-9CC2-BDB7-A9BA-96EE69E34EAB}"/>
              </a:ext>
            </a:extLst>
          </p:cNvPr>
          <p:cNvSpPr/>
          <p:nvPr/>
        </p:nvSpPr>
        <p:spPr>
          <a:xfrm>
            <a:off x="4904736"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ea typeface="メイリオ"/>
                <a:cs typeface="メイリオ"/>
              </a:rPr>
              <a:t>7月</a:t>
            </a:r>
          </a:p>
        </p:txBody>
      </p:sp>
      <p:sp>
        <p:nvSpPr>
          <p:cNvPr id="27" name="Rectangle 2015">
            <a:extLst>
              <a:ext uri="{FF2B5EF4-FFF2-40B4-BE49-F238E27FC236}">
                <a16:creationId xmlns:a16="http://schemas.microsoft.com/office/drawing/2014/main" id="{8AF5E7F4-5D53-86FD-2BD6-C7542F8A83FD}"/>
              </a:ext>
            </a:extLst>
          </p:cNvPr>
          <p:cNvSpPr/>
          <p:nvPr/>
        </p:nvSpPr>
        <p:spPr>
          <a:xfrm>
            <a:off x="5661232"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5A6378"/>
                </a:solidFill>
                <a:latin typeface="メイリオ"/>
                <a:ea typeface="メイリオ"/>
                <a:cs typeface="メイリオ"/>
              </a:rPr>
              <a:t>8月</a:t>
            </a:r>
          </a:p>
        </p:txBody>
      </p:sp>
      <p:sp>
        <p:nvSpPr>
          <p:cNvPr id="30" name="Rectangle 2016">
            <a:extLst>
              <a:ext uri="{FF2B5EF4-FFF2-40B4-BE49-F238E27FC236}">
                <a16:creationId xmlns:a16="http://schemas.microsoft.com/office/drawing/2014/main" id="{FD72C16D-C4A9-9A7A-6196-9E875CF443CD}"/>
              </a:ext>
            </a:extLst>
          </p:cNvPr>
          <p:cNvSpPr/>
          <p:nvPr/>
        </p:nvSpPr>
        <p:spPr>
          <a:xfrm>
            <a:off x="6417728"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5A6378"/>
                </a:solidFill>
                <a:latin typeface="メイリオ"/>
                <a:ea typeface="メイリオ"/>
                <a:cs typeface="メイリオ"/>
              </a:rPr>
              <a:t>9月</a:t>
            </a:r>
          </a:p>
        </p:txBody>
      </p:sp>
      <p:sp>
        <p:nvSpPr>
          <p:cNvPr id="33" name="Rectangle 2017">
            <a:extLst>
              <a:ext uri="{FF2B5EF4-FFF2-40B4-BE49-F238E27FC236}">
                <a16:creationId xmlns:a16="http://schemas.microsoft.com/office/drawing/2014/main" id="{00C86569-3F53-5888-AFF4-E0BFECCAE588}"/>
              </a:ext>
            </a:extLst>
          </p:cNvPr>
          <p:cNvSpPr/>
          <p:nvPr/>
        </p:nvSpPr>
        <p:spPr>
          <a:xfrm>
            <a:off x="7174224"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5A6378"/>
                </a:solidFill>
                <a:latin typeface="メイリオ"/>
                <a:ea typeface="メイリオ"/>
                <a:cs typeface="メイリオ"/>
              </a:rPr>
              <a:t>10月</a:t>
            </a:r>
          </a:p>
        </p:txBody>
      </p:sp>
      <p:sp>
        <p:nvSpPr>
          <p:cNvPr id="37" name="Rectangle 2018">
            <a:extLst>
              <a:ext uri="{FF2B5EF4-FFF2-40B4-BE49-F238E27FC236}">
                <a16:creationId xmlns:a16="http://schemas.microsoft.com/office/drawing/2014/main" id="{B4B7698F-F5C5-2766-1198-1F1B10650721}"/>
              </a:ext>
            </a:extLst>
          </p:cNvPr>
          <p:cNvSpPr/>
          <p:nvPr/>
        </p:nvSpPr>
        <p:spPr>
          <a:xfrm>
            <a:off x="7930720"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ea typeface="メイリオ"/>
                <a:cs typeface="メイリオ"/>
              </a:rPr>
              <a:t>11月</a:t>
            </a:r>
          </a:p>
        </p:txBody>
      </p:sp>
      <p:sp>
        <p:nvSpPr>
          <p:cNvPr id="41" name="Rectangle 2019">
            <a:extLst>
              <a:ext uri="{FF2B5EF4-FFF2-40B4-BE49-F238E27FC236}">
                <a16:creationId xmlns:a16="http://schemas.microsoft.com/office/drawing/2014/main" id="{B9122433-2609-1807-931B-6CFB1FC1612C}"/>
              </a:ext>
            </a:extLst>
          </p:cNvPr>
          <p:cNvSpPr/>
          <p:nvPr/>
        </p:nvSpPr>
        <p:spPr>
          <a:xfrm>
            <a:off x="8687216"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5A6378"/>
                </a:solidFill>
                <a:latin typeface="メイリオ"/>
                <a:ea typeface="メイリオ"/>
                <a:cs typeface="メイリオ"/>
              </a:rPr>
              <a:t>12月</a:t>
            </a:r>
          </a:p>
        </p:txBody>
      </p:sp>
      <p:sp>
        <p:nvSpPr>
          <p:cNvPr id="43" name="TextBox 2020">
            <a:extLst>
              <a:ext uri="{FF2B5EF4-FFF2-40B4-BE49-F238E27FC236}">
                <a16:creationId xmlns:a16="http://schemas.microsoft.com/office/drawing/2014/main" id="{BB0A7A81-025F-493D-383E-8F7CCCFDA607}"/>
              </a:ext>
            </a:extLst>
          </p:cNvPr>
          <p:cNvSpPr txBox="1"/>
          <p:nvPr/>
        </p:nvSpPr>
        <p:spPr>
          <a:xfrm>
            <a:off x="365760" y="2186359"/>
            <a:ext cx="9052560" cy="446276"/>
          </a:xfrm>
          <a:prstGeom prst="rect">
            <a:avLst/>
          </a:prstGeom>
          <a:noFill/>
        </p:spPr>
        <p:txBody>
          <a:bodyPr wrap="square">
            <a:spAutoFit/>
          </a:bodyPr>
          <a:lstStyle/>
          <a:p>
            <a:pPr algn="l"/>
            <a:r>
              <a:rPr lang="ja-JP" altLang="en-US" sz="1150" b="0" dirty="0">
                <a:solidFill>
                  <a:srgbClr val="5A6378"/>
                </a:solidFill>
                <a:latin typeface="メイリオ" panose="020B0604030504040204" pitchFamily="50" charset="-128"/>
                <a:ea typeface="メイリオ" panose="020B0604030504040204" pitchFamily="50" charset="-128"/>
                <a:cs typeface="メイリオ"/>
              </a:rPr>
              <a:t>--</a:t>
            </a:r>
            <a:endParaRPr lang="en-US" altLang="ja-JP" sz="1150" b="0" dirty="0">
              <a:solidFill>
                <a:srgbClr val="5A6378"/>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3291321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E6D1CC-B1BA-828E-295F-EADD0CDEFAB4}"/>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417026AF-4DDE-BCC5-590F-D8DDBF5664B1}"/>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cs typeface="メイリオ"/>
              </a:defRPr>
            </a:lvl2pPr>
            <a:lvl3pPr>
              <a:defRPr kumimoji="1" sz="2400">
                <a:solidFill>
                  <a:schemeClr val="tx1"/>
                </a:solidFill>
                <a:latin typeface="メイリオ" charset="0"/>
                <a:ea typeface="メイリオ" charset="0"/>
                <a:cs typeface="メイリオ"/>
              </a:defRPr>
            </a:lvl3pPr>
            <a:lvl4pPr>
              <a:defRPr kumimoji="1" sz="2000">
                <a:solidFill>
                  <a:schemeClr val="tx1"/>
                </a:solidFill>
                <a:latin typeface="メイリオ" charset="0"/>
                <a:ea typeface="メイリオ" charset="0"/>
                <a:cs typeface="メイリオ"/>
              </a:defRPr>
            </a:lvl4pPr>
            <a:lvl5pPr>
              <a:defRPr kumimoji="1" sz="2000">
                <a:solidFill>
                  <a:schemeClr val="tx1"/>
                </a:solidFill>
                <a:latin typeface="メイリオ" charset="0"/>
                <a:ea typeface="メイリオ" charset="0"/>
                <a:cs typeface="メイリオ"/>
              </a:defRPr>
            </a:lvl5pPr>
            <a:lvl6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6pPr>
            <a:lvl7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7pPr>
            <a:lvl8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8pPr>
            <a:lvl9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cs typeface="メイリオ"/>
              </a:rPr>
              <a:t>長期ニーズトラック：シーズナリティ連動の中長期設計</a:t>
            </a:r>
          </a:p>
        </p:txBody>
      </p:sp>
      <p:sp>
        <p:nvSpPr>
          <p:cNvPr id="5" name="Lead">
            <a:extLst>
              <a:ext uri="{FF2B5EF4-FFF2-40B4-BE49-F238E27FC236}">
                <a16:creationId xmlns:a16="http://schemas.microsoft.com/office/drawing/2014/main" id="{392B90DB-59D9-CA69-BB23-380EC53A1799}"/>
              </a:ext>
            </a:extLst>
          </p:cNvPr>
          <p:cNvSpPr txBox="1"/>
          <p:nvPr/>
        </p:nvSpPr>
        <p:spPr>
          <a:xfrm>
            <a:off x="342900" y="711200"/>
            <a:ext cx="6667500" cy="285750"/>
          </a:xfrm>
          <a:prstGeom prst="rect">
            <a:avLst/>
          </a:prstGeom>
          <a:noFill/>
        </p:spPr>
        <p:txBody>
          <a:bodyPr wrap="square" lIns="0" tIns="0" rIns="0" bIns="0" anchor="t"/>
          <a:lstStyle/>
          <a:p>
            <a:pPr>
              <a:buNone/>
            </a:pPr>
            <a:r>
              <a:rPr lang="ja-JP" altLang="en-US" sz="1400" dirty="0">
                <a:solidFill>
                  <a:srgbClr val="5A6378"/>
                </a:solidFill>
                <a:latin typeface="メイリオ"/>
                <a:ea typeface="メイリオ"/>
                <a:cs typeface="メイリオ"/>
              </a:rPr>
              <a:t>検索Volの季節性に合わせて再アプローチのタイミングを最適化する</a:t>
            </a:r>
          </a:p>
        </p:txBody>
      </p:sp>
      <p:sp>
        <p:nvSpPr>
          <p:cNvPr id="7" name="Body">
            <a:extLst>
              <a:ext uri="{FF2B5EF4-FFF2-40B4-BE49-F238E27FC236}">
                <a16:creationId xmlns:a16="http://schemas.microsoft.com/office/drawing/2014/main" id="{BE3C0D2E-9E33-CCCB-465C-36479CC64146}"/>
              </a:ext>
            </a:extLst>
          </p:cNvPr>
          <p:cNvSpPr txBox="1"/>
          <p:nvPr/>
        </p:nvSpPr>
        <p:spPr>
          <a:xfrm>
            <a:off x="342900" y="3164840"/>
            <a:ext cx="6743700" cy="3810000"/>
          </a:xfrm>
          <a:prstGeom prst="rect">
            <a:avLst/>
          </a:prstGeom>
          <a:noFill/>
        </p:spPr>
        <p:txBody>
          <a:bodyPr wrap="square" lIns="0" tIns="0" rIns="0" bIns="0" anchor="t"/>
          <a:lstStyle/>
          <a:p>
            <a:endParaRPr>
              <a:latin typeface="メイリオ"/>
              <a:ea typeface="メイリオ"/>
              <a:cs typeface="メイリオ"/>
            </a:endParaRPr>
          </a:p>
        </p:txBody>
      </p:sp>
      <p:sp>
        <p:nvSpPr>
          <p:cNvPr id="4" name="TextBox 2006">
            <a:extLst>
              <a:ext uri="{FF2B5EF4-FFF2-40B4-BE49-F238E27FC236}">
                <a16:creationId xmlns:a16="http://schemas.microsoft.com/office/drawing/2014/main" id="{D2F2FC8A-1E7E-57E2-6839-B8D5EF164194}"/>
              </a:ext>
            </a:extLst>
          </p:cNvPr>
          <p:cNvSpPr txBox="1"/>
          <p:nvPr/>
        </p:nvSpPr>
        <p:spPr>
          <a:xfrm>
            <a:off x="456501" y="1403736"/>
            <a:ext cx="9052560" cy="320040"/>
          </a:xfrm>
          <a:prstGeom prst="rect">
            <a:avLst/>
          </a:prstGeom>
          <a:noFill/>
        </p:spPr>
        <p:txBody>
          <a:bodyPr wrap="square">
            <a:spAutoFit/>
          </a:bodyPr>
          <a:lstStyle/>
          <a:p>
            <a:pPr algn="l"/>
            <a:r>
              <a:rPr sz="1400" b="1">
                <a:solidFill>
                  <a:srgbClr val="1F2A5C"/>
                </a:solidFill>
                <a:latin typeface="メイリオ"/>
                <a:ea typeface="メイリオ"/>
                <a:cs typeface="メイリオ"/>
              </a:rPr>
              <a:t>D. 参加後フォローアップ</a:t>
            </a:r>
          </a:p>
        </p:txBody>
      </p:sp>
      <p:sp>
        <p:nvSpPr>
          <p:cNvPr id="8" name="Chevron 2007">
            <a:extLst>
              <a:ext uri="{FF2B5EF4-FFF2-40B4-BE49-F238E27FC236}">
                <a16:creationId xmlns:a16="http://schemas.microsoft.com/office/drawing/2014/main" id="{10212EE1-F4B4-8DDA-CF71-F80F8F6403F8}"/>
              </a:ext>
            </a:extLst>
          </p:cNvPr>
          <p:cNvSpPr/>
          <p:nvPr/>
        </p:nvSpPr>
        <p:spPr>
          <a:xfrm>
            <a:off x="456501" y="1769496"/>
            <a:ext cx="4471416" cy="685800"/>
          </a:xfrm>
          <a:prstGeom prst="chevron">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ea typeface="メイリオ"/>
                <a:cs typeface="メイリオ"/>
              </a:rPr>
              <a:t>参加直後</a:t>
            </a:r>
          </a:p>
          <a:p>
            <a:pPr algn="ctr"/>
            <a:r>
              <a:rPr sz="1000">
                <a:solidFill>
                  <a:srgbClr val="FFFFFF"/>
                </a:solidFill>
                <a:latin typeface="メイリオ"/>
                <a:ea typeface="メイリオ"/>
                <a:cs typeface="メイリオ"/>
              </a:rPr>
              <a:t>--</a:t>
            </a:r>
          </a:p>
        </p:txBody>
      </p:sp>
      <p:sp>
        <p:nvSpPr>
          <p:cNvPr id="11" name="Chevron 2008">
            <a:extLst>
              <a:ext uri="{FF2B5EF4-FFF2-40B4-BE49-F238E27FC236}">
                <a16:creationId xmlns:a16="http://schemas.microsoft.com/office/drawing/2014/main" id="{785204DB-5C6A-DF80-2A53-F86C50DB8BFE}"/>
              </a:ext>
            </a:extLst>
          </p:cNvPr>
          <p:cNvSpPr/>
          <p:nvPr/>
        </p:nvSpPr>
        <p:spPr>
          <a:xfrm>
            <a:off x="5037645" y="1769496"/>
            <a:ext cx="4471416" cy="685800"/>
          </a:xfrm>
          <a:prstGeom prst="chevron">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ea typeface="メイリオ"/>
                <a:cs typeface="メイリオ"/>
              </a:rPr>
              <a:t>参加後30〜60日</a:t>
            </a:r>
          </a:p>
          <a:p>
            <a:pPr algn="ctr"/>
            <a:r>
              <a:rPr sz="1000">
                <a:solidFill>
                  <a:srgbClr val="FFFFFF"/>
                </a:solidFill>
                <a:latin typeface="メイリオ"/>
                <a:ea typeface="メイリオ"/>
                <a:cs typeface="メイリオ"/>
              </a:rPr>
              <a:t>--</a:t>
            </a:r>
          </a:p>
        </p:txBody>
      </p:sp>
    </p:spTree>
    <p:extLst>
      <p:ext uri="{BB962C8B-B14F-4D97-AF65-F5344CB8AC3E}">
        <p14:creationId xmlns:p14="http://schemas.microsoft.com/office/powerpoint/2010/main" val="4396800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48C43D-93AD-C213-ED4C-7741F0FE507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E72800AA-EBD7-DB78-DF5E-877E18C2F2D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10683329-D426-0C34-21A1-BB46AEF49EBC}"/>
              </a:ext>
            </a:extLst>
          </p:cNvPr>
          <p:cNvSpPr/>
          <p:nvPr/>
        </p:nvSpPr>
        <p:spPr>
          <a:xfrm>
            <a:off x="1988098" y="3038203"/>
            <a:ext cx="5929829"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施策の詳細（新規友だち獲得）</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206017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角丸四角形 6"/>
          <p:cNvSpPr/>
          <p:nvPr/>
        </p:nvSpPr>
        <p:spPr>
          <a:xfrm>
            <a:off x="3459839" y="1776142"/>
            <a:ext cx="2986322" cy="447134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8" name="角丸四角形 7"/>
          <p:cNvSpPr/>
          <p:nvPr/>
        </p:nvSpPr>
        <p:spPr>
          <a:xfrm>
            <a:off x="256642" y="1776143"/>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9" name="角丸四角形 8"/>
          <p:cNvSpPr/>
          <p:nvPr/>
        </p:nvSpPr>
        <p:spPr>
          <a:xfrm>
            <a:off x="6663036"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1" name="Google Shape;178;p7"/>
          <p:cNvSpPr txBox="1"/>
          <p:nvPr/>
        </p:nvSpPr>
        <p:spPr>
          <a:xfrm>
            <a:off x="592643"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離脱防止バナー</a:t>
            </a:r>
            <a:endParaRPr lang="en-US" altLang="ja-JP" sz="2000" b="1" dirty="0">
              <a:solidFill>
                <a:srgbClr val="002060"/>
              </a:solidFill>
              <a:latin typeface="メイリオ"/>
              <a:ea typeface="メイリオ"/>
              <a:cs typeface="メイリオ"/>
              <a:sym typeface="Meiryo"/>
            </a:endParaRPr>
          </a:p>
        </p:txBody>
      </p:sp>
      <p:sp>
        <p:nvSpPr>
          <p:cNvPr id="13" name="Google Shape;178;p7"/>
          <p:cNvSpPr txBox="1"/>
          <p:nvPr/>
        </p:nvSpPr>
        <p:spPr>
          <a:xfrm>
            <a:off x="3795840"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CPF</a:t>
            </a:r>
            <a:r>
              <a:rPr lang="ja-JP" altLang="en-US" sz="2000" b="1" dirty="0">
                <a:solidFill>
                  <a:srgbClr val="002060"/>
                </a:solidFill>
                <a:latin typeface="メイリオ"/>
                <a:ea typeface="メイリオ"/>
                <a:cs typeface="メイリオ"/>
                <a:sym typeface="Meiryo"/>
              </a:rPr>
              <a:t>広告</a:t>
            </a:r>
            <a:endParaRPr lang="en-US" altLang="ja-JP" sz="2000" b="1" dirty="0">
              <a:solidFill>
                <a:srgbClr val="002060"/>
              </a:solidFill>
              <a:latin typeface="メイリオ"/>
              <a:ea typeface="メイリオ"/>
              <a:cs typeface="メイリオ"/>
              <a:sym typeface="Meiryo"/>
            </a:endParaRPr>
          </a:p>
        </p:txBody>
      </p:sp>
      <p:sp>
        <p:nvSpPr>
          <p:cNvPr id="14" name="Google Shape;178;p7"/>
          <p:cNvSpPr txBox="1"/>
          <p:nvPr/>
        </p:nvSpPr>
        <p:spPr>
          <a:xfrm>
            <a:off x="6756033" y="1949959"/>
            <a:ext cx="2800326" cy="76772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サンクス</a:t>
            </a:r>
            <a:r>
              <a:rPr lang="en-US" altLang="ja-JP" sz="2000" b="1" dirty="0">
                <a:solidFill>
                  <a:srgbClr val="002060"/>
                </a:solidFill>
                <a:latin typeface="メイリオ"/>
                <a:ea typeface="メイリオ"/>
                <a:cs typeface="メイリオ"/>
                <a:sym typeface="Meiryo"/>
              </a:rPr>
              <a:t>LINE</a:t>
            </a:r>
            <a:r>
              <a:rPr lang="ja-JP" altLang="en-US" sz="2000" b="1" dirty="0">
                <a:solidFill>
                  <a:srgbClr val="002060"/>
                </a:solidFill>
                <a:latin typeface="メイリオ"/>
                <a:ea typeface="メイリオ"/>
                <a:cs typeface="メイリオ"/>
                <a:sym typeface="Meiryo"/>
              </a:rPr>
              <a:t>誘導</a:t>
            </a:r>
            <a:endParaRPr lang="en-US" altLang="ja-JP" sz="2000" b="1" dirty="0">
              <a:solidFill>
                <a:srgbClr val="002060"/>
              </a:solidFill>
              <a:latin typeface="メイリオ"/>
              <a:ea typeface="メイリオ"/>
              <a:cs typeface="メイリオ"/>
              <a:sym typeface="Meiryo"/>
            </a:endParaRPr>
          </a:p>
        </p:txBody>
      </p:sp>
      <p:sp>
        <p:nvSpPr>
          <p:cNvPr id="16" name="Google Shape;178;p7"/>
          <p:cNvSpPr txBox="1"/>
          <p:nvPr/>
        </p:nvSpPr>
        <p:spPr>
          <a:xfrm>
            <a:off x="92849" y="5014843"/>
            <a:ext cx="2067109"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事例：車買取</a:t>
            </a:r>
            <a:endParaRPr lang="en-US" altLang="ja-JP" sz="1400" dirty="0">
              <a:solidFill>
                <a:schemeClr val="tx1">
                  <a:lumMod val="50000"/>
                  <a:lumOff val="50000"/>
                </a:schemeClr>
              </a:solidFill>
              <a:latin typeface="メイリオ"/>
              <a:ea typeface="メイリオ"/>
              <a:cs typeface="メイリオ"/>
              <a:sym typeface="Meiryo"/>
            </a:endParaRPr>
          </a:p>
        </p:txBody>
      </p:sp>
      <p:pic>
        <p:nvPicPr>
          <p:cNvPr id="2" name="図 1"/>
          <p:cNvPicPr>
            <a:picLocks noChangeAspect="1"/>
          </p:cNvPicPr>
          <p:nvPr/>
        </p:nvPicPr>
        <p:blipFill rotWithShape="1">
          <a:blip r:embed="rId2" cstate="print">
            <a:extLst>
              <a:ext uri="{28A0092B-C50C-407E-A947-70E740481C1C}">
                <a14:useLocalDpi xmlns:a14="http://schemas.microsoft.com/office/drawing/2010/main" val="0"/>
              </a:ext>
            </a:extLst>
          </a:blip>
          <a:srcRect t="34585" b="34763"/>
          <a:stretch/>
        </p:blipFill>
        <p:spPr>
          <a:xfrm>
            <a:off x="314053" y="2324099"/>
            <a:ext cx="2871498" cy="1564723"/>
          </a:xfrm>
          <a:prstGeom prst="rect">
            <a:avLst/>
          </a:prstGeom>
        </p:spPr>
      </p:pic>
      <p:sp>
        <p:nvSpPr>
          <p:cNvPr id="17" name="Google Shape;178;p7"/>
          <p:cNvSpPr txBox="1"/>
          <p:nvPr/>
        </p:nvSpPr>
        <p:spPr>
          <a:xfrm>
            <a:off x="-80913" y="4068767"/>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メイリオ"/>
                <a:ea typeface="メイリオ"/>
                <a:cs typeface="メイリオ"/>
                <a:sym typeface="Meiryo"/>
              </a:rPr>
              <a:t>興味はあるが利用まで</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至らなかったユーザーを</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友だちとして囲い込む。</a:t>
            </a:r>
            <a:endParaRPr lang="en-US" altLang="ja-JP" sz="1400" dirty="0">
              <a:latin typeface="メイリオ"/>
              <a:ea typeface="メイリオ"/>
              <a:cs typeface="メイリオ"/>
              <a:sym typeface="Meiryo"/>
            </a:endParaRPr>
          </a:p>
        </p:txBody>
      </p:sp>
      <p:sp>
        <p:nvSpPr>
          <p:cNvPr id="19" name="Google Shape;178;p7"/>
          <p:cNvSpPr txBox="1"/>
          <p:nvPr/>
        </p:nvSpPr>
        <p:spPr>
          <a:xfrm>
            <a:off x="3161410" y="405305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1400" dirty="0">
                <a:latin typeface="メイリオ"/>
                <a:ea typeface="メイリオ"/>
                <a:cs typeface="メイリオ"/>
                <a:sym typeface="Meiryo"/>
              </a:rPr>
              <a:t>CPF</a:t>
            </a:r>
            <a:r>
              <a:rPr lang="ja-JP" altLang="en-US" sz="1400" dirty="0">
                <a:latin typeface="メイリオ"/>
                <a:ea typeface="メイリオ"/>
                <a:cs typeface="メイリオ"/>
                <a:sym typeface="Meiryo"/>
              </a:rPr>
              <a:t>約</a:t>
            </a:r>
            <a:r>
              <a:rPr lang="en-US" altLang="ja-JP" sz="1400" dirty="0">
                <a:latin typeface="メイリオ"/>
                <a:ea typeface="メイリオ"/>
                <a:cs typeface="メイリオ"/>
                <a:sym typeface="Meiryo"/>
              </a:rPr>
              <a:t>100-200</a:t>
            </a:r>
            <a:r>
              <a:rPr lang="ja-JP" altLang="en-US" sz="1400" dirty="0">
                <a:latin typeface="メイリオ"/>
                <a:ea typeface="メイリオ"/>
                <a:cs typeface="メイリオ"/>
                <a:sym typeface="Meiryo"/>
              </a:rPr>
              <a:t>円台。</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かなり安価かつ成果報酬で</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友だちを増やす広告。</a:t>
            </a:r>
            <a:endParaRPr lang="en-US" altLang="ja-JP" sz="1400" dirty="0">
              <a:latin typeface="メイリオ"/>
              <a:ea typeface="メイリオ"/>
              <a:cs typeface="メイリオ"/>
              <a:sym typeface="Meiryo"/>
            </a:endParaRPr>
          </a:p>
        </p:txBody>
      </p:sp>
      <p:sp>
        <p:nvSpPr>
          <p:cNvPr id="20" name="Google Shape;178;p7"/>
          <p:cNvSpPr txBox="1"/>
          <p:nvPr/>
        </p:nvSpPr>
        <p:spPr>
          <a:xfrm>
            <a:off x="3242964"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事例：アパレル</a:t>
            </a:r>
            <a:endParaRPr lang="en-US" altLang="ja-JP" sz="1400" dirty="0">
              <a:solidFill>
                <a:schemeClr val="tx1">
                  <a:lumMod val="50000"/>
                  <a:lumOff val="50000"/>
                </a:schemeClr>
              </a:solidFill>
              <a:latin typeface="メイリオ"/>
              <a:ea typeface="メイリオ"/>
              <a:cs typeface="メイリオ"/>
              <a:sym typeface="Meiryo"/>
            </a:endParaRPr>
          </a:p>
        </p:txBody>
      </p:sp>
      <p:sp>
        <p:nvSpPr>
          <p:cNvPr id="21" name="Google Shape;178;p7"/>
          <p:cNvSpPr txBox="1"/>
          <p:nvPr/>
        </p:nvSpPr>
        <p:spPr>
          <a:xfrm>
            <a:off x="3639325" y="5328640"/>
            <a:ext cx="2795420"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1</a:t>
            </a:r>
            <a:r>
              <a:rPr lang="ja-JP" altLang="en-US" sz="1200" dirty="0">
                <a:solidFill>
                  <a:schemeClr val="tx1">
                    <a:lumMod val="50000"/>
                    <a:lumOff val="50000"/>
                  </a:schemeClr>
                </a:solidFill>
                <a:latin typeface="メイリオ"/>
                <a:ea typeface="メイリオ"/>
                <a:cs typeface="メイリオ"/>
                <a:sym typeface="Meiryo"/>
              </a:rPr>
              <a:t>人あたり</a:t>
            </a:r>
            <a:r>
              <a:rPr lang="en-US" altLang="ja-JP" sz="1200" dirty="0">
                <a:solidFill>
                  <a:schemeClr val="tx1">
                    <a:lumMod val="50000"/>
                    <a:lumOff val="50000"/>
                  </a:schemeClr>
                </a:solidFill>
                <a:latin typeface="メイリオ"/>
                <a:ea typeface="メイリオ"/>
                <a:cs typeface="メイリオ"/>
                <a:sym typeface="Meiryo"/>
              </a:rPr>
              <a:t>50</a:t>
            </a:r>
            <a:r>
              <a:rPr lang="ja-JP" altLang="en-US" sz="1200" dirty="0">
                <a:solidFill>
                  <a:schemeClr val="tx1">
                    <a:lumMod val="50000"/>
                    <a:lumOff val="50000"/>
                  </a:schemeClr>
                </a:solidFill>
                <a:latin typeface="メイリオ"/>
                <a:ea typeface="メイリオ"/>
                <a:cs typeface="メイリオ"/>
                <a:sym typeface="Meiryo"/>
              </a:rPr>
              <a:t>円で友だち獲得</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LINE</a:t>
            </a:r>
            <a:r>
              <a:rPr lang="ja-JP" altLang="en-US" sz="1200" dirty="0">
                <a:solidFill>
                  <a:schemeClr val="tx1">
                    <a:lumMod val="50000"/>
                    <a:lumOff val="50000"/>
                  </a:schemeClr>
                </a:solidFill>
                <a:latin typeface="メイリオ"/>
                <a:ea typeface="メイリオ"/>
                <a:cs typeface="メイリオ"/>
                <a:sym typeface="Meiryo"/>
              </a:rPr>
              <a:t>経由の購入</a:t>
            </a:r>
            <a:r>
              <a:rPr lang="en-US" altLang="ja-JP" sz="1200" dirty="0">
                <a:solidFill>
                  <a:schemeClr val="tx1">
                    <a:lumMod val="50000"/>
                    <a:lumOff val="50000"/>
                  </a:schemeClr>
                </a:solidFill>
                <a:latin typeface="メイリオ"/>
                <a:ea typeface="メイリオ"/>
                <a:cs typeface="メイリオ"/>
                <a:sym typeface="Meiryo"/>
              </a:rPr>
              <a:t>1.5</a:t>
            </a:r>
            <a:r>
              <a:rPr lang="ja-JP" altLang="en-US" sz="1200" dirty="0">
                <a:solidFill>
                  <a:schemeClr val="tx1">
                    <a:lumMod val="50000"/>
                    <a:lumOff val="50000"/>
                  </a:schemeClr>
                </a:solidFill>
                <a:latin typeface="メイリオ"/>
                <a:ea typeface="メイリオ"/>
                <a:cs typeface="メイリオ"/>
                <a:sym typeface="Meiryo"/>
              </a:rPr>
              <a:t>倍</a:t>
            </a:r>
            <a:endParaRPr lang="en-US" altLang="ja-JP" sz="1200" dirty="0">
              <a:solidFill>
                <a:schemeClr val="tx1">
                  <a:lumMod val="50000"/>
                  <a:lumOff val="50000"/>
                </a:schemeClr>
              </a:solidFill>
              <a:latin typeface="メイリオ"/>
              <a:ea typeface="メイリオ"/>
              <a:cs typeface="メイリオ"/>
              <a:sym typeface="Meiryo"/>
            </a:endParaRPr>
          </a:p>
        </p:txBody>
      </p:sp>
      <p:sp>
        <p:nvSpPr>
          <p:cNvPr id="22" name="Google Shape;178;p7"/>
          <p:cNvSpPr txBox="1"/>
          <p:nvPr/>
        </p:nvSpPr>
        <p:spPr>
          <a:xfrm>
            <a:off x="6434745"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メイリオ"/>
                <a:ea typeface="メイリオ"/>
                <a:cs typeface="メイリオ"/>
                <a:sym typeface="Meiryo"/>
              </a:rPr>
              <a:t>サンクスページに到達した</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ユーザーを自動で</a:t>
            </a:r>
            <a:r>
              <a:rPr lang="en-US" altLang="ja-JP" sz="1400" dirty="0">
                <a:latin typeface="メイリオ"/>
                <a:ea typeface="メイリオ"/>
                <a:cs typeface="メイリオ"/>
                <a:sym typeface="Meiryo"/>
              </a:rPr>
              <a:t>LINE</a:t>
            </a:r>
            <a:r>
              <a:rPr lang="ja-JP" altLang="en-US" sz="1400" dirty="0">
                <a:latin typeface="メイリオ"/>
                <a:ea typeface="メイリオ"/>
                <a:cs typeface="メイリオ"/>
                <a:sym typeface="Meiryo"/>
              </a:rPr>
              <a:t>に誘導。</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友だち追加、追客に活用可能。</a:t>
            </a:r>
            <a:endParaRPr lang="en-US" altLang="ja-JP" sz="1400" dirty="0">
              <a:latin typeface="メイリオ"/>
              <a:ea typeface="メイリオ"/>
              <a:cs typeface="メイリオ"/>
              <a:sym typeface="Meiryo"/>
            </a:endParaRPr>
          </a:p>
        </p:txBody>
      </p:sp>
      <p:sp>
        <p:nvSpPr>
          <p:cNvPr id="23" name="Google Shape;178;p7"/>
          <p:cNvSpPr txBox="1"/>
          <p:nvPr/>
        </p:nvSpPr>
        <p:spPr>
          <a:xfrm>
            <a:off x="6434745"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事例：美容医療</a:t>
            </a:r>
            <a:endParaRPr lang="en-US" altLang="ja-JP" sz="1400" dirty="0">
              <a:solidFill>
                <a:schemeClr val="tx1">
                  <a:lumMod val="50000"/>
                  <a:lumOff val="50000"/>
                </a:schemeClr>
              </a:solidFill>
              <a:latin typeface="メイリオ"/>
              <a:ea typeface="メイリオ"/>
              <a:cs typeface="メイリオ"/>
              <a:sym typeface="Meiryo"/>
            </a:endParaRPr>
          </a:p>
        </p:txBody>
      </p:sp>
      <p:pic>
        <p:nvPicPr>
          <p:cNvPr id="4" name="図 3"/>
          <p:cNvPicPr>
            <a:picLocks noChangeAspect="1"/>
          </p:cNvPicPr>
          <p:nvPr/>
        </p:nvPicPr>
        <p:blipFill>
          <a:blip r:embed="rId3"/>
          <a:stretch>
            <a:fillRect/>
          </a:stretch>
        </p:blipFill>
        <p:spPr>
          <a:xfrm>
            <a:off x="3639325" y="2409907"/>
            <a:ext cx="2627350" cy="1492812"/>
          </a:xfrm>
          <a:prstGeom prst="rect">
            <a:avLst/>
          </a:prstGeom>
        </p:spPr>
      </p:pic>
      <p:sp>
        <p:nvSpPr>
          <p:cNvPr id="24" name="Google Shape;178;p7"/>
          <p:cNvSpPr txBox="1"/>
          <p:nvPr/>
        </p:nvSpPr>
        <p:spPr>
          <a:xfrm>
            <a:off x="440374" y="5328640"/>
            <a:ext cx="2752048" cy="890835"/>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LP</a:t>
            </a:r>
            <a:r>
              <a:rPr lang="ja-JP" altLang="en-US" sz="1200" dirty="0">
                <a:solidFill>
                  <a:schemeClr val="tx1">
                    <a:lumMod val="50000"/>
                    <a:lumOff val="50000"/>
                  </a:schemeClr>
                </a:solidFill>
                <a:latin typeface="メイリオ"/>
                <a:ea typeface="メイリオ"/>
                <a:cs typeface="メイリオ"/>
                <a:sym typeface="Meiryo"/>
              </a:rPr>
              <a:t>離脱ユーザーに対して</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LINE</a:t>
            </a:r>
            <a:r>
              <a:rPr lang="ja-JP" altLang="en-US" sz="1200" dirty="0">
                <a:solidFill>
                  <a:schemeClr val="tx1">
                    <a:lumMod val="50000"/>
                    <a:lumOff val="50000"/>
                  </a:schemeClr>
                </a:solidFill>
                <a:latin typeface="メイリオ"/>
                <a:ea typeface="メイリオ"/>
                <a:cs typeface="メイリオ"/>
                <a:sym typeface="Meiryo"/>
              </a:rPr>
              <a:t>誘導を実施。</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LINE</a:t>
            </a:r>
            <a:r>
              <a:rPr lang="ja-JP" altLang="en-US" sz="1200" dirty="0">
                <a:solidFill>
                  <a:schemeClr val="tx1">
                    <a:lumMod val="50000"/>
                    <a:lumOff val="50000"/>
                  </a:schemeClr>
                </a:solidFill>
                <a:latin typeface="メイリオ"/>
                <a:ea typeface="メイリオ"/>
                <a:cs typeface="メイリオ"/>
                <a:sym typeface="Meiryo"/>
              </a:rPr>
              <a:t>追加から</a:t>
            </a:r>
            <a:r>
              <a:rPr lang="en-US" altLang="ja-JP" sz="1200" dirty="0">
                <a:solidFill>
                  <a:schemeClr val="tx1">
                    <a:lumMod val="50000"/>
                    <a:lumOff val="50000"/>
                  </a:schemeClr>
                </a:solidFill>
                <a:latin typeface="メイリオ"/>
                <a:ea typeface="メイリオ"/>
                <a:cs typeface="メイリオ"/>
                <a:sym typeface="Meiryo"/>
              </a:rPr>
              <a:t>20</a:t>
            </a:r>
            <a:r>
              <a:rPr lang="ja-JP" altLang="en-US" sz="1200" dirty="0">
                <a:solidFill>
                  <a:schemeClr val="tx1">
                    <a:lumMod val="50000"/>
                    <a:lumOff val="50000"/>
                  </a:schemeClr>
                </a:solidFill>
                <a:latin typeface="メイリオ"/>
                <a:ea typeface="メイリオ"/>
                <a:cs typeface="メイリオ"/>
                <a:sym typeface="Meiryo"/>
              </a:rPr>
              <a:t>％が</a:t>
            </a:r>
            <a:r>
              <a:rPr lang="en-US" altLang="ja-JP" sz="1200" dirty="0">
                <a:solidFill>
                  <a:schemeClr val="tx1">
                    <a:lumMod val="50000"/>
                    <a:lumOff val="50000"/>
                  </a:schemeClr>
                </a:solidFill>
                <a:latin typeface="メイリオ"/>
                <a:ea typeface="メイリオ"/>
                <a:cs typeface="メイリオ"/>
                <a:sym typeface="Meiryo"/>
              </a:rPr>
              <a:t>CV</a:t>
            </a:r>
          </a:p>
          <a:p>
            <a:pPr lvl="0">
              <a:buClr>
                <a:schemeClr val="dk1"/>
              </a:buClr>
              <a:buSzPts val="1500"/>
            </a:pPr>
            <a:endParaRPr lang="en-US" altLang="ja-JP" sz="1200" dirty="0">
              <a:solidFill>
                <a:schemeClr val="tx1">
                  <a:lumMod val="50000"/>
                  <a:lumOff val="50000"/>
                </a:schemeClr>
              </a:solidFill>
              <a:latin typeface="メイリオ"/>
              <a:ea typeface="メイリオ"/>
              <a:cs typeface="メイリオ"/>
              <a:sym typeface="Meiryo"/>
            </a:endParaRPr>
          </a:p>
        </p:txBody>
      </p:sp>
      <p:sp>
        <p:nvSpPr>
          <p:cNvPr id="25" name="Google Shape;178;p7"/>
          <p:cNvSpPr txBox="1"/>
          <p:nvPr/>
        </p:nvSpPr>
        <p:spPr>
          <a:xfrm>
            <a:off x="6825208"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導入後友だち増加数が</a:t>
            </a:r>
            <a:r>
              <a:rPr lang="en-US" altLang="ja-JP" sz="1200" dirty="0">
                <a:solidFill>
                  <a:schemeClr val="tx1">
                    <a:lumMod val="50000"/>
                    <a:lumOff val="50000"/>
                  </a:schemeClr>
                </a:solidFill>
                <a:latin typeface="メイリオ"/>
                <a:ea typeface="メイリオ"/>
                <a:cs typeface="メイリオ"/>
                <a:sym typeface="Meiryo"/>
              </a:rPr>
              <a:t>1.5</a:t>
            </a:r>
            <a:r>
              <a:rPr lang="ja-JP" altLang="en-US" sz="1200" dirty="0">
                <a:solidFill>
                  <a:schemeClr val="tx1">
                    <a:lumMod val="50000"/>
                    <a:lumOff val="50000"/>
                  </a:schemeClr>
                </a:solidFill>
                <a:latin typeface="メイリオ"/>
                <a:ea typeface="メイリオ"/>
                <a:cs typeface="メイリオ"/>
                <a:sym typeface="Meiryo"/>
              </a:rPr>
              <a:t>倍に。</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実反響率も</a:t>
            </a:r>
            <a:r>
              <a:rPr lang="en-US" altLang="ja-JP" sz="1200" dirty="0">
                <a:solidFill>
                  <a:schemeClr val="tx1">
                    <a:lumMod val="50000"/>
                    <a:lumOff val="50000"/>
                  </a:schemeClr>
                </a:solidFill>
                <a:latin typeface="メイリオ"/>
                <a:ea typeface="メイリオ"/>
                <a:cs typeface="メイリオ"/>
                <a:sym typeface="Meiryo"/>
              </a:rPr>
              <a:t>40%</a:t>
            </a:r>
            <a:r>
              <a:rPr lang="ja-JP" altLang="en-US" sz="1200" dirty="0">
                <a:solidFill>
                  <a:schemeClr val="tx1">
                    <a:lumMod val="50000"/>
                    <a:lumOff val="50000"/>
                  </a:schemeClr>
                </a:solidFill>
                <a:latin typeface="メイリオ"/>
                <a:ea typeface="メイリオ"/>
                <a:cs typeface="メイリオ"/>
                <a:sym typeface="Meiryo"/>
              </a:rPr>
              <a:t>程度改善。</a:t>
            </a:r>
            <a:endParaRPr lang="en-US" altLang="ja-JP" sz="1200" dirty="0">
              <a:solidFill>
                <a:schemeClr val="tx1">
                  <a:lumMod val="50000"/>
                  <a:lumOff val="50000"/>
                </a:schemeClr>
              </a:solidFill>
              <a:latin typeface="メイリオ"/>
              <a:ea typeface="メイリオ"/>
              <a:cs typeface="メイリオ"/>
              <a:sym typeface="Meiryo"/>
            </a:endParaRPr>
          </a:p>
        </p:txBody>
      </p:sp>
      <p:sp>
        <p:nvSpPr>
          <p:cNvPr id="37" name="角丸四角形 8">
            <a:extLst>
              <a:ext uri="{FF2B5EF4-FFF2-40B4-BE49-F238E27FC236}">
                <a16:creationId xmlns:a16="http://schemas.microsoft.com/office/drawing/2014/main" id="{C9E1ACA7-99C2-0E6B-91F5-B9518FC16E7C}"/>
              </a:ext>
            </a:extLst>
          </p:cNvPr>
          <p:cNvSpPr/>
          <p:nvPr/>
        </p:nvSpPr>
        <p:spPr>
          <a:xfrm>
            <a:off x="3460688"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38" name="Google Shape;178;p7">
            <a:extLst>
              <a:ext uri="{FF2B5EF4-FFF2-40B4-BE49-F238E27FC236}">
                <a16:creationId xmlns:a16="http://schemas.microsoft.com/office/drawing/2014/main" id="{6F13136C-FF05-A088-CA87-3ACA257BC421}"/>
              </a:ext>
            </a:extLst>
          </p:cNvPr>
          <p:cNvSpPr txBox="1"/>
          <p:nvPr/>
        </p:nvSpPr>
        <p:spPr>
          <a:xfrm>
            <a:off x="3796689" y="1949959"/>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通知メッセージ</a:t>
            </a:r>
            <a:endParaRPr lang="en-US" altLang="ja-JP" sz="2000" b="1" dirty="0">
              <a:solidFill>
                <a:srgbClr val="002060"/>
              </a:solidFill>
              <a:latin typeface="メイリオ"/>
              <a:ea typeface="メイリオ"/>
              <a:cs typeface="メイリオ"/>
              <a:sym typeface="Meiryo"/>
            </a:endParaRPr>
          </a:p>
        </p:txBody>
      </p:sp>
      <p:sp>
        <p:nvSpPr>
          <p:cNvPr id="39" name="Google Shape;178;p7">
            <a:extLst>
              <a:ext uri="{FF2B5EF4-FFF2-40B4-BE49-F238E27FC236}">
                <a16:creationId xmlns:a16="http://schemas.microsoft.com/office/drawing/2014/main" id="{07FD580D-9A27-0246-033B-9F6EAE799E8D}"/>
              </a:ext>
            </a:extLst>
          </p:cNvPr>
          <p:cNvSpPr txBox="1"/>
          <p:nvPr/>
        </p:nvSpPr>
        <p:spPr>
          <a:xfrm>
            <a:off x="3232397"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メイリオ"/>
                <a:ea typeface="メイリオ"/>
                <a:cs typeface="メイリオ"/>
                <a:sym typeface="Meiryo"/>
              </a:rPr>
              <a:t>友だちではないユーザーに</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対して予約完了通知などを</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送り友だちを増やす。</a:t>
            </a:r>
            <a:endParaRPr lang="en-US" altLang="ja-JP" sz="1400" dirty="0">
              <a:latin typeface="メイリオ"/>
              <a:ea typeface="メイリオ"/>
              <a:cs typeface="メイリオ"/>
              <a:sym typeface="Meiryo"/>
            </a:endParaRPr>
          </a:p>
        </p:txBody>
      </p:sp>
      <p:sp>
        <p:nvSpPr>
          <p:cNvPr id="40" name="Google Shape;178;p7">
            <a:extLst>
              <a:ext uri="{FF2B5EF4-FFF2-40B4-BE49-F238E27FC236}">
                <a16:creationId xmlns:a16="http://schemas.microsoft.com/office/drawing/2014/main" id="{9F664541-9CBE-3991-FFCD-6CC51F91112E}"/>
              </a:ext>
            </a:extLst>
          </p:cNvPr>
          <p:cNvSpPr txBox="1"/>
          <p:nvPr/>
        </p:nvSpPr>
        <p:spPr>
          <a:xfrm>
            <a:off x="3232397"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事例：宅配ピザ</a:t>
            </a:r>
            <a:endParaRPr lang="en-US" altLang="ja-JP" sz="1400" dirty="0">
              <a:solidFill>
                <a:schemeClr val="tx1">
                  <a:lumMod val="50000"/>
                  <a:lumOff val="50000"/>
                </a:schemeClr>
              </a:solidFill>
              <a:latin typeface="メイリオ"/>
              <a:ea typeface="メイリオ"/>
              <a:cs typeface="メイリオ"/>
              <a:sym typeface="Meiryo"/>
            </a:endParaRPr>
          </a:p>
        </p:txBody>
      </p:sp>
      <p:pic>
        <p:nvPicPr>
          <p:cNvPr id="41" name="図 40">
            <a:extLst>
              <a:ext uri="{FF2B5EF4-FFF2-40B4-BE49-F238E27FC236}">
                <a16:creationId xmlns:a16="http://schemas.microsoft.com/office/drawing/2014/main" id="{EBE29AD0-3B27-DC79-2BA9-92067E22722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968283" y="1481069"/>
            <a:ext cx="2029853" cy="3608629"/>
          </a:xfrm>
          <a:prstGeom prst="rect">
            <a:avLst/>
          </a:prstGeom>
        </p:spPr>
      </p:pic>
      <p:sp>
        <p:nvSpPr>
          <p:cNvPr id="42" name="Google Shape;178;p7">
            <a:extLst>
              <a:ext uri="{FF2B5EF4-FFF2-40B4-BE49-F238E27FC236}">
                <a16:creationId xmlns:a16="http://schemas.microsoft.com/office/drawing/2014/main" id="{D998E418-5C84-71C1-1C83-DA02AB529AF7}"/>
              </a:ext>
            </a:extLst>
          </p:cNvPr>
          <p:cNvSpPr txBox="1"/>
          <p:nvPr/>
        </p:nvSpPr>
        <p:spPr>
          <a:xfrm>
            <a:off x="3622860"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通知メッセージ導入４ヶ月で</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友だち数</a:t>
            </a:r>
            <a:r>
              <a:rPr lang="en-US" altLang="ja-JP" sz="1200" dirty="0">
                <a:solidFill>
                  <a:schemeClr val="tx1">
                    <a:lumMod val="50000"/>
                    <a:lumOff val="50000"/>
                  </a:schemeClr>
                </a:solidFill>
                <a:latin typeface="メイリオ"/>
                <a:ea typeface="メイリオ"/>
                <a:cs typeface="メイリオ"/>
                <a:sym typeface="Meiryo"/>
              </a:rPr>
              <a:t>2</a:t>
            </a:r>
            <a:r>
              <a:rPr lang="ja-JP" altLang="en-US" sz="1200" dirty="0">
                <a:solidFill>
                  <a:schemeClr val="tx1">
                    <a:lumMod val="50000"/>
                    <a:lumOff val="50000"/>
                  </a:schemeClr>
                </a:solidFill>
                <a:latin typeface="メイリオ"/>
                <a:ea typeface="メイリオ"/>
                <a:cs typeface="メイリオ"/>
                <a:sym typeface="Meiryo"/>
              </a:rPr>
              <a:t>倍</a:t>
            </a:r>
            <a:endParaRPr lang="en-US" altLang="ja-JP" sz="1200" dirty="0">
              <a:solidFill>
                <a:schemeClr val="tx1">
                  <a:lumMod val="50000"/>
                  <a:lumOff val="50000"/>
                </a:schemeClr>
              </a:solidFill>
              <a:latin typeface="メイリオ"/>
              <a:ea typeface="メイリオ"/>
              <a:cs typeface="メイリオ"/>
              <a:sym typeface="Meiryo"/>
            </a:endParaRPr>
          </a:p>
        </p:txBody>
      </p:sp>
      <p:pic>
        <p:nvPicPr>
          <p:cNvPr id="1026" name="Picture 2" descr="サンクスページ インスタ無料テンプレートデザイン。イラストや ...">
            <a:extLst>
              <a:ext uri="{FF2B5EF4-FFF2-40B4-BE49-F238E27FC236}">
                <a16:creationId xmlns:a16="http://schemas.microsoft.com/office/drawing/2014/main" id="{EF2FB526-72BA-45FB-7AF8-36501049F967}"/>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8239" b="39628"/>
          <a:stretch>
            <a:fillRect/>
          </a:stretch>
        </p:blipFill>
        <p:spPr bwMode="auto">
          <a:xfrm>
            <a:off x="7001437" y="2549254"/>
            <a:ext cx="2326770" cy="1225425"/>
          </a:xfrm>
          <a:prstGeom prst="rect">
            <a:avLst/>
          </a:prstGeom>
          <a:noFill/>
          <a:extLst>
            <a:ext uri="{909E8E84-426E-40DD-AFC4-6F175D3DCCD1}">
              <a14:hiddenFill xmlns:a14="http://schemas.microsoft.com/office/drawing/2010/main">
                <a:solidFill>
                  <a:srgbClr val="FFFFFF"/>
                </a:solidFill>
              </a14:hiddenFill>
            </a:ext>
          </a:extLst>
        </p:spPr>
      </p:pic>
      <p:sp>
        <p:nvSpPr>
          <p:cNvPr id="3" name="Google Shape;752;p28">
            <a:extLst>
              <a:ext uri="{FF2B5EF4-FFF2-40B4-BE49-F238E27FC236}">
                <a16:creationId xmlns:a16="http://schemas.microsoft.com/office/drawing/2014/main" id="{E6ACC822-B6F9-6C30-928D-BAC3D63D473A}"/>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a:t>
            </a:r>
          </a:p>
        </p:txBody>
      </p:sp>
      <p:sp>
        <p:nvSpPr>
          <p:cNvPr id="5" name="Google Shape;178;p7">
            <a:extLst>
              <a:ext uri="{FF2B5EF4-FFF2-40B4-BE49-F238E27FC236}">
                <a16:creationId xmlns:a16="http://schemas.microsoft.com/office/drawing/2014/main" id="{617CCD27-0570-5EC2-D489-ADCA03A0F721}"/>
              </a:ext>
            </a:extLst>
          </p:cNvPr>
          <p:cNvSpPr txBox="1"/>
          <p:nvPr/>
        </p:nvSpPr>
        <p:spPr>
          <a:xfrm>
            <a:off x="77003" y="943920"/>
            <a:ext cx="9751992" cy="583059"/>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600" dirty="0">
                <a:latin typeface="メイリオ"/>
                <a:ea typeface="メイリオ"/>
                <a:cs typeface="メイリオ"/>
                <a:sym typeface="Meiryo"/>
              </a:rPr>
              <a:t>準顕在（獲得見込みが高い）層の</a:t>
            </a:r>
            <a:r>
              <a:rPr lang="ja-JP" altLang="en-US" sz="1600" b="1" dirty="0">
                <a:latin typeface="メイリオ"/>
                <a:ea typeface="メイリオ"/>
                <a:cs typeface="メイリオ"/>
                <a:sym typeface="Meiryo"/>
              </a:rPr>
              <a:t>独自獲得手法が豊富</a:t>
            </a:r>
            <a:r>
              <a:rPr lang="ja-JP" altLang="en-US" sz="1600" dirty="0">
                <a:latin typeface="メイリオ"/>
                <a:ea typeface="メイリオ"/>
                <a:cs typeface="メイリオ"/>
                <a:sym typeface="Meiryo"/>
              </a:rPr>
              <a:t>で尚且つ</a:t>
            </a:r>
            <a:r>
              <a:rPr lang="ja-JP" altLang="en-US" sz="1600" b="1" dirty="0">
                <a:latin typeface="メイリオ"/>
                <a:ea typeface="メイリオ"/>
                <a:cs typeface="メイリオ"/>
                <a:sym typeface="Meiryo"/>
              </a:rPr>
              <a:t>利用までナーチャリング</a:t>
            </a:r>
            <a:endParaRPr lang="en-US" altLang="ja-JP" sz="1600" b="1" dirty="0">
              <a:latin typeface="メイリオ"/>
              <a:ea typeface="メイリオ"/>
              <a:cs typeface="メイリオ"/>
              <a:sym typeface="Meiryo"/>
            </a:endParaRPr>
          </a:p>
          <a:p>
            <a:pPr lvl="0" algn="ctr">
              <a:buClr>
                <a:schemeClr val="dk1"/>
              </a:buClr>
              <a:buSzPts val="1500"/>
            </a:pPr>
            <a:r>
              <a:rPr lang="en-US" altLang="ja-JP" sz="1100" dirty="0">
                <a:solidFill>
                  <a:srgbClr val="1F2A5C"/>
                </a:solidFill>
                <a:latin typeface="メイリオ"/>
                <a:ea typeface="メイリオ"/>
                <a:cs typeface="メイリオ"/>
                <a:sym typeface="Meiryo"/>
              </a:rPr>
              <a:t>※</a:t>
            </a:r>
            <a:r>
              <a:rPr lang="ja-JP" altLang="en-US" sz="1100" dirty="0">
                <a:solidFill>
                  <a:srgbClr val="1F2A5C"/>
                </a:solidFill>
                <a:latin typeface="メイリオ"/>
                <a:ea typeface="メイリオ"/>
                <a:cs typeface="メイリオ"/>
                <a:sym typeface="Meiryo"/>
              </a:rPr>
              <a:t>実施想定の友だち追加動線について、★を記載しております。</a:t>
            </a:r>
            <a:endParaRPr lang="en-US" altLang="ja-JP" sz="1600" dirty="0">
              <a:solidFill>
                <a:srgbClr val="1F2A5C"/>
              </a:solidFill>
              <a:latin typeface="メイリオ"/>
              <a:ea typeface="メイリオ"/>
              <a:cs typeface="メイリオ"/>
              <a:sym typeface="Meiryo"/>
            </a:endParaRPr>
          </a:p>
        </p:txBody>
      </p:sp>
      <p:sp>
        <p:nvSpPr>
          <p:cNvPr id="6" name="星: 5 pt 5">
            <a:extLst>
              <a:ext uri="{FF2B5EF4-FFF2-40B4-BE49-F238E27FC236}">
                <a16:creationId xmlns:a16="http://schemas.microsoft.com/office/drawing/2014/main" id="{73AA3FF7-ED61-B641-763C-E4940D075F39}"/>
              </a:ext>
            </a:extLst>
          </p:cNvPr>
          <p:cNvSpPr/>
          <p:nvPr/>
        </p:nvSpPr>
        <p:spPr>
          <a:xfrm>
            <a:off x="2749464" y="1706924"/>
            <a:ext cx="540000" cy="540000"/>
          </a:xfrm>
          <a:prstGeom prst="star5">
            <a:avLst>
              <a:gd name="adj" fmla="val 32226"/>
              <a:gd name="hf" fmla="val 105146"/>
              <a:gd name="vf" fmla="val 110557"/>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12" name="星: 5 pt 11">
            <a:extLst>
              <a:ext uri="{FF2B5EF4-FFF2-40B4-BE49-F238E27FC236}">
                <a16:creationId xmlns:a16="http://schemas.microsoft.com/office/drawing/2014/main" id="{2C908883-96FE-2C98-5753-AECCC0E66D37}"/>
              </a:ext>
            </a:extLst>
          </p:cNvPr>
          <p:cNvSpPr/>
          <p:nvPr/>
        </p:nvSpPr>
        <p:spPr>
          <a:xfrm>
            <a:off x="9252865" y="1706924"/>
            <a:ext cx="540000" cy="540000"/>
          </a:xfrm>
          <a:prstGeom prst="star5">
            <a:avLst>
              <a:gd name="adj" fmla="val 32226"/>
              <a:gd name="hf" fmla="val 105146"/>
              <a:gd name="vf" fmla="val 110557"/>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Tree>
    <p:extLst>
      <p:ext uri="{BB962C8B-B14F-4D97-AF65-F5344CB8AC3E}">
        <p14:creationId xmlns:p14="http://schemas.microsoft.com/office/powerpoint/2010/main" val="30001345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61D1B-00B3-A324-FA45-8227BFE7C87E}"/>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92EBA17-1F28-FC74-FD04-7BBA4028B4C8}"/>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（ポップアップ </a:t>
            </a:r>
            <a:r>
              <a:rPr lang="en-US" altLang="ja-JP" sz="1600" b="1" dirty="0">
                <a:solidFill>
                  <a:srgbClr val="323366"/>
                </a:solidFill>
                <a:latin typeface="メイリオ" panose="020B0604030504040204" pitchFamily="50" charset="-128"/>
                <a:ea typeface="メイリオ" panose="020B0604030504040204" pitchFamily="50" charset="-128"/>
                <a:cs typeface="メイリオ"/>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離脱防止）</a:t>
            </a:r>
          </a:p>
        </p:txBody>
      </p:sp>
      <p:grpSp>
        <p:nvGrpSpPr>
          <p:cNvPr id="3" name="グループ化 2">
            <a:extLst>
              <a:ext uri="{FF2B5EF4-FFF2-40B4-BE49-F238E27FC236}">
                <a16:creationId xmlns:a16="http://schemas.microsoft.com/office/drawing/2014/main" id="{A495E905-6DD4-9945-098D-841CB438C3EE}"/>
              </a:ext>
            </a:extLst>
          </p:cNvPr>
          <p:cNvGrpSpPr/>
          <p:nvPr/>
        </p:nvGrpSpPr>
        <p:grpSpPr>
          <a:xfrm>
            <a:off x="543398" y="777681"/>
            <a:ext cx="3105325" cy="485102"/>
            <a:chOff x="507969" y="928495"/>
            <a:chExt cx="3105325" cy="485102"/>
          </a:xfrm>
          <a:solidFill>
            <a:schemeClr val="tx2"/>
          </a:solidFill>
        </p:grpSpPr>
        <p:sp>
          <p:nvSpPr>
            <p:cNvPr id="4" name="Google Shape;51;p19">
              <a:extLst>
                <a:ext uri="{FF2B5EF4-FFF2-40B4-BE49-F238E27FC236}">
                  <a16:creationId xmlns:a16="http://schemas.microsoft.com/office/drawing/2014/main" id="{460E3190-8E00-961F-6C91-89DE5F3546AF}"/>
                </a:ext>
              </a:extLst>
            </p:cNvPr>
            <p:cNvSpPr/>
            <p:nvPr/>
          </p:nvSpPr>
          <p:spPr>
            <a:xfrm>
              <a:off x="507969" y="928495"/>
              <a:ext cx="3105325" cy="485102"/>
            </a:xfrm>
            <a:prstGeom prst="roundRect">
              <a:avLst>
                <a:gd name="adj" fmla="val 16667"/>
              </a:avLst>
            </a:prstGeom>
            <a:grp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214929DF-C4CB-63FB-BAED-F6A1BE2438B2}"/>
                </a:ext>
              </a:extLst>
            </p:cNvPr>
            <p:cNvSpPr txBox="1"/>
            <p:nvPr/>
          </p:nvSpPr>
          <p:spPr>
            <a:xfrm>
              <a:off x="687498" y="938979"/>
              <a:ext cx="2746265" cy="357790"/>
            </a:xfrm>
            <a:prstGeom prst="rect">
              <a:avLst/>
            </a:prstGeom>
            <a:grp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ポップアップ</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離脱防止 など</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endParaRPr kumimoji="1" lang="ja-JP" altLang="en-US" sz="1500" b="1" dirty="0">
                <a:solidFill>
                  <a:schemeClr val="bg1"/>
                </a:solidFill>
                <a:latin typeface="メイリオ" panose="020B0604030504040204" pitchFamily="34" charset="-128"/>
                <a:ea typeface="メイリオ" panose="020B0604030504040204" pitchFamily="34" charset="-128"/>
                <a:cs typeface="メイリオ"/>
              </a:endParaRPr>
            </a:p>
          </p:txBody>
        </p:sp>
      </p:grpSp>
      <p:sp>
        <p:nvSpPr>
          <p:cNvPr id="8" name="正方形/長方形 7">
            <a:extLst>
              <a:ext uri="{FF2B5EF4-FFF2-40B4-BE49-F238E27FC236}">
                <a16:creationId xmlns:a16="http://schemas.microsoft.com/office/drawing/2014/main" id="{200A9277-1702-628D-6325-0D765E09FBE7}"/>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サイト上の特定アクションを起こしたユーザーに対して</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ポップアップの形で</a:t>
            </a:r>
            <a:r>
              <a:rPr lang="en-US" altLang="ja-JP" sz="1600" dirty="0">
                <a:latin typeface="メイリオ"/>
                <a:ea typeface="メイリオ"/>
                <a:cs typeface="メイリオ"/>
                <a:sym typeface="Meiryo"/>
              </a:rPr>
              <a:t>LINE</a:t>
            </a:r>
            <a:r>
              <a:rPr lang="ja-JP" altLang="en-US" sz="1600" dirty="0">
                <a:latin typeface="メイリオ"/>
                <a:ea typeface="メイリオ"/>
                <a:cs typeface="メイリオ"/>
                <a:sym typeface="Meiryo"/>
              </a:rPr>
              <a:t>誘導の動線を提示。</a:t>
            </a:r>
          </a:p>
        </p:txBody>
      </p:sp>
      <p:sp>
        <p:nvSpPr>
          <p:cNvPr id="9" name="テキスト ボックス 8">
            <a:extLst>
              <a:ext uri="{FF2B5EF4-FFF2-40B4-BE49-F238E27FC236}">
                <a16:creationId xmlns:a16="http://schemas.microsoft.com/office/drawing/2014/main" id="{FC59C8DC-A3F5-6C82-BBB6-1DCA2E2FCA1E}"/>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1F2A5C"/>
                </a:solidFill>
                <a:latin typeface="メイリオ"/>
                <a:ea typeface="メイリオ"/>
                <a:cs typeface="メイリオ"/>
                <a:sym typeface="Meiryo"/>
              </a:rPr>
              <a:t>LINE</a:t>
            </a:r>
            <a:r>
              <a:rPr lang="ja-JP" altLang="en-US" sz="1050" dirty="0">
                <a:solidFill>
                  <a:srgbClr val="1F2A5C"/>
                </a:solidFill>
                <a:latin typeface="メイリオ"/>
                <a:ea typeface="メイリオ"/>
                <a:cs typeface="メイリオ"/>
                <a:sym typeface="Meiryo"/>
              </a:rPr>
              <a:t>以外の注力動線への誘導も同バナーから実施が可能です。</a:t>
            </a:r>
            <a:endParaRPr lang="ja-JP" altLang="en-US" sz="1050" dirty="0">
              <a:solidFill>
                <a:srgbClr val="1F2A5C"/>
              </a:solidFill>
              <a:latin typeface="メイリオ"/>
              <a:ea typeface="メイリオ"/>
              <a:cs typeface="メイリオ"/>
            </a:endParaRPr>
          </a:p>
        </p:txBody>
      </p:sp>
      <p:sp>
        <p:nvSpPr>
          <p:cNvPr id="15" name="Google Shape;51;p19">
            <a:extLst>
              <a:ext uri="{FF2B5EF4-FFF2-40B4-BE49-F238E27FC236}">
                <a16:creationId xmlns:a16="http://schemas.microsoft.com/office/drawing/2014/main" id="{ECC096EC-7A42-299D-ADFB-A11583AA36AB}"/>
              </a:ext>
            </a:extLst>
          </p:cNvPr>
          <p:cNvSpPr/>
          <p:nvPr/>
        </p:nvSpPr>
        <p:spPr>
          <a:xfrm>
            <a:off x="543399"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1.5</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17" name="Google Shape;51;p19">
            <a:extLst>
              <a:ext uri="{FF2B5EF4-FFF2-40B4-BE49-F238E27FC236}">
                <a16:creationId xmlns:a16="http://schemas.microsoft.com/office/drawing/2014/main" id="{C52155A1-F32D-8503-456F-3138842AD308}"/>
              </a:ext>
            </a:extLst>
          </p:cNvPr>
          <p:cNvSpPr/>
          <p:nvPr/>
        </p:nvSpPr>
        <p:spPr>
          <a:xfrm>
            <a:off x="2137897"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3</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pic>
        <p:nvPicPr>
          <p:cNvPr id="10" name="図 9">
            <a:extLst>
              <a:ext uri="{FF2B5EF4-FFF2-40B4-BE49-F238E27FC236}">
                <a16:creationId xmlns:a16="http://schemas.microsoft.com/office/drawing/2014/main" id="{3B15DB85-15F3-FF15-AB96-FDFE17717CDB}"/>
              </a:ext>
            </a:extLst>
          </p:cNvPr>
          <p:cNvPicPr>
            <a:picLocks noChangeAspect="1"/>
          </p:cNvPicPr>
          <p:nvPr/>
        </p:nvPicPr>
        <p:blipFill>
          <a:blip r:embed="rId2"/>
          <a:stretch>
            <a:fillRect/>
          </a:stretch>
        </p:blipFill>
        <p:spPr>
          <a:xfrm>
            <a:off x="1172081" y="1882008"/>
            <a:ext cx="7561838" cy="4661631"/>
          </a:xfrm>
          <a:prstGeom prst="rect">
            <a:avLst/>
          </a:prstGeom>
        </p:spPr>
      </p:pic>
    </p:spTree>
    <p:extLst>
      <p:ext uri="{BB962C8B-B14F-4D97-AF65-F5344CB8AC3E}">
        <p14:creationId xmlns:p14="http://schemas.microsoft.com/office/powerpoint/2010/main" val="42713348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75156-99A2-3647-6F9D-3BD80C596EF5}"/>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B249BA1-EB38-DDA6-8221-FC109239C49F}"/>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（ポップアップ </a:t>
            </a:r>
            <a:r>
              <a:rPr lang="en-US" altLang="ja-JP" sz="1600" b="1" dirty="0">
                <a:solidFill>
                  <a:srgbClr val="323366"/>
                </a:solidFill>
                <a:latin typeface="メイリオ" panose="020B0604030504040204" pitchFamily="50" charset="-128"/>
                <a:ea typeface="メイリオ" panose="020B0604030504040204" pitchFamily="50" charset="-128"/>
                <a:cs typeface="メイリオ"/>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離脱防止）</a:t>
            </a:r>
          </a:p>
        </p:txBody>
      </p:sp>
      <p:sp>
        <p:nvSpPr>
          <p:cNvPr id="8" name="正方形/長方形 7">
            <a:extLst>
              <a:ext uri="{FF2B5EF4-FFF2-40B4-BE49-F238E27FC236}">
                <a16:creationId xmlns:a16="http://schemas.microsoft.com/office/drawing/2014/main" id="{EB668975-CA29-64DD-88DF-17EAAC94AE3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サイト上の特定アクションを起こしたユーザーに対して</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ポップアップの形で</a:t>
            </a:r>
            <a:r>
              <a:rPr lang="en-US" altLang="ja-JP" sz="1600" dirty="0">
                <a:latin typeface="メイリオ"/>
                <a:ea typeface="メイリオ"/>
                <a:cs typeface="メイリオ"/>
                <a:sym typeface="Meiryo"/>
              </a:rPr>
              <a:t>LINE</a:t>
            </a:r>
            <a:r>
              <a:rPr lang="ja-JP" altLang="en-US" sz="1600" dirty="0">
                <a:latin typeface="メイリオ"/>
                <a:ea typeface="メイリオ"/>
                <a:cs typeface="メイリオ"/>
                <a:sym typeface="Meiryo"/>
              </a:rPr>
              <a:t>誘導の動線を提示。</a:t>
            </a:r>
          </a:p>
        </p:txBody>
      </p:sp>
      <p:sp>
        <p:nvSpPr>
          <p:cNvPr id="9" name="テキスト ボックス 8">
            <a:extLst>
              <a:ext uri="{FF2B5EF4-FFF2-40B4-BE49-F238E27FC236}">
                <a16:creationId xmlns:a16="http://schemas.microsoft.com/office/drawing/2014/main" id="{10FACA28-BE3D-80E4-091C-39F6141694C7}"/>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1F2A5C"/>
                </a:solidFill>
                <a:latin typeface="メイリオ"/>
                <a:ea typeface="メイリオ"/>
                <a:cs typeface="メイリオ"/>
                <a:sym typeface="Meiryo"/>
              </a:rPr>
              <a:t>LINE</a:t>
            </a:r>
            <a:r>
              <a:rPr lang="ja-JP" altLang="en-US" sz="1050" dirty="0">
                <a:solidFill>
                  <a:srgbClr val="1F2A5C"/>
                </a:solidFill>
                <a:latin typeface="メイリオ"/>
                <a:ea typeface="メイリオ"/>
                <a:cs typeface="メイリオ"/>
                <a:sym typeface="Meiryo"/>
              </a:rPr>
              <a:t>以外の注力動線への誘導も同バナーから実施が可能です。</a:t>
            </a:r>
            <a:endParaRPr lang="ja-JP" altLang="en-US" sz="1050" dirty="0">
              <a:solidFill>
                <a:srgbClr val="1F2A5C"/>
              </a:solidFill>
              <a:latin typeface="メイリオ"/>
              <a:ea typeface="メイリオ"/>
              <a:cs typeface="メイリオ"/>
            </a:endParaRPr>
          </a:p>
        </p:txBody>
      </p:sp>
      <p:sp>
        <p:nvSpPr>
          <p:cNvPr id="24" name="正方形/長方形 23">
            <a:extLst>
              <a:ext uri="{FF2B5EF4-FFF2-40B4-BE49-F238E27FC236}">
                <a16:creationId xmlns:a16="http://schemas.microsoft.com/office/drawing/2014/main" id="{E4AE5F6C-0BA5-6768-64B9-9CD156133552}"/>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cs typeface="メイリオ"/>
            </a:endParaRPr>
          </a:p>
        </p:txBody>
      </p:sp>
      <p:pic>
        <p:nvPicPr>
          <p:cNvPr id="7" name="図 6">
            <a:extLst>
              <a:ext uri="{FF2B5EF4-FFF2-40B4-BE49-F238E27FC236}">
                <a16:creationId xmlns:a16="http://schemas.microsoft.com/office/drawing/2014/main" id="{669C67AE-8870-AB99-9BB8-030F3AB8CB3B}"/>
              </a:ext>
            </a:extLst>
          </p:cNvPr>
          <p:cNvPicPr>
            <a:picLocks noChangeAspect="1"/>
          </p:cNvPicPr>
          <p:nvPr/>
        </p:nvPicPr>
        <p:blipFill>
          <a:blip r:embed="rId2"/>
          <a:stretch>
            <a:fillRect/>
          </a:stretch>
        </p:blipFill>
        <p:spPr>
          <a:xfrm>
            <a:off x="543398" y="4259719"/>
            <a:ext cx="5059180" cy="2191534"/>
          </a:xfrm>
          <a:prstGeom prst="rect">
            <a:avLst/>
          </a:prstGeom>
        </p:spPr>
      </p:pic>
      <p:pic>
        <p:nvPicPr>
          <p:cNvPr id="14" name="図 13">
            <a:extLst>
              <a:ext uri="{FF2B5EF4-FFF2-40B4-BE49-F238E27FC236}">
                <a16:creationId xmlns:a16="http://schemas.microsoft.com/office/drawing/2014/main" id="{CFFD213E-DE33-0075-6E07-F24DBD7A9441}"/>
              </a:ext>
            </a:extLst>
          </p:cNvPr>
          <p:cNvPicPr>
            <a:picLocks noChangeAspect="1"/>
          </p:cNvPicPr>
          <p:nvPr/>
        </p:nvPicPr>
        <p:blipFill>
          <a:blip r:embed="rId3"/>
          <a:stretch>
            <a:fillRect/>
          </a:stretch>
        </p:blipFill>
        <p:spPr>
          <a:xfrm>
            <a:off x="579513" y="1977951"/>
            <a:ext cx="5023065" cy="2231287"/>
          </a:xfrm>
          <a:prstGeom prst="rect">
            <a:avLst/>
          </a:prstGeom>
        </p:spPr>
      </p:pic>
      <p:grpSp>
        <p:nvGrpSpPr>
          <p:cNvPr id="2" name="グループ化 1">
            <a:extLst>
              <a:ext uri="{FF2B5EF4-FFF2-40B4-BE49-F238E27FC236}">
                <a16:creationId xmlns:a16="http://schemas.microsoft.com/office/drawing/2014/main" id="{B58110A5-3249-591F-F0D8-9733B5C19419}"/>
              </a:ext>
            </a:extLst>
          </p:cNvPr>
          <p:cNvGrpSpPr/>
          <p:nvPr/>
        </p:nvGrpSpPr>
        <p:grpSpPr>
          <a:xfrm>
            <a:off x="543398" y="777681"/>
            <a:ext cx="3105325" cy="485102"/>
            <a:chOff x="507969" y="928495"/>
            <a:chExt cx="3105325" cy="485102"/>
          </a:xfrm>
          <a:solidFill>
            <a:schemeClr val="tx2"/>
          </a:solidFill>
        </p:grpSpPr>
        <p:sp>
          <p:nvSpPr>
            <p:cNvPr id="10" name="Google Shape;51;p19">
              <a:extLst>
                <a:ext uri="{FF2B5EF4-FFF2-40B4-BE49-F238E27FC236}">
                  <a16:creationId xmlns:a16="http://schemas.microsoft.com/office/drawing/2014/main" id="{2624D4C3-8EE7-C79A-AD39-F7C125FED5C3}"/>
                </a:ext>
              </a:extLst>
            </p:cNvPr>
            <p:cNvSpPr/>
            <p:nvPr/>
          </p:nvSpPr>
          <p:spPr>
            <a:xfrm>
              <a:off x="507969" y="928495"/>
              <a:ext cx="3105325" cy="485102"/>
            </a:xfrm>
            <a:prstGeom prst="roundRect">
              <a:avLst>
                <a:gd name="adj" fmla="val 16667"/>
              </a:avLst>
            </a:prstGeom>
            <a:grp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16" name="テキスト ボックス 15">
              <a:extLst>
                <a:ext uri="{FF2B5EF4-FFF2-40B4-BE49-F238E27FC236}">
                  <a16:creationId xmlns:a16="http://schemas.microsoft.com/office/drawing/2014/main" id="{8134CCE0-9B09-BEAB-56F6-583858DE4FFA}"/>
                </a:ext>
              </a:extLst>
            </p:cNvPr>
            <p:cNvSpPr txBox="1"/>
            <p:nvPr/>
          </p:nvSpPr>
          <p:spPr>
            <a:xfrm>
              <a:off x="687498" y="938979"/>
              <a:ext cx="2746265" cy="357790"/>
            </a:xfrm>
            <a:prstGeom prst="rect">
              <a:avLst/>
            </a:prstGeom>
            <a:grp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ポップアップ</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離脱防止 など</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endParaRPr kumimoji="1" lang="ja-JP" altLang="en-US" sz="1500" b="1" dirty="0">
                <a:solidFill>
                  <a:schemeClr val="bg1"/>
                </a:solidFill>
                <a:latin typeface="メイリオ" panose="020B0604030504040204" pitchFamily="34" charset="-128"/>
                <a:ea typeface="メイリオ" panose="020B0604030504040204" pitchFamily="34" charset="-128"/>
                <a:cs typeface="メイリオ"/>
              </a:endParaRPr>
            </a:p>
          </p:txBody>
        </p:sp>
      </p:grpSp>
      <p:sp>
        <p:nvSpPr>
          <p:cNvPr id="18" name="Google Shape;51;p19">
            <a:extLst>
              <a:ext uri="{FF2B5EF4-FFF2-40B4-BE49-F238E27FC236}">
                <a16:creationId xmlns:a16="http://schemas.microsoft.com/office/drawing/2014/main" id="{ABAC4CA8-0C86-B839-6335-8FB2EF8DA230}"/>
              </a:ext>
            </a:extLst>
          </p:cNvPr>
          <p:cNvSpPr/>
          <p:nvPr/>
        </p:nvSpPr>
        <p:spPr>
          <a:xfrm>
            <a:off x="543399"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1.5</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20" name="Google Shape;51;p19">
            <a:extLst>
              <a:ext uri="{FF2B5EF4-FFF2-40B4-BE49-F238E27FC236}">
                <a16:creationId xmlns:a16="http://schemas.microsoft.com/office/drawing/2014/main" id="{54BADA25-EAD6-B857-B5DA-8E7366A2D4D6}"/>
              </a:ext>
            </a:extLst>
          </p:cNvPr>
          <p:cNvSpPr/>
          <p:nvPr/>
        </p:nvSpPr>
        <p:spPr>
          <a:xfrm>
            <a:off x="2137897"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3</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pic>
        <p:nvPicPr>
          <p:cNvPr id="26" name="図 25">
            <a:extLst>
              <a:ext uri="{FF2B5EF4-FFF2-40B4-BE49-F238E27FC236}">
                <a16:creationId xmlns:a16="http://schemas.microsoft.com/office/drawing/2014/main" id="{EDC5B771-42F2-76B0-A6E7-50BC96175819}"/>
              </a:ext>
            </a:extLst>
          </p:cNvPr>
          <p:cNvPicPr>
            <a:picLocks noChangeAspect="1"/>
          </p:cNvPicPr>
          <p:nvPr/>
        </p:nvPicPr>
        <p:blipFill>
          <a:blip r:embed="rId4"/>
          <a:stretch>
            <a:fillRect/>
          </a:stretch>
        </p:blipFill>
        <p:spPr>
          <a:xfrm>
            <a:off x="5743237" y="2258734"/>
            <a:ext cx="1190032" cy="2417060"/>
          </a:xfrm>
          <a:prstGeom prst="rect">
            <a:avLst/>
          </a:prstGeom>
        </p:spPr>
      </p:pic>
      <p:pic>
        <p:nvPicPr>
          <p:cNvPr id="46" name="図 45">
            <a:extLst>
              <a:ext uri="{FF2B5EF4-FFF2-40B4-BE49-F238E27FC236}">
                <a16:creationId xmlns:a16="http://schemas.microsoft.com/office/drawing/2014/main" id="{CDFFD994-B78C-9580-A303-CCE3C06EF4D0}"/>
              </a:ext>
            </a:extLst>
          </p:cNvPr>
          <p:cNvPicPr>
            <a:picLocks noChangeAspect="1"/>
          </p:cNvPicPr>
          <p:nvPr/>
        </p:nvPicPr>
        <p:blipFill>
          <a:blip r:embed="rId4"/>
          <a:stretch>
            <a:fillRect/>
          </a:stretch>
        </p:blipFill>
        <p:spPr>
          <a:xfrm>
            <a:off x="7682503" y="2258734"/>
            <a:ext cx="1190032" cy="2417060"/>
          </a:xfrm>
          <a:prstGeom prst="rect">
            <a:avLst/>
          </a:prstGeom>
        </p:spPr>
      </p:pic>
      <p:pic>
        <p:nvPicPr>
          <p:cNvPr id="48" name="図 47">
            <a:extLst>
              <a:ext uri="{FF2B5EF4-FFF2-40B4-BE49-F238E27FC236}">
                <a16:creationId xmlns:a16="http://schemas.microsoft.com/office/drawing/2014/main" id="{2F2D6E3E-D262-6FC3-26DE-F7F8A36D53EB}"/>
              </a:ext>
            </a:extLst>
          </p:cNvPr>
          <p:cNvPicPr>
            <a:picLocks noChangeAspect="1"/>
          </p:cNvPicPr>
          <p:nvPr/>
        </p:nvPicPr>
        <p:blipFill>
          <a:blip r:embed="rId4"/>
          <a:stretch>
            <a:fillRect/>
          </a:stretch>
        </p:blipFill>
        <p:spPr>
          <a:xfrm>
            <a:off x="8367522" y="4081984"/>
            <a:ext cx="1190032" cy="2417060"/>
          </a:xfrm>
          <a:prstGeom prst="rect">
            <a:avLst/>
          </a:prstGeom>
        </p:spPr>
      </p:pic>
      <p:sp>
        <p:nvSpPr>
          <p:cNvPr id="50" name="正方形/長方形 49">
            <a:extLst>
              <a:ext uri="{FF2B5EF4-FFF2-40B4-BE49-F238E27FC236}">
                <a16:creationId xmlns:a16="http://schemas.microsoft.com/office/drawing/2014/main" id="{C15238B5-4395-F723-0A79-2790FCF7C350}"/>
              </a:ext>
            </a:extLst>
          </p:cNvPr>
          <p:cNvSpPr/>
          <p:nvPr/>
        </p:nvSpPr>
        <p:spPr>
          <a:xfrm>
            <a:off x="8404597" y="4259719"/>
            <a:ext cx="1126830" cy="1847856"/>
          </a:xfrm>
          <a:prstGeom prst="rect">
            <a:avLst/>
          </a:prstGeom>
          <a:solidFill>
            <a:schemeClr val="tx1">
              <a:lumMod val="75000"/>
              <a:lumOff val="2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56" name="図 55">
            <a:extLst>
              <a:ext uri="{FF2B5EF4-FFF2-40B4-BE49-F238E27FC236}">
                <a16:creationId xmlns:a16="http://schemas.microsoft.com/office/drawing/2014/main" id="{EF814CDE-D628-AA7F-3C9D-D1DAF2358FE4}"/>
              </a:ext>
            </a:extLst>
          </p:cNvPr>
          <p:cNvPicPr>
            <a:picLocks noChangeAspect="1"/>
          </p:cNvPicPr>
          <p:nvPr/>
        </p:nvPicPr>
        <p:blipFill>
          <a:blip r:embed="rId4"/>
          <a:stretch>
            <a:fillRect/>
          </a:stretch>
        </p:blipFill>
        <p:spPr>
          <a:xfrm>
            <a:off x="6278620" y="4081984"/>
            <a:ext cx="1190032" cy="2417060"/>
          </a:xfrm>
          <a:prstGeom prst="rect">
            <a:avLst/>
          </a:prstGeom>
        </p:spPr>
      </p:pic>
      <p:sp>
        <p:nvSpPr>
          <p:cNvPr id="58" name="正方形/長方形 57">
            <a:extLst>
              <a:ext uri="{FF2B5EF4-FFF2-40B4-BE49-F238E27FC236}">
                <a16:creationId xmlns:a16="http://schemas.microsoft.com/office/drawing/2014/main" id="{8EAB183B-DD91-4D27-96EA-958B1E359EDF}"/>
              </a:ext>
            </a:extLst>
          </p:cNvPr>
          <p:cNvSpPr/>
          <p:nvPr/>
        </p:nvSpPr>
        <p:spPr>
          <a:xfrm>
            <a:off x="6315695" y="4259719"/>
            <a:ext cx="1126830" cy="1847856"/>
          </a:xfrm>
          <a:prstGeom prst="rect">
            <a:avLst/>
          </a:prstGeom>
          <a:solidFill>
            <a:schemeClr val="tx1">
              <a:lumMod val="75000"/>
              <a:lumOff val="2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66" name="図 65">
            <a:extLst>
              <a:ext uri="{FF2B5EF4-FFF2-40B4-BE49-F238E27FC236}">
                <a16:creationId xmlns:a16="http://schemas.microsoft.com/office/drawing/2014/main" id="{C2855CFF-6E8D-0B73-876F-08A7CAF4119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364783" y="4682317"/>
            <a:ext cx="999311" cy="999311"/>
          </a:xfrm>
          <a:prstGeom prst="rect">
            <a:avLst/>
          </a:prstGeom>
        </p:spPr>
      </p:pic>
      <p:sp>
        <p:nvSpPr>
          <p:cNvPr id="68" name="テキスト ボックス 67">
            <a:extLst>
              <a:ext uri="{FF2B5EF4-FFF2-40B4-BE49-F238E27FC236}">
                <a16:creationId xmlns:a16="http://schemas.microsoft.com/office/drawing/2014/main" id="{A25E8A43-2530-9596-D092-B486168F2683}"/>
              </a:ext>
            </a:extLst>
          </p:cNvPr>
          <p:cNvSpPr txBox="1"/>
          <p:nvPr/>
        </p:nvSpPr>
        <p:spPr>
          <a:xfrm>
            <a:off x="6161730" y="5659308"/>
            <a:ext cx="1437861" cy="400110"/>
          </a:xfrm>
          <a:prstGeom prst="rect">
            <a:avLst/>
          </a:prstGeom>
          <a:noFill/>
        </p:spPr>
        <p:txBody>
          <a:bodyPr wrap="square">
            <a:spAutoFit/>
          </a:bodyPr>
          <a:lstStyle/>
          <a:p>
            <a:pPr algn="ctr"/>
            <a:r>
              <a:rPr lang="ja-JP" altLang="en-US" sz="1000" b="1" dirty="0">
                <a:solidFill>
                  <a:schemeClr val="bg1"/>
                </a:solidFill>
                <a:latin typeface="メイリオ"/>
                <a:ea typeface="メイリオ"/>
                <a:cs typeface="メイリオ"/>
                <a:sym typeface="Meiryo"/>
              </a:rPr>
              <a:t>↓</a:t>
            </a:r>
            <a:endParaRPr lang="en-US" altLang="ja-JP" sz="1000" b="1" dirty="0">
              <a:solidFill>
                <a:schemeClr val="bg1"/>
              </a:solidFill>
              <a:latin typeface="メイリオ"/>
              <a:ea typeface="メイリオ"/>
              <a:cs typeface="メイリオ"/>
              <a:sym typeface="Meiryo"/>
            </a:endParaRPr>
          </a:p>
          <a:p>
            <a:pPr algn="ctr"/>
            <a:r>
              <a:rPr lang="ja-JP" altLang="en-US" sz="1000" b="1" dirty="0">
                <a:solidFill>
                  <a:schemeClr val="bg1"/>
                </a:solidFill>
                <a:latin typeface="メイリオ"/>
                <a:ea typeface="メイリオ"/>
                <a:cs typeface="メイリオ"/>
                <a:sym typeface="Meiryo"/>
              </a:rPr>
              <a:t>簡易</a:t>
            </a:r>
            <a:r>
              <a:rPr lang="en-US" altLang="ja-JP" sz="1000" b="1" dirty="0">
                <a:solidFill>
                  <a:schemeClr val="bg1"/>
                </a:solidFill>
                <a:latin typeface="メイリオ"/>
                <a:ea typeface="メイリオ"/>
                <a:cs typeface="メイリオ"/>
                <a:sym typeface="Meiryo"/>
              </a:rPr>
              <a:t>SIM</a:t>
            </a:r>
            <a:r>
              <a:rPr lang="ja-JP" altLang="en-US" sz="1000" b="1" dirty="0">
                <a:solidFill>
                  <a:schemeClr val="bg1"/>
                </a:solidFill>
                <a:latin typeface="メイリオ"/>
                <a:ea typeface="メイリオ"/>
                <a:cs typeface="メイリオ"/>
                <a:sym typeface="Meiryo"/>
              </a:rPr>
              <a:t>へ</a:t>
            </a:r>
            <a:endParaRPr lang="ja-JP" altLang="en-US" sz="1050" b="1" dirty="0">
              <a:solidFill>
                <a:schemeClr val="bg1"/>
              </a:solidFill>
              <a:latin typeface="メイリオ"/>
              <a:ea typeface="メイリオ"/>
              <a:cs typeface="メイリオ"/>
            </a:endParaRPr>
          </a:p>
        </p:txBody>
      </p:sp>
      <p:sp>
        <p:nvSpPr>
          <p:cNvPr id="70" name="テキスト ボックス 69">
            <a:extLst>
              <a:ext uri="{FF2B5EF4-FFF2-40B4-BE49-F238E27FC236}">
                <a16:creationId xmlns:a16="http://schemas.microsoft.com/office/drawing/2014/main" id="{0728AAC8-ACED-DE14-79C2-5D2E1E568CE7}"/>
              </a:ext>
            </a:extLst>
          </p:cNvPr>
          <p:cNvSpPr txBox="1"/>
          <p:nvPr/>
        </p:nvSpPr>
        <p:spPr>
          <a:xfrm>
            <a:off x="8248538" y="5659308"/>
            <a:ext cx="1437861" cy="400110"/>
          </a:xfrm>
          <a:prstGeom prst="rect">
            <a:avLst/>
          </a:prstGeom>
          <a:noFill/>
        </p:spPr>
        <p:txBody>
          <a:bodyPr wrap="square">
            <a:spAutoFit/>
          </a:bodyPr>
          <a:lstStyle/>
          <a:p>
            <a:pPr algn="ctr"/>
            <a:r>
              <a:rPr lang="ja-JP" altLang="en-US" sz="1000" b="1" dirty="0">
                <a:solidFill>
                  <a:schemeClr val="bg1"/>
                </a:solidFill>
                <a:latin typeface="メイリオ"/>
                <a:ea typeface="メイリオ"/>
                <a:cs typeface="メイリオ"/>
                <a:sym typeface="Meiryo"/>
              </a:rPr>
              <a:t>↓</a:t>
            </a:r>
            <a:endParaRPr lang="en-US" altLang="ja-JP" sz="1000" b="1" dirty="0">
              <a:solidFill>
                <a:schemeClr val="bg1"/>
              </a:solidFill>
              <a:latin typeface="メイリオ"/>
              <a:ea typeface="メイリオ"/>
              <a:cs typeface="メイリオ"/>
              <a:sym typeface="Meiryo"/>
            </a:endParaRPr>
          </a:p>
          <a:p>
            <a:pPr algn="ctr"/>
            <a:r>
              <a:rPr lang="en-US" altLang="ja-JP" sz="1000" b="1" dirty="0">
                <a:solidFill>
                  <a:schemeClr val="bg1"/>
                </a:solidFill>
                <a:latin typeface="メイリオ"/>
                <a:ea typeface="メイリオ"/>
                <a:cs typeface="メイリオ"/>
                <a:sym typeface="Meiryo"/>
              </a:rPr>
              <a:t>LINE</a:t>
            </a:r>
            <a:r>
              <a:rPr lang="ja-JP" altLang="en-US" sz="1000" b="1" dirty="0">
                <a:solidFill>
                  <a:schemeClr val="bg1"/>
                </a:solidFill>
                <a:latin typeface="メイリオ"/>
                <a:ea typeface="メイリオ"/>
                <a:cs typeface="メイリオ"/>
                <a:sym typeface="Meiryo"/>
              </a:rPr>
              <a:t>追加へ</a:t>
            </a:r>
            <a:endParaRPr lang="ja-JP" altLang="en-US" sz="1050" b="1" dirty="0">
              <a:solidFill>
                <a:schemeClr val="bg1"/>
              </a:solidFill>
              <a:latin typeface="メイリオ"/>
              <a:ea typeface="メイリオ"/>
              <a:cs typeface="メイリオ"/>
            </a:endParaRPr>
          </a:p>
        </p:txBody>
      </p:sp>
      <p:pic>
        <p:nvPicPr>
          <p:cNvPr id="74" name="図 73">
            <a:extLst>
              <a:ext uri="{FF2B5EF4-FFF2-40B4-BE49-F238E27FC236}">
                <a16:creationId xmlns:a16="http://schemas.microsoft.com/office/drawing/2014/main" id="{4C49234A-BFF2-AECE-086F-27D9165ADB4C}"/>
              </a:ext>
            </a:extLst>
          </p:cNvPr>
          <p:cNvPicPr>
            <a:picLocks noChangeAspect="1"/>
          </p:cNvPicPr>
          <p:nvPr/>
        </p:nvPicPr>
        <p:blipFill>
          <a:blip r:embed="rId6"/>
          <a:stretch>
            <a:fillRect/>
          </a:stretch>
        </p:blipFill>
        <p:spPr>
          <a:xfrm>
            <a:off x="8471302" y="4682317"/>
            <a:ext cx="976991" cy="976991"/>
          </a:xfrm>
          <a:prstGeom prst="rect">
            <a:avLst/>
          </a:prstGeom>
        </p:spPr>
      </p:pic>
    </p:spTree>
    <p:extLst>
      <p:ext uri="{BB962C8B-B14F-4D97-AF65-F5344CB8AC3E}">
        <p14:creationId xmlns:p14="http://schemas.microsoft.com/office/powerpoint/2010/main" val="10589334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2506C2-B2E5-BEA0-384E-7336F080BD96}"/>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A80CD04-9456-70DB-2E44-D3EDB146193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（サンクス</a:t>
            </a:r>
            <a:r>
              <a:rPr lang="en-US" altLang="ja-JP" sz="1600" b="1" dirty="0">
                <a:solidFill>
                  <a:srgbClr val="323366"/>
                </a:solidFill>
                <a:latin typeface="メイリオ" panose="020B0604030504040204" pitchFamily="50" charset="-128"/>
                <a:ea typeface="メイリオ" panose="020B0604030504040204" pitchFamily="50" charset="-128"/>
                <a:cs typeface="メイリオ"/>
                <a:sym typeface="Meiryo"/>
              </a:rPr>
              <a:t>LINE</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誘導）</a:t>
            </a:r>
          </a:p>
        </p:txBody>
      </p:sp>
      <p:sp>
        <p:nvSpPr>
          <p:cNvPr id="11" name="正方形/長方形 10">
            <a:extLst>
              <a:ext uri="{FF2B5EF4-FFF2-40B4-BE49-F238E27FC236}">
                <a16:creationId xmlns:a16="http://schemas.microsoft.com/office/drawing/2014/main" id="{189A6A4C-E34E-E7CF-D6DD-C175E600A94D}"/>
              </a:ext>
            </a:extLst>
          </p:cNvPr>
          <p:cNvSpPr/>
          <p:nvPr/>
        </p:nvSpPr>
        <p:spPr>
          <a:xfrm>
            <a:off x="1404798" y="1938056"/>
            <a:ext cx="1859036"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WEB</a:t>
            </a: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サイト</a:t>
            </a:r>
          </a:p>
        </p:txBody>
      </p:sp>
      <p:sp>
        <p:nvSpPr>
          <p:cNvPr id="16" name="正方形/長方形 15">
            <a:extLst>
              <a:ext uri="{FF2B5EF4-FFF2-40B4-BE49-F238E27FC236}">
                <a16:creationId xmlns:a16="http://schemas.microsoft.com/office/drawing/2014/main" id="{32BBF438-B1EF-A61A-EE3D-69CD39766C7E}"/>
              </a:ext>
            </a:extLst>
          </p:cNvPr>
          <p:cNvSpPr/>
          <p:nvPr/>
        </p:nvSpPr>
        <p:spPr>
          <a:xfrm>
            <a:off x="5808682" y="2415743"/>
            <a:ext cx="3748873"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7" name="正方形/長方形 16">
            <a:extLst>
              <a:ext uri="{FF2B5EF4-FFF2-40B4-BE49-F238E27FC236}">
                <a16:creationId xmlns:a16="http://schemas.microsoft.com/office/drawing/2014/main" id="{1A1E4128-77DC-C871-EE20-5BD43326E078}"/>
              </a:ext>
            </a:extLst>
          </p:cNvPr>
          <p:cNvSpPr/>
          <p:nvPr/>
        </p:nvSpPr>
        <p:spPr>
          <a:xfrm>
            <a:off x="5808681" y="4588963"/>
            <a:ext cx="3748873"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0" name="正方形/長方形 19">
            <a:extLst>
              <a:ext uri="{FF2B5EF4-FFF2-40B4-BE49-F238E27FC236}">
                <a16:creationId xmlns:a16="http://schemas.microsoft.com/office/drawing/2014/main" id="{F37BB268-660A-FEE4-BB39-0E338F1DDC23}"/>
              </a:ext>
            </a:extLst>
          </p:cNvPr>
          <p:cNvSpPr/>
          <p:nvPr/>
        </p:nvSpPr>
        <p:spPr>
          <a:xfrm>
            <a:off x="5974632" y="2304788"/>
            <a:ext cx="1859036"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tx1"/>
                </a:solidFill>
                <a:latin typeface="メイリオ" panose="020B0604030504040204" pitchFamily="50" charset="-128"/>
                <a:ea typeface="メイリオ" panose="020B0604030504040204" pitchFamily="50" charset="-128"/>
                <a:cs typeface="メイリオ"/>
              </a:rPr>
              <a:t>非</a:t>
            </a:r>
            <a:r>
              <a:rPr lang="en-US" altLang="ja-JP" sz="110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1100" b="1" dirty="0">
                <a:solidFill>
                  <a:schemeClr val="tx1"/>
                </a:solidFill>
                <a:latin typeface="メイリオ" panose="020B0604030504040204" pitchFamily="50" charset="-128"/>
                <a:ea typeface="メイリオ" panose="020B0604030504040204" pitchFamily="50" charset="-128"/>
                <a:cs typeface="メイリオ"/>
              </a:rPr>
              <a:t>友だちの場合</a:t>
            </a:r>
          </a:p>
        </p:txBody>
      </p:sp>
      <p:sp>
        <p:nvSpPr>
          <p:cNvPr id="21" name="正方形/長方形 20">
            <a:extLst>
              <a:ext uri="{FF2B5EF4-FFF2-40B4-BE49-F238E27FC236}">
                <a16:creationId xmlns:a16="http://schemas.microsoft.com/office/drawing/2014/main" id="{C9FF4626-FD17-CA1C-8064-F46606D0BCCE}"/>
              </a:ext>
            </a:extLst>
          </p:cNvPr>
          <p:cNvSpPr/>
          <p:nvPr/>
        </p:nvSpPr>
        <p:spPr>
          <a:xfrm>
            <a:off x="5974632" y="4466888"/>
            <a:ext cx="1859036"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tx1"/>
                </a:solidFill>
                <a:latin typeface="メイリオ" panose="020B0604030504040204" pitchFamily="50" charset="-128"/>
                <a:ea typeface="メイリオ" panose="020B0604030504040204" pitchFamily="50" charset="-128"/>
                <a:cs typeface="メイリオ"/>
              </a:rPr>
              <a:t>既存の</a:t>
            </a:r>
            <a:r>
              <a:rPr lang="en-US" altLang="ja-JP" sz="110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1100" b="1" dirty="0">
                <a:solidFill>
                  <a:schemeClr val="tx1"/>
                </a:solidFill>
                <a:latin typeface="メイリオ" panose="020B0604030504040204" pitchFamily="50" charset="-128"/>
                <a:ea typeface="メイリオ" panose="020B0604030504040204" pitchFamily="50" charset="-128"/>
                <a:cs typeface="メイリオ"/>
              </a:rPr>
              <a:t>友だちの場合</a:t>
            </a:r>
          </a:p>
        </p:txBody>
      </p:sp>
      <p:cxnSp>
        <p:nvCxnSpPr>
          <p:cNvPr id="23" name="直線矢印コネクタ 22">
            <a:extLst>
              <a:ext uri="{FF2B5EF4-FFF2-40B4-BE49-F238E27FC236}">
                <a16:creationId xmlns:a16="http://schemas.microsoft.com/office/drawing/2014/main" id="{8F202453-7FF9-8AE7-D10D-66F74A74A2F4}"/>
              </a:ext>
            </a:extLst>
          </p:cNvPr>
          <p:cNvCxnSpPr/>
          <p:nvPr/>
        </p:nvCxnSpPr>
        <p:spPr>
          <a:xfrm>
            <a:off x="4361857" y="3239708"/>
            <a:ext cx="1407469" cy="0"/>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C92F6E28-BBFF-1A56-AC22-CA16D2F1B1EA}"/>
              </a:ext>
            </a:extLst>
          </p:cNvPr>
          <p:cNvCxnSpPr>
            <a:cxnSpLocks/>
          </p:cNvCxnSpPr>
          <p:nvPr/>
        </p:nvCxnSpPr>
        <p:spPr>
          <a:xfrm>
            <a:off x="4361857" y="3392108"/>
            <a:ext cx="1407469" cy="1358385"/>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9" name="正方形/長方形 28">
            <a:extLst>
              <a:ext uri="{FF2B5EF4-FFF2-40B4-BE49-F238E27FC236}">
                <a16:creationId xmlns:a16="http://schemas.microsoft.com/office/drawing/2014/main" id="{1D29A9C3-A3E8-0780-A758-0C8E7E376668}"/>
              </a:ext>
            </a:extLst>
          </p:cNvPr>
          <p:cNvSpPr/>
          <p:nvPr/>
        </p:nvSpPr>
        <p:spPr>
          <a:xfrm>
            <a:off x="4867227" y="2304788"/>
            <a:ext cx="374449" cy="3205847"/>
          </a:xfrm>
          <a:prstGeom prst="rect">
            <a:avLst/>
          </a:prstGeom>
          <a:solidFill>
            <a:srgbClr val="00FF00">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tx1"/>
                </a:solidFill>
                <a:latin typeface="メイリオ" panose="020B0604030504040204" pitchFamily="50" charset="-128"/>
                <a:ea typeface="メイリオ" panose="020B0604030504040204" pitchFamily="50" charset="-128"/>
                <a:cs typeface="メイリオ"/>
              </a:rPr>
              <a:t>｜</a:t>
            </a:r>
            <a:r>
              <a:rPr lang="en-US" altLang="ja-JP" sz="1100" b="1" dirty="0">
                <a:solidFill>
                  <a:schemeClr val="tx1"/>
                </a:solidFill>
                <a:latin typeface="メイリオ" panose="020B0604030504040204" pitchFamily="50" charset="-128"/>
                <a:ea typeface="メイリオ" panose="020B0604030504040204" pitchFamily="50" charset="-128"/>
                <a:cs typeface="メイリオ"/>
              </a:rPr>
              <a:t>D</a:t>
            </a:r>
          </a:p>
          <a:p>
            <a:pPr algn="ctr"/>
            <a:r>
              <a:rPr kumimoji="1" lang="en-US" altLang="ja-JP" sz="1100" b="1" dirty="0">
                <a:solidFill>
                  <a:schemeClr val="tx1"/>
                </a:solidFill>
                <a:latin typeface="メイリオ" panose="020B0604030504040204" pitchFamily="50" charset="-128"/>
                <a:ea typeface="メイリオ" panose="020B0604030504040204" pitchFamily="50" charset="-128"/>
                <a:cs typeface="メイリオ"/>
              </a:rPr>
              <a:t>Y</a:t>
            </a:r>
          </a:p>
          <a:p>
            <a:pPr algn="ctr"/>
            <a:r>
              <a:rPr lang="en-US" altLang="ja-JP" sz="1100" b="1" dirty="0">
                <a:solidFill>
                  <a:schemeClr val="tx1"/>
                </a:solidFill>
                <a:latin typeface="メイリオ" panose="020B0604030504040204" pitchFamily="50" charset="-128"/>
                <a:ea typeface="メイリオ" panose="020B0604030504040204" pitchFamily="50" charset="-128"/>
                <a:cs typeface="メイリオ"/>
              </a:rPr>
              <a:t>M</a:t>
            </a:r>
            <a:r>
              <a:rPr lang="ja-JP" altLang="en-US" sz="1100" b="1" dirty="0">
                <a:solidFill>
                  <a:schemeClr val="tx1"/>
                </a:solidFill>
                <a:latin typeface="メイリオ" panose="020B0604030504040204" pitchFamily="50" charset="-128"/>
                <a:ea typeface="メイリオ" panose="020B0604030504040204" pitchFamily="50" charset="-128"/>
                <a:cs typeface="メイリオ"/>
              </a:rPr>
              <a:t>ツ</a:t>
            </a:r>
            <a:endParaRPr lang="en-US" altLang="ja-JP" sz="11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100" b="1" dirty="0">
                <a:solidFill>
                  <a:schemeClr val="tx1"/>
                </a:solidFill>
                <a:latin typeface="メイリオ" panose="020B0604030504040204" pitchFamily="50" charset="-128"/>
                <a:ea typeface="メイリオ" panose="020B0604030504040204" pitchFamily="50" charset="-128"/>
                <a:cs typeface="メイリオ"/>
              </a:rPr>
              <a:t>｜ルで</a:t>
            </a:r>
            <a:endParaRPr kumimoji="1" lang="en-US" altLang="ja-JP" sz="11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en-US" altLang="ja-JP" sz="1100" b="1" dirty="0">
                <a:solidFill>
                  <a:schemeClr val="tx1"/>
                </a:solidFill>
                <a:latin typeface="メイリオ" panose="020B0604030504040204" pitchFamily="50" charset="-128"/>
                <a:ea typeface="メイリオ" panose="020B0604030504040204" pitchFamily="50" charset="-128"/>
                <a:cs typeface="メイリオ"/>
              </a:rPr>
              <a:t>L</a:t>
            </a:r>
            <a:br>
              <a:rPr kumimoji="1" lang="en-US" altLang="ja-JP" sz="1100" b="1" dirty="0">
                <a:solidFill>
                  <a:schemeClr val="tx1"/>
                </a:solidFill>
                <a:latin typeface="メイリオ" panose="020B0604030504040204" pitchFamily="50" charset="-128"/>
                <a:ea typeface="メイリオ" panose="020B0604030504040204" pitchFamily="50" charset="-128"/>
                <a:cs typeface="メイリオ"/>
              </a:rPr>
            </a:br>
            <a:r>
              <a:rPr kumimoji="1" lang="en-US" altLang="ja-JP" sz="1100" b="1" dirty="0">
                <a:solidFill>
                  <a:schemeClr val="tx1"/>
                </a:solidFill>
                <a:latin typeface="メイリオ" panose="020B0604030504040204" pitchFamily="50" charset="-128"/>
                <a:ea typeface="メイリオ" panose="020B0604030504040204" pitchFamily="50" charset="-128"/>
                <a:cs typeface="メイリオ"/>
              </a:rPr>
              <a:t>I</a:t>
            </a:r>
          </a:p>
          <a:p>
            <a:pPr algn="ctr"/>
            <a:r>
              <a:rPr lang="en-US" altLang="ja-JP" sz="1100" b="1" dirty="0">
                <a:solidFill>
                  <a:schemeClr val="tx1"/>
                </a:solidFill>
                <a:latin typeface="メイリオ" panose="020B0604030504040204" pitchFamily="50" charset="-128"/>
                <a:ea typeface="メイリオ" panose="020B0604030504040204" pitchFamily="50" charset="-128"/>
                <a:cs typeface="メイリオ"/>
              </a:rPr>
              <a:t>N</a:t>
            </a:r>
            <a:br>
              <a:rPr lang="en-US" altLang="ja-JP" sz="1100" b="1" dirty="0">
                <a:solidFill>
                  <a:schemeClr val="tx1"/>
                </a:solidFill>
                <a:latin typeface="メイリオ" panose="020B0604030504040204" pitchFamily="50" charset="-128"/>
                <a:ea typeface="メイリオ" panose="020B0604030504040204" pitchFamily="50" charset="-128"/>
                <a:cs typeface="メイリオ"/>
              </a:rPr>
            </a:br>
            <a:r>
              <a:rPr lang="en-US" altLang="ja-JP" sz="1100" b="1" dirty="0">
                <a:solidFill>
                  <a:schemeClr val="tx1"/>
                </a:solidFill>
                <a:latin typeface="メイリオ" panose="020B0604030504040204" pitchFamily="50" charset="-128"/>
                <a:ea typeface="メイリオ" panose="020B0604030504040204" pitchFamily="50" charset="-128"/>
                <a:cs typeface="メイリオ"/>
              </a:rPr>
              <a:t>E</a:t>
            </a:r>
          </a:p>
          <a:p>
            <a:pPr algn="ctr"/>
            <a:r>
              <a:rPr kumimoji="1" lang="ja-JP" altLang="en-US" sz="1100" b="1" dirty="0">
                <a:solidFill>
                  <a:schemeClr val="tx1"/>
                </a:solidFill>
                <a:latin typeface="メイリオ" panose="020B0604030504040204" pitchFamily="50" charset="-128"/>
                <a:ea typeface="メイリオ" panose="020B0604030504040204" pitchFamily="50" charset="-128"/>
                <a:cs typeface="メイリオ"/>
              </a:rPr>
              <a:t>動線</a:t>
            </a:r>
            <a:endParaRPr kumimoji="1" lang="en-US" altLang="ja-JP" sz="1100" b="1"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1100" b="1" dirty="0">
                <a:solidFill>
                  <a:schemeClr val="tx1"/>
                </a:solidFill>
                <a:latin typeface="メイリオ" panose="020B0604030504040204" pitchFamily="50" charset="-128"/>
                <a:ea typeface="メイリオ" panose="020B0604030504040204" pitchFamily="50" charset="-128"/>
                <a:cs typeface="メイリオ"/>
              </a:rPr>
              <a:t>に</a:t>
            </a:r>
            <a:endParaRPr kumimoji="1" lang="en-US" altLang="ja-JP" sz="11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100" b="1" dirty="0">
                <a:solidFill>
                  <a:schemeClr val="tx1"/>
                </a:solidFill>
                <a:latin typeface="メイリオ" panose="020B0604030504040204" pitchFamily="50" charset="-128"/>
                <a:ea typeface="メイリオ" panose="020B0604030504040204" pitchFamily="50" charset="-128"/>
                <a:cs typeface="メイリオ"/>
              </a:rPr>
              <a:t>｜</a:t>
            </a:r>
          </a:p>
        </p:txBody>
      </p:sp>
      <p:pic>
        <p:nvPicPr>
          <p:cNvPr id="45" name="図 44" descr="グラフィカル ユーザー インターフェイス, アプリケーション, Teams&#10;&#10;AI 生成コンテンツは誤りを含む可能性があります。">
            <a:extLst>
              <a:ext uri="{FF2B5EF4-FFF2-40B4-BE49-F238E27FC236}">
                <a16:creationId xmlns:a16="http://schemas.microsoft.com/office/drawing/2014/main" id="{E91CA7A5-62B3-F1F8-38C3-DDCE33E1CC3D}"/>
              </a:ext>
            </a:extLst>
          </p:cNvPr>
          <p:cNvPicPr>
            <a:picLocks noChangeAspect="1"/>
          </p:cNvPicPr>
          <p:nvPr/>
        </p:nvPicPr>
        <p:blipFill>
          <a:blip r:embed="rId2" cstate="print">
            <a:extLst>
              <a:ext uri="{28A0092B-C50C-407E-A947-70E740481C1C}">
                <a14:useLocalDpi xmlns:a14="http://schemas.microsoft.com/office/drawing/2010/main" val="0"/>
              </a:ext>
            </a:extLst>
          </a:blip>
          <a:srcRect t="4580"/>
          <a:stretch>
            <a:fillRect/>
          </a:stretch>
        </p:blipFill>
        <p:spPr>
          <a:xfrm>
            <a:off x="7999618" y="2128994"/>
            <a:ext cx="1231081" cy="2085097"/>
          </a:xfrm>
          <a:prstGeom prst="rect">
            <a:avLst/>
          </a:prstGeom>
        </p:spPr>
      </p:pic>
      <p:pic>
        <p:nvPicPr>
          <p:cNvPr id="46" name="図 45" descr="電卓の写真のスマートフォンのスクリーンショット&#10;&#10;AI 生成コンテンツは誤りを含む可能性があります。">
            <a:extLst>
              <a:ext uri="{FF2B5EF4-FFF2-40B4-BE49-F238E27FC236}">
                <a16:creationId xmlns:a16="http://schemas.microsoft.com/office/drawing/2014/main" id="{31EEAD2C-3BE8-0210-FD8E-46D52B30A0AE}"/>
              </a:ext>
            </a:extLst>
          </p:cNvPr>
          <p:cNvPicPr>
            <a:picLocks noChangeAspect="1"/>
          </p:cNvPicPr>
          <p:nvPr/>
        </p:nvPicPr>
        <p:blipFill>
          <a:blip r:embed="rId3" cstate="print">
            <a:extLst>
              <a:ext uri="{28A0092B-C50C-407E-A947-70E740481C1C}">
                <a14:useLocalDpi xmlns:a14="http://schemas.microsoft.com/office/drawing/2010/main" val="0"/>
              </a:ext>
            </a:extLst>
          </a:blip>
          <a:srcRect t="4580"/>
          <a:stretch>
            <a:fillRect/>
          </a:stretch>
        </p:blipFill>
        <p:spPr>
          <a:xfrm>
            <a:off x="7999618" y="4325046"/>
            <a:ext cx="1231081" cy="2085098"/>
          </a:xfrm>
          <a:prstGeom prst="rect">
            <a:avLst/>
          </a:prstGeom>
        </p:spPr>
      </p:pic>
      <p:sp>
        <p:nvSpPr>
          <p:cNvPr id="48" name="テキスト ボックス 47">
            <a:extLst>
              <a:ext uri="{FF2B5EF4-FFF2-40B4-BE49-F238E27FC236}">
                <a16:creationId xmlns:a16="http://schemas.microsoft.com/office/drawing/2014/main" id="{E989AEB3-EF0E-8885-B426-8B6A5E01F40A}"/>
              </a:ext>
            </a:extLst>
          </p:cNvPr>
          <p:cNvSpPr txBox="1"/>
          <p:nvPr/>
        </p:nvSpPr>
        <p:spPr>
          <a:xfrm>
            <a:off x="5974631" y="2701376"/>
            <a:ext cx="1859035" cy="430887"/>
          </a:xfrm>
          <a:prstGeom prst="rect">
            <a:avLst/>
          </a:prstGeom>
          <a:noFill/>
        </p:spPr>
        <p:txBody>
          <a:bodyPr wrap="square">
            <a:spAutoFit/>
          </a:bodyPr>
          <a:lstStyle/>
          <a:p>
            <a:r>
              <a:rPr kumimoji="1" lang="ja-JP" altLang="en-US" sz="1100" b="1" dirty="0">
                <a:latin typeface="メイリオ" panose="020B0604030504040204" pitchFamily="50" charset="-128"/>
                <a:ea typeface="メイリオ" panose="020B0604030504040204" pitchFamily="50" charset="-128"/>
                <a:cs typeface="メイリオ"/>
              </a:rPr>
              <a:t>公式アカウントの</a:t>
            </a:r>
            <a:r>
              <a:rPr lang="ja-JP" altLang="en-US" sz="1100" b="1" dirty="0">
                <a:latin typeface="メイリオ" panose="020B0604030504040204" pitchFamily="50" charset="-128"/>
                <a:ea typeface="メイリオ" panose="020B0604030504040204" pitchFamily="50" charset="-128"/>
                <a:cs typeface="メイリオ"/>
              </a:rPr>
              <a:t>友だち</a:t>
            </a:r>
            <a:endParaRPr lang="en-US" altLang="ja-JP" sz="1100" b="1" dirty="0">
              <a:latin typeface="メイリオ" panose="020B0604030504040204" pitchFamily="50" charset="-128"/>
              <a:ea typeface="メイリオ" panose="020B0604030504040204" pitchFamily="50" charset="-128"/>
              <a:cs typeface="メイリオ"/>
            </a:endParaRPr>
          </a:p>
          <a:p>
            <a:r>
              <a:rPr lang="ja-JP" altLang="en-US" sz="1100" b="1" dirty="0">
                <a:latin typeface="メイリオ" panose="020B0604030504040204" pitchFamily="50" charset="-128"/>
                <a:ea typeface="メイリオ" panose="020B0604030504040204" pitchFamily="50" charset="-128"/>
                <a:cs typeface="メイリオ"/>
              </a:rPr>
              <a:t>登録ページ</a:t>
            </a:r>
            <a:r>
              <a:rPr lang="ja-JP" altLang="en-US" sz="1100" dirty="0">
                <a:latin typeface="メイリオ" panose="020B0604030504040204" pitchFamily="50" charset="-128"/>
                <a:ea typeface="メイリオ" panose="020B0604030504040204" pitchFamily="50" charset="-128"/>
                <a:cs typeface="メイリオ"/>
              </a:rPr>
              <a:t>へ遷移する。</a:t>
            </a:r>
            <a:endParaRPr kumimoji="1" lang="ja-JP" altLang="en-US" sz="1100" dirty="0">
              <a:latin typeface="メイリオ" panose="020B0604030504040204" pitchFamily="50" charset="-128"/>
              <a:ea typeface="メイリオ" panose="020B0604030504040204" pitchFamily="50" charset="-128"/>
              <a:cs typeface="メイリオ"/>
            </a:endParaRPr>
          </a:p>
        </p:txBody>
      </p:sp>
      <p:sp>
        <p:nvSpPr>
          <p:cNvPr id="49" name="テキスト ボックス 48">
            <a:extLst>
              <a:ext uri="{FF2B5EF4-FFF2-40B4-BE49-F238E27FC236}">
                <a16:creationId xmlns:a16="http://schemas.microsoft.com/office/drawing/2014/main" id="{4E6D08E3-E0B3-1DF4-0533-E4EE67240415}"/>
              </a:ext>
            </a:extLst>
          </p:cNvPr>
          <p:cNvSpPr txBox="1"/>
          <p:nvPr/>
        </p:nvSpPr>
        <p:spPr>
          <a:xfrm>
            <a:off x="5971905" y="4914274"/>
            <a:ext cx="1859035" cy="1384995"/>
          </a:xfrm>
          <a:prstGeom prst="rect">
            <a:avLst/>
          </a:prstGeom>
          <a:noFill/>
        </p:spPr>
        <p:txBody>
          <a:bodyPr wrap="square">
            <a:spAutoFit/>
          </a:bodyPr>
          <a:lstStyle/>
          <a:p>
            <a:r>
              <a:rPr kumimoji="1" lang="ja-JP" altLang="en-US" sz="1100" b="1" dirty="0">
                <a:latin typeface="メイリオ" panose="020B0604030504040204" pitchFamily="50" charset="-128"/>
                <a:ea typeface="メイリオ" panose="020B0604030504040204" pitchFamily="50" charset="-128"/>
                <a:cs typeface="メイリオ"/>
              </a:rPr>
              <a:t>公式アカウントの</a:t>
            </a:r>
            <a:r>
              <a:rPr lang="ja-JP" altLang="en-US" sz="1100" b="1" dirty="0">
                <a:latin typeface="メイリオ" panose="020B0604030504040204" pitchFamily="50" charset="-128"/>
                <a:ea typeface="メイリオ" panose="020B0604030504040204" pitchFamily="50" charset="-128"/>
                <a:cs typeface="メイリオ"/>
              </a:rPr>
              <a:t>トーク</a:t>
            </a:r>
            <a:endParaRPr lang="en-US" altLang="ja-JP" sz="1100" b="1" dirty="0">
              <a:latin typeface="メイリオ" panose="020B0604030504040204" pitchFamily="50" charset="-128"/>
              <a:ea typeface="メイリオ" panose="020B0604030504040204" pitchFamily="50" charset="-128"/>
              <a:cs typeface="メイリオ"/>
            </a:endParaRPr>
          </a:p>
          <a:p>
            <a:r>
              <a:rPr lang="ja-JP" altLang="en-US" sz="1100" b="1" dirty="0">
                <a:latin typeface="メイリオ" panose="020B0604030504040204" pitchFamily="50" charset="-128"/>
                <a:ea typeface="メイリオ" panose="020B0604030504040204" pitchFamily="50" charset="-128"/>
                <a:cs typeface="メイリオ"/>
              </a:rPr>
              <a:t>画面</a:t>
            </a:r>
            <a:r>
              <a:rPr lang="ja-JP" altLang="en-US" sz="1100" dirty="0">
                <a:latin typeface="メイリオ" panose="020B0604030504040204" pitchFamily="50" charset="-128"/>
                <a:ea typeface="メイリオ" panose="020B0604030504040204" pitchFamily="50" charset="-128"/>
                <a:cs typeface="メイリオ"/>
              </a:rPr>
              <a:t>へ遷移する。</a:t>
            </a:r>
            <a:endParaRPr lang="en-US" altLang="ja-JP" sz="1100" dirty="0">
              <a:latin typeface="メイリオ" panose="020B0604030504040204" pitchFamily="50" charset="-128"/>
              <a:ea typeface="メイリオ" panose="020B0604030504040204" pitchFamily="50" charset="-128"/>
              <a:cs typeface="メイリオ"/>
            </a:endParaRPr>
          </a:p>
          <a:p>
            <a:r>
              <a:rPr kumimoji="1" lang="en-US" altLang="ja-JP" sz="1000" dirty="0">
                <a:solidFill>
                  <a:srgbClr val="1F2A5C"/>
                </a:solidFill>
                <a:latin typeface="メイリオ" panose="020B0604030504040204" pitchFamily="50" charset="-128"/>
                <a:ea typeface="メイリオ" panose="020B0604030504040204" pitchFamily="50" charset="-128"/>
                <a:cs typeface="メイリオ"/>
              </a:rPr>
              <a:t>※</a:t>
            </a:r>
            <a:r>
              <a:rPr kumimoji="1" lang="ja-JP" altLang="en-US" sz="1000" dirty="0">
                <a:solidFill>
                  <a:srgbClr val="1F2A5C"/>
                </a:solidFill>
                <a:latin typeface="メイリオ" panose="020B0604030504040204" pitchFamily="50" charset="-128"/>
                <a:ea typeface="メイリオ" panose="020B0604030504040204" pitchFamily="50" charset="-128"/>
                <a:cs typeface="メイリオ"/>
              </a:rPr>
              <a:t>設定によりフォーム入力</a:t>
            </a:r>
            <a:endParaRPr kumimoji="1" lang="en-US" altLang="ja-JP" sz="1000" dirty="0">
              <a:solidFill>
                <a:srgbClr val="1F2A5C"/>
              </a:solidFill>
              <a:latin typeface="メイリオ" panose="020B0604030504040204" pitchFamily="50" charset="-128"/>
              <a:ea typeface="メイリオ" panose="020B0604030504040204" pitchFamily="50" charset="-128"/>
              <a:cs typeface="メイリオ"/>
            </a:endParaRPr>
          </a:p>
          <a:p>
            <a:r>
              <a:rPr lang="ja-JP" altLang="en-US" sz="1000" dirty="0">
                <a:solidFill>
                  <a:srgbClr val="1F2A5C"/>
                </a:solidFill>
                <a:latin typeface="メイリオ" panose="020B0604030504040204" pitchFamily="50" charset="-128"/>
                <a:ea typeface="メイリオ" panose="020B0604030504040204" pitchFamily="50" charset="-128"/>
                <a:cs typeface="メイリオ"/>
              </a:rPr>
              <a:t>　内容を踏襲した入力画面</a:t>
            </a:r>
            <a:endParaRPr lang="en-US" altLang="ja-JP" sz="1000" dirty="0">
              <a:solidFill>
                <a:srgbClr val="1F2A5C"/>
              </a:solidFill>
              <a:latin typeface="メイリオ" panose="020B0604030504040204" pitchFamily="50" charset="-128"/>
              <a:ea typeface="メイリオ" panose="020B0604030504040204" pitchFamily="50" charset="-128"/>
              <a:cs typeface="メイリオ"/>
            </a:endParaRPr>
          </a:p>
          <a:p>
            <a:r>
              <a:rPr kumimoji="1" lang="ja-JP" altLang="en-US" sz="1000" dirty="0">
                <a:solidFill>
                  <a:srgbClr val="1F2A5C"/>
                </a:solidFill>
                <a:latin typeface="メイリオ" panose="020B0604030504040204" pitchFamily="50" charset="-128"/>
                <a:ea typeface="メイリオ" panose="020B0604030504040204" pitchFamily="50" charset="-128"/>
                <a:cs typeface="メイリオ"/>
              </a:rPr>
              <a:t>　を表示させることが可能。</a:t>
            </a:r>
            <a:endParaRPr kumimoji="1" lang="en-US" altLang="ja-JP" sz="1000" dirty="0">
              <a:solidFill>
                <a:srgbClr val="1F2A5C"/>
              </a:solidFill>
              <a:latin typeface="メイリオ" panose="020B0604030504040204" pitchFamily="50" charset="-128"/>
              <a:ea typeface="メイリオ" panose="020B0604030504040204" pitchFamily="50" charset="-128"/>
              <a:cs typeface="メイリオ"/>
            </a:endParaRPr>
          </a:p>
          <a:p>
            <a:endParaRPr lang="en-US" altLang="ja-JP" sz="1000" dirty="0">
              <a:solidFill>
                <a:srgbClr val="1F2A5C"/>
              </a:solidFill>
              <a:latin typeface="メイリオ" panose="020B0604030504040204" pitchFamily="50" charset="-128"/>
              <a:ea typeface="メイリオ" panose="020B0604030504040204" pitchFamily="50" charset="-128"/>
              <a:cs typeface="メイリオ"/>
            </a:endParaRPr>
          </a:p>
          <a:p>
            <a:r>
              <a:rPr lang="ja-JP" altLang="en-US" sz="1100" b="1" dirty="0">
                <a:latin typeface="メイリオ" panose="020B0604030504040204" pitchFamily="50" charset="-128"/>
                <a:ea typeface="メイリオ" panose="020B0604030504040204" pitchFamily="50" charset="-128"/>
                <a:cs typeface="メイリオ"/>
              </a:rPr>
              <a:t>↓</a:t>
            </a:r>
            <a:endParaRPr lang="en-US" altLang="ja-JP" sz="1100" b="1" dirty="0">
              <a:latin typeface="メイリオ" panose="020B0604030504040204" pitchFamily="50" charset="-128"/>
              <a:ea typeface="メイリオ" panose="020B0604030504040204" pitchFamily="50" charset="-128"/>
              <a:cs typeface="メイリオ"/>
            </a:endParaRPr>
          </a:p>
          <a:p>
            <a:r>
              <a:rPr kumimoji="1" lang="ja-JP" altLang="en-US" sz="1100" b="1" dirty="0">
                <a:latin typeface="メイリオ" panose="020B0604030504040204" pitchFamily="50" charset="-128"/>
                <a:ea typeface="メイリオ" panose="020B0604030504040204" pitchFamily="50" charset="-128"/>
                <a:cs typeface="メイリオ"/>
              </a:rPr>
              <a:t>配信セグメントに利用可</a:t>
            </a:r>
            <a:endParaRPr kumimoji="1" lang="ja-JP" altLang="en-US" sz="1100" dirty="0">
              <a:latin typeface="メイリオ" panose="020B0604030504040204" pitchFamily="50" charset="-128"/>
              <a:ea typeface="メイリオ" panose="020B0604030504040204" pitchFamily="50" charset="-128"/>
              <a:cs typeface="メイリオ"/>
            </a:endParaRPr>
          </a:p>
        </p:txBody>
      </p:sp>
      <p:pic>
        <p:nvPicPr>
          <p:cNvPr id="56" name="図 55">
            <a:extLst>
              <a:ext uri="{FF2B5EF4-FFF2-40B4-BE49-F238E27FC236}">
                <a16:creationId xmlns:a16="http://schemas.microsoft.com/office/drawing/2014/main" id="{0B7B313D-7D5F-4357-9B38-DFC3DBC5FCF6}"/>
              </a:ext>
            </a:extLst>
          </p:cNvPr>
          <p:cNvPicPr>
            <a:picLocks noChangeAspect="1"/>
          </p:cNvPicPr>
          <p:nvPr/>
        </p:nvPicPr>
        <p:blipFill>
          <a:blip r:embed="rId4"/>
          <a:stretch>
            <a:fillRect/>
          </a:stretch>
        </p:blipFill>
        <p:spPr>
          <a:xfrm>
            <a:off x="8048301" y="3085325"/>
            <a:ext cx="1133712" cy="110223"/>
          </a:xfrm>
          <a:prstGeom prst="rect">
            <a:avLst/>
          </a:prstGeom>
        </p:spPr>
      </p:pic>
      <p:pic>
        <p:nvPicPr>
          <p:cNvPr id="57" name="図 56">
            <a:extLst>
              <a:ext uri="{FF2B5EF4-FFF2-40B4-BE49-F238E27FC236}">
                <a16:creationId xmlns:a16="http://schemas.microsoft.com/office/drawing/2014/main" id="{A8EA42C4-338F-850B-B276-B83DC2A73148}"/>
              </a:ext>
            </a:extLst>
          </p:cNvPr>
          <p:cNvPicPr>
            <a:picLocks noChangeAspect="1"/>
          </p:cNvPicPr>
          <p:nvPr/>
        </p:nvPicPr>
        <p:blipFill>
          <a:blip r:embed="rId5"/>
          <a:stretch>
            <a:fillRect/>
          </a:stretch>
        </p:blipFill>
        <p:spPr>
          <a:xfrm>
            <a:off x="8378027" y="3091633"/>
            <a:ext cx="479964" cy="106659"/>
          </a:xfrm>
          <a:prstGeom prst="rect">
            <a:avLst/>
          </a:prstGeom>
        </p:spPr>
      </p:pic>
      <p:pic>
        <p:nvPicPr>
          <p:cNvPr id="58" name="図 57">
            <a:extLst>
              <a:ext uri="{FF2B5EF4-FFF2-40B4-BE49-F238E27FC236}">
                <a16:creationId xmlns:a16="http://schemas.microsoft.com/office/drawing/2014/main" id="{CCB04072-A708-EEE7-1345-D4C9E9FA9C1D}"/>
              </a:ext>
            </a:extLst>
          </p:cNvPr>
          <p:cNvPicPr>
            <a:picLocks noChangeAspect="1"/>
          </p:cNvPicPr>
          <p:nvPr/>
        </p:nvPicPr>
        <p:blipFill>
          <a:blip r:embed="rId5"/>
          <a:stretch>
            <a:fillRect/>
          </a:stretch>
        </p:blipFill>
        <p:spPr>
          <a:xfrm>
            <a:off x="8395919" y="4322141"/>
            <a:ext cx="334412" cy="74315"/>
          </a:xfrm>
          <a:prstGeom prst="rect">
            <a:avLst/>
          </a:prstGeom>
        </p:spPr>
      </p:pic>
      <p:pic>
        <p:nvPicPr>
          <p:cNvPr id="59" name="図 58">
            <a:extLst>
              <a:ext uri="{FF2B5EF4-FFF2-40B4-BE49-F238E27FC236}">
                <a16:creationId xmlns:a16="http://schemas.microsoft.com/office/drawing/2014/main" id="{EDED354B-362F-AAF7-76A6-52D8547EDC91}"/>
              </a:ext>
            </a:extLst>
          </p:cNvPr>
          <p:cNvPicPr>
            <a:picLocks noChangeAspect="1"/>
          </p:cNvPicPr>
          <p:nvPr/>
        </p:nvPicPr>
        <p:blipFill>
          <a:blip r:embed="rId5"/>
          <a:stretch>
            <a:fillRect/>
          </a:stretch>
        </p:blipFill>
        <p:spPr>
          <a:xfrm>
            <a:off x="8548319" y="4474541"/>
            <a:ext cx="334412" cy="74315"/>
          </a:xfrm>
          <a:prstGeom prst="rect">
            <a:avLst/>
          </a:prstGeom>
        </p:spPr>
      </p:pic>
      <p:sp>
        <p:nvSpPr>
          <p:cNvPr id="1030" name="楕円 1029">
            <a:extLst>
              <a:ext uri="{FF2B5EF4-FFF2-40B4-BE49-F238E27FC236}">
                <a16:creationId xmlns:a16="http://schemas.microsoft.com/office/drawing/2014/main" id="{A0934BB8-8F8D-D4F0-8D59-8F32A6A6E03A}"/>
              </a:ext>
            </a:extLst>
          </p:cNvPr>
          <p:cNvSpPr/>
          <p:nvPr/>
        </p:nvSpPr>
        <p:spPr>
          <a:xfrm>
            <a:off x="8414131" y="2644225"/>
            <a:ext cx="396000" cy="396000"/>
          </a:xfrm>
          <a:prstGeom prst="ellipse">
            <a:avLst/>
          </a:prstGeom>
          <a:solidFill>
            <a:schemeClr val="bg1">
              <a:lumMod val="95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600" dirty="0">
                <a:solidFill>
                  <a:schemeClr val="tx1"/>
                </a:solidFill>
                <a:latin typeface="メイリオ" panose="020B0604030504040204" pitchFamily="50" charset="-128"/>
                <a:ea typeface="メイリオ" panose="020B0604030504040204" pitchFamily="50" charset="-128"/>
                <a:cs typeface="メイリオ"/>
              </a:rPr>
              <a:t>ロゴ</a:t>
            </a:r>
          </a:p>
        </p:txBody>
      </p:sp>
      <p:sp>
        <p:nvSpPr>
          <p:cNvPr id="34" name="正方形/長方形 33">
            <a:extLst>
              <a:ext uri="{FF2B5EF4-FFF2-40B4-BE49-F238E27FC236}">
                <a16:creationId xmlns:a16="http://schemas.microsoft.com/office/drawing/2014/main" id="{A593FC72-954C-48DC-E845-1A5FCE4C9E00}"/>
              </a:ext>
            </a:extLst>
          </p:cNvPr>
          <p:cNvSpPr/>
          <p:nvPr/>
        </p:nvSpPr>
        <p:spPr>
          <a:xfrm>
            <a:off x="315283" y="2196668"/>
            <a:ext cx="1778402" cy="3994401"/>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5" name="二等辺三角形 34">
            <a:extLst>
              <a:ext uri="{FF2B5EF4-FFF2-40B4-BE49-F238E27FC236}">
                <a16:creationId xmlns:a16="http://schemas.microsoft.com/office/drawing/2014/main" id="{D9FB7255-AF30-7B82-6180-D447A3754744}"/>
              </a:ext>
            </a:extLst>
          </p:cNvPr>
          <p:cNvSpPr/>
          <p:nvPr/>
        </p:nvSpPr>
        <p:spPr>
          <a:xfrm rot="5400000">
            <a:off x="2108593" y="2360745"/>
            <a:ext cx="252701" cy="198744"/>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6" name="二等辺三角形 35">
            <a:extLst>
              <a:ext uri="{FF2B5EF4-FFF2-40B4-BE49-F238E27FC236}">
                <a16:creationId xmlns:a16="http://schemas.microsoft.com/office/drawing/2014/main" id="{626832A8-575E-5E2B-73F4-BE5567514E57}"/>
              </a:ext>
            </a:extLst>
          </p:cNvPr>
          <p:cNvSpPr/>
          <p:nvPr/>
        </p:nvSpPr>
        <p:spPr>
          <a:xfrm rot="5400000">
            <a:off x="2225165" y="2360745"/>
            <a:ext cx="252701" cy="198744"/>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7" name="二等辺三角形 36">
            <a:extLst>
              <a:ext uri="{FF2B5EF4-FFF2-40B4-BE49-F238E27FC236}">
                <a16:creationId xmlns:a16="http://schemas.microsoft.com/office/drawing/2014/main" id="{9D8E2C96-1207-00B8-6FC3-23370EFD7A03}"/>
              </a:ext>
            </a:extLst>
          </p:cNvPr>
          <p:cNvSpPr/>
          <p:nvPr/>
        </p:nvSpPr>
        <p:spPr>
          <a:xfrm rot="5400000">
            <a:off x="2341737" y="2360745"/>
            <a:ext cx="252701" cy="198744"/>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8" name="正方形/長方形 37">
            <a:extLst>
              <a:ext uri="{FF2B5EF4-FFF2-40B4-BE49-F238E27FC236}">
                <a16:creationId xmlns:a16="http://schemas.microsoft.com/office/drawing/2014/main" id="{28671F13-F479-AFF6-9832-C7C00D2D05EE}"/>
              </a:ext>
            </a:extLst>
          </p:cNvPr>
          <p:cNvSpPr/>
          <p:nvPr/>
        </p:nvSpPr>
        <p:spPr>
          <a:xfrm>
            <a:off x="614547" y="4198381"/>
            <a:ext cx="1154315" cy="244151"/>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latin typeface="メイリオ" panose="020B0604030504040204" pitchFamily="50" charset="-128"/>
                <a:ea typeface="メイリオ" panose="020B0604030504040204" pitchFamily="50" charset="-128"/>
                <a:cs typeface="メイリオ"/>
              </a:rPr>
              <a:t>フォーム</a:t>
            </a:r>
          </a:p>
        </p:txBody>
      </p:sp>
      <p:pic>
        <p:nvPicPr>
          <p:cNvPr id="40" name="図 39" descr="テキスト, 手紙&#10;&#10;AI 生成コンテンツは誤りを含む可能性があります。">
            <a:extLst>
              <a:ext uri="{FF2B5EF4-FFF2-40B4-BE49-F238E27FC236}">
                <a16:creationId xmlns:a16="http://schemas.microsoft.com/office/drawing/2014/main" id="{2B8DDCE0-83B3-5BAA-0FFE-3D329FBE2D94}"/>
              </a:ext>
            </a:extLst>
          </p:cNvPr>
          <p:cNvPicPr>
            <a:picLocks noChangeAspect="1"/>
          </p:cNvPicPr>
          <p:nvPr/>
        </p:nvPicPr>
        <p:blipFill>
          <a:blip r:embed="rId6" cstate="print">
            <a:extLst>
              <a:ext uri="{28A0092B-C50C-407E-A947-70E740481C1C}">
                <a14:useLocalDpi xmlns:a14="http://schemas.microsoft.com/office/drawing/2010/main" val="0"/>
              </a:ext>
            </a:extLst>
          </a:blip>
          <a:srcRect t="4580"/>
          <a:stretch>
            <a:fillRect/>
          </a:stretch>
        </p:blipFill>
        <p:spPr>
          <a:xfrm>
            <a:off x="663353" y="2289246"/>
            <a:ext cx="1048252" cy="1775437"/>
          </a:xfrm>
          <a:prstGeom prst="rect">
            <a:avLst/>
          </a:prstGeom>
        </p:spPr>
      </p:pic>
      <p:pic>
        <p:nvPicPr>
          <p:cNvPr id="41" name="図 40">
            <a:extLst>
              <a:ext uri="{FF2B5EF4-FFF2-40B4-BE49-F238E27FC236}">
                <a16:creationId xmlns:a16="http://schemas.microsoft.com/office/drawing/2014/main" id="{EE7C7FD3-78CB-4D67-F96A-D6F8017FE224}"/>
              </a:ext>
            </a:extLst>
          </p:cNvPr>
          <p:cNvPicPr>
            <a:picLocks noChangeAspect="1"/>
          </p:cNvPicPr>
          <p:nvPr/>
        </p:nvPicPr>
        <p:blipFill>
          <a:blip r:embed="rId7"/>
          <a:stretch>
            <a:fillRect/>
          </a:stretch>
        </p:blipFill>
        <p:spPr>
          <a:xfrm>
            <a:off x="641171" y="2325575"/>
            <a:ext cx="494484" cy="86136"/>
          </a:xfrm>
          <a:prstGeom prst="rect">
            <a:avLst/>
          </a:prstGeom>
        </p:spPr>
      </p:pic>
      <p:pic>
        <p:nvPicPr>
          <p:cNvPr id="42" name="図 41">
            <a:extLst>
              <a:ext uri="{FF2B5EF4-FFF2-40B4-BE49-F238E27FC236}">
                <a16:creationId xmlns:a16="http://schemas.microsoft.com/office/drawing/2014/main" id="{2E6CA8C2-2D04-CD9A-C431-4766768BBF3D}"/>
              </a:ext>
            </a:extLst>
          </p:cNvPr>
          <p:cNvPicPr>
            <a:picLocks noChangeAspect="1"/>
          </p:cNvPicPr>
          <p:nvPr/>
        </p:nvPicPr>
        <p:blipFill>
          <a:blip r:embed="rId7"/>
          <a:stretch>
            <a:fillRect/>
          </a:stretch>
        </p:blipFill>
        <p:spPr>
          <a:xfrm>
            <a:off x="630233" y="2328011"/>
            <a:ext cx="494484" cy="86136"/>
          </a:xfrm>
          <a:prstGeom prst="rect">
            <a:avLst/>
          </a:prstGeom>
        </p:spPr>
      </p:pic>
      <p:pic>
        <p:nvPicPr>
          <p:cNvPr id="47" name="図 46">
            <a:extLst>
              <a:ext uri="{FF2B5EF4-FFF2-40B4-BE49-F238E27FC236}">
                <a16:creationId xmlns:a16="http://schemas.microsoft.com/office/drawing/2014/main" id="{E5BE860E-2799-E5F4-ADCA-4ADBD44E0D0C}"/>
              </a:ext>
            </a:extLst>
          </p:cNvPr>
          <p:cNvPicPr>
            <a:picLocks noChangeAspect="1"/>
          </p:cNvPicPr>
          <p:nvPr/>
        </p:nvPicPr>
        <p:blipFill>
          <a:blip r:embed="rId7"/>
          <a:stretch>
            <a:fillRect/>
          </a:stretch>
        </p:blipFill>
        <p:spPr>
          <a:xfrm>
            <a:off x="810116" y="3773334"/>
            <a:ext cx="494484" cy="86136"/>
          </a:xfrm>
          <a:prstGeom prst="rect">
            <a:avLst/>
          </a:prstGeom>
        </p:spPr>
      </p:pic>
      <p:pic>
        <p:nvPicPr>
          <p:cNvPr id="55" name="図 54">
            <a:extLst>
              <a:ext uri="{FF2B5EF4-FFF2-40B4-BE49-F238E27FC236}">
                <a16:creationId xmlns:a16="http://schemas.microsoft.com/office/drawing/2014/main" id="{8AF12F67-4C9A-867F-4608-8FE9DA811630}"/>
              </a:ext>
            </a:extLst>
          </p:cNvPr>
          <p:cNvPicPr>
            <a:picLocks noChangeAspect="1"/>
          </p:cNvPicPr>
          <p:nvPr/>
        </p:nvPicPr>
        <p:blipFill>
          <a:blip r:embed="rId8"/>
          <a:stretch>
            <a:fillRect/>
          </a:stretch>
        </p:blipFill>
        <p:spPr>
          <a:xfrm>
            <a:off x="647157" y="2445202"/>
            <a:ext cx="1076073" cy="1468487"/>
          </a:xfrm>
          <a:prstGeom prst="rect">
            <a:avLst/>
          </a:prstGeom>
        </p:spPr>
      </p:pic>
      <p:pic>
        <p:nvPicPr>
          <p:cNvPr id="1024" name="図 1023">
            <a:extLst>
              <a:ext uri="{FF2B5EF4-FFF2-40B4-BE49-F238E27FC236}">
                <a16:creationId xmlns:a16="http://schemas.microsoft.com/office/drawing/2014/main" id="{E5E4719A-E6F5-34E0-F2FD-37322E2A76AA}"/>
              </a:ext>
            </a:extLst>
          </p:cNvPr>
          <p:cNvPicPr>
            <a:picLocks noChangeAspect="1"/>
          </p:cNvPicPr>
          <p:nvPr/>
        </p:nvPicPr>
        <p:blipFill>
          <a:blip r:embed="rId9"/>
          <a:stretch>
            <a:fillRect/>
          </a:stretch>
        </p:blipFill>
        <p:spPr>
          <a:xfrm>
            <a:off x="1125324" y="2303179"/>
            <a:ext cx="560995" cy="133465"/>
          </a:xfrm>
          <a:prstGeom prst="rect">
            <a:avLst/>
          </a:prstGeom>
        </p:spPr>
      </p:pic>
      <p:sp>
        <p:nvSpPr>
          <p:cNvPr id="1026" name="テキスト ボックス 1025">
            <a:extLst>
              <a:ext uri="{FF2B5EF4-FFF2-40B4-BE49-F238E27FC236}">
                <a16:creationId xmlns:a16="http://schemas.microsoft.com/office/drawing/2014/main" id="{1B57767B-4EA3-C247-B88C-4D505A95BD20}"/>
              </a:ext>
            </a:extLst>
          </p:cNvPr>
          <p:cNvSpPr txBox="1"/>
          <p:nvPr/>
        </p:nvSpPr>
        <p:spPr>
          <a:xfrm>
            <a:off x="-490844" y="4711039"/>
            <a:ext cx="3405553" cy="400110"/>
          </a:xfrm>
          <a:prstGeom prst="rect">
            <a:avLst/>
          </a:prstGeom>
          <a:noFill/>
        </p:spPr>
        <p:txBody>
          <a:bodyPr wrap="square">
            <a:spAutoFit/>
          </a:bodyPr>
          <a:lstStyle/>
          <a:p>
            <a:pPr algn="ctr"/>
            <a:r>
              <a:rPr lang="en-US" altLang="ja-JP" sz="1000" b="1" dirty="0">
                <a:solidFill>
                  <a:srgbClr val="1F2A5C"/>
                </a:solidFill>
                <a:latin typeface="メイリオ" panose="020B0604030504040204" pitchFamily="50" charset="-128"/>
                <a:ea typeface="メイリオ" panose="020B0604030504040204" pitchFamily="50" charset="-128"/>
                <a:cs typeface="メイリオ"/>
              </a:rPr>
              <a:t>※</a:t>
            </a:r>
            <a:r>
              <a:rPr lang="ja-JP" altLang="en-US" sz="1000" b="1" dirty="0">
                <a:solidFill>
                  <a:srgbClr val="1F2A5C"/>
                </a:solidFill>
                <a:latin typeface="メイリオ" panose="020B0604030504040204" pitchFamily="50" charset="-128"/>
                <a:ea typeface="メイリオ" panose="020B0604030504040204" pitchFamily="50" charset="-128"/>
                <a:cs typeface="メイリオ"/>
              </a:rPr>
              <a:t>入力した内容を</a:t>
            </a:r>
            <a:endParaRPr lang="en-US" altLang="ja-JP" sz="1000" b="1" dirty="0">
              <a:solidFill>
                <a:srgbClr val="1F2A5C"/>
              </a:solidFill>
              <a:latin typeface="メイリオ" panose="020B0604030504040204" pitchFamily="50" charset="-128"/>
              <a:ea typeface="メイリオ" panose="020B0604030504040204" pitchFamily="50" charset="-128"/>
              <a:cs typeface="メイリオ"/>
            </a:endParaRPr>
          </a:p>
          <a:p>
            <a:pPr algn="ctr"/>
            <a:r>
              <a:rPr lang="ja-JP" altLang="en-US" sz="1000" b="1" dirty="0">
                <a:solidFill>
                  <a:srgbClr val="1F2A5C"/>
                </a:solidFill>
                <a:latin typeface="メイリオ" panose="020B0604030504040204" pitchFamily="50" charset="-128"/>
                <a:ea typeface="メイリオ" panose="020B0604030504040204" pitchFamily="50" charset="-128"/>
                <a:cs typeface="メイリオ"/>
              </a:rPr>
              <a:t>トークに反映が可能。</a:t>
            </a:r>
            <a:endParaRPr lang="en-US" altLang="ja-JP" sz="10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032" name="正方形/長方形 1031">
            <a:extLst>
              <a:ext uri="{FF2B5EF4-FFF2-40B4-BE49-F238E27FC236}">
                <a16:creationId xmlns:a16="http://schemas.microsoft.com/office/drawing/2014/main" id="{D1D96D42-255C-636E-49E5-2CDA95DD6764}"/>
              </a:ext>
            </a:extLst>
          </p:cNvPr>
          <p:cNvSpPr/>
          <p:nvPr/>
        </p:nvSpPr>
        <p:spPr>
          <a:xfrm>
            <a:off x="2584156" y="2196668"/>
            <a:ext cx="1778402" cy="3994401"/>
          </a:xfrm>
          <a:prstGeom prst="rect">
            <a:avLst/>
          </a:prstGeom>
          <a:solidFill>
            <a:schemeClr val="bg1"/>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034" name="正方形/長方形 1033">
            <a:extLst>
              <a:ext uri="{FF2B5EF4-FFF2-40B4-BE49-F238E27FC236}">
                <a16:creationId xmlns:a16="http://schemas.microsoft.com/office/drawing/2014/main" id="{8693E451-BCB1-207B-6B73-131F2A8588BF}"/>
              </a:ext>
            </a:extLst>
          </p:cNvPr>
          <p:cNvSpPr/>
          <p:nvPr/>
        </p:nvSpPr>
        <p:spPr>
          <a:xfrm>
            <a:off x="2909322" y="4198381"/>
            <a:ext cx="1154315" cy="244151"/>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100" b="1" dirty="0">
                <a:latin typeface="メイリオ" panose="020B0604030504040204" pitchFamily="50" charset="-128"/>
                <a:ea typeface="メイリオ" panose="020B0604030504040204" pitchFamily="50" charset="-128"/>
                <a:cs typeface="メイリオ"/>
              </a:rPr>
              <a:t>CV</a:t>
            </a:r>
            <a:endParaRPr kumimoji="1" lang="ja-JP" altLang="en-US" sz="1100" b="1" dirty="0">
              <a:latin typeface="メイリオ" panose="020B0604030504040204" pitchFamily="50" charset="-128"/>
              <a:ea typeface="メイリオ" panose="020B0604030504040204" pitchFamily="50" charset="-128"/>
              <a:cs typeface="メイリオ"/>
            </a:endParaRPr>
          </a:p>
        </p:txBody>
      </p:sp>
      <p:sp>
        <p:nvSpPr>
          <p:cNvPr id="1036" name="正方形/長方形 1035">
            <a:extLst>
              <a:ext uri="{FF2B5EF4-FFF2-40B4-BE49-F238E27FC236}">
                <a16:creationId xmlns:a16="http://schemas.microsoft.com/office/drawing/2014/main" id="{43EEA9CC-C52C-B219-FF18-6E6EA44E4D24}"/>
              </a:ext>
            </a:extLst>
          </p:cNvPr>
          <p:cNvSpPr/>
          <p:nvPr/>
        </p:nvSpPr>
        <p:spPr>
          <a:xfrm>
            <a:off x="2692868" y="4436119"/>
            <a:ext cx="1396722" cy="10450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・購入完了</a:t>
            </a:r>
            <a:endPar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・セミナー予約</a:t>
            </a:r>
            <a:endPar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・登録完了</a:t>
            </a:r>
            <a:endPar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・メルマガ登録</a:t>
            </a:r>
            <a:endParaRPr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・その他</a:t>
            </a:r>
          </a:p>
        </p:txBody>
      </p:sp>
      <p:pic>
        <p:nvPicPr>
          <p:cNvPr id="1038" name="図 1037" descr="テキスト, 手紙&#10;&#10;AI 生成コンテンツは誤りを含む可能性があります。">
            <a:extLst>
              <a:ext uri="{FF2B5EF4-FFF2-40B4-BE49-F238E27FC236}">
                <a16:creationId xmlns:a16="http://schemas.microsoft.com/office/drawing/2014/main" id="{85260668-6C66-A032-FFE0-0276021F9433}"/>
              </a:ext>
            </a:extLst>
          </p:cNvPr>
          <p:cNvPicPr>
            <a:picLocks noChangeAspect="1"/>
          </p:cNvPicPr>
          <p:nvPr/>
        </p:nvPicPr>
        <p:blipFill>
          <a:blip r:embed="rId6" cstate="print">
            <a:extLst>
              <a:ext uri="{28A0092B-C50C-407E-A947-70E740481C1C}">
                <a14:useLocalDpi xmlns:a14="http://schemas.microsoft.com/office/drawing/2010/main" val="0"/>
              </a:ext>
            </a:extLst>
          </a:blip>
          <a:srcRect t="4580"/>
          <a:stretch>
            <a:fillRect/>
          </a:stretch>
        </p:blipFill>
        <p:spPr>
          <a:xfrm>
            <a:off x="2977448" y="2296209"/>
            <a:ext cx="1048252" cy="1775437"/>
          </a:xfrm>
          <a:prstGeom prst="rect">
            <a:avLst/>
          </a:prstGeom>
        </p:spPr>
      </p:pic>
      <p:pic>
        <p:nvPicPr>
          <p:cNvPr id="1039" name="Picture 2" descr="買い物完了！イラスト｜無料イラスト・フリー素材なら「イラストAC」">
            <a:extLst>
              <a:ext uri="{FF2B5EF4-FFF2-40B4-BE49-F238E27FC236}">
                <a16:creationId xmlns:a16="http://schemas.microsoft.com/office/drawing/2014/main" id="{23D05307-D6FE-6284-27D3-3433EE0122E2}"/>
              </a:ext>
            </a:extLst>
          </p:cNvPr>
          <p:cNvPicPr>
            <a:picLocks noChangeAspect="1" noChangeArrowheads="1"/>
          </p:cNvPicPr>
          <p:nvPr/>
        </p:nvPicPr>
        <p:blipFill rotWithShape="1">
          <a:blip r:embed="rId10" cstate="print">
            <a:extLst>
              <a:ext uri="{28A0092B-C50C-407E-A947-70E740481C1C}">
                <a14:useLocalDpi xmlns:a14="http://schemas.microsoft.com/office/drawing/2010/main" val="0"/>
              </a:ext>
            </a:extLst>
          </a:blip>
          <a:srcRect l="20270" r="23682"/>
          <a:stretch>
            <a:fillRect/>
          </a:stretch>
        </p:blipFill>
        <p:spPr bwMode="auto">
          <a:xfrm>
            <a:off x="3866329" y="4627146"/>
            <a:ext cx="395417" cy="529521"/>
          </a:xfrm>
          <a:prstGeom prst="rect">
            <a:avLst/>
          </a:prstGeom>
          <a:noFill/>
          <a:extLst>
            <a:ext uri="{909E8E84-426E-40DD-AFC4-6F175D3DCCD1}">
              <a14:hiddenFill xmlns:a14="http://schemas.microsoft.com/office/drawing/2010/main">
                <a:solidFill>
                  <a:srgbClr val="FFFFFF"/>
                </a:solidFill>
              </a14:hiddenFill>
            </a:ext>
          </a:extLst>
        </p:spPr>
      </p:pic>
      <p:pic>
        <p:nvPicPr>
          <p:cNvPr id="1040" name="図 1039">
            <a:extLst>
              <a:ext uri="{FF2B5EF4-FFF2-40B4-BE49-F238E27FC236}">
                <a16:creationId xmlns:a16="http://schemas.microsoft.com/office/drawing/2014/main" id="{D40EFC68-F8C8-CACE-392A-C804A102B410}"/>
              </a:ext>
            </a:extLst>
          </p:cNvPr>
          <p:cNvPicPr>
            <a:picLocks noChangeAspect="1"/>
          </p:cNvPicPr>
          <p:nvPr/>
        </p:nvPicPr>
        <p:blipFill>
          <a:blip r:embed="rId7"/>
          <a:stretch>
            <a:fillRect/>
          </a:stretch>
        </p:blipFill>
        <p:spPr>
          <a:xfrm>
            <a:off x="2955266" y="2332538"/>
            <a:ext cx="494484" cy="86136"/>
          </a:xfrm>
          <a:prstGeom prst="rect">
            <a:avLst/>
          </a:prstGeom>
        </p:spPr>
      </p:pic>
      <p:pic>
        <p:nvPicPr>
          <p:cNvPr id="1041" name="図 1040">
            <a:extLst>
              <a:ext uri="{FF2B5EF4-FFF2-40B4-BE49-F238E27FC236}">
                <a16:creationId xmlns:a16="http://schemas.microsoft.com/office/drawing/2014/main" id="{BA9B0596-4197-6BA5-B58D-7E67FD1379B1}"/>
              </a:ext>
            </a:extLst>
          </p:cNvPr>
          <p:cNvPicPr>
            <a:picLocks noChangeAspect="1"/>
          </p:cNvPicPr>
          <p:nvPr/>
        </p:nvPicPr>
        <p:blipFill>
          <a:blip r:embed="rId7"/>
          <a:stretch>
            <a:fillRect/>
          </a:stretch>
        </p:blipFill>
        <p:spPr>
          <a:xfrm>
            <a:off x="2944328" y="2334974"/>
            <a:ext cx="494484" cy="86136"/>
          </a:xfrm>
          <a:prstGeom prst="rect">
            <a:avLst/>
          </a:prstGeom>
        </p:spPr>
      </p:pic>
      <p:pic>
        <p:nvPicPr>
          <p:cNvPr id="1042" name="図 1041">
            <a:extLst>
              <a:ext uri="{FF2B5EF4-FFF2-40B4-BE49-F238E27FC236}">
                <a16:creationId xmlns:a16="http://schemas.microsoft.com/office/drawing/2014/main" id="{A3D5D1CE-703D-3244-20B5-0CBB6C5EB467}"/>
              </a:ext>
            </a:extLst>
          </p:cNvPr>
          <p:cNvPicPr>
            <a:picLocks noChangeAspect="1"/>
          </p:cNvPicPr>
          <p:nvPr/>
        </p:nvPicPr>
        <p:blipFill>
          <a:blip r:embed="rId7"/>
          <a:stretch>
            <a:fillRect/>
          </a:stretch>
        </p:blipFill>
        <p:spPr>
          <a:xfrm>
            <a:off x="3124211" y="3780297"/>
            <a:ext cx="494484" cy="86136"/>
          </a:xfrm>
          <a:prstGeom prst="rect">
            <a:avLst/>
          </a:prstGeom>
        </p:spPr>
      </p:pic>
      <p:sp>
        <p:nvSpPr>
          <p:cNvPr id="1043" name="テキスト ボックス 1042">
            <a:extLst>
              <a:ext uri="{FF2B5EF4-FFF2-40B4-BE49-F238E27FC236}">
                <a16:creationId xmlns:a16="http://schemas.microsoft.com/office/drawing/2014/main" id="{434489DF-76E5-B08D-AB93-7A020A3C23F0}"/>
              </a:ext>
            </a:extLst>
          </p:cNvPr>
          <p:cNvSpPr txBox="1"/>
          <p:nvPr/>
        </p:nvSpPr>
        <p:spPr>
          <a:xfrm>
            <a:off x="1254839" y="5195928"/>
            <a:ext cx="1679395" cy="338554"/>
          </a:xfrm>
          <a:prstGeom prst="rect">
            <a:avLst/>
          </a:prstGeom>
          <a:solidFill>
            <a:schemeClr val="bg1">
              <a:alpha val="56000"/>
            </a:schemeClr>
          </a:solidFill>
        </p:spPr>
        <p:txBody>
          <a:bodyPr wrap="square">
            <a:spAutoFit/>
          </a:bodyPr>
          <a:lstStyle/>
          <a:p>
            <a:pPr algn="ctr"/>
            <a:r>
              <a:rPr lang="en-US" altLang="ja-JP" sz="800" b="1" dirty="0">
                <a:solidFill>
                  <a:schemeClr val="bg1">
                    <a:lumMod val="85000"/>
                  </a:schemeClr>
                </a:solidFill>
                <a:latin typeface="メイリオ" panose="020B0604030504040204" pitchFamily="50" charset="-128"/>
                <a:ea typeface="メイリオ" panose="020B0604030504040204" pitchFamily="50" charset="-128"/>
                <a:cs typeface="メイリオ"/>
              </a:rPr>
              <a:t>※</a:t>
            </a:r>
            <a:r>
              <a:rPr lang="ja-JP" altLang="en-US" sz="800" b="1" dirty="0">
                <a:solidFill>
                  <a:schemeClr val="bg1">
                    <a:lumMod val="85000"/>
                  </a:schemeClr>
                </a:solidFill>
                <a:latin typeface="メイリオ" panose="020B0604030504040204" pitchFamily="50" charset="-128"/>
                <a:ea typeface="メイリオ" panose="020B0604030504040204" pitchFamily="50" charset="-128"/>
                <a:cs typeface="メイリオ"/>
              </a:rPr>
              <a:t>ユーザーの個人情報収集が</a:t>
            </a:r>
            <a:endParaRPr lang="en-US" altLang="ja-JP" sz="800" b="1" dirty="0">
              <a:solidFill>
                <a:schemeClr val="bg1">
                  <a:lumMod val="85000"/>
                </a:schemeClr>
              </a:solidFill>
              <a:latin typeface="メイリオ" panose="020B0604030504040204" pitchFamily="50" charset="-128"/>
              <a:ea typeface="メイリオ" panose="020B0604030504040204" pitchFamily="50" charset="-128"/>
              <a:cs typeface="メイリオ"/>
            </a:endParaRPr>
          </a:p>
          <a:p>
            <a:pPr algn="ctr"/>
            <a:r>
              <a:rPr lang="ja-JP" altLang="en-US" sz="800" b="1" dirty="0">
                <a:solidFill>
                  <a:schemeClr val="bg1">
                    <a:lumMod val="85000"/>
                  </a:schemeClr>
                </a:solidFill>
                <a:latin typeface="メイリオ" panose="020B0604030504040204" pitchFamily="50" charset="-128"/>
                <a:ea typeface="メイリオ" panose="020B0604030504040204" pitchFamily="50" charset="-128"/>
                <a:cs typeface="メイリオ"/>
              </a:rPr>
              <a:t>完了したタイミング</a:t>
            </a:r>
            <a:endParaRPr kumimoji="1" lang="ja-JP" altLang="en-US" sz="800" b="1" dirty="0">
              <a:solidFill>
                <a:schemeClr val="bg1">
                  <a:lumMod val="85000"/>
                </a:schemeClr>
              </a:solidFill>
              <a:latin typeface="メイリオ" panose="020B0604030504040204" pitchFamily="50" charset="-128"/>
              <a:ea typeface="メイリオ" panose="020B0604030504040204" pitchFamily="50" charset="-128"/>
              <a:cs typeface="メイリオ"/>
            </a:endParaRPr>
          </a:p>
        </p:txBody>
      </p:sp>
      <p:grpSp>
        <p:nvGrpSpPr>
          <p:cNvPr id="3" name="グループ化 2">
            <a:extLst>
              <a:ext uri="{FF2B5EF4-FFF2-40B4-BE49-F238E27FC236}">
                <a16:creationId xmlns:a16="http://schemas.microsoft.com/office/drawing/2014/main" id="{E76D8F54-2926-2D56-7238-F66ACCBC4F20}"/>
              </a:ext>
            </a:extLst>
          </p:cNvPr>
          <p:cNvGrpSpPr/>
          <p:nvPr/>
        </p:nvGrpSpPr>
        <p:grpSpPr>
          <a:xfrm>
            <a:off x="543398" y="777681"/>
            <a:ext cx="3105325" cy="485102"/>
            <a:chOff x="507969" y="928495"/>
            <a:chExt cx="3105325" cy="485102"/>
          </a:xfrm>
          <a:solidFill>
            <a:schemeClr val="tx2"/>
          </a:solidFill>
        </p:grpSpPr>
        <p:sp>
          <p:nvSpPr>
            <p:cNvPr id="4" name="Google Shape;51;p19">
              <a:extLst>
                <a:ext uri="{FF2B5EF4-FFF2-40B4-BE49-F238E27FC236}">
                  <a16:creationId xmlns:a16="http://schemas.microsoft.com/office/drawing/2014/main" id="{98F6BB16-EFC6-9846-2A11-E624E876E64B}"/>
                </a:ext>
              </a:extLst>
            </p:cNvPr>
            <p:cNvSpPr/>
            <p:nvPr/>
          </p:nvSpPr>
          <p:spPr>
            <a:xfrm>
              <a:off x="507969" y="928495"/>
              <a:ext cx="3105325" cy="485102"/>
            </a:xfrm>
            <a:prstGeom prst="roundRect">
              <a:avLst>
                <a:gd name="adj" fmla="val 16667"/>
              </a:avLst>
            </a:prstGeom>
            <a:grp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560EDF30-5F09-B70A-2993-8CD4F9E40EFA}"/>
                </a:ext>
              </a:extLst>
            </p:cNvPr>
            <p:cNvSpPr txBox="1"/>
            <p:nvPr/>
          </p:nvSpPr>
          <p:spPr>
            <a:xfrm>
              <a:off x="1140096" y="988192"/>
              <a:ext cx="1832553" cy="357790"/>
            </a:xfrm>
            <a:prstGeom prst="rect">
              <a:avLst/>
            </a:prstGeom>
            <a:grp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サンクス</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LINE</a:t>
              </a: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誘導</a:t>
              </a:r>
            </a:p>
          </p:txBody>
        </p:sp>
      </p:grpSp>
      <p:cxnSp>
        <p:nvCxnSpPr>
          <p:cNvPr id="7" name="コネクタ: カギ線 6">
            <a:extLst>
              <a:ext uri="{FF2B5EF4-FFF2-40B4-BE49-F238E27FC236}">
                <a16:creationId xmlns:a16="http://schemas.microsoft.com/office/drawing/2014/main" id="{C5EB654A-0759-70F8-6BA7-95CA3A0F983F}"/>
              </a:ext>
            </a:extLst>
          </p:cNvPr>
          <p:cNvCxnSpPr>
            <a:cxnSpLocks/>
          </p:cNvCxnSpPr>
          <p:nvPr/>
        </p:nvCxnSpPr>
        <p:spPr>
          <a:xfrm flipV="1">
            <a:off x="7672763" y="5102505"/>
            <a:ext cx="574585" cy="332494"/>
          </a:xfrm>
          <a:prstGeom prst="bentConnector3">
            <a:avLst>
              <a:gd name="adj1" fmla="val 50000"/>
            </a:avLst>
          </a:prstGeom>
          <a:ln w="15875">
            <a:solidFill>
              <a:srgbClr val="1F2A5C"/>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3" name="直線矢印コネクタ 12">
            <a:extLst>
              <a:ext uri="{FF2B5EF4-FFF2-40B4-BE49-F238E27FC236}">
                <a16:creationId xmlns:a16="http://schemas.microsoft.com/office/drawing/2014/main" id="{218E3FE3-7B20-5966-421F-4ECB81603538}"/>
              </a:ext>
            </a:extLst>
          </p:cNvPr>
          <p:cNvCxnSpPr>
            <a:cxnSpLocks/>
            <a:stCxn id="48" idx="2"/>
            <a:endCxn id="21" idx="0"/>
          </p:cNvCxnSpPr>
          <p:nvPr/>
        </p:nvCxnSpPr>
        <p:spPr>
          <a:xfrm>
            <a:off x="6904149" y="3132263"/>
            <a:ext cx="1" cy="1334625"/>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9" name="テキスト ボックス 18">
            <a:extLst>
              <a:ext uri="{FF2B5EF4-FFF2-40B4-BE49-F238E27FC236}">
                <a16:creationId xmlns:a16="http://schemas.microsoft.com/office/drawing/2014/main" id="{DBDB9444-3A0E-B235-58FC-9F8C81BAEA44}"/>
              </a:ext>
            </a:extLst>
          </p:cNvPr>
          <p:cNvSpPr txBox="1"/>
          <p:nvPr/>
        </p:nvSpPr>
        <p:spPr>
          <a:xfrm>
            <a:off x="6323825" y="3523709"/>
            <a:ext cx="1161782" cy="261610"/>
          </a:xfrm>
          <a:prstGeom prst="rect">
            <a:avLst/>
          </a:prstGeom>
          <a:solidFill>
            <a:schemeClr val="bg1">
              <a:alpha val="70000"/>
            </a:schemeClr>
          </a:solidFill>
        </p:spPr>
        <p:txBody>
          <a:bodyPr wrap="square">
            <a:spAutoFit/>
          </a:bodyPr>
          <a:lstStyle/>
          <a:p>
            <a:pPr algn="ctr"/>
            <a:r>
              <a:rPr kumimoji="1" lang="ja-JP" altLang="en-US" sz="1100" b="1" dirty="0">
                <a:solidFill>
                  <a:srgbClr val="00C057"/>
                </a:solidFill>
                <a:latin typeface="メイリオ" panose="020B0604030504040204" pitchFamily="50" charset="-128"/>
                <a:ea typeface="メイリオ" panose="020B0604030504040204" pitchFamily="50" charset="-128"/>
                <a:cs typeface="メイリオ"/>
              </a:rPr>
              <a:t>友だち追加後</a:t>
            </a:r>
            <a:endParaRPr lang="ja-JP" altLang="en-US" sz="1100" dirty="0">
              <a:solidFill>
                <a:srgbClr val="00C057"/>
              </a:solidFill>
              <a:latin typeface="メイリオ"/>
              <a:ea typeface="メイリオ"/>
              <a:cs typeface="メイリオ"/>
            </a:endParaRPr>
          </a:p>
        </p:txBody>
      </p:sp>
      <p:sp>
        <p:nvSpPr>
          <p:cNvPr id="9" name="正方形/長方形 8">
            <a:extLst>
              <a:ext uri="{FF2B5EF4-FFF2-40B4-BE49-F238E27FC236}">
                <a16:creationId xmlns:a16="http://schemas.microsoft.com/office/drawing/2014/main" id="{DC4FF56C-47EE-47DB-92F1-3F0EF57613D9}"/>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ja-JP" altLang="en-US" sz="1600" dirty="0">
                <a:latin typeface="メイリオ"/>
                <a:ea typeface="メイリオ"/>
                <a:cs typeface="メイリオ"/>
                <a:sym typeface="Meiryo"/>
              </a:rPr>
              <a:t>サンクス到達時の</a:t>
            </a:r>
            <a:r>
              <a:rPr lang="en-US" altLang="ja-JP" sz="1600" dirty="0">
                <a:latin typeface="メイリオ"/>
                <a:ea typeface="メイリオ"/>
                <a:cs typeface="メイリオ"/>
                <a:sym typeface="Meiryo"/>
              </a:rPr>
              <a:t>LINE</a:t>
            </a:r>
            <a:r>
              <a:rPr lang="ja-JP" altLang="en-US" sz="1600" dirty="0">
                <a:latin typeface="メイリオ"/>
                <a:ea typeface="メイリオ"/>
                <a:cs typeface="メイリオ"/>
                <a:sym typeface="Meiryo"/>
              </a:rPr>
              <a:t>動線が弊社開発により可能に。</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費用を抑えての導入が可能で、新規反響の質改善に寄与。</a:t>
            </a:r>
          </a:p>
        </p:txBody>
      </p:sp>
      <p:sp>
        <p:nvSpPr>
          <p:cNvPr id="14" name="テキスト ボックス 13">
            <a:extLst>
              <a:ext uri="{FF2B5EF4-FFF2-40B4-BE49-F238E27FC236}">
                <a16:creationId xmlns:a16="http://schemas.microsoft.com/office/drawing/2014/main" id="{5ED6F7D2-546D-BF9F-9805-58455D7E2831}"/>
              </a:ext>
            </a:extLst>
          </p:cNvPr>
          <p:cNvSpPr txBox="1"/>
          <p:nvPr/>
        </p:nvSpPr>
        <p:spPr>
          <a:xfrm>
            <a:off x="4091506" y="1549623"/>
            <a:ext cx="4718625" cy="230832"/>
          </a:xfrm>
          <a:prstGeom prst="rect">
            <a:avLst/>
          </a:prstGeom>
          <a:noFill/>
        </p:spPr>
        <p:txBody>
          <a:bodyPr wrap="square">
            <a:spAutoFit/>
          </a:bodyPr>
          <a:lstStyle/>
          <a:p>
            <a:r>
              <a:rPr lang="en-US" altLang="ja-JP" sz="900" dirty="0">
                <a:solidFill>
                  <a:srgbClr val="1F2A5C"/>
                </a:solidFill>
                <a:latin typeface="メイリオ" panose="020B0604030504040204" pitchFamily="50" charset="-128"/>
                <a:ea typeface="メイリオ" panose="020B0604030504040204" pitchFamily="50" charset="-128"/>
                <a:cs typeface="メイリオ"/>
                <a:sym typeface="Meiryo"/>
              </a:rPr>
              <a:t>※</a:t>
            </a:r>
            <a:r>
              <a:rPr lang="ja-JP" altLang="en-US" sz="900" dirty="0">
                <a:solidFill>
                  <a:srgbClr val="1F2A5C"/>
                </a:solidFill>
                <a:latin typeface="メイリオ" panose="020B0604030504040204" pitchFamily="50" charset="-128"/>
                <a:ea typeface="メイリオ" panose="020B0604030504040204" pitchFamily="50" charset="-128"/>
                <a:cs typeface="メイリオ"/>
                <a:sym typeface="Meiryo"/>
              </a:rPr>
              <a:t>既存</a:t>
            </a:r>
            <a:r>
              <a:rPr lang="en-US" altLang="ja-JP" sz="900" dirty="0">
                <a:solidFill>
                  <a:srgbClr val="1F2A5C"/>
                </a:solidFill>
                <a:latin typeface="メイリオ" panose="020B0604030504040204" pitchFamily="50" charset="-128"/>
                <a:ea typeface="メイリオ" panose="020B0604030504040204" pitchFamily="50" charset="-128"/>
                <a:cs typeface="メイリオ"/>
                <a:sym typeface="Meiryo"/>
              </a:rPr>
              <a:t>API</a:t>
            </a:r>
            <a:r>
              <a:rPr lang="ja-JP" altLang="en-US" sz="900" dirty="0">
                <a:solidFill>
                  <a:srgbClr val="1F2A5C"/>
                </a:solidFill>
                <a:latin typeface="メイリオ" panose="020B0604030504040204" pitchFamily="50" charset="-128"/>
                <a:ea typeface="メイリオ" panose="020B0604030504040204" pitchFamily="50" charset="-128"/>
                <a:cs typeface="メイリオ"/>
                <a:sym typeface="Meiryo"/>
              </a:rPr>
              <a:t>ツールとの併用についても、問題なく稼働が可能。</a:t>
            </a:r>
            <a:endParaRPr lang="ja-JP" altLang="en-US" sz="900" dirty="0">
              <a:solidFill>
                <a:srgbClr val="1F2A5C"/>
              </a:solidFill>
              <a:latin typeface="メイリオ"/>
              <a:ea typeface="メイリオ"/>
              <a:cs typeface="メイリオ"/>
            </a:endParaRPr>
          </a:p>
        </p:txBody>
      </p:sp>
      <p:sp>
        <p:nvSpPr>
          <p:cNvPr id="8" name="正方形/長方形 7">
            <a:extLst>
              <a:ext uri="{FF2B5EF4-FFF2-40B4-BE49-F238E27FC236}">
                <a16:creationId xmlns:a16="http://schemas.microsoft.com/office/drawing/2014/main" id="{F5B8C83A-7191-D772-EF88-AE268D007E63}"/>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26" name="Google Shape;51;p19">
            <a:extLst>
              <a:ext uri="{FF2B5EF4-FFF2-40B4-BE49-F238E27FC236}">
                <a16:creationId xmlns:a16="http://schemas.microsoft.com/office/drawing/2014/main" id="{A4070FDA-7C99-27DE-6A9C-437C1D5DD3B3}"/>
              </a:ext>
            </a:extLst>
          </p:cNvPr>
          <p:cNvSpPr/>
          <p:nvPr/>
        </p:nvSpPr>
        <p:spPr>
          <a:xfrm>
            <a:off x="543399"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初期：15万円</a:t>
            </a:r>
            <a:endParaRPr sz="1400" b="1" i="0" u="none" strike="noStrike" cap="none" dirty="0">
              <a:solidFill>
                <a:schemeClr val="lt1"/>
              </a:solidFill>
              <a:latin typeface="メイリオ"/>
              <a:ea typeface="メイリオ"/>
              <a:cs typeface="メイリオ"/>
              <a:sym typeface="Meiryo"/>
            </a:endParaRPr>
          </a:p>
        </p:txBody>
      </p:sp>
      <p:sp>
        <p:nvSpPr>
          <p:cNvPr id="28" name="Google Shape;51;p19">
            <a:extLst>
              <a:ext uri="{FF2B5EF4-FFF2-40B4-BE49-F238E27FC236}">
                <a16:creationId xmlns:a16="http://schemas.microsoft.com/office/drawing/2014/main" id="{40C4675F-5DCC-DD57-BE14-B3A7697A02CD}"/>
              </a:ext>
            </a:extLst>
          </p:cNvPr>
          <p:cNvSpPr/>
          <p:nvPr/>
        </p:nvSpPr>
        <p:spPr>
          <a:xfrm>
            <a:off x="2137897"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3</a:t>
            </a:r>
            <a:r>
              <a:rPr lang="ja-JP" altLang="en-US" sz="1400" b="1" i="0" u="none" strike="noStrike" cap="none" dirty="0">
                <a:solidFill>
                  <a:schemeClr val="lt1"/>
                </a:solidFill>
                <a:latin typeface="メイリオ"/>
                <a:ea typeface="メイリオ"/>
                <a:cs typeface="メイリオ"/>
                <a:sym typeface="Meiryo"/>
              </a:rPr>
              <a:t>万円～</a:t>
            </a:r>
            <a:endParaRPr lang="en-US" altLang="ja-JP" sz="1400" b="1" i="0" u="none" strike="noStrike" cap="none" dirty="0">
              <a:solidFill>
                <a:schemeClr val="lt1"/>
              </a:solidFill>
              <a:latin typeface="メイリオ"/>
              <a:ea typeface="メイリオ"/>
              <a:cs typeface="メイリオ"/>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1F2A5C"/>
                </a:solidFill>
                <a:latin typeface="メイリオ"/>
                <a:ea typeface="メイリオ"/>
                <a:cs typeface="メイリオ"/>
                <a:sym typeface="Meiryo"/>
              </a:rPr>
              <a:t>+</a:t>
            </a:r>
            <a:r>
              <a:rPr lang="ja-JP" altLang="en-US" sz="1050" b="1" dirty="0">
                <a:solidFill>
                  <a:srgbClr val="1F2A5C"/>
                </a:solidFill>
                <a:latin typeface="メイリオ"/>
                <a:ea typeface="メイリオ"/>
                <a:cs typeface="メイリオ"/>
                <a:sym typeface="Meiryo"/>
              </a:rPr>
              <a:t>設定地点追加</a:t>
            </a:r>
            <a:endParaRPr sz="1050" b="1" i="0" u="none" strike="noStrike" cap="none" dirty="0">
              <a:solidFill>
                <a:srgbClr val="1F2A5C"/>
              </a:solidFill>
              <a:latin typeface="メイリオ"/>
              <a:ea typeface="メイリオ"/>
              <a:cs typeface="メイリオ"/>
              <a:sym typeface="Meiryo"/>
            </a:endParaRPr>
          </a:p>
        </p:txBody>
      </p:sp>
      <p:cxnSp>
        <p:nvCxnSpPr>
          <p:cNvPr id="30" name="コネクタ: カギ線 29">
            <a:extLst>
              <a:ext uri="{FF2B5EF4-FFF2-40B4-BE49-F238E27FC236}">
                <a16:creationId xmlns:a16="http://schemas.microsoft.com/office/drawing/2014/main" id="{D9706AF3-2C8D-6646-76C8-7802A4F734FC}"/>
              </a:ext>
            </a:extLst>
          </p:cNvPr>
          <p:cNvCxnSpPr>
            <a:cxnSpLocks/>
          </p:cNvCxnSpPr>
          <p:nvPr/>
        </p:nvCxnSpPr>
        <p:spPr>
          <a:xfrm rot="16200000" flipH="1">
            <a:off x="3294819" y="3047336"/>
            <a:ext cx="430977" cy="4596748"/>
          </a:xfrm>
          <a:prstGeom prst="bentConnector2">
            <a:avLst/>
          </a:prstGeom>
          <a:ln w="15875">
            <a:solidFill>
              <a:srgbClr val="1F2A5C"/>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0" name="テキスト ボックス 49">
            <a:extLst>
              <a:ext uri="{FF2B5EF4-FFF2-40B4-BE49-F238E27FC236}">
                <a16:creationId xmlns:a16="http://schemas.microsoft.com/office/drawing/2014/main" id="{97C92C6B-4F06-7ED3-0627-D0C168299913}"/>
              </a:ext>
            </a:extLst>
          </p:cNvPr>
          <p:cNvSpPr txBox="1"/>
          <p:nvPr/>
        </p:nvSpPr>
        <p:spPr>
          <a:xfrm>
            <a:off x="115187" y="5639542"/>
            <a:ext cx="5785781" cy="461665"/>
          </a:xfrm>
          <a:prstGeom prst="rect">
            <a:avLst/>
          </a:prstGeom>
          <a:solidFill>
            <a:schemeClr val="bg1">
              <a:alpha val="62000"/>
            </a:schemeClr>
          </a:solidFill>
        </p:spPr>
        <p:txBody>
          <a:bodyPr wrap="square">
            <a:spAutoFit/>
          </a:bodyPr>
          <a:lstStyle/>
          <a:p>
            <a:pPr algn="ctr"/>
            <a:r>
              <a:rPr lang="ja-JP" altLang="ja-JP" sz="1200" dirty="0">
                <a:latin typeface="メイリオ" panose="020B0604030504040204" pitchFamily="50" charset="-128"/>
                <a:ea typeface="メイリオ" panose="020B0604030504040204" pitchFamily="50" charset="-128"/>
                <a:cs typeface="メイリオ"/>
              </a:rPr>
              <a:t>高開封率のLINEに誘導</a:t>
            </a:r>
            <a:r>
              <a:rPr lang="ja-JP" altLang="en-US" sz="1200" dirty="0">
                <a:latin typeface="メイリオ" panose="020B0604030504040204" pitchFamily="50" charset="-128"/>
                <a:ea typeface="メイリオ" panose="020B0604030504040204" pitchFamily="50" charset="-128"/>
                <a:cs typeface="メイリオ"/>
              </a:rPr>
              <a:t>して</a:t>
            </a:r>
            <a:r>
              <a:rPr lang="ja-JP" altLang="ja-JP" sz="1200" dirty="0">
                <a:latin typeface="メイリオ" panose="020B0604030504040204" pitchFamily="50" charset="-128"/>
                <a:ea typeface="メイリオ" panose="020B0604030504040204" pitchFamily="50" charset="-128"/>
                <a:cs typeface="メイリオ"/>
              </a:rPr>
              <a:t>反響→実売上への引上げ率、リピート率改善。</a:t>
            </a:r>
            <a:endParaRPr lang="en-US" altLang="ja-JP" sz="1200" dirty="0">
              <a:latin typeface="メイリオ" panose="020B0604030504040204" pitchFamily="50" charset="-128"/>
              <a:ea typeface="メイリオ" panose="020B0604030504040204" pitchFamily="50" charset="-128"/>
              <a:cs typeface="メイリオ"/>
            </a:endParaRPr>
          </a:p>
          <a:p>
            <a:pPr algn="ctr"/>
            <a:r>
              <a:rPr lang="ja-JP" altLang="ja-JP" sz="1200" dirty="0">
                <a:latin typeface="メイリオ" panose="020B0604030504040204" pitchFamily="50" charset="-128"/>
                <a:ea typeface="メイリオ" panose="020B0604030504040204" pitchFamily="50" charset="-128"/>
                <a:cs typeface="メイリオ"/>
              </a:rPr>
              <a:t> </a:t>
            </a:r>
            <a:r>
              <a:rPr lang="ja-JP" altLang="ja-JP" sz="1200" b="1" dirty="0">
                <a:solidFill>
                  <a:srgbClr val="1F2A5C"/>
                </a:solidFill>
                <a:latin typeface="メイリオ" panose="020B0604030504040204" pitchFamily="50" charset="-128"/>
                <a:ea typeface="メイリオ" panose="020B0604030504040204" pitchFamily="50" charset="-128"/>
                <a:cs typeface="メイリオ"/>
              </a:rPr>
              <a:t>弊社運用の美容クリニック様では、予約後来院率にて40-50%程度の改善を実現</a:t>
            </a:r>
            <a:r>
              <a:rPr lang="ja-JP" altLang="ja-JP" sz="1200" dirty="0">
                <a:latin typeface="メイリオ" panose="020B0604030504040204" pitchFamily="50" charset="-128"/>
                <a:ea typeface="メイリオ" panose="020B0604030504040204" pitchFamily="50" charset="-128"/>
                <a:cs typeface="メイリオ"/>
              </a:rPr>
              <a:t>。</a:t>
            </a:r>
            <a:endParaRPr lang="ja-JP" altLang="en-US" sz="1200"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142521826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C6895-896B-9E00-CCE0-8FD2C532CBF4}"/>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57325C46-C913-158A-F4D5-062E1EE9DA89}"/>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（サンクス</a:t>
            </a:r>
            <a:r>
              <a:rPr lang="en-US" altLang="ja-JP" sz="1600" b="1" dirty="0">
                <a:solidFill>
                  <a:srgbClr val="323366"/>
                </a:solidFill>
                <a:latin typeface="メイリオ" panose="020B0604030504040204" pitchFamily="50" charset="-128"/>
                <a:ea typeface="メイリオ" panose="020B0604030504040204" pitchFamily="50" charset="-128"/>
                <a:cs typeface="メイリオ"/>
                <a:sym typeface="Meiryo"/>
              </a:rPr>
              <a:t>LINE</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誘導）</a:t>
            </a:r>
          </a:p>
        </p:txBody>
      </p:sp>
      <p:sp>
        <p:nvSpPr>
          <p:cNvPr id="11" name="正方形/長方形 10">
            <a:extLst>
              <a:ext uri="{FF2B5EF4-FFF2-40B4-BE49-F238E27FC236}">
                <a16:creationId xmlns:a16="http://schemas.microsoft.com/office/drawing/2014/main" id="{3E47B791-F689-043A-D742-58F518AFE49A}"/>
              </a:ext>
            </a:extLst>
          </p:cNvPr>
          <p:cNvSpPr/>
          <p:nvPr/>
        </p:nvSpPr>
        <p:spPr>
          <a:xfrm>
            <a:off x="543399" y="1938056"/>
            <a:ext cx="4649626" cy="244151"/>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100" b="1" dirty="0">
                <a:solidFill>
                  <a:schemeClr val="tx1"/>
                </a:solidFill>
                <a:latin typeface="メイリオ" panose="020B0604030504040204" pitchFamily="50" charset="-128"/>
                <a:ea typeface="メイリオ" panose="020B0604030504040204" pitchFamily="50" charset="-128"/>
                <a:cs typeface="メイリオ"/>
              </a:rPr>
              <a:t>WEB</a:t>
            </a:r>
            <a:r>
              <a:rPr kumimoji="1" lang="ja-JP" altLang="en-US" sz="1100" b="1" dirty="0">
                <a:solidFill>
                  <a:schemeClr val="tx1"/>
                </a:solidFill>
                <a:latin typeface="メイリオ" panose="020B0604030504040204" pitchFamily="50" charset="-128"/>
                <a:ea typeface="メイリオ" panose="020B0604030504040204" pitchFamily="50" charset="-128"/>
                <a:cs typeface="メイリオ"/>
              </a:rPr>
              <a:t>サイト</a:t>
            </a:r>
          </a:p>
        </p:txBody>
      </p:sp>
      <p:sp>
        <p:nvSpPr>
          <p:cNvPr id="1026" name="テキスト ボックス 1025">
            <a:extLst>
              <a:ext uri="{FF2B5EF4-FFF2-40B4-BE49-F238E27FC236}">
                <a16:creationId xmlns:a16="http://schemas.microsoft.com/office/drawing/2014/main" id="{CC180508-A6F5-4077-668A-348F7DF4F354}"/>
              </a:ext>
            </a:extLst>
          </p:cNvPr>
          <p:cNvSpPr txBox="1"/>
          <p:nvPr/>
        </p:nvSpPr>
        <p:spPr>
          <a:xfrm>
            <a:off x="4893555" y="3926711"/>
            <a:ext cx="3405553" cy="400110"/>
          </a:xfrm>
          <a:prstGeom prst="rect">
            <a:avLst/>
          </a:prstGeom>
          <a:noFill/>
        </p:spPr>
        <p:txBody>
          <a:bodyPr wrap="square">
            <a:spAutoFit/>
          </a:bodyPr>
          <a:lstStyle/>
          <a:p>
            <a:pPr algn="ctr"/>
            <a:r>
              <a:rPr lang="en-US" altLang="ja-JP" sz="1000" b="1" dirty="0">
                <a:solidFill>
                  <a:srgbClr val="1F2A5C"/>
                </a:solidFill>
                <a:latin typeface="メイリオ" panose="020B0604030504040204" pitchFamily="50" charset="-128"/>
                <a:ea typeface="メイリオ" panose="020B0604030504040204" pitchFamily="50" charset="-128"/>
                <a:cs typeface="メイリオ"/>
              </a:rPr>
              <a:t>※</a:t>
            </a:r>
            <a:r>
              <a:rPr lang="ja-JP" altLang="en-US" sz="1000" b="1" dirty="0">
                <a:solidFill>
                  <a:srgbClr val="1F2A5C"/>
                </a:solidFill>
                <a:latin typeface="メイリオ" panose="020B0604030504040204" pitchFamily="50" charset="-128"/>
                <a:ea typeface="メイリオ" panose="020B0604030504040204" pitchFamily="50" charset="-128"/>
                <a:cs typeface="メイリオ"/>
              </a:rPr>
              <a:t>入力した内容を</a:t>
            </a:r>
            <a:endParaRPr lang="en-US" altLang="ja-JP" sz="1000" b="1" dirty="0">
              <a:solidFill>
                <a:srgbClr val="1F2A5C"/>
              </a:solidFill>
              <a:latin typeface="メイリオ" panose="020B0604030504040204" pitchFamily="50" charset="-128"/>
              <a:ea typeface="メイリオ" panose="020B0604030504040204" pitchFamily="50" charset="-128"/>
              <a:cs typeface="メイリオ"/>
            </a:endParaRPr>
          </a:p>
          <a:p>
            <a:pPr algn="ctr"/>
            <a:r>
              <a:rPr lang="ja-JP" altLang="en-US" sz="1000" b="1" dirty="0">
                <a:solidFill>
                  <a:srgbClr val="1F2A5C"/>
                </a:solidFill>
                <a:latin typeface="メイリオ" panose="020B0604030504040204" pitchFamily="50" charset="-128"/>
                <a:ea typeface="メイリオ" panose="020B0604030504040204" pitchFamily="50" charset="-128"/>
                <a:cs typeface="メイリオ"/>
              </a:rPr>
              <a:t>トークに反映が可能。</a:t>
            </a:r>
            <a:endParaRPr lang="en-US" altLang="ja-JP" sz="1000" b="1" dirty="0">
              <a:solidFill>
                <a:srgbClr val="1F2A5C"/>
              </a:solidFill>
              <a:latin typeface="メイリオ" panose="020B0604030504040204" pitchFamily="50" charset="-128"/>
              <a:ea typeface="メイリオ" panose="020B0604030504040204" pitchFamily="50" charset="-128"/>
              <a:cs typeface="メイリオ"/>
            </a:endParaRPr>
          </a:p>
        </p:txBody>
      </p:sp>
      <p:grpSp>
        <p:nvGrpSpPr>
          <p:cNvPr id="3" name="グループ化 2">
            <a:extLst>
              <a:ext uri="{FF2B5EF4-FFF2-40B4-BE49-F238E27FC236}">
                <a16:creationId xmlns:a16="http://schemas.microsoft.com/office/drawing/2014/main" id="{99AB0048-465B-06EC-2698-828FB68C7B90}"/>
              </a:ext>
            </a:extLst>
          </p:cNvPr>
          <p:cNvGrpSpPr/>
          <p:nvPr/>
        </p:nvGrpSpPr>
        <p:grpSpPr>
          <a:xfrm>
            <a:off x="543398" y="777681"/>
            <a:ext cx="3105325" cy="485102"/>
            <a:chOff x="507969" y="928495"/>
            <a:chExt cx="3105325" cy="485102"/>
          </a:xfrm>
          <a:solidFill>
            <a:schemeClr val="tx2"/>
          </a:solidFill>
        </p:grpSpPr>
        <p:sp>
          <p:nvSpPr>
            <p:cNvPr id="4" name="Google Shape;51;p19">
              <a:extLst>
                <a:ext uri="{FF2B5EF4-FFF2-40B4-BE49-F238E27FC236}">
                  <a16:creationId xmlns:a16="http://schemas.microsoft.com/office/drawing/2014/main" id="{93586BF1-F8BC-5452-51F7-4513DF4B3FE3}"/>
                </a:ext>
              </a:extLst>
            </p:cNvPr>
            <p:cNvSpPr/>
            <p:nvPr/>
          </p:nvSpPr>
          <p:spPr>
            <a:xfrm>
              <a:off x="507969" y="928495"/>
              <a:ext cx="3105325" cy="485102"/>
            </a:xfrm>
            <a:prstGeom prst="roundRect">
              <a:avLst>
                <a:gd name="adj" fmla="val 16667"/>
              </a:avLst>
            </a:prstGeom>
            <a:grp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F3E849F1-4DB7-C5D3-786D-0D1AECEAE009}"/>
                </a:ext>
              </a:extLst>
            </p:cNvPr>
            <p:cNvSpPr txBox="1"/>
            <p:nvPr/>
          </p:nvSpPr>
          <p:spPr>
            <a:xfrm>
              <a:off x="1140096" y="988192"/>
              <a:ext cx="1832553" cy="357790"/>
            </a:xfrm>
            <a:prstGeom prst="rect">
              <a:avLst/>
            </a:prstGeom>
            <a:grp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サンクス</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LINE</a:t>
              </a: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誘導</a:t>
              </a:r>
            </a:p>
          </p:txBody>
        </p:sp>
      </p:grpSp>
      <p:sp>
        <p:nvSpPr>
          <p:cNvPr id="9" name="正方形/長方形 8">
            <a:extLst>
              <a:ext uri="{FF2B5EF4-FFF2-40B4-BE49-F238E27FC236}">
                <a16:creationId xmlns:a16="http://schemas.microsoft.com/office/drawing/2014/main" id="{59EFBEFD-6BC5-E2FD-1966-9BF5B3ACA1E2}"/>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ja-JP" altLang="en-US" sz="1600" dirty="0">
                <a:latin typeface="メイリオ"/>
                <a:ea typeface="メイリオ"/>
                <a:cs typeface="メイリオ"/>
                <a:sym typeface="Meiryo"/>
              </a:rPr>
              <a:t>サンクス到達時の</a:t>
            </a:r>
            <a:r>
              <a:rPr lang="en-US" altLang="ja-JP" sz="1600" dirty="0">
                <a:latin typeface="メイリオ"/>
                <a:ea typeface="メイリオ"/>
                <a:cs typeface="メイリオ"/>
                <a:sym typeface="Meiryo"/>
              </a:rPr>
              <a:t>LINE</a:t>
            </a:r>
            <a:r>
              <a:rPr lang="ja-JP" altLang="en-US" sz="1600" dirty="0">
                <a:latin typeface="メイリオ"/>
                <a:ea typeface="メイリオ"/>
                <a:cs typeface="メイリオ"/>
                <a:sym typeface="Meiryo"/>
              </a:rPr>
              <a:t>動線が弊社開発により可能に。</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費用を抑えての導入が可能で、新規反響の質改善に寄与。</a:t>
            </a:r>
          </a:p>
        </p:txBody>
      </p:sp>
      <p:sp>
        <p:nvSpPr>
          <p:cNvPr id="14" name="テキスト ボックス 13">
            <a:extLst>
              <a:ext uri="{FF2B5EF4-FFF2-40B4-BE49-F238E27FC236}">
                <a16:creationId xmlns:a16="http://schemas.microsoft.com/office/drawing/2014/main" id="{56453884-60B1-5704-5C42-5665A429B1D1}"/>
              </a:ext>
            </a:extLst>
          </p:cNvPr>
          <p:cNvSpPr txBox="1"/>
          <p:nvPr/>
        </p:nvSpPr>
        <p:spPr>
          <a:xfrm>
            <a:off x="4091506" y="1549623"/>
            <a:ext cx="4718625" cy="230832"/>
          </a:xfrm>
          <a:prstGeom prst="rect">
            <a:avLst/>
          </a:prstGeom>
          <a:noFill/>
        </p:spPr>
        <p:txBody>
          <a:bodyPr wrap="square">
            <a:spAutoFit/>
          </a:bodyPr>
          <a:lstStyle/>
          <a:p>
            <a:r>
              <a:rPr lang="en-US" altLang="ja-JP" sz="900" dirty="0">
                <a:solidFill>
                  <a:srgbClr val="1F2A5C"/>
                </a:solidFill>
                <a:latin typeface="メイリオ" panose="020B0604030504040204" pitchFamily="50" charset="-128"/>
                <a:ea typeface="メイリオ" panose="020B0604030504040204" pitchFamily="50" charset="-128"/>
                <a:cs typeface="メイリオ"/>
                <a:sym typeface="Meiryo"/>
              </a:rPr>
              <a:t>※</a:t>
            </a:r>
            <a:r>
              <a:rPr lang="ja-JP" altLang="en-US" sz="900" dirty="0">
                <a:solidFill>
                  <a:srgbClr val="1F2A5C"/>
                </a:solidFill>
                <a:latin typeface="メイリオ" panose="020B0604030504040204" pitchFamily="50" charset="-128"/>
                <a:ea typeface="メイリオ" panose="020B0604030504040204" pitchFamily="50" charset="-128"/>
                <a:cs typeface="メイリオ"/>
                <a:sym typeface="Meiryo"/>
              </a:rPr>
              <a:t>既存</a:t>
            </a:r>
            <a:r>
              <a:rPr lang="en-US" altLang="ja-JP" sz="900" dirty="0">
                <a:solidFill>
                  <a:srgbClr val="1F2A5C"/>
                </a:solidFill>
                <a:latin typeface="メイリオ" panose="020B0604030504040204" pitchFamily="50" charset="-128"/>
                <a:ea typeface="メイリオ" panose="020B0604030504040204" pitchFamily="50" charset="-128"/>
                <a:cs typeface="メイリオ"/>
                <a:sym typeface="Meiryo"/>
              </a:rPr>
              <a:t>API</a:t>
            </a:r>
            <a:r>
              <a:rPr lang="ja-JP" altLang="en-US" sz="900" dirty="0">
                <a:solidFill>
                  <a:srgbClr val="1F2A5C"/>
                </a:solidFill>
                <a:latin typeface="メイリオ" panose="020B0604030504040204" pitchFamily="50" charset="-128"/>
                <a:ea typeface="メイリオ" panose="020B0604030504040204" pitchFamily="50" charset="-128"/>
                <a:cs typeface="メイリオ"/>
                <a:sym typeface="Meiryo"/>
              </a:rPr>
              <a:t>ツールとの併用についても、問題なく稼働が可能。</a:t>
            </a:r>
            <a:endParaRPr lang="ja-JP" altLang="en-US" sz="900" dirty="0">
              <a:solidFill>
                <a:srgbClr val="1F2A5C"/>
              </a:solidFill>
              <a:latin typeface="メイリオ"/>
              <a:ea typeface="メイリオ"/>
              <a:cs typeface="メイリオ"/>
            </a:endParaRPr>
          </a:p>
        </p:txBody>
      </p:sp>
      <p:sp>
        <p:nvSpPr>
          <p:cNvPr id="8" name="正方形/長方形 7">
            <a:extLst>
              <a:ext uri="{FF2B5EF4-FFF2-40B4-BE49-F238E27FC236}">
                <a16:creationId xmlns:a16="http://schemas.microsoft.com/office/drawing/2014/main" id="{5F399775-D053-4999-7BF8-10B94CF4C6FE}"/>
              </a:ext>
            </a:extLst>
          </p:cNvPr>
          <p:cNvSpPr/>
          <p:nvPr/>
        </p:nvSpPr>
        <p:spPr>
          <a:xfrm>
            <a:off x="5341545" y="1938056"/>
            <a:ext cx="4216009"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26" name="Google Shape;51;p19">
            <a:extLst>
              <a:ext uri="{FF2B5EF4-FFF2-40B4-BE49-F238E27FC236}">
                <a16:creationId xmlns:a16="http://schemas.microsoft.com/office/drawing/2014/main" id="{A8144D94-F2AB-9C06-BFEE-A0ACB1715302}"/>
              </a:ext>
            </a:extLst>
          </p:cNvPr>
          <p:cNvSpPr/>
          <p:nvPr/>
        </p:nvSpPr>
        <p:spPr>
          <a:xfrm>
            <a:off x="543399"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初期：15万円</a:t>
            </a:r>
            <a:endParaRPr sz="1400" b="1" i="0" u="none" strike="noStrike" cap="none" dirty="0">
              <a:solidFill>
                <a:schemeClr val="lt1"/>
              </a:solidFill>
              <a:latin typeface="メイリオ"/>
              <a:ea typeface="メイリオ"/>
              <a:cs typeface="メイリオ"/>
              <a:sym typeface="Meiryo"/>
            </a:endParaRPr>
          </a:p>
        </p:txBody>
      </p:sp>
      <p:sp>
        <p:nvSpPr>
          <p:cNvPr id="28" name="Google Shape;51;p19">
            <a:extLst>
              <a:ext uri="{FF2B5EF4-FFF2-40B4-BE49-F238E27FC236}">
                <a16:creationId xmlns:a16="http://schemas.microsoft.com/office/drawing/2014/main" id="{DEF16EFC-3EF0-A11F-C5A2-CCD96FC766C5}"/>
              </a:ext>
            </a:extLst>
          </p:cNvPr>
          <p:cNvSpPr/>
          <p:nvPr/>
        </p:nvSpPr>
        <p:spPr>
          <a:xfrm>
            <a:off x="2137897"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3</a:t>
            </a:r>
            <a:r>
              <a:rPr lang="ja-JP" altLang="en-US" sz="1400" b="1" i="0" u="none" strike="noStrike" cap="none" dirty="0">
                <a:solidFill>
                  <a:schemeClr val="lt1"/>
                </a:solidFill>
                <a:latin typeface="メイリオ"/>
                <a:ea typeface="メイリオ"/>
                <a:cs typeface="メイリオ"/>
                <a:sym typeface="Meiryo"/>
              </a:rPr>
              <a:t>万円～</a:t>
            </a:r>
            <a:endParaRPr lang="en-US" altLang="ja-JP" sz="1400" b="1" i="0" u="none" strike="noStrike" cap="none" dirty="0">
              <a:solidFill>
                <a:schemeClr val="lt1"/>
              </a:solidFill>
              <a:latin typeface="メイリオ"/>
              <a:ea typeface="メイリオ"/>
              <a:cs typeface="メイリオ"/>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1F2A5C"/>
                </a:solidFill>
                <a:latin typeface="メイリオ"/>
                <a:ea typeface="メイリオ"/>
                <a:cs typeface="メイリオ"/>
                <a:sym typeface="Meiryo"/>
              </a:rPr>
              <a:t>+</a:t>
            </a:r>
            <a:r>
              <a:rPr lang="ja-JP" altLang="en-US" sz="1050" b="1" dirty="0">
                <a:solidFill>
                  <a:srgbClr val="1F2A5C"/>
                </a:solidFill>
                <a:latin typeface="メイリオ"/>
                <a:ea typeface="メイリオ"/>
                <a:cs typeface="メイリオ"/>
                <a:sym typeface="Meiryo"/>
              </a:rPr>
              <a:t>設定地点追加</a:t>
            </a:r>
            <a:endParaRPr sz="1050" b="1" i="0" u="none" strike="noStrike" cap="none" dirty="0">
              <a:solidFill>
                <a:srgbClr val="1F2A5C"/>
              </a:solidFill>
              <a:latin typeface="メイリオ"/>
              <a:ea typeface="メイリオ"/>
              <a:cs typeface="メイリオ"/>
              <a:sym typeface="Meiryo"/>
            </a:endParaRPr>
          </a:p>
        </p:txBody>
      </p:sp>
      <p:sp>
        <p:nvSpPr>
          <p:cNvPr id="31" name="正方形/長方形 30">
            <a:extLst>
              <a:ext uri="{FF2B5EF4-FFF2-40B4-BE49-F238E27FC236}">
                <a16:creationId xmlns:a16="http://schemas.microsoft.com/office/drawing/2014/main" id="{10BD4226-0F03-4184-B60F-A4B0D5C2A14C}"/>
              </a:ext>
            </a:extLst>
          </p:cNvPr>
          <p:cNvSpPr/>
          <p:nvPr/>
        </p:nvSpPr>
        <p:spPr>
          <a:xfrm>
            <a:off x="5500863" y="2551780"/>
            <a:ext cx="3748873"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2" name="正方形/長方形 31">
            <a:extLst>
              <a:ext uri="{FF2B5EF4-FFF2-40B4-BE49-F238E27FC236}">
                <a16:creationId xmlns:a16="http://schemas.microsoft.com/office/drawing/2014/main" id="{18EBDCF6-438E-D689-6C13-7FD918CCDF3C}"/>
              </a:ext>
            </a:extLst>
          </p:cNvPr>
          <p:cNvSpPr/>
          <p:nvPr/>
        </p:nvSpPr>
        <p:spPr>
          <a:xfrm>
            <a:off x="5666814" y="2429705"/>
            <a:ext cx="1859036"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tx1"/>
                </a:solidFill>
                <a:latin typeface="メイリオ" panose="020B0604030504040204" pitchFamily="50" charset="-128"/>
                <a:ea typeface="メイリオ" panose="020B0604030504040204" pitchFamily="50" charset="-128"/>
                <a:cs typeface="メイリオ"/>
              </a:rPr>
              <a:t>既存の</a:t>
            </a:r>
            <a:r>
              <a:rPr lang="en-US" altLang="ja-JP" sz="110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1100" b="1" dirty="0">
                <a:solidFill>
                  <a:schemeClr val="tx1"/>
                </a:solidFill>
                <a:latin typeface="メイリオ" panose="020B0604030504040204" pitchFamily="50" charset="-128"/>
                <a:ea typeface="メイリオ" panose="020B0604030504040204" pitchFamily="50" charset="-128"/>
                <a:cs typeface="メイリオ"/>
              </a:rPr>
              <a:t>友だちの場合</a:t>
            </a:r>
          </a:p>
        </p:txBody>
      </p:sp>
      <p:pic>
        <p:nvPicPr>
          <p:cNvPr id="33" name="図 32" descr="電卓の写真のスマートフォンのスクリーンショット&#10;&#10;AI 生成コンテンツは誤りを含む可能性があります。">
            <a:extLst>
              <a:ext uri="{FF2B5EF4-FFF2-40B4-BE49-F238E27FC236}">
                <a16:creationId xmlns:a16="http://schemas.microsoft.com/office/drawing/2014/main" id="{252A850A-DE67-1AAB-8E3B-575386215750}"/>
              </a:ext>
            </a:extLst>
          </p:cNvPr>
          <p:cNvPicPr>
            <a:picLocks noChangeAspect="1"/>
          </p:cNvPicPr>
          <p:nvPr/>
        </p:nvPicPr>
        <p:blipFill>
          <a:blip r:embed="rId2" cstate="print">
            <a:extLst>
              <a:ext uri="{28A0092B-C50C-407E-A947-70E740481C1C}">
                <a14:useLocalDpi xmlns:a14="http://schemas.microsoft.com/office/drawing/2010/main" val="0"/>
              </a:ext>
            </a:extLst>
          </a:blip>
          <a:srcRect t="4580"/>
          <a:stretch>
            <a:fillRect/>
          </a:stretch>
        </p:blipFill>
        <p:spPr>
          <a:xfrm>
            <a:off x="7691800" y="2287863"/>
            <a:ext cx="1231081" cy="2085098"/>
          </a:xfrm>
          <a:prstGeom prst="rect">
            <a:avLst/>
          </a:prstGeom>
        </p:spPr>
      </p:pic>
      <p:sp>
        <p:nvSpPr>
          <p:cNvPr id="39" name="テキスト ボックス 38">
            <a:extLst>
              <a:ext uri="{FF2B5EF4-FFF2-40B4-BE49-F238E27FC236}">
                <a16:creationId xmlns:a16="http://schemas.microsoft.com/office/drawing/2014/main" id="{11A21BC1-BB4B-B5CB-0B1B-B0AEC0F6766A}"/>
              </a:ext>
            </a:extLst>
          </p:cNvPr>
          <p:cNvSpPr txBox="1"/>
          <p:nvPr/>
        </p:nvSpPr>
        <p:spPr>
          <a:xfrm>
            <a:off x="5664087" y="2877091"/>
            <a:ext cx="1859035" cy="1046440"/>
          </a:xfrm>
          <a:prstGeom prst="rect">
            <a:avLst/>
          </a:prstGeom>
          <a:noFill/>
        </p:spPr>
        <p:txBody>
          <a:bodyPr wrap="square">
            <a:spAutoFit/>
          </a:bodyPr>
          <a:lstStyle/>
          <a:p>
            <a:r>
              <a:rPr kumimoji="1" lang="ja-JP" altLang="en-US" sz="1100" b="1" dirty="0">
                <a:latin typeface="メイリオ" panose="020B0604030504040204" pitchFamily="50" charset="-128"/>
                <a:ea typeface="メイリオ" panose="020B0604030504040204" pitchFamily="50" charset="-128"/>
                <a:cs typeface="メイリオ"/>
              </a:rPr>
              <a:t>公式アカウントの</a:t>
            </a:r>
            <a:r>
              <a:rPr lang="ja-JP" altLang="en-US" sz="1100" b="1" dirty="0">
                <a:latin typeface="メイリオ" panose="020B0604030504040204" pitchFamily="50" charset="-128"/>
                <a:ea typeface="メイリオ" panose="020B0604030504040204" pitchFamily="50" charset="-128"/>
                <a:cs typeface="メイリオ"/>
              </a:rPr>
              <a:t>トーク</a:t>
            </a:r>
            <a:endParaRPr lang="en-US" altLang="ja-JP" sz="1100" b="1" dirty="0">
              <a:latin typeface="メイリオ" panose="020B0604030504040204" pitchFamily="50" charset="-128"/>
              <a:ea typeface="メイリオ" panose="020B0604030504040204" pitchFamily="50" charset="-128"/>
              <a:cs typeface="メイリオ"/>
            </a:endParaRPr>
          </a:p>
          <a:p>
            <a:r>
              <a:rPr lang="ja-JP" altLang="en-US" sz="1100" b="1" dirty="0">
                <a:latin typeface="メイリオ" panose="020B0604030504040204" pitchFamily="50" charset="-128"/>
                <a:ea typeface="メイリオ" panose="020B0604030504040204" pitchFamily="50" charset="-128"/>
                <a:cs typeface="メイリオ"/>
              </a:rPr>
              <a:t>画面</a:t>
            </a:r>
            <a:r>
              <a:rPr lang="ja-JP" altLang="en-US" sz="1100" dirty="0">
                <a:latin typeface="メイリオ" panose="020B0604030504040204" pitchFamily="50" charset="-128"/>
                <a:ea typeface="メイリオ" panose="020B0604030504040204" pitchFamily="50" charset="-128"/>
                <a:cs typeface="メイリオ"/>
              </a:rPr>
              <a:t>へ遷移する。</a:t>
            </a:r>
            <a:endParaRPr lang="en-US" altLang="ja-JP" sz="1100" dirty="0">
              <a:latin typeface="メイリオ" panose="020B0604030504040204" pitchFamily="50" charset="-128"/>
              <a:ea typeface="メイリオ" panose="020B0604030504040204" pitchFamily="50" charset="-128"/>
              <a:cs typeface="メイリオ"/>
            </a:endParaRPr>
          </a:p>
          <a:p>
            <a:r>
              <a:rPr kumimoji="1" lang="en-US" altLang="ja-JP" sz="1000" dirty="0">
                <a:solidFill>
                  <a:srgbClr val="1F2A5C"/>
                </a:solidFill>
                <a:latin typeface="メイリオ" panose="020B0604030504040204" pitchFamily="50" charset="-128"/>
                <a:ea typeface="メイリオ" panose="020B0604030504040204" pitchFamily="50" charset="-128"/>
                <a:cs typeface="メイリオ"/>
              </a:rPr>
              <a:t>※</a:t>
            </a:r>
            <a:r>
              <a:rPr kumimoji="1" lang="ja-JP" altLang="en-US" sz="1000" dirty="0">
                <a:solidFill>
                  <a:srgbClr val="1F2A5C"/>
                </a:solidFill>
                <a:latin typeface="メイリオ" panose="020B0604030504040204" pitchFamily="50" charset="-128"/>
                <a:ea typeface="メイリオ" panose="020B0604030504040204" pitchFamily="50" charset="-128"/>
                <a:cs typeface="メイリオ"/>
              </a:rPr>
              <a:t>設定によりフォーム入力</a:t>
            </a:r>
            <a:endParaRPr kumimoji="1" lang="en-US" altLang="ja-JP" sz="1000" dirty="0">
              <a:solidFill>
                <a:srgbClr val="1F2A5C"/>
              </a:solidFill>
              <a:latin typeface="メイリオ" panose="020B0604030504040204" pitchFamily="50" charset="-128"/>
              <a:ea typeface="メイリオ" panose="020B0604030504040204" pitchFamily="50" charset="-128"/>
              <a:cs typeface="メイリオ"/>
            </a:endParaRPr>
          </a:p>
          <a:p>
            <a:r>
              <a:rPr lang="ja-JP" altLang="en-US" sz="1000" dirty="0">
                <a:solidFill>
                  <a:srgbClr val="1F2A5C"/>
                </a:solidFill>
                <a:latin typeface="メイリオ" panose="020B0604030504040204" pitchFamily="50" charset="-128"/>
                <a:ea typeface="メイリオ" panose="020B0604030504040204" pitchFamily="50" charset="-128"/>
                <a:cs typeface="メイリオ"/>
              </a:rPr>
              <a:t>　内容を踏襲した入力画面</a:t>
            </a:r>
            <a:endParaRPr lang="en-US" altLang="ja-JP" sz="1000" dirty="0">
              <a:solidFill>
                <a:srgbClr val="1F2A5C"/>
              </a:solidFill>
              <a:latin typeface="メイリオ" panose="020B0604030504040204" pitchFamily="50" charset="-128"/>
              <a:ea typeface="メイリオ" panose="020B0604030504040204" pitchFamily="50" charset="-128"/>
              <a:cs typeface="メイリオ"/>
            </a:endParaRPr>
          </a:p>
          <a:p>
            <a:r>
              <a:rPr kumimoji="1" lang="ja-JP" altLang="en-US" sz="1000" dirty="0">
                <a:solidFill>
                  <a:srgbClr val="1F2A5C"/>
                </a:solidFill>
                <a:latin typeface="メイリオ" panose="020B0604030504040204" pitchFamily="50" charset="-128"/>
                <a:ea typeface="メイリオ" panose="020B0604030504040204" pitchFamily="50" charset="-128"/>
                <a:cs typeface="メイリオ"/>
              </a:rPr>
              <a:t>　を表示させることが可能。</a:t>
            </a:r>
            <a:endParaRPr kumimoji="1" lang="en-US" altLang="ja-JP" sz="1000" dirty="0">
              <a:solidFill>
                <a:srgbClr val="1F2A5C"/>
              </a:solidFill>
              <a:latin typeface="メイリオ" panose="020B0604030504040204" pitchFamily="50" charset="-128"/>
              <a:ea typeface="メイリオ" panose="020B0604030504040204" pitchFamily="50" charset="-128"/>
              <a:cs typeface="メイリオ"/>
            </a:endParaRPr>
          </a:p>
          <a:p>
            <a:endParaRPr lang="en-US" altLang="ja-JP" sz="1000" dirty="0">
              <a:solidFill>
                <a:srgbClr val="1F2A5C"/>
              </a:solidFill>
              <a:latin typeface="メイリオ" panose="020B0604030504040204" pitchFamily="50" charset="-128"/>
              <a:ea typeface="メイリオ" panose="020B0604030504040204" pitchFamily="50" charset="-128"/>
              <a:cs typeface="メイリオ"/>
            </a:endParaRPr>
          </a:p>
        </p:txBody>
      </p:sp>
      <p:pic>
        <p:nvPicPr>
          <p:cNvPr id="43" name="図 42">
            <a:extLst>
              <a:ext uri="{FF2B5EF4-FFF2-40B4-BE49-F238E27FC236}">
                <a16:creationId xmlns:a16="http://schemas.microsoft.com/office/drawing/2014/main" id="{5042697E-BCAB-283D-289B-8059CFFDE88F}"/>
              </a:ext>
            </a:extLst>
          </p:cNvPr>
          <p:cNvPicPr>
            <a:picLocks noChangeAspect="1"/>
          </p:cNvPicPr>
          <p:nvPr/>
        </p:nvPicPr>
        <p:blipFill>
          <a:blip r:embed="rId3"/>
          <a:stretch>
            <a:fillRect/>
          </a:stretch>
        </p:blipFill>
        <p:spPr>
          <a:xfrm>
            <a:off x="8088101" y="2284958"/>
            <a:ext cx="334412" cy="74315"/>
          </a:xfrm>
          <a:prstGeom prst="rect">
            <a:avLst/>
          </a:prstGeom>
        </p:spPr>
      </p:pic>
      <p:pic>
        <p:nvPicPr>
          <p:cNvPr id="44" name="図 43">
            <a:extLst>
              <a:ext uri="{FF2B5EF4-FFF2-40B4-BE49-F238E27FC236}">
                <a16:creationId xmlns:a16="http://schemas.microsoft.com/office/drawing/2014/main" id="{592C073E-FA0A-DF63-E2EF-2D654055CD06}"/>
              </a:ext>
            </a:extLst>
          </p:cNvPr>
          <p:cNvPicPr>
            <a:picLocks noChangeAspect="1"/>
          </p:cNvPicPr>
          <p:nvPr/>
        </p:nvPicPr>
        <p:blipFill>
          <a:blip r:embed="rId3"/>
          <a:stretch>
            <a:fillRect/>
          </a:stretch>
        </p:blipFill>
        <p:spPr>
          <a:xfrm>
            <a:off x="8240501" y="2437358"/>
            <a:ext cx="334412" cy="74315"/>
          </a:xfrm>
          <a:prstGeom prst="rect">
            <a:avLst/>
          </a:prstGeom>
        </p:spPr>
      </p:pic>
      <p:cxnSp>
        <p:nvCxnSpPr>
          <p:cNvPr id="52" name="コネクタ: カギ線 51">
            <a:extLst>
              <a:ext uri="{FF2B5EF4-FFF2-40B4-BE49-F238E27FC236}">
                <a16:creationId xmlns:a16="http://schemas.microsoft.com/office/drawing/2014/main" id="{8357B78E-00F3-6A09-133E-FA44D96E056A}"/>
              </a:ext>
            </a:extLst>
          </p:cNvPr>
          <p:cNvCxnSpPr>
            <a:cxnSpLocks/>
          </p:cNvCxnSpPr>
          <p:nvPr/>
        </p:nvCxnSpPr>
        <p:spPr>
          <a:xfrm flipV="1">
            <a:off x="7364945" y="3065322"/>
            <a:ext cx="574585" cy="332494"/>
          </a:xfrm>
          <a:prstGeom prst="bentConnector3">
            <a:avLst>
              <a:gd name="adj1" fmla="val 50000"/>
            </a:avLst>
          </a:prstGeom>
          <a:ln w="15875">
            <a:solidFill>
              <a:srgbClr val="1F2A5C"/>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60" name="テキスト ボックス 59">
            <a:extLst>
              <a:ext uri="{FF2B5EF4-FFF2-40B4-BE49-F238E27FC236}">
                <a16:creationId xmlns:a16="http://schemas.microsoft.com/office/drawing/2014/main" id="{B3F147E1-85AD-880C-67E9-D8D7B09A8DA1}"/>
              </a:ext>
            </a:extLst>
          </p:cNvPr>
          <p:cNvSpPr txBox="1"/>
          <p:nvPr/>
        </p:nvSpPr>
        <p:spPr>
          <a:xfrm>
            <a:off x="5530932" y="4525127"/>
            <a:ext cx="3730896" cy="1269917"/>
          </a:xfrm>
          <a:prstGeom prst="rect">
            <a:avLst/>
          </a:prstGeom>
          <a:solidFill>
            <a:srgbClr val="F2F2F2"/>
          </a:solidFill>
        </p:spPr>
        <p:txBody>
          <a:bodyPr wrap="square" anchor="ctr">
            <a:spAutoFit/>
          </a:bodyPr>
          <a:lstStyle/>
          <a:p>
            <a:pPr algn="ctr"/>
            <a:r>
              <a:rPr lang="ja-JP" altLang="en-US" sz="1400" b="1" dirty="0">
                <a:latin typeface="メイリオ" panose="020B0604030504040204" pitchFamily="50" charset="-128"/>
                <a:ea typeface="メイリオ" panose="020B0604030504040204" pitchFamily="50" charset="-128"/>
                <a:cs typeface="メイリオ"/>
              </a:rPr>
              <a:t>非友だち　：　友だち追加</a:t>
            </a:r>
            <a:r>
              <a:rPr lang="en-US" altLang="ja-JP" sz="1400" b="1" dirty="0">
                <a:latin typeface="メイリオ" panose="020B0604030504040204" pitchFamily="50" charset="-128"/>
                <a:ea typeface="メイリオ" panose="020B0604030504040204" pitchFamily="50" charset="-128"/>
                <a:cs typeface="メイリオ"/>
              </a:rPr>
              <a:t>CTA</a:t>
            </a:r>
          </a:p>
          <a:p>
            <a:pPr algn="ctr"/>
            <a:r>
              <a:rPr lang="ja-JP" altLang="en-US" sz="1400" b="1" dirty="0">
                <a:latin typeface="メイリオ" panose="020B0604030504040204" pitchFamily="50" charset="-128"/>
                <a:ea typeface="メイリオ" panose="020B0604030504040204" pitchFamily="50" charset="-128"/>
                <a:cs typeface="メイリオ"/>
              </a:rPr>
              <a:t>友だち　：　入力項目</a:t>
            </a:r>
            <a:endParaRPr lang="en-US" altLang="ja-JP" sz="1400" b="1" dirty="0">
              <a:latin typeface="メイリオ" panose="020B0604030504040204" pitchFamily="50" charset="-128"/>
              <a:ea typeface="メイリオ" panose="020B0604030504040204" pitchFamily="50" charset="-128"/>
              <a:cs typeface="メイリオ"/>
            </a:endParaRPr>
          </a:p>
          <a:p>
            <a:pPr algn="ctr"/>
            <a:r>
              <a:rPr lang="ja-JP" altLang="en-US" sz="1400" b="1" dirty="0">
                <a:latin typeface="メイリオ" panose="020B0604030504040204" pitchFamily="50" charset="-128"/>
                <a:ea typeface="メイリオ" panose="020B0604030504040204" pitchFamily="50" charset="-128"/>
                <a:cs typeface="メイリオ"/>
              </a:rPr>
              <a:t>↓</a:t>
            </a:r>
            <a:endParaRPr lang="en-US" altLang="ja-JP" sz="1400" b="1" dirty="0">
              <a:latin typeface="メイリオ" panose="020B0604030504040204" pitchFamily="50" charset="-128"/>
              <a:ea typeface="メイリオ" panose="020B0604030504040204" pitchFamily="50" charset="-128"/>
              <a:cs typeface="メイリオ"/>
            </a:endParaRPr>
          </a:p>
          <a:p>
            <a:pPr algn="ctr"/>
            <a:r>
              <a:rPr kumimoji="1" lang="ja-JP" altLang="en-US" sz="1400" b="1" dirty="0">
                <a:solidFill>
                  <a:srgbClr val="1F2A5C"/>
                </a:solidFill>
                <a:latin typeface="メイリオ" panose="020B0604030504040204" pitchFamily="50" charset="-128"/>
                <a:ea typeface="メイリオ" panose="020B0604030504040204" pitchFamily="50" charset="-128"/>
                <a:cs typeface="メイリオ"/>
              </a:rPr>
              <a:t>配信セグメントとして活用</a:t>
            </a:r>
            <a:endParaRPr kumimoji="1" lang="en-US" altLang="ja-JP" sz="14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62" name="正方形/長方形 61">
            <a:extLst>
              <a:ext uri="{FF2B5EF4-FFF2-40B4-BE49-F238E27FC236}">
                <a16:creationId xmlns:a16="http://schemas.microsoft.com/office/drawing/2014/main" id="{C34094D4-4FAE-D245-6147-C35E71DD4CC8}"/>
              </a:ext>
            </a:extLst>
          </p:cNvPr>
          <p:cNvSpPr/>
          <p:nvPr/>
        </p:nvSpPr>
        <p:spPr>
          <a:xfrm>
            <a:off x="443011" y="2307629"/>
            <a:ext cx="2399777"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セミナー予約</a:t>
            </a:r>
          </a:p>
        </p:txBody>
      </p:sp>
      <p:sp>
        <p:nvSpPr>
          <p:cNvPr id="1025" name="正方形/長方形 1024">
            <a:extLst>
              <a:ext uri="{FF2B5EF4-FFF2-40B4-BE49-F238E27FC236}">
                <a16:creationId xmlns:a16="http://schemas.microsoft.com/office/drawing/2014/main" id="{5BF4A25A-82A2-0487-DB4D-8B89F895CBB0}"/>
              </a:ext>
            </a:extLst>
          </p:cNvPr>
          <p:cNvSpPr/>
          <p:nvPr/>
        </p:nvSpPr>
        <p:spPr>
          <a:xfrm>
            <a:off x="2891617" y="2307628"/>
            <a:ext cx="2399777"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サロン申込み</a:t>
            </a:r>
          </a:p>
        </p:txBody>
      </p:sp>
      <p:sp>
        <p:nvSpPr>
          <p:cNvPr id="1033" name="矢印: 下 1032">
            <a:extLst>
              <a:ext uri="{FF2B5EF4-FFF2-40B4-BE49-F238E27FC236}">
                <a16:creationId xmlns:a16="http://schemas.microsoft.com/office/drawing/2014/main" id="{3277AE2F-ADD2-3317-20C0-EEAE2FCBE973}"/>
              </a:ext>
            </a:extLst>
          </p:cNvPr>
          <p:cNvSpPr/>
          <p:nvPr/>
        </p:nvSpPr>
        <p:spPr>
          <a:xfrm>
            <a:off x="1144266" y="5160085"/>
            <a:ext cx="1075862" cy="244151"/>
          </a:xfrm>
          <a:prstGeom prst="down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037" name="矢印: 下 1036">
            <a:extLst>
              <a:ext uri="{FF2B5EF4-FFF2-40B4-BE49-F238E27FC236}">
                <a16:creationId xmlns:a16="http://schemas.microsoft.com/office/drawing/2014/main" id="{0C880EC7-0A21-CB31-B621-DEC827B415EF}"/>
              </a:ext>
            </a:extLst>
          </p:cNvPr>
          <p:cNvSpPr/>
          <p:nvPr/>
        </p:nvSpPr>
        <p:spPr>
          <a:xfrm>
            <a:off x="3553574" y="5160084"/>
            <a:ext cx="1075862" cy="244151"/>
          </a:xfrm>
          <a:prstGeom prst="down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045" name="正方形/長方形 1044">
            <a:extLst>
              <a:ext uri="{FF2B5EF4-FFF2-40B4-BE49-F238E27FC236}">
                <a16:creationId xmlns:a16="http://schemas.microsoft.com/office/drawing/2014/main" id="{FB7AE13E-85F8-C517-848B-5313A3CFA572}"/>
              </a:ext>
            </a:extLst>
          </p:cNvPr>
          <p:cNvSpPr/>
          <p:nvPr/>
        </p:nvSpPr>
        <p:spPr>
          <a:xfrm>
            <a:off x="443011" y="5505059"/>
            <a:ext cx="2399777" cy="922901"/>
          </a:xfrm>
          <a:prstGeom prst="rect">
            <a:avLst/>
          </a:prstGeom>
          <a:solidFill>
            <a:schemeClr val="bg1">
              <a:lumMod val="95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kumimoji="1"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予約内容の登録</a:t>
            </a:r>
            <a:endParaRPr kumimoji="1"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LINEに遷移</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前日・当日のお知らせが開始</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1047" name="正方形/長方形 1046">
            <a:extLst>
              <a:ext uri="{FF2B5EF4-FFF2-40B4-BE49-F238E27FC236}">
                <a16:creationId xmlns:a16="http://schemas.microsoft.com/office/drawing/2014/main" id="{F033AA41-B418-A490-2721-21F61A63D10C}"/>
              </a:ext>
            </a:extLst>
          </p:cNvPr>
          <p:cNvSpPr/>
          <p:nvPr/>
        </p:nvSpPr>
        <p:spPr>
          <a:xfrm>
            <a:off x="2891617" y="5505058"/>
            <a:ext cx="2399777" cy="922901"/>
          </a:xfrm>
          <a:prstGeom prst="rect">
            <a:avLst/>
          </a:prstGeom>
          <a:solidFill>
            <a:schemeClr val="bg1">
              <a:lumMod val="95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申込み内容の登録</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LINEに遷移</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入会後のご案内が開始</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1050" name="差し込み LPの予約フォーム"/>
          <p:cNvSpPr/>
          <p:nvPr/>
        </p:nvSpPr>
        <p:spPr>
          <a:xfrm>
            <a:off x="598364" y="2610452"/>
            <a:ext cx="2159695" cy="2425925"/>
          </a:xfrm>
          <a:prstGeom prst="rect">
            <a:avLst/>
          </a:prstGeom>
          <a:noFill/>
          <a:ln w="9525">
            <a:solidFill>
              <a:srgbClr val="7F7F7F"/>
            </a:solidFill>
            <a:prstDash val="dash"/>
          </a:ln>
        </p:spPr>
        <p:txBody>
          <a:bodyPr wrap="square" lIns="73152" tIns="36576" rIns="73152" bIns="36576" rtlCol="0" anchor="ctr">
            <a:noAutofit/>
          </a:bodyPr>
          <a:lstStyle/>
          <a:p>
            <a:pPr algn="ctr">
              <a:buNone/>
            </a:pPr>
            <a:r>
              <a:rPr lang="ja-JP" altLang="en-US" sz="1200" b="1" dirty="0">
                <a:solidFill>
                  <a:srgbClr val="7F7F7F"/>
                </a:solidFill>
                <a:latin typeface="メイリオ" panose="020B0604030504040204" pitchFamily="50" charset="-128"/>
                <a:ea typeface="メイリオ" panose="020B0604030504040204" pitchFamily="50" charset="-128"/>
                <a:cs typeface="メイリオ"/>
              </a:rPr>
              <a:t>LPの予約フォーム</a:t>
            </a:r>
            <a:endParaRPr lang="ja-JP" altLang="en-US" sz="1200" dirty="0">
              <a:latin typeface="メイリオ"/>
              <a:ea typeface="メイリオ"/>
              <a:cs typeface="メイリオ"/>
            </a:endParaRPr>
          </a:p>
        </p:txBody>
      </p:sp>
      <p:sp>
        <p:nvSpPr>
          <p:cNvPr id="1051" name="差し込み サロンの申込みページ"/>
          <p:cNvSpPr/>
          <p:nvPr/>
        </p:nvSpPr>
        <p:spPr>
          <a:xfrm>
            <a:off x="2891617" y="2590927"/>
            <a:ext cx="2399777" cy="2544560"/>
          </a:xfrm>
          <a:prstGeom prst="rect">
            <a:avLst/>
          </a:prstGeom>
          <a:noFill/>
          <a:ln w="9525">
            <a:solidFill>
              <a:srgbClr val="7F7F7F"/>
            </a:solidFill>
            <a:prstDash val="dash"/>
          </a:ln>
        </p:spPr>
        <p:txBody>
          <a:bodyPr wrap="square" lIns="73152" tIns="36576" rIns="73152" bIns="36576" rtlCol="0" anchor="ctr">
            <a:noAutofit/>
          </a:bodyPr>
          <a:lstStyle/>
          <a:p>
            <a:pPr algn="ctr">
              <a:buNone/>
            </a:pPr>
            <a:r>
              <a:rPr lang="ja-JP" altLang="en-US" sz="1200" b="1" dirty="0">
                <a:solidFill>
                  <a:srgbClr val="7F7F7F"/>
                </a:solidFill>
                <a:latin typeface="メイリオ" panose="020B0604030504040204" pitchFamily="50" charset="-128"/>
                <a:ea typeface="メイリオ" panose="020B0604030504040204" pitchFamily="50" charset="-128"/>
                <a:cs typeface="メイリオ"/>
              </a:rPr>
              <a:t>サロンの申込みページ</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424760062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341AF-76F7-F354-A08C-287945F04D7D}"/>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CEDF5177-0A5C-5E57-5AEC-2A3A0A3E97A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（通知メッセージ）</a:t>
            </a:r>
          </a:p>
        </p:txBody>
      </p:sp>
      <p:grpSp>
        <p:nvGrpSpPr>
          <p:cNvPr id="3" name="グループ化 2">
            <a:extLst>
              <a:ext uri="{FF2B5EF4-FFF2-40B4-BE49-F238E27FC236}">
                <a16:creationId xmlns:a16="http://schemas.microsoft.com/office/drawing/2014/main" id="{40037302-E6AA-0829-6AB4-E8C68E0B5350}"/>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596B7C8B-2830-475F-54BD-39885C61FB2A}"/>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5F77E149-8797-8964-2351-34587DDB9A0B}"/>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通知メッセージ</a:t>
              </a:r>
            </a:p>
          </p:txBody>
        </p:sp>
      </p:grpSp>
      <p:sp>
        <p:nvSpPr>
          <p:cNvPr id="9" name="正方形/長方形 8">
            <a:extLst>
              <a:ext uri="{FF2B5EF4-FFF2-40B4-BE49-F238E27FC236}">
                <a16:creationId xmlns:a16="http://schemas.microsoft.com/office/drawing/2014/main" id="{C076E43E-4FBE-86BD-F3B4-70DD95B2A175}"/>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上のアクションユーザー、貴社保有リスト をターゲット</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3BC521D4-BDAA-5741-5164-4E22535838BC}"/>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10</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77" name="Google Shape;51;p19">
            <a:extLst>
              <a:ext uri="{FF2B5EF4-FFF2-40B4-BE49-F238E27FC236}">
                <a16:creationId xmlns:a16="http://schemas.microsoft.com/office/drawing/2014/main" id="{91E7069A-2F1F-16FB-F2FD-E91D9E716C95}"/>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8</a:t>
            </a:r>
            <a:r>
              <a:rPr lang="ja-JP" altLang="en-US" sz="1400" b="1" i="0" u="none" strike="noStrike" cap="none" dirty="0">
                <a:solidFill>
                  <a:schemeClr val="lt1"/>
                </a:solidFill>
                <a:latin typeface="メイリオ"/>
                <a:ea typeface="メイリオ"/>
                <a:cs typeface="メイリオ"/>
                <a:sym typeface="Meiryo"/>
              </a:rPr>
              <a:t>万円～</a:t>
            </a:r>
            <a:endParaRPr lang="en-US" altLang="ja-JP" sz="1400" b="1" i="0" u="none" strike="noStrike" cap="none" dirty="0">
              <a:solidFill>
                <a:schemeClr val="lt1"/>
              </a:solidFill>
              <a:latin typeface="メイリオ"/>
              <a:ea typeface="メイリオ"/>
              <a:cs typeface="メイリオ"/>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FF"/>
                </a:solidFill>
                <a:latin typeface="メイリオ"/>
                <a:ea typeface="メイリオ"/>
                <a:cs typeface="メイリオ"/>
                <a:sym typeface="Meiryo"/>
              </a:rPr>
              <a:t>+</a:t>
            </a:r>
            <a:r>
              <a:rPr lang="ja-JP" altLang="en-US" sz="1050" b="1" dirty="0">
                <a:solidFill>
                  <a:srgbClr val="FFFFFF"/>
                </a:solidFill>
                <a:latin typeface="メイリオ"/>
                <a:ea typeface="メイリオ"/>
                <a:cs typeface="メイリオ"/>
                <a:sym typeface="Meiryo"/>
              </a:rPr>
              <a:t>通数単価：</a:t>
            </a:r>
            <a:r>
              <a:rPr lang="en-US" altLang="ja-JP" sz="1050" b="1" dirty="0">
                <a:solidFill>
                  <a:srgbClr val="FFFFFF"/>
                </a:solidFill>
                <a:latin typeface="メイリオ"/>
                <a:ea typeface="メイリオ"/>
                <a:cs typeface="メイリオ"/>
                <a:sym typeface="Meiryo"/>
              </a:rPr>
              <a:t>7</a:t>
            </a:r>
            <a:r>
              <a:rPr lang="ja-JP" altLang="en-US" sz="1050" b="1" dirty="0">
                <a:solidFill>
                  <a:srgbClr val="FFFFFF"/>
                </a:solidFill>
                <a:latin typeface="メイリオ"/>
                <a:ea typeface="メイリオ"/>
                <a:cs typeface="メイリオ"/>
                <a:sym typeface="Meiryo"/>
              </a:rPr>
              <a:t>円</a:t>
            </a:r>
            <a:endParaRPr sz="1050" b="1" i="0" u="none" strike="noStrike" cap="none" dirty="0">
              <a:solidFill>
                <a:srgbClr val="FFFFFF"/>
              </a:solidFill>
              <a:latin typeface="メイリオ"/>
              <a:ea typeface="メイリオ"/>
              <a:cs typeface="メイリオ"/>
              <a:sym typeface="Meiryo"/>
            </a:endParaRPr>
          </a:p>
        </p:txBody>
      </p:sp>
      <p:sp>
        <p:nvSpPr>
          <p:cNvPr id="79" name="正方形/長方形 78">
            <a:extLst>
              <a:ext uri="{FF2B5EF4-FFF2-40B4-BE49-F238E27FC236}">
                <a16:creationId xmlns:a16="http://schemas.microsoft.com/office/drawing/2014/main" id="{B31CA3DA-9F8B-560D-3F3E-1B37667D3043}"/>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cs typeface="メイリオ"/>
            </a:endParaRPr>
          </a:p>
        </p:txBody>
      </p:sp>
      <p:pic>
        <p:nvPicPr>
          <p:cNvPr id="82" name="図 81">
            <a:extLst>
              <a:ext uri="{FF2B5EF4-FFF2-40B4-BE49-F238E27FC236}">
                <a16:creationId xmlns:a16="http://schemas.microsoft.com/office/drawing/2014/main" id="{8B5BACB1-E619-75E8-84E9-0C790B13F4E4}"/>
              </a:ext>
            </a:extLst>
          </p:cNvPr>
          <p:cNvPicPr>
            <a:picLocks noChangeAspect="1"/>
          </p:cNvPicPr>
          <p:nvPr/>
        </p:nvPicPr>
        <p:blipFill>
          <a:blip r:embed="rId2"/>
          <a:stretch>
            <a:fillRect/>
          </a:stretch>
        </p:blipFill>
        <p:spPr>
          <a:xfrm>
            <a:off x="532512" y="4787607"/>
            <a:ext cx="3533302" cy="1714690"/>
          </a:xfrm>
          <a:prstGeom prst="rect">
            <a:avLst/>
          </a:prstGeom>
        </p:spPr>
      </p:pic>
      <p:pic>
        <p:nvPicPr>
          <p:cNvPr id="84" name="図 83">
            <a:extLst>
              <a:ext uri="{FF2B5EF4-FFF2-40B4-BE49-F238E27FC236}">
                <a16:creationId xmlns:a16="http://schemas.microsoft.com/office/drawing/2014/main" id="{A2B50304-2B09-7BB6-6FD5-2122ADB3185D}"/>
              </a:ext>
            </a:extLst>
          </p:cNvPr>
          <p:cNvPicPr>
            <a:picLocks noChangeAspect="1"/>
          </p:cNvPicPr>
          <p:nvPr/>
        </p:nvPicPr>
        <p:blipFill>
          <a:blip r:embed="rId3"/>
          <a:stretch>
            <a:fillRect/>
          </a:stretch>
        </p:blipFill>
        <p:spPr>
          <a:xfrm>
            <a:off x="4065814" y="4801141"/>
            <a:ext cx="1586275" cy="1701156"/>
          </a:xfrm>
          <a:prstGeom prst="rect">
            <a:avLst/>
          </a:prstGeom>
        </p:spPr>
      </p:pic>
      <p:pic>
        <p:nvPicPr>
          <p:cNvPr id="86" name="図 85">
            <a:extLst>
              <a:ext uri="{FF2B5EF4-FFF2-40B4-BE49-F238E27FC236}">
                <a16:creationId xmlns:a16="http://schemas.microsoft.com/office/drawing/2014/main" id="{FBAEE1FF-4E25-D523-E0EA-6A3361C12E5A}"/>
              </a:ext>
            </a:extLst>
          </p:cNvPr>
          <p:cNvPicPr>
            <a:picLocks noChangeAspect="1"/>
          </p:cNvPicPr>
          <p:nvPr/>
        </p:nvPicPr>
        <p:blipFill>
          <a:blip r:embed="rId4"/>
          <a:stretch>
            <a:fillRect/>
          </a:stretch>
        </p:blipFill>
        <p:spPr>
          <a:xfrm>
            <a:off x="5988432" y="2468072"/>
            <a:ext cx="3362361" cy="1977297"/>
          </a:xfrm>
          <a:prstGeom prst="rect">
            <a:avLst/>
          </a:prstGeom>
        </p:spPr>
      </p:pic>
      <p:pic>
        <p:nvPicPr>
          <p:cNvPr id="88" name="図 87">
            <a:extLst>
              <a:ext uri="{FF2B5EF4-FFF2-40B4-BE49-F238E27FC236}">
                <a16:creationId xmlns:a16="http://schemas.microsoft.com/office/drawing/2014/main" id="{3517C81E-3BB9-067B-DB2E-F6109D78F069}"/>
              </a:ext>
            </a:extLst>
          </p:cNvPr>
          <p:cNvPicPr>
            <a:picLocks noChangeAspect="1"/>
          </p:cNvPicPr>
          <p:nvPr/>
        </p:nvPicPr>
        <p:blipFill>
          <a:blip r:embed="rId5"/>
          <a:stretch>
            <a:fillRect/>
          </a:stretch>
        </p:blipFill>
        <p:spPr>
          <a:xfrm>
            <a:off x="5927443" y="4787607"/>
            <a:ext cx="3471994" cy="1626185"/>
          </a:xfrm>
          <a:prstGeom prst="rect">
            <a:avLst/>
          </a:prstGeom>
        </p:spPr>
      </p:pic>
      <p:sp>
        <p:nvSpPr>
          <p:cNvPr id="90" name="正方形/長方形 89">
            <a:extLst>
              <a:ext uri="{FF2B5EF4-FFF2-40B4-BE49-F238E27FC236}">
                <a16:creationId xmlns:a16="http://schemas.microsoft.com/office/drawing/2014/main" id="{DAE064A8-FF19-CBAF-1BB4-15234EAFE4C3}"/>
              </a:ext>
            </a:extLst>
          </p:cNvPr>
          <p:cNvSpPr/>
          <p:nvPr/>
        </p:nvSpPr>
        <p:spPr>
          <a:xfrm>
            <a:off x="5941518" y="2223921"/>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tx1"/>
                </a:solidFill>
                <a:latin typeface="メイリオ" panose="020B0604030504040204" pitchFamily="50" charset="-128"/>
                <a:ea typeface="メイリオ" panose="020B0604030504040204" pitchFamily="50" charset="-128"/>
                <a:cs typeface="メイリオ"/>
              </a:rPr>
              <a:t>佐川急便</a:t>
            </a:r>
            <a:endParaRPr kumimoji="1" lang="ja-JP" altLang="en-US" sz="11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92" name="正方形/長方形 91">
            <a:extLst>
              <a:ext uri="{FF2B5EF4-FFF2-40B4-BE49-F238E27FC236}">
                <a16:creationId xmlns:a16="http://schemas.microsoft.com/office/drawing/2014/main" id="{D4794AD6-6F68-15DB-7568-78E492020B13}"/>
              </a:ext>
            </a:extLst>
          </p:cNvPr>
          <p:cNvSpPr/>
          <p:nvPr/>
        </p:nvSpPr>
        <p:spPr>
          <a:xfrm>
            <a:off x="5941518" y="4499415"/>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tx1"/>
                </a:solidFill>
                <a:latin typeface="メイリオ" panose="020B0604030504040204" pitchFamily="50" charset="-128"/>
                <a:ea typeface="メイリオ" panose="020B0604030504040204" pitchFamily="50" charset="-128"/>
                <a:cs typeface="メイリオ"/>
              </a:rPr>
              <a:t>やまや（</a:t>
            </a:r>
            <a:r>
              <a:rPr kumimoji="1" lang="en-US" altLang="ja-JP" sz="1100" dirty="0">
                <a:solidFill>
                  <a:schemeClr val="tx1"/>
                </a:solidFill>
                <a:latin typeface="メイリオ" panose="020B0604030504040204" pitchFamily="50" charset="-128"/>
                <a:ea typeface="メイリオ" panose="020B0604030504040204" pitchFamily="50" charset="-128"/>
                <a:cs typeface="メイリオ"/>
              </a:rPr>
              <a:t>EC</a:t>
            </a:r>
            <a:r>
              <a:rPr kumimoji="1" lang="ja-JP" altLang="en-US" sz="1100" dirty="0">
                <a:solidFill>
                  <a:schemeClr val="tx1"/>
                </a:solidFill>
                <a:latin typeface="メイリオ" panose="020B0604030504040204" pitchFamily="50" charset="-128"/>
                <a:ea typeface="メイリオ" panose="020B0604030504040204" pitchFamily="50" charset="-128"/>
                <a:cs typeface="メイリオ"/>
              </a:rPr>
              <a:t>）</a:t>
            </a:r>
          </a:p>
        </p:txBody>
      </p:sp>
      <p:sp>
        <p:nvSpPr>
          <p:cNvPr id="94" name="テキスト ボックス 93">
            <a:extLst>
              <a:ext uri="{FF2B5EF4-FFF2-40B4-BE49-F238E27FC236}">
                <a16:creationId xmlns:a16="http://schemas.microsoft.com/office/drawing/2014/main" id="{89F8E75C-F7C6-511B-BA1F-6EB60A9DEADA}"/>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1F2A5C"/>
                </a:solidFill>
                <a:latin typeface="メイリオ" panose="020B0604030504040204" pitchFamily="50" charset="-128"/>
                <a:ea typeface="メイリオ" panose="020B0604030504040204" pitchFamily="50" charset="-128"/>
                <a:cs typeface="メイリオ"/>
              </a:rPr>
              <a:t>Sales Partner</a:t>
            </a:r>
            <a:r>
              <a:rPr lang="ja-JP" altLang="en-US" sz="900" dirty="0">
                <a:solidFill>
                  <a:srgbClr val="1F2A5C"/>
                </a:solidFill>
                <a:latin typeface="メイリオ" panose="020B0604030504040204" pitchFamily="50" charset="-128"/>
                <a:ea typeface="メイリオ" panose="020B0604030504040204" pitchFamily="50" charset="-128"/>
                <a:cs typeface="メイリオ"/>
              </a:rPr>
              <a:t>、</a:t>
            </a:r>
            <a:r>
              <a:rPr lang="en-US" altLang="ja-JP" sz="900" dirty="0">
                <a:solidFill>
                  <a:srgbClr val="1F2A5C"/>
                </a:solidFill>
                <a:latin typeface="メイリオ" panose="020B0604030504040204" pitchFamily="50" charset="-128"/>
                <a:ea typeface="メイリオ" panose="020B0604030504040204" pitchFamily="50" charset="-128"/>
                <a:cs typeface="メイリオ"/>
              </a:rPr>
              <a:t>Tech Partner</a:t>
            </a:r>
            <a:r>
              <a:rPr lang="ja-JP" altLang="en-US" sz="900" dirty="0">
                <a:solidFill>
                  <a:srgbClr val="1F2A5C"/>
                </a:solidFill>
                <a:latin typeface="メイリオ" panose="020B0604030504040204" pitchFamily="50" charset="-128"/>
                <a:ea typeface="メイリオ" panose="020B0604030504040204" pitchFamily="50" charset="-128"/>
                <a:cs typeface="メイリオ"/>
              </a:rPr>
              <a:t>限定公開の</a:t>
            </a:r>
            <a:r>
              <a:rPr lang="en-US" altLang="ja-JP" sz="900" dirty="0">
                <a:solidFill>
                  <a:srgbClr val="1F2A5C"/>
                </a:solidFill>
                <a:latin typeface="メイリオ" panose="020B0604030504040204" pitchFamily="50" charset="-128"/>
                <a:ea typeface="メイリオ" panose="020B0604030504040204" pitchFamily="50" charset="-128"/>
                <a:cs typeface="メイリオ"/>
              </a:rPr>
              <a:t>API</a:t>
            </a:r>
            <a:r>
              <a:rPr lang="ja-JP" altLang="en-US" sz="900" dirty="0">
                <a:solidFill>
                  <a:srgbClr val="1F2A5C"/>
                </a:solidFill>
                <a:latin typeface="メイリオ" panose="020B0604030504040204" pitchFamily="50" charset="-128"/>
                <a:ea typeface="メイリオ" panose="020B0604030504040204" pitchFamily="50" charset="-128"/>
                <a:cs typeface="メイリオ"/>
              </a:rPr>
              <a:t>を使用した機能です。</a:t>
            </a:r>
          </a:p>
        </p:txBody>
      </p:sp>
      <p:sp>
        <p:nvSpPr>
          <p:cNvPr id="96" name="正方形/長方形 95">
            <a:extLst>
              <a:ext uri="{FF2B5EF4-FFF2-40B4-BE49-F238E27FC236}">
                <a16:creationId xmlns:a16="http://schemas.microsoft.com/office/drawing/2014/main" id="{6569B015-2B51-9A35-9379-E64729B15375}"/>
              </a:ext>
            </a:extLst>
          </p:cNvPr>
          <p:cNvSpPr/>
          <p:nvPr/>
        </p:nvSpPr>
        <p:spPr>
          <a:xfrm>
            <a:off x="543398" y="1938056"/>
            <a:ext cx="4981102"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利用可能シーン</a:t>
            </a:r>
          </a:p>
        </p:txBody>
      </p:sp>
      <p:pic>
        <p:nvPicPr>
          <p:cNvPr id="7" name="図 6">
            <a:extLst>
              <a:ext uri="{FF2B5EF4-FFF2-40B4-BE49-F238E27FC236}">
                <a16:creationId xmlns:a16="http://schemas.microsoft.com/office/drawing/2014/main" id="{00862346-A302-637E-2976-3985B23ED00C}"/>
              </a:ext>
            </a:extLst>
          </p:cNvPr>
          <p:cNvPicPr>
            <a:picLocks noChangeAspect="1"/>
          </p:cNvPicPr>
          <p:nvPr/>
        </p:nvPicPr>
        <p:blipFill>
          <a:blip r:embed="rId6"/>
          <a:stretch>
            <a:fillRect/>
          </a:stretch>
        </p:blipFill>
        <p:spPr>
          <a:xfrm>
            <a:off x="381811" y="2197911"/>
            <a:ext cx="5286856" cy="2497015"/>
          </a:xfrm>
          <a:prstGeom prst="rect">
            <a:avLst/>
          </a:prstGeom>
        </p:spPr>
      </p:pic>
      <p:sp>
        <p:nvSpPr>
          <p:cNvPr id="10" name="テキスト ボックス 9">
            <a:extLst>
              <a:ext uri="{FF2B5EF4-FFF2-40B4-BE49-F238E27FC236}">
                <a16:creationId xmlns:a16="http://schemas.microsoft.com/office/drawing/2014/main" id="{63354FD4-3595-E9AA-7603-C702E42E9BD1}"/>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1F2A5C"/>
                </a:solidFill>
                <a:latin typeface="メイリオ" panose="020B0604030504040204" pitchFamily="50" charset="-128"/>
                <a:ea typeface="メイリオ" panose="020B0604030504040204" pitchFamily="50" charset="-128"/>
                <a:cs typeface="メイリオ"/>
              </a:rPr>
              <a:t>料金プランにより通数単価、利用可能機能が異なります。</a:t>
            </a:r>
          </a:p>
        </p:txBody>
      </p:sp>
    </p:spTree>
    <p:extLst>
      <p:ext uri="{BB962C8B-B14F-4D97-AF65-F5344CB8AC3E}">
        <p14:creationId xmlns:p14="http://schemas.microsoft.com/office/powerpoint/2010/main" val="373103120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EB58E-2E23-6D6E-492D-03C38E7A1D6F}"/>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B579369E-F53C-FDC8-7374-AB2F5B31CD4F}"/>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（通知メッセージ）</a:t>
            </a:r>
          </a:p>
        </p:txBody>
      </p:sp>
      <p:grpSp>
        <p:nvGrpSpPr>
          <p:cNvPr id="3" name="グループ化 2">
            <a:extLst>
              <a:ext uri="{FF2B5EF4-FFF2-40B4-BE49-F238E27FC236}">
                <a16:creationId xmlns:a16="http://schemas.microsoft.com/office/drawing/2014/main" id="{16CDA247-29F1-37E2-FCEA-D79F4493519C}"/>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BB8D843F-BDAA-6DE1-DFCE-2A6A73C04E2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D91D75E4-A706-8EF4-1ECC-1D62C09F934E}"/>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通知メッセージ</a:t>
              </a:r>
            </a:p>
          </p:txBody>
        </p:sp>
      </p:grpSp>
      <p:sp>
        <p:nvSpPr>
          <p:cNvPr id="9" name="正方形/長方形 8">
            <a:extLst>
              <a:ext uri="{FF2B5EF4-FFF2-40B4-BE49-F238E27FC236}">
                <a16:creationId xmlns:a16="http://schemas.microsoft.com/office/drawing/2014/main" id="{F191580C-EA72-3903-0A46-57D229D5027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上のアクションユーザー、貴社保有リスト をターゲット</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5B83E274-8AAB-1C88-48EF-6D543C0091D3}"/>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10</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77" name="Google Shape;51;p19">
            <a:extLst>
              <a:ext uri="{FF2B5EF4-FFF2-40B4-BE49-F238E27FC236}">
                <a16:creationId xmlns:a16="http://schemas.microsoft.com/office/drawing/2014/main" id="{1ACE7ABA-DEAD-27A6-7DA0-D29E467F0A0D}"/>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8</a:t>
            </a:r>
            <a:r>
              <a:rPr lang="ja-JP" altLang="en-US" sz="1400" b="1" i="0" u="none" strike="noStrike" cap="none" dirty="0">
                <a:solidFill>
                  <a:schemeClr val="lt1"/>
                </a:solidFill>
                <a:latin typeface="メイリオ"/>
                <a:ea typeface="メイリオ"/>
                <a:cs typeface="メイリオ"/>
                <a:sym typeface="Meiryo"/>
              </a:rPr>
              <a:t>万円～</a:t>
            </a:r>
            <a:endParaRPr lang="en-US" altLang="ja-JP" sz="1400" b="1" i="0" u="none" strike="noStrike" cap="none" dirty="0">
              <a:solidFill>
                <a:schemeClr val="lt1"/>
              </a:solidFill>
              <a:latin typeface="メイリオ"/>
              <a:ea typeface="メイリオ"/>
              <a:cs typeface="メイリオ"/>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FF"/>
                </a:solidFill>
                <a:latin typeface="メイリオ"/>
                <a:ea typeface="メイリオ"/>
                <a:cs typeface="メイリオ"/>
                <a:sym typeface="Meiryo"/>
              </a:rPr>
              <a:t>+</a:t>
            </a:r>
            <a:r>
              <a:rPr lang="ja-JP" altLang="en-US" sz="1050" b="1" dirty="0">
                <a:solidFill>
                  <a:srgbClr val="FFFFFF"/>
                </a:solidFill>
                <a:latin typeface="メイリオ"/>
                <a:ea typeface="メイリオ"/>
                <a:cs typeface="メイリオ"/>
                <a:sym typeface="Meiryo"/>
              </a:rPr>
              <a:t>通数単価：</a:t>
            </a:r>
            <a:r>
              <a:rPr lang="en-US" altLang="ja-JP" sz="1050" b="1" dirty="0">
                <a:solidFill>
                  <a:srgbClr val="FFFFFF"/>
                </a:solidFill>
                <a:latin typeface="メイリオ"/>
                <a:ea typeface="メイリオ"/>
                <a:cs typeface="メイリオ"/>
                <a:sym typeface="Meiryo"/>
              </a:rPr>
              <a:t>7</a:t>
            </a:r>
            <a:r>
              <a:rPr lang="ja-JP" altLang="en-US" sz="1050" b="1" dirty="0">
                <a:solidFill>
                  <a:srgbClr val="FFFFFF"/>
                </a:solidFill>
                <a:latin typeface="メイリオ"/>
                <a:ea typeface="メイリオ"/>
                <a:cs typeface="メイリオ"/>
                <a:sym typeface="Meiryo"/>
              </a:rPr>
              <a:t>円</a:t>
            </a:r>
            <a:endParaRPr sz="1050" b="1" i="0" u="none" strike="noStrike" cap="none" dirty="0">
              <a:solidFill>
                <a:srgbClr val="FFFFFF"/>
              </a:solidFill>
              <a:latin typeface="メイリオ"/>
              <a:ea typeface="メイリオ"/>
              <a:cs typeface="メイリオ"/>
              <a:sym typeface="Meiryo"/>
            </a:endParaRPr>
          </a:p>
        </p:txBody>
      </p:sp>
      <p:sp>
        <p:nvSpPr>
          <p:cNvPr id="94" name="テキスト ボックス 93">
            <a:extLst>
              <a:ext uri="{FF2B5EF4-FFF2-40B4-BE49-F238E27FC236}">
                <a16:creationId xmlns:a16="http://schemas.microsoft.com/office/drawing/2014/main" id="{6BA13AD6-A7FE-E393-39F7-12604E6F2A59}"/>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1F2A5C"/>
                </a:solidFill>
                <a:latin typeface="メイリオ" panose="020B0604030504040204" pitchFamily="50" charset="-128"/>
                <a:ea typeface="メイリオ" panose="020B0604030504040204" pitchFamily="50" charset="-128"/>
                <a:cs typeface="メイリオ"/>
              </a:rPr>
              <a:t>Sales Partner</a:t>
            </a:r>
            <a:r>
              <a:rPr lang="ja-JP" altLang="en-US" sz="900" dirty="0">
                <a:solidFill>
                  <a:srgbClr val="1F2A5C"/>
                </a:solidFill>
                <a:latin typeface="メイリオ" panose="020B0604030504040204" pitchFamily="50" charset="-128"/>
                <a:ea typeface="メイリオ" panose="020B0604030504040204" pitchFamily="50" charset="-128"/>
                <a:cs typeface="メイリオ"/>
              </a:rPr>
              <a:t>、</a:t>
            </a:r>
            <a:r>
              <a:rPr lang="en-US" altLang="ja-JP" sz="900" dirty="0">
                <a:solidFill>
                  <a:srgbClr val="1F2A5C"/>
                </a:solidFill>
                <a:latin typeface="メイリオ" panose="020B0604030504040204" pitchFamily="50" charset="-128"/>
                <a:ea typeface="メイリオ" panose="020B0604030504040204" pitchFamily="50" charset="-128"/>
                <a:cs typeface="メイリオ"/>
              </a:rPr>
              <a:t>Tech Partner</a:t>
            </a:r>
            <a:r>
              <a:rPr lang="ja-JP" altLang="en-US" sz="900" dirty="0">
                <a:solidFill>
                  <a:srgbClr val="1F2A5C"/>
                </a:solidFill>
                <a:latin typeface="メイリオ" panose="020B0604030504040204" pitchFamily="50" charset="-128"/>
                <a:ea typeface="メイリオ" panose="020B0604030504040204" pitchFamily="50" charset="-128"/>
                <a:cs typeface="メイリオ"/>
              </a:rPr>
              <a:t>限定公開の</a:t>
            </a:r>
            <a:r>
              <a:rPr lang="en-US" altLang="ja-JP" sz="900" dirty="0">
                <a:solidFill>
                  <a:srgbClr val="1F2A5C"/>
                </a:solidFill>
                <a:latin typeface="メイリオ" panose="020B0604030504040204" pitchFamily="50" charset="-128"/>
                <a:ea typeface="メイリオ" panose="020B0604030504040204" pitchFamily="50" charset="-128"/>
                <a:cs typeface="メイリオ"/>
              </a:rPr>
              <a:t>API</a:t>
            </a:r>
            <a:r>
              <a:rPr lang="ja-JP" altLang="en-US" sz="900" dirty="0">
                <a:solidFill>
                  <a:srgbClr val="1F2A5C"/>
                </a:solidFill>
                <a:latin typeface="メイリオ" panose="020B0604030504040204" pitchFamily="50" charset="-128"/>
                <a:ea typeface="メイリオ" panose="020B0604030504040204" pitchFamily="50" charset="-128"/>
                <a:cs typeface="メイリオ"/>
              </a:rPr>
              <a:t>を使用した機能です。</a:t>
            </a:r>
          </a:p>
        </p:txBody>
      </p:sp>
      <p:sp>
        <p:nvSpPr>
          <p:cNvPr id="6" name="テキスト ボックス 5">
            <a:extLst>
              <a:ext uri="{FF2B5EF4-FFF2-40B4-BE49-F238E27FC236}">
                <a16:creationId xmlns:a16="http://schemas.microsoft.com/office/drawing/2014/main" id="{52DBA794-F4DB-834A-6EBA-1F38E3EB8D25}"/>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1F2A5C"/>
                </a:solidFill>
                <a:latin typeface="メイリオ" panose="020B0604030504040204" pitchFamily="50" charset="-128"/>
                <a:ea typeface="メイリオ" panose="020B0604030504040204" pitchFamily="50" charset="-128"/>
                <a:cs typeface="メイリオ"/>
              </a:rPr>
              <a:t>料金プランにより通数単価、利用可能機能が異なります。</a:t>
            </a:r>
          </a:p>
        </p:txBody>
      </p:sp>
      <p:pic>
        <p:nvPicPr>
          <p:cNvPr id="8" name="図 7">
            <a:extLst>
              <a:ext uri="{FF2B5EF4-FFF2-40B4-BE49-F238E27FC236}">
                <a16:creationId xmlns:a16="http://schemas.microsoft.com/office/drawing/2014/main" id="{6FEAB905-6FFF-5D16-B66E-DAD05A44B7D7}"/>
              </a:ext>
            </a:extLst>
          </p:cNvPr>
          <p:cNvPicPr>
            <a:picLocks noChangeAspect="1"/>
          </p:cNvPicPr>
          <p:nvPr/>
        </p:nvPicPr>
        <p:blipFill>
          <a:blip r:embed="rId2"/>
          <a:stretch>
            <a:fillRect/>
          </a:stretch>
        </p:blipFill>
        <p:spPr>
          <a:xfrm>
            <a:off x="543398" y="1953516"/>
            <a:ext cx="8918385" cy="4389153"/>
          </a:xfrm>
          <a:prstGeom prst="rect">
            <a:avLst/>
          </a:prstGeom>
        </p:spPr>
      </p:pic>
      <p:sp>
        <p:nvSpPr>
          <p:cNvPr id="11" name="Google Shape;51;p19">
            <a:extLst>
              <a:ext uri="{FF2B5EF4-FFF2-40B4-BE49-F238E27FC236}">
                <a16:creationId xmlns:a16="http://schemas.microsoft.com/office/drawing/2014/main" id="{3A8AD54E-DAE5-1F54-4C9C-6EA993DDD1A7}"/>
              </a:ext>
            </a:extLst>
          </p:cNvPr>
          <p:cNvSpPr/>
          <p:nvPr/>
        </p:nvSpPr>
        <p:spPr>
          <a:xfrm>
            <a:off x="6635873" y="5673123"/>
            <a:ext cx="2647463" cy="331332"/>
          </a:xfrm>
          <a:prstGeom prst="roundRect">
            <a:avLst>
              <a:gd name="adj" fmla="val 16667"/>
            </a:avLst>
          </a:prstGeom>
          <a:solidFill>
            <a:schemeClr val="tx1">
              <a:lumMod val="50000"/>
              <a:lumOff val="50000"/>
            </a:scheme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100" i="0" u="none" strike="noStrike" cap="none" dirty="0">
                <a:solidFill>
                  <a:schemeClr val="lt1"/>
                </a:solidFill>
                <a:latin typeface="メイリオ"/>
                <a:ea typeface="メイリオ"/>
                <a:cs typeface="メイリオ"/>
                <a:sym typeface="Meiryo"/>
              </a:rPr>
              <a:t>利用可能なシーン一例</a:t>
            </a:r>
            <a:endParaRPr sz="900" i="0" u="none" strike="noStrike" cap="none" dirty="0">
              <a:solidFill>
                <a:srgbClr val="FFFFFF"/>
              </a:solidFill>
              <a:latin typeface="メイリオ"/>
              <a:ea typeface="メイリオ"/>
              <a:cs typeface="メイリオ"/>
              <a:sym typeface="Meiryo"/>
            </a:endParaRPr>
          </a:p>
        </p:txBody>
      </p:sp>
    </p:spTree>
    <p:extLst>
      <p:ext uri="{BB962C8B-B14F-4D97-AF65-F5344CB8AC3E}">
        <p14:creationId xmlns:p14="http://schemas.microsoft.com/office/powerpoint/2010/main" val="179584884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0D4D3-02EA-A5F1-D13F-557CC4270B1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4CE82040-EC6A-3624-AB86-12AD7F91F31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AB48BF19-1E81-18F2-64BE-979545FAE824}"/>
              </a:ext>
            </a:extLst>
          </p:cNvPr>
          <p:cNvSpPr/>
          <p:nvPr/>
        </p:nvSpPr>
        <p:spPr>
          <a:xfrm>
            <a:off x="4245125" y="3038203"/>
            <a:ext cx="1415772"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費用感</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261937549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F76251-095F-A186-E17A-8A0E4C5D95A8}"/>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A67513FB-FEEF-76F5-5394-A1A2495F0489}"/>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弊社想定シミュレーション</a:t>
            </a:r>
          </a:p>
        </p:txBody>
      </p:sp>
      <p:sp>
        <p:nvSpPr>
          <p:cNvPr id="9" name="正方形/長方形 8">
            <a:extLst>
              <a:ext uri="{FF2B5EF4-FFF2-40B4-BE49-F238E27FC236}">
                <a16:creationId xmlns:a16="http://schemas.microsoft.com/office/drawing/2014/main" id="{5CF6CD71-4C48-796A-BD54-E778269A9308}"/>
              </a:ext>
            </a:extLst>
          </p:cNvPr>
          <p:cNvSpPr/>
          <p:nvPr/>
        </p:nvSpPr>
        <p:spPr>
          <a:xfrm>
            <a:off x="0" y="77724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b="1" dirty="0">
                <a:latin typeface="メイリオ" panose="020B0604030504040204" pitchFamily="50" charset="-128"/>
                <a:ea typeface="メイリオ" panose="020B0604030504040204" pitchFamily="50" charset="-128"/>
                <a:cs typeface="メイリオ"/>
              </a:rPr>
              <a:t>成果報酬プラン</a:t>
            </a:r>
            <a:endParaRPr kumimoji="1" lang="ja-JP" altLang="en-US" sz="1400" b="1" dirty="0">
              <a:latin typeface="メイリオ" panose="020B0604030504040204" pitchFamily="50" charset="-128"/>
              <a:ea typeface="メイリオ" panose="020B0604030504040204" pitchFamily="50" charset="-128"/>
              <a:cs typeface="メイリオ"/>
            </a:endParaRPr>
          </a:p>
        </p:txBody>
      </p:sp>
      <p:sp>
        <p:nvSpPr>
          <p:cNvPr id="5" name="Google Shape;752;p28">
            <a:extLst>
              <a:ext uri="{FF2B5EF4-FFF2-40B4-BE49-F238E27FC236}">
                <a16:creationId xmlns:a16="http://schemas.microsoft.com/office/drawing/2014/main" id="{6C35AEF3-D15B-5805-4919-629E6F4207CC}"/>
              </a:ext>
            </a:extLst>
          </p:cNvPr>
          <p:cNvSpPr txBox="1"/>
          <p:nvPr/>
        </p:nvSpPr>
        <p:spPr>
          <a:xfrm>
            <a:off x="2914650" y="762211"/>
            <a:ext cx="6619875" cy="584735"/>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メイリオ"/>
                <a:sym typeface="Meiryo"/>
              </a:rPr>
              <a:t>固定費用を最低限に抑えた成果報酬プラン。</a:t>
            </a:r>
            <a:endParaRPr lang="en-US" altLang="ja-JP" sz="1600" b="1" dirty="0">
              <a:latin typeface="メイリオ" panose="020B0604030504040204" pitchFamily="50" charset="-128"/>
              <a:ea typeface="メイリオ" panose="020B0604030504040204" pitchFamily="50" charset="-128"/>
              <a:cs typeface="メイリオ"/>
              <a:sym typeface="Meiryo"/>
            </a:endParaRPr>
          </a:p>
          <a:p>
            <a:r>
              <a:rPr lang="ja-JP" altLang="en-US" sz="1600" b="1" dirty="0">
                <a:latin typeface="メイリオ" panose="020B0604030504040204" pitchFamily="50" charset="-128"/>
                <a:ea typeface="メイリオ" panose="020B0604030504040204" pitchFamily="50" charset="-128"/>
                <a:cs typeface="メイリオ"/>
                <a:sym typeface="Meiryo"/>
              </a:rPr>
              <a:t>友だち追加はポップアップ・サンクスLINE誘導で実施。</a:t>
            </a:r>
          </a:p>
        </p:txBody>
      </p:sp>
      <p:graphicFrame>
        <p:nvGraphicFramePr>
          <p:cNvPr id="10" name="表 9">
            <a:extLst>
              <a:ext uri="{FF2B5EF4-FFF2-40B4-BE49-F238E27FC236}">
                <a16:creationId xmlns:a16="http://schemas.microsoft.com/office/drawing/2014/main" id="{373BB3E3-90D5-C9C7-977E-47D9526D91C0}"/>
              </a:ext>
            </a:extLst>
          </p:cNvPr>
          <p:cNvGraphicFramePr>
            <a:graphicFrameLocks noGrp="1"/>
          </p:cNvGraphicFramePr>
          <p:nvPr>
            <p:extLst>
              <p:ext uri="{D42A27DB-BD31-4B8C-83A1-F6EECF244321}">
                <p14:modId xmlns:p14="http://schemas.microsoft.com/office/powerpoint/2010/main" val="2015453067"/>
              </p:ext>
            </p:extLst>
          </p:nvPr>
        </p:nvGraphicFramePr>
        <p:xfrm>
          <a:off x="373644" y="1512320"/>
          <a:ext cx="9160881" cy="4384560"/>
        </p:xfrm>
        <a:graphic>
          <a:graphicData uri="http://schemas.openxmlformats.org/drawingml/2006/table">
            <a:tbl>
              <a:tblPr/>
              <a:tblGrid>
                <a:gridCol w="850771">
                  <a:extLst>
                    <a:ext uri="{9D8B030D-6E8A-4147-A177-3AD203B41FA5}">
                      <a16:colId xmlns:a16="http://schemas.microsoft.com/office/drawing/2014/main" val="3867224301"/>
                    </a:ext>
                  </a:extLst>
                </a:gridCol>
                <a:gridCol w="1817254">
                  <a:extLst>
                    <a:ext uri="{9D8B030D-6E8A-4147-A177-3AD203B41FA5}">
                      <a16:colId xmlns:a16="http://schemas.microsoft.com/office/drawing/2014/main" val="2056063786"/>
                    </a:ext>
                  </a:extLst>
                </a:gridCol>
                <a:gridCol w="345351">
                  <a:extLst>
                    <a:ext uri="{9D8B030D-6E8A-4147-A177-3AD203B41FA5}">
                      <a16:colId xmlns:a16="http://schemas.microsoft.com/office/drawing/2014/main" val="1012593074"/>
                    </a:ext>
                  </a:extLst>
                </a:gridCol>
                <a:gridCol w="878215">
                  <a:extLst>
                    <a:ext uri="{9D8B030D-6E8A-4147-A177-3AD203B41FA5}">
                      <a16:colId xmlns:a16="http://schemas.microsoft.com/office/drawing/2014/main" val="2172484671"/>
                    </a:ext>
                  </a:extLst>
                </a:gridCol>
                <a:gridCol w="878215">
                  <a:extLst>
                    <a:ext uri="{9D8B030D-6E8A-4147-A177-3AD203B41FA5}">
                      <a16:colId xmlns:a16="http://schemas.microsoft.com/office/drawing/2014/main" val="1153368013"/>
                    </a:ext>
                  </a:extLst>
                </a:gridCol>
                <a:gridCol w="878215">
                  <a:extLst>
                    <a:ext uri="{9D8B030D-6E8A-4147-A177-3AD203B41FA5}">
                      <a16:colId xmlns:a16="http://schemas.microsoft.com/office/drawing/2014/main" val="2957558946"/>
                    </a:ext>
                  </a:extLst>
                </a:gridCol>
                <a:gridCol w="878215">
                  <a:extLst>
                    <a:ext uri="{9D8B030D-6E8A-4147-A177-3AD203B41FA5}">
                      <a16:colId xmlns:a16="http://schemas.microsoft.com/office/drawing/2014/main" val="1694855242"/>
                    </a:ext>
                  </a:extLst>
                </a:gridCol>
                <a:gridCol w="878215">
                  <a:extLst>
                    <a:ext uri="{9D8B030D-6E8A-4147-A177-3AD203B41FA5}">
                      <a16:colId xmlns:a16="http://schemas.microsoft.com/office/drawing/2014/main" val="1514979199"/>
                    </a:ext>
                  </a:extLst>
                </a:gridCol>
                <a:gridCol w="878215">
                  <a:extLst>
                    <a:ext uri="{9D8B030D-6E8A-4147-A177-3AD203B41FA5}">
                      <a16:colId xmlns:a16="http://schemas.microsoft.com/office/drawing/2014/main" val="2507566632"/>
                    </a:ext>
                  </a:extLst>
                </a:gridCol>
                <a:gridCol w="878215">
                  <a:extLst>
                    <a:ext uri="{9D8B030D-6E8A-4147-A177-3AD203B41FA5}">
                      <a16:colId xmlns:a16="http://schemas.microsoft.com/office/drawing/2014/main" val="710882296"/>
                    </a:ext>
                  </a:extLst>
                </a:gridCol>
              </a:tblGrid>
              <a:tr h="153092">
                <a:tc gridSpan="2">
                  <a:txBody>
                    <a:bodyPr/>
                    <a:lstStyle/>
                    <a:p>
                      <a:pPr algn="ctr" fontAlgn="ctr">
                        <a:buNone/>
                      </a:pPr>
                      <a:r>
                        <a:rPr lang="ja-JP" sz="800" b="1" i="0" u="none" strike="noStrike" dirty="0">
                          <a:solidFill>
                            <a:srgbClr val="FFFFFF"/>
                          </a:solidFill>
                          <a:effectLst/>
                          <a:latin typeface="メイリオ" panose="020B0604030504040204" pitchFamily="50" charset="-128"/>
                          <a:ea typeface="メイリオ" panose="020B0604030504040204" pitchFamily="50" charset="-128"/>
                          <a:cs typeface="メイリオ"/>
                        </a:rPr>
                        <a:t>項目</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0"/>
                    </a:solidFill>
                  </a:tcPr>
                </a:tc>
                <a:tc hMerge="1">
                  <a:txBody>
                    <a:bodyPr/>
                    <a:lstStyle/>
                    <a:p>
                      <a:endParaRPr kumimoji="1" lang="ja-JP" altLang="en-US">
                        <a:latin typeface="メイリオ"/>
                        <a:ea typeface="メイリオ"/>
                        <a:cs typeface="メイリオ"/>
                      </a:endParaRPr>
                    </a:p>
                  </a:txBody>
                  <a:tcPr/>
                </a:tc>
                <a:tc>
                  <a:txBody>
                    <a:bodyPr/>
                    <a:lstStyle/>
                    <a:p>
                      <a:pPr algn="ctr" fontAlgn="ctr">
                        <a:buNone/>
                      </a:pPr>
                      <a:r>
                        <a:rPr lang="ja-JP" sz="800" b="1" i="0" u="none" strike="noStrike">
                          <a:solidFill>
                            <a:srgbClr val="FFFFFF"/>
                          </a:solidFill>
                          <a:effectLst/>
                          <a:latin typeface="メイリオ" panose="020B0604030504040204" pitchFamily="50" charset="-128"/>
                          <a:ea typeface="メイリオ" panose="020B0604030504040204" pitchFamily="50" charset="-128"/>
                          <a:cs typeface="メイリオ"/>
                        </a:rPr>
                        <a:t>　</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lumMod val="65000"/>
                        <a:lumOff val="35000"/>
                      </a:schemeClr>
                    </a:solidFill>
                  </a:tcPr>
                </a:tc>
                <a:tc>
                  <a:txBody>
                    <a:bodyPr/>
                    <a:lstStyle/>
                    <a:p>
                      <a:pPr algn="l"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　※↓現状数値</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sz="800" b="1" i="0" u="none" strike="noStrike">
                          <a:solidFill>
                            <a:srgbClr val="FFFFFF"/>
                          </a:solidFill>
                          <a:effectLst/>
                          <a:latin typeface="メイリオ" panose="020B0604030504040204" pitchFamily="50" charset="-128"/>
                          <a:ea typeface="メイリオ" panose="020B0604030504040204" pitchFamily="50" charset="-128"/>
                          <a:cs typeface="メイリオ"/>
                        </a:rPr>
                        <a:t>1か月目</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0"/>
                    </a:solidFill>
                  </a:tcPr>
                </a:tc>
                <a:tc>
                  <a:txBody>
                    <a:bodyPr/>
                    <a:lstStyle/>
                    <a:p>
                      <a:pPr algn="ctr" fontAlgn="ctr">
                        <a:buNone/>
                      </a:pPr>
                      <a:r>
                        <a:rPr lang="ja-JP" sz="800" b="1" i="0" u="none" strike="noStrike">
                          <a:solidFill>
                            <a:srgbClr val="FFFFFF"/>
                          </a:solidFill>
                          <a:effectLst/>
                          <a:latin typeface="メイリオ" panose="020B0604030504040204" pitchFamily="50" charset="-128"/>
                          <a:ea typeface="メイリオ" panose="020B0604030504040204" pitchFamily="50" charset="-128"/>
                          <a:cs typeface="メイリオ"/>
                        </a:rPr>
                        <a:t>2か月目</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0"/>
                    </a:solidFill>
                  </a:tcPr>
                </a:tc>
                <a:tc>
                  <a:txBody>
                    <a:bodyPr/>
                    <a:lstStyle/>
                    <a:p>
                      <a:pPr algn="ctr" fontAlgn="ctr">
                        <a:buNone/>
                      </a:pPr>
                      <a:r>
                        <a:rPr lang="ja-JP" sz="800" b="1" i="0" u="none" strike="noStrike">
                          <a:solidFill>
                            <a:srgbClr val="FFFFFF"/>
                          </a:solidFill>
                          <a:effectLst/>
                          <a:latin typeface="メイリオ" panose="020B0604030504040204" pitchFamily="50" charset="-128"/>
                          <a:ea typeface="メイリオ" panose="020B0604030504040204" pitchFamily="50" charset="-128"/>
                          <a:cs typeface="メイリオ"/>
                        </a:rPr>
                        <a:t>3か月目</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0"/>
                    </a:solidFill>
                  </a:tcPr>
                </a:tc>
                <a:tc>
                  <a:txBody>
                    <a:bodyPr/>
                    <a:lstStyle/>
                    <a:p>
                      <a:pPr algn="ctr" fontAlgn="ctr">
                        <a:buNone/>
                      </a:pPr>
                      <a:r>
                        <a:rPr lang="ja-JP" sz="800" b="1" i="0" u="none" strike="noStrike">
                          <a:solidFill>
                            <a:srgbClr val="FFFFFF"/>
                          </a:solidFill>
                          <a:effectLst/>
                          <a:latin typeface="メイリオ" panose="020B0604030504040204" pitchFamily="50" charset="-128"/>
                          <a:ea typeface="メイリオ" panose="020B0604030504040204" pitchFamily="50" charset="-128"/>
                          <a:cs typeface="メイリオ"/>
                        </a:rPr>
                        <a:t>4か月目</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0"/>
                    </a:solidFill>
                  </a:tcPr>
                </a:tc>
                <a:tc>
                  <a:txBody>
                    <a:bodyPr/>
                    <a:lstStyle/>
                    <a:p>
                      <a:pPr algn="ctr" fontAlgn="ctr">
                        <a:buNone/>
                      </a:pPr>
                      <a:r>
                        <a:rPr lang="ja-JP" sz="800" b="1" i="0" u="none" strike="noStrike">
                          <a:solidFill>
                            <a:srgbClr val="FFFFFF"/>
                          </a:solidFill>
                          <a:effectLst/>
                          <a:latin typeface="メイリオ" panose="020B0604030504040204" pitchFamily="50" charset="-128"/>
                          <a:ea typeface="メイリオ" panose="020B0604030504040204" pitchFamily="50" charset="-128"/>
                          <a:cs typeface="メイリオ"/>
                        </a:rPr>
                        <a:t>5か月目</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0"/>
                    </a:solidFill>
                  </a:tcPr>
                </a:tc>
                <a:tc>
                  <a:txBody>
                    <a:bodyPr/>
                    <a:lstStyle/>
                    <a:p>
                      <a:pPr algn="ctr" fontAlgn="ctr">
                        <a:buNone/>
                      </a:pPr>
                      <a:r>
                        <a:rPr lang="ja-JP" sz="800" b="1" i="0" u="none" strike="noStrike">
                          <a:solidFill>
                            <a:srgbClr val="FFFFFF"/>
                          </a:solidFill>
                          <a:effectLst/>
                          <a:latin typeface="メイリオ" panose="020B0604030504040204" pitchFamily="50" charset="-128"/>
                          <a:ea typeface="メイリオ" panose="020B0604030504040204" pitchFamily="50" charset="-128"/>
                          <a:cs typeface="メイリオ"/>
                        </a:rPr>
                        <a:t>6か月目</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0"/>
                    </a:solidFill>
                  </a:tcPr>
                </a:tc>
                <a:extLst>
                  <a:ext uri="{0D108BD9-81ED-4DB2-BD59-A6C34878D82A}">
                    <a16:rowId xmlns:a16="http://schemas.microsoft.com/office/drawing/2014/main" val="3498939455"/>
                  </a:ext>
                </a:extLst>
              </a:tr>
              <a:tr h="159216">
                <a:tc rowSpan="3">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WEBサイト</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UU全体</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　</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tx1">
                        <a:lumMod val="65000"/>
                        <a:lumOff val="35000"/>
                      </a:schemeClr>
                    </a:solid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3,000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3,000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300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300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3,000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300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300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58738628"/>
                  </a:ext>
                </a:extLst>
              </a:tr>
              <a:tr h="15921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UU(うち広告)</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　</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tx1">
                        <a:lumMod val="65000"/>
                        <a:lumOff val="35000"/>
                      </a:schemeClr>
                    </a:solid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3,000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3,000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300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300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3,000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300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300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80331908"/>
                  </a:ext>
                </a:extLst>
              </a:tr>
              <a:tr h="15921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CV（別施策） ※想定</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　</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tx1">
                        <a:lumMod val="65000"/>
                        <a:lumOff val="35000"/>
                      </a:schemeClr>
                    </a:solid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80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80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80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64469365"/>
                  </a:ext>
                </a:extLst>
              </a:tr>
              <a:tr h="153092">
                <a:tc rowSpan="5">
                  <a:txBody>
                    <a:bodyPr/>
                    <a:lstStyle/>
                    <a:p>
                      <a:pPr algn="ctr" fontAlgn="ctr">
                        <a:buNone/>
                      </a:pPr>
                      <a:r>
                        <a:rPr 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施策</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buNone/>
                      </a:pPr>
                      <a:r>
                        <a:rPr lang="ja-JP" sz="800" b="0" i="0" u="none" strike="noStrike" dirty="0">
                          <a:solidFill>
                            <a:srgbClr val="A6A6A6"/>
                          </a:solidFill>
                          <a:effectLst/>
                          <a:latin typeface="メイリオ" panose="020B0604030504040204" pitchFamily="50" charset="-128"/>
                          <a:ea typeface="メイリオ" panose="020B0604030504040204" pitchFamily="50" charset="-128"/>
                          <a:cs typeface="メイリオ"/>
                        </a:rPr>
                        <a:t>CPF</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800" b="0" i="0" u="none" strike="noStrike">
                        <a:solidFill>
                          <a:srgbClr val="A6A6A6"/>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tx1">
                        <a:lumMod val="65000"/>
                        <a:lumOff val="35000"/>
                      </a:schemeClr>
                    </a:solidFill>
                  </a:tcPr>
                </a:tc>
                <a:tc>
                  <a:txBody>
                    <a:bodyPr/>
                    <a:lstStyle/>
                    <a:p>
                      <a:pPr algn="ctr" fontAlgn="ctr">
                        <a:buNone/>
                      </a:pPr>
                      <a:endParaRPr 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
                      </a:r>
                      <a:endParaRPr 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
                      </a:r>
                      <a:endParaRPr 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
                      </a:r>
                      <a:endParaRPr 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
                      </a:r>
                      <a:endParaRPr 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
                      </a:r>
                      <a:endParaRPr 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
                      </a:r>
                      <a:endParaRPr 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61821568"/>
                  </a:ext>
                </a:extLst>
              </a:tr>
              <a:tr h="153092">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sz="800" b="0" i="0" u="none" strike="noStrike">
                          <a:solidFill>
                            <a:srgbClr val="A6A6A6"/>
                          </a:solidFill>
                          <a:effectLst/>
                          <a:latin typeface="メイリオ" panose="020B0604030504040204" pitchFamily="50" charset="-128"/>
                          <a:ea typeface="メイリオ" panose="020B0604030504040204" pitchFamily="50" charset="-128"/>
                          <a:cs typeface="メイリオ"/>
                        </a:rPr>
                        <a:t>ポップアップツール</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800" b="0" i="0" u="none" strike="noStrike">
                        <a:solidFill>
                          <a:srgbClr val="A6A6A6"/>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tx1">
                        <a:lumMod val="65000"/>
                        <a:lumOff val="35000"/>
                      </a:schemeClr>
                    </a:solidFill>
                  </a:tcPr>
                </a:tc>
                <a:tc>
                  <a:txBody>
                    <a:bodyPr/>
                    <a:lstStyle/>
                    <a:p>
                      <a:pPr algn="ctr" fontAlgn="ctr">
                        <a:buNone/>
                      </a:pPr>
                      <a:endPar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実施予定</a:t>
                      </a:r>
                      <a:endParaRPr 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実施予定</a:t>
                      </a:r>
                      <a:endParaRPr 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実施予定</a:t>
                      </a:r>
                      <a:endParaRPr 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実施予定</a:t>
                      </a:r>
                      <a:endParaRPr 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実施予定</a:t>
                      </a:r>
                      <a:endParaRPr 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実施予定</a:t>
                      </a:r>
                      <a:endParaRPr 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94871047"/>
                  </a:ext>
                </a:extLst>
              </a:tr>
              <a:tr h="153092">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sz="800" b="0" i="0" u="none" strike="noStrike">
                          <a:solidFill>
                            <a:srgbClr val="A6A6A6"/>
                          </a:solidFill>
                          <a:effectLst/>
                          <a:latin typeface="メイリオ" panose="020B0604030504040204" pitchFamily="50" charset="-128"/>
                          <a:ea typeface="メイリオ" panose="020B0604030504040204" pitchFamily="50" charset="-128"/>
                          <a:cs typeface="メイリオ"/>
                        </a:rPr>
                        <a:t>サンクスLINE誘導</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800" b="0" i="0" u="none" strike="noStrike">
                        <a:solidFill>
                          <a:srgbClr val="A6A6A6"/>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tx1">
                        <a:lumMod val="65000"/>
                        <a:lumOff val="35000"/>
                      </a:schemeClr>
                    </a:solidFill>
                  </a:tcPr>
                </a:tc>
                <a:tc>
                  <a:txBody>
                    <a:bodyPr/>
                    <a:lstStyle/>
                    <a:p>
                      <a:pPr algn="ctr" fontAlgn="ctr">
                        <a:buNone/>
                      </a:pPr>
                      <a:endParaRPr 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実施予定</a:t>
                      </a:r>
                      <a:endParaRPr 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実施予定</a:t>
                      </a:r>
                      <a:endParaRPr 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実施予定</a:t>
                      </a:r>
                      <a:endParaRPr 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実施予定</a:t>
                      </a:r>
                      <a:endParaRPr 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実施予定</a:t>
                      </a:r>
                      <a:endParaRPr 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実施予定</a:t>
                      </a:r>
                      <a:endParaRPr 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17423221"/>
                  </a:ext>
                </a:extLst>
              </a:tr>
              <a:tr h="153092">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sz="800" b="0" i="0" u="none" strike="noStrike">
                          <a:solidFill>
                            <a:srgbClr val="A6A6A6"/>
                          </a:solidFill>
                          <a:effectLst/>
                          <a:latin typeface="メイリオ" panose="020B0604030504040204" pitchFamily="50" charset="-128"/>
                          <a:ea typeface="メイリオ" panose="020B0604030504040204" pitchFamily="50" charset="-128"/>
                          <a:cs typeface="メイリオ"/>
                        </a:rPr>
                        <a:t>通知メッセージ_CV</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800" b="0" i="0" u="none" strike="noStrike">
                        <a:solidFill>
                          <a:srgbClr val="A6A6A6"/>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tx1">
                        <a:lumMod val="65000"/>
                        <a:lumOff val="35000"/>
                      </a:schemeClr>
                    </a:solidFill>
                  </a:tcPr>
                </a:tc>
                <a:tc>
                  <a:txBody>
                    <a:bodyPr/>
                    <a:lstStyle/>
                    <a:p>
                      <a:pPr algn="ctr" fontAlgn="ctr">
                        <a:buNone/>
                      </a:pPr>
                      <a:endPar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
                      </a:r>
                      <a:endParaRPr 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
                      </a:r>
                      <a:endParaRPr 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
                      </a:r>
                      <a:endParaRPr 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
                      </a:r>
                      <a:endParaRPr 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
                      </a:r>
                      <a:endParaRPr 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
                      </a:r>
                      <a:endParaRPr 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09354505"/>
                  </a:ext>
                </a:extLst>
              </a:tr>
              <a:tr h="153092">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sz="800" b="0" i="0" u="none" strike="noStrike">
                          <a:solidFill>
                            <a:srgbClr val="A6A6A6"/>
                          </a:solidFill>
                          <a:effectLst/>
                          <a:latin typeface="メイリオ" panose="020B0604030504040204" pitchFamily="50" charset="-128"/>
                          <a:ea typeface="メイリオ" panose="020B0604030504040204" pitchFamily="50" charset="-128"/>
                          <a:cs typeface="メイリオ"/>
                        </a:rPr>
                        <a:t>通知メッセージ_既存リスト</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800" b="0" i="0" u="none" strike="noStrike">
                        <a:solidFill>
                          <a:srgbClr val="A6A6A6"/>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tx1">
                        <a:lumMod val="65000"/>
                        <a:lumOff val="35000"/>
                      </a:schemeClr>
                    </a:solidFill>
                  </a:tcPr>
                </a:tc>
                <a:tc>
                  <a:txBody>
                    <a:bodyPr/>
                    <a:lstStyle/>
                    <a:p>
                      <a:pPr algn="ctr" fontAlgn="ctr">
                        <a:buNone/>
                      </a:pPr>
                      <a:endPar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
                      </a:r>
                      <a:endParaRPr 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
                      </a:r>
                      <a:endParaRPr 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
                      </a:r>
                      <a:endParaRPr 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
                      </a:r>
                      <a:endParaRPr 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
                      </a:r>
                      <a:endParaRPr 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
                      </a:r>
                      <a:endParaRPr 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41213545"/>
                  </a:ext>
                </a:extLst>
              </a:tr>
              <a:tr h="153092">
                <a:tc rowSpan="4">
                  <a:txBody>
                    <a:bodyPr/>
                    <a:lstStyle/>
                    <a:p>
                      <a:pPr algn="ctr" fontAlgn="ctr">
                        <a:buNone/>
                      </a:pPr>
                      <a:r>
                        <a:rPr 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施策増分</a:t>
                      </a:r>
                      <a:br>
                        <a:rPr 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br>
                      <a:r>
                        <a:rPr 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※友だち</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CPF</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tx1">
                        <a:lumMod val="65000"/>
                        <a:lumOff val="35000"/>
                      </a:schemeClr>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61946824"/>
                  </a:ext>
                </a:extLst>
              </a:tr>
              <a:tr h="15921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ポップアップツール</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tx1">
                        <a:lumMod val="65000"/>
                        <a:lumOff val="35000"/>
                      </a:schemeClr>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30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3</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3</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30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3</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3</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0583615"/>
                  </a:ext>
                </a:extLst>
              </a:tr>
              <a:tr h="15921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サンクスLINE誘導</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tx1">
                        <a:lumMod val="65000"/>
                        <a:lumOff val="35000"/>
                      </a:schemeClr>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29</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29</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94132676"/>
                  </a:ext>
                </a:extLst>
              </a:tr>
              <a:tr h="15921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通知メッセージ</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tx1">
                        <a:lumMod val="65000"/>
                        <a:lumOff val="35000"/>
                      </a:schemeClr>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83638157"/>
                  </a:ext>
                </a:extLst>
              </a:tr>
              <a:tr h="159216">
                <a:tc gridSpan="2">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友だち数_増加数</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hMerge="1">
                  <a:txBody>
                    <a:bodyPr/>
                    <a:lstStyle/>
                    <a:p>
                      <a:endParaRPr kumimoji="1" lang="ja-JP" altLang="en-US">
                        <a:latin typeface="メイリオ"/>
                        <a:ea typeface="メイリオ"/>
                        <a:cs typeface="メイリオ"/>
                      </a:endParaRPr>
                    </a:p>
                  </a:txBody>
                  <a:tcPr/>
                </a:tc>
                <a:tc>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　</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tx1">
                        <a:lumMod val="65000"/>
                        <a:lumOff val="35000"/>
                      </a:schemeClr>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59</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3</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3</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59</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3</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3</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85071827"/>
                  </a:ext>
                </a:extLst>
              </a:tr>
              <a:tr h="159216">
                <a:tc gridSpan="2">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ブロック率</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hMerge="1">
                  <a:txBody>
                    <a:bodyPr/>
                    <a:lstStyle/>
                    <a:p>
                      <a:endParaRPr kumimoji="1" lang="ja-JP" altLang="en-US">
                        <a:latin typeface="メイリオ"/>
                        <a:ea typeface="メイリオ"/>
                        <a:cs typeface="メイリオ"/>
                      </a:endParaRPr>
                    </a:p>
                  </a:txBody>
                  <a:tcPr/>
                </a:tc>
                <a:tc>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　</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tx1">
                        <a:lumMod val="65000"/>
                        <a:lumOff val="35000"/>
                      </a:schemeClr>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28.0%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29.0%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29.5%</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30.0%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30.5%</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31.0%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6388580"/>
                  </a:ext>
                </a:extLst>
              </a:tr>
              <a:tr h="159216">
                <a:tc gridSpan="2">
                  <a:txBody>
                    <a:bodyPr/>
                    <a:lstStyle/>
                    <a:p>
                      <a:pPr algn="ctr" fontAlgn="ctr">
                        <a:buNone/>
                      </a:pPr>
                      <a:r>
                        <a:rPr lang="ja-JP" sz="800" b="0" i="0" u="none" strike="noStrike">
                          <a:solidFill>
                            <a:srgbClr val="1F2A5C"/>
                          </a:solidFill>
                          <a:effectLst/>
                          <a:latin typeface="メイリオ" panose="020B0604030504040204" pitchFamily="50" charset="-128"/>
                          <a:ea typeface="メイリオ" panose="020B0604030504040204" pitchFamily="50" charset="-128"/>
                          <a:cs typeface="メイリオ"/>
                        </a:rPr>
                        <a:t>友だち数</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hMerge="1">
                  <a:txBody>
                    <a:bodyPr/>
                    <a:lstStyle/>
                    <a:p>
                      <a:endParaRPr kumimoji="1" lang="ja-JP" altLang="en-US">
                        <a:latin typeface="メイリオ"/>
                        <a:ea typeface="メイリオ"/>
                        <a:cs typeface="メイリオ"/>
                      </a:endParaRPr>
                    </a:p>
                  </a:txBody>
                  <a:tcPr/>
                </a:tc>
                <a:tc>
                  <a:txBody>
                    <a:bodyPr/>
                    <a:lstStyle/>
                    <a:p>
                      <a:pPr algn="ctr" fontAlgn="ctr">
                        <a:buNone/>
                      </a:pPr>
                      <a:r>
                        <a:rPr lang="ja-JP" sz="800" b="0" i="0" u="none" strike="noStrike">
                          <a:solidFill>
                            <a:srgbClr val="1F2A5C"/>
                          </a:solidFill>
                          <a:effectLst/>
                          <a:latin typeface="メイリオ" panose="020B0604030504040204" pitchFamily="50" charset="-128"/>
                          <a:ea typeface="メイリオ" panose="020B0604030504040204" pitchFamily="50" charset="-128"/>
                          <a:cs typeface="メイリオ"/>
                        </a:rPr>
                        <a:t>　</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tx1">
                        <a:lumMod val="65000"/>
                        <a:lumOff val="35000"/>
                      </a:schemeClr>
                    </a:solidFill>
                  </a:tcPr>
                </a:tc>
                <a:tc>
                  <a:txBody>
                    <a:bodyPr/>
                    <a:lstStyle/>
                    <a:p>
                      <a:pPr algn="r" rtl="0" fontAlgn="ctr">
                        <a:buNone/>
                      </a:pPr>
                      <a:r>
                        <a:rPr lang="ja-JP" sz="800" b="0" i="0" u="none" strike="noStrike">
                          <a:solidFill>
                            <a:srgbClr val="1F2A5C"/>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0" i="0" u="none" strike="noStrike">
                          <a:solidFill>
                            <a:srgbClr val="1F2A5C"/>
                          </a:solidFill>
                          <a:effectLst/>
                          <a:latin typeface="メイリオ" panose="020B0604030504040204" pitchFamily="50" charset="-128"/>
                          <a:ea typeface="メイリオ" panose="020B0604030504040204" pitchFamily="50" charset="-128"/>
                          <a:cs typeface="メイリオ"/>
                        </a:rPr>
                        <a:t>59</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1F2A5C"/>
                          </a:solidFill>
                          <a:effectLst/>
                          <a:latin typeface="メイリオ" panose="020B0604030504040204" pitchFamily="50" charset="-128"/>
                          <a:ea typeface="メイリオ" panose="020B0604030504040204" pitchFamily="50" charset="-128"/>
                          <a:cs typeface="メイリオ"/>
                        </a:rPr>
                        <a:t>62</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dirty="0">
                          <a:solidFill>
                            <a:srgbClr val="1F2A5C"/>
                          </a:solidFill>
                          <a:effectLst/>
                          <a:latin typeface="メイリオ" panose="020B0604030504040204" pitchFamily="50" charset="-128"/>
                          <a:ea typeface="メイリオ" panose="020B0604030504040204" pitchFamily="50" charset="-128"/>
                          <a:cs typeface="メイリオ"/>
                        </a:rPr>
                        <a:t>65</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1F2A5C"/>
                          </a:solidFill>
                          <a:effectLst/>
                          <a:latin typeface="メイリオ" panose="020B0604030504040204" pitchFamily="50" charset="-128"/>
                          <a:ea typeface="メイリオ" panose="020B0604030504040204" pitchFamily="50" charset="-128"/>
                          <a:cs typeface="メイリオ"/>
                        </a:rPr>
                        <a:t>125</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1F2A5C"/>
                          </a:solidFill>
                          <a:effectLst/>
                          <a:latin typeface="メイリオ" panose="020B0604030504040204" pitchFamily="50" charset="-128"/>
                          <a:ea typeface="メイリオ" panose="020B0604030504040204" pitchFamily="50" charset="-128"/>
                          <a:cs typeface="メイリオ"/>
                        </a:rPr>
                        <a:t>128</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1F2A5C"/>
                          </a:solidFill>
                          <a:effectLst/>
                          <a:latin typeface="メイリオ" panose="020B0604030504040204" pitchFamily="50" charset="-128"/>
                          <a:ea typeface="メイリオ" panose="020B0604030504040204" pitchFamily="50" charset="-128"/>
                          <a:cs typeface="メイリオ"/>
                        </a:rPr>
                        <a:t>131</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6443437"/>
                  </a:ext>
                </a:extLst>
              </a:tr>
              <a:tr h="159216">
                <a:tc gridSpan="2">
                  <a:txBody>
                    <a:bodyPr/>
                    <a:lstStyle/>
                    <a:p>
                      <a:pPr algn="ctr" fontAlgn="ctr">
                        <a:buNone/>
                      </a:pPr>
                      <a:r>
                        <a:rPr lang="ja-JP" sz="800" b="1" i="0" u="none" strike="noStrike" dirty="0">
                          <a:solidFill>
                            <a:srgbClr val="000000"/>
                          </a:solidFill>
                          <a:effectLst/>
                          <a:latin typeface="メイリオ" panose="020B0604030504040204" pitchFamily="50" charset="-128"/>
                          <a:ea typeface="メイリオ" panose="020B0604030504040204" pitchFamily="50" charset="-128"/>
                          <a:cs typeface="メイリオ"/>
                        </a:rPr>
                        <a:t>ターゲット数</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hMerge="1">
                  <a:txBody>
                    <a:bodyPr/>
                    <a:lstStyle/>
                    <a:p>
                      <a:endParaRPr kumimoji="1" lang="ja-JP" altLang="en-US">
                        <a:latin typeface="メイリオ"/>
                        <a:ea typeface="メイリオ"/>
                        <a:cs typeface="メイリオ"/>
                      </a:endParaRPr>
                    </a:p>
                  </a:txBody>
                  <a:tcPr/>
                </a:tc>
                <a:tc>
                  <a:txBody>
                    <a:bodyPr/>
                    <a:lstStyle/>
                    <a:p>
                      <a:pPr algn="ct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　</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tx1">
                        <a:lumMod val="65000"/>
                        <a:lumOff val="35000"/>
                      </a:schemeClr>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43</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44</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46</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87</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89</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90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14682123"/>
                  </a:ext>
                </a:extLst>
              </a:tr>
              <a:tr h="159216">
                <a:tc gridSpan="2">
                  <a:txBody>
                    <a:bodyPr/>
                    <a:lstStyle/>
                    <a:p>
                      <a:pPr algn="ct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企画投稿数</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hMerge="1">
                  <a:txBody>
                    <a:bodyPr/>
                    <a:lstStyle/>
                    <a:p>
                      <a:endParaRPr kumimoji="1" lang="ja-JP" altLang="en-US">
                        <a:latin typeface="メイリオ"/>
                        <a:ea typeface="メイリオ"/>
                        <a:cs typeface="メイリオ"/>
                      </a:endParaRPr>
                    </a:p>
                  </a:txBody>
                  <a:tcPr/>
                </a:tc>
                <a:tc>
                  <a:txBody>
                    <a:bodyPr/>
                    <a:lstStyle/>
                    <a:p>
                      <a:pPr algn="ct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　</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tx1">
                        <a:lumMod val="65000"/>
                        <a:lumOff val="35000"/>
                      </a:schemeClr>
                    </a:solidFill>
                  </a:tcPr>
                </a:tc>
                <a:tc>
                  <a:txBody>
                    <a:bodyPr/>
                    <a:lstStyle/>
                    <a:p>
                      <a:pPr algn="r" rtl="0" fontAlgn="ctr">
                        <a:buNone/>
                      </a:pPr>
                      <a:r>
                        <a:rPr lang="ja-JP" sz="800" b="0" i="0" u="none" strike="noStrike">
                          <a:solidFill>
                            <a:srgbClr val="1F2A5C"/>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4</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2</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2</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4</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2</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2</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17265859"/>
                  </a:ext>
                </a:extLst>
              </a:tr>
              <a:tr h="159216">
                <a:tc gridSpan="2">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企画投稿からの流入</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hMerge="1">
                  <a:txBody>
                    <a:bodyPr/>
                    <a:lstStyle/>
                    <a:p>
                      <a:endParaRPr kumimoji="1" lang="ja-JP" altLang="en-US">
                        <a:latin typeface="メイリオ"/>
                        <a:ea typeface="メイリオ"/>
                        <a:cs typeface="メイリオ"/>
                      </a:endParaRPr>
                    </a:p>
                  </a:txBody>
                  <a:tcPr/>
                </a:tc>
                <a:tc>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　</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tx1">
                        <a:lumMod val="65000"/>
                        <a:lumOff val="35000"/>
                      </a:schemeClr>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16</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8</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8</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26</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13</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13</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07735899"/>
                  </a:ext>
                </a:extLst>
              </a:tr>
              <a:tr h="159216">
                <a:tc gridSpan="2">
                  <a:txBody>
                    <a:bodyPr/>
                    <a:lstStyle/>
                    <a:p>
                      <a:pPr algn="ctr" fontAlgn="ctr">
                        <a:buNone/>
                      </a:pPr>
                      <a:r>
                        <a:rPr lang="ja-JP" sz="800" b="1" i="0" u="none" strike="noStrike" dirty="0">
                          <a:solidFill>
                            <a:srgbClr val="000000"/>
                          </a:solidFill>
                          <a:effectLst/>
                          <a:latin typeface="メイリオ" panose="020B0604030504040204" pitchFamily="50" charset="-128"/>
                          <a:ea typeface="メイリオ" panose="020B0604030504040204" pitchFamily="50" charset="-128"/>
                          <a:cs typeface="メイリオ"/>
                        </a:rPr>
                        <a:t>ステップ配信本数</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hMerge="1">
                  <a:txBody>
                    <a:bodyPr/>
                    <a:lstStyle/>
                    <a:p>
                      <a:endParaRPr kumimoji="1" lang="ja-JP" altLang="en-US">
                        <a:latin typeface="メイリオ"/>
                        <a:ea typeface="メイリオ"/>
                        <a:cs typeface="メイリオ"/>
                      </a:endParaRPr>
                    </a:p>
                  </a:txBody>
                  <a:tcPr/>
                </a:tc>
                <a:tc>
                  <a:txBody>
                    <a:bodyPr/>
                    <a:lstStyle/>
                    <a:p>
                      <a:pPr algn="ct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　</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tx1">
                        <a:lumMod val="65000"/>
                        <a:lumOff val="35000"/>
                      </a:schemeClr>
                    </a:solidFill>
                  </a:tcPr>
                </a:tc>
                <a:tc>
                  <a:txBody>
                    <a:bodyPr/>
                    <a:lstStyle/>
                    <a:p>
                      <a:pPr algn="r" rtl="0" fontAlgn="ctr">
                        <a:buNone/>
                      </a:pPr>
                      <a:r>
                        <a:rPr lang="ja-JP" sz="800" b="0" i="0" u="none" strike="noStrike">
                          <a:solidFill>
                            <a:srgbClr val="1F2A5C"/>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5</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5</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5</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5</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5</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5</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79159928"/>
                  </a:ext>
                </a:extLst>
              </a:tr>
              <a:tr h="159216">
                <a:tc gridSpan="2">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ステップ配信からの流入</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hMerge="1">
                  <a:txBody>
                    <a:bodyPr/>
                    <a:lstStyle/>
                    <a:p>
                      <a:endParaRPr kumimoji="1" lang="ja-JP" altLang="en-US">
                        <a:latin typeface="メイリオ"/>
                        <a:ea typeface="メイリオ"/>
                        <a:cs typeface="メイリオ"/>
                      </a:endParaRPr>
                    </a:p>
                  </a:txBody>
                  <a:tcPr/>
                </a:tc>
                <a:tc>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　</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tx1">
                        <a:lumMod val="65000"/>
                        <a:lumOff val="35000"/>
                      </a:schemeClr>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38</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2</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2</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38</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2</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2</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9616042"/>
                  </a:ext>
                </a:extLst>
              </a:tr>
              <a:tr h="159216">
                <a:tc gridSpan="2">
                  <a:txBody>
                    <a:bodyPr/>
                    <a:lstStyle/>
                    <a:p>
                      <a:pPr algn="ctr" fontAlgn="ctr">
                        <a:buNone/>
                      </a:pPr>
                      <a:r>
                        <a:rPr lang="ja-JP" sz="800" b="1" i="0" u="none" strike="noStrike" dirty="0">
                          <a:solidFill>
                            <a:srgbClr val="000000"/>
                          </a:solidFill>
                          <a:effectLst/>
                          <a:latin typeface="メイリオ" panose="020B0604030504040204" pitchFamily="50" charset="-128"/>
                          <a:ea typeface="メイリオ" panose="020B0604030504040204" pitchFamily="50" charset="-128"/>
                          <a:cs typeface="メイリオ"/>
                        </a:rPr>
                        <a:t>配信数</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hMerge="1">
                  <a:txBody>
                    <a:bodyPr/>
                    <a:lstStyle/>
                    <a:p>
                      <a:endParaRPr kumimoji="1" lang="ja-JP" altLang="en-US">
                        <a:latin typeface="メイリオ"/>
                        <a:ea typeface="メイリオ"/>
                        <a:cs typeface="メイリオ"/>
                      </a:endParaRPr>
                    </a:p>
                  </a:txBody>
                  <a:tcPr/>
                </a:tc>
                <a:tc>
                  <a:txBody>
                    <a:bodyPr/>
                    <a:lstStyle/>
                    <a:p>
                      <a:pPr algn="ct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　</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tx1">
                        <a:lumMod val="65000"/>
                        <a:lumOff val="35000"/>
                      </a:schemeClr>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433</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86</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89</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520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129</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131</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18570893"/>
                  </a:ext>
                </a:extLst>
              </a:tr>
              <a:tr h="159216">
                <a:tc gridSpan="2">
                  <a:txBody>
                    <a:bodyPr/>
                    <a:lstStyle/>
                    <a:p>
                      <a:pPr algn="ct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想定Click数</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hMerge="1">
                  <a:txBody>
                    <a:bodyPr/>
                    <a:lstStyle/>
                    <a:p>
                      <a:endParaRPr kumimoji="1" lang="ja-JP" altLang="en-US">
                        <a:latin typeface="メイリオ"/>
                        <a:ea typeface="メイリオ"/>
                        <a:cs typeface="メイリオ"/>
                      </a:endParaRPr>
                    </a:p>
                  </a:txBody>
                  <a:tcPr/>
                </a:tc>
                <a:tc>
                  <a:txBody>
                    <a:bodyPr/>
                    <a:lstStyle/>
                    <a:p>
                      <a:pPr algn="ct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　</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tx1">
                        <a:lumMod val="65000"/>
                        <a:lumOff val="35000"/>
                      </a:schemeClr>
                    </a:solidFill>
                  </a:tcPr>
                </a:tc>
                <a:tc>
                  <a:txBody>
                    <a:bodyPr/>
                    <a:lstStyle/>
                    <a:p>
                      <a:pPr algn="r" rtl="0"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109</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21</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21</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130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31</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31</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6473668"/>
                  </a:ext>
                </a:extLst>
              </a:tr>
              <a:tr h="153092">
                <a:tc rowSpan="2">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新規CV</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セミナー予約</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　</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lumMod val="65000"/>
                        <a:lumOff val="35000"/>
                      </a:schemeClr>
                    </a:solid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3</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1</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4</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1</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961092775"/>
                  </a:ext>
                </a:extLst>
              </a:tr>
              <a:tr h="153092">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sz="800" b="0" i="0" u="none" strike="noStrike">
                          <a:solidFill>
                            <a:srgbClr val="1F2A5C"/>
                          </a:solidFill>
                          <a:effectLst/>
                          <a:latin typeface="メイリオ" panose="020B0604030504040204" pitchFamily="50" charset="-128"/>
                          <a:ea typeface="メイリオ" panose="020B0604030504040204" pitchFamily="50" charset="-128"/>
                          <a:cs typeface="メイリオ"/>
                        </a:rPr>
                        <a:t>サロン入会</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800" b="0" i="0" u="none" strike="noStrike">
                          <a:solidFill>
                            <a:srgbClr val="1F2A5C"/>
                          </a:solidFill>
                          <a:effectLst/>
                          <a:latin typeface="メイリオ" panose="020B0604030504040204" pitchFamily="50" charset="-128"/>
                          <a:ea typeface="メイリオ" panose="020B0604030504040204" pitchFamily="50" charset="-128"/>
                          <a:cs typeface="メイリオ"/>
                        </a:rPr>
                        <a:t>　</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lumMod val="65000"/>
                        <a:lumOff val="35000"/>
                      </a:schemeClr>
                    </a:solidFill>
                  </a:tcPr>
                </a:tc>
                <a:tc>
                  <a:txBody>
                    <a:bodyPr/>
                    <a:lstStyle/>
                    <a:p>
                      <a:pPr algn="r" fontAlgn="ctr">
                        <a:buNone/>
                      </a:pPr>
                      <a:r>
                        <a:rPr lang="ja-JP" sz="800" b="0" i="0" u="none" strike="noStrike">
                          <a:solidFill>
                            <a:srgbClr val="1F2A5C"/>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0" i="0" u="none" strike="noStrike">
                          <a:solidFill>
                            <a:srgbClr val="1F2A5C"/>
                          </a:solidFill>
                          <a:effectLst/>
                          <a:latin typeface="メイリオ" panose="020B0604030504040204" pitchFamily="50" charset="-128"/>
                          <a:ea typeface="メイリオ" panose="020B0604030504040204" pitchFamily="50" charset="-128"/>
                          <a:cs typeface="メイリオ"/>
                        </a:rPr>
                        <a:t>1</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1F2A5C"/>
                          </a:solidFill>
                          <a:effectLst/>
                          <a:latin typeface="メイリオ" panose="020B0604030504040204" pitchFamily="50" charset="-128"/>
                          <a:ea typeface="メイリオ" panose="020B0604030504040204" pitchFamily="50" charset="-128"/>
                          <a:cs typeface="メイリオ"/>
                        </a:rPr>
                        <a:t>1</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1F2A5C"/>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1F2A5C"/>
                          </a:solidFill>
                          <a:effectLst/>
                          <a:latin typeface="メイリオ" panose="020B0604030504040204" pitchFamily="50" charset="-128"/>
                          <a:ea typeface="メイリオ" panose="020B0604030504040204" pitchFamily="50" charset="-128"/>
                          <a:cs typeface="メイリオ"/>
                        </a:rPr>
                        <a:t>1</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1F2A5C"/>
                          </a:solidFill>
                          <a:effectLst/>
                          <a:latin typeface="メイリオ" panose="020B0604030504040204" pitchFamily="50" charset="-128"/>
                          <a:ea typeface="メイリオ" panose="020B0604030504040204" pitchFamily="50" charset="-128"/>
                          <a:cs typeface="メイリオ"/>
                        </a:rPr>
                        <a:t>1</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1F2A5C"/>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09209465"/>
                  </a:ext>
                </a:extLst>
              </a:tr>
              <a:tr h="153092">
                <a:tc rowSpan="2">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リピートCV</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リピート予約</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　</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lumMod val="65000"/>
                        <a:lumOff val="35000"/>
                      </a:schemeClr>
                    </a:solid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2</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97456770"/>
                  </a:ext>
                </a:extLst>
              </a:tr>
              <a:tr h="153092">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sz="800" b="0" i="0" u="none" strike="noStrike">
                          <a:solidFill>
                            <a:srgbClr val="1F2A5C"/>
                          </a:solidFill>
                          <a:effectLst/>
                          <a:latin typeface="メイリオ" panose="020B0604030504040204" pitchFamily="50" charset="-128"/>
                          <a:ea typeface="メイリオ" panose="020B0604030504040204" pitchFamily="50" charset="-128"/>
                          <a:cs typeface="メイリオ"/>
                        </a:rPr>
                        <a:t>-</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800" b="0" i="0" u="none" strike="noStrike">
                          <a:solidFill>
                            <a:srgbClr val="1F2A5C"/>
                          </a:solidFill>
                          <a:effectLst/>
                          <a:latin typeface="メイリオ" panose="020B0604030504040204" pitchFamily="50" charset="-128"/>
                          <a:ea typeface="メイリオ" panose="020B0604030504040204" pitchFamily="50" charset="-128"/>
                          <a:cs typeface="メイリオ"/>
                        </a:rPr>
                        <a:t>　</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lumMod val="65000"/>
                        <a:lumOff val="35000"/>
                      </a:schemeClr>
                    </a:solidFill>
                  </a:tcPr>
                </a:tc>
                <a:tc>
                  <a:txBody>
                    <a:bodyPr/>
                    <a:lstStyle/>
                    <a:p>
                      <a:pPr algn="r" fontAlgn="ctr">
                        <a:buNone/>
                      </a:pPr>
                      <a:r>
                        <a:rPr lang="ja-JP" sz="800" b="0" i="0" u="none" strike="noStrike">
                          <a:solidFill>
                            <a:srgbClr val="1F2A5C"/>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0" i="0" u="none" strike="noStrike">
                          <a:solidFill>
                            <a:srgbClr val="1F2A5C"/>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1F2A5C"/>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1F2A5C"/>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1F2A5C"/>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1F2A5C"/>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dirty="0">
                          <a:solidFill>
                            <a:srgbClr val="1F2A5C"/>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69994309"/>
                  </a:ext>
                </a:extLst>
              </a:tr>
              <a:tr h="153092">
                <a:tc gridSpan="2">
                  <a:txBody>
                    <a:bodyPr/>
                    <a:lstStyle/>
                    <a:p>
                      <a:pPr algn="ctr" fontAlgn="ctr">
                        <a:buNone/>
                      </a:pPr>
                      <a:r>
                        <a:rPr lang="ja-JP" sz="800" b="1" i="0" u="none" strike="noStrike">
                          <a:solidFill>
                            <a:srgbClr val="1F2A5C"/>
                          </a:solidFill>
                          <a:effectLst/>
                          <a:latin typeface="メイリオ" panose="020B0604030504040204" pitchFamily="50" charset="-128"/>
                          <a:ea typeface="メイリオ" panose="020B0604030504040204" pitchFamily="50" charset="-128"/>
                          <a:cs typeface="メイリオ"/>
                        </a:rPr>
                        <a:t>合計CV</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endParaRPr kumimoji="1" lang="ja-JP" altLang="en-US">
                        <a:latin typeface="メイリオ"/>
                        <a:ea typeface="メイリオ"/>
                        <a:cs typeface="メイリオ"/>
                      </a:endParaRPr>
                    </a:p>
                  </a:txBody>
                  <a:tcPr/>
                </a:tc>
                <a:tc>
                  <a:txBody>
                    <a:bodyPr/>
                    <a:lstStyle/>
                    <a:p>
                      <a:pPr algn="ctr" fontAlgn="ctr">
                        <a:buNone/>
                      </a:pPr>
                      <a:r>
                        <a:rPr lang="ja-JP" sz="800" b="1" i="0" u="none" strike="noStrike" dirty="0">
                          <a:solidFill>
                            <a:srgbClr val="1F2A5C"/>
                          </a:solidFill>
                          <a:effectLst/>
                          <a:latin typeface="メイリオ" panose="020B0604030504040204" pitchFamily="50" charset="-128"/>
                          <a:ea typeface="メイリオ" panose="020B0604030504040204" pitchFamily="50" charset="-128"/>
                          <a:cs typeface="メイリオ"/>
                        </a:rPr>
                        <a:t>　</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lumMod val="65000"/>
                        <a:lumOff val="35000"/>
                      </a:schemeClr>
                    </a:solidFill>
                  </a:tcPr>
                </a:tc>
                <a:tc>
                  <a:txBody>
                    <a:bodyPr/>
                    <a:lstStyle/>
                    <a:p>
                      <a:pPr algn="r" fontAlgn="ctr">
                        <a:buNone/>
                      </a:pPr>
                      <a:r>
                        <a:rPr lang="ja-JP" sz="800" b="1" i="0" u="none" strike="noStrike" dirty="0">
                          <a:solidFill>
                            <a:srgbClr val="1F2A5C"/>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fontAlgn="ctr">
                        <a:buNone/>
                      </a:pPr>
                      <a:r>
                        <a:rPr lang="ja-JP" sz="800" b="1" i="0" u="none" strike="noStrike" dirty="0">
                          <a:solidFill>
                            <a:srgbClr val="1F2A5C"/>
                          </a:solidFill>
                          <a:effectLst/>
                          <a:latin typeface="メイリオ" panose="020B0604030504040204" pitchFamily="50" charset="-128"/>
                          <a:ea typeface="メイリオ" panose="020B0604030504040204" pitchFamily="50" charset="-128"/>
                          <a:cs typeface="メイリオ"/>
                        </a:rPr>
                        <a:t>4</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buNone/>
                      </a:pPr>
                      <a:r>
                        <a:rPr lang="ja-JP" sz="800" b="1" i="0" u="none" strike="noStrike" dirty="0">
                          <a:solidFill>
                            <a:srgbClr val="1F2A5C"/>
                          </a:solidFill>
                          <a:effectLst/>
                          <a:latin typeface="メイリオ" panose="020B0604030504040204" pitchFamily="50" charset="-128"/>
                          <a:ea typeface="メイリオ" panose="020B0604030504040204" pitchFamily="50" charset="-128"/>
                          <a:cs typeface="メイリオ"/>
                        </a:rPr>
                        <a:t>1</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buNone/>
                      </a:pPr>
                      <a:r>
                        <a:rPr lang="ja-JP" sz="800" b="1" i="0" u="none" strike="noStrike" dirty="0">
                          <a:solidFill>
                            <a:srgbClr val="1F2A5C"/>
                          </a:solidFill>
                          <a:effectLst/>
                          <a:latin typeface="メイリオ" panose="020B0604030504040204" pitchFamily="50" charset="-128"/>
                          <a:ea typeface="メイリオ" panose="020B0604030504040204" pitchFamily="50" charset="-128"/>
                          <a:cs typeface="メイリオ"/>
                        </a:rPr>
                        <a:t>1</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buNone/>
                      </a:pPr>
                      <a:r>
                        <a:rPr lang="ja-JP" sz="800" b="1" i="0" u="none" strike="noStrike" dirty="0">
                          <a:solidFill>
                            <a:srgbClr val="1F2A5C"/>
                          </a:solidFill>
                          <a:effectLst/>
                          <a:latin typeface="メイリオ" panose="020B0604030504040204" pitchFamily="50" charset="-128"/>
                          <a:ea typeface="メイリオ" panose="020B0604030504040204" pitchFamily="50" charset="-128"/>
                          <a:cs typeface="メイリオ"/>
                        </a:rPr>
                        <a:t>7</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buNone/>
                      </a:pPr>
                      <a:r>
                        <a:rPr lang="ja-JP" sz="800" b="1" i="0" u="none" strike="noStrike" dirty="0">
                          <a:solidFill>
                            <a:srgbClr val="1F2A5C"/>
                          </a:solidFill>
                          <a:effectLst/>
                          <a:latin typeface="メイリオ" panose="020B0604030504040204" pitchFamily="50" charset="-128"/>
                          <a:ea typeface="メイリオ" panose="020B0604030504040204" pitchFamily="50" charset="-128"/>
                          <a:cs typeface="メイリオ"/>
                        </a:rPr>
                        <a:t>1</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buNone/>
                      </a:pPr>
                      <a:r>
                        <a:rPr lang="ja-JP" sz="800" b="1" i="0" u="none" strike="noStrike" dirty="0">
                          <a:solidFill>
                            <a:srgbClr val="1F2A5C"/>
                          </a:solidFill>
                          <a:effectLst/>
                          <a:latin typeface="メイリオ" panose="020B0604030504040204" pitchFamily="50" charset="-128"/>
                          <a:ea typeface="メイリオ" panose="020B0604030504040204" pitchFamily="50" charset="-128"/>
                          <a:cs typeface="メイリオ"/>
                        </a:rPr>
                        <a:t>1</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4263053220"/>
                  </a:ext>
                </a:extLst>
              </a:tr>
            </a:tbl>
          </a:graphicData>
        </a:graphic>
      </p:graphicFrame>
    </p:spTree>
    <p:extLst>
      <p:ext uri="{BB962C8B-B14F-4D97-AF65-F5344CB8AC3E}">
        <p14:creationId xmlns:p14="http://schemas.microsoft.com/office/powerpoint/2010/main" val="4098285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62D388-F98E-03E5-C3D4-A6C1A062AAF7}"/>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EBDD7ED3-F444-10FE-EBC9-57BAFAF299FA}"/>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弊社想定シミュレーション</a:t>
            </a:r>
          </a:p>
        </p:txBody>
      </p:sp>
      <p:sp>
        <p:nvSpPr>
          <p:cNvPr id="9" name="正方形/長方形 8">
            <a:extLst>
              <a:ext uri="{FF2B5EF4-FFF2-40B4-BE49-F238E27FC236}">
                <a16:creationId xmlns:a16="http://schemas.microsoft.com/office/drawing/2014/main" id="{FBD4AB07-F6DD-682F-94F2-55F9EF92D92B}"/>
              </a:ext>
            </a:extLst>
          </p:cNvPr>
          <p:cNvSpPr/>
          <p:nvPr/>
        </p:nvSpPr>
        <p:spPr>
          <a:xfrm>
            <a:off x="0" y="77724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b="1" dirty="0">
                <a:latin typeface="メイリオ" panose="020B0604030504040204" pitchFamily="50" charset="-128"/>
                <a:ea typeface="メイリオ" panose="020B0604030504040204" pitchFamily="50" charset="-128"/>
                <a:cs typeface="メイリオ"/>
              </a:rPr>
              <a:t>成果報酬プラン</a:t>
            </a:r>
          </a:p>
        </p:txBody>
      </p:sp>
      <p:sp>
        <p:nvSpPr>
          <p:cNvPr id="5" name="Google Shape;752;p28">
            <a:extLst>
              <a:ext uri="{FF2B5EF4-FFF2-40B4-BE49-F238E27FC236}">
                <a16:creationId xmlns:a16="http://schemas.microsoft.com/office/drawing/2014/main" id="{FE9C6D1D-72D5-15BC-F9E9-124AE1A23AAA}"/>
              </a:ext>
            </a:extLst>
          </p:cNvPr>
          <p:cNvSpPr txBox="1"/>
          <p:nvPr/>
        </p:nvSpPr>
        <p:spPr>
          <a:xfrm>
            <a:off x="2914650" y="762211"/>
            <a:ext cx="6619875" cy="584735"/>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メイリオ"/>
                <a:sym typeface="Meiryo"/>
              </a:rPr>
              <a:t>固定費用を最低限に抑えた成果報酬プラン。</a:t>
            </a:r>
            <a:endParaRPr lang="en-US" altLang="ja-JP" sz="1600" b="1" dirty="0">
              <a:latin typeface="メイリオ" panose="020B0604030504040204" pitchFamily="50" charset="-128"/>
              <a:ea typeface="メイリオ" panose="020B0604030504040204" pitchFamily="50" charset="-128"/>
              <a:cs typeface="メイリオ"/>
              <a:sym typeface="Meiryo"/>
            </a:endParaRPr>
          </a:p>
          <a:p>
            <a:r>
              <a:rPr lang="ja-JP" altLang="en-US" sz="1600" b="1" dirty="0">
                <a:latin typeface="メイリオ" panose="020B0604030504040204" pitchFamily="50" charset="-128"/>
                <a:ea typeface="メイリオ" panose="020B0604030504040204" pitchFamily="50" charset="-128"/>
                <a:cs typeface="メイリオ"/>
                <a:sym typeface="Meiryo"/>
              </a:rPr>
              <a:t>友だち追加はポップアップ・サンクスLINE誘導で実施。</a:t>
            </a:r>
          </a:p>
        </p:txBody>
      </p:sp>
      <p:graphicFrame>
        <p:nvGraphicFramePr>
          <p:cNvPr id="10" name="表 9">
            <a:extLst>
              <a:ext uri="{FF2B5EF4-FFF2-40B4-BE49-F238E27FC236}">
                <a16:creationId xmlns:a16="http://schemas.microsoft.com/office/drawing/2014/main" id="{C4DD1A48-7C8F-25E8-16FC-3282274F0B93}"/>
              </a:ext>
            </a:extLst>
          </p:cNvPr>
          <p:cNvGraphicFramePr>
            <a:graphicFrameLocks noGrp="1"/>
          </p:cNvGraphicFramePr>
          <p:nvPr/>
        </p:nvGraphicFramePr>
        <p:xfrm>
          <a:off x="704124" y="1803590"/>
          <a:ext cx="1367245" cy="462575"/>
        </p:xfrm>
        <a:graphic>
          <a:graphicData uri="http://schemas.openxmlformats.org/drawingml/2006/table">
            <a:tbl>
              <a:tblPr/>
              <a:tblGrid>
                <a:gridCol w="1367245">
                  <a:extLst>
                    <a:ext uri="{9D8B030D-6E8A-4147-A177-3AD203B41FA5}">
                      <a16:colId xmlns:a16="http://schemas.microsoft.com/office/drawing/2014/main" val="3858994572"/>
                    </a:ext>
                  </a:extLst>
                </a:gridCol>
              </a:tblGrid>
              <a:tr h="462575">
                <a:tc>
                  <a:txBody>
                    <a:bodyPr/>
                    <a:lstStyle/>
                    <a:p>
                      <a:pPr algn="ctr" fontAlgn="ctr">
                        <a:buNone/>
                      </a:pPr>
                      <a:r>
                        <a:rPr lang="ja-JP" altLang="en-US" sz="11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初期費用</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2551909190"/>
                  </a:ext>
                </a:extLst>
              </a:tr>
            </a:tbl>
          </a:graphicData>
        </a:graphic>
      </p:graphicFrame>
      <p:graphicFrame>
        <p:nvGraphicFramePr>
          <p:cNvPr id="12" name="表 11">
            <a:extLst>
              <a:ext uri="{FF2B5EF4-FFF2-40B4-BE49-F238E27FC236}">
                <a16:creationId xmlns:a16="http://schemas.microsoft.com/office/drawing/2014/main" id="{CE0D5AE9-9962-57E0-8896-BE0E4756FA85}"/>
              </a:ext>
            </a:extLst>
          </p:cNvPr>
          <p:cNvGraphicFramePr>
            <a:graphicFrameLocks noGrp="1"/>
          </p:cNvGraphicFramePr>
          <p:nvPr>
            <p:extLst>
              <p:ext uri="{D42A27DB-BD31-4B8C-83A1-F6EECF244321}">
                <p14:modId xmlns:p14="http://schemas.microsoft.com/office/powerpoint/2010/main" val="3967744387"/>
              </p:ext>
            </p:extLst>
          </p:nvPr>
        </p:nvGraphicFramePr>
        <p:xfrm>
          <a:off x="2145635" y="1803590"/>
          <a:ext cx="2712478" cy="462575"/>
        </p:xfrm>
        <a:graphic>
          <a:graphicData uri="http://schemas.openxmlformats.org/drawingml/2006/table">
            <a:tbl>
              <a:tblPr/>
              <a:tblGrid>
                <a:gridCol w="2712478">
                  <a:extLst>
                    <a:ext uri="{9D8B030D-6E8A-4147-A177-3AD203B41FA5}">
                      <a16:colId xmlns:a16="http://schemas.microsoft.com/office/drawing/2014/main" val="3858994572"/>
                    </a:ext>
                  </a:extLst>
                </a:gridCol>
              </a:tblGrid>
              <a:tr h="462575">
                <a:tc>
                  <a:txBody>
                    <a:bodyPr/>
                    <a:lstStyle/>
                    <a:p>
                      <a:pPr algn="ctr" fontAlgn="ctr">
                        <a:buNone/>
                      </a:pPr>
                      <a:r>
                        <a:rPr lang="ja-JP" altLang="en-US" sz="1800" b="1" i="0" u="none" strike="noStrike" dirty="0">
                          <a:solidFill>
                            <a:srgbClr val="000000"/>
                          </a:solidFill>
                          <a:effectLst/>
                          <a:latin typeface="メイリオ" panose="020B0604030504040204" pitchFamily="50" charset="-128"/>
                          <a:ea typeface="メイリオ" panose="020B0604030504040204" pitchFamily="50" charset="-128"/>
                          <a:cs typeface="メイリオ"/>
                        </a:rPr>
                        <a:t>¥295,000</a:t>
                      </a:r>
                      <a:endParaRPr lang="ja-JP" altLang="en-US" sz="1800" b="1"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551909190"/>
                  </a:ext>
                </a:extLst>
              </a:tr>
            </a:tbl>
          </a:graphicData>
        </a:graphic>
      </p:graphicFrame>
      <p:graphicFrame>
        <p:nvGraphicFramePr>
          <p:cNvPr id="14" name="表 13">
            <a:extLst>
              <a:ext uri="{FF2B5EF4-FFF2-40B4-BE49-F238E27FC236}">
                <a16:creationId xmlns:a16="http://schemas.microsoft.com/office/drawing/2014/main" id="{24842E98-5066-43A6-D03A-1A8E52DABE7E}"/>
              </a:ext>
            </a:extLst>
          </p:cNvPr>
          <p:cNvGraphicFramePr>
            <a:graphicFrameLocks noGrp="1"/>
          </p:cNvGraphicFramePr>
          <p:nvPr>
            <p:extLst>
              <p:ext uri="{D42A27DB-BD31-4B8C-83A1-F6EECF244321}">
                <p14:modId xmlns:p14="http://schemas.microsoft.com/office/powerpoint/2010/main" val="779732373"/>
              </p:ext>
            </p:extLst>
          </p:nvPr>
        </p:nvGraphicFramePr>
        <p:xfrm>
          <a:off x="2145635" y="2361128"/>
          <a:ext cx="2712478" cy="462575"/>
        </p:xfrm>
        <a:graphic>
          <a:graphicData uri="http://schemas.openxmlformats.org/drawingml/2006/table">
            <a:tbl>
              <a:tblPr/>
              <a:tblGrid>
                <a:gridCol w="2712478">
                  <a:extLst>
                    <a:ext uri="{9D8B030D-6E8A-4147-A177-3AD203B41FA5}">
                      <a16:colId xmlns:a16="http://schemas.microsoft.com/office/drawing/2014/main" val="813940788"/>
                    </a:ext>
                  </a:extLst>
                </a:gridCol>
              </a:tblGrid>
              <a:tr h="462575">
                <a:tc>
                  <a:txBody>
                    <a:bodyPr/>
                    <a:lstStyle/>
                    <a:p>
                      <a:pPr algn="ctr" fontAlgn="ctr">
                        <a:buNone/>
                      </a:pPr>
                      <a:r>
                        <a:rPr lang="ja-JP" altLang="en-US" sz="1600" b="1" i="0" u="none" strike="noStrike" dirty="0">
                          <a:solidFill>
                            <a:srgbClr val="000000"/>
                          </a:solidFill>
                          <a:effectLst/>
                          <a:latin typeface="メイリオ" panose="020B0604030504040204" pitchFamily="50" charset="-128"/>
                          <a:ea typeface="メイリオ" panose="020B0604030504040204" pitchFamily="50" charset="-128"/>
                          <a:cs typeface="メイリオ"/>
                        </a:rPr>
                        <a:t>¥65,000＋成果報酬</a:t>
                      </a:r>
                    </a:p>
                    <a:p>
                      <a:pPr algn="ctr" fontAlgn="ctr">
                        <a:buNone/>
                      </a:pPr>
                      <a:r>
                        <a:rPr lang="en-US" altLang="ja-JP" sz="900" b="0" i="0" u="none" strike="noStrike" dirty="0">
                          <a:solidFill>
                            <a:srgbClr val="1F2A5C"/>
                          </a:solidFill>
                          <a:effectLst/>
                          <a:latin typeface="メイリオ" panose="020B0604030504040204" pitchFamily="50" charset="-128"/>
                          <a:ea typeface="メイリオ" panose="020B0604030504040204" pitchFamily="50" charset="-128"/>
                          <a:cs typeface="メイリオ"/>
                        </a:rPr>
                        <a:t>※セミナー予約（新規・リピート） 12,000円／件</a:t>
                      </a:r>
                      <a:endParaRPr lang="en-US" altLang="ja-JP" sz="1400" b="0" i="0" u="none" strike="noStrike" dirty="0">
                        <a:solidFill>
                          <a:srgbClr val="1F2A5C"/>
                        </a:solidFill>
                        <a:effectLst/>
                        <a:latin typeface="メイリオ" panose="020B0604030504040204" pitchFamily="50" charset="-128"/>
                        <a:ea typeface="メイリオ" panose="020B0604030504040204" pitchFamily="50" charset="-128"/>
                        <a:cs typeface="メイリオ"/>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802775794"/>
                  </a:ext>
                </a:extLst>
              </a:tr>
            </a:tbl>
          </a:graphicData>
        </a:graphic>
      </p:graphicFrame>
      <p:graphicFrame>
        <p:nvGraphicFramePr>
          <p:cNvPr id="16" name="表 15">
            <a:extLst>
              <a:ext uri="{FF2B5EF4-FFF2-40B4-BE49-F238E27FC236}">
                <a16:creationId xmlns:a16="http://schemas.microsoft.com/office/drawing/2014/main" id="{284C90C0-98C2-324A-C6EB-3A49C0F3E12D}"/>
              </a:ext>
            </a:extLst>
          </p:cNvPr>
          <p:cNvGraphicFramePr>
            <a:graphicFrameLocks noGrp="1"/>
          </p:cNvGraphicFramePr>
          <p:nvPr>
            <p:extLst>
              <p:ext uri="{D42A27DB-BD31-4B8C-83A1-F6EECF244321}">
                <p14:modId xmlns:p14="http://schemas.microsoft.com/office/powerpoint/2010/main" val="617717068"/>
              </p:ext>
            </p:extLst>
          </p:nvPr>
        </p:nvGraphicFramePr>
        <p:xfrm>
          <a:off x="711699" y="2361128"/>
          <a:ext cx="1367245" cy="462575"/>
        </p:xfrm>
        <a:graphic>
          <a:graphicData uri="http://schemas.openxmlformats.org/drawingml/2006/table">
            <a:tbl>
              <a:tblPr/>
              <a:tblGrid>
                <a:gridCol w="1367245">
                  <a:extLst>
                    <a:ext uri="{9D8B030D-6E8A-4147-A177-3AD203B41FA5}">
                      <a16:colId xmlns:a16="http://schemas.microsoft.com/office/drawing/2014/main" val="813940788"/>
                    </a:ext>
                  </a:extLst>
                </a:gridCol>
              </a:tblGrid>
              <a:tr h="462575">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月額費用</a:t>
                      </a:r>
                      <a:endParaRPr lang="en-US" altLang="ja-JP" sz="1100" b="1" i="0" u="none" strike="noStrike" dirty="0">
                        <a:solidFill>
                          <a:srgbClr val="FFFFFF"/>
                        </a:solidFill>
                        <a:effectLst/>
                        <a:latin typeface="メイリオ" panose="020B0604030504040204" pitchFamily="50" charset="-128"/>
                        <a:ea typeface="メイリオ" panose="020B0604030504040204" pitchFamily="50" charset="-128"/>
                        <a:cs typeface="メイリオ"/>
                      </a:endParaRPr>
                    </a:p>
                    <a:p>
                      <a:pPr algn="ctr" fontAlgn="ctr">
                        <a:buNone/>
                      </a:pPr>
                      <a:r>
                        <a:rPr lang="en-US" altLang="ja-JP" sz="800" b="1" i="0" u="none" strike="noStrike" dirty="0">
                          <a:solidFill>
                            <a:srgbClr val="FFFFFF"/>
                          </a:solidFill>
                          <a:effectLst/>
                          <a:latin typeface="メイリオ" panose="020B0604030504040204" pitchFamily="50" charset="-128"/>
                          <a:ea typeface="メイリオ" panose="020B0604030504040204" pitchFamily="50" charset="-128"/>
                          <a:cs typeface="メイリオ"/>
                        </a:rPr>
                        <a:t>※</a:t>
                      </a:r>
                      <a:r>
                        <a:rPr lang="ja-JP" altLang="en-US" sz="800" b="1" i="0" u="none" strike="noStrike" dirty="0">
                          <a:solidFill>
                            <a:srgbClr val="FFFFFF"/>
                          </a:solidFill>
                          <a:effectLst/>
                          <a:latin typeface="メイリオ" panose="020B0604030504040204" pitchFamily="50" charset="-128"/>
                          <a:ea typeface="メイリオ" panose="020B0604030504040204" pitchFamily="50" charset="-128"/>
                          <a:cs typeface="メイリオ"/>
                        </a:rPr>
                        <a:t>成果報酬プラン</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F2A5C"/>
                    </a:solidFill>
                  </a:tcPr>
                </a:tc>
                <a:extLst>
                  <a:ext uri="{0D108BD9-81ED-4DB2-BD59-A6C34878D82A}">
                    <a16:rowId xmlns:a16="http://schemas.microsoft.com/office/drawing/2014/main" val="2802775794"/>
                  </a:ext>
                </a:extLst>
              </a:tr>
            </a:tbl>
          </a:graphicData>
        </a:graphic>
      </p:graphicFrame>
      <p:graphicFrame>
        <p:nvGraphicFramePr>
          <p:cNvPr id="2" name="表 1">
            <a:extLst>
              <a:ext uri="{FF2B5EF4-FFF2-40B4-BE49-F238E27FC236}">
                <a16:creationId xmlns:a16="http://schemas.microsoft.com/office/drawing/2014/main" id="{B3660FD1-8EDB-14B0-55FB-1134D75E1E18}"/>
              </a:ext>
            </a:extLst>
          </p:cNvPr>
          <p:cNvGraphicFramePr>
            <a:graphicFrameLocks noGrp="1"/>
          </p:cNvGraphicFramePr>
          <p:nvPr>
            <p:extLst>
              <p:ext uri="{D42A27DB-BD31-4B8C-83A1-F6EECF244321}">
                <p14:modId xmlns:p14="http://schemas.microsoft.com/office/powerpoint/2010/main" val="1019166198"/>
              </p:ext>
            </p:extLst>
          </p:nvPr>
        </p:nvGraphicFramePr>
        <p:xfrm>
          <a:off x="681037" y="3077158"/>
          <a:ext cx="9081274" cy="2165400"/>
        </p:xfrm>
        <a:graphic>
          <a:graphicData uri="http://schemas.openxmlformats.org/drawingml/2006/table">
            <a:tbl>
              <a:tblPr/>
              <a:tblGrid>
                <a:gridCol w="843040">
                  <a:extLst>
                    <a:ext uri="{9D8B030D-6E8A-4147-A177-3AD203B41FA5}">
                      <a16:colId xmlns:a16="http://schemas.microsoft.com/office/drawing/2014/main" val="3722053567"/>
                    </a:ext>
                  </a:extLst>
                </a:gridCol>
                <a:gridCol w="1276346">
                  <a:extLst>
                    <a:ext uri="{9D8B030D-6E8A-4147-A177-3AD203B41FA5}">
                      <a16:colId xmlns:a16="http://schemas.microsoft.com/office/drawing/2014/main" val="950157771"/>
                    </a:ext>
                  </a:extLst>
                </a:gridCol>
                <a:gridCol w="870236">
                  <a:extLst>
                    <a:ext uri="{9D8B030D-6E8A-4147-A177-3AD203B41FA5}">
                      <a16:colId xmlns:a16="http://schemas.microsoft.com/office/drawing/2014/main" val="1828844380"/>
                    </a:ext>
                  </a:extLst>
                </a:gridCol>
                <a:gridCol w="870236">
                  <a:extLst>
                    <a:ext uri="{9D8B030D-6E8A-4147-A177-3AD203B41FA5}">
                      <a16:colId xmlns:a16="http://schemas.microsoft.com/office/drawing/2014/main" val="1109507576"/>
                    </a:ext>
                  </a:extLst>
                </a:gridCol>
                <a:gridCol w="870236">
                  <a:extLst>
                    <a:ext uri="{9D8B030D-6E8A-4147-A177-3AD203B41FA5}">
                      <a16:colId xmlns:a16="http://schemas.microsoft.com/office/drawing/2014/main" val="1003411805"/>
                    </a:ext>
                  </a:extLst>
                </a:gridCol>
                <a:gridCol w="870236">
                  <a:extLst>
                    <a:ext uri="{9D8B030D-6E8A-4147-A177-3AD203B41FA5}">
                      <a16:colId xmlns:a16="http://schemas.microsoft.com/office/drawing/2014/main" val="317879950"/>
                    </a:ext>
                  </a:extLst>
                </a:gridCol>
                <a:gridCol w="870236">
                  <a:extLst>
                    <a:ext uri="{9D8B030D-6E8A-4147-A177-3AD203B41FA5}">
                      <a16:colId xmlns:a16="http://schemas.microsoft.com/office/drawing/2014/main" val="1722450559"/>
                    </a:ext>
                  </a:extLst>
                </a:gridCol>
                <a:gridCol w="870236">
                  <a:extLst>
                    <a:ext uri="{9D8B030D-6E8A-4147-A177-3AD203B41FA5}">
                      <a16:colId xmlns:a16="http://schemas.microsoft.com/office/drawing/2014/main" val="1085201297"/>
                    </a:ext>
                  </a:extLst>
                </a:gridCol>
                <a:gridCol w="870236">
                  <a:extLst>
                    <a:ext uri="{9D8B030D-6E8A-4147-A177-3AD203B41FA5}">
                      <a16:colId xmlns:a16="http://schemas.microsoft.com/office/drawing/2014/main" val="2042819757"/>
                    </a:ext>
                  </a:extLst>
                </a:gridCol>
                <a:gridCol w="870236">
                  <a:extLst>
                    <a:ext uri="{9D8B030D-6E8A-4147-A177-3AD203B41FA5}">
                      <a16:colId xmlns:a16="http://schemas.microsoft.com/office/drawing/2014/main" val="3405569139"/>
                    </a:ext>
                  </a:extLst>
                </a:gridCol>
              </a:tblGrid>
              <a:tr h="240600">
                <a:tc>
                  <a:txBody>
                    <a:bodyPr/>
                    <a:lstStyle/>
                    <a:p>
                      <a:pPr algn="l"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■成果報酬運営</a:t>
                      </a:r>
                    </a:p>
                  </a:txBody>
                  <a:tcPr marL="5118" marR="5118" marT="5118"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現状数値</a:t>
                      </a:r>
                    </a:p>
                  </a:txBody>
                  <a:tcPr marL="5118" marR="5118" marT="5118"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初期</a:t>
                      </a:r>
                    </a:p>
                  </a:txBody>
                  <a:tcPr marL="5118" marR="5118" marT="5118"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71865101"/>
                  </a:ext>
                </a:extLst>
              </a:tr>
              <a:tr h="240600">
                <a:tc gridSpan="2">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従量課金</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hMerge="1">
                  <a:txBody>
                    <a:bodyPr/>
                    <a:lstStyle/>
                    <a:p>
                      <a:endParaRPr kumimoji="1" lang="ja-JP" altLang="en-US">
                        <a:latin typeface="メイリオ"/>
                        <a:ea typeface="メイリオ"/>
                        <a:cs typeface="メイリオ"/>
                      </a:endParaRPr>
                    </a:p>
                  </a:txBody>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　</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747474"/>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747474"/>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747474"/>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747474"/>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747474"/>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747474"/>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72133835"/>
                  </a:ext>
                </a:extLst>
              </a:tr>
              <a:tr h="240600">
                <a:tc gridSpan="2">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コスト想定(固定費)</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hMerge="1">
                  <a:txBody>
                    <a:bodyPr/>
                    <a:lstStyle/>
                    <a:p>
                      <a:endParaRPr kumimoji="1" lang="ja-JP" altLang="en-US">
                        <a:latin typeface="メイリオ"/>
                        <a:ea typeface="メイリオ"/>
                        <a:cs typeface="メイリオ"/>
                      </a:endParaRPr>
                    </a:p>
                  </a:txBody>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¥295,000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¥65,000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¥65,000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¥65,000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¥65,000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¥65,000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¥65,000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34499569"/>
                  </a:ext>
                </a:extLst>
              </a:tr>
              <a:tr h="240600">
                <a:tc gridSpan="2">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友だち獲得単価</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hMerge="1">
                  <a:txBody>
                    <a:bodyPr/>
                    <a:lstStyle/>
                    <a:p>
                      <a:endParaRPr kumimoji="1" lang="ja-JP" altLang="en-US">
                        <a:latin typeface="メイリオ"/>
                        <a:ea typeface="メイリオ"/>
                        <a:cs typeface="メイリオ"/>
                      </a:endParaRPr>
                    </a:p>
                  </a:txBody>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　</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¥1,012</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¥19,692</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¥19,692</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¥1,012</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¥19,692</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¥19,692</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9843675"/>
                  </a:ext>
                </a:extLst>
              </a:tr>
              <a:tr h="240600">
                <a:tc gridSpan="2">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CPC想定</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hMerge="1">
                  <a:txBody>
                    <a:bodyPr/>
                    <a:lstStyle/>
                    <a:p>
                      <a:endParaRPr kumimoji="1" lang="ja-JP" altLang="en-US">
                        <a:latin typeface="メイリオ"/>
                        <a:ea typeface="メイリオ"/>
                        <a:cs typeface="メイリオ"/>
                      </a:endParaRPr>
                    </a:p>
                  </a:txBody>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　</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¥924</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¥3,163</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¥3,625</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¥1,057</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¥2,126</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¥2,483</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63536617"/>
                  </a:ext>
                </a:extLst>
              </a:tr>
              <a:tr h="240600">
                <a:tc gridSpan="2">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CVR想定</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hMerge="1">
                  <a:txBody>
                    <a:bodyPr/>
                    <a:lstStyle/>
                    <a:p>
                      <a:endParaRPr kumimoji="1" lang="ja-JP" altLang="en-US">
                        <a:latin typeface="メイリオ"/>
                        <a:ea typeface="メイリオ"/>
                        <a:cs typeface="メイリオ"/>
                      </a:endParaRPr>
                    </a:p>
                  </a:txBody>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　</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3.66%</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4.87%</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4.71%</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5.40%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3.27%</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3.23%</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71317927"/>
                  </a:ext>
                </a:extLst>
              </a:tr>
              <a:tr h="240600">
                <a:tc gridSpan="2">
                  <a:txBody>
                    <a:bodyPr/>
                    <a:lstStyle/>
                    <a:p>
                      <a:pPr algn="ct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CPA想定</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endParaRPr kumimoji="1" lang="ja-JP" altLang="en-US">
                        <a:latin typeface="メイリオ"/>
                        <a:ea typeface="メイリオ"/>
                        <a:cs typeface="メイリオ"/>
                      </a:endParaRPr>
                    </a:p>
                  </a:txBody>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　</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¥25,250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¥65,000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¥77,000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¥19,571</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¥65,000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¥77,000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45297114"/>
                  </a:ext>
                </a:extLst>
              </a:tr>
              <a:tr h="240600">
                <a:tc gridSpan="2">
                  <a:txBody>
                    <a:bodyPr/>
                    <a:lstStyle/>
                    <a:p>
                      <a:pPr algn="ct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成果報酬_費用発生</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endParaRPr kumimoji="1" lang="ja-JP" altLang="en-US">
                        <a:latin typeface="メイリオ"/>
                        <a:ea typeface="メイリオ"/>
                        <a:cs typeface="メイリオ"/>
                      </a:endParaRPr>
                    </a:p>
                  </a:txBody>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　</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¥36,000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¥12,000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¥72,000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¥12,000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73273649"/>
                  </a:ext>
                </a:extLst>
              </a:tr>
              <a:tr h="240600">
                <a:tc gridSpan="2">
                  <a:txBody>
                    <a:bodyPr/>
                    <a:lstStyle/>
                    <a:p>
                      <a:pPr algn="ctr" fontAlgn="ctr">
                        <a:buNone/>
                      </a:pPr>
                      <a:r>
                        <a:rPr lang="ja-JP" sz="800" b="1" i="0" u="none" strike="noStrike" dirty="0">
                          <a:solidFill>
                            <a:srgbClr val="FFFFFF"/>
                          </a:solidFill>
                          <a:effectLst/>
                          <a:latin typeface="メイリオ" panose="020B0604030504040204" pitchFamily="50" charset="-128"/>
                          <a:ea typeface="メイリオ" panose="020B0604030504040204" pitchFamily="50" charset="-128"/>
                          <a:cs typeface="メイリオ"/>
                        </a:rPr>
                        <a:t>総計コスト</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F2A5C"/>
                    </a:solidFill>
                  </a:tcPr>
                </a:tc>
                <a:tc hMerge="1">
                  <a:txBody>
                    <a:bodyPr/>
                    <a:lstStyle/>
                    <a:p>
                      <a:endParaRPr kumimoji="1" lang="ja-JP" altLang="en-US">
                        <a:latin typeface="メイリオ"/>
                        <a:ea typeface="メイリオ"/>
                        <a:cs typeface="メイリオ"/>
                      </a:endParaRPr>
                    </a:p>
                  </a:txBody>
                  <a:tcPr/>
                </a:tc>
                <a:tc>
                  <a:txBody>
                    <a:bodyPr/>
                    <a:lstStyle/>
                    <a:p>
                      <a:pPr algn="r" fontAlgn="ctr">
                        <a:buNone/>
                      </a:pPr>
                      <a:r>
                        <a:rPr lang="ja-JP" sz="800" b="1" i="0" u="none" strike="noStrike">
                          <a:solidFill>
                            <a:srgbClr val="FFFFFF"/>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F2A5C"/>
                    </a:solidFill>
                  </a:tcPr>
                </a:tc>
                <a:tc>
                  <a:txBody>
                    <a:bodyPr/>
                    <a:lstStyle/>
                    <a:p>
                      <a:pPr algn="r" fontAlgn="ctr">
                        <a:buNone/>
                      </a:pPr>
                      <a:r>
                        <a:rPr lang="ja-JP" sz="800" b="1" i="0" u="none" strike="noStrike" dirty="0">
                          <a:solidFill>
                            <a:srgbClr val="000000"/>
                          </a:solidFill>
                          <a:effectLst/>
                          <a:latin typeface="メイリオ" panose="020B0604030504040204" pitchFamily="50" charset="-128"/>
                          <a:ea typeface="メイリオ" panose="020B0604030504040204" pitchFamily="50" charset="-128"/>
                          <a:cs typeface="メイリオ"/>
                        </a:rPr>
                        <a:t>¥295,000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¥101,000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¥65,000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¥77,000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¥137,000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1" i="0" u="none" strike="noStrike" dirty="0">
                          <a:solidFill>
                            <a:srgbClr val="000000"/>
                          </a:solidFill>
                          <a:effectLst/>
                          <a:latin typeface="メイリオ" panose="020B0604030504040204" pitchFamily="50" charset="-128"/>
                          <a:ea typeface="メイリオ" panose="020B0604030504040204" pitchFamily="50" charset="-128"/>
                          <a:cs typeface="メイリオ"/>
                        </a:rPr>
                        <a:t>¥65,000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1" i="0" u="none" strike="noStrike" dirty="0">
                          <a:solidFill>
                            <a:srgbClr val="000000"/>
                          </a:solidFill>
                          <a:effectLst/>
                          <a:latin typeface="メイリオ" panose="020B0604030504040204" pitchFamily="50" charset="-128"/>
                          <a:ea typeface="メイリオ" panose="020B0604030504040204" pitchFamily="50" charset="-128"/>
                          <a:cs typeface="メイリオ"/>
                        </a:rPr>
                        <a:t>¥77,000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75297540"/>
                  </a:ext>
                </a:extLst>
              </a:tr>
            </a:tbl>
          </a:graphicData>
        </a:graphic>
      </p:graphicFrame>
    </p:spTree>
    <p:extLst>
      <p:ext uri="{BB962C8B-B14F-4D97-AF65-F5344CB8AC3E}">
        <p14:creationId xmlns:p14="http://schemas.microsoft.com/office/powerpoint/2010/main" val="42155855"/>
      </p:ext>
    </p:extLst>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Google Shape;752;p28">
            <a:extLst>
              <a:ext uri="{FF2B5EF4-FFF2-40B4-BE49-F238E27FC236}">
                <a16:creationId xmlns:a16="http://schemas.microsoft.com/office/drawing/2014/main" id="{A67513FB-FEEF-76F5-5394-A1A2495F0489}"/>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弊社からご提供できる運用プラン</a:t>
            </a:r>
          </a:p>
        </p:txBody>
      </p:sp>
      <p:sp>
        <p:nvSpPr>
          <p:cNvPr id="9" name="正方形/長方形 8">
            <a:extLst>
              <a:ext uri="{FF2B5EF4-FFF2-40B4-BE49-F238E27FC236}">
                <a16:creationId xmlns:a16="http://schemas.microsoft.com/office/drawing/2014/main" id="{5CF6CD71-4C48-796A-BD54-E778269A9308}"/>
              </a:ext>
            </a:extLst>
          </p:cNvPr>
          <p:cNvSpPr/>
          <p:nvPr/>
        </p:nvSpPr>
        <p:spPr>
          <a:xfrm>
            <a:off x="0" y="777240"/>
            <a:ext cx="210312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cs typeface="メイリオ"/>
              </a:rPr>
              <a:t>成果報酬型プラン</a:t>
            </a:r>
            <a:endParaRPr kumimoji="1" lang="ja-JP" altLang="en-US" sz="1400" dirty="0">
              <a:latin typeface="メイリオ" panose="020B0604030504040204" pitchFamily="50" charset="-128"/>
              <a:ea typeface="メイリオ" panose="020B0604030504040204" pitchFamily="50" charset="-128"/>
              <a:cs typeface="メイリオ"/>
            </a:endParaRPr>
          </a:p>
        </p:txBody>
      </p:sp>
      <p:sp>
        <p:nvSpPr>
          <p:cNvPr id="5" name="Google Shape;752;p28">
            <a:extLst>
              <a:ext uri="{FF2B5EF4-FFF2-40B4-BE49-F238E27FC236}">
                <a16:creationId xmlns:a16="http://schemas.microsoft.com/office/drawing/2014/main" id="{6C35AEF3-D15B-5805-4919-629E6F4207CC}"/>
              </a:ext>
            </a:extLst>
          </p:cNvPr>
          <p:cNvSpPr txBox="1"/>
          <p:nvPr/>
        </p:nvSpPr>
        <p:spPr>
          <a:xfrm>
            <a:off x="2286000" y="859443"/>
            <a:ext cx="7406640"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メイリオ"/>
                <a:sym typeface="Meiryo"/>
              </a:rPr>
              <a:t>施策成果件数に伴う費用発生でリスクを抑えた運用スタートを実現。</a:t>
            </a:r>
          </a:p>
        </p:txBody>
      </p:sp>
      <p:sp>
        <p:nvSpPr>
          <p:cNvPr id="21" name="正方形/長方形 20">
            <a:extLst>
              <a:ext uri="{FF2B5EF4-FFF2-40B4-BE49-F238E27FC236}">
                <a16:creationId xmlns:a16="http://schemas.microsoft.com/office/drawing/2014/main" id="{EEA02B17-0DA2-A3FE-A6E5-243C1724301E}"/>
              </a:ext>
            </a:extLst>
          </p:cNvPr>
          <p:cNvSpPr/>
          <p:nvPr/>
        </p:nvSpPr>
        <p:spPr>
          <a:xfrm>
            <a:off x="548881" y="1405687"/>
            <a:ext cx="4404119" cy="2061098"/>
          </a:xfrm>
          <a:prstGeom prst="rect">
            <a:avLst/>
          </a:prstGeom>
          <a:no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2" name="正方形/長方形 1">
            <a:extLst>
              <a:ext uri="{FF2B5EF4-FFF2-40B4-BE49-F238E27FC236}">
                <a16:creationId xmlns:a16="http://schemas.microsoft.com/office/drawing/2014/main" id="{CA8AA691-8D48-57D0-BF47-34182D3A6DAC}"/>
              </a:ext>
            </a:extLst>
          </p:cNvPr>
          <p:cNvSpPr/>
          <p:nvPr/>
        </p:nvSpPr>
        <p:spPr>
          <a:xfrm>
            <a:off x="748333" y="1594972"/>
            <a:ext cx="2322527" cy="50292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b="1" dirty="0">
                <a:solidFill>
                  <a:schemeClr val="tx1"/>
                </a:solidFill>
                <a:latin typeface="メイリオ" panose="020B0604030504040204" pitchFamily="50" charset="-128"/>
                <a:ea typeface="メイリオ" panose="020B0604030504040204" pitchFamily="50" charset="-128"/>
                <a:cs typeface="メイリオ"/>
              </a:rPr>
              <a:t>成果報酬費用</a:t>
            </a:r>
            <a:endParaRPr kumimoji="1" lang="ja-JP" altLang="en-US" sz="105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6" name="正方形/長方形 5">
            <a:extLst>
              <a:ext uri="{FF2B5EF4-FFF2-40B4-BE49-F238E27FC236}">
                <a16:creationId xmlns:a16="http://schemas.microsoft.com/office/drawing/2014/main" id="{264193FC-5A1A-667F-A9D5-30C2155A72EB}"/>
              </a:ext>
            </a:extLst>
          </p:cNvPr>
          <p:cNvSpPr/>
          <p:nvPr/>
        </p:nvSpPr>
        <p:spPr>
          <a:xfrm>
            <a:off x="3230275" y="1588966"/>
            <a:ext cx="1494125" cy="50292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tx1"/>
                </a:solidFill>
                <a:latin typeface="メイリオ" panose="020B0604030504040204" pitchFamily="50" charset="-128"/>
                <a:ea typeface="メイリオ" panose="020B0604030504040204" pitchFamily="50" charset="-128"/>
                <a:cs typeface="メイリオ"/>
              </a:rPr>
              <a:t>固定費用</a:t>
            </a:r>
            <a:endParaRPr kumimoji="1" lang="ja-JP" altLang="en-US"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7" name="正方形/長方形 6">
            <a:extLst>
              <a:ext uri="{FF2B5EF4-FFF2-40B4-BE49-F238E27FC236}">
                <a16:creationId xmlns:a16="http://schemas.microsoft.com/office/drawing/2014/main" id="{692E0C40-273C-2C77-21FF-EC7A2A1C8F8F}"/>
              </a:ext>
            </a:extLst>
          </p:cNvPr>
          <p:cNvSpPr/>
          <p:nvPr/>
        </p:nvSpPr>
        <p:spPr>
          <a:xfrm>
            <a:off x="748333" y="2116483"/>
            <a:ext cx="2322527" cy="687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b="1" dirty="0">
                <a:solidFill>
                  <a:schemeClr val="tx1"/>
                </a:solidFill>
                <a:latin typeface="メイリオ" panose="020B0604030504040204" pitchFamily="50" charset="-128"/>
                <a:ea typeface="メイリオ" panose="020B0604030504040204" pitchFamily="50" charset="-128"/>
                <a:cs typeface="メイリオ"/>
              </a:rPr>
              <a:t>成果件数 </a:t>
            </a:r>
            <a:r>
              <a:rPr lang="en-US" altLang="ja-JP" sz="1400" b="1" dirty="0">
                <a:solidFill>
                  <a:schemeClr val="tx1"/>
                </a:solidFill>
                <a:latin typeface="メイリオ" panose="020B0604030504040204" pitchFamily="50" charset="-128"/>
                <a:ea typeface="メイリオ" panose="020B0604030504040204" pitchFamily="50" charset="-128"/>
                <a:cs typeface="メイリオ"/>
              </a:rPr>
              <a:t>× </a:t>
            </a:r>
            <a:r>
              <a:rPr lang="ja-JP" altLang="en-US" sz="1400" b="1" dirty="0">
                <a:solidFill>
                  <a:schemeClr val="tx1"/>
                </a:solidFill>
                <a:latin typeface="メイリオ" panose="020B0604030504040204" pitchFamily="50" charset="-128"/>
                <a:ea typeface="メイリオ" panose="020B0604030504040204" pitchFamily="50" charset="-128"/>
                <a:cs typeface="メイリオ"/>
              </a:rPr>
              <a:t>成果報酬単価</a:t>
            </a:r>
            <a:endParaRPr lang="en-US" altLang="ja-JP"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15" name="正方形/長方形 14">
            <a:extLst>
              <a:ext uri="{FF2B5EF4-FFF2-40B4-BE49-F238E27FC236}">
                <a16:creationId xmlns:a16="http://schemas.microsoft.com/office/drawing/2014/main" id="{BAC2B063-6DAA-B7D0-0B1D-E5CC879D23FD}"/>
              </a:ext>
            </a:extLst>
          </p:cNvPr>
          <p:cNvSpPr/>
          <p:nvPr/>
        </p:nvSpPr>
        <p:spPr>
          <a:xfrm>
            <a:off x="3230275" y="2116483"/>
            <a:ext cx="1494125" cy="687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メイリオ" panose="020B0604030504040204" pitchFamily="50" charset="-128"/>
                <a:ea typeface="メイリオ" panose="020B0604030504040204" pitchFamily="50" charset="-128"/>
                <a:cs typeface="メイリオ"/>
              </a:rPr>
              <a:t>アカウント費</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1200" dirty="0">
                <a:solidFill>
                  <a:schemeClr val="tx1"/>
                </a:solidFill>
                <a:latin typeface="メイリオ" panose="020B0604030504040204" pitchFamily="50" charset="-128"/>
                <a:ea typeface="メイリオ" panose="020B0604030504040204" pitchFamily="50" charset="-128"/>
                <a:cs typeface="メイリオ"/>
              </a:rPr>
              <a:t>＋</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1200" dirty="0">
                <a:solidFill>
                  <a:schemeClr val="tx1"/>
                </a:solidFill>
                <a:latin typeface="メイリオ" panose="020B0604030504040204" pitchFamily="50" charset="-128"/>
                <a:ea typeface="メイリオ" panose="020B0604030504040204" pitchFamily="50" charset="-128"/>
                <a:cs typeface="メイリオ"/>
              </a:rPr>
              <a:t>ツール費</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8" name="テキスト ボックス 17">
            <a:extLst>
              <a:ext uri="{FF2B5EF4-FFF2-40B4-BE49-F238E27FC236}">
                <a16:creationId xmlns:a16="http://schemas.microsoft.com/office/drawing/2014/main" id="{0036B929-196A-854E-1925-1967B52BEB27}"/>
              </a:ext>
            </a:extLst>
          </p:cNvPr>
          <p:cNvSpPr txBox="1"/>
          <p:nvPr/>
        </p:nvSpPr>
        <p:spPr>
          <a:xfrm>
            <a:off x="668626" y="1585328"/>
            <a:ext cx="4960620" cy="523220"/>
          </a:xfrm>
          <a:prstGeom prst="rect">
            <a:avLst/>
          </a:prstGeom>
          <a:noFill/>
        </p:spPr>
        <p:txBody>
          <a:bodyPr wrap="square">
            <a:spAutoFit/>
          </a:bodyPr>
          <a:lstStyle/>
          <a:p>
            <a:pPr algn="ctr"/>
            <a:r>
              <a:rPr lang="ja-JP" altLang="en-US" sz="2800" b="1" dirty="0">
                <a:solidFill>
                  <a:schemeClr val="tx1"/>
                </a:solidFill>
                <a:latin typeface="メイリオ" panose="020B0604030504040204" pitchFamily="50" charset="-128"/>
                <a:ea typeface="メイリオ" panose="020B0604030504040204" pitchFamily="50" charset="-128"/>
                <a:cs typeface="メイリオ"/>
              </a:rPr>
              <a:t>＋</a:t>
            </a:r>
            <a:endParaRPr lang="en-US" altLang="ja-JP" sz="28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19" name="正方形/長方形 18">
            <a:extLst>
              <a:ext uri="{FF2B5EF4-FFF2-40B4-BE49-F238E27FC236}">
                <a16:creationId xmlns:a16="http://schemas.microsoft.com/office/drawing/2014/main" id="{C94A4AE5-885C-B98E-00A8-77C51FC7BFE1}"/>
              </a:ext>
            </a:extLst>
          </p:cNvPr>
          <p:cNvSpPr/>
          <p:nvPr/>
        </p:nvSpPr>
        <p:spPr>
          <a:xfrm>
            <a:off x="5080364" y="1405605"/>
            <a:ext cx="4328131" cy="23235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100" dirty="0">
                <a:solidFill>
                  <a:schemeClr val="tx1"/>
                </a:solidFill>
                <a:latin typeface="メイリオ" panose="020B0604030504040204" pitchFamily="50" charset="-128"/>
                <a:ea typeface="メイリオ" panose="020B0604030504040204" pitchFamily="50" charset="-128"/>
                <a:cs typeface="メイリオ"/>
              </a:rPr>
              <a:t> ☑ 複数の</a:t>
            </a:r>
            <a:r>
              <a:rPr lang="en-US" altLang="ja-JP" sz="1100" dirty="0">
                <a:solidFill>
                  <a:schemeClr val="tx1"/>
                </a:solidFill>
                <a:latin typeface="メイリオ" panose="020B0604030504040204" pitchFamily="50" charset="-128"/>
                <a:ea typeface="メイリオ" panose="020B0604030504040204" pitchFamily="50" charset="-128"/>
                <a:cs typeface="メイリオ"/>
              </a:rPr>
              <a:t>LINE</a:t>
            </a:r>
            <a:r>
              <a:rPr lang="ja-JP" altLang="en-US" sz="1100" dirty="0">
                <a:solidFill>
                  <a:schemeClr val="tx1"/>
                </a:solidFill>
                <a:latin typeface="メイリオ" panose="020B0604030504040204" pitchFamily="50" charset="-128"/>
                <a:ea typeface="メイリオ" panose="020B0604030504040204" pitchFamily="50" charset="-128"/>
                <a:cs typeface="メイリオ"/>
              </a:rPr>
              <a:t>流入経路からステップ配信を構築し、</a:t>
            </a:r>
            <a:r>
              <a:rPr lang="en-US" altLang="ja-JP" sz="1100" dirty="0">
                <a:solidFill>
                  <a:schemeClr val="tx1"/>
                </a:solidFill>
                <a:latin typeface="メイリオ" panose="020B0604030504040204" pitchFamily="50" charset="-128"/>
                <a:ea typeface="メイリオ" panose="020B0604030504040204" pitchFamily="50" charset="-128"/>
                <a:cs typeface="メイリオ"/>
              </a:rPr>
              <a:t>CV</a:t>
            </a:r>
            <a:r>
              <a:rPr lang="ja-JP" altLang="en-US" sz="1100" dirty="0">
                <a:solidFill>
                  <a:schemeClr val="tx1"/>
                </a:solidFill>
                <a:latin typeface="メイリオ" panose="020B0604030504040204" pitchFamily="50" charset="-128"/>
                <a:ea typeface="メイリオ" panose="020B0604030504040204" pitchFamily="50" charset="-128"/>
                <a:cs typeface="メイリオ"/>
              </a:rPr>
              <a:t>数を増加。 </a:t>
            </a:r>
            <a:endParaRPr lang="en-US" altLang="ja-JP" sz="11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24" name="正方形/長方形 23">
            <a:extLst>
              <a:ext uri="{FF2B5EF4-FFF2-40B4-BE49-F238E27FC236}">
                <a16:creationId xmlns:a16="http://schemas.microsoft.com/office/drawing/2014/main" id="{4A2D4AF3-1CC4-4934-0B96-59B465612A8D}"/>
              </a:ext>
            </a:extLst>
          </p:cNvPr>
          <p:cNvSpPr/>
          <p:nvPr/>
        </p:nvSpPr>
        <p:spPr>
          <a:xfrm>
            <a:off x="5080363" y="1783080"/>
            <a:ext cx="4328131" cy="23235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100" dirty="0">
                <a:solidFill>
                  <a:schemeClr val="tx1"/>
                </a:solidFill>
                <a:latin typeface="メイリオ" panose="020B0604030504040204" pitchFamily="50" charset="-128"/>
                <a:ea typeface="メイリオ" panose="020B0604030504040204" pitchFamily="50" charset="-128"/>
                <a:cs typeface="メイリオ"/>
              </a:rPr>
              <a:t> ☑ 現状導入しているツール、計測環境に応じて設計が可能。 </a:t>
            </a:r>
            <a:endParaRPr lang="en-US" altLang="ja-JP" sz="11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26" name="テキスト ボックス 25">
            <a:extLst>
              <a:ext uri="{FF2B5EF4-FFF2-40B4-BE49-F238E27FC236}">
                <a16:creationId xmlns:a16="http://schemas.microsoft.com/office/drawing/2014/main" id="{1981C36B-B3F0-8036-014B-17B1A065A490}"/>
              </a:ext>
            </a:extLst>
          </p:cNvPr>
          <p:cNvSpPr txBox="1"/>
          <p:nvPr/>
        </p:nvSpPr>
        <p:spPr>
          <a:xfrm>
            <a:off x="3230275" y="2856669"/>
            <a:ext cx="1715105" cy="215444"/>
          </a:xfrm>
          <a:prstGeom prst="rect">
            <a:avLst/>
          </a:prstGeom>
          <a:noFill/>
        </p:spPr>
        <p:txBody>
          <a:bodyPr wrap="square">
            <a:spAutoFit/>
          </a:bodyPr>
          <a:lstStyle/>
          <a:p>
            <a:r>
              <a:rPr lang="en-US" altLang="ja-JP" sz="800" dirty="0">
                <a:solidFill>
                  <a:srgbClr val="1F2A5C"/>
                </a:solidFill>
                <a:latin typeface="メイリオ" panose="020B0604030504040204" pitchFamily="50" charset="-128"/>
                <a:ea typeface="メイリオ" panose="020B0604030504040204" pitchFamily="50" charset="-128"/>
                <a:cs typeface="メイリオ"/>
              </a:rPr>
              <a:t>※ </a:t>
            </a:r>
            <a:r>
              <a:rPr lang="ja-JP" altLang="en-US" sz="800" dirty="0">
                <a:solidFill>
                  <a:srgbClr val="1F2A5C"/>
                </a:solidFill>
                <a:latin typeface="メイリオ" panose="020B0604030504040204" pitchFamily="50" charset="-128"/>
                <a:ea typeface="メイリオ" panose="020B0604030504040204" pitchFamily="50" charset="-128"/>
                <a:cs typeface="メイリオ"/>
              </a:rPr>
              <a:t>導入ツールに応じて費用発生</a:t>
            </a:r>
            <a:endParaRPr lang="en-US" altLang="ja-JP" sz="8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7" name="テキスト ボックス 26">
            <a:extLst>
              <a:ext uri="{FF2B5EF4-FFF2-40B4-BE49-F238E27FC236}">
                <a16:creationId xmlns:a16="http://schemas.microsoft.com/office/drawing/2014/main" id="{0F171EE4-EBC4-0A03-9342-8E33CDF25A68}"/>
              </a:ext>
            </a:extLst>
          </p:cNvPr>
          <p:cNvSpPr txBox="1"/>
          <p:nvPr/>
        </p:nvSpPr>
        <p:spPr>
          <a:xfrm>
            <a:off x="3230274" y="3083982"/>
            <a:ext cx="1715105" cy="215444"/>
          </a:xfrm>
          <a:prstGeom prst="rect">
            <a:avLst/>
          </a:prstGeom>
          <a:noFill/>
        </p:spPr>
        <p:txBody>
          <a:bodyPr wrap="square">
            <a:spAutoFit/>
          </a:bodyPr>
          <a:lstStyle/>
          <a:p>
            <a:r>
              <a:rPr lang="en-US" altLang="ja-JP" sz="800" dirty="0">
                <a:solidFill>
                  <a:srgbClr val="1F2A5C"/>
                </a:solidFill>
                <a:latin typeface="メイリオ" panose="020B0604030504040204" pitchFamily="50" charset="-128"/>
                <a:ea typeface="メイリオ" panose="020B0604030504040204" pitchFamily="50" charset="-128"/>
                <a:cs typeface="メイリオ"/>
              </a:rPr>
              <a:t>※ </a:t>
            </a:r>
            <a:r>
              <a:rPr lang="ja-JP" altLang="en-US" sz="800" dirty="0">
                <a:solidFill>
                  <a:srgbClr val="1F2A5C"/>
                </a:solidFill>
                <a:latin typeface="メイリオ" panose="020B0604030504040204" pitchFamily="50" charset="-128"/>
                <a:ea typeface="メイリオ" panose="020B0604030504040204" pitchFamily="50" charset="-128"/>
                <a:cs typeface="メイリオ"/>
              </a:rPr>
              <a:t>上限通数を設定して運営可能</a:t>
            </a:r>
            <a:endParaRPr lang="en-US" altLang="ja-JP" sz="8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8" name="テキスト ボックス 27">
            <a:extLst>
              <a:ext uri="{FF2B5EF4-FFF2-40B4-BE49-F238E27FC236}">
                <a16:creationId xmlns:a16="http://schemas.microsoft.com/office/drawing/2014/main" id="{C6B5A64D-6B62-2D6A-1AF5-5EFCEC948063}"/>
              </a:ext>
            </a:extLst>
          </p:cNvPr>
          <p:cNvSpPr txBox="1"/>
          <p:nvPr/>
        </p:nvSpPr>
        <p:spPr>
          <a:xfrm>
            <a:off x="748334" y="2856669"/>
            <a:ext cx="2101546" cy="215444"/>
          </a:xfrm>
          <a:prstGeom prst="rect">
            <a:avLst/>
          </a:prstGeom>
          <a:noFill/>
        </p:spPr>
        <p:txBody>
          <a:bodyPr wrap="square">
            <a:spAutoFit/>
          </a:bodyPr>
          <a:lstStyle/>
          <a:p>
            <a:r>
              <a:rPr lang="en-US" altLang="ja-JP" sz="800" dirty="0">
                <a:solidFill>
                  <a:srgbClr val="1F2A5C"/>
                </a:solidFill>
                <a:latin typeface="メイリオ" panose="020B0604030504040204" pitchFamily="50" charset="-128"/>
                <a:ea typeface="メイリオ" panose="020B0604030504040204" pitchFamily="50" charset="-128"/>
                <a:cs typeface="メイリオ"/>
              </a:rPr>
              <a:t>※ </a:t>
            </a:r>
            <a:r>
              <a:rPr lang="ja-JP" altLang="en-US" sz="800" dirty="0">
                <a:solidFill>
                  <a:srgbClr val="1F2A5C"/>
                </a:solidFill>
                <a:latin typeface="メイリオ" panose="020B0604030504040204" pitchFamily="50" charset="-128"/>
                <a:ea typeface="メイリオ" panose="020B0604030504040204" pitchFamily="50" charset="-128"/>
                <a:cs typeface="メイリオ"/>
              </a:rPr>
              <a:t>成果件数は</a:t>
            </a:r>
            <a:r>
              <a:rPr lang="en-US" altLang="ja-JP" sz="800" dirty="0">
                <a:solidFill>
                  <a:srgbClr val="1F2A5C"/>
                </a:solidFill>
                <a:latin typeface="メイリオ" panose="020B0604030504040204" pitchFamily="50" charset="-128"/>
                <a:ea typeface="メイリオ" panose="020B0604030504040204" pitchFamily="50" charset="-128"/>
                <a:cs typeface="メイリオ"/>
              </a:rPr>
              <a:t>GA</a:t>
            </a:r>
            <a:r>
              <a:rPr lang="ja-JP" altLang="en-US" sz="800" dirty="0">
                <a:solidFill>
                  <a:srgbClr val="1F2A5C"/>
                </a:solidFill>
                <a:latin typeface="メイリオ" panose="020B0604030504040204" pitchFamily="50" charset="-128"/>
                <a:ea typeface="メイリオ" panose="020B0604030504040204" pitchFamily="50" charset="-128"/>
                <a:cs typeface="メイリオ"/>
              </a:rPr>
              <a:t>、他ツールでの計測</a:t>
            </a:r>
            <a:endParaRPr lang="en-US" altLang="ja-JP" sz="8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9" name="テキスト ボックス 28">
            <a:extLst>
              <a:ext uri="{FF2B5EF4-FFF2-40B4-BE49-F238E27FC236}">
                <a16:creationId xmlns:a16="http://schemas.microsoft.com/office/drawing/2014/main" id="{555B5E5B-7EFA-B5FA-0284-3CD0D3947983}"/>
              </a:ext>
            </a:extLst>
          </p:cNvPr>
          <p:cNvSpPr txBox="1"/>
          <p:nvPr/>
        </p:nvSpPr>
        <p:spPr>
          <a:xfrm>
            <a:off x="748333" y="3083982"/>
            <a:ext cx="2322527" cy="215444"/>
          </a:xfrm>
          <a:prstGeom prst="rect">
            <a:avLst/>
          </a:prstGeom>
          <a:noFill/>
        </p:spPr>
        <p:txBody>
          <a:bodyPr wrap="square">
            <a:spAutoFit/>
          </a:bodyPr>
          <a:lstStyle/>
          <a:p>
            <a:r>
              <a:rPr lang="en-US" altLang="ja-JP" sz="800" dirty="0">
                <a:solidFill>
                  <a:srgbClr val="1F2A5C"/>
                </a:solidFill>
                <a:latin typeface="メイリオ" panose="020B0604030504040204" pitchFamily="50" charset="-128"/>
                <a:ea typeface="メイリオ" panose="020B0604030504040204" pitchFamily="50" charset="-128"/>
                <a:cs typeface="メイリオ"/>
              </a:rPr>
              <a:t>※ </a:t>
            </a:r>
            <a:r>
              <a:rPr lang="ja-JP" altLang="en-US" sz="800" dirty="0">
                <a:solidFill>
                  <a:srgbClr val="1F2A5C"/>
                </a:solidFill>
                <a:latin typeface="メイリオ" panose="020B0604030504040204" pitchFamily="50" charset="-128"/>
                <a:ea typeface="メイリオ" panose="020B0604030504040204" pitchFamily="50" charset="-128"/>
                <a:cs typeface="メイリオ"/>
              </a:rPr>
              <a:t>成果報酬単価は広告</a:t>
            </a:r>
            <a:r>
              <a:rPr lang="en-US" altLang="ja-JP" sz="800" dirty="0">
                <a:solidFill>
                  <a:srgbClr val="1F2A5C"/>
                </a:solidFill>
                <a:latin typeface="メイリオ" panose="020B0604030504040204" pitchFamily="50" charset="-128"/>
                <a:ea typeface="メイリオ" panose="020B0604030504040204" pitchFamily="50" charset="-128"/>
                <a:cs typeface="メイリオ"/>
              </a:rPr>
              <a:t>CPA</a:t>
            </a:r>
            <a:r>
              <a:rPr lang="ja-JP" altLang="en-US" sz="800" dirty="0">
                <a:solidFill>
                  <a:srgbClr val="1F2A5C"/>
                </a:solidFill>
                <a:latin typeface="メイリオ" panose="020B0604030504040204" pitchFamily="50" charset="-128"/>
                <a:ea typeface="メイリオ" panose="020B0604030504040204" pitchFamily="50" charset="-128"/>
                <a:cs typeface="メイリオ"/>
              </a:rPr>
              <a:t>に基づき設定</a:t>
            </a:r>
            <a:endParaRPr lang="en-US" altLang="ja-JP" sz="8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3" name="テキスト ボックス 22">
            <a:extLst>
              <a:ext uri="{FF2B5EF4-FFF2-40B4-BE49-F238E27FC236}">
                <a16:creationId xmlns:a16="http://schemas.microsoft.com/office/drawing/2014/main" id="{4C08CE37-3C30-0822-0EDA-FEB4C5F762A4}"/>
              </a:ext>
            </a:extLst>
          </p:cNvPr>
          <p:cNvSpPr txBox="1"/>
          <p:nvPr/>
        </p:nvSpPr>
        <p:spPr>
          <a:xfrm>
            <a:off x="5084483" y="2103120"/>
            <a:ext cx="4324011" cy="415498"/>
          </a:xfrm>
          <a:prstGeom prst="rect">
            <a:avLst/>
          </a:prstGeom>
          <a:noFill/>
        </p:spPr>
        <p:txBody>
          <a:bodyPr wrap="square">
            <a:spAutoFit/>
          </a:bodyPr>
          <a:lstStyle/>
          <a:p>
            <a:r>
              <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 </a:t>
            </a:r>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 </a:t>
            </a:r>
            <a:r>
              <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API</a:t>
            </a:r>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ツール ✓複数の成果地点とそれに伴う成果単価</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 に基づいて、契約における条件の調整が可能です。</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17" name="正方形/長方形 16">
            <a:extLst>
              <a:ext uri="{FF2B5EF4-FFF2-40B4-BE49-F238E27FC236}">
                <a16:creationId xmlns:a16="http://schemas.microsoft.com/office/drawing/2014/main" id="{5D385AB6-97DE-E2AB-6E27-3BFD5D3B3C5D}"/>
              </a:ext>
            </a:extLst>
          </p:cNvPr>
          <p:cNvSpPr/>
          <p:nvPr/>
        </p:nvSpPr>
        <p:spPr>
          <a:xfrm>
            <a:off x="3996942" y="122215"/>
            <a:ext cx="2083719" cy="32075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DYM</a:t>
            </a:r>
            <a:r>
              <a:rPr kumimoji="1" lang="ja-JP" altLang="en-US" sz="1400" dirty="0">
                <a:latin typeface="メイリオ" panose="020B0604030504040204" pitchFamily="50" charset="-128"/>
                <a:ea typeface="メイリオ" panose="020B0604030504040204" pitchFamily="50" charset="-128"/>
                <a:cs typeface="メイリオ"/>
              </a:rPr>
              <a:t>プラン</a:t>
            </a:r>
          </a:p>
        </p:txBody>
      </p:sp>
      <p:sp>
        <p:nvSpPr>
          <p:cNvPr id="30" name="小見出し"/>
          <p:cNvSpPr/>
          <p:nvPr/>
        </p:nvSpPr>
        <p:spPr>
          <a:xfrm>
            <a:off x="548640" y="3749039"/>
            <a:ext cx="8860536" cy="320040"/>
          </a:xfrm>
          <a:prstGeom prst="rect">
            <a:avLst/>
          </a:prstGeom>
          <a:noFill/>
          <a:ln>
            <a:noFill/>
          </a:ln>
        </p:spPr>
        <p:txBody>
          <a:bodyPr wrap="square" lIns="0" tIns="0" rIns="0" bIns="0" rtlCol="0" anchor="ctr">
            <a:noAutofit/>
          </a:bodyPr>
          <a:lstStyle/>
          <a:p>
            <a:pPr algn="l">
              <a:buNone/>
            </a:pPr>
            <a:r>
              <a:rPr lang="ja-JP" altLang="en-US" sz="1300" b="1" dirty="0">
                <a:solidFill>
                  <a:srgbClr val="002060"/>
                </a:solidFill>
                <a:latin typeface="メイリオ" panose="020B0604030504040204" pitchFamily="50" charset="-128"/>
                <a:ea typeface="メイリオ" panose="020B0604030504040204" pitchFamily="50" charset="-128"/>
                <a:cs typeface="メイリオ"/>
              </a:rPr>
              <a:t>今回の成果単価の費用感</a:t>
            </a:r>
            <a:endParaRPr lang="ja-JP" altLang="en-US" sz="1200" dirty="0">
              <a:latin typeface="メイリオ"/>
              <a:ea typeface="メイリオ"/>
              <a:cs typeface="メイリオ"/>
            </a:endParaRPr>
          </a:p>
        </p:txBody>
      </p:sp>
      <p:graphicFrame>
        <p:nvGraphicFramePr>
          <p:cNvPr id="31" name="成果報酬単価 30"/>
          <p:cNvGraphicFramePr>
            <a:graphicFrameLocks noGrp="1"/>
          </p:cNvGraphicFramePr>
          <p:nvPr/>
        </p:nvGraphicFramePr>
        <p:xfrm>
          <a:off x="548640" y="4114800"/>
          <a:ext cx="8860536" cy="1325880"/>
        </p:xfrm>
        <a:graphic>
          <a:graphicData uri="http://schemas.openxmlformats.org/drawingml/2006/table">
            <a:tbl>
              <a:tblPr/>
              <a:tblGrid>
                <a:gridCol w="237744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4105656">
                  <a:extLst>
                    <a:ext uri="{9D8B030D-6E8A-4147-A177-3AD203B41FA5}">
                      <a16:colId xmlns:a16="http://schemas.microsoft.com/office/drawing/2014/main" val="20002"/>
                    </a:ext>
                  </a:extLst>
                </a:gridCol>
              </a:tblGrid>
              <a:tr h="41148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成果の地点</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成果報酬単価</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成果件数の数え方</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extLst>
                  <a:ext uri="{0D108BD9-81ED-4DB2-BD59-A6C34878D82A}">
                    <a16:rowId xmlns:a16="http://schemas.microsoft.com/office/drawing/2014/main" val="10000"/>
                  </a:ext>
                </a:extLst>
              </a:tr>
              <a:tr h="457200">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セミナー予約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ctr">
                        <a:buNone/>
                      </a:pPr>
                      <a:r>
                        <a:rPr lang="ja-JP" altLang="en-US" sz="1600" b="1" dirty="0">
                          <a:solidFill>
                            <a:srgbClr val="002060"/>
                          </a:solidFill>
                          <a:latin typeface="メイリオ" panose="020B0604030504040204" pitchFamily="50" charset="-128"/>
                          <a:ea typeface="メイリオ" panose="020B0604030504040204" pitchFamily="50" charset="-128"/>
                          <a:cs typeface="メイリオ"/>
                        </a:rPr>
                        <a:t>12,000円／件</a:t>
                      </a:r>
                      <a:endParaRPr lang="ja-JP" altLang="en-US" sz="16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LINEのリンクからのセミナー予約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リピート予約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ctr">
                        <a:buNone/>
                      </a:pPr>
                      <a:r>
                        <a:rPr lang="ja-JP" altLang="en-US" sz="1600" b="1" dirty="0">
                          <a:solidFill>
                            <a:srgbClr val="002060"/>
                          </a:solidFill>
                          <a:latin typeface="メイリオ" panose="020B0604030504040204" pitchFamily="50" charset="-128"/>
                          <a:ea typeface="メイリオ" panose="020B0604030504040204" pitchFamily="50" charset="-128"/>
                          <a:cs typeface="メイリオ"/>
                        </a:rPr>
                        <a:t>12,000円／件</a:t>
                      </a:r>
                      <a:endParaRPr lang="ja-JP" altLang="en-US" sz="16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LINEのリンクからの2回目以降の予約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0CDE0-BB10-C7C6-9CB9-785832AABAF6}"/>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4DA5ED1-E7F2-6353-56C2-FA4628CF19B0}"/>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弊社からご提供できる運用プラン</a:t>
            </a:r>
          </a:p>
        </p:txBody>
      </p:sp>
      <p:sp>
        <p:nvSpPr>
          <p:cNvPr id="9" name="正方形/長方形 8">
            <a:extLst>
              <a:ext uri="{FF2B5EF4-FFF2-40B4-BE49-F238E27FC236}">
                <a16:creationId xmlns:a16="http://schemas.microsoft.com/office/drawing/2014/main" id="{2AEA7C23-DE93-9590-AE94-B792C3122BEF}"/>
              </a:ext>
            </a:extLst>
          </p:cNvPr>
          <p:cNvSpPr/>
          <p:nvPr/>
        </p:nvSpPr>
        <p:spPr>
          <a:xfrm>
            <a:off x="0" y="68157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cs typeface="メイリオ"/>
              </a:rPr>
              <a:t>サービス内容</a:t>
            </a:r>
            <a:endParaRPr kumimoji="1" lang="ja-JP" altLang="en-US" sz="1400" dirty="0">
              <a:latin typeface="メイリオ" panose="020B0604030504040204" pitchFamily="50" charset="-128"/>
              <a:ea typeface="メイリオ" panose="020B0604030504040204" pitchFamily="50" charset="-128"/>
              <a:cs typeface="メイリオ"/>
            </a:endParaRPr>
          </a:p>
        </p:txBody>
      </p:sp>
      <p:sp>
        <p:nvSpPr>
          <p:cNvPr id="5" name="Google Shape;752;p28">
            <a:extLst>
              <a:ext uri="{FF2B5EF4-FFF2-40B4-BE49-F238E27FC236}">
                <a16:creationId xmlns:a16="http://schemas.microsoft.com/office/drawing/2014/main" id="{9D6FEB09-4D8F-8EAE-D257-4C677C23BB92}"/>
              </a:ext>
            </a:extLst>
          </p:cNvPr>
          <p:cNvSpPr txBox="1"/>
          <p:nvPr/>
        </p:nvSpPr>
        <p:spPr>
          <a:xfrm>
            <a:off x="2983774" y="782870"/>
            <a:ext cx="661987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メイリオ"/>
                <a:sym typeface="Meiryo"/>
              </a:rPr>
              <a:t>施策成果件数に伴う費用発生でリスクを抑えた運用スタートを実現。</a:t>
            </a:r>
          </a:p>
        </p:txBody>
      </p:sp>
      <p:sp>
        <p:nvSpPr>
          <p:cNvPr id="17" name="正方形/長方形 16">
            <a:extLst>
              <a:ext uri="{FF2B5EF4-FFF2-40B4-BE49-F238E27FC236}">
                <a16:creationId xmlns:a16="http://schemas.microsoft.com/office/drawing/2014/main" id="{64B91377-FDB2-808E-0970-159FDA78ABB9}"/>
              </a:ext>
            </a:extLst>
          </p:cNvPr>
          <p:cNvSpPr/>
          <p:nvPr/>
        </p:nvSpPr>
        <p:spPr>
          <a:xfrm>
            <a:off x="3996942" y="122215"/>
            <a:ext cx="2083719" cy="32075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DYM</a:t>
            </a:r>
            <a:r>
              <a:rPr kumimoji="1" lang="ja-JP" altLang="en-US" sz="1400" dirty="0">
                <a:latin typeface="メイリオ" panose="020B0604030504040204" pitchFamily="50" charset="-128"/>
                <a:ea typeface="メイリオ" panose="020B0604030504040204" pitchFamily="50" charset="-128"/>
                <a:cs typeface="メイリオ"/>
              </a:rPr>
              <a:t>プラン</a:t>
            </a:r>
          </a:p>
        </p:txBody>
      </p:sp>
      <p:sp>
        <p:nvSpPr>
          <p:cNvPr id="3" name="Shape 2">
            <a:extLst>
              <a:ext uri="{FF2B5EF4-FFF2-40B4-BE49-F238E27FC236}">
                <a16:creationId xmlns:a16="http://schemas.microsoft.com/office/drawing/2014/main" id="{133EC02F-4D0A-E846-1994-A1FA50AA761C}"/>
              </a:ext>
            </a:extLst>
          </p:cNvPr>
          <p:cNvSpPr/>
          <p:nvPr/>
        </p:nvSpPr>
        <p:spPr>
          <a:xfrm>
            <a:off x="3996942" y="1299722"/>
            <a:ext cx="5180076" cy="658368"/>
          </a:xfrm>
          <a:prstGeom prst="roundRect">
            <a:avLst>
              <a:gd name="adj" fmla="val 11111"/>
            </a:avLst>
          </a:prstGeom>
          <a:solidFill>
            <a:schemeClr val="bg1">
              <a:lumMod val="85000"/>
            </a:schemeClr>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2" name="Shape 3">
            <a:extLst>
              <a:ext uri="{FF2B5EF4-FFF2-40B4-BE49-F238E27FC236}">
                <a16:creationId xmlns:a16="http://schemas.microsoft.com/office/drawing/2014/main" id="{B03D337C-CE0C-8D62-1622-3E7F414F385E}"/>
              </a:ext>
            </a:extLst>
          </p:cNvPr>
          <p:cNvSpPr/>
          <p:nvPr/>
        </p:nvSpPr>
        <p:spPr>
          <a:xfrm>
            <a:off x="4232400" y="1391162"/>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5" name="Text 4">
            <a:extLst>
              <a:ext uri="{FF2B5EF4-FFF2-40B4-BE49-F238E27FC236}">
                <a16:creationId xmlns:a16="http://schemas.microsoft.com/office/drawing/2014/main" id="{B1A45445-BB59-E57C-783F-82C190B07BF0}"/>
              </a:ext>
            </a:extLst>
          </p:cNvPr>
          <p:cNvSpPr/>
          <p:nvPr/>
        </p:nvSpPr>
        <p:spPr>
          <a:xfrm>
            <a:off x="4232400" y="1391162"/>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01</a:t>
            </a:r>
            <a:endParaRPr lang="en-US" sz="1300" dirty="0">
              <a:latin typeface="メイリオ" panose="020B0604030504040204" pitchFamily="50" charset="-128"/>
              <a:ea typeface="メイリオ" panose="020B0604030504040204" pitchFamily="50" charset="-128"/>
              <a:cs typeface="メイリオ"/>
            </a:endParaRPr>
          </a:p>
        </p:txBody>
      </p:sp>
      <p:sp>
        <p:nvSpPr>
          <p:cNvPr id="30" name="Text 5">
            <a:extLst>
              <a:ext uri="{FF2B5EF4-FFF2-40B4-BE49-F238E27FC236}">
                <a16:creationId xmlns:a16="http://schemas.microsoft.com/office/drawing/2014/main" id="{9B28CF00-AAB9-C0E8-E939-BB9A0644E64F}"/>
              </a:ext>
            </a:extLst>
          </p:cNvPr>
          <p:cNvSpPr/>
          <p:nvPr/>
        </p:nvSpPr>
        <p:spPr>
          <a:xfrm>
            <a:off x="4872480" y="1354586"/>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カスタマージャーニー（8フェーズ）</a:t>
            </a:r>
            <a:endParaRPr lang="en-US" sz="1300" dirty="0">
              <a:latin typeface="メイリオ" panose="020B0604030504040204" pitchFamily="50" charset="-128"/>
              <a:ea typeface="メイリオ" panose="020B0604030504040204" pitchFamily="50" charset="-128"/>
              <a:cs typeface="メイリオ"/>
            </a:endParaRPr>
          </a:p>
        </p:txBody>
      </p:sp>
      <p:sp>
        <p:nvSpPr>
          <p:cNvPr id="31" name="Text 6">
            <a:extLst>
              <a:ext uri="{FF2B5EF4-FFF2-40B4-BE49-F238E27FC236}">
                <a16:creationId xmlns:a16="http://schemas.microsoft.com/office/drawing/2014/main" id="{859B7776-633B-4EB8-939E-2F40912A0B26}"/>
              </a:ext>
            </a:extLst>
          </p:cNvPr>
          <p:cNvSpPr/>
          <p:nvPr/>
        </p:nvSpPr>
        <p:spPr>
          <a:xfrm>
            <a:off x="4872480" y="1647194"/>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000" dirty="0">
                <a:solidFill>
                  <a:srgbClr val="64748B"/>
                </a:solidFill>
                <a:latin typeface="メイリオ" panose="020B0604030504040204" pitchFamily="50" charset="-128"/>
                <a:ea typeface="メイリオ" panose="020B0604030504040204" pitchFamily="50" charset="-128"/>
                <a:cs typeface="メイリオ" pitchFamily="34" charset="-120"/>
              </a:rPr>
              <a:t>接触〜リピートまでの動線設計</a:t>
            </a:r>
            <a:endParaRPr lang="en-US" sz="1000" dirty="0">
              <a:latin typeface="メイリオ" panose="020B0604030504040204" pitchFamily="50" charset="-128"/>
              <a:ea typeface="メイリオ" panose="020B0604030504040204" pitchFamily="50" charset="-128"/>
              <a:cs typeface="メイリオ"/>
            </a:endParaRPr>
          </a:p>
        </p:txBody>
      </p:sp>
      <p:sp>
        <p:nvSpPr>
          <p:cNvPr id="32" name="Shape 7">
            <a:extLst>
              <a:ext uri="{FF2B5EF4-FFF2-40B4-BE49-F238E27FC236}">
                <a16:creationId xmlns:a16="http://schemas.microsoft.com/office/drawing/2014/main" id="{7D44BDCF-0A55-B2C9-910D-3324635E44D1}"/>
              </a:ext>
            </a:extLst>
          </p:cNvPr>
          <p:cNvSpPr/>
          <p:nvPr/>
        </p:nvSpPr>
        <p:spPr>
          <a:xfrm>
            <a:off x="3996942" y="2067818"/>
            <a:ext cx="5180076" cy="658368"/>
          </a:xfrm>
          <a:prstGeom prst="roundRect">
            <a:avLst>
              <a:gd name="adj" fmla="val 11111"/>
            </a:avLst>
          </a:prstGeom>
          <a:solidFill>
            <a:srgbClr val="FFFF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3" name="Shape 8">
            <a:extLst>
              <a:ext uri="{FF2B5EF4-FFF2-40B4-BE49-F238E27FC236}">
                <a16:creationId xmlns:a16="http://schemas.microsoft.com/office/drawing/2014/main" id="{6B95D5FC-BCA7-C12E-16F3-F3982D7CB7FF}"/>
              </a:ext>
            </a:extLst>
          </p:cNvPr>
          <p:cNvSpPr/>
          <p:nvPr/>
        </p:nvSpPr>
        <p:spPr>
          <a:xfrm>
            <a:off x="4232400" y="2159258"/>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4" name="Text 9">
            <a:extLst>
              <a:ext uri="{FF2B5EF4-FFF2-40B4-BE49-F238E27FC236}">
                <a16:creationId xmlns:a16="http://schemas.microsoft.com/office/drawing/2014/main" id="{337B0579-C212-59E6-2BF8-06592B5DE9B2}"/>
              </a:ext>
            </a:extLst>
          </p:cNvPr>
          <p:cNvSpPr/>
          <p:nvPr/>
        </p:nvSpPr>
        <p:spPr>
          <a:xfrm>
            <a:off x="4232400" y="2159258"/>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02</a:t>
            </a:r>
            <a:endParaRPr lang="en-US" sz="1300" dirty="0">
              <a:latin typeface="メイリオ" panose="020B0604030504040204" pitchFamily="50" charset="-128"/>
              <a:ea typeface="メイリオ" panose="020B0604030504040204" pitchFamily="50" charset="-128"/>
              <a:cs typeface="メイリオ"/>
            </a:endParaRPr>
          </a:p>
        </p:txBody>
      </p:sp>
      <p:sp>
        <p:nvSpPr>
          <p:cNvPr id="35" name="Text 10">
            <a:extLst>
              <a:ext uri="{FF2B5EF4-FFF2-40B4-BE49-F238E27FC236}">
                <a16:creationId xmlns:a16="http://schemas.microsoft.com/office/drawing/2014/main" id="{920D37BD-A1AA-216C-CD8A-FC40DD16D16E}"/>
              </a:ext>
            </a:extLst>
          </p:cNvPr>
          <p:cNvSpPr/>
          <p:nvPr/>
        </p:nvSpPr>
        <p:spPr>
          <a:xfrm>
            <a:off x="4872480" y="2122682"/>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LINEステップ配信シナリオ（</a:t>
            </a:r>
            <a:r>
              <a:rPr lang="en-US" altLang="ja-JP" sz="1300" b="1" dirty="0">
                <a:solidFill>
                  <a:srgbClr val="1E2761"/>
                </a:solidFill>
                <a:latin typeface="メイリオ" panose="020B0604030504040204" pitchFamily="50" charset="-128"/>
                <a:ea typeface="メイリオ" panose="020B0604030504040204" pitchFamily="50" charset="-128"/>
                <a:cs typeface="メイリオ" pitchFamily="34" charset="-120"/>
              </a:rPr>
              <a:t>4</a:t>
            </a:r>
            <a:r>
              <a:rPr 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-8</a:t>
            </a:r>
            <a:r>
              <a:rPr lang="ja-JP" alt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本</a:t>
            </a:r>
            <a:r>
              <a:rPr 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a:t>
            </a:r>
            <a:endParaRPr lang="en-US" sz="1300" dirty="0">
              <a:latin typeface="メイリオ" panose="020B0604030504040204" pitchFamily="50" charset="-128"/>
              <a:ea typeface="メイリオ" panose="020B0604030504040204" pitchFamily="50" charset="-128"/>
              <a:cs typeface="メイリオ"/>
            </a:endParaRPr>
          </a:p>
        </p:txBody>
      </p:sp>
      <p:sp>
        <p:nvSpPr>
          <p:cNvPr id="36" name="Text 11">
            <a:extLst>
              <a:ext uri="{FF2B5EF4-FFF2-40B4-BE49-F238E27FC236}">
                <a16:creationId xmlns:a16="http://schemas.microsoft.com/office/drawing/2014/main" id="{974E4765-6EBA-5838-ABF7-F21BBF0480C5}"/>
              </a:ext>
            </a:extLst>
          </p:cNvPr>
          <p:cNvSpPr/>
          <p:nvPr/>
        </p:nvSpPr>
        <p:spPr>
          <a:xfrm>
            <a:off x="4872480" y="2415290"/>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000" dirty="0">
                <a:solidFill>
                  <a:srgbClr val="64748B"/>
                </a:solidFill>
                <a:latin typeface="メイリオ" panose="020B0604030504040204" pitchFamily="50" charset="-128"/>
                <a:ea typeface="メイリオ" panose="020B0604030504040204" pitchFamily="50" charset="-128"/>
                <a:cs typeface="メイリオ" pitchFamily="34" charset="-120"/>
              </a:rPr>
              <a:t>友だち追加直後〜成約誘導まで</a:t>
            </a:r>
            <a:endParaRPr lang="en-US" sz="1000" dirty="0">
              <a:latin typeface="メイリオ" panose="020B0604030504040204" pitchFamily="50" charset="-128"/>
              <a:ea typeface="メイリオ" panose="020B0604030504040204" pitchFamily="50" charset="-128"/>
              <a:cs typeface="メイリオ"/>
            </a:endParaRPr>
          </a:p>
        </p:txBody>
      </p:sp>
      <p:sp>
        <p:nvSpPr>
          <p:cNvPr id="37" name="Shape 12">
            <a:extLst>
              <a:ext uri="{FF2B5EF4-FFF2-40B4-BE49-F238E27FC236}">
                <a16:creationId xmlns:a16="http://schemas.microsoft.com/office/drawing/2014/main" id="{D811E673-9797-08AA-F052-158BFDE9379B}"/>
              </a:ext>
            </a:extLst>
          </p:cNvPr>
          <p:cNvSpPr/>
          <p:nvPr/>
        </p:nvSpPr>
        <p:spPr>
          <a:xfrm>
            <a:off x="3996942" y="2835914"/>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8" name="Shape 13">
            <a:extLst>
              <a:ext uri="{FF2B5EF4-FFF2-40B4-BE49-F238E27FC236}">
                <a16:creationId xmlns:a16="http://schemas.microsoft.com/office/drawing/2014/main" id="{11CD1AF8-999B-AEAA-EA44-B774D877F777}"/>
              </a:ext>
            </a:extLst>
          </p:cNvPr>
          <p:cNvSpPr/>
          <p:nvPr/>
        </p:nvSpPr>
        <p:spPr>
          <a:xfrm>
            <a:off x="4232400" y="2927354"/>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9" name="Text 14">
            <a:extLst>
              <a:ext uri="{FF2B5EF4-FFF2-40B4-BE49-F238E27FC236}">
                <a16:creationId xmlns:a16="http://schemas.microsoft.com/office/drawing/2014/main" id="{39EC602B-88CD-63D2-D10B-5FB47EBB73C5}"/>
              </a:ext>
            </a:extLst>
          </p:cNvPr>
          <p:cNvSpPr/>
          <p:nvPr/>
        </p:nvSpPr>
        <p:spPr>
          <a:xfrm>
            <a:off x="4232400" y="2927354"/>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03</a:t>
            </a:r>
            <a:endParaRPr lang="en-US" sz="1300" dirty="0">
              <a:latin typeface="メイリオ" panose="020B0604030504040204" pitchFamily="50" charset="-128"/>
              <a:ea typeface="メイリオ" panose="020B0604030504040204" pitchFamily="50" charset="-128"/>
              <a:cs typeface="メイリオ"/>
            </a:endParaRPr>
          </a:p>
        </p:txBody>
      </p:sp>
      <p:sp>
        <p:nvSpPr>
          <p:cNvPr id="40" name="Text 15">
            <a:extLst>
              <a:ext uri="{FF2B5EF4-FFF2-40B4-BE49-F238E27FC236}">
                <a16:creationId xmlns:a16="http://schemas.microsoft.com/office/drawing/2014/main" id="{0AEE18E8-A2E5-2400-F73C-D5891E9A42FC}"/>
              </a:ext>
            </a:extLst>
          </p:cNvPr>
          <p:cNvSpPr/>
          <p:nvPr/>
        </p:nvSpPr>
        <p:spPr>
          <a:xfrm>
            <a:off x="4872480" y="2890778"/>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メイリオ" pitchFamily="34" charset="-120"/>
              </a:rPr>
              <a:t>アンケート設計（直接関与</a:t>
            </a:r>
            <a:r>
              <a:rPr lang="en-US" altLang="ja-JP" sz="1300" b="1" dirty="0">
                <a:solidFill>
                  <a:srgbClr val="1E2761"/>
                </a:solidFill>
                <a:latin typeface="メイリオ" panose="020B0604030504040204" pitchFamily="50" charset="-128"/>
                <a:ea typeface="メイリオ" panose="020B0604030504040204" pitchFamily="50" charset="-128"/>
                <a:cs typeface="メイリオ" pitchFamily="34" charset="-120"/>
              </a:rPr>
              <a:t> / </a:t>
            </a:r>
            <a:r>
              <a:rPr lang="en-US" altLang="ja-JP" sz="1300" b="1" dirty="0" err="1">
                <a:solidFill>
                  <a:srgbClr val="1E2761"/>
                </a:solidFill>
                <a:latin typeface="メイリオ" panose="020B0604030504040204" pitchFamily="50" charset="-128"/>
                <a:ea typeface="メイリオ" panose="020B0604030504040204" pitchFamily="50" charset="-128"/>
                <a:cs typeface="メイリオ" pitchFamily="34" charset="-120"/>
              </a:rPr>
              <a:t>診断型</a:t>
            </a:r>
            <a:r>
              <a:rPr lang="en-US" altLang="ja-JP" sz="1300" b="1" dirty="0">
                <a:solidFill>
                  <a:srgbClr val="1E2761"/>
                </a:solidFill>
                <a:latin typeface="メイリオ" panose="020B0604030504040204" pitchFamily="50" charset="-128"/>
                <a:ea typeface="メイリオ" panose="020B0604030504040204" pitchFamily="50" charset="-128"/>
                <a:cs typeface="メイリオ" pitchFamily="34" charset="-120"/>
              </a:rPr>
              <a:t>）</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42" name="Text 16">
            <a:extLst>
              <a:ext uri="{FF2B5EF4-FFF2-40B4-BE49-F238E27FC236}">
                <a16:creationId xmlns:a16="http://schemas.microsoft.com/office/drawing/2014/main" id="{B4775A80-7B08-FF59-7696-55B7BFFE29C0}"/>
              </a:ext>
            </a:extLst>
          </p:cNvPr>
          <p:cNvSpPr/>
          <p:nvPr/>
        </p:nvSpPr>
        <p:spPr>
          <a:xfrm>
            <a:off x="4872480" y="3183386"/>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メイリオ" pitchFamily="34" charset="-120"/>
              </a:rPr>
              <a:t>リード有効化＋長期追客セグメント戦略</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43" name="Shape 17">
            <a:extLst>
              <a:ext uri="{FF2B5EF4-FFF2-40B4-BE49-F238E27FC236}">
                <a16:creationId xmlns:a16="http://schemas.microsoft.com/office/drawing/2014/main" id="{3D356BBE-5EFA-8143-1308-9A8F66D3D8F4}"/>
              </a:ext>
            </a:extLst>
          </p:cNvPr>
          <p:cNvSpPr/>
          <p:nvPr/>
        </p:nvSpPr>
        <p:spPr>
          <a:xfrm>
            <a:off x="3996942" y="3604010"/>
            <a:ext cx="5180076" cy="658368"/>
          </a:xfrm>
          <a:prstGeom prst="roundRect">
            <a:avLst>
              <a:gd name="adj" fmla="val 11111"/>
            </a:avLst>
          </a:prstGeom>
          <a:solidFill>
            <a:srgbClr val="FFFF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4" name="Shape 18">
            <a:extLst>
              <a:ext uri="{FF2B5EF4-FFF2-40B4-BE49-F238E27FC236}">
                <a16:creationId xmlns:a16="http://schemas.microsoft.com/office/drawing/2014/main" id="{347BFA19-EB93-7D44-5D29-87E8A0640967}"/>
              </a:ext>
            </a:extLst>
          </p:cNvPr>
          <p:cNvSpPr/>
          <p:nvPr/>
        </p:nvSpPr>
        <p:spPr>
          <a:xfrm>
            <a:off x="4232400" y="3695450"/>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5" name="Text 19">
            <a:extLst>
              <a:ext uri="{FF2B5EF4-FFF2-40B4-BE49-F238E27FC236}">
                <a16:creationId xmlns:a16="http://schemas.microsoft.com/office/drawing/2014/main" id="{808039CB-8A35-B1E6-353C-C961982DAEEE}"/>
              </a:ext>
            </a:extLst>
          </p:cNvPr>
          <p:cNvSpPr/>
          <p:nvPr/>
        </p:nvSpPr>
        <p:spPr>
          <a:xfrm>
            <a:off x="4232400" y="3695450"/>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04</a:t>
            </a:r>
            <a:endParaRPr lang="en-US" sz="1300" dirty="0">
              <a:latin typeface="メイリオ" panose="020B0604030504040204" pitchFamily="50" charset="-128"/>
              <a:ea typeface="メイリオ" panose="020B0604030504040204" pitchFamily="50" charset="-128"/>
              <a:cs typeface="メイリオ"/>
            </a:endParaRPr>
          </a:p>
        </p:txBody>
      </p:sp>
      <p:sp>
        <p:nvSpPr>
          <p:cNvPr id="46" name="Text 20">
            <a:extLst>
              <a:ext uri="{FF2B5EF4-FFF2-40B4-BE49-F238E27FC236}">
                <a16:creationId xmlns:a16="http://schemas.microsoft.com/office/drawing/2014/main" id="{5510FCD4-7246-36B3-3CB6-AE9EB64B95B8}"/>
              </a:ext>
            </a:extLst>
          </p:cNvPr>
          <p:cNvSpPr/>
          <p:nvPr/>
        </p:nvSpPr>
        <p:spPr>
          <a:xfrm>
            <a:off x="4872480" y="3658874"/>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ja-JP" alt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セグメント設定</a:t>
            </a:r>
            <a:endParaRPr lang="en-US" sz="1300" dirty="0">
              <a:latin typeface="メイリオ" panose="020B0604030504040204" pitchFamily="50" charset="-128"/>
              <a:ea typeface="メイリオ" panose="020B0604030504040204" pitchFamily="50" charset="-128"/>
              <a:cs typeface="メイリオ"/>
            </a:endParaRPr>
          </a:p>
        </p:txBody>
      </p:sp>
      <p:sp>
        <p:nvSpPr>
          <p:cNvPr id="47" name="Text 21">
            <a:extLst>
              <a:ext uri="{FF2B5EF4-FFF2-40B4-BE49-F238E27FC236}">
                <a16:creationId xmlns:a16="http://schemas.microsoft.com/office/drawing/2014/main" id="{30188B70-2DE7-6DC7-0865-6F6103AD5132}"/>
              </a:ext>
            </a:extLst>
          </p:cNvPr>
          <p:cNvSpPr/>
          <p:nvPr/>
        </p:nvSpPr>
        <p:spPr>
          <a:xfrm>
            <a:off x="4872480" y="3951482"/>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endParaRPr lang="en-US" sz="1000" dirty="0">
              <a:latin typeface="メイリオ" panose="020B0604030504040204" pitchFamily="50" charset="-128"/>
              <a:ea typeface="メイリオ" panose="020B0604030504040204" pitchFamily="50" charset="-128"/>
              <a:cs typeface="メイリオ"/>
            </a:endParaRPr>
          </a:p>
        </p:txBody>
      </p:sp>
      <p:sp>
        <p:nvSpPr>
          <p:cNvPr id="49" name="Text 16">
            <a:extLst>
              <a:ext uri="{FF2B5EF4-FFF2-40B4-BE49-F238E27FC236}">
                <a16:creationId xmlns:a16="http://schemas.microsoft.com/office/drawing/2014/main" id="{5224712D-B17D-A02C-3D89-CC6242B38B83}"/>
              </a:ext>
            </a:extLst>
          </p:cNvPr>
          <p:cNvSpPr/>
          <p:nvPr/>
        </p:nvSpPr>
        <p:spPr>
          <a:xfrm>
            <a:off x="4872480" y="3965198"/>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a:latin typeface="メイリオ" panose="020B0604030504040204" pitchFamily="50" charset="-128"/>
                <a:ea typeface="メイリオ" panose="020B0604030504040204" pitchFamily="50" charset="-128"/>
                <a:cs typeface="メイリオ"/>
              </a:rPr>
              <a:t>WEB</a:t>
            </a:r>
            <a:r>
              <a:rPr lang="ja-JP" altLang="en-US" sz="1000" dirty="0">
                <a:latin typeface="メイリオ" panose="020B0604030504040204" pitchFamily="50" charset="-128"/>
                <a:ea typeface="メイリオ" panose="020B0604030504040204" pitchFamily="50" charset="-128"/>
                <a:cs typeface="メイリオ"/>
              </a:rPr>
              <a:t>サイトアクション、</a:t>
            </a:r>
            <a:r>
              <a:rPr lang="en-US" altLang="ja-JP" sz="1000" dirty="0">
                <a:latin typeface="メイリオ" panose="020B0604030504040204" pitchFamily="50" charset="-128"/>
                <a:ea typeface="メイリオ" panose="020B0604030504040204" pitchFamily="50" charset="-128"/>
                <a:cs typeface="メイリオ"/>
              </a:rPr>
              <a:t>LINE</a:t>
            </a:r>
            <a:r>
              <a:rPr lang="ja-JP" altLang="en-US" sz="1000" dirty="0">
                <a:latin typeface="メイリオ" panose="020B0604030504040204" pitchFamily="50" charset="-128"/>
                <a:ea typeface="メイリオ" panose="020B0604030504040204" pitchFamily="50" charset="-128"/>
                <a:cs typeface="メイリオ"/>
              </a:rPr>
              <a:t>上アクションのスコアリング 等を活用</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52" name="Shape 12">
            <a:extLst>
              <a:ext uri="{FF2B5EF4-FFF2-40B4-BE49-F238E27FC236}">
                <a16:creationId xmlns:a16="http://schemas.microsoft.com/office/drawing/2014/main" id="{FEE65136-327D-500B-12B2-F775BA661CA0}"/>
              </a:ext>
            </a:extLst>
          </p:cNvPr>
          <p:cNvSpPr/>
          <p:nvPr/>
        </p:nvSpPr>
        <p:spPr>
          <a:xfrm>
            <a:off x="3996942" y="4335530"/>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53" name="Shape 13">
            <a:extLst>
              <a:ext uri="{FF2B5EF4-FFF2-40B4-BE49-F238E27FC236}">
                <a16:creationId xmlns:a16="http://schemas.microsoft.com/office/drawing/2014/main" id="{4E57D180-2654-0AC3-340A-A6D2C576BF28}"/>
              </a:ext>
            </a:extLst>
          </p:cNvPr>
          <p:cNvSpPr/>
          <p:nvPr/>
        </p:nvSpPr>
        <p:spPr>
          <a:xfrm>
            <a:off x="4232400" y="4426970"/>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55" name="Text 14">
            <a:extLst>
              <a:ext uri="{FF2B5EF4-FFF2-40B4-BE49-F238E27FC236}">
                <a16:creationId xmlns:a16="http://schemas.microsoft.com/office/drawing/2014/main" id="{246080CC-996D-7BA0-3140-EC427EE9AC6A}"/>
              </a:ext>
            </a:extLst>
          </p:cNvPr>
          <p:cNvSpPr/>
          <p:nvPr/>
        </p:nvSpPr>
        <p:spPr>
          <a:xfrm>
            <a:off x="4232400" y="4426970"/>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メイリオ" pitchFamily="34" charset="-120"/>
              </a:rPr>
              <a:t>05</a:t>
            </a:r>
            <a:endParaRPr lang="en-US" sz="1300" dirty="0">
              <a:latin typeface="メイリオ" panose="020B0604030504040204" pitchFamily="50" charset="-128"/>
              <a:ea typeface="メイリオ" panose="020B0604030504040204" pitchFamily="50" charset="-128"/>
              <a:cs typeface="メイリオ"/>
            </a:endParaRPr>
          </a:p>
        </p:txBody>
      </p:sp>
      <p:sp>
        <p:nvSpPr>
          <p:cNvPr id="56" name="Text 15">
            <a:extLst>
              <a:ext uri="{FF2B5EF4-FFF2-40B4-BE49-F238E27FC236}">
                <a16:creationId xmlns:a16="http://schemas.microsoft.com/office/drawing/2014/main" id="{613A87C0-F021-8C8E-C0C8-7A94F347FD40}"/>
              </a:ext>
            </a:extLst>
          </p:cNvPr>
          <p:cNvSpPr/>
          <p:nvPr/>
        </p:nvSpPr>
        <p:spPr>
          <a:xfrm>
            <a:off x="4872480" y="4390394"/>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メイリオ" pitchFamily="34" charset="-120"/>
              </a:rPr>
              <a:t>アンケート設計（直接関与</a:t>
            </a:r>
            <a:r>
              <a:rPr lang="en-US" altLang="ja-JP" sz="1300" b="1" dirty="0">
                <a:solidFill>
                  <a:srgbClr val="1E2761"/>
                </a:solidFill>
                <a:latin typeface="メイリオ" panose="020B0604030504040204" pitchFamily="50" charset="-128"/>
                <a:ea typeface="メイリオ" panose="020B0604030504040204" pitchFamily="50" charset="-128"/>
                <a:cs typeface="メイリオ" pitchFamily="34" charset="-120"/>
              </a:rPr>
              <a:t> / </a:t>
            </a:r>
            <a:r>
              <a:rPr lang="en-US" altLang="ja-JP" sz="1300" b="1" dirty="0" err="1">
                <a:solidFill>
                  <a:srgbClr val="1E2761"/>
                </a:solidFill>
                <a:latin typeface="メイリオ" panose="020B0604030504040204" pitchFamily="50" charset="-128"/>
                <a:ea typeface="メイリオ" panose="020B0604030504040204" pitchFamily="50" charset="-128"/>
                <a:cs typeface="メイリオ" pitchFamily="34" charset="-120"/>
              </a:rPr>
              <a:t>診断型</a:t>
            </a:r>
            <a:r>
              <a:rPr lang="en-US" altLang="ja-JP" sz="1300" b="1" dirty="0">
                <a:solidFill>
                  <a:srgbClr val="1E2761"/>
                </a:solidFill>
                <a:latin typeface="メイリオ" panose="020B0604030504040204" pitchFamily="50" charset="-128"/>
                <a:ea typeface="メイリオ" panose="020B0604030504040204" pitchFamily="50" charset="-128"/>
                <a:cs typeface="メイリオ" pitchFamily="34" charset="-120"/>
              </a:rPr>
              <a:t>）</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58" name="Text 16">
            <a:extLst>
              <a:ext uri="{FF2B5EF4-FFF2-40B4-BE49-F238E27FC236}">
                <a16:creationId xmlns:a16="http://schemas.microsoft.com/office/drawing/2014/main" id="{9DA36E29-5E4C-827F-3F47-7F5A66283E74}"/>
              </a:ext>
            </a:extLst>
          </p:cNvPr>
          <p:cNvSpPr/>
          <p:nvPr/>
        </p:nvSpPr>
        <p:spPr>
          <a:xfrm>
            <a:off x="4872480" y="4683002"/>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メイリオ" pitchFamily="34" charset="-120"/>
              </a:rPr>
              <a:t>リード有効化＋長期追客セグメント戦略</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59" name="Shape 12">
            <a:extLst>
              <a:ext uri="{FF2B5EF4-FFF2-40B4-BE49-F238E27FC236}">
                <a16:creationId xmlns:a16="http://schemas.microsoft.com/office/drawing/2014/main" id="{161B3C95-AA02-BAC5-D24B-86C62582A0EE}"/>
              </a:ext>
            </a:extLst>
          </p:cNvPr>
          <p:cNvSpPr/>
          <p:nvPr/>
        </p:nvSpPr>
        <p:spPr>
          <a:xfrm>
            <a:off x="3996942" y="5085338"/>
            <a:ext cx="5180076" cy="658368"/>
          </a:xfrm>
          <a:prstGeom prst="roundRect">
            <a:avLst>
              <a:gd name="adj" fmla="val 11111"/>
            </a:avLst>
          </a:prstGeom>
          <a:solidFill>
            <a:schemeClr val="bg1"/>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60" name="Shape 13">
            <a:extLst>
              <a:ext uri="{FF2B5EF4-FFF2-40B4-BE49-F238E27FC236}">
                <a16:creationId xmlns:a16="http://schemas.microsoft.com/office/drawing/2014/main" id="{69FCAD8A-755C-CC30-3ED3-D5F11C11A363}"/>
              </a:ext>
            </a:extLst>
          </p:cNvPr>
          <p:cNvSpPr/>
          <p:nvPr/>
        </p:nvSpPr>
        <p:spPr>
          <a:xfrm>
            <a:off x="4232400" y="5176778"/>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64" name="Text 14">
            <a:extLst>
              <a:ext uri="{FF2B5EF4-FFF2-40B4-BE49-F238E27FC236}">
                <a16:creationId xmlns:a16="http://schemas.microsoft.com/office/drawing/2014/main" id="{6301A83B-57F7-303A-D503-58842AD3A2C9}"/>
              </a:ext>
            </a:extLst>
          </p:cNvPr>
          <p:cNvSpPr/>
          <p:nvPr/>
        </p:nvSpPr>
        <p:spPr>
          <a:xfrm>
            <a:off x="4232400" y="5176778"/>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メイリオ" pitchFamily="34" charset="-120"/>
              </a:rPr>
              <a:t>06</a:t>
            </a:r>
            <a:endParaRPr lang="en-US" sz="1300" dirty="0">
              <a:latin typeface="メイリオ" panose="020B0604030504040204" pitchFamily="50" charset="-128"/>
              <a:ea typeface="メイリオ" panose="020B0604030504040204" pitchFamily="50" charset="-128"/>
              <a:cs typeface="メイリオ"/>
            </a:endParaRPr>
          </a:p>
        </p:txBody>
      </p:sp>
      <p:sp>
        <p:nvSpPr>
          <p:cNvPr id="70" name="Text 15">
            <a:extLst>
              <a:ext uri="{FF2B5EF4-FFF2-40B4-BE49-F238E27FC236}">
                <a16:creationId xmlns:a16="http://schemas.microsoft.com/office/drawing/2014/main" id="{26FF7A4F-5A58-E1CE-107D-E1780C611FE8}"/>
              </a:ext>
            </a:extLst>
          </p:cNvPr>
          <p:cNvSpPr/>
          <p:nvPr/>
        </p:nvSpPr>
        <p:spPr>
          <a:xfrm>
            <a:off x="4872480" y="5140202"/>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メイリオ" pitchFamily="34" charset="-120"/>
              </a:rPr>
              <a:t>季節・時期ごとの企画配信</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71" name="Text 16">
            <a:extLst>
              <a:ext uri="{FF2B5EF4-FFF2-40B4-BE49-F238E27FC236}">
                <a16:creationId xmlns:a16="http://schemas.microsoft.com/office/drawing/2014/main" id="{71DABE45-88FB-C5ED-EF05-90FD4F3C4A0B}"/>
              </a:ext>
            </a:extLst>
          </p:cNvPr>
          <p:cNvSpPr/>
          <p:nvPr/>
        </p:nvSpPr>
        <p:spPr>
          <a:xfrm>
            <a:off x="4872480" y="5432810"/>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メイリオ" pitchFamily="34" charset="-120"/>
              </a:rPr>
              <a:t>繁忙期に連動</a:t>
            </a:r>
            <a:r>
              <a:rPr lang="ja-JP" altLang="en-US" sz="1000" dirty="0">
                <a:solidFill>
                  <a:srgbClr val="64748B"/>
                </a:solidFill>
                <a:latin typeface="メイリオ" panose="020B0604030504040204" pitchFamily="50" charset="-128"/>
                <a:ea typeface="メイリオ" panose="020B0604030504040204" pitchFamily="50" charset="-128"/>
                <a:cs typeface="メイリオ" pitchFamily="34" charset="-120"/>
              </a:rPr>
              <a:t>・各ユーザー層をターゲットと</a:t>
            </a:r>
            <a:r>
              <a:rPr lang="en-US" altLang="ja-JP" sz="1000" dirty="0" err="1">
                <a:solidFill>
                  <a:srgbClr val="64748B"/>
                </a:solidFill>
                <a:latin typeface="メイリオ" panose="020B0604030504040204" pitchFamily="50" charset="-128"/>
                <a:ea typeface="メイリオ" panose="020B0604030504040204" pitchFamily="50" charset="-128"/>
                <a:cs typeface="メイリオ" pitchFamily="34" charset="-120"/>
              </a:rPr>
              <a:t>したキャンペーン案</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74" name="Shape 12">
            <a:extLst>
              <a:ext uri="{FF2B5EF4-FFF2-40B4-BE49-F238E27FC236}">
                <a16:creationId xmlns:a16="http://schemas.microsoft.com/office/drawing/2014/main" id="{B291868D-9C9C-066C-CFF8-87B199CEA5CF}"/>
              </a:ext>
            </a:extLst>
          </p:cNvPr>
          <p:cNvSpPr/>
          <p:nvPr/>
        </p:nvSpPr>
        <p:spPr>
          <a:xfrm>
            <a:off x="3996942" y="5838536"/>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75" name="Shape 13">
            <a:extLst>
              <a:ext uri="{FF2B5EF4-FFF2-40B4-BE49-F238E27FC236}">
                <a16:creationId xmlns:a16="http://schemas.microsoft.com/office/drawing/2014/main" id="{50DF7319-3B00-9111-2E31-8AC337BA4D33}"/>
              </a:ext>
            </a:extLst>
          </p:cNvPr>
          <p:cNvSpPr/>
          <p:nvPr/>
        </p:nvSpPr>
        <p:spPr>
          <a:xfrm>
            <a:off x="4232400" y="5929976"/>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76" name="Text 14">
            <a:extLst>
              <a:ext uri="{FF2B5EF4-FFF2-40B4-BE49-F238E27FC236}">
                <a16:creationId xmlns:a16="http://schemas.microsoft.com/office/drawing/2014/main" id="{0C235F7A-0F23-E972-590D-0F6705D7497F}"/>
              </a:ext>
            </a:extLst>
          </p:cNvPr>
          <p:cNvSpPr/>
          <p:nvPr/>
        </p:nvSpPr>
        <p:spPr>
          <a:xfrm>
            <a:off x="4232400" y="5929976"/>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メイリオ" pitchFamily="34" charset="-120"/>
              </a:rPr>
              <a:t>07</a:t>
            </a:r>
            <a:endParaRPr lang="en-US" sz="1300" dirty="0">
              <a:latin typeface="メイリオ" panose="020B0604030504040204" pitchFamily="50" charset="-128"/>
              <a:ea typeface="メイリオ" panose="020B0604030504040204" pitchFamily="50" charset="-128"/>
              <a:cs typeface="メイリオ"/>
            </a:endParaRPr>
          </a:p>
        </p:txBody>
      </p:sp>
      <p:sp>
        <p:nvSpPr>
          <p:cNvPr id="77" name="Text 15">
            <a:extLst>
              <a:ext uri="{FF2B5EF4-FFF2-40B4-BE49-F238E27FC236}">
                <a16:creationId xmlns:a16="http://schemas.microsoft.com/office/drawing/2014/main" id="{A8806AA1-15C3-799B-4DF6-265E528EF9FE}"/>
              </a:ext>
            </a:extLst>
          </p:cNvPr>
          <p:cNvSpPr/>
          <p:nvPr/>
        </p:nvSpPr>
        <p:spPr>
          <a:xfrm>
            <a:off x="4872480" y="5893400"/>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ja-JP" alt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各種設定の更新・改善</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78" name="Text 16">
            <a:extLst>
              <a:ext uri="{FF2B5EF4-FFF2-40B4-BE49-F238E27FC236}">
                <a16:creationId xmlns:a16="http://schemas.microsoft.com/office/drawing/2014/main" id="{60F4341A-D01A-FB28-EE9D-FBD6E531C1A2}"/>
              </a:ext>
            </a:extLst>
          </p:cNvPr>
          <p:cNvSpPr/>
          <p:nvPr/>
        </p:nvSpPr>
        <p:spPr>
          <a:xfrm>
            <a:off x="4872480" y="6186008"/>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ja-JP" altLang="en-US" sz="1000" dirty="0">
                <a:latin typeface="メイリオ" panose="020B0604030504040204" pitchFamily="50" charset="-128"/>
                <a:ea typeface="メイリオ" panose="020B0604030504040204" pitchFamily="50" charset="-128"/>
                <a:cs typeface="メイリオ"/>
              </a:rPr>
              <a:t>あいさつメッセージ、リッチメニュー、</a:t>
            </a:r>
            <a:r>
              <a:rPr lang="en-US" altLang="ja-JP" sz="1000" dirty="0">
                <a:latin typeface="メイリオ" panose="020B0604030504040204" pitchFamily="50" charset="-128"/>
                <a:ea typeface="メイリオ" panose="020B0604030504040204" pitchFamily="50" charset="-128"/>
                <a:cs typeface="メイリオ"/>
              </a:rPr>
              <a:t>LP</a:t>
            </a:r>
            <a:r>
              <a:rPr lang="ja-JP" altLang="en-US" sz="1000" dirty="0">
                <a:latin typeface="メイリオ" panose="020B0604030504040204" pitchFamily="50" charset="-128"/>
                <a:ea typeface="メイリオ" panose="020B0604030504040204" pitchFamily="50" charset="-128"/>
                <a:cs typeface="メイリオ"/>
              </a:rPr>
              <a:t>の改修（</a:t>
            </a:r>
            <a:r>
              <a:rPr lang="en-US" altLang="ja-JP" sz="1000" dirty="0">
                <a:latin typeface="メイリオ" panose="020B0604030504040204" pitchFamily="50" charset="-128"/>
                <a:ea typeface="メイリオ" panose="020B0604030504040204" pitchFamily="50" charset="-128"/>
                <a:cs typeface="メイリオ"/>
              </a:rPr>
              <a:t>※LP</a:t>
            </a:r>
            <a:r>
              <a:rPr lang="ja-JP" altLang="en-US" sz="1000" dirty="0">
                <a:latin typeface="メイリオ" panose="020B0604030504040204" pitchFamily="50" charset="-128"/>
                <a:ea typeface="メイリオ" panose="020B0604030504040204" pitchFamily="50" charset="-128"/>
                <a:cs typeface="メイリオ"/>
              </a:rPr>
              <a:t>は別途費用）</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79" name="テキスト ボックス 78">
            <a:extLst>
              <a:ext uri="{FF2B5EF4-FFF2-40B4-BE49-F238E27FC236}">
                <a16:creationId xmlns:a16="http://schemas.microsoft.com/office/drawing/2014/main" id="{4C2DE5F8-8AC0-6067-4D4C-B9D9A832AFB8}"/>
              </a:ext>
            </a:extLst>
          </p:cNvPr>
          <p:cNvSpPr txBox="1"/>
          <p:nvPr/>
        </p:nvSpPr>
        <p:spPr>
          <a:xfrm>
            <a:off x="320847" y="1664842"/>
            <a:ext cx="2800460" cy="791695"/>
          </a:xfrm>
          <a:prstGeom prst="rect">
            <a:avLst/>
          </a:prstGeom>
          <a:solidFill>
            <a:schemeClr val="tx1">
              <a:lumMod val="65000"/>
              <a:lumOff val="35000"/>
            </a:schemeClr>
          </a:solidFill>
        </p:spPr>
        <p:txBody>
          <a:bodyPr wrap="square" anchor="ctr">
            <a:spAutoFit/>
          </a:bodyPr>
          <a:lstStyle/>
          <a:p>
            <a:pPr algn="ct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&lt;</a:t>
            </a:r>
            <a:r>
              <a:rPr kumimoji="1" lang="ja-JP" altLang="en-US" b="1" dirty="0">
                <a:solidFill>
                  <a:schemeClr val="bg1"/>
                </a:solidFill>
                <a:latin typeface="メイリオ" panose="020B0604030504040204" pitchFamily="50" charset="-128"/>
                <a:ea typeface="メイリオ" panose="020B0604030504040204" pitchFamily="50" charset="-128"/>
                <a:cs typeface="メイリオ"/>
              </a:rPr>
              <a:t>初期費用</a:t>
            </a: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&gt;</a:t>
            </a:r>
            <a:endParaRPr kumimoji="1" lang="ja-JP" altLang="en-US"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80" name="テキスト ボックス 79">
            <a:extLst>
              <a:ext uri="{FF2B5EF4-FFF2-40B4-BE49-F238E27FC236}">
                <a16:creationId xmlns:a16="http://schemas.microsoft.com/office/drawing/2014/main" id="{E134C725-7D1E-AE55-EE5C-49EE0EE87D93}"/>
              </a:ext>
            </a:extLst>
          </p:cNvPr>
          <p:cNvSpPr txBox="1"/>
          <p:nvPr/>
        </p:nvSpPr>
        <p:spPr>
          <a:xfrm>
            <a:off x="320847" y="2645729"/>
            <a:ext cx="2800460" cy="791695"/>
          </a:xfrm>
          <a:prstGeom prst="rect">
            <a:avLst/>
          </a:prstGeom>
          <a:solidFill>
            <a:schemeClr val="tx1">
              <a:lumMod val="65000"/>
              <a:lumOff val="35000"/>
            </a:schemeClr>
          </a:solidFill>
        </p:spPr>
        <p:txBody>
          <a:bodyPr wrap="square" anchor="ctr">
            <a:spAutoFit/>
          </a:bodyPr>
          <a:lstStyle/>
          <a:p>
            <a:pPr algn="ct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&lt;</a:t>
            </a:r>
            <a:r>
              <a:rPr kumimoji="1" lang="ja-JP" altLang="en-US" b="1" dirty="0">
                <a:solidFill>
                  <a:schemeClr val="bg1"/>
                </a:solidFill>
                <a:latin typeface="メイリオ" panose="020B0604030504040204" pitchFamily="50" charset="-128"/>
                <a:ea typeface="メイリオ" panose="020B0604030504040204" pitchFamily="50" charset="-128"/>
                <a:cs typeface="メイリオ"/>
              </a:rPr>
              <a:t>月額費用</a:t>
            </a: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&gt;</a:t>
            </a:r>
            <a:endParaRPr kumimoji="1" lang="ja-JP" altLang="en-US" b="1" dirty="0">
              <a:solidFill>
                <a:schemeClr val="bg1"/>
              </a:solidFill>
              <a:latin typeface="メイリオ" panose="020B0604030504040204" pitchFamily="50" charset="-128"/>
              <a:ea typeface="メイリオ" panose="020B0604030504040204" pitchFamily="50" charset="-128"/>
              <a:cs typeface="メイリオ"/>
            </a:endParaRPr>
          </a:p>
        </p:txBody>
      </p:sp>
      <p:cxnSp>
        <p:nvCxnSpPr>
          <p:cNvPr id="82" name="直線コネクタ 81">
            <a:extLst>
              <a:ext uri="{FF2B5EF4-FFF2-40B4-BE49-F238E27FC236}">
                <a16:creationId xmlns:a16="http://schemas.microsoft.com/office/drawing/2014/main" id="{831B96C5-FD9C-7953-5A0F-36510DDC3A7B}"/>
              </a:ext>
            </a:extLst>
          </p:cNvPr>
          <p:cNvCxnSpPr>
            <a:cxnSpLocks/>
            <a:stCxn id="79" idx="3"/>
            <a:endCxn id="3" idx="1"/>
          </p:cNvCxnSpPr>
          <p:nvPr/>
        </p:nvCxnSpPr>
        <p:spPr>
          <a:xfrm flipV="1">
            <a:off x="3121307" y="1628906"/>
            <a:ext cx="875635" cy="431784"/>
          </a:xfrm>
          <a:prstGeom prst="line">
            <a:avLst/>
          </a:prstGeom>
        </p:spPr>
        <p:style>
          <a:lnRef idx="1">
            <a:schemeClr val="accent1"/>
          </a:lnRef>
          <a:fillRef idx="0">
            <a:schemeClr val="accent1"/>
          </a:fillRef>
          <a:effectRef idx="0">
            <a:schemeClr val="accent1"/>
          </a:effectRef>
          <a:fontRef idx="minor">
            <a:schemeClr val="tx1"/>
          </a:fontRef>
        </p:style>
      </p:cxnSp>
      <p:cxnSp>
        <p:nvCxnSpPr>
          <p:cNvPr id="83" name="直線コネクタ 82">
            <a:extLst>
              <a:ext uri="{FF2B5EF4-FFF2-40B4-BE49-F238E27FC236}">
                <a16:creationId xmlns:a16="http://schemas.microsoft.com/office/drawing/2014/main" id="{6098E9A1-7354-0021-8518-053452298071}"/>
              </a:ext>
            </a:extLst>
          </p:cNvPr>
          <p:cNvCxnSpPr>
            <a:cxnSpLocks/>
            <a:stCxn id="79" idx="3"/>
            <a:endCxn id="32" idx="1"/>
          </p:cNvCxnSpPr>
          <p:nvPr/>
        </p:nvCxnSpPr>
        <p:spPr>
          <a:xfrm>
            <a:off x="3121307" y="2060690"/>
            <a:ext cx="875635" cy="336312"/>
          </a:xfrm>
          <a:prstGeom prst="line">
            <a:avLst/>
          </a:prstGeom>
        </p:spPr>
        <p:style>
          <a:lnRef idx="1">
            <a:schemeClr val="accent1"/>
          </a:lnRef>
          <a:fillRef idx="0">
            <a:schemeClr val="accent1"/>
          </a:fillRef>
          <a:effectRef idx="0">
            <a:schemeClr val="accent1"/>
          </a:effectRef>
          <a:fontRef idx="minor">
            <a:schemeClr val="tx1"/>
          </a:fontRef>
        </p:style>
      </p:cxnSp>
      <p:cxnSp>
        <p:nvCxnSpPr>
          <p:cNvPr id="86" name="直線コネクタ 85">
            <a:extLst>
              <a:ext uri="{FF2B5EF4-FFF2-40B4-BE49-F238E27FC236}">
                <a16:creationId xmlns:a16="http://schemas.microsoft.com/office/drawing/2014/main" id="{4BFC78F3-17B4-F007-0507-0BCEB9DFB526}"/>
              </a:ext>
            </a:extLst>
          </p:cNvPr>
          <p:cNvCxnSpPr>
            <a:cxnSpLocks/>
            <a:stCxn id="79" idx="3"/>
            <a:endCxn id="37" idx="1"/>
          </p:cNvCxnSpPr>
          <p:nvPr/>
        </p:nvCxnSpPr>
        <p:spPr>
          <a:xfrm>
            <a:off x="3121307" y="2060690"/>
            <a:ext cx="875635" cy="1104408"/>
          </a:xfrm>
          <a:prstGeom prst="line">
            <a:avLst/>
          </a:prstGeom>
        </p:spPr>
        <p:style>
          <a:lnRef idx="1">
            <a:schemeClr val="accent1"/>
          </a:lnRef>
          <a:fillRef idx="0">
            <a:schemeClr val="accent1"/>
          </a:fillRef>
          <a:effectRef idx="0">
            <a:schemeClr val="accent1"/>
          </a:effectRef>
          <a:fontRef idx="minor">
            <a:schemeClr val="tx1"/>
          </a:fontRef>
        </p:style>
      </p:cxnSp>
      <p:cxnSp>
        <p:nvCxnSpPr>
          <p:cNvPr id="89" name="直線コネクタ 88">
            <a:extLst>
              <a:ext uri="{FF2B5EF4-FFF2-40B4-BE49-F238E27FC236}">
                <a16:creationId xmlns:a16="http://schemas.microsoft.com/office/drawing/2014/main" id="{E053B786-BB0C-C1E1-76B7-A9573A626CCC}"/>
              </a:ext>
            </a:extLst>
          </p:cNvPr>
          <p:cNvCxnSpPr>
            <a:cxnSpLocks/>
            <a:stCxn id="79" idx="3"/>
            <a:endCxn id="43" idx="1"/>
          </p:cNvCxnSpPr>
          <p:nvPr/>
        </p:nvCxnSpPr>
        <p:spPr>
          <a:xfrm>
            <a:off x="3121307" y="2060690"/>
            <a:ext cx="875635" cy="1872504"/>
          </a:xfrm>
          <a:prstGeom prst="line">
            <a:avLst/>
          </a:prstGeom>
        </p:spPr>
        <p:style>
          <a:lnRef idx="1">
            <a:schemeClr val="accent1"/>
          </a:lnRef>
          <a:fillRef idx="0">
            <a:schemeClr val="accent1"/>
          </a:fillRef>
          <a:effectRef idx="0">
            <a:schemeClr val="accent1"/>
          </a:effectRef>
          <a:fontRef idx="minor">
            <a:schemeClr val="tx1"/>
          </a:fontRef>
        </p:style>
      </p:cxnSp>
      <p:cxnSp>
        <p:nvCxnSpPr>
          <p:cNvPr id="93" name="直線コネクタ 92">
            <a:extLst>
              <a:ext uri="{FF2B5EF4-FFF2-40B4-BE49-F238E27FC236}">
                <a16:creationId xmlns:a16="http://schemas.microsoft.com/office/drawing/2014/main" id="{903C918B-3600-6FEA-8902-E84AA7410C48}"/>
              </a:ext>
            </a:extLst>
          </p:cNvPr>
          <p:cNvCxnSpPr>
            <a:cxnSpLocks/>
            <a:stCxn id="79" idx="3"/>
            <a:endCxn id="52" idx="1"/>
          </p:cNvCxnSpPr>
          <p:nvPr/>
        </p:nvCxnSpPr>
        <p:spPr>
          <a:xfrm>
            <a:off x="3121307" y="2060690"/>
            <a:ext cx="875635" cy="26040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3" name="直線コネクタ 102">
            <a:extLst>
              <a:ext uri="{FF2B5EF4-FFF2-40B4-BE49-F238E27FC236}">
                <a16:creationId xmlns:a16="http://schemas.microsoft.com/office/drawing/2014/main" id="{C69A1662-C040-7006-503F-B8153E815781}"/>
              </a:ext>
            </a:extLst>
          </p:cNvPr>
          <p:cNvCxnSpPr>
            <a:cxnSpLocks/>
            <a:stCxn id="80" idx="3"/>
            <a:endCxn id="59" idx="1"/>
          </p:cNvCxnSpPr>
          <p:nvPr/>
        </p:nvCxnSpPr>
        <p:spPr>
          <a:xfrm>
            <a:off x="3121307" y="3041577"/>
            <a:ext cx="875635" cy="23729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 name="直線コネクタ 105">
            <a:extLst>
              <a:ext uri="{FF2B5EF4-FFF2-40B4-BE49-F238E27FC236}">
                <a16:creationId xmlns:a16="http://schemas.microsoft.com/office/drawing/2014/main" id="{A951076B-2FA5-076D-22CD-6FECF9562464}"/>
              </a:ext>
            </a:extLst>
          </p:cNvPr>
          <p:cNvCxnSpPr>
            <a:cxnSpLocks/>
            <a:stCxn id="80" idx="3"/>
            <a:endCxn id="74" idx="1"/>
          </p:cNvCxnSpPr>
          <p:nvPr/>
        </p:nvCxnSpPr>
        <p:spPr>
          <a:xfrm>
            <a:off x="3121307" y="3041577"/>
            <a:ext cx="875635" cy="31261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1" name="テキスト ボックス 110">
            <a:extLst>
              <a:ext uri="{FF2B5EF4-FFF2-40B4-BE49-F238E27FC236}">
                <a16:creationId xmlns:a16="http://schemas.microsoft.com/office/drawing/2014/main" id="{082BA8EB-3EC9-6EAE-B9FB-1019DA2907F6}"/>
              </a:ext>
            </a:extLst>
          </p:cNvPr>
          <p:cNvSpPr txBox="1"/>
          <p:nvPr/>
        </p:nvSpPr>
        <p:spPr>
          <a:xfrm>
            <a:off x="7438779" y="5177010"/>
            <a:ext cx="1581647" cy="246221"/>
          </a:xfrm>
          <a:prstGeom prst="rect">
            <a:avLst/>
          </a:prstGeom>
          <a:noFill/>
        </p:spPr>
        <p:txBody>
          <a:bodyPr wrap="square">
            <a:spAutoFit/>
          </a:bodyPr>
          <a:lstStyle/>
          <a:p>
            <a:pPr algn="ctr"/>
            <a:r>
              <a:rPr kumimoji="1" lang="en-US" altLang="ja-JP" sz="1000" dirty="0">
                <a:solidFill>
                  <a:srgbClr val="1F2A5C"/>
                </a:solidFill>
                <a:latin typeface="メイリオ" panose="020B0604030504040204" pitchFamily="50" charset="-128"/>
                <a:ea typeface="メイリオ" panose="020B0604030504040204" pitchFamily="50" charset="-128"/>
                <a:cs typeface="メイリオ"/>
              </a:rPr>
              <a:t>※</a:t>
            </a:r>
            <a:r>
              <a:rPr kumimoji="1" lang="ja-JP" altLang="en-US" sz="1000" dirty="0">
                <a:solidFill>
                  <a:srgbClr val="1F2A5C"/>
                </a:solidFill>
                <a:latin typeface="メイリオ" panose="020B0604030504040204" pitchFamily="50" charset="-128"/>
                <a:ea typeface="メイリオ" panose="020B0604030504040204" pitchFamily="50" charset="-128"/>
                <a:cs typeface="メイリオ"/>
              </a:rPr>
              <a:t>本数により金額変動</a:t>
            </a:r>
          </a:p>
        </p:txBody>
      </p:sp>
      <p:sp>
        <p:nvSpPr>
          <p:cNvPr id="20" name="Shape 12">
            <a:extLst>
              <a:ext uri="{FF2B5EF4-FFF2-40B4-BE49-F238E27FC236}">
                <a16:creationId xmlns:a16="http://schemas.microsoft.com/office/drawing/2014/main" id="{18C0BF3B-C933-B900-F923-9B5EF5F7FBFF}"/>
              </a:ext>
            </a:extLst>
          </p:cNvPr>
          <p:cNvSpPr/>
          <p:nvPr/>
        </p:nvSpPr>
        <p:spPr>
          <a:xfrm>
            <a:off x="286011" y="4017770"/>
            <a:ext cx="3214833" cy="1106171"/>
          </a:xfrm>
          <a:prstGeom prst="roundRect">
            <a:avLst>
              <a:gd name="adj" fmla="val 11111"/>
            </a:avLst>
          </a:prstGeom>
          <a:solidFill>
            <a:srgbClr val="F2F2F2"/>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3" name="Shape 3">
            <a:extLst>
              <a:ext uri="{FF2B5EF4-FFF2-40B4-BE49-F238E27FC236}">
                <a16:creationId xmlns:a16="http://schemas.microsoft.com/office/drawing/2014/main" id="{A8583825-051F-63CB-E5DA-C6D15505A435}"/>
              </a:ext>
            </a:extLst>
          </p:cNvPr>
          <p:cNvSpPr/>
          <p:nvPr/>
        </p:nvSpPr>
        <p:spPr>
          <a:xfrm>
            <a:off x="396037" y="4146914"/>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6" name="Text 4">
            <a:extLst>
              <a:ext uri="{FF2B5EF4-FFF2-40B4-BE49-F238E27FC236}">
                <a16:creationId xmlns:a16="http://schemas.microsoft.com/office/drawing/2014/main" id="{3C6030FF-300A-A8F4-53D7-7136504B9465}"/>
              </a:ext>
            </a:extLst>
          </p:cNvPr>
          <p:cNvSpPr/>
          <p:nvPr/>
        </p:nvSpPr>
        <p:spPr>
          <a:xfrm>
            <a:off x="396037" y="4146914"/>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01</a:t>
            </a:r>
            <a:endParaRPr lang="en-US" sz="1300" dirty="0">
              <a:latin typeface="メイリオ" panose="020B0604030504040204" pitchFamily="50" charset="-128"/>
              <a:ea typeface="メイリオ" panose="020B0604030504040204" pitchFamily="50" charset="-128"/>
              <a:cs typeface="メイリオ"/>
            </a:endParaRPr>
          </a:p>
        </p:txBody>
      </p:sp>
      <p:sp>
        <p:nvSpPr>
          <p:cNvPr id="28" name="Shape 13">
            <a:extLst>
              <a:ext uri="{FF2B5EF4-FFF2-40B4-BE49-F238E27FC236}">
                <a16:creationId xmlns:a16="http://schemas.microsoft.com/office/drawing/2014/main" id="{BA6E3B17-14AB-43B1-EBF3-8D9704B6BB11}"/>
              </a:ext>
            </a:extLst>
          </p:cNvPr>
          <p:cNvSpPr/>
          <p:nvPr/>
        </p:nvSpPr>
        <p:spPr>
          <a:xfrm>
            <a:off x="1134415" y="4146914"/>
            <a:ext cx="502920" cy="475488"/>
          </a:xfrm>
          <a:prstGeom prst="roundRect">
            <a:avLst>
              <a:gd name="adj" fmla="val 11538"/>
            </a:avLst>
          </a:prstGeom>
          <a:solidFill>
            <a:srgbClr val="1E2761"/>
          </a:solidFill>
          <a:ln w="12700">
            <a:solidFill>
              <a:srgbClr val="1E2761"/>
            </a:solidFill>
            <a:prstDash val="solid"/>
          </a:ln>
        </p:spPr>
        <p:txBody>
          <a:bodyPr anchor="ctr"/>
          <a:lstStyle/>
          <a:p>
            <a:pPr algn="ctr"/>
            <a:r>
              <a:rPr lang="en-US" altLang="ja-JP" sz="1400" b="1" dirty="0">
                <a:solidFill>
                  <a:srgbClr val="CADCFC"/>
                </a:solidFill>
                <a:latin typeface="メイリオ" panose="020B0604030504040204" pitchFamily="50" charset="-128"/>
                <a:ea typeface="メイリオ" panose="020B0604030504040204" pitchFamily="50" charset="-128"/>
                <a:cs typeface="メイリオ" pitchFamily="34" charset="-120"/>
              </a:rPr>
              <a:t>05</a:t>
            </a:r>
            <a:endParaRPr lang="en-US" altLang="ja-JP" sz="1400" dirty="0">
              <a:latin typeface="メイリオ" panose="020B0604030504040204" pitchFamily="50" charset="-128"/>
              <a:ea typeface="メイリオ" panose="020B0604030504040204" pitchFamily="50" charset="-128"/>
              <a:cs typeface="メイリオ"/>
            </a:endParaRPr>
          </a:p>
        </p:txBody>
      </p:sp>
      <p:sp>
        <p:nvSpPr>
          <p:cNvPr id="41" name="テキスト ボックス 40">
            <a:extLst>
              <a:ext uri="{FF2B5EF4-FFF2-40B4-BE49-F238E27FC236}">
                <a16:creationId xmlns:a16="http://schemas.microsoft.com/office/drawing/2014/main" id="{B64D3BA7-9F12-14DB-A4FB-CDB1ED52D238}"/>
              </a:ext>
            </a:extLst>
          </p:cNvPr>
          <p:cNvSpPr txBox="1"/>
          <p:nvPr/>
        </p:nvSpPr>
        <p:spPr>
          <a:xfrm>
            <a:off x="850134" y="4251844"/>
            <a:ext cx="2789430" cy="738664"/>
          </a:xfrm>
          <a:prstGeom prst="rect">
            <a:avLst/>
          </a:prstGeom>
          <a:noFill/>
        </p:spPr>
        <p:txBody>
          <a:bodyPr wrap="square">
            <a:spAutoFit/>
          </a:bodyPr>
          <a:lstStyle/>
          <a:p>
            <a:r>
              <a:rPr kumimoji="1" lang="ja-JP" altLang="en-US" sz="1400" b="1" dirty="0">
                <a:latin typeface="メイリオ" panose="020B0604030504040204" pitchFamily="50" charset="-128"/>
                <a:ea typeface="メイリオ" panose="020B0604030504040204" pitchFamily="50" charset="-128"/>
                <a:cs typeface="メイリオ"/>
              </a:rPr>
              <a:t>～　　　 の修正・調整も</a:t>
            </a:r>
            <a:endParaRPr lang="en-US" altLang="ja-JP" sz="1400" b="1" dirty="0">
              <a:latin typeface="メイリオ" panose="020B0604030504040204" pitchFamily="50" charset="-128"/>
              <a:ea typeface="メイリオ" panose="020B0604030504040204" pitchFamily="50" charset="-128"/>
              <a:cs typeface="メイリオ"/>
            </a:endParaRPr>
          </a:p>
          <a:p>
            <a:endParaRPr kumimoji="1" lang="en-US" altLang="ja-JP" sz="1400" b="1" dirty="0">
              <a:latin typeface="メイリオ" panose="020B0604030504040204" pitchFamily="50" charset="-128"/>
              <a:ea typeface="メイリオ" panose="020B0604030504040204" pitchFamily="50" charset="-128"/>
              <a:cs typeface="メイリオ"/>
            </a:endParaRPr>
          </a:p>
          <a:p>
            <a:r>
              <a:rPr lang="ja-JP" altLang="en-US" sz="1400" b="1" dirty="0">
                <a:latin typeface="メイリオ" panose="020B0604030504040204" pitchFamily="50" charset="-128"/>
                <a:ea typeface="メイリオ" panose="020B0604030504040204" pitchFamily="50" charset="-128"/>
                <a:cs typeface="メイリオ"/>
              </a:rPr>
              <a:t>月次対応内に含んでおります。</a:t>
            </a:r>
            <a:endParaRPr kumimoji="1" lang="en-US" altLang="ja-JP" sz="1400" b="1"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369353096"/>
      </p:ext>
    </p:extLst>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Google Shape;752;p28"/>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料金</a:t>
            </a:r>
          </a:p>
        </p:txBody>
      </p:sp>
      <p:sp>
        <p:nvSpPr>
          <p:cNvPr id="3" name="正方形/長方形 8"/>
          <p:cNvSpPr/>
          <p:nvPr/>
        </p:nvSpPr>
        <p:spPr>
          <a:xfrm>
            <a:off x="0" y="777240"/>
            <a:ext cx="210312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DYMプラン</a:t>
            </a:r>
          </a:p>
        </p:txBody>
      </p:sp>
      <p:sp>
        <p:nvSpPr>
          <p:cNvPr id="4" name="Google Shape;752;p28"/>
          <p:cNvSpPr txBox="1"/>
          <p:nvPr/>
        </p:nvSpPr>
        <p:spPr>
          <a:xfrm>
            <a:off x="2286000" y="859536"/>
            <a:ext cx="7406640" cy="338328"/>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メイリオ"/>
                <a:sym typeface="Meiryo"/>
              </a:rPr>
              <a:t>ご予算と運用の体制に合わせて、3つのプランから選択可能</a:t>
            </a:r>
          </a:p>
        </p:txBody>
      </p:sp>
      <p:graphicFrame>
        <p:nvGraphicFramePr>
          <p:cNvPr id="5" name="料金 4"/>
          <p:cNvGraphicFramePr>
            <a:graphicFrameLocks noGrp="1"/>
          </p:cNvGraphicFramePr>
          <p:nvPr/>
        </p:nvGraphicFramePr>
        <p:xfrm>
          <a:off x="502920" y="1860438"/>
          <a:ext cx="8897112" cy="3063240"/>
        </p:xfrm>
        <a:graphic>
          <a:graphicData uri="http://schemas.openxmlformats.org/drawingml/2006/table">
            <a:tbl>
              <a:tblPr/>
              <a:tblGrid>
                <a:gridCol w="1463040">
                  <a:extLst>
                    <a:ext uri="{9D8B030D-6E8A-4147-A177-3AD203B41FA5}">
                      <a16:colId xmlns:a16="http://schemas.microsoft.com/office/drawing/2014/main" val="20000"/>
                    </a:ext>
                  </a:extLst>
                </a:gridCol>
                <a:gridCol w="2478024">
                  <a:extLst>
                    <a:ext uri="{9D8B030D-6E8A-4147-A177-3AD203B41FA5}">
                      <a16:colId xmlns:a16="http://schemas.microsoft.com/office/drawing/2014/main" val="20001"/>
                    </a:ext>
                  </a:extLst>
                </a:gridCol>
                <a:gridCol w="2478024">
                  <a:extLst>
                    <a:ext uri="{9D8B030D-6E8A-4147-A177-3AD203B41FA5}">
                      <a16:colId xmlns:a16="http://schemas.microsoft.com/office/drawing/2014/main" val="20002"/>
                    </a:ext>
                  </a:extLst>
                </a:gridCol>
                <a:gridCol w="2478024">
                  <a:extLst>
                    <a:ext uri="{9D8B030D-6E8A-4147-A177-3AD203B41FA5}">
                      <a16:colId xmlns:a16="http://schemas.microsoft.com/office/drawing/2014/main" val="20003"/>
                    </a:ext>
                  </a:extLst>
                </a:gridCol>
              </a:tblGrid>
              <a:tr h="594360">
                <a:tc>
                  <a:txBody>
                    <a:bodyPr/>
                    <a:lstStyle/>
                    <a:p>
                      <a:pPr algn="ctr">
                        <a:buNone/>
                      </a:pP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プラン①</a:t>
                      </a:r>
                      <a:br>
                        <a:rPr lang="ja-JP" altLang="en-US" sz="1400" b="1" dirty="0">
                          <a:solidFill>
                            <a:srgbClr val="FFFFFF"/>
                          </a:solidFill>
                          <a:latin typeface="メイリオ" panose="020B0604030504040204" pitchFamily="50" charset="-128"/>
                          <a:ea typeface="メイリオ" panose="020B0604030504040204" pitchFamily="50" charset="-128"/>
                          <a:cs typeface="メイリオ"/>
                        </a:rPr>
                      </a:br>
                      <a:r>
                        <a:rPr lang="ja-JP" altLang="en-US" sz="1400" b="1" dirty="0">
                          <a:solidFill>
                            <a:srgbClr val="FFFFFF"/>
                          </a:solidFill>
                          <a:latin typeface="メイリオ" panose="020B0604030504040204" pitchFamily="50" charset="-128"/>
                          <a:ea typeface="メイリオ" panose="020B0604030504040204" pitchFamily="50" charset="-128"/>
                          <a:cs typeface="メイリオ"/>
                        </a:rPr>
                        <a:t>初期設計のみ</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プラン②</a:t>
                      </a:r>
                      <a:br>
                        <a:rPr lang="ja-JP" altLang="en-US" sz="1400" b="1" dirty="0">
                          <a:solidFill>
                            <a:srgbClr val="FFFFFF"/>
                          </a:solidFill>
                          <a:latin typeface="メイリオ" panose="020B0604030504040204" pitchFamily="50" charset="-128"/>
                          <a:ea typeface="メイリオ" panose="020B0604030504040204" pitchFamily="50" charset="-128"/>
                          <a:cs typeface="メイリオ"/>
                        </a:rPr>
                      </a:br>
                      <a:r>
                        <a:rPr lang="ja-JP" altLang="en-US" sz="1400" b="1" dirty="0">
                          <a:solidFill>
                            <a:srgbClr val="FFFFFF"/>
                          </a:solidFill>
                          <a:latin typeface="メイリオ" panose="020B0604030504040204" pitchFamily="50" charset="-128"/>
                          <a:ea typeface="メイリオ" panose="020B0604030504040204" pitchFamily="50" charset="-128"/>
                          <a:cs typeface="メイリオ"/>
                        </a:rPr>
                        <a:t>イベントに合わせた運用</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プラン③</a:t>
                      </a:r>
                      <a:br>
                        <a:rPr lang="ja-JP" altLang="en-US" sz="1400" b="1" dirty="0">
                          <a:solidFill>
                            <a:srgbClr val="FFFFFF"/>
                          </a:solidFill>
                          <a:latin typeface="メイリオ" panose="020B0604030504040204" pitchFamily="50" charset="-128"/>
                          <a:ea typeface="メイリオ" panose="020B0604030504040204" pitchFamily="50" charset="-128"/>
                          <a:cs typeface="メイリオ"/>
                        </a:rPr>
                      </a:br>
                      <a:r>
                        <a:rPr lang="ja-JP" altLang="en-US" sz="1400" b="1" dirty="0">
                          <a:solidFill>
                            <a:srgbClr val="FFFFFF"/>
                          </a:solidFill>
                          <a:latin typeface="メイリオ" panose="020B0604030504040204" pitchFamily="50" charset="-128"/>
                          <a:ea typeface="メイリオ" panose="020B0604030504040204" pitchFamily="50" charset="-128"/>
                          <a:cs typeface="メイリオ"/>
                        </a:rPr>
                        <a:t>通年の運用・改善</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extLst>
                  <a:ext uri="{0D108BD9-81ED-4DB2-BD59-A6C34878D82A}">
                    <a16:rowId xmlns:a16="http://schemas.microsoft.com/office/drawing/2014/main" val="10000"/>
                  </a:ext>
                </a:extLst>
              </a:tr>
              <a:tr h="822960">
                <a:tc>
                  <a:txBody>
                    <a:bodyPr/>
                    <a:lstStyle/>
                    <a:p>
                      <a:pPr algn="ctr">
                        <a:buNone/>
                      </a:pPr>
                      <a:r>
                        <a:rPr lang="ja-JP" altLang="en-US" sz="1300" b="1" dirty="0">
                          <a:solidFill>
                            <a:srgbClr val="002060"/>
                          </a:solidFill>
                          <a:latin typeface="メイリオ" panose="020B0604030504040204" pitchFamily="50" charset="-128"/>
                          <a:ea typeface="メイリオ" panose="020B0604030504040204" pitchFamily="50" charset="-128"/>
                          <a:cs typeface="メイリオ"/>
                        </a:rPr>
                        <a:t>内容</a:t>
                      </a:r>
                      <a:endParaRPr lang="ja-JP" altLang="en-US" sz="13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cs typeface="メイリオ"/>
                        </a:rPr>
                        <a:t>入口と配信の仕組みを構築</a:t>
                      </a:r>
                      <a:br>
                        <a:rPr lang="ja-JP" altLang="en-US" sz="1250" b="0" dirty="0">
                          <a:solidFill>
                            <a:srgbClr val="333333"/>
                          </a:solidFill>
                          <a:latin typeface="メイリオ" panose="020B0604030504040204" pitchFamily="50" charset="-128"/>
                          <a:ea typeface="メイリオ" panose="020B0604030504040204" pitchFamily="50" charset="-128"/>
                          <a:cs typeface="メイリオ"/>
                        </a:rPr>
                      </a:br>
                      <a:r>
                        <a:rPr lang="ja-JP" altLang="en-US" sz="1250" b="0" dirty="0">
                          <a:solidFill>
                            <a:srgbClr val="333333"/>
                          </a:solidFill>
                          <a:latin typeface="メイリオ" panose="020B0604030504040204" pitchFamily="50" charset="-128"/>
                          <a:ea typeface="メイリオ" panose="020B0604030504040204" pitchFamily="50" charset="-128"/>
                          <a:cs typeface="メイリオ"/>
                        </a:rPr>
                        <a:t>配信は貴社で運用</a:t>
                      </a:r>
                      <a:endParaRPr lang="ja-JP" altLang="en-US" sz="125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cs typeface="メイリオ"/>
                        </a:rPr>
                        <a:t>弊社で配信</a:t>
                      </a:r>
                      <a:br>
                        <a:rPr lang="ja-JP" altLang="en-US" sz="1250" b="0" dirty="0">
                          <a:solidFill>
                            <a:srgbClr val="333333"/>
                          </a:solidFill>
                          <a:latin typeface="メイリオ" panose="020B0604030504040204" pitchFamily="50" charset="-128"/>
                          <a:ea typeface="メイリオ" panose="020B0604030504040204" pitchFamily="50" charset="-128"/>
                          <a:cs typeface="メイリオ"/>
                        </a:rPr>
                      </a:br>
                      <a:r>
                        <a:rPr lang="ja-JP" altLang="en-US" sz="1250" b="0" dirty="0">
                          <a:solidFill>
                            <a:srgbClr val="333333"/>
                          </a:solidFill>
                          <a:latin typeface="メイリオ" panose="020B0604030504040204" pitchFamily="50" charset="-128"/>
                          <a:ea typeface="メイリオ" panose="020B0604030504040204" pitchFamily="50" charset="-128"/>
                          <a:cs typeface="メイリオ"/>
                        </a:rPr>
                        <a:t>平常期 月2回</a:t>
                      </a:r>
                      <a:br>
                        <a:rPr lang="ja-JP" altLang="en-US" sz="1250" b="0" dirty="0">
                          <a:solidFill>
                            <a:srgbClr val="333333"/>
                          </a:solidFill>
                          <a:latin typeface="メイリオ" panose="020B0604030504040204" pitchFamily="50" charset="-128"/>
                          <a:ea typeface="メイリオ" panose="020B0604030504040204" pitchFamily="50" charset="-128"/>
                          <a:cs typeface="メイリオ"/>
                        </a:rPr>
                      </a:br>
                      <a:r>
                        <a:rPr lang="ja-JP" altLang="en-US" sz="1250" b="0" dirty="0">
                          <a:solidFill>
                            <a:srgbClr val="333333"/>
                          </a:solidFill>
                          <a:latin typeface="メイリオ" panose="020B0604030504040204" pitchFamily="50" charset="-128"/>
                          <a:ea typeface="メイリオ" panose="020B0604030504040204" pitchFamily="50" charset="-128"/>
                          <a:cs typeface="メイリオ"/>
                        </a:rPr>
                        <a:t>イベント期 月4〜5回</a:t>
                      </a:r>
                      <a:endParaRPr lang="ja-JP" altLang="en-US" sz="125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cs typeface="メイリオ"/>
                        </a:rPr>
                        <a:t>弊社で配信＋レポート・定例会</a:t>
                      </a:r>
                      <a:br>
                        <a:rPr lang="ja-JP" altLang="en-US" sz="1250" b="0" dirty="0">
                          <a:solidFill>
                            <a:srgbClr val="333333"/>
                          </a:solidFill>
                          <a:latin typeface="メイリオ" panose="020B0604030504040204" pitchFamily="50" charset="-128"/>
                          <a:ea typeface="メイリオ" panose="020B0604030504040204" pitchFamily="50" charset="-128"/>
                          <a:cs typeface="メイリオ"/>
                        </a:rPr>
                      </a:br>
                      <a:r>
                        <a:rPr lang="ja-JP" altLang="en-US" sz="1250" b="0" dirty="0">
                          <a:solidFill>
                            <a:srgbClr val="333333"/>
                          </a:solidFill>
                          <a:latin typeface="メイリオ" panose="020B0604030504040204" pitchFamily="50" charset="-128"/>
                          <a:ea typeface="メイリオ" panose="020B0604030504040204" pitchFamily="50" charset="-128"/>
                          <a:cs typeface="メイリオ"/>
                        </a:rPr>
                        <a:t>平常期 月3回</a:t>
                      </a:r>
                      <a:br>
                        <a:rPr lang="ja-JP" altLang="en-US" sz="1250" b="0" dirty="0">
                          <a:solidFill>
                            <a:srgbClr val="333333"/>
                          </a:solidFill>
                          <a:latin typeface="メイリオ" panose="020B0604030504040204" pitchFamily="50" charset="-128"/>
                          <a:ea typeface="メイリオ" panose="020B0604030504040204" pitchFamily="50" charset="-128"/>
                          <a:cs typeface="メイリオ"/>
                        </a:rPr>
                      </a:br>
                      <a:r>
                        <a:rPr lang="ja-JP" altLang="en-US" sz="1250" b="0" dirty="0">
                          <a:solidFill>
                            <a:srgbClr val="333333"/>
                          </a:solidFill>
                          <a:latin typeface="メイリオ" panose="020B0604030504040204" pitchFamily="50" charset="-128"/>
                          <a:ea typeface="メイリオ" panose="020B0604030504040204" pitchFamily="50" charset="-128"/>
                          <a:cs typeface="メイリオ"/>
                        </a:rPr>
                        <a:t>イベント期 月5回</a:t>
                      </a:r>
                      <a:endParaRPr lang="ja-JP" altLang="en-US" sz="125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algn="ctr">
                        <a:buNone/>
                      </a:pPr>
                      <a:r>
                        <a:rPr lang="ja-JP" altLang="en-US" sz="1300" b="1" dirty="0">
                          <a:solidFill>
                            <a:srgbClr val="002060"/>
                          </a:solidFill>
                          <a:latin typeface="メイリオ" panose="020B0604030504040204" pitchFamily="50" charset="-128"/>
                          <a:ea typeface="メイリオ" panose="020B0604030504040204" pitchFamily="50" charset="-128"/>
                          <a:cs typeface="メイリオ"/>
                        </a:rPr>
                        <a:t>初期費用</a:t>
                      </a:r>
                      <a:endParaRPr lang="ja-JP" altLang="en-US" sz="13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ctr">
                        <a:buNone/>
                      </a:pPr>
                      <a:r>
                        <a:rPr lang="ja-JP" altLang="en-US" sz="1700" b="1" dirty="0">
                          <a:solidFill>
                            <a:srgbClr val="002060"/>
                          </a:solidFill>
                          <a:latin typeface="メイリオ" panose="020B0604030504040204" pitchFamily="50" charset="-128"/>
                          <a:ea typeface="メイリオ" panose="020B0604030504040204" pitchFamily="50" charset="-128"/>
                          <a:cs typeface="メイリオ"/>
                        </a:rPr>
                        <a:t>10万円〜</a:t>
                      </a:r>
                      <a:endParaRPr lang="ja-JP" altLang="en-US" sz="17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ctr">
                        <a:buNone/>
                      </a:pPr>
                      <a:r>
                        <a:rPr lang="ja-JP" altLang="en-US" sz="1700" b="1" dirty="0">
                          <a:solidFill>
                            <a:srgbClr val="002060"/>
                          </a:solidFill>
                          <a:latin typeface="メイリオ" panose="020B0604030504040204" pitchFamily="50" charset="-128"/>
                          <a:ea typeface="メイリオ" panose="020B0604030504040204" pitchFamily="50" charset="-128"/>
                          <a:cs typeface="メイリオ"/>
                        </a:rPr>
                        <a:t>10万円〜</a:t>
                      </a:r>
                      <a:endParaRPr lang="ja-JP" altLang="en-US" sz="17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ctr">
                        <a:buNone/>
                      </a:pPr>
                      <a:r>
                        <a:rPr lang="ja-JP" altLang="en-US" sz="1700" b="1" dirty="0">
                          <a:solidFill>
                            <a:srgbClr val="002060"/>
                          </a:solidFill>
                          <a:latin typeface="メイリオ" panose="020B0604030504040204" pitchFamily="50" charset="-128"/>
                          <a:ea typeface="メイリオ" panose="020B0604030504040204" pitchFamily="50" charset="-128"/>
                          <a:cs typeface="メイリオ"/>
                        </a:rPr>
                        <a:t>10万円〜</a:t>
                      </a:r>
                      <a:endParaRPr lang="ja-JP" altLang="en-US" sz="17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48640">
                <a:tc>
                  <a:txBody>
                    <a:bodyPr/>
                    <a:lstStyle/>
                    <a:p>
                      <a:pPr algn="ctr">
                        <a:buNone/>
                      </a:pPr>
                      <a:r>
                        <a:rPr lang="ja-JP" altLang="en-US" sz="1300" b="1" dirty="0">
                          <a:solidFill>
                            <a:srgbClr val="002060"/>
                          </a:solidFill>
                          <a:latin typeface="メイリオ" panose="020B0604030504040204" pitchFamily="50" charset="-128"/>
                          <a:ea typeface="メイリオ" panose="020B0604030504040204" pitchFamily="50" charset="-128"/>
                          <a:cs typeface="メイリオ"/>
                        </a:rPr>
                        <a:t>平常期</a:t>
                      </a:r>
                      <a:br>
                        <a:rPr lang="ja-JP" altLang="en-US" sz="1300" b="1" dirty="0">
                          <a:solidFill>
                            <a:srgbClr val="002060"/>
                          </a:solidFill>
                          <a:latin typeface="メイリオ" panose="020B0604030504040204" pitchFamily="50" charset="-128"/>
                          <a:ea typeface="メイリオ" panose="020B0604030504040204" pitchFamily="50" charset="-128"/>
                          <a:cs typeface="メイリオ"/>
                        </a:rPr>
                      </a:br>
                      <a:r>
                        <a:rPr lang="ja-JP" altLang="en-US" sz="1300" b="1" dirty="0">
                          <a:solidFill>
                            <a:srgbClr val="002060"/>
                          </a:solidFill>
                          <a:latin typeface="メイリオ" panose="020B0604030504040204" pitchFamily="50" charset="-128"/>
                          <a:ea typeface="メイリオ" panose="020B0604030504040204" pitchFamily="50" charset="-128"/>
                          <a:cs typeface="メイリオ"/>
                        </a:rPr>
                        <a:t>（月額）</a:t>
                      </a:r>
                      <a:endParaRPr lang="ja-JP" altLang="en-US" sz="13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ctr">
                        <a:buNone/>
                      </a:pPr>
                      <a:r>
                        <a:rPr lang="ja-JP" altLang="en-US" sz="1700" b="1" dirty="0">
                          <a:solidFill>
                            <a:srgbClr val="002060"/>
                          </a:solidFill>
                          <a:latin typeface="メイリオ" panose="020B0604030504040204" pitchFamily="50" charset="-128"/>
                          <a:ea typeface="メイリオ" panose="020B0604030504040204" pitchFamily="50" charset="-128"/>
                          <a:cs typeface="メイリオ"/>
                        </a:rPr>
                        <a:t>0円</a:t>
                      </a:r>
                      <a:endParaRPr lang="ja-JP" altLang="en-US" sz="17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ctr">
                        <a:buNone/>
                      </a:pPr>
                      <a:r>
                        <a:rPr lang="ja-JP" altLang="en-US" sz="1700" b="1" dirty="0">
                          <a:solidFill>
                            <a:srgbClr val="002060"/>
                          </a:solidFill>
                          <a:latin typeface="メイリオ" panose="020B0604030504040204" pitchFamily="50" charset="-128"/>
                          <a:ea typeface="メイリオ" panose="020B0604030504040204" pitchFamily="50" charset="-128"/>
                          <a:cs typeface="メイリオ"/>
                        </a:rPr>
                        <a:t>5〜10万円</a:t>
                      </a:r>
                      <a:endParaRPr lang="ja-JP" altLang="en-US" sz="17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ctr">
                        <a:buNone/>
                      </a:pPr>
                      <a:r>
                        <a:rPr lang="ja-JP" altLang="en-US" sz="1700" b="1" dirty="0">
                          <a:solidFill>
                            <a:srgbClr val="002060"/>
                          </a:solidFill>
                          <a:latin typeface="メイリオ" panose="020B0604030504040204" pitchFamily="50" charset="-128"/>
                          <a:ea typeface="メイリオ" panose="020B0604030504040204" pitchFamily="50" charset="-128"/>
                          <a:cs typeface="メイリオ"/>
                        </a:rPr>
                        <a:t>20万円〜</a:t>
                      </a:r>
                      <a:endParaRPr lang="ja-JP" altLang="en-US" sz="17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algn="ctr">
                        <a:buNone/>
                      </a:pPr>
                      <a:r>
                        <a:rPr lang="ja-JP" altLang="en-US" sz="1300" b="1" dirty="0">
                          <a:solidFill>
                            <a:srgbClr val="002060"/>
                          </a:solidFill>
                          <a:latin typeface="メイリオ" panose="020B0604030504040204" pitchFamily="50" charset="-128"/>
                          <a:ea typeface="メイリオ" panose="020B0604030504040204" pitchFamily="50" charset="-128"/>
                          <a:cs typeface="メイリオ"/>
                        </a:rPr>
                        <a:t>イベント期</a:t>
                      </a:r>
                      <a:br>
                        <a:rPr lang="ja-JP" altLang="en-US" sz="1300" b="1" dirty="0">
                          <a:solidFill>
                            <a:srgbClr val="002060"/>
                          </a:solidFill>
                          <a:latin typeface="メイリオ" panose="020B0604030504040204" pitchFamily="50" charset="-128"/>
                          <a:ea typeface="メイリオ" panose="020B0604030504040204" pitchFamily="50" charset="-128"/>
                          <a:cs typeface="メイリオ"/>
                        </a:rPr>
                      </a:br>
                      <a:r>
                        <a:rPr lang="ja-JP" altLang="en-US" sz="1300" b="1" dirty="0">
                          <a:solidFill>
                            <a:srgbClr val="002060"/>
                          </a:solidFill>
                          <a:latin typeface="メイリオ" panose="020B0604030504040204" pitchFamily="50" charset="-128"/>
                          <a:ea typeface="メイリオ" panose="020B0604030504040204" pitchFamily="50" charset="-128"/>
                          <a:cs typeface="メイリオ"/>
                        </a:rPr>
                        <a:t>（月額）</a:t>
                      </a:r>
                      <a:endParaRPr lang="ja-JP" altLang="en-US" sz="13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ctr">
                        <a:buNone/>
                      </a:pPr>
                      <a:r>
                        <a:rPr lang="ja-JP" altLang="en-US" sz="1700" b="1" dirty="0">
                          <a:solidFill>
                            <a:srgbClr val="002060"/>
                          </a:solidFill>
                          <a:latin typeface="メイリオ" panose="020B0604030504040204" pitchFamily="50" charset="-128"/>
                          <a:ea typeface="メイリオ" panose="020B0604030504040204" pitchFamily="50" charset="-128"/>
                          <a:cs typeface="メイリオ"/>
                        </a:rPr>
                        <a:t>0円</a:t>
                      </a:r>
                      <a:endParaRPr lang="ja-JP" altLang="en-US" sz="17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ctr">
                        <a:buNone/>
                      </a:pPr>
                      <a:r>
                        <a:rPr lang="ja-JP" altLang="en-US" sz="1700" b="1" dirty="0">
                          <a:solidFill>
                            <a:srgbClr val="002060"/>
                          </a:solidFill>
                          <a:latin typeface="メイリオ" panose="020B0604030504040204" pitchFamily="50" charset="-128"/>
                          <a:ea typeface="メイリオ" panose="020B0604030504040204" pitchFamily="50" charset="-128"/>
                          <a:cs typeface="メイリオ"/>
                        </a:rPr>
                        <a:t>30万円程度</a:t>
                      </a:r>
                      <a:endParaRPr lang="ja-JP" altLang="en-US" sz="17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ctr">
                        <a:buNone/>
                      </a:pPr>
                      <a:r>
                        <a:rPr lang="ja-JP" altLang="en-US" sz="1700" b="1" dirty="0">
                          <a:solidFill>
                            <a:srgbClr val="002060"/>
                          </a:solidFill>
                          <a:latin typeface="メイリオ" panose="020B0604030504040204" pitchFamily="50" charset="-128"/>
                          <a:ea typeface="メイリオ" panose="020B0604030504040204" pitchFamily="50" charset="-128"/>
                          <a:cs typeface="メイリオ"/>
                        </a:rPr>
                        <a:t>30万円〜</a:t>
                      </a:r>
                      <a:endParaRPr lang="ja-JP" altLang="en-US" sz="17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注記"/>
          <p:cNvSpPr/>
          <p:nvPr/>
        </p:nvSpPr>
        <p:spPr>
          <a:xfrm>
            <a:off x="502920" y="5015118"/>
            <a:ext cx="8897112" cy="219456"/>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※広告費・ツール費・LINE公式アカウントの利用料は含まない。いずれも6か月〜の契約</a:t>
            </a:r>
            <a:endParaRPr lang="ja-JP" altLang="en-US" sz="1200" dirty="0">
              <a:latin typeface="メイリオ"/>
              <a:ea typeface="メイリオ"/>
              <a:cs typeface="メイリオ"/>
            </a:endParaRPr>
          </a:p>
        </p:txBody>
      </p:sp>
      <p:sp>
        <p:nvSpPr>
          <p:cNvPr id="7" name="注記"/>
          <p:cNvSpPr/>
          <p:nvPr/>
        </p:nvSpPr>
        <p:spPr>
          <a:xfrm>
            <a:off x="502920" y="5234574"/>
            <a:ext cx="8897112" cy="219456"/>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※施策内容・配信本数・連携範囲等により、費用は個別にお見積り</a:t>
            </a:r>
            <a:endParaRPr lang="ja-JP" altLang="en-US" sz="1200" dirty="0">
              <a:latin typeface="メイリオ"/>
              <a:ea typeface="メイリオ"/>
              <a:cs typeface="メイリオ"/>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883023-AF7C-336C-849B-8B85A9ACB9B9}"/>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8445BC53-89DD-A84D-9D16-6634A99161D2}"/>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弊社からご提供できる運用プラン</a:t>
            </a:r>
          </a:p>
        </p:txBody>
      </p:sp>
      <p:sp>
        <p:nvSpPr>
          <p:cNvPr id="9" name="正方形/長方形 8">
            <a:extLst>
              <a:ext uri="{FF2B5EF4-FFF2-40B4-BE49-F238E27FC236}">
                <a16:creationId xmlns:a16="http://schemas.microsoft.com/office/drawing/2014/main" id="{9AB03A73-8782-5833-4EC4-7EE6E67551BB}"/>
              </a:ext>
            </a:extLst>
          </p:cNvPr>
          <p:cNvSpPr/>
          <p:nvPr/>
        </p:nvSpPr>
        <p:spPr>
          <a:xfrm>
            <a:off x="0" y="77724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cs typeface="メイリオ"/>
              </a:rPr>
              <a:t>都度発注プラン</a:t>
            </a:r>
          </a:p>
        </p:txBody>
      </p:sp>
      <p:sp>
        <p:nvSpPr>
          <p:cNvPr id="3" name="Google Shape;752;p28">
            <a:extLst>
              <a:ext uri="{FF2B5EF4-FFF2-40B4-BE49-F238E27FC236}">
                <a16:creationId xmlns:a16="http://schemas.microsoft.com/office/drawing/2014/main" id="{028B53B5-690E-5899-171E-A9074171D6E9}"/>
              </a:ext>
            </a:extLst>
          </p:cNvPr>
          <p:cNvSpPr txBox="1"/>
          <p:nvPr/>
        </p:nvSpPr>
        <p:spPr>
          <a:xfrm>
            <a:off x="3036570" y="859443"/>
            <a:ext cx="6276325" cy="338514"/>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メイリオ"/>
                <a:sym typeface="Meiryo"/>
              </a:rPr>
              <a:t>LINEOA</a:t>
            </a:r>
            <a:r>
              <a:rPr lang="ja-JP" altLang="en-US" sz="1600" b="1" dirty="0">
                <a:latin typeface="メイリオ" panose="020B0604030504040204" pitchFamily="50" charset="-128"/>
                <a:ea typeface="メイリオ" panose="020B0604030504040204" pitchFamily="50" charset="-128"/>
                <a:cs typeface="メイリオ"/>
                <a:sym typeface="Meiryo"/>
              </a:rPr>
              <a:t>の運用業務・</a:t>
            </a:r>
            <a:r>
              <a:rPr lang="en-US" altLang="ja-JP" sz="1600" b="1" dirty="0">
                <a:latin typeface="メイリオ" panose="020B0604030504040204" pitchFamily="50" charset="-128"/>
                <a:ea typeface="メイリオ" panose="020B0604030504040204" pitchFamily="50" charset="-128"/>
                <a:cs typeface="メイリオ"/>
                <a:sym typeface="Meiryo"/>
              </a:rPr>
              <a:t>CR</a:t>
            </a:r>
            <a:r>
              <a:rPr lang="ja-JP" altLang="en-US" sz="1600" b="1" dirty="0">
                <a:latin typeface="メイリオ" panose="020B0604030504040204" pitchFamily="50" charset="-128"/>
                <a:ea typeface="メイリオ" panose="020B0604030504040204" pitchFamily="50" charset="-128"/>
                <a:cs typeface="メイリオ"/>
                <a:sym typeface="Meiryo"/>
              </a:rPr>
              <a:t>制作業務を一部外出ししてご依頼依頼も。</a:t>
            </a:r>
            <a:endParaRPr lang="en-US" altLang="ja-JP" sz="1600" b="1" dirty="0">
              <a:latin typeface="メイリオ" panose="020B0604030504040204" pitchFamily="50" charset="-128"/>
              <a:ea typeface="メイリオ" panose="020B0604030504040204" pitchFamily="50" charset="-128"/>
              <a:cs typeface="メイリオ"/>
              <a:sym typeface="Meiryo"/>
            </a:endParaRPr>
          </a:p>
        </p:txBody>
      </p:sp>
      <p:sp>
        <p:nvSpPr>
          <p:cNvPr id="12" name="正方形/長方形 11">
            <a:extLst>
              <a:ext uri="{FF2B5EF4-FFF2-40B4-BE49-F238E27FC236}">
                <a16:creationId xmlns:a16="http://schemas.microsoft.com/office/drawing/2014/main" id="{E2BC9744-CCD5-D85B-03E7-5884310FE6EE}"/>
              </a:ext>
            </a:extLst>
          </p:cNvPr>
          <p:cNvSpPr/>
          <p:nvPr/>
        </p:nvSpPr>
        <p:spPr>
          <a:xfrm>
            <a:off x="548883" y="1380214"/>
            <a:ext cx="8859613" cy="508154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13" name="テキスト ボックス 12">
            <a:extLst>
              <a:ext uri="{FF2B5EF4-FFF2-40B4-BE49-F238E27FC236}">
                <a16:creationId xmlns:a16="http://schemas.microsoft.com/office/drawing/2014/main" id="{B88E2B73-305C-9688-214C-1EF768E484BD}"/>
              </a:ext>
            </a:extLst>
          </p:cNvPr>
          <p:cNvSpPr txBox="1"/>
          <p:nvPr/>
        </p:nvSpPr>
        <p:spPr>
          <a:xfrm>
            <a:off x="706726" y="1569462"/>
            <a:ext cx="4963884" cy="253916"/>
          </a:xfrm>
          <a:prstGeom prst="rect">
            <a:avLst/>
          </a:prstGeom>
          <a:noFill/>
        </p:spPr>
        <p:txBody>
          <a:bodyPr wrap="square">
            <a:spAutoFit/>
          </a:bodyPr>
          <a:lstStyle/>
          <a:p>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sym typeface="Meiryo"/>
              </a:rPr>
              <a:t>&lt;</a:t>
            </a:r>
            <a:r>
              <a:rPr lang="ja-JP" altLang="en-US"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sym typeface="Meiryo"/>
              </a:rPr>
              <a:t>追加作業における費用感　</a:t>
            </a:r>
            <a:r>
              <a:rPr lang="en-US" altLang="ja-JP" sz="900" dirty="0">
                <a:solidFill>
                  <a:srgbClr val="1F2A5C"/>
                </a:solidFill>
                <a:latin typeface="メイリオ" panose="020B0604030504040204" pitchFamily="50" charset="-128"/>
                <a:ea typeface="メイリオ" panose="020B0604030504040204" pitchFamily="50" charset="-128"/>
                <a:cs typeface="メイリオ"/>
                <a:sym typeface="Meiryo"/>
              </a:rPr>
              <a:t>※</a:t>
            </a:r>
            <a:r>
              <a:rPr lang="ja-JP" altLang="en-US" sz="900" dirty="0">
                <a:solidFill>
                  <a:srgbClr val="1F2A5C"/>
                </a:solidFill>
                <a:latin typeface="メイリオ" panose="020B0604030504040204" pitchFamily="50" charset="-128"/>
                <a:ea typeface="メイリオ" panose="020B0604030504040204" pitchFamily="50" charset="-128"/>
                <a:cs typeface="メイリオ"/>
                <a:sym typeface="Meiryo"/>
              </a:rPr>
              <a:t>作業量により変動する可能性がございます</a:t>
            </a:r>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sym typeface="Meiryo"/>
              </a:rPr>
              <a:t>&gt;</a:t>
            </a:r>
            <a:endParaRPr lang="ja-JP" altLang="en-US" sz="1050" dirty="0">
              <a:solidFill>
                <a:schemeClr val="tx1">
                  <a:lumMod val="65000"/>
                  <a:lumOff val="35000"/>
                </a:schemeClr>
              </a:solidFill>
              <a:latin typeface="メイリオ"/>
              <a:ea typeface="メイリオ"/>
              <a:cs typeface="メイリオ"/>
            </a:endParaRPr>
          </a:p>
        </p:txBody>
      </p:sp>
      <p:graphicFrame>
        <p:nvGraphicFramePr>
          <p:cNvPr id="14" name="表 13">
            <a:extLst>
              <a:ext uri="{FF2B5EF4-FFF2-40B4-BE49-F238E27FC236}">
                <a16:creationId xmlns:a16="http://schemas.microsoft.com/office/drawing/2014/main" id="{09C77DA6-2F75-12F7-39C7-7A6997364857}"/>
              </a:ext>
            </a:extLst>
          </p:cNvPr>
          <p:cNvGraphicFramePr>
            <a:graphicFrameLocks noGrp="1"/>
          </p:cNvGraphicFramePr>
          <p:nvPr/>
        </p:nvGraphicFramePr>
        <p:xfrm>
          <a:off x="706726" y="1862534"/>
          <a:ext cx="8543925" cy="4069730"/>
        </p:xfrm>
        <a:graphic>
          <a:graphicData uri="http://schemas.openxmlformats.org/drawingml/2006/table">
            <a:tbl>
              <a:tblPr/>
              <a:tblGrid>
                <a:gridCol w="1832575">
                  <a:extLst>
                    <a:ext uri="{9D8B030D-6E8A-4147-A177-3AD203B41FA5}">
                      <a16:colId xmlns:a16="http://schemas.microsoft.com/office/drawing/2014/main" val="861741390"/>
                    </a:ext>
                  </a:extLst>
                </a:gridCol>
                <a:gridCol w="1140808">
                  <a:extLst>
                    <a:ext uri="{9D8B030D-6E8A-4147-A177-3AD203B41FA5}">
                      <a16:colId xmlns:a16="http://schemas.microsoft.com/office/drawing/2014/main" val="2023292695"/>
                    </a:ext>
                  </a:extLst>
                </a:gridCol>
                <a:gridCol w="1140808">
                  <a:extLst>
                    <a:ext uri="{9D8B030D-6E8A-4147-A177-3AD203B41FA5}">
                      <a16:colId xmlns:a16="http://schemas.microsoft.com/office/drawing/2014/main" val="3807194112"/>
                    </a:ext>
                  </a:extLst>
                </a:gridCol>
                <a:gridCol w="315543">
                  <a:extLst>
                    <a:ext uri="{9D8B030D-6E8A-4147-A177-3AD203B41FA5}">
                      <a16:colId xmlns:a16="http://schemas.microsoft.com/office/drawing/2014/main" val="1897046241"/>
                    </a:ext>
                  </a:extLst>
                </a:gridCol>
                <a:gridCol w="1832575">
                  <a:extLst>
                    <a:ext uri="{9D8B030D-6E8A-4147-A177-3AD203B41FA5}">
                      <a16:colId xmlns:a16="http://schemas.microsoft.com/office/drawing/2014/main" val="286895173"/>
                    </a:ext>
                  </a:extLst>
                </a:gridCol>
                <a:gridCol w="1140808">
                  <a:extLst>
                    <a:ext uri="{9D8B030D-6E8A-4147-A177-3AD203B41FA5}">
                      <a16:colId xmlns:a16="http://schemas.microsoft.com/office/drawing/2014/main" val="241768133"/>
                    </a:ext>
                  </a:extLst>
                </a:gridCol>
                <a:gridCol w="1140808">
                  <a:extLst>
                    <a:ext uri="{9D8B030D-6E8A-4147-A177-3AD203B41FA5}">
                      <a16:colId xmlns:a16="http://schemas.microsoft.com/office/drawing/2014/main" val="3498780203"/>
                    </a:ext>
                  </a:extLst>
                </a:gridCol>
              </a:tblGrid>
              <a:tr h="290695">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対応項目</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a:solidFill>
                            <a:srgbClr val="FFFFFF"/>
                          </a:solidFill>
                          <a:effectLst/>
                          <a:latin typeface="メイリオ" panose="020B0604030504040204" pitchFamily="50" charset="-128"/>
                          <a:ea typeface="メイリオ" panose="020B0604030504040204" pitchFamily="50" charset="-128"/>
                          <a:cs typeface="メイリオ"/>
                        </a:rPr>
                        <a:t>初期</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内容</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l" fontAlgn="ctr">
                        <a:buNone/>
                      </a:pPr>
                      <a:endParaRPr lang="ja-JP" altLang="en-US" sz="1100" b="1"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1" i="0" u="none" strike="noStrike">
                          <a:solidFill>
                            <a:srgbClr val="FFFFFF"/>
                          </a:solidFill>
                          <a:effectLst/>
                          <a:latin typeface="メイリオ" panose="020B0604030504040204" pitchFamily="50" charset="-128"/>
                          <a:ea typeface="メイリオ" panose="020B0604030504040204" pitchFamily="50" charset="-128"/>
                          <a:cs typeface="メイリオ"/>
                        </a:rPr>
                        <a:t>対応項目</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初期</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月額</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extLst>
                  <a:ext uri="{0D108BD9-81ED-4DB2-BD59-A6C34878D82A}">
                    <a16:rowId xmlns:a16="http://schemas.microsoft.com/office/drawing/2014/main" val="1564040789"/>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アカウント開設</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API</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ツール導入</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42032470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プロフィール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ID</a:t>
                      </a: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連携</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rtl="0" eaLnBrk="1" fontAlgn="ctr" latinLnBrk="0" hangingPunct="1">
                        <a:buNone/>
                      </a:pPr>
                      <a:r>
                        <a:rPr kumimoji="1" lang="en-US" sz="1050" b="0" i="0" u="none" strike="noStrike" kern="1200" dirty="0">
                          <a:solidFill>
                            <a:schemeClr val="tx1">
                              <a:lumMod val="50000"/>
                              <a:lumOff val="50000"/>
                            </a:schemeClr>
                          </a:solidFill>
                          <a:effectLst/>
                          <a:latin typeface="メイリオ" panose="020B0604030504040204" pitchFamily="50" charset="-128"/>
                          <a:ea typeface="メイリオ" panose="020B0604030504040204" pitchFamily="50" charset="-128"/>
                          <a:cs typeface="メイリオ"/>
                        </a:rPr>
                        <a:t>¥200,000~</a:t>
                      </a:r>
                      <a:endParaRPr lang="en-US" altLang="ja-JP" sz="2800" b="0" i="0" u="none" strike="noStrike" dirty="0">
                        <a:solidFill>
                          <a:schemeClr val="tx1">
                            <a:lumMod val="50000"/>
                            <a:lumOff val="50000"/>
                          </a:schemeClr>
                        </a:solidFill>
                        <a:effectLst/>
                        <a:latin typeface="メイリオ" panose="020B0604020202020204" pitchFamily="34" charset="0"/>
                        <a:ea typeface="メイリオ"/>
                        <a:cs typeface="メイリオ"/>
                      </a:endParaRPr>
                    </a:p>
                  </a:txBody>
                  <a:tcPr marL="9144" marR="9144" marT="9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72466269"/>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リッチメニュー</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ログイン</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rtl="0" eaLnBrk="1" fontAlgn="ctr" latinLnBrk="0" hangingPunct="1">
                        <a:buNone/>
                      </a:pPr>
                      <a:r>
                        <a:rPr kumimoji="1" lang="en-US" sz="1050" b="0" i="0" u="none" strike="noStrike" kern="1200" dirty="0">
                          <a:solidFill>
                            <a:schemeClr val="tx1">
                              <a:lumMod val="50000"/>
                              <a:lumOff val="50000"/>
                            </a:schemeClr>
                          </a:solidFill>
                          <a:effectLst/>
                          <a:latin typeface="メイリオ" panose="020B0604030504040204" pitchFamily="50" charset="-128"/>
                          <a:ea typeface="メイリオ" panose="020B0604030504040204" pitchFamily="50" charset="-128"/>
                          <a:cs typeface="メイリオ"/>
                        </a:rPr>
                        <a:t>¥0</a:t>
                      </a:r>
                      <a:endParaRPr lang="en-US" altLang="ja-JP" sz="2800" b="0" i="0" u="none" strike="noStrike" dirty="0">
                        <a:solidFill>
                          <a:schemeClr val="tx1">
                            <a:lumMod val="50000"/>
                            <a:lumOff val="50000"/>
                          </a:schemeClr>
                        </a:solidFill>
                        <a:effectLst/>
                        <a:latin typeface="メイリオ" panose="020B0604020202020204" pitchFamily="34" charset="0"/>
                        <a:ea typeface="メイリオ"/>
                        <a:cs typeface="メイリオ"/>
                      </a:endParaRPr>
                    </a:p>
                  </a:txBody>
                  <a:tcPr marL="9144" marR="9144" marT="9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843180495"/>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あいさつメッセージ</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通知メッセージ</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¥200,000~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29561994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初期アンケート</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チャットボット機能</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498230469"/>
                  </a:ext>
                </a:extLst>
              </a:tr>
              <a:tr h="290695">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KW</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の自動応答</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Chat Plus</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¥30,000~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4130554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ステップ配信</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Call Plus</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¥200,000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4011135084"/>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セグメント配信</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決済</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989714401"/>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チャットタグ管理</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予約管理</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¥20,000~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160214931"/>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チャット対応</a:t>
                      </a:r>
                      <a:r>
                        <a:rPr lang="ja-JP" altLang="en-US" sz="700" b="0" i="0" u="none" strike="noStrike" dirty="0">
                          <a:solidFill>
                            <a:srgbClr val="1F2A5C"/>
                          </a:solidFill>
                          <a:effectLst/>
                          <a:latin typeface="メイリオ" panose="020B0604030504040204" pitchFamily="50" charset="-128"/>
                          <a:ea typeface="メイリオ" panose="020B0604030504040204" pitchFamily="50" charset="-128"/>
                          <a:cs typeface="メイリオ"/>
                        </a:rPr>
                        <a:t> </a:t>
                      </a:r>
                      <a:r>
                        <a:rPr lang="en-US" altLang="ja-JP" sz="700" b="0" i="0" u="none" strike="noStrike" dirty="0">
                          <a:solidFill>
                            <a:srgbClr val="1F2A5C"/>
                          </a:solidFill>
                          <a:effectLst/>
                          <a:latin typeface="メイリオ" panose="020B0604030504040204" pitchFamily="50" charset="-128"/>
                          <a:ea typeface="メイリオ" panose="020B0604030504040204" pitchFamily="50" charset="-128"/>
                          <a:cs typeface="メイリオ"/>
                        </a:rPr>
                        <a:t>※</a:t>
                      </a:r>
                      <a:r>
                        <a:rPr lang="ja-JP" altLang="en-US" sz="700" b="0" i="0" u="none" strike="noStrike" dirty="0">
                          <a:solidFill>
                            <a:srgbClr val="1F2A5C"/>
                          </a:solidFill>
                          <a:effectLst/>
                          <a:latin typeface="メイリオ" panose="020B0604030504040204" pitchFamily="50" charset="-128"/>
                          <a:ea typeface="メイリオ" panose="020B0604030504040204" pitchFamily="50" charset="-128"/>
                          <a:cs typeface="メイリオ"/>
                        </a:rPr>
                        <a:t>サポートは可能</a:t>
                      </a:r>
                      <a:endParaRPr lang="ja-JP" altLang="en-US" sz="1100" b="0" i="0" u="none" strike="noStrike" dirty="0">
                        <a:solidFill>
                          <a:srgbClr val="1F2A5C"/>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¥100,000</a:t>
                      </a: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件数により変動</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919396613"/>
                  </a:ext>
                </a:extLst>
              </a:tr>
              <a:tr h="290695">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GA(CRM)</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レポート連携</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802321774"/>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クリエイティブ</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¥15,000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latin typeface="メイリオ"/>
                          <a:ea typeface="メイリオ"/>
                          <a:cs typeface="メイリオ"/>
                        </a:defRPr>
                      </a:pP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画像</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1</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枚での想定</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marL="0" marR="0" lvl="0" indent="0" algn="ctr" defTabSz="914400" rtl="0" eaLnBrk="1" fontAlgn="ctr" latinLnBrk="0" hangingPunct="1">
                        <a:lnSpc>
                          <a:spcPct val="100000"/>
                        </a:lnSpc>
                        <a:spcBef>
                          <a:spcPts val="0"/>
                        </a:spcBef>
                        <a:spcAft>
                          <a:spcPts val="0"/>
                        </a:spcAft>
                        <a:buClrTx/>
                        <a:buSzTx/>
                        <a:buFontTx/>
                        <a:buNone/>
                        <a:tabLst/>
                        <a:defRPr>
                          <a:latin typeface="メイリオ"/>
                          <a:ea typeface="メイリオ"/>
                          <a:cs typeface="メイリオ"/>
                        </a:defRPr>
                      </a:pP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バナー、</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HTML</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メール等</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離脱防止ツール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¥15,000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98905920"/>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投稿作成</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サンクス</a:t>
                      </a: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誘導ツール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¥150,000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¥30,000〜</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117655704"/>
                  </a:ext>
                </a:extLst>
              </a:tr>
            </a:tbl>
          </a:graphicData>
        </a:graphic>
      </p:graphicFrame>
      <p:sp>
        <p:nvSpPr>
          <p:cNvPr id="5" name="テキスト ボックス 4">
            <a:extLst>
              <a:ext uri="{FF2B5EF4-FFF2-40B4-BE49-F238E27FC236}">
                <a16:creationId xmlns:a16="http://schemas.microsoft.com/office/drawing/2014/main" id="{F7D704DA-4ADC-402A-12BC-1D923B1E3B20}"/>
              </a:ext>
            </a:extLst>
          </p:cNvPr>
          <p:cNvSpPr txBox="1"/>
          <p:nvPr/>
        </p:nvSpPr>
        <p:spPr>
          <a:xfrm>
            <a:off x="1344877" y="6045252"/>
            <a:ext cx="7267622" cy="307777"/>
          </a:xfrm>
          <a:prstGeom prst="rect">
            <a:avLst/>
          </a:prstGeom>
          <a:noFill/>
        </p:spPr>
        <p:txBody>
          <a:bodyPr wrap="square">
            <a:spAutoFit/>
          </a:bodyPr>
          <a:lstStyle/>
          <a:p>
            <a:pPr algn="ctr"/>
            <a:r>
              <a:rPr lang="ja-JP" altLang="en-US" sz="1400" dirty="0">
                <a:solidFill>
                  <a:srgbClr val="1F2A5C"/>
                </a:solidFill>
                <a:latin typeface="メイリオ" panose="020B0604030504040204" pitchFamily="50" charset="-128"/>
                <a:ea typeface="メイリオ" panose="020B0604030504040204" pitchFamily="50" charset="-128"/>
                <a:cs typeface="メイリオ"/>
                <a:sym typeface="Meiryo"/>
              </a:rPr>
              <a:t>貴社リソースの状況に応じて都度発注でのご依頼も各単価で受けさせていただきます。</a:t>
            </a:r>
            <a:endParaRPr lang="ja-JP" altLang="en-US" sz="1400" dirty="0">
              <a:latin typeface="メイリオ"/>
              <a:ea typeface="メイリオ"/>
              <a:cs typeface="メイリオ"/>
            </a:endParaRPr>
          </a:p>
        </p:txBody>
      </p:sp>
      <p:sp>
        <p:nvSpPr>
          <p:cNvPr id="2" name="正方形/長方形 1">
            <a:extLst>
              <a:ext uri="{FF2B5EF4-FFF2-40B4-BE49-F238E27FC236}">
                <a16:creationId xmlns:a16="http://schemas.microsoft.com/office/drawing/2014/main" id="{80B84980-B4D9-2F75-F253-D767EB0FFCF5}"/>
              </a:ext>
            </a:extLst>
          </p:cNvPr>
          <p:cNvSpPr/>
          <p:nvPr/>
        </p:nvSpPr>
        <p:spPr>
          <a:xfrm>
            <a:off x="378823" y="1329288"/>
            <a:ext cx="9183188" cy="5219557"/>
          </a:xfrm>
          <a:prstGeom prst="rect">
            <a:avLst/>
          </a:prstGeom>
          <a:solidFill>
            <a:schemeClr val="bg1">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8808819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D17A57-A342-CB38-A7F8-9DB9EF160348}"/>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282D28B4-A2E3-FBF5-60E3-CBDCF57DCEEB}"/>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8262C21F-1F4A-FEF6-A8ED-48C7EC229555}"/>
              </a:ext>
            </a:extLst>
          </p:cNvPr>
          <p:cNvSpPr/>
          <p:nvPr/>
        </p:nvSpPr>
        <p:spPr>
          <a:xfrm>
            <a:off x="3629572" y="3038203"/>
            <a:ext cx="2646878"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サポート体制</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09213406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正方形/長方形 5"/>
          <p:cNvSpPr/>
          <p:nvPr/>
        </p:nvSpPr>
        <p:spPr>
          <a:xfrm>
            <a:off x="300312" y="832762"/>
            <a:ext cx="9355994" cy="867143"/>
          </a:xfrm>
          <a:prstGeom prst="rect">
            <a:avLst/>
          </a:prstGeom>
          <a:solidFill>
            <a:schemeClr val="tx2"/>
          </a:solidFill>
          <a:ln w="2222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400" dirty="0">
                <a:solidFill>
                  <a:schemeClr val="bg1"/>
                </a:solidFill>
                <a:latin typeface="メイリオ" panose="020B0604030504040204" pitchFamily="50" charset="-128"/>
                <a:ea typeface="メイリオ" panose="020B0604030504040204" pitchFamily="50" charset="-128"/>
                <a:cs typeface="メイリオ"/>
              </a:rPr>
              <a:t>WEB</a:t>
            </a:r>
            <a:r>
              <a:rPr lang="ja-JP" altLang="en-US" sz="2400" dirty="0">
                <a:solidFill>
                  <a:schemeClr val="bg1"/>
                </a:solidFill>
                <a:latin typeface="メイリオ" panose="020B0604030504040204" pitchFamily="50" charset="-128"/>
                <a:ea typeface="メイリオ" panose="020B0604030504040204" pitchFamily="50" charset="-128"/>
                <a:cs typeface="メイリオ"/>
              </a:rPr>
              <a:t>サイト上情報と連携させ、配信効果を数値化する</a:t>
            </a:r>
          </a:p>
        </p:txBody>
      </p:sp>
      <p:pic>
        <p:nvPicPr>
          <p:cNvPr id="7" name="図 6"/>
          <p:cNvPicPr>
            <a:picLocks noChangeAspect="1"/>
          </p:cNvPicPr>
          <p:nvPr/>
        </p:nvPicPr>
        <p:blipFill>
          <a:blip r:embed="rId3"/>
          <a:stretch>
            <a:fillRect/>
          </a:stretch>
        </p:blipFill>
        <p:spPr>
          <a:xfrm>
            <a:off x="1183616" y="2131090"/>
            <a:ext cx="2498573" cy="1744287"/>
          </a:xfrm>
          <a:prstGeom prst="rect">
            <a:avLst/>
          </a:prstGeom>
        </p:spPr>
      </p:pic>
      <p:pic>
        <p:nvPicPr>
          <p:cNvPr id="8" name="図 7"/>
          <p:cNvPicPr>
            <a:picLocks noChangeAspect="1"/>
          </p:cNvPicPr>
          <p:nvPr/>
        </p:nvPicPr>
        <p:blipFill>
          <a:blip r:embed="rId4"/>
          <a:stretch>
            <a:fillRect/>
          </a:stretch>
        </p:blipFill>
        <p:spPr>
          <a:xfrm>
            <a:off x="3456146" y="2402524"/>
            <a:ext cx="2393091" cy="1668595"/>
          </a:xfrm>
          <a:prstGeom prst="rect">
            <a:avLst/>
          </a:prstGeom>
        </p:spPr>
      </p:pic>
      <p:pic>
        <p:nvPicPr>
          <p:cNvPr id="10" name="図 9"/>
          <p:cNvPicPr>
            <a:picLocks noChangeAspect="1"/>
          </p:cNvPicPr>
          <p:nvPr/>
        </p:nvPicPr>
        <p:blipFill>
          <a:blip r:embed="rId5"/>
          <a:stretch>
            <a:fillRect/>
          </a:stretch>
        </p:blipFill>
        <p:spPr>
          <a:xfrm>
            <a:off x="5697714" y="2676687"/>
            <a:ext cx="2432174" cy="1698131"/>
          </a:xfrm>
          <a:prstGeom prst="rect">
            <a:avLst/>
          </a:prstGeom>
        </p:spPr>
      </p:pic>
      <p:pic>
        <p:nvPicPr>
          <p:cNvPr id="14" name="図 13"/>
          <p:cNvPicPr>
            <a:picLocks noChangeAspect="1"/>
          </p:cNvPicPr>
          <p:nvPr/>
        </p:nvPicPr>
        <p:blipFill>
          <a:blip r:embed="rId6"/>
          <a:stretch>
            <a:fillRect/>
          </a:stretch>
        </p:blipFill>
        <p:spPr>
          <a:xfrm>
            <a:off x="1158180" y="4165451"/>
            <a:ext cx="2417022" cy="1682579"/>
          </a:xfrm>
          <a:prstGeom prst="rect">
            <a:avLst/>
          </a:prstGeom>
        </p:spPr>
      </p:pic>
      <p:pic>
        <p:nvPicPr>
          <p:cNvPr id="15" name="図 14"/>
          <p:cNvPicPr>
            <a:picLocks noChangeAspect="1"/>
          </p:cNvPicPr>
          <p:nvPr/>
        </p:nvPicPr>
        <p:blipFill>
          <a:blip r:embed="rId7"/>
          <a:stretch>
            <a:fillRect/>
          </a:stretch>
        </p:blipFill>
        <p:spPr>
          <a:xfrm>
            <a:off x="3434655" y="4410829"/>
            <a:ext cx="2417022" cy="1683209"/>
          </a:xfrm>
          <a:prstGeom prst="rect">
            <a:avLst/>
          </a:prstGeom>
        </p:spPr>
      </p:pic>
      <p:pic>
        <p:nvPicPr>
          <p:cNvPr id="24" name="図 23"/>
          <p:cNvPicPr>
            <a:picLocks noChangeAspect="1"/>
          </p:cNvPicPr>
          <p:nvPr/>
        </p:nvPicPr>
        <p:blipFill>
          <a:blip r:embed="rId8"/>
          <a:stretch>
            <a:fillRect/>
          </a:stretch>
        </p:blipFill>
        <p:spPr>
          <a:xfrm>
            <a:off x="5697714" y="4687135"/>
            <a:ext cx="2427146" cy="1691079"/>
          </a:xfrm>
          <a:prstGeom prst="rect">
            <a:avLst/>
          </a:prstGeom>
        </p:spPr>
      </p:pic>
      <p:pic>
        <p:nvPicPr>
          <p:cNvPr id="26" name="図 25"/>
          <p:cNvPicPr>
            <a:picLocks noChangeAspect="1"/>
          </p:cNvPicPr>
          <p:nvPr/>
        </p:nvPicPr>
        <p:blipFill>
          <a:blip r:embed="rId9"/>
          <a:stretch>
            <a:fillRect/>
          </a:stretch>
        </p:blipFill>
        <p:spPr>
          <a:xfrm>
            <a:off x="8022243" y="1995292"/>
            <a:ext cx="1068645" cy="454221"/>
          </a:xfrm>
          <a:prstGeom prst="rect">
            <a:avLst/>
          </a:prstGeom>
        </p:spPr>
      </p:pic>
      <p:sp>
        <p:nvSpPr>
          <p:cNvPr id="2" name="テキスト ボックス 1">
            <a:extLst>
              <a:ext uri="{FF2B5EF4-FFF2-40B4-BE49-F238E27FC236}">
                <a16:creationId xmlns:a16="http://schemas.microsoft.com/office/drawing/2014/main" id="{D651C636-9CF1-15AA-68DF-A90526709D47}"/>
              </a:ext>
            </a:extLst>
          </p:cNvPr>
          <p:cNvSpPr txBox="1"/>
          <p:nvPr/>
        </p:nvSpPr>
        <p:spPr>
          <a:xfrm>
            <a:off x="482693" y="989115"/>
            <a:ext cx="933809" cy="646331"/>
          </a:xfrm>
          <a:prstGeom prst="rect">
            <a:avLst/>
          </a:prstGeom>
          <a:noFill/>
        </p:spPr>
        <p:txBody>
          <a:bodyPr wrap="square">
            <a:spAutoFit/>
          </a:bodyPr>
          <a:lstStyle/>
          <a:p>
            <a:r>
              <a:rPr lang="ja-JP" altLang="en-US" sz="3600" dirty="0">
                <a:solidFill>
                  <a:schemeClr val="bg1"/>
                </a:solidFill>
                <a:latin typeface="メイリオ" panose="020B0604030504040204" pitchFamily="50" charset="-128"/>
                <a:ea typeface="メイリオ" panose="020B0604030504040204" pitchFamily="50" charset="-128"/>
                <a:cs typeface="メイリオ"/>
              </a:rPr>
              <a:t>☑</a:t>
            </a:r>
            <a:endParaRPr lang="ja-JP" altLang="en-US" sz="3600" dirty="0">
              <a:latin typeface="メイリオ"/>
              <a:ea typeface="メイリオ"/>
              <a:cs typeface="メイリオ"/>
            </a:endParaRPr>
          </a:p>
        </p:txBody>
      </p:sp>
      <p:pic>
        <p:nvPicPr>
          <p:cNvPr id="3" name="Picture 2" descr="ロゴガイドライン｜LINEヤフー for Business">
            <a:extLst>
              <a:ext uri="{FF2B5EF4-FFF2-40B4-BE49-F238E27FC236}">
                <a16:creationId xmlns:a16="http://schemas.microsoft.com/office/drawing/2014/main" id="{4B935F7B-C5E5-F09A-504B-9182D06611BF}"/>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6485508" y="1787991"/>
            <a:ext cx="2447955" cy="888696"/>
          </a:xfrm>
          <a:prstGeom prst="rect">
            <a:avLst/>
          </a:prstGeom>
          <a:noFill/>
          <a:extLst>
            <a:ext uri="{909E8E84-426E-40DD-AFC4-6F175D3DCCD1}">
              <a14:hiddenFill xmlns:a14="http://schemas.microsoft.com/office/drawing/2010/main">
                <a:solidFill>
                  <a:srgbClr val="FFFFFF"/>
                </a:solidFill>
              </a14:hiddenFill>
            </a:ext>
          </a:extLst>
        </p:spPr>
      </p:pic>
      <p:sp>
        <p:nvSpPr>
          <p:cNvPr id="4" name="Google Shape;156;p7">
            <a:extLst>
              <a:ext uri="{FF2B5EF4-FFF2-40B4-BE49-F238E27FC236}">
                <a16:creationId xmlns:a16="http://schemas.microsoft.com/office/drawing/2014/main" id="{C235E2E0-8EAB-29DE-40C2-6596465C1F0D}"/>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サポート体制（報告</a:t>
            </a:r>
            <a:r>
              <a:rPr lang="en-US" altLang="ja-JP" sz="1600" b="1" dirty="0">
                <a:solidFill>
                  <a:srgbClr val="002060"/>
                </a:solidFill>
                <a:latin typeface="メイリオ"/>
                <a:ea typeface="メイリオ"/>
                <a:cs typeface="メイリオ"/>
                <a:sym typeface="Meiryo"/>
              </a:rPr>
              <a:t>FMT</a:t>
            </a:r>
            <a:r>
              <a:rPr lang="ja-JP" altLang="en-US" sz="1600" b="1" dirty="0">
                <a:solidFill>
                  <a:srgbClr val="002060"/>
                </a:solidFill>
                <a:latin typeface="メイリオ"/>
                <a:ea typeface="メイリオ"/>
                <a:cs typeface="メイリオ"/>
                <a:sym typeface="Meiryo"/>
              </a:rPr>
              <a:t>）</a:t>
            </a:r>
            <a:endParaRPr sz="1600" b="1" dirty="0">
              <a:solidFill>
                <a:srgbClr val="002060"/>
              </a:solidFill>
              <a:latin typeface="メイリオ"/>
              <a:ea typeface="メイリオ"/>
              <a:cs typeface="メイリオ"/>
              <a:sym typeface="Meiryo"/>
            </a:endParaRPr>
          </a:p>
        </p:txBody>
      </p:sp>
      <p:sp>
        <p:nvSpPr>
          <p:cNvPr id="5" name="正方形/長方形 4">
            <a:extLst>
              <a:ext uri="{FF2B5EF4-FFF2-40B4-BE49-F238E27FC236}">
                <a16:creationId xmlns:a16="http://schemas.microsoft.com/office/drawing/2014/main" id="{301FEA49-75A4-DB83-1235-8CE72DDD1DB5}"/>
              </a:ext>
            </a:extLst>
          </p:cNvPr>
          <p:cNvSpPr/>
          <p:nvPr/>
        </p:nvSpPr>
        <p:spPr>
          <a:xfrm>
            <a:off x="166962" y="3583894"/>
            <a:ext cx="9594258" cy="867143"/>
          </a:xfrm>
          <a:prstGeom prst="rect">
            <a:avLst/>
          </a:prstGeom>
          <a:solidFill>
            <a:schemeClr val="tx1">
              <a:lumMod val="65000"/>
              <a:lumOff val="35000"/>
              <a:alpha val="50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400" b="1" dirty="0">
                <a:solidFill>
                  <a:schemeClr val="bg1"/>
                </a:solidFill>
                <a:latin typeface="メイリオ" panose="020B0604030504040204" pitchFamily="50" charset="-128"/>
                <a:ea typeface="メイリオ" panose="020B0604030504040204" pitchFamily="50" charset="-128"/>
                <a:cs typeface="メイリオ"/>
              </a:rPr>
              <a:t>レポートサンプル</a:t>
            </a:r>
            <a:endParaRPr lang="en-US" altLang="ja-JP" sz="24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1400" dirty="0">
                <a:solidFill>
                  <a:schemeClr val="bg1"/>
                </a:solidFill>
                <a:latin typeface="メイリオ" panose="020B0604030504040204" pitchFamily="50" charset="-128"/>
                <a:ea typeface="メイリオ" panose="020B0604030504040204" pitchFamily="50" charset="-128"/>
                <a:cs typeface="メイリオ"/>
              </a:rPr>
              <a:t>（貴社要望によりカスタマイズ予定）</a:t>
            </a:r>
          </a:p>
        </p:txBody>
      </p:sp>
    </p:spTree>
    <p:extLst>
      <p:ext uri="{BB962C8B-B14F-4D97-AF65-F5344CB8AC3E}">
        <p14:creationId xmlns:p14="http://schemas.microsoft.com/office/powerpoint/2010/main" val="20268183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p:cNvSpPr/>
          <p:nvPr/>
        </p:nvSpPr>
        <p:spPr>
          <a:xfrm>
            <a:off x="6757851" y="93594"/>
            <a:ext cx="1320961" cy="34403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dirty="0">
                <a:latin typeface="メイリオ" panose="020B0604030504040204" pitchFamily="50" charset="-128"/>
                <a:ea typeface="メイリオ" panose="020B0604030504040204" pitchFamily="50" charset="-128"/>
                <a:cs typeface="メイリオ"/>
              </a:rPr>
              <a:t>効果計測</a:t>
            </a:r>
            <a:endParaRPr kumimoji="1" lang="ja-JP" altLang="en-US" sz="1100" dirty="0">
              <a:latin typeface="メイリオ" panose="020B0604030504040204" pitchFamily="50" charset="-128"/>
              <a:ea typeface="メイリオ" panose="020B0604030504040204" pitchFamily="50" charset="-128"/>
              <a:cs typeface="メイリオ"/>
            </a:endParaRPr>
          </a:p>
        </p:txBody>
      </p:sp>
      <p:sp>
        <p:nvSpPr>
          <p:cNvPr id="14" name="正方形/長方形 13"/>
          <p:cNvSpPr/>
          <p:nvPr/>
        </p:nvSpPr>
        <p:spPr>
          <a:xfrm>
            <a:off x="258794" y="1486023"/>
            <a:ext cx="9230264" cy="170575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latin typeface="メイリオ"/>
              <a:ea typeface="メイリオ"/>
              <a:cs typeface="メイリオ"/>
            </a:endParaRPr>
          </a:p>
        </p:txBody>
      </p:sp>
      <p:pic>
        <p:nvPicPr>
          <p:cNvPr id="15" name="図 14"/>
          <p:cNvPicPr>
            <a:picLocks noChangeAspect="1"/>
          </p:cNvPicPr>
          <p:nvPr/>
        </p:nvPicPr>
        <p:blipFill>
          <a:blip r:embed="rId3"/>
          <a:stretch>
            <a:fillRect/>
          </a:stretch>
        </p:blipFill>
        <p:spPr>
          <a:xfrm>
            <a:off x="445640" y="4515592"/>
            <a:ext cx="4393508" cy="1886055"/>
          </a:xfrm>
          <a:prstGeom prst="rect">
            <a:avLst/>
          </a:prstGeom>
        </p:spPr>
      </p:pic>
      <p:sp>
        <p:nvSpPr>
          <p:cNvPr id="16" name="正方形/長方形 15"/>
          <p:cNvSpPr/>
          <p:nvPr/>
        </p:nvSpPr>
        <p:spPr>
          <a:xfrm>
            <a:off x="1728755" y="1724210"/>
            <a:ext cx="1984767"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API</a:t>
            </a:r>
            <a:r>
              <a:rPr lang="ja-JP" altLang="en-US" sz="1200" b="1" dirty="0">
                <a:latin typeface="メイリオ" panose="020B0604030504040204" pitchFamily="50" charset="-128"/>
                <a:ea typeface="メイリオ" panose="020B0604030504040204" pitchFamily="50" charset="-128"/>
                <a:cs typeface="メイリオ"/>
              </a:rPr>
              <a:t>ツールなし</a:t>
            </a:r>
            <a:endParaRPr kumimoji="1" lang="ja-JP" altLang="en-US" sz="1200" b="1" dirty="0">
              <a:latin typeface="メイリオ" panose="020B0604030504040204" pitchFamily="50" charset="-128"/>
              <a:ea typeface="メイリオ" panose="020B0604030504040204" pitchFamily="50" charset="-128"/>
              <a:cs typeface="メイリオ"/>
            </a:endParaRPr>
          </a:p>
        </p:txBody>
      </p:sp>
      <p:sp>
        <p:nvSpPr>
          <p:cNvPr id="17" name="正方形/長方形 16"/>
          <p:cNvSpPr/>
          <p:nvPr/>
        </p:nvSpPr>
        <p:spPr>
          <a:xfrm>
            <a:off x="1728754" y="2464827"/>
            <a:ext cx="1984767"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API</a:t>
            </a:r>
            <a:r>
              <a:rPr kumimoji="1" lang="ja-JP" altLang="en-US" sz="1200" b="1" dirty="0">
                <a:latin typeface="メイリオ" panose="020B0604030504040204" pitchFamily="50" charset="-128"/>
                <a:ea typeface="メイリオ" panose="020B0604030504040204" pitchFamily="50" charset="-128"/>
                <a:cs typeface="メイリオ"/>
              </a:rPr>
              <a:t>ツールあり</a:t>
            </a:r>
          </a:p>
        </p:txBody>
      </p:sp>
      <p:sp>
        <p:nvSpPr>
          <p:cNvPr id="18" name="正方形/長方形 17"/>
          <p:cNvSpPr/>
          <p:nvPr/>
        </p:nvSpPr>
        <p:spPr>
          <a:xfrm>
            <a:off x="3939661" y="2445682"/>
            <a:ext cx="3312125" cy="523220"/>
          </a:xfrm>
          <a:prstGeom prst="rect">
            <a:avLst/>
          </a:prstGeom>
        </p:spPr>
        <p:txBody>
          <a:bodyPr wrap="none" anchor="ctr">
            <a:spAutoFit/>
          </a:bodyPr>
          <a:lstStyle/>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API</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ツール管理画面上にて</a:t>
            </a:r>
            <a:endPar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「特定期間に対する</a:t>
            </a:r>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数算出」が可能</a:t>
            </a:r>
          </a:p>
        </p:txBody>
      </p:sp>
      <p:sp>
        <p:nvSpPr>
          <p:cNvPr id="19" name="正方形/長方形 18"/>
          <p:cNvSpPr/>
          <p:nvPr/>
        </p:nvSpPr>
        <p:spPr>
          <a:xfrm>
            <a:off x="3939661" y="1705487"/>
            <a:ext cx="4273927" cy="523220"/>
          </a:xfrm>
          <a:prstGeom prst="rect">
            <a:avLst/>
          </a:prstGeom>
        </p:spPr>
        <p:txBody>
          <a:bodyPr wrap="none" anchor="ctr">
            <a:spAutoFit/>
          </a:bodyPr>
          <a:lstStyle/>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タグの設定に伴い、計測自体は可能だが</a:t>
            </a:r>
            <a:endPar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数</a:t>
            </a:r>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50</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件以上での数値計測となる（管理画面上）</a:t>
            </a:r>
          </a:p>
        </p:txBody>
      </p:sp>
      <p:sp>
        <p:nvSpPr>
          <p:cNvPr id="20" name="正方形/長方形 19"/>
          <p:cNvSpPr/>
          <p:nvPr/>
        </p:nvSpPr>
        <p:spPr>
          <a:xfrm>
            <a:off x="625827" y="2120216"/>
            <a:ext cx="646331" cy="369332"/>
          </a:xfrm>
          <a:prstGeom prst="rect">
            <a:avLst/>
          </a:prstGeom>
        </p:spPr>
        <p:txBody>
          <a:bodyPr wrap="none">
            <a:spAutoFit/>
          </a:bodyPr>
          <a:lstStyle/>
          <a:p>
            <a:pPr algn="ctr"/>
            <a:r>
              <a:rPr lang="ja-JP" altLang="en-US" dirty="0">
                <a:latin typeface="メイリオ" panose="020B0604030504040204" pitchFamily="50" charset="-128"/>
                <a:ea typeface="メイリオ" panose="020B0604030504040204" pitchFamily="50" charset="-128"/>
                <a:cs typeface="メイリオ"/>
              </a:rPr>
              <a:t>通常</a:t>
            </a:r>
          </a:p>
        </p:txBody>
      </p:sp>
      <p:sp>
        <p:nvSpPr>
          <p:cNvPr id="21" name="正方形/長方形 20"/>
          <p:cNvSpPr/>
          <p:nvPr/>
        </p:nvSpPr>
        <p:spPr>
          <a:xfrm>
            <a:off x="258794" y="3337953"/>
            <a:ext cx="9230264" cy="105307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latin typeface="メイリオ"/>
              <a:ea typeface="メイリオ"/>
              <a:cs typeface="メイリオ"/>
            </a:endParaRPr>
          </a:p>
        </p:txBody>
      </p:sp>
      <p:sp>
        <p:nvSpPr>
          <p:cNvPr id="22" name="正方形/長方形 21"/>
          <p:cNvSpPr/>
          <p:nvPr/>
        </p:nvSpPr>
        <p:spPr>
          <a:xfrm>
            <a:off x="1728754" y="3527788"/>
            <a:ext cx="1984767" cy="70485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API</a:t>
            </a:r>
            <a:r>
              <a:rPr lang="ja-JP" altLang="en-US" sz="1200" b="1" dirty="0">
                <a:latin typeface="メイリオ" panose="020B0604030504040204" pitchFamily="50" charset="-128"/>
                <a:ea typeface="メイリオ" panose="020B0604030504040204" pitchFamily="50" charset="-128"/>
                <a:cs typeface="メイリオ"/>
              </a:rPr>
              <a:t>ツール有無</a:t>
            </a:r>
            <a:endParaRPr lang="en-US" altLang="ja-JP" sz="1200" b="1" dirty="0">
              <a:latin typeface="メイリオ" panose="020B0604030504040204" pitchFamily="50" charset="-128"/>
              <a:ea typeface="メイリオ" panose="020B0604030504040204" pitchFamily="50" charset="-128"/>
              <a:cs typeface="メイリオ"/>
            </a:endParaRPr>
          </a:p>
          <a:p>
            <a:pPr algn="ctr"/>
            <a:r>
              <a:rPr kumimoji="1" lang="ja-JP" altLang="en-US" sz="1200" b="1" dirty="0">
                <a:latin typeface="メイリオ" panose="020B0604030504040204" pitchFamily="50" charset="-128"/>
                <a:ea typeface="メイリオ" panose="020B0604030504040204" pitchFamily="50" charset="-128"/>
                <a:cs typeface="メイリオ"/>
              </a:rPr>
              <a:t>に関わらず</a:t>
            </a:r>
          </a:p>
        </p:txBody>
      </p:sp>
      <p:sp>
        <p:nvSpPr>
          <p:cNvPr id="23" name="正方形/長方形 22"/>
          <p:cNvSpPr/>
          <p:nvPr/>
        </p:nvSpPr>
        <p:spPr>
          <a:xfrm>
            <a:off x="3939660" y="3618602"/>
            <a:ext cx="4164923" cy="523220"/>
          </a:xfrm>
          <a:prstGeom prst="rect">
            <a:avLst/>
          </a:prstGeom>
        </p:spPr>
        <p:txBody>
          <a:bodyPr wrap="none" anchor="ctr">
            <a:spAutoFit/>
          </a:bodyPr>
          <a:lstStyle/>
          <a:p>
            <a:r>
              <a:rPr lang="ja-JP" altLang="en-US" sz="1400" dirty="0">
                <a:latin typeface="メイリオ" panose="020B0604030504040204" pitchFamily="50" charset="-128"/>
                <a:ea typeface="メイリオ" panose="020B0604030504040204" pitchFamily="50" charset="-128"/>
                <a:cs typeface="メイリオ"/>
              </a:rPr>
              <a:t>定期投稿、シナリオ、リッチメニュー等に設定の</a:t>
            </a:r>
            <a:endParaRPr lang="en-US" altLang="ja-JP" sz="1400" dirty="0">
              <a:latin typeface="メイリオ" panose="020B0604030504040204" pitchFamily="50" charset="-128"/>
              <a:ea typeface="メイリオ" panose="020B0604030504040204" pitchFamily="50" charset="-128"/>
              <a:cs typeface="メイリオ"/>
            </a:endParaRPr>
          </a:p>
          <a:p>
            <a:r>
              <a:rPr lang="ja-JP" altLang="en-US" sz="1400" dirty="0">
                <a:latin typeface="メイリオ" panose="020B0604030504040204" pitchFamily="50" charset="-128"/>
                <a:ea typeface="メイリオ" panose="020B0604030504040204" pitchFamily="50" charset="-128"/>
                <a:cs typeface="メイリオ"/>
              </a:rPr>
              <a:t>リンクについて、</a:t>
            </a:r>
            <a:r>
              <a:rPr lang="en-US" altLang="ja-JP" sz="1400" dirty="0">
                <a:solidFill>
                  <a:srgbClr val="1F2A5C"/>
                </a:solidFill>
                <a:latin typeface="メイリオ" panose="020B0604030504040204" pitchFamily="50" charset="-128"/>
                <a:ea typeface="メイリオ" panose="020B0604030504040204" pitchFamily="50" charset="-128"/>
                <a:cs typeface="メイリオ"/>
              </a:rPr>
              <a:t>GA</a:t>
            </a:r>
            <a:r>
              <a:rPr lang="ja-JP" altLang="en-US" sz="1400" dirty="0" err="1">
                <a:solidFill>
                  <a:srgbClr val="1F2A5C"/>
                </a:solidFill>
                <a:latin typeface="メイリオ" panose="020B0604030504040204" pitchFamily="50" charset="-128"/>
                <a:ea typeface="メイリオ" panose="020B0604030504040204" pitchFamily="50" charset="-128"/>
                <a:cs typeface="メイリオ"/>
              </a:rPr>
              <a:t>、</a:t>
            </a:r>
            <a:r>
              <a:rPr lang="en-US" altLang="ja-JP" sz="1400" dirty="0">
                <a:solidFill>
                  <a:srgbClr val="1F2A5C"/>
                </a:solidFill>
                <a:latin typeface="メイリオ" panose="020B0604030504040204" pitchFamily="50" charset="-128"/>
                <a:ea typeface="メイリオ" panose="020B0604030504040204" pitchFamily="50" charset="-128"/>
                <a:cs typeface="メイリオ"/>
              </a:rPr>
              <a:t>MA</a:t>
            </a:r>
            <a:r>
              <a:rPr lang="ja-JP" altLang="en-US" sz="1400" dirty="0">
                <a:solidFill>
                  <a:srgbClr val="1F2A5C"/>
                </a:solidFill>
                <a:latin typeface="メイリオ" panose="020B0604030504040204" pitchFamily="50" charset="-128"/>
                <a:ea typeface="メイリオ" panose="020B0604030504040204" pitchFamily="50" charset="-128"/>
                <a:cs typeface="メイリオ"/>
              </a:rPr>
              <a:t>ツールでの計測可能</a:t>
            </a:r>
            <a:r>
              <a:rPr lang="ja-JP" altLang="en-US" sz="1400" dirty="0">
                <a:latin typeface="メイリオ" panose="020B0604030504040204" pitchFamily="50" charset="-128"/>
                <a:ea typeface="メイリオ" panose="020B0604030504040204" pitchFamily="50" charset="-128"/>
                <a:cs typeface="メイリオ"/>
              </a:rPr>
              <a:t>に</a:t>
            </a:r>
          </a:p>
        </p:txBody>
      </p:sp>
      <p:sp>
        <p:nvSpPr>
          <p:cNvPr id="24" name="正方形/長方形 23"/>
          <p:cNvSpPr/>
          <p:nvPr/>
        </p:nvSpPr>
        <p:spPr>
          <a:xfrm>
            <a:off x="571292" y="3649379"/>
            <a:ext cx="693973" cy="369332"/>
          </a:xfrm>
          <a:prstGeom prst="rect">
            <a:avLst/>
          </a:prstGeom>
        </p:spPr>
        <p:txBody>
          <a:bodyPr wrap="none">
            <a:spAutoFit/>
          </a:bodyPr>
          <a:lstStyle/>
          <a:p>
            <a:pPr algn="ctr"/>
            <a:r>
              <a:rPr lang="en-US" altLang="ja-JP" dirty="0">
                <a:latin typeface="メイリオ" panose="020B0604030504040204" pitchFamily="50" charset="-128"/>
                <a:ea typeface="メイリオ" panose="020B0604030504040204" pitchFamily="50" charset="-128"/>
                <a:cs typeface="メイリオ"/>
              </a:rPr>
              <a:t>DYM</a:t>
            </a:r>
            <a:endParaRPr lang="ja-JP" altLang="en-US" dirty="0">
              <a:latin typeface="メイリオ" panose="020B0604030504040204" pitchFamily="50" charset="-128"/>
              <a:ea typeface="メイリオ" panose="020B0604030504040204" pitchFamily="50" charset="-128"/>
              <a:cs typeface="メイリオ"/>
            </a:endParaRPr>
          </a:p>
        </p:txBody>
      </p:sp>
      <p:pic>
        <p:nvPicPr>
          <p:cNvPr id="27" name="図 26"/>
          <p:cNvPicPr>
            <a:picLocks noChangeAspect="1"/>
          </p:cNvPicPr>
          <p:nvPr/>
        </p:nvPicPr>
        <p:blipFill>
          <a:blip r:embed="rId4"/>
          <a:stretch>
            <a:fillRect/>
          </a:stretch>
        </p:blipFill>
        <p:spPr>
          <a:xfrm>
            <a:off x="5173537" y="4510754"/>
            <a:ext cx="4219164" cy="1912981"/>
          </a:xfrm>
          <a:prstGeom prst="rect">
            <a:avLst/>
          </a:prstGeom>
        </p:spPr>
      </p:pic>
      <p:sp>
        <p:nvSpPr>
          <p:cNvPr id="29" name="正方形/長方形 28"/>
          <p:cNvSpPr/>
          <p:nvPr/>
        </p:nvSpPr>
        <p:spPr>
          <a:xfrm>
            <a:off x="372964" y="4445247"/>
            <a:ext cx="4546440" cy="202301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0" name="正方形/長方形 29"/>
          <p:cNvSpPr/>
          <p:nvPr/>
        </p:nvSpPr>
        <p:spPr>
          <a:xfrm>
            <a:off x="5141643" y="4445246"/>
            <a:ext cx="4282952" cy="202301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1" name="正方形/長方形 30"/>
          <p:cNvSpPr/>
          <p:nvPr/>
        </p:nvSpPr>
        <p:spPr>
          <a:xfrm>
            <a:off x="788187" y="6081911"/>
            <a:ext cx="3659825" cy="32262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cs typeface="メイリオ"/>
              </a:rPr>
              <a:t>GA</a:t>
            </a:r>
            <a:r>
              <a:rPr kumimoji="1" lang="ja-JP" altLang="en-US" sz="1400" b="1" dirty="0">
                <a:latin typeface="メイリオ" panose="020B0604030504040204" pitchFamily="50" charset="-128"/>
                <a:ea typeface="メイリオ" panose="020B0604030504040204" pitchFamily="50" charset="-128"/>
                <a:cs typeface="メイリオ"/>
              </a:rPr>
              <a:t>レポート（日次）</a:t>
            </a:r>
            <a:r>
              <a:rPr kumimoji="1" lang="ja-JP" altLang="en-US" sz="1100" b="1" dirty="0">
                <a:latin typeface="メイリオ" panose="020B0604030504040204" pitchFamily="50" charset="-128"/>
                <a:ea typeface="メイリオ" panose="020B0604030504040204" pitchFamily="50" charset="-128"/>
                <a:cs typeface="メイリオ"/>
              </a:rPr>
              <a:t> </a:t>
            </a:r>
            <a:r>
              <a:rPr kumimoji="1" lang="en-US" altLang="ja-JP" sz="1100" b="1" dirty="0">
                <a:latin typeface="メイリオ" panose="020B0604030504040204" pitchFamily="50" charset="-128"/>
                <a:ea typeface="メイリオ" panose="020B0604030504040204" pitchFamily="50" charset="-128"/>
                <a:cs typeface="メイリオ"/>
              </a:rPr>
              <a:t>※</a:t>
            </a:r>
            <a:r>
              <a:rPr kumimoji="1" lang="ja-JP" altLang="en-US" sz="1100" b="1" dirty="0">
                <a:latin typeface="メイリオ" panose="020B0604030504040204" pitchFamily="50" charset="-128"/>
                <a:ea typeface="メイリオ" panose="020B0604030504040204" pitchFamily="50" charset="-128"/>
                <a:cs typeface="メイリオ"/>
              </a:rPr>
              <a:t>サンプル</a:t>
            </a:r>
            <a:endParaRPr kumimoji="1" lang="ja-JP" altLang="en-US" sz="1400" b="1" dirty="0">
              <a:latin typeface="メイリオ" panose="020B0604030504040204" pitchFamily="50" charset="-128"/>
              <a:ea typeface="メイリオ" panose="020B0604030504040204" pitchFamily="50" charset="-128"/>
              <a:cs typeface="メイリオ"/>
            </a:endParaRPr>
          </a:p>
        </p:txBody>
      </p:sp>
      <p:sp>
        <p:nvSpPr>
          <p:cNvPr id="32" name="正方形/長方形 31"/>
          <p:cNvSpPr/>
          <p:nvPr/>
        </p:nvSpPr>
        <p:spPr>
          <a:xfrm>
            <a:off x="5453208" y="6081911"/>
            <a:ext cx="3659825" cy="32262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cs typeface="メイリオ"/>
              </a:rPr>
              <a:t>GA</a:t>
            </a:r>
            <a:r>
              <a:rPr kumimoji="1" lang="ja-JP" altLang="en-US" sz="1400" b="1" dirty="0">
                <a:latin typeface="メイリオ" panose="020B0604030504040204" pitchFamily="50" charset="-128"/>
                <a:ea typeface="メイリオ" panose="020B0604030504040204" pitchFamily="50" charset="-128"/>
                <a:cs typeface="メイリオ"/>
              </a:rPr>
              <a:t>レポート（月次）</a:t>
            </a:r>
            <a:r>
              <a:rPr kumimoji="1" lang="ja-JP" altLang="en-US" sz="1100" b="1" dirty="0">
                <a:latin typeface="メイリオ" panose="020B0604030504040204" pitchFamily="50" charset="-128"/>
                <a:ea typeface="メイリオ" panose="020B0604030504040204" pitchFamily="50" charset="-128"/>
                <a:cs typeface="メイリオ"/>
              </a:rPr>
              <a:t> </a:t>
            </a:r>
            <a:r>
              <a:rPr kumimoji="1" lang="en-US" altLang="ja-JP" sz="1100" b="1" dirty="0">
                <a:latin typeface="メイリオ" panose="020B0604030504040204" pitchFamily="50" charset="-128"/>
                <a:ea typeface="メイリオ" panose="020B0604030504040204" pitchFamily="50" charset="-128"/>
                <a:cs typeface="メイリオ"/>
              </a:rPr>
              <a:t>※</a:t>
            </a:r>
            <a:r>
              <a:rPr lang="ja-JP" altLang="en-US" sz="1100" b="1" dirty="0">
                <a:latin typeface="メイリオ" panose="020B0604030504040204" pitchFamily="50" charset="-128"/>
                <a:ea typeface="メイリオ" panose="020B0604030504040204" pitchFamily="50" charset="-128"/>
                <a:cs typeface="メイリオ"/>
              </a:rPr>
              <a:t>サンプル</a:t>
            </a:r>
            <a:endParaRPr kumimoji="1" lang="ja-JP" altLang="en-US" sz="1400" b="1" dirty="0">
              <a:latin typeface="メイリオ" panose="020B0604030504040204" pitchFamily="50" charset="-128"/>
              <a:ea typeface="メイリオ" panose="020B0604030504040204" pitchFamily="50" charset="-128"/>
              <a:cs typeface="メイリオ"/>
            </a:endParaRPr>
          </a:p>
        </p:txBody>
      </p:sp>
      <p:sp>
        <p:nvSpPr>
          <p:cNvPr id="33" name="正方形/長方形 32"/>
          <p:cNvSpPr/>
          <p:nvPr/>
        </p:nvSpPr>
        <p:spPr>
          <a:xfrm>
            <a:off x="258794" y="776172"/>
            <a:ext cx="9230264" cy="523220"/>
          </a:xfrm>
          <a:prstGeom prst="rect">
            <a:avLst/>
          </a:prstGeom>
        </p:spPr>
        <p:txBody>
          <a:bodyPr wrap="square" anchor="ctr">
            <a:spAutoFit/>
          </a:bodyPr>
          <a:lstStyle/>
          <a:p>
            <a:pPr algn="ctr"/>
            <a:r>
              <a:rPr lang="ja-JP" altLang="en-US" sz="1400" dirty="0">
                <a:latin typeface="メイリオ" panose="020B0604030504040204" pitchFamily="50" charset="-128"/>
                <a:ea typeface="メイリオ" panose="020B0604030504040204" pitchFamily="50" charset="-128"/>
                <a:cs typeface="メイリオ"/>
              </a:rPr>
              <a:t>コンサル費用＋アカウント費用に対する効果を可視化し、課題点を都度確認できる体制に。</a:t>
            </a:r>
            <a:endParaRPr lang="en-US" altLang="ja-JP" sz="1400" dirty="0">
              <a:latin typeface="メイリオ" panose="020B0604030504040204" pitchFamily="50" charset="-128"/>
              <a:ea typeface="メイリオ" panose="020B0604030504040204" pitchFamily="50" charset="-128"/>
              <a:cs typeface="メイリオ"/>
            </a:endParaRPr>
          </a:p>
          <a:p>
            <a:pPr algn="ctr"/>
            <a:r>
              <a:rPr lang="ja-JP" altLang="en-US" sz="1400" dirty="0">
                <a:latin typeface="メイリオ" panose="020B0604030504040204" pitchFamily="50" charset="-128"/>
                <a:ea typeface="メイリオ" panose="020B0604030504040204" pitchFamily="50" charset="-128"/>
                <a:cs typeface="メイリオ"/>
              </a:rPr>
              <a:t>投稿別</a:t>
            </a:r>
            <a:r>
              <a:rPr lang="en-US" altLang="ja-JP" sz="1400" dirty="0">
                <a:latin typeface="メイリオ" panose="020B0604030504040204" pitchFamily="50" charset="-128"/>
                <a:ea typeface="メイリオ" panose="020B0604030504040204" pitchFamily="50" charset="-128"/>
                <a:cs typeface="メイリオ"/>
              </a:rPr>
              <a:t>×</a:t>
            </a:r>
            <a:r>
              <a:rPr lang="ja-JP" altLang="en-US" sz="1400" dirty="0">
                <a:latin typeface="メイリオ" panose="020B0604030504040204" pitchFamily="50" charset="-128"/>
                <a:ea typeface="メイリオ" panose="020B0604030504040204" pitchFamily="50" charset="-128"/>
                <a:cs typeface="メイリオ"/>
              </a:rPr>
              <a:t>セグメント別でデータ化でき、</a:t>
            </a:r>
            <a:r>
              <a:rPr lang="en-US" altLang="ja-JP" sz="1400" dirty="0">
                <a:latin typeface="メイリオ" panose="020B0604030504040204" pitchFamily="50" charset="-128"/>
                <a:ea typeface="メイリオ" panose="020B0604030504040204" pitchFamily="50" charset="-128"/>
                <a:cs typeface="メイリオ"/>
              </a:rPr>
              <a:t>AB</a:t>
            </a:r>
            <a:r>
              <a:rPr lang="ja-JP" altLang="en-US" sz="1400" dirty="0">
                <a:latin typeface="メイリオ" panose="020B0604030504040204" pitchFamily="50" charset="-128"/>
                <a:ea typeface="メイリオ" panose="020B0604030504040204" pitchFamily="50" charset="-128"/>
                <a:cs typeface="メイリオ"/>
              </a:rPr>
              <a:t>テストとクリエイティブ検証を細かく実施。</a:t>
            </a:r>
          </a:p>
        </p:txBody>
      </p:sp>
      <p:sp>
        <p:nvSpPr>
          <p:cNvPr id="4" name="Google Shape;156;p7">
            <a:extLst>
              <a:ext uri="{FF2B5EF4-FFF2-40B4-BE49-F238E27FC236}">
                <a16:creationId xmlns:a16="http://schemas.microsoft.com/office/drawing/2014/main" id="{260430EB-E69F-64B3-39EC-6A753FA8A5B0}"/>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サポート体制（報告</a:t>
            </a:r>
            <a:r>
              <a:rPr lang="en-US" altLang="ja-JP" sz="1600" b="1" dirty="0">
                <a:solidFill>
                  <a:srgbClr val="002060"/>
                </a:solidFill>
                <a:latin typeface="メイリオ"/>
                <a:ea typeface="メイリオ"/>
                <a:cs typeface="メイリオ"/>
                <a:sym typeface="Meiryo"/>
              </a:rPr>
              <a:t>FMT</a:t>
            </a:r>
            <a:r>
              <a:rPr lang="ja-JP" altLang="en-US" sz="1600" b="1" dirty="0">
                <a:solidFill>
                  <a:srgbClr val="002060"/>
                </a:solidFill>
                <a:latin typeface="メイリオ"/>
                <a:ea typeface="メイリオ"/>
                <a:cs typeface="メイリオ"/>
                <a:sym typeface="Meiryo"/>
              </a:rPr>
              <a:t>）</a:t>
            </a:r>
            <a:endParaRPr sz="1600" b="1" dirty="0">
              <a:solidFill>
                <a:srgbClr val="002060"/>
              </a:solidFill>
              <a:latin typeface="メイリオ"/>
              <a:ea typeface="メイリオ"/>
              <a:cs typeface="メイリオ"/>
              <a:sym typeface="Meiryo"/>
            </a:endParaRPr>
          </a:p>
        </p:txBody>
      </p:sp>
    </p:spTree>
    <p:extLst>
      <p:ext uri="{BB962C8B-B14F-4D97-AF65-F5344CB8AC3E}">
        <p14:creationId xmlns:p14="http://schemas.microsoft.com/office/powerpoint/2010/main" val="378692469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2F862-6825-0A25-E527-0C644CE20321}"/>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1B95EDD6-658F-4CEF-BC87-63AE1294A97D}"/>
              </a:ext>
            </a:extLst>
          </p:cNvPr>
          <p:cNvSpPr/>
          <p:nvPr/>
        </p:nvSpPr>
        <p:spPr>
          <a:xfrm>
            <a:off x="253638" y="835690"/>
            <a:ext cx="2541320"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latin typeface="メイリオ" panose="020B0604030504040204" pitchFamily="50" charset="-128"/>
                <a:ea typeface="メイリオ" panose="020B0604030504040204" pitchFamily="50" charset="-128"/>
                <a:cs typeface="メイリオ"/>
              </a:rPr>
              <a:t>弊社体制図</a:t>
            </a:r>
            <a:endParaRPr kumimoji="1" lang="ja-JP" altLang="en-US" sz="1600" b="1" dirty="0">
              <a:latin typeface="メイリオ" panose="020B0604030504040204" pitchFamily="50" charset="-128"/>
              <a:ea typeface="メイリオ" panose="020B0604030504040204" pitchFamily="50" charset="-128"/>
              <a:cs typeface="メイリオ"/>
            </a:endParaRPr>
          </a:p>
        </p:txBody>
      </p:sp>
      <p:sp>
        <p:nvSpPr>
          <p:cNvPr id="6" name="Google Shape;156;p7">
            <a:extLst>
              <a:ext uri="{FF2B5EF4-FFF2-40B4-BE49-F238E27FC236}">
                <a16:creationId xmlns:a16="http://schemas.microsoft.com/office/drawing/2014/main" id="{3BA0E9AE-61D3-01E9-521B-2E5746D00D89}"/>
              </a:ext>
            </a:extLst>
          </p:cNvPr>
          <p:cNvSpPr txBox="1"/>
          <p:nvPr/>
        </p:nvSpPr>
        <p:spPr>
          <a:xfrm>
            <a:off x="2857804" y="786210"/>
            <a:ext cx="7217767" cy="584735"/>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chemeClr val="tx1">
                    <a:lumMod val="65000"/>
                    <a:lumOff val="35000"/>
                  </a:schemeClr>
                </a:solidFill>
                <a:latin typeface="メイリオ"/>
                <a:ea typeface="メイリオ"/>
                <a:cs typeface="メイリオ"/>
                <a:sym typeface="Meiryo"/>
              </a:rPr>
              <a:t>GA</a:t>
            </a:r>
            <a:r>
              <a:rPr lang="ja-JP" altLang="en-US" sz="1600" b="1" dirty="0">
                <a:solidFill>
                  <a:schemeClr val="tx1">
                    <a:lumMod val="65000"/>
                    <a:lumOff val="35000"/>
                  </a:schemeClr>
                </a:solidFill>
                <a:latin typeface="メイリオ"/>
                <a:ea typeface="メイリオ"/>
                <a:cs typeface="メイリオ"/>
                <a:sym typeface="Meiryo"/>
              </a:rPr>
              <a:t>及び</a:t>
            </a:r>
            <a:r>
              <a:rPr lang="en-US" altLang="ja-JP" sz="1600" b="1" dirty="0">
                <a:solidFill>
                  <a:schemeClr val="tx1">
                    <a:lumMod val="65000"/>
                    <a:lumOff val="35000"/>
                  </a:schemeClr>
                </a:solidFill>
                <a:latin typeface="メイリオ"/>
                <a:ea typeface="メイリオ"/>
                <a:cs typeface="メイリオ"/>
                <a:sym typeface="Meiryo"/>
              </a:rPr>
              <a:t>MA</a:t>
            </a:r>
            <a:r>
              <a:rPr lang="ja-JP" altLang="en-US" sz="1600" b="1" dirty="0">
                <a:solidFill>
                  <a:schemeClr val="tx1">
                    <a:lumMod val="65000"/>
                    <a:lumOff val="35000"/>
                  </a:schemeClr>
                </a:solidFill>
                <a:latin typeface="メイリオ"/>
                <a:ea typeface="メイリオ"/>
                <a:cs typeface="メイリオ"/>
                <a:sym typeface="Meiryo"/>
              </a:rPr>
              <a:t>ツール両面での計測ができるようパラメータ管理。</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公式アカウントの管理画面には出ない、サイト上の結果を紐づけ。</a:t>
            </a:r>
            <a:endParaRPr sz="1600" b="1" dirty="0">
              <a:solidFill>
                <a:schemeClr val="tx1">
                  <a:lumMod val="65000"/>
                  <a:lumOff val="35000"/>
                </a:schemeClr>
              </a:solidFill>
              <a:latin typeface="メイリオ"/>
              <a:ea typeface="メイリオ"/>
              <a:cs typeface="メイリオ"/>
              <a:sym typeface="Meiryo"/>
            </a:endParaRPr>
          </a:p>
        </p:txBody>
      </p:sp>
      <p:sp>
        <p:nvSpPr>
          <p:cNvPr id="12" name="Google Shape;156;p7">
            <a:extLst>
              <a:ext uri="{FF2B5EF4-FFF2-40B4-BE49-F238E27FC236}">
                <a16:creationId xmlns:a16="http://schemas.microsoft.com/office/drawing/2014/main" id="{C5C4EFC6-EAB9-6A05-AE92-8FF390EDDDE3}"/>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体制図（イメージ）</a:t>
            </a:r>
            <a:endParaRPr sz="1600" b="1" dirty="0">
              <a:solidFill>
                <a:srgbClr val="002060"/>
              </a:solidFill>
              <a:latin typeface="メイリオ"/>
              <a:ea typeface="メイリオ"/>
              <a:cs typeface="メイリオ"/>
              <a:sym typeface="Meiryo"/>
            </a:endParaRPr>
          </a:p>
        </p:txBody>
      </p:sp>
      <p:sp>
        <p:nvSpPr>
          <p:cNvPr id="8" name="Shape 6"/>
          <p:cNvSpPr/>
          <p:nvPr/>
        </p:nvSpPr>
        <p:spPr>
          <a:xfrm>
            <a:off x="621091" y="3084378"/>
            <a:ext cx="4674326" cy="738321"/>
          </a:xfrm>
          <a:prstGeom prst="rect">
            <a:avLst/>
          </a:prstGeom>
          <a:solidFill>
            <a:srgbClr val="FFFFFF"/>
          </a:solidFill>
          <a:ln w="12700">
            <a:solidFill>
              <a:srgbClr val="C0CEDE"/>
            </a:solidFill>
            <a:prstDash val="solid"/>
          </a:ln>
        </p:spPr>
        <p:txBody>
          <a:bodyPr anchor="ctr"/>
          <a:lstStyle/>
          <a:p>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本プロモーションの戦略立案</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方針決定</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3" name="Shape 15"/>
          <p:cNvSpPr/>
          <p:nvPr/>
        </p:nvSpPr>
        <p:spPr>
          <a:xfrm>
            <a:off x="660472" y="4383083"/>
            <a:ext cx="2148840" cy="578878"/>
          </a:xfrm>
          <a:prstGeom prst="rect">
            <a:avLst/>
          </a:prstGeom>
          <a:solidFill>
            <a:srgbClr val="FFFFFF"/>
          </a:solidFill>
          <a:ln w="12700">
            <a:solidFill>
              <a:srgbClr val="C0CEDE"/>
            </a:solidFill>
            <a:prstDash val="solid"/>
          </a:ln>
        </p:spPr>
        <p:txBody>
          <a:bodyPr anchor="ctr"/>
          <a:lstStyle/>
          <a:p>
            <a:endParaRPr lang="en-US" altLang="ja-JP" sz="3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アカウント設計</a:t>
            </a:r>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運用調整</a:t>
            </a:r>
            <a:endParaRPr lang="en-US" altLang="ja-JP" sz="1100" dirty="0">
              <a:latin typeface="メイリオ" panose="020B0604030504040204" pitchFamily="50" charset="-128"/>
              <a:ea typeface="メイリオ" panose="020B0604030504040204" pitchFamily="50" charset="-128"/>
              <a:cs typeface="メイリオ"/>
            </a:endParaRPr>
          </a:p>
        </p:txBody>
      </p:sp>
      <p:sp>
        <p:nvSpPr>
          <p:cNvPr id="18" name="Shape 16"/>
          <p:cNvSpPr/>
          <p:nvPr/>
        </p:nvSpPr>
        <p:spPr>
          <a:xfrm>
            <a:off x="645163" y="4065900"/>
            <a:ext cx="2148840" cy="347472"/>
          </a:xfrm>
          <a:prstGeom prst="rect">
            <a:avLst/>
          </a:prstGeom>
          <a:solidFill>
            <a:srgbClr val="1F3864"/>
          </a:solidFill>
          <a:ln w="12700">
            <a:solidFill>
              <a:srgbClr val="1F3864"/>
            </a:solidFill>
            <a:prstDash val="solid"/>
          </a:ln>
        </p:spPr>
        <p:txBody>
          <a:bodyPr anchor="ctr"/>
          <a:lstStyle/>
          <a:p>
            <a:pPr algn="ct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リス・</a:t>
            </a: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SNS運用</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28" name="Shape 26"/>
          <p:cNvSpPr/>
          <p:nvPr/>
        </p:nvSpPr>
        <p:spPr>
          <a:xfrm>
            <a:off x="633127" y="5566878"/>
            <a:ext cx="2140131" cy="626818"/>
          </a:xfrm>
          <a:prstGeom prst="rect">
            <a:avLst/>
          </a:prstGeom>
          <a:solidFill>
            <a:srgbClr val="FFFFFF"/>
          </a:solidFill>
          <a:ln w="12700">
            <a:solidFill>
              <a:srgbClr val="C0CEDE"/>
            </a:solidFill>
            <a:prstDash val="solid"/>
          </a:ln>
        </p:spPr>
        <p:txBody>
          <a:bodyPr anchor="ctr"/>
          <a:lstStyle/>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運用調整</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入稿作業</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29" name="Shape 27"/>
          <p:cNvSpPr/>
          <p:nvPr/>
        </p:nvSpPr>
        <p:spPr>
          <a:xfrm>
            <a:off x="633127" y="5231331"/>
            <a:ext cx="2140131" cy="347472"/>
          </a:xfrm>
          <a:prstGeom prst="rect">
            <a:avLst/>
          </a:prstGeom>
          <a:solidFill>
            <a:srgbClr val="1F3864"/>
          </a:solidFill>
          <a:ln w="12700">
            <a:solidFill>
              <a:srgbClr val="1F3864"/>
            </a:solidFill>
            <a:prstDash val="solid"/>
          </a:ln>
        </p:spPr>
        <p:txBody>
          <a:bodyPr anchor="ctr"/>
          <a:lstStyle/>
          <a:p>
            <a:pPr algn="ctr"/>
            <a:r>
              <a:rPr lang="en-US" altLang="ja-JP" sz="1200" b="1">
                <a:solidFill>
                  <a:srgbClr val="FFFFFF"/>
                </a:solidFill>
                <a:latin typeface="メイリオ" panose="020B0604030504040204" pitchFamily="50" charset="-128"/>
                <a:ea typeface="メイリオ" panose="020B0604030504040204" pitchFamily="50" charset="-128"/>
                <a:cs typeface="メイリオ" pitchFamily="34" charset="-120"/>
              </a:rPr>
              <a:t>運用サポート</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30" name="Text 28"/>
          <p:cNvSpPr/>
          <p:nvPr/>
        </p:nvSpPr>
        <p:spPr>
          <a:xfrm>
            <a:off x="633128" y="5231331"/>
            <a:ext cx="2140131" cy="347472"/>
          </a:xfrm>
          <a:prstGeom prst="rect">
            <a:avLst/>
          </a:prstGeom>
          <a:noFill/>
          <a:ln/>
        </p:spPr>
        <p:txBody>
          <a:bodyPr wrap="square" lIns="0" tIns="0" rIns="0" bIns="0" rtlCol="0" anchor="ctr"/>
          <a:lstStyle/>
          <a:p>
            <a:pPr marL="0" indent="0" algn="ctr">
              <a:buNone/>
            </a:pPr>
            <a:endParaRPr lang="en-US" sz="1050" dirty="0">
              <a:latin typeface="メイリオ" panose="020B0604030504040204" pitchFamily="50" charset="-128"/>
              <a:ea typeface="メイリオ" panose="020B0604030504040204" pitchFamily="50" charset="-128"/>
              <a:cs typeface="メイリオ"/>
            </a:endParaRPr>
          </a:p>
        </p:txBody>
      </p:sp>
      <p:sp>
        <p:nvSpPr>
          <p:cNvPr id="33" name="Shape 31"/>
          <p:cNvSpPr/>
          <p:nvPr/>
        </p:nvSpPr>
        <p:spPr>
          <a:xfrm>
            <a:off x="2921304" y="5532054"/>
            <a:ext cx="2386149" cy="641636"/>
          </a:xfrm>
          <a:prstGeom prst="rect">
            <a:avLst/>
          </a:prstGeom>
          <a:solidFill>
            <a:srgbClr val="FFFFFF"/>
          </a:solidFill>
          <a:ln w="12700">
            <a:solidFill>
              <a:srgbClr val="C0CEDE"/>
            </a:solidFill>
            <a:prstDash val="solid"/>
          </a:ln>
        </p:spPr>
        <p:txBody>
          <a:bodyPr anchor="ctr"/>
          <a:lstStyle/>
          <a:p>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バナー制作</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LP制作</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動画制作</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p:txBody>
      </p:sp>
      <p:sp>
        <p:nvSpPr>
          <p:cNvPr id="34" name="Shape 32"/>
          <p:cNvSpPr/>
          <p:nvPr/>
        </p:nvSpPr>
        <p:spPr>
          <a:xfrm>
            <a:off x="2921304" y="5221392"/>
            <a:ext cx="2386149" cy="347472"/>
          </a:xfrm>
          <a:prstGeom prst="rect">
            <a:avLst/>
          </a:prstGeom>
          <a:solidFill>
            <a:schemeClr val="bg1">
              <a:lumMod val="65000"/>
            </a:schemeClr>
          </a:solidFill>
          <a:ln w="12700">
            <a:solidFill>
              <a:srgbClr val="1F3864"/>
            </a:solidFill>
            <a:prstDash val="solid"/>
          </a:ln>
        </p:spPr>
        <p:txBody>
          <a:bodyPr anchor="ctr"/>
          <a:lstStyle/>
          <a:p>
            <a:pPr algn="ctr"/>
            <a:r>
              <a:rPr lang="en-US" altLang="ja-JP" sz="1200" b="1">
                <a:solidFill>
                  <a:srgbClr val="FFFFFF"/>
                </a:solidFill>
                <a:latin typeface="メイリオ" panose="020B0604030504040204" pitchFamily="50" charset="-128"/>
                <a:ea typeface="メイリオ" panose="020B0604030504040204" pitchFamily="50" charset="-128"/>
                <a:cs typeface="メイリオ" pitchFamily="34" charset="-120"/>
              </a:rPr>
              <a:t>制作</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40" name="Shape 38"/>
          <p:cNvSpPr/>
          <p:nvPr/>
        </p:nvSpPr>
        <p:spPr>
          <a:xfrm>
            <a:off x="5740699" y="4097070"/>
            <a:ext cx="3293358" cy="347472"/>
          </a:xfrm>
          <a:prstGeom prst="rect">
            <a:avLst/>
          </a:prstGeom>
          <a:solidFill>
            <a:srgbClr val="8496B8"/>
          </a:solidFill>
          <a:ln w="12700">
            <a:solidFill>
              <a:srgbClr val="8496B8"/>
            </a:solidFill>
            <a:prstDash val="solid"/>
          </a:ln>
        </p:spPr>
        <p:txBody>
          <a:bodyPr anchor="ctr"/>
          <a:lstStyle/>
          <a:p>
            <a:pPr algn="ctr"/>
            <a:r>
              <a:rPr lang="ja-JP" altLang="en-US" sz="1200" dirty="0">
                <a:solidFill>
                  <a:schemeClr val="bg1"/>
                </a:solidFill>
                <a:latin typeface="メイリオ" panose="020B0604030504040204" pitchFamily="50" charset="-128"/>
                <a:ea typeface="メイリオ" panose="020B0604030504040204" pitchFamily="50" charset="-128"/>
                <a:cs typeface="メイリオ"/>
              </a:rPr>
              <a:t>媒体担当</a:t>
            </a:r>
          </a:p>
        </p:txBody>
      </p:sp>
      <p:sp>
        <p:nvSpPr>
          <p:cNvPr id="75" name="Shape 20">
            <a:extLst>
              <a:ext uri="{FF2B5EF4-FFF2-40B4-BE49-F238E27FC236}">
                <a16:creationId xmlns:a16="http://schemas.microsoft.com/office/drawing/2014/main" id="{9B35F62E-D565-EC7D-5BED-9E3AD8414C54}"/>
              </a:ext>
            </a:extLst>
          </p:cNvPr>
          <p:cNvSpPr/>
          <p:nvPr/>
        </p:nvSpPr>
        <p:spPr>
          <a:xfrm>
            <a:off x="2930013" y="4391542"/>
            <a:ext cx="2377440" cy="578878"/>
          </a:xfrm>
          <a:prstGeom prst="rect">
            <a:avLst/>
          </a:prstGeom>
          <a:solidFill>
            <a:srgbClr val="FFFFFF"/>
          </a:solidFill>
          <a:ln w="12700">
            <a:solidFill>
              <a:srgbClr val="C0CEDE"/>
            </a:solidFill>
            <a:prstDash val="solid"/>
          </a:ln>
        </p:spPr>
        <p:txBody>
          <a:bodyPr anchor="ctr"/>
          <a:lstStyle/>
          <a:p>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アカウント設計</a:t>
            </a:r>
            <a:r>
              <a:rPr lang="ja-JP" altLang="en-US"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運用調整</a:t>
            </a:r>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クリエイティブディレクション</a:t>
            </a:r>
            <a:endParaRPr lang="en-US" altLang="ja-JP" sz="1100" dirty="0">
              <a:latin typeface="メイリオ" panose="020B0604030504040204" pitchFamily="50" charset="-128"/>
              <a:ea typeface="メイリオ" panose="020B0604030504040204" pitchFamily="50" charset="-128"/>
              <a:cs typeface="メイリオ"/>
            </a:endParaRPr>
          </a:p>
          <a:p>
            <a:endParaRPr lang="en-US" altLang="ja-JP" sz="1100" dirty="0">
              <a:latin typeface="メイリオ" panose="020B0604030504040204" pitchFamily="50" charset="-128"/>
              <a:ea typeface="メイリオ" panose="020B0604030504040204" pitchFamily="50" charset="-128"/>
              <a:cs typeface="メイリオ"/>
            </a:endParaRPr>
          </a:p>
          <a:p>
            <a:endParaRPr lang="en-US" altLang="ja-JP" sz="1100" dirty="0">
              <a:latin typeface="メイリオ" panose="020B0604030504040204" pitchFamily="50" charset="-128"/>
              <a:ea typeface="メイリオ" panose="020B0604030504040204" pitchFamily="50" charset="-128"/>
              <a:cs typeface="メイリオ"/>
            </a:endParaRPr>
          </a:p>
        </p:txBody>
      </p:sp>
      <p:sp>
        <p:nvSpPr>
          <p:cNvPr id="76" name="Shape 21">
            <a:extLst>
              <a:ext uri="{FF2B5EF4-FFF2-40B4-BE49-F238E27FC236}">
                <a16:creationId xmlns:a16="http://schemas.microsoft.com/office/drawing/2014/main" id="{0A9AF3DD-64DC-1BF0-8119-2924ECA0B69F}"/>
              </a:ext>
            </a:extLst>
          </p:cNvPr>
          <p:cNvSpPr/>
          <p:nvPr/>
        </p:nvSpPr>
        <p:spPr>
          <a:xfrm>
            <a:off x="2930013" y="4059656"/>
            <a:ext cx="2377440" cy="347472"/>
          </a:xfrm>
          <a:prstGeom prst="rect">
            <a:avLst/>
          </a:prstGeom>
          <a:solidFill>
            <a:srgbClr val="1F2A5C"/>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LINEOA運用</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5" name="Shape 6">
            <a:extLst>
              <a:ext uri="{FF2B5EF4-FFF2-40B4-BE49-F238E27FC236}">
                <a16:creationId xmlns:a16="http://schemas.microsoft.com/office/drawing/2014/main" id="{85CDFD14-B545-2394-79CD-B4BB79EC6A1B}"/>
              </a:ext>
            </a:extLst>
          </p:cNvPr>
          <p:cNvSpPr/>
          <p:nvPr/>
        </p:nvSpPr>
        <p:spPr>
          <a:xfrm>
            <a:off x="5425961" y="3084378"/>
            <a:ext cx="3557928" cy="738321"/>
          </a:xfrm>
          <a:prstGeom prst="rect">
            <a:avLst/>
          </a:prstGeom>
          <a:solidFill>
            <a:srgbClr val="FFFFFF"/>
          </a:solidFill>
          <a:ln w="12700">
            <a:solidFill>
              <a:srgbClr val="C0CEDE"/>
            </a:solidFill>
            <a:prstDash val="solid"/>
          </a:ln>
        </p:spPr>
        <p:txBody>
          <a:bodyPr/>
          <a:lstStyle/>
          <a:p>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貴社担当との連絡やり取り全般</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・書</a:t>
            </a:r>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類</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の作成等、事務面までサポート</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7" name="Shape 7">
            <a:extLst>
              <a:ext uri="{FF2B5EF4-FFF2-40B4-BE49-F238E27FC236}">
                <a16:creationId xmlns:a16="http://schemas.microsoft.com/office/drawing/2014/main" id="{DE68CBB6-5454-1932-8D24-8CA86C03FDAF}"/>
              </a:ext>
            </a:extLst>
          </p:cNvPr>
          <p:cNvSpPr/>
          <p:nvPr/>
        </p:nvSpPr>
        <p:spPr>
          <a:xfrm>
            <a:off x="5425961" y="2849521"/>
            <a:ext cx="3557928" cy="347472"/>
          </a:xfrm>
          <a:prstGeom prst="rect">
            <a:avLst/>
          </a:prstGeom>
          <a:solidFill>
            <a:schemeClr val="accent1">
              <a:lumMod val="75000"/>
            </a:schemeClr>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営業</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 / </a:t>
            </a: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フロント対応（サブ</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20" name="Shape 7"/>
          <p:cNvSpPr/>
          <p:nvPr/>
        </p:nvSpPr>
        <p:spPr>
          <a:xfrm>
            <a:off x="612383" y="2849521"/>
            <a:ext cx="4683034" cy="347472"/>
          </a:xfrm>
          <a:prstGeom prst="rect">
            <a:avLst/>
          </a:prstGeom>
          <a:solidFill>
            <a:schemeClr val="accent1">
              <a:lumMod val="75000"/>
            </a:schemeClr>
          </a:solidFill>
          <a:ln w="12700">
            <a:solidFill>
              <a:srgbClr val="1F3864"/>
            </a:solidFill>
            <a:prstDash val="solid"/>
          </a:ln>
        </p:spPr>
        <p:txBody>
          <a:bodyPr anchor="ctr"/>
          <a:lstStyle/>
          <a:p>
            <a:pPr algn="ct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広告運用統括・コンサル</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31" name="Shape 6">
            <a:extLst>
              <a:ext uri="{FF2B5EF4-FFF2-40B4-BE49-F238E27FC236}">
                <a16:creationId xmlns:a16="http://schemas.microsoft.com/office/drawing/2014/main" id="{40835ECB-DBED-5389-F67F-16368EB09190}"/>
              </a:ext>
            </a:extLst>
          </p:cNvPr>
          <p:cNvSpPr/>
          <p:nvPr/>
        </p:nvSpPr>
        <p:spPr>
          <a:xfrm>
            <a:off x="548883" y="1995744"/>
            <a:ext cx="8545959" cy="615505"/>
          </a:xfrm>
          <a:prstGeom prst="rect">
            <a:avLst/>
          </a:prstGeom>
          <a:solidFill>
            <a:srgbClr val="FFFFFF"/>
          </a:solidFill>
          <a:ln w="12700">
            <a:solidFill>
              <a:srgbClr val="C0CEDE"/>
            </a:solidFill>
            <a:prstDash val="solid"/>
          </a:ln>
        </p:spPr>
        <p:txBody>
          <a:bodyPr/>
          <a:lstStyle/>
          <a:p>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本プロモーションの戦略立案</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方針決定</a:t>
            </a:r>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　　　　・貴社ご担当者様との連絡やり取り全般</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32" name="Shape 7">
            <a:extLst>
              <a:ext uri="{FF2B5EF4-FFF2-40B4-BE49-F238E27FC236}">
                <a16:creationId xmlns:a16="http://schemas.microsoft.com/office/drawing/2014/main" id="{67B490AF-C245-DAC8-B203-E07692B565EF}"/>
              </a:ext>
            </a:extLst>
          </p:cNvPr>
          <p:cNvSpPr/>
          <p:nvPr/>
        </p:nvSpPr>
        <p:spPr>
          <a:xfrm>
            <a:off x="548883" y="1729963"/>
            <a:ext cx="4073917" cy="347472"/>
          </a:xfrm>
          <a:prstGeom prst="rect">
            <a:avLst/>
          </a:prstGeom>
          <a:solidFill>
            <a:schemeClr val="accent1">
              <a:lumMod val="75000"/>
            </a:schemeClr>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営業</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 / </a:t>
            </a: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フロント対応</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a:t>
            </a: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全体統括</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a:t>
            </a: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　</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35" name="Shape 38">
            <a:extLst>
              <a:ext uri="{FF2B5EF4-FFF2-40B4-BE49-F238E27FC236}">
                <a16:creationId xmlns:a16="http://schemas.microsoft.com/office/drawing/2014/main" id="{0C1173B9-EECF-693B-9E7D-0C69C5B122BF}"/>
              </a:ext>
            </a:extLst>
          </p:cNvPr>
          <p:cNvSpPr/>
          <p:nvPr/>
        </p:nvSpPr>
        <p:spPr>
          <a:xfrm>
            <a:off x="5740699" y="4509077"/>
            <a:ext cx="3293358" cy="1146893"/>
          </a:xfrm>
          <a:prstGeom prst="rect">
            <a:avLst/>
          </a:prstGeom>
          <a:solidFill>
            <a:schemeClr val="accent1">
              <a:lumMod val="20000"/>
              <a:lumOff val="80000"/>
            </a:schemeClr>
          </a:solidFill>
          <a:ln w="12700">
            <a:solidFill>
              <a:srgbClr val="8496B8"/>
            </a:solidFill>
            <a:prstDash val="solid"/>
          </a:ln>
        </p:spPr>
        <p:txBody>
          <a:bodyPr anchor="ctr"/>
          <a:lstStyle/>
          <a:p>
            <a:pPr algn="ctr"/>
            <a:endParaRPr lang="ja-JP" altLang="en-US" sz="12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36" name="矢印: 下 35">
            <a:extLst>
              <a:ext uri="{FF2B5EF4-FFF2-40B4-BE49-F238E27FC236}">
                <a16:creationId xmlns:a16="http://schemas.microsoft.com/office/drawing/2014/main" id="{7CCB5C34-442B-3398-0780-2D0336E6D4ED}"/>
              </a:ext>
            </a:extLst>
          </p:cNvPr>
          <p:cNvSpPr/>
          <p:nvPr/>
        </p:nvSpPr>
        <p:spPr>
          <a:xfrm>
            <a:off x="1528292" y="3735148"/>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7" name="矢印: 下 36">
            <a:extLst>
              <a:ext uri="{FF2B5EF4-FFF2-40B4-BE49-F238E27FC236}">
                <a16:creationId xmlns:a16="http://schemas.microsoft.com/office/drawing/2014/main" id="{F4FC4967-B41B-4444-4ADE-4F30B9156CB8}"/>
              </a:ext>
            </a:extLst>
          </p:cNvPr>
          <p:cNvSpPr/>
          <p:nvPr/>
        </p:nvSpPr>
        <p:spPr>
          <a:xfrm>
            <a:off x="3987378" y="3740258"/>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1026" name="Picture 2">
            <a:extLst>
              <a:ext uri="{FF2B5EF4-FFF2-40B4-BE49-F238E27FC236}">
                <a16:creationId xmlns:a16="http://schemas.microsoft.com/office/drawing/2014/main" id="{AC3EAB26-5599-F35D-4523-6C68BD69EF6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49980" y="4692784"/>
            <a:ext cx="570053" cy="37623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ロゴガイドライン｜LINEヤフー for Business">
            <a:extLst>
              <a:ext uri="{FF2B5EF4-FFF2-40B4-BE49-F238E27FC236}">
                <a16:creationId xmlns:a16="http://schemas.microsoft.com/office/drawing/2014/main" id="{CEFB2BC3-422C-45B1-E9EF-4EF91F4D989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72902" y="4459743"/>
            <a:ext cx="2357368" cy="855810"/>
          </a:xfrm>
          <a:prstGeom prst="rect">
            <a:avLst/>
          </a:prstGeom>
          <a:noFill/>
          <a:extLst>
            <a:ext uri="{909E8E84-426E-40DD-AFC4-6F175D3DCCD1}">
              <a14:hiddenFill xmlns:a14="http://schemas.microsoft.com/office/drawing/2010/main">
                <a:solidFill>
                  <a:srgbClr val="FFFFFF"/>
                </a:solidFill>
              </a14:hiddenFill>
            </a:ext>
          </a:extLst>
        </p:spPr>
      </p:pic>
      <p:pic>
        <p:nvPicPr>
          <p:cNvPr id="49" name="図 48">
            <a:extLst>
              <a:ext uri="{FF2B5EF4-FFF2-40B4-BE49-F238E27FC236}">
                <a16:creationId xmlns:a16="http://schemas.microsoft.com/office/drawing/2014/main" id="{C827C962-E7C6-7341-785B-5CEA2F163BA9}"/>
              </a:ext>
            </a:extLst>
          </p:cNvPr>
          <p:cNvPicPr>
            <a:picLocks noChangeAspect="1"/>
          </p:cNvPicPr>
          <p:nvPr/>
        </p:nvPicPr>
        <p:blipFill>
          <a:blip r:embed="rId5" cstate="print">
            <a:extLst>
              <a:ext uri="{28A0092B-C50C-407E-A947-70E740481C1C}">
                <a14:useLocalDpi xmlns:a14="http://schemas.microsoft.com/office/drawing/2010/main" val="0"/>
              </a:ext>
            </a:extLst>
          </a:blip>
          <a:srcRect l="10032" t="9688" r="9713" b="9686"/>
          <a:stretch>
            <a:fillRect/>
          </a:stretch>
        </p:blipFill>
        <p:spPr>
          <a:xfrm>
            <a:off x="7294243" y="4673418"/>
            <a:ext cx="411545" cy="413459"/>
          </a:xfrm>
          <a:prstGeom prst="rect">
            <a:avLst/>
          </a:prstGeom>
        </p:spPr>
      </p:pic>
      <p:pic>
        <p:nvPicPr>
          <p:cNvPr id="1034" name="Picture 10" descr="Google ロゴ（グーグル） – ICONLAB（アイコンラボ）">
            <a:extLst>
              <a:ext uri="{FF2B5EF4-FFF2-40B4-BE49-F238E27FC236}">
                <a16:creationId xmlns:a16="http://schemas.microsoft.com/office/drawing/2014/main" id="{EF486F86-4362-411E-58E4-AF8FA89FFB1A}"/>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916281" y="5170783"/>
            <a:ext cx="1167467" cy="383075"/>
          </a:xfrm>
          <a:prstGeom prst="rect">
            <a:avLst/>
          </a:prstGeom>
          <a:noFill/>
          <a:extLst>
            <a:ext uri="{909E8E84-426E-40DD-AFC4-6F175D3DCCD1}">
              <a14:hiddenFill xmlns:a14="http://schemas.microsoft.com/office/drawing/2010/main">
                <a:solidFill>
                  <a:srgbClr val="FFFFFF"/>
                </a:solidFill>
              </a14:hiddenFill>
            </a:ext>
          </a:extLst>
        </p:spPr>
      </p:pic>
      <p:sp>
        <p:nvSpPr>
          <p:cNvPr id="52" name="AutoShape 16" descr="TikTok Vector Logo - Download Free SVG Icon | Worldvectorlogo">
            <a:extLst>
              <a:ext uri="{FF2B5EF4-FFF2-40B4-BE49-F238E27FC236}">
                <a16:creationId xmlns:a16="http://schemas.microsoft.com/office/drawing/2014/main" id="{FC9F455A-4712-6D98-BB84-88AB6130694C}"/>
              </a:ext>
            </a:extLst>
          </p:cNvPr>
          <p:cNvSpPr>
            <a:spLocks noChangeAspect="1" noChangeArrowheads="1"/>
          </p:cNvSpPr>
          <p:nvPr/>
        </p:nvSpPr>
        <p:spPr bwMode="auto">
          <a:xfrm>
            <a:off x="4800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latin typeface="メイリオ"/>
              <a:ea typeface="メイリオ"/>
              <a:cs typeface="メイリオ"/>
            </a:endParaRPr>
          </a:p>
        </p:txBody>
      </p:sp>
      <p:pic>
        <p:nvPicPr>
          <p:cNvPr id="55" name="グラフィックス 54">
            <a:extLst>
              <a:ext uri="{FF2B5EF4-FFF2-40B4-BE49-F238E27FC236}">
                <a16:creationId xmlns:a16="http://schemas.microsoft.com/office/drawing/2014/main" id="{236DDCA7-2D38-04D7-5FB4-240CFC7457D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915162" y="4592565"/>
            <a:ext cx="431326" cy="494866"/>
          </a:xfrm>
          <a:prstGeom prst="rect">
            <a:avLst/>
          </a:prstGeom>
        </p:spPr>
      </p:pic>
      <p:pic>
        <p:nvPicPr>
          <p:cNvPr id="1042" name="Picture 18" descr="スマートニュースはSNSでも情報を発信しています">
            <a:extLst>
              <a:ext uri="{FF2B5EF4-FFF2-40B4-BE49-F238E27FC236}">
                <a16:creationId xmlns:a16="http://schemas.microsoft.com/office/drawing/2014/main" id="{4F12F3EC-DFC2-4480-39CA-8C4C8AE3C056}"/>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r="70053"/>
          <a:stretch>
            <a:fillRect/>
          </a:stretch>
        </p:blipFill>
        <p:spPr bwMode="auto">
          <a:xfrm>
            <a:off x="8334066" y="4584625"/>
            <a:ext cx="564335" cy="580417"/>
          </a:xfrm>
          <a:prstGeom prst="rect">
            <a:avLst/>
          </a:prstGeom>
          <a:noFill/>
          <a:extLst>
            <a:ext uri="{909E8E84-426E-40DD-AFC4-6F175D3DCCD1}">
              <a14:hiddenFill xmlns:a14="http://schemas.microsoft.com/office/drawing/2010/main">
                <a:solidFill>
                  <a:srgbClr val="FFFFFF"/>
                </a:solidFill>
              </a14:hiddenFill>
            </a:ext>
          </a:extLst>
        </p:spPr>
      </p:pic>
      <p:sp>
        <p:nvSpPr>
          <p:cNvPr id="56" name="矢印: 下 55">
            <a:extLst>
              <a:ext uri="{FF2B5EF4-FFF2-40B4-BE49-F238E27FC236}">
                <a16:creationId xmlns:a16="http://schemas.microsoft.com/office/drawing/2014/main" id="{E75D1A0F-AE27-48A1-23FB-0EB865F9868F}"/>
              </a:ext>
            </a:extLst>
          </p:cNvPr>
          <p:cNvSpPr/>
          <p:nvPr/>
        </p:nvSpPr>
        <p:spPr>
          <a:xfrm>
            <a:off x="2694214" y="2529121"/>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7" name="矢印: 下 56">
            <a:extLst>
              <a:ext uri="{FF2B5EF4-FFF2-40B4-BE49-F238E27FC236}">
                <a16:creationId xmlns:a16="http://schemas.microsoft.com/office/drawing/2014/main" id="{45EAB25F-C320-6516-2457-A8EC46BA5759}"/>
              </a:ext>
            </a:extLst>
          </p:cNvPr>
          <p:cNvSpPr/>
          <p:nvPr/>
        </p:nvSpPr>
        <p:spPr>
          <a:xfrm>
            <a:off x="7125416" y="2500315"/>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8" name="矢印: 下 57">
            <a:extLst>
              <a:ext uri="{FF2B5EF4-FFF2-40B4-BE49-F238E27FC236}">
                <a16:creationId xmlns:a16="http://schemas.microsoft.com/office/drawing/2014/main" id="{D4C3E4FB-FBBD-F807-4224-633D3437041D}"/>
              </a:ext>
            </a:extLst>
          </p:cNvPr>
          <p:cNvSpPr/>
          <p:nvPr/>
        </p:nvSpPr>
        <p:spPr>
          <a:xfrm>
            <a:off x="7077925" y="3692382"/>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9" name="矢印: 下 58">
            <a:extLst>
              <a:ext uri="{FF2B5EF4-FFF2-40B4-BE49-F238E27FC236}">
                <a16:creationId xmlns:a16="http://schemas.microsoft.com/office/drawing/2014/main" id="{101128B9-99D7-A912-7FA8-A54843D9D245}"/>
              </a:ext>
            </a:extLst>
          </p:cNvPr>
          <p:cNvSpPr/>
          <p:nvPr/>
        </p:nvSpPr>
        <p:spPr>
          <a:xfrm>
            <a:off x="1531548" y="4943191"/>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0" name="矢印: 下 59">
            <a:extLst>
              <a:ext uri="{FF2B5EF4-FFF2-40B4-BE49-F238E27FC236}">
                <a16:creationId xmlns:a16="http://schemas.microsoft.com/office/drawing/2014/main" id="{98D6B609-F1DC-B6C8-DC56-54C22972DE71}"/>
              </a:ext>
            </a:extLst>
          </p:cNvPr>
          <p:cNvSpPr/>
          <p:nvPr/>
        </p:nvSpPr>
        <p:spPr>
          <a:xfrm>
            <a:off x="3985192" y="4946879"/>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1" name="矢印: 下 60">
            <a:extLst>
              <a:ext uri="{FF2B5EF4-FFF2-40B4-BE49-F238E27FC236}">
                <a16:creationId xmlns:a16="http://schemas.microsoft.com/office/drawing/2014/main" id="{CBA9CA06-6F9A-2C27-90F1-49EDB667ED05}"/>
              </a:ext>
            </a:extLst>
          </p:cNvPr>
          <p:cNvSpPr/>
          <p:nvPr/>
        </p:nvSpPr>
        <p:spPr>
          <a:xfrm rot="17888006">
            <a:off x="5384120" y="4622183"/>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2" name="矢印: 下 61">
            <a:extLst>
              <a:ext uri="{FF2B5EF4-FFF2-40B4-BE49-F238E27FC236}">
                <a16:creationId xmlns:a16="http://schemas.microsoft.com/office/drawing/2014/main" id="{50FA0F8D-4B66-B543-827F-E62BB2D7A5C7}"/>
              </a:ext>
            </a:extLst>
          </p:cNvPr>
          <p:cNvSpPr/>
          <p:nvPr/>
        </p:nvSpPr>
        <p:spPr>
          <a:xfrm rot="7261747">
            <a:off x="5310324" y="4360130"/>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Tree>
    <p:extLst>
      <p:ext uri="{BB962C8B-B14F-4D97-AF65-F5344CB8AC3E}">
        <p14:creationId xmlns:p14="http://schemas.microsoft.com/office/powerpoint/2010/main" val="354400245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運用スケジュール</a:t>
            </a:r>
            <a:endParaRPr sz="1600" b="1" dirty="0">
              <a:solidFill>
                <a:srgbClr val="002060"/>
              </a:solidFill>
              <a:latin typeface="メイリオ"/>
              <a:ea typeface="メイリオ"/>
              <a:cs typeface="メイリオ"/>
              <a:sym typeface="Meiryo"/>
            </a:endParaRPr>
          </a:p>
        </p:txBody>
      </p:sp>
      <p:sp>
        <p:nvSpPr>
          <p:cNvPr id="28" name="角丸四角形 27"/>
          <p:cNvSpPr/>
          <p:nvPr/>
        </p:nvSpPr>
        <p:spPr>
          <a:xfrm>
            <a:off x="910833" y="199408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STEP1</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29" name="角丸四角形 28"/>
          <p:cNvSpPr/>
          <p:nvPr/>
        </p:nvSpPr>
        <p:spPr>
          <a:xfrm>
            <a:off x="910833" y="353713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STEP3</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31" name="角丸四角形 30"/>
          <p:cNvSpPr/>
          <p:nvPr/>
        </p:nvSpPr>
        <p:spPr>
          <a:xfrm>
            <a:off x="910833" y="2765608"/>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STEP2</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32" name="角丸四角形 31"/>
          <p:cNvSpPr/>
          <p:nvPr/>
        </p:nvSpPr>
        <p:spPr>
          <a:xfrm>
            <a:off x="910833" y="4308658"/>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STEP4</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33" name="角丸四角形 32"/>
          <p:cNvSpPr/>
          <p:nvPr/>
        </p:nvSpPr>
        <p:spPr>
          <a:xfrm>
            <a:off x="910833" y="508018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STEP5</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2" name="正方形/長方形 1"/>
          <p:cNvSpPr/>
          <p:nvPr/>
        </p:nvSpPr>
        <p:spPr>
          <a:xfrm>
            <a:off x="4600923" y="2266950"/>
            <a:ext cx="1638300" cy="391649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0" name="角丸四角形 39"/>
          <p:cNvSpPr/>
          <p:nvPr/>
        </p:nvSpPr>
        <p:spPr>
          <a:xfrm>
            <a:off x="3133924" y="199408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お申込み（書類締結）</a:t>
            </a:r>
            <a:endPar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endParaRPr>
          </a:p>
        </p:txBody>
      </p:sp>
      <p:sp>
        <p:nvSpPr>
          <p:cNvPr id="41" name="角丸四角形 40"/>
          <p:cNvSpPr/>
          <p:nvPr/>
        </p:nvSpPr>
        <p:spPr>
          <a:xfrm>
            <a:off x="3133924" y="353713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連携の設定 </a:t>
            </a:r>
            <a:r>
              <a:rPr kumimoji="1" lang="en-US" altLang="ja-JP" dirty="0">
                <a:solidFill>
                  <a:schemeClr val="bg1">
                    <a:lumMod val="50000"/>
                  </a:schemeClr>
                </a:solidFill>
                <a:latin typeface="メイリオ" panose="020B0604030504040204" pitchFamily="50" charset="-128"/>
                <a:ea typeface="メイリオ" panose="020B0604030504040204" pitchFamily="50" charset="-128"/>
                <a:cs typeface="メイリオ"/>
              </a:rPr>
              <a:t>/ </a:t>
            </a:r>
            <a:r>
              <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タグ確認</a:t>
            </a:r>
          </a:p>
        </p:txBody>
      </p:sp>
      <p:sp>
        <p:nvSpPr>
          <p:cNvPr id="42" name="角丸四角形 41"/>
          <p:cNvSpPr/>
          <p:nvPr/>
        </p:nvSpPr>
        <p:spPr>
          <a:xfrm>
            <a:off x="3133924" y="2765608"/>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キックオフ</a:t>
            </a:r>
            <a:r>
              <a:rPr kumimoji="1" lang="en-US" altLang="ja-JP" dirty="0">
                <a:solidFill>
                  <a:schemeClr val="bg1">
                    <a:lumMod val="50000"/>
                  </a:schemeClr>
                </a:solidFill>
                <a:latin typeface="メイリオ" panose="020B0604030504040204" pitchFamily="50" charset="-128"/>
                <a:ea typeface="メイリオ" panose="020B0604030504040204" pitchFamily="50" charset="-128"/>
                <a:cs typeface="メイリオ"/>
              </a:rPr>
              <a:t>MTG</a:t>
            </a:r>
            <a:endPar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endParaRPr>
          </a:p>
        </p:txBody>
      </p:sp>
      <p:sp>
        <p:nvSpPr>
          <p:cNvPr id="44" name="角丸四角形 43"/>
          <p:cNvSpPr/>
          <p:nvPr/>
        </p:nvSpPr>
        <p:spPr>
          <a:xfrm>
            <a:off x="3133924" y="4308658"/>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初期設計の構築</a:t>
            </a:r>
          </a:p>
        </p:txBody>
      </p:sp>
      <p:sp>
        <p:nvSpPr>
          <p:cNvPr id="45" name="角丸四角形 44"/>
          <p:cNvSpPr/>
          <p:nvPr/>
        </p:nvSpPr>
        <p:spPr>
          <a:xfrm>
            <a:off x="3133924" y="508018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運用開始</a:t>
            </a:r>
          </a:p>
        </p:txBody>
      </p:sp>
      <p:sp>
        <p:nvSpPr>
          <p:cNvPr id="19" name="正方形/長方形 18"/>
          <p:cNvSpPr/>
          <p:nvPr/>
        </p:nvSpPr>
        <p:spPr>
          <a:xfrm>
            <a:off x="548883" y="1033120"/>
            <a:ext cx="8921032" cy="461665"/>
          </a:xfrm>
          <a:prstGeom prst="rect">
            <a:avLst/>
          </a:prstGeom>
        </p:spPr>
        <p:txBody>
          <a:bodyPr wrap="none">
            <a:spAutoFit/>
          </a:bodyPr>
          <a:lstStyle/>
          <a:p>
            <a:r>
              <a:rPr lang="ja-JP" altLang="en-US" sz="2400" dirty="0">
                <a:latin typeface="メイリオ" panose="020B0604030504040204" pitchFamily="50" charset="-128"/>
                <a:ea typeface="メイリオ" panose="020B0604030504040204" pitchFamily="50" charset="-128"/>
                <a:cs typeface="メイリオ"/>
              </a:rPr>
              <a:t>サイト・LINEへの実装は、初期設計が整い次第、順次進行</a:t>
            </a:r>
            <a:endParaRPr lang="ja-JP" altLang="en-US" sz="2400" dirty="0">
              <a:latin typeface="メイリオ"/>
              <a:ea typeface="メイリオ"/>
              <a:cs typeface="メイリオ"/>
            </a:endParaRPr>
          </a:p>
        </p:txBody>
      </p:sp>
      <p:sp>
        <p:nvSpPr>
          <p:cNvPr id="20" name="正方形/長方形 19"/>
          <p:cNvSpPr/>
          <p:nvPr/>
        </p:nvSpPr>
        <p:spPr>
          <a:xfrm>
            <a:off x="4708989" y="5841409"/>
            <a:ext cx="4955203" cy="276999"/>
          </a:xfrm>
          <a:prstGeom prst="rect">
            <a:avLst/>
          </a:prstGeom>
        </p:spPr>
        <p:txBody>
          <a:bodyPr wrap="none">
            <a:spAutoFit/>
          </a:bodyPr>
          <a:lstStyle/>
          <a:p>
            <a:r>
              <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t>
            </a: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貴社作業・確認にかかる時間により前後する可能性がございます。</a:t>
            </a:r>
          </a:p>
        </p:txBody>
      </p:sp>
      <p:sp>
        <p:nvSpPr>
          <p:cNvPr id="3" name="正方形/長方形 2"/>
          <p:cNvSpPr/>
          <p:nvPr/>
        </p:nvSpPr>
        <p:spPr>
          <a:xfrm>
            <a:off x="7902506" y="3514209"/>
            <a:ext cx="1415772"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オーディエンスリスト作成</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タグ設定</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rPr>
              <a:t>GA</a:t>
            </a:r>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設定</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rPr>
              <a:t>etc...</a:t>
            </a:r>
          </a:p>
        </p:txBody>
      </p:sp>
      <p:sp>
        <p:nvSpPr>
          <p:cNvPr id="24" name="正方形/長方形 23"/>
          <p:cNvSpPr/>
          <p:nvPr/>
        </p:nvSpPr>
        <p:spPr>
          <a:xfrm>
            <a:off x="7897281" y="4276528"/>
            <a:ext cx="1107996"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リッチメニュー作成</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アンケート設計</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シナリオ設計</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rPr>
              <a:t>etc...</a:t>
            </a:r>
          </a:p>
        </p:txBody>
      </p:sp>
    </p:spTree>
    <p:extLst>
      <p:ext uri="{BB962C8B-B14F-4D97-AF65-F5344CB8AC3E}">
        <p14:creationId xmlns:p14="http://schemas.microsoft.com/office/powerpoint/2010/main" val="212143481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1E9651-D02B-F1D5-7974-8EFB42339FA2}"/>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0D14D38F-F567-ACF2-CDEB-76004FDB5B5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636C1E2A-AC35-76CA-EBEE-CAD4F26CF45A}"/>
              </a:ext>
            </a:extLst>
          </p:cNvPr>
          <p:cNvSpPr/>
          <p:nvPr/>
        </p:nvSpPr>
        <p:spPr>
          <a:xfrm>
            <a:off x="1460711" y="3038203"/>
            <a:ext cx="6984604" cy="584775"/>
          </a:xfrm>
          <a:prstGeom prst="rect">
            <a:avLst/>
          </a:prstGeom>
        </p:spPr>
        <p:txBody>
          <a:bodyPr wrap="none">
            <a:spAutoFit/>
          </a:bodyPr>
          <a:lstStyle/>
          <a:p>
            <a:pPr algn="ctr"/>
            <a:r>
              <a:rPr lang="en-US" altLang="ja-JP"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公式アカウント運用のメリット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709543333"/>
      </p:ext>
    </p:extLst>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Google Shape;752;p28"/>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なぜLINEか</a:t>
            </a:r>
          </a:p>
        </p:txBody>
      </p:sp>
      <p:sp>
        <p:nvSpPr>
          <p:cNvPr id="3" name="正方形/長方形 8"/>
          <p:cNvSpPr/>
          <p:nvPr/>
        </p:nvSpPr>
        <p:spPr>
          <a:xfrm>
            <a:off x="0" y="777240"/>
            <a:ext cx="210312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LINE公式アカウント</a:t>
            </a:r>
          </a:p>
        </p:txBody>
      </p:sp>
      <p:sp>
        <p:nvSpPr>
          <p:cNvPr id="4" name="Google Shape;752;p28"/>
          <p:cNvSpPr txBox="1"/>
          <p:nvPr/>
        </p:nvSpPr>
        <p:spPr>
          <a:xfrm>
            <a:off x="2286000" y="859536"/>
            <a:ext cx="7406640" cy="338328"/>
          </a:xfrm>
          <a:prstGeom prst="rect">
            <a:avLst/>
          </a:prstGeom>
          <a:noFill/>
          <a:ln>
            <a:noFill/>
          </a:ln>
        </p:spPr>
        <p:txBody>
          <a:bodyPr spcFirstLastPara="1" wrap="square" lIns="91425" tIns="45700" rIns="91425" bIns="45700" anchor="ctr" anchorCtr="0">
            <a:spAutoFit/>
          </a:bodyPr>
          <a:lstStyle/>
          <a:p>
            <a:r>
              <a:rPr lang="en-US" altLang="ja-JP" sz="1600" b="1" dirty="0" err="1">
                <a:latin typeface="メイリオ" panose="020B0604030504040204" pitchFamily="50" charset="-128"/>
                <a:ea typeface="メイリオ" panose="020B0604030504040204" pitchFamily="50" charset="-128"/>
                <a:cs typeface="メイリオ"/>
                <a:sym typeface="Meiryo"/>
              </a:rPr>
              <a:t>LINEは積み上がる</a:t>
            </a:r>
            <a:r>
              <a:rPr lang="ja-JP" altLang="en-US" sz="1600" b="1" dirty="0">
                <a:latin typeface="メイリオ" panose="020B0604030504040204" pitchFamily="50" charset="-128"/>
                <a:ea typeface="メイリオ" panose="020B0604030504040204" pitchFamily="50" charset="-128"/>
                <a:cs typeface="メイリオ"/>
                <a:sym typeface="Meiryo"/>
              </a:rPr>
              <a:t>・追い続けられる</a:t>
            </a:r>
            <a:endParaRPr lang="en-US" altLang="ja-JP" sz="1600" b="1" dirty="0">
              <a:latin typeface="メイリオ" panose="020B0604030504040204" pitchFamily="50" charset="-128"/>
              <a:ea typeface="メイリオ" panose="020B0604030504040204" pitchFamily="50" charset="-128"/>
              <a:cs typeface="メイリオ"/>
              <a:sym typeface="Meiryo"/>
            </a:endParaRPr>
          </a:p>
        </p:txBody>
      </p:sp>
      <p:graphicFrame>
        <p:nvGraphicFramePr>
          <p:cNvPr id="5" name="広告とLINE 4"/>
          <p:cNvGraphicFramePr>
            <a:graphicFrameLocks noGrp="1"/>
          </p:cNvGraphicFramePr>
          <p:nvPr/>
        </p:nvGraphicFramePr>
        <p:xfrm>
          <a:off x="502920" y="2110892"/>
          <a:ext cx="8897112" cy="2057400"/>
        </p:xfrm>
        <a:graphic>
          <a:graphicData uri="http://schemas.openxmlformats.org/drawingml/2006/table">
            <a:tbl>
              <a:tblPr/>
              <a:tblGrid>
                <a:gridCol w="182880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3959352">
                  <a:extLst>
                    <a:ext uri="{9D8B030D-6E8A-4147-A177-3AD203B41FA5}">
                      <a16:colId xmlns:a16="http://schemas.microsoft.com/office/drawing/2014/main" val="20002"/>
                    </a:ext>
                  </a:extLst>
                </a:gridCol>
              </a:tblGrid>
              <a:tr h="411480">
                <a:tc>
                  <a:txBody>
                    <a:bodyPr/>
                    <a:lstStyle/>
                    <a:p>
                      <a:pPr algn="ctr">
                        <a:buNone/>
                      </a:pP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広告</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LINE公式アカウント</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extLst>
                  <a:ext uri="{0D108BD9-81ED-4DB2-BD59-A6C34878D82A}">
                    <a16:rowId xmlns:a16="http://schemas.microsoft.com/office/drawing/2014/main" val="10000"/>
                  </a:ext>
                </a:extLst>
              </a:tr>
              <a:tr h="548640">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届く相手</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毎回、新しく集める</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一度友だちになった方に、何度でも届く</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届き方</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広告を見たときだけ</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通知で届き、見てもらいやすい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48640">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イベントの後</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つながりが切れる</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友だちとして、毎月積み上がる</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示唆"/>
          <p:cNvSpPr/>
          <p:nvPr/>
        </p:nvSpPr>
        <p:spPr>
          <a:xfrm>
            <a:off x="502920" y="4396892"/>
            <a:ext cx="8897112" cy="548640"/>
          </a:xfrm>
          <a:prstGeom prst="rect">
            <a:avLst/>
          </a:prstGeom>
          <a:solidFill>
            <a:srgbClr val="F2F2F2"/>
          </a:solidFill>
          <a:ln>
            <a:noFill/>
          </a:ln>
        </p:spPr>
        <p:txBody>
          <a:bodyPr wrap="square" lIns="73152" tIns="36576" rIns="73152" bIns="36576" rtlCol="0" anchor="ctr">
            <a:noAutofit/>
          </a:bodyPr>
          <a:lstStyle/>
          <a:p>
            <a:pPr algn="ctr">
              <a:buNone/>
            </a:pPr>
            <a:r>
              <a:rPr lang="ja-JP" altLang="en-US" sz="1600" b="1" dirty="0">
                <a:solidFill>
                  <a:srgbClr val="002060"/>
                </a:solidFill>
                <a:latin typeface="メイリオ" panose="020B0604030504040204" pitchFamily="50" charset="-128"/>
                <a:ea typeface="メイリオ" panose="020B0604030504040204" pitchFamily="50" charset="-128"/>
                <a:cs typeface="メイリオ"/>
              </a:rPr>
              <a:t>この仕組みが回れば、今後の広告費を抑えられる可能性もある</a:t>
            </a:r>
            <a:endParaRPr lang="ja-JP" altLang="en-US" sz="1200" dirty="0">
              <a:latin typeface="メイリオ"/>
              <a:ea typeface="メイリオ"/>
              <a:cs typeface="メイリオ"/>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579F4-FB71-CB84-349D-670C2D29F6A3}"/>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4B1E45AF-D1E3-4DBA-4BB7-0857F699B7A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C6D5128D-AC86-A618-019E-D9FA2B942550}"/>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ファン化・自社アプリ登録に対して、</a:t>
            </a: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ハードルが高く感じる</a:t>
            </a: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ユーザーが増えている状況。</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離脱防止 </a:t>
            </a:r>
            <a:r>
              <a:rPr lang="en-US" altLang="ja-JP" sz="1400" dirty="0">
                <a:solidFill>
                  <a:srgbClr val="343434"/>
                </a:solidFill>
                <a:latin typeface="メイリオ" panose="020B0604030504040204" pitchFamily="50" charset="-128"/>
                <a:ea typeface="メイリオ" panose="020B0604030504040204" pitchFamily="50" charset="-128"/>
                <a:cs typeface="メイリオ"/>
              </a:rPr>
              <a:t>&gt;&gt; </a:t>
            </a:r>
            <a:r>
              <a:rPr lang="ja-JP" altLang="en-US" sz="1400" dirty="0">
                <a:solidFill>
                  <a:srgbClr val="343434"/>
                </a:solidFill>
                <a:latin typeface="メイリオ" panose="020B0604030504040204" pitchFamily="50" charset="-128"/>
                <a:ea typeface="メイリオ" panose="020B0604030504040204" pitchFamily="50" charset="-128"/>
                <a:cs typeface="メイリオ"/>
              </a:rPr>
              <a:t>友だち追加 </a:t>
            </a:r>
            <a:r>
              <a:rPr lang="en-US" altLang="ja-JP" sz="1400" dirty="0">
                <a:solidFill>
                  <a:srgbClr val="343434"/>
                </a:solidFill>
                <a:latin typeface="メイリオ" panose="020B0604030504040204" pitchFamily="50" charset="-128"/>
                <a:ea typeface="メイリオ" panose="020B0604030504040204" pitchFamily="50" charset="-128"/>
                <a:cs typeface="メイリオ"/>
              </a:rPr>
              <a:t>&gt;&gt; LINE</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で学習 </a:t>
            </a:r>
            <a:r>
              <a:rPr lang="en-US" altLang="ja-JP" sz="1400" dirty="0">
                <a:solidFill>
                  <a:srgbClr val="343434"/>
                </a:solidFill>
                <a:latin typeface="メイリオ" panose="020B0604030504040204" pitchFamily="50" charset="-128"/>
                <a:ea typeface="メイリオ" panose="020B0604030504040204" pitchFamily="50" charset="-128"/>
                <a:cs typeface="メイリオ"/>
              </a:rPr>
              <a:t>&gt;&gt; </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リード獲得・利用 の導線設計でハードル抑えつつ運営が可能。</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5" name="直線コネクタ 4">
            <a:extLst>
              <a:ext uri="{FF2B5EF4-FFF2-40B4-BE49-F238E27FC236}">
                <a16:creationId xmlns:a16="http://schemas.microsoft.com/office/drawing/2014/main" id="{5C1533E1-7172-D6F9-4659-AAF59CE221F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5303208C-F2F3-3716-B706-B8EDA63E975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sp>
        <p:nvSpPr>
          <p:cNvPr id="2" name="台形 1">
            <a:extLst>
              <a:ext uri="{FF2B5EF4-FFF2-40B4-BE49-F238E27FC236}">
                <a16:creationId xmlns:a16="http://schemas.microsoft.com/office/drawing/2014/main" id="{6CEEA445-8026-0C8A-48B1-72329CC0C762}"/>
              </a:ext>
            </a:extLst>
          </p:cNvPr>
          <p:cNvSpPr/>
          <p:nvPr/>
        </p:nvSpPr>
        <p:spPr>
          <a:xfrm rot="10800000">
            <a:off x="548883" y="1844173"/>
            <a:ext cx="3274466" cy="604240"/>
          </a:xfrm>
          <a:prstGeom prst="trapezoid">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 name="台形 5">
            <a:extLst>
              <a:ext uri="{FF2B5EF4-FFF2-40B4-BE49-F238E27FC236}">
                <a16:creationId xmlns:a16="http://schemas.microsoft.com/office/drawing/2014/main" id="{9F2F9E67-FA62-E2F6-550C-31986420B41E}"/>
              </a:ext>
            </a:extLst>
          </p:cNvPr>
          <p:cNvSpPr/>
          <p:nvPr/>
        </p:nvSpPr>
        <p:spPr>
          <a:xfrm rot="10800000">
            <a:off x="752147" y="2517920"/>
            <a:ext cx="2877705" cy="604240"/>
          </a:xfrm>
          <a:prstGeom prst="trapezoid">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7" name="台形 6">
            <a:extLst>
              <a:ext uri="{FF2B5EF4-FFF2-40B4-BE49-F238E27FC236}">
                <a16:creationId xmlns:a16="http://schemas.microsoft.com/office/drawing/2014/main" id="{B6E67C0E-450F-9501-7066-6FB44B603ACE}"/>
              </a:ext>
            </a:extLst>
          </p:cNvPr>
          <p:cNvSpPr/>
          <p:nvPr/>
        </p:nvSpPr>
        <p:spPr>
          <a:xfrm rot="10800000">
            <a:off x="963025" y="3191667"/>
            <a:ext cx="2430931" cy="604240"/>
          </a:xfrm>
          <a:prstGeom prst="trapezoid">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8" name="台形 7">
            <a:extLst>
              <a:ext uri="{FF2B5EF4-FFF2-40B4-BE49-F238E27FC236}">
                <a16:creationId xmlns:a16="http://schemas.microsoft.com/office/drawing/2014/main" id="{EC332CC3-1BFE-4336-94C4-337A6F76E30F}"/>
              </a:ext>
            </a:extLst>
          </p:cNvPr>
          <p:cNvSpPr/>
          <p:nvPr/>
        </p:nvSpPr>
        <p:spPr>
          <a:xfrm rot="10800000">
            <a:off x="1195275" y="3865414"/>
            <a:ext cx="1981682" cy="604240"/>
          </a:xfrm>
          <a:prstGeom prst="trapezoid">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9" name="台形 8">
            <a:extLst>
              <a:ext uri="{FF2B5EF4-FFF2-40B4-BE49-F238E27FC236}">
                <a16:creationId xmlns:a16="http://schemas.microsoft.com/office/drawing/2014/main" id="{9FA0DA39-CA3D-4A32-A88D-5F42671F47B8}"/>
              </a:ext>
            </a:extLst>
          </p:cNvPr>
          <p:cNvSpPr/>
          <p:nvPr/>
        </p:nvSpPr>
        <p:spPr>
          <a:xfrm rot="10800000">
            <a:off x="1422661" y="4539161"/>
            <a:ext cx="1536677" cy="604240"/>
          </a:xfrm>
          <a:prstGeom prst="trapezoid">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0" name="台形 9">
            <a:extLst>
              <a:ext uri="{FF2B5EF4-FFF2-40B4-BE49-F238E27FC236}">
                <a16:creationId xmlns:a16="http://schemas.microsoft.com/office/drawing/2014/main" id="{1DAAE755-E19F-83A4-49AB-80FD2B8C6117}"/>
              </a:ext>
            </a:extLst>
          </p:cNvPr>
          <p:cNvSpPr/>
          <p:nvPr/>
        </p:nvSpPr>
        <p:spPr>
          <a:xfrm rot="10800000">
            <a:off x="1611466" y="5212908"/>
            <a:ext cx="1134047" cy="470263"/>
          </a:xfrm>
          <a:prstGeom prst="trapezoid">
            <a:avLst>
              <a:gd name="adj" fmla="val 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11" name="台形 10">
            <a:extLst>
              <a:ext uri="{FF2B5EF4-FFF2-40B4-BE49-F238E27FC236}">
                <a16:creationId xmlns:a16="http://schemas.microsoft.com/office/drawing/2014/main" id="{CE13A148-43A9-FACC-AA40-5B3C6364394E}"/>
              </a:ext>
            </a:extLst>
          </p:cNvPr>
          <p:cNvSpPr/>
          <p:nvPr/>
        </p:nvSpPr>
        <p:spPr>
          <a:xfrm rot="10800000">
            <a:off x="1611465" y="5752675"/>
            <a:ext cx="1134047" cy="470263"/>
          </a:xfrm>
          <a:prstGeom prst="trapezoid">
            <a:avLst>
              <a:gd name="adj" fmla="val 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13" name="テキスト ボックス 12">
            <a:extLst>
              <a:ext uri="{FF2B5EF4-FFF2-40B4-BE49-F238E27FC236}">
                <a16:creationId xmlns:a16="http://schemas.microsoft.com/office/drawing/2014/main" id="{927CB514-4619-59D1-450A-DDF1B29355E0}"/>
              </a:ext>
            </a:extLst>
          </p:cNvPr>
          <p:cNvSpPr txBox="1"/>
          <p:nvPr/>
        </p:nvSpPr>
        <p:spPr>
          <a:xfrm>
            <a:off x="1459558" y="5315094"/>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既存ユーザー</a:t>
            </a:r>
          </a:p>
        </p:txBody>
      </p:sp>
      <p:sp>
        <p:nvSpPr>
          <p:cNvPr id="14" name="テキスト ボックス 13">
            <a:extLst>
              <a:ext uri="{FF2B5EF4-FFF2-40B4-BE49-F238E27FC236}">
                <a16:creationId xmlns:a16="http://schemas.microsoft.com/office/drawing/2014/main" id="{CB3559A7-D98B-633E-360D-B9755713CB4A}"/>
              </a:ext>
            </a:extLst>
          </p:cNvPr>
          <p:cNvSpPr txBox="1"/>
          <p:nvPr/>
        </p:nvSpPr>
        <p:spPr>
          <a:xfrm>
            <a:off x="1458475" y="5884142"/>
            <a:ext cx="1437861" cy="2308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リピート・ファン化</a:t>
            </a:r>
          </a:p>
        </p:txBody>
      </p:sp>
      <p:sp>
        <p:nvSpPr>
          <p:cNvPr id="15" name="テキスト ボックス 14">
            <a:extLst>
              <a:ext uri="{FF2B5EF4-FFF2-40B4-BE49-F238E27FC236}">
                <a16:creationId xmlns:a16="http://schemas.microsoft.com/office/drawing/2014/main" id="{6BF621D8-B54B-3C3E-20B9-51565ADCB9C9}"/>
              </a:ext>
            </a:extLst>
          </p:cNvPr>
          <p:cNvSpPr txBox="1"/>
          <p:nvPr/>
        </p:nvSpPr>
        <p:spPr>
          <a:xfrm>
            <a:off x="1467184" y="468410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リード獲得層</a:t>
            </a:r>
          </a:p>
        </p:txBody>
      </p:sp>
      <p:sp>
        <p:nvSpPr>
          <p:cNvPr id="16" name="テキスト ボックス 15">
            <a:extLst>
              <a:ext uri="{FF2B5EF4-FFF2-40B4-BE49-F238E27FC236}">
                <a16:creationId xmlns:a16="http://schemas.microsoft.com/office/drawing/2014/main" id="{AE6EDBBE-DC2E-D1B4-D90F-A1213B9D8FB2}"/>
              </a:ext>
            </a:extLst>
          </p:cNvPr>
          <p:cNvSpPr txBox="1"/>
          <p:nvPr/>
        </p:nvSpPr>
        <p:spPr>
          <a:xfrm>
            <a:off x="1467184" y="405415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顕在層</a:t>
            </a:r>
          </a:p>
        </p:txBody>
      </p:sp>
      <p:sp>
        <p:nvSpPr>
          <p:cNvPr id="17" name="テキスト ボックス 16">
            <a:extLst>
              <a:ext uri="{FF2B5EF4-FFF2-40B4-BE49-F238E27FC236}">
                <a16:creationId xmlns:a16="http://schemas.microsoft.com/office/drawing/2014/main" id="{742EB2DA-CD05-53A4-819B-B3E66F91159A}"/>
              </a:ext>
            </a:extLst>
          </p:cNvPr>
          <p:cNvSpPr txBox="1"/>
          <p:nvPr/>
        </p:nvSpPr>
        <p:spPr>
          <a:xfrm>
            <a:off x="1459558" y="337292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準顕在層</a:t>
            </a:r>
          </a:p>
        </p:txBody>
      </p:sp>
      <p:sp>
        <p:nvSpPr>
          <p:cNvPr id="18" name="テキスト ボックス 17">
            <a:extLst>
              <a:ext uri="{FF2B5EF4-FFF2-40B4-BE49-F238E27FC236}">
                <a16:creationId xmlns:a16="http://schemas.microsoft.com/office/drawing/2014/main" id="{EFAB44CD-3FC2-FB15-3D61-30AD87D19366}"/>
              </a:ext>
            </a:extLst>
          </p:cNvPr>
          <p:cNvSpPr txBox="1"/>
          <p:nvPr/>
        </p:nvSpPr>
        <p:spPr>
          <a:xfrm>
            <a:off x="1467184" y="270021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潜在層</a:t>
            </a:r>
          </a:p>
        </p:txBody>
      </p:sp>
      <p:sp>
        <p:nvSpPr>
          <p:cNvPr id="19" name="テキスト ボックス 18">
            <a:extLst>
              <a:ext uri="{FF2B5EF4-FFF2-40B4-BE49-F238E27FC236}">
                <a16:creationId xmlns:a16="http://schemas.microsoft.com/office/drawing/2014/main" id="{1514C466-C0C4-5FB6-74AF-13B6F4947391}"/>
              </a:ext>
            </a:extLst>
          </p:cNvPr>
          <p:cNvSpPr txBox="1"/>
          <p:nvPr/>
        </p:nvSpPr>
        <p:spPr>
          <a:xfrm>
            <a:off x="1478205" y="2007789"/>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興味関心なし 層</a:t>
            </a:r>
          </a:p>
        </p:txBody>
      </p:sp>
      <p:sp>
        <p:nvSpPr>
          <p:cNvPr id="22" name="台形 21">
            <a:extLst>
              <a:ext uri="{FF2B5EF4-FFF2-40B4-BE49-F238E27FC236}">
                <a16:creationId xmlns:a16="http://schemas.microsoft.com/office/drawing/2014/main" id="{9BACDF3F-A4E5-35A7-B870-B83B08A9B3FF}"/>
              </a:ext>
            </a:extLst>
          </p:cNvPr>
          <p:cNvSpPr/>
          <p:nvPr/>
        </p:nvSpPr>
        <p:spPr>
          <a:xfrm rot="10800000">
            <a:off x="7611914" y="4021152"/>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23" name="テキスト ボックス 22">
            <a:extLst>
              <a:ext uri="{FF2B5EF4-FFF2-40B4-BE49-F238E27FC236}">
                <a16:creationId xmlns:a16="http://schemas.microsoft.com/office/drawing/2014/main" id="{35A77394-5E5F-8C4D-28B8-74F4583DF5D0}"/>
              </a:ext>
            </a:extLst>
          </p:cNvPr>
          <p:cNvSpPr txBox="1"/>
          <p:nvPr/>
        </p:nvSpPr>
        <p:spPr>
          <a:xfrm>
            <a:off x="7655205" y="4152765"/>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cs typeface="メイリオ"/>
              </a:rPr>
              <a:t>※</a:t>
            </a: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過去の顧客データを活用</a:t>
            </a:r>
          </a:p>
        </p:txBody>
      </p:sp>
      <p:sp>
        <p:nvSpPr>
          <p:cNvPr id="24" name="台形 23">
            <a:extLst>
              <a:ext uri="{FF2B5EF4-FFF2-40B4-BE49-F238E27FC236}">
                <a16:creationId xmlns:a16="http://schemas.microsoft.com/office/drawing/2014/main" id="{3B9CC8D9-DD20-6C2F-3BDD-BE9F5B8FFC38}"/>
              </a:ext>
            </a:extLst>
          </p:cNvPr>
          <p:cNvSpPr/>
          <p:nvPr/>
        </p:nvSpPr>
        <p:spPr>
          <a:xfrm rot="10800000">
            <a:off x="7611914" y="332031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25" name="テキスト ボックス 24">
            <a:extLst>
              <a:ext uri="{FF2B5EF4-FFF2-40B4-BE49-F238E27FC236}">
                <a16:creationId xmlns:a16="http://schemas.microsoft.com/office/drawing/2014/main" id="{342DD099-7AA1-F285-5FF9-42B4945A3099}"/>
              </a:ext>
            </a:extLst>
          </p:cNvPr>
          <p:cNvSpPr txBox="1"/>
          <p:nvPr/>
        </p:nvSpPr>
        <p:spPr>
          <a:xfrm>
            <a:off x="7655205" y="3377041"/>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離脱防止バナーにて</a:t>
            </a:r>
            <a:endParaRPr kumimoji="1" lang="en-US" altLang="ja-JP" sz="9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900" b="1" dirty="0">
                <a:solidFill>
                  <a:schemeClr val="bg1"/>
                </a:solidFill>
                <a:latin typeface="メイリオ" panose="020B0604030504040204" pitchFamily="50" charset="-128"/>
                <a:ea typeface="メイリオ" panose="020B0604030504040204" pitchFamily="50" charset="-128"/>
                <a:cs typeface="メイリオ"/>
              </a:rPr>
              <a:t>検討段階ユーザーを</a:t>
            </a:r>
            <a:r>
              <a:rPr lang="en-US" altLang="ja-JP" sz="9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900" b="1" dirty="0">
                <a:solidFill>
                  <a:schemeClr val="bg1"/>
                </a:solidFill>
                <a:latin typeface="メイリオ" panose="020B0604030504040204" pitchFamily="50" charset="-128"/>
                <a:ea typeface="メイリオ" panose="020B0604030504040204" pitchFamily="50" charset="-128"/>
                <a:cs typeface="メイリオ"/>
              </a:rPr>
              <a:t>誘導</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27" name="台形 26">
            <a:extLst>
              <a:ext uri="{FF2B5EF4-FFF2-40B4-BE49-F238E27FC236}">
                <a16:creationId xmlns:a16="http://schemas.microsoft.com/office/drawing/2014/main" id="{D95457DF-AF4B-4B8E-D6F2-2A10C8E1A4A2}"/>
              </a:ext>
            </a:extLst>
          </p:cNvPr>
          <p:cNvSpPr/>
          <p:nvPr/>
        </p:nvSpPr>
        <p:spPr>
          <a:xfrm rot="10800000">
            <a:off x="7611914" y="225703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32" name="テキスト ボックス 31">
            <a:extLst>
              <a:ext uri="{FF2B5EF4-FFF2-40B4-BE49-F238E27FC236}">
                <a16:creationId xmlns:a16="http://schemas.microsoft.com/office/drawing/2014/main" id="{D94F1D70-CF6B-885E-B41C-C70125B75219}"/>
              </a:ext>
            </a:extLst>
          </p:cNvPr>
          <p:cNvSpPr txBox="1"/>
          <p:nvPr/>
        </p:nvSpPr>
        <p:spPr>
          <a:xfrm>
            <a:off x="7655205" y="2313761"/>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接触、詳細ページ閲覧</a:t>
            </a:r>
            <a:endParaRPr kumimoji="1" lang="en-US" altLang="ja-JP" sz="9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900" b="1" dirty="0">
                <a:solidFill>
                  <a:schemeClr val="bg1"/>
                </a:solidFill>
                <a:latin typeface="メイリオ" panose="020B0604030504040204" pitchFamily="50" charset="-128"/>
                <a:ea typeface="メイリオ" panose="020B0604030504040204" pitchFamily="50" charset="-128"/>
                <a:cs typeface="メイリオ"/>
              </a:rPr>
              <a:t>の動線での</a:t>
            </a:r>
            <a:r>
              <a:rPr lang="en-US" altLang="ja-JP" sz="9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900" b="1" dirty="0">
                <a:solidFill>
                  <a:schemeClr val="bg1"/>
                </a:solidFill>
                <a:latin typeface="メイリオ" panose="020B0604030504040204" pitchFamily="50" charset="-128"/>
                <a:ea typeface="メイリオ" panose="020B0604030504040204" pitchFamily="50" charset="-128"/>
                <a:cs typeface="メイリオ"/>
              </a:rPr>
              <a:t>誘導を整備</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41" name="テキスト ボックス 40">
            <a:extLst>
              <a:ext uri="{FF2B5EF4-FFF2-40B4-BE49-F238E27FC236}">
                <a16:creationId xmlns:a16="http://schemas.microsoft.com/office/drawing/2014/main" id="{4E163946-1549-509D-4F46-C667EBDCE5EE}"/>
              </a:ext>
            </a:extLst>
          </p:cNvPr>
          <p:cNvSpPr txBox="1"/>
          <p:nvPr/>
        </p:nvSpPr>
        <p:spPr>
          <a:xfrm>
            <a:off x="7462272" y="1725706"/>
            <a:ext cx="2125679" cy="276999"/>
          </a:xfrm>
          <a:prstGeom prst="rect">
            <a:avLst/>
          </a:prstGeom>
          <a:solidFill>
            <a:schemeClr val="tx2"/>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cs typeface="メイリオ"/>
              </a:rPr>
              <a:t>DYM</a:t>
            </a:r>
            <a:r>
              <a:rPr lang="ja-JP" altLang="en-US" sz="1200" dirty="0">
                <a:solidFill>
                  <a:schemeClr val="bg1"/>
                </a:solidFill>
                <a:latin typeface="メイリオ" panose="020B0604030504040204" pitchFamily="50" charset="-128"/>
                <a:ea typeface="メイリオ" panose="020B0604030504040204" pitchFamily="50" charset="-128"/>
                <a:cs typeface="メイリオ"/>
              </a:rPr>
              <a:t>施策</a:t>
            </a:r>
            <a:endParaRPr lang="ja-JP" altLang="en-US" sz="1200" dirty="0">
              <a:solidFill>
                <a:schemeClr val="bg1"/>
              </a:solidFill>
              <a:latin typeface="メイリオ"/>
              <a:ea typeface="メイリオ"/>
              <a:cs typeface="メイリオ"/>
            </a:endParaRPr>
          </a:p>
        </p:txBody>
      </p:sp>
      <p:sp>
        <p:nvSpPr>
          <p:cNvPr id="44" name="テキスト ボックス 43">
            <a:extLst>
              <a:ext uri="{FF2B5EF4-FFF2-40B4-BE49-F238E27FC236}">
                <a16:creationId xmlns:a16="http://schemas.microsoft.com/office/drawing/2014/main" id="{CCE5C835-66DF-7ACC-2268-769AE89BC22D}"/>
              </a:ext>
            </a:extLst>
          </p:cNvPr>
          <p:cNvSpPr txBox="1"/>
          <p:nvPr/>
        </p:nvSpPr>
        <p:spPr>
          <a:xfrm>
            <a:off x="5273193" y="1735237"/>
            <a:ext cx="2125679" cy="276999"/>
          </a:xfrm>
          <a:prstGeom prst="rect">
            <a:avLst/>
          </a:prstGeom>
          <a:solidFill>
            <a:schemeClr val="tx1"/>
          </a:solidFill>
        </p:spPr>
        <p:txBody>
          <a:bodyPr wrap="square">
            <a:sp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cs typeface="メイリオ"/>
              </a:rPr>
              <a:t>現状施策</a:t>
            </a:r>
            <a:endParaRPr lang="ja-JP" altLang="en-US" sz="1200" dirty="0">
              <a:solidFill>
                <a:schemeClr val="bg1"/>
              </a:solidFill>
              <a:latin typeface="メイリオ"/>
              <a:ea typeface="メイリオ"/>
              <a:cs typeface="メイリオ"/>
            </a:endParaRPr>
          </a:p>
        </p:txBody>
      </p:sp>
      <p:sp>
        <p:nvSpPr>
          <p:cNvPr id="46" name="台形 45">
            <a:extLst>
              <a:ext uri="{FF2B5EF4-FFF2-40B4-BE49-F238E27FC236}">
                <a16:creationId xmlns:a16="http://schemas.microsoft.com/office/drawing/2014/main" id="{770C8367-24F5-979C-4481-908DE742DF1B}"/>
              </a:ext>
            </a:extLst>
          </p:cNvPr>
          <p:cNvSpPr/>
          <p:nvPr/>
        </p:nvSpPr>
        <p:spPr>
          <a:xfrm rot="10800000">
            <a:off x="7611914" y="572507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47" name="テキスト ボックス 46">
            <a:extLst>
              <a:ext uri="{FF2B5EF4-FFF2-40B4-BE49-F238E27FC236}">
                <a16:creationId xmlns:a16="http://schemas.microsoft.com/office/drawing/2014/main" id="{1353124E-927F-8496-8FC6-E6DD494A8DEA}"/>
              </a:ext>
            </a:extLst>
          </p:cNvPr>
          <p:cNvSpPr txBox="1"/>
          <p:nvPr/>
        </p:nvSpPr>
        <p:spPr>
          <a:xfrm>
            <a:off x="7655205" y="5785358"/>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定期購入・クロスセル</a:t>
            </a:r>
            <a:endParaRPr kumimoji="1" lang="en-US" altLang="ja-JP" sz="9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900" b="1" dirty="0">
                <a:solidFill>
                  <a:schemeClr val="bg1"/>
                </a:solidFill>
                <a:latin typeface="メイリオ" panose="020B0604030504040204" pitchFamily="50" charset="-128"/>
                <a:ea typeface="メイリオ" panose="020B0604030504040204" pitchFamily="50" charset="-128"/>
                <a:cs typeface="メイリオ"/>
              </a:rPr>
              <a:t>商材への動線設計</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48" name="台形 47">
            <a:extLst>
              <a:ext uri="{FF2B5EF4-FFF2-40B4-BE49-F238E27FC236}">
                <a16:creationId xmlns:a16="http://schemas.microsoft.com/office/drawing/2014/main" id="{BAFBCC32-B244-9AC5-0A18-C121D3B9BCDA}"/>
              </a:ext>
            </a:extLst>
          </p:cNvPr>
          <p:cNvSpPr/>
          <p:nvPr/>
        </p:nvSpPr>
        <p:spPr>
          <a:xfrm rot="10800000">
            <a:off x="7611914" y="5183481"/>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49" name="テキスト ボックス 48">
            <a:extLst>
              <a:ext uri="{FF2B5EF4-FFF2-40B4-BE49-F238E27FC236}">
                <a16:creationId xmlns:a16="http://schemas.microsoft.com/office/drawing/2014/main" id="{19BD53B7-C509-F64E-CB4B-C6D3341F3AD5}"/>
              </a:ext>
            </a:extLst>
          </p:cNvPr>
          <p:cNvSpPr txBox="1"/>
          <p:nvPr/>
        </p:nvSpPr>
        <p:spPr>
          <a:xfrm>
            <a:off x="7655205" y="5315094"/>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cs typeface="メイリオ"/>
              </a:rPr>
              <a:t>※ID</a:t>
            </a: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連携特典等を表示</a:t>
            </a:r>
          </a:p>
        </p:txBody>
      </p:sp>
      <p:sp>
        <p:nvSpPr>
          <p:cNvPr id="50" name="台形 49">
            <a:extLst>
              <a:ext uri="{FF2B5EF4-FFF2-40B4-BE49-F238E27FC236}">
                <a16:creationId xmlns:a16="http://schemas.microsoft.com/office/drawing/2014/main" id="{3941D3AF-378C-FC85-0F44-DC7CE1041E69}"/>
              </a:ext>
            </a:extLst>
          </p:cNvPr>
          <p:cNvSpPr/>
          <p:nvPr/>
        </p:nvSpPr>
        <p:spPr>
          <a:xfrm rot="10800000">
            <a:off x="7611914" y="4683087"/>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51" name="テキスト ボックス 50">
            <a:extLst>
              <a:ext uri="{FF2B5EF4-FFF2-40B4-BE49-F238E27FC236}">
                <a16:creationId xmlns:a16="http://schemas.microsoft.com/office/drawing/2014/main" id="{04C3D2CB-85C1-FE9F-4777-E7D3AB629F25}"/>
              </a:ext>
            </a:extLst>
          </p:cNvPr>
          <p:cNvSpPr txBox="1"/>
          <p:nvPr/>
        </p:nvSpPr>
        <p:spPr>
          <a:xfrm>
            <a:off x="7655205" y="4814700"/>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cs typeface="メイリオ"/>
              </a:rPr>
              <a:t>※</a:t>
            </a: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ミニアプリ・診断 →</a:t>
            </a:r>
            <a:r>
              <a:rPr lang="en-US" altLang="ja-JP" sz="900" b="1" dirty="0">
                <a:solidFill>
                  <a:schemeClr val="bg1"/>
                </a:solidFill>
                <a:latin typeface="メイリオ" panose="020B0604030504040204" pitchFamily="50" charset="-128"/>
                <a:ea typeface="メイリオ" panose="020B0604030504040204" pitchFamily="50" charset="-128"/>
                <a:cs typeface="メイリオ"/>
              </a:rPr>
              <a:t> </a:t>
            </a:r>
            <a:r>
              <a:rPr lang="ja-JP" altLang="en-US" sz="900" b="1" dirty="0">
                <a:solidFill>
                  <a:schemeClr val="bg1"/>
                </a:solidFill>
                <a:latin typeface="メイリオ" panose="020B0604030504040204" pitchFamily="50" charset="-128"/>
                <a:ea typeface="メイリオ" panose="020B0604030504040204" pitchFamily="50" charset="-128"/>
                <a:cs typeface="メイリオ"/>
              </a:rPr>
              <a:t>特典</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57" name="台形 56">
            <a:extLst>
              <a:ext uri="{FF2B5EF4-FFF2-40B4-BE49-F238E27FC236}">
                <a16:creationId xmlns:a16="http://schemas.microsoft.com/office/drawing/2014/main" id="{B65081E4-37AB-CFC9-6ADB-B4EEA7844473}"/>
              </a:ext>
            </a:extLst>
          </p:cNvPr>
          <p:cNvSpPr/>
          <p:nvPr/>
        </p:nvSpPr>
        <p:spPr>
          <a:xfrm rot="10800000">
            <a:off x="8075757" y="6244548"/>
            <a:ext cx="1826395" cy="265450"/>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58" name="テキスト ボックス 57">
            <a:extLst>
              <a:ext uri="{FF2B5EF4-FFF2-40B4-BE49-F238E27FC236}">
                <a16:creationId xmlns:a16="http://schemas.microsoft.com/office/drawing/2014/main" id="{84FBB3DE-B0A1-98BB-3108-365CAA2451B5}"/>
              </a:ext>
            </a:extLst>
          </p:cNvPr>
          <p:cNvSpPr txBox="1"/>
          <p:nvPr/>
        </p:nvSpPr>
        <p:spPr>
          <a:xfrm>
            <a:off x="8198333" y="6267085"/>
            <a:ext cx="1581242" cy="246221"/>
          </a:xfrm>
          <a:prstGeom prst="rect">
            <a:avLst/>
          </a:prstGeom>
          <a:noFill/>
        </p:spPr>
        <p:txBody>
          <a:bodyPr wrap="square">
            <a:spAutoFit/>
          </a:bodyPr>
          <a:lstStyle/>
          <a:p>
            <a:pPr algn="ctr"/>
            <a:r>
              <a:rPr kumimoji="1" lang="en-US" altLang="ja-JP" sz="1000" dirty="0">
                <a:solidFill>
                  <a:schemeClr val="bg1"/>
                </a:solidFill>
                <a:latin typeface="メイリオ" panose="020B0604030504040204" pitchFamily="50" charset="-128"/>
                <a:ea typeface="メイリオ" panose="020B0604030504040204" pitchFamily="50" charset="-128"/>
                <a:cs typeface="メイリオ"/>
              </a:rPr>
              <a:t>※</a:t>
            </a:r>
            <a:r>
              <a:rPr kumimoji="1" lang="ja-JP" altLang="en-US" sz="1000" dirty="0">
                <a:solidFill>
                  <a:schemeClr val="bg1"/>
                </a:solidFill>
                <a:latin typeface="メイリオ" panose="020B0604030504040204" pitchFamily="50" charset="-128"/>
                <a:ea typeface="メイリオ" panose="020B0604030504040204" pitchFamily="50" charset="-128"/>
                <a:cs typeface="メイリオ"/>
              </a:rPr>
              <a:t>長期施策として想定</a:t>
            </a:r>
          </a:p>
        </p:txBody>
      </p:sp>
      <p:sp>
        <p:nvSpPr>
          <p:cNvPr id="38" name="台形 37">
            <a:extLst>
              <a:ext uri="{FF2B5EF4-FFF2-40B4-BE49-F238E27FC236}">
                <a16:creationId xmlns:a16="http://schemas.microsoft.com/office/drawing/2014/main" id="{E53AF788-4E7A-2498-3387-439141AF8B85}"/>
              </a:ext>
            </a:extLst>
          </p:cNvPr>
          <p:cNvSpPr/>
          <p:nvPr/>
        </p:nvSpPr>
        <p:spPr>
          <a:xfrm rot="10800000" flipV="1">
            <a:off x="5413000" y="2265395"/>
            <a:ext cx="1826395" cy="3929946"/>
          </a:xfrm>
          <a:prstGeom prst="trapezoid">
            <a:avLst>
              <a:gd name="adj" fmla="val 0"/>
            </a:avLst>
          </a:prstGeom>
          <a:solidFill>
            <a:schemeClr val="bg1">
              <a:lumMod val="95000"/>
              <a:alpha val="67000"/>
            </a:schemeClr>
          </a:solidFill>
          <a:ln w="952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cs typeface="メイリオ"/>
              </a:rPr>
              <a:t>ヒアリングの上</a:t>
            </a:r>
            <a:endParaRPr lang="en-US" altLang="ja-JP" sz="105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確定</a:t>
            </a:r>
          </a:p>
        </p:txBody>
      </p:sp>
      <p:sp>
        <p:nvSpPr>
          <p:cNvPr id="12" name="矢印: 下 11">
            <a:extLst>
              <a:ext uri="{FF2B5EF4-FFF2-40B4-BE49-F238E27FC236}">
                <a16:creationId xmlns:a16="http://schemas.microsoft.com/office/drawing/2014/main" id="{06D6460A-91B3-70D3-5D14-11DFAD84B566}"/>
              </a:ext>
            </a:extLst>
          </p:cNvPr>
          <p:cNvSpPr/>
          <p:nvPr/>
        </p:nvSpPr>
        <p:spPr>
          <a:xfrm>
            <a:off x="4075746" y="1862186"/>
            <a:ext cx="1134047" cy="4292485"/>
          </a:xfrm>
          <a:prstGeom prst="downArrow">
            <a:avLst/>
          </a:prstGeom>
          <a:gradFill>
            <a:gsLst>
              <a:gs pos="0">
                <a:srgbClr val="FDFDFD"/>
              </a:gs>
              <a:gs pos="100000">
                <a:schemeClr val="accent3">
                  <a:lumMod val="20000"/>
                  <a:lumOff val="8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0" name="テキスト ボックス 19">
            <a:extLst>
              <a:ext uri="{FF2B5EF4-FFF2-40B4-BE49-F238E27FC236}">
                <a16:creationId xmlns:a16="http://schemas.microsoft.com/office/drawing/2014/main" id="{ED28F54A-7862-D06F-CFB5-B49F4F603D20}"/>
              </a:ext>
            </a:extLst>
          </p:cNvPr>
          <p:cNvSpPr txBox="1"/>
          <p:nvPr/>
        </p:nvSpPr>
        <p:spPr>
          <a:xfrm>
            <a:off x="3578823" y="5448078"/>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cs typeface="メイリオ"/>
              </a:rPr>
              <a:t>LINE </a:t>
            </a:r>
            <a:r>
              <a:rPr kumimoji="1" lang="ja-JP" altLang="en-US" sz="1200" b="1" dirty="0">
                <a:latin typeface="メイリオ" panose="020B0604030504040204" pitchFamily="50" charset="-128"/>
                <a:ea typeface="メイリオ" panose="020B0604030504040204" pitchFamily="50" charset="-128"/>
                <a:cs typeface="メイリオ"/>
              </a:rPr>
              <a:t>ミニアプリ</a:t>
            </a:r>
          </a:p>
        </p:txBody>
      </p:sp>
      <p:sp>
        <p:nvSpPr>
          <p:cNvPr id="21" name="テキスト ボックス 20">
            <a:extLst>
              <a:ext uri="{FF2B5EF4-FFF2-40B4-BE49-F238E27FC236}">
                <a16:creationId xmlns:a16="http://schemas.microsoft.com/office/drawing/2014/main" id="{56067991-5512-33D9-BAFF-EBE3BE4E55D1}"/>
              </a:ext>
            </a:extLst>
          </p:cNvPr>
          <p:cNvSpPr txBox="1"/>
          <p:nvPr/>
        </p:nvSpPr>
        <p:spPr>
          <a:xfrm>
            <a:off x="3578823" y="3803604"/>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cs typeface="メイリオ"/>
              </a:rPr>
              <a:t>LINE</a:t>
            </a:r>
            <a:r>
              <a:rPr kumimoji="1" lang="ja-JP" altLang="en-US" sz="1200" b="1" dirty="0">
                <a:latin typeface="メイリオ" panose="020B0604030504040204" pitchFamily="50" charset="-128"/>
                <a:ea typeface="メイリオ" panose="020B0604030504040204" pitchFamily="50" charset="-128"/>
                <a:cs typeface="メイリオ"/>
              </a:rPr>
              <a:t>友だち</a:t>
            </a:r>
          </a:p>
        </p:txBody>
      </p:sp>
      <p:sp>
        <p:nvSpPr>
          <p:cNvPr id="26" name="テキスト ボックス 25">
            <a:extLst>
              <a:ext uri="{FF2B5EF4-FFF2-40B4-BE49-F238E27FC236}">
                <a16:creationId xmlns:a16="http://schemas.microsoft.com/office/drawing/2014/main" id="{6182F190-E0A8-5EE1-D9A3-5B13AA74C67A}"/>
              </a:ext>
            </a:extLst>
          </p:cNvPr>
          <p:cNvSpPr txBox="1"/>
          <p:nvPr/>
        </p:nvSpPr>
        <p:spPr>
          <a:xfrm>
            <a:off x="3578823" y="3347800"/>
            <a:ext cx="2127892" cy="276999"/>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cs typeface="メイリオ"/>
              </a:rPr>
              <a:t>離脱防止バナー</a:t>
            </a:r>
          </a:p>
        </p:txBody>
      </p:sp>
      <p:sp>
        <p:nvSpPr>
          <p:cNvPr id="36" name="テキスト ボックス 35">
            <a:extLst>
              <a:ext uri="{FF2B5EF4-FFF2-40B4-BE49-F238E27FC236}">
                <a16:creationId xmlns:a16="http://schemas.microsoft.com/office/drawing/2014/main" id="{D60AE015-CFAC-BAED-064E-14583E6CD31A}"/>
              </a:ext>
            </a:extLst>
          </p:cNvPr>
          <p:cNvSpPr txBox="1"/>
          <p:nvPr/>
        </p:nvSpPr>
        <p:spPr>
          <a:xfrm>
            <a:off x="3578823" y="1982662"/>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cs typeface="メイリオ"/>
              </a:rPr>
              <a:t>接触</a:t>
            </a:r>
          </a:p>
        </p:txBody>
      </p:sp>
      <p:sp>
        <p:nvSpPr>
          <p:cNvPr id="39" name="テキスト ボックス 38">
            <a:extLst>
              <a:ext uri="{FF2B5EF4-FFF2-40B4-BE49-F238E27FC236}">
                <a16:creationId xmlns:a16="http://schemas.microsoft.com/office/drawing/2014/main" id="{BDD6B11B-082B-2EC1-7CA1-262D7193544D}"/>
              </a:ext>
            </a:extLst>
          </p:cNvPr>
          <p:cNvSpPr txBox="1"/>
          <p:nvPr/>
        </p:nvSpPr>
        <p:spPr>
          <a:xfrm>
            <a:off x="3685871" y="5900751"/>
            <a:ext cx="1913793" cy="461665"/>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cs typeface="メイリオ"/>
              </a:rPr>
              <a:t>自社</a:t>
            </a:r>
            <a:r>
              <a:rPr kumimoji="1" lang="en-US" altLang="ja-JP" sz="1200" b="1" dirty="0">
                <a:latin typeface="メイリオ" panose="020B0604030504040204" pitchFamily="50" charset="-128"/>
                <a:ea typeface="メイリオ" panose="020B0604030504040204" pitchFamily="50" charset="-128"/>
                <a:cs typeface="メイリオ"/>
              </a:rPr>
              <a:t>App/</a:t>
            </a:r>
            <a:r>
              <a:rPr kumimoji="1" lang="ja-JP" altLang="en-US" sz="1200" b="1" dirty="0">
                <a:latin typeface="メイリオ" panose="020B0604030504040204" pitchFamily="50" charset="-128"/>
                <a:ea typeface="メイリオ" panose="020B0604030504040204" pitchFamily="50" charset="-128"/>
                <a:cs typeface="メイリオ"/>
              </a:rPr>
              <a:t>ネットワーク</a:t>
            </a:r>
            <a:endParaRPr kumimoji="1" lang="en-US" altLang="ja-JP" sz="1200" b="1" dirty="0">
              <a:latin typeface="メイリオ" panose="020B0604030504040204" pitchFamily="50" charset="-128"/>
              <a:ea typeface="メイリオ" panose="020B0604030504040204" pitchFamily="50" charset="-128"/>
              <a:cs typeface="メイリオ"/>
            </a:endParaRPr>
          </a:p>
          <a:p>
            <a:pPr algn="ctr"/>
            <a:r>
              <a:rPr lang="ja-JP" altLang="en-US" sz="1200" b="1" dirty="0">
                <a:latin typeface="メイリオ" panose="020B0604030504040204" pitchFamily="50" charset="-128"/>
                <a:ea typeface="メイリオ" panose="020B0604030504040204" pitchFamily="50" charset="-128"/>
                <a:cs typeface="メイリオ"/>
              </a:rPr>
              <a:t>（</a:t>
            </a:r>
            <a:r>
              <a:rPr lang="en-US" altLang="ja-JP" sz="1200" b="1" dirty="0">
                <a:latin typeface="メイリオ" panose="020B0604030504040204" pitchFamily="50" charset="-128"/>
                <a:ea typeface="メイリオ" panose="020B0604030504040204" pitchFamily="50" charset="-128"/>
                <a:cs typeface="メイリオ"/>
              </a:rPr>
              <a:t>ID</a:t>
            </a:r>
            <a:r>
              <a:rPr lang="ja-JP" altLang="en-US" sz="1200" b="1" dirty="0">
                <a:latin typeface="メイリオ" panose="020B0604030504040204" pitchFamily="50" charset="-128"/>
                <a:ea typeface="メイリオ" panose="020B0604030504040204" pitchFamily="50" charset="-128"/>
                <a:cs typeface="メイリオ"/>
              </a:rPr>
              <a:t>連携等の開発）</a:t>
            </a:r>
            <a:endParaRPr kumimoji="1" lang="ja-JP" altLang="en-US" sz="1200" b="1" dirty="0">
              <a:latin typeface="メイリオ" panose="020B0604030504040204" pitchFamily="50" charset="-128"/>
              <a:ea typeface="メイリオ" panose="020B0604030504040204" pitchFamily="50" charset="-128"/>
              <a:cs typeface="メイリオ"/>
            </a:endParaRPr>
          </a:p>
        </p:txBody>
      </p:sp>
      <p:sp>
        <p:nvSpPr>
          <p:cNvPr id="40" name="テキスト ボックス 39">
            <a:extLst>
              <a:ext uri="{FF2B5EF4-FFF2-40B4-BE49-F238E27FC236}">
                <a16:creationId xmlns:a16="http://schemas.microsoft.com/office/drawing/2014/main" id="{5842F9D0-B398-BB40-E6E0-1806610B3ABF}"/>
              </a:ext>
            </a:extLst>
          </p:cNvPr>
          <p:cNvSpPr txBox="1"/>
          <p:nvPr/>
        </p:nvSpPr>
        <p:spPr>
          <a:xfrm>
            <a:off x="3578823" y="2650866"/>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cs typeface="メイリオ"/>
              </a:rPr>
              <a:t>離脱</a:t>
            </a:r>
          </a:p>
        </p:txBody>
      </p:sp>
      <p:sp>
        <p:nvSpPr>
          <p:cNvPr id="42" name="テキスト ボックス 41">
            <a:extLst>
              <a:ext uri="{FF2B5EF4-FFF2-40B4-BE49-F238E27FC236}">
                <a16:creationId xmlns:a16="http://schemas.microsoft.com/office/drawing/2014/main" id="{65925534-D40D-9B46-2A4B-52FA9BA609A2}"/>
              </a:ext>
            </a:extLst>
          </p:cNvPr>
          <p:cNvSpPr txBox="1"/>
          <p:nvPr/>
        </p:nvSpPr>
        <p:spPr>
          <a:xfrm>
            <a:off x="3578823" y="4271087"/>
            <a:ext cx="2127892" cy="276999"/>
          </a:xfrm>
          <a:prstGeom prst="rect">
            <a:avLst/>
          </a:prstGeom>
          <a:noFill/>
        </p:spPr>
        <p:txBody>
          <a:bodyPr wrap="square">
            <a:spAutoFit/>
          </a:bodyPr>
          <a:lstStyle/>
          <a:p>
            <a:pPr algn="ctr"/>
            <a:r>
              <a:rPr lang="en-US" altLang="ja-JP" sz="1200" b="1" dirty="0">
                <a:latin typeface="メイリオ" panose="020B0604030504040204" pitchFamily="50" charset="-128"/>
                <a:ea typeface="メイリオ" panose="020B0604030504040204" pitchFamily="50" charset="-128"/>
                <a:cs typeface="メイリオ"/>
              </a:rPr>
              <a:t>LINE</a:t>
            </a:r>
            <a:r>
              <a:rPr lang="ja-JP" altLang="en-US" sz="1200" b="1" dirty="0">
                <a:latin typeface="メイリオ" panose="020B0604030504040204" pitchFamily="50" charset="-128"/>
                <a:ea typeface="メイリオ" panose="020B0604030504040204" pitchFamily="50" charset="-128"/>
                <a:cs typeface="メイリオ"/>
              </a:rPr>
              <a:t>でログイン</a:t>
            </a:r>
          </a:p>
        </p:txBody>
      </p:sp>
    </p:spTree>
    <p:extLst>
      <p:ext uri="{BB962C8B-B14F-4D97-AF65-F5344CB8AC3E}">
        <p14:creationId xmlns:p14="http://schemas.microsoft.com/office/powerpoint/2010/main" val="426513679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BCB9F207-E933-48A8-A62B-47A12C4BFADB}"/>
              </a:ext>
            </a:extLst>
          </p:cNvPr>
          <p:cNvSpPr/>
          <p:nvPr/>
        </p:nvSpPr>
        <p:spPr>
          <a:xfrm>
            <a:off x="788963" y="824934"/>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ユーザーコミュニケーションに、</a:t>
            </a: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LINE公式アカウントを導入する</a:t>
            </a:r>
            <a:r>
              <a:rPr lang="ja-JP" altLang="en-US" sz="1400" dirty="0">
                <a:solidFill>
                  <a:srgbClr val="343434"/>
                </a:solidFill>
                <a:latin typeface="メイリオ" panose="020B0604030504040204" pitchFamily="50" charset="-128"/>
                <a:ea typeface="メイリオ" panose="020B0604030504040204" pitchFamily="50" charset="-128"/>
                <a:cs typeface="メイリオ"/>
              </a:rPr>
              <a:t>法人</a:t>
            </a:r>
            <a:r>
              <a:rPr lang="en-US" altLang="ja-JP" sz="1400" dirty="0">
                <a:solidFill>
                  <a:srgbClr val="343434"/>
                </a:solidFill>
                <a:latin typeface="メイリオ" panose="020B0604030504040204" pitchFamily="50" charset="-128"/>
                <a:ea typeface="メイリオ" panose="020B0604030504040204" pitchFamily="50" charset="-128"/>
                <a:cs typeface="メイリオ"/>
              </a:rPr>
              <a:t>が</a:t>
            </a:r>
            <a:r>
              <a:rPr lang="ja-JP" altLang="en-US" sz="1400" dirty="0">
                <a:solidFill>
                  <a:srgbClr val="343434"/>
                </a:solidFill>
                <a:latin typeface="メイリオ" panose="020B0604030504040204" pitchFamily="50" charset="-128"/>
                <a:ea typeface="メイリオ" panose="020B0604030504040204" pitchFamily="50" charset="-128"/>
                <a:cs typeface="メイリオ"/>
              </a:rPr>
              <a:t>増加傾向</a:t>
            </a: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p>
          <a:p>
            <a:pPr algn="ctr">
              <a:lnSpc>
                <a:spcPts val="2455"/>
              </a:lnSpc>
            </a:pPr>
            <a:r>
              <a:rPr lang="en-US" altLang="ja-JP" sz="1400" b="1" dirty="0">
                <a:solidFill>
                  <a:srgbClr val="343434"/>
                </a:solidFill>
                <a:latin typeface="メイリオ" panose="020B0604030504040204" pitchFamily="50" charset="-128"/>
                <a:ea typeface="メイリオ" panose="020B0604030504040204" pitchFamily="50" charset="-128"/>
                <a:cs typeface="メイリオ"/>
              </a:rPr>
              <a:t>開封率に関してはメールマガジンの6倍を誇る</a:t>
            </a:r>
            <a:r>
              <a:rPr lang="en-US" altLang="ja-JP" sz="1400" dirty="0">
                <a:solidFill>
                  <a:srgbClr val="343434"/>
                </a:solidFill>
                <a:latin typeface="メイリオ" panose="020B0604030504040204" pitchFamily="50" charset="-128"/>
                <a:ea typeface="メイリオ" panose="020B0604030504040204" pitchFamily="50" charset="-128"/>
                <a:cs typeface="メイリオ"/>
              </a:rPr>
              <a:t>と言われています。</a:t>
            </a:r>
          </a:p>
        </p:txBody>
      </p:sp>
      <p:cxnSp>
        <p:nvCxnSpPr>
          <p:cNvPr id="9" name="直線コネクタ 8">
            <a:extLst>
              <a:ext uri="{FF2B5EF4-FFF2-40B4-BE49-F238E27FC236}">
                <a16:creationId xmlns:a16="http://schemas.microsoft.com/office/drawing/2014/main" id="{CA93CA45-604C-4C3A-A630-6604E0B4FD4A}"/>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grpSp>
        <p:nvGrpSpPr>
          <p:cNvPr id="10" name="Group 2">
            <a:extLst>
              <a:ext uri="{FF2B5EF4-FFF2-40B4-BE49-F238E27FC236}">
                <a16:creationId xmlns:a16="http://schemas.microsoft.com/office/drawing/2014/main" id="{8411FB04-4378-9C1F-7198-DA25276CF8E2}"/>
              </a:ext>
            </a:extLst>
          </p:cNvPr>
          <p:cNvGrpSpPr/>
          <p:nvPr/>
        </p:nvGrpSpPr>
        <p:grpSpPr>
          <a:xfrm>
            <a:off x="788963" y="1653447"/>
            <a:ext cx="8366061" cy="731867"/>
            <a:chOff x="0" y="0"/>
            <a:chExt cx="3130995" cy="273901"/>
          </a:xfrm>
        </p:grpSpPr>
        <p:sp>
          <p:nvSpPr>
            <p:cNvPr id="11" name="Freeform 3">
              <a:extLst>
                <a:ext uri="{FF2B5EF4-FFF2-40B4-BE49-F238E27FC236}">
                  <a16:creationId xmlns:a16="http://schemas.microsoft.com/office/drawing/2014/main" id="{DA30BE06-7392-13FD-69EB-48890255A158}"/>
                </a:ext>
              </a:extLst>
            </p:cNvPr>
            <p:cNvSpPr/>
            <p:nvPr/>
          </p:nvSpPr>
          <p:spPr>
            <a:xfrm>
              <a:off x="0" y="0"/>
              <a:ext cx="3130995" cy="273901"/>
            </a:xfrm>
            <a:custGeom>
              <a:avLst/>
              <a:gdLst/>
              <a:ahLst/>
              <a:cxnLst/>
              <a:rect l="l" t="t" r="r" b="b"/>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9D9D9"/>
            </a:solidFill>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12" name="TextBox 4">
              <a:extLst>
                <a:ext uri="{FF2B5EF4-FFF2-40B4-BE49-F238E27FC236}">
                  <a16:creationId xmlns:a16="http://schemas.microsoft.com/office/drawing/2014/main" id="{C283FFE9-487F-ECFB-11D7-47B424A23DE5}"/>
                </a:ext>
              </a:extLst>
            </p:cNvPr>
            <p:cNvSpPr txBox="1"/>
            <p:nvPr/>
          </p:nvSpPr>
          <p:spPr>
            <a:xfrm>
              <a:off x="0" y="-47625"/>
              <a:ext cx="3130995" cy="321526"/>
            </a:xfrm>
            <a:prstGeom prst="rect">
              <a:avLst/>
            </a:prstGeom>
          </p:spPr>
          <p:txBody>
            <a:bodyPr lIns="29700" tIns="29700" rIns="29700" bIns="29700" rtlCol="0" anchor="ctr"/>
            <a:lstStyle/>
            <a:p>
              <a:pPr algn="ctr">
                <a:lnSpc>
                  <a:spcPts val="2455"/>
                </a:lnSpc>
              </a:pPr>
              <a:r>
                <a:rPr lang="ja-JP" altLang="en-US" sz="1400" dirty="0">
                  <a:solidFill>
                    <a:srgbClr val="040606"/>
                  </a:solidFill>
                  <a:latin typeface="メイリオ" panose="020B0604030504040204" pitchFamily="50" charset="-128"/>
                  <a:ea typeface="メイリオ" panose="020B0604030504040204" pitchFamily="50" charset="-128"/>
                  <a:cs typeface="メイリオ"/>
                </a:rPr>
                <a:t>　　　　</a:t>
              </a:r>
              <a:r>
                <a:rPr lang="en-US" sz="1400" dirty="0" err="1">
                  <a:solidFill>
                    <a:srgbClr val="040606"/>
                  </a:solidFill>
                  <a:latin typeface="メイリオ" panose="020B0604030504040204" pitchFamily="50" charset="-128"/>
                  <a:ea typeface="メイリオ" panose="020B0604030504040204" pitchFamily="50" charset="-128"/>
                  <a:cs typeface="メイリオ"/>
                </a:rPr>
                <a:t>メールマガジン</a:t>
              </a:r>
              <a:r>
                <a:rPr lang="ja-JP" altLang="en-US" sz="1400" dirty="0" err="1">
                  <a:solidFill>
                    <a:srgbClr val="040606"/>
                  </a:solidFill>
                  <a:latin typeface="メイリオ" panose="020B0604030504040204" pitchFamily="50" charset="-128"/>
                  <a:ea typeface="メイリオ" panose="020B0604030504040204" pitchFamily="50" charset="-128"/>
                  <a:cs typeface="メイリオ"/>
                </a:rPr>
                <a:t>、</a:t>
              </a:r>
              <a:r>
                <a:rPr lang="ja-JP" altLang="en-US" sz="1400" dirty="0">
                  <a:solidFill>
                    <a:srgbClr val="040606"/>
                  </a:solidFill>
                  <a:latin typeface="メイリオ" panose="020B0604030504040204" pitchFamily="50" charset="-128"/>
                  <a:ea typeface="メイリオ" panose="020B0604030504040204" pitchFamily="50" charset="-128"/>
                  <a:cs typeface="メイリオ"/>
                </a:rPr>
                <a:t>テレマーケティング </a:t>
              </a:r>
              <a:r>
                <a:rPr lang="en-US" sz="1400" dirty="0" err="1">
                  <a:solidFill>
                    <a:srgbClr val="040606"/>
                  </a:solidFill>
                  <a:latin typeface="メイリオ" panose="020B0604030504040204" pitchFamily="50" charset="-128"/>
                  <a:ea typeface="メイリオ" panose="020B0604030504040204" pitchFamily="50" charset="-128"/>
                  <a:cs typeface="メイリオ"/>
                </a:rPr>
                <a:t>が主流</a:t>
              </a:r>
              <a:endParaRPr lang="en-US" sz="1400" dirty="0">
                <a:solidFill>
                  <a:srgbClr val="040606"/>
                </a:solidFill>
                <a:latin typeface="メイリオ" panose="020B0604030504040204" pitchFamily="50" charset="-128"/>
                <a:ea typeface="メイリオ" panose="020B0604030504040204" pitchFamily="50" charset="-128"/>
                <a:cs typeface="メイリオ"/>
              </a:endParaRPr>
            </a:p>
          </p:txBody>
        </p:sp>
      </p:grpSp>
      <p:sp>
        <p:nvSpPr>
          <p:cNvPr id="13" name="Freeform 5">
            <a:extLst>
              <a:ext uri="{FF2B5EF4-FFF2-40B4-BE49-F238E27FC236}">
                <a16:creationId xmlns:a16="http://schemas.microsoft.com/office/drawing/2014/main" id="{92B274FD-6C4B-BF09-92C7-B918BFE86EBE}"/>
              </a:ext>
            </a:extLst>
          </p:cNvPr>
          <p:cNvSpPr/>
          <p:nvPr/>
        </p:nvSpPr>
        <p:spPr>
          <a:xfrm>
            <a:off x="1044952" y="1864063"/>
            <a:ext cx="586512" cy="415690"/>
          </a:xfrm>
          <a:custGeom>
            <a:avLst/>
            <a:gdLst/>
            <a:ahLst/>
            <a:cxnLst/>
            <a:rect l="l" t="t" r="r" b="b"/>
            <a:pathLst>
              <a:path w="586512" h="415690">
                <a:moveTo>
                  <a:pt x="0" y="0"/>
                </a:moveTo>
                <a:lnTo>
                  <a:pt x="586512" y="0"/>
                </a:lnTo>
                <a:lnTo>
                  <a:pt x="586512" y="415691"/>
                </a:lnTo>
                <a:lnTo>
                  <a:pt x="0" y="41569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4" name="Freeform 6">
            <a:extLst>
              <a:ext uri="{FF2B5EF4-FFF2-40B4-BE49-F238E27FC236}">
                <a16:creationId xmlns:a16="http://schemas.microsoft.com/office/drawing/2014/main" id="{BE4175CE-3408-B9E2-6CB8-BAD8904A8563}"/>
              </a:ext>
            </a:extLst>
          </p:cNvPr>
          <p:cNvSpPr/>
          <p:nvPr/>
        </p:nvSpPr>
        <p:spPr>
          <a:xfrm>
            <a:off x="1828420" y="1769085"/>
            <a:ext cx="385149" cy="302824"/>
          </a:xfrm>
          <a:custGeom>
            <a:avLst/>
            <a:gdLst/>
            <a:ahLst/>
            <a:cxnLst/>
            <a:rect l="l" t="t" r="r" b="b"/>
            <a:pathLst>
              <a:path w="385149" h="302824">
                <a:moveTo>
                  <a:pt x="0" y="0"/>
                </a:moveTo>
                <a:lnTo>
                  <a:pt x="385150" y="0"/>
                </a:lnTo>
                <a:lnTo>
                  <a:pt x="385150" y="302824"/>
                </a:lnTo>
                <a:lnTo>
                  <a:pt x="0" y="30282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grpSp>
        <p:nvGrpSpPr>
          <p:cNvPr id="15" name="Group 7">
            <a:extLst>
              <a:ext uri="{FF2B5EF4-FFF2-40B4-BE49-F238E27FC236}">
                <a16:creationId xmlns:a16="http://schemas.microsoft.com/office/drawing/2014/main" id="{0D673740-D652-7CA2-D522-30AA6E6BB082}"/>
              </a:ext>
            </a:extLst>
          </p:cNvPr>
          <p:cNvGrpSpPr/>
          <p:nvPr/>
        </p:nvGrpSpPr>
        <p:grpSpPr>
          <a:xfrm>
            <a:off x="4762596" y="2450266"/>
            <a:ext cx="418793" cy="197815"/>
            <a:chOff x="0" y="0"/>
            <a:chExt cx="812800" cy="383922"/>
          </a:xfrm>
        </p:grpSpPr>
        <p:sp>
          <p:nvSpPr>
            <p:cNvPr id="16" name="Freeform 8">
              <a:extLst>
                <a:ext uri="{FF2B5EF4-FFF2-40B4-BE49-F238E27FC236}">
                  <a16:creationId xmlns:a16="http://schemas.microsoft.com/office/drawing/2014/main" id="{EC35FB35-F0A3-935B-D05E-B8D1AE53C824}"/>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B44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7" name="TextBox 9">
              <a:extLst>
                <a:ext uri="{FF2B5EF4-FFF2-40B4-BE49-F238E27FC236}">
                  <a16:creationId xmlns:a16="http://schemas.microsoft.com/office/drawing/2014/main" id="{C69E28B5-A3A4-36F5-01DB-CB6A9BEF984F}"/>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a:latin typeface="メイリオ" panose="020B0604030504040204" pitchFamily="50" charset="-128"/>
                <a:ea typeface="メイリオ" panose="020B0604030504040204" pitchFamily="50" charset="-128"/>
                <a:cs typeface="メイリオ"/>
              </a:endParaRPr>
            </a:p>
          </p:txBody>
        </p:sp>
      </p:grpSp>
      <p:grpSp>
        <p:nvGrpSpPr>
          <p:cNvPr id="18" name="Group 10">
            <a:extLst>
              <a:ext uri="{FF2B5EF4-FFF2-40B4-BE49-F238E27FC236}">
                <a16:creationId xmlns:a16="http://schemas.microsoft.com/office/drawing/2014/main" id="{2D0D8876-267F-8994-0640-F07758F8E631}"/>
              </a:ext>
            </a:extLst>
          </p:cNvPr>
          <p:cNvGrpSpPr/>
          <p:nvPr/>
        </p:nvGrpSpPr>
        <p:grpSpPr>
          <a:xfrm>
            <a:off x="788963" y="2722429"/>
            <a:ext cx="8366061" cy="731867"/>
            <a:chOff x="0" y="0"/>
            <a:chExt cx="3130995" cy="273901"/>
          </a:xfrm>
        </p:grpSpPr>
        <p:sp>
          <p:nvSpPr>
            <p:cNvPr id="19" name="Freeform 11">
              <a:extLst>
                <a:ext uri="{FF2B5EF4-FFF2-40B4-BE49-F238E27FC236}">
                  <a16:creationId xmlns:a16="http://schemas.microsoft.com/office/drawing/2014/main" id="{C5CB9F64-A605-7D94-6D58-E12CBE069A72}"/>
                </a:ext>
              </a:extLst>
            </p:cNvPr>
            <p:cNvSpPr/>
            <p:nvPr/>
          </p:nvSpPr>
          <p:spPr>
            <a:xfrm>
              <a:off x="0" y="0"/>
              <a:ext cx="3130995" cy="273901"/>
            </a:xfrm>
            <a:custGeom>
              <a:avLst/>
              <a:gdLst/>
              <a:ahLst/>
              <a:cxnLst/>
              <a:rect l="l" t="t" r="r" b="b"/>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4F4E1"/>
            </a:solidFill>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20" name="TextBox 12">
              <a:extLst>
                <a:ext uri="{FF2B5EF4-FFF2-40B4-BE49-F238E27FC236}">
                  <a16:creationId xmlns:a16="http://schemas.microsoft.com/office/drawing/2014/main" id="{8175F01D-919F-5A71-EF4D-6A5F56166D72}"/>
                </a:ext>
              </a:extLst>
            </p:cNvPr>
            <p:cNvSpPr txBox="1"/>
            <p:nvPr/>
          </p:nvSpPr>
          <p:spPr>
            <a:xfrm>
              <a:off x="0" y="-47625"/>
              <a:ext cx="3130995" cy="321526"/>
            </a:xfrm>
            <a:prstGeom prst="rect">
              <a:avLst/>
            </a:prstGeom>
          </p:spPr>
          <p:txBody>
            <a:bodyPr lIns="29700" tIns="29700" rIns="29700" bIns="29700" rtlCol="0" anchor="ctr"/>
            <a:lstStyle/>
            <a:p>
              <a:pPr algn="ctr">
                <a:lnSpc>
                  <a:spcPts val="2455"/>
                </a:lnSpc>
              </a:pPr>
              <a:r>
                <a:rPr lang="ja-JP" altLang="en-US" sz="1400" b="1" dirty="0">
                  <a:solidFill>
                    <a:srgbClr val="00B900"/>
                  </a:solidFill>
                  <a:latin typeface="メイリオ" panose="020B0604030504040204" pitchFamily="50" charset="-128"/>
                  <a:ea typeface="メイリオ" panose="020B0604030504040204" pitchFamily="50" charset="-128"/>
                  <a:cs typeface="メイリオ"/>
                </a:rPr>
                <a:t>　　　　＋</a:t>
              </a:r>
              <a:r>
                <a:rPr lang="en-US" sz="1400" b="1" dirty="0">
                  <a:solidFill>
                    <a:srgbClr val="00B900"/>
                  </a:solidFill>
                  <a:latin typeface="メイリオ" panose="020B0604030504040204" pitchFamily="50" charset="-128"/>
                  <a:ea typeface="メイリオ" panose="020B0604030504040204" pitchFamily="50" charset="-128"/>
                  <a:cs typeface="メイリオ"/>
                </a:rPr>
                <a:t>LINE</a:t>
              </a:r>
              <a:r>
                <a:rPr lang="ja-JP" altLang="en-US" sz="1400" b="1" dirty="0">
                  <a:solidFill>
                    <a:srgbClr val="00B900"/>
                  </a:solidFill>
                  <a:latin typeface="メイリオ" panose="020B0604030504040204" pitchFamily="50" charset="-128"/>
                  <a:ea typeface="メイリオ" panose="020B0604030504040204" pitchFamily="50" charset="-128"/>
                  <a:cs typeface="メイリオ"/>
                </a:rPr>
                <a:t>公式アカウント</a:t>
              </a:r>
              <a:r>
                <a:rPr lang="en-US" sz="1400" b="1" dirty="0">
                  <a:solidFill>
                    <a:srgbClr val="00B900"/>
                  </a:solidFill>
                  <a:latin typeface="メイリオ" panose="020B0604030504040204" pitchFamily="50" charset="-128"/>
                  <a:ea typeface="メイリオ" panose="020B0604030504040204" pitchFamily="50" charset="-128"/>
                  <a:cs typeface="メイリオ"/>
                </a:rPr>
                <a:t> </a:t>
              </a:r>
              <a:r>
                <a:rPr lang="en-US" sz="1400" dirty="0" err="1">
                  <a:solidFill>
                    <a:srgbClr val="00B900"/>
                  </a:solidFill>
                  <a:latin typeface="メイリオ" panose="020B0604030504040204" pitchFamily="50" charset="-128"/>
                  <a:ea typeface="メイリオ" panose="020B0604030504040204" pitchFamily="50" charset="-128"/>
                  <a:cs typeface="メイリオ"/>
                </a:rPr>
                <a:t>が主流</a:t>
              </a:r>
              <a:endParaRPr lang="en-US" sz="1400" dirty="0">
                <a:solidFill>
                  <a:srgbClr val="00B900"/>
                </a:solidFill>
                <a:latin typeface="メイリオ" panose="020B0604030504040204" pitchFamily="50" charset="-128"/>
                <a:ea typeface="メイリオ" panose="020B0604030504040204" pitchFamily="50" charset="-128"/>
                <a:cs typeface="メイリオ"/>
              </a:endParaRPr>
            </a:p>
          </p:txBody>
        </p:sp>
      </p:grpSp>
      <p:sp>
        <p:nvSpPr>
          <p:cNvPr id="21" name="Freeform 13">
            <a:extLst>
              <a:ext uri="{FF2B5EF4-FFF2-40B4-BE49-F238E27FC236}">
                <a16:creationId xmlns:a16="http://schemas.microsoft.com/office/drawing/2014/main" id="{6FCF9A47-57C4-D983-7A09-62A1C2DDB6B4}"/>
              </a:ext>
            </a:extLst>
          </p:cNvPr>
          <p:cNvSpPr/>
          <p:nvPr/>
        </p:nvSpPr>
        <p:spPr>
          <a:xfrm>
            <a:off x="1184666" y="2810458"/>
            <a:ext cx="307084" cy="555808"/>
          </a:xfrm>
          <a:custGeom>
            <a:avLst/>
            <a:gdLst/>
            <a:ahLst/>
            <a:cxnLst/>
            <a:rect l="l" t="t" r="r" b="b"/>
            <a:pathLst>
              <a:path w="307084" h="555808">
                <a:moveTo>
                  <a:pt x="0" y="0"/>
                </a:moveTo>
                <a:lnTo>
                  <a:pt x="307084" y="0"/>
                </a:lnTo>
                <a:lnTo>
                  <a:pt x="307084" y="555808"/>
                </a:lnTo>
                <a:lnTo>
                  <a:pt x="0" y="555808"/>
                </a:lnTo>
                <a:lnTo>
                  <a:pt x="0" y="0"/>
                </a:lnTo>
                <a:close/>
              </a:path>
            </a:pathLst>
          </a:custGeom>
          <a:blipFill>
            <a:blip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2" name="Freeform 14">
            <a:extLst>
              <a:ext uri="{FF2B5EF4-FFF2-40B4-BE49-F238E27FC236}">
                <a16:creationId xmlns:a16="http://schemas.microsoft.com/office/drawing/2014/main" id="{EFB8EAC2-A5C6-6450-209B-316F851133C9}"/>
              </a:ext>
            </a:extLst>
          </p:cNvPr>
          <p:cNvSpPr/>
          <p:nvPr/>
        </p:nvSpPr>
        <p:spPr>
          <a:xfrm>
            <a:off x="1815677" y="2807175"/>
            <a:ext cx="397893" cy="397893"/>
          </a:xfrm>
          <a:custGeom>
            <a:avLst/>
            <a:gdLst/>
            <a:ahLst/>
            <a:cxnLst/>
            <a:rect l="l" t="t" r="r" b="b"/>
            <a:pathLst>
              <a:path w="397893" h="397893">
                <a:moveTo>
                  <a:pt x="0" y="0"/>
                </a:moveTo>
                <a:lnTo>
                  <a:pt x="397893" y="0"/>
                </a:lnTo>
                <a:lnTo>
                  <a:pt x="397893" y="397892"/>
                </a:lnTo>
                <a:lnTo>
                  <a:pt x="0" y="397892"/>
                </a:lnTo>
                <a:lnTo>
                  <a:pt x="0" y="0"/>
                </a:lnTo>
                <a:close/>
              </a:path>
            </a:pathLst>
          </a:custGeom>
          <a:blipFill>
            <a:blip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4" name="TextBox 16">
            <a:extLst>
              <a:ext uri="{FF2B5EF4-FFF2-40B4-BE49-F238E27FC236}">
                <a16:creationId xmlns:a16="http://schemas.microsoft.com/office/drawing/2014/main" id="{654B7271-F862-F3D1-E65A-6C75F2F9021C}"/>
              </a:ext>
            </a:extLst>
          </p:cNvPr>
          <p:cNvSpPr txBox="1"/>
          <p:nvPr/>
        </p:nvSpPr>
        <p:spPr>
          <a:xfrm>
            <a:off x="2903784" y="3579302"/>
            <a:ext cx="2520582" cy="302006"/>
          </a:xfrm>
          <a:prstGeom prst="rect">
            <a:avLst/>
          </a:prstGeom>
        </p:spPr>
        <p:txBody>
          <a:bodyPr lIns="0" tIns="0" rIns="0" bIns="0" rtlCol="0" anchor="t">
            <a:spAutoFit/>
          </a:bodyPr>
          <a:lstStyle/>
          <a:p>
            <a:pPr algn="ct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メールマガジン</a:t>
            </a:r>
          </a:p>
        </p:txBody>
      </p:sp>
      <p:grpSp>
        <p:nvGrpSpPr>
          <p:cNvPr id="26" name="Group 18">
            <a:extLst>
              <a:ext uri="{FF2B5EF4-FFF2-40B4-BE49-F238E27FC236}">
                <a16:creationId xmlns:a16="http://schemas.microsoft.com/office/drawing/2014/main" id="{E238BF15-71F6-4126-96D0-3C58C8B7CB25}"/>
              </a:ext>
            </a:extLst>
          </p:cNvPr>
          <p:cNvGrpSpPr/>
          <p:nvPr/>
        </p:nvGrpSpPr>
        <p:grpSpPr>
          <a:xfrm>
            <a:off x="4026555" y="3972737"/>
            <a:ext cx="275039" cy="129913"/>
            <a:chOff x="0" y="0"/>
            <a:chExt cx="812800" cy="383922"/>
          </a:xfrm>
        </p:grpSpPr>
        <p:sp>
          <p:nvSpPr>
            <p:cNvPr id="27" name="Freeform 19">
              <a:extLst>
                <a:ext uri="{FF2B5EF4-FFF2-40B4-BE49-F238E27FC236}">
                  <a16:creationId xmlns:a16="http://schemas.microsoft.com/office/drawing/2014/main" id="{49FE6727-4EE8-5C24-6048-CAC6C3CB48D0}"/>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0000"/>
            </a:solidFill>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28" name="TextBox 20">
              <a:extLst>
                <a:ext uri="{FF2B5EF4-FFF2-40B4-BE49-F238E27FC236}">
                  <a16:creationId xmlns:a16="http://schemas.microsoft.com/office/drawing/2014/main" id="{D00B2C25-C04A-579B-6514-18301F922DD2}"/>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sz="1400">
                <a:latin typeface="メイリオ" panose="020B0604030504040204" pitchFamily="50" charset="-128"/>
                <a:ea typeface="メイリオ" panose="020B0604030504040204" pitchFamily="50" charset="-128"/>
                <a:cs typeface="メイリオ"/>
              </a:endParaRPr>
            </a:p>
          </p:txBody>
        </p:sp>
      </p:grpSp>
      <p:sp>
        <p:nvSpPr>
          <p:cNvPr id="32" name="AutoShape 24">
            <a:extLst>
              <a:ext uri="{FF2B5EF4-FFF2-40B4-BE49-F238E27FC236}">
                <a16:creationId xmlns:a16="http://schemas.microsoft.com/office/drawing/2014/main" id="{E12D8DCD-6939-B3D3-8747-7AB267084175}"/>
              </a:ext>
            </a:extLst>
          </p:cNvPr>
          <p:cNvSpPr/>
          <p:nvPr/>
        </p:nvSpPr>
        <p:spPr>
          <a:xfrm>
            <a:off x="1044962" y="4660284"/>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33" name="TextBox 25">
            <a:extLst>
              <a:ext uri="{FF2B5EF4-FFF2-40B4-BE49-F238E27FC236}">
                <a16:creationId xmlns:a16="http://schemas.microsoft.com/office/drawing/2014/main" id="{27ACB4CE-9593-D530-6FC9-45474D0A87C8}"/>
              </a:ext>
            </a:extLst>
          </p:cNvPr>
          <p:cNvSpPr txBox="1"/>
          <p:nvPr/>
        </p:nvSpPr>
        <p:spPr>
          <a:xfrm>
            <a:off x="2752051" y="4197408"/>
            <a:ext cx="2937353" cy="302006"/>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入力が面倒・間違いが発生</a:t>
            </a:r>
          </a:p>
        </p:txBody>
      </p:sp>
      <p:sp>
        <p:nvSpPr>
          <p:cNvPr id="34" name="AutoShape 26">
            <a:extLst>
              <a:ext uri="{FF2B5EF4-FFF2-40B4-BE49-F238E27FC236}">
                <a16:creationId xmlns:a16="http://schemas.microsoft.com/office/drawing/2014/main" id="{9DFA3AA3-EC46-59A7-ACD8-CFBFB3E6AC42}"/>
              </a:ext>
            </a:extLst>
          </p:cNvPr>
          <p:cNvSpPr/>
          <p:nvPr/>
        </p:nvSpPr>
        <p:spPr>
          <a:xfrm>
            <a:off x="2752093" y="3967169"/>
            <a:ext cx="2952531" cy="11138"/>
          </a:xfrm>
          <a:prstGeom prst="line">
            <a:avLst/>
          </a:prstGeom>
          <a:ln w="19050" cap="flat">
            <a:solidFill>
              <a:srgbClr val="000000"/>
            </a:solidFill>
            <a:prstDash val="solid"/>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35" name="TextBox 27">
            <a:extLst>
              <a:ext uri="{FF2B5EF4-FFF2-40B4-BE49-F238E27FC236}">
                <a16:creationId xmlns:a16="http://schemas.microsoft.com/office/drawing/2014/main" id="{8CBB54AF-4E8A-1541-1FBC-0122997F4D92}"/>
              </a:ext>
            </a:extLst>
          </p:cNvPr>
          <p:cNvSpPr txBox="1"/>
          <p:nvPr/>
        </p:nvSpPr>
        <p:spPr>
          <a:xfrm>
            <a:off x="2752051" y="477562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迷惑メールなどに入る</a:t>
            </a:r>
          </a:p>
        </p:txBody>
      </p:sp>
      <p:sp>
        <p:nvSpPr>
          <p:cNvPr id="36" name="TextBox 28">
            <a:extLst>
              <a:ext uri="{FF2B5EF4-FFF2-40B4-BE49-F238E27FC236}">
                <a16:creationId xmlns:a16="http://schemas.microsoft.com/office/drawing/2014/main" id="{1890926C-AAF3-81C2-B57E-1FF89EF56E37}"/>
              </a:ext>
            </a:extLst>
          </p:cNvPr>
          <p:cNvSpPr txBox="1"/>
          <p:nvPr/>
        </p:nvSpPr>
        <p:spPr>
          <a:xfrm>
            <a:off x="2752051" y="535477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10％</a:t>
            </a:r>
          </a:p>
        </p:txBody>
      </p:sp>
      <p:sp>
        <p:nvSpPr>
          <p:cNvPr id="37" name="TextBox 29">
            <a:extLst>
              <a:ext uri="{FF2B5EF4-FFF2-40B4-BE49-F238E27FC236}">
                <a16:creationId xmlns:a16="http://schemas.microsoft.com/office/drawing/2014/main" id="{EBE70ABF-86A0-2A2F-6768-A1AE13D1152D}"/>
              </a:ext>
            </a:extLst>
          </p:cNvPr>
          <p:cNvSpPr txBox="1"/>
          <p:nvPr/>
        </p:nvSpPr>
        <p:spPr>
          <a:xfrm>
            <a:off x="2752051" y="5933924"/>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1時間</a:t>
            </a:r>
          </a:p>
        </p:txBody>
      </p:sp>
      <p:sp>
        <p:nvSpPr>
          <p:cNvPr id="38" name="AutoShape 30">
            <a:extLst>
              <a:ext uri="{FF2B5EF4-FFF2-40B4-BE49-F238E27FC236}">
                <a16:creationId xmlns:a16="http://schemas.microsoft.com/office/drawing/2014/main" id="{2AEB91F9-20AE-78E3-90FC-95BDACB17800}"/>
              </a:ext>
            </a:extLst>
          </p:cNvPr>
          <p:cNvSpPr/>
          <p:nvPr/>
        </p:nvSpPr>
        <p:spPr>
          <a:xfrm>
            <a:off x="1044994" y="5247985"/>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39" name="AutoShape 31">
            <a:extLst>
              <a:ext uri="{FF2B5EF4-FFF2-40B4-BE49-F238E27FC236}">
                <a16:creationId xmlns:a16="http://schemas.microsoft.com/office/drawing/2014/main" id="{8CA9232F-EFCD-0685-4172-87FA8B803443}"/>
              </a:ext>
            </a:extLst>
          </p:cNvPr>
          <p:cNvSpPr/>
          <p:nvPr/>
        </p:nvSpPr>
        <p:spPr>
          <a:xfrm>
            <a:off x="1044952" y="5806130"/>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40" name="TextBox 32">
            <a:extLst>
              <a:ext uri="{FF2B5EF4-FFF2-40B4-BE49-F238E27FC236}">
                <a16:creationId xmlns:a16="http://schemas.microsoft.com/office/drawing/2014/main" id="{0A70F695-8166-2256-5FDF-4F5178646823}"/>
              </a:ext>
            </a:extLst>
          </p:cNvPr>
          <p:cNvSpPr txBox="1"/>
          <p:nvPr/>
        </p:nvSpPr>
        <p:spPr>
          <a:xfrm>
            <a:off x="1184666" y="477916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到達</a:t>
            </a:r>
          </a:p>
        </p:txBody>
      </p:sp>
      <p:sp>
        <p:nvSpPr>
          <p:cNvPr id="41" name="TextBox 33">
            <a:extLst>
              <a:ext uri="{FF2B5EF4-FFF2-40B4-BE49-F238E27FC236}">
                <a16:creationId xmlns:a16="http://schemas.microsoft.com/office/drawing/2014/main" id="{85D3D6AF-3D79-C393-385D-3C63168F89A4}"/>
              </a:ext>
            </a:extLst>
          </p:cNvPr>
          <p:cNvSpPr txBox="1"/>
          <p:nvPr/>
        </p:nvSpPr>
        <p:spPr>
          <a:xfrm>
            <a:off x="1184666" y="5352087"/>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開封率</a:t>
            </a:r>
          </a:p>
        </p:txBody>
      </p:sp>
      <p:sp>
        <p:nvSpPr>
          <p:cNvPr id="42" name="TextBox 34">
            <a:extLst>
              <a:ext uri="{FF2B5EF4-FFF2-40B4-BE49-F238E27FC236}">
                <a16:creationId xmlns:a16="http://schemas.microsoft.com/office/drawing/2014/main" id="{C2F1559D-703E-EACC-8125-BCED5B42B895}"/>
              </a:ext>
            </a:extLst>
          </p:cNvPr>
          <p:cNvSpPr txBox="1"/>
          <p:nvPr/>
        </p:nvSpPr>
        <p:spPr>
          <a:xfrm>
            <a:off x="1184666" y="5933924"/>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開封まで</a:t>
            </a:r>
          </a:p>
        </p:txBody>
      </p:sp>
      <p:sp>
        <p:nvSpPr>
          <p:cNvPr id="47" name="Google Shape;156;p7"/>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sp>
        <p:nvSpPr>
          <p:cNvPr id="2" name="正方形/長方形 1">
            <a:extLst>
              <a:ext uri="{FF2B5EF4-FFF2-40B4-BE49-F238E27FC236}">
                <a16:creationId xmlns:a16="http://schemas.microsoft.com/office/drawing/2014/main" id="{89DE5776-5C26-CF86-01D7-D84844A782CF}"/>
              </a:ext>
            </a:extLst>
          </p:cNvPr>
          <p:cNvSpPr/>
          <p:nvPr/>
        </p:nvSpPr>
        <p:spPr>
          <a:xfrm>
            <a:off x="5783983" y="3545570"/>
            <a:ext cx="3333054" cy="2822520"/>
          </a:xfrm>
          <a:prstGeom prst="rect">
            <a:avLst/>
          </a:prstGeom>
          <a:solidFill>
            <a:srgbClr val="1F2A5C">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600" b="1">
              <a:latin typeface="メイリオ"/>
              <a:ea typeface="メイリオ"/>
              <a:cs typeface="メイリオ"/>
            </a:endParaRPr>
          </a:p>
        </p:txBody>
      </p:sp>
      <p:sp>
        <p:nvSpPr>
          <p:cNvPr id="3" name="AutoShape 15">
            <a:extLst>
              <a:ext uri="{FF2B5EF4-FFF2-40B4-BE49-F238E27FC236}">
                <a16:creationId xmlns:a16="http://schemas.microsoft.com/office/drawing/2014/main" id="{0D44F6AF-095D-1CA0-2D98-25F7DB03466E}"/>
              </a:ext>
            </a:extLst>
          </p:cNvPr>
          <p:cNvSpPr/>
          <p:nvPr/>
        </p:nvSpPr>
        <p:spPr>
          <a:xfrm>
            <a:off x="5946513" y="3983875"/>
            <a:ext cx="2952531" cy="11137"/>
          </a:xfrm>
          <a:prstGeom prst="line">
            <a:avLst/>
          </a:prstGeom>
          <a:ln w="19050" cap="flat">
            <a:solidFill>
              <a:srgbClr val="00B900"/>
            </a:solidFill>
            <a:prstDash val="solid"/>
            <a:headEnd type="none" w="sm" len="sm"/>
            <a:tailEnd type="none" w="sm" len="sm"/>
          </a:ln>
        </p:spPr>
        <p:txBody>
          <a:bodyPr/>
          <a:lstStyle/>
          <a:p>
            <a:endParaRPr lang="ja-JP" altLang="en-US" sz="1400" b="1">
              <a:latin typeface="メイリオ" panose="020B0604030504040204" pitchFamily="50" charset="-128"/>
              <a:ea typeface="メイリオ" panose="020B0604030504040204" pitchFamily="50" charset="-128"/>
              <a:cs typeface="メイリオ"/>
            </a:endParaRPr>
          </a:p>
        </p:txBody>
      </p:sp>
      <p:sp>
        <p:nvSpPr>
          <p:cNvPr id="4" name="TextBox 17">
            <a:extLst>
              <a:ext uri="{FF2B5EF4-FFF2-40B4-BE49-F238E27FC236}">
                <a16:creationId xmlns:a16="http://schemas.microsoft.com/office/drawing/2014/main" id="{53BD49FD-8C06-FB39-06D6-3CC078F782FE}"/>
              </a:ext>
            </a:extLst>
          </p:cNvPr>
          <p:cNvSpPr txBox="1"/>
          <p:nvPr/>
        </p:nvSpPr>
        <p:spPr>
          <a:xfrm>
            <a:off x="6162487" y="3579302"/>
            <a:ext cx="2520582" cy="294311"/>
          </a:xfrm>
          <a:prstGeom prst="rect">
            <a:avLst/>
          </a:prstGeom>
        </p:spPr>
        <p:txBody>
          <a:bodyPr lIns="0" tIns="0" rIns="0" bIns="0" rtlCol="0" anchor="t">
            <a:spAutoFit/>
          </a:bodyPr>
          <a:lstStyle/>
          <a:p>
            <a:pPr algn="ct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LINE</a:t>
            </a:r>
          </a:p>
        </p:txBody>
      </p:sp>
      <p:grpSp>
        <p:nvGrpSpPr>
          <p:cNvPr id="5" name="Group 21">
            <a:extLst>
              <a:ext uri="{FF2B5EF4-FFF2-40B4-BE49-F238E27FC236}">
                <a16:creationId xmlns:a16="http://schemas.microsoft.com/office/drawing/2014/main" id="{365678CD-DBE8-11A0-DE97-1E3489051004}"/>
              </a:ext>
            </a:extLst>
          </p:cNvPr>
          <p:cNvGrpSpPr/>
          <p:nvPr/>
        </p:nvGrpSpPr>
        <p:grpSpPr>
          <a:xfrm>
            <a:off x="7261679" y="3983875"/>
            <a:ext cx="322198" cy="152188"/>
            <a:chOff x="0" y="0"/>
            <a:chExt cx="812800" cy="383922"/>
          </a:xfrm>
        </p:grpSpPr>
        <p:sp>
          <p:nvSpPr>
            <p:cNvPr id="6" name="Freeform 22">
              <a:extLst>
                <a:ext uri="{FF2B5EF4-FFF2-40B4-BE49-F238E27FC236}">
                  <a16:creationId xmlns:a16="http://schemas.microsoft.com/office/drawing/2014/main" id="{FF803387-EA72-D3D7-22AE-52C01E0790A8}"/>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B449"/>
            </a:solidFill>
          </p:spPr>
          <p:txBody>
            <a:bodyPr/>
            <a:lstStyle/>
            <a:p>
              <a:endParaRPr lang="ja-JP" altLang="en-US" sz="1400" b="1">
                <a:latin typeface="メイリオ" panose="020B0604030504040204" pitchFamily="50" charset="-128"/>
                <a:ea typeface="メイリオ" panose="020B0604030504040204" pitchFamily="50" charset="-128"/>
                <a:cs typeface="メイリオ"/>
              </a:endParaRPr>
            </a:p>
          </p:txBody>
        </p:sp>
        <p:sp>
          <p:nvSpPr>
            <p:cNvPr id="7" name="TextBox 23">
              <a:extLst>
                <a:ext uri="{FF2B5EF4-FFF2-40B4-BE49-F238E27FC236}">
                  <a16:creationId xmlns:a16="http://schemas.microsoft.com/office/drawing/2014/main" id="{268D41FC-63F5-2C69-D721-47F5A47AB26E}"/>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sz="1400" b="1">
                <a:latin typeface="メイリオ" panose="020B0604030504040204" pitchFamily="50" charset="-128"/>
                <a:ea typeface="メイリオ" panose="020B0604030504040204" pitchFamily="50" charset="-128"/>
                <a:cs typeface="メイリオ"/>
              </a:endParaRPr>
            </a:p>
          </p:txBody>
        </p:sp>
      </p:grpSp>
      <p:sp>
        <p:nvSpPr>
          <p:cNvPr id="48" name="TextBox 35">
            <a:extLst>
              <a:ext uri="{FF2B5EF4-FFF2-40B4-BE49-F238E27FC236}">
                <a16:creationId xmlns:a16="http://schemas.microsoft.com/office/drawing/2014/main" id="{EF42718D-116E-9F31-BBCC-5F9118C59FCF}"/>
              </a:ext>
            </a:extLst>
          </p:cNvPr>
          <p:cNvSpPr txBox="1"/>
          <p:nvPr/>
        </p:nvSpPr>
        <p:spPr>
          <a:xfrm>
            <a:off x="5961733" y="4772936"/>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確実に届く</a:t>
            </a:r>
          </a:p>
        </p:txBody>
      </p:sp>
      <p:sp>
        <p:nvSpPr>
          <p:cNvPr id="49" name="TextBox 36">
            <a:extLst>
              <a:ext uri="{FF2B5EF4-FFF2-40B4-BE49-F238E27FC236}">
                <a16:creationId xmlns:a16="http://schemas.microsoft.com/office/drawing/2014/main" id="{BE477B33-5D35-D414-030E-C48CB175247D}"/>
              </a:ext>
            </a:extLst>
          </p:cNvPr>
          <p:cNvSpPr txBox="1"/>
          <p:nvPr/>
        </p:nvSpPr>
        <p:spPr>
          <a:xfrm>
            <a:off x="5961733" y="5352087"/>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60％</a:t>
            </a:r>
          </a:p>
        </p:txBody>
      </p:sp>
      <p:sp>
        <p:nvSpPr>
          <p:cNvPr id="50" name="TextBox 37">
            <a:extLst>
              <a:ext uri="{FF2B5EF4-FFF2-40B4-BE49-F238E27FC236}">
                <a16:creationId xmlns:a16="http://schemas.microsoft.com/office/drawing/2014/main" id="{0A436778-3336-3714-957B-826DFB9FCDBE}"/>
              </a:ext>
            </a:extLst>
          </p:cNvPr>
          <p:cNvSpPr txBox="1"/>
          <p:nvPr/>
        </p:nvSpPr>
        <p:spPr>
          <a:xfrm>
            <a:off x="5961733" y="5931237"/>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15分</a:t>
            </a:r>
          </a:p>
        </p:txBody>
      </p:sp>
      <p:sp>
        <p:nvSpPr>
          <p:cNvPr id="51" name="TextBox 38">
            <a:extLst>
              <a:ext uri="{FF2B5EF4-FFF2-40B4-BE49-F238E27FC236}">
                <a16:creationId xmlns:a16="http://schemas.microsoft.com/office/drawing/2014/main" id="{A5A10008-8C16-4E94-CB60-09FD258B3234}"/>
              </a:ext>
            </a:extLst>
          </p:cNvPr>
          <p:cNvSpPr txBox="1"/>
          <p:nvPr/>
        </p:nvSpPr>
        <p:spPr>
          <a:xfrm>
            <a:off x="5961733" y="4206140"/>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ワンタップで追加</a:t>
            </a:r>
          </a:p>
        </p:txBody>
      </p:sp>
    </p:spTree>
    <p:extLst>
      <p:ext uri="{BB962C8B-B14F-4D97-AF65-F5344CB8AC3E}">
        <p14:creationId xmlns:p14="http://schemas.microsoft.com/office/powerpoint/2010/main" val="175429713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0E416A61-B302-4BF8-8730-14A0C8808AB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BCB9F207-E933-48A8-A62B-47A12C4BFADB}"/>
              </a:ext>
            </a:extLst>
          </p:cNvPr>
          <p:cNvSpPr/>
          <p:nvPr/>
        </p:nvSpPr>
        <p:spPr>
          <a:xfrm>
            <a:off x="788963" y="793451"/>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今すぐ客」以外の</a:t>
            </a:r>
            <a:r>
              <a:rPr lang="ja-JP" altLang="en-US" sz="1400" dirty="0">
                <a:solidFill>
                  <a:srgbClr val="343434"/>
                </a:solidFill>
                <a:latin typeface="メイリオ" panose="020B0604030504040204" pitchFamily="50" charset="-128"/>
                <a:ea typeface="メイリオ" panose="020B0604030504040204" pitchFamily="50" charset="-128"/>
                <a:cs typeface="メイリオ"/>
              </a:rPr>
              <a:t>約</a:t>
            </a:r>
            <a:r>
              <a:rPr lang="en-US" altLang="ja-JP" sz="1400" dirty="0">
                <a:solidFill>
                  <a:srgbClr val="343434"/>
                </a:solidFill>
                <a:latin typeface="メイリオ" panose="020B0604030504040204" pitchFamily="50" charset="-128"/>
                <a:ea typeface="メイリオ" panose="020B0604030504040204" pitchFamily="50" charset="-128"/>
                <a:cs typeface="メイリオ"/>
              </a:rPr>
              <a:t>99％の層をリストマーケティングで顧客に引き上げることが重要。</a:t>
            </a:r>
          </a:p>
          <a:p>
            <a:pPr algn="ctr">
              <a:lnSpc>
                <a:spcPts val="2455"/>
              </a:lnSpc>
            </a:pP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結果として</a:t>
            </a:r>
            <a:r>
              <a:rPr lang="ja-JP" altLang="en-US" sz="1400" dirty="0" err="1">
                <a:solidFill>
                  <a:srgbClr val="343434"/>
                </a:solidFill>
                <a:latin typeface="メイリオ" panose="020B0604030504040204" pitchFamily="50" charset="-128"/>
                <a:ea typeface="メイリオ" panose="020B0604030504040204" pitchFamily="50" charset="-128"/>
                <a:cs typeface="メイリオ"/>
              </a:rPr>
              <a:t>、</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リード獲得率向上、</a:t>
            </a: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リピート率向上、売上向上に繋</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げ</a:t>
            </a:r>
            <a:r>
              <a:rPr lang="en-US" altLang="ja-JP" sz="1400" dirty="0">
                <a:solidFill>
                  <a:srgbClr val="343434"/>
                </a:solidFill>
                <a:latin typeface="メイリオ" panose="020B0604030504040204" pitchFamily="50" charset="-128"/>
                <a:ea typeface="メイリオ" panose="020B0604030504040204" pitchFamily="50" charset="-128"/>
                <a:cs typeface="メイリオ"/>
              </a:rPr>
              <a:t>る。</a:t>
            </a:r>
          </a:p>
        </p:txBody>
      </p:sp>
      <p:cxnSp>
        <p:nvCxnSpPr>
          <p:cNvPr id="5" name="直線コネクタ 4">
            <a:extLst>
              <a:ext uri="{FF2B5EF4-FFF2-40B4-BE49-F238E27FC236}">
                <a16:creationId xmlns:a16="http://schemas.microsoft.com/office/drawing/2014/main" id="{CA93CA45-604C-4C3A-A630-6604E0B4FD4A}"/>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grpSp>
        <p:nvGrpSpPr>
          <p:cNvPr id="6" name="Group 11">
            <a:extLst>
              <a:ext uri="{FF2B5EF4-FFF2-40B4-BE49-F238E27FC236}">
                <a16:creationId xmlns:a16="http://schemas.microsoft.com/office/drawing/2014/main" id="{FD51838A-D34F-466B-3A5A-09652D900BEB}"/>
              </a:ext>
            </a:extLst>
          </p:cNvPr>
          <p:cNvGrpSpPr/>
          <p:nvPr/>
        </p:nvGrpSpPr>
        <p:grpSpPr>
          <a:xfrm>
            <a:off x="3049695" y="2975186"/>
            <a:ext cx="1458934" cy="913844"/>
            <a:chOff x="0" y="0"/>
            <a:chExt cx="617887" cy="387031"/>
          </a:xfrm>
        </p:grpSpPr>
        <p:sp>
          <p:nvSpPr>
            <p:cNvPr id="8" name="Freeform 12">
              <a:extLst>
                <a:ext uri="{FF2B5EF4-FFF2-40B4-BE49-F238E27FC236}">
                  <a16:creationId xmlns:a16="http://schemas.microsoft.com/office/drawing/2014/main" id="{361A24A3-498E-8CCA-072B-BFF0D43720CF}"/>
                </a:ext>
              </a:extLst>
            </p:cNvPr>
            <p:cNvSpPr/>
            <p:nvPr/>
          </p:nvSpPr>
          <p:spPr>
            <a:xfrm>
              <a:off x="0" y="0"/>
              <a:ext cx="617887" cy="387031"/>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9" name="TextBox 13">
              <a:extLst>
                <a:ext uri="{FF2B5EF4-FFF2-40B4-BE49-F238E27FC236}">
                  <a16:creationId xmlns:a16="http://schemas.microsoft.com/office/drawing/2014/main" id="{2F7982DD-8DDE-BE65-D1C8-38F017EFAA9E}"/>
                </a:ext>
              </a:extLst>
            </p:cNvPr>
            <p:cNvSpPr txBox="1"/>
            <p:nvPr/>
          </p:nvSpPr>
          <p:spPr>
            <a:xfrm>
              <a:off x="0" y="-38100"/>
              <a:ext cx="617887" cy="425131"/>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10" name="AutoShape 14">
            <a:extLst>
              <a:ext uri="{FF2B5EF4-FFF2-40B4-BE49-F238E27FC236}">
                <a16:creationId xmlns:a16="http://schemas.microsoft.com/office/drawing/2014/main" id="{59178687-7B87-9112-285E-3FE124A7840D}"/>
              </a:ext>
            </a:extLst>
          </p:cNvPr>
          <p:cNvSpPr/>
          <p:nvPr/>
        </p:nvSpPr>
        <p:spPr>
          <a:xfrm flipV="1">
            <a:off x="637708" y="2862215"/>
            <a:ext cx="0" cy="3496153"/>
          </a:xfrm>
          <a:prstGeom prst="line">
            <a:avLst/>
          </a:prstGeom>
          <a:ln w="19050" cap="flat">
            <a:solidFill>
              <a:srgbClr val="737373"/>
            </a:solidFill>
            <a:prstDash val="solid"/>
            <a:headEnd type="none" w="sm" len="sm"/>
            <a:tailEnd type="arrow" w="med"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1" name="AutoShape 15">
            <a:extLst>
              <a:ext uri="{FF2B5EF4-FFF2-40B4-BE49-F238E27FC236}">
                <a16:creationId xmlns:a16="http://schemas.microsoft.com/office/drawing/2014/main" id="{2E944E85-C1E7-F939-7840-FEE3895A6217}"/>
              </a:ext>
            </a:extLst>
          </p:cNvPr>
          <p:cNvSpPr/>
          <p:nvPr/>
        </p:nvSpPr>
        <p:spPr>
          <a:xfrm>
            <a:off x="272396" y="6045613"/>
            <a:ext cx="4516804" cy="0"/>
          </a:xfrm>
          <a:prstGeom prst="line">
            <a:avLst/>
          </a:prstGeom>
          <a:ln w="19050" cap="flat">
            <a:solidFill>
              <a:srgbClr val="737373"/>
            </a:solidFill>
            <a:prstDash val="solid"/>
            <a:headEnd type="none" w="sm" len="sm"/>
            <a:tailEnd type="arrow" w="med"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grpSp>
        <p:nvGrpSpPr>
          <p:cNvPr id="12" name="Group 16">
            <a:extLst>
              <a:ext uri="{FF2B5EF4-FFF2-40B4-BE49-F238E27FC236}">
                <a16:creationId xmlns:a16="http://schemas.microsoft.com/office/drawing/2014/main" id="{ED4AC5BA-40AB-055B-93BE-A426AB6D2DD1}"/>
              </a:ext>
            </a:extLst>
          </p:cNvPr>
          <p:cNvGrpSpPr/>
          <p:nvPr/>
        </p:nvGrpSpPr>
        <p:grpSpPr>
          <a:xfrm>
            <a:off x="964199" y="2975186"/>
            <a:ext cx="1770851" cy="913844"/>
            <a:chOff x="0" y="0"/>
            <a:chExt cx="749990" cy="387031"/>
          </a:xfrm>
        </p:grpSpPr>
        <p:sp>
          <p:nvSpPr>
            <p:cNvPr id="13" name="Freeform 17">
              <a:extLst>
                <a:ext uri="{FF2B5EF4-FFF2-40B4-BE49-F238E27FC236}">
                  <a16:creationId xmlns:a16="http://schemas.microsoft.com/office/drawing/2014/main" id="{37852D43-B89A-3E8A-340C-86DBCB7EAE2C}"/>
                </a:ext>
              </a:extLst>
            </p:cNvPr>
            <p:cNvSpPr/>
            <p:nvPr/>
          </p:nvSpPr>
          <p:spPr>
            <a:xfrm>
              <a:off x="0" y="0"/>
              <a:ext cx="749990" cy="387031"/>
            </a:xfrm>
            <a:custGeom>
              <a:avLst/>
              <a:gdLst/>
              <a:ahLst/>
              <a:cxnLst/>
              <a:rect l="l" t="t" r="r" b="b"/>
              <a:pathLst>
                <a:path w="749990" h="387031">
                  <a:moveTo>
                    <a:pt x="0" y="0"/>
                  </a:moveTo>
                  <a:lnTo>
                    <a:pt x="749990" y="0"/>
                  </a:lnTo>
                  <a:lnTo>
                    <a:pt x="749990" y="387031"/>
                  </a:lnTo>
                  <a:lnTo>
                    <a:pt x="0" y="387031"/>
                  </a:lnTo>
                  <a:close/>
                </a:path>
              </a:pathLst>
            </a:custGeom>
            <a:solidFill>
              <a:srgbClr val="7BD47C"/>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4" name="TextBox 18">
              <a:extLst>
                <a:ext uri="{FF2B5EF4-FFF2-40B4-BE49-F238E27FC236}">
                  <a16:creationId xmlns:a16="http://schemas.microsoft.com/office/drawing/2014/main" id="{0038C48A-D57E-4C03-47F9-21556A2A60B4}"/>
                </a:ext>
              </a:extLst>
            </p:cNvPr>
            <p:cNvSpPr txBox="1"/>
            <p:nvPr/>
          </p:nvSpPr>
          <p:spPr>
            <a:xfrm>
              <a:off x="0" y="-38100"/>
              <a:ext cx="749990" cy="425131"/>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grpSp>
        <p:nvGrpSpPr>
          <p:cNvPr id="15" name="Group 19">
            <a:extLst>
              <a:ext uri="{FF2B5EF4-FFF2-40B4-BE49-F238E27FC236}">
                <a16:creationId xmlns:a16="http://schemas.microsoft.com/office/drawing/2014/main" id="{3507EDCA-E3B7-016A-2C53-E70338EE7F9D}"/>
              </a:ext>
            </a:extLst>
          </p:cNvPr>
          <p:cNvGrpSpPr/>
          <p:nvPr/>
        </p:nvGrpSpPr>
        <p:grpSpPr>
          <a:xfrm>
            <a:off x="964199" y="4203123"/>
            <a:ext cx="1770851" cy="1544458"/>
            <a:chOff x="0" y="0"/>
            <a:chExt cx="749990" cy="654108"/>
          </a:xfrm>
        </p:grpSpPr>
        <p:sp>
          <p:nvSpPr>
            <p:cNvPr id="16" name="Freeform 20">
              <a:extLst>
                <a:ext uri="{FF2B5EF4-FFF2-40B4-BE49-F238E27FC236}">
                  <a16:creationId xmlns:a16="http://schemas.microsoft.com/office/drawing/2014/main" id="{EDDE50AF-2F17-77D4-19B1-742225FD70A2}"/>
                </a:ext>
              </a:extLst>
            </p:cNvPr>
            <p:cNvSpPr/>
            <p:nvPr/>
          </p:nvSpPr>
          <p:spPr>
            <a:xfrm>
              <a:off x="0" y="0"/>
              <a:ext cx="749990" cy="654108"/>
            </a:xfrm>
            <a:custGeom>
              <a:avLst/>
              <a:gdLst/>
              <a:ahLst/>
              <a:cxnLst/>
              <a:rect l="l" t="t" r="r" b="b"/>
              <a:pathLst>
                <a:path w="749990" h="654108">
                  <a:moveTo>
                    <a:pt x="0" y="0"/>
                  </a:moveTo>
                  <a:lnTo>
                    <a:pt x="749990" y="0"/>
                  </a:lnTo>
                  <a:lnTo>
                    <a:pt x="749990" y="654108"/>
                  </a:lnTo>
                  <a:lnTo>
                    <a:pt x="0" y="654108"/>
                  </a:lnTo>
                  <a:close/>
                </a:path>
              </a:pathLst>
            </a:custGeom>
            <a:solidFill>
              <a:srgbClr val="025D27"/>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7" name="TextBox 21">
              <a:extLst>
                <a:ext uri="{FF2B5EF4-FFF2-40B4-BE49-F238E27FC236}">
                  <a16:creationId xmlns:a16="http://schemas.microsoft.com/office/drawing/2014/main" id="{7F07540F-73B0-D716-1131-982594039AED}"/>
                </a:ext>
              </a:extLst>
            </p:cNvPr>
            <p:cNvSpPr txBox="1"/>
            <p:nvPr/>
          </p:nvSpPr>
          <p:spPr>
            <a:xfrm>
              <a:off x="0" y="-38100"/>
              <a:ext cx="749990" cy="692208"/>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grpSp>
        <p:nvGrpSpPr>
          <p:cNvPr id="18" name="Group 22">
            <a:extLst>
              <a:ext uri="{FF2B5EF4-FFF2-40B4-BE49-F238E27FC236}">
                <a16:creationId xmlns:a16="http://schemas.microsoft.com/office/drawing/2014/main" id="{281B028B-385E-F452-024D-8BB94F4D83B8}"/>
              </a:ext>
            </a:extLst>
          </p:cNvPr>
          <p:cNvGrpSpPr/>
          <p:nvPr/>
        </p:nvGrpSpPr>
        <p:grpSpPr>
          <a:xfrm>
            <a:off x="3049695" y="4203123"/>
            <a:ext cx="1458934" cy="1544458"/>
            <a:chOff x="0" y="0"/>
            <a:chExt cx="617887" cy="654108"/>
          </a:xfrm>
        </p:grpSpPr>
        <p:sp>
          <p:nvSpPr>
            <p:cNvPr id="19" name="Freeform 23">
              <a:extLst>
                <a:ext uri="{FF2B5EF4-FFF2-40B4-BE49-F238E27FC236}">
                  <a16:creationId xmlns:a16="http://schemas.microsoft.com/office/drawing/2014/main" id="{22B22B83-BF89-287F-782C-53EFBE5EE2C9}"/>
                </a:ext>
              </a:extLst>
            </p:cNvPr>
            <p:cNvSpPr/>
            <p:nvPr/>
          </p:nvSpPr>
          <p:spPr>
            <a:xfrm>
              <a:off x="0" y="0"/>
              <a:ext cx="617887" cy="654108"/>
            </a:xfrm>
            <a:custGeom>
              <a:avLst/>
              <a:gdLst/>
              <a:ahLst/>
              <a:cxnLst/>
              <a:rect l="l" t="t" r="r" b="b"/>
              <a:pathLst>
                <a:path w="617887" h="654108">
                  <a:moveTo>
                    <a:pt x="0" y="0"/>
                  </a:moveTo>
                  <a:lnTo>
                    <a:pt x="617887" y="0"/>
                  </a:lnTo>
                  <a:lnTo>
                    <a:pt x="617887" y="654108"/>
                  </a:lnTo>
                  <a:lnTo>
                    <a:pt x="0" y="654108"/>
                  </a:lnTo>
                  <a:close/>
                </a:path>
              </a:pathLst>
            </a:custGeom>
            <a:solidFill>
              <a:srgbClr val="7BD47C"/>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0" name="TextBox 24">
              <a:extLst>
                <a:ext uri="{FF2B5EF4-FFF2-40B4-BE49-F238E27FC236}">
                  <a16:creationId xmlns:a16="http://schemas.microsoft.com/office/drawing/2014/main" id="{9342B319-ADE7-C21F-2EC5-DC47280C7AA5}"/>
                </a:ext>
              </a:extLst>
            </p:cNvPr>
            <p:cNvSpPr txBox="1"/>
            <p:nvPr/>
          </p:nvSpPr>
          <p:spPr>
            <a:xfrm>
              <a:off x="0" y="-38100"/>
              <a:ext cx="617887" cy="692208"/>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grpSp>
        <p:nvGrpSpPr>
          <p:cNvPr id="21" name="Group 25">
            <a:extLst>
              <a:ext uri="{FF2B5EF4-FFF2-40B4-BE49-F238E27FC236}">
                <a16:creationId xmlns:a16="http://schemas.microsoft.com/office/drawing/2014/main" id="{269BA4E8-CBA1-17CF-4B27-5586E44C9042}"/>
              </a:ext>
            </a:extLst>
          </p:cNvPr>
          <p:cNvGrpSpPr/>
          <p:nvPr/>
        </p:nvGrpSpPr>
        <p:grpSpPr>
          <a:xfrm rot="5400000">
            <a:off x="5145798" y="3131429"/>
            <a:ext cx="301414" cy="601358"/>
            <a:chOff x="0" y="0"/>
            <a:chExt cx="452282" cy="902360"/>
          </a:xfrm>
        </p:grpSpPr>
        <p:sp>
          <p:nvSpPr>
            <p:cNvPr id="22"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3"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24" name="TextBox 28">
            <a:extLst>
              <a:ext uri="{FF2B5EF4-FFF2-40B4-BE49-F238E27FC236}">
                <a16:creationId xmlns:a16="http://schemas.microsoft.com/office/drawing/2014/main" id="{5E157642-2D9B-689A-C2B2-A7717A07260A}"/>
              </a:ext>
            </a:extLst>
          </p:cNvPr>
          <p:cNvSpPr txBox="1"/>
          <p:nvPr/>
        </p:nvSpPr>
        <p:spPr>
          <a:xfrm>
            <a:off x="239660" y="4103553"/>
            <a:ext cx="187572" cy="654025"/>
          </a:xfrm>
          <a:prstGeom prst="rect">
            <a:avLst/>
          </a:prstGeom>
        </p:spPr>
        <p:txBody>
          <a:bodyPr wrap="square" lIns="0" tIns="0" rIns="0" bIns="0" rtlCol="0" anchor="t">
            <a:spAutoFit/>
          </a:bodyPr>
          <a:lstStyle/>
          <a:p>
            <a:pPr>
              <a:lnSpc>
                <a:spcPts val="1741"/>
              </a:lnSpc>
              <a:spcBef>
                <a:spcPct val="0"/>
              </a:spcBef>
            </a:pPr>
            <a:r>
              <a:rPr lang="en-US" sz="1243" b="1">
                <a:solidFill>
                  <a:srgbClr val="494848"/>
                </a:solidFill>
                <a:latin typeface="メイリオ" panose="020B0604030504040204" pitchFamily="50" charset="-128"/>
                <a:ea typeface="メイリオ" panose="020B0604030504040204" pitchFamily="50" charset="-128"/>
                <a:cs typeface="メイリオ"/>
              </a:rPr>
              <a:t>必要性</a:t>
            </a:r>
          </a:p>
        </p:txBody>
      </p:sp>
      <p:sp>
        <p:nvSpPr>
          <p:cNvPr id="25" name="TextBox 29">
            <a:extLst>
              <a:ext uri="{FF2B5EF4-FFF2-40B4-BE49-F238E27FC236}">
                <a16:creationId xmlns:a16="http://schemas.microsoft.com/office/drawing/2014/main" id="{E542051B-CCE6-131D-3645-4C3C8932C9AF}"/>
              </a:ext>
            </a:extLst>
          </p:cNvPr>
          <p:cNvSpPr txBox="1"/>
          <p:nvPr/>
        </p:nvSpPr>
        <p:spPr>
          <a:xfrm>
            <a:off x="2530798" y="6132696"/>
            <a:ext cx="633665" cy="218008"/>
          </a:xfrm>
          <a:prstGeom prst="rect">
            <a:avLst/>
          </a:prstGeom>
        </p:spPr>
        <p:txBody>
          <a:bodyPr wrap="square" lIns="0" tIns="0" rIns="0" bIns="0" rtlCol="0" anchor="t">
            <a:spAutoFit/>
          </a:bodyPr>
          <a:lstStyle/>
          <a:p>
            <a:pPr>
              <a:lnSpc>
                <a:spcPts val="1741"/>
              </a:lnSpc>
              <a:spcBef>
                <a:spcPct val="0"/>
              </a:spcBef>
            </a:pPr>
            <a:r>
              <a:rPr lang="en-US" sz="1243" b="1">
                <a:solidFill>
                  <a:srgbClr val="494848"/>
                </a:solidFill>
                <a:latin typeface="メイリオ" panose="020B0604030504040204" pitchFamily="50" charset="-128"/>
                <a:ea typeface="メイリオ" panose="020B0604030504040204" pitchFamily="50" charset="-128"/>
                <a:cs typeface="メイリオ"/>
              </a:rPr>
              <a:t>緊急性</a:t>
            </a:r>
          </a:p>
        </p:txBody>
      </p:sp>
      <p:sp>
        <p:nvSpPr>
          <p:cNvPr id="26" name="TextBox 30">
            <a:extLst>
              <a:ext uri="{FF2B5EF4-FFF2-40B4-BE49-F238E27FC236}">
                <a16:creationId xmlns:a16="http://schemas.microsoft.com/office/drawing/2014/main" id="{789AA7FE-BAB1-3DE7-B600-0D2687AE8FEF}"/>
              </a:ext>
            </a:extLst>
          </p:cNvPr>
          <p:cNvSpPr txBox="1"/>
          <p:nvPr/>
        </p:nvSpPr>
        <p:spPr>
          <a:xfrm>
            <a:off x="3462330" y="3120281"/>
            <a:ext cx="633665"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cs typeface="メイリオ"/>
              </a:rPr>
              <a:t>今すぐ客</a:t>
            </a:r>
          </a:p>
        </p:txBody>
      </p:sp>
      <p:sp>
        <p:nvSpPr>
          <p:cNvPr id="27" name="TextBox 31">
            <a:extLst>
              <a:ext uri="{FF2B5EF4-FFF2-40B4-BE49-F238E27FC236}">
                <a16:creationId xmlns:a16="http://schemas.microsoft.com/office/drawing/2014/main" id="{95B912FE-88DA-75EB-2906-07FA329A9879}"/>
              </a:ext>
            </a:extLst>
          </p:cNvPr>
          <p:cNvSpPr txBox="1"/>
          <p:nvPr/>
        </p:nvSpPr>
        <p:spPr>
          <a:xfrm>
            <a:off x="1381753" y="311530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cs typeface="メイリオ"/>
              </a:rPr>
              <a:t>そのうち客</a:t>
            </a:r>
          </a:p>
        </p:txBody>
      </p:sp>
      <p:sp>
        <p:nvSpPr>
          <p:cNvPr id="28" name="TextBox 32">
            <a:extLst>
              <a:ext uri="{FF2B5EF4-FFF2-40B4-BE49-F238E27FC236}">
                <a16:creationId xmlns:a16="http://schemas.microsoft.com/office/drawing/2014/main" id="{59D328C3-F2B3-6E79-96BF-D71386F2B39C}"/>
              </a:ext>
            </a:extLst>
          </p:cNvPr>
          <p:cNvSpPr txBox="1"/>
          <p:nvPr/>
        </p:nvSpPr>
        <p:spPr>
          <a:xfrm>
            <a:off x="1415156" y="438462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FFFFFF"/>
                </a:solidFill>
                <a:latin typeface="メイリオ" panose="020B0604030504040204" pitchFamily="50" charset="-128"/>
                <a:ea typeface="メイリオ" panose="020B0604030504040204" pitchFamily="50" charset="-128"/>
                <a:cs typeface="メイリオ"/>
              </a:rPr>
              <a:t>まだまだ客</a:t>
            </a:r>
          </a:p>
        </p:txBody>
      </p:sp>
      <p:sp>
        <p:nvSpPr>
          <p:cNvPr id="29" name="TextBox 33">
            <a:extLst>
              <a:ext uri="{FF2B5EF4-FFF2-40B4-BE49-F238E27FC236}">
                <a16:creationId xmlns:a16="http://schemas.microsoft.com/office/drawing/2014/main" id="{877B9BED-D0F9-E0E6-43A4-64BB48000261}"/>
              </a:ext>
            </a:extLst>
          </p:cNvPr>
          <p:cNvSpPr txBox="1"/>
          <p:nvPr/>
        </p:nvSpPr>
        <p:spPr>
          <a:xfrm>
            <a:off x="3344694" y="438462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cs typeface="メイリオ"/>
              </a:rPr>
              <a:t>お悩み客</a:t>
            </a:r>
          </a:p>
        </p:txBody>
      </p:sp>
      <p:sp>
        <p:nvSpPr>
          <p:cNvPr id="30" name="TextBox 34">
            <a:extLst>
              <a:ext uri="{FF2B5EF4-FFF2-40B4-BE49-F238E27FC236}">
                <a16:creationId xmlns:a16="http://schemas.microsoft.com/office/drawing/2014/main" id="{0401D261-C9B9-D74A-1CE2-30812B0B4154}"/>
              </a:ext>
            </a:extLst>
          </p:cNvPr>
          <p:cNvSpPr txBox="1"/>
          <p:nvPr/>
        </p:nvSpPr>
        <p:spPr>
          <a:xfrm>
            <a:off x="3462330" y="3384483"/>
            <a:ext cx="633665" cy="282129"/>
          </a:xfrm>
          <a:prstGeom prst="rect">
            <a:avLst/>
          </a:prstGeom>
        </p:spPr>
        <p:txBody>
          <a:bodyPr wrap="square" lIns="0" tIns="0" rIns="0" bIns="0" rtlCol="0" anchor="t">
            <a:spAutoFit/>
          </a:bodyPr>
          <a:lstStyle/>
          <a:p>
            <a:pPr algn="ctr">
              <a:lnSpc>
                <a:spcPts val="2176"/>
              </a:lnSpc>
              <a:spcBef>
                <a:spcPct val="0"/>
              </a:spcBef>
            </a:pPr>
            <a:r>
              <a:rPr lang="en-US" sz="1554" dirty="0">
                <a:solidFill>
                  <a:srgbClr val="494848"/>
                </a:solidFill>
                <a:latin typeface="メイリオ" panose="020B0604030504040204" pitchFamily="50" charset="-128"/>
                <a:ea typeface="メイリオ" panose="020B0604030504040204" pitchFamily="50" charset="-128"/>
                <a:cs typeface="メイリオ"/>
              </a:rPr>
              <a:t>1-2％</a:t>
            </a:r>
          </a:p>
        </p:txBody>
      </p:sp>
      <p:sp>
        <p:nvSpPr>
          <p:cNvPr id="31" name="TextBox 35">
            <a:extLst>
              <a:ext uri="{FF2B5EF4-FFF2-40B4-BE49-F238E27FC236}">
                <a16:creationId xmlns:a16="http://schemas.microsoft.com/office/drawing/2014/main" id="{D2A4C54E-2F37-07C2-DE48-A2E382EA3FF7}"/>
              </a:ext>
            </a:extLst>
          </p:cNvPr>
          <p:cNvSpPr txBox="1"/>
          <p:nvPr/>
        </p:nvSpPr>
        <p:spPr>
          <a:xfrm>
            <a:off x="1385749" y="3384483"/>
            <a:ext cx="927750" cy="564257"/>
          </a:xfrm>
          <a:prstGeom prst="rect">
            <a:avLst/>
          </a:prstGeom>
        </p:spPr>
        <p:txBody>
          <a:bodyPr wrap="square" lIns="0" tIns="0" rIns="0" bIns="0" rtlCol="0" anchor="t">
            <a:spAutoFit/>
          </a:bodyPr>
          <a:lstStyle/>
          <a:p>
            <a:pPr algn="ctr">
              <a:lnSpc>
                <a:spcPts val="2176"/>
              </a:lnSpc>
              <a:spcBef>
                <a:spcPct val="0"/>
              </a:spcBef>
            </a:pPr>
            <a:r>
              <a:rPr lang="en-US" altLang="ja-JP" sz="1554" dirty="0">
                <a:solidFill>
                  <a:srgbClr val="494848"/>
                </a:solidFill>
                <a:latin typeface="メイリオ" panose="020B0604030504040204" pitchFamily="50" charset="-128"/>
                <a:ea typeface="メイリオ" panose="020B0604030504040204" pitchFamily="50" charset="-128"/>
                <a:cs typeface="メイリオ"/>
              </a:rPr>
              <a:t>9-</a:t>
            </a:r>
            <a:r>
              <a:rPr lang="en-US" sz="1554" dirty="0">
                <a:solidFill>
                  <a:srgbClr val="494848"/>
                </a:solidFill>
                <a:latin typeface="メイリオ" panose="020B0604030504040204" pitchFamily="50" charset="-128"/>
                <a:ea typeface="メイリオ" panose="020B0604030504040204" pitchFamily="50" charset="-128"/>
                <a:cs typeface="メイリオ"/>
              </a:rPr>
              <a:t>9.5％</a:t>
            </a:r>
          </a:p>
        </p:txBody>
      </p:sp>
      <p:sp>
        <p:nvSpPr>
          <p:cNvPr id="32" name="TextBox 36">
            <a:extLst>
              <a:ext uri="{FF2B5EF4-FFF2-40B4-BE49-F238E27FC236}">
                <a16:creationId xmlns:a16="http://schemas.microsoft.com/office/drawing/2014/main" id="{E5AC4649-00C6-4888-D80C-1A7202D4D61C}"/>
              </a:ext>
            </a:extLst>
          </p:cNvPr>
          <p:cNvSpPr txBox="1"/>
          <p:nvPr/>
        </p:nvSpPr>
        <p:spPr>
          <a:xfrm>
            <a:off x="3315287" y="4823293"/>
            <a:ext cx="927750" cy="564257"/>
          </a:xfrm>
          <a:prstGeom prst="rect">
            <a:avLst/>
          </a:prstGeom>
        </p:spPr>
        <p:txBody>
          <a:bodyPr wrap="square" lIns="0" tIns="0" rIns="0" bIns="0" rtlCol="0" anchor="t">
            <a:spAutoFit/>
          </a:bodyPr>
          <a:lstStyle/>
          <a:p>
            <a:pPr algn="ctr">
              <a:lnSpc>
                <a:spcPts val="2176"/>
              </a:lnSpc>
              <a:spcBef>
                <a:spcPct val="0"/>
              </a:spcBef>
            </a:pPr>
            <a:r>
              <a:rPr lang="en-US" sz="1554" dirty="0">
                <a:solidFill>
                  <a:srgbClr val="494848"/>
                </a:solidFill>
                <a:latin typeface="メイリオ" panose="020B0604030504040204" pitchFamily="50" charset="-128"/>
                <a:ea typeface="メイリオ" panose="020B0604030504040204" pitchFamily="50" charset="-128"/>
                <a:cs typeface="メイリオ"/>
              </a:rPr>
              <a:t>9-9.5％</a:t>
            </a:r>
          </a:p>
        </p:txBody>
      </p:sp>
      <p:sp>
        <p:nvSpPr>
          <p:cNvPr id="33" name="TextBox 37">
            <a:extLst>
              <a:ext uri="{FF2B5EF4-FFF2-40B4-BE49-F238E27FC236}">
                <a16:creationId xmlns:a16="http://schemas.microsoft.com/office/drawing/2014/main" id="{F710B60A-9E92-C96A-5B26-805DEEDE4E80}"/>
              </a:ext>
            </a:extLst>
          </p:cNvPr>
          <p:cNvSpPr txBox="1"/>
          <p:nvPr/>
        </p:nvSpPr>
        <p:spPr>
          <a:xfrm>
            <a:off x="1532792" y="4823293"/>
            <a:ext cx="633665" cy="282129"/>
          </a:xfrm>
          <a:prstGeom prst="rect">
            <a:avLst/>
          </a:prstGeom>
        </p:spPr>
        <p:txBody>
          <a:bodyPr wrap="square" lIns="0" tIns="0" rIns="0" bIns="0" rtlCol="0" anchor="t">
            <a:spAutoFit/>
          </a:bodyPr>
          <a:lstStyle/>
          <a:p>
            <a:pPr algn="ctr">
              <a:lnSpc>
                <a:spcPts val="2176"/>
              </a:lnSpc>
              <a:spcBef>
                <a:spcPct val="0"/>
              </a:spcBef>
            </a:pPr>
            <a:r>
              <a:rPr lang="en-US" sz="1554">
                <a:solidFill>
                  <a:srgbClr val="FFFFFF"/>
                </a:solidFill>
                <a:latin typeface="メイリオ" panose="020B0604030504040204" pitchFamily="50" charset="-128"/>
                <a:ea typeface="メイリオ" panose="020B0604030504040204" pitchFamily="50" charset="-128"/>
                <a:cs typeface="メイリオ"/>
              </a:rPr>
              <a:t>80％</a:t>
            </a:r>
          </a:p>
        </p:txBody>
      </p:sp>
      <p:sp>
        <p:nvSpPr>
          <p:cNvPr id="34" name="TextBox 38">
            <a:extLst>
              <a:ext uri="{FF2B5EF4-FFF2-40B4-BE49-F238E27FC236}">
                <a16:creationId xmlns:a16="http://schemas.microsoft.com/office/drawing/2014/main" id="{5DBC0D5A-D55C-257A-51E2-CC2A6B58B8CE}"/>
              </a:ext>
            </a:extLst>
          </p:cNvPr>
          <p:cNvSpPr txBox="1"/>
          <p:nvPr/>
        </p:nvSpPr>
        <p:spPr>
          <a:xfrm>
            <a:off x="5800858" y="3159765"/>
            <a:ext cx="3788946" cy="539891"/>
          </a:xfrm>
          <a:prstGeom prst="rect">
            <a:avLst/>
          </a:prstGeom>
        </p:spPr>
        <p:txBody>
          <a:bodyPr wrap="square" lIns="0" tIns="0" rIns="0" bIns="0" rtlCol="0" anchor="t">
            <a:spAutoFit/>
          </a:bodyPr>
          <a:lstStyle/>
          <a:p>
            <a:pPr>
              <a:lnSpc>
                <a:spcPts val="2176"/>
              </a:lnSpc>
            </a:pPr>
            <a:r>
              <a:rPr lang="en-US" sz="1200" b="1" dirty="0">
                <a:solidFill>
                  <a:srgbClr val="494848"/>
                </a:solidFill>
                <a:latin typeface="メイリオ" panose="020B0604030504040204" pitchFamily="50" charset="-128"/>
                <a:ea typeface="メイリオ" panose="020B0604030504040204" pitchFamily="50" charset="-128"/>
                <a:cs typeface="メイリオ"/>
              </a:rPr>
              <a:t>「</a:t>
            </a:r>
            <a:r>
              <a:rPr lang="en-US" sz="1200" b="1" dirty="0" err="1">
                <a:solidFill>
                  <a:srgbClr val="494848"/>
                </a:solidFill>
                <a:latin typeface="メイリオ" panose="020B0604030504040204" pitchFamily="50" charset="-128"/>
                <a:ea typeface="メイリオ" panose="020B0604030504040204" pitchFamily="50" charset="-128"/>
                <a:cs typeface="メイリオ"/>
              </a:rPr>
              <a:t>今すぐ</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顧</a:t>
            </a:r>
            <a:r>
              <a:rPr lang="en-US" sz="1200" b="1" dirty="0" err="1">
                <a:solidFill>
                  <a:srgbClr val="494848"/>
                </a:solidFill>
                <a:latin typeface="メイリオ" panose="020B0604030504040204" pitchFamily="50" charset="-128"/>
                <a:ea typeface="メイリオ" panose="020B0604030504040204" pitchFamily="50" charset="-128"/>
                <a:cs typeface="メイリオ"/>
              </a:rPr>
              <a:t>客」を高い広告費を投資して獲得する</a:t>
            </a:r>
            <a:r>
              <a:rPr lang="ja-JP" altLang="en-US" sz="1200" b="1" dirty="0" err="1">
                <a:solidFill>
                  <a:srgbClr val="494848"/>
                </a:solidFill>
                <a:latin typeface="メイリオ" panose="020B0604030504040204" pitchFamily="50" charset="-128"/>
                <a:ea typeface="メイリオ" panose="020B0604030504040204" pitchFamily="50" charset="-128"/>
                <a:cs typeface="メイリオ"/>
              </a:rPr>
              <a:t>のは</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リスクが大きい。</a:t>
            </a:r>
            <a:endParaRPr lang="en-US" sz="1200" b="1" dirty="0">
              <a:solidFill>
                <a:srgbClr val="494848"/>
              </a:solidFill>
              <a:latin typeface="メイリオ" panose="020B0604030504040204" pitchFamily="50" charset="-128"/>
              <a:ea typeface="メイリオ" panose="020B0604030504040204" pitchFamily="50" charset="-128"/>
              <a:cs typeface="メイリオ"/>
            </a:endParaRPr>
          </a:p>
        </p:txBody>
      </p:sp>
      <p:sp>
        <p:nvSpPr>
          <p:cNvPr id="36" name="Freeform 40">
            <a:extLst>
              <a:ext uri="{FF2B5EF4-FFF2-40B4-BE49-F238E27FC236}">
                <a16:creationId xmlns:a16="http://schemas.microsoft.com/office/drawing/2014/main" id="{5A77A5D7-0DDE-21C2-51A5-84842B7243A6}"/>
              </a:ext>
            </a:extLst>
          </p:cNvPr>
          <p:cNvSpPr/>
          <p:nvPr/>
        </p:nvSpPr>
        <p:spPr>
          <a:xfrm rot="5400000">
            <a:off x="5145798" y="4206671"/>
            <a:ext cx="301414" cy="601358"/>
          </a:xfrm>
          <a:custGeom>
            <a:avLst/>
            <a:gdLst/>
            <a:ahLst/>
            <a:cxnLst/>
            <a:rect l="l" t="t" r="r" b="b"/>
            <a:pathLst>
              <a:path w="452282" h="902360">
                <a:moveTo>
                  <a:pt x="226141" y="0"/>
                </a:moveTo>
                <a:lnTo>
                  <a:pt x="452282" y="902360"/>
                </a:lnTo>
                <a:lnTo>
                  <a:pt x="0" y="902360"/>
                </a:lnTo>
                <a:lnTo>
                  <a:pt x="226141" y="0"/>
                </a:lnTo>
                <a:close/>
              </a:path>
            </a:pathLst>
          </a:custGeom>
          <a:solidFill>
            <a:srgbClr val="00FF00"/>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8" name="TextBox 42">
            <a:extLst>
              <a:ext uri="{FF2B5EF4-FFF2-40B4-BE49-F238E27FC236}">
                <a16:creationId xmlns:a16="http://schemas.microsoft.com/office/drawing/2014/main" id="{8A119429-976A-2BD7-EDD0-0C402786F523}"/>
              </a:ext>
            </a:extLst>
          </p:cNvPr>
          <p:cNvSpPr txBox="1"/>
          <p:nvPr/>
        </p:nvSpPr>
        <p:spPr>
          <a:xfrm>
            <a:off x="5800858" y="4237404"/>
            <a:ext cx="3889580" cy="539891"/>
          </a:xfrm>
          <a:prstGeom prst="rect">
            <a:avLst/>
          </a:prstGeom>
        </p:spPr>
        <p:txBody>
          <a:bodyPr wrap="square" lIns="0" tIns="0" rIns="0" bIns="0" rtlCol="0" anchor="t">
            <a:spAutoFit/>
          </a:bodyPr>
          <a:lstStyle/>
          <a:p>
            <a:pPr>
              <a:lnSpc>
                <a:spcPts val="2176"/>
              </a:lnSpc>
            </a:pPr>
            <a:r>
              <a:rPr lang="en-US" sz="1200" b="1" dirty="0" err="1">
                <a:solidFill>
                  <a:srgbClr val="494848"/>
                </a:solidFill>
                <a:latin typeface="メイリオ" panose="020B0604030504040204" pitchFamily="50" charset="-128"/>
                <a:ea typeface="メイリオ" panose="020B0604030504040204" pitchFamily="50" charset="-128"/>
                <a:cs typeface="メイリオ"/>
              </a:rPr>
              <a:t>リストとして獲得するだけでなく</a:t>
            </a:r>
            <a:endParaRPr lang="en-US" sz="1200"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en-US" sz="1200" b="1" dirty="0">
                <a:solidFill>
                  <a:srgbClr val="494848"/>
                </a:solidFill>
                <a:latin typeface="メイリオ" panose="020B0604030504040204" pitchFamily="50" charset="-128"/>
                <a:ea typeface="メイリオ" panose="020B0604030504040204" pitchFamily="50" charset="-128"/>
                <a:cs typeface="メイリオ"/>
              </a:rPr>
              <a:t>「</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将来的な顧</a:t>
            </a:r>
            <a:r>
              <a:rPr lang="en-US" sz="1200" b="1" dirty="0" err="1">
                <a:solidFill>
                  <a:srgbClr val="494848"/>
                </a:solidFill>
                <a:latin typeface="メイリオ" panose="020B0604030504040204" pitchFamily="50" charset="-128"/>
                <a:ea typeface="メイリオ" panose="020B0604030504040204" pitchFamily="50" charset="-128"/>
                <a:cs typeface="メイリオ"/>
              </a:rPr>
              <a:t>客」教育をLINE</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上で構築し</a:t>
            </a:r>
            <a:r>
              <a:rPr lang="en-US" sz="1200" b="1" dirty="0">
                <a:solidFill>
                  <a:srgbClr val="494848"/>
                </a:solidFill>
                <a:latin typeface="メイリオ" panose="020B0604030504040204" pitchFamily="50" charset="-128"/>
                <a:ea typeface="メイリオ" panose="020B0604030504040204" pitchFamily="50" charset="-128"/>
                <a:cs typeface="メイリオ"/>
              </a:rPr>
              <a:t>行</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う。</a:t>
            </a:r>
            <a:endParaRPr lang="en-US" sz="1200" b="1" dirty="0">
              <a:solidFill>
                <a:srgbClr val="494848"/>
              </a:solidFill>
              <a:latin typeface="メイリオ" panose="020B0604030504040204" pitchFamily="50" charset="-128"/>
              <a:ea typeface="メイリオ" panose="020B0604030504040204" pitchFamily="50" charset="-128"/>
              <a:cs typeface="メイリオ"/>
            </a:endParaRPr>
          </a:p>
        </p:txBody>
      </p:sp>
      <p:sp>
        <p:nvSpPr>
          <p:cNvPr id="39" name="AutoShape 43">
            <a:extLst>
              <a:ext uri="{FF2B5EF4-FFF2-40B4-BE49-F238E27FC236}">
                <a16:creationId xmlns:a16="http://schemas.microsoft.com/office/drawing/2014/main" id="{BAFE21F2-B11C-C6C6-4A68-B44BBEB51A4E}"/>
              </a:ext>
            </a:extLst>
          </p:cNvPr>
          <p:cNvSpPr/>
          <p:nvPr/>
        </p:nvSpPr>
        <p:spPr>
          <a:xfrm>
            <a:off x="837672" y="2859077"/>
            <a:ext cx="2060521"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0" name="AutoShape 44">
            <a:extLst>
              <a:ext uri="{FF2B5EF4-FFF2-40B4-BE49-F238E27FC236}">
                <a16:creationId xmlns:a16="http://schemas.microsoft.com/office/drawing/2014/main" id="{2CDA6644-C37D-611D-E0EA-EDDC28827BA0}"/>
              </a:ext>
            </a:extLst>
          </p:cNvPr>
          <p:cNvSpPr/>
          <p:nvPr/>
        </p:nvSpPr>
        <p:spPr>
          <a:xfrm>
            <a:off x="828963" y="5877316"/>
            <a:ext cx="3810830"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1" name="AutoShape 45">
            <a:extLst>
              <a:ext uri="{FF2B5EF4-FFF2-40B4-BE49-F238E27FC236}">
                <a16:creationId xmlns:a16="http://schemas.microsoft.com/office/drawing/2014/main" id="{1127F3C8-7A7B-61A4-7E40-223286E1D74F}"/>
              </a:ext>
            </a:extLst>
          </p:cNvPr>
          <p:cNvSpPr/>
          <p:nvPr/>
        </p:nvSpPr>
        <p:spPr>
          <a:xfrm>
            <a:off x="2889484" y="4056689"/>
            <a:ext cx="1750309"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2" name="AutoShape 46">
            <a:extLst>
              <a:ext uri="{FF2B5EF4-FFF2-40B4-BE49-F238E27FC236}">
                <a16:creationId xmlns:a16="http://schemas.microsoft.com/office/drawing/2014/main" id="{67E01EC4-C522-4365-750F-36BD973DD207}"/>
              </a:ext>
            </a:extLst>
          </p:cNvPr>
          <p:cNvSpPr/>
          <p:nvPr/>
        </p:nvSpPr>
        <p:spPr>
          <a:xfrm>
            <a:off x="4639793" y="4062682"/>
            <a:ext cx="0" cy="1826059"/>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3" name="AutoShape 47">
            <a:extLst>
              <a:ext uri="{FF2B5EF4-FFF2-40B4-BE49-F238E27FC236}">
                <a16:creationId xmlns:a16="http://schemas.microsoft.com/office/drawing/2014/main" id="{3E4AE2CB-A28C-E78F-2537-02549A8EA7AB}"/>
              </a:ext>
            </a:extLst>
          </p:cNvPr>
          <p:cNvSpPr/>
          <p:nvPr/>
        </p:nvSpPr>
        <p:spPr>
          <a:xfrm>
            <a:off x="2901330" y="2853320"/>
            <a:ext cx="0" cy="1217836"/>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4" name="AutoShape 48">
            <a:extLst>
              <a:ext uri="{FF2B5EF4-FFF2-40B4-BE49-F238E27FC236}">
                <a16:creationId xmlns:a16="http://schemas.microsoft.com/office/drawing/2014/main" id="{BDF7967C-8276-F30B-0E4E-4BFC7A91F312}"/>
              </a:ext>
            </a:extLst>
          </p:cNvPr>
          <p:cNvSpPr/>
          <p:nvPr/>
        </p:nvSpPr>
        <p:spPr>
          <a:xfrm>
            <a:off x="840809" y="2862215"/>
            <a:ext cx="0" cy="3015101"/>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5" name="Google Shape;156;p7"/>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grpSp>
        <p:nvGrpSpPr>
          <p:cNvPr id="2" name="Group 25">
            <a:extLst>
              <a:ext uri="{FF2B5EF4-FFF2-40B4-BE49-F238E27FC236}">
                <a16:creationId xmlns:a16="http://schemas.microsoft.com/office/drawing/2014/main" id="{B0E7D26F-11A3-5FBC-5353-A2EB828FFE48}"/>
              </a:ext>
            </a:extLst>
          </p:cNvPr>
          <p:cNvGrpSpPr/>
          <p:nvPr/>
        </p:nvGrpSpPr>
        <p:grpSpPr>
          <a:xfrm rot="5400000">
            <a:off x="5145798" y="5317353"/>
            <a:ext cx="301414" cy="601358"/>
            <a:chOff x="0" y="0"/>
            <a:chExt cx="452282" cy="902360"/>
          </a:xfrm>
        </p:grpSpPr>
        <p:sp>
          <p:nvSpPr>
            <p:cNvPr id="35" name="Freeform 26">
              <a:extLst>
                <a:ext uri="{FF2B5EF4-FFF2-40B4-BE49-F238E27FC236}">
                  <a16:creationId xmlns:a16="http://schemas.microsoft.com/office/drawing/2014/main" id="{CDCF4F9F-A96D-47F0-B2E9-BCCD3E29956A}"/>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7" name="TextBox 27">
              <a:extLst>
                <a:ext uri="{FF2B5EF4-FFF2-40B4-BE49-F238E27FC236}">
                  <a16:creationId xmlns:a16="http://schemas.microsoft.com/office/drawing/2014/main" id="{6966F572-AC3F-D92B-3752-A94BD979EB99}"/>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46" name="TextBox 38">
            <a:extLst>
              <a:ext uri="{FF2B5EF4-FFF2-40B4-BE49-F238E27FC236}">
                <a16:creationId xmlns:a16="http://schemas.microsoft.com/office/drawing/2014/main" id="{64F1097F-60BC-270D-2F02-2726FEAC05DF}"/>
              </a:ext>
            </a:extLst>
          </p:cNvPr>
          <p:cNvSpPr txBox="1"/>
          <p:nvPr/>
        </p:nvSpPr>
        <p:spPr>
          <a:xfrm>
            <a:off x="5800858" y="5349271"/>
            <a:ext cx="3788946" cy="539891"/>
          </a:xfrm>
          <a:prstGeom prst="rect">
            <a:avLst/>
          </a:prstGeom>
        </p:spPr>
        <p:txBody>
          <a:bodyPr wrap="square" lIns="0" tIns="0" rIns="0" bIns="0" rtlCol="0" anchor="t">
            <a:spAutoFit/>
          </a:bodyPr>
          <a:lstStyle/>
          <a:p>
            <a:pPr>
              <a:lnSpc>
                <a:spcPts val="2176"/>
              </a:lnSpc>
            </a:pPr>
            <a:r>
              <a:rPr lang="ja-JP" altLang="en-US" sz="1200" b="1" dirty="0">
                <a:solidFill>
                  <a:srgbClr val="494848"/>
                </a:solidFill>
                <a:latin typeface="メイリオ" panose="020B0604030504040204" pitchFamily="50" charset="-128"/>
                <a:ea typeface="メイリオ" panose="020B0604030504040204" pitchFamily="50" charset="-128"/>
                <a:cs typeface="メイリオ"/>
              </a:rPr>
              <a:t>広告審査がないうえに、ユーザー接点を早めることで大量かつ高効率での獲得を見込むことが出来る。</a:t>
            </a:r>
            <a:endParaRPr lang="en-US" altLang="ja-JP" sz="1200" b="1" dirty="0">
              <a:solidFill>
                <a:srgbClr val="494848"/>
              </a:solidFill>
              <a:latin typeface="メイリオ" panose="020B0604030504040204" pitchFamily="50" charset="-128"/>
              <a:ea typeface="メイリオ" panose="020B0604030504040204" pitchFamily="50" charset="-128"/>
              <a:cs typeface="メイリオ"/>
            </a:endParaRPr>
          </a:p>
        </p:txBody>
      </p:sp>
      <p:sp>
        <p:nvSpPr>
          <p:cNvPr id="67" name="正方形/長方形 66">
            <a:extLst>
              <a:ext uri="{FF2B5EF4-FFF2-40B4-BE49-F238E27FC236}">
                <a16:creationId xmlns:a16="http://schemas.microsoft.com/office/drawing/2014/main" id="{77B39B6D-C944-4A06-0278-EC4EB8161426}"/>
              </a:ext>
            </a:extLst>
          </p:cNvPr>
          <p:cNvSpPr/>
          <p:nvPr/>
        </p:nvSpPr>
        <p:spPr>
          <a:xfrm>
            <a:off x="0" y="1550126"/>
            <a:ext cx="9906000" cy="99817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9" name="正方形/長方形 68">
            <a:extLst>
              <a:ext uri="{FF2B5EF4-FFF2-40B4-BE49-F238E27FC236}">
                <a16:creationId xmlns:a16="http://schemas.microsoft.com/office/drawing/2014/main" id="{5E7B95DC-CC66-6E85-612E-16DD030F6207}"/>
              </a:ext>
            </a:extLst>
          </p:cNvPr>
          <p:cNvSpPr/>
          <p:nvPr/>
        </p:nvSpPr>
        <p:spPr>
          <a:xfrm>
            <a:off x="1415156" y="1777768"/>
            <a:ext cx="3135795" cy="523220"/>
          </a:xfrm>
          <a:prstGeom prst="rect">
            <a:avLst/>
          </a:prstGeom>
        </p:spPr>
        <p:txBody>
          <a:bodyPr wrap="none">
            <a:spAutoFit/>
          </a:bodyPr>
          <a:lstStyle/>
          <a:p>
            <a:pPr algn="ctr"/>
            <a:r>
              <a:rPr lang="en-US" altLang="ja-JP" sz="1400" dirty="0">
                <a:latin typeface="メイリオ"/>
                <a:ea typeface="メイリオ"/>
                <a:cs typeface="メイリオ"/>
                <a:sym typeface="Meiryo"/>
              </a:rPr>
              <a:t>WEB</a:t>
            </a:r>
            <a:r>
              <a:rPr lang="ja-JP" altLang="en-US" sz="1400" dirty="0">
                <a:latin typeface="メイリオ"/>
                <a:ea typeface="メイリオ"/>
                <a:cs typeface="メイリオ"/>
                <a:sym typeface="Meiryo"/>
              </a:rPr>
              <a:t>広告における</a:t>
            </a:r>
            <a:r>
              <a:rPr lang="ja-JP" altLang="en-US" sz="1400" b="1" dirty="0">
                <a:latin typeface="メイリオ"/>
                <a:ea typeface="メイリオ"/>
                <a:cs typeface="メイリオ"/>
                <a:sym typeface="Meiryo"/>
              </a:rPr>
              <a:t>競合性が高</a:t>
            </a:r>
            <a:r>
              <a:rPr lang="ja-JP" altLang="en-US" sz="1400" dirty="0">
                <a:latin typeface="メイリオ"/>
                <a:ea typeface="メイリオ"/>
                <a:cs typeface="メイリオ"/>
                <a:sym typeface="Meiryo"/>
              </a:rPr>
              <a:t>くなり</a:t>
            </a:r>
            <a:endParaRPr lang="en-US" altLang="ja-JP" sz="1400" dirty="0">
              <a:latin typeface="メイリオ"/>
              <a:ea typeface="メイリオ"/>
              <a:cs typeface="メイリオ"/>
              <a:sym typeface="Meiryo"/>
            </a:endParaRPr>
          </a:p>
          <a:p>
            <a:pPr algn="ctr"/>
            <a:r>
              <a:rPr lang="ja-JP" altLang="en-US" sz="1400" b="1" dirty="0">
                <a:solidFill>
                  <a:srgbClr val="1F2A5C"/>
                </a:solidFill>
                <a:latin typeface="メイリオ"/>
                <a:ea typeface="メイリオ"/>
                <a:cs typeface="メイリオ"/>
                <a:sym typeface="Meiryo"/>
              </a:rPr>
              <a:t>単価指標（</a:t>
            </a:r>
            <a:r>
              <a:rPr lang="en-US" altLang="ja-JP" sz="1400" b="1" dirty="0">
                <a:solidFill>
                  <a:srgbClr val="1F2A5C"/>
                </a:solidFill>
                <a:latin typeface="メイリオ"/>
                <a:ea typeface="メイリオ"/>
                <a:cs typeface="メイリオ"/>
                <a:sym typeface="Meiryo"/>
              </a:rPr>
              <a:t>CPC</a:t>
            </a:r>
            <a:r>
              <a:rPr lang="ja-JP" altLang="en-US" sz="1400" b="1" dirty="0">
                <a:solidFill>
                  <a:srgbClr val="1F2A5C"/>
                </a:solidFill>
                <a:latin typeface="メイリオ"/>
                <a:ea typeface="メイリオ"/>
                <a:cs typeface="メイリオ"/>
                <a:sym typeface="Meiryo"/>
              </a:rPr>
              <a:t>及び</a:t>
            </a:r>
            <a:r>
              <a:rPr lang="en-US" altLang="ja-JP" sz="1400" b="1" dirty="0">
                <a:solidFill>
                  <a:srgbClr val="1F2A5C"/>
                </a:solidFill>
                <a:latin typeface="メイリオ"/>
                <a:ea typeface="メイリオ"/>
                <a:cs typeface="メイリオ"/>
                <a:sym typeface="Meiryo"/>
              </a:rPr>
              <a:t>CPA</a:t>
            </a:r>
            <a:r>
              <a:rPr lang="ja-JP" altLang="en-US" sz="1400" b="1" dirty="0">
                <a:solidFill>
                  <a:srgbClr val="1F2A5C"/>
                </a:solidFill>
                <a:latin typeface="メイリオ"/>
                <a:ea typeface="メイリオ"/>
                <a:cs typeface="メイリオ"/>
                <a:sym typeface="Meiryo"/>
              </a:rPr>
              <a:t>）が高騰</a:t>
            </a:r>
            <a:r>
              <a:rPr lang="ja-JP" altLang="en-US" sz="1400" dirty="0">
                <a:latin typeface="メイリオ"/>
                <a:ea typeface="メイリオ"/>
                <a:cs typeface="メイリオ"/>
                <a:sym typeface="Meiryo"/>
              </a:rPr>
              <a:t>。</a:t>
            </a:r>
            <a:endParaRPr lang="en-US" altLang="ja-JP" sz="1400" dirty="0">
              <a:latin typeface="メイリオ"/>
              <a:ea typeface="メイリオ"/>
              <a:cs typeface="メイリオ"/>
              <a:sym typeface="Meiryo"/>
            </a:endParaRPr>
          </a:p>
        </p:txBody>
      </p:sp>
      <p:sp>
        <p:nvSpPr>
          <p:cNvPr id="71" name="正方形/長方形 70">
            <a:extLst>
              <a:ext uri="{FF2B5EF4-FFF2-40B4-BE49-F238E27FC236}">
                <a16:creationId xmlns:a16="http://schemas.microsoft.com/office/drawing/2014/main" id="{8E05BE0D-9D83-9FD4-8701-8FD707FC6BF5}"/>
              </a:ext>
            </a:extLst>
          </p:cNvPr>
          <p:cNvSpPr/>
          <p:nvPr/>
        </p:nvSpPr>
        <p:spPr>
          <a:xfrm>
            <a:off x="5717891" y="1781471"/>
            <a:ext cx="3773790" cy="523220"/>
          </a:xfrm>
          <a:prstGeom prst="rect">
            <a:avLst/>
          </a:prstGeom>
        </p:spPr>
        <p:txBody>
          <a:bodyPr wrap="none">
            <a:spAutoFit/>
          </a:bodyPr>
          <a:lstStyle/>
          <a:p>
            <a:pPr algn="ctr"/>
            <a:r>
              <a:rPr lang="ja-JP" altLang="en-US" sz="1400" dirty="0">
                <a:latin typeface="メイリオ"/>
                <a:ea typeface="メイリオ"/>
                <a:cs typeface="メイリオ"/>
                <a:sym typeface="Meiryo"/>
              </a:rPr>
              <a:t>集客施策における</a:t>
            </a:r>
            <a:r>
              <a:rPr lang="en-US" altLang="ja-JP" sz="1400" b="1" dirty="0">
                <a:latin typeface="メイリオ"/>
                <a:ea typeface="メイリオ"/>
                <a:cs typeface="メイリオ"/>
                <a:sym typeface="Meiryo"/>
              </a:rPr>
              <a:t>CVR</a:t>
            </a:r>
            <a:r>
              <a:rPr lang="ja-JP" altLang="en-US" sz="1400" b="1" dirty="0">
                <a:latin typeface="メイリオ"/>
                <a:ea typeface="メイリオ"/>
                <a:cs typeface="メイリオ"/>
                <a:sym typeface="Meiryo"/>
              </a:rPr>
              <a:t>は高くても</a:t>
            </a:r>
            <a:r>
              <a:rPr lang="en-US" altLang="ja-JP" sz="1400" b="1" dirty="0">
                <a:latin typeface="メイリオ"/>
                <a:ea typeface="メイリオ"/>
                <a:cs typeface="メイリオ"/>
                <a:sym typeface="Meiryo"/>
              </a:rPr>
              <a:t>2%</a:t>
            </a:r>
            <a:r>
              <a:rPr lang="ja-JP" altLang="en-US" sz="1400" b="1" dirty="0">
                <a:latin typeface="メイリオ"/>
                <a:ea typeface="メイリオ"/>
                <a:cs typeface="メイリオ"/>
                <a:sym typeface="Meiryo"/>
              </a:rPr>
              <a:t>程度</a:t>
            </a:r>
            <a:r>
              <a:rPr lang="ja-JP" altLang="en-US" sz="1400" dirty="0">
                <a:latin typeface="メイリオ"/>
                <a:ea typeface="メイリオ"/>
                <a:cs typeface="メイリオ"/>
                <a:sym typeface="Meiryo"/>
              </a:rPr>
              <a:t>。</a:t>
            </a:r>
            <a:endParaRPr lang="en-US" altLang="ja-JP" sz="1400" dirty="0">
              <a:latin typeface="メイリオ"/>
              <a:ea typeface="メイリオ"/>
              <a:cs typeface="メイリオ"/>
              <a:sym typeface="Meiryo"/>
            </a:endParaRPr>
          </a:p>
          <a:p>
            <a:pPr algn="ctr"/>
            <a:r>
              <a:rPr lang="en-US" altLang="ja-JP" sz="1400" dirty="0">
                <a:solidFill>
                  <a:srgbClr val="1F2A5C"/>
                </a:solidFill>
                <a:latin typeface="メイリオ"/>
                <a:ea typeface="メイリオ"/>
                <a:cs typeface="メイリオ"/>
                <a:sym typeface="Meiryo"/>
              </a:rPr>
              <a:t>CV</a:t>
            </a:r>
            <a:r>
              <a:rPr lang="ja-JP" altLang="en-US" sz="1400" dirty="0">
                <a:solidFill>
                  <a:srgbClr val="1F2A5C"/>
                </a:solidFill>
                <a:latin typeface="メイリオ"/>
                <a:ea typeface="メイリオ"/>
                <a:cs typeface="メイリオ"/>
                <a:sym typeface="Meiryo"/>
              </a:rPr>
              <a:t>に至らず離脱するユーザーが大部分</a:t>
            </a:r>
            <a:r>
              <a:rPr lang="ja-JP" altLang="en-US" sz="1400" dirty="0">
                <a:latin typeface="メイリオ"/>
                <a:ea typeface="メイリオ"/>
                <a:cs typeface="メイリオ"/>
                <a:sym typeface="Meiryo"/>
              </a:rPr>
              <a:t>。</a:t>
            </a:r>
            <a:endParaRPr lang="ja-JP" altLang="en-US" sz="1400" dirty="0">
              <a:latin typeface="メイリオ"/>
              <a:ea typeface="メイリオ"/>
              <a:cs typeface="メイリオ"/>
            </a:endParaRPr>
          </a:p>
        </p:txBody>
      </p:sp>
      <p:sp>
        <p:nvSpPr>
          <p:cNvPr id="73" name="Freeform 12">
            <a:extLst>
              <a:ext uri="{FF2B5EF4-FFF2-40B4-BE49-F238E27FC236}">
                <a16:creationId xmlns:a16="http://schemas.microsoft.com/office/drawing/2014/main" id="{E8D769AF-3EE9-8FD1-96E2-AA6FB90CAF13}"/>
              </a:ext>
            </a:extLst>
          </p:cNvPr>
          <p:cNvSpPr/>
          <p:nvPr/>
        </p:nvSpPr>
        <p:spPr>
          <a:xfrm>
            <a:off x="4853067" y="1823015"/>
            <a:ext cx="823531" cy="426315"/>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nchor="ctr"/>
          <a:lstStyle/>
          <a:p>
            <a:pPr algn="ctr"/>
            <a:r>
              <a:rPr lang="en-US" altLang="ja-JP" b="1" dirty="0">
                <a:latin typeface="メイリオ" panose="020B0604030504040204" pitchFamily="50" charset="-128"/>
                <a:ea typeface="メイリオ" panose="020B0604030504040204" pitchFamily="50" charset="-128"/>
                <a:cs typeface="メイリオ"/>
              </a:rPr>
              <a:t>CVR</a:t>
            </a:r>
            <a:endParaRPr lang="ja-JP" altLang="en-US" b="1" dirty="0">
              <a:latin typeface="メイリオ" panose="020B0604030504040204" pitchFamily="50" charset="-128"/>
              <a:ea typeface="メイリオ" panose="020B0604030504040204" pitchFamily="50" charset="-128"/>
              <a:cs typeface="メイリオ"/>
            </a:endParaRPr>
          </a:p>
        </p:txBody>
      </p:sp>
      <p:sp>
        <p:nvSpPr>
          <p:cNvPr id="75" name="Freeform 12">
            <a:extLst>
              <a:ext uri="{FF2B5EF4-FFF2-40B4-BE49-F238E27FC236}">
                <a16:creationId xmlns:a16="http://schemas.microsoft.com/office/drawing/2014/main" id="{952D530B-C759-C959-90BD-289EC5DBA890}"/>
              </a:ext>
            </a:extLst>
          </p:cNvPr>
          <p:cNvSpPr/>
          <p:nvPr/>
        </p:nvSpPr>
        <p:spPr>
          <a:xfrm>
            <a:off x="555048" y="1808923"/>
            <a:ext cx="823531" cy="426315"/>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nchor="ctr"/>
          <a:lstStyle/>
          <a:p>
            <a:pPr algn="ctr"/>
            <a:r>
              <a:rPr lang="en-US" altLang="ja-JP" b="1" dirty="0">
                <a:latin typeface="メイリオ" panose="020B0604030504040204" pitchFamily="50" charset="-128"/>
                <a:ea typeface="メイリオ" panose="020B0604030504040204" pitchFamily="50" charset="-128"/>
                <a:cs typeface="メイリオ"/>
              </a:rPr>
              <a:t>CPC</a:t>
            </a:r>
            <a:endParaRPr lang="ja-JP" altLang="en-US" b="1"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356214849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D88C4-8CFA-2C0E-C230-F47FCA10FFC5}"/>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634DA306-8233-CC88-65A5-36654C66652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0CB02FD4-701A-71CE-F43E-33D8F9E44E7B}"/>
              </a:ext>
            </a:extLst>
          </p:cNvPr>
          <p:cNvSpPr/>
          <p:nvPr/>
        </p:nvSpPr>
        <p:spPr>
          <a:xfrm>
            <a:off x="796379" y="635062"/>
            <a:ext cx="8328074"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利用年齢層により変動はするものの、</a:t>
            </a:r>
            <a:r>
              <a:rPr lang="en-US" altLang="ja-JP" sz="1400" dirty="0">
                <a:solidFill>
                  <a:srgbClr val="343434"/>
                </a:solidFill>
                <a:latin typeface="メイリオ" panose="020B0604030504040204" pitchFamily="50" charset="-128"/>
                <a:ea typeface="メイリオ" panose="020B0604030504040204" pitchFamily="50" charset="-128"/>
                <a:cs typeface="メイリオ"/>
              </a:rPr>
              <a:t>10-40</a:t>
            </a:r>
            <a:r>
              <a:rPr lang="ja-JP" altLang="en-US" sz="1400" dirty="0">
                <a:solidFill>
                  <a:srgbClr val="343434"/>
                </a:solidFill>
                <a:latin typeface="メイリオ" panose="020B0604030504040204" pitchFamily="50" charset="-128"/>
                <a:ea typeface="メイリオ" panose="020B0604030504040204" pitchFamily="50" charset="-128"/>
                <a:cs typeface="メイリオ"/>
              </a:rPr>
              <a:t>代を中心に電話、メールを忌避する動きが強まっている。</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a:p>
            <a:pPr algn="ctr">
              <a:lnSpc>
                <a:spcPts val="2455"/>
              </a:lnSpc>
            </a:pPr>
            <a:r>
              <a:rPr lang="ja-JP" altLang="en-US" sz="1400" b="1" dirty="0">
                <a:solidFill>
                  <a:srgbClr val="343434"/>
                </a:solidFill>
                <a:latin typeface="メイリオ" panose="020B0604030504040204" pitchFamily="50" charset="-128"/>
                <a:ea typeface="メイリオ" panose="020B0604030504040204" pitchFamily="50" charset="-128"/>
                <a:cs typeface="メイリオ"/>
              </a:rPr>
              <a:t>既存ユーザー以外の年齢層の獲得にあたって、利用率の高い</a:t>
            </a:r>
            <a:r>
              <a:rPr lang="en-US" altLang="ja-JP" sz="1400" b="1" dirty="0">
                <a:solidFill>
                  <a:srgbClr val="343434"/>
                </a:solidFill>
                <a:latin typeface="メイリオ" panose="020B0604030504040204" pitchFamily="50" charset="-128"/>
                <a:ea typeface="メイリオ" panose="020B0604030504040204" pitchFamily="50" charset="-128"/>
                <a:cs typeface="メイリオ"/>
              </a:rPr>
              <a:t>LINEOA</a:t>
            </a:r>
            <a:r>
              <a:rPr lang="ja-JP" altLang="en-US" sz="1400" b="1" dirty="0">
                <a:solidFill>
                  <a:srgbClr val="343434"/>
                </a:solidFill>
                <a:latin typeface="メイリオ" panose="020B0604030504040204" pitchFamily="50" charset="-128"/>
                <a:ea typeface="メイリオ" panose="020B0604030504040204" pitchFamily="50" charset="-128"/>
                <a:cs typeface="メイリオ"/>
              </a:rPr>
              <a:t>施策が非常に重要と想定</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される。</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5" name="直線コネクタ 4">
            <a:extLst>
              <a:ext uri="{FF2B5EF4-FFF2-40B4-BE49-F238E27FC236}">
                <a16:creationId xmlns:a16="http://schemas.microsoft.com/office/drawing/2014/main" id="{F214699F-6602-F0D9-7DE6-2A3BDFB2917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37B7BC17-B92E-ED23-C69B-F5A79154E50F}"/>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graphicFrame>
        <p:nvGraphicFramePr>
          <p:cNvPr id="50" name="表 49">
            <a:extLst>
              <a:ext uri="{FF2B5EF4-FFF2-40B4-BE49-F238E27FC236}">
                <a16:creationId xmlns:a16="http://schemas.microsoft.com/office/drawing/2014/main" id="{F4041BC0-327B-67FB-AC18-60C96EAE8809}"/>
              </a:ext>
            </a:extLst>
          </p:cNvPr>
          <p:cNvGraphicFramePr>
            <a:graphicFrameLocks noGrp="1"/>
          </p:cNvGraphicFramePr>
          <p:nvPr/>
        </p:nvGraphicFramePr>
        <p:xfrm>
          <a:off x="367528" y="1662925"/>
          <a:ext cx="9168355" cy="4494024"/>
        </p:xfrm>
        <a:graphic>
          <a:graphicData uri="http://schemas.openxmlformats.org/drawingml/2006/table">
            <a:tbl>
              <a:tblPr/>
              <a:tblGrid>
                <a:gridCol w="1833671">
                  <a:extLst>
                    <a:ext uri="{9D8B030D-6E8A-4147-A177-3AD203B41FA5}">
                      <a16:colId xmlns:a16="http://schemas.microsoft.com/office/drawing/2014/main" val="1559461290"/>
                    </a:ext>
                  </a:extLst>
                </a:gridCol>
                <a:gridCol w="1833671">
                  <a:extLst>
                    <a:ext uri="{9D8B030D-6E8A-4147-A177-3AD203B41FA5}">
                      <a16:colId xmlns:a16="http://schemas.microsoft.com/office/drawing/2014/main" val="4043568489"/>
                    </a:ext>
                  </a:extLst>
                </a:gridCol>
                <a:gridCol w="1833671">
                  <a:extLst>
                    <a:ext uri="{9D8B030D-6E8A-4147-A177-3AD203B41FA5}">
                      <a16:colId xmlns:a16="http://schemas.microsoft.com/office/drawing/2014/main" val="377063127"/>
                    </a:ext>
                  </a:extLst>
                </a:gridCol>
                <a:gridCol w="1833671">
                  <a:extLst>
                    <a:ext uri="{9D8B030D-6E8A-4147-A177-3AD203B41FA5}">
                      <a16:colId xmlns:a16="http://schemas.microsoft.com/office/drawing/2014/main" val="2814255100"/>
                    </a:ext>
                  </a:extLst>
                </a:gridCol>
                <a:gridCol w="1833671">
                  <a:extLst>
                    <a:ext uri="{9D8B030D-6E8A-4147-A177-3AD203B41FA5}">
                      <a16:colId xmlns:a16="http://schemas.microsoft.com/office/drawing/2014/main" val="3083523150"/>
                    </a:ext>
                  </a:extLst>
                </a:gridCol>
              </a:tblGrid>
              <a:tr h="499336">
                <a:tc>
                  <a:txBody>
                    <a:bodyPr/>
                    <a:lstStyle/>
                    <a:p>
                      <a:pPr algn="ctr"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年齢層</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・チャット系</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endPar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メール・メルマガ</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電話</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主要な特徴・</a:t>
                      </a: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SNS</a:t>
                      </a: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extLst>
                  <a:ext uri="{0D108BD9-81ED-4DB2-BD59-A6C34878D82A}">
                    <a16:rowId xmlns:a16="http://schemas.microsoft.com/office/drawing/2014/main" val="3477182699"/>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10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〜20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　</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90%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利用率：低</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利用率：極めて低</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dirty="0" err="1">
                          <a:solidFill>
                            <a:srgbClr val="000000"/>
                          </a:solidFill>
                          <a:effectLst/>
                          <a:latin typeface="メイリオ" panose="020B0604030504040204" pitchFamily="50" charset="-128"/>
                          <a:ea typeface="メイリオ" panose="020B0604030504040204" pitchFamily="50" charset="-128"/>
                          <a:cs typeface="メイリオ"/>
                        </a:rPr>
                        <a:t>Tiktok</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 YouTube</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が情報収集の起点。</a:t>
                      </a:r>
                      <a:b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b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Instagram</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X</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の</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DM</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も</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連絡網として活用。</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5522484"/>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日常連絡の絶対的インフラ。</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企業や公式からの連絡は</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読まれない傾向。</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「電話恐怖症」を持つ人も。</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1705581114"/>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30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〜40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90%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ctr">
                        <a:buNone/>
                      </a:pPr>
                      <a:r>
                        <a:rPr lang="ja-JP" altLang="en-US" sz="1000" b="1" i="0" u="none" strike="noStrike">
                          <a:solidFill>
                            <a:srgbClr val="000000"/>
                          </a:solidFill>
                          <a:effectLst/>
                          <a:latin typeface="メイリオ" panose="020B0604030504040204" pitchFamily="50" charset="-128"/>
                          <a:ea typeface="メイリオ" panose="020B0604030504040204" pitchFamily="50" charset="-128"/>
                          <a:cs typeface="メイリオ"/>
                        </a:rPr>
                        <a:t>利用率：中</a:t>
                      </a:r>
                      <a:r>
                        <a:rPr lang="en-US" altLang="ja-JP" sz="1000" b="1" i="0" u="none" strike="noStrike">
                          <a:solidFill>
                            <a:srgbClr val="000000"/>
                          </a:solidFill>
                          <a:effectLst/>
                          <a:latin typeface="メイリオ" panose="020B0604030504040204" pitchFamily="50" charset="-128"/>
                          <a:ea typeface="メイリオ" panose="020B0604030504040204" pitchFamily="50" charset="-128"/>
                          <a:cs typeface="メイリオ"/>
                        </a:rPr>
                        <a:t>〜</a:t>
                      </a:r>
                      <a:r>
                        <a:rPr lang="ja-JP" altLang="en-US" sz="1000" b="1" i="0" u="none" strike="noStrike">
                          <a:solidFill>
                            <a:srgbClr val="000000"/>
                          </a:solidFill>
                          <a:effectLst/>
                          <a:latin typeface="メイリオ" panose="020B0604030504040204" pitchFamily="50" charset="-128"/>
                          <a:ea typeface="メイリオ" panose="020B0604030504040204" pitchFamily="50" charset="-128"/>
                          <a:cs typeface="メイリオ"/>
                        </a:rPr>
                        <a:t>高</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利用率：中</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Facebook</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や</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X</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での情報収集が活発。</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13153412"/>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プライベートの連絡網。</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仕事や、メルマガでの</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セールス情報に抵抗なし。</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プライベートでは減少傾向も</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仕事では必須。</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3489989836"/>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50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〜60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80%〜90%</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YouTube</a:t>
                      </a:r>
                      <a:r>
                        <a:rPr lang="ja-JP" altLang="en-US" sz="800" b="0" i="0" u="none" strike="noStrike">
                          <a:solidFill>
                            <a:srgbClr val="000000"/>
                          </a:solidFill>
                          <a:effectLst/>
                          <a:latin typeface="メイリオ" panose="020B0604030504040204" pitchFamily="50" charset="-128"/>
                          <a:ea typeface="メイリオ" panose="020B0604030504040204" pitchFamily="50" charset="-128"/>
                          <a:cs typeface="メイリオ"/>
                        </a:rPr>
                        <a:t>での趣味動画視聴も普及。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76969856"/>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a:solidFill>
                            <a:srgbClr val="000000"/>
                          </a:solidFill>
                          <a:effectLst/>
                          <a:latin typeface="メイリオ" panose="020B0604030504040204" pitchFamily="50" charset="-128"/>
                          <a:ea typeface="メイリオ" panose="020B0604030504040204" pitchFamily="50" charset="-128"/>
                          <a:cs typeface="メイリオ"/>
                        </a:rPr>
                        <a:t>家族や友人との連絡で定着。</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最も好まれる企業からの</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情報受取ツール。</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予約や急ぎの用件で信頼性が高い。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2832446328"/>
                  </a:ext>
                </a:extLst>
              </a:tr>
              <a:tr h="499336">
                <a:tc rowSpan="2">
                  <a:txBody>
                    <a:bodyPr/>
                    <a:lstStyle/>
                    <a:p>
                      <a:pPr algn="ctr" fontAlgn="ctr">
                        <a:buNone/>
                      </a:pP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70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70%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前後</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利用率：低い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利用率：最も高い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連絡手段としての電話が</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最優先される層。</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79922214"/>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高齢者層にも普及が進む。</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操作に不慣れで到達率が下がる。</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重要な連絡や問い合わせは</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電話がメイン。</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14424828"/>
                  </a:ext>
                </a:extLst>
              </a:tr>
            </a:tbl>
          </a:graphicData>
        </a:graphic>
      </p:graphicFrame>
    </p:spTree>
    <p:extLst>
      <p:ext uri="{BB962C8B-B14F-4D97-AF65-F5344CB8AC3E}">
        <p14:creationId xmlns:p14="http://schemas.microsoft.com/office/powerpoint/2010/main" val="78327988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0E1BE-EA97-1C99-EC9B-9162DE48D9C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61F3EB4-5BDD-9E9F-8965-BA311951E81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p>
        </p:txBody>
      </p:sp>
      <p:sp>
        <p:nvSpPr>
          <p:cNvPr id="2" name="Google Shape;752;p28">
            <a:extLst>
              <a:ext uri="{FF2B5EF4-FFF2-40B4-BE49-F238E27FC236}">
                <a16:creationId xmlns:a16="http://schemas.microsoft.com/office/drawing/2014/main" id="{903AB3A7-E543-27E0-6B76-9022EAF2AAFA}"/>
              </a:ext>
            </a:extLst>
          </p:cNvPr>
          <p:cNvSpPr txBox="1"/>
          <p:nvPr/>
        </p:nvSpPr>
        <p:spPr>
          <a:xfrm>
            <a:off x="711353" y="969413"/>
            <a:ext cx="8353789" cy="523180"/>
          </a:xfrm>
          <a:prstGeom prst="rect">
            <a:avLst/>
          </a:prstGeom>
          <a:noFill/>
          <a:ln>
            <a:noFill/>
          </a:ln>
        </p:spPr>
        <p:txBody>
          <a:bodyPr spcFirstLastPara="1" wrap="square" lIns="91425" tIns="45700" rIns="91425" bIns="45700" anchor="ctr" anchorCtr="0">
            <a:spAutoFit/>
          </a:bodyPr>
          <a:lstStyle/>
          <a:p>
            <a:pPr lvl="0" algn="ctr"/>
            <a:r>
              <a:rPr lang="en-US" altLang="ja-JP" sz="1400" dirty="0">
                <a:latin typeface="メイリオ" panose="020B0604030504040204" pitchFamily="50" charset="-128"/>
                <a:ea typeface="メイリオ" panose="020B0604030504040204" pitchFamily="50" charset="-128"/>
                <a:cs typeface="メイリオ"/>
                <a:sym typeface="Meiryo"/>
              </a:rPr>
              <a:t>LINE</a:t>
            </a:r>
            <a:r>
              <a:rPr lang="ja-JP" altLang="en-US" sz="1400" dirty="0">
                <a:latin typeface="メイリオ" panose="020B0604030504040204" pitchFamily="50" charset="-128"/>
                <a:ea typeface="メイリオ" panose="020B0604030504040204" pitchFamily="50" charset="-128"/>
                <a:cs typeface="メイリオ"/>
                <a:sym typeface="Meiryo"/>
              </a:rPr>
              <a:t>公式アカウントの施策内（開封率、クリック率、</a:t>
            </a:r>
            <a:r>
              <a:rPr lang="en-US" altLang="ja-JP" sz="1400" dirty="0">
                <a:latin typeface="メイリオ" panose="020B0604030504040204" pitchFamily="50" charset="-128"/>
                <a:ea typeface="メイリオ" panose="020B0604030504040204" pitchFamily="50" charset="-128"/>
                <a:cs typeface="メイリオ"/>
                <a:sym typeface="Meiryo"/>
              </a:rPr>
              <a:t>CV</a:t>
            </a:r>
            <a:r>
              <a:rPr lang="ja-JP" altLang="en-US" sz="1400" dirty="0">
                <a:latin typeface="メイリオ" panose="020B0604030504040204" pitchFamily="50" charset="-128"/>
                <a:ea typeface="メイリオ" panose="020B0604030504040204" pitchFamily="50" charset="-128"/>
                <a:cs typeface="メイリオ"/>
                <a:sym typeface="Meiryo"/>
              </a:rPr>
              <a:t>率）で高い水準の施策をご提供。</a:t>
            </a:r>
            <a:endParaRPr lang="en-US" altLang="ja-JP" sz="1400" dirty="0">
              <a:latin typeface="メイリオ" panose="020B0604030504040204" pitchFamily="50" charset="-128"/>
              <a:ea typeface="メイリオ" panose="020B0604030504040204" pitchFamily="50" charset="-128"/>
              <a:cs typeface="メイリオ"/>
              <a:sym typeface="Meiryo"/>
            </a:endParaRPr>
          </a:p>
          <a:p>
            <a:pPr lvl="0" algn="ctr"/>
            <a:r>
              <a:rPr lang="ja-JP" altLang="en-US" sz="1400" dirty="0">
                <a:latin typeface="メイリオ" panose="020B0604030504040204" pitchFamily="50" charset="-128"/>
                <a:ea typeface="メイリオ" panose="020B0604030504040204" pitchFamily="50" charset="-128"/>
                <a:cs typeface="メイリオ"/>
                <a:sym typeface="Meiryo"/>
              </a:rPr>
              <a:t>初期設計のみのご依頼でも、大きく数値改善できるポイントの導入支援が可能です。</a:t>
            </a:r>
            <a:endParaRPr lang="en-US" altLang="ja-JP" sz="1400" dirty="0">
              <a:latin typeface="メイリオ" panose="020B0604030504040204" pitchFamily="50" charset="-128"/>
              <a:ea typeface="メイリオ" panose="020B0604030504040204" pitchFamily="50" charset="-128"/>
              <a:cs typeface="メイリオ"/>
              <a:sym typeface="Meiryo"/>
            </a:endParaRPr>
          </a:p>
        </p:txBody>
      </p:sp>
      <p:sp>
        <p:nvSpPr>
          <p:cNvPr id="5" name="正方形/長方形 4">
            <a:extLst>
              <a:ext uri="{FF2B5EF4-FFF2-40B4-BE49-F238E27FC236}">
                <a16:creationId xmlns:a16="http://schemas.microsoft.com/office/drawing/2014/main" id="{C953AFCB-1DF4-3DF6-FD0A-5FA8B9829345}"/>
              </a:ext>
            </a:extLst>
          </p:cNvPr>
          <p:cNvSpPr/>
          <p:nvPr/>
        </p:nvSpPr>
        <p:spPr>
          <a:xfrm>
            <a:off x="7833676" y="2844726"/>
            <a:ext cx="1438656" cy="268338"/>
          </a:xfrm>
          <a:prstGeom prst="rect">
            <a:avLst/>
          </a:prstGeom>
          <a:solidFill>
            <a:srgbClr val="1F2A5C"/>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endParaRPr kumimoji="1" lang="ja-JP" altLang="en-US" sz="105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6" name="正方形/長方形 5">
            <a:extLst>
              <a:ext uri="{FF2B5EF4-FFF2-40B4-BE49-F238E27FC236}">
                <a16:creationId xmlns:a16="http://schemas.microsoft.com/office/drawing/2014/main" id="{AA0FC5BF-544B-2CE7-3D6D-05C5FCBA0558}"/>
              </a:ext>
            </a:extLst>
          </p:cNvPr>
          <p:cNvSpPr/>
          <p:nvPr/>
        </p:nvSpPr>
        <p:spPr>
          <a:xfrm>
            <a:off x="7833676" y="2532843"/>
            <a:ext cx="1438656" cy="268338"/>
          </a:xfrm>
          <a:prstGeom prst="rect">
            <a:avLst/>
          </a:prstGeom>
          <a:solidFill>
            <a:schemeClr val="bg1">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営業トスアップ</a:t>
            </a:r>
          </a:p>
        </p:txBody>
      </p:sp>
      <p:cxnSp>
        <p:nvCxnSpPr>
          <p:cNvPr id="16" name="直線矢印コネクタ 15">
            <a:extLst>
              <a:ext uri="{FF2B5EF4-FFF2-40B4-BE49-F238E27FC236}">
                <a16:creationId xmlns:a16="http://schemas.microsoft.com/office/drawing/2014/main" id="{94BB7063-D344-7388-DC5C-AB2163552A18}"/>
              </a:ext>
            </a:extLst>
          </p:cNvPr>
          <p:cNvCxnSpPr>
            <a:cxnSpLocks/>
          </p:cNvCxnSpPr>
          <p:nvPr/>
        </p:nvCxnSpPr>
        <p:spPr>
          <a:xfrm>
            <a:off x="387956" y="2801181"/>
            <a:ext cx="7250805" cy="0"/>
          </a:xfrm>
          <a:prstGeom prst="straightConnector1">
            <a:avLst/>
          </a:prstGeom>
          <a:ln w="28575">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1" name="正方形/長方形 20">
            <a:extLst>
              <a:ext uri="{FF2B5EF4-FFF2-40B4-BE49-F238E27FC236}">
                <a16:creationId xmlns:a16="http://schemas.microsoft.com/office/drawing/2014/main" id="{49A8005B-FA05-AC0F-4885-3EB9D9E7F271}"/>
              </a:ext>
            </a:extLst>
          </p:cNvPr>
          <p:cNvSpPr/>
          <p:nvPr/>
        </p:nvSpPr>
        <p:spPr>
          <a:xfrm>
            <a:off x="7663263" y="2057611"/>
            <a:ext cx="1820092" cy="1128395"/>
          </a:xfrm>
          <a:prstGeom prst="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3" name="テキスト ボックス 22">
            <a:extLst>
              <a:ext uri="{FF2B5EF4-FFF2-40B4-BE49-F238E27FC236}">
                <a16:creationId xmlns:a16="http://schemas.microsoft.com/office/drawing/2014/main" id="{43461C80-3343-B710-9ADB-76DB69B61EAF}"/>
              </a:ext>
            </a:extLst>
          </p:cNvPr>
          <p:cNvSpPr txBox="1"/>
          <p:nvPr/>
        </p:nvSpPr>
        <p:spPr>
          <a:xfrm>
            <a:off x="8033166" y="2122574"/>
            <a:ext cx="1080286" cy="261610"/>
          </a:xfrm>
          <a:prstGeom prst="rect">
            <a:avLst/>
          </a:prstGeom>
          <a:noFill/>
        </p:spPr>
        <p:txBody>
          <a:bodyPr wrap="square">
            <a:spAutoFit/>
          </a:bodyPr>
          <a:lstStyle/>
          <a:p>
            <a:pPr algn="ctr"/>
            <a:r>
              <a:rPr kumimoji="1" lang="ja-JP" altLang="en-US" sz="1100" dirty="0">
                <a:solidFill>
                  <a:srgbClr val="1F2A5C"/>
                </a:solidFill>
                <a:latin typeface="メイリオ" panose="020B0604030504040204" pitchFamily="50" charset="-128"/>
                <a:ea typeface="メイリオ" panose="020B0604030504040204" pitchFamily="50" charset="-128"/>
                <a:cs typeface="メイリオ"/>
              </a:rPr>
              <a:t>（成果地点）</a:t>
            </a:r>
          </a:p>
        </p:txBody>
      </p:sp>
      <p:sp>
        <p:nvSpPr>
          <p:cNvPr id="46" name="正方形/長方形 45">
            <a:extLst>
              <a:ext uri="{FF2B5EF4-FFF2-40B4-BE49-F238E27FC236}">
                <a16:creationId xmlns:a16="http://schemas.microsoft.com/office/drawing/2014/main" id="{68EF36FD-0665-96DB-08B6-92F8F12DC27E}"/>
              </a:ext>
            </a:extLst>
          </p:cNvPr>
          <p:cNvSpPr/>
          <p:nvPr/>
        </p:nvSpPr>
        <p:spPr>
          <a:xfrm>
            <a:off x="2496412" y="2062968"/>
            <a:ext cx="4888178" cy="2483764"/>
          </a:xfrm>
          <a:prstGeom prst="rect">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7" name="正方形/長方形 46">
            <a:extLst>
              <a:ext uri="{FF2B5EF4-FFF2-40B4-BE49-F238E27FC236}">
                <a16:creationId xmlns:a16="http://schemas.microsoft.com/office/drawing/2014/main" id="{1B4C640C-D32C-D834-8B9B-538AEF528437}"/>
              </a:ext>
            </a:extLst>
          </p:cNvPr>
          <p:cNvSpPr/>
          <p:nvPr/>
        </p:nvSpPr>
        <p:spPr>
          <a:xfrm>
            <a:off x="2727621"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48" name="正方形/長方形 47">
            <a:extLst>
              <a:ext uri="{FF2B5EF4-FFF2-40B4-BE49-F238E27FC236}">
                <a16:creationId xmlns:a16="http://schemas.microsoft.com/office/drawing/2014/main" id="{B779420D-D103-81E4-5973-9C543E915ED9}"/>
              </a:ext>
            </a:extLst>
          </p:cNvPr>
          <p:cNvSpPr/>
          <p:nvPr/>
        </p:nvSpPr>
        <p:spPr>
          <a:xfrm>
            <a:off x="4236068"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49" name="正方形/長方形 48">
            <a:extLst>
              <a:ext uri="{FF2B5EF4-FFF2-40B4-BE49-F238E27FC236}">
                <a16:creationId xmlns:a16="http://schemas.microsoft.com/office/drawing/2014/main" id="{79F9C4D6-EE41-0712-7E02-3613A29A0277}"/>
              </a:ext>
            </a:extLst>
          </p:cNvPr>
          <p:cNvSpPr/>
          <p:nvPr/>
        </p:nvSpPr>
        <p:spPr>
          <a:xfrm>
            <a:off x="5744515"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50" name="正方形/長方形 49">
            <a:extLst>
              <a:ext uri="{FF2B5EF4-FFF2-40B4-BE49-F238E27FC236}">
                <a16:creationId xmlns:a16="http://schemas.microsoft.com/office/drawing/2014/main" id="{63D97449-C5FF-7125-1910-BF401BE155D3}"/>
              </a:ext>
            </a:extLst>
          </p:cNvPr>
          <p:cNvSpPr/>
          <p:nvPr/>
        </p:nvSpPr>
        <p:spPr>
          <a:xfrm>
            <a:off x="2635396" y="2541859"/>
            <a:ext cx="4617897" cy="268338"/>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通常メッセージ（企画投稿）</a:t>
            </a:r>
          </a:p>
        </p:txBody>
      </p:sp>
      <p:sp>
        <p:nvSpPr>
          <p:cNvPr id="51" name="正方形/長方形 50">
            <a:extLst>
              <a:ext uri="{FF2B5EF4-FFF2-40B4-BE49-F238E27FC236}">
                <a16:creationId xmlns:a16="http://schemas.microsoft.com/office/drawing/2014/main" id="{0FEAAD04-7412-6C00-12C5-668087B3187D}"/>
              </a:ext>
            </a:extLst>
          </p:cNvPr>
          <p:cNvSpPr/>
          <p:nvPr/>
        </p:nvSpPr>
        <p:spPr>
          <a:xfrm>
            <a:off x="2727621"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52" name="正方形/長方形 51">
            <a:extLst>
              <a:ext uri="{FF2B5EF4-FFF2-40B4-BE49-F238E27FC236}">
                <a16:creationId xmlns:a16="http://schemas.microsoft.com/office/drawing/2014/main" id="{16300100-5CAE-C822-F497-9A928E7568CE}"/>
              </a:ext>
            </a:extLst>
          </p:cNvPr>
          <p:cNvSpPr/>
          <p:nvPr/>
        </p:nvSpPr>
        <p:spPr>
          <a:xfrm>
            <a:off x="4236068"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53" name="正方形/長方形 52">
            <a:extLst>
              <a:ext uri="{FF2B5EF4-FFF2-40B4-BE49-F238E27FC236}">
                <a16:creationId xmlns:a16="http://schemas.microsoft.com/office/drawing/2014/main" id="{BAABA8F7-038F-8934-7296-51B7E190F8F6}"/>
              </a:ext>
            </a:extLst>
          </p:cNvPr>
          <p:cNvSpPr/>
          <p:nvPr/>
        </p:nvSpPr>
        <p:spPr>
          <a:xfrm>
            <a:off x="5744515"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54" name="正方形/長方形 53">
            <a:extLst>
              <a:ext uri="{FF2B5EF4-FFF2-40B4-BE49-F238E27FC236}">
                <a16:creationId xmlns:a16="http://schemas.microsoft.com/office/drawing/2014/main" id="{FFA1928D-294F-EEFC-2C8F-4A612343D93B}"/>
              </a:ext>
            </a:extLst>
          </p:cNvPr>
          <p:cNvSpPr/>
          <p:nvPr/>
        </p:nvSpPr>
        <p:spPr>
          <a:xfrm>
            <a:off x="2635396" y="3211261"/>
            <a:ext cx="4617897" cy="268338"/>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通常メッセージ（ステップ配信投稿）</a:t>
            </a:r>
          </a:p>
        </p:txBody>
      </p:sp>
      <p:sp>
        <p:nvSpPr>
          <p:cNvPr id="55" name="正方形/長方形 54">
            <a:extLst>
              <a:ext uri="{FF2B5EF4-FFF2-40B4-BE49-F238E27FC236}">
                <a16:creationId xmlns:a16="http://schemas.microsoft.com/office/drawing/2014/main" id="{C60EF948-7D0E-221F-F7C3-9EA4070D13D5}"/>
              </a:ext>
            </a:extLst>
          </p:cNvPr>
          <p:cNvSpPr/>
          <p:nvPr/>
        </p:nvSpPr>
        <p:spPr>
          <a:xfrm>
            <a:off x="2727621"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56" name="正方形/長方形 55">
            <a:extLst>
              <a:ext uri="{FF2B5EF4-FFF2-40B4-BE49-F238E27FC236}">
                <a16:creationId xmlns:a16="http://schemas.microsoft.com/office/drawing/2014/main" id="{0A26395C-F3D5-A8C3-4036-5A461E8AEB95}"/>
              </a:ext>
            </a:extLst>
          </p:cNvPr>
          <p:cNvSpPr/>
          <p:nvPr/>
        </p:nvSpPr>
        <p:spPr>
          <a:xfrm>
            <a:off x="4236068"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57" name="正方形/長方形 56">
            <a:extLst>
              <a:ext uri="{FF2B5EF4-FFF2-40B4-BE49-F238E27FC236}">
                <a16:creationId xmlns:a16="http://schemas.microsoft.com/office/drawing/2014/main" id="{258779A5-C321-795D-FAE9-C3DA7EDE5D3F}"/>
              </a:ext>
            </a:extLst>
          </p:cNvPr>
          <p:cNvSpPr/>
          <p:nvPr/>
        </p:nvSpPr>
        <p:spPr>
          <a:xfrm>
            <a:off x="5744515"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58" name="正方形/長方形 57">
            <a:extLst>
              <a:ext uri="{FF2B5EF4-FFF2-40B4-BE49-F238E27FC236}">
                <a16:creationId xmlns:a16="http://schemas.microsoft.com/office/drawing/2014/main" id="{10A67980-B163-BD77-6B0F-32FBA0EAD741}"/>
              </a:ext>
            </a:extLst>
          </p:cNvPr>
          <p:cNvSpPr/>
          <p:nvPr/>
        </p:nvSpPr>
        <p:spPr>
          <a:xfrm>
            <a:off x="2635396" y="3865286"/>
            <a:ext cx="4617897" cy="268338"/>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その他指標（リッチメニュー、プロフ、挨拶メッセ）</a:t>
            </a:r>
          </a:p>
        </p:txBody>
      </p:sp>
      <p:sp>
        <p:nvSpPr>
          <p:cNvPr id="59" name="テキスト ボックス 58">
            <a:extLst>
              <a:ext uri="{FF2B5EF4-FFF2-40B4-BE49-F238E27FC236}">
                <a16:creationId xmlns:a16="http://schemas.microsoft.com/office/drawing/2014/main" id="{5568B802-79BB-89D9-41B1-B8211A23D3E1}"/>
              </a:ext>
            </a:extLst>
          </p:cNvPr>
          <p:cNvSpPr txBox="1"/>
          <p:nvPr/>
        </p:nvSpPr>
        <p:spPr>
          <a:xfrm>
            <a:off x="4152577" y="2126463"/>
            <a:ext cx="1581648" cy="261610"/>
          </a:xfrm>
          <a:prstGeom prst="rect">
            <a:avLst/>
          </a:prstGeom>
          <a:noFill/>
        </p:spPr>
        <p:txBody>
          <a:bodyPr wrap="square">
            <a:spAutoFit/>
          </a:bodyPr>
          <a:lstStyle/>
          <a:p>
            <a:pPr algn="ctr"/>
            <a:r>
              <a:rPr lang="ja-JP" altLang="en-US" sz="1100" dirty="0">
                <a:solidFill>
                  <a:schemeClr val="tx2"/>
                </a:solidFill>
                <a:latin typeface="メイリオ" panose="020B0604030504040204" pitchFamily="50" charset="-128"/>
                <a:ea typeface="メイリオ" panose="020B0604030504040204" pitchFamily="50" charset="-128"/>
                <a:cs typeface="メイリオ"/>
              </a:rPr>
              <a:t>（</a:t>
            </a:r>
            <a:r>
              <a:rPr kumimoji="1" lang="en-US" altLang="ja-JP" sz="1100" dirty="0">
                <a:solidFill>
                  <a:schemeClr val="tx2"/>
                </a:solidFill>
                <a:latin typeface="メイリオ" panose="020B0604030504040204" pitchFamily="50" charset="-128"/>
                <a:ea typeface="メイリオ" panose="020B0604030504040204" pitchFamily="50" charset="-128"/>
                <a:cs typeface="メイリオ"/>
              </a:rPr>
              <a:t>LINE</a:t>
            </a:r>
            <a:r>
              <a:rPr kumimoji="1" lang="ja-JP" altLang="en-US" sz="1100" dirty="0">
                <a:solidFill>
                  <a:schemeClr val="tx2"/>
                </a:solidFill>
                <a:latin typeface="メイリオ" panose="020B0604030504040204" pitchFamily="50" charset="-128"/>
                <a:ea typeface="メイリオ" panose="020B0604030504040204" pitchFamily="50" charset="-128"/>
                <a:cs typeface="メイリオ"/>
              </a:rPr>
              <a:t>施策内</a:t>
            </a:r>
            <a:r>
              <a:rPr lang="ja-JP" altLang="en-US" sz="1100" dirty="0">
                <a:solidFill>
                  <a:schemeClr val="tx2"/>
                </a:solidFill>
                <a:latin typeface="メイリオ" panose="020B0604030504040204" pitchFamily="50" charset="-128"/>
                <a:ea typeface="メイリオ" panose="020B0604030504040204" pitchFamily="50" charset="-128"/>
                <a:cs typeface="メイリオ"/>
              </a:rPr>
              <a:t>）</a:t>
            </a:r>
            <a:endParaRPr kumimoji="1" lang="ja-JP" altLang="en-US" sz="1100" dirty="0">
              <a:solidFill>
                <a:schemeClr val="tx2"/>
              </a:solidFill>
              <a:latin typeface="メイリオ" panose="020B0604030504040204" pitchFamily="50" charset="-128"/>
              <a:ea typeface="メイリオ" panose="020B0604030504040204" pitchFamily="50" charset="-128"/>
              <a:cs typeface="メイリオ"/>
            </a:endParaRPr>
          </a:p>
        </p:txBody>
      </p:sp>
      <p:sp>
        <p:nvSpPr>
          <p:cNvPr id="65" name="正方形/長方形 64">
            <a:extLst>
              <a:ext uri="{FF2B5EF4-FFF2-40B4-BE49-F238E27FC236}">
                <a16:creationId xmlns:a16="http://schemas.microsoft.com/office/drawing/2014/main" id="{F955D004-F2E0-9106-46D0-01B91AAAC48C}"/>
              </a:ext>
            </a:extLst>
          </p:cNvPr>
          <p:cNvSpPr/>
          <p:nvPr/>
        </p:nvSpPr>
        <p:spPr>
          <a:xfrm>
            <a:off x="632050" y="2062968"/>
            <a:ext cx="1581647" cy="2483764"/>
          </a:xfrm>
          <a:prstGeom prst="rect">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6" name="正方形/長方形 65">
            <a:extLst>
              <a:ext uri="{FF2B5EF4-FFF2-40B4-BE49-F238E27FC236}">
                <a16:creationId xmlns:a16="http://schemas.microsoft.com/office/drawing/2014/main" id="{39800BBF-7F74-6827-30AB-067A9B79B2FB}"/>
              </a:ext>
            </a:extLst>
          </p:cNvPr>
          <p:cNvSpPr/>
          <p:nvPr/>
        </p:nvSpPr>
        <p:spPr>
          <a:xfrm>
            <a:off x="703546" y="2667012"/>
            <a:ext cx="1438656" cy="268338"/>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友だち追加</a:t>
            </a:r>
          </a:p>
        </p:txBody>
      </p:sp>
      <p:sp>
        <p:nvSpPr>
          <p:cNvPr id="67" name="テキスト ボックス 66">
            <a:extLst>
              <a:ext uri="{FF2B5EF4-FFF2-40B4-BE49-F238E27FC236}">
                <a16:creationId xmlns:a16="http://schemas.microsoft.com/office/drawing/2014/main" id="{5C2F9AAE-62F2-1C25-6B2F-275B20FB2668}"/>
              </a:ext>
            </a:extLst>
          </p:cNvPr>
          <p:cNvSpPr txBox="1"/>
          <p:nvPr/>
        </p:nvSpPr>
        <p:spPr>
          <a:xfrm>
            <a:off x="632050" y="3030925"/>
            <a:ext cx="1581647" cy="369332"/>
          </a:xfrm>
          <a:prstGeom prst="rect">
            <a:avLst/>
          </a:prstGeom>
          <a:noFill/>
        </p:spPr>
        <p:txBody>
          <a:bodyPr wrap="square">
            <a:spAutoFit/>
          </a:bodyPr>
          <a:lstStyle/>
          <a:p>
            <a:pPr algn="ctr"/>
            <a:r>
              <a:rPr kumimoji="1" lang="ja-JP" altLang="en-US" sz="1000" b="1" dirty="0">
                <a:latin typeface="メイリオ" panose="020B0604030504040204" pitchFamily="50" charset="-128"/>
                <a:ea typeface="メイリオ" panose="020B0604030504040204" pitchFamily="50" charset="-128"/>
                <a:cs typeface="メイリオ"/>
              </a:rPr>
              <a:t>アクティブ数</a:t>
            </a:r>
            <a:endParaRPr kumimoji="1" lang="en-US" altLang="ja-JP" sz="1000" b="1" dirty="0">
              <a:latin typeface="メイリオ" panose="020B0604030504040204" pitchFamily="50" charset="-128"/>
              <a:ea typeface="メイリオ" panose="020B0604030504040204" pitchFamily="50" charset="-128"/>
              <a:cs typeface="メイリオ"/>
            </a:endParaRPr>
          </a:p>
          <a:p>
            <a:pPr algn="ctr"/>
            <a:r>
              <a:rPr kumimoji="1" lang="ja-JP" altLang="en-US" sz="800" dirty="0">
                <a:latin typeface="メイリオ" panose="020B0604030504040204" pitchFamily="50" charset="-128"/>
                <a:ea typeface="メイリオ" panose="020B0604030504040204" pitchFamily="50" charset="-128"/>
                <a:cs typeface="メイリオ"/>
              </a:rPr>
              <a:t>（非ブロック率）</a:t>
            </a:r>
          </a:p>
        </p:txBody>
      </p:sp>
      <p:sp>
        <p:nvSpPr>
          <p:cNvPr id="68" name="テキスト ボックス 67">
            <a:extLst>
              <a:ext uri="{FF2B5EF4-FFF2-40B4-BE49-F238E27FC236}">
                <a16:creationId xmlns:a16="http://schemas.microsoft.com/office/drawing/2014/main" id="{D723F77C-494C-4598-FEF1-6B884D04A448}"/>
              </a:ext>
            </a:extLst>
          </p:cNvPr>
          <p:cNvSpPr txBox="1"/>
          <p:nvPr/>
        </p:nvSpPr>
        <p:spPr>
          <a:xfrm>
            <a:off x="632050" y="3492489"/>
            <a:ext cx="1581647" cy="553998"/>
          </a:xfrm>
          <a:prstGeom prst="rect">
            <a:avLst/>
          </a:prstGeom>
          <a:noFill/>
        </p:spPr>
        <p:txBody>
          <a:bodyPr wrap="square">
            <a:spAutoFit/>
          </a:bodyPr>
          <a:lstStyle/>
          <a:p>
            <a:pPr algn="ctr"/>
            <a:r>
              <a:rPr kumimoji="1" lang="ja-JP" altLang="en-US" sz="1000" b="1" dirty="0">
                <a:latin typeface="メイリオ" panose="020B0604030504040204" pitchFamily="50" charset="-128"/>
                <a:ea typeface="メイリオ" panose="020B0604030504040204" pitchFamily="50" charset="-128"/>
                <a:cs typeface="メイリオ"/>
              </a:rPr>
              <a:t>セグメント率</a:t>
            </a:r>
            <a:endParaRPr kumimoji="1" lang="en-US" altLang="ja-JP" sz="1000" b="1" dirty="0">
              <a:latin typeface="メイリオ" panose="020B0604030504040204" pitchFamily="50" charset="-128"/>
              <a:ea typeface="メイリオ" panose="020B0604030504040204" pitchFamily="50" charset="-128"/>
              <a:cs typeface="メイリオ"/>
            </a:endParaRPr>
          </a:p>
          <a:p>
            <a:pPr algn="ctr"/>
            <a:r>
              <a:rPr lang="en-US" altLang="ja-JP" sz="1000" dirty="0">
                <a:latin typeface="メイリオ" panose="020B0604030504040204" pitchFamily="50" charset="-128"/>
                <a:ea typeface="メイリオ" panose="020B0604030504040204" pitchFamily="50" charset="-128"/>
                <a:cs typeface="メイリオ"/>
              </a:rPr>
              <a:t>or</a:t>
            </a:r>
          </a:p>
          <a:p>
            <a:pPr algn="ctr"/>
            <a:r>
              <a:rPr kumimoji="1" lang="ja-JP" altLang="en-US" sz="1000" b="1" dirty="0">
                <a:latin typeface="メイリオ" panose="020B0604030504040204" pitchFamily="50" charset="-128"/>
                <a:ea typeface="メイリオ" panose="020B0604030504040204" pitchFamily="50" charset="-128"/>
                <a:cs typeface="メイリオ"/>
              </a:rPr>
              <a:t>ステップ配信設定数</a:t>
            </a:r>
          </a:p>
        </p:txBody>
      </p:sp>
      <p:sp>
        <p:nvSpPr>
          <p:cNvPr id="69" name="テキスト ボックス 68">
            <a:extLst>
              <a:ext uri="{FF2B5EF4-FFF2-40B4-BE49-F238E27FC236}">
                <a16:creationId xmlns:a16="http://schemas.microsoft.com/office/drawing/2014/main" id="{83F40BCD-888E-2A85-0E72-CECDC4CEFCE7}"/>
              </a:ext>
            </a:extLst>
          </p:cNvPr>
          <p:cNvSpPr txBox="1"/>
          <p:nvPr/>
        </p:nvSpPr>
        <p:spPr>
          <a:xfrm>
            <a:off x="632049" y="2122574"/>
            <a:ext cx="1581648" cy="261610"/>
          </a:xfrm>
          <a:prstGeom prst="rect">
            <a:avLst/>
          </a:prstGeom>
          <a:noFill/>
        </p:spPr>
        <p:txBody>
          <a:bodyPr wrap="square">
            <a:spAutoFit/>
          </a:bodyPr>
          <a:lstStyle/>
          <a:p>
            <a:pPr algn="ctr"/>
            <a:r>
              <a:rPr lang="ja-JP" altLang="en-US" sz="1100" dirty="0">
                <a:solidFill>
                  <a:srgbClr val="00B050"/>
                </a:solidFill>
                <a:latin typeface="メイリオ" panose="020B0604030504040204" pitchFamily="50" charset="-128"/>
                <a:ea typeface="メイリオ" panose="020B0604030504040204" pitchFamily="50" charset="-128"/>
                <a:cs typeface="メイリオ"/>
              </a:rPr>
              <a:t>（ターゲット戦略）</a:t>
            </a:r>
            <a:endParaRPr kumimoji="1" lang="ja-JP" altLang="en-US" sz="1100" dirty="0">
              <a:solidFill>
                <a:srgbClr val="00B050"/>
              </a:solidFill>
              <a:latin typeface="メイリオ" panose="020B0604030504040204" pitchFamily="50" charset="-128"/>
              <a:ea typeface="メイリオ" panose="020B0604030504040204" pitchFamily="50" charset="-128"/>
              <a:cs typeface="メイリオ"/>
            </a:endParaRPr>
          </a:p>
        </p:txBody>
      </p:sp>
      <p:sp>
        <p:nvSpPr>
          <p:cNvPr id="70" name="正方形/長方形 69">
            <a:extLst>
              <a:ext uri="{FF2B5EF4-FFF2-40B4-BE49-F238E27FC236}">
                <a16:creationId xmlns:a16="http://schemas.microsoft.com/office/drawing/2014/main" id="{A282801A-6F7E-2812-60DE-D9BD30E96635}"/>
              </a:ext>
            </a:extLst>
          </p:cNvPr>
          <p:cNvSpPr/>
          <p:nvPr/>
        </p:nvSpPr>
        <p:spPr>
          <a:xfrm>
            <a:off x="828387" y="4167605"/>
            <a:ext cx="1188972" cy="268338"/>
          </a:xfrm>
          <a:prstGeom prst="rect">
            <a:avLst/>
          </a:prstGeom>
          <a:solidFill>
            <a:srgbClr val="00B050"/>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月間通数</a:t>
            </a:r>
          </a:p>
        </p:txBody>
      </p:sp>
      <p:sp>
        <p:nvSpPr>
          <p:cNvPr id="3" name="正方形/長方形 2">
            <a:extLst>
              <a:ext uri="{FF2B5EF4-FFF2-40B4-BE49-F238E27FC236}">
                <a16:creationId xmlns:a16="http://schemas.microsoft.com/office/drawing/2014/main" id="{DEF078B1-2A45-316B-F6D4-2929C807201E}"/>
              </a:ext>
            </a:extLst>
          </p:cNvPr>
          <p:cNvSpPr/>
          <p:nvPr/>
        </p:nvSpPr>
        <p:spPr>
          <a:xfrm>
            <a:off x="619696" y="2055027"/>
            <a:ext cx="1613438" cy="2508602"/>
          </a:xfrm>
          <a:prstGeom prst="rect">
            <a:avLst/>
          </a:prstGeom>
          <a:solidFill>
            <a:schemeClr val="bg1">
              <a:alpha val="65000"/>
            </a:schemeClr>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2" name="吹き出し: 角を丸めた四角形 21">
            <a:extLst>
              <a:ext uri="{FF2B5EF4-FFF2-40B4-BE49-F238E27FC236}">
                <a16:creationId xmlns:a16="http://schemas.microsoft.com/office/drawing/2014/main" id="{72F45E26-7BF4-E2ED-9A7A-1F4668D22973}"/>
              </a:ext>
            </a:extLst>
          </p:cNvPr>
          <p:cNvSpPr/>
          <p:nvPr/>
        </p:nvSpPr>
        <p:spPr>
          <a:xfrm>
            <a:off x="1422873" y="4756716"/>
            <a:ext cx="6798018" cy="1723684"/>
          </a:xfrm>
          <a:prstGeom prst="wedgeRoundRectCallout">
            <a:avLst>
              <a:gd name="adj1" fmla="val -8535"/>
              <a:gd name="adj2" fmla="val -65828"/>
              <a:gd name="adj3" fmla="val 16667"/>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4" name="正方形/長方形 23">
            <a:extLst>
              <a:ext uri="{FF2B5EF4-FFF2-40B4-BE49-F238E27FC236}">
                <a16:creationId xmlns:a16="http://schemas.microsoft.com/office/drawing/2014/main" id="{4E48C706-01F7-97BF-6029-19C07E10A157}"/>
              </a:ext>
            </a:extLst>
          </p:cNvPr>
          <p:cNvSpPr/>
          <p:nvPr/>
        </p:nvSpPr>
        <p:spPr>
          <a:xfrm>
            <a:off x="3144988"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25" name="正方形/長方形 24">
            <a:extLst>
              <a:ext uri="{FF2B5EF4-FFF2-40B4-BE49-F238E27FC236}">
                <a16:creationId xmlns:a16="http://schemas.microsoft.com/office/drawing/2014/main" id="{691F0267-60AB-455D-B6F1-6559EBCD5D65}"/>
              </a:ext>
            </a:extLst>
          </p:cNvPr>
          <p:cNvSpPr/>
          <p:nvPr/>
        </p:nvSpPr>
        <p:spPr>
          <a:xfrm>
            <a:off x="4882248"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26" name="正方形/長方形 25">
            <a:extLst>
              <a:ext uri="{FF2B5EF4-FFF2-40B4-BE49-F238E27FC236}">
                <a16:creationId xmlns:a16="http://schemas.microsoft.com/office/drawing/2014/main" id="{D9156083-EC1B-F8D0-1360-7F5BEA5CB663}"/>
              </a:ext>
            </a:extLst>
          </p:cNvPr>
          <p:cNvSpPr/>
          <p:nvPr/>
        </p:nvSpPr>
        <p:spPr>
          <a:xfrm>
            <a:off x="6594510"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27" name="正方形/長方形 26">
            <a:extLst>
              <a:ext uri="{FF2B5EF4-FFF2-40B4-BE49-F238E27FC236}">
                <a16:creationId xmlns:a16="http://schemas.microsoft.com/office/drawing/2014/main" id="{B0EDDD6B-F76F-0F36-49FD-6D63CEA4F456}"/>
              </a:ext>
            </a:extLst>
          </p:cNvPr>
          <p:cNvSpPr/>
          <p:nvPr/>
        </p:nvSpPr>
        <p:spPr>
          <a:xfrm>
            <a:off x="3144988"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600" b="1" dirty="0">
                <a:solidFill>
                  <a:srgbClr val="1F2A5C"/>
                </a:solidFill>
                <a:latin typeface="メイリオ" panose="020B0604030504040204" pitchFamily="50" charset="-128"/>
                <a:ea typeface="メイリオ" panose="020B0604030504040204" pitchFamily="50" charset="-128"/>
                <a:cs typeface="メイリオ"/>
              </a:rPr>
              <a:t>85 </a:t>
            </a:r>
            <a:r>
              <a:rPr lang="en-US" altLang="ja-JP" sz="1400" b="1" dirty="0">
                <a:solidFill>
                  <a:srgbClr val="1F2A5C"/>
                </a:solidFill>
                <a:latin typeface="メイリオ" panose="020B0604030504040204" pitchFamily="50" charset="-128"/>
                <a:ea typeface="メイリオ" panose="020B0604030504040204" pitchFamily="50" charset="-128"/>
                <a:cs typeface="メイリオ"/>
              </a:rPr>
              <a:t>%</a:t>
            </a:r>
            <a:endParaRPr kumimoji="1" lang="ja-JP" altLang="en-US" sz="14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8" name="正方形/長方形 27">
            <a:extLst>
              <a:ext uri="{FF2B5EF4-FFF2-40B4-BE49-F238E27FC236}">
                <a16:creationId xmlns:a16="http://schemas.microsoft.com/office/drawing/2014/main" id="{FD41B1A7-59DC-DE5C-69C2-F913EA082034}"/>
              </a:ext>
            </a:extLst>
          </p:cNvPr>
          <p:cNvSpPr/>
          <p:nvPr/>
        </p:nvSpPr>
        <p:spPr>
          <a:xfrm>
            <a:off x="4882248"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b="1" dirty="0">
                <a:solidFill>
                  <a:srgbClr val="1F2A5C"/>
                </a:solidFill>
                <a:latin typeface="メイリオ" panose="020B0604030504040204" pitchFamily="50" charset="-128"/>
                <a:ea typeface="メイリオ" panose="020B0604030504040204" pitchFamily="50" charset="-128"/>
                <a:cs typeface="メイリオ"/>
              </a:rPr>
              <a:t>12.5 </a:t>
            </a:r>
            <a:r>
              <a:rPr lang="en-US" altLang="ja-JP" sz="1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14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9" name="正方形/長方形 28">
            <a:extLst>
              <a:ext uri="{FF2B5EF4-FFF2-40B4-BE49-F238E27FC236}">
                <a16:creationId xmlns:a16="http://schemas.microsoft.com/office/drawing/2014/main" id="{2885A2E9-9449-3650-0E4A-5A9BF2D80E32}"/>
              </a:ext>
            </a:extLst>
          </p:cNvPr>
          <p:cNvSpPr/>
          <p:nvPr/>
        </p:nvSpPr>
        <p:spPr>
          <a:xfrm>
            <a:off x="6594510"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600" b="1" dirty="0">
                <a:solidFill>
                  <a:srgbClr val="1F2A5C"/>
                </a:solidFill>
                <a:latin typeface="メイリオ" panose="020B0604030504040204" pitchFamily="50" charset="-128"/>
                <a:ea typeface="メイリオ" panose="020B0604030504040204" pitchFamily="50" charset="-128"/>
                <a:cs typeface="メイリオ"/>
              </a:rPr>
              <a:t>0.5</a:t>
            </a:r>
            <a:r>
              <a:rPr kumimoji="1" lang="en-US" altLang="ja-JP" sz="1400" b="1" dirty="0">
                <a:solidFill>
                  <a:srgbClr val="1F2A5C"/>
                </a:solidFill>
                <a:latin typeface="メイリオ" panose="020B0604030504040204" pitchFamily="50" charset="-128"/>
                <a:ea typeface="メイリオ" panose="020B0604030504040204" pitchFamily="50" charset="-128"/>
                <a:cs typeface="メイリオ"/>
              </a:rPr>
              <a:t> %</a:t>
            </a:r>
            <a:endParaRPr kumimoji="1" lang="ja-JP" altLang="en-US" sz="14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30" name="正方形/長方形 29">
            <a:extLst>
              <a:ext uri="{FF2B5EF4-FFF2-40B4-BE49-F238E27FC236}">
                <a16:creationId xmlns:a16="http://schemas.microsoft.com/office/drawing/2014/main" id="{317ECBDF-09D3-257E-8F4A-E037F6ADBAAE}"/>
              </a:ext>
            </a:extLst>
          </p:cNvPr>
          <p:cNvSpPr/>
          <p:nvPr/>
        </p:nvSpPr>
        <p:spPr>
          <a:xfrm>
            <a:off x="3144988"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b="1" dirty="0">
                <a:solidFill>
                  <a:schemeClr val="tx1"/>
                </a:solidFill>
                <a:latin typeface="メイリオ" panose="020B0604030504040204" pitchFamily="50" charset="-128"/>
                <a:ea typeface="メイリオ" panose="020B0604030504040204" pitchFamily="50" charset="-128"/>
                <a:cs typeface="メイリオ"/>
              </a:rPr>
              <a:t>70 %</a:t>
            </a:r>
            <a:endParaRPr lang="ja-JP" altLang="en-US"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31" name="正方形/長方形 30">
            <a:extLst>
              <a:ext uri="{FF2B5EF4-FFF2-40B4-BE49-F238E27FC236}">
                <a16:creationId xmlns:a16="http://schemas.microsoft.com/office/drawing/2014/main" id="{DA54FC15-4562-C68F-C13B-F3AB00F5F82F}"/>
              </a:ext>
            </a:extLst>
          </p:cNvPr>
          <p:cNvSpPr/>
          <p:nvPr/>
        </p:nvSpPr>
        <p:spPr>
          <a:xfrm>
            <a:off x="4882248"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b="1" dirty="0">
                <a:solidFill>
                  <a:schemeClr val="tx1"/>
                </a:solidFill>
                <a:latin typeface="メイリオ" panose="020B0604030504040204" pitchFamily="50" charset="-128"/>
                <a:ea typeface="メイリオ" panose="020B0604030504040204" pitchFamily="50" charset="-128"/>
                <a:cs typeface="メイリオ"/>
              </a:rPr>
              <a:t>8.25 %</a:t>
            </a:r>
            <a:endParaRPr lang="ja-JP" altLang="en-US"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32" name="正方形/長方形 31">
            <a:extLst>
              <a:ext uri="{FF2B5EF4-FFF2-40B4-BE49-F238E27FC236}">
                <a16:creationId xmlns:a16="http://schemas.microsoft.com/office/drawing/2014/main" id="{382D3CC2-0AA1-6B39-8315-AC41101F88FE}"/>
              </a:ext>
            </a:extLst>
          </p:cNvPr>
          <p:cNvSpPr/>
          <p:nvPr/>
        </p:nvSpPr>
        <p:spPr>
          <a:xfrm>
            <a:off x="6594510"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solidFill>
                  <a:schemeClr val="tx1"/>
                </a:solidFill>
                <a:latin typeface="メイリオ" panose="020B0604030504040204" pitchFamily="50" charset="-128"/>
                <a:ea typeface="メイリオ" panose="020B0604030504040204" pitchFamily="50" charset="-128"/>
                <a:cs typeface="メイリオ"/>
              </a:rPr>
              <a:t>0.3 %</a:t>
            </a:r>
            <a:endParaRPr kumimoji="1" lang="ja-JP" altLang="en-US"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33" name="正方形/長方形 32">
            <a:extLst>
              <a:ext uri="{FF2B5EF4-FFF2-40B4-BE49-F238E27FC236}">
                <a16:creationId xmlns:a16="http://schemas.microsoft.com/office/drawing/2014/main" id="{5C344B7F-D598-9707-1687-34DC19B638F6}"/>
              </a:ext>
            </a:extLst>
          </p:cNvPr>
          <p:cNvSpPr/>
          <p:nvPr/>
        </p:nvSpPr>
        <p:spPr>
          <a:xfrm>
            <a:off x="1569529" y="5226753"/>
            <a:ext cx="1438656" cy="522965"/>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rgbClr val="FFFFFF"/>
                </a:solidFill>
                <a:latin typeface="メイリオ" panose="020B0604030504040204" pitchFamily="50" charset="-128"/>
                <a:ea typeface="メイリオ" panose="020B0604030504040204" pitchFamily="50" charset="-128"/>
                <a:cs typeface="メイリオ"/>
              </a:rPr>
              <a:t>DYM</a:t>
            </a:r>
            <a:r>
              <a:rPr kumimoji="1" lang="ja-JP" altLang="en-US" sz="1200" b="1" dirty="0">
                <a:solidFill>
                  <a:srgbClr val="FFFFFF"/>
                </a:solidFill>
                <a:latin typeface="メイリオ" panose="020B0604030504040204" pitchFamily="50" charset="-128"/>
                <a:ea typeface="メイリオ" panose="020B0604030504040204" pitchFamily="50" charset="-128"/>
                <a:cs typeface="メイリオ"/>
              </a:rPr>
              <a:t>実績</a:t>
            </a:r>
          </a:p>
        </p:txBody>
      </p:sp>
      <p:sp>
        <p:nvSpPr>
          <p:cNvPr id="34" name="正方形/長方形 33">
            <a:extLst>
              <a:ext uri="{FF2B5EF4-FFF2-40B4-BE49-F238E27FC236}">
                <a16:creationId xmlns:a16="http://schemas.microsoft.com/office/drawing/2014/main" id="{93D563E7-193E-0293-8E0E-7C2E3C5192BF}"/>
              </a:ext>
            </a:extLst>
          </p:cNvPr>
          <p:cNvSpPr/>
          <p:nvPr/>
        </p:nvSpPr>
        <p:spPr>
          <a:xfrm>
            <a:off x="1569529" y="5809052"/>
            <a:ext cx="1438656" cy="522965"/>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b="1" dirty="0">
                <a:solidFill>
                  <a:schemeClr val="bg1"/>
                </a:solidFill>
                <a:latin typeface="メイリオ" panose="020B0604030504040204" pitchFamily="50" charset="-128"/>
                <a:ea typeface="メイリオ" panose="020B0604030504040204" pitchFamily="50" charset="-128"/>
                <a:cs typeface="メイリオ"/>
              </a:rPr>
              <a:t>業界平均</a:t>
            </a:r>
            <a:endParaRPr lang="en-US" altLang="ja-JP" sz="1200" b="1" dirty="0">
              <a:solidFill>
                <a:schemeClr val="bg1"/>
              </a:solidFill>
              <a:latin typeface="メイリオ" panose="020B0604030504040204" pitchFamily="50" charset="-128"/>
              <a:ea typeface="メイリオ" panose="020B0604030504040204" pitchFamily="50" charset="-128"/>
              <a:cs typeface="メイリオ"/>
            </a:endParaRPr>
          </a:p>
          <a:p>
            <a:pPr algn="ctr"/>
            <a:r>
              <a:rPr lang="en-US" altLang="ja-JP" sz="8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800" b="1" dirty="0">
                <a:solidFill>
                  <a:schemeClr val="bg1"/>
                </a:solidFill>
                <a:latin typeface="メイリオ" panose="020B0604030504040204" pitchFamily="50" charset="-128"/>
                <a:ea typeface="メイリオ" panose="020B0604030504040204" pitchFamily="50" charset="-128"/>
                <a:cs typeface="メイリオ"/>
              </a:rPr>
              <a:t>ヤフー社より共有）</a:t>
            </a:r>
          </a:p>
        </p:txBody>
      </p:sp>
      <p:sp>
        <p:nvSpPr>
          <p:cNvPr id="35" name="正方形/長方形 34">
            <a:extLst>
              <a:ext uri="{FF2B5EF4-FFF2-40B4-BE49-F238E27FC236}">
                <a16:creationId xmlns:a16="http://schemas.microsoft.com/office/drawing/2014/main" id="{A58F3C16-C1CC-3071-6630-130857C0B7D1}"/>
              </a:ext>
            </a:extLst>
          </p:cNvPr>
          <p:cNvSpPr/>
          <p:nvPr/>
        </p:nvSpPr>
        <p:spPr>
          <a:xfrm>
            <a:off x="564095" y="1666793"/>
            <a:ext cx="8989207" cy="328130"/>
          </a:xfrm>
          <a:prstGeom prst="rect">
            <a:avLst/>
          </a:prstGeom>
          <a:solidFill>
            <a:schemeClr val="tx1"/>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rgbClr val="FFFFFF"/>
                </a:solidFill>
                <a:latin typeface="メイリオ" panose="020B0604030504040204" pitchFamily="50" charset="-128"/>
                <a:ea typeface="メイリオ" panose="020B0604030504040204" pitchFamily="50" charset="-128"/>
                <a:cs typeface="メイリオ"/>
              </a:rPr>
              <a:t>施策の流れ</a:t>
            </a:r>
          </a:p>
        </p:txBody>
      </p:sp>
    </p:spTree>
    <p:extLst>
      <p:ext uri="{BB962C8B-B14F-4D97-AF65-F5344CB8AC3E}">
        <p14:creationId xmlns:p14="http://schemas.microsoft.com/office/powerpoint/2010/main" val="242184237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EBFBA-F50F-49FF-6262-A65BC71D24BA}"/>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54A58725-F6F0-8B49-3CD7-5CBEAA430892}"/>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C83D44E2-DD1A-B705-6239-227268DFCE80}"/>
              </a:ext>
            </a:extLst>
          </p:cNvPr>
          <p:cNvSpPr/>
          <p:nvPr/>
        </p:nvSpPr>
        <p:spPr>
          <a:xfrm>
            <a:off x="788963" y="793451"/>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業態平均で</a:t>
            </a:r>
            <a:r>
              <a:rPr lang="ja-JP" altLang="en-US" sz="1400" b="1" dirty="0">
                <a:solidFill>
                  <a:srgbClr val="1F2A5C"/>
                </a:solidFill>
                <a:latin typeface="メイリオ" panose="020B0604030504040204" pitchFamily="50" charset="-128"/>
                <a:ea typeface="メイリオ" panose="020B0604030504040204" pitchFamily="50" charset="-128"/>
                <a:cs typeface="メイリオ"/>
              </a:rPr>
              <a:t>最大３</a:t>
            </a:r>
            <a:r>
              <a:rPr lang="en-US" altLang="ja-JP" sz="1400" b="1" dirty="0">
                <a:solidFill>
                  <a:srgbClr val="1F2A5C"/>
                </a:solidFill>
                <a:latin typeface="メイリオ" panose="020B0604030504040204" pitchFamily="50" charset="-128"/>
                <a:ea typeface="メイリオ" panose="020B0604030504040204" pitchFamily="50" charset="-128"/>
                <a:cs typeface="メイリオ"/>
              </a:rPr>
              <a:t>%</a:t>
            </a:r>
            <a:r>
              <a:rPr lang="ja-JP" altLang="en-US" sz="1400" b="1" dirty="0">
                <a:solidFill>
                  <a:srgbClr val="1F2A5C"/>
                </a:solidFill>
                <a:latin typeface="メイリオ" panose="020B0604030504040204" pitchFamily="50" charset="-128"/>
                <a:ea typeface="メイリオ" panose="020B0604030504040204" pitchFamily="50" charset="-128"/>
                <a:cs typeface="メイリオ"/>
              </a:rPr>
              <a:t>のユーザーは有効化</a:t>
            </a:r>
            <a:r>
              <a:rPr lang="en-US" altLang="ja-JP" sz="1400" b="1" dirty="0">
                <a:solidFill>
                  <a:srgbClr val="1F2A5C"/>
                </a:solidFill>
                <a:latin typeface="メイリオ" panose="020B0604030504040204" pitchFamily="50" charset="-128"/>
                <a:ea typeface="メイリオ" panose="020B0604030504040204" pitchFamily="50" charset="-128"/>
                <a:cs typeface="メイリオ"/>
              </a:rPr>
              <a:t>/</a:t>
            </a:r>
            <a:r>
              <a:rPr lang="ja-JP" altLang="en-US" sz="1400" b="1" dirty="0">
                <a:solidFill>
                  <a:srgbClr val="1F2A5C"/>
                </a:solidFill>
                <a:latin typeface="メイリオ" panose="020B0604030504040204" pitchFamily="50" charset="-128"/>
                <a:ea typeface="メイリオ" panose="020B0604030504040204" pitchFamily="50" charset="-128"/>
                <a:cs typeface="メイリオ"/>
              </a:rPr>
              <a:t>マネタイズ可能</a:t>
            </a:r>
            <a:r>
              <a:rPr lang="ja-JP" altLang="en-US" sz="1400" dirty="0">
                <a:solidFill>
                  <a:srgbClr val="343434"/>
                </a:solidFill>
                <a:latin typeface="メイリオ" panose="020B0604030504040204" pitchFamily="50" charset="-128"/>
                <a:ea typeface="メイリオ" panose="020B0604030504040204" pitchFamily="50" charset="-128"/>
                <a:cs typeface="メイリオ"/>
              </a:rPr>
              <a:t> とされている。</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貴社集客課題に合わせて、</a:t>
            </a:r>
            <a:r>
              <a:rPr lang="en-US" altLang="ja-JP" sz="1400" dirty="0">
                <a:solidFill>
                  <a:srgbClr val="343434"/>
                </a:solidFill>
                <a:latin typeface="メイリオ" panose="020B0604030504040204" pitchFamily="50" charset="-128"/>
                <a:ea typeface="メイリオ" panose="020B0604030504040204" pitchFamily="50" charset="-128"/>
                <a:cs typeface="メイリオ"/>
              </a:rPr>
              <a:t>LINE</a:t>
            </a:r>
            <a:r>
              <a:rPr lang="ja-JP" altLang="en-US" sz="1400" dirty="0">
                <a:solidFill>
                  <a:srgbClr val="343434"/>
                </a:solidFill>
                <a:latin typeface="メイリオ" panose="020B0604030504040204" pitchFamily="50" charset="-128"/>
                <a:ea typeface="メイリオ" panose="020B0604030504040204" pitchFamily="50" charset="-128"/>
                <a:cs typeface="メイリオ"/>
              </a:rPr>
              <a:t>公式アカウントの構築モデルを活用しながら集客効率を改善。</a:t>
            </a:r>
          </a:p>
        </p:txBody>
      </p:sp>
      <p:cxnSp>
        <p:nvCxnSpPr>
          <p:cNvPr id="5" name="直線コネクタ 4">
            <a:extLst>
              <a:ext uri="{FF2B5EF4-FFF2-40B4-BE49-F238E27FC236}">
                <a16:creationId xmlns:a16="http://schemas.microsoft.com/office/drawing/2014/main" id="{73533EC4-DA04-2252-5E95-8206105B300C}"/>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DEFE914D-32AD-C9E0-A47B-60FB84F7995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sp>
        <p:nvSpPr>
          <p:cNvPr id="2" name="正方形/長方形 1">
            <a:extLst>
              <a:ext uri="{FF2B5EF4-FFF2-40B4-BE49-F238E27FC236}">
                <a16:creationId xmlns:a16="http://schemas.microsoft.com/office/drawing/2014/main" id="{EEF4BB1D-1E6E-955A-85D2-2DAF3FCF967B}"/>
              </a:ext>
            </a:extLst>
          </p:cNvPr>
          <p:cNvSpPr/>
          <p:nvPr/>
        </p:nvSpPr>
        <p:spPr>
          <a:xfrm>
            <a:off x="437755" y="1606187"/>
            <a:ext cx="1425879"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メイリオ" panose="020B0604030504040204" pitchFamily="50" charset="-128"/>
                <a:ea typeface="メイリオ" panose="020B0604030504040204" pitchFamily="50" charset="-128"/>
                <a:cs typeface="メイリオ"/>
              </a:rPr>
              <a:t>流入元</a:t>
            </a:r>
          </a:p>
        </p:txBody>
      </p:sp>
      <p:sp>
        <p:nvSpPr>
          <p:cNvPr id="8" name="正方形/長方形 7">
            <a:extLst>
              <a:ext uri="{FF2B5EF4-FFF2-40B4-BE49-F238E27FC236}">
                <a16:creationId xmlns:a16="http://schemas.microsoft.com/office/drawing/2014/main" id="{531C33D5-FD17-057E-9ABE-377B289F9790}"/>
              </a:ext>
            </a:extLst>
          </p:cNvPr>
          <p:cNvSpPr/>
          <p:nvPr/>
        </p:nvSpPr>
        <p:spPr>
          <a:xfrm>
            <a:off x="1939984" y="1606186"/>
            <a:ext cx="1425879" cy="314059"/>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LINE</a:t>
            </a:r>
            <a:r>
              <a:rPr kumimoji="1" lang="ja-JP" altLang="en-US" sz="1200" b="1" dirty="0">
                <a:latin typeface="メイリオ" panose="020B0604030504040204" pitchFamily="50" charset="-128"/>
                <a:ea typeface="メイリオ" panose="020B0604030504040204" pitchFamily="50" charset="-128"/>
                <a:cs typeface="メイリオ"/>
              </a:rPr>
              <a:t>誘導</a:t>
            </a:r>
          </a:p>
        </p:txBody>
      </p:sp>
      <p:sp>
        <p:nvSpPr>
          <p:cNvPr id="10" name="正方形/長方形 9">
            <a:extLst>
              <a:ext uri="{FF2B5EF4-FFF2-40B4-BE49-F238E27FC236}">
                <a16:creationId xmlns:a16="http://schemas.microsoft.com/office/drawing/2014/main" id="{AFB52975-24F0-82CC-8A36-A65D2F539FA3}"/>
              </a:ext>
            </a:extLst>
          </p:cNvPr>
          <p:cNvSpPr/>
          <p:nvPr/>
        </p:nvSpPr>
        <p:spPr>
          <a:xfrm>
            <a:off x="3442213" y="1606186"/>
            <a:ext cx="4320230"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latin typeface="メイリオ" panose="020B0604030504040204" pitchFamily="50" charset="-128"/>
                <a:ea typeface="メイリオ" panose="020B0604030504040204" pitchFamily="50" charset="-128"/>
                <a:cs typeface="メイリオ"/>
              </a:rPr>
              <a:t>具体の施策方針</a:t>
            </a:r>
          </a:p>
        </p:txBody>
      </p:sp>
      <p:sp>
        <p:nvSpPr>
          <p:cNvPr id="34" name="矢印: 右 33">
            <a:extLst>
              <a:ext uri="{FF2B5EF4-FFF2-40B4-BE49-F238E27FC236}">
                <a16:creationId xmlns:a16="http://schemas.microsoft.com/office/drawing/2014/main" id="{173A008B-7B40-3834-688E-168FABDF16B8}"/>
              </a:ext>
            </a:extLst>
          </p:cNvPr>
          <p:cNvSpPr/>
          <p:nvPr/>
        </p:nvSpPr>
        <p:spPr>
          <a:xfrm>
            <a:off x="1080889" y="228037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7" name="正方形/長方形 36">
            <a:extLst>
              <a:ext uri="{FF2B5EF4-FFF2-40B4-BE49-F238E27FC236}">
                <a16:creationId xmlns:a16="http://schemas.microsoft.com/office/drawing/2014/main" id="{FD70E0F9-3A37-9791-A2F1-DB53DFA521CA}"/>
              </a:ext>
            </a:extLst>
          </p:cNvPr>
          <p:cNvSpPr/>
          <p:nvPr/>
        </p:nvSpPr>
        <p:spPr>
          <a:xfrm>
            <a:off x="1939984" y="2014581"/>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a:solidFill>
                  <a:schemeClr val="tx1">
                    <a:lumMod val="75000"/>
                    <a:lumOff val="25000"/>
                  </a:schemeClr>
                </a:solidFill>
                <a:latin typeface="メイリオ" panose="020B0604030504040204" pitchFamily="50" charset="-128"/>
                <a:ea typeface="メイリオ" panose="020B0604030504040204" pitchFamily="50" charset="-128"/>
                <a:cs typeface="メイリオ"/>
              </a:rPr>
              <a:t>離脱防止</a:t>
            </a:r>
            <a:endParaRPr lang="en-US" altLang="ja-JP"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サイト上ポップアップ</a:t>
            </a:r>
          </a:p>
        </p:txBody>
      </p:sp>
      <p:sp>
        <p:nvSpPr>
          <p:cNvPr id="39" name="正方形/長方形 38">
            <a:extLst>
              <a:ext uri="{FF2B5EF4-FFF2-40B4-BE49-F238E27FC236}">
                <a16:creationId xmlns:a16="http://schemas.microsoft.com/office/drawing/2014/main" id="{BC93A6AA-67BF-84C0-0945-45084140FCCE}"/>
              </a:ext>
            </a:extLst>
          </p:cNvPr>
          <p:cNvSpPr/>
          <p:nvPr/>
        </p:nvSpPr>
        <p:spPr>
          <a:xfrm>
            <a:off x="1939984" y="262776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離脱防止</a:t>
            </a:r>
            <a:endParaRPr lang="en-US" altLang="ja-JP"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サイト上ポップアップ</a:t>
            </a:r>
          </a:p>
        </p:txBody>
      </p:sp>
      <p:sp>
        <p:nvSpPr>
          <p:cNvPr id="41" name="正方形/長方形 40">
            <a:extLst>
              <a:ext uri="{FF2B5EF4-FFF2-40B4-BE49-F238E27FC236}">
                <a16:creationId xmlns:a16="http://schemas.microsoft.com/office/drawing/2014/main" id="{1B7DB214-408D-A44C-E3F0-2C35AF01311F}"/>
              </a:ext>
            </a:extLst>
          </p:cNvPr>
          <p:cNvSpPr/>
          <p:nvPr/>
        </p:nvSpPr>
        <p:spPr>
          <a:xfrm>
            <a:off x="437755" y="2014581"/>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00">
                <a:solidFill>
                  <a:schemeClr val="tx1">
                    <a:lumMod val="75000"/>
                    <a:lumOff val="25000"/>
                  </a:schemeClr>
                </a:solidFill>
                <a:latin typeface="メイリオ" panose="020B0604030504040204" pitchFamily="50" charset="-128"/>
                <a:ea typeface="メイリオ" panose="020B0604030504040204" pitchFamily="50" charset="-128"/>
                <a:cs typeface="メイリオ"/>
              </a:rPr>
              <a:t>SEO</a:t>
            </a:r>
            <a:r>
              <a:rPr lang="ja-JP" altLang="en-US" sz="1000">
                <a:solidFill>
                  <a:schemeClr val="tx1">
                    <a:lumMod val="75000"/>
                    <a:lumOff val="25000"/>
                  </a:schemeClr>
                </a:solidFill>
                <a:latin typeface="メイリオ" panose="020B0604030504040204" pitchFamily="50" charset="-128"/>
                <a:ea typeface="メイリオ" panose="020B0604030504040204" pitchFamily="50" charset="-128"/>
                <a:cs typeface="メイリオ"/>
              </a:rPr>
              <a:t>・</a:t>
            </a:r>
            <a:r>
              <a:rPr lang="en-US" altLang="ja-JP" sz="10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AIO</a:t>
            </a:r>
            <a:endPar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43" name="正方形/長方形 42">
            <a:extLst>
              <a:ext uri="{FF2B5EF4-FFF2-40B4-BE49-F238E27FC236}">
                <a16:creationId xmlns:a16="http://schemas.microsoft.com/office/drawing/2014/main" id="{4FF021F0-AD46-9EC1-0810-C474BA8335D8}"/>
              </a:ext>
            </a:extLst>
          </p:cNvPr>
          <p:cNvSpPr/>
          <p:nvPr/>
        </p:nvSpPr>
        <p:spPr>
          <a:xfrm>
            <a:off x="437755" y="262776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広告</a:t>
            </a:r>
          </a:p>
        </p:txBody>
      </p:sp>
      <p:sp>
        <p:nvSpPr>
          <p:cNvPr id="46" name="正方形/長方形 45">
            <a:extLst>
              <a:ext uri="{FF2B5EF4-FFF2-40B4-BE49-F238E27FC236}">
                <a16:creationId xmlns:a16="http://schemas.microsoft.com/office/drawing/2014/main" id="{8A474FF7-4108-C39F-A5EC-7D5691573134}"/>
              </a:ext>
            </a:extLst>
          </p:cNvPr>
          <p:cNvSpPr/>
          <p:nvPr/>
        </p:nvSpPr>
        <p:spPr>
          <a:xfrm>
            <a:off x="3442213" y="2009121"/>
            <a:ext cx="4320230" cy="1177176"/>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48" name="矢印: 右 47">
            <a:extLst>
              <a:ext uri="{FF2B5EF4-FFF2-40B4-BE49-F238E27FC236}">
                <a16:creationId xmlns:a16="http://schemas.microsoft.com/office/drawing/2014/main" id="{7386A58D-9B89-4DB0-7216-4E1CB6B454A9}"/>
              </a:ext>
            </a:extLst>
          </p:cNvPr>
          <p:cNvSpPr/>
          <p:nvPr/>
        </p:nvSpPr>
        <p:spPr>
          <a:xfrm>
            <a:off x="1080891" y="323221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0" name="矢印: 右 49">
            <a:extLst>
              <a:ext uri="{FF2B5EF4-FFF2-40B4-BE49-F238E27FC236}">
                <a16:creationId xmlns:a16="http://schemas.microsoft.com/office/drawing/2014/main" id="{D3CE675D-8A5C-D632-6FDA-1C8A7E291893}"/>
              </a:ext>
            </a:extLst>
          </p:cNvPr>
          <p:cNvSpPr/>
          <p:nvPr/>
        </p:nvSpPr>
        <p:spPr>
          <a:xfrm>
            <a:off x="1080890" y="3933285"/>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51" name="直線コネクタ 50">
            <a:extLst>
              <a:ext uri="{FF2B5EF4-FFF2-40B4-BE49-F238E27FC236}">
                <a16:creationId xmlns:a16="http://schemas.microsoft.com/office/drawing/2014/main" id="{8397AEEA-4837-54CF-13BA-F31B80D1393F}"/>
              </a:ext>
            </a:extLst>
          </p:cNvPr>
          <p:cNvCxnSpPr>
            <a:cxnSpLocks/>
          </p:cNvCxnSpPr>
          <p:nvPr/>
        </p:nvCxnSpPr>
        <p:spPr>
          <a:xfrm flipV="1">
            <a:off x="437755" y="3888359"/>
            <a:ext cx="7324688" cy="1"/>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52" name="正方形/長方形 51">
            <a:extLst>
              <a:ext uri="{FF2B5EF4-FFF2-40B4-BE49-F238E27FC236}">
                <a16:creationId xmlns:a16="http://schemas.microsoft.com/office/drawing/2014/main" id="{24D1C472-525A-CFB1-3C6E-3053F2619881}"/>
              </a:ext>
            </a:extLst>
          </p:cNvPr>
          <p:cNvSpPr/>
          <p:nvPr/>
        </p:nvSpPr>
        <p:spPr>
          <a:xfrm>
            <a:off x="437755" y="3240953"/>
            <a:ext cx="2928107"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LINE</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広告（</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CPF</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配信）</a:t>
            </a:r>
            <a:endPar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a:p>
            <a:pPr algn="ct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サイト上ポップアップ</a:t>
            </a: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53" name="正方形/長方形 52">
            <a:extLst>
              <a:ext uri="{FF2B5EF4-FFF2-40B4-BE49-F238E27FC236}">
                <a16:creationId xmlns:a16="http://schemas.microsoft.com/office/drawing/2014/main" id="{CBD188BB-0EA8-4510-DCA0-2AEE1B7CD5EB}"/>
              </a:ext>
            </a:extLst>
          </p:cNvPr>
          <p:cNvSpPr/>
          <p:nvPr/>
        </p:nvSpPr>
        <p:spPr>
          <a:xfrm>
            <a:off x="1939984" y="3977235"/>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通知メッセ</a:t>
            </a:r>
          </a:p>
        </p:txBody>
      </p:sp>
      <p:sp>
        <p:nvSpPr>
          <p:cNvPr id="54" name="正方形/長方形 53">
            <a:extLst>
              <a:ext uri="{FF2B5EF4-FFF2-40B4-BE49-F238E27FC236}">
                <a16:creationId xmlns:a16="http://schemas.microsoft.com/office/drawing/2014/main" id="{29E6B5C9-2FD2-FC57-1789-05FA5F38E1F7}"/>
              </a:ext>
            </a:extLst>
          </p:cNvPr>
          <p:cNvSpPr/>
          <p:nvPr/>
        </p:nvSpPr>
        <p:spPr>
          <a:xfrm>
            <a:off x="437755" y="3977235"/>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mcv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済</a:t>
            </a:r>
          </a:p>
        </p:txBody>
      </p:sp>
      <p:sp>
        <p:nvSpPr>
          <p:cNvPr id="55" name="正方形/長方形 54">
            <a:extLst>
              <a:ext uri="{FF2B5EF4-FFF2-40B4-BE49-F238E27FC236}">
                <a16:creationId xmlns:a16="http://schemas.microsoft.com/office/drawing/2014/main" id="{533AD0C0-7276-FA17-9FD7-734635201CB2}"/>
              </a:ext>
            </a:extLst>
          </p:cNvPr>
          <p:cNvSpPr/>
          <p:nvPr/>
        </p:nvSpPr>
        <p:spPr>
          <a:xfrm>
            <a:off x="3442212" y="3240953"/>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56" name="正方形/長方形 55">
            <a:extLst>
              <a:ext uri="{FF2B5EF4-FFF2-40B4-BE49-F238E27FC236}">
                <a16:creationId xmlns:a16="http://schemas.microsoft.com/office/drawing/2014/main" id="{415D5861-B108-7E0A-3377-5601EF82149A}"/>
              </a:ext>
            </a:extLst>
          </p:cNvPr>
          <p:cNvSpPr/>
          <p:nvPr/>
        </p:nvSpPr>
        <p:spPr>
          <a:xfrm>
            <a:off x="3442212" y="3977237"/>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58" name="矢印: 右 57">
            <a:extLst>
              <a:ext uri="{FF2B5EF4-FFF2-40B4-BE49-F238E27FC236}">
                <a16:creationId xmlns:a16="http://schemas.microsoft.com/office/drawing/2014/main" id="{94AAFD78-CFCD-8AAC-C5DE-8F785D90C401}"/>
              </a:ext>
            </a:extLst>
          </p:cNvPr>
          <p:cNvSpPr/>
          <p:nvPr/>
        </p:nvSpPr>
        <p:spPr>
          <a:xfrm>
            <a:off x="1080889" y="458031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0" name="矢印: 右 59">
            <a:extLst>
              <a:ext uri="{FF2B5EF4-FFF2-40B4-BE49-F238E27FC236}">
                <a16:creationId xmlns:a16="http://schemas.microsoft.com/office/drawing/2014/main" id="{4D8298BD-6809-4C50-E889-0C5F779DE209}"/>
              </a:ext>
            </a:extLst>
          </p:cNvPr>
          <p:cNvSpPr/>
          <p:nvPr/>
        </p:nvSpPr>
        <p:spPr>
          <a:xfrm>
            <a:off x="1080889" y="581195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2" name="矢印: 右 61">
            <a:extLst>
              <a:ext uri="{FF2B5EF4-FFF2-40B4-BE49-F238E27FC236}">
                <a16:creationId xmlns:a16="http://schemas.microsoft.com/office/drawing/2014/main" id="{01F0D3B8-3119-304D-228E-ED46B6CAB67D}"/>
              </a:ext>
            </a:extLst>
          </p:cNvPr>
          <p:cNvSpPr/>
          <p:nvPr/>
        </p:nvSpPr>
        <p:spPr>
          <a:xfrm>
            <a:off x="1080889" y="5201704"/>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4" name="正方形/長方形 63">
            <a:extLst>
              <a:ext uri="{FF2B5EF4-FFF2-40B4-BE49-F238E27FC236}">
                <a16:creationId xmlns:a16="http://schemas.microsoft.com/office/drawing/2014/main" id="{9751A61D-8342-2E71-49E2-6F2A585210CF}"/>
              </a:ext>
            </a:extLst>
          </p:cNvPr>
          <p:cNvSpPr/>
          <p:nvPr/>
        </p:nvSpPr>
        <p:spPr>
          <a:xfrm>
            <a:off x="1939984" y="4595881"/>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サンクス</a:t>
            </a:r>
            <a:r>
              <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LINE</a:t>
            </a: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誘導</a:t>
            </a:r>
          </a:p>
        </p:txBody>
      </p:sp>
      <p:sp>
        <p:nvSpPr>
          <p:cNvPr id="66" name="正方形/長方形 65">
            <a:extLst>
              <a:ext uri="{FF2B5EF4-FFF2-40B4-BE49-F238E27FC236}">
                <a16:creationId xmlns:a16="http://schemas.microsoft.com/office/drawing/2014/main" id="{069B86FC-7AC9-2579-6747-94409852E6A9}"/>
              </a:ext>
            </a:extLst>
          </p:cNvPr>
          <p:cNvSpPr/>
          <p:nvPr/>
        </p:nvSpPr>
        <p:spPr>
          <a:xfrm>
            <a:off x="437755" y="4595881"/>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mcv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済</a:t>
            </a:r>
          </a:p>
        </p:txBody>
      </p:sp>
      <p:sp>
        <p:nvSpPr>
          <p:cNvPr id="68" name="正方形/長方形 67">
            <a:extLst>
              <a:ext uri="{FF2B5EF4-FFF2-40B4-BE49-F238E27FC236}">
                <a16:creationId xmlns:a16="http://schemas.microsoft.com/office/drawing/2014/main" id="{259BCB38-DAF2-BC8F-7410-9383C33A3F86}"/>
              </a:ext>
            </a:extLst>
          </p:cNvPr>
          <p:cNvSpPr/>
          <p:nvPr/>
        </p:nvSpPr>
        <p:spPr>
          <a:xfrm>
            <a:off x="437755" y="521452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保有リスト</a:t>
            </a:r>
          </a:p>
        </p:txBody>
      </p:sp>
      <p:sp>
        <p:nvSpPr>
          <p:cNvPr id="70" name="正方形/長方形 69">
            <a:extLst>
              <a:ext uri="{FF2B5EF4-FFF2-40B4-BE49-F238E27FC236}">
                <a16:creationId xmlns:a16="http://schemas.microsoft.com/office/drawing/2014/main" id="{1F924E3D-9CB9-CA80-4FF6-D62C50842AEB}"/>
              </a:ext>
            </a:extLst>
          </p:cNvPr>
          <p:cNvSpPr/>
          <p:nvPr/>
        </p:nvSpPr>
        <p:spPr>
          <a:xfrm>
            <a:off x="437755" y="5833173"/>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保有リスト</a:t>
            </a:r>
          </a:p>
        </p:txBody>
      </p:sp>
      <p:sp>
        <p:nvSpPr>
          <p:cNvPr id="72" name="正方形/長方形 71">
            <a:extLst>
              <a:ext uri="{FF2B5EF4-FFF2-40B4-BE49-F238E27FC236}">
                <a16:creationId xmlns:a16="http://schemas.microsoft.com/office/drawing/2014/main" id="{048444BF-0B54-4CE2-78C3-B78C7FCD001B}"/>
              </a:ext>
            </a:extLst>
          </p:cNvPr>
          <p:cNvSpPr/>
          <p:nvPr/>
        </p:nvSpPr>
        <p:spPr>
          <a:xfrm>
            <a:off x="1939983" y="521452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通知メッセ</a:t>
            </a:r>
          </a:p>
        </p:txBody>
      </p:sp>
      <p:sp>
        <p:nvSpPr>
          <p:cNvPr id="74" name="正方形/長方形 73">
            <a:extLst>
              <a:ext uri="{FF2B5EF4-FFF2-40B4-BE49-F238E27FC236}">
                <a16:creationId xmlns:a16="http://schemas.microsoft.com/office/drawing/2014/main" id="{AD971EAE-829E-07E1-B15C-D7B9C5538B0F}"/>
              </a:ext>
            </a:extLst>
          </p:cNvPr>
          <p:cNvSpPr/>
          <p:nvPr/>
        </p:nvSpPr>
        <p:spPr>
          <a:xfrm>
            <a:off x="1939983" y="5833173"/>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メルマガ・テレマ</a:t>
            </a:r>
            <a:endPar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a:p>
            <a:pPr algn="ctr"/>
            <a:r>
              <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SNS</a:t>
            </a:r>
            <a:r>
              <a:rPr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告知</a:t>
            </a: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76" name="正方形/長方形 75">
            <a:extLst>
              <a:ext uri="{FF2B5EF4-FFF2-40B4-BE49-F238E27FC236}">
                <a16:creationId xmlns:a16="http://schemas.microsoft.com/office/drawing/2014/main" id="{1D0E3A14-A5E0-6277-4C0A-37271CE6D04A}"/>
              </a:ext>
            </a:extLst>
          </p:cNvPr>
          <p:cNvSpPr/>
          <p:nvPr/>
        </p:nvSpPr>
        <p:spPr>
          <a:xfrm>
            <a:off x="3442212" y="4595883"/>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78" name="正方形/長方形 77">
            <a:extLst>
              <a:ext uri="{FF2B5EF4-FFF2-40B4-BE49-F238E27FC236}">
                <a16:creationId xmlns:a16="http://schemas.microsoft.com/office/drawing/2014/main" id="{0F8EFC74-4358-EB59-16A6-D864C62AC931}"/>
              </a:ext>
            </a:extLst>
          </p:cNvPr>
          <p:cNvSpPr/>
          <p:nvPr/>
        </p:nvSpPr>
        <p:spPr>
          <a:xfrm>
            <a:off x="3442212" y="5214528"/>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80" name="正方形/長方形 79">
            <a:extLst>
              <a:ext uri="{FF2B5EF4-FFF2-40B4-BE49-F238E27FC236}">
                <a16:creationId xmlns:a16="http://schemas.microsoft.com/office/drawing/2014/main" id="{36006927-A8A5-7A4B-A04C-F5D0808A5304}"/>
              </a:ext>
            </a:extLst>
          </p:cNvPr>
          <p:cNvSpPr/>
          <p:nvPr/>
        </p:nvSpPr>
        <p:spPr>
          <a:xfrm>
            <a:off x="3442212" y="5822247"/>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86" name="Shape 17">
            <a:extLst>
              <a:ext uri="{FF2B5EF4-FFF2-40B4-BE49-F238E27FC236}">
                <a16:creationId xmlns:a16="http://schemas.microsoft.com/office/drawing/2014/main" id="{B77E1FF1-F589-36AA-D779-FABB807F9501}"/>
              </a:ext>
            </a:extLst>
          </p:cNvPr>
          <p:cNvSpPr/>
          <p:nvPr/>
        </p:nvSpPr>
        <p:spPr>
          <a:xfrm>
            <a:off x="3636262" y="2079998"/>
            <a:ext cx="1763487"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あいさつMSG</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endPar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a:endParaRPr>
          </a:p>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登録特典</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資料</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診断</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自動送付</a:t>
            </a:r>
            <a:endPar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a:endParaRPr>
          </a:p>
        </p:txBody>
      </p:sp>
      <p:sp>
        <p:nvSpPr>
          <p:cNvPr id="88" name="Shape 18">
            <a:extLst>
              <a:ext uri="{FF2B5EF4-FFF2-40B4-BE49-F238E27FC236}">
                <a16:creationId xmlns:a16="http://schemas.microsoft.com/office/drawing/2014/main" id="{CA0F439F-8568-5F59-980B-81BDBE16E656}"/>
              </a:ext>
            </a:extLst>
          </p:cNvPr>
          <p:cNvSpPr/>
          <p:nvPr/>
        </p:nvSpPr>
        <p:spPr>
          <a:xfrm>
            <a:off x="5685390" y="2079998"/>
            <a:ext cx="1763486"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教育コンテンツ配信</a:t>
            </a:r>
            <a:endParaRPr lang="en-US" altLang="ja-JP" sz="800">
              <a:solidFill>
                <a:schemeClr val="bg1">
                  <a:lumMod val="65000"/>
                </a:schemeClr>
              </a:solidFill>
              <a:latin typeface="メイリオ" panose="020B0604030504040204" pitchFamily="50" charset="-128"/>
              <a:ea typeface="メイリオ" panose="020B0604030504040204" pitchFamily="50" charset="-128"/>
              <a:cs typeface="メイリオ"/>
            </a:endParaRPr>
          </a:p>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（週1）→ CV誘導オファー</a:t>
            </a:r>
            <a:endPar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a:endParaRPr>
          </a:p>
        </p:txBody>
      </p:sp>
      <p:sp>
        <p:nvSpPr>
          <p:cNvPr id="90" name="Text 22">
            <a:extLst>
              <a:ext uri="{FF2B5EF4-FFF2-40B4-BE49-F238E27FC236}">
                <a16:creationId xmlns:a16="http://schemas.microsoft.com/office/drawing/2014/main" id="{A38D1B69-A9BE-A8D7-FA06-008BBED1A542}"/>
              </a:ext>
            </a:extLst>
          </p:cNvPr>
          <p:cNvSpPr/>
          <p:nvPr/>
        </p:nvSpPr>
        <p:spPr>
          <a:xfrm>
            <a:off x="-1097280" y="1156254"/>
            <a:ext cx="2359152" cy="585216"/>
          </a:xfrm>
          <a:prstGeom prst="rect">
            <a:avLst/>
          </a:prstGeom>
          <a:noFill/>
          <a:ln/>
        </p:spPr>
        <p:txBody>
          <a:bodyPr wrap="square" lIns="0" tIns="0" rIns="0" bIns="0" rtlCol="0" anchor="ctr"/>
          <a:lstStyle/>
          <a:p>
            <a:pPr marL="0" indent="0">
              <a:lnSpc>
                <a:spcPct val="135000"/>
              </a:lnSpc>
              <a:buNone/>
            </a:pPr>
            <a:endParaRPr lang="en-US" sz="900" dirty="0">
              <a:latin typeface="メイリオ"/>
              <a:ea typeface="メイリオ"/>
              <a:cs typeface="メイリオ"/>
            </a:endParaRPr>
          </a:p>
        </p:txBody>
      </p:sp>
      <p:sp>
        <p:nvSpPr>
          <p:cNvPr id="92" name="Text 24">
            <a:extLst>
              <a:ext uri="{FF2B5EF4-FFF2-40B4-BE49-F238E27FC236}">
                <a16:creationId xmlns:a16="http://schemas.microsoft.com/office/drawing/2014/main" id="{56CF8B32-B6D6-0DD2-541C-145309CBBBE1}"/>
              </a:ext>
            </a:extLst>
          </p:cNvPr>
          <p:cNvSpPr/>
          <p:nvPr/>
        </p:nvSpPr>
        <p:spPr>
          <a:xfrm>
            <a:off x="1591056" y="1156254"/>
            <a:ext cx="2944368" cy="585216"/>
          </a:xfrm>
          <a:prstGeom prst="rect">
            <a:avLst/>
          </a:prstGeom>
          <a:noFill/>
          <a:ln/>
        </p:spPr>
        <p:txBody>
          <a:bodyPr wrap="square" lIns="0" tIns="0" rIns="0" bIns="0" rtlCol="0" anchor="ctr"/>
          <a:lstStyle/>
          <a:p>
            <a:pPr marL="0" indent="0">
              <a:lnSpc>
                <a:spcPct val="135000"/>
              </a:lnSpc>
              <a:buNone/>
            </a:pPr>
            <a:endParaRPr lang="en-US" sz="900" dirty="0">
              <a:latin typeface="メイリオ"/>
              <a:ea typeface="メイリオ"/>
              <a:cs typeface="メイリオ"/>
            </a:endParaRPr>
          </a:p>
        </p:txBody>
      </p:sp>
      <p:cxnSp>
        <p:nvCxnSpPr>
          <p:cNvPr id="94" name="直線矢印コネクタ 93">
            <a:extLst>
              <a:ext uri="{FF2B5EF4-FFF2-40B4-BE49-F238E27FC236}">
                <a16:creationId xmlns:a16="http://schemas.microsoft.com/office/drawing/2014/main" id="{F1667E92-F492-3E12-307D-7E98E48B45D9}"/>
              </a:ext>
            </a:extLst>
          </p:cNvPr>
          <p:cNvCxnSpPr>
            <a:endCxn id="88" idx="1"/>
          </p:cNvCxnSpPr>
          <p:nvPr/>
        </p:nvCxnSpPr>
        <p:spPr>
          <a:xfrm>
            <a:off x="5416731" y="2304248"/>
            <a:ext cx="261258"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96" name="Shape 17">
            <a:extLst>
              <a:ext uri="{FF2B5EF4-FFF2-40B4-BE49-F238E27FC236}">
                <a16:creationId xmlns:a16="http://schemas.microsoft.com/office/drawing/2014/main" id="{9BCE046A-F0B6-BBFD-BFCA-03015B84F033}"/>
              </a:ext>
            </a:extLst>
          </p:cNvPr>
          <p:cNvSpPr/>
          <p:nvPr/>
        </p:nvSpPr>
        <p:spPr>
          <a:xfrm>
            <a:off x="3636262" y="2614185"/>
            <a:ext cx="1763487"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KW</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自動応答設定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 ユーザー意図別に即返信</a:t>
            </a:r>
          </a:p>
        </p:txBody>
      </p:sp>
      <p:sp>
        <p:nvSpPr>
          <p:cNvPr id="98" name="Shape 18">
            <a:extLst>
              <a:ext uri="{FF2B5EF4-FFF2-40B4-BE49-F238E27FC236}">
                <a16:creationId xmlns:a16="http://schemas.microsoft.com/office/drawing/2014/main" id="{14F2BF34-2AB8-9060-75EF-F5ADF9F01344}"/>
              </a:ext>
            </a:extLst>
          </p:cNvPr>
          <p:cNvSpPr/>
          <p:nvPr/>
        </p:nvSpPr>
        <p:spPr>
          <a:xfrm>
            <a:off x="5685390" y="2614185"/>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ステップ配信（</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7〜14</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 商談・申込への誘導</a:t>
            </a:r>
          </a:p>
        </p:txBody>
      </p:sp>
      <p:cxnSp>
        <p:nvCxnSpPr>
          <p:cNvPr id="99" name="直線矢印コネクタ 98">
            <a:extLst>
              <a:ext uri="{FF2B5EF4-FFF2-40B4-BE49-F238E27FC236}">
                <a16:creationId xmlns:a16="http://schemas.microsoft.com/office/drawing/2014/main" id="{B31F7370-9528-F602-262C-2CE6C0CA7D95}"/>
              </a:ext>
            </a:extLst>
          </p:cNvPr>
          <p:cNvCxnSpPr>
            <a:cxnSpLocks/>
            <a:stCxn id="96" idx="3"/>
            <a:endCxn id="98" idx="1"/>
          </p:cNvCxnSpPr>
          <p:nvPr/>
        </p:nvCxnSpPr>
        <p:spPr>
          <a:xfrm>
            <a:off x="5399749" y="2847431"/>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03" name="テキスト ボックス 102">
            <a:extLst>
              <a:ext uri="{FF2B5EF4-FFF2-40B4-BE49-F238E27FC236}">
                <a16:creationId xmlns:a16="http://schemas.microsoft.com/office/drawing/2014/main" id="{CB5BD751-9EE2-F77E-B237-6EBEA67F4576}"/>
              </a:ext>
            </a:extLst>
          </p:cNvPr>
          <p:cNvSpPr txBox="1"/>
          <p:nvPr/>
        </p:nvSpPr>
        <p:spPr>
          <a:xfrm>
            <a:off x="7693132" y="1562739"/>
            <a:ext cx="1874173" cy="430887"/>
          </a:xfrm>
          <a:prstGeom prst="rect">
            <a:avLst/>
          </a:prstGeom>
          <a:noFill/>
        </p:spPr>
        <p:txBody>
          <a:bodyPr wrap="square">
            <a:spAutoFit/>
          </a:bodyPr>
          <a:lstStyle/>
          <a:p>
            <a:pPr algn="ctr"/>
            <a:r>
              <a:rPr kumimoji="1" lang="en-US" altLang="ja-JP" sz="1100" b="1" dirty="0">
                <a:solidFill>
                  <a:srgbClr val="1F2A5C"/>
                </a:solidFill>
                <a:latin typeface="メイリオ" panose="020B0604030504040204" pitchFamily="50" charset="-128"/>
                <a:ea typeface="メイリオ" panose="020B0604030504040204" pitchFamily="50" charset="-128"/>
                <a:cs typeface="メイリオ"/>
              </a:rPr>
              <a:t>CV</a:t>
            </a:r>
            <a:r>
              <a:rPr kumimoji="1" lang="ja-JP" altLang="en-US" sz="1100" b="1" dirty="0">
                <a:solidFill>
                  <a:srgbClr val="1F2A5C"/>
                </a:solidFill>
                <a:latin typeface="メイリオ" panose="020B0604030504040204" pitchFamily="50" charset="-128"/>
                <a:ea typeface="メイリオ" panose="020B0604030504040204" pitchFamily="50" charset="-128"/>
                <a:cs typeface="メイリオ"/>
              </a:rPr>
              <a:t>するユーザー割合</a:t>
            </a:r>
            <a:endParaRPr kumimoji="1" lang="en-US" altLang="ja-JP" sz="1100" b="1" dirty="0">
              <a:solidFill>
                <a:srgbClr val="1F2A5C"/>
              </a:solidFill>
              <a:latin typeface="メイリオ" panose="020B0604030504040204" pitchFamily="50" charset="-128"/>
              <a:ea typeface="メイリオ" panose="020B0604030504040204" pitchFamily="50" charset="-128"/>
              <a:cs typeface="メイリオ"/>
            </a:endParaRPr>
          </a:p>
          <a:p>
            <a:pPr algn="ctr"/>
            <a:r>
              <a:rPr lang="en-US" altLang="ja-JP" sz="1000" dirty="0">
                <a:solidFill>
                  <a:srgbClr val="1F2A5C"/>
                </a:solidFill>
                <a:latin typeface="メイリオ" panose="020B0604030504040204" pitchFamily="50" charset="-128"/>
                <a:ea typeface="メイリオ" panose="020B0604030504040204" pitchFamily="50" charset="-128"/>
                <a:cs typeface="メイリオ"/>
              </a:rPr>
              <a:t>※</a:t>
            </a:r>
            <a:r>
              <a:rPr lang="ja-JP" altLang="en-US" sz="1000" dirty="0">
                <a:solidFill>
                  <a:srgbClr val="1F2A5C"/>
                </a:solidFill>
                <a:latin typeface="メイリオ" panose="020B0604030504040204" pitchFamily="50" charset="-128"/>
                <a:ea typeface="メイリオ" panose="020B0604030504040204" pitchFamily="50" charset="-128"/>
                <a:cs typeface="メイリオ"/>
              </a:rPr>
              <a:t>平均値</a:t>
            </a:r>
            <a:endParaRPr kumimoji="1" lang="ja-JP" altLang="en-US" sz="10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05" name="テキスト ボックス 104">
            <a:extLst>
              <a:ext uri="{FF2B5EF4-FFF2-40B4-BE49-F238E27FC236}">
                <a16:creationId xmlns:a16="http://schemas.microsoft.com/office/drawing/2014/main" id="{55562E1F-54CF-8256-1530-F264D924D0C4}"/>
              </a:ext>
            </a:extLst>
          </p:cNvPr>
          <p:cNvSpPr txBox="1"/>
          <p:nvPr/>
        </p:nvSpPr>
        <p:spPr>
          <a:xfrm>
            <a:off x="7844989" y="2313983"/>
            <a:ext cx="1361106" cy="523220"/>
          </a:xfrm>
          <a:prstGeom prst="rect">
            <a:avLst/>
          </a:prstGeom>
          <a:noFill/>
        </p:spPr>
        <p:txBody>
          <a:bodyPr wrap="square">
            <a:spAutoFit/>
          </a:bodyPr>
          <a:lstStyle/>
          <a:p>
            <a:pPr algn="r"/>
            <a:r>
              <a:rPr kumimoji="1" lang="ja-JP" altLang="en-US" sz="2800" b="1" dirty="0">
                <a:solidFill>
                  <a:srgbClr val="1F2A5C"/>
                </a:solidFill>
                <a:latin typeface="メイリオ" panose="020B0604030504040204" pitchFamily="50" charset="-128"/>
                <a:ea typeface="メイリオ" panose="020B0604030504040204" pitchFamily="50" charset="-128"/>
                <a:cs typeface="メイリオ"/>
              </a:rPr>
              <a:t>３</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07" name="テキスト ボックス 106">
            <a:extLst>
              <a:ext uri="{FF2B5EF4-FFF2-40B4-BE49-F238E27FC236}">
                <a16:creationId xmlns:a16="http://schemas.microsoft.com/office/drawing/2014/main" id="{0D6F6472-C1C9-8DD7-5969-2F70988996B7}"/>
              </a:ext>
            </a:extLst>
          </p:cNvPr>
          <p:cNvSpPr txBox="1"/>
          <p:nvPr/>
        </p:nvSpPr>
        <p:spPr>
          <a:xfrm>
            <a:off x="7830986" y="3258904"/>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1.5</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09" name="テキスト ボックス 108">
            <a:extLst>
              <a:ext uri="{FF2B5EF4-FFF2-40B4-BE49-F238E27FC236}">
                <a16:creationId xmlns:a16="http://schemas.microsoft.com/office/drawing/2014/main" id="{3EBEB224-105E-FCC6-752F-0DC0ACDDFEFC}"/>
              </a:ext>
            </a:extLst>
          </p:cNvPr>
          <p:cNvSpPr txBox="1"/>
          <p:nvPr/>
        </p:nvSpPr>
        <p:spPr>
          <a:xfrm>
            <a:off x="7844989" y="3964707"/>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2.5</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11" name="テキスト ボックス 110">
            <a:extLst>
              <a:ext uri="{FF2B5EF4-FFF2-40B4-BE49-F238E27FC236}">
                <a16:creationId xmlns:a16="http://schemas.microsoft.com/office/drawing/2014/main" id="{F26B0A2E-9DBA-FEE5-637F-02A225C02C23}"/>
              </a:ext>
            </a:extLst>
          </p:cNvPr>
          <p:cNvSpPr txBox="1"/>
          <p:nvPr/>
        </p:nvSpPr>
        <p:spPr>
          <a:xfrm>
            <a:off x="7830985" y="4604843"/>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2.5</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13" name="テキスト ボックス 112">
            <a:extLst>
              <a:ext uri="{FF2B5EF4-FFF2-40B4-BE49-F238E27FC236}">
                <a16:creationId xmlns:a16="http://schemas.microsoft.com/office/drawing/2014/main" id="{0C0FA132-24D2-97C7-D00F-5A970556EB00}"/>
              </a:ext>
            </a:extLst>
          </p:cNvPr>
          <p:cNvSpPr txBox="1"/>
          <p:nvPr/>
        </p:nvSpPr>
        <p:spPr>
          <a:xfrm>
            <a:off x="7830985" y="5229016"/>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2.5</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15" name="テキスト ボックス 114">
            <a:extLst>
              <a:ext uri="{FF2B5EF4-FFF2-40B4-BE49-F238E27FC236}">
                <a16:creationId xmlns:a16="http://schemas.microsoft.com/office/drawing/2014/main" id="{FD400E85-93A8-6ADB-337D-4AC8973CAF45}"/>
              </a:ext>
            </a:extLst>
          </p:cNvPr>
          <p:cNvSpPr txBox="1"/>
          <p:nvPr/>
        </p:nvSpPr>
        <p:spPr>
          <a:xfrm>
            <a:off x="7830985" y="5834851"/>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2</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16" name="Shape 17">
            <a:extLst>
              <a:ext uri="{FF2B5EF4-FFF2-40B4-BE49-F238E27FC236}">
                <a16:creationId xmlns:a16="http://schemas.microsoft.com/office/drawing/2014/main" id="{1CA555AB-71AF-EB14-1D64-C35A07A084CC}"/>
              </a:ext>
            </a:extLst>
          </p:cNvPr>
          <p:cNvSpPr/>
          <p:nvPr/>
        </p:nvSpPr>
        <p:spPr>
          <a:xfrm>
            <a:off x="3636262" y="3291869"/>
            <a:ext cx="1763487"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スクリーニングアンケート</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問）→ セグメント分類</a:t>
            </a:r>
          </a:p>
        </p:txBody>
      </p:sp>
      <p:sp>
        <p:nvSpPr>
          <p:cNvPr id="117" name="Shape 18">
            <a:extLst>
              <a:ext uri="{FF2B5EF4-FFF2-40B4-BE49-F238E27FC236}">
                <a16:creationId xmlns:a16="http://schemas.microsoft.com/office/drawing/2014/main" id="{019053B5-0AD3-160E-B42A-8528F025A84E}"/>
              </a:ext>
            </a:extLst>
          </p:cNvPr>
          <p:cNvSpPr/>
          <p:nvPr/>
        </p:nvSpPr>
        <p:spPr>
          <a:xfrm>
            <a:off x="5685390" y="3291869"/>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セグメント別シナリオ配信</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ホットリード</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即スタッフ対応</a:t>
            </a:r>
          </a:p>
        </p:txBody>
      </p:sp>
      <p:cxnSp>
        <p:nvCxnSpPr>
          <p:cNvPr id="118" name="直線矢印コネクタ 117">
            <a:extLst>
              <a:ext uri="{FF2B5EF4-FFF2-40B4-BE49-F238E27FC236}">
                <a16:creationId xmlns:a16="http://schemas.microsoft.com/office/drawing/2014/main" id="{48AC5144-1E7E-4082-003A-97A6D96D2994}"/>
              </a:ext>
            </a:extLst>
          </p:cNvPr>
          <p:cNvCxnSpPr>
            <a:cxnSpLocks/>
            <a:stCxn id="116" idx="3"/>
            <a:endCxn id="117" idx="1"/>
          </p:cNvCxnSpPr>
          <p:nvPr/>
        </p:nvCxnSpPr>
        <p:spPr>
          <a:xfrm>
            <a:off x="5399749" y="3525115"/>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19" name="Shape 17">
            <a:extLst>
              <a:ext uri="{FF2B5EF4-FFF2-40B4-BE49-F238E27FC236}">
                <a16:creationId xmlns:a16="http://schemas.microsoft.com/office/drawing/2014/main" id="{03AA9053-24E8-182C-23AA-4BEA28F1863B}"/>
              </a:ext>
            </a:extLst>
          </p:cNvPr>
          <p:cNvSpPr/>
          <p:nvPr/>
        </p:nvSpPr>
        <p:spPr>
          <a:xfrm>
            <a:off x="3636262" y="4032727"/>
            <a:ext cx="1763487"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サンクス自動</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MSG</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次のアクション案内</a:t>
            </a:r>
          </a:p>
        </p:txBody>
      </p:sp>
      <p:sp>
        <p:nvSpPr>
          <p:cNvPr id="120" name="Shape 18">
            <a:extLst>
              <a:ext uri="{FF2B5EF4-FFF2-40B4-BE49-F238E27FC236}">
                <a16:creationId xmlns:a16="http://schemas.microsoft.com/office/drawing/2014/main" id="{760C890D-1868-9325-4069-2354337B0399}"/>
              </a:ext>
            </a:extLst>
          </p:cNvPr>
          <p:cNvSpPr/>
          <p:nvPr/>
        </p:nvSpPr>
        <p:spPr>
          <a:xfrm>
            <a:off x="5685390" y="4032727"/>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リマインド配信</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クロスセル・アップセル</a:t>
            </a:r>
          </a:p>
        </p:txBody>
      </p:sp>
      <p:cxnSp>
        <p:nvCxnSpPr>
          <p:cNvPr id="121" name="直線矢印コネクタ 120">
            <a:extLst>
              <a:ext uri="{FF2B5EF4-FFF2-40B4-BE49-F238E27FC236}">
                <a16:creationId xmlns:a16="http://schemas.microsoft.com/office/drawing/2014/main" id="{CE344BB3-FFA2-50D7-ADEA-7AA9C56BA1E2}"/>
              </a:ext>
            </a:extLst>
          </p:cNvPr>
          <p:cNvCxnSpPr>
            <a:cxnSpLocks/>
            <a:stCxn id="119" idx="3"/>
            <a:endCxn id="120" idx="1"/>
          </p:cNvCxnSpPr>
          <p:nvPr/>
        </p:nvCxnSpPr>
        <p:spPr>
          <a:xfrm>
            <a:off x="5399749" y="4265973"/>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2" name="Shape 17">
            <a:extLst>
              <a:ext uri="{FF2B5EF4-FFF2-40B4-BE49-F238E27FC236}">
                <a16:creationId xmlns:a16="http://schemas.microsoft.com/office/drawing/2014/main" id="{9439D4FC-6ABA-77F9-BCBC-39518FFF0A4B}"/>
              </a:ext>
            </a:extLst>
          </p:cNvPr>
          <p:cNvSpPr/>
          <p:nvPr/>
        </p:nvSpPr>
        <p:spPr>
          <a:xfrm>
            <a:off x="3636262" y="4639113"/>
            <a:ext cx="1763487"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スクリーニング（</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問）</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温度感・ニーズ把握</a:t>
            </a:r>
          </a:p>
        </p:txBody>
      </p:sp>
      <p:sp>
        <p:nvSpPr>
          <p:cNvPr id="123" name="Shape 18">
            <a:extLst>
              <a:ext uri="{FF2B5EF4-FFF2-40B4-BE49-F238E27FC236}">
                <a16:creationId xmlns:a16="http://schemas.microsoft.com/office/drawing/2014/main" id="{E23B94EA-C025-B46E-3CFE-6F951848C924}"/>
              </a:ext>
            </a:extLst>
          </p:cNvPr>
          <p:cNvSpPr/>
          <p:nvPr/>
        </p:nvSpPr>
        <p:spPr>
          <a:xfrm>
            <a:off x="5685390" y="4639113"/>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有効リード育成シナリオ</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 商談・再購入誘導</a:t>
            </a:r>
          </a:p>
        </p:txBody>
      </p:sp>
      <p:cxnSp>
        <p:nvCxnSpPr>
          <p:cNvPr id="124" name="直線矢印コネクタ 123">
            <a:extLst>
              <a:ext uri="{FF2B5EF4-FFF2-40B4-BE49-F238E27FC236}">
                <a16:creationId xmlns:a16="http://schemas.microsoft.com/office/drawing/2014/main" id="{83F28A8E-5BD4-6CFE-A1AB-95F3F23ADFC2}"/>
              </a:ext>
            </a:extLst>
          </p:cNvPr>
          <p:cNvCxnSpPr>
            <a:cxnSpLocks/>
            <a:stCxn id="122" idx="3"/>
            <a:endCxn id="123" idx="1"/>
          </p:cNvCxnSpPr>
          <p:nvPr/>
        </p:nvCxnSpPr>
        <p:spPr>
          <a:xfrm>
            <a:off x="5399749" y="4872359"/>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5" name="Shape 17">
            <a:extLst>
              <a:ext uri="{FF2B5EF4-FFF2-40B4-BE49-F238E27FC236}">
                <a16:creationId xmlns:a16="http://schemas.microsoft.com/office/drawing/2014/main" id="{6D4CD712-1339-1DEA-1A5F-9F51874CCCB1}"/>
              </a:ext>
            </a:extLst>
          </p:cNvPr>
          <p:cNvSpPr/>
          <p:nvPr/>
        </p:nvSpPr>
        <p:spPr>
          <a:xfrm>
            <a:off x="3636262" y="5262884"/>
            <a:ext cx="1763487"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一斉配信でリスト活性化</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アンケートで属性把握</a:t>
            </a:r>
          </a:p>
        </p:txBody>
      </p:sp>
      <p:sp>
        <p:nvSpPr>
          <p:cNvPr id="126" name="Shape 18">
            <a:extLst>
              <a:ext uri="{FF2B5EF4-FFF2-40B4-BE49-F238E27FC236}">
                <a16:creationId xmlns:a16="http://schemas.microsoft.com/office/drawing/2014/main" id="{5F976E27-1C09-25DE-2664-7D927081F231}"/>
              </a:ext>
            </a:extLst>
          </p:cNvPr>
          <p:cNvSpPr/>
          <p:nvPr/>
        </p:nvSpPr>
        <p:spPr>
          <a:xfrm>
            <a:off x="5685390" y="5262884"/>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セグメント別ナーチャリング</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季節・タイミング別企画配信</a:t>
            </a:r>
          </a:p>
        </p:txBody>
      </p:sp>
      <p:cxnSp>
        <p:nvCxnSpPr>
          <p:cNvPr id="127" name="直線矢印コネクタ 126">
            <a:extLst>
              <a:ext uri="{FF2B5EF4-FFF2-40B4-BE49-F238E27FC236}">
                <a16:creationId xmlns:a16="http://schemas.microsoft.com/office/drawing/2014/main" id="{82C1A774-7713-D5A5-03F8-DCE7AD58DB1B}"/>
              </a:ext>
            </a:extLst>
          </p:cNvPr>
          <p:cNvCxnSpPr>
            <a:cxnSpLocks/>
            <a:stCxn id="125" idx="3"/>
            <a:endCxn id="126" idx="1"/>
          </p:cNvCxnSpPr>
          <p:nvPr/>
        </p:nvCxnSpPr>
        <p:spPr>
          <a:xfrm>
            <a:off x="5399749" y="5496130"/>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8" name="Shape 17">
            <a:extLst>
              <a:ext uri="{FF2B5EF4-FFF2-40B4-BE49-F238E27FC236}">
                <a16:creationId xmlns:a16="http://schemas.microsoft.com/office/drawing/2014/main" id="{CC857E24-C3F9-53FF-5D44-B2CE0DE30602}"/>
              </a:ext>
            </a:extLst>
          </p:cNvPr>
          <p:cNvSpPr/>
          <p:nvPr/>
        </p:nvSpPr>
        <p:spPr>
          <a:xfrm>
            <a:off x="3636262" y="5871273"/>
            <a:ext cx="1763487"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移行キャンペーン</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（特典訴求で友だち追加促進）</a:t>
            </a:r>
          </a:p>
        </p:txBody>
      </p:sp>
      <p:sp>
        <p:nvSpPr>
          <p:cNvPr id="129" name="Shape 18">
            <a:extLst>
              <a:ext uri="{FF2B5EF4-FFF2-40B4-BE49-F238E27FC236}">
                <a16:creationId xmlns:a16="http://schemas.microsoft.com/office/drawing/2014/main" id="{496CBE75-90FF-44E1-05AA-F85C409960A4}"/>
              </a:ext>
            </a:extLst>
          </p:cNvPr>
          <p:cNvSpPr/>
          <p:nvPr/>
        </p:nvSpPr>
        <p:spPr>
          <a:xfrm>
            <a:off x="5685390" y="5871273"/>
            <a:ext cx="1763486"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でリピート率向上</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紹介キャンペーン・</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LTV</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最大化</a:t>
            </a:r>
          </a:p>
        </p:txBody>
      </p:sp>
      <p:cxnSp>
        <p:nvCxnSpPr>
          <p:cNvPr id="130" name="直線矢印コネクタ 129">
            <a:extLst>
              <a:ext uri="{FF2B5EF4-FFF2-40B4-BE49-F238E27FC236}">
                <a16:creationId xmlns:a16="http://schemas.microsoft.com/office/drawing/2014/main" id="{D05BCA3B-7E23-AB71-18F0-5A49C04E309D}"/>
              </a:ext>
            </a:extLst>
          </p:cNvPr>
          <p:cNvCxnSpPr>
            <a:cxnSpLocks/>
            <a:stCxn id="128" idx="3"/>
            <a:endCxn id="129" idx="1"/>
          </p:cNvCxnSpPr>
          <p:nvPr/>
        </p:nvCxnSpPr>
        <p:spPr>
          <a:xfrm>
            <a:off x="5399749" y="6104519"/>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6988837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7A8046-1654-094B-8F5D-E4DEE3745960}"/>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70E0618D-3216-35E4-D4C4-66DD232D827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87478A58-B30A-B13E-22E3-8D83CCAF592E}"/>
              </a:ext>
            </a:extLst>
          </p:cNvPr>
          <p:cNvSpPr/>
          <p:nvPr/>
        </p:nvSpPr>
        <p:spPr>
          <a:xfrm>
            <a:off x="2808838" y="3038203"/>
            <a:ext cx="4288353"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中長期施策として</a:t>
            </a:r>
            <a:r>
              <a:rPr lang="en-US" altLang="ja-JP"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400066798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94FE7-6D4B-4888-997F-23D957A67FB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5E998200-CD1E-9377-8F8E-91B67A682AED}"/>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　</a:t>
            </a:r>
            <a:r>
              <a:rPr lang="en-US" altLang="ja-JP" sz="1400" b="1" dirty="0">
                <a:solidFill>
                  <a:srgbClr val="1F2A5C"/>
                </a:solidFill>
                <a:latin typeface="メイリオ" panose="020B0604030504040204" pitchFamily="50" charset="-128"/>
                <a:ea typeface="メイリオ" panose="020B0604030504040204" pitchFamily="50" charset="-128"/>
                <a:cs typeface="メイリオ"/>
                <a:sym typeface="Meiryo"/>
              </a:rPr>
              <a:t>[CRM</a:t>
            </a:r>
            <a:r>
              <a:rPr lang="ja-JP" altLang="en-US" sz="1400" b="1" dirty="0">
                <a:solidFill>
                  <a:srgbClr val="1F2A5C"/>
                </a:solidFill>
                <a:latin typeface="メイリオ" panose="020B0604030504040204" pitchFamily="50" charset="-128"/>
                <a:ea typeface="メイリオ" panose="020B0604030504040204" pitchFamily="50" charset="-128"/>
                <a:cs typeface="メイリオ"/>
                <a:sym typeface="Meiryo"/>
              </a:rPr>
              <a:t>及び</a:t>
            </a:r>
            <a:r>
              <a:rPr lang="en-US" altLang="ja-JP" sz="1400" b="1" dirty="0">
                <a:solidFill>
                  <a:srgbClr val="1F2A5C"/>
                </a:solidFill>
                <a:latin typeface="メイリオ" panose="020B0604030504040204" pitchFamily="50" charset="-128"/>
                <a:ea typeface="メイリオ" panose="020B0604030504040204" pitchFamily="50" charset="-128"/>
                <a:cs typeface="メイリオ"/>
                <a:sym typeface="Meiryo"/>
              </a:rPr>
              <a:t>API</a:t>
            </a:r>
            <a:r>
              <a:rPr lang="ja-JP" altLang="en-US" sz="1400" b="1" dirty="0">
                <a:solidFill>
                  <a:srgbClr val="1F2A5C"/>
                </a:solidFill>
                <a:latin typeface="メイリオ" panose="020B0604030504040204" pitchFamily="50" charset="-128"/>
                <a:ea typeface="メイリオ" panose="020B0604030504040204" pitchFamily="50" charset="-128"/>
                <a:cs typeface="メイリオ"/>
                <a:sym typeface="Meiryo"/>
              </a:rPr>
              <a:t>ツールとの連携</a:t>
            </a:r>
            <a:r>
              <a:rPr lang="en-US" altLang="ja-JP" sz="1400" b="1" dirty="0">
                <a:solidFill>
                  <a:srgbClr val="1F2A5C"/>
                </a:solidFill>
                <a:latin typeface="メイリオ" panose="020B0604030504040204" pitchFamily="50" charset="-128"/>
                <a:ea typeface="メイリオ" panose="020B0604030504040204" pitchFamily="50" charset="-128"/>
                <a:cs typeface="メイリオ"/>
                <a:sym typeface="Meiryo"/>
              </a:rPr>
              <a:t>]</a:t>
            </a:r>
            <a:endParaRPr lang="ja-JP" altLang="en-US" sz="1600" b="1" dirty="0">
              <a:solidFill>
                <a:srgbClr val="1F2A5C"/>
              </a:solidFill>
              <a:latin typeface="メイリオ" panose="020B0604030504040204" pitchFamily="50" charset="-128"/>
              <a:ea typeface="メイリオ" panose="020B0604030504040204" pitchFamily="50" charset="-128"/>
              <a:cs typeface="メイリオ"/>
              <a:sym typeface="Meiryo"/>
            </a:endParaRPr>
          </a:p>
        </p:txBody>
      </p:sp>
      <p:sp>
        <p:nvSpPr>
          <p:cNvPr id="2" name="正方形/長方形 1">
            <a:extLst>
              <a:ext uri="{FF2B5EF4-FFF2-40B4-BE49-F238E27FC236}">
                <a16:creationId xmlns:a16="http://schemas.microsoft.com/office/drawing/2014/main" id="{529B047E-CF1E-2AB0-E618-76435731185A}"/>
              </a:ext>
            </a:extLst>
          </p:cNvPr>
          <p:cNvSpPr/>
          <p:nvPr/>
        </p:nvSpPr>
        <p:spPr>
          <a:xfrm>
            <a:off x="804889" y="5113292"/>
            <a:ext cx="3834166" cy="825268"/>
          </a:xfrm>
          <a:prstGeom prst="rect">
            <a:avLst/>
          </a:prstGeom>
          <a:solidFill>
            <a:schemeClr val="accent1">
              <a:lumMod val="20000"/>
              <a:lumOff val="80000"/>
            </a:schemeClr>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ja-JP" altLang="en-US" sz="1400" dirty="0">
                <a:solidFill>
                  <a:srgbClr val="073763"/>
                </a:solidFill>
                <a:latin typeface="メイリオ" panose="020B0604030504040204" pitchFamily="50" charset="-128"/>
                <a:ea typeface="メイリオ" panose="020B0604030504040204" pitchFamily="50" charset="-128"/>
                <a:cs typeface="メイリオ"/>
              </a:rPr>
              <a:t>「</a:t>
            </a:r>
            <a:r>
              <a:rPr kumimoji="1" lang="en-US" altLang="ja-JP" sz="1400" dirty="0">
                <a:solidFill>
                  <a:srgbClr val="073763"/>
                </a:solidFill>
                <a:latin typeface="メイリオ" panose="020B0604030504040204" pitchFamily="50" charset="-128"/>
                <a:ea typeface="メイリオ" panose="020B0604030504040204" pitchFamily="50" charset="-128"/>
                <a:cs typeface="メイリオ"/>
              </a:rPr>
              <a:t>CRM</a:t>
            </a:r>
            <a:r>
              <a:rPr kumimoji="1" lang="ja-JP" altLang="en-US" sz="1400" dirty="0">
                <a:solidFill>
                  <a:srgbClr val="073763"/>
                </a:solidFill>
                <a:latin typeface="メイリオ" panose="020B0604030504040204" pitchFamily="50" charset="-128"/>
                <a:ea typeface="メイリオ" panose="020B0604030504040204" pitchFamily="50" charset="-128"/>
                <a:cs typeface="メイリオ"/>
              </a:rPr>
              <a:t>側でどんな情報を取りたいか」</a:t>
            </a:r>
            <a:r>
              <a:rPr lang="ja-JP" altLang="en-US" sz="1400" dirty="0">
                <a:solidFill>
                  <a:srgbClr val="073763"/>
                </a:solidFill>
                <a:latin typeface="メイリオ" panose="020B0604030504040204" pitchFamily="50" charset="-128"/>
                <a:ea typeface="メイリオ" panose="020B0604030504040204" pitchFamily="50" charset="-128"/>
                <a:cs typeface="メイリオ"/>
              </a:rPr>
              <a:t>が重要</a:t>
            </a:r>
            <a:br>
              <a:rPr lang="en-US" altLang="ja-JP" sz="1400" dirty="0">
                <a:solidFill>
                  <a:srgbClr val="073763"/>
                </a:solidFill>
                <a:latin typeface="メイリオ" panose="020B0604030504040204" pitchFamily="50" charset="-128"/>
                <a:ea typeface="メイリオ" panose="020B0604030504040204" pitchFamily="50" charset="-128"/>
                <a:cs typeface="メイリオ"/>
              </a:rPr>
            </a:br>
            <a:r>
              <a:rPr lang="ja-JP" altLang="en-US" sz="1400" b="1" dirty="0">
                <a:solidFill>
                  <a:srgbClr val="073763"/>
                </a:solidFill>
                <a:latin typeface="メイリオ" panose="020B0604030504040204" pitchFamily="50" charset="-128"/>
                <a:ea typeface="メイリオ" panose="020B0604030504040204" pitchFamily="50" charset="-128"/>
                <a:cs typeface="メイリオ"/>
              </a:rPr>
              <a:t>要件定義</a:t>
            </a:r>
            <a:r>
              <a:rPr lang="ja-JP" altLang="en-US" sz="1400" dirty="0">
                <a:solidFill>
                  <a:srgbClr val="073763"/>
                </a:solidFill>
                <a:latin typeface="メイリオ" panose="020B0604030504040204" pitchFamily="50" charset="-128"/>
                <a:ea typeface="メイリオ" panose="020B0604030504040204" pitchFamily="50" charset="-128"/>
                <a:cs typeface="メイリオ"/>
              </a:rPr>
              <a:t>を先にする必要がある</a:t>
            </a:r>
            <a:endParaRPr kumimoji="1" lang="ja-JP" altLang="en-US" sz="1400" dirty="0">
              <a:solidFill>
                <a:srgbClr val="073763"/>
              </a:solidFill>
              <a:latin typeface="メイリオ" panose="020B0604030504040204" pitchFamily="50" charset="-128"/>
              <a:ea typeface="メイリオ" panose="020B0604030504040204" pitchFamily="50" charset="-128"/>
              <a:cs typeface="メイリオ"/>
            </a:endParaRPr>
          </a:p>
        </p:txBody>
      </p:sp>
      <p:sp>
        <p:nvSpPr>
          <p:cNvPr id="3" name="正方形/長方形 2">
            <a:extLst>
              <a:ext uri="{FF2B5EF4-FFF2-40B4-BE49-F238E27FC236}">
                <a16:creationId xmlns:a16="http://schemas.microsoft.com/office/drawing/2014/main" id="{C7D9704D-BB8D-31FA-D577-9838EADFB52F}"/>
              </a:ext>
            </a:extLst>
          </p:cNvPr>
          <p:cNvSpPr/>
          <p:nvPr/>
        </p:nvSpPr>
        <p:spPr>
          <a:xfrm>
            <a:off x="548883" y="1746891"/>
            <a:ext cx="2809027"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CR</a:t>
            </a:r>
            <a:r>
              <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M</a:t>
            </a:r>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によるセグメント配信の違い</a:t>
            </a: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5" name="正方形/長方形 4">
            <a:extLst>
              <a:ext uri="{FF2B5EF4-FFF2-40B4-BE49-F238E27FC236}">
                <a16:creationId xmlns:a16="http://schemas.microsoft.com/office/drawing/2014/main" id="{DEDA1867-168F-C6E6-0B48-C791330A0A1C}"/>
              </a:ext>
            </a:extLst>
          </p:cNvPr>
          <p:cNvSpPr/>
          <p:nvPr/>
        </p:nvSpPr>
        <p:spPr>
          <a:xfrm>
            <a:off x="4855489" y="1681759"/>
            <a:ext cx="1637212"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pic>
        <p:nvPicPr>
          <p:cNvPr id="6" name="図 5">
            <a:extLst>
              <a:ext uri="{FF2B5EF4-FFF2-40B4-BE49-F238E27FC236}">
                <a16:creationId xmlns:a16="http://schemas.microsoft.com/office/drawing/2014/main" id="{3E9A497F-26C3-7713-AA96-7B5A48F56252}"/>
              </a:ext>
            </a:extLst>
          </p:cNvPr>
          <p:cNvPicPr>
            <a:picLocks noChangeAspect="1"/>
          </p:cNvPicPr>
          <p:nvPr/>
        </p:nvPicPr>
        <p:blipFill>
          <a:blip r:embed="rId2"/>
          <a:stretch>
            <a:fillRect/>
          </a:stretch>
        </p:blipFill>
        <p:spPr>
          <a:xfrm>
            <a:off x="767879" y="2097602"/>
            <a:ext cx="1748922" cy="1226856"/>
          </a:xfrm>
          <a:prstGeom prst="rect">
            <a:avLst/>
          </a:prstGeom>
        </p:spPr>
      </p:pic>
      <p:pic>
        <p:nvPicPr>
          <p:cNvPr id="7" name="図 6">
            <a:extLst>
              <a:ext uri="{FF2B5EF4-FFF2-40B4-BE49-F238E27FC236}">
                <a16:creationId xmlns:a16="http://schemas.microsoft.com/office/drawing/2014/main" id="{AAF48BB3-9A38-696F-FC70-5DEE4C4078CF}"/>
              </a:ext>
            </a:extLst>
          </p:cNvPr>
          <p:cNvPicPr>
            <a:picLocks noChangeAspect="1"/>
          </p:cNvPicPr>
          <p:nvPr/>
        </p:nvPicPr>
        <p:blipFill>
          <a:blip r:embed="rId3"/>
          <a:stretch>
            <a:fillRect/>
          </a:stretch>
        </p:blipFill>
        <p:spPr>
          <a:xfrm>
            <a:off x="2629285" y="2290287"/>
            <a:ext cx="2166018" cy="762483"/>
          </a:xfrm>
          <a:prstGeom prst="rect">
            <a:avLst/>
          </a:prstGeom>
        </p:spPr>
      </p:pic>
      <p:pic>
        <p:nvPicPr>
          <p:cNvPr id="8" name="図 7">
            <a:extLst>
              <a:ext uri="{FF2B5EF4-FFF2-40B4-BE49-F238E27FC236}">
                <a16:creationId xmlns:a16="http://schemas.microsoft.com/office/drawing/2014/main" id="{84D1E44E-92B8-B060-DC73-7A65C3C6173F}"/>
              </a:ext>
            </a:extLst>
          </p:cNvPr>
          <p:cNvPicPr>
            <a:picLocks noChangeAspect="1"/>
          </p:cNvPicPr>
          <p:nvPr/>
        </p:nvPicPr>
        <p:blipFill>
          <a:blip r:embed="rId4"/>
          <a:stretch>
            <a:fillRect/>
          </a:stretch>
        </p:blipFill>
        <p:spPr>
          <a:xfrm>
            <a:off x="732463" y="3382653"/>
            <a:ext cx="1896822" cy="592757"/>
          </a:xfrm>
          <a:prstGeom prst="rect">
            <a:avLst/>
          </a:prstGeom>
        </p:spPr>
      </p:pic>
      <p:pic>
        <p:nvPicPr>
          <p:cNvPr id="10" name="図 9">
            <a:extLst>
              <a:ext uri="{FF2B5EF4-FFF2-40B4-BE49-F238E27FC236}">
                <a16:creationId xmlns:a16="http://schemas.microsoft.com/office/drawing/2014/main" id="{41BDD745-D379-657E-EEF9-DAE4405410CE}"/>
              </a:ext>
            </a:extLst>
          </p:cNvPr>
          <p:cNvPicPr>
            <a:picLocks noChangeAspect="1"/>
          </p:cNvPicPr>
          <p:nvPr/>
        </p:nvPicPr>
        <p:blipFill>
          <a:blip r:embed="rId5"/>
          <a:stretch>
            <a:fillRect/>
          </a:stretch>
        </p:blipFill>
        <p:spPr>
          <a:xfrm>
            <a:off x="2774924" y="3271855"/>
            <a:ext cx="1980643" cy="825268"/>
          </a:xfrm>
          <a:prstGeom prst="rect">
            <a:avLst/>
          </a:prstGeom>
        </p:spPr>
      </p:pic>
      <p:sp>
        <p:nvSpPr>
          <p:cNvPr id="11" name="二等辺三角形 10">
            <a:extLst>
              <a:ext uri="{FF2B5EF4-FFF2-40B4-BE49-F238E27FC236}">
                <a16:creationId xmlns:a16="http://schemas.microsoft.com/office/drawing/2014/main" id="{DE45D7C0-7CD3-BE83-DB56-A8A9A887F251}"/>
              </a:ext>
            </a:extLst>
          </p:cNvPr>
          <p:cNvSpPr/>
          <p:nvPr/>
        </p:nvSpPr>
        <p:spPr>
          <a:xfrm flipV="1">
            <a:off x="2404365" y="4661972"/>
            <a:ext cx="635214" cy="243054"/>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a:latin typeface="メイリオ"/>
              <a:ea typeface="メイリオ"/>
              <a:cs typeface="メイリオ"/>
            </a:endParaRPr>
          </a:p>
        </p:txBody>
      </p:sp>
      <p:sp>
        <p:nvSpPr>
          <p:cNvPr id="12" name="正方形/長方形 11">
            <a:extLst>
              <a:ext uri="{FF2B5EF4-FFF2-40B4-BE49-F238E27FC236}">
                <a16:creationId xmlns:a16="http://schemas.microsoft.com/office/drawing/2014/main" id="{7FB401AD-59C1-FD46-42C1-D7E7B4A5CBEF}"/>
              </a:ext>
            </a:extLst>
          </p:cNvPr>
          <p:cNvSpPr/>
          <p:nvPr/>
        </p:nvSpPr>
        <p:spPr>
          <a:xfrm>
            <a:off x="5088187" y="1746891"/>
            <a:ext cx="2809027"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▼参考：</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L</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ステップ</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API</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連携機能</a:t>
            </a:r>
          </a:p>
        </p:txBody>
      </p:sp>
      <p:pic>
        <p:nvPicPr>
          <p:cNvPr id="13" name="図 12">
            <a:extLst>
              <a:ext uri="{FF2B5EF4-FFF2-40B4-BE49-F238E27FC236}">
                <a16:creationId xmlns:a16="http://schemas.microsoft.com/office/drawing/2014/main" id="{CAF63C84-7FEF-612A-E123-4983B7F28BAA}"/>
              </a:ext>
            </a:extLst>
          </p:cNvPr>
          <p:cNvPicPr>
            <a:picLocks noChangeAspect="1"/>
          </p:cNvPicPr>
          <p:nvPr/>
        </p:nvPicPr>
        <p:blipFill>
          <a:blip r:embed="rId6"/>
          <a:stretch>
            <a:fillRect/>
          </a:stretch>
        </p:blipFill>
        <p:spPr>
          <a:xfrm>
            <a:off x="5088187" y="2053900"/>
            <a:ext cx="4493959" cy="4306708"/>
          </a:xfrm>
          <a:prstGeom prst="rect">
            <a:avLst/>
          </a:prstGeom>
        </p:spPr>
      </p:pic>
      <p:sp>
        <p:nvSpPr>
          <p:cNvPr id="14" name="Google Shape;752;p28">
            <a:extLst>
              <a:ext uri="{FF2B5EF4-FFF2-40B4-BE49-F238E27FC236}">
                <a16:creationId xmlns:a16="http://schemas.microsoft.com/office/drawing/2014/main" id="{87B68C46-3A5D-A74F-1932-7FA2CEB38DBA}"/>
              </a:ext>
            </a:extLst>
          </p:cNvPr>
          <p:cNvSpPr txBox="1"/>
          <p:nvPr/>
        </p:nvSpPr>
        <p:spPr>
          <a:xfrm>
            <a:off x="776105" y="864423"/>
            <a:ext cx="8353789" cy="523180"/>
          </a:xfrm>
          <a:prstGeom prst="rect">
            <a:avLst/>
          </a:prstGeom>
          <a:noFill/>
          <a:ln>
            <a:noFill/>
          </a:ln>
        </p:spPr>
        <p:txBody>
          <a:bodyPr spcFirstLastPara="1" wrap="square" lIns="91425" tIns="45700" rIns="91425" bIns="45700" anchor="ctr" anchorCtr="0">
            <a:spAutoFit/>
          </a:bodyPr>
          <a:lstStyle/>
          <a:p>
            <a:pPr lvl="0" algn="ctr"/>
            <a:r>
              <a:rPr lang="en-US" altLang="ja-JP" sz="1400" dirty="0">
                <a:latin typeface="メイリオ" panose="020B0604030504040204" pitchFamily="50" charset="-128"/>
                <a:ea typeface="メイリオ" panose="020B0604030504040204" pitchFamily="50" charset="-128"/>
                <a:cs typeface="メイリオ"/>
                <a:sym typeface="Meiryo"/>
              </a:rPr>
              <a:t>CRM</a:t>
            </a:r>
            <a:r>
              <a:rPr lang="ja-JP" altLang="en-US" sz="1400" dirty="0">
                <a:latin typeface="メイリオ" panose="020B0604030504040204" pitchFamily="50" charset="-128"/>
                <a:ea typeface="メイリオ" panose="020B0604030504040204" pitchFamily="50" charset="-128"/>
                <a:cs typeface="メイリオ"/>
                <a:sym typeface="Meiryo"/>
              </a:rPr>
              <a:t>、</a:t>
            </a:r>
            <a:r>
              <a:rPr lang="en-US" altLang="ja-JP" sz="1400" dirty="0">
                <a:latin typeface="メイリオ" panose="020B0604030504040204" pitchFamily="50" charset="-128"/>
                <a:ea typeface="メイリオ" panose="020B0604030504040204" pitchFamily="50" charset="-128"/>
                <a:cs typeface="メイリオ"/>
                <a:sym typeface="Meiryo"/>
              </a:rPr>
              <a:t>API</a:t>
            </a:r>
            <a:r>
              <a:rPr lang="ja-JP" altLang="en-US" sz="1400" dirty="0">
                <a:latin typeface="メイリオ" panose="020B0604030504040204" pitchFamily="50" charset="-128"/>
                <a:ea typeface="メイリオ" panose="020B0604030504040204" pitchFamily="50" charset="-128"/>
                <a:cs typeface="メイリオ"/>
                <a:sym typeface="Meiryo"/>
              </a:rPr>
              <a:t>ツールで要件定義を行いつつ、効率化及び詳細なセグメント設計を目的として、</a:t>
            </a:r>
            <a:endParaRPr lang="en-US" altLang="ja-JP" sz="1400" dirty="0">
              <a:latin typeface="メイリオ" panose="020B0604030504040204" pitchFamily="50" charset="-128"/>
              <a:ea typeface="メイリオ" panose="020B0604030504040204" pitchFamily="50" charset="-128"/>
              <a:cs typeface="メイリオ"/>
              <a:sym typeface="Meiryo"/>
            </a:endParaRPr>
          </a:p>
          <a:p>
            <a:pPr lvl="0" algn="ctr"/>
            <a:r>
              <a:rPr lang="ja-JP" altLang="en-US" sz="1400" dirty="0">
                <a:latin typeface="メイリオ" panose="020B0604030504040204" pitchFamily="50" charset="-128"/>
                <a:ea typeface="メイリオ" panose="020B0604030504040204" pitchFamily="50" charset="-128"/>
                <a:cs typeface="メイリオ"/>
                <a:sym typeface="Meiryo"/>
              </a:rPr>
              <a:t>貴社内の顧客管理（</a:t>
            </a:r>
            <a:r>
              <a:rPr lang="en-US" altLang="ja-JP" sz="1400" dirty="0">
                <a:latin typeface="メイリオ" panose="020B0604030504040204" pitchFamily="50" charset="-128"/>
                <a:ea typeface="メイリオ" panose="020B0604030504040204" pitchFamily="50" charset="-128"/>
                <a:cs typeface="メイリオ"/>
                <a:sym typeface="Meiryo"/>
              </a:rPr>
              <a:t>CRM</a:t>
            </a:r>
            <a:r>
              <a:rPr lang="ja-JP" altLang="en-US" sz="1400" dirty="0">
                <a:latin typeface="メイリオ" panose="020B0604030504040204" pitchFamily="50" charset="-128"/>
                <a:ea typeface="メイリオ" panose="020B0604030504040204" pitchFamily="50" charset="-128"/>
                <a:cs typeface="メイリオ"/>
                <a:sym typeface="Meiryo"/>
              </a:rPr>
              <a:t>）ツールとの連携の実施も可能です。</a:t>
            </a:r>
            <a:r>
              <a:rPr lang="ja-JP" altLang="en-US" sz="1100" dirty="0">
                <a:solidFill>
                  <a:srgbClr val="1F2A5C"/>
                </a:solidFill>
                <a:latin typeface="メイリオ" panose="020B0604030504040204" pitchFamily="50" charset="-128"/>
                <a:ea typeface="メイリオ" panose="020B0604030504040204" pitchFamily="50" charset="-128"/>
                <a:cs typeface="メイリオ"/>
                <a:sym typeface="Meiryo"/>
              </a:rPr>
              <a:t> </a:t>
            </a:r>
            <a:r>
              <a:rPr lang="en-US" altLang="ja-JP" sz="1100" dirty="0">
                <a:solidFill>
                  <a:srgbClr val="1F2A5C"/>
                </a:solidFill>
                <a:latin typeface="メイリオ" panose="020B0604030504040204" pitchFamily="50" charset="-128"/>
                <a:ea typeface="メイリオ" panose="020B0604030504040204" pitchFamily="50" charset="-128"/>
                <a:cs typeface="メイリオ"/>
                <a:sym typeface="Meiryo"/>
              </a:rPr>
              <a:t>※</a:t>
            </a:r>
            <a:r>
              <a:rPr lang="ja-JP" altLang="en-US" sz="1100" dirty="0">
                <a:solidFill>
                  <a:srgbClr val="1F2A5C"/>
                </a:solidFill>
                <a:latin typeface="メイリオ" panose="020B0604030504040204" pitchFamily="50" charset="-128"/>
                <a:ea typeface="メイリオ" panose="020B0604030504040204" pitchFamily="50" charset="-128"/>
                <a:cs typeface="メイリオ"/>
                <a:sym typeface="Meiryo"/>
              </a:rPr>
              <a:t>開発は別途費用</a:t>
            </a:r>
            <a:endParaRPr lang="en-US" altLang="ja-JP" sz="1400" dirty="0">
              <a:solidFill>
                <a:srgbClr val="1F2A5C"/>
              </a:solidFill>
              <a:latin typeface="メイリオ" panose="020B0604030504040204" pitchFamily="50" charset="-128"/>
              <a:ea typeface="メイリオ" panose="020B0604030504040204" pitchFamily="50" charset="-128"/>
              <a:cs typeface="メイリオ"/>
              <a:sym typeface="Meiryo"/>
            </a:endParaRPr>
          </a:p>
        </p:txBody>
      </p:sp>
      <p:pic>
        <p:nvPicPr>
          <p:cNvPr id="16" name="図 15">
            <a:extLst>
              <a:ext uri="{FF2B5EF4-FFF2-40B4-BE49-F238E27FC236}">
                <a16:creationId xmlns:a16="http://schemas.microsoft.com/office/drawing/2014/main" id="{03191DAC-E9A0-5CCA-8AC1-DD7587146EC0}"/>
              </a:ext>
            </a:extLst>
          </p:cNvPr>
          <p:cNvPicPr>
            <a:picLocks noChangeAspect="1"/>
          </p:cNvPicPr>
          <p:nvPr/>
        </p:nvPicPr>
        <p:blipFill>
          <a:blip r:embed="rId7"/>
          <a:stretch>
            <a:fillRect/>
          </a:stretch>
        </p:blipFill>
        <p:spPr>
          <a:xfrm>
            <a:off x="8356962" y="3138694"/>
            <a:ext cx="1225184" cy="371527"/>
          </a:xfrm>
          <a:prstGeom prst="rect">
            <a:avLst/>
          </a:prstGeom>
        </p:spPr>
      </p:pic>
      <p:sp>
        <p:nvSpPr>
          <p:cNvPr id="18" name="正方形/長方形 17">
            <a:extLst>
              <a:ext uri="{FF2B5EF4-FFF2-40B4-BE49-F238E27FC236}">
                <a16:creationId xmlns:a16="http://schemas.microsoft.com/office/drawing/2014/main" id="{6556E7C3-00CD-61AD-290A-ADC705BB4ED2}"/>
              </a:ext>
            </a:extLst>
          </p:cNvPr>
          <p:cNvSpPr/>
          <p:nvPr/>
        </p:nvSpPr>
        <p:spPr>
          <a:xfrm>
            <a:off x="7392816" y="2667912"/>
            <a:ext cx="1404514" cy="70467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LINE</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公式と</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API</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ツール間の</a:t>
            </a:r>
            <a:endPar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a:p>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情報連携</a:t>
            </a: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19" name="正方形/長方形 18">
            <a:extLst>
              <a:ext uri="{FF2B5EF4-FFF2-40B4-BE49-F238E27FC236}">
                <a16:creationId xmlns:a16="http://schemas.microsoft.com/office/drawing/2014/main" id="{ECFC83DD-87A7-DC53-4B5A-DD088FDF4D20}"/>
              </a:ext>
            </a:extLst>
          </p:cNvPr>
          <p:cNvSpPr/>
          <p:nvPr/>
        </p:nvSpPr>
        <p:spPr>
          <a:xfrm>
            <a:off x="5873920" y="2711430"/>
            <a:ext cx="989184" cy="42376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メッセ送信</a:t>
            </a:r>
          </a:p>
        </p:txBody>
      </p:sp>
    </p:spTree>
    <p:extLst>
      <p:ext uri="{BB962C8B-B14F-4D97-AF65-F5344CB8AC3E}">
        <p14:creationId xmlns:p14="http://schemas.microsoft.com/office/powerpoint/2010/main" val="98264973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その他 代表的な活用機能</a:t>
            </a:r>
            <a:endParaRPr sz="1600" b="1" dirty="0">
              <a:solidFill>
                <a:srgbClr val="002060"/>
              </a:solidFill>
              <a:latin typeface="メイリオ"/>
              <a:ea typeface="メイリオ"/>
              <a:cs typeface="メイリオ"/>
              <a:sym typeface="Meiryo"/>
            </a:endParaRPr>
          </a:p>
        </p:txBody>
      </p:sp>
      <p:sp>
        <p:nvSpPr>
          <p:cNvPr id="8" name="正方形/長方形 7"/>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latin typeface="メイリオ" panose="020B0604030504040204" pitchFamily="50" charset="-128"/>
                <a:ea typeface="メイリオ" panose="020B0604030504040204" pitchFamily="50" charset="-128"/>
                <a:cs typeface="メイリオ"/>
              </a:rPr>
              <a:t>ミニアプリ</a:t>
            </a:r>
            <a:endParaRPr lang="en-US" altLang="ja-JP" sz="1600" b="1" dirty="0">
              <a:latin typeface="メイリオ" panose="020B0604030504040204" pitchFamily="50" charset="-128"/>
              <a:ea typeface="メイリオ" panose="020B0604030504040204" pitchFamily="50" charset="-128"/>
              <a:cs typeface="メイリオ"/>
            </a:endParaRPr>
          </a:p>
        </p:txBody>
      </p:sp>
      <p:pic>
        <p:nvPicPr>
          <p:cNvPr id="15" name="図 14"/>
          <p:cNvPicPr>
            <a:picLocks noChangeAspect="1"/>
          </p:cNvPicPr>
          <p:nvPr/>
        </p:nvPicPr>
        <p:blipFill>
          <a:blip r:embed="rId2"/>
          <a:stretch>
            <a:fillRect/>
          </a:stretch>
        </p:blipFill>
        <p:spPr>
          <a:xfrm>
            <a:off x="395078" y="4223656"/>
            <a:ext cx="4883652" cy="2255298"/>
          </a:xfrm>
          <a:prstGeom prst="rect">
            <a:avLst/>
          </a:prstGeom>
        </p:spPr>
      </p:pic>
      <p:pic>
        <p:nvPicPr>
          <p:cNvPr id="16" name="図 15"/>
          <p:cNvPicPr>
            <a:picLocks noChangeAspect="1"/>
          </p:cNvPicPr>
          <p:nvPr/>
        </p:nvPicPr>
        <p:blipFill>
          <a:blip r:embed="rId3"/>
          <a:stretch>
            <a:fillRect/>
          </a:stretch>
        </p:blipFill>
        <p:spPr>
          <a:xfrm>
            <a:off x="5447610" y="4291935"/>
            <a:ext cx="4377759" cy="1962444"/>
          </a:xfrm>
          <a:prstGeom prst="rect">
            <a:avLst/>
          </a:prstGeom>
        </p:spPr>
      </p:pic>
      <p:pic>
        <p:nvPicPr>
          <p:cNvPr id="17" name="図 16"/>
          <p:cNvPicPr>
            <a:picLocks noChangeAspect="1"/>
          </p:cNvPicPr>
          <p:nvPr/>
        </p:nvPicPr>
        <p:blipFill>
          <a:blip r:embed="rId4"/>
          <a:stretch>
            <a:fillRect/>
          </a:stretch>
        </p:blipFill>
        <p:spPr>
          <a:xfrm>
            <a:off x="295583" y="1824445"/>
            <a:ext cx="5881033" cy="2266757"/>
          </a:xfrm>
          <a:prstGeom prst="rect">
            <a:avLst/>
          </a:prstGeom>
        </p:spPr>
      </p:pic>
      <p:sp>
        <p:nvSpPr>
          <p:cNvPr id="2" name="正方形/長方形 1"/>
          <p:cNvSpPr/>
          <p:nvPr/>
        </p:nvSpPr>
        <p:spPr>
          <a:xfrm>
            <a:off x="2971109" y="823033"/>
            <a:ext cx="6669279" cy="584775"/>
          </a:xfrm>
          <a:prstGeom prst="rect">
            <a:avLst/>
          </a:prstGeom>
        </p:spPr>
        <p:txBody>
          <a:bodyPr wrap="square">
            <a:spAutoFit/>
          </a:bodyPr>
          <a:lstStyle/>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内で活用できるミニアプリでは、ゲームや抽選といった機能を</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アプリ開発よりも大幅に格安な価格帯で利用できるサービス。</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393999798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D5022E-E793-10B7-A063-757EDCFFDB08}"/>
            </a:ext>
          </a:extLst>
        </p:cNvPr>
        <p:cNvGrpSpPr/>
        <p:nvPr/>
      </p:nvGrpSpPr>
      <p:grpSpPr>
        <a:xfrm>
          <a:off x="0" y="0"/>
          <a:ext cx="0" cy="0"/>
          <a:chOff x="0" y="0"/>
          <a:chExt cx="0" cy="0"/>
        </a:xfrm>
      </p:grpSpPr>
      <p:sp>
        <p:nvSpPr>
          <p:cNvPr id="43"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その他 代表的な活用機能</a:t>
            </a:r>
          </a:p>
        </p:txBody>
      </p:sp>
      <p:sp>
        <p:nvSpPr>
          <p:cNvPr id="28" name="正方形/長方形 27"/>
          <p:cNvSpPr/>
          <p:nvPr/>
        </p:nvSpPr>
        <p:spPr>
          <a:xfrm>
            <a:off x="209578" y="1455366"/>
            <a:ext cx="7160935"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チャット</a:t>
            </a:r>
            <a:r>
              <a:rPr lang="en-US" altLang="ja-JP" sz="1600" b="1" dirty="0">
                <a:solidFill>
                  <a:schemeClr val="tx1">
                    <a:lumMod val="65000"/>
                    <a:lumOff val="35000"/>
                  </a:schemeClr>
                </a:solidFill>
                <a:latin typeface="メイリオ"/>
                <a:ea typeface="メイリオ"/>
                <a:cs typeface="メイリオ"/>
                <a:sym typeface="Meiryo"/>
              </a:rPr>
              <a:t>Plus</a:t>
            </a:r>
            <a:r>
              <a:rPr lang="ja-JP" altLang="en-US" sz="1600" b="1" dirty="0">
                <a:solidFill>
                  <a:schemeClr val="tx1">
                    <a:lumMod val="65000"/>
                    <a:lumOff val="35000"/>
                  </a:schemeClr>
                </a:solidFill>
                <a:latin typeface="メイリオ"/>
                <a:ea typeface="メイリオ"/>
                <a:cs typeface="メイリオ"/>
                <a:sym typeface="Meiryo"/>
              </a:rPr>
              <a:t>」は、</a:t>
            </a:r>
            <a:r>
              <a:rPr lang="en-US" altLang="ja-JP" sz="1600" b="1" dirty="0">
                <a:solidFill>
                  <a:schemeClr val="tx1">
                    <a:lumMod val="65000"/>
                    <a:lumOff val="35000"/>
                  </a:schemeClr>
                </a:solidFill>
                <a:latin typeface="メイリオ"/>
                <a:ea typeface="メイリオ"/>
                <a:cs typeface="メイリオ"/>
                <a:sym typeface="Meiryo"/>
              </a:rPr>
              <a:t>FAQ</a:t>
            </a:r>
            <a:r>
              <a:rPr lang="ja-JP" altLang="en-US" sz="1600" b="1" dirty="0">
                <a:solidFill>
                  <a:schemeClr val="tx1">
                    <a:lumMod val="65000"/>
                    <a:lumOff val="35000"/>
                  </a:schemeClr>
                </a:solidFill>
                <a:latin typeface="メイリオ"/>
                <a:ea typeface="メイリオ"/>
                <a:cs typeface="メイリオ"/>
                <a:sym typeface="Meiryo"/>
              </a:rPr>
              <a:t>をもとにした</a:t>
            </a:r>
            <a:r>
              <a:rPr lang="en-US" altLang="ja-JP" sz="1600" b="1" dirty="0">
                <a:solidFill>
                  <a:schemeClr val="tx1">
                    <a:lumMod val="65000"/>
                    <a:lumOff val="35000"/>
                  </a:schemeClr>
                </a:solidFill>
                <a:latin typeface="メイリオ"/>
                <a:ea typeface="メイリオ"/>
                <a:cs typeface="メイリオ"/>
                <a:sym typeface="Meiryo"/>
              </a:rPr>
              <a:t>AI</a:t>
            </a:r>
            <a:r>
              <a:rPr lang="ja-JP" altLang="en-US" sz="1600" b="1" dirty="0">
                <a:solidFill>
                  <a:schemeClr val="tx1">
                    <a:lumMod val="65000"/>
                    <a:lumOff val="35000"/>
                  </a:schemeClr>
                </a:solidFill>
                <a:latin typeface="メイリオ"/>
                <a:ea typeface="メイリオ"/>
                <a:cs typeface="メイリオ"/>
                <a:sym typeface="Meiryo"/>
              </a:rPr>
              <a:t>による自動応答や、</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有人でのチャット対応による細かなサポートを可能にするオプション機能。</a:t>
            </a:r>
            <a:endParaRPr lang="en-US" altLang="ja-JP" sz="1600" b="1" dirty="0">
              <a:solidFill>
                <a:schemeClr val="tx1">
                  <a:lumMod val="65000"/>
                  <a:lumOff val="35000"/>
                </a:schemeClr>
              </a:solidFill>
              <a:latin typeface="メイリオ"/>
              <a:ea typeface="メイリオ"/>
              <a:cs typeface="メイリオ"/>
              <a:sym typeface="Meiryo"/>
            </a:endParaRPr>
          </a:p>
        </p:txBody>
      </p:sp>
      <p:sp>
        <p:nvSpPr>
          <p:cNvPr id="29" name="正方形/長方形 28"/>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cs typeface="メイリオ"/>
              </a:rPr>
              <a:t>【</a:t>
            </a:r>
            <a:r>
              <a:rPr lang="en-US" altLang="ja-JP" sz="1600" b="1" dirty="0" err="1">
                <a:latin typeface="メイリオ" panose="020B0604030504040204" pitchFamily="50" charset="-128"/>
                <a:ea typeface="メイリオ" panose="020B0604030504040204" pitchFamily="50" charset="-128"/>
                <a:cs typeface="メイリオ"/>
              </a:rPr>
              <a:t>LINE】Chat</a:t>
            </a:r>
            <a:r>
              <a:rPr lang="en-US" altLang="ja-JP" sz="1600" b="1" dirty="0">
                <a:latin typeface="メイリオ" panose="020B0604030504040204" pitchFamily="50" charset="-128"/>
                <a:ea typeface="メイリオ" panose="020B0604030504040204" pitchFamily="50" charset="-128"/>
                <a:cs typeface="メイリオ"/>
              </a:rPr>
              <a:t> Plus</a:t>
            </a:r>
          </a:p>
        </p:txBody>
      </p:sp>
      <p:sp>
        <p:nvSpPr>
          <p:cNvPr id="30" name="角丸四角形 29"/>
          <p:cNvSpPr/>
          <p:nvPr/>
        </p:nvSpPr>
        <p:spPr>
          <a:xfrm>
            <a:off x="548883" y="2287502"/>
            <a:ext cx="4031506" cy="419913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pic>
        <p:nvPicPr>
          <p:cNvPr id="3" name="図 2"/>
          <p:cNvPicPr>
            <a:picLocks noChangeAspect="1"/>
          </p:cNvPicPr>
          <p:nvPr/>
        </p:nvPicPr>
        <p:blipFill rotWithShape="1">
          <a:blip r:embed="rId2" cstate="print">
            <a:extLst>
              <a:ext uri="{28A0092B-C50C-407E-A947-70E740481C1C}">
                <a14:useLocalDpi xmlns:a14="http://schemas.microsoft.com/office/drawing/2010/main" val="0"/>
              </a:ext>
            </a:extLst>
          </a:blip>
          <a:srcRect t="34310" b="34334"/>
          <a:stretch/>
        </p:blipFill>
        <p:spPr>
          <a:xfrm>
            <a:off x="683491" y="2611441"/>
            <a:ext cx="3762290" cy="2097249"/>
          </a:xfrm>
          <a:prstGeom prst="rect">
            <a:avLst/>
          </a:prstGeom>
        </p:spPr>
      </p:pic>
      <p:sp>
        <p:nvSpPr>
          <p:cNvPr id="33" name="正方形/長方形 32"/>
          <p:cNvSpPr/>
          <p:nvPr/>
        </p:nvSpPr>
        <p:spPr>
          <a:xfrm>
            <a:off x="830828" y="5032628"/>
            <a:ext cx="3467616" cy="830997"/>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ホームページから気軽にチャットで</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問い合わせができるようになり</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資料請求や商品の購入に繋がる。</a:t>
            </a:r>
            <a:endParaRPr lang="en-US" altLang="ja-JP" sz="1600" b="1" dirty="0">
              <a:solidFill>
                <a:schemeClr val="tx1">
                  <a:lumMod val="65000"/>
                  <a:lumOff val="35000"/>
                </a:schemeClr>
              </a:solidFill>
              <a:latin typeface="メイリオ"/>
              <a:ea typeface="メイリオ"/>
              <a:cs typeface="メイリオ"/>
              <a:sym typeface="Meiryo"/>
            </a:endParaRPr>
          </a:p>
        </p:txBody>
      </p:sp>
      <p:grpSp>
        <p:nvGrpSpPr>
          <p:cNvPr id="34" name="Group 25">
            <a:extLst>
              <a:ext uri="{FF2B5EF4-FFF2-40B4-BE49-F238E27FC236}">
                <a16:creationId xmlns:a16="http://schemas.microsoft.com/office/drawing/2014/main" id="{269BA4E8-CBA1-17CF-4B27-5586E44C9042}"/>
              </a:ext>
            </a:extLst>
          </p:cNvPr>
          <p:cNvGrpSpPr/>
          <p:nvPr/>
        </p:nvGrpSpPr>
        <p:grpSpPr>
          <a:xfrm rot="5400000">
            <a:off x="5120631" y="2997089"/>
            <a:ext cx="301414" cy="601358"/>
            <a:chOff x="0" y="0"/>
            <a:chExt cx="452282" cy="902360"/>
          </a:xfrm>
        </p:grpSpPr>
        <p:sp>
          <p:nvSpPr>
            <p:cNvPr id="35"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6"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37" name="TextBox 38">
            <a:extLst>
              <a:ext uri="{FF2B5EF4-FFF2-40B4-BE49-F238E27FC236}">
                <a16:creationId xmlns:a16="http://schemas.microsoft.com/office/drawing/2014/main" id="{5DBC0D5A-D55C-257A-51E2-CC2A6B58B8CE}"/>
              </a:ext>
            </a:extLst>
          </p:cNvPr>
          <p:cNvSpPr txBox="1"/>
          <p:nvPr/>
        </p:nvSpPr>
        <p:spPr>
          <a:xfrm>
            <a:off x="5836651" y="3018835"/>
            <a:ext cx="3788946" cy="564257"/>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自動応答と有人応答を使い分けることが</a:t>
            </a:r>
            <a:endParaRPr lang="en-US" altLang="ja-JP" sz="1554"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できる</a:t>
            </a:r>
            <a:endParaRPr lang="en-US" sz="1554" b="1" dirty="0">
              <a:solidFill>
                <a:srgbClr val="494848"/>
              </a:solidFill>
              <a:latin typeface="メイリオ" panose="020B0604030504040204" pitchFamily="50" charset="-128"/>
              <a:ea typeface="メイリオ" panose="020B0604030504040204" pitchFamily="50" charset="-128"/>
              <a:cs typeface="メイリオ"/>
            </a:endParaRPr>
          </a:p>
        </p:txBody>
      </p:sp>
      <p:grpSp>
        <p:nvGrpSpPr>
          <p:cNvPr id="38" name="Group 25">
            <a:extLst>
              <a:ext uri="{FF2B5EF4-FFF2-40B4-BE49-F238E27FC236}">
                <a16:creationId xmlns:a16="http://schemas.microsoft.com/office/drawing/2014/main" id="{269BA4E8-CBA1-17CF-4B27-5586E44C9042}"/>
              </a:ext>
            </a:extLst>
          </p:cNvPr>
          <p:cNvGrpSpPr/>
          <p:nvPr/>
        </p:nvGrpSpPr>
        <p:grpSpPr>
          <a:xfrm rot="5400000">
            <a:off x="5120631" y="3995552"/>
            <a:ext cx="301414" cy="601358"/>
            <a:chOff x="0" y="0"/>
            <a:chExt cx="452282" cy="902360"/>
          </a:xfrm>
        </p:grpSpPr>
        <p:sp>
          <p:nvSpPr>
            <p:cNvPr id="39"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0"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41" name="TextBox 38">
            <a:extLst>
              <a:ext uri="{FF2B5EF4-FFF2-40B4-BE49-F238E27FC236}">
                <a16:creationId xmlns:a16="http://schemas.microsoft.com/office/drawing/2014/main" id="{5DBC0D5A-D55C-257A-51E2-CC2A6B58B8CE}"/>
              </a:ext>
            </a:extLst>
          </p:cNvPr>
          <p:cNvSpPr txBox="1"/>
          <p:nvPr/>
        </p:nvSpPr>
        <p:spPr>
          <a:xfrm>
            <a:off x="5836651" y="4017298"/>
            <a:ext cx="3788946" cy="564257"/>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「訪問者管理機能」により、ホームページに訪れたユーザーを一覧で見ることが可能</a:t>
            </a:r>
            <a:endParaRPr lang="en-US" sz="1554" b="1" dirty="0">
              <a:solidFill>
                <a:srgbClr val="494848"/>
              </a:solidFill>
              <a:latin typeface="メイリオ" panose="020B0604030504040204" pitchFamily="50" charset="-128"/>
              <a:ea typeface="メイリオ" panose="020B0604030504040204" pitchFamily="50" charset="-128"/>
              <a:cs typeface="メイリオ"/>
            </a:endParaRPr>
          </a:p>
        </p:txBody>
      </p:sp>
      <p:grpSp>
        <p:nvGrpSpPr>
          <p:cNvPr id="42" name="Group 25">
            <a:extLst>
              <a:ext uri="{FF2B5EF4-FFF2-40B4-BE49-F238E27FC236}">
                <a16:creationId xmlns:a16="http://schemas.microsoft.com/office/drawing/2014/main" id="{269BA4E8-CBA1-17CF-4B27-5586E44C9042}"/>
              </a:ext>
            </a:extLst>
          </p:cNvPr>
          <p:cNvGrpSpPr/>
          <p:nvPr/>
        </p:nvGrpSpPr>
        <p:grpSpPr>
          <a:xfrm rot="5400000">
            <a:off x="5120631" y="4994015"/>
            <a:ext cx="301414" cy="601358"/>
            <a:chOff x="0" y="0"/>
            <a:chExt cx="452282" cy="902360"/>
          </a:xfrm>
        </p:grpSpPr>
        <p:sp>
          <p:nvSpPr>
            <p:cNvPr id="44"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5"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46" name="TextBox 38">
            <a:extLst>
              <a:ext uri="{FF2B5EF4-FFF2-40B4-BE49-F238E27FC236}">
                <a16:creationId xmlns:a16="http://schemas.microsoft.com/office/drawing/2014/main" id="{5DBC0D5A-D55C-257A-51E2-CC2A6B58B8CE}"/>
              </a:ext>
            </a:extLst>
          </p:cNvPr>
          <p:cNvSpPr txBox="1"/>
          <p:nvPr/>
        </p:nvSpPr>
        <p:spPr>
          <a:xfrm>
            <a:off x="5836651" y="5015761"/>
            <a:ext cx="3788946" cy="846386"/>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公式</a:t>
            </a:r>
            <a:r>
              <a:rPr lang="en-US" altLang="ja-JP" sz="1554" b="1" dirty="0">
                <a:solidFill>
                  <a:srgbClr val="494848"/>
                </a:solidFill>
                <a:latin typeface="メイリオ" panose="020B0604030504040204" pitchFamily="50" charset="-128"/>
                <a:ea typeface="メイリオ" panose="020B0604030504040204" pitchFamily="50" charset="-128"/>
                <a:cs typeface="メイリオ"/>
              </a:rPr>
              <a:t>LINE</a:t>
            </a:r>
            <a:r>
              <a:rPr lang="ja-JP" altLang="en-US" sz="1554" b="1" dirty="0">
                <a:solidFill>
                  <a:srgbClr val="494848"/>
                </a:solidFill>
                <a:latin typeface="メイリオ" panose="020B0604030504040204" pitchFamily="50" charset="-128"/>
                <a:ea typeface="メイリオ" panose="020B0604030504040204" pitchFamily="50" charset="-128"/>
                <a:cs typeface="メイリオ"/>
              </a:rPr>
              <a:t>とチャットボットを連携し</a:t>
            </a:r>
            <a:endParaRPr lang="en-US" altLang="ja-JP" sz="1554"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en-US" altLang="ja-JP" sz="1554" b="1" dirty="0">
                <a:solidFill>
                  <a:srgbClr val="494848"/>
                </a:solidFill>
                <a:latin typeface="メイリオ" panose="020B0604030504040204" pitchFamily="50" charset="-128"/>
                <a:ea typeface="メイリオ" panose="020B0604030504040204" pitchFamily="50" charset="-128"/>
                <a:cs typeface="メイリオ"/>
              </a:rPr>
              <a:t>LINE</a:t>
            </a:r>
            <a:r>
              <a:rPr lang="ja-JP" altLang="en-US" sz="1554" b="1" dirty="0">
                <a:solidFill>
                  <a:srgbClr val="494848"/>
                </a:solidFill>
                <a:latin typeface="メイリオ" panose="020B0604030504040204" pitchFamily="50" charset="-128"/>
                <a:ea typeface="メイリオ" panose="020B0604030504040204" pitchFamily="50" charset="-128"/>
                <a:cs typeface="メイリオ"/>
              </a:rPr>
              <a:t>上でも同じチャットボットを活用</a:t>
            </a:r>
            <a:endParaRPr lang="en-US" altLang="ja-JP" sz="1554"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できる</a:t>
            </a:r>
            <a:endParaRPr lang="en-US" sz="1554" b="1" dirty="0">
              <a:solidFill>
                <a:srgbClr val="494848"/>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69276659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20026D-0FAA-76C0-699F-5C95EE2044C4}"/>
            </a:ext>
          </a:extLst>
        </p:cNvPr>
        <p:cNvGrpSpPr/>
        <p:nvPr/>
      </p:nvGrpSpPr>
      <p:grpSpPr>
        <a:xfrm>
          <a:off x="0" y="0"/>
          <a:ext cx="0" cy="0"/>
          <a:chOff x="0" y="0"/>
          <a:chExt cx="0" cy="0"/>
        </a:xfrm>
      </p:grpSpPr>
      <p:sp>
        <p:nvSpPr>
          <p:cNvPr id="2" name="Google Shape;156;p7">
            <a:extLst>
              <a:ext uri="{FF2B5EF4-FFF2-40B4-BE49-F238E27FC236}">
                <a16:creationId xmlns:a16="http://schemas.microsoft.com/office/drawing/2014/main" id="{C5E2E585-BC17-9ECA-2598-27E9D406C15A}"/>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その他 代表的な活用機能</a:t>
            </a:r>
          </a:p>
        </p:txBody>
      </p:sp>
      <p:sp>
        <p:nvSpPr>
          <p:cNvPr id="4" name="正方形/長方形 3">
            <a:extLst>
              <a:ext uri="{FF2B5EF4-FFF2-40B4-BE49-F238E27FC236}">
                <a16:creationId xmlns:a16="http://schemas.microsoft.com/office/drawing/2014/main" id="{E05B90A4-AED6-B19A-AEE0-64B5142381A5}"/>
              </a:ext>
            </a:extLst>
          </p:cNvPr>
          <p:cNvSpPr/>
          <p:nvPr/>
        </p:nvSpPr>
        <p:spPr>
          <a:xfrm>
            <a:off x="209578" y="1455366"/>
            <a:ext cx="7689926"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コール</a:t>
            </a:r>
            <a:r>
              <a:rPr lang="en-US" altLang="ja-JP" sz="1600" b="1" dirty="0">
                <a:solidFill>
                  <a:schemeClr val="tx1">
                    <a:lumMod val="65000"/>
                    <a:lumOff val="35000"/>
                  </a:schemeClr>
                </a:solidFill>
                <a:latin typeface="メイリオ"/>
                <a:ea typeface="メイリオ"/>
                <a:cs typeface="メイリオ"/>
                <a:sym typeface="Meiryo"/>
              </a:rPr>
              <a:t>Plus</a:t>
            </a:r>
            <a:r>
              <a:rPr lang="ja-JP" altLang="en-US" sz="1600" b="1" dirty="0">
                <a:solidFill>
                  <a:schemeClr val="tx1">
                    <a:lumMod val="65000"/>
                    <a:lumOff val="35000"/>
                  </a:schemeClr>
                </a:solidFill>
                <a:latin typeface="メイリオ"/>
                <a:ea typeface="メイリオ"/>
                <a:cs typeface="メイリオ"/>
                <a:sym typeface="Meiryo"/>
              </a:rPr>
              <a:t>」は、</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公式アカウントの有料オプション機能で、</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公式アカウントからユーザーがカスタマーサポートに電話できるサービス。</a:t>
            </a:r>
            <a:endParaRPr lang="en-US" altLang="ja-JP" sz="1600" b="1" dirty="0">
              <a:solidFill>
                <a:schemeClr val="tx1">
                  <a:lumMod val="65000"/>
                  <a:lumOff val="35000"/>
                </a:schemeClr>
              </a:solidFill>
              <a:latin typeface="メイリオ"/>
              <a:ea typeface="メイリオ"/>
              <a:cs typeface="メイリオ"/>
              <a:sym typeface="Meiryo"/>
            </a:endParaRPr>
          </a:p>
        </p:txBody>
      </p:sp>
      <p:sp>
        <p:nvSpPr>
          <p:cNvPr id="5" name="正方形/長方形 4">
            <a:extLst>
              <a:ext uri="{FF2B5EF4-FFF2-40B4-BE49-F238E27FC236}">
                <a16:creationId xmlns:a16="http://schemas.microsoft.com/office/drawing/2014/main" id="{381E56F1-6DB4-770A-F040-6633F4E7E2B0}"/>
              </a:ext>
            </a:extLst>
          </p:cNvPr>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cs typeface="メイリオ"/>
              </a:rPr>
              <a:t>【</a:t>
            </a:r>
            <a:r>
              <a:rPr lang="en-US" altLang="ja-JP" sz="1600" b="1" dirty="0" err="1">
                <a:latin typeface="メイリオ" panose="020B0604030504040204" pitchFamily="50" charset="-128"/>
                <a:ea typeface="メイリオ" panose="020B0604030504040204" pitchFamily="50" charset="-128"/>
                <a:cs typeface="メイリオ"/>
              </a:rPr>
              <a:t>LINE】Call</a:t>
            </a:r>
            <a:r>
              <a:rPr lang="en-US" altLang="ja-JP" sz="1600" b="1" dirty="0">
                <a:latin typeface="メイリオ" panose="020B0604030504040204" pitchFamily="50" charset="-128"/>
                <a:ea typeface="メイリオ" panose="020B0604030504040204" pitchFamily="50" charset="-128"/>
                <a:cs typeface="メイリオ"/>
              </a:rPr>
              <a:t> Plus</a:t>
            </a:r>
          </a:p>
        </p:txBody>
      </p:sp>
      <p:pic>
        <p:nvPicPr>
          <p:cNvPr id="6" name="図 5">
            <a:extLst>
              <a:ext uri="{FF2B5EF4-FFF2-40B4-BE49-F238E27FC236}">
                <a16:creationId xmlns:a16="http://schemas.microsoft.com/office/drawing/2014/main" id="{A4DCE6F0-EC2D-892A-88B0-8516B660CB73}"/>
              </a:ext>
            </a:extLst>
          </p:cNvPr>
          <p:cNvPicPr>
            <a:picLocks noChangeAspect="1"/>
          </p:cNvPicPr>
          <p:nvPr/>
        </p:nvPicPr>
        <p:blipFill>
          <a:blip r:embed="rId2"/>
          <a:stretch>
            <a:fillRect/>
          </a:stretch>
        </p:blipFill>
        <p:spPr>
          <a:xfrm>
            <a:off x="668697" y="2287502"/>
            <a:ext cx="8332001" cy="2953508"/>
          </a:xfrm>
          <a:prstGeom prst="rect">
            <a:avLst/>
          </a:prstGeom>
        </p:spPr>
      </p:pic>
      <p:sp>
        <p:nvSpPr>
          <p:cNvPr id="7" name="角丸四角形 7">
            <a:extLst>
              <a:ext uri="{FF2B5EF4-FFF2-40B4-BE49-F238E27FC236}">
                <a16:creationId xmlns:a16="http://schemas.microsoft.com/office/drawing/2014/main" id="{D9E83488-E9DE-A2BA-7266-DA0D65822773}"/>
              </a:ext>
            </a:extLst>
          </p:cNvPr>
          <p:cNvSpPr/>
          <p:nvPr/>
        </p:nvSpPr>
        <p:spPr>
          <a:xfrm>
            <a:off x="548883" y="5241010"/>
            <a:ext cx="8720952" cy="1245629"/>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8" name="正方形/長方形 7">
            <a:extLst>
              <a:ext uri="{FF2B5EF4-FFF2-40B4-BE49-F238E27FC236}">
                <a16:creationId xmlns:a16="http://schemas.microsoft.com/office/drawing/2014/main" id="{71E1C361-AEEF-C8A2-A1E4-44AF984285D5}"/>
              </a:ext>
            </a:extLst>
          </p:cNvPr>
          <p:cNvSpPr/>
          <p:nvPr/>
        </p:nvSpPr>
        <p:spPr>
          <a:xfrm>
            <a:off x="4642710" y="6545362"/>
            <a:ext cx="5046574" cy="246221"/>
          </a:xfrm>
          <a:prstGeom prst="rect">
            <a:avLst/>
          </a:prstGeom>
        </p:spPr>
        <p:txBody>
          <a:bodyPr wrap="none">
            <a:spAutoFit/>
          </a:bodyPr>
          <a:lstStyle/>
          <a:p>
            <a:pPr lvl="0">
              <a:buClr>
                <a:srgbClr val="002060"/>
              </a:buClr>
              <a:buSzPts val="1600"/>
            </a:pPr>
            <a:r>
              <a:rPr lang="ja-JP" altLang="en-US" sz="1000" b="1" dirty="0">
                <a:solidFill>
                  <a:schemeClr val="tx1">
                    <a:lumMod val="65000"/>
                    <a:lumOff val="35000"/>
                  </a:schemeClr>
                </a:solidFill>
                <a:latin typeface="メイリオ"/>
                <a:ea typeface="メイリオ"/>
                <a:cs typeface="メイリオ"/>
                <a:sym typeface="Meiryo"/>
              </a:rPr>
              <a:t>引用：</a:t>
            </a:r>
            <a:r>
              <a:rPr lang="en-US" altLang="ja-JP" sz="1000" b="1" dirty="0">
                <a:solidFill>
                  <a:schemeClr val="tx1">
                    <a:lumMod val="65000"/>
                    <a:lumOff val="35000"/>
                  </a:schemeClr>
                </a:solidFill>
                <a:latin typeface="メイリオ"/>
                <a:ea typeface="メイリオ"/>
                <a:cs typeface="メイリオ"/>
                <a:sym typeface="Meiryo"/>
              </a:rPr>
              <a:t>https://prtimes.jp/main/html/rd/p/000003920.000001594.html</a:t>
            </a:r>
          </a:p>
        </p:txBody>
      </p:sp>
      <p:sp>
        <p:nvSpPr>
          <p:cNvPr id="9" name="正方形/長方形 8">
            <a:extLst>
              <a:ext uri="{FF2B5EF4-FFF2-40B4-BE49-F238E27FC236}">
                <a16:creationId xmlns:a16="http://schemas.microsoft.com/office/drawing/2014/main" id="{F798F716-4AF6-5FA7-044B-E98F33F1C04B}"/>
              </a:ext>
            </a:extLst>
          </p:cNvPr>
          <p:cNvSpPr/>
          <p:nvPr/>
        </p:nvSpPr>
        <p:spPr>
          <a:xfrm>
            <a:off x="859212" y="5571436"/>
            <a:ext cx="7989495"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さらに「</a:t>
            </a:r>
            <a:r>
              <a:rPr lang="en-US" altLang="ja-JP" sz="1600" b="1" dirty="0">
                <a:solidFill>
                  <a:schemeClr val="tx1">
                    <a:lumMod val="65000"/>
                    <a:lumOff val="35000"/>
                  </a:schemeClr>
                </a:solidFill>
                <a:latin typeface="メイリオ"/>
                <a:ea typeface="メイリオ"/>
                <a:cs typeface="メイリオ"/>
                <a:sym typeface="Meiryo"/>
              </a:rPr>
              <a:t>LINE Ai Call</a:t>
            </a:r>
            <a:r>
              <a:rPr lang="ja-JP" altLang="en-US" sz="1600" b="1" dirty="0">
                <a:solidFill>
                  <a:schemeClr val="tx1">
                    <a:lumMod val="65000"/>
                    <a:lumOff val="35000"/>
                  </a:schemeClr>
                </a:solidFill>
                <a:latin typeface="メイリオ"/>
                <a:ea typeface="メイリオ"/>
                <a:cs typeface="メイリオ"/>
                <a:sym typeface="Meiryo"/>
              </a:rPr>
              <a:t>」を活用するとユーザーの要望に対して</a:t>
            </a:r>
            <a:r>
              <a:rPr lang="en-US" altLang="ja-JP" sz="1600" b="1" dirty="0">
                <a:solidFill>
                  <a:schemeClr val="tx1">
                    <a:lumMod val="65000"/>
                    <a:lumOff val="35000"/>
                  </a:schemeClr>
                </a:solidFill>
                <a:latin typeface="メイリオ"/>
                <a:ea typeface="メイリオ"/>
                <a:cs typeface="メイリオ"/>
                <a:sym typeface="Meiryo"/>
              </a:rPr>
              <a:t>AI</a:t>
            </a:r>
            <a:r>
              <a:rPr lang="ja-JP" altLang="en-US" sz="1600" b="1" dirty="0">
                <a:solidFill>
                  <a:schemeClr val="tx1">
                    <a:lumMod val="65000"/>
                    <a:lumOff val="35000"/>
                  </a:schemeClr>
                </a:solidFill>
                <a:latin typeface="メイリオ"/>
                <a:ea typeface="メイリオ"/>
                <a:cs typeface="メイリオ"/>
                <a:sym typeface="Meiryo"/>
              </a:rPr>
              <a:t>による自然な</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対話応答が可能に。要件に応じて</a:t>
            </a:r>
            <a:r>
              <a:rPr lang="en-US" altLang="ja-JP" sz="1600" b="1" dirty="0">
                <a:solidFill>
                  <a:schemeClr val="tx1">
                    <a:lumMod val="65000"/>
                    <a:lumOff val="35000"/>
                  </a:schemeClr>
                </a:solidFill>
                <a:latin typeface="メイリオ"/>
                <a:ea typeface="メイリオ"/>
                <a:cs typeface="メイリオ"/>
                <a:sym typeface="Meiryo"/>
              </a:rPr>
              <a:t>Ai</a:t>
            </a:r>
            <a:r>
              <a:rPr lang="ja-JP" altLang="en-US" sz="1600" b="1" dirty="0">
                <a:solidFill>
                  <a:schemeClr val="tx1">
                    <a:lumMod val="65000"/>
                    <a:lumOff val="35000"/>
                  </a:schemeClr>
                </a:solidFill>
                <a:latin typeface="メイリオ"/>
                <a:ea typeface="メイリオ"/>
                <a:cs typeface="メイリオ"/>
                <a:sym typeface="Meiryo"/>
              </a:rPr>
              <a:t>と有人オペレータの振り分け業務効率化を支援。</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25245541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11520D-5D7C-2BDD-908B-6251C4BD5729}"/>
            </a:ext>
          </a:extLst>
        </p:cNvPr>
        <p:cNvGrpSpPr/>
        <p:nvPr/>
      </p:nvGrpSpPr>
      <p:grpSpPr>
        <a:xfrm>
          <a:off x="0" y="0"/>
          <a:ext cx="0" cy="0"/>
          <a:chOff x="0" y="0"/>
          <a:chExt cx="0" cy="0"/>
        </a:xfrm>
      </p:grpSpPr>
      <p:sp>
        <p:nvSpPr>
          <p:cNvPr id="2" name="Google Shape;156;p7">
            <a:extLst>
              <a:ext uri="{FF2B5EF4-FFF2-40B4-BE49-F238E27FC236}">
                <a16:creationId xmlns:a16="http://schemas.microsoft.com/office/drawing/2014/main" id="{D9975C92-DB69-EFCA-815F-DEDCC99A793F}"/>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その他 代表的な活用機能</a:t>
            </a:r>
          </a:p>
        </p:txBody>
      </p:sp>
      <p:sp>
        <p:nvSpPr>
          <p:cNvPr id="5" name="正方形/長方形 4">
            <a:extLst>
              <a:ext uri="{FF2B5EF4-FFF2-40B4-BE49-F238E27FC236}">
                <a16:creationId xmlns:a16="http://schemas.microsoft.com/office/drawing/2014/main" id="{B925A5A4-A739-9AD7-5D18-2E4781D36898}"/>
              </a:ext>
            </a:extLst>
          </p:cNvPr>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cs typeface="メイリオ"/>
              </a:rPr>
              <a:t>LINE</a:t>
            </a:r>
            <a:r>
              <a:rPr lang="ja-JP" altLang="en-US" sz="1600" b="1" dirty="0">
                <a:latin typeface="メイリオ" panose="020B0604030504040204" pitchFamily="50" charset="-128"/>
                <a:ea typeface="メイリオ" panose="020B0604030504040204" pitchFamily="50" charset="-128"/>
                <a:cs typeface="メイリオ"/>
              </a:rPr>
              <a:t>でログイン</a:t>
            </a:r>
            <a:endParaRPr lang="en-US" altLang="ja-JP" sz="1600" b="1" dirty="0">
              <a:latin typeface="メイリオ" panose="020B0604030504040204" pitchFamily="50" charset="-128"/>
              <a:ea typeface="メイリオ" panose="020B0604030504040204" pitchFamily="50" charset="-128"/>
              <a:cs typeface="メイリオ"/>
            </a:endParaRPr>
          </a:p>
        </p:txBody>
      </p:sp>
      <p:sp>
        <p:nvSpPr>
          <p:cNvPr id="8" name="正方形/長方形 7">
            <a:extLst>
              <a:ext uri="{FF2B5EF4-FFF2-40B4-BE49-F238E27FC236}">
                <a16:creationId xmlns:a16="http://schemas.microsoft.com/office/drawing/2014/main" id="{7C64DE5F-370C-8EB5-6D0C-7DDEB12A3E16}"/>
              </a:ext>
            </a:extLst>
          </p:cNvPr>
          <p:cNvSpPr/>
          <p:nvPr/>
        </p:nvSpPr>
        <p:spPr>
          <a:xfrm>
            <a:off x="4642710" y="6545362"/>
            <a:ext cx="5046574" cy="246221"/>
          </a:xfrm>
          <a:prstGeom prst="rect">
            <a:avLst/>
          </a:prstGeom>
        </p:spPr>
        <p:txBody>
          <a:bodyPr wrap="none">
            <a:spAutoFit/>
          </a:bodyPr>
          <a:lstStyle/>
          <a:p>
            <a:pPr lvl="0">
              <a:buClr>
                <a:srgbClr val="002060"/>
              </a:buClr>
              <a:buSzPts val="1600"/>
            </a:pPr>
            <a:r>
              <a:rPr lang="ja-JP" altLang="en-US" sz="1000" b="1" dirty="0">
                <a:solidFill>
                  <a:schemeClr val="tx1">
                    <a:lumMod val="65000"/>
                    <a:lumOff val="35000"/>
                  </a:schemeClr>
                </a:solidFill>
                <a:latin typeface="メイリオ"/>
                <a:ea typeface="メイリオ"/>
                <a:cs typeface="メイリオ"/>
                <a:sym typeface="Meiryo"/>
              </a:rPr>
              <a:t>引用：</a:t>
            </a:r>
            <a:r>
              <a:rPr lang="en-US" altLang="ja-JP" sz="1000" b="1" dirty="0">
                <a:solidFill>
                  <a:schemeClr val="tx1">
                    <a:lumMod val="65000"/>
                    <a:lumOff val="35000"/>
                  </a:schemeClr>
                </a:solidFill>
                <a:latin typeface="メイリオ"/>
                <a:ea typeface="メイリオ"/>
                <a:cs typeface="メイリオ"/>
                <a:sym typeface="Meiryo"/>
              </a:rPr>
              <a:t>https://prtimes.jp/main/html/rd/p/000003920.000001594.html</a:t>
            </a:r>
          </a:p>
        </p:txBody>
      </p:sp>
      <p:pic>
        <p:nvPicPr>
          <p:cNvPr id="3" name="図 2">
            <a:extLst>
              <a:ext uri="{FF2B5EF4-FFF2-40B4-BE49-F238E27FC236}">
                <a16:creationId xmlns:a16="http://schemas.microsoft.com/office/drawing/2014/main" id="{2F4170E7-BAC4-FD12-01C2-903FF75F192F}"/>
              </a:ext>
            </a:extLst>
          </p:cNvPr>
          <p:cNvPicPr>
            <a:picLocks noChangeAspect="1"/>
          </p:cNvPicPr>
          <p:nvPr/>
        </p:nvPicPr>
        <p:blipFill>
          <a:blip r:embed="rId2"/>
          <a:stretch>
            <a:fillRect/>
          </a:stretch>
        </p:blipFill>
        <p:spPr>
          <a:xfrm>
            <a:off x="414007" y="1995020"/>
            <a:ext cx="9077986" cy="4550342"/>
          </a:xfrm>
          <a:prstGeom prst="rect">
            <a:avLst/>
          </a:prstGeom>
        </p:spPr>
      </p:pic>
      <p:sp>
        <p:nvSpPr>
          <p:cNvPr id="4" name="正方形/長方形 3">
            <a:extLst>
              <a:ext uri="{FF2B5EF4-FFF2-40B4-BE49-F238E27FC236}">
                <a16:creationId xmlns:a16="http://schemas.microsoft.com/office/drawing/2014/main" id="{33EC1AF8-7A08-D8F6-3DC4-3EBE18410E78}"/>
              </a:ext>
            </a:extLst>
          </p:cNvPr>
          <p:cNvSpPr/>
          <p:nvPr/>
        </p:nvSpPr>
        <p:spPr>
          <a:xfrm>
            <a:off x="209578" y="1455366"/>
            <a:ext cx="8925841"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でログイン」は、</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上のユーザー情報を活用して</a:t>
            </a:r>
            <a:r>
              <a:rPr lang="en-US" altLang="ja-JP" sz="1600" b="1" dirty="0">
                <a:solidFill>
                  <a:schemeClr val="tx1">
                    <a:lumMod val="65000"/>
                    <a:lumOff val="35000"/>
                  </a:schemeClr>
                </a:solidFill>
                <a:latin typeface="メイリオ"/>
                <a:ea typeface="メイリオ"/>
                <a:cs typeface="メイリオ"/>
                <a:sym typeface="Meiryo"/>
              </a:rPr>
              <a:t>WEB</a:t>
            </a:r>
            <a:r>
              <a:rPr lang="ja-JP" altLang="en-US" sz="1600" b="1" dirty="0">
                <a:solidFill>
                  <a:schemeClr val="tx1">
                    <a:lumMod val="65000"/>
                    <a:lumOff val="35000"/>
                  </a:schemeClr>
                </a:solidFill>
                <a:latin typeface="メイリオ"/>
                <a:ea typeface="メイリオ"/>
                <a:cs typeface="メイリオ"/>
                <a:sym typeface="Meiryo"/>
              </a:rPr>
              <a:t>サイト登録が出来る仕組み。</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ID</a:t>
            </a:r>
            <a:r>
              <a:rPr lang="ja-JP" altLang="en-US" sz="1600" b="1" dirty="0">
                <a:solidFill>
                  <a:schemeClr val="tx1">
                    <a:lumMod val="65000"/>
                    <a:lumOff val="35000"/>
                  </a:schemeClr>
                </a:solidFill>
                <a:latin typeface="メイリオ"/>
                <a:ea typeface="メイリオ"/>
                <a:cs typeface="メイリオ"/>
                <a:sym typeface="Meiryo"/>
              </a:rPr>
              <a:t>連携を完了することにより、サービス</a:t>
            </a:r>
            <a:r>
              <a:rPr lang="en-US" altLang="ja-JP" sz="1600" b="1" dirty="0">
                <a:solidFill>
                  <a:schemeClr val="tx1">
                    <a:lumMod val="65000"/>
                    <a:lumOff val="35000"/>
                  </a:schemeClr>
                </a:solidFill>
                <a:latin typeface="メイリオ"/>
                <a:ea typeface="メイリオ"/>
                <a:cs typeface="メイリオ"/>
                <a:sym typeface="Meiryo"/>
              </a:rPr>
              <a:t>(WEB) </a:t>
            </a:r>
            <a:r>
              <a:rPr lang="ja-JP" altLang="en-US" sz="1600" b="1" dirty="0">
                <a:solidFill>
                  <a:schemeClr val="tx1">
                    <a:lumMod val="65000"/>
                    <a:lumOff val="35000"/>
                  </a:schemeClr>
                </a:solidFill>
                <a:latin typeface="メイリオ"/>
                <a:ea typeface="メイリオ"/>
                <a:cs typeface="メイリオ"/>
                <a:sym typeface="Meiryo"/>
              </a:rPr>
              <a:t>⇔ </a:t>
            </a:r>
            <a:r>
              <a:rPr lang="en-US" altLang="ja-JP" sz="1600" b="1" dirty="0">
                <a:solidFill>
                  <a:schemeClr val="tx1">
                    <a:lumMod val="65000"/>
                    <a:lumOff val="35000"/>
                  </a:schemeClr>
                </a:solidFill>
                <a:latin typeface="メイリオ"/>
                <a:ea typeface="メイリオ"/>
                <a:cs typeface="メイリオ"/>
                <a:sym typeface="Meiryo"/>
              </a:rPr>
              <a:t>LINE </a:t>
            </a:r>
            <a:r>
              <a:rPr lang="ja-JP" altLang="en-US" sz="1600" b="1" dirty="0">
                <a:solidFill>
                  <a:schemeClr val="tx1">
                    <a:lumMod val="65000"/>
                    <a:lumOff val="35000"/>
                  </a:schemeClr>
                </a:solidFill>
                <a:latin typeface="メイリオ"/>
                <a:ea typeface="メイリオ"/>
                <a:cs typeface="メイリオ"/>
                <a:sym typeface="Meiryo"/>
              </a:rPr>
              <a:t>での効果的なメッセージが可能に。</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419406833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E371F4F6-3F93-7830-595E-799AA69EA97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a:t>
            </a:r>
          </a:p>
        </p:txBody>
      </p:sp>
      <p:sp>
        <p:nvSpPr>
          <p:cNvPr id="2" name="角丸四角形 8">
            <a:extLst>
              <a:ext uri="{FF2B5EF4-FFF2-40B4-BE49-F238E27FC236}">
                <a16:creationId xmlns:a16="http://schemas.microsoft.com/office/drawing/2014/main" id="{FD5318E5-8B5E-2D7D-A660-11170C412EF2}"/>
              </a:ext>
            </a:extLst>
          </p:cNvPr>
          <p:cNvSpPr/>
          <p:nvPr/>
        </p:nvSpPr>
        <p:spPr>
          <a:xfrm>
            <a:off x="6663036"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3" name="Google Shape;178;p7">
            <a:extLst>
              <a:ext uri="{FF2B5EF4-FFF2-40B4-BE49-F238E27FC236}">
                <a16:creationId xmlns:a16="http://schemas.microsoft.com/office/drawing/2014/main" id="{5B7BDCE2-F32C-98D5-860A-09F3912D9718}"/>
              </a:ext>
            </a:extLst>
          </p:cNvPr>
          <p:cNvSpPr txBox="1"/>
          <p:nvPr/>
        </p:nvSpPr>
        <p:spPr>
          <a:xfrm>
            <a:off x="6756034" y="4153224"/>
            <a:ext cx="2800326" cy="67539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オフライン動線</a:t>
            </a:r>
            <a:endParaRPr lang="en-US" altLang="ja-JP" sz="2000" b="1" dirty="0">
              <a:solidFill>
                <a:srgbClr val="002060"/>
              </a:solidFill>
              <a:latin typeface="メイリオ"/>
              <a:ea typeface="メイリオ"/>
              <a:cs typeface="メイリオ"/>
              <a:sym typeface="Meiryo"/>
            </a:endParaRPr>
          </a:p>
          <a:p>
            <a:pPr lvl="0" algn="ctr">
              <a:buClr>
                <a:schemeClr val="dk1"/>
              </a:buClr>
              <a:buSzPts val="1500"/>
            </a:pPr>
            <a:r>
              <a:rPr lang="ja-JP" altLang="en-US" sz="1400" b="1" dirty="0">
                <a:solidFill>
                  <a:srgbClr val="002060"/>
                </a:solidFill>
                <a:latin typeface="メイリオ"/>
                <a:ea typeface="メイリオ"/>
                <a:cs typeface="メイリオ"/>
                <a:sym typeface="Meiryo"/>
              </a:rPr>
              <a:t>ニュースリリース等</a:t>
            </a:r>
            <a:endParaRPr lang="en-US" altLang="ja-JP" sz="1400" b="1" dirty="0">
              <a:solidFill>
                <a:srgbClr val="002060"/>
              </a:solidFill>
              <a:latin typeface="メイリオ"/>
              <a:ea typeface="メイリオ"/>
              <a:cs typeface="メイリオ"/>
              <a:sym typeface="Meiryo"/>
            </a:endParaRPr>
          </a:p>
        </p:txBody>
      </p:sp>
      <p:sp>
        <p:nvSpPr>
          <p:cNvPr id="5" name="角丸四角形 7">
            <a:extLst>
              <a:ext uri="{FF2B5EF4-FFF2-40B4-BE49-F238E27FC236}">
                <a16:creationId xmlns:a16="http://schemas.microsoft.com/office/drawing/2014/main" id="{467076C6-3952-617E-47B1-6B2C5D00137B}"/>
              </a:ext>
            </a:extLst>
          </p:cNvPr>
          <p:cNvSpPr/>
          <p:nvPr/>
        </p:nvSpPr>
        <p:spPr>
          <a:xfrm>
            <a:off x="3462784" y="4090156"/>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6" name="Google Shape;178;p7">
            <a:extLst>
              <a:ext uri="{FF2B5EF4-FFF2-40B4-BE49-F238E27FC236}">
                <a16:creationId xmlns:a16="http://schemas.microsoft.com/office/drawing/2014/main" id="{421A0D53-7019-D33A-B0BD-DBDF4AAB2FEE}"/>
              </a:ext>
            </a:extLst>
          </p:cNvPr>
          <p:cNvSpPr txBox="1"/>
          <p:nvPr/>
        </p:nvSpPr>
        <p:spPr>
          <a:xfrm>
            <a:off x="3563068" y="4245557"/>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WEB</a:t>
            </a:r>
            <a:r>
              <a:rPr lang="ja-JP" altLang="en-US" sz="2000" b="1" dirty="0">
                <a:solidFill>
                  <a:srgbClr val="002060"/>
                </a:solidFill>
                <a:latin typeface="メイリオ"/>
                <a:ea typeface="メイリオ"/>
                <a:cs typeface="メイリオ"/>
                <a:sym typeface="Meiryo"/>
              </a:rPr>
              <a:t>サイト動線整備</a:t>
            </a:r>
            <a:endParaRPr lang="en-US" altLang="ja-JP" sz="2000" b="1" dirty="0">
              <a:solidFill>
                <a:srgbClr val="002060"/>
              </a:solidFill>
              <a:latin typeface="メイリオ"/>
              <a:ea typeface="メイリオ"/>
              <a:cs typeface="メイリオ"/>
              <a:sym typeface="Meiryo"/>
            </a:endParaRPr>
          </a:p>
        </p:txBody>
      </p:sp>
      <p:sp>
        <p:nvSpPr>
          <p:cNvPr id="7" name="角丸四角形 8">
            <a:extLst>
              <a:ext uri="{FF2B5EF4-FFF2-40B4-BE49-F238E27FC236}">
                <a16:creationId xmlns:a16="http://schemas.microsoft.com/office/drawing/2014/main" id="{6248FCF3-6E9E-CB4D-40D9-251911AC2CEF}"/>
              </a:ext>
            </a:extLst>
          </p:cNvPr>
          <p:cNvSpPr/>
          <p:nvPr/>
        </p:nvSpPr>
        <p:spPr>
          <a:xfrm>
            <a:off x="262251"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8" name="Google Shape;178;p7">
            <a:extLst>
              <a:ext uri="{FF2B5EF4-FFF2-40B4-BE49-F238E27FC236}">
                <a16:creationId xmlns:a16="http://schemas.microsoft.com/office/drawing/2014/main" id="{E5C2AF7A-FA8D-3471-762D-FC84F5818E88}"/>
              </a:ext>
            </a:extLst>
          </p:cNvPr>
          <p:cNvSpPr txBox="1"/>
          <p:nvPr/>
        </p:nvSpPr>
        <p:spPr>
          <a:xfrm>
            <a:off x="598393" y="4153224"/>
            <a:ext cx="2314319" cy="644614"/>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友だち紹介</a:t>
            </a:r>
            <a:endParaRPr lang="en-US" altLang="ja-JP" sz="2000" b="1" dirty="0">
              <a:solidFill>
                <a:srgbClr val="002060"/>
              </a:solidFill>
              <a:latin typeface="メイリオ"/>
              <a:ea typeface="メイリオ"/>
              <a:cs typeface="メイリオ"/>
              <a:sym typeface="Meiryo"/>
            </a:endParaRPr>
          </a:p>
          <a:p>
            <a:pPr lvl="0" algn="ctr">
              <a:buClr>
                <a:schemeClr val="dk1"/>
              </a:buClr>
              <a:buSzPts val="1500"/>
            </a:pPr>
            <a:r>
              <a:rPr lang="ja-JP" altLang="en-US" sz="1200" b="1" dirty="0">
                <a:solidFill>
                  <a:srgbClr val="002060"/>
                </a:solidFill>
                <a:latin typeface="メイリオ"/>
                <a:ea typeface="メイリオ"/>
                <a:cs typeface="メイリオ"/>
                <a:sym typeface="Meiryo"/>
              </a:rPr>
              <a:t>（</a:t>
            </a:r>
            <a:r>
              <a:rPr lang="en-US" altLang="ja-JP" sz="1200" b="1" dirty="0">
                <a:solidFill>
                  <a:srgbClr val="002060"/>
                </a:solidFill>
                <a:latin typeface="メイリオ"/>
                <a:ea typeface="メイリオ"/>
                <a:cs typeface="メイリオ"/>
                <a:sym typeface="Meiryo"/>
              </a:rPr>
              <a:t>LINE</a:t>
            </a:r>
            <a:r>
              <a:rPr lang="ja-JP" altLang="en-US" sz="1200" b="1" dirty="0">
                <a:solidFill>
                  <a:srgbClr val="002060"/>
                </a:solidFill>
                <a:latin typeface="メイリオ"/>
                <a:ea typeface="メイリオ"/>
                <a:cs typeface="メイリオ"/>
                <a:sym typeface="Meiryo"/>
              </a:rPr>
              <a:t>ポイントコネクト）</a:t>
            </a:r>
            <a:endParaRPr lang="en-US" altLang="ja-JP" sz="1200" b="1" dirty="0">
              <a:solidFill>
                <a:srgbClr val="002060"/>
              </a:solidFill>
              <a:latin typeface="メイリオ"/>
              <a:ea typeface="メイリオ"/>
              <a:cs typeface="メイリオ"/>
              <a:sym typeface="Meiryo"/>
            </a:endParaRPr>
          </a:p>
        </p:txBody>
      </p:sp>
      <p:sp>
        <p:nvSpPr>
          <p:cNvPr id="9" name="角丸四角形 8">
            <a:extLst>
              <a:ext uri="{FF2B5EF4-FFF2-40B4-BE49-F238E27FC236}">
                <a16:creationId xmlns:a16="http://schemas.microsoft.com/office/drawing/2014/main" id="{B44E38B3-9697-65AF-1E0A-CE143B30BA15}"/>
              </a:ext>
            </a:extLst>
          </p:cNvPr>
          <p:cNvSpPr/>
          <p:nvPr/>
        </p:nvSpPr>
        <p:spPr>
          <a:xfrm>
            <a:off x="6663036"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0" name="Google Shape;178;p7">
            <a:extLst>
              <a:ext uri="{FF2B5EF4-FFF2-40B4-BE49-F238E27FC236}">
                <a16:creationId xmlns:a16="http://schemas.microsoft.com/office/drawing/2014/main" id="{227F189E-B3B2-1E1B-232D-81C3B9F95AF9}"/>
              </a:ext>
            </a:extLst>
          </p:cNvPr>
          <p:cNvSpPr txBox="1"/>
          <p:nvPr/>
        </p:nvSpPr>
        <p:spPr>
          <a:xfrm>
            <a:off x="6756034"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LINE</a:t>
            </a:r>
            <a:r>
              <a:rPr lang="ja-JP" altLang="en-US" sz="2000" b="1" dirty="0">
                <a:solidFill>
                  <a:srgbClr val="002060"/>
                </a:solidFill>
                <a:latin typeface="メイリオ"/>
                <a:ea typeface="メイリオ"/>
                <a:cs typeface="メイリオ"/>
                <a:sym typeface="Meiryo"/>
              </a:rPr>
              <a:t>ポイント</a:t>
            </a:r>
            <a:r>
              <a:rPr lang="en-US" altLang="ja-JP" sz="2000" b="1" dirty="0">
                <a:solidFill>
                  <a:srgbClr val="002060"/>
                </a:solidFill>
                <a:latin typeface="メイリオ"/>
                <a:ea typeface="メイリオ"/>
                <a:cs typeface="メイリオ"/>
                <a:sym typeface="Meiryo"/>
              </a:rPr>
              <a:t>Ads</a:t>
            </a:r>
            <a:endParaRPr lang="en-US" altLang="ja-JP" sz="1400" b="1" dirty="0">
              <a:solidFill>
                <a:srgbClr val="002060"/>
              </a:solidFill>
              <a:latin typeface="メイリオ"/>
              <a:ea typeface="メイリオ"/>
              <a:cs typeface="メイリオ"/>
              <a:sym typeface="Meiryo"/>
            </a:endParaRPr>
          </a:p>
        </p:txBody>
      </p:sp>
      <p:sp>
        <p:nvSpPr>
          <p:cNvPr id="11" name="角丸四角形 7">
            <a:extLst>
              <a:ext uri="{FF2B5EF4-FFF2-40B4-BE49-F238E27FC236}">
                <a16:creationId xmlns:a16="http://schemas.microsoft.com/office/drawing/2014/main" id="{246EA7DE-13D3-9A9C-9E03-EF6250D306DC}"/>
              </a:ext>
            </a:extLst>
          </p:cNvPr>
          <p:cNvSpPr/>
          <p:nvPr/>
        </p:nvSpPr>
        <p:spPr>
          <a:xfrm>
            <a:off x="3462784" y="185655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2" name="Google Shape;178;p7">
            <a:extLst>
              <a:ext uri="{FF2B5EF4-FFF2-40B4-BE49-F238E27FC236}">
                <a16:creationId xmlns:a16="http://schemas.microsoft.com/office/drawing/2014/main" id="{5045D5F0-5F86-568D-455F-0F514426CF62}"/>
              </a:ext>
            </a:extLst>
          </p:cNvPr>
          <p:cNvSpPr txBox="1"/>
          <p:nvPr/>
        </p:nvSpPr>
        <p:spPr>
          <a:xfrm>
            <a:off x="3563068"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スタンプ施策</a:t>
            </a:r>
            <a:endParaRPr lang="en-US" altLang="ja-JP" sz="2000" b="1" dirty="0">
              <a:solidFill>
                <a:srgbClr val="002060"/>
              </a:solidFill>
              <a:latin typeface="メイリオ"/>
              <a:ea typeface="メイリオ"/>
              <a:cs typeface="メイリオ"/>
              <a:sym typeface="Meiryo"/>
            </a:endParaRPr>
          </a:p>
        </p:txBody>
      </p:sp>
      <p:sp>
        <p:nvSpPr>
          <p:cNvPr id="13" name="角丸四角形 8">
            <a:extLst>
              <a:ext uri="{FF2B5EF4-FFF2-40B4-BE49-F238E27FC236}">
                <a16:creationId xmlns:a16="http://schemas.microsoft.com/office/drawing/2014/main" id="{3600FC78-1A6B-42D9-C939-11449F5EA1D7}"/>
              </a:ext>
            </a:extLst>
          </p:cNvPr>
          <p:cNvSpPr/>
          <p:nvPr/>
        </p:nvSpPr>
        <p:spPr>
          <a:xfrm>
            <a:off x="262251"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4" name="Google Shape;178;p7">
            <a:extLst>
              <a:ext uri="{FF2B5EF4-FFF2-40B4-BE49-F238E27FC236}">
                <a16:creationId xmlns:a16="http://schemas.microsoft.com/office/drawing/2014/main" id="{DE80A45D-1C7E-C6F5-E8EB-2D7BDFC995E0}"/>
              </a:ext>
            </a:extLst>
          </p:cNvPr>
          <p:cNvSpPr txBox="1"/>
          <p:nvPr/>
        </p:nvSpPr>
        <p:spPr>
          <a:xfrm>
            <a:off x="598393" y="2011960"/>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CPF</a:t>
            </a:r>
            <a:r>
              <a:rPr lang="ja-JP" altLang="en-US" sz="2000" b="1" dirty="0">
                <a:solidFill>
                  <a:srgbClr val="002060"/>
                </a:solidFill>
                <a:latin typeface="メイリオ"/>
                <a:ea typeface="メイリオ"/>
                <a:cs typeface="メイリオ"/>
                <a:sym typeface="Meiryo"/>
              </a:rPr>
              <a:t>広告</a:t>
            </a:r>
            <a:endParaRPr lang="en-US" altLang="ja-JP" sz="1200" b="1" dirty="0">
              <a:solidFill>
                <a:srgbClr val="002060"/>
              </a:solidFill>
              <a:latin typeface="メイリオ"/>
              <a:ea typeface="メイリオ"/>
              <a:cs typeface="メイリオ"/>
              <a:sym typeface="Meiryo"/>
            </a:endParaRPr>
          </a:p>
        </p:txBody>
      </p:sp>
      <p:sp>
        <p:nvSpPr>
          <p:cNvPr id="16" name="テキスト ボックス 15">
            <a:extLst>
              <a:ext uri="{FF2B5EF4-FFF2-40B4-BE49-F238E27FC236}">
                <a16:creationId xmlns:a16="http://schemas.microsoft.com/office/drawing/2014/main" id="{E2BE065C-FC2C-F8DB-8D4D-6A6CF2961B74}"/>
              </a:ext>
            </a:extLst>
          </p:cNvPr>
          <p:cNvSpPr txBox="1"/>
          <p:nvPr/>
        </p:nvSpPr>
        <p:spPr>
          <a:xfrm>
            <a:off x="6663036" y="5212007"/>
            <a:ext cx="2980713" cy="369332"/>
          </a:xfrm>
          <a:prstGeom prst="rect">
            <a:avLst/>
          </a:prstGeom>
          <a:noFill/>
        </p:spPr>
        <p:txBody>
          <a:bodyPr wrap="square">
            <a:spAutoFit/>
          </a:bodyPr>
          <a:lstStyle/>
          <a:p>
            <a:pPr algn="ctr"/>
            <a:r>
              <a:rPr lang="ja-JP" altLang="en-US" sz="1600" dirty="0">
                <a:latin typeface="メイリオ"/>
                <a:ea typeface="メイリオ"/>
                <a:cs typeface="メイリオ"/>
                <a:sym typeface="Meiryo"/>
              </a:rPr>
              <a:t>コンサル発注</a:t>
            </a:r>
            <a:r>
              <a:rPr lang="ja-JP" altLang="en-US" sz="1200" dirty="0">
                <a:latin typeface="メイリオ"/>
                <a:ea typeface="メイリオ"/>
                <a:cs typeface="メイリオ"/>
                <a:sym typeface="Meiryo"/>
              </a:rPr>
              <a:t>であれば </a:t>
            </a:r>
            <a:r>
              <a:rPr lang="ja-JP" altLang="en-US" b="1" dirty="0">
                <a:solidFill>
                  <a:srgbClr val="1F2A5C"/>
                </a:solidFill>
                <a:latin typeface="メイリオ"/>
                <a:ea typeface="メイリオ"/>
                <a:cs typeface="メイリオ"/>
                <a:sym typeface="Meiryo"/>
              </a:rPr>
              <a:t>無償</a:t>
            </a:r>
            <a:endParaRPr lang="ja-JP" altLang="en-US" dirty="0">
              <a:solidFill>
                <a:srgbClr val="1F2A5C"/>
              </a:solidFill>
              <a:latin typeface="メイリオ"/>
              <a:ea typeface="メイリオ"/>
              <a:cs typeface="メイリオ"/>
            </a:endParaRPr>
          </a:p>
        </p:txBody>
      </p:sp>
      <p:sp>
        <p:nvSpPr>
          <p:cNvPr id="18" name="正方形/長方形 17">
            <a:extLst>
              <a:ext uri="{FF2B5EF4-FFF2-40B4-BE49-F238E27FC236}">
                <a16:creationId xmlns:a16="http://schemas.microsoft.com/office/drawing/2014/main" id="{6E06F22F-E0C7-5FD3-4405-6102987BD5DF}"/>
              </a:ext>
            </a:extLst>
          </p:cNvPr>
          <p:cNvSpPr/>
          <p:nvPr/>
        </p:nvSpPr>
        <p:spPr>
          <a:xfrm>
            <a:off x="519852" y="4164059"/>
            <a:ext cx="2453983"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9" name="正方形/長方形 18">
            <a:extLst>
              <a:ext uri="{FF2B5EF4-FFF2-40B4-BE49-F238E27FC236}">
                <a16:creationId xmlns:a16="http://schemas.microsoft.com/office/drawing/2014/main" id="{B0050C1C-B390-1662-9BFB-21BE29D83F9A}"/>
              </a:ext>
            </a:extLst>
          </p:cNvPr>
          <p:cNvSpPr/>
          <p:nvPr/>
        </p:nvSpPr>
        <p:spPr>
          <a:xfrm>
            <a:off x="3613540" y="41624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0" name="正方形/長方形 19">
            <a:extLst>
              <a:ext uri="{FF2B5EF4-FFF2-40B4-BE49-F238E27FC236}">
                <a16:creationId xmlns:a16="http://schemas.microsoft.com/office/drawing/2014/main" id="{D5EE4289-C478-AD62-AE99-69AE5A069F77}"/>
              </a:ext>
            </a:extLst>
          </p:cNvPr>
          <p:cNvSpPr/>
          <p:nvPr/>
        </p:nvSpPr>
        <p:spPr>
          <a:xfrm>
            <a:off x="6825208" y="4153224"/>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1" name="正方形/長方形 20">
            <a:extLst>
              <a:ext uri="{FF2B5EF4-FFF2-40B4-BE49-F238E27FC236}">
                <a16:creationId xmlns:a16="http://schemas.microsoft.com/office/drawing/2014/main" id="{1396C237-CE79-2CD6-FC3A-C050A56E6C7C}"/>
              </a:ext>
            </a:extLst>
          </p:cNvPr>
          <p:cNvSpPr/>
          <p:nvPr/>
        </p:nvSpPr>
        <p:spPr>
          <a:xfrm>
            <a:off x="6825208"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2" name="正方形/長方形 21">
            <a:extLst>
              <a:ext uri="{FF2B5EF4-FFF2-40B4-BE49-F238E27FC236}">
                <a16:creationId xmlns:a16="http://schemas.microsoft.com/office/drawing/2014/main" id="{4F441C91-30FF-B254-D31A-0BF09A82F0CC}"/>
              </a:ext>
            </a:extLst>
          </p:cNvPr>
          <p:cNvSpPr/>
          <p:nvPr/>
        </p:nvSpPr>
        <p:spPr>
          <a:xfrm>
            <a:off x="405862" y="19388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3" name="正方形/長方形 22">
            <a:extLst>
              <a:ext uri="{FF2B5EF4-FFF2-40B4-BE49-F238E27FC236}">
                <a16:creationId xmlns:a16="http://schemas.microsoft.com/office/drawing/2014/main" id="{0444B2FB-B600-A32F-FC5C-CA7414D41D09}"/>
              </a:ext>
            </a:extLst>
          </p:cNvPr>
          <p:cNvSpPr/>
          <p:nvPr/>
        </p:nvSpPr>
        <p:spPr>
          <a:xfrm>
            <a:off x="3627794"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5" name="テキスト ボックス 24">
            <a:extLst>
              <a:ext uri="{FF2B5EF4-FFF2-40B4-BE49-F238E27FC236}">
                <a16:creationId xmlns:a16="http://schemas.microsoft.com/office/drawing/2014/main" id="{0EB1A30C-0F7E-2CA8-AFC7-86F4D2F0F62E}"/>
              </a:ext>
            </a:extLst>
          </p:cNvPr>
          <p:cNvSpPr txBox="1"/>
          <p:nvPr/>
        </p:nvSpPr>
        <p:spPr>
          <a:xfrm>
            <a:off x="3457175" y="5206261"/>
            <a:ext cx="2980713" cy="369332"/>
          </a:xfrm>
          <a:prstGeom prst="rect">
            <a:avLst/>
          </a:prstGeom>
          <a:noFill/>
        </p:spPr>
        <p:txBody>
          <a:bodyPr wrap="square">
            <a:spAutoFit/>
          </a:bodyPr>
          <a:lstStyle/>
          <a:p>
            <a:pPr algn="ctr"/>
            <a:r>
              <a:rPr lang="ja-JP" altLang="en-US" sz="1600" dirty="0">
                <a:latin typeface="メイリオ"/>
                <a:ea typeface="メイリオ"/>
                <a:cs typeface="メイリオ"/>
                <a:sym typeface="Meiryo"/>
              </a:rPr>
              <a:t>コンサル発注</a:t>
            </a:r>
            <a:r>
              <a:rPr lang="ja-JP" altLang="en-US" sz="1200" dirty="0">
                <a:latin typeface="メイリオ"/>
                <a:ea typeface="メイリオ"/>
                <a:cs typeface="メイリオ"/>
                <a:sym typeface="Meiryo"/>
              </a:rPr>
              <a:t>であれば </a:t>
            </a:r>
            <a:r>
              <a:rPr lang="ja-JP" altLang="en-US" b="1" dirty="0">
                <a:solidFill>
                  <a:srgbClr val="1F2A5C"/>
                </a:solidFill>
                <a:latin typeface="メイリオ"/>
                <a:ea typeface="メイリオ"/>
                <a:cs typeface="メイリオ"/>
                <a:sym typeface="Meiryo"/>
              </a:rPr>
              <a:t>無償</a:t>
            </a:r>
            <a:endParaRPr lang="ja-JP" altLang="en-US" dirty="0">
              <a:solidFill>
                <a:srgbClr val="1F2A5C"/>
              </a:solidFill>
              <a:latin typeface="メイリオ"/>
              <a:ea typeface="メイリオ"/>
              <a:cs typeface="メイリオ"/>
            </a:endParaRPr>
          </a:p>
        </p:txBody>
      </p:sp>
      <p:sp>
        <p:nvSpPr>
          <p:cNvPr id="27" name="テキスト ボックス 26">
            <a:extLst>
              <a:ext uri="{FF2B5EF4-FFF2-40B4-BE49-F238E27FC236}">
                <a16:creationId xmlns:a16="http://schemas.microsoft.com/office/drawing/2014/main" id="{E132920A-5E9A-4275-387D-200CCBF9F676}"/>
              </a:ext>
            </a:extLst>
          </p:cNvPr>
          <p:cNvSpPr txBox="1"/>
          <p:nvPr/>
        </p:nvSpPr>
        <p:spPr>
          <a:xfrm>
            <a:off x="251033" y="5206261"/>
            <a:ext cx="2980713" cy="369332"/>
          </a:xfrm>
          <a:prstGeom prst="rect">
            <a:avLst/>
          </a:prstGeom>
          <a:noFill/>
        </p:spPr>
        <p:txBody>
          <a:bodyPr wrap="square">
            <a:spAutoFit/>
          </a:bodyPr>
          <a:lstStyle/>
          <a:p>
            <a:pPr algn="ctr"/>
            <a:r>
              <a:rPr lang="ja-JP" altLang="en-US" b="1" dirty="0">
                <a:solidFill>
                  <a:schemeClr val="tx1">
                    <a:lumMod val="50000"/>
                    <a:lumOff val="50000"/>
                  </a:schemeClr>
                </a:solidFill>
                <a:latin typeface="メイリオ"/>
                <a:ea typeface="メイリオ"/>
                <a:cs typeface="メイリオ"/>
                <a:sym typeface="Meiryo"/>
              </a:rPr>
              <a:t>サービス停止中</a:t>
            </a:r>
            <a:endParaRPr lang="ja-JP" altLang="en-US" b="1" dirty="0">
              <a:solidFill>
                <a:schemeClr val="tx1">
                  <a:lumMod val="50000"/>
                  <a:lumOff val="50000"/>
                </a:schemeClr>
              </a:solidFill>
              <a:latin typeface="メイリオ"/>
              <a:ea typeface="メイリオ"/>
              <a:cs typeface="メイリオ"/>
            </a:endParaRPr>
          </a:p>
        </p:txBody>
      </p:sp>
      <p:sp>
        <p:nvSpPr>
          <p:cNvPr id="28" name="テキスト ボックス 27">
            <a:extLst>
              <a:ext uri="{FF2B5EF4-FFF2-40B4-BE49-F238E27FC236}">
                <a16:creationId xmlns:a16="http://schemas.microsoft.com/office/drawing/2014/main" id="{F730E614-90C4-E99C-1611-CBB84BD8881C}"/>
              </a:ext>
            </a:extLst>
          </p:cNvPr>
          <p:cNvSpPr txBox="1"/>
          <p:nvPr/>
        </p:nvSpPr>
        <p:spPr>
          <a:xfrm>
            <a:off x="6680454" y="2978410"/>
            <a:ext cx="2980713" cy="400110"/>
          </a:xfrm>
          <a:prstGeom prst="rect">
            <a:avLst/>
          </a:prstGeom>
          <a:noFill/>
        </p:spPr>
        <p:txBody>
          <a:bodyPr wrap="square">
            <a:spAutoFit/>
          </a:bodyPr>
          <a:lstStyle/>
          <a:p>
            <a:pPr algn="ctr"/>
            <a:r>
              <a:rPr lang="en-US" altLang="ja-JP" sz="2000" b="1" dirty="0">
                <a:solidFill>
                  <a:srgbClr val="1F2A5C"/>
                </a:solidFill>
                <a:latin typeface="メイリオ"/>
                <a:ea typeface="メイリオ"/>
                <a:cs typeface="メイリオ"/>
                <a:sym typeface="Meiryo"/>
              </a:rPr>
              <a:t>200</a:t>
            </a:r>
            <a:r>
              <a:rPr lang="ja-JP" altLang="en-US" sz="2000" b="1" dirty="0">
                <a:solidFill>
                  <a:srgbClr val="1F2A5C"/>
                </a:solidFill>
                <a:latin typeface="メイリオ"/>
                <a:ea typeface="メイリオ"/>
                <a:cs typeface="メイリオ"/>
                <a:sym typeface="Meiryo"/>
              </a:rPr>
              <a:t>万円</a:t>
            </a:r>
            <a:r>
              <a:rPr lang="en-US" altLang="ja-JP" sz="2000" b="1" dirty="0">
                <a:solidFill>
                  <a:srgbClr val="1F2A5C"/>
                </a:solidFill>
                <a:latin typeface="メイリオ"/>
                <a:ea typeface="メイリオ"/>
                <a:cs typeface="メイリオ"/>
                <a:sym typeface="Meiryo"/>
              </a:rPr>
              <a:t>~</a:t>
            </a:r>
            <a:r>
              <a:rPr lang="ja-JP" altLang="en-US" sz="1200" dirty="0">
                <a:latin typeface="メイリオ"/>
                <a:ea typeface="メイリオ"/>
                <a:cs typeface="メイリオ"/>
                <a:sym typeface="Meiryo"/>
              </a:rPr>
              <a:t>（期間合計）</a:t>
            </a:r>
            <a:endParaRPr lang="ja-JP" altLang="en-US" sz="2000" dirty="0">
              <a:solidFill>
                <a:srgbClr val="1F2A5C"/>
              </a:solidFill>
              <a:latin typeface="メイリオ"/>
              <a:ea typeface="メイリオ"/>
              <a:cs typeface="メイリオ"/>
            </a:endParaRPr>
          </a:p>
        </p:txBody>
      </p:sp>
      <p:sp>
        <p:nvSpPr>
          <p:cNvPr id="29" name="テキスト ボックス 28">
            <a:extLst>
              <a:ext uri="{FF2B5EF4-FFF2-40B4-BE49-F238E27FC236}">
                <a16:creationId xmlns:a16="http://schemas.microsoft.com/office/drawing/2014/main" id="{BD4CB354-FCE0-FE83-2308-4BB89D24B9EE}"/>
              </a:ext>
            </a:extLst>
          </p:cNvPr>
          <p:cNvSpPr txBox="1"/>
          <p:nvPr/>
        </p:nvSpPr>
        <p:spPr>
          <a:xfrm>
            <a:off x="3474593" y="2972664"/>
            <a:ext cx="2980713" cy="400110"/>
          </a:xfrm>
          <a:prstGeom prst="rect">
            <a:avLst/>
          </a:prstGeom>
          <a:noFill/>
        </p:spPr>
        <p:txBody>
          <a:bodyPr wrap="square">
            <a:spAutoFit/>
          </a:bodyPr>
          <a:lstStyle/>
          <a:p>
            <a:pPr algn="ctr"/>
            <a:r>
              <a:rPr lang="en-US" altLang="ja-JP" sz="2000" b="1" dirty="0">
                <a:solidFill>
                  <a:srgbClr val="1F2A5C"/>
                </a:solidFill>
                <a:latin typeface="メイリオ"/>
                <a:ea typeface="メイリオ"/>
                <a:cs typeface="メイリオ"/>
                <a:sym typeface="Meiryo"/>
              </a:rPr>
              <a:t>200</a:t>
            </a:r>
            <a:r>
              <a:rPr lang="ja-JP" altLang="en-US" sz="2000" b="1" dirty="0">
                <a:solidFill>
                  <a:srgbClr val="1F2A5C"/>
                </a:solidFill>
                <a:latin typeface="メイリオ"/>
                <a:ea typeface="メイリオ"/>
                <a:cs typeface="メイリオ"/>
                <a:sym typeface="Meiryo"/>
              </a:rPr>
              <a:t>万円</a:t>
            </a:r>
            <a:r>
              <a:rPr lang="en-US" altLang="ja-JP" sz="2000" b="1" dirty="0">
                <a:solidFill>
                  <a:srgbClr val="1F2A5C"/>
                </a:solidFill>
                <a:latin typeface="メイリオ"/>
                <a:ea typeface="メイリオ"/>
                <a:cs typeface="メイリオ"/>
                <a:sym typeface="Meiryo"/>
              </a:rPr>
              <a:t>~</a:t>
            </a:r>
            <a:r>
              <a:rPr lang="ja-JP" altLang="en-US" sz="1200" dirty="0">
                <a:latin typeface="メイリオ"/>
                <a:ea typeface="メイリオ"/>
                <a:cs typeface="メイリオ"/>
                <a:sym typeface="Meiryo"/>
              </a:rPr>
              <a:t>（期間合計）</a:t>
            </a:r>
            <a:endParaRPr lang="ja-JP" altLang="en-US" sz="2000" dirty="0">
              <a:solidFill>
                <a:srgbClr val="1F2A5C"/>
              </a:solidFill>
              <a:latin typeface="メイリオ"/>
              <a:ea typeface="メイリオ"/>
              <a:cs typeface="メイリオ"/>
            </a:endParaRPr>
          </a:p>
        </p:txBody>
      </p:sp>
      <p:sp>
        <p:nvSpPr>
          <p:cNvPr id="30" name="テキスト ボックス 29">
            <a:extLst>
              <a:ext uri="{FF2B5EF4-FFF2-40B4-BE49-F238E27FC236}">
                <a16:creationId xmlns:a16="http://schemas.microsoft.com/office/drawing/2014/main" id="{409CCF04-7F2B-649D-F219-27BCA34C2D62}"/>
              </a:ext>
            </a:extLst>
          </p:cNvPr>
          <p:cNvSpPr txBox="1"/>
          <p:nvPr/>
        </p:nvSpPr>
        <p:spPr>
          <a:xfrm>
            <a:off x="268451" y="2972664"/>
            <a:ext cx="2980713" cy="400110"/>
          </a:xfrm>
          <a:prstGeom prst="rect">
            <a:avLst/>
          </a:prstGeom>
          <a:noFill/>
        </p:spPr>
        <p:txBody>
          <a:bodyPr wrap="square">
            <a:spAutoFit/>
          </a:bodyPr>
          <a:lstStyle/>
          <a:p>
            <a:pPr algn="ctr"/>
            <a:r>
              <a:rPr lang="en-US" altLang="ja-JP" sz="2000" b="1" dirty="0">
                <a:solidFill>
                  <a:srgbClr val="1F2A5C"/>
                </a:solidFill>
                <a:latin typeface="メイリオ"/>
                <a:ea typeface="メイリオ"/>
                <a:cs typeface="メイリオ"/>
                <a:sym typeface="Meiryo"/>
              </a:rPr>
              <a:t>20</a:t>
            </a:r>
            <a:r>
              <a:rPr lang="ja-JP" altLang="en-US" sz="2000" b="1" dirty="0">
                <a:solidFill>
                  <a:srgbClr val="1F2A5C"/>
                </a:solidFill>
                <a:latin typeface="メイリオ"/>
                <a:ea typeface="メイリオ"/>
                <a:cs typeface="メイリオ"/>
                <a:sym typeface="Meiryo"/>
              </a:rPr>
              <a:t>万円</a:t>
            </a:r>
            <a:r>
              <a:rPr lang="en-US" altLang="ja-JP" sz="2000" b="1" dirty="0">
                <a:solidFill>
                  <a:srgbClr val="1F2A5C"/>
                </a:solidFill>
                <a:latin typeface="メイリオ"/>
                <a:ea typeface="メイリオ"/>
                <a:cs typeface="メイリオ"/>
                <a:sym typeface="Meiryo"/>
              </a:rPr>
              <a:t>~</a:t>
            </a:r>
            <a:r>
              <a:rPr lang="ja-JP" altLang="en-US" sz="1200" dirty="0">
                <a:latin typeface="メイリオ"/>
                <a:ea typeface="メイリオ"/>
                <a:cs typeface="メイリオ"/>
                <a:sym typeface="Meiryo"/>
              </a:rPr>
              <a:t>（</a:t>
            </a:r>
            <a:r>
              <a:rPr lang="en-US" altLang="ja-JP" sz="1200" dirty="0">
                <a:latin typeface="メイリオ"/>
                <a:ea typeface="メイリオ"/>
                <a:cs typeface="メイリオ"/>
                <a:sym typeface="Meiryo"/>
              </a:rPr>
              <a:t>1</a:t>
            </a:r>
            <a:r>
              <a:rPr lang="ja-JP" altLang="en-US" sz="1200" dirty="0">
                <a:latin typeface="メイリオ"/>
                <a:ea typeface="メイリオ"/>
                <a:cs typeface="メイリオ"/>
                <a:sym typeface="Meiryo"/>
              </a:rPr>
              <a:t>ヶ月</a:t>
            </a:r>
            <a:r>
              <a:rPr lang="en-US" altLang="ja-JP" sz="1200" dirty="0">
                <a:latin typeface="メイリオ"/>
                <a:ea typeface="メイリオ"/>
                <a:cs typeface="メイリオ"/>
                <a:sym typeface="Meiryo"/>
              </a:rPr>
              <a:t>~</a:t>
            </a:r>
            <a:r>
              <a:rPr lang="ja-JP" altLang="en-US" sz="1200" dirty="0">
                <a:latin typeface="メイリオ"/>
                <a:ea typeface="メイリオ"/>
                <a:cs typeface="メイリオ"/>
                <a:sym typeface="Meiryo"/>
              </a:rPr>
              <a:t>）</a:t>
            </a:r>
            <a:endParaRPr lang="ja-JP" altLang="en-US" sz="2000" dirty="0">
              <a:solidFill>
                <a:srgbClr val="1F2A5C"/>
              </a:solidFill>
              <a:latin typeface="メイリオ"/>
              <a:ea typeface="メイリオ"/>
              <a:cs typeface="メイリオ"/>
            </a:endParaRPr>
          </a:p>
        </p:txBody>
      </p:sp>
      <p:sp>
        <p:nvSpPr>
          <p:cNvPr id="31" name="正方形/長方形 30">
            <a:extLst>
              <a:ext uri="{FF2B5EF4-FFF2-40B4-BE49-F238E27FC236}">
                <a16:creationId xmlns:a16="http://schemas.microsoft.com/office/drawing/2014/main" id="{48479E1B-BB51-2C74-9251-6EC7A8EFC419}"/>
              </a:ext>
            </a:extLst>
          </p:cNvPr>
          <p:cNvSpPr/>
          <p:nvPr/>
        </p:nvSpPr>
        <p:spPr>
          <a:xfrm>
            <a:off x="663410" y="899253"/>
            <a:ext cx="8628148"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lgn="ctr">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各拡張施策についても</a:t>
            </a:r>
            <a:r>
              <a:rPr lang="en-US" altLang="ja-JP" sz="1600" b="1" dirty="0">
                <a:solidFill>
                  <a:schemeClr val="tx1">
                    <a:lumMod val="65000"/>
                    <a:lumOff val="35000"/>
                  </a:schemeClr>
                </a:solidFill>
                <a:latin typeface="メイリオ"/>
                <a:ea typeface="メイリオ"/>
                <a:cs typeface="メイリオ"/>
                <a:sym typeface="Meiryo"/>
              </a:rPr>
              <a:t>MIN</a:t>
            </a:r>
            <a:r>
              <a:rPr lang="ja-JP" altLang="en-US" sz="1600" b="1" dirty="0">
                <a:solidFill>
                  <a:schemeClr val="tx1">
                    <a:lumMod val="65000"/>
                    <a:lumOff val="35000"/>
                  </a:schemeClr>
                </a:solidFill>
                <a:latin typeface="メイリオ"/>
                <a:ea typeface="メイリオ"/>
                <a:cs typeface="メイリオ"/>
                <a:sym typeface="Meiryo"/>
              </a:rPr>
              <a:t>金額からの発注、動線設計が可能です。</a:t>
            </a:r>
            <a:endParaRPr lang="en-US" altLang="ja-JP" sz="1600" b="1" dirty="0">
              <a:solidFill>
                <a:schemeClr val="tx1">
                  <a:lumMod val="65000"/>
                  <a:lumOff val="35000"/>
                </a:schemeClr>
              </a:solidFill>
              <a:latin typeface="メイリオ"/>
              <a:ea typeface="メイリオ"/>
              <a:cs typeface="メイリオ"/>
              <a:sym typeface="Meiryo"/>
            </a:endParaRPr>
          </a:p>
          <a:p>
            <a:pPr lvl="0" algn="ctr">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友だち追加後の動線設計（特に友だち追加後すぐ）の検証後の拡大施策として用意。</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300670347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0CEAE-3814-32E7-D45E-2C4EC8610FF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CD37268-DB4A-D96C-3487-68A9F730193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a:t>
            </a:r>
          </a:p>
        </p:txBody>
      </p:sp>
      <p:pic>
        <p:nvPicPr>
          <p:cNvPr id="52" name="図 51">
            <a:extLst>
              <a:ext uri="{FF2B5EF4-FFF2-40B4-BE49-F238E27FC236}">
                <a16:creationId xmlns:a16="http://schemas.microsoft.com/office/drawing/2014/main" id="{190D62DD-D102-4473-AB6A-16C880141BF8}"/>
              </a:ext>
            </a:extLst>
          </p:cNvPr>
          <p:cNvPicPr>
            <a:picLocks noChangeAspect="1"/>
          </p:cNvPicPr>
          <p:nvPr/>
        </p:nvPicPr>
        <p:blipFill>
          <a:blip r:embed="rId2"/>
          <a:stretch>
            <a:fillRect/>
          </a:stretch>
        </p:blipFill>
        <p:spPr>
          <a:xfrm>
            <a:off x="554449" y="1858069"/>
            <a:ext cx="4461381" cy="1873780"/>
          </a:xfrm>
          <a:prstGeom prst="rect">
            <a:avLst/>
          </a:prstGeom>
        </p:spPr>
      </p:pic>
      <p:sp>
        <p:nvSpPr>
          <p:cNvPr id="53" name="正方形/長方形 52">
            <a:extLst>
              <a:ext uri="{FF2B5EF4-FFF2-40B4-BE49-F238E27FC236}">
                <a16:creationId xmlns:a16="http://schemas.microsoft.com/office/drawing/2014/main" id="{1E454A9D-8A4D-3389-458B-9DC647A79863}"/>
              </a:ext>
            </a:extLst>
          </p:cNvPr>
          <p:cNvSpPr/>
          <p:nvPr/>
        </p:nvSpPr>
        <p:spPr>
          <a:xfrm>
            <a:off x="419696" y="732614"/>
            <a:ext cx="2365444" cy="67326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r>
              <a:rPr lang="en-US" altLang="ja-JP" sz="1600" b="1" dirty="0">
                <a:latin typeface="メイリオ" panose="020B0604030504040204" pitchFamily="50" charset="-128"/>
                <a:ea typeface="メイリオ" panose="020B0604030504040204" pitchFamily="50" charset="-128"/>
                <a:cs typeface="メイリオ"/>
              </a:rPr>
              <a:t>LINE</a:t>
            </a:r>
            <a:r>
              <a:rPr lang="ja-JP" altLang="en-US" sz="1600" b="1" dirty="0">
                <a:latin typeface="メイリオ" panose="020B0604030504040204" pitchFamily="50" charset="-128"/>
                <a:ea typeface="メイリオ" panose="020B0604030504040204" pitchFamily="50" charset="-128"/>
                <a:cs typeface="メイリオ"/>
              </a:rPr>
              <a:t>広告</a:t>
            </a:r>
            <a:r>
              <a:rPr lang="ja-JP" altLang="en-US" sz="1200" b="1" dirty="0">
                <a:latin typeface="メイリオ" panose="020B0604030504040204" pitchFamily="50" charset="-128"/>
                <a:ea typeface="メイリオ" panose="020B0604030504040204" pitchFamily="50" charset="-128"/>
                <a:cs typeface="メイリオ"/>
              </a:rPr>
              <a:t>（友だち追加）</a:t>
            </a:r>
            <a:endParaRPr lang="en-US" altLang="ja-JP" sz="1200" b="1" dirty="0">
              <a:latin typeface="メイリオ" panose="020B0604030504040204" pitchFamily="50" charset="-128"/>
              <a:ea typeface="メイリオ" panose="020B0604030504040204" pitchFamily="50" charset="-128"/>
              <a:cs typeface="メイリオ"/>
            </a:endParaRPr>
          </a:p>
          <a:p>
            <a:pPr algn="ctr"/>
            <a:r>
              <a:rPr lang="en-US" altLang="ja-JP" sz="1200" b="1" dirty="0">
                <a:solidFill>
                  <a:srgbClr val="FFFFFF"/>
                </a:solidFill>
                <a:latin typeface="メイリオ" panose="020B0604030504040204" pitchFamily="50" charset="-128"/>
                <a:ea typeface="メイリオ" panose="020B0604030504040204" pitchFamily="50" charset="-128"/>
                <a:cs typeface="メイリオ"/>
              </a:rPr>
              <a:t>※CPF</a:t>
            </a:r>
            <a:r>
              <a:rPr lang="ja-JP" altLang="en-US" sz="1200" b="1" dirty="0">
                <a:solidFill>
                  <a:srgbClr val="FFFFFF"/>
                </a:solidFill>
                <a:latin typeface="メイリオ" panose="020B0604030504040204" pitchFamily="50" charset="-128"/>
                <a:ea typeface="メイリオ" panose="020B0604030504040204" pitchFamily="50" charset="-128"/>
                <a:cs typeface="メイリオ"/>
              </a:rPr>
              <a:t>広告</a:t>
            </a:r>
            <a:r>
              <a:rPr lang="en-US" altLang="ja-JP" sz="1200" b="1" dirty="0">
                <a:solidFill>
                  <a:srgbClr val="FFFFFF"/>
                </a:solidFill>
                <a:latin typeface="メイリオ" panose="020B0604030504040204" pitchFamily="50" charset="-128"/>
                <a:ea typeface="メイリオ" panose="020B0604030504040204" pitchFamily="50" charset="-128"/>
                <a:cs typeface="メイリオ"/>
              </a:rPr>
              <a:t>※</a:t>
            </a:r>
          </a:p>
        </p:txBody>
      </p:sp>
      <p:sp>
        <p:nvSpPr>
          <p:cNvPr id="54" name="正方形/長方形 53">
            <a:extLst>
              <a:ext uri="{FF2B5EF4-FFF2-40B4-BE49-F238E27FC236}">
                <a16:creationId xmlns:a16="http://schemas.microsoft.com/office/drawing/2014/main" id="{CBF7AEFA-2BE6-4972-0C9D-4ED6780F0997}"/>
              </a:ext>
            </a:extLst>
          </p:cNvPr>
          <p:cNvSpPr/>
          <p:nvPr/>
        </p:nvSpPr>
        <p:spPr>
          <a:xfrm>
            <a:off x="2938369" y="776858"/>
            <a:ext cx="6482455"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公式アカウントの友だちを増やすための広告を、</a:t>
            </a:r>
            <a:br>
              <a:rPr lang="en-US" altLang="ja-JP" sz="1600" b="1" dirty="0">
                <a:solidFill>
                  <a:schemeClr val="tx1">
                    <a:lumMod val="65000"/>
                    <a:lumOff val="35000"/>
                  </a:schemeClr>
                </a:solidFill>
                <a:latin typeface="メイリオ"/>
                <a:ea typeface="メイリオ"/>
                <a:cs typeface="メイリオ"/>
                <a:sym typeface="Meiryo"/>
              </a:rPr>
            </a:b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広告の管理画面より</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アプリ内で掲載できる機能。</a:t>
            </a:r>
            <a:endParaRPr lang="en-US" altLang="ja-JP" sz="1600" b="1" dirty="0">
              <a:solidFill>
                <a:schemeClr val="tx1">
                  <a:lumMod val="65000"/>
                  <a:lumOff val="35000"/>
                </a:schemeClr>
              </a:solidFill>
              <a:latin typeface="メイリオ"/>
              <a:ea typeface="メイリオ"/>
              <a:cs typeface="メイリオ"/>
              <a:sym typeface="Meiryo"/>
            </a:endParaRPr>
          </a:p>
        </p:txBody>
      </p:sp>
      <p:grpSp>
        <p:nvGrpSpPr>
          <p:cNvPr id="55" name="グループ化 54">
            <a:extLst>
              <a:ext uri="{FF2B5EF4-FFF2-40B4-BE49-F238E27FC236}">
                <a16:creationId xmlns:a16="http://schemas.microsoft.com/office/drawing/2014/main" id="{AA1E2469-A533-1A69-9E3E-DCA5ECAE64F8}"/>
              </a:ext>
            </a:extLst>
          </p:cNvPr>
          <p:cNvGrpSpPr/>
          <p:nvPr/>
        </p:nvGrpSpPr>
        <p:grpSpPr>
          <a:xfrm>
            <a:off x="516143" y="1563631"/>
            <a:ext cx="2696339" cy="312276"/>
            <a:chOff x="548883" y="1619331"/>
            <a:chExt cx="2696339" cy="312276"/>
          </a:xfrm>
        </p:grpSpPr>
        <p:sp>
          <p:nvSpPr>
            <p:cNvPr id="56" name="四角形: 角を丸くする 55">
              <a:extLst>
                <a:ext uri="{FF2B5EF4-FFF2-40B4-BE49-F238E27FC236}">
                  <a16:creationId xmlns:a16="http://schemas.microsoft.com/office/drawing/2014/main" id="{A2BD085E-2BC4-9C8E-5DC8-B72B3DDB8E8D}"/>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endParaRPr kumimoji="1" lang="ja-JP" altLang="en-US">
                <a:latin typeface="メイリオ"/>
                <a:ea typeface="メイリオ"/>
                <a:cs typeface="メイリオ"/>
              </a:endParaRPr>
            </a:p>
          </p:txBody>
        </p:sp>
        <p:sp>
          <p:nvSpPr>
            <p:cNvPr id="57" name="正方形/長方形 56">
              <a:extLst>
                <a:ext uri="{FF2B5EF4-FFF2-40B4-BE49-F238E27FC236}">
                  <a16:creationId xmlns:a16="http://schemas.microsoft.com/office/drawing/2014/main" id="{560B246B-790F-6D05-28ED-13ABB1AF3BEC}"/>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lgn="ctr">
                <a:buClr>
                  <a:srgbClr val="002060"/>
                </a:buClr>
                <a:buSzPts val="1600"/>
              </a:pPr>
              <a:r>
                <a:rPr lang="en-US" altLang="ja-JP" sz="1200" b="1" dirty="0">
                  <a:solidFill>
                    <a:srgbClr val="0070C0"/>
                  </a:solidFill>
                  <a:latin typeface="メイリオ"/>
                  <a:ea typeface="メイリオ"/>
                  <a:cs typeface="メイリオ"/>
                  <a:sym typeface="Meiryo"/>
                </a:rPr>
                <a:t>LINE</a:t>
              </a:r>
              <a:r>
                <a:rPr lang="ja-JP" altLang="en-US" sz="1200" b="1" dirty="0">
                  <a:solidFill>
                    <a:srgbClr val="0070C0"/>
                  </a:solidFill>
                  <a:latin typeface="メイリオ"/>
                  <a:ea typeface="メイリオ"/>
                  <a:cs typeface="メイリオ"/>
                  <a:sym typeface="Meiryo"/>
                </a:rPr>
                <a:t>公式アカウントまでの導線</a:t>
              </a:r>
              <a:endParaRPr lang="en-US" altLang="ja-JP" sz="1200" b="1" dirty="0">
                <a:solidFill>
                  <a:srgbClr val="0070C0"/>
                </a:solidFill>
                <a:latin typeface="メイリオ"/>
                <a:ea typeface="メイリオ"/>
                <a:cs typeface="メイリオ"/>
                <a:sym typeface="Meiryo"/>
              </a:endParaRPr>
            </a:p>
          </p:txBody>
        </p:sp>
      </p:grpSp>
      <p:grpSp>
        <p:nvGrpSpPr>
          <p:cNvPr id="58" name="グループ化 57">
            <a:extLst>
              <a:ext uri="{FF2B5EF4-FFF2-40B4-BE49-F238E27FC236}">
                <a16:creationId xmlns:a16="http://schemas.microsoft.com/office/drawing/2014/main" id="{27EC4882-F1F7-3407-18D9-449D2F776799}"/>
              </a:ext>
            </a:extLst>
          </p:cNvPr>
          <p:cNvGrpSpPr/>
          <p:nvPr/>
        </p:nvGrpSpPr>
        <p:grpSpPr>
          <a:xfrm>
            <a:off x="516142" y="3819645"/>
            <a:ext cx="2696339" cy="312276"/>
            <a:chOff x="548883" y="1619331"/>
            <a:chExt cx="2696339" cy="312276"/>
          </a:xfrm>
        </p:grpSpPr>
        <p:sp>
          <p:nvSpPr>
            <p:cNvPr id="59" name="四角形: 角を丸くする 58">
              <a:extLst>
                <a:ext uri="{FF2B5EF4-FFF2-40B4-BE49-F238E27FC236}">
                  <a16:creationId xmlns:a16="http://schemas.microsoft.com/office/drawing/2014/main" id="{6B1769D7-5324-51AE-1D2D-802E7FFC46C9}"/>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endParaRPr kumimoji="1" lang="ja-JP" altLang="en-US">
                <a:latin typeface="メイリオ"/>
                <a:ea typeface="メイリオ"/>
                <a:cs typeface="メイリオ"/>
              </a:endParaRPr>
            </a:p>
          </p:txBody>
        </p:sp>
        <p:sp>
          <p:nvSpPr>
            <p:cNvPr id="60" name="正方形/長方形 59">
              <a:extLst>
                <a:ext uri="{FF2B5EF4-FFF2-40B4-BE49-F238E27FC236}">
                  <a16:creationId xmlns:a16="http://schemas.microsoft.com/office/drawing/2014/main" id="{A0FD1FD7-9083-04AC-7FC2-C1EDD68A2FCA}"/>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lgn="ctr">
                <a:buClr>
                  <a:srgbClr val="002060"/>
                </a:buClr>
                <a:buSzPts val="1600"/>
              </a:pPr>
              <a:r>
                <a:rPr lang="ja-JP" altLang="en-US" sz="1200" b="1" dirty="0">
                  <a:solidFill>
                    <a:srgbClr val="0070C0"/>
                  </a:solidFill>
                  <a:latin typeface="メイリオ"/>
                  <a:ea typeface="メイリオ"/>
                  <a:cs typeface="メイリオ"/>
                  <a:sym typeface="Meiryo"/>
                </a:rPr>
                <a:t>「友だち追加広告」との違い</a:t>
              </a:r>
              <a:endParaRPr lang="en-US" altLang="ja-JP" sz="1200" b="1" dirty="0">
                <a:solidFill>
                  <a:srgbClr val="0070C0"/>
                </a:solidFill>
                <a:latin typeface="メイリオ"/>
                <a:ea typeface="メイリオ"/>
                <a:cs typeface="メイリオ"/>
                <a:sym typeface="Meiryo"/>
              </a:endParaRPr>
            </a:p>
          </p:txBody>
        </p:sp>
      </p:grpSp>
      <p:pic>
        <p:nvPicPr>
          <p:cNvPr id="61" name="table">
            <a:extLst>
              <a:ext uri="{FF2B5EF4-FFF2-40B4-BE49-F238E27FC236}">
                <a16:creationId xmlns:a16="http://schemas.microsoft.com/office/drawing/2014/main" id="{9AC26B4B-6733-A76D-2762-4EE39F3BE270}"/>
              </a:ext>
            </a:extLst>
          </p:cNvPr>
          <p:cNvPicPr>
            <a:picLocks noChangeAspect="1"/>
          </p:cNvPicPr>
          <p:nvPr/>
        </p:nvPicPr>
        <p:blipFill>
          <a:blip r:embed="rId3"/>
          <a:stretch>
            <a:fillRect/>
          </a:stretch>
        </p:blipFill>
        <p:spPr>
          <a:xfrm>
            <a:off x="787611" y="4201880"/>
            <a:ext cx="8672139" cy="2202180"/>
          </a:xfrm>
          <a:prstGeom prst="rect">
            <a:avLst/>
          </a:prstGeom>
        </p:spPr>
      </p:pic>
      <p:sp>
        <p:nvSpPr>
          <p:cNvPr id="62" name="矢印: 右 61">
            <a:extLst>
              <a:ext uri="{FF2B5EF4-FFF2-40B4-BE49-F238E27FC236}">
                <a16:creationId xmlns:a16="http://schemas.microsoft.com/office/drawing/2014/main" id="{FAA46C63-E291-C5BA-59B1-5AA6EB934DE7}"/>
              </a:ext>
            </a:extLst>
          </p:cNvPr>
          <p:cNvSpPr/>
          <p:nvPr/>
        </p:nvSpPr>
        <p:spPr>
          <a:xfrm>
            <a:off x="5232623" y="2618810"/>
            <a:ext cx="430306" cy="352298"/>
          </a:xfrm>
          <a:prstGeom prst="rightArrow">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endParaRPr kumimoji="1" lang="ja-JP" altLang="en-US">
              <a:latin typeface="メイリオ"/>
              <a:ea typeface="メイリオ"/>
              <a:cs typeface="メイリオ"/>
            </a:endParaRPr>
          </a:p>
        </p:txBody>
      </p:sp>
      <p:pic>
        <p:nvPicPr>
          <p:cNvPr id="63" name="図 62">
            <a:extLst>
              <a:ext uri="{FF2B5EF4-FFF2-40B4-BE49-F238E27FC236}">
                <a16:creationId xmlns:a16="http://schemas.microsoft.com/office/drawing/2014/main" id="{15AB3743-9D18-6CD5-EBAE-3179EFAD1455}"/>
              </a:ext>
            </a:extLst>
          </p:cNvPr>
          <p:cNvPicPr>
            <a:picLocks noChangeAspect="1"/>
          </p:cNvPicPr>
          <p:nvPr/>
        </p:nvPicPr>
        <p:blipFill>
          <a:blip r:embed="rId4"/>
          <a:srcRect l="35517" r="35515"/>
          <a:stretch>
            <a:fillRect/>
          </a:stretch>
        </p:blipFill>
        <p:spPr>
          <a:xfrm>
            <a:off x="6038472" y="1875907"/>
            <a:ext cx="917480" cy="1779333"/>
          </a:xfrm>
          <a:prstGeom prst="rect">
            <a:avLst/>
          </a:prstGeom>
        </p:spPr>
      </p:pic>
      <p:sp>
        <p:nvSpPr>
          <p:cNvPr id="64" name="テキスト ボックス 34">
            <a:extLst>
              <a:ext uri="{FF2B5EF4-FFF2-40B4-BE49-F238E27FC236}">
                <a16:creationId xmlns:a16="http://schemas.microsoft.com/office/drawing/2014/main" id="{F684D30B-FB35-7D4D-6BE2-919C8EE56C1F}"/>
              </a:ext>
            </a:extLst>
          </p:cNvPr>
          <p:cNvSpPr txBox="1"/>
          <p:nvPr/>
        </p:nvSpPr>
        <p:spPr>
          <a:xfrm>
            <a:off x="6868291" y="2618810"/>
            <a:ext cx="2705100" cy="52322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gn="ctr"/>
            <a:r>
              <a:rPr kumimoji="1" lang="en-US" altLang="ja-JP" sz="1200" dirty="0">
                <a:latin typeface="メイリオ" panose="020B0604030504040204" pitchFamily="50" charset="-128"/>
                <a:ea typeface="メイリオ" panose="020B0604030504040204" pitchFamily="50" charset="-128"/>
                <a:cs typeface="メイリオ"/>
              </a:rPr>
              <a:t>LINE</a:t>
            </a:r>
            <a:r>
              <a:rPr kumimoji="1" lang="ja-JP" altLang="en-US" sz="1200" dirty="0">
                <a:latin typeface="メイリオ" panose="020B0604030504040204" pitchFamily="50" charset="-128"/>
                <a:ea typeface="メイリオ" panose="020B0604030504040204" pitchFamily="50" charset="-128"/>
                <a:cs typeface="メイリオ"/>
              </a:rPr>
              <a:t>アプリ内から</a:t>
            </a:r>
            <a:br>
              <a:rPr kumimoji="1" lang="en-US" altLang="ja-JP" sz="1200" dirty="0">
                <a:latin typeface="メイリオ" panose="020B0604030504040204" pitchFamily="50" charset="-128"/>
                <a:ea typeface="メイリオ" panose="020B0604030504040204" pitchFamily="50" charset="-128"/>
                <a:cs typeface="メイリオ"/>
              </a:rPr>
            </a:br>
            <a:r>
              <a:rPr kumimoji="1" lang="ja-JP" altLang="en-US" sz="1200" dirty="0">
                <a:latin typeface="メイリオ" panose="020B0604030504040204" pitchFamily="50" charset="-128"/>
                <a:ea typeface="メイリオ" panose="020B0604030504040204" pitchFamily="50" charset="-128"/>
                <a:cs typeface="メイリオ"/>
              </a:rPr>
              <a:t>自社アカウントに</a:t>
            </a:r>
            <a:r>
              <a:rPr kumimoji="1" lang="en-US" altLang="ja-JP" sz="1600" b="1" dirty="0">
                <a:solidFill>
                  <a:srgbClr val="33CC33"/>
                </a:solidFill>
                <a:latin typeface="メイリオ" panose="020B0604030504040204" pitchFamily="50" charset="-128"/>
                <a:ea typeface="メイリオ" panose="020B0604030504040204" pitchFamily="50" charset="-128"/>
                <a:cs typeface="メイリオ"/>
              </a:rPr>
              <a:t>“</a:t>
            </a:r>
            <a:r>
              <a:rPr kumimoji="1" lang="ja-JP" altLang="en-US" sz="1600" b="1" dirty="0">
                <a:solidFill>
                  <a:srgbClr val="33CC33"/>
                </a:solidFill>
                <a:latin typeface="メイリオ" panose="020B0604030504040204" pitchFamily="50" charset="-128"/>
                <a:ea typeface="メイリオ" panose="020B0604030504040204" pitchFamily="50" charset="-128"/>
                <a:cs typeface="メイリオ"/>
              </a:rPr>
              <a:t>直接</a:t>
            </a:r>
            <a:r>
              <a:rPr kumimoji="1" lang="en-US" altLang="ja-JP" sz="1600" b="1" dirty="0">
                <a:solidFill>
                  <a:srgbClr val="33CC33"/>
                </a:solidFill>
                <a:latin typeface="メイリオ" panose="020B0604030504040204" pitchFamily="50" charset="-128"/>
                <a:ea typeface="メイリオ" panose="020B0604030504040204" pitchFamily="50" charset="-128"/>
                <a:cs typeface="メイリオ"/>
              </a:rPr>
              <a:t>”</a:t>
            </a:r>
            <a:r>
              <a:rPr kumimoji="1" lang="ja-JP" altLang="en-US" sz="1200" dirty="0">
                <a:latin typeface="メイリオ" panose="020B0604030504040204" pitchFamily="50" charset="-128"/>
                <a:ea typeface="メイリオ" panose="020B0604030504040204" pitchFamily="50" charset="-128"/>
                <a:cs typeface="メイリオ"/>
              </a:rPr>
              <a:t>誘導</a:t>
            </a:r>
            <a:endParaRPr kumimoji="1" lang="en-US" altLang="ja-JP" sz="1200"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70600817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749320-CC43-CC0E-CB2A-2A81BA8880F1}"/>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DD032B5A-3DAD-BB45-FCD6-9BD41BA62AE2}"/>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事例紹介</a:t>
            </a:r>
          </a:p>
        </p:txBody>
      </p:sp>
    </p:spTree>
    <p:extLst>
      <p:ext uri="{BB962C8B-B14F-4D97-AF65-F5344CB8AC3E}">
        <p14:creationId xmlns:p14="http://schemas.microsoft.com/office/powerpoint/2010/main" val="116622827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2AA527-0EA1-7A75-453D-963C8B528D58}"/>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9B6D9B23-C685-E912-4659-E23BCCC23FC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事例紹介</a:t>
            </a:r>
          </a:p>
        </p:txBody>
      </p:sp>
      <p:sp>
        <p:nvSpPr>
          <p:cNvPr id="3" name="Lead">
            <a:extLst>
              <a:ext uri="{FF2B5EF4-FFF2-40B4-BE49-F238E27FC236}">
                <a16:creationId xmlns:a16="http://schemas.microsoft.com/office/drawing/2014/main" id="{F08FF241-FA02-3DB4-F5A0-2846B825B044}"/>
              </a:ext>
            </a:extLst>
          </p:cNvPr>
          <p:cNvSpPr txBox="1"/>
          <p:nvPr/>
        </p:nvSpPr>
        <p:spPr>
          <a:xfrm>
            <a:off x="342900" y="711200"/>
            <a:ext cx="6667500" cy="285750"/>
          </a:xfrm>
          <a:prstGeom prst="rect">
            <a:avLst/>
          </a:prstGeom>
          <a:noFill/>
        </p:spPr>
        <p:txBody>
          <a:bodyPr wrap="square" lIns="0" tIns="0" rIns="0" bIns="0" anchor="t"/>
          <a:lstStyle/>
          <a:p>
            <a:pPr>
              <a:buNone/>
            </a:pPr>
            <a:r>
              <a:rPr lang="ja-JP" altLang="en-US" sz="1400" dirty="0">
                <a:solidFill>
                  <a:srgbClr val="5A6378"/>
                </a:solidFill>
                <a:latin typeface="メイリオ" panose="020B0604030504040204" pitchFamily="50" charset="-128"/>
                <a:ea typeface="メイリオ" panose="020B0604030504040204" pitchFamily="50" charset="-128"/>
                <a:cs typeface="メイリオ"/>
              </a:rPr>
              <a:t>--</a:t>
            </a:r>
          </a:p>
        </p:txBody>
      </p:sp>
      <p:sp>
        <p:nvSpPr>
          <p:cNvPr id="6" name="Body">
            <a:extLst>
              <a:ext uri="{FF2B5EF4-FFF2-40B4-BE49-F238E27FC236}">
                <a16:creationId xmlns:a16="http://schemas.microsoft.com/office/drawing/2014/main" id="{82F47B3D-36AC-458C-435D-AA635278C458}"/>
              </a:ext>
            </a:extLst>
          </p:cNvPr>
          <p:cNvSpPr txBox="1"/>
          <p:nvPr/>
        </p:nvSpPr>
        <p:spPr>
          <a:xfrm>
            <a:off x="342900" y="1270000"/>
            <a:ext cx="6743700" cy="3810000"/>
          </a:xfrm>
          <a:prstGeom prst="rect">
            <a:avLst/>
          </a:prstGeom>
          <a:noFill/>
        </p:spPr>
        <p:txBody>
          <a:bodyPr wrap="square" lIns="0" tIns="0" rIns="0" bIns="0" anchor="t"/>
          <a:lstStyle/>
          <a:p>
            <a:endParaRPr>
              <a:latin typeface="メイリオ" panose="020B0604030504040204" pitchFamily="50" charset="-128"/>
              <a:ea typeface="メイリオ" panose="020B0604030504040204" pitchFamily="50" charset="-128"/>
              <a:cs typeface="メイリオ"/>
            </a:endParaRPr>
          </a:p>
        </p:txBody>
      </p:sp>
      <p:sp>
        <p:nvSpPr>
          <p:cNvPr id="8" name="TextBox 2001">
            <a:extLst>
              <a:ext uri="{FF2B5EF4-FFF2-40B4-BE49-F238E27FC236}">
                <a16:creationId xmlns:a16="http://schemas.microsoft.com/office/drawing/2014/main" id="{1266011E-8375-ED18-07F7-0E1E547F7E33}"/>
              </a:ext>
            </a:extLst>
          </p:cNvPr>
          <p:cNvSpPr txBox="1"/>
          <p:nvPr/>
        </p:nvSpPr>
        <p:spPr>
          <a:xfrm>
            <a:off x="365760" y="1371600"/>
            <a:ext cx="9052560" cy="320040"/>
          </a:xfrm>
          <a:prstGeom prst="rect">
            <a:avLst/>
          </a:prstGeom>
          <a:noFill/>
        </p:spPr>
        <p:txBody>
          <a:bodyPr wrap="square">
            <a:spAutoFit/>
          </a:bodyPr>
          <a:lstStyle/>
          <a:p>
            <a:pPr algn="l"/>
            <a:r>
              <a:rPr sz="1400" b="1">
                <a:solidFill>
                  <a:srgbClr val="1F2A5C"/>
                </a:solidFill>
                <a:latin typeface="メイリオ" panose="020B0604030504040204" pitchFamily="50" charset="-128"/>
                <a:ea typeface="メイリオ" panose="020B0604030504040204" pitchFamily="50" charset="-128"/>
                <a:cs typeface="メイリオ"/>
              </a:rPr>
              <a:t>--</a:t>
            </a:r>
          </a:p>
        </p:txBody>
      </p:sp>
      <p:sp>
        <p:nvSpPr>
          <p:cNvPr id="10" name="Oval 2002">
            <a:extLst>
              <a:ext uri="{FF2B5EF4-FFF2-40B4-BE49-F238E27FC236}">
                <a16:creationId xmlns:a16="http://schemas.microsoft.com/office/drawing/2014/main" id="{77E596DF-1EAC-1237-A0BF-A8592C3A90C8}"/>
              </a:ext>
            </a:extLst>
          </p:cNvPr>
          <p:cNvSpPr/>
          <p:nvPr/>
        </p:nvSpPr>
        <p:spPr>
          <a:xfrm>
            <a:off x="914400" y="1783080"/>
            <a:ext cx="1466850" cy="1188720"/>
          </a:xfrm>
          <a:prstGeom prst="ellipse">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76200" tIns="101600" rIns="76200" bIns="101600" rtlCol="0" anchor="ctr"/>
          <a:lstStyle/>
          <a:p>
            <a:pPr algn="ctr"/>
            <a:r>
              <a:rPr sz="1600" b="1">
                <a:solidFill>
                  <a:srgbClr val="FFFFFF"/>
                </a:solidFill>
                <a:latin typeface="メイリオ" panose="020B0604030504040204" pitchFamily="50" charset="-128"/>
                <a:ea typeface="メイリオ" panose="020B0604030504040204" pitchFamily="50" charset="-128"/>
                <a:cs typeface="メイリオ"/>
              </a:rPr>
              <a:t>--</a:t>
            </a:r>
          </a:p>
        </p:txBody>
      </p:sp>
      <p:sp>
        <p:nvSpPr>
          <p:cNvPr id="12" name="Oval 2003">
            <a:extLst>
              <a:ext uri="{FF2B5EF4-FFF2-40B4-BE49-F238E27FC236}">
                <a16:creationId xmlns:a16="http://schemas.microsoft.com/office/drawing/2014/main" id="{7F917EDB-4DA5-2D51-DEF9-F1D7DC62A3D0}"/>
              </a:ext>
            </a:extLst>
          </p:cNvPr>
          <p:cNvSpPr/>
          <p:nvPr/>
        </p:nvSpPr>
        <p:spPr>
          <a:xfrm>
            <a:off x="2743200" y="1783080"/>
            <a:ext cx="1466850" cy="1188720"/>
          </a:xfrm>
          <a:prstGeom prst="ellipse">
            <a:avLst/>
          </a:prstGeom>
          <a:solidFill>
            <a:srgbClr val="4A6FA5"/>
          </a:solidFill>
          <a:ln>
            <a:noFill/>
          </a:ln>
        </p:spPr>
        <p:style>
          <a:lnRef idx="1">
            <a:schemeClr val="accent1"/>
          </a:lnRef>
          <a:fillRef idx="3">
            <a:schemeClr val="accent1"/>
          </a:fillRef>
          <a:effectRef idx="2">
            <a:schemeClr val="accent1"/>
          </a:effectRef>
          <a:fontRef idx="minor">
            <a:schemeClr val="lt1"/>
          </a:fontRef>
        </p:style>
        <p:txBody>
          <a:bodyPr wrap="square" lIns="76200" tIns="101600" rIns="76200" bIns="101600" rtlCol="0" anchor="ctr"/>
          <a:lstStyle/>
          <a:p>
            <a:pPr algn="ctr"/>
            <a:r>
              <a:rPr sz="1600" b="1">
                <a:solidFill>
                  <a:srgbClr val="FFFFFF"/>
                </a:solidFill>
                <a:latin typeface="メイリオ" panose="020B0604030504040204" pitchFamily="50" charset="-128"/>
                <a:ea typeface="メイリオ" panose="020B0604030504040204" pitchFamily="50" charset="-128"/>
                <a:cs typeface="メイリオ"/>
              </a:rPr>
              <a:t>--</a:t>
            </a:r>
          </a:p>
        </p:txBody>
      </p:sp>
      <p:sp>
        <p:nvSpPr>
          <p:cNvPr id="14" name="TextBox 2004">
            <a:extLst>
              <a:ext uri="{FF2B5EF4-FFF2-40B4-BE49-F238E27FC236}">
                <a16:creationId xmlns:a16="http://schemas.microsoft.com/office/drawing/2014/main" id="{2705E967-51E9-64AC-1273-825ACF9CF11D}"/>
              </a:ext>
            </a:extLst>
          </p:cNvPr>
          <p:cNvSpPr txBox="1"/>
          <p:nvPr/>
        </p:nvSpPr>
        <p:spPr>
          <a:xfrm>
            <a:off x="365760" y="3427095"/>
            <a:ext cx="9052560" cy="320040"/>
          </a:xfrm>
          <a:prstGeom prst="rect">
            <a:avLst/>
          </a:prstGeom>
          <a:noFill/>
        </p:spPr>
        <p:txBody>
          <a:bodyPr wrap="square">
            <a:spAutoFit/>
          </a:bodyPr>
          <a:lstStyle/>
          <a:p>
            <a:pPr algn="l"/>
            <a:r>
              <a:rPr sz="1400" b="1">
                <a:solidFill>
                  <a:srgbClr val="1F2A5C"/>
                </a:solidFill>
                <a:latin typeface="メイリオ" panose="020B0604030504040204" pitchFamily="50" charset="-128"/>
                <a:ea typeface="メイリオ" panose="020B0604030504040204" pitchFamily="50" charset="-128"/>
                <a:cs typeface="メイリオ"/>
              </a:rPr>
              <a:t>--</a:t>
            </a:r>
          </a:p>
        </p:txBody>
      </p:sp>
      <p:sp>
        <p:nvSpPr>
          <p:cNvPr id="16" name="Rounded Rectangle 2005">
            <a:extLst>
              <a:ext uri="{FF2B5EF4-FFF2-40B4-BE49-F238E27FC236}">
                <a16:creationId xmlns:a16="http://schemas.microsoft.com/office/drawing/2014/main" id="{ABF72EB3-0E58-C4B4-86D5-6D34D9F75C0B}"/>
              </a:ext>
            </a:extLst>
          </p:cNvPr>
          <p:cNvSpPr/>
          <p:nvPr/>
        </p:nvSpPr>
        <p:spPr>
          <a:xfrm>
            <a:off x="822960" y="3838575"/>
            <a:ext cx="2194560" cy="1188720"/>
          </a:xfrm>
          <a:prstGeom prst="round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76200" tIns="101600" rIns="76200" bIns="101600" rtlCol="0" anchor="ctr"/>
          <a:lstStyle/>
          <a:p>
            <a:pPr algn="ctr"/>
            <a:r>
              <a:rPr sz="1400" b="1" dirty="0">
                <a:solidFill>
                  <a:srgbClr val="FFFFFF"/>
                </a:solidFill>
                <a:latin typeface="メイリオ" panose="020B0604030504040204" pitchFamily="50" charset="-128"/>
                <a:ea typeface="メイリオ" panose="020B0604030504040204" pitchFamily="50" charset="-128"/>
                <a:cs typeface="メイリオ"/>
              </a:rPr>
              <a:t>--</a:t>
            </a:r>
          </a:p>
        </p:txBody>
      </p:sp>
      <p:sp>
        <p:nvSpPr>
          <p:cNvPr id="18" name="Oval 2006">
            <a:extLst>
              <a:ext uri="{FF2B5EF4-FFF2-40B4-BE49-F238E27FC236}">
                <a16:creationId xmlns:a16="http://schemas.microsoft.com/office/drawing/2014/main" id="{B480E83F-D844-D99F-CC4C-FF3DC5EC475C}"/>
              </a:ext>
            </a:extLst>
          </p:cNvPr>
          <p:cNvSpPr/>
          <p:nvPr/>
        </p:nvSpPr>
        <p:spPr>
          <a:xfrm>
            <a:off x="3383280" y="3838575"/>
            <a:ext cx="1436370" cy="1188720"/>
          </a:xfrm>
          <a:prstGeom prst="ellipse">
            <a:avLst/>
          </a:prstGeom>
          <a:solidFill>
            <a:srgbClr val="4A6FA5"/>
          </a:solidFill>
          <a:ln>
            <a:noFill/>
          </a:ln>
        </p:spPr>
        <p:style>
          <a:lnRef idx="1">
            <a:schemeClr val="accent1"/>
          </a:lnRef>
          <a:fillRef idx="3">
            <a:schemeClr val="accent1"/>
          </a:fillRef>
          <a:effectRef idx="2">
            <a:schemeClr val="accent1"/>
          </a:effectRef>
          <a:fontRef idx="minor">
            <a:schemeClr val="lt1"/>
          </a:fontRef>
        </p:style>
        <p:txBody>
          <a:bodyPr wrap="square" lIns="76200" tIns="101600" rIns="76200" bIns="101600" rtlCol="0" anchor="ctr"/>
          <a:lstStyle/>
          <a:p>
            <a:pPr algn="ctr"/>
            <a:r>
              <a:rPr sz="1600" b="1">
                <a:solidFill>
                  <a:srgbClr val="FFFFFF"/>
                </a:solidFill>
                <a:latin typeface="メイリオ" panose="020B0604030504040204" pitchFamily="50" charset="-128"/>
                <a:ea typeface="メイリオ" panose="020B0604030504040204" pitchFamily="50" charset="-128"/>
                <a:cs typeface="メイリオ"/>
              </a:rPr>
              <a:t>--</a:t>
            </a:r>
          </a:p>
        </p:txBody>
      </p:sp>
      <p:sp>
        <p:nvSpPr>
          <p:cNvPr id="20" name="Oval 2007">
            <a:extLst>
              <a:ext uri="{FF2B5EF4-FFF2-40B4-BE49-F238E27FC236}">
                <a16:creationId xmlns:a16="http://schemas.microsoft.com/office/drawing/2014/main" id="{97D834F7-04F0-3D93-E254-183AAEE62BD8}"/>
              </a:ext>
            </a:extLst>
          </p:cNvPr>
          <p:cNvSpPr/>
          <p:nvPr/>
        </p:nvSpPr>
        <p:spPr>
          <a:xfrm>
            <a:off x="5577840" y="3838575"/>
            <a:ext cx="1436370" cy="1188720"/>
          </a:xfrm>
          <a:prstGeom prst="ellipse">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76200" tIns="101600" rIns="76200" bIns="101600" rtlCol="0" anchor="ctr"/>
          <a:lstStyle/>
          <a:p>
            <a:pPr algn="ctr"/>
            <a:r>
              <a:rPr sz="1600" b="1" dirty="0">
                <a:solidFill>
                  <a:srgbClr val="FFFFFF"/>
                </a:solidFill>
                <a:latin typeface="メイリオ" panose="020B0604030504040204" pitchFamily="50" charset="-128"/>
                <a:ea typeface="メイリオ" panose="020B0604030504040204" pitchFamily="50" charset="-128"/>
                <a:cs typeface="メイリオ"/>
              </a:rPr>
              <a:t>--</a:t>
            </a:r>
          </a:p>
        </p:txBody>
      </p:sp>
    </p:spTree>
    <p:extLst>
      <p:ext uri="{BB962C8B-B14F-4D97-AF65-F5344CB8AC3E}">
        <p14:creationId xmlns:p14="http://schemas.microsoft.com/office/powerpoint/2010/main" val="215579828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18"/>
          <p:cNvSpPr>
            <a:spLocks noChangeArrowheads="1"/>
          </p:cNvSpPr>
          <p:nvPr/>
        </p:nvSpPr>
        <p:spPr bwMode="auto">
          <a:xfrm>
            <a:off x="1649030" y="5820984"/>
            <a:ext cx="6192837" cy="373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lvl="1" fontAlgn="base">
              <a:spcBef>
                <a:spcPct val="20000"/>
              </a:spcBef>
              <a:spcAft>
                <a:spcPct val="0"/>
              </a:spcAft>
              <a:defRPr>
                <a:latin typeface="メイリオ"/>
                <a:ea typeface="メイリオ"/>
                <a:cs typeface="メイリオ"/>
              </a:defRPr>
            </a:pPr>
            <a:r>
              <a:rPr lang="ja-JP" altLang="en-US" sz="831" b="1" dirty="0">
                <a:solidFill>
                  <a:prstClr val="black"/>
                </a:solidFill>
                <a:latin typeface="メイリオ"/>
                <a:ea typeface="メイリオ"/>
                <a:cs typeface="メイリオ"/>
              </a:rPr>
              <a:t>株式会社</a:t>
            </a:r>
            <a:r>
              <a:rPr lang="en-US" altLang="ja-JP" sz="831" b="1" dirty="0">
                <a:solidFill>
                  <a:prstClr val="black"/>
                </a:solidFill>
                <a:latin typeface="メイリオ"/>
                <a:ea typeface="メイリオ"/>
                <a:cs typeface="メイリオ"/>
              </a:rPr>
              <a:t>DYM</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141-0032</a:t>
            </a:r>
            <a:r>
              <a:rPr lang="ja-JP" altLang="en-US" sz="831" b="1" dirty="0">
                <a:solidFill>
                  <a:prstClr val="black"/>
                </a:solidFill>
                <a:latin typeface="メイリオ"/>
                <a:ea typeface="メイリオ"/>
                <a:cs typeface="メイリオ"/>
              </a:rPr>
              <a:t>　東京都品川区大崎</a:t>
            </a:r>
            <a:r>
              <a:rPr lang="en-US" altLang="ja-JP" sz="831" b="1" dirty="0">
                <a:solidFill>
                  <a:prstClr val="black"/>
                </a:solidFill>
                <a:latin typeface="メイリオ"/>
                <a:ea typeface="メイリオ"/>
                <a:cs typeface="メイリオ"/>
              </a:rPr>
              <a:t>1-11-2</a:t>
            </a:r>
            <a:r>
              <a:rPr lang="ja-JP" altLang="en-US" sz="831" b="1" dirty="0">
                <a:solidFill>
                  <a:prstClr val="black"/>
                </a:solidFill>
                <a:latin typeface="メイリオ"/>
                <a:ea typeface="メイリオ"/>
                <a:cs typeface="メイリオ"/>
              </a:rPr>
              <a:t>　ゲートシティ大崎イーストタワー</a:t>
            </a:r>
            <a:r>
              <a:rPr lang="en-US" altLang="ja-JP" sz="831" b="1" dirty="0">
                <a:solidFill>
                  <a:prstClr val="black"/>
                </a:solidFill>
                <a:latin typeface="メイリオ"/>
                <a:ea typeface="メイリオ"/>
                <a:cs typeface="メイリオ"/>
              </a:rPr>
              <a:t>10</a:t>
            </a:r>
            <a:r>
              <a:rPr lang="ja-JP" altLang="en-US" sz="831" b="1" dirty="0">
                <a:solidFill>
                  <a:prstClr val="black"/>
                </a:solidFill>
                <a:latin typeface="メイリオ"/>
                <a:ea typeface="メイリオ"/>
                <a:cs typeface="メイリオ"/>
              </a:rPr>
              <a:t>階</a:t>
            </a:r>
            <a:endParaRPr lang="en-US" altLang="ja-JP" sz="831" b="1" dirty="0">
              <a:solidFill>
                <a:prstClr val="black"/>
              </a:solidFill>
              <a:latin typeface="メイリオ"/>
              <a:ea typeface="メイリオ"/>
              <a:cs typeface="メイリオ"/>
            </a:endParaRPr>
          </a:p>
          <a:p>
            <a:pPr marL="0" lvl="1" fontAlgn="base">
              <a:spcBef>
                <a:spcPct val="20000"/>
              </a:spcBef>
              <a:spcAft>
                <a:spcPct val="0"/>
              </a:spcAft>
              <a:defRPr>
                <a:latin typeface="メイリオ"/>
                <a:ea typeface="メイリオ"/>
                <a:cs typeface="メイリオ"/>
              </a:defRPr>
            </a:pPr>
            <a:r>
              <a:rPr lang="en-US" altLang="ja-JP" sz="831" b="1" dirty="0">
                <a:solidFill>
                  <a:prstClr val="black"/>
                </a:solidFill>
                <a:latin typeface="メイリオ"/>
                <a:ea typeface="メイリオ"/>
                <a:cs typeface="メイリオ"/>
              </a:rPr>
              <a:t>TEL: 03-5745-0200</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FAX: 03-3779-8720 </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http://dym.asia   </a:t>
            </a:r>
            <a:r>
              <a:rPr lang="ja-JP" altLang="en-US" sz="831" b="1" dirty="0">
                <a:solidFill>
                  <a:prstClr val="black"/>
                </a:solidFill>
                <a:latin typeface="メイリオ"/>
                <a:ea typeface="メイリオ"/>
                <a:cs typeface="メイリオ"/>
              </a:rPr>
              <a:t>代表取締役　水谷佑毅</a:t>
            </a:r>
          </a:p>
        </p:txBody>
      </p:sp>
      <p:pic>
        <p:nvPicPr>
          <p:cNvPr id="24" name="図 1"/>
          <p:cNvPicPr>
            <a:picLocks noChangeAspect="1"/>
          </p:cNvPicPr>
          <p:nvPr/>
        </p:nvPicPr>
        <p:blipFill rotWithShape="1">
          <a:blip r:embed="rId3" cstate="email">
            <a:extLst>
              <a:ext uri="{28A0092B-C50C-407E-A947-70E740481C1C}">
                <a14:useLocalDpi xmlns:a14="http://schemas.microsoft.com/office/drawing/2010/main"/>
              </a:ext>
            </a:extLst>
          </a:blip>
          <a:srcRect l="-1647" r="-11171"/>
          <a:stretch/>
        </p:blipFill>
        <p:spPr bwMode="auto">
          <a:xfrm>
            <a:off x="543897" y="5895365"/>
            <a:ext cx="1100981" cy="2248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テキスト ボックス 2"/>
          <p:cNvSpPr txBox="1"/>
          <p:nvPr/>
        </p:nvSpPr>
        <p:spPr>
          <a:xfrm>
            <a:off x="5070232" y="5597769"/>
            <a:ext cx="184731" cy="369332"/>
          </a:xfrm>
          <a:prstGeom prst="rect">
            <a:avLst/>
          </a:prstGeom>
          <a:noFill/>
        </p:spPr>
        <p:txBody>
          <a:bodyPr wrap="none" rtlCol="0">
            <a:spAutoFit/>
          </a:bodyPr>
          <a:lstStyle/>
          <a:p>
            <a:pPr fontAlgn="base">
              <a:spcBef>
                <a:spcPct val="0"/>
              </a:spcBef>
              <a:spcAft>
                <a:spcPct val="0"/>
              </a:spcAft>
              <a:defRPr>
                <a:latin typeface="メイリオ"/>
                <a:ea typeface="メイリオ"/>
                <a:cs typeface="メイリオ"/>
              </a:defRPr>
            </a:pPr>
            <a:endParaRPr lang="ja-JP" altLang="en-US">
              <a:solidFill>
                <a:prstClr val="black"/>
              </a:solidFill>
              <a:latin typeface="メイリオ" pitchFamily="34" charset="0"/>
              <a:ea typeface="メイリオ" pitchFamily="50" charset="-128"/>
              <a:cs typeface="メイリオ"/>
            </a:endParaRPr>
          </a:p>
        </p:txBody>
      </p:sp>
      <p:sp>
        <p:nvSpPr>
          <p:cNvPr id="18" name="正方形/長方形 17"/>
          <p:cNvSpPr/>
          <p:nvPr/>
        </p:nvSpPr>
        <p:spPr>
          <a:xfrm>
            <a:off x="2170038" y="989684"/>
            <a:ext cx="5565924" cy="369332"/>
          </a:xfrm>
          <a:prstGeom prst="rect">
            <a:avLst/>
          </a:prstGeom>
        </p:spPr>
        <p:txBody>
          <a:bodyPr wrap="square">
            <a:spAutoFit/>
          </a:bodyPr>
          <a:lstStyle/>
          <a:p>
            <a:pPr algn="ctr" fontAlgn="base">
              <a:spcBef>
                <a:spcPct val="20000"/>
              </a:spcBef>
              <a:spcAft>
                <a:spcPct val="0"/>
              </a:spcAft>
              <a:defRPr>
                <a:latin typeface="メイリオ"/>
                <a:ea typeface="メイリオ"/>
                <a:cs typeface="メイリオ"/>
              </a:defRPr>
            </a:pPr>
            <a:r>
              <a:rPr lang="ja-JP" altLang="en-US" b="1" dirty="0">
                <a:solidFill>
                  <a:prstClr val="black"/>
                </a:solidFill>
                <a:latin typeface="メイリオ" charset="0"/>
                <a:ea typeface="メイリオ" charset="0"/>
                <a:cs typeface="メイリオ" charset="0"/>
              </a:rPr>
              <a:t>貴社の明るい未来に必ず貢献致します。</a:t>
            </a:r>
          </a:p>
        </p:txBody>
      </p:sp>
      <p:sp>
        <p:nvSpPr>
          <p:cNvPr id="14" name="正方形/長方形 13"/>
          <p:cNvSpPr/>
          <p:nvPr/>
        </p:nvSpPr>
        <p:spPr>
          <a:xfrm>
            <a:off x="382695" y="2698377"/>
            <a:ext cx="598220" cy="205890"/>
          </a:xfrm>
          <a:prstGeom prst="rect">
            <a:avLst/>
          </a:prstGeom>
        </p:spPr>
        <p:txBody>
          <a:bodyPr wrap="square">
            <a:spAutoFit/>
          </a:bodyPr>
          <a:lstStyle/>
          <a:p>
            <a:pPr algn="ctr" fontAlgn="base">
              <a:spcBef>
                <a:spcPct val="20000"/>
              </a:spcBef>
              <a:spcAft>
                <a:spcPct val="0"/>
              </a:spcAft>
              <a:defRPr>
                <a:latin typeface="メイリオ"/>
                <a:ea typeface="メイリオ"/>
                <a:cs typeface="メイリオ"/>
              </a:defRPr>
            </a:pPr>
            <a:r>
              <a:rPr lang="ja-JP" altLang="en-US" sz="738">
                <a:solidFill>
                  <a:srgbClr val="FFFFFF"/>
                </a:solidFill>
                <a:latin typeface="メイリオ" charset="0"/>
                <a:ea typeface="メイリオ" charset="0"/>
                <a:cs typeface="メイリオ" charset="0"/>
              </a:rPr>
              <a:t>本社</a:t>
            </a:r>
          </a:p>
        </p:txBody>
      </p:sp>
      <p:sp>
        <p:nvSpPr>
          <p:cNvPr id="15" name="正方形/長方形 14"/>
          <p:cNvSpPr/>
          <p:nvPr/>
        </p:nvSpPr>
        <p:spPr>
          <a:xfrm>
            <a:off x="368300" y="2355213"/>
            <a:ext cx="756684" cy="215444"/>
          </a:xfrm>
          <a:prstGeom prst="rect">
            <a:avLst/>
          </a:prstGeom>
        </p:spPr>
        <p:txBody>
          <a:bodyPr wrap="square">
            <a:spAutoFit/>
          </a:bodyPr>
          <a:lstStyle/>
          <a:p>
            <a:pPr algn="ctr" fontAlgn="base">
              <a:spcBef>
                <a:spcPct val="20000"/>
              </a:spcBef>
              <a:spcAft>
                <a:spcPct val="0"/>
              </a:spcAft>
              <a:defRPr>
                <a:latin typeface="メイリオ"/>
                <a:ea typeface="メイリオ"/>
                <a:cs typeface="メイリオ"/>
              </a:defRPr>
            </a:pPr>
            <a:r>
              <a:rPr lang="ja-JP" altLang="en-US" sz="800" dirty="0">
                <a:solidFill>
                  <a:srgbClr val="FFFFFF"/>
                </a:solidFill>
                <a:latin typeface="メイリオ" charset="0"/>
                <a:ea typeface="メイリオ" charset="0"/>
                <a:cs typeface="メイリオ" charset="0"/>
              </a:rPr>
              <a:t>本社</a:t>
            </a:r>
          </a:p>
        </p:txBody>
      </p:sp>
      <p:grpSp>
        <p:nvGrpSpPr>
          <p:cNvPr id="22" name="グループ化 21">
            <a:extLst>
              <a:ext uri="{FF2B5EF4-FFF2-40B4-BE49-F238E27FC236}">
                <a16:creationId xmlns:a16="http://schemas.microsoft.com/office/drawing/2014/main" id="{05A1AABC-CDB8-5B83-4CFD-649967A361BF}"/>
              </a:ext>
            </a:extLst>
          </p:cNvPr>
          <p:cNvGrpSpPr/>
          <p:nvPr/>
        </p:nvGrpSpPr>
        <p:grpSpPr>
          <a:xfrm>
            <a:off x="381002" y="1772817"/>
            <a:ext cx="9143999" cy="3314853"/>
            <a:chOff x="1" y="1772816"/>
            <a:chExt cx="9143999" cy="3314853"/>
          </a:xfrm>
        </p:grpSpPr>
        <p:pic>
          <p:nvPicPr>
            <p:cNvPr id="21" name="図 20" descr="ポーズをとる男性グループ&#10;&#10;自動的に生成された説明">
              <a:extLst>
                <a:ext uri="{FF2B5EF4-FFF2-40B4-BE49-F238E27FC236}">
                  <a16:creationId xmlns:a16="http://schemas.microsoft.com/office/drawing/2014/main" id="{4927F40E-D146-C638-5583-C9DC2984722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642" r="4076"/>
            <a:stretch/>
          </p:blipFill>
          <p:spPr>
            <a:xfrm>
              <a:off x="6973793" y="3518745"/>
              <a:ext cx="2170207" cy="1567781"/>
            </a:xfrm>
            <a:prstGeom prst="rect">
              <a:avLst/>
            </a:prstGeom>
          </p:spPr>
        </p:pic>
        <p:pic>
          <p:nvPicPr>
            <p:cNvPr id="16" name="図 15" descr="白いシャツを着ている男性&#10;&#10;中程度の精度で自動的に生成された説明">
              <a:extLst>
                <a:ext uri="{FF2B5EF4-FFF2-40B4-BE49-F238E27FC236}">
                  <a16:creationId xmlns:a16="http://schemas.microsoft.com/office/drawing/2014/main" id="{2ECDFCA7-8611-D865-F999-FDCD0EC2126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83808" y="3519888"/>
              <a:ext cx="1989985" cy="1567781"/>
            </a:xfrm>
            <a:prstGeom prst="rect">
              <a:avLst/>
            </a:prstGeom>
          </p:spPr>
        </p:pic>
        <p:pic>
          <p:nvPicPr>
            <p:cNvPr id="10" name="図 9" descr="スーツを着た男性たち&#10;&#10;自動的に生成された説明">
              <a:extLst>
                <a:ext uri="{FF2B5EF4-FFF2-40B4-BE49-F238E27FC236}">
                  <a16:creationId xmlns:a16="http://schemas.microsoft.com/office/drawing/2014/main" id="{9D3AD52A-1514-4350-FFDD-09984B3666E2}"/>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0703" r="10363"/>
            <a:stretch/>
          </p:blipFill>
          <p:spPr>
            <a:xfrm>
              <a:off x="7299681" y="1773979"/>
              <a:ext cx="1842624" cy="1745909"/>
            </a:xfrm>
            <a:prstGeom prst="rect">
              <a:avLst/>
            </a:prstGeom>
          </p:spPr>
        </p:pic>
        <p:pic>
          <p:nvPicPr>
            <p:cNvPr id="7" name="図 6" descr="講堂にいる人たち&#10;&#10;中程度の精度で自動的に生成された説明">
              <a:extLst>
                <a:ext uri="{FF2B5EF4-FFF2-40B4-BE49-F238E27FC236}">
                  <a16:creationId xmlns:a16="http://schemas.microsoft.com/office/drawing/2014/main" id="{B1CA0DFF-0DAF-D5BD-8D9F-8AFB103E2698}"/>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512" t="12879" r="2477"/>
            <a:stretch/>
          </p:blipFill>
          <p:spPr>
            <a:xfrm>
              <a:off x="1" y="1772816"/>
              <a:ext cx="5089778" cy="3314853"/>
            </a:xfrm>
            <a:prstGeom prst="rect">
              <a:avLst/>
            </a:prstGeom>
          </p:spPr>
        </p:pic>
        <p:pic>
          <p:nvPicPr>
            <p:cNvPr id="11" name="図 10" descr="スーツを着た男性グループの写真&#10;&#10;低い精度で自動的に生成された説明">
              <a:extLst>
                <a:ext uri="{FF2B5EF4-FFF2-40B4-BE49-F238E27FC236}">
                  <a16:creationId xmlns:a16="http://schemas.microsoft.com/office/drawing/2014/main" id="{FEFAFF33-EFBF-C67E-586A-08D93AF295F8}"/>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8595" r="6763"/>
            <a:stretch/>
          </p:blipFill>
          <p:spPr>
            <a:xfrm>
              <a:off x="5089779" y="1772836"/>
              <a:ext cx="2215315" cy="1745909"/>
            </a:xfrm>
            <a:prstGeom prst="rect">
              <a:avLst/>
            </a:prstGeom>
          </p:spPr>
        </p:pic>
      </p:grpSp>
      <p:sp>
        <p:nvSpPr>
          <p:cNvPr id="6" name="正方形/長方形 5">
            <a:extLst>
              <a:ext uri="{FF2B5EF4-FFF2-40B4-BE49-F238E27FC236}">
                <a16:creationId xmlns:a16="http://schemas.microsoft.com/office/drawing/2014/main" id="{238B92EF-519D-929F-4345-5BAC445EF234}"/>
              </a:ext>
            </a:extLst>
          </p:cNvPr>
          <p:cNvSpPr/>
          <p:nvPr/>
        </p:nvSpPr>
        <p:spPr>
          <a:xfrm>
            <a:off x="128016" y="6620256"/>
            <a:ext cx="2852928" cy="237744"/>
          </a:xfrm>
          <a:prstGeom prst="rect">
            <a:avLst/>
          </a:prstGeom>
          <a:solidFill>
            <a:srgbClr val="191F54"/>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 name="正方形/長方形 1">
            <a:extLst>
              <a:ext uri="{FF2B5EF4-FFF2-40B4-BE49-F238E27FC236}">
                <a16:creationId xmlns:a16="http://schemas.microsoft.com/office/drawing/2014/main" id="{A949B271-D24D-666E-90F2-EA616E1EABC2}"/>
              </a:ext>
            </a:extLst>
          </p:cNvPr>
          <p:cNvSpPr/>
          <p:nvPr/>
        </p:nvSpPr>
        <p:spPr>
          <a:xfrm>
            <a:off x="368300" y="0"/>
            <a:ext cx="9537700" cy="514974"/>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Tree>
    <p:extLst>
      <p:ext uri="{BB962C8B-B14F-4D97-AF65-F5344CB8AC3E}">
        <p14:creationId xmlns:p14="http://schemas.microsoft.com/office/powerpoint/2010/main" val="4185355464"/>
      </p:ext>
    </p:extLst>
  </p:cSld>
  <p:clrMapOvr>
    <a:masterClrMapping/>
  </p:clrMapOvr>
  <p:transition spd="slow"/>
</p:sld>
</file>

<file path=ppt/theme/theme1.xml><?xml version="1.0" encoding="utf-8"?>
<a:theme xmlns:a="http://schemas.openxmlformats.org/drawingml/2006/main" name="テーマ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テーマ1" id="{8EA1701B-0E00-4167-9612-575199E01EDB}" vid="{8EF6575E-BB77-44AE-AF00-801DE4CAFB82}"/>
    </a:ext>
  </a:extLst>
</a:theme>
</file>

<file path=ppt/theme/theme2.xml><?xml version="1.0" encoding="utf-8"?>
<a:theme xmlns:a="http://schemas.openxmlformats.org/drawingml/2006/main" name="DYMJAPA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142216</TotalTime>
  <Words>7053</Words>
  <Application>Microsoft Office PowerPoint</Application>
  <PresentationFormat>A4 210 x 297 mm</PresentationFormat>
  <Paragraphs>1602</Paragraphs>
  <Slides>63</Slides>
  <Notes>31</Notes>
  <HiddenSlides>0</HiddenSlides>
  <MMClips>0</MMClips>
  <ScaleCrop>false</ScaleCrop>
  <HeadingPairs>
    <vt:vector size="6" baseType="variant">
      <vt:variant>
        <vt:lpstr>使用されているフォント</vt:lpstr>
      </vt:variant>
      <vt:variant>
        <vt:i4>6</vt:i4>
      </vt:variant>
      <vt:variant>
        <vt:lpstr>テーマ</vt:lpstr>
      </vt:variant>
      <vt:variant>
        <vt:i4>2</vt:i4>
      </vt:variant>
      <vt:variant>
        <vt:lpstr>スライド タイトル</vt:lpstr>
      </vt:variant>
      <vt:variant>
        <vt:i4>63</vt:i4>
      </vt:variant>
    </vt:vector>
  </HeadingPairs>
  <TitlesOfParts>
    <vt:vector size="71" baseType="lpstr">
      <vt:lpstr>メイリオ</vt:lpstr>
      <vt:lpstr>メイリオ</vt:lpstr>
      <vt:lpstr>Arial</vt:lpstr>
      <vt:lpstr>Calibri</vt:lpstr>
      <vt:lpstr>Century Gothic</vt:lpstr>
      <vt:lpstr>Times New Roman</vt:lpstr>
      <vt:lpstr>テーマ1</vt:lpstr>
      <vt:lpstr>DYMJAPAN</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中村 駿</dc:creator>
  <cp:lastModifiedBy>佐村 徳人</cp:lastModifiedBy>
  <cp:revision>1948</cp:revision>
  <cp:lastPrinted>2022-11-01T11:38:14Z</cp:lastPrinted>
  <dcterms:created xsi:type="dcterms:W3CDTF">2015-09-04T09:21:15Z</dcterms:created>
  <dcterms:modified xsi:type="dcterms:W3CDTF">2026-07-29T05:46:21Z</dcterms:modified>
</cp:coreProperties>
</file>