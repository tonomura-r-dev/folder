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60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85279-767B-4296-8FC6-BCBD43976694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7A0CC6-4FDA-4345-BCD0-E1C2F2779F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722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A0CC6-4FDA-4345-BCD0-E1C2F2779FF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73831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A874C-0E3E-03A4-B84F-DDB294728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4A2097A-0EF4-C580-C60F-F444F232C8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9FBBF5-84CA-0E61-1B3A-8BB148E32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C45630E-EA3C-BF0F-FEB6-29CC992D0F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A0CC6-4FDA-4345-BCD0-E1C2F2779FF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0693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3753D-2459-D1EC-7CDC-9B2BB4537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42CFAC7-C019-D273-31D8-AF193EDF03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55ABF13-B4F8-D0F4-5B89-DE6D3D0A03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AC4792E-EB05-600D-6CAC-47AD81E66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A0CC6-4FDA-4345-BCD0-E1C2F2779FFD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7053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F5D523-6D4C-A190-3F22-E96EA2B85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105CB6F-7DB2-FDEC-44E6-3D6B48864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D1F5DF-8215-7E8A-98CE-5CAF0BBFE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CC786-F330-4187-B1EB-F58EC0797CA2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8CA655E-85E3-9E15-6FFB-F2C4481C5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37005E-6693-8DFF-54F1-DA9535CA4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1996C-A3A4-49EA-88AD-CC119A51B4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7749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319C4D-9CF4-172D-5B97-4CF4A7F37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8F245DE-0F5A-F4AD-58E1-9161D8C8C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D9B69F-4437-0038-1BA0-16FC4A07B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CC786-F330-4187-B1EB-F58EC0797CA2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1F19FD-85EF-327E-85E0-AECBA2EE5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AD6CC7D-20D2-4FFA-448F-955482A32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1996C-A3A4-49EA-88AD-CC119A51B4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9549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D7E94D-05F9-6819-962F-BAD0D4F2B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E5E077A-D4D4-03F0-2341-8980F60AB2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A9FD69-74FE-E0C0-5721-4D5AB9A89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CC786-F330-4187-B1EB-F58EC0797CA2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ED930E-9E82-AEAA-8A85-31547EFAB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49B70E-AA9E-C19A-EAFC-503D816E2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1996C-A3A4-49EA-88AD-CC119A51B4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3250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0B4560-006A-D3C1-2FF8-DE2855A29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56C3308-EB68-BB46-751E-0DDA5A0EC0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90583F6-75B1-714C-2797-116EC35EE3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27C10EB-8D75-40CB-B4E8-A223D5C77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CC786-F330-4187-B1EB-F58EC0797CA2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7648940-551F-66B2-F577-266AF7E5E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667ABD-A5FB-0C07-4B38-D623866D8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1996C-A3A4-49EA-88AD-CC119A51B4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0433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ED11DA-2C85-0EE4-294D-65120C70D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12FDEB-B7B9-D83F-7444-70C35CF71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ED090DA-E368-603D-0ED7-AA10599E12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B663D88-4475-B6E4-86D2-43B6F220D6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1531B68-00A4-8C27-9327-CB902D66A9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75B3F73-904C-19A6-D098-5C2FF5740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CC786-F330-4187-B1EB-F58EC0797CA2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688E896-35FA-E229-620A-8D749F11C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B712F17-57ED-7261-8DDA-1387BE1AC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1996C-A3A4-49EA-88AD-CC119A51B4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6112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975128-1A74-3937-7DD3-6B7B46CA2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22F0BB4-DD52-D802-3C32-54A3B760E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CC786-F330-4187-B1EB-F58EC0797CA2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9580C6D-00DD-6014-E64D-6840ADEAA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C3C3AB3-7270-3CD9-BD89-7E927B30D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1996C-A3A4-49EA-88AD-CC119A51B4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743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7475940-51C7-DA39-97FB-2F83A2BD4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CC786-F330-4187-B1EB-F58EC0797CA2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1614F7D-459E-8B69-BC11-980206193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C49DA64-3CEC-EC7B-E9AA-7DE9E94F1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1996C-A3A4-49EA-88AD-CC119A51B4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2319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C27EDF-0539-41F9-AC6E-EFF8F5B97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B4EE170-00B1-DDA4-269E-63FB52273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E3E4B55-D4CE-3067-A4C3-8CB34CFFE6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B2677A9-F096-4ECA-CB54-224E4DF96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CC786-F330-4187-B1EB-F58EC0797CA2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3DB2677-F6C3-2E73-12A4-DDE61BF7D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5068011-E600-D0CC-27C8-03636C991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1996C-A3A4-49EA-88AD-CC119A51B4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4456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43018C-F731-B639-3F39-7DD96BF2D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F1B7945-FD4E-005A-C297-3270717CB4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47AE7EB-92F2-FF85-4E55-EB3AA97D6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23DA2C4-2F26-1660-2B82-1A3DBF58F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CC786-F330-4187-B1EB-F58EC0797CA2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5F9F625-1C56-BA17-FB71-948E19FDD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FF5A4AC-4DE2-3F59-FE06-C8B8C18BB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1996C-A3A4-49EA-88AD-CC119A51B4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3627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8A6F59-15B5-DCB7-C2B4-E367DD9FD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CD516DD-7A12-1DC5-5B01-4AB51F81D5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AB515D-F8FF-7396-3BC1-B4ADCD961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CC786-F330-4187-B1EB-F58EC0797CA2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8BCCFE1-8C48-4CFC-EFCF-B81D026B5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EE33C8-776E-29CB-C8D2-003BDE579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1996C-A3A4-49EA-88AD-CC119A51B4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7686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9595340-C880-447A-E2D1-F252B0E38A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6FC5557-E308-EBB0-CFD5-E811D951C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456EAEB-5BFF-EBCE-61BB-BD02CF410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CC786-F330-4187-B1EB-F58EC0797CA2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F55D1CD-AD57-FAD1-7B67-75C292FFD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A10672B-DBA8-0478-2F1C-CB136D5DE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1996C-A3A4-49EA-88AD-CC119A51B4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4821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E0AE390-F675-2ED7-C7EB-8F765DB26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A63F3DF-3B18-6363-1C39-47EB11361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10A68F1-ADE0-34FF-877D-919CA48741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3CC786-F330-4187-B1EB-F58EC0797CA2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9AE134-2C54-ABAF-0ED1-52FB4DC6EE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3A7416-7F65-E36B-B3BF-1EA17F926A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C1996C-A3A4-49EA-88AD-CC119A51B4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6123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hicken-gym.jp/" TargetMode="External"/><Relationship Id="rId7" Type="http://schemas.openxmlformats.org/officeDocument/2006/relationships/hyperlink" Target="https://t-balance-gym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pplegym.jp/" TargetMode="External"/><Relationship Id="rId5" Type="http://schemas.openxmlformats.org/officeDocument/2006/relationships/hyperlink" Target="https://www.space-gym.com/lp004/?ref=sitelead_lp" TargetMode="External"/><Relationship Id="rId4" Type="http://schemas.openxmlformats.org/officeDocument/2006/relationships/hyperlink" Target="https://katagirijuku.jp/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katagirijuku.jp/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hyperlink" Target="https://www.space-gym.com/lp004/?ref=sitelead_lp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s://chicken-gym.jp/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://bbb-tripleb.com/" TargetMode="External"/><Relationship Id="rId3" Type="http://schemas.openxmlformats.org/officeDocument/2006/relationships/hyperlink" Target="https://chicken-gym.jp/" TargetMode="External"/><Relationship Id="rId7" Type="http://schemas.openxmlformats.org/officeDocument/2006/relationships/hyperlink" Target="https://t-balance-gym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pplegym.jp/" TargetMode="External"/><Relationship Id="rId5" Type="http://schemas.openxmlformats.org/officeDocument/2006/relationships/hyperlink" Target="https://www.space-gym.com/lp004/?ref=sitelead_lp" TargetMode="External"/><Relationship Id="rId4" Type="http://schemas.openxmlformats.org/officeDocument/2006/relationships/hyperlink" Target="https://katagirijuku.j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045905B-CCE7-D44F-9FB3-7C9CC4C752DB}"/>
              </a:ext>
            </a:extLst>
          </p:cNvPr>
          <p:cNvSpPr/>
          <p:nvPr/>
        </p:nvSpPr>
        <p:spPr>
          <a:xfrm>
            <a:off x="-64655" y="1"/>
            <a:ext cx="12256655" cy="5524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dirty="0">
                <a:solidFill>
                  <a:schemeClr val="tx1"/>
                </a:solidFill>
              </a:rPr>
              <a:t>　　　　　競合の</a:t>
            </a:r>
            <a:r>
              <a:rPr kumimoji="1" lang="en-US" altLang="ja-JP" dirty="0">
                <a:solidFill>
                  <a:schemeClr val="tx1"/>
                </a:solidFill>
              </a:rPr>
              <a:t>LP</a:t>
            </a:r>
            <a:r>
              <a:rPr kumimoji="1" lang="ja-JP" altLang="en-US" dirty="0">
                <a:solidFill>
                  <a:schemeClr val="tx1"/>
                </a:solidFill>
              </a:rPr>
              <a:t>分析②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BB1C912-BFB7-DC0B-EB69-DB12C78F3FB7}"/>
              </a:ext>
            </a:extLst>
          </p:cNvPr>
          <p:cNvSpPr/>
          <p:nvPr/>
        </p:nvSpPr>
        <p:spPr>
          <a:xfrm>
            <a:off x="0" y="1"/>
            <a:ext cx="533400" cy="55245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17" name="表 16">
            <a:extLst>
              <a:ext uri="{FF2B5EF4-FFF2-40B4-BE49-F238E27FC236}">
                <a16:creationId xmlns:a16="http://schemas.microsoft.com/office/drawing/2014/main" id="{44BBD4DE-6F31-F299-C426-F60961DE0F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941348"/>
              </p:ext>
            </p:extLst>
          </p:nvPr>
        </p:nvGraphicFramePr>
        <p:xfrm>
          <a:off x="198584" y="572655"/>
          <a:ext cx="11324643" cy="6220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3525">
                  <a:extLst>
                    <a:ext uri="{9D8B030D-6E8A-4147-A177-3AD203B41FA5}">
                      <a16:colId xmlns:a16="http://schemas.microsoft.com/office/drawing/2014/main" val="15353073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867429927"/>
                    </a:ext>
                  </a:extLst>
                </a:gridCol>
                <a:gridCol w="2420793">
                  <a:extLst>
                    <a:ext uri="{9D8B030D-6E8A-4147-A177-3AD203B41FA5}">
                      <a16:colId xmlns:a16="http://schemas.microsoft.com/office/drawing/2014/main" val="1500574429"/>
                    </a:ext>
                  </a:extLst>
                </a:gridCol>
                <a:gridCol w="1874982">
                  <a:extLst>
                    <a:ext uri="{9D8B030D-6E8A-4147-A177-3AD203B41FA5}">
                      <a16:colId xmlns:a16="http://schemas.microsoft.com/office/drawing/2014/main" val="3425385863"/>
                    </a:ext>
                  </a:extLst>
                </a:gridCol>
                <a:gridCol w="2102591">
                  <a:extLst>
                    <a:ext uri="{9D8B030D-6E8A-4147-A177-3AD203B41FA5}">
                      <a16:colId xmlns:a16="http://schemas.microsoft.com/office/drawing/2014/main" val="4107433918"/>
                    </a:ext>
                  </a:extLst>
                </a:gridCol>
                <a:gridCol w="1684976">
                  <a:extLst>
                    <a:ext uri="{9D8B030D-6E8A-4147-A177-3AD203B41FA5}">
                      <a16:colId xmlns:a16="http://schemas.microsoft.com/office/drawing/2014/main" val="3029081811"/>
                    </a:ext>
                  </a:extLst>
                </a:gridCol>
                <a:gridCol w="1684976">
                  <a:extLst>
                    <a:ext uri="{9D8B030D-6E8A-4147-A177-3AD203B41FA5}">
                      <a16:colId xmlns:a16="http://schemas.microsoft.com/office/drawing/2014/main" val="3850110166"/>
                    </a:ext>
                  </a:extLst>
                </a:gridCol>
              </a:tblGrid>
              <a:tr h="310423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項目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チキンジム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かたぎり宿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スペースジム</a:t>
                      </a: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アップルジム</a:t>
                      </a: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lang="ja-JP" altLang="en-U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バランス</a:t>
                      </a: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616953"/>
                  </a:ext>
                </a:extLst>
              </a:tr>
              <a:tr h="265808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運営元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株式会社クリア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caname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株式会社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株式会社</a:t>
                      </a:r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Well-being works </a:t>
                      </a: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株式会社</a:t>
                      </a:r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REXIV</a:t>
                      </a: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株式会社</a:t>
                      </a:r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T-BALANCE</a:t>
                      </a: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96111150"/>
                  </a:ext>
                </a:extLst>
              </a:tr>
              <a:tr h="282712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LP・URL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sng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https://chicken-gym.jp/</a:t>
                      </a:r>
                      <a:endParaRPr lang="en-US" sz="800" b="0" i="0" u="sng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sng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https://katagirijuku.jp</a:t>
                      </a:r>
                      <a:endParaRPr lang="en-US" sz="800" b="0" i="0" u="sng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sng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https://www.space-gym.com/lp004/?ref=sitelead_lp</a:t>
                      </a:r>
                      <a:endParaRPr lang="en-US" sz="800" b="0" i="0" u="sng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sng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https://applegym.jp/</a:t>
                      </a:r>
                      <a:br>
                        <a:rPr lang="en-US" sz="800" b="0" i="0" u="sng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</a:br>
                      <a:endParaRPr lang="en-US" sz="800" b="0" i="0" u="sng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sng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https://t-balance-gym.com/</a:t>
                      </a:r>
                      <a:endParaRPr lang="en-US" sz="800" b="0" i="0" u="sng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9073830"/>
                  </a:ext>
                </a:extLst>
              </a:tr>
              <a:tr h="25596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対象エリア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東京、千葉、福岡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全国対応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東京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・</a:t>
                      </a:r>
                      <a:r>
                        <a:rPr lang="zh-TW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大阪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・</a:t>
                      </a:r>
                      <a:r>
                        <a:rPr lang="zh-TW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京都</a:t>
                      </a: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東京、神奈川</a:t>
                      </a: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東京・神奈川・大阪・兵庫</a:t>
                      </a: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8624122"/>
                  </a:ext>
                </a:extLst>
              </a:tr>
              <a:tr h="282712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営業時間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7:00~23:00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平日：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10:00~22:00</a:t>
                      </a:r>
                      <a:b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土・日：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09:00~20:00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9:00~23:00</a:t>
                      </a: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9:00 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〜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21:25(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定休日：水曜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)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日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※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店舗により異なる</a:t>
                      </a:r>
                      <a:endParaRPr lang="ja-JP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NotoSansJP-Regular"/>
                        </a:rPr>
                        <a:t>7:00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〜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23:00</a:t>
                      </a:r>
                      <a:endParaRPr lang="ja-JP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NotoSansJP-Regular"/>
                      </a:endParaRP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05650069"/>
                  </a:ext>
                </a:extLst>
              </a:tr>
              <a:tr h="29248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成果地点（</a:t>
                      </a:r>
                      <a:r>
                        <a:rPr lang="en-US" altLang="zh-CN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CTA</a:t>
                      </a:r>
                      <a:r>
                        <a:rPr lang="zh-CN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）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カウンセリング件数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体験予約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無料体験予約</a:t>
                      </a: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初回無料予約</a:t>
                      </a: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無料カウンセリング予約</a:t>
                      </a: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58528323"/>
                  </a:ext>
                </a:extLst>
              </a:tr>
              <a:tr h="252621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キャンペーン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無料カウンセリング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当日入会で入会金割引</a:t>
                      </a:r>
                      <a:r>
                        <a:rPr lang="ja-JP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altLang="ja-JP" sz="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22,000</a:t>
                      </a:r>
                      <a:r>
                        <a:rPr lang="ja-JP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円</a:t>
                      </a:r>
                      <a:endParaRPr lang="ja-JP" altLang="en-US" sz="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体験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・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入会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円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!+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パーソナル付</a:t>
                      </a:r>
                      <a:endParaRPr lang="ja-JP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初回体験無料</a:t>
                      </a: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入会金無料・当日入会特典</a:t>
                      </a: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31105312"/>
                  </a:ext>
                </a:extLst>
              </a:tr>
              <a:tr h="275537"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キャッチコピー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トレーニング初心者に最適なジム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「一流の指導」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×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「低価格」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日本一顧客満足度が高いパーソナルジム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コスパ良く賢く結果を出そう！！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完全個室・高品質・大手ジムの半額以下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08539975"/>
                  </a:ext>
                </a:extLst>
              </a:tr>
              <a:tr h="275537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サブコピー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頑張らないけど効果的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パーソナル・完全個室ジムならかたぎり塾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比べてわかる革命的な品質と価格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誰でも手が届く 効果が見える ずっと続けられる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手ぶらで通えるオーダーメイドジム。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2984400"/>
                  </a:ext>
                </a:extLst>
              </a:tr>
              <a:tr h="275537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訴求①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充実ストレッチ（しっかり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分）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一流の指導： 理学療法士・医師監修によるメニュー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価格の透明性と低価格設定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各店舗先着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名様限定</a:t>
                      </a:r>
                      <a:b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【4/30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まで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】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入会金が無料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!!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大手パーソナルジムの半額以下の料金設定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74521973"/>
                  </a:ext>
                </a:extLst>
              </a:tr>
              <a:tr h="275537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訴求②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食事アドバイス（管理栄養士がサポート）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続けやすい低価格： 税込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33,000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円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〜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の料金設計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圧倒的なビジュアルの空間美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個別指導</a:t>
                      </a:r>
                      <a:b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最大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名までの直接指導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完全個室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26810198"/>
                  </a:ext>
                </a:extLst>
              </a:tr>
              <a:tr h="275537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訴求③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施設使い放題（フリートレーニング）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完全個室・プライベート空間： 人目を気にせず集中できる環境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トレーナーの質の高さとランク制度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フィットネス価格で通える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オールインクルーシブ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52103494"/>
                  </a:ext>
                </a:extLst>
              </a:tr>
              <a:tr h="275537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訴求④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手ぶらで通える（レンタル無料：ウェア、シューズ、靴下、タオル）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手ぶらで通える： ウェア、シューズ、タオル、アメニティがすべて無料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当日入会特典の強力なメリット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実感できる効果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継続できる食事指導（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食しっかり食べる指導）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34703052"/>
                  </a:ext>
                </a:extLst>
              </a:tr>
              <a:tr h="215001">
                <a:tc rowSpan="9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コンテンツ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①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続けられるトレーニング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目的別プログラム（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CASE STUDY</a:t>
                      </a:r>
                      <a:endParaRPr lang="ja-JP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悩みへの寄り添い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最安宣言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回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2250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円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価格・個室・手ぶら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OK</a:t>
                      </a:r>
                      <a:endParaRPr lang="ja-JP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13827207"/>
                  </a:ext>
                </a:extLst>
              </a:tr>
              <a:tr h="275537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②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専門店並みの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分間の本格ストレッチ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リバウンドさせないこだわり、理学療法士・医師監修の背景、低価格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空間の視覚的証明：インテリア・ギャラリー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個人指導、プレミアムプランの紹介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ビフォーアフター（実際の顧客の変化と期間・数値）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6031927"/>
                  </a:ext>
                </a:extLst>
              </a:tr>
              <a:tr h="275537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③</a:t>
                      </a:r>
                      <a:endParaRPr lang="en-US" altLang="ja-JP" sz="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食事指導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: 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管理栄養士による無理のない食生活改善サポート。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月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回・月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回プラン、ペアプラン、無期限チケット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指導品質の裏付け：トレーナー・クオリティ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月</a:t>
                      </a:r>
                      <a:r>
                        <a:rPr lang="en-US" altLang="ja-JP" sz="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r>
                        <a:rPr lang="ja-JP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回、月</a:t>
                      </a:r>
                      <a:r>
                        <a:rPr lang="en-US" altLang="ja-JP" sz="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r>
                        <a:rPr lang="ja-JP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回、月</a:t>
                      </a:r>
                      <a:r>
                        <a:rPr lang="en-US" altLang="ja-JP" sz="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lang="ja-JP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回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他社比較表（大手ジムとの総額・サービス差を明示）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359113"/>
                  </a:ext>
                </a:extLst>
              </a:tr>
              <a:tr h="275537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④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入会金や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回あたりの料金目安。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実際の利用者の成果とトレーナーのコメント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オーダーメイド・プログラムの解説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無料体験予約ボタン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回数別の月額費用と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回あたりの単価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7446592"/>
                  </a:ext>
                </a:extLst>
              </a:tr>
              <a:tr h="275537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⑤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プラン契約者がトレーニング以外でも施設を利用できるサービス。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お悩み解決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食事管理とライフスタイル支援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悩みを写真付きで説明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食事指導のこだわり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810418"/>
                  </a:ext>
                </a:extLst>
              </a:tr>
              <a:tr h="275537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⑥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在籍するトレーナーや管理栄養士の紹介とメッセージ。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実際に通っている利用者のインタビューや感想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ビフォーアフター：成果の可視化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他ジムとの値段比較表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トレーナー紹介（プロフィールと専門領域）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7384774"/>
                  </a:ext>
                </a:extLst>
              </a:tr>
              <a:tr h="275537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⑦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実際に通っている方の体験談やビフォーアフター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予約、当日、入会のステップ解説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ペア・トレーニングのメリット詳述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様々な体型のユーザーの写真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充実の設備・無料アメニティの紹介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34297594"/>
                  </a:ext>
                </a:extLst>
              </a:tr>
              <a:tr h="36155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⑧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全国各地にある店舗のアクセス情報。</a:t>
                      </a:r>
                      <a:endParaRPr lang="ja-JP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店舗一覧（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LOCATION）： 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全国各地の店舗検索</a:t>
                      </a:r>
                    </a:p>
                    <a:p>
                      <a:pPr algn="ctr" fontAlgn="t">
                        <a:buNone/>
                      </a:pPr>
                      <a:endParaRPr lang="ja-JP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トレーナー指名制度とランクの仕組み</a:t>
                      </a:r>
                    </a:p>
                    <a:p>
                      <a:pPr algn="ctr" fontAlgn="t">
                        <a:buNone/>
                      </a:pPr>
                      <a:endParaRPr lang="ja-JP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本格的な設備の写真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ユーザーのリアルな口コミ・体験談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42861115"/>
                  </a:ext>
                </a:extLst>
              </a:tr>
              <a:tr h="390354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⑨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CV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（コンバージョン）導線としての予約申し込みボタン・フォーム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お知らせ、医療機関提携、法人プラン、コラム、トレーナー募集、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FC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加盟店募集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詳細な料金体系：プラン別の比較</a:t>
                      </a:r>
                    </a:p>
                    <a:p>
                      <a:pPr algn="ctr" fontAlgn="t">
                        <a:buNone/>
                      </a:pPr>
                      <a:endParaRPr lang="ja-JP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専属トレーナーの軽い紹介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無料カウンセリング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〜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入会までの流れ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960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8343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6712B-70DE-79C4-9845-7A59FFD8E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6B9B10B-377F-8CB7-B942-911105E64156}"/>
              </a:ext>
            </a:extLst>
          </p:cNvPr>
          <p:cNvSpPr/>
          <p:nvPr/>
        </p:nvSpPr>
        <p:spPr>
          <a:xfrm>
            <a:off x="-64655" y="1"/>
            <a:ext cx="12256655" cy="5524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dirty="0">
                <a:solidFill>
                  <a:schemeClr val="tx1"/>
                </a:solidFill>
              </a:rPr>
              <a:t>　　　　　競合の</a:t>
            </a:r>
            <a:r>
              <a:rPr kumimoji="1" lang="en-US" altLang="ja-JP" dirty="0">
                <a:solidFill>
                  <a:schemeClr val="tx1"/>
                </a:solidFill>
              </a:rPr>
              <a:t>LP</a:t>
            </a:r>
            <a:r>
              <a:rPr kumimoji="1" lang="ja-JP" altLang="en-US" dirty="0">
                <a:solidFill>
                  <a:schemeClr val="tx1"/>
                </a:solidFill>
              </a:rPr>
              <a:t>分析①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BD769FF-102B-1E17-0967-21D21A868DBF}"/>
              </a:ext>
            </a:extLst>
          </p:cNvPr>
          <p:cNvSpPr/>
          <p:nvPr/>
        </p:nvSpPr>
        <p:spPr>
          <a:xfrm>
            <a:off x="0" y="1"/>
            <a:ext cx="533400" cy="55245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3CB92D5-E5B5-3EC4-F2AB-C6B451F14C73}"/>
              </a:ext>
            </a:extLst>
          </p:cNvPr>
          <p:cNvSpPr/>
          <p:nvPr/>
        </p:nvSpPr>
        <p:spPr>
          <a:xfrm>
            <a:off x="1475509" y="749877"/>
            <a:ext cx="9240982" cy="3157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競合</a:t>
            </a:r>
            <a:r>
              <a:rPr kumimoji="1" lang="en-US" altLang="ja-JP" dirty="0"/>
              <a:t>5</a:t>
            </a:r>
            <a:r>
              <a:rPr kumimoji="1" lang="ja-JP" altLang="en-US" dirty="0"/>
              <a:t>社の</a:t>
            </a:r>
            <a:r>
              <a:rPr kumimoji="1" lang="en-US" altLang="ja-JP" dirty="0"/>
              <a:t>LP</a:t>
            </a:r>
            <a:r>
              <a:rPr kumimoji="1" lang="ja-JP" altLang="en-US" dirty="0"/>
              <a:t>の要素を分析する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1EC9883-1DFD-42A4-6EF2-4C999D421CF3}"/>
              </a:ext>
            </a:extLst>
          </p:cNvPr>
          <p:cNvSpPr txBox="1"/>
          <p:nvPr/>
        </p:nvSpPr>
        <p:spPr>
          <a:xfrm>
            <a:off x="1475509" y="1263072"/>
            <a:ext cx="9240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kumimoji="1" lang="ja-JP" altLang="en-US" dirty="0"/>
              <a:t>競合</a:t>
            </a:r>
            <a:r>
              <a:rPr kumimoji="1" lang="en-US" altLang="ja-JP" dirty="0"/>
              <a:t>5</a:t>
            </a:r>
            <a:r>
              <a:rPr kumimoji="1" lang="ja-JP" altLang="en-US" dirty="0"/>
              <a:t>社については、</a:t>
            </a:r>
            <a:r>
              <a:rPr lang="ja-JP" altLang="en-US" dirty="0"/>
              <a:t>現在のパーソナルジム市場で</a:t>
            </a:r>
            <a:r>
              <a:rPr lang="ja-JP" altLang="en-US" b="1" dirty="0"/>
              <a:t>「低価格・カジュアル・継続性」</a:t>
            </a:r>
            <a:r>
              <a:rPr lang="ja-JP" altLang="en-US" dirty="0"/>
              <a:t>を重視する</a:t>
            </a:r>
            <a:r>
              <a:rPr lang="ja-JP" altLang="en-US" b="1" dirty="0"/>
              <a:t>「新興中価格帯グループ」</a:t>
            </a:r>
            <a:r>
              <a:rPr lang="ja-JP" altLang="en-US" dirty="0"/>
              <a:t>から</a:t>
            </a:r>
            <a:r>
              <a:rPr lang="en-US" altLang="ja-JP" dirty="0"/>
              <a:t>5</a:t>
            </a:r>
            <a:r>
              <a:rPr lang="ja-JP" altLang="en-US" dirty="0"/>
              <a:t>社を選定した。</a:t>
            </a:r>
            <a:endParaRPr kumimoji="1" lang="ja-JP" altLang="en-US" dirty="0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EA3DD7C1-2877-283E-DA5C-7B37C363C760}"/>
              </a:ext>
            </a:extLst>
          </p:cNvPr>
          <p:cNvSpPr/>
          <p:nvPr/>
        </p:nvSpPr>
        <p:spPr>
          <a:xfrm>
            <a:off x="0" y="1909404"/>
            <a:ext cx="12192000" cy="4948596"/>
          </a:xfrm>
          <a:prstGeom prst="roundRect">
            <a:avLst>
              <a:gd name="adj" fmla="val 8641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9C12B3DC-9B68-60A9-3770-96C7118ACA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36" y="2332596"/>
            <a:ext cx="1870650" cy="3720234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D921BCA1-C89E-8B01-2A6B-CC69E962A0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320" y="2872510"/>
            <a:ext cx="1870650" cy="3544879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F8218010-93D7-9729-7FA0-82EC046153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0904" y="2332594"/>
            <a:ext cx="1870650" cy="3720235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1F70E885-8DF8-8FBC-52DA-42CA34644F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6488" y="2872510"/>
            <a:ext cx="1870650" cy="3544879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AE60CDED-10A6-2505-2D37-B4E7B98623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2072" y="2332594"/>
            <a:ext cx="1870649" cy="3720235"/>
          </a:xfrm>
          <a:prstGeom prst="rect">
            <a:avLst/>
          </a:prstGeom>
        </p:spPr>
      </p:pic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030FB82-1AC0-7AF8-C88C-13E9A8C29F57}"/>
              </a:ext>
            </a:extLst>
          </p:cNvPr>
          <p:cNvSpPr txBox="1"/>
          <p:nvPr/>
        </p:nvSpPr>
        <p:spPr>
          <a:xfrm>
            <a:off x="308918" y="1891983"/>
            <a:ext cx="113606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 dirty="0"/>
              <a:t>　　　株式会社クリア　　</a:t>
            </a:r>
            <a:r>
              <a:rPr lang="ja-JP" altLang="en-US" sz="900" dirty="0"/>
              <a:t>　　　　　　　　　　　　　　　　　　　　　</a:t>
            </a:r>
            <a:r>
              <a:rPr lang="ja-JP" altLang="en-US" sz="1000" dirty="0"/>
              <a:t>　　　　　　　株式会社</a:t>
            </a:r>
            <a:r>
              <a:rPr lang="en-US" altLang="ja-JP" sz="1000" dirty="0"/>
              <a:t>Well-being works </a:t>
            </a:r>
            <a:r>
              <a:rPr lang="ja-JP" altLang="en-US" sz="1000" dirty="0"/>
              <a:t>　　　　　　　　　　　　　　　　　　　　　　　　　　株式会社</a:t>
            </a:r>
            <a:r>
              <a:rPr lang="en-US" altLang="ja-JP" sz="1000" dirty="0"/>
              <a:t>T-BALANCE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8C063CB-8EDB-3CEF-937C-8BA628DCDC95}"/>
              </a:ext>
            </a:extLst>
          </p:cNvPr>
          <p:cNvSpPr txBox="1"/>
          <p:nvPr/>
        </p:nvSpPr>
        <p:spPr>
          <a:xfrm>
            <a:off x="321610" y="2112288"/>
            <a:ext cx="113606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 dirty="0"/>
              <a:t>　　　</a:t>
            </a:r>
            <a:r>
              <a:rPr lang="ja-JP" altLang="en-US" sz="900" dirty="0"/>
              <a:t>チキンジム　　　　　　　　　　　　　　　　　　　　　　　　　　　　　　　　　　　　スペースジム</a:t>
            </a:r>
            <a:r>
              <a:rPr lang="en-US" altLang="ja-JP" sz="900" dirty="0"/>
              <a:t> </a:t>
            </a:r>
            <a:r>
              <a:rPr lang="ja-JP" altLang="en-US" sz="900" dirty="0"/>
              <a:t>　　　　　　　　　　　　　　　　　　　　　　　　　　　　　　　　　　　</a:t>
            </a:r>
            <a:r>
              <a:rPr lang="en-US" altLang="ja-JP" sz="900" dirty="0"/>
              <a:t>T-BALANCE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B8EC739-A9FF-991E-72B9-792A2E3F1584}"/>
              </a:ext>
            </a:extLst>
          </p:cNvPr>
          <p:cNvSpPr txBox="1"/>
          <p:nvPr/>
        </p:nvSpPr>
        <p:spPr>
          <a:xfrm>
            <a:off x="533400" y="2293203"/>
            <a:ext cx="11360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　　　　　　　　　　　  </a:t>
            </a:r>
            <a:r>
              <a:rPr lang="en-US" altLang="ja-JP" sz="900" dirty="0" err="1"/>
              <a:t>caname</a:t>
            </a:r>
            <a:r>
              <a:rPr lang="ja-JP" altLang="en-US" sz="900" dirty="0"/>
              <a:t>株式会社　　　　　　　　　　　　　　　　　　　　　　　　　　　　　　　　　　株式会社</a:t>
            </a:r>
            <a:r>
              <a:rPr lang="en-US" altLang="ja-JP" sz="900" dirty="0"/>
              <a:t>REXIV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4982E715-F09B-6C96-9741-C2AAC4A8AADD}"/>
              </a:ext>
            </a:extLst>
          </p:cNvPr>
          <p:cNvSpPr txBox="1"/>
          <p:nvPr/>
        </p:nvSpPr>
        <p:spPr>
          <a:xfrm>
            <a:off x="557064" y="2494874"/>
            <a:ext cx="11360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　　　　　　　　　　　　</a:t>
            </a:r>
            <a:r>
              <a:rPr lang="ja-JP" altLang="en-US" sz="900" dirty="0"/>
              <a:t>かたぎり塾　　　　　　　　　　　　　　　　　　　　　　　　　　　　　　　　　　　　アップルジム</a:t>
            </a:r>
            <a:endParaRPr lang="en-US" altLang="ja-JP" sz="9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52C25FBB-9AC6-04DF-D835-7AF06840373F}"/>
              </a:ext>
            </a:extLst>
          </p:cNvPr>
          <p:cNvSpPr txBox="1"/>
          <p:nvPr/>
        </p:nvSpPr>
        <p:spPr>
          <a:xfrm>
            <a:off x="509736" y="6404838"/>
            <a:ext cx="1136065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900" dirty="0"/>
              <a:t>		                     </a:t>
            </a:r>
            <a:r>
              <a:rPr lang="en-US" altLang="ja-JP" sz="900" dirty="0">
                <a:hlinkClick r:id="rId8"/>
              </a:rPr>
              <a:t>https://katagirijuku.jp</a:t>
            </a:r>
            <a:r>
              <a:rPr lang="en-US" altLang="ja-JP" sz="900" dirty="0"/>
              <a:t>				https://applegym.jp/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2335B652-56EA-A789-BE5E-4DC3C333DF0C}"/>
              </a:ext>
            </a:extLst>
          </p:cNvPr>
          <p:cNvSpPr txBox="1"/>
          <p:nvPr/>
        </p:nvSpPr>
        <p:spPr>
          <a:xfrm>
            <a:off x="509736" y="6108123"/>
            <a:ext cx="1136065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900" dirty="0"/>
              <a:t>    </a:t>
            </a:r>
            <a:r>
              <a:rPr lang="en-US" altLang="ja-JP" sz="900" dirty="0">
                <a:hlinkClick r:id="rId9"/>
              </a:rPr>
              <a:t>https://chicken-gym.jp/</a:t>
            </a:r>
            <a:r>
              <a:rPr lang="en-US" altLang="ja-JP" sz="900" dirty="0"/>
              <a:t>                                                                                   </a:t>
            </a:r>
            <a:r>
              <a:rPr lang="en-US" altLang="ja-JP" sz="900" dirty="0">
                <a:hlinkClick r:id="rId10"/>
              </a:rPr>
              <a:t>https://www.space-gym.com/lp004/?ref=sitelead_lp</a:t>
            </a:r>
            <a:r>
              <a:rPr lang="en-US" altLang="ja-JP" sz="900" dirty="0"/>
              <a:t>			           https://t-balance-gym.com/</a:t>
            </a:r>
          </a:p>
        </p:txBody>
      </p:sp>
    </p:spTree>
    <p:extLst>
      <p:ext uri="{BB962C8B-B14F-4D97-AF65-F5344CB8AC3E}">
        <p14:creationId xmlns:p14="http://schemas.microsoft.com/office/powerpoint/2010/main" val="3542135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69582-E2EE-FE5C-4AE6-A66806893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13E5948-A3A6-7E1A-63B6-D78094E1F7CE}"/>
              </a:ext>
            </a:extLst>
          </p:cNvPr>
          <p:cNvSpPr/>
          <p:nvPr/>
        </p:nvSpPr>
        <p:spPr>
          <a:xfrm>
            <a:off x="-64655" y="1"/>
            <a:ext cx="12256655" cy="5524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dirty="0">
                <a:solidFill>
                  <a:schemeClr val="tx1"/>
                </a:solidFill>
              </a:rPr>
              <a:t>　　　　　競合の</a:t>
            </a:r>
            <a:r>
              <a:rPr kumimoji="1" lang="en-US" altLang="ja-JP" dirty="0">
                <a:solidFill>
                  <a:schemeClr val="tx1"/>
                </a:solidFill>
              </a:rPr>
              <a:t>LP</a:t>
            </a:r>
            <a:r>
              <a:rPr kumimoji="1" lang="ja-JP" altLang="en-US" dirty="0">
                <a:solidFill>
                  <a:schemeClr val="tx1"/>
                </a:solidFill>
              </a:rPr>
              <a:t>分析②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3CD41FD-4225-73F5-E62F-1974AA1BB65E}"/>
              </a:ext>
            </a:extLst>
          </p:cNvPr>
          <p:cNvSpPr/>
          <p:nvPr/>
        </p:nvSpPr>
        <p:spPr>
          <a:xfrm>
            <a:off x="0" y="1"/>
            <a:ext cx="533400" cy="55245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17" name="表 16">
            <a:extLst>
              <a:ext uri="{FF2B5EF4-FFF2-40B4-BE49-F238E27FC236}">
                <a16:creationId xmlns:a16="http://schemas.microsoft.com/office/drawing/2014/main" id="{E1005EF3-E668-1BB3-7A88-B3030C1AF7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8748627"/>
              </p:ext>
            </p:extLst>
          </p:nvPr>
        </p:nvGraphicFramePr>
        <p:xfrm>
          <a:off x="124645" y="610201"/>
          <a:ext cx="11878054" cy="62477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116">
                  <a:extLst>
                    <a:ext uri="{9D8B030D-6E8A-4147-A177-3AD203B41FA5}">
                      <a16:colId xmlns:a16="http://schemas.microsoft.com/office/drawing/2014/main" val="1535307304"/>
                    </a:ext>
                  </a:extLst>
                </a:gridCol>
                <a:gridCol w="727086">
                  <a:extLst>
                    <a:ext uri="{9D8B030D-6E8A-4147-A177-3AD203B41FA5}">
                      <a16:colId xmlns:a16="http://schemas.microsoft.com/office/drawing/2014/main" val="3867429927"/>
                    </a:ext>
                  </a:extLst>
                </a:gridCol>
                <a:gridCol w="1747642">
                  <a:extLst>
                    <a:ext uri="{9D8B030D-6E8A-4147-A177-3AD203B41FA5}">
                      <a16:colId xmlns:a16="http://schemas.microsoft.com/office/drawing/2014/main" val="1500574429"/>
                    </a:ext>
                  </a:extLst>
                </a:gridCol>
                <a:gridCol w="1747642">
                  <a:extLst>
                    <a:ext uri="{9D8B030D-6E8A-4147-A177-3AD203B41FA5}">
                      <a16:colId xmlns:a16="http://schemas.microsoft.com/office/drawing/2014/main" val="3425385863"/>
                    </a:ext>
                  </a:extLst>
                </a:gridCol>
                <a:gridCol w="1747642">
                  <a:extLst>
                    <a:ext uri="{9D8B030D-6E8A-4147-A177-3AD203B41FA5}">
                      <a16:colId xmlns:a16="http://schemas.microsoft.com/office/drawing/2014/main" val="4107433918"/>
                    </a:ext>
                  </a:extLst>
                </a:gridCol>
                <a:gridCol w="1747642">
                  <a:extLst>
                    <a:ext uri="{9D8B030D-6E8A-4147-A177-3AD203B41FA5}">
                      <a16:colId xmlns:a16="http://schemas.microsoft.com/office/drawing/2014/main" val="3029081811"/>
                    </a:ext>
                  </a:extLst>
                </a:gridCol>
                <a:gridCol w="1747642">
                  <a:extLst>
                    <a:ext uri="{9D8B030D-6E8A-4147-A177-3AD203B41FA5}">
                      <a16:colId xmlns:a16="http://schemas.microsoft.com/office/drawing/2014/main" val="3850110166"/>
                    </a:ext>
                  </a:extLst>
                </a:gridCol>
                <a:gridCol w="1747642">
                  <a:extLst>
                    <a:ext uri="{9D8B030D-6E8A-4147-A177-3AD203B41FA5}">
                      <a16:colId xmlns:a16="http://schemas.microsoft.com/office/drawing/2014/main" val="1746625211"/>
                    </a:ext>
                  </a:extLst>
                </a:gridCol>
              </a:tblGrid>
              <a:tr h="220635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項目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チキンジム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かたぎり宿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スペースジム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アップルジム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lang="ja-JP" altLang="en-U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バランス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1" lang="en-US" altLang="ja-JP" sz="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BBB</a:t>
                      </a:r>
                      <a:r>
                        <a:rPr kumimoji="1" lang="ja-JP" altLang="en-US" sz="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パーソナルジム</a:t>
                      </a:r>
                      <a:endParaRPr lang="ja-JP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616953"/>
                  </a:ext>
                </a:extLst>
              </a:tr>
              <a:tr h="265103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運営元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株式会社クリア</a:t>
                      </a: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caname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株式会社</a:t>
                      </a: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株式会社</a:t>
                      </a:r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Well-being works </a:t>
                      </a: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株式会社</a:t>
                      </a:r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REXIV</a:t>
                      </a: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株式会社</a:t>
                      </a:r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T-BALANCE</a:t>
                      </a: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kumimoji="1" lang="ja-JP" altLang="en-US" sz="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ディーオージー株式会社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96111150"/>
                  </a:ext>
                </a:extLst>
              </a:tr>
              <a:tr h="281961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LP・URL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sng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https://chicken-gym.jp/</a:t>
                      </a:r>
                      <a:endParaRPr lang="en-US" sz="800" b="0" i="0" u="sng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sng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https://katagirijuku.jp</a:t>
                      </a:r>
                      <a:endParaRPr lang="en-US" sz="800" b="0" i="0" u="sng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sng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https://www.space-gym.com/lp004/?ref=sitelead_lp</a:t>
                      </a:r>
                      <a:endParaRPr lang="en-US" sz="800" b="0" i="0" u="sng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sng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https://applegym.jp/</a:t>
                      </a:r>
                      <a:br>
                        <a:rPr lang="en-US" sz="800" b="0" i="0" u="sng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</a:br>
                      <a:endParaRPr lang="en-US" sz="800" b="0" i="0" u="sng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800" b="0" i="0" u="sng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https://t-balance-gym.com/</a:t>
                      </a:r>
                      <a:endParaRPr lang="en-US" sz="800" b="0" i="0" u="sng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kumimoji="1" lang="en-US" altLang="ja-JP" sz="800" i="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8"/>
                        </a:rPr>
                        <a:t>bbb-tripleb.com</a:t>
                      </a:r>
                      <a:endParaRPr lang="en-US" sz="800" b="0" i="0" u="sng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9073830"/>
                  </a:ext>
                </a:extLst>
              </a:tr>
              <a:tr h="25528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対象エリア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東京、千葉、福岡</a:t>
                      </a: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全国対応</a:t>
                      </a: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東京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・</a:t>
                      </a:r>
                      <a:r>
                        <a:rPr lang="zh-TW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大阪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・</a:t>
                      </a:r>
                      <a:r>
                        <a:rPr lang="zh-TW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京都</a:t>
                      </a: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東京、神奈川</a:t>
                      </a: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東京・神奈川・大阪・兵庫</a:t>
                      </a: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kumimoji="1" lang="ja-JP" altLang="en-US" sz="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東京都内</a:t>
                      </a:r>
                      <a:endParaRPr lang="ja-JP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8624122"/>
                  </a:ext>
                </a:extLst>
              </a:tr>
              <a:tr h="281961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営業時間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7:00~23:00</a:t>
                      </a: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平日：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10:00~22:00</a:t>
                      </a:r>
                      <a:b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土・日：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09:00~20:00</a:t>
                      </a: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9:00~23:00</a:t>
                      </a: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9:00 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〜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21:25(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定休日：水曜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)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日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※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店舗により異なる</a:t>
                      </a:r>
                      <a:endParaRPr lang="ja-JP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NotoSansJP-Regular"/>
                        </a:rPr>
                        <a:t>7:00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〜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23:00</a:t>
                      </a:r>
                      <a:endParaRPr lang="ja-JP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NotoSansJP-Regular"/>
                      </a:endParaRP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1" lang="en-US" altLang="ja-JP" sz="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9:00〜23:00</a:t>
                      </a:r>
                      <a:r>
                        <a:rPr kumimoji="1" lang="ja-JP" altLang="en-US" sz="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（土日祝日も営業）</a:t>
                      </a:r>
                      <a:endParaRPr lang="ja-JP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NotoSansJP-Regular"/>
                      </a:endParaRP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05650069"/>
                  </a:ext>
                </a:extLst>
              </a:tr>
              <a:tr h="291707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成果地点（</a:t>
                      </a:r>
                      <a:r>
                        <a:rPr lang="en-US" altLang="zh-CN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CTA</a:t>
                      </a:r>
                      <a:r>
                        <a:rPr lang="zh-CN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）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カウンセリング件数</a:t>
                      </a: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体験予約</a:t>
                      </a: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無料体験予約</a:t>
                      </a: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初回無料予約</a:t>
                      </a: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無料カウンセリング予約</a:t>
                      </a: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kumimoji="1" lang="en-US" altLang="ja-JP" sz="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LINE </a:t>
                      </a:r>
                      <a:r>
                        <a:rPr kumimoji="1" lang="ja-JP" altLang="en-US" sz="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無料体験予約</a:t>
                      </a:r>
                      <a:endParaRPr lang="ja-JP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58528323"/>
                  </a:ext>
                </a:extLst>
              </a:tr>
              <a:tr h="251949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キャンペーン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無料カウンセリング</a:t>
                      </a: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当日入会で入会金割引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22,000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円</a:t>
                      </a:r>
                      <a:endParaRPr lang="ja-JP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体験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・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入会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円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!+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パーソナル付</a:t>
                      </a:r>
                      <a:endParaRPr lang="ja-JP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初回体験無料</a:t>
                      </a: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入会金無料・当日入会特典</a:t>
                      </a: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kumimoji="1" lang="ja-JP" altLang="en-US" sz="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体験トレーニング とその後の即日入会で入会金と併せて無料</a:t>
                      </a:r>
                      <a:endParaRPr lang="ja-JP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31105312"/>
                  </a:ext>
                </a:extLst>
              </a:tr>
              <a:tr h="274806"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FV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キャッチコピー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ＭＳ ゴシック" panose="020B0609070205080204" pitchFamily="49" charset="-128"/>
                          <a:ea typeface="ＭＳ ゴシック" panose="020B0609070205080204" pitchFamily="49" charset="-128"/>
                        </a:rPr>
                        <a:t>トレーニング初心者に最適なジム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「一流の指導」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×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「低価格」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日本一顧客満足度が高いパーソナルジム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コスパ良く賢く結果を出そう！！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完全個室・高品質・大手ジムの半額以下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ja-JP" altLang="en-US" sz="800" dirty="0">
                          <a:effectLst/>
                        </a:rPr>
                        <a:t>運動が苦手な方・初心者</a:t>
                      </a:r>
                    </a:p>
                  </a:txBody>
                  <a:tcPr marL="0" marR="0" marT="12700" marB="127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08539975"/>
                  </a:ext>
                </a:extLst>
              </a:tr>
              <a:tr h="274806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サブコピー</a:t>
                      </a:r>
                    </a:p>
                  </a:txBody>
                  <a:tcPr marL="0" marR="0" marT="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頑張らないけど効果的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パーソナル・完全個室ジムならかたぎり塾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比べてわかる革命的な品質と価格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誰でも手が届く 効果が見える ずっと続けられる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手ぶらで通えるオーダーメイドジム。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 dirty="0">
                          <a:effectLst/>
                        </a:rPr>
                        <a:t>圧倒的コスパを実現 パーソナルトレーニングジム</a:t>
                      </a:r>
                      <a:endParaRPr lang="en-US" altLang="ja-JP" sz="800" dirty="0">
                        <a:effectLst/>
                      </a:endParaRPr>
                    </a:p>
                  </a:txBody>
                  <a:tcPr marL="19050" marR="19050" marT="12700" marB="127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2984400"/>
                  </a:ext>
                </a:extLst>
              </a:tr>
              <a:tr h="274806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訴求①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充実ストレッチ（しっかり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分）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一流の指導： 理学療法士・医師監修によるメニュー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価格の透明性と低価格設定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各店舗先着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名様限定</a:t>
                      </a:r>
                      <a:b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【4/30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まで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】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入会金が無料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!!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大手パーソナルジムの半額以下の料金設定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ja-JP" altLang="en-US" sz="800" dirty="0">
                          <a:effectLst/>
                        </a:rPr>
                        <a:t>完全個室</a:t>
                      </a:r>
                    </a:p>
                  </a:txBody>
                  <a:tcPr marL="19050" marR="19050" marT="12700" marB="127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74521973"/>
                  </a:ext>
                </a:extLst>
              </a:tr>
              <a:tr h="274806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訴求②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食事アドバイス（管理栄養士がサポート）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続けやすい低価格： 税込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33,000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円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〜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の料金設計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圧倒的なビジュアルの空間美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個別指導</a:t>
                      </a:r>
                      <a:b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最大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名までの直接指導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完全個室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ja-JP" altLang="en-US" sz="800" dirty="0">
                          <a:effectLst/>
                        </a:rPr>
                        <a:t>続けられる質と価格を提供</a:t>
                      </a:r>
                    </a:p>
                  </a:txBody>
                  <a:tcPr marL="0" marR="0" marT="12700" marB="127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26810198"/>
                  </a:ext>
                </a:extLst>
              </a:tr>
              <a:tr h="274806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訴求③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施設使い放題（フリートレーニング）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完全個室・プライベート空間： 人目を気にせず集中できる環境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トレーナーの質の高さとランク制度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フィットネス価格で通える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オールインクルーシブ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ja-JP" altLang="en-US" sz="800" dirty="0">
                          <a:effectLst/>
                        </a:rPr>
                        <a:t>圧倒的コスパの実現</a:t>
                      </a:r>
                    </a:p>
                  </a:txBody>
                  <a:tcPr marL="0" marR="0" marT="12700" marB="127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52103494"/>
                  </a:ext>
                </a:extLst>
              </a:tr>
              <a:tr h="217546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訴求④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手ぶらで通える（レンタル無料：ウェア、シューズ、靴下、タオル）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手ぶらで通える： ウェア、シューズ、タオル、アメニティがすべて無料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当日入会特典の強力なメリット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実感できる効果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継続できる食事指導（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食しっかり食べる指導）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ja-JP" altLang="en-US" sz="800" dirty="0">
                          <a:effectLst/>
                        </a:rPr>
                        <a:t>変化への期待感</a:t>
                      </a:r>
                    </a:p>
                  </a:txBody>
                  <a:tcPr marL="0" marR="0" marT="12700" marB="127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34703052"/>
                  </a:ext>
                </a:extLst>
              </a:tr>
              <a:tr h="152290">
                <a:tc rowSpan="10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コンテンツ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①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続けられるトレーニング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目的別プログラム（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CASE STUDY)</a:t>
                      </a:r>
                      <a:endParaRPr lang="ja-JP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悩みへの寄り添い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最安宣言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回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2250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円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価格・個室・手ぶら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OK</a:t>
                      </a:r>
                      <a:endParaRPr lang="ja-JP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ja-JP" altLang="en-US" sz="800" dirty="0">
                          <a:effectLst/>
                        </a:rPr>
                        <a:t>様々な悩みを提示。</a:t>
                      </a:r>
                    </a:p>
                  </a:txBody>
                  <a:tcPr marL="0" marR="0" marT="12700" marB="127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13827207"/>
                  </a:ext>
                </a:extLst>
              </a:tr>
              <a:tr h="21443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ja-JP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ja-JP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ja-JP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ja-JP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ja-JP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dirty="0">
                          <a:effectLst/>
                        </a:rPr>
                        <a:t>Before/After</a:t>
                      </a:r>
                      <a:r>
                        <a:rPr lang="ja-JP" altLang="en-US" sz="800" dirty="0">
                          <a:effectLst/>
                        </a:rPr>
                        <a:t>事例</a:t>
                      </a:r>
                    </a:p>
                  </a:txBody>
                  <a:tcPr marL="0" marR="0" marT="12700" marB="127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5062572"/>
                  </a:ext>
                </a:extLst>
              </a:tr>
              <a:tr h="274806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②</a:t>
                      </a:r>
                    </a:p>
                  </a:txBody>
                  <a:tcPr marL="0" marR="0" marT="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専門店並みの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分間の本格ストレッチ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リバウンドさせないこだわり、理学療法士・医師監修の背景、低価格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空間の視覚的証明：インテリア・ギャラリー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個人指導、プレミアムプランの紹介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ビフォーアフター（実際の顧客の変化と期間・数値）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ja-JP" altLang="en-US" sz="800" dirty="0">
                          <a:effectLst/>
                        </a:rPr>
                        <a:t>ターゲット層の提示： 運動初心者の方が全体の約</a:t>
                      </a:r>
                      <a:r>
                        <a:rPr lang="en-US" altLang="ja-JP" sz="800" dirty="0">
                          <a:effectLst/>
                        </a:rPr>
                        <a:t>8</a:t>
                      </a:r>
                      <a:r>
                        <a:rPr lang="ja-JP" altLang="en-US" sz="800" dirty="0">
                          <a:effectLst/>
                        </a:rPr>
                        <a:t>割</a:t>
                      </a:r>
                    </a:p>
                  </a:txBody>
                  <a:tcPr marL="0" marR="0" marT="12700" marB="127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6031927"/>
                  </a:ext>
                </a:extLst>
              </a:tr>
              <a:tr h="274806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③</a:t>
                      </a:r>
                      <a:endParaRPr lang="en-US" altLang="ja-JP" sz="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食事指導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: 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管理栄養士による無理のない食生活改善サポート。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月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回・月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回プラン、ペアプラン、無期限チケット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指導品質の裏付け：トレーナー・クオリティ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月</a:t>
                      </a:r>
                      <a:r>
                        <a:rPr lang="en-US" altLang="ja-JP" sz="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r>
                        <a:rPr lang="ja-JP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回、月</a:t>
                      </a:r>
                      <a:r>
                        <a:rPr lang="en-US" altLang="ja-JP" sz="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r>
                        <a:rPr lang="ja-JP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回、月</a:t>
                      </a:r>
                      <a:r>
                        <a:rPr lang="en-US" altLang="ja-JP" sz="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lang="ja-JP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回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他社比較表（大手ジムとの総額・サービス差を明示）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ja-JP" altLang="en-US" sz="800" dirty="0">
                          <a:effectLst/>
                        </a:rPr>
                        <a:t>キャンペーン情報と無料体験の内容：</a:t>
                      </a:r>
                    </a:p>
                  </a:txBody>
                  <a:tcPr marL="0" marR="0" marT="12700" marB="127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359113"/>
                  </a:ext>
                </a:extLst>
              </a:tr>
              <a:tr h="274806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④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入会金や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回あたりの料金目安。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実際の利用者の成果とトレーナーのコメント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オーダーメイド・プログラムの解説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無料体験予約ボタン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回数別の月額費用と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回あたりの単価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 dirty="0">
                          <a:effectLst/>
                        </a:rPr>
                        <a:t>「続けられること」を最優先</a:t>
                      </a:r>
                    </a:p>
                  </a:txBody>
                  <a:tcPr marL="0" marR="0" marT="12700" marB="127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7446592"/>
                  </a:ext>
                </a:extLst>
              </a:tr>
              <a:tr h="274806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⑤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プラン契約者がトレーニング以外でも施設を利用できるサービス。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お悩み解決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食事管理とライフスタイル支援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悩みを写真付きで説明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食事指導のこだわり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ja-JP" sz="800" dirty="0">
                          <a:effectLst/>
                        </a:rPr>
                        <a:t>Before/After</a:t>
                      </a:r>
                      <a:r>
                        <a:rPr lang="ja-JP" altLang="en-US" sz="800" dirty="0">
                          <a:effectLst/>
                        </a:rPr>
                        <a:t>事例</a:t>
                      </a:r>
                    </a:p>
                  </a:txBody>
                  <a:tcPr marL="0" marR="0" marT="12700" marB="127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810418"/>
                  </a:ext>
                </a:extLst>
              </a:tr>
              <a:tr h="274806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⑥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在籍するトレーナーや管理栄養士の紹介とメッセージ。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実際に通っている利用者のインタビューや感想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ビフォーアフター：成果の可視化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他ジムとの値段比較表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トレーナー紹介（プロフィールと専門領域）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ja-JP" altLang="en-US" sz="800" dirty="0">
                          <a:effectLst/>
                        </a:rPr>
                        <a:t>あなたに合わせたプログラム</a:t>
                      </a:r>
                    </a:p>
                  </a:txBody>
                  <a:tcPr marL="0" marR="0" marT="12700" marB="127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7384774"/>
                  </a:ext>
                </a:extLst>
              </a:tr>
              <a:tr h="274806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⑦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実際に通っている方の体験談やビフォーアフター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予約、当日、入会のステップ解説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ペア・トレーニングのメリット詳述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様々な体型のユーザーの写真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充実の設備・無料アメニティの紹介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ja-JP" altLang="en-US" sz="800" dirty="0">
                          <a:effectLst/>
                        </a:rPr>
                        <a:t>通いやすい料金プラン：</a:t>
                      </a:r>
                      <a:br>
                        <a:rPr lang="ja-JP" altLang="en-US" sz="800" dirty="0">
                          <a:effectLst/>
                        </a:rPr>
                      </a:br>
                      <a:r>
                        <a:rPr lang="ja-JP" altLang="en-US" sz="800" dirty="0">
                          <a:effectLst/>
                        </a:rPr>
                        <a:t>（すべて月額制・違約金なし）</a:t>
                      </a:r>
                    </a:p>
                  </a:txBody>
                  <a:tcPr marL="19050" marR="19050" marT="12700" marB="127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34297594"/>
                  </a:ext>
                </a:extLst>
              </a:tr>
              <a:tr h="376455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⑧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全国各地にある店舗のアクセス情報。</a:t>
                      </a:r>
                      <a:endParaRPr lang="ja-JP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店舗一覧（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LOCATION）： 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全国各地の店舗検索</a:t>
                      </a:r>
                    </a:p>
                    <a:p>
                      <a:pPr algn="ctr" fontAlgn="t">
                        <a:buNone/>
                      </a:pPr>
                      <a:endParaRPr lang="ja-JP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トレーナー指名制度とランクの仕組み</a:t>
                      </a:r>
                    </a:p>
                    <a:p>
                      <a:pPr algn="ctr" fontAlgn="t">
                        <a:buNone/>
                      </a:pPr>
                      <a:endParaRPr lang="ja-JP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本格的な設備の写真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ユーザーのリアルな口コミ・体験談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800" dirty="0">
                          <a:effectLst/>
                        </a:rPr>
                        <a:t>Before/After</a:t>
                      </a:r>
                      <a:r>
                        <a:rPr lang="ja-JP" altLang="en-US" sz="800" dirty="0">
                          <a:effectLst/>
                        </a:rPr>
                        <a:t>事例</a:t>
                      </a:r>
                    </a:p>
                  </a:txBody>
                  <a:tcPr marL="0" marR="0" marT="12700" marB="127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42861115"/>
                  </a:ext>
                </a:extLst>
              </a:tr>
              <a:tr h="389317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⑨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CV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（コンバージョン）導線としての予約申し込みボタン・フォーム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お知らせ、医療機関提携、法人プラン、コラム、トレーナー募集、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FC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加盟店募集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詳細な料金体系：プラン別の比較</a:t>
                      </a:r>
                    </a:p>
                    <a:p>
                      <a:pPr algn="ctr" fontAlgn="t">
                        <a:buNone/>
                      </a:pPr>
                      <a:endParaRPr lang="ja-JP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専属トレーナーの軽い紹介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無料カウンセリング</a:t>
                      </a:r>
                      <a:r>
                        <a:rPr lang="en-US" altLang="ja-JP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〜</a:t>
                      </a:r>
                      <a:r>
                        <a:rPr lang="ja-JP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入会までの流れ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ja-JP" altLang="en-US" sz="800" dirty="0">
                          <a:effectLst/>
                        </a:rPr>
                        <a:t>よくある質問と回答</a:t>
                      </a:r>
                    </a:p>
                  </a:txBody>
                  <a:tcPr marL="0" marR="0" marT="12700" marB="127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960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447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788</TotalTime>
  <Words>1860</Words>
  <Application>Microsoft Office PowerPoint</Application>
  <PresentationFormat>ワイド画面</PresentationFormat>
  <Paragraphs>305</Paragraphs>
  <Slides>3</Slides>
  <Notes>3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10" baseType="lpstr">
      <vt:lpstr>MS UI Gothic</vt:lpstr>
      <vt:lpstr>ＭＳ ゴシック</vt:lpstr>
      <vt:lpstr>NotoSansJP-Regular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殿村 亮太</dc:creator>
  <cp:lastModifiedBy>殿村 亮太</cp:lastModifiedBy>
  <cp:revision>7</cp:revision>
  <dcterms:created xsi:type="dcterms:W3CDTF">2026-04-26T23:20:24Z</dcterms:created>
  <dcterms:modified xsi:type="dcterms:W3CDTF">2026-04-27T15:56:49Z</dcterms:modified>
</cp:coreProperties>
</file>