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7"/>
  </p:notesMasterIdLst>
  <p:handoutMasterIdLst>
    <p:handoutMasterId r:id="rId8"/>
  </p:handoutMasterIdLst>
  <p:sldIdLst>
    <p:sldId id="3043" r:id="rId13"/>
    <p:sldId id="3039" r:id="rId3"/>
    <p:sldId id="3040" r:id="rId4"/>
    <p:sldId id="3041" r:id="rId5"/>
    <p:sldId id="3042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CV後の接点をLINEに残す｜サンクスLINE誘導とは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CVの完了画面から、LINEの友だち追加へ案内する機能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00" y="3849296"/>
            <a:ext cx="2988000" cy="79740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8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：</a:t>
            </a:r>
            <a:r>
              <a:rPr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100</a:t>
            </a:r>
            <a:r>
              <a:rPr lang="ja-JP" altLang="en-US" sz="4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</a:t>
            </a:r>
            <a:endParaRPr sz="2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8000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60</a:t>
            </a:r>
            <a:r>
              <a:rPr sz="18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000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サンクスLINE誘導の対象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816000"/>
            <a:ext cx="2988000" cy="86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4644000"/>
            <a:ext cx="2988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23999" y="4248000"/>
            <a:ext cx="792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20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誘導可能率 60%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0000" y="4248000"/>
            <a:ext cx="792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56000" y="4428000"/>
            <a:ext cx="18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× 友だち追加率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92000"/>
            <a:ext cx="10608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※誘導可能率・友だち追加率は想定値</a:t>
            </a:r>
          </a:p>
        </p:txBody>
      </p:sp>
      <p:sp>
        <p:nvSpPr>
          <p:cNvPr id="31" name="Pentagon 30"/>
          <p:cNvSpPr/>
          <p:nvPr/>
        </p:nvSpPr>
        <p:spPr>
          <a:xfrm>
            <a:off x="792000" y="1764000"/>
            <a:ext cx="2222400" cy="936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" y="1764000"/>
            <a:ext cx="1898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33" name="Chevron 32"/>
          <p:cNvSpPr/>
          <p:nvPr/>
        </p:nvSpPr>
        <p:spPr>
          <a:xfrm>
            <a:off x="28884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404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35" name="Chevron 34"/>
          <p:cNvSpPr/>
          <p:nvPr/>
        </p:nvSpPr>
        <p:spPr>
          <a:xfrm>
            <a:off x="49848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68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37" name="Chevron 36"/>
          <p:cNvSpPr/>
          <p:nvPr/>
        </p:nvSpPr>
        <p:spPr>
          <a:xfrm>
            <a:off x="70812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2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39" name="Chevron 38"/>
          <p:cNvSpPr/>
          <p:nvPr/>
        </p:nvSpPr>
        <p:spPr>
          <a:xfrm>
            <a:off x="9177600" y="1764000"/>
            <a:ext cx="2222400" cy="936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9600" y="1764000"/>
            <a:ext cx="17544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400" y="2736000"/>
            <a:ext cx="29424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予約・申込・問い合わせ・会員登録など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CVはゴールではなく、売上化のスタート地点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CVで接点が終わると、面談・商談・購入・継続利用につながらない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944000"/>
            <a:ext cx="1655999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7" name="Pentagon 6"/>
          <p:cNvSpPr/>
          <p:nvPr/>
        </p:nvSpPr>
        <p:spPr>
          <a:xfrm>
            <a:off x="2556000" y="19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4000" y="1944000"/>
            <a:ext cx="1981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9" name="Chevron 8"/>
          <p:cNvSpPr/>
          <p:nvPr/>
        </p:nvSpPr>
        <p:spPr>
          <a:xfrm>
            <a:off x="47355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7500" y="19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1" name="Chevron 10"/>
          <p:cNvSpPr/>
          <p:nvPr/>
        </p:nvSpPr>
        <p:spPr>
          <a:xfrm>
            <a:off x="6915000" y="19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7000" y="19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接点終了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3294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3744000"/>
            <a:ext cx="1655999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あり</a:t>
            </a:r>
          </a:p>
        </p:txBody>
      </p:sp>
      <p:sp>
        <p:nvSpPr>
          <p:cNvPr id="15" name="Pentagon 14"/>
          <p:cNvSpPr/>
          <p:nvPr/>
        </p:nvSpPr>
        <p:spPr>
          <a:xfrm>
            <a:off x="2556000" y="3744000"/>
            <a:ext cx="2305500" cy="1080000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4000" y="3744000"/>
            <a:ext cx="1981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サイト・LP</a:t>
            </a:r>
          </a:p>
        </p:txBody>
      </p:sp>
      <p:sp>
        <p:nvSpPr>
          <p:cNvPr id="17" name="Chevron 16"/>
          <p:cNvSpPr/>
          <p:nvPr/>
        </p:nvSpPr>
        <p:spPr>
          <a:xfrm>
            <a:off x="4735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75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Chevron 18"/>
          <p:cNvSpPr/>
          <p:nvPr/>
        </p:nvSpPr>
        <p:spPr>
          <a:xfrm>
            <a:off x="69150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70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Chevron 20"/>
          <p:cNvSpPr/>
          <p:nvPr/>
        </p:nvSpPr>
        <p:spPr>
          <a:xfrm>
            <a:off x="9094500" y="3744000"/>
            <a:ext cx="2305500" cy="1080000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6500" y="3744000"/>
            <a:ext cx="1837500" cy="10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LINE上で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00" y="4896000"/>
            <a:ext cx="23055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その後のご案内・やり取りができる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000" y="6318000"/>
            <a:ext cx="10608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※利用シーンは想定例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LINEヤフー活用事例｜旅行・クリニック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予約後・友だち追加後のLINE配信が、友だち化・予約の増加につながった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175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000" y="1620000"/>
            <a:ext cx="508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旅行（観光バス）</a:t>
            </a:r>
          </a:p>
        </p:txBody>
      </p:sp>
      <p:sp>
        <p:nvSpPr>
          <p:cNvPr id="8" name="Pentagon 7"/>
          <p:cNvSpPr/>
          <p:nvPr/>
        </p:nvSpPr>
        <p:spPr>
          <a:xfrm>
            <a:off x="79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070000"/>
            <a:ext cx="1456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高速バス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</a:p>
        </p:txBody>
      </p:sp>
      <p:sp>
        <p:nvSpPr>
          <p:cNvPr id="10" name="Chevron 9"/>
          <p:cNvSpPr/>
          <p:nvPr/>
        </p:nvSpPr>
        <p:spPr>
          <a:xfrm>
            <a:off x="244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8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乗車前日の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案内をLINEで</a:t>
            </a:r>
          </a:p>
        </p:txBody>
      </p:sp>
      <p:sp>
        <p:nvSpPr>
          <p:cNvPr id="12" name="Chevron 11"/>
          <p:cNvSpPr/>
          <p:nvPr/>
        </p:nvSpPr>
        <p:spPr>
          <a:xfrm>
            <a:off x="410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951999"/>
            <a:ext cx="50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予約番号・便名・乗車場所を、乗車前日の夕方に配信（LINE通知メッセージ）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01999"/>
            <a:ext cx="508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案内を受け取った方の友だち追加率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671999"/>
            <a:ext cx="5088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80000"/>
            <a:ext cx="5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導入から約2か月で、4,398人が友だち追加（2021年10月〜）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予約忘れ・乗車前の問い合わせも減少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5436000"/>
            <a:ext cx="508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導入事例（琴平バス／2022年6月公開・取材先調べ）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000" y="1620000"/>
            <a:ext cx="508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クリニック（皮膚科）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6312000" y="2070000"/>
            <a:ext cx="1780000" cy="827999"/>
          </a:xfrm>
          <a:prstGeom prst="homePlate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0000" y="2070000"/>
            <a:ext cx="1456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22" name="Chevron 21"/>
          <p:cNvSpPr/>
          <p:nvPr/>
        </p:nvSpPr>
        <p:spPr>
          <a:xfrm>
            <a:off x="7966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8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全5通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0000" y="2070000"/>
            <a:ext cx="1780000" cy="827999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2000" y="2070000"/>
            <a:ext cx="1312000" cy="827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000" y="2951999"/>
            <a:ext cx="50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ニキビ・治療法の解説 → 患者の声 → 無料カウンセリングのクーポン、の順に自動配信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000" y="3401999"/>
            <a:ext cx="508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2000" y="3671999"/>
            <a:ext cx="5088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約20%増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2000" y="4680000"/>
            <a:ext cx="5088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友だち追加広告による友だち数の増加も含む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2000" y="5436000"/>
            <a:ext cx="5088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導入事例（アクネクリニック／2022年4月公開・取材先調べ）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6192000"/>
            <a:ext cx="10608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※どちらもサンクスLINE誘導そのものではなく、LINEでつながった後の活用事例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広告で反響を獲得し、LINEで売上・LTVまで最大化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集客からCV後のフォローまで、一気通貫で顧客接点を設計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92000" y="1854000"/>
            <a:ext cx="3960000" cy="50400"/>
          </a:xfrm>
          <a:prstGeom prst="rect">
            <a:avLst/>
          </a:prstGeom>
          <a:solidFill>
            <a:srgbClr val="EE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E78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0000" y="1854000"/>
            <a:ext cx="6372000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0" y="1602000"/>
            <a:ext cx="216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6000" y="1620000"/>
            <a:ext cx="0" cy="3672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92000" y="2448000"/>
            <a:ext cx="2088000" cy="612000"/>
          </a:xfrm>
          <a:prstGeom prst="rect">
            <a:avLst/>
          </a:prstGeom>
          <a:solidFill>
            <a:srgbClr val="EE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広告で反響獲得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060000"/>
            <a:ext cx="2088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240000"/>
            <a:ext cx="2088000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検索広告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SNS広告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その他WEB広告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8000" y="4644000"/>
            <a:ext cx="165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4680000"/>
            <a:ext cx="2088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E7800"/>
                </a:solidFill>
                <a:latin typeface="メイリオ"/>
                <a:ea typeface="メイリオ"/>
                <a:cs typeface="メイリオ"/>
              </a:rPr>
              <a:t>サイト・LPへ集客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8000" y="2448000"/>
            <a:ext cx="1584000" cy="612000"/>
          </a:xfrm>
          <a:prstGeom prst="rect">
            <a:avLst/>
          </a:prstGeom>
          <a:solidFill>
            <a:srgbClr val="FD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EE7800"/>
                </a:solidFill>
                <a:latin typeface="メイリオ"/>
                <a:ea typeface="メイリオ"/>
                <a:cs typeface="メイリオ"/>
              </a:rPr>
              <a:t>CVを獲得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8000" y="3060000"/>
            <a:ext cx="1584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8000" y="3240000"/>
            <a:ext cx="1584000" cy="1655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 など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3150000"/>
            <a:ext cx="1296000" cy="1368000"/>
          </a:xfrm>
          <a:prstGeom prst="roundRect">
            <a:avLst>
              <a:gd name="adj" fmla="val 2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99" y="2448000"/>
            <a:ext cx="2376000" cy="612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3999" y="3060000"/>
            <a:ext cx="2376000" cy="21600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50000" y="3265199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Rounded Rectangular Callout 22"/>
          <p:cNvSpPr/>
          <p:nvPr/>
        </p:nvSpPr>
        <p:spPr>
          <a:xfrm>
            <a:off x="7110000" y="3221999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24" name="Oval 23"/>
          <p:cNvSpPr/>
          <p:nvPr/>
        </p:nvSpPr>
        <p:spPr>
          <a:xfrm>
            <a:off x="6750000" y="3740399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Rounded Rectangular Callout 24"/>
          <p:cNvSpPr/>
          <p:nvPr/>
        </p:nvSpPr>
        <p:spPr>
          <a:xfrm>
            <a:off x="7110000" y="36972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6" name="Oval 25"/>
          <p:cNvSpPr/>
          <p:nvPr/>
        </p:nvSpPr>
        <p:spPr>
          <a:xfrm>
            <a:off x="6750000" y="4215600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7" name="Rounded Rectangular Callout 26"/>
          <p:cNvSpPr/>
          <p:nvPr/>
        </p:nvSpPr>
        <p:spPr>
          <a:xfrm>
            <a:off x="7110000" y="41724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キャンペーン案内</a:t>
            </a:r>
          </a:p>
        </p:txBody>
      </p:sp>
      <p:sp>
        <p:nvSpPr>
          <p:cNvPr id="28" name="Oval 27"/>
          <p:cNvSpPr/>
          <p:nvPr/>
        </p:nvSpPr>
        <p:spPr>
          <a:xfrm>
            <a:off x="6750000" y="4690800"/>
            <a:ext cx="251999" cy="251999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ounded Rectangular Callout 28"/>
          <p:cNvSpPr/>
          <p:nvPr/>
        </p:nvSpPr>
        <p:spPr>
          <a:xfrm>
            <a:off x="7110000" y="4647600"/>
            <a:ext cx="1745999" cy="342000"/>
          </a:xfrm>
          <a:prstGeom prst="wedgeRoundRectCallout">
            <a:avLst>
              <a:gd name="adj1" fmla="val -56000"/>
              <a:gd name="adj2" fmla="val -15000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個別案内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8000" y="2448000"/>
            <a:ext cx="212400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売上・LTV最大化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8000" y="3060000"/>
            <a:ext cx="2124000" cy="216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8000" y="3221999"/>
            <a:ext cx="2124000" cy="180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面談・商談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再購入</a:t>
            </a:r>
          </a:p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継続利用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04000" y="3078000"/>
            <a:ext cx="1692000" cy="0"/>
          </a:xfrm>
          <a:prstGeom prst="line">
            <a:avLst/>
          </a:prstGeom>
          <a:ln w="9525">
            <a:solidFill>
              <a:srgbClr val="5A63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23199" y="3834000"/>
            <a:ext cx="2016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95200" y="3834000"/>
            <a:ext cx="201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79200" y="3834000"/>
            <a:ext cx="201599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3200" y="3834000"/>
            <a:ext cx="2016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000" y="5580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CVをゴールにせず、広告で獲得したユーザーをLINEで育成し、その後の売上までつなげる。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143257</TotalTime>
  <Words>305</Words>
  <Application>Microsoft Office PowerPoint</Application>
  <PresentationFormat>ワイド画面</PresentationFormat>
  <Paragraphs>103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1966</cp:revision>
  <cp:lastPrinted>2022-11-01T11:38:14Z</cp:lastPrinted>
  <dcterms:created xsi:type="dcterms:W3CDTF">2015-09-04T09:21:15Z</dcterms:created>
  <dcterms:modified xsi:type="dcterms:W3CDTF">2026-10-05T09:49:46Z</dcterms:modified>
</cp:coreProperties>
</file>