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7"/>
  </p:notesMasterIdLst>
  <p:handoutMasterIdLst>
    <p:handoutMasterId r:id="rId8"/>
  </p:handoutMasterIdLst>
  <p:sldIdLst>
    <p:sldId id="3043" r:id="rId13"/>
    <p:sldId id="3039" r:id="rId3"/>
    <p:sldId id="3040" r:id="rId4"/>
    <p:sldId id="3041" r:id="rId5"/>
    <p:sldId id="3042" r:id="rId6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450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12192119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7476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37474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12192119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9880719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CV後の接点をLINEに残す｜サンクスLINE誘導とは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CVの完了画面から、LINEの友だち追加へ案内する機能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6000" y="3849296"/>
            <a:ext cx="2988000" cy="79740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lang="en-US" altLang="ja-JP" sz="18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</a:t>
            </a:r>
            <a:r>
              <a:rPr lang="ja-JP" altLang="en-US" sz="18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：</a:t>
            </a:r>
            <a:r>
              <a:rPr sz="42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100</a:t>
            </a:r>
            <a:r>
              <a:rPr lang="ja-JP" altLang="en-US" sz="42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件</a:t>
            </a:r>
            <a:endParaRPr sz="20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608000" y="3816000"/>
            <a:ext cx="2988000" cy="864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2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60</a:t>
            </a:r>
            <a:r>
              <a:rPr sz="18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8000" y="4644000"/>
            <a:ext cx="2988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サンクスLINE誘導の対象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3999" y="3816000"/>
            <a:ext cx="2988000" cy="864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30</a:t>
            </a:r>
            <a:r>
              <a:rPr sz="18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3999" y="4644000"/>
            <a:ext cx="2988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LINE友だち追加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923999" y="4248000"/>
            <a:ext cx="7920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20000" y="4428000"/>
            <a:ext cx="1800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× 誘導可能率 60%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60000" y="4248000"/>
            <a:ext cx="792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056000" y="4428000"/>
            <a:ext cx="1800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× 友だち追加率 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000" y="6192000"/>
            <a:ext cx="10608119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誘導可能率・友だち追加率は想定値</a:t>
            </a:r>
            <a:endParaRPr sz="900" b="0" dirty="0">
              <a:solidFill>
                <a:srgbClr val="7F7F7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Pentagon 30"/>
          <p:cNvSpPr/>
          <p:nvPr/>
        </p:nvSpPr>
        <p:spPr>
          <a:xfrm>
            <a:off x="792000" y="1764000"/>
            <a:ext cx="2222400" cy="936000"/>
          </a:xfrm>
          <a:prstGeom prst="homePlate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0000" y="1764000"/>
            <a:ext cx="1898400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サイト・LP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来訪</a:t>
            </a:r>
          </a:p>
        </p:txBody>
      </p:sp>
      <p:sp>
        <p:nvSpPr>
          <p:cNvPr id="33" name="Chevron 32"/>
          <p:cNvSpPr/>
          <p:nvPr/>
        </p:nvSpPr>
        <p:spPr>
          <a:xfrm>
            <a:off x="2888400" y="1764000"/>
            <a:ext cx="2222400" cy="936000"/>
          </a:xfrm>
          <a:prstGeom prst="chevron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140400" y="1764000"/>
            <a:ext cx="1754400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35" name="Chevron 34"/>
          <p:cNvSpPr/>
          <p:nvPr/>
        </p:nvSpPr>
        <p:spPr>
          <a:xfrm>
            <a:off x="4984800" y="1764000"/>
            <a:ext cx="2222400" cy="936000"/>
          </a:xfrm>
          <a:prstGeom prst="chevron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236800" y="1764000"/>
            <a:ext cx="1754400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</a:t>
            </a:r>
          </a:p>
        </p:txBody>
      </p:sp>
      <p:sp>
        <p:nvSpPr>
          <p:cNvPr id="37" name="Chevron 36"/>
          <p:cNvSpPr/>
          <p:nvPr/>
        </p:nvSpPr>
        <p:spPr>
          <a:xfrm>
            <a:off x="7081200" y="1764000"/>
            <a:ext cx="2222400" cy="936000"/>
          </a:xfrm>
          <a:prstGeom prst="chevron">
            <a:avLst>
              <a:gd name="adj" fmla="val 2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333200" y="1764000"/>
            <a:ext cx="1754400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LINE誘導</a:t>
            </a:r>
          </a:p>
        </p:txBody>
      </p:sp>
      <p:sp>
        <p:nvSpPr>
          <p:cNvPr id="39" name="Chevron 38"/>
          <p:cNvSpPr/>
          <p:nvPr/>
        </p:nvSpPr>
        <p:spPr>
          <a:xfrm>
            <a:off x="9177600" y="1764000"/>
            <a:ext cx="2222400" cy="936000"/>
          </a:xfrm>
          <a:prstGeom prst="chevron">
            <a:avLst>
              <a:gd name="adj" fmla="val 2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429600" y="1764000"/>
            <a:ext cx="1754400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28400" y="2736000"/>
            <a:ext cx="29424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予約・申込・問い合わせ・会員登録など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CVはゴールではなく、売上化のスタート地点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CVで接点が終わると、面談・商談・購入・継続利用につながらない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92000" y="1944000"/>
            <a:ext cx="1655999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なし</a:t>
            </a:r>
          </a:p>
        </p:txBody>
      </p:sp>
      <p:sp>
        <p:nvSpPr>
          <p:cNvPr id="7" name="Pentagon 6"/>
          <p:cNvSpPr/>
          <p:nvPr/>
        </p:nvSpPr>
        <p:spPr>
          <a:xfrm>
            <a:off x="2556000" y="1944000"/>
            <a:ext cx="2305500" cy="1080000"/>
          </a:xfrm>
          <a:prstGeom prst="homePlate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64000" y="1944000"/>
            <a:ext cx="19815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サイト・LP</a:t>
            </a:r>
          </a:p>
        </p:txBody>
      </p:sp>
      <p:sp>
        <p:nvSpPr>
          <p:cNvPr id="9" name="Chevron 8"/>
          <p:cNvSpPr/>
          <p:nvPr/>
        </p:nvSpPr>
        <p:spPr>
          <a:xfrm>
            <a:off x="4735500" y="1944000"/>
            <a:ext cx="2305500" cy="1080000"/>
          </a:xfrm>
          <a:prstGeom prst="chevron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87500" y="1944000"/>
            <a:ext cx="18375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1" name="Chevron 10"/>
          <p:cNvSpPr/>
          <p:nvPr/>
        </p:nvSpPr>
        <p:spPr>
          <a:xfrm>
            <a:off x="6915000" y="1944000"/>
            <a:ext cx="2305500" cy="1080000"/>
          </a:xfrm>
          <a:prstGeom prst="chevron">
            <a:avLst>
              <a:gd name="adj" fmla="val 25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67000" y="1944000"/>
            <a:ext cx="18375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接点終了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92000" y="3294000"/>
            <a:ext cx="10608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2000" y="3744000"/>
            <a:ext cx="1655999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</p:txBody>
      </p:sp>
      <p:sp>
        <p:nvSpPr>
          <p:cNvPr id="15" name="Pentagon 14"/>
          <p:cNvSpPr/>
          <p:nvPr/>
        </p:nvSpPr>
        <p:spPr>
          <a:xfrm>
            <a:off x="2556000" y="3744000"/>
            <a:ext cx="2305500" cy="1080000"/>
          </a:xfrm>
          <a:prstGeom prst="homePlate">
            <a:avLst>
              <a:gd name="adj" fmla="val 2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64000" y="3744000"/>
            <a:ext cx="19815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サイト・LP</a:t>
            </a:r>
          </a:p>
        </p:txBody>
      </p:sp>
      <p:sp>
        <p:nvSpPr>
          <p:cNvPr id="17" name="Chevron 16"/>
          <p:cNvSpPr/>
          <p:nvPr/>
        </p:nvSpPr>
        <p:spPr>
          <a:xfrm>
            <a:off x="4735500" y="3744000"/>
            <a:ext cx="2305500" cy="1080000"/>
          </a:xfrm>
          <a:prstGeom prst="chevron">
            <a:avLst>
              <a:gd name="adj" fmla="val 2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87500" y="3744000"/>
            <a:ext cx="18375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9" name="Chevron 18"/>
          <p:cNvSpPr/>
          <p:nvPr/>
        </p:nvSpPr>
        <p:spPr>
          <a:xfrm>
            <a:off x="6915000" y="3744000"/>
            <a:ext cx="2305500" cy="1080000"/>
          </a:xfrm>
          <a:prstGeom prst="chevron">
            <a:avLst>
              <a:gd name="adj" fmla="val 2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67000" y="3744000"/>
            <a:ext cx="18375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LINE誘導</a:t>
            </a:r>
          </a:p>
        </p:txBody>
      </p:sp>
      <p:sp>
        <p:nvSpPr>
          <p:cNvPr id="21" name="Chevron 20"/>
          <p:cNvSpPr/>
          <p:nvPr/>
        </p:nvSpPr>
        <p:spPr>
          <a:xfrm>
            <a:off x="9094500" y="3744000"/>
            <a:ext cx="2305500" cy="1080000"/>
          </a:xfrm>
          <a:prstGeom prst="chevron">
            <a:avLst>
              <a:gd name="adj" fmla="val 2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46500" y="3744000"/>
            <a:ext cx="18375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LINE上で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継続接点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ターゲット業界別｜サンクスLINE活用イメージ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CVの後にLINEで送る内容は、業界ごとに変わる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96000" y="1728000"/>
            <a:ext cx="0" cy="4500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92000" y="3978000"/>
            <a:ext cx="10608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thanks_scen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168" y="1692000"/>
            <a:ext cx="1771831" cy="2214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92000" y="1782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4000" y="1746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000" y="2322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会員登録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70000" y="2700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2448000" y="2340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21999" y="2700000"/>
            <a:ext cx="83216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2000" y="3221999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3420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前日リマインド／求人紹介／選考のご案内</a:t>
            </a:r>
          </a:p>
        </p:txBody>
      </p:sp>
      <p:pic>
        <p:nvPicPr>
          <p:cNvPr id="17" name="Picture 16" descr="thanks_scen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8168" y="1692000"/>
            <a:ext cx="1771831" cy="221400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6312000" y="1782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4000" y="1746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不動産投資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2000" y="2322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相談予約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90000" y="2700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968000" y="2340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2000" y="2700000"/>
            <a:ext cx="832168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12000" y="3221999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2000" y="3420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面談リマインド／セミナー案内／物件情報</a:t>
            </a:r>
          </a:p>
        </p:txBody>
      </p:sp>
      <p:pic>
        <p:nvPicPr>
          <p:cNvPr id="26" name="Picture 25" descr="thanks_scene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8168" y="4050000"/>
            <a:ext cx="1771831" cy="2214000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792000" y="4140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4000" y="4104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ホビー（toC）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000" y="4680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会員登録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070000" y="5058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448000" y="4698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221999" y="5058000"/>
            <a:ext cx="83216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92000" y="5580000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000" y="5778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限定商品の案内／キャンペーン・クーポン</a:t>
            </a:r>
          </a:p>
        </p:txBody>
      </p:sp>
      <p:pic>
        <p:nvPicPr>
          <p:cNvPr id="35" name="Picture 34" descr="thanks_scene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8168" y="4050000"/>
            <a:ext cx="1771831" cy="2214000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312000" y="4140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44000" y="4104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ハウスメーカー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2000" y="4680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来場予約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590000" y="5058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7968000" y="4698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742000" y="5058000"/>
            <a:ext cx="832168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312000" y="5580000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2000" y="5778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見学会の案内／土地情報／個別相談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LINEヤフー活用事例｜旅行・クリニック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予約後・友だち追加後のLINE配信が、友だち化・予約の増加につながった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96000" y="1728000"/>
            <a:ext cx="0" cy="4175999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92000" y="1620000"/>
            <a:ext cx="5088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旅行（観光バス）</a:t>
            </a:r>
          </a:p>
        </p:txBody>
      </p:sp>
      <p:sp>
        <p:nvSpPr>
          <p:cNvPr id="8" name="Pentagon 7"/>
          <p:cNvSpPr/>
          <p:nvPr/>
        </p:nvSpPr>
        <p:spPr>
          <a:xfrm>
            <a:off x="792000" y="2070000"/>
            <a:ext cx="1780000" cy="827999"/>
          </a:xfrm>
          <a:prstGeom prst="homePlate">
            <a:avLst>
              <a:gd name="adj" fmla="val 2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0000" y="2070000"/>
            <a:ext cx="1456000" cy="82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高速バス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の予約</a:t>
            </a:r>
          </a:p>
        </p:txBody>
      </p:sp>
      <p:sp>
        <p:nvSpPr>
          <p:cNvPr id="10" name="Chevron 9"/>
          <p:cNvSpPr/>
          <p:nvPr/>
        </p:nvSpPr>
        <p:spPr>
          <a:xfrm>
            <a:off x="2446000" y="2070000"/>
            <a:ext cx="1780000" cy="827999"/>
          </a:xfrm>
          <a:prstGeom prst="chevron">
            <a:avLst>
              <a:gd name="adj" fmla="val 2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98000" y="2070000"/>
            <a:ext cx="1312000" cy="82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乗車前日の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案内をLINEで</a:t>
            </a:r>
          </a:p>
        </p:txBody>
      </p:sp>
      <p:sp>
        <p:nvSpPr>
          <p:cNvPr id="12" name="Chevron 11"/>
          <p:cNvSpPr/>
          <p:nvPr/>
        </p:nvSpPr>
        <p:spPr>
          <a:xfrm>
            <a:off x="4100000" y="2070000"/>
            <a:ext cx="1780000" cy="827999"/>
          </a:xfrm>
          <a:prstGeom prst="chevron">
            <a:avLst>
              <a:gd name="adj" fmla="val 2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52000" y="2070000"/>
            <a:ext cx="1312000" cy="82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2951999"/>
            <a:ext cx="5088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予約番号・便名・乗車場所を、乗車前日の夕方に配信（LINE通知メッセージ）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401999"/>
            <a:ext cx="5088000" cy="288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案内を受け取った方の友だち追加率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3671999"/>
            <a:ext cx="5088000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約70%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4680000"/>
            <a:ext cx="5088000" cy="46826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導入から約2か月で、4,398人が友だち追加（2021年10月〜）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予約忘れ・乗車前の問い合わせも減少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92000" y="5436000"/>
            <a:ext cx="508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導入事例（琴平バス／2022年6月公開・取材先調べ）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2000" y="1620000"/>
            <a:ext cx="5088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クリニック（皮膚科）</a:t>
            </a:r>
          </a:p>
        </p:txBody>
      </p:sp>
      <p:sp>
        <p:nvSpPr>
          <p:cNvPr id="20" name="Pentagon 19"/>
          <p:cNvSpPr/>
          <p:nvPr/>
        </p:nvSpPr>
        <p:spPr>
          <a:xfrm>
            <a:off x="6312000" y="2070000"/>
            <a:ext cx="1780000" cy="827999"/>
          </a:xfrm>
          <a:prstGeom prst="homePlate">
            <a:avLst>
              <a:gd name="adj" fmla="val 2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20000" y="2070000"/>
            <a:ext cx="1456000" cy="82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sp>
        <p:nvSpPr>
          <p:cNvPr id="22" name="Chevron 21"/>
          <p:cNvSpPr/>
          <p:nvPr/>
        </p:nvSpPr>
        <p:spPr>
          <a:xfrm>
            <a:off x="7966000" y="2070000"/>
            <a:ext cx="1780000" cy="827999"/>
          </a:xfrm>
          <a:prstGeom prst="chevron">
            <a:avLst>
              <a:gd name="adj" fmla="val 2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18000" y="2070000"/>
            <a:ext cx="1312000" cy="82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全5通</a:t>
            </a:r>
          </a:p>
        </p:txBody>
      </p:sp>
      <p:sp>
        <p:nvSpPr>
          <p:cNvPr id="24" name="Chevron 23"/>
          <p:cNvSpPr/>
          <p:nvPr/>
        </p:nvSpPr>
        <p:spPr>
          <a:xfrm>
            <a:off x="9620000" y="2070000"/>
            <a:ext cx="1780000" cy="827999"/>
          </a:xfrm>
          <a:prstGeom prst="chevron">
            <a:avLst>
              <a:gd name="adj" fmla="val 2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72000" y="2070000"/>
            <a:ext cx="1312000" cy="82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2000" y="2951999"/>
            <a:ext cx="5088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ニキビ・治療法の解説 → 患者の声 → 無料カウンセリングのクーポン、の順に自動配信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2000" y="3401999"/>
            <a:ext cx="5088000" cy="288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LINE経由の予約数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2000" y="3671999"/>
            <a:ext cx="5088000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約20%増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2000" y="4680000"/>
            <a:ext cx="5088000" cy="46826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ステップ配信の実施前との比較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友だち追加広告による友だち数の増加も含む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312000" y="5436000"/>
            <a:ext cx="508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導入事例（アクネクリニック／2022年4月公開・取材先調べ）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広告で反響を獲得し、LINEで売上・LTVまで最大化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集客からCV後のフォローまで、一気通貫で顧客接点を設計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92000" y="1854000"/>
            <a:ext cx="3960000" cy="50400"/>
          </a:xfrm>
          <a:prstGeom prst="rect">
            <a:avLst/>
          </a:prstGeom>
          <a:solidFill>
            <a:srgbClr val="F59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602000"/>
            <a:ext cx="2160000" cy="251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59B21"/>
                </a:solidFill>
                <a:latin typeface="メイリオ"/>
                <a:ea typeface="メイリオ"/>
                <a:cs typeface="メイリオ"/>
              </a:rPr>
              <a:t>AD領域</a:t>
            </a:r>
          </a:p>
        </p:txBody>
      </p:sp>
      <p:sp>
        <p:nvSpPr>
          <p:cNvPr id="8" name="Rectangle 7"/>
          <p:cNvSpPr/>
          <p:nvPr/>
        </p:nvSpPr>
        <p:spPr>
          <a:xfrm>
            <a:off x="5040000" y="1854000"/>
            <a:ext cx="6372000" cy="504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40000" y="1602000"/>
            <a:ext cx="2160000" cy="251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LINE領域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96000" y="1620000"/>
            <a:ext cx="0" cy="3672000"/>
          </a:xfrm>
          <a:prstGeom prst="line">
            <a:avLst/>
          </a:prstGeom>
          <a:ln w="15875">
            <a:solidFill>
              <a:srgbClr val="D9D9D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92000" y="2448000"/>
            <a:ext cx="2088000" cy="612000"/>
          </a:xfrm>
          <a:prstGeom prst="rect">
            <a:avLst/>
          </a:prstGeom>
          <a:solidFill>
            <a:srgbClr val="F59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広告で反響獲得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060000"/>
            <a:ext cx="2088000" cy="21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B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3240000"/>
            <a:ext cx="2088000" cy="12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検索広告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SNS広告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その他WEB広告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08000" y="4644000"/>
            <a:ext cx="1656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2000" y="4680000"/>
            <a:ext cx="2088000" cy="468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59B21"/>
                </a:solidFill>
                <a:latin typeface="メイリオ"/>
                <a:ea typeface="メイリオ"/>
                <a:cs typeface="メイリオ"/>
              </a:rPr>
              <a:t>サイト・LPへ集客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68000" y="2448000"/>
            <a:ext cx="1584000" cy="612000"/>
          </a:xfrm>
          <a:prstGeom prst="rect">
            <a:avLst/>
          </a:prstGeom>
          <a:solidFill>
            <a:srgbClr val="FEF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59B21"/>
                </a:solidFill>
                <a:latin typeface="メイリオ"/>
                <a:ea typeface="メイリオ"/>
                <a:cs typeface="メイリオ"/>
              </a:rPr>
              <a:t>CVを獲得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68000" y="3060000"/>
            <a:ext cx="1584000" cy="21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B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68000" y="3240000"/>
            <a:ext cx="1584000" cy="165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</a:t>
            </a:r>
          </a:p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問い合わせ</a:t>
            </a:r>
          </a:p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購入</a:t>
            </a:r>
          </a:p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 など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0000" y="3150000"/>
            <a:ext cx="1296000" cy="1368000"/>
          </a:xfrm>
          <a:prstGeom prst="roundRect">
            <a:avLst>
              <a:gd name="adj" fmla="val 2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LINE誘導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3999" y="2448000"/>
            <a:ext cx="2376000" cy="612000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LINEでナーチャリング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3999" y="3060000"/>
            <a:ext cx="2376000" cy="21600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50000" y="3265199"/>
            <a:ext cx="251999" cy="251999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3" name="Rounded Rectangular Callout 22"/>
          <p:cNvSpPr/>
          <p:nvPr/>
        </p:nvSpPr>
        <p:spPr>
          <a:xfrm>
            <a:off x="7110000" y="3221999"/>
            <a:ext cx="1745999" cy="342000"/>
          </a:xfrm>
          <a:prstGeom prst="wedgeRoundRectCallout">
            <a:avLst>
              <a:gd name="adj1" fmla="val -56000"/>
              <a:gd name="adj2" fmla="val -15000"/>
              <a:gd name="adj3" fmla="val 1666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リマインド</a:t>
            </a:r>
          </a:p>
        </p:txBody>
      </p:sp>
      <p:sp>
        <p:nvSpPr>
          <p:cNvPr id="24" name="Oval 23"/>
          <p:cNvSpPr/>
          <p:nvPr/>
        </p:nvSpPr>
        <p:spPr>
          <a:xfrm>
            <a:off x="6750000" y="3740399"/>
            <a:ext cx="251999" cy="251999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5" name="Rounded Rectangular Callout 24"/>
          <p:cNvSpPr/>
          <p:nvPr/>
        </p:nvSpPr>
        <p:spPr>
          <a:xfrm>
            <a:off x="7110000" y="3697200"/>
            <a:ext cx="1745999" cy="342000"/>
          </a:xfrm>
          <a:prstGeom prst="wedgeRoundRectCallout">
            <a:avLst>
              <a:gd name="adj1" fmla="val -56000"/>
              <a:gd name="adj2" fmla="val -15000"/>
              <a:gd name="adj3" fmla="val 1666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情報提供</a:t>
            </a:r>
          </a:p>
        </p:txBody>
      </p:sp>
      <p:sp>
        <p:nvSpPr>
          <p:cNvPr id="26" name="Oval 25"/>
          <p:cNvSpPr/>
          <p:nvPr/>
        </p:nvSpPr>
        <p:spPr>
          <a:xfrm>
            <a:off x="6750000" y="4215600"/>
            <a:ext cx="251999" cy="251999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7" name="Rounded Rectangular Callout 26"/>
          <p:cNvSpPr/>
          <p:nvPr/>
        </p:nvSpPr>
        <p:spPr>
          <a:xfrm>
            <a:off x="7110000" y="4172400"/>
            <a:ext cx="1745999" cy="342000"/>
          </a:xfrm>
          <a:prstGeom prst="wedgeRoundRectCallout">
            <a:avLst>
              <a:gd name="adj1" fmla="val -56000"/>
              <a:gd name="adj2" fmla="val -15000"/>
              <a:gd name="adj3" fmla="val 1666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キャンペーン案内</a:t>
            </a:r>
          </a:p>
        </p:txBody>
      </p:sp>
      <p:sp>
        <p:nvSpPr>
          <p:cNvPr id="28" name="Oval 27"/>
          <p:cNvSpPr/>
          <p:nvPr/>
        </p:nvSpPr>
        <p:spPr>
          <a:xfrm>
            <a:off x="6750000" y="4690800"/>
            <a:ext cx="251999" cy="251999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9" name="Rounded Rectangular Callout 28"/>
          <p:cNvSpPr/>
          <p:nvPr/>
        </p:nvSpPr>
        <p:spPr>
          <a:xfrm>
            <a:off x="7110000" y="4647600"/>
            <a:ext cx="1745999" cy="342000"/>
          </a:xfrm>
          <a:prstGeom prst="wedgeRoundRectCallout">
            <a:avLst>
              <a:gd name="adj1" fmla="val -56000"/>
              <a:gd name="adj2" fmla="val -15000"/>
              <a:gd name="adj3" fmla="val 1666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個別案内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88000" y="2448000"/>
            <a:ext cx="2124000" cy="61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売上・LTV最大化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88000" y="3060000"/>
            <a:ext cx="2124000" cy="216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88000" y="3221999"/>
            <a:ext cx="2124000" cy="180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面談・商談</a:t>
            </a:r>
          </a:p>
          <a:p>
            <a:pPr algn="ctr">
              <a:lnSpc>
                <a:spcPct val="110000"/>
              </a:lnSpc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</a:t>
            </a:r>
          </a:p>
          <a:p>
            <a:pPr algn="ctr">
              <a:lnSpc>
                <a:spcPct val="110000"/>
              </a:lnSpc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再購入</a:t>
            </a:r>
          </a:p>
          <a:p>
            <a:pPr algn="ctr">
              <a:lnSpc>
                <a:spcPct val="110000"/>
              </a:lnSpc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継続利用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504000" y="3078000"/>
            <a:ext cx="1692000" cy="0"/>
          </a:xfrm>
          <a:prstGeom prst="line">
            <a:avLst/>
          </a:prstGeom>
          <a:ln w="9525">
            <a:solidFill>
              <a:srgbClr val="5A63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923199" y="3834000"/>
            <a:ext cx="2016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795200" y="3834000"/>
            <a:ext cx="201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379200" y="3834000"/>
            <a:ext cx="201599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043200" y="3834000"/>
            <a:ext cx="201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92000" y="5580000"/>
            <a:ext cx="10620000" cy="503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CVをゴールにせず、広告で獲得したユーザーをLINEで育成し、その後の売上までつなげる。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143260</TotalTime>
  <Words>272</Words>
  <Application>Microsoft Office PowerPoint</Application>
  <PresentationFormat>ワイド画面</PresentationFormat>
  <Paragraphs>91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</vt:i4>
      </vt:variant>
    </vt:vector>
  </HeadingPairs>
  <TitlesOfParts>
    <vt:vector size="10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1967</cp:revision>
  <cp:lastPrinted>2022-11-01T11:38:14Z</cp:lastPrinted>
  <dcterms:created xsi:type="dcterms:W3CDTF">2015-09-04T09:21:15Z</dcterms:created>
  <dcterms:modified xsi:type="dcterms:W3CDTF">2026-10-05T23:34:21Z</dcterms:modified>
</cp:coreProperties>
</file>