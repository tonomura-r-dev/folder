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8"/>
  </p:notesMasterIdLst>
  <p:handoutMasterIdLst>
    <p:handoutMasterId r:id="rId29"/>
  </p:handoutMasterIdLst>
  <p:sldIdLst>
    <p:sldId id="2363" r:id="rId3"/>
    <p:sldId id="2721" r:id="rId4"/>
    <p:sldId id="3012" r:id="rId34"/>
    <p:sldId id="2971" r:id="rId5"/>
    <p:sldId id="2972" r:id="rId6"/>
    <p:sldId id="2904" r:id="rId7"/>
    <p:sldId id="3007" r:id="rId8"/>
    <p:sldId id="2987" r:id="rId9"/>
    <p:sldId id="2999" r:id="rId10"/>
    <p:sldId id="3013" r:id="rId35"/>
    <p:sldId id="2997" r:id="rId11"/>
    <p:sldId id="2996" r:id="rId12"/>
    <p:sldId id="2973" r:id="rId13"/>
    <p:sldId id="3014" r:id="rId36"/>
    <p:sldId id="3008" r:id="rId14"/>
    <p:sldId id="3018" r:id="rId40"/>
    <p:sldId id="3019" r:id="rId41"/>
    <p:sldId id="3020" r:id="rId42"/>
    <p:sldId id="3009" r:id="rId15"/>
    <p:sldId id="3010" r:id="rId16"/>
    <p:sldId id="3011" r:id="rId17"/>
    <p:sldId id="3015" r:id="rId37"/>
    <p:sldId id="2968" r:id="rId18"/>
    <p:sldId id="2908" r:id="rId19"/>
    <p:sldId id="2990" r:id="rId20"/>
    <p:sldId id="3016" r:id="rId38"/>
    <p:sldId id="2986" r:id="rId21"/>
    <p:sldId id="2991" r:id="rId22"/>
    <p:sldId id="3017" r:id="rId39"/>
    <p:sldId id="2989" r:id="rId23"/>
    <p:sldId id="2563" r:id="rId24"/>
    <p:sldId id="2959" r:id="rId25"/>
    <p:sldId id="2995" r:id="rId26"/>
    <p:sldId id="1169" r:id="rId2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36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5.xml"/><Relationship Id="rId15" Type="http://schemas.openxmlformats.org/officeDocument/2006/relationships/slide" Target="slides/slide19.xml"/><Relationship Id="rId16" Type="http://schemas.openxmlformats.org/officeDocument/2006/relationships/slide" Target="slides/slide20.xml"/><Relationship Id="rId17" Type="http://schemas.openxmlformats.org/officeDocument/2006/relationships/slide" Target="slides/slide21.xml"/><Relationship Id="rId18" Type="http://schemas.openxmlformats.org/officeDocument/2006/relationships/slide" Target="slides/slide23.xml"/><Relationship Id="rId19" Type="http://schemas.openxmlformats.org/officeDocument/2006/relationships/slide" Target="slides/slide24.xml"/><Relationship Id="rId20" Type="http://schemas.openxmlformats.org/officeDocument/2006/relationships/slide" Target="slides/slide25.xml"/><Relationship Id="rId21" Type="http://schemas.openxmlformats.org/officeDocument/2006/relationships/slide" Target="slides/slide27.xml"/><Relationship Id="rId22" Type="http://schemas.openxmlformats.org/officeDocument/2006/relationships/slide" Target="slides/slide28.xml"/><Relationship Id="rId23" Type="http://schemas.openxmlformats.org/officeDocument/2006/relationships/slide" Target="slides/slide30.xml"/><Relationship Id="rId24" Type="http://schemas.openxmlformats.org/officeDocument/2006/relationships/slide" Target="slides/slide31.xml"/><Relationship Id="rId25" Type="http://schemas.openxmlformats.org/officeDocument/2006/relationships/slide" Target="slides/slide32.xml"/><Relationship Id="rId26" Type="http://schemas.openxmlformats.org/officeDocument/2006/relationships/slide" Target="slides/slide33.xml"/><Relationship Id="rId27" Type="http://schemas.openxmlformats.org/officeDocument/2006/relationships/slide" Target="slides/slide34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3.xml"/><Relationship Id="rId35" Type="http://schemas.openxmlformats.org/officeDocument/2006/relationships/slide" Target="slides/slide10.xml"/><Relationship Id="rId36" Type="http://schemas.openxmlformats.org/officeDocument/2006/relationships/slide" Target="slides/slide14.xml"/><Relationship Id="rId37" Type="http://schemas.openxmlformats.org/officeDocument/2006/relationships/slide" Target="slides/slide22.xml"/><Relationship Id="rId38" Type="http://schemas.openxmlformats.org/officeDocument/2006/relationships/slide" Target="slides/slide26.xml"/><Relationship Id="rId39" Type="http://schemas.openxmlformats.org/officeDocument/2006/relationships/slide" Target="slides/slide29.xml"/><Relationship Id="rId40" Type="http://schemas.openxmlformats.org/officeDocument/2006/relationships/slide" Target="slides/slide16.xml"/><Relationship Id="rId41" Type="http://schemas.openxmlformats.org/officeDocument/2006/relationships/slide" Target="slides/slide17.xml"/><Relationship Id="rId42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80EF-6C8C-B780-9BB3-1B075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AB9840-7942-E115-501A-18129D77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A1841C-729C-28E2-58FF-5212B2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7DBBA-098F-116B-BB87-D1F9D32E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81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432E-C2C6-89CF-C006-DD360C6C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7CA1C0-54B2-C273-9EFA-4A233AA33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AE94C-3A31-DE43-5CF3-F8B06624D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184BA-3FBD-5E23-D138-23E1190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8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9F94-460F-5A9A-D53E-BD9AF25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80BBC6-A0FB-42D9-3A8A-800D9E47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DCB781-2099-65DC-EA96-CC82763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154FB-F3CF-6922-2040-70A35BD97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9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DFB9-1A0E-AC56-86AB-C554ECA5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E74640-8F62-6E74-5A21-E69A7415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66DD76-369D-9DB0-5CDC-B936C94E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7A0C4-A336-4C2C-E97A-0E6D7798D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4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AC78-50A4-F913-B3AF-274D3224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EBEBB5-128F-0CAF-8FD7-D219209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E3D02-55AC-2638-9F09-898F0C8E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1B9F10-F34C-A78C-BAAF-5494CD58A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53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00FA-BE78-95FE-0350-A4F0396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C15E1A-F54C-3203-065A-E98A027A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E28B8-9549-F5B4-6969-5885B85C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20ED0-F80D-F8F8-F1CB-2D28DC68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95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25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e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emf"/><Relationship Id="rId4" Type="http://schemas.openxmlformats.org/officeDocument/2006/relationships/image" Target="../media/image23.jpeg"/><Relationship Id="rId5" Type="http://schemas.openxmlformats.org/officeDocument/2006/relationships/image" Target="../media/image24.jpeg"/><Relationship Id="rId6" Type="http://schemas.openxmlformats.org/officeDocument/2006/relationships/image" Target="../media/image25.jpeg"/><Relationship Id="rId7" Type="http://schemas.openxmlformats.org/officeDocument/2006/relationships/image" Target="../media/image26.jpeg"/><Relationship Id="rId8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―LINEの初期構築と、サイトリニューアルでの連携のご提案―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B889E1EF-F184-F7BC-2DF2-9E964190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57" descr="文字と写真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BC098C34-07FA-B015-C970-B8433D9E8B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6" t="3967" r="34188" b="52442"/>
          <a:stretch>
            <a:fillRect/>
          </a:stretch>
        </p:blipFill>
        <p:spPr>
          <a:xfrm>
            <a:off x="489022" y="5068469"/>
            <a:ext cx="2046003" cy="1464812"/>
          </a:xfrm>
          <a:prstGeom prst="rect">
            <a:avLst/>
          </a:prstGeom>
        </p:spPr>
      </p:pic>
      <p:sp>
        <p:nvSpPr>
          <p:cNvPr id="4" name="正方形/長方形 32">
            <a:extLst>
              <a:ext uri="{FF2B5EF4-FFF2-40B4-BE49-F238E27FC236}">
                <a16:creationId xmlns:a16="http://schemas.microsoft.com/office/drawing/2014/main" id="{1E52F929-5FD7-9413-24A8-2725B04E4908}"/>
              </a:ext>
            </a:extLst>
          </p:cNvPr>
          <p:cNvSpPr/>
          <p:nvPr/>
        </p:nvSpPr>
        <p:spPr>
          <a:xfrm>
            <a:off x="388723" y="1082314"/>
            <a:ext cx="9129600" cy="1005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11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月、株式会社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ヤフー社が主催する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”LINE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Partner Award 2025” 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に株式会社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が参加。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弊社は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公式アカウントによるビジネス拡大に最も貢献したとして、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en-US" altLang="ja-JP" sz="7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を受賞。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月現在、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公式アカウントの取扱社数は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社以上、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400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アカウント以上まで拡大しており関連サービスも展開中。</a:t>
            </a:r>
            <a:endParaRPr lang="en-US" altLang="ja-JP" sz="12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r"/>
            <a:r>
              <a:rPr lang="en-US" altLang="ja-JP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 LINE</a:t>
            </a:r>
            <a:r>
              <a:rPr lang="ja-JP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公式アカウントを活用し、ビジネス拡大に最も貢献したパートナーに贈られる賞です。</a:t>
            </a:r>
            <a:endParaRPr lang="en-US" altLang="ja-JP" sz="9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5" name="Google Shape;752;p28">
            <a:extLst>
              <a:ext uri="{FF2B5EF4-FFF2-40B4-BE49-F238E27FC236}">
                <a16:creationId xmlns:a16="http://schemas.microsoft.com/office/drawing/2014/main" id="{C34101C7-CA6C-6ED6-33D4-C2B82BDA547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弊社実績</a:t>
            </a:r>
            <a:endParaRPr lang="ja-JP" altLang="en-US" sz="1600" b="1" dirty="0">
              <a:solidFill>
                <a:srgbClr val="323366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sp>
        <p:nvSpPr>
          <p:cNvPr id="6" name="正方形/長方形 48">
            <a:extLst>
              <a:ext uri="{FF2B5EF4-FFF2-40B4-BE49-F238E27FC236}">
                <a16:creationId xmlns:a16="http://schemas.microsoft.com/office/drawing/2014/main" id="{9685C0AB-6B7A-94C5-EFA8-756E59EE714E}"/>
              </a:ext>
            </a:extLst>
          </p:cNvPr>
          <p:cNvSpPr/>
          <p:nvPr/>
        </p:nvSpPr>
        <p:spPr>
          <a:xfrm>
            <a:off x="388723" y="2116303"/>
            <a:ext cx="9128554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弊社受賞遍歴 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Since.2024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年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5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月～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18B78559-32E9-7E98-9E42-625866BF0637}"/>
              </a:ext>
            </a:extLst>
          </p:cNvPr>
          <p:cNvSpPr txBox="1">
            <a:spLocks/>
          </p:cNvSpPr>
          <p:nvPr/>
        </p:nvSpPr>
        <p:spPr>
          <a:xfrm>
            <a:off x="4741655" y="135388"/>
            <a:ext cx="3604551" cy="35614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marL="539750" lvl="0" indent="-53975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【</a:t>
            </a:r>
            <a:r>
              <a:rPr lang="ja-JP" altLang="en-US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参考情報</a:t>
            </a: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】</a:t>
            </a:r>
          </a:p>
          <a:p>
            <a:pPr marL="88900" lvl="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https://prtimes.jp/main/html/rd/p/000000412.000027235.html</a:t>
            </a:r>
            <a:endParaRPr lang="en-US" altLang="ja-JP" sz="1100" dirty="0">
              <a:solidFill>
                <a:srgbClr val="000000">
                  <a:lumMod val="95000"/>
                  <a:lumOff val="5000"/>
                </a:srgbClr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44">
            <a:extLst>
              <a:ext uri="{FF2B5EF4-FFF2-40B4-BE49-F238E27FC236}">
                <a16:creationId xmlns:a16="http://schemas.microsoft.com/office/drawing/2014/main" id="{02177995-9B5C-9C4B-3202-5DD03969179E}"/>
              </a:ext>
            </a:extLst>
          </p:cNvPr>
          <p:cNvSpPr/>
          <p:nvPr/>
        </p:nvSpPr>
        <p:spPr>
          <a:xfrm>
            <a:off x="495424" y="4784484"/>
            <a:ext cx="3561143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最上位となる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Sales Partner Premier</a:t>
            </a:r>
          </a:p>
        </p:txBody>
      </p:sp>
      <p:sp>
        <p:nvSpPr>
          <p:cNvPr id="9" name="正方形/長方形 54">
            <a:extLst>
              <a:ext uri="{FF2B5EF4-FFF2-40B4-BE49-F238E27FC236}">
                <a16:creationId xmlns:a16="http://schemas.microsoft.com/office/drawing/2014/main" id="{0E12B4F2-0482-55A4-443A-115FC30E22E8}"/>
              </a:ext>
            </a:extLst>
          </p:cNvPr>
          <p:cNvSpPr/>
          <p:nvPr/>
        </p:nvSpPr>
        <p:spPr>
          <a:xfrm>
            <a:off x="4362995" y="4784484"/>
            <a:ext cx="5165666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>
                <a:srgbClr val="002060"/>
              </a:buClr>
              <a:buSzPts val="1600"/>
            </a:pP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 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の受賞を受ける</a:t>
            </a:r>
            <a:endParaRPr lang="en-US" altLang="ja-JP" sz="12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cxnSp>
        <p:nvCxnSpPr>
          <p:cNvPr id="10" name="直線コネクタ 2081">
            <a:extLst>
              <a:ext uri="{FF2B5EF4-FFF2-40B4-BE49-F238E27FC236}">
                <a16:creationId xmlns:a16="http://schemas.microsoft.com/office/drawing/2014/main" id="{530411FF-29F9-73B2-C470-CBF0BA20AC73}"/>
              </a:ext>
            </a:extLst>
          </p:cNvPr>
          <p:cNvCxnSpPr>
            <a:cxnSpLocks/>
          </p:cNvCxnSpPr>
          <p:nvPr/>
        </p:nvCxnSpPr>
        <p:spPr>
          <a:xfrm>
            <a:off x="3212877" y="2980676"/>
            <a:ext cx="6240687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2084">
            <a:extLst>
              <a:ext uri="{FF2B5EF4-FFF2-40B4-BE49-F238E27FC236}">
                <a16:creationId xmlns:a16="http://schemas.microsoft.com/office/drawing/2014/main" id="{D7948E6E-45A1-2B8A-2983-5CE3031B129A}"/>
              </a:ext>
            </a:extLst>
          </p:cNvPr>
          <p:cNvCxnSpPr>
            <a:cxnSpLocks/>
          </p:cNvCxnSpPr>
          <p:nvPr/>
        </p:nvCxnSpPr>
        <p:spPr>
          <a:xfrm>
            <a:off x="412752" y="3985954"/>
            <a:ext cx="5253034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結合子 2085">
            <a:extLst>
              <a:ext uri="{FF2B5EF4-FFF2-40B4-BE49-F238E27FC236}">
                <a16:creationId xmlns:a16="http://schemas.microsoft.com/office/drawing/2014/main" id="{19617C5C-724A-7FCE-22E5-5B2ECC96F048}"/>
              </a:ext>
            </a:extLst>
          </p:cNvPr>
          <p:cNvSpPr/>
          <p:nvPr/>
        </p:nvSpPr>
        <p:spPr>
          <a:xfrm>
            <a:off x="3076995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フローチャート: 結合子 2086">
            <a:extLst>
              <a:ext uri="{FF2B5EF4-FFF2-40B4-BE49-F238E27FC236}">
                <a16:creationId xmlns:a16="http://schemas.microsoft.com/office/drawing/2014/main" id="{C7AB064F-FD75-D23A-C3F2-7F831805457C}"/>
              </a:ext>
            </a:extLst>
          </p:cNvPr>
          <p:cNvSpPr/>
          <p:nvPr/>
        </p:nvSpPr>
        <p:spPr>
          <a:xfrm>
            <a:off x="970449" y="3759595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フローチャート: 結合子 2088">
            <a:extLst>
              <a:ext uri="{FF2B5EF4-FFF2-40B4-BE49-F238E27FC236}">
                <a16:creationId xmlns:a16="http://schemas.microsoft.com/office/drawing/2014/main" id="{CE0B51F4-2695-E1D7-F353-BA60386FABE4}"/>
              </a:ext>
            </a:extLst>
          </p:cNvPr>
          <p:cNvSpPr/>
          <p:nvPr/>
        </p:nvSpPr>
        <p:spPr>
          <a:xfrm>
            <a:off x="7801859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フローチャート: 結合子 2089">
            <a:extLst>
              <a:ext uri="{FF2B5EF4-FFF2-40B4-BE49-F238E27FC236}">
                <a16:creationId xmlns:a16="http://schemas.microsoft.com/office/drawing/2014/main" id="{6F2861A8-2376-2999-4214-6F268B03A3E1}"/>
              </a:ext>
            </a:extLst>
          </p:cNvPr>
          <p:cNvSpPr/>
          <p:nvPr/>
        </p:nvSpPr>
        <p:spPr>
          <a:xfrm>
            <a:off x="5439427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フローチャート: 結合子 2091">
            <a:extLst>
              <a:ext uri="{FF2B5EF4-FFF2-40B4-BE49-F238E27FC236}">
                <a16:creationId xmlns:a16="http://schemas.microsoft.com/office/drawing/2014/main" id="{11455BE0-024C-CCCF-549A-5895CCF6FCA5}"/>
              </a:ext>
            </a:extLst>
          </p:cNvPr>
          <p:cNvSpPr/>
          <p:nvPr/>
        </p:nvSpPr>
        <p:spPr>
          <a:xfrm>
            <a:off x="5454960" y="3739586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フローチャート: 結合子 2092">
            <a:extLst>
              <a:ext uri="{FF2B5EF4-FFF2-40B4-BE49-F238E27FC236}">
                <a16:creationId xmlns:a16="http://schemas.microsoft.com/office/drawing/2014/main" id="{6A2B7AEE-64D5-5687-4D90-BFEBFB87978F}"/>
              </a:ext>
            </a:extLst>
          </p:cNvPr>
          <p:cNvSpPr/>
          <p:nvPr/>
        </p:nvSpPr>
        <p:spPr>
          <a:xfrm>
            <a:off x="3076995" y="3776603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テキスト ボックス 2093">
            <a:extLst>
              <a:ext uri="{FF2B5EF4-FFF2-40B4-BE49-F238E27FC236}">
                <a16:creationId xmlns:a16="http://schemas.microsoft.com/office/drawing/2014/main" id="{F181EC8C-1DAE-5AF7-1C4D-4C86090B08E7}"/>
              </a:ext>
            </a:extLst>
          </p:cNvPr>
          <p:cNvSpPr txBox="1"/>
          <p:nvPr/>
        </p:nvSpPr>
        <p:spPr>
          <a:xfrm>
            <a:off x="2824561" y="2498440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19" name="テキスト ボックス 2094">
            <a:extLst>
              <a:ext uri="{FF2B5EF4-FFF2-40B4-BE49-F238E27FC236}">
                <a16:creationId xmlns:a16="http://schemas.microsoft.com/office/drawing/2014/main" id="{E9F47648-05F6-7064-8968-91D3649440CE}"/>
              </a:ext>
            </a:extLst>
          </p:cNvPr>
          <p:cNvSpPr txBox="1"/>
          <p:nvPr/>
        </p:nvSpPr>
        <p:spPr>
          <a:xfrm>
            <a:off x="5232177" y="2496209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0" name="テキスト ボックス 2095">
            <a:extLst>
              <a:ext uri="{FF2B5EF4-FFF2-40B4-BE49-F238E27FC236}">
                <a16:creationId xmlns:a16="http://schemas.microsoft.com/office/drawing/2014/main" id="{2C8EEABD-6A90-AA4E-FBA6-2819EBF654DE}"/>
              </a:ext>
            </a:extLst>
          </p:cNvPr>
          <p:cNvSpPr txBox="1"/>
          <p:nvPr/>
        </p:nvSpPr>
        <p:spPr>
          <a:xfrm>
            <a:off x="7623567" y="2492162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1" name="テキスト ボックス 2097">
            <a:extLst>
              <a:ext uri="{FF2B5EF4-FFF2-40B4-BE49-F238E27FC236}">
                <a16:creationId xmlns:a16="http://schemas.microsoft.com/office/drawing/2014/main" id="{CE12257A-0E7E-B895-AF8E-D15F7AA1D62A}"/>
              </a:ext>
            </a:extLst>
          </p:cNvPr>
          <p:cNvSpPr txBox="1"/>
          <p:nvPr/>
        </p:nvSpPr>
        <p:spPr>
          <a:xfrm>
            <a:off x="2895696" y="3511221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2" name="テキスト ボックス 2098">
            <a:extLst>
              <a:ext uri="{FF2B5EF4-FFF2-40B4-BE49-F238E27FC236}">
                <a16:creationId xmlns:a16="http://schemas.microsoft.com/office/drawing/2014/main" id="{82EEA8C2-D18D-B5B9-3D3F-C9BE318BD901}"/>
              </a:ext>
            </a:extLst>
          </p:cNvPr>
          <p:cNvSpPr txBox="1"/>
          <p:nvPr/>
        </p:nvSpPr>
        <p:spPr>
          <a:xfrm>
            <a:off x="589609" y="3475317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8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3" name="テキスト ボックス 2100">
            <a:extLst>
              <a:ext uri="{FF2B5EF4-FFF2-40B4-BE49-F238E27FC236}">
                <a16:creationId xmlns:a16="http://schemas.microsoft.com/office/drawing/2014/main" id="{E6D4C90C-BD24-1939-D716-C6450E2AD8FC}"/>
              </a:ext>
            </a:extLst>
          </p:cNvPr>
          <p:cNvSpPr txBox="1"/>
          <p:nvPr/>
        </p:nvSpPr>
        <p:spPr>
          <a:xfrm>
            <a:off x="309563" y="4310547"/>
            <a:ext cx="196610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6000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kumimoji="1" lang="ja-JP" altLang="en-US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4" name="テキスト ボックス 2101">
            <a:extLst>
              <a:ext uri="{FF2B5EF4-FFF2-40B4-BE49-F238E27FC236}">
                <a16:creationId xmlns:a16="http://schemas.microsoft.com/office/drawing/2014/main" id="{756F6552-3CAE-3310-D96A-5D847F286859}"/>
              </a:ext>
            </a:extLst>
          </p:cNvPr>
          <p:cNvSpPr txBox="1"/>
          <p:nvPr/>
        </p:nvSpPr>
        <p:spPr>
          <a:xfrm>
            <a:off x="2105787" y="3209363"/>
            <a:ext cx="2612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年度上半期の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</a:t>
            </a:r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5" name="テキスト ボックス 2102">
            <a:extLst>
              <a:ext uri="{FF2B5EF4-FFF2-40B4-BE49-F238E27FC236}">
                <a16:creationId xmlns:a16="http://schemas.microsoft.com/office/drawing/2014/main" id="{D5793D3E-32A5-A172-B93D-F2E02806685C}"/>
              </a:ext>
            </a:extLst>
          </p:cNvPr>
          <p:cNvSpPr txBox="1"/>
          <p:nvPr/>
        </p:nvSpPr>
        <p:spPr>
          <a:xfrm>
            <a:off x="4837113" y="3209363"/>
            <a:ext cx="176752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6" name="テキスト ボックス 2103">
            <a:extLst>
              <a:ext uri="{FF2B5EF4-FFF2-40B4-BE49-F238E27FC236}">
                <a16:creationId xmlns:a16="http://schemas.microsoft.com/office/drawing/2014/main" id="{89EE1600-592C-F991-FBB3-472A73DB5551}"/>
              </a:ext>
            </a:extLst>
          </p:cNvPr>
          <p:cNvSpPr txBox="1"/>
          <p:nvPr/>
        </p:nvSpPr>
        <p:spPr>
          <a:xfrm>
            <a:off x="1858111" y="4310547"/>
            <a:ext cx="323480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kumimoji="1"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</a:p>
        </p:txBody>
      </p:sp>
      <p:sp>
        <p:nvSpPr>
          <p:cNvPr id="27" name="テキスト ボックス 2104">
            <a:extLst>
              <a:ext uri="{FF2B5EF4-FFF2-40B4-BE49-F238E27FC236}">
                <a16:creationId xmlns:a16="http://schemas.microsoft.com/office/drawing/2014/main" id="{735B8649-944E-38AC-EFE9-3FF466013418}"/>
              </a:ext>
            </a:extLst>
          </p:cNvPr>
          <p:cNvSpPr txBox="1"/>
          <p:nvPr/>
        </p:nvSpPr>
        <p:spPr>
          <a:xfrm>
            <a:off x="6722972" y="3209363"/>
            <a:ext cx="27587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15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8" name="テキスト ボックス 2109">
            <a:extLst>
              <a:ext uri="{FF2B5EF4-FFF2-40B4-BE49-F238E27FC236}">
                <a16:creationId xmlns:a16="http://schemas.microsoft.com/office/drawing/2014/main" id="{9364E84A-3501-3480-3E86-4181D9EDDE0D}"/>
              </a:ext>
            </a:extLst>
          </p:cNvPr>
          <p:cNvSpPr txBox="1"/>
          <p:nvPr/>
        </p:nvSpPr>
        <p:spPr>
          <a:xfrm>
            <a:off x="5204477" y="3512494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</a:p>
        </p:txBody>
      </p:sp>
      <p:sp>
        <p:nvSpPr>
          <p:cNvPr id="29" name="テキスト ボックス 2110">
            <a:extLst>
              <a:ext uri="{FF2B5EF4-FFF2-40B4-BE49-F238E27FC236}">
                <a16:creationId xmlns:a16="http://schemas.microsoft.com/office/drawing/2014/main" id="{915149AC-7723-29BD-6D17-D471CC831F56}"/>
              </a:ext>
            </a:extLst>
          </p:cNvPr>
          <p:cNvSpPr txBox="1"/>
          <p:nvPr/>
        </p:nvSpPr>
        <p:spPr>
          <a:xfrm>
            <a:off x="4684085" y="4310547"/>
            <a:ext cx="23352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」部門で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ヤフー社から表彰をいただきました。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30" name="正方形/長方形 7">
            <a:extLst>
              <a:ext uri="{FF2B5EF4-FFF2-40B4-BE49-F238E27FC236}">
                <a16:creationId xmlns:a16="http://schemas.microsoft.com/office/drawing/2014/main" id="{F974FA57-9312-73D0-6461-C65486B6B90A}"/>
              </a:ext>
            </a:extLst>
          </p:cNvPr>
          <p:cNvSpPr/>
          <p:nvPr/>
        </p:nvSpPr>
        <p:spPr>
          <a:xfrm>
            <a:off x="388723" y="675734"/>
            <a:ext cx="9128556" cy="3490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正方形/長方形 2">
            <a:extLst>
              <a:ext uri="{FF2B5EF4-FFF2-40B4-BE49-F238E27FC236}">
                <a16:creationId xmlns:a16="http://schemas.microsoft.com/office/drawing/2014/main" id="{4661DF32-128A-6B77-5F5D-76D78A1B8378}"/>
              </a:ext>
            </a:extLst>
          </p:cNvPr>
          <p:cNvSpPr/>
          <p:nvPr/>
        </p:nvSpPr>
        <p:spPr>
          <a:xfrm>
            <a:off x="2853632" y="700332"/>
            <a:ext cx="6663645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>
              <a:buClr>
                <a:srgbClr val="002060"/>
              </a:buClr>
              <a:buSzPts val="1600"/>
            </a:pP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ヤフー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Partner Award 2025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にて「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」受賞</a:t>
            </a:r>
            <a:endParaRPr lang="en-US" altLang="ja-JP" sz="13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32" name="正方形/長方形 5">
            <a:extLst>
              <a:ext uri="{FF2B5EF4-FFF2-40B4-BE49-F238E27FC236}">
                <a16:creationId xmlns:a16="http://schemas.microsoft.com/office/drawing/2014/main" id="{DEE7F595-5FAC-C5CD-0B26-580B6DF09A53}"/>
              </a:ext>
            </a:extLst>
          </p:cNvPr>
          <p:cNvSpPr/>
          <p:nvPr/>
        </p:nvSpPr>
        <p:spPr>
          <a:xfrm>
            <a:off x="432943" y="700332"/>
            <a:ext cx="2391617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DYM × LINEOA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6B503BF7-985B-8770-4643-5E3EB6E5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89" y="5150774"/>
            <a:ext cx="1929199" cy="128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プレースホルダー 2">
            <a:extLst>
              <a:ext uri="{FF2B5EF4-FFF2-40B4-BE49-F238E27FC236}">
                <a16:creationId xmlns:a16="http://schemas.microsoft.com/office/drawing/2014/main" id="{761ADAB8-B668-8B05-EDE6-B5003466E015}"/>
              </a:ext>
            </a:extLst>
          </p:cNvPr>
          <p:cNvSpPr txBox="1">
            <a:spLocks/>
          </p:cNvSpPr>
          <p:nvPr/>
        </p:nvSpPr>
        <p:spPr>
          <a:xfrm>
            <a:off x="8209814" y="6217102"/>
            <a:ext cx="676273" cy="1577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lvl="0"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受賞時の</a:t>
            </a: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1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枚</a:t>
            </a:r>
            <a:endParaRPr lang="en-US" altLang="ja-JP" sz="700" dirty="0">
              <a:solidFill>
                <a:schemeClr val="bg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5" name="図 6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FAB445F-372A-C0D2-7552-790613769A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69" y="4654614"/>
            <a:ext cx="2886575" cy="2294826"/>
          </a:xfrm>
          <a:prstGeom prst="rect">
            <a:avLst/>
          </a:prstGeom>
        </p:spPr>
      </p:pic>
      <p:sp>
        <p:nvSpPr>
          <p:cNvPr id="36" name="テキスト ボックス 9">
            <a:extLst>
              <a:ext uri="{FF2B5EF4-FFF2-40B4-BE49-F238E27FC236}">
                <a16:creationId xmlns:a16="http://schemas.microsoft.com/office/drawing/2014/main" id="{F7A1F49B-800C-42EE-5308-93E8C2B2E88F}"/>
              </a:ext>
            </a:extLst>
          </p:cNvPr>
          <p:cNvSpPr txBox="1"/>
          <p:nvPr/>
        </p:nvSpPr>
        <p:spPr>
          <a:xfrm>
            <a:off x="2535025" y="5767731"/>
            <a:ext cx="4963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 Premier</a:t>
            </a:r>
          </a:p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は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を合わせて</a:t>
            </a:r>
            <a:r>
              <a:rPr lang="en-US" altLang="ja-JP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社が認定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未上場企業では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唯一で最上位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ja-JP" altLang="en-US" sz="900" dirty="0"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7" name="図 4">
            <a:extLst>
              <a:ext uri="{FF2B5EF4-FFF2-40B4-BE49-F238E27FC236}">
                <a16:creationId xmlns:a16="http://schemas.microsoft.com/office/drawing/2014/main" id="{60ACD608-62E1-EDDE-99C7-355D55B75F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96" y="4759370"/>
            <a:ext cx="2664636" cy="20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22539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1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LINE活用の事例とメリット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求人メディアのLINE活用事例｜タウンワーク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リッチメニューに人気の検索条件を並べ、LINEからワンタップで求人を探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LINE経由の応募は、配信よりもリッチメニュー経由が最も多く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645311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6496943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 err="1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最多</a:t>
            </a:r>
            <a:endParaRPr sz="4050" b="1" dirty="0">
              <a:solidFill>
                <a:schemeClr val="tx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LINE経由の中で、配信より多い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793680" y="3625181"/>
            <a:ext cx="8319744" cy="284947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ight Arrow 9"/>
          <p:cNvSpPr/>
          <p:nvPr/>
        </p:nvSpPr>
        <p:spPr>
          <a:xfrm>
            <a:off x="3416783" y="4490018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3645311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トークで条件を選ぶと、求人が表示される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68416" y="4490018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496943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条件を入れた状態の検索結果に移動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793680" y="5548578"/>
            <a:ext cx="8319744" cy="427421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応募の増加へ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タウンワークの実際の画面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LINEは「条件を選ぶ入口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として機能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サイトの会員とLINEを連携し、条件別の検索結果ページへそのまま移動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3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694319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条件に合う求人を受け取るための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025968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81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926608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58256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569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58896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490543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857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391183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LINEのメリット①｜興味別に届けられる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配信の中でクリックされた内容をもとに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セグメント分け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配信するたびに分け方の精度が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向上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053440" cy="364138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STEP1　配信する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213238"/>
            <a:ext cx="2053440" cy="2913106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新着求人のお知らせ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営業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3つの求人を1通で届ける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946480" y="3500521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377040" y="1808640"/>
            <a:ext cx="2748960" cy="364138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STEP2　クリックで自動的に分かれる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3377040" y="2213238"/>
            <a:ext cx="2748960" cy="910345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→「整備士に興味」のグループ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3377040" y="3204503"/>
            <a:ext cx="2748960" cy="910345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→「営業に興味」のグループ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3377040" y="4195768"/>
            <a:ext cx="2748960" cy="910345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資格取得支援をクリック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→「未経験・資格取得を目指す」グループ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75040" y="3500521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689040" y="1808640"/>
            <a:ext cx="2424384" cy="364138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STEP3　興味のある方にだけ届ける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6689040" y="2213238"/>
            <a:ext cx="2424384" cy="2913106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次の配信から</a:t>
            </a:r>
            <a:endParaRPr sz="11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整備士グループには整備士の求人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未経験グループには資格取得支援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endParaRPr lang="en-US" altLang="ja-JP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興味のない案内が減るので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ブロックされにくくなります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5490482"/>
            <a:ext cx="8319744" cy="485517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登録時に細かく聞かなくても、クリックの履歴で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タグを設置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※LINE公式アカウント管理画面の「オーディエンス」機能（クリックリターゲティング）を使用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②｜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半永久的に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接点を持てる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広告は、クリック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→離脱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で接点が終わ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る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LINEは、何度でも求人をご案内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841759"/>
            <a:ext cx="861120" cy="455145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721040" y="1841759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広告を見る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3277679" y="1953411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608879" y="1841759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0" name="Right Arrow 8"/>
          <p:cNvSpPr/>
          <p:nvPr/>
        </p:nvSpPr>
        <p:spPr>
          <a:xfrm>
            <a:off x="5165519" y="1953411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5496720" y="1841759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応募しない</a:t>
            </a:r>
          </a:p>
        </p:txBody>
      </p:sp>
      <p:sp>
        <p:nvSpPr>
          <p:cNvPr id="12" name="Right Arrow 10"/>
          <p:cNvSpPr/>
          <p:nvPr/>
        </p:nvSpPr>
        <p:spPr>
          <a:xfrm>
            <a:off x="7053360" y="1953411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384560" y="1841759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接点が終わる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793680" y="2752051"/>
            <a:ext cx="861120" cy="455145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1721040" y="2752051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6" name="Right Arrow 14"/>
          <p:cNvSpPr/>
          <p:nvPr/>
        </p:nvSpPr>
        <p:spPr>
          <a:xfrm>
            <a:off x="3277679" y="2863704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Rounded Rectangle 15"/>
          <p:cNvSpPr/>
          <p:nvPr/>
        </p:nvSpPr>
        <p:spPr>
          <a:xfrm>
            <a:off x="3608879" y="2752051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LINEで友だちに</a:t>
            </a:r>
          </a:p>
        </p:txBody>
      </p:sp>
      <p:sp>
        <p:nvSpPr>
          <p:cNvPr id="18" name="Right Arrow 16"/>
          <p:cNvSpPr/>
          <p:nvPr/>
        </p:nvSpPr>
        <p:spPr>
          <a:xfrm>
            <a:off x="5165519" y="2863704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ounded Rectangle 17"/>
          <p:cNvSpPr/>
          <p:nvPr/>
        </p:nvSpPr>
        <p:spPr>
          <a:xfrm>
            <a:off x="5496720" y="2752051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r>
              <a:rPr sz="11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endParaRPr lang="en-US"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条件の合う求人</a:t>
            </a:r>
            <a:endParaRPr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ight Arrow 18"/>
          <p:cNvSpPr/>
          <p:nvPr/>
        </p:nvSpPr>
        <p:spPr>
          <a:xfrm>
            <a:off x="7053360" y="2863704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Rounded Rectangle 19"/>
          <p:cNvSpPr/>
          <p:nvPr/>
        </p:nvSpPr>
        <p:spPr>
          <a:xfrm>
            <a:off x="7384560" y="2752051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5496720" y="3283054"/>
            <a:ext cx="1656000" cy="30343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10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↻ 何度でもご案内</a:t>
            </a:r>
          </a:p>
        </p:txBody>
      </p:sp>
      <p:sp>
        <p:nvSpPr>
          <p:cNvPr id="23" name="Rounded Rectangle 21"/>
          <p:cNvSpPr/>
          <p:nvPr/>
        </p:nvSpPr>
        <p:spPr>
          <a:xfrm>
            <a:off x="793680" y="3889915"/>
            <a:ext cx="2616480" cy="136543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今すぐ応募しない方とも、友だちとしてつながり続けます。</a:t>
            </a:r>
          </a:p>
        </p:txBody>
      </p:sp>
      <p:sp>
        <p:nvSpPr>
          <p:cNvPr id="24" name="Rounded Rectangle 22"/>
          <p:cNvSpPr/>
          <p:nvPr/>
        </p:nvSpPr>
        <p:spPr>
          <a:xfrm>
            <a:off x="3645311" y="3889915"/>
            <a:ext cx="2616480" cy="136543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タイミングが合ったときに届く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転職を考え始めた時期に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新着求人が届きます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25" name="Rounded Rectangle 23"/>
          <p:cNvSpPr/>
          <p:nvPr/>
        </p:nvSpPr>
        <p:spPr>
          <a:xfrm>
            <a:off x="6496943" y="3889915"/>
            <a:ext cx="2616480" cy="136543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連絡がLINEで完結する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電話やメールより気軽にやりとりできます。</a:t>
            </a:r>
          </a:p>
        </p:txBody>
      </p:sp>
      <p:sp>
        <p:nvSpPr>
          <p:cNvPr id="26" name="Rounded Rectangle 24"/>
          <p:cNvSpPr/>
          <p:nvPr/>
        </p:nvSpPr>
        <p:spPr>
          <a:xfrm>
            <a:off x="793680" y="5520854"/>
            <a:ext cx="8319744" cy="455145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何度もご案内できる「転職を検討している方のリスト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へ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TextBox 2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※配信通数に応じたLINE公式アカウントの利用料は別途かかります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LINEのメリット③｜登録の手間を下げられる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7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LINEでログイン」を使うと、LINEのアカウントでサイトの会員登録が</a:t>
            </a:r>
            <a:r>
              <a:rPr lang="ja-JP" altLang="en-US"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7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さらにLINE</a:t>
            </a:r>
            <a:r>
              <a:rPr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7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Profile+を使うと、氏名・電話番号などが自動で入り、確認で登録が</a:t>
            </a:r>
            <a:r>
              <a:rPr lang="ja-JP" altLang="en-US"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946934"/>
            <a:ext cx="5166720" cy="2589818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793680" y="4745317"/>
            <a:ext cx="5166720" cy="225025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1775520"/>
            <a:ext cx="2987424" cy="165018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500717"/>
            <a:ext cx="2987424" cy="15751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525948"/>
            <a:ext cx="8319744" cy="450051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会員登録のハードル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がる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84F79BAA-8C2D-2DC3-A995-CBA086D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他社のLINE活用｜求人サービスの状況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699943"/>
            <a:ext cx="8928000" cy="580115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総合大手は、数十万〜数百万人規模でLINEを活用</a:t>
            </a:r>
            <a:endParaRPr lang="en-US"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一方、整備士特化のサービスは、少な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62570"/>
              </p:ext>
            </p:extLst>
          </p:nvPr>
        </p:nvGraphicFramePr>
        <p:xfrm>
          <a:off x="793680" y="2067314"/>
          <a:ext cx="8319743" cy="2069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5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629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種別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LINE友だち数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リクナビNEXT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3,235,678人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求人ボックス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総合・アグリゲーション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1,862,866人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マイナビ転職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754,302人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doda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総合・エージェント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公開アカウントなし（会員登録後に1:1連携）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プレックスジョブ【整備士】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6,288人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整備士の求人・転職｜カンパネル</a:t>
                      </a:r>
                      <a:endParaRPr sz="145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196人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4982930"/>
            <a:ext cx="8319744" cy="4554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整備士特化で、LINEを本格的に活用しているサービスはまだ少なく、先に始めた方が有利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になる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出典：page.line.me（公式）2026-09-21実測。友だち数は取得日時点の公表値</a:t>
            </a:r>
          </a:p>
        </p:txBody>
      </p:sp>
    </p:spTree>
    <p:extLst>
      <p:ext uri="{BB962C8B-B14F-4D97-AF65-F5344CB8AC3E}">
        <p14:creationId xmlns:p14="http://schemas.microsoft.com/office/powerpoint/2010/main" val="140579607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2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貴社での活用イメージ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1A1EC9E0-2ED9-448E-0518-C4BB6687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タウンワークの型を分解すると、3つの仕組み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応募が増えた理由は、LINEを「求人を探す入口」にした</a:t>
            </a:r>
            <a:r>
              <a:rPr lang="ja-JP" altLang="en-US"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から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この3つは、サイトに「条件別の検索結果ページ」と「LINEとの会員連携」があれば再現可能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692000"/>
            <a:ext cx="261648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リッチメニューで条件検索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088000"/>
            <a:ext cx="2616480" cy="15334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よく探される条件をボタンに並べる。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トーク画面の下に常にあるので、探したいときにいつでも使える。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692000"/>
            <a:ext cx="261648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全員共通のあいさつ＋タップで分岐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088000"/>
            <a:ext cx="2616480" cy="15334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あいさつで会員連携を案内する。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条件のカードをタップしてもらい、興味を聞く。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692000"/>
            <a:ext cx="261648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検索結果へそのまま移動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088000"/>
            <a:ext cx="2616480" cy="15334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条件を入れた状態の検索結果ページへ。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探す手間がなく、応募はサイト側で行う。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793680" y="3783499"/>
            <a:ext cx="8319744" cy="28800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再現するときに必要なもの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107499"/>
            <a:ext cx="4040640" cy="13825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条件別の検索結果ページ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LINEで会員登録・ログインできる仕組み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5066160" y="4107499"/>
            <a:ext cx="4047264" cy="13825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リッチメニュー・あいさつ・配信の設計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条件で選んで送る仕組み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5652000"/>
            <a:ext cx="8319744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LINE側は先に構築し、サイト側はリニューアルに合わせてつなぐ</a:t>
            </a:r>
            <a:endParaRPr sz="125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797552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A47C615-BEE8-3B16-A209-225180E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貴社に当てはめると｜会員登録はLINEで、その先の応募へ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サイトリニューアルに合わせて、会員登録をLINEで完結できる形へ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入力の手間がほぼなくなり、登録のハードル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37234"/>
            <a:ext cx="3941280" cy="396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現在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33234"/>
            <a:ext cx="3941280" cy="221122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入口は「応募」か「転職支援の申込」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・会員登録の利用が少ない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・応募しなかった方との接点が残らない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・比較検討中の方と接点を持てない</a:t>
            </a:r>
          </a:p>
        </p:txBody>
      </p:sp>
      <p:sp>
        <p:nvSpPr>
          <p:cNvPr id="8" name="Right Arrow 6"/>
          <p:cNvSpPr/>
          <p:nvPr/>
        </p:nvSpPr>
        <p:spPr>
          <a:xfrm>
            <a:off x="4817760" y="3094848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172144" y="1737234"/>
            <a:ext cx="3941280" cy="396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リニューアル後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172144" y="2133234"/>
            <a:ext cx="3941280" cy="2211228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会員登録＝LINEでワンタップ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・登録と同じ画面で、友だち追加もご案内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・登録した方に、条件に合う求人を届け続けられる</a:t>
            </a:r>
          </a:p>
        </p:txBody>
      </p:sp>
      <p:sp>
        <p:nvSpPr>
          <p:cNvPr id="11" name="Down Arrow 9"/>
          <p:cNvSpPr/>
          <p:nvPr/>
        </p:nvSpPr>
        <p:spPr>
          <a:xfrm>
            <a:off x="4688592" y="4452462"/>
            <a:ext cx="463679" cy="26496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793680" y="4812462"/>
            <a:ext cx="8319744" cy="1118304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7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会員登録はワンタップで完了。次の課題は、登録した方を応募へどうつなげるか</a:t>
            </a:r>
            <a:endParaRPr sz="17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リッチメニューと配信で、LINEから応募へつ</a:t>
            </a:r>
            <a:endParaRPr sz="15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CV①＝会員登録（LINEで登録）／CV②＝求人への応募</a:t>
            </a:r>
          </a:p>
        </p:txBody>
      </p:sp>
    </p:spTree>
    <p:extLst>
      <p:ext uri="{BB962C8B-B14F-4D97-AF65-F5344CB8AC3E}">
        <p14:creationId xmlns:p14="http://schemas.microsoft.com/office/powerpoint/2010/main" val="4161387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364C018-2F1E-8306-707D-71C186D4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貴社向けの工夫｜タウンワークより手軽な登録と、整備士向けの条件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タウンワークの型をそのまま使うのではなく、貴社のサイトと求人に合わせて工夫します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404064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工夫①　タウンワークより手軽に登録できる</a:t>
            </a:r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065325"/>
              </p:ext>
            </p:extLst>
          </p:nvPr>
        </p:nvGraphicFramePr>
        <p:xfrm>
          <a:off x="793680" y="2172959"/>
          <a:ext cx="4040638" cy="139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76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タウンワーク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貴社（ご提案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LINEとつなぐ前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リクルートIDで
ログインが必要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入力するもの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メール・パスワード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ほ</a:t>
                      </a:r>
                      <a:r>
                        <a:rPr lang="ja-JP" altLang="en-US"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とんど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なし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Profile+で自動入力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つながった状態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既存の会員と連携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登録と同じ画面で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、
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友だち追加も</a:t>
                      </a:r>
                      <a:endParaRPr lang="en-US" sz="9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  <a:p>
                      <a:pPr algn="ctr"/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あわせてご案内</a:t>
                      </a:r>
                      <a:endParaRPr sz="9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6"/>
          <p:cNvSpPr/>
          <p:nvPr/>
        </p:nvSpPr>
        <p:spPr>
          <a:xfrm>
            <a:off x="5066160" y="1775520"/>
            <a:ext cx="4047264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工夫②　条件を整備士向けにする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066160" y="2172959"/>
            <a:ext cx="4047264" cy="13910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</a:t>
            </a: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ー・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配信で使う条件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職種：整備士／営業／受付・事務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地域：都道府県・市区町村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・資格：1級・2級・3級・無資格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793680" y="4166639"/>
            <a:ext cx="8319744" cy="861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掲載中の求人を、条件で探せる</a:t>
            </a:r>
            <a:r>
              <a:rPr lang="ja-JP" altLang="en-US"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構築に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全国2,134件（うち正社員・整備士946件、正社員・営業180件）の求人を、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LINEから条件別に探せる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ように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793680" y="52099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手軽な登録」と「整備士に合わせた条件」で、タウンワークの型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最適化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  <p:extLst>
      <p:ext uri="{BB962C8B-B14F-4D97-AF65-F5344CB8AC3E}">
        <p14:creationId xmlns:p14="http://schemas.microsoft.com/office/powerpoint/2010/main" val="507335036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3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施策のご提案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①友だち追加の動線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箇所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※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費用（月額／初期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25840"/>
            <a:ext cx="1092960" cy="1349257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952880" y="1725840"/>
            <a:ext cx="4835520" cy="134925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</a:t>
            </a:r>
            <a:endParaRPr sz="13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条件に合う新着求人をLINEでお届けします</a:t>
            </a: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3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3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11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92" y="1738068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Rounded Rectangle 7"/>
          <p:cNvSpPr/>
          <p:nvPr/>
        </p:nvSpPr>
        <p:spPr>
          <a:xfrm>
            <a:off x="793680" y="3176291"/>
            <a:ext cx="1092960" cy="1349257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1952880" y="3176291"/>
            <a:ext cx="4835520" cy="134925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</a:t>
            </a:r>
            <a:endParaRPr sz="13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LINEで登録（入力はほぼ不要</a:t>
            </a: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3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3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①）＋</a:t>
            </a:r>
            <a:r>
              <a:rPr sz="13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3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11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11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サイト側で実装（LINE連携の開発は都度お見積もり</a:t>
            </a:r>
            <a:r>
              <a:rPr sz="11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）／LINE </a:t>
            </a:r>
            <a:r>
              <a:rPr sz="11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Profile+は申請・審査のうえ別途</a:t>
            </a:r>
            <a:endParaRPr sz="11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1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992" y="3188520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2" name="Rounded Rectangle 10"/>
          <p:cNvSpPr/>
          <p:nvPr/>
        </p:nvSpPr>
        <p:spPr>
          <a:xfrm>
            <a:off x="793680" y="4626742"/>
            <a:ext cx="1092960" cy="1349257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952880" y="4626742"/>
            <a:ext cx="4835520" cy="134925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応募の完了画面（貴社が触れる経路）</a:t>
            </a:r>
            <a:endParaRPr sz="13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今後のご連絡はこのLINEでお送りします</a:t>
            </a: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3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br>
              <a:rPr lang="en-US" sz="13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</a:br>
            <a:r>
              <a:rPr sz="11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※月5万円（初期10万円）／</a:t>
            </a:r>
            <a:r>
              <a:rPr sz="11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シミュレーションの応募数・費用には含めない</a:t>
            </a:r>
            <a:endParaRPr sz="11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4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233" y="4638971"/>
            <a:ext cx="745595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5" name="TextBox 13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※月約17人＝サイトからの応募（月約47件）×完了画面の表示80%×友だち追加45%の想定／求人ボックス・Indeed経由は対象外／画面はイメージです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求人ボックス・Indeed経由の応募者への導線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64000"/>
            <a:ext cx="8928000" cy="288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サンクスLINEは自社サイトの応募が対象。外部経由は、求人ページ上の導線でつなぐ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2000" y="1584000"/>
            <a:ext cx="5760000" cy="331471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5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自社サイトから応募する方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2000" y="1956905"/>
            <a:ext cx="1224000" cy="621509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070000" y="215966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5"/>
          <p:cNvSpPr/>
          <p:nvPr/>
        </p:nvSpPr>
        <p:spPr>
          <a:xfrm>
            <a:off x="2376000" y="1956905"/>
            <a:ext cx="1224000" cy="621509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応募フォーム</a:t>
            </a:r>
          </a:p>
        </p:txBody>
      </p:sp>
      <p:sp>
        <p:nvSpPr>
          <p:cNvPr id="10" name="Right Arrow 6"/>
          <p:cNvSpPr/>
          <p:nvPr/>
        </p:nvSpPr>
        <p:spPr>
          <a:xfrm>
            <a:off x="3654000" y="215966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5"/>
          <p:cNvSpPr/>
          <p:nvPr/>
        </p:nvSpPr>
        <p:spPr>
          <a:xfrm>
            <a:off x="3960000" y="1956905"/>
            <a:ext cx="1224000" cy="621509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</a:t>
            </a:r>
          </a:p>
        </p:txBody>
      </p:sp>
      <p:sp>
        <p:nvSpPr>
          <p:cNvPr id="12" name="Right Arrow 6"/>
          <p:cNvSpPr/>
          <p:nvPr/>
        </p:nvSpPr>
        <p:spPr>
          <a:xfrm>
            <a:off x="5238000" y="215966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5"/>
          <p:cNvSpPr/>
          <p:nvPr/>
        </p:nvSpPr>
        <p:spPr>
          <a:xfrm>
            <a:off x="5544000" y="1956905"/>
            <a:ext cx="1872000" cy="621509"/>
          </a:xfrm>
          <a:prstGeom prst="roundRect">
            <a:avLst>
              <a:gd name="adj" fmla="val 1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ight Arrow 6"/>
          <p:cNvSpPr/>
          <p:nvPr/>
        </p:nvSpPr>
        <p:spPr>
          <a:xfrm>
            <a:off x="7470000" y="215966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5"/>
          <p:cNvSpPr/>
          <p:nvPr/>
        </p:nvSpPr>
        <p:spPr>
          <a:xfrm>
            <a:off x="7776000" y="1956905"/>
            <a:ext cx="1296000" cy="621509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16" name="TextBox 4"/>
          <p:cNvSpPr txBox="1"/>
          <p:nvPr/>
        </p:nvSpPr>
        <p:spPr>
          <a:xfrm>
            <a:off x="792000" y="2951320"/>
            <a:ext cx="5760000" cy="331471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5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求人ボックス・Indeedから来る方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92000" y="3365659"/>
            <a:ext cx="1512000" cy="1657358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求人ボックス</a:t>
            </a:r>
          </a:p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Indeed</a:t>
            </a:r>
          </a:p>
        </p:txBody>
      </p:sp>
      <p:sp>
        <p:nvSpPr>
          <p:cNvPr id="18" name="Right Arrow 6"/>
          <p:cNvSpPr/>
          <p:nvPr/>
        </p:nvSpPr>
        <p:spPr>
          <a:xfrm>
            <a:off x="2340000" y="3609847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ight Arrow 6"/>
          <p:cNvSpPr/>
          <p:nvPr/>
        </p:nvSpPr>
        <p:spPr>
          <a:xfrm>
            <a:off x="2340000" y="456282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ounded Rectangle 5"/>
          <p:cNvSpPr/>
          <p:nvPr/>
        </p:nvSpPr>
        <p:spPr>
          <a:xfrm>
            <a:off x="2664000" y="3365659"/>
            <a:ext cx="1872000" cy="704377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貴社の求人ページに</a:t>
            </a:r>
          </a:p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着地する場合</a:t>
            </a:r>
          </a:p>
        </p:txBody>
      </p:sp>
      <p:sp>
        <p:nvSpPr>
          <p:cNvPr id="21" name="Right Arrow 6"/>
          <p:cNvSpPr/>
          <p:nvPr/>
        </p:nvSpPr>
        <p:spPr>
          <a:xfrm>
            <a:off x="4590000" y="3609847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2" name="Rounded Rectangle 5"/>
          <p:cNvSpPr/>
          <p:nvPr/>
        </p:nvSpPr>
        <p:spPr>
          <a:xfrm>
            <a:off x="4932000" y="3365659"/>
            <a:ext cx="2015999" cy="704377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離脱防止ポップアップ</a:t>
            </a:r>
          </a:p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</p:txBody>
      </p:sp>
      <p:sp>
        <p:nvSpPr>
          <p:cNvPr id="23" name="Right Arrow 6"/>
          <p:cNvSpPr/>
          <p:nvPr/>
        </p:nvSpPr>
        <p:spPr>
          <a:xfrm>
            <a:off x="7002000" y="3609847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4" name="Rounded Rectangle 5"/>
          <p:cNvSpPr/>
          <p:nvPr/>
        </p:nvSpPr>
        <p:spPr>
          <a:xfrm>
            <a:off x="7343999" y="3365659"/>
            <a:ext cx="1764000" cy="704377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25" name="Rounded Rectangle 5"/>
          <p:cNvSpPr/>
          <p:nvPr/>
        </p:nvSpPr>
        <p:spPr>
          <a:xfrm>
            <a:off x="2664000" y="4318641"/>
            <a:ext cx="1872000" cy="704377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応募が先方の画面で</a:t>
            </a:r>
          </a:p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完結する場合</a:t>
            </a:r>
          </a:p>
        </p:txBody>
      </p:sp>
      <p:sp>
        <p:nvSpPr>
          <p:cNvPr id="26" name="Right Arrow 6"/>
          <p:cNvSpPr/>
          <p:nvPr/>
        </p:nvSpPr>
        <p:spPr>
          <a:xfrm>
            <a:off x="4590000" y="456282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Rounded Rectangle 5"/>
          <p:cNvSpPr/>
          <p:nvPr/>
        </p:nvSpPr>
        <p:spPr>
          <a:xfrm>
            <a:off x="4932000" y="4318641"/>
            <a:ext cx="2015999" cy="704377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貴社の画面を通らない</a:t>
            </a:r>
          </a:p>
        </p:txBody>
      </p:sp>
      <p:sp>
        <p:nvSpPr>
          <p:cNvPr id="28" name="Right Arrow 6"/>
          <p:cNvSpPr/>
          <p:nvPr/>
        </p:nvSpPr>
        <p:spPr>
          <a:xfrm>
            <a:off x="7002000" y="456282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9" name="Rounded Rectangle 5"/>
          <p:cNvSpPr/>
          <p:nvPr/>
        </p:nvSpPr>
        <p:spPr>
          <a:xfrm>
            <a:off x="7343999" y="4318641"/>
            <a:ext cx="1764000" cy="704377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導線を置けない</a:t>
            </a:r>
          </a:p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（対象外）</a:t>
            </a:r>
          </a:p>
        </p:txBody>
      </p:sp>
      <p:sp>
        <p:nvSpPr>
          <p:cNvPr id="30" name="Rounded Rectangle 24"/>
          <p:cNvSpPr/>
          <p:nvPr/>
        </p:nvSpPr>
        <p:spPr>
          <a:xfrm>
            <a:off x="792000" y="5478792"/>
            <a:ext cx="8316000" cy="497207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6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貴社の求人ページに来た方は、離脱防止と「LINEで登録」で友だち追加へつなげる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TextBox 25"/>
          <p:cNvSpPr txBox="1"/>
          <p:nvPr/>
        </p:nvSpPr>
        <p:spPr>
          <a:xfrm>
            <a:off x="792000" y="6048000"/>
            <a:ext cx="8316000" cy="28800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※求人ボックス・Indeedからの着地先と、応募の完結先は、掲載方法により異なるため、確認のうえ決定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②効率改善｜動線00「離脱防止」から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1284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対象（想定数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開封率×クリック率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クリック数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× 応募率2.3%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件数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26462"/>
              </p:ext>
            </p:extLst>
          </p:nvPr>
        </p:nvGraphicFramePr>
        <p:xfrm>
          <a:off x="792000" y="1764000"/>
          <a:ext cx="8316000" cy="390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動線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対象（想定数）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
→ クリック数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応募率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→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件数</a:t>
                      </a:r>
                      <a:endParaRPr sz="11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追加した方（約22人）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会員登録・応募のご案内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57回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追加した方（約88人）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82回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（約137人）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82回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小計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221回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8"/>
          <p:cNvSpPr txBox="1"/>
          <p:nvPr/>
        </p:nvSpPr>
        <p:spPr>
          <a:xfrm>
            <a:off x="612840" y="6155280"/>
            <a:ext cx="8681472" cy="311040"/>
          </a:xfrm>
          <a:prstGeom prst="rect">
            <a:avLst/>
          </a:prstGeom>
          <a:noFill/>
        </p:spPr>
        <p:txBody>
          <a:bodyPr wrap="square" lIns="0" tIns="20736" rIns="0" bIns="2073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クリック数は弊社シミュレーションの9月の値を、動線ごとの友だち数（離脱防止38%・LINEで登録62%）と配信ごとのクリック比率で振り分けたもの。反応率の補正（1.46倍）と複数回のクリック（2.05倍）を含むため、対象×開封率×クリック率の単純な掛け算とは一致しません／コンサル費＝月20万円（初期20万円）、サンクスLINE＝月5万円（初期10万円）／画面はイメージで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②効率改善｜動線01「LINEで登録」・動線02「サンクスLINE」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1284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対象（想定数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開封率×クリック率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クリック数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× 応募率2.3%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件数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26462"/>
              </p:ext>
            </p:extLst>
          </p:nvPr>
        </p:nvGraphicFramePr>
        <p:xfrm>
          <a:off x="792000" y="1764000"/>
          <a:ext cx="8316000" cy="390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動線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対象（想定数）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
→ クリック数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応募率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→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件数</a:t>
                      </a:r>
                      <a:endParaRPr sz="11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（約35人）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応募のご案内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92回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（約140人）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131回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（約219人）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131回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応募当日／
面談前日・当日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応募した方
（月約17人）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応募受付のお礼・面談の
日時・場所・持ち物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対象外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11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採用向け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応募済みの方に
求人の案内は送らない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575回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8"/>
          <p:cNvSpPr txBox="1"/>
          <p:nvPr/>
        </p:nvSpPr>
        <p:spPr>
          <a:xfrm>
            <a:off x="612840" y="6155280"/>
            <a:ext cx="8681472" cy="311040"/>
          </a:xfrm>
          <a:prstGeom prst="rect">
            <a:avLst/>
          </a:prstGeom>
          <a:noFill/>
        </p:spPr>
        <p:txBody>
          <a:bodyPr wrap="square" lIns="0" tIns="20736" rIns="0" bIns="2073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クリック数は弊社シミュレーションの9月の値を、動線ごとの友だち数（離脱防止38%・LINEで登録62%）と配信ごとのクリック比率で振り分けたもの。反応率の補正（1.46倍）と複数回のクリック（2.05倍）を含むため、対象×開封率×クリック率の単純な掛け算とは一致しません／コンサル費＝月20万円（初期20万円）、サンクスLINE＝月5万円（初期10万円）／画面はイメージで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②効率改善｜ステップ配信の中身（全10通の例）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1284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0日に あいさつ（職種を聞く）、1日後からは ステップ配信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00" y="1872000"/>
            <a:ext cx="1458432" cy="972287"/>
          </a:xfrm>
          <a:prstGeom prst="rect">
            <a:avLst/>
          </a:prstGeom>
          <a:ln>
            <a:solidFill>
              <a:srgbClr val="D9D9D9"/>
            </a:solidFill>
          </a:ln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2988000"/>
            <a:ext cx="1458432" cy="259138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Rounded Rectangle 4"/>
          <p:cNvSpPr/>
          <p:nvPr/>
        </p:nvSpPr>
        <p:spPr>
          <a:xfrm>
            <a:off x="792000" y="1872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職種を聞く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4"/>
          <p:cNvSpPr/>
          <p:nvPr/>
        </p:nvSpPr>
        <p:spPr>
          <a:xfrm>
            <a:off x="2160000" y="1872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職種の違い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4"/>
          <p:cNvSpPr/>
          <p:nvPr/>
        </p:nvSpPr>
        <p:spPr>
          <a:xfrm>
            <a:off x="3528000" y="1872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働き方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4"/>
          <p:cNvSpPr/>
          <p:nvPr/>
        </p:nvSpPr>
        <p:spPr>
          <a:xfrm>
            <a:off x="4895999" y="1872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ご案内①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4"/>
          <p:cNvSpPr/>
          <p:nvPr/>
        </p:nvSpPr>
        <p:spPr>
          <a:xfrm>
            <a:off x="6263999" y="1872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資格取得支援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4"/>
          <p:cNvSpPr/>
          <p:nvPr/>
        </p:nvSpPr>
        <p:spPr>
          <a:xfrm>
            <a:off x="792000" y="3708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他の職種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との比較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4"/>
          <p:cNvSpPr/>
          <p:nvPr/>
        </p:nvSpPr>
        <p:spPr>
          <a:xfrm>
            <a:off x="2160000" y="3708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7日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資格別の年収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4"/>
          <p:cNvSpPr/>
          <p:nvPr/>
        </p:nvSpPr>
        <p:spPr>
          <a:xfrm>
            <a:off x="3528000" y="3708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現場の様子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Rounded Rectangle 4"/>
          <p:cNvSpPr/>
          <p:nvPr/>
        </p:nvSpPr>
        <p:spPr>
          <a:xfrm>
            <a:off x="4895999" y="3708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12日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地域別の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Rounded Rectangle 4"/>
          <p:cNvSpPr/>
          <p:nvPr/>
        </p:nvSpPr>
        <p:spPr>
          <a:xfrm>
            <a:off x="6263999" y="3708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ご案内②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TextBox 8"/>
          <p:cNvSpPr txBox="1"/>
          <p:nvPr/>
        </p:nvSpPr>
        <p:spPr>
          <a:xfrm>
            <a:off x="612840" y="6155280"/>
            <a:ext cx="8681472" cy="311040"/>
          </a:xfrm>
          <a:prstGeom prst="rect">
            <a:avLst/>
          </a:prstGeom>
          <a:noFill/>
        </p:spPr>
        <p:txBody>
          <a:bodyPr wrap="square" lIns="0" tIns="20736" rIns="0" bIns="2073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③満足度改善（ユーザー）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友だちになった方が、電話なしで質問・相談できる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形式に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2088684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1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QA自動化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個別チャット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520684"/>
            <a:ext cx="1092960" cy="880164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1952880" y="2520684"/>
            <a:ext cx="231840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資格・受験料・勤務地などのよくある質問に、LINEで24時間すぐ回答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4340832" y="2520684"/>
            <a:ext cx="231840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求人の条件や働き方の相談に、LINEで対応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6728784" y="2520684"/>
            <a:ext cx="231840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希望の条件に合う求人だけが届く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793680" y="3508848"/>
            <a:ext cx="1092960" cy="1118304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LINEで登録</a:t>
            </a:r>
            <a:r>
              <a:rPr sz="9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1952880" y="3508848"/>
            <a:ext cx="2318400" cy="111830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資格・受験料・勤務地、会員登録・ログインの質問に、LINEで24時間すぐ回答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4340832" y="3508848"/>
            <a:ext cx="2318400" cy="111830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求人の条件や面談の相談に、LINEで対応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728784" y="3508848"/>
            <a:ext cx="2318400" cy="111830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希望の条件（職種・地域）を、リッチメニューからいつでも変更できる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4735152"/>
            <a:ext cx="1092960" cy="880164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1952880" y="4735152"/>
            <a:ext cx="231840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面談の場所・持ち物・服装などの質問に、LINEで24時間すぐ回答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4340832" y="4735152"/>
            <a:ext cx="231840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日程の変更や相談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Rounded Rectangle 16"/>
          <p:cNvSpPr/>
          <p:nvPr/>
        </p:nvSpPr>
        <p:spPr>
          <a:xfrm>
            <a:off x="6728784" y="4735152"/>
            <a:ext cx="231840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面談前日・当日のご案内で、予定を忘れない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④効率改善（管理側）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担当者の対応の手間を増やさずに、友だち・応募者とのやりとりを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容易に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2215836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0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自動応答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647836"/>
            <a:ext cx="1092960" cy="880164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1952880" y="2647836"/>
            <a:ext cx="351072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電話・メールでの問い合わせ対応を減らす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536464" y="2647836"/>
            <a:ext cx="351072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クリックの履歴で、興味別のグループを自動で作る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クリックリターゲティング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636000"/>
            <a:ext cx="1092960" cy="864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1952880" y="3636000"/>
            <a:ext cx="351072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問い合わせ対応を減らす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5536464" y="3636000"/>
            <a:ext cx="351072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会員の情報とLINEをひもづけ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条件別の配信を自動化する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608000"/>
            <a:ext cx="1092960" cy="880164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1952880" y="4608000"/>
            <a:ext cx="351072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面談日程の確認・変更の受付を自動化し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電話でのやりとりを減らす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5536464" y="4608000"/>
            <a:ext cx="351072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応募者への連絡をLINEにまとめ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電話がつながらない手間を減らす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4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導入の進め方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LINEの構築を先に進めることをおすすめする理由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LINEの友だち・会員の情報は、始めた日から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以降で蓄積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先に始めれば、翌3月の転職のピークを、増えた友だちとともに抑制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692000"/>
            <a:ext cx="2616480" cy="2582726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データを初日から蓄積</a:t>
            </a:r>
            <a:endParaRPr sz="16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友だち・会員・クリックの履歴は始めた日から蓄積。</a:t>
            </a:r>
            <a:endParaRPr sz="15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半年で約540人の友だちに（弊社シミュレーション）</a:t>
            </a:r>
            <a:endParaRPr sz="15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645311" y="1692000"/>
            <a:ext cx="2616480" cy="2582726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作り直しを避ける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会員登録のLINE化をリニューアルの要件に入れれば、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サイトの二度手間を避けられる。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692000"/>
            <a:ext cx="2616480" cy="2582726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3月のピークに間に合う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整備士の検索は一年中あり、ピークは3月。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秋までに友だちを増やしておけば、ピークの時期にご案内できる。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793680" y="4436726"/>
            <a:ext cx="1192320" cy="355972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先に開始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2052240" y="4507920"/>
            <a:ext cx="7054560" cy="213583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2052240" y="4739303"/>
            <a:ext cx="7054560" cy="24917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開始 ────── 友だちが増え続ける ────── 翌3月（転職のピーク）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5077477"/>
            <a:ext cx="1192320" cy="355972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後から開始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2052240" y="5148672"/>
            <a:ext cx="3312000" cy="213583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5364240" y="5148672"/>
            <a:ext cx="3742560" cy="213583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2052240" y="5380054"/>
            <a:ext cx="3312000" cy="24917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この期間の登録者とはLINEでつながれない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5791233"/>
            <a:ext cx="8319744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ご契約後すぐに構築を始め、4月のリニューアルと同時に運用を本格化することをご提案します。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リニューアルに入れる要件3点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LINEで応募へつなげるために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915210"/>
            <a:ext cx="261648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会員登録をLINEで完結させる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311210"/>
            <a:ext cx="2616480" cy="16873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「LINEでログイン」とLINE Profile+で、入力ほぼなしで会員登録。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同じ画面で友だち追加もあわせてご案内。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915210"/>
            <a:ext cx="261648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会員の情報とLINEをひもづける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311210"/>
            <a:ext cx="2616480" cy="16873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会員名簿にLINEの情報を保存し、職種・地域・資格で選んで配信できるようにする。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915210"/>
            <a:ext cx="261648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条件別の検索結果ページ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311210"/>
            <a:ext cx="2616480" cy="16873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職種×地域×資格ごとのURLを用意し、リッチメニューや配信からそのまま開けるようにする。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160530"/>
            <a:ext cx="8319744" cy="1106258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5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LINE連携の開発について</a:t>
            </a:r>
            <a:endParaRPr sz="15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LINE連携の開発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が、</a:t>
            </a: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対応が可能（内容に応じて都度お見積もり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  <a:endParaRPr lang="en-US" sz="14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サイト制作会社様と仕様をすり合わせて進めます。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793680" y="5428789"/>
            <a:ext cx="8319744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lang="ja-JP" altLang="en-US" sz="12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この三点で、</a:t>
            </a:r>
            <a:r>
              <a:rPr sz="12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タウンワークの型を貴社サイトで再現できます</a:t>
            </a:r>
            <a:r>
              <a:rPr sz="12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12290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スケジュール｜ご契約後に構築、4月に運用を本格化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Profile+は申請とLINEヤフー社の審査があるため、予算が決まり次第、着手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ご契約後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2085359" y="1775520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アカウント設定、LINE Profile+の申請、サイト・配信ツールとLINEをつなぐ仕様のすり合わせ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793680" y="2493053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2085359" y="2493053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初期構築（この期間は初期費用のみ）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あいさつ・リッチメニュー・配信の設計、各ツールとLINEの連携、離脱防止の設置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928119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2085359" y="3928119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LINEを追加してもらう期間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離脱防止ポップアップなどで、LINEを追加してもらう（この期間の数字はシミュレーションに含めない）</a:t>
            </a:r>
          </a:p>
        </p:txBody>
      </p:sp>
      <p:sp>
        <p:nvSpPr>
          <p:cNvPr id="12" name="Rounded Rectangle 8"/>
          <p:cNvSpPr/>
          <p:nvPr/>
        </p:nvSpPr>
        <p:spPr>
          <a:xfrm>
            <a:off x="793680" y="3210586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3" name="Rounded Rectangle 9"/>
          <p:cNvSpPr/>
          <p:nvPr/>
        </p:nvSpPr>
        <p:spPr>
          <a:xfrm>
            <a:off x="2085359" y="3210586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リニューアルのサイト制作への組み込み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サンクスLINE誘導・Profile+の実装を、リニューアルのサイト制作に組み込む</a:t>
            </a:r>
          </a:p>
        </p:txBody>
      </p:sp>
      <p:sp>
        <p:nvSpPr>
          <p:cNvPr id="14" name="Rounded Rectangle 10"/>
          <p:cNvSpPr/>
          <p:nvPr/>
        </p:nvSpPr>
        <p:spPr>
          <a:xfrm>
            <a:off x="793680" y="4645652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sp>
        <p:nvSpPr>
          <p:cNvPr id="15" name="Rounded Rectangle 11"/>
          <p:cNvSpPr/>
          <p:nvPr/>
        </p:nvSpPr>
        <p:spPr>
          <a:xfrm>
            <a:off x="2085359" y="4645652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リニューアル公開と同時に運用を本格化（月額の固定費）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「LINEで登録」・サンクスLINE誘導が稼働し、計測と配信を本格化</a:t>
            </a:r>
          </a:p>
        </p:txBody>
      </p:sp>
      <p:sp>
        <p:nvSpPr>
          <p:cNvPr id="16" name="Rounded Rectangle 12"/>
          <p:cNvSpPr/>
          <p:nvPr/>
        </p:nvSpPr>
        <p:spPr>
          <a:xfrm>
            <a:off x="793680" y="5363185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7" name="Rounded Rectangle 13"/>
          <p:cNvSpPr/>
          <p:nvPr/>
        </p:nvSpPr>
        <p:spPr>
          <a:xfrm>
            <a:off x="2085359" y="5363185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友だちを増やし、ピークに備える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毎月の配信と改善を続け、3月の転職のピークに備える</a:t>
            </a:r>
          </a:p>
        </p:txBody>
      </p:sp>
      <p:sp>
        <p:nvSpPr>
          <p:cNvPr id="18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Profile+の審査期間は、申請内容により変わります／組み込みの時期は、サイト制作の進行に応じて決定／求人ボックス・Indeed経由の応募者への導線は、着地先を確認のうえ決定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5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成果シミュレーションと費用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4852631F-440C-AF04-0C69-2C8669EB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成果シミュレーション（4〜9月）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</a:t>
            </a: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はLINEでワンタップ。登録した方を、リッチメニューと配信で応募（CV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②）へ</a:t>
            </a:r>
          </a:p>
          <a:p>
            <a:pPr algn="l">
              <a:lnSpc>
                <a:spcPct val="130000"/>
              </a:lnSpc>
            </a:pP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友だちが増えるほど応募も増え、7月に応募単価が2.5万円を下回る見込み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793680" y="2032200"/>
          <a:ext cx="8319744" cy="20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068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応募単価（CPA）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2.4万円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2.0万円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4549320"/>
            <a:ext cx="2616480" cy="14076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半年の会員登録（CV①）</a:t>
            </a:r>
          </a:p>
          <a:p>
            <a:pPr algn="ctr">
              <a:spcAft>
                <a:spcPts val="300"/>
              </a:spcAft>
            </a:pPr>
            <a:r>
              <a:rPr sz="2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334件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LINEでワンタップ登録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4549320"/>
            <a:ext cx="2616480" cy="14076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半年の応募（CV②）</a:t>
            </a:r>
          </a:p>
          <a:p>
            <a:pPr algn="ctr">
              <a:spcAft>
                <a:spcPts val="300"/>
              </a:spcAft>
            </a:pPr>
            <a:r>
              <a:rPr sz="2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52件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リッチメニュー・配信から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496943" y="4549320"/>
            <a:ext cx="2616480" cy="14076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9月の応募単価</a:t>
            </a:r>
          </a:p>
          <a:p>
            <a:pPr algn="ctr">
              <a:spcAft>
                <a:spcPts val="300"/>
              </a:spcAft>
            </a:pPr>
            <a:r>
              <a:rPr sz="28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1.8万円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目標2〜2.5万円を下回る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前提：リニューアル前に貯まる友だちは含めない／サイト来訪 月約6,100人（広告のシミュレーション確定後に差し替え）／LINEで登録＝来訪者の1.0%／費用 月23.5万円／応募単価＝月の費用÷その月の応募数（初期費用は含まない）</a:t>
            </a:r>
          </a:p>
        </p:txBody>
      </p:sp>
    </p:spTree>
    <p:extLst>
      <p:ext uri="{BB962C8B-B14F-4D97-AF65-F5344CB8AC3E}">
        <p14:creationId xmlns:p14="http://schemas.microsoft.com/office/powerpoint/2010/main" val="1269822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費用と体制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公式アカウントの導入と運用にかかる費用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432000" y="1930482"/>
          <a:ext cx="5256000" cy="2771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5903999" y="1584000"/>
            <a:ext cx="3571200" cy="360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5903999" y="19890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903999" y="30015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903999" y="40140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32000" y="5274000"/>
            <a:ext cx="9043200" cy="540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会員登録から応募までをLINEでつなげる仕組みを構築</a:t>
            </a:r>
            <a:r>
              <a:rPr sz="13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lang="ja-JP" altLang="en-US" sz="13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35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6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市場と求職者の動き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2EA8C22-A859-569A-8EEC-58728B6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業界の人手不足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整備士・営業は、求人に対して人材が大きく不足している「超売り手市場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165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整備士の有効求人倍率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5.46倍</a:t>
            </a:r>
          </a:p>
          <a:p>
            <a:pPr algn="ctr"/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645311" y="1775520"/>
            <a:ext cx="2616480" cy="165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自動車営業の有効求人倍率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12.55倍</a:t>
            </a:r>
          </a:p>
          <a:p>
            <a:pPr algn="ctr"/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2025年度（受付事務は0.96倍）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775520"/>
            <a:ext cx="2616480" cy="165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人手不足を感じる整備事業者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約6割</a:t>
            </a:r>
          </a:p>
          <a:p>
            <a:pPr algn="ctr"/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国土交通省の資料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graphicFrame>
        <p:nvGraphicFramePr>
          <p:cNvPr id="9" name="Table 7"/>
          <p:cNvGraphicFramePr>
            <a:graphicFrameLocks noGrp="1"/>
          </p:cNvGraphicFramePr>
          <p:nvPr/>
        </p:nvGraphicFramePr>
        <p:xfrm>
          <a:off x="793680" y="3816540"/>
          <a:ext cx="8319744" cy="109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32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以前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最近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変化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整備学校の入学者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12,394人（2003年度）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7,068人（2024年度）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約4割減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整備要員の平均年齢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39.7歳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47.2歳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高齢化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ounded Rectangle 8"/>
          <p:cNvSpPr/>
          <p:nvPr/>
        </p:nvSpPr>
        <p:spPr>
          <a:xfrm>
            <a:off x="793680" y="5335920"/>
            <a:ext cx="8319744" cy="4968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人材が集まりにくい市場だからこそ、サイトに訪れた求職者を逃さない仕組みが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重要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出典：厚生労働省 job tag（有効求人倍率・2025年度）／国土交通省資料（出典：自動車整備白書）</a:t>
            </a:r>
          </a:p>
        </p:txBody>
      </p:sp>
    </p:spTree>
    <p:extLst>
      <p:ext uri="{BB962C8B-B14F-4D97-AF65-F5344CB8AC3E}">
        <p14:creationId xmlns:p14="http://schemas.microsoft.com/office/powerpoint/2010/main" val="17346628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求職者の動き方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整備士は、複数の経路を併用して比べながら仕事を探して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いる</a:t>
            </a:r>
            <a:endParaRPr lang="en-US" altLang="ja-JP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検索は一年を通してあり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中でも、</a:t>
            </a: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月がピーク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742400"/>
            <a:ext cx="3643200" cy="33120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仕事を探した経路（複数回答）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793680" y="2156398"/>
            <a:ext cx="145728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</p:txBody>
      </p:sp>
      <p:sp>
        <p:nvSpPr>
          <p:cNvPr id="8" name="Rectangle 6"/>
          <p:cNvSpPr/>
          <p:nvPr/>
        </p:nvSpPr>
        <p:spPr>
          <a:xfrm>
            <a:off x="2284080" y="2239200"/>
            <a:ext cx="1656000" cy="289798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973200" y="2156398"/>
            <a:ext cx="59616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2777400"/>
            <a:ext cx="145728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</p:txBody>
      </p:sp>
      <p:sp>
        <p:nvSpPr>
          <p:cNvPr id="11" name="Rectangle 9"/>
          <p:cNvSpPr/>
          <p:nvPr/>
        </p:nvSpPr>
        <p:spPr>
          <a:xfrm>
            <a:off x="2284080" y="2860200"/>
            <a:ext cx="1599705" cy="289798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3916905" y="2777400"/>
            <a:ext cx="59616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793680" y="3398400"/>
            <a:ext cx="145728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</p:txBody>
      </p:sp>
      <p:sp>
        <p:nvSpPr>
          <p:cNvPr id="14" name="Rectangle 12"/>
          <p:cNvSpPr/>
          <p:nvPr/>
        </p:nvSpPr>
        <p:spPr>
          <a:xfrm>
            <a:off x="2284080" y="3481200"/>
            <a:ext cx="1548101" cy="289798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3865301" y="3398400"/>
            <a:ext cx="59616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4102200"/>
            <a:ext cx="3643200" cy="9936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特化型サイトの登録者は、84%が有資格者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整備士に特化したサイトには、資格を持つ方が集まる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4701840" y="1742400"/>
            <a:ext cx="4404960" cy="33120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「整備士」の検索（過去5年）</a:t>
            </a:r>
          </a:p>
        </p:txBody>
      </p:sp>
      <p:pic>
        <p:nvPicPr>
          <p:cNvPr id="18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40" y="2293950"/>
            <a:ext cx="4404960" cy="1431612"/>
          </a:xfrm>
          <a:prstGeom prst="rect">
            <a:avLst/>
          </a:prstGeom>
        </p:spPr>
      </p:pic>
      <p:sp>
        <p:nvSpPr>
          <p:cNvPr id="19" name="Rounded Rectangle 17"/>
          <p:cNvSpPr/>
          <p:nvPr/>
        </p:nvSpPr>
        <p:spPr>
          <a:xfrm>
            <a:off x="4701840" y="4102200"/>
            <a:ext cx="4404960" cy="9936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ピークは3月、最も少ないのは12月。差は約1.4倍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一年を通して、転職を検討する方がいる。3月に向けて前倒しで接点を持つ</a:t>
            </a:r>
          </a:p>
        </p:txBody>
      </p:sp>
      <p:sp>
        <p:nvSpPr>
          <p:cNvPr id="20" name="Rounded Rectangle 18"/>
          <p:cNvSpPr/>
          <p:nvPr/>
        </p:nvSpPr>
        <p:spPr>
          <a:xfrm>
            <a:off x="793680" y="5344200"/>
            <a:ext cx="8319744" cy="4968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比較検討中の方を、LINEで登録者として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育成すること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が大切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2026年9月23日）／Googleトレンド「整備士」（日本・過去5年）</a:t>
            </a:r>
          </a:p>
        </p:txBody>
      </p:sp>
    </p:spTree>
    <p:extLst>
      <p:ext uri="{BB962C8B-B14F-4D97-AF65-F5344CB8AC3E}">
        <p14:creationId xmlns:p14="http://schemas.microsoft.com/office/powerpoint/2010/main" val="30001345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工場求人ナビ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求人サイトで仕事を探す方の動き方には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一定の規則性がある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09" y="2030543"/>
            <a:ext cx="4795900" cy="2798408"/>
          </a:xfrm>
          <a:prstGeom prst="rect">
            <a:avLst/>
          </a:prstGeom>
        </p:spPr>
      </p:pic>
      <p:sp>
        <p:nvSpPr>
          <p:cNvPr id="7" name="Rounded Rectangle 5"/>
          <p:cNvSpPr/>
          <p:nvPr/>
        </p:nvSpPr>
        <p:spPr>
          <a:xfrm>
            <a:off x="6126000" y="177552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検索前（〜前日）：広く比べる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求人サイト／求人 正社員／高収入 仕事／40代 転職／人と関わらない仕事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280224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検索当日：サイト名・具体的な求人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工場求人ナビ／日総工産／工場 求人 正社員／製造業 求人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82896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検索後（翌日〜15日）：条件・評判・応募の準備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期間工 年齢制限／夜勤 体への影響／派遣社員 デメリット／○○ 評判／製造業 志望動機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02128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登録した後の配信は「条件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評判・不安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応募の準備」の順番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が最適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162242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7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7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前後検索データ（起点KW：工場求人ナビ</a:t>
            </a:r>
            <a:r>
              <a:rPr lang="ja-JP" altLang="en-US" sz="7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）</a:t>
            </a:r>
            <a:endParaRPr sz="70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Legend 1"/>
          <p:cNvSpPr/>
          <p:nvPr/>
        </p:nvSpPr>
        <p:spPr>
          <a:xfrm>
            <a:off x="7936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条件</a:t>
            </a:r>
          </a:p>
        </p:txBody>
      </p:sp>
      <p:sp>
        <p:nvSpPr>
          <p:cNvPr id="13" name="Legend 2"/>
          <p:cNvSpPr/>
          <p:nvPr/>
        </p:nvSpPr>
        <p:spPr>
          <a:xfrm>
            <a:off x="25600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評判・不安</a:t>
            </a:r>
          </a:p>
        </p:txBody>
      </p:sp>
      <p:sp>
        <p:nvSpPr>
          <p:cNvPr id="14" name="Legend 3"/>
          <p:cNvSpPr/>
          <p:nvPr/>
        </p:nvSpPr>
        <p:spPr>
          <a:xfrm>
            <a:off x="43264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応募の準備</a:t>
            </a:r>
          </a:p>
        </p:txBody>
      </p:sp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2801AEA3-5B74-7C38-9336-4D6A18C7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29130"/>
            <a:ext cx="8928000" cy="285739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ー」の検索前後15日間。友だち追加につながりやすいのは、検索当日〜翌日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659600"/>
            <a:ext cx="4703040" cy="2744223"/>
          </a:xfrm>
          <a:prstGeom prst="rect">
            <a:avLst/>
          </a:prstGeom>
        </p:spPr>
      </p:pic>
      <p:sp>
        <p:nvSpPr>
          <p:cNvPr id="7" name="Rectangle 11"/>
          <p:cNvSpPr/>
          <p:nvPr/>
        </p:nvSpPr>
        <p:spPr>
          <a:xfrm>
            <a:off x="3070894" y="4363848"/>
            <a:ext cx="861120" cy="205344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850" b="1">
                <a:solidFill>
                  <a:srgbClr val="00873C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8" name="Rectangle 12"/>
          <p:cNvSpPr/>
          <p:nvPr/>
        </p:nvSpPr>
        <p:spPr>
          <a:xfrm>
            <a:off x="3222799" y="1659600"/>
            <a:ext cx="557310" cy="2711102"/>
          </a:xfrm>
          <a:prstGeom prst="rect">
            <a:avLst/>
          </a:prstGeom>
          <a:solidFill>
            <a:srgbClr val="06C75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13"/>
          <p:cNvSpPr/>
          <p:nvPr/>
        </p:nvSpPr>
        <p:spPr>
          <a:xfrm>
            <a:off x="5662320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職業・働き方</a:t>
            </a:r>
          </a:p>
        </p:txBody>
      </p:sp>
      <p:sp>
        <p:nvSpPr>
          <p:cNvPr id="10" name="Rounded Rectangle 14"/>
          <p:cNvSpPr/>
          <p:nvPr/>
        </p:nvSpPr>
        <p:spPr>
          <a:xfrm>
            <a:off x="7404432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整備・工具・カー用品</a:t>
            </a:r>
          </a:p>
        </p:txBody>
      </p:sp>
      <p:sp>
        <p:nvSpPr>
          <p:cNvPr id="11" name="Rounded Rectangle 15"/>
          <p:cNvSpPr/>
          <p:nvPr/>
        </p:nvSpPr>
        <p:spPr>
          <a:xfrm>
            <a:off x="5662320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お金・手続き</a:t>
            </a:r>
          </a:p>
        </p:txBody>
      </p:sp>
      <p:sp>
        <p:nvSpPr>
          <p:cNvPr id="12" name="Rounded Rectangle 16"/>
          <p:cNvSpPr/>
          <p:nvPr/>
        </p:nvSpPr>
        <p:spPr>
          <a:xfrm>
            <a:off x="7404432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クルマ選び（車種・店舗）</a:t>
            </a:r>
          </a:p>
        </p:txBody>
      </p:sp>
      <p:sp>
        <p:nvSpPr>
          <p:cNvPr id="13" name="Rounded Rectangle 17"/>
          <p:cNvSpPr/>
          <p:nvPr/>
        </p:nvSpPr>
        <p:spPr>
          <a:xfrm>
            <a:off x="5662320" y="2206080"/>
            <a:ext cx="345110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LINE追加率を上げるコンテンツ（検索当日〜翌日）</a:t>
            </a:r>
          </a:p>
        </p:txBody>
      </p:sp>
      <p:sp>
        <p:nvSpPr>
          <p:cNvPr id="14" name="Rounded Rectangle 18"/>
          <p:cNvSpPr/>
          <p:nvPr/>
        </p:nvSpPr>
        <p:spPr>
          <a:xfrm>
            <a:off x="5662320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「整備士の年収相場」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をLINEで見られます</a:t>
            </a:r>
          </a:p>
        </p:txBody>
      </p:sp>
      <p:sp>
        <p:nvSpPr>
          <p:cNvPr id="15" name="Rounded Rectangle 19"/>
          <p:cNvSpPr/>
          <p:nvPr/>
        </p:nvSpPr>
        <p:spPr>
          <a:xfrm>
            <a:off x="7420992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この機会に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LINEで30秒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適職診断しませんか？</a:t>
            </a:r>
          </a:p>
        </p:txBody>
      </p:sp>
      <p:sp>
        <p:nvSpPr>
          <p:cNvPr id="16" name="Rounded Rectangle 20"/>
          <p:cNvSpPr/>
          <p:nvPr/>
        </p:nvSpPr>
        <p:spPr>
          <a:xfrm>
            <a:off x="5662320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当日の検索は「年収」</a:t>
            </a:r>
          </a:p>
          <a:p>
            <a:pPr algn="ctr"/>
            <a:r>
              <a:rPr sz="9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その場で答えを示す</a:t>
            </a:r>
          </a:p>
        </p:txBody>
      </p:sp>
      <p:sp>
        <p:nvSpPr>
          <p:cNvPr id="17" name="Rounded Rectangle 21"/>
          <p:cNvSpPr/>
          <p:nvPr/>
        </p:nvSpPr>
        <p:spPr>
          <a:xfrm>
            <a:off x="7420992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電話なし・履歴書なし</a:t>
            </a:r>
          </a:p>
          <a:p>
            <a:pPr algn="ctr"/>
            <a:r>
              <a:rPr sz="9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応募前の方でも気軽に登録できる</a:t>
            </a:r>
          </a:p>
        </p:txBody>
      </p:sp>
      <p:cxnSp>
        <p:nvCxnSpPr>
          <p:cNvPr id="18" name="Connector 22"/>
          <p:cNvCxnSpPr/>
          <p:nvPr/>
        </p:nvCxnSpPr>
        <p:spPr>
          <a:xfrm flipV="1">
            <a:off x="3501454" y="2868480"/>
            <a:ext cx="2127745" cy="1424822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23"/>
          <p:cNvSpPr/>
          <p:nvPr/>
        </p:nvSpPr>
        <p:spPr>
          <a:xfrm>
            <a:off x="793680" y="4652223"/>
            <a:ext cx="831974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登録後に応募へつなげるコンテンツ（翌日〜14日・前後検索の関心の順番）</a:t>
            </a:r>
          </a:p>
        </p:txBody>
      </p:sp>
      <p:sp>
        <p:nvSpPr>
          <p:cNvPr id="20" name="Rounded Rectangle 24"/>
          <p:cNvSpPr/>
          <p:nvPr/>
        </p:nvSpPr>
        <p:spPr>
          <a:xfrm>
            <a:off x="79368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職種図鑑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整備・受付・営業の違い</a:t>
            </a:r>
          </a:p>
        </p:txBody>
      </p:sp>
      <p:sp>
        <p:nvSpPr>
          <p:cNvPr id="21" name="Rounded Rectangle 25"/>
          <p:cNvSpPr/>
          <p:nvPr/>
        </p:nvSpPr>
        <p:spPr>
          <a:xfrm>
            <a:off x="1991677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働き方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休み・残業・働きやすい職場</a:t>
            </a:r>
          </a:p>
        </p:txBody>
      </p:sp>
      <p:sp>
        <p:nvSpPr>
          <p:cNvPr id="22" name="Rounded Rectangle 26"/>
          <p:cNvSpPr/>
          <p:nvPr/>
        </p:nvSpPr>
        <p:spPr>
          <a:xfrm>
            <a:off x="3189674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求人のご案内①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sp>
        <p:nvSpPr>
          <p:cNvPr id="23" name="Rounded Rectangle 27"/>
          <p:cNvSpPr/>
          <p:nvPr/>
        </p:nvSpPr>
        <p:spPr>
          <a:xfrm>
            <a:off x="4387672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他職種と比較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営業・施工管理</a:t>
            </a:r>
          </a:p>
        </p:txBody>
      </p:sp>
      <p:sp>
        <p:nvSpPr>
          <p:cNvPr id="24" name="Rounded Rectangle 28"/>
          <p:cNvSpPr/>
          <p:nvPr/>
        </p:nvSpPr>
        <p:spPr>
          <a:xfrm>
            <a:off x="558567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7日目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資格別の</a:t>
            </a:r>
            <a:endParaRPr lang="en-US"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年収相場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9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キャリアマップ</a:t>
            </a:r>
            <a:endParaRPr sz="9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Rounded Rectangle 29"/>
          <p:cNvSpPr/>
          <p:nvPr/>
        </p:nvSpPr>
        <p:spPr>
          <a:xfrm>
            <a:off x="6783668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現場のリアル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冬の繁忙期</a:t>
            </a:r>
          </a:p>
        </p:txBody>
      </p:sp>
      <p:sp>
        <p:nvSpPr>
          <p:cNvPr id="26" name="Rounded Rectangle 30"/>
          <p:cNvSpPr/>
          <p:nvPr/>
        </p:nvSpPr>
        <p:spPr>
          <a:xfrm>
            <a:off x="7981665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求人のご案内②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cxnSp>
        <p:nvCxnSpPr>
          <p:cNvPr id="27" name="Connector 31"/>
          <p:cNvCxnSpPr/>
          <p:nvPr/>
        </p:nvCxnSpPr>
        <p:spPr>
          <a:xfrm>
            <a:off x="4556112" y="4293302"/>
            <a:ext cx="235151" cy="34236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9"/>
          <p:cNvSpPr txBox="1"/>
          <p:nvPr/>
        </p:nvSpPr>
        <p:spPr>
          <a:xfrm>
            <a:off x="793680" y="6097680"/>
            <a:ext cx="8319744" cy="194805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前後検索データ（起点KW：カーディーラ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en-US"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)</a:t>
            </a:r>
            <a:endParaRPr sz="85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20531706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endParaRPr lang="ja-JP" altLang="en-US">
              <a:solidFill>
                <a:prstClr val="black"/>
              </a:solidFill>
              <a:latin typeface="メイリオ" pitchFamily="34" charset="0"/>
              <a:ea typeface="メイリオ" pitchFamily="50" charset="-128"/>
              <a:cs typeface="メイリオ"/>
            </a:endParaRPr>
          </a:p>
        </p:txBody>
      </p:sp>
      <p:sp>
        <p:nvSpPr>
          <p:cNvPr id="6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7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8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9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10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1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2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13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4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15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2734</Words>
  <Application>Microsoft Office PowerPoint</Application>
  <PresentationFormat>A4 210 x 297 mm</PresentationFormat>
  <Paragraphs>638</Paragraphs>
  <Slides>25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25</vt:i4>
      </vt:variant>
    </vt:vector>
  </HeadingPairs>
  <TitlesOfParts>
    <vt:vector size="32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2026-10-02T03:09:06Z</dcterms:modified>
</cp:coreProperties>
</file>