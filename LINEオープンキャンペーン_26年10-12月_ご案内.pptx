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8" r:id="rId8"/>
    <p:sldId id="259" r:id="rId14"/>
    <p:sldId id="260" r:id="rId15"/>
  </p:sldIdLst>
  <p:sldSz cy="6858000" cx="9906000"/>
  <p:notesSz cx="6799250" cy="9929800"/>
  <p:embeddedFontLs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QCoaVnfxROPv51WSWo8GFar7+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32AC2F-9110-45D6-A1EA-E37EBF87FD90}">
  <a:tblStyle styleId="{5232AC2F-9110-45D6-A1EA-E37EBF87FD9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7" Type="http://schemas.openxmlformats.org/officeDocument/2006/relationships/font" Target="fonts/CenturyGothic-regular.fntdata"/><Relationship Id="rId18" Type="http://schemas.openxmlformats.org/officeDocument/2006/relationships/font" Target="fonts/CenturyGothic-bold.fntdata"/><Relationship Id="rId19" Type="http://schemas.openxmlformats.org/officeDocument/2006/relationships/font" Target="fonts/CenturyGothic-italic.fntdata"/><Relationship Id="rId20" Type="http://schemas.openxmlformats.org/officeDocument/2006/relationships/font" Target="fonts/CenturyGothic-boldItalic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2946094" cy="495952"/>
          </a:xfrm>
          <a:prstGeom prst="rect">
            <a:avLst/>
          </a:prstGeom>
          <a:noFill/>
          <a:ln>
            <a:noFill/>
          </a:ln>
        </p:spPr>
        <p:txBody>
          <a:bodyPr anchorCtr="0" anchor="t" bIns="44100" lIns="88200" spcFirstLastPara="1" rIns="88200" wrap="square" tIns="441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1650" y="0"/>
            <a:ext cx="2946093" cy="495952"/>
          </a:xfrm>
          <a:prstGeom prst="rect">
            <a:avLst/>
          </a:prstGeom>
          <a:noFill/>
          <a:ln>
            <a:noFill/>
          </a:ln>
        </p:spPr>
        <p:txBody>
          <a:bodyPr anchorCtr="0" anchor="t" bIns="44100" lIns="88200" spcFirstLastPara="1" rIns="88200" wrap="square" tIns="441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1200" y="744538"/>
            <a:ext cx="537686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0686" y="4716161"/>
            <a:ext cx="5439410" cy="4468185"/>
          </a:xfrm>
          <a:prstGeom prst="rect">
            <a:avLst/>
          </a:prstGeom>
          <a:noFill/>
          <a:ln>
            <a:noFill/>
          </a:ln>
        </p:spPr>
        <p:txBody>
          <a:bodyPr anchorCtr="0" anchor="t" bIns="44100" lIns="88200" spcFirstLastPara="1" rIns="88200" wrap="square" tIns="441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432321"/>
            <a:ext cx="2946094" cy="495952"/>
          </a:xfrm>
          <a:prstGeom prst="rect">
            <a:avLst/>
          </a:prstGeom>
          <a:noFill/>
          <a:ln>
            <a:noFill/>
          </a:ln>
        </p:spPr>
        <p:txBody>
          <a:bodyPr anchorCtr="0" anchor="b" bIns="44100" lIns="88200" spcFirstLastPara="1" rIns="88200" wrap="square" tIns="441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1650" y="9432321"/>
            <a:ext cx="2946093" cy="495952"/>
          </a:xfrm>
          <a:prstGeom prst="rect">
            <a:avLst/>
          </a:prstGeom>
          <a:noFill/>
          <a:ln>
            <a:noFill/>
          </a:ln>
        </p:spPr>
        <p:txBody>
          <a:bodyPr anchorCtr="0" anchor="b" bIns="44100" lIns="88200" spcFirstLastPara="1" rIns="88200" wrap="square" tIns="44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0686" y="4716161"/>
            <a:ext cx="5439410" cy="4468185"/>
          </a:xfrm>
          <a:prstGeom prst="rect">
            <a:avLst/>
          </a:prstGeom>
        </p:spPr>
        <p:txBody>
          <a:bodyPr anchorCtr="0" anchor="t" bIns="44100" lIns="88200" spcFirstLastPara="1" rIns="88200" wrap="square" tIns="44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/>
          <p:nvPr>
            <p:ph idx="2" type="sldImg"/>
          </p:nvPr>
        </p:nvSpPr>
        <p:spPr>
          <a:xfrm>
            <a:off x="711200" y="744538"/>
            <a:ext cx="537686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 スライド">
  <p:cSld name="1_タイトル スライド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タイトルとコンテンツ">
  <p:cSld name="4_タイトルとコンテンツ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14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cap="flat" cmpd="sng" w="25400">
            <a:solidFill>
              <a:srgbClr val="191F5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/>
          <p:nvPr/>
        </p:nvSpPr>
        <p:spPr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ja-JP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Copyright(c) 2025 DYM inc. All Rights Reserved.</a:t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;p12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cap="flat" cmpd="sng" w="25400">
            <a:solidFill>
              <a:srgbClr val="00324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" name="Google Shape;14;p12"/>
          <p:cNvPicPr preferRelativeResize="0"/>
          <p:nvPr/>
        </p:nvPicPr>
        <p:blipFill rotWithShape="1">
          <a:blip r:embed="rId1">
            <a:alphaModFix/>
          </a:blip>
          <a:srcRect b="0" l="-1647" r="-11171" t="0"/>
          <a:stretch/>
        </p:blipFill>
        <p:spPr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 txBox="1"/>
          <p:nvPr/>
        </p:nvSpPr>
        <p:spPr>
          <a:xfrm>
            <a:off x="7545288" y="6571255"/>
            <a:ext cx="2133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25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1" lang="ja-JP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0" i="1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800" u="none" cap="none" strike="noStrik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対象業界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その他</a:t>
            </a:r>
            <a:endParaRPr b="0" i="0" sz="12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9050" y="730955"/>
            <a:ext cx="829618" cy="435690"/>
          </a:xfrm>
          <a:prstGeom prst="rect">
            <a:avLst/>
          </a:prstGeom>
          <a:solidFill>
            <a:schemeClr val="tx2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0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オプション</a:t>
            </a:r>
            <a:endParaRPr b="0" i="0" sz="10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0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商材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友だち獲得を強化したい全業種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3296816" y="6597352"/>
            <a:ext cx="62090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800" u="none" cap="none" strike="noStrik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出典：https://www.lycbiz.com/jp/service/line-sales-promotion/</a:t>
            </a:r>
            <a:endParaRPr sz="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　　　　　　</a:t>
            </a:r>
            <a:endParaRPr b="1" sz="1800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89832" y="1437370"/>
            <a:ext cx="70315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【LINEオープンキャンペーン】特典内容</a:t>
            </a:r>
            <a:endParaRPr b="1" sz="1600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82880" y="88175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lang="ja-JP" sz="1600" u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    今後のアップデート情報</a:t>
            </a:r>
            <a:endParaRPr b="0" sz="1600" u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開発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 API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LINE公式アカウント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1890267"/>
            <a:ext cx="9906000" cy="7335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メイリオ"/>
              </a:rPr>
              <a:t/>
            </a: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4108" y="1961282"/>
            <a:ext cx="88177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2026年10月20日開始〜12月25日までに終了する案件限定で、</a:t>
            </a:r>
            <a:endParaRPr b="1"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基本費用・掲載期間・配信通数の3点が特別条件になるキャンペーン。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友だち獲得を一気に伸ばしたいクライアントへの提案材料になる。</a:t>
            </a:r>
            <a:endParaRPr b="1" sz="14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51381" y="2714173"/>
            <a:ext cx="5200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15133D"/>
                </a:solidFill>
                <a:latin typeface="メイリオ"/>
                <a:ea typeface="Meiryo"/>
                <a:cs typeface="Meiryo"/>
                <a:sym typeface="Meiryo"/>
              </a:rPr>
              <a:t>■ 詳細</a:t>
            </a: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8473303" y="730955"/>
            <a:ext cx="1376241" cy="1131930"/>
            <a:chOff x="0" y="0"/>
            <a:chExt cx="1376241" cy="1131930"/>
          </a:xfrm>
        </p:grpSpPr>
        <p:sp>
          <p:nvSpPr>
            <p:cNvPr id="54" name="Google Shape;54;p3"/>
            <p:cNvSpPr/>
            <p:nvPr/>
          </p:nvSpPr>
          <p:spPr>
            <a:xfrm rot="10800000">
              <a:off x="0" y="0"/>
              <a:ext cx="1376241" cy="282982"/>
            </a:xfrm>
            <a:prstGeom prst="trapezoid">
              <a:avLst>
                <a:gd fmla="val 60792" name="adj"/>
              </a:avLst>
            </a:prstGeom>
            <a:solidFill>
              <a:srgbClr val="EAEDF5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240842" y="0"/>
              <a:ext cx="894556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認知</a:t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172030" y="282982"/>
              <a:ext cx="1032180" cy="282982"/>
            </a:xfrm>
            <a:prstGeom prst="trapezoid">
              <a:avLst>
                <a:gd fmla="val 60792" name="adj"/>
              </a:avLst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52661" y="282982"/>
              <a:ext cx="670917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検討</a:t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344060" y="565965"/>
              <a:ext cx="688120" cy="282982"/>
            </a:xfrm>
            <a:prstGeom prst="trapezoid">
              <a:avLst>
                <a:gd fmla="val 60792" name="adj"/>
              </a:avLst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464481" y="565965"/>
              <a:ext cx="447278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獲得</a:t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516090" y="848948"/>
              <a:ext cx="344060" cy="282982"/>
            </a:xfrm>
            <a:prstGeom prst="trapezoid">
              <a:avLst>
                <a:gd fmla="val 60792" name="adj"/>
              </a:avLst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16090" y="848948"/>
              <a:ext cx="344060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伸長</a:t>
              </a:r>
              <a:endParaRPr/>
            </a:p>
          </p:txBody>
        </p:sp>
      </p:grpSp>
      <p:pic>
        <p:nvPicPr>
          <p:cNvPr descr="LINE公式アカウントのロゴの使用方法とは？種類やダウンロード方法、利用時の注意点を紹介 | Mico（ミコ）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381" y="1234746"/>
            <a:ext cx="656177" cy="6555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Rectangle 62"/>
          <p:cNvSpPr/>
          <p:nvPr/>
        </p:nvSpPr>
        <p:spPr>
          <a:xfrm>
            <a:off x="544108" y="3068960"/>
            <a:ext cx="3547872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</a:rPr>
              <a:t>AS-IS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108" y="3343280"/>
            <a:ext cx="3547872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54864" bIns="54864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5133D"/>
                </a:solidFill>
                <a:latin typeface="メイリオ"/>
              </a:rPr>
              <a:t>通常プラン｜基本費用1,800万円・掲載期間7日間・配信900万通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91980" y="3068960"/>
            <a:ext cx="457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3467B2"/>
                </a:solidFill>
                <a:latin typeface="メイリオ"/>
              </a:rPr>
              <a:t>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49180" y="3068960"/>
            <a:ext cx="5321808" cy="274320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TO-BE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49180" y="3343280"/>
            <a:ext cx="5321808" cy="640080"/>
          </a:xfrm>
          <a:prstGeom prst="rect">
            <a:avLst/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54864" bIns="54864"/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15133D"/>
                </a:solidFill>
                <a:latin typeface="メイリオ"/>
              </a:rPr>
              <a:t>特別プラン｜基本費用1,500万円</a:t>
            </a:r>
          </a:p>
          <a:p>
            <a:pPr>
              <a:lnSpc>
                <a:spcPct val="110000"/>
              </a:lnSpc>
              <a:spcBef>
                <a:spcPts val="500"/>
              </a:spcBef>
            </a:pPr>
            <a:r>
              <a:rPr sz="1050">
                <a:solidFill>
                  <a:srgbClr val="333333"/>
                </a:solidFill>
                <a:latin typeface="メイリオ"/>
              </a:rPr>
              <a:t>掲載期間15日間・配信1,050万通に拡大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4108" y="4211960"/>
            <a:ext cx="4572000" cy="13716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特別価格で提案しやすい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メイリオ"/>
              </a:rPr>
              <a:t>基本費用が1,800万円→1,500万円に。期間限定の特別プランとして提案の後押しになる。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298988" y="4211960"/>
            <a:ext cx="4572000" cy="13716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景品はLINEポイント2pt総付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メイリオ"/>
              </a:rPr>
              <a:t>応募者全員にLINEポイント2ptを進呈するアンケート型キャンペーン。対象はLINE公式アカウント・Messaging API対応かつ認証プロバイダー必須。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" name="Google Shape;40;p3"/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800" u="none" cap="none" strike="noStrik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対象業界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その他</a:t>
            </a:r>
            <a:endParaRPr b="0" i="0" sz="12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9050" y="730955"/>
            <a:ext cx="829618" cy="435690"/>
          </a:xfrm>
          <a:prstGeom prst="rect">
            <a:avLst/>
          </a:prstGeom>
          <a:solidFill>
            <a:schemeClr val="tx2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0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オプション</a:t>
            </a:r>
            <a:endParaRPr b="0" i="0" sz="10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0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商材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友だち獲得を強化したい全業種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3296816" y="6597352"/>
            <a:ext cx="62090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800" u="none" cap="none" strike="noStrik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出典：https://www.lycbiz.com/jp/service/line-sales-promotion/</a:t>
            </a:r>
            <a:endParaRPr sz="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　　　　　　</a:t>
            </a:r>
            <a:endParaRPr b="1" sz="1800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89832" y="1437370"/>
            <a:ext cx="70315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【LINEオープンキャンペーン】実施スケジュール</a:t>
            </a:r>
            <a:endParaRPr b="1" sz="1600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82880" y="88175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lang="ja-JP" sz="1600" u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    今後のアップデート情報</a:t>
            </a:r>
            <a:endParaRPr b="0" sz="1600" u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開発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 API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LINE公式アカウント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1890267"/>
            <a:ext cx="9906000" cy="7335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メイリオ"/>
              </a:rPr>
              <a:t/>
            </a: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4108" y="1961282"/>
            <a:ext cx="88177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申込みから掲載開始まで、審査・枠おさえ・入稿の3段階を経る。</a:t>
            </a:r>
            <a:endParaRPr b="1"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配信枠は早い者勝ちのため、各締切の厳守が前提条件になる。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土日祝日の掲載開始は不可なので、平日での日程調整が必要。</a:t>
            </a:r>
            <a:endParaRPr b="1" sz="14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51381" y="2714173"/>
            <a:ext cx="5200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15133D"/>
                </a:solidFill>
                <a:latin typeface="メイリオ"/>
                <a:ea typeface="Meiryo"/>
                <a:cs typeface="Meiryo"/>
                <a:sym typeface="Meiryo"/>
              </a:rPr>
              <a:t>■ 詳細</a:t>
            </a: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8473303" y="730955"/>
            <a:ext cx="1376241" cy="1131930"/>
            <a:chOff x="0" y="0"/>
            <a:chExt cx="1376241" cy="1131930"/>
          </a:xfrm>
        </p:grpSpPr>
        <p:sp>
          <p:nvSpPr>
            <p:cNvPr id="54" name="Google Shape;54;p3"/>
            <p:cNvSpPr/>
            <p:nvPr/>
          </p:nvSpPr>
          <p:spPr>
            <a:xfrm rot="10800000">
              <a:off x="0" y="0"/>
              <a:ext cx="1376241" cy="282982"/>
            </a:xfrm>
            <a:prstGeom prst="trapezoid">
              <a:avLst>
                <a:gd fmla="val 60792" name="adj"/>
              </a:avLst>
            </a:prstGeom>
            <a:solidFill>
              <a:srgbClr val="EAEDF5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240842" y="0"/>
              <a:ext cx="894556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認知</a:t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172030" y="282982"/>
              <a:ext cx="1032180" cy="282982"/>
            </a:xfrm>
            <a:prstGeom prst="trapezoid">
              <a:avLst>
                <a:gd fmla="val 60792" name="adj"/>
              </a:avLst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52661" y="282982"/>
              <a:ext cx="670917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検討</a:t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344060" y="565965"/>
              <a:ext cx="688120" cy="282982"/>
            </a:xfrm>
            <a:prstGeom prst="trapezoid">
              <a:avLst>
                <a:gd fmla="val 60792" name="adj"/>
              </a:avLst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464481" y="565965"/>
              <a:ext cx="447278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獲得</a:t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516090" y="848948"/>
              <a:ext cx="344060" cy="282982"/>
            </a:xfrm>
            <a:prstGeom prst="trapezoid">
              <a:avLst>
                <a:gd fmla="val 60792" name="adj"/>
              </a:avLst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16090" y="848948"/>
              <a:ext cx="344060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伸長</a:t>
              </a:r>
              <a:endParaRPr/>
            </a:p>
          </p:txBody>
        </p:sp>
      </p:grpSp>
      <p:pic>
        <p:nvPicPr>
          <p:cNvPr descr="LINE公式アカウントのロゴの使用方法とは？種類やダウンロード方法、利用時の注意点を紹介 | Mico（ミコ）"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1381" y="1234746"/>
            <a:ext cx="656177" cy="6555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Rectangle 62"/>
          <p:cNvSpPr/>
          <p:nvPr/>
        </p:nvSpPr>
        <p:spPr>
          <a:xfrm>
            <a:off x="544108" y="3068960"/>
            <a:ext cx="2091690" cy="365760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30営業日前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4108" y="3434720"/>
            <a:ext cx="2091690" cy="1005840"/>
          </a:xfrm>
          <a:prstGeom prst="rect">
            <a:avLst/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54864" bIns="54864"/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33333"/>
                </a:solidFill>
                <a:latin typeface="メイリオ"/>
              </a:rPr>
              <a:t>企業・商材審査／企画審査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35798" y="3068960"/>
            <a:ext cx="32004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467B2"/>
                </a:solidFill>
                <a:latin typeface="メイリオ"/>
              </a:rPr>
              <a:t>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55838" y="3068960"/>
            <a:ext cx="2091690" cy="365760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25営業日前 17時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55838" y="3434720"/>
            <a:ext cx="2091690" cy="1005840"/>
          </a:xfrm>
          <a:prstGeom prst="rect">
            <a:avLst/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54864" bIns="54864"/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33333"/>
                </a:solidFill>
                <a:latin typeface="メイリオ"/>
              </a:rPr>
              <a:t>配信枠おさえ・申込み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47528" y="3068960"/>
            <a:ext cx="32004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467B2"/>
                </a:solidFill>
                <a:latin typeface="メイリオ"/>
              </a:rPr>
              <a:t>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67568" y="3068960"/>
            <a:ext cx="2091690" cy="365760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20営業日前 17時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67568" y="3434720"/>
            <a:ext cx="2091690" cy="1005840"/>
          </a:xfrm>
          <a:prstGeom prst="rect">
            <a:avLst/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54864" bIns="54864"/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33333"/>
                </a:solidFill>
                <a:latin typeface="メイリオ"/>
              </a:rPr>
              <a:t>入稿物の提出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9258" y="3068960"/>
            <a:ext cx="32004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467B2"/>
                </a:solidFill>
                <a:latin typeface="メイリオ"/>
              </a:rPr>
              <a:t>▶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9298" y="3068960"/>
            <a:ext cx="2091690" cy="365760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</a:rPr>
              <a:t>開始日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9298" y="3434720"/>
            <a:ext cx="2091690" cy="1005840"/>
          </a:xfrm>
          <a:prstGeom prst="rect">
            <a:avLst/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54864" bIns="54864"/>
          <a:lstStyle/>
          <a:p>
            <a:pPr algn="ctr">
              <a:lnSpc>
                <a:spcPct val="110000"/>
              </a:lnSpc>
            </a:pPr>
            <a:r>
              <a:rPr sz="1050">
                <a:solidFill>
                  <a:srgbClr val="333333"/>
                </a:solidFill>
                <a:latin typeface="メイリオ"/>
              </a:rPr>
              <a:t>掲載開始（土日祝日不可）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4108" y="4669160"/>
            <a:ext cx="9326880" cy="9144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早めの申込みが必須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メイリオ"/>
              </a:rPr>
              <a:t>期間・条件限定のキャンペーンのため、早めの提案・申込み誘導がカギ。配信枠は先着で埋まるため、審査期間も見込んだ逆算スケジュールを組む。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" name="Google Shape;40;p3"/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800" u="none" cap="none" strike="noStrik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対象業界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2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その他</a:t>
            </a:r>
            <a:endParaRPr b="0" i="0" sz="12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679050" y="730955"/>
            <a:ext cx="829618" cy="435690"/>
          </a:xfrm>
          <a:prstGeom prst="rect">
            <a:avLst/>
          </a:prstGeom>
          <a:solidFill>
            <a:schemeClr val="tx2"/>
          </a:solidFill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0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オプション</a:t>
            </a:r>
            <a:endParaRPr b="0" i="0" sz="1000" u="none" cap="none" strike="noStrik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0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商材</a:t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1300" u="none" cap="none" strike="noStrik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友だち獲得を強化したい全業種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3296816" y="6597352"/>
            <a:ext cx="62090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ja-JP" sz="800" u="none" cap="none" strike="noStrike">
                <a:solidFill>
                  <a:schemeClr val="lt1"/>
                </a:solidFill>
                <a:latin typeface="メイリオ"/>
                <a:ea typeface="Meiryo"/>
                <a:cs typeface="Meiryo"/>
                <a:sym typeface="Meiryo"/>
              </a:rPr>
              <a:t>出典：https://www.lycbiz.com/jp/service/line-sales-promotion/</a:t>
            </a:r>
            <a:endParaRPr sz="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　　　　　　</a:t>
            </a:r>
            <a:endParaRPr b="1" sz="1800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89832" y="1437370"/>
            <a:ext cx="70315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600">
                <a:solidFill>
                  <a:srgbClr val="004DE6"/>
                </a:solidFill>
                <a:latin typeface="メイリオ"/>
                <a:ea typeface="Meiryo"/>
                <a:cs typeface="Meiryo"/>
                <a:sym typeface="Meiryo"/>
              </a:rPr>
              <a:t>【LINEオープンキャンペーン】注意点・ご利用条件</a:t>
            </a:r>
            <a:endParaRPr b="1" sz="1600">
              <a:solidFill>
                <a:srgbClr val="004DE6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82880" y="88175"/>
            <a:ext cx="7512385" cy="365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72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lang="ja-JP" sz="1600" u="none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    今後のアップデート情報</a:t>
            </a:r>
            <a:endParaRPr b="0" sz="1600" u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開発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eiryo"/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 API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bg1"/>
          </a:solidFill>
          <a:ln cap="flat" cmpd="sng" w="9525">
            <a:solidFill>
              <a:srgbClr val="4F81BD"/>
            </a:solidFill>
            <a:prstDash val="sys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LINE公式アカウント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0" y="1890267"/>
            <a:ext cx="9906000" cy="73357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メイリオ"/>
              </a:rPr>
              <a:t/>
            </a: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4108" y="1961282"/>
            <a:ext cx="88177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キャンセル規定・割引の併用可否など、提案前に必ず確認したい4点。</a:t>
            </a:r>
            <a:endParaRPr b="1"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特にキャンセル規定は発注後の費用に直結するため要注意。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200">
                <a:solidFill>
                  <a:schemeClr val="dk1"/>
                </a:solidFill>
                <a:latin typeface="メイリオ"/>
                <a:ea typeface="Meiryo"/>
                <a:cs typeface="Meiryo"/>
                <a:sym typeface="Meiryo"/>
              </a:rPr>
              <a:t>景品内容は変更となる場合があり、事前の合意形成が欠かせない。</a:t>
            </a:r>
            <a:endParaRPr b="1" sz="14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51381" y="2714173"/>
            <a:ext cx="5200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-JP" sz="1400">
                <a:solidFill>
                  <a:srgbClr val="15133D"/>
                </a:solidFill>
                <a:latin typeface="メイリオ"/>
                <a:ea typeface="Meiryo"/>
                <a:cs typeface="Meiryo"/>
                <a:sym typeface="Meiryo"/>
              </a:rPr>
              <a:t>■ 詳細</a:t>
            </a:r>
            <a:endParaRPr/>
          </a:p>
        </p:txBody>
      </p:sp>
      <p:grpSp>
        <p:nvGrpSpPr>
          <p:cNvPr id="53" name="Google Shape;53;p3"/>
          <p:cNvGrpSpPr/>
          <p:nvPr/>
        </p:nvGrpSpPr>
        <p:grpSpPr>
          <a:xfrm>
            <a:off x="8473303" y="730955"/>
            <a:ext cx="1376241" cy="1131930"/>
            <a:chOff x="0" y="0"/>
            <a:chExt cx="1376241" cy="1131930"/>
          </a:xfrm>
        </p:grpSpPr>
        <p:sp>
          <p:nvSpPr>
            <p:cNvPr id="54" name="Google Shape;54;p3"/>
            <p:cNvSpPr/>
            <p:nvPr/>
          </p:nvSpPr>
          <p:spPr>
            <a:xfrm rot="10800000">
              <a:off x="0" y="0"/>
              <a:ext cx="1376241" cy="282982"/>
            </a:xfrm>
            <a:prstGeom prst="trapezoid">
              <a:avLst>
                <a:gd fmla="val 60792" name="adj"/>
              </a:avLst>
            </a:prstGeom>
            <a:solidFill>
              <a:srgbClr val="EAEDF5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240842" y="0"/>
              <a:ext cx="894556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認知</a:t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 rot="10800000">
              <a:off x="172030" y="282982"/>
              <a:ext cx="1032180" cy="282982"/>
            </a:xfrm>
            <a:prstGeom prst="trapezoid">
              <a:avLst>
                <a:gd fmla="val 60792" name="adj"/>
              </a:avLst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52661" y="282982"/>
              <a:ext cx="670917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検討</a:t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344060" y="565965"/>
              <a:ext cx="688120" cy="282982"/>
            </a:xfrm>
            <a:prstGeom prst="trapezoid">
              <a:avLst>
                <a:gd fmla="val 60792" name="adj"/>
              </a:avLst>
            </a:prstGeom>
            <a:solidFill>
              <a:schemeClr val="lt1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 txBox="1"/>
            <p:nvPr/>
          </p:nvSpPr>
          <p:spPr>
            <a:xfrm>
              <a:off x="464481" y="565965"/>
              <a:ext cx="447278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獲得</a:t>
              </a: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516090" y="848948"/>
              <a:ext cx="344060" cy="282982"/>
            </a:xfrm>
            <a:prstGeom prst="trapezoid">
              <a:avLst>
                <a:gd fmla="val 60792" name="adj"/>
              </a:avLst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 txBox="1"/>
            <p:nvPr/>
          </p:nvSpPr>
          <p:spPr>
            <a:xfrm>
              <a:off x="516090" y="848948"/>
              <a:ext cx="344060" cy="28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150" lIns="10150" spcFirstLastPara="1" rIns="10150" wrap="square" tIns="10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800"/>
                <a:buFont typeface="Arial"/>
                <a:buNone/>
              </a:pPr>
              <a:r>
                <a:rPr b="1" lang="ja-JP" sz="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伸長</a:t>
              </a:r>
              <a:endParaRPr/>
            </a:p>
          </p:txBody>
        </p:sp>
      </p:grpSp>
      <p:pic>
        <p:nvPicPr>
          <p:cNvPr descr="LINE公式アカウントのロゴの使用方法とは？種類やダウンロード方法、利用時の注意点を紹介 | Mico（ミコ）"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1381" y="1234746"/>
            <a:ext cx="656177" cy="65552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Rounded Rectangle 62"/>
          <p:cNvSpPr/>
          <p:nvPr/>
        </p:nvSpPr>
        <p:spPr>
          <a:xfrm>
            <a:off x="544108" y="3068960"/>
            <a:ext cx="4572000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キャンセル規定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メイリオ"/>
              </a:rPr>
              <a:t>発注期日超過後のキャンセルは、最低発注金額1,500万円を請求。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98988" y="3068960"/>
            <a:ext cx="4572000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他割引との併用不可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メイリオ"/>
              </a:rPr>
              <a:t>既存の各種割引施策とは併用不可。特別プラン単体での提案が前提。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4108" y="4714880"/>
            <a:ext cx="4572000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景品変更の可能性あり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メイリオ"/>
              </a:rPr>
              <a:t>景品はLINEポイント2pt固定だが変更となる場合があり、変更不可のお申し出は受付不可。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298988" y="4714880"/>
            <a:ext cx="4572000" cy="14630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l"/>
            <a:r>
              <a:rPr sz="1700" b="1">
                <a:solidFill>
                  <a:srgbClr val="15133D"/>
                </a:solidFill>
                <a:latin typeface="メイリオ"/>
              </a:rPr>
              <a:t>対象は認証プロバイダー必須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00">
                <a:solidFill>
                  <a:srgbClr val="333333"/>
                </a:solidFill>
                <a:latin typeface="メイリオ"/>
              </a:rPr>
              <a:t>LINE公式アカウント・Messaging API対応かつ認証プロバイダーのアカウントが対象。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YMJAPA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2021-08-26T12:24:15Z</dcterms:created>
  <dc:creator>横田 澪央</dc:creator>
</cp:coreProperties>
</file>