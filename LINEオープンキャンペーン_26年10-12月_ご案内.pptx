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8" r:id="rId8"/>
    <p:sldId id="259" r:id="rId14"/>
    <p:sldId id="260" r:id="rId15"/>
  </p:sldIdLst>
  <p:sldSz cy="6858000" cx="9906000"/>
  <p:notesSz cx="6799250" cy="99298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7" Type="http://schemas.openxmlformats.org/officeDocument/2006/relationships/font" Target="fonts/CenturyGothic-regular.fntdata"/><Relationship Id="rId18" Type="http://schemas.openxmlformats.org/officeDocument/2006/relationships/font" Target="fonts/CenturyGothic-bold.fntdata"/><Relationship Id="rId19" Type="http://schemas.openxmlformats.org/officeDocument/2006/relationships/font" Target="fonts/CenturyGothic-italic.fntdata"/><Relationship Id="rId20" Type="http://schemas.openxmlformats.org/officeDocument/2006/relationships/font" Target="fonts/CenturyGothic-boldItalic.fntdata"/><Relationship Id="rId2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anchorCtr="0" anchor="t" bIns="44100" lIns="88200" spcFirstLastPara="1" rIns="88200" wrap="square" tIns="441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anchorCtr="0" anchor="b" bIns="44100" lIns="88200" spcFirstLastPara="1" rIns="88200" wrap="square" tIns="441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ja-JP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/>
          <p:nvPr>
            <p:ph idx="1" type="body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anchorCtr="0" anchor="t" bIns="44100" lIns="88200" spcFirstLastPara="1" rIns="88200" wrap="square" tIns="441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3:notes"/>
          <p:cNvSpPr/>
          <p:nvPr>
            <p:ph idx="2" type="sldImg"/>
          </p:nvPr>
        </p:nvSpPr>
        <p:spPr>
          <a:xfrm>
            <a:off x="711200" y="744538"/>
            <a:ext cx="5376863" cy="37242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タイトル スライド">
  <p:cSld name="1_タイトル スライド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タイトルとコンテンツ">
  <p:cSld name="4_タイトルとコンテンツ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191F5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ja-JP" sz="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cap="flat" cmpd="sng" w="25400">
            <a:solidFill>
              <a:srgbClr val="00324B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1">
            <a:alphaModFix/>
          </a:blip>
          <a:srcRect b="0" l="-1647" r="-11171" t="0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252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1" lang="ja-JP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b="0" i="1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【LINEオープンキャンペーン】特典内容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2026年10月20日開始〜12月25日までに終了する案件限定で、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基本費用・掲載期間・配信通数の3点が特別条件になるキャンペーン。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友だち獲得を一気に伸ばしたいクライアントへの提案材料になる。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54787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54787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通常プラン｜基本費用1,800万円・掲載期間7日間・配信900万通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198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49180" y="3068960"/>
            <a:ext cx="5321808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49180" y="3343280"/>
            <a:ext cx="5321808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15133D"/>
                </a:solidFill>
                <a:latin typeface="メイリオ"/>
              </a:rPr>
              <a:t>特別プラン｜基本費用1,500万円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掲載期間15日間・配信1,050万通に拡大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特別価格で提案しやすい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基本費用が1,800万円→1,500万円に。期間限定の特別プランとして提案の後押しになる。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298988" y="4211960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景品はLINEポイント2pt総付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応募者全員にLINEポイント2ptを進呈するアンケート型キャンペーン。対象はLINE公式アカウント・Messaging API対応かつ認証プロバイダー必須。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【LINEオープンキャンペーン】実施スケジュール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申込みから掲載開始まで、審査・枠おさえ・入稿の3段階を経る。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配信枠は早い者勝ちのため、各締切の厳守が前提条件になる。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土日祝日の掲載開始は不可なので、平日での日程調整が必要。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30営業日前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企業・商材審査／企画審査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3579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5583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25営業日前 17時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5583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配信枠おさえ・申込み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4752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6756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20営業日前 17時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6756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入稿物の提出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59258" y="3068960"/>
            <a:ext cx="3200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79298" y="3068960"/>
            <a:ext cx="2091690" cy="36576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開始日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79298" y="3434720"/>
            <a:ext cx="2091690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54864" bIns="54864"/>
          <a:lstStyle/>
          <a:p>
            <a:pPr algn="ctr">
              <a:lnSpc>
                <a:spcPct val="110000"/>
              </a:lnSpc>
            </a:pPr>
            <a:r>
              <a:rPr sz="1050">
                <a:solidFill>
                  <a:srgbClr val="333333"/>
                </a:solidFill>
                <a:latin typeface="メイリオ"/>
              </a:rPr>
              <a:t>掲載開始（土日祝日不可）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108" y="4669160"/>
            <a:ext cx="9326880" cy="9144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早めの申込みが必須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期間・条件限定のキャンペーンのため、早めの提案・申込み誘導がカギ。配信枠は先着で埋まるため、審査期間も見込んだ逆算スケジュールを組む。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2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b="0" i="0" sz="12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b="0" i="0" sz="1000" u="none" cap="none" strike="noStrik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0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1300" u="none" cap="none" strike="noStrik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友だち獲得を強化したい全業種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ja-JP" sz="800" u="none" cap="none" strike="noStrik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出典：https://workers-hub.box.com/s/odilqpe44tp398zlfko148yggcgj68ny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b="1" sz="18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600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【LINEオープンキャンペーン】注意点・ご利用条件</a:t>
            </a:r>
            <a:endParaRPr b="1" sz="1600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72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lang="ja-JP" sz="160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b="0" sz="160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cap="flat" cmpd="sng" w="9525">
            <a:solidFill>
              <a:srgbClr val="4F81BD"/>
            </a:solidFill>
            <a:prstDash val="sys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latin typeface="メイリオ"/>
              </a:rPr>
              <a:t/>
            </a: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キャンセル規定・割引の併用可否など、提案前に必ず確認したい4点。</a:t>
            </a:r>
            <a:endParaRPr b="1"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特にキャンセル規定は発注後の費用に直結するため要注意。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2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景品内容は変更となる場合があり、事前の合意形成が欠かせない。</a:t>
            </a:r>
            <a:endParaRPr b="1" sz="14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-JP" sz="1400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fmla="val 60792" name="adj"/>
              </a:avLst>
            </a:prstGeom>
            <a:solidFill>
              <a:srgbClr val="EAEDF5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fmla="val 60792" name="adj"/>
              </a:avLst>
            </a:prstGeom>
            <a:solidFill>
              <a:schemeClr val="l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fmla="val 60792" name="adj"/>
              </a:avLst>
            </a:prstGeom>
            <a:noFill/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0150" lIns="10150" spcFirstLastPara="1" rIns="10150" wrap="square" tIns="10150">
              <a:noAutofit/>
            </a:bodyPr>
            <a:lstStyle/>
            <a:p>
              <a:pPr indent="0" lvl="0" marL="0" marR="0" rtl="0" algn="ct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b="1" lang="ja-JP" sz="8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descr="LINE公式アカウントのロゴの使用方法とは？種類やダウンロード方法、利用時の注意点を紹介 | Mico（ミコ）"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キャンセル規定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発注期日超過後のキャンセルは、最低発注金額1,500万円を請求。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98988" y="306896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他割引との併用不可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既存の各種割引施策とは併用不可。特別プラン単体での提案が前提。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景品変更の可能性あり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景品はLINEポイント2pt固定だが変更となる場合があり、変更不可のお申し出は受付不可。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98988" y="4714880"/>
            <a:ext cx="4572000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対象は認証プロバイダー必須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LINE公式アカウント・Messaging API対応かつ認証プロバイダーのアカウントが対象。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2021-08-26T12:24:15Z</dcterms:created>
  <dc:creator>横田 澪央</dc:creator>
</cp:coreProperties>
</file>